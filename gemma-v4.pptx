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92" r:id="rId5"/>
    <p:sldId id="260" r:id="rId6"/>
    <p:sldId id="29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94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B3B51AB0-2A94-457E-B07D-745D24D9D52A}">
          <p14:sldIdLst>
            <p14:sldId id="256"/>
            <p14:sldId id="257"/>
          </p14:sldIdLst>
        </p14:section>
        <p14:section name="Overview" id="{AE3439E9-0715-4D4B-9D53-0AC502A6CDFB}">
          <p14:sldIdLst>
            <p14:sldId id="258"/>
            <p14:sldId id="292"/>
            <p14:sldId id="260"/>
          </p14:sldIdLst>
        </p14:section>
        <p14:section name="Transformer" id="{1648C783-C1F8-4ACC-AC5E-7D76DC723651}">
          <p14:sldIdLst>
            <p14:sldId id="293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GPT" id="{6A667773-3853-43A4-AD31-03CC0341AF46}">
          <p14:sldIdLst>
            <p14:sldId id="268"/>
            <p14:sldId id="269"/>
            <p14:sldId id="270"/>
            <p14:sldId id="271"/>
            <p14:sldId id="273"/>
            <p14:sldId id="272"/>
          </p14:sldIdLst>
        </p14:section>
        <p14:section name="Gemma" id="{14BF5398-1CFA-4560-9BE0-FE08D5F583FC}">
          <p14:sldIdLst>
            <p14:sldId id="274"/>
            <p14:sldId id="275"/>
            <p14:sldId id="276"/>
            <p14:sldId id="277"/>
            <p14:sldId id="278"/>
            <p14:sldId id="294"/>
          </p14:sldIdLst>
        </p14:section>
        <p14:section name="AI-runtime" id="{EFC0F989-3A57-40B2-9E48-503B351F5DF2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onclusion" id="{A47D8362-4416-4531-8876-F5A893F65A72}">
          <p14:sldIdLst>
            <p14:sldId id="286"/>
            <p14:sldId id="287"/>
            <p14:sldId id="288"/>
            <p14:sldId id="289"/>
          </p14:sldIdLst>
        </p14:section>
        <p14:section name="practice" id="{92C70981-5C2A-4F9C-AF62-686FBB84121E}">
          <p14:sldIdLst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CDB"/>
    <a:srgbClr val="E1ACA9"/>
    <a:srgbClr val="E9C3C1"/>
    <a:srgbClr val="FFCCFF"/>
    <a:srgbClr val="FF99CC"/>
    <a:srgbClr val="0000FF"/>
    <a:srgbClr val="F6DEF3"/>
    <a:srgbClr val="E9893A"/>
    <a:srgbClr val="FF990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8" autoAdjust="0"/>
    <p:restoredTop sz="68506" autoAdjust="0"/>
  </p:normalViewPr>
  <p:slideViewPr>
    <p:cSldViewPr snapToGrid="0">
      <p:cViewPr>
        <p:scale>
          <a:sx n="100" d="100"/>
          <a:sy n="100" d="100"/>
        </p:scale>
        <p:origin x="189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6733-F299-41E5-B381-41F300553003}" type="datetimeFigureOut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669B1-5E45-4E56-BDC8-2DAE099957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53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ibm.com/articles/awb-what-is-open-source-ai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老師</a:t>
            </a:r>
            <a:r>
              <a:rPr lang="en-US" altLang="zh-TW" dirty="0"/>
              <a:t>, </a:t>
            </a:r>
            <a:r>
              <a:rPr lang="zh-TW" altLang="en-US" dirty="0"/>
              <a:t>以及各位專家先進</a:t>
            </a:r>
            <a:r>
              <a:rPr lang="en-US" altLang="zh-TW" dirty="0"/>
              <a:t>, </a:t>
            </a:r>
            <a:r>
              <a:rPr lang="zh-TW" altLang="en-US" dirty="0"/>
              <a:t>還有同學們早安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簡單自我介紹</a:t>
            </a:r>
            <a:r>
              <a:rPr lang="en-US" altLang="zh-TW" dirty="0"/>
              <a:t>,</a:t>
            </a:r>
            <a:r>
              <a:rPr lang="zh-TW" altLang="en-US" dirty="0"/>
              <a:t> 我們公司是洪老師所帶領的一個生技實驗室</a:t>
            </a:r>
            <a:r>
              <a:rPr lang="en-US" altLang="zh-TW" dirty="0"/>
              <a:t>,</a:t>
            </a:r>
            <a:r>
              <a:rPr lang="zh-TW" altLang="en-US" dirty="0"/>
              <a:t> 位於台元科技園區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主要研發方向包含</a:t>
            </a:r>
            <a:r>
              <a:rPr lang="en-US" altLang="zh-TW" dirty="0"/>
              <a:t>:</a:t>
            </a:r>
            <a:r>
              <a:rPr lang="zh-TW" altLang="en-US" dirty="0"/>
              <a:t> 基因分型</a:t>
            </a:r>
            <a:r>
              <a:rPr lang="en-US" altLang="zh-TW" dirty="0"/>
              <a:t>, </a:t>
            </a:r>
            <a:r>
              <a:rPr lang="zh-TW" altLang="en-US" dirty="0"/>
              <a:t>空間定序</a:t>
            </a:r>
            <a:r>
              <a:rPr lang="en-US" altLang="zh-TW" dirty="0"/>
              <a:t>, </a:t>
            </a:r>
            <a:r>
              <a:rPr lang="zh-TW" altLang="en-US" dirty="0"/>
              <a:t>以及透過</a:t>
            </a:r>
            <a:r>
              <a:rPr lang="en-US" altLang="zh-TW" dirty="0"/>
              <a:t>AI</a:t>
            </a:r>
            <a:r>
              <a:rPr lang="zh-TW" altLang="en-US" dirty="0"/>
              <a:t>技術對生資訊息進行解碼</a:t>
            </a:r>
            <a:r>
              <a:rPr lang="en-US" altLang="zh-TW" dirty="0"/>
              <a:t>.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今天內容</a:t>
            </a:r>
            <a:r>
              <a:rPr lang="en-US" altLang="zh-TW" dirty="0"/>
              <a:t>:</a:t>
            </a:r>
            <a:r>
              <a:rPr lang="zh-TW" altLang="en-US" dirty="0"/>
              <a:t> 取自兩份</a:t>
            </a:r>
            <a:r>
              <a:rPr lang="en-US" altLang="zh-TW" dirty="0"/>
              <a:t>paper,</a:t>
            </a:r>
            <a:r>
              <a:rPr lang="zh-TW" altLang="en-US" dirty="0"/>
              <a:t> </a:t>
            </a:r>
            <a:r>
              <a:rPr lang="en-US" altLang="zh-TW" dirty="0"/>
              <a:t>(2017</a:t>
            </a:r>
            <a:r>
              <a:rPr lang="zh-TW" altLang="en-US" dirty="0"/>
              <a:t> </a:t>
            </a:r>
            <a:r>
              <a:rPr lang="en-US" altLang="zh-TW" dirty="0"/>
              <a:t>attention, </a:t>
            </a:r>
            <a:r>
              <a:rPr lang="zh-TW" altLang="en-US" dirty="0"/>
              <a:t>與 </a:t>
            </a:r>
            <a:r>
              <a:rPr lang="en-US" altLang="zh-TW" dirty="0"/>
              <a:t>2026</a:t>
            </a:r>
            <a:r>
              <a:rPr lang="zh-TW" altLang="en-US" dirty="0"/>
              <a:t> </a:t>
            </a:r>
            <a:r>
              <a:rPr lang="en-US" altLang="zh-TW" dirty="0"/>
              <a:t>Gemma 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676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這是解說內容與次序</a:t>
            </a:r>
            <a:r>
              <a:rPr lang="en-US" altLang="zh-TW" dirty="0"/>
              <a:t>.</a:t>
            </a:r>
            <a:r>
              <a:rPr lang="zh-TW" altLang="en-US" dirty="0"/>
              <a:t> 目標如下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zh-TW" altLang="en-US" dirty="0"/>
              <a:t>學習</a:t>
            </a:r>
            <a:r>
              <a:rPr lang="en-US" altLang="zh-TW" dirty="0"/>
              <a:t>gemma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與相關的背景知識</a:t>
            </a:r>
            <a:r>
              <a:rPr lang="en-US" altLang="zh-TW" dirty="0"/>
              <a:t>.</a:t>
            </a:r>
          </a:p>
          <a:p>
            <a:pPr marL="228600" indent="-228600">
              <a:buAutoNum type="arabicPeriod"/>
            </a:pPr>
            <a:r>
              <a:rPr lang="zh-TW" altLang="en-US" dirty="0"/>
              <a:t>當前的</a:t>
            </a:r>
            <a:r>
              <a:rPr lang="en-US" altLang="zh-TW" dirty="0"/>
              <a:t>AI</a:t>
            </a:r>
            <a:r>
              <a:rPr lang="zh-TW" altLang="en-US" dirty="0"/>
              <a:t>生態與趨勢</a:t>
            </a:r>
            <a:r>
              <a:rPr lang="en-US" altLang="zh-TW" dirty="0"/>
              <a:t>,</a:t>
            </a:r>
            <a:r>
              <a:rPr lang="zh-TW" altLang="en-US" dirty="0"/>
              <a:t> 一些實作分享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en-US" altLang="zh-TW" dirty="0"/>
              <a:t>(</a:t>
            </a:r>
            <a:r>
              <a:rPr lang="zh-TW" altLang="en-US" dirty="0"/>
              <a:t>希望目的</a:t>
            </a:r>
            <a:r>
              <a:rPr lang="en-US" altLang="zh-TW" dirty="0"/>
              <a:t>)</a:t>
            </a:r>
            <a:r>
              <a:rPr lang="zh-TW" altLang="en-US" dirty="0"/>
              <a:t> 讓大家能更精確看懂</a:t>
            </a:r>
            <a:r>
              <a:rPr lang="en-US" altLang="zh-TW" dirty="0"/>
              <a:t>”AI</a:t>
            </a:r>
            <a:r>
              <a:rPr lang="zh-TW" altLang="en-US" dirty="0"/>
              <a:t>技術與文章</a:t>
            </a:r>
            <a:r>
              <a:rPr lang="en-US" altLang="zh-TW" dirty="0"/>
              <a:t>”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64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Transformer 架構 (2017年)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自注意力機制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：它打破了過去 RNN、CNN 等舊架構無法高效平行運算的瓶頸。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讓電腦能夠同時處理巨量文字，並理解詞彙在不同上下文中的超長距離關聯。</a:t>
            </a: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ChatGPT (2022年)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爆發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AGI的起點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當模型參數與資料量大到一定程度時，會產生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「湧現能力（Emergent Abilities）」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（如推理、寫程式、多步驟思考）。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(2026):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過去的 LLM 主要是根據機率「直覺式」地預報下一個字，容易產生幻覺且無法解決複雜的數理邏輯。這項突破讓 AI 在回答前學會了「自我反思」、「規劃步驟」與「糾正錯誤」。這讓 AI 在科學、進階程式設計、數學奧林匹亞等難題上的表現提升到了人類博士等級，實現了從「資訊檢索」到「真正具備邏輯推理」的質變。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400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算力的進步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使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推進到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進而引爆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Drone, Autonomous vehicle (AV).</a:t>
            </a:r>
          </a:p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透過大量數據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訓練深度模型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預測結果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持續改善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自駕車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無人機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的底層核心技術都屬於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多層的類神經網路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自動學習特徵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Kaplan Scaling Law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Chinchilla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Scaling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Law(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參數量與資料量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1:20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同步放大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916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60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現代演進趨勢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None/>
            </a:pP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後訓練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Post-Training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思維鏈（Chain of Thought, CoT）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、人類反饋與AI反饋強化學習，提升模型的邏輯推理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強化學習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RLHF/RLAIF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對齊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(ali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gnment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能力。</a:t>
            </a:r>
            <a:b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架構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(100%)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。不維持單一龐大核心，而是由多個小專家模型組合，每次只觸發部分參數，在推理時兼顧高水準與低成本。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r>
              <a:rPr lang="zh-TW" altLang="en-US" dirty="0"/>
              <a:t>結論</a:t>
            </a:r>
            <a:r>
              <a:rPr lang="en-US" altLang="zh-TW" dirty="0"/>
              <a:t>: </a:t>
            </a:r>
            <a:r>
              <a:rPr lang="en-US" altLang="zh-TW" dirty="0" err="1"/>
              <a:t>MoE</a:t>
            </a:r>
            <a:r>
              <a:rPr lang="zh-TW" altLang="en-US" dirty="0"/>
              <a:t>的整體記憶體耗損</a:t>
            </a:r>
            <a:r>
              <a:rPr lang="en-US" altLang="zh-TW" dirty="0"/>
              <a:t>, </a:t>
            </a:r>
            <a:r>
              <a:rPr lang="zh-TW" altLang="en-US" dirty="0"/>
              <a:t>大於傳統的</a:t>
            </a:r>
            <a:r>
              <a:rPr lang="en-US" altLang="zh-TW" dirty="0"/>
              <a:t>FFN</a:t>
            </a:r>
            <a:r>
              <a:rPr lang="zh-TW" altLang="en-US" dirty="0"/>
              <a:t>。但可以舒緩在</a:t>
            </a:r>
            <a:r>
              <a:rPr lang="en-US" altLang="zh-TW" dirty="0"/>
              <a:t>”</a:t>
            </a:r>
            <a:r>
              <a:rPr lang="zh-TW" altLang="en-US" dirty="0"/>
              <a:t>維度</a:t>
            </a:r>
            <a:r>
              <a:rPr lang="en-US" altLang="zh-TW" dirty="0"/>
              <a:t>“</a:t>
            </a:r>
            <a:r>
              <a:rPr lang="zh-TW" altLang="en-US" dirty="0"/>
              <a:t>與</a:t>
            </a:r>
            <a:r>
              <a:rPr lang="en-US" altLang="zh-TW" dirty="0"/>
              <a:t>”</a:t>
            </a:r>
            <a:r>
              <a:rPr lang="zh-TW" altLang="en-US" dirty="0"/>
              <a:t>層數</a:t>
            </a:r>
            <a:r>
              <a:rPr lang="en-US" altLang="zh-TW" dirty="0"/>
              <a:t>”</a:t>
            </a:r>
            <a:r>
              <a:rPr lang="zh-TW" altLang="en-US" dirty="0"/>
              <a:t>的壓力。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567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39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* </a:t>
            </a:r>
            <a:r>
              <a:rPr lang="zh-TW" altLang="en-US" dirty="0"/>
              <a:t>第</a:t>
            </a:r>
            <a:r>
              <a:rPr lang="en-US" altLang="zh-TW" dirty="0"/>
              <a:t>L</a:t>
            </a:r>
            <a:r>
              <a:rPr lang="zh-TW" altLang="en-US" dirty="0"/>
              <a:t>個</a:t>
            </a:r>
            <a:r>
              <a:rPr lang="en-US" altLang="zh-TW" dirty="0"/>
              <a:t>token</a:t>
            </a:r>
            <a:r>
              <a:rPr lang="zh-TW" altLang="en-US" dirty="0"/>
              <a:t>的第</a:t>
            </a:r>
            <a:r>
              <a:rPr lang="en-US" altLang="zh-TW" dirty="0"/>
              <a:t>i</a:t>
            </a:r>
            <a:r>
              <a:rPr lang="zh-TW" altLang="en-US" dirty="0"/>
              <a:t>組</a:t>
            </a:r>
            <a:r>
              <a:rPr lang="en-US" altLang="zh-TW" dirty="0"/>
              <a:t>dimension,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* </a:t>
            </a:r>
            <a:r>
              <a:rPr lang="zh-TW" altLang="en-US" dirty="0"/>
              <a:t>位置編入</a:t>
            </a:r>
            <a:r>
              <a:rPr lang="en-US" altLang="zh-TW" dirty="0"/>
              <a:t>(i, l), </a:t>
            </a:r>
            <a:r>
              <a:rPr lang="zh-TW" altLang="en-US" dirty="0"/>
              <a:t>不要爆炸</a:t>
            </a:r>
            <a:r>
              <a:rPr lang="en-US" altLang="zh-TW" dirty="0"/>
              <a:t>(</a:t>
            </a:r>
            <a:r>
              <a:rPr lang="zh-TW" altLang="en-US" dirty="0"/>
              <a:t>有界限</a:t>
            </a:r>
            <a:r>
              <a:rPr lang="en-US" altLang="zh-TW" dirty="0"/>
              <a:t>,</a:t>
            </a:r>
            <a:r>
              <a:rPr lang="zh-TW" altLang="en-US" dirty="0"/>
              <a:t> 正餘弦特性</a:t>
            </a:r>
            <a:r>
              <a:rPr lang="en-US" altLang="zh-TW" dirty="0"/>
              <a:t>), </a:t>
            </a:r>
            <a:r>
              <a:rPr lang="zh-TW" altLang="en-US" dirty="0"/>
              <a:t>愈遠影響愈小</a:t>
            </a:r>
            <a:br>
              <a:rPr lang="en-US" altLang="zh-TW" dirty="0"/>
            </a:br>
            <a:r>
              <a:rPr lang="en-US" altLang="zh-TW" dirty="0"/>
              <a:t>* </a:t>
            </a:r>
            <a:r>
              <a:rPr lang="zh-TW" altLang="en-US" dirty="0"/>
              <a:t>維度正交</a:t>
            </a:r>
            <a:r>
              <a:rPr lang="en-US" altLang="zh-TW" dirty="0"/>
              <a:t>(</a:t>
            </a:r>
            <a:r>
              <a:rPr lang="zh-TW" altLang="en-US" dirty="0"/>
              <a:t>轉動範圍</a:t>
            </a:r>
            <a:r>
              <a:rPr lang="en-US" altLang="zh-TW" dirty="0"/>
              <a:t>,</a:t>
            </a:r>
            <a:r>
              <a:rPr lang="zh-TW" altLang="en-US" dirty="0"/>
              <a:t> 轉動敏感度</a:t>
            </a:r>
            <a:r>
              <a:rPr lang="en-US" altLang="zh-TW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99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分數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距離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字詞本身的語意內容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相乘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絕對位置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確實被完全簡化成了相對距離(m-n)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RoPE 雖然在預處理時，是各自對 Query 和 Key 依據「絕對位置」單獨進行旋轉；但在進入注意力機制算內積的那一瞬間，絕對位置會自動抵銷，最終決定關聯度分數的，只剩下兩者的「相對距離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(m-n)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問題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延宕運算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推移完成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才可編碼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阻礙壓縮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(KV-Cache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低秩壓縮是線性轉換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RoPE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會被破壞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結論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DS.MLA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解偶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Kimi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徹底拋棄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93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Transformer</a:t>
            </a:r>
            <a:r>
              <a:rPr lang="zh-TW" altLang="en-US" dirty="0"/>
              <a:t>就是</a:t>
            </a:r>
            <a:r>
              <a:rPr lang="en-US" altLang="zh-TW" dirty="0"/>
              <a:t>attention+moe, </a:t>
            </a:r>
            <a:r>
              <a:rPr lang="zh-TW" altLang="en-US" dirty="0"/>
              <a:t>濃縮</a:t>
            </a:r>
            <a:r>
              <a:rPr lang="en-US" altLang="zh-TW" dirty="0"/>
              <a:t>“</a:t>
            </a:r>
            <a:r>
              <a:rPr lang="zh-TW" altLang="en-US" dirty="0"/>
              <a:t>語意空間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多層結構</a:t>
            </a:r>
            <a:r>
              <a:rPr lang="en-US" altLang="zh-TW" dirty="0"/>
              <a:t>,</a:t>
            </a:r>
            <a:r>
              <a:rPr lang="zh-TW" altLang="en-US" dirty="0"/>
              <a:t> 持續加權</a:t>
            </a:r>
            <a:r>
              <a:rPr lang="en-US" altLang="zh-TW" dirty="0"/>
              <a:t>),</a:t>
            </a:r>
            <a:r>
              <a:rPr lang="zh-TW" altLang="en-US" dirty="0"/>
              <a:t> 使得</a:t>
            </a:r>
            <a:r>
              <a:rPr lang="en-US" altLang="zh-TW" dirty="0"/>
              <a:t>gpt</a:t>
            </a:r>
            <a:r>
              <a:rPr lang="zh-TW" altLang="en-US" dirty="0"/>
              <a:t>能夠</a:t>
            </a:r>
            <a:r>
              <a:rPr lang="en-US" altLang="zh-TW" dirty="0"/>
              <a:t>”</a:t>
            </a:r>
            <a:r>
              <a:rPr lang="zh-TW" altLang="en-US" dirty="0"/>
              <a:t>映射</a:t>
            </a:r>
            <a:r>
              <a:rPr lang="en-US" altLang="zh-TW" dirty="0"/>
              <a:t>”</a:t>
            </a:r>
            <a:r>
              <a:rPr lang="zh-TW" altLang="en-US" dirty="0"/>
              <a:t>下一個字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全部的底層核心</a:t>
            </a:r>
            <a:r>
              <a:rPr lang="en-US" altLang="zh-TW" dirty="0"/>
              <a:t>:</a:t>
            </a:r>
            <a:r>
              <a:rPr lang="zh-TW" altLang="en-US" dirty="0"/>
              <a:t>正規化</a:t>
            </a:r>
            <a:r>
              <a:rPr lang="en-US" altLang="zh-TW" dirty="0"/>
              <a:t>(</a:t>
            </a:r>
            <a:r>
              <a:rPr lang="zh-TW" altLang="en-US" dirty="0"/>
              <a:t>保護梯度爆炸或消失</a:t>
            </a:r>
            <a:r>
              <a:rPr lang="en-US" altLang="zh-TW" dirty="0"/>
              <a:t>),</a:t>
            </a:r>
            <a:r>
              <a:rPr lang="zh-TW" altLang="en-US" dirty="0"/>
              <a:t> 線性組合</a:t>
            </a:r>
            <a:r>
              <a:rPr lang="en-US" altLang="zh-TW" dirty="0"/>
              <a:t>(</a:t>
            </a:r>
            <a:r>
              <a:rPr lang="zh-TW" altLang="en-US" dirty="0"/>
              <a:t>加權</a:t>
            </a:r>
            <a:r>
              <a:rPr lang="en-US" altLang="zh-TW" dirty="0"/>
              <a:t>), </a:t>
            </a:r>
            <a:r>
              <a:rPr lang="zh-TW" altLang="en-US" dirty="0"/>
              <a:t>透過非線性激活函式分層</a:t>
            </a:r>
            <a:r>
              <a:rPr lang="en-US" altLang="zh-TW" dirty="0"/>
              <a:t>(</a:t>
            </a:r>
            <a:r>
              <a:rPr lang="zh-TW" altLang="en-US" dirty="0"/>
              <a:t>防崩潰</a:t>
            </a:r>
            <a:r>
              <a:rPr lang="en-US" altLang="zh-TW" dirty="0"/>
              <a:t>).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23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ML:</a:t>
            </a:r>
            <a:r>
              <a:rPr lang="zh-TW" altLang="en-US" dirty="0"/>
              <a:t>人做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DL:</a:t>
            </a:r>
            <a:r>
              <a:rPr lang="zh-TW" altLang="en-US" dirty="0"/>
              <a:t>機器做</a:t>
            </a:r>
            <a:r>
              <a:rPr lang="en-US" altLang="zh-TW" dirty="0"/>
              <a:t>.</a:t>
            </a:r>
          </a:p>
          <a:p>
            <a:br>
              <a:rPr lang="en-US" altLang="zh-TW" dirty="0"/>
            </a:br>
            <a:r>
              <a:rPr lang="zh-TW" altLang="en-US" dirty="0"/>
              <a:t>用最少的參數</a:t>
            </a:r>
            <a:r>
              <a:rPr lang="en-US" altLang="zh-TW" dirty="0"/>
              <a:t>,</a:t>
            </a:r>
            <a:r>
              <a:rPr lang="zh-TW" altLang="en-US" dirty="0"/>
              <a:t> 描摹正確的結果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36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紅色覆蓋區</a:t>
            </a:r>
            <a:r>
              <a:rPr lang="en-US" altLang="zh-TW" dirty="0"/>
              <a:t>:</a:t>
            </a:r>
            <a:r>
              <a:rPr lang="zh-TW" altLang="en-US" dirty="0"/>
              <a:t> 訓練過程中</a:t>
            </a:r>
            <a:r>
              <a:rPr lang="en-US" altLang="zh-TW" dirty="0"/>
              <a:t>,</a:t>
            </a:r>
            <a:r>
              <a:rPr lang="zh-TW" altLang="en-US" dirty="0"/>
              <a:t> 會調到參數</a:t>
            </a:r>
            <a:r>
              <a:rPr lang="en-US" altLang="zh-TW" dirty="0"/>
              <a:t>(</a:t>
            </a:r>
            <a:r>
              <a:rPr lang="zh-TW" altLang="en-US" dirty="0"/>
              <a:t>權重矩陣</a:t>
            </a:r>
            <a:r>
              <a:rPr lang="en-US" altLang="zh-TW" dirty="0"/>
              <a:t>)</a:t>
            </a:r>
            <a:r>
              <a:rPr lang="zh-TW" altLang="en-US" dirty="0"/>
              <a:t>的部分</a:t>
            </a:r>
            <a:r>
              <a:rPr lang="en-US" altLang="zh-TW" dirty="0"/>
              <a:t>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訓練</a:t>
            </a:r>
            <a:r>
              <a:rPr lang="en-US" altLang="zh-TW" dirty="0"/>
              <a:t>, </a:t>
            </a:r>
            <a:r>
              <a:rPr lang="zh-TW" altLang="en-US" dirty="0"/>
              <a:t>推論</a:t>
            </a:r>
            <a:r>
              <a:rPr lang="en-US" altLang="zh-TW" dirty="0"/>
              <a:t>)</a:t>
            </a:r>
            <a:r>
              <a:rPr lang="zh-TW" altLang="en-US" dirty="0"/>
              <a:t>都是</a:t>
            </a:r>
            <a:r>
              <a:rPr lang="en-US" altLang="zh-TW" dirty="0"/>
              <a:t>context(</a:t>
            </a:r>
            <a:r>
              <a:rPr lang="zh-TW" altLang="en-US" dirty="0"/>
              <a:t>資料</a:t>
            </a:r>
            <a:r>
              <a:rPr lang="en-US" altLang="zh-TW" dirty="0"/>
              <a:t>,</a:t>
            </a:r>
            <a:r>
              <a:rPr lang="zh-TW" altLang="en-US" dirty="0"/>
              <a:t>對話</a:t>
            </a:r>
            <a:r>
              <a:rPr lang="en-US" altLang="zh-TW" dirty="0"/>
              <a:t>)</a:t>
            </a:r>
            <a:r>
              <a:rPr lang="zh-TW" altLang="en-US" dirty="0"/>
              <a:t>傳下來</a:t>
            </a:r>
            <a:r>
              <a:rPr lang="en-US" altLang="zh-TW" dirty="0"/>
              <a:t>, </a:t>
            </a:r>
            <a:r>
              <a:rPr lang="zh-TW" altLang="en-US" dirty="0"/>
              <a:t>轉為</a:t>
            </a:r>
            <a:r>
              <a:rPr lang="en-US" altLang="zh-TW" dirty="0"/>
              <a:t>token embedding.</a:t>
            </a:r>
            <a:br>
              <a:rPr lang="en-US" altLang="zh-TW" dirty="0"/>
            </a:br>
            <a:r>
              <a:rPr lang="zh-TW" altLang="en-US" dirty="0"/>
              <a:t>逐次訓練</a:t>
            </a:r>
            <a:r>
              <a:rPr lang="en-US" altLang="zh-TW" dirty="0"/>
              <a:t>,</a:t>
            </a:r>
            <a:r>
              <a:rPr lang="zh-TW" altLang="en-US" dirty="0"/>
              <a:t> 誤差由</a:t>
            </a:r>
            <a:r>
              <a:rPr lang="en-US" altLang="zh-TW" dirty="0"/>
              <a:t>11</a:t>
            </a:r>
            <a:r>
              <a:rPr lang="zh-TW" altLang="en-US" dirty="0"/>
              <a:t>降到</a:t>
            </a:r>
            <a:r>
              <a:rPr lang="en-US" altLang="zh-TW" dirty="0"/>
              <a:t>0,</a:t>
            </a:r>
            <a:r>
              <a:rPr lang="zh-TW" altLang="en-US" dirty="0"/>
              <a:t> 每次</a:t>
            </a:r>
            <a:r>
              <a:rPr lang="en-US" altLang="zh-TW" dirty="0"/>
              <a:t>“</a:t>
            </a:r>
            <a:r>
              <a:rPr lang="zh-TW" altLang="en-US" dirty="0"/>
              <a:t>反饋傳遞</a:t>
            </a:r>
            <a:r>
              <a:rPr lang="en-US" altLang="zh-TW" dirty="0"/>
              <a:t>”</a:t>
            </a:r>
            <a:r>
              <a:rPr lang="zh-TW" altLang="en-US" dirty="0"/>
              <a:t>都是告訴</a:t>
            </a:r>
            <a:r>
              <a:rPr lang="en-US" altLang="zh-TW" dirty="0"/>
              <a:t>”</a:t>
            </a:r>
            <a:r>
              <a:rPr lang="zh-TW" altLang="en-US" dirty="0"/>
              <a:t>前一層</a:t>
            </a:r>
            <a:r>
              <a:rPr lang="en-US" altLang="zh-TW" dirty="0"/>
              <a:t>”,</a:t>
            </a:r>
            <a:r>
              <a:rPr lang="zh-TW" altLang="en-US" dirty="0"/>
              <a:t> </a:t>
            </a:r>
            <a:r>
              <a:rPr lang="en-US" altLang="zh-TW" dirty="0"/>
              <a:t>”</a:t>
            </a:r>
            <a:r>
              <a:rPr lang="zh-TW" altLang="en-US" dirty="0"/>
              <a:t>哪些權重要調整</a:t>
            </a:r>
            <a:r>
              <a:rPr lang="en-US" altLang="zh-TW" dirty="0"/>
              <a:t>”.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0757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ML</a:t>
            </a:r>
            <a:r>
              <a:rPr lang="zh-TW" altLang="en-US" dirty="0"/>
              <a:t>是手動</a:t>
            </a:r>
            <a:r>
              <a:rPr lang="en-US" altLang="zh-TW" dirty="0"/>
              <a:t>, DL</a:t>
            </a:r>
            <a:r>
              <a:rPr lang="zh-TW" altLang="en-US" dirty="0"/>
              <a:t>是自動</a:t>
            </a:r>
            <a:r>
              <a:rPr lang="en-US" altLang="zh-TW" dirty="0"/>
              <a:t>, MLP</a:t>
            </a:r>
            <a:r>
              <a:rPr lang="zh-TW" altLang="en-US" dirty="0"/>
              <a:t>是</a:t>
            </a:r>
            <a:r>
              <a:rPr lang="en-US" altLang="zh-TW" dirty="0"/>
              <a:t>DL</a:t>
            </a:r>
            <a:r>
              <a:rPr lang="zh-TW" altLang="en-US" dirty="0"/>
              <a:t>的最基礎單位</a:t>
            </a:r>
            <a:r>
              <a:rPr lang="en-US" altLang="zh-TW" dirty="0"/>
              <a:t>.</a:t>
            </a:r>
            <a:r>
              <a:rPr lang="zh-TW" altLang="en-US" dirty="0"/>
              <a:t> 進而組合出整個模型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zh-TW" altLang="en-US" dirty="0"/>
              <a:t>權重的修正</a:t>
            </a:r>
            <a:r>
              <a:rPr lang="en-US" altLang="zh-TW" dirty="0"/>
              <a:t>,</a:t>
            </a:r>
            <a:r>
              <a:rPr lang="zh-TW" altLang="en-US" dirty="0"/>
              <a:t> 依靠</a:t>
            </a:r>
            <a:r>
              <a:rPr lang="en-US" altLang="zh-TW" dirty="0"/>
              <a:t>back propagation, </a:t>
            </a:r>
            <a:r>
              <a:rPr lang="zh-TW" altLang="en-US" dirty="0"/>
              <a:t>持續修正就最佳化</a:t>
            </a:r>
            <a:r>
              <a:rPr lang="en-US" altLang="zh-TW" dirty="0"/>
              <a:t>.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講究</a:t>
            </a:r>
            <a:r>
              <a:rPr lang="en-US" altLang="zh-TW" dirty="0"/>
              <a:t>:</a:t>
            </a:r>
            <a:r>
              <a:rPr lang="zh-TW" altLang="en-US" dirty="0"/>
              <a:t> 效率 </a:t>
            </a:r>
            <a:r>
              <a:rPr lang="en-US" altLang="zh-TW" dirty="0"/>
              <a:t>(</a:t>
            </a:r>
            <a:r>
              <a:rPr lang="zh-TW" altLang="en-US" dirty="0"/>
              <a:t>方向要對</a:t>
            </a:r>
            <a:r>
              <a:rPr lang="en-US" altLang="zh-TW" dirty="0"/>
              <a:t>, </a:t>
            </a:r>
            <a:r>
              <a:rPr lang="zh-TW" altLang="en-US" dirty="0"/>
              <a:t>力道恰當</a:t>
            </a:r>
            <a:r>
              <a:rPr lang="en-US" altLang="zh-TW" dirty="0"/>
              <a:t>, </a:t>
            </a:r>
            <a:r>
              <a:rPr lang="zh-TW" altLang="en-US" dirty="0"/>
              <a:t>過程不會爆炸</a:t>
            </a:r>
            <a:r>
              <a:rPr lang="en-US" altLang="zh-TW" dirty="0"/>
              <a:t>, </a:t>
            </a:r>
            <a:r>
              <a:rPr lang="zh-TW" altLang="en-US" dirty="0"/>
              <a:t>不會消失</a:t>
            </a:r>
            <a:r>
              <a:rPr lang="en-US" altLang="zh-TW" dirty="0"/>
              <a:t>)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這是最常見</a:t>
            </a:r>
            <a:r>
              <a:rPr lang="en-US" altLang="zh-TW" dirty="0"/>
              <a:t>, </a:t>
            </a:r>
            <a:r>
              <a:rPr lang="zh-TW" altLang="en-US" dirty="0"/>
              <a:t>又簡單的組合</a:t>
            </a:r>
            <a:r>
              <a:rPr lang="en-US" altLang="zh-TW" dirty="0"/>
              <a:t>.</a:t>
            </a:r>
            <a:r>
              <a:rPr lang="zh-TW" altLang="en-US" dirty="0"/>
              <a:t> 我們可以知道</a:t>
            </a:r>
            <a:r>
              <a:rPr lang="en-US" altLang="zh-TW" dirty="0"/>
              <a:t>”</a:t>
            </a:r>
            <a:r>
              <a:rPr lang="zh-TW" altLang="en-US" dirty="0"/>
              <a:t>如何迭代每個</a:t>
            </a:r>
            <a:r>
              <a:rPr lang="en-US" altLang="zh-TW" dirty="0"/>
              <a:t>w”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581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輝達新一代的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Vera Rubin NVL72</a:t>
            </a:r>
            <a:r>
              <a:rPr lang="zh-TW" altLang="zh-TW" dirty="0"/>
              <a:t> 機櫃每座配備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 顆 Rubin GPU</a:t>
            </a:r>
            <a:r>
              <a:rPr lang="zh-TW" altLang="zh-TW" dirty="0"/>
              <a:t> 與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 顆 Vera CPU</a:t>
            </a:r>
            <a:r>
              <a:rPr lang="zh-TW" altLang="zh-TW" dirty="0"/>
              <a:t>，</a:t>
            </a:r>
            <a:br>
              <a:rPr lang="en-US" altLang="zh-TW" dirty="0"/>
            </a:br>
            <a:r>
              <a:rPr lang="zh-TW" altLang="zh-TW" dirty="0"/>
              <a:t>整座機櫃造價約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780 萬美元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dirty="0"/>
              <a:t>折合新台幣超過 2 億元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br>
              <a:rPr lang="en-US" altLang="zh-TW" dirty="0"/>
            </a:br>
            <a:endParaRPr lang="en-US" altLang="zh-TW" dirty="0"/>
          </a:p>
          <a:p>
            <a:r>
              <a:rPr lang="zh-TW" altLang="zh-TW" dirty="0"/>
              <a:t>以輝達劃時代的</a:t>
            </a:r>
            <a:r>
              <a:rPr lang="en-US" altLang="zh-TW" dirty="0"/>
              <a:t>H100</a:t>
            </a:r>
            <a:r>
              <a:rPr lang="zh-TW" altLang="zh-TW" dirty="0"/>
              <a:t> </a:t>
            </a:r>
            <a:r>
              <a:rPr lang="en-US" altLang="zh-TW" dirty="0"/>
              <a:t>(80GB</a:t>
            </a:r>
            <a:r>
              <a:rPr lang="zh-TW" altLang="en-US" dirty="0"/>
              <a:t> </a:t>
            </a:r>
            <a:r>
              <a:rPr lang="en-US" altLang="zh-TW" dirty="0"/>
              <a:t>SXM5)</a:t>
            </a:r>
            <a:r>
              <a:rPr lang="zh-TW" altLang="zh-TW" dirty="0"/>
              <a:t>為例，其</a:t>
            </a:r>
            <a:r>
              <a:rPr lang="en-US" altLang="zh-TW" dirty="0"/>
              <a:t>HW</a:t>
            </a:r>
            <a:r>
              <a:rPr lang="zh-TW" altLang="en-US" dirty="0"/>
              <a:t> </a:t>
            </a:r>
            <a:r>
              <a:rPr lang="zh-TW" altLang="zh-TW" dirty="0"/>
              <a:t>BOM約為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3,320 美元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dirty="0"/>
              <a:t>但終端市售價格卻高達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25,000 至 40,000+ 美元</a:t>
            </a:r>
            <a:r>
              <a:rPr lang="zh-TW" altLang="zh-TW" dirty="0"/>
              <a:t>。</a:t>
            </a:r>
            <a:endParaRPr lang="en-US" altLang="zh-TW" dirty="0"/>
          </a:p>
          <a:p>
            <a:br>
              <a:rPr lang="en-US" altLang="zh-TW" dirty="0"/>
            </a:br>
            <a:r>
              <a:rPr lang="en-US" altLang="zh-TW" dirty="0"/>
              <a:t>1.</a:t>
            </a:r>
            <a:r>
              <a:rPr lang="zh-TW" altLang="en-US" dirty="0"/>
              <a:t> 結論</a:t>
            </a:r>
            <a:r>
              <a:rPr lang="en-US" altLang="zh-TW" dirty="0"/>
              <a:t>: </a:t>
            </a:r>
            <a:r>
              <a:rPr lang="zh-TW" altLang="en-US" dirty="0"/>
              <a:t>大概了解成本</a:t>
            </a:r>
            <a:r>
              <a:rPr lang="en-US" altLang="zh-TW" dirty="0"/>
              <a:t>(gpu:300, HBM:1400, cowos:800, test/ABF: 1000)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問題</a:t>
            </a:r>
            <a:r>
              <a:rPr lang="en-US" altLang="zh-TW" dirty="0"/>
              <a:t>:</a:t>
            </a:r>
            <a:r>
              <a:rPr lang="zh-TW" altLang="en-US" dirty="0"/>
              <a:t> 散熱</a:t>
            </a:r>
            <a:r>
              <a:rPr lang="en-US" altLang="zh-TW" dirty="0"/>
              <a:t>(</a:t>
            </a:r>
            <a:r>
              <a:rPr lang="zh-TW" altLang="en-US" dirty="0"/>
              <a:t>算力</a:t>
            </a:r>
            <a:r>
              <a:rPr lang="en-US" altLang="zh-TW" dirty="0"/>
              <a:t>,</a:t>
            </a:r>
            <a:r>
              <a:rPr lang="zh-TW" altLang="en-US" dirty="0"/>
              <a:t> 先進製程</a:t>
            </a:r>
            <a:r>
              <a:rPr lang="en-US" altLang="zh-TW" dirty="0"/>
              <a:t>),</a:t>
            </a:r>
            <a:r>
              <a:rPr lang="zh-TW" altLang="en-US" dirty="0"/>
              <a:t> 傳輸 </a:t>
            </a:r>
            <a:r>
              <a:rPr lang="en-US" altLang="zh-TW" dirty="0"/>
              <a:t>(</a:t>
            </a:r>
            <a:r>
              <a:rPr lang="zh-TW" altLang="en-US" dirty="0"/>
              <a:t>記憶體</a:t>
            </a:r>
            <a:r>
              <a:rPr lang="en-US" altLang="zh-TW" dirty="0"/>
              <a:t>,</a:t>
            </a:r>
            <a:r>
              <a:rPr lang="zh-TW" altLang="en-US" dirty="0"/>
              <a:t> 矽光子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MTK</a:t>
            </a:r>
            <a:r>
              <a:rPr lang="zh-TW" altLang="en-US" dirty="0"/>
              <a:t>序列器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768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MMLU (Massive Multitask Language Understanding)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大規模多任務語言理解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TTFT (Time to First Token)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首字輸出時間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ITL (Inter-Token Latency)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字與字之間的延遲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評估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生成流暢度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的效能指標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altLang="zh-TW" dirty="0"/>
            </a:br>
            <a:r>
              <a:rPr lang="zh-TW" altLang="en-US" dirty="0"/>
              <a:t>訓練</a:t>
            </a:r>
            <a:r>
              <a:rPr lang="en-US" altLang="zh-TW" dirty="0"/>
              <a:t>:</a:t>
            </a:r>
            <a:r>
              <a:rPr lang="zh-TW" altLang="en-US" dirty="0"/>
              <a:t> 雲端</a:t>
            </a:r>
            <a:r>
              <a:rPr lang="en-US" altLang="zh-TW" dirty="0"/>
              <a:t>/</a:t>
            </a:r>
            <a:r>
              <a:rPr lang="zh-TW" altLang="en-US" dirty="0"/>
              <a:t>資料</a:t>
            </a:r>
            <a:r>
              <a:rPr lang="en-US" altLang="zh-TW" dirty="0"/>
              <a:t>/</a:t>
            </a:r>
            <a:r>
              <a:rPr lang="zh-TW" altLang="en-US" dirty="0"/>
              <a:t>算力</a:t>
            </a:r>
            <a:r>
              <a:rPr lang="en-US" altLang="zh-TW" dirty="0"/>
              <a:t>/</a:t>
            </a:r>
            <a:r>
              <a:rPr lang="zh-TW" altLang="en-US" dirty="0"/>
              <a:t> 推論能力強</a:t>
            </a:r>
            <a:r>
              <a:rPr lang="en-US" altLang="zh-TW" dirty="0"/>
              <a:t>/</a:t>
            </a:r>
            <a:r>
              <a:rPr lang="zh-TW" altLang="en-US" dirty="0"/>
              <a:t>正確</a:t>
            </a:r>
            <a:r>
              <a:rPr lang="en-US" altLang="zh-TW" dirty="0"/>
              <a:t>/</a:t>
            </a:r>
            <a:r>
              <a:rPr lang="zh-TW" altLang="en-US" dirty="0"/>
              <a:t> 輸出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模型</a:t>
            </a:r>
            <a:r>
              <a:rPr lang="en-US" altLang="zh-TW" dirty="0"/>
              <a:t>,</a:t>
            </a:r>
            <a:r>
              <a:rPr lang="zh-TW" altLang="en-US" dirty="0"/>
              <a:t> 權重矩陣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推論</a:t>
            </a:r>
            <a:r>
              <a:rPr lang="en-US" altLang="zh-TW" dirty="0"/>
              <a:t>:</a:t>
            </a:r>
            <a:r>
              <a:rPr lang="zh-TW" altLang="en-US" dirty="0"/>
              <a:t> 整合資源</a:t>
            </a:r>
            <a:r>
              <a:rPr lang="en-US" altLang="zh-TW" dirty="0"/>
              <a:t>(</a:t>
            </a:r>
            <a:r>
              <a:rPr lang="zh-TW" altLang="en-US" dirty="0"/>
              <a:t>高效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啟動門檻低</a:t>
            </a:r>
            <a:r>
              <a:rPr lang="en-US" altLang="zh-TW" dirty="0"/>
              <a:t>,</a:t>
            </a:r>
            <a:r>
              <a:rPr lang="zh-TW" altLang="en-US" dirty="0"/>
              <a:t> 省記憶體 </a:t>
            </a:r>
            <a:r>
              <a:rPr lang="en-US" altLang="zh-TW" dirty="0"/>
              <a:t>/</a:t>
            </a:r>
            <a:r>
              <a:rPr lang="zh-TW" altLang="en-US" dirty="0"/>
              <a:t> 易於 </a:t>
            </a:r>
            <a:r>
              <a:rPr lang="en-US" altLang="zh-TW" dirty="0"/>
              <a:t>(</a:t>
            </a:r>
            <a:r>
              <a:rPr lang="zh-TW" altLang="en-US" dirty="0"/>
              <a:t>落地</a:t>
            </a:r>
            <a:r>
              <a:rPr lang="en-US" altLang="zh-TW" dirty="0"/>
              <a:t>/</a:t>
            </a:r>
            <a:r>
              <a:rPr lang="zh-TW" altLang="en-US" dirty="0"/>
              <a:t>佈署</a:t>
            </a:r>
            <a:r>
              <a:rPr lang="en-US" altLang="zh-TW" dirty="0"/>
              <a:t>/</a:t>
            </a:r>
            <a:r>
              <a:rPr lang="zh-TW" altLang="en-US" dirty="0"/>
              <a:t>微調</a:t>
            </a:r>
            <a:r>
              <a:rPr lang="en-US" altLang="zh-TW" dirty="0"/>
              <a:t>,</a:t>
            </a:r>
            <a:r>
              <a:rPr lang="zh-TW" altLang="en-US" dirty="0"/>
              <a:t> 開源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應用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Agent/</a:t>
            </a:r>
            <a:r>
              <a:rPr lang="zh-TW" altLang="en-US" dirty="0"/>
              <a:t>邊緣運算</a:t>
            </a:r>
            <a:r>
              <a:rPr lang="en-US" altLang="zh-TW" dirty="0"/>
              <a:t>/</a:t>
            </a:r>
            <a:r>
              <a:rPr lang="zh-TW" altLang="en-US" dirty="0"/>
              <a:t> 要求</a:t>
            </a:r>
            <a:r>
              <a:rPr lang="en-US" altLang="zh-TW" dirty="0"/>
              <a:t>(</a:t>
            </a:r>
            <a:r>
              <a:rPr lang="zh-TW" altLang="en-US" dirty="0"/>
              <a:t>方便好用</a:t>
            </a:r>
            <a:r>
              <a:rPr lang="en-US" altLang="zh-TW" dirty="0"/>
              <a:t>, </a:t>
            </a:r>
            <a:r>
              <a:rPr lang="zh-TW" altLang="en-US" dirty="0"/>
              <a:t>多語</a:t>
            </a:r>
            <a:r>
              <a:rPr lang="en-US" altLang="zh-TW" dirty="0"/>
              <a:t>, </a:t>
            </a:r>
            <a:r>
              <a:rPr lang="zh-TW" altLang="en-US" dirty="0"/>
              <a:t>多模態</a:t>
            </a:r>
            <a:r>
              <a:rPr lang="en-US" altLang="zh-TW" dirty="0"/>
              <a:t>/ </a:t>
            </a:r>
            <a:r>
              <a:rPr lang="zh-TW" altLang="en-US" dirty="0"/>
              <a:t>應用廣</a:t>
            </a:r>
            <a:r>
              <a:rPr lang="en-US" altLang="zh-TW" dirty="0"/>
              <a:t>/</a:t>
            </a:r>
            <a:r>
              <a:rPr lang="zh-TW" altLang="en-US" dirty="0"/>
              <a:t>續航</a:t>
            </a:r>
            <a:r>
              <a:rPr lang="en-US" altLang="zh-TW" dirty="0"/>
              <a:t>/)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901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Google</a:t>
            </a:r>
            <a:r>
              <a:rPr lang="zh-TW" altLang="en-US" dirty="0"/>
              <a:t>的策略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Gemini </a:t>
            </a:r>
            <a:r>
              <a:rPr lang="zh-TW" altLang="en-US" dirty="0"/>
              <a:t>雲端的</a:t>
            </a:r>
            <a:r>
              <a:rPr lang="en-US" altLang="zh-TW" dirty="0"/>
              <a:t>AI</a:t>
            </a:r>
            <a:r>
              <a:rPr lang="zh-TW" altLang="en-US" dirty="0"/>
              <a:t>王者 </a:t>
            </a:r>
            <a:r>
              <a:rPr lang="en-US" altLang="zh-TW" dirty="0"/>
              <a:t>(Open AI ChatGPT, Anthropic Claude), Gemma </a:t>
            </a:r>
            <a:r>
              <a:rPr lang="zh-TW" altLang="en-US" dirty="0"/>
              <a:t>邊緣首選</a:t>
            </a:r>
            <a:r>
              <a:rPr lang="en-US" altLang="zh-TW" dirty="0"/>
              <a:t>.</a:t>
            </a:r>
            <a:br>
              <a:rPr lang="en-US" altLang="zh-TW" dirty="0"/>
            </a:br>
            <a:r>
              <a:rPr lang="en-US" altLang="zh-TW" dirty="0"/>
              <a:t>Gemma 3: </a:t>
            </a:r>
            <a:r>
              <a:rPr lang="zh-TW" altLang="en-US" dirty="0"/>
              <a:t>多語</a:t>
            </a:r>
            <a:r>
              <a:rPr lang="en-US" altLang="zh-TW" dirty="0"/>
              <a:t>/</a:t>
            </a:r>
            <a:r>
              <a:rPr lang="zh-TW" altLang="en-US" dirty="0"/>
              <a:t>單晶片</a:t>
            </a:r>
            <a:br>
              <a:rPr lang="en-US" altLang="zh-TW" dirty="0"/>
            </a:br>
            <a:r>
              <a:rPr lang="en-US" altLang="zh-TW" dirty="0"/>
              <a:t>Gemma 4: </a:t>
            </a:r>
            <a:r>
              <a:rPr lang="zh-TW" altLang="en-US" dirty="0"/>
              <a:t> 多模態</a:t>
            </a:r>
            <a:r>
              <a:rPr lang="en-US" altLang="zh-TW" dirty="0"/>
              <a:t>/</a:t>
            </a:r>
            <a:r>
              <a:rPr lang="zh-TW" altLang="en-US" dirty="0"/>
              <a:t>開源</a:t>
            </a:r>
            <a:r>
              <a:rPr lang="en-US" altLang="zh-TW" dirty="0"/>
              <a:t>/</a:t>
            </a:r>
            <a:r>
              <a:rPr lang="zh-TW" altLang="en-US" dirty="0"/>
              <a:t>思考鏈</a:t>
            </a:r>
            <a:r>
              <a:rPr lang="en-US" altLang="zh-TW" dirty="0"/>
              <a:t>/MTP/PLE,</a:t>
            </a:r>
            <a:r>
              <a:rPr lang="zh-TW" altLang="en-US" dirty="0"/>
              <a:t> 低參數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深度求索 (DeepSeek) —— 國際賽道上的「定價破壞者」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 V4 Pro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極致的性價比與推理王者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阿里通義千問 (Qwen) —— 規格最齊全的「全能多面手」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 3.8 Max 系列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多語言與工程落地首選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月之暗面 (Moonshot AI) —— 長文本的「破局者」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Kimi K3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超長上下文窗口與 Agent 執行力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智譜 AI (Z.ai) —— 中文政企與開發者的「全棧標竿」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GLM-5.3 / GLM-5 系列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 Coding 與多模態先鋒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TW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6368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訓練</a:t>
            </a:r>
            <a:r>
              <a:rPr lang="en-US" altLang="zh-TW" dirty="0"/>
              <a:t>:</a:t>
            </a:r>
            <a:r>
              <a:rPr lang="zh-TW" altLang="en-US" dirty="0"/>
              <a:t> 同時訓練一個草稿模型</a:t>
            </a:r>
            <a:r>
              <a:rPr lang="en-US" altLang="zh-TW" dirty="0"/>
              <a:t>(</a:t>
            </a:r>
            <a:r>
              <a:rPr lang="zh-TW" altLang="en-US" dirty="0"/>
              <a:t>蒸餾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推論</a:t>
            </a:r>
            <a:r>
              <a:rPr lang="en-US" altLang="zh-TW" dirty="0"/>
              <a:t>:</a:t>
            </a:r>
            <a:r>
              <a:rPr lang="zh-TW" altLang="en-US" dirty="0"/>
              <a:t> 快速吐出</a:t>
            </a:r>
            <a:r>
              <a:rPr lang="en-US" altLang="zh-TW" dirty="0"/>
              <a:t>3</a:t>
            </a:r>
            <a:r>
              <a:rPr lang="zh-TW" altLang="en-US" dirty="0"/>
              <a:t>組</a:t>
            </a:r>
            <a:r>
              <a:rPr lang="en-US" altLang="zh-TW" dirty="0"/>
              <a:t>4</a:t>
            </a:r>
            <a:r>
              <a:rPr lang="zh-TW" altLang="en-US" dirty="0"/>
              <a:t>字預測</a:t>
            </a:r>
            <a:r>
              <a:rPr lang="en-US" altLang="zh-TW" dirty="0"/>
              <a:t>,</a:t>
            </a:r>
            <a:r>
              <a:rPr lang="zh-TW" altLang="en-US" dirty="0"/>
              <a:t> 進行驗證 </a:t>
            </a:r>
            <a:r>
              <a:rPr lang="en-US" altLang="zh-TW" dirty="0"/>
              <a:t>(</a:t>
            </a:r>
            <a:r>
              <a:rPr lang="zh-TW" altLang="en-US" dirty="0"/>
              <a:t>可節省</a:t>
            </a:r>
            <a:r>
              <a:rPr lang="en-US" altLang="zh-TW" dirty="0"/>
              <a:t>kv-cache</a:t>
            </a:r>
            <a:r>
              <a:rPr lang="zh-TW" altLang="en-US" dirty="0"/>
              <a:t>的搬運時間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82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紅色區域為</a:t>
            </a:r>
            <a:r>
              <a:rPr lang="en-US" altLang="zh-TW" dirty="0"/>
              <a:t>:</a:t>
            </a:r>
            <a:r>
              <a:rPr lang="zh-TW" altLang="en-US" dirty="0"/>
              <a:t> 權重更改區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977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微調階段</a:t>
            </a:r>
            <a:r>
              <a:rPr lang="en-US" altLang="zh-TW" dirty="0"/>
              <a:t>:</a:t>
            </a:r>
            <a:r>
              <a:rPr lang="zh-TW" altLang="en-US" dirty="0"/>
              <a:t> 會動到的矩陣</a:t>
            </a:r>
            <a:r>
              <a:rPr lang="en-US" altLang="zh-TW" dirty="0"/>
              <a:t>A, B, 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667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無法真正把事情做好完成的挑戰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: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不改變模型本身參數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的情況下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應用層面（Application Layer）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進行的工程優化與控管。</a:t>
            </a:r>
            <a:endParaRPr lang="en-US" altLang="zh-TW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525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649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所有的模型都進化快速</a:t>
            </a:r>
            <a:r>
              <a:rPr lang="en-US" altLang="zh-TW" dirty="0"/>
              <a:t>,</a:t>
            </a:r>
            <a:r>
              <a:rPr lang="zh-TW" altLang="en-US" dirty="0"/>
              <a:t> 落地應用更是關鍵。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856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的真正目的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建立生態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而大廠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OpenAI、Google 雲端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要掌握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關鍵核心。</a:t>
            </a:r>
          </a:p>
          <a:p>
            <a:br>
              <a:rPr lang="en-US" altLang="zh-TW" dirty="0"/>
            </a:b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目前開源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都屬於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Open-Weights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下載到地端運行或微調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LoRA/DoRA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缺乏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訓練數據集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清洗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資料的腳本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真正的開源</a:t>
            </a:r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只有少數機構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OLMo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IBM Granite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,</a:t>
            </a:r>
            <a:r>
              <a:rPr lang="zh-TW" alt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Allen Institute</a:t>
            </a:r>
            <a:r>
              <a:rPr lang="en-US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會把數據集、訓練日誌、源碼全部公開。</a:t>
            </a:r>
          </a:p>
          <a:p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669B1-5E45-4E56-BDC8-2DAE0999576F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399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ED74-DA00-4CBA-A1C1-E512E2B6304A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609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925" y="6273799"/>
            <a:ext cx="866775" cy="236540"/>
          </a:xfrm>
        </p:spPr>
        <p:txBody>
          <a:bodyPr/>
          <a:lstStyle/>
          <a:p>
            <a:fld id="{FCA9289E-675F-40D4-B9D2-B402D9BF8443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3BA02C0-C195-5F6C-3954-82CCEC0492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59520" y="6521966"/>
            <a:ext cx="1111660" cy="302928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glow rad="50800">
              <a:schemeClr val="tx2">
                <a:lumMod val="75000"/>
                <a:lumOff val="25000"/>
              </a:schemeClr>
            </a:glow>
          </a:effectLst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93FB1E1-5BB9-671D-5C07-82ED1384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xx</a:t>
            </a:r>
            <a:endParaRPr lang="zh-TW" alt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CCB666C-D42E-E40E-0E63-50CBEFC6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3505" y="6442870"/>
            <a:ext cx="447675" cy="27860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>
              <a:defRPr b="1">
                <a:solidFill>
                  <a:srgbClr val="FFFF00"/>
                </a:solidFill>
              </a:defRPr>
            </a:lvl1pPr>
          </a:lstStyle>
          <a:p>
            <a:fld id="{1199D2F9-F85F-4ADB-9AB3-7A77A9EA85B6}" type="slidenum">
              <a:rPr lang="zh-TW" altLang="en-US" smtClean="0"/>
              <a:pPr/>
              <a:t>‹#›</a:t>
            </a:fld>
            <a:endParaRPr lang="zh-TW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860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0944-B26B-473E-8430-71FB352E16E7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8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2049-2DF7-40B8-AF61-53AC4BCBD8EB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8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E203-E53F-410D-B6DC-8A6B1B5EE14D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16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470B4-8FA3-4D32-B82E-4D9030AB516A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69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0F2E-35FF-4AEB-A503-7623877F27FF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71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29CF-AF1D-4889-9402-DB45D11F84BE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46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BBB5C-9EC2-4DF4-BFE6-2C2CA67834E9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6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30B8D-6AAE-4D8A-B0AC-B932651E1A27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29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0915-2086-4A8B-90B8-58E453D69C44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dirty="0"/>
              <a:t>xx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665BD-746B-453F-9609-77E3D536E66F}" type="datetime1">
              <a:rPr lang="zh-TW" altLang="en-US" smtClean="0"/>
              <a:t>2026/10/18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TW" dirty="0"/>
              <a:t>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445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2.png"/><Relationship Id="rId15" Type="http://schemas.openxmlformats.org/officeDocument/2006/relationships/image" Target="../media/image36.png"/><Relationship Id="rId10" Type="http://schemas.openxmlformats.org/officeDocument/2006/relationships/image" Target="../media/image400.png"/><Relationship Id="rId9" Type="http://schemas.openxmlformats.org/officeDocument/2006/relationships/image" Target="../media/image330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svg"/><Relationship Id="rId7" Type="http://schemas.openxmlformats.org/officeDocument/2006/relationships/image" Target="../media/image69.svg"/><Relationship Id="rId2" Type="http://schemas.openxmlformats.org/officeDocument/2006/relationships/image" Target="../media/image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9" Type="http://schemas.openxmlformats.org/officeDocument/2006/relationships/image" Target="../media/image7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5" Type="http://schemas.openxmlformats.org/officeDocument/2006/relationships/image" Target="../media/image72.svg"/><Relationship Id="rId4" Type="http://schemas.openxmlformats.org/officeDocument/2006/relationships/image" Target="../media/image6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e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swe.datacurve.ai/" TargetMode="Externa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hyperlink" Target="https://arena.ai/leaderboard/agent/paret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hyperlink" Target="https://arena.ai/leaderboard/text/pareto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89.png"/><Relationship Id="rId5" Type="http://schemas.openxmlformats.org/officeDocument/2006/relationships/image" Target="../media/image6.png"/><Relationship Id="rId10" Type="http://schemas.openxmlformats.org/officeDocument/2006/relationships/image" Target="../media/image88.png"/><Relationship Id="rId4" Type="http://schemas.openxmlformats.org/officeDocument/2006/relationships/image" Target="../media/image5.png"/><Relationship Id="rId9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2.png"/><Relationship Id="rId7" Type="http://schemas.openxmlformats.org/officeDocument/2006/relationships/image" Target="../media/image7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eg"/><Relationship Id="rId5" Type="http://schemas.openxmlformats.org/officeDocument/2006/relationships/image" Target="../media/image66.png"/><Relationship Id="rId4" Type="http://schemas.openxmlformats.org/officeDocument/2006/relationships/image" Target="../media/image93.png"/><Relationship Id="rId9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F241B9-2317-1AF3-8297-F1D51471A73E}"/>
              </a:ext>
            </a:extLst>
          </p:cNvPr>
          <p:cNvSpPr txBox="1"/>
          <p:nvPr/>
        </p:nvSpPr>
        <p:spPr>
          <a:xfrm>
            <a:off x="3748825" y="5118283"/>
            <a:ext cx="1646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4F81BD"/>
                </a:solidFill>
                <a:latin typeface="Calibri"/>
              </a:rPr>
              <a:t>Centrillion Technology </a:t>
            </a:r>
          </a:p>
          <a:p>
            <a:pPr algn="ctr" defTabSz="914400"/>
            <a:r>
              <a:rPr lang="en-US" altLang="zh-TW" sz="1200" b="1" dirty="0">
                <a:solidFill>
                  <a:srgbClr val="4F81BD"/>
                </a:solidFill>
                <a:latin typeface="Calibri"/>
              </a:rPr>
              <a:t>Bioinformation Dept. </a:t>
            </a:r>
          </a:p>
          <a:p>
            <a:pPr algn="ctr" defTabSz="914400"/>
            <a:r>
              <a:rPr lang="en-US" altLang="zh-TW" sz="1400" dirty="0">
                <a:solidFill>
                  <a:srgbClr val="4F81BD"/>
                </a:solidFill>
                <a:latin typeface="Calibri"/>
              </a:rPr>
              <a:t>Felix &amp; Allen</a:t>
            </a:r>
          </a:p>
          <a:p>
            <a:pPr algn="ctr" defTabSz="914400"/>
            <a:r>
              <a:rPr lang="en-US" altLang="zh-TW" sz="1000" dirty="0">
                <a:solidFill>
                  <a:srgbClr val="4F81BD"/>
                </a:solidFill>
                <a:latin typeface="Calibri"/>
              </a:rPr>
              <a:t>2026/09/16</a:t>
            </a:r>
            <a:endParaRPr lang="zh-TW" altLang="en-US" sz="10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7B807B-1903-849F-8047-54FD95348527}"/>
              </a:ext>
            </a:extLst>
          </p:cNvPr>
          <p:cNvSpPr txBox="1"/>
          <p:nvPr/>
        </p:nvSpPr>
        <p:spPr>
          <a:xfrm>
            <a:off x="809581" y="476672"/>
            <a:ext cx="7524837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TW" sz="3200" b="1" dirty="0">
                <a:solidFill>
                  <a:prstClr val="white">
                    <a:lumMod val="65000"/>
                  </a:prstClr>
                </a:solidFill>
                <a:latin typeface="Calibri"/>
              </a:rPr>
              <a:t>Attention Is All You Need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n-US" altLang="zh-TW" sz="10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	2017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Google Brain: 	</a:t>
            </a:r>
            <a:r>
              <a:rPr lang="en-US" altLang="zh-TW" sz="1200" b="1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Google Research	University of Toronto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Ashish Vaswani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 (Essential AI*)	Niki Parmar (Anthropic)	Aidan N.Gomez (Cohere*)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Noam Shazeer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 (Google)	Jakob Uszkoreit (Inceptive*)	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Lukasz Kaiser (OpenAI)	Llion Jones (Sakana AI*)	-- «The Transformer Eight»</a:t>
            </a:r>
            <a:endParaRPr lang="en-US" altLang="zh-TW" sz="1000" b="1" dirty="0">
              <a:solidFill>
                <a:prstClr val="white">
                  <a:lumMod val="50000"/>
                </a:prstClr>
              </a:solidFill>
              <a:latin typeface="Calibri"/>
              <a:sym typeface="Wingdings" panose="05000000000000000000" pitchFamily="2" charset="2"/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		Illia Polosukhin (NEAR Protocol*)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Calibri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41C521-3967-E249-2759-1E6397A730FC}"/>
              </a:ext>
            </a:extLst>
          </p:cNvPr>
          <p:cNvSpPr txBox="1"/>
          <p:nvPr/>
        </p:nvSpPr>
        <p:spPr>
          <a:xfrm>
            <a:off x="809581" y="2177956"/>
            <a:ext cx="7524837" cy="146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TW" sz="4000" b="1" dirty="0">
                <a:solidFill>
                  <a:prstClr val="black"/>
                </a:solidFill>
                <a:latin typeface="Calibri"/>
              </a:rPr>
              <a:t>Gemma</a:t>
            </a:r>
            <a:r>
              <a:rPr lang="zh-TW" altLang="en-US" sz="4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4000" b="1" dirty="0">
                <a:solidFill>
                  <a:prstClr val="black"/>
                </a:solidFill>
                <a:latin typeface="Calibri"/>
              </a:rPr>
              <a:t>4 Technical Report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	2026</a:t>
            </a:r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prstClr val="black"/>
              </a:solidFill>
              <a:latin typeface="Calibri"/>
            </a:endParaRPr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srgbClr val="4F81BD">
                  <a:lumMod val="75000"/>
                </a:srgbClr>
              </a:solidFill>
              <a:latin typeface="Calibri"/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Google DeepMind	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	Gemma Team</a:t>
            </a:r>
            <a:endParaRPr lang="zh-TW" altLang="en-US" sz="1000" dirty="0">
              <a:solidFill>
                <a:srgbClr val="4F81B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E8110F46-262E-4D6C-37E7-846D919B91CA}"/>
              </a:ext>
            </a:extLst>
          </p:cNvPr>
          <p:cNvSpPr/>
          <p:nvPr/>
        </p:nvSpPr>
        <p:spPr>
          <a:xfrm>
            <a:off x="4355975" y="1772816"/>
            <a:ext cx="432048" cy="426625"/>
          </a:xfrm>
          <a:prstGeom prst="downArrow">
            <a:avLst/>
          </a:prstGeom>
          <a:solidFill>
            <a:sysClr val="window" lastClr="FFFFFF">
              <a:lumMod val="75000"/>
              <a:alpha val="7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3A3E4A44-639E-A0E6-50F0-6779C83FF0EE}"/>
              </a:ext>
            </a:extLst>
          </p:cNvPr>
          <p:cNvGrpSpPr/>
          <p:nvPr/>
        </p:nvGrpSpPr>
        <p:grpSpPr>
          <a:xfrm>
            <a:off x="106948" y="2715892"/>
            <a:ext cx="3701433" cy="4053209"/>
            <a:chOff x="1524068" y="1242691"/>
            <a:chExt cx="3701433" cy="4053209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389381FF-3551-67F9-A516-E7A67E0D5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68" y="1242691"/>
              <a:ext cx="3161373" cy="247492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CF35F09-FD40-BF83-3DB3-C2A6BF5DFA3B}"/>
                </a:ext>
              </a:extLst>
            </p:cNvPr>
            <p:cNvSpPr/>
            <p:nvPr/>
          </p:nvSpPr>
          <p:spPr>
            <a:xfrm>
              <a:off x="2262308" y="1270335"/>
              <a:ext cx="1513508" cy="899532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altLang="zh-TW" sz="5400" b="1" cap="none" spc="0" dirty="0">
                  <a:ln w="12700" cmpd="sng">
                    <a:solidFill>
                      <a:schemeClr val="accent6">
                        <a:lumMod val="60000"/>
                        <a:lumOff val="4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6">
                          <a:lumMod val="75000"/>
                        </a:schemeClr>
                      </a:gs>
                      <a:gs pos="47000">
                        <a:schemeClr val="accent6">
                          <a:lumMod val="60000"/>
                          <a:lumOff val="40000"/>
                        </a:schemeClr>
                      </a:gs>
                      <a:gs pos="87000">
                        <a:schemeClr val="accent6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effectLst/>
                </a:rPr>
                <a:t>2018</a:t>
              </a:r>
              <a:endParaRPr lang="zh-TW" altLang="en-US" sz="5400" b="1" cap="none" spc="0" dirty="0">
                <a:ln w="12700" cmpd="sng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75000"/>
                      </a:schemeClr>
                    </a:gs>
                    <a:gs pos="47000">
                      <a:schemeClr val="accent6">
                        <a:lumMod val="60000"/>
                        <a:lumOff val="40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3CCA29E-F1A4-5639-063E-7557CC429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2592" y="2067802"/>
              <a:ext cx="3012909" cy="252456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AE7E0A7-A5FC-E6F4-7D08-4BF91162C4B9}"/>
                </a:ext>
              </a:extLst>
            </p:cNvPr>
            <p:cNvSpPr/>
            <p:nvPr/>
          </p:nvSpPr>
          <p:spPr>
            <a:xfrm>
              <a:off x="2991913" y="2090104"/>
              <a:ext cx="1513508" cy="899532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altLang="zh-TW" sz="5400" b="1" cap="none" spc="0" dirty="0">
                  <a:ln w="12700" cmpd="sng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olid"/>
                  </a:ln>
                  <a:gradFill>
                    <a:gsLst>
                      <a:gs pos="33000">
                        <a:srgbClr val="FEBC03"/>
                      </a:gs>
                      <a:gs pos="0">
                        <a:srgbClr val="FFFF00"/>
                      </a:gs>
                      <a:gs pos="100000">
                        <a:schemeClr val="accent2"/>
                      </a:gs>
                    </a:gsLst>
                    <a:lin ang="5400000"/>
                  </a:gradFill>
                  <a:effectLst/>
                </a:rPr>
                <a:t>2024</a:t>
              </a:r>
              <a:endParaRPr lang="zh-TW" altLang="en-US" sz="5400" b="1" cap="none" spc="0" dirty="0">
                <a:ln w="12700" cmpd="sng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</a:ln>
                <a:gradFill>
                  <a:gsLst>
                    <a:gs pos="33000">
                      <a:srgbClr val="FEBC03"/>
                    </a:gs>
                    <a:gs pos="0">
                      <a:srgbClr val="FFFF00"/>
                    </a:gs>
                    <a:gs pos="100000">
                      <a:schemeClr val="accent2"/>
                    </a:gs>
                  </a:gsLst>
                  <a:lin ang="5400000"/>
                </a:gradFill>
                <a:effectLst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CA03C2D9-E9E9-E342-3E65-FF86FB7B604E}"/>
                </a:ext>
              </a:extLst>
            </p:cNvPr>
            <p:cNvCxnSpPr>
              <a:cxnSpLocks/>
            </p:cNvCxnSpPr>
            <p:nvPr/>
          </p:nvCxnSpPr>
          <p:spPr>
            <a:xfrm>
              <a:off x="3193662" y="2787805"/>
              <a:ext cx="0" cy="130742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F3ECC81C-F546-4EA0-99D8-B2B24DE7E71D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71" y="2784091"/>
              <a:ext cx="0" cy="130742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標題 1">
              <a:extLst>
                <a:ext uri="{FF2B5EF4-FFF2-40B4-BE49-F238E27FC236}">
                  <a16:creationId xmlns:a16="http://schemas.microsoft.com/office/drawing/2014/main" id="{F5EC4FC2-62B3-38EF-7051-6C81067A12B4}"/>
                </a:ext>
              </a:extLst>
            </p:cNvPr>
            <p:cNvSpPr txBox="1">
              <a:spLocks/>
            </p:cNvSpPr>
            <p:nvPr/>
          </p:nvSpPr>
          <p:spPr>
            <a:xfrm>
              <a:off x="1524068" y="4138316"/>
              <a:ext cx="3701432" cy="115758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effectLst>
              <a:glow rad="76200">
                <a:schemeClr val="accent1">
                  <a:alpha val="40000"/>
                </a:schemeClr>
              </a:glow>
            </a:effectLst>
          </p:spPr>
          <p:txBody>
            <a:bodyPr wrap="squar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 altLang="zh-TW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altLang="zh-TW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altLang="zh-TW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zh-TW" altLang="zh-TW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As a </a:t>
              </a:r>
              <a:r>
                <a:rPr lang="zh-TW" altLang="zh-TW" sz="1200" u="none" strike="noStrike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biotech laboratory based in TaiYuen Hi-Tech Industrial Park</a:t>
              </a:r>
              <a:r>
                <a:rPr lang="en-US" altLang="zh-TW" sz="1200" u="none" strike="noStrike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(</a:t>
              </a:r>
              <a:r>
                <a:rPr lang="zh-TW" altLang="en-US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台元科技園區</a:t>
              </a:r>
              <a:r>
                <a:rPr lang="en-US" altLang="zh-TW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zh-TW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we focus on genotyping, spatial sequencing, and AI-driven genome decoding.</a:t>
              </a:r>
              <a:endParaRPr lang="en-US" altLang="zh-TW" sz="1100" dirty="0">
                <a:solidFill>
                  <a:schemeClr val="bg1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endParaRPr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97F1308B-B03D-F513-72C5-464D13204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31471" y="4142978"/>
              <a:ext cx="2324382" cy="63339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effectLst/>
          </p:spPr>
        </p:pic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6D20160B-0E73-C195-6E2B-8661CA689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520" y="6521966"/>
            <a:ext cx="1111660" cy="302928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glow rad="50800">
              <a:schemeClr val="tx2">
                <a:lumMod val="75000"/>
                <a:lumOff val="2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9032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F8F410-F366-68A1-31FD-EBCD4212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11B79F36-E90C-E5F3-5541-4E82D2DA315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24482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Agenda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2732992-B3FB-29D2-6EEC-C055ED1D3CBB}"/>
              </a:ext>
            </a:extLst>
          </p:cNvPr>
          <p:cNvSpPr txBox="1"/>
          <p:nvPr/>
        </p:nvSpPr>
        <p:spPr>
          <a:xfrm>
            <a:off x="845586" y="1268760"/>
            <a:ext cx="6102678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Overview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(AI Evolution from Alex</a:t>
            </a:r>
            <a:r>
              <a:rPr lang="zh-TW" altLang="en-US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Net to GPT)</a:t>
            </a:r>
            <a:endParaRPr lang="en-US" altLang="zh-TW" sz="2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Transformer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(Basic model type has: Dense and MoE)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GPT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(How GPT predict next token?)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Gemma Family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 Cloud: Gemini </a:t>
            </a:r>
            <a:r>
              <a:rPr lang="zh-TW" altLang="zh-TW" sz="1200" dirty="0">
                <a:solidFill>
                  <a:prstClr val="white">
                    <a:lumMod val="75000"/>
                  </a:prstClr>
                </a:solidFill>
                <a:latin typeface="Calibri"/>
              </a:rPr>
              <a:t>➔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Agent: Gemma 4)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AI Runtime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(Environment of AI Agent, SLM, LLM, RAG and MCP)</a:t>
            </a:r>
            <a:endParaRPr lang="en-US" altLang="zh-TW" sz="2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Conclusion</a:t>
            </a:r>
            <a:r>
              <a:rPr lang="en-US" altLang="zh-TW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(A Holistic Perspective)</a:t>
            </a:r>
          </a:p>
          <a:p>
            <a:pPr marL="285750" indent="-285750" defTabSz="914400">
              <a:buFont typeface="Wingdings" panose="05000000000000000000" pitchFamily="2" charset="2"/>
              <a:buChar char="Ø"/>
              <a:defRPr/>
            </a:pPr>
            <a:endParaRPr lang="en-US" altLang="zh-TW" sz="1200" dirty="0">
              <a:solidFill>
                <a:prstClr val="white">
                  <a:lumMod val="75000"/>
                </a:prst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E3FE787-E0BE-C9DE-0517-3E2DC7127696}"/>
              </a:ext>
            </a:extLst>
          </p:cNvPr>
          <p:cNvSpPr txBox="1"/>
          <p:nvPr/>
        </p:nvSpPr>
        <p:spPr>
          <a:xfrm>
            <a:off x="7848364" y="44624"/>
            <a:ext cx="1240083" cy="4197816"/>
          </a:xfrm>
          <a:prstGeom prst="rect">
            <a:avLst/>
          </a:prstGeom>
          <a:noFill/>
        </p:spPr>
        <p:txBody>
          <a:bodyPr wrap="none" lIns="91440" tIns="91440" rIns="0" bIns="0">
            <a:spAutoFit/>
          </a:bodyPr>
          <a:lstStyle/>
          <a:p>
            <a:pPr defTabSz="1546225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Overview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3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ML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Training Stages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Transformer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Self-Attention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FFN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and MoE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Linear Projection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Embeddings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Position Encoding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Summary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GPT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Pre-Training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MLP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Backpropagation 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Training Cluster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AI Ecosystem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Gemma Family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MTP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Supervised FT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QLoRA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DoRA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Gemma4: PLE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AI Runtime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MCP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Agent Skill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LLM Wiki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SLM Engine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Emerging Trends </a:t>
            </a:r>
            <a:endParaRPr lang="en-US" altLang="zh-TW" sz="1000" b="1" dirty="0">
              <a:solidFill>
                <a:prstClr val="black"/>
              </a:solidFill>
              <a:latin typeface="Calibri"/>
            </a:endParaRP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Conclusion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Benchmarking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x3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Building the Agent</a:t>
            </a:r>
          </a:p>
        </p:txBody>
      </p:sp>
    </p:spTree>
    <p:extLst>
      <p:ext uri="{BB962C8B-B14F-4D97-AF65-F5344CB8AC3E}">
        <p14:creationId xmlns:p14="http://schemas.microsoft.com/office/powerpoint/2010/main" val="294099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C081-B75D-8307-7BC1-367C94BE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表格 159">
            <a:extLst>
              <a:ext uri="{FF2B5EF4-FFF2-40B4-BE49-F238E27FC236}">
                <a16:creationId xmlns:a16="http://schemas.microsoft.com/office/drawing/2014/main" id="{AA01B178-FDB7-DCD2-BAE6-133FB6E2F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11883"/>
              </p:ext>
            </p:extLst>
          </p:nvPr>
        </p:nvGraphicFramePr>
        <p:xfrm>
          <a:off x="467544" y="908720"/>
          <a:ext cx="8208915" cy="5292154"/>
        </p:xfrm>
        <a:graphic>
          <a:graphicData uri="http://schemas.openxmlformats.org/drawingml/2006/table">
            <a:tbl>
              <a:tblPr firstRow="1" bandRow="1"/>
              <a:tblGrid>
                <a:gridCol w="452323">
                  <a:extLst>
                    <a:ext uri="{9D8B030D-6E8A-4147-A177-3AD203B41FA5}">
                      <a16:colId xmlns:a16="http://schemas.microsoft.com/office/drawing/2014/main" val="3115215194"/>
                    </a:ext>
                  </a:extLst>
                </a:gridCol>
                <a:gridCol w="1083586">
                  <a:extLst>
                    <a:ext uri="{9D8B030D-6E8A-4147-A177-3AD203B41FA5}">
                      <a16:colId xmlns:a16="http://schemas.microsoft.com/office/drawing/2014/main" val="2438358024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4024420245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1885199976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2600189719"/>
                    </a:ext>
                  </a:extLst>
                </a:gridCol>
                <a:gridCol w="688815">
                  <a:extLst>
                    <a:ext uri="{9D8B030D-6E8A-4147-A177-3AD203B41FA5}">
                      <a16:colId xmlns:a16="http://schemas.microsoft.com/office/drawing/2014/main" val="459902815"/>
                    </a:ext>
                  </a:extLst>
                </a:gridCol>
                <a:gridCol w="1393855">
                  <a:extLst>
                    <a:ext uri="{9D8B030D-6E8A-4147-A177-3AD203B41FA5}">
                      <a16:colId xmlns:a16="http://schemas.microsoft.com/office/drawing/2014/main" val="4019554014"/>
                    </a:ext>
                  </a:extLst>
                </a:gridCol>
                <a:gridCol w="835888">
                  <a:extLst>
                    <a:ext uri="{9D8B030D-6E8A-4147-A177-3AD203B41FA5}">
                      <a16:colId xmlns:a16="http://schemas.microsoft.com/office/drawing/2014/main" val="1289474231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2173516547"/>
                    </a:ext>
                  </a:extLst>
                </a:gridCol>
              </a:tblGrid>
              <a:tr h="281591">
                <a:tc gridSpan="9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Evolution from Alex Net to GPT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249274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Pre-Training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Fine-Tuning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Loss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Parameter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Attention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Agent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CV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15898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2010s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Word2Vec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RNN, LSTM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CNN, Alex Net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RSN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Alpha Go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 v1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24414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RLHF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 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326291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GPT-3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 v4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491690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Alignment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Prompt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59351"/>
                  </a:ext>
                </a:extLst>
              </a:tr>
              <a:tr h="369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FLAN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(zero-shot)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492193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Self-Instruct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DPO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QLoRA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MLA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687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CAI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Self-Alignment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GPRO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DoRA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MoBA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b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 RAG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33333"/>
                  </a:ext>
                </a:extLst>
              </a:tr>
              <a:tr h="368738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Modern BERT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748438"/>
                  </a:ext>
                </a:extLst>
              </a:tr>
              <a:tr h="21989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Net (1.58)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8771"/>
                  </a:ext>
                </a:extLst>
              </a:tr>
              <a:tr h="352672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 V4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6025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Native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Multimodal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Efficient 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 K3,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4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 Wiki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9862"/>
                  </a:ext>
                </a:extLst>
              </a:tr>
              <a:tr h="251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GUFF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Intention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451293"/>
                  </a:ext>
                </a:extLst>
              </a:tr>
              <a:tr h="322045">
                <a:tc gridSpan="9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Current Edge AI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Llama4, Qwen 3, DeepSeek-V4, Mistral 3, Kimi K3, Gemma4</a:t>
                      </a:r>
                    </a:p>
                  </a:txBody>
                  <a:tcPr marL="0" marR="0" marT="7200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5380"/>
                  </a:ext>
                </a:extLst>
              </a:tr>
            </a:tbl>
          </a:graphicData>
        </a:graphic>
      </p:graphicFrame>
      <p:sp>
        <p:nvSpPr>
          <p:cNvPr id="161" name="標題 1">
            <a:extLst>
              <a:ext uri="{FF2B5EF4-FFF2-40B4-BE49-F238E27FC236}">
                <a16:creationId xmlns:a16="http://schemas.microsoft.com/office/drawing/2014/main" id="{049C216D-38AD-A80B-9E34-1CBE5DEB5CE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Overview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Data is fuel, DL is the engine, and compute is the rocket.</a:t>
            </a:r>
          </a:p>
        </p:txBody>
      </p:sp>
      <p:pic>
        <p:nvPicPr>
          <p:cNvPr id="162" name="圖片 161">
            <a:extLst>
              <a:ext uri="{FF2B5EF4-FFF2-40B4-BE49-F238E27FC236}">
                <a16:creationId xmlns:a16="http://schemas.microsoft.com/office/drawing/2014/main" id="{C88B9A88-CCF7-3727-EBA6-27B4674B0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717" y="6255221"/>
            <a:ext cx="284964" cy="284964"/>
          </a:xfrm>
          <a:prstGeom prst="rect">
            <a:avLst/>
          </a:prstGeom>
          <a:effectLst>
            <a:glow rad="12700">
              <a:sysClr val="window" lastClr="FFFFFF">
                <a:lumMod val="95000"/>
                <a:alpha val="40000"/>
              </a:sysClr>
            </a:glow>
            <a:softEdge rad="25400"/>
          </a:effectLst>
        </p:spPr>
      </p:pic>
      <p:pic>
        <p:nvPicPr>
          <p:cNvPr id="163" name="圖片 162">
            <a:extLst>
              <a:ext uri="{FF2B5EF4-FFF2-40B4-BE49-F238E27FC236}">
                <a16:creationId xmlns:a16="http://schemas.microsoft.com/office/drawing/2014/main" id="{DC4857B7-A2EC-056B-4369-A94A936A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585" y="6255221"/>
            <a:ext cx="350542" cy="284964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15A86617-8B11-509D-F685-4C868BB6E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228" y="6255221"/>
            <a:ext cx="284964" cy="284964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EF9FDDBA-0DE9-6423-B124-60B8A60D3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4072" y="6255221"/>
            <a:ext cx="284964" cy="284964"/>
          </a:xfrm>
          <a:prstGeom prst="rect">
            <a:avLst/>
          </a:prstGeom>
        </p:spPr>
      </p:pic>
      <p:pic>
        <p:nvPicPr>
          <p:cNvPr id="166" name="圖片 165">
            <a:extLst>
              <a:ext uri="{FF2B5EF4-FFF2-40B4-BE49-F238E27FC236}">
                <a16:creationId xmlns:a16="http://schemas.microsoft.com/office/drawing/2014/main" id="{7F8AF243-BFB7-0469-A44E-7598F0CF0C9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3942" y="2370757"/>
            <a:ext cx="240538" cy="240538"/>
          </a:xfrm>
          <a:prstGeom prst="rect">
            <a:avLst/>
          </a:prstGeom>
        </p:spPr>
      </p:pic>
      <p:pic>
        <p:nvPicPr>
          <p:cNvPr id="167" name="圖片 166">
            <a:extLst>
              <a:ext uri="{FF2B5EF4-FFF2-40B4-BE49-F238E27FC236}">
                <a16:creationId xmlns:a16="http://schemas.microsoft.com/office/drawing/2014/main" id="{C398D94E-40B8-23A2-F225-42C2DBB3B95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208" y="1965230"/>
            <a:ext cx="277256" cy="277256"/>
          </a:xfrm>
          <a:prstGeom prst="rect">
            <a:avLst/>
          </a:prstGeom>
        </p:spPr>
      </p:pic>
      <p:pic>
        <p:nvPicPr>
          <p:cNvPr id="168" name="圖片 167">
            <a:extLst>
              <a:ext uri="{FF2B5EF4-FFF2-40B4-BE49-F238E27FC236}">
                <a16:creationId xmlns:a16="http://schemas.microsoft.com/office/drawing/2014/main" id="{610E13B5-23D2-F232-7AF6-66AA8278428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3024" y="4120715"/>
            <a:ext cx="182880" cy="18288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3F6FBC4B-1333-75F6-0C81-54900835A94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878" y="4579268"/>
            <a:ext cx="182880" cy="18288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AA7AB3D2-6746-BEA9-B9DC-68EEE00DFB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4066" y="4896952"/>
            <a:ext cx="196286" cy="182881"/>
          </a:xfrm>
          <a:prstGeom prst="rect">
            <a:avLst/>
          </a:prstGeom>
        </p:spPr>
      </p:pic>
      <p:sp>
        <p:nvSpPr>
          <p:cNvPr id="171" name="語音泡泡: 圓角矩形 170">
            <a:extLst>
              <a:ext uri="{FF2B5EF4-FFF2-40B4-BE49-F238E27FC236}">
                <a16:creationId xmlns:a16="http://schemas.microsoft.com/office/drawing/2014/main" id="{F1241E72-1B41-2DEC-02BF-B64A9539F11F}"/>
              </a:ext>
            </a:extLst>
          </p:cNvPr>
          <p:cNvSpPr/>
          <p:nvPr/>
        </p:nvSpPr>
        <p:spPr>
          <a:xfrm>
            <a:off x="6600915" y="6076751"/>
            <a:ext cx="1070480" cy="629568"/>
          </a:xfrm>
          <a:prstGeom prst="wedgeRoundRectCallout">
            <a:avLst>
              <a:gd name="adj1" fmla="val -67467"/>
              <a:gd name="adj2" fmla="val -10290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SLM, Low cost,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Easy SFT and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Apache 2.0 …</a:t>
            </a:r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6284F2BA-46B8-E9BB-2DBB-D5A3E8F165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5959" y="544587"/>
            <a:ext cx="817196" cy="596651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E0545336-6005-F1CD-DC75-C5DC64F9BD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1896" y="6282233"/>
            <a:ext cx="284964" cy="225568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EDD24C8E-BF9F-B9CB-53D3-23FFAF5343B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673" y="6255221"/>
            <a:ext cx="287015" cy="284965"/>
          </a:xfrm>
          <a:prstGeom prst="rect">
            <a:avLst/>
          </a:prstGeom>
        </p:spPr>
      </p:pic>
      <p:sp>
        <p:nvSpPr>
          <p:cNvPr id="175" name="投影片編號版面配置區 174">
            <a:extLst>
              <a:ext uri="{FF2B5EF4-FFF2-40B4-BE49-F238E27FC236}">
                <a16:creationId xmlns:a16="http://schemas.microsoft.com/office/drawing/2014/main" id="{52B525CF-FA3A-6CB1-1BCF-199CD53D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958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EB4F-2C85-9D6E-285D-3FED63B1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>
            <a:extLst>
              <a:ext uri="{FF2B5EF4-FFF2-40B4-BE49-F238E27FC236}">
                <a16:creationId xmlns:a16="http://schemas.microsoft.com/office/drawing/2014/main" id="{593078D3-B21F-E487-5CAB-EF9B268CDED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Machine Learning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Establish a model to predict unknown outcomes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F3112D1-E5D6-5E51-15CA-6D67FD2A4D42}"/>
              </a:ext>
            </a:extLst>
          </p:cNvPr>
          <p:cNvSpPr txBox="1"/>
          <p:nvPr/>
        </p:nvSpPr>
        <p:spPr>
          <a:xfrm>
            <a:off x="213023" y="1075978"/>
            <a:ext cx="7455321" cy="148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Core Element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Data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The fuel for ML, consisting of Features (inputs) and Labels (correct answers).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Model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An optimized mathematical formula capable of making decisions.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Algorithm: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Learning tool (e.g., like loss function and optimizer).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F686EB2-221A-559E-9F1A-285D323374D3}"/>
              </a:ext>
            </a:extLst>
          </p:cNvPr>
          <p:cNvSpPr txBox="1"/>
          <p:nvPr/>
        </p:nvSpPr>
        <p:spPr>
          <a:xfrm>
            <a:off x="213023" y="2852936"/>
            <a:ext cx="7815361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Main Types of ML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Unsupervised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Data is unlabeled, no pre-defined answers provided.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Reduction: PCA, t-SNE and UMAP.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Clustering: K-mean and GMM. 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Supervised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Data is labeled, comes with the correct answers. 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Build Model: Linear Regression, SVM, Decision Tree. </a:t>
            </a:r>
            <a:r>
              <a:rPr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sym typeface="Wingdings" panose="05000000000000000000" pitchFamily="2" charset="2"/>
              </a:rPr>
              <a:t> Facial Recognition System</a:t>
            </a:r>
            <a:endParaRPr lang="en-US" altLang="zh-TW" sz="1600" dirty="0">
              <a:solidFill>
                <a:schemeClr val="accent2">
                  <a:lumMod val="60000"/>
                  <a:lumOff val="40000"/>
                </a:schemeClr>
              </a:solidFill>
              <a:latin typeface="Calibri"/>
            </a:endParaRP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Semi-Supervised: When labels are expensive. </a:t>
            </a:r>
            <a:r>
              <a:rPr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sym typeface="Wingdings" panose="05000000000000000000" pitchFamily="2" charset="2"/>
              </a:rPr>
              <a:t> GAN, Medical Imaging</a:t>
            </a:r>
            <a:endParaRPr lang="en-US" altLang="zh-TW" sz="1600" dirty="0">
              <a:solidFill>
                <a:schemeClr val="accent2">
                  <a:lumMod val="60000"/>
                  <a:lumOff val="40000"/>
                </a:schemeClr>
              </a:solidFill>
              <a:latin typeface="Calibri"/>
            </a:endParaRP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Self-Supervised: When Labels are Plentiful.</a:t>
            </a:r>
            <a:r>
              <a:rPr lang="en-US" altLang="zh-TW" sz="16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schemeClr val="accent2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prstClr val="white">
                    <a:lumMod val="75000"/>
                  </a:prstClr>
                </a:solidFill>
                <a:latin typeface="Calibri"/>
                <a:sym typeface="Wingdings" panose="05000000000000000000" pitchFamily="2" charset="2"/>
              </a:rPr>
              <a:t> 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Calibri"/>
                <a:sym typeface="Wingdings" panose="05000000000000000000" pitchFamily="2" charset="2"/>
              </a:rPr>
              <a:t>GPT-Pretraining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Reinforcement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Learning through trial and Error within an environment.</a:t>
            </a:r>
            <a:r>
              <a:rPr lang="en-US" altLang="zh-TW" sz="14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schemeClr val="accent2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Calibri"/>
                <a:sym typeface="Wingdings" panose="05000000000000000000" pitchFamily="2" charset="2"/>
              </a:rPr>
              <a:t>GPT-RLHF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8C845500-2E7A-834E-1398-F6BDA31F9AF6}"/>
              </a:ext>
            </a:extLst>
          </p:cNvPr>
          <p:cNvSpPr/>
          <p:nvPr/>
        </p:nvSpPr>
        <p:spPr>
          <a:xfrm>
            <a:off x="7524328" y="269140"/>
            <a:ext cx="1440160" cy="1480534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81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D3D0CFA-E763-CDCC-2C84-C6DA1E7A5039}"/>
              </a:ext>
            </a:extLst>
          </p:cNvPr>
          <p:cNvSpPr/>
          <p:nvPr/>
        </p:nvSpPr>
        <p:spPr>
          <a:xfrm>
            <a:off x="7593082" y="553637"/>
            <a:ext cx="1302652" cy="1167589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81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6465446E-ED1F-24B9-CC84-1FCB0C5D09AB}"/>
              </a:ext>
            </a:extLst>
          </p:cNvPr>
          <p:cNvSpPr/>
          <p:nvPr/>
        </p:nvSpPr>
        <p:spPr>
          <a:xfrm>
            <a:off x="7837088" y="953196"/>
            <a:ext cx="858027" cy="768030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17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6A5FB90-8860-E2CA-83E6-4FA637C15290}"/>
              </a:ext>
            </a:extLst>
          </p:cNvPr>
          <p:cNvSpPr/>
          <p:nvPr/>
        </p:nvSpPr>
        <p:spPr>
          <a:xfrm>
            <a:off x="8143138" y="1181820"/>
            <a:ext cx="245929" cy="236211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LLM</a:t>
            </a:r>
          </a:p>
        </p:txBody>
      </p:sp>
      <p:sp>
        <p:nvSpPr>
          <p:cNvPr id="31" name="投影片編號版面配置區 30">
            <a:extLst>
              <a:ext uri="{FF2B5EF4-FFF2-40B4-BE49-F238E27FC236}">
                <a16:creationId xmlns:a16="http://schemas.microsoft.com/office/drawing/2014/main" id="{15C782FE-2EE0-FBDB-6F24-904C8EE8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4737E20-CEDA-F01C-369A-2134CE008125}"/>
              </a:ext>
            </a:extLst>
          </p:cNvPr>
          <p:cNvSpPr/>
          <p:nvPr/>
        </p:nvSpPr>
        <p:spPr>
          <a:xfrm>
            <a:off x="8310721" y="1415918"/>
            <a:ext cx="245929" cy="236211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AV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12CAD0E-24BF-C217-DBAF-8E9ED2B1F35A}"/>
              </a:ext>
            </a:extLst>
          </p:cNvPr>
          <p:cNvSpPr/>
          <p:nvPr/>
        </p:nvSpPr>
        <p:spPr>
          <a:xfrm>
            <a:off x="7980555" y="1413654"/>
            <a:ext cx="245929" cy="236211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Drone</a:t>
            </a: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21BF7346-4AD7-CC22-912F-CB1E0D1082AB}"/>
              </a:ext>
            </a:extLst>
          </p:cNvPr>
          <p:cNvSpPr txBox="1">
            <a:spLocks/>
          </p:cNvSpPr>
          <p:nvPr/>
        </p:nvSpPr>
        <p:spPr>
          <a:xfrm>
            <a:off x="7614083" y="1747633"/>
            <a:ext cx="1256273" cy="414050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The core technical</a:t>
            </a:r>
          </a:p>
          <a:p>
            <a:pPr algn="ctr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are identical.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44E8B4-A05C-0CD6-CD8B-D19BC32BB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509" y="4038556"/>
            <a:ext cx="836256" cy="7157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A71A2FD-1C0D-7BCE-899D-256815907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506" y="3579998"/>
            <a:ext cx="1086988" cy="71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3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1E35-6615-7EA8-933A-5719FBB0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265641-954F-C72D-CD91-08D32398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46" name="標題 1">
            <a:extLst>
              <a:ext uri="{FF2B5EF4-FFF2-40B4-BE49-F238E27FC236}">
                <a16:creationId xmlns:a16="http://schemas.microsoft.com/office/drawing/2014/main" id="{2FBABA2C-B054-1085-118B-EEE60FF0712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LLM Training Stages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Injecting domain knowledge and aligning preference behaviors. (GPT </a:t>
            </a:r>
            <a:r>
              <a:rPr lang="zh-TW" altLang="zh-TW" sz="1400" dirty="0">
                <a:solidFill>
                  <a:prstClr val="black"/>
                </a:solidFill>
                <a:latin typeface="Calibri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 Causal LM)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D44B1AB-B835-BFE2-5BDB-C785EFA355C0}"/>
              </a:ext>
            </a:extLst>
          </p:cNvPr>
          <p:cNvSpPr txBox="1"/>
          <p:nvPr/>
        </p:nvSpPr>
        <p:spPr>
          <a:xfrm>
            <a:off x="2250420" y="2861623"/>
            <a:ext cx="881420" cy="756316"/>
          </a:xfrm>
          <a:prstGeom prst="rect">
            <a:avLst/>
          </a:prstGeom>
          <a:solidFill>
            <a:srgbClr val="C0504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Pre-Training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Base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C4AC783-FFEB-DE41-EEAC-5FC0110689A3}"/>
              </a:ext>
            </a:extLst>
          </p:cNvPr>
          <p:cNvSpPr txBox="1"/>
          <p:nvPr/>
        </p:nvSpPr>
        <p:spPr>
          <a:xfrm>
            <a:off x="3347864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Distillation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Student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4C77A18-D8CC-3D19-0E44-62DC643400AA}"/>
              </a:ext>
            </a:extLst>
          </p:cNvPr>
          <p:cNvSpPr txBox="1"/>
          <p:nvPr/>
        </p:nvSpPr>
        <p:spPr>
          <a:xfrm>
            <a:off x="4410660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SFT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Quality is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all you need.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42CC082-E8CA-EBFA-5C66-FDFF08B48902}"/>
              </a:ext>
            </a:extLst>
          </p:cNvPr>
          <p:cNvSpPr txBox="1"/>
          <p:nvPr/>
        </p:nvSpPr>
        <p:spPr>
          <a:xfrm>
            <a:off x="5490780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RLHF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Human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Preferences</a:t>
            </a:r>
          </a:p>
        </p:txBody>
      </p:sp>
      <p:sp>
        <p:nvSpPr>
          <p:cNvPr id="52" name="右大括弧 51">
            <a:extLst>
              <a:ext uri="{FF2B5EF4-FFF2-40B4-BE49-F238E27FC236}">
                <a16:creationId xmlns:a16="http://schemas.microsoft.com/office/drawing/2014/main" id="{72792341-BFD5-8D65-5DF0-8D116CBAE5DA}"/>
              </a:ext>
            </a:extLst>
          </p:cNvPr>
          <p:cNvSpPr/>
          <p:nvPr/>
        </p:nvSpPr>
        <p:spPr>
          <a:xfrm rot="5400000">
            <a:off x="3703394" y="2137368"/>
            <a:ext cx="153040" cy="4176464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345AEEDC-B14A-1D82-C22D-E3701D4E4D64}"/>
              </a:ext>
            </a:extLst>
          </p:cNvPr>
          <p:cNvSpPr txBox="1">
            <a:spLocks/>
          </p:cNvSpPr>
          <p:nvPr/>
        </p:nvSpPr>
        <p:spPr>
          <a:xfrm>
            <a:off x="3264532" y="4323434"/>
            <a:ext cx="1100369" cy="387188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Training Stage 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(Goal: Alignment)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589A37A-5DB1-7AD7-1B63-C09F1DAB8EA0}"/>
              </a:ext>
            </a:extLst>
          </p:cNvPr>
          <p:cNvSpPr txBox="1"/>
          <p:nvPr/>
        </p:nvSpPr>
        <p:spPr>
          <a:xfrm>
            <a:off x="959024" y="2865420"/>
            <a:ext cx="881420" cy="756316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Datasets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High-quality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at scale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12A4BC8-83DC-D1EA-3D86-00D95F3B3F3D}"/>
              </a:ext>
            </a:extLst>
          </p:cNvPr>
          <p:cNvSpPr txBox="1"/>
          <p:nvPr/>
        </p:nvSpPr>
        <p:spPr>
          <a:xfrm>
            <a:off x="7092280" y="2852936"/>
            <a:ext cx="1219522" cy="1092606"/>
          </a:xfrm>
          <a:prstGeom prst="rect">
            <a:avLst/>
          </a:prstGeom>
          <a:solidFill>
            <a:srgbClr val="4F81BD">
              <a:lumMod val="20000"/>
              <a:lumOff val="80000"/>
              <a:alpha val="9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</a:rPr>
              <a:t>LLM, RAG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</a:rPr>
              <a:t>&amp; MCP</a:t>
            </a:r>
          </a:p>
        </p:txBody>
      </p:sp>
      <p:sp>
        <p:nvSpPr>
          <p:cNvPr id="56" name="右大括弧 55">
            <a:extLst>
              <a:ext uri="{FF2B5EF4-FFF2-40B4-BE49-F238E27FC236}">
                <a16:creationId xmlns:a16="http://schemas.microsoft.com/office/drawing/2014/main" id="{E29F8E82-51DC-7A12-8BE7-EDE08FD37FB6}"/>
              </a:ext>
            </a:extLst>
          </p:cNvPr>
          <p:cNvSpPr/>
          <p:nvPr/>
        </p:nvSpPr>
        <p:spPr>
          <a:xfrm rot="5400000">
            <a:off x="7618632" y="3478714"/>
            <a:ext cx="166822" cy="121952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29508D1C-CF5C-A037-CD2D-75E9D69C1D0D}"/>
              </a:ext>
            </a:extLst>
          </p:cNvPr>
          <p:cNvSpPr txBox="1">
            <a:spLocks/>
          </p:cNvSpPr>
          <p:nvPr/>
        </p:nvSpPr>
        <p:spPr>
          <a:xfrm>
            <a:off x="7207330" y="4198282"/>
            <a:ext cx="989422" cy="166822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AI Runtime</a:t>
            </a:r>
          </a:p>
        </p:txBody>
      </p:sp>
      <p:sp>
        <p:nvSpPr>
          <p:cNvPr id="58" name="標題 1">
            <a:extLst>
              <a:ext uri="{FF2B5EF4-FFF2-40B4-BE49-F238E27FC236}">
                <a16:creationId xmlns:a16="http://schemas.microsoft.com/office/drawing/2014/main" id="{E4D77A02-850B-F118-178E-F7EBB9B06485}"/>
              </a:ext>
            </a:extLst>
          </p:cNvPr>
          <p:cNvSpPr txBox="1">
            <a:spLocks/>
          </p:cNvSpPr>
          <p:nvPr/>
        </p:nvSpPr>
        <p:spPr>
          <a:xfrm>
            <a:off x="2621428" y="3842925"/>
            <a:ext cx="1219522" cy="306155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Self-Supervised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59" name="標題 1">
            <a:extLst>
              <a:ext uri="{FF2B5EF4-FFF2-40B4-BE49-F238E27FC236}">
                <a16:creationId xmlns:a16="http://schemas.microsoft.com/office/drawing/2014/main" id="{37B57C1C-9CA8-A72D-F4CB-AEBD287B134C}"/>
              </a:ext>
            </a:extLst>
          </p:cNvPr>
          <p:cNvSpPr txBox="1">
            <a:spLocks/>
          </p:cNvSpPr>
          <p:nvPr/>
        </p:nvSpPr>
        <p:spPr>
          <a:xfrm>
            <a:off x="4410660" y="3842924"/>
            <a:ext cx="881420" cy="30615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Supervised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D1AB42F-DAEB-2B6F-ACF5-B739BDF1C425}"/>
              </a:ext>
            </a:extLst>
          </p:cNvPr>
          <p:cNvSpPr txBox="1">
            <a:spLocks/>
          </p:cNvSpPr>
          <p:nvPr/>
        </p:nvSpPr>
        <p:spPr>
          <a:xfrm>
            <a:off x="5490780" y="3840781"/>
            <a:ext cx="881420" cy="308299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Reinforcement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61" name="右大括弧 60">
            <a:extLst>
              <a:ext uri="{FF2B5EF4-FFF2-40B4-BE49-F238E27FC236}">
                <a16:creationId xmlns:a16="http://schemas.microsoft.com/office/drawing/2014/main" id="{87C91E64-2CF9-2A36-F4DC-EAF0FE16FCA3}"/>
              </a:ext>
            </a:extLst>
          </p:cNvPr>
          <p:cNvSpPr/>
          <p:nvPr/>
        </p:nvSpPr>
        <p:spPr>
          <a:xfrm rot="5400000">
            <a:off x="3154669" y="3111783"/>
            <a:ext cx="153040" cy="121952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2" name="箭號: 向下 61">
            <a:extLst>
              <a:ext uri="{FF2B5EF4-FFF2-40B4-BE49-F238E27FC236}">
                <a16:creationId xmlns:a16="http://schemas.microsoft.com/office/drawing/2014/main" id="{5EB38D7B-44FA-326A-045F-7A544275A46E}"/>
              </a:ext>
            </a:extLst>
          </p:cNvPr>
          <p:cNvSpPr/>
          <p:nvPr/>
        </p:nvSpPr>
        <p:spPr>
          <a:xfrm>
            <a:off x="575147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3" name="箭號: 向下 62">
            <a:extLst>
              <a:ext uri="{FF2B5EF4-FFF2-40B4-BE49-F238E27FC236}">
                <a16:creationId xmlns:a16="http://schemas.microsoft.com/office/drawing/2014/main" id="{02F24499-858E-1AB5-B7B4-8C8A9C632CDA}"/>
              </a:ext>
            </a:extLst>
          </p:cNvPr>
          <p:cNvSpPr/>
          <p:nvPr/>
        </p:nvSpPr>
        <p:spPr>
          <a:xfrm>
            <a:off x="467135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D4F441BF-5062-9316-CA85-61C1B97C0A70}"/>
              </a:ext>
            </a:extLst>
          </p:cNvPr>
          <p:cNvSpPr txBox="1">
            <a:spLocks/>
          </p:cNvSpPr>
          <p:nvPr/>
        </p:nvSpPr>
        <p:spPr>
          <a:xfrm>
            <a:off x="4066994" y="1844824"/>
            <a:ext cx="1568751" cy="61218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Q&amp;A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Pair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Q: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T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he capital 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>
              <a:spcBef>
                <a:spcPts val="0"/>
              </a:spcBef>
              <a:defRPr/>
            </a:pP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Ans: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“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.”</a:t>
            </a:r>
            <a:endParaRPr lang="en-US" altLang="zh-TW" sz="1200" dirty="0">
              <a:solidFill>
                <a:prstClr val="black"/>
              </a:solidFill>
              <a:latin typeface="Calibri"/>
              <a:ea typeface="Microsoft YaHei Mono" panose="020B0509020204020204" pitchFamily="49" charset="-120"/>
              <a:cs typeface="Arial" panose="020B0604020202020204" pitchFamily="34" charset="0"/>
            </a:endParaRPr>
          </a:p>
        </p:txBody>
      </p:sp>
      <p:sp>
        <p:nvSpPr>
          <p:cNvPr id="65" name="箭號: 向下 64">
            <a:extLst>
              <a:ext uri="{FF2B5EF4-FFF2-40B4-BE49-F238E27FC236}">
                <a16:creationId xmlns:a16="http://schemas.microsoft.com/office/drawing/2014/main" id="{9FECCB44-917E-8C08-198E-F5B891AC38A3}"/>
              </a:ext>
            </a:extLst>
          </p:cNvPr>
          <p:cNvSpPr/>
          <p:nvPr/>
        </p:nvSpPr>
        <p:spPr>
          <a:xfrm>
            <a:off x="251111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6" name="標題 1">
            <a:extLst>
              <a:ext uri="{FF2B5EF4-FFF2-40B4-BE49-F238E27FC236}">
                <a16:creationId xmlns:a16="http://schemas.microsoft.com/office/drawing/2014/main" id="{5078A896-1E9B-469A-CA84-1F26036E54E6}"/>
              </a:ext>
            </a:extLst>
          </p:cNvPr>
          <p:cNvSpPr txBox="1">
            <a:spLocks/>
          </p:cNvSpPr>
          <p:nvPr/>
        </p:nvSpPr>
        <p:spPr>
          <a:xfrm>
            <a:off x="1611485" y="1268760"/>
            <a:ext cx="2159290" cy="899919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Raw Text</a:t>
            </a:r>
          </a:p>
          <a:p>
            <a:pPr algn="ctr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The capital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city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is 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, </a:t>
            </a:r>
          </a:p>
          <a:p>
            <a:pPr algn="ctr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which is famous for the Eiffel Tower</a:t>
            </a:r>
          </a:p>
          <a:p>
            <a:pPr algn="ctr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and its rich history of art and fashion </a:t>
            </a:r>
            <a:r>
              <a:rPr lang="en-US" altLang="zh-TW" sz="1200" dirty="0">
                <a:solidFill>
                  <a:prstClr val="black"/>
                </a:solidFill>
                <a:latin typeface="Microsoft YaHei Mono" panose="020B0509020204020204" pitchFamily="49" charset="-120"/>
                <a:ea typeface="Microsoft YaHei Mono" panose="020B0509020204020204" pitchFamily="49" charset="-120"/>
                <a:cs typeface="Arial" panose="020B0604020202020204" pitchFamily="34" charset="0"/>
              </a:rPr>
              <a:t>…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7" name="標題 1">
            <a:extLst>
              <a:ext uri="{FF2B5EF4-FFF2-40B4-BE49-F238E27FC236}">
                <a16:creationId xmlns:a16="http://schemas.microsoft.com/office/drawing/2014/main" id="{73EF1CF2-8991-D8AC-F84C-1ABCAD9A527F}"/>
              </a:ext>
            </a:extLst>
          </p:cNvPr>
          <p:cNvSpPr txBox="1">
            <a:spLocks/>
          </p:cNvSpPr>
          <p:nvPr/>
        </p:nvSpPr>
        <p:spPr>
          <a:xfrm>
            <a:off x="5055186" y="1027015"/>
            <a:ext cx="1752607" cy="68103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Preference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Pair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T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he capital 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“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.”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👍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, “Bonjour!“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❌</a:t>
            </a:r>
            <a:endParaRPr lang="en-US" altLang="zh-TW" sz="1200" dirty="0">
              <a:solidFill>
                <a:prstClr val="black"/>
              </a:solidFill>
              <a:latin typeface="Calibri"/>
              <a:ea typeface="Microsoft YaHei Mono" panose="020B0509020204020204" pitchFamily="49" charset="-120"/>
              <a:cs typeface="Arial" panose="020B0604020202020204" pitchFamily="34" charset="0"/>
            </a:endParaRP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F8C21515-2EFD-8396-82B7-8FF4922D37F3}"/>
              </a:ext>
            </a:extLst>
          </p:cNvPr>
          <p:cNvCxnSpPr>
            <a:cxnSpLocks/>
            <a:stCxn id="66" idx="2"/>
            <a:endCxn id="65" idx="0"/>
          </p:cNvCxnSpPr>
          <p:nvPr/>
        </p:nvCxnSpPr>
        <p:spPr>
          <a:xfrm>
            <a:off x="2691130" y="2168679"/>
            <a:ext cx="0" cy="43929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A2BEDFF8-5171-F72C-CAC9-F801006AB357}"/>
              </a:ext>
            </a:extLst>
          </p:cNvPr>
          <p:cNvCxnSpPr>
            <a:cxnSpLocks/>
            <a:stCxn id="64" idx="2"/>
            <a:endCxn id="63" idx="0"/>
          </p:cNvCxnSpPr>
          <p:nvPr/>
        </p:nvCxnSpPr>
        <p:spPr>
          <a:xfrm>
            <a:off x="4851370" y="2457010"/>
            <a:ext cx="0" cy="15096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BCFEA840-CCDA-9641-5103-6D7549EE68F2}"/>
              </a:ext>
            </a:extLst>
          </p:cNvPr>
          <p:cNvCxnSpPr>
            <a:cxnSpLocks/>
            <a:stCxn id="67" idx="2"/>
            <a:endCxn id="62" idx="0"/>
          </p:cNvCxnSpPr>
          <p:nvPr/>
        </p:nvCxnSpPr>
        <p:spPr>
          <a:xfrm>
            <a:off x="5931490" y="1708051"/>
            <a:ext cx="0" cy="899919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F45C7B27-AB74-1FA1-F84E-CA9FD8C6D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20016"/>
              </p:ext>
            </p:extLst>
          </p:nvPr>
        </p:nvGraphicFramePr>
        <p:xfrm>
          <a:off x="4410659" y="5244058"/>
          <a:ext cx="2249569" cy="731520"/>
        </p:xfrm>
        <a:graphic>
          <a:graphicData uri="http://schemas.openxmlformats.org/drawingml/2006/table">
            <a:tbl>
              <a:tblPr firstRow="1" bandRow="1"/>
              <a:tblGrid>
                <a:gridCol w="224956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79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79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 Tuning (Google FLAN)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41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Masked Loss (GPT)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41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</a:tbl>
          </a:graphicData>
        </a:graphic>
      </p:graphicFrame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AA698D98-8164-E2D3-CDA5-DC3D77E45BAC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931490" y="4149080"/>
            <a:ext cx="0" cy="28803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4F48044-5725-6946-BC4F-82205BD61DF6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4851370" y="4149080"/>
            <a:ext cx="0" cy="1076906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240D9A87-ED75-FAA3-4226-3C799504819D}"/>
              </a:ext>
            </a:extLst>
          </p:cNvPr>
          <p:cNvCxnSpPr>
            <a:cxnSpLocks/>
            <a:stCxn id="54" idx="3"/>
            <a:endCxn id="48" idx="1"/>
          </p:cNvCxnSpPr>
          <p:nvPr/>
        </p:nvCxnSpPr>
        <p:spPr>
          <a:xfrm flipV="1">
            <a:off x="1840444" y="3239781"/>
            <a:ext cx="409976" cy="3797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1B994C3-9C83-726E-CFD9-09ACDC4F3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73371"/>
              </p:ext>
            </p:extLst>
          </p:nvPr>
        </p:nvGraphicFramePr>
        <p:xfrm>
          <a:off x="2621428" y="5013176"/>
          <a:ext cx="1219522" cy="761261"/>
        </p:xfrm>
        <a:graphic>
          <a:graphicData uri="http://schemas.openxmlformats.org/drawingml/2006/table">
            <a:tbl>
              <a:tblPr firstRow="1" bandRow="1"/>
              <a:tblGrid>
                <a:gridCol w="121952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2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Mentor Model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Regularities of NL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World Fact (CAI)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12659"/>
                  </a:ext>
                </a:extLst>
              </a:tr>
            </a:tbl>
          </a:graphicData>
        </a:graphic>
      </p:graphicFrame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EBB060AF-BB97-15B9-C241-525A2972459D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231189" y="4149080"/>
            <a:ext cx="0" cy="864096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E29D0DF8-515B-8253-82FC-7FEA09C7B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56874"/>
              </p:ext>
            </p:extLst>
          </p:nvPr>
        </p:nvGraphicFramePr>
        <p:xfrm>
          <a:off x="3485298" y="6188546"/>
          <a:ext cx="1366071" cy="395501"/>
        </p:xfrm>
        <a:graphic>
          <a:graphicData uri="http://schemas.openxmlformats.org/drawingml/2006/table">
            <a:tbl>
              <a:tblPr firstRow="1" bandRow="1"/>
              <a:tblGrid>
                <a:gridCol w="136607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2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On-Policy Distillation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RL: (PPO/GRPO)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520E29A8-E3F8-408A-71AF-F84F217CC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25772"/>
              </p:ext>
            </p:extLst>
          </p:nvPr>
        </p:nvGraphicFramePr>
        <p:xfrm>
          <a:off x="5490779" y="4437114"/>
          <a:ext cx="2329239" cy="748334"/>
        </p:xfrm>
        <a:graphic>
          <a:graphicData uri="http://schemas.openxmlformats.org/drawingml/2006/table">
            <a:tbl>
              <a:tblPr firstRow="1" bandRow="1"/>
              <a:tblGrid>
                <a:gridCol w="232923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RLHF Optimization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PPO aligns via multiple models.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9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DPO aligns via direct optimization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GRPO aligns via self-correction.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6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95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F7946F8-B1E6-F38C-7697-FF2B85436AF1}"/>
              </a:ext>
            </a:extLst>
          </p:cNvPr>
          <p:cNvSpPr/>
          <p:nvPr/>
        </p:nvSpPr>
        <p:spPr>
          <a:xfrm>
            <a:off x="222380" y="1102739"/>
            <a:ext cx="331433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9AC3A0-E88A-0AD0-B10A-A180FF3F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1399F76-86CD-1366-91D0-0E74367D0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923" y="1056928"/>
            <a:ext cx="2881856" cy="5401864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913C87F4-DBA3-9F67-68E3-5351D9736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633" y="1056928"/>
            <a:ext cx="2881856" cy="5414003"/>
          </a:xfrm>
          <a:prstGeom prst="rect">
            <a:avLst/>
          </a:prstGeom>
        </p:spPr>
      </p:pic>
      <p:sp>
        <p:nvSpPr>
          <p:cNvPr id="23" name="標題 1">
            <a:extLst>
              <a:ext uri="{FF2B5EF4-FFF2-40B4-BE49-F238E27FC236}">
                <a16:creationId xmlns:a16="http://schemas.microsoft.com/office/drawing/2014/main" id="{D3FBBFC8-F63D-36D5-5923-8D36106DF6A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Transformer Architecture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Dense for efficient edge intelligence; MoE for massive cloud scale..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DE4F3F4-65A2-6ECF-6601-C5A54EC09A24}"/>
                  </a:ext>
                </a:extLst>
              </p:cNvPr>
              <p:cNvSpPr txBox="1"/>
              <p:nvPr/>
            </p:nvSpPr>
            <p:spPr>
              <a:xfrm>
                <a:off x="5779302" y="4225280"/>
                <a:ext cx="456605" cy="3600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</m:t>
                          </m:r>
                        </m:sup>
                      </m:sSubSup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DE4F3F4-65A2-6ECF-6601-C5A54EC0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302" y="4225280"/>
                <a:ext cx="456605" cy="360040"/>
              </a:xfrm>
              <a:prstGeom prst="rect">
                <a:avLst/>
              </a:prstGeom>
              <a:blipFill>
                <a:blip r:embed="rId5"/>
                <a:stretch>
                  <a:fillRect l="-1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7F1F3C1A-6B58-9C2B-7DDD-A9148A44A892}"/>
              </a:ext>
            </a:extLst>
          </p:cNvPr>
          <p:cNvGraphicFramePr>
            <a:graphicFrameLocks noGrp="1"/>
          </p:cNvGraphicFramePr>
          <p:nvPr/>
        </p:nvGraphicFramePr>
        <p:xfrm>
          <a:off x="7432211" y="4451609"/>
          <a:ext cx="1005748" cy="594408"/>
        </p:xfrm>
        <a:graphic>
          <a:graphicData uri="http://schemas.openxmlformats.org/drawingml/2006/table">
            <a:tbl>
              <a:tblPr firstRow="1" bandRow="1"/>
              <a:tblGrid>
                <a:gridCol w="100574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695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MoE Gating Matrix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9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24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 R</a:t>
                      </a:r>
                      <a:r>
                        <a:rPr lang="en-US" altLang="zh-TW" sz="1200" b="0" baseline="-25000" dirty="0"/>
                        <a:t>E </a:t>
                      </a:r>
                      <a:r>
                        <a:rPr lang="en-US" altLang="zh-TW" sz="1200" b="0" dirty="0"/>
                        <a:t>] </a:t>
                      </a:r>
                      <a:r>
                        <a:rPr lang="en-US" altLang="zh-TW" sz="1200" b="0" baseline="-25000" dirty="0"/>
                        <a:t>dx16</a:t>
                      </a:r>
                      <a:r>
                        <a:rPr lang="en-US" altLang="zh-TW" sz="1200" b="0" dirty="0"/>
                        <a:t>.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9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1106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D39E8E2-7DED-F36E-A754-F29A832BB8F7}"/>
              </a:ext>
            </a:extLst>
          </p:cNvPr>
          <p:cNvGraphicFramePr>
            <a:graphicFrameLocks noGrp="1"/>
          </p:cNvGraphicFramePr>
          <p:nvPr/>
        </p:nvGraphicFramePr>
        <p:xfrm>
          <a:off x="771203" y="2108148"/>
          <a:ext cx="920437" cy="576616"/>
        </p:xfrm>
        <a:graphic>
          <a:graphicData uri="http://schemas.openxmlformats.org/drawingml/2006/table">
            <a:tbl>
              <a:tblPr firstRow="1" bandRow="1"/>
              <a:tblGrid>
                <a:gridCol w="92043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211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Vocabulary</a:t>
                      </a:r>
                    </a:p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Table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08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 VC</a:t>
                      </a:r>
                      <a:r>
                        <a:rPr lang="en-US" altLang="zh-TW" sz="1200" b="0" baseline="-25000" dirty="0"/>
                        <a:t> </a:t>
                      </a:r>
                      <a:r>
                        <a:rPr lang="en-US" altLang="zh-TW" sz="1200" b="0" dirty="0"/>
                        <a:t>] </a:t>
                      </a:r>
                      <a:r>
                        <a:rPr lang="en-US" altLang="zh-TW" sz="1200" b="0" baseline="-25000" dirty="0"/>
                        <a:t>Mxd </a:t>
                      </a:r>
                      <a:endParaRPr lang="en-US" altLang="zh-TW" sz="1200" b="0" u="none" strike="noStrike" dirty="0"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C656470F-0EB9-331A-FA7A-2325ECE348E4}"/>
              </a:ext>
            </a:extLst>
          </p:cNvPr>
          <p:cNvGraphicFramePr>
            <a:graphicFrameLocks noGrp="1"/>
          </p:cNvGraphicFramePr>
          <p:nvPr/>
        </p:nvGraphicFramePr>
        <p:xfrm>
          <a:off x="580704" y="4455378"/>
          <a:ext cx="1222398" cy="576615"/>
        </p:xfrm>
        <a:graphic>
          <a:graphicData uri="http://schemas.openxmlformats.org/drawingml/2006/table">
            <a:tbl>
              <a:tblPr firstRow="1" bandRow="1"/>
              <a:tblGrid>
                <a:gridCol w="122239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211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Feed Forward Network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0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U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D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957B325-F610-130F-8889-4E7659AAC83F}"/>
              </a:ext>
            </a:extLst>
          </p:cNvPr>
          <p:cNvGraphicFramePr>
            <a:graphicFrameLocks noGrp="1"/>
          </p:cNvGraphicFramePr>
          <p:nvPr/>
        </p:nvGraphicFramePr>
        <p:xfrm>
          <a:off x="580702" y="3116259"/>
          <a:ext cx="1419547" cy="829978"/>
        </p:xfrm>
        <a:graphic>
          <a:graphicData uri="http://schemas.openxmlformats.org/drawingml/2006/table">
            <a:tbl>
              <a:tblPr firstRow="1" bandRow="1"/>
              <a:tblGrid>
                <a:gridCol w="141954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14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Attention Parameters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14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WQ</a:t>
                      </a:r>
                      <a:r>
                        <a:rPr kumimoji="0" lang="en-US" altLang="zh-TW" sz="12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dxd</a:t>
                      </a:r>
                      <a:r>
                        <a:rPr lang="en-US" altLang="zh-TW" sz="1200" b="0" dirty="0"/>
                        <a:t>, WK</a:t>
                      </a:r>
                      <a:r>
                        <a:rPr lang="en-US" altLang="zh-TW" sz="1200" b="0" baseline="-25000" dirty="0"/>
                        <a:t>dxd</a:t>
                      </a:r>
                      <a:r>
                        <a:rPr lang="en-US" altLang="zh-TW" sz="1200" b="0" dirty="0"/>
                        <a:t>, WV</a:t>
                      </a:r>
                      <a:r>
                        <a:rPr lang="en-US" altLang="zh-TW" sz="1200" b="0" baseline="-25000" dirty="0"/>
                        <a:t>dxd</a:t>
                      </a:r>
                      <a:r>
                        <a:rPr lang="en-US" altLang="zh-TW" sz="1200" b="0" dirty="0"/>
                        <a:t>,</a:t>
                      </a:r>
                      <a:r>
                        <a:rPr lang="zh-TW" altLang="en-US" sz="1200" b="0" dirty="0"/>
                        <a:t> </a:t>
                      </a:r>
                      <a:r>
                        <a:rPr lang="en-US" altLang="zh-TW" sz="1200" b="0" dirty="0"/>
                        <a:t>WO</a:t>
                      </a:r>
                      <a:r>
                        <a:rPr lang="en-US" altLang="zh-TW" sz="1200" b="0" baseline="-25000" dirty="0"/>
                        <a:t>dxd</a:t>
                      </a:r>
                      <a:endParaRPr lang="en-US" altLang="zh-TW" sz="1200" b="0" dirty="0"/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3E973FA-D10B-BE87-9093-EFF4EFD65617}"/>
              </a:ext>
            </a:extLst>
          </p:cNvPr>
          <p:cNvSpPr/>
          <p:nvPr/>
        </p:nvSpPr>
        <p:spPr>
          <a:xfrm>
            <a:off x="678803" y="1117383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EABB72B-3544-669B-9D52-94EE39C6DCBA}"/>
              </a:ext>
            </a:extLst>
          </p:cNvPr>
          <p:cNvSpPr txBox="1"/>
          <p:nvPr/>
        </p:nvSpPr>
        <p:spPr>
          <a:xfrm>
            <a:off x="678892" y="940154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N*d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AED778-7E03-5F19-C860-83BA85BB80A5}"/>
              </a:ext>
            </a:extLst>
          </p:cNvPr>
          <p:cNvSpPr txBox="1"/>
          <p:nvPr/>
        </p:nvSpPr>
        <p:spPr>
          <a:xfrm>
            <a:off x="225989" y="938066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23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865682-AE6A-3815-5CE5-C2D19A25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BC0E1CE-B2A2-04AE-7336-4A2AF829AEB5}"/>
              </a:ext>
            </a:extLst>
          </p:cNvPr>
          <p:cNvSpPr/>
          <p:nvPr/>
        </p:nvSpPr>
        <p:spPr>
          <a:xfrm>
            <a:off x="4499992" y="1268771"/>
            <a:ext cx="1440159" cy="645227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8" name="標題 1">
            <a:extLst>
              <a:ext uri="{FF2B5EF4-FFF2-40B4-BE49-F238E27FC236}">
                <a16:creationId xmlns:a16="http://schemas.microsoft.com/office/drawing/2014/main" id="{59335AF0-8DEC-8829-C028-F9B0CA36770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Self-Attention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Capturing context,  compressed into the latest token.</a:t>
            </a:r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CA298F4C-0D87-33F6-6B44-F73B0E66D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843169"/>
              </p:ext>
            </p:extLst>
          </p:nvPr>
        </p:nvGraphicFramePr>
        <p:xfrm>
          <a:off x="2182414" y="3873795"/>
          <a:ext cx="1834585" cy="1499421"/>
        </p:xfrm>
        <a:graphic>
          <a:graphicData uri="http://schemas.openxmlformats.org/drawingml/2006/table">
            <a:tbl>
              <a:tblPr firstRow="1" bandRow="1"/>
              <a:tblGrid>
                <a:gridCol w="21108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306491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4E05720B-DEDA-161A-38A0-CCCC733B3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20294"/>
              </p:ext>
            </p:extLst>
          </p:nvPr>
        </p:nvGraphicFramePr>
        <p:xfrm>
          <a:off x="4402887" y="3873795"/>
          <a:ext cx="1815237" cy="1499421"/>
        </p:xfrm>
        <a:graphic>
          <a:graphicData uri="http://schemas.openxmlformats.org/drawingml/2006/table">
            <a:tbl>
              <a:tblPr firstRow="1" bandRow="1"/>
              <a:tblGrid>
                <a:gridCol w="20885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189AA468-BCE7-72EC-8E4E-077553E74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69697"/>
              </p:ext>
            </p:extLst>
          </p:nvPr>
        </p:nvGraphicFramePr>
        <p:xfrm>
          <a:off x="6281667" y="3873795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101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159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0549E08D-B290-04EA-7C9A-F6914B0F5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358458"/>
              </p:ext>
            </p:extLst>
          </p:nvPr>
        </p:nvGraphicFramePr>
        <p:xfrm>
          <a:off x="1418853" y="3873795"/>
          <a:ext cx="653930" cy="1499421"/>
        </p:xfrm>
        <a:graphic>
          <a:graphicData uri="http://schemas.openxmlformats.org/drawingml/2006/table">
            <a:tbl>
              <a:tblPr firstRow="1" bandRow="1"/>
              <a:tblGrid>
                <a:gridCol w="23375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0087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008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73" name="文字方塊 72">
            <a:extLst>
              <a:ext uri="{FF2B5EF4-FFF2-40B4-BE49-F238E27FC236}">
                <a16:creationId xmlns:a16="http://schemas.microsoft.com/office/drawing/2014/main" id="{788A92CD-1B17-E4B1-1425-8A8EC0D8E522}"/>
              </a:ext>
            </a:extLst>
          </p:cNvPr>
          <p:cNvSpPr txBox="1"/>
          <p:nvPr/>
        </p:nvSpPr>
        <p:spPr>
          <a:xfrm>
            <a:off x="5564866" y="349039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9BBB59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lang="zh-TW" altLang="en-US" dirty="0">
              <a:solidFill>
                <a:srgbClr val="9BBB59">
                  <a:lumMod val="75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29E5EEF-1197-88BD-94FC-456C0CC00F64}"/>
              </a:ext>
            </a:extLst>
          </p:cNvPr>
          <p:cNvSpPr txBox="1"/>
          <p:nvPr/>
        </p:nvSpPr>
        <p:spPr>
          <a:xfrm>
            <a:off x="6487820" y="349039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E6CE016-3C07-D8E6-1D60-198363F33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10465"/>
              </p:ext>
            </p:extLst>
          </p:nvPr>
        </p:nvGraphicFramePr>
        <p:xfrm>
          <a:off x="7298947" y="3873795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2EA4B1A6-2653-03D9-3130-3CE0EABC2D33}"/>
              </a:ext>
            </a:extLst>
          </p:cNvPr>
          <p:cNvSpPr txBox="1"/>
          <p:nvPr/>
        </p:nvSpPr>
        <p:spPr>
          <a:xfrm>
            <a:off x="7236106" y="3490392"/>
            <a:ext cx="854226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RMS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136E4884-DAC0-A853-5CD7-A6932719AFEE}"/>
              </a:ext>
            </a:extLst>
          </p:cNvPr>
          <p:cNvSpPr txBox="1"/>
          <p:nvPr/>
        </p:nvSpPr>
        <p:spPr>
          <a:xfrm>
            <a:off x="7071668" y="4490880"/>
            <a:ext cx="165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0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A89B1C2-D263-8A1D-6C7A-40129FDC578E}"/>
              </a:ext>
            </a:extLst>
          </p:cNvPr>
          <p:cNvSpPr/>
          <p:nvPr/>
        </p:nvSpPr>
        <p:spPr>
          <a:xfrm>
            <a:off x="1361337" y="2814774"/>
            <a:ext cx="2708436" cy="2630450"/>
          </a:xfrm>
          <a:prstGeom prst="rect">
            <a:avLst/>
          </a:prstGeom>
          <a:solidFill>
            <a:srgbClr val="8064A2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8064A2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B33F9C7C-6ABA-075D-9614-9B8362B76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846744"/>
              </p:ext>
            </p:extLst>
          </p:nvPr>
        </p:nvGraphicFramePr>
        <p:xfrm>
          <a:off x="2182413" y="3068960"/>
          <a:ext cx="807240" cy="642609"/>
        </p:xfrm>
        <a:graphic>
          <a:graphicData uri="http://schemas.openxmlformats.org/drawingml/2006/table">
            <a:tbl>
              <a:tblPr firstRow="1" bandRow="1"/>
              <a:tblGrid>
                <a:gridCol w="20782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2361940216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1066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</a:tbl>
          </a:graphicData>
        </a:graphic>
      </p:graphicFrame>
      <p:sp>
        <p:nvSpPr>
          <p:cNvPr id="80" name="文字方塊 79">
            <a:extLst>
              <a:ext uri="{FF2B5EF4-FFF2-40B4-BE49-F238E27FC236}">
                <a16:creationId xmlns:a16="http://schemas.microsoft.com/office/drawing/2014/main" id="{3339B377-688A-0640-74EF-D94BAFDCC01A}"/>
              </a:ext>
            </a:extLst>
          </p:cNvPr>
          <p:cNvSpPr txBox="1"/>
          <p:nvPr/>
        </p:nvSpPr>
        <p:spPr>
          <a:xfrm>
            <a:off x="1557145" y="3532622"/>
            <a:ext cx="316238" cy="25641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C0504D">
                    <a:lumMod val="60000"/>
                    <a:lumOff val="40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lang="zh-TW" altLang="en-US" dirty="0">
              <a:solidFill>
                <a:srgbClr val="C0504D">
                  <a:lumMod val="60000"/>
                  <a:lumOff val="40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61BAEFE-472F-40D8-08D2-6D9D05A7B4D0}"/>
              </a:ext>
            </a:extLst>
          </p:cNvPr>
          <p:cNvSpPr txBox="1"/>
          <p:nvPr/>
        </p:nvSpPr>
        <p:spPr>
          <a:xfrm>
            <a:off x="2427914" y="276763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4BACC6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baseline="30000" dirty="0">
                <a:solidFill>
                  <a:srgbClr val="4BACC6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baseline="30000" dirty="0">
              <a:solidFill>
                <a:srgbClr val="4BACC6">
                  <a:lumMod val="75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167628D5-3F3C-89A5-9FA2-0EAABEC5D7CB}"/>
              </a:ext>
            </a:extLst>
          </p:cNvPr>
          <p:cNvSpPr txBox="1"/>
          <p:nvPr/>
        </p:nvSpPr>
        <p:spPr>
          <a:xfrm>
            <a:off x="3368927" y="3490392"/>
            <a:ext cx="530084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dirty="0">
                <a:solidFill>
                  <a:srgbClr val="8064A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Causal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200" dirty="0">
                <a:solidFill>
                  <a:srgbClr val="8064A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Mask</a:t>
            </a:r>
            <a:endParaRPr lang="zh-TW" altLang="en-US" sz="1200" dirty="0">
              <a:solidFill>
                <a:srgbClr val="8064A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51123A4C-8531-5F74-CFD8-379AF5026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385339"/>
              </p:ext>
            </p:extLst>
          </p:nvPr>
        </p:nvGraphicFramePr>
        <p:xfrm>
          <a:off x="4147140" y="3861570"/>
          <a:ext cx="211368" cy="1499421"/>
        </p:xfrm>
        <a:graphic>
          <a:graphicData uri="http://schemas.openxmlformats.org/drawingml/2006/table">
            <a:tbl>
              <a:tblPr firstRow="1" bandRow="1"/>
              <a:tblGrid>
                <a:gridCol w="21136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D605D9F-CDC9-B048-16F0-3C09673A54D2}"/>
                  </a:ext>
                </a:extLst>
              </p:cNvPr>
              <p:cNvSpPr txBox="1"/>
              <p:nvPr/>
            </p:nvSpPr>
            <p:spPr>
              <a:xfrm>
                <a:off x="6876256" y="5599951"/>
                <a:ext cx="1775422" cy="749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Norm</m:t>
                      </m:r>
                      <m:d>
                        <m:d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 i="0" baseline="-2500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∗γi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RMS(x)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RMS</m:t>
                      </m:r>
                      <m:d>
                        <m:d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nary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D605D9F-CDC9-B048-16F0-3C09673A5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5599951"/>
                <a:ext cx="1775422" cy="749244"/>
              </a:xfrm>
              <a:prstGeom prst="rect">
                <a:avLst/>
              </a:prstGeom>
              <a:blipFill>
                <a:blip r:embed="rId2"/>
                <a:stretch>
                  <a:fillRect l="-3093" t="-35772" r="-25773" b="-138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6756AA1-71D4-4D5B-5F12-41D500BAF57F}"/>
                  </a:ext>
                </a:extLst>
              </p:cNvPr>
              <p:cNvSpPr txBox="1"/>
              <p:nvPr/>
            </p:nvSpPr>
            <p:spPr>
              <a:xfrm>
                <a:off x="3203848" y="5524053"/>
                <a:ext cx="2145524" cy="477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So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ftmax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QK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zh-TW" sz="1200" i="0" dirty="0">
                          <a:solidFill>
                            <a:prstClr val="black"/>
                          </a:solidFill>
                          <a:latin typeface="Calibri"/>
                        </a:rPr>
                        <m:t>➔</m:t>
                      </m:r>
                      <m:r>
                        <m:rPr>
                          <m:nor/>
                        </m:rPr>
                        <a:rPr lang="en-US" altLang="zh-TW" sz="1200" i="0" dirty="0" smtClean="0">
                          <a:solidFill>
                            <a:prstClr val="black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6756AA1-71D4-4D5B-5F12-41D500BA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524053"/>
                <a:ext cx="2145524" cy="477310"/>
              </a:xfrm>
              <a:prstGeom prst="rect">
                <a:avLst/>
              </a:prstGeom>
              <a:blipFill>
                <a:blip r:embed="rId3"/>
                <a:stretch>
                  <a:fillRect l="-2557" b="-5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F075AB55-3491-4725-34AF-7B28B917BA20}"/>
              </a:ext>
            </a:extLst>
          </p:cNvPr>
          <p:cNvSpPr txBox="1"/>
          <p:nvPr/>
        </p:nvSpPr>
        <p:spPr>
          <a:xfrm rot="5400000">
            <a:off x="112589" y="4226173"/>
            <a:ext cx="1803468" cy="490618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2848C378-AAC6-01DD-D184-E87571AA7208}"/>
              </a:ext>
            </a:extLst>
          </p:cNvPr>
          <p:cNvSpPr txBox="1"/>
          <p:nvPr/>
        </p:nvSpPr>
        <p:spPr>
          <a:xfrm rot="5400000">
            <a:off x="7521954" y="4218716"/>
            <a:ext cx="1803469" cy="505535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FFEDEBC1-A0B6-45FD-B4FA-99C7831FA0AE}"/>
              </a:ext>
            </a:extLst>
          </p:cNvPr>
          <p:cNvSpPr txBox="1"/>
          <p:nvPr/>
        </p:nvSpPr>
        <p:spPr>
          <a:xfrm>
            <a:off x="1881353" y="2348880"/>
            <a:ext cx="1409360" cy="382581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D23C8466-53C4-60AA-7DE2-7B026DF725C7}"/>
              </a:ext>
            </a:extLst>
          </p:cNvPr>
          <p:cNvSpPr/>
          <p:nvPr/>
        </p:nvSpPr>
        <p:spPr>
          <a:xfrm>
            <a:off x="5489321" y="1365757"/>
            <a:ext cx="378823" cy="457201"/>
          </a:xfrm>
          <a:prstGeom prst="round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FFN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38E0009-64FB-01CE-9B4B-C7EE8739FA0E}"/>
              </a:ext>
            </a:extLst>
          </p:cNvPr>
          <p:cNvSpPr/>
          <p:nvPr/>
        </p:nvSpPr>
        <p:spPr>
          <a:xfrm>
            <a:off x="4073664" y="1376732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91" name="箭號: 向下 90">
            <a:extLst>
              <a:ext uri="{FF2B5EF4-FFF2-40B4-BE49-F238E27FC236}">
                <a16:creationId xmlns:a16="http://schemas.microsoft.com/office/drawing/2014/main" id="{25A50E93-DFA7-924B-01CD-D88850798F9A}"/>
              </a:ext>
            </a:extLst>
          </p:cNvPr>
          <p:cNvSpPr/>
          <p:nvPr/>
        </p:nvSpPr>
        <p:spPr>
          <a:xfrm rot="16200000">
            <a:off x="4288847" y="1503500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1FBBC70F-C0F0-2022-CE7D-1FD58587DFAF}"/>
              </a:ext>
            </a:extLst>
          </p:cNvPr>
          <p:cNvSpPr txBox="1"/>
          <p:nvPr/>
        </p:nvSpPr>
        <p:spPr>
          <a:xfrm>
            <a:off x="4755700" y="1940032"/>
            <a:ext cx="864000" cy="21434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Transformer</a:t>
            </a: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F1579ACB-DF4C-2F65-9577-70487DD07177}"/>
              </a:ext>
            </a:extLst>
          </p:cNvPr>
          <p:cNvGrpSpPr/>
          <p:nvPr/>
        </p:nvGrpSpPr>
        <p:grpSpPr>
          <a:xfrm>
            <a:off x="251520" y="2944608"/>
            <a:ext cx="1066099" cy="628408"/>
            <a:chOff x="121525" y="3016616"/>
            <a:chExt cx="1066099" cy="628408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FD8C1FB-13FA-6B5C-68D4-6F647C9CFE7F}"/>
                </a:ext>
              </a:extLst>
            </p:cNvPr>
            <p:cNvSpPr/>
            <p:nvPr/>
          </p:nvSpPr>
          <p:spPr>
            <a:xfrm>
              <a:off x="542232" y="3279264"/>
              <a:ext cx="274320" cy="274320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</a:t>
              </a: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66E31FCE-C2CD-2C82-DACF-5BF386380266}"/>
                </a:ext>
              </a:extLst>
            </p:cNvPr>
            <p:cNvSpPr txBox="1"/>
            <p:nvPr/>
          </p:nvSpPr>
          <p:spPr>
            <a:xfrm>
              <a:off x="971600" y="332498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46FC3D60-51A2-5109-6D36-E9AA0D68D233}"/>
                </a:ext>
              </a:extLst>
            </p:cNvPr>
            <p:cNvSpPr txBox="1"/>
            <p:nvPr/>
          </p:nvSpPr>
          <p:spPr>
            <a:xfrm>
              <a:off x="390507" y="332498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B7325CF3-DF83-E369-3AAA-C6F7ABD0C7FF}"/>
                </a:ext>
              </a:extLst>
            </p:cNvPr>
            <p:cNvSpPr txBox="1"/>
            <p:nvPr/>
          </p:nvSpPr>
          <p:spPr>
            <a:xfrm>
              <a:off x="553264" y="3140968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92507529-7002-EF9F-85D1-C36BD4188FF8}"/>
                </a:ext>
              </a:extLst>
            </p:cNvPr>
            <p:cNvSpPr txBox="1"/>
            <p:nvPr/>
          </p:nvSpPr>
          <p:spPr>
            <a:xfrm>
              <a:off x="894563" y="3212976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786A5D37-192F-5E14-C077-3079E5855F6C}"/>
                </a:ext>
              </a:extLst>
            </p:cNvPr>
            <p:cNvSpPr/>
            <p:nvPr/>
          </p:nvSpPr>
          <p:spPr>
            <a:xfrm>
              <a:off x="126554" y="3187824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1AF643DD-66C1-C73B-6068-41DDF9EF105A}"/>
                </a:ext>
              </a:extLst>
            </p:cNvPr>
            <p:cNvSpPr txBox="1"/>
            <p:nvPr/>
          </p:nvSpPr>
          <p:spPr>
            <a:xfrm>
              <a:off x="121525" y="3016616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2E842EF3-E8CC-C4CD-7ED4-862D892BD849}"/>
              </a:ext>
            </a:extLst>
          </p:cNvPr>
          <p:cNvGrpSpPr/>
          <p:nvPr/>
        </p:nvGrpSpPr>
        <p:grpSpPr>
          <a:xfrm>
            <a:off x="1187624" y="1628800"/>
            <a:ext cx="1066099" cy="638586"/>
            <a:chOff x="1091459" y="1303398"/>
            <a:chExt cx="1066099" cy="638586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3BA803F-FD57-67F5-89E1-3CC8005E2C46}"/>
                </a:ext>
              </a:extLst>
            </p:cNvPr>
            <p:cNvSpPr/>
            <p:nvPr/>
          </p:nvSpPr>
          <p:spPr>
            <a:xfrm>
              <a:off x="1550421" y="1576314"/>
              <a:ext cx="274320" cy="27432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</a:t>
              </a: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5B4AE05-D326-2BFA-FACD-FD388FCCEF2F}"/>
                </a:ext>
              </a:extLst>
            </p:cNvPr>
            <p:cNvSpPr txBox="1"/>
            <p:nvPr/>
          </p:nvSpPr>
          <p:spPr>
            <a:xfrm>
              <a:off x="1398696" y="162203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17560BEE-7260-5FE8-0651-0F357F6FDC22}"/>
                </a:ext>
              </a:extLst>
            </p:cNvPr>
            <p:cNvSpPr txBox="1"/>
            <p:nvPr/>
          </p:nvSpPr>
          <p:spPr>
            <a:xfrm>
              <a:off x="1940848" y="162203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3FB905A-E978-0B3D-08E0-AAEFA2543040}"/>
                </a:ext>
              </a:extLst>
            </p:cNvPr>
            <p:cNvSpPr/>
            <p:nvPr/>
          </p:nvSpPr>
          <p:spPr>
            <a:xfrm>
              <a:off x="1115616" y="1484784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6D3AAC8-2B58-7D02-82A5-7092A9B1D29A}"/>
                </a:ext>
              </a:extLst>
            </p:cNvPr>
            <p:cNvSpPr txBox="1"/>
            <p:nvPr/>
          </p:nvSpPr>
          <p:spPr>
            <a:xfrm>
              <a:off x="1523198" y="1427750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3FA45BCC-E734-4A40-082A-96D209312B4A}"/>
                </a:ext>
              </a:extLst>
            </p:cNvPr>
            <p:cNvSpPr txBox="1"/>
            <p:nvPr/>
          </p:nvSpPr>
          <p:spPr>
            <a:xfrm>
              <a:off x="1864497" y="149975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A51E1A05-9166-7F4C-31CF-7F2D8EF8E5A3}"/>
                </a:ext>
              </a:extLst>
            </p:cNvPr>
            <p:cNvSpPr txBox="1"/>
            <p:nvPr/>
          </p:nvSpPr>
          <p:spPr>
            <a:xfrm>
              <a:off x="1091459" y="1303398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109" name="接點: 肘形 108">
            <a:extLst>
              <a:ext uri="{FF2B5EF4-FFF2-40B4-BE49-F238E27FC236}">
                <a16:creationId xmlns:a16="http://schemas.microsoft.com/office/drawing/2014/main" id="{1A89781C-F2A1-F244-B100-14C93916E056}"/>
              </a:ext>
            </a:extLst>
          </p:cNvPr>
          <p:cNvCxnSpPr>
            <a:cxnSpLocks/>
            <a:stCxn id="104" idx="3"/>
            <a:endCxn id="88" idx="0"/>
          </p:cNvCxnSpPr>
          <p:nvPr/>
        </p:nvCxnSpPr>
        <p:spPr>
          <a:xfrm>
            <a:off x="2219893" y="2038876"/>
            <a:ext cx="366140" cy="310004"/>
          </a:xfrm>
          <a:prstGeom prst="bentConnector2">
            <a:avLst/>
          </a:prstGeom>
          <a:noFill/>
          <a:ln w="15875" cap="flat" cmpd="sng" algn="ctr">
            <a:solidFill>
              <a:srgbClr val="4F81BD">
                <a:lumMod val="60000"/>
                <a:lumOff val="40000"/>
              </a:srgbClr>
            </a:solidFill>
            <a:prstDash val="sysDot"/>
            <a:tailEnd type="triangle" w="sm" len="med"/>
          </a:ln>
          <a:effectLst/>
        </p:spPr>
      </p:cxn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7871BE16-60B2-12A7-41E0-12C7DBF7B059}"/>
              </a:ext>
            </a:extLst>
          </p:cNvPr>
          <p:cNvGrpSpPr/>
          <p:nvPr/>
        </p:nvGrpSpPr>
        <p:grpSpPr>
          <a:xfrm>
            <a:off x="4572000" y="2892725"/>
            <a:ext cx="1026360" cy="636377"/>
            <a:chOff x="4739871" y="2964733"/>
            <a:chExt cx="1026360" cy="636377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F960927F-8996-6F6C-6805-EA6B65EDBE9C}"/>
                </a:ext>
              </a:extLst>
            </p:cNvPr>
            <p:cNvSpPr txBox="1"/>
            <p:nvPr/>
          </p:nvSpPr>
          <p:spPr>
            <a:xfrm>
              <a:off x="4739871" y="2964733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D4EA4106-AFAA-CC18-4643-034F4320FA3A}"/>
                </a:ext>
              </a:extLst>
            </p:cNvPr>
            <p:cNvSpPr/>
            <p:nvPr/>
          </p:nvSpPr>
          <p:spPr>
            <a:xfrm>
              <a:off x="4739871" y="3143910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12606F2-4A63-88C6-9995-A75848C844D1}"/>
                </a:ext>
              </a:extLst>
            </p:cNvPr>
            <p:cNvSpPr/>
            <p:nvPr/>
          </p:nvSpPr>
          <p:spPr>
            <a:xfrm>
              <a:off x="5130408" y="3229629"/>
              <a:ext cx="27432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v</a:t>
              </a: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FD196B4F-DC08-719F-9AE1-1E47EFF6FEEA}"/>
                </a:ext>
              </a:extLst>
            </p:cNvPr>
            <p:cNvSpPr txBox="1"/>
            <p:nvPr/>
          </p:nvSpPr>
          <p:spPr>
            <a:xfrm>
              <a:off x="4986845" y="3275349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17D17737-135B-9B0D-16E9-F79E15E0304F}"/>
                </a:ext>
              </a:extLst>
            </p:cNvPr>
            <p:cNvSpPr txBox="1"/>
            <p:nvPr/>
          </p:nvSpPr>
          <p:spPr>
            <a:xfrm>
              <a:off x="5514236" y="3275349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CC3E3D01-6EAD-7219-B048-69EE40C5A4C0}"/>
                </a:ext>
              </a:extLst>
            </p:cNvPr>
            <p:cNvSpPr txBox="1"/>
            <p:nvPr/>
          </p:nvSpPr>
          <p:spPr>
            <a:xfrm>
              <a:off x="5131871" y="3079956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6F38D5D2-A221-5D9C-A805-34A2130D0A7F}"/>
                </a:ext>
              </a:extLst>
            </p:cNvPr>
            <p:cNvSpPr txBox="1"/>
            <p:nvPr/>
          </p:nvSpPr>
          <p:spPr>
            <a:xfrm>
              <a:off x="5473170" y="3151964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18" name="左中括弧 117">
            <a:extLst>
              <a:ext uri="{FF2B5EF4-FFF2-40B4-BE49-F238E27FC236}">
                <a16:creationId xmlns:a16="http://schemas.microsoft.com/office/drawing/2014/main" id="{16DE5E4B-8767-55EF-FACC-39D1B16E6329}"/>
              </a:ext>
            </a:extLst>
          </p:cNvPr>
          <p:cNvSpPr/>
          <p:nvPr/>
        </p:nvSpPr>
        <p:spPr>
          <a:xfrm rot="16200000" flipH="1">
            <a:off x="5219676" y="-293502"/>
            <a:ext cx="98278" cy="4994029"/>
          </a:xfrm>
          <a:prstGeom prst="leftBracket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93C1258F-F1CF-5EFF-C2D5-5C64BADB696E}"/>
              </a:ext>
            </a:extLst>
          </p:cNvPr>
          <p:cNvCxnSpPr>
            <a:cxnSpLocks/>
            <a:stCxn id="95" idx="3"/>
            <a:endCxn id="80" idx="0"/>
          </p:cNvCxnSpPr>
          <p:nvPr/>
        </p:nvCxnSpPr>
        <p:spPr>
          <a:xfrm>
            <a:off x="1284475" y="3344416"/>
            <a:ext cx="430789" cy="188206"/>
          </a:xfrm>
          <a:prstGeom prst="bentConnector2">
            <a:avLst/>
          </a:prstGeom>
          <a:noFill/>
          <a:ln w="15875" cap="flat" cmpd="sng" algn="ctr">
            <a:solidFill>
              <a:srgbClr val="C0504D">
                <a:lumMod val="60000"/>
                <a:lumOff val="40000"/>
              </a:srgbClr>
            </a:solidFill>
            <a:prstDash val="sysDot"/>
            <a:tailEnd type="triangle" w="sm" len="med"/>
          </a:ln>
          <a:effectLst/>
        </p:spPr>
      </p:cxnSp>
      <p:cxnSp>
        <p:nvCxnSpPr>
          <p:cNvPr id="120" name="接點: 肘形 119">
            <a:extLst>
              <a:ext uri="{FF2B5EF4-FFF2-40B4-BE49-F238E27FC236}">
                <a16:creationId xmlns:a16="http://schemas.microsoft.com/office/drawing/2014/main" id="{5BE0AD6C-6C15-EE85-0BBA-6B66D11D7E5B}"/>
              </a:ext>
            </a:extLst>
          </p:cNvPr>
          <p:cNvCxnSpPr>
            <a:cxnSpLocks/>
            <a:stCxn id="115" idx="3"/>
            <a:endCxn id="73" idx="0"/>
          </p:cNvCxnSpPr>
          <p:nvPr/>
        </p:nvCxnSpPr>
        <p:spPr>
          <a:xfrm>
            <a:off x="5529245" y="3294781"/>
            <a:ext cx="193740" cy="195612"/>
          </a:xfrm>
          <a:prstGeom prst="bentConnector2">
            <a:avLst/>
          </a:prstGeom>
          <a:noFill/>
          <a:ln w="15875" cap="flat" cmpd="sng" algn="ctr">
            <a:solidFill>
              <a:srgbClr val="9BBB59">
                <a:lumMod val="75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8903AB9F-395B-477C-056B-EA7B928E4723}"/>
              </a:ext>
            </a:extLst>
          </p:cNvPr>
          <p:cNvSpPr txBox="1"/>
          <p:nvPr/>
        </p:nvSpPr>
        <p:spPr>
          <a:xfrm>
            <a:off x="5181208" y="1528519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C933F6B-756E-FCB8-80FB-3DF6D072BC91}"/>
              </a:ext>
            </a:extLst>
          </p:cNvPr>
          <p:cNvSpPr txBox="1"/>
          <p:nvPr/>
        </p:nvSpPr>
        <p:spPr>
          <a:xfrm>
            <a:off x="6499408" y="3386221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3B659E60-B981-FC5D-4DE9-87916E1C5291}"/>
              </a:ext>
            </a:extLst>
          </p:cNvPr>
          <p:cNvSpPr txBox="1"/>
          <p:nvPr/>
        </p:nvSpPr>
        <p:spPr>
          <a:xfrm>
            <a:off x="7519299" y="3386221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5E56392-041F-28F8-42ED-9BFAC779018E}"/>
              </a:ext>
            </a:extLst>
          </p:cNvPr>
          <p:cNvSpPr txBox="1"/>
          <p:nvPr/>
        </p:nvSpPr>
        <p:spPr>
          <a:xfrm>
            <a:off x="8244408" y="288978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B2D9388-F3AA-F281-E46C-207B8B31AD3B}"/>
              </a:ext>
            </a:extLst>
          </p:cNvPr>
          <p:cNvSpPr/>
          <p:nvPr/>
        </p:nvSpPr>
        <p:spPr>
          <a:xfrm>
            <a:off x="8244408" y="3068960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5C88D8CE-9313-9C15-8364-C3E9272EB0B7}"/>
              </a:ext>
            </a:extLst>
          </p:cNvPr>
          <p:cNvSpPr/>
          <p:nvPr/>
        </p:nvSpPr>
        <p:spPr>
          <a:xfrm>
            <a:off x="5678732" y="1021879"/>
            <a:ext cx="378823" cy="457201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MoE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CB3781DA-7DD4-9875-60CA-E4BC6BA0B295}"/>
              </a:ext>
            </a:extLst>
          </p:cNvPr>
          <p:cNvSpPr txBox="1"/>
          <p:nvPr/>
        </p:nvSpPr>
        <p:spPr>
          <a:xfrm>
            <a:off x="8462862" y="3212388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DCEE058-D5E1-9D06-3ED8-384500C208EC}"/>
              </a:ext>
            </a:extLst>
          </p:cNvPr>
          <p:cNvSpPr/>
          <p:nvPr/>
        </p:nvSpPr>
        <p:spPr>
          <a:xfrm>
            <a:off x="4616696" y="1366128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QK</a:t>
            </a:r>
            <a:r>
              <a:rPr kumimoji="0" lang="en-US" altLang="zh-TW" sz="1600" b="0" i="0" u="none" strike="noStrike" kern="0" cap="none" spc="0" normalizeH="0" baseline="30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endParaRPr kumimoji="0" lang="zh-TW" altLang="en-US" sz="16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05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337E30-451B-044A-C5CF-E24879B9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3A24CFC-7B9F-F74C-8B6A-0379D7410FAC}"/>
              </a:ext>
            </a:extLst>
          </p:cNvPr>
          <p:cNvSpPr/>
          <p:nvPr/>
        </p:nvSpPr>
        <p:spPr>
          <a:xfrm>
            <a:off x="8258120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7F6A31EA-745C-4801-4FB9-A04E52F0A75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6546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FFN and MoE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Deepening token representations with non-linear mapping after context synthesis.</a:t>
            </a:r>
            <a:b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</a:b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172580BD-3FF2-A796-0B66-17ACA29C365F}"/>
              </a:ext>
            </a:extLst>
          </p:cNvPr>
          <p:cNvSpPr txBox="1"/>
          <p:nvPr/>
        </p:nvSpPr>
        <p:spPr>
          <a:xfrm>
            <a:off x="287524" y="1196752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Dense FFN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Straightforward architecture and H/W friendly deployment.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Sparse MoE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Minimal computational cost and maximized model capacity. 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29A0315F-0F0D-B1EB-BAF9-F0625C31AA30}"/>
              </a:ext>
            </a:extLst>
          </p:cNvPr>
          <p:cNvGrpSpPr/>
          <p:nvPr/>
        </p:nvGrpSpPr>
        <p:grpSpPr>
          <a:xfrm>
            <a:off x="395536" y="2883447"/>
            <a:ext cx="3014965" cy="819997"/>
            <a:chOff x="1187624" y="3953478"/>
            <a:chExt cx="3014965" cy="819997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FED03F8-C542-ABEE-4E83-D32C3E40D42F}"/>
                </a:ext>
              </a:extLst>
            </p:cNvPr>
            <p:cNvSpPr/>
            <p:nvPr/>
          </p:nvSpPr>
          <p:spPr>
            <a:xfrm>
              <a:off x="1700818" y="4133282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activate</a:t>
              </a: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4E5B365-0573-EA24-E96B-61A35C68A61D}"/>
                </a:ext>
              </a:extLst>
            </p:cNvPr>
            <p:cNvSpPr/>
            <p:nvPr/>
          </p:nvSpPr>
          <p:spPr>
            <a:xfrm>
              <a:off x="1340024" y="4123928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467913F-178E-AA39-393B-22F04FB95A52}"/>
                </a:ext>
              </a:extLst>
            </p:cNvPr>
            <p:cNvSpPr/>
            <p:nvPr/>
          </p:nvSpPr>
          <p:spPr>
            <a:xfrm>
              <a:off x="2926879" y="4145821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up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D0FA9FD4-2142-FB57-C842-83A19B447552}"/>
                </a:ext>
              </a:extLst>
            </p:cNvPr>
            <p:cNvSpPr/>
            <p:nvPr/>
          </p:nvSpPr>
          <p:spPr>
            <a:xfrm>
              <a:off x="2566085" y="4136467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A5B08E9F-1ED7-64AC-95A5-241ACDFDC4E4}"/>
                </a:ext>
              </a:extLst>
            </p:cNvPr>
            <p:cNvSpPr txBox="1"/>
            <p:nvPr/>
          </p:nvSpPr>
          <p:spPr>
            <a:xfrm>
              <a:off x="2415414" y="4170205"/>
              <a:ext cx="104240" cy="2356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Ꙩ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6A77E7E-9D94-BF75-7A01-B436F825DCE3}"/>
                </a:ext>
              </a:extLst>
            </p:cNvPr>
            <p:cNvSpPr/>
            <p:nvPr/>
          </p:nvSpPr>
          <p:spPr>
            <a:xfrm rot="16200000">
              <a:off x="3721460" y="4320325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vert="eaVert"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</a:p>
            <a:p>
              <a:pPr marL="0" marR="0" lvl="0" indent="0" algn="ctr" defTabSz="914400" eaLnBrk="1" fontAlgn="auto" latinLnBrk="0" hangingPunct="1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down</a:t>
              </a: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4C98790C-F8D1-16C5-B81F-A22BF0CA5709}"/>
                </a:ext>
              </a:extLst>
            </p:cNvPr>
            <p:cNvSpPr txBox="1"/>
            <p:nvPr/>
          </p:nvSpPr>
          <p:spPr>
            <a:xfrm>
              <a:off x="3742113" y="4152610"/>
              <a:ext cx="122043" cy="2356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9EABA86C-E708-248C-130B-11AC0B3C4CF5}"/>
                </a:ext>
              </a:extLst>
            </p:cNvPr>
            <p:cNvSpPr txBox="1"/>
            <p:nvPr/>
          </p:nvSpPr>
          <p:spPr>
            <a:xfrm>
              <a:off x="1340024" y="395347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EBFF1964-10FE-BB02-5BD3-AAF0DE5F25DA}"/>
                </a:ext>
              </a:extLst>
            </p:cNvPr>
            <p:cNvSpPr txBox="1"/>
            <p:nvPr/>
          </p:nvSpPr>
          <p:spPr>
            <a:xfrm>
              <a:off x="1883934" y="395347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d*S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26AB9919-8B19-577B-526B-C7383A8BE1EA}"/>
                </a:ext>
              </a:extLst>
            </p:cNvPr>
            <p:cNvSpPr txBox="1"/>
            <p:nvPr/>
          </p:nvSpPr>
          <p:spPr>
            <a:xfrm>
              <a:off x="3909528" y="3981387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5" name="左右中括弧 84">
              <a:extLst>
                <a:ext uri="{FF2B5EF4-FFF2-40B4-BE49-F238E27FC236}">
                  <a16:creationId xmlns:a16="http://schemas.microsoft.com/office/drawing/2014/main" id="{41780AD3-DF62-CAB8-8391-DC51C72C4405}"/>
                </a:ext>
              </a:extLst>
            </p:cNvPr>
            <p:cNvSpPr/>
            <p:nvPr/>
          </p:nvSpPr>
          <p:spPr>
            <a:xfrm>
              <a:off x="1187624" y="4111332"/>
              <a:ext cx="2508058" cy="474585"/>
            </a:xfrm>
            <a:prstGeom prst="bracketPair">
              <a:avLst/>
            </a:prstGeom>
            <a:noFill/>
            <a:ln w="38100" cap="flat" cmpd="sng" algn="ctr">
              <a:solidFill>
                <a:srgbClr val="8064A2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86" name="左中括弧 85">
            <a:extLst>
              <a:ext uri="{FF2B5EF4-FFF2-40B4-BE49-F238E27FC236}">
                <a16:creationId xmlns:a16="http://schemas.microsoft.com/office/drawing/2014/main" id="{2FB33412-1444-EF09-FC6F-F1C922B73767}"/>
              </a:ext>
            </a:extLst>
          </p:cNvPr>
          <p:cNvSpPr/>
          <p:nvPr/>
        </p:nvSpPr>
        <p:spPr>
          <a:xfrm rot="16200000" flipH="1">
            <a:off x="1940946" y="1574559"/>
            <a:ext cx="45719" cy="2508058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48D348DA-E861-D16E-A994-DBA84E130584}"/>
              </a:ext>
            </a:extLst>
          </p:cNvPr>
          <p:cNvGrpSpPr/>
          <p:nvPr/>
        </p:nvGrpSpPr>
        <p:grpSpPr>
          <a:xfrm>
            <a:off x="976246" y="3891514"/>
            <a:ext cx="1595502" cy="1210625"/>
            <a:chOff x="1109821" y="5005729"/>
            <a:chExt cx="1595502" cy="1210625"/>
          </a:xfrm>
        </p:grpSpPr>
        <p:pic>
          <p:nvPicPr>
            <p:cNvPr id="88" name="圖片 87">
              <a:extLst>
                <a:ext uri="{FF2B5EF4-FFF2-40B4-BE49-F238E27FC236}">
                  <a16:creationId xmlns:a16="http://schemas.microsoft.com/office/drawing/2014/main" id="{16734F58-D035-94FB-2C06-EFCCEFD7F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821" y="5005729"/>
              <a:ext cx="1595502" cy="924222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ysClr val="window" lastClr="FFFFFF">
                  <a:lumMod val="95000"/>
                </a:sysClr>
              </a:glow>
              <a:softEdge rad="254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294A9769-DFBE-72A0-BF3A-9E298E092EDE}"/>
                    </a:ext>
                  </a:extLst>
                </p:cNvPr>
                <p:cNvSpPr txBox="1"/>
                <p:nvPr/>
              </p:nvSpPr>
              <p:spPr>
                <a:xfrm>
                  <a:off x="1133610" y="5892739"/>
                  <a:ext cx="1547924" cy="3236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altLang="zh-TW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𝑠𝑤𝑖𝑠ℎ</m:t>
                        </m:r>
                        <m:d>
                          <m:dPr>
                            <m:ctrlPr>
                              <a:rPr kumimoji="0" lang="el-GR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0" lang="el-GR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0" lang="en-US" altLang="zh-TW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l-GR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5FB5135-9DDC-266F-5225-B48F121EA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610" y="5892739"/>
                  <a:ext cx="1547924" cy="323615"/>
                </a:xfrm>
                <a:prstGeom prst="rect">
                  <a:avLst/>
                </a:prstGeom>
                <a:blipFill>
                  <a:blip r:embed="rId4"/>
                  <a:stretch>
                    <a:fillRect l="-2362" r="-394"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84D72DAC-CEFF-3D23-1B4B-0E930FE8472F}"/>
              </a:ext>
            </a:extLst>
          </p:cNvPr>
          <p:cNvSpPr txBox="1"/>
          <p:nvPr/>
        </p:nvSpPr>
        <p:spPr>
          <a:xfrm>
            <a:off x="1000036" y="2564904"/>
            <a:ext cx="1985336" cy="276999"/>
          </a:xfrm>
          <a:prstGeom prst="rect">
            <a:avLst/>
          </a:prstGeom>
          <a:noFill/>
        </p:spPr>
        <p:txBody>
          <a:bodyPr wrap="none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Dense Feed Forward Network</a:t>
            </a: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6C5D7F78-26F0-DA78-3878-13B4C61D8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42197"/>
              </p:ext>
            </p:extLst>
          </p:nvPr>
        </p:nvGraphicFramePr>
        <p:xfrm>
          <a:off x="5634356" y="2610929"/>
          <a:ext cx="2440637" cy="1025580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663110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1.7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4.8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1.9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1.5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27993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92" name="矩形 91">
            <a:extLst>
              <a:ext uri="{FF2B5EF4-FFF2-40B4-BE49-F238E27FC236}">
                <a16:creationId xmlns:a16="http://schemas.microsoft.com/office/drawing/2014/main" id="{69DA73E4-DFEF-7DC9-BA12-8F1B8DBBE39A}"/>
              </a:ext>
            </a:extLst>
          </p:cNvPr>
          <p:cNvSpPr/>
          <p:nvPr/>
        </p:nvSpPr>
        <p:spPr>
          <a:xfrm>
            <a:off x="5584227" y="3430761"/>
            <a:ext cx="2529877" cy="234564"/>
          </a:xfrm>
          <a:prstGeom prst="rect">
            <a:avLst/>
          </a:prstGeom>
          <a:solidFill>
            <a:srgbClr val="C0504D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5066E97-09E0-403C-F2FF-1BD16546F404}"/>
              </a:ext>
            </a:extLst>
          </p:cNvPr>
          <p:cNvSpPr/>
          <p:nvPr/>
        </p:nvSpPr>
        <p:spPr>
          <a:xfrm>
            <a:off x="4453251" y="3064108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904657C7-BEBD-9A86-3943-826DFC98E43C}"/>
              </a:ext>
            </a:extLst>
          </p:cNvPr>
          <p:cNvSpPr txBox="1"/>
          <p:nvPr/>
        </p:nvSpPr>
        <p:spPr>
          <a:xfrm>
            <a:off x="4453251" y="290318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9849F1D-C87C-D1AD-DD62-B58931253C5D}"/>
              </a:ext>
            </a:extLst>
          </p:cNvPr>
          <p:cNvSpPr/>
          <p:nvPr/>
        </p:nvSpPr>
        <p:spPr>
          <a:xfrm>
            <a:off x="4877931" y="3135301"/>
            <a:ext cx="274320" cy="274320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G</a:t>
            </a: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9AACF602-2844-45C0-E189-0877D6D9B7C6}"/>
              </a:ext>
            </a:extLst>
          </p:cNvPr>
          <p:cNvSpPr txBox="1"/>
          <p:nvPr/>
        </p:nvSpPr>
        <p:spPr>
          <a:xfrm>
            <a:off x="4887456" y="2982984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d*16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2365C818-CA11-52DE-B054-7D1AD9862A83}"/>
              </a:ext>
            </a:extLst>
          </p:cNvPr>
          <p:cNvGrpSpPr/>
          <p:nvPr/>
        </p:nvGrpSpPr>
        <p:grpSpPr>
          <a:xfrm>
            <a:off x="4989863" y="3897752"/>
            <a:ext cx="603961" cy="343638"/>
            <a:chOff x="5070690" y="3751735"/>
            <a:chExt cx="574464" cy="406636"/>
          </a:xfrm>
        </p:grpSpPr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D70642EF-8F82-16C4-A949-9A1C0E8C7707}"/>
                </a:ext>
              </a:extLst>
            </p:cNvPr>
            <p:cNvSpPr txBox="1"/>
            <p:nvPr/>
          </p:nvSpPr>
          <p:spPr>
            <a:xfrm>
              <a:off x="5344654" y="3974732"/>
              <a:ext cx="300500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160675F8-0BBB-9F9E-4AD1-59E42AA4E746}"/>
                </a:ext>
              </a:extLst>
            </p:cNvPr>
            <p:cNvSpPr txBox="1"/>
            <p:nvPr/>
          </p:nvSpPr>
          <p:spPr>
            <a:xfrm>
              <a:off x="5070690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Softmax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graphicFrame>
        <p:nvGraphicFramePr>
          <p:cNvPr id="100" name="表格 99">
            <a:extLst>
              <a:ext uri="{FF2B5EF4-FFF2-40B4-BE49-F238E27FC236}">
                <a16:creationId xmlns:a16="http://schemas.microsoft.com/office/drawing/2014/main" id="{DCF1F775-8117-8DCF-757A-F9F0F0473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92853"/>
              </p:ext>
            </p:extLst>
          </p:nvPr>
        </p:nvGraphicFramePr>
        <p:xfrm>
          <a:off x="5634574" y="3843360"/>
          <a:ext cx="2440637" cy="470036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3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0.07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accent2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0.25</a:t>
                      </a:r>
                      <a:endParaRPr lang="zh-TW" altLang="en-US" sz="1000" b="0" dirty="0">
                        <a:solidFill>
                          <a:schemeClr val="accent2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accent2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0.17</a:t>
                      </a:r>
                      <a:endParaRPr lang="zh-TW" altLang="en-US" sz="1000" b="0" dirty="0">
                        <a:solidFill>
                          <a:schemeClr val="accent2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0.08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524538"/>
                  </a:ext>
                </a:extLst>
              </a:tr>
              <a:tr h="23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24%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6%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FD3EE8A1-87B7-888A-150D-C0A84B679DFE}"/>
              </a:ext>
            </a:extLst>
          </p:cNvPr>
          <p:cNvGrpSpPr/>
          <p:nvPr/>
        </p:nvGrpSpPr>
        <p:grpSpPr>
          <a:xfrm>
            <a:off x="5665832" y="4601428"/>
            <a:ext cx="2359224" cy="611916"/>
            <a:chOff x="6045118" y="4561680"/>
            <a:chExt cx="2359224" cy="611916"/>
          </a:xfrm>
        </p:grpSpPr>
        <p:sp>
          <p:nvSpPr>
            <p:cNvPr id="102" name="矩形: 圓角 101">
              <a:extLst>
                <a:ext uri="{FF2B5EF4-FFF2-40B4-BE49-F238E27FC236}">
                  <a16:creationId xmlns:a16="http://schemas.microsoft.com/office/drawing/2014/main" id="{2C9FDEC2-7178-AB8C-ECB7-8D0B28EF170C}"/>
                </a:ext>
              </a:extLst>
            </p:cNvPr>
            <p:cNvSpPr/>
            <p:nvPr/>
          </p:nvSpPr>
          <p:spPr>
            <a:xfrm>
              <a:off x="6045118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3" name="矩形: 圓角 102">
              <a:extLst>
                <a:ext uri="{FF2B5EF4-FFF2-40B4-BE49-F238E27FC236}">
                  <a16:creationId xmlns:a16="http://schemas.microsoft.com/office/drawing/2014/main" id="{CC3D4DA7-3824-71FD-E41A-6F05A1B1A6E0}"/>
                </a:ext>
              </a:extLst>
            </p:cNvPr>
            <p:cNvSpPr/>
            <p:nvPr/>
          </p:nvSpPr>
          <p:spPr>
            <a:xfrm>
              <a:off x="6345407" y="4561680"/>
              <a:ext cx="250636" cy="283898"/>
            </a:xfrm>
            <a:prstGeom prst="round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新細明體" panose="02020500000000000000" pitchFamily="18" charset="-120"/>
                  <a:cs typeface="ADLaM Display" panose="02010000000000000000" pitchFamily="2" charset="0"/>
                </a:rPr>
                <a:t>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4" name="矩形: 圓角 103">
              <a:extLst>
                <a:ext uri="{FF2B5EF4-FFF2-40B4-BE49-F238E27FC236}">
                  <a16:creationId xmlns:a16="http://schemas.microsoft.com/office/drawing/2014/main" id="{31626EB0-BE8A-93ED-EB8A-26436C0B886F}"/>
                </a:ext>
              </a:extLst>
            </p:cNvPr>
            <p:cNvSpPr/>
            <p:nvPr/>
          </p:nvSpPr>
          <p:spPr>
            <a:xfrm>
              <a:off x="6647953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5" name="矩形: 圓角 104">
              <a:extLst>
                <a:ext uri="{FF2B5EF4-FFF2-40B4-BE49-F238E27FC236}">
                  <a16:creationId xmlns:a16="http://schemas.microsoft.com/office/drawing/2014/main" id="{21BDF870-0834-FF1B-8DFF-0021F23E038E}"/>
                </a:ext>
              </a:extLst>
            </p:cNvPr>
            <p:cNvSpPr/>
            <p:nvPr/>
          </p:nvSpPr>
          <p:spPr>
            <a:xfrm>
              <a:off x="6948242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6" name="矩形: 圓角 105">
              <a:extLst>
                <a:ext uri="{FF2B5EF4-FFF2-40B4-BE49-F238E27FC236}">
                  <a16:creationId xmlns:a16="http://schemas.microsoft.com/office/drawing/2014/main" id="{227074C9-28AC-7EE1-7540-92BF880776EE}"/>
                </a:ext>
              </a:extLst>
            </p:cNvPr>
            <p:cNvSpPr/>
            <p:nvPr/>
          </p:nvSpPr>
          <p:spPr>
            <a:xfrm>
              <a:off x="7250582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7" name="矩形: 圓角 106">
              <a:extLst>
                <a:ext uri="{FF2B5EF4-FFF2-40B4-BE49-F238E27FC236}">
                  <a16:creationId xmlns:a16="http://schemas.microsoft.com/office/drawing/2014/main" id="{66E35DC5-4703-8EC4-6CB5-18866FB48114}"/>
                </a:ext>
              </a:extLst>
            </p:cNvPr>
            <p:cNvSpPr/>
            <p:nvPr/>
          </p:nvSpPr>
          <p:spPr>
            <a:xfrm>
              <a:off x="7550871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8" name="矩形: 圓角 107">
              <a:extLst>
                <a:ext uri="{FF2B5EF4-FFF2-40B4-BE49-F238E27FC236}">
                  <a16:creationId xmlns:a16="http://schemas.microsoft.com/office/drawing/2014/main" id="{B78F1401-ABA8-1904-B41D-1158FBB54E9C}"/>
                </a:ext>
              </a:extLst>
            </p:cNvPr>
            <p:cNvSpPr/>
            <p:nvPr/>
          </p:nvSpPr>
          <p:spPr>
            <a:xfrm>
              <a:off x="7853417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9" name="矩形: 圓角 108">
              <a:extLst>
                <a:ext uri="{FF2B5EF4-FFF2-40B4-BE49-F238E27FC236}">
                  <a16:creationId xmlns:a16="http://schemas.microsoft.com/office/drawing/2014/main" id="{F3A8596D-B241-FC61-E300-267AC1F25D06}"/>
                </a:ext>
              </a:extLst>
            </p:cNvPr>
            <p:cNvSpPr/>
            <p:nvPr/>
          </p:nvSpPr>
          <p:spPr>
            <a:xfrm>
              <a:off x="8153706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0" name="矩形: 圓角 109">
              <a:extLst>
                <a:ext uri="{FF2B5EF4-FFF2-40B4-BE49-F238E27FC236}">
                  <a16:creationId xmlns:a16="http://schemas.microsoft.com/office/drawing/2014/main" id="{77BB9A44-40B5-CFC7-530D-13FD90B9C8E5}"/>
                </a:ext>
              </a:extLst>
            </p:cNvPr>
            <p:cNvSpPr/>
            <p:nvPr/>
          </p:nvSpPr>
          <p:spPr>
            <a:xfrm>
              <a:off x="6045118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1" name="矩形: 圓角 110">
              <a:extLst>
                <a:ext uri="{FF2B5EF4-FFF2-40B4-BE49-F238E27FC236}">
                  <a16:creationId xmlns:a16="http://schemas.microsoft.com/office/drawing/2014/main" id="{1626B005-A030-8669-C186-89DE9809997C}"/>
                </a:ext>
              </a:extLst>
            </p:cNvPr>
            <p:cNvSpPr/>
            <p:nvPr/>
          </p:nvSpPr>
          <p:spPr>
            <a:xfrm>
              <a:off x="6345407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2" name="矩形: 圓角 111">
              <a:extLst>
                <a:ext uri="{FF2B5EF4-FFF2-40B4-BE49-F238E27FC236}">
                  <a16:creationId xmlns:a16="http://schemas.microsoft.com/office/drawing/2014/main" id="{AD88C71B-1F2E-AE74-CDA2-27A0C7922978}"/>
                </a:ext>
              </a:extLst>
            </p:cNvPr>
            <p:cNvSpPr/>
            <p:nvPr/>
          </p:nvSpPr>
          <p:spPr>
            <a:xfrm>
              <a:off x="6647953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3" name="矩形: 圓角 112">
              <a:extLst>
                <a:ext uri="{FF2B5EF4-FFF2-40B4-BE49-F238E27FC236}">
                  <a16:creationId xmlns:a16="http://schemas.microsoft.com/office/drawing/2014/main" id="{56A3BB9C-0D74-FB89-7708-5A9E88088FB5}"/>
                </a:ext>
              </a:extLst>
            </p:cNvPr>
            <p:cNvSpPr/>
            <p:nvPr/>
          </p:nvSpPr>
          <p:spPr>
            <a:xfrm>
              <a:off x="6948242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4" name="矩形: 圓角 113">
              <a:extLst>
                <a:ext uri="{FF2B5EF4-FFF2-40B4-BE49-F238E27FC236}">
                  <a16:creationId xmlns:a16="http://schemas.microsoft.com/office/drawing/2014/main" id="{B3B2080D-F0B4-4594-4242-B5364305E0F3}"/>
                </a:ext>
              </a:extLst>
            </p:cNvPr>
            <p:cNvSpPr/>
            <p:nvPr/>
          </p:nvSpPr>
          <p:spPr>
            <a:xfrm>
              <a:off x="7250582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5" name="矩形: 圓角 114">
              <a:extLst>
                <a:ext uri="{FF2B5EF4-FFF2-40B4-BE49-F238E27FC236}">
                  <a16:creationId xmlns:a16="http://schemas.microsoft.com/office/drawing/2014/main" id="{3FEF0925-7E31-78BE-3EAC-A712C595CE98}"/>
                </a:ext>
              </a:extLst>
            </p:cNvPr>
            <p:cNvSpPr/>
            <p:nvPr/>
          </p:nvSpPr>
          <p:spPr>
            <a:xfrm>
              <a:off x="7550871" y="4889698"/>
              <a:ext cx="250636" cy="283898"/>
            </a:xfrm>
            <a:prstGeom prst="round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14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6" name="矩形: 圓角 115">
              <a:extLst>
                <a:ext uri="{FF2B5EF4-FFF2-40B4-BE49-F238E27FC236}">
                  <a16:creationId xmlns:a16="http://schemas.microsoft.com/office/drawing/2014/main" id="{497BA87E-C5B8-2F1F-602B-846E6020DFC8}"/>
                </a:ext>
              </a:extLst>
            </p:cNvPr>
            <p:cNvSpPr/>
            <p:nvPr/>
          </p:nvSpPr>
          <p:spPr>
            <a:xfrm>
              <a:off x="7853417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7" name="矩形: 圓角 116">
              <a:extLst>
                <a:ext uri="{FF2B5EF4-FFF2-40B4-BE49-F238E27FC236}">
                  <a16:creationId xmlns:a16="http://schemas.microsoft.com/office/drawing/2014/main" id="{605F4539-1D2F-B01C-5732-9EEDE32DA7CC}"/>
                </a:ext>
              </a:extLst>
            </p:cNvPr>
            <p:cNvSpPr/>
            <p:nvPr/>
          </p:nvSpPr>
          <p:spPr>
            <a:xfrm>
              <a:off x="8153706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449198A4-5559-6BB7-9E1A-DE7BD8C64119}"/>
              </a:ext>
            </a:extLst>
          </p:cNvPr>
          <p:cNvGrpSpPr/>
          <p:nvPr/>
        </p:nvGrpSpPr>
        <p:grpSpPr>
          <a:xfrm>
            <a:off x="5084180" y="4725690"/>
            <a:ext cx="581652" cy="343638"/>
            <a:chOff x="5070690" y="3751735"/>
            <a:chExt cx="553245" cy="406636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ED16447A-A3E7-993E-6FE6-7F9EFC8EBB23}"/>
                </a:ext>
              </a:extLst>
            </p:cNvPr>
            <p:cNvSpPr txBox="1"/>
            <p:nvPr/>
          </p:nvSpPr>
          <p:spPr>
            <a:xfrm>
              <a:off x="5254943" y="3974732"/>
              <a:ext cx="300500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A85CD396-1243-C7A0-D4F2-BE3E3F955435}"/>
                </a:ext>
              </a:extLst>
            </p:cNvPr>
            <p:cNvSpPr txBox="1"/>
            <p:nvPr/>
          </p:nvSpPr>
          <p:spPr>
            <a:xfrm>
              <a:off x="5070690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Top 2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sp>
        <p:nvSpPr>
          <p:cNvPr id="121" name="矩形 120">
            <a:extLst>
              <a:ext uri="{FF2B5EF4-FFF2-40B4-BE49-F238E27FC236}">
                <a16:creationId xmlns:a16="http://schemas.microsoft.com/office/drawing/2014/main" id="{5AA67E65-FA43-411E-B9EC-11534F1E9AAC}"/>
              </a:ext>
            </a:extLst>
          </p:cNvPr>
          <p:cNvSpPr/>
          <p:nvPr/>
        </p:nvSpPr>
        <p:spPr>
          <a:xfrm>
            <a:off x="5953864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2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B996B92-8430-EE20-D201-E7A57DFD858F}"/>
              </a:ext>
            </a:extLst>
          </p:cNvPr>
          <p:cNvSpPr/>
          <p:nvPr/>
        </p:nvSpPr>
        <p:spPr>
          <a:xfrm>
            <a:off x="7176426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14</a:t>
            </a: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9F3C247A-7A23-EDAB-CDE8-3AA1E3F56502}"/>
              </a:ext>
            </a:extLst>
          </p:cNvPr>
          <p:cNvSpPr txBox="1"/>
          <p:nvPr/>
        </p:nvSpPr>
        <p:spPr>
          <a:xfrm>
            <a:off x="6273172" y="5480406"/>
            <a:ext cx="410297" cy="235664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noFill/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x 0.8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026E67E9-C78F-46FA-C4DE-5E23E29BFC93}"/>
              </a:ext>
            </a:extLst>
          </p:cNvPr>
          <p:cNvSpPr txBox="1"/>
          <p:nvPr/>
        </p:nvSpPr>
        <p:spPr>
          <a:xfrm>
            <a:off x="6817960" y="5479132"/>
            <a:ext cx="231490" cy="2356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A25EA302-E111-A4D0-E454-14C0201B763C}"/>
              </a:ext>
            </a:extLst>
          </p:cNvPr>
          <p:cNvSpPr txBox="1"/>
          <p:nvPr/>
        </p:nvSpPr>
        <p:spPr>
          <a:xfrm>
            <a:off x="7487783" y="5479132"/>
            <a:ext cx="410297" cy="241106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noFill/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x 0.2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6" name="左右中括弧 125">
            <a:extLst>
              <a:ext uri="{FF2B5EF4-FFF2-40B4-BE49-F238E27FC236}">
                <a16:creationId xmlns:a16="http://schemas.microsoft.com/office/drawing/2014/main" id="{C0A5E444-75D9-B0B0-B616-05F2049BB824}"/>
              </a:ext>
            </a:extLst>
          </p:cNvPr>
          <p:cNvSpPr/>
          <p:nvPr/>
        </p:nvSpPr>
        <p:spPr>
          <a:xfrm>
            <a:off x="5791150" y="5368364"/>
            <a:ext cx="2233906" cy="474585"/>
          </a:xfrm>
          <a:prstGeom prst="bracketPair">
            <a:avLst/>
          </a:prstGeom>
          <a:noFill/>
          <a:ln w="38100" cap="flat" cmpd="sng" algn="ctr">
            <a:solidFill>
              <a:srgbClr val="8064A2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7" name="箭號: 向下 126">
            <a:extLst>
              <a:ext uri="{FF2B5EF4-FFF2-40B4-BE49-F238E27FC236}">
                <a16:creationId xmlns:a16="http://schemas.microsoft.com/office/drawing/2014/main" id="{D0B31136-C46B-4C68-2FBB-C01F4EBE8BD6}"/>
              </a:ext>
            </a:extLst>
          </p:cNvPr>
          <p:cNvSpPr/>
          <p:nvPr/>
        </p:nvSpPr>
        <p:spPr>
          <a:xfrm rot="16200000">
            <a:off x="8109591" y="5484438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F37CB237-6A0B-C222-45B7-66F134F5A33F}"/>
              </a:ext>
            </a:extLst>
          </p:cNvPr>
          <p:cNvSpPr txBox="1"/>
          <p:nvPr/>
        </p:nvSpPr>
        <p:spPr>
          <a:xfrm>
            <a:off x="4741283" y="3082579"/>
            <a:ext cx="122043" cy="2356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x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左中括弧 128">
            <a:extLst>
              <a:ext uri="{FF2B5EF4-FFF2-40B4-BE49-F238E27FC236}">
                <a16:creationId xmlns:a16="http://schemas.microsoft.com/office/drawing/2014/main" id="{1C6502F0-C67D-28E1-D30B-F70FBE7C5F52}"/>
              </a:ext>
            </a:extLst>
          </p:cNvPr>
          <p:cNvSpPr/>
          <p:nvPr/>
        </p:nvSpPr>
        <p:spPr>
          <a:xfrm rot="16200000" flipH="1">
            <a:off x="6124536" y="914548"/>
            <a:ext cx="51180" cy="3207876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6DD73A09-169B-9471-D235-DFA293ED06EA}"/>
              </a:ext>
            </a:extLst>
          </p:cNvPr>
          <p:cNvGrpSpPr/>
          <p:nvPr/>
        </p:nvGrpSpPr>
        <p:grpSpPr>
          <a:xfrm>
            <a:off x="5252834" y="2960396"/>
            <a:ext cx="351092" cy="343638"/>
            <a:chOff x="5007514" y="3751735"/>
            <a:chExt cx="553245" cy="406636"/>
          </a:xfrm>
        </p:grpSpPr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358611BE-B235-F862-DA0A-3CB3E50620EA}"/>
                </a:ext>
              </a:extLst>
            </p:cNvPr>
            <p:cNvSpPr txBox="1"/>
            <p:nvPr/>
          </p:nvSpPr>
          <p:spPr>
            <a:xfrm>
              <a:off x="5106883" y="3974732"/>
              <a:ext cx="300499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D79030E3-5752-C8BC-DC34-D01C1B3E86E1}"/>
                </a:ext>
              </a:extLst>
            </p:cNvPr>
            <p:cNvSpPr txBox="1"/>
            <p:nvPr/>
          </p:nvSpPr>
          <p:spPr>
            <a:xfrm>
              <a:off x="5007514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N*16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438D616E-F9D7-814D-AC51-2D2288E26B40}"/>
              </a:ext>
            </a:extLst>
          </p:cNvPr>
          <p:cNvSpPr txBox="1"/>
          <p:nvPr/>
        </p:nvSpPr>
        <p:spPr>
          <a:xfrm>
            <a:off x="5233784" y="2215897"/>
            <a:ext cx="1985336" cy="276999"/>
          </a:xfrm>
          <a:prstGeom prst="rect">
            <a:avLst/>
          </a:prstGeom>
          <a:noFill/>
        </p:spPr>
        <p:txBody>
          <a:bodyPr wrap="none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Mixture Of Exports</a:t>
            </a: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71FA32A-E34F-98EE-6267-6E01FCB8E43A}"/>
              </a:ext>
            </a:extLst>
          </p:cNvPr>
          <p:cNvSpPr txBox="1"/>
          <p:nvPr/>
        </p:nvSpPr>
        <p:spPr>
          <a:xfrm>
            <a:off x="179512" y="3191057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6E47D9F-3FFC-007F-4411-6A238A2BD2AF}"/>
              </a:ext>
            </a:extLst>
          </p:cNvPr>
          <p:cNvSpPr txBox="1"/>
          <p:nvPr/>
        </p:nvSpPr>
        <p:spPr>
          <a:xfrm>
            <a:off x="6865416" y="5479132"/>
            <a:ext cx="17266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46749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DA7E61-7FBB-5DEB-4373-85DD1FB1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8</a:t>
            </a:fld>
            <a:endParaRPr lang="zh-TW" altLang="en-US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16E081B2-274B-9B1A-F521-6DF6F6A44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6581"/>
              </p:ext>
            </p:extLst>
          </p:nvPr>
        </p:nvGraphicFramePr>
        <p:xfrm>
          <a:off x="5427293" y="4231512"/>
          <a:ext cx="329690" cy="642609"/>
        </p:xfrm>
        <a:graphic>
          <a:graphicData uri="http://schemas.openxmlformats.org/drawingml/2006/table">
            <a:tbl>
              <a:tblPr firstRow="1" bandRow="1"/>
              <a:tblGrid>
                <a:gridCol w="32969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</a:tbl>
          </a:graphicData>
        </a:graphic>
      </p:graphicFrame>
      <p:sp>
        <p:nvSpPr>
          <p:cNvPr id="34" name="文字方塊 33">
            <a:extLst>
              <a:ext uri="{FF2B5EF4-FFF2-40B4-BE49-F238E27FC236}">
                <a16:creationId xmlns:a16="http://schemas.microsoft.com/office/drawing/2014/main" id="{92876D8E-7702-037B-F3A9-4C99C7FC2B79}"/>
              </a:ext>
            </a:extLst>
          </p:cNvPr>
          <p:cNvSpPr txBox="1"/>
          <p:nvPr/>
        </p:nvSpPr>
        <p:spPr>
          <a:xfrm>
            <a:off x="5861262" y="4452934"/>
            <a:ext cx="165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0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5" name="標題 1">
            <a:extLst>
              <a:ext uri="{FF2B5EF4-FFF2-40B4-BE49-F238E27FC236}">
                <a16:creationId xmlns:a16="http://schemas.microsoft.com/office/drawing/2014/main" id="{4B8D0086-D022-464D-A811-5DFD7318493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6546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Liner Projection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Converts continuous vectors from the semantic space back into human-readable words.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1858767A-52D5-6B00-C402-A9A161DF6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98041"/>
              </p:ext>
            </p:extLst>
          </p:nvPr>
        </p:nvGraphicFramePr>
        <p:xfrm>
          <a:off x="4716324" y="3521039"/>
          <a:ext cx="653931" cy="2356233"/>
        </p:xfrm>
        <a:graphic>
          <a:graphicData uri="http://schemas.openxmlformats.org/drawingml/2006/table">
            <a:tbl>
              <a:tblPr firstRow="1" bandRow="1"/>
              <a:tblGrid>
                <a:gridCol w="223729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5101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510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E5D7996-145F-5865-D184-64E2FC1C7634}"/>
                  </a:ext>
                </a:extLst>
              </p:cNvPr>
              <p:cNvSpPr txBox="1"/>
              <p:nvPr/>
            </p:nvSpPr>
            <p:spPr>
              <a:xfrm>
                <a:off x="6077429" y="2530360"/>
                <a:ext cx="887935" cy="529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TW" sz="1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en-US" altLang="zh-TW" sz="1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Zi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Zj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1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E5D7996-145F-5865-D184-64E2FC1C7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429" y="2530360"/>
                <a:ext cx="887935" cy="529697"/>
              </a:xfrm>
              <a:prstGeom prst="rect">
                <a:avLst/>
              </a:prstGeom>
              <a:blipFill>
                <a:blip r:embed="rId3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1DC01285-23D6-C4D8-2E8A-E34EB7473B5E}"/>
              </a:ext>
            </a:extLst>
          </p:cNvPr>
          <p:cNvCxnSpPr>
            <a:cxnSpLocks/>
            <a:stCxn id="42" idx="3"/>
            <a:endCxn id="33" idx="2"/>
          </p:cNvCxnSpPr>
          <p:nvPr/>
        </p:nvCxnSpPr>
        <p:spPr>
          <a:xfrm flipV="1">
            <a:off x="4344906" y="4874121"/>
            <a:ext cx="1247232" cy="126279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82280687-9930-98D8-E2D2-8BE32AFA3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812951"/>
              </p:ext>
            </p:extLst>
          </p:nvPr>
        </p:nvGraphicFramePr>
        <p:xfrm>
          <a:off x="6224726" y="3521039"/>
          <a:ext cx="593344" cy="2356233"/>
        </p:xfrm>
        <a:graphic>
          <a:graphicData uri="http://schemas.openxmlformats.org/drawingml/2006/table">
            <a:tbl>
              <a:tblPr firstRow="1" bandRow="1"/>
              <a:tblGrid>
                <a:gridCol w="296672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96672">
                  <a:extLst>
                    <a:ext uri="{9D8B030D-6E8A-4147-A177-3AD203B41FA5}">
                      <a16:colId xmlns:a16="http://schemas.microsoft.com/office/drawing/2014/main" val="390976553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2.39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3.58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27%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4.05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44%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3.26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3C6D016D-7099-084A-5A4A-EC465BF60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90005"/>
              </p:ext>
            </p:extLst>
          </p:nvPr>
        </p:nvGraphicFramePr>
        <p:xfrm>
          <a:off x="7114799" y="3521039"/>
          <a:ext cx="593345" cy="2356233"/>
        </p:xfrm>
        <a:graphic>
          <a:graphicData uri="http://schemas.openxmlformats.org/drawingml/2006/table">
            <a:tbl>
              <a:tblPr firstRow="1" bandRow="1"/>
              <a:tblGrid>
                <a:gridCol w="59334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Pangram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26730081-ED9C-7798-B601-493088EFB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22366"/>
              </p:ext>
            </p:extLst>
          </p:nvPr>
        </p:nvGraphicFramePr>
        <p:xfrm>
          <a:off x="3571929" y="3610586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6747F251-06DA-774A-727F-0C90B017470D}"/>
              </a:ext>
            </a:extLst>
          </p:cNvPr>
          <p:cNvSpPr/>
          <p:nvPr/>
        </p:nvSpPr>
        <p:spPr>
          <a:xfrm>
            <a:off x="3493291" y="4854511"/>
            <a:ext cx="851615" cy="291778"/>
          </a:xfrm>
          <a:prstGeom prst="rect">
            <a:avLst/>
          </a:prstGeom>
          <a:noFill/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466C54-392B-1E1B-E845-36171E065670}"/>
              </a:ext>
            </a:extLst>
          </p:cNvPr>
          <p:cNvSpPr/>
          <p:nvPr/>
        </p:nvSpPr>
        <p:spPr>
          <a:xfrm>
            <a:off x="7062830" y="5193369"/>
            <a:ext cx="692447" cy="291778"/>
          </a:xfrm>
          <a:prstGeom prst="rect">
            <a:avLst/>
          </a:prstGeom>
          <a:noFill/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20493E-ED85-D466-BADD-A478380CE2EB}"/>
              </a:ext>
            </a:extLst>
          </p:cNvPr>
          <p:cNvSpPr/>
          <p:nvPr/>
        </p:nvSpPr>
        <p:spPr>
          <a:xfrm>
            <a:off x="1485026" y="4131696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D85558F-FFBF-ED8C-E63C-D19982FF7B89}"/>
              </a:ext>
            </a:extLst>
          </p:cNvPr>
          <p:cNvSpPr/>
          <p:nvPr/>
        </p:nvSpPr>
        <p:spPr>
          <a:xfrm>
            <a:off x="1475656" y="4529151"/>
            <a:ext cx="293060" cy="15752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new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CD79EEC-F248-7D13-D190-97909E3AE905}"/>
              </a:ext>
            </a:extLst>
          </p:cNvPr>
          <p:cNvSpPr txBox="1"/>
          <p:nvPr/>
        </p:nvSpPr>
        <p:spPr>
          <a:xfrm>
            <a:off x="6853966" y="5247818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接點: 肘形 46">
            <a:extLst>
              <a:ext uri="{FF2B5EF4-FFF2-40B4-BE49-F238E27FC236}">
                <a16:creationId xmlns:a16="http://schemas.microsoft.com/office/drawing/2014/main" id="{50607333-9557-5777-FC2E-AE81D2A07C0E}"/>
              </a:ext>
            </a:extLst>
          </p:cNvPr>
          <p:cNvCxnSpPr>
            <a:cxnSpLocks/>
            <a:stCxn id="43" idx="2"/>
            <a:endCxn id="45" idx="2"/>
          </p:cNvCxnSpPr>
          <p:nvPr/>
        </p:nvCxnSpPr>
        <p:spPr>
          <a:xfrm rot="5400000" flipH="1">
            <a:off x="4116382" y="2192475"/>
            <a:ext cx="798476" cy="5786868"/>
          </a:xfrm>
          <a:prstGeom prst="bentConnector3">
            <a:avLst>
              <a:gd name="adj1" fmla="val -62031"/>
            </a:avLst>
          </a:prstGeom>
          <a:noFill/>
          <a:ln w="25400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FA11292B-6E1F-799A-D9DC-4B2A1E155C19}"/>
              </a:ext>
            </a:extLst>
          </p:cNvPr>
          <p:cNvSpPr/>
          <p:nvPr/>
        </p:nvSpPr>
        <p:spPr>
          <a:xfrm>
            <a:off x="1962697" y="3737063"/>
            <a:ext cx="463988" cy="1263338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…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C2C7BA6-5F90-75B0-8377-8E44F69D8648}"/>
              </a:ext>
            </a:extLst>
          </p:cNvPr>
          <p:cNvSpPr/>
          <p:nvPr/>
        </p:nvSpPr>
        <p:spPr>
          <a:xfrm flipH="1">
            <a:off x="2512406" y="4143959"/>
            <a:ext cx="274319" cy="457200"/>
          </a:xfrm>
          <a:prstGeom prst="roundRect">
            <a:avLst/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X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L</a:t>
            </a:r>
            <a:endParaRPr kumimoji="0" lang="zh-TW" altLang="en-US" sz="1400" b="0" i="0" u="none" strike="noStrike" kern="0" cap="none" spc="0" normalizeH="0" baseline="-2500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B66CBED-9BFA-DA6C-274E-0119611D5888}"/>
              </a:ext>
            </a:extLst>
          </p:cNvPr>
          <p:cNvSpPr txBox="1"/>
          <p:nvPr/>
        </p:nvSpPr>
        <p:spPr>
          <a:xfrm>
            <a:off x="2498693" y="3958552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739292D-C108-C266-0059-5F75FEB282A8}"/>
              </a:ext>
            </a:extLst>
          </p:cNvPr>
          <p:cNvSpPr txBox="1"/>
          <p:nvPr/>
        </p:nvSpPr>
        <p:spPr>
          <a:xfrm>
            <a:off x="7262522" y="502404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1*d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089BF8E-861E-806A-466C-ECBEAE75826E}"/>
              </a:ext>
            </a:extLst>
          </p:cNvPr>
          <p:cNvSpPr txBox="1"/>
          <p:nvPr/>
        </p:nvSpPr>
        <p:spPr>
          <a:xfrm>
            <a:off x="4896758" y="335171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E7A8382-A9FE-DA5E-C529-E747CE58FCE7}"/>
              </a:ext>
            </a:extLst>
          </p:cNvPr>
          <p:cNvSpPr txBox="1"/>
          <p:nvPr/>
        </p:nvSpPr>
        <p:spPr>
          <a:xfrm>
            <a:off x="5442056" y="4024140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A8ECDFE-5BDB-B828-1CD2-1E39BEC839C5}"/>
              </a:ext>
            </a:extLst>
          </p:cNvPr>
          <p:cNvSpPr txBox="1"/>
          <p:nvPr/>
        </p:nvSpPr>
        <p:spPr>
          <a:xfrm>
            <a:off x="7262522" y="3351711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5EB0CDD-4BDB-FE02-AC21-4BAD9F4D44DA}"/>
              </a:ext>
            </a:extLst>
          </p:cNvPr>
          <p:cNvSpPr txBox="1"/>
          <p:nvPr/>
        </p:nvSpPr>
        <p:spPr>
          <a:xfrm rot="5400000">
            <a:off x="2281774" y="4073163"/>
            <a:ext cx="1803469" cy="505535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7C3F8AB-D97E-24A8-B49D-9981E7EC4EFB}"/>
              </a:ext>
            </a:extLst>
          </p:cNvPr>
          <p:cNvSpPr txBox="1"/>
          <p:nvPr/>
        </p:nvSpPr>
        <p:spPr>
          <a:xfrm>
            <a:off x="6216733" y="3351710"/>
            <a:ext cx="591098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*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2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4730CBA-8070-B9B3-CD2B-381D14FEEC53}"/>
              </a:ext>
            </a:extLst>
          </p:cNvPr>
          <p:cNvSpPr txBox="1"/>
          <p:nvPr/>
        </p:nvSpPr>
        <p:spPr>
          <a:xfrm>
            <a:off x="6177416" y="3127979"/>
            <a:ext cx="687963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Softmax</a:t>
            </a:r>
            <a:endParaRPr lang="zh-TW" altLang="en-US" sz="12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FE65C15-D0FB-EE72-7D83-4572E68F7B7B}"/>
              </a:ext>
            </a:extLst>
          </p:cNvPr>
          <p:cNvSpPr txBox="1"/>
          <p:nvPr/>
        </p:nvSpPr>
        <p:spPr>
          <a:xfrm>
            <a:off x="287524" y="1196752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Semantics Space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LLM use Embedding Matrix to sketch and shape by attention.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Next Token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First word of the following response.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EAAF17D-2E62-3C5B-2E49-6AE315230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336" y="4922432"/>
            <a:ext cx="768946" cy="824174"/>
          </a:xfrm>
          <a:prstGeom prst="rect">
            <a:avLst/>
          </a:prstGeom>
          <a:effectLst>
            <a:glow rad="50800">
              <a:schemeClr val="accent2">
                <a:lumMod val="40000"/>
                <a:lumOff val="6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4689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27187F1-467F-4E12-C604-88493C25D909}"/>
              </a:ext>
            </a:extLst>
          </p:cNvPr>
          <p:cNvSpPr/>
          <p:nvPr/>
        </p:nvSpPr>
        <p:spPr>
          <a:xfrm>
            <a:off x="3657235" y="2144679"/>
            <a:ext cx="757697" cy="115754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RoPE(V)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D17A9C-4069-FA87-3486-AEBF8871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4" name="標題 1">
            <a:extLst>
              <a:ext uri="{FF2B5EF4-FFF2-40B4-BE49-F238E27FC236}">
                <a16:creationId xmlns:a16="http://schemas.microsoft.com/office/drawing/2014/main" id="{520B16F4-C86F-2CF2-5F1E-922A0A425E3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Token Embeddings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Pairwise dimension rotations enable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multi-scale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positional sensitivity across long contexts.</a:t>
            </a: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5EFDBA63-10D8-7290-2A27-21E1F7986901}"/>
              </a:ext>
            </a:extLst>
          </p:cNvPr>
          <p:cNvCxnSpPr>
            <a:cxnSpLocks/>
            <a:stCxn id="81" idx="0"/>
            <a:endCxn id="53" idx="0"/>
          </p:cNvCxnSpPr>
          <p:nvPr/>
        </p:nvCxnSpPr>
        <p:spPr>
          <a:xfrm>
            <a:off x="4248726" y="2092249"/>
            <a:ext cx="0" cy="268213"/>
          </a:xfrm>
          <a:prstGeom prst="line">
            <a:avLst/>
          </a:prstGeom>
          <a:noFill/>
          <a:ln w="15875" cap="flat" cmpd="sng" algn="ctr">
            <a:solidFill>
              <a:sysClr val="window" lastClr="FFFFFF">
                <a:lumMod val="50000"/>
              </a:sysClr>
            </a:solidFill>
            <a:prstDash val="sysDash"/>
          </a:ln>
          <a:effectLst/>
        </p:spPr>
      </p:cxnSp>
      <p:sp>
        <p:nvSpPr>
          <p:cNvPr id="57" name="左大括弧 56">
            <a:extLst>
              <a:ext uri="{FF2B5EF4-FFF2-40B4-BE49-F238E27FC236}">
                <a16:creationId xmlns:a16="http://schemas.microsoft.com/office/drawing/2014/main" id="{CBFE720A-F71E-359A-7A48-282DC7920D3E}"/>
              </a:ext>
            </a:extLst>
          </p:cNvPr>
          <p:cNvSpPr/>
          <p:nvPr/>
        </p:nvSpPr>
        <p:spPr>
          <a:xfrm>
            <a:off x="3462150" y="2414038"/>
            <a:ext cx="113463" cy="898956"/>
          </a:xfrm>
          <a:prstGeom prst="leftBrace">
            <a:avLst>
              <a:gd name="adj1" fmla="val 8333"/>
              <a:gd name="adj2" fmla="val 21069"/>
            </a:avLst>
          </a:prstGeom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0111D8-7C4E-C49F-0F75-6DDCA67E1C7E}"/>
                  </a:ext>
                </a:extLst>
              </p:cNvPr>
              <p:cNvSpPr txBox="1"/>
              <p:nvPr/>
            </p:nvSpPr>
            <p:spPr>
              <a:xfrm>
                <a:off x="4610471" y="2784574"/>
                <a:ext cx="1270411" cy="5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 algn="just"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0111D8-7C4E-C49F-0F75-6DDCA67E1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71" y="2784574"/>
                <a:ext cx="1270411" cy="520537"/>
              </a:xfrm>
              <a:prstGeom prst="rect">
                <a:avLst/>
              </a:prstGeom>
              <a:blipFill>
                <a:blip r:embed="rId3"/>
                <a:stretch>
                  <a:fillRect l="-2871" b="-9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EC39CFF-2AAB-9EF2-6E38-BBE2B56125D5}"/>
                  </a:ext>
                </a:extLst>
              </p:cNvPr>
              <p:cNvSpPr txBox="1"/>
              <p:nvPr/>
            </p:nvSpPr>
            <p:spPr>
              <a:xfrm>
                <a:off x="4628834" y="1575804"/>
                <a:ext cx="984660" cy="7425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=0,1,...,</m:t>
                      </m:r>
                      <m:box>
                        <m:boxPr>
                          <m:ctrlPr>
                            <a:rPr lang="en-US" altLang="zh-TW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</m:num>
                            <m:den>
                              <m: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altLang="zh-TW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2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zh-TW" alt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EC39CFF-2AAB-9EF2-6E38-BBE2B5612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834" y="1575804"/>
                <a:ext cx="984660" cy="742528"/>
              </a:xfrm>
              <a:prstGeom prst="rect">
                <a:avLst/>
              </a:prstGeom>
              <a:blipFill>
                <a:blip r:embed="rId4"/>
                <a:stretch>
                  <a:fillRect l="-4938" r="-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5F75E8C0-EB47-EBA4-834A-DDCEB25CB9FC}"/>
              </a:ext>
            </a:extLst>
          </p:cNvPr>
          <p:cNvCxnSpPr>
            <a:cxnSpLocks/>
            <a:stCxn id="57" idx="0"/>
            <a:endCxn id="53" idx="1"/>
          </p:cNvCxnSpPr>
          <p:nvPr/>
        </p:nvCxnSpPr>
        <p:spPr>
          <a:xfrm flipV="1">
            <a:off x="3575613" y="2414037"/>
            <a:ext cx="565805" cy="1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ysDash"/>
          </a:ln>
          <a:effectLst/>
        </p:spPr>
      </p:cxnSp>
      <p:sp>
        <p:nvSpPr>
          <p:cNvPr id="81" name="左大括弧 80">
            <a:extLst>
              <a:ext uri="{FF2B5EF4-FFF2-40B4-BE49-F238E27FC236}">
                <a16:creationId xmlns:a16="http://schemas.microsoft.com/office/drawing/2014/main" id="{EBECE571-AD3D-0260-725C-8BC094E795CF}"/>
              </a:ext>
            </a:extLst>
          </p:cNvPr>
          <p:cNvSpPr/>
          <p:nvPr/>
        </p:nvSpPr>
        <p:spPr>
          <a:xfrm rot="5400000">
            <a:off x="3877228" y="1720751"/>
            <a:ext cx="161026" cy="581970"/>
          </a:xfrm>
          <a:prstGeom prst="leftBrace">
            <a:avLst>
              <a:gd name="adj1" fmla="val 6319"/>
              <a:gd name="adj2" fmla="val 21426"/>
            </a:avLst>
          </a:prstGeom>
          <a:noFill/>
          <a:ln w="15875" cap="flat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3" name="接點: 弧形 82">
            <a:extLst>
              <a:ext uri="{FF2B5EF4-FFF2-40B4-BE49-F238E27FC236}">
                <a16:creationId xmlns:a16="http://schemas.microsoft.com/office/drawing/2014/main" id="{EFB85E44-8FD7-59D1-CC8E-DE278BEED81B}"/>
              </a:ext>
            </a:extLst>
          </p:cNvPr>
          <p:cNvCxnSpPr>
            <a:cxnSpLocks/>
            <a:stCxn id="53" idx="3"/>
            <a:endCxn id="58" idx="0"/>
          </p:cNvCxnSpPr>
          <p:nvPr/>
        </p:nvCxnSpPr>
        <p:spPr>
          <a:xfrm>
            <a:off x="4356033" y="2414037"/>
            <a:ext cx="889644" cy="370537"/>
          </a:xfrm>
          <a:prstGeom prst="curved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E389BFA-66CE-2FF8-FAA5-2D932F7D87EA}"/>
              </a:ext>
            </a:extLst>
          </p:cNvPr>
          <p:cNvSpPr/>
          <p:nvPr/>
        </p:nvSpPr>
        <p:spPr>
          <a:xfrm>
            <a:off x="4036083" y="1685967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9BD382-D75F-C40C-0DF7-BE56DF3C53DD}"/>
              </a:ext>
            </a:extLst>
          </p:cNvPr>
          <p:cNvSpPr/>
          <p:nvPr/>
        </p:nvSpPr>
        <p:spPr>
          <a:xfrm>
            <a:off x="3233639" y="2523876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1">
                    <a:lumMod val="50000"/>
                  </a:schemeClr>
                </a:solidFill>
                <a:latin typeface="Baguet Script" panose="00000500000000000000" pitchFamily="2" charset="0"/>
                <a:ea typeface="STXingkai" panose="02010800040101010101" pitchFamily="2" charset="-122"/>
                <a:cs typeface="ADLaM Display" panose="02010000000000000000" pitchFamily="2" charset="0"/>
              </a:rPr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B27868-8249-E818-56FA-6F32D970161D}"/>
                  </a:ext>
                </a:extLst>
              </p:cNvPr>
              <p:cNvSpPr txBox="1"/>
              <p:nvPr/>
            </p:nvSpPr>
            <p:spPr>
              <a:xfrm>
                <a:off x="3172061" y="2102425"/>
                <a:ext cx="271272" cy="369332"/>
              </a:xfrm>
              <a:prstGeom prst="rect">
                <a:avLst/>
              </a:prstGeom>
              <a:noFill/>
            </p:spPr>
            <p:txBody>
              <a:bodyPr wrap="none" anchor="ctr" anchorCtr="1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lang="zh-TW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𝝊</m:t>
                              </m:r>
                            </m:e>
                            <m:sub>
                              <m:r>
                                <a:rPr lang="zh-TW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𝜾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b="1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B27868-8249-E818-56FA-6F32D9701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061" y="2102425"/>
                <a:ext cx="271272" cy="369332"/>
              </a:xfrm>
              <a:prstGeom prst="rect">
                <a:avLst/>
              </a:prstGeom>
              <a:blipFill>
                <a:blip r:embed="rId5"/>
                <a:stretch>
                  <a:fillRect l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30F785C0-C6B5-8763-3E80-F7883E8ED4B3}"/>
              </a:ext>
            </a:extLst>
          </p:cNvPr>
          <p:cNvGrpSpPr/>
          <p:nvPr/>
        </p:nvGrpSpPr>
        <p:grpSpPr>
          <a:xfrm>
            <a:off x="3657235" y="4732992"/>
            <a:ext cx="3163030" cy="1519664"/>
            <a:chOff x="4332113" y="814921"/>
            <a:chExt cx="3163030" cy="1519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283234E5-53A2-2DBE-6921-B3DA763B90F1}"/>
                    </a:ext>
                  </a:extLst>
                </p:cNvPr>
                <p:cNvSpPr txBox="1"/>
                <p:nvPr/>
              </p:nvSpPr>
              <p:spPr>
                <a:xfrm>
                  <a:off x="6660210" y="1577131"/>
                  <a:ext cx="91440" cy="2160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:pPr algn="ctr" defTabSz="914400"/>
                  <a:r>
                    <a:rPr lang="en-US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283234E5-53A2-2DBE-6921-B3DA763B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210" y="1577131"/>
                  <a:ext cx="91440" cy="216024"/>
                </a:xfrm>
                <a:prstGeom prst="rect">
                  <a:avLst/>
                </a:prstGeom>
                <a:blipFill>
                  <a:blip r:embed="rId6"/>
                  <a:stretch>
                    <a:fillRect l="-13333" r="-4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4839E27-E30C-FBE6-8AE3-D9218D18F1CB}"/>
                    </a:ext>
                  </a:extLst>
                </p:cNvPr>
                <p:cNvSpPr txBox="1"/>
                <p:nvPr/>
              </p:nvSpPr>
              <p:spPr>
                <a:xfrm>
                  <a:off x="4332113" y="814921"/>
                  <a:ext cx="2376264" cy="15183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defTabSz="9144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altLang="zh-TW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𝑅𝑜𝑃𝐸</m:t>
                        </m:r>
                        <m:d>
                          <m:dPr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1200" i="1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  <a:p>
                  <a:pPr defTabSz="9144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RoP</m:t>
                        </m:r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ctrlPr>
                              <a:rPr lang="en-US" altLang="zh-TW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d>
                          </m:e>
                        </m:d>
                        <m:r>
                          <a:rPr lang="en-US" altLang="zh-TW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4839E27-E30C-FBE6-8AE3-D9218D18F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113" y="814921"/>
                  <a:ext cx="2376264" cy="1518364"/>
                </a:xfrm>
                <a:prstGeom prst="rect">
                  <a:avLst/>
                </a:prstGeom>
                <a:blipFill>
                  <a:blip r:embed="rId7"/>
                  <a:stretch>
                    <a:fillRect l="-2308" b="-36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F81DDC44-25C2-3F2C-D546-C133023708A0}"/>
                    </a:ext>
                  </a:extLst>
                </p:cNvPr>
                <p:cNvSpPr txBox="1"/>
                <p:nvPr/>
              </p:nvSpPr>
              <p:spPr>
                <a:xfrm>
                  <a:off x="5665481" y="1901596"/>
                  <a:ext cx="1828800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F81DDC44-25C2-3F2C-D546-C13302370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5481" y="1901596"/>
                  <a:ext cx="1828800" cy="43298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0DE21A2D-4C0F-77B8-19E7-AB9EBF6F37F7}"/>
                    </a:ext>
                  </a:extLst>
                </p:cNvPr>
                <p:cNvSpPr txBox="1"/>
                <p:nvPr/>
              </p:nvSpPr>
              <p:spPr>
                <a:xfrm>
                  <a:off x="5665480" y="1372336"/>
                  <a:ext cx="1828800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2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0DE21A2D-4C0F-77B8-19E7-AB9EBF6F3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5480" y="1372336"/>
                  <a:ext cx="1828800" cy="43298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E30412C0-1083-193D-CA5A-97A61DD997B1}"/>
                    </a:ext>
                  </a:extLst>
                </p:cNvPr>
                <p:cNvSpPr txBox="1"/>
                <p:nvPr/>
              </p:nvSpPr>
              <p:spPr>
                <a:xfrm>
                  <a:off x="5666343" y="986503"/>
                  <a:ext cx="1828800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2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E30412C0-1083-193D-CA5A-97A61DD99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343" y="986503"/>
                  <a:ext cx="1828800" cy="43298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DA84C863-8424-2E17-10FB-0ADBDA0CDE48}"/>
                    </a:ext>
                  </a:extLst>
                </p:cNvPr>
                <p:cNvSpPr txBox="1"/>
                <p:nvPr/>
              </p:nvSpPr>
              <p:spPr>
                <a:xfrm>
                  <a:off x="6660210" y="2091481"/>
                  <a:ext cx="91440" cy="2160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:pPr algn="ctr" defTabSz="914400"/>
                  <a:r>
                    <a:rPr lang="en-US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DA84C863-8424-2E17-10FB-0ADBDA0CD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210" y="2091481"/>
                  <a:ext cx="91440" cy="216024"/>
                </a:xfrm>
                <a:prstGeom prst="rect">
                  <a:avLst/>
                </a:prstGeom>
                <a:blipFill>
                  <a:blip r:embed="rId11"/>
                  <a:stretch>
                    <a:fillRect l="-13333" r="-4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FC22A660-6DBA-7698-A398-1DC4763E2C03}"/>
              </a:ext>
            </a:extLst>
          </p:cNvPr>
          <p:cNvSpPr/>
          <p:nvPr/>
        </p:nvSpPr>
        <p:spPr>
          <a:xfrm>
            <a:off x="3671580" y="2350991"/>
            <a:ext cx="731626" cy="116620"/>
          </a:xfrm>
          <a:prstGeom prst="roundRect">
            <a:avLst/>
          </a:prstGeom>
          <a:noFill/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26CB4F44-ECF0-E57F-6296-C4CC5B177676}"/>
              </a:ext>
            </a:extLst>
          </p:cNvPr>
          <p:cNvSpPr/>
          <p:nvPr/>
        </p:nvSpPr>
        <p:spPr>
          <a:xfrm>
            <a:off x="4141418" y="2360462"/>
            <a:ext cx="214615" cy="107149"/>
          </a:xfrm>
          <a:prstGeom prst="roundRect">
            <a:avLst/>
          </a:prstGeom>
          <a:solidFill>
            <a:schemeClr val="bg1">
              <a:alpha val="20000"/>
            </a:schemeClr>
          </a:solidFill>
          <a:ln w="22225" cap="flat" cmpd="sng" algn="ctr">
            <a:solidFill>
              <a:srgbClr val="FF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51264CB3-0BDD-8A6D-A538-DBF34D0663FF}"/>
              </a:ext>
            </a:extLst>
          </p:cNvPr>
          <p:cNvGrpSpPr/>
          <p:nvPr/>
        </p:nvGrpSpPr>
        <p:grpSpPr>
          <a:xfrm>
            <a:off x="4403206" y="3551345"/>
            <a:ext cx="1239551" cy="996766"/>
            <a:chOff x="7032317" y="2589094"/>
            <a:chExt cx="1239551" cy="996766"/>
          </a:xfrm>
        </p:grpSpPr>
        <p:cxnSp>
          <p:nvCxnSpPr>
            <p:cNvPr id="86" name="直線單箭頭接點 85">
              <a:extLst>
                <a:ext uri="{FF2B5EF4-FFF2-40B4-BE49-F238E27FC236}">
                  <a16:creationId xmlns:a16="http://schemas.microsoft.com/office/drawing/2014/main" id="{D0FBCDB7-5085-CB2F-D2D9-6F3C082F6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885" y="2633669"/>
              <a:ext cx="0" cy="95219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id="{345C2EA0-9244-7BF6-DE37-475D078F99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2317" y="3451838"/>
              <a:ext cx="103443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88" name="直線單箭頭接點 87">
              <a:extLst>
                <a:ext uri="{FF2B5EF4-FFF2-40B4-BE49-F238E27FC236}">
                  <a16:creationId xmlns:a16="http://schemas.microsoft.com/office/drawing/2014/main" id="{BAFFA66A-29AA-5D5F-4F8A-2576480B3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9410" y="2959720"/>
              <a:ext cx="232529" cy="481309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50000"/>
                </a:schemeClr>
              </a:solidFill>
              <a:prstDash val="solid"/>
              <a:headEnd w="sm" len="sm"/>
              <a:tailEnd type="triangle" w="sm" len="sm"/>
            </a:ln>
            <a:effectLst/>
          </p:spPr>
        </p:cxnSp>
        <p:cxnSp>
          <p:nvCxnSpPr>
            <p:cNvPr id="94" name="直線單箭頭接點 93">
              <a:extLst>
                <a:ext uri="{FF2B5EF4-FFF2-40B4-BE49-F238E27FC236}">
                  <a16:creationId xmlns:a16="http://schemas.microsoft.com/office/drawing/2014/main" id="{09BDE4F4-F313-8D1F-8637-3AC373DE3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2084" y="3313735"/>
              <a:ext cx="484434" cy="117184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50000"/>
                </a:schemeClr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93" name="弧形 92">
              <a:extLst>
                <a:ext uri="{FF2B5EF4-FFF2-40B4-BE49-F238E27FC236}">
                  <a16:creationId xmlns:a16="http://schemas.microsoft.com/office/drawing/2014/main" id="{4941D9EB-0827-5D7E-0E4D-3E3329E75BDA}"/>
                </a:ext>
              </a:extLst>
            </p:cNvPr>
            <p:cNvSpPr/>
            <p:nvPr/>
          </p:nvSpPr>
          <p:spPr>
            <a:xfrm>
              <a:off x="7267335" y="3145754"/>
              <a:ext cx="353745" cy="421056"/>
            </a:xfrm>
            <a:prstGeom prst="arc">
              <a:avLst>
                <a:gd name="adj1" fmla="val 16200000"/>
                <a:gd name="adj2" fmla="val 20961288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65607D9-9011-9630-7B7A-8F72D019330A}"/>
                    </a:ext>
                  </a:extLst>
                </p:cNvPr>
                <p:cNvSpPr txBox="1"/>
                <p:nvPr/>
              </p:nvSpPr>
              <p:spPr>
                <a:xfrm>
                  <a:off x="7854171" y="3017170"/>
                  <a:ext cx="417697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 defTabSz="914400"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65607D9-9011-9630-7B7A-8F72D01933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171" y="3017170"/>
                  <a:ext cx="417697" cy="432989"/>
                </a:xfrm>
                <a:prstGeom prst="rect">
                  <a:avLst/>
                </a:prstGeom>
                <a:blipFill>
                  <a:blip r:embed="rId12"/>
                  <a:stretch>
                    <a:fillRect l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5E4F5259-5FF0-04E1-1933-FD2D0AB096FB}"/>
                    </a:ext>
                  </a:extLst>
                </p:cNvPr>
                <p:cNvSpPr txBox="1"/>
                <p:nvPr/>
              </p:nvSpPr>
              <p:spPr>
                <a:xfrm>
                  <a:off x="7393352" y="2589094"/>
                  <a:ext cx="766333" cy="4329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 defTabSz="91440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rgbClr val="FF0000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5E4F5259-5FF0-04E1-1933-FD2D0AB09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352" y="2589094"/>
                  <a:ext cx="766333" cy="432989"/>
                </a:xfrm>
                <a:prstGeom prst="rect">
                  <a:avLst/>
                </a:prstGeom>
                <a:blipFill>
                  <a:blip r:embed="rId13"/>
                  <a:stretch>
                    <a:fillRect l="-14400" r="-16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2921B102-36C0-62B7-CDAB-2532A5850233}"/>
                    </a:ext>
                  </a:extLst>
                </p:cNvPr>
                <p:cNvSpPr txBox="1"/>
                <p:nvPr/>
              </p:nvSpPr>
              <p:spPr>
                <a:xfrm>
                  <a:off x="7060974" y="3167779"/>
                  <a:ext cx="421333" cy="215444"/>
                </a:xfrm>
                <a:prstGeom prst="rect">
                  <a:avLst/>
                </a:prstGeom>
                <a:solidFill>
                  <a:schemeClr val="bg1">
                    <a:alpha val="60000"/>
                  </a:schemeClr>
                </a:solidFill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>
                        <m:r>
                          <a:rPr lang="en-US" altLang="zh-TW" sz="1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zh-TW" altLang="en-US" sz="1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zh-TW" altLang="en-US" sz="1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1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sz="1400" dirty="0">
                    <a:solidFill>
                      <a:schemeClr val="tx2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2921B102-36C0-62B7-CDAB-2532A5850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74" y="3167779"/>
                  <a:ext cx="421333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8696" r="-2899" b="-1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15765461-FCC9-B142-EB2F-49D7CBD6A782}"/>
              </a:ext>
            </a:extLst>
          </p:cNvPr>
          <p:cNvSpPr/>
          <p:nvPr/>
        </p:nvSpPr>
        <p:spPr>
          <a:xfrm>
            <a:off x="6104837" y="2512599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22" name="箭號: 向下 21">
            <a:extLst>
              <a:ext uri="{FF2B5EF4-FFF2-40B4-BE49-F238E27FC236}">
                <a16:creationId xmlns:a16="http://schemas.microsoft.com/office/drawing/2014/main" id="{4E93D90A-EB7B-63F8-9AE5-F445A4CFB1D7}"/>
              </a:ext>
            </a:extLst>
          </p:cNvPr>
          <p:cNvSpPr/>
          <p:nvPr/>
        </p:nvSpPr>
        <p:spPr>
          <a:xfrm rot="16200000">
            <a:off x="5912814" y="2610926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7665865-79BA-D297-B58F-342A1138FED4}"/>
              </a:ext>
            </a:extLst>
          </p:cNvPr>
          <p:cNvSpPr/>
          <p:nvPr/>
        </p:nvSpPr>
        <p:spPr>
          <a:xfrm>
            <a:off x="2171576" y="1931223"/>
            <a:ext cx="331433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kern="0" dirty="0">
                <a:solidFill>
                  <a:srgbClr val="EEECE1">
                    <a:lumMod val="2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Table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5EE97D8-FCCA-EFE8-B1F1-829FE52D6FA6}"/>
              </a:ext>
            </a:extLst>
          </p:cNvPr>
          <p:cNvSpPr txBox="1"/>
          <p:nvPr/>
        </p:nvSpPr>
        <p:spPr>
          <a:xfrm>
            <a:off x="459598" y="1419225"/>
            <a:ext cx="1177884" cy="2022918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91440" rIns="0" bIns="0" anchor="t" anchorCtr="1">
            <a:noAutofit/>
          </a:bodyPr>
          <a:lstStyle/>
          <a:p>
            <a:pPr lvl="0" algn="ctr" defTabSz="914400">
              <a:lnSpc>
                <a:spcPts val="1400"/>
              </a:lnSpc>
              <a:defRPr/>
            </a:pPr>
            <a:r>
              <a:rPr lang="en-US" altLang="zh-TW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Context</a:t>
            </a:r>
          </a:p>
          <a:p>
            <a:pPr lvl="0" algn="ctr" defTabSz="914400">
              <a:lnSpc>
                <a:spcPts val="1400"/>
              </a:lnSpc>
              <a:defRPr/>
            </a:pPr>
            <a:r>
              <a:rPr kumimoji="0" lang="en-US" altLang="zh-TW" sz="1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Window</a:t>
            </a:r>
          </a:p>
        </p:txBody>
      </p: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84563EBE-850A-D620-63EA-D770B3151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861754"/>
              </p:ext>
            </p:extLst>
          </p:nvPr>
        </p:nvGraphicFramePr>
        <p:xfrm>
          <a:off x="510153" y="1961291"/>
          <a:ext cx="1076774" cy="1422407"/>
        </p:xfrm>
        <a:graphic>
          <a:graphicData uri="http://schemas.openxmlformats.org/drawingml/2006/table">
            <a:tbl>
              <a:tblPr firstRow="1" bandRow="1"/>
              <a:tblGrid>
                <a:gridCol w="1076774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12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System Prompt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192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Historical Chat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6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User Input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60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9CE49632-E2B3-9A14-1AFF-880C934387F0}"/>
              </a:ext>
            </a:extLst>
          </p:cNvPr>
          <p:cNvSpPr/>
          <p:nvPr/>
        </p:nvSpPr>
        <p:spPr>
          <a:xfrm>
            <a:off x="1859225" y="3488983"/>
            <a:ext cx="956134" cy="61218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V =</a:t>
            </a:r>
          </a:p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0.1~0.2 M</a:t>
            </a:r>
          </a:p>
          <a:p>
            <a:pPr algn="ctr"/>
            <a:endParaRPr lang="en-US" altLang="zh-TW" sz="12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8EDE47E-047B-5E81-98E4-7ECA695870A2}"/>
              </a:ext>
            </a:extLst>
          </p:cNvPr>
          <p:cNvSpPr/>
          <p:nvPr/>
        </p:nvSpPr>
        <p:spPr>
          <a:xfrm>
            <a:off x="570859" y="3488983"/>
            <a:ext cx="956134" cy="61218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N =</a:t>
            </a:r>
          </a:p>
          <a:p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LLM: 0.5~1 M</a:t>
            </a:r>
          </a:p>
          <a:p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SLM: 128k</a:t>
            </a: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78040A24-6D90-4B8F-C907-253BE81AB927}"/>
              </a:ext>
            </a:extLst>
          </p:cNvPr>
          <p:cNvSpPr/>
          <p:nvPr/>
        </p:nvSpPr>
        <p:spPr>
          <a:xfrm>
            <a:off x="652337" y="3159284"/>
            <a:ext cx="788609" cy="19563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22225" cap="flat" cmpd="sng" algn="ctr">
            <a:solidFill>
              <a:srgbClr val="FF0000"/>
            </a:solidFill>
            <a:prstDash val="sysDash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word * 0.75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BFBACFB0-B5D0-B7BA-9578-AF715AD29298}"/>
              </a:ext>
            </a:extLst>
          </p:cNvPr>
          <p:cNvSpPr/>
          <p:nvPr/>
        </p:nvSpPr>
        <p:spPr>
          <a:xfrm>
            <a:off x="2610364" y="3170317"/>
            <a:ext cx="770163" cy="195634"/>
          </a:xfrm>
          <a:prstGeom prst="roundRect">
            <a:avLst/>
          </a:prstGeom>
          <a:solidFill>
            <a:schemeClr val="bg1">
              <a:alpha val="20000"/>
            </a:schemeClr>
          </a:solidFill>
          <a:ln w="22225" cap="flat" cmpd="sng" algn="ctr">
            <a:solidFill>
              <a:srgbClr val="FF0000"/>
            </a:solidFill>
            <a:prstDash val="sysDash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Token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id="{ED89053A-4839-901C-FBE5-6693EC09F81A}"/>
              </a:ext>
            </a:extLst>
          </p:cNvPr>
          <p:cNvCxnSpPr>
            <a:cxnSpLocks/>
            <a:stCxn id="89" idx="3"/>
            <a:endCxn id="98" idx="1"/>
          </p:cNvCxnSpPr>
          <p:nvPr/>
        </p:nvCxnSpPr>
        <p:spPr>
          <a:xfrm>
            <a:off x="1440946" y="3257102"/>
            <a:ext cx="1169418" cy="11032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6179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標題 1">
            <a:extLst>
              <a:ext uri="{FF2B5EF4-FFF2-40B4-BE49-F238E27FC236}">
                <a16:creationId xmlns:a16="http://schemas.microsoft.com/office/drawing/2014/main" id="{94F5F87C-BC4D-B82A-7CAF-D5B43ED969D5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784975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Rotary of Position Encoding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Relative Distance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as the Core Variable.</a:t>
            </a:r>
          </a:p>
        </p:txBody>
      </p: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8C7E34AB-7D5F-68EA-DD38-1D7FF5ADEE09}"/>
              </a:ext>
            </a:extLst>
          </p:cNvPr>
          <p:cNvGrpSpPr/>
          <p:nvPr/>
        </p:nvGrpSpPr>
        <p:grpSpPr>
          <a:xfrm>
            <a:off x="6206083" y="4324736"/>
            <a:ext cx="2699792" cy="2304257"/>
            <a:chOff x="6444208" y="1124743"/>
            <a:chExt cx="2699792" cy="2304257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646CC51-54EA-1EC5-0995-3D210339D5A5}"/>
                </a:ext>
              </a:extLst>
            </p:cNvPr>
            <p:cNvSpPr/>
            <p:nvPr/>
          </p:nvSpPr>
          <p:spPr>
            <a:xfrm>
              <a:off x="6444208" y="1124743"/>
              <a:ext cx="2334722" cy="230425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Sinusoidal Position Encoding</a:t>
              </a: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Rotary PE</a:t>
              </a: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No PE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Decoupling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PE Every where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CF543A38-AF43-073E-C195-6493F8F9E8F6}"/>
                    </a:ext>
                  </a:extLst>
                </p:cNvPr>
                <p:cNvSpPr txBox="1"/>
                <p:nvPr/>
              </p:nvSpPr>
              <p:spPr>
                <a:xfrm>
                  <a:off x="6588224" y="1305267"/>
                  <a:ext cx="2190706" cy="6115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altLang="zh-TW" sz="12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10000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type m:val="lin"/>
                                                  <m:ctrl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d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TW" sz="1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10000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type m:val="lin"/>
                                                  <m:ctrl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d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203740B3-4B05-83D5-5C0C-B157F945B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1305267"/>
                  <a:ext cx="2190706" cy="6115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BFF0786-64CA-A080-1A6A-6D5F0DE701B8}"/>
                    </a:ext>
                  </a:extLst>
                </p:cNvPr>
                <p:cNvSpPr txBox="1"/>
                <p:nvPr/>
              </p:nvSpPr>
              <p:spPr>
                <a:xfrm>
                  <a:off x="7700236" y="2771636"/>
                  <a:ext cx="107869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</m:t>
                        </m:r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  <m:d>
                          <m:dPr>
                            <m:ctrlP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⃑"/>
                                <m:ctrlPr>
                                  <a:rPr lang="en-US" altLang="zh-TW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</m:t>
                        </m:r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9D82930F-0234-77E2-D32F-85E5AACF1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0236" y="2771636"/>
                  <a:ext cx="1078694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085"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7344556-AA04-9462-D9C5-D3BB9BD72661}"/>
                    </a:ext>
                  </a:extLst>
                </p:cNvPr>
                <p:cNvSpPr txBox="1"/>
                <p:nvPr/>
              </p:nvSpPr>
              <p:spPr>
                <a:xfrm>
                  <a:off x="6588224" y="2060848"/>
                  <a:ext cx="2555776" cy="4552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RoPE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</m:d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1787CFAB-11BF-D57F-32EE-FE77C0DFD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2060848"/>
                  <a:ext cx="2555776" cy="455247"/>
                </a:xfrm>
                <a:prstGeom prst="rect">
                  <a:avLst/>
                </a:prstGeom>
                <a:blipFill>
                  <a:blip r:embed="rId10"/>
                  <a:stretch>
                    <a:fillRect l="-9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540E40-A99D-44BB-F1A9-DB4F3901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pPr/>
              <a:t>10</a:t>
            </a:fld>
            <a:endParaRPr lang="zh-TW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81533163-0383-683F-D124-085F6FB6A3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8239" y="1388281"/>
            <a:ext cx="1013846" cy="663084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EB4AC58-8A7B-C99B-5232-F9F586FA8F06}"/>
              </a:ext>
            </a:extLst>
          </p:cNvPr>
          <p:cNvSpPr/>
          <p:nvPr/>
        </p:nvSpPr>
        <p:spPr>
          <a:xfrm>
            <a:off x="1315812" y="2237482"/>
            <a:ext cx="757697" cy="115754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310E340-A692-76DE-FDA4-EC4320004E45}"/>
              </a:ext>
            </a:extLst>
          </p:cNvPr>
          <p:cNvSpPr txBox="1"/>
          <p:nvPr/>
        </p:nvSpPr>
        <p:spPr>
          <a:xfrm>
            <a:off x="2316847" y="2245021"/>
            <a:ext cx="749732" cy="115754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60000"/>
                  <a:lumOff val="40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EF6528E-A202-67EA-1FB2-0B150171832D}"/>
              </a:ext>
            </a:extLst>
          </p:cNvPr>
          <p:cNvSpPr txBox="1"/>
          <p:nvPr/>
        </p:nvSpPr>
        <p:spPr>
          <a:xfrm>
            <a:off x="3192895" y="2240605"/>
            <a:ext cx="1146156" cy="770384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9CE6A46-D99D-36FD-7F91-86E9E5DBD7AC}"/>
                  </a:ext>
                </a:extLst>
              </p:cNvPr>
              <p:cNvSpPr txBox="1"/>
              <p:nvPr/>
            </p:nvSpPr>
            <p:spPr>
              <a:xfrm>
                <a:off x="878611" y="3935108"/>
                <a:ext cx="3816421" cy="10187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9CE6A46-D99D-36FD-7F91-86E9E5DBD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11" y="3935108"/>
                <a:ext cx="3816421" cy="1018760"/>
              </a:xfrm>
              <a:prstGeom prst="rect">
                <a:avLst/>
              </a:prstGeom>
              <a:blipFill>
                <a:blip r:embed="rId12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7081521-90FA-C563-255F-7F5DE1B671D6}"/>
                  </a:ext>
                </a:extLst>
              </p:cNvPr>
              <p:cNvSpPr txBox="1"/>
              <p:nvPr/>
            </p:nvSpPr>
            <p:spPr>
              <a:xfrm>
                <a:off x="2005416" y="5603731"/>
                <a:ext cx="3068084" cy="3308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7081521-90FA-C563-255F-7F5DE1B67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416" y="5603731"/>
                <a:ext cx="3068084" cy="330860"/>
              </a:xfrm>
              <a:prstGeom prst="rect">
                <a:avLst/>
              </a:prstGeom>
              <a:blipFill>
                <a:blip r:embed="rId13"/>
                <a:stretch>
                  <a:fillRect t="-14545" b="-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01343C2-EA0C-D7FD-6A74-B6D975639A37}"/>
                  </a:ext>
                </a:extLst>
              </p:cNvPr>
              <p:cNvSpPr txBox="1"/>
              <p:nvPr/>
            </p:nvSpPr>
            <p:spPr>
              <a:xfrm>
                <a:off x="866336" y="4963186"/>
                <a:ext cx="4076197" cy="13777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az-Cyrl-AZ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=  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200" b="0" dirty="0">
                    <a:latin typeface="Cambria Math" panose="02040503050406030204" pitchFamily="18" charset="0"/>
                  </a:rPr>
                  <a:t>=  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zh-TW" sz="120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zh-TW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01343C2-EA0C-D7FD-6A74-B6D97563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36" y="4963186"/>
                <a:ext cx="4076197" cy="1377775"/>
              </a:xfrm>
              <a:prstGeom prst="rect">
                <a:avLst/>
              </a:prstGeom>
              <a:blipFill>
                <a:blip r:embed="rId14"/>
                <a:stretch>
                  <a:fillRect l="-2242" b="-17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57D9685A-2734-997B-C4C9-03DFB6FF7382}"/>
              </a:ext>
            </a:extLst>
          </p:cNvPr>
          <p:cNvSpPr/>
          <p:nvPr/>
        </p:nvSpPr>
        <p:spPr>
          <a:xfrm>
            <a:off x="1315812" y="1242713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FBAF8E58-255B-8297-8A6F-AFF3A6F5EEF6}"/>
                  </a:ext>
                </a:extLst>
              </p:cNvPr>
              <p:cNvSpPr txBox="1"/>
              <p:nvPr/>
            </p:nvSpPr>
            <p:spPr>
              <a:xfrm>
                <a:off x="2944211" y="3948686"/>
                <a:ext cx="2024523" cy="7703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TW" alt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FBAF8E58-255B-8297-8A6F-AFF3A6F5E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211" y="3948686"/>
                <a:ext cx="2024523" cy="770384"/>
              </a:xfrm>
              <a:prstGeom prst="rect">
                <a:avLst/>
              </a:prstGeom>
              <a:blipFill>
                <a:blip r:embed="rId15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8AFDACF-1F1C-6F6D-B078-646516CBBC1E}"/>
              </a:ext>
            </a:extLst>
          </p:cNvPr>
          <p:cNvCxnSpPr>
            <a:cxnSpLocks/>
          </p:cNvCxnSpPr>
          <p:nvPr/>
        </p:nvCxnSpPr>
        <p:spPr>
          <a:xfrm>
            <a:off x="2332522" y="2541057"/>
            <a:ext cx="649179" cy="0"/>
          </a:xfrm>
          <a:prstGeom prst="line">
            <a:avLst/>
          </a:prstGeom>
          <a:noFill/>
          <a:ln w="15875" cap="flat" cmpd="sng" algn="ctr">
            <a:solidFill>
              <a:srgbClr val="C0504D"/>
            </a:solidFill>
            <a:prstDash val="sysDash"/>
          </a:ln>
          <a:effectLst/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942B189-27F4-05F4-3D86-283694C3CEF9}"/>
              </a:ext>
            </a:extLst>
          </p:cNvPr>
          <p:cNvSpPr/>
          <p:nvPr/>
        </p:nvSpPr>
        <p:spPr>
          <a:xfrm>
            <a:off x="2696029" y="2349416"/>
            <a:ext cx="573704" cy="313929"/>
          </a:xfrm>
          <a:prstGeom prst="rect">
            <a:avLst/>
          </a:prstGeom>
          <a:solidFill>
            <a:schemeClr val="bg1">
              <a:lumMod val="95000"/>
              <a:alpha val="69804"/>
            </a:schemeClr>
          </a:solidFill>
          <a:ln w="3175" cap="flat" cmpd="sng" algn="ctr">
            <a:solidFill>
              <a:schemeClr val="accent5">
                <a:lumMod val="50000"/>
              </a:scheme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(q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1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, q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  <a:endParaRPr kumimoji="0" lang="zh-TW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F4ADBBC6-5924-4511-7618-8517B0676833}"/>
              </a:ext>
            </a:extLst>
          </p:cNvPr>
          <p:cNvCxnSpPr>
            <a:cxnSpLocks/>
          </p:cNvCxnSpPr>
          <p:nvPr/>
        </p:nvCxnSpPr>
        <p:spPr>
          <a:xfrm>
            <a:off x="4168878" y="2253025"/>
            <a:ext cx="0" cy="648072"/>
          </a:xfrm>
          <a:prstGeom prst="line">
            <a:avLst/>
          </a:prstGeom>
          <a:noFill/>
          <a:ln w="15875" cap="flat" cmpd="sng" algn="ctr">
            <a:solidFill>
              <a:schemeClr val="accent1"/>
            </a:solidFill>
            <a:prstDash val="sysDash"/>
          </a:ln>
          <a:effectLst/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9045A98-23FB-9E15-E470-1137FA63660B}"/>
              </a:ext>
            </a:extLst>
          </p:cNvPr>
          <p:cNvSpPr/>
          <p:nvPr/>
        </p:nvSpPr>
        <p:spPr>
          <a:xfrm rot="5400000">
            <a:off x="3902591" y="2807717"/>
            <a:ext cx="506116" cy="298931"/>
          </a:xfrm>
          <a:prstGeom prst="rect">
            <a:avLst/>
          </a:prstGeom>
          <a:solidFill>
            <a:schemeClr val="bg2">
              <a:alpha val="70000"/>
            </a:schemeClr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vert="horz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(k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1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, k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3684085-E604-1A4E-7F1D-ABE16F488DDA}"/>
              </a:ext>
            </a:extLst>
          </p:cNvPr>
          <p:cNvCxnSpPr/>
          <p:nvPr/>
        </p:nvCxnSpPr>
        <p:spPr>
          <a:xfrm>
            <a:off x="1907170" y="2028118"/>
            <a:ext cx="0" cy="14040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左大括弧 30">
            <a:extLst>
              <a:ext uri="{FF2B5EF4-FFF2-40B4-BE49-F238E27FC236}">
                <a16:creationId xmlns:a16="http://schemas.microsoft.com/office/drawing/2014/main" id="{E06171A9-B3B7-4CF4-EEF3-3075CBDDA1F4}"/>
              </a:ext>
            </a:extLst>
          </p:cNvPr>
          <p:cNvSpPr/>
          <p:nvPr/>
        </p:nvSpPr>
        <p:spPr>
          <a:xfrm>
            <a:off x="1148507" y="3173619"/>
            <a:ext cx="143011" cy="236115"/>
          </a:xfrm>
          <a:prstGeom prst="leftBrace">
            <a:avLst>
              <a:gd name="adj1" fmla="val 8641"/>
              <a:gd name="adj2" fmla="val 31076"/>
            </a:avLst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2C9DC6B-B786-CE8A-5117-BBE828D0D5D8}"/>
              </a:ext>
            </a:extLst>
          </p:cNvPr>
          <p:cNvCxnSpPr>
            <a:cxnSpLocks/>
          </p:cNvCxnSpPr>
          <p:nvPr/>
        </p:nvCxnSpPr>
        <p:spPr>
          <a:xfrm>
            <a:off x="1101051" y="2532174"/>
            <a:ext cx="845194" cy="0"/>
          </a:xfrm>
          <a:prstGeom prst="line">
            <a:avLst/>
          </a:prstGeom>
          <a:ln w="158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左大括弧 32">
            <a:extLst>
              <a:ext uri="{FF2B5EF4-FFF2-40B4-BE49-F238E27FC236}">
                <a16:creationId xmlns:a16="http://schemas.microsoft.com/office/drawing/2014/main" id="{8FC926FA-DFF9-795C-99C0-ABA7A0DEC06A}"/>
              </a:ext>
            </a:extLst>
          </p:cNvPr>
          <p:cNvSpPr/>
          <p:nvPr/>
        </p:nvSpPr>
        <p:spPr>
          <a:xfrm>
            <a:off x="900698" y="2531572"/>
            <a:ext cx="179098" cy="880521"/>
          </a:xfrm>
          <a:prstGeom prst="leftBrace">
            <a:avLst>
              <a:gd name="adj1" fmla="val 8333"/>
              <a:gd name="adj2" fmla="val 14793"/>
            </a:avLst>
          </a:prstGeom>
          <a:ln w="15875">
            <a:solidFill>
              <a:srgbClr val="E1AC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2BBD026-FCDB-0121-A010-825AF04F02D5}"/>
              </a:ext>
            </a:extLst>
          </p:cNvPr>
          <p:cNvSpPr/>
          <p:nvPr/>
        </p:nvSpPr>
        <p:spPr>
          <a:xfrm>
            <a:off x="1776752" y="1912256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35" name="左大括弧 34">
            <a:extLst>
              <a:ext uri="{FF2B5EF4-FFF2-40B4-BE49-F238E27FC236}">
                <a16:creationId xmlns:a16="http://schemas.microsoft.com/office/drawing/2014/main" id="{F9FBB7E5-BF12-07CD-C4FD-79EA7F89A642}"/>
              </a:ext>
            </a:extLst>
          </p:cNvPr>
          <p:cNvSpPr/>
          <p:nvPr/>
        </p:nvSpPr>
        <p:spPr>
          <a:xfrm rot="5400000">
            <a:off x="1605356" y="1734564"/>
            <a:ext cx="189220" cy="757698"/>
          </a:xfrm>
          <a:prstGeom prst="leftBrace">
            <a:avLst>
              <a:gd name="adj1" fmla="val 8333"/>
              <a:gd name="adj2" fmla="val 3833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0F53AA67-D2DE-4C60-28BD-151A2C393A43}"/>
              </a:ext>
            </a:extLst>
          </p:cNvPr>
          <p:cNvCxnSpPr>
            <a:cxnSpLocks/>
          </p:cNvCxnSpPr>
          <p:nvPr/>
        </p:nvCxnSpPr>
        <p:spPr>
          <a:xfrm>
            <a:off x="1261562" y="3163958"/>
            <a:ext cx="596108" cy="0"/>
          </a:xfrm>
          <a:prstGeom prst="line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40CF8903-51FD-69B2-CE45-20308F0CB068}"/>
              </a:ext>
            </a:extLst>
          </p:cNvPr>
          <p:cNvSpPr/>
          <p:nvPr/>
        </p:nvSpPr>
        <p:spPr>
          <a:xfrm>
            <a:off x="1091615" y="3038991"/>
            <a:ext cx="122762" cy="1717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8B30C85C-C435-C93B-F541-6782B536F08F}"/>
                  </a:ext>
                </a:extLst>
              </p:cNvPr>
              <p:cNvSpPr/>
              <p:nvPr/>
            </p:nvSpPr>
            <p:spPr>
              <a:xfrm>
                <a:off x="1663453" y="2403052"/>
                <a:ext cx="356092" cy="230097"/>
              </a:xfrm>
              <a:prstGeom prst="rect">
                <a:avLst/>
              </a:prstGeom>
              <a:solidFill>
                <a:srgbClr val="F2DCDB">
                  <a:alpha val="70000"/>
                </a:srgbClr>
              </a:solidFill>
              <a:ln w="3175" cap="flat" cmpd="sng" algn="ctr">
                <a:solidFill>
                  <a:schemeClr val="accent5">
                    <a:lumMod val="50000"/>
                  </a:schemeClr>
                </a:solidFill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+mn-cs"/>
                            </a:rPr>
                            <m:t>𝒒</m:t>
                          </m:r>
                        </m:e>
                      </m:acc>
                    </m:oMath>
                  </m:oMathPara>
                </a14:m>
                <a:endParaRPr kumimoji="0" lang="zh-TW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8B30C85C-C435-C93B-F541-6782B536F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453" y="2403052"/>
                <a:ext cx="356092" cy="230097"/>
              </a:xfrm>
              <a:prstGeom prst="rect">
                <a:avLst/>
              </a:prstGeom>
              <a:blipFill>
                <a:blip r:embed="rId16"/>
                <a:stretch>
                  <a:fillRect b="-15385"/>
                </a:stretch>
              </a:blipFill>
              <a:ln w="3175" cap="flat" cmpd="sng" algn="ctr">
                <a:solidFill>
                  <a:schemeClr val="accent5">
                    <a:lumMod val="50000"/>
                  </a:schemeClr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A432975-4C22-0873-9953-A39CD9B027E4}"/>
                  </a:ext>
                </a:extLst>
              </p:cNvPr>
              <p:cNvSpPr/>
              <p:nvPr/>
            </p:nvSpPr>
            <p:spPr>
              <a:xfrm>
                <a:off x="1664134" y="3024563"/>
                <a:ext cx="356092" cy="22411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40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⃑"/>
                          <m:ctrlP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</m:ctrlPr>
                        </m:accPr>
                        <m:e>
                          <m:r>
                            <a:rPr kumimoji="0" lang="en-US" altLang="zh-TW" sz="14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  <m:t>𝒌</m:t>
                          </m:r>
                        </m:e>
                      </m:acc>
                    </m:oMath>
                  </m:oMathPara>
                </a14:m>
                <a:endPara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A432975-4C22-0873-9953-A39CD9B027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34" y="3024563"/>
                <a:ext cx="356092" cy="224119"/>
              </a:xfrm>
              <a:prstGeom prst="rect">
                <a:avLst/>
              </a:prstGeom>
              <a:blipFill>
                <a:blip r:embed="rId17"/>
                <a:stretch>
                  <a:fillRect b="-10526"/>
                </a:stretch>
              </a:blipFill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21674C8A-C7BA-E9E5-5967-59D39F56DCF2}"/>
              </a:ext>
            </a:extLst>
          </p:cNvPr>
          <p:cNvSpPr/>
          <p:nvPr/>
        </p:nvSpPr>
        <p:spPr>
          <a:xfrm>
            <a:off x="795369" y="2424865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E5236A00-B1C7-099A-342A-8CC91BA8EC33}"/>
              </a:ext>
            </a:extLst>
          </p:cNvPr>
          <p:cNvSpPr/>
          <p:nvPr/>
        </p:nvSpPr>
        <p:spPr>
          <a:xfrm>
            <a:off x="3086457" y="1242713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QK</a:t>
            </a:r>
            <a:r>
              <a:rPr kumimoji="0" lang="en-US" altLang="zh-TW" sz="1600" b="0" i="0" u="none" strike="noStrike" kern="0" cap="none" spc="0" normalizeH="0" baseline="30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endParaRPr kumimoji="0" lang="zh-TW" altLang="en-US" sz="16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C69DA95F-CA32-BED7-FB54-8DA4CF3D8CA8}"/>
                  </a:ext>
                </a:extLst>
              </p:cNvPr>
              <p:cNvSpPr txBox="1"/>
              <p:nvPr/>
            </p:nvSpPr>
            <p:spPr>
              <a:xfrm>
                <a:off x="1825018" y="1509868"/>
                <a:ext cx="857191" cy="3758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zh-TW" alt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C69DA95F-CA32-BED7-FB54-8DA4CF3D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18" y="1509868"/>
                <a:ext cx="857191" cy="37585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接點: 弧形 42">
            <a:extLst>
              <a:ext uri="{FF2B5EF4-FFF2-40B4-BE49-F238E27FC236}">
                <a16:creationId xmlns:a16="http://schemas.microsoft.com/office/drawing/2014/main" id="{8DE66EDC-5CC0-D07E-8237-815189F741E5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3269733" y="2506381"/>
            <a:ext cx="885916" cy="197744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2530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FF829-A259-787E-1396-D0404479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01" name="標題 1">
            <a:extLst>
              <a:ext uri="{FF2B5EF4-FFF2-40B4-BE49-F238E27FC236}">
                <a16:creationId xmlns:a16="http://schemas.microsoft.com/office/drawing/2014/main" id="{B563DD38-8FFD-BDCD-3257-DF6FFE64DE0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278688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Summary: GPT Program Flow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Tokenizer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Embeddings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Positional Encoding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Self-Attention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FFN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Linear Projection</a:t>
            </a:r>
            <a:endParaRPr lang="en-US" altLang="zh-TW" sz="1200" dirty="0">
              <a:solidFill>
                <a:prstClr val="black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Wingdings" panose="05000000000000000000" pitchFamily="2" charset="2"/>
            </a:endParaRPr>
          </a:p>
        </p:txBody>
      </p:sp>
      <p:sp>
        <p:nvSpPr>
          <p:cNvPr id="102" name="左中括弧 101">
            <a:extLst>
              <a:ext uri="{FF2B5EF4-FFF2-40B4-BE49-F238E27FC236}">
                <a16:creationId xmlns:a16="http://schemas.microsoft.com/office/drawing/2014/main" id="{6C7BE2AE-0E14-4220-F353-6524946BDC2B}"/>
              </a:ext>
            </a:extLst>
          </p:cNvPr>
          <p:cNvSpPr/>
          <p:nvPr/>
        </p:nvSpPr>
        <p:spPr>
          <a:xfrm rot="16200000">
            <a:off x="5809825" y="2767240"/>
            <a:ext cx="54557" cy="1522095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78C2A0-DBBF-513A-9DAC-8E14E021C6D8}"/>
              </a:ext>
            </a:extLst>
          </p:cNvPr>
          <p:cNvSpPr/>
          <p:nvPr/>
        </p:nvSpPr>
        <p:spPr>
          <a:xfrm>
            <a:off x="2044376" y="1844824"/>
            <a:ext cx="2600671" cy="1886806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07207FFA-F70D-ECA2-F18F-0F21A3A501E1}"/>
              </a:ext>
            </a:extLst>
          </p:cNvPr>
          <p:cNvSpPr txBox="1"/>
          <p:nvPr/>
        </p:nvSpPr>
        <p:spPr>
          <a:xfrm>
            <a:off x="1829216" y="2413662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6DDB484-F49A-E9E9-2629-AC7BB53B905F}"/>
              </a:ext>
            </a:extLst>
          </p:cNvPr>
          <p:cNvSpPr/>
          <p:nvPr/>
        </p:nvSpPr>
        <p:spPr>
          <a:xfrm>
            <a:off x="1227362" y="2074471"/>
            <a:ext cx="331433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960FDA6A-1437-ACCC-F9ED-CDA537514B1E}"/>
              </a:ext>
            </a:extLst>
          </p:cNvPr>
          <p:cNvSpPr txBox="1"/>
          <p:nvPr/>
        </p:nvSpPr>
        <p:spPr>
          <a:xfrm>
            <a:off x="899592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Lookup Table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Token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Embedding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0518053-DF53-4954-4FF3-FC67CF61DA89}"/>
              </a:ext>
            </a:extLst>
          </p:cNvPr>
          <p:cNvSpPr/>
          <p:nvPr/>
        </p:nvSpPr>
        <p:spPr>
          <a:xfrm>
            <a:off x="1847957" y="258714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2AD986F-03DD-E363-7D28-A660D28ECC61}"/>
              </a:ext>
            </a:extLst>
          </p:cNvPr>
          <p:cNvSpPr/>
          <p:nvPr/>
        </p:nvSpPr>
        <p:spPr>
          <a:xfrm>
            <a:off x="2268973" y="2193895"/>
            <a:ext cx="274320" cy="27432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q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DB160FD-6498-A9B6-7EFD-DE3AABE79E99}"/>
              </a:ext>
            </a:extLst>
          </p:cNvPr>
          <p:cNvSpPr/>
          <p:nvPr/>
        </p:nvSpPr>
        <p:spPr>
          <a:xfrm>
            <a:off x="2269426" y="2684303"/>
            <a:ext cx="274320" cy="27432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k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0A96879C-7B6C-69AE-E774-5D6020A28F29}"/>
              </a:ext>
            </a:extLst>
          </p:cNvPr>
          <p:cNvSpPr txBox="1"/>
          <p:nvPr/>
        </p:nvSpPr>
        <p:spPr>
          <a:xfrm>
            <a:off x="2585701" y="2239615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81251D43-B5DB-02FE-4BF1-BA8E7AB4A618}"/>
              </a:ext>
            </a:extLst>
          </p:cNvPr>
          <p:cNvSpPr txBox="1"/>
          <p:nvPr/>
        </p:nvSpPr>
        <p:spPr>
          <a:xfrm>
            <a:off x="2117248" y="2239615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130D7550-CA57-50B0-785E-580395FE2964}"/>
              </a:ext>
            </a:extLst>
          </p:cNvPr>
          <p:cNvSpPr txBox="1"/>
          <p:nvPr/>
        </p:nvSpPr>
        <p:spPr>
          <a:xfrm>
            <a:off x="2117701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DCA08AA6-D8A1-65EB-01BE-474FFD8B3F9D}"/>
              </a:ext>
            </a:extLst>
          </p:cNvPr>
          <p:cNvSpPr txBox="1"/>
          <p:nvPr/>
        </p:nvSpPr>
        <p:spPr>
          <a:xfrm>
            <a:off x="2586154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5021691D-CF20-D07A-E043-E86E318C395C}"/>
              </a:ext>
            </a:extLst>
          </p:cNvPr>
          <p:cNvSpPr txBox="1"/>
          <p:nvPr/>
        </p:nvSpPr>
        <p:spPr>
          <a:xfrm>
            <a:off x="2779032" y="2057185"/>
            <a:ext cx="274320" cy="45720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60000"/>
                  <a:lumOff val="40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7B24DC3-D1AE-2BF8-323A-3BFC79280B25}"/>
              </a:ext>
            </a:extLst>
          </p:cNvPr>
          <p:cNvSpPr txBox="1"/>
          <p:nvPr/>
        </p:nvSpPr>
        <p:spPr>
          <a:xfrm>
            <a:off x="2779032" y="2587144"/>
            <a:ext cx="274320" cy="45720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718ACDAE-8271-97B5-CABF-19A7F07F7B84}"/>
              </a:ext>
            </a:extLst>
          </p:cNvPr>
          <p:cNvSpPr txBox="1"/>
          <p:nvPr/>
        </p:nvSpPr>
        <p:spPr>
          <a:xfrm>
            <a:off x="2268973" y="2049879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EA69F7DF-E98F-A3E3-C26C-0B544D741552}"/>
              </a:ext>
            </a:extLst>
          </p:cNvPr>
          <p:cNvSpPr txBox="1"/>
          <p:nvPr/>
        </p:nvSpPr>
        <p:spPr>
          <a:xfrm>
            <a:off x="1230971" y="191741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165DD595-A472-F32B-BBB4-ACF6AEDC5FF3}"/>
              </a:ext>
            </a:extLst>
          </p:cNvPr>
          <p:cNvSpPr txBox="1"/>
          <p:nvPr/>
        </p:nvSpPr>
        <p:spPr>
          <a:xfrm>
            <a:off x="2765320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8BD4A62E-6C82-0292-7880-68793283CA80}"/>
              </a:ext>
            </a:extLst>
          </p:cNvPr>
          <p:cNvSpPr/>
          <p:nvPr/>
        </p:nvSpPr>
        <p:spPr>
          <a:xfrm>
            <a:off x="3205986" y="2329243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QK</a:t>
            </a:r>
            <a:r>
              <a:rPr kumimoji="0" lang="en-US" altLang="zh-TW" sz="1600" b="0" i="0" u="none" strike="noStrike" kern="0" cap="none" spc="0" normalizeH="0" baseline="30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endParaRPr kumimoji="0" lang="zh-TW" altLang="en-US" sz="16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0" name="直角三角形 119">
            <a:extLst>
              <a:ext uri="{FF2B5EF4-FFF2-40B4-BE49-F238E27FC236}">
                <a16:creationId xmlns:a16="http://schemas.microsoft.com/office/drawing/2014/main" id="{191780F7-FFDF-EE5A-F3AE-9D866C9AC015}"/>
              </a:ext>
            </a:extLst>
          </p:cNvPr>
          <p:cNvSpPr/>
          <p:nvPr/>
        </p:nvSpPr>
        <p:spPr>
          <a:xfrm rot="16200000" flipH="1">
            <a:off x="3300194" y="2380361"/>
            <a:ext cx="320040" cy="320040"/>
          </a:xfrm>
          <a:prstGeom prst="rtTriangle">
            <a:avLst/>
          </a:prstGeom>
          <a:solidFill>
            <a:sysClr val="window" lastClr="FFFFFF">
              <a:alpha val="60000"/>
            </a:sysClr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vert="ea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EFD97003-F68B-D5CD-A342-5BCA50EEA786}"/>
              </a:ext>
            </a:extLst>
          </p:cNvPr>
          <p:cNvSpPr txBox="1"/>
          <p:nvPr/>
        </p:nvSpPr>
        <p:spPr>
          <a:xfrm>
            <a:off x="2727097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Transformer</a:t>
            </a:r>
          </a:p>
          <a:p>
            <a:pPr algn="ctr" defTabSz="914400"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Attention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+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MoE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FA682E90-AE6B-8A42-D7F2-9FFA1DDEB845}"/>
              </a:ext>
            </a:extLst>
          </p:cNvPr>
          <p:cNvSpPr/>
          <p:nvPr/>
        </p:nvSpPr>
        <p:spPr>
          <a:xfrm>
            <a:off x="5138137" y="2276900"/>
            <a:ext cx="306987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60000"/>
            </a:srgbClr>
          </a:solidFill>
          <a:ln w="254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Transformer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E779756-E096-61B7-A29A-38D92FA9E2BF}"/>
              </a:ext>
            </a:extLst>
          </p:cNvPr>
          <p:cNvSpPr/>
          <p:nvPr/>
        </p:nvSpPr>
        <p:spPr>
          <a:xfrm>
            <a:off x="4882772" y="2583683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4689ABA7-D87D-FB83-D198-5782CDEAD3B8}"/>
              </a:ext>
            </a:extLst>
          </p:cNvPr>
          <p:cNvSpPr/>
          <p:nvPr/>
        </p:nvSpPr>
        <p:spPr>
          <a:xfrm>
            <a:off x="3746381" y="2329242"/>
            <a:ext cx="204837" cy="457201"/>
          </a:xfrm>
          <a:prstGeom prst="round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v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5" name="箭號: 向下 124">
            <a:extLst>
              <a:ext uri="{FF2B5EF4-FFF2-40B4-BE49-F238E27FC236}">
                <a16:creationId xmlns:a16="http://schemas.microsoft.com/office/drawing/2014/main" id="{334B6D17-F233-46FB-020A-BB07C332CE28}"/>
              </a:ext>
            </a:extLst>
          </p:cNvPr>
          <p:cNvSpPr/>
          <p:nvPr/>
        </p:nvSpPr>
        <p:spPr>
          <a:xfrm rot="16200000">
            <a:off x="4720531" y="2689809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C5A5F59-5126-A6DE-3BDC-E55C90660DEE}"/>
              </a:ext>
            </a:extLst>
          </p:cNvPr>
          <p:cNvSpPr txBox="1"/>
          <p:nvPr/>
        </p:nvSpPr>
        <p:spPr>
          <a:xfrm>
            <a:off x="3288162" y="216357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N*N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D4594187-FADA-D3C7-D52E-3264BE908F24}"/>
              </a:ext>
            </a:extLst>
          </p:cNvPr>
          <p:cNvSpPr txBox="1"/>
          <p:nvPr/>
        </p:nvSpPr>
        <p:spPr>
          <a:xfrm>
            <a:off x="3701286" y="2166177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E82EC3A1-29BC-BB7E-B517-1081B84240B0}"/>
              </a:ext>
            </a:extLst>
          </p:cNvPr>
          <p:cNvSpPr/>
          <p:nvPr/>
        </p:nvSpPr>
        <p:spPr>
          <a:xfrm>
            <a:off x="5714202" y="2276900"/>
            <a:ext cx="228750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40000"/>
            </a:srgbClr>
          </a:solidFill>
          <a:ln w="25400" cap="flat" cmpd="sng" algn="ctr">
            <a:solidFill>
              <a:srgbClr val="F79646">
                <a:lumMod val="40000"/>
                <a:lumOff val="60000"/>
                <a:alpha val="40000"/>
              </a:srgbClr>
            </a:solidFill>
            <a:prstDash val="solid"/>
          </a:ln>
          <a:effectLst/>
        </p:spPr>
        <p:txBody>
          <a:bodyPr vert="vert" wrap="none" lIns="18288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D9E8BA6-1FC2-5DA2-D09E-5FCC7D6A3981}"/>
              </a:ext>
            </a:extLst>
          </p:cNvPr>
          <p:cNvSpPr/>
          <p:nvPr/>
        </p:nvSpPr>
        <p:spPr>
          <a:xfrm>
            <a:off x="5576414" y="2583684"/>
            <a:ext cx="228750" cy="457200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 cap="flat" cmpd="sng" algn="ctr">
            <a:solidFill>
              <a:sysClr val="window" lastClr="FFFFFF">
                <a:lumMod val="75000"/>
                <a:alpha val="4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0" name="箭號: 向下 129">
            <a:extLst>
              <a:ext uri="{FF2B5EF4-FFF2-40B4-BE49-F238E27FC236}">
                <a16:creationId xmlns:a16="http://schemas.microsoft.com/office/drawing/2014/main" id="{D3E587B8-DDF2-8848-A7C3-9F30486FA198}"/>
              </a:ext>
            </a:extLst>
          </p:cNvPr>
          <p:cNvSpPr/>
          <p:nvPr/>
        </p:nvSpPr>
        <p:spPr>
          <a:xfrm rot="16200000">
            <a:off x="5512619" y="2693436"/>
            <a:ext cx="216022" cy="225052"/>
          </a:xfrm>
          <a:prstGeom prst="downArrow">
            <a:avLst/>
          </a:prstGeom>
          <a:solidFill>
            <a:srgbClr val="C0504D">
              <a:alpha val="50000"/>
            </a:srgbClr>
          </a:solidFill>
          <a:ln w="12700" cap="flat" cmpd="sng" algn="ctr">
            <a:solidFill>
              <a:srgbClr val="C0504D">
                <a:lumMod val="50000"/>
                <a:alpha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1" name="矩形: 圓角 130">
            <a:extLst>
              <a:ext uri="{FF2B5EF4-FFF2-40B4-BE49-F238E27FC236}">
                <a16:creationId xmlns:a16="http://schemas.microsoft.com/office/drawing/2014/main" id="{BB9F8772-EB24-A9AC-5C1C-341F47A3879E}"/>
              </a:ext>
            </a:extLst>
          </p:cNvPr>
          <p:cNvSpPr/>
          <p:nvPr/>
        </p:nvSpPr>
        <p:spPr>
          <a:xfrm>
            <a:off x="6080470" y="2286962"/>
            <a:ext cx="228750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60000"/>
            </a:srgbClr>
          </a:solidFill>
          <a:ln w="254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254F352-7C81-BBEF-3522-943DE4A699C9}"/>
              </a:ext>
            </a:extLst>
          </p:cNvPr>
          <p:cNvSpPr/>
          <p:nvPr/>
        </p:nvSpPr>
        <p:spPr>
          <a:xfrm>
            <a:off x="6381228" y="2583683"/>
            <a:ext cx="22875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3" name="箭號: 向下 132">
            <a:extLst>
              <a:ext uri="{FF2B5EF4-FFF2-40B4-BE49-F238E27FC236}">
                <a16:creationId xmlns:a16="http://schemas.microsoft.com/office/drawing/2014/main" id="{0A03440C-385E-ED27-FB04-89F9FC7FE771}"/>
              </a:ext>
            </a:extLst>
          </p:cNvPr>
          <p:cNvSpPr/>
          <p:nvPr/>
        </p:nvSpPr>
        <p:spPr>
          <a:xfrm rot="16200000">
            <a:off x="6241727" y="2693435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17308CA-DC2C-E2BC-A786-05392CA097C6}"/>
              </a:ext>
            </a:extLst>
          </p:cNvPr>
          <p:cNvSpPr txBox="1"/>
          <p:nvPr/>
        </p:nvSpPr>
        <p:spPr>
          <a:xfrm>
            <a:off x="5436192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L</a:t>
            </a:r>
            <a:r>
              <a:rPr lang="zh-TW" altLang="en-US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 </a:t>
            </a:r>
            <a:r>
              <a:rPr lang="en-US" altLang="zh-TW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x Layers</a:t>
            </a:r>
            <a:b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</a:b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(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)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 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n+1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7AD833F0-7670-4675-9EDE-22395D0DD93C}"/>
              </a:ext>
            </a:extLst>
          </p:cNvPr>
          <p:cNvSpPr/>
          <p:nvPr/>
        </p:nvSpPr>
        <p:spPr>
          <a:xfrm>
            <a:off x="6381228" y="2977599"/>
            <a:ext cx="228750" cy="152400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594904AF-F42D-42CA-7762-9BCDEDF70A1A}"/>
              </a:ext>
            </a:extLst>
          </p:cNvPr>
          <p:cNvSpPr txBox="1"/>
          <p:nvPr/>
        </p:nvSpPr>
        <p:spPr>
          <a:xfrm>
            <a:off x="7159259" y="2409919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CAA7D0C2-DBB6-95F2-9605-1EFAF77D91F4}"/>
              </a:ext>
            </a:extLst>
          </p:cNvPr>
          <p:cNvSpPr txBox="1"/>
          <p:nvPr/>
        </p:nvSpPr>
        <p:spPr>
          <a:xfrm>
            <a:off x="7087251" y="2716633"/>
            <a:ext cx="150244" cy="21515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0410A48-7EF1-1463-2F18-4D786A16ECB3}"/>
              </a:ext>
            </a:extLst>
          </p:cNvPr>
          <p:cNvSpPr/>
          <p:nvPr/>
        </p:nvSpPr>
        <p:spPr>
          <a:xfrm>
            <a:off x="6727211" y="2079502"/>
            <a:ext cx="362588" cy="1482545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</a:t>
            </a:r>
            <a:endParaRPr kumimoji="0" lang="en-US" altLang="zh-TW" sz="1400" b="1" i="0" u="none" strike="noStrike" kern="0" cap="none" spc="0" normalizeH="0" baseline="-2500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alibri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C942FF4-814B-5453-D7AD-BB6BF71B2348}"/>
              </a:ext>
            </a:extLst>
          </p:cNvPr>
          <p:cNvSpPr/>
          <p:nvPr/>
        </p:nvSpPr>
        <p:spPr>
          <a:xfrm rot="5400000">
            <a:off x="7187641" y="2758923"/>
            <a:ext cx="228750" cy="12904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F9E9BC4C-DE91-0289-BB39-882E787ED183}"/>
              </a:ext>
            </a:extLst>
          </p:cNvPr>
          <p:cNvSpPr txBox="1"/>
          <p:nvPr/>
        </p:nvSpPr>
        <p:spPr>
          <a:xfrm>
            <a:off x="6761974" y="1915940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1" name="接點: 弧形 140">
            <a:extLst>
              <a:ext uri="{FF2B5EF4-FFF2-40B4-BE49-F238E27FC236}">
                <a16:creationId xmlns:a16="http://schemas.microsoft.com/office/drawing/2014/main" id="{7CA45828-DDFD-0BBB-2006-4AECB82499D2}"/>
              </a:ext>
            </a:extLst>
          </p:cNvPr>
          <p:cNvCxnSpPr>
            <a:cxnSpLocks/>
            <a:endCxn id="139" idx="3"/>
          </p:cNvCxnSpPr>
          <p:nvPr/>
        </p:nvCxnSpPr>
        <p:spPr>
          <a:xfrm flipV="1">
            <a:off x="6674409" y="2937819"/>
            <a:ext cx="627607" cy="115980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71D564ED-4CAA-26BC-AA35-C444AEE8B66A}"/>
              </a:ext>
            </a:extLst>
          </p:cNvPr>
          <p:cNvSpPr/>
          <p:nvPr/>
        </p:nvSpPr>
        <p:spPr>
          <a:xfrm>
            <a:off x="7814908" y="2071010"/>
            <a:ext cx="99043" cy="1482545"/>
          </a:xfrm>
          <a:prstGeom prst="rect">
            <a:avLst/>
          </a:prstGeom>
          <a:solidFill>
            <a:srgbClr val="EEECE1">
              <a:lumMod val="90000"/>
              <a:alpha val="6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Prob.</a:t>
            </a: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8E3D7F0E-3949-4CEA-49F2-CDDE7927C373}"/>
              </a:ext>
            </a:extLst>
          </p:cNvPr>
          <p:cNvSpPr txBox="1"/>
          <p:nvPr/>
        </p:nvSpPr>
        <p:spPr>
          <a:xfrm>
            <a:off x="7092280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Linear Projection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  <a:p>
            <a:pPr algn="ctr" defTabSz="914400"/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Semantic space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Next token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7766FF86-F9A4-4DDB-D6B6-BFD79C57D9BB}"/>
              </a:ext>
            </a:extLst>
          </p:cNvPr>
          <p:cNvSpPr/>
          <p:nvPr/>
        </p:nvSpPr>
        <p:spPr>
          <a:xfrm>
            <a:off x="8244408" y="2074471"/>
            <a:ext cx="324184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A5BF74E6-3F48-29D6-B214-C7E973280024}"/>
              </a:ext>
            </a:extLst>
          </p:cNvPr>
          <p:cNvSpPr txBox="1"/>
          <p:nvPr/>
        </p:nvSpPr>
        <p:spPr>
          <a:xfrm>
            <a:off x="8275531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9FCCE0DD-5CA9-22CD-5F5F-E529B55F1038}"/>
              </a:ext>
            </a:extLst>
          </p:cNvPr>
          <p:cNvSpPr txBox="1"/>
          <p:nvPr/>
        </p:nvSpPr>
        <p:spPr>
          <a:xfrm>
            <a:off x="7728346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4F46C5E8-9DE8-83DE-E796-6C3E96830725}"/>
              </a:ext>
            </a:extLst>
          </p:cNvPr>
          <p:cNvSpPr txBox="1"/>
          <p:nvPr/>
        </p:nvSpPr>
        <p:spPr>
          <a:xfrm>
            <a:off x="533072" y="2071010"/>
            <a:ext cx="352519" cy="15023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D5106F2-50C1-B72E-B5E8-D3979269025C}"/>
              </a:ext>
            </a:extLst>
          </p:cNvPr>
          <p:cNvSpPr/>
          <p:nvPr/>
        </p:nvSpPr>
        <p:spPr>
          <a:xfrm>
            <a:off x="3779912" y="318782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EEFE9063-5ECF-4451-CDAD-AC32BB8C504B}"/>
              </a:ext>
            </a:extLst>
          </p:cNvPr>
          <p:cNvSpPr txBox="1"/>
          <p:nvPr/>
        </p:nvSpPr>
        <p:spPr>
          <a:xfrm>
            <a:off x="3923928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C0504D"/>
                </a:solidFill>
                <a:latin typeface="Calibri"/>
              </a:rPr>
              <a:t>Residual</a:t>
            </a:r>
          </a:p>
          <a:p>
            <a:pPr algn="ctr" defTabSz="914400"/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Add(R,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)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 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n+1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31105476-8E09-C789-C93D-91988A677EBC}"/>
              </a:ext>
            </a:extLst>
          </p:cNvPr>
          <p:cNvSpPr txBox="1"/>
          <p:nvPr/>
        </p:nvSpPr>
        <p:spPr>
          <a:xfrm>
            <a:off x="7445840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CAEB37E-C6EC-F4A0-2795-42D139C983BB}"/>
              </a:ext>
            </a:extLst>
          </p:cNvPr>
          <p:cNvSpPr/>
          <p:nvPr/>
        </p:nvSpPr>
        <p:spPr>
          <a:xfrm>
            <a:off x="8259970" y="3238946"/>
            <a:ext cx="293060" cy="15752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Max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4E9A446F-5611-1D65-F414-7BD7124B9669}"/>
              </a:ext>
            </a:extLst>
          </p:cNvPr>
          <p:cNvSpPr/>
          <p:nvPr/>
        </p:nvSpPr>
        <p:spPr>
          <a:xfrm>
            <a:off x="2123840" y="1196816"/>
            <a:ext cx="1008000" cy="576000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RMS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Attention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 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kern="0" dirty="0">
                <a:solidFill>
                  <a:srgbClr val="1F497D"/>
                </a:solidFill>
                <a:latin typeface="Calibri"/>
                <a:ea typeface="微軟正黑體" panose="020B0604030504040204" pitchFamily="34" charset="-120"/>
              </a:rPr>
              <a:t>MHA</a:t>
            </a: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3042F47-62AC-9EEF-7B42-718943008C61}"/>
              </a:ext>
            </a:extLst>
          </p:cNvPr>
          <p:cNvSpPr/>
          <p:nvPr/>
        </p:nvSpPr>
        <p:spPr>
          <a:xfrm>
            <a:off x="3384044" y="1196816"/>
            <a:ext cx="1008000" cy="576000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RMS 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FFN(X, A, U, D)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 = R + X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858DDC7D-1778-B993-0F26-615DEC3E61E1}"/>
              </a:ext>
            </a:extLst>
          </p:cNvPr>
          <p:cNvSpPr/>
          <p:nvPr/>
        </p:nvSpPr>
        <p:spPr>
          <a:xfrm>
            <a:off x="1115616" y="1196816"/>
            <a:ext cx="648072" cy="328918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Position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Encoding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E76AC18-CC28-5AAB-8410-EDF8FD284AED}"/>
              </a:ext>
            </a:extLst>
          </p:cNvPr>
          <p:cNvSpPr/>
          <p:nvPr/>
        </p:nvSpPr>
        <p:spPr>
          <a:xfrm>
            <a:off x="6878804" y="1196816"/>
            <a:ext cx="1008000" cy="427342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Softmax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Max Prob.</a:t>
            </a: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A928FC09-C17F-595B-CCA6-4104946ECF88}"/>
              </a:ext>
            </a:extLst>
          </p:cNvPr>
          <p:cNvSpPr txBox="1"/>
          <p:nvPr/>
        </p:nvSpPr>
        <p:spPr>
          <a:xfrm>
            <a:off x="4079149" y="2132856"/>
            <a:ext cx="605603" cy="1597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d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BC2F09D-F507-A775-2528-32065555E518}"/>
              </a:ext>
            </a:extLst>
          </p:cNvPr>
          <p:cNvSpPr/>
          <p:nvPr/>
        </p:nvSpPr>
        <p:spPr>
          <a:xfrm>
            <a:off x="4248108" y="3187824"/>
            <a:ext cx="274320" cy="45720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horz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</a:t>
            </a: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411ABAD4-6616-F0F7-2264-5BFE1022E8E9}"/>
              </a:ext>
            </a:extLst>
          </p:cNvPr>
          <p:cNvSpPr txBox="1"/>
          <p:nvPr/>
        </p:nvSpPr>
        <p:spPr>
          <a:xfrm rot="5400000">
            <a:off x="4290217" y="2886080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9" name="十字形 158">
            <a:extLst>
              <a:ext uri="{FF2B5EF4-FFF2-40B4-BE49-F238E27FC236}">
                <a16:creationId xmlns:a16="http://schemas.microsoft.com/office/drawing/2014/main" id="{C88CC62E-3294-2337-5051-594C2F20DED7}"/>
              </a:ext>
            </a:extLst>
          </p:cNvPr>
          <p:cNvSpPr/>
          <p:nvPr/>
        </p:nvSpPr>
        <p:spPr>
          <a:xfrm>
            <a:off x="4093330" y="3296532"/>
            <a:ext cx="132956" cy="125317"/>
          </a:xfrm>
          <a:prstGeom prst="plus">
            <a:avLst>
              <a:gd name="adj" fmla="val 36556"/>
            </a:avLst>
          </a:prstGeom>
          <a:solidFill>
            <a:sysClr val="windowText" lastClr="000000">
              <a:lumMod val="50000"/>
              <a:lumOff val="50000"/>
              <a:alpha val="7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0" name="接點: 肘形 159">
            <a:extLst>
              <a:ext uri="{FF2B5EF4-FFF2-40B4-BE49-F238E27FC236}">
                <a16:creationId xmlns:a16="http://schemas.microsoft.com/office/drawing/2014/main" id="{809EAEE2-D687-2DDC-2EBB-8DC59884B655}"/>
              </a:ext>
            </a:extLst>
          </p:cNvPr>
          <p:cNvCxnSpPr>
            <a:stCxn id="107" idx="2"/>
            <a:endCxn id="148" idx="1"/>
          </p:cNvCxnSpPr>
          <p:nvPr/>
        </p:nvCxnSpPr>
        <p:spPr>
          <a:xfrm rot="16200000" flipH="1">
            <a:off x="2696474" y="2332986"/>
            <a:ext cx="372080" cy="1794795"/>
          </a:xfrm>
          <a:prstGeom prst="bentConnector2">
            <a:avLst/>
          </a:prstGeom>
          <a:noFill/>
          <a:ln w="22225" cap="flat" cmpd="sng" algn="ctr">
            <a:solidFill>
              <a:sysClr val="window" lastClr="FFFFFF">
                <a:lumMod val="50000"/>
              </a:sysClr>
            </a:solidFill>
            <a:prstDash val="solid"/>
            <a:tailEnd type="triangle"/>
          </a:ln>
          <a:effectLst/>
        </p:spPr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67F41A55-4116-7DE8-7B2F-C89A6351293B}"/>
              </a:ext>
            </a:extLst>
          </p:cNvPr>
          <p:cNvSpPr/>
          <p:nvPr/>
        </p:nvSpPr>
        <p:spPr>
          <a:xfrm>
            <a:off x="2261264" y="3202071"/>
            <a:ext cx="274320" cy="274320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v</a:t>
            </a: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24545C31-8FD9-C036-F3BC-6336CC86481C}"/>
              </a:ext>
            </a:extLst>
          </p:cNvPr>
          <p:cNvSpPr txBox="1"/>
          <p:nvPr/>
        </p:nvSpPr>
        <p:spPr>
          <a:xfrm>
            <a:off x="2117701" y="3247791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FC9FBE0B-AD39-866F-2986-D2C2D23A7931}"/>
              </a:ext>
            </a:extLst>
          </p:cNvPr>
          <p:cNvSpPr txBox="1"/>
          <p:nvPr/>
        </p:nvSpPr>
        <p:spPr>
          <a:xfrm>
            <a:off x="2586154" y="3247791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B6FD7E7C-B9F1-3E4D-C849-35CDAE2401B3}"/>
              </a:ext>
            </a:extLst>
          </p:cNvPr>
          <p:cNvSpPr txBox="1"/>
          <p:nvPr/>
        </p:nvSpPr>
        <p:spPr>
          <a:xfrm>
            <a:off x="2779032" y="3116352"/>
            <a:ext cx="274320" cy="457054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5BC69A1C-4E01-A665-3885-157368F962F0}"/>
              </a:ext>
            </a:extLst>
          </p:cNvPr>
          <p:cNvSpPr txBox="1"/>
          <p:nvPr/>
        </p:nvSpPr>
        <p:spPr>
          <a:xfrm>
            <a:off x="287524" y="4869160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Linear Combination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Feature extraction, semantic fusion.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Non-linear Activation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Noise filtering, modeling capabilities, collapse prevention. 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C00A7AC4-5C76-60D7-7EC6-D7D8905F7719}"/>
              </a:ext>
            </a:extLst>
          </p:cNvPr>
          <p:cNvSpPr/>
          <p:nvPr/>
        </p:nvSpPr>
        <p:spPr>
          <a:xfrm>
            <a:off x="4179437" y="2316941"/>
            <a:ext cx="378823" cy="457201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MoE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CA577-BCB3-3165-2468-6355A14C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58F8682C-C43C-4579-E420-F6EFE10F0490}"/>
              </a:ext>
            </a:extLst>
          </p:cNvPr>
          <p:cNvSpPr txBox="1"/>
          <p:nvPr/>
        </p:nvSpPr>
        <p:spPr>
          <a:xfrm>
            <a:off x="287524" y="4976008"/>
            <a:ext cx="50765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Inference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ML: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Establish a model to predict unknown outcomes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GPT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Establish a language model to predict next token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Training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Minimize the prediction errors.</a:t>
            </a:r>
          </a:p>
        </p:txBody>
      </p:sp>
      <p:sp>
        <p:nvSpPr>
          <p:cNvPr id="144" name="標題 1">
            <a:extLst>
              <a:ext uri="{FF2B5EF4-FFF2-40B4-BE49-F238E27FC236}">
                <a16:creationId xmlns:a16="http://schemas.microsoft.com/office/drawing/2014/main" id="{F50B5D27-0314-C7E4-6874-10F4D6C7AC8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Generative Pretrained Transformer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ChatGPT is developed by OpenAI.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DFA8AC9E-838C-39D5-95C1-C8668BABD8F5}"/>
              </a:ext>
            </a:extLst>
          </p:cNvPr>
          <p:cNvGrpSpPr/>
          <p:nvPr/>
        </p:nvGrpSpPr>
        <p:grpSpPr>
          <a:xfrm>
            <a:off x="1403648" y="1052736"/>
            <a:ext cx="2834823" cy="3373554"/>
            <a:chOff x="1262831" y="1264889"/>
            <a:chExt cx="2695542" cy="3087944"/>
          </a:xfrm>
        </p:grpSpPr>
        <p:pic>
          <p:nvPicPr>
            <p:cNvPr id="146" name="圖片 145" descr="一張含有 文字, 螢幕擷取畫面, 圖表, 字型 的圖片&#10;&#10;AI 產生的內容可能不正確。">
              <a:extLst>
                <a:ext uri="{FF2B5EF4-FFF2-40B4-BE49-F238E27FC236}">
                  <a16:creationId xmlns:a16="http://schemas.microsoft.com/office/drawing/2014/main" id="{66BEA5B0-F7B5-978A-E85A-1FBE3684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735" y="1264889"/>
              <a:ext cx="2577367" cy="3087944"/>
            </a:xfrm>
            <a:prstGeom prst="rect">
              <a:avLst/>
            </a:prstGeom>
            <a:ln>
              <a:gradFill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74000">
                    <a:srgbClr val="4F81BD">
                      <a:lumMod val="45000"/>
                      <a:lumOff val="55000"/>
                    </a:srgbClr>
                  </a:gs>
                  <a:gs pos="83000">
                    <a:srgbClr val="4F81BD">
                      <a:lumMod val="45000"/>
                      <a:lumOff val="55000"/>
                    </a:srgbClr>
                  </a:gs>
                  <a:gs pos="100000">
                    <a:srgbClr val="4F81BD">
                      <a:lumMod val="30000"/>
                      <a:lumOff val="70000"/>
                    </a:srgbClr>
                  </a:gs>
                </a:gsLst>
                <a:lin ang="5400000" scaled="1"/>
              </a:gradFill>
            </a:ln>
            <a:effectLst>
              <a:glow rad="63500">
                <a:srgbClr val="4F81BD">
                  <a:satMod val="175000"/>
                  <a:alpha val="40000"/>
                </a:srgbClr>
              </a:glow>
            </a:effectLst>
          </p:spPr>
        </p:pic>
        <p:sp>
          <p:nvSpPr>
            <p:cNvPr id="147" name="標題 1">
              <a:extLst>
                <a:ext uri="{FF2B5EF4-FFF2-40B4-BE49-F238E27FC236}">
                  <a16:creationId xmlns:a16="http://schemas.microsoft.com/office/drawing/2014/main" id="{48C78EF8-87B5-7207-D6E6-7A801E254BCD}"/>
                </a:ext>
              </a:extLst>
            </p:cNvPr>
            <p:cNvSpPr txBox="1">
              <a:spLocks/>
            </p:cNvSpPr>
            <p:nvPr/>
          </p:nvSpPr>
          <p:spPr>
            <a:xfrm>
              <a:off x="1262831" y="2097449"/>
              <a:ext cx="610509" cy="251431"/>
            </a:xfrm>
            <a:prstGeom prst="rect">
              <a:avLst/>
            </a:prstGeom>
          </p:spPr>
          <p:txBody>
            <a:bodyPr wrap="none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新細明體" panose="02020500000000000000" pitchFamily="18" charset="-120"/>
                  <a:cs typeface="Arial" panose="020B0604020202020204" pitchFamily="34" charset="0"/>
                  <a:sym typeface="Wingdings" panose="05000000000000000000" pitchFamily="2" charset="2"/>
                </a:rPr>
                <a:t>Encoder</a:t>
              </a:r>
              <a:endPara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8" name="標題 1">
              <a:extLst>
                <a:ext uri="{FF2B5EF4-FFF2-40B4-BE49-F238E27FC236}">
                  <a16:creationId xmlns:a16="http://schemas.microsoft.com/office/drawing/2014/main" id="{9DFE3E85-BDE3-ACC8-E6D5-703BE1DB8299}"/>
                </a:ext>
              </a:extLst>
            </p:cNvPr>
            <p:cNvSpPr txBox="1">
              <a:spLocks/>
            </p:cNvSpPr>
            <p:nvPr/>
          </p:nvSpPr>
          <p:spPr>
            <a:xfrm>
              <a:off x="3347864" y="1665401"/>
              <a:ext cx="610509" cy="251431"/>
            </a:xfrm>
            <a:prstGeom prst="rect">
              <a:avLst/>
            </a:prstGeom>
          </p:spPr>
          <p:txBody>
            <a:bodyPr wrap="none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新細明體" panose="02020500000000000000" pitchFamily="18" charset="-120"/>
                  <a:cs typeface="Arial" panose="020B0604020202020204" pitchFamily="34" charset="0"/>
                  <a:sym typeface="Wingdings" panose="05000000000000000000" pitchFamily="2" charset="2"/>
                </a:rPr>
                <a:t>Decoder</a:t>
              </a:r>
              <a:endPara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7AC0F257-FE88-4A60-FCD3-C237354C0C0E}"/>
              </a:ext>
            </a:extLst>
          </p:cNvPr>
          <p:cNvSpPr txBox="1"/>
          <p:nvPr/>
        </p:nvSpPr>
        <p:spPr>
          <a:xfrm>
            <a:off x="5148064" y="1070493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0" name="表格 149">
            <a:extLst>
              <a:ext uri="{FF2B5EF4-FFF2-40B4-BE49-F238E27FC236}">
                <a16:creationId xmlns:a16="http://schemas.microsoft.com/office/drawing/2014/main" id="{C611FB81-E772-0B13-D9E9-550FA8812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960528"/>
              </p:ext>
            </p:extLst>
          </p:nvPr>
        </p:nvGraphicFramePr>
        <p:xfrm>
          <a:off x="5207041" y="1092619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71414410-1A2D-6445-A787-AF2F397E3A34}"/>
              </a:ext>
            </a:extLst>
          </p:cNvPr>
          <p:cNvSpPr txBox="1"/>
          <p:nvPr/>
        </p:nvSpPr>
        <p:spPr>
          <a:xfrm>
            <a:off x="5148064" y="2102606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3FC9A6E7-C190-F401-1DE3-D2C25F367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47244"/>
              </p:ext>
            </p:extLst>
          </p:nvPr>
        </p:nvGraphicFramePr>
        <p:xfrm>
          <a:off x="5207041" y="2124732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90B32F4C-2511-8DED-06F9-B09DF240ED35}"/>
              </a:ext>
            </a:extLst>
          </p:cNvPr>
          <p:cNvSpPr txBox="1"/>
          <p:nvPr/>
        </p:nvSpPr>
        <p:spPr>
          <a:xfrm>
            <a:off x="5152301" y="3134719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4" name="表格 153">
            <a:extLst>
              <a:ext uri="{FF2B5EF4-FFF2-40B4-BE49-F238E27FC236}">
                <a16:creationId xmlns:a16="http://schemas.microsoft.com/office/drawing/2014/main" id="{BC1C44AA-EBE7-A9AD-E493-E61233262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32294"/>
              </p:ext>
            </p:extLst>
          </p:nvPr>
        </p:nvGraphicFramePr>
        <p:xfrm>
          <a:off x="5211278" y="3156845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9CA51D12-F022-5A54-BC42-A56D3653ECE7}"/>
              </a:ext>
            </a:extLst>
          </p:cNvPr>
          <p:cNvSpPr txBox="1"/>
          <p:nvPr/>
        </p:nvSpPr>
        <p:spPr>
          <a:xfrm>
            <a:off x="8172400" y="3839127"/>
            <a:ext cx="728464" cy="958025"/>
          </a:xfrm>
          <a:prstGeom prst="rect">
            <a:avLst/>
          </a:prstGeom>
          <a:solidFill>
            <a:srgbClr val="FDE7DA">
              <a:alpha val="8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F884039F-BE8E-2EB8-535F-1456AF970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5064"/>
              </p:ext>
            </p:extLst>
          </p:nvPr>
        </p:nvGraphicFramePr>
        <p:xfrm>
          <a:off x="8231377" y="3861253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7" name="箭號: 向下 156">
            <a:extLst>
              <a:ext uri="{FF2B5EF4-FFF2-40B4-BE49-F238E27FC236}">
                <a16:creationId xmlns:a16="http://schemas.microsoft.com/office/drawing/2014/main" id="{77DCDED3-158D-6014-4DFD-ED4461A49D31}"/>
              </a:ext>
            </a:extLst>
          </p:cNvPr>
          <p:cNvSpPr/>
          <p:nvPr/>
        </p:nvSpPr>
        <p:spPr>
          <a:xfrm>
            <a:off x="5396876" y="1927947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8" name="箭號: 向下 157">
            <a:extLst>
              <a:ext uri="{FF2B5EF4-FFF2-40B4-BE49-F238E27FC236}">
                <a16:creationId xmlns:a16="http://schemas.microsoft.com/office/drawing/2014/main" id="{EB928825-BBFA-2C78-CE31-E722FEE7E557}"/>
              </a:ext>
            </a:extLst>
          </p:cNvPr>
          <p:cNvSpPr/>
          <p:nvPr/>
        </p:nvSpPr>
        <p:spPr>
          <a:xfrm>
            <a:off x="5404284" y="2967583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9" name="箭號: 向下 158">
            <a:extLst>
              <a:ext uri="{FF2B5EF4-FFF2-40B4-BE49-F238E27FC236}">
                <a16:creationId xmlns:a16="http://schemas.microsoft.com/office/drawing/2014/main" id="{674265E9-9E3D-2DFB-6FB9-58A143EDAE0E}"/>
              </a:ext>
            </a:extLst>
          </p:cNvPr>
          <p:cNvSpPr/>
          <p:nvPr/>
        </p:nvSpPr>
        <p:spPr>
          <a:xfrm>
            <a:off x="8437036" y="3672493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C51DB528-DD17-21F5-B919-897A58903E03}"/>
              </a:ext>
            </a:extLst>
          </p:cNvPr>
          <p:cNvGrpSpPr/>
          <p:nvPr/>
        </p:nvGrpSpPr>
        <p:grpSpPr>
          <a:xfrm>
            <a:off x="5508104" y="947302"/>
            <a:ext cx="2153804" cy="4497922"/>
            <a:chOff x="5508104" y="947302"/>
            <a:chExt cx="2153804" cy="4497922"/>
          </a:xfrm>
        </p:grpSpPr>
        <p:sp>
          <p:nvSpPr>
            <p:cNvPr id="161" name="矩形: 圓角 160">
              <a:extLst>
                <a:ext uri="{FF2B5EF4-FFF2-40B4-BE49-F238E27FC236}">
                  <a16:creationId xmlns:a16="http://schemas.microsoft.com/office/drawing/2014/main" id="{6140A608-5605-A0E0-07AE-3E60618A6B0D}"/>
                </a:ext>
              </a:extLst>
            </p:cNvPr>
            <p:cNvSpPr/>
            <p:nvPr/>
          </p:nvSpPr>
          <p:spPr>
            <a:xfrm>
              <a:off x="6221748" y="2182260"/>
              <a:ext cx="1440160" cy="202800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8823E900-FF27-C0FF-C267-BE52C4FC3901}"/>
                </a:ext>
              </a:extLst>
            </p:cNvPr>
            <p:cNvSpPr txBox="1"/>
            <p:nvPr/>
          </p:nvSpPr>
          <p:spPr>
            <a:xfrm>
              <a:off x="6365764" y="2326276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Add &amp; Norm</a:t>
              </a: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7390DD9-AB60-A564-EC56-EDBC6AB17542}"/>
                </a:ext>
              </a:extLst>
            </p:cNvPr>
            <p:cNvSpPr txBox="1"/>
            <p:nvPr/>
          </p:nvSpPr>
          <p:spPr>
            <a:xfrm>
              <a:off x="6365764" y="2720522"/>
              <a:ext cx="1152128" cy="225052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Feed</a:t>
              </a:r>
              <a:r>
                <a:rPr kumimoji="0" lang="zh-TW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 </a:t>
              </a: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Forward</a:t>
              </a:r>
            </a:p>
          </p:txBody>
        </p: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78E08CEC-FC4E-531D-9155-CBD901F4DA4F}"/>
                </a:ext>
              </a:extLst>
            </p:cNvPr>
            <p:cNvSpPr txBox="1"/>
            <p:nvPr/>
          </p:nvSpPr>
          <p:spPr>
            <a:xfrm>
              <a:off x="6365764" y="3109336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Add &amp; Norm</a:t>
              </a: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85C6014D-4960-2C82-F5C4-7143D2C2665A}"/>
                </a:ext>
              </a:extLst>
            </p:cNvPr>
            <p:cNvSpPr txBox="1"/>
            <p:nvPr/>
          </p:nvSpPr>
          <p:spPr>
            <a:xfrm>
              <a:off x="6365764" y="3459238"/>
              <a:ext cx="1152128" cy="523222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Masked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Multi-Head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Attention</a:t>
              </a: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9D1ACC5C-B50D-B603-4525-EF9B0BC7FDEA}"/>
                </a:ext>
              </a:extLst>
            </p:cNvPr>
            <p:cNvSpPr txBox="1"/>
            <p:nvPr/>
          </p:nvSpPr>
          <p:spPr>
            <a:xfrm>
              <a:off x="6507429" y="4619695"/>
              <a:ext cx="872480" cy="360040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Embedding</a:t>
              </a:r>
            </a:p>
          </p:txBody>
        </p: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796269AF-D65A-0CA9-8B9D-13DAD6B02B5C}"/>
                </a:ext>
              </a:extLst>
            </p:cNvPr>
            <p:cNvSpPr txBox="1"/>
            <p:nvPr/>
          </p:nvSpPr>
          <p:spPr>
            <a:xfrm>
              <a:off x="6507429" y="5085184"/>
              <a:ext cx="872480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(Next Token)</a:t>
              </a: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1CDB219B-CCB3-E351-75EE-3B23ADBB548B}"/>
                </a:ext>
              </a:extLst>
            </p:cNvPr>
            <p:cNvSpPr txBox="1"/>
            <p:nvPr/>
          </p:nvSpPr>
          <p:spPr>
            <a:xfrm>
              <a:off x="6365764" y="1487362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SoftMax</a:t>
              </a: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82A4BC27-2385-F037-2B94-9EBD6A430F2D}"/>
                </a:ext>
              </a:extLst>
            </p:cNvPr>
            <p:cNvSpPr txBox="1"/>
            <p:nvPr/>
          </p:nvSpPr>
          <p:spPr>
            <a:xfrm>
              <a:off x="6365764" y="1811383"/>
              <a:ext cx="1152128" cy="225052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Linear</a:t>
              </a:r>
            </a:p>
          </p:txBody>
        </p:sp>
        <p:cxnSp>
          <p:nvCxnSpPr>
            <p:cNvPr id="170" name="接點: 肘形 169">
              <a:extLst>
                <a:ext uri="{FF2B5EF4-FFF2-40B4-BE49-F238E27FC236}">
                  <a16:creationId xmlns:a16="http://schemas.microsoft.com/office/drawing/2014/main" id="{E24680E7-107F-B161-2E6C-422419E10B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38650" y="3746567"/>
              <a:ext cx="6355" cy="456467"/>
            </a:xfrm>
            <a:prstGeom prst="bentConnector3">
              <a:avLst>
                <a:gd name="adj1" fmla="val 2048466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cxnSp>
          <p:nvCxnSpPr>
            <p:cNvPr id="171" name="直線單箭頭接點 170">
              <a:extLst>
                <a:ext uri="{FF2B5EF4-FFF2-40B4-BE49-F238E27FC236}">
                  <a16:creationId xmlns:a16="http://schemas.microsoft.com/office/drawing/2014/main" id="{18855DF9-1FD8-4A85-2EFF-6D9327827A70}"/>
                </a:ext>
              </a:extLst>
            </p:cNvPr>
            <p:cNvCxnSpPr>
              <a:cxnSpLocks/>
              <a:stCxn id="166" idx="0"/>
              <a:endCxn id="177" idx="4"/>
            </p:cNvCxnSpPr>
            <p:nvPr/>
          </p:nvCxnSpPr>
          <p:spPr>
            <a:xfrm flipH="1" flipV="1">
              <a:off x="6941828" y="4426290"/>
              <a:ext cx="1841" cy="193405"/>
            </a:xfrm>
            <a:prstGeom prst="straightConnector1">
              <a:avLst/>
            </a:prstGeom>
            <a:noFill/>
            <a:ln w="19050" cap="flat" cmpd="sng" algn="ctr">
              <a:solidFill>
                <a:srgbClr val="9E78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F44FC50D-4DF0-C194-1046-689573BF613D}"/>
                </a:ext>
              </a:extLst>
            </p:cNvPr>
            <p:cNvSpPr txBox="1"/>
            <p:nvPr/>
          </p:nvSpPr>
          <p:spPr>
            <a:xfrm>
              <a:off x="6365764" y="947302"/>
              <a:ext cx="1152128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Probabilities</a:t>
              </a:r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998DFF2A-B8CE-5C40-B61F-C60698393C46}"/>
                </a:ext>
              </a:extLst>
            </p:cNvPr>
            <p:cNvCxnSpPr>
              <a:cxnSpLocks/>
              <a:stCxn id="168" idx="0"/>
              <a:endCxn id="172" idx="2"/>
            </p:cNvCxnSpPr>
            <p:nvPr/>
          </p:nvCxnSpPr>
          <p:spPr>
            <a:xfrm flipV="1">
              <a:off x="6941828" y="1307342"/>
              <a:ext cx="0" cy="18002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線單箭頭接點 173">
              <a:extLst>
                <a:ext uri="{FF2B5EF4-FFF2-40B4-BE49-F238E27FC236}">
                  <a16:creationId xmlns:a16="http://schemas.microsoft.com/office/drawing/2014/main" id="{45789327-EC1A-18E2-F1ED-9897936A4BF4}"/>
                </a:ext>
              </a:extLst>
            </p:cNvPr>
            <p:cNvCxnSpPr>
              <a:cxnSpLocks/>
              <a:stCxn id="169" idx="0"/>
              <a:endCxn id="168" idx="2"/>
            </p:cNvCxnSpPr>
            <p:nvPr/>
          </p:nvCxnSpPr>
          <p:spPr>
            <a:xfrm flipV="1">
              <a:off x="6941828" y="1712414"/>
              <a:ext cx="0" cy="9896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5" name="直線單箭頭接點 174">
              <a:extLst>
                <a:ext uri="{FF2B5EF4-FFF2-40B4-BE49-F238E27FC236}">
                  <a16:creationId xmlns:a16="http://schemas.microsoft.com/office/drawing/2014/main" id="{F684A79C-5B62-EF53-B876-06C7CCECC295}"/>
                </a:ext>
              </a:extLst>
            </p:cNvPr>
            <p:cNvCxnSpPr>
              <a:cxnSpLocks/>
              <a:stCxn id="162" idx="0"/>
              <a:endCxn id="169" idx="2"/>
            </p:cNvCxnSpPr>
            <p:nvPr/>
          </p:nvCxnSpPr>
          <p:spPr>
            <a:xfrm flipV="1">
              <a:off x="6941828" y="2036435"/>
              <a:ext cx="0" cy="28984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C5956D38-D864-C2DE-CC12-57B185D3CC6A}"/>
                </a:ext>
              </a:extLst>
            </p:cNvPr>
            <p:cNvSpPr/>
            <p:nvPr/>
          </p:nvSpPr>
          <p:spPr>
            <a:xfrm>
              <a:off x="7236296" y="4282274"/>
              <a:ext cx="152400" cy="144016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~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595EF917-3340-7748-6F0A-EBD14ECA1414}"/>
                </a:ext>
              </a:extLst>
            </p:cNvPr>
            <p:cNvSpPr/>
            <p:nvPr/>
          </p:nvSpPr>
          <p:spPr>
            <a:xfrm>
              <a:off x="6865628" y="4282274"/>
              <a:ext cx="152400" cy="144016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</a:t>
              </a:r>
              <a:endParaRPr kumimoji="0" lang="zh-TW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78" name="直線單箭頭接點 177">
              <a:extLst>
                <a:ext uri="{FF2B5EF4-FFF2-40B4-BE49-F238E27FC236}">
                  <a16:creationId xmlns:a16="http://schemas.microsoft.com/office/drawing/2014/main" id="{2DA590CC-3386-C1C8-49C5-378A8C7A2081}"/>
                </a:ext>
              </a:extLst>
            </p:cNvPr>
            <p:cNvCxnSpPr>
              <a:cxnSpLocks/>
              <a:stCxn id="177" idx="6"/>
              <a:endCxn id="176" idx="2"/>
            </p:cNvCxnSpPr>
            <p:nvPr/>
          </p:nvCxnSpPr>
          <p:spPr>
            <a:xfrm>
              <a:off x="7018028" y="4354282"/>
              <a:ext cx="21826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179" name="直線單箭頭接點 178">
              <a:extLst>
                <a:ext uri="{FF2B5EF4-FFF2-40B4-BE49-F238E27FC236}">
                  <a16:creationId xmlns:a16="http://schemas.microsoft.com/office/drawing/2014/main" id="{63A610D9-A95F-F8EB-7FD1-EDB910DCC431}"/>
                </a:ext>
              </a:extLst>
            </p:cNvPr>
            <p:cNvCxnSpPr>
              <a:cxnSpLocks/>
              <a:stCxn id="177" idx="0"/>
              <a:endCxn id="165" idx="2"/>
            </p:cNvCxnSpPr>
            <p:nvPr/>
          </p:nvCxnSpPr>
          <p:spPr>
            <a:xfrm flipV="1">
              <a:off x="6941828" y="3982460"/>
              <a:ext cx="0" cy="29981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0" name="直線單箭頭接點 179">
              <a:extLst>
                <a:ext uri="{FF2B5EF4-FFF2-40B4-BE49-F238E27FC236}">
                  <a16:creationId xmlns:a16="http://schemas.microsoft.com/office/drawing/2014/main" id="{B3D90510-077A-DCF5-13DA-E4F38490C309}"/>
                </a:ext>
              </a:extLst>
            </p:cNvPr>
            <p:cNvCxnSpPr>
              <a:cxnSpLocks/>
              <a:stCxn id="165" idx="0"/>
              <a:endCxn id="164" idx="2"/>
            </p:cNvCxnSpPr>
            <p:nvPr/>
          </p:nvCxnSpPr>
          <p:spPr>
            <a:xfrm flipV="1">
              <a:off x="6941828" y="3334388"/>
              <a:ext cx="0" cy="12485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1" name="直線單箭頭接點 180">
              <a:extLst>
                <a:ext uri="{FF2B5EF4-FFF2-40B4-BE49-F238E27FC236}">
                  <a16:creationId xmlns:a16="http://schemas.microsoft.com/office/drawing/2014/main" id="{27DE5F5F-C7C0-3C8B-60CF-96DA1EC23285}"/>
                </a:ext>
              </a:extLst>
            </p:cNvPr>
            <p:cNvCxnSpPr>
              <a:cxnSpLocks/>
              <a:stCxn id="163" idx="0"/>
              <a:endCxn id="162" idx="2"/>
            </p:cNvCxnSpPr>
            <p:nvPr/>
          </p:nvCxnSpPr>
          <p:spPr>
            <a:xfrm flipV="1">
              <a:off x="6941828" y="2551328"/>
              <a:ext cx="0" cy="16919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2" name="接點: 肘形 181">
              <a:extLst>
                <a:ext uri="{FF2B5EF4-FFF2-40B4-BE49-F238E27FC236}">
                  <a16:creationId xmlns:a16="http://schemas.microsoft.com/office/drawing/2014/main" id="{2256E00D-EA2C-48D0-137C-8C3FC9DC6477}"/>
                </a:ext>
              </a:extLst>
            </p:cNvPr>
            <p:cNvCxnSpPr>
              <a:cxnSpLocks/>
              <a:stCxn id="184" idx="0"/>
              <a:endCxn id="177" idx="2"/>
            </p:cNvCxnSpPr>
            <p:nvPr/>
          </p:nvCxnSpPr>
          <p:spPr>
            <a:xfrm rot="5400000" flipH="1" flipV="1">
              <a:off x="6272280" y="4026347"/>
              <a:ext cx="265413" cy="921284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cxnSp>
          <p:nvCxnSpPr>
            <p:cNvPr id="183" name="直線單箭頭接點 182">
              <a:extLst>
                <a:ext uri="{FF2B5EF4-FFF2-40B4-BE49-F238E27FC236}">
                  <a16:creationId xmlns:a16="http://schemas.microsoft.com/office/drawing/2014/main" id="{8A508787-0893-9A73-C37D-4541C2164AA6}"/>
                </a:ext>
              </a:extLst>
            </p:cNvPr>
            <p:cNvCxnSpPr>
              <a:cxnSpLocks/>
              <a:stCxn id="164" idx="0"/>
              <a:endCxn id="163" idx="2"/>
            </p:cNvCxnSpPr>
            <p:nvPr/>
          </p:nvCxnSpPr>
          <p:spPr>
            <a:xfrm flipV="1">
              <a:off x="6941828" y="2945574"/>
              <a:ext cx="0" cy="16376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67BCB349-32C1-9AD7-CEF3-C66E6AE0560F}"/>
                </a:ext>
              </a:extLst>
            </p:cNvPr>
            <p:cNvSpPr txBox="1"/>
            <p:nvPr/>
          </p:nvSpPr>
          <p:spPr>
            <a:xfrm>
              <a:off x="5508104" y="4619695"/>
              <a:ext cx="872480" cy="360040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Embedding</a:t>
              </a:r>
            </a:p>
          </p:txBody>
        </p:sp>
        <p:sp>
          <p:nvSpPr>
            <p:cNvPr id="185" name="文字方塊 184">
              <a:extLst>
                <a:ext uri="{FF2B5EF4-FFF2-40B4-BE49-F238E27FC236}">
                  <a16:creationId xmlns:a16="http://schemas.microsoft.com/office/drawing/2014/main" id="{2435EF49-DF49-6EBC-9C38-2A3B39F4AB8A}"/>
                </a:ext>
              </a:extLst>
            </p:cNvPr>
            <p:cNvSpPr txBox="1"/>
            <p:nvPr/>
          </p:nvSpPr>
          <p:spPr>
            <a:xfrm>
              <a:off x="5508104" y="5085184"/>
              <a:ext cx="872480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(User)</a:t>
              </a:r>
            </a:p>
          </p:txBody>
        </p:sp>
        <p:cxnSp>
          <p:nvCxnSpPr>
            <p:cNvPr id="186" name="接點: 肘形 185">
              <a:extLst>
                <a:ext uri="{FF2B5EF4-FFF2-40B4-BE49-F238E27FC236}">
                  <a16:creationId xmlns:a16="http://schemas.microsoft.com/office/drawing/2014/main" id="{22748F73-A0B9-959D-EC5F-A63E4D73FDCF}"/>
                </a:ext>
              </a:extLst>
            </p:cNvPr>
            <p:cNvCxnSpPr>
              <a:cxnSpLocks/>
              <a:stCxn id="172" idx="3"/>
              <a:endCxn id="166" idx="3"/>
            </p:cNvCxnSpPr>
            <p:nvPr/>
          </p:nvCxnSpPr>
          <p:spPr>
            <a:xfrm flipH="1">
              <a:off x="7379909" y="1127322"/>
              <a:ext cx="137983" cy="3672393"/>
            </a:xfrm>
            <a:prstGeom prst="bentConnector3">
              <a:avLst>
                <a:gd name="adj1" fmla="val -296831"/>
              </a:avLst>
            </a:prstGeom>
            <a:noFill/>
            <a:ln w="19050" cap="flat" cmpd="sng" algn="ctr">
              <a:solidFill>
                <a:srgbClr val="9E7800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83A57D11-9D0D-306D-75E1-4A9508049D49}"/>
                </a:ext>
              </a:extLst>
            </p:cNvPr>
            <p:cNvSpPr txBox="1"/>
            <p:nvPr/>
          </p:nvSpPr>
          <p:spPr>
            <a:xfrm>
              <a:off x="6056570" y="3319995"/>
              <a:ext cx="294468" cy="20503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x</a:t>
              </a:r>
            </a:p>
          </p:txBody>
        </p:sp>
      </p:grpSp>
      <p:pic>
        <p:nvPicPr>
          <p:cNvPr id="188" name="圖形 187" descr="使用者 外框">
            <a:extLst>
              <a:ext uri="{FF2B5EF4-FFF2-40B4-BE49-F238E27FC236}">
                <a16:creationId xmlns:a16="http://schemas.microsoft.com/office/drawing/2014/main" id="{EAC05595-6C26-EFBB-32D9-0060DC247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0436" y="5407653"/>
            <a:ext cx="387816" cy="38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8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373CF-62C7-9266-90AD-F0BE52D3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69" name="流程圖: 合併 68">
            <a:extLst>
              <a:ext uri="{FF2B5EF4-FFF2-40B4-BE49-F238E27FC236}">
                <a16:creationId xmlns:a16="http://schemas.microsoft.com/office/drawing/2014/main" id="{CBBF652B-B35E-BDA3-2CFC-166312CA946B}"/>
              </a:ext>
            </a:extLst>
          </p:cNvPr>
          <p:cNvSpPr/>
          <p:nvPr/>
        </p:nvSpPr>
        <p:spPr>
          <a:xfrm>
            <a:off x="3545220" y="3614719"/>
            <a:ext cx="177215" cy="1966264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618355C0-2526-C255-AED1-BA59B49A3AB7}"/>
              </a:ext>
            </a:extLst>
          </p:cNvPr>
          <p:cNvSpPr/>
          <p:nvPr/>
        </p:nvSpPr>
        <p:spPr>
          <a:xfrm>
            <a:off x="6221748" y="2182260"/>
            <a:ext cx="1440160" cy="202800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1727FD8-BCEC-D668-19A8-BCC979169BC7}"/>
              </a:ext>
            </a:extLst>
          </p:cNvPr>
          <p:cNvSpPr txBox="1"/>
          <p:nvPr/>
        </p:nvSpPr>
        <p:spPr>
          <a:xfrm>
            <a:off x="6365764" y="2720522"/>
            <a:ext cx="1152128" cy="225052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Feed</a:t>
            </a:r>
            <a:r>
              <a:rPr kumimoji="0" lang="zh-TW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 </a:t>
            </a: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Forward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3E61B4C5-1DA5-00A9-108A-F570BAE32BC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Pre-Training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Optimizes base model parameters via self-supervised learning.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88F1410-A10F-44BA-718F-EB01845A29B3}"/>
              </a:ext>
            </a:extLst>
          </p:cNvPr>
          <p:cNvSpPr txBox="1"/>
          <p:nvPr/>
        </p:nvSpPr>
        <p:spPr>
          <a:xfrm>
            <a:off x="287524" y="1211852"/>
            <a:ext cx="486053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Transformer Lifecycle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Forward (Inference)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Predict next token.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Backward (Training)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Minimize prediction errors. </a:t>
            </a: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E5402FAD-7C24-48F2-2B23-A1BBC3F85E22}"/>
              </a:ext>
            </a:extLst>
          </p:cNvPr>
          <p:cNvSpPr txBox="1"/>
          <p:nvPr/>
        </p:nvSpPr>
        <p:spPr>
          <a:xfrm>
            <a:off x="6365764" y="2326276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Add &amp; Norm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FE916799-03EA-4419-FFC5-215069DBE281}"/>
              </a:ext>
            </a:extLst>
          </p:cNvPr>
          <p:cNvSpPr txBox="1"/>
          <p:nvPr/>
        </p:nvSpPr>
        <p:spPr>
          <a:xfrm>
            <a:off x="6365764" y="3109336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Add &amp; Norm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8C6BA7A5-EB83-BCA5-68EE-49C945544DE4}"/>
              </a:ext>
            </a:extLst>
          </p:cNvPr>
          <p:cNvSpPr txBox="1"/>
          <p:nvPr/>
        </p:nvSpPr>
        <p:spPr>
          <a:xfrm>
            <a:off x="6365764" y="3459238"/>
            <a:ext cx="1152128" cy="523222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Masked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Multi-Head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Attention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BA60F55B-002C-122D-8A7C-E43BCE7F7EFC}"/>
              </a:ext>
            </a:extLst>
          </p:cNvPr>
          <p:cNvSpPr txBox="1"/>
          <p:nvPr/>
        </p:nvSpPr>
        <p:spPr>
          <a:xfrm>
            <a:off x="6507429" y="4619695"/>
            <a:ext cx="872480" cy="36004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Output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Embedding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3D7B5D2-3B96-4D38-8348-E0F5D704F0E1}"/>
              </a:ext>
            </a:extLst>
          </p:cNvPr>
          <p:cNvSpPr txBox="1"/>
          <p:nvPr/>
        </p:nvSpPr>
        <p:spPr>
          <a:xfrm>
            <a:off x="6365764" y="1487362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SoftMax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919F63A-424F-DD4C-47E0-F8E671788142}"/>
              </a:ext>
            </a:extLst>
          </p:cNvPr>
          <p:cNvSpPr txBox="1"/>
          <p:nvPr/>
        </p:nvSpPr>
        <p:spPr>
          <a:xfrm>
            <a:off x="6365764" y="1811383"/>
            <a:ext cx="1152128" cy="225052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Linear</a:t>
            </a:r>
          </a:p>
        </p:txBody>
      </p:sp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DD2A5E0C-60E8-388A-92D5-DD6E4CC668BD}"/>
              </a:ext>
            </a:extLst>
          </p:cNvPr>
          <p:cNvCxnSpPr>
            <a:cxnSpLocks/>
          </p:cNvCxnSpPr>
          <p:nvPr/>
        </p:nvCxnSpPr>
        <p:spPr>
          <a:xfrm rot="5400000">
            <a:off x="6938650" y="3746567"/>
            <a:ext cx="6355" cy="456467"/>
          </a:xfrm>
          <a:prstGeom prst="bentConnector3">
            <a:avLst>
              <a:gd name="adj1" fmla="val 2048466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  <a:headEnd type="triangle" w="sm" len="sm"/>
            <a:tailEnd type="triangle" w="sm" len="sm"/>
          </a:ln>
          <a:effectLst/>
        </p:spPr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A214A119-1841-5B8B-E816-637755623003}"/>
              </a:ext>
            </a:extLst>
          </p:cNvPr>
          <p:cNvCxnSpPr>
            <a:cxnSpLocks/>
            <a:stCxn id="77" idx="0"/>
            <a:endCxn id="87" idx="4"/>
          </p:cNvCxnSpPr>
          <p:nvPr/>
        </p:nvCxnSpPr>
        <p:spPr>
          <a:xfrm flipH="1" flipV="1">
            <a:off x="6941828" y="4426290"/>
            <a:ext cx="1841" cy="19340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tailEnd type="triangle" w="sm" len="sm"/>
          </a:ln>
          <a:effectLst/>
        </p:spPr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091B77CB-5FC0-280E-6D64-928BC3AEE21D}"/>
              </a:ext>
            </a:extLst>
          </p:cNvPr>
          <p:cNvSpPr txBox="1"/>
          <p:nvPr/>
        </p:nvSpPr>
        <p:spPr>
          <a:xfrm>
            <a:off x="6365764" y="947302"/>
            <a:ext cx="1152128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Output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Probabilities</a:t>
            </a: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89E39FAE-07F2-55D9-DD33-B76B4DCBE440}"/>
              </a:ext>
            </a:extLst>
          </p:cNvPr>
          <p:cNvCxnSpPr>
            <a:cxnSpLocks/>
            <a:stCxn id="78" idx="0"/>
            <a:endCxn id="82" idx="2"/>
          </p:cNvCxnSpPr>
          <p:nvPr/>
        </p:nvCxnSpPr>
        <p:spPr>
          <a:xfrm flipV="1">
            <a:off x="6941828" y="1307342"/>
            <a:ext cx="0" cy="18002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10D9A789-7A1C-D44F-2BDF-D6D0C567DF99}"/>
              </a:ext>
            </a:extLst>
          </p:cNvPr>
          <p:cNvCxnSpPr>
            <a:cxnSpLocks/>
            <a:stCxn id="79" idx="0"/>
            <a:endCxn id="78" idx="2"/>
          </p:cNvCxnSpPr>
          <p:nvPr/>
        </p:nvCxnSpPr>
        <p:spPr>
          <a:xfrm flipV="1">
            <a:off x="6941828" y="1712414"/>
            <a:ext cx="0" cy="98969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F6F0F100-F632-9986-B04D-710C3B859E46}"/>
              </a:ext>
            </a:extLst>
          </p:cNvPr>
          <p:cNvCxnSpPr>
            <a:cxnSpLocks/>
            <a:stCxn id="74" idx="0"/>
            <a:endCxn id="79" idx="2"/>
          </p:cNvCxnSpPr>
          <p:nvPr/>
        </p:nvCxnSpPr>
        <p:spPr>
          <a:xfrm flipV="1">
            <a:off x="6941828" y="2036435"/>
            <a:ext cx="0" cy="28984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86" name="橢圓 85">
            <a:extLst>
              <a:ext uri="{FF2B5EF4-FFF2-40B4-BE49-F238E27FC236}">
                <a16:creationId xmlns:a16="http://schemas.microsoft.com/office/drawing/2014/main" id="{55CA01B6-6ACE-3862-BA84-B2E14925016B}"/>
              </a:ext>
            </a:extLst>
          </p:cNvPr>
          <p:cNvSpPr/>
          <p:nvPr/>
        </p:nvSpPr>
        <p:spPr>
          <a:xfrm>
            <a:off x="7236296" y="4282274"/>
            <a:ext cx="152400" cy="144016"/>
          </a:xfrm>
          <a:prstGeom prst="ellips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24A04A3E-C1D1-883F-849C-98226D1E75CF}"/>
              </a:ext>
            </a:extLst>
          </p:cNvPr>
          <p:cNvSpPr/>
          <p:nvPr/>
        </p:nvSpPr>
        <p:spPr>
          <a:xfrm>
            <a:off x="6865628" y="4282274"/>
            <a:ext cx="152400" cy="144016"/>
          </a:xfrm>
          <a:prstGeom prst="ellips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ED303EEB-ED15-6874-D385-9670F32AEAD5}"/>
              </a:ext>
            </a:extLst>
          </p:cNvPr>
          <p:cNvCxnSpPr>
            <a:cxnSpLocks/>
            <a:stCxn id="87" idx="6"/>
            <a:endCxn id="86" idx="2"/>
          </p:cNvCxnSpPr>
          <p:nvPr/>
        </p:nvCxnSpPr>
        <p:spPr>
          <a:xfrm>
            <a:off x="7018028" y="4354282"/>
            <a:ext cx="21826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none" w="sm" len="sm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4B825C35-1D1F-4A28-64B2-207B3F31D1D1}"/>
              </a:ext>
            </a:extLst>
          </p:cNvPr>
          <p:cNvCxnSpPr>
            <a:cxnSpLocks/>
            <a:stCxn id="87" idx="0"/>
            <a:endCxn id="76" idx="2"/>
          </p:cNvCxnSpPr>
          <p:nvPr/>
        </p:nvCxnSpPr>
        <p:spPr>
          <a:xfrm flipV="1">
            <a:off x="6941828" y="3982460"/>
            <a:ext cx="0" cy="29981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CE451AFD-326D-D2CF-A00F-C098C8648DE0}"/>
              </a:ext>
            </a:extLst>
          </p:cNvPr>
          <p:cNvCxnSpPr>
            <a:cxnSpLocks/>
            <a:stCxn id="76" idx="0"/>
            <a:endCxn id="75" idx="2"/>
          </p:cNvCxnSpPr>
          <p:nvPr/>
        </p:nvCxnSpPr>
        <p:spPr>
          <a:xfrm flipV="1">
            <a:off x="6941828" y="3334388"/>
            <a:ext cx="0" cy="12485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91" name="接點: 肘形 90">
            <a:extLst>
              <a:ext uri="{FF2B5EF4-FFF2-40B4-BE49-F238E27FC236}">
                <a16:creationId xmlns:a16="http://schemas.microsoft.com/office/drawing/2014/main" id="{36DCDADB-23F3-037B-49E3-32A7F2BAFECA}"/>
              </a:ext>
            </a:extLst>
          </p:cNvPr>
          <p:cNvCxnSpPr>
            <a:cxnSpLocks/>
            <a:stCxn id="93" idx="0"/>
            <a:endCxn id="87" idx="2"/>
          </p:cNvCxnSpPr>
          <p:nvPr/>
        </p:nvCxnSpPr>
        <p:spPr>
          <a:xfrm rot="5400000" flipH="1" flipV="1">
            <a:off x="6272280" y="4026347"/>
            <a:ext cx="265413" cy="921284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headEnd type="none" w="sm" len="sm"/>
            <a:tailEnd type="triangle" w="sm" len="sm"/>
          </a:ln>
          <a:effectLst/>
        </p:spPr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64C9F412-94A9-25E5-8FAC-E4F72FD3FDC6}"/>
              </a:ext>
            </a:extLst>
          </p:cNvPr>
          <p:cNvCxnSpPr>
            <a:cxnSpLocks/>
            <a:stCxn id="75" idx="0"/>
            <a:endCxn id="71" idx="2"/>
          </p:cNvCxnSpPr>
          <p:nvPr/>
        </p:nvCxnSpPr>
        <p:spPr>
          <a:xfrm flipV="1">
            <a:off x="6941828" y="2945574"/>
            <a:ext cx="0" cy="16376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C321C8C5-09FE-BB0A-4F87-7466244B1E80}"/>
              </a:ext>
            </a:extLst>
          </p:cNvPr>
          <p:cNvSpPr txBox="1"/>
          <p:nvPr/>
        </p:nvSpPr>
        <p:spPr>
          <a:xfrm>
            <a:off x="5508104" y="4619695"/>
            <a:ext cx="872480" cy="36004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Embedding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0902A6FC-F5DB-F112-14E4-E9FC760CB087}"/>
              </a:ext>
            </a:extLst>
          </p:cNvPr>
          <p:cNvSpPr txBox="1"/>
          <p:nvPr/>
        </p:nvSpPr>
        <p:spPr>
          <a:xfrm>
            <a:off x="5508104" y="5085184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(Datasets)</a:t>
            </a:r>
          </a:p>
        </p:txBody>
      </p:sp>
      <p:cxnSp>
        <p:nvCxnSpPr>
          <p:cNvPr id="95" name="接點: 肘形 94">
            <a:extLst>
              <a:ext uri="{FF2B5EF4-FFF2-40B4-BE49-F238E27FC236}">
                <a16:creationId xmlns:a16="http://schemas.microsoft.com/office/drawing/2014/main" id="{0DF5C533-14AF-5453-EFC4-92F1BC09ADD2}"/>
              </a:ext>
            </a:extLst>
          </p:cNvPr>
          <p:cNvCxnSpPr>
            <a:cxnSpLocks/>
            <a:stCxn id="82" idx="3"/>
            <a:endCxn id="77" idx="3"/>
          </p:cNvCxnSpPr>
          <p:nvPr/>
        </p:nvCxnSpPr>
        <p:spPr>
          <a:xfrm flipH="1">
            <a:off x="7379909" y="1127322"/>
            <a:ext cx="137983" cy="3672393"/>
          </a:xfrm>
          <a:prstGeom prst="bentConnector3">
            <a:avLst>
              <a:gd name="adj1" fmla="val -296831"/>
            </a:avLst>
          </a:prstGeom>
          <a:noFill/>
          <a:ln w="19050" cap="flat" cmpd="sng" algn="ctr">
            <a:solidFill>
              <a:srgbClr val="9E7800">
                <a:alpha val="20000"/>
              </a:srgbClr>
            </a:solidFill>
            <a:prstDash val="solid"/>
            <a:headEnd type="none" w="sm" len="sm"/>
            <a:tailEnd type="triangle" w="sm" len="sm"/>
          </a:ln>
          <a:effectLst/>
        </p:spPr>
      </p:cxn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A9211410-1CA2-DB97-0696-0FA69E05D424}"/>
              </a:ext>
            </a:extLst>
          </p:cNvPr>
          <p:cNvSpPr txBox="1"/>
          <p:nvPr/>
        </p:nvSpPr>
        <p:spPr>
          <a:xfrm>
            <a:off x="6056570" y="3319995"/>
            <a:ext cx="294468" cy="20503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 </a:t>
            </a: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x</a:t>
            </a:r>
          </a:p>
        </p:txBody>
      </p:sp>
      <p:pic>
        <p:nvPicPr>
          <p:cNvPr id="97" name="圖形 96" descr="橫條圖 以實心填滿">
            <a:extLst>
              <a:ext uri="{FF2B5EF4-FFF2-40B4-BE49-F238E27FC236}">
                <a16:creationId xmlns:a16="http://schemas.microsoft.com/office/drawing/2014/main" id="{FFB6BD3C-4F1A-3B61-3237-481576D02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422" y="5484557"/>
            <a:ext cx="585843" cy="585843"/>
          </a:xfrm>
          <a:prstGeom prst="rect">
            <a:avLst/>
          </a:prstGeom>
        </p:spPr>
      </p:pic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996439A9-A50E-2030-58D6-F4DF85AFC204}"/>
              </a:ext>
            </a:extLst>
          </p:cNvPr>
          <p:cNvCxnSpPr>
            <a:cxnSpLocks/>
            <a:stCxn id="127" idx="2"/>
            <a:endCxn id="100" idx="3"/>
          </p:cNvCxnSpPr>
          <p:nvPr/>
        </p:nvCxnSpPr>
        <p:spPr>
          <a:xfrm rot="5400000">
            <a:off x="7729560" y="2647704"/>
            <a:ext cx="660307" cy="638722"/>
          </a:xfrm>
          <a:prstGeom prst="bentConnector2">
            <a:avLst/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sm" len="sm"/>
          </a:ln>
          <a:effectLst/>
        </p:spPr>
      </p:cxnSp>
      <p:cxnSp>
        <p:nvCxnSpPr>
          <p:cNvPr id="99" name="接點: 肘形 98">
            <a:extLst>
              <a:ext uri="{FF2B5EF4-FFF2-40B4-BE49-F238E27FC236}">
                <a16:creationId xmlns:a16="http://schemas.microsoft.com/office/drawing/2014/main" id="{A1693338-9EC7-D137-3078-0D8E26211B74}"/>
              </a:ext>
            </a:extLst>
          </p:cNvPr>
          <p:cNvCxnSpPr>
            <a:cxnSpLocks/>
            <a:stCxn id="78" idx="3"/>
            <a:endCxn id="127" idx="0"/>
          </p:cNvCxnSpPr>
          <p:nvPr/>
        </p:nvCxnSpPr>
        <p:spPr>
          <a:xfrm>
            <a:off x="7517892" y="1599888"/>
            <a:ext cx="861182" cy="582372"/>
          </a:xfrm>
          <a:prstGeom prst="bentConnector2">
            <a:avLst/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sm" len="sm"/>
          </a:ln>
          <a:effectLst/>
        </p:spPr>
      </p:cxnSp>
      <p:sp>
        <p:nvSpPr>
          <p:cNvPr id="100" name="矩形: 圓角 99">
            <a:extLst>
              <a:ext uri="{FF2B5EF4-FFF2-40B4-BE49-F238E27FC236}">
                <a16:creationId xmlns:a16="http://schemas.microsoft.com/office/drawing/2014/main" id="{740418D9-D937-4976-CBC7-5B2FD8E6ED89}"/>
              </a:ext>
            </a:extLst>
          </p:cNvPr>
          <p:cNvSpPr/>
          <p:nvPr/>
        </p:nvSpPr>
        <p:spPr>
          <a:xfrm>
            <a:off x="6141460" y="1412776"/>
            <a:ext cx="1598892" cy="3768886"/>
          </a:xfrm>
          <a:prstGeom prst="roundRect">
            <a:avLst>
              <a:gd name="adj" fmla="val 10053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A64DBD4F-167B-9ECC-37CF-ADE9F4B5CCB1}"/>
              </a:ext>
            </a:extLst>
          </p:cNvPr>
          <p:cNvSpPr txBox="1"/>
          <p:nvPr/>
        </p:nvSpPr>
        <p:spPr>
          <a:xfrm>
            <a:off x="5152301" y="1075856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68773034-EAB3-689B-C962-52AE905F8000}"/>
              </a:ext>
            </a:extLst>
          </p:cNvPr>
          <p:cNvGraphicFramePr>
            <a:graphicFrameLocks noGrp="1"/>
          </p:cNvGraphicFramePr>
          <p:nvPr/>
        </p:nvGraphicFramePr>
        <p:xfrm>
          <a:off x="5211278" y="1097982"/>
          <a:ext cx="610509" cy="83857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Datasets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cap="none" spc="0" dirty="0">
                          <a:ln w="0"/>
                          <a:solidFill>
                            <a:srgbClr val="FF0000"/>
                          </a:solidFill>
                          <a:effectLst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cxnSp>
        <p:nvCxnSpPr>
          <p:cNvPr id="103" name="直線單箭頭接點 102">
            <a:extLst>
              <a:ext uri="{FF2B5EF4-FFF2-40B4-BE49-F238E27FC236}">
                <a16:creationId xmlns:a16="http://schemas.microsoft.com/office/drawing/2014/main" id="{BDAD230C-4DCA-E2AC-A7BA-357591AE227B}"/>
              </a:ext>
            </a:extLst>
          </p:cNvPr>
          <p:cNvCxnSpPr>
            <a:cxnSpLocks/>
            <a:stCxn id="71" idx="0"/>
            <a:endCxn id="74" idx="2"/>
          </p:cNvCxnSpPr>
          <p:nvPr/>
        </p:nvCxnSpPr>
        <p:spPr>
          <a:xfrm flipV="1">
            <a:off x="6941828" y="2551328"/>
            <a:ext cx="0" cy="16919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47C32E06-E726-7A49-EB9E-7080B5546768}"/>
              </a:ext>
            </a:extLst>
          </p:cNvPr>
          <p:cNvGraphicFramePr>
            <a:graphicFrameLocks noGrp="1"/>
          </p:cNvGraphicFramePr>
          <p:nvPr/>
        </p:nvGraphicFramePr>
        <p:xfrm>
          <a:off x="498873" y="3573016"/>
          <a:ext cx="758739" cy="351587"/>
        </p:xfrm>
        <a:graphic>
          <a:graphicData uri="http://schemas.openxmlformats.org/drawingml/2006/table">
            <a:tbl>
              <a:tblPr firstRow="1" bandRow="1"/>
              <a:tblGrid>
                <a:gridCol w="25603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46675">
                  <a:extLst>
                    <a:ext uri="{9D8B030D-6E8A-4147-A177-3AD203B41FA5}">
                      <a16:colId xmlns:a16="http://schemas.microsoft.com/office/drawing/2014/main" val="2345701098"/>
                    </a:ext>
                  </a:extLst>
                </a:gridCol>
              </a:tblGrid>
              <a:tr h="1728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187546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05" name="表格 104">
            <a:extLst>
              <a:ext uri="{FF2B5EF4-FFF2-40B4-BE49-F238E27FC236}">
                <a16:creationId xmlns:a16="http://schemas.microsoft.com/office/drawing/2014/main" id="{066AEA29-CA15-3609-9094-C23D3FD11086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3212976"/>
          <a:ext cx="2191365" cy="725389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370046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Predicted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Token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Target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Token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“?”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DDCAA2E7-8920-3F4B-F70A-FA713021844A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2708920"/>
          <a:ext cx="469803" cy="636108"/>
        </p:xfrm>
        <a:graphic>
          <a:graphicData uri="http://schemas.openxmlformats.org/drawingml/2006/table">
            <a:tbl>
              <a:tblPr firstRow="1" bandRow="1"/>
              <a:tblGrid>
                <a:gridCol w="46980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How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579499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are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285286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You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97382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?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</a:tbl>
          </a:graphicData>
        </a:graphic>
      </p:graphicFrame>
      <p:sp>
        <p:nvSpPr>
          <p:cNvPr id="107" name="箭號: 向下 106">
            <a:extLst>
              <a:ext uri="{FF2B5EF4-FFF2-40B4-BE49-F238E27FC236}">
                <a16:creationId xmlns:a16="http://schemas.microsoft.com/office/drawing/2014/main" id="{CFF1784B-2B23-68D0-D718-9846FCC093CF}"/>
              </a:ext>
            </a:extLst>
          </p:cNvPr>
          <p:cNvSpPr/>
          <p:nvPr/>
        </p:nvSpPr>
        <p:spPr>
          <a:xfrm>
            <a:off x="5396876" y="2060848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08" name="接點: 弧形 107">
            <a:extLst>
              <a:ext uri="{FF2B5EF4-FFF2-40B4-BE49-F238E27FC236}">
                <a16:creationId xmlns:a16="http://schemas.microsoft.com/office/drawing/2014/main" id="{CCF5D8A2-D7A5-3A8D-BDD6-5ED665F5AC9B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 rot="5400000" flipH="1" flipV="1">
            <a:off x="2069267" y="2021951"/>
            <a:ext cx="360040" cy="2742091"/>
          </a:xfrm>
          <a:prstGeom prst="curvedConnector3">
            <a:avLst>
              <a:gd name="adj1" fmla="val 163493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718D4D57-BCB8-4F9B-E2D9-A57202FE8A06}"/>
              </a:ext>
            </a:extLst>
          </p:cNvPr>
          <p:cNvSpPr txBox="1"/>
          <p:nvPr/>
        </p:nvSpPr>
        <p:spPr>
          <a:xfrm>
            <a:off x="2217328" y="3698045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3892666F-0FDF-579C-3D8D-54C382375F9F}"/>
              </a:ext>
            </a:extLst>
          </p:cNvPr>
          <p:cNvSpPr txBox="1"/>
          <p:nvPr/>
        </p:nvSpPr>
        <p:spPr>
          <a:xfrm>
            <a:off x="6507429" y="3933056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Adam, SGD …</a:t>
            </a:r>
          </a:p>
        </p:txBody>
      </p: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A81AA052-B80F-23BF-7ACD-B37A1239B3D3}"/>
              </a:ext>
            </a:extLst>
          </p:cNvPr>
          <p:cNvCxnSpPr>
            <a:cxnSpLocks/>
            <a:stCxn id="112" idx="2"/>
            <a:endCxn id="126" idx="3"/>
          </p:cNvCxnSpPr>
          <p:nvPr/>
        </p:nvCxnSpPr>
        <p:spPr>
          <a:xfrm rot="5400000">
            <a:off x="3238818" y="4806443"/>
            <a:ext cx="1863951" cy="205698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4F44F6C0-FF81-3C37-B36D-8E03D2262183}"/>
              </a:ext>
            </a:extLst>
          </p:cNvPr>
          <p:cNvSpPr/>
          <p:nvPr/>
        </p:nvSpPr>
        <p:spPr>
          <a:xfrm>
            <a:off x="3774381" y="3573016"/>
            <a:ext cx="998522" cy="404301"/>
          </a:xfrm>
          <a:prstGeom prst="rect">
            <a:avLst/>
          </a:prstGeom>
          <a:noFill/>
          <a:ln w="25400" cap="flat" cmpd="sng" algn="ctr">
            <a:solidFill>
              <a:srgbClr val="8064A2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F026EDA-DD5B-2AF3-5602-D06DE2FB0BB2}"/>
              </a:ext>
            </a:extLst>
          </p:cNvPr>
          <p:cNvSpPr/>
          <p:nvPr/>
        </p:nvSpPr>
        <p:spPr>
          <a:xfrm>
            <a:off x="2477138" y="3573016"/>
            <a:ext cx="978524" cy="404301"/>
          </a:xfrm>
          <a:prstGeom prst="rect">
            <a:avLst/>
          </a:prstGeom>
          <a:noFill/>
          <a:ln w="25400" cap="flat" cmpd="sng" algn="ctr">
            <a:solidFill>
              <a:srgbClr val="4F81BD">
                <a:lumMod val="60000"/>
                <a:lumOff val="40000"/>
              </a:srgb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B781BC45-F5DC-ABA9-27E5-26E3586BF08D}"/>
              </a:ext>
            </a:extLst>
          </p:cNvPr>
          <p:cNvCxnSpPr>
            <a:cxnSpLocks/>
            <a:stCxn id="113" idx="2"/>
            <a:endCxn id="126" idx="1"/>
          </p:cNvCxnSpPr>
          <p:nvPr/>
        </p:nvCxnSpPr>
        <p:spPr>
          <a:xfrm rot="16200000" flipH="1">
            <a:off x="2148957" y="4794760"/>
            <a:ext cx="1863951" cy="229064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115" name="表格 114">
            <a:extLst>
              <a:ext uri="{FF2B5EF4-FFF2-40B4-BE49-F238E27FC236}">
                <a16:creationId xmlns:a16="http://schemas.microsoft.com/office/drawing/2014/main" id="{6B94B062-C40D-E956-5851-3CDA906F4C9D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4236854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92627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1708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CD86FE2E-861A-9230-0B9B-BBC4456C0BA4}"/>
              </a:ext>
            </a:extLst>
          </p:cNvPr>
          <p:cNvGraphicFramePr>
            <a:graphicFrameLocks noGrp="1"/>
          </p:cNvGraphicFramePr>
          <p:nvPr/>
        </p:nvGraphicFramePr>
        <p:xfrm>
          <a:off x="2527296" y="4149080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“?”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6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3.6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0212008B-636A-9F51-E70B-E7CD27FB90B4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4692901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92627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1708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18" name="表格 117">
            <a:extLst>
              <a:ext uri="{FF2B5EF4-FFF2-40B4-BE49-F238E27FC236}">
                <a16:creationId xmlns:a16="http://schemas.microsoft.com/office/drawing/2014/main" id="{5E59DBBE-A126-3422-E129-7CEDE19AAF0B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4605127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</a:t>
                      </a: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?</a:t>
                      </a:r>
                      <a:r>
                        <a:rPr lang="en-US" altLang="zh-TW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”</a:t>
                      </a:r>
                      <a:endParaRPr lang="zh-TW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6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9" name="表格 118">
            <a:extLst>
              <a:ext uri="{FF2B5EF4-FFF2-40B4-BE49-F238E27FC236}">
                <a16:creationId xmlns:a16="http://schemas.microsoft.com/office/drawing/2014/main" id="{05A23CAA-7791-1E61-20EC-CC98A4A30C4C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5138117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88032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2167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20" name="表格 119">
            <a:extLst>
              <a:ext uri="{FF2B5EF4-FFF2-40B4-BE49-F238E27FC236}">
                <a16:creationId xmlns:a16="http://schemas.microsoft.com/office/drawing/2014/main" id="{84C3E1E6-26A3-DCE5-ED4E-9A14FCDFF273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5089881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121" name="接點: 肘形 120">
            <a:extLst>
              <a:ext uri="{FF2B5EF4-FFF2-40B4-BE49-F238E27FC236}">
                <a16:creationId xmlns:a16="http://schemas.microsoft.com/office/drawing/2014/main" id="{3620F812-40DC-1E15-7A82-5D3A3AC54544}"/>
              </a:ext>
            </a:extLst>
          </p:cNvPr>
          <p:cNvCxnSpPr>
            <a:cxnSpLocks/>
            <a:stCxn id="126" idx="2"/>
            <a:endCxn id="119" idx="2"/>
          </p:cNvCxnSpPr>
          <p:nvPr/>
        </p:nvCxnSpPr>
        <p:spPr>
          <a:xfrm rot="5400000" flipH="1">
            <a:off x="2343642" y="4733227"/>
            <a:ext cx="525729" cy="2050394"/>
          </a:xfrm>
          <a:prstGeom prst="bentConnector3">
            <a:avLst>
              <a:gd name="adj1" fmla="val -43482"/>
            </a:avLst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med" len="med"/>
          </a:ln>
          <a:effectLst/>
        </p:spPr>
      </p:cxn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D92FFF3B-4179-03FA-0DCA-65461DE700F0}"/>
              </a:ext>
            </a:extLst>
          </p:cNvPr>
          <p:cNvSpPr txBox="1"/>
          <p:nvPr/>
        </p:nvSpPr>
        <p:spPr>
          <a:xfrm>
            <a:off x="2267744" y="6021288"/>
            <a:ext cx="1161905" cy="19057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Backpropagation</a:t>
            </a: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FDAB6384-23C2-471C-E162-2C679A6197E0}"/>
              </a:ext>
            </a:extLst>
          </p:cNvPr>
          <p:cNvSpPr txBox="1"/>
          <p:nvPr/>
        </p:nvSpPr>
        <p:spPr>
          <a:xfrm>
            <a:off x="2217328" y="4293096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F92D12E0-CDC2-6CBB-BC7A-F3CCB9611CA2}"/>
              </a:ext>
            </a:extLst>
          </p:cNvPr>
          <p:cNvSpPr txBox="1"/>
          <p:nvPr/>
        </p:nvSpPr>
        <p:spPr>
          <a:xfrm>
            <a:off x="2173920" y="4736177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BD0491B2-6B73-C276-D5E3-FA29170A4882}"/>
              </a:ext>
            </a:extLst>
          </p:cNvPr>
          <p:cNvSpPr txBox="1"/>
          <p:nvPr/>
        </p:nvSpPr>
        <p:spPr>
          <a:xfrm>
            <a:off x="2195736" y="5157192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4F8597A0-BCD3-CCF3-C088-BC4A798D9EA6}"/>
              </a:ext>
            </a:extLst>
          </p:cNvPr>
          <p:cNvSpPr txBox="1"/>
          <p:nvPr/>
        </p:nvSpPr>
        <p:spPr>
          <a:xfrm>
            <a:off x="3195464" y="5661248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Cross Entropy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</a:t>
            </a: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7C5EB72F-A4CE-5499-AAA1-CE1DAD10E7EB}"/>
              </a:ext>
            </a:extLst>
          </p:cNvPr>
          <p:cNvSpPr txBox="1"/>
          <p:nvPr/>
        </p:nvSpPr>
        <p:spPr>
          <a:xfrm>
            <a:off x="7942834" y="2182260"/>
            <a:ext cx="872480" cy="454652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Cross Entropy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</a:t>
            </a: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D58418A0-5350-9055-A48B-E16A0C687157}"/>
              </a:ext>
            </a:extLst>
          </p:cNvPr>
          <p:cNvSpPr/>
          <p:nvPr/>
        </p:nvSpPr>
        <p:spPr>
          <a:xfrm>
            <a:off x="1268147" y="5733256"/>
            <a:ext cx="927589" cy="585843"/>
          </a:xfrm>
          <a:prstGeom prst="roundRect">
            <a:avLst>
              <a:gd name="adj" fmla="val 10053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4B26A2B-765E-82D5-9B5B-3B18DC408D11}"/>
              </a:ext>
            </a:extLst>
          </p:cNvPr>
          <p:cNvSpPr txBox="1"/>
          <p:nvPr/>
        </p:nvSpPr>
        <p:spPr>
          <a:xfrm>
            <a:off x="7740352" y="3633658"/>
            <a:ext cx="1161905" cy="267402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Backpropagation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0E25F067-9DB6-6257-1E1D-E053C991123B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 rot="5400000">
            <a:off x="2928160" y="132193"/>
            <a:ext cx="423020" cy="4730434"/>
          </a:xfrm>
          <a:prstGeom prst="bentConnector3">
            <a:avLst>
              <a:gd name="adj1" fmla="val 50000"/>
            </a:avLst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131" name="表格 130">
            <a:extLst>
              <a:ext uri="{FF2B5EF4-FFF2-40B4-BE49-F238E27FC236}">
                <a16:creationId xmlns:a16="http://schemas.microsoft.com/office/drawing/2014/main" id="{EA32B624-1DEC-0A0F-D46B-B146E71B6CA2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3190244"/>
          <a:ext cx="931386" cy="886828"/>
        </p:xfrm>
        <a:graphic>
          <a:graphicData uri="http://schemas.openxmlformats.org/drawingml/2006/table">
            <a:tbl>
              <a:tblPr firstRow="1" bandRow="1"/>
              <a:tblGrid>
                <a:gridCol w="31046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10462">
                  <a:extLst>
                    <a:ext uri="{9D8B030D-6E8A-4147-A177-3AD203B41FA5}">
                      <a16:colId xmlns:a16="http://schemas.microsoft.com/office/drawing/2014/main" val="192921028"/>
                    </a:ext>
                  </a:extLst>
                </a:gridCol>
                <a:gridCol w="310462">
                  <a:extLst>
                    <a:ext uri="{9D8B030D-6E8A-4147-A177-3AD203B41FA5}">
                      <a16:colId xmlns:a16="http://schemas.microsoft.com/office/drawing/2014/main" val="1311854737"/>
                    </a:ext>
                  </a:extLst>
                </a:gridCol>
              </a:tblGrid>
              <a:tr h="44621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Model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(Parameters)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  <a:tr h="220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0" marR="0" marT="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</a:p>
                  </a:txBody>
                  <a:tcPr marL="0" marR="0" marT="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06561"/>
                  </a:ext>
                </a:extLst>
              </a:tr>
              <a:tr h="220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9455F766-C08B-2319-C7E3-010ED5B8BCAE}"/>
              </a:ext>
            </a:extLst>
          </p:cNvPr>
          <p:cNvSpPr txBox="1"/>
          <p:nvPr/>
        </p:nvSpPr>
        <p:spPr>
          <a:xfrm>
            <a:off x="2123728" y="2746973"/>
            <a:ext cx="469803" cy="18949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330653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B86D0-4F9C-9F98-9768-2B94B873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14</a:t>
            </a:fld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86015F5-6C7F-8F59-1A41-A9D1D501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134865"/>
            <a:ext cx="2667231" cy="1646063"/>
          </a:xfrm>
          <a:prstGeom prst="rect">
            <a:avLst/>
          </a:prstGeom>
          <a:effectLst>
            <a:glow rad="127000">
              <a:sysClr val="window" lastClr="FFFFFF">
                <a:lumMod val="95000"/>
              </a:sysClr>
            </a:glow>
            <a:softEdge rad="127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6EC91-7EA6-D7A6-0423-1ECCD1AC2ACB}"/>
                  </a:ext>
                </a:extLst>
              </p:cNvPr>
              <p:cNvSpPr txBox="1"/>
              <p:nvPr/>
            </p:nvSpPr>
            <p:spPr>
              <a:xfrm>
                <a:off x="287524" y="1085503"/>
                <a:ext cx="4572508" cy="1120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TW" sz="2000" b="1" dirty="0">
                    <a:solidFill>
                      <a:prstClr val="black"/>
                    </a:solidFill>
                    <a:latin typeface="Calibri"/>
                  </a:rPr>
                  <a:t>Backpropagation</a:t>
                </a:r>
                <a:endParaRPr lang="en-US" altLang="zh-TW" sz="1600" b="1" dirty="0">
                  <a:solidFill>
                    <a:prstClr val="black"/>
                  </a:solidFill>
                  <a:latin typeface="Calibri"/>
                </a:endParaRPr>
              </a:p>
              <a:p>
                <a:pPr marL="285750" indent="-285750" defTabSz="19431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  <a:defRPr/>
                </a:pPr>
                <a:r>
                  <a:rPr lang="en-US" altLang="zh-TW" sz="1600" b="1" dirty="0">
                    <a:solidFill>
                      <a:prstClr val="black"/>
                    </a:solidFill>
                    <a:latin typeface="Calibri"/>
                  </a:rPr>
                  <a:t>Gradient Descent</a:t>
                </a:r>
                <a:r>
                  <a:rPr lang="en-US" altLang="zh-TW" sz="1600" dirty="0">
                    <a:solidFill>
                      <a:prstClr val="black"/>
                    </a:solidFill>
                    <a:latin typeface="Calibri"/>
                  </a:rPr>
                  <a:t>: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solidFill>
                    <a:prstClr val="black"/>
                  </a:solidFill>
                  <a:latin typeface="Calibri"/>
                </a:endParaRPr>
              </a:p>
              <a:p>
                <a:pPr marL="285750" indent="-285750" defTabSz="19431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TW" sz="1600" b="1" dirty="0">
                    <a:solidFill>
                      <a:prstClr val="black"/>
                    </a:solidFill>
                    <a:latin typeface="Calibri"/>
                  </a:rPr>
                  <a:t>Chain Rule</a:t>
                </a:r>
                <a:r>
                  <a:rPr lang="en-US" altLang="zh-TW" sz="1600" dirty="0">
                    <a:solidFill>
                      <a:prstClr val="black"/>
                    </a:solidFill>
                    <a:latin typeface="Calibri"/>
                  </a:rPr>
                  <a:t>: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zh-TW" altLang="en-US" sz="1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6EC91-7EA6-D7A6-0423-1ECCD1AC2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085503"/>
                <a:ext cx="4572508" cy="1120820"/>
              </a:xfrm>
              <a:prstGeom prst="rect">
                <a:avLst/>
              </a:prstGeom>
              <a:blipFill>
                <a:blip r:embed="rId4"/>
                <a:stretch>
                  <a:fillRect l="-1333" t="-8696" b="-5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78ECC39-AACC-9DF7-1F00-E4303B55D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762020"/>
                  </p:ext>
                </p:extLst>
              </p:nvPr>
            </p:nvGraphicFramePr>
            <p:xfrm>
              <a:off x="322060" y="2382033"/>
              <a:ext cx="8499879" cy="40675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657652">
                      <a:extLst>
                        <a:ext uri="{9D8B030D-6E8A-4147-A177-3AD203B41FA5}">
                          <a16:colId xmlns:a16="http://schemas.microsoft.com/office/drawing/2014/main" val="2211145501"/>
                        </a:ext>
                      </a:extLst>
                    </a:gridCol>
                    <a:gridCol w="2831891">
                      <a:extLst>
                        <a:ext uri="{9D8B030D-6E8A-4147-A177-3AD203B41FA5}">
                          <a16:colId xmlns:a16="http://schemas.microsoft.com/office/drawing/2014/main" val="767948712"/>
                        </a:ext>
                      </a:extLst>
                    </a:gridCol>
                    <a:gridCol w="2907893">
                      <a:extLst>
                        <a:ext uri="{9D8B030D-6E8A-4147-A177-3AD203B41FA5}">
                          <a16:colId xmlns:a16="http://schemas.microsoft.com/office/drawing/2014/main" val="1809051212"/>
                        </a:ext>
                      </a:extLst>
                    </a:gridCol>
                    <a:gridCol w="1102443">
                      <a:extLst>
                        <a:ext uri="{9D8B030D-6E8A-4147-A177-3AD203B41FA5}">
                          <a16:colId xmlns:a16="http://schemas.microsoft.com/office/drawing/2014/main" val="2936818418"/>
                        </a:ext>
                      </a:extLst>
                    </a:gridCol>
                  </a:tblGrid>
                  <a:tr h="5942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MLP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Multi-Layer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Perception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𝑏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; </m:t>
                                </m:r>
                                <m:f>
                                  <m:fPr>
                                    <m:ctrlP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;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758469"/>
                      </a:ext>
                    </a:extLst>
                  </a:tr>
                  <a:tr h="24318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Combination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Sigmoid, BCE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ReLU, MSE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MoE</a:t>
                          </a: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1258892"/>
                      </a:ext>
                    </a:extLst>
                  </a:tr>
                  <a:tr h="85538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Activation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Function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d>
                                <m:dPr>
                                  <m:ctrlPr>
                                    <a:rPr lang="en-US" altLang="zh-TW" sz="12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altLang="zh-TW" sz="12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Rectified Linear Unit: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(0, 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);</m:t>
                                </m:r>
                              </m:oMath>
                            </m:oMathPara>
                          </a14:m>
                          <a:endParaRPr lang="en-US" altLang="zh-TW" sz="12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&amp;0,  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GELU,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SwiGLU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SoftMax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…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3766316"/>
                      </a:ext>
                    </a:extLst>
                  </a:tr>
                  <a:tr h="85538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Loss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Function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Cross-Entropy: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func>
                                      <m:func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func>
                                      <m:func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  <m: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Mean Square Error: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5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cy-GB" altLang="zh-TW" sz="1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ŷ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a</m:t>
                                        </m:r>
                                        <m: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TW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Cross-Entropy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Load Balancing Loss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2474553"/>
                      </a:ext>
                    </a:extLst>
                  </a:tr>
                  <a:tr h="43505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Descent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zh-TW" altLang="en-US" sz="1200" i="1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l-GR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′=</m:t>
                                </m:r>
                                <m:f>
                                  <m:f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l-GR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′=</m:t>
                                </m:r>
                                <m:f>
                                  <m:f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∙2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8612504"/>
                      </a:ext>
                    </a:extLst>
                  </a:tr>
                  <a:tr h="6411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Optimize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←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𝜂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⋅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𝛻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∗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 1∗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∗2∗</m:t>
                              </m:r>
                              <m:d>
                                <m:d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∗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∗2∗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 1∗2∗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: Target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Learning Rate </a:t>
                          </a:r>
                          <a:r>
                            <a:rPr lang="el-GR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η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is 10</a:t>
                          </a:r>
                          <a:r>
                            <a:rPr lang="en-US" altLang="zh-TW" sz="1200" b="0" cap="none" spc="0" baseline="3000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~ 10</a:t>
                          </a:r>
                          <a:r>
                            <a:rPr lang="en-US" altLang="zh-TW" sz="1200" b="0" cap="none" spc="0" baseline="3000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.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1340391"/>
                      </a:ext>
                    </a:extLst>
                  </a:tr>
                  <a:tr h="3499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Suitable Uses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and Multi-Label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Classification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Regression and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Multi-Class Classification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53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78ECC39-AACC-9DF7-1F00-E4303B55D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762020"/>
                  </p:ext>
                </p:extLst>
              </p:nvPr>
            </p:nvGraphicFramePr>
            <p:xfrm>
              <a:off x="322060" y="2382033"/>
              <a:ext cx="8499879" cy="40675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657652">
                      <a:extLst>
                        <a:ext uri="{9D8B030D-6E8A-4147-A177-3AD203B41FA5}">
                          <a16:colId xmlns:a16="http://schemas.microsoft.com/office/drawing/2014/main" val="2211145501"/>
                        </a:ext>
                      </a:extLst>
                    </a:gridCol>
                    <a:gridCol w="2831891">
                      <a:extLst>
                        <a:ext uri="{9D8B030D-6E8A-4147-A177-3AD203B41FA5}">
                          <a16:colId xmlns:a16="http://schemas.microsoft.com/office/drawing/2014/main" val="767948712"/>
                        </a:ext>
                      </a:extLst>
                    </a:gridCol>
                    <a:gridCol w="2907893">
                      <a:extLst>
                        <a:ext uri="{9D8B030D-6E8A-4147-A177-3AD203B41FA5}">
                          <a16:colId xmlns:a16="http://schemas.microsoft.com/office/drawing/2014/main" val="1809051212"/>
                        </a:ext>
                      </a:extLst>
                    </a:gridCol>
                    <a:gridCol w="1102443">
                      <a:extLst>
                        <a:ext uri="{9D8B030D-6E8A-4147-A177-3AD203B41FA5}">
                          <a16:colId xmlns:a16="http://schemas.microsoft.com/office/drawing/2014/main" val="2936818418"/>
                        </a:ext>
                      </a:extLst>
                    </a:gridCol>
                  </a:tblGrid>
                  <a:tr h="5942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MLP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Multi-Layer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Perception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4199" t="-98980" b="-5979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758469"/>
                      </a:ext>
                    </a:extLst>
                  </a:tr>
                  <a:tr h="24318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Combination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Sigmoid, BCE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ReLU, MSE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MoE</a:t>
                          </a: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1258892"/>
                      </a:ext>
                    </a:extLst>
                  </a:tr>
                  <a:tr h="894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59864" r="-41323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8495" t="-159864" r="-141720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54184" t="-159864" r="-37866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GELU,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SwiGLU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SoftMax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…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3766316"/>
                      </a:ext>
                    </a:extLst>
                  </a:tr>
                  <a:tr h="894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59864" r="-413235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8495" t="-259864" r="-141720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54184" t="-259864" r="-37866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Cross-Entropy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Load Balancing Loss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2474553"/>
                      </a:ext>
                    </a:extLst>
                  </a:tr>
                  <a:tr h="4350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745070" r="-413235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8495" t="-745070" r="-141720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54184" t="-745070" r="-37866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8612504"/>
                      </a:ext>
                    </a:extLst>
                  </a:tr>
                  <a:tr h="6411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66038" r="-413235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8495" t="-566038" r="-141720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54184" t="-566038" r="-37866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71271" t="-566038" b="-707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340391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Suitable Uses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and Multi-Label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Classification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Regression and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Multi-Class Classification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53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標題 1">
            <a:extLst>
              <a:ext uri="{FF2B5EF4-FFF2-40B4-BE49-F238E27FC236}">
                <a16:creationId xmlns:a16="http://schemas.microsoft.com/office/drawing/2014/main" id="{D9754350-CBC4-4AD0-CB6E-A3772E34F1C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6120680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ayer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erceptron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MLP applies backpropagation to resolve intricate, non-linear problems.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5A6E32B1-CE24-570B-A710-D8703DB765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769" y="3268354"/>
            <a:ext cx="994846" cy="61517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BC8FF5A8-9B6C-8D90-C135-5DF861733B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5481" y="3321282"/>
            <a:ext cx="1068767" cy="5622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A82CCE-7405-E3F9-2CB9-BB1EB8B788D5}"/>
                  </a:ext>
                </a:extLst>
              </p:cNvPr>
              <p:cNvSpPr txBox="1"/>
              <p:nvPr/>
            </p:nvSpPr>
            <p:spPr>
              <a:xfrm>
                <a:off x="6588224" y="1089229"/>
                <a:ext cx="1421904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A82CCE-7405-E3F9-2CB9-BB1EB8B7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089229"/>
                <a:ext cx="1421904" cy="539571"/>
              </a:xfrm>
              <a:prstGeom prst="rect">
                <a:avLst/>
              </a:prstGeom>
              <a:blipFill>
                <a:blip r:embed="rId8"/>
                <a:stretch>
                  <a:fillRect l="-13305" t="-117045" r="-22747" b="-16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1D31EF5A-FDE1-D360-6A26-69420B446BD3}"/>
              </a:ext>
            </a:extLst>
          </p:cNvPr>
          <p:cNvSpPr txBox="1"/>
          <p:nvPr/>
        </p:nvSpPr>
        <p:spPr>
          <a:xfrm>
            <a:off x="7398853" y="2208165"/>
            <a:ext cx="629531" cy="369332"/>
          </a:xfrm>
          <a:prstGeom prst="rect">
            <a:avLst/>
          </a:prstGeom>
          <a:noFill/>
        </p:spPr>
        <p:txBody>
          <a:bodyPr wrap="none" lIns="0" tIns="0" rIns="0" bIns="0" anchor="ctr" anchorCtr="1">
            <a:spAutoFit/>
          </a:bodyPr>
          <a:lstStyle/>
          <a:p>
            <a:pPr defTabSz="914400"/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Activation</a:t>
            </a:r>
          </a:p>
          <a:p>
            <a:pPr defTabSz="914400"/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7329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BF72D-D5CF-DE4B-18DB-F1901572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1144CEE2-7686-645D-E7D8-AF8B913D9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80746"/>
                  </p:ext>
                </p:extLst>
              </p:nvPr>
            </p:nvGraphicFramePr>
            <p:xfrm>
              <a:off x="467544" y="1222960"/>
              <a:ext cx="6951798" cy="3693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5400">
                      <a:extLst>
                        <a:ext uri="{9D8B030D-6E8A-4147-A177-3AD203B41FA5}">
                          <a16:colId xmlns:a16="http://schemas.microsoft.com/office/drawing/2014/main" val="2171259255"/>
                        </a:ext>
                      </a:extLst>
                    </a:gridCol>
                    <a:gridCol w="587898">
                      <a:extLst>
                        <a:ext uri="{9D8B030D-6E8A-4147-A177-3AD203B41FA5}">
                          <a16:colId xmlns:a16="http://schemas.microsoft.com/office/drawing/2014/main" val="871242339"/>
                        </a:ext>
                      </a:extLst>
                    </a:gridCol>
                    <a:gridCol w="146975">
                      <a:extLst>
                        <a:ext uri="{9D8B030D-6E8A-4147-A177-3AD203B41FA5}">
                          <a16:colId xmlns:a16="http://schemas.microsoft.com/office/drawing/2014/main" val="1201755844"/>
                        </a:ext>
                      </a:extLst>
                    </a:gridCol>
                    <a:gridCol w="558250">
                      <a:extLst>
                        <a:ext uri="{9D8B030D-6E8A-4147-A177-3AD203B41FA5}">
                          <a16:colId xmlns:a16="http://schemas.microsoft.com/office/drawing/2014/main" val="506512337"/>
                        </a:ext>
                      </a:extLst>
                    </a:gridCol>
                    <a:gridCol w="216024">
                      <a:extLst>
                        <a:ext uri="{9D8B030D-6E8A-4147-A177-3AD203B41FA5}">
                          <a16:colId xmlns:a16="http://schemas.microsoft.com/office/drawing/2014/main" val="1340741050"/>
                        </a:ext>
                      </a:extLst>
                    </a:gridCol>
                    <a:gridCol w="475010">
                      <a:extLst>
                        <a:ext uri="{9D8B030D-6E8A-4147-A177-3AD203B41FA5}">
                          <a16:colId xmlns:a16="http://schemas.microsoft.com/office/drawing/2014/main" val="3047107006"/>
                        </a:ext>
                      </a:extLst>
                    </a:gridCol>
                    <a:gridCol w="440924">
                      <a:extLst>
                        <a:ext uri="{9D8B030D-6E8A-4147-A177-3AD203B41FA5}">
                          <a16:colId xmlns:a16="http://schemas.microsoft.com/office/drawing/2014/main" val="3476142927"/>
                        </a:ext>
                      </a:extLst>
                    </a:gridCol>
                    <a:gridCol w="220462">
                      <a:extLst>
                        <a:ext uri="{9D8B030D-6E8A-4147-A177-3AD203B41FA5}">
                          <a16:colId xmlns:a16="http://schemas.microsoft.com/office/drawing/2014/main" val="1396334188"/>
                        </a:ext>
                      </a:extLst>
                    </a:gridCol>
                    <a:gridCol w="344617">
                      <a:extLst>
                        <a:ext uri="{9D8B030D-6E8A-4147-A177-3AD203B41FA5}">
                          <a16:colId xmlns:a16="http://schemas.microsoft.com/office/drawing/2014/main" val="2978978417"/>
                        </a:ext>
                      </a:extLst>
                    </a:gridCol>
                    <a:gridCol w="316769">
                      <a:extLst>
                        <a:ext uri="{9D8B030D-6E8A-4147-A177-3AD203B41FA5}">
                          <a16:colId xmlns:a16="http://schemas.microsoft.com/office/drawing/2014/main" val="3064547975"/>
                        </a:ext>
                      </a:extLst>
                    </a:gridCol>
                    <a:gridCol w="506474">
                      <a:extLst>
                        <a:ext uri="{9D8B030D-6E8A-4147-A177-3AD203B41FA5}">
                          <a16:colId xmlns:a16="http://schemas.microsoft.com/office/drawing/2014/main" val="1863192475"/>
                        </a:ext>
                      </a:extLst>
                    </a:gridCol>
                    <a:gridCol w="340092">
                      <a:extLst>
                        <a:ext uri="{9D8B030D-6E8A-4147-A177-3AD203B41FA5}">
                          <a16:colId xmlns:a16="http://schemas.microsoft.com/office/drawing/2014/main" val="720974766"/>
                        </a:ext>
                      </a:extLst>
                    </a:gridCol>
                    <a:gridCol w="255744">
                      <a:extLst>
                        <a:ext uri="{9D8B030D-6E8A-4147-A177-3AD203B41FA5}">
                          <a16:colId xmlns:a16="http://schemas.microsoft.com/office/drawing/2014/main" val="2940898418"/>
                        </a:ext>
                      </a:extLst>
                    </a:gridCol>
                    <a:gridCol w="367436">
                      <a:extLst>
                        <a:ext uri="{9D8B030D-6E8A-4147-A177-3AD203B41FA5}">
                          <a16:colId xmlns:a16="http://schemas.microsoft.com/office/drawing/2014/main" val="3540488055"/>
                        </a:ext>
                      </a:extLst>
                    </a:gridCol>
                    <a:gridCol w="796175">
                      <a:extLst>
                        <a:ext uri="{9D8B030D-6E8A-4147-A177-3AD203B41FA5}">
                          <a16:colId xmlns:a16="http://schemas.microsoft.com/office/drawing/2014/main" val="750920784"/>
                        </a:ext>
                      </a:extLst>
                    </a:gridCol>
                    <a:gridCol w="715083">
                      <a:extLst>
                        <a:ext uri="{9D8B030D-6E8A-4147-A177-3AD203B41FA5}">
                          <a16:colId xmlns:a16="http://schemas.microsoft.com/office/drawing/2014/main" val="3374793549"/>
                        </a:ext>
                      </a:extLst>
                    </a:gridCol>
                    <a:gridCol w="278465">
                      <a:extLst>
                        <a:ext uri="{9D8B030D-6E8A-4147-A177-3AD203B41FA5}">
                          <a16:colId xmlns:a16="http://schemas.microsoft.com/office/drawing/2014/main" val="132511825"/>
                        </a:ext>
                      </a:extLst>
                    </a:gridCol>
                  </a:tblGrid>
                  <a:tr h="28803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Input</a:t>
                          </a: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Weight</a:t>
                          </a: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Output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ReLU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Error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Loss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Descent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kumimoji="0" lang="el-GR" altLang="zh-TW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+mn-lt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η</m:t>
                                </m:r>
                                <m:r>
                                  <a:rPr kumimoji="0" lang="el-GR" altLang="zh-TW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∙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∇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ADLaM Display" panose="02010000000000000000" pitchFamily="2" charset="0"/>
                            </a:rPr>
                            <a:t> w -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kumimoji="0" lang="el-GR" altLang="zh-TW" sz="12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+mn-lt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η</m:t>
                              </m:r>
                              <m:r>
                                <a:rPr kumimoji="0" lang="el-GR" altLang="zh-TW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∇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oMath>
                          </a14:m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495302"/>
                      </a:ext>
                    </a:extLst>
                  </a:tr>
                  <a:tr h="28803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(x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2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1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1)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y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a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kumimoji="0" lang="el-GR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η</a:t>
                          </a: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</a:t>
                          </a:r>
                          <a:r>
                            <a:rPr kumimoji="0" lang="en-US" altLang="zh-TW" sz="1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0.01;</a:t>
                          </a:r>
                          <a:endParaRPr lang="zh-TW" altLang="en-US" dirty="0"/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302406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9638735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65031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-0.27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5279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5267731"/>
                      </a:ext>
                    </a:extLst>
                  </a:tr>
                  <a:tr h="3050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457459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3246358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1278001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638640"/>
                      </a:ext>
                    </a:extLst>
                  </a:tr>
                  <a:tr h="36540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4297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1.74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1107603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0.14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18607"/>
                      </a:ext>
                    </a:extLst>
                  </a:tr>
                  <a:tr h="2426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-0.41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3006322"/>
                      </a:ext>
                    </a:extLst>
                  </a:tr>
                  <a:tr h="381067">
                    <a:tc gridSpan="17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…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360000" marR="0" marT="0" marB="0"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TW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7970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1144CEE2-7686-645D-E7D8-AF8B913D9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80746"/>
                  </p:ext>
                </p:extLst>
              </p:nvPr>
            </p:nvGraphicFramePr>
            <p:xfrm>
              <a:off x="467544" y="1222960"/>
              <a:ext cx="6951798" cy="3693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5400">
                      <a:extLst>
                        <a:ext uri="{9D8B030D-6E8A-4147-A177-3AD203B41FA5}">
                          <a16:colId xmlns:a16="http://schemas.microsoft.com/office/drawing/2014/main" val="2171259255"/>
                        </a:ext>
                      </a:extLst>
                    </a:gridCol>
                    <a:gridCol w="587898">
                      <a:extLst>
                        <a:ext uri="{9D8B030D-6E8A-4147-A177-3AD203B41FA5}">
                          <a16:colId xmlns:a16="http://schemas.microsoft.com/office/drawing/2014/main" val="871242339"/>
                        </a:ext>
                      </a:extLst>
                    </a:gridCol>
                    <a:gridCol w="146975">
                      <a:extLst>
                        <a:ext uri="{9D8B030D-6E8A-4147-A177-3AD203B41FA5}">
                          <a16:colId xmlns:a16="http://schemas.microsoft.com/office/drawing/2014/main" val="1201755844"/>
                        </a:ext>
                      </a:extLst>
                    </a:gridCol>
                    <a:gridCol w="558250">
                      <a:extLst>
                        <a:ext uri="{9D8B030D-6E8A-4147-A177-3AD203B41FA5}">
                          <a16:colId xmlns:a16="http://schemas.microsoft.com/office/drawing/2014/main" val="506512337"/>
                        </a:ext>
                      </a:extLst>
                    </a:gridCol>
                    <a:gridCol w="216024">
                      <a:extLst>
                        <a:ext uri="{9D8B030D-6E8A-4147-A177-3AD203B41FA5}">
                          <a16:colId xmlns:a16="http://schemas.microsoft.com/office/drawing/2014/main" val="1340741050"/>
                        </a:ext>
                      </a:extLst>
                    </a:gridCol>
                    <a:gridCol w="475010">
                      <a:extLst>
                        <a:ext uri="{9D8B030D-6E8A-4147-A177-3AD203B41FA5}">
                          <a16:colId xmlns:a16="http://schemas.microsoft.com/office/drawing/2014/main" val="3047107006"/>
                        </a:ext>
                      </a:extLst>
                    </a:gridCol>
                    <a:gridCol w="440924">
                      <a:extLst>
                        <a:ext uri="{9D8B030D-6E8A-4147-A177-3AD203B41FA5}">
                          <a16:colId xmlns:a16="http://schemas.microsoft.com/office/drawing/2014/main" val="3476142927"/>
                        </a:ext>
                      </a:extLst>
                    </a:gridCol>
                    <a:gridCol w="220462">
                      <a:extLst>
                        <a:ext uri="{9D8B030D-6E8A-4147-A177-3AD203B41FA5}">
                          <a16:colId xmlns:a16="http://schemas.microsoft.com/office/drawing/2014/main" val="1396334188"/>
                        </a:ext>
                      </a:extLst>
                    </a:gridCol>
                    <a:gridCol w="344617">
                      <a:extLst>
                        <a:ext uri="{9D8B030D-6E8A-4147-A177-3AD203B41FA5}">
                          <a16:colId xmlns:a16="http://schemas.microsoft.com/office/drawing/2014/main" val="2978978417"/>
                        </a:ext>
                      </a:extLst>
                    </a:gridCol>
                    <a:gridCol w="316769">
                      <a:extLst>
                        <a:ext uri="{9D8B030D-6E8A-4147-A177-3AD203B41FA5}">
                          <a16:colId xmlns:a16="http://schemas.microsoft.com/office/drawing/2014/main" val="3064547975"/>
                        </a:ext>
                      </a:extLst>
                    </a:gridCol>
                    <a:gridCol w="506474">
                      <a:extLst>
                        <a:ext uri="{9D8B030D-6E8A-4147-A177-3AD203B41FA5}">
                          <a16:colId xmlns:a16="http://schemas.microsoft.com/office/drawing/2014/main" val="1863192475"/>
                        </a:ext>
                      </a:extLst>
                    </a:gridCol>
                    <a:gridCol w="340092">
                      <a:extLst>
                        <a:ext uri="{9D8B030D-6E8A-4147-A177-3AD203B41FA5}">
                          <a16:colId xmlns:a16="http://schemas.microsoft.com/office/drawing/2014/main" val="720974766"/>
                        </a:ext>
                      </a:extLst>
                    </a:gridCol>
                    <a:gridCol w="255744">
                      <a:extLst>
                        <a:ext uri="{9D8B030D-6E8A-4147-A177-3AD203B41FA5}">
                          <a16:colId xmlns:a16="http://schemas.microsoft.com/office/drawing/2014/main" val="2940898418"/>
                        </a:ext>
                      </a:extLst>
                    </a:gridCol>
                    <a:gridCol w="367436">
                      <a:extLst>
                        <a:ext uri="{9D8B030D-6E8A-4147-A177-3AD203B41FA5}">
                          <a16:colId xmlns:a16="http://schemas.microsoft.com/office/drawing/2014/main" val="3540488055"/>
                        </a:ext>
                      </a:extLst>
                    </a:gridCol>
                    <a:gridCol w="796175">
                      <a:extLst>
                        <a:ext uri="{9D8B030D-6E8A-4147-A177-3AD203B41FA5}">
                          <a16:colId xmlns:a16="http://schemas.microsoft.com/office/drawing/2014/main" val="750920784"/>
                        </a:ext>
                      </a:extLst>
                    </a:gridCol>
                    <a:gridCol w="715083">
                      <a:extLst>
                        <a:ext uri="{9D8B030D-6E8A-4147-A177-3AD203B41FA5}">
                          <a16:colId xmlns:a16="http://schemas.microsoft.com/office/drawing/2014/main" val="3374793549"/>
                        </a:ext>
                      </a:extLst>
                    </a:gridCol>
                    <a:gridCol w="278465">
                      <a:extLst>
                        <a:ext uri="{9D8B030D-6E8A-4147-A177-3AD203B41FA5}">
                          <a16:colId xmlns:a16="http://schemas.microsoft.com/office/drawing/2014/main" val="132511825"/>
                        </a:ext>
                      </a:extLst>
                    </a:gridCol>
                  </a:tblGrid>
                  <a:tr h="28803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Input</a:t>
                          </a: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Weight</a:t>
                          </a: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Output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ReLU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Error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Loss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Descent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47328" r="-124427" b="-5389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36752" r="-39316" b="-5389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495302"/>
                      </a:ext>
                    </a:extLst>
                  </a:tr>
                  <a:tr h="28803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(x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2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1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1)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y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a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kumimoji="0" lang="el-GR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η</a:t>
                          </a: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</a:t>
                          </a:r>
                          <a:r>
                            <a:rPr kumimoji="0" lang="en-US" altLang="zh-TW" sz="1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0.01;</a:t>
                          </a:r>
                          <a:endParaRPr lang="zh-TW" altLang="en-US" dirty="0"/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6709" t="-97917" r="-186076" b="-106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302406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9638735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65031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-0.27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5279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5267731"/>
                      </a:ext>
                    </a:extLst>
                  </a:tr>
                  <a:tr h="3050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457459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3246358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1278001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638640"/>
                      </a:ext>
                    </a:extLst>
                  </a:tr>
                  <a:tr h="36540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4297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1.74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1107603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0.14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18607"/>
                      </a:ext>
                    </a:extLst>
                  </a:tr>
                  <a:tr h="2426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-0.41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3006322"/>
                      </a:ext>
                    </a:extLst>
                  </a:tr>
                  <a:tr h="381067">
                    <a:tc gridSpan="17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…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360000" marR="0" marT="0" marB="0"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TW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79707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標題 1">
            <a:extLst>
              <a:ext uri="{FF2B5EF4-FFF2-40B4-BE49-F238E27FC236}">
                <a16:creationId xmlns:a16="http://schemas.microsoft.com/office/drawing/2014/main" id="{C042356F-3E2D-3E99-393D-819F4C13ACE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Back Propagation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Backpropagation is determined by the learning rate, input value and error term.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9C4AEA2A-5C08-9633-5025-66A578806859}"/>
              </a:ext>
            </a:extLst>
          </p:cNvPr>
          <p:cNvGrpSpPr/>
          <p:nvPr/>
        </p:nvGrpSpPr>
        <p:grpSpPr>
          <a:xfrm>
            <a:off x="7237101" y="2225824"/>
            <a:ext cx="1655379" cy="2098840"/>
            <a:chOff x="1688275" y="3861048"/>
            <a:chExt cx="1655379" cy="2098840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79086EE6-7B3C-85FD-FB24-616DFD97F0E6}"/>
                </a:ext>
              </a:extLst>
            </p:cNvPr>
            <p:cNvGrpSpPr/>
            <p:nvPr/>
          </p:nvGrpSpPr>
          <p:grpSpPr>
            <a:xfrm>
              <a:off x="1870516" y="4210480"/>
              <a:ext cx="1473138" cy="1749408"/>
              <a:chOff x="1870516" y="4210480"/>
              <a:chExt cx="1473138" cy="1749408"/>
            </a:xfrm>
          </p:grpSpPr>
          <p:cxnSp>
            <p:nvCxnSpPr>
              <p:cNvPr id="81" name="直線單箭頭接點 80">
                <a:extLst>
                  <a:ext uri="{FF2B5EF4-FFF2-40B4-BE49-F238E27FC236}">
                    <a16:creationId xmlns:a16="http://schemas.microsoft.com/office/drawing/2014/main" id="{5A5CD720-0ACE-D4FE-302C-30A58D3C74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505" y="4210480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dash"/>
                <a:headEnd w="sm" len="sm"/>
                <a:tailEnd type="none" w="sm" len="med"/>
              </a:ln>
              <a:effectLst/>
            </p:spPr>
          </p:cxnSp>
          <p:cxnSp>
            <p:nvCxnSpPr>
              <p:cNvPr id="82" name="直線單箭頭接點 81">
                <a:extLst>
                  <a:ext uri="{FF2B5EF4-FFF2-40B4-BE49-F238E27FC236}">
                    <a16:creationId xmlns:a16="http://schemas.microsoft.com/office/drawing/2014/main" id="{E098635A-0FFE-2703-767F-559F932DA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43808" y="4210480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dash"/>
                <a:headEnd w="sm" len="sm"/>
                <a:tailEnd type="none" w="sm" len="med"/>
              </a:ln>
              <a:effectLst/>
            </p:spPr>
          </p:cxnSp>
          <p:cxnSp>
            <p:nvCxnSpPr>
              <p:cNvPr id="83" name="直線單箭頭接點 82">
                <a:extLst>
                  <a:ext uri="{FF2B5EF4-FFF2-40B4-BE49-F238E27FC236}">
                    <a16:creationId xmlns:a16="http://schemas.microsoft.com/office/drawing/2014/main" id="{D4A93841-E497-6634-6A92-AC4CEB764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516" y="5535078"/>
                <a:ext cx="1473138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headEnd w="sm" len="sm"/>
                <a:tailEnd type="triangle" w="sm" len="med"/>
              </a:ln>
              <a:effectLst/>
            </p:spPr>
          </p:cxnSp>
          <p:cxnSp>
            <p:nvCxnSpPr>
              <p:cNvPr id="84" name="直線單箭頭接點 83">
                <a:extLst>
                  <a:ext uri="{FF2B5EF4-FFF2-40B4-BE49-F238E27FC236}">
                    <a16:creationId xmlns:a16="http://schemas.microsoft.com/office/drawing/2014/main" id="{65773069-4E1F-4DB1-FE7F-C4121B7FFE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1720" y="4221088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headEnd w="sm" len="sm"/>
                <a:tailEnd type="triangle" w="sm" len="med"/>
              </a:ln>
              <a:effectLst/>
            </p:spPr>
          </p:cxnSp>
        </p:grp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AF7E5FD5-9AB8-D67C-C7E0-D3783B06B39D}"/>
                </a:ext>
              </a:extLst>
            </p:cNvPr>
            <p:cNvGrpSpPr/>
            <p:nvPr/>
          </p:nvGrpSpPr>
          <p:grpSpPr>
            <a:xfrm>
              <a:off x="1691680" y="5032226"/>
              <a:ext cx="1579966" cy="324145"/>
              <a:chOff x="1687320" y="4254766"/>
              <a:chExt cx="1579966" cy="324145"/>
            </a:xfrm>
          </p:grpSpPr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7A1012F3-E6AC-8A31-EB44-D1CB4B82054D}"/>
                  </a:ext>
                </a:extLst>
              </p:cNvPr>
              <p:cNvCxnSpPr>
                <a:cxnSpLocks/>
                <a:stCxn id="78" idx="3"/>
                <a:endCxn id="79" idx="2"/>
              </p:cNvCxnSpPr>
              <p:nvPr/>
            </p:nvCxnSpPr>
            <p:spPr>
              <a:xfrm flipV="1">
                <a:off x="2047360" y="4398782"/>
                <a:ext cx="376640" cy="108121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2045619D-8D4B-3A0E-7148-B0628C42C43B}"/>
                  </a:ext>
                </a:extLst>
              </p:cNvPr>
              <p:cNvCxnSpPr>
                <a:cxnSpLocks/>
                <a:stCxn id="79" idx="2"/>
                <a:endCxn id="80" idx="1"/>
              </p:cNvCxnSpPr>
              <p:nvPr/>
            </p:nvCxnSpPr>
            <p:spPr>
              <a:xfrm flipV="1">
                <a:off x="2424000" y="4333654"/>
                <a:ext cx="483246" cy="65128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570E67A-0DB4-C20F-F2BD-70FF786158E9}"/>
                  </a:ext>
                </a:extLst>
              </p:cNvPr>
              <p:cNvSpPr/>
              <p:nvPr/>
            </p:nvSpPr>
            <p:spPr>
              <a:xfrm>
                <a:off x="1687320" y="4434895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B8F8FACB-8C3D-1FB3-CAB9-1E9C616E9A01}"/>
                  </a:ext>
                </a:extLst>
              </p:cNvPr>
              <p:cNvSpPr/>
              <p:nvPr/>
            </p:nvSpPr>
            <p:spPr>
              <a:xfrm>
                <a:off x="2243980" y="425476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1.68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9CD19210-0637-6E85-0447-8F14764B6D23}"/>
                  </a:ext>
                </a:extLst>
              </p:cNvPr>
              <p:cNvSpPr/>
              <p:nvPr/>
            </p:nvSpPr>
            <p:spPr>
              <a:xfrm>
                <a:off x="2907246" y="426164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1.8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8A06E5D-34D9-2880-BB76-A1063E2F0799}"/>
                </a:ext>
              </a:extLst>
            </p:cNvPr>
            <p:cNvGrpSpPr/>
            <p:nvPr/>
          </p:nvGrpSpPr>
          <p:grpSpPr>
            <a:xfrm>
              <a:off x="1688275" y="5464274"/>
              <a:ext cx="1515573" cy="263649"/>
              <a:chOff x="1671675" y="4436066"/>
              <a:chExt cx="1515573" cy="263649"/>
            </a:xfrm>
          </p:grpSpPr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FE684170-66D7-49B3-ECA3-6B6A544D9327}"/>
                  </a:ext>
                </a:extLst>
              </p:cNvPr>
              <p:cNvCxnSpPr>
                <a:cxnSpLocks/>
                <a:stCxn id="73" idx="3"/>
                <a:endCxn id="74" idx="2"/>
              </p:cNvCxnSpPr>
              <p:nvPr/>
            </p:nvCxnSpPr>
            <p:spPr>
              <a:xfrm flipV="1">
                <a:off x="2031715" y="4580082"/>
                <a:ext cx="392285" cy="47625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6DF1A5E7-D468-3E74-C7CF-D2310554449A}"/>
                  </a:ext>
                </a:extLst>
              </p:cNvPr>
              <p:cNvCxnSpPr>
                <a:cxnSpLocks/>
                <a:stCxn id="74" idx="2"/>
                <a:endCxn id="75" idx="1"/>
              </p:cNvCxnSpPr>
              <p:nvPr/>
            </p:nvCxnSpPr>
            <p:spPr>
              <a:xfrm flipV="1">
                <a:off x="2424000" y="4543529"/>
                <a:ext cx="403208" cy="36553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8B7488D-B2D0-0196-0CC3-D315B11F276B}"/>
                  </a:ext>
                </a:extLst>
              </p:cNvPr>
              <p:cNvSpPr/>
              <p:nvPr/>
            </p:nvSpPr>
            <p:spPr>
              <a:xfrm>
                <a:off x="1671675" y="4555699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BEE66FB7-08FF-8394-5568-AC9123FFCA8D}"/>
                  </a:ext>
                </a:extLst>
              </p:cNvPr>
              <p:cNvSpPr/>
              <p:nvPr/>
            </p:nvSpPr>
            <p:spPr>
              <a:xfrm>
                <a:off x="2243980" y="4436066"/>
                <a:ext cx="360040" cy="144016"/>
              </a:xfrm>
              <a:prstGeom prst="rect">
                <a:avLst/>
              </a:prstGeom>
              <a:solidFill>
                <a:sysClr val="window" lastClr="FFFFFF">
                  <a:alpha val="40000"/>
                </a:sysClr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-0.23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CA47C3A0-ED3C-5B34-C551-A8F8F3E33F81}"/>
                  </a:ext>
                </a:extLst>
              </p:cNvPr>
              <p:cNvSpPr/>
              <p:nvPr/>
            </p:nvSpPr>
            <p:spPr>
              <a:xfrm>
                <a:off x="2827208" y="447152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-0.05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FB1056CA-EDFC-C6CF-1D2D-5BF46835C795}"/>
                </a:ext>
              </a:extLst>
            </p:cNvPr>
            <p:cNvGrpSpPr/>
            <p:nvPr/>
          </p:nvGrpSpPr>
          <p:grpSpPr>
            <a:xfrm>
              <a:off x="1691680" y="5589240"/>
              <a:ext cx="1473360" cy="259457"/>
              <a:chOff x="1681200" y="4413450"/>
              <a:chExt cx="1473360" cy="259457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2AAAD6DC-5408-3131-9016-8EE9433B71F9}"/>
                  </a:ext>
                </a:extLst>
              </p:cNvPr>
              <p:cNvCxnSpPr>
                <a:cxnSpLocks/>
                <a:stCxn id="68" idx="3"/>
                <a:endCxn id="69" idx="0"/>
              </p:cNvCxnSpPr>
              <p:nvPr/>
            </p:nvCxnSpPr>
            <p:spPr>
              <a:xfrm flipV="1">
                <a:off x="2041240" y="4500316"/>
                <a:ext cx="382760" cy="100583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751CCCD9-FC7E-301B-1A55-6C2DD51A5237}"/>
                  </a:ext>
                </a:extLst>
              </p:cNvPr>
              <p:cNvCxnSpPr>
                <a:cxnSpLocks/>
                <a:stCxn id="69" idx="0"/>
                <a:endCxn id="70" idx="1"/>
              </p:cNvCxnSpPr>
              <p:nvPr/>
            </p:nvCxnSpPr>
            <p:spPr>
              <a:xfrm flipV="1">
                <a:off x="2424000" y="4485458"/>
                <a:ext cx="370520" cy="14858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705D6CD8-C711-B09D-43AD-E4A434A09DC7}"/>
                  </a:ext>
                </a:extLst>
              </p:cNvPr>
              <p:cNvSpPr/>
              <p:nvPr/>
            </p:nvSpPr>
            <p:spPr>
              <a:xfrm>
                <a:off x="1681200" y="452889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-1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5E96894F-14B4-CC4B-731C-C4693CE7D063}"/>
                  </a:ext>
                </a:extLst>
              </p:cNvPr>
              <p:cNvSpPr/>
              <p:nvPr/>
            </p:nvSpPr>
            <p:spPr>
              <a:xfrm>
                <a:off x="2243980" y="450031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-0.59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9EC9390-1A71-786B-F63C-E06B5AC9A870}"/>
                  </a:ext>
                </a:extLst>
              </p:cNvPr>
              <p:cNvSpPr/>
              <p:nvPr/>
            </p:nvSpPr>
            <p:spPr>
              <a:xfrm>
                <a:off x="2794520" y="4413450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-0.53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2DA23549-F46F-C9A9-C336-748E06C84F20}"/>
                </a:ext>
              </a:extLst>
            </p:cNvPr>
            <p:cNvGrpSpPr/>
            <p:nvPr/>
          </p:nvGrpSpPr>
          <p:grpSpPr>
            <a:xfrm>
              <a:off x="2267743" y="3861048"/>
              <a:ext cx="719727" cy="1511944"/>
              <a:chOff x="2196943" y="3838240"/>
              <a:chExt cx="787973" cy="930107"/>
            </a:xfrm>
          </p:grpSpPr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31D6CB04-5322-34FA-4CBB-1D103EAB9F9A}"/>
                  </a:ext>
                </a:extLst>
              </p:cNvPr>
              <p:cNvCxnSpPr>
                <a:cxnSpLocks/>
                <a:stCxn id="63" idx="2"/>
                <a:endCxn id="64" idx="2"/>
              </p:cNvCxnSpPr>
              <p:nvPr/>
            </p:nvCxnSpPr>
            <p:spPr>
              <a:xfrm>
                <a:off x="2304668" y="3982256"/>
                <a:ext cx="119332" cy="387554"/>
              </a:xfrm>
              <a:prstGeom prst="line">
                <a:avLst/>
              </a:prstGeom>
              <a:noFill/>
              <a:ln w="15875" cap="flat" cmpd="sng" algn="ctr">
                <a:solidFill>
                  <a:srgbClr val="F79646">
                    <a:lumMod val="7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BBD480E5-AAA0-53E0-4538-A04A592D0DED}"/>
                  </a:ext>
                </a:extLst>
              </p:cNvPr>
              <p:cNvCxnSpPr>
                <a:cxnSpLocks/>
                <a:stCxn id="64" idx="2"/>
                <a:endCxn id="65" idx="2"/>
              </p:cNvCxnSpPr>
              <p:nvPr/>
            </p:nvCxnSpPr>
            <p:spPr>
              <a:xfrm>
                <a:off x="2424000" y="4369810"/>
                <a:ext cx="380896" cy="398537"/>
              </a:xfrm>
              <a:prstGeom prst="line">
                <a:avLst/>
              </a:prstGeom>
              <a:noFill/>
              <a:ln w="15875" cap="flat" cmpd="sng" algn="ctr">
                <a:solidFill>
                  <a:srgbClr val="F79646">
                    <a:lumMod val="75000"/>
                  </a:srgbClr>
                </a:solidFill>
                <a:prstDash val="sysDot"/>
              </a:ln>
              <a:effectLst/>
            </p:spPr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2F05454-6898-B462-8B2A-6329FC6DB46A}"/>
                  </a:ext>
                </a:extLst>
              </p:cNvPr>
              <p:cNvSpPr/>
              <p:nvPr/>
            </p:nvSpPr>
            <p:spPr>
              <a:xfrm>
                <a:off x="2196943" y="3838240"/>
                <a:ext cx="21545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948E0E57-5D41-C1D6-A1D2-7B90384B387A}"/>
                  </a:ext>
                </a:extLst>
              </p:cNvPr>
              <p:cNvSpPr/>
              <p:nvPr/>
            </p:nvSpPr>
            <p:spPr>
              <a:xfrm>
                <a:off x="2243980" y="4225794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4.3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C476DB8-1E4E-4447-1E5C-6CF615C53473}"/>
                  </a:ext>
                </a:extLst>
              </p:cNvPr>
              <p:cNvSpPr/>
              <p:nvPr/>
            </p:nvSpPr>
            <p:spPr>
              <a:xfrm>
                <a:off x="2624876" y="462433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1.1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C16118D-56AD-DF8B-1C9A-E9E2E3F07045}"/>
              </a:ext>
            </a:extLst>
          </p:cNvPr>
          <p:cNvSpPr txBox="1"/>
          <p:nvPr/>
        </p:nvSpPr>
        <p:spPr>
          <a:xfrm>
            <a:off x="287523" y="5360729"/>
            <a:ext cx="732328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Why must we </a:t>
            </a:r>
            <a:r>
              <a:rPr lang="en-US" altLang="zh-TW" sz="20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normalize</a:t>
            </a: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 input?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Local Gradient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Driving by input (x), not the weight value (w). 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Error Amplification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	 Large weights push more blame backward to previous layers.</a:t>
            </a: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DE9BF7DA-FD58-FCA0-B87C-B73960B03819}"/>
              </a:ext>
            </a:extLst>
          </p:cNvPr>
          <p:cNvGrpSpPr/>
          <p:nvPr/>
        </p:nvGrpSpPr>
        <p:grpSpPr>
          <a:xfrm>
            <a:off x="1534368" y="1891714"/>
            <a:ext cx="5653502" cy="3146580"/>
            <a:chOff x="1534368" y="1891714"/>
            <a:chExt cx="5653502" cy="3146580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D4FEE873-7886-C1F4-DCA8-92F993793ED0}"/>
                </a:ext>
              </a:extLst>
            </p:cNvPr>
            <p:cNvSpPr/>
            <p:nvPr/>
          </p:nvSpPr>
          <p:spPr>
            <a:xfrm>
              <a:off x="6372200" y="1975385"/>
              <a:ext cx="811744" cy="65651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8C5B7BA-8644-81BB-E230-DDC4B5875FB6}"/>
                </a:ext>
              </a:extLst>
            </p:cNvPr>
            <p:cNvSpPr/>
            <p:nvPr/>
          </p:nvSpPr>
          <p:spPr>
            <a:xfrm>
              <a:off x="1534369" y="2879312"/>
              <a:ext cx="661367" cy="661706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89" name="接點: 肘形 88">
              <a:extLst>
                <a:ext uri="{FF2B5EF4-FFF2-40B4-BE49-F238E27FC236}">
                  <a16:creationId xmlns:a16="http://schemas.microsoft.com/office/drawing/2014/main" id="{65F056E5-43F1-6326-3BBB-164DC636C152}"/>
                </a:ext>
              </a:extLst>
            </p:cNvPr>
            <p:cNvCxnSpPr>
              <a:cxnSpLocks/>
              <a:stCxn id="87" idx="2"/>
              <a:endCxn id="88" idx="0"/>
            </p:cNvCxnSpPr>
            <p:nvPr/>
          </p:nvCxnSpPr>
          <p:spPr>
            <a:xfrm rot="5400000">
              <a:off x="4197857" y="299097"/>
              <a:ext cx="247412" cy="4913019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C0504D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74CD9AB5-2FB5-603F-D487-38FE87B1AAAF}"/>
                </a:ext>
              </a:extLst>
            </p:cNvPr>
            <p:cNvSpPr/>
            <p:nvPr/>
          </p:nvSpPr>
          <p:spPr>
            <a:xfrm>
              <a:off x="1534368" y="3856735"/>
              <a:ext cx="661367" cy="698848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56C35CF-C408-6C67-EAC1-38FD4F89493C}"/>
                </a:ext>
              </a:extLst>
            </p:cNvPr>
            <p:cNvSpPr/>
            <p:nvPr/>
          </p:nvSpPr>
          <p:spPr>
            <a:xfrm>
              <a:off x="6376126" y="2884502"/>
              <a:ext cx="811744" cy="65651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92" name="接點: 肘形 91">
              <a:extLst>
                <a:ext uri="{FF2B5EF4-FFF2-40B4-BE49-F238E27FC236}">
                  <a16:creationId xmlns:a16="http://schemas.microsoft.com/office/drawing/2014/main" id="{CF796837-4389-BFED-E778-E7C6A9C4FE14}"/>
                </a:ext>
              </a:extLst>
            </p:cNvPr>
            <p:cNvCxnSpPr>
              <a:cxnSpLocks/>
              <a:stCxn id="91" idx="2"/>
              <a:endCxn id="90" idx="0"/>
            </p:cNvCxnSpPr>
            <p:nvPr/>
          </p:nvCxnSpPr>
          <p:spPr>
            <a:xfrm rot="5400000">
              <a:off x="4165666" y="1240403"/>
              <a:ext cx="315718" cy="4916946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C0504D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4CD58EC9-0458-6CCD-48F8-9AF0BE03C352}"/>
                </a:ext>
              </a:extLst>
            </p:cNvPr>
            <p:cNvSpPr/>
            <p:nvPr/>
          </p:nvSpPr>
          <p:spPr>
            <a:xfrm>
              <a:off x="6376126" y="3856735"/>
              <a:ext cx="807818" cy="698848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94" name="接點: 肘形 93">
              <a:extLst>
                <a:ext uri="{FF2B5EF4-FFF2-40B4-BE49-F238E27FC236}">
                  <a16:creationId xmlns:a16="http://schemas.microsoft.com/office/drawing/2014/main" id="{D6A05F7B-AB2F-B278-C0AC-A1026ECF3E80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 rot="5400000">
              <a:off x="6512876" y="4498654"/>
              <a:ext cx="210230" cy="324088"/>
            </a:xfrm>
            <a:prstGeom prst="bentConnector2">
              <a:avLst/>
            </a:prstGeom>
            <a:noFill/>
            <a:ln w="19050" cap="flat" cmpd="sng" algn="ctr">
              <a:solidFill>
                <a:srgbClr val="C0504D">
                  <a:lumMod val="60000"/>
                  <a:lumOff val="40000"/>
                </a:srgbClr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5" name="語音泡泡: 圓角矩形 94">
              <a:extLst>
                <a:ext uri="{FF2B5EF4-FFF2-40B4-BE49-F238E27FC236}">
                  <a16:creationId xmlns:a16="http://schemas.microsoft.com/office/drawing/2014/main" id="{B04F50DA-30C2-8063-D6F3-3118A98975D6}"/>
                </a:ext>
              </a:extLst>
            </p:cNvPr>
            <p:cNvSpPr/>
            <p:nvPr/>
          </p:nvSpPr>
          <p:spPr>
            <a:xfrm>
              <a:off x="4268897" y="4653136"/>
              <a:ext cx="807159" cy="385158"/>
            </a:xfrm>
            <a:prstGeom prst="wedgeRoundRectCallout">
              <a:avLst>
                <a:gd name="adj1" fmla="val 23189"/>
                <a:gd name="adj2" fmla="val -91676"/>
                <a:gd name="adj3" fmla="val 16667"/>
              </a:avLst>
            </a:prstGeom>
            <a:solidFill>
              <a:sysClr val="window" lastClr="FFFFFF">
                <a:alpha val="70000"/>
              </a:sysClr>
            </a:solidFill>
            <a:ln w="3810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Local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Gradient</a:t>
              </a:r>
            </a:p>
          </p:txBody>
        </p:sp>
        <p:sp>
          <p:nvSpPr>
            <p:cNvPr id="96" name="語音泡泡: 圓角矩形 95">
              <a:extLst>
                <a:ext uri="{FF2B5EF4-FFF2-40B4-BE49-F238E27FC236}">
                  <a16:creationId xmlns:a16="http://schemas.microsoft.com/office/drawing/2014/main" id="{F696D89D-BE9D-CE18-4BB7-392519FF3D7D}"/>
                </a:ext>
              </a:extLst>
            </p:cNvPr>
            <p:cNvSpPr/>
            <p:nvPr/>
          </p:nvSpPr>
          <p:spPr>
            <a:xfrm>
              <a:off x="5220072" y="4653136"/>
              <a:ext cx="807159" cy="385158"/>
            </a:xfrm>
            <a:prstGeom prst="wedgeRoundRectCallout">
              <a:avLst>
                <a:gd name="adj1" fmla="val -21182"/>
                <a:gd name="adj2" fmla="val -95633"/>
                <a:gd name="adj3" fmla="val 16667"/>
              </a:avLst>
            </a:prstGeom>
            <a:solidFill>
              <a:sysClr val="window" lastClr="FFFFFF">
                <a:alpha val="70000"/>
              </a:sysClr>
            </a:solidFill>
            <a:ln w="3810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Global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Gradient</a:t>
              </a:r>
            </a:p>
          </p:txBody>
        </p:sp>
        <p:cxnSp>
          <p:nvCxnSpPr>
            <p:cNvPr id="97" name="接點: 弧形 96">
              <a:extLst>
                <a:ext uri="{FF2B5EF4-FFF2-40B4-BE49-F238E27FC236}">
                  <a16:creationId xmlns:a16="http://schemas.microsoft.com/office/drawing/2014/main" id="{D17D974A-67E0-6FC4-41BD-D3E5111DF665}"/>
                </a:ext>
              </a:extLst>
            </p:cNvPr>
            <p:cNvCxnSpPr>
              <a:cxnSpLocks/>
              <a:stCxn id="99" idx="0"/>
              <a:endCxn id="98" idx="0"/>
            </p:cNvCxnSpPr>
            <p:nvPr/>
          </p:nvCxnSpPr>
          <p:spPr>
            <a:xfrm rot="5400000" flipH="1" flipV="1">
              <a:off x="3364049" y="1895509"/>
              <a:ext cx="12700" cy="610344"/>
            </a:xfrm>
            <a:prstGeom prst="curvedConnector3">
              <a:avLst>
                <a:gd name="adj1" fmla="val 1800000"/>
              </a:avLst>
            </a:prstGeom>
            <a:noFill/>
            <a:ln w="9525" cap="flat" cmpd="sng" algn="ctr">
              <a:solidFill>
                <a:srgbClr val="9BBB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98" name="矩形: 圓角 97">
              <a:extLst>
                <a:ext uri="{FF2B5EF4-FFF2-40B4-BE49-F238E27FC236}">
                  <a16:creationId xmlns:a16="http://schemas.microsoft.com/office/drawing/2014/main" id="{7B61A6FE-DF48-1E09-1B3C-B0C50237C417}"/>
                </a:ext>
              </a:extLst>
            </p:cNvPr>
            <p:cNvSpPr/>
            <p:nvPr/>
          </p:nvSpPr>
          <p:spPr>
            <a:xfrm>
              <a:off x="3505200" y="2200681"/>
              <a:ext cx="328042" cy="195653"/>
            </a:xfrm>
            <a:prstGeom prst="roundRect">
              <a:avLst/>
            </a:prstGeom>
            <a:noFill/>
            <a:ln w="3175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9" name="矩形: 圓角 98">
              <a:extLst>
                <a:ext uri="{FF2B5EF4-FFF2-40B4-BE49-F238E27FC236}">
                  <a16:creationId xmlns:a16="http://schemas.microsoft.com/office/drawing/2014/main" id="{82F812A8-9FC6-7AD1-5D59-B37865D7CD9E}"/>
                </a:ext>
              </a:extLst>
            </p:cNvPr>
            <p:cNvSpPr/>
            <p:nvPr/>
          </p:nvSpPr>
          <p:spPr>
            <a:xfrm>
              <a:off x="2894856" y="2200681"/>
              <a:ext cx="328042" cy="195653"/>
            </a:xfrm>
            <a:prstGeom prst="roundRect">
              <a:avLst/>
            </a:prstGeom>
            <a:noFill/>
            <a:ln w="3175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0" name="矩形: 圓角 99">
              <a:extLst>
                <a:ext uri="{FF2B5EF4-FFF2-40B4-BE49-F238E27FC236}">
                  <a16:creationId xmlns:a16="http://schemas.microsoft.com/office/drawing/2014/main" id="{ACF6519C-30D8-89FC-7744-099CB49CB309}"/>
                </a:ext>
              </a:extLst>
            </p:cNvPr>
            <p:cNvSpPr/>
            <p:nvPr/>
          </p:nvSpPr>
          <p:spPr>
            <a:xfrm>
              <a:off x="3190528" y="1891714"/>
              <a:ext cx="373360" cy="225799"/>
            </a:xfrm>
            <a:prstGeom prst="roundRect">
              <a:avLst/>
            </a:prstGeom>
            <a:solidFill>
              <a:srgbClr val="9BBB59">
                <a:lumMod val="20000"/>
                <a:lumOff val="80000"/>
                <a:alpha val="70000"/>
              </a:srgbClr>
            </a:solidFill>
            <a:ln w="254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Y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t</a:t>
              </a:r>
              <a:r>
                <a:rPr kumimoji="0" lang="en-US" altLang="zh-TW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= 5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17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611F0C-B216-1CA6-9750-6422CCAA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6B9A3B4F-AB3F-636E-CB59-C8B694769B7A}"/>
              </a:ext>
            </a:extLst>
          </p:cNvPr>
          <p:cNvSpPr/>
          <p:nvPr/>
        </p:nvSpPr>
        <p:spPr>
          <a:xfrm>
            <a:off x="107504" y="4831668"/>
            <a:ext cx="1393781" cy="1415923"/>
          </a:xfrm>
          <a:prstGeom prst="ellipse">
            <a:avLst/>
          </a:prstGeom>
          <a:gradFill flip="none" rotWithShape="0">
            <a:gsLst>
              <a:gs pos="0">
                <a:srgbClr val="9BBB59">
                  <a:lumMod val="20000"/>
                  <a:lumOff val="80000"/>
                </a:srgbClr>
              </a:gs>
              <a:gs pos="90000">
                <a:srgbClr val="C0CEA4"/>
              </a:gs>
              <a:gs pos="100000">
                <a:srgbClr val="9BBB59">
                  <a:lumMod val="50000"/>
                </a:srgbClr>
              </a:gs>
              <a:gs pos="100000">
                <a:srgbClr val="9BBB59">
                  <a:lumMod val="50000"/>
                </a:srgbClr>
              </a:gs>
            </a:gsLst>
            <a:path path="shape">
              <a:fillToRect l="50000" t="50000" r="50000" b="50000"/>
            </a:path>
            <a:tileRect/>
          </a:gradFill>
          <a:ln w="53975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8D71491F-F4FA-70E0-48B1-450B8E75D8CC}"/>
              </a:ext>
            </a:extLst>
          </p:cNvPr>
          <p:cNvGrpSpPr/>
          <p:nvPr/>
        </p:nvGrpSpPr>
        <p:grpSpPr>
          <a:xfrm>
            <a:off x="3677231" y="5517232"/>
            <a:ext cx="4197749" cy="1008111"/>
            <a:chOff x="2300018" y="3140968"/>
            <a:chExt cx="4871903" cy="2369355"/>
          </a:xfrm>
        </p:grpSpPr>
        <p:sp>
          <p:nvSpPr>
            <p:cNvPr id="93" name="矩形: 圓角 92">
              <a:extLst>
                <a:ext uri="{FF2B5EF4-FFF2-40B4-BE49-F238E27FC236}">
                  <a16:creationId xmlns:a16="http://schemas.microsoft.com/office/drawing/2014/main" id="{2AFCA28C-60C2-B7B8-218A-D764B3D4144D}"/>
                </a:ext>
              </a:extLst>
            </p:cNvPr>
            <p:cNvSpPr/>
            <p:nvPr/>
          </p:nvSpPr>
          <p:spPr>
            <a:xfrm>
              <a:off x="2300018" y="3140968"/>
              <a:ext cx="4871903" cy="2369355"/>
            </a:xfrm>
            <a:custGeom>
              <a:avLst/>
              <a:gdLst>
                <a:gd name="csX0" fmla="*/ 0 w 4871903"/>
                <a:gd name="csY0" fmla="*/ 69612 h 2369355"/>
                <a:gd name="csX1" fmla="*/ 69612 w 4871903"/>
                <a:gd name="csY1" fmla="*/ 0 h 2369355"/>
                <a:gd name="csX2" fmla="*/ 661197 w 4871903"/>
                <a:gd name="csY2" fmla="*/ 0 h 2369355"/>
                <a:gd name="csX3" fmla="*/ 1158128 w 4871903"/>
                <a:gd name="csY3" fmla="*/ 0 h 2369355"/>
                <a:gd name="csX4" fmla="*/ 1607733 w 4871903"/>
                <a:gd name="csY4" fmla="*/ 0 h 2369355"/>
                <a:gd name="csX5" fmla="*/ 2104664 w 4871903"/>
                <a:gd name="csY5" fmla="*/ 0 h 2369355"/>
                <a:gd name="csX6" fmla="*/ 2743576 w 4871903"/>
                <a:gd name="csY6" fmla="*/ 0 h 2369355"/>
                <a:gd name="csX7" fmla="*/ 3240507 w 4871903"/>
                <a:gd name="csY7" fmla="*/ 0 h 2369355"/>
                <a:gd name="csX8" fmla="*/ 3690111 w 4871903"/>
                <a:gd name="csY8" fmla="*/ 0 h 2369355"/>
                <a:gd name="csX9" fmla="*/ 4187043 w 4871903"/>
                <a:gd name="csY9" fmla="*/ 0 h 2369355"/>
                <a:gd name="csX10" fmla="*/ 4802291 w 4871903"/>
                <a:gd name="csY10" fmla="*/ 0 h 2369355"/>
                <a:gd name="csX11" fmla="*/ 4871903 w 4871903"/>
                <a:gd name="csY11" fmla="*/ 69612 h 2369355"/>
                <a:gd name="csX12" fmla="*/ 4871903 w 4871903"/>
                <a:gd name="csY12" fmla="*/ 560241 h 2369355"/>
                <a:gd name="csX13" fmla="*/ 4871903 w 4871903"/>
                <a:gd name="csY13" fmla="*/ 1117774 h 2369355"/>
                <a:gd name="csX14" fmla="*/ 4871903 w 4871903"/>
                <a:gd name="csY14" fmla="*/ 1719909 h 2369355"/>
                <a:gd name="csX15" fmla="*/ 4871903 w 4871903"/>
                <a:gd name="csY15" fmla="*/ 2299743 h 2369355"/>
                <a:gd name="csX16" fmla="*/ 4802291 w 4871903"/>
                <a:gd name="csY16" fmla="*/ 2369355 h 2369355"/>
                <a:gd name="csX17" fmla="*/ 4258033 w 4871903"/>
                <a:gd name="csY17" fmla="*/ 2369355 h 2369355"/>
                <a:gd name="csX18" fmla="*/ 3666448 w 4871903"/>
                <a:gd name="csY18" fmla="*/ 2369355 h 2369355"/>
                <a:gd name="csX19" fmla="*/ 3216844 w 4871903"/>
                <a:gd name="csY19" fmla="*/ 2369355 h 2369355"/>
                <a:gd name="csX20" fmla="*/ 2530605 w 4871903"/>
                <a:gd name="csY20" fmla="*/ 2369355 h 2369355"/>
                <a:gd name="csX21" fmla="*/ 1939020 w 4871903"/>
                <a:gd name="csY21" fmla="*/ 2369355 h 2369355"/>
                <a:gd name="csX22" fmla="*/ 1252782 w 4871903"/>
                <a:gd name="csY22" fmla="*/ 2369355 h 2369355"/>
                <a:gd name="csX23" fmla="*/ 708524 w 4871903"/>
                <a:gd name="csY23" fmla="*/ 2369355 h 2369355"/>
                <a:gd name="csX24" fmla="*/ 69612 w 4871903"/>
                <a:gd name="csY24" fmla="*/ 2369355 h 2369355"/>
                <a:gd name="csX25" fmla="*/ 0 w 4871903"/>
                <a:gd name="csY25" fmla="*/ 2299743 h 2369355"/>
                <a:gd name="csX26" fmla="*/ 0 w 4871903"/>
                <a:gd name="csY26" fmla="*/ 1742210 h 2369355"/>
                <a:gd name="csX27" fmla="*/ 0 w 4871903"/>
                <a:gd name="csY27" fmla="*/ 1162376 h 2369355"/>
                <a:gd name="csX28" fmla="*/ 0 w 4871903"/>
                <a:gd name="csY28" fmla="*/ 560241 h 2369355"/>
                <a:gd name="csX29" fmla="*/ 0 w 4871903"/>
                <a:gd name="csY29" fmla="*/ 69612 h 236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4871903" h="2369355" fill="none" extrusionOk="0">
                  <a:moveTo>
                    <a:pt x="0" y="69612"/>
                  </a:moveTo>
                  <a:cubicBezTo>
                    <a:pt x="-3467" y="41976"/>
                    <a:pt x="28818" y="-7394"/>
                    <a:pt x="69612" y="0"/>
                  </a:cubicBezTo>
                  <a:cubicBezTo>
                    <a:pt x="242124" y="-34537"/>
                    <a:pt x="480013" y="26831"/>
                    <a:pt x="661197" y="0"/>
                  </a:cubicBezTo>
                  <a:cubicBezTo>
                    <a:pt x="842382" y="-26831"/>
                    <a:pt x="953104" y="33108"/>
                    <a:pt x="1158128" y="0"/>
                  </a:cubicBezTo>
                  <a:cubicBezTo>
                    <a:pt x="1363152" y="-33108"/>
                    <a:pt x="1512365" y="9925"/>
                    <a:pt x="1607733" y="0"/>
                  </a:cubicBezTo>
                  <a:cubicBezTo>
                    <a:pt x="1703102" y="-9925"/>
                    <a:pt x="1893219" y="1912"/>
                    <a:pt x="2104664" y="0"/>
                  </a:cubicBezTo>
                  <a:cubicBezTo>
                    <a:pt x="2316109" y="-1912"/>
                    <a:pt x="2446969" y="52063"/>
                    <a:pt x="2743576" y="0"/>
                  </a:cubicBezTo>
                  <a:cubicBezTo>
                    <a:pt x="3040183" y="-52063"/>
                    <a:pt x="3010113" y="16413"/>
                    <a:pt x="3240507" y="0"/>
                  </a:cubicBezTo>
                  <a:cubicBezTo>
                    <a:pt x="3470901" y="-16413"/>
                    <a:pt x="3540606" y="1032"/>
                    <a:pt x="3690111" y="0"/>
                  </a:cubicBezTo>
                  <a:cubicBezTo>
                    <a:pt x="3839616" y="-1032"/>
                    <a:pt x="4058410" y="6522"/>
                    <a:pt x="4187043" y="0"/>
                  </a:cubicBezTo>
                  <a:cubicBezTo>
                    <a:pt x="4315676" y="-6522"/>
                    <a:pt x="4510354" y="58710"/>
                    <a:pt x="4802291" y="0"/>
                  </a:cubicBezTo>
                  <a:cubicBezTo>
                    <a:pt x="4835583" y="618"/>
                    <a:pt x="4872952" y="32268"/>
                    <a:pt x="4871903" y="69612"/>
                  </a:cubicBezTo>
                  <a:cubicBezTo>
                    <a:pt x="4889464" y="253526"/>
                    <a:pt x="4839377" y="394331"/>
                    <a:pt x="4871903" y="560241"/>
                  </a:cubicBezTo>
                  <a:cubicBezTo>
                    <a:pt x="4904429" y="726151"/>
                    <a:pt x="4849730" y="894985"/>
                    <a:pt x="4871903" y="1117774"/>
                  </a:cubicBezTo>
                  <a:cubicBezTo>
                    <a:pt x="4894076" y="1340563"/>
                    <a:pt x="4867043" y="1540391"/>
                    <a:pt x="4871903" y="1719909"/>
                  </a:cubicBezTo>
                  <a:cubicBezTo>
                    <a:pt x="4876763" y="1899428"/>
                    <a:pt x="4861805" y="2163055"/>
                    <a:pt x="4871903" y="2299743"/>
                  </a:cubicBezTo>
                  <a:cubicBezTo>
                    <a:pt x="4870813" y="2342180"/>
                    <a:pt x="4846527" y="2359605"/>
                    <a:pt x="4802291" y="2369355"/>
                  </a:cubicBezTo>
                  <a:cubicBezTo>
                    <a:pt x="4660814" y="2394690"/>
                    <a:pt x="4454747" y="2332809"/>
                    <a:pt x="4258033" y="2369355"/>
                  </a:cubicBezTo>
                  <a:cubicBezTo>
                    <a:pt x="4061319" y="2405901"/>
                    <a:pt x="3942154" y="2321542"/>
                    <a:pt x="3666448" y="2369355"/>
                  </a:cubicBezTo>
                  <a:cubicBezTo>
                    <a:pt x="3390743" y="2417168"/>
                    <a:pt x="3415823" y="2323896"/>
                    <a:pt x="3216844" y="2369355"/>
                  </a:cubicBezTo>
                  <a:cubicBezTo>
                    <a:pt x="3017865" y="2414814"/>
                    <a:pt x="2872716" y="2315685"/>
                    <a:pt x="2530605" y="2369355"/>
                  </a:cubicBezTo>
                  <a:cubicBezTo>
                    <a:pt x="2188494" y="2423025"/>
                    <a:pt x="2195998" y="2319745"/>
                    <a:pt x="1939020" y="2369355"/>
                  </a:cubicBezTo>
                  <a:cubicBezTo>
                    <a:pt x="1682043" y="2418965"/>
                    <a:pt x="1472694" y="2322954"/>
                    <a:pt x="1252782" y="2369355"/>
                  </a:cubicBezTo>
                  <a:cubicBezTo>
                    <a:pt x="1032870" y="2415756"/>
                    <a:pt x="932634" y="2333110"/>
                    <a:pt x="708524" y="2369355"/>
                  </a:cubicBezTo>
                  <a:cubicBezTo>
                    <a:pt x="484414" y="2405600"/>
                    <a:pt x="352512" y="2362562"/>
                    <a:pt x="69612" y="2369355"/>
                  </a:cubicBezTo>
                  <a:cubicBezTo>
                    <a:pt x="28006" y="2378901"/>
                    <a:pt x="1846" y="2341442"/>
                    <a:pt x="0" y="2299743"/>
                  </a:cubicBezTo>
                  <a:cubicBezTo>
                    <a:pt x="-53951" y="2163263"/>
                    <a:pt x="12348" y="1948374"/>
                    <a:pt x="0" y="1742210"/>
                  </a:cubicBezTo>
                  <a:cubicBezTo>
                    <a:pt x="-12348" y="1536046"/>
                    <a:pt x="43785" y="1283191"/>
                    <a:pt x="0" y="1162376"/>
                  </a:cubicBezTo>
                  <a:cubicBezTo>
                    <a:pt x="-43785" y="1041561"/>
                    <a:pt x="53798" y="705745"/>
                    <a:pt x="0" y="560241"/>
                  </a:cubicBezTo>
                  <a:cubicBezTo>
                    <a:pt x="-53798" y="414737"/>
                    <a:pt x="27764" y="262879"/>
                    <a:pt x="0" y="69612"/>
                  </a:cubicBezTo>
                  <a:close/>
                </a:path>
                <a:path w="4871903" h="2369355" stroke="0" extrusionOk="0">
                  <a:moveTo>
                    <a:pt x="0" y="69612"/>
                  </a:moveTo>
                  <a:cubicBezTo>
                    <a:pt x="-2069" y="29889"/>
                    <a:pt x="25248" y="2221"/>
                    <a:pt x="69612" y="0"/>
                  </a:cubicBezTo>
                  <a:cubicBezTo>
                    <a:pt x="212228" y="-24984"/>
                    <a:pt x="588854" y="27711"/>
                    <a:pt x="755850" y="0"/>
                  </a:cubicBezTo>
                  <a:cubicBezTo>
                    <a:pt x="922846" y="-27711"/>
                    <a:pt x="1097670" y="56868"/>
                    <a:pt x="1300109" y="0"/>
                  </a:cubicBezTo>
                  <a:cubicBezTo>
                    <a:pt x="1502548" y="-56868"/>
                    <a:pt x="1653686" y="57181"/>
                    <a:pt x="1797040" y="0"/>
                  </a:cubicBezTo>
                  <a:cubicBezTo>
                    <a:pt x="1940394" y="-57181"/>
                    <a:pt x="2240469" y="17467"/>
                    <a:pt x="2435952" y="0"/>
                  </a:cubicBezTo>
                  <a:cubicBezTo>
                    <a:pt x="2631435" y="-17467"/>
                    <a:pt x="2844838" y="6372"/>
                    <a:pt x="2980210" y="0"/>
                  </a:cubicBezTo>
                  <a:cubicBezTo>
                    <a:pt x="3115582" y="-6372"/>
                    <a:pt x="3521301" y="62180"/>
                    <a:pt x="3666448" y="0"/>
                  </a:cubicBezTo>
                  <a:cubicBezTo>
                    <a:pt x="3811595" y="-62180"/>
                    <a:pt x="3923070" y="17892"/>
                    <a:pt x="4163379" y="0"/>
                  </a:cubicBezTo>
                  <a:cubicBezTo>
                    <a:pt x="4403688" y="-17892"/>
                    <a:pt x="4558641" y="6954"/>
                    <a:pt x="4802291" y="0"/>
                  </a:cubicBezTo>
                  <a:cubicBezTo>
                    <a:pt x="4846533" y="1394"/>
                    <a:pt x="4863129" y="29747"/>
                    <a:pt x="4871903" y="69612"/>
                  </a:cubicBezTo>
                  <a:cubicBezTo>
                    <a:pt x="4904914" y="286375"/>
                    <a:pt x="4842406" y="360100"/>
                    <a:pt x="4871903" y="627145"/>
                  </a:cubicBezTo>
                  <a:cubicBezTo>
                    <a:pt x="4901400" y="894190"/>
                    <a:pt x="4816104" y="1045038"/>
                    <a:pt x="4871903" y="1162376"/>
                  </a:cubicBezTo>
                  <a:cubicBezTo>
                    <a:pt x="4927702" y="1279714"/>
                    <a:pt x="4810207" y="1637633"/>
                    <a:pt x="4871903" y="1764512"/>
                  </a:cubicBezTo>
                  <a:cubicBezTo>
                    <a:pt x="4933599" y="1891391"/>
                    <a:pt x="4871410" y="2074783"/>
                    <a:pt x="4871903" y="2299743"/>
                  </a:cubicBezTo>
                  <a:cubicBezTo>
                    <a:pt x="4864178" y="2339457"/>
                    <a:pt x="4836790" y="2366632"/>
                    <a:pt x="4802291" y="2369355"/>
                  </a:cubicBezTo>
                  <a:cubicBezTo>
                    <a:pt x="4639252" y="2443284"/>
                    <a:pt x="4364597" y="2354103"/>
                    <a:pt x="4163379" y="2369355"/>
                  </a:cubicBezTo>
                  <a:cubicBezTo>
                    <a:pt x="3962161" y="2384607"/>
                    <a:pt x="3798279" y="2341081"/>
                    <a:pt x="3571794" y="2369355"/>
                  </a:cubicBezTo>
                  <a:cubicBezTo>
                    <a:pt x="3345309" y="2397629"/>
                    <a:pt x="3229217" y="2330823"/>
                    <a:pt x="3122190" y="2369355"/>
                  </a:cubicBezTo>
                  <a:cubicBezTo>
                    <a:pt x="3015163" y="2407887"/>
                    <a:pt x="2758351" y="2350025"/>
                    <a:pt x="2625259" y="2369355"/>
                  </a:cubicBezTo>
                  <a:cubicBezTo>
                    <a:pt x="2492167" y="2388685"/>
                    <a:pt x="2196771" y="2353341"/>
                    <a:pt x="1939020" y="2369355"/>
                  </a:cubicBezTo>
                  <a:cubicBezTo>
                    <a:pt x="1681269" y="2385369"/>
                    <a:pt x="1575671" y="2302866"/>
                    <a:pt x="1347435" y="2369355"/>
                  </a:cubicBezTo>
                  <a:cubicBezTo>
                    <a:pt x="1119199" y="2435844"/>
                    <a:pt x="1016476" y="2352088"/>
                    <a:pt x="850504" y="2369355"/>
                  </a:cubicBezTo>
                  <a:cubicBezTo>
                    <a:pt x="684532" y="2386622"/>
                    <a:pt x="388029" y="2314835"/>
                    <a:pt x="69612" y="2369355"/>
                  </a:cubicBezTo>
                  <a:cubicBezTo>
                    <a:pt x="24259" y="2368964"/>
                    <a:pt x="3463" y="2341170"/>
                    <a:pt x="0" y="2299743"/>
                  </a:cubicBezTo>
                  <a:cubicBezTo>
                    <a:pt x="-58616" y="2128167"/>
                    <a:pt x="61792" y="1942150"/>
                    <a:pt x="0" y="1742210"/>
                  </a:cubicBezTo>
                  <a:cubicBezTo>
                    <a:pt x="-61792" y="1542270"/>
                    <a:pt x="54977" y="1431901"/>
                    <a:pt x="0" y="1229280"/>
                  </a:cubicBezTo>
                  <a:cubicBezTo>
                    <a:pt x="-54977" y="1026659"/>
                    <a:pt x="10871" y="783775"/>
                    <a:pt x="0" y="649446"/>
                  </a:cubicBezTo>
                  <a:cubicBezTo>
                    <a:pt x="-10871" y="515117"/>
                    <a:pt x="37359" y="309011"/>
                    <a:pt x="0" y="69612"/>
                  </a:cubicBezTo>
                  <a:close/>
                </a:path>
              </a:pathLst>
            </a:custGeom>
            <a:solidFill>
              <a:srgbClr val="EEECE1">
                <a:alpha val="40000"/>
              </a:srgbClr>
            </a:solidFill>
            <a:ln w="50800" cap="flat" cmpd="sng" algn="ctr">
              <a:solidFill>
                <a:srgbClr val="EEECE1">
                  <a:lumMod val="75000"/>
                  <a:alpha val="20000"/>
                </a:srgb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2938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wrap="none" tIns="36000" rIns="182880" bIns="91440" rtlCol="0" anchor="t" anchorCtr="0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EECE1">
                      <a:lumMod val="10000"/>
                    </a:srgb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Data 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EECE1">
                      <a:lumMod val="10000"/>
                    </a:srgb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Center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94" name="圖形 93" descr="城市 外框">
              <a:extLst>
                <a:ext uri="{FF2B5EF4-FFF2-40B4-BE49-F238E27FC236}">
                  <a16:creationId xmlns:a16="http://schemas.microsoft.com/office/drawing/2014/main" id="{EDA7C081-B105-6791-77EC-E808E03CA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14758" y="4156407"/>
              <a:ext cx="610952" cy="1073364"/>
            </a:xfrm>
            <a:prstGeom prst="rect">
              <a:avLst/>
            </a:prstGeom>
            <a:effectLst>
              <a:glow rad="127000">
                <a:srgbClr val="EEECE1">
                  <a:lumMod val="90000"/>
                  <a:alpha val="80000"/>
                </a:srgbClr>
              </a:glow>
            </a:effectLst>
          </p:spPr>
        </p:pic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CFD2243A-D236-6036-D92B-779B09BFE0F3}"/>
              </a:ext>
            </a:extLst>
          </p:cNvPr>
          <p:cNvGrpSpPr/>
          <p:nvPr/>
        </p:nvGrpSpPr>
        <p:grpSpPr>
          <a:xfrm>
            <a:off x="3828609" y="2708920"/>
            <a:ext cx="2676085" cy="3733339"/>
            <a:chOff x="3029309" y="2457562"/>
            <a:chExt cx="2676085" cy="3733339"/>
          </a:xfrm>
        </p:grpSpPr>
        <p:sp>
          <p:nvSpPr>
            <p:cNvPr id="96" name="矩形: 圓角 95">
              <a:extLst>
                <a:ext uri="{FF2B5EF4-FFF2-40B4-BE49-F238E27FC236}">
                  <a16:creationId xmlns:a16="http://schemas.microsoft.com/office/drawing/2014/main" id="{08C2AB8D-1A48-6679-AA84-41370AE7508B}"/>
                </a:ext>
              </a:extLst>
            </p:cNvPr>
            <p:cNvSpPr/>
            <p:nvPr/>
          </p:nvSpPr>
          <p:spPr>
            <a:xfrm>
              <a:off x="3029309" y="2457562"/>
              <a:ext cx="2474323" cy="3733339"/>
            </a:xfrm>
            <a:prstGeom prst="roundRect">
              <a:avLst>
                <a:gd name="adj" fmla="val 1500"/>
              </a:avLst>
            </a:prstGeom>
            <a:solidFill>
              <a:sysClr val="window" lastClr="FFFFFF">
                <a:alpha val="40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tIns="0" rIns="91440" bIns="91440" rtlCol="0" anchor="t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Rack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5376F533-2B76-833D-0384-EA94BD0DEA04}"/>
                </a:ext>
              </a:extLst>
            </p:cNvPr>
            <p:cNvSpPr txBox="1"/>
            <p:nvPr/>
          </p:nvSpPr>
          <p:spPr>
            <a:xfrm>
              <a:off x="3173325" y="2730028"/>
              <a:ext cx="2080961" cy="2526109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18288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Server</a:t>
              </a: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828A86A-E9B1-1C54-B254-A64595C7737A}"/>
                </a:ext>
              </a:extLst>
            </p:cNvPr>
            <p:cNvSpPr txBox="1"/>
            <p:nvPr/>
          </p:nvSpPr>
          <p:spPr>
            <a:xfrm>
              <a:off x="3173325" y="5301169"/>
              <a:ext cx="2080961" cy="35688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Server</a:t>
              </a: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14181072-3E86-B819-6910-89061F242A92}"/>
                </a:ext>
              </a:extLst>
            </p:cNvPr>
            <p:cNvSpPr txBox="1"/>
            <p:nvPr/>
          </p:nvSpPr>
          <p:spPr>
            <a:xfrm>
              <a:off x="3173325" y="5707786"/>
              <a:ext cx="2080961" cy="35688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...</a:t>
              </a:r>
            </a:p>
          </p:txBody>
        </p: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A935C591-DBBC-BD8E-AF63-061FD2E773C9}"/>
                </a:ext>
              </a:extLst>
            </p:cNvPr>
            <p:cNvGrpSpPr/>
            <p:nvPr/>
          </p:nvGrpSpPr>
          <p:grpSpPr>
            <a:xfrm>
              <a:off x="5098003" y="2891301"/>
              <a:ext cx="607391" cy="1298802"/>
              <a:chOff x="4336438" y="2128458"/>
              <a:chExt cx="607391" cy="1089088"/>
            </a:xfrm>
          </p:grpSpPr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400D2E8A-C494-E74B-6AD5-4AF464111247}"/>
                  </a:ext>
                </a:extLst>
              </p:cNvPr>
              <p:cNvSpPr txBox="1"/>
              <p:nvPr/>
            </p:nvSpPr>
            <p:spPr>
              <a:xfrm>
                <a:off x="4336438" y="2128458"/>
                <a:ext cx="607391" cy="1089088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>
                <a:solidFill>
                  <a:srgbClr val="4BACC6">
                    <a:lumMod val="60000"/>
                    <a:lumOff val="40000"/>
                    <a:alpha val="60000"/>
                  </a:srgbClr>
                </a:solidFill>
                <a:prstDash val="solid"/>
              </a:ln>
            </p:spPr>
            <p:txBody>
              <a:bodyPr wrap="none" lIns="0" tIns="91440" rIns="0" bIns="0" anchor="t" anchorCtr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ACC6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Cooling</a:t>
                </a:r>
              </a:p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ACC6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System</a:t>
                </a:r>
              </a:p>
            </p:txBody>
          </p:sp>
          <p:pic>
            <p:nvPicPr>
              <p:cNvPr id="114" name="圖片 113">
                <a:extLst>
                  <a:ext uri="{FF2B5EF4-FFF2-40B4-BE49-F238E27FC236}">
                    <a16:creationId xmlns:a16="http://schemas.microsoft.com/office/drawing/2014/main" id="{7577E1A2-099A-9030-8262-C8D73D795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4282" y="2749454"/>
                <a:ext cx="361811" cy="283302"/>
              </a:xfrm>
              <a:prstGeom prst="rect">
                <a:avLst/>
              </a:prstGeom>
              <a:effectLst>
                <a:glow rad="25400">
                  <a:srgbClr val="4BACC6">
                    <a:lumMod val="60000"/>
                    <a:lumOff val="40000"/>
                    <a:alpha val="40000"/>
                  </a:srgbClr>
                </a:glow>
                <a:softEdge rad="50800"/>
              </a:effectLst>
            </p:spPr>
          </p:pic>
        </p:grpSp>
        <p:pic>
          <p:nvPicPr>
            <p:cNvPr id="101" name="圖形 100" descr="電腦 以實心填滿">
              <a:extLst>
                <a:ext uri="{FF2B5EF4-FFF2-40B4-BE49-F238E27FC236}">
                  <a16:creationId xmlns:a16="http://schemas.microsoft.com/office/drawing/2014/main" id="{DDD383F8-6E82-7D9E-1F9E-9EC45B512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94295" y="2759384"/>
              <a:ext cx="457625" cy="457625"/>
            </a:xfrm>
            <a:prstGeom prst="rect">
              <a:avLst/>
            </a:prstGeom>
          </p:spPr>
        </p:pic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68A0DC43-4A00-6920-CE30-1BEFDBB22664}"/>
                </a:ext>
              </a:extLst>
            </p:cNvPr>
            <p:cNvSpPr txBox="1"/>
            <p:nvPr/>
          </p:nvSpPr>
          <p:spPr>
            <a:xfrm>
              <a:off x="3289175" y="3213165"/>
              <a:ext cx="1612342" cy="1948060"/>
            </a:xfrm>
            <a:prstGeom prst="rect">
              <a:avLst/>
            </a:prstGeom>
            <a:solidFill>
              <a:srgbClr val="EEECE1"/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Main Board</a:t>
              </a: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DEFA735-8972-623F-C2CC-14939AD28FBC}"/>
                </a:ext>
              </a:extLst>
            </p:cNvPr>
            <p:cNvSpPr txBox="1"/>
            <p:nvPr/>
          </p:nvSpPr>
          <p:spPr>
            <a:xfrm>
              <a:off x="3419242" y="4513053"/>
              <a:ext cx="860849" cy="576164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>
              <a:solidFill>
                <a:srgbClr val="9BBB59">
                  <a:lumMod val="75000"/>
                </a:srgbClr>
              </a:solidFill>
              <a:prstDash val="solid"/>
            </a:ln>
          </p:spPr>
          <p:txBody>
            <a:bodyPr wrap="none" lIns="0" tIns="0" rIns="0" bIns="0" anchor="b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GPU</a:t>
              </a: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5B193078-49CA-61DB-2D0F-A10F470F1D38}"/>
                </a:ext>
              </a:extLst>
            </p:cNvPr>
            <p:cNvSpPr txBox="1"/>
            <p:nvPr/>
          </p:nvSpPr>
          <p:spPr>
            <a:xfrm>
              <a:off x="4397461" y="4093655"/>
              <a:ext cx="593369" cy="990710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Power</a:t>
              </a:r>
              <a:b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</a:b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Supply</a:t>
              </a:r>
            </a:p>
          </p:txBody>
        </p:sp>
        <p:pic>
          <p:nvPicPr>
            <p:cNvPr id="105" name="圖片 104">
              <a:extLst>
                <a:ext uri="{FF2B5EF4-FFF2-40B4-BE49-F238E27FC236}">
                  <a16:creationId xmlns:a16="http://schemas.microsoft.com/office/drawing/2014/main" id="{4D0EB02C-8E10-BE37-3692-6EFE20063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2118" y="4605603"/>
              <a:ext cx="501032" cy="417188"/>
            </a:xfrm>
            <a:prstGeom prst="rect">
              <a:avLst/>
            </a:prstGeom>
            <a:effectLst>
              <a:glow rad="25400">
                <a:srgbClr val="EEECE1">
                  <a:lumMod val="90000"/>
                  <a:alpha val="40000"/>
                </a:srgbClr>
              </a:glow>
              <a:softEdge rad="50800"/>
            </a:effectLst>
          </p:spPr>
        </p:pic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3502562-9660-599F-2AA9-E1BD70AD0A3D}"/>
                </a:ext>
              </a:extLst>
            </p:cNvPr>
            <p:cNvSpPr txBox="1"/>
            <p:nvPr/>
          </p:nvSpPr>
          <p:spPr>
            <a:xfrm>
              <a:off x="3489122" y="4580310"/>
              <a:ext cx="694443" cy="28250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HBM</a:t>
              </a: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4E0BE858-729E-F8CE-3B5A-B862BAB62080}"/>
                </a:ext>
              </a:extLst>
            </p:cNvPr>
            <p:cNvSpPr txBox="1"/>
            <p:nvPr/>
          </p:nvSpPr>
          <p:spPr>
            <a:xfrm>
              <a:off x="3482122" y="3410762"/>
              <a:ext cx="701444" cy="31030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VRAM</a:t>
              </a: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43B74B94-347F-3556-4118-A33B7603F8C0}"/>
                </a:ext>
              </a:extLst>
            </p:cNvPr>
            <p:cNvSpPr txBox="1"/>
            <p:nvPr/>
          </p:nvSpPr>
          <p:spPr>
            <a:xfrm>
              <a:off x="3482122" y="3793519"/>
              <a:ext cx="694443" cy="21557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DRAM</a:t>
              </a: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26BEDC61-880B-A3D9-B107-3D7C338B2941}"/>
                </a:ext>
              </a:extLst>
            </p:cNvPr>
            <p:cNvSpPr txBox="1"/>
            <p:nvPr/>
          </p:nvSpPr>
          <p:spPr>
            <a:xfrm>
              <a:off x="3397169" y="4085197"/>
              <a:ext cx="374373" cy="28394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CPU</a:t>
              </a:r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2CE9383D-AD19-21A9-3A30-6EBCEF11412B}"/>
                </a:ext>
              </a:extLst>
            </p:cNvPr>
            <p:cNvSpPr txBox="1"/>
            <p:nvPr/>
          </p:nvSpPr>
          <p:spPr>
            <a:xfrm>
              <a:off x="3901225" y="4081005"/>
              <a:ext cx="374373" cy="288132"/>
            </a:xfrm>
            <a:prstGeom prst="rect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GPUs</a:t>
              </a:r>
            </a:p>
          </p:txBody>
        </p:sp>
        <p:sp>
          <p:nvSpPr>
            <p:cNvPr id="111" name="箭號: 左-右雙向 110">
              <a:extLst>
                <a:ext uri="{FF2B5EF4-FFF2-40B4-BE49-F238E27FC236}">
                  <a16:creationId xmlns:a16="http://schemas.microsoft.com/office/drawing/2014/main" id="{58175F5D-AE73-7E37-2EF7-203538592689}"/>
                </a:ext>
              </a:extLst>
            </p:cNvPr>
            <p:cNvSpPr/>
            <p:nvPr/>
          </p:nvSpPr>
          <p:spPr>
            <a:xfrm rot="5400000">
              <a:off x="3674485" y="4360316"/>
              <a:ext cx="314405" cy="194363"/>
            </a:xfrm>
            <a:prstGeom prst="leftRightArrow">
              <a:avLst/>
            </a:prstGeom>
            <a:solidFill>
              <a:srgbClr val="F79646">
                <a:lumMod val="20000"/>
                <a:lumOff val="80000"/>
              </a:srgbClr>
            </a:solidFill>
            <a:ln w="15875" cap="flat" cmpd="sng" algn="ctr">
              <a:solidFill>
                <a:srgbClr val="FEC20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12" name="箭號: 左-右雙向 111">
              <a:extLst>
                <a:ext uri="{FF2B5EF4-FFF2-40B4-BE49-F238E27FC236}">
                  <a16:creationId xmlns:a16="http://schemas.microsoft.com/office/drawing/2014/main" id="{5A6E89F2-F25A-A869-33EB-590115F53BCB}"/>
                </a:ext>
              </a:extLst>
            </p:cNvPr>
            <p:cNvSpPr/>
            <p:nvPr/>
          </p:nvSpPr>
          <p:spPr>
            <a:xfrm rot="5400000">
              <a:off x="3388169" y="5130875"/>
              <a:ext cx="433026" cy="204616"/>
            </a:xfrm>
            <a:prstGeom prst="leftRightArrow">
              <a:avLst/>
            </a:prstGeom>
            <a:solidFill>
              <a:srgbClr val="F79646">
                <a:lumMod val="20000"/>
                <a:lumOff val="80000"/>
              </a:srgbClr>
            </a:solidFill>
            <a:ln w="15875" cap="flat" cmpd="sng" algn="ctr">
              <a:solidFill>
                <a:srgbClr val="FEC20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826E2BA4-5C3E-731B-9526-6845A298D1F6}"/>
              </a:ext>
            </a:extLst>
          </p:cNvPr>
          <p:cNvSpPr txBox="1"/>
          <p:nvPr/>
        </p:nvSpPr>
        <p:spPr>
          <a:xfrm>
            <a:off x="99753" y="2366219"/>
            <a:ext cx="2713240" cy="53889"/>
          </a:xfrm>
          <a:prstGeom prst="rect">
            <a:avLst/>
          </a:prstGeom>
          <a:solidFill>
            <a:srgbClr val="EEECE1">
              <a:lumMod val="90000"/>
              <a:alpha val="80000"/>
            </a:srgbClr>
          </a:solidFill>
          <a:ln w="12700">
            <a:solidFill>
              <a:srgbClr val="EEECE1">
                <a:lumMod val="50000"/>
                <a:alpha val="60000"/>
              </a:srgbClr>
            </a:solidFill>
            <a:prstDash val="solid"/>
          </a:ln>
        </p:spPr>
        <p:txBody>
          <a:bodyPr wrap="none" lIns="0" tIns="0" rIns="0" bIns="9144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Dotum" panose="020B0600000101010101" pitchFamily="34" charset="-127"/>
              </a:rPr>
              <a:t>CCL</a:t>
            </a:r>
          </a:p>
        </p:txBody>
      </p:sp>
      <p:sp>
        <p:nvSpPr>
          <p:cNvPr id="116" name="圖說文字: 直線 115">
            <a:extLst>
              <a:ext uri="{FF2B5EF4-FFF2-40B4-BE49-F238E27FC236}">
                <a16:creationId xmlns:a16="http://schemas.microsoft.com/office/drawing/2014/main" id="{966FBC12-8F21-F44B-5416-1D65BED99F56}"/>
              </a:ext>
            </a:extLst>
          </p:cNvPr>
          <p:cNvSpPr/>
          <p:nvPr/>
        </p:nvSpPr>
        <p:spPr>
          <a:xfrm flipH="1">
            <a:off x="1614346" y="4984921"/>
            <a:ext cx="1948127" cy="1180383"/>
          </a:xfrm>
          <a:prstGeom prst="borderCallout1">
            <a:avLst>
              <a:gd name="adj1" fmla="val 15212"/>
              <a:gd name="adj2" fmla="val 9855"/>
              <a:gd name="adj3" fmla="val 15431"/>
              <a:gd name="adj4" fmla="val -44781"/>
            </a:avLst>
          </a:prstGeom>
          <a:solidFill>
            <a:srgbClr val="9BBB59">
              <a:lumMod val="20000"/>
              <a:lumOff val="80000"/>
              <a:alpha val="60000"/>
            </a:srgbClr>
          </a:solidFill>
          <a:ln w="127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4485C64A-4E2C-6B84-928D-EF5CCD9F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442289"/>
              </p:ext>
            </p:extLst>
          </p:nvPr>
        </p:nvGraphicFramePr>
        <p:xfrm>
          <a:off x="1679771" y="4992544"/>
          <a:ext cx="1805818" cy="1158201"/>
        </p:xfrm>
        <a:graphic>
          <a:graphicData uri="http://schemas.openxmlformats.org/drawingml/2006/table">
            <a:tbl>
              <a:tblPr firstRow="1" bandRow="1"/>
              <a:tblGrid>
                <a:gridCol w="180581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43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</a:t>
                      </a: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Heat Sink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NPU (TPU, LPU)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885057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H100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769247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Cost: $3.5k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$30k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90171"/>
                  </a:ext>
                </a:extLst>
              </a:tr>
            </a:tbl>
          </a:graphicData>
        </a:graphic>
      </p:graphicFrame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9C903411-47DD-F99E-18FD-3504E36BF9A8}"/>
              </a:ext>
            </a:extLst>
          </p:cNvPr>
          <p:cNvGrpSpPr/>
          <p:nvPr/>
        </p:nvGrpSpPr>
        <p:grpSpPr>
          <a:xfrm>
            <a:off x="341707" y="5063065"/>
            <a:ext cx="974139" cy="1059346"/>
            <a:chOff x="6114065" y="721121"/>
            <a:chExt cx="974139" cy="1059346"/>
          </a:xfrm>
        </p:grpSpPr>
        <p:sp>
          <p:nvSpPr>
            <p:cNvPr id="119" name="局部圓 118">
              <a:extLst>
                <a:ext uri="{FF2B5EF4-FFF2-40B4-BE49-F238E27FC236}">
                  <a16:creationId xmlns:a16="http://schemas.microsoft.com/office/drawing/2014/main" id="{B91BC5FF-331E-01CD-500C-E5B5335D0E2E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7541408"/>
                <a:gd name="adj2" fmla="val 16216173"/>
              </a:avLst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0" name="局部圓 119">
              <a:extLst>
                <a:ext uri="{FF2B5EF4-FFF2-40B4-BE49-F238E27FC236}">
                  <a16:creationId xmlns:a16="http://schemas.microsoft.com/office/drawing/2014/main" id="{DFE1C1BE-ED6F-0F46-4E67-90DB130C4A98}"/>
                </a:ext>
              </a:extLst>
            </p:cNvPr>
            <p:cNvSpPr/>
            <p:nvPr/>
          </p:nvSpPr>
          <p:spPr>
            <a:xfrm>
              <a:off x="6114065" y="721121"/>
              <a:ext cx="914400" cy="914400"/>
            </a:xfrm>
            <a:prstGeom prst="pie">
              <a:avLst>
                <a:gd name="adj1" fmla="val 16168017"/>
                <a:gd name="adj2" fmla="val 20664875"/>
              </a:avLst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1" name="局部圓 120">
              <a:extLst>
                <a:ext uri="{FF2B5EF4-FFF2-40B4-BE49-F238E27FC236}">
                  <a16:creationId xmlns:a16="http://schemas.microsoft.com/office/drawing/2014/main" id="{B9827270-960D-F7A3-5172-2132B5378A8B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5382360"/>
                <a:gd name="adj2" fmla="val 7565593"/>
              </a:avLst>
            </a:prstGeom>
            <a:solidFill>
              <a:srgbClr val="9BBB59">
                <a:lumMod val="60000"/>
                <a:lumOff val="4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2" name="局部圓 121">
              <a:extLst>
                <a:ext uri="{FF2B5EF4-FFF2-40B4-BE49-F238E27FC236}">
                  <a16:creationId xmlns:a16="http://schemas.microsoft.com/office/drawing/2014/main" id="{41C05422-65D9-537A-5653-74268B037FE7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20608227"/>
                <a:gd name="adj2" fmla="val 5417483"/>
              </a:avLst>
            </a:prstGeom>
            <a:solidFill>
              <a:srgbClr val="F79646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D7B5AAEB-C1D5-943B-A9C6-FEEF7D985EDA}"/>
                </a:ext>
              </a:extLst>
            </p:cNvPr>
            <p:cNvSpPr txBox="1"/>
            <p:nvPr/>
          </p:nvSpPr>
          <p:spPr>
            <a:xfrm>
              <a:off x="6316858" y="1472690"/>
              <a:ext cx="40075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10%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AI Logic</a:t>
              </a: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618312BF-7A4C-56CD-E090-F95A61A7830A}"/>
                </a:ext>
              </a:extLst>
            </p:cNvPr>
            <p:cNvSpPr txBox="1"/>
            <p:nvPr/>
          </p:nvSpPr>
          <p:spPr>
            <a:xfrm>
              <a:off x="6646361" y="1196752"/>
              <a:ext cx="42797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Others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B8700D00-23A4-D720-B1DC-863CA345B64D}"/>
                </a:ext>
              </a:extLst>
            </p:cNvPr>
            <p:cNvSpPr txBox="1"/>
            <p:nvPr/>
          </p:nvSpPr>
          <p:spPr>
            <a:xfrm>
              <a:off x="6660231" y="744959"/>
              <a:ext cx="42797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CoWoS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C25EB373-1404-FC82-1142-ABB0FA1E615F}"/>
                </a:ext>
              </a:extLst>
            </p:cNvPr>
            <p:cNvSpPr txBox="1"/>
            <p:nvPr/>
          </p:nvSpPr>
          <p:spPr>
            <a:xfrm>
              <a:off x="6215096" y="975445"/>
              <a:ext cx="25968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HBM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40%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27" name="標題 1">
            <a:extLst>
              <a:ext uri="{FF2B5EF4-FFF2-40B4-BE49-F238E27FC236}">
                <a16:creationId xmlns:a16="http://schemas.microsoft.com/office/drawing/2014/main" id="{272D1D9F-CCB1-1F37-4F2C-1CD0D1E5CF54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Training Cluster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99% computing power is used for pre-training.</a:t>
            </a: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49751CFD-3763-3EED-19E4-AA11BEE4A530}"/>
              </a:ext>
            </a:extLst>
          </p:cNvPr>
          <p:cNvSpPr txBox="1"/>
          <p:nvPr/>
        </p:nvSpPr>
        <p:spPr>
          <a:xfrm>
            <a:off x="1102153" y="1196966"/>
            <a:ext cx="1309608" cy="427273"/>
          </a:xfrm>
          <a:prstGeom prst="rect">
            <a:avLst/>
          </a:prstGeom>
          <a:solidFill>
            <a:sysClr val="windowText" lastClr="000000">
              <a:alpha val="80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9FD979B1-6EA7-848C-4CCD-CC6DE3D5FDF2}"/>
              </a:ext>
            </a:extLst>
          </p:cNvPr>
          <p:cNvSpPr txBox="1"/>
          <p:nvPr/>
        </p:nvSpPr>
        <p:spPr>
          <a:xfrm>
            <a:off x="107504" y="2462003"/>
            <a:ext cx="2713240" cy="174909"/>
          </a:xfrm>
          <a:prstGeom prst="rect">
            <a:avLst/>
          </a:prstGeom>
          <a:solidFill>
            <a:srgbClr val="4F81BD">
              <a:lumMod val="50000"/>
              <a:alpha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</a:rPr>
              <a:t>PCB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1C3A0E8F-17BB-0DD1-D6AB-9FCF1FF466C7}"/>
              </a:ext>
            </a:extLst>
          </p:cNvPr>
          <p:cNvSpPr txBox="1"/>
          <p:nvPr/>
        </p:nvSpPr>
        <p:spPr>
          <a:xfrm>
            <a:off x="228338" y="1669931"/>
            <a:ext cx="605575" cy="315406"/>
          </a:xfrm>
          <a:prstGeom prst="rect">
            <a:avLst/>
          </a:prstGeom>
          <a:solidFill>
            <a:sysClr val="windowText" lastClr="000000">
              <a:alpha val="80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443CCABC-1D4B-9EFE-6FAB-F7D7026067BC}"/>
              </a:ext>
            </a:extLst>
          </p:cNvPr>
          <p:cNvSpPr txBox="1"/>
          <p:nvPr/>
        </p:nvSpPr>
        <p:spPr>
          <a:xfrm>
            <a:off x="1216659" y="1262806"/>
            <a:ext cx="403014" cy="191102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AI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0D6F7B44-F48F-A490-DB2F-4E64B4F2B260}"/>
              </a:ext>
            </a:extLst>
          </p:cNvPr>
          <p:cNvSpPr txBox="1"/>
          <p:nvPr/>
        </p:nvSpPr>
        <p:spPr>
          <a:xfrm>
            <a:off x="1691680" y="1256532"/>
            <a:ext cx="605575" cy="19192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HBM</a:t>
            </a: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A9616496-ECC9-3C8D-C4D4-0057C5C5F1D9}"/>
              </a:ext>
            </a:extLst>
          </p:cNvPr>
          <p:cNvSpPr txBox="1"/>
          <p:nvPr/>
        </p:nvSpPr>
        <p:spPr>
          <a:xfrm>
            <a:off x="1105735" y="1617401"/>
            <a:ext cx="1610032" cy="109505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ABF</a:t>
            </a: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D3FBDF87-0CD0-AE13-442B-546D01EBAB85}"/>
              </a:ext>
            </a:extLst>
          </p:cNvPr>
          <p:cNvSpPr txBox="1"/>
          <p:nvPr/>
        </p:nvSpPr>
        <p:spPr>
          <a:xfrm>
            <a:off x="1102152" y="1477746"/>
            <a:ext cx="1613615" cy="139655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CoWoS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785DDA56-295E-A268-E612-19BB60367816}"/>
              </a:ext>
            </a:extLst>
          </p:cNvPr>
          <p:cNvSpPr txBox="1"/>
          <p:nvPr/>
        </p:nvSpPr>
        <p:spPr>
          <a:xfrm>
            <a:off x="302604" y="1737073"/>
            <a:ext cx="452972" cy="18521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Die</a:t>
            </a: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C0B4F8D8-96F3-E5E8-DF7F-C96745C03BE2}"/>
              </a:ext>
            </a:extLst>
          </p:cNvPr>
          <p:cNvSpPr txBox="1"/>
          <p:nvPr/>
        </p:nvSpPr>
        <p:spPr>
          <a:xfrm>
            <a:off x="1446145" y="980728"/>
            <a:ext cx="605575" cy="185217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GPU</a:t>
            </a: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AABDB10D-E92F-19DC-5924-BA4C4D5E1F65}"/>
              </a:ext>
            </a:extLst>
          </p:cNvPr>
          <p:cNvSpPr txBox="1"/>
          <p:nvPr/>
        </p:nvSpPr>
        <p:spPr>
          <a:xfrm>
            <a:off x="293763" y="1453907"/>
            <a:ext cx="461813" cy="185217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Chip</a:t>
            </a:r>
          </a:p>
        </p:txBody>
      </p:sp>
      <p:sp>
        <p:nvSpPr>
          <p:cNvPr id="138" name="箭號: 向下 137">
            <a:extLst>
              <a:ext uri="{FF2B5EF4-FFF2-40B4-BE49-F238E27FC236}">
                <a16:creationId xmlns:a16="http://schemas.microsoft.com/office/drawing/2014/main" id="{A69E456C-F402-C56B-51FE-E8565FB889DF}"/>
              </a:ext>
            </a:extLst>
          </p:cNvPr>
          <p:cNvSpPr/>
          <p:nvPr/>
        </p:nvSpPr>
        <p:spPr>
          <a:xfrm>
            <a:off x="1864042" y="2314886"/>
            <a:ext cx="259686" cy="219125"/>
          </a:xfrm>
          <a:prstGeom prst="downArrow">
            <a:avLst/>
          </a:prstGeom>
          <a:solidFill>
            <a:srgbClr val="FFFF00">
              <a:alpha val="80000"/>
            </a:srgbClr>
          </a:solidFill>
          <a:ln w="2540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9" name="箭號: 向下 138">
            <a:extLst>
              <a:ext uri="{FF2B5EF4-FFF2-40B4-BE49-F238E27FC236}">
                <a16:creationId xmlns:a16="http://schemas.microsoft.com/office/drawing/2014/main" id="{BD6546CC-0F11-82A2-8299-92D7F63D6E77}"/>
              </a:ext>
            </a:extLst>
          </p:cNvPr>
          <p:cNvSpPr/>
          <p:nvPr/>
        </p:nvSpPr>
        <p:spPr>
          <a:xfrm>
            <a:off x="394826" y="2314886"/>
            <a:ext cx="259686" cy="219125"/>
          </a:xfrm>
          <a:prstGeom prst="downArrow">
            <a:avLst/>
          </a:prstGeom>
          <a:solidFill>
            <a:srgbClr val="FFFF00">
              <a:alpha val="80000"/>
            </a:srgbClr>
          </a:solidFill>
          <a:ln w="2540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0" name="圖說文字: 直線 139">
            <a:extLst>
              <a:ext uri="{FF2B5EF4-FFF2-40B4-BE49-F238E27FC236}">
                <a16:creationId xmlns:a16="http://schemas.microsoft.com/office/drawing/2014/main" id="{47F93D0B-0EBE-79B3-AC2D-3E2E53572B8D}"/>
              </a:ext>
            </a:extLst>
          </p:cNvPr>
          <p:cNvSpPr/>
          <p:nvPr/>
        </p:nvSpPr>
        <p:spPr>
          <a:xfrm flipH="1">
            <a:off x="1615761" y="3147029"/>
            <a:ext cx="1948127" cy="1608749"/>
          </a:xfrm>
          <a:prstGeom prst="borderCallout1">
            <a:avLst>
              <a:gd name="adj1" fmla="val 49078"/>
              <a:gd name="adj2" fmla="val 4692"/>
              <a:gd name="adj3" fmla="val 48932"/>
              <a:gd name="adj4" fmla="val -32098"/>
            </a:avLst>
          </a:prstGeom>
          <a:solidFill>
            <a:srgbClr val="EEECE1">
              <a:alpha val="60000"/>
            </a:srgbClr>
          </a:solidFill>
          <a:ln w="12700" cap="flat" cmpd="sng" algn="ctr">
            <a:solidFill>
              <a:srgbClr val="EEECE1">
                <a:lumMod val="50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D9BC72A4-D1D4-2B35-5180-7FB0AEAF2597}"/>
              </a:ext>
            </a:extLst>
          </p:cNvPr>
          <p:cNvCxnSpPr>
            <a:cxnSpLocks/>
          </p:cNvCxnSpPr>
          <p:nvPr/>
        </p:nvCxnSpPr>
        <p:spPr>
          <a:xfrm>
            <a:off x="2534072" y="980728"/>
            <a:ext cx="0" cy="1275987"/>
          </a:xfrm>
          <a:prstGeom prst="line">
            <a:avLst/>
          </a:prstGeom>
          <a:noFill/>
          <a:ln w="9525" cap="flat" cmpd="sng" algn="ctr">
            <a:solidFill>
              <a:srgbClr val="C0504D"/>
            </a:solidFill>
            <a:prstDash val="lgDash"/>
          </a:ln>
          <a:effectLst/>
        </p:spPr>
      </p:cxnSp>
      <p:graphicFrame>
        <p:nvGraphicFramePr>
          <p:cNvPr id="142" name="表格 141">
            <a:extLst>
              <a:ext uri="{FF2B5EF4-FFF2-40B4-BE49-F238E27FC236}">
                <a16:creationId xmlns:a16="http://schemas.microsoft.com/office/drawing/2014/main" id="{B51E4E71-6AC0-7A45-EA09-95F39699E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553364"/>
              </p:ext>
            </p:extLst>
          </p:nvPr>
        </p:nvGraphicFramePr>
        <p:xfrm>
          <a:off x="1679771" y="3163014"/>
          <a:ext cx="1799351" cy="1568191"/>
        </p:xfrm>
        <a:graphic>
          <a:graphicData uri="http://schemas.openxmlformats.org/drawingml/2006/table">
            <a:tbl>
              <a:tblPr firstRow="1" bandRow="1"/>
              <a:tblGrid>
                <a:gridCol w="179935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880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Main Board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PCB: 20~30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Layers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ABF:  12~20 Layers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MLCC 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75292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83905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HBM = 12 x DRAM Dies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59884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DRAM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383449"/>
                  </a:ext>
                </a:extLst>
              </a:tr>
            </a:tbl>
          </a:graphicData>
        </a:graphic>
      </p:graphicFrame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CD009A5A-F50F-7334-8978-AE635616E20F}"/>
              </a:ext>
            </a:extLst>
          </p:cNvPr>
          <p:cNvSpPr txBox="1"/>
          <p:nvPr/>
        </p:nvSpPr>
        <p:spPr>
          <a:xfrm>
            <a:off x="2282044" y="2137550"/>
            <a:ext cx="504056" cy="141834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/>
          <a:p>
            <a:pPr algn="ctr" defTabSz="914400">
              <a:lnSpc>
                <a:spcPts val="1200"/>
              </a:lnSpc>
            </a:pPr>
            <a:r>
              <a:rPr lang="en-US" altLang="zh-TW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Die</a:t>
            </a:r>
            <a:r>
              <a:rPr lang="zh-TW" altLang="en-US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 </a:t>
            </a:r>
            <a:r>
              <a:rPr lang="en-US" altLang="zh-TW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Saw</a:t>
            </a: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E7AF33B-721D-B08F-71A5-9DEE765B2F01}"/>
              </a:ext>
            </a:extLst>
          </p:cNvPr>
          <p:cNvGrpSpPr/>
          <p:nvPr/>
        </p:nvGrpSpPr>
        <p:grpSpPr>
          <a:xfrm>
            <a:off x="6197511" y="5432652"/>
            <a:ext cx="831306" cy="1020684"/>
            <a:chOff x="5135962" y="4417631"/>
            <a:chExt cx="831306" cy="1020684"/>
          </a:xfrm>
        </p:grpSpPr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70340D67-3621-5D92-58EB-8F03E241087D}"/>
                </a:ext>
              </a:extLst>
            </p:cNvPr>
            <p:cNvSpPr txBox="1"/>
            <p:nvPr/>
          </p:nvSpPr>
          <p:spPr>
            <a:xfrm>
              <a:off x="5508104" y="4588393"/>
              <a:ext cx="406427" cy="849922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91440" tIns="91440" rIns="91440" bIns="9144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Rack</a:t>
              </a:r>
            </a:p>
          </p:txBody>
        </p:sp>
        <p:pic>
          <p:nvPicPr>
            <p:cNvPr id="146" name="圖片 145">
              <a:extLst>
                <a:ext uri="{FF2B5EF4-FFF2-40B4-BE49-F238E27FC236}">
                  <a16:creationId xmlns:a16="http://schemas.microsoft.com/office/drawing/2014/main" id="{EB64F90E-74DB-2C01-3C7F-85E6B8CA9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8104" y="4839285"/>
              <a:ext cx="380840" cy="599030"/>
            </a:xfrm>
            <a:prstGeom prst="rect">
              <a:avLst/>
            </a:prstGeom>
          </p:spPr>
        </p:pic>
        <p:sp>
          <p:nvSpPr>
            <p:cNvPr id="147" name="文字方塊 146">
              <a:extLst>
                <a:ext uri="{FF2B5EF4-FFF2-40B4-BE49-F238E27FC236}">
                  <a16:creationId xmlns:a16="http://schemas.microsoft.com/office/drawing/2014/main" id="{705A59D7-5B74-6B8B-3D58-EFAD53FDEE45}"/>
                </a:ext>
              </a:extLst>
            </p:cNvPr>
            <p:cNvSpPr txBox="1"/>
            <p:nvPr/>
          </p:nvSpPr>
          <p:spPr>
            <a:xfrm>
              <a:off x="5754102" y="4956209"/>
              <a:ext cx="213166" cy="410098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80000"/>
              </a:srgbClr>
            </a:solidFill>
            <a:ln w="25400">
              <a:solidFill>
                <a:srgbClr val="4BACC6">
                  <a:lumMod val="60000"/>
                  <a:lumOff val="40000"/>
                  <a:alpha val="80000"/>
                </a:srgb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EF705A83-EC1F-5D3A-F380-81BDD16140A2}"/>
                </a:ext>
              </a:extLst>
            </p:cNvPr>
            <p:cNvSpPr txBox="1"/>
            <p:nvPr/>
          </p:nvSpPr>
          <p:spPr>
            <a:xfrm>
              <a:off x="5135962" y="4417631"/>
              <a:ext cx="406427" cy="876667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91440" tIns="91440" rIns="91440" bIns="9144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Rack</a:t>
              </a:r>
            </a:p>
          </p:txBody>
        </p:sp>
        <p:pic>
          <p:nvPicPr>
            <p:cNvPr id="149" name="圖片 148">
              <a:extLst>
                <a:ext uri="{FF2B5EF4-FFF2-40B4-BE49-F238E27FC236}">
                  <a16:creationId xmlns:a16="http://schemas.microsoft.com/office/drawing/2014/main" id="{2501ECA3-3AEE-A2DC-1C89-8D94BAD08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54380" y="4683992"/>
              <a:ext cx="388009" cy="610307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0A722513-B550-4D8E-1616-4518BECF91B1}"/>
                </a:ext>
              </a:extLst>
            </p:cNvPr>
            <p:cNvSpPr txBox="1"/>
            <p:nvPr/>
          </p:nvSpPr>
          <p:spPr>
            <a:xfrm>
              <a:off x="5394062" y="4812193"/>
              <a:ext cx="213166" cy="410098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80000"/>
              </a:srgbClr>
            </a:solidFill>
            <a:ln w="25400">
              <a:solidFill>
                <a:srgbClr val="4BACC6">
                  <a:lumMod val="60000"/>
                  <a:lumOff val="40000"/>
                  <a:alpha val="80000"/>
                </a:srgb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51" name="圖說文字: 直線 150">
            <a:extLst>
              <a:ext uri="{FF2B5EF4-FFF2-40B4-BE49-F238E27FC236}">
                <a16:creationId xmlns:a16="http://schemas.microsoft.com/office/drawing/2014/main" id="{ECE7EA3C-323F-91E0-8B66-FC910327B078}"/>
              </a:ext>
            </a:extLst>
          </p:cNvPr>
          <p:cNvSpPr/>
          <p:nvPr/>
        </p:nvSpPr>
        <p:spPr>
          <a:xfrm flipH="1">
            <a:off x="5796136" y="1140570"/>
            <a:ext cx="2004185" cy="1784374"/>
          </a:xfrm>
          <a:prstGeom prst="borderCallout1">
            <a:avLst>
              <a:gd name="adj1" fmla="val 97311"/>
              <a:gd name="adj2" fmla="val 97673"/>
              <a:gd name="adj3" fmla="val 118960"/>
              <a:gd name="adj4" fmla="val 118673"/>
            </a:avLst>
          </a:prstGeom>
          <a:solidFill>
            <a:srgbClr val="1F497D">
              <a:lumMod val="40000"/>
              <a:lumOff val="60000"/>
              <a:alpha val="40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07517C8B-5EAC-AE03-1AD5-0610DE681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565444"/>
              </p:ext>
            </p:extLst>
          </p:nvPr>
        </p:nvGraphicFramePr>
        <p:xfrm>
          <a:off x="5796136" y="1126305"/>
          <a:ext cx="2004182" cy="1833742"/>
        </p:xfrm>
        <a:graphic>
          <a:graphicData uri="http://schemas.openxmlformats.org/drawingml/2006/table">
            <a:tbl>
              <a:tblPr firstRow="1" bandRow="1"/>
              <a:tblGrid>
                <a:gridCol w="200418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77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Rack &amp; Server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NV-Link / MTK-SerDes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373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Micro LED/Marvell CPO / WSE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236196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45302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Rubin NVL72: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017267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Compute Server x 18 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108361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Switch Server x 9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Cost: $7~8M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9M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849749"/>
                  </a:ext>
                </a:extLst>
              </a:tr>
            </a:tbl>
          </a:graphicData>
        </a:graphic>
      </p:graphicFrame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8B29C00F-8244-CE8B-35FF-C172C3E05462}"/>
              </a:ext>
            </a:extLst>
          </p:cNvPr>
          <p:cNvGrpSpPr/>
          <p:nvPr/>
        </p:nvGrpSpPr>
        <p:grpSpPr>
          <a:xfrm>
            <a:off x="7057301" y="2645681"/>
            <a:ext cx="1667973" cy="1584176"/>
            <a:chOff x="4139952" y="548680"/>
            <a:chExt cx="1667973" cy="1584176"/>
          </a:xfrm>
        </p:grpSpPr>
        <p:sp>
          <p:nvSpPr>
            <p:cNvPr id="154" name="局部圓 153">
              <a:extLst>
                <a:ext uri="{FF2B5EF4-FFF2-40B4-BE49-F238E27FC236}">
                  <a16:creationId xmlns:a16="http://schemas.microsoft.com/office/drawing/2014/main" id="{78575C9B-923F-BF97-4348-1851810D5744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16168017"/>
                <a:gd name="adj2" fmla="val 266300"/>
              </a:avLst>
            </a:prstGeom>
            <a:solidFill>
              <a:srgbClr val="B8EACA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5" name="局部圓 154">
              <a:extLst>
                <a:ext uri="{FF2B5EF4-FFF2-40B4-BE49-F238E27FC236}">
                  <a16:creationId xmlns:a16="http://schemas.microsoft.com/office/drawing/2014/main" id="{4CDF7895-CAEB-9EC7-4C69-D52DD25E511C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4964117"/>
                <a:gd name="adj2" fmla="val 5996881"/>
              </a:avLst>
            </a:prstGeom>
            <a:solidFill>
              <a:srgbClr val="4BACC6">
                <a:lumMod val="20000"/>
                <a:lumOff val="80000"/>
              </a:srgbClr>
            </a:solidFill>
            <a:ln w="3175" cap="flat" cmpd="sng" algn="ctr">
              <a:solidFill>
                <a:srgbClr val="4BACC6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6" name="局部圓 155">
              <a:extLst>
                <a:ext uri="{FF2B5EF4-FFF2-40B4-BE49-F238E27FC236}">
                  <a16:creationId xmlns:a16="http://schemas.microsoft.com/office/drawing/2014/main" id="{2677E7DB-CE1A-5B17-0CD6-FBFBBCB073BF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224965"/>
                <a:gd name="adj2" fmla="val 5067372"/>
              </a:avLst>
            </a:prstGeom>
            <a:solidFill>
              <a:srgbClr val="EEECE1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0D7860E-4AEE-2FA4-F66B-40FEF4A76A00}"/>
                </a:ext>
              </a:extLst>
            </p:cNvPr>
            <p:cNvSpPr txBox="1"/>
            <p:nvPr/>
          </p:nvSpPr>
          <p:spPr>
            <a:xfrm>
              <a:off x="4709409" y="1671191"/>
              <a:ext cx="450444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Power &amp;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Cooling</a:t>
              </a: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1A5C3365-0F89-E794-18A4-8AC4E70BB452}"/>
                </a:ext>
              </a:extLst>
            </p:cNvPr>
            <p:cNvSpPr txBox="1"/>
            <p:nvPr/>
          </p:nvSpPr>
          <p:spPr>
            <a:xfrm>
              <a:off x="4970970" y="1311151"/>
              <a:ext cx="8369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Networking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&amp; PCBs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CAF56B9A-5793-D4A6-5141-36E3E68161E2}"/>
                </a:ext>
              </a:extLst>
            </p:cNvPr>
            <p:cNvSpPr txBox="1"/>
            <p:nvPr/>
          </p:nvSpPr>
          <p:spPr>
            <a:xfrm>
              <a:off x="4970970" y="620688"/>
              <a:ext cx="8369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Memory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(HBM4 &amp; DDR5)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35%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0" name="局部圓 159">
              <a:extLst>
                <a:ext uri="{FF2B5EF4-FFF2-40B4-BE49-F238E27FC236}">
                  <a16:creationId xmlns:a16="http://schemas.microsoft.com/office/drawing/2014/main" id="{C3CDF975-7341-978D-A972-C8E6D3443952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6071275"/>
                <a:gd name="adj2" fmla="val 6763131"/>
              </a:avLst>
            </a:prstGeom>
            <a:solidFill>
              <a:srgbClr val="4F81BD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1" name="局部圓 160">
              <a:extLst>
                <a:ext uri="{FF2B5EF4-FFF2-40B4-BE49-F238E27FC236}">
                  <a16:creationId xmlns:a16="http://schemas.microsoft.com/office/drawing/2014/main" id="{01421067-FAD1-95BA-A492-E1347BCDA7B2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6784007"/>
                <a:gd name="adj2" fmla="val 16216173"/>
              </a:avLst>
            </a:prstGeom>
            <a:solidFill>
              <a:srgbClr val="9BBB59">
                <a:lumMod val="75000"/>
              </a:srgbClr>
            </a:solidFill>
            <a:ln w="12700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7EB1D61C-BBF7-0641-13D8-F9A4208114F4}"/>
                </a:ext>
              </a:extLst>
            </p:cNvPr>
            <p:cNvSpPr txBox="1"/>
            <p:nvPr/>
          </p:nvSpPr>
          <p:spPr>
            <a:xfrm>
              <a:off x="4295757" y="1043444"/>
              <a:ext cx="27732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GPU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44%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ACA25EF5-83C1-1A1A-D063-12C639D80F45}"/>
                </a:ext>
              </a:extLst>
            </p:cNvPr>
            <p:cNvSpPr txBox="1"/>
            <p:nvPr/>
          </p:nvSpPr>
          <p:spPr>
            <a:xfrm>
              <a:off x="4427984" y="1772816"/>
              <a:ext cx="21640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CPU</a:t>
              </a:r>
            </a:p>
          </p:txBody>
        </p:sp>
      </p:grpSp>
      <p:cxnSp>
        <p:nvCxnSpPr>
          <p:cNvPr id="164" name="接點: 弧形 163">
            <a:extLst>
              <a:ext uri="{FF2B5EF4-FFF2-40B4-BE49-F238E27FC236}">
                <a16:creationId xmlns:a16="http://schemas.microsoft.com/office/drawing/2014/main" id="{5F76541E-555F-40C0-D947-5AA61DA7C19F}"/>
              </a:ext>
            </a:extLst>
          </p:cNvPr>
          <p:cNvCxnSpPr>
            <a:cxnSpLocks/>
            <a:stCxn id="162" idx="0"/>
            <a:endCxn id="159" idx="1"/>
          </p:cNvCxnSpPr>
          <p:nvPr/>
        </p:nvCxnSpPr>
        <p:spPr>
          <a:xfrm rot="5400000" flipH="1" flipV="1">
            <a:off x="7524081" y="2776208"/>
            <a:ext cx="191923" cy="536553"/>
          </a:xfrm>
          <a:prstGeom prst="curvedConnector2">
            <a:avLst/>
          </a:prstGeom>
          <a:noFill/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tailEnd type="triangle"/>
          </a:ln>
          <a:effectLst/>
        </p:spPr>
      </p:cxn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F6D07BAA-8F8E-6580-50E6-C7A664F4D0FE}"/>
              </a:ext>
            </a:extLst>
          </p:cNvPr>
          <p:cNvGrpSpPr/>
          <p:nvPr/>
        </p:nvGrpSpPr>
        <p:grpSpPr>
          <a:xfrm>
            <a:off x="7756336" y="1369729"/>
            <a:ext cx="1280160" cy="1280161"/>
            <a:chOff x="4139952" y="3750910"/>
            <a:chExt cx="1280160" cy="1280161"/>
          </a:xfrm>
        </p:grpSpPr>
        <p:sp>
          <p:nvSpPr>
            <p:cNvPr id="166" name="局部圓 165">
              <a:extLst>
                <a:ext uri="{FF2B5EF4-FFF2-40B4-BE49-F238E27FC236}">
                  <a16:creationId xmlns:a16="http://schemas.microsoft.com/office/drawing/2014/main" id="{4544B9A7-B087-FB5E-860B-4A039DF8B4D6}"/>
                </a:ext>
              </a:extLst>
            </p:cNvPr>
            <p:cNvSpPr/>
            <p:nvPr/>
          </p:nvSpPr>
          <p:spPr>
            <a:xfrm>
              <a:off x="4139952" y="3750911"/>
              <a:ext cx="1280160" cy="1280160"/>
            </a:xfrm>
            <a:prstGeom prst="pie">
              <a:avLst>
                <a:gd name="adj1" fmla="val 16168017"/>
                <a:gd name="adj2" fmla="val 570035"/>
              </a:avLst>
            </a:prstGeom>
            <a:solidFill>
              <a:srgbClr val="4F81BD">
                <a:lumMod val="75000"/>
              </a:srgbClr>
            </a:solidFill>
            <a:ln w="12700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7" name="局部圓 166">
              <a:extLst>
                <a:ext uri="{FF2B5EF4-FFF2-40B4-BE49-F238E27FC236}">
                  <a16:creationId xmlns:a16="http://schemas.microsoft.com/office/drawing/2014/main" id="{93F2D227-E0A5-9C43-083F-F9264B1FE8A4}"/>
                </a:ext>
              </a:extLst>
            </p:cNvPr>
            <p:cNvSpPr/>
            <p:nvPr/>
          </p:nvSpPr>
          <p:spPr>
            <a:xfrm>
              <a:off x="4139952" y="3750911"/>
              <a:ext cx="1280160" cy="1280160"/>
            </a:xfrm>
            <a:prstGeom prst="pie">
              <a:avLst>
                <a:gd name="adj1" fmla="val 631188"/>
                <a:gd name="adj2" fmla="val 4440168"/>
              </a:avLst>
            </a:prstGeom>
            <a:solidFill>
              <a:sysClr val="windowText" lastClr="000000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932E34EE-71C6-CAEC-82ED-B3A5301C82A3}"/>
                </a:ext>
              </a:extLst>
            </p:cNvPr>
            <p:cNvSpPr txBox="1"/>
            <p:nvPr/>
          </p:nvSpPr>
          <p:spPr>
            <a:xfrm>
              <a:off x="4932040" y="4489375"/>
              <a:ext cx="37991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Micron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15%</a:t>
              </a:r>
              <a:endParaRPr kumimoji="0" lang="zh-TW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C766D3B3-E929-4C2E-5AA2-6CF9A9F7A849}"/>
                </a:ext>
              </a:extLst>
            </p:cNvPr>
            <p:cNvSpPr txBox="1"/>
            <p:nvPr/>
          </p:nvSpPr>
          <p:spPr>
            <a:xfrm>
              <a:off x="4870409" y="4077072"/>
              <a:ext cx="477695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SAMSUNG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30%</a:t>
              </a:r>
              <a:endParaRPr kumimoji="0" lang="zh-TW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0" name="局部圓 169">
              <a:extLst>
                <a:ext uri="{FF2B5EF4-FFF2-40B4-BE49-F238E27FC236}">
                  <a16:creationId xmlns:a16="http://schemas.microsoft.com/office/drawing/2014/main" id="{A81C3382-5B61-B43F-A474-BD3C175FFA73}"/>
                </a:ext>
              </a:extLst>
            </p:cNvPr>
            <p:cNvSpPr/>
            <p:nvPr/>
          </p:nvSpPr>
          <p:spPr>
            <a:xfrm>
              <a:off x="4139952" y="3750910"/>
              <a:ext cx="1280160" cy="1262265"/>
            </a:xfrm>
            <a:prstGeom prst="pie">
              <a:avLst>
                <a:gd name="adj1" fmla="val 4509834"/>
                <a:gd name="adj2" fmla="val 16175134"/>
              </a:avLst>
            </a:prstGeom>
            <a:pattFill prst="lgGrid">
              <a:fgClr>
                <a:sysClr val="window" lastClr="FFFFFF">
                  <a:lumMod val="85000"/>
                </a:sysClr>
              </a:fgClr>
              <a:bgClr>
                <a:sysClr val="window" lastClr="FFFFFF"/>
              </a:bgClr>
            </a:patt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>
              <a:glow rad="50800">
                <a:srgbClr val="FFFF00"/>
              </a:glow>
            </a:effectLst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E3F27656-AD69-D810-81BE-B148F071D779}"/>
                </a:ext>
              </a:extLst>
            </p:cNvPr>
            <p:cNvSpPr txBox="1"/>
            <p:nvPr/>
          </p:nvSpPr>
          <p:spPr>
            <a:xfrm>
              <a:off x="4196720" y="4268564"/>
              <a:ext cx="554639" cy="369332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  <a:effectLst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SK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 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Hynix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55%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aphicFrame>
        <p:nvGraphicFramePr>
          <p:cNvPr id="172" name="表格 171">
            <a:extLst>
              <a:ext uri="{FF2B5EF4-FFF2-40B4-BE49-F238E27FC236}">
                <a16:creationId xmlns:a16="http://schemas.microsoft.com/office/drawing/2014/main" id="{4408E164-AE89-5F05-F80F-91975A3DE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45871"/>
              </p:ext>
            </p:extLst>
          </p:nvPr>
        </p:nvGraphicFramePr>
        <p:xfrm>
          <a:off x="3332495" y="1041556"/>
          <a:ext cx="2199907" cy="864095"/>
        </p:xfrm>
        <a:graphic>
          <a:graphicData uri="http://schemas.openxmlformats.org/drawingml/2006/table">
            <a:tbl>
              <a:tblPr firstRow="1" bandRow="1"/>
              <a:tblGrid>
                <a:gridCol w="395781">
                  <a:extLst>
                    <a:ext uri="{9D8B030D-6E8A-4147-A177-3AD203B41FA5}">
                      <a16:colId xmlns:a16="http://schemas.microsoft.com/office/drawing/2014/main" val="1907769079"/>
                    </a:ext>
                  </a:extLst>
                </a:gridCol>
                <a:gridCol w="18041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ABF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Wafer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 Substrate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RDL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Panel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 Substrate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PCB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Wafer on Panel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1983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Intel EMIB </a:t>
                      </a: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Noto Sans HK" panose="020B0200000000000000" pitchFamily="34" charset="-120"/>
                          <a:ea typeface="Noto Sans HK" panose="020B0200000000000000" pitchFamily="34" charset="-12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Noto Sans HK" panose="020B0200000000000000" pitchFamily="34" charset="-120"/>
                          <a:ea typeface="Noto Sans HK" panose="020B0200000000000000" pitchFamily="34" charset="-12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CoWoS L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BB1CBD9F-D479-CF03-3707-4723463028D6}"/>
              </a:ext>
            </a:extLst>
          </p:cNvPr>
          <p:cNvSpPr txBox="1"/>
          <p:nvPr/>
        </p:nvSpPr>
        <p:spPr>
          <a:xfrm>
            <a:off x="2189253" y="1895373"/>
            <a:ext cx="997635" cy="93467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RDL</a:t>
            </a:r>
          </a:p>
        </p:txBody>
      </p: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A90F2CCC-074D-6317-0EB7-6C643E55E6BA}"/>
              </a:ext>
            </a:extLst>
          </p:cNvPr>
          <p:cNvCxnSpPr>
            <a:cxnSpLocks/>
            <a:stCxn id="173" idx="3"/>
            <a:endCxn id="172" idx="1"/>
          </p:cNvCxnSpPr>
          <p:nvPr/>
        </p:nvCxnSpPr>
        <p:spPr>
          <a:xfrm flipV="1">
            <a:off x="3186888" y="1473603"/>
            <a:ext cx="145607" cy="468504"/>
          </a:xfrm>
          <a:prstGeom prst="line">
            <a:avLst/>
          </a:prstGeom>
          <a:noFill/>
          <a:ln w="9525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C2CE80D3-62DB-0293-EB0D-A9ADA4437A46}"/>
              </a:ext>
            </a:extLst>
          </p:cNvPr>
          <p:cNvSpPr txBox="1"/>
          <p:nvPr/>
        </p:nvSpPr>
        <p:spPr>
          <a:xfrm>
            <a:off x="2189253" y="1773890"/>
            <a:ext cx="997629" cy="117959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CoPoS</a:t>
            </a:r>
          </a:p>
        </p:txBody>
      </p: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F13E553A-B8DE-3F3D-E402-0C357008649F}"/>
              </a:ext>
            </a:extLst>
          </p:cNvPr>
          <p:cNvSpPr txBox="1"/>
          <p:nvPr/>
        </p:nvSpPr>
        <p:spPr>
          <a:xfrm>
            <a:off x="2189250" y="1994275"/>
            <a:ext cx="997629" cy="96290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ABF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1DB3ED-F09B-713A-FCCC-4E027E797B67}"/>
              </a:ext>
            </a:extLst>
          </p:cNvPr>
          <p:cNvSpPr txBox="1"/>
          <p:nvPr/>
        </p:nvSpPr>
        <p:spPr>
          <a:xfrm>
            <a:off x="1679771" y="6240559"/>
            <a:ext cx="182261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AI:300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+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HBM:1400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+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PT:800+1000</a:t>
            </a:r>
          </a:p>
        </p:txBody>
      </p:sp>
    </p:spTree>
    <p:extLst>
      <p:ext uri="{BB962C8B-B14F-4D97-AF65-F5344CB8AC3E}">
        <p14:creationId xmlns:p14="http://schemas.microsoft.com/office/powerpoint/2010/main" val="3502668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91A452-EB32-17DE-0F85-68FE9830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56442DB1-C720-3568-E58D-B2827C7E155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328592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Ecosystem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Edge AI: Tiny Models, Lower Computing, Higher Privacy.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CC5814E-273A-11A7-E3C0-0DADA49E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711" y="1259487"/>
            <a:ext cx="1878451" cy="1115566"/>
          </a:xfrm>
          <a:prstGeom prst="rect">
            <a:avLst/>
          </a:prstGeom>
          <a:effectLst>
            <a:glow>
              <a:srgbClr val="F79646">
                <a:satMod val="175000"/>
                <a:alpha val="20000"/>
              </a:srgbClr>
            </a:glow>
            <a:softEdge rad="101600"/>
          </a:effectLst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42215AD-94E0-DB53-1B0F-97B40F754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34102"/>
              </p:ext>
            </p:extLst>
          </p:nvPr>
        </p:nvGraphicFramePr>
        <p:xfrm>
          <a:off x="5796138" y="3193339"/>
          <a:ext cx="2325670" cy="1243773"/>
        </p:xfrm>
        <a:graphic>
          <a:graphicData uri="http://schemas.openxmlformats.org/drawingml/2006/table">
            <a:tbl>
              <a:tblPr firstRow="1" bandRow="1"/>
              <a:tblGrid>
                <a:gridCol w="232567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927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Cloud Infrastructure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Training and Reasoning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Blackwell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TensorRT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AMD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Instinct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ROCm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10432"/>
                  </a:ext>
                </a:extLst>
              </a:tr>
              <a:tr h="229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Google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Trillium(v6e)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TPU 8i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-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411595"/>
                  </a:ext>
                </a:extLst>
              </a:tr>
              <a:tr h="229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AWS ASIC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Inferentia2(Inf2)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-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4089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60B361C-0C11-3C95-101F-C364F5A84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75697"/>
              </p:ext>
            </p:extLst>
          </p:nvPr>
        </p:nvGraphicFramePr>
        <p:xfrm>
          <a:off x="5796138" y="4718928"/>
          <a:ext cx="2325670" cy="1730385"/>
        </p:xfrm>
        <a:graphic>
          <a:graphicData uri="http://schemas.openxmlformats.org/drawingml/2006/table">
            <a:tbl>
              <a:tblPr firstRow="1" bandRow="1"/>
              <a:tblGrid>
                <a:gridCol w="232567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4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GeForce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CUDA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AMD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Ryzen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AI,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XDNA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10432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Intel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Core Ultra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OpenVINO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85204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Apple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M4/M3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Core ML + MLX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26721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Qualcomm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Hexagon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QNN SDK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86885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MS, - 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Runtime (ORT)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332360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Ollama, - 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GGUF 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57636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366C1E1-FA78-EB49-A083-D8929C8D5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56669"/>
              </p:ext>
            </p:extLst>
          </p:nvPr>
        </p:nvGraphicFramePr>
        <p:xfrm>
          <a:off x="1888779" y="2699647"/>
          <a:ext cx="2880316" cy="1134149"/>
        </p:xfrm>
        <a:graphic>
          <a:graphicData uri="http://schemas.openxmlformats.org/drawingml/2006/table">
            <a:tbl>
              <a:tblPr firstRow="1" bandRow="1"/>
              <a:tblGrid>
                <a:gridCol w="72007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684415633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477666515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93325886"/>
                    </a:ext>
                  </a:extLst>
                </a:gridCol>
              </a:tblGrid>
              <a:tr h="267766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Training Framework</a:t>
                      </a:r>
                      <a:endParaRPr lang="en-US" altLang="zh-TW" sz="10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12410"/>
                  </a:ext>
                </a:extLst>
              </a:tr>
              <a:tr h="22044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PyTorch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3079EF"/>
                          </a:solidFill>
                          <a:effectLst/>
                        </a:rPr>
                        <a:t>JAX/XLA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389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Meta: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TorchTitan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MS: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DeepSpeed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NV: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Megatron-LM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Google: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MaxText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650565"/>
                  </a:ext>
                </a:extLst>
              </a:tr>
              <a:tr h="25634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 (CUDA C++ / Triton)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TPU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214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C7E022B9-1CC5-D277-0390-D521E996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719910"/>
              </p:ext>
            </p:extLst>
          </p:nvPr>
        </p:nvGraphicFramePr>
        <p:xfrm>
          <a:off x="1893264" y="4164002"/>
          <a:ext cx="2877378" cy="633150"/>
        </p:xfrm>
        <a:graphic>
          <a:graphicData uri="http://schemas.openxmlformats.org/drawingml/2006/table">
            <a:tbl>
              <a:tblPr firstRow="1" bandRow="1"/>
              <a:tblGrid>
                <a:gridCol w="9591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783506">
                  <a:extLst>
                    <a:ext uri="{9D8B030D-6E8A-4147-A177-3AD203B41FA5}">
                      <a16:colId xmlns:a16="http://schemas.microsoft.com/office/drawing/2014/main" val="2315159871"/>
                    </a:ext>
                  </a:extLst>
                </a:gridCol>
                <a:gridCol w="1134746">
                  <a:extLst>
                    <a:ext uri="{9D8B030D-6E8A-4147-A177-3AD203B41FA5}">
                      <a16:colId xmlns:a16="http://schemas.microsoft.com/office/drawing/2014/main" val="280693898"/>
                    </a:ext>
                  </a:extLst>
                </a:gridCol>
              </a:tblGrid>
              <a:tr h="2603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Inference Engine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531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Batang" panose="02030600000101010101" pitchFamily="18" charset="-127"/>
                          <a:cs typeface="+mn-cs"/>
                        </a:rPr>
                        <a:t>UC Berkeley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4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NV: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TensorRT-LLM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74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vLLM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60000"/>
                        <a:lumOff val="4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SGLang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82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DE7E953-CA2C-187E-47F1-CCA6BDFD6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45474"/>
              </p:ext>
            </p:extLst>
          </p:nvPr>
        </p:nvGraphicFramePr>
        <p:xfrm>
          <a:off x="5796137" y="728512"/>
          <a:ext cx="2328687" cy="2194560"/>
        </p:xfrm>
        <a:graphic>
          <a:graphicData uri="http://schemas.openxmlformats.org/drawingml/2006/table">
            <a:tbl>
              <a:tblPr firstRow="1" bandRow="1"/>
              <a:tblGrid>
                <a:gridCol w="232868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21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AI Frontier Models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accent1"/>
                          </a:solidFill>
                          <a:effectLst/>
                        </a:rPr>
                        <a:t>(MMLU, Throughput, TTFT, ITL)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Anthropic – Fable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 – GPT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Google – Gemini 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75292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Meta – Llama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59884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SpaceXAI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–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Grok 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383449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DeepSeek – V4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09267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Zhipu AI – GLM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73323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Moonshot AI – Kimi K3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884864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Mistral AI – Pixtral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269145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Amazon – Nova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04265"/>
                  </a:ext>
                </a:extLst>
              </a:tr>
            </a:tbl>
          </a:graphicData>
        </a:graphic>
      </p:graphicFrame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6907D43-2E5D-793D-81C3-D1F542FC62A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3328937" y="3833796"/>
            <a:ext cx="3016" cy="330206"/>
          </a:xfrm>
          <a:prstGeom prst="straightConnector1">
            <a:avLst/>
          </a:prstGeom>
          <a:noFill/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  <a:headEnd w="med" len="lg"/>
            <a:tailEnd type="triangle"/>
          </a:ln>
          <a:effectLst/>
        </p:spPr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57AD3CA-0450-19F8-A2D3-DB855F59B3DC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3328937" y="2375053"/>
            <a:ext cx="0" cy="324594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headEnd w="med" len="lg"/>
            <a:tailEnd type="triangle"/>
          </a:ln>
          <a:effectLst/>
        </p:spPr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8E1DA6B-887B-F1B9-932F-A62A6FDF9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5614"/>
              </p:ext>
            </p:extLst>
          </p:nvPr>
        </p:nvGraphicFramePr>
        <p:xfrm>
          <a:off x="1891717" y="5219927"/>
          <a:ext cx="2877378" cy="762000"/>
        </p:xfrm>
        <a:graphic>
          <a:graphicData uri="http://schemas.openxmlformats.org/drawingml/2006/table">
            <a:tbl>
              <a:tblPr firstRow="1" bandRow="1"/>
              <a:tblGrid>
                <a:gridCol w="143868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438689">
                  <a:extLst>
                    <a:ext uri="{9D8B030D-6E8A-4147-A177-3AD203B41FA5}">
                      <a16:colId xmlns:a16="http://schemas.microsoft.com/office/drawing/2014/main" val="2560395032"/>
                    </a:ext>
                  </a:extLst>
                </a:gridCol>
              </a:tblGrid>
              <a:tr h="162154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 PC Application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20000"/>
                        <a:lumOff val="80000"/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38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SDK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14660"/>
                  </a:ext>
                </a:extLst>
              </a:tr>
              <a:tr h="2779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OpenClaw,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Hermes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CrewAI, LangGraph, Langflow, AG2, Dify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59313"/>
                  </a:ext>
                </a:extLst>
              </a:tr>
            </a:tbl>
          </a:graphicData>
        </a:graphic>
      </p:graphicFrame>
      <p:pic>
        <p:nvPicPr>
          <p:cNvPr id="28" name="圖片 27">
            <a:extLst>
              <a:ext uri="{FF2B5EF4-FFF2-40B4-BE49-F238E27FC236}">
                <a16:creationId xmlns:a16="http://schemas.microsoft.com/office/drawing/2014/main" id="{24FCA295-D4E6-BF1C-ED8F-CA1A9395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719" y="5999239"/>
            <a:ext cx="382089" cy="382089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CB79EC1A-1DAF-9BDB-E540-1F6C28ADA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32" y="5999239"/>
            <a:ext cx="377313" cy="382089"/>
          </a:xfrm>
          <a:prstGeom prst="rect">
            <a:avLst/>
          </a:prstGeom>
          <a:effectLst>
            <a:glow rad="12700">
              <a:sysClr val="windowText" lastClr="000000">
                <a:lumMod val="95000"/>
                <a:lumOff val="5000"/>
                <a:alpha val="40000"/>
              </a:sysClr>
            </a:glow>
            <a:softEdge rad="12700"/>
          </a:effectLst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B85EA9BB-D353-3509-A2FA-4E362BFF5C84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flipH="1">
            <a:off x="3330406" y="4797152"/>
            <a:ext cx="1547" cy="422775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  <a:headEnd w="med" len="lg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0165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A5FB5E-8280-89AC-D939-7CFB856C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74" name="流程圖: 合併 73">
            <a:extLst>
              <a:ext uri="{FF2B5EF4-FFF2-40B4-BE49-F238E27FC236}">
                <a16:creationId xmlns:a16="http://schemas.microsoft.com/office/drawing/2014/main" id="{4A92CDA7-62EC-BAFF-57B9-2EF4BDADC050}"/>
              </a:ext>
            </a:extLst>
          </p:cNvPr>
          <p:cNvSpPr/>
          <p:nvPr/>
        </p:nvSpPr>
        <p:spPr>
          <a:xfrm>
            <a:off x="4211960" y="4189462"/>
            <a:ext cx="432048" cy="2139202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2BCFF936-6C9C-8D00-9385-552691607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61628"/>
              </p:ext>
            </p:extLst>
          </p:nvPr>
        </p:nvGraphicFramePr>
        <p:xfrm>
          <a:off x="716896" y="4036053"/>
          <a:ext cx="7704856" cy="2322033"/>
        </p:xfrm>
        <a:graphic>
          <a:graphicData uri="http://schemas.openxmlformats.org/drawingml/2006/table">
            <a:tbl>
              <a:tblPr firstRow="1" bandRow="1"/>
              <a:tblGrid>
                <a:gridCol w="1080120">
                  <a:extLst>
                    <a:ext uri="{9D8B030D-6E8A-4147-A177-3AD203B41FA5}">
                      <a16:colId xmlns:a16="http://schemas.microsoft.com/office/drawing/2014/main" val="4198244561"/>
                    </a:ext>
                  </a:extLst>
                </a:gridCol>
                <a:gridCol w="47072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86235874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28686525"/>
                    </a:ext>
                  </a:extLst>
                </a:gridCol>
                <a:gridCol w="1012584">
                  <a:extLst>
                    <a:ext uri="{9D8B030D-6E8A-4147-A177-3AD203B41FA5}">
                      <a16:colId xmlns:a16="http://schemas.microsoft.com/office/drawing/2014/main" val="3752581630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3948573510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2054525474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1920063261"/>
                    </a:ext>
                  </a:extLst>
                </a:gridCol>
              </a:tblGrid>
              <a:tr h="32808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Layers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Language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Window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 consumption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pPr algn="ctr"/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FP16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SFP8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Q4_0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155207"/>
                  </a:ext>
                </a:extLst>
              </a:tr>
              <a:tr h="28056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Server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256k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58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17.5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82991">
                <a:tc v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MoE,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Diffusion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4B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/26B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14.4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4393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PC/NB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6.7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27442"/>
                  </a:ext>
                </a:extLst>
              </a:tr>
              <a:tr h="35413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Mobile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E4B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E9893A"/>
                          </a:solidFill>
                          <a:effectLst/>
                        </a:rPr>
                        <a:t>PLE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srgbClr val="E9893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128k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(4.5+3.5)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/8B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~4.5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320920">
                <a:tc vMerge="1">
                  <a:txBody>
                    <a:bodyPr/>
                    <a:lstStyle/>
                    <a:p>
                      <a:pPr algn="l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(2.3+2.8)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~2.9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8A3B529A-4887-69F6-27BC-A05A4AC4479D}"/>
              </a:ext>
            </a:extLst>
          </p:cNvPr>
          <p:cNvSpPr txBox="1"/>
          <p:nvPr/>
        </p:nvSpPr>
        <p:spPr>
          <a:xfrm>
            <a:off x="179510" y="1377042"/>
            <a:ext cx="8136906" cy="1323439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3: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Multimodal, multilingual 140+ and single chip.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4: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Native Multimodal, Apache 2.0, CoT,  &lt;|think|&gt;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and multi-token prediction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MTP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) and Per Layer Embedding (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PLE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).</a:t>
            </a:r>
          </a:p>
        </p:txBody>
      </p:sp>
      <p:sp>
        <p:nvSpPr>
          <p:cNvPr id="77" name="標題 1">
            <a:extLst>
              <a:ext uri="{FF2B5EF4-FFF2-40B4-BE49-F238E27FC236}">
                <a16:creationId xmlns:a16="http://schemas.microsoft.com/office/drawing/2014/main" id="{F2DB0406-E88E-7078-561C-A5C9D65827B5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779627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Family</a:t>
            </a:r>
            <a:b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</a:b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Gemma 4 empowers local devices with autonomous agency.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78" name="圖形 77" descr="伺服器 以實心填滿">
            <a:extLst>
              <a:ext uri="{FF2B5EF4-FFF2-40B4-BE49-F238E27FC236}">
                <a16:creationId xmlns:a16="http://schemas.microsoft.com/office/drawing/2014/main" id="{1951366D-86EF-FDB8-27B3-BADAE3572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025" y="4830909"/>
            <a:ext cx="254275" cy="254275"/>
          </a:xfrm>
          <a:prstGeom prst="rect">
            <a:avLst/>
          </a:prstGeom>
        </p:spPr>
      </p:pic>
      <p:pic>
        <p:nvPicPr>
          <p:cNvPr id="79" name="圖形 78" descr="筆記型電腦 以實心填滿">
            <a:extLst>
              <a:ext uri="{FF2B5EF4-FFF2-40B4-BE49-F238E27FC236}">
                <a16:creationId xmlns:a16="http://schemas.microsoft.com/office/drawing/2014/main" id="{887FD2F1-20D5-0CFE-3419-27F71D534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8047" y="5517232"/>
            <a:ext cx="245454" cy="245454"/>
          </a:xfrm>
          <a:prstGeom prst="rect">
            <a:avLst/>
          </a:prstGeom>
        </p:spPr>
      </p:pic>
      <p:pic>
        <p:nvPicPr>
          <p:cNvPr id="80" name="圖形 79" descr="電腦 以實心填滿">
            <a:extLst>
              <a:ext uri="{FF2B5EF4-FFF2-40B4-BE49-F238E27FC236}">
                <a16:creationId xmlns:a16="http://schemas.microsoft.com/office/drawing/2014/main" id="{2F52AA39-CBCF-4434-70FA-F9E99BE81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1440" y="5208870"/>
            <a:ext cx="315444" cy="315444"/>
          </a:xfrm>
          <a:prstGeom prst="rect">
            <a:avLst/>
          </a:prstGeom>
        </p:spPr>
      </p:pic>
      <p:pic>
        <p:nvPicPr>
          <p:cNvPr id="81" name="圖形 80" descr="智慧型手機 以實心填滿">
            <a:extLst>
              <a:ext uri="{FF2B5EF4-FFF2-40B4-BE49-F238E27FC236}">
                <a16:creationId xmlns:a16="http://schemas.microsoft.com/office/drawing/2014/main" id="{4BA0917E-2EA5-DAE7-487D-BDADAC932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4043" y="5805264"/>
            <a:ext cx="245454" cy="245454"/>
          </a:xfrm>
          <a:prstGeom prst="rect">
            <a:avLst/>
          </a:prstGeom>
        </p:spPr>
      </p:pic>
      <p:pic>
        <p:nvPicPr>
          <p:cNvPr id="82" name="圖形 81" descr="頭戴式耳機 以實心填滿">
            <a:extLst>
              <a:ext uri="{FF2B5EF4-FFF2-40B4-BE49-F238E27FC236}">
                <a16:creationId xmlns:a16="http://schemas.microsoft.com/office/drawing/2014/main" id="{69B5ADCF-F4C0-1281-1683-253742E03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6436" y="6093296"/>
            <a:ext cx="245454" cy="245454"/>
          </a:xfrm>
          <a:prstGeom prst="rect">
            <a:avLst/>
          </a:prstGeom>
        </p:spPr>
      </p:pic>
      <p:sp>
        <p:nvSpPr>
          <p:cNvPr id="83" name="雲朵形 82">
            <a:extLst>
              <a:ext uri="{FF2B5EF4-FFF2-40B4-BE49-F238E27FC236}">
                <a16:creationId xmlns:a16="http://schemas.microsoft.com/office/drawing/2014/main" id="{E0A28341-C7E5-90DF-2F45-C2A5A4E74F85}"/>
              </a:ext>
            </a:extLst>
          </p:cNvPr>
          <p:cNvSpPr/>
          <p:nvPr/>
        </p:nvSpPr>
        <p:spPr>
          <a:xfrm>
            <a:off x="291675" y="3212976"/>
            <a:ext cx="1400005" cy="654398"/>
          </a:xfrm>
          <a:prstGeom prst="cloud">
            <a:avLst/>
          </a:prstGeom>
          <a:solidFill>
            <a:sysClr val="window" lastClr="FFFFFF">
              <a:alpha val="90000"/>
            </a:sysClr>
          </a:solidFill>
          <a:ln w="381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91A61389-62B1-B794-50F7-688375D13655}"/>
              </a:ext>
            </a:extLst>
          </p:cNvPr>
          <p:cNvSpPr txBox="1"/>
          <p:nvPr/>
        </p:nvSpPr>
        <p:spPr>
          <a:xfrm>
            <a:off x="683568" y="4291005"/>
            <a:ext cx="1193834" cy="32323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dirty="0">
                <a:solidFill>
                  <a:srgbClr val="4F81BD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Gemma 4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B0DBECB7-FF90-CC4F-D375-2FD3DD155536}"/>
              </a:ext>
            </a:extLst>
          </p:cNvPr>
          <p:cNvSpPr txBox="1"/>
          <p:nvPr/>
        </p:nvSpPr>
        <p:spPr>
          <a:xfrm>
            <a:off x="469567" y="3356992"/>
            <a:ext cx="1024639" cy="3693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dirty="0">
                <a:solidFill>
                  <a:srgbClr val="4F81BD">
                    <a:lumMod val="60000"/>
                    <a:lumOff val="40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Gemini 3</a:t>
            </a: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273FB4E3-3DEC-F513-3F86-1CE9C338D61D}"/>
              </a:ext>
            </a:extLst>
          </p:cNvPr>
          <p:cNvSpPr/>
          <p:nvPr/>
        </p:nvSpPr>
        <p:spPr>
          <a:xfrm>
            <a:off x="6670406" y="5753150"/>
            <a:ext cx="487445" cy="562041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5C620D07-C7F1-48E3-F1C4-3C78354D1E11}"/>
              </a:ext>
            </a:extLst>
          </p:cNvPr>
          <p:cNvCxnSpPr/>
          <p:nvPr/>
        </p:nvCxnSpPr>
        <p:spPr>
          <a:xfrm flipV="1">
            <a:off x="6444208" y="2934811"/>
            <a:ext cx="0" cy="1014438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 w="med" len="med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2D657AA7-04E8-BFFE-A99D-009090BF6FBE}"/>
              </a:ext>
            </a:extLst>
          </p:cNvPr>
          <p:cNvCxnSpPr>
            <a:cxnSpLocks/>
          </p:cNvCxnSpPr>
          <p:nvPr/>
        </p:nvCxnSpPr>
        <p:spPr>
          <a:xfrm>
            <a:off x="6300192" y="3808199"/>
            <a:ext cx="1802876" cy="0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 w="med" len="med"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4DEA39F5-C8BE-D4F5-41B1-E0A08B9CFE0C}"/>
              </a:ext>
            </a:extLst>
          </p:cNvPr>
          <p:cNvSpPr/>
          <p:nvPr/>
        </p:nvSpPr>
        <p:spPr>
          <a:xfrm>
            <a:off x="7236296" y="3366859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12B/31B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D12FA25-CFCE-4703-A757-A3122D5BC801}"/>
              </a:ext>
            </a:extLst>
          </p:cNvPr>
          <p:cNvSpPr/>
          <p:nvPr/>
        </p:nvSpPr>
        <p:spPr>
          <a:xfrm>
            <a:off x="7236296" y="2934811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26B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29254B8-9ADD-564E-2977-34BAB3560D9A}"/>
              </a:ext>
            </a:extLst>
          </p:cNvPr>
          <p:cNvSpPr/>
          <p:nvPr/>
        </p:nvSpPr>
        <p:spPr>
          <a:xfrm>
            <a:off x="6577938" y="3366859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E2B/E4B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(PLE)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9CBFD60-162F-F86B-9794-1A7C92C12E6D}"/>
              </a:ext>
            </a:extLst>
          </p:cNvPr>
          <p:cNvSpPr txBox="1"/>
          <p:nvPr/>
        </p:nvSpPr>
        <p:spPr>
          <a:xfrm>
            <a:off x="6015746" y="3074291"/>
            <a:ext cx="428462" cy="21602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MoE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36BB63BB-76F3-CECE-C686-7A34EFA7674E}"/>
              </a:ext>
            </a:extLst>
          </p:cNvPr>
          <p:cNvSpPr txBox="1"/>
          <p:nvPr/>
        </p:nvSpPr>
        <p:spPr>
          <a:xfrm>
            <a:off x="6015745" y="3434333"/>
            <a:ext cx="428463" cy="21602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Dense</a:t>
            </a: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722B16D2-1541-2996-0480-AC68CD4CADAA}"/>
              </a:ext>
            </a:extLst>
          </p:cNvPr>
          <p:cNvSpPr txBox="1"/>
          <p:nvPr/>
        </p:nvSpPr>
        <p:spPr>
          <a:xfrm>
            <a:off x="1763688" y="6316161"/>
            <a:ext cx="487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srgbClr val="F79646">
                    <a:lumMod val="75000"/>
                  </a:srgbClr>
                </a:solidFill>
                <a:latin typeface="Calibri"/>
              </a:rPr>
              <a:t>MTP</a:t>
            </a:r>
            <a:endParaRPr lang="zh-TW" altLang="en-US" sz="1200" b="1" dirty="0">
              <a:ln w="0"/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44D5696C-98DD-E1DC-7583-8D3CD469CDCE}"/>
              </a:ext>
            </a:extLst>
          </p:cNvPr>
          <p:cNvSpPr/>
          <p:nvPr/>
        </p:nvSpPr>
        <p:spPr>
          <a:xfrm>
            <a:off x="1780299" y="4629894"/>
            <a:ext cx="487445" cy="167577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0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0056E7-A747-6840-9CBC-904A423E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917D55ED-DB2E-A133-C9F8-30BB9BB3C4D9}"/>
              </a:ext>
            </a:extLst>
          </p:cNvPr>
          <p:cNvSpPr/>
          <p:nvPr/>
        </p:nvSpPr>
        <p:spPr>
          <a:xfrm>
            <a:off x="3861813" y="3778494"/>
            <a:ext cx="2688241" cy="864096"/>
          </a:xfrm>
          <a:prstGeom prst="roundRect">
            <a:avLst>
              <a:gd name="adj" fmla="val 10053"/>
            </a:avLst>
          </a:prstGeom>
          <a:solidFill>
            <a:sysClr val="window" lastClr="FFFFFF">
              <a:lumMod val="95000"/>
              <a:alpha val="40000"/>
            </a:sys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7315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Target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(30~60 Layers)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662F4406-CE69-AB4D-28B8-0E12676A88F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oken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redication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MTP breaks the single-token autoregressive limit.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43C967F-4D95-E1C3-9587-40AD4051EDDD}"/>
              </a:ext>
            </a:extLst>
          </p:cNvPr>
          <p:cNvSpPr txBox="1"/>
          <p:nvPr/>
        </p:nvSpPr>
        <p:spPr>
          <a:xfrm>
            <a:off x="179510" y="1377042"/>
            <a:ext cx="8784976" cy="1477328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Traditional LM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Massive initial prefill phase,  single-token autoregressive decoding.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4 MTP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Shared KV-cache, tree attention, processes 12 tokens per layer, parallel verification.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Benefit: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Zero-prefill latency for all subsequent candidate tokens.</a:t>
            </a:r>
          </a:p>
        </p:txBody>
      </p: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2B72DF4E-97C8-59E7-D01B-6C9512FAB948}"/>
              </a:ext>
            </a:extLst>
          </p:cNvPr>
          <p:cNvSpPr/>
          <p:nvPr/>
        </p:nvSpPr>
        <p:spPr>
          <a:xfrm>
            <a:off x="1403648" y="3942534"/>
            <a:ext cx="504056" cy="492888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Drafter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(4 Layers)</a:t>
            </a:r>
            <a:endParaRPr kumimoji="0" lang="zh-TW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5E8B620-745E-4CB1-B801-E53DA58BEAED}"/>
              </a:ext>
            </a:extLst>
          </p:cNvPr>
          <p:cNvSpPr/>
          <p:nvPr/>
        </p:nvSpPr>
        <p:spPr>
          <a:xfrm>
            <a:off x="683568" y="3994517"/>
            <a:ext cx="364371" cy="39315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82768E02-8220-D2D8-34FD-DA3E66D2D458}"/>
              </a:ext>
            </a:extLst>
          </p:cNvPr>
          <p:cNvSpPr/>
          <p:nvPr/>
        </p:nvSpPr>
        <p:spPr>
          <a:xfrm>
            <a:off x="2271961" y="3793645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723B622-EABA-A6D9-BE9B-047E0A06B50D}"/>
              </a:ext>
            </a:extLst>
          </p:cNvPr>
          <p:cNvSpPr txBox="1"/>
          <p:nvPr/>
        </p:nvSpPr>
        <p:spPr>
          <a:xfrm>
            <a:off x="1763688" y="3145573"/>
            <a:ext cx="899391" cy="432048"/>
          </a:xfrm>
          <a:prstGeom prst="rect">
            <a:avLst/>
          </a:prstGeom>
          <a:noFill/>
        </p:spPr>
        <p:txBody>
          <a:bodyPr wrap="none" lIns="0" tIns="0" rIns="0" bIns="0" anchor="t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Speculative</a:t>
            </a:r>
          </a:p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Decoding</a:t>
            </a:r>
            <a:b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</a:b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(Tokens: n=4)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94EABD6F-CE84-2964-6F23-F27E078F36D6}"/>
              </a:ext>
            </a:extLst>
          </p:cNvPr>
          <p:cNvSpPr/>
          <p:nvPr/>
        </p:nvSpPr>
        <p:spPr>
          <a:xfrm>
            <a:off x="2267744" y="4083084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65412795-17C3-4B9C-0C14-277443384129}"/>
              </a:ext>
            </a:extLst>
          </p:cNvPr>
          <p:cNvSpPr/>
          <p:nvPr/>
        </p:nvSpPr>
        <p:spPr>
          <a:xfrm>
            <a:off x="2267744" y="4369709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69524522-0714-7E0B-7EF4-BF0D1FC05AA0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 flipV="1">
            <a:off x="1907704" y="3901657"/>
            <a:ext cx="364257" cy="287321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D4B8C434-B39E-FEBC-16F5-E867BB76C766}"/>
              </a:ext>
            </a:extLst>
          </p:cNvPr>
          <p:cNvCxnSpPr>
            <a:cxnSpLocks/>
            <a:stCxn id="59" idx="3"/>
            <a:endCxn id="64" idx="1"/>
          </p:cNvCxnSpPr>
          <p:nvPr/>
        </p:nvCxnSpPr>
        <p:spPr>
          <a:xfrm>
            <a:off x="1907704" y="4188978"/>
            <a:ext cx="360040" cy="288743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E982DCC3-8202-E5DA-F8BE-CE7C088AE52F}"/>
              </a:ext>
            </a:extLst>
          </p:cNvPr>
          <p:cNvCxnSpPr>
            <a:cxnSpLocks/>
            <a:stCxn id="59" idx="3"/>
            <a:endCxn id="63" idx="1"/>
          </p:cNvCxnSpPr>
          <p:nvPr/>
        </p:nvCxnSpPr>
        <p:spPr>
          <a:xfrm>
            <a:off x="1907704" y="4188978"/>
            <a:ext cx="360040" cy="2118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8F2EF4C-B1FB-5B9B-4214-3B2A36E9EC45}"/>
              </a:ext>
            </a:extLst>
          </p:cNvPr>
          <p:cNvSpPr txBox="1"/>
          <p:nvPr/>
        </p:nvSpPr>
        <p:spPr>
          <a:xfrm>
            <a:off x="1265367" y="4555624"/>
            <a:ext cx="787214" cy="31814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 SWA + 1</a:t>
            </a: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Full Attention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220653C-7C1A-67AB-32E9-4F2E9F6F6EB6}"/>
              </a:ext>
            </a:extLst>
          </p:cNvPr>
          <p:cNvSpPr txBox="1"/>
          <p:nvPr/>
        </p:nvSpPr>
        <p:spPr>
          <a:xfrm>
            <a:off x="6842021" y="5226923"/>
            <a:ext cx="685868" cy="212972"/>
          </a:xfrm>
          <a:prstGeom prst="rect">
            <a:avLst/>
          </a:prstGeom>
          <a:noFill/>
        </p:spPr>
        <p:txBody>
          <a:bodyPr wrap="none" lIns="0" tIns="0" rIns="0" bIns="0" anchor="t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Verify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B5F227F-AA4B-544C-618B-605E86408F32}"/>
              </a:ext>
            </a:extLst>
          </p:cNvPr>
          <p:cNvSpPr/>
          <p:nvPr/>
        </p:nvSpPr>
        <p:spPr>
          <a:xfrm>
            <a:off x="7808029" y="3994517"/>
            <a:ext cx="364371" cy="39315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9CC4F6EA-6DF0-93C0-72A0-9E7A636D9ADC}"/>
              </a:ext>
            </a:extLst>
          </p:cNvPr>
          <p:cNvSpPr/>
          <p:nvPr/>
        </p:nvSpPr>
        <p:spPr>
          <a:xfrm rot="5400000">
            <a:off x="6123692" y="4106049"/>
            <a:ext cx="864095" cy="208985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Activation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0C1E6D4-A51A-1939-8A20-4CB40DA80394}"/>
              </a:ext>
            </a:extLst>
          </p:cNvPr>
          <p:cNvSpPr txBox="1"/>
          <p:nvPr/>
        </p:nvSpPr>
        <p:spPr>
          <a:xfrm>
            <a:off x="2267744" y="4657741"/>
            <a:ext cx="787214" cy="1435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 x 4 Tokens</a:t>
            </a:r>
          </a:p>
        </p:txBody>
      </p:sp>
      <p:cxnSp>
        <p:nvCxnSpPr>
          <p:cNvPr id="73" name="接點: 弧形 72">
            <a:extLst>
              <a:ext uri="{FF2B5EF4-FFF2-40B4-BE49-F238E27FC236}">
                <a16:creationId xmlns:a16="http://schemas.microsoft.com/office/drawing/2014/main" id="{0B9CECA5-AA6D-8BD5-597F-1F0CF92D2B9A}"/>
              </a:ext>
            </a:extLst>
          </p:cNvPr>
          <p:cNvCxnSpPr>
            <a:cxnSpLocks/>
            <a:stCxn id="74" idx="3"/>
            <a:endCxn id="70" idx="2"/>
          </p:cNvCxnSpPr>
          <p:nvPr/>
        </p:nvCxnSpPr>
        <p:spPr>
          <a:xfrm flipV="1">
            <a:off x="7691904" y="4387673"/>
            <a:ext cx="298311" cy="447284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BCD206C3-A539-C1B6-E88D-0CA0524E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422279"/>
              </p:ext>
            </p:extLst>
          </p:nvPr>
        </p:nvGraphicFramePr>
        <p:xfrm>
          <a:off x="6739612" y="4745597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890D0AB3-D00B-3D36-1EBC-FAFE2C3A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65942"/>
              </p:ext>
            </p:extLst>
          </p:nvPr>
        </p:nvGraphicFramePr>
        <p:xfrm>
          <a:off x="6739612" y="4979085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77" name="矩形 76">
            <a:extLst>
              <a:ext uri="{FF2B5EF4-FFF2-40B4-BE49-F238E27FC236}">
                <a16:creationId xmlns:a16="http://schemas.microsoft.com/office/drawing/2014/main" id="{EE4D80D0-938C-36E6-F47F-E2506D7D95DB}"/>
              </a:ext>
            </a:extLst>
          </p:cNvPr>
          <p:cNvSpPr/>
          <p:nvPr/>
        </p:nvSpPr>
        <p:spPr>
          <a:xfrm>
            <a:off x="7799279" y="4629293"/>
            <a:ext cx="508387" cy="178720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 w="15875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0 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1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 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2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D61570E4-B1F9-8460-A477-04FF8466F447}"/>
              </a:ext>
            </a:extLst>
          </p:cNvPr>
          <p:cNvGrpSpPr/>
          <p:nvPr/>
        </p:nvGrpSpPr>
        <p:grpSpPr>
          <a:xfrm>
            <a:off x="3563888" y="3480948"/>
            <a:ext cx="836667" cy="1676244"/>
            <a:chOff x="3563888" y="3480948"/>
            <a:chExt cx="836667" cy="1676244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E97DA5F5-B917-B59A-74F4-A31AC4087A29}"/>
                </a:ext>
              </a:extLst>
            </p:cNvPr>
            <p:cNvSpPr/>
            <p:nvPr/>
          </p:nvSpPr>
          <p:spPr>
            <a:xfrm>
              <a:off x="3772092" y="3701726"/>
              <a:ext cx="628463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Cache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0CDDE4A5-E24E-B74A-C35E-D74673C07C3E}"/>
                </a:ext>
              </a:extLst>
            </p:cNvPr>
            <p:cNvSpPr/>
            <p:nvPr/>
          </p:nvSpPr>
          <p:spPr>
            <a:xfrm>
              <a:off x="3563888" y="3707961"/>
              <a:ext cx="156584" cy="579503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E4E3F211-FF3E-85DF-5A20-BC905DE76A75}"/>
                </a:ext>
              </a:extLst>
            </p:cNvPr>
            <p:cNvSpPr/>
            <p:nvPr/>
          </p:nvSpPr>
          <p:spPr>
            <a:xfrm>
              <a:off x="3749046" y="3480948"/>
              <a:ext cx="650577" cy="185391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D76FFB3D-9C85-93F9-BD17-5553E343D372}"/>
                </a:ext>
              </a:extLst>
            </p:cNvPr>
            <p:cNvSpPr/>
            <p:nvPr/>
          </p:nvSpPr>
          <p:spPr>
            <a:xfrm>
              <a:off x="3772092" y="4513905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B2A63AF1-42B3-C20D-FBF6-1B93DD870770}"/>
                </a:ext>
              </a:extLst>
            </p:cNvPr>
            <p:cNvSpPr/>
            <p:nvPr/>
          </p:nvSpPr>
          <p:spPr>
            <a:xfrm>
              <a:off x="3772092" y="4729929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B64534FF-3865-F5DC-C4CE-BD8D5E29CDB6}"/>
                </a:ext>
              </a:extLst>
            </p:cNvPr>
            <p:cNvSpPr txBox="1"/>
            <p:nvPr/>
          </p:nvSpPr>
          <p:spPr>
            <a:xfrm>
              <a:off x="3772092" y="4850528"/>
              <a:ext cx="627531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E1F79F2B-85B2-B7DB-47A1-16937F31387E}"/>
                </a:ext>
              </a:extLst>
            </p:cNvPr>
            <p:cNvSpPr/>
            <p:nvPr/>
          </p:nvSpPr>
          <p:spPr>
            <a:xfrm>
              <a:off x="3768657" y="5017961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88" name="接點: 弧形 87">
              <a:extLst>
                <a:ext uri="{FF2B5EF4-FFF2-40B4-BE49-F238E27FC236}">
                  <a16:creationId xmlns:a16="http://schemas.microsoft.com/office/drawing/2014/main" id="{A6A185DB-411A-1BE2-2916-4A068942D462}"/>
                </a:ext>
              </a:extLst>
            </p:cNvPr>
            <p:cNvCxnSpPr>
              <a:cxnSpLocks/>
              <a:stCxn id="81" idx="1"/>
              <a:endCxn id="84" idx="1"/>
            </p:cNvCxnSpPr>
            <p:nvPr/>
          </p:nvCxnSpPr>
          <p:spPr>
            <a:xfrm rot="10800000" flipV="1">
              <a:off x="3772092" y="3996593"/>
              <a:ext cx="12700" cy="586928"/>
            </a:xfrm>
            <a:prstGeom prst="curvedConnector3">
              <a:avLst>
                <a:gd name="adj1" fmla="val 1800000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  <p:cxnSp>
          <p:nvCxnSpPr>
            <p:cNvPr id="89" name="接點: 弧形 88">
              <a:extLst>
                <a:ext uri="{FF2B5EF4-FFF2-40B4-BE49-F238E27FC236}">
                  <a16:creationId xmlns:a16="http://schemas.microsoft.com/office/drawing/2014/main" id="{C57B2472-8DAF-7677-D76A-F11A6CFEAD20}"/>
                </a:ext>
              </a:extLst>
            </p:cNvPr>
            <p:cNvCxnSpPr>
              <a:cxnSpLocks/>
              <a:stCxn id="84" idx="1"/>
              <a:endCxn id="85" idx="1"/>
            </p:cNvCxnSpPr>
            <p:nvPr/>
          </p:nvCxnSpPr>
          <p:spPr>
            <a:xfrm rot="10800000" flipV="1">
              <a:off x="3772092" y="4583521"/>
              <a:ext cx="12700" cy="216024"/>
            </a:xfrm>
            <a:prstGeom prst="curvedConnector3">
              <a:avLst>
                <a:gd name="adj1" fmla="val 1800000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  <p:cxnSp>
          <p:nvCxnSpPr>
            <p:cNvPr id="90" name="接點: 弧形 89">
              <a:extLst>
                <a:ext uri="{FF2B5EF4-FFF2-40B4-BE49-F238E27FC236}">
                  <a16:creationId xmlns:a16="http://schemas.microsoft.com/office/drawing/2014/main" id="{59F7578F-05D0-292E-91EB-9F7DD70821D6}"/>
                </a:ext>
              </a:extLst>
            </p:cNvPr>
            <p:cNvCxnSpPr>
              <a:cxnSpLocks/>
              <a:stCxn id="86" idx="1"/>
              <a:endCxn id="87" idx="1"/>
            </p:cNvCxnSpPr>
            <p:nvPr/>
          </p:nvCxnSpPr>
          <p:spPr>
            <a:xfrm rot="10800000" flipV="1">
              <a:off x="3768658" y="4895847"/>
              <a:ext cx="3435" cy="191729"/>
            </a:xfrm>
            <a:prstGeom prst="curvedConnector3">
              <a:avLst>
                <a:gd name="adj1" fmla="val 6755022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</p:grp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CF5F5AAF-8D14-0B49-7AE9-24ABF90C5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199453"/>
              </p:ext>
            </p:extLst>
          </p:nvPr>
        </p:nvGraphicFramePr>
        <p:xfrm>
          <a:off x="6736191" y="4498975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pSp>
        <p:nvGrpSpPr>
          <p:cNvPr id="92" name="群組 91">
            <a:extLst>
              <a:ext uri="{FF2B5EF4-FFF2-40B4-BE49-F238E27FC236}">
                <a16:creationId xmlns:a16="http://schemas.microsoft.com/office/drawing/2014/main" id="{337E0CF3-B327-BA85-BB05-AFB97D6012E1}"/>
              </a:ext>
            </a:extLst>
          </p:cNvPr>
          <p:cNvGrpSpPr/>
          <p:nvPr/>
        </p:nvGrpSpPr>
        <p:grpSpPr>
          <a:xfrm>
            <a:off x="4572000" y="3701726"/>
            <a:ext cx="209200" cy="1455466"/>
            <a:chOff x="4572000" y="3701726"/>
            <a:chExt cx="209200" cy="1455466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1AFA9EF-FDC5-8443-4DBD-E2AC97E3EDA0}"/>
                </a:ext>
              </a:extLst>
            </p:cNvPr>
            <p:cNvSpPr/>
            <p:nvPr/>
          </p:nvSpPr>
          <p:spPr>
            <a:xfrm>
              <a:off x="4575435" y="3701726"/>
              <a:ext cx="205765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5DE2637-95C1-1ADF-3000-0ACCFA2B7700}"/>
                </a:ext>
              </a:extLst>
            </p:cNvPr>
            <p:cNvSpPr/>
            <p:nvPr/>
          </p:nvSpPr>
          <p:spPr>
            <a:xfrm>
              <a:off x="4575435" y="4513905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EF15542-3FB7-60D3-39C7-5160F8E43572}"/>
                </a:ext>
              </a:extLst>
            </p:cNvPr>
            <p:cNvSpPr/>
            <p:nvPr/>
          </p:nvSpPr>
          <p:spPr>
            <a:xfrm>
              <a:off x="4575435" y="4729929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8A7846E8-5207-843A-2F57-662045A74A7F}"/>
                </a:ext>
              </a:extLst>
            </p:cNvPr>
            <p:cNvSpPr txBox="1"/>
            <p:nvPr/>
          </p:nvSpPr>
          <p:spPr>
            <a:xfrm>
              <a:off x="4575436" y="4850528"/>
              <a:ext cx="205460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595E8425-8E6A-E550-495C-8DFAAE9913FB}"/>
                </a:ext>
              </a:extLst>
            </p:cNvPr>
            <p:cNvSpPr/>
            <p:nvPr/>
          </p:nvSpPr>
          <p:spPr>
            <a:xfrm>
              <a:off x="4572000" y="5017961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69DE94C4-2812-C340-00E6-24CD91A0E3E7}"/>
              </a:ext>
            </a:extLst>
          </p:cNvPr>
          <p:cNvGrpSpPr/>
          <p:nvPr/>
        </p:nvGrpSpPr>
        <p:grpSpPr>
          <a:xfrm>
            <a:off x="4860032" y="3701726"/>
            <a:ext cx="209200" cy="1455466"/>
            <a:chOff x="4572000" y="3701726"/>
            <a:chExt cx="209200" cy="1455466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517F982C-578B-BE91-7E7D-F61AA5DB6DE1}"/>
                </a:ext>
              </a:extLst>
            </p:cNvPr>
            <p:cNvSpPr/>
            <p:nvPr/>
          </p:nvSpPr>
          <p:spPr>
            <a:xfrm>
              <a:off x="4575435" y="3701726"/>
              <a:ext cx="205765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E5C10314-D942-239D-3635-4FF668102304}"/>
                </a:ext>
              </a:extLst>
            </p:cNvPr>
            <p:cNvSpPr/>
            <p:nvPr/>
          </p:nvSpPr>
          <p:spPr>
            <a:xfrm>
              <a:off x="4575435" y="4513905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848A2F7-F5DA-AA09-4CD2-48BC5DE659DB}"/>
                </a:ext>
              </a:extLst>
            </p:cNvPr>
            <p:cNvSpPr/>
            <p:nvPr/>
          </p:nvSpPr>
          <p:spPr>
            <a:xfrm>
              <a:off x="4575435" y="4729929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44DE5A36-6B7F-8BEC-FF85-C38CF633503B}"/>
                </a:ext>
              </a:extLst>
            </p:cNvPr>
            <p:cNvSpPr txBox="1"/>
            <p:nvPr/>
          </p:nvSpPr>
          <p:spPr>
            <a:xfrm>
              <a:off x="4575436" y="4850528"/>
              <a:ext cx="205460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B704F88A-5F7B-B514-E13B-A25D9004ACD1}"/>
                </a:ext>
              </a:extLst>
            </p:cNvPr>
            <p:cNvSpPr/>
            <p:nvPr/>
          </p:nvSpPr>
          <p:spPr>
            <a:xfrm>
              <a:off x="4572000" y="5017961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51DE2884-4A18-E009-63A4-67B99B707BF3}"/>
              </a:ext>
            </a:extLst>
          </p:cNvPr>
          <p:cNvSpPr txBox="1"/>
          <p:nvPr/>
        </p:nvSpPr>
        <p:spPr>
          <a:xfrm>
            <a:off x="5087575" y="4765496"/>
            <a:ext cx="483526" cy="20022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srgbClr val="8064A2">
                    <a:lumMod val="75000"/>
                  </a:srgbClr>
                </a:solidFill>
                <a:latin typeface="Calibri"/>
                <a:ea typeface="Cambria Math" panose="02040503050406030204" pitchFamily="18" charset="0"/>
              </a:rPr>
              <a:t>…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39D743F-E3A9-7363-EA63-8D79FC5E94E5}"/>
              </a:ext>
            </a:extLst>
          </p:cNvPr>
          <p:cNvGrpSpPr/>
          <p:nvPr/>
        </p:nvGrpSpPr>
        <p:grpSpPr>
          <a:xfrm>
            <a:off x="179510" y="5737066"/>
            <a:ext cx="7274748" cy="717411"/>
            <a:chOff x="179510" y="5879941"/>
            <a:chExt cx="7274748" cy="717411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BF8C568B-B032-1D69-D877-4B1B8E063DE9}"/>
                </a:ext>
              </a:extLst>
            </p:cNvPr>
            <p:cNvSpPr txBox="1"/>
            <p:nvPr/>
          </p:nvSpPr>
          <p:spPr>
            <a:xfrm>
              <a:off x="179510" y="5889466"/>
              <a:ext cx="7274748" cy="707886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Next</a:t>
              </a:r>
            </a:p>
            <a:p>
              <a:pPr marL="285750" marR="0" lvl="0" indent="-285750" defTabSz="914400" eaLnBrk="1" fontAlgn="auto" latinLnBrk="0" hangingPunct="1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TW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Gemma 4 + Gemini Diffusion</a:t>
              </a: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: Generate sequentially  </a:t>
              </a: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sym typeface="Wingdings" panose="05000000000000000000" pitchFamily="2" charset="2"/>
                </a:rPr>
                <a:t>   </a:t>
              </a: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</a:rPr>
                <a:t>Parallel block refinement. </a:t>
              </a: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6C2AE5E1-8F0E-AB2C-1A0B-0CDBA9F106FA}"/>
                </a:ext>
              </a:extLst>
            </p:cNvPr>
            <p:cNvSpPr txBox="1"/>
            <p:nvPr/>
          </p:nvSpPr>
          <p:spPr>
            <a:xfrm>
              <a:off x="4855493" y="6293336"/>
              <a:ext cx="153888" cy="184666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spAutoFit/>
            </a:bodyPr>
            <a:lstStyle/>
            <a:p>
              <a:pPr defTabSz="914400"/>
              <a:r>
                <a:rPr lang="zh-TW" altLang="zh-TW" sz="12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endParaRPr>
            </a:p>
          </p:txBody>
        </p:sp>
        <p:pic>
          <p:nvPicPr>
            <p:cNvPr id="78" name="圖形 77" descr="藍圖 以實心填滿">
              <a:extLst>
                <a:ext uri="{FF2B5EF4-FFF2-40B4-BE49-F238E27FC236}">
                  <a16:creationId xmlns:a16="http://schemas.microsoft.com/office/drawing/2014/main" id="{5E571471-0501-3E72-51D8-E0578664B6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0152" y="5886797"/>
              <a:ext cx="432048" cy="432048"/>
            </a:xfrm>
            <a:prstGeom prst="rect">
              <a:avLst/>
            </a:prstGeom>
          </p:spPr>
        </p:pic>
        <p:pic>
          <p:nvPicPr>
            <p:cNvPr id="79" name="圖形 78" descr="打字機 外框">
              <a:extLst>
                <a:ext uri="{FF2B5EF4-FFF2-40B4-BE49-F238E27FC236}">
                  <a16:creationId xmlns:a16="http://schemas.microsoft.com/office/drawing/2014/main" id="{D029842D-657A-6C19-926D-527F9642D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79912" y="5879941"/>
              <a:ext cx="432048" cy="432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047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ED817-8E6F-022D-3DAF-BCD0351D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992959A7-2B2F-9C92-D4C4-111F6EA3D07F}"/>
              </a:ext>
            </a:extLst>
          </p:cNvPr>
          <p:cNvSpPr/>
          <p:nvPr/>
        </p:nvSpPr>
        <p:spPr>
          <a:xfrm>
            <a:off x="567640" y="1714074"/>
            <a:ext cx="1219522" cy="1720987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E8B3F9CD-842D-F2A9-A41C-D057BB7B0A07}"/>
              </a:ext>
            </a:extLst>
          </p:cNvPr>
          <p:cNvSpPr txBox="1"/>
          <p:nvPr/>
        </p:nvSpPr>
        <p:spPr>
          <a:xfrm>
            <a:off x="635034" y="1793757"/>
            <a:ext cx="1086557" cy="936151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25AF9943-1A3D-FADB-208F-B019597D1A0C}"/>
              </a:ext>
            </a:extLst>
          </p:cNvPr>
          <p:cNvSpPr txBox="1"/>
          <p:nvPr/>
        </p:nvSpPr>
        <p:spPr>
          <a:xfrm>
            <a:off x="635034" y="2870996"/>
            <a:ext cx="1086557" cy="487960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D212B0DA-482F-5AEC-6020-D14BA39E26E0}"/>
              </a:ext>
            </a:extLst>
          </p:cNvPr>
          <p:cNvCxnSpPr>
            <a:cxnSpLocks/>
            <a:stCxn id="98" idx="0"/>
            <a:endCxn id="110" idx="2"/>
          </p:cNvCxnSpPr>
          <p:nvPr/>
        </p:nvCxnSpPr>
        <p:spPr>
          <a:xfrm flipH="1" flipV="1">
            <a:off x="1177120" y="1513424"/>
            <a:ext cx="1193" cy="28033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1EAC0784-7B07-5ED9-5E35-77EEE93E25E6}"/>
              </a:ext>
            </a:extLst>
          </p:cNvPr>
          <p:cNvCxnSpPr>
            <a:cxnSpLocks/>
            <a:stCxn id="103" idx="0"/>
            <a:endCxn id="99" idx="2"/>
          </p:cNvCxnSpPr>
          <p:nvPr/>
        </p:nvCxnSpPr>
        <p:spPr>
          <a:xfrm flipV="1">
            <a:off x="1177402" y="3358956"/>
            <a:ext cx="911" cy="27479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2" name="直線單箭頭接點 101">
            <a:extLst>
              <a:ext uri="{FF2B5EF4-FFF2-40B4-BE49-F238E27FC236}">
                <a16:creationId xmlns:a16="http://schemas.microsoft.com/office/drawing/2014/main" id="{F651863F-D21E-2FA6-570A-AC5BE86835A2}"/>
              </a:ext>
            </a:extLst>
          </p:cNvPr>
          <p:cNvCxnSpPr>
            <a:cxnSpLocks/>
            <a:stCxn id="99" idx="0"/>
            <a:endCxn id="98" idx="2"/>
          </p:cNvCxnSpPr>
          <p:nvPr/>
        </p:nvCxnSpPr>
        <p:spPr>
          <a:xfrm flipV="1">
            <a:off x="1178313" y="2729908"/>
            <a:ext cx="0" cy="1410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6A12A14-01BD-052F-332D-463314656775}"/>
              </a:ext>
            </a:extLst>
          </p:cNvPr>
          <p:cNvSpPr txBox="1"/>
          <p:nvPr/>
        </p:nvSpPr>
        <p:spPr>
          <a:xfrm>
            <a:off x="567641" y="3633747"/>
            <a:ext cx="1219522" cy="587341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</a:t>
            </a:r>
            <a:r>
              <a:rPr kumimoji="0" lang="en-US" altLang="zh-TW" sz="1200" b="1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Dataset   </a:t>
            </a:r>
            <a:endParaRPr kumimoji="0" lang="en-US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r>
              <a:rPr kumimoji="0" lang="zh-TW" altLang="en-US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…      </a:t>
            </a:r>
            <a:endParaRPr kumimoji="0" lang="zh-TW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 … </a:t>
            </a:r>
            <a:r>
              <a:rPr kumimoji="0" lang="zh-TW" altLang="en-US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endParaRPr kumimoji="0" lang="en-US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2D077981-7CC2-F804-42F6-5195491AFBD9}"/>
              </a:ext>
            </a:extLst>
          </p:cNvPr>
          <p:cNvSpPr/>
          <p:nvPr/>
        </p:nvSpPr>
        <p:spPr>
          <a:xfrm>
            <a:off x="2471724" y="1704468"/>
            <a:ext cx="1064550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F093D4B-0261-6D37-09E9-FA8C846C6994}"/>
              </a:ext>
            </a:extLst>
          </p:cNvPr>
          <p:cNvSpPr txBox="1"/>
          <p:nvPr/>
        </p:nvSpPr>
        <p:spPr>
          <a:xfrm>
            <a:off x="2539118" y="1768192"/>
            <a:ext cx="931588" cy="370858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795BE985-CC97-67E2-A9C5-D10644568C3C}"/>
              </a:ext>
            </a:extLst>
          </p:cNvPr>
          <p:cNvSpPr txBox="1"/>
          <p:nvPr/>
        </p:nvSpPr>
        <p:spPr>
          <a:xfrm>
            <a:off x="2539118" y="2239634"/>
            <a:ext cx="931587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2A927E5E-34EA-572F-EE35-E56DE1E4CD42}"/>
              </a:ext>
            </a:extLst>
          </p:cNvPr>
          <p:cNvCxnSpPr>
            <a:cxnSpLocks/>
            <a:stCxn id="109" idx="0"/>
            <a:endCxn id="106" idx="2"/>
          </p:cNvCxnSpPr>
          <p:nvPr/>
        </p:nvCxnSpPr>
        <p:spPr>
          <a:xfrm flipH="1" flipV="1">
            <a:off x="3004912" y="2610492"/>
            <a:ext cx="4083" cy="22090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AEFF4DC9-8DC2-6CF0-A665-36C021C836B0}"/>
              </a:ext>
            </a:extLst>
          </p:cNvPr>
          <p:cNvCxnSpPr>
            <a:cxnSpLocks/>
            <a:stCxn id="106" idx="0"/>
            <a:endCxn id="105" idx="2"/>
          </p:cNvCxnSpPr>
          <p:nvPr/>
        </p:nvCxnSpPr>
        <p:spPr>
          <a:xfrm flipV="1">
            <a:off x="3004912" y="2139050"/>
            <a:ext cx="0" cy="10058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084976F9-BB9B-2F15-0A9F-3BF6EEF4C1FB}"/>
              </a:ext>
            </a:extLst>
          </p:cNvPr>
          <p:cNvSpPr txBox="1"/>
          <p:nvPr/>
        </p:nvSpPr>
        <p:spPr>
          <a:xfrm>
            <a:off x="2651259" y="2831397"/>
            <a:ext cx="715471" cy="46013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Mentor</a:t>
            </a:r>
          </a:p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Model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20CE938B-202F-EED2-D483-ACACF6B79A31}"/>
              </a:ext>
            </a:extLst>
          </p:cNvPr>
          <p:cNvSpPr txBox="1"/>
          <p:nvPr/>
        </p:nvSpPr>
        <p:spPr>
          <a:xfrm>
            <a:off x="747752" y="1126708"/>
            <a:ext cx="858736" cy="38671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 of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Token</a:t>
            </a: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B40E1A7D-EDF6-808F-E557-00FCA09B7BB1}"/>
              </a:ext>
            </a:extLst>
          </p:cNvPr>
          <p:cNvSpPr txBox="1"/>
          <p:nvPr/>
        </p:nvSpPr>
        <p:spPr>
          <a:xfrm>
            <a:off x="2539118" y="1143594"/>
            <a:ext cx="931583" cy="37791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 of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Token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B4BFF40B-E7F3-0EFE-032F-0190406EFB8C}"/>
              </a:ext>
            </a:extLst>
          </p:cNvPr>
          <p:cNvSpPr/>
          <p:nvPr/>
        </p:nvSpPr>
        <p:spPr>
          <a:xfrm>
            <a:off x="5793256" y="2470586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1514630-A1C1-2780-7077-A99204ED9B7B}"/>
              </a:ext>
            </a:extLst>
          </p:cNvPr>
          <p:cNvSpPr txBox="1"/>
          <p:nvPr/>
        </p:nvSpPr>
        <p:spPr>
          <a:xfrm>
            <a:off x="5870354" y="2534310"/>
            <a:ext cx="416433" cy="433924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9A2D9AC2-4685-FAEB-5795-52CA4C3B6976}"/>
              </a:ext>
            </a:extLst>
          </p:cNvPr>
          <p:cNvSpPr txBox="1"/>
          <p:nvPr/>
        </p:nvSpPr>
        <p:spPr>
          <a:xfrm>
            <a:off x="5870354" y="3005752"/>
            <a:ext cx="416433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76E461E4-F80A-100C-F38C-A987AF9037F0}"/>
              </a:ext>
            </a:extLst>
          </p:cNvPr>
          <p:cNvCxnSpPr>
            <a:cxnSpLocks/>
            <a:stCxn id="113" idx="0"/>
            <a:endCxn id="118" idx="2"/>
          </p:cNvCxnSpPr>
          <p:nvPr/>
        </p:nvCxnSpPr>
        <p:spPr>
          <a:xfrm flipH="1" flipV="1">
            <a:off x="6076721" y="2372434"/>
            <a:ext cx="1850" cy="1618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4866B8F8-E4D5-D9F2-5B74-8E3D9DA4F05E}"/>
              </a:ext>
            </a:extLst>
          </p:cNvPr>
          <p:cNvCxnSpPr>
            <a:cxnSpLocks/>
            <a:stCxn id="117" idx="0"/>
            <a:endCxn id="114" idx="2"/>
          </p:cNvCxnSpPr>
          <p:nvPr/>
        </p:nvCxnSpPr>
        <p:spPr>
          <a:xfrm flipV="1">
            <a:off x="6078570" y="3376610"/>
            <a:ext cx="1" cy="1380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C5F8092F-B0B1-6E96-4E57-8211F80483F3}"/>
              </a:ext>
            </a:extLst>
          </p:cNvPr>
          <p:cNvSpPr txBox="1"/>
          <p:nvPr/>
        </p:nvSpPr>
        <p:spPr>
          <a:xfrm>
            <a:off x="5862546" y="3514698"/>
            <a:ext cx="432048" cy="352634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sng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Q&amp;A</a:t>
            </a:r>
            <a:endParaRPr kumimoji="0" lang="en-US" altLang="zh-TW" sz="1000" b="0" i="0" u="sng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(MCQ)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D1C72CE9-53C7-EB64-9AC5-A551043C35EF}"/>
              </a:ext>
            </a:extLst>
          </p:cNvPr>
          <p:cNvSpPr txBox="1"/>
          <p:nvPr/>
        </p:nvSpPr>
        <p:spPr>
          <a:xfrm>
            <a:off x="5853249" y="2181676"/>
            <a:ext cx="446943" cy="190758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Score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E1D5363-0398-A2BA-E4B1-0258D5F32852}"/>
              </a:ext>
            </a:extLst>
          </p:cNvPr>
          <p:cNvSpPr txBox="1"/>
          <p:nvPr/>
        </p:nvSpPr>
        <p:spPr>
          <a:xfrm>
            <a:off x="6320394" y="2534310"/>
            <a:ext cx="190225" cy="433924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4AD2C7EC-3D99-95E3-7F18-5C75E2B68AD1}"/>
              </a:ext>
            </a:extLst>
          </p:cNvPr>
          <p:cNvSpPr txBox="1"/>
          <p:nvPr/>
        </p:nvSpPr>
        <p:spPr>
          <a:xfrm>
            <a:off x="6320394" y="3005752"/>
            <a:ext cx="190225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1" name="流程圖: 合併 120">
            <a:extLst>
              <a:ext uri="{FF2B5EF4-FFF2-40B4-BE49-F238E27FC236}">
                <a16:creationId xmlns:a16="http://schemas.microsoft.com/office/drawing/2014/main" id="{C29E51FC-6786-FCBB-5A59-6F8EEE4F3D36}"/>
              </a:ext>
            </a:extLst>
          </p:cNvPr>
          <p:cNvSpPr/>
          <p:nvPr/>
        </p:nvSpPr>
        <p:spPr>
          <a:xfrm>
            <a:off x="5174863" y="1303606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VRAM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339151D6-D08D-EC8F-C693-2C310D6867DF}"/>
              </a:ext>
            </a:extLst>
          </p:cNvPr>
          <p:cNvSpPr/>
          <p:nvPr/>
        </p:nvSpPr>
        <p:spPr>
          <a:xfrm>
            <a:off x="6876256" y="2470502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468BB696-6EFB-58EE-7447-8FE6B3934920}"/>
              </a:ext>
            </a:extLst>
          </p:cNvPr>
          <p:cNvSpPr txBox="1"/>
          <p:nvPr/>
        </p:nvSpPr>
        <p:spPr>
          <a:xfrm>
            <a:off x="6953354" y="2534226"/>
            <a:ext cx="416433" cy="433924"/>
          </a:xfrm>
          <a:prstGeom prst="rect">
            <a:avLst/>
          </a:prstGeom>
          <a:solidFill>
            <a:srgbClr val="B7C9E7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DF3728C-BF1B-1A68-0A0E-E44B26E6F685}"/>
              </a:ext>
            </a:extLst>
          </p:cNvPr>
          <p:cNvSpPr txBox="1"/>
          <p:nvPr/>
        </p:nvSpPr>
        <p:spPr>
          <a:xfrm>
            <a:off x="6953354" y="3005668"/>
            <a:ext cx="416433" cy="370858"/>
          </a:xfrm>
          <a:prstGeom prst="rect">
            <a:avLst/>
          </a:prstGeom>
          <a:solidFill>
            <a:srgbClr val="FEC203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25" name="直線單箭頭接點 124">
            <a:extLst>
              <a:ext uri="{FF2B5EF4-FFF2-40B4-BE49-F238E27FC236}">
                <a16:creationId xmlns:a16="http://schemas.microsoft.com/office/drawing/2014/main" id="{DD59CD50-B7EB-C75F-71EF-EEED05EF87BF}"/>
              </a:ext>
            </a:extLst>
          </p:cNvPr>
          <p:cNvCxnSpPr>
            <a:cxnSpLocks/>
            <a:stCxn id="123" idx="0"/>
            <a:endCxn id="138" idx="2"/>
          </p:cNvCxnSpPr>
          <p:nvPr/>
        </p:nvCxnSpPr>
        <p:spPr>
          <a:xfrm flipH="1" flipV="1">
            <a:off x="7159721" y="2372434"/>
            <a:ext cx="1850" cy="16179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14B5B333-41BC-066E-FFBD-899060FCA6B9}"/>
              </a:ext>
            </a:extLst>
          </p:cNvPr>
          <p:cNvCxnSpPr>
            <a:cxnSpLocks/>
            <a:stCxn id="127" idx="0"/>
            <a:endCxn id="124" idx="2"/>
          </p:cNvCxnSpPr>
          <p:nvPr/>
        </p:nvCxnSpPr>
        <p:spPr>
          <a:xfrm flipV="1">
            <a:off x="7161570" y="3376526"/>
            <a:ext cx="1" cy="13817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D61253B2-E7F1-A205-FEFD-8F6F5134DA31}"/>
              </a:ext>
            </a:extLst>
          </p:cNvPr>
          <p:cNvSpPr txBox="1"/>
          <p:nvPr/>
        </p:nvSpPr>
        <p:spPr>
          <a:xfrm>
            <a:off x="6945546" y="3514698"/>
            <a:ext cx="432048" cy="352634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sng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Q&amp;A</a:t>
            </a:r>
            <a:endParaRPr kumimoji="0" lang="en-US" altLang="zh-TW" sz="1000" b="0" i="0" u="sng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(MCQ)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13A6F64C-28C8-697E-3754-F99BF294D8BC}"/>
              </a:ext>
            </a:extLst>
          </p:cNvPr>
          <p:cNvSpPr txBox="1"/>
          <p:nvPr/>
        </p:nvSpPr>
        <p:spPr>
          <a:xfrm>
            <a:off x="7403394" y="2534226"/>
            <a:ext cx="190225" cy="433924"/>
          </a:xfrm>
          <a:prstGeom prst="rect">
            <a:avLst/>
          </a:prstGeom>
          <a:solidFill>
            <a:srgbClr val="B7C9E7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2381D58-F7A9-E614-E1E9-18AA008B5C1F}"/>
              </a:ext>
            </a:extLst>
          </p:cNvPr>
          <p:cNvSpPr txBox="1"/>
          <p:nvPr/>
        </p:nvSpPr>
        <p:spPr>
          <a:xfrm>
            <a:off x="7403394" y="3005668"/>
            <a:ext cx="190225" cy="370858"/>
          </a:xfrm>
          <a:prstGeom prst="rect">
            <a:avLst/>
          </a:prstGeom>
          <a:solidFill>
            <a:srgbClr val="FEC203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30" name="矩形: 圓角 129">
            <a:extLst>
              <a:ext uri="{FF2B5EF4-FFF2-40B4-BE49-F238E27FC236}">
                <a16:creationId xmlns:a16="http://schemas.microsoft.com/office/drawing/2014/main" id="{1FC75382-961F-5C6B-CE54-F92C656DD744}"/>
              </a:ext>
            </a:extLst>
          </p:cNvPr>
          <p:cNvSpPr/>
          <p:nvPr/>
        </p:nvSpPr>
        <p:spPr>
          <a:xfrm>
            <a:off x="484964" y="1607424"/>
            <a:ext cx="1394497" cy="1918598"/>
          </a:xfrm>
          <a:prstGeom prst="roundRect">
            <a:avLst>
              <a:gd name="adj" fmla="val 429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wrap="non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31" name="標題 1">
            <a:extLst>
              <a:ext uri="{FF2B5EF4-FFF2-40B4-BE49-F238E27FC236}">
                <a16:creationId xmlns:a16="http://schemas.microsoft.com/office/drawing/2014/main" id="{8FF083C1-4B0D-631B-4126-75D207E3B34C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upervised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ine-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uning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SFT shapes behavior via structured, high-quality QA pairs, not knowledge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.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14B763A-5702-8C17-A9AF-1A601EAB6D03}"/>
              </a:ext>
            </a:extLst>
          </p:cNvPr>
          <p:cNvSpPr txBox="1"/>
          <p:nvPr/>
        </p:nvSpPr>
        <p:spPr>
          <a:xfrm>
            <a:off x="747752" y="1756903"/>
            <a:ext cx="872480" cy="143886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SGD, 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Adam, 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b="1" dirty="0">
                <a:solidFill>
                  <a:srgbClr val="F79646">
                    <a:lumMod val="75000"/>
                  </a:srgbClr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*</a:t>
            </a: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AdamW,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Paged AdamW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 …</a:t>
            </a:r>
          </a:p>
        </p:txBody>
      </p:sp>
      <p:sp>
        <p:nvSpPr>
          <p:cNvPr id="133" name="標題 1">
            <a:extLst>
              <a:ext uri="{FF2B5EF4-FFF2-40B4-BE49-F238E27FC236}">
                <a16:creationId xmlns:a16="http://schemas.microsoft.com/office/drawing/2014/main" id="{4D7473CC-2D35-56A6-2E91-5DD3B1B1A87B}"/>
              </a:ext>
            </a:extLst>
          </p:cNvPr>
          <p:cNvSpPr txBox="1">
            <a:spLocks/>
          </p:cNvSpPr>
          <p:nvPr/>
        </p:nvSpPr>
        <p:spPr>
          <a:xfrm>
            <a:off x="2760419" y="3326392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Distillation</a:t>
            </a:r>
          </a:p>
        </p:txBody>
      </p:sp>
      <p:sp>
        <p:nvSpPr>
          <p:cNvPr id="134" name="流程圖: 合併 133">
            <a:extLst>
              <a:ext uri="{FF2B5EF4-FFF2-40B4-BE49-F238E27FC236}">
                <a16:creationId xmlns:a16="http://schemas.microsoft.com/office/drawing/2014/main" id="{E5305E0C-D3FA-D306-7040-A8B6EF18A5F8}"/>
              </a:ext>
            </a:extLst>
          </p:cNvPr>
          <p:cNvSpPr/>
          <p:nvPr/>
        </p:nvSpPr>
        <p:spPr>
          <a:xfrm>
            <a:off x="2123728" y="1317518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Time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5" name="標題 1">
            <a:extLst>
              <a:ext uri="{FF2B5EF4-FFF2-40B4-BE49-F238E27FC236}">
                <a16:creationId xmlns:a16="http://schemas.microsoft.com/office/drawing/2014/main" id="{7AB8B148-DEFA-4811-375B-A6518B5963D0}"/>
              </a:ext>
            </a:extLst>
          </p:cNvPr>
          <p:cNvSpPr txBox="1">
            <a:spLocks/>
          </p:cNvSpPr>
          <p:nvPr/>
        </p:nvSpPr>
        <p:spPr>
          <a:xfrm>
            <a:off x="6827284" y="3935370"/>
            <a:ext cx="640487" cy="272442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PTQ</a:t>
            </a:r>
            <a:br>
              <a:rPr lang="en-US" altLang="zh-TW" sz="1000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(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Precision</a:t>
            </a:r>
            <a:r>
              <a:rPr lang="en-US" altLang="zh-TW" sz="10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Calibri" panose="020F0502020204030204" pitchFamily="34" charset="0"/>
              </a:rPr>
              <a:t> ↓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36" name="標題 1">
            <a:extLst>
              <a:ext uri="{FF2B5EF4-FFF2-40B4-BE49-F238E27FC236}">
                <a16:creationId xmlns:a16="http://schemas.microsoft.com/office/drawing/2014/main" id="{18FA8DE7-1B18-AE2E-4359-D9E7080EB1AF}"/>
              </a:ext>
            </a:extLst>
          </p:cNvPr>
          <p:cNvSpPr txBox="1">
            <a:spLocks/>
          </p:cNvSpPr>
          <p:nvPr/>
        </p:nvSpPr>
        <p:spPr>
          <a:xfrm>
            <a:off x="5803721" y="3944782"/>
            <a:ext cx="640487" cy="272442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PRUNING</a:t>
            </a:r>
          </a:p>
          <a:p>
            <a:pPr algn="ctr">
              <a:lnSpc>
                <a:spcPts val="1000"/>
              </a:lnSpc>
              <a:spcBef>
                <a:spcPts val="0"/>
              </a:spcBef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(Dimension</a:t>
            </a:r>
            <a:r>
              <a:rPr lang="en-US" altLang="zh-TW" sz="10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Calibri" panose="020F0502020204030204" pitchFamily="34" charset="0"/>
              </a:rPr>
              <a:t> ↓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37" name="標題 1">
            <a:extLst>
              <a:ext uri="{FF2B5EF4-FFF2-40B4-BE49-F238E27FC236}">
                <a16:creationId xmlns:a16="http://schemas.microsoft.com/office/drawing/2014/main" id="{A894BCB1-21DC-1AAE-5EE2-9CC8713656A2}"/>
              </a:ext>
            </a:extLst>
          </p:cNvPr>
          <p:cNvSpPr txBox="1">
            <a:spLocks/>
          </p:cNvSpPr>
          <p:nvPr/>
        </p:nvSpPr>
        <p:spPr>
          <a:xfrm>
            <a:off x="929053" y="4262496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5F270977-7A31-09FD-54C7-9DFF7639DE63}"/>
              </a:ext>
            </a:extLst>
          </p:cNvPr>
          <p:cNvSpPr txBox="1"/>
          <p:nvPr/>
        </p:nvSpPr>
        <p:spPr>
          <a:xfrm>
            <a:off x="6936249" y="2181592"/>
            <a:ext cx="446943" cy="190842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Score</a:t>
            </a:r>
          </a:p>
        </p:txBody>
      </p:sp>
      <p:sp>
        <p:nvSpPr>
          <p:cNvPr id="139" name="標題 1">
            <a:extLst>
              <a:ext uri="{FF2B5EF4-FFF2-40B4-BE49-F238E27FC236}">
                <a16:creationId xmlns:a16="http://schemas.microsoft.com/office/drawing/2014/main" id="{B4123C2D-06E5-4AB0-2C3F-98E498094BD1}"/>
              </a:ext>
            </a:extLst>
          </p:cNvPr>
          <p:cNvSpPr txBox="1">
            <a:spLocks/>
          </p:cNvSpPr>
          <p:nvPr/>
        </p:nvSpPr>
        <p:spPr>
          <a:xfrm>
            <a:off x="6899462" y="4376830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srgbClr val="1F497D">
                    <a:lumMod val="50000"/>
                  </a:srgb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QAD</a:t>
            </a:r>
          </a:p>
        </p:txBody>
      </p: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EF35D2FE-725D-630C-EB0D-73F1EB3EA4C4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H="1" flipV="1">
            <a:off x="3004910" y="1521510"/>
            <a:ext cx="2" cy="2466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41" name="矩形: 圓角 140">
            <a:extLst>
              <a:ext uri="{FF2B5EF4-FFF2-40B4-BE49-F238E27FC236}">
                <a16:creationId xmlns:a16="http://schemas.microsoft.com/office/drawing/2014/main" id="{B8243267-685B-F21C-5F85-6A1F1319C79F}"/>
              </a:ext>
            </a:extLst>
          </p:cNvPr>
          <p:cNvSpPr/>
          <p:nvPr/>
        </p:nvSpPr>
        <p:spPr>
          <a:xfrm>
            <a:off x="2422005" y="1607424"/>
            <a:ext cx="1157348" cy="1121017"/>
          </a:xfrm>
          <a:prstGeom prst="roundRect">
            <a:avLst>
              <a:gd name="adj" fmla="val 429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696F885D-D020-BE17-9186-C0908209CAE8}"/>
              </a:ext>
            </a:extLst>
          </p:cNvPr>
          <p:cNvSpPr txBox="1"/>
          <p:nvPr/>
        </p:nvSpPr>
        <p:spPr>
          <a:xfrm>
            <a:off x="2619400" y="1855569"/>
            <a:ext cx="872480" cy="54809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Layer</a:t>
            </a:r>
            <a:r>
              <a:rPr lang="en-US" altLang="zh-TW" sz="1000" b="1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Dimension</a:t>
            </a:r>
            <a:r>
              <a:rPr lang="en-US" altLang="zh-TW" sz="1000" b="1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altLang="zh-TW" sz="1000" b="1" dirty="0">
              <a:solidFill>
                <a:prstClr val="black"/>
              </a:solidFill>
              <a:effectLst>
                <a:glow rad="127000">
                  <a:srgbClr val="FFFF00"/>
                </a:glow>
              </a:effectLst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sp>
        <p:nvSpPr>
          <p:cNvPr id="143" name="矩形: 圓角 142">
            <a:extLst>
              <a:ext uri="{FF2B5EF4-FFF2-40B4-BE49-F238E27FC236}">
                <a16:creationId xmlns:a16="http://schemas.microsoft.com/office/drawing/2014/main" id="{60961986-7E81-5BA6-6BBB-1DDCFD3201D4}"/>
              </a:ext>
            </a:extLst>
          </p:cNvPr>
          <p:cNvSpPr/>
          <p:nvPr/>
        </p:nvSpPr>
        <p:spPr>
          <a:xfrm>
            <a:off x="6871636" y="4882671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D156B069-1F01-4945-6DC5-2FE8EBE53960}"/>
              </a:ext>
            </a:extLst>
          </p:cNvPr>
          <p:cNvSpPr txBox="1"/>
          <p:nvPr/>
        </p:nvSpPr>
        <p:spPr>
          <a:xfrm>
            <a:off x="6948734" y="4946395"/>
            <a:ext cx="416433" cy="433924"/>
          </a:xfrm>
          <a:prstGeom prst="rect">
            <a:avLst/>
          </a:prstGeom>
          <a:solidFill>
            <a:srgbClr val="B7C9E7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28A594B2-AE43-4752-E91A-E1584082649F}"/>
              </a:ext>
            </a:extLst>
          </p:cNvPr>
          <p:cNvSpPr txBox="1"/>
          <p:nvPr/>
        </p:nvSpPr>
        <p:spPr>
          <a:xfrm>
            <a:off x="6948734" y="5417837"/>
            <a:ext cx="416433" cy="370858"/>
          </a:xfrm>
          <a:prstGeom prst="rect">
            <a:avLst/>
          </a:prstGeom>
          <a:solidFill>
            <a:srgbClr val="FEC203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6790FFC0-1CA9-4FDB-47F6-8BDACF3424F7}"/>
              </a:ext>
            </a:extLst>
          </p:cNvPr>
          <p:cNvCxnSpPr>
            <a:cxnSpLocks/>
            <a:stCxn id="147" idx="0"/>
            <a:endCxn id="145" idx="2"/>
          </p:cNvCxnSpPr>
          <p:nvPr/>
        </p:nvCxnSpPr>
        <p:spPr>
          <a:xfrm flipV="1">
            <a:off x="7155100" y="5788695"/>
            <a:ext cx="1851" cy="20277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246A2540-72F1-B015-7F20-6086DCB41182}"/>
              </a:ext>
            </a:extLst>
          </p:cNvPr>
          <p:cNvSpPr txBox="1"/>
          <p:nvPr/>
        </p:nvSpPr>
        <p:spPr>
          <a:xfrm>
            <a:off x="6899462" y="5991469"/>
            <a:ext cx="511276" cy="288032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Mentor</a:t>
            </a: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Model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24E5C586-F223-5694-9C13-9E748B059331}"/>
              </a:ext>
            </a:extLst>
          </p:cNvPr>
          <p:cNvSpPr txBox="1"/>
          <p:nvPr/>
        </p:nvSpPr>
        <p:spPr>
          <a:xfrm>
            <a:off x="7398774" y="4946395"/>
            <a:ext cx="190225" cy="433924"/>
          </a:xfrm>
          <a:prstGeom prst="rect">
            <a:avLst/>
          </a:prstGeom>
          <a:solidFill>
            <a:srgbClr val="B7C9E7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D23B3D86-2D74-ECCE-6AA6-6C4C0B8D01BB}"/>
              </a:ext>
            </a:extLst>
          </p:cNvPr>
          <p:cNvSpPr txBox="1"/>
          <p:nvPr/>
        </p:nvSpPr>
        <p:spPr>
          <a:xfrm>
            <a:off x="7398774" y="5417837"/>
            <a:ext cx="190225" cy="370858"/>
          </a:xfrm>
          <a:prstGeom prst="rect">
            <a:avLst/>
          </a:prstGeom>
          <a:solidFill>
            <a:srgbClr val="FEC203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4F5160F3-BF64-C7C0-66DC-7B1C8416BDAF}"/>
              </a:ext>
            </a:extLst>
          </p:cNvPr>
          <p:cNvSpPr/>
          <p:nvPr/>
        </p:nvSpPr>
        <p:spPr>
          <a:xfrm>
            <a:off x="6802561" y="4820861"/>
            <a:ext cx="862185" cy="1098601"/>
          </a:xfrm>
          <a:prstGeom prst="roundRect">
            <a:avLst>
              <a:gd name="adj" fmla="val 168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cxnSp>
        <p:nvCxnSpPr>
          <p:cNvPr id="151" name="直線單箭頭接點 150">
            <a:extLst>
              <a:ext uri="{FF2B5EF4-FFF2-40B4-BE49-F238E27FC236}">
                <a16:creationId xmlns:a16="http://schemas.microsoft.com/office/drawing/2014/main" id="{BFE72361-A062-00C6-87E0-037DD84CD323}"/>
              </a:ext>
            </a:extLst>
          </p:cNvPr>
          <p:cNvCxnSpPr>
            <a:cxnSpLocks/>
            <a:stCxn id="144" idx="0"/>
            <a:endCxn id="152" idx="2"/>
          </p:cNvCxnSpPr>
          <p:nvPr/>
        </p:nvCxnSpPr>
        <p:spPr>
          <a:xfrm flipH="1" flipV="1">
            <a:off x="7155101" y="4747761"/>
            <a:ext cx="1850" cy="19863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8AAFE2DC-7D65-F70E-0EA9-11BEBB7428F7}"/>
              </a:ext>
            </a:extLst>
          </p:cNvPr>
          <p:cNvSpPr txBox="1"/>
          <p:nvPr/>
        </p:nvSpPr>
        <p:spPr>
          <a:xfrm>
            <a:off x="6931629" y="4592854"/>
            <a:ext cx="446943" cy="154907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Logit</a:t>
            </a: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172DC6AD-EF9A-F78B-2D8E-CDA947F0691D}"/>
              </a:ext>
            </a:extLst>
          </p:cNvPr>
          <p:cNvSpPr txBox="1"/>
          <p:nvPr/>
        </p:nvSpPr>
        <p:spPr>
          <a:xfrm>
            <a:off x="8100392" y="2492896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Full-FT</a:t>
            </a:r>
            <a:b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</a:b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mobile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phone</a:t>
            </a: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67E7833C-CE4F-D795-D4E8-8E15858F6354}"/>
              </a:ext>
            </a:extLst>
          </p:cNvPr>
          <p:cNvSpPr txBox="1"/>
          <p:nvPr/>
        </p:nvSpPr>
        <p:spPr>
          <a:xfrm>
            <a:off x="8100392" y="4221088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 </a:t>
            </a:r>
            <a:r>
              <a: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➔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INT4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NV, Qualcomm</a:t>
            </a: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12F50A5D-9BDA-3504-0C20-99FC702D9DB5}"/>
              </a:ext>
            </a:extLst>
          </p:cNvPr>
          <p:cNvSpPr txBox="1"/>
          <p:nvPr/>
        </p:nvSpPr>
        <p:spPr>
          <a:xfrm>
            <a:off x="8100392" y="3068960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PEFT + Q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4-bit / 8-bit</a:t>
            </a: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E5B0749B-2BDF-F495-7A3A-0C6A4EBAC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09207"/>
              </p:ext>
            </p:extLst>
          </p:nvPr>
        </p:nvGraphicFramePr>
        <p:xfrm>
          <a:off x="446679" y="5474171"/>
          <a:ext cx="2061433" cy="943463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1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Quantization-Aware (QA)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Fake Quantization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FP: Quantization Noise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BP: Straight-Through Estimator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99233"/>
                  </a:ext>
                </a:extLst>
              </a:tr>
            </a:tbl>
          </a:graphicData>
        </a:graphic>
      </p:graphicFrame>
      <p:sp>
        <p:nvSpPr>
          <p:cNvPr id="157" name="矩形: 圓角 156">
            <a:extLst>
              <a:ext uri="{FF2B5EF4-FFF2-40B4-BE49-F238E27FC236}">
                <a16:creationId xmlns:a16="http://schemas.microsoft.com/office/drawing/2014/main" id="{C6E5458F-A3DF-AE9F-D2AD-2242A4DE6380}"/>
              </a:ext>
            </a:extLst>
          </p:cNvPr>
          <p:cNvSpPr/>
          <p:nvPr/>
        </p:nvSpPr>
        <p:spPr>
          <a:xfrm>
            <a:off x="5604492" y="1916832"/>
            <a:ext cx="2204154" cy="4404214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Quantization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90AD2CB6-32E2-B39F-FCC1-1077C1BD85BC}"/>
              </a:ext>
            </a:extLst>
          </p:cNvPr>
          <p:cNvGrpSpPr/>
          <p:nvPr/>
        </p:nvGrpSpPr>
        <p:grpSpPr>
          <a:xfrm>
            <a:off x="3971048" y="1140776"/>
            <a:ext cx="1078066" cy="2271474"/>
            <a:chOff x="3971048" y="1140776"/>
            <a:chExt cx="1078066" cy="2271474"/>
          </a:xfrm>
        </p:grpSpPr>
        <p:sp>
          <p:nvSpPr>
            <p:cNvPr id="159" name="矩形: 圓角 158">
              <a:extLst>
                <a:ext uri="{FF2B5EF4-FFF2-40B4-BE49-F238E27FC236}">
                  <a16:creationId xmlns:a16="http://schemas.microsoft.com/office/drawing/2014/main" id="{46940622-DB0E-2C26-908A-6C45701AF085}"/>
                </a:ext>
              </a:extLst>
            </p:cNvPr>
            <p:cNvSpPr/>
            <p:nvPr/>
          </p:nvSpPr>
          <p:spPr>
            <a:xfrm>
              <a:off x="4039595" y="1701650"/>
              <a:ext cx="881418" cy="973888"/>
            </a:xfrm>
            <a:prstGeom prst="roundRect">
              <a:avLst>
                <a:gd name="adj" fmla="val 516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E4BB03E7-806E-021B-3B88-71CAC36B36E6}"/>
                </a:ext>
              </a:extLst>
            </p:cNvPr>
            <p:cNvSpPr txBox="1"/>
            <p:nvPr/>
          </p:nvSpPr>
          <p:spPr>
            <a:xfrm>
              <a:off x="4106989" y="1765374"/>
              <a:ext cx="523087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BF1416BB-9A9A-AF68-0405-0945D41DCAFC}"/>
                </a:ext>
              </a:extLst>
            </p:cNvPr>
            <p:cNvSpPr txBox="1"/>
            <p:nvPr/>
          </p:nvSpPr>
          <p:spPr>
            <a:xfrm>
              <a:off x="4106989" y="2236816"/>
              <a:ext cx="52308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62" name="直線單箭頭接點 161">
              <a:extLst>
                <a:ext uri="{FF2B5EF4-FFF2-40B4-BE49-F238E27FC236}">
                  <a16:creationId xmlns:a16="http://schemas.microsoft.com/office/drawing/2014/main" id="{CD64155D-841F-F988-DF35-1C7F8406C1D2}"/>
                </a:ext>
              </a:extLst>
            </p:cNvPr>
            <p:cNvCxnSpPr>
              <a:cxnSpLocks/>
              <a:stCxn id="164" idx="0"/>
              <a:endCxn id="161" idx="2"/>
            </p:cNvCxnSpPr>
            <p:nvPr/>
          </p:nvCxnSpPr>
          <p:spPr>
            <a:xfrm flipV="1">
              <a:off x="4366676" y="2607674"/>
              <a:ext cx="1857" cy="23811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63" name="直線單箭頭接點 162">
              <a:extLst>
                <a:ext uri="{FF2B5EF4-FFF2-40B4-BE49-F238E27FC236}">
                  <a16:creationId xmlns:a16="http://schemas.microsoft.com/office/drawing/2014/main" id="{C0580A5A-2112-7C7E-F156-F160310FC970}"/>
                </a:ext>
              </a:extLst>
            </p:cNvPr>
            <p:cNvCxnSpPr>
              <a:cxnSpLocks/>
              <a:stCxn id="161" idx="0"/>
              <a:endCxn id="160" idx="2"/>
            </p:cNvCxnSpPr>
            <p:nvPr/>
          </p:nvCxnSpPr>
          <p:spPr>
            <a:xfrm flipV="1">
              <a:off x="4368533" y="2136232"/>
              <a:ext cx="0" cy="1005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F70CECF4-B4B0-643B-42EE-1D47BA49A72E}"/>
                </a:ext>
              </a:extLst>
            </p:cNvPr>
            <p:cNvSpPr txBox="1"/>
            <p:nvPr/>
          </p:nvSpPr>
          <p:spPr>
            <a:xfrm>
              <a:off x="4150652" y="2845785"/>
              <a:ext cx="432048" cy="367191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ctr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Q&amp;A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endPara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ctr" defTabSz="914400" eaLnBrk="1" fontAlgn="ctr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…  </a:t>
              </a:r>
              <a:endPara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73E46E15-DBE7-1215-EB9A-182461624869}"/>
                </a:ext>
              </a:extLst>
            </p:cNvPr>
            <p:cNvSpPr txBox="1"/>
            <p:nvPr/>
          </p:nvSpPr>
          <p:spPr>
            <a:xfrm>
              <a:off x="3971048" y="1140776"/>
              <a:ext cx="794968" cy="37791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Loss of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Answer</a:t>
              </a:r>
            </a:p>
          </p:txBody>
        </p:sp>
        <p:sp>
          <p:nvSpPr>
            <p:cNvPr id="166" name="標題 1">
              <a:extLst>
                <a:ext uri="{FF2B5EF4-FFF2-40B4-BE49-F238E27FC236}">
                  <a16:creationId xmlns:a16="http://schemas.microsoft.com/office/drawing/2014/main" id="{865EF77B-DC2C-F87F-AE38-90FE520F30B2}"/>
                </a:ext>
              </a:extLst>
            </p:cNvPr>
            <p:cNvSpPr txBox="1">
              <a:spLocks/>
            </p:cNvSpPr>
            <p:nvPr/>
          </p:nvSpPr>
          <p:spPr>
            <a:xfrm>
              <a:off x="4067944" y="3212976"/>
              <a:ext cx="981170" cy="19927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Full-FT +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 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QAT</a:t>
              </a:r>
            </a:p>
          </p:txBody>
        </p:sp>
        <p:cxnSp>
          <p:nvCxnSpPr>
            <p:cNvPr id="167" name="直線單箭頭接點 166">
              <a:extLst>
                <a:ext uri="{FF2B5EF4-FFF2-40B4-BE49-F238E27FC236}">
                  <a16:creationId xmlns:a16="http://schemas.microsoft.com/office/drawing/2014/main" id="{EB5FEFC4-8BD8-0A62-00EB-74A890B3C75D}"/>
                </a:ext>
              </a:extLst>
            </p:cNvPr>
            <p:cNvCxnSpPr>
              <a:cxnSpLocks/>
              <a:stCxn id="160" idx="0"/>
              <a:endCxn id="165" idx="2"/>
            </p:cNvCxnSpPr>
            <p:nvPr/>
          </p:nvCxnSpPr>
          <p:spPr>
            <a:xfrm flipH="1" flipV="1">
              <a:off x="4368532" y="1518692"/>
              <a:ext cx="1" cy="24668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68" name="矩形: 圓角 167">
              <a:extLst>
                <a:ext uri="{FF2B5EF4-FFF2-40B4-BE49-F238E27FC236}">
                  <a16:creationId xmlns:a16="http://schemas.microsoft.com/office/drawing/2014/main" id="{D459AC65-4D40-6F1F-A10C-13BA5D26FEFF}"/>
                </a:ext>
              </a:extLst>
            </p:cNvPr>
            <p:cNvSpPr/>
            <p:nvPr/>
          </p:nvSpPr>
          <p:spPr>
            <a:xfrm>
              <a:off x="3976886" y="1605576"/>
              <a:ext cx="746408" cy="1121017"/>
            </a:xfrm>
            <a:prstGeom prst="roundRect">
              <a:avLst>
                <a:gd name="adj" fmla="val 1682"/>
              </a:avLst>
            </a:prstGeom>
            <a:solidFill>
              <a:srgbClr val="C0504D">
                <a:lumMod val="50000"/>
                <a:alpha val="60000"/>
              </a:srgbClr>
            </a:solidFill>
            <a:ln w="15875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1B8A734E-8421-AF1B-42E8-826E3AA76A06}"/>
              </a:ext>
            </a:extLst>
          </p:cNvPr>
          <p:cNvGrpSpPr/>
          <p:nvPr/>
        </p:nvGrpSpPr>
        <p:grpSpPr>
          <a:xfrm>
            <a:off x="3923928" y="3645024"/>
            <a:ext cx="1125186" cy="2088232"/>
            <a:chOff x="3923928" y="3645024"/>
            <a:chExt cx="1125186" cy="2088232"/>
          </a:xfrm>
        </p:grpSpPr>
        <p:sp>
          <p:nvSpPr>
            <p:cNvPr id="170" name="矩形: 圓角 169">
              <a:extLst>
                <a:ext uri="{FF2B5EF4-FFF2-40B4-BE49-F238E27FC236}">
                  <a16:creationId xmlns:a16="http://schemas.microsoft.com/office/drawing/2014/main" id="{101237F4-AD68-CA13-ECD5-2914A2404B87}"/>
                </a:ext>
              </a:extLst>
            </p:cNvPr>
            <p:cNvSpPr/>
            <p:nvPr/>
          </p:nvSpPr>
          <p:spPr>
            <a:xfrm>
              <a:off x="3992475" y="4058948"/>
              <a:ext cx="881418" cy="973888"/>
            </a:xfrm>
            <a:prstGeom prst="roundRect">
              <a:avLst>
                <a:gd name="adj" fmla="val 516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79108B7B-D1D5-3626-F798-D53566D771D2}"/>
                </a:ext>
              </a:extLst>
            </p:cNvPr>
            <p:cNvSpPr txBox="1"/>
            <p:nvPr/>
          </p:nvSpPr>
          <p:spPr>
            <a:xfrm>
              <a:off x="4059869" y="4122672"/>
              <a:ext cx="523087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FCCB2E09-E279-561E-F292-48E554975AEF}"/>
                </a:ext>
              </a:extLst>
            </p:cNvPr>
            <p:cNvSpPr txBox="1"/>
            <p:nvPr/>
          </p:nvSpPr>
          <p:spPr>
            <a:xfrm>
              <a:off x="4059869" y="4594114"/>
              <a:ext cx="52308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FDF937C8-37B6-3A48-8E2C-D2B6A2010A1A}"/>
                </a:ext>
              </a:extLst>
            </p:cNvPr>
            <p:cNvCxnSpPr>
              <a:cxnSpLocks/>
              <a:stCxn id="171" idx="0"/>
              <a:endCxn id="177" idx="2"/>
            </p:cNvCxnSpPr>
            <p:nvPr/>
          </p:nvCxnSpPr>
          <p:spPr>
            <a:xfrm flipH="1" flipV="1">
              <a:off x="4321412" y="4022940"/>
              <a:ext cx="1" cy="9973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線單箭頭接點 173">
              <a:extLst>
                <a:ext uri="{FF2B5EF4-FFF2-40B4-BE49-F238E27FC236}">
                  <a16:creationId xmlns:a16="http://schemas.microsoft.com/office/drawing/2014/main" id="{FFDB431C-36C8-61A2-87BA-FB6E7CA12A6C}"/>
                </a:ext>
              </a:extLst>
            </p:cNvPr>
            <p:cNvCxnSpPr>
              <a:cxnSpLocks/>
              <a:stCxn id="176" idx="0"/>
              <a:endCxn id="172" idx="2"/>
            </p:cNvCxnSpPr>
            <p:nvPr/>
          </p:nvCxnSpPr>
          <p:spPr>
            <a:xfrm flipV="1">
              <a:off x="4319556" y="4964972"/>
              <a:ext cx="1857" cy="179058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5" name="直線單箭頭接點 174">
              <a:extLst>
                <a:ext uri="{FF2B5EF4-FFF2-40B4-BE49-F238E27FC236}">
                  <a16:creationId xmlns:a16="http://schemas.microsoft.com/office/drawing/2014/main" id="{A1B4B533-94CE-9BBA-E04B-436E3062A2A1}"/>
                </a:ext>
              </a:extLst>
            </p:cNvPr>
            <p:cNvCxnSpPr>
              <a:cxnSpLocks/>
              <a:stCxn id="172" idx="0"/>
              <a:endCxn id="171" idx="2"/>
            </p:cNvCxnSpPr>
            <p:nvPr/>
          </p:nvCxnSpPr>
          <p:spPr>
            <a:xfrm flipV="1">
              <a:off x="4321413" y="4493530"/>
              <a:ext cx="0" cy="1005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800E7452-C86B-B4FA-4CDB-D2DDDCDF8597}"/>
                </a:ext>
              </a:extLst>
            </p:cNvPr>
            <p:cNvSpPr txBox="1"/>
            <p:nvPr/>
          </p:nvSpPr>
          <p:spPr>
            <a:xfrm>
              <a:off x="4103532" y="5144030"/>
              <a:ext cx="432048" cy="373202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ctr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Q&amp;A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endPara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ctr" defTabSz="914400" eaLnBrk="1" fontAlgn="ctr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…  </a:t>
              </a:r>
              <a:endPara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EBEE5542-203D-42F6-378B-AF642FF3007D}"/>
                </a:ext>
              </a:extLst>
            </p:cNvPr>
            <p:cNvSpPr txBox="1"/>
            <p:nvPr/>
          </p:nvSpPr>
          <p:spPr>
            <a:xfrm>
              <a:off x="3923928" y="3645024"/>
              <a:ext cx="794968" cy="37791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Loss of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Answer</a:t>
              </a:r>
            </a:p>
          </p:txBody>
        </p:sp>
        <p:sp>
          <p:nvSpPr>
            <p:cNvPr id="178" name="文字方塊 177">
              <a:extLst>
                <a:ext uri="{FF2B5EF4-FFF2-40B4-BE49-F238E27FC236}">
                  <a16:creationId xmlns:a16="http://schemas.microsoft.com/office/drawing/2014/main" id="{7F99B56D-920D-92D9-47F5-A87AD2DE37D4}"/>
                </a:ext>
              </a:extLst>
            </p:cNvPr>
            <p:cNvSpPr txBox="1"/>
            <p:nvPr/>
          </p:nvSpPr>
          <p:spPr>
            <a:xfrm>
              <a:off x="4642234" y="4122672"/>
              <a:ext cx="189751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Adapter</a:t>
              </a:r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B344A326-DA61-BDDF-8F8D-F71E27276F91}"/>
                </a:ext>
              </a:extLst>
            </p:cNvPr>
            <p:cNvSpPr txBox="1"/>
            <p:nvPr/>
          </p:nvSpPr>
          <p:spPr>
            <a:xfrm>
              <a:off x="4642234" y="4594114"/>
              <a:ext cx="19876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Adapter</a:t>
              </a:r>
            </a:p>
          </p:txBody>
        </p:sp>
        <p:sp>
          <p:nvSpPr>
            <p:cNvPr id="180" name="矩形: 圓角 179">
              <a:extLst>
                <a:ext uri="{FF2B5EF4-FFF2-40B4-BE49-F238E27FC236}">
                  <a16:creationId xmlns:a16="http://schemas.microsoft.com/office/drawing/2014/main" id="{BF67540C-B55C-EE68-01F5-A841524D2BA4}"/>
                </a:ext>
              </a:extLst>
            </p:cNvPr>
            <p:cNvSpPr/>
            <p:nvPr/>
          </p:nvSpPr>
          <p:spPr>
            <a:xfrm>
              <a:off x="4581099" y="4013415"/>
              <a:ext cx="293347" cy="1060951"/>
            </a:xfrm>
            <a:prstGeom prst="roundRect">
              <a:avLst>
                <a:gd name="adj" fmla="val 1682"/>
              </a:avLst>
            </a:prstGeom>
            <a:solidFill>
              <a:srgbClr val="C0504D">
                <a:lumMod val="50000"/>
                <a:alpha val="60000"/>
              </a:srgbClr>
            </a:solidFill>
            <a:ln w="15875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81" name="標題 1">
              <a:extLst>
                <a:ext uri="{FF2B5EF4-FFF2-40B4-BE49-F238E27FC236}">
                  <a16:creationId xmlns:a16="http://schemas.microsoft.com/office/drawing/2014/main" id="{1F9B963A-E414-9291-1FBD-FB09B7B7CC36}"/>
                </a:ext>
              </a:extLst>
            </p:cNvPr>
            <p:cNvSpPr txBox="1">
              <a:spLocks/>
            </p:cNvSpPr>
            <p:nvPr/>
          </p:nvSpPr>
          <p:spPr>
            <a:xfrm>
              <a:off x="4067944" y="5533982"/>
              <a:ext cx="981170" cy="19927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PEFT +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 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QAT</a:t>
              </a:r>
            </a:p>
          </p:txBody>
        </p:sp>
        <p:sp>
          <p:nvSpPr>
            <p:cNvPr id="182" name="標題 1">
              <a:extLst>
                <a:ext uri="{FF2B5EF4-FFF2-40B4-BE49-F238E27FC236}">
                  <a16:creationId xmlns:a16="http://schemas.microsoft.com/office/drawing/2014/main" id="{C06CD18F-BC6E-7A18-8B19-ACD84E1A0F07}"/>
                </a:ext>
              </a:extLst>
            </p:cNvPr>
            <p:cNvSpPr txBox="1">
              <a:spLocks/>
            </p:cNvSpPr>
            <p:nvPr/>
          </p:nvSpPr>
          <p:spPr>
            <a:xfrm>
              <a:off x="4630988" y="5097167"/>
              <a:ext cx="180410" cy="174616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1%</a:t>
              </a:r>
            </a:p>
          </p:txBody>
        </p:sp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69BE647C-9C74-AC0F-C64E-3E86B38B1D8F}"/>
                </a:ext>
              </a:extLst>
            </p:cNvPr>
            <p:cNvSpPr/>
            <p:nvPr/>
          </p:nvSpPr>
          <p:spPr>
            <a:xfrm>
              <a:off x="4635144" y="5540621"/>
              <a:ext cx="340696" cy="186128"/>
            </a:xfrm>
            <a:prstGeom prst="roundRect">
              <a:avLst>
                <a:gd name="adj" fmla="val 1682"/>
              </a:avLst>
            </a:prstGeom>
            <a:noFill/>
            <a:ln w="15875" cap="flat" cmpd="sng" algn="ctr">
              <a:solidFill>
                <a:srgbClr val="C0504D"/>
              </a:solidFill>
              <a:prstDash val="sysDot"/>
            </a:ln>
            <a:effectLst/>
          </p:spPr>
          <p:txBody>
            <a:bodyPr wrap="none" lIns="0" tIns="0" rIns="0" bIns="0" rtlCol="0" anchor="t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2C9CC20E-79C4-785C-5264-B763A944C34F}"/>
              </a:ext>
            </a:extLst>
          </p:cNvPr>
          <p:cNvSpPr txBox="1"/>
          <p:nvPr/>
        </p:nvSpPr>
        <p:spPr>
          <a:xfrm>
            <a:off x="8097490" y="3645024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 </a:t>
            </a:r>
            <a:r>
              <a: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➔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INT4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Quantization</a:t>
            </a:r>
          </a:p>
        </p:txBody>
      </p:sp>
      <p:sp>
        <p:nvSpPr>
          <p:cNvPr id="185" name="流程圖: 合併 184">
            <a:extLst>
              <a:ext uri="{FF2B5EF4-FFF2-40B4-BE49-F238E27FC236}">
                <a16:creationId xmlns:a16="http://schemas.microsoft.com/office/drawing/2014/main" id="{E6ADE47A-6CA8-BA6A-2DB0-E62C6FF3A7BB}"/>
              </a:ext>
            </a:extLst>
          </p:cNvPr>
          <p:cNvSpPr/>
          <p:nvPr/>
        </p:nvSpPr>
        <p:spPr>
          <a:xfrm>
            <a:off x="8388424" y="1327726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Cost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86" name="接點: 肘形 185">
            <a:extLst>
              <a:ext uri="{FF2B5EF4-FFF2-40B4-BE49-F238E27FC236}">
                <a16:creationId xmlns:a16="http://schemas.microsoft.com/office/drawing/2014/main" id="{FAA2AD1A-17C6-8177-03C3-055C6765264F}"/>
              </a:ext>
            </a:extLst>
          </p:cNvPr>
          <p:cNvCxnSpPr>
            <a:cxnSpLocks/>
            <a:stCxn id="183" idx="3"/>
            <a:endCxn id="157" idx="1"/>
          </p:cNvCxnSpPr>
          <p:nvPr/>
        </p:nvCxnSpPr>
        <p:spPr>
          <a:xfrm flipV="1">
            <a:off x="4975840" y="4118939"/>
            <a:ext cx="628652" cy="1514746"/>
          </a:xfrm>
          <a:prstGeom prst="bentConnector3">
            <a:avLst>
              <a:gd name="adj1" fmla="val 56061"/>
            </a:avLst>
          </a:prstGeom>
          <a:noFill/>
          <a:ln w="19050" cap="flat" cmpd="sng" algn="ctr">
            <a:solidFill>
              <a:srgbClr val="C0504D"/>
            </a:solidFill>
            <a:prstDash val="sysDot"/>
            <a:headEnd type="none" w="sm" len="sm"/>
            <a:tailEnd type="triangle" w="sm" len="med"/>
          </a:ln>
          <a:effectLst/>
        </p:spPr>
      </p:cxnSp>
      <p:cxnSp>
        <p:nvCxnSpPr>
          <p:cNvPr id="187" name="接點: 肘形 186">
            <a:extLst>
              <a:ext uri="{FF2B5EF4-FFF2-40B4-BE49-F238E27FC236}">
                <a16:creationId xmlns:a16="http://schemas.microsoft.com/office/drawing/2014/main" id="{B2C475D3-5551-DD47-F9BF-11E4F71596FA}"/>
              </a:ext>
            </a:extLst>
          </p:cNvPr>
          <p:cNvCxnSpPr>
            <a:cxnSpLocks/>
            <a:endCxn id="157" idx="1"/>
          </p:cNvCxnSpPr>
          <p:nvPr/>
        </p:nvCxnSpPr>
        <p:spPr>
          <a:xfrm>
            <a:off x="5061781" y="3309809"/>
            <a:ext cx="542711" cy="80913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C0504D"/>
            </a:solidFill>
            <a:prstDash val="sysDot"/>
            <a:headEnd type="none" w="sm" len="sm"/>
            <a:tailEnd type="triangle" w="sm" len="med"/>
          </a:ln>
          <a:effectLst/>
        </p:spPr>
      </p:cxnSp>
      <p:graphicFrame>
        <p:nvGraphicFramePr>
          <p:cNvPr id="188" name="表格 187">
            <a:extLst>
              <a:ext uri="{FF2B5EF4-FFF2-40B4-BE49-F238E27FC236}">
                <a16:creationId xmlns:a16="http://schemas.microsoft.com/office/drawing/2014/main" id="{FEE8C053-85A4-6952-45A4-DC136B15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5323"/>
              </p:ext>
            </p:extLst>
          </p:nvPr>
        </p:nvGraphicFramePr>
        <p:xfrm>
          <a:off x="446679" y="4789909"/>
          <a:ext cx="2061433" cy="580749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71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Parameter-Efficient</a:t>
                      </a:r>
                    </a:p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Fine-Tuning (PEFT)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935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Fine-Tuning Framework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382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92A1DF-8AFF-C6EC-3FCC-B88D92FA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21</a:t>
            </a:fld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A0F183-407E-01C5-B000-F06DA836B616}"/>
              </a:ext>
            </a:extLst>
          </p:cNvPr>
          <p:cNvSpPr txBox="1"/>
          <p:nvPr/>
        </p:nvSpPr>
        <p:spPr>
          <a:xfrm>
            <a:off x="2456679" y="2515143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8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標題 1">
            <a:extLst>
              <a:ext uri="{FF2B5EF4-FFF2-40B4-BE49-F238E27FC236}">
                <a16:creationId xmlns:a16="http://schemas.microsoft.com/office/drawing/2014/main" id="{8376F6D1-9846-C7EF-D893-93A80CA38BF1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PEFT: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Q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uantization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Lo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ank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daptation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QLoRA freezes the base model, squeezing updates through a narrow parameter bottleneck (r). 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F8C9DC1-9D12-1113-ED23-1C0B121E5275}"/>
              </a:ext>
            </a:extLst>
          </p:cNvPr>
          <p:cNvSpPr txBox="1"/>
          <p:nvPr/>
        </p:nvSpPr>
        <p:spPr>
          <a:xfrm>
            <a:off x="5546170" y="1432160"/>
            <a:ext cx="754022" cy="26336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6981C68-8B61-5478-024A-F5E5F721845B}"/>
              </a:ext>
            </a:extLst>
          </p:cNvPr>
          <p:cNvSpPr txBox="1"/>
          <p:nvPr/>
        </p:nvSpPr>
        <p:spPr>
          <a:xfrm>
            <a:off x="5505822" y="2644706"/>
            <a:ext cx="79208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50D4887D-6E92-F2C3-A40D-95346637A437}"/>
              </a:ext>
            </a:extLst>
          </p:cNvPr>
          <p:cNvGraphicFramePr>
            <a:graphicFrameLocks noGrp="1"/>
          </p:cNvGraphicFramePr>
          <p:nvPr/>
        </p:nvGraphicFramePr>
        <p:xfrm>
          <a:off x="2408514" y="2852936"/>
          <a:ext cx="768819" cy="864096"/>
        </p:xfrm>
        <a:graphic>
          <a:graphicData uri="http://schemas.openxmlformats.org/drawingml/2006/table">
            <a:tbl>
              <a:tblPr firstRow="1" bandRow="1"/>
              <a:tblGrid>
                <a:gridCol w="2562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62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6273">
                  <a:extLst>
                    <a:ext uri="{9D8B030D-6E8A-4147-A177-3AD203B41FA5}">
                      <a16:colId xmlns:a16="http://schemas.microsoft.com/office/drawing/2014/main" val="3366401909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...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...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8C58F848-E1BB-5FAA-43D7-9142C50AF991}"/>
              </a:ext>
            </a:extLst>
          </p:cNvPr>
          <p:cNvGraphicFramePr>
            <a:graphicFrameLocks noGrp="1"/>
          </p:cNvGraphicFramePr>
          <p:nvPr/>
        </p:nvGraphicFramePr>
        <p:xfrm>
          <a:off x="5295270" y="1725388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A5D0232E-F045-0A9B-4B68-5B1289E6A1A6}"/>
              </a:ext>
            </a:extLst>
          </p:cNvPr>
          <p:cNvSpPr txBox="1"/>
          <p:nvPr/>
        </p:nvSpPr>
        <p:spPr>
          <a:xfrm>
            <a:off x="3801863" y="2780928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8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A11688B9-A6F1-392C-2E80-935F4F6005E3}"/>
              </a:ext>
            </a:extLst>
          </p:cNvPr>
          <p:cNvGraphicFramePr>
            <a:graphicFrameLocks noGrp="1"/>
          </p:cNvGraphicFramePr>
          <p:nvPr/>
        </p:nvGraphicFramePr>
        <p:xfrm>
          <a:off x="3426644" y="3074156"/>
          <a:ext cx="1577404" cy="354844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41E23589-AB49-9B77-16F3-754B97DA13DA}"/>
              </a:ext>
            </a:extLst>
          </p:cNvPr>
          <p:cNvGraphicFramePr>
            <a:graphicFrameLocks noGrp="1"/>
          </p:cNvGraphicFramePr>
          <p:nvPr/>
        </p:nvGraphicFramePr>
        <p:xfrm>
          <a:off x="5292080" y="2913354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50" name="文字方塊 49">
            <a:extLst>
              <a:ext uri="{FF2B5EF4-FFF2-40B4-BE49-F238E27FC236}">
                <a16:creationId xmlns:a16="http://schemas.microsoft.com/office/drawing/2014/main" id="{779F90C5-5844-C6DF-E226-90B5A4F3F9D5}"/>
              </a:ext>
            </a:extLst>
          </p:cNvPr>
          <p:cNvSpPr txBox="1"/>
          <p:nvPr/>
        </p:nvSpPr>
        <p:spPr>
          <a:xfrm>
            <a:off x="4010625" y="1721623"/>
            <a:ext cx="678086" cy="247833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7A1E53F0-803E-ED20-B7C0-1DF8F566CBD4}"/>
              </a:ext>
            </a:extLst>
          </p:cNvPr>
          <p:cNvGraphicFramePr>
            <a:graphicFrameLocks noGrp="1"/>
          </p:cNvGraphicFramePr>
          <p:nvPr/>
        </p:nvGraphicFramePr>
        <p:xfrm>
          <a:off x="3717516" y="1997327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52" name="文字方塊 51">
            <a:extLst>
              <a:ext uri="{FF2B5EF4-FFF2-40B4-BE49-F238E27FC236}">
                <a16:creationId xmlns:a16="http://schemas.microsoft.com/office/drawing/2014/main" id="{2CBD9198-640C-99B4-AF7F-DCDDE1F26EF8}"/>
              </a:ext>
            </a:extLst>
          </p:cNvPr>
          <p:cNvSpPr txBox="1"/>
          <p:nvPr/>
        </p:nvSpPr>
        <p:spPr>
          <a:xfrm>
            <a:off x="7030856" y="1721623"/>
            <a:ext cx="648072" cy="247833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2DD46988-02B1-3A38-0610-3B72DFC49A22}"/>
              </a:ext>
            </a:extLst>
          </p:cNvPr>
          <p:cNvGraphicFramePr>
            <a:graphicFrameLocks noGrp="1"/>
          </p:cNvGraphicFramePr>
          <p:nvPr/>
        </p:nvGraphicFramePr>
        <p:xfrm>
          <a:off x="6729958" y="1987628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54" name="文字方塊 53">
            <a:extLst>
              <a:ext uri="{FF2B5EF4-FFF2-40B4-BE49-F238E27FC236}">
                <a16:creationId xmlns:a16="http://schemas.microsoft.com/office/drawing/2014/main" id="{62B81A0F-944E-6CF6-A318-DA92A298EDD1}"/>
              </a:ext>
            </a:extLst>
          </p:cNvPr>
          <p:cNvSpPr txBox="1"/>
          <p:nvPr/>
        </p:nvSpPr>
        <p:spPr>
          <a:xfrm>
            <a:off x="5793854" y="2457142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+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BC0AB72-0718-AC15-E6A1-25980490AD25}"/>
              </a:ext>
            </a:extLst>
          </p:cNvPr>
          <p:cNvSpPr txBox="1"/>
          <p:nvPr/>
        </p:nvSpPr>
        <p:spPr>
          <a:xfrm>
            <a:off x="5031780" y="1938722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83D1365-3AAA-7D20-4560-635760E425C2}"/>
              </a:ext>
            </a:extLst>
          </p:cNvPr>
          <p:cNvSpPr txBox="1"/>
          <p:nvPr/>
        </p:nvSpPr>
        <p:spPr>
          <a:xfrm>
            <a:off x="6510744" y="1938722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31AA1A-67C6-4171-4AD5-23EC8D59EFE3}"/>
              </a:ext>
            </a:extLst>
          </p:cNvPr>
          <p:cNvSpPr txBox="1"/>
          <p:nvPr/>
        </p:nvSpPr>
        <p:spPr>
          <a:xfrm>
            <a:off x="3223295" y="3119894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82393153-6E26-F8DD-3946-3739A739902D}"/>
              </a:ext>
            </a:extLst>
          </p:cNvPr>
          <p:cNvSpPr txBox="1"/>
          <p:nvPr/>
        </p:nvSpPr>
        <p:spPr>
          <a:xfrm>
            <a:off x="5031780" y="315330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5F8DD49-CE5D-3BBF-4B8D-B17AAF9EC5AC}"/>
              </a:ext>
            </a:extLst>
          </p:cNvPr>
          <p:cNvSpPr txBox="1"/>
          <p:nvPr/>
        </p:nvSpPr>
        <p:spPr>
          <a:xfrm>
            <a:off x="2577725" y="5199131"/>
            <a:ext cx="695847" cy="23131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1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AE1DAAFE-D00E-55AE-A0CB-5C40F1AD4F0A}"/>
              </a:ext>
            </a:extLst>
          </p:cNvPr>
          <p:cNvGraphicFramePr>
            <a:graphicFrameLocks noGrp="1"/>
          </p:cNvGraphicFramePr>
          <p:nvPr/>
        </p:nvGraphicFramePr>
        <p:xfrm>
          <a:off x="2793923" y="5462499"/>
          <a:ext cx="272530" cy="864096"/>
        </p:xfrm>
        <a:graphic>
          <a:graphicData uri="http://schemas.openxmlformats.org/drawingml/2006/table">
            <a:tbl>
              <a:tblPr firstRow="1" bandRow="1"/>
              <a:tblGrid>
                <a:gridCol w="27253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61" name="文字方塊 60">
            <a:extLst>
              <a:ext uri="{FF2B5EF4-FFF2-40B4-BE49-F238E27FC236}">
                <a16:creationId xmlns:a16="http://schemas.microsoft.com/office/drawing/2014/main" id="{99A34588-5046-9581-55C6-14C8BDA65A72}"/>
              </a:ext>
            </a:extLst>
          </p:cNvPr>
          <p:cNvSpPr txBox="1"/>
          <p:nvPr/>
        </p:nvSpPr>
        <p:spPr>
          <a:xfrm>
            <a:off x="3801862" y="5517232"/>
            <a:ext cx="695847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881CE018-D716-9636-BD61-A6D4A6102EE4}"/>
              </a:ext>
            </a:extLst>
          </p:cNvPr>
          <p:cNvGraphicFramePr>
            <a:graphicFrameLocks noGrp="1"/>
          </p:cNvGraphicFramePr>
          <p:nvPr/>
        </p:nvGraphicFramePr>
        <p:xfrm>
          <a:off x="3424362" y="5777513"/>
          <a:ext cx="1577404" cy="177422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3B59A2A0-2E42-87C0-965C-88425E90778F}"/>
              </a:ext>
            </a:extLst>
          </p:cNvPr>
          <p:cNvSpPr txBox="1"/>
          <p:nvPr/>
        </p:nvSpPr>
        <p:spPr>
          <a:xfrm>
            <a:off x="3201566" y="573454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4" name="表格 63">
            <a:extLst>
              <a:ext uri="{FF2B5EF4-FFF2-40B4-BE49-F238E27FC236}">
                <a16:creationId xmlns:a16="http://schemas.microsoft.com/office/drawing/2014/main" id="{76E493FB-AD1E-0968-2B86-CCCE6A880B51}"/>
              </a:ext>
            </a:extLst>
          </p:cNvPr>
          <p:cNvGraphicFramePr>
            <a:graphicFrameLocks noGrp="1"/>
          </p:cNvGraphicFramePr>
          <p:nvPr/>
        </p:nvGraphicFramePr>
        <p:xfrm>
          <a:off x="1835696" y="4819447"/>
          <a:ext cx="2823168" cy="263368"/>
        </p:xfrm>
        <a:graphic>
          <a:graphicData uri="http://schemas.openxmlformats.org/drawingml/2006/table">
            <a:tbl>
              <a:tblPr firstRow="1" bandRow="1"/>
              <a:tblGrid>
                <a:gridCol w="17644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056063242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6922233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284423710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1270248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42653745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2154210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94232879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241487124"/>
                    </a:ext>
                  </a:extLst>
                </a:gridCol>
              </a:tblGrid>
              <a:tr h="2633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C2B1355C-FFFA-FF6F-516B-D43E4C430246}"/>
              </a:ext>
            </a:extLst>
          </p:cNvPr>
          <p:cNvGraphicFramePr>
            <a:graphicFrameLocks noGrp="1"/>
          </p:cNvGraphicFramePr>
          <p:nvPr/>
        </p:nvGraphicFramePr>
        <p:xfrm>
          <a:off x="2251383" y="4330399"/>
          <a:ext cx="2437328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B47C92BF-145B-28B4-63DC-E6E8A04D3EE1}"/>
              </a:ext>
            </a:extLst>
          </p:cNvPr>
          <p:cNvCxnSpPr>
            <a:cxnSpLocks/>
          </p:cNvCxnSpPr>
          <p:nvPr/>
        </p:nvCxnSpPr>
        <p:spPr>
          <a:xfrm>
            <a:off x="2556939" y="4419193"/>
            <a:ext cx="0" cy="400254"/>
          </a:xfrm>
          <a:prstGeom prst="straightConnector1">
            <a:avLst/>
          </a:prstGeom>
          <a:noFill/>
          <a:ln w="9525" cap="flat" cmpd="sng" algn="ctr">
            <a:solidFill>
              <a:srgbClr val="F79646"/>
            </a:solidFill>
            <a:prstDash val="solid"/>
            <a:tailEnd type="triangle"/>
          </a:ln>
          <a:effectLst/>
        </p:spPr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3B73FEA7-F264-625E-69B4-FD2B16B5A398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2824829" y="4496168"/>
            <a:ext cx="422451" cy="323279"/>
          </a:xfrm>
          <a:prstGeom prst="straightConnector1">
            <a:avLst/>
          </a:prstGeom>
          <a:noFill/>
          <a:ln w="9525" cap="flat" cmpd="sng" algn="ctr">
            <a:solidFill>
              <a:srgbClr val="F79646"/>
            </a:solidFill>
            <a:prstDash val="solid"/>
            <a:tailEnd type="triangle"/>
          </a:ln>
          <a:effectLst/>
        </p:spPr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BC56351-AB9C-50E3-37D5-6CD4E9396B30}"/>
              </a:ext>
            </a:extLst>
          </p:cNvPr>
          <p:cNvSpPr txBox="1"/>
          <p:nvPr/>
        </p:nvSpPr>
        <p:spPr>
          <a:xfrm>
            <a:off x="2627784" y="4640726"/>
            <a:ext cx="422451" cy="1839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4 bits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B7273395-7EAB-A020-7908-01D22F7974B2}"/>
              </a:ext>
            </a:extLst>
          </p:cNvPr>
          <p:cNvSpPr txBox="1"/>
          <p:nvPr/>
        </p:nvSpPr>
        <p:spPr>
          <a:xfrm>
            <a:off x="2503198" y="3966964"/>
            <a:ext cx="422451" cy="2880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32</a:t>
            </a:r>
          </a:p>
          <a:p>
            <a:pPr defTabSz="914400">
              <a:lnSpc>
                <a:spcPts val="1200"/>
              </a:lnSpc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bits</a:t>
            </a:r>
          </a:p>
        </p:txBody>
      </p:sp>
      <p:sp>
        <p:nvSpPr>
          <p:cNvPr id="70" name="右大括弧 69">
            <a:extLst>
              <a:ext uri="{FF2B5EF4-FFF2-40B4-BE49-F238E27FC236}">
                <a16:creationId xmlns:a16="http://schemas.microsoft.com/office/drawing/2014/main" id="{19889ACE-F787-20B3-A83B-C98D5737470A}"/>
              </a:ext>
            </a:extLst>
          </p:cNvPr>
          <p:cNvSpPr/>
          <p:nvPr/>
        </p:nvSpPr>
        <p:spPr>
          <a:xfrm rot="10800000">
            <a:off x="2043852" y="2728274"/>
            <a:ext cx="108700" cy="988757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B3FC75C7-3279-D740-FC1C-54ACCC46FA8F}"/>
              </a:ext>
            </a:extLst>
          </p:cNvPr>
          <p:cNvSpPr txBox="1"/>
          <p:nvPr/>
        </p:nvSpPr>
        <p:spPr>
          <a:xfrm>
            <a:off x="1547664" y="3079993"/>
            <a:ext cx="401072" cy="27699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LoRA</a:t>
            </a:r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15D8534-F343-D9FB-AC17-A951301892B0}"/>
              </a:ext>
            </a:extLst>
          </p:cNvPr>
          <p:cNvSpPr txBox="1"/>
          <p:nvPr/>
        </p:nvSpPr>
        <p:spPr>
          <a:xfrm>
            <a:off x="971600" y="5517232"/>
            <a:ext cx="401072" cy="27699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QLoRA</a:t>
            </a:r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右大括弧 72">
            <a:extLst>
              <a:ext uri="{FF2B5EF4-FFF2-40B4-BE49-F238E27FC236}">
                <a16:creationId xmlns:a16="http://schemas.microsoft.com/office/drawing/2014/main" id="{C28D6CF5-335D-7116-4A49-159D86214E35}"/>
              </a:ext>
            </a:extLst>
          </p:cNvPr>
          <p:cNvSpPr/>
          <p:nvPr/>
        </p:nvSpPr>
        <p:spPr>
          <a:xfrm rot="10800000">
            <a:off x="1475656" y="4951131"/>
            <a:ext cx="138303" cy="1378626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3ED6FEBA-6525-0CE5-B523-DD7D41C03793}"/>
              </a:ext>
            </a:extLst>
          </p:cNvPr>
          <p:cNvSpPr/>
          <p:nvPr/>
        </p:nvSpPr>
        <p:spPr>
          <a:xfrm>
            <a:off x="2324300" y="2814836"/>
            <a:ext cx="922980" cy="28803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ADE78366-FF83-1DDD-76A7-C478B47A36CF}"/>
              </a:ext>
            </a:extLst>
          </p:cNvPr>
          <p:cNvSpPr/>
          <p:nvPr/>
        </p:nvSpPr>
        <p:spPr>
          <a:xfrm>
            <a:off x="2166294" y="4278319"/>
            <a:ext cx="2621730" cy="28803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FA1AC647-6C54-3AAF-BFF3-C9D63012E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77294"/>
              </p:ext>
            </p:extLst>
          </p:nvPr>
        </p:nvGraphicFramePr>
        <p:xfrm>
          <a:off x="446679" y="1588297"/>
          <a:ext cx="2061433" cy="943463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1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Freeze All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Inject Layers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Active LoRA (A+B)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99233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Quantization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2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334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>
            <a:extLst>
              <a:ext uri="{FF2B5EF4-FFF2-40B4-BE49-F238E27FC236}">
                <a16:creationId xmlns:a16="http://schemas.microsoft.com/office/drawing/2014/main" id="{EDD14C85-206B-B11B-10E8-DAE9A94079E7}"/>
              </a:ext>
            </a:extLst>
          </p:cNvPr>
          <p:cNvSpPr/>
          <p:nvPr/>
        </p:nvSpPr>
        <p:spPr>
          <a:xfrm>
            <a:off x="6901408" y="5231715"/>
            <a:ext cx="2063080" cy="1276139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 lvl="0" defTabSz="914400">
              <a:lnSpc>
                <a:spcPts val="1600"/>
              </a:lnSpc>
              <a:defRPr/>
            </a:pPr>
            <a:r>
              <a:rPr lang="en-US" altLang="zh-TW" sz="1200" b="1" kern="0" dirty="0">
                <a:solidFill>
                  <a:srgbClr val="1F497D"/>
                </a:solidFill>
                <a:latin typeface="Calibri"/>
                <a:ea typeface="微軟正黑體" panose="020B0604030504040204" pitchFamily="34" charset="-120"/>
              </a:rPr>
              <a:t>LoRA</a:t>
            </a:r>
          </a:p>
          <a:p>
            <a:pPr>
              <a:lnSpc>
                <a:spcPts val="1600"/>
              </a:lnSpc>
            </a:pP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ea typeface="微軟正黑體" panose="020B060403050404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TW" sz="1200" b="1" kern="0" dirty="0">
                <a:solidFill>
                  <a:srgbClr val="1F497D"/>
                </a:solidFill>
                <a:latin typeface="Calibri"/>
                <a:ea typeface="微軟正黑體" panose="020B0604030504040204" pitchFamily="34" charset="-120"/>
              </a:rPr>
              <a:t>DoRA</a:t>
            </a:r>
          </a:p>
          <a:p>
            <a:pPr>
              <a:lnSpc>
                <a:spcPts val="1600"/>
              </a:lnSpc>
            </a:pP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ea typeface="微軟正黑體" panose="020B0604030504040204" pitchFamily="34" charset="-120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184800B2-5849-E432-520E-15E54CB9D666}"/>
              </a:ext>
            </a:extLst>
          </p:cNvPr>
          <p:cNvSpPr/>
          <p:nvPr/>
        </p:nvSpPr>
        <p:spPr>
          <a:xfrm>
            <a:off x="285800" y="3949342"/>
            <a:ext cx="1726706" cy="334459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BE8719-1425-2939-4BA2-A0ABEFB8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AF529775-B8A0-E616-4134-B7E338F9354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PEFT: Weight-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ecomposed L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oRA</a:t>
            </a:r>
          </a:p>
          <a:p>
            <a:r>
              <a:rPr lang="en-US" altLang="zh-TW" sz="14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DoRA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fundamentally improves LoRA by decomposing weights into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magnitude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and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direction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. 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2DACD25E-E2F5-EC04-BE69-2F30B87CB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449330"/>
              </p:ext>
            </p:extLst>
          </p:nvPr>
        </p:nvGraphicFramePr>
        <p:xfrm>
          <a:off x="2412103" y="2185814"/>
          <a:ext cx="385216" cy="864096"/>
        </p:xfrm>
        <a:graphic>
          <a:graphicData uri="http://schemas.openxmlformats.org/drawingml/2006/table">
            <a:tbl>
              <a:tblPr firstRow="1" bandRow="1"/>
              <a:tblGrid>
                <a:gridCol w="19260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260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0414E380-941B-7333-DC26-BF4D5B51F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76601"/>
              </p:ext>
            </p:extLst>
          </p:nvPr>
        </p:nvGraphicFramePr>
        <p:xfrm>
          <a:off x="4899784" y="1381276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E61CEA75-F37E-A56F-9814-4A265487315B}"/>
              </a:ext>
            </a:extLst>
          </p:cNvPr>
          <p:cNvSpPr txBox="1"/>
          <p:nvPr/>
        </p:nvSpPr>
        <p:spPr>
          <a:xfrm>
            <a:off x="2615737" y="3635935"/>
            <a:ext cx="40357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0.1 x </a:t>
            </a:r>
          </a:p>
        </p:txBody>
      </p: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B4DC1631-2893-DF3B-6A92-AC798BEFD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261459"/>
              </p:ext>
            </p:extLst>
          </p:nvPr>
        </p:nvGraphicFramePr>
        <p:xfrm>
          <a:off x="2972340" y="2420665"/>
          <a:ext cx="1479984" cy="304800"/>
        </p:xfrm>
        <a:graphic>
          <a:graphicData uri="http://schemas.openxmlformats.org/drawingml/2006/table">
            <a:tbl>
              <a:tblPr firstRow="1" bandRow="1"/>
              <a:tblGrid>
                <a:gridCol w="36999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6999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69996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69996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47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47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58" name="文字方塊 57">
            <a:extLst>
              <a:ext uri="{FF2B5EF4-FFF2-40B4-BE49-F238E27FC236}">
                <a16:creationId xmlns:a16="http://schemas.microsoft.com/office/drawing/2014/main" id="{5E9E2177-1866-548F-AEA4-B34F32E481FA}"/>
              </a:ext>
            </a:extLst>
          </p:cNvPr>
          <p:cNvSpPr txBox="1"/>
          <p:nvPr/>
        </p:nvSpPr>
        <p:spPr>
          <a:xfrm>
            <a:off x="362885" y="1340768"/>
            <a:ext cx="67808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9FE6F817-B37B-4341-4DA6-1506A0E99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92851"/>
              </p:ext>
            </p:extLst>
          </p:nvPr>
        </p:nvGraphicFramePr>
        <p:xfrm>
          <a:off x="69776" y="1641136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0" name="文字方塊 59">
            <a:extLst>
              <a:ext uri="{FF2B5EF4-FFF2-40B4-BE49-F238E27FC236}">
                <a16:creationId xmlns:a16="http://schemas.microsoft.com/office/drawing/2014/main" id="{536F3FFF-4F8F-BEFB-A3B1-8BAD9D1FF3A1}"/>
              </a:ext>
            </a:extLst>
          </p:cNvPr>
          <p:cNvSpPr txBox="1"/>
          <p:nvPr/>
        </p:nvSpPr>
        <p:spPr>
          <a:xfrm>
            <a:off x="6712850" y="1340768"/>
            <a:ext cx="648072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ABCFA926-A26B-CB7A-C2F0-2D5B3A727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589605"/>
              </p:ext>
            </p:extLst>
          </p:nvPr>
        </p:nvGraphicFramePr>
        <p:xfrm>
          <a:off x="6483960" y="1631437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2" name="文字方塊 61">
            <a:extLst>
              <a:ext uri="{FF2B5EF4-FFF2-40B4-BE49-F238E27FC236}">
                <a16:creationId xmlns:a16="http://schemas.microsoft.com/office/drawing/2014/main" id="{4B7A1E24-3283-92B6-EC93-2E34C4C49A84}"/>
              </a:ext>
            </a:extLst>
          </p:cNvPr>
          <p:cNvSpPr txBox="1"/>
          <p:nvPr/>
        </p:nvSpPr>
        <p:spPr>
          <a:xfrm>
            <a:off x="1365920" y="1582531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812A028-377F-4F38-2C72-9F45065AD587}"/>
              </a:ext>
            </a:extLst>
          </p:cNvPr>
          <p:cNvSpPr txBox="1"/>
          <p:nvPr/>
        </p:nvSpPr>
        <p:spPr>
          <a:xfrm>
            <a:off x="6192738" y="1582531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E7EB1AB2-8280-7A24-707E-317FD99623EA}"/>
              </a:ext>
            </a:extLst>
          </p:cNvPr>
          <p:cNvSpPr txBox="1"/>
          <p:nvPr/>
        </p:nvSpPr>
        <p:spPr>
          <a:xfrm>
            <a:off x="2794382" y="2437828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7BA3E681-AC92-D3CF-E353-9707907A5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844404"/>
              </p:ext>
            </p:extLst>
          </p:nvPr>
        </p:nvGraphicFramePr>
        <p:xfrm>
          <a:off x="357808" y="4020433"/>
          <a:ext cx="1577404" cy="214029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140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6" name="文字方塊 65">
            <a:extLst>
              <a:ext uri="{FF2B5EF4-FFF2-40B4-BE49-F238E27FC236}">
                <a16:creationId xmlns:a16="http://schemas.microsoft.com/office/drawing/2014/main" id="{217264DC-BF5A-36BB-F273-CA07832C44F0}"/>
              </a:ext>
            </a:extLst>
          </p:cNvPr>
          <p:cNvSpPr txBox="1"/>
          <p:nvPr/>
        </p:nvSpPr>
        <p:spPr>
          <a:xfrm>
            <a:off x="4826420" y="4010908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)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BAF82D1F-861C-6846-2C55-6192F6F18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869373"/>
              </p:ext>
            </p:extLst>
          </p:nvPr>
        </p:nvGraphicFramePr>
        <p:xfrm>
          <a:off x="3511303" y="4221088"/>
          <a:ext cx="444549" cy="4572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1227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8125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8125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1896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</a:tbl>
          </a:graphicData>
        </a:graphic>
      </p:graphicFrame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A7F53E79-53CD-7767-5D1F-624773884706}"/>
              </a:ext>
            </a:extLst>
          </p:cNvPr>
          <p:cNvCxnSpPr>
            <a:cxnSpLocks/>
          </p:cNvCxnSpPr>
          <p:nvPr/>
        </p:nvCxnSpPr>
        <p:spPr>
          <a:xfrm>
            <a:off x="2634220" y="4154441"/>
            <a:ext cx="2163625" cy="0"/>
          </a:xfrm>
          <a:prstGeom prst="line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A03593B5-26FE-42D3-CC52-D081A7325A15}"/>
              </a:ext>
            </a:extLst>
          </p:cNvPr>
          <p:cNvSpPr txBox="1"/>
          <p:nvPr/>
        </p:nvSpPr>
        <p:spPr>
          <a:xfrm>
            <a:off x="3519342" y="4359499"/>
            <a:ext cx="444549" cy="19941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Norm</a:t>
            </a:r>
          </a:p>
        </p:txBody>
      </p:sp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0EFFA871-B9A4-31D2-CAA4-3BC3C971A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562376"/>
              </p:ext>
            </p:extLst>
          </p:nvPr>
        </p:nvGraphicFramePr>
        <p:xfrm>
          <a:off x="3041078" y="3467099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23B28B4C-486F-607A-58E2-01C7856E4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72937"/>
              </p:ext>
            </p:extLst>
          </p:nvPr>
        </p:nvGraphicFramePr>
        <p:xfrm>
          <a:off x="4215241" y="3457575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286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72" name="文字方塊 71">
            <a:extLst>
              <a:ext uri="{FF2B5EF4-FFF2-40B4-BE49-F238E27FC236}">
                <a16:creationId xmlns:a16="http://schemas.microsoft.com/office/drawing/2014/main" id="{99DCD173-F329-F7ED-4E9B-3494B25D549B}"/>
              </a:ext>
            </a:extLst>
          </p:cNvPr>
          <p:cNvSpPr txBox="1"/>
          <p:nvPr/>
        </p:nvSpPr>
        <p:spPr>
          <a:xfrm>
            <a:off x="3708200" y="3633781"/>
            <a:ext cx="378033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 + 0.9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748E989-CEA5-F1D1-E0C7-B9B8694BA5E0}"/>
              </a:ext>
            </a:extLst>
          </p:cNvPr>
          <p:cNvSpPr txBox="1"/>
          <p:nvPr/>
        </p:nvSpPr>
        <p:spPr>
          <a:xfrm>
            <a:off x="2302024" y="4012575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az-Cyrl-AZ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r>
              <a:rPr lang="en-US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(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FD4673A-6702-5733-4928-C6A15D51F2C0}"/>
              </a:ext>
            </a:extLst>
          </p:cNvPr>
          <p:cNvSpPr txBox="1"/>
          <p:nvPr/>
        </p:nvSpPr>
        <p:spPr>
          <a:xfrm>
            <a:off x="4247161" y="364445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1117E420-186E-01DF-6B8A-A005D021B6EA}"/>
              </a:ext>
            </a:extLst>
          </p:cNvPr>
          <p:cNvSpPr txBox="1"/>
          <p:nvPr/>
        </p:nvSpPr>
        <p:spPr>
          <a:xfrm>
            <a:off x="3075062" y="364445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右大括弧 75">
            <a:extLst>
              <a:ext uri="{FF2B5EF4-FFF2-40B4-BE49-F238E27FC236}">
                <a16:creationId xmlns:a16="http://schemas.microsoft.com/office/drawing/2014/main" id="{1EDA1B2B-2551-8F07-7A87-024231D81081}"/>
              </a:ext>
            </a:extLst>
          </p:cNvPr>
          <p:cNvSpPr/>
          <p:nvPr/>
        </p:nvSpPr>
        <p:spPr>
          <a:xfrm rot="5400000">
            <a:off x="3369977" y="2051825"/>
            <a:ext cx="119195" cy="2297484"/>
          </a:xfrm>
          <a:prstGeom prst="rightBrace">
            <a:avLst>
              <a:gd name="adj1" fmla="val 8333"/>
              <a:gd name="adj2" fmla="val 53317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7" name="右大括弧 76">
            <a:extLst>
              <a:ext uri="{FF2B5EF4-FFF2-40B4-BE49-F238E27FC236}">
                <a16:creationId xmlns:a16="http://schemas.microsoft.com/office/drawing/2014/main" id="{44F9D1EF-B319-B895-2379-66DEDBADECB0}"/>
              </a:ext>
            </a:extLst>
          </p:cNvPr>
          <p:cNvSpPr/>
          <p:nvPr/>
        </p:nvSpPr>
        <p:spPr>
          <a:xfrm rot="5400000">
            <a:off x="5424023" y="1697396"/>
            <a:ext cx="137191" cy="1008112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78" name="表格 77">
            <a:extLst>
              <a:ext uri="{FF2B5EF4-FFF2-40B4-BE49-F238E27FC236}">
                <a16:creationId xmlns:a16="http://schemas.microsoft.com/office/drawing/2014/main" id="{F9A9F0E7-FCE5-F919-2454-AAC3AB02E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739399"/>
              </p:ext>
            </p:extLst>
          </p:nvPr>
        </p:nvGraphicFramePr>
        <p:xfrm>
          <a:off x="5207572" y="2315344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79" name="文字方塊 78">
            <a:extLst>
              <a:ext uri="{FF2B5EF4-FFF2-40B4-BE49-F238E27FC236}">
                <a16:creationId xmlns:a16="http://schemas.microsoft.com/office/drawing/2014/main" id="{758719B9-3AFF-29A0-CA82-11DDBF604B42}"/>
              </a:ext>
            </a:extLst>
          </p:cNvPr>
          <p:cNvSpPr txBox="1"/>
          <p:nvPr/>
        </p:nvSpPr>
        <p:spPr>
          <a:xfrm>
            <a:off x="5239492" y="2492694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C9976C25-71CA-841D-DE2C-67AF59C3F83A}"/>
              </a:ext>
            </a:extLst>
          </p:cNvPr>
          <p:cNvSpPr txBox="1"/>
          <p:nvPr/>
        </p:nvSpPr>
        <p:spPr>
          <a:xfrm>
            <a:off x="2262590" y="1939792"/>
            <a:ext cx="695847" cy="232104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8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A8845F0-26B5-3593-A313-CC0A5C816B6F}"/>
              </a:ext>
            </a:extLst>
          </p:cNvPr>
          <p:cNvSpPr txBox="1"/>
          <p:nvPr/>
        </p:nvSpPr>
        <p:spPr>
          <a:xfrm>
            <a:off x="3353099" y="2189783"/>
            <a:ext cx="695847" cy="200765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8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E50C2BD9-A9E9-E867-C750-3A061C9D952F}"/>
              </a:ext>
            </a:extLst>
          </p:cNvPr>
          <p:cNvSpPr txBox="1"/>
          <p:nvPr/>
        </p:nvSpPr>
        <p:spPr>
          <a:xfrm>
            <a:off x="767967" y="4278473"/>
            <a:ext cx="695847" cy="26336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m: 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6EAD6B51-CF26-5C69-BB70-084B0867D80D}"/>
              </a:ext>
            </a:extLst>
          </p:cNvPr>
          <p:cNvSpPr txBox="1"/>
          <p:nvPr/>
        </p:nvSpPr>
        <p:spPr>
          <a:xfrm>
            <a:off x="5110294" y="1106603"/>
            <a:ext cx="754022" cy="26336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EE2C6EE8-95B4-35D1-6357-03BDC87BD960}"/>
              </a:ext>
            </a:extLst>
          </p:cNvPr>
          <p:cNvSpPr txBox="1"/>
          <p:nvPr/>
        </p:nvSpPr>
        <p:spPr>
          <a:xfrm>
            <a:off x="1692052" y="4268346"/>
            <a:ext cx="1362776" cy="59189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Hadamard Product</a:t>
            </a:r>
            <a:b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Element-wise</a:t>
            </a:r>
          </a:p>
          <a:p>
            <a:pPr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Multiplication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8A54E8A-13D2-1FD2-3621-A7E4BCD26007}"/>
              </a:ext>
            </a:extLst>
          </p:cNvPr>
          <p:cNvSpPr txBox="1"/>
          <p:nvPr/>
        </p:nvSpPr>
        <p:spPr>
          <a:xfrm>
            <a:off x="3343500" y="5020769"/>
            <a:ext cx="754022" cy="22144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69172B46-6FFF-1D4D-A3B9-7A286D519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71330"/>
              </p:ext>
            </p:extLst>
          </p:nvPr>
        </p:nvGraphicFramePr>
        <p:xfrm>
          <a:off x="3454152" y="5274146"/>
          <a:ext cx="584047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167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8451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84511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2372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23726">
                  <a:extLst>
                    <a:ext uri="{9D8B030D-6E8A-4147-A177-3AD203B41FA5}">
                      <a16:colId xmlns:a16="http://schemas.microsoft.com/office/drawing/2014/main" val="281584339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89" name="文字方塊 88">
            <a:extLst>
              <a:ext uri="{FF2B5EF4-FFF2-40B4-BE49-F238E27FC236}">
                <a16:creationId xmlns:a16="http://schemas.microsoft.com/office/drawing/2014/main" id="{92B34913-7D9E-F61A-5AC9-4CAD3FC5D4A8}"/>
              </a:ext>
            </a:extLst>
          </p:cNvPr>
          <p:cNvSpPr txBox="1"/>
          <p:nvPr/>
        </p:nvSpPr>
        <p:spPr>
          <a:xfrm>
            <a:off x="3486072" y="543493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Final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E579A32A-DD37-A7B0-DED3-B9CE564C6559}"/>
              </a:ext>
            </a:extLst>
          </p:cNvPr>
          <p:cNvSpPr txBox="1"/>
          <p:nvPr/>
        </p:nvSpPr>
        <p:spPr>
          <a:xfrm>
            <a:off x="1857102" y="5271560"/>
            <a:ext cx="67808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D6C22B83-AD82-24A0-1B08-9776B2B82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238620"/>
              </p:ext>
            </p:extLst>
          </p:nvPr>
        </p:nvGraphicFramePr>
        <p:xfrm>
          <a:off x="1569615" y="5518135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F57BA913-7CB9-0C85-AD7B-818B62B50358}"/>
              </a:ext>
            </a:extLst>
          </p:cNvPr>
          <p:cNvSpPr txBox="1"/>
          <p:nvPr/>
        </p:nvSpPr>
        <p:spPr>
          <a:xfrm>
            <a:off x="3113409" y="545953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B0B4C33-125A-5B52-4B78-8521F9CD2B9A}"/>
              </a:ext>
            </a:extLst>
          </p:cNvPr>
          <p:cNvSpPr txBox="1"/>
          <p:nvPr/>
        </p:nvSpPr>
        <p:spPr>
          <a:xfrm>
            <a:off x="5058023" y="5196362"/>
            <a:ext cx="648072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94" name="表格 93">
            <a:extLst>
              <a:ext uri="{FF2B5EF4-FFF2-40B4-BE49-F238E27FC236}">
                <a16:creationId xmlns:a16="http://schemas.microsoft.com/office/drawing/2014/main" id="{7E02158D-9F41-EB62-7463-5DDD2F242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60372"/>
              </p:ext>
            </p:extLst>
          </p:nvPr>
        </p:nvGraphicFramePr>
        <p:xfrm>
          <a:off x="4829133" y="5487031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95" name="文字方塊 94">
            <a:extLst>
              <a:ext uri="{FF2B5EF4-FFF2-40B4-BE49-F238E27FC236}">
                <a16:creationId xmlns:a16="http://schemas.microsoft.com/office/drawing/2014/main" id="{D134B2CF-3000-897B-B251-A33834C44239}"/>
              </a:ext>
            </a:extLst>
          </p:cNvPr>
          <p:cNvSpPr txBox="1"/>
          <p:nvPr/>
        </p:nvSpPr>
        <p:spPr>
          <a:xfrm>
            <a:off x="4233111" y="5438125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DFC102E7-8A00-6C1A-A585-B6665563225A}"/>
              </a:ext>
            </a:extLst>
          </p:cNvPr>
          <p:cNvSpPr/>
          <p:nvPr/>
        </p:nvSpPr>
        <p:spPr>
          <a:xfrm>
            <a:off x="2302025" y="1872995"/>
            <a:ext cx="2269976" cy="1236043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1DB7E8A8-054A-D967-9456-90ABA14B1291}"/>
              </a:ext>
            </a:extLst>
          </p:cNvPr>
          <p:cNvSpPr txBox="1"/>
          <p:nvPr/>
        </p:nvSpPr>
        <p:spPr>
          <a:xfrm>
            <a:off x="2412102" y="2473024"/>
            <a:ext cx="3658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A</a:t>
            </a:r>
            <a:endParaRPr lang="en-US" altLang="zh-TW" sz="1400" b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5B0A6F99-5C98-AD03-5AC6-55C369263135}"/>
              </a:ext>
            </a:extLst>
          </p:cNvPr>
          <p:cNvSpPr txBox="1"/>
          <p:nvPr/>
        </p:nvSpPr>
        <p:spPr>
          <a:xfrm>
            <a:off x="3506423" y="2454603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B</a:t>
            </a:r>
            <a:endParaRPr lang="en-US" altLang="zh-TW" sz="1400" b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0" name="右大括弧 99">
            <a:extLst>
              <a:ext uri="{FF2B5EF4-FFF2-40B4-BE49-F238E27FC236}">
                <a16:creationId xmlns:a16="http://schemas.microsoft.com/office/drawing/2014/main" id="{8DFAE938-2C29-DE46-96A8-6005AFDEEC8E}"/>
              </a:ext>
            </a:extLst>
          </p:cNvPr>
          <p:cNvSpPr/>
          <p:nvPr/>
        </p:nvSpPr>
        <p:spPr>
          <a:xfrm rot="5400000">
            <a:off x="3424920" y="3008243"/>
            <a:ext cx="137191" cy="3892328"/>
          </a:xfrm>
          <a:prstGeom prst="rightBrace">
            <a:avLst>
              <a:gd name="adj1" fmla="val 19145"/>
              <a:gd name="adj2" fmla="val 44078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E1CF1F0D-FC5A-18D5-8C92-1D365A0BC395}"/>
                  </a:ext>
                </a:extLst>
              </p:cNvPr>
              <p:cNvSpPr txBox="1"/>
              <p:nvPr/>
            </p:nvSpPr>
            <p:spPr>
              <a:xfrm>
                <a:off x="7002502" y="5468499"/>
                <a:ext cx="158915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E1CF1F0D-FC5A-18D5-8C92-1D365A0BC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502" y="5468499"/>
                <a:ext cx="1589153" cy="215444"/>
              </a:xfrm>
              <a:prstGeom prst="rect">
                <a:avLst/>
              </a:prstGeom>
              <a:blipFill>
                <a:blip r:embed="rId3"/>
                <a:stretch>
                  <a:fillRect l="-2308" r="-769" b="-1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805F5F5B-F879-6F33-8CC6-20F8504848CA}"/>
              </a:ext>
            </a:extLst>
          </p:cNvPr>
          <p:cNvSpPr txBox="1"/>
          <p:nvPr/>
        </p:nvSpPr>
        <p:spPr>
          <a:xfrm>
            <a:off x="1335469" y="3230886"/>
            <a:ext cx="784818" cy="39877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Supervised</a:t>
            </a:r>
          </a:p>
          <a:p>
            <a:pPr algn="ctr" defTabSz="914400"/>
            <a:r>
              <a:rPr lang="en-US" altLang="zh-TW" sz="1200" b="1" dirty="0"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Fine Tune</a:t>
            </a:r>
            <a:endParaRPr lang="zh-TW" altLang="en-US" sz="1200" b="1" dirty="0">
              <a:latin typeface="Calibri"/>
              <a:cs typeface="ADLaM Display" panose="02010000000000000000" pitchFamily="2" charset="0"/>
            </a:endParaRPr>
          </a:p>
        </p:txBody>
      </p:sp>
      <p:cxnSp>
        <p:nvCxnSpPr>
          <p:cNvPr id="7" name="接點: 弧形 6">
            <a:extLst>
              <a:ext uri="{FF2B5EF4-FFF2-40B4-BE49-F238E27FC236}">
                <a16:creationId xmlns:a16="http://schemas.microsoft.com/office/drawing/2014/main" id="{9C54DB37-9930-9087-6B5F-2AFE6AB37088}"/>
              </a:ext>
            </a:extLst>
          </p:cNvPr>
          <p:cNvCxnSpPr>
            <a:cxnSpLocks/>
            <a:stCxn id="6" idx="0"/>
            <a:endCxn id="97" idx="1"/>
          </p:cNvCxnSpPr>
          <p:nvPr/>
        </p:nvCxnSpPr>
        <p:spPr>
          <a:xfrm rot="5400000" flipH="1" flipV="1">
            <a:off x="1645017" y="2573879"/>
            <a:ext cx="739869" cy="574147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7F9E94F0-956E-FF2E-E0AE-3881DCA3A1B8}"/>
              </a:ext>
            </a:extLst>
          </p:cNvPr>
          <p:cNvCxnSpPr>
            <a:cxnSpLocks/>
            <a:stCxn id="6" idx="1"/>
            <a:endCxn id="96" idx="0"/>
          </p:cNvCxnSpPr>
          <p:nvPr/>
        </p:nvCxnSpPr>
        <p:spPr>
          <a:xfrm rot="10800000" flipV="1">
            <a:off x="1149153" y="3430272"/>
            <a:ext cx="186316" cy="519069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AFF9BBB-564E-DB6C-4AFF-9DCB380285D9}"/>
                  </a:ext>
                </a:extLst>
              </p:cNvPr>
              <p:cNvSpPr txBox="1"/>
              <p:nvPr/>
            </p:nvSpPr>
            <p:spPr>
              <a:xfrm>
                <a:off x="7015155" y="6041608"/>
                <a:ext cx="1831719" cy="292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box>
                        <m:box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TW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AFF9BBB-564E-DB6C-4AFF-9DCB38028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55" y="6041608"/>
                <a:ext cx="1831719" cy="292581"/>
              </a:xfrm>
              <a:prstGeom prst="rect">
                <a:avLst/>
              </a:prstGeom>
              <a:blipFill>
                <a:blip r:embed="rId4"/>
                <a:stretch>
                  <a:fillRect l="-2000" b="-104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B0BC81E4-EBC7-252B-BC44-6DA7E0C6F04A}"/>
              </a:ext>
            </a:extLst>
          </p:cNvPr>
          <p:cNvSpPr txBox="1"/>
          <p:nvPr/>
        </p:nvSpPr>
        <p:spPr>
          <a:xfrm>
            <a:off x="2971934" y="3199270"/>
            <a:ext cx="695847" cy="24046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803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739794-A633-2736-B1AC-8B7504E2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23</a:t>
            </a:fld>
            <a:endParaRPr lang="zh-TW" altLang="en-US" dirty="0"/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51AF269-A5FE-DC70-33CC-BF83A4F50996}"/>
              </a:ext>
            </a:extLst>
          </p:cNvPr>
          <p:cNvSpPr/>
          <p:nvPr/>
        </p:nvSpPr>
        <p:spPr>
          <a:xfrm>
            <a:off x="3780194" y="1910381"/>
            <a:ext cx="1219522" cy="27950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A84B9A4-B3D4-EA9F-B600-75117DE7C17C}"/>
              </a:ext>
            </a:extLst>
          </p:cNvPr>
          <p:cNvSpPr/>
          <p:nvPr/>
        </p:nvSpPr>
        <p:spPr>
          <a:xfrm>
            <a:off x="8244408" y="2883915"/>
            <a:ext cx="648072" cy="104166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EEECE1">
                <a:lumMod val="50000"/>
              </a:srgbClr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2743A58-F988-9D3A-9183-C0329383DD36}"/>
              </a:ext>
            </a:extLst>
          </p:cNvPr>
          <p:cNvSpPr/>
          <p:nvPr/>
        </p:nvSpPr>
        <p:spPr>
          <a:xfrm>
            <a:off x="8367367" y="2883915"/>
            <a:ext cx="241412" cy="1041669"/>
          </a:xfrm>
          <a:prstGeom prst="rect">
            <a:avLst/>
          </a:prstGeom>
          <a:solidFill>
            <a:srgbClr val="EEECE1">
              <a:lumMod val="90000"/>
              <a:alpha val="40000"/>
            </a:srgbClr>
          </a:solidFill>
          <a:ln w="1905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PLE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48EBF70A-4BDA-C7F9-1EEA-449C873A1396}"/>
              </a:ext>
            </a:extLst>
          </p:cNvPr>
          <p:cNvSpPr/>
          <p:nvPr/>
        </p:nvSpPr>
        <p:spPr>
          <a:xfrm>
            <a:off x="3779912" y="5092506"/>
            <a:ext cx="1219522" cy="3452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 Layer</a:t>
            </a:r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D513F825-D53B-6053-E729-04D95293132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4: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ayer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mbeddings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PLE is a soft-gated, lightweight MoE variant that dynamically activates layer-wise token embeddings.</a:t>
            </a: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73EF147D-4A97-C2CF-177D-563F86FA7918}"/>
              </a:ext>
            </a:extLst>
          </p:cNvPr>
          <p:cNvSpPr txBox="1"/>
          <p:nvPr/>
        </p:nvSpPr>
        <p:spPr>
          <a:xfrm>
            <a:off x="3851920" y="1990064"/>
            <a:ext cx="754719" cy="1635243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2F3E2EA8-8E0C-658C-53AF-9C2D88AB6459}"/>
              </a:ext>
            </a:extLst>
          </p:cNvPr>
          <p:cNvSpPr txBox="1"/>
          <p:nvPr/>
        </p:nvSpPr>
        <p:spPr>
          <a:xfrm>
            <a:off x="3851921" y="3769323"/>
            <a:ext cx="755000" cy="824652"/>
          </a:xfrm>
          <a:prstGeom prst="rect">
            <a:avLst/>
          </a:prstGeom>
          <a:solidFill>
            <a:srgbClr val="DCE6F2">
              <a:alpha val="20000"/>
            </a:srgbClr>
          </a:solidFill>
          <a:ln w="15875"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2272E2CA-BA65-8E3F-1F87-E54C6250087B}"/>
              </a:ext>
            </a:extLst>
          </p:cNvPr>
          <p:cNvSpPr/>
          <p:nvPr/>
        </p:nvSpPr>
        <p:spPr>
          <a:xfrm>
            <a:off x="3779912" y="1393059"/>
            <a:ext cx="1219522" cy="3452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Layer</a:t>
            </a: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2A79657C-91D0-8FEE-F668-70732B4D99AF}"/>
              </a:ext>
            </a:extLst>
          </p:cNvPr>
          <p:cNvCxnSpPr>
            <a:cxnSpLocks/>
            <a:stCxn id="96" idx="0"/>
            <a:endCxn id="103" idx="2"/>
          </p:cNvCxnSpPr>
          <p:nvPr/>
        </p:nvCxnSpPr>
        <p:spPr>
          <a:xfrm flipH="1" flipV="1">
            <a:off x="4389673" y="1738305"/>
            <a:ext cx="282" cy="1720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med"/>
          </a:ln>
          <a:effectLst/>
        </p:spPr>
      </p:cxn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BCD44126-DD9A-800C-923B-5F21F523452F}"/>
              </a:ext>
            </a:extLst>
          </p:cNvPr>
          <p:cNvSpPr/>
          <p:nvPr/>
        </p:nvSpPr>
        <p:spPr>
          <a:xfrm>
            <a:off x="3995936" y="2468760"/>
            <a:ext cx="485573" cy="1096784"/>
          </a:xfrm>
          <a:prstGeom prst="roundRect">
            <a:avLst>
              <a:gd name="adj" fmla="val 13748"/>
            </a:avLst>
          </a:prstGeom>
          <a:solidFill>
            <a:srgbClr val="C0504D">
              <a:lumMod val="20000"/>
              <a:lumOff val="80000"/>
            </a:srgbClr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FFN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BC2DA835-9775-237F-F442-A539C08E8E48}"/>
              </a:ext>
            </a:extLst>
          </p:cNvPr>
          <p:cNvCxnSpPr>
            <a:cxnSpLocks/>
            <a:stCxn id="107" idx="0"/>
            <a:endCxn id="108" idx="2"/>
          </p:cNvCxnSpPr>
          <p:nvPr/>
        </p:nvCxnSpPr>
        <p:spPr>
          <a:xfrm flipH="1" flipV="1">
            <a:off x="4226493" y="4508771"/>
            <a:ext cx="3979" cy="2332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med"/>
          </a:ln>
          <a:effectLst/>
        </p:spPr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0C51483-5724-8904-56E3-04D9E4793479}"/>
              </a:ext>
            </a:extLst>
          </p:cNvPr>
          <p:cNvSpPr/>
          <p:nvPr/>
        </p:nvSpPr>
        <p:spPr>
          <a:xfrm>
            <a:off x="4032960" y="4742058"/>
            <a:ext cx="395024" cy="40766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E63934FC-2736-BF69-82C2-A2E147694901}"/>
              </a:ext>
            </a:extLst>
          </p:cNvPr>
          <p:cNvSpPr/>
          <p:nvPr/>
        </p:nvSpPr>
        <p:spPr>
          <a:xfrm>
            <a:off x="4025003" y="4069600"/>
            <a:ext cx="402980" cy="439171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QKV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Nx1536</a:t>
            </a: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1D10BEA4-5A38-10A5-DB6B-A278B501F3EF}"/>
              </a:ext>
            </a:extLst>
          </p:cNvPr>
          <p:cNvGraphicFramePr>
            <a:graphicFrameLocks noGrp="1"/>
          </p:cNvGraphicFramePr>
          <p:nvPr/>
        </p:nvGraphicFramePr>
        <p:xfrm>
          <a:off x="5652400" y="1777144"/>
          <a:ext cx="2520000" cy="261855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61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0" name="表格 109">
            <a:extLst>
              <a:ext uri="{FF2B5EF4-FFF2-40B4-BE49-F238E27FC236}">
                <a16:creationId xmlns:a16="http://schemas.microsoft.com/office/drawing/2014/main" id="{E506FB90-3E5D-A750-EC1D-59CEB9B3BAC8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3400354"/>
          <a:ext cx="1264220" cy="273655"/>
        </p:xfrm>
        <a:graphic>
          <a:graphicData uri="http://schemas.openxmlformats.org/drawingml/2006/table">
            <a:tbl>
              <a:tblPr firstRow="1" bandRow="1"/>
              <a:tblGrid>
                <a:gridCol w="252844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45648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</a:tblGrid>
              <a:tr h="2736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1" name="表格 110">
            <a:extLst>
              <a:ext uri="{FF2B5EF4-FFF2-40B4-BE49-F238E27FC236}">
                <a16:creationId xmlns:a16="http://schemas.microsoft.com/office/drawing/2014/main" id="{3068112E-C82F-5107-9927-5F7AF7C975E4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4066479"/>
          <a:ext cx="1264220" cy="276776"/>
        </p:xfrm>
        <a:graphic>
          <a:graphicData uri="http://schemas.openxmlformats.org/drawingml/2006/table">
            <a:tbl>
              <a:tblPr firstRow="1" bandRow="1"/>
              <a:tblGrid>
                <a:gridCol w="252844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4565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360038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</a:tblGrid>
              <a:tr h="2767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2" name="表格 111">
            <a:extLst>
              <a:ext uri="{FF2B5EF4-FFF2-40B4-BE49-F238E27FC236}">
                <a16:creationId xmlns:a16="http://schemas.microsoft.com/office/drawing/2014/main" id="{AF3C94D2-B79C-CB01-EF09-2C448E5D4A18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5265132"/>
          <a:ext cx="2520000" cy="302259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302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113" name="接點: 肘形 112">
            <a:extLst>
              <a:ext uri="{FF2B5EF4-FFF2-40B4-BE49-F238E27FC236}">
                <a16:creationId xmlns:a16="http://schemas.microsoft.com/office/drawing/2014/main" id="{F44C21EA-7C9A-B2E2-E953-CB8F1255D02E}"/>
              </a:ext>
            </a:extLst>
          </p:cNvPr>
          <p:cNvCxnSpPr>
            <a:cxnSpLocks/>
            <a:stCxn id="109" idx="1"/>
            <a:endCxn id="183" idx="3"/>
          </p:cNvCxnSpPr>
          <p:nvPr/>
        </p:nvCxnSpPr>
        <p:spPr>
          <a:xfrm rot="10800000" flipV="1">
            <a:off x="5148064" y="1908071"/>
            <a:ext cx="504336" cy="175749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tailEnd type="triangle" w="sm" len="med"/>
          </a:ln>
          <a:effectLst/>
        </p:spPr>
      </p:cxn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5CCC729F-4B8E-EB6D-5E39-F9339E4CABB2}"/>
              </a:ext>
            </a:extLst>
          </p:cNvPr>
          <p:cNvCxnSpPr>
            <a:cxnSpLocks/>
            <a:stCxn id="182" idx="3"/>
            <a:endCxn id="112" idx="1"/>
          </p:cNvCxnSpPr>
          <p:nvPr/>
        </p:nvCxnSpPr>
        <p:spPr>
          <a:xfrm>
            <a:off x="5148064" y="3789373"/>
            <a:ext cx="504056" cy="162688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tailEnd type="triangle" w="sm" len="med"/>
          </a:ln>
          <a:effectLst/>
        </p:spPr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E71255E8-B94D-2FD4-51BF-36477E09EDF3}"/>
              </a:ext>
            </a:extLst>
          </p:cNvPr>
          <p:cNvCxnSpPr>
            <a:cxnSpLocks/>
            <a:stCxn id="170" idx="1"/>
            <a:endCxn id="110" idx="3"/>
          </p:cNvCxnSpPr>
          <p:nvPr/>
        </p:nvCxnSpPr>
        <p:spPr>
          <a:xfrm flipH="1">
            <a:off x="8087494" y="3537181"/>
            <a:ext cx="275854" cy="0"/>
          </a:xfrm>
          <a:prstGeom prst="line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05A25850-6AD8-EC38-3FDC-25BA26D1F5D6}"/>
              </a:ext>
            </a:extLst>
          </p:cNvPr>
          <p:cNvSpPr txBox="1"/>
          <p:nvPr/>
        </p:nvSpPr>
        <p:spPr>
          <a:xfrm>
            <a:off x="5652120" y="5069655"/>
            <a:ext cx="899391" cy="2097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Gating Router</a:t>
            </a:r>
          </a:p>
        </p:txBody>
      </p: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134C712B-631C-5F96-F65E-9F87B33AEE03}"/>
              </a:ext>
            </a:extLst>
          </p:cNvPr>
          <p:cNvSpPr/>
          <p:nvPr/>
        </p:nvSpPr>
        <p:spPr>
          <a:xfrm>
            <a:off x="4755291" y="2941403"/>
            <a:ext cx="72008" cy="1093386"/>
          </a:xfrm>
          <a:prstGeom prst="roundRect">
            <a:avLst>
              <a:gd name="adj" fmla="val 13748"/>
            </a:avLst>
          </a:prstGeom>
          <a:solidFill>
            <a:srgbClr val="F79646">
              <a:lumMod val="60000"/>
              <a:lumOff val="40000"/>
              <a:alpha val="40000"/>
            </a:srgbClr>
          </a:solidFill>
          <a:ln w="15875" cap="flat" cmpd="sng" algn="ctr">
            <a:solidFill>
              <a:srgbClr val="F79646">
                <a:lumMod val="75000"/>
                <a:alpha val="6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0E695C5D-59D0-7674-0232-ADEFA631EEE7}"/>
              </a:ext>
            </a:extLst>
          </p:cNvPr>
          <p:cNvSpPr txBox="1"/>
          <p:nvPr/>
        </p:nvSpPr>
        <p:spPr>
          <a:xfrm>
            <a:off x="6823274" y="3839199"/>
            <a:ext cx="963697" cy="2645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Token Indexing</a:t>
            </a: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52C9A263-A64D-4F84-0BB9-802B0E1DD917}"/>
              </a:ext>
            </a:extLst>
          </p:cNvPr>
          <p:cNvCxnSpPr>
            <a:cxnSpLocks/>
            <a:stCxn id="107" idx="3"/>
            <a:endCxn id="120" idx="2"/>
          </p:cNvCxnSpPr>
          <p:nvPr/>
        </p:nvCxnSpPr>
        <p:spPr>
          <a:xfrm flipV="1">
            <a:off x="4427984" y="4501648"/>
            <a:ext cx="357953" cy="444241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headEnd w="sm" len="med"/>
            <a:tailEnd type="triangle" w="sm" len="med"/>
          </a:ln>
          <a:effectLst/>
        </p:spPr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A6593A86-3885-A96B-ED66-426D5C676443}"/>
              </a:ext>
            </a:extLst>
          </p:cNvPr>
          <p:cNvSpPr/>
          <p:nvPr/>
        </p:nvSpPr>
        <p:spPr>
          <a:xfrm>
            <a:off x="4644008" y="4069600"/>
            <a:ext cx="283858" cy="432048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PLE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256</a:t>
            </a: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07966F2C-FBB0-CEDD-D831-92E9DD691051}"/>
              </a:ext>
            </a:extLst>
          </p:cNvPr>
          <p:cNvSpPr/>
          <p:nvPr/>
        </p:nvSpPr>
        <p:spPr>
          <a:xfrm>
            <a:off x="8355366" y="5135343"/>
            <a:ext cx="287468" cy="302259"/>
          </a:xfrm>
          <a:prstGeom prst="roundRect">
            <a:avLst>
              <a:gd name="adj" fmla="val 13748"/>
            </a:avLst>
          </a:prstGeom>
          <a:solidFill>
            <a:srgbClr val="DCE6F2">
              <a:alpha val="40000"/>
            </a:srgb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Dxd</a:t>
            </a: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F98487F2-9DD3-67E9-0CC7-EF977CBC3353}"/>
              </a:ext>
            </a:extLst>
          </p:cNvPr>
          <p:cNvSpPr txBox="1"/>
          <p:nvPr/>
        </p:nvSpPr>
        <p:spPr>
          <a:xfrm>
            <a:off x="8172400" y="5135343"/>
            <a:ext cx="182966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cxnSp>
        <p:nvCxnSpPr>
          <p:cNvPr id="123" name="接點: 弧形 122">
            <a:extLst>
              <a:ext uri="{FF2B5EF4-FFF2-40B4-BE49-F238E27FC236}">
                <a16:creationId xmlns:a16="http://schemas.microsoft.com/office/drawing/2014/main" id="{01A89442-14ED-CDF8-4738-1F99414F5BA6}"/>
              </a:ext>
            </a:extLst>
          </p:cNvPr>
          <p:cNvCxnSpPr>
            <a:cxnSpLocks/>
            <a:stCxn id="126" idx="0"/>
            <a:endCxn id="111" idx="3"/>
          </p:cNvCxnSpPr>
          <p:nvPr/>
        </p:nvCxnSpPr>
        <p:spPr>
          <a:xfrm rot="16200000" flipV="1">
            <a:off x="8118153" y="4174208"/>
            <a:ext cx="354412" cy="415730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24" name="接點: 弧形 123">
            <a:extLst>
              <a:ext uri="{FF2B5EF4-FFF2-40B4-BE49-F238E27FC236}">
                <a16:creationId xmlns:a16="http://schemas.microsoft.com/office/drawing/2014/main" id="{9629513D-8490-5D84-E826-8749EA0D82D1}"/>
              </a:ext>
            </a:extLst>
          </p:cNvPr>
          <p:cNvCxnSpPr>
            <a:cxnSpLocks/>
            <a:stCxn id="121" idx="0"/>
            <a:endCxn id="127" idx="3"/>
          </p:cNvCxnSpPr>
          <p:nvPr/>
        </p:nvCxnSpPr>
        <p:spPr>
          <a:xfrm rot="16200000" flipV="1">
            <a:off x="8139011" y="4775254"/>
            <a:ext cx="321471" cy="398708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A01EE5B6-82E3-E46C-4DB0-424731BD2A83}"/>
              </a:ext>
            </a:extLst>
          </p:cNvPr>
          <p:cNvSpPr txBox="1"/>
          <p:nvPr/>
        </p:nvSpPr>
        <p:spPr>
          <a:xfrm>
            <a:off x="8100392" y="4559279"/>
            <a:ext cx="252367" cy="276776"/>
          </a:xfrm>
          <a:prstGeom prst="rect">
            <a:avLst/>
          </a:prstGeom>
          <a:solidFill>
            <a:sysClr val="window" lastClr="FFFFFF">
              <a:alpha val="60000"/>
            </a:sysClr>
          </a:solidFill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 Math" panose="02040503050406030204" pitchFamily="18" charset="0"/>
              </a:rPr>
              <a:t> </a:t>
            </a:r>
            <a:r>
              <a:rPr kumimoji="0" lang="az-Cyrl-AZ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E2806301-D87E-34DC-2A61-B76A364FCC97}"/>
              </a:ext>
            </a:extLst>
          </p:cNvPr>
          <p:cNvSpPr/>
          <p:nvPr/>
        </p:nvSpPr>
        <p:spPr>
          <a:xfrm>
            <a:off x="8365657" y="4559279"/>
            <a:ext cx="275134" cy="276776"/>
          </a:xfrm>
          <a:prstGeom prst="roundRect">
            <a:avLst>
              <a:gd name="adj" fmla="val 13748"/>
            </a:avLst>
          </a:prstGeom>
          <a:solidFill>
            <a:sysClr val="window" lastClr="FFFFFF">
              <a:alpha val="60000"/>
            </a:sys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σ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1xd</a:t>
            </a:r>
          </a:p>
        </p:txBody>
      </p:sp>
      <p:graphicFrame>
        <p:nvGraphicFramePr>
          <p:cNvPr id="127" name="表格 126">
            <a:extLst>
              <a:ext uri="{FF2B5EF4-FFF2-40B4-BE49-F238E27FC236}">
                <a16:creationId xmlns:a16="http://schemas.microsoft.com/office/drawing/2014/main" id="{EEEFDA73-B18B-20CE-A8E5-22B4C62FCA1E}"/>
              </a:ext>
            </a:extLst>
          </p:cNvPr>
          <p:cNvGraphicFramePr>
            <a:graphicFrameLocks noGrp="1"/>
          </p:cNvGraphicFramePr>
          <p:nvPr/>
        </p:nvGraphicFramePr>
        <p:xfrm>
          <a:off x="6836172" y="4662743"/>
          <a:ext cx="1264220" cy="302259"/>
        </p:xfrm>
        <a:graphic>
          <a:graphicData uri="http://schemas.openxmlformats.org/drawingml/2006/table">
            <a:tbl>
              <a:tblPr firstRow="1" bandRow="1"/>
              <a:tblGrid>
                <a:gridCol w="18060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9521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141685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180603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180603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361205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302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76D69252-3666-5C38-1048-1B2EB633AB16}"/>
              </a:ext>
            </a:extLst>
          </p:cNvPr>
          <p:cNvSpPr txBox="1"/>
          <p:nvPr/>
        </p:nvSpPr>
        <p:spPr>
          <a:xfrm>
            <a:off x="6836172" y="4475026"/>
            <a:ext cx="646847" cy="2033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Sigmoid</a:t>
            </a: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2359074A-1324-376A-864F-FDC2BB8833BB}"/>
              </a:ext>
            </a:extLst>
          </p:cNvPr>
          <p:cNvGrpSpPr/>
          <p:nvPr/>
        </p:nvGrpSpPr>
        <p:grpSpPr>
          <a:xfrm>
            <a:off x="282880" y="1405304"/>
            <a:ext cx="1404468" cy="4327952"/>
            <a:chOff x="282880" y="1405304"/>
            <a:chExt cx="1404468" cy="4327952"/>
          </a:xfrm>
        </p:grpSpPr>
        <p:sp>
          <p:nvSpPr>
            <p:cNvPr id="130" name="矩形: 圓角 129">
              <a:extLst>
                <a:ext uri="{FF2B5EF4-FFF2-40B4-BE49-F238E27FC236}">
                  <a16:creationId xmlns:a16="http://schemas.microsoft.com/office/drawing/2014/main" id="{B0D77519-BAAC-76FC-A101-67B2833204FF}"/>
                </a:ext>
              </a:extLst>
            </p:cNvPr>
            <p:cNvSpPr/>
            <p:nvPr/>
          </p:nvSpPr>
          <p:spPr>
            <a:xfrm>
              <a:off x="467544" y="5092506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 Layer</a:t>
              </a:r>
            </a:p>
          </p:txBody>
        </p:sp>
        <p:sp>
          <p:nvSpPr>
            <p:cNvPr id="131" name="矩形: 圓角 130">
              <a:extLst>
                <a:ext uri="{FF2B5EF4-FFF2-40B4-BE49-F238E27FC236}">
                  <a16:creationId xmlns:a16="http://schemas.microsoft.com/office/drawing/2014/main" id="{EA809C55-9B42-74DF-220A-4373FEB9EC86}"/>
                </a:ext>
              </a:extLst>
            </p:cNvPr>
            <p:cNvSpPr/>
            <p:nvPr/>
          </p:nvSpPr>
          <p:spPr>
            <a:xfrm>
              <a:off x="467826" y="1922626"/>
              <a:ext cx="1219522" cy="27950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8ED60F16-39E4-E200-C666-2E986E833561}"/>
                </a:ext>
              </a:extLst>
            </p:cNvPr>
            <p:cNvSpPr txBox="1"/>
            <p:nvPr/>
          </p:nvSpPr>
          <p:spPr>
            <a:xfrm>
              <a:off x="535220" y="2002309"/>
              <a:ext cx="1086557" cy="1635243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849B991B-17F2-3160-F75A-18D15BF3BF43}"/>
                </a:ext>
              </a:extLst>
            </p:cNvPr>
            <p:cNvSpPr txBox="1"/>
            <p:nvPr/>
          </p:nvSpPr>
          <p:spPr>
            <a:xfrm>
              <a:off x="535220" y="3781568"/>
              <a:ext cx="1086557" cy="824652"/>
            </a:xfrm>
            <a:prstGeom prst="rect">
              <a:avLst/>
            </a:prstGeom>
            <a:solidFill>
              <a:srgbClr val="4F81BD">
                <a:lumMod val="20000"/>
                <a:lumOff val="80000"/>
                <a:alpha val="2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34" name="直線單箭頭接點 133">
              <a:extLst>
                <a:ext uri="{FF2B5EF4-FFF2-40B4-BE49-F238E27FC236}">
                  <a16:creationId xmlns:a16="http://schemas.microsoft.com/office/drawing/2014/main" id="{06FAD20B-9991-FE5D-1AC0-AF35416C7862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flipH="1" flipV="1">
              <a:off x="1075281" y="4501648"/>
              <a:ext cx="2307" cy="43506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35" name="矩形: 圓角 134">
              <a:extLst>
                <a:ext uri="{FF2B5EF4-FFF2-40B4-BE49-F238E27FC236}">
                  <a16:creationId xmlns:a16="http://schemas.microsoft.com/office/drawing/2014/main" id="{04B75E62-FB2C-C49C-F218-422459528B16}"/>
                </a:ext>
              </a:extLst>
            </p:cNvPr>
            <p:cNvSpPr/>
            <p:nvPr/>
          </p:nvSpPr>
          <p:spPr>
            <a:xfrm>
              <a:off x="467544" y="1405304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Next Layer</a:t>
              </a:r>
            </a:p>
          </p:txBody>
        </p:sp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542EC696-F67F-EA05-8E5F-87C8FF23305E}"/>
                </a:ext>
              </a:extLst>
            </p:cNvPr>
            <p:cNvCxnSpPr>
              <a:cxnSpLocks/>
              <a:stCxn id="131" idx="0"/>
              <a:endCxn id="135" idx="2"/>
            </p:cNvCxnSpPr>
            <p:nvPr/>
          </p:nvCxnSpPr>
          <p:spPr>
            <a:xfrm flipH="1" flipV="1">
              <a:off x="1077305" y="1750550"/>
              <a:ext cx="282" cy="17207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DA10AF2A-3A16-FAD8-60AD-8D9169D6BC2B}"/>
                </a:ext>
              </a:extLst>
            </p:cNvPr>
            <p:cNvSpPr/>
            <p:nvPr/>
          </p:nvSpPr>
          <p:spPr>
            <a:xfrm>
              <a:off x="607229" y="4756564"/>
              <a:ext cx="933795" cy="39315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BACC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38" name="矩形: 圓角 137">
              <a:extLst>
                <a:ext uri="{FF2B5EF4-FFF2-40B4-BE49-F238E27FC236}">
                  <a16:creationId xmlns:a16="http://schemas.microsoft.com/office/drawing/2014/main" id="{C00EBA31-A449-2595-8BC8-967579165339}"/>
                </a:ext>
              </a:extLst>
            </p:cNvPr>
            <p:cNvSpPr/>
            <p:nvPr/>
          </p:nvSpPr>
          <p:spPr>
            <a:xfrm>
              <a:off x="607229" y="4069600"/>
              <a:ext cx="936104" cy="432048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QKV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 x 8192</a:t>
              </a:r>
            </a:p>
          </p:txBody>
        </p:sp>
        <p:sp>
          <p:nvSpPr>
            <p:cNvPr id="139" name="矩形: 圓角 138">
              <a:extLst>
                <a:ext uri="{FF2B5EF4-FFF2-40B4-BE49-F238E27FC236}">
                  <a16:creationId xmlns:a16="http://schemas.microsoft.com/office/drawing/2014/main" id="{2DFE2258-D2F2-D870-217E-3627E1DE9B65}"/>
                </a:ext>
              </a:extLst>
            </p:cNvPr>
            <p:cNvSpPr/>
            <p:nvPr/>
          </p:nvSpPr>
          <p:spPr>
            <a:xfrm>
              <a:off x="607229" y="2472158"/>
              <a:ext cx="936104" cy="1093386"/>
            </a:xfrm>
            <a:prstGeom prst="roundRect">
              <a:avLst>
                <a:gd name="adj" fmla="val 8860"/>
              </a:avLst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FFN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EE1CF71-9E08-69CB-E1EC-C8B1A646E504}"/>
                </a:ext>
              </a:extLst>
            </p:cNvPr>
            <p:cNvSpPr/>
            <p:nvPr/>
          </p:nvSpPr>
          <p:spPr>
            <a:xfrm>
              <a:off x="282880" y="5308701"/>
              <a:ext cx="362588" cy="424555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38100" cap="flat" cmpd="sng" algn="ctr">
              <a:solidFill>
                <a:srgbClr val="EEECE1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VC</a:t>
              </a:r>
              <a:endParaRPr kumimoji="0" lang="en-US" altLang="zh-TW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EE41BCC0-F36B-71D8-FB8C-286AFA0D30D0}"/>
              </a:ext>
            </a:extLst>
          </p:cNvPr>
          <p:cNvGrpSpPr/>
          <p:nvPr/>
        </p:nvGrpSpPr>
        <p:grpSpPr>
          <a:xfrm>
            <a:off x="1939064" y="1405304"/>
            <a:ext cx="1404186" cy="4327952"/>
            <a:chOff x="1939064" y="1405304"/>
            <a:chExt cx="1404186" cy="4327952"/>
          </a:xfrm>
        </p:grpSpPr>
        <p:sp>
          <p:nvSpPr>
            <p:cNvPr id="142" name="矩形: 圓角 141">
              <a:extLst>
                <a:ext uri="{FF2B5EF4-FFF2-40B4-BE49-F238E27FC236}">
                  <a16:creationId xmlns:a16="http://schemas.microsoft.com/office/drawing/2014/main" id="{24FA82B5-B4C3-A58A-9D71-017C4DC6CC59}"/>
                </a:ext>
              </a:extLst>
            </p:cNvPr>
            <p:cNvSpPr/>
            <p:nvPr/>
          </p:nvSpPr>
          <p:spPr>
            <a:xfrm>
              <a:off x="2123728" y="5092506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 Layer</a:t>
              </a:r>
            </a:p>
          </p:txBody>
        </p:sp>
        <p:sp>
          <p:nvSpPr>
            <p:cNvPr id="143" name="矩形: 圓角 142">
              <a:extLst>
                <a:ext uri="{FF2B5EF4-FFF2-40B4-BE49-F238E27FC236}">
                  <a16:creationId xmlns:a16="http://schemas.microsoft.com/office/drawing/2014/main" id="{AF32BC41-5FF6-3C59-87E9-4C4ED5AF6B1B}"/>
                </a:ext>
              </a:extLst>
            </p:cNvPr>
            <p:cNvSpPr/>
            <p:nvPr/>
          </p:nvSpPr>
          <p:spPr>
            <a:xfrm>
              <a:off x="2123728" y="1922626"/>
              <a:ext cx="1219522" cy="27950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223472FE-43C4-F496-4EAC-1FD8E6550A1A}"/>
                </a:ext>
              </a:extLst>
            </p:cNvPr>
            <p:cNvSpPr txBox="1"/>
            <p:nvPr/>
          </p:nvSpPr>
          <p:spPr>
            <a:xfrm>
              <a:off x="2200023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6A79CFAC-A36F-C61F-F1FA-B8EB3B57A454}"/>
                </a:ext>
              </a:extLst>
            </p:cNvPr>
            <p:cNvSpPr txBox="1"/>
            <p:nvPr/>
          </p:nvSpPr>
          <p:spPr>
            <a:xfrm>
              <a:off x="2195735" y="3781568"/>
              <a:ext cx="1086557" cy="824652"/>
            </a:xfrm>
            <a:prstGeom prst="rect">
              <a:avLst/>
            </a:prstGeom>
            <a:solidFill>
              <a:srgbClr val="DCE6F2">
                <a:alpha val="2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46" name="直線單箭頭接點 145">
              <a:extLst>
                <a:ext uri="{FF2B5EF4-FFF2-40B4-BE49-F238E27FC236}">
                  <a16:creationId xmlns:a16="http://schemas.microsoft.com/office/drawing/2014/main" id="{0D2C8376-8510-AD63-2C06-33CA4476ECAE}"/>
                </a:ext>
              </a:extLst>
            </p:cNvPr>
            <p:cNvCxnSpPr>
              <a:cxnSpLocks/>
              <a:stCxn id="164" idx="0"/>
              <a:endCxn id="165" idx="2"/>
            </p:cNvCxnSpPr>
            <p:nvPr/>
          </p:nvCxnSpPr>
          <p:spPr>
            <a:xfrm flipH="1" flipV="1">
              <a:off x="2726271" y="4501648"/>
              <a:ext cx="2070" cy="25505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47" name="矩形: 圓角 146">
              <a:extLst>
                <a:ext uri="{FF2B5EF4-FFF2-40B4-BE49-F238E27FC236}">
                  <a16:creationId xmlns:a16="http://schemas.microsoft.com/office/drawing/2014/main" id="{26945954-77F0-B535-A995-547F2130433D}"/>
                </a:ext>
              </a:extLst>
            </p:cNvPr>
            <p:cNvSpPr/>
            <p:nvPr/>
          </p:nvSpPr>
          <p:spPr>
            <a:xfrm>
              <a:off x="2123728" y="1405304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Next Layer</a:t>
              </a:r>
            </a:p>
          </p:txBody>
        </p:sp>
        <p:cxnSp>
          <p:nvCxnSpPr>
            <p:cNvPr id="148" name="直線單箭頭接點 147">
              <a:extLst>
                <a:ext uri="{FF2B5EF4-FFF2-40B4-BE49-F238E27FC236}">
                  <a16:creationId xmlns:a16="http://schemas.microsoft.com/office/drawing/2014/main" id="{CEC2E708-697D-D147-C7A5-35B0CC8AC35C}"/>
                </a:ext>
              </a:extLst>
            </p:cNvPr>
            <p:cNvCxnSpPr>
              <a:cxnSpLocks/>
              <a:stCxn id="143" idx="0"/>
              <a:endCxn id="147" idx="2"/>
            </p:cNvCxnSpPr>
            <p:nvPr/>
          </p:nvCxnSpPr>
          <p:spPr>
            <a:xfrm flipV="1">
              <a:off x="2733489" y="1750550"/>
              <a:ext cx="0" cy="17207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30D4ED06-60CD-4A5F-5346-A1A7866B45D2}"/>
                </a:ext>
              </a:extLst>
            </p:cNvPr>
            <p:cNvSpPr txBox="1"/>
            <p:nvPr/>
          </p:nvSpPr>
          <p:spPr>
            <a:xfrm>
              <a:off x="2488055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F14D7D8A-2FAA-206B-431A-2EDB3FAB88D4}"/>
                </a:ext>
              </a:extLst>
            </p:cNvPr>
            <p:cNvSpPr txBox="1"/>
            <p:nvPr/>
          </p:nvSpPr>
          <p:spPr>
            <a:xfrm>
              <a:off x="2787962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AF6636F2-B02F-1C12-3448-63D3CE9F8026}"/>
                </a:ext>
              </a:extLst>
            </p:cNvPr>
            <p:cNvSpPr txBox="1"/>
            <p:nvPr/>
          </p:nvSpPr>
          <p:spPr>
            <a:xfrm>
              <a:off x="3074595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2" name="文字方塊 151">
              <a:extLst>
                <a:ext uri="{FF2B5EF4-FFF2-40B4-BE49-F238E27FC236}">
                  <a16:creationId xmlns:a16="http://schemas.microsoft.com/office/drawing/2014/main" id="{172F8CC6-B31B-699A-03DE-210C830518A0}"/>
                </a:ext>
              </a:extLst>
            </p:cNvPr>
            <p:cNvSpPr txBox="1"/>
            <p:nvPr/>
          </p:nvSpPr>
          <p:spPr>
            <a:xfrm>
              <a:off x="2195736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51FEFD1D-7FD2-5783-444B-CEF5CBE5A13E}"/>
                </a:ext>
              </a:extLst>
            </p:cNvPr>
            <p:cNvSpPr txBox="1"/>
            <p:nvPr/>
          </p:nvSpPr>
          <p:spPr>
            <a:xfrm>
              <a:off x="2483768" y="2350933"/>
              <a:ext cx="201168" cy="20116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1784B2CE-F27F-23B4-633D-5A14DF2A8506}"/>
                </a:ext>
              </a:extLst>
            </p:cNvPr>
            <p:cNvSpPr txBox="1"/>
            <p:nvPr/>
          </p:nvSpPr>
          <p:spPr>
            <a:xfrm>
              <a:off x="2783675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4E6D00E0-A4F5-7E10-9342-B5E9859DAF56}"/>
                </a:ext>
              </a:extLst>
            </p:cNvPr>
            <p:cNvSpPr txBox="1"/>
            <p:nvPr/>
          </p:nvSpPr>
          <p:spPr>
            <a:xfrm>
              <a:off x="3074595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8896C021-D96B-F162-4DAB-04C1AD2BF222}"/>
                </a:ext>
              </a:extLst>
            </p:cNvPr>
            <p:cNvSpPr txBox="1"/>
            <p:nvPr/>
          </p:nvSpPr>
          <p:spPr>
            <a:xfrm>
              <a:off x="2199071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C4838F9-7FCF-E2BD-07DC-91D5A7DCC0D9}"/>
                </a:ext>
              </a:extLst>
            </p:cNvPr>
            <p:cNvSpPr txBox="1"/>
            <p:nvPr/>
          </p:nvSpPr>
          <p:spPr>
            <a:xfrm>
              <a:off x="2487103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377721B1-5552-69AB-9386-45EBEF19A5D4}"/>
                </a:ext>
              </a:extLst>
            </p:cNvPr>
            <p:cNvSpPr txBox="1"/>
            <p:nvPr/>
          </p:nvSpPr>
          <p:spPr>
            <a:xfrm>
              <a:off x="2787010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1EFC419D-DE81-8A8E-0064-3FF44C741D37}"/>
                </a:ext>
              </a:extLst>
            </p:cNvPr>
            <p:cNvSpPr txBox="1"/>
            <p:nvPr/>
          </p:nvSpPr>
          <p:spPr>
            <a:xfrm>
              <a:off x="3073643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8D9C794B-7AEA-9D98-68FF-DB9D66048BA3}"/>
                </a:ext>
              </a:extLst>
            </p:cNvPr>
            <p:cNvSpPr txBox="1"/>
            <p:nvPr/>
          </p:nvSpPr>
          <p:spPr>
            <a:xfrm>
              <a:off x="2194784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7BB06814-2BBC-922C-8279-537DC9FDEAE4}"/>
                </a:ext>
              </a:extLst>
            </p:cNvPr>
            <p:cNvSpPr txBox="1"/>
            <p:nvPr/>
          </p:nvSpPr>
          <p:spPr>
            <a:xfrm>
              <a:off x="2482816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BA055714-2D63-67B0-7F42-CE249E0143E0}"/>
                </a:ext>
              </a:extLst>
            </p:cNvPr>
            <p:cNvSpPr txBox="1"/>
            <p:nvPr/>
          </p:nvSpPr>
          <p:spPr>
            <a:xfrm>
              <a:off x="2782723" y="2917472"/>
              <a:ext cx="201168" cy="20116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7CE35D8-8F76-F781-B0D9-D9625AD3B112}"/>
                </a:ext>
              </a:extLst>
            </p:cNvPr>
            <p:cNvSpPr txBox="1"/>
            <p:nvPr/>
          </p:nvSpPr>
          <p:spPr>
            <a:xfrm>
              <a:off x="3073643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5B73967-365B-C8BA-7F53-AF2350DE32A3}"/>
                </a:ext>
              </a:extLst>
            </p:cNvPr>
            <p:cNvSpPr/>
            <p:nvPr/>
          </p:nvSpPr>
          <p:spPr>
            <a:xfrm>
              <a:off x="2476313" y="4756705"/>
              <a:ext cx="504056" cy="39301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BACC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65" name="矩形: 圓角 164">
              <a:extLst>
                <a:ext uri="{FF2B5EF4-FFF2-40B4-BE49-F238E27FC236}">
                  <a16:creationId xmlns:a16="http://schemas.microsoft.com/office/drawing/2014/main" id="{DE24F183-C1A8-9DCB-0E5B-3B5A57C0A136}"/>
                </a:ext>
              </a:extLst>
            </p:cNvPr>
            <p:cNvSpPr/>
            <p:nvPr/>
          </p:nvSpPr>
          <p:spPr>
            <a:xfrm>
              <a:off x="2474243" y="4069600"/>
              <a:ext cx="504056" cy="432048"/>
            </a:xfrm>
            <a:prstGeom prst="roundRec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QKV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 x 2048</a:t>
              </a:r>
            </a:p>
          </p:txBody>
        </p:sp>
        <p:sp>
          <p:nvSpPr>
            <p:cNvPr id="166" name="矩形: 圓角 165">
              <a:extLst>
                <a:ext uri="{FF2B5EF4-FFF2-40B4-BE49-F238E27FC236}">
                  <a16:creationId xmlns:a16="http://schemas.microsoft.com/office/drawing/2014/main" id="{58E48186-DA05-89AD-CAA4-E5E0C43FCE50}"/>
                </a:ext>
              </a:extLst>
            </p:cNvPr>
            <p:cNvSpPr/>
            <p:nvPr/>
          </p:nvSpPr>
          <p:spPr>
            <a:xfrm>
              <a:off x="2467914" y="3224554"/>
              <a:ext cx="516929" cy="436010"/>
            </a:xfrm>
            <a:prstGeom prst="roundRect">
              <a:avLst>
                <a:gd name="adj" fmla="val 8860"/>
              </a:avLst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MoE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Router</a:t>
              </a: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F1BC2A8A-A397-2854-F292-C586B3E203C2}"/>
                </a:ext>
              </a:extLst>
            </p:cNvPr>
            <p:cNvSpPr/>
            <p:nvPr/>
          </p:nvSpPr>
          <p:spPr>
            <a:xfrm>
              <a:off x="1939064" y="5308701"/>
              <a:ext cx="362588" cy="424555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38100" cap="flat" cmpd="sng" algn="ctr">
              <a:solidFill>
                <a:srgbClr val="EEECE1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VC</a:t>
              </a:r>
              <a:endParaRPr kumimoji="0" lang="en-US" altLang="zh-TW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sp>
        <p:nvSpPr>
          <p:cNvPr id="168" name="矩形 167">
            <a:extLst>
              <a:ext uri="{FF2B5EF4-FFF2-40B4-BE49-F238E27FC236}">
                <a16:creationId xmlns:a16="http://schemas.microsoft.com/office/drawing/2014/main" id="{DC506CC4-A67A-AB6C-1740-DE0FF394FBF1}"/>
              </a:ext>
            </a:extLst>
          </p:cNvPr>
          <p:cNvSpPr/>
          <p:nvPr/>
        </p:nvSpPr>
        <p:spPr>
          <a:xfrm>
            <a:off x="3595248" y="5300108"/>
            <a:ext cx="362588" cy="42455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  <a:endParaRPr kumimoji="0" lang="en-US" altLang="zh-TW" sz="16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65C16270-BDD8-8BE1-E40D-EDFB2BB072BB}"/>
              </a:ext>
            </a:extLst>
          </p:cNvPr>
          <p:cNvSpPr/>
          <p:nvPr/>
        </p:nvSpPr>
        <p:spPr>
          <a:xfrm>
            <a:off x="4870424" y="2942439"/>
            <a:ext cx="104230" cy="479089"/>
          </a:xfrm>
          <a:prstGeom prst="rect">
            <a:avLst/>
          </a:prstGeom>
          <a:solidFill>
            <a:srgbClr val="EEECE1">
              <a:lumMod val="90000"/>
            </a:srgbClr>
          </a:solidFill>
          <a:ln w="1905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  <a:endParaRPr kumimoji="0" lang="en-US" altLang="zh-TW" sz="10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0" name="矩形: 圓角 169">
            <a:extLst>
              <a:ext uri="{FF2B5EF4-FFF2-40B4-BE49-F238E27FC236}">
                <a16:creationId xmlns:a16="http://schemas.microsoft.com/office/drawing/2014/main" id="{48ED1D24-A405-7347-BF78-D349628D7C60}"/>
              </a:ext>
            </a:extLst>
          </p:cNvPr>
          <p:cNvSpPr/>
          <p:nvPr/>
        </p:nvSpPr>
        <p:spPr>
          <a:xfrm>
            <a:off x="8363348" y="3501266"/>
            <a:ext cx="257333" cy="71829"/>
          </a:xfrm>
          <a:prstGeom prst="roundRect">
            <a:avLst>
              <a:gd name="adj" fmla="val 13748"/>
            </a:avLst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71" name="接點: 肘形 170">
            <a:extLst>
              <a:ext uri="{FF2B5EF4-FFF2-40B4-BE49-F238E27FC236}">
                <a16:creationId xmlns:a16="http://schemas.microsoft.com/office/drawing/2014/main" id="{8CE98D04-1046-31E3-ADE5-6E8445636F7D}"/>
              </a:ext>
            </a:extLst>
          </p:cNvPr>
          <p:cNvCxnSpPr>
            <a:cxnSpLocks/>
            <a:stCxn id="118" idx="3"/>
            <a:endCxn id="170" idx="2"/>
          </p:cNvCxnSpPr>
          <p:nvPr/>
        </p:nvCxnSpPr>
        <p:spPr>
          <a:xfrm flipV="1">
            <a:off x="7786971" y="3573095"/>
            <a:ext cx="705044" cy="398354"/>
          </a:xfrm>
          <a:prstGeom prst="bentConnector2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D1B418B4-843B-B5AA-FC44-6E446A2F261A}"/>
              </a:ext>
            </a:extLst>
          </p:cNvPr>
          <p:cNvSpPr txBox="1"/>
          <p:nvPr/>
        </p:nvSpPr>
        <p:spPr>
          <a:xfrm>
            <a:off x="6823274" y="3191127"/>
            <a:ext cx="1135886" cy="20922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Layer</a:t>
            </a:r>
            <a:r>
              <a:rPr lang="zh-TW" altLang="en-US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Embedding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3E1840C3-923E-24E0-9611-6148E24DA9B4}"/>
              </a:ext>
            </a:extLst>
          </p:cNvPr>
          <p:cNvSpPr/>
          <p:nvPr/>
        </p:nvSpPr>
        <p:spPr>
          <a:xfrm>
            <a:off x="7365587" y="2787416"/>
            <a:ext cx="287468" cy="302259"/>
          </a:xfrm>
          <a:prstGeom prst="roundRect">
            <a:avLst>
              <a:gd name="adj" fmla="val 13748"/>
            </a:avLst>
          </a:prstGeom>
          <a:solidFill>
            <a:srgbClr val="DCE6F2">
              <a:alpha val="40000"/>
            </a:srgb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U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dxD</a:t>
            </a:r>
          </a:p>
        </p:txBody>
      </p:sp>
      <p:graphicFrame>
        <p:nvGraphicFramePr>
          <p:cNvPr id="174" name="表格 173">
            <a:extLst>
              <a:ext uri="{FF2B5EF4-FFF2-40B4-BE49-F238E27FC236}">
                <a16:creationId xmlns:a16="http://schemas.microsoft.com/office/drawing/2014/main" id="{0D83C3E2-111D-E567-9CD7-751ACFC78389}"/>
              </a:ext>
            </a:extLst>
          </p:cNvPr>
          <p:cNvGraphicFramePr>
            <a:graphicFrameLocks noGrp="1"/>
          </p:cNvGraphicFramePr>
          <p:nvPr/>
        </p:nvGraphicFramePr>
        <p:xfrm>
          <a:off x="5652400" y="2209192"/>
          <a:ext cx="2520000" cy="261855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61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a2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75" name="表格 174">
            <a:extLst>
              <a:ext uri="{FF2B5EF4-FFF2-40B4-BE49-F238E27FC236}">
                <a16:creationId xmlns:a16="http://schemas.microsoft.com/office/drawing/2014/main" id="{5C6C08D9-2A73-26A0-66A5-9ABEC758716B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2787342"/>
          <a:ext cx="375653" cy="293524"/>
        </p:xfrm>
        <a:graphic>
          <a:graphicData uri="http://schemas.openxmlformats.org/drawingml/2006/table">
            <a:tbl>
              <a:tblPr firstRow="1" bandRow="1"/>
              <a:tblGrid>
                <a:gridCol w="37565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935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1xd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81EDF36A-109F-DB0F-2410-4A237C1A937E}"/>
              </a:ext>
            </a:extLst>
          </p:cNvPr>
          <p:cNvSpPr txBox="1"/>
          <p:nvPr/>
        </p:nvSpPr>
        <p:spPr>
          <a:xfrm>
            <a:off x="7211082" y="2831087"/>
            <a:ext cx="131861" cy="19951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956903B1-A952-557C-9364-A8FB98519FF7}"/>
              </a:ext>
            </a:extLst>
          </p:cNvPr>
          <p:cNvSpPr txBox="1"/>
          <p:nvPr/>
        </p:nvSpPr>
        <p:spPr>
          <a:xfrm>
            <a:off x="7936010" y="3839925"/>
            <a:ext cx="313421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az-Cyrl-AZ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6F8CBED7-11A2-1552-90FC-1FA1C593FCE9}"/>
              </a:ext>
            </a:extLst>
          </p:cNvPr>
          <p:cNvSpPr txBox="1"/>
          <p:nvPr/>
        </p:nvSpPr>
        <p:spPr>
          <a:xfrm>
            <a:off x="6588779" y="1981367"/>
            <a:ext cx="313421" cy="27365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9" name="文字方塊 178">
            <a:extLst>
              <a:ext uri="{FF2B5EF4-FFF2-40B4-BE49-F238E27FC236}">
                <a16:creationId xmlns:a16="http://schemas.microsoft.com/office/drawing/2014/main" id="{B04FD678-7869-1D74-9724-6B358190CD3A}"/>
              </a:ext>
            </a:extLst>
          </p:cNvPr>
          <p:cNvSpPr txBox="1"/>
          <p:nvPr/>
        </p:nvSpPr>
        <p:spPr>
          <a:xfrm>
            <a:off x="5652120" y="1549320"/>
            <a:ext cx="1321377" cy="27365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Residual Connection</a:t>
            </a:r>
          </a:p>
        </p:txBody>
      </p:sp>
      <p:cxnSp>
        <p:nvCxnSpPr>
          <p:cNvPr id="180" name="接點: 弧形 179">
            <a:extLst>
              <a:ext uri="{FF2B5EF4-FFF2-40B4-BE49-F238E27FC236}">
                <a16:creationId xmlns:a16="http://schemas.microsoft.com/office/drawing/2014/main" id="{EAD303A9-D91E-BFF5-CA3B-A1B3274EE629}"/>
              </a:ext>
            </a:extLst>
          </p:cNvPr>
          <p:cNvCxnSpPr>
            <a:cxnSpLocks/>
            <a:stCxn id="173" idx="3"/>
            <a:endCxn id="174" idx="3"/>
          </p:cNvCxnSpPr>
          <p:nvPr/>
        </p:nvCxnSpPr>
        <p:spPr>
          <a:xfrm flipV="1">
            <a:off x="7653055" y="2340119"/>
            <a:ext cx="519345" cy="598427"/>
          </a:xfrm>
          <a:prstGeom prst="curvedConnector3">
            <a:avLst>
              <a:gd name="adj1" fmla="val 14401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0E07ACD0-C439-D24C-53A0-CA9E12BCE464}"/>
              </a:ext>
            </a:extLst>
          </p:cNvPr>
          <p:cNvGrpSpPr/>
          <p:nvPr/>
        </p:nvGrpSpPr>
        <p:grpSpPr>
          <a:xfrm>
            <a:off x="4648622" y="3605968"/>
            <a:ext cx="499442" cy="247608"/>
            <a:chOff x="4648622" y="3181392"/>
            <a:chExt cx="499442" cy="247608"/>
          </a:xfrm>
        </p:grpSpPr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C61A6734-3C7A-4409-4B30-DAE067E9AF81}"/>
                </a:ext>
              </a:extLst>
            </p:cNvPr>
            <p:cNvSpPr/>
            <p:nvPr/>
          </p:nvSpPr>
          <p:spPr>
            <a:xfrm>
              <a:off x="4788024" y="3300594"/>
              <a:ext cx="360040" cy="128406"/>
            </a:xfrm>
            <a:prstGeom prst="rect">
              <a:avLst/>
            </a:prstGeom>
            <a:noFill/>
            <a:ln w="3175" cap="flat" cmpd="sng" algn="ctr">
              <a:noFill/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B846A2F7-4C35-37E8-70C1-C1287B1DC488}"/>
                </a:ext>
              </a:extLst>
            </p:cNvPr>
            <p:cNvSpPr/>
            <p:nvPr/>
          </p:nvSpPr>
          <p:spPr>
            <a:xfrm>
              <a:off x="4789926" y="3181392"/>
              <a:ext cx="358138" cy="119202"/>
            </a:xfrm>
            <a:prstGeom prst="rect">
              <a:avLst/>
            </a:prstGeom>
            <a:noFill/>
            <a:ln w="3175" cap="flat" cmpd="sng" algn="ctr">
              <a:noFill/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BD12A824-1D2C-40DD-8B69-0F38D214D6AF}"/>
                </a:ext>
              </a:extLst>
            </p:cNvPr>
            <p:cNvSpPr/>
            <p:nvPr/>
          </p:nvSpPr>
          <p:spPr>
            <a:xfrm>
              <a:off x="4648622" y="3240992"/>
              <a:ext cx="427434" cy="123805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token</a:t>
              </a:r>
            </a:p>
          </p:txBody>
        </p:sp>
      </p:grpSp>
      <p:sp>
        <p:nvSpPr>
          <p:cNvPr id="185" name="右大括弧 184">
            <a:extLst>
              <a:ext uri="{FF2B5EF4-FFF2-40B4-BE49-F238E27FC236}">
                <a16:creationId xmlns:a16="http://schemas.microsoft.com/office/drawing/2014/main" id="{E2AF49FC-7536-194B-F038-5C74C9F32CA3}"/>
              </a:ext>
            </a:extLst>
          </p:cNvPr>
          <p:cNvSpPr/>
          <p:nvPr/>
        </p:nvSpPr>
        <p:spPr>
          <a:xfrm rot="5400000">
            <a:off x="6865727" y="4375632"/>
            <a:ext cx="92783" cy="2519999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4711D944-2F5A-539F-BD25-C24E9153A577}"/>
              </a:ext>
            </a:extLst>
          </p:cNvPr>
          <p:cNvSpPr txBox="1"/>
          <p:nvPr/>
        </p:nvSpPr>
        <p:spPr>
          <a:xfrm>
            <a:off x="6712434" y="5620158"/>
            <a:ext cx="247476" cy="22619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FADAD3-37EA-BFFD-5063-4673734240BF}"/>
              </a:ext>
            </a:extLst>
          </p:cNvPr>
          <p:cNvSpPr txBox="1"/>
          <p:nvPr/>
        </p:nvSpPr>
        <p:spPr>
          <a:xfrm>
            <a:off x="5171351" y="3935851"/>
            <a:ext cx="1085244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TW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en-US" altLang="zh-TW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zh-TW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 extracts its dedicated</a:t>
            </a:r>
            <a:endParaRPr lang="en-US" altLang="zh-TW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256-dimensional feature slice</a:t>
            </a:r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325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BE0F8E-A83C-564B-6229-1B3C611B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EE60D59-8FA6-0C41-28FF-D5DE1A6A8A60}"/>
              </a:ext>
            </a:extLst>
          </p:cNvPr>
          <p:cNvSpPr txBox="1"/>
          <p:nvPr/>
        </p:nvSpPr>
        <p:spPr>
          <a:xfrm>
            <a:off x="2588775" y="4813260"/>
            <a:ext cx="3245348" cy="1329514"/>
          </a:xfrm>
          <a:prstGeom prst="rect">
            <a:avLst/>
          </a:prstGeom>
          <a:solidFill>
            <a:srgbClr val="9BBB59">
              <a:lumMod val="20000"/>
              <a:lumOff val="80000"/>
              <a:alpha val="20000"/>
            </a:srgbClr>
          </a:solidFill>
          <a:ln w="25400">
            <a:solidFill>
              <a:srgbClr val="9BBB59">
                <a:lumMod val="60000"/>
                <a:lumOff val="40000"/>
              </a:srgbClr>
            </a:solidFill>
            <a:prstDash val="sysDash"/>
          </a:ln>
        </p:spPr>
        <p:txBody>
          <a:bodyPr wrap="none" lIns="0" tIns="91440" rIns="91440" bIns="0" anchor="t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Agentic</a:t>
            </a:r>
          </a:p>
          <a:p>
            <a:pPr marL="0" marR="0" lvl="0" indent="0" algn="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RAG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3EDE9AC-8296-634E-FB21-C0773FD1F72A}"/>
              </a:ext>
            </a:extLst>
          </p:cNvPr>
          <p:cNvSpPr txBox="1"/>
          <p:nvPr/>
        </p:nvSpPr>
        <p:spPr>
          <a:xfrm>
            <a:off x="2953738" y="4493143"/>
            <a:ext cx="1497523" cy="495268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(Router)</a:t>
            </a: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C1CA3931-C2E6-8E19-F8C2-E69AB3678CD2}"/>
              </a:ext>
            </a:extLst>
          </p:cNvPr>
          <p:cNvCxnSpPr>
            <a:cxnSpLocks/>
            <a:stCxn id="66" idx="2"/>
            <a:endCxn id="74" idx="2"/>
          </p:cNvCxnSpPr>
          <p:nvPr/>
        </p:nvCxnSpPr>
        <p:spPr>
          <a:xfrm rot="5400000" flipH="1" flipV="1">
            <a:off x="3364719" y="3839980"/>
            <a:ext cx="882008" cy="168240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54" name="標題 1">
            <a:extLst>
              <a:ext uri="{FF2B5EF4-FFF2-40B4-BE49-F238E27FC236}">
                <a16:creationId xmlns:a16="http://schemas.microsoft.com/office/drawing/2014/main" id="{77FCC14A-EB1D-95BE-B4C6-4E2635EF223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12968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Runtime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RAG boosts agent accuracy but adds latency; parallel frameworks like ReWOO restore speed.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175582E8-DB9B-D330-9603-9EE01F766D11}"/>
              </a:ext>
            </a:extLst>
          </p:cNvPr>
          <p:cNvGraphicFramePr>
            <a:graphicFrameLocks noGrp="1"/>
          </p:cNvGraphicFramePr>
          <p:nvPr/>
        </p:nvGraphicFramePr>
        <p:xfrm>
          <a:off x="1124810" y="3345031"/>
          <a:ext cx="1070926" cy="1316035"/>
        </p:xfrm>
        <a:graphic>
          <a:graphicData uri="http://schemas.openxmlformats.org/drawingml/2006/table">
            <a:tbl>
              <a:tblPr firstRow="1" bandRow="1"/>
              <a:tblGrid>
                <a:gridCol w="10709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567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Workflow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 Processing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Router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Tool Calling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Output Parsing</a:t>
                      </a: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1F70A339-60EC-E56D-E217-19C276BC1827}"/>
              </a:ext>
            </a:extLst>
          </p:cNvPr>
          <p:cNvSpPr txBox="1"/>
          <p:nvPr/>
        </p:nvSpPr>
        <p:spPr>
          <a:xfrm>
            <a:off x="2601922" y="2035739"/>
            <a:ext cx="3232202" cy="893822"/>
          </a:xfrm>
          <a:prstGeom prst="rect">
            <a:avLst/>
          </a:prstGeom>
          <a:solidFill>
            <a:srgbClr val="4F81B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LLM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Reasoning</a:t>
            </a: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B9C221AC-F084-9948-77D1-2DDB5B950DED}"/>
              </a:ext>
            </a:extLst>
          </p:cNvPr>
          <p:cNvSpPr txBox="1">
            <a:spLocks/>
          </p:cNvSpPr>
          <p:nvPr/>
        </p:nvSpPr>
        <p:spPr>
          <a:xfrm>
            <a:off x="3478324" y="1273175"/>
            <a:ext cx="1479398" cy="433217"/>
          </a:xfrm>
          <a:prstGeom prst="rect">
            <a:avLst/>
          </a:prstGeom>
        </p:spPr>
        <p:txBody>
          <a:bodyPr wrap="none" lIns="9144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Runtime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(Goal: Smarter AI Agent)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058DAA51-0822-FE27-C7BB-515F27951C9D}"/>
              </a:ext>
            </a:extLst>
          </p:cNvPr>
          <p:cNvGrpSpPr/>
          <p:nvPr/>
        </p:nvGrpSpPr>
        <p:grpSpPr>
          <a:xfrm>
            <a:off x="611560" y="1273176"/>
            <a:ext cx="1219522" cy="1756213"/>
            <a:chOff x="1331640" y="2203695"/>
            <a:chExt cx="1219522" cy="1756213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CB89C7A5-FA8D-8399-CADF-A539BF5351ED}"/>
                </a:ext>
              </a:extLst>
            </p:cNvPr>
            <p:cNvSpPr txBox="1"/>
            <p:nvPr/>
          </p:nvSpPr>
          <p:spPr>
            <a:xfrm>
              <a:off x="1331640" y="2867302"/>
              <a:ext cx="1219522" cy="1092606"/>
            </a:xfrm>
            <a:prstGeom prst="rect">
              <a:avLst/>
            </a:prstGeom>
            <a:solidFill>
              <a:srgbClr val="C0504D">
                <a:lumMod val="20000"/>
                <a:lumOff val="80000"/>
                <a:alpha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72000" rIns="0" bIns="36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/>
                </a:rPr>
                <a:t>Pre-Training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/>
                </a:rPr>
                <a:t>&amp; SFT</a:t>
              </a:r>
            </a:p>
          </p:txBody>
        </p:sp>
        <p:sp>
          <p:nvSpPr>
            <p:cNvPr id="60" name="標題 1">
              <a:extLst>
                <a:ext uri="{FF2B5EF4-FFF2-40B4-BE49-F238E27FC236}">
                  <a16:creationId xmlns:a16="http://schemas.microsoft.com/office/drawing/2014/main" id="{F29F4721-CC31-1D0E-0AAA-EDE408E2BBCE}"/>
                </a:ext>
              </a:extLst>
            </p:cNvPr>
            <p:cNvSpPr txBox="1">
              <a:spLocks/>
            </p:cNvSpPr>
            <p:nvPr/>
          </p:nvSpPr>
          <p:spPr>
            <a:xfrm>
              <a:off x="1383399" y="2203695"/>
              <a:ext cx="1100369" cy="433217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Training Stages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(Goal: Alignment)</a:t>
              </a:r>
            </a:p>
          </p:txBody>
        </p:sp>
        <p:sp>
          <p:nvSpPr>
            <p:cNvPr id="61" name="右大括弧 60">
              <a:extLst>
                <a:ext uri="{FF2B5EF4-FFF2-40B4-BE49-F238E27FC236}">
                  <a16:creationId xmlns:a16="http://schemas.microsoft.com/office/drawing/2014/main" id="{963D4FCE-8504-154C-CA82-C0B53BC31D26}"/>
                </a:ext>
              </a:extLst>
            </p:cNvPr>
            <p:cNvSpPr/>
            <p:nvPr/>
          </p:nvSpPr>
          <p:spPr>
            <a:xfrm rot="16200000">
              <a:off x="1855526" y="2139505"/>
              <a:ext cx="153043" cy="1100372"/>
            </a:xfrm>
            <a:prstGeom prst="rightBrac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EC4019C1-EA0C-FABC-D948-4CF2E5F88602}"/>
              </a:ext>
            </a:extLst>
          </p:cNvPr>
          <p:cNvCxnSpPr>
            <a:cxnSpLocks/>
            <a:stCxn id="59" idx="3"/>
            <a:endCxn id="56" idx="1"/>
          </p:cNvCxnSpPr>
          <p:nvPr/>
        </p:nvCxnSpPr>
        <p:spPr>
          <a:xfrm flipV="1">
            <a:off x="1831082" y="2482650"/>
            <a:ext cx="770840" cy="436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63" name="箭號: 向下 62">
            <a:extLst>
              <a:ext uri="{FF2B5EF4-FFF2-40B4-BE49-F238E27FC236}">
                <a16:creationId xmlns:a16="http://schemas.microsoft.com/office/drawing/2014/main" id="{4E75E8B8-2F8C-FE8F-6841-E0A95BD82996}"/>
              </a:ext>
            </a:extLst>
          </p:cNvPr>
          <p:cNvSpPr/>
          <p:nvPr/>
        </p:nvSpPr>
        <p:spPr>
          <a:xfrm rot="10800000">
            <a:off x="2732791" y="2546991"/>
            <a:ext cx="325849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vert270"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Prompt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E975C287-D615-27A9-93FD-2EAC2ADC78DA}"/>
              </a:ext>
            </a:extLst>
          </p:cNvPr>
          <p:cNvCxnSpPr>
            <a:cxnSpLocks/>
            <a:stCxn id="76" idx="2"/>
            <a:endCxn id="80" idx="0"/>
          </p:cNvCxnSpPr>
          <p:nvPr/>
        </p:nvCxnSpPr>
        <p:spPr>
          <a:xfrm rot="16200000" flipH="1">
            <a:off x="4914779" y="2832182"/>
            <a:ext cx="936105" cy="365722"/>
          </a:xfrm>
          <a:prstGeom prst="bentConnector3">
            <a:avLst>
              <a:gd name="adj1" fmla="val -2442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sp>
        <p:nvSpPr>
          <p:cNvPr id="65" name="語音泡泡: 圓角矩形 64">
            <a:extLst>
              <a:ext uri="{FF2B5EF4-FFF2-40B4-BE49-F238E27FC236}">
                <a16:creationId xmlns:a16="http://schemas.microsoft.com/office/drawing/2014/main" id="{113C4F34-2525-7D6D-DD32-4B3EE7E9765D}"/>
              </a:ext>
            </a:extLst>
          </p:cNvPr>
          <p:cNvSpPr/>
          <p:nvPr/>
        </p:nvSpPr>
        <p:spPr>
          <a:xfrm>
            <a:off x="2267744" y="4365104"/>
            <a:ext cx="825087" cy="882539"/>
          </a:xfrm>
          <a:prstGeom prst="wedgeRoundRectCallout">
            <a:avLst>
              <a:gd name="adj1" fmla="val 56711"/>
              <a:gd name="adj2" fmla="val 5978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sp>
        <p:nvSpPr>
          <p:cNvPr id="66" name="箭號: 向下 65">
            <a:extLst>
              <a:ext uri="{FF2B5EF4-FFF2-40B4-BE49-F238E27FC236}">
                <a16:creationId xmlns:a16="http://schemas.microsoft.com/office/drawing/2014/main" id="{A56E4935-2866-44DB-2AA7-2D227A78CAAC}"/>
              </a:ext>
            </a:extLst>
          </p:cNvPr>
          <p:cNvSpPr/>
          <p:nvPr/>
        </p:nvSpPr>
        <p:spPr>
          <a:xfrm>
            <a:off x="3630295" y="3993976"/>
            <a:ext cx="182616" cy="371128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8064A2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7" name="箭號: 向下 66">
            <a:extLst>
              <a:ext uri="{FF2B5EF4-FFF2-40B4-BE49-F238E27FC236}">
                <a16:creationId xmlns:a16="http://schemas.microsoft.com/office/drawing/2014/main" id="{8933BF65-8198-44C7-37FD-AA1238D04B7E}"/>
              </a:ext>
            </a:extLst>
          </p:cNvPr>
          <p:cNvSpPr/>
          <p:nvPr/>
        </p:nvSpPr>
        <p:spPr>
          <a:xfrm>
            <a:off x="4451262" y="3483096"/>
            <a:ext cx="297753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8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Final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Answer</a:t>
            </a:r>
          </a:p>
        </p:txBody>
      </p:sp>
      <p:sp>
        <p:nvSpPr>
          <p:cNvPr id="68" name="右大括弧 67">
            <a:extLst>
              <a:ext uri="{FF2B5EF4-FFF2-40B4-BE49-F238E27FC236}">
                <a16:creationId xmlns:a16="http://schemas.microsoft.com/office/drawing/2014/main" id="{F3240304-2BDE-C510-67B3-294C9558B2AC}"/>
              </a:ext>
            </a:extLst>
          </p:cNvPr>
          <p:cNvSpPr/>
          <p:nvPr/>
        </p:nvSpPr>
        <p:spPr>
          <a:xfrm rot="16200000">
            <a:off x="4141501" y="143068"/>
            <a:ext cx="153045" cy="3232203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DCA001E8-AF0A-6850-9D20-B2A7D911B0C6}"/>
              </a:ext>
            </a:extLst>
          </p:cNvPr>
          <p:cNvSpPr txBox="1"/>
          <p:nvPr/>
        </p:nvSpPr>
        <p:spPr>
          <a:xfrm>
            <a:off x="3403294" y="5671171"/>
            <a:ext cx="588206" cy="376017"/>
          </a:xfrm>
          <a:prstGeom prst="rect">
            <a:avLst/>
          </a:prstGeom>
          <a:solidFill>
            <a:srgbClr val="8064A2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(Tools)</a:t>
            </a: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19C8E06-D526-5AC8-5529-8F4670994280}"/>
              </a:ext>
            </a:extLst>
          </p:cNvPr>
          <p:cNvSpPr txBox="1"/>
          <p:nvPr/>
        </p:nvSpPr>
        <p:spPr>
          <a:xfrm>
            <a:off x="4088801" y="5669254"/>
            <a:ext cx="588206" cy="376017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(Scripts)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F4E67532-7657-8B96-9601-FD2B22E18075}"/>
              </a:ext>
            </a:extLst>
          </p:cNvPr>
          <p:cNvSpPr/>
          <p:nvPr/>
        </p:nvSpPr>
        <p:spPr>
          <a:xfrm>
            <a:off x="4893031" y="5663897"/>
            <a:ext cx="588206" cy="376017"/>
          </a:xfrm>
          <a:prstGeom prst="roundRect">
            <a:avLst>
              <a:gd name="adj" fmla="val 0"/>
            </a:avLst>
          </a:prstGeom>
          <a:solidFill>
            <a:srgbClr val="8064A2">
              <a:lumMod val="75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4572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LLM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Wiki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A2C86D99-05C3-E837-6638-5CED83FC974B}"/>
              </a:ext>
            </a:extLst>
          </p:cNvPr>
          <p:cNvSpPr txBox="1"/>
          <p:nvPr/>
        </p:nvSpPr>
        <p:spPr>
          <a:xfrm>
            <a:off x="2732791" y="5669254"/>
            <a:ext cx="588206" cy="376017"/>
          </a:xfrm>
          <a:prstGeom prst="rect">
            <a:avLst/>
          </a:prstGeom>
          <a:solidFill>
            <a:srgbClr val="4BACC6">
              <a:lumMod val="20000"/>
              <a:lumOff val="80000"/>
              <a:alpha val="60000"/>
            </a:srgbClr>
          </a:solidFill>
          <a:ln w="25400">
            <a:solidFill>
              <a:srgbClr val="4BACC6">
                <a:lumMod val="40000"/>
                <a:lumOff val="60000"/>
              </a:srgb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Vector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DB</a:t>
            </a:r>
          </a:p>
        </p:txBody>
      </p:sp>
      <p:sp>
        <p:nvSpPr>
          <p:cNvPr id="73" name="箭號: 向下 72">
            <a:extLst>
              <a:ext uri="{FF2B5EF4-FFF2-40B4-BE49-F238E27FC236}">
                <a16:creationId xmlns:a16="http://schemas.microsoft.com/office/drawing/2014/main" id="{B0413804-16C3-2889-C2E7-89E39D1E293C}"/>
              </a:ext>
            </a:extLst>
          </p:cNvPr>
          <p:cNvSpPr/>
          <p:nvPr/>
        </p:nvSpPr>
        <p:spPr>
          <a:xfrm>
            <a:off x="3217938" y="4008314"/>
            <a:ext cx="162925" cy="356790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1F497D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VDB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箭號: 向上 73">
            <a:extLst>
              <a:ext uri="{FF2B5EF4-FFF2-40B4-BE49-F238E27FC236}">
                <a16:creationId xmlns:a16="http://schemas.microsoft.com/office/drawing/2014/main" id="{C350569E-A7CB-472B-1960-6FFAEBCEED29}"/>
              </a:ext>
            </a:extLst>
          </p:cNvPr>
          <p:cNvSpPr/>
          <p:nvPr/>
        </p:nvSpPr>
        <p:spPr>
          <a:xfrm>
            <a:off x="3750751" y="2987668"/>
            <a:ext cx="278184" cy="495428"/>
          </a:xfrm>
          <a:prstGeom prst="upArrow">
            <a:avLst/>
          </a:prstGeom>
          <a:solidFill>
            <a:srgbClr val="8064A2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Result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5" name="箭號: 向上 74">
            <a:extLst>
              <a:ext uri="{FF2B5EF4-FFF2-40B4-BE49-F238E27FC236}">
                <a16:creationId xmlns:a16="http://schemas.microsoft.com/office/drawing/2014/main" id="{7821C207-100D-FD5C-A8A7-0B4130ED9274}"/>
              </a:ext>
            </a:extLst>
          </p:cNvPr>
          <p:cNvSpPr/>
          <p:nvPr/>
        </p:nvSpPr>
        <p:spPr>
          <a:xfrm>
            <a:off x="3322402" y="2987668"/>
            <a:ext cx="274485" cy="495428"/>
          </a:xfrm>
          <a:prstGeom prst="upArrow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Result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" name="箭號: 向下 75">
            <a:extLst>
              <a:ext uri="{FF2B5EF4-FFF2-40B4-BE49-F238E27FC236}">
                <a16:creationId xmlns:a16="http://schemas.microsoft.com/office/drawing/2014/main" id="{98C66DA5-997A-8AA9-E023-7642A9DD468E}"/>
              </a:ext>
            </a:extLst>
          </p:cNvPr>
          <p:cNvSpPr/>
          <p:nvPr/>
        </p:nvSpPr>
        <p:spPr>
          <a:xfrm rot="10800000">
            <a:off x="5037047" y="2546991"/>
            <a:ext cx="325849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ED5D0631-830E-E1F6-65C4-CC0EA897CC8A}"/>
              </a:ext>
            </a:extLst>
          </p:cNvPr>
          <p:cNvCxnSpPr>
            <a:cxnSpLocks/>
            <a:stCxn id="73" idx="2"/>
            <a:endCxn id="75" idx="2"/>
          </p:cNvCxnSpPr>
          <p:nvPr/>
        </p:nvCxnSpPr>
        <p:spPr>
          <a:xfrm rot="5400000" flipH="1" flipV="1">
            <a:off x="2938519" y="3843978"/>
            <a:ext cx="882008" cy="160244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9BBB59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71FED6E0-F8D9-CBB9-4B38-BF4E89051A4A}"/>
              </a:ext>
            </a:extLst>
          </p:cNvPr>
          <p:cNvSpPr txBox="1"/>
          <p:nvPr/>
        </p:nvSpPr>
        <p:spPr>
          <a:xfrm>
            <a:off x="3387637" y="5276297"/>
            <a:ext cx="631450" cy="240935"/>
          </a:xfrm>
          <a:prstGeom prst="rect">
            <a:avLst/>
          </a:prstGeom>
          <a:noFill/>
        </p:spPr>
        <p:txBody>
          <a:bodyPr wrap="none" lIns="0" tIns="9144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C0AB1346-E7E4-39EC-C19E-4E0F43AD66D5}"/>
              </a:ext>
            </a:extLst>
          </p:cNvPr>
          <p:cNvCxnSpPr>
            <a:cxnSpLocks/>
            <a:stCxn id="78" idx="0"/>
            <a:endCxn id="52" idx="2"/>
          </p:cNvCxnSpPr>
          <p:nvPr/>
        </p:nvCxnSpPr>
        <p:spPr>
          <a:xfrm flipH="1" flipV="1">
            <a:off x="3702500" y="4988411"/>
            <a:ext cx="862" cy="287886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sp>
        <p:nvSpPr>
          <p:cNvPr id="80" name="箭號: 向下 79">
            <a:extLst>
              <a:ext uri="{FF2B5EF4-FFF2-40B4-BE49-F238E27FC236}">
                <a16:creationId xmlns:a16="http://schemas.microsoft.com/office/drawing/2014/main" id="{A901D169-B411-376B-3C7A-BDB429790545}"/>
              </a:ext>
            </a:extLst>
          </p:cNvPr>
          <p:cNvSpPr/>
          <p:nvPr/>
        </p:nvSpPr>
        <p:spPr>
          <a:xfrm>
            <a:off x="5416816" y="3483096"/>
            <a:ext cx="297753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8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466938B-8F8A-66C3-3FBB-314C77F11035}"/>
              </a:ext>
            </a:extLst>
          </p:cNvPr>
          <p:cNvCxnSpPr>
            <a:cxnSpLocks/>
            <a:stCxn id="84" idx="0"/>
            <a:endCxn id="67" idx="0"/>
          </p:cNvCxnSpPr>
          <p:nvPr/>
        </p:nvCxnSpPr>
        <p:spPr>
          <a:xfrm rot="16200000" flipH="1">
            <a:off x="4181939" y="3064896"/>
            <a:ext cx="486144" cy="350256"/>
          </a:xfrm>
          <a:prstGeom prst="bentConnector3">
            <a:avLst>
              <a:gd name="adj1" fmla="val -47023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cxnSp>
        <p:nvCxnSpPr>
          <p:cNvPr id="82" name="接點: 肘形 81">
            <a:extLst>
              <a:ext uri="{FF2B5EF4-FFF2-40B4-BE49-F238E27FC236}">
                <a16:creationId xmlns:a16="http://schemas.microsoft.com/office/drawing/2014/main" id="{C501B493-2036-ED1F-21FC-F21DDA63598E}"/>
              </a:ext>
            </a:extLst>
          </p:cNvPr>
          <p:cNvCxnSpPr>
            <a:cxnSpLocks/>
            <a:stCxn id="83" idx="2"/>
            <a:endCxn id="84" idx="2"/>
          </p:cNvCxnSpPr>
          <p:nvPr/>
        </p:nvCxnSpPr>
        <p:spPr>
          <a:xfrm rot="5400000" flipH="1" flipV="1">
            <a:off x="3729683" y="3854188"/>
            <a:ext cx="882008" cy="158392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83" name="箭號: 向下 82">
            <a:extLst>
              <a:ext uri="{FF2B5EF4-FFF2-40B4-BE49-F238E27FC236}">
                <a16:creationId xmlns:a16="http://schemas.microsoft.com/office/drawing/2014/main" id="{22A2E10F-B602-F5C3-2FBE-8D673E017F02}"/>
              </a:ext>
            </a:extLst>
          </p:cNvPr>
          <p:cNvSpPr/>
          <p:nvPr/>
        </p:nvSpPr>
        <p:spPr>
          <a:xfrm>
            <a:off x="4000183" y="4003260"/>
            <a:ext cx="182616" cy="371128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4" name="箭號: 向上 83">
            <a:extLst>
              <a:ext uri="{FF2B5EF4-FFF2-40B4-BE49-F238E27FC236}">
                <a16:creationId xmlns:a16="http://schemas.microsoft.com/office/drawing/2014/main" id="{32DC8155-734C-ECF6-D941-0C10C0004698}"/>
              </a:ext>
            </a:extLst>
          </p:cNvPr>
          <p:cNvSpPr/>
          <p:nvPr/>
        </p:nvSpPr>
        <p:spPr>
          <a:xfrm>
            <a:off x="4110791" y="2996952"/>
            <a:ext cx="278184" cy="495428"/>
          </a:xfrm>
          <a:prstGeom prst="upArrow">
            <a:avLst/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Done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B0F56D27-6995-3E4B-34E0-1CE1874D7152}"/>
              </a:ext>
            </a:extLst>
          </p:cNvPr>
          <p:cNvCxnSpPr>
            <a:cxnSpLocks/>
            <a:stCxn id="63" idx="2"/>
            <a:endCxn id="73" idx="0"/>
          </p:cNvCxnSpPr>
          <p:nvPr/>
        </p:nvCxnSpPr>
        <p:spPr>
          <a:xfrm rot="16200000" flipH="1">
            <a:off x="2366896" y="3075809"/>
            <a:ext cx="1461323" cy="403686"/>
          </a:xfrm>
          <a:prstGeom prst="bentConnector3">
            <a:avLst>
              <a:gd name="adj1" fmla="val -15643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19D62DEC-8641-5C2E-19F2-EF876A5A7780}"/>
              </a:ext>
            </a:extLst>
          </p:cNvPr>
          <p:cNvCxnSpPr>
            <a:cxnSpLocks/>
            <a:stCxn id="67" idx="2"/>
            <a:endCxn id="78" idx="3"/>
          </p:cNvCxnSpPr>
          <p:nvPr/>
        </p:nvCxnSpPr>
        <p:spPr>
          <a:xfrm rot="5400000">
            <a:off x="3757779" y="4554404"/>
            <a:ext cx="1103669" cy="581052"/>
          </a:xfrm>
          <a:prstGeom prst="bentConnector2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cxnSp>
        <p:nvCxnSpPr>
          <p:cNvPr id="87" name="接點: 肘形 86">
            <a:extLst>
              <a:ext uri="{FF2B5EF4-FFF2-40B4-BE49-F238E27FC236}">
                <a16:creationId xmlns:a16="http://schemas.microsoft.com/office/drawing/2014/main" id="{007707B6-8A9F-752C-0843-95C70D17B929}"/>
              </a:ext>
            </a:extLst>
          </p:cNvPr>
          <p:cNvCxnSpPr>
            <a:cxnSpLocks/>
            <a:stCxn id="65" idx="0"/>
            <a:endCxn id="63" idx="0"/>
          </p:cNvCxnSpPr>
          <p:nvPr/>
        </p:nvCxnSpPr>
        <p:spPr>
          <a:xfrm rot="5400000" flipH="1" flipV="1">
            <a:off x="2283945" y="3753335"/>
            <a:ext cx="1008113" cy="21542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C8E5EBBE-0414-926C-D9FF-6D63F40CE0AA}"/>
              </a:ext>
            </a:extLst>
          </p:cNvPr>
          <p:cNvGrpSpPr/>
          <p:nvPr/>
        </p:nvGrpSpPr>
        <p:grpSpPr>
          <a:xfrm>
            <a:off x="6946626" y="1369209"/>
            <a:ext cx="1619672" cy="1326756"/>
            <a:chOff x="6516216" y="4813260"/>
            <a:chExt cx="1512168" cy="1273320"/>
          </a:xfrm>
        </p:grpSpPr>
        <p:sp>
          <p:nvSpPr>
            <p:cNvPr id="89" name="箭號: 圓形 88">
              <a:extLst>
                <a:ext uri="{FF2B5EF4-FFF2-40B4-BE49-F238E27FC236}">
                  <a16:creationId xmlns:a16="http://schemas.microsoft.com/office/drawing/2014/main" id="{C1203A41-8567-6E13-67FD-18286B816A10}"/>
                </a:ext>
              </a:extLst>
            </p:cNvPr>
            <p:cNvSpPr/>
            <p:nvPr/>
          </p:nvSpPr>
          <p:spPr>
            <a:xfrm rot="11669204">
              <a:off x="6602932" y="4813260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ysClr val="window" lastClr="FFFFFF">
                <a:lumMod val="95000"/>
                <a:alpha val="70000"/>
              </a:sysClr>
            </a:solidFill>
            <a:ln w="25400" cap="flat" cmpd="sng" algn="ctr">
              <a:solidFill>
                <a:sysClr val="window" lastClr="FFFFFF">
                  <a:lumMod val="50000"/>
                  <a:alpha val="8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0" name="箭號: 圓形 89">
              <a:extLst>
                <a:ext uri="{FF2B5EF4-FFF2-40B4-BE49-F238E27FC236}">
                  <a16:creationId xmlns:a16="http://schemas.microsoft.com/office/drawing/2014/main" id="{F06598BA-8038-7CE6-06AA-FACC7804C13D}"/>
                </a:ext>
              </a:extLst>
            </p:cNvPr>
            <p:cNvSpPr/>
            <p:nvPr/>
          </p:nvSpPr>
          <p:spPr>
            <a:xfrm rot="4315882">
              <a:off x="6584072" y="4854058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rgbClr val="8064A2">
                <a:lumMod val="20000"/>
                <a:lumOff val="80000"/>
                <a:alpha val="90000"/>
              </a:srgbClr>
            </a:solidFill>
            <a:ln w="25400" cap="flat" cmpd="sng" algn="ctr">
              <a:solidFill>
                <a:srgbClr val="8064A2">
                  <a:alpha val="8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1" name="標題 1">
              <a:extLst>
                <a:ext uri="{FF2B5EF4-FFF2-40B4-BE49-F238E27FC236}">
                  <a16:creationId xmlns:a16="http://schemas.microsoft.com/office/drawing/2014/main" id="{95F5D8C5-AF70-436B-83D2-953988CC601F}"/>
                </a:ext>
              </a:extLst>
            </p:cNvPr>
            <p:cNvSpPr txBox="1">
              <a:spLocks/>
            </p:cNvSpPr>
            <p:nvPr/>
          </p:nvSpPr>
          <p:spPr>
            <a:xfrm>
              <a:off x="7364060" y="5405645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Action</a:t>
              </a:r>
            </a:p>
          </p:txBody>
        </p:sp>
        <p:sp>
          <p:nvSpPr>
            <p:cNvPr id="92" name="標題 1">
              <a:extLst>
                <a:ext uri="{FF2B5EF4-FFF2-40B4-BE49-F238E27FC236}">
                  <a16:creationId xmlns:a16="http://schemas.microsoft.com/office/drawing/2014/main" id="{673886E3-8E4B-79AE-BCB1-E46C3ED82D3E}"/>
                </a:ext>
              </a:extLst>
            </p:cNvPr>
            <p:cNvSpPr txBox="1">
              <a:spLocks/>
            </p:cNvSpPr>
            <p:nvPr/>
          </p:nvSpPr>
          <p:spPr>
            <a:xfrm>
              <a:off x="6516216" y="5693677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Observation</a:t>
              </a:r>
            </a:p>
          </p:txBody>
        </p:sp>
        <p:sp>
          <p:nvSpPr>
            <p:cNvPr id="93" name="箭號: 圓形 92">
              <a:extLst>
                <a:ext uri="{FF2B5EF4-FFF2-40B4-BE49-F238E27FC236}">
                  <a16:creationId xmlns:a16="http://schemas.microsoft.com/office/drawing/2014/main" id="{06AB73A9-0665-8EE7-0F85-369914FE6F6F}"/>
                </a:ext>
              </a:extLst>
            </p:cNvPr>
            <p:cNvSpPr/>
            <p:nvPr/>
          </p:nvSpPr>
          <p:spPr>
            <a:xfrm rot="19383568">
              <a:off x="6617398" y="4859814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25400" cap="flat" cmpd="sng" algn="ctr">
              <a:solidFill>
                <a:srgbClr val="4F81BD">
                  <a:alpha val="8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4" name="標題 1">
              <a:extLst>
                <a:ext uri="{FF2B5EF4-FFF2-40B4-BE49-F238E27FC236}">
                  <a16:creationId xmlns:a16="http://schemas.microsoft.com/office/drawing/2014/main" id="{11D1BE81-DC1A-A568-0BDE-7973BCB3D321}"/>
                </a:ext>
              </a:extLst>
            </p:cNvPr>
            <p:cNvSpPr txBox="1">
              <a:spLocks/>
            </p:cNvSpPr>
            <p:nvPr/>
          </p:nvSpPr>
          <p:spPr>
            <a:xfrm>
              <a:off x="6661286" y="5002596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Thought</a:t>
              </a:r>
            </a:p>
          </p:txBody>
        </p:sp>
        <p:sp>
          <p:nvSpPr>
            <p:cNvPr id="95" name="標題 1">
              <a:extLst>
                <a:ext uri="{FF2B5EF4-FFF2-40B4-BE49-F238E27FC236}">
                  <a16:creationId xmlns:a16="http://schemas.microsoft.com/office/drawing/2014/main" id="{3EAB2894-39BC-A37C-E8DE-DAAE943A1F06}"/>
                </a:ext>
              </a:extLst>
            </p:cNvPr>
            <p:cNvSpPr txBox="1">
              <a:spLocks/>
            </p:cNvSpPr>
            <p:nvPr/>
          </p:nvSpPr>
          <p:spPr>
            <a:xfrm>
              <a:off x="6979236" y="5335033"/>
              <a:ext cx="402608" cy="256770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ReAct</a:t>
              </a:r>
            </a:p>
          </p:txBody>
        </p:sp>
      </p:grpSp>
      <p:graphicFrame>
        <p:nvGraphicFramePr>
          <p:cNvPr id="96" name="表格 95">
            <a:extLst>
              <a:ext uri="{FF2B5EF4-FFF2-40B4-BE49-F238E27FC236}">
                <a16:creationId xmlns:a16="http://schemas.microsoft.com/office/drawing/2014/main" id="{2E2230F7-8B97-48E0-124C-09552B39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186206"/>
              </p:ext>
            </p:extLst>
          </p:nvPr>
        </p:nvGraphicFramePr>
        <p:xfrm>
          <a:off x="6486775" y="3208190"/>
          <a:ext cx="2377424" cy="2934584"/>
        </p:xfrm>
        <a:graphic>
          <a:graphicData uri="http://schemas.openxmlformats.org/drawingml/2006/table">
            <a:tbl>
              <a:tblPr firstRow="1" bandRow="1"/>
              <a:tblGrid>
                <a:gridCol w="87978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497637">
                  <a:extLst>
                    <a:ext uri="{9D8B030D-6E8A-4147-A177-3AD203B41FA5}">
                      <a16:colId xmlns:a16="http://schemas.microsoft.com/office/drawing/2014/main" val="3840409758"/>
                    </a:ext>
                  </a:extLst>
                </a:gridCol>
              </a:tblGrid>
              <a:tr h="54245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 RAG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Retrieval-Augmented Generation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73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Native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reasoning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73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Modular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Heuristic rules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471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34711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Modern Agentic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Reflexion: Evaluator node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471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ReWOO: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 without observation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012615"/>
                  </a:ext>
                </a:extLst>
              </a:tr>
              <a:tr h="2348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TOT: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Tree of thoughts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69665"/>
                  </a:ext>
                </a:extLst>
              </a:tr>
              <a:tr h="694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Language Agent Tree Search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LATS =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ReAct + MCTS</a:t>
                      </a: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310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534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24E0B6-6772-D241-F8AA-C7017822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25</a:t>
            </a:fld>
            <a:endParaRPr lang="zh-TW" altLang="en-US" dirty="0"/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684072E3-CB77-1656-F438-F04E28498C91}"/>
              </a:ext>
            </a:extLst>
          </p:cNvPr>
          <p:cNvSpPr/>
          <p:nvPr/>
        </p:nvSpPr>
        <p:spPr>
          <a:xfrm>
            <a:off x="6942919" y="3144039"/>
            <a:ext cx="1013457" cy="484890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  <a:alpha val="80000"/>
            </a:sys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Scripts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7507B4CD-914E-5A11-0BFE-5CA1A7254009}"/>
              </a:ext>
            </a:extLst>
          </p:cNvPr>
          <p:cNvSpPr/>
          <p:nvPr/>
        </p:nvSpPr>
        <p:spPr>
          <a:xfrm>
            <a:off x="6943030" y="3822338"/>
            <a:ext cx="1013457" cy="481201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  <a:alpha val="80000"/>
            </a:sys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RAG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Server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8AD967C-BE51-E269-096B-B015F5C67013}"/>
              </a:ext>
            </a:extLst>
          </p:cNvPr>
          <p:cNvSpPr txBox="1"/>
          <p:nvPr/>
        </p:nvSpPr>
        <p:spPr>
          <a:xfrm>
            <a:off x="2555776" y="2619977"/>
            <a:ext cx="648071" cy="2309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Get Price</a:t>
            </a:r>
            <a:r>
              <a:rPr lang="zh-TW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C2E018AF-F616-292D-33A0-3DFAFA1F1FDC}"/>
              </a:ext>
            </a:extLst>
          </p:cNvPr>
          <p:cNvSpPr/>
          <p:nvPr/>
        </p:nvSpPr>
        <p:spPr>
          <a:xfrm>
            <a:off x="6943030" y="2488400"/>
            <a:ext cx="1013457" cy="481201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  <a:alpha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Server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ABB8EAF2-DBB0-0CF7-423C-8FCA9DDFC07A}"/>
              </a:ext>
            </a:extLst>
          </p:cNvPr>
          <p:cNvSpPr/>
          <p:nvPr/>
        </p:nvSpPr>
        <p:spPr>
          <a:xfrm>
            <a:off x="6943031" y="1863606"/>
            <a:ext cx="1013457" cy="481201"/>
          </a:xfrm>
          <a:prstGeom prst="roundRect">
            <a:avLst>
              <a:gd name="adj" fmla="val 8706"/>
            </a:avLst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Vector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DB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6BA092C-5D90-9D9C-3EE4-722B6A52A95E}"/>
              </a:ext>
            </a:extLst>
          </p:cNvPr>
          <p:cNvSpPr txBox="1"/>
          <p:nvPr/>
        </p:nvSpPr>
        <p:spPr>
          <a:xfrm>
            <a:off x="3779912" y="1700809"/>
            <a:ext cx="1224934" cy="18001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none" lIns="0" tIns="0" rIns="0" bIns="3600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(PC/NB)</a:t>
            </a: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481A04B6-3DC6-4081-0A51-830A5FEC451A}"/>
              </a:ext>
            </a:extLst>
          </p:cNvPr>
          <p:cNvSpPr/>
          <p:nvPr/>
        </p:nvSpPr>
        <p:spPr>
          <a:xfrm>
            <a:off x="4027099" y="1531881"/>
            <a:ext cx="797767" cy="240935"/>
          </a:xfrm>
          <a:prstGeom prst="roundRect">
            <a:avLst>
              <a:gd name="adj" fmla="val 8706"/>
            </a:avLst>
          </a:prstGeom>
          <a:solidFill>
            <a:sysClr val="windowText" lastClr="000000">
              <a:lumMod val="85000"/>
              <a:lumOff val="15000"/>
            </a:sys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 Host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7A478DE-FB2C-E00E-C0AF-D41CA8222020}"/>
              </a:ext>
            </a:extLst>
          </p:cNvPr>
          <p:cNvSpPr txBox="1"/>
          <p:nvPr/>
        </p:nvSpPr>
        <p:spPr>
          <a:xfrm>
            <a:off x="3983838" y="4484209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B695004C-FAE9-2C68-FB0A-5C56BE4FA0BD}"/>
              </a:ext>
            </a:extLst>
          </p:cNvPr>
          <p:cNvCxnSpPr>
            <a:cxnSpLocks/>
            <a:stCxn id="61" idx="0"/>
            <a:endCxn id="59" idx="2"/>
          </p:cNvCxnSpPr>
          <p:nvPr/>
        </p:nvCxnSpPr>
        <p:spPr>
          <a:xfrm flipH="1" flipV="1">
            <a:off x="4392379" y="3501008"/>
            <a:ext cx="2358" cy="98320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pic>
        <p:nvPicPr>
          <p:cNvPr id="63" name="圖形 62" descr="資料庫 外框">
            <a:extLst>
              <a:ext uri="{FF2B5EF4-FFF2-40B4-BE49-F238E27FC236}">
                <a16:creationId xmlns:a16="http://schemas.microsoft.com/office/drawing/2014/main" id="{C7950524-A010-F77F-6C6D-D9AE8F466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1289" y="1914314"/>
            <a:ext cx="364339" cy="379784"/>
          </a:xfrm>
          <a:prstGeom prst="rect">
            <a:avLst/>
          </a:prstGeom>
          <a:effectLst>
            <a:glow rad="127000">
              <a:srgbClr val="4BACC6">
                <a:lumMod val="20000"/>
                <a:lumOff val="80000"/>
              </a:srgbClr>
            </a:glow>
          </a:effectLst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70D0837-AC04-F9DE-EDC3-4BB8893CF21D}"/>
              </a:ext>
            </a:extLst>
          </p:cNvPr>
          <p:cNvSpPr txBox="1"/>
          <p:nvPr/>
        </p:nvSpPr>
        <p:spPr>
          <a:xfrm>
            <a:off x="8014078" y="2580364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Real-Time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Message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6A425ACE-27EB-8698-825A-C539363E6A9A}"/>
              </a:ext>
            </a:extLst>
          </p:cNvPr>
          <p:cNvSpPr/>
          <p:nvPr/>
        </p:nvSpPr>
        <p:spPr>
          <a:xfrm>
            <a:off x="5436096" y="2490721"/>
            <a:ext cx="504689" cy="488364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983D8ED7-DEA5-C0EB-843F-4FE9439DF4AE}"/>
              </a:ext>
            </a:extLst>
          </p:cNvPr>
          <p:cNvSpPr/>
          <p:nvPr/>
        </p:nvSpPr>
        <p:spPr>
          <a:xfrm>
            <a:off x="5436096" y="3140967"/>
            <a:ext cx="504689" cy="487962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815BA55-9904-E13D-5873-A1E175BEE302}"/>
              </a:ext>
            </a:extLst>
          </p:cNvPr>
          <p:cNvCxnSpPr>
            <a:cxnSpLocks/>
            <a:stCxn id="58" idx="1"/>
            <a:endCxn id="82" idx="3"/>
          </p:cNvCxnSpPr>
          <p:nvPr/>
        </p:nvCxnSpPr>
        <p:spPr>
          <a:xfrm flipH="1">
            <a:off x="5940785" y="2104207"/>
            <a:ext cx="1002246" cy="35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8409079F-8CFC-190A-72B1-3A9F68853AC5}"/>
              </a:ext>
            </a:extLst>
          </p:cNvPr>
          <p:cNvCxnSpPr>
            <a:cxnSpLocks/>
            <a:stCxn id="57" idx="1"/>
            <a:endCxn id="65" idx="3"/>
          </p:cNvCxnSpPr>
          <p:nvPr/>
        </p:nvCxnSpPr>
        <p:spPr>
          <a:xfrm flipH="1">
            <a:off x="5940785" y="2729001"/>
            <a:ext cx="1002245" cy="590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FD40DC7A-2FAB-02AA-16DC-660DAC201284}"/>
              </a:ext>
            </a:extLst>
          </p:cNvPr>
          <p:cNvCxnSpPr>
            <a:cxnSpLocks/>
            <a:stCxn id="54" idx="1"/>
            <a:endCxn id="66" idx="3"/>
          </p:cNvCxnSpPr>
          <p:nvPr/>
        </p:nvCxnSpPr>
        <p:spPr>
          <a:xfrm flipH="1" flipV="1">
            <a:off x="5940785" y="3384948"/>
            <a:ext cx="1002134" cy="153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24BE7DD3-4588-2DD8-35A3-25DCF3DF08F0}"/>
              </a:ext>
            </a:extLst>
          </p:cNvPr>
          <p:cNvSpPr txBox="1"/>
          <p:nvPr/>
        </p:nvSpPr>
        <p:spPr>
          <a:xfrm>
            <a:off x="6191342" y="1956862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80E47B0-0FE8-9E27-D95C-FC7A0F59A1DF}"/>
              </a:ext>
            </a:extLst>
          </p:cNvPr>
          <p:cNvSpPr txBox="1"/>
          <p:nvPr/>
        </p:nvSpPr>
        <p:spPr>
          <a:xfrm>
            <a:off x="6191342" y="2573886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00348CE-2C6F-14AA-B268-52773DB89BAF}"/>
              </a:ext>
            </a:extLst>
          </p:cNvPr>
          <p:cNvSpPr txBox="1"/>
          <p:nvPr/>
        </p:nvSpPr>
        <p:spPr>
          <a:xfrm>
            <a:off x="6191342" y="3233133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3" name="標題 1">
            <a:extLst>
              <a:ext uri="{FF2B5EF4-FFF2-40B4-BE49-F238E27FC236}">
                <a16:creationId xmlns:a16="http://schemas.microsoft.com/office/drawing/2014/main" id="{18E12B51-ED51-59D8-E9A6-7BBB5720505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Model Context Protocol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MCP enables AI Agents to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connect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with external tools and data sources.</a:t>
            </a:r>
          </a:p>
        </p:txBody>
      </p:sp>
      <p:pic>
        <p:nvPicPr>
          <p:cNvPr id="74" name="圖形 73" descr="科學思想 以實心填滿">
            <a:extLst>
              <a:ext uri="{FF2B5EF4-FFF2-40B4-BE49-F238E27FC236}">
                <a16:creationId xmlns:a16="http://schemas.microsoft.com/office/drawing/2014/main" id="{1F2ECEB3-110B-33DE-165E-36603E804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4827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6B06B3B1-908E-B180-17D5-8E2812BB3D71}"/>
              </a:ext>
            </a:extLst>
          </p:cNvPr>
          <p:cNvGrpSpPr/>
          <p:nvPr/>
        </p:nvGrpSpPr>
        <p:grpSpPr>
          <a:xfrm>
            <a:off x="611561" y="1611402"/>
            <a:ext cx="1643158" cy="994885"/>
            <a:chOff x="611560" y="1474120"/>
            <a:chExt cx="1764115" cy="1132167"/>
          </a:xfrm>
        </p:grpSpPr>
        <p:sp>
          <p:nvSpPr>
            <p:cNvPr id="76" name="雲朵形 75">
              <a:extLst>
                <a:ext uri="{FF2B5EF4-FFF2-40B4-BE49-F238E27FC236}">
                  <a16:creationId xmlns:a16="http://schemas.microsoft.com/office/drawing/2014/main" id="{3127ECC3-A6F9-1F86-6AAB-8F84DFD9FA42}"/>
                </a:ext>
              </a:extLst>
            </p:cNvPr>
            <p:cNvSpPr/>
            <p:nvPr/>
          </p:nvSpPr>
          <p:spPr>
            <a:xfrm>
              <a:off x="829914" y="1474120"/>
              <a:ext cx="1545761" cy="1132167"/>
            </a:xfrm>
            <a:prstGeom prst="cloud">
              <a:avLst/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508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B13285FF-6D94-0FB9-279F-778DBE803EA9}"/>
                </a:ext>
              </a:extLst>
            </p:cNvPr>
            <p:cNvSpPr txBox="1"/>
            <p:nvPr/>
          </p:nvSpPr>
          <p:spPr>
            <a:xfrm>
              <a:off x="1085518" y="1657807"/>
              <a:ext cx="863628" cy="4864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04000" tIns="0" rIns="0" bIns="36000" anchor="b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LLM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Model</a:t>
              </a:r>
              <a:endPara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8" name="矩形: 圓角 77">
              <a:extLst>
                <a:ext uri="{FF2B5EF4-FFF2-40B4-BE49-F238E27FC236}">
                  <a16:creationId xmlns:a16="http://schemas.microsoft.com/office/drawing/2014/main" id="{A025A707-483C-9211-3059-4768E326187E}"/>
                </a:ext>
              </a:extLst>
            </p:cNvPr>
            <p:cNvSpPr/>
            <p:nvPr/>
          </p:nvSpPr>
          <p:spPr>
            <a:xfrm>
              <a:off x="973930" y="2176134"/>
              <a:ext cx="1098050" cy="316762"/>
            </a:xfrm>
            <a:prstGeom prst="roundRect">
              <a:avLst>
                <a:gd name="adj" fmla="val 8706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Model Engine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985A5563-255C-C13C-33B0-9F67C8217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560" y="1916832"/>
              <a:ext cx="434378" cy="426757"/>
            </a:xfrm>
            <a:prstGeom prst="rect">
              <a:avLst/>
            </a:prstGeom>
            <a:effectLst>
              <a:glow rad="63500">
                <a:srgbClr val="4BACC6">
                  <a:lumMod val="20000"/>
                  <a:lumOff val="80000"/>
                  <a:alpha val="40000"/>
                </a:srgbClr>
              </a:glow>
              <a:softEdge rad="50800"/>
            </a:effectLst>
          </p:spPr>
        </p:pic>
        <p:pic>
          <p:nvPicPr>
            <p:cNvPr id="80" name="圖形 79" descr="原子 以實心填滿">
              <a:extLst>
                <a:ext uri="{FF2B5EF4-FFF2-40B4-BE49-F238E27FC236}">
                  <a16:creationId xmlns:a16="http://schemas.microsoft.com/office/drawing/2014/main" id="{E74E7692-6E38-99B7-D647-1956451F92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1736" y="1651945"/>
              <a:ext cx="497527" cy="497527"/>
            </a:xfrm>
            <a:prstGeom prst="rect">
              <a:avLst/>
            </a:prstGeom>
          </p:spPr>
        </p:pic>
      </p:grp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F90264E3-FEC7-5151-E39E-6287BFF6326D}"/>
              </a:ext>
            </a:extLst>
          </p:cNvPr>
          <p:cNvSpPr txBox="1"/>
          <p:nvPr/>
        </p:nvSpPr>
        <p:spPr>
          <a:xfrm>
            <a:off x="213023" y="5048016"/>
            <a:ext cx="7023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Steps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Initialization &amp; Discovery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MCP server provides tool schemas to the host.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Reasoning &amp; Tool Call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LLM sends request to MCP server.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Execution &amp; Injection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Server returns data to host for LLM context injection.</a:t>
            </a: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BF8FD9C1-B7D3-7DAB-70D0-8771E00D60B9}"/>
              </a:ext>
            </a:extLst>
          </p:cNvPr>
          <p:cNvSpPr/>
          <p:nvPr/>
        </p:nvSpPr>
        <p:spPr>
          <a:xfrm>
            <a:off x="5436096" y="1863606"/>
            <a:ext cx="504689" cy="488365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1B540E1F-D30E-87D0-D7EB-CE5CC749F8CC}"/>
              </a:ext>
            </a:extLst>
          </p:cNvPr>
          <p:cNvCxnSpPr>
            <a:cxnSpLocks/>
            <a:stCxn id="82" idx="1"/>
            <a:endCxn id="98" idx="3"/>
          </p:cNvCxnSpPr>
          <p:nvPr/>
        </p:nvCxnSpPr>
        <p:spPr>
          <a:xfrm flipH="1">
            <a:off x="3227331" y="2107789"/>
            <a:ext cx="2208765" cy="5942"/>
          </a:xfrm>
          <a:prstGeom prst="straightConnector1">
            <a:avLst/>
          </a:prstGeom>
          <a:noFill/>
          <a:ln w="15875" cap="flat" cmpd="sng" algn="ctr">
            <a:solidFill>
              <a:srgbClr val="8064A2">
                <a:lumMod val="75000"/>
              </a:srgbClr>
            </a:solidFill>
            <a:prstDash val="sysDash"/>
            <a:headEnd type="triangle" w="med" len="med"/>
            <a:tailEnd type="none" w="med" len="med"/>
          </a:ln>
          <a:effectLst/>
        </p:spPr>
      </p:cxn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A880BDFE-667E-C071-69DA-94F052FD0DC5}"/>
              </a:ext>
            </a:extLst>
          </p:cNvPr>
          <p:cNvCxnSpPr>
            <a:cxnSpLocks/>
            <a:stCxn id="87" idx="1"/>
            <a:endCxn id="56" idx="1"/>
          </p:cNvCxnSpPr>
          <p:nvPr/>
        </p:nvCxnSpPr>
        <p:spPr>
          <a:xfrm rot="10800000" flipV="1">
            <a:off x="2555776" y="2271269"/>
            <a:ext cx="546964" cy="464195"/>
          </a:xfrm>
          <a:prstGeom prst="bentConnector3">
            <a:avLst>
              <a:gd name="adj1" fmla="val 141794"/>
            </a:avLst>
          </a:prstGeom>
          <a:noFill/>
          <a:ln w="15875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pic>
        <p:nvPicPr>
          <p:cNvPr id="85" name="圖形 84" descr="統計 以實心填滿">
            <a:extLst>
              <a:ext uri="{FF2B5EF4-FFF2-40B4-BE49-F238E27FC236}">
                <a16:creationId xmlns:a16="http://schemas.microsoft.com/office/drawing/2014/main" id="{B0BAC8EE-F9FC-A66A-3A06-B0EAADA93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1289" y="2564904"/>
            <a:ext cx="361524" cy="319529"/>
          </a:xfrm>
          <a:prstGeom prst="rect">
            <a:avLst/>
          </a:prstGeom>
          <a:effectLst>
            <a:glow rad="12700">
              <a:srgbClr val="8064A2">
                <a:lumMod val="60000"/>
                <a:lumOff val="40000"/>
              </a:srgbClr>
            </a:glow>
          </a:effectLst>
        </p:spPr>
      </p:pic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8E390555-39E1-FAB2-338C-E7BFE77AE2F3}"/>
              </a:ext>
            </a:extLst>
          </p:cNvPr>
          <p:cNvCxnSpPr>
            <a:cxnSpLocks/>
            <a:stCxn id="56" idx="3"/>
            <a:endCxn id="65" idx="1"/>
          </p:cNvCxnSpPr>
          <p:nvPr/>
        </p:nvCxnSpPr>
        <p:spPr>
          <a:xfrm flipV="1">
            <a:off x="3203847" y="2734903"/>
            <a:ext cx="2232249" cy="562"/>
          </a:xfrm>
          <a:prstGeom prst="straightConnector1">
            <a:avLst/>
          </a:prstGeom>
          <a:noFill/>
          <a:ln w="15875" cap="flat" cmpd="sng" algn="ctr">
            <a:solidFill>
              <a:srgbClr val="8064A2">
                <a:lumMod val="7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A493792-2EC2-5FBA-F392-07D79EC6AB95}"/>
              </a:ext>
            </a:extLst>
          </p:cNvPr>
          <p:cNvSpPr txBox="1"/>
          <p:nvPr/>
        </p:nvSpPr>
        <p:spPr>
          <a:xfrm>
            <a:off x="3102740" y="2174610"/>
            <a:ext cx="461148" cy="193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Result</a:t>
            </a: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03F78CDB-C0FA-0333-556E-1EBAD31F2AA8}"/>
              </a:ext>
            </a:extLst>
          </p:cNvPr>
          <p:cNvSpPr txBox="1"/>
          <p:nvPr/>
        </p:nvSpPr>
        <p:spPr>
          <a:xfrm>
            <a:off x="8014078" y="1948870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Accurate Data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and Rules</a:t>
            </a: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E10A527C-6644-1AC5-0041-CDAF4E09D22E}"/>
              </a:ext>
            </a:extLst>
          </p:cNvPr>
          <p:cNvSpPr/>
          <p:nvPr/>
        </p:nvSpPr>
        <p:spPr>
          <a:xfrm>
            <a:off x="5436095" y="3811575"/>
            <a:ext cx="504689" cy="488364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6FFEC070-94A7-B091-21A9-1FB5D411682E}"/>
              </a:ext>
            </a:extLst>
          </p:cNvPr>
          <p:cNvCxnSpPr>
            <a:cxnSpLocks/>
            <a:stCxn id="55" idx="1"/>
            <a:endCxn id="89" idx="3"/>
          </p:cNvCxnSpPr>
          <p:nvPr/>
        </p:nvCxnSpPr>
        <p:spPr>
          <a:xfrm flipH="1" flipV="1">
            <a:off x="5940784" y="4055757"/>
            <a:ext cx="1002246" cy="71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E7960DC6-9427-A0A2-5B7E-E1292B464BEB}"/>
              </a:ext>
            </a:extLst>
          </p:cNvPr>
          <p:cNvSpPr txBox="1"/>
          <p:nvPr/>
        </p:nvSpPr>
        <p:spPr>
          <a:xfrm>
            <a:off x="6191341" y="3908413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pic>
        <p:nvPicPr>
          <p:cNvPr id="92" name="圖形 91" descr="放大鏡 以實心填滿">
            <a:extLst>
              <a:ext uri="{FF2B5EF4-FFF2-40B4-BE49-F238E27FC236}">
                <a16:creationId xmlns:a16="http://schemas.microsoft.com/office/drawing/2014/main" id="{E9E1BCE1-4ABE-FEEB-CEF5-4FB971EDB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730429" y="4006957"/>
            <a:ext cx="429694" cy="421999"/>
          </a:xfrm>
          <a:prstGeom prst="rect">
            <a:avLst/>
          </a:prstGeom>
          <a:effectLst>
            <a:glow rad="127000">
              <a:srgbClr val="9BBB59">
                <a:lumMod val="40000"/>
                <a:lumOff val="60000"/>
                <a:alpha val="40000"/>
              </a:srgbClr>
            </a:glow>
          </a:effectLst>
        </p:spPr>
      </p:pic>
      <p:pic>
        <p:nvPicPr>
          <p:cNvPr id="93" name="圖形 92" descr="卷軸 以實心填滿">
            <a:extLst>
              <a:ext uri="{FF2B5EF4-FFF2-40B4-BE49-F238E27FC236}">
                <a16:creationId xmlns:a16="http://schemas.microsoft.com/office/drawing/2014/main" id="{D0763BA5-E69D-3D2A-AC52-55ADCE705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2160" y="3194165"/>
            <a:ext cx="379782" cy="354089"/>
          </a:xfrm>
          <a:prstGeom prst="rect">
            <a:avLst/>
          </a:prstGeom>
          <a:effectLst>
            <a:glow rad="12700">
              <a:srgbClr val="4F81BD">
                <a:alpha val="40000"/>
              </a:srgbClr>
            </a:glow>
          </a:effectLst>
        </p:spPr>
      </p:pic>
      <p:pic>
        <p:nvPicPr>
          <p:cNvPr id="94" name="圖形 93" descr="伺服器 以實心填滿">
            <a:extLst>
              <a:ext uri="{FF2B5EF4-FFF2-40B4-BE49-F238E27FC236}">
                <a16:creationId xmlns:a16="http://schemas.microsoft.com/office/drawing/2014/main" id="{8E7572A7-0B86-32E3-E857-D3A019DBB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2142" y="3902931"/>
            <a:ext cx="318157" cy="318157"/>
          </a:xfrm>
          <a:prstGeom prst="rect">
            <a:avLst/>
          </a:prstGeom>
          <a:effectLst>
            <a:glow rad="12700">
              <a:srgbClr val="4F81BD">
                <a:alpha val="40000"/>
              </a:srgbClr>
            </a:glow>
          </a:effectLst>
        </p:spPr>
      </p:pic>
      <p:sp>
        <p:nvSpPr>
          <p:cNvPr id="95" name="語音泡泡: 圓角矩形 94">
            <a:extLst>
              <a:ext uri="{FF2B5EF4-FFF2-40B4-BE49-F238E27FC236}">
                <a16:creationId xmlns:a16="http://schemas.microsoft.com/office/drawing/2014/main" id="{D6C830ED-E210-3AE0-CD29-51F4B81BC439}"/>
              </a:ext>
            </a:extLst>
          </p:cNvPr>
          <p:cNvSpPr/>
          <p:nvPr/>
        </p:nvSpPr>
        <p:spPr>
          <a:xfrm>
            <a:off x="2878380" y="3778030"/>
            <a:ext cx="1224934" cy="515066"/>
          </a:xfrm>
          <a:prstGeom prst="wedgeRoundRectCallout">
            <a:avLst>
              <a:gd name="adj1" fmla="val 60857"/>
              <a:gd name="adj2" fmla="val 47447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 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7C4E64D5-93CA-9601-F74B-45BC065B7DC8}"/>
              </a:ext>
            </a:extLst>
          </p:cNvPr>
          <p:cNvCxnSpPr>
            <a:cxnSpLocks/>
            <a:stCxn id="97" idx="1"/>
            <a:endCxn id="99" idx="1"/>
          </p:cNvCxnSpPr>
          <p:nvPr/>
        </p:nvCxnSpPr>
        <p:spPr>
          <a:xfrm rot="10800000" flipV="1">
            <a:off x="2541225" y="2871940"/>
            <a:ext cx="590614" cy="514654"/>
          </a:xfrm>
          <a:prstGeom prst="bentConnector3">
            <a:avLst>
              <a:gd name="adj1" fmla="val 138705"/>
            </a:avLst>
          </a:prstGeom>
          <a:noFill/>
          <a:ln w="15875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B8290119-132C-66FD-13BD-33FD719CD74E}"/>
              </a:ext>
            </a:extLst>
          </p:cNvPr>
          <p:cNvSpPr txBox="1"/>
          <p:nvPr/>
        </p:nvSpPr>
        <p:spPr>
          <a:xfrm>
            <a:off x="3131839" y="2756452"/>
            <a:ext cx="503257" cy="2309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Result</a:t>
            </a:r>
            <a:endParaRPr lang="en-US" altLang="zh-TW" sz="1000" dirty="0">
              <a:solidFill>
                <a:prstClr val="black"/>
              </a:solidFill>
              <a:highlight>
                <a:srgbClr val="DFD8E8"/>
              </a:highlight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AAFE9F93-AAF1-E5E6-B509-9117FEA85B68}"/>
              </a:ext>
            </a:extLst>
          </p:cNvPr>
          <p:cNvSpPr txBox="1"/>
          <p:nvPr/>
        </p:nvSpPr>
        <p:spPr>
          <a:xfrm>
            <a:off x="2572827" y="1985896"/>
            <a:ext cx="654504" cy="255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Retrieve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22E16C55-9CE5-526A-DA1E-AD1146104C27}"/>
              </a:ext>
            </a:extLst>
          </p:cNvPr>
          <p:cNvSpPr txBox="1"/>
          <p:nvPr/>
        </p:nvSpPr>
        <p:spPr>
          <a:xfrm>
            <a:off x="2541225" y="3263641"/>
            <a:ext cx="576064" cy="24590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Action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351A5D78-1FD6-47BF-ABE9-2301673375CB}"/>
              </a:ext>
            </a:extLst>
          </p:cNvPr>
          <p:cNvCxnSpPr>
            <a:cxnSpLocks/>
            <a:stCxn id="99" idx="3"/>
            <a:endCxn id="66" idx="1"/>
          </p:cNvCxnSpPr>
          <p:nvPr/>
        </p:nvCxnSpPr>
        <p:spPr>
          <a:xfrm flipV="1">
            <a:off x="3117289" y="3384948"/>
            <a:ext cx="2318807" cy="1646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1A970440-88A7-78E8-5B8C-DE165CDB4FD9}"/>
              </a:ext>
            </a:extLst>
          </p:cNvPr>
          <p:cNvSpPr txBox="1"/>
          <p:nvPr/>
        </p:nvSpPr>
        <p:spPr>
          <a:xfrm>
            <a:off x="8042213" y="3253487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Call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Function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0B09FD0-E450-4B2C-66DA-73E56E6BF45C}"/>
              </a:ext>
            </a:extLst>
          </p:cNvPr>
          <p:cNvSpPr txBox="1"/>
          <p:nvPr/>
        </p:nvSpPr>
        <p:spPr>
          <a:xfrm>
            <a:off x="2189968" y="1446628"/>
            <a:ext cx="664958" cy="48154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</a:t>
            </a:r>
          </a:p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396964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3BEBDAE0-66BF-4BB7-E743-F7615D02A912}"/>
              </a:ext>
            </a:extLst>
          </p:cNvPr>
          <p:cNvCxnSpPr>
            <a:cxnSpLocks/>
            <a:stCxn id="96" idx="1"/>
            <a:endCxn id="106" idx="3"/>
          </p:cNvCxnSpPr>
          <p:nvPr/>
        </p:nvCxnSpPr>
        <p:spPr>
          <a:xfrm flipH="1" flipV="1">
            <a:off x="3110981" y="3377389"/>
            <a:ext cx="2324482" cy="7762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164776-1845-CD79-3414-B03C1C7F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26</a:t>
            </a:fld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6018AB6-95F2-B47A-75B9-8E3EDD5227D4}"/>
              </a:ext>
            </a:extLst>
          </p:cNvPr>
          <p:cNvSpPr txBox="1"/>
          <p:nvPr/>
        </p:nvSpPr>
        <p:spPr>
          <a:xfrm>
            <a:off x="213023" y="5048016"/>
            <a:ext cx="8751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AI Agent Skills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Autonomous Task Execution: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Empowers AI to move beyond text and directly trigger actions.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Secure Guardrail Enforcement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Restricts AI behavior within save boundaries.</a:t>
            </a:r>
          </a:p>
        </p:txBody>
      </p:sp>
      <p:sp>
        <p:nvSpPr>
          <p:cNvPr id="58" name="標題 1">
            <a:extLst>
              <a:ext uri="{FF2B5EF4-FFF2-40B4-BE49-F238E27FC236}">
                <a16:creationId xmlns:a16="http://schemas.microsoft.com/office/drawing/2014/main" id="{8754573E-C132-B191-4BA2-61319DB6A98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Agent Skills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Skills are dynamic, on-demand SOPs that guide agents using tools.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81E40FAC-DD13-779E-2ECB-9C717B1BDE8F}"/>
              </a:ext>
            </a:extLst>
          </p:cNvPr>
          <p:cNvSpPr txBox="1"/>
          <p:nvPr/>
        </p:nvSpPr>
        <p:spPr>
          <a:xfrm>
            <a:off x="3779912" y="1700809"/>
            <a:ext cx="1224934" cy="1800199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>
            <a:solidFill>
              <a:sysClr val="windowText" lastClr="000000">
                <a:lumMod val="50000"/>
                <a:lumOff val="50000"/>
                <a:alpha val="40000"/>
              </a:sysClr>
            </a:solidFill>
          </a:ln>
        </p:spPr>
        <p:txBody>
          <a:bodyPr wrap="none" lIns="0" tIns="0" rIns="0" bIns="3600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(PC/NB)</a:t>
            </a: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5AF94ECE-9F9C-CC60-460E-6B2B38AC2808}"/>
              </a:ext>
            </a:extLst>
          </p:cNvPr>
          <p:cNvGrpSpPr/>
          <p:nvPr/>
        </p:nvGrpSpPr>
        <p:grpSpPr>
          <a:xfrm>
            <a:off x="611561" y="1608119"/>
            <a:ext cx="1643158" cy="994885"/>
            <a:chOff x="611560" y="1474120"/>
            <a:chExt cx="1764115" cy="1132167"/>
          </a:xfrm>
        </p:grpSpPr>
        <p:sp>
          <p:nvSpPr>
            <p:cNvPr id="83" name="雲朵形 82">
              <a:extLst>
                <a:ext uri="{FF2B5EF4-FFF2-40B4-BE49-F238E27FC236}">
                  <a16:creationId xmlns:a16="http://schemas.microsoft.com/office/drawing/2014/main" id="{4711A49B-FE46-898B-DA97-6DE351263F61}"/>
                </a:ext>
              </a:extLst>
            </p:cNvPr>
            <p:cNvSpPr/>
            <p:nvPr/>
          </p:nvSpPr>
          <p:spPr>
            <a:xfrm>
              <a:off x="829914" y="1474120"/>
              <a:ext cx="1545761" cy="1132167"/>
            </a:xfrm>
            <a:prstGeom prst="cloud">
              <a:avLst/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508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700F085E-7E3C-6749-FEEF-A20D696CEFFF}"/>
                </a:ext>
              </a:extLst>
            </p:cNvPr>
            <p:cNvSpPr txBox="1"/>
            <p:nvPr/>
          </p:nvSpPr>
          <p:spPr>
            <a:xfrm>
              <a:off x="1085518" y="1657807"/>
              <a:ext cx="863628" cy="4864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04000" tIns="0" rIns="0" bIns="36000" anchor="b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LLM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Model</a:t>
              </a:r>
              <a:endPara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5" name="矩形: 圓角 84">
              <a:extLst>
                <a:ext uri="{FF2B5EF4-FFF2-40B4-BE49-F238E27FC236}">
                  <a16:creationId xmlns:a16="http://schemas.microsoft.com/office/drawing/2014/main" id="{45DB9F58-6D9F-DF3C-A6DD-3E50A9F8084F}"/>
                </a:ext>
              </a:extLst>
            </p:cNvPr>
            <p:cNvSpPr/>
            <p:nvPr/>
          </p:nvSpPr>
          <p:spPr>
            <a:xfrm>
              <a:off x="973930" y="2176134"/>
              <a:ext cx="1098050" cy="316762"/>
            </a:xfrm>
            <a:prstGeom prst="roundRect">
              <a:avLst>
                <a:gd name="adj" fmla="val 8706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Model Engine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86" name="圖片 85">
              <a:extLst>
                <a:ext uri="{FF2B5EF4-FFF2-40B4-BE49-F238E27FC236}">
                  <a16:creationId xmlns:a16="http://schemas.microsoft.com/office/drawing/2014/main" id="{205E7724-79D0-B54A-10BF-31DD3CF62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916832"/>
              <a:ext cx="434378" cy="426757"/>
            </a:xfrm>
            <a:prstGeom prst="rect">
              <a:avLst/>
            </a:prstGeom>
            <a:effectLst>
              <a:glow rad="63500">
                <a:srgbClr val="4BACC6">
                  <a:lumMod val="20000"/>
                  <a:lumOff val="80000"/>
                  <a:alpha val="40000"/>
                </a:srgbClr>
              </a:glow>
              <a:softEdge rad="50800"/>
            </a:effectLst>
          </p:spPr>
        </p:pic>
        <p:pic>
          <p:nvPicPr>
            <p:cNvPr id="87" name="圖形 86" descr="原子 以實心填滿">
              <a:extLst>
                <a:ext uri="{FF2B5EF4-FFF2-40B4-BE49-F238E27FC236}">
                  <a16:creationId xmlns:a16="http://schemas.microsoft.com/office/drawing/2014/main" id="{AD65BA63-8E46-486A-C947-F64456261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1736" y="1651945"/>
              <a:ext cx="497527" cy="497527"/>
            </a:xfrm>
            <a:prstGeom prst="rect">
              <a:avLst/>
            </a:prstGeom>
          </p:spPr>
        </p:pic>
      </p:grpSp>
      <p:sp>
        <p:nvSpPr>
          <p:cNvPr id="88" name="語音泡泡: 圓角矩形 87">
            <a:extLst>
              <a:ext uri="{FF2B5EF4-FFF2-40B4-BE49-F238E27FC236}">
                <a16:creationId xmlns:a16="http://schemas.microsoft.com/office/drawing/2014/main" id="{884402FB-FAAE-A310-4D0E-87F4747634D9}"/>
              </a:ext>
            </a:extLst>
          </p:cNvPr>
          <p:cNvSpPr/>
          <p:nvPr/>
        </p:nvSpPr>
        <p:spPr>
          <a:xfrm>
            <a:off x="3233339" y="1593282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Search TSMC.</a:t>
            </a:r>
          </a:p>
        </p:txBody>
      </p:sp>
      <p:sp>
        <p:nvSpPr>
          <p:cNvPr id="89" name="語音泡泡: 圓角矩形 88">
            <a:extLst>
              <a:ext uri="{FF2B5EF4-FFF2-40B4-BE49-F238E27FC236}">
                <a16:creationId xmlns:a16="http://schemas.microsoft.com/office/drawing/2014/main" id="{484B9288-141B-8981-C8D1-CF6879BBCA81}"/>
              </a:ext>
            </a:extLst>
          </p:cNvPr>
          <p:cNvSpPr/>
          <p:nvPr/>
        </p:nvSpPr>
        <p:spPr>
          <a:xfrm>
            <a:off x="3233339" y="1910511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What is TSMC Trading at?</a:t>
            </a:r>
          </a:p>
        </p:txBody>
      </p:sp>
      <p:sp>
        <p:nvSpPr>
          <p:cNvPr id="90" name="語音泡泡: 圓角矩形 89">
            <a:extLst>
              <a:ext uri="{FF2B5EF4-FFF2-40B4-BE49-F238E27FC236}">
                <a16:creationId xmlns:a16="http://schemas.microsoft.com/office/drawing/2014/main" id="{3A28A160-46D8-2C27-FF81-112884533026}"/>
              </a:ext>
            </a:extLst>
          </p:cNvPr>
          <p:cNvSpPr/>
          <p:nvPr/>
        </p:nvSpPr>
        <p:spPr>
          <a:xfrm>
            <a:off x="3233339" y="2240676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Generate the report.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BF9A2D43-D218-018B-30C1-28E16D5B1A82}"/>
              </a:ext>
            </a:extLst>
          </p:cNvPr>
          <p:cNvSpPr txBox="1"/>
          <p:nvPr/>
        </p:nvSpPr>
        <p:spPr>
          <a:xfrm>
            <a:off x="2189968" y="1446628"/>
            <a:ext cx="664958" cy="48154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</a:t>
            </a:r>
          </a:p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</a:p>
        </p:txBody>
      </p:sp>
      <p:pic>
        <p:nvPicPr>
          <p:cNvPr id="92" name="圖形 91" descr="科學思想 以實心填滿">
            <a:extLst>
              <a:ext uri="{FF2B5EF4-FFF2-40B4-BE49-F238E27FC236}">
                <a16:creationId xmlns:a16="http://schemas.microsoft.com/office/drawing/2014/main" id="{4306916B-2385-4FF0-7FAA-E5F2C9C1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827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9CE82B5B-DEA7-83FF-D922-FD3D1504F2D7}"/>
              </a:ext>
            </a:extLst>
          </p:cNvPr>
          <p:cNvSpPr/>
          <p:nvPr/>
        </p:nvSpPr>
        <p:spPr>
          <a:xfrm>
            <a:off x="5435463" y="3140968"/>
            <a:ext cx="504689" cy="488365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Scripts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97" name="圖形 96" descr="卷軸 以實心填滿">
            <a:extLst>
              <a:ext uri="{FF2B5EF4-FFF2-40B4-BE49-F238E27FC236}">
                <a16:creationId xmlns:a16="http://schemas.microsoft.com/office/drawing/2014/main" id="{1D7E6097-BDFC-C97D-42DB-862B31765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0987" y="3231323"/>
            <a:ext cx="379782" cy="354089"/>
          </a:xfrm>
          <a:prstGeom prst="rect">
            <a:avLst/>
          </a:prstGeom>
        </p:spPr>
      </p:pic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E7173C79-9112-C67E-7125-FE827C7A1F97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5249563" y="2366786"/>
            <a:ext cx="438245" cy="774182"/>
          </a:xfrm>
          <a:prstGeom prst="bentConnector2">
            <a:avLst/>
          </a:prstGeom>
          <a:noFill/>
          <a:ln w="15875" cap="flat" cmpd="sng" algn="ctr">
            <a:solidFill>
              <a:srgbClr val="8064A2"/>
            </a:solidFill>
            <a:prstDash val="sysDash"/>
            <a:tailEnd type="triangle"/>
          </a:ln>
          <a:effectLst/>
        </p:spPr>
      </p:cxnSp>
      <p:sp>
        <p:nvSpPr>
          <p:cNvPr id="104" name="語音泡泡: 圓角矩形 103">
            <a:extLst>
              <a:ext uri="{FF2B5EF4-FFF2-40B4-BE49-F238E27FC236}">
                <a16:creationId xmlns:a16="http://schemas.microsoft.com/office/drawing/2014/main" id="{ABF64B9C-0A29-E0B4-5835-0EC155E3ECDB}"/>
              </a:ext>
            </a:extLst>
          </p:cNvPr>
          <p:cNvSpPr/>
          <p:nvPr/>
        </p:nvSpPr>
        <p:spPr>
          <a:xfrm>
            <a:off x="2878380" y="3778030"/>
            <a:ext cx="1224934" cy="515066"/>
          </a:xfrm>
          <a:prstGeom prst="wedgeRoundRectCallout">
            <a:avLst>
              <a:gd name="adj1" fmla="val 60857"/>
              <a:gd name="adj2" fmla="val 47447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 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3C6E1119-AC27-8489-F5C6-D5AA51A9A7DF}"/>
              </a:ext>
            </a:extLst>
          </p:cNvPr>
          <p:cNvGrpSpPr/>
          <p:nvPr/>
        </p:nvGrpSpPr>
        <p:grpSpPr>
          <a:xfrm>
            <a:off x="1996959" y="3159987"/>
            <a:ext cx="1114022" cy="701061"/>
            <a:chOff x="2881914" y="3789040"/>
            <a:chExt cx="1114022" cy="701061"/>
          </a:xfrm>
        </p:grpSpPr>
        <p:sp>
          <p:nvSpPr>
            <p:cNvPr id="106" name="語音泡泡: 圓角矩形 105">
              <a:extLst>
                <a:ext uri="{FF2B5EF4-FFF2-40B4-BE49-F238E27FC236}">
                  <a16:creationId xmlns:a16="http://schemas.microsoft.com/office/drawing/2014/main" id="{3DD5F532-4A01-7A4F-6C1D-A2D6F53119DF}"/>
                </a:ext>
              </a:extLst>
            </p:cNvPr>
            <p:cNvSpPr/>
            <p:nvPr/>
          </p:nvSpPr>
          <p:spPr>
            <a:xfrm>
              <a:off x="2881914" y="3789040"/>
              <a:ext cx="1114022" cy="434804"/>
            </a:xfrm>
            <a:prstGeom prst="wedgeRoundRectCallout">
              <a:avLst>
                <a:gd name="adj1" fmla="val -61512"/>
                <a:gd name="adj2" fmla="val -50054"/>
                <a:gd name="adj3" fmla="val 16667"/>
              </a:avLst>
            </a:prstGeom>
            <a:solidFill>
              <a:sysClr val="window" lastClr="FFFFFF">
                <a:alpha val="80000"/>
              </a:sysClr>
            </a:solidFill>
            <a:ln w="381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新細明體" panose="02020500000000000000" pitchFamily="18" charset="-120"/>
                  <a:cs typeface="Cavolini" panose="020B0502040204020203" pitchFamily="66" charset="0"/>
                </a:rPr>
                <a:t>Here you are.</a:t>
              </a:r>
            </a:p>
          </p:txBody>
        </p:sp>
        <p:pic>
          <p:nvPicPr>
            <p:cNvPr id="107" name="圖形 106" descr="夾紙板 (徽章) 以實心填滿">
              <a:extLst>
                <a:ext uri="{FF2B5EF4-FFF2-40B4-BE49-F238E27FC236}">
                  <a16:creationId xmlns:a16="http://schemas.microsoft.com/office/drawing/2014/main" id="{ADE04D44-A6CD-711A-9C2A-4357B6AD84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52699" y="4096194"/>
              <a:ext cx="377960" cy="393907"/>
            </a:xfrm>
            <a:prstGeom prst="rect">
              <a:avLst/>
            </a:prstGeom>
            <a:effectLst>
              <a:glow rad="127000">
                <a:srgbClr val="8064A2">
                  <a:lumMod val="20000"/>
                  <a:lumOff val="80000"/>
                </a:srgbClr>
              </a:glow>
            </a:effectLst>
          </p:spPr>
        </p:pic>
      </p:grpSp>
      <p:cxnSp>
        <p:nvCxnSpPr>
          <p:cNvPr id="108" name="接點: 弧形 107">
            <a:extLst>
              <a:ext uri="{FF2B5EF4-FFF2-40B4-BE49-F238E27FC236}">
                <a16:creationId xmlns:a16="http://schemas.microsoft.com/office/drawing/2014/main" id="{09DD3D5E-F154-EAC7-7218-0D6695C1702C}"/>
              </a:ext>
            </a:extLst>
          </p:cNvPr>
          <p:cNvCxnSpPr>
            <a:cxnSpLocks/>
            <a:stCxn id="107" idx="2"/>
            <a:endCxn id="104" idx="1"/>
          </p:cNvCxnSpPr>
          <p:nvPr/>
        </p:nvCxnSpPr>
        <p:spPr>
          <a:xfrm rot="16200000" flipH="1">
            <a:off x="2580295" y="3737477"/>
            <a:ext cx="174515" cy="421656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C0C23F93-038B-CF04-0377-A86F1E83BE2D}"/>
              </a:ext>
            </a:extLst>
          </p:cNvPr>
          <p:cNvSpPr txBox="1"/>
          <p:nvPr/>
        </p:nvSpPr>
        <p:spPr>
          <a:xfrm>
            <a:off x="3983838" y="4484209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1AA81404-B41A-0872-1830-A596C6AC1F34}"/>
              </a:ext>
            </a:extLst>
          </p:cNvPr>
          <p:cNvCxnSpPr>
            <a:cxnSpLocks/>
            <a:stCxn id="111" idx="0"/>
            <a:endCxn id="81" idx="2"/>
          </p:cNvCxnSpPr>
          <p:nvPr/>
        </p:nvCxnSpPr>
        <p:spPr>
          <a:xfrm flipH="1" flipV="1">
            <a:off x="4392379" y="3501008"/>
            <a:ext cx="2358" cy="98320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04422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A7784E-D692-F566-CB47-6703F206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27</a:t>
            </a:fld>
            <a:endParaRPr lang="zh-TW" altLang="en-US" dirty="0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405385-93D1-AC4F-25F9-04475F4E00B3}"/>
              </a:ext>
            </a:extLst>
          </p:cNvPr>
          <p:cNvSpPr/>
          <p:nvPr/>
        </p:nvSpPr>
        <p:spPr>
          <a:xfrm>
            <a:off x="3779912" y="2492897"/>
            <a:ext cx="1224934" cy="1800199"/>
          </a:xfrm>
          <a:prstGeom prst="roundRect">
            <a:avLst>
              <a:gd name="adj" fmla="val 8706"/>
            </a:avLst>
          </a:prstGeom>
          <a:solidFill>
            <a:srgbClr val="8064A2">
              <a:lumMod val="5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LLM Wiki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F00F088-D71A-7BFA-3F91-A1A3BC1128F2}"/>
              </a:ext>
            </a:extLst>
          </p:cNvPr>
          <p:cNvSpPr txBox="1"/>
          <p:nvPr/>
        </p:nvSpPr>
        <p:spPr>
          <a:xfrm>
            <a:off x="512390" y="2445570"/>
            <a:ext cx="1224934" cy="88003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none" lIns="0" tIns="0" rIns="0" bIns="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17AA45-CA2A-DCC1-9403-37BC9F7FB9FB}"/>
              </a:ext>
            </a:extLst>
          </p:cNvPr>
          <p:cNvSpPr txBox="1"/>
          <p:nvPr/>
        </p:nvSpPr>
        <p:spPr>
          <a:xfrm>
            <a:off x="213023" y="5048016"/>
            <a:ext cx="680724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Human-in-the-Loop Framework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Ingest(raw)</a:t>
            </a:r>
            <a:r>
              <a:rPr lang="en-US" altLang="zh-TW" sz="12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 Instruct(C/Q/L)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Review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Setup(schema)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GitHub: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nashsu/llm_wiki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atomicstrata/llm-wiki-compiler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Knowledge-vault</a:t>
            </a:r>
            <a:r>
              <a:rPr lang="en-US" altLang="zh-TW" sz="16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.</a:t>
            </a: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651F4E1A-CA97-F9EC-808A-D394F8CAB66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LLM</a:t>
            </a:r>
            <a:r>
              <a:rPr lang="zh-TW" altLang="en-US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Wiki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LLMs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eliminate the boring bookkeeping of knowledge management, ensuring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wikis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grow effortlessly.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0992999-104B-4174-B600-43DDCFB46E14}"/>
              </a:ext>
            </a:extLst>
          </p:cNvPr>
          <p:cNvSpPr txBox="1"/>
          <p:nvPr/>
        </p:nvSpPr>
        <p:spPr>
          <a:xfrm>
            <a:off x="713958" y="3640052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3839581-428F-B8AC-7993-01B63B1D8D21}"/>
              </a:ext>
            </a:extLst>
          </p:cNvPr>
          <p:cNvSpPr/>
          <p:nvPr/>
        </p:nvSpPr>
        <p:spPr>
          <a:xfrm>
            <a:off x="1475023" y="3148813"/>
            <a:ext cx="504689" cy="488365"/>
          </a:xfrm>
          <a:prstGeom prst="roundRect">
            <a:avLst>
              <a:gd name="adj" fmla="val 8706"/>
            </a:avLst>
          </a:prstGeom>
          <a:gradFill flip="none" rotWithShape="1">
            <a:gsLst>
              <a:gs pos="88000">
                <a:srgbClr val="D7D2DB"/>
              </a:gs>
              <a:gs pos="0">
                <a:srgbClr val="9BBB59">
                  <a:lumMod val="40000"/>
                  <a:lumOff val="60000"/>
                </a:srgbClr>
              </a:gs>
              <a:gs pos="100000">
                <a:srgbClr val="8064A2">
                  <a:lumMod val="60000"/>
                  <a:lumOff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3E4DA781-73F1-F5C6-F072-422902F93D0F}"/>
              </a:ext>
            </a:extLst>
          </p:cNvPr>
          <p:cNvGraphicFramePr>
            <a:graphicFrameLocks noGrp="1"/>
          </p:cNvGraphicFramePr>
          <p:nvPr/>
        </p:nvGraphicFramePr>
        <p:xfrm>
          <a:off x="5148064" y="2527100"/>
          <a:ext cx="3266106" cy="1731790"/>
        </p:xfrm>
        <a:graphic>
          <a:graphicData uri="http://schemas.openxmlformats.org/drawingml/2006/table">
            <a:tbl>
              <a:tblPr firstRow="1" bandRow="1"/>
              <a:tblGrid>
                <a:gridCol w="326610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224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Andrej Karpathy’s Gist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13227"/>
                  </a:ext>
                </a:extLst>
              </a:tr>
              <a:tr h="2120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level: Raw / Wiki / Schema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Raw stores assets, Wiki compiles knowledge, and Schema directs the AI Agent.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Instruct: Compile / Query / Lint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Compile integrate data, Query retrieves insights, and Lint audits the final knowledge base.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1687290B-F26E-01D0-BE45-C9E88F5E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033066" y="2968587"/>
            <a:ext cx="718626" cy="676437"/>
          </a:xfrm>
          <a:prstGeom prst="rect">
            <a:avLst/>
          </a:prstGeom>
          <a:effectLst>
            <a:glow rad="25400">
              <a:srgbClr val="8064A2">
                <a:lumMod val="60000"/>
                <a:lumOff val="40000"/>
                <a:alpha val="40000"/>
              </a:srgbClr>
            </a:glow>
            <a:softEdge rad="31750"/>
          </a:effectLst>
        </p:spPr>
      </p:pic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1C35FDA-32CE-AE55-8A8A-DADF7093E04D}"/>
              </a:ext>
            </a:extLst>
          </p:cNvPr>
          <p:cNvCxnSpPr>
            <a:cxnSpLocks/>
            <a:stCxn id="16" idx="1"/>
            <a:endCxn id="21" idx="3"/>
          </p:cNvCxnSpPr>
          <p:nvPr/>
        </p:nvCxnSpPr>
        <p:spPr>
          <a:xfrm flipH="1" flipV="1">
            <a:off x="1979712" y="3392996"/>
            <a:ext cx="1800200" cy="1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pic>
        <p:nvPicPr>
          <p:cNvPr id="25" name="圖形 24" descr="科學思想 以實心填滿">
            <a:extLst>
              <a:ext uri="{FF2B5EF4-FFF2-40B4-BE49-F238E27FC236}">
                <a16:creationId xmlns:a16="http://schemas.microsoft.com/office/drawing/2014/main" id="{2714C617-AB40-2453-D256-9E32920DE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30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426464D-A211-CE6B-0BFB-F872DEAAB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17583"/>
              </p:ext>
            </p:extLst>
          </p:nvPr>
        </p:nvGraphicFramePr>
        <p:xfrm>
          <a:off x="5179640" y="1259994"/>
          <a:ext cx="2540034" cy="864095"/>
        </p:xfrm>
        <a:graphic>
          <a:graphicData uri="http://schemas.openxmlformats.org/drawingml/2006/table">
            <a:tbl>
              <a:tblPr firstRow="1" bandRow="1"/>
              <a:tblGrid>
                <a:gridCol w="81184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031015462"/>
                    </a:ext>
                  </a:extLst>
                </a:gridCol>
              </a:tblGrid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Vector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Vanilla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Rapid context retrieval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Graph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Global document insights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198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 Wiki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Knowledge Asset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583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2840D-2E6E-385F-9C93-AD6AFD32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28</a:t>
            </a:fld>
            <a:endParaRPr lang="zh-TW" altLang="en-US" dirty="0"/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4B948885-DB73-34CE-4FF3-968B6703E4B6}"/>
              </a:ext>
            </a:extLst>
          </p:cNvPr>
          <p:cNvGraphicFramePr>
            <a:graphicFrameLocks noGrp="1"/>
          </p:cNvGraphicFramePr>
          <p:nvPr/>
        </p:nvGraphicFramePr>
        <p:xfrm>
          <a:off x="5984016" y="5308267"/>
          <a:ext cx="1369755" cy="1158240"/>
        </p:xfrm>
        <a:graphic>
          <a:graphicData uri="http://schemas.openxmlformats.org/drawingml/2006/table">
            <a:tbl>
              <a:tblPr firstRow="1" bandRow="1"/>
              <a:tblGrid>
                <a:gridCol w="1369755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Edge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858249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llama.cpp (Geek)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MLX (Apple)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 Runtime (MS)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02146"/>
                  </a:ext>
                </a:extLst>
              </a:tr>
            </a:tbl>
          </a:graphicData>
        </a:graphic>
      </p:graphicFrame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3D07DBA-FF69-26FB-FD20-109ABA41BC3D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 flipV="1">
            <a:off x="3005148" y="2758040"/>
            <a:ext cx="3223036" cy="477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564D0A-633B-8CA7-96C0-FC19F7980BD6}"/>
              </a:ext>
            </a:extLst>
          </p:cNvPr>
          <p:cNvSpPr txBox="1"/>
          <p:nvPr/>
        </p:nvSpPr>
        <p:spPr>
          <a:xfrm>
            <a:off x="2123728" y="3846670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SFT &amp;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Quantization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(Edge AI)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50319E7-38A9-78DE-5021-36E909E4B01F}"/>
              </a:ext>
            </a:extLst>
          </p:cNvPr>
          <p:cNvSpPr txBox="1"/>
          <p:nvPr/>
        </p:nvSpPr>
        <p:spPr>
          <a:xfrm>
            <a:off x="6228184" y="2379882"/>
            <a:ext cx="881420" cy="756316"/>
          </a:xfrm>
          <a:prstGeom prst="rect">
            <a:avLst/>
          </a:prstGeom>
          <a:solidFill>
            <a:srgbClr val="4F81BD">
              <a:lumMod val="40000"/>
              <a:lumOff val="60000"/>
              <a:alpha val="9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Inference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Server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(LLM)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F18FB7A-21FC-60D2-2FC5-43A2EDD79E81}"/>
              </a:ext>
            </a:extLst>
          </p:cNvPr>
          <p:cNvSpPr txBox="1"/>
          <p:nvPr/>
        </p:nvSpPr>
        <p:spPr>
          <a:xfrm>
            <a:off x="6228185" y="3846670"/>
            <a:ext cx="881419" cy="7563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" lastClr="FFFFFF">
                <a:lumMod val="85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AI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PC</a:t>
            </a:r>
            <a:b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</a:b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(SLM)</a:t>
            </a: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40D4AD7-D29F-AF7D-4622-31ED34EF61BB}"/>
              </a:ext>
            </a:extLst>
          </p:cNvPr>
          <p:cNvSpPr txBox="1"/>
          <p:nvPr/>
        </p:nvSpPr>
        <p:spPr>
          <a:xfrm>
            <a:off x="2123728" y="2384652"/>
            <a:ext cx="881420" cy="756316"/>
          </a:xfrm>
          <a:prstGeom prst="rect">
            <a:avLst/>
          </a:prstGeom>
          <a:solidFill>
            <a:srgbClr val="C0504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Training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Stage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(Cloud)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5ED77A56-E8BE-F548-DB76-F4A473434596}"/>
              </a:ext>
            </a:extLst>
          </p:cNvPr>
          <p:cNvGraphicFramePr>
            <a:graphicFrameLocks noGrp="1"/>
          </p:cNvGraphicFramePr>
          <p:nvPr/>
        </p:nvGraphicFramePr>
        <p:xfrm>
          <a:off x="1925027" y="4889888"/>
          <a:ext cx="1278821" cy="1178360"/>
        </p:xfrm>
        <a:graphic>
          <a:graphicData uri="http://schemas.openxmlformats.org/drawingml/2006/table">
            <a:tbl>
              <a:tblPr firstRow="1" bandRow="1"/>
              <a:tblGrid>
                <a:gridCol w="127882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FT-Engine</a:t>
                      </a:r>
                      <a:endParaRPr kumimoji="0" lang="zh-TW" altLang="en-US" sz="1400" b="1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71076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Hugging Face TRL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Unsloth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(No Code)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73834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Axolotl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(Geek)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LLaMA-Factory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MLX-LM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(Apple)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602166"/>
                  </a:ext>
                </a:extLst>
              </a:tr>
            </a:tbl>
          </a:graphicData>
        </a:graphic>
      </p:graphicFrame>
      <p:sp>
        <p:nvSpPr>
          <p:cNvPr id="38" name="標題 1">
            <a:extLst>
              <a:ext uri="{FF2B5EF4-FFF2-40B4-BE49-F238E27FC236}">
                <a16:creationId xmlns:a16="http://schemas.microsoft.com/office/drawing/2014/main" id="{E561082B-8B15-C5A6-6185-10E5607C4D6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SLM Engine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Run language models locally and efficiently with minimal hardware resources.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3F7CC25F-48BC-AC48-9B1A-7385699F0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4960218"/>
            <a:ext cx="306197" cy="288032"/>
          </a:xfrm>
          <a:prstGeom prst="rect">
            <a:avLst/>
          </a:prstGeom>
          <a:effectLst>
            <a:glow rad="76200">
              <a:sysClr val="window" lastClr="FFFFFF">
                <a:alpha val="40000"/>
              </a:sysClr>
            </a:glow>
          </a:effectLst>
        </p:spPr>
      </p:pic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4B895B6F-C6F0-990C-5157-90A9139AA400}"/>
              </a:ext>
            </a:extLst>
          </p:cNvPr>
          <p:cNvGraphicFramePr>
            <a:graphicFrameLocks noGrp="1"/>
          </p:cNvGraphicFramePr>
          <p:nvPr/>
        </p:nvGraphicFramePr>
        <p:xfrm>
          <a:off x="3297799" y="5313459"/>
          <a:ext cx="802885" cy="1127760"/>
        </p:xfrm>
        <a:graphic>
          <a:graphicData uri="http://schemas.openxmlformats.org/drawingml/2006/table">
            <a:tbl>
              <a:tblPr firstRow="1" bandRow="1"/>
              <a:tblGrid>
                <a:gridCol w="802885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091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FF0000"/>
                          </a:solidFill>
                          <a:effectLst/>
                        </a:rPr>
                        <a:t>Gemma 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04120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770"/>
                  </a:ext>
                </a:extLst>
              </a:tr>
            </a:tbl>
          </a:graphicData>
        </a:graphic>
      </p:graphicFrame>
      <p:pic>
        <p:nvPicPr>
          <p:cNvPr id="41" name="圖片 40">
            <a:extLst>
              <a:ext uri="{FF2B5EF4-FFF2-40B4-BE49-F238E27FC236}">
                <a16:creationId xmlns:a16="http://schemas.microsoft.com/office/drawing/2014/main" id="{522C3E15-316A-0F11-157F-B02B829D8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329" y="5455513"/>
            <a:ext cx="337951" cy="390669"/>
          </a:xfrm>
          <a:prstGeom prst="rect">
            <a:avLst/>
          </a:prstGeom>
          <a:solidFill>
            <a:sysClr val="window" lastClr="FFFFFF">
              <a:alpha val="60000"/>
            </a:sysClr>
          </a:solidFill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A9FB4694-C029-D78D-7CAB-4979745B1B76}"/>
              </a:ext>
            </a:extLst>
          </p:cNvPr>
          <p:cNvSpPr txBox="1"/>
          <p:nvPr/>
        </p:nvSpPr>
        <p:spPr>
          <a:xfrm>
            <a:off x="3106216" y="2444150"/>
            <a:ext cx="1033736" cy="31437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Backward Pass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Checkpointing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1419286-17E1-C6EF-9C5C-0313D9208616}"/>
              </a:ext>
            </a:extLst>
          </p:cNvPr>
          <p:cNvSpPr txBox="1"/>
          <p:nvPr/>
        </p:nvSpPr>
        <p:spPr>
          <a:xfrm>
            <a:off x="5500146" y="2444149"/>
            <a:ext cx="702888" cy="31389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Attention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KV-Cache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90D23B8-86B8-4FC4-6160-7B0C514F16C5}"/>
              </a:ext>
            </a:extLst>
          </p:cNvPr>
          <p:cNvSpPr txBox="1"/>
          <p:nvPr/>
        </p:nvSpPr>
        <p:spPr>
          <a:xfrm>
            <a:off x="3103440" y="3865792"/>
            <a:ext cx="820488" cy="35529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Throughput,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PEFT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2BA0F0A9-5FB5-9B8D-BD81-CEB7BAB61A7B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3005148" y="4224828"/>
            <a:ext cx="3223037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  <a:headEnd w="med" len="lg"/>
            <a:tailEnd type="triangle" w="lg" len="med"/>
          </a:ln>
          <a:effectLst/>
        </p:spPr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74816166-52F2-AC73-37A8-5CB771146C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320258"/>
            <a:ext cx="288033" cy="288032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C36418CE-531E-537C-D6AC-A5D7D0027F9C}"/>
              </a:ext>
            </a:extLst>
          </p:cNvPr>
          <p:cNvSpPr txBox="1"/>
          <p:nvPr/>
        </p:nvSpPr>
        <p:spPr>
          <a:xfrm>
            <a:off x="5076056" y="3865792"/>
            <a:ext cx="1107903" cy="34949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Latency, TTFT,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Operator Fusion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91FF4AE-D824-B2CB-7AB3-A85E347648E3}"/>
              </a:ext>
            </a:extLst>
          </p:cNvPr>
          <p:cNvSpPr txBox="1"/>
          <p:nvPr/>
        </p:nvSpPr>
        <p:spPr>
          <a:xfrm>
            <a:off x="3258531" y="4362433"/>
            <a:ext cx="881419" cy="365815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 File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(GGUF, ONNX)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7286926-83D7-8E42-1149-0CBA46A95DD7}"/>
              </a:ext>
            </a:extLst>
          </p:cNvPr>
          <p:cNvSpPr txBox="1"/>
          <p:nvPr/>
        </p:nvSpPr>
        <p:spPr>
          <a:xfrm>
            <a:off x="213023" y="968241"/>
            <a:ext cx="8751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Engine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Training Framework: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Optimizes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model weights using gradients.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Inference Engine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Runs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trained models to generate predictions.</a:t>
            </a: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BB8572A-ADB0-1F4F-D2FE-9B5DB75C2BCB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3699241" y="4728248"/>
            <a:ext cx="0" cy="58521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970AF300-B257-0DC0-CEDD-17302A286BB8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flipH="1">
            <a:off x="6668893" y="4602986"/>
            <a:ext cx="2" cy="70528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3511AFDE-941B-981B-0274-D9DA32F34D16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 flipH="1">
            <a:off x="2564437" y="4602986"/>
            <a:ext cx="1" cy="28690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37815B13-B34E-8F51-6BFA-E744DE238D41}"/>
              </a:ext>
            </a:extLst>
          </p:cNvPr>
          <p:cNvCxnSpPr/>
          <p:nvPr/>
        </p:nvCxnSpPr>
        <p:spPr>
          <a:xfrm>
            <a:off x="899592" y="3501008"/>
            <a:ext cx="7560840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CCEE4E9-AC22-9ED9-62CE-A561CCE0D0E5}"/>
              </a:ext>
            </a:extLst>
          </p:cNvPr>
          <p:cNvSpPr txBox="1"/>
          <p:nvPr/>
        </p:nvSpPr>
        <p:spPr>
          <a:xfrm>
            <a:off x="7699522" y="3188590"/>
            <a:ext cx="588146" cy="6248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8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Cloud</a:t>
            </a:r>
          </a:p>
          <a:p>
            <a:pPr algn="ctr" defTabSz="914400">
              <a:lnSpc>
                <a:spcPts val="18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Edge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5" name="接點: 弧形 54">
            <a:extLst>
              <a:ext uri="{FF2B5EF4-FFF2-40B4-BE49-F238E27FC236}">
                <a16:creationId xmlns:a16="http://schemas.microsoft.com/office/drawing/2014/main" id="{B6A812C1-D470-57D1-506F-F06C11D27A5F}"/>
              </a:ext>
            </a:extLst>
          </p:cNvPr>
          <p:cNvCxnSpPr>
            <a:cxnSpLocks/>
            <a:stCxn id="36" idx="1"/>
            <a:endCxn id="33" idx="1"/>
          </p:cNvCxnSpPr>
          <p:nvPr/>
        </p:nvCxnSpPr>
        <p:spPr>
          <a:xfrm rot="10800000" flipV="1">
            <a:off x="2123728" y="2762810"/>
            <a:ext cx="12700" cy="1462018"/>
          </a:xfrm>
          <a:prstGeom prst="curvedConnector3">
            <a:avLst>
              <a:gd name="adj1" fmla="val 180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070BD0B-00A5-7D1D-9C26-3340CECED6EB}"/>
              </a:ext>
            </a:extLst>
          </p:cNvPr>
          <p:cNvSpPr txBox="1"/>
          <p:nvPr/>
        </p:nvSpPr>
        <p:spPr>
          <a:xfrm>
            <a:off x="1514783" y="3341477"/>
            <a:ext cx="1049654" cy="35529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Computing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Resource / 100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8071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ADBE0C-FB58-995F-F671-29BB644F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29</a:t>
            </a:fld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F168BA1-A70B-B9D1-153A-D7740B53B08A}"/>
              </a:ext>
            </a:extLst>
          </p:cNvPr>
          <p:cNvSpPr txBox="1"/>
          <p:nvPr/>
        </p:nvSpPr>
        <p:spPr>
          <a:xfrm>
            <a:off x="287524" y="4375264"/>
            <a:ext cx="8568952" cy="1862048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Key Trends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Transition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Shifting from Quantity (raw web) to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Quality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(curated corpora).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Architecture (MoE)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Activating only relevant sub-networks to drastically lower inference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costs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.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Native Modality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Integrating real-time voice and video natively for next-gen AI Agents.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Efficient Deployment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Embracing Smaller Language Models (SLMs) for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secure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, on-device AI.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EE61992D-9A50-54EB-1E99-C3A3A4C0425A}"/>
              </a:ext>
            </a:extLst>
          </p:cNvPr>
          <p:cNvGrpSpPr/>
          <p:nvPr/>
        </p:nvGrpSpPr>
        <p:grpSpPr>
          <a:xfrm>
            <a:off x="899592" y="1124744"/>
            <a:ext cx="2137548" cy="2183010"/>
            <a:chOff x="852998" y="2783412"/>
            <a:chExt cx="2137548" cy="2183010"/>
          </a:xfrm>
        </p:grpSpPr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0620EC43-6860-357E-D860-625DE15A58F3}"/>
                </a:ext>
              </a:extLst>
            </p:cNvPr>
            <p:cNvSpPr/>
            <p:nvPr/>
          </p:nvSpPr>
          <p:spPr>
            <a:xfrm>
              <a:off x="852998" y="2869831"/>
              <a:ext cx="2137548" cy="2096591"/>
            </a:xfrm>
            <a:prstGeom prst="arc">
              <a:avLst>
                <a:gd name="adj1" fmla="val 15705658"/>
                <a:gd name="adj2" fmla="val 13632634"/>
              </a:avLst>
            </a:prstGeom>
            <a:solidFill>
              <a:srgbClr val="4F81BD">
                <a:lumMod val="20000"/>
                <a:lumOff val="80000"/>
                <a:alpha val="40000"/>
              </a:srgbClr>
            </a:solidFill>
            <a:ln w="25400" cap="flat" cmpd="sng" algn="ctr">
              <a:solidFill>
                <a:srgbClr val="4F81BD">
                  <a:lumMod val="40000"/>
                  <a:lumOff val="60000"/>
                  <a:alpha val="40000"/>
                </a:srgbClr>
              </a:solidFill>
              <a:prstDash val="solid"/>
            </a:ln>
            <a:effectLst/>
          </p:spPr>
          <p:txBody>
            <a:bodyPr wrap="none" lIns="1097280" tIns="0" rIns="0" bIns="91440" rtlCol="0" anchor="b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66" name="雲朵形 65">
              <a:extLst>
                <a:ext uri="{FF2B5EF4-FFF2-40B4-BE49-F238E27FC236}">
                  <a16:creationId xmlns:a16="http://schemas.microsoft.com/office/drawing/2014/main" id="{0F5617FF-4D24-D07E-29D4-8268FB98DE99}"/>
                </a:ext>
              </a:extLst>
            </p:cNvPr>
            <p:cNvSpPr/>
            <p:nvPr/>
          </p:nvSpPr>
          <p:spPr>
            <a:xfrm>
              <a:off x="852998" y="2783412"/>
              <a:ext cx="1400005" cy="818598"/>
            </a:xfrm>
            <a:prstGeom prst="cloud">
              <a:avLst/>
            </a:prstGeom>
            <a:solidFill>
              <a:sysClr val="window" lastClr="FFFFFF">
                <a:alpha val="90000"/>
              </a:sysClr>
            </a:solidFill>
            <a:ln w="381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9F2BBE9-2E28-F31A-0099-1EE567E1CC13}"/>
                </a:ext>
              </a:extLst>
            </p:cNvPr>
            <p:cNvSpPr txBox="1"/>
            <p:nvPr/>
          </p:nvSpPr>
          <p:spPr>
            <a:xfrm>
              <a:off x="1285046" y="4223572"/>
              <a:ext cx="1024639" cy="323239"/>
            </a:xfrm>
            <a:prstGeom prst="rect">
              <a:avLst/>
            </a:prstGeom>
            <a:noFill/>
          </p:spPr>
          <p:txBody>
            <a:bodyPr wrap="none" tIns="0" rIns="0" bIns="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Edge AI</a:t>
              </a:r>
            </a:p>
          </p:txBody>
        </p:sp>
        <p:cxnSp>
          <p:nvCxnSpPr>
            <p:cNvPr id="68" name="直線單箭頭接點 67">
              <a:extLst>
                <a:ext uri="{FF2B5EF4-FFF2-40B4-BE49-F238E27FC236}">
                  <a16:creationId xmlns:a16="http://schemas.microsoft.com/office/drawing/2014/main" id="{913EF545-E1B2-5663-FBD5-4A9CFE475C97}"/>
                </a:ext>
              </a:extLst>
            </p:cNvPr>
            <p:cNvCxnSpPr>
              <a:cxnSpLocks/>
              <a:stCxn id="69" idx="2"/>
              <a:endCxn id="67" idx="0"/>
            </p:cNvCxnSpPr>
            <p:nvPr/>
          </p:nvCxnSpPr>
          <p:spPr>
            <a:xfrm>
              <a:off x="1456803" y="3454996"/>
              <a:ext cx="340563" cy="768576"/>
            </a:xfrm>
            <a:prstGeom prst="straightConnector1">
              <a:avLst/>
            </a:prstGeom>
            <a:noFill/>
            <a:ln w="25400" cap="flat" cmpd="sng" algn="ctr">
              <a:solidFill>
                <a:srgbClr val="F79646">
                  <a:alpha val="80000"/>
                </a:srgbClr>
              </a:solidFill>
              <a:prstDash val="solid"/>
              <a:headEnd w="med" len="lg"/>
              <a:tailEnd type="triangle"/>
            </a:ln>
            <a:effectLst/>
          </p:spPr>
        </p:cxn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3EB4E70E-3700-ADFC-05C7-6EC8542C0BA1}"/>
                </a:ext>
              </a:extLst>
            </p:cNvPr>
            <p:cNvSpPr txBox="1"/>
            <p:nvPr/>
          </p:nvSpPr>
          <p:spPr>
            <a:xfrm>
              <a:off x="980487" y="2999436"/>
              <a:ext cx="952631" cy="45556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Cloude</a:t>
              </a:r>
            </a:p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AI</a:t>
              </a:r>
            </a:p>
          </p:txBody>
        </p:sp>
      </p:grpSp>
      <p:sp>
        <p:nvSpPr>
          <p:cNvPr id="70" name="標題 1">
            <a:extLst>
              <a:ext uri="{FF2B5EF4-FFF2-40B4-BE49-F238E27FC236}">
                <a16:creationId xmlns:a16="http://schemas.microsoft.com/office/drawing/2014/main" id="{038CF03E-0736-9861-5250-AD5A300FB8D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Emerging Trends in AI Systems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From Scale-Driven infrastructure to intelligence at the edge.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0DA685A2-755B-B118-04DF-CA9E3DC0C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29170"/>
              </p:ext>
            </p:extLst>
          </p:nvPr>
        </p:nvGraphicFramePr>
        <p:xfrm>
          <a:off x="3635896" y="2060847"/>
          <a:ext cx="2736304" cy="1584177"/>
        </p:xfrm>
        <a:graphic>
          <a:graphicData uri="http://schemas.openxmlformats.org/drawingml/2006/table">
            <a:tbl>
              <a:tblPr firstRow="1" bandRow="1"/>
              <a:tblGrid>
                <a:gridCol w="936104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912102">
                  <a:extLst>
                    <a:ext uri="{9D8B030D-6E8A-4147-A177-3AD203B41FA5}">
                      <a16:colId xmlns:a16="http://schemas.microsoft.com/office/drawing/2014/main" val="2975023522"/>
                    </a:ext>
                  </a:extLst>
                </a:gridCol>
              </a:tblGrid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70B~405B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3~8B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H/W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NPU/SoC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47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4~16GB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  <a:tr h="367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</a:p>
                    <a:p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Consumption</a:t>
                      </a:r>
                      <a:endParaRPr lang="zh-TW" altLang="en-US" sz="1200" b="0" cap="none" spc="0" dirty="0">
                        <a:ln w="0"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MW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(Cooling)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(FAN)</a:t>
                      </a:r>
                      <a:endParaRPr lang="zh-TW" altLang="en-US" sz="1200" b="0" cap="none" spc="0" dirty="0">
                        <a:ln w="0"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87730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F783B379-7DA0-0943-E4BC-8D0EC76F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62371"/>
              </p:ext>
            </p:extLst>
          </p:nvPr>
        </p:nvGraphicFramePr>
        <p:xfrm>
          <a:off x="1115616" y="2880605"/>
          <a:ext cx="1645007" cy="764419"/>
        </p:xfrm>
        <a:graphic>
          <a:graphicData uri="http://schemas.openxmlformats.org/drawingml/2006/table">
            <a:tbl>
              <a:tblPr firstRow="1" bandRow="1"/>
              <a:tblGrid>
                <a:gridCol w="1645007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2157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On-premise and Local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061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Enabling secure, low-latency, and privacy-first on-device AI.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BD8BFCD5-58DA-F050-F25E-89458D11E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390694"/>
              </p:ext>
            </p:extLst>
          </p:nvPr>
        </p:nvGraphicFramePr>
        <p:xfrm>
          <a:off x="323528" y="1844824"/>
          <a:ext cx="1233671" cy="548640"/>
        </p:xfrm>
        <a:graphic>
          <a:graphicData uri="http://schemas.openxmlformats.org/drawingml/2006/table">
            <a:tbl>
              <a:tblPr firstRow="1" bandRow="1"/>
              <a:tblGrid>
                <a:gridCol w="123367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570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Center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141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Azure, AWS, GPT, 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Code, Grok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pic>
        <p:nvPicPr>
          <p:cNvPr id="74" name="圖形 73" descr="聊天 外框">
            <a:extLst>
              <a:ext uri="{FF2B5EF4-FFF2-40B4-BE49-F238E27FC236}">
                <a16:creationId xmlns:a16="http://schemas.microsoft.com/office/drawing/2014/main" id="{4E0B98E1-1D68-7563-F694-285A178EC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4812" y="1611274"/>
            <a:ext cx="432048" cy="437310"/>
          </a:xfrm>
          <a:prstGeom prst="rect">
            <a:avLst/>
          </a:prstGeom>
        </p:spPr>
      </p:pic>
      <p:pic>
        <p:nvPicPr>
          <p:cNvPr id="75" name="圖形 74" descr="火箭 以實心填滿">
            <a:extLst>
              <a:ext uri="{FF2B5EF4-FFF2-40B4-BE49-F238E27FC236}">
                <a16:creationId xmlns:a16="http://schemas.microsoft.com/office/drawing/2014/main" id="{C6A36768-60A4-B6B4-BAFC-A2040A2E4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788022" y="1623537"/>
            <a:ext cx="432049" cy="412785"/>
          </a:xfrm>
          <a:prstGeom prst="rect">
            <a:avLst/>
          </a:prstGeom>
        </p:spPr>
      </p:pic>
      <p:sp>
        <p:nvSpPr>
          <p:cNvPr id="76" name="文字方塊 75">
            <a:extLst>
              <a:ext uri="{FF2B5EF4-FFF2-40B4-BE49-F238E27FC236}">
                <a16:creationId xmlns:a16="http://schemas.microsoft.com/office/drawing/2014/main" id="{2F738639-840B-92A3-FCF7-19D92DD1B386}"/>
              </a:ext>
            </a:extLst>
          </p:cNvPr>
          <p:cNvSpPr txBox="1"/>
          <p:nvPr/>
        </p:nvSpPr>
        <p:spPr>
          <a:xfrm>
            <a:off x="2760623" y="3670357"/>
            <a:ext cx="1024639" cy="323239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400" dirty="0">
                <a:solidFill>
                  <a:srgbClr val="4F81BD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 Agent</a:t>
            </a:r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C5E27212-D502-545C-E2D3-CFE0B772CBA3}"/>
              </a:ext>
            </a:extLst>
          </p:cNvPr>
          <p:cNvCxnSpPr>
            <a:cxnSpLocks/>
            <a:stCxn id="72" idx="3"/>
            <a:endCxn id="76" idx="0"/>
          </p:cNvCxnSpPr>
          <p:nvPr/>
        </p:nvCxnSpPr>
        <p:spPr>
          <a:xfrm>
            <a:off x="2760623" y="3262814"/>
            <a:ext cx="512320" cy="407543"/>
          </a:xfrm>
          <a:prstGeom prst="straightConnector1">
            <a:avLst/>
          </a:prstGeom>
          <a:noFill/>
          <a:ln w="25400" cap="flat" cmpd="sng" algn="ctr">
            <a:solidFill>
              <a:srgbClr val="F79646">
                <a:alpha val="80000"/>
              </a:srgbClr>
            </a:solidFill>
            <a:prstDash val="solid"/>
            <a:headEnd w="med" len="lg"/>
            <a:tailEnd type="triangle"/>
          </a:ln>
          <a:effectLst/>
        </p:spPr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7328B3BC-FB8B-4F68-F1D4-D94BB9E5BCBC}"/>
              </a:ext>
            </a:extLst>
          </p:cNvPr>
          <p:cNvGrpSpPr/>
          <p:nvPr/>
        </p:nvGrpSpPr>
        <p:grpSpPr>
          <a:xfrm>
            <a:off x="6941351" y="2185041"/>
            <a:ext cx="1518309" cy="1602114"/>
            <a:chOff x="6941351" y="2185041"/>
            <a:chExt cx="1518309" cy="1602114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60AF31EE-2F25-6BF4-F625-E7C31E345971}"/>
                </a:ext>
              </a:extLst>
            </p:cNvPr>
            <p:cNvSpPr txBox="1"/>
            <p:nvPr/>
          </p:nvSpPr>
          <p:spPr>
            <a:xfrm>
              <a:off x="6941351" y="2185041"/>
              <a:ext cx="1518309" cy="307855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Prompt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Context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Loop Engineering</a:t>
              </a:r>
            </a:p>
          </p:txBody>
        </p:sp>
        <p:sp>
          <p:nvSpPr>
            <p:cNvPr id="80" name="標題 1">
              <a:extLst>
                <a:ext uri="{FF2B5EF4-FFF2-40B4-BE49-F238E27FC236}">
                  <a16:creationId xmlns:a16="http://schemas.microsoft.com/office/drawing/2014/main" id="{90310DEB-212C-C9E4-FC8C-3ADB8AAC390B}"/>
                </a:ext>
              </a:extLst>
            </p:cNvPr>
            <p:cNvSpPr txBox="1">
              <a:spLocks/>
            </p:cNvSpPr>
            <p:nvPr/>
          </p:nvSpPr>
          <p:spPr>
            <a:xfrm>
              <a:off x="7468307" y="2992077"/>
              <a:ext cx="431230" cy="26754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Inner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Loop</a:t>
              </a:r>
            </a:p>
          </p:txBody>
        </p:sp>
        <p:sp>
          <p:nvSpPr>
            <p:cNvPr id="81" name="箭號: 圓形 80">
              <a:extLst>
                <a:ext uri="{FF2B5EF4-FFF2-40B4-BE49-F238E27FC236}">
                  <a16:creationId xmlns:a16="http://schemas.microsoft.com/office/drawing/2014/main" id="{15ABF467-7F43-E08E-D58B-C5E51C2F96D2}"/>
                </a:ext>
              </a:extLst>
            </p:cNvPr>
            <p:cNvSpPr/>
            <p:nvPr/>
          </p:nvSpPr>
          <p:spPr>
            <a:xfrm rot="16200000">
              <a:off x="7190744" y="2534480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2" name="箭號: 圓形 81">
              <a:extLst>
                <a:ext uri="{FF2B5EF4-FFF2-40B4-BE49-F238E27FC236}">
                  <a16:creationId xmlns:a16="http://schemas.microsoft.com/office/drawing/2014/main" id="{31312E4D-EA3E-317E-BBBE-86E839D0D834}"/>
                </a:ext>
              </a:extLst>
            </p:cNvPr>
            <p:cNvSpPr/>
            <p:nvPr/>
          </p:nvSpPr>
          <p:spPr>
            <a:xfrm rot="12456023">
              <a:off x="7155607" y="2447675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3" name="箭號: 圓形 82">
              <a:extLst>
                <a:ext uri="{FF2B5EF4-FFF2-40B4-BE49-F238E27FC236}">
                  <a16:creationId xmlns:a16="http://schemas.microsoft.com/office/drawing/2014/main" id="{A768BA58-3911-E0C7-7F04-36056984D39C}"/>
                </a:ext>
              </a:extLst>
            </p:cNvPr>
            <p:cNvSpPr/>
            <p:nvPr/>
          </p:nvSpPr>
          <p:spPr>
            <a:xfrm rot="8156061">
              <a:off x="7037162" y="2447676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4" name="箭號: 圓形 83">
              <a:extLst>
                <a:ext uri="{FF2B5EF4-FFF2-40B4-BE49-F238E27FC236}">
                  <a16:creationId xmlns:a16="http://schemas.microsoft.com/office/drawing/2014/main" id="{27B5AC18-6224-7AC5-0F20-92B2971F7ED0}"/>
                </a:ext>
              </a:extLst>
            </p:cNvPr>
            <p:cNvSpPr/>
            <p:nvPr/>
          </p:nvSpPr>
          <p:spPr>
            <a:xfrm rot="3488493">
              <a:off x="7003558" y="2560666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5599882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5" name="標題 1">
              <a:extLst>
                <a:ext uri="{FF2B5EF4-FFF2-40B4-BE49-F238E27FC236}">
                  <a16:creationId xmlns:a16="http://schemas.microsoft.com/office/drawing/2014/main" id="{9E4717CA-A592-84D5-2488-6E578EEE5F9C}"/>
                </a:ext>
              </a:extLst>
            </p:cNvPr>
            <p:cNvSpPr txBox="1">
              <a:spLocks/>
            </p:cNvSpPr>
            <p:nvPr/>
          </p:nvSpPr>
          <p:spPr>
            <a:xfrm>
              <a:off x="7994359" y="3072266"/>
              <a:ext cx="465301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Action</a:t>
              </a:r>
            </a:p>
          </p:txBody>
        </p:sp>
        <p:sp>
          <p:nvSpPr>
            <p:cNvPr id="86" name="標題 1">
              <a:extLst>
                <a:ext uri="{FF2B5EF4-FFF2-40B4-BE49-F238E27FC236}">
                  <a16:creationId xmlns:a16="http://schemas.microsoft.com/office/drawing/2014/main" id="{43EB9B24-0898-0BD8-A53E-CE82420719CE}"/>
                </a:ext>
              </a:extLst>
            </p:cNvPr>
            <p:cNvSpPr txBox="1">
              <a:spLocks/>
            </p:cNvSpPr>
            <p:nvPr/>
          </p:nvSpPr>
          <p:spPr>
            <a:xfrm>
              <a:off x="7613349" y="3431566"/>
              <a:ext cx="763092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Observation</a:t>
              </a:r>
            </a:p>
          </p:txBody>
        </p:sp>
        <p:sp>
          <p:nvSpPr>
            <p:cNvPr id="87" name="標題 1">
              <a:extLst>
                <a:ext uri="{FF2B5EF4-FFF2-40B4-BE49-F238E27FC236}">
                  <a16:creationId xmlns:a16="http://schemas.microsoft.com/office/drawing/2014/main" id="{A488B820-5E6B-7A91-EA99-22FA5B2133FB}"/>
                </a:ext>
              </a:extLst>
            </p:cNvPr>
            <p:cNvSpPr txBox="1">
              <a:spLocks/>
            </p:cNvSpPr>
            <p:nvPr/>
          </p:nvSpPr>
          <p:spPr>
            <a:xfrm>
              <a:off x="7035920" y="3215542"/>
              <a:ext cx="433413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Adjustment</a:t>
              </a:r>
            </a:p>
          </p:txBody>
        </p:sp>
        <p:sp>
          <p:nvSpPr>
            <p:cNvPr id="88" name="箭號: 圓形 87">
              <a:extLst>
                <a:ext uri="{FF2B5EF4-FFF2-40B4-BE49-F238E27FC236}">
                  <a16:creationId xmlns:a16="http://schemas.microsoft.com/office/drawing/2014/main" id="{06852D34-C791-375C-E4BC-B1A4EBE22C3D}"/>
                </a:ext>
              </a:extLst>
            </p:cNvPr>
            <p:cNvSpPr/>
            <p:nvPr/>
          </p:nvSpPr>
          <p:spPr>
            <a:xfrm rot="20976356">
              <a:off x="7112132" y="2604414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9" name="標題 1">
              <a:extLst>
                <a:ext uri="{FF2B5EF4-FFF2-40B4-BE49-F238E27FC236}">
                  <a16:creationId xmlns:a16="http://schemas.microsoft.com/office/drawing/2014/main" id="{361E83A4-0911-26EA-2A94-CFFB6373FDFF}"/>
                </a:ext>
              </a:extLst>
            </p:cNvPr>
            <p:cNvSpPr txBox="1">
              <a:spLocks/>
            </p:cNvSpPr>
            <p:nvPr/>
          </p:nvSpPr>
          <p:spPr>
            <a:xfrm>
              <a:off x="7737105" y="2629374"/>
              <a:ext cx="433413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Context</a:t>
              </a:r>
            </a:p>
          </p:txBody>
        </p:sp>
        <p:sp>
          <p:nvSpPr>
            <p:cNvPr id="90" name="標題 1">
              <a:extLst>
                <a:ext uri="{FF2B5EF4-FFF2-40B4-BE49-F238E27FC236}">
                  <a16:creationId xmlns:a16="http://schemas.microsoft.com/office/drawing/2014/main" id="{962162DF-76D6-067C-FB46-4C5DD8FAB8BC}"/>
                </a:ext>
              </a:extLst>
            </p:cNvPr>
            <p:cNvSpPr txBox="1">
              <a:spLocks/>
            </p:cNvSpPr>
            <p:nvPr/>
          </p:nvSpPr>
          <p:spPr>
            <a:xfrm>
              <a:off x="7051013" y="2711486"/>
              <a:ext cx="464606" cy="214204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Intent</a:t>
              </a:r>
            </a:p>
          </p:txBody>
        </p: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07614477-6A9E-96A1-B461-78BD885C7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0455" y="2682793"/>
              <a:ext cx="86503" cy="168982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8526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6DB841-BF3E-44B9-9FCA-EAF30D08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30</a:t>
            </a:fld>
            <a:endParaRPr lang="zh-TW" altLang="en-US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4714612E-A05A-FDC2-2721-27B936A2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4314654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124401EB-AC3B-C237-5F3C-BF48A263D8C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56895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srgbClr val="0000FF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DeepSWE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: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Deep S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oftware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W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ork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ngineering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DeepSWE: Measuring Frontier Coding Agents on Original, Long-Horizon Engineering Tasks.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E22339DC-540C-F8E5-4446-9E38C8793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212976"/>
            <a:ext cx="1584176" cy="354109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C5805251-9DB5-6DB4-1A80-FB9FE554AD0B}"/>
              </a:ext>
            </a:extLst>
          </p:cNvPr>
          <p:cNvSpPr txBox="1"/>
          <p:nvPr/>
        </p:nvSpPr>
        <p:spPr>
          <a:xfrm>
            <a:off x="3617893" y="5596037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Avg cost per task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(113 tasks, updated Aug 20, 2026)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56BBB8-7A94-3B46-5618-1E2F0F43E313}"/>
              </a:ext>
            </a:extLst>
          </p:cNvPr>
          <p:cNvSpPr txBox="1"/>
          <p:nvPr/>
        </p:nvSpPr>
        <p:spPr>
          <a:xfrm>
            <a:off x="5941993" y="1140407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智譜</a:t>
            </a:r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CEFE51-0F72-DD33-6F28-E255876B2E28}"/>
              </a:ext>
            </a:extLst>
          </p:cNvPr>
          <p:cNvSpPr txBox="1"/>
          <p:nvPr/>
        </p:nvSpPr>
        <p:spPr>
          <a:xfrm>
            <a:off x="4764105" y="1158249"/>
            <a:ext cx="762000" cy="27134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月之暗面</a:t>
            </a:r>
            <a:endParaRPr lang="en-US" altLang="zh-TW" sz="10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Moonshot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61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36B09E-43EE-554E-B950-3F04F1B1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31</a:t>
            </a:fld>
            <a:endParaRPr lang="zh-TW" altLang="en-US" dirty="0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C1F52CDA-3A5A-E88E-640C-ACDD05D93B6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90465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srgbClr val="0000FF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Arena</a:t>
            </a:r>
            <a:endParaRPr lang="en-US" altLang="zh-TW" sz="2800" dirty="0">
              <a:solidFill>
                <a:srgbClr val="0000FF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Dynamic ranking of models on how well they orchestrate tools for real-world agentic tasks, based on signals like tool reliability, task completion, and steerability.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E482C17-1362-A5FE-0BA4-37E2C8843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8" y="2924944"/>
            <a:ext cx="8945223" cy="336279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FD84306-DDB9-FC9A-D7B8-65651AE43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116631"/>
            <a:ext cx="2240363" cy="3639549"/>
          </a:xfrm>
          <a:prstGeom prst="rect">
            <a:avLst/>
          </a:prstGeom>
          <a:effectLst>
            <a:glow rad="76200">
              <a:srgbClr val="9BBB59">
                <a:lumMod val="50000"/>
              </a:srgbClr>
            </a:glow>
            <a:softEdge rad="0"/>
          </a:effec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B2EB8E5-0EB2-4CA3-4479-053B8860E4B5}"/>
              </a:ext>
            </a:extLst>
          </p:cNvPr>
          <p:cNvSpPr txBox="1"/>
          <p:nvPr/>
        </p:nvSpPr>
        <p:spPr>
          <a:xfrm>
            <a:off x="97131" y="2168742"/>
            <a:ext cx="1954589" cy="61218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Pareto Frontier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Net Improvement x Cost/task 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from real Agent Mode tasks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5C6BA30-750B-A876-9DDF-5D33D9C16687}"/>
              </a:ext>
            </a:extLst>
          </p:cNvPr>
          <p:cNvSpPr txBox="1"/>
          <p:nvPr/>
        </p:nvSpPr>
        <p:spPr>
          <a:xfrm>
            <a:off x="3617893" y="5445224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Median cost per task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(last 14 days, Aug 20, 2026)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D1FA947-EF53-4929-245E-B5B2CB40A66F}"/>
              </a:ext>
            </a:extLst>
          </p:cNvPr>
          <p:cNvSpPr txBox="1"/>
          <p:nvPr/>
        </p:nvSpPr>
        <p:spPr>
          <a:xfrm>
            <a:off x="8417793" y="4124629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小米集團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241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C2DD14-7DE1-48A1-5A32-BDCA09EE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32</a:t>
            </a:fld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491302B-0656-CAB2-CE81-8381CA481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792"/>
            <a:ext cx="9144000" cy="4993667"/>
          </a:xfrm>
          <a:prstGeom prst="rect">
            <a:avLst/>
          </a:prstGeom>
        </p:spPr>
      </p:pic>
      <p:sp>
        <p:nvSpPr>
          <p:cNvPr id="30" name="標題 1">
            <a:extLst>
              <a:ext uri="{FF2B5EF4-FFF2-40B4-BE49-F238E27FC236}">
                <a16:creationId xmlns:a16="http://schemas.microsoft.com/office/drawing/2014/main" id="{CB1B0AF9-0BA0-9959-CEEC-1EFBAA5C75C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90465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srgbClr val="0000FF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 Arena</a:t>
            </a:r>
            <a:endParaRPr lang="en-US" altLang="zh-TW" sz="2800" dirty="0">
              <a:solidFill>
                <a:srgbClr val="0000FF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View overall rankings across various AI models in text-to-text tasks across math, coding, creative writing, and other open-ended domains.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DDC4353-1955-17BC-3D12-F90F971B6864}"/>
              </a:ext>
            </a:extLst>
          </p:cNvPr>
          <p:cNvSpPr txBox="1"/>
          <p:nvPr/>
        </p:nvSpPr>
        <p:spPr>
          <a:xfrm>
            <a:off x="3617893" y="6172101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Blended price per 1M tokens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(3:1 Ratio)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9297EAE-CD10-CC1D-2963-81C4F19F49E7}"/>
              </a:ext>
            </a:extLst>
          </p:cNvPr>
          <p:cNvSpPr txBox="1"/>
          <p:nvPr/>
        </p:nvSpPr>
        <p:spPr>
          <a:xfrm>
            <a:off x="99388" y="2204864"/>
            <a:ext cx="1450533" cy="7200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Pareto Frontier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Model performance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at each price point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3F7D090-EACC-2E67-653C-613946D6ABEB}"/>
              </a:ext>
            </a:extLst>
          </p:cNvPr>
          <p:cNvSpPr txBox="1"/>
          <p:nvPr/>
        </p:nvSpPr>
        <p:spPr>
          <a:xfrm>
            <a:off x="2481511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$20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2096E54-4F82-93A1-1B7B-1F8454D82FBF}"/>
              </a:ext>
            </a:extLst>
          </p:cNvPr>
          <p:cNvSpPr txBox="1"/>
          <p:nvPr/>
        </p:nvSpPr>
        <p:spPr>
          <a:xfrm>
            <a:off x="1547664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$50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3C32AAE-FDCB-3CF1-A027-C111F7D35505}"/>
              </a:ext>
            </a:extLst>
          </p:cNvPr>
          <p:cNvSpPr txBox="1"/>
          <p:nvPr/>
        </p:nvSpPr>
        <p:spPr>
          <a:xfrm>
            <a:off x="5652120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$1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C82779B-AA30-5FEA-0A11-4211495C8E38}"/>
              </a:ext>
            </a:extLst>
          </p:cNvPr>
          <p:cNvSpPr txBox="1"/>
          <p:nvPr/>
        </p:nvSpPr>
        <p:spPr>
          <a:xfrm>
            <a:off x="5001791" y="6610227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$2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A4E3FEA-9C0B-5DC6-6D86-D5890AB10DD9}"/>
              </a:ext>
            </a:extLst>
          </p:cNvPr>
          <p:cNvSpPr txBox="1"/>
          <p:nvPr/>
        </p:nvSpPr>
        <p:spPr>
          <a:xfrm>
            <a:off x="205855" y="5589240"/>
            <a:ext cx="504056" cy="4253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Arena</a:t>
            </a:r>
          </a:p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Score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0FD99313-72DA-B4B5-9977-80D0AD712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248" y="1582341"/>
            <a:ext cx="1221486" cy="52821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26DD2EEB-2D88-1F8B-8A7D-BA5B57DF49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980" y="2558659"/>
            <a:ext cx="1184904" cy="52821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E4E98CF-F271-3798-21C8-B6B5F396D4AB}"/>
              </a:ext>
            </a:extLst>
          </p:cNvPr>
          <p:cNvSpPr txBox="1"/>
          <p:nvPr/>
        </p:nvSpPr>
        <p:spPr>
          <a:xfrm>
            <a:off x="7342168" y="1540897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騰訊混元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9E0D11-A7F9-BFC4-A069-0C64F2EF0FE2}"/>
              </a:ext>
            </a:extLst>
          </p:cNvPr>
          <p:cNvSpPr txBox="1"/>
          <p:nvPr/>
        </p:nvSpPr>
        <p:spPr>
          <a:xfrm>
            <a:off x="4318783" y="1536338"/>
            <a:ext cx="506432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Meta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A98C7C3-BEA3-39E4-CFF4-4D741D4A85EF}"/>
              </a:ext>
            </a:extLst>
          </p:cNvPr>
          <p:cNvSpPr txBox="1"/>
          <p:nvPr/>
        </p:nvSpPr>
        <p:spPr>
          <a:xfrm>
            <a:off x="8474142" y="2344173"/>
            <a:ext cx="506432" cy="29644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韓國</a:t>
            </a:r>
            <a:b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Upstage AI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9DB2796-F1F2-8CAC-2A9B-4088FA9590F9}"/>
              </a:ext>
            </a:extLst>
          </p:cNvPr>
          <p:cNvCxnSpPr>
            <a:cxnSpLocks/>
          </p:cNvCxnSpPr>
          <p:nvPr/>
        </p:nvCxnSpPr>
        <p:spPr>
          <a:xfrm flipV="1">
            <a:off x="6819334" y="2110551"/>
            <a:ext cx="133916" cy="286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D46ED90-6D22-3562-B995-C813DD719934}"/>
              </a:ext>
            </a:extLst>
          </p:cNvPr>
          <p:cNvCxnSpPr>
            <a:cxnSpLocks/>
          </p:cNvCxnSpPr>
          <p:nvPr/>
        </p:nvCxnSpPr>
        <p:spPr>
          <a:xfrm flipV="1">
            <a:off x="8407184" y="2972664"/>
            <a:ext cx="133916" cy="286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75032D7-282E-63BC-D315-C0557E8A738B}"/>
              </a:ext>
            </a:extLst>
          </p:cNvPr>
          <p:cNvSpPr txBox="1"/>
          <p:nvPr/>
        </p:nvSpPr>
        <p:spPr>
          <a:xfrm>
            <a:off x="6953250" y="3760851"/>
            <a:ext cx="506432" cy="19660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阿里巴巴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21506C-023B-AD07-6F16-CA34BB96C403}"/>
              </a:ext>
            </a:extLst>
          </p:cNvPr>
          <p:cNvSpPr txBox="1"/>
          <p:nvPr/>
        </p:nvSpPr>
        <p:spPr>
          <a:xfrm>
            <a:off x="8393757" y="3799707"/>
            <a:ext cx="365909" cy="1966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IBM</a:t>
            </a:r>
            <a:endParaRPr lang="en-US" altLang="zh-TW" sz="10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814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DA034C-E815-F686-BE8C-60C91C75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33</a:t>
            </a:fld>
            <a:endParaRPr lang="zh-TW" altLang="en-US" dirty="0"/>
          </a:p>
        </p:txBody>
      </p:sp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0007DF8A-B298-6061-9DE8-67E7E5CB4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139390"/>
              </p:ext>
            </p:extLst>
          </p:nvPr>
        </p:nvGraphicFramePr>
        <p:xfrm>
          <a:off x="300657" y="1084161"/>
          <a:ext cx="8542691" cy="4276923"/>
        </p:xfrm>
        <a:graphic>
          <a:graphicData uri="http://schemas.openxmlformats.org/drawingml/2006/table">
            <a:tbl>
              <a:tblPr firstRow="1" bandRow="1"/>
              <a:tblGrid>
                <a:gridCol w="382911">
                  <a:extLst>
                    <a:ext uri="{9D8B030D-6E8A-4147-A177-3AD203B41FA5}">
                      <a16:colId xmlns:a16="http://schemas.microsoft.com/office/drawing/2014/main" val="3115215194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4024420245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2857999959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310011697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932094440"/>
                    </a:ext>
                  </a:extLst>
                </a:gridCol>
                <a:gridCol w="1039744">
                  <a:extLst>
                    <a:ext uri="{9D8B030D-6E8A-4147-A177-3AD203B41FA5}">
                      <a16:colId xmlns:a16="http://schemas.microsoft.com/office/drawing/2014/main" val="188519997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502900903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600189719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17543664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209626822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727600684"/>
                    </a:ext>
                  </a:extLst>
                </a:gridCol>
              </a:tblGrid>
              <a:tr h="66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Modern Open-Source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Backbone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Cross-Border Academic Collaboration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Community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-Driven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Pioneers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Independent &amp;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Native Pillars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15898"/>
                  </a:ext>
                </a:extLst>
              </a:tr>
              <a:tr h="7578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DeepMind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(Google)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</a:t>
                      </a:r>
                      <a:b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(Microsoft)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Meta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(FAIR)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(Europe)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BigScience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(Hugging Face, France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and 1000+ scientists 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EleutherAI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(Hugging Face, CoreWeave,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Stability AI, …)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Technology Innovation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Institute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(NV)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(Alibaba)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MoE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(DeepSeek)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(Moonshot)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224414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GPT-Neo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GPT-J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BLOOM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NeoX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326291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 7B 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Mixtral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LLeMA</a:t>
                      </a: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91690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 3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V3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59351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Phi-4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Large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Common Pile</a:t>
                      </a: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 H1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492193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Muse 1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Small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LM-Evaluation-Harness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H1R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51293"/>
                  </a:ext>
                </a:extLst>
              </a:tr>
            </a:tbl>
          </a:graphicData>
        </a:graphic>
      </p:graphicFrame>
      <p:sp>
        <p:nvSpPr>
          <p:cNvPr id="90" name="標題 1">
            <a:extLst>
              <a:ext uri="{FF2B5EF4-FFF2-40B4-BE49-F238E27FC236}">
                <a16:creationId xmlns:a16="http://schemas.microsoft.com/office/drawing/2014/main" id="{A35E76E9-BAC8-0767-ADA7-02753ACDE12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The Evolution of Open-Source LLMs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From 2020 to 2026.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91" name="圖片 90">
            <a:extLst>
              <a:ext uri="{FF2B5EF4-FFF2-40B4-BE49-F238E27FC236}">
                <a16:creationId xmlns:a16="http://schemas.microsoft.com/office/drawing/2014/main" id="{178C77E9-2615-3A63-2551-F74F7BA3A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316" y="5216376"/>
            <a:ext cx="284964" cy="284964"/>
          </a:xfrm>
          <a:prstGeom prst="rect">
            <a:avLst/>
          </a:prstGeom>
          <a:effectLst>
            <a:glow rad="12700">
              <a:sysClr val="window" lastClr="FFFFFF">
                <a:lumMod val="95000"/>
                <a:alpha val="40000"/>
              </a:sysClr>
            </a:glow>
            <a:softEdge rad="25400"/>
          </a:effectLst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70FFC0D4-3AE3-A586-85C6-FD99255FF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826" y="5208414"/>
            <a:ext cx="350542" cy="284964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6BCEC6FB-1907-0CEF-F1E6-ECD816E63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856" y="5184697"/>
            <a:ext cx="284964" cy="284964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B8DE553-907D-C624-9BEF-B66EF40C3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223" y="5151468"/>
            <a:ext cx="380409" cy="380409"/>
          </a:xfrm>
          <a:prstGeom prst="rect">
            <a:avLst/>
          </a:prstGeom>
          <a:effectLst>
            <a:glow rad="25400">
              <a:srgbClr val="4BACC6">
                <a:lumMod val="40000"/>
                <a:lumOff val="60000"/>
                <a:alpha val="40000"/>
              </a:srgbClr>
            </a:glow>
            <a:softEdge rad="12700"/>
          </a:effectLst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D8C026BD-BC99-AA07-42FE-1DF8BC26B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3768" y="5240323"/>
            <a:ext cx="284964" cy="22556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D8287E6E-F624-86D7-9BFF-05176C4FEE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433" y="5208413"/>
            <a:ext cx="287015" cy="284965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FB577DC1-1D10-A4B6-5FA9-98BC767578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912" y="2913497"/>
            <a:ext cx="980309" cy="265437"/>
          </a:xfrm>
          <a:prstGeom prst="rect">
            <a:avLst/>
          </a:prstGeom>
          <a:effectLst>
            <a:glow rad="50800">
              <a:sysClr val="windowText" lastClr="000000">
                <a:alpha val="20000"/>
              </a:sysClr>
            </a:glow>
            <a:softEdge rad="0"/>
          </a:effectLst>
        </p:spPr>
      </p:pic>
      <p:pic>
        <p:nvPicPr>
          <p:cNvPr id="98" name="圖片 97" descr="EleutherAI">
            <a:extLst>
              <a:ext uri="{FF2B5EF4-FFF2-40B4-BE49-F238E27FC236}">
                <a16:creationId xmlns:a16="http://schemas.microsoft.com/office/drawing/2014/main" id="{C0033D5D-0285-0C34-A66B-8F606BB7C8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5976" y="3915928"/>
            <a:ext cx="1595502" cy="331066"/>
          </a:xfrm>
          <a:prstGeom prst="rect">
            <a:avLst/>
          </a:prstGeom>
          <a:effectLst>
            <a:glow rad="76200">
              <a:sysClr val="windowText" lastClr="000000">
                <a:alpha val="80000"/>
              </a:sysClr>
            </a:glow>
            <a:softEdge rad="0"/>
          </a:effectLst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3296C470-F7E8-DBDA-F562-83FDF48DE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4168" y="5184558"/>
            <a:ext cx="272407" cy="332674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D2A41C0F-F8A9-2C76-F5D7-96633FB226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5117" y="5184558"/>
            <a:ext cx="288546" cy="28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8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476E9D-7447-712B-B882-F22C152F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34</a:t>
            </a:fld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F1C9AC-F283-F9F3-F5A7-BBA7786B7374}"/>
              </a:ext>
            </a:extLst>
          </p:cNvPr>
          <p:cNvSpPr/>
          <p:nvPr/>
        </p:nvSpPr>
        <p:spPr>
          <a:xfrm>
            <a:off x="6327074" y="3870792"/>
            <a:ext cx="1653476" cy="1132637"/>
          </a:xfrm>
          <a:prstGeom prst="rect">
            <a:avLst/>
          </a:prstGeom>
          <a:noFill/>
          <a:ln w="38100" cap="flat" cmpd="sng" algn="ctr">
            <a:solidFill>
              <a:srgbClr val="9BBB59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91440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BioMCP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(GenomOncology)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8AF63DA2-B599-6998-A51B-9ABD3C169980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73142" y="3775247"/>
            <a:ext cx="337313" cy="341304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19050">
            <a:solidFill>
              <a:sysClr val="window" lastClr="FFFFFF">
                <a:lumMod val="95000"/>
              </a:sysClr>
            </a:solidFill>
          </a:ln>
          <a:effectLst>
            <a:glow rad="50800">
              <a:sysClr val="window" lastClr="FFFFFF">
                <a:lumMod val="95000"/>
                <a:alpha val="60000"/>
              </a:sysClr>
            </a:glow>
            <a:softEdge rad="25400"/>
          </a:effectLst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E6A1BFC4-3CCD-B46A-EAC4-0451E43F92C8}"/>
              </a:ext>
            </a:extLst>
          </p:cNvPr>
          <p:cNvSpPr/>
          <p:nvPr/>
        </p:nvSpPr>
        <p:spPr>
          <a:xfrm>
            <a:off x="6416947" y="4429360"/>
            <a:ext cx="1473729" cy="450859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18288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MyVariant.info</a:t>
            </a:r>
            <a:b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(Scripps Research Institute)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C513E02E-7337-D4B9-7DFB-609B9EA46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44" y="4283349"/>
            <a:ext cx="314611" cy="341305"/>
          </a:xfrm>
          <a:prstGeom prst="rect">
            <a:avLst/>
          </a:prstGeom>
          <a:effectLst>
            <a:glow rad="50800">
              <a:sysClr val="windowText" lastClr="000000">
                <a:lumMod val="95000"/>
                <a:lumOff val="5000"/>
                <a:alpha val="60000"/>
              </a:sysClr>
            </a:glow>
            <a:softEdge rad="25400"/>
          </a:effectLst>
        </p:spPr>
      </p:pic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1998E92-D5D0-3C67-ABA5-B8B1D0B6B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53309"/>
              </p:ext>
            </p:extLst>
          </p:nvPr>
        </p:nvGraphicFramePr>
        <p:xfrm>
          <a:off x="2334256" y="4034730"/>
          <a:ext cx="1432386" cy="2050040"/>
        </p:xfrm>
        <a:graphic>
          <a:graphicData uri="http://schemas.openxmlformats.org/drawingml/2006/table">
            <a:tbl>
              <a:tblPr firstRow="1" bandRow="1"/>
              <a:tblGrid>
                <a:gridCol w="1432386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12270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Fine-Tunning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0" marR="72000" marT="0" marB="72000" anchor="b">
                    <a:lnL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7786"/>
                  </a:ext>
                </a:extLst>
              </a:tr>
              <a:tr h="822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6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31162"/>
                  </a:ext>
                </a:extLst>
              </a:tr>
            </a:tbl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20FA40D5-63D1-20BA-3C9B-13E57DD02938}"/>
              </a:ext>
            </a:extLst>
          </p:cNvPr>
          <p:cNvSpPr txBox="1"/>
          <p:nvPr/>
        </p:nvSpPr>
        <p:spPr>
          <a:xfrm>
            <a:off x="213023" y="1052736"/>
            <a:ext cx="87514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Buildup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Fine-Tuning Solution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Support QLoRA. (Unsloth,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Hugging Face TRL)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Model Engine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Freeze base weight. ( llama, Gemma 4)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Agent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OpenClaw and bio-python library.</a:t>
            </a:r>
          </a:p>
        </p:txBody>
      </p:sp>
      <p:sp>
        <p:nvSpPr>
          <p:cNvPr id="41" name="標題 1">
            <a:extLst>
              <a:ext uri="{FF2B5EF4-FFF2-40B4-BE49-F238E27FC236}">
                <a16:creationId xmlns:a16="http://schemas.microsoft.com/office/drawing/2014/main" id="{EFDD0AD1-3A26-1E36-F020-3C20891C959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Building the Bio-IT AI</a:t>
            </a:r>
            <a:r>
              <a:rPr lang="zh-TW" altLang="en-US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Agent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AI agents will collaborate with Summit Spatial sequencers to complete tasks.</a:t>
            </a:r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55AA7532-3D7D-CE89-B58C-06D297712827}"/>
              </a:ext>
            </a:extLst>
          </p:cNvPr>
          <p:cNvGraphicFramePr>
            <a:graphicFrameLocks noGrp="1"/>
          </p:cNvGraphicFramePr>
          <p:nvPr/>
        </p:nvGraphicFramePr>
        <p:xfrm>
          <a:off x="4826419" y="4019587"/>
          <a:ext cx="1217339" cy="2050041"/>
        </p:xfrm>
        <a:graphic>
          <a:graphicData uri="http://schemas.openxmlformats.org/drawingml/2006/table">
            <a:tbl>
              <a:tblPr firstRow="1" bandRow="1"/>
              <a:tblGrid>
                <a:gridCol w="1217339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4294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72000" marT="0" marB="36000" anchor="b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7786"/>
                  </a:ext>
                </a:extLst>
              </a:tr>
              <a:tr h="7947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Inference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0" marR="72000" marT="0" marB="72000" anchor="b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426438"/>
                  </a:ext>
                </a:extLst>
              </a:tr>
              <a:tr h="8258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PC/NB</a:t>
                      </a: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6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30567"/>
                  </a:ext>
                </a:extLst>
              </a:tr>
            </a:tbl>
          </a:graphicData>
        </a:graphic>
      </p:graphicFrame>
      <p:pic>
        <p:nvPicPr>
          <p:cNvPr id="43" name="圖片 42">
            <a:extLst>
              <a:ext uri="{FF2B5EF4-FFF2-40B4-BE49-F238E27FC236}">
                <a16:creationId xmlns:a16="http://schemas.microsoft.com/office/drawing/2014/main" id="{D01BBE22-3D63-FD1F-C031-43A1D3200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451" y="3845698"/>
            <a:ext cx="432048" cy="432048"/>
          </a:xfrm>
          <a:prstGeom prst="rect">
            <a:avLst/>
          </a:prstGeom>
          <a:effectLst>
            <a:glow rad="25400">
              <a:srgbClr val="4F81BD">
                <a:lumMod val="20000"/>
                <a:lumOff val="80000"/>
                <a:alpha val="40000"/>
              </a:srgbClr>
            </a:glow>
            <a:softEdge rad="50800"/>
          </a:effectLst>
        </p:spPr>
      </p:pic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C4CA9DD7-39FB-E4F8-26E7-88368AB94520}"/>
              </a:ext>
            </a:extLst>
          </p:cNvPr>
          <p:cNvCxnSpPr>
            <a:cxnSpLocks/>
            <a:stCxn id="56" idx="2"/>
            <a:endCxn id="45" idx="1"/>
          </p:cNvCxnSpPr>
          <p:nvPr/>
        </p:nvCxnSpPr>
        <p:spPr>
          <a:xfrm rot="16200000" flipH="1">
            <a:off x="3514919" y="3960205"/>
            <a:ext cx="272233" cy="1206994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4AA501D-D05E-4243-1A1D-07543F1F5FA9}"/>
              </a:ext>
            </a:extLst>
          </p:cNvPr>
          <p:cNvSpPr/>
          <p:nvPr/>
        </p:nvSpPr>
        <p:spPr>
          <a:xfrm>
            <a:off x="4254532" y="4545827"/>
            <a:ext cx="859919" cy="307983"/>
          </a:xfrm>
          <a:prstGeom prst="rect">
            <a:avLst/>
          </a:prstGeom>
          <a:solidFill>
            <a:srgbClr val="4F81BD">
              <a:lumMod val="20000"/>
              <a:lumOff val="80000"/>
              <a:alpha val="40000"/>
            </a:srgbClr>
          </a:solidFill>
          <a:ln w="38100" cap="flat" cmpd="sng" algn="ctr">
            <a:solidFill>
              <a:srgbClr val="1F497D">
                <a:lumMod val="60000"/>
                <a:lumOff val="40000"/>
                <a:alpha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Gemma 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DDE0042-6D9C-10C7-5F85-2D07995A402A}"/>
              </a:ext>
            </a:extLst>
          </p:cNvPr>
          <p:cNvGrpSpPr/>
          <p:nvPr/>
        </p:nvGrpSpPr>
        <p:grpSpPr>
          <a:xfrm>
            <a:off x="4484767" y="4781802"/>
            <a:ext cx="396274" cy="465099"/>
            <a:chOff x="283951" y="1194723"/>
            <a:chExt cx="487696" cy="626385"/>
          </a:xfrm>
          <a:effectLst>
            <a:glow rad="76200">
              <a:srgbClr val="4F81BD">
                <a:lumMod val="20000"/>
                <a:lumOff val="80000"/>
                <a:alpha val="20000"/>
              </a:srgbClr>
            </a:glow>
          </a:effectLst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4BA484E0-685D-0331-46AF-566AF922785E}"/>
                </a:ext>
              </a:extLst>
            </p:cNvPr>
            <p:cNvSpPr txBox="1"/>
            <p:nvPr/>
          </p:nvSpPr>
          <p:spPr>
            <a:xfrm>
              <a:off x="283951" y="1573740"/>
              <a:ext cx="487696" cy="247368"/>
            </a:xfrm>
            <a:prstGeom prst="rect">
              <a:avLst/>
            </a:prstGeom>
            <a:solidFill>
              <a:sysClr val="window" lastClr="FFFFFF">
                <a:lumMod val="95000"/>
                <a:alpha val="40000"/>
              </a:sysClr>
            </a:solidFill>
            <a:ln>
              <a:noFill/>
            </a:ln>
            <a:effectLst>
              <a:glow rad="25400">
                <a:sysClr val="window" lastClr="FFFFFF">
                  <a:lumMod val="95000"/>
                  <a:alpha val="40000"/>
                </a:sysClr>
              </a:glow>
              <a:softEdge rad="50800"/>
            </a:effectLst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O</a:t>
              </a: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Calibri"/>
                </a:rPr>
                <a:t>llama</a:t>
              </a:r>
            </a:p>
          </p:txBody>
        </p: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0B259CB7-A77D-2ACD-C31A-A042125F6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60" y="1194723"/>
              <a:ext cx="337951" cy="390669"/>
            </a:xfrm>
            <a:prstGeom prst="rect">
              <a:avLst/>
            </a:prstGeom>
            <a:solidFill>
              <a:sysClr val="window" lastClr="FFFFFF">
                <a:alpha val="20000"/>
              </a:sysClr>
            </a:solidFill>
            <a:effectLst>
              <a:glow rad="76200">
                <a:srgbClr val="4F81BD">
                  <a:lumMod val="20000"/>
                  <a:lumOff val="80000"/>
                  <a:alpha val="40000"/>
                </a:srgbClr>
              </a:glow>
              <a:softEdge rad="25400"/>
            </a:effectLst>
          </p:spPr>
        </p:pic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A2D0063-37BB-9B50-154D-27A776480E3D}"/>
              </a:ext>
            </a:extLst>
          </p:cNvPr>
          <p:cNvSpPr txBox="1"/>
          <p:nvPr/>
        </p:nvSpPr>
        <p:spPr>
          <a:xfrm>
            <a:off x="5010741" y="2981602"/>
            <a:ext cx="646161" cy="28470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2000"/>
              </a:lnSpc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B054049-C931-C116-0E06-0108A4E39309}"/>
              </a:ext>
            </a:extLst>
          </p:cNvPr>
          <p:cNvCxnSpPr>
            <a:cxnSpLocks/>
            <a:stCxn id="49" idx="2"/>
            <a:endCxn id="43" idx="0"/>
          </p:cNvCxnSpPr>
          <p:nvPr/>
        </p:nvCxnSpPr>
        <p:spPr>
          <a:xfrm flipH="1">
            <a:off x="5330475" y="3266305"/>
            <a:ext cx="3347" cy="579393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0E424B85-AD2D-D57B-3288-2670D8B4F6A2}"/>
              </a:ext>
            </a:extLst>
          </p:cNvPr>
          <p:cNvCxnSpPr>
            <a:cxnSpLocks/>
            <a:stCxn id="43" idx="3"/>
            <a:endCxn id="52" idx="0"/>
          </p:cNvCxnSpPr>
          <p:nvPr/>
        </p:nvCxnSpPr>
        <p:spPr>
          <a:xfrm flipV="1">
            <a:off x="5546499" y="4061721"/>
            <a:ext cx="390288" cy="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sp>
        <p:nvSpPr>
          <p:cNvPr id="52" name="箭號: 向下 51">
            <a:extLst>
              <a:ext uri="{FF2B5EF4-FFF2-40B4-BE49-F238E27FC236}">
                <a16:creationId xmlns:a16="http://schemas.microsoft.com/office/drawing/2014/main" id="{01A6F991-A4C0-4CA8-7AFD-45D2F7E45883}"/>
              </a:ext>
            </a:extLst>
          </p:cNvPr>
          <p:cNvSpPr/>
          <p:nvPr/>
        </p:nvSpPr>
        <p:spPr>
          <a:xfrm rot="16200000">
            <a:off x="6003799" y="3831784"/>
            <a:ext cx="325849" cy="459874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eaVert" wrap="none" lIns="0" tIns="7200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8925377D-25B5-2892-A90D-6BAFBC08093B}"/>
              </a:ext>
            </a:extLst>
          </p:cNvPr>
          <p:cNvCxnSpPr>
            <a:cxnSpLocks/>
            <a:stCxn id="43" idx="2"/>
            <a:endCxn id="45" idx="3"/>
          </p:cNvCxnSpPr>
          <p:nvPr/>
        </p:nvCxnSpPr>
        <p:spPr>
          <a:xfrm rot="5400000">
            <a:off x="5011427" y="4380770"/>
            <a:ext cx="422073" cy="216024"/>
          </a:xfrm>
          <a:prstGeom prst="bentConnector2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sp>
        <p:nvSpPr>
          <p:cNvPr id="54" name="語音泡泡: 圓角矩形 53">
            <a:extLst>
              <a:ext uri="{FF2B5EF4-FFF2-40B4-BE49-F238E27FC236}">
                <a16:creationId xmlns:a16="http://schemas.microsoft.com/office/drawing/2014/main" id="{53E3472E-7E5C-555A-E306-B8115FFC1301}"/>
              </a:ext>
            </a:extLst>
          </p:cNvPr>
          <p:cNvSpPr/>
          <p:nvPr/>
        </p:nvSpPr>
        <p:spPr>
          <a:xfrm>
            <a:off x="5690515" y="2864864"/>
            <a:ext cx="1329757" cy="636144"/>
          </a:xfrm>
          <a:prstGeom prst="wedgeRoundRectCallout">
            <a:avLst>
              <a:gd name="adj1" fmla="val -68885"/>
              <a:gd name="adj2" fmla="val 585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Dr. BioByte,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Please interpret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My gut biopsy.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sp>
        <p:nvSpPr>
          <p:cNvPr id="55" name="語音泡泡: 圓角矩形 54">
            <a:extLst>
              <a:ext uri="{FF2B5EF4-FFF2-40B4-BE49-F238E27FC236}">
                <a16:creationId xmlns:a16="http://schemas.microsoft.com/office/drawing/2014/main" id="{8CF73947-4000-6DF9-5881-F84068F83CB9}"/>
              </a:ext>
            </a:extLst>
          </p:cNvPr>
          <p:cNvSpPr/>
          <p:nvPr/>
        </p:nvSpPr>
        <p:spPr>
          <a:xfrm>
            <a:off x="3895382" y="3269634"/>
            <a:ext cx="1219070" cy="610905"/>
          </a:xfrm>
          <a:prstGeom prst="wedgeRoundRectCallout">
            <a:avLst>
              <a:gd name="adj1" fmla="val 59020"/>
              <a:gd name="adj2" fmla="val 57509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Terrible, </a:t>
            </a:r>
            <a:b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</a:b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Zero fast food.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Eat real grass.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BA08B394-327A-0E1D-B4F0-E29F0B6CB5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514" y="3995539"/>
            <a:ext cx="432048" cy="432047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CCFE727B-5601-417F-46F0-D7AE0201BFA4}"/>
              </a:ext>
            </a:extLst>
          </p:cNvPr>
          <p:cNvSpPr txBox="1"/>
          <p:nvPr/>
        </p:nvSpPr>
        <p:spPr>
          <a:xfrm>
            <a:off x="2843808" y="4477776"/>
            <a:ext cx="432048" cy="247368"/>
          </a:xfrm>
          <a:prstGeom prst="rect">
            <a:avLst/>
          </a:prstGeom>
          <a:solidFill>
            <a:sysClr val="window" lastClr="FFFFFF">
              <a:lumMod val="95000"/>
              <a:alpha val="40000"/>
            </a:sysClr>
          </a:solidFill>
          <a:ln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Unsloth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C9B67DD9-6E7B-DDB0-2D44-301F7F925A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8277" y="4802183"/>
            <a:ext cx="411308" cy="386908"/>
          </a:xfrm>
          <a:prstGeom prst="rect">
            <a:avLst/>
          </a:prstGeom>
          <a:effectLst>
            <a:glow rad="50800">
              <a:srgbClr val="F79646">
                <a:lumMod val="20000"/>
                <a:lumOff val="80000"/>
              </a:srgbClr>
            </a:glow>
            <a:softEdge rad="25400"/>
          </a:effectLst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6C58332F-6094-E120-8072-46CA48A5ED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790" y="4336932"/>
            <a:ext cx="468845" cy="612186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0B5585BA-9ACF-11BA-D7FA-7EF685C4B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600" y="5570604"/>
            <a:ext cx="920802" cy="535293"/>
          </a:xfrm>
          <a:prstGeom prst="rect">
            <a:avLst/>
          </a:prstGeom>
        </p:spPr>
      </p:pic>
      <p:sp>
        <p:nvSpPr>
          <p:cNvPr id="61" name="文字方塊 60">
            <a:extLst>
              <a:ext uri="{FF2B5EF4-FFF2-40B4-BE49-F238E27FC236}">
                <a16:creationId xmlns:a16="http://schemas.microsoft.com/office/drawing/2014/main" id="{476AB84C-6C91-4675-3635-95A1B4EC6A61}"/>
              </a:ext>
            </a:extLst>
          </p:cNvPr>
          <p:cNvSpPr txBox="1"/>
          <p:nvPr/>
        </p:nvSpPr>
        <p:spPr>
          <a:xfrm>
            <a:off x="59874" y="6090806"/>
            <a:ext cx="1035103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LLaMA-Factory</a:t>
            </a: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/ˈlɑː.mə/</a:t>
            </a: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小羊駝</a:t>
            </a:r>
            <a:endParaRPr lang="zh-TW" altLang="en-US" sz="1000" b="1" dirty="0">
              <a:ln w="0"/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049714B2-6C97-957D-FAFA-F28591F0F511}"/>
              </a:ext>
            </a:extLst>
          </p:cNvPr>
          <p:cNvSpPr txBox="1"/>
          <p:nvPr/>
        </p:nvSpPr>
        <p:spPr>
          <a:xfrm>
            <a:off x="81198" y="4911551"/>
            <a:ext cx="1015906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Axolotl</a:t>
            </a:r>
            <a:r>
              <a:rPr lang="zh-TW" altLang="en-US" sz="1200" b="1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zh-TW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美西螈</a:t>
            </a:r>
            <a:endParaRPr lang="en-US" altLang="zh-TW" sz="1200" b="1" dirty="0">
              <a:ln w="0"/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/ˈæk.sə.lɑ.təl/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90010DDF-E96B-F83D-82ED-D53BE57F9B1E}"/>
              </a:ext>
            </a:extLst>
          </p:cNvPr>
          <p:cNvSpPr txBox="1"/>
          <p:nvPr/>
        </p:nvSpPr>
        <p:spPr>
          <a:xfrm>
            <a:off x="81198" y="3759423"/>
            <a:ext cx="1107996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Unsloth</a:t>
            </a:r>
            <a:r>
              <a:rPr lang="zh-TW" altLang="en-US" sz="1200" b="1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zh-TW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樹懶</a:t>
            </a:r>
            <a:endParaRPr lang="en-US" altLang="zh-TW" sz="1200" b="1" dirty="0">
              <a:ln w="0"/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/ʌn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slɑːθ/</a:t>
            </a:r>
            <a:endParaRPr lang="en-US" altLang="zh-TW" sz="1000" b="1" dirty="0">
              <a:ln w="0"/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F20936B8-B8FF-93A2-DB99-67D0AF845C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0" y="3276713"/>
            <a:ext cx="432048" cy="432047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684513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A95043-80F9-000C-9B25-88A3B10B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4958" y="6510339"/>
            <a:ext cx="530942" cy="299629"/>
          </a:xfrm>
          <a:prstGeom prst="rect">
            <a:avLst/>
          </a:prstGeom>
        </p:spPr>
        <p:txBody>
          <a:bodyPr/>
          <a:lstStyle/>
          <a:p>
            <a:fld id="{1199D2F9-F85F-4ADB-9AB3-7A77A9EA85B6}" type="slidenum">
              <a:rPr lang="zh-TW" altLang="en-US" smtClean="0"/>
              <a:t>35</a:t>
            </a:fld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4ED8374-C51F-901B-C8B6-4B24B8E97C52}"/>
              </a:ext>
            </a:extLst>
          </p:cNvPr>
          <p:cNvSpPr txBox="1"/>
          <p:nvPr/>
        </p:nvSpPr>
        <p:spPr>
          <a:xfrm>
            <a:off x="179512" y="1196752"/>
            <a:ext cx="4824536" cy="4267058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torch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unsloth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FastLanguageModel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transformers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TrainingArguments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trl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SFTTrainer</a:t>
            </a: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1.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Load Initialized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Model and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Tokenizer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ax_seq_length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2048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# Context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Length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tokenizer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FastLanguageModel.from_pretrained(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model_name=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"unsloth/gemma-2-9b-it"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Init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max_seq_length=max_seq_length,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load_in_4bit=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                  # 4-bit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2.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Setup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Unsloth PEFT(QLoRA) 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model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FastLanguageModel.get_peft_model(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r=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16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lora_alpha=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16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target_modules=[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"q_proj"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"k_proj"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"v_proj"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b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	      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"o_proj"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"gate_proj"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"up_proj"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"down_proj"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],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lora_dropout=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0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Best performance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bias=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"none"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use_gradient_checkpointing=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"unsloth"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Ultra-low 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VRAM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random_state=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3407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zh-TW" altLang="en-US" sz="1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ADA0926-4855-7FCC-84ED-1B6FA46A0CEE}"/>
              </a:ext>
            </a:extLst>
          </p:cNvPr>
          <p:cNvSpPr txBox="1"/>
          <p:nvPr/>
        </p:nvSpPr>
        <p:spPr>
          <a:xfrm>
            <a:off x="5076056" y="1196752"/>
            <a:ext cx="3288080" cy="4267058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endParaRPr lang="en-US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3.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Setup Unsloth Optimizer</a:t>
            </a:r>
            <a:endParaRPr lang="zh-TW" altLang="zh-TW" sz="1000" i="1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training_args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TrainingArguments(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output_dir=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"./gemma-unsloth-output"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per_device_train_batch_size=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gradient_accumulation_steps=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4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warmup_steps=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5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60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learning_rate=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2e-4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fp16=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torch.cuda.is_bf16_supported(),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bf16=torch.cuda.is_bf16_supported(),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logging_steps=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optim=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"adamw_8bit"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en-US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4.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Start Training</a:t>
            </a:r>
            <a:endParaRPr lang="zh-TW" altLang="zh-TW" sz="1000" i="1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trainer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SFTTrainer(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model=model,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tokenizer=tokenizer,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train_dataset=dataset,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Aligned Data!!</a:t>
            </a:r>
            <a:endParaRPr lang="zh-TW" altLang="zh-TW" sz="1000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dataset_text_field=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"text"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max_seq_length=max_seq_length,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dataset_num_proc=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args=training_args,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trainer_stats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trainer.train()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0CC6784-413B-B711-07A5-FC630B06D70C}"/>
              </a:ext>
            </a:extLst>
          </p:cNvPr>
          <p:cNvSpPr txBox="1"/>
          <p:nvPr/>
        </p:nvSpPr>
        <p:spPr>
          <a:xfrm>
            <a:off x="179512" y="5877272"/>
            <a:ext cx="8184624" cy="440429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Save tuned weights into compressed Ollama GGUF format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model.save_pretrained_gguf(</a:t>
            </a:r>
            <a:r>
              <a:rPr lang="en-US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"my_gemma_model"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tokenizer, quantization_method=</a:t>
            </a:r>
            <a:r>
              <a:rPr lang="en-US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"q4_k_m"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zh-TW" altLang="en-US" sz="1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EB05327-2930-1F4D-EA83-072EAF4196D4}"/>
              </a:ext>
            </a:extLst>
          </p:cNvPr>
          <p:cNvSpPr txBox="1"/>
          <p:nvPr/>
        </p:nvSpPr>
        <p:spPr>
          <a:xfrm>
            <a:off x="179512" y="5661248"/>
            <a:ext cx="2304256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onsolas" panose="020B0609020204030204" pitchFamily="49" charset="0"/>
              </a:rPr>
              <a:t>Exporting GGUF</a:t>
            </a:r>
            <a:endParaRPr lang="zh-TW" altLang="zh-TW" sz="1200" b="1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83F9DE5C-D284-BDDC-27F1-BF720FAE69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34693"/>
            <a:ext cx="576064" cy="576063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C387E3B3-CAFB-C257-F916-80614EC7995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Practice: Unsloth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SFT and Quantization</a:t>
            </a:r>
          </a:p>
        </p:txBody>
      </p:sp>
    </p:spTree>
    <p:extLst>
      <p:ext uri="{BB962C8B-B14F-4D97-AF65-F5344CB8AC3E}">
        <p14:creationId xmlns:p14="http://schemas.microsoft.com/office/powerpoint/2010/main" val="346879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7153</Words>
  <Application>Microsoft Office PowerPoint</Application>
  <PresentationFormat>如螢幕大小 (4:3)</PresentationFormat>
  <Paragraphs>2302</Paragraphs>
  <Slides>36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52" baseType="lpstr">
      <vt:lpstr>Microsoft GothicNeo</vt:lpstr>
      <vt:lpstr>Microsoft YaHei Mono</vt:lpstr>
      <vt:lpstr>Noto Sans HK</vt:lpstr>
      <vt:lpstr>微軟正黑體</vt:lpstr>
      <vt:lpstr>ADLaM Display</vt:lpstr>
      <vt:lpstr>Aptos</vt:lpstr>
      <vt:lpstr>Aptos Display</vt:lpstr>
      <vt:lpstr>Arial</vt:lpstr>
      <vt:lpstr>Baguet Script</vt:lpstr>
      <vt:lpstr>Calibri</vt:lpstr>
      <vt:lpstr>Cambria Math</vt:lpstr>
      <vt:lpstr>Comic Sans MS</vt:lpstr>
      <vt:lpstr>Consolas</vt:lpstr>
      <vt:lpstr>Gadugi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Ni(倪士凱)</dc:creator>
  <cp:lastModifiedBy>Allen Ni(倪士凱)</cp:lastModifiedBy>
  <cp:revision>63</cp:revision>
  <dcterms:created xsi:type="dcterms:W3CDTF">2026-09-14T11:47:03Z</dcterms:created>
  <dcterms:modified xsi:type="dcterms:W3CDTF">2026-10-17T23:21:13Z</dcterms:modified>
</cp:coreProperties>
</file>