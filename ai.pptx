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2"/>
  </p:notesMasterIdLst>
  <p:handoutMasterIdLst>
    <p:handoutMasterId r:id="rId23"/>
  </p:handoutMasterIdLst>
  <p:sldIdLst>
    <p:sldId id="3459" r:id="rId2"/>
    <p:sldId id="3472" r:id="rId3"/>
    <p:sldId id="3506" r:id="rId4"/>
    <p:sldId id="3504" r:id="rId5"/>
    <p:sldId id="3427" r:id="rId6"/>
    <p:sldId id="3503" r:id="rId7"/>
    <p:sldId id="3470" r:id="rId8"/>
    <p:sldId id="3471" r:id="rId9"/>
    <p:sldId id="3482" r:id="rId10"/>
    <p:sldId id="3483" r:id="rId11"/>
    <p:sldId id="3428" r:id="rId12"/>
    <p:sldId id="3451" r:id="rId13"/>
    <p:sldId id="3465" r:id="rId14"/>
    <p:sldId id="3484" r:id="rId15"/>
    <p:sldId id="3505" r:id="rId16"/>
    <p:sldId id="3485" r:id="rId17"/>
    <p:sldId id="3460" r:id="rId18"/>
    <p:sldId id="3507" r:id="rId19"/>
    <p:sldId id="3479" r:id="rId20"/>
    <p:sldId id="3467" r:id="rId21"/>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06"/>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505"/>
            <p14:sldId id="3485"/>
            <p14:sldId id="3460"/>
            <p14:sldId id="3507"/>
          </p14:sldIdLst>
        </p14:section>
        <p14:section name="Hardware" id="{69C35067-BEF2-4B7C-9B54-B6977EB05C72}">
          <p14:sldIdLst>
            <p14:sldId id="3479"/>
            <p14:sldId id="3467"/>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a:srgbClr val="FEC203"/>
    <a:srgbClr val="B7C9E7"/>
    <a:srgbClr val="9E7800"/>
    <a:srgbClr val="DAA600"/>
    <a:srgbClr val="F8D462"/>
    <a:srgbClr val="FDE7DA"/>
    <a:srgbClr val="DDDDDD"/>
    <a:srgbClr val="AAD290"/>
    <a:srgbClr val="FFCC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35602" autoAdjust="0"/>
  </p:normalViewPr>
  <p:slideViewPr>
    <p:cSldViewPr>
      <p:cViewPr>
        <p:scale>
          <a:sx n="100" d="100"/>
          <a:sy n="100" d="100"/>
        </p:scale>
        <p:origin x="900" y="73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28"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2026/7/7</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2026/7/7</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8" Type="http://schemas.openxmlformats.org/officeDocument/2006/relationships/hyperlink" Target="https://cloud.tencent.com/developer/article/2245094" TargetMode="External"/><Relationship Id="rId3" Type="http://schemas.openxmlformats.org/officeDocument/2006/relationships/hyperlink" Target="https://aistudio.baidu.com/blog/detail/731024175967365" TargetMode="External"/><Relationship Id="rId7" Type="http://schemas.openxmlformats.org/officeDocument/2006/relationships/hyperlink" Target="https://hackmd.io/@MtkMWTAMStiGb_5Gc8900Q/BJoVM2VCkg" TargetMode="External"/><Relationship Id="rId2" Type="http://schemas.openxmlformats.org/officeDocument/2006/relationships/slide" Target="../slides/slide15.xml"/><Relationship Id="rId1" Type="http://schemas.openxmlformats.org/officeDocument/2006/relationships/notesMaster" Target="../notesMasters/notesMaster1.xml"/><Relationship Id="rId6" Type="http://schemas.openxmlformats.org/officeDocument/2006/relationships/hyperlink" Target="https://medium.com/@lmpo/an-overview-instruction-tuning-for-llms-440228e7edab" TargetMode="External"/><Relationship Id="rId5" Type="http://schemas.openxmlformats.org/officeDocument/2006/relationships/hyperlink" Target="https://blog.csdn.net/qq_39388410/article/details/128265846" TargetMode="External"/><Relationship Id="rId4" Type="http://schemas.openxmlformats.org/officeDocument/2006/relationships/hyperlink" Target="https://arxiv.org/pdf/2109.01652" TargetMode="Externa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SFT 的演進可以歸納為四大里程碑節點：</a:t>
            </a:r>
          </a:p>
          <a:p>
            <a:r>
              <a:rPr lang="zh-TW" altLang="zh-TW" sz="1200" b="1" u="none" strike="noStrike" kern="1200" dirty="0">
                <a:solidFill>
                  <a:schemeClr val="tx1"/>
                </a:solidFill>
                <a:effectLst/>
                <a:latin typeface="+mn-lt"/>
                <a:ea typeface="+mn-ea"/>
                <a:cs typeface="+mn-cs"/>
              </a:rPr>
              <a:t>2018 - 2020：前身探索（Task-specific Fine-Tuning）</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在 BERT 或 GPT-2 時代，微調是針對「單一任務」（如：專門微調一個只會判斷情感的模型）。此時模型還沒有具備統一的通用對話能力。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2021.09：指令微調的誕生（Google FLAN）</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Google 發表里程碑論文 </a:t>
            </a:r>
            <a:r>
              <a:rPr lang="zh-TW" altLang="zh-TW" sz="1200" b="0" i="1" u="none" strike="noStrike" kern="1200" dirty="0">
                <a:solidFill>
                  <a:schemeClr val="tx1"/>
                </a:solidFill>
                <a:effectLst/>
                <a:latin typeface="+mn-lt"/>
                <a:ea typeface="+mn-ea"/>
                <a:cs typeface="+mn-cs"/>
                <a:hlinkClick r:id="rId4"/>
              </a:rPr>
              <a:t>FLAN</a:t>
            </a:r>
            <a:r>
              <a:rPr lang="zh-TW" altLang="zh-TW" sz="1200" b="0" u="none" strike="noStrike" kern="1200" dirty="0">
                <a:solidFill>
                  <a:schemeClr val="tx1"/>
                </a:solidFill>
                <a:effectLst/>
                <a:latin typeface="+mn-lt"/>
                <a:ea typeface="+mn-ea"/>
                <a:cs typeface="+mn-cs"/>
              </a:rPr>
              <a:t>，首次提出 </a:t>
            </a:r>
            <a:r>
              <a:rPr lang="zh-TW" altLang="zh-TW" sz="1200" b="1" u="none" strike="noStrike" kern="1200" dirty="0">
                <a:solidFill>
                  <a:schemeClr val="tx1"/>
                </a:solidFill>
                <a:effectLst/>
                <a:latin typeface="+mn-lt"/>
                <a:ea typeface="+mn-ea"/>
                <a:cs typeface="+mn-cs"/>
              </a:rPr>
              <a:t>Instruction Tuning</a:t>
            </a:r>
            <a:r>
              <a:rPr lang="zh-TW" altLang="zh-TW" sz="1200" b="0" u="none" strike="noStrike" kern="1200" dirty="0">
                <a:solidFill>
                  <a:schemeClr val="tx1"/>
                </a:solidFill>
                <a:effectLst/>
                <a:latin typeface="+mn-lt"/>
                <a:ea typeface="+mn-ea"/>
                <a:cs typeface="+mn-cs"/>
              </a:rPr>
              <a:t>。他們將數十個標準 NLP 任務全部轉為指令格式來微調模型，證明了「任務微調得越多，模型沒見過的新任務就解得越好」。 [</a:t>
            </a:r>
            <a:r>
              <a:rPr lang="zh-TW" altLang="zh-TW" sz="1200" b="0" u="none" strike="noStrike" kern="1200" dirty="0">
                <a:solidFill>
                  <a:schemeClr val="tx1"/>
                </a:solidFill>
                <a:effectLst/>
                <a:latin typeface="+mn-lt"/>
                <a:ea typeface="+mn-ea"/>
                <a:cs typeface="+mn-cs"/>
                <a:hlinkClick r:id="rId5"/>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7"/>
              </a:rPr>
              <a:t>3</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4</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2022.03：走向人類偏好（OpenAI InstructGPT）</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OpenAI 發表論文，利用真實使用者的 Playground 輸入來標註 Q&amp;A。這宣告了 SFT 從「學術任務」走向「模仿真實人類助理的日常對話」。這也是同年底 ChatGPT 震撼世界的底座技術。 [</a:t>
            </a:r>
            <a:r>
              <a:rPr lang="zh-TW" altLang="zh-TW" sz="1200" b="0" u="none" strike="noStrike" kern="1200" dirty="0">
                <a:solidFill>
                  <a:schemeClr val="tx1"/>
                </a:solidFill>
                <a:effectLst/>
                <a:latin typeface="+mn-lt"/>
                <a:ea typeface="+mn-ea"/>
                <a:cs typeface="+mn-cs"/>
                <a:hlinkClick r:id="rId8"/>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7"/>
              </a:rPr>
              <a:t>2</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2023 - 2024：開源大爆發（Alpaca &amp; LoRA 普及化）</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史丹佛大學提出 </a:t>
            </a:r>
            <a:r>
              <a:rPr lang="zh-TW" altLang="zh-TW" sz="1200" b="0" i="1" u="none" strike="noStrike" kern="1200" dirty="0">
                <a:solidFill>
                  <a:schemeClr val="tx1"/>
                </a:solidFill>
                <a:effectLst/>
                <a:latin typeface="+mn-lt"/>
                <a:ea typeface="+mn-ea"/>
                <a:cs typeface="+mn-cs"/>
              </a:rPr>
              <a:t>Alpaca</a:t>
            </a:r>
            <a:r>
              <a:rPr lang="zh-TW" altLang="zh-TW" sz="1200" b="0" u="none" strike="noStrike" kern="1200" dirty="0">
                <a:solidFill>
                  <a:schemeClr val="tx1"/>
                </a:solidFill>
                <a:effectLst/>
                <a:latin typeface="+mn-lt"/>
                <a:ea typeface="+mn-ea"/>
                <a:cs typeface="+mn-cs"/>
              </a:rPr>
              <a:t>，展示了如何用 GPT-4 自動生成 SFT 資料（Self-Instruct 蒸餾技術），搭配 LoRA 讓一般人在幾小時內就能微調出自己的 ChatGPT。</a:t>
            </a:r>
          </a:p>
          <a:p>
            <a:br>
              <a:rPr lang="zh-TW" altLang="zh-TW" dirty="0"/>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D1F47-5F44-5595-612A-D65C05D17A2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4D5A6B1-1A90-29AA-F23A-A86C6B72F15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D932277-A577-3363-D73E-049EEA9C44E9}"/>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DB28DFA3-4012-ED99-9893-6D05136FACB9}"/>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15581630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2026/7/7</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3.png"/><Relationship Id="rId1" Type="http://schemas.openxmlformats.org/officeDocument/2006/relationships/slideLayout" Target="../slideLayouts/slideLayout2.xml"/><Relationship Id="rId6" Type="http://schemas.openxmlformats.org/officeDocument/2006/relationships/image" Target="../media/image90.png"/><Relationship Id="rId5" Type="http://schemas.openxmlformats.org/officeDocument/2006/relationships/image" Target="../media/image80.png"/><Relationship Id="rId4" Type="http://schemas.openxmlformats.org/officeDocument/2006/relationships/image" Target="../media/image70.png"/></Relationships>
</file>

<file path=ppt/slides/_rels/slide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1.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2.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40.png"/><Relationship Id="rId7" Type="http://schemas.openxmlformats.org/officeDocument/2006/relationships/image" Target="../media/image31.png"/><Relationship Id="rId12" Type="http://schemas.openxmlformats.org/officeDocument/2006/relationships/image" Target="../media/image310.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30.png"/><Relationship Id="rId11" Type="http://schemas.openxmlformats.org/officeDocument/2006/relationships/image" Target="../media/image300.png"/><Relationship Id="rId5" Type="http://schemas.openxmlformats.org/officeDocument/2006/relationships/image" Target="../media/image240.png"/><Relationship Id="rId15" Type="http://schemas.openxmlformats.org/officeDocument/2006/relationships/image" Target="../media/image34.png"/><Relationship Id="rId10" Type="http://schemas.openxmlformats.org/officeDocument/2006/relationships/image" Target="../media/image290.png"/><Relationship Id="rId19" Type="http://schemas.openxmlformats.org/officeDocument/2006/relationships/image" Target="../media/image38.png"/><Relationship Id="rId4" Type="http://schemas.openxmlformats.org/officeDocument/2006/relationships/image" Target="../media/image29.png"/><Relationship Id="rId9" Type="http://schemas.openxmlformats.org/officeDocument/2006/relationships/image" Target="../media/image280.png"/><Relationship Id="rId14" Type="http://schemas.openxmlformats.org/officeDocument/2006/relationships/image" Target="../media/image33.png"/></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45.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42.png"/></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8.svg"/></Relationships>
</file>

<file path=ppt/slides/_rels/slide14.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8" Type="http://schemas.openxmlformats.org/officeDocument/2006/relationships/image" Target="../media/image200.png"/><Relationship Id="rId13" Type="http://schemas.openxmlformats.org/officeDocument/2006/relationships/image" Target="../media/image22.png"/><Relationship Id="rId3" Type="http://schemas.openxmlformats.org/officeDocument/2006/relationships/image" Target="../media/image20.png"/><Relationship Id="rId7" Type="http://schemas.openxmlformats.org/officeDocument/2006/relationships/image" Target="../media/image190.png"/><Relationship Id="rId12" Type="http://schemas.openxmlformats.org/officeDocument/2006/relationships/image" Target="../media/image21.pn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180.png"/><Relationship Id="rId11" Type="http://schemas.openxmlformats.org/officeDocument/2006/relationships/image" Target="../media/image23.png"/><Relationship Id="rId5" Type="http://schemas.openxmlformats.org/officeDocument/2006/relationships/image" Target="../media/image170.png"/><Relationship Id="rId15" Type="http://schemas.openxmlformats.org/officeDocument/2006/relationships/image" Target="../media/image28.png"/><Relationship Id="rId10" Type="http://schemas.openxmlformats.org/officeDocument/2006/relationships/image" Target="../media/image220.png"/><Relationship Id="rId4" Type="http://schemas.openxmlformats.org/officeDocument/2006/relationships/image" Target="../media/image160.png"/><Relationship Id="rId9" Type="http://schemas.openxmlformats.org/officeDocument/2006/relationships/image" Target="../media/image210.png"/><Relationship Id="rId14" Type="http://schemas.openxmlformats.org/officeDocument/2006/relationships/image" Target="../media/image27.png"/></Relationships>
</file>

<file path=ppt/slides/_rels/slide17.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44.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43.png"/><Relationship Id="rId5" Type="http://schemas.openxmlformats.org/officeDocument/2006/relationships/image" Target="../media/image42.svg"/><Relationship Id="rId4" Type="http://schemas.openxmlformats.org/officeDocument/2006/relationships/image" Target="../media/image41.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45.jp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2026/07/06</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1500267"/>
            <a:ext cx="7524837" cy="1928733"/>
          </a:xfrm>
          <a:prstGeom prst="rect">
            <a:avLst/>
          </a:prstGeom>
          <a:noFill/>
        </p:spPr>
        <p:txBody>
          <a:bodyPr wrap="square" rtlCol="0">
            <a:spAutoFit/>
          </a:bodyPr>
          <a:lstStyle/>
          <a:p>
            <a:pPr algn="ctr"/>
            <a:r>
              <a:rPr lang="en-US" altLang="zh-TW" sz="4000" b="1" dirty="0"/>
              <a:t>Attention Is All You Need</a:t>
            </a:r>
          </a:p>
          <a:p>
            <a:pPr defTabSz="4857750">
              <a:lnSpc>
                <a:spcPts val="400"/>
              </a:lnSpc>
            </a:pPr>
            <a:r>
              <a:rPr lang="zh-TW" altLang="en-US" sz="1000" b="1" dirty="0"/>
              <a:t> </a:t>
            </a:r>
            <a:r>
              <a:rPr lang="en-US" altLang="zh-TW" sz="1000" b="1" dirty="0"/>
              <a:t>	2017</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Google Brain: 	</a:t>
            </a:r>
            <a:r>
              <a:rPr lang="en-US" altLang="zh-TW" sz="1200" b="1" dirty="0">
                <a:sym typeface="Wingdings" panose="05000000000000000000" pitchFamily="2" charset="2"/>
              </a:rPr>
              <a:t>Google Research	University of Toronto</a:t>
            </a:r>
          </a:p>
          <a:p>
            <a:pPr indent="541338" defTabSz="7269163">
              <a:tabLst>
                <a:tab pos="2955925" algn="l"/>
                <a:tab pos="5470525" algn="l"/>
              </a:tabLst>
            </a:pPr>
            <a:r>
              <a:rPr lang="en-US" altLang="zh-TW" sz="1000" dirty="0"/>
              <a:t>Ashish Vaswani</a:t>
            </a:r>
            <a:r>
              <a:rPr lang="en-US" altLang="zh-TW" sz="1000" dirty="0">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t>Noam Shazeer</a:t>
            </a:r>
            <a:r>
              <a:rPr lang="en-US" altLang="zh-TW" sz="1000" dirty="0">
                <a:sym typeface="Wingdings" panose="05000000000000000000" pitchFamily="2" charset="2"/>
              </a:rPr>
              <a:t> (Google)	Jakob Uszkoreit (Inceptive*)	</a:t>
            </a:r>
          </a:p>
          <a:p>
            <a:pPr indent="541338" defTabSz="7269163">
              <a:tabLst>
                <a:tab pos="2955925" algn="l"/>
                <a:tab pos="5470525" algn="l"/>
              </a:tabLst>
            </a:pPr>
            <a:r>
              <a:rPr lang="en-US" altLang="zh-TW" sz="1000" dirty="0">
                <a:sym typeface="Wingdings" panose="05000000000000000000" pitchFamily="2" charset="2"/>
              </a:rPr>
              <a:t>Lukasz Kaiser (OpenAI)	Llion Jones (Sakana AI*)	-- «The Transformer Eight»</a:t>
            </a:r>
            <a:endParaRPr lang="en-US" altLang="zh-TW" sz="1000" b="1" dirty="0">
              <a:sym typeface="Wingdings" panose="05000000000000000000" pitchFamily="2" charset="2"/>
            </a:endParaRPr>
          </a:p>
          <a:p>
            <a:pPr indent="541338" defTabSz="7269163">
              <a:tabLst>
                <a:tab pos="2955925" algn="l"/>
                <a:tab pos="5470525" algn="l"/>
              </a:tabLst>
            </a:pPr>
            <a:r>
              <a:rPr lang="en-US" altLang="zh-TW" sz="1000" dirty="0">
                <a:sym typeface="Wingdings" panose="05000000000000000000" pitchFamily="2" charset="2"/>
              </a:rPr>
              <a:t>		Illia Polosukhin (NEAR Protocol*)</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 name="文字方塊 2">
            <a:extLst>
              <a:ext uri="{FF2B5EF4-FFF2-40B4-BE49-F238E27FC236}">
                <a16:creationId xmlns:a16="http://schemas.microsoft.com/office/drawing/2014/main" id="{1DB4E429-5595-ACCD-1E73-CED595D308A6}"/>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t> MCP</a:t>
            </a:r>
          </a:p>
          <a:p>
            <a:pPr marL="111125" lvl="2">
              <a:lnSpc>
                <a:spcPts val="1200"/>
              </a:lnSpc>
              <a:buFont typeface="Arial" panose="020B0604020202020204" pitchFamily="34" charset="0"/>
              <a:buChar char="•"/>
              <a:defRPr/>
            </a:pPr>
            <a:r>
              <a:rPr lang="en-US" altLang="zh-TW" sz="1000" dirty="0"/>
              <a:t> RAG</a:t>
            </a:r>
          </a:p>
          <a:p>
            <a:pPr marL="111125" lvl="2">
              <a:lnSpc>
                <a:spcPts val="1200"/>
              </a:lnSpc>
              <a:buFont typeface="Arial" panose="020B0604020202020204" pitchFamily="34" charset="0"/>
              <a:buChar char="•"/>
              <a:defRPr/>
            </a:pPr>
            <a:r>
              <a:rPr lang="en-US" altLang="zh-TW" sz="1000" dirty="0"/>
              <a:t> LLM</a:t>
            </a:r>
          </a:p>
          <a:p>
            <a:pPr marL="111125" lvl="2">
              <a:lnSpc>
                <a:spcPts val="1200"/>
              </a:lnSpc>
              <a:buFont typeface="Arial" panose="020B0604020202020204" pitchFamily="34" charset="0"/>
              <a:buChar char="•"/>
              <a:defRPr/>
            </a:pPr>
            <a:r>
              <a:rPr lang="en-US" altLang="zh-TW" sz="1000" dirty="0"/>
              <a:t> Trend Analysis </a:t>
            </a: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t> Supervised FT</a:t>
            </a:r>
          </a:p>
          <a:p>
            <a:pPr marL="111125" lvl="2">
              <a:lnSpc>
                <a:spcPts val="1200"/>
              </a:lnSpc>
              <a:buFont typeface="Arial" panose="020B0604020202020204" pitchFamily="34" charset="0"/>
              <a:buChar char="•"/>
              <a:defRPr/>
            </a:pPr>
            <a:r>
              <a:rPr lang="en-US" altLang="zh-TW" sz="1000" dirty="0"/>
              <a:t> LoRA</a:t>
            </a: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t> Practices</a:t>
            </a: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341923"/>
            <a:ext cx="7452828" cy="4247317"/>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Neural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Basic Model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1" nodeType="withEffect">
                                  <p:stCondLst>
                                    <p:cond delay="0"/>
                                  </p:stCondLst>
                                  <p:childTnLst>
                                    <p:animClr clrSpc="rgb" dir="cw">
                                      <p:cBhvr override="childStyle">
                                        <p:cTn id="60" dur="2000" fill="hold"/>
                                        <p:tgtEl>
                                          <p:spTgt spid="2">
                                            <p:txEl>
                                              <p:pRg st="8" end="8"/>
                                            </p:txEl>
                                          </p:spTgt>
                                        </p:tgtEl>
                                        <p:attrNameLst>
                                          <p:attrName>style.color</p:attrName>
                                        </p:attrNameLst>
                                      </p:cBhvr>
                                      <p:to>
                                        <a:srgbClr val="4D4D4D"/>
                                      </p:to>
                                    </p:animClr>
                                  </p:childTnLst>
                                </p:cTn>
                              </p:par>
                              <p:par>
                                <p:cTn id="61" presetID="3" presetClass="emph" presetSubtype="2" fill="hold" grpId="1" nodeType="withEffect">
                                  <p:stCondLst>
                                    <p:cond delay="0"/>
                                  </p:stCondLst>
                                  <p:childTnLst>
                                    <p:animClr clrSpc="rgb" dir="cw">
                                      <p:cBhvr override="childStyle">
                                        <p:cTn id="62" dur="2000" fill="hold"/>
                                        <p:tgtEl>
                                          <p:spTgt spid="2">
                                            <p:txEl>
                                              <p:pRg st="9" end="9"/>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10" end="10"/>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1" end="11"/>
                                            </p:txEl>
                                          </p:spTgt>
                                        </p:tgtEl>
                                        <p:attrNameLst>
                                          <p:attrName>style.color</p:attrName>
                                        </p:attrNameLst>
                                      </p:cBhvr>
                                      <p:to>
                                        <a:srgbClr val="4D4D4D"/>
                                      </p:to>
                                    </p:animClr>
                                  </p:childTnLst>
                                </p:cTn>
                              </p:par>
                            </p:childTnLst>
                          </p:cTn>
                        </p:par>
                      </p:childTnLst>
                    </p:cTn>
                  </p:par>
                  <p:par>
                    <p:cTn id="67" fill="hold">
                      <p:stCondLst>
                        <p:cond delay="indefinite"/>
                      </p:stCondLst>
                      <p:childTnLst>
                        <p:par>
                          <p:cTn id="68" fill="hold">
                            <p:stCondLst>
                              <p:cond delay="0"/>
                            </p:stCondLst>
                            <p:childTnLst>
                              <p:par>
                                <p:cTn id="69" presetID="3" presetClass="emph" presetSubtype="2" fill="hold" grpId="0" nodeType="clickEffect">
                                  <p:stCondLst>
                                    <p:cond delay="0"/>
                                  </p:stCondLst>
                                  <p:childTnLst>
                                    <p:animClr clrSpc="rgb" dir="cw">
                                      <p:cBhvr override="childStyle">
                                        <p:cTn id="7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69"/>
                                            </p:cond>
                                          </p:stCondLst>
                                          <p:endCondLst>
                                            <p:cond evt="onStopAudio" delay="0">
                                              <p:tgtEl>
                                                <p:sldTgt/>
                                              </p:tgtEl>
                                            </p:cond>
                                          </p:endCondLst>
                                        </p:cTn>
                                        <p:tgtEl>
                                          <p:sndTgt r:embed="rId3" name="type.wav"/>
                                        </p:tgtEl>
                                      </p:cMediaNode>
                                    </p:audio>
                                  </p:subTnLst>
                                </p:cTn>
                              </p:par>
                            </p:childTnLst>
                          </p:cTn>
                        </p:par>
                      </p:childTnLst>
                    </p:cTn>
                  </p:par>
                  <p:par>
                    <p:cTn id="71" fill="hold">
                      <p:stCondLst>
                        <p:cond delay="indefinite"/>
                      </p:stCondLst>
                      <p:childTnLst>
                        <p:par>
                          <p:cTn id="72" fill="hold">
                            <p:stCondLst>
                              <p:cond delay="0"/>
                            </p:stCondLst>
                            <p:childTnLst>
                              <p:par>
                                <p:cTn id="73" presetID="3" presetClass="emph" presetSubtype="2" fill="hold" grpId="0" nodeType="clickEffect">
                                  <p:stCondLst>
                                    <p:cond delay="0"/>
                                  </p:stCondLst>
                                  <p:childTnLst>
                                    <p:animClr clrSpc="rgb" dir="cw">
                                      <p:cBhvr override="childStyle">
                                        <p:cTn id="74"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2" end="12"/>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3" end="13"/>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1" nodeType="withEffect">
                                  <p:stCondLst>
                                    <p:cond delay="0"/>
                                  </p:stCondLst>
                                  <p:childTnLst>
                                    <p:animClr clrSpc="rgb" dir="cw">
                                      <p:cBhvr override="childStyle">
                                        <p:cTn id="96" dur="2000" fill="hold"/>
                                        <p:tgtEl>
                                          <p:spTgt spid="2">
                                            <p:txEl>
                                              <p:pRg st="13" end="13"/>
                                            </p:txEl>
                                          </p:spTgt>
                                        </p:tgtEl>
                                        <p:attrNameLst>
                                          <p:attrName>style.color</p:attrName>
                                        </p:attrNameLst>
                                      </p:cBhvr>
                                      <p:to>
                                        <a:srgbClr val="4D4D4D"/>
                                      </p:to>
                                    </p:animClr>
                                  </p:child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childTnLst>
                          </p:cTn>
                        </p:par>
                      </p:childTnLst>
                    </p:cTn>
                  </p:par>
                  <p:par>
                    <p:cTn id="105" fill="hold">
                      <p:stCondLst>
                        <p:cond delay="indefinite"/>
                      </p:stCondLst>
                      <p:childTnLst>
                        <p:par>
                          <p:cTn id="106" fill="hold">
                            <p:stCondLst>
                              <p:cond delay="0"/>
                            </p:stCondLst>
                            <p:childTnLst>
                              <p:par>
                                <p:cTn id="107" presetID="1" presetClass="exit" presetSubtype="0" fill="hold" grpId="2" nodeType="clickEffect">
                                  <p:stCondLst>
                                    <p:cond delay="0"/>
                                  </p:stCondLst>
                                  <p:childTnLst>
                                    <p:set>
                                      <p:cBhvr>
                                        <p:cTn id="108"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21598"/>
            <a:ext cx="7452828" cy="4339650"/>
          </a:xfrm>
          <a:prstGeom prst="rect">
            <a:avLst/>
          </a:prstGeom>
          <a:solidFill>
            <a:schemeClr val="bg1"/>
          </a:solid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 (AI Agent, LLM, RAG,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(AI Stack </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Server</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RAG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 Framework + Infrastructure )</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(Stack)</a:t>
            </a:r>
            <a:endPar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Trend</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Analysis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(SLM, Edge, Algorithm, )</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3</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(Multi</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odal,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Multilingual</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Low-Rank Adaptation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(Efficient LLM Fine-Tuning)</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Gemma4</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Comparison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(Llama 4, Deep Seek)</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 on GPT and AI Technology)</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Leading Frameworks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(How to evaluate the performance of model?)</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Practice Example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(O! llama)</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A1C639E3-E511-933C-E6C6-4C289F817DDD}"/>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t> MCP</a:t>
            </a:r>
          </a:p>
          <a:p>
            <a:pPr marL="111125" lvl="2">
              <a:lnSpc>
                <a:spcPts val="1200"/>
              </a:lnSpc>
              <a:buFont typeface="Arial" panose="020B0604020202020204" pitchFamily="34" charset="0"/>
              <a:buChar char="•"/>
              <a:defRPr/>
            </a:pPr>
            <a:r>
              <a:rPr lang="en-US" altLang="zh-TW" sz="1000" dirty="0"/>
              <a:t> RAG</a:t>
            </a:r>
          </a:p>
          <a:p>
            <a:pPr marL="111125" lvl="2">
              <a:lnSpc>
                <a:spcPts val="1200"/>
              </a:lnSpc>
              <a:buFont typeface="Arial" panose="020B0604020202020204" pitchFamily="34" charset="0"/>
              <a:buChar char="•"/>
              <a:defRPr/>
            </a:pPr>
            <a:r>
              <a:rPr lang="en-US" altLang="zh-TW" sz="1000" dirty="0"/>
              <a:t> LLM</a:t>
            </a:r>
          </a:p>
          <a:p>
            <a:pPr marL="111125" lvl="2">
              <a:lnSpc>
                <a:spcPts val="1200"/>
              </a:lnSpc>
              <a:buFont typeface="Arial" panose="020B0604020202020204" pitchFamily="34" charset="0"/>
              <a:buChar char="•"/>
              <a:defRPr/>
            </a:pPr>
            <a:r>
              <a:rPr lang="en-US" altLang="zh-TW" sz="1000" dirty="0"/>
              <a:t> Trend Analysis </a:t>
            </a: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t> Supervised FT</a:t>
            </a:r>
          </a:p>
          <a:p>
            <a:pPr marL="111125" lvl="2">
              <a:lnSpc>
                <a:spcPts val="1200"/>
              </a:lnSpc>
              <a:buFont typeface="Arial" panose="020B0604020202020204" pitchFamily="34" charset="0"/>
              <a:buChar char="•"/>
              <a:defRPr/>
            </a:pPr>
            <a:r>
              <a:rPr lang="en-US" altLang="zh-TW" sz="1000" dirty="0"/>
              <a:t> LoRA</a:t>
            </a: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t> Practices</a:t>
            </a:r>
          </a:p>
        </p:txBody>
      </p:sp>
    </p:spTree>
    <p:extLst>
      <p:ext uri="{BB962C8B-B14F-4D97-AF65-F5344CB8AC3E}">
        <p14:creationId xmlns:p14="http://schemas.microsoft.com/office/powerpoint/2010/main" val="427710211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childTnLst>
                          </p:cTn>
                        </p:par>
                      </p:childTnLst>
                    </p:cTn>
                  </p:par>
                  <p:par>
                    <p:cTn id="27" fill="hold">
                      <p:stCondLst>
                        <p:cond delay="indefinite"/>
                      </p:stCondLst>
                      <p:childTnLst>
                        <p:par>
                          <p:cTn id="28" fill="hold">
                            <p:stCondLst>
                              <p:cond delay="0"/>
                            </p:stCondLst>
                            <p:childTnLst>
                              <p:par>
                                <p:cTn id="29" presetID="3" presetClass="emph" presetSubtype="2" fill="hold" grpId="0" nodeType="clickEffect">
                                  <p:stCondLst>
                                    <p:cond delay="0"/>
                                  </p:stCondLst>
                                  <p:childTnLst>
                                    <p:animClr clrSpc="rgb" dir="cw">
                                      <p:cBhvr override="childStyle">
                                        <p:cTn id="30"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1" nodeType="withEffect">
                                  <p:stCondLst>
                                    <p:cond delay="0"/>
                                  </p:stCondLst>
                                  <p:childTnLst>
                                    <p:animClr clrSpc="rgb" dir="cw">
                                      <p:cBhvr override="childStyle">
                                        <p:cTn id="32" dur="2000" fill="hold"/>
                                        <p:tgtEl>
                                          <p:spTgt spid="2">
                                            <p:txEl>
                                              <p:pRg st="2" end="2"/>
                                            </p:txEl>
                                          </p:spTgt>
                                        </p:tgtEl>
                                        <p:attrNameLst>
                                          <p:attrName>style.color</p:attrName>
                                        </p:attrNameLst>
                                      </p:cBhvr>
                                      <p:to>
                                        <a:srgbClr val="D8A09C"/>
                                      </p:to>
                                    </p:animClr>
                                  </p:childTnLst>
                                </p:cTn>
                              </p:par>
                              <p:par>
                                <p:cTn id="33" presetID="3" presetClass="emph" presetSubtype="2" fill="hold" grpId="1" nodeType="withEffect">
                                  <p:stCondLst>
                                    <p:cond delay="0"/>
                                  </p:stCondLst>
                                  <p:childTnLst>
                                    <p:animClr clrSpc="rgb" dir="cw">
                                      <p:cBhvr override="childStyle">
                                        <p:cTn id="34" dur="2000" fill="hold"/>
                                        <p:tgtEl>
                                          <p:spTgt spid="2">
                                            <p:txEl>
                                              <p:pRg st="3" end="3"/>
                                            </p:txEl>
                                          </p:spTgt>
                                        </p:tgtEl>
                                        <p:attrNameLst>
                                          <p:attrName>style.color</p:attrName>
                                        </p:attrNameLst>
                                      </p:cBhvr>
                                      <p:to>
                                        <a:srgbClr val="D8A09C"/>
                                      </p:to>
                                    </p:animClr>
                                  </p:childTnLst>
                                </p:cTn>
                              </p:par>
                              <p:par>
                                <p:cTn id="35" presetID="3" presetClass="emph" presetSubtype="2" fill="hold" grpId="1" nodeType="withEffect">
                                  <p:stCondLst>
                                    <p:cond delay="0"/>
                                  </p:stCondLst>
                                  <p:childTnLst>
                                    <p:animClr clrSpc="rgb" dir="cw">
                                      <p:cBhvr override="childStyle">
                                        <p:cTn id="36" dur="2000" fill="hold"/>
                                        <p:tgtEl>
                                          <p:spTgt spid="2">
                                            <p:txEl>
                                              <p:pRg st="4" end="4"/>
                                            </p:txEl>
                                          </p:spTgt>
                                        </p:tgtEl>
                                        <p:attrNameLst>
                                          <p:attrName>style.color</p:attrName>
                                        </p:attrNameLst>
                                      </p:cBhvr>
                                      <p:to>
                                        <a:srgbClr val="D8A09C"/>
                                      </p:to>
                                    </p:animClr>
                                  </p:child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6" end="6"/>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7" end="7"/>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8" end="8"/>
                                            </p:txEl>
                                          </p:spTgt>
                                        </p:tgtEl>
                                        <p:attrNameLst>
                                          <p:attrName>style.color</p:attrName>
                                        </p:attrNameLst>
                                      </p:cBhvr>
                                      <p:to>
                                        <a:srgbClr val="D8A09C"/>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childTnLst>
                          </p:cTn>
                        </p:par>
                      </p:childTnLst>
                    </p:cTn>
                  </p:par>
                  <p:par>
                    <p:cTn id="49" fill="hold">
                      <p:stCondLst>
                        <p:cond delay="indefinite"/>
                      </p:stCondLst>
                      <p:childTnLst>
                        <p:par>
                          <p:cTn id="50" fill="hold">
                            <p:stCondLst>
                              <p:cond delay="0"/>
                            </p:stCondLst>
                            <p:childTnLst>
                              <p:par>
                                <p:cTn id="51" presetID="3" presetClass="emph" presetSubtype="2" fill="hold" grpId="0" nodeType="clickEffect">
                                  <p:stCondLst>
                                    <p:cond delay="0"/>
                                  </p:stCondLst>
                                  <p:childTnLst>
                                    <p:animClr clrSpc="rgb" dir="cw">
                                      <p:cBhvr override="childStyle">
                                        <p:cTn id="5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1"/>
                                            </p:cond>
                                          </p:stCondLst>
                                          <p:endCondLst>
                                            <p:cond evt="onStopAudio" delay="0">
                                              <p:tgtEl>
                                                <p:sldTgt/>
                                              </p:tgtEl>
                                            </p:cond>
                                          </p:endCondLst>
                                        </p:cTn>
                                        <p:tgtEl>
                                          <p:sndTgt r:embed="rId3" name="type.wav"/>
                                        </p:tgtEl>
                                      </p:cMediaNode>
                                    </p:audio>
                                  </p:subTnLst>
                                </p:cTn>
                              </p:par>
                              <p:par>
                                <p:cTn id="53" presetID="3" presetClass="emph" presetSubtype="2" fill="hold" grpId="1" nodeType="withEffect">
                                  <p:stCondLst>
                                    <p:cond delay="0"/>
                                  </p:stCondLst>
                                  <p:childTnLst>
                                    <p:animClr clrSpc="rgb" dir="cw">
                                      <p:cBhvr override="childStyle">
                                        <p:cTn id="54" dur="2000" fill="hold"/>
                                        <p:tgtEl>
                                          <p:spTgt spid="2">
                                            <p:txEl>
                                              <p:pRg st="9" end="9"/>
                                            </p:txEl>
                                          </p:spTgt>
                                        </p:tgtEl>
                                        <p:attrNameLst>
                                          <p:attrName>style.color</p:attrName>
                                        </p:attrNameLst>
                                      </p:cBhvr>
                                      <p:to>
                                        <a:srgbClr val="D8A09C"/>
                                      </p:to>
                                    </p:animClr>
                                  </p:childTnLst>
                                </p:cTn>
                              </p:par>
                            </p:childTnLst>
                          </p:cTn>
                        </p:par>
                      </p:childTnLst>
                    </p:cTn>
                  </p:par>
                  <p:par>
                    <p:cTn id="55" fill="hold">
                      <p:stCondLst>
                        <p:cond delay="indefinite"/>
                      </p:stCondLst>
                      <p:childTnLst>
                        <p:par>
                          <p:cTn id="56" fill="hold">
                            <p:stCondLst>
                              <p:cond delay="0"/>
                            </p:stCondLst>
                            <p:childTnLst>
                              <p:par>
                                <p:cTn id="57" presetID="3" presetClass="emph" presetSubtype="2" fill="hold" grpId="0" nodeType="click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0" nodeType="with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par>
                                <p:cTn id="63" presetID="3" presetClass="emph" presetSubtype="2" fill="hold" grpId="1" nodeType="withEffect">
                                  <p:stCondLst>
                                    <p:cond delay="0"/>
                                  </p:stCondLst>
                                  <p:childTnLst>
                                    <p:animClr clrSpc="rgb" dir="cw">
                                      <p:cBhvr override="childStyle">
                                        <p:cTn id="64" dur="2000" fill="hold"/>
                                        <p:tgtEl>
                                          <p:spTgt spid="2">
                                            <p:txEl>
                                              <p:pRg st="10" end="10"/>
                                            </p:txEl>
                                          </p:spTgt>
                                        </p:tgtEl>
                                        <p:attrNameLst>
                                          <p:attrName>style.color</p:attrName>
                                        </p:attrNameLst>
                                      </p:cBhvr>
                                      <p:to>
                                        <a:srgbClr val="D8A09C"/>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1" end="11"/>
                                            </p:txEl>
                                          </p:spTgt>
                                        </p:tgtEl>
                                        <p:attrNameLst>
                                          <p:attrName>style.color</p:attrName>
                                        </p:attrNameLst>
                                      </p:cBhvr>
                                      <p:to>
                                        <a:srgbClr val="D8A09C"/>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2" end="12"/>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3" end="13"/>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1159914258"/>
              </p:ext>
            </p:extLst>
          </p:nvPr>
        </p:nvGraphicFramePr>
        <p:xfrm>
          <a:off x="863588" y="1052736"/>
          <a:ext cx="7416824" cy="4536504"/>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1133126">
                  <a:extLst>
                    <a:ext uri="{9D8B030D-6E8A-4147-A177-3AD203B41FA5}">
                      <a16:colId xmlns:a16="http://schemas.microsoft.com/office/drawing/2014/main" val="2438358024"/>
                    </a:ext>
                  </a:extLst>
                </a:gridCol>
                <a:gridCol w="1133126">
                  <a:extLst>
                    <a:ext uri="{9D8B030D-6E8A-4147-A177-3AD203B41FA5}">
                      <a16:colId xmlns:a16="http://schemas.microsoft.com/office/drawing/2014/main" val="4024420245"/>
                    </a:ext>
                  </a:extLst>
                </a:gridCol>
                <a:gridCol w="1133126">
                  <a:extLst>
                    <a:ext uri="{9D8B030D-6E8A-4147-A177-3AD203B41FA5}">
                      <a16:colId xmlns:a16="http://schemas.microsoft.com/office/drawing/2014/main" val="1885199976"/>
                    </a:ext>
                  </a:extLst>
                </a:gridCol>
                <a:gridCol w="995777">
                  <a:extLst>
                    <a:ext uri="{9D8B030D-6E8A-4147-A177-3AD203B41FA5}">
                      <a16:colId xmlns:a16="http://schemas.microsoft.com/office/drawing/2014/main" val="2600189719"/>
                    </a:ext>
                  </a:extLst>
                </a:gridCol>
                <a:gridCol w="1270474">
                  <a:extLst>
                    <a:ext uri="{9D8B030D-6E8A-4147-A177-3AD203B41FA5}">
                      <a16:colId xmlns:a16="http://schemas.microsoft.com/office/drawing/2014/main" val="1289474231"/>
                    </a:ext>
                  </a:extLst>
                </a:gridCol>
                <a:gridCol w="1133126">
                  <a:extLst>
                    <a:ext uri="{9D8B030D-6E8A-4147-A177-3AD203B41FA5}">
                      <a16:colId xmlns:a16="http://schemas.microsoft.com/office/drawing/2014/main" val="2173516547"/>
                    </a:ext>
                  </a:extLst>
                </a:gridCol>
              </a:tblGrid>
              <a:tr h="386115">
                <a:tc gridSpan="7">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 </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45014">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Alignment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8351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7287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FFN (GQA)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28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2407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610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33996">
                <a:tc gridSpan="7">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8" name="圖片 7">
            <a:extLst>
              <a:ext uri="{FF2B5EF4-FFF2-40B4-BE49-F238E27FC236}">
                <a16:creationId xmlns:a16="http://schemas.microsoft.com/office/drawing/2014/main" id="{7B64792C-12EC-2C19-13ED-A7A868533C36}"/>
              </a:ext>
            </a:extLst>
          </p:cNvPr>
          <p:cNvPicPr>
            <a:picLocks noChangeAspect="1"/>
          </p:cNvPicPr>
          <p:nvPr/>
        </p:nvPicPr>
        <p:blipFill>
          <a:blip r:embed="rId3"/>
          <a:stretch>
            <a:fillRect/>
          </a:stretch>
        </p:blipFill>
        <p:spPr>
          <a:xfrm>
            <a:off x="2169136" y="5700452"/>
            <a:ext cx="376184" cy="398122"/>
          </a:xfrm>
          <a:prstGeom prst="rect">
            <a:avLst/>
          </a:prstGeom>
        </p:spPr>
      </p:pic>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4"/>
          <a:stretch>
            <a:fillRect/>
          </a:stretch>
        </p:blipFill>
        <p:spPr>
          <a:xfrm>
            <a:off x="2933360" y="5705742"/>
            <a:ext cx="375241" cy="398122"/>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5"/>
          <a:stretch>
            <a:fillRect/>
          </a:stretch>
        </p:blipFill>
        <p:spPr>
          <a:xfrm>
            <a:off x="3746157" y="5705741"/>
            <a:ext cx="530829" cy="398122"/>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6"/>
          <a:stretch>
            <a:fillRect/>
          </a:stretch>
        </p:blipFill>
        <p:spPr>
          <a:xfrm>
            <a:off x="4561544" y="5661248"/>
            <a:ext cx="439296" cy="442615"/>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7"/>
          <a:stretch>
            <a:fillRect/>
          </a:stretch>
        </p:blipFill>
        <p:spPr>
          <a:xfrm>
            <a:off x="5356840" y="5695199"/>
            <a:ext cx="439296" cy="437299"/>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8"/>
          <a:stretch>
            <a:fillRect/>
          </a:stretch>
        </p:blipFill>
        <p:spPr>
          <a:xfrm>
            <a:off x="5674488" y="2609120"/>
            <a:ext cx="182880" cy="182880"/>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9"/>
          <a:stretch>
            <a:fillRect/>
          </a:stretch>
        </p:blipFill>
        <p:spPr>
          <a:xfrm>
            <a:off x="5674488" y="2057184"/>
            <a:ext cx="182880" cy="182880"/>
          </a:xfrm>
          <a:prstGeom prst="rect">
            <a:avLst/>
          </a:prstGeom>
        </p:spPr>
      </p:pic>
      <p:pic>
        <p:nvPicPr>
          <p:cNvPr id="14" name="圖片 13">
            <a:extLst>
              <a:ext uri="{FF2B5EF4-FFF2-40B4-BE49-F238E27FC236}">
                <a16:creationId xmlns:a16="http://schemas.microsoft.com/office/drawing/2014/main" id="{B754938C-EE5B-D3B5-40FD-DD90926074D2}"/>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6419859" y="836712"/>
            <a:ext cx="1473207" cy="520102"/>
          </a:xfrm>
          <a:prstGeom prst="rect">
            <a:avLst/>
          </a:prstGeom>
          <a:effectLst>
            <a:glow rad="25400">
              <a:schemeClr val="accent5">
                <a:lumMod val="20000"/>
                <a:lumOff val="80000"/>
                <a:alpha val="40000"/>
              </a:schemeClr>
            </a:glow>
            <a:softEdge rad="50800"/>
          </a:effectLst>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11"/>
          <a:stretch>
            <a:fillRect/>
          </a:stretch>
        </p:blipFill>
        <p:spPr>
          <a:xfrm>
            <a:off x="5674488" y="4351962"/>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2"/>
          <a:stretch>
            <a:fillRect/>
          </a:stretch>
        </p:blipFill>
        <p:spPr>
          <a:xfrm>
            <a:off x="5674488" y="4653136"/>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3"/>
          <a:stretch>
            <a:fillRect/>
          </a:stretch>
        </p:blipFill>
        <p:spPr>
          <a:xfrm>
            <a:off x="5674488" y="4927243"/>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6152135" y="5507074"/>
            <a:ext cx="1660225" cy="922374"/>
          </a:xfrm>
          <a:prstGeom prst="wedgeRoundRectCallout">
            <a:avLst>
              <a:gd name="adj1" fmla="val -65540"/>
              <a:gd name="adj2" fmla="val -30498"/>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Deployment and FT,</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Open weight and source …</a:t>
            </a:r>
          </a:p>
        </p:txBody>
      </p:sp>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 </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lang="en-US" altLang="zh-TW" sz="1600" dirty="0">
                <a:solidFill>
                  <a:schemeClr val="bg1">
                    <a:lumMod val="50000"/>
                  </a:schemeClr>
                </a:solidFill>
              </a:rPr>
              <a:t> </a:t>
            </a:r>
            <a:r>
              <a:rPr lang="en-US" altLang="zh-TW" sz="1600" dirty="0">
                <a:solidFill>
                  <a:schemeClr val="bg1">
                    <a:lumMod val="75000"/>
                  </a:schemeClr>
                </a:solidFill>
                <a:sym typeface="Wingdings" panose="05000000000000000000" pitchFamily="2" charset="2"/>
              </a:rPr>
              <a:t> GPT-RLHF</a:t>
            </a:r>
            <a:endParaRPr lang="en-US" altLang="zh-TW" sz="1600" b="0" u="none" strike="noStrike" dirty="0">
              <a:solidFill>
                <a:schemeClr val="bg1">
                  <a:lumMod val="75000"/>
                </a:schemeClr>
              </a:solidFill>
              <a:effectLst/>
            </a:endParaRPr>
          </a:p>
        </p:txBody>
      </p:sp>
      <p:sp>
        <p:nvSpPr>
          <p:cNvPr id="5" name="文字方塊 4">
            <a:extLst>
              <a:ext uri="{FF2B5EF4-FFF2-40B4-BE49-F238E27FC236}">
                <a16:creationId xmlns:a16="http://schemas.microsoft.com/office/drawing/2014/main" id="{F21FC563-EC0F-087B-D29C-9F789097AEEC}"/>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solidFill>
                  <a:prstClr val="black"/>
                </a:solidFill>
              </a:rPr>
              <a:t> MCP</a:t>
            </a:r>
          </a:p>
          <a:p>
            <a:pPr marL="111125" lvl="2">
              <a:lnSpc>
                <a:spcPts val="1200"/>
              </a:lnSpc>
              <a:buFont typeface="Arial" panose="020B0604020202020204" pitchFamily="34" charset="0"/>
              <a:buChar char="•"/>
              <a:defRPr/>
            </a:pPr>
            <a:r>
              <a:rPr lang="en-US" altLang="zh-TW" sz="1000" dirty="0">
                <a:solidFill>
                  <a:prstClr val="black"/>
                </a:solidFill>
              </a:rPr>
              <a:t> RAG</a:t>
            </a:r>
          </a:p>
          <a:p>
            <a:pPr marL="111125" lvl="2">
              <a:lnSpc>
                <a:spcPts val="1200"/>
              </a:lnSpc>
              <a:buFont typeface="Arial" panose="020B0604020202020204" pitchFamily="34" charset="0"/>
              <a:buChar char="•"/>
              <a:defRPr/>
            </a:pPr>
            <a:r>
              <a:rPr lang="en-US" altLang="zh-TW" sz="1000" dirty="0">
                <a:solidFill>
                  <a:prstClr val="black"/>
                </a:solidFill>
              </a:rPr>
              <a:t> LLM</a:t>
            </a:r>
          </a:p>
          <a:p>
            <a:pPr marL="111125" lvl="2">
              <a:lnSpc>
                <a:spcPts val="1200"/>
              </a:lnSpc>
              <a:buFont typeface="Arial" panose="020B0604020202020204" pitchFamily="34" charset="0"/>
              <a:buChar char="•"/>
              <a:defRPr/>
            </a:pPr>
            <a:r>
              <a:rPr lang="en-US" altLang="zh-TW" sz="1000" dirty="0"/>
              <a:t> Trend Analysis </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solidFill>
                  <a:prstClr val="black"/>
                </a:solidFill>
              </a:rPr>
              <a:t> Supervised FT</a:t>
            </a:r>
          </a:p>
          <a:p>
            <a:pPr marL="111125" lvl="2">
              <a:lnSpc>
                <a:spcPts val="1200"/>
              </a:lnSpc>
              <a:buFont typeface="Arial" panose="020B0604020202020204" pitchFamily="34" charset="0"/>
              <a:buChar char="•"/>
              <a:defRPr/>
            </a:pPr>
            <a:r>
              <a:rPr lang="en-US" altLang="zh-TW" sz="1000" dirty="0"/>
              <a:t> LoRA</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solidFill>
                  <a:prstClr val="black"/>
                </a:solidFill>
              </a:rPr>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(Puzzle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Dialog)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827914681"/>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22624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6962342" y="4265949"/>
            <a:ext cx="1479398" cy="387187"/>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Smarter AI Agent)</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solidFill>
              <a:schemeClr val="accent1"/>
            </a:solid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107664" y="3239781"/>
            <a:ext cx="14275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383A5C34-A0BC-03DD-F642-1AD5A295BA5C}"/>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solidFill>
                  <a:prstClr val="black"/>
                </a:solidFill>
              </a:rPr>
              <a:t> MCP</a:t>
            </a:r>
          </a:p>
          <a:p>
            <a:pPr marL="111125" lvl="2">
              <a:lnSpc>
                <a:spcPts val="1200"/>
              </a:lnSpc>
              <a:buFont typeface="Arial" panose="020B0604020202020204" pitchFamily="34" charset="0"/>
              <a:buChar char="•"/>
              <a:defRPr/>
            </a:pPr>
            <a:r>
              <a:rPr lang="en-US" altLang="zh-TW" sz="1000" dirty="0">
                <a:solidFill>
                  <a:prstClr val="black"/>
                </a:solidFill>
              </a:rPr>
              <a:t> RAG</a:t>
            </a:r>
          </a:p>
          <a:p>
            <a:pPr marL="111125" lvl="2">
              <a:lnSpc>
                <a:spcPts val="1200"/>
              </a:lnSpc>
              <a:buFont typeface="Arial" panose="020B0604020202020204" pitchFamily="34" charset="0"/>
              <a:buChar char="•"/>
              <a:defRPr/>
            </a:pPr>
            <a:r>
              <a:rPr lang="en-US" altLang="zh-TW" sz="1000" dirty="0">
                <a:solidFill>
                  <a:prstClr val="black"/>
                </a:solidFill>
              </a:rPr>
              <a:t> LLM</a:t>
            </a:r>
          </a:p>
          <a:p>
            <a:pPr marL="111125" lvl="2">
              <a:lnSpc>
                <a:spcPts val="1200"/>
              </a:lnSpc>
              <a:buFont typeface="Arial" panose="020B0604020202020204" pitchFamily="34" charset="0"/>
              <a:buChar char="•"/>
              <a:defRPr/>
            </a:pPr>
            <a:r>
              <a:rPr lang="en-US" altLang="zh-TW" sz="1000" dirty="0"/>
              <a:t> Trend Analysis </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solidFill>
                  <a:prstClr val="black"/>
                </a:solidFill>
              </a:rPr>
              <a:t> Supervised FT</a:t>
            </a:r>
          </a:p>
          <a:p>
            <a:pPr marL="111125" lvl="2">
              <a:lnSpc>
                <a:spcPts val="1200"/>
              </a:lnSpc>
              <a:buFont typeface="Arial" panose="020B0604020202020204" pitchFamily="34" charset="0"/>
              <a:buChar char="•"/>
              <a:defRPr/>
            </a:pPr>
            <a:r>
              <a:rPr lang="en-US" altLang="zh-TW" sz="1000" dirty="0"/>
              <a:t> LoRA</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solidFill>
                  <a:prstClr val="black"/>
                </a:solidFill>
              </a:rPr>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solidFill>
                  <a:prstClr val="black"/>
                </a:solidFill>
              </a:rPr>
              <a:t> Practices</a:t>
            </a:r>
          </a:p>
        </p:txBody>
      </p:sp>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 deep dive into decoder stacks, attention layers, and feed-forward networks.</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1E4782C1-8E2A-30A3-FC43-6C2C93AC2464}"/>
              </a:ext>
            </a:extLst>
          </p:cNvPr>
          <p:cNvSpPr/>
          <p:nvPr/>
        </p:nvSpPr>
        <p:spPr>
          <a:xfrm>
            <a:off x="2430250" y="5030232"/>
            <a:ext cx="1599732" cy="42901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dirty="0">
                <a:solidFill>
                  <a:schemeClr val="tx2"/>
                </a:solidFill>
                <a:ea typeface="微軟正黑體" panose="020B0604030504040204" pitchFamily="34" charset="-120"/>
              </a:rPr>
              <a:t>Vocabulary</a:t>
            </a:r>
          </a:p>
          <a:p>
            <a:pPr>
              <a:lnSpc>
                <a:spcPts val="1600"/>
              </a:lnSpc>
            </a:pPr>
            <a:r>
              <a:rPr lang="en-US" altLang="zh-TW" sz="1200" dirty="0">
                <a:solidFill>
                  <a:schemeClr val="tx2"/>
                </a:solidFill>
                <a:ea typeface="微軟正黑體" panose="020B0604030504040204" pitchFamily="34" charset="-120"/>
              </a:rPr>
              <a:t>to Probability Table</a:t>
            </a:r>
          </a:p>
        </p:txBody>
      </p: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1" dirty="0"/>
                                <m:t>x</m:t>
                              </m:r>
                              <m:r>
                                <m:rPr>
                                  <m:nor/>
                                </m:rPr>
                                <a:rPr lang="en-US" altLang="zh-TW" sz="1200" baseline="-25000" dirty="0"/>
                                <m:t>i</m:t>
                              </m:r>
                              <m:r>
                                <m:rPr>
                                  <m:nor/>
                                </m:rPr>
                                <a:rPr lang="en-US" altLang="zh-TW" sz="1200" dirty="0"/>
                                <m:t>∗</m:t>
                              </m:r>
                              <m:r>
                                <m:rPr>
                                  <m:nor/>
                                </m:rPr>
                                <a:rPr lang="en-US" altLang="zh-TW" sz="1200" dirty="0"/>
                                <m:t>γi</m:t>
                              </m:r>
                            </m:num>
                            <m:den>
                              <m:r>
                                <m:rPr>
                                  <m:nor/>
                                </m:rPr>
                                <a:rPr lang="en-US" altLang="zh-TW" sz="1200" dirty="0"/>
                                <m:t>RMS</m:t>
                              </m:r>
                              <m:r>
                                <m:rPr>
                                  <m:nor/>
                                </m:rPr>
                                <a:rPr lang="en-US" altLang="zh-TW" sz="1200" dirty="0"/>
                                <m:t>(</m:t>
                              </m:r>
                              <m:r>
                                <m:rPr>
                                  <m:nor/>
                                </m:rPr>
                                <a:rPr lang="en-US" altLang="zh-TW" sz="1200" i="1" dirty="0"/>
                                <m:t>x</m:t>
                              </m:r>
                              <m:r>
                                <m:rPr>
                                  <m:nor/>
                                </m:rPr>
                                <a:rPr lang="en-US" altLang="zh-TW" sz="120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2"/>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3"/>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4"/>
                <a:stretch>
                  <a:fillRect l="-5575" r="-348" b="-10791"/>
                </a:stretch>
              </a:blipFill>
            </p:spPr>
            <p:txBody>
              <a:bodyPr/>
              <a:lstStyle/>
              <a:p>
                <a:r>
                  <a:rPr lang="zh-TW" altLang="en-US">
                    <a:noFill/>
                  </a:rPr>
                  <a:t> </a:t>
                </a:r>
              </a:p>
            </p:txBody>
          </p:sp>
        </mc:Fallback>
      </mc:AlternateContent>
      <p:sp>
        <p:nvSpPr>
          <p:cNvPr id="154" name="矩形 153">
            <a:extLst>
              <a:ext uri="{FF2B5EF4-FFF2-40B4-BE49-F238E27FC236}">
                <a16:creationId xmlns:a16="http://schemas.microsoft.com/office/drawing/2014/main" id="{FA34DE1C-C9C3-9098-1B8A-3D4DFE5952CC}"/>
              </a:ext>
            </a:extLst>
          </p:cNvPr>
          <p:cNvSpPr/>
          <p:nvPr/>
        </p:nvSpPr>
        <p:spPr>
          <a:xfrm>
            <a:off x="2421788" y="5661213"/>
            <a:ext cx="1608193" cy="432083"/>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dirty="0">
                <a:solidFill>
                  <a:schemeClr val="tx2"/>
                </a:solidFill>
                <a:ea typeface="微軟正黑體" panose="020B0604030504040204" pitchFamily="34" charset="-120"/>
              </a:rPr>
              <a:t>Find out the token with</a:t>
            </a:r>
          </a:p>
          <a:p>
            <a:pPr>
              <a:lnSpc>
                <a:spcPts val="1600"/>
              </a:lnSpc>
            </a:pPr>
            <a:r>
              <a:rPr lang="en-US" altLang="zh-TW" sz="1200" dirty="0">
                <a:solidFill>
                  <a:schemeClr val="tx2"/>
                </a:solidFill>
                <a:ea typeface="微軟正黑體" panose="020B0604030504040204" pitchFamily="34" charset="-120"/>
              </a:rPr>
              <a:t>maximum Probability</a:t>
            </a:r>
          </a:p>
        </p:txBody>
      </p:sp>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5"/>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6"/>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Positional Encoding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Self-Attention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FFN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Concentrate all information in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1657920" y="2315070"/>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1657920" y="1676812"/>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189662" y="188554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962AD9-9B7E-81EB-AA05-54BD5CCBF9F4}"/>
              </a:ext>
            </a:extLst>
          </p:cNvPr>
          <p:cNvSpPr txBox="1"/>
          <p:nvPr/>
        </p:nvSpPr>
        <p:spPr>
          <a:xfrm>
            <a:off x="1829622" y="2004109"/>
            <a:ext cx="365952" cy="235664"/>
          </a:xfrm>
          <a:prstGeom prst="rect">
            <a:avLst/>
          </a:prstGeom>
          <a:noFill/>
        </p:spPr>
        <p:txBody>
          <a:bodyPr wrap="none" lIns="0" tIns="0" rIns="0" bIns="0" rtlCol="0" anchor="ctr" anchorCtr="1">
            <a:noAutofit/>
          </a:bodyPr>
          <a:lstStyle/>
          <a:p>
            <a:pPr algn="ctr"/>
            <a:r>
              <a:rPr lang="en-US" altLang="zh-TW" sz="1200" dirty="0"/>
              <a:t>RoPE()</a:t>
            </a:r>
            <a:r>
              <a:rPr lang="en-US" altLang="zh-TW" sz="1200" dirty="0">
                <a:sym typeface="Wingdings" panose="05000000000000000000" pitchFamily="2" charset="2"/>
              </a:rPr>
              <a:t></a:t>
            </a:r>
            <a:endParaRPr lang="zh-TW" altLang="en-US" sz="1200" dirty="0"/>
          </a:p>
        </p:txBody>
      </p:sp>
      <p:grpSp>
        <p:nvGrpSpPr>
          <p:cNvPr id="97" name="群組 96">
            <a:extLst>
              <a:ext uri="{FF2B5EF4-FFF2-40B4-BE49-F238E27FC236}">
                <a16:creationId xmlns:a16="http://schemas.microsoft.com/office/drawing/2014/main" id="{A006F49A-6C63-84B6-F3C4-3B2B3A3D21B2}"/>
              </a:ext>
            </a:extLst>
          </p:cNvPr>
          <p:cNvGrpSpPr/>
          <p:nvPr/>
        </p:nvGrpSpPr>
        <p:grpSpPr>
          <a:xfrm>
            <a:off x="251520" y="1087645"/>
            <a:ext cx="1406400" cy="1549267"/>
            <a:chOff x="1907704" y="476672"/>
            <a:chExt cx="1406400" cy="1549267"/>
          </a:xfrm>
        </p:grpSpPr>
        <p:sp>
          <p:nvSpPr>
            <p:cNvPr id="88" name="矩形 87">
              <a:extLst>
                <a:ext uri="{FF2B5EF4-FFF2-40B4-BE49-F238E27FC236}">
                  <a16:creationId xmlns:a16="http://schemas.microsoft.com/office/drawing/2014/main" id="{2A3273B4-280D-2500-B3E2-D5398D25A019}"/>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2230974" y="1881923"/>
              <a:ext cx="1083130"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06" name="接點: 弧形 105">
            <a:extLst>
              <a:ext uri="{FF2B5EF4-FFF2-40B4-BE49-F238E27FC236}">
                <a16:creationId xmlns:a16="http://schemas.microsoft.com/office/drawing/2014/main" id="{9343CCE7-E30C-FB1D-1514-C9D09F0E48DA}"/>
              </a:ext>
            </a:extLst>
          </p:cNvPr>
          <p:cNvCxnSpPr>
            <a:cxnSpLocks/>
            <a:stCxn id="85" idx="3"/>
            <a:endCxn id="77" idx="1"/>
          </p:cNvCxnSpPr>
          <p:nvPr/>
        </p:nvCxnSpPr>
        <p:spPr>
          <a:xfrm flipV="1">
            <a:off x="2555614" y="1968775"/>
            <a:ext cx="579486" cy="12989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矩形 10">
            <a:extLst>
              <a:ext uri="{FF2B5EF4-FFF2-40B4-BE49-F238E27FC236}">
                <a16:creationId xmlns:a16="http://schemas.microsoft.com/office/drawing/2014/main" id="{49EDF0B5-AB72-492D-3A92-9881C35CEEE8}"/>
              </a:ext>
            </a:extLst>
          </p:cNvPr>
          <p:cNvSpPr/>
          <p:nvPr/>
        </p:nvSpPr>
        <p:spPr>
          <a:xfrm>
            <a:off x="5320532" y="3482964"/>
            <a:ext cx="1508519" cy="448264"/>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18" name="矩形 17">
            <a:extLst>
              <a:ext uri="{FF2B5EF4-FFF2-40B4-BE49-F238E27FC236}">
                <a16:creationId xmlns:a16="http://schemas.microsoft.com/office/drawing/2014/main" id="{5279F498-27F7-CA61-12E6-3AF2F0F1BAB5}"/>
              </a:ext>
            </a:extLst>
          </p:cNvPr>
          <p:cNvSpPr/>
          <p:nvPr/>
        </p:nvSpPr>
        <p:spPr>
          <a:xfrm>
            <a:off x="3285155" y="1297052"/>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9" name="矩形 18">
            <a:extLst>
              <a:ext uri="{FF2B5EF4-FFF2-40B4-BE49-F238E27FC236}">
                <a16:creationId xmlns:a16="http://schemas.microsoft.com/office/drawing/2014/main" id="{A0935C28-6B5F-5EF5-D11F-DD7E0AD7D6FA}"/>
              </a:ext>
            </a:extLst>
          </p:cNvPr>
          <p:cNvSpPr/>
          <p:nvPr/>
        </p:nvSpPr>
        <p:spPr>
          <a:xfrm>
            <a:off x="3693930" y="1297052"/>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q</a:t>
            </a:r>
          </a:p>
        </p:txBody>
      </p:sp>
      <p:sp>
        <p:nvSpPr>
          <p:cNvPr id="22" name="文字方塊 21">
            <a:extLst>
              <a:ext uri="{FF2B5EF4-FFF2-40B4-BE49-F238E27FC236}">
                <a16:creationId xmlns:a16="http://schemas.microsoft.com/office/drawing/2014/main" id="{E13945CA-38FA-7C2E-486B-01D81CC63878}"/>
              </a:ext>
            </a:extLst>
          </p:cNvPr>
          <p:cNvSpPr txBox="1"/>
          <p:nvPr/>
        </p:nvSpPr>
        <p:spPr>
          <a:xfrm>
            <a:off x="3576876" y="1355727"/>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39" name="文字方塊 38">
            <a:extLst>
              <a:ext uri="{FF2B5EF4-FFF2-40B4-BE49-F238E27FC236}">
                <a16:creationId xmlns:a16="http://schemas.microsoft.com/office/drawing/2014/main" id="{0AF4B18A-9DCA-C6E3-BDA4-EBD8EA96CAAA}"/>
              </a:ext>
            </a:extLst>
          </p:cNvPr>
          <p:cNvSpPr txBox="1"/>
          <p:nvPr/>
        </p:nvSpPr>
        <p:spPr>
          <a:xfrm>
            <a:off x="4277905" y="1355727"/>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40" name="矩形 39">
            <a:extLst>
              <a:ext uri="{FF2B5EF4-FFF2-40B4-BE49-F238E27FC236}">
                <a16:creationId xmlns:a16="http://schemas.microsoft.com/office/drawing/2014/main" id="{7EEE9D8A-7190-3E68-E767-0C6BC4D89CBD}"/>
              </a:ext>
            </a:extLst>
          </p:cNvPr>
          <p:cNvSpPr/>
          <p:nvPr/>
        </p:nvSpPr>
        <p:spPr>
          <a:xfrm>
            <a:off x="4441934" y="1808005"/>
            <a:ext cx="240032" cy="39425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K</a:t>
            </a:r>
          </a:p>
        </p:txBody>
      </p:sp>
      <p:sp>
        <p:nvSpPr>
          <p:cNvPr id="41" name="矩形 40">
            <a:extLst>
              <a:ext uri="{FF2B5EF4-FFF2-40B4-BE49-F238E27FC236}">
                <a16:creationId xmlns:a16="http://schemas.microsoft.com/office/drawing/2014/main" id="{E55EA9E2-B869-8E95-26D7-63E8C82D7DA8}"/>
              </a:ext>
            </a:extLst>
          </p:cNvPr>
          <p:cNvSpPr/>
          <p:nvPr/>
        </p:nvSpPr>
        <p:spPr>
          <a:xfrm>
            <a:off x="3279092" y="1801108"/>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2" name="矩形 41">
            <a:extLst>
              <a:ext uri="{FF2B5EF4-FFF2-40B4-BE49-F238E27FC236}">
                <a16:creationId xmlns:a16="http://schemas.microsoft.com/office/drawing/2014/main" id="{A7AC1FB1-0A72-46B2-7FC2-E6C212857353}"/>
              </a:ext>
            </a:extLst>
          </p:cNvPr>
          <p:cNvSpPr/>
          <p:nvPr/>
        </p:nvSpPr>
        <p:spPr>
          <a:xfrm>
            <a:off x="3693930" y="1801205"/>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k</a:t>
            </a:r>
          </a:p>
        </p:txBody>
      </p:sp>
      <p:sp>
        <p:nvSpPr>
          <p:cNvPr id="43" name="文字方塊 42">
            <a:extLst>
              <a:ext uri="{FF2B5EF4-FFF2-40B4-BE49-F238E27FC236}">
                <a16:creationId xmlns:a16="http://schemas.microsoft.com/office/drawing/2014/main" id="{34937AB4-D9F8-645B-B8F9-58FCE445B671}"/>
              </a:ext>
            </a:extLst>
          </p:cNvPr>
          <p:cNvSpPr txBox="1"/>
          <p:nvPr/>
        </p:nvSpPr>
        <p:spPr>
          <a:xfrm>
            <a:off x="3576876" y="1859880"/>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44" name="文字方塊 43">
            <a:extLst>
              <a:ext uri="{FF2B5EF4-FFF2-40B4-BE49-F238E27FC236}">
                <a16:creationId xmlns:a16="http://schemas.microsoft.com/office/drawing/2014/main" id="{22C2ECFF-6C61-88C1-FACE-1D7A8C83FFB9}"/>
              </a:ext>
            </a:extLst>
          </p:cNvPr>
          <p:cNvSpPr txBox="1"/>
          <p:nvPr/>
        </p:nvSpPr>
        <p:spPr>
          <a:xfrm>
            <a:off x="4277905" y="1859880"/>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45" name="矩形 44">
            <a:extLst>
              <a:ext uri="{FF2B5EF4-FFF2-40B4-BE49-F238E27FC236}">
                <a16:creationId xmlns:a16="http://schemas.microsoft.com/office/drawing/2014/main" id="{79BA20B3-13EC-E6B3-B20A-685EE4F3F3FA}"/>
              </a:ext>
            </a:extLst>
          </p:cNvPr>
          <p:cNvSpPr/>
          <p:nvPr/>
        </p:nvSpPr>
        <p:spPr>
          <a:xfrm>
            <a:off x="4441934" y="2311964"/>
            <a:ext cx="240032" cy="37671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47" name="矩形 46">
            <a:extLst>
              <a:ext uri="{FF2B5EF4-FFF2-40B4-BE49-F238E27FC236}">
                <a16:creationId xmlns:a16="http://schemas.microsoft.com/office/drawing/2014/main" id="{99C5D5A5-76CA-8F03-E4AF-D332C9118F88}"/>
              </a:ext>
            </a:extLst>
          </p:cNvPr>
          <p:cNvSpPr/>
          <p:nvPr/>
        </p:nvSpPr>
        <p:spPr>
          <a:xfrm>
            <a:off x="3285155" y="2305164"/>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8" name="矩形 47">
            <a:extLst>
              <a:ext uri="{FF2B5EF4-FFF2-40B4-BE49-F238E27FC236}">
                <a16:creationId xmlns:a16="http://schemas.microsoft.com/office/drawing/2014/main" id="{E84E7CE9-597F-3E33-4A02-301617C2B233}"/>
              </a:ext>
            </a:extLst>
          </p:cNvPr>
          <p:cNvSpPr/>
          <p:nvPr/>
        </p:nvSpPr>
        <p:spPr>
          <a:xfrm>
            <a:off x="3693930" y="2305164"/>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49" name="文字方塊 48">
            <a:extLst>
              <a:ext uri="{FF2B5EF4-FFF2-40B4-BE49-F238E27FC236}">
                <a16:creationId xmlns:a16="http://schemas.microsoft.com/office/drawing/2014/main" id="{73E80D52-4C45-F455-656C-EC181DB2CAF5}"/>
              </a:ext>
            </a:extLst>
          </p:cNvPr>
          <p:cNvSpPr txBox="1"/>
          <p:nvPr/>
        </p:nvSpPr>
        <p:spPr>
          <a:xfrm>
            <a:off x="3576876" y="2363839"/>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50" name="文字方塊 49">
            <a:extLst>
              <a:ext uri="{FF2B5EF4-FFF2-40B4-BE49-F238E27FC236}">
                <a16:creationId xmlns:a16="http://schemas.microsoft.com/office/drawing/2014/main" id="{ED69420B-68B2-26E5-7E14-D8B9D6E54493}"/>
              </a:ext>
            </a:extLst>
          </p:cNvPr>
          <p:cNvSpPr txBox="1"/>
          <p:nvPr/>
        </p:nvSpPr>
        <p:spPr>
          <a:xfrm>
            <a:off x="4277905" y="2363839"/>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55" name="矩形 54">
            <a:extLst>
              <a:ext uri="{FF2B5EF4-FFF2-40B4-BE49-F238E27FC236}">
                <a16:creationId xmlns:a16="http://schemas.microsoft.com/office/drawing/2014/main" id="{45B3CB3A-DF76-A954-7ACD-784F85AFB1BA}"/>
              </a:ext>
            </a:extLst>
          </p:cNvPr>
          <p:cNvSpPr/>
          <p:nvPr/>
        </p:nvSpPr>
        <p:spPr>
          <a:xfrm>
            <a:off x="2209685" y="2239773"/>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59" name="矩形 58">
            <a:extLst>
              <a:ext uri="{FF2B5EF4-FFF2-40B4-BE49-F238E27FC236}">
                <a16:creationId xmlns:a16="http://schemas.microsoft.com/office/drawing/2014/main" id="{AEFE6880-011C-5B06-37CC-7955AC2D10C8}"/>
              </a:ext>
            </a:extLst>
          </p:cNvPr>
          <p:cNvSpPr/>
          <p:nvPr/>
        </p:nvSpPr>
        <p:spPr>
          <a:xfrm>
            <a:off x="6529939" y="3482963"/>
            <a:ext cx="275740"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0" name="矩形 59">
            <a:extLst>
              <a:ext uri="{FF2B5EF4-FFF2-40B4-BE49-F238E27FC236}">
                <a16:creationId xmlns:a16="http://schemas.microsoft.com/office/drawing/2014/main" id="{B2A8793D-39DB-E18A-FF85-993DB10D0200}"/>
              </a:ext>
            </a:extLst>
          </p:cNvPr>
          <p:cNvSpPr/>
          <p:nvPr/>
        </p:nvSpPr>
        <p:spPr>
          <a:xfrm>
            <a:off x="6529939" y="3852528"/>
            <a:ext cx="277055" cy="76870"/>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607686" y="3570312"/>
            <a:ext cx="549922" cy="241226"/>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65" name="矩形 64">
            <a:extLst>
              <a:ext uri="{FF2B5EF4-FFF2-40B4-BE49-F238E27FC236}">
                <a16:creationId xmlns:a16="http://schemas.microsoft.com/office/drawing/2014/main" id="{8BFBEB88-53E1-8226-CFDE-620E86943D97}"/>
              </a:ext>
            </a:extLst>
          </p:cNvPr>
          <p:cNvSpPr/>
          <p:nvPr/>
        </p:nvSpPr>
        <p:spPr>
          <a:xfrm>
            <a:off x="5326595" y="3850698"/>
            <a:ext cx="1202029" cy="64535"/>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86" name="矩形 85">
            <a:extLst>
              <a:ext uri="{FF2B5EF4-FFF2-40B4-BE49-F238E27FC236}">
                <a16:creationId xmlns:a16="http://schemas.microsoft.com/office/drawing/2014/main" id="{5A9D73E4-4A20-B2A3-97C4-C8886F0E21C8}"/>
              </a:ext>
            </a:extLst>
          </p:cNvPr>
          <p:cNvSpPr/>
          <p:nvPr/>
        </p:nvSpPr>
        <p:spPr>
          <a:xfrm>
            <a:off x="4439942" y="1314596"/>
            <a:ext cx="240032" cy="376709"/>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Q</a:t>
            </a:r>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524520" y="1095520"/>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528567" y="978024"/>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78271" y="1314596"/>
            <a:ext cx="81761" cy="35921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80981" y="1410072"/>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03" name="右中括弧 102">
            <a:extLst>
              <a:ext uri="{FF2B5EF4-FFF2-40B4-BE49-F238E27FC236}">
                <a16:creationId xmlns:a16="http://schemas.microsoft.com/office/drawing/2014/main" id="{FD6FA144-6334-B650-3E57-91603A152D10}"/>
              </a:ext>
            </a:extLst>
          </p:cNvPr>
          <p:cNvSpPr/>
          <p:nvPr/>
        </p:nvSpPr>
        <p:spPr>
          <a:xfrm rot="16200000">
            <a:off x="3774271" y="1108631"/>
            <a:ext cx="45719" cy="21655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4" name="文字方塊 103">
            <a:extLst>
              <a:ext uri="{FF2B5EF4-FFF2-40B4-BE49-F238E27FC236}">
                <a16:creationId xmlns:a16="http://schemas.microsoft.com/office/drawing/2014/main" id="{3EEBDD07-5DBE-3092-9C70-434C53CCC692}"/>
              </a:ext>
            </a:extLst>
          </p:cNvPr>
          <p:cNvSpPr txBox="1"/>
          <p:nvPr/>
        </p:nvSpPr>
        <p:spPr>
          <a:xfrm>
            <a:off x="3718442" y="978024"/>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08" name="矩形 107">
            <a:extLst>
              <a:ext uri="{FF2B5EF4-FFF2-40B4-BE49-F238E27FC236}">
                <a16:creationId xmlns:a16="http://schemas.microsoft.com/office/drawing/2014/main" id="{623D8103-A918-62FC-0F70-49AFEA320CFA}"/>
              </a:ext>
            </a:extLst>
          </p:cNvPr>
          <p:cNvSpPr/>
          <p:nvPr/>
        </p:nvSpPr>
        <p:spPr>
          <a:xfrm>
            <a:off x="3279666" y="3504120"/>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9" name="矩形 108">
            <a:extLst>
              <a:ext uri="{FF2B5EF4-FFF2-40B4-BE49-F238E27FC236}">
                <a16:creationId xmlns:a16="http://schemas.microsoft.com/office/drawing/2014/main" id="{2B6CB6E9-FB09-4D8A-C2E7-1841EAD6EDE2}"/>
              </a:ext>
            </a:extLst>
          </p:cNvPr>
          <p:cNvSpPr/>
          <p:nvPr/>
        </p:nvSpPr>
        <p:spPr>
          <a:xfrm>
            <a:off x="3980387" y="3500018"/>
            <a:ext cx="254169"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340429" y="3618578"/>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2" name="矩形 111">
            <a:extLst>
              <a:ext uri="{FF2B5EF4-FFF2-40B4-BE49-F238E27FC236}">
                <a16:creationId xmlns:a16="http://schemas.microsoft.com/office/drawing/2014/main" id="{5FB92E40-B973-22D2-0B03-14720A9B6C91}"/>
              </a:ext>
            </a:extLst>
          </p:cNvPr>
          <p:cNvSpPr/>
          <p:nvPr/>
        </p:nvSpPr>
        <p:spPr>
          <a:xfrm>
            <a:off x="4536034" y="3498304"/>
            <a:ext cx="251990"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H</a:t>
            </a:r>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639706" y="361686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77" name="左大括弧 76">
            <a:extLst>
              <a:ext uri="{FF2B5EF4-FFF2-40B4-BE49-F238E27FC236}">
                <a16:creationId xmlns:a16="http://schemas.microsoft.com/office/drawing/2014/main" id="{915A9241-6838-8FEB-FC02-7CEE51FD2D3F}"/>
              </a:ext>
            </a:extLst>
          </p:cNvPr>
          <p:cNvSpPr/>
          <p:nvPr/>
        </p:nvSpPr>
        <p:spPr>
          <a:xfrm>
            <a:off x="3135100" y="1355727"/>
            <a:ext cx="74660" cy="1226095"/>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107" name="接點: 弧形 106">
            <a:extLst>
              <a:ext uri="{FF2B5EF4-FFF2-40B4-BE49-F238E27FC236}">
                <a16:creationId xmlns:a16="http://schemas.microsoft.com/office/drawing/2014/main" id="{A43539FF-2C71-75DB-E04C-053A249DC1BB}"/>
              </a:ext>
            </a:extLst>
          </p:cNvPr>
          <p:cNvCxnSpPr>
            <a:cxnSpLocks/>
            <a:endCxn id="59" idx="1"/>
          </p:cNvCxnSpPr>
          <p:nvPr/>
        </p:nvCxnSpPr>
        <p:spPr>
          <a:xfrm rot="16200000" flipH="1">
            <a:off x="5934173" y="3112244"/>
            <a:ext cx="909260" cy="282272"/>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124" name="群組 123">
            <a:extLst>
              <a:ext uri="{FF2B5EF4-FFF2-40B4-BE49-F238E27FC236}">
                <a16:creationId xmlns:a16="http://schemas.microsoft.com/office/drawing/2014/main" id="{F7304076-0BF8-901A-AE44-60317D24A8AA}"/>
              </a:ext>
            </a:extLst>
          </p:cNvPr>
          <p:cNvGrpSpPr/>
          <p:nvPr/>
        </p:nvGrpSpPr>
        <p:grpSpPr>
          <a:xfrm>
            <a:off x="5233519" y="1988840"/>
            <a:ext cx="3082897" cy="832958"/>
            <a:chOff x="5233519" y="1857299"/>
            <a:chExt cx="3082897" cy="832958"/>
          </a:xfrm>
        </p:grpSpPr>
        <p:sp>
          <p:nvSpPr>
            <p:cNvPr id="57" name="矩形 56">
              <a:extLst>
                <a:ext uri="{FF2B5EF4-FFF2-40B4-BE49-F238E27FC236}">
                  <a16:creationId xmlns:a16="http://schemas.microsoft.com/office/drawing/2014/main" id="{BF8F8D13-9E03-AB21-3107-9AE8C2074AC0}"/>
                </a:ext>
              </a:extLst>
            </p:cNvPr>
            <p:cNvSpPr/>
            <p:nvPr/>
          </p:nvSpPr>
          <p:spPr>
            <a:xfrm>
              <a:off x="8010458" y="2050202"/>
              <a:ext cx="305958" cy="504056"/>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87279"/>
              <a:ext cx="1190446" cy="612186"/>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32683"/>
              <a:ext cx="298802" cy="504056"/>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44225"/>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26235"/>
              <a:ext cx="501145" cy="27869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16897"/>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17682"/>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72990"/>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72990"/>
                  <a:ext cx="319062" cy="424412"/>
                </a:xfrm>
                <a:prstGeom prst="rect">
                  <a:avLst/>
                </a:prstGeom>
                <a:blipFill>
                  <a:blip r:embed="rId3"/>
                  <a:stretch>
                    <a:fillRect t="-2899" r="-1887"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43852"/>
              <a:ext cx="392598" cy="51149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36296" y="2070380"/>
              <a:ext cx="360040" cy="504174"/>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233519" y="1864543"/>
              <a:ext cx="135014"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857299"/>
              <a:ext cx="173703"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849875" y="2193238"/>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25" name="文字方塊 124">
            <a:extLst>
              <a:ext uri="{FF2B5EF4-FFF2-40B4-BE49-F238E27FC236}">
                <a16:creationId xmlns:a16="http://schemas.microsoft.com/office/drawing/2014/main" id="{F350397C-5644-DBA0-30D4-27BC65996251}"/>
              </a:ext>
            </a:extLst>
          </p:cNvPr>
          <p:cNvSpPr txBox="1"/>
          <p:nvPr/>
        </p:nvSpPr>
        <p:spPr>
          <a:xfrm>
            <a:off x="3923928" y="1317977"/>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26" name="右中括弧 125">
            <a:extLst>
              <a:ext uri="{FF2B5EF4-FFF2-40B4-BE49-F238E27FC236}">
                <a16:creationId xmlns:a16="http://schemas.microsoft.com/office/drawing/2014/main" id="{168F04D2-2783-4256-2494-AE35C34AED91}"/>
              </a:ext>
            </a:extLst>
          </p:cNvPr>
          <p:cNvSpPr/>
          <p:nvPr/>
        </p:nvSpPr>
        <p:spPr>
          <a:xfrm>
            <a:off x="3939477" y="1296072"/>
            <a:ext cx="54972" cy="25727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31" name="矩形 130">
            <a:extLst>
              <a:ext uri="{FF2B5EF4-FFF2-40B4-BE49-F238E27FC236}">
                <a16:creationId xmlns:a16="http://schemas.microsoft.com/office/drawing/2014/main" id="{D2E41A05-6318-000C-98AB-E11C7639A576}"/>
              </a:ext>
            </a:extLst>
          </p:cNvPr>
          <p:cNvSpPr/>
          <p:nvPr/>
        </p:nvSpPr>
        <p:spPr>
          <a:xfrm>
            <a:off x="2888130" y="4658475"/>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4610769"/>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677253"/>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671368"/>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943809"/>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943809"/>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5038814"/>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86916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816847"/>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5048339"/>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96912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972553"/>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5025513"/>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960637"/>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4643201"/>
            <a:ext cx="0" cy="1440706"/>
          </a:xfrm>
          <a:prstGeom prst="line">
            <a:avLst/>
          </a:prstGeom>
          <a:ln w="38100">
            <a:solidFill>
              <a:schemeClr val="accent6">
                <a:lumMod val="60000"/>
                <a:lumOff val="4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865769"/>
            <a:ext cx="1469275" cy="3391"/>
          </a:xfrm>
          <a:prstGeom prst="line">
            <a:avLst/>
          </a:prstGeom>
          <a:ln w="38100">
            <a:solidFill>
              <a:schemeClr val="accent6">
                <a:lumMod val="60000"/>
                <a:lumOff val="40000"/>
              </a:schemeClr>
            </a:solidFill>
            <a:tailEnd type="oval"/>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1A614FA1-2FE8-03D5-9A01-4EE09275FF05}"/>
              </a:ext>
            </a:extLst>
          </p:cNvPr>
          <p:cNvSpPr/>
          <p:nvPr/>
        </p:nvSpPr>
        <p:spPr>
          <a:xfrm>
            <a:off x="7031249" y="3482963"/>
            <a:ext cx="277055"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1" baseline="-25000" dirty="0">
                <a:solidFill>
                  <a:srgbClr val="FF0000"/>
                </a:solidFill>
                <a:latin typeface="微軟正黑體" panose="020B0604030504040204" pitchFamily="34" charset="-120"/>
                <a:ea typeface="微軟正黑體" panose="020B0604030504040204" pitchFamily="34" charset="-120"/>
              </a:rPr>
              <a:t>O</a:t>
            </a:r>
          </a:p>
        </p:txBody>
      </p:sp>
      <p:sp>
        <p:nvSpPr>
          <p:cNvPr id="3" name="文字方塊 2">
            <a:extLst>
              <a:ext uri="{FF2B5EF4-FFF2-40B4-BE49-F238E27FC236}">
                <a16:creationId xmlns:a16="http://schemas.microsoft.com/office/drawing/2014/main" id="{66E00A59-7D33-BABF-7882-2F0838F43D92}"/>
              </a:ext>
            </a:extLst>
          </p:cNvPr>
          <p:cNvSpPr txBox="1"/>
          <p:nvPr/>
        </p:nvSpPr>
        <p:spPr>
          <a:xfrm>
            <a:off x="6869448" y="3625704"/>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176" name="矩形 175">
            <a:extLst>
              <a:ext uri="{FF2B5EF4-FFF2-40B4-BE49-F238E27FC236}">
                <a16:creationId xmlns:a16="http://schemas.microsoft.com/office/drawing/2014/main" id="{55CE9919-2B60-6324-484E-21E7B0AE0DC6}"/>
              </a:ext>
            </a:extLst>
          </p:cNvPr>
          <p:cNvSpPr/>
          <p:nvPr/>
        </p:nvSpPr>
        <p:spPr>
          <a:xfrm>
            <a:off x="2195736" y="5877271"/>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877272"/>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877272"/>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638449" y="3327610"/>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642496" y="3210114"/>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5" name="矩形 14">
            <a:extLst>
              <a:ext uri="{FF2B5EF4-FFF2-40B4-BE49-F238E27FC236}">
                <a16:creationId xmlns:a16="http://schemas.microsoft.com/office/drawing/2014/main" id="{F5273199-2037-8A7D-0F36-C1BFDCAE1C77}"/>
              </a:ext>
            </a:extLst>
          </p:cNvPr>
          <p:cNvSpPr/>
          <p:nvPr/>
        </p:nvSpPr>
        <p:spPr>
          <a:xfrm>
            <a:off x="4581111" y="32720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16" name="文字方塊 15">
            <a:extLst>
              <a:ext uri="{FF2B5EF4-FFF2-40B4-BE49-F238E27FC236}">
                <a16:creationId xmlns:a16="http://schemas.microsoft.com/office/drawing/2014/main" id="{C0110784-D5CD-5A16-47A7-F9BAD4876B56}"/>
              </a:ext>
            </a:extLst>
          </p:cNvPr>
          <p:cNvSpPr txBox="1"/>
          <p:nvPr/>
        </p:nvSpPr>
        <p:spPr>
          <a:xfrm>
            <a:off x="3103547" y="3570918"/>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7" name="右大括弧 16">
            <a:extLst>
              <a:ext uri="{FF2B5EF4-FFF2-40B4-BE49-F238E27FC236}">
                <a16:creationId xmlns:a16="http://schemas.microsoft.com/office/drawing/2014/main" id="{D92052ED-9B39-43D1-7CD4-11CA0827C1E2}"/>
              </a:ext>
            </a:extLst>
          </p:cNvPr>
          <p:cNvSpPr/>
          <p:nvPr/>
        </p:nvSpPr>
        <p:spPr>
          <a:xfrm rot="5400000">
            <a:off x="6249316" y="3089790"/>
            <a:ext cx="130201" cy="198777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0" name="矩形 19">
            <a:extLst>
              <a:ext uri="{FF2B5EF4-FFF2-40B4-BE49-F238E27FC236}">
                <a16:creationId xmlns:a16="http://schemas.microsoft.com/office/drawing/2014/main" id="{919C9182-6025-78FD-DD4B-34D2D9F56B15}"/>
              </a:ext>
            </a:extLst>
          </p:cNvPr>
          <p:cNvSpPr/>
          <p:nvPr/>
        </p:nvSpPr>
        <p:spPr>
          <a:xfrm>
            <a:off x="5907139" y="4148777"/>
            <a:ext cx="867263" cy="333057"/>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 Matrix H</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79712" y="2344206"/>
            <a:ext cx="3995091" cy="2559572"/>
          </a:xfrm>
          <a:prstGeom prst="rect">
            <a:avLst/>
          </a:prstGeom>
          <a:solidFill>
            <a:schemeClr val="accent1">
              <a:lumMod val="20000"/>
              <a:lumOff val="80000"/>
              <a:alpha val="20000"/>
            </a:schemeClr>
          </a:solidFill>
          <a:ln w="28575">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a:t>
            </a:r>
          </a:p>
        </p:txBody>
      </p:sp>
      <p:sp>
        <p:nvSpPr>
          <p:cNvPr id="39" name="右中括弧 38">
            <a:extLst>
              <a:ext uri="{FF2B5EF4-FFF2-40B4-BE49-F238E27FC236}">
                <a16:creationId xmlns:a16="http://schemas.microsoft.com/office/drawing/2014/main" id="{4925490F-5CC4-F608-2390-2B238EE875D7}"/>
              </a:ext>
            </a:extLst>
          </p:cNvPr>
          <p:cNvSpPr/>
          <p:nvPr/>
        </p:nvSpPr>
        <p:spPr>
          <a:xfrm flipH="1">
            <a:off x="2037676" y="5055020"/>
            <a:ext cx="79946" cy="89694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0" name="矩形 119">
            <a:extLst>
              <a:ext uri="{FF2B5EF4-FFF2-40B4-BE49-F238E27FC236}">
                <a16:creationId xmlns:a16="http://schemas.microsoft.com/office/drawing/2014/main" id="{5BD871C5-7650-32E5-1F21-AEFE9937B6E7}"/>
              </a:ext>
            </a:extLst>
          </p:cNvPr>
          <p:cNvSpPr/>
          <p:nvPr/>
        </p:nvSpPr>
        <p:spPr>
          <a:xfrm>
            <a:off x="6621175" y="2348880"/>
            <a:ext cx="2099555" cy="2121429"/>
          </a:xfrm>
          <a:prstGeom prst="rect">
            <a:avLst/>
          </a:prstGeom>
          <a:solidFill>
            <a:schemeClr val="bg1"/>
          </a:solidFill>
          <a:ln w="2540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Extract the features</a:t>
            </a:r>
          </a:p>
        </p:txBody>
      </p:sp>
      <p:grpSp>
        <p:nvGrpSpPr>
          <p:cNvPr id="2" name="群組 1">
            <a:extLst>
              <a:ext uri="{FF2B5EF4-FFF2-40B4-BE49-F238E27FC236}">
                <a16:creationId xmlns:a16="http://schemas.microsoft.com/office/drawing/2014/main" id="{C3FC8396-7738-396B-4EC3-4B7F9FF3F9F4}"/>
              </a:ext>
            </a:extLst>
          </p:cNvPr>
          <p:cNvGrpSpPr/>
          <p:nvPr/>
        </p:nvGrpSpPr>
        <p:grpSpPr>
          <a:xfrm>
            <a:off x="2818393" y="3083065"/>
            <a:ext cx="3049751" cy="1008634"/>
            <a:chOff x="3610481" y="4004542"/>
            <a:chExt cx="3049751" cy="1008634"/>
          </a:xfrm>
        </p:grpSpPr>
        <p:sp>
          <p:nvSpPr>
            <p:cNvPr id="3" name="矩形 2">
              <a:extLst>
                <a:ext uri="{FF2B5EF4-FFF2-40B4-BE49-F238E27FC236}">
                  <a16:creationId xmlns:a16="http://schemas.microsoft.com/office/drawing/2014/main" id="{9EA9CF9A-00DF-3794-7D5B-29CDFD75AA9B}"/>
                </a:ext>
              </a:extLst>
            </p:cNvPr>
            <p:cNvSpPr/>
            <p:nvPr/>
          </p:nvSpPr>
          <p:spPr>
            <a:xfrm>
              <a:off x="3707904" y="4004542"/>
              <a:ext cx="249785" cy="364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4025877" y="4004543"/>
              <a:ext cx="690139" cy="212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3707904" y="4437112"/>
              <a:ext cx="1091936"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r>
                <a:rPr lang="zh-TW" altLang="en-US" sz="1200" dirty="0">
                  <a:solidFill>
                    <a:schemeClr val="tx1"/>
                  </a:solidFill>
                  <a:latin typeface="微軟正黑體" panose="020B0604030504040204" pitchFamily="34" charset="-120"/>
                  <a:ea typeface="微軟正黑體" panose="020B0604030504040204" pitchFamily="34" charset="-120"/>
                </a:rPr>
                <a:t>*</a:t>
              </a: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9" name="矩形 8">
              <a:extLst>
                <a:ext uri="{FF2B5EF4-FFF2-40B4-BE49-F238E27FC236}">
                  <a16:creationId xmlns:a16="http://schemas.microsoft.com/office/drawing/2014/main" id="{4C8DF73F-4F3C-A692-BD96-F71648DBE87A}"/>
                </a:ext>
              </a:extLst>
            </p:cNvPr>
            <p:cNvSpPr/>
            <p:nvPr/>
          </p:nvSpPr>
          <p:spPr>
            <a:xfrm>
              <a:off x="5024295" y="4004542"/>
              <a:ext cx="237183" cy="35528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5322021" y="4004543"/>
              <a:ext cx="690139" cy="212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5024295" y="4437112"/>
              <a:ext cx="915857" cy="359020"/>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r>
                <a:rPr lang="zh-TW" altLang="en-US" sz="1200" dirty="0">
                  <a:solidFill>
                    <a:schemeClr val="tx1"/>
                  </a:solidFill>
                  <a:latin typeface="微軟正黑體" panose="020B0604030504040204" pitchFamily="34" charset="-120"/>
                  <a:ea typeface="微軟正黑體" panose="020B0604030504040204" pitchFamily="34" charset="-120"/>
                </a:rPr>
                <a:t>*</a:t>
              </a: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4860032" y="4549794"/>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16" name="矩形 15">
              <a:extLst>
                <a:ext uri="{FF2B5EF4-FFF2-40B4-BE49-F238E27FC236}">
                  <a16:creationId xmlns:a16="http://schemas.microsoft.com/office/drawing/2014/main" id="{D44FF357-8C9E-D367-0E4C-3FAE9662A658}"/>
                </a:ext>
              </a:extLst>
            </p:cNvPr>
            <p:cNvSpPr/>
            <p:nvPr/>
          </p:nvSpPr>
          <p:spPr>
            <a:xfrm>
              <a:off x="6305296" y="4170428"/>
              <a:ext cx="354936" cy="842748"/>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D</a:t>
              </a:r>
              <a:r>
                <a:rPr lang="en-US" altLang="zh-TW" sz="800" dirty="0">
                  <a:solidFill>
                    <a:schemeClr val="tx1"/>
                  </a:solidFill>
                  <a:latin typeface="微軟正黑體" panose="020B0604030504040204" pitchFamily="34" charset="-120"/>
                  <a:ea typeface="微軟正黑體" panose="020B0604030504040204" pitchFamily="34" charset="-120"/>
                </a:rPr>
                <a:t>own</a:t>
              </a:r>
            </a:p>
          </p:txBody>
        </p:sp>
        <p:sp>
          <p:nvSpPr>
            <p:cNvPr id="17" name="左右中括弧 16">
              <a:extLst>
                <a:ext uri="{FF2B5EF4-FFF2-40B4-BE49-F238E27FC236}">
                  <a16:creationId xmlns:a16="http://schemas.microsoft.com/office/drawing/2014/main" id="{6A12358E-68A9-8144-3B6E-BD6CE0D422A8}"/>
                </a:ext>
              </a:extLst>
            </p:cNvPr>
            <p:cNvSpPr/>
            <p:nvPr/>
          </p:nvSpPr>
          <p:spPr>
            <a:xfrm>
              <a:off x="3610481" y="4365104"/>
              <a:ext cx="2473687" cy="517667"/>
            </a:xfrm>
            <a:prstGeom prst="bracket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6129895" y="4477784"/>
              <a:ext cx="104240"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21" name="矩形 20">
            <a:extLst>
              <a:ext uri="{FF2B5EF4-FFF2-40B4-BE49-F238E27FC236}">
                <a16:creationId xmlns:a16="http://schemas.microsoft.com/office/drawing/2014/main" id="{47ED10C2-9F56-2A97-6D9F-EA161EE290B4}"/>
              </a:ext>
            </a:extLst>
          </p:cNvPr>
          <p:cNvSpPr/>
          <p:nvPr/>
        </p:nvSpPr>
        <p:spPr>
          <a:xfrm>
            <a:off x="2162163" y="3521451"/>
            <a:ext cx="306835"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647685" y="3640011"/>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24" name="矩形 23">
            <a:extLst>
              <a:ext uri="{FF2B5EF4-FFF2-40B4-BE49-F238E27FC236}">
                <a16:creationId xmlns:a16="http://schemas.microsoft.com/office/drawing/2014/main" id="{A7397AC1-0701-51AC-DD03-D56D5FA42671}"/>
              </a:ext>
            </a:extLst>
          </p:cNvPr>
          <p:cNvSpPr/>
          <p:nvPr/>
        </p:nvSpPr>
        <p:spPr>
          <a:xfrm>
            <a:off x="2175861" y="5061672"/>
            <a:ext cx="346902" cy="88232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b="1" dirty="0">
                <a:solidFill>
                  <a:schemeClr val="tx1"/>
                </a:solidFill>
                <a:latin typeface="微軟正黑體" panose="020B0604030504040204" pitchFamily="34" charset="-120"/>
                <a:ea typeface="微軟正黑體" panose="020B0604030504040204" pitchFamily="34" charset="-120"/>
              </a:rPr>
              <a:t>VC</a:t>
            </a:r>
            <a:endParaRPr lang="en-US" altLang="zh-TW" b="1" baseline="-25000" dirty="0">
              <a:solidFill>
                <a:schemeClr val="tx1"/>
              </a:solidFill>
              <a:latin typeface="微軟正黑體" panose="020B0604030504040204" pitchFamily="34" charset="-120"/>
              <a:ea typeface="微軟正黑體" panose="020B0604030504040204" pitchFamily="34" charset="-12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51925" y="5315451"/>
            <a:ext cx="113222" cy="374768"/>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11465" y="5359453"/>
            <a:ext cx="12306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514959" y="4600264"/>
            <a:ext cx="293577" cy="715187"/>
          </a:xfrm>
          <a:prstGeom prst="curvedConnector2">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DD572D28-E21B-EC18-BCC4-32209AD2D5A2}"/>
              </a:ext>
            </a:extLst>
          </p:cNvPr>
          <p:cNvSpPr/>
          <p:nvPr/>
        </p:nvSpPr>
        <p:spPr>
          <a:xfrm>
            <a:off x="3554306" y="5061672"/>
            <a:ext cx="205731" cy="882327"/>
          </a:xfrm>
          <a:prstGeom prst="rect">
            <a:avLst/>
          </a:prstGeom>
          <a:noFill/>
          <a:ln w="25400">
            <a:solidFill>
              <a:schemeClr val="accent5">
                <a:lumMod val="75000"/>
                <a:alpha val="2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29" name="文字方塊 28">
            <a:extLst>
              <a:ext uri="{FF2B5EF4-FFF2-40B4-BE49-F238E27FC236}">
                <a16:creationId xmlns:a16="http://schemas.microsoft.com/office/drawing/2014/main" id="{4B3AD1C9-6E48-0577-1DC0-8E9700308F76}"/>
              </a:ext>
            </a:extLst>
          </p:cNvPr>
          <p:cNvSpPr txBox="1"/>
          <p:nvPr/>
        </p:nvSpPr>
        <p:spPr>
          <a:xfrm>
            <a:off x="2981350" y="5393690"/>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30" name="矩形 29">
            <a:extLst>
              <a:ext uri="{FF2B5EF4-FFF2-40B4-BE49-F238E27FC236}">
                <a16:creationId xmlns:a16="http://schemas.microsoft.com/office/drawing/2014/main" id="{3A5C3284-5E4A-6C2B-0B16-3A6B39441A74}"/>
              </a:ext>
            </a:extLst>
          </p:cNvPr>
          <p:cNvSpPr/>
          <p:nvPr/>
        </p:nvSpPr>
        <p:spPr>
          <a:xfrm>
            <a:off x="4192085" y="5061673"/>
            <a:ext cx="205731" cy="882327"/>
          </a:xfrm>
          <a:prstGeom prst="rect">
            <a:avLst/>
          </a:prstGeom>
          <a:noFill/>
          <a:ln w="25400">
            <a:solidFill>
              <a:schemeClr val="accent5">
                <a:lumMod val="75000"/>
                <a:alpha val="2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1" name="文字方塊 30">
            <a:extLst>
              <a:ext uri="{FF2B5EF4-FFF2-40B4-BE49-F238E27FC236}">
                <a16:creationId xmlns:a16="http://schemas.microsoft.com/office/drawing/2014/main" id="{C937DC02-6F86-8270-4AD8-04DDA79EE401}"/>
              </a:ext>
            </a:extLst>
          </p:cNvPr>
          <p:cNvSpPr txBox="1"/>
          <p:nvPr/>
        </p:nvSpPr>
        <p:spPr>
          <a:xfrm>
            <a:off x="3944593" y="5393691"/>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32" name="文字方塊 31">
            <a:extLst>
              <a:ext uri="{FF2B5EF4-FFF2-40B4-BE49-F238E27FC236}">
                <a16:creationId xmlns:a16="http://schemas.microsoft.com/office/drawing/2014/main" id="{11003101-4C3B-7BEF-93A5-0602CEC6AA86}"/>
              </a:ext>
            </a:extLst>
          </p:cNvPr>
          <p:cNvSpPr txBox="1"/>
          <p:nvPr/>
        </p:nvSpPr>
        <p:spPr>
          <a:xfrm>
            <a:off x="3164923" y="5108061"/>
            <a:ext cx="274038" cy="742820"/>
          </a:xfrm>
          <a:prstGeom prst="rect">
            <a:avLst/>
          </a:prstGeom>
          <a:noFill/>
        </p:spPr>
        <p:txBody>
          <a:bodyPr wrap="none" lIns="0" tIns="0" rIns="0" bIns="0" rtlCol="0" anchor="ctr" anchorCtr="1">
            <a:noAutofit/>
          </a:bodyPr>
          <a:lstStyle/>
          <a:p>
            <a:pPr algn="ctr"/>
            <a:r>
              <a:rPr lang="en-US" altLang="zh-TW" sz="1200" dirty="0"/>
              <a:t>Soft</a:t>
            </a:r>
          </a:p>
          <a:p>
            <a:pPr algn="ctr"/>
            <a:r>
              <a:rPr lang="en-US" altLang="zh-TW" sz="1200" dirty="0"/>
              <a:t>Max</a:t>
            </a:r>
            <a:endParaRPr lang="zh-TW" altLang="en-US" sz="1200" dirty="0"/>
          </a:p>
        </p:txBody>
      </p:sp>
      <p:sp>
        <p:nvSpPr>
          <p:cNvPr id="33" name="左右中括弧 32">
            <a:extLst>
              <a:ext uri="{FF2B5EF4-FFF2-40B4-BE49-F238E27FC236}">
                <a16:creationId xmlns:a16="http://schemas.microsoft.com/office/drawing/2014/main" id="{FD6EB530-7992-AFF7-31AB-DEB32DCBB475}"/>
              </a:ext>
            </a:extLst>
          </p:cNvPr>
          <p:cNvSpPr/>
          <p:nvPr/>
        </p:nvSpPr>
        <p:spPr>
          <a:xfrm>
            <a:off x="3458011" y="5061673"/>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651153" y="5213062"/>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651153" y="5213062"/>
                <a:ext cx="813171" cy="448264"/>
              </a:xfrm>
              <a:prstGeom prst="rect">
                <a:avLst/>
              </a:prstGeom>
              <a:blipFill>
                <a:blip r:embed="rId3"/>
                <a:stretch>
                  <a:fillRect l="-4511" t="-17568" r="-30827" b="-101351"/>
                </a:stretch>
              </a:blipFill>
            </p:spPr>
            <p:txBody>
              <a:bodyPr/>
              <a:lstStyle/>
              <a:p>
                <a:r>
                  <a:rPr lang="zh-TW" altLang="en-US">
                    <a:noFill/>
                  </a:rPr>
                  <a:t> </a:t>
                </a:r>
              </a:p>
            </p:txBody>
          </p:sp>
        </mc:Fallback>
      </mc:AlternateContent>
      <p:sp>
        <p:nvSpPr>
          <p:cNvPr id="35" name="左右中括弧 34">
            <a:extLst>
              <a:ext uri="{FF2B5EF4-FFF2-40B4-BE49-F238E27FC236}">
                <a16:creationId xmlns:a16="http://schemas.microsoft.com/office/drawing/2014/main" id="{C21B6252-6BFC-711D-27FF-00C512752E88}"/>
              </a:ext>
            </a:extLst>
          </p:cNvPr>
          <p:cNvSpPr/>
          <p:nvPr/>
        </p:nvSpPr>
        <p:spPr>
          <a:xfrm>
            <a:off x="4097072" y="5066953"/>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162163" y="5627340"/>
            <a:ext cx="373738" cy="185979"/>
          </a:xfrm>
          <a:prstGeom prst="rect">
            <a:avLst/>
          </a:prstGeom>
          <a:solidFill>
            <a:schemeClr val="accent6">
              <a:lumMod val="20000"/>
              <a:lumOff val="80000"/>
              <a:alpha val="60000"/>
            </a:schemeClr>
          </a:solidFill>
          <a:ln w="9525">
            <a:solidFill>
              <a:schemeClr val="accent6">
                <a:lumMod val="75000"/>
                <a:alpha val="6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accent6">
                    <a:lumMod val="75000"/>
                  </a:schemeClr>
                </a:solidFill>
                <a:latin typeface="微軟正黑體" panose="020B0604030504040204" pitchFamily="34" charset="-120"/>
                <a:ea typeface="微軟正黑體" panose="020B0604030504040204" pitchFamily="34" charset="-120"/>
              </a:rPr>
              <a:t>max</a:t>
            </a:r>
          </a:p>
        </p:txBody>
      </p:sp>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856528" y="3989165"/>
                <a:ext cx="1547924" cy="322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856528" y="3989165"/>
                <a:ext cx="1547924" cy="322332"/>
              </a:xfrm>
              <a:prstGeom prst="rect">
                <a:avLst/>
              </a:prstGeom>
              <a:blipFill>
                <a:blip r:embed="rId4"/>
                <a:stretch>
                  <a:fillRect l="-2362" b="-16981"/>
                </a:stretch>
              </a:blipFill>
            </p:spPr>
            <p:txBody>
              <a:bodyPr/>
              <a:lstStyle/>
              <a:p>
                <a:r>
                  <a:rPr lang="zh-TW" altLang="en-US">
                    <a:noFill/>
                  </a:rPr>
                  <a:t> </a:t>
                </a:r>
              </a:p>
            </p:txBody>
          </p:sp>
        </mc:Fallback>
      </mc:AlternateContent>
      <p:grpSp>
        <p:nvGrpSpPr>
          <p:cNvPr id="97" name="群組 96">
            <a:extLst>
              <a:ext uri="{FF2B5EF4-FFF2-40B4-BE49-F238E27FC236}">
                <a16:creationId xmlns:a16="http://schemas.microsoft.com/office/drawing/2014/main" id="{2D72C439-F480-7006-4395-9CA65DFE8201}"/>
              </a:ext>
            </a:extLst>
          </p:cNvPr>
          <p:cNvGrpSpPr/>
          <p:nvPr/>
        </p:nvGrpSpPr>
        <p:grpSpPr>
          <a:xfrm>
            <a:off x="251520" y="3031863"/>
            <a:ext cx="1406400" cy="1477257"/>
            <a:chOff x="1907704" y="548682"/>
            <a:chExt cx="1406400" cy="1477257"/>
          </a:xfrm>
        </p:grpSpPr>
        <p:sp>
          <p:nvSpPr>
            <p:cNvPr id="88" name="矩形 87">
              <a:extLst>
                <a:ext uri="{FF2B5EF4-FFF2-40B4-BE49-F238E27FC236}">
                  <a16:creationId xmlns:a16="http://schemas.microsoft.com/office/drawing/2014/main" id="{6D47A4D7-3AAE-548A-B215-112D8959A04A}"/>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F9148EBB-AB20-B55F-FFB6-6EC6E59E140D}"/>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4D8F02BE-DCD2-0446-3A26-48B3DB41C014}"/>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08D00F58-3A7D-2E42-D9FA-7926C5EDC7C7}"/>
                </a:ext>
              </a:extLst>
            </p:cNvPr>
            <p:cNvSpPr/>
            <p:nvPr/>
          </p:nvSpPr>
          <p:spPr>
            <a:xfrm>
              <a:off x="2230974" y="1809915"/>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2699792" y="54868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06" name="接點: 弧形 105">
            <a:extLst>
              <a:ext uri="{FF2B5EF4-FFF2-40B4-BE49-F238E27FC236}">
                <a16:creationId xmlns:a16="http://schemas.microsoft.com/office/drawing/2014/main" id="{04B9222C-170D-2E86-2883-9BB5DC9B9A6C}"/>
              </a:ext>
            </a:extLst>
          </p:cNvPr>
          <p:cNvCxnSpPr>
            <a:cxnSpLocks/>
            <a:stCxn id="71" idx="2"/>
            <a:endCxn id="3" idx="0"/>
          </p:cNvCxnSpPr>
          <p:nvPr/>
        </p:nvCxnSpPr>
        <p:spPr>
          <a:xfrm rot="5400000">
            <a:off x="3186062" y="2563567"/>
            <a:ext cx="374145" cy="66485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10" name="矩形 109">
            <a:extLst>
              <a:ext uri="{FF2B5EF4-FFF2-40B4-BE49-F238E27FC236}">
                <a16:creationId xmlns:a16="http://schemas.microsoft.com/office/drawing/2014/main" id="{2A5B34E1-0657-B7B9-69A2-3D23E49C0407}"/>
              </a:ext>
            </a:extLst>
          </p:cNvPr>
          <p:cNvSpPr/>
          <p:nvPr/>
        </p:nvSpPr>
        <p:spPr>
          <a:xfrm>
            <a:off x="2175861" y="4188901"/>
            <a:ext cx="303429" cy="48234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cxnSp>
        <p:nvCxnSpPr>
          <p:cNvPr id="144" name="直線單箭頭接點 143">
            <a:extLst>
              <a:ext uri="{FF2B5EF4-FFF2-40B4-BE49-F238E27FC236}">
                <a16:creationId xmlns:a16="http://schemas.microsoft.com/office/drawing/2014/main" id="{6B2C4577-B92C-F325-0B6D-5C71D775FEF2}"/>
              </a:ext>
            </a:extLst>
          </p:cNvPr>
          <p:cNvCxnSpPr>
            <a:cxnSpLocks/>
            <a:endCxn id="36" idx="3"/>
          </p:cNvCxnSpPr>
          <p:nvPr/>
        </p:nvCxnSpPr>
        <p:spPr>
          <a:xfrm flipH="1">
            <a:off x="2535901" y="5720248"/>
            <a:ext cx="1748439" cy="82"/>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51" name="接點: 弧形 50">
            <a:extLst>
              <a:ext uri="{FF2B5EF4-FFF2-40B4-BE49-F238E27FC236}">
                <a16:creationId xmlns:a16="http://schemas.microsoft.com/office/drawing/2014/main" id="{08C12969-1CAA-7C8C-1A80-A12CB3FB3E18}"/>
              </a:ext>
            </a:extLst>
          </p:cNvPr>
          <p:cNvCxnSpPr>
            <a:cxnSpLocks/>
            <a:stCxn id="71" idx="2"/>
            <a:endCxn id="9" idx="0"/>
          </p:cNvCxnSpPr>
          <p:nvPr/>
        </p:nvCxnSpPr>
        <p:spPr>
          <a:xfrm rot="16200000" flipH="1">
            <a:off x="3841107" y="2573372"/>
            <a:ext cx="374145" cy="64524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3" name="接點: 弧形 72">
            <a:extLst>
              <a:ext uri="{FF2B5EF4-FFF2-40B4-BE49-F238E27FC236}">
                <a16:creationId xmlns:a16="http://schemas.microsoft.com/office/drawing/2014/main" id="{50052D83-62A8-C7A2-9CC8-F8763979B5DE}"/>
              </a:ext>
            </a:extLst>
          </p:cNvPr>
          <p:cNvCxnSpPr>
            <a:cxnSpLocks/>
            <a:stCxn id="36" idx="1"/>
            <a:endCxn id="88" idx="2"/>
          </p:cNvCxnSpPr>
          <p:nvPr/>
        </p:nvCxnSpPr>
        <p:spPr>
          <a:xfrm rot="10800000">
            <a:off x="1116355" y="4509120"/>
            <a:ext cx="1045808" cy="1211210"/>
          </a:xfrm>
          <a:prstGeom prst="curvedConnector2">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56" name="文字方塊 55">
            <a:extLst>
              <a:ext uri="{FF2B5EF4-FFF2-40B4-BE49-F238E27FC236}">
                <a16:creationId xmlns:a16="http://schemas.microsoft.com/office/drawing/2014/main" id="{C8FE1119-F9FF-D03A-C39E-26169689D227}"/>
              </a:ext>
            </a:extLst>
          </p:cNvPr>
          <p:cNvSpPr txBox="1"/>
          <p:nvPr/>
        </p:nvSpPr>
        <p:spPr>
          <a:xfrm>
            <a:off x="7452320" y="2965723"/>
            <a:ext cx="104240"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62" name="矩形 61">
            <a:extLst>
              <a:ext uri="{FF2B5EF4-FFF2-40B4-BE49-F238E27FC236}">
                <a16:creationId xmlns:a16="http://schemas.microsoft.com/office/drawing/2014/main" id="{9580A3F7-0ABE-23F3-CAEE-86771B6B7544}"/>
              </a:ext>
            </a:extLst>
          </p:cNvPr>
          <p:cNvSpPr/>
          <p:nvPr/>
        </p:nvSpPr>
        <p:spPr>
          <a:xfrm>
            <a:off x="8157374" y="2841347"/>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3" name="文字方塊 62">
            <a:extLst>
              <a:ext uri="{FF2B5EF4-FFF2-40B4-BE49-F238E27FC236}">
                <a16:creationId xmlns:a16="http://schemas.microsoft.com/office/drawing/2014/main" id="{75A82EF4-F2F9-36DE-FC76-7FE442CF997F}"/>
              </a:ext>
            </a:extLst>
          </p:cNvPr>
          <p:cNvSpPr txBox="1"/>
          <p:nvPr/>
        </p:nvSpPr>
        <p:spPr>
          <a:xfrm>
            <a:off x="7924144" y="2999199"/>
            <a:ext cx="104240" cy="235664"/>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012160" y="1456910"/>
            <a:ext cx="422451" cy="526736"/>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grpSp>
        <p:nvGrpSpPr>
          <p:cNvPr id="76" name="群組 75">
            <a:extLst>
              <a:ext uri="{FF2B5EF4-FFF2-40B4-BE49-F238E27FC236}">
                <a16:creationId xmlns:a16="http://schemas.microsoft.com/office/drawing/2014/main" id="{0BE68F61-BA79-B2B7-F578-BB83B3F1361D}"/>
              </a:ext>
            </a:extLst>
          </p:cNvPr>
          <p:cNvGrpSpPr/>
          <p:nvPr/>
        </p:nvGrpSpPr>
        <p:grpSpPr>
          <a:xfrm>
            <a:off x="7596336" y="2953892"/>
            <a:ext cx="161836" cy="449370"/>
            <a:chOff x="7713529" y="3033343"/>
            <a:chExt cx="161836" cy="449370"/>
          </a:xfrm>
        </p:grpSpPr>
        <p:sp>
          <p:nvSpPr>
            <p:cNvPr id="55" name="矩形 54">
              <a:extLst>
                <a:ext uri="{FF2B5EF4-FFF2-40B4-BE49-F238E27FC236}">
                  <a16:creationId xmlns:a16="http://schemas.microsoft.com/office/drawing/2014/main" id="{1B649D75-18D1-0830-D655-A2B640FBA496}"/>
                </a:ext>
              </a:extLst>
            </p:cNvPr>
            <p:cNvSpPr/>
            <p:nvPr/>
          </p:nvSpPr>
          <p:spPr>
            <a:xfrm>
              <a:off x="7725128" y="3033343"/>
              <a:ext cx="141223" cy="28968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800" dirty="0">
                  <a:solidFill>
                    <a:schemeClr val="tx1"/>
                  </a:solidFill>
                  <a:latin typeface="微軟正黑體" panose="020B0604030504040204" pitchFamily="34" charset="-120"/>
                  <a:ea typeface="微軟正黑體" panose="020B0604030504040204" pitchFamily="34" charset="-120"/>
                </a:rPr>
                <a:t>G</a:t>
              </a:r>
            </a:p>
          </p:txBody>
        </p:sp>
        <p:sp>
          <p:nvSpPr>
            <p:cNvPr id="66" name="文字方塊 65">
              <a:extLst>
                <a:ext uri="{FF2B5EF4-FFF2-40B4-BE49-F238E27FC236}">
                  <a16:creationId xmlns:a16="http://schemas.microsoft.com/office/drawing/2014/main" id="{A6C7910E-3AEA-10F8-CF1E-7C1C09535798}"/>
                </a:ext>
              </a:extLst>
            </p:cNvPr>
            <p:cNvSpPr txBox="1"/>
            <p:nvPr/>
          </p:nvSpPr>
          <p:spPr>
            <a:xfrm>
              <a:off x="7713529" y="3248112"/>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latin typeface="微軟正黑體" panose="020B0604030504040204" pitchFamily="34" charset="-120"/>
                  <a:ea typeface="微軟正黑體" panose="020B0604030504040204" pitchFamily="34" charset="-120"/>
                </a:rPr>
                <a:t>dx16</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grpSp>
        <p:nvGrpSpPr>
          <p:cNvPr id="69" name="群組 68">
            <a:extLst>
              <a:ext uri="{FF2B5EF4-FFF2-40B4-BE49-F238E27FC236}">
                <a16:creationId xmlns:a16="http://schemas.microsoft.com/office/drawing/2014/main" id="{9156E076-2976-A383-243A-F090F75134A3}"/>
              </a:ext>
            </a:extLst>
          </p:cNvPr>
          <p:cNvGrpSpPr/>
          <p:nvPr/>
        </p:nvGrpSpPr>
        <p:grpSpPr>
          <a:xfrm>
            <a:off x="6957789" y="2586791"/>
            <a:ext cx="422523" cy="756009"/>
            <a:chOff x="6957789" y="2814404"/>
            <a:chExt cx="422523" cy="756009"/>
          </a:xfrm>
        </p:grpSpPr>
        <p:sp>
          <p:nvSpPr>
            <p:cNvPr id="54" name="矩形 53">
              <a:extLst>
                <a:ext uri="{FF2B5EF4-FFF2-40B4-BE49-F238E27FC236}">
                  <a16:creationId xmlns:a16="http://schemas.microsoft.com/office/drawing/2014/main" id="{2A5B317B-E1E4-CFB6-3F15-1C4EBAA0C373}"/>
                </a:ext>
              </a:extLst>
            </p:cNvPr>
            <p:cNvSpPr/>
            <p:nvPr/>
          </p:nvSpPr>
          <p:spPr>
            <a:xfrm>
              <a:off x="7126144" y="306896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7" name="文字方塊 66">
              <a:extLst>
                <a:ext uri="{FF2B5EF4-FFF2-40B4-BE49-F238E27FC236}">
                  <a16:creationId xmlns:a16="http://schemas.microsoft.com/office/drawing/2014/main" id="{769081CE-31C5-153C-5ECB-90933C843546}"/>
                </a:ext>
              </a:extLst>
            </p:cNvPr>
            <p:cNvSpPr txBox="1"/>
            <p:nvPr/>
          </p:nvSpPr>
          <p:spPr>
            <a:xfrm>
              <a:off x="7164288" y="2814404"/>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68" name="文字方塊 67">
              <a:extLst>
                <a:ext uri="{FF2B5EF4-FFF2-40B4-BE49-F238E27FC236}">
                  <a16:creationId xmlns:a16="http://schemas.microsoft.com/office/drawing/2014/main" id="{78DE7BDD-A9EA-3A7F-E609-BD27E8869B6C}"/>
                </a:ext>
              </a:extLst>
            </p:cNvPr>
            <p:cNvSpPr txBox="1"/>
            <p:nvPr/>
          </p:nvSpPr>
          <p:spPr>
            <a:xfrm>
              <a:off x="6957789" y="3140968"/>
              <a:ext cx="161836" cy="260995"/>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N</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grpSp>
        <p:nvGrpSpPr>
          <p:cNvPr id="70" name="群組 69">
            <a:extLst>
              <a:ext uri="{FF2B5EF4-FFF2-40B4-BE49-F238E27FC236}">
                <a16:creationId xmlns:a16="http://schemas.microsoft.com/office/drawing/2014/main" id="{D68BE199-0510-9EBC-9404-4038D5CF7A02}"/>
              </a:ext>
            </a:extLst>
          </p:cNvPr>
          <p:cNvGrpSpPr/>
          <p:nvPr/>
        </p:nvGrpSpPr>
        <p:grpSpPr>
          <a:xfrm>
            <a:off x="3410120" y="2058651"/>
            <a:ext cx="422523" cy="650269"/>
            <a:chOff x="6957789" y="2841156"/>
            <a:chExt cx="422523" cy="729257"/>
          </a:xfrm>
        </p:grpSpPr>
        <p:sp>
          <p:nvSpPr>
            <p:cNvPr id="71" name="矩形 70">
              <a:extLst>
                <a:ext uri="{FF2B5EF4-FFF2-40B4-BE49-F238E27FC236}">
                  <a16:creationId xmlns:a16="http://schemas.microsoft.com/office/drawing/2014/main" id="{2B825F66-2300-FFE4-5C68-5606FAEEC243}"/>
                </a:ext>
              </a:extLst>
            </p:cNvPr>
            <p:cNvSpPr/>
            <p:nvPr/>
          </p:nvSpPr>
          <p:spPr>
            <a:xfrm>
              <a:off x="7126144" y="306896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72" name="文字方塊 71">
              <a:extLst>
                <a:ext uri="{FF2B5EF4-FFF2-40B4-BE49-F238E27FC236}">
                  <a16:creationId xmlns:a16="http://schemas.microsoft.com/office/drawing/2014/main" id="{8D5D350D-45F7-2684-0003-D57D1A46F7B6}"/>
                </a:ext>
              </a:extLst>
            </p:cNvPr>
            <p:cNvSpPr txBox="1"/>
            <p:nvPr/>
          </p:nvSpPr>
          <p:spPr>
            <a:xfrm>
              <a:off x="7199255" y="2841156"/>
              <a:ext cx="93132" cy="111417"/>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74" name="文字方塊 73">
              <a:extLst>
                <a:ext uri="{FF2B5EF4-FFF2-40B4-BE49-F238E27FC236}">
                  <a16:creationId xmlns:a16="http://schemas.microsoft.com/office/drawing/2014/main" id="{9FD319B0-2867-85D3-C938-6EDC2A38A1EA}"/>
                </a:ext>
              </a:extLst>
            </p:cNvPr>
            <p:cNvSpPr txBox="1"/>
            <p:nvPr/>
          </p:nvSpPr>
          <p:spPr>
            <a:xfrm>
              <a:off x="6957789" y="3129473"/>
              <a:ext cx="161836" cy="260995"/>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N</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sp>
        <p:nvSpPr>
          <p:cNvPr id="75" name="文字方塊 74">
            <a:extLst>
              <a:ext uri="{FF2B5EF4-FFF2-40B4-BE49-F238E27FC236}">
                <a16:creationId xmlns:a16="http://schemas.microsoft.com/office/drawing/2014/main" id="{A35CCDEF-998A-9444-CC04-EEE26F2BD0D4}"/>
              </a:ext>
            </a:extLst>
          </p:cNvPr>
          <p:cNvSpPr txBox="1"/>
          <p:nvPr/>
        </p:nvSpPr>
        <p:spPr>
          <a:xfrm>
            <a:off x="8154580" y="3266407"/>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latin typeface="微軟正黑體" panose="020B0604030504040204" pitchFamily="34" charset="-120"/>
                <a:ea typeface="微軟正黑體" panose="020B0604030504040204" pitchFamily="34" charset="-120"/>
              </a:rPr>
              <a:t>Nx16</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77" name="標題 1">
            <a:extLst>
              <a:ext uri="{FF2B5EF4-FFF2-40B4-BE49-F238E27FC236}">
                <a16:creationId xmlns:a16="http://schemas.microsoft.com/office/drawing/2014/main" id="{8B2E68CE-C9C3-EF7A-3426-00B00CD833A1}"/>
              </a:ext>
            </a:extLst>
          </p:cNvPr>
          <p:cNvSpPr txBox="1">
            <a:spLocks/>
          </p:cNvSpPr>
          <p:nvPr/>
        </p:nvSpPr>
        <p:spPr>
          <a:xfrm>
            <a:off x="6395080" y="4998765"/>
            <a:ext cx="2325650" cy="923330"/>
          </a:xfrm>
          <a:prstGeom prst="rect">
            <a:avLst/>
          </a:prstGeom>
        </p:spPr>
        <p:txBody>
          <a:bodyPr wrap="square" lIns="91440" tIns="0" rIns="0" bIns="0">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Noto Sans HK" panose="020B0200000000000000" pitchFamily="34" charset="-120"/>
                <a:ea typeface="Noto Sans HK" panose="020B0200000000000000" pitchFamily="34" charset="-120"/>
                <a:cs typeface="Arial" panose="020B0604020202020204" pitchFamily="34" charset="0"/>
              </a:rPr>
              <a:t>MoE</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a:t>
            </a:r>
          </a:p>
          <a:p>
            <a:r>
              <a:rPr lang="en-US" altLang="zh-TW" sz="1200" dirty="0">
                <a:latin typeface="Noto Sans HK" panose="020B0200000000000000" pitchFamily="34" charset="-120"/>
                <a:ea typeface="Noto Sans HK" panose="020B0200000000000000" pitchFamily="34" charset="-120"/>
                <a:cs typeface="Arial" panose="020B0604020202020204" pitchFamily="34" charset="0"/>
              </a:rPr>
              <a:t>Select the top2 experts,  mask the rest, and apply SoftMax to obtain the probability-based weights.</a:t>
            </a:r>
          </a:p>
        </p:txBody>
      </p:sp>
      <p:sp>
        <p:nvSpPr>
          <p:cNvPr id="78" name="矩形 77">
            <a:extLst>
              <a:ext uri="{FF2B5EF4-FFF2-40B4-BE49-F238E27FC236}">
                <a16:creationId xmlns:a16="http://schemas.microsoft.com/office/drawing/2014/main" id="{16B8AABB-E1F2-7038-FA86-34A5CFDEE7CB}"/>
              </a:ext>
            </a:extLst>
          </p:cNvPr>
          <p:cNvSpPr/>
          <p:nvPr/>
        </p:nvSpPr>
        <p:spPr>
          <a:xfrm>
            <a:off x="6807042" y="3577348"/>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6679788" y="4077072"/>
            <a:ext cx="437658" cy="321086"/>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p>
          <a:p>
            <a:pPr algn="ctr">
              <a:lnSpc>
                <a:spcPts val="12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(Gating)</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0" name="矩形 79">
            <a:extLst>
              <a:ext uri="{FF2B5EF4-FFF2-40B4-BE49-F238E27FC236}">
                <a16:creationId xmlns:a16="http://schemas.microsoft.com/office/drawing/2014/main" id="{694316F9-88F8-9F8B-5AE8-A6AA8BE0EE16}"/>
              </a:ext>
            </a:extLst>
          </p:cNvPr>
          <p:cNvSpPr/>
          <p:nvPr/>
        </p:nvSpPr>
        <p:spPr>
          <a:xfrm>
            <a:off x="7396962" y="3580142"/>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T</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1" name="文字方塊 80">
            <a:extLst>
              <a:ext uri="{FF2B5EF4-FFF2-40B4-BE49-F238E27FC236}">
                <a16:creationId xmlns:a16="http://schemas.microsoft.com/office/drawing/2014/main" id="{6C7C03DF-3C0F-1F9E-3543-854BB2FA5F16}"/>
              </a:ext>
            </a:extLst>
          </p:cNvPr>
          <p:cNvSpPr txBox="1"/>
          <p:nvPr/>
        </p:nvSpPr>
        <p:spPr>
          <a:xfrm>
            <a:off x="7241906" y="4077072"/>
            <a:ext cx="498898" cy="321087"/>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p>
          <a:p>
            <a:pPr algn="ctr">
              <a:lnSpc>
                <a:spcPts val="12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(Mask)</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3" name="文字方塊 82">
            <a:extLst>
              <a:ext uri="{FF2B5EF4-FFF2-40B4-BE49-F238E27FC236}">
                <a16:creationId xmlns:a16="http://schemas.microsoft.com/office/drawing/2014/main" id="{90A7DC8E-8C44-F27F-B2F4-0BE094585587}"/>
              </a:ext>
            </a:extLst>
          </p:cNvPr>
          <p:cNvSpPr txBox="1"/>
          <p:nvPr/>
        </p:nvSpPr>
        <p:spPr>
          <a:xfrm>
            <a:off x="7011860" y="3597146"/>
            <a:ext cx="328120" cy="324000"/>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Top 2</a:t>
            </a:r>
            <a:br>
              <a:rPr lang="en-US" altLang="zh-TW" sz="1200" dirty="0">
                <a:sym typeface="Wingdings" panose="05000000000000000000" pitchFamily="2" charset="2"/>
              </a:rPr>
            </a:br>
            <a:r>
              <a:rPr lang="en-US" altLang="zh-TW" sz="1200" dirty="0">
                <a:sym typeface="Wingdings" panose="05000000000000000000" pitchFamily="2" charset="2"/>
              </a:rPr>
              <a:t></a:t>
            </a:r>
            <a:endParaRPr lang="zh-TW" altLang="en-US" sz="1200" dirty="0"/>
          </a:p>
        </p:txBody>
      </p:sp>
      <p:sp>
        <p:nvSpPr>
          <p:cNvPr id="84" name="矩形 83">
            <a:extLst>
              <a:ext uri="{FF2B5EF4-FFF2-40B4-BE49-F238E27FC236}">
                <a16:creationId xmlns:a16="http://schemas.microsoft.com/office/drawing/2014/main" id="{FA79592B-F846-5072-23CD-098E7D52A09D}"/>
              </a:ext>
            </a:extLst>
          </p:cNvPr>
          <p:cNvSpPr/>
          <p:nvPr/>
        </p:nvSpPr>
        <p:spPr>
          <a:xfrm>
            <a:off x="8229382" y="3573016"/>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5" name="文字方塊 84">
            <a:extLst>
              <a:ext uri="{FF2B5EF4-FFF2-40B4-BE49-F238E27FC236}">
                <a16:creationId xmlns:a16="http://schemas.microsoft.com/office/drawing/2014/main" id="{E64504FF-6FE5-6B94-EA2B-0332A58A986C}"/>
              </a:ext>
            </a:extLst>
          </p:cNvPr>
          <p:cNvSpPr txBox="1"/>
          <p:nvPr/>
        </p:nvSpPr>
        <p:spPr>
          <a:xfrm>
            <a:off x="8066249" y="4077072"/>
            <a:ext cx="502690" cy="321086"/>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br>
              <a:rPr lang="en-US" altLang="zh-TW" sz="1200" baseline="-25000" dirty="0">
                <a:latin typeface="微軟正黑體" panose="020B0604030504040204" pitchFamily="34" charset="-120"/>
                <a:ea typeface="微軟正黑體" panose="020B0604030504040204" pitchFamily="34" charset="-120"/>
              </a:rPr>
            </a:br>
            <a:r>
              <a:rPr lang="en-US" altLang="zh-TW" sz="1200" baseline="-25000" dirty="0">
                <a:latin typeface="微軟正黑體" panose="020B0604030504040204" pitchFamily="34" charset="-120"/>
                <a:ea typeface="微軟正黑體" panose="020B0604030504040204" pitchFamily="34" charset="-120"/>
              </a:rPr>
              <a:t>(Weighting)</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700264" y="3590020"/>
            <a:ext cx="328120" cy="324000"/>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SoftMax</a:t>
            </a:r>
            <a:br>
              <a:rPr lang="en-US" altLang="zh-TW" sz="1200" dirty="0">
                <a:sym typeface="Wingdings" panose="05000000000000000000" pitchFamily="2" charset="2"/>
              </a:rPr>
            </a:br>
            <a:r>
              <a:rPr lang="en-US" altLang="zh-TW" sz="1200" dirty="0">
                <a:sym typeface="Wingdings" panose="05000000000000000000" pitchFamily="2" charset="2"/>
              </a:rPr>
              <a:t></a:t>
            </a:r>
            <a:endParaRPr lang="zh-TW" altLang="en-US" sz="1200" dirty="0"/>
          </a:p>
        </p:txBody>
      </p:sp>
      <p:sp>
        <p:nvSpPr>
          <p:cNvPr id="100" name="矩形 99">
            <a:extLst>
              <a:ext uri="{FF2B5EF4-FFF2-40B4-BE49-F238E27FC236}">
                <a16:creationId xmlns:a16="http://schemas.microsoft.com/office/drawing/2014/main" id="{83A1B9A5-CEB6-032E-6AC0-EC0A575B5E3D}"/>
              </a:ext>
            </a:extLst>
          </p:cNvPr>
          <p:cNvSpPr/>
          <p:nvPr/>
        </p:nvSpPr>
        <p:spPr>
          <a:xfrm>
            <a:off x="3588157" y="1482198"/>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1" name="矩形 100">
            <a:extLst>
              <a:ext uri="{FF2B5EF4-FFF2-40B4-BE49-F238E27FC236}">
                <a16:creationId xmlns:a16="http://schemas.microsoft.com/office/drawing/2014/main" id="{9562C7A7-7CE5-4A39-D29E-759B1851AD76}"/>
              </a:ext>
            </a:extLst>
          </p:cNvPr>
          <p:cNvSpPr/>
          <p:nvPr/>
        </p:nvSpPr>
        <p:spPr>
          <a:xfrm>
            <a:off x="4106201" y="1471405"/>
            <a:ext cx="1089904"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400" dirty="0">
                <a:solidFill>
                  <a:schemeClr val="accent1">
                    <a:lumMod val="50000"/>
                  </a:schemeClr>
                </a:solidFill>
                <a:ea typeface="微軟正黑體" panose="020B0604030504040204" pitchFamily="34" charset="-120"/>
              </a:rPr>
              <a:t>Attention(X)</a:t>
            </a:r>
          </a:p>
        </p:txBody>
      </p:sp>
      <p:sp>
        <p:nvSpPr>
          <p:cNvPr id="104" name="文字方塊 103">
            <a:extLst>
              <a:ext uri="{FF2B5EF4-FFF2-40B4-BE49-F238E27FC236}">
                <a16:creationId xmlns:a16="http://schemas.microsoft.com/office/drawing/2014/main" id="{F8404CBC-FB22-42B7-FC1D-5F04EBF656CC}"/>
              </a:ext>
            </a:extLst>
          </p:cNvPr>
          <p:cNvSpPr txBox="1"/>
          <p:nvPr/>
        </p:nvSpPr>
        <p:spPr>
          <a:xfrm>
            <a:off x="3948197" y="1594942"/>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07" name="文字方塊 106">
            <a:extLst>
              <a:ext uri="{FF2B5EF4-FFF2-40B4-BE49-F238E27FC236}">
                <a16:creationId xmlns:a16="http://schemas.microsoft.com/office/drawing/2014/main" id="{3C11C7D8-386A-92BD-9B02-1EB1DA57660F}"/>
              </a:ext>
            </a:extLst>
          </p:cNvPr>
          <p:cNvSpPr txBox="1"/>
          <p:nvPr/>
        </p:nvSpPr>
        <p:spPr>
          <a:xfrm>
            <a:off x="3412038" y="1548996"/>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22" name="矩形 121">
            <a:extLst>
              <a:ext uri="{FF2B5EF4-FFF2-40B4-BE49-F238E27FC236}">
                <a16:creationId xmlns:a16="http://schemas.microsoft.com/office/drawing/2014/main" id="{D8D9A589-D7BD-E59E-46E1-F9EE87A70466}"/>
              </a:ext>
            </a:extLst>
          </p:cNvPr>
          <p:cNvSpPr/>
          <p:nvPr/>
        </p:nvSpPr>
        <p:spPr>
          <a:xfrm>
            <a:off x="6621175" y="4581128"/>
            <a:ext cx="1271891" cy="322650"/>
          </a:xfrm>
          <a:prstGeom prst="rect">
            <a:avLst/>
          </a:prstGeom>
          <a:solidFill>
            <a:schemeClr val="accent1">
              <a:lumMod val="20000"/>
              <a:lumOff val="80000"/>
              <a:alpha val="20000"/>
            </a:schemeClr>
          </a:solidFill>
          <a:ln w="28575">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FFN1(x)*k1</a:t>
            </a:r>
          </a:p>
        </p:txBody>
      </p:sp>
      <p:sp>
        <p:nvSpPr>
          <p:cNvPr id="123" name="矩形 122">
            <a:extLst>
              <a:ext uri="{FF2B5EF4-FFF2-40B4-BE49-F238E27FC236}">
                <a16:creationId xmlns:a16="http://schemas.microsoft.com/office/drawing/2014/main" id="{9EA4E8C7-AE21-6B7F-9744-DB5030A39301}"/>
              </a:ext>
            </a:extLst>
          </p:cNvPr>
          <p:cNvSpPr/>
          <p:nvPr/>
        </p:nvSpPr>
        <p:spPr>
          <a:xfrm>
            <a:off x="7975833" y="4581128"/>
            <a:ext cx="744897" cy="322650"/>
          </a:xfrm>
          <a:prstGeom prst="rect">
            <a:avLst/>
          </a:prstGeom>
          <a:solidFill>
            <a:schemeClr val="accent1">
              <a:lumMod val="20000"/>
              <a:lumOff val="80000"/>
              <a:alpha val="20000"/>
            </a:schemeClr>
          </a:solidFill>
          <a:ln w="28575">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FFN2(x)*k2</a:t>
            </a:r>
          </a:p>
        </p:txBody>
      </p:sp>
      <p:sp>
        <p:nvSpPr>
          <p:cNvPr id="126" name="標題 1">
            <a:extLst>
              <a:ext uri="{FF2B5EF4-FFF2-40B4-BE49-F238E27FC236}">
                <a16:creationId xmlns:a16="http://schemas.microsoft.com/office/drawing/2014/main" id="{8053E3DC-D7CF-1F33-067D-7B79C1E2C44E}"/>
              </a:ext>
            </a:extLst>
          </p:cNvPr>
          <p:cNvSpPr txBox="1">
            <a:spLocks/>
          </p:cNvSpPr>
          <p:nvPr/>
        </p:nvSpPr>
        <p:spPr>
          <a:xfrm>
            <a:off x="828147" y="5055019"/>
            <a:ext cx="647509" cy="369332"/>
          </a:xfrm>
          <a:prstGeom prst="rect">
            <a:avLst/>
          </a:prstGeom>
        </p:spPr>
        <p:txBody>
          <a:bodyPr wrap="square" lIns="91440" tIns="0" rIns="0" bIns="0">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Predict</a:t>
            </a:r>
            <a:r>
              <a:rPr lang="zh-TW" altLang="en-US"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Next</a:t>
            </a:r>
          </a:p>
        </p:txBody>
      </p:sp>
      <p:sp>
        <p:nvSpPr>
          <p:cNvPr id="18" name="矩形 17">
            <a:extLst>
              <a:ext uri="{FF2B5EF4-FFF2-40B4-BE49-F238E27FC236}">
                <a16:creationId xmlns:a16="http://schemas.microsoft.com/office/drawing/2014/main" id="{4FBC2DEF-1F94-22F9-5C1B-819E669197B3}"/>
              </a:ext>
            </a:extLst>
          </p:cNvPr>
          <p:cNvSpPr/>
          <p:nvPr/>
        </p:nvSpPr>
        <p:spPr>
          <a:xfrm rot="16200000">
            <a:off x="2270964" y="4412880"/>
            <a:ext cx="113222" cy="374768"/>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38" name="文字方塊 37">
            <a:extLst>
              <a:ext uri="{FF2B5EF4-FFF2-40B4-BE49-F238E27FC236}">
                <a16:creationId xmlns:a16="http://schemas.microsoft.com/office/drawing/2014/main" id="{B31B93FF-E34A-6029-C1FD-88A4C54C0C65}"/>
              </a:ext>
            </a:extLst>
          </p:cNvPr>
          <p:cNvSpPr txBox="1"/>
          <p:nvPr/>
        </p:nvSpPr>
        <p:spPr>
          <a:xfrm>
            <a:off x="1887071" y="5359452"/>
            <a:ext cx="236657" cy="278693"/>
          </a:xfrm>
          <a:prstGeom prst="rect">
            <a:avLst/>
          </a:prstGeom>
          <a:noFill/>
        </p:spPr>
        <p:txBody>
          <a:bodyPr wrap="none" lIns="0" tIns="0" rIns="0" bIns="0" rtlCol="0" anchor="ctr" anchorCtr="1">
            <a:noAutofit/>
          </a:bodyPr>
          <a:lstStyle/>
          <a:p>
            <a:pPr algn="ctr"/>
            <a:r>
              <a:rPr lang="en-US" altLang="zh-TW" sz="1400" dirty="0"/>
              <a:t>M</a:t>
            </a:r>
            <a:endParaRPr lang="zh-TW" altLang="en-US" sz="1400" dirty="0"/>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02466" y="6010628"/>
            <a:ext cx="93132" cy="99349"/>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41" name="右中括弧 40">
            <a:extLst>
              <a:ext uri="{FF2B5EF4-FFF2-40B4-BE49-F238E27FC236}">
                <a16:creationId xmlns:a16="http://schemas.microsoft.com/office/drawing/2014/main" id="{EB94D0DA-B01F-F4EF-6BE3-539B135BC76E}"/>
              </a:ext>
            </a:extLst>
          </p:cNvPr>
          <p:cNvSpPr/>
          <p:nvPr/>
        </p:nvSpPr>
        <p:spPr>
          <a:xfrm rot="5400000">
            <a:off x="2299756" y="5818047"/>
            <a:ext cx="54607" cy="37373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405568978"/>
              </p:ext>
            </p:extLst>
          </p:nvPr>
        </p:nvGraphicFramePr>
        <p:xfrm>
          <a:off x="6485453" y="1124744"/>
          <a:ext cx="2437328" cy="1072326"/>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stCxn id="10" idx="3"/>
            <a:endCxn id="122" idx="1"/>
          </p:cNvCxnSpPr>
          <p:nvPr/>
        </p:nvCxnSpPr>
        <p:spPr>
          <a:xfrm>
            <a:off x="5974803" y="3623992"/>
            <a:ext cx="646372" cy="1118461"/>
          </a:xfrm>
          <a:prstGeom prst="bentConnector3">
            <a:avLst/>
          </a:prstGeom>
          <a:ln w="28575">
            <a:solidFill>
              <a:schemeClr val="accent1">
                <a:lumMod val="60000"/>
                <a:lumOff val="40000"/>
              </a:schemeClr>
            </a:solidFill>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256090"/>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334799"/>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4838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238090"/>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239688"/>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Enhance the difference and feature</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346963"/>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776110"/>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483721"/>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1959714"/>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1959714"/>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718948"/>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718948"/>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519608"/>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519608"/>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2924944"/>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2924944"/>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712969"/>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712969"/>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71916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719165"/>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06050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060505"/>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093296"/>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093296"/>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63656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636569"/>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517232"/>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517232"/>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689337"/>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137774"/>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137774"/>
                <a:ext cx="214997" cy="196235"/>
              </a:xfrm>
              <a:prstGeom prst="rect">
                <a:avLst/>
              </a:prstGeom>
              <a:blipFill>
                <a:blip r:embed="rId14"/>
                <a:stretch>
                  <a:fillRect l="-31429" r="-11429" b="-46875"/>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4881433"/>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3801996"/>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291907"/>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341362"/>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341362"/>
                <a:ext cx="648072" cy="201657"/>
              </a:xfrm>
              <a:prstGeom prst="roundRect">
                <a:avLst/>
              </a:prstGeom>
              <a:blipFill>
                <a:blip r:embed="rId20"/>
                <a:stretch>
                  <a:fillRect l="-3704" b="-8571"/>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1236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834070"/>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873432"/>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293263"/>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442191"/>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269129"/>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269129"/>
                <a:ext cx="1227970" cy="369332"/>
              </a:xfrm>
              <a:prstGeom prst="rect">
                <a:avLst/>
              </a:prstGeom>
              <a:blipFill>
                <a:blip r:embed="rId21"/>
                <a:stretch>
                  <a:fillRect l="-4478" t="-8197" r="-3483" b="-24590"/>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056004"/>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222268"/>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08885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30131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30928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30496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30496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38500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44889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30488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189876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46561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27224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24098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3281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30488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94484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81822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628918"/>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17860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178606"/>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068960"/>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068960"/>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230372"/>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230372"/>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368610"/>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368610"/>
                <a:ext cx="4076197" cy="1148622"/>
              </a:xfrm>
              <a:prstGeom prst="rect">
                <a:avLst/>
              </a:prstGeom>
              <a:blipFill>
                <a:blip r:embed="rId7"/>
                <a:stretch>
                  <a:fillRect l="-2242"/>
                </a:stretch>
              </a:blipFill>
            </p:spPr>
            <p:txBody>
              <a:bodyPr/>
              <a:lstStyle/>
              <a:p>
                <a:r>
                  <a:rPr lang="zh-TW" altLang="en-US">
                    <a:noFill/>
                  </a:rPr>
                  <a:t> </a:t>
                </a:r>
              </a:p>
            </p:txBody>
          </p:sp>
        </mc:Fallback>
      </mc:AlternateContent>
      <p:sp>
        <p:nvSpPr>
          <p:cNvPr id="6" name="文字方塊 5">
            <a:extLst>
              <a:ext uri="{FF2B5EF4-FFF2-40B4-BE49-F238E27FC236}">
                <a16:creationId xmlns:a16="http://schemas.microsoft.com/office/drawing/2014/main" id="{74A6BFFF-3C96-54A3-05EC-1724E7A25791}"/>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solidFill>
                  <a:srgbClr val="FF0000"/>
                </a:solidFill>
              </a:rPr>
              <a:t> Rotary of PE</a:t>
            </a:r>
          </a:p>
          <a:p>
            <a:pPr>
              <a:lnSpc>
                <a:spcPts val="1200"/>
              </a:lnSpc>
              <a:buFont typeface="Wingdings" panose="05000000000000000000" pitchFamily="2" charset="2"/>
              <a:buChar char="Ø"/>
            </a:pPr>
            <a:r>
              <a:rPr lang="en-US" altLang="zh-TW" sz="1000" b="1" dirty="0">
                <a:solidFill>
                  <a:srgbClr val="FF0000"/>
                </a:solidFill>
              </a:rPr>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t> MCP</a:t>
            </a:r>
          </a:p>
          <a:p>
            <a:pPr marL="111125" lvl="2">
              <a:lnSpc>
                <a:spcPts val="1200"/>
              </a:lnSpc>
              <a:buFont typeface="Arial" panose="020B0604020202020204" pitchFamily="34" charset="0"/>
              <a:buChar char="•"/>
              <a:defRPr/>
            </a:pPr>
            <a:r>
              <a:rPr lang="en-US" altLang="zh-TW" sz="1000" dirty="0"/>
              <a:t> RAG</a:t>
            </a:r>
          </a:p>
          <a:p>
            <a:pPr marL="111125" lvl="2">
              <a:lnSpc>
                <a:spcPts val="1200"/>
              </a:lnSpc>
              <a:buFont typeface="Arial" panose="020B0604020202020204" pitchFamily="34" charset="0"/>
              <a:buChar char="•"/>
              <a:defRPr/>
            </a:pPr>
            <a:r>
              <a:rPr lang="en-US" altLang="zh-TW" sz="1000" dirty="0"/>
              <a:t> LLM</a:t>
            </a:r>
          </a:p>
          <a:p>
            <a:pPr marL="111125" lvl="2">
              <a:lnSpc>
                <a:spcPts val="1200"/>
              </a:lnSpc>
              <a:buFont typeface="Arial" panose="020B0604020202020204" pitchFamily="34" charset="0"/>
              <a:buChar char="•"/>
              <a:defRPr/>
            </a:pPr>
            <a:r>
              <a:rPr lang="en-US" altLang="zh-TW" sz="1000" dirty="0"/>
              <a:t> Trend Analysis </a:t>
            </a: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t> Supervised FT</a:t>
            </a:r>
          </a:p>
          <a:p>
            <a:pPr marL="111125" lvl="2">
              <a:lnSpc>
                <a:spcPts val="1200"/>
              </a:lnSpc>
              <a:buFont typeface="Arial" panose="020B0604020202020204" pitchFamily="34" charset="0"/>
              <a:buChar char="•"/>
              <a:defRPr/>
            </a:pPr>
            <a:r>
              <a:rPr lang="en-US" altLang="zh-TW" sz="1000" dirty="0"/>
              <a:t> LoRA</a:t>
            </a: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t> Practices</a:t>
            </a:r>
          </a:p>
        </p:txBody>
      </p:sp>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653136"/>
            <a:ext cx="5076564" cy="1862048"/>
          </a:xfrm>
          <a:prstGeom prst="rect">
            <a:avLst/>
          </a:prstGeom>
          <a:noFill/>
        </p:spPr>
        <p:txBody>
          <a:bodyPr wrap="square">
            <a:spAutoFit/>
          </a:bodyPr>
          <a:lstStyle/>
          <a:p>
            <a:pPr>
              <a:lnSpc>
                <a:spcPts val="1800"/>
              </a:lnSpc>
              <a:spcBef>
                <a:spcPts val="600"/>
              </a:spcBef>
              <a:spcAft>
                <a:spcPts val="600"/>
              </a:spcAft>
            </a:pPr>
            <a:r>
              <a:rPr lang="en-US" altLang="zh-TW" sz="2000" b="1" dirty="0"/>
              <a:t>Summary</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a:t>
            </a:r>
            <a:r>
              <a:rPr lang="en-US" altLang="zh-TW" sz="1600" u="none" strike="noStrike" dirty="0">
                <a:effectLst/>
              </a:rPr>
              <a:t>: How GPT generate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75656" y="980728"/>
            <a:ext cx="3046918" cy="3600400"/>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sp>
        <p:nvSpPr>
          <p:cNvPr id="70" name="文字方塊 69">
            <a:extLst>
              <a:ext uri="{FF2B5EF4-FFF2-40B4-BE49-F238E27FC236}">
                <a16:creationId xmlns:a16="http://schemas.microsoft.com/office/drawing/2014/main" id="{A4C9DA8A-05B6-BDA8-3C38-486B531A7C71}"/>
              </a:ext>
            </a:extLst>
          </p:cNvPr>
          <p:cNvSpPr txBox="1"/>
          <p:nvPr/>
        </p:nvSpPr>
        <p:spPr>
          <a:xfrm>
            <a:off x="7802582" y="2204863"/>
            <a:ext cx="1161905" cy="455241"/>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Cross </a:t>
            </a:r>
            <a:r>
              <a:rPr lang="en-US" altLang="zh-TW" sz="1100" b="1" dirty="0">
                <a:latin typeface="Gadugi" panose="020B0502040204020203" pitchFamily="34" charset="0"/>
                <a:ea typeface="Gadugi" panose="020B0502040204020203" pitchFamily="34" charset="0"/>
                <a:cs typeface="ADLaM Display" panose="02010000000000000000" pitchFamily="2" charset="0"/>
              </a:rPr>
              <a:t>Entropy</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Loss </a:t>
            </a:r>
          </a:p>
        </p:txBody>
      </p:sp>
      <p:cxnSp>
        <p:nvCxnSpPr>
          <p:cNvPr id="73" name="接點: 肘形 72">
            <a:extLst>
              <a:ext uri="{FF2B5EF4-FFF2-40B4-BE49-F238E27FC236}">
                <a16:creationId xmlns:a16="http://schemas.microsoft.com/office/drawing/2014/main" id="{216E02E9-A3CE-76E5-497E-3DD85BBC6AB6}"/>
              </a:ext>
            </a:extLst>
          </p:cNvPr>
          <p:cNvCxnSpPr>
            <a:cxnSpLocks/>
            <a:stCxn id="83" idx="2"/>
            <a:endCxn id="109" idx="3"/>
          </p:cNvCxnSpPr>
          <p:nvPr/>
        </p:nvCxnSpPr>
        <p:spPr>
          <a:xfrm rot="5400000">
            <a:off x="7882805" y="3085241"/>
            <a:ext cx="372997" cy="628466"/>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70" idx="0"/>
          </p:cNvCxnSpPr>
          <p:nvPr/>
        </p:nvCxnSpPr>
        <p:spPr>
          <a:xfrm>
            <a:off x="7517892" y="1599888"/>
            <a:ext cx="865643" cy="604975"/>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83" name="文字方塊 82">
            <a:extLst>
              <a:ext uri="{FF2B5EF4-FFF2-40B4-BE49-F238E27FC236}">
                <a16:creationId xmlns:a16="http://schemas.microsoft.com/office/drawing/2014/main" id="{6832CADE-A012-7F64-DDAB-6EF23DC2DFCB}"/>
              </a:ext>
            </a:extLst>
          </p:cNvPr>
          <p:cNvSpPr txBox="1"/>
          <p:nvPr/>
        </p:nvSpPr>
        <p:spPr>
          <a:xfrm>
            <a:off x="7802583" y="2945574"/>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85" name="直線單箭頭接點 84">
            <a:extLst>
              <a:ext uri="{FF2B5EF4-FFF2-40B4-BE49-F238E27FC236}">
                <a16:creationId xmlns:a16="http://schemas.microsoft.com/office/drawing/2014/main" id="{9DC51F15-272D-4DF3-7D78-2712B4CA881C}"/>
              </a:ext>
            </a:extLst>
          </p:cNvPr>
          <p:cNvCxnSpPr>
            <a:cxnSpLocks/>
            <a:stCxn id="70" idx="2"/>
            <a:endCxn id="83" idx="0"/>
          </p:cNvCxnSpPr>
          <p:nvPr/>
        </p:nvCxnSpPr>
        <p:spPr>
          <a:xfrm>
            <a:off x="8383535" y="2660104"/>
            <a:ext cx="1" cy="285470"/>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56178" y="2126094"/>
            <a:ext cx="1598892" cy="2919757"/>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1021469756"/>
              </p:ext>
            </p:extLst>
          </p:nvPr>
        </p:nvGraphicFramePr>
        <p:xfrm>
          <a:off x="5211278" y="3156845"/>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Datasets</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6" name="箭號: 向下 115">
            <a:extLst>
              <a:ext uri="{FF2B5EF4-FFF2-40B4-BE49-F238E27FC236}">
                <a16:creationId xmlns:a16="http://schemas.microsoft.com/office/drawing/2014/main" id="{3946F719-9781-7D5F-52EF-BD9B0585F8BF}"/>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5" name="文字方塊 24">
            <a:extLst>
              <a:ext uri="{FF2B5EF4-FFF2-40B4-BE49-F238E27FC236}">
                <a16:creationId xmlns:a16="http://schemas.microsoft.com/office/drawing/2014/main" id="{E45D9F8B-5CF3-DF5C-D9CE-8D49778244B2}"/>
              </a:ext>
            </a:extLst>
          </p:cNvPr>
          <p:cNvSpPr txBox="1"/>
          <p:nvPr/>
        </p:nvSpPr>
        <p:spPr>
          <a:xfrm>
            <a:off x="1640434" y="4852274"/>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27" name="文字方塊 26">
            <a:extLst>
              <a:ext uri="{FF2B5EF4-FFF2-40B4-BE49-F238E27FC236}">
                <a16:creationId xmlns:a16="http://schemas.microsoft.com/office/drawing/2014/main" id="{F974FD60-6231-E81A-9C9D-9CB28E0E90F2}"/>
              </a:ext>
            </a:extLst>
          </p:cNvPr>
          <p:cNvSpPr txBox="1"/>
          <p:nvPr/>
        </p:nvSpPr>
        <p:spPr>
          <a:xfrm>
            <a:off x="2826837" y="4834365"/>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2578740577"/>
              </p:ext>
            </p:extLst>
          </p:nvPr>
        </p:nvGraphicFramePr>
        <p:xfrm>
          <a:off x="416712" y="3826343"/>
          <a:ext cx="885943" cy="178721"/>
        </p:xfrm>
        <a:graphic>
          <a:graphicData uri="http://schemas.openxmlformats.org/drawingml/2006/table">
            <a:tbl>
              <a:tblPr firstRow="1" bandRow="1">
                <a:tableStyleId>{5C22544A-7EE6-4342-B048-85BDC9FD1C3A}</a:tableStyleId>
              </a:tblPr>
              <a:tblGrid>
                <a:gridCol w="298956">
                  <a:extLst>
                    <a:ext uri="{9D8B030D-6E8A-4147-A177-3AD203B41FA5}">
                      <a16:colId xmlns:a16="http://schemas.microsoft.com/office/drawing/2014/main" val="871242339"/>
                    </a:ext>
                  </a:extLst>
                </a:gridCol>
                <a:gridCol w="298956">
                  <a:extLst>
                    <a:ext uri="{9D8B030D-6E8A-4147-A177-3AD203B41FA5}">
                      <a16:colId xmlns:a16="http://schemas.microsoft.com/office/drawing/2014/main" val="506512337"/>
                    </a:ext>
                  </a:extLst>
                </a:gridCol>
                <a:gridCol w="288031">
                  <a:extLst>
                    <a:ext uri="{9D8B030D-6E8A-4147-A177-3AD203B41FA5}">
                      <a16:colId xmlns:a16="http://schemas.microsoft.com/office/drawing/2014/main" val="2345701098"/>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69" name="表格 68">
            <a:extLst>
              <a:ext uri="{FF2B5EF4-FFF2-40B4-BE49-F238E27FC236}">
                <a16:creationId xmlns:a16="http://schemas.microsoft.com/office/drawing/2014/main" id="{8B4418A1-E4AD-8FEF-A77F-899A236E61C8}"/>
              </a:ext>
            </a:extLst>
          </p:cNvPr>
          <p:cNvGraphicFramePr>
            <a:graphicFrameLocks noGrp="1"/>
          </p:cNvGraphicFramePr>
          <p:nvPr>
            <p:extLst>
              <p:ext uri="{D42A27DB-BD31-4B8C-83A1-F6EECF244321}">
                <p14:modId xmlns:p14="http://schemas.microsoft.com/office/powerpoint/2010/main" val="3425890023"/>
              </p:ext>
            </p:extLst>
          </p:nvPr>
        </p:nvGraphicFramePr>
        <p:xfrm>
          <a:off x="7612304" y="6030383"/>
          <a:ext cx="913998" cy="357442"/>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506512337"/>
                    </a:ext>
                  </a:extLst>
                </a:gridCol>
              </a:tblGrid>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32970587"/>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1791666294"/>
              </p:ext>
            </p:extLst>
          </p:nvPr>
        </p:nvGraphicFramePr>
        <p:xfrm>
          <a:off x="2375165" y="2998184"/>
          <a:ext cx="913998" cy="578606"/>
        </p:xfrm>
        <a:graphic>
          <a:graphicData uri="http://schemas.openxmlformats.org/drawingml/2006/table">
            <a:tbl>
              <a:tblPr firstRow="1" bandRow="1">
                <a:tableStyleId>{5C22544A-7EE6-4342-B048-85BDC9FD1C3A}</a:tableStyleId>
              </a:tblPr>
              <a:tblGrid>
                <a:gridCol w="913998">
                  <a:extLst>
                    <a:ext uri="{9D8B030D-6E8A-4147-A177-3AD203B41FA5}">
                      <a16:colId xmlns:a16="http://schemas.microsoft.com/office/drawing/2014/main" val="871242339"/>
                    </a:ext>
                  </a:extLst>
                </a:gridCol>
              </a:tblGrid>
              <a:tr h="35880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51783597"/>
                  </a:ext>
                </a:extLst>
              </a:tr>
              <a:tr h="21979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1894422345"/>
              </p:ext>
            </p:extLst>
          </p:nvPr>
        </p:nvGraphicFramePr>
        <p:xfrm>
          <a:off x="254087" y="3031657"/>
          <a:ext cx="913998" cy="561180"/>
        </p:xfrm>
        <a:graphic>
          <a:graphicData uri="http://schemas.openxmlformats.org/drawingml/2006/table">
            <a:tbl>
              <a:tblPr firstRow="1" bandRow="1">
                <a:tableStyleId>{5C22544A-7EE6-4342-B048-85BDC9FD1C3A}</a:tableStyleId>
              </a:tblPr>
              <a:tblGrid>
                <a:gridCol w="913998">
                  <a:extLst>
                    <a:ext uri="{9D8B030D-6E8A-4147-A177-3AD203B41FA5}">
                      <a16:colId xmlns:a16="http://schemas.microsoft.com/office/drawing/2014/main" val="871242339"/>
                    </a:ext>
                  </a:extLst>
                </a:gridCol>
              </a:tblGrid>
              <a:tr h="31907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Datasets</a:t>
                      </a:r>
                    </a:p>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51783597"/>
                  </a:ext>
                </a:extLst>
              </a:tr>
              <a:tr h="2421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graphicFrame>
        <p:nvGraphicFramePr>
          <p:cNvPr id="78" name="表格 77">
            <a:extLst>
              <a:ext uri="{FF2B5EF4-FFF2-40B4-BE49-F238E27FC236}">
                <a16:creationId xmlns:a16="http://schemas.microsoft.com/office/drawing/2014/main" id="{431D3681-6CC0-68D6-C1CE-47821BF79287}"/>
              </a:ext>
            </a:extLst>
          </p:cNvPr>
          <p:cNvGraphicFramePr>
            <a:graphicFrameLocks noGrp="1"/>
          </p:cNvGraphicFramePr>
          <p:nvPr>
            <p:extLst>
              <p:ext uri="{D42A27DB-BD31-4B8C-83A1-F6EECF244321}">
                <p14:modId xmlns:p14="http://schemas.microsoft.com/office/powerpoint/2010/main" val="2546202523"/>
              </p:ext>
            </p:extLst>
          </p:nvPr>
        </p:nvGraphicFramePr>
        <p:xfrm>
          <a:off x="3472886" y="2991318"/>
          <a:ext cx="913998" cy="601519"/>
        </p:xfrm>
        <a:graphic>
          <a:graphicData uri="http://schemas.openxmlformats.org/drawingml/2006/table">
            <a:tbl>
              <a:tblPr firstRow="1" bandRow="1">
                <a:tableStyleId>{5C22544A-7EE6-4342-B048-85BDC9FD1C3A}</a:tableStyleId>
              </a:tblPr>
              <a:tblGrid>
                <a:gridCol w="913998">
                  <a:extLst>
                    <a:ext uri="{9D8B030D-6E8A-4147-A177-3AD203B41FA5}">
                      <a16:colId xmlns:a16="http://schemas.microsoft.com/office/drawing/2014/main" val="871242339"/>
                    </a:ext>
                  </a:extLst>
                </a:gridCol>
              </a:tblGrid>
              <a:tr h="37918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51783597"/>
                  </a:ext>
                </a:extLst>
              </a:tr>
              <a:tr h="22233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80" name="表格 79">
            <a:extLst>
              <a:ext uri="{FF2B5EF4-FFF2-40B4-BE49-F238E27FC236}">
                <a16:creationId xmlns:a16="http://schemas.microsoft.com/office/drawing/2014/main" id="{9E2FB7ED-B4B7-A7E2-E97F-C4D507852C7E}"/>
              </a:ext>
            </a:extLst>
          </p:cNvPr>
          <p:cNvGraphicFramePr>
            <a:graphicFrameLocks noGrp="1"/>
          </p:cNvGraphicFramePr>
          <p:nvPr>
            <p:extLst>
              <p:ext uri="{D42A27DB-BD31-4B8C-83A1-F6EECF244321}">
                <p14:modId xmlns:p14="http://schemas.microsoft.com/office/powerpoint/2010/main" val="511925622"/>
              </p:ext>
            </p:extLst>
          </p:nvPr>
        </p:nvGraphicFramePr>
        <p:xfrm>
          <a:off x="1388930" y="3977978"/>
          <a:ext cx="1178620" cy="536163"/>
        </p:xfrm>
        <a:graphic>
          <a:graphicData uri="http://schemas.openxmlformats.org/drawingml/2006/table">
            <a:tbl>
              <a:tblPr firstRow="1" bandRow="1">
                <a:tableStyleId>{5C22544A-7EE6-4342-B048-85BDC9FD1C3A}</a:tableStyleId>
              </a:tblPr>
              <a:tblGrid>
                <a:gridCol w="294655">
                  <a:extLst>
                    <a:ext uri="{9D8B030D-6E8A-4147-A177-3AD203B41FA5}">
                      <a16:colId xmlns:a16="http://schemas.microsoft.com/office/drawing/2014/main" val="2022031271"/>
                    </a:ext>
                  </a:extLst>
                </a:gridCol>
                <a:gridCol w="294655">
                  <a:extLst>
                    <a:ext uri="{9D8B030D-6E8A-4147-A177-3AD203B41FA5}">
                      <a16:colId xmlns:a16="http://schemas.microsoft.com/office/drawing/2014/main" val="871242339"/>
                    </a:ext>
                  </a:extLst>
                </a:gridCol>
                <a:gridCol w="294655">
                  <a:extLst>
                    <a:ext uri="{9D8B030D-6E8A-4147-A177-3AD203B41FA5}">
                      <a16:colId xmlns:a16="http://schemas.microsoft.com/office/drawing/2014/main" val="1424301285"/>
                    </a:ext>
                  </a:extLst>
                </a:gridCol>
                <a:gridCol w="294655">
                  <a:extLst>
                    <a:ext uri="{9D8B030D-6E8A-4147-A177-3AD203B41FA5}">
                      <a16:colId xmlns:a16="http://schemas.microsoft.com/office/drawing/2014/main" val="506512337"/>
                    </a:ext>
                  </a:extLst>
                </a:gridCol>
              </a:tblGrid>
              <a:tr h="178721">
                <a:tc>
                  <a:txBody>
                    <a:bodyPr/>
                    <a:lstStyle/>
                    <a:p>
                      <a:pPr algn="ct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Weight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64407666"/>
                  </a:ext>
                </a:extLst>
              </a:tr>
              <a:tr h="178721">
                <a:tc rowSpan="2">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82" name="表格 81">
            <a:extLst>
              <a:ext uri="{FF2B5EF4-FFF2-40B4-BE49-F238E27FC236}">
                <a16:creationId xmlns:a16="http://schemas.microsoft.com/office/drawing/2014/main" id="{3F79D677-1F93-CD36-61A7-C807DCB30AF2}"/>
              </a:ext>
            </a:extLst>
          </p:cNvPr>
          <p:cNvGraphicFramePr>
            <a:graphicFrameLocks noGrp="1"/>
          </p:cNvGraphicFramePr>
          <p:nvPr>
            <p:extLst>
              <p:ext uri="{D42A27DB-BD31-4B8C-83A1-F6EECF244321}">
                <p14:modId xmlns:p14="http://schemas.microsoft.com/office/powerpoint/2010/main" val="3939908695"/>
              </p:ext>
            </p:extLst>
          </p:nvPr>
        </p:nvGraphicFramePr>
        <p:xfrm>
          <a:off x="1515904" y="2432483"/>
          <a:ext cx="913998" cy="357442"/>
        </p:xfrm>
        <a:graphic>
          <a:graphicData uri="http://schemas.openxmlformats.org/drawingml/2006/table">
            <a:tbl>
              <a:tblPr firstRow="1" bandRow="1">
                <a:tableStyleId>{5C22544A-7EE6-4342-B048-85BDC9FD1C3A}</a:tableStyleId>
              </a:tblPr>
              <a:tblGrid>
                <a:gridCol w="913998">
                  <a:extLst>
                    <a:ext uri="{9D8B030D-6E8A-4147-A177-3AD203B41FA5}">
                      <a16:colId xmlns:a16="http://schemas.microsoft.com/office/drawing/2014/main" val="871242339"/>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Datasets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51783597"/>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2942059240"/>
              </p:ext>
            </p:extLst>
          </p:nvPr>
        </p:nvGraphicFramePr>
        <p:xfrm>
          <a:off x="1307929" y="2991319"/>
          <a:ext cx="913998" cy="605957"/>
        </p:xfrm>
        <a:graphic>
          <a:graphicData uri="http://schemas.openxmlformats.org/drawingml/2006/table">
            <a:tbl>
              <a:tblPr firstRow="1" bandRow="1">
                <a:tableStyleId>{5C22544A-7EE6-4342-B048-85BDC9FD1C3A}</a:tableStyleId>
              </a:tblPr>
              <a:tblGrid>
                <a:gridCol w="913998">
                  <a:extLst>
                    <a:ext uri="{9D8B030D-6E8A-4147-A177-3AD203B41FA5}">
                      <a16:colId xmlns:a16="http://schemas.microsoft.com/office/drawing/2014/main" val="871242339"/>
                    </a:ext>
                  </a:extLst>
                </a:gridCol>
              </a:tblGrid>
              <a:tr h="36567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51783597"/>
                  </a:ext>
                </a:extLst>
              </a:tr>
              <a:tr h="24028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88" name="直線單箭頭接點 87">
            <a:extLst>
              <a:ext uri="{FF2B5EF4-FFF2-40B4-BE49-F238E27FC236}">
                <a16:creationId xmlns:a16="http://schemas.microsoft.com/office/drawing/2014/main" id="{6BDF0458-C776-8DC1-913A-E28B683E8843}"/>
              </a:ext>
            </a:extLst>
          </p:cNvPr>
          <p:cNvCxnSpPr>
            <a:cxnSpLocks/>
          </p:cNvCxnSpPr>
          <p:nvPr/>
        </p:nvCxnSpPr>
        <p:spPr>
          <a:xfrm flipV="1">
            <a:off x="306556" y="4834365"/>
            <a:ext cx="809060" cy="2508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p:sp>
        <p:nvSpPr>
          <p:cNvPr id="7" name="標題 1">
            <a:extLst>
              <a:ext uri="{FF2B5EF4-FFF2-40B4-BE49-F238E27FC236}">
                <a16:creationId xmlns:a16="http://schemas.microsoft.com/office/drawing/2014/main" id="{ACF18A52-8D6D-846D-45B8-1A03D18B2B5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Basic Model</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5" name="文字方塊 4">
            <a:extLst>
              <a:ext uri="{FF2B5EF4-FFF2-40B4-BE49-F238E27FC236}">
                <a16:creationId xmlns:a16="http://schemas.microsoft.com/office/drawing/2014/main" id="{71AEB47B-29BC-2902-23BF-A4AE3E97C795}"/>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solidFill>
                  <a:schemeClr val="bg1">
                    <a:lumMod val="65000"/>
                  </a:schemeClr>
                </a:solidFill>
                <a:effectLst/>
              </a:rPr>
              <a:t> Overview</a:t>
            </a:r>
            <a:endParaRPr lang="en-US" altLang="zh-TW" sz="1000" u="none" strike="noStrike" dirty="0">
              <a:solidFill>
                <a:schemeClr val="bg1">
                  <a:lumMod val="65000"/>
                </a:schemeClr>
              </a:solidFill>
              <a:effectLst/>
            </a:endParaRPr>
          </a:p>
          <a:p>
            <a:pPr marL="111125" lvl="3">
              <a:lnSpc>
                <a:spcPts val="1200"/>
              </a:lnSpc>
              <a:buFont typeface="Arial" panose="020B0604020202020204" pitchFamily="34" charset="0"/>
              <a:buChar char="•"/>
            </a:pPr>
            <a:r>
              <a:rPr lang="zh-TW" altLang="en-US" sz="1000" dirty="0">
                <a:solidFill>
                  <a:schemeClr val="bg1">
                    <a:lumMod val="65000"/>
                  </a:schemeClr>
                </a:solidFill>
              </a:rPr>
              <a:t> </a:t>
            </a:r>
            <a:r>
              <a:rPr lang="en-US" altLang="zh-TW" sz="1000" dirty="0">
                <a:solidFill>
                  <a:schemeClr val="bg1">
                    <a:lumMod val="65000"/>
                  </a:schemeClr>
                </a:solidFill>
              </a:rPr>
              <a:t>ML</a:t>
            </a:r>
          </a:p>
          <a:p>
            <a:pPr marL="111125" lvl="2">
              <a:lnSpc>
                <a:spcPts val="1200"/>
              </a:lnSpc>
              <a:buFont typeface="Arial" panose="020B0604020202020204" pitchFamily="34" charset="0"/>
              <a:buChar char="•"/>
            </a:pPr>
            <a:r>
              <a:rPr lang="en-US" altLang="zh-TW" sz="1000" dirty="0">
                <a:solidFill>
                  <a:schemeClr val="bg1">
                    <a:lumMod val="65000"/>
                  </a:schemeClr>
                </a:solidFill>
              </a:rPr>
              <a:t>Training Stages</a:t>
            </a:r>
            <a:endParaRPr lang="en-US" altLang="zh-TW" sz="1000" u="none" strike="noStrike" dirty="0">
              <a:solidFill>
                <a:schemeClr val="bg1">
                  <a:lumMod val="65000"/>
                </a:schemeClr>
              </a:solidFill>
              <a:effectLst/>
            </a:endParaRPr>
          </a:p>
          <a:p>
            <a:pPr>
              <a:lnSpc>
                <a:spcPts val="1200"/>
              </a:lnSpc>
              <a:buFont typeface="Wingdings" panose="05000000000000000000" pitchFamily="2" charset="2"/>
              <a:buChar char="Ø"/>
            </a:pPr>
            <a:r>
              <a:rPr lang="en-US" altLang="zh-TW" sz="1000" b="1" dirty="0">
                <a:solidFill>
                  <a:schemeClr val="bg1">
                    <a:lumMod val="65000"/>
                  </a:schemeClr>
                </a:solidFill>
              </a:rPr>
              <a:t> Transformer</a:t>
            </a:r>
            <a:endParaRPr lang="en-US" altLang="zh-TW" sz="1000" dirty="0">
              <a:solidFill>
                <a:schemeClr val="bg1">
                  <a:lumMod val="65000"/>
                </a:schemeClr>
              </a:solidFill>
            </a:endParaRPr>
          </a:p>
          <a:p>
            <a:pPr marL="111125" lvl="2">
              <a:lnSpc>
                <a:spcPts val="1200"/>
              </a:lnSpc>
              <a:buFont typeface="Arial" panose="020B0604020202020204" pitchFamily="34" charset="0"/>
              <a:buChar char="•"/>
            </a:pPr>
            <a:r>
              <a:rPr lang="en-US" altLang="zh-TW" sz="1000" dirty="0">
                <a:solidFill>
                  <a:schemeClr val="bg1">
                    <a:lumMod val="65000"/>
                  </a:schemeClr>
                </a:solidFill>
              </a:rPr>
              <a:t> Program Flow</a:t>
            </a:r>
          </a:p>
          <a:p>
            <a:pPr marL="111125" lvl="2">
              <a:lnSpc>
                <a:spcPts val="1200"/>
              </a:lnSpc>
              <a:buFont typeface="Arial" panose="020B0604020202020204" pitchFamily="34" charset="0"/>
              <a:buChar char="•"/>
            </a:pPr>
            <a:r>
              <a:rPr lang="en-US" altLang="zh-TW" sz="1000" dirty="0">
                <a:solidFill>
                  <a:schemeClr val="bg1">
                    <a:lumMod val="65000"/>
                  </a:schemeClr>
                </a:solidFill>
              </a:rPr>
              <a:t> Self-Attention</a:t>
            </a:r>
          </a:p>
          <a:p>
            <a:pPr marL="111125" lvl="2">
              <a:lnSpc>
                <a:spcPts val="1200"/>
              </a:lnSpc>
              <a:buFont typeface="Arial" panose="020B0604020202020204" pitchFamily="34" charset="0"/>
              <a:buChar char="•"/>
            </a:pPr>
            <a:r>
              <a:rPr lang="en-US" altLang="zh-TW" sz="1000" dirty="0">
                <a:solidFill>
                  <a:schemeClr val="bg1">
                    <a:lumMod val="65000"/>
                  </a:schemeClr>
                </a:solidFill>
              </a:rPr>
              <a:t> FFNN</a:t>
            </a:r>
          </a:p>
          <a:p>
            <a:pPr marL="111125" lvl="2">
              <a:lnSpc>
                <a:spcPts val="1200"/>
              </a:lnSpc>
              <a:buFont typeface="Arial" panose="020B0604020202020204" pitchFamily="34" charset="0"/>
              <a:buChar char="•"/>
            </a:pPr>
            <a:r>
              <a:rPr lang="en-US" altLang="zh-TW" sz="1000" dirty="0">
                <a:solidFill>
                  <a:schemeClr val="bg1">
                    <a:lumMod val="65000"/>
                  </a:schemeClr>
                </a:solidFill>
              </a:rPr>
              <a:t> Token Embedding</a:t>
            </a:r>
          </a:p>
          <a:p>
            <a:pPr marL="111125" lvl="2">
              <a:lnSpc>
                <a:spcPts val="1200"/>
              </a:lnSpc>
              <a:buFont typeface="Arial" panose="020B0604020202020204" pitchFamily="34" charset="0"/>
              <a:buChar char="•"/>
            </a:pPr>
            <a:r>
              <a:rPr lang="en-US" altLang="zh-TW" sz="1000" dirty="0">
                <a:solidFill>
                  <a:schemeClr val="bg1">
                    <a:lumMod val="65000"/>
                  </a:schemeClr>
                </a:solidFill>
              </a:rPr>
              <a:t> Rotary of PE</a:t>
            </a:r>
          </a:p>
          <a:p>
            <a:pPr>
              <a:lnSpc>
                <a:spcPts val="1200"/>
              </a:lnSpc>
              <a:buFont typeface="Wingdings" panose="05000000000000000000" pitchFamily="2" charset="2"/>
              <a:buChar char="Ø"/>
            </a:pPr>
            <a:r>
              <a:rPr lang="en-US" altLang="zh-TW" sz="1000" b="1" dirty="0">
                <a:solidFill>
                  <a:schemeClr val="bg1">
                    <a:lumMod val="65000"/>
                  </a:schemeClr>
                </a:solidFill>
              </a:rPr>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schemeClr val="bg1">
                    <a:lumMod val="65000"/>
                  </a:schemeClr>
                </a:solidFill>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srgbClr val="FF0000"/>
                </a:solidFill>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schemeClr val="bg1">
                    <a:lumMod val="65000"/>
                  </a:schemeClr>
                </a:solidFill>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schemeClr val="bg1">
                    <a:lumMod val="65000"/>
                  </a:schemeClr>
                </a:solidFill>
              </a:rPr>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schemeClr val="bg1">
                    <a:lumMod val="65000"/>
                  </a:schemeClr>
                </a:solidFill>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solidFill>
                  <a:schemeClr val="bg1">
                    <a:lumMod val="65000"/>
                  </a:schemeClr>
                </a:solidFill>
              </a:rPr>
              <a:t> AI Runtime</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MCP</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RAG</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LLM</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Trend Analysis </a:t>
            </a:r>
          </a:p>
          <a:p>
            <a:pPr>
              <a:lnSpc>
                <a:spcPts val="1200"/>
              </a:lnSpc>
              <a:buFont typeface="Wingdings" panose="05000000000000000000" pitchFamily="2" charset="2"/>
              <a:buChar char="Ø"/>
            </a:pPr>
            <a:r>
              <a:rPr lang="en-US" altLang="zh-TW" sz="1000" b="1" dirty="0">
                <a:solidFill>
                  <a:schemeClr val="bg1">
                    <a:lumMod val="65000"/>
                  </a:schemeClr>
                </a:solidFill>
              </a:rPr>
              <a:t> Gemma 3</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Supervised FT</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LoRA</a:t>
            </a:r>
          </a:p>
          <a:p>
            <a:pPr>
              <a:lnSpc>
                <a:spcPts val="1200"/>
              </a:lnSpc>
              <a:buFont typeface="Wingdings" panose="05000000000000000000" pitchFamily="2" charset="2"/>
              <a:buChar char="Ø"/>
            </a:pPr>
            <a:r>
              <a:rPr lang="en-US" altLang="zh-TW" sz="1000" b="1" dirty="0">
                <a:solidFill>
                  <a:schemeClr val="bg1">
                    <a:lumMod val="65000"/>
                  </a:schemeClr>
                </a:solidFill>
              </a:rPr>
              <a:t> Gemma 4</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PLE </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Comparison</a:t>
            </a:r>
          </a:p>
          <a:p>
            <a:pPr>
              <a:lnSpc>
                <a:spcPts val="1200"/>
              </a:lnSpc>
              <a:buFont typeface="Wingdings" panose="05000000000000000000" pitchFamily="2" charset="2"/>
              <a:buChar char="Ø"/>
            </a:pPr>
            <a:r>
              <a:rPr lang="en-US" altLang="zh-TW" sz="1000" b="1" dirty="0">
                <a:solidFill>
                  <a:schemeClr val="bg1">
                    <a:lumMod val="65000"/>
                  </a:schemeClr>
                </a:solidFill>
              </a:rPr>
              <a:t> Conclusion</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Frameworks </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Practices</a:t>
            </a:r>
          </a:p>
        </p:txBody>
      </p:sp>
      <p:sp>
        <p:nvSpPr>
          <p:cNvPr id="4" name="文字方塊 3">
            <a:extLst>
              <a:ext uri="{FF2B5EF4-FFF2-40B4-BE49-F238E27FC236}">
                <a16:creationId xmlns:a16="http://schemas.microsoft.com/office/drawing/2014/main" id="{9C65FC41-9B81-BD6F-59CA-85E2583593AD}"/>
              </a:ext>
            </a:extLst>
          </p:cNvPr>
          <p:cNvSpPr txBox="1"/>
          <p:nvPr/>
        </p:nvSpPr>
        <p:spPr>
          <a:xfrm>
            <a:off x="3542120" y="1359745"/>
            <a:ext cx="432047"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2"/>
                </a:solidFill>
              </a:rPr>
              <a:t>2</a:t>
            </a:r>
            <a:r>
              <a:rPr lang="en-US" altLang="zh-TW" sz="1400" b="1" u="none" strike="noStrike" dirty="0">
                <a:solidFill>
                  <a:schemeClr val="accent2"/>
                </a:solidFill>
                <a:effectLst/>
              </a:rPr>
              <a:t> x 3</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10" name="表格 9">
            <a:extLst>
              <a:ext uri="{FF2B5EF4-FFF2-40B4-BE49-F238E27FC236}">
                <a16:creationId xmlns:a16="http://schemas.microsoft.com/office/drawing/2014/main" id="{AA56501A-A6C8-8032-3005-81BC6EE1173B}"/>
              </a:ext>
            </a:extLst>
          </p:cNvPr>
          <p:cNvGraphicFramePr>
            <a:graphicFrameLocks noGrp="1"/>
          </p:cNvGraphicFramePr>
          <p:nvPr>
            <p:extLst>
              <p:ext uri="{D42A27DB-BD31-4B8C-83A1-F6EECF244321}">
                <p14:modId xmlns:p14="http://schemas.microsoft.com/office/powerpoint/2010/main" val="280726626"/>
              </p:ext>
            </p:extLst>
          </p:nvPr>
        </p:nvGraphicFramePr>
        <p:xfrm>
          <a:off x="1906337" y="3097180"/>
          <a:ext cx="1178620" cy="536163"/>
        </p:xfrm>
        <a:graphic>
          <a:graphicData uri="http://schemas.openxmlformats.org/drawingml/2006/table">
            <a:tbl>
              <a:tblPr firstRow="1" bandRow="1">
                <a:tableStyleId>{5C22544A-7EE6-4342-B048-85BDC9FD1C3A}</a:tableStyleId>
              </a:tblPr>
              <a:tblGrid>
                <a:gridCol w="294655">
                  <a:extLst>
                    <a:ext uri="{9D8B030D-6E8A-4147-A177-3AD203B41FA5}">
                      <a16:colId xmlns:a16="http://schemas.microsoft.com/office/drawing/2014/main" val="2022031271"/>
                    </a:ext>
                  </a:extLst>
                </a:gridCol>
                <a:gridCol w="294655">
                  <a:extLst>
                    <a:ext uri="{9D8B030D-6E8A-4147-A177-3AD203B41FA5}">
                      <a16:colId xmlns:a16="http://schemas.microsoft.com/office/drawing/2014/main" val="871242339"/>
                    </a:ext>
                  </a:extLst>
                </a:gridCol>
                <a:gridCol w="294655">
                  <a:extLst>
                    <a:ext uri="{9D8B030D-6E8A-4147-A177-3AD203B41FA5}">
                      <a16:colId xmlns:a16="http://schemas.microsoft.com/office/drawing/2014/main" val="1424301285"/>
                    </a:ext>
                  </a:extLst>
                </a:gridCol>
                <a:gridCol w="294655">
                  <a:extLst>
                    <a:ext uri="{9D8B030D-6E8A-4147-A177-3AD203B41FA5}">
                      <a16:colId xmlns:a16="http://schemas.microsoft.com/office/drawing/2014/main" val="506512337"/>
                    </a:ext>
                  </a:extLst>
                </a:gridCol>
              </a:tblGrid>
              <a:tr h="178721">
                <a:tc>
                  <a:txBody>
                    <a:bodyPr/>
                    <a:lstStyle/>
                    <a:p>
                      <a:pPr algn="ct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Weight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64407666"/>
                  </a:ext>
                </a:extLst>
              </a:tr>
              <a:tr h="178721">
                <a:tc rowSpan="2">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4" name="文字方塊 13">
            <a:extLst>
              <a:ext uri="{FF2B5EF4-FFF2-40B4-BE49-F238E27FC236}">
                <a16:creationId xmlns:a16="http://schemas.microsoft.com/office/drawing/2014/main" id="{51308E05-3476-EB93-F12C-891ECFA2D15D}"/>
              </a:ext>
            </a:extLst>
          </p:cNvPr>
          <p:cNvSpPr txBox="1"/>
          <p:nvPr/>
        </p:nvSpPr>
        <p:spPr>
          <a:xfrm>
            <a:off x="2927770" y="1142852"/>
            <a:ext cx="404995"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a:t>
            </a:r>
            <a:r>
              <a:rPr lang="en-US" altLang="zh-TW" sz="1400" b="1" dirty="0">
                <a:solidFill>
                  <a:schemeClr val="tx1">
                    <a:lumMod val="65000"/>
                    <a:lumOff val="35000"/>
                  </a:schemeClr>
                </a:solidFill>
              </a:rPr>
              <a:t>2</a:t>
            </a:r>
            <a:endParaRPr lang="en-US" altLang="zh-TW" sz="1400" b="1" u="none" strike="noStrike" dirty="0">
              <a:solidFill>
                <a:schemeClr val="tx1">
                  <a:lumMod val="65000"/>
                  <a:lumOff val="35000"/>
                </a:schemeClr>
              </a:solidFill>
              <a:effectLst/>
            </a:endParaRPr>
          </a:p>
        </p:txBody>
      </p:sp>
      <p:sp>
        <p:nvSpPr>
          <p:cNvPr id="16" name="文字方塊 15">
            <a:extLst>
              <a:ext uri="{FF2B5EF4-FFF2-40B4-BE49-F238E27FC236}">
                <a16:creationId xmlns:a16="http://schemas.microsoft.com/office/drawing/2014/main" id="{AC421B7C-6175-8506-5560-288071F66DF2}"/>
              </a:ext>
            </a:extLst>
          </p:cNvPr>
          <p:cNvSpPr txBox="1"/>
          <p:nvPr/>
        </p:nvSpPr>
        <p:spPr>
          <a:xfrm>
            <a:off x="4938264" y="1467266"/>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3</a:t>
            </a:r>
          </a:p>
          <a:p>
            <a:pPr algn="ctr">
              <a:lnSpc>
                <a:spcPts val="1400"/>
              </a:lnSpc>
              <a:buNone/>
            </a:pPr>
            <a:endParaRPr lang="en-US" altLang="zh-TW" sz="1200" dirty="0">
              <a:solidFill>
                <a:schemeClr val="tx1">
                  <a:lumMod val="65000"/>
                  <a:lumOff val="35000"/>
                </a:schemeClr>
              </a:solidFill>
            </a:endParaRPr>
          </a:p>
        </p:txBody>
      </p:sp>
      <p:graphicFrame>
        <p:nvGraphicFramePr>
          <p:cNvPr id="53" name="表格 52">
            <a:extLst>
              <a:ext uri="{FF2B5EF4-FFF2-40B4-BE49-F238E27FC236}">
                <a16:creationId xmlns:a16="http://schemas.microsoft.com/office/drawing/2014/main" id="{FC13E15A-3A66-27E6-353E-9B02430E4C18}"/>
              </a:ext>
            </a:extLst>
          </p:cNvPr>
          <p:cNvGraphicFramePr>
            <a:graphicFrameLocks noGrp="1"/>
          </p:cNvGraphicFramePr>
          <p:nvPr>
            <p:extLst>
              <p:ext uri="{D42A27DB-BD31-4B8C-83A1-F6EECF244321}">
                <p14:modId xmlns:p14="http://schemas.microsoft.com/office/powerpoint/2010/main" val="2484745457"/>
              </p:ext>
            </p:extLst>
          </p:nvPr>
        </p:nvGraphicFramePr>
        <p:xfrm>
          <a:off x="3347864" y="3823745"/>
          <a:ext cx="1681136" cy="1072326"/>
        </p:xfrm>
        <a:graphic>
          <a:graphicData uri="http://schemas.openxmlformats.org/drawingml/2006/table">
            <a:tbl>
              <a:tblPr firstRow="1" bandRow="1">
                <a:tableStyleId>{5C22544A-7EE6-4342-B048-85BDC9FD1C3A}</a:tableStyleId>
              </a:tblPr>
              <a:tblGrid>
                <a:gridCol w="356709">
                  <a:extLst>
                    <a:ext uri="{9D8B030D-6E8A-4147-A177-3AD203B41FA5}">
                      <a16:colId xmlns:a16="http://schemas.microsoft.com/office/drawing/2014/main" val="871242339"/>
                    </a:ext>
                  </a:extLst>
                </a:gridCol>
                <a:gridCol w="356709">
                  <a:extLst>
                    <a:ext uri="{9D8B030D-6E8A-4147-A177-3AD203B41FA5}">
                      <a16:colId xmlns:a16="http://schemas.microsoft.com/office/drawing/2014/main" val="1424301285"/>
                    </a:ext>
                  </a:extLst>
                </a:gridCol>
                <a:gridCol w="356709">
                  <a:extLst>
                    <a:ext uri="{9D8B030D-6E8A-4147-A177-3AD203B41FA5}">
                      <a16:colId xmlns:a16="http://schemas.microsoft.com/office/drawing/2014/main" val="506512337"/>
                    </a:ext>
                  </a:extLst>
                </a:gridCol>
                <a:gridCol w="611009">
                  <a:extLst>
                    <a:ext uri="{9D8B030D-6E8A-4147-A177-3AD203B41FA5}">
                      <a16:colId xmlns:a16="http://schemas.microsoft.com/office/drawing/2014/main" val="1954667885"/>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95%</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5%</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Apple</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178721">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99%</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Banana</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178721">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12%</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87%</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Lemon</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52820575"/>
                  </a:ext>
                </a:extLst>
              </a:tr>
            </a:tbl>
          </a:graphicData>
        </a:graphic>
      </p:graphicFrame>
      <p:graphicFrame>
        <p:nvGraphicFramePr>
          <p:cNvPr id="55" name="表格 54">
            <a:extLst>
              <a:ext uri="{FF2B5EF4-FFF2-40B4-BE49-F238E27FC236}">
                <a16:creationId xmlns:a16="http://schemas.microsoft.com/office/drawing/2014/main" id="{254A2785-DAD7-C76A-BF5E-41695A23F401}"/>
              </a:ext>
            </a:extLst>
          </p:cNvPr>
          <p:cNvGraphicFramePr>
            <a:graphicFrameLocks noGrp="1"/>
          </p:cNvGraphicFramePr>
          <p:nvPr>
            <p:extLst>
              <p:ext uri="{D42A27DB-BD31-4B8C-83A1-F6EECF244321}">
                <p14:modId xmlns:p14="http://schemas.microsoft.com/office/powerpoint/2010/main" val="3709942542"/>
              </p:ext>
            </p:extLst>
          </p:nvPr>
        </p:nvGraphicFramePr>
        <p:xfrm>
          <a:off x="1906337" y="3645024"/>
          <a:ext cx="1441870" cy="357442"/>
        </p:xfrm>
        <a:graphic>
          <a:graphicData uri="http://schemas.openxmlformats.org/drawingml/2006/table">
            <a:tbl>
              <a:tblPr firstRow="1" bandRow="1">
                <a:tableStyleId>{5C22544A-7EE6-4342-B048-85BDC9FD1C3A}</a:tableStyleId>
              </a:tblPr>
              <a:tblGrid>
                <a:gridCol w="288374">
                  <a:extLst>
                    <a:ext uri="{9D8B030D-6E8A-4147-A177-3AD203B41FA5}">
                      <a16:colId xmlns:a16="http://schemas.microsoft.com/office/drawing/2014/main" val="3706844950"/>
                    </a:ext>
                  </a:extLst>
                </a:gridCol>
                <a:gridCol w="288374">
                  <a:extLst>
                    <a:ext uri="{9D8B030D-6E8A-4147-A177-3AD203B41FA5}">
                      <a16:colId xmlns:a16="http://schemas.microsoft.com/office/drawing/2014/main" val="871242339"/>
                    </a:ext>
                  </a:extLst>
                </a:gridCol>
                <a:gridCol w="288374">
                  <a:extLst>
                    <a:ext uri="{9D8B030D-6E8A-4147-A177-3AD203B41FA5}">
                      <a16:colId xmlns:a16="http://schemas.microsoft.com/office/drawing/2014/main" val="1424301285"/>
                    </a:ext>
                  </a:extLst>
                </a:gridCol>
                <a:gridCol w="288374">
                  <a:extLst>
                    <a:ext uri="{9D8B030D-6E8A-4147-A177-3AD203B41FA5}">
                      <a16:colId xmlns:a16="http://schemas.microsoft.com/office/drawing/2014/main" val="506512337"/>
                    </a:ext>
                  </a:extLst>
                </a:gridCol>
                <a:gridCol w="288374">
                  <a:extLst>
                    <a:ext uri="{9D8B030D-6E8A-4147-A177-3AD203B41FA5}">
                      <a16:colId xmlns:a16="http://schemas.microsoft.com/office/drawing/2014/main" val="314882574"/>
                    </a:ext>
                  </a:extLst>
                </a:gridCol>
              </a:tblGrid>
              <a:tr h="178721">
                <a:tc gridSpan="5">
                  <a:txBody>
                    <a:bodyPr/>
                    <a:lstStyle/>
                    <a:p>
                      <a:pPr algn="ct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Bias</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778461881"/>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sp>
        <p:nvSpPr>
          <p:cNvPr id="57" name="文字方塊 56">
            <a:extLst>
              <a:ext uri="{FF2B5EF4-FFF2-40B4-BE49-F238E27FC236}">
                <a16:creationId xmlns:a16="http://schemas.microsoft.com/office/drawing/2014/main" id="{76F1893B-2857-5A3C-29CF-36CEF241DC81}"/>
              </a:ext>
            </a:extLst>
          </p:cNvPr>
          <p:cNvSpPr txBox="1"/>
          <p:nvPr/>
        </p:nvSpPr>
        <p:spPr>
          <a:xfrm>
            <a:off x="6006440" y="2970691"/>
            <a:ext cx="365760" cy="182880"/>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Apple</a:t>
            </a:r>
          </a:p>
        </p:txBody>
      </p:sp>
      <p:graphicFrame>
        <p:nvGraphicFramePr>
          <p:cNvPr id="59" name="表格 58">
            <a:extLst>
              <a:ext uri="{FF2B5EF4-FFF2-40B4-BE49-F238E27FC236}">
                <a16:creationId xmlns:a16="http://schemas.microsoft.com/office/drawing/2014/main" id="{61227BEB-56F9-85B0-DE92-B8FCB05B8097}"/>
              </a:ext>
            </a:extLst>
          </p:cNvPr>
          <p:cNvGraphicFramePr>
            <a:graphicFrameLocks noGrp="1"/>
          </p:cNvGraphicFramePr>
          <p:nvPr>
            <p:extLst>
              <p:ext uri="{D42A27DB-BD31-4B8C-83A1-F6EECF244321}">
                <p14:modId xmlns:p14="http://schemas.microsoft.com/office/powerpoint/2010/main" val="1354981999"/>
              </p:ext>
            </p:extLst>
          </p:nvPr>
        </p:nvGraphicFramePr>
        <p:xfrm>
          <a:off x="6347249" y="423087"/>
          <a:ext cx="91399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61" name="表格 60">
            <a:extLst>
              <a:ext uri="{FF2B5EF4-FFF2-40B4-BE49-F238E27FC236}">
                <a16:creationId xmlns:a16="http://schemas.microsoft.com/office/drawing/2014/main" id="{1D305162-75D6-F72B-6FE7-4F77A4C7812A}"/>
              </a:ext>
            </a:extLst>
          </p:cNvPr>
          <p:cNvGraphicFramePr>
            <a:graphicFrameLocks noGrp="1"/>
          </p:cNvGraphicFramePr>
          <p:nvPr>
            <p:extLst>
              <p:ext uri="{D42A27DB-BD31-4B8C-83A1-F6EECF244321}">
                <p14:modId xmlns:p14="http://schemas.microsoft.com/office/powerpoint/2010/main" val="1911513004"/>
              </p:ext>
            </p:extLst>
          </p:nvPr>
        </p:nvGraphicFramePr>
        <p:xfrm>
          <a:off x="6347249" y="783127"/>
          <a:ext cx="91399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3" name="表格 72">
            <a:extLst>
              <a:ext uri="{FF2B5EF4-FFF2-40B4-BE49-F238E27FC236}">
                <a16:creationId xmlns:a16="http://schemas.microsoft.com/office/drawing/2014/main" id="{7F4552BB-18CF-94F2-FFF5-D913C9EEB74B}"/>
              </a:ext>
            </a:extLst>
          </p:cNvPr>
          <p:cNvGraphicFramePr>
            <a:graphicFrameLocks noGrp="1"/>
          </p:cNvGraphicFramePr>
          <p:nvPr>
            <p:extLst>
              <p:ext uri="{D42A27DB-BD31-4B8C-83A1-F6EECF244321}">
                <p14:modId xmlns:p14="http://schemas.microsoft.com/office/powerpoint/2010/main" val="3209971385"/>
              </p:ext>
            </p:extLst>
          </p:nvPr>
        </p:nvGraphicFramePr>
        <p:xfrm>
          <a:off x="553411" y="2502493"/>
          <a:ext cx="885943" cy="178721"/>
        </p:xfrm>
        <a:graphic>
          <a:graphicData uri="http://schemas.openxmlformats.org/drawingml/2006/table">
            <a:tbl>
              <a:tblPr firstRow="1" bandRow="1">
                <a:tableStyleId>{5C22544A-7EE6-4342-B048-85BDC9FD1C3A}</a:tableStyleId>
              </a:tblPr>
              <a:tblGrid>
                <a:gridCol w="298956">
                  <a:extLst>
                    <a:ext uri="{9D8B030D-6E8A-4147-A177-3AD203B41FA5}">
                      <a16:colId xmlns:a16="http://schemas.microsoft.com/office/drawing/2014/main" val="871242339"/>
                    </a:ext>
                  </a:extLst>
                </a:gridCol>
                <a:gridCol w="298956">
                  <a:extLst>
                    <a:ext uri="{9D8B030D-6E8A-4147-A177-3AD203B41FA5}">
                      <a16:colId xmlns:a16="http://schemas.microsoft.com/office/drawing/2014/main" val="506512337"/>
                    </a:ext>
                  </a:extLst>
                </a:gridCol>
                <a:gridCol w="288031">
                  <a:extLst>
                    <a:ext uri="{9D8B030D-6E8A-4147-A177-3AD203B41FA5}">
                      <a16:colId xmlns:a16="http://schemas.microsoft.com/office/drawing/2014/main" val="2345701098"/>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sp>
        <p:nvSpPr>
          <p:cNvPr id="75" name="文字方塊 74">
            <a:extLst>
              <a:ext uri="{FF2B5EF4-FFF2-40B4-BE49-F238E27FC236}">
                <a16:creationId xmlns:a16="http://schemas.microsoft.com/office/drawing/2014/main" id="{82F42785-9099-5532-6B89-E0B8144F8E31}"/>
              </a:ext>
            </a:extLst>
          </p:cNvPr>
          <p:cNvSpPr txBox="1"/>
          <p:nvPr/>
        </p:nvSpPr>
        <p:spPr>
          <a:xfrm>
            <a:off x="1906337" y="890131"/>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Sweet</a:t>
            </a:r>
          </a:p>
          <a:p>
            <a:r>
              <a:rPr lang="en-US" altLang="zh-TW" sz="1200" dirty="0">
                <a:solidFill>
                  <a:prstClr val="black"/>
                </a:solidFill>
                <a:ea typeface="Cambria Math" panose="02040503050406030204" pitchFamily="18" charset="0"/>
              </a:rPr>
              <a:t>Sour</a:t>
            </a:r>
          </a:p>
        </p:txBody>
      </p:sp>
      <p:graphicFrame>
        <p:nvGraphicFramePr>
          <p:cNvPr id="77" name="表格 76">
            <a:extLst>
              <a:ext uri="{FF2B5EF4-FFF2-40B4-BE49-F238E27FC236}">
                <a16:creationId xmlns:a16="http://schemas.microsoft.com/office/drawing/2014/main" id="{8041F74E-582E-8910-25EB-DC4B1A715A21}"/>
              </a:ext>
            </a:extLst>
          </p:cNvPr>
          <p:cNvGraphicFramePr>
            <a:graphicFrameLocks noGrp="1"/>
          </p:cNvGraphicFramePr>
          <p:nvPr>
            <p:extLst>
              <p:ext uri="{D42A27DB-BD31-4B8C-83A1-F6EECF244321}">
                <p14:modId xmlns:p14="http://schemas.microsoft.com/office/powerpoint/2010/main" val="51360300"/>
              </p:ext>
            </p:extLst>
          </p:nvPr>
        </p:nvGraphicFramePr>
        <p:xfrm>
          <a:off x="5890250" y="1304653"/>
          <a:ext cx="91399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9" name="表格 78">
            <a:extLst>
              <a:ext uri="{FF2B5EF4-FFF2-40B4-BE49-F238E27FC236}">
                <a16:creationId xmlns:a16="http://schemas.microsoft.com/office/drawing/2014/main" id="{199615BD-D74D-EA4F-9D13-B0782688E3DF}"/>
              </a:ext>
            </a:extLst>
          </p:cNvPr>
          <p:cNvGraphicFramePr>
            <a:graphicFrameLocks noGrp="1"/>
          </p:cNvGraphicFramePr>
          <p:nvPr>
            <p:extLst>
              <p:ext uri="{D42A27DB-BD31-4B8C-83A1-F6EECF244321}">
                <p14:modId xmlns:p14="http://schemas.microsoft.com/office/powerpoint/2010/main" val="2899964217"/>
              </p:ext>
            </p:extLst>
          </p:nvPr>
        </p:nvGraphicFramePr>
        <p:xfrm>
          <a:off x="5295749" y="1040202"/>
          <a:ext cx="91399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87" name="表格 86">
            <a:extLst>
              <a:ext uri="{FF2B5EF4-FFF2-40B4-BE49-F238E27FC236}">
                <a16:creationId xmlns:a16="http://schemas.microsoft.com/office/drawing/2014/main" id="{E9E36340-5251-D6A8-00C8-3451FD036BE3}"/>
              </a:ext>
            </a:extLst>
          </p:cNvPr>
          <p:cNvGraphicFramePr>
            <a:graphicFrameLocks noGrp="1"/>
          </p:cNvGraphicFramePr>
          <p:nvPr>
            <p:extLst>
              <p:ext uri="{D42A27DB-BD31-4B8C-83A1-F6EECF244321}">
                <p14:modId xmlns:p14="http://schemas.microsoft.com/office/powerpoint/2010/main" val="2996207192"/>
              </p:ext>
            </p:extLst>
          </p:nvPr>
        </p:nvGraphicFramePr>
        <p:xfrm>
          <a:off x="6084168" y="1941386"/>
          <a:ext cx="913998" cy="893605"/>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60%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95%</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354457459"/>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95%</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621278001"/>
                  </a:ext>
                </a:extLst>
              </a:tr>
            </a:tbl>
          </a:graphicData>
        </a:graphic>
      </p:graphicFrame>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554265839"/>
              </p:ext>
            </p:extLst>
          </p:nvPr>
        </p:nvGraphicFramePr>
        <p:xfrm>
          <a:off x="1176357" y="3265552"/>
          <a:ext cx="1019379" cy="1072326"/>
        </p:xfrm>
        <a:graphic>
          <a:graphicData uri="http://schemas.openxmlformats.org/drawingml/2006/table">
            <a:tbl>
              <a:tblPr firstRow="1" bandRow="1">
                <a:tableStyleId>{5C22544A-7EE6-4342-B048-85BDC9FD1C3A}</a:tableStyleId>
              </a:tblPr>
              <a:tblGrid>
                <a:gridCol w="339793">
                  <a:extLst>
                    <a:ext uri="{9D8B030D-6E8A-4147-A177-3AD203B41FA5}">
                      <a16:colId xmlns:a16="http://schemas.microsoft.com/office/drawing/2014/main" val="871242339"/>
                    </a:ext>
                  </a:extLst>
                </a:gridCol>
                <a:gridCol w="319546">
                  <a:extLst>
                    <a:ext uri="{9D8B030D-6E8A-4147-A177-3AD203B41FA5}">
                      <a16:colId xmlns:a16="http://schemas.microsoft.com/office/drawing/2014/main" val="506512337"/>
                    </a:ext>
                  </a:extLst>
                </a:gridCol>
                <a:gridCol w="360040">
                  <a:extLst>
                    <a:ext uri="{9D8B030D-6E8A-4147-A177-3AD203B41FA5}">
                      <a16:colId xmlns:a16="http://schemas.microsoft.com/office/drawing/2014/main" val="3047107006"/>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bl>
          </a:graphicData>
        </a:graphic>
      </p:graphicFrame>
      <p:sp>
        <p:nvSpPr>
          <p:cNvPr id="93" name="文字方塊 92">
            <a:extLst>
              <a:ext uri="{FF2B5EF4-FFF2-40B4-BE49-F238E27FC236}">
                <a16:creationId xmlns:a16="http://schemas.microsoft.com/office/drawing/2014/main" id="{3758CA8C-2551-9706-4990-8731E4FB83A2}"/>
              </a:ext>
            </a:extLst>
          </p:cNvPr>
          <p:cNvSpPr txBox="1"/>
          <p:nvPr/>
        </p:nvSpPr>
        <p:spPr>
          <a:xfrm>
            <a:off x="6406388" y="3174112"/>
            <a:ext cx="365760" cy="182880"/>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Banana</a:t>
            </a:r>
          </a:p>
        </p:txBody>
      </p:sp>
      <p:sp>
        <p:nvSpPr>
          <p:cNvPr id="95" name="文字方塊 94">
            <a:extLst>
              <a:ext uri="{FF2B5EF4-FFF2-40B4-BE49-F238E27FC236}">
                <a16:creationId xmlns:a16="http://schemas.microsoft.com/office/drawing/2014/main" id="{422105BD-E26A-ED9B-28C8-2DF49E73FBFA}"/>
              </a:ext>
            </a:extLst>
          </p:cNvPr>
          <p:cNvSpPr txBox="1"/>
          <p:nvPr/>
        </p:nvSpPr>
        <p:spPr>
          <a:xfrm>
            <a:off x="6726520" y="2970691"/>
            <a:ext cx="365760" cy="182880"/>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Lemon</a:t>
            </a:r>
          </a:p>
        </p:txBody>
      </p:sp>
      <p:sp>
        <p:nvSpPr>
          <p:cNvPr id="97" name="文字方塊 96">
            <a:extLst>
              <a:ext uri="{FF2B5EF4-FFF2-40B4-BE49-F238E27FC236}">
                <a16:creationId xmlns:a16="http://schemas.microsoft.com/office/drawing/2014/main" id="{D66AEB5B-76AA-0C2A-C7C5-2A9385A7535F}"/>
              </a:ext>
            </a:extLst>
          </p:cNvPr>
          <p:cNvSpPr txBox="1"/>
          <p:nvPr/>
        </p:nvSpPr>
        <p:spPr>
          <a:xfrm>
            <a:off x="467544" y="1700808"/>
            <a:ext cx="365760" cy="182880"/>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Sweet</a:t>
            </a:r>
          </a:p>
        </p:txBody>
      </p:sp>
      <p:sp>
        <p:nvSpPr>
          <p:cNvPr id="99" name="文字方塊 98">
            <a:extLst>
              <a:ext uri="{FF2B5EF4-FFF2-40B4-BE49-F238E27FC236}">
                <a16:creationId xmlns:a16="http://schemas.microsoft.com/office/drawing/2014/main" id="{3CC8673E-7F3D-2520-EB7C-1BF6DA0DC1BF}"/>
              </a:ext>
            </a:extLst>
          </p:cNvPr>
          <p:cNvSpPr txBox="1"/>
          <p:nvPr/>
        </p:nvSpPr>
        <p:spPr>
          <a:xfrm>
            <a:off x="965880" y="1700808"/>
            <a:ext cx="365760" cy="182880"/>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Sour</a:t>
            </a:r>
          </a:p>
        </p:txBody>
      </p:sp>
      <p:graphicFrame>
        <p:nvGraphicFramePr>
          <p:cNvPr id="107" name="表格 106">
            <a:extLst>
              <a:ext uri="{FF2B5EF4-FFF2-40B4-BE49-F238E27FC236}">
                <a16:creationId xmlns:a16="http://schemas.microsoft.com/office/drawing/2014/main" id="{400F60B9-4805-117E-8F5C-C6A97F56410E}"/>
              </a:ext>
            </a:extLst>
          </p:cNvPr>
          <p:cNvGraphicFramePr>
            <a:graphicFrameLocks noGrp="1"/>
          </p:cNvGraphicFramePr>
          <p:nvPr>
            <p:extLst>
              <p:ext uri="{D42A27DB-BD31-4B8C-83A1-F6EECF244321}">
                <p14:modId xmlns:p14="http://schemas.microsoft.com/office/powerpoint/2010/main" val="2609177221"/>
              </p:ext>
            </p:extLst>
          </p:nvPr>
        </p:nvGraphicFramePr>
        <p:xfrm>
          <a:off x="5175050" y="5541308"/>
          <a:ext cx="1681137" cy="893605"/>
        </p:xfrm>
        <a:graphic>
          <a:graphicData uri="http://schemas.openxmlformats.org/drawingml/2006/table">
            <a:tbl>
              <a:tblPr firstRow="1" bandRow="1">
                <a:tableStyleId>{5C22544A-7EE6-4342-B048-85BDC9FD1C3A}</a:tableStyleId>
              </a:tblPr>
              <a:tblGrid>
                <a:gridCol w="313319">
                  <a:extLst>
                    <a:ext uri="{9D8B030D-6E8A-4147-A177-3AD203B41FA5}">
                      <a16:colId xmlns:a16="http://schemas.microsoft.com/office/drawing/2014/main" val="871242339"/>
                    </a:ext>
                  </a:extLst>
                </a:gridCol>
                <a:gridCol w="313319">
                  <a:extLst>
                    <a:ext uri="{9D8B030D-6E8A-4147-A177-3AD203B41FA5}">
                      <a16:colId xmlns:a16="http://schemas.microsoft.com/office/drawing/2014/main" val="1424301285"/>
                    </a:ext>
                  </a:extLst>
                </a:gridCol>
                <a:gridCol w="313319">
                  <a:extLst>
                    <a:ext uri="{9D8B030D-6E8A-4147-A177-3AD203B41FA5}">
                      <a16:colId xmlns:a16="http://schemas.microsoft.com/office/drawing/2014/main" val="506512337"/>
                    </a:ext>
                  </a:extLst>
                </a:gridCol>
                <a:gridCol w="741180">
                  <a:extLst>
                    <a:ext uri="{9D8B030D-6E8A-4147-A177-3AD203B41FA5}">
                      <a16:colId xmlns:a16="http://schemas.microsoft.com/office/drawing/2014/main" val="1954667885"/>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Apple</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Banana</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Lemon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bl>
          </a:graphicData>
        </a:graphic>
      </p:graphicFrame>
      <p:graphicFrame>
        <p:nvGraphicFramePr>
          <p:cNvPr id="109" name="表格 108">
            <a:extLst>
              <a:ext uri="{FF2B5EF4-FFF2-40B4-BE49-F238E27FC236}">
                <a16:creationId xmlns:a16="http://schemas.microsoft.com/office/drawing/2014/main" id="{39E7CF29-6D6A-E696-EA70-AF876161D9FD}"/>
              </a:ext>
            </a:extLst>
          </p:cNvPr>
          <p:cNvGraphicFramePr>
            <a:graphicFrameLocks noGrp="1"/>
          </p:cNvGraphicFramePr>
          <p:nvPr>
            <p:extLst>
              <p:ext uri="{D42A27DB-BD31-4B8C-83A1-F6EECF244321}">
                <p14:modId xmlns:p14="http://schemas.microsoft.com/office/powerpoint/2010/main" val="854786824"/>
              </p:ext>
            </p:extLst>
          </p:nvPr>
        </p:nvGraphicFramePr>
        <p:xfrm>
          <a:off x="1261492" y="5544554"/>
          <a:ext cx="1019379" cy="357442"/>
        </p:xfrm>
        <a:graphic>
          <a:graphicData uri="http://schemas.openxmlformats.org/drawingml/2006/table">
            <a:tbl>
              <a:tblPr firstRow="1" bandRow="1">
                <a:tableStyleId>{5C22544A-7EE6-4342-B048-85BDC9FD1C3A}</a:tableStyleId>
              </a:tblPr>
              <a:tblGrid>
                <a:gridCol w="339793">
                  <a:extLst>
                    <a:ext uri="{9D8B030D-6E8A-4147-A177-3AD203B41FA5}">
                      <a16:colId xmlns:a16="http://schemas.microsoft.com/office/drawing/2014/main" val="871242339"/>
                    </a:ext>
                  </a:extLst>
                </a:gridCol>
                <a:gridCol w="339793">
                  <a:extLst>
                    <a:ext uri="{9D8B030D-6E8A-4147-A177-3AD203B41FA5}">
                      <a16:colId xmlns:a16="http://schemas.microsoft.com/office/drawing/2014/main" val="1424301285"/>
                    </a:ext>
                  </a:extLst>
                </a:gridCol>
                <a:gridCol w="33979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11" name="文字方塊 110">
            <a:extLst>
              <a:ext uri="{FF2B5EF4-FFF2-40B4-BE49-F238E27FC236}">
                <a16:creationId xmlns:a16="http://schemas.microsoft.com/office/drawing/2014/main" id="{A808A3DC-9BFB-886F-1D04-841EA208706C}"/>
              </a:ext>
            </a:extLst>
          </p:cNvPr>
          <p:cNvSpPr txBox="1"/>
          <p:nvPr/>
        </p:nvSpPr>
        <p:spPr>
          <a:xfrm>
            <a:off x="2185904" y="5201908"/>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115" name="表格 114">
            <a:extLst>
              <a:ext uri="{FF2B5EF4-FFF2-40B4-BE49-F238E27FC236}">
                <a16:creationId xmlns:a16="http://schemas.microsoft.com/office/drawing/2014/main" id="{B1E00209-BE91-47EF-B03D-B722E91AC40E}"/>
              </a:ext>
            </a:extLst>
          </p:cNvPr>
          <p:cNvGraphicFramePr>
            <a:graphicFrameLocks noGrp="1"/>
          </p:cNvGraphicFramePr>
          <p:nvPr>
            <p:extLst>
              <p:ext uri="{D42A27DB-BD31-4B8C-83A1-F6EECF244321}">
                <p14:modId xmlns:p14="http://schemas.microsoft.com/office/powerpoint/2010/main" val="1111064934"/>
              </p:ext>
            </p:extLst>
          </p:nvPr>
        </p:nvGraphicFramePr>
        <p:xfrm>
          <a:off x="6996196" y="5294416"/>
          <a:ext cx="913998" cy="893605"/>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506512337"/>
                    </a:ext>
                  </a:extLst>
                </a:gridCol>
              </a:tblGrid>
              <a:tr h="178721">
                <a:tc>
                  <a:txBody>
                    <a:bodyPr/>
                    <a:lstStyle/>
                    <a:p>
                      <a:pPr algn="ct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354457459"/>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621278001"/>
                  </a:ext>
                </a:extLst>
              </a:tr>
            </a:tbl>
          </a:graphicData>
        </a:graphic>
      </p:graphicFrame>
      <p:graphicFrame>
        <p:nvGraphicFramePr>
          <p:cNvPr id="117" name="表格 116">
            <a:extLst>
              <a:ext uri="{FF2B5EF4-FFF2-40B4-BE49-F238E27FC236}">
                <a16:creationId xmlns:a16="http://schemas.microsoft.com/office/drawing/2014/main" id="{A3873C07-A7C2-E8B4-5649-7316114DCC47}"/>
              </a:ext>
            </a:extLst>
          </p:cNvPr>
          <p:cNvGraphicFramePr>
            <a:graphicFrameLocks noGrp="1"/>
          </p:cNvGraphicFramePr>
          <p:nvPr>
            <p:extLst>
              <p:ext uri="{D42A27DB-BD31-4B8C-83A1-F6EECF244321}">
                <p14:modId xmlns:p14="http://schemas.microsoft.com/office/powerpoint/2010/main" val="2329282276"/>
              </p:ext>
            </p:extLst>
          </p:nvPr>
        </p:nvGraphicFramePr>
        <p:xfrm>
          <a:off x="391108" y="5294417"/>
          <a:ext cx="609332" cy="893605"/>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54457459"/>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621278001"/>
                  </a:ext>
                </a:extLst>
              </a:tr>
            </a:tbl>
          </a:graphicData>
        </a:graphic>
      </p:graphicFrame>
      <p:sp>
        <p:nvSpPr>
          <p:cNvPr id="119" name="文字方塊 118">
            <a:extLst>
              <a:ext uri="{FF2B5EF4-FFF2-40B4-BE49-F238E27FC236}">
                <a16:creationId xmlns:a16="http://schemas.microsoft.com/office/drawing/2014/main" id="{7F4B621D-1CF6-D61F-BDFE-2C4979B7F40F}"/>
              </a:ext>
            </a:extLst>
          </p:cNvPr>
          <p:cNvSpPr txBox="1"/>
          <p:nvPr/>
        </p:nvSpPr>
        <p:spPr>
          <a:xfrm>
            <a:off x="261045" y="5035894"/>
            <a:ext cx="365760" cy="182880"/>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Sweet</a:t>
            </a:r>
          </a:p>
        </p:txBody>
      </p:sp>
      <p:sp>
        <p:nvSpPr>
          <p:cNvPr id="121" name="文字方塊 120">
            <a:extLst>
              <a:ext uri="{FF2B5EF4-FFF2-40B4-BE49-F238E27FC236}">
                <a16:creationId xmlns:a16="http://schemas.microsoft.com/office/drawing/2014/main" id="{DDB3C284-C1EC-17C3-FD24-378EADFCF15B}"/>
              </a:ext>
            </a:extLst>
          </p:cNvPr>
          <p:cNvSpPr txBox="1"/>
          <p:nvPr/>
        </p:nvSpPr>
        <p:spPr>
          <a:xfrm>
            <a:off x="759381" y="5035894"/>
            <a:ext cx="365760" cy="182880"/>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Sour</a:t>
            </a:r>
          </a:p>
        </p:txBody>
      </p:sp>
      <p:graphicFrame>
        <p:nvGraphicFramePr>
          <p:cNvPr id="123" name="表格 122">
            <a:extLst>
              <a:ext uri="{FF2B5EF4-FFF2-40B4-BE49-F238E27FC236}">
                <a16:creationId xmlns:a16="http://schemas.microsoft.com/office/drawing/2014/main" id="{F1F788C7-F3F8-7EEF-C2D6-D0E20F617D73}"/>
              </a:ext>
            </a:extLst>
          </p:cNvPr>
          <p:cNvGraphicFramePr>
            <a:graphicFrameLocks noGrp="1"/>
          </p:cNvGraphicFramePr>
          <p:nvPr>
            <p:extLst>
              <p:ext uri="{D42A27DB-BD31-4B8C-83A1-F6EECF244321}">
                <p14:modId xmlns:p14="http://schemas.microsoft.com/office/powerpoint/2010/main" val="2188268976"/>
              </p:ext>
            </p:extLst>
          </p:nvPr>
        </p:nvGraphicFramePr>
        <p:xfrm>
          <a:off x="2600892" y="6381827"/>
          <a:ext cx="1019379" cy="178721"/>
        </p:xfrm>
        <a:graphic>
          <a:graphicData uri="http://schemas.openxmlformats.org/drawingml/2006/table">
            <a:tbl>
              <a:tblPr firstRow="1" bandRow="1">
                <a:tableStyleId>{5C22544A-7EE6-4342-B048-85BDC9FD1C3A}</a:tableStyleId>
              </a:tblPr>
              <a:tblGrid>
                <a:gridCol w="339793">
                  <a:extLst>
                    <a:ext uri="{9D8B030D-6E8A-4147-A177-3AD203B41FA5}">
                      <a16:colId xmlns:a16="http://schemas.microsoft.com/office/drawing/2014/main" val="871242339"/>
                    </a:ext>
                  </a:extLst>
                </a:gridCol>
                <a:gridCol w="339793">
                  <a:extLst>
                    <a:ext uri="{9D8B030D-6E8A-4147-A177-3AD203B41FA5}">
                      <a16:colId xmlns:a16="http://schemas.microsoft.com/office/drawing/2014/main" val="1424301285"/>
                    </a:ext>
                  </a:extLst>
                </a:gridCol>
                <a:gridCol w="33979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25" name="表格 124">
            <a:extLst>
              <a:ext uri="{FF2B5EF4-FFF2-40B4-BE49-F238E27FC236}">
                <a16:creationId xmlns:a16="http://schemas.microsoft.com/office/drawing/2014/main" id="{5B49D83B-CF04-DE6D-6CD3-60D9E52E715E}"/>
              </a:ext>
            </a:extLst>
          </p:cNvPr>
          <p:cNvGraphicFramePr>
            <a:graphicFrameLocks noGrp="1"/>
          </p:cNvGraphicFramePr>
          <p:nvPr>
            <p:extLst>
              <p:ext uri="{D42A27DB-BD31-4B8C-83A1-F6EECF244321}">
                <p14:modId xmlns:p14="http://schemas.microsoft.com/office/powerpoint/2010/main" val="1572838647"/>
              </p:ext>
            </p:extLst>
          </p:nvPr>
        </p:nvGraphicFramePr>
        <p:xfrm>
          <a:off x="1640437" y="2232869"/>
          <a:ext cx="1178620" cy="536163"/>
        </p:xfrm>
        <a:graphic>
          <a:graphicData uri="http://schemas.openxmlformats.org/drawingml/2006/table">
            <a:tbl>
              <a:tblPr firstRow="1" bandRow="1">
                <a:tableStyleId>{5C22544A-7EE6-4342-B048-85BDC9FD1C3A}</a:tableStyleId>
              </a:tblPr>
              <a:tblGrid>
                <a:gridCol w="294655">
                  <a:extLst>
                    <a:ext uri="{9D8B030D-6E8A-4147-A177-3AD203B41FA5}">
                      <a16:colId xmlns:a16="http://schemas.microsoft.com/office/drawing/2014/main" val="2022031271"/>
                    </a:ext>
                  </a:extLst>
                </a:gridCol>
                <a:gridCol w="294655">
                  <a:extLst>
                    <a:ext uri="{9D8B030D-6E8A-4147-A177-3AD203B41FA5}">
                      <a16:colId xmlns:a16="http://schemas.microsoft.com/office/drawing/2014/main" val="871242339"/>
                    </a:ext>
                  </a:extLst>
                </a:gridCol>
                <a:gridCol w="294655">
                  <a:extLst>
                    <a:ext uri="{9D8B030D-6E8A-4147-A177-3AD203B41FA5}">
                      <a16:colId xmlns:a16="http://schemas.microsoft.com/office/drawing/2014/main" val="1424301285"/>
                    </a:ext>
                  </a:extLst>
                </a:gridCol>
                <a:gridCol w="294655">
                  <a:extLst>
                    <a:ext uri="{9D8B030D-6E8A-4147-A177-3AD203B41FA5}">
                      <a16:colId xmlns:a16="http://schemas.microsoft.com/office/drawing/2014/main" val="506512337"/>
                    </a:ext>
                  </a:extLst>
                </a:gridCol>
              </a:tblGrid>
              <a:tr h="178721">
                <a:tc>
                  <a:txBody>
                    <a:bodyPr/>
                    <a:lstStyle/>
                    <a:p>
                      <a:pPr algn="ct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Weight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64407666"/>
                  </a:ext>
                </a:extLst>
              </a:tr>
              <a:tr h="178721">
                <a:tc rowSpan="2">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27" name="表格 126">
            <a:extLst>
              <a:ext uri="{FF2B5EF4-FFF2-40B4-BE49-F238E27FC236}">
                <a16:creationId xmlns:a16="http://schemas.microsoft.com/office/drawing/2014/main" id="{DCE3D0DD-03F2-017C-4204-8322F9EB279F}"/>
              </a:ext>
            </a:extLst>
          </p:cNvPr>
          <p:cNvGraphicFramePr>
            <a:graphicFrameLocks noGrp="1"/>
          </p:cNvGraphicFramePr>
          <p:nvPr>
            <p:extLst>
              <p:ext uri="{D42A27DB-BD31-4B8C-83A1-F6EECF244321}">
                <p14:modId xmlns:p14="http://schemas.microsoft.com/office/powerpoint/2010/main" val="3674291921"/>
              </p:ext>
            </p:extLst>
          </p:nvPr>
        </p:nvGraphicFramePr>
        <p:xfrm>
          <a:off x="2802316" y="2323772"/>
          <a:ext cx="1441870" cy="357442"/>
        </p:xfrm>
        <a:graphic>
          <a:graphicData uri="http://schemas.openxmlformats.org/drawingml/2006/table">
            <a:tbl>
              <a:tblPr firstRow="1" bandRow="1">
                <a:tableStyleId>{5C22544A-7EE6-4342-B048-85BDC9FD1C3A}</a:tableStyleId>
              </a:tblPr>
              <a:tblGrid>
                <a:gridCol w="288374">
                  <a:extLst>
                    <a:ext uri="{9D8B030D-6E8A-4147-A177-3AD203B41FA5}">
                      <a16:colId xmlns:a16="http://schemas.microsoft.com/office/drawing/2014/main" val="3706844950"/>
                    </a:ext>
                  </a:extLst>
                </a:gridCol>
                <a:gridCol w="288374">
                  <a:extLst>
                    <a:ext uri="{9D8B030D-6E8A-4147-A177-3AD203B41FA5}">
                      <a16:colId xmlns:a16="http://schemas.microsoft.com/office/drawing/2014/main" val="871242339"/>
                    </a:ext>
                  </a:extLst>
                </a:gridCol>
                <a:gridCol w="288374">
                  <a:extLst>
                    <a:ext uri="{9D8B030D-6E8A-4147-A177-3AD203B41FA5}">
                      <a16:colId xmlns:a16="http://schemas.microsoft.com/office/drawing/2014/main" val="1424301285"/>
                    </a:ext>
                  </a:extLst>
                </a:gridCol>
                <a:gridCol w="288374">
                  <a:extLst>
                    <a:ext uri="{9D8B030D-6E8A-4147-A177-3AD203B41FA5}">
                      <a16:colId xmlns:a16="http://schemas.microsoft.com/office/drawing/2014/main" val="506512337"/>
                    </a:ext>
                  </a:extLst>
                </a:gridCol>
                <a:gridCol w="288374">
                  <a:extLst>
                    <a:ext uri="{9D8B030D-6E8A-4147-A177-3AD203B41FA5}">
                      <a16:colId xmlns:a16="http://schemas.microsoft.com/office/drawing/2014/main" val="314882574"/>
                    </a:ext>
                  </a:extLst>
                </a:gridCol>
              </a:tblGrid>
              <a:tr h="178721">
                <a:tc gridSpan="5">
                  <a:txBody>
                    <a:bodyPr/>
                    <a:lstStyle/>
                    <a:p>
                      <a:pPr algn="ct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Bias</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778461881"/>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470BD4-0B3A-8761-338B-16D3700FC10B}"/>
            </a:ext>
          </a:extLst>
        </p:cNvPr>
        <p:cNvGrpSpPr/>
        <p:nvPr/>
      </p:nvGrpSpPr>
      <p:grpSpPr>
        <a:xfrm>
          <a:off x="0" y="0"/>
          <a:ext cx="0" cy="0"/>
          <a:chOff x="0" y="0"/>
          <a:chExt cx="0" cy="0"/>
        </a:xfrm>
      </p:grpSpPr>
      <p:pic>
        <p:nvPicPr>
          <p:cNvPr id="5" name="圖片 4">
            <a:extLst>
              <a:ext uri="{FF2B5EF4-FFF2-40B4-BE49-F238E27FC236}">
                <a16:creationId xmlns:a16="http://schemas.microsoft.com/office/drawing/2014/main" id="{1642B539-21C3-8609-5E84-D3BEED265161}"/>
              </a:ext>
            </a:extLst>
          </p:cNvPr>
          <p:cNvPicPr>
            <a:picLocks noChangeAspect="1"/>
          </p:cNvPicPr>
          <p:nvPr/>
        </p:nvPicPr>
        <p:blipFill>
          <a:blip r:embed="rId3"/>
          <a:stretch>
            <a:fillRect/>
          </a:stretch>
        </p:blipFill>
        <p:spPr>
          <a:xfrm>
            <a:off x="35496" y="4568919"/>
            <a:ext cx="4073577" cy="1998935"/>
          </a:xfrm>
          <a:prstGeom prst="rect">
            <a:avLst/>
          </a:prstGeom>
        </p:spPr>
      </p:pic>
      <p:sp>
        <p:nvSpPr>
          <p:cNvPr id="126" name="圖說文字: 折線不加上框線 125">
            <a:extLst>
              <a:ext uri="{FF2B5EF4-FFF2-40B4-BE49-F238E27FC236}">
                <a16:creationId xmlns:a16="http://schemas.microsoft.com/office/drawing/2014/main" id="{D13CFBDC-5C17-F6FD-E8D3-5329669F765A}"/>
              </a:ext>
            </a:extLst>
          </p:cNvPr>
          <p:cNvSpPr/>
          <p:nvPr/>
        </p:nvSpPr>
        <p:spPr>
          <a:xfrm>
            <a:off x="5065362" y="3418263"/>
            <a:ext cx="1165863" cy="269574"/>
          </a:xfrm>
          <a:prstGeom prst="callout2">
            <a:avLst>
              <a:gd name="adj1" fmla="val 20017"/>
              <a:gd name="adj2" fmla="val 77457"/>
              <a:gd name="adj3" fmla="val -14766"/>
              <a:gd name="adj4" fmla="val 76990"/>
              <a:gd name="adj5" fmla="val -367959"/>
              <a:gd name="adj6" fmla="val 167511"/>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p:sp>
        <p:nvSpPr>
          <p:cNvPr id="62" name="圖說文字: 折線不加上框線 61">
            <a:extLst>
              <a:ext uri="{FF2B5EF4-FFF2-40B4-BE49-F238E27FC236}">
                <a16:creationId xmlns:a16="http://schemas.microsoft.com/office/drawing/2014/main" id="{969D7E42-CF6D-8DCB-4E53-30D18C5557C0}"/>
              </a:ext>
            </a:extLst>
          </p:cNvPr>
          <p:cNvSpPr/>
          <p:nvPr/>
        </p:nvSpPr>
        <p:spPr>
          <a:xfrm>
            <a:off x="6595788" y="3350865"/>
            <a:ext cx="1165863" cy="362592"/>
          </a:xfrm>
          <a:prstGeom prst="callout2">
            <a:avLst>
              <a:gd name="adj1" fmla="val 28866"/>
              <a:gd name="adj2" fmla="val 20850"/>
              <a:gd name="adj3" fmla="val -5918"/>
              <a:gd name="adj4" fmla="val 20383"/>
              <a:gd name="adj5" fmla="val -247089"/>
              <a:gd name="adj6" fmla="val 68619"/>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mc:AlternateContent xmlns:mc="http://schemas.openxmlformats.org/markup-compatibility/2006" xmlns:a14="http://schemas.microsoft.com/office/drawing/2010/main">
        <mc:Choice Requires="a14">
          <p:sp>
            <p:nvSpPr>
              <p:cNvPr id="88" name="文字方塊 87">
                <a:extLst>
                  <a:ext uri="{FF2B5EF4-FFF2-40B4-BE49-F238E27FC236}">
                    <a16:creationId xmlns:a16="http://schemas.microsoft.com/office/drawing/2014/main" id="{D71A8021-6DE4-3237-89F6-C9E232820F8F}"/>
                  </a:ext>
                </a:extLst>
              </p:cNvPr>
              <p:cNvSpPr txBox="1"/>
              <p:nvPr/>
            </p:nvSpPr>
            <p:spPr>
              <a:xfrm>
                <a:off x="5188313" y="2940158"/>
                <a:ext cx="1324882" cy="703846"/>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e>
                      </m:d>
                    </m:oMath>
                  </m:oMathPara>
                </a14:m>
                <a:br>
                  <a:rPr lang="en-US" altLang="zh-TW" sz="1400" b="0" dirty="0"/>
                </a:br>
                <a:endParaRPr lang="en-US" altLang="zh-TW" sz="1400" b="0" dirty="0"/>
              </a:p>
            </p:txBody>
          </p:sp>
        </mc:Choice>
        <mc:Fallback xmlns="">
          <p:sp>
            <p:nvSpPr>
              <p:cNvPr id="88" name="文字方塊 87">
                <a:extLst>
                  <a:ext uri="{FF2B5EF4-FFF2-40B4-BE49-F238E27FC236}">
                    <a16:creationId xmlns:a16="http://schemas.microsoft.com/office/drawing/2014/main" id="{D71A8021-6DE4-3237-89F6-C9E232820F8F}"/>
                  </a:ext>
                </a:extLst>
              </p:cNvPr>
              <p:cNvSpPr txBox="1">
                <a:spLocks noRot="1" noChangeAspect="1" noMove="1" noResize="1" noEditPoints="1" noAdjustHandles="1" noChangeArrowheads="1" noChangeShapeType="1" noTextEdit="1"/>
              </p:cNvSpPr>
              <p:nvPr/>
            </p:nvSpPr>
            <p:spPr>
              <a:xfrm>
                <a:off x="5188313" y="2940158"/>
                <a:ext cx="1324882" cy="703846"/>
              </a:xfrm>
              <a:prstGeom prst="rect">
                <a:avLst/>
              </a:prstGeom>
              <a:blipFill>
                <a:blip r:embed="rId4"/>
                <a:stretch>
                  <a:fillRect l="-2765" t="-1724" b="-2586"/>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3" name="文字方塊 82">
                <a:extLst>
                  <a:ext uri="{FF2B5EF4-FFF2-40B4-BE49-F238E27FC236}">
                    <a16:creationId xmlns:a16="http://schemas.microsoft.com/office/drawing/2014/main" id="{CD1B30EE-A555-AF3C-1ACF-C67A58852798}"/>
                  </a:ext>
                </a:extLst>
              </p:cNvPr>
              <p:cNvSpPr txBox="1"/>
              <p:nvPr/>
            </p:nvSpPr>
            <p:spPr>
              <a:xfrm>
                <a:off x="5598232" y="2229082"/>
                <a:ext cx="2376264" cy="50199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𝑤</m:t>
                      </m:r>
                      <m:r>
                        <a:rPr lang="en-US" altLang="zh-TW" sz="1400" b="0" i="1" smtClean="0">
                          <a:latin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smtClean="0">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den>
                      </m:f>
                    </m:oMath>
                  </m:oMathPara>
                </a14:m>
                <a:endParaRPr lang="zh-TW" altLang="en-US" sz="1400" dirty="0"/>
              </a:p>
            </p:txBody>
          </p:sp>
        </mc:Choice>
        <mc:Fallback xmlns="">
          <p:sp>
            <p:nvSpPr>
              <p:cNvPr id="83" name="文字方塊 82">
                <a:extLst>
                  <a:ext uri="{FF2B5EF4-FFF2-40B4-BE49-F238E27FC236}">
                    <a16:creationId xmlns:a16="http://schemas.microsoft.com/office/drawing/2014/main" id="{CD1B30EE-A555-AF3C-1ACF-C67A58852798}"/>
                  </a:ext>
                </a:extLst>
              </p:cNvPr>
              <p:cNvSpPr txBox="1">
                <a:spLocks noRot="1" noChangeAspect="1" noMove="1" noResize="1" noEditPoints="1" noAdjustHandles="1" noChangeArrowheads="1" noChangeShapeType="1" noTextEdit="1"/>
              </p:cNvSpPr>
              <p:nvPr/>
            </p:nvSpPr>
            <p:spPr>
              <a:xfrm>
                <a:off x="5598232" y="2229082"/>
                <a:ext cx="2376264" cy="501997"/>
              </a:xfrm>
              <a:prstGeom prst="rect">
                <a:avLst/>
              </a:prstGeom>
              <a:blipFill>
                <a:blip r:embed="rId5"/>
                <a:stretch>
                  <a:fillRect b="-24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0" name="文字方塊 89">
                <a:extLst>
                  <a:ext uri="{FF2B5EF4-FFF2-40B4-BE49-F238E27FC236}">
                    <a16:creationId xmlns:a16="http://schemas.microsoft.com/office/drawing/2014/main" id="{E05D3B94-FFF2-997C-CCEC-DAC320C7FC87}"/>
                  </a:ext>
                </a:extLst>
              </p:cNvPr>
              <p:cNvSpPr txBox="1"/>
              <p:nvPr/>
            </p:nvSpPr>
            <p:spPr>
              <a:xfrm>
                <a:off x="4663330" y="1945197"/>
                <a:ext cx="1684142" cy="30777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zh-TW" altLang="en-US" sz="1400" b="0" i="1" smtClean="0">
                          <a:latin typeface="Cambria Math" panose="02040503050406030204" pitchFamily="18" charset="0"/>
                          <a:ea typeface="Cambria Math" panose="02040503050406030204" pitchFamily="18" charset="0"/>
                        </a:rPr>
                        <m:t>𝜂</m:t>
                      </m:r>
                      <m:r>
                        <a:rPr lang="zh-TW" altLang="en-US" sz="1400" i="1" smtClean="0">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r>
                        <a:rPr lang="en-US" altLang="zh-TW" sz="1400" i="1">
                          <a:latin typeface="Cambria Math" panose="02040503050406030204" pitchFamily="18" charset="0"/>
                        </a:rPr>
                        <m:t>𝑤</m:t>
                      </m:r>
                      <m:r>
                        <a:rPr lang="en-US" altLang="zh-TW" sz="1400" i="1">
                          <a:latin typeface="Cambria Math" panose="02040503050406030204" pitchFamily="18" charset="0"/>
                        </a:rPr>
                        <m:t>)</m:t>
                      </m:r>
                    </m:oMath>
                  </m:oMathPara>
                </a14:m>
                <a:endParaRPr lang="en-US" altLang="zh-TW" sz="1400" b="0" i="1" dirty="0">
                  <a:latin typeface="Cambria Math" panose="02040503050406030204" pitchFamily="18" charset="0"/>
                </a:endParaRPr>
              </a:p>
            </p:txBody>
          </p:sp>
        </mc:Choice>
        <mc:Fallback xmlns="">
          <p:sp>
            <p:nvSpPr>
              <p:cNvPr id="90" name="文字方塊 89">
                <a:extLst>
                  <a:ext uri="{FF2B5EF4-FFF2-40B4-BE49-F238E27FC236}">
                    <a16:creationId xmlns:a16="http://schemas.microsoft.com/office/drawing/2014/main" id="{E05D3B94-FFF2-997C-CCEC-DAC320C7FC87}"/>
                  </a:ext>
                </a:extLst>
              </p:cNvPr>
              <p:cNvSpPr txBox="1">
                <a:spLocks noRot="1" noChangeAspect="1" noMove="1" noResize="1" noEditPoints="1" noAdjustHandles="1" noChangeArrowheads="1" noChangeShapeType="1" noTextEdit="1"/>
              </p:cNvSpPr>
              <p:nvPr/>
            </p:nvSpPr>
            <p:spPr>
              <a:xfrm>
                <a:off x="4663330" y="1945197"/>
                <a:ext cx="1684142" cy="307777"/>
              </a:xfrm>
              <a:prstGeom prst="rect">
                <a:avLst/>
              </a:prstGeom>
              <a:blipFill>
                <a:blip r:embed="rId6"/>
                <a:stretch>
                  <a:fillRect b="-7843"/>
                </a:stretch>
              </a:blipFill>
            </p:spPr>
            <p:txBody>
              <a:bodyPr/>
              <a:lstStyle/>
              <a:p>
                <a:r>
                  <a:rPr lang="zh-TW" altLang="en-US">
                    <a:noFill/>
                  </a:rPr>
                  <a:t> </a:t>
                </a:r>
              </a:p>
            </p:txBody>
          </p:sp>
        </mc:Fallback>
      </mc:AlternateContent>
      <p:grpSp>
        <p:nvGrpSpPr>
          <p:cNvPr id="2" name="群組 1">
            <a:extLst>
              <a:ext uri="{FF2B5EF4-FFF2-40B4-BE49-F238E27FC236}">
                <a16:creationId xmlns:a16="http://schemas.microsoft.com/office/drawing/2014/main" id="{7BBFCDFC-8455-654F-81FA-2F7934574061}"/>
              </a:ext>
            </a:extLst>
          </p:cNvPr>
          <p:cNvGrpSpPr/>
          <p:nvPr/>
        </p:nvGrpSpPr>
        <p:grpSpPr>
          <a:xfrm>
            <a:off x="2547506" y="2007114"/>
            <a:ext cx="1561567" cy="998560"/>
            <a:chOff x="1565170" y="985713"/>
            <a:chExt cx="1561567" cy="998560"/>
          </a:xfrm>
        </p:grpSpPr>
        <p:sp>
          <p:nvSpPr>
            <p:cNvPr id="91" name="流程圖: 接點 90">
              <a:extLst>
                <a:ext uri="{FF2B5EF4-FFF2-40B4-BE49-F238E27FC236}">
                  <a16:creationId xmlns:a16="http://schemas.microsoft.com/office/drawing/2014/main" id="{27A34108-C6B6-4CA3-37EF-0F781206AB19}"/>
                </a:ext>
              </a:extLst>
            </p:cNvPr>
            <p:cNvSpPr/>
            <p:nvPr/>
          </p:nvSpPr>
          <p:spPr>
            <a:xfrm>
              <a:off x="2195736" y="1519983"/>
              <a:ext cx="360040" cy="360040"/>
            </a:xfrm>
            <a:prstGeom prst="flowChartConnector">
              <a:avLst/>
            </a:prstGeom>
            <a:no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tx1"/>
                  </a:solidFill>
                </a:rPr>
                <a:t>b   a</a:t>
              </a:r>
              <a:endParaRPr lang="zh-TW" altLang="en-US" sz="1200" dirty="0">
                <a:solidFill>
                  <a:schemeClr val="tx1"/>
                </a:solidFill>
              </a:endParaRPr>
            </a:p>
          </p:txBody>
        </p:sp>
        <p:cxnSp>
          <p:nvCxnSpPr>
            <p:cNvPr id="93" name="直線接點 92">
              <a:extLst>
                <a:ext uri="{FF2B5EF4-FFF2-40B4-BE49-F238E27FC236}">
                  <a16:creationId xmlns:a16="http://schemas.microsoft.com/office/drawing/2014/main" id="{581E3EEE-3B2F-78DE-91E6-08BC170C92D2}"/>
                </a:ext>
              </a:extLst>
            </p:cNvPr>
            <p:cNvCxnSpPr>
              <a:stCxn id="91" idx="0"/>
              <a:endCxn id="91" idx="4"/>
            </p:cNvCxnSpPr>
            <p:nvPr/>
          </p:nvCxnSpPr>
          <p:spPr>
            <a:xfrm>
              <a:off x="2375756" y="1519983"/>
              <a:ext cx="0" cy="360040"/>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5" name="直線單箭頭接點 94">
              <a:extLst>
                <a:ext uri="{FF2B5EF4-FFF2-40B4-BE49-F238E27FC236}">
                  <a16:creationId xmlns:a16="http://schemas.microsoft.com/office/drawing/2014/main" id="{A3D68FA1-3525-27FC-0823-73E733185BFA}"/>
                </a:ext>
              </a:extLst>
            </p:cNvPr>
            <p:cNvCxnSpPr>
              <a:cxnSpLocks/>
              <a:stCxn id="107" idx="3"/>
              <a:endCxn id="91" idx="1"/>
            </p:cNvCxnSpPr>
            <p:nvPr/>
          </p:nvCxnSpPr>
          <p:spPr>
            <a:xfrm>
              <a:off x="1861472" y="1093435"/>
              <a:ext cx="386991" cy="4792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直線單箭頭接點 96">
              <a:extLst>
                <a:ext uri="{FF2B5EF4-FFF2-40B4-BE49-F238E27FC236}">
                  <a16:creationId xmlns:a16="http://schemas.microsoft.com/office/drawing/2014/main" id="{38B164E3-6072-E6FC-6A42-F417C68F819D}"/>
                </a:ext>
              </a:extLst>
            </p:cNvPr>
            <p:cNvCxnSpPr>
              <a:cxnSpLocks/>
              <a:stCxn id="108" idx="3"/>
              <a:endCxn id="91" idx="2"/>
            </p:cNvCxnSpPr>
            <p:nvPr/>
          </p:nvCxnSpPr>
          <p:spPr>
            <a:xfrm>
              <a:off x="1717456" y="1507789"/>
              <a:ext cx="478280" cy="1922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6" name="文字方塊 105">
              <a:extLst>
                <a:ext uri="{FF2B5EF4-FFF2-40B4-BE49-F238E27FC236}">
                  <a16:creationId xmlns:a16="http://schemas.microsoft.com/office/drawing/2014/main" id="{28D5786C-C5FF-64EF-A732-2BD7870003B3}"/>
                </a:ext>
              </a:extLst>
            </p:cNvPr>
            <p:cNvSpPr txBox="1"/>
            <p:nvPr/>
          </p:nvSpPr>
          <p:spPr>
            <a:xfrm>
              <a:off x="1670879" y="1676496"/>
              <a:ext cx="475890" cy="307777"/>
            </a:xfrm>
            <a:prstGeom prst="rect">
              <a:avLst/>
            </a:prstGeom>
            <a:noFill/>
          </p:spPr>
          <p:txBody>
            <a:bodyPr wrap="none" lIns="0" tIns="0" rIns="0" bIns="0" anchor="ctr" anchorCtr="1">
              <a:noAutofit/>
            </a:bodyPr>
            <a:lstStyle/>
            <a:p>
              <a:pPr algn="ctr"/>
              <a:r>
                <a:rPr lang="en-US" altLang="zh-TW" sz="1400" b="0" i="1" dirty="0">
                  <a:latin typeface="Cambria Math" panose="02040503050406030204" pitchFamily="18" charset="0"/>
                </a:rPr>
                <a:t>…</a:t>
              </a:r>
            </a:p>
          </p:txBody>
        </p:sp>
        <p:sp>
          <p:nvSpPr>
            <p:cNvPr id="107" name="文字方塊 106">
              <a:extLst>
                <a:ext uri="{FF2B5EF4-FFF2-40B4-BE49-F238E27FC236}">
                  <a16:creationId xmlns:a16="http://schemas.microsoft.com/office/drawing/2014/main" id="{79147F9F-A8A3-1905-3221-C71BFADDB0CD}"/>
                </a:ext>
              </a:extLst>
            </p:cNvPr>
            <p:cNvSpPr txBox="1"/>
            <p:nvPr/>
          </p:nvSpPr>
          <p:spPr>
            <a:xfrm>
              <a:off x="1709186" y="985713"/>
              <a:ext cx="152286"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08" name="文字方塊 107">
              <a:extLst>
                <a:ext uri="{FF2B5EF4-FFF2-40B4-BE49-F238E27FC236}">
                  <a16:creationId xmlns:a16="http://schemas.microsoft.com/office/drawing/2014/main" id="{FCE26686-4760-0719-D6F3-D81BF164EBE6}"/>
                </a:ext>
              </a:extLst>
            </p:cNvPr>
            <p:cNvSpPr txBox="1"/>
            <p:nvPr/>
          </p:nvSpPr>
          <p:spPr>
            <a:xfrm>
              <a:off x="1565170" y="1400067"/>
              <a:ext cx="152286" cy="215444"/>
            </a:xfrm>
            <a:prstGeom prst="rect">
              <a:avLst/>
            </a:prstGeom>
            <a:noFill/>
          </p:spPr>
          <p:txBody>
            <a:bodyPr wrap="none" lIns="0" tIns="0" rIns="0" bIns="0" anchor="ctr" anchorCtr="1">
              <a:no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sp>
          <p:nvSpPr>
            <p:cNvPr id="114" name="文字方塊 113">
              <a:extLst>
                <a:ext uri="{FF2B5EF4-FFF2-40B4-BE49-F238E27FC236}">
                  <a16:creationId xmlns:a16="http://schemas.microsoft.com/office/drawing/2014/main" id="{2A7965A0-14B9-0E84-C8EE-FD0FC190101E}"/>
                </a:ext>
              </a:extLst>
            </p:cNvPr>
            <p:cNvSpPr txBox="1"/>
            <p:nvPr/>
          </p:nvSpPr>
          <p:spPr>
            <a:xfrm>
              <a:off x="1933480" y="1183463"/>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15" name="文字方塊 114">
              <a:extLst>
                <a:ext uri="{FF2B5EF4-FFF2-40B4-BE49-F238E27FC236}">
                  <a16:creationId xmlns:a16="http://schemas.microsoft.com/office/drawing/2014/main" id="{F7BCEEA1-767D-263C-D750-052EECC88EE3}"/>
                </a:ext>
              </a:extLst>
            </p:cNvPr>
            <p:cNvSpPr txBox="1"/>
            <p:nvPr/>
          </p:nvSpPr>
          <p:spPr>
            <a:xfrm>
              <a:off x="1800304" y="1471495"/>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cxnSp>
          <p:nvCxnSpPr>
            <p:cNvPr id="116" name="直線單箭頭接點 115">
              <a:extLst>
                <a:ext uri="{FF2B5EF4-FFF2-40B4-BE49-F238E27FC236}">
                  <a16:creationId xmlns:a16="http://schemas.microsoft.com/office/drawing/2014/main" id="{25C7B506-0473-83B6-F8EC-3B732D675C20}"/>
                </a:ext>
              </a:extLst>
            </p:cNvPr>
            <p:cNvCxnSpPr>
              <a:cxnSpLocks/>
              <a:stCxn id="91" idx="6"/>
            </p:cNvCxnSpPr>
            <p:nvPr/>
          </p:nvCxnSpPr>
          <p:spPr>
            <a:xfrm>
              <a:off x="2555776" y="1700003"/>
              <a:ext cx="57096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0" name="文字方塊 119">
                <a:extLst>
                  <a:ext uri="{FF2B5EF4-FFF2-40B4-BE49-F238E27FC236}">
                    <a16:creationId xmlns:a16="http://schemas.microsoft.com/office/drawing/2014/main" id="{F7FC68DD-5ED9-949C-ADEF-7B2B32BF89BF}"/>
                  </a:ext>
                </a:extLst>
              </p:cNvPr>
              <p:cNvSpPr txBox="1"/>
              <p:nvPr/>
            </p:nvSpPr>
            <p:spPr>
              <a:xfrm>
                <a:off x="2780945" y="3099359"/>
                <a:ext cx="1214050" cy="1365310"/>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nary>
                        <m:naryPr>
                          <m:chr m:val="∑"/>
                          <m:subHide m:val="on"/>
                          <m:supHide m:val="on"/>
                          <m:ctrlPr>
                            <a:rPr lang="en-US" altLang="zh-TW" sz="1200" b="0" i="1" smtClean="0">
                              <a:latin typeface="Cambria Math" panose="02040503050406030204" pitchFamily="18" charset="0"/>
                            </a:rPr>
                          </m:ctrlPr>
                        </m:naryPr>
                        <m:sub/>
                        <m:sup/>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𝑥</m:t>
                              </m:r>
                            </m:e>
                            <m:sub>
                              <m:r>
                                <a:rPr lang="en-US" altLang="zh-TW" sz="1200" b="0" i="1" smtClean="0">
                                  <a:latin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e>
                      </m:nary>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𝑏</m:t>
                      </m:r>
                    </m:oMath>
                  </m:oMathPara>
                </a14:m>
                <a:endParaRPr lang="en-US" altLang="zh-TW" sz="1200" b="0" dirty="0"/>
              </a:p>
              <a:p>
                <a:pPr/>
                <a14:m>
                  <m:oMathPara xmlns:m="http://schemas.openxmlformats.org/officeDocument/2006/math">
                    <m:oMathParaPr>
                      <m:jc m:val="left"/>
                    </m:oMathParaPr>
                    <m:oMath xmlns:m="http://schemas.openxmlformats.org/officeDocument/2006/math">
                      <m:f>
                        <m:fPr>
                          <m:ctrlPr>
                            <a:rPr lang="en-US" altLang="zh-TW"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den>
                      </m:f>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𝑥</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Cambria Math" panose="020405030504060302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mc:Choice>
        <mc:Fallback xmlns="">
          <p:sp>
            <p:nvSpPr>
              <p:cNvPr id="120" name="文字方塊 119">
                <a:extLst>
                  <a:ext uri="{FF2B5EF4-FFF2-40B4-BE49-F238E27FC236}">
                    <a16:creationId xmlns:a16="http://schemas.microsoft.com/office/drawing/2014/main" id="{F7FC68DD-5ED9-949C-ADEF-7B2B32BF89BF}"/>
                  </a:ext>
                </a:extLst>
              </p:cNvPr>
              <p:cNvSpPr txBox="1">
                <a:spLocks noRot="1" noChangeAspect="1" noMove="1" noResize="1" noEditPoints="1" noAdjustHandles="1" noChangeArrowheads="1" noChangeShapeType="1" noTextEdit="1"/>
              </p:cNvSpPr>
              <p:nvPr/>
            </p:nvSpPr>
            <p:spPr>
              <a:xfrm>
                <a:off x="2780945" y="3099359"/>
                <a:ext cx="1214050" cy="1365310"/>
              </a:xfrm>
              <a:prstGeom prst="rect">
                <a:avLst/>
              </a:prstGeom>
              <a:blipFill>
                <a:blip r:embed="rId7"/>
                <a:stretch>
                  <a:fillRect l="-25628" t="-49107" r="-33668" b="-357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2" name="文字方塊 121">
                <a:extLst>
                  <a:ext uri="{FF2B5EF4-FFF2-40B4-BE49-F238E27FC236}">
                    <a16:creationId xmlns:a16="http://schemas.microsoft.com/office/drawing/2014/main" id="{E7439828-3872-4A8E-DEBD-FBDB31B91A09}"/>
                  </a:ext>
                </a:extLst>
              </p:cNvPr>
              <p:cNvSpPr txBox="1"/>
              <p:nvPr/>
            </p:nvSpPr>
            <p:spPr>
              <a:xfrm>
                <a:off x="7284512" y="1605349"/>
                <a:ext cx="1684142" cy="52322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𝑎</m:t>
                      </m:r>
                      <m:d>
                        <m:dPr>
                          <m:ctrlPr>
                            <a:rPr lang="en-US" altLang="zh-TW" sz="1400" b="0" i="1">
                              <a:latin typeface="Cambria Math" panose="02040503050406030204" pitchFamily="18" charset="0"/>
                            </a:rPr>
                          </m:ctrlPr>
                        </m:dPr>
                        <m:e>
                          <m:r>
                            <a:rPr lang="en-US" altLang="zh-TW" sz="1400" b="0" i="1" smtClean="0">
                              <a:latin typeface="Cambria Math" panose="02040503050406030204" pitchFamily="18" charset="0"/>
                            </a:rPr>
                            <m:t>𝑧</m:t>
                          </m:r>
                        </m:e>
                      </m:d>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𝑝𝑟𝑒𝑑𝑖𝑐𝑡</m:t>
                      </m:r>
                    </m:oMath>
                  </m:oMathPara>
                </a14:m>
                <a:endParaRPr lang="en-US" altLang="zh-TW" sz="1400" b="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altLang="zh-TW" sz="1400" b="0" i="1" smtClean="0">
                              <a:latin typeface="Cambria Math" panose="02040503050406030204" pitchFamily="18" charset="0"/>
                            </a:rPr>
                          </m:ctrlPr>
                        </m:sSubPr>
                        <m:e>
                          <m:r>
                            <a:rPr lang="en-US" altLang="zh-TW" sz="1400" b="0" i="1" smtClean="0">
                              <a:latin typeface="Cambria Math" panose="02040503050406030204" pitchFamily="18" charset="0"/>
                            </a:rPr>
                            <m:t>𝑦</m:t>
                          </m:r>
                        </m:e>
                        <m:sub>
                          <m:r>
                            <a:rPr lang="en-US" altLang="zh-TW" sz="1400" b="0" i="1" smtClean="0">
                              <a:latin typeface="Cambria Math" panose="02040503050406030204" pitchFamily="18" charset="0"/>
                            </a:rPr>
                            <m:t>𝑡</m:t>
                          </m:r>
                        </m:sub>
                      </m:sSub>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𝑟𝑒𝑎𝑙</m:t>
                      </m:r>
                      <m:r>
                        <a:rPr lang="en-US" altLang="zh-TW" sz="1400" b="0" i="1" smtClean="0">
                          <a:latin typeface="Cambria Math" panose="02040503050406030204" pitchFamily="18" charset="0"/>
                        </a:rPr>
                        <m:t> </m:t>
                      </m:r>
                      <m:r>
                        <a:rPr lang="en-US" altLang="zh-TW" sz="1400" b="0" i="1" smtClean="0">
                          <a:latin typeface="Cambria Math" panose="02040503050406030204" pitchFamily="18" charset="0"/>
                        </a:rPr>
                        <m:t>𝑣𝑎𝑙𝑢𝑒</m:t>
                      </m:r>
                    </m:oMath>
                  </m:oMathPara>
                </a14:m>
                <a:endParaRPr lang="en-US" altLang="zh-TW" sz="1400" b="0" i="1" dirty="0">
                  <a:latin typeface="Cambria Math" panose="02040503050406030204" pitchFamily="18" charset="0"/>
                </a:endParaRPr>
              </a:p>
            </p:txBody>
          </p:sp>
        </mc:Choice>
        <mc:Fallback xmlns="">
          <p:sp>
            <p:nvSpPr>
              <p:cNvPr id="122" name="文字方塊 121">
                <a:extLst>
                  <a:ext uri="{FF2B5EF4-FFF2-40B4-BE49-F238E27FC236}">
                    <a16:creationId xmlns:a16="http://schemas.microsoft.com/office/drawing/2014/main" id="{E7439828-3872-4A8E-DEBD-FBDB31B91A09}"/>
                  </a:ext>
                </a:extLst>
              </p:cNvPr>
              <p:cNvSpPr txBox="1">
                <a:spLocks noRot="1" noChangeAspect="1" noMove="1" noResize="1" noEditPoints="1" noAdjustHandles="1" noChangeArrowheads="1" noChangeShapeType="1" noTextEdit="1"/>
              </p:cNvSpPr>
              <p:nvPr/>
            </p:nvSpPr>
            <p:spPr>
              <a:xfrm>
                <a:off x="7284512" y="1605349"/>
                <a:ext cx="1684142" cy="523220"/>
              </a:xfrm>
              <a:prstGeom prst="rect">
                <a:avLst/>
              </a:prstGeom>
              <a:blipFill>
                <a:blip r:embed="rId8"/>
                <a:stretch>
                  <a:fillRect b="-116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3" name="文字方塊 122">
                <a:extLst>
                  <a:ext uri="{FF2B5EF4-FFF2-40B4-BE49-F238E27FC236}">
                    <a16:creationId xmlns:a16="http://schemas.microsoft.com/office/drawing/2014/main" id="{CCE819DD-F95F-A64B-6F5D-A08144D5D2A1}"/>
                  </a:ext>
                </a:extLst>
              </p:cNvPr>
              <p:cNvSpPr txBox="1"/>
              <p:nvPr/>
            </p:nvSpPr>
            <p:spPr>
              <a:xfrm>
                <a:off x="6704934" y="2995457"/>
                <a:ext cx="2376264" cy="695701"/>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L</m:t>
                      </m:r>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m:rPr>
                                  <m:sty m:val="p"/>
                                </m:rPr>
                                <a:rPr lang="en-US" altLang="zh-TW" sz="1200" b="0" i="0" smtClean="0">
                                  <a:latin typeface="Cambria Math" panose="02040503050406030204" pitchFamily="18" charset="0"/>
                                </a:rPr>
                                <m:t>y</m:t>
                              </m:r>
                            </m:e>
                            <m:sub>
                              <m:r>
                                <m:rPr>
                                  <m:sty m:val="p"/>
                                </m:rPr>
                                <a:rPr lang="en-US" altLang="zh-TW" sz="1200" b="0" i="0" smtClean="0">
                                  <a:latin typeface="Cambria Math" panose="02040503050406030204" pitchFamily="18" charset="0"/>
                                </a:rPr>
                                <m:t>t</m:t>
                              </m:r>
                            </m:sub>
                          </m:sSub>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a</m:t>
                                  </m:r>
                                </m:e>
                              </m:d>
                            </m:e>
                          </m:func>
                          <m:r>
                            <a:rPr lang="en-US" altLang="zh-TW" sz="1200" b="0" i="0" smtClean="0">
                              <a:latin typeface="Cambria Math" panose="02040503050406030204" pitchFamily="18" charset="0"/>
                            </a:rPr>
                            <m:t>+</m:t>
                          </m:r>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sSub>
                                <m:sSubPr>
                                  <m:ctrlPr>
                                    <a:rPr lang="en-US" altLang="zh-TW" sz="1200" i="1">
                                      <a:latin typeface="Cambria Math" panose="02040503050406030204" pitchFamily="18" charset="0"/>
                                    </a:rPr>
                                  </m:ctrlPr>
                                </m:sSubPr>
                                <m:e>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e>
                          </m:d>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r>
                                    <m:rPr>
                                      <m:sty m:val="p"/>
                                    </m:rPr>
                                    <a:rPr lang="en-US" altLang="zh-TW" sz="1200" b="0" i="0" smtClean="0">
                                      <a:latin typeface="Cambria Math" panose="02040503050406030204" pitchFamily="18" charset="0"/>
                                    </a:rPr>
                                    <m:t>a</m:t>
                                  </m:r>
                                </m:e>
                              </m:d>
                            </m:e>
                          </m:func>
                        </m:e>
                      </m:d>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L</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num>
                        <m:den>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en>
                      </m:f>
                    </m:oMath>
                  </m:oMathPara>
                </a14:m>
                <a:endParaRPr lang="en-US" altLang="zh-TW" sz="1200" b="0" dirty="0"/>
              </a:p>
            </p:txBody>
          </p:sp>
        </mc:Choice>
        <mc:Fallback xmlns="">
          <p:sp>
            <p:nvSpPr>
              <p:cNvPr id="123" name="文字方塊 122">
                <a:extLst>
                  <a:ext uri="{FF2B5EF4-FFF2-40B4-BE49-F238E27FC236}">
                    <a16:creationId xmlns:a16="http://schemas.microsoft.com/office/drawing/2014/main" id="{CCE819DD-F95F-A64B-6F5D-A08144D5D2A1}"/>
                  </a:ext>
                </a:extLst>
              </p:cNvPr>
              <p:cNvSpPr txBox="1">
                <a:spLocks noRot="1" noChangeAspect="1" noMove="1" noResize="1" noEditPoints="1" noAdjustHandles="1" noChangeArrowheads="1" noChangeShapeType="1" noTextEdit="1"/>
              </p:cNvSpPr>
              <p:nvPr/>
            </p:nvSpPr>
            <p:spPr>
              <a:xfrm>
                <a:off x="6704934" y="2995457"/>
                <a:ext cx="2376264" cy="695701"/>
              </a:xfrm>
              <a:prstGeom prst="rect">
                <a:avLst/>
              </a:prstGeom>
              <a:blipFill>
                <a:blip r:embed="rId9"/>
                <a:stretch>
                  <a:fillRect l="-2308" b="-1217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4" name="文字方塊 123">
                <a:extLst>
                  <a:ext uri="{FF2B5EF4-FFF2-40B4-BE49-F238E27FC236}">
                    <a16:creationId xmlns:a16="http://schemas.microsoft.com/office/drawing/2014/main" id="{9F52FA95-A20A-981C-D8D3-51145139B703}"/>
                  </a:ext>
                </a:extLst>
              </p:cNvPr>
              <p:cNvSpPr txBox="1"/>
              <p:nvPr/>
            </p:nvSpPr>
            <p:spPr>
              <a:xfrm>
                <a:off x="5580112" y="3861048"/>
                <a:ext cx="1913336" cy="707886"/>
              </a:xfrm>
              <a:prstGeom prst="rect">
                <a:avLst/>
              </a:prstGeom>
              <a:noFill/>
            </p:spPr>
            <p:txBody>
              <a:bodyPr wrap="square">
                <a:spAutoFit/>
              </a:bodyPr>
              <a:lstStyle/>
              <a:p>
                <a:r>
                  <a:rPr lang="en-US" altLang="zh-TW" sz="1200" dirty="0">
                    <a:solidFill>
                      <a:schemeClr val="accent2">
                        <a:lumMod val="75000"/>
                      </a:schemeClr>
                    </a:solidFill>
                    <a:latin typeface="Cambria Math" panose="02040503050406030204" pitchFamily="18" charset="0"/>
                  </a:rPr>
                  <a:t>Sigmoid + Cross Entropy:</a:t>
                </a:r>
              </a:p>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d>
                        <m:dPr>
                          <m:ctrlPr>
                            <a:rPr lang="en-US" altLang="zh-TW" sz="1400" b="0" i="1" smtClean="0">
                              <a:latin typeface="Cambria Math" panose="02040503050406030204" pitchFamily="18" charset="0"/>
                            </a:rPr>
                          </m:ctrlPr>
                        </m:dPr>
                        <m:e>
                          <m:r>
                            <a:rPr lang="en-US" altLang="zh-TW" sz="1400" b="0" i="1" smtClean="0">
                              <a:latin typeface="Cambria Math" panose="02040503050406030204" pitchFamily="18" charset="0"/>
                            </a:rPr>
                            <m:t>𝑤</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𝑥</m:t>
                      </m:r>
                      <m:d>
                        <m:dPr>
                          <m:ctrlPr>
                            <a:rPr lang="en-US" altLang="zh-TW" sz="1400" b="0" i="1" smtClean="0">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d>
                        <m:dPr>
                          <m:ctrlPr>
                            <a:rPr lang="en-US" altLang="zh-TW" sz="1400" i="1">
                              <a:latin typeface="Cambria Math" panose="02040503050406030204" pitchFamily="18" charset="0"/>
                            </a:rPr>
                          </m:ctrlPr>
                        </m:dPr>
                        <m:e>
                          <m:r>
                            <a:rPr lang="en-US" altLang="zh-TW" sz="1400" b="0" i="1" smtClean="0">
                              <a:latin typeface="Cambria Math" panose="02040503050406030204" pitchFamily="18" charset="0"/>
                            </a:rPr>
                            <m:t>𝑏</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1</m:t>
                      </m:r>
                      <m:d>
                        <m:dPr>
                          <m:ctrlPr>
                            <a:rPr lang="en-US" altLang="zh-TW" sz="1400" i="1">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p:txBody>
          </p:sp>
        </mc:Choice>
        <mc:Fallback xmlns="">
          <p:sp>
            <p:nvSpPr>
              <p:cNvPr id="124" name="文字方塊 123">
                <a:extLst>
                  <a:ext uri="{FF2B5EF4-FFF2-40B4-BE49-F238E27FC236}">
                    <a16:creationId xmlns:a16="http://schemas.microsoft.com/office/drawing/2014/main" id="{9F52FA95-A20A-981C-D8D3-51145139B703}"/>
                  </a:ext>
                </a:extLst>
              </p:cNvPr>
              <p:cNvSpPr txBox="1">
                <a:spLocks noRot="1" noChangeAspect="1" noMove="1" noResize="1" noEditPoints="1" noAdjustHandles="1" noChangeArrowheads="1" noChangeShapeType="1" noTextEdit="1"/>
              </p:cNvSpPr>
              <p:nvPr/>
            </p:nvSpPr>
            <p:spPr>
              <a:xfrm>
                <a:off x="5580112" y="3861048"/>
                <a:ext cx="1913336" cy="707886"/>
              </a:xfrm>
              <a:prstGeom prst="rect">
                <a:avLst/>
              </a:prstGeom>
              <a:blipFill>
                <a:blip r:embed="rId10"/>
                <a:stretch>
                  <a:fillRect b="-344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DBA277BE-F61B-BF6A-07EC-925865E5D47A}"/>
                  </a:ext>
                </a:extLst>
              </p:cNvPr>
              <p:cNvSpPr txBox="1"/>
              <p:nvPr/>
            </p:nvSpPr>
            <p:spPr>
              <a:xfrm>
                <a:off x="4704714" y="5562807"/>
                <a:ext cx="4263940" cy="830997"/>
              </a:xfrm>
              <a:prstGeom prst="rect">
                <a:avLst/>
              </a:prstGeom>
              <a:noFill/>
            </p:spPr>
            <p:txBody>
              <a:bodyPr wrap="square">
                <a:spAutoFit/>
              </a:bodyPr>
              <a:lstStyle/>
              <a:p>
                <a:pPr algn="ctr"/>
                <a:r>
                  <a:rPr lang="el-GR" altLang="zh-TW" sz="1200" dirty="0"/>
                  <a:t>η</a:t>
                </a:r>
                <a:r>
                  <a:rPr lang="en-US" altLang="zh-TW" sz="1200" dirty="0"/>
                  <a:t>=0.015</a:t>
                </a:r>
              </a:p>
              <a:p>
                <a:pPr algn="ctr"/>
                <a:r>
                  <a:rPr lang="en-US" altLang="zh-TW" sz="1200" dirty="0"/>
                  <a:t>x= 10, a=0.73, y</a:t>
                </a:r>
                <a:r>
                  <a:rPr lang="en-US" altLang="zh-TW" sz="1200" baseline="-25000" dirty="0"/>
                  <a:t>t</a:t>
                </a:r>
                <a:r>
                  <a:rPr lang="en-US" altLang="zh-TW" sz="1200" dirty="0"/>
                  <a:t>=0.15</a:t>
                </a: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𝑤</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𝑥</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b="0" i="1" smtClean="0">
                            <a:latin typeface="Cambria Math" panose="02040503050406030204" pitchFamily="18" charset="0"/>
                          </a:rPr>
                          <m:t>1</m:t>
                        </m:r>
                      </m:e>
                    </m:d>
                  </m:oMath>
                </a14:m>
                <a:r>
                  <a:rPr lang="en-US" altLang="zh-TW" sz="1200" dirty="0">
                    <a:ea typeface="Cambria Math" panose="02040503050406030204" pitchFamily="18" charset="0"/>
                  </a:rPr>
                  <a:t>= 0.015*10*(-0.27) =0.04</a:t>
                </a:r>
                <a:endParaRPr lang="en-US" altLang="zh-TW" sz="1200" i="1" dirty="0">
                  <a:latin typeface="Cambria Math" panose="02040503050406030204" pitchFamily="18" charset="0"/>
                </a:endParaRP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𝑏</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1</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i="1" smtClean="0">
                            <a:latin typeface="Cambria Math" panose="02040503050406030204" pitchFamily="18" charset="0"/>
                          </a:rPr>
                          <m:t>1</m:t>
                        </m:r>
                      </m:e>
                    </m:d>
                  </m:oMath>
                </a14:m>
                <a:r>
                  <a:rPr lang="en-US" altLang="zh-TW" sz="1200" b="0" dirty="0">
                    <a:ea typeface="Cambria Math" panose="02040503050406030204" pitchFamily="18" charset="0"/>
                  </a:rPr>
                  <a:t> = 0.015*1*(-0.27) =0.004</a:t>
                </a:r>
              </a:p>
            </p:txBody>
          </p:sp>
        </mc:Choice>
        <mc:Fallback xmlns="">
          <p:sp>
            <p:nvSpPr>
              <p:cNvPr id="3" name="文字方塊 2">
                <a:extLst>
                  <a:ext uri="{FF2B5EF4-FFF2-40B4-BE49-F238E27FC236}">
                    <a16:creationId xmlns:a16="http://schemas.microsoft.com/office/drawing/2014/main" id="{DBA277BE-F61B-BF6A-07EC-925865E5D47A}"/>
                  </a:ext>
                </a:extLst>
              </p:cNvPr>
              <p:cNvSpPr txBox="1">
                <a:spLocks noRot="1" noChangeAspect="1" noMove="1" noResize="1" noEditPoints="1" noAdjustHandles="1" noChangeArrowheads="1" noChangeShapeType="1" noTextEdit="1"/>
              </p:cNvSpPr>
              <p:nvPr/>
            </p:nvSpPr>
            <p:spPr>
              <a:xfrm>
                <a:off x="4704714" y="5562807"/>
                <a:ext cx="4263940" cy="830997"/>
              </a:xfrm>
              <a:prstGeom prst="rect">
                <a:avLst/>
              </a:prstGeom>
              <a:blipFill>
                <a:blip r:embed="rId11"/>
                <a:stretch>
                  <a:fillRect t="-735" b="-5147"/>
                </a:stretch>
              </a:blipFill>
            </p:spPr>
            <p:txBody>
              <a:bodyPr/>
              <a:lstStyle/>
              <a:p>
                <a:r>
                  <a:rPr lang="zh-TW" altLang="en-US">
                    <a:noFill/>
                  </a:rPr>
                  <a:t> </a:t>
                </a:r>
              </a:p>
            </p:txBody>
          </p:sp>
        </mc:Fallback>
      </mc:AlternateContent>
      <p:pic>
        <p:nvPicPr>
          <p:cNvPr id="11" name="圖片 10">
            <a:extLst>
              <a:ext uri="{FF2B5EF4-FFF2-40B4-BE49-F238E27FC236}">
                <a16:creationId xmlns:a16="http://schemas.microsoft.com/office/drawing/2014/main" id="{7D4C676D-924C-A274-2059-94F73F9EE304}"/>
              </a:ext>
            </a:extLst>
          </p:cNvPr>
          <p:cNvPicPr>
            <a:picLocks noChangeAspect="1"/>
          </p:cNvPicPr>
          <p:nvPr/>
        </p:nvPicPr>
        <p:blipFill>
          <a:blip r:embed="rId12"/>
          <a:stretch>
            <a:fillRect/>
          </a:stretch>
        </p:blipFill>
        <p:spPr>
          <a:xfrm>
            <a:off x="2715198" y="5003146"/>
            <a:ext cx="910956" cy="231354"/>
          </a:xfrm>
          <a:prstGeom prst="rect">
            <a:avLst/>
          </a:prstGeom>
        </p:spPr>
      </p:pic>
      <p:sp>
        <p:nvSpPr>
          <p:cNvPr id="14" name="矩形 13">
            <a:extLst>
              <a:ext uri="{FF2B5EF4-FFF2-40B4-BE49-F238E27FC236}">
                <a16:creationId xmlns:a16="http://schemas.microsoft.com/office/drawing/2014/main" id="{0792AAAB-B316-C0B2-B358-E8FBCB0EB9EC}"/>
              </a:ext>
            </a:extLst>
          </p:cNvPr>
          <p:cNvSpPr/>
          <p:nvPr/>
        </p:nvSpPr>
        <p:spPr>
          <a:xfrm>
            <a:off x="260957" y="4495115"/>
            <a:ext cx="665604" cy="231354"/>
          </a:xfrm>
          <a:prstGeom prst="rect">
            <a:avLst/>
          </a:prstGeom>
          <a:no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b="1" dirty="0">
                <a:solidFill>
                  <a:srgbClr val="7030A0"/>
                </a:solidFill>
              </a:rPr>
              <a:t>y</a:t>
            </a:r>
            <a:r>
              <a:rPr lang="en-US" altLang="zh-TW" sz="1600" b="1" baseline="-25000" dirty="0">
                <a:solidFill>
                  <a:srgbClr val="7030A0"/>
                </a:solidFill>
              </a:rPr>
              <a:t>t</a:t>
            </a:r>
            <a:r>
              <a:rPr lang="en-US" altLang="zh-TW" sz="1600" b="1" dirty="0">
                <a:solidFill>
                  <a:srgbClr val="7030A0"/>
                </a:solidFill>
              </a:rPr>
              <a:t>=1</a:t>
            </a:r>
            <a:endParaRPr lang="zh-TW" altLang="en-US" sz="1600" b="1" dirty="0">
              <a:solidFill>
                <a:srgbClr val="7030A0"/>
              </a:solidFill>
            </a:endParaRPr>
          </a:p>
        </p:txBody>
      </p:sp>
      <p:pic>
        <p:nvPicPr>
          <p:cNvPr id="16" name="圖片 15">
            <a:extLst>
              <a:ext uri="{FF2B5EF4-FFF2-40B4-BE49-F238E27FC236}">
                <a16:creationId xmlns:a16="http://schemas.microsoft.com/office/drawing/2014/main" id="{4AFE90C8-423A-9A96-987D-615F83BB846F}"/>
              </a:ext>
            </a:extLst>
          </p:cNvPr>
          <p:cNvPicPr>
            <a:picLocks noChangeAspect="1"/>
          </p:cNvPicPr>
          <p:nvPr/>
        </p:nvPicPr>
        <p:blipFill>
          <a:blip r:embed="rId13"/>
          <a:stretch>
            <a:fillRect/>
          </a:stretch>
        </p:blipFill>
        <p:spPr>
          <a:xfrm>
            <a:off x="3043330" y="5668727"/>
            <a:ext cx="1538542" cy="461563"/>
          </a:xfrm>
          <a:prstGeom prst="rect">
            <a:avLst/>
          </a:prstGeom>
          <a:ln w="15875">
            <a:solidFill>
              <a:schemeClr val="accent2"/>
            </a:solidFill>
          </a:ln>
          <a:effectLst>
            <a:glow rad="25400">
              <a:schemeClr val="accent2">
                <a:lumMod val="40000"/>
                <a:lumOff val="60000"/>
              </a:schemeClr>
            </a:glow>
            <a:softEdge rad="25400"/>
          </a:effectLst>
        </p:spPr>
      </p:pic>
      <p:pic>
        <p:nvPicPr>
          <p:cNvPr id="20" name="圖片 19">
            <a:extLst>
              <a:ext uri="{FF2B5EF4-FFF2-40B4-BE49-F238E27FC236}">
                <a16:creationId xmlns:a16="http://schemas.microsoft.com/office/drawing/2014/main" id="{8770D11E-B30F-0798-1DF2-2DF5A09F099A}"/>
              </a:ext>
            </a:extLst>
          </p:cNvPr>
          <p:cNvPicPr>
            <a:picLocks noChangeAspect="1"/>
          </p:cNvPicPr>
          <p:nvPr/>
        </p:nvPicPr>
        <p:blipFill>
          <a:blip r:embed="rId14"/>
          <a:stretch>
            <a:fillRect/>
          </a:stretch>
        </p:blipFill>
        <p:spPr>
          <a:xfrm>
            <a:off x="48165" y="5612736"/>
            <a:ext cx="1368781" cy="479585"/>
          </a:xfrm>
          <a:prstGeom prst="rect">
            <a:avLst/>
          </a:prstGeom>
          <a:effectLst>
            <a:glow rad="76200">
              <a:schemeClr val="accent3">
                <a:lumMod val="60000"/>
                <a:lumOff val="40000"/>
              </a:schemeClr>
            </a:glow>
          </a:effectLst>
        </p:spPr>
      </p:pic>
      <p:sp>
        <p:nvSpPr>
          <p:cNvPr id="10" name="標題 1">
            <a:extLst>
              <a:ext uri="{FF2B5EF4-FFF2-40B4-BE49-F238E27FC236}">
                <a16:creationId xmlns:a16="http://schemas.microsoft.com/office/drawing/2014/main" id="{DB23806E-455B-B442-A514-C6A6160F4DE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Chain Rule + Gradient Descent</a:t>
            </a:r>
          </a:p>
        </p:txBody>
      </p:sp>
      <p:cxnSp>
        <p:nvCxnSpPr>
          <p:cNvPr id="4" name="接點: 弧形 3">
            <a:extLst>
              <a:ext uri="{FF2B5EF4-FFF2-40B4-BE49-F238E27FC236}">
                <a16:creationId xmlns:a16="http://schemas.microsoft.com/office/drawing/2014/main" id="{1A85E7FA-59D9-A0B4-E985-70D07CA55BA9}"/>
              </a:ext>
            </a:extLst>
          </p:cNvPr>
          <p:cNvCxnSpPr>
            <a:stCxn id="124" idx="1"/>
            <a:endCxn id="90" idx="1"/>
          </p:cNvCxnSpPr>
          <p:nvPr/>
        </p:nvCxnSpPr>
        <p:spPr>
          <a:xfrm rot="10800000">
            <a:off x="4663330" y="2099087"/>
            <a:ext cx="916782" cy="2115905"/>
          </a:xfrm>
          <a:prstGeom prst="curvedConnector3">
            <a:avLst>
              <a:gd name="adj1" fmla="val 124935"/>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14D3711C-2EEB-66A7-F7B8-3D678AC495BF}"/>
              </a:ext>
            </a:extLst>
          </p:cNvPr>
          <p:cNvSpPr txBox="1"/>
          <p:nvPr/>
        </p:nvSpPr>
        <p:spPr>
          <a:xfrm>
            <a:off x="287524" y="980728"/>
            <a:ext cx="5148572"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u="none" strike="noStrike" dirty="0">
                <a:effectLst/>
              </a:rPr>
              <a:t>: .</a:t>
            </a:r>
          </a:p>
        </p:txBody>
      </p:sp>
      <p:pic>
        <p:nvPicPr>
          <p:cNvPr id="7" name="圖片 6">
            <a:extLst>
              <a:ext uri="{FF2B5EF4-FFF2-40B4-BE49-F238E27FC236}">
                <a16:creationId xmlns:a16="http://schemas.microsoft.com/office/drawing/2014/main" id="{2B8EA52B-91D0-F628-D66C-4585E2254B1C}"/>
              </a:ext>
              <a:ext uri="{C183D7F6-B498-43B3-948B-1728B52AA6E4}">
                <adec:decorative xmlns:adec="http://schemas.microsoft.com/office/drawing/2017/decorative" val="1"/>
              </a:ext>
            </a:extLst>
          </p:cNvPr>
          <p:cNvPicPr>
            <a:picLocks noChangeAspect="1"/>
          </p:cNvPicPr>
          <p:nvPr/>
        </p:nvPicPr>
        <p:blipFill>
          <a:blip r:embed="rId15" cstate="print">
            <a:extLst>
              <a:ext uri="{28A0092B-C50C-407E-A947-70E740481C1C}">
                <a14:useLocalDpi xmlns:a14="http://schemas.microsoft.com/office/drawing/2010/main" val="0"/>
              </a:ext>
            </a:extLst>
          </a:blip>
          <a:stretch>
            <a:fillRect/>
          </a:stretch>
        </p:blipFill>
        <p:spPr>
          <a:xfrm>
            <a:off x="204663" y="259108"/>
            <a:ext cx="6167499" cy="3384896"/>
          </a:xfrm>
          <a:prstGeom prst="rect">
            <a:avLst/>
          </a:prstGeom>
          <a:effectLst>
            <a:glow rad="63500">
              <a:schemeClr val="accent1">
                <a:satMod val="175000"/>
                <a:alpha val="40000"/>
              </a:schemeClr>
            </a:glow>
          </a:effectLst>
        </p:spPr>
      </p:pic>
    </p:spTree>
    <p:extLst>
      <p:ext uri="{BB962C8B-B14F-4D97-AF65-F5344CB8AC3E}">
        <p14:creationId xmlns:p14="http://schemas.microsoft.com/office/powerpoint/2010/main" val="158228045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6" name="群組 55">
            <a:extLst>
              <a:ext uri="{FF2B5EF4-FFF2-40B4-BE49-F238E27FC236}">
                <a16:creationId xmlns:a16="http://schemas.microsoft.com/office/drawing/2014/main" id="{7E729EF2-1324-CB02-728B-C79D90667E76}"/>
              </a:ext>
            </a:extLst>
          </p:cNvPr>
          <p:cNvGrpSpPr/>
          <p:nvPr/>
        </p:nvGrpSpPr>
        <p:grpSpPr>
          <a:xfrm>
            <a:off x="2877931" y="3994688"/>
            <a:ext cx="5286649" cy="2279298"/>
            <a:chOff x="2300018" y="3140968"/>
            <a:chExt cx="5368326"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5368326" cy="2369355"/>
            </a:xfrm>
            <a:custGeom>
              <a:avLst/>
              <a:gdLst>
                <a:gd name="csX0" fmla="*/ 0 w 5286649"/>
                <a:gd name="csY0" fmla="*/ 66966 h 2279298"/>
                <a:gd name="csX1" fmla="*/ 66966 w 5286649"/>
                <a:gd name="csY1" fmla="*/ 0 h 2279298"/>
                <a:gd name="csX2" fmla="*/ 691017 w 5286649"/>
                <a:gd name="csY2" fmla="*/ 0 h 2279298"/>
                <a:gd name="csX3" fmla="*/ 1108960 w 5286649"/>
                <a:gd name="csY3" fmla="*/ 0 h 2279298"/>
                <a:gd name="csX4" fmla="*/ 1578430 w 5286649"/>
                <a:gd name="csY4" fmla="*/ 0 h 2279298"/>
                <a:gd name="csX5" fmla="*/ 2202481 w 5286649"/>
                <a:gd name="csY5" fmla="*/ 0 h 2279298"/>
                <a:gd name="csX6" fmla="*/ 2671951 w 5286649"/>
                <a:gd name="csY6" fmla="*/ 0 h 2279298"/>
                <a:gd name="csX7" fmla="*/ 3089893 w 5286649"/>
                <a:gd name="csY7" fmla="*/ 0 h 2279298"/>
                <a:gd name="csX8" fmla="*/ 3559363 w 5286649"/>
                <a:gd name="csY8" fmla="*/ 0 h 2279298"/>
                <a:gd name="csX9" fmla="*/ 4080360 w 5286649"/>
                <a:gd name="csY9" fmla="*/ 0 h 2279298"/>
                <a:gd name="csX10" fmla="*/ 4652884 w 5286649"/>
                <a:gd name="csY10" fmla="*/ 0 h 2279298"/>
                <a:gd name="csX11" fmla="*/ 5219683 w 5286649"/>
                <a:gd name="csY11" fmla="*/ 0 h 2279298"/>
                <a:gd name="csX12" fmla="*/ 5286649 w 5286649"/>
                <a:gd name="csY12" fmla="*/ 66966 h 2279298"/>
                <a:gd name="csX13" fmla="*/ 5286649 w 5286649"/>
                <a:gd name="csY13" fmla="*/ 603308 h 2279298"/>
                <a:gd name="csX14" fmla="*/ 5286649 w 5286649"/>
                <a:gd name="csY14" fmla="*/ 1161103 h 2279298"/>
                <a:gd name="csX15" fmla="*/ 5286649 w 5286649"/>
                <a:gd name="csY15" fmla="*/ 1675991 h 2279298"/>
                <a:gd name="csX16" fmla="*/ 5286649 w 5286649"/>
                <a:gd name="csY16" fmla="*/ 2212332 h 2279298"/>
                <a:gd name="csX17" fmla="*/ 5219683 w 5286649"/>
                <a:gd name="csY17" fmla="*/ 2279298 h 2279298"/>
                <a:gd name="csX18" fmla="*/ 4647159 w 5286649"/>
                <a:gd name="csY18" fmla="*/ 2279298 h 2279298"/>
                <a:gd name="csX19" fmla="*/ 3971580 w 5286649"/>
                <a:gd name="csY19" fmla="*/ 2279298 h 2279298"/>
                <a:gd name="csX20" fmla="*/ 3399056 w 5286649"/>
                <a:gd name="csY20" fmla="*/ 2279298 h 2279298"/>
                <a:gd name="csX21" fmla="*/ 2723478 w 5286649"/>
                <a:gd name="csY21" fmla="*/ 2279298 h 2279298"/>
                <a:gd name="csX22" fmla="*/ 2202481 w 5286649"/>
                <a:gd name="csY22" fmla="*/ 2279298 h 2279298"/>
                <a:gd name="csX23" fmla="*/ 1733011 w 5286649"/>
                <a:gd name="csY23" fmla="*/ 2279298 h 2279298"/>
                <a:gd name="csX24" fmla="*/ 1160487 w 5286649"/>
                <a:gd name="csY24" fmla="*/ 2279298 h 2279298"/>
                <a:gd name="csX25" fmla="*/ 66966 w 5286649"/>
                <a:gd name="csY25" fmla="*/ 2279298 h 2279298"/>
                <a:gd name="csX26" fmla="*/ 0 w 5286649"/>
                <a:gd name="csY26" fmla="*/ 2212332 h 2279298"/>
                <a:gd name="csX27" fmla="*/ 0 w 5286649"/>
                <a:gd name="csY27" fmla="*/ 1740351 h 2279298"/>
                <a:gd name="csX28" fmla="*/ 0 w 5286649"/>
                <a:gd name="csY28" fmla="*/ 1182556 h 2279298"/>
                <a:gd name="csX29" fmla="*/ 0 w 5286649"/>
                <a:gd name="csY29" fmla="*/ 689122 h 2279298"/>
                <a:gd name="csX30" fmla="*/ 0 w 5286649"/>
                <a:gd name="csY30" fmla="*/ 66966 h 22792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5286649" h="2279298" fill="none" extrusionOk="0">
                  <a:moveTo>
                    <a:pt x="0" y="66966"/>
                  </a:moveTo>
                  <a:cubicBezTo>
                    <a:pt x="-5236" y="35282"/>
                    <a:pt x="25696" y="9173"/>
                    <a:pt x="66966" y="0"/>
                  </a:cubicBezTo>
                  <a:cubicBezTo>
                    <a:pt x="361863" y="-26797"/>
                    <a:pt x="472143" y="65706"/>
                    <a:pt x="691017" y="0"/>
                  </a:cubicBezTo>
                  <a:cubicBezTo>
                    <a:pt x="909891" y="-65706"/>
                    <a:pt x="903226" y="46385"/>
                    <a:pt x="1108960" y="0"/>
                  </a:cubicBezTo>
                  <a:cubicBezTo>
                    <a:pt x="1314694" y="-46385"/>
                    <a:pt x="1428132" y="51148"/>
                    <a:pt x="1578430" y="0"/>
                  </a:cubicBezTo>
                  <a:cubicBezTo>
                    <a:pt x="1728728" y="-51148"/>
                    <a:pt x="1936597" y="32428"/>
                    <a:pt x="2202481" y="0"/>
                  </a:cubicBezTo>
                  <a:cubicBezTo>
                    <a:pt x="2468365" y="-32428"/>
                    <a:pt x="2514782" y="19598"/>
                    <a:pt x="2671951" y="0"/>
                  </a:cubicBezTo>
                  <a:cubicBezTo>
                    <a:pt x="2829120" y="-19598"/>
                    <a:pt x="2996519" y="821"/>
                    <a:pt x="3089893" y="0"/>
                  </a:cubicBezTo>
                  <a:cubicBezTo>
                    <a:pt x="3183267" y="-821"/>
                    <a:pt x="3354423" y="8309"/>
                    <a:pt x="3559363" y="0"/>
                  </a:cubicBezTo>
                  <a:cubicBezTo>
                    <a:pt x="3764303" y="-8309"/>
                    <a:pt x="3973386" y="42212"/>
                    <a:pt x="4080360" y="0"/>
                  </a:cubicBezTo>
                  <a:cubicBezTo>
                    <a:pt x="4187334" y="-42212"/>
                    <a:pt x="4380362" y="31701"/>
                    <a:pt x="4652884" y="0"/>
                  </a:cubicBezTo>
                  <a:cubicBezTo>
                    <a:pt x="4925406" y="-31701"/>
                    <a:pt x="5055287" y="35360"/>
                    <a:pt x="5219683" y="0"/>
                  </a:cubicBezTo>
                  <a:cubicBezTo>
                    <a:pt x="5258185" y="3901"/>
                    <a:pt x="5295666" y="34177"/>
                    <a:pt x="5286649" y="66966"/>
                  </a:cubicBezTo>
                  <a:cubicBezTo>
                    <a:pt x="5304107" y="202713"/>
                    <a:pt x="5252522" y="462450"/>
                    <a:pt x="5286649" y="603308"/>
                  </a:cubicBezTo>
                  <a:cubicBezTo>
                    <a:pt x="5320776" y="744166"/>
                    <a:pt x="5260257" y="1016289"/>
                    <a:pt x="5286649" y="1161103"/>
                  </a:cubicBezTo>
                  <a:cubicBezTo>
                    <a:pt x="5313041" y="1305917"/>
                    <a:pt x="5253616" y="1562901"/>
                    <a:pt x="5286649" y="1675991"/>
                  </a:cubicBezTo>
                  <a:cubicBezTo>
                    <a:pt x="5319682" y="1789081"/>
                    <a:pt x="5232623" y="1983317"/>
                    <a:pt x="5286649" y="2212332"/>
                  </a:cubicBezTo>
                  <a:cubicBezTo>
                    <a:pt x="5286834" y="2257752"/>
                    <a:pt x="5257435" y="2278609"/>
                    <a:pt x="5219683" y="2279298"/>
                  </a:cubicBezTo>
                  <a:cubicBezTo>
                    <a:pt x="5045279" y="2305010"/>
                    <a:pt x="4877858" y="2271062"/>
                    <a:pt x="4647159" y="2279298"/>
                  </a:cubicBezTo>
                  <a:cubicBezTo>
                    <a:pt x="4416460" y="2287534"/>
                    <a:pt x="4173318" y="2211921"/>
                    <a:pt x="3971580" y="2279298"/>
                  </a:cubicBezTo>
                  <a:cubicBezTo>
                    <a:pt x="3769842" y="2346675"/>
                    <a:pt x="3530807" y="2220674"/>
                    <a:pt x="3399056" y="2279298"/>
                  </a:cubicBezTo>
                  <a:cubicBezTo>
                    <a:pt x="3267305" y="2337922"/>
                    <a:pt x="2968583" y="2218370"/>
                    <a:pt x="2723478" y="2279298"/>
                  </a:cubicBezTo>
                  <a:cubicBezTo>
                    <a:pt x="2478373" y="2340226"/>
                    <a:pt x="2341377" y="2224938"/>
                    <a:pt x="2202481" y="2279298"/>
                  </a:cubicBezTo>
                  <a:cubicBezTo>
                    <a:pt x="2063585" y="2333658"/>
                    <a:pt x="1956054" y="2262411"/>
                    <a:pt x="1733011" y="2279298"/>
                  </a:cubicBezTo>
                  <a:cubicBezTo>
                    <a:pt x="1509968" y="2296185"/>
                    <a:pt x="1276325" y="2264931"/>
                    <a:pt x="1160487" y="2279298"/>
                  </a:cubicBezTo>
                  <a:cubicBezTo>
                    <a:pt x="1044649" y="2293665"/>
                    <a:pt x="575765" y="2229017"/>
                    <a:pt x="66966" y="2279298"/>
                  </a:cubicBezTo>
                  <a:cubicBezTo>
                    <a:pt x="38322" y="2272441"/>
                    <a:pt x="245" y="2242161"/>
                    <a:pt x="0" y="2212332"/>
                  </a:cubicBezTo>
                  <a:cubicBezTo>
                    <a:pt x="-9792" y="2052621"/>
                    <a:pt x="42516" y="1860144"/>
                    <a:pt x="0" y="1740351"/>
                  </a:cubicBezTo>
                  <a:cubicBezTo>
                    <a:pt x="-42516" y="1620558"/>
                    <a:pt x="23652" y="1413142"/>
                    <a:pt x="0" y="1182556"/>
                  </a:cubicBezTo>
                  <a:cubicBezTo>
                    <a:pt x="-23652" y="951971"/>
                    <a:pt x="418" y="900142"/>
                    <a:pt x="0" y="689122"/>
                  </a:cubicBezTo>
                  <a:cubicBezTo>
                    <a:pt x="-418" y="478102"/>
                    <a:pt x="50268" y="201273"/>
                    <a:pt x="0" y="66966"/>
                  </a:cubicBezTo>
                  <a:close/>
                </a:path>
                <a:path w="5286649" h="2279298" stroke="0" extrusionOk="0">
                  <a:moveTo>
                    <a:pt x="0" y="66966"/>
                  </a:moveTo>
                  <a:cubicBezTo>
                    <a:pt x="-8721" y="24603"/>
                    <a:pt x="22557" y="2787"/>
                    <a:pt x="66966" y="0"/>
                  </a:cubicBezTo>
                  <a:cubicBezTo>
                    <a:pt x="393108" y="-79067"/>
                    <a:pt x="524257" y="73898"/>
                    <a:pt x="742544" y="0"/>
                  </a:cubicBezTo>
                  <a:cubicBezTo>
                    <a:pt x="960831" y="-73898"/>
                    <a:pt x="1125292" y="25863"/>
                    <a:pt x="1263541" y="0"/>
                  </a:cubicBezTo>
                  <a:cubicBezTo>
                    <a:pt x="1401790" y="-25863"/>
                    <a:pt x="1624939" y="41804"/>
                    <a:pt x="1733011" y="0"/>
                  </a:cubicBezTo>
                  <a:cubicBezTo>
                    <a:pt x="1841083" y="-41804"/>
                    <a:pt x="2215303" y="63012"/>
                    <a:pt x="2357062" y="0"/>
                  </a:cubicBezTo>
                  <a:cubicBezTo>
                    <a:pt x="2498821" y="-63012"/>
                    <a:pt x="2671879" y="30280"/>
                    <a:pt x="2878059" y="0"/>
                  </a:cubicBezTo>
                  <a:cubicBezTo>
                    <a:pt x="3084239" y="-30280"/>
                    <a:pt x="3240861" y="56175"/>
                    <a:pt x="3553638" y="0"/>
                  </a:cubicBezTo>
                  <a:cubicBezTo>
                    <a:pt x="3866415" y="-56175"/>
                    <a:pt x="3884316" y="24106"/>
                    <a:pt x="4023108" y="0"/>
                  </a:cubicBezTo>
                  <a:cubicBezTo>
                    <a:pt x="4161900" y="-24106"/>
                    <a:pt x="4415697" y="12576"/>
                    <a:pt x="4698686" y="0"/>
                  </a:cubicBezTo>
                  <a:cubicBezTo>
                    <a:pt x="4981675" y="-12576"/>
                    <a:pt x="4996553" y="19800"/>
                    <a:pt x="5219683" y="0"/>
                  </a:cubicBezTo>
                  <a:cubicBezTo>
                    <a:pt x="5248396" y="-473"/>
                    <a:pt x="5287135" y="28648"/>
                    <a:pt x="5286649" y="66966"/>
                  </a:cubicBezTo>
                  <a:cubicBezTo>
                    <a:pt x="5352595" y="341892"/>
                    <a:pt x="5273569" y="365513"/>
                    <a:pt x="5286649" y="624761"/>
                  </a:cubicBezTo>
                  <a:cubicBezTo>
                    <a:pt x="5299729" y="884010"/>
                    <a:pt x="5277572" y="1083877"/>
                    <a:pt x="5286649" y="1204010"/>
                  </a:cubicBezTo>
                  <a:cubicBezTo>
                    <a:pt x="5295726" y="1324143"/>
                    <a:pt x="5207012" y="1919300"/>
                    <a:pt x="5286649" y="2212332"/>
                  </a:cubicBezTo>
                  <a:cubicBezTo>
                    <a:pt x="5283234" y="2249877"/>
                    <a:pt x="5250941" y="2275347"/>
                    <a:pt x="5219683" y="2279298"/>
                  </a:cubicBezTo>
                  <a:cubicBezTo>
                    <a:pt x="5075191" y="2304183"/>
                    <a:pt x="4731204" y="2217395"/>
                    <a:pt x="4595632" y="2279298"/>
                  </a:cubicBezTo>
                  <a:cubicBezTo>
                    <a:pt x="4460060" y="2341201"/>
                    <a:pt x="4269069" y="2252491"/>
                    <a:pt x="4023108" y="2279298"/>
                  </a:cubicBezTo>
                  <a:cubicBezTo>
                    <a:pt x="3777147" y="2306105"/>
                    <a:pt x="3713729" y="2248171"/>
                    <a:pt x="3605165" y="2279298"/>
                  </a:cubicBezTo>
                  <a:cubicBezTo>
                    <a:pt x="3496601" y="2310425"/>
                    <a:pt x="3314051" y="2245175"/>
                    <a:pt x="3135695" y="2279298"/>
                  </a:cubicBezTo>
                  <a:cubicBezTo>
                    <a:pt x="2957339" y="2313421"/>
                    <a:pt x="2785642" y="2270170"/>
                    <a:pt x="2460117" y="2279298"/>
                  </a:cubicBezTo>
                  <a:cubicBezTo>
                    <a:pt x="2134592" y="2288426"/>
                    <a:pt x="2075475" y="2254209"/>
                    <a:pt x="1887593" y="2279298"/>
                  </a:cubicBezTo>
                  <a:cubicBezTo>
                    <a:pt x="1699711" y="2304387"/>
                    <a:pt x="1570323" y="2259707"/>
                    <a:pt x="1418123" y="2279298"/>
                  </a:cubicBezTo>
                  <a:cubicBezTo>
                    <a:pt x="1265923" y="2298889"/>
                    <a:pt x="1023820" y="2251076"/>
                    <a:pt x="845599" y="2279298"/>
                  </a:cubicBezTo>
                  <a:cubicBezTo>
                    <a:pt x="667378" y="2307520"/>
                    <a:pt x="251870" y="2254273"/>
                    <a:pt x="66966" y="2279298"/>
                  </a:cubicBezTo>
                  <a:cubicBezTo>
                    <a:pt x="30292" y="2278344"/>
                    <a:pt x="4310" y="2253976"/>
                    <a:pt x="0" y="2212332"/>
                  </a:cubicBezTo>
                  <a:cubicBezTo>
                    <a:pt x="-61967" y="2092896"/>
                    <a:pt x="11242" y="1758257"/>
                    <a:pt x="0" y="1633083"/>
                  </a:cubicBezTo>
                  <a:cubicBezTo>
                    <a:pt x="-11242" y="1507909"/>
                    <a:pt x="33813" y="1229511"/>
                    <a:pt x="0" y="1075288"/>
                  </a:cubicBezTo>
                  <a:cubicBezTo>
                    <a:pt x="-33813" y="921066"/>
                    <a:pt x="4190" y="781487"/>
                    <a:pt x="0" y="581854"/>
                  </a:cubicBezTo>
                  <a:cubicBezTo>
                    <a:pt x="-4190" y="382221"/>
                    <a:pt x="27466" y="257478"/>
                    <a:pt x="0" y="66966"/>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576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45080" y="3926593"/>
              <a:ext cx="610952" cy="610952"/>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029309" y="2348880"/>
            <a:ext cx="2766278" cy="3842021"/>
            <a:chOff x="3029309" y="2348880"/>
            <a:chExt cx="2766278"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766278"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2"/>
              <a:ext cx="607391" cy="1550974"/>
              <a:chOff x="4336438" y="2128458"/>
              <a:chExt cx="607391" cy="1300542"/>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300542"/>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607876"/>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989470" y="908720"/>
            <a:ext cx="2175109" cy="1815483"/>
          </a:xfrm>
          <a:prstGeom prst="borderCallout1">
            <a:avLst>
              <a:gd name="adj1" fmla="val 51349"/>
              <a:gd name="adj2" fmla="val 97160"/>
              <a:gd name="adj3" fmla="val 87426"/>
              <a:gd name="adj4" fmla="val 130412"/>
            </a:avLst>
          </a:prstGeom>
          <a:solidFill>
            <a:schemeClr val="tx2">
              <a:lumMod val="40000"/>
              <a:lumOff val="60000"/>
              <a:alpha val="2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228338" y="4365104"/>
            <a:ext cx="1948127" cy="1180383"/>
          </a:xfrm>
          <a:prstGeom prst="borderCallout1">
            <a:avLst>
              <a:gd name="adj1" fmla="val 17633"/>
              <a:gd name="adj2" fmla="val 8388"/>
              <a:gd name="adj3" fmla="val 51744"/>
              <a:gd name="adj4" fmla="val -69227"/>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441976601"/>
              </p:ext>
            </p:extLst>
          </p:nvPr>
        </p:nvGraphicFramePr>
        <p:xfrm>
          <a:off x="293763" y="4372727"/>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55" name="群組 54">
            <a:extLst>
              <a:ext uri="{FF2B5EF4-FFF2-40B4-BE49-F238E27FC236}">
                <a16:creationId xmlns:a16="http://schemas.microsoft.com/office/drawing/2014/main" id="{4DE2592A-D604-3D0C-91DE-89E097153AD3}"/>
              </a:ext>
            </a:extLst>
          </p:cNvPr>
          <p:cNvGrpSpPr/>
          <p:nvPr/>
        </p:nvGrpSpPr>
        <p:grpSpPr>
          <a:xfrm>
            <a:off x="5962306" y="4192663"/>
            <a:ext cx="1236196" cy="1944216"/>
            <a:chOff x="5178038" y="3429000"/>
            <a:chExt cx="1236196" cy="1944216"/>
          </a:xfrm>
        </p:grpSpPr>
        <p:pic>
          <p:nvPicPr>
            <p:cNvPr id="21" name="圖片 20">
              <a:extLst>
                <a:ext uri="{FF2B5EF4-FFF2-40B4-BE49-F238E27FC236}">
                  <a16:creationId xmlns:a16="http://schemas.microsoft.com/office/drawing/2014/main" id="{8D0477E1-D253-0DF8-70E7-619094E21A5C}"/>
                </a:ext>
              </a:extLst>
            </p:cNvPr>
            <p:cNvPicPr>
              <a:picLocks noChangeAspect="1"/>
            </p:cNvPicPr>
            <p:nvPr/>
          </p:nvPicPr>
          <p:blipFill>
            <a:blip r:embed="rId7"/>
            <a:stretch>
              <a:fillRect/>
            </a:stretch>
          </p:blipFill>
          <p:spPr>
            <a:xfrm>
              <a:off x="5841328" y="3678613"/>
              <a:ext cx="527714" cy="830051"/>
            </a:xfrm>
            <a:prstGeom prst="rect">
              <a:avLst/>
            </a:prstGeom>
          </p:spPr>
        </p:pic>
        <p:sp>
          <p:nvSpPr>
            <p:cNvPr id="31" name="文字方塊 30">
              <a:extLst>
                <a:ext uri="{FF2B5EF4-FFF2-40B4-BE49-F238E27FC236}">
                  <a16:creationId xmlns:a16="http://schemas.microsoft.com/office/drawing/2014/main" id="{E1BEF8EA-A31D-8986-4923-DEDDE6E5A93C}"/>
                </a:ext>
              </a:extLst>
            </p:cNvPr>
            <p:cNvSpPr txBox="1"/>
            <p:nvPr/>
          </p:nvSpPr>
          <p:spPr>
            <a:xfrm>
              <a:off x="5796136" y="3429000"/>
              <a:ext cx="618098" cy="1114088"/>
            </a:xfrm>
            <a:prstGeom prst="rect">
              <a:avLst/>
            </a:prstGeom>
            <a:solidFill>
              <a:schemeClr val="bg1">
                <a:alpha val="8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a:t>
              </a:r>
            </a:p>
          </p:txBody>
        </p:sp>
        <p:sp>
          <p:nvSpPr>
            <p:cNvPr id="33" name="文字方塊 32">
              <a:extLst>
                <a:ext uri="{FF2B5EF4-FFF2-40B4-BE49-F238E27FC236}">
                  <a16:creationId xmlns:a16="http://schemas.microsoft.com/office/drawing/2014/main" id="{502C2AD7-0EA0-026D-D4FF-4BC4621F9CF0}"/>
                </a:ext>
              </a:extLst>
            </p:cNvPr>
            <p:cNvSpPr txBox="1"/>
            <p:nvPr/>
          </p:nvSpPr>
          <p:spPr>
            <a:xfrm>
              <a:off x="6143214" y="407375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111117"/>
              <a:ext cx="527714" cy="830051"/>
            </a:xfrm>
            <a:prstGeom prst="rect">
              <a:avLst/>
            </a:prstGeom>
          </p:spPr>
        </p:pic>
        <p:sp>
          <p:nvSpPr>
            <p:cNvPr id="45" name="文字方塊 44">
              <a:extLst>
                <a:ext uri="{FF2B5EF4-FFF2-40B4-BE49-F238E27FC236}">
                  <a16:creationId xmlns:a16="http://schemas.microsoft.com/office/drawing/2014/main" id="{87EADC2A-442B-24AB-BF8E-75BCE8145054}"/>
                </a:ext>
              </a:extLst>
            </p:cNvPr>
            <p:cNvSpPr txBox="1"/>
            <p:nvPr/>
          </p:nvSpPr>
          <p:spPr>
            <a:xfrm>
              <a:off x="5436096" y="3823464"/>
              <a:ext cx="618098" cy="1114088"/>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sp>
          <p:nvSpPr>
            <p:cNvPr id="47" name="文字方塊 46">
              <a:extLst>
                <a:ext uri="{FF2B5EF4-FFF2-40B4-BE49-F238E27FC236}">
                  <a16:creationId xmlns:a16="http://schemas.microsoft.com/office/drawing/2014/main" id="{5E22CC08-ED18-A46F-157B-580E43DEEA91}"/>
                </a:ext>
              </a:extLst>
            </p:cNvPr>
            <p:cNvSpPr txBox="1"/>
            <p:nvPr/>
          </p:nvSpPr>
          <p:spPr>
            <a:xfrm>
              <a:off x="5885156" y="4506257"/>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78038" y="4259128"/>
              <a:ext cx="618098" cy="1114088"/>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223230" y="4508741"/>
              <a:ext cx="527714" cy="830051"/>
            </a:xfrm>
            <a:prstGeom prst="rect">
              <a:avLst/>
            </a:prstGeom>
          </p:spPr>
        </p:pic>
        <p:sp>
          <p:nvSpPr>
            <p:cNvPr id="51" name="文字方塊 50">
              <a:extLst>
                <a:ext uri="{FF2B5EF4-FFF2-40B4-BE49-F238E27FC236}">
                  <a16:creationId xmlns:a16="http://schemas.microsoft.com/office/drawing/2014/main" id="{472EA781-8409-172B-ED33-931C5B8C99DC}"/>
                </a:ext>
              </a:extLst>
            </p:cNvPr>
            <p:cNvSpPr txBox="1"/>
            <p:nvPr/>
          </p:nvSpPr>
          <p:spPr>
            <a:xfrm>
              <a:off x="5525116" y="4903881"/>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153338189"/>
              </p:ext>
            </p:extLst>
          </p:nvPr>
        </p:nvGraphicFramePr>
        <p:xfrm>
          <a:off x="6076298" y="968097"/>
          <a:ext cx="2020094" cy="1706402"/>
        </p:xfrm>
        <a:graphic>
          <a:graphicData uri="http://schemas.openxmlformats.org/drawingml/2006/table">
            <a:tbl>
              <a:tblPr firstRow="1" bandRow="1">
                <a:tableStyleId>{5C22544A-7EE6-4342-B048-85BDC9FD1C3A}</a:tableStyleId>
              </a:tblPr>
              <a:tblGrid>
                <a:gridCol w="2020094">
                  <a:extLst>
                    <a:ext uri="{9D8B030D-6E8A-4147-A177-3AD203B41FA5}">
                      <a16:colId xmlns:a16="http://schemas.microsoft.com/office/drawing/2014/main" val="4512040"/>
                    </a:ext>
                  </a:extLst>
                </a:gridCol>
              </a:tblGrid>
              <a:tr h="2842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52236196"/>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32145302"/>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4017267"/>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7108361"/>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365849749"/>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1619672" y="5219306"/>
            <a:ext cx="973462" cy="1059346"/>
            <a:chOff x="6114742" y="721121"/>
            <a:chExt cx="973462"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742"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grpSp>
        <p:nvGrpSpPr>
          <p:cNvPr id="108" name="群組 107">
            <a:extLst>
              <a:ext uri="{FF2B5EF4-FFF2-40B4-BE49-F238E27FC236}">
                <a16:creationId xmlns:a16="http://schemas.microsoft.com/office/drawing/2014/main" id="{8B856D10-59CD-C186-CB30-9D364A137D47}"/>
              </a:ext>
            </a:extLst>
          </p:cNvPr>
          <p:cNvGrpSpPr/>
          <p:nvPr/>
        </p:nvGrpSpPr>
        <p:grpSpPr>
          <a:xfrm>
            <a:off x="7368523" y="2420888"/>
            <a:ext cx="1667973" cy="1543803"/>
            <a:chOff x="4139952" y="548680"/>
            <a:chExt cx="1667973" cy="1543803"/>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130675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1264307"/>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13727" y="1630818"/>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196752"/>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24%</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24%</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83968" y="908720"/>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47%</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r>
              <a:rPr lang="zh-TW" altLang="en-US" sz="1000" b="1" dirty="0">
                <a:solidFill>
                  <a:schemeClr val="bg1"/>
                </a:solidFill>
              </a:rPr>
              <a:t>  </a:t>
            </a:r>
            <a:r>
              <a:rPr lang="en-US" altLang="zh-TW" sz="1000" b="1" dirty="0">
                <a:solidFill>
                  <a:schemeClr val="bg1"/>
                </a:solidFill>
              </a:rPr>
              <a:t>(CCL)</a:t>
            </a: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229753" y="2527212"/>
            <a:ext cx="1948127" cy="1608749"/>
          </a:xfrm>
          <a:prstGeom prst="borderCallout1">
            <a:avLst>
              <a:gd name="adj1" fmla="val 24803"/>
              <a:gd name="adj2" fmla="val 5180"/>
              <a:gd name="adj3" fmla="val 48340"/>
              <a:gd name="adj4" fmla="val -63390"/>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p:nvPr/>
        </p:nvCxnSpPr>
        <p:spPr>
          <a:xfrm>
            <a:off x="2534072" y="980728"/>
            <a:ext cx="0" cy="1546484"/>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2557788722"/>
              </p:ext>
            </p:extLst>
          </p:nvPr>
        </p:nvGraphicFramePr>
        <p:xfrm>
          <a:off x="293763" y="2543197"/>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graphicFrame>
        <p:nvGraphicFramePr>
          <p:cNvPr id="61" name="表格 60">
            <a:extLst>
              <a:ext uri="{FF2B5EF4-FFF2-40B4-BE49-F238E27FC236}">
                <a16:creationId xmlns:a16="http://schemas.microsoft.com/office/drawing/2014/main" id="{3D7F18CD-D7BC-D341-2FAF-DEC56D54819F}"/>
              </a:ext>
            </a:extLst>
          </p:cNvPr>
          <p:cNvGraphicFramePr>
            <a:graphicFrameLocks noGrp="1"/>
          </p:cNvGraphicFramePr>
          <p:nvPr>
            <p:extLst>
              <p:ext uri="{D42A27DB-BD31-4B8C-83A1-F6EECF244321}">
                <p14:modId xmlns:p14="http://schemas.microsoft.com/office/powerpoint/2010/main" val="1362605580"/>
              </p:ext>
            </p:extLst>
          </p:nvPr>
        </p:nvGraphicFramePr>
        <p:xfrm>
          <a:off x="1115616" y="1490289"/>
          <a:ext cx="2664296" cy="1280160"/>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1375270607"/>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Chips and Semiconductor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rgbClr val="4F81BD"/>
                          </a:solidFill>
                          <a:effectLst/>
                          <a:uLnTx/>
                          <a:uFillTx/>
                          <a:latin typeface="+mn-lt"/>
                          <a:ea typeface="+mn-ea"/>
                          <a:cs typeface="+mn-cs"/>
                        </a:rPr>
                        <a:t>GPU,</a:t>
                      </a:r>
                      <a:r>
                        <a:rPr kumimoji="0" lang="zh-TW" altLang="en-US" sz="1000" b="0" i="0" u="none" strike="noStrike" kern="1200" cap="none" spc="0" normalizeH="0" baseline="0" noProof="0" dirty="0">
                          <a:ln w="0"/>
                          <a:solidFill>
                            <a:srgbClr val="4F81BD"/>
                          </a:solidFill>
                          <a:effectLst/>
                          <a:uLnTx/>
                          <a:uFillTx/>
                          <a:latin typeface="+mn-lt"/>
                          <a:ea typeface="+mn-ea"/>
                          <a:cs typeface="+mn-cs"/>
                        </a:rPr>
                        <a:t> </a:t>
                      </a:r>
                      <a:r>
                        <a:rPr kumimoji="0" lang="en-US" altLang="zh-TW" sz="1000" b="0" i="0" u="none" strike="noStrike" kern="1200" cap="none" spc="0" normalizeH="0" baseline="0" noProof="0" dirty="0">
                          <a:ln w="0"/>
                          <a:solidFill>
                            <a:srgbClr val="4F81BD"/>
                          </a:solidFill>
                          <a:effectLst/>
                          <a:uLnTx/>
                          <a:uFillTx/>
                          <a:latin typeface="+mn-lt"/>
                          <a:ea typeface="+mn-ea"/>
                          <a:cs typeface="+mn-cs"/>
                        </a:rPr>
                        <a:t>CPU,</a:t>
                      </a:r>
                      <a:r>
                        <a:rPr kumimoji="0" lang="zh-TW" altLang="en-US" sz="1000" b="0" i="0" u="none" strike="noStrike" kern="1200" cap="none" spc="0" normalizeH="0" baseline="0" noProof="0" dirty="0">
                          <a:ln w="0"/>
                          <a:solidFill>
                            <a:srgbClr val="4F81BD"/>
                          </a:solidFill>
                          <a:effectLst/>
                          <a:uLnTx/>
                          <a:uFillTx/>
                          <a:latin typeface="+mn-lt"/>
                          <a:ea typeface="+mn-ea"/>
                          <a:cs typeface="+mn-cs"/>
                        </a:rPr>
                        <a:t> </a:t>
                      </a:r>
                      <a:r>
                        <a:rPr kumimoji="0" lang="en-US" altLang="zh-TW" sz="1000" b="0" i="0" u="none" strike="noStrike" kern="1200" cap="none" spc="0" normalizeH="0" baseline="0" noProof="0" dirty="0">
                          <a:ln w="0"/>
                          <a:solidFill>
                            <a:srgbClr val="4F81BD"/>
                          </a:solidFill>
                          <a:effectLst/>
                          <a:uLnTx/>
                          <a:uFillTx/>
                          <a:latin typeface="+mn-lt"/>
                          <a:ea typeface="+mn-ea"/>
                          <a:cs typeface="+mn-cs"/>
                        </a:rPr>
                        <a:t>Memory</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NVIDIA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AMD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TSMC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Samsung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Broadcom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ASML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SK Hynix</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MTK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72" name="圖說文字: 直線 71">
            <a:extLst>
              <a:ext uri="{FF2B5EF4-FFF2-40B4-BE49-F238E27FC236}">
                <a16:creationId xmlns:a16="http://schemas.microsoft.com/office/drawing/2014/main" id="{585A9BF3-E7B2-7185-ED27-49F214F6148F}"/>
              </a:ext>
            </a:extLst>
          </p:cNvPr>
          <p:cNvSpPr/>
          <p:nvPr/>
        </p:nvSpPr>
        <p:spPr>
          <a:xfrm flipH="1">
            <a:off x="5039816" y="222025"/>
            <a:ext cx="1948127" cy="1180383"/>
          </a:xfrm>
          <a:prstGeom prst="borderCallout1">
            <a:avLst>
              <a:gd name="adj1" fmla="val 17633"/>
              <a:gd name="adj2" fmla="val 8388"/>
              <a:gd name="adj3" fmla="val 51744"/>
              <a:gd name="adj4" fmla="val -69227"/>
            </a:avLst>
          </a:prstGeom>
          <a:no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The top 20 leaders in the AI Ecosystem.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512A293C-A59D-C5A0-1E0F-EEEE37412821}"/>
              </a:ext>
            </a:extLst>
          </p:cNvPr>
          <p:cNvGraphicFramePr>
            <a:graphicFrameLocks noGrp="1"/>
          </p:cNvGraphicFramePr>
          <p:nvPr>
            <p:extLst>
              <p:ext uri="{D42A27DB-BD31-4B8C-83A1-F6EECF244321}">
                <p14:modId xmlns:p14="http://schemas.microsoft.com/office/powerpoint/2010/main" val="1443958221"/>
              </p:ext>
            </p:extLst>
          </p:nvPr>
        </p:nvGraphicFramePr>
        <p:xfrm>
          <a:off x="1763688" y="2945465"/>
          <a:ext cx="2664296" cy="1280160"/>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3067959416"/>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Frontier Foundation Models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rgbClr val="4F81BD"/>
                          </a:solidFill>
                          <a:effectLst/>
                          <a:uLnTx/>
                          <a:uFillTx/>
                          <a:latin typeface="+mn-lt"/>
                          <a:ea typeface="+mn-ea"/>
                          <a:cs typeface="+mn-cs"/>
                        </a:rPr>
                        <a:t>AI Agent</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Anthropic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xAI</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DeepMind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Cohere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6" name="表格 5">
            <a:extLst>
              <a:ext uri="{FF2B5EF4-FFF2-40B4-BE49-F238E27FC236}">
                <a16:creationId xmlns:a16="http://schemas.microsoft.com/office/drawing/2014/main" id="{43110990-9D88-52DB-49E0-2C44433D9579}"/>
              </a:ext>
            </a:extLst>
          </p:cNvPr>
          <p:cNvGraphicFramePr>
            <a:graphicFrameLocks noGrp="1"/>
          </p:cNvGraphicFramePr>
          <p:nvPr>
            <p:extLst>
              <p:ext uri="{D42A27DB-BD31-4B8C-83A1-F6EECF244321}">
                <p14:modId xmlns:p14="http://schemas.microsoft.com/office/powerpoint/2010/main" val="2268202834"/>
              </p:ext>
            </p:extLst>
          </p:nvPr>
        </p:nvGraphicFramePr>
        <p:xfrm>
          <a:off x="2447764" y="4739462"/>
          <a:ext cx="2664296" cy="1280160"/>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2174767024"/>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Cloud Services</a:t>
                      </a:r>
                      <a:br>
                        <a:rPr lang="en-US" altLang="zh-TW" sz="1400" b="1" cap="none" spc="0" dirty="0">
                          <a:ln w="0"/>
                          <a:solidFill>
                            <a:schemeClr val="tx1"/>
                          </a:solidFill>
                          <a:effectLst/>
                        </a:rPr>
                      </a:br>
                      <a:r>
                        <a:rPr kumimoji="0" lang="en-US" altLang="zh-TW" sz="1000" b="0" i="0" u="none" strike="noStrike" kern="1200" cap="none" spc="0" normalizeH="0" baseline="0" noProof="0" dirty="0">
                          <a:ln w="0"/>
                          <a:solidFill>
                            <a:srgbClr val="4F81BD"/>
                          </a:solidFill>
                          <a:effectLst/>
                          <a:uLnTx/>
                          <a:uFillTx/>
                          <a:latin typeface="+mn-lt"/>
                          <a:ea typeface="+mn-ea"/>
                          <a:cs typeface="+mn-cs"/>
                        </a:rPr>
                        <a:t>CSP</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MS Azure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Alibaba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AWS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Tencent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CoreWeave</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Platforms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Scale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Oracle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Databricks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11" name="表格 10">
            <a:extLst>
              <a:ext uri="{FF2B5EF4-FFF2-40B4-BE49-F238E27FC236}">
                <a16:creationId xmlns:a16="http://schemas.microsoft.com/office/drawing/2014/main" id="{EF86854B-09FE-9F40-F096-6191898F5E74}"/>
              </a:ext>
            </a:extLst>
          </p:cNvPr>
          <p:cNvGraphicFramePr>
            <a:graphicFrameLocks noGrp="1"/>
          </p:cNvGraphicFramePr>
          <p:nvPr>
            <p:extLst>
              <p:ext uri="{D42A27DB-BD31-4B8C-83A1-F6EECF244321}">
                <p14:modId xmlns:p14="http://schemas.microsoft.com/office/powerpoint/2010/main" val="2930162266"/>
              </p:ext>
            </p:extLst>
          </p:nvPr>
        </p:nvGraphicFramePr>
        <p:xfrm>
          <a:off x="5374762" y="3161489"/>
          <a:ext cx="2664296" cy="1280160"/>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1178814869"/>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Vertical AI Applications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AI Agent</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Apple Perplexity</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Palantir</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Salesforce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Databricks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r>
                        <a:rPr lang="zh-TW" altLang="en-US" sz="1200" b="0" cap="none" spc="0" dirty="0">
                          <a:ln w="0"/>
                          <a:solidFill>
                            <a:schemeClr val="tx1"/>
                          </a:solidFill>
                          <a:effectLst/>
                        </a:rPr>
                        <a:t> </a:t>
                      </a:r>
                      <a:r>
                        <a:rPr lang="en-US" altLang="zh-TW" sz="1200" b="0" cap="none" spc="0" dirty="0">
                          <a:ln w="0"/>
                          <a:solidFill>
                            <a:schemeClr val="tx1"/>
                          </a:solidFill>
                          <a:effectLst/>
                        </a:rPr>
                        <a:t>Copilot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Cursor (</a:t>
                      </a:r>
                      <a:r>
                        <a:rPr lang="en-US" altLang="zh-TW" sz="1200" b="0" cap="none" spc="0" dirty="0" err="1">
                          <a:ln w="0"/>
                          <a:solidFill>
                            <a:schemeClr val="tx1"/>
                          </a:solidFill>
                          <a:effectLst/>
                        </a:rPr>
                        <a:t>Anysphere</a:t>
                      </a:r>
                      <a:r>
                        <a:rPr lang="en-US" altLang="zh-TW" sz="1200" b="0" cap="none" spc="0" dirty="0">
                          <a:ln w="0"/>
                          <a:solidFill>
                            <a:schemeClr val="tx1"/>
                          </a:solidFill>
                          <a:effectLst/>
                        </a:rPr>
                        <a: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Tesla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Harvey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Adobe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Glean</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15" name="表格 14">
            <a:extLst>
              <a:ext uri="{FF2B5EF4-FFF2-40B4-BE49-F238E27FC236}">
                <a16:creationId xmlns:a16="http://schemas.microsoft.com/office/drawing/2014/main" id="{7F3A25DC-80E9-98E5-7B02-E9FFC6E485AD}"/>
              </a:ext>
            </a:extLst>
          </p:cNvPr>
          <p:cNvGraphicFramePr>
            <a:graphicFrameLocks noGrp="1"/>
          </p:cNvGraphicFramePr>
          <p:nvPr>
            <p:extLst>
              <p:ext uri="{D42A27DB-BD31-4B8C-83A1-F6EECF244321}">
                <p14:modId xmlns:p14="http://schemas.microsoft.com/office/powerpoint/2010/main" val="153156062"/>
              </p:ext>
            </p:extLst>
          </p:nvPr>
        </p:nvGraphicFramePr>
        <p:xfrm>
          <a:off x="6012160" y="5012192"/>
          <a:ext cx="2664296" cy="1280160"/>
        </p:xfrm>
        <a:graphic>
          <a:graphicData uri="http://schemas.openxmlformats.org/drawingml/2006/table">
            <a:tbl>
              <a:tblPr firstRow="1" bandRow="1">
                <a:tableStyleId>{5C22544A-7EE6-4342-B048-85BDC9FD1C3A}</a:tableStyleId>
              </a:tblPr>
              <a:tblGrid>
                <a:gridCol w="2664296">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Next-Gen Embodies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rgbClr val="4F81BD"/>
                          </a:solidFill>
                          <a:effectLst/>
                          <a:uLnTx/>
                          <a:uFillTx/>
                          <a:latin typeface="+mn-lt"/>
                          <a:ea typeface="+mn-ea"/>
                          <a:cs typeface="+mn-cs"/>
                        </a:rPr>
                        <a:t>Multimodal and AI Robot</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Figure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Runway</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ElevenLabs</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Suno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Waymo</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568</TotalTime>
  <Words>6030</Words>
  <Application>Microsoft Office PowerPoint</Application>
  <PresentationFormat>如螢幕大小 (4:3)</PresentationFormat>
  <Paragraphs>1195</Paragraphs>
  <Slides>20</Slides>
  <Notes>18</Notes>
  <HiddenSlides>0</HiddenSlides>
  <MMClips>0</MMClips>
  <ScaleCrop>false</ScaleCrop>
  <HeadingPairs>
    <vt:vector size="6" baseType="variant">
      <vt:variant>
        <vt:lpstr>使用字型</vt:lpstr>
      </vt:variant>
      <vt:variant>
        <vt:i4>13</vt:i4>
      </vt:variant>
      <vt:variant>
        <vt:lpstr>佈景主題</vt:lpstr>
      </vt:variant>
      <vt:variant>
        <vt:i4>1</vt:i4>
      </vt:variant>
      <vt:variant>
        <vt:lpstr>投影片標題</vt:lpstr>
      </vt:variant>
      <vt:variant>
        <vt:i4>20</vt:i4>
      </vt:variant>
    </vt:vector>
  </HeadingPairs>
  <TitlesOfParts>
    <vt:vector size="34" baseType="lpstr">
      <vt:lpstr>Google Sans</vt:lpstr>
      <vt:lpstr>Microsoft GothicNeo</vt:lpstr>
      <vt:lpstr>Microsoft YaHei Mono</vt:lpstr>
      <vt:lpstr>Noto Sans HK</vt:lpstr>
      <vt:lpstr>STXingkai</vt:lpstr>
      <vt:lpstr>微軟正黑體</vt:lpstr>
      <vt:lpstr>ADLaM Display</vt:lpstr>
      <vt:lpstr>Arial</vt:lpstr>
      <vt:lpstr>Calibri</vt:lpstr>
      <vt:lpstr>Cambria Math</vt:lpstr>
      <vt:lpstr>Comic Sans MS</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1665</cp:revision>
  <cp:lastPrinted>2024-07-30T01:44:15Z</cp:lastPrinted>
  <dcterms:created xsi:type="dcterms:W3CDTF">2019-11-08T03:01:47Z</dcterms:created>
  <dcterms:modified xsi:type="dcterms:W3CDTF">2026-07-07T09:38:44Z</dcterms:modified>
</cp:coreProperties>
</file>