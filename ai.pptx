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2"/>
  </p:notesMasterIdLst>
  <p:handoutMasterIdLst>
    <p:handoutMasterId r:id="rId53"/>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7" r:id="rId36"/>
    <p:sldId id="3544" r:id="rId37"/>
    <p:sldId id="3540" r:id="rId38"/>
    <p:sldId id="3542" r:id="rId39"/>
    <p:sldId id="3543" r:id="rId40"/>
    <p:sldId id="3539" r:id="rId41"/>
    <p:sldId id="3538" r:id="rId42"/>
    <p:sldId id="3534" r:id="rId43"/>
    <p:sldId id="3536" r:id="rId44"/>
    <p:sldId id="3535" r:id="rId45"/>
    <p:sldId id="3519" r:id="rId46"/>
    <p:sldId id="3530" r:id="rId47"/>
    <p:sldId id="269" r:id="rId48"/>
    <p:sldId id="270" r:id="rId49"/>
    <p:sldId id="257" r:id="rId50"/>
    <p:sldId id="265" r:id="rId5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37"/>
            <p14:sldId id="3544"/>
            <p14:sldId id="3540"/>
            <p14:sldId id="3542"/>
            <p14:sldId id="3543"/>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84550" autoAdjust="0"/>
  </p:normalViewPr>
  <p:slideViewPr>
    <p:cSldViewPr>
      <p:cViewPr>
        <p:scale>
          <a:sx n="100" d="100"/>
          <a:sy n="100" d="100"/>
        </p:scale>
        <p:origin x="158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68.png"/><Relationship Id="rId2" Type="http://schemas.openxmlformats.org/officeDocument/2006/relationships/image" Target="../media/image91.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3.png"/></Relationships>
</file>

<file path=ppt/slides/_rels/slide4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8.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100.png"/></Relationships>
</file>

<file path=ppt/slides/_rels/slide49.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02.png"/><Relationship Id="rId7" Type="http://schemas.openxmlformats.org/officeDocument/2006/relationships/image" Target="../media/image10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4.png"/><Relationship Id="rId5" Type="http://schemas.openxmlformats.org/officeDocument/2006/relationships/image" Target="../media/image2300.png"/><Relationship Id="rId4" Type="http://schemas.openxmlformats.org/officeDocument/2006/relationships/image" Target="../media/image103.png"/></Relationships>
</file>

<file path=ppt/slides/_rels/slide50.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7.png"/><Relationship Id="rId7" Type="http://schemas.openxmlformats.org/officeDocument/2006/relationships/image" Target="../media/image11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23905210"/>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24676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V2: Multi-head Latent Attention (</a:t>
            </a:r>
            <a:r>
              <a:rPr lang="en-US" altLang="zh-TW" sz="1600" b="1" dirty="0">
                <a:solidFill>
                  <a:schemeClr val="accent6">
                    <a:lumMod val="75000"/>
                  </a:schemeClr>
                </a:solidFill>
              </a:rPr>
              <a:t>MLA</a:t>
            </a:r>
            <a:r>
              <a:rPr lang="en-US" altLang="zh-TW" sz="1600" dirty="0"/>
              <a:t>), DeepSeek </a:t>
            </a:r>
            <a:r>
              <a:rPr lang="en-US" altLang="zh-TW" sz="1600" dirty="0" err="1"/>
              <a:t>MoE</a:t>
            </a:r>
            <a:r>
              <a:rPr lang="en-US" altLang="zh-TW" sz="1600" dirty="0"/>
              <a:t>, FP8.</a:t>
            </a:r>
          </a:p>
          <a:p>
            <a:pPr marL="742950" lvl="1" indent="-285750">
              <a:lnSpc>
                <a:spcPts val="1800"/>
              </a:lnSpc>
              <a:spcBef>
                <a:spcPts val="600"/>
              </a:spcBef>
              <a:spcAft>
                <a:spcPts val="600"/>
              </a:spcAft>
              <a:buFont typeface="Arial" panose="020B0604020202020204" pitchFamily="34" charset="0"/>
              <a:buChar char="•"/>
            </a:pPr>
            <a:r>
              <a:rPr lang="en-US" altLang="zh-TW" sz="1600" dirty="0"/>
              <a:t>V3: 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V4: The first 3 layers use hash routing, sqrt(</a:t>
            </a:r>
            <a:r>
              <a:rPr lang="en-US" altLang="zh-TW" sz="1600" dirty="0" err="1"/>
              <a:t>Softplus</a:t>
            </a:r>
            <a:r>
              <a:rPr lang="en-US" altLang="zh-TW" sz="1600" dirty="0"/>
              <a:t>(•)), anticipatory routing.</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3455974944"/>
              </p:ext>
            </p:extLst>
          </p:nvPr>
        </p:nvGraphicFramePr>
        <p:xfrm>
          <a:off x="719572" y="4149080"/>
          <a:ext cx="7704855" cy="2163680"/>
        </p:xfrm>
        <a:graphic>
          <a:graphicData uri="http://schemas.openxmlformats.org/drawingml/2006/table">
            <a:tbl>
              <a:tblPr firstRow="1" bandRow="1">
                <a:tableStyleId>{5C22544A-7EE6-4342-B048-85BDC9FD1C3A}</a:tableStyleId>
              </a:tblPr>
              <a:tblGrid>
                <a:gridCol w="396044">
                  <a:extLst>
                    <a:ext uri="{9D8B030D-6E8A-4147-A177-3AD203B41FA5}">
                      <a16:colId xmlns:a16="http://schemas.microsoft.com/office/drawing/2014/main" val="4198244561"/>
                    </a:ext>
                  </a:extLst>
                </a:gridCol>
                <a:gridCol w="792088">
                  <a:extLst>
                    <a:ext uri="{9D8B030D-6E8A-4147-A177-3AD203B41FA5}">
                      <a16:colId xmlns:a16="http://schemas.microsoft.com/office/drawing/2014/main" val="2211145501"/>
                    </a:ext>
                  </a:extLst>
                </a:gridCol>
                <a:gridCol w="2160240">
                  <a:extLst>
                    <a:ext uri="{9D8B030D-6E8A-4147-A177-3AD203B41FA5}">
                      <a16:colId xmlns:a16="http://schemas.microsoft.com/office/drawing/2014/main" val="767948712"/>
                    </a:ext>
                  </a:extLst>
                </a:gridCol>
                <a:gridCol w="1512168">
                  <a:extLst>
                    <a:ext uri="{9D8B030D-6E8A-4147-A177-3AD203B41FA5}">
                      <a16:colId xmlns:a16="http://schemas.microsoft.com/office/drawing/2014/main" val="3715013544"/>
                    </a:ext>
                  </a:extLst>
                </a:gridCol>
                <a:gridCol w="719207">
                  <a:extLst>
                    <a:ext uri="{9D8B030D-6E8A-4147-A177-3AD203B41FA5}">
                      <a16:colId xmlns:a16="http://schemas.microsoft.com/office/drawing/2014/main" val="3328686525"/>
                    </a:ext>
                  </a:extLst>
                </a:gridCol>
                <a:gridCol w="785945">
                  <a:extLst>
                    <a:ext uri="{9D8B030D-6E8A-4147-A177-3AD203B41FA5}">
                      <a16:colId xmlns:a16="http://schemas.microsoft.com/office/drawing/2014/main" val="3752581630"/>
                    </a:ext>
                  </a:extLst>
                </a:gridCol>
                <a:gridCol w="1339163">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Key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en-US" altLang="zh-TW" sz="1200" b="0" cap="none" spc="0" dirty="0">
                        <a:ln w="0"/>
                        <a:solidFill>
                          <a:schemeClr val="tx1"/>
                        </a:solidFill>
                        <a:effectLst/>
                      </a:endParaRPr>
                    </a:p>
                  </a:txBody>
                  <a:tcPr marL="0" marR="0" marT="0" marB="0" anchor="ct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47980">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p>
                      <a:pPr algn="ctr"/>
                      <a:r>
                        <a:rPr lang="en-US" altLang="zh-TW" sz="1200" b="0" cap="none" spc="0" dirty="0">
                          <a:ln w="0"/>
                          <a:solidFill>
                            <a:schemeClr val="tx1"/>
                          </a:solidFill>
                          <a:effectLst/>
                        </a:rPr>
                        <a:t>DeepSeek </a:t>
                      </a:r>
                      <a:r>
                        <a:rPr lang="en-US" altLang="zh-TW" sz="1200" b="0" cap="none" spc="0" dirty="0" err="1">
                          <a:ln w="0"/>
                          <a:solidFill>
                            <a:schemeClr val="tx1"/>
                          </a:solidFill>
                          <a:effectLst/>
                        </a:rPr>
                        <a:t>MoE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21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A100 80G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541732">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GPRO,</a:t>
                      </a:r>
                      <a:r>
                        <a:rPr lang="zh-TW" altLang="en-US" sz="1200" b="0" cap="none" spc="0" dirty="0">
                          <a:ln w="0"/>
                          <a:solidFill>
                            <a:schemeClr val="tx1"/>
                          </a:solidFill>
                          <a:effectLst/>
                        </a:rPr>
                        <a:t> </a:t>
                      </a:r>
                      <a:r>
                        <a:rPr lang="en-US" altLang="zh-TW" sz="1200" b="0" cap="none" spc="0" dirty="0">
                          <a:ln w="0"/>
                          <a:solidFill>
                            <a:schemeClr val="tx1"/>
                          </a:solidFill>
                          <a:effectLst/>
                        </a:rPr>
                        <a:t>CoT, </a:t>
                      </a:r>
                    </a:p>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37</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9116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Compressed Attention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 CSA)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Top-k</a:t>
                      </a:r>
                      <a:r>
                        <a:rPr kumimoji="0" lang="en-US" altLang="zh-TW" sz="1200" b="0" i="0" u="none" strike="noStrike" kern="1200" cap="none" spc="0" normalizeH="0" baseline="0" noProof="0">
                          <a:ln w="0"/>
                          <a:solidFill>
                            <a:prstClr val="black"/>
                          </a:solidFill>
                          <a:effectLst/>
                          <a:uLnTx/>
                          <a:uFillTx/>
                          <a:latin typeface="+mn-lt"/>
                          <a:ea typeface="+mn-ea"/>
                          <a:cs typeface="+mn-cs"/>
                        </a:rPr>
                        <a:t>, HW Parallel </a:t>
                      </a:r>
                      <a:r>
                        <a:rPr kumimoji="0" lang="en-US" altLang="zh-TW" sz="1200" b="0" i="0" u="none" strike="noStrike" kern="1200" cap="none" spc="0" normalizeH="0" baseline="0" noProof="0" dirty="0">
                          <a:ln w="0"/>
                          <a:solidFill>
                            <a:prstClr val="black"/>
                          </a:solidFill>
                          <a:effectLst/>
                          <a:uLnTx/>
                          <a:uFillTx/>
                          <a:latin typeface="+mn-lt"/>
                          <a:ea typeface="+mn-ea"/>
                          <a:cs typeface="+mn-cs"/>
                        </a:rPr>
                        <a:t>Execution,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mHC</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Muon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13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H200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C2CD658E-47E1-5042-5EB9-137612D3ABF0}"/>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1427A214-A8F6-9F9E-E730-9E0005F5024F}"/>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EAD244C7-785F-4109-04F6-1AF16AB81040}"/>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6314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spcAft>
                <a:spcPts val="600"/>
              </a:spcAft>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spcAft>
                <a:spcPts val="600"/>
              </a:spcAft>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sp>
        <p:nvSpPr>
          <p:cNvPr id="24" name="標題 1">
            <a:extLst>
              <a:ext uri="{FF2B5EF4-FFF2-40B4-BE49-F238E27FC236}">
                <a16:creationId xmlns:a16="http://schemas.microsoft.com/office/drawing/2014/main" id="{D2F8DEE5-E3E1-6BCF-A3E0-7673A86B07A0}"/>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CD21D50D-67FF-1AAF-E234-697279D51DD8}"/>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7EF4FC27-0BF9-6E26-60E7-7D67E7774B50}"/>
              </a:ext>
            </a:extLst>
          </p:cNvPr>
          <p:cNvPicPr>
            <a:picLocks noChangeAspect="1"/>
          </p:cNvPicPr>
          <p:nvPr/>
        </p:nvPicPr>
        <p:blipFill>
          <a:blip r:embed="rId2"/>
          <a:stretch>
            <a:fillRect/>
          </a:stretch>
        </p:blipFill>
        <p:spPr>
          <a:xfrm>
            <a:off x="1691680" y="856984"/>
            <a:ext cx="5931288" cy="5719747"/>
          </a:xfrm>
          <a:prstGeom prst="rect">
            <a:avLst/>
          </a:prstGeom>
        </p:spPr>
      </p:pic>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2364760" y="634520"/>
            <a:ext cx="4310375" cy="5962832"/>
          </a:xfrm>
          <a:prstGeom prst="rect">
            <a:avLst/>
          </a:prstGeom>
        </p:spPr>
      </p:pic>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2635</TotalTime>
  <Words>20251</Words>
  <Application>Microsoft Office PowerPoint</Application>
  <PresentationFormat>如螢幕大小 (4:3)</PresentationFormat>
  <Paragraphs>2999</Paragraphs>
  <Slides>50</Slides>
  <Notes>40</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50</vt:i4>
      </vt:variant>
    </vt:vector>
  </HeadingPairs>
  <TitlesOfParts>
    <vt:vector size="68"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1823</cp:revision>
  <cp:lastPrinted>2024-07-30T01:44:15Z</cp:lastPrinted>
  <dcterms:created xsi:type="dcterms:W3CDTF">2019-11-08T03:01:47Z</dcterms:created>
  <dcterms:modified xsi:type="dcterms:W3CDTF">2026-08-07T09:30:48Z</dcterms:modified>
</cp:coreProperties>
</file>