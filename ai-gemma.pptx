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3459" r:id="rId2"/>
    <p:sldId id="3472" r:id="rId3"/>
    <p:sldId id="3502" r:id="rId4"/>
    <p:sldId id="3499" r:id="rId5"/>
    <p:sldId id="3444" r:id="rId6"/>
    <p:sldId id="3493" r:id="rId7"/>
    <p:sldId id="3475" r:id="rId8"/>
    <p:sldId id="3470" r:id="rId9"/>
    <p:sldId id="3496" r:id="rId10"/>
    <p:sldId id="3506" r:id="rId11"/>
    <p:sldId id="3505" r:id="rId12"/>
    <p:sldId id="3465" r:id="rId13"/>
    <p:sldId id="3482" r:id="rId14"/>
    <p:sldId id="3489" r:id="rId15"/>
    <p:sldId id="3495" r:id="rId16"/>
    <p:sldId id="3503" r:id="rId17"/>
    <p:sldId id="3460" r:id="rId18"/>
    <p:sldId id="3504" r:id="rId19"/>
    <p:sldId id="257" r:id="rId20"/>
    <p:sldId id="265" r:id="rId21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</p14:sldIdLst>
        </p14:section>
        <p14:section name="Background Knowledge" id="{C5ADF914-F8F1-4215-8A34-A521DDB15BBF}">
          <p14:sldIdLst>
            <p14:sldId id="3502"/>
            <p14:sldId id="3499"/>
            <p14:sldId id="3444"/>
            <p14:sldId id="3493"/>
            <p14:sldId id="3475"/>
          </p14:sldIdLst>
        </p14:section>
        <p14:section name="Gemma 3" id="{91BFD2B5-A843-4933-9519-5889D1D7895D}">
          <p14:sldIdLst>
            <p14:sldId id="3470"/>
            <p14:sldId id="3496"/>
            <p14:sldId id="3506"/>
            <p14:sldId id="3505"/>
          </p14:sldIdLst>
        </p14:section>
        <p14:section name="Gemma 4" id="{5A048767-0D58-44AF-B962-12C29493294F}">
          <p14:sldIdLst>
            <p14:sldId id="3465"/>
            <p14:sldId id="3482"/>
            <p14:sldId id="3489"/>
          </p14:sldIdLst>
        </p14:section>
        <p14:section name="Conclusion" id="{69C35067-BEF2-4B7C-9B54-B6977EB05C72}">
          <p14:sldIdLst>
            <p14:sldId id="3495"/>
            <p14:sldId id="3503"/>
            <p14:sldId id="3460"/>
            <p14:sldId id="3504"/>
            <p14:sldId id="257"/>
            <p14:sldId id="265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BDCA8"/>
    <a:srgbClr val="C5D8A0"/>
    <a:srgbClr val="CCFF66"/>
    <a:srgbClr val="DBFF94"/>
    <a:srgbClr val="DCE6F2"/>
    <a:srgbClr val="FF0000"/>
    <a:srgbClr val="FFCCCC"/>
    <a:srgbClr val="FFDDDD"/>
    <a:srgbClr val="F2DCDB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3541" autoAdjust="0"/>
    <p:restoredTop sz="72487" autoAdjust="0"/>
  </p:normalViewPr>
  <p:slideViewPr>
    <p:cSldViewPr>
      <p:cViewPr varScale="1">
        <p:scale>
          <a:sx n="123" d="100"/>
          <a:sy n="123" d="100"/>
        </p:scale>
        <p:origin x="768" y="102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cloud.tencent.com/developer/article/2245094" TargetMode="External"/><Relationship Id="rId3" Type="http://schemas.openxmlformats.org/officeDocument/2006/relationships/hyperlink" Target="https://aistudio.baidu.com/blog/detail/731024175967365" TargetMode="External"/><Relationship Id="rId7" Type="http://schemas.openxmlformats.org/officeDocument/2006/relationships/hyperlink" Target="https://hackmd.io/@MtkMWTAMStiGb_5Gc8900Q/BJoVM2VCkg" TargetMode="External"/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medium.com/@lmpo/an-overview-instruction-tuning-for-llms-440228e7edab" TargetMode="External"/><Relationship Id="rId5" Type="http://schemas.openxmlformats.org/officeDocument/2006/relationships/hyperlink" Target="https://blog.csdn.net/qq_39388410/article/details/128265846" TargetMode="External"/><Relationship Id="rId4" Type="http://schemas.openxmlformats.org/officeDocument/2006/relationships/hyperlink" Target="https://arxiv.org/pdf/2109.01652" TargetMode="Externa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2cm.com.tw/2cm/zh-tw/market/0B0A1A53F59840AA83761E4A97E37E6B" TargetMode="External"/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GPT </a:t>
            </a:r>
            <a:r>
              <a:rPr lang="zh-TW" altLang="en-US" dirty="0"/>
              <a:t>是「生成式預先訓練變壓器」（</a:t>
            </a:r>
            <a:r>
              <a:rPr lang="en-US" altLang="zh-TW" dirty="0"/>
              <a:t>Generative Pre-trained Transformer</a:t>
            </a:r>
            <a:r>
              <a:rPr lang="zh-TW" altLang="en-US" dirty="0"/>
              <a:t>）的縮寫。它是由 </a:t>
            </a:r>
            <a:r>
              <a:rPr lang="en-US" altLang="zh-TW" dirty="0"/>
              <a:t>OpenAI </a:t>
            </a:r>
            <a:r>
              <a:rPr lang="zh-TW" altLang="en-US" dirty="0"/>
              <a:t>開發的一種深度學習神經網路模型架構，也是目前全球最知名的 </a:t>
            </a:r>
            <a:r>
              <a:rPr lang="en-US" altLang="zh-TW" dirty="0"/>
              <a:t>AI </a:t>
            </a:r>
            <a:r>
              <a:rPr lang="zh-TW" altLang="en-US" dirty="0"/>
              <a:t>聊天機器人 </a:t>
            </a:r>
            <a:r>
              <a:rPr lang="en-US" altLang="zh-TW" dirty="0"/>
              <a:t>ChatGPT </a:t>
            </a:r>
            <a:r>
              <a:rPr lang="zh-TW" altLang="en-US" dirty="0"/>
              <a:t>的底層核心技術。</a:t>
            </a:r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4170278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協定的運作核心在於三大架構的合作：主機（Host）、客戶端（Client） 與伺服器（Server）。這三者就如同 AI 任務中的指揮官、聯絡人與執行單位，讓 AI 助理（AI agent）得以安全、即時地連接外部資訊。</a:t>
            </a:r>
          </a:p>
          <a:p>
            <a:pPr fontAlgn="base"/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主機（MCP Host）：指揮中心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主機通常是 AI 應用本身，例如 Claude Desktop, IDEs, 或是其他需要透過 MCP 存取資料的 AI 工具。它負責發出請求、定義任務，可以把它想像為一名總指揮，指派 AI 查詢資料、存取文件或啟用工具。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客戶端（MCP Client）：溝通橋梁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客戶端扮演主機與伺服器之間的溝通媒介，負責將主機的指令準確的轉交給伺服器處理，並將伺服器回傳的結果送回主機，MCP 主機會執行一個或多個 MCP 客戶端，並與 MCP 伺服器進行一對一連結。同時有身份驗證的功能，維持系統通訊的安全性與穩定性。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fontAlgn="base"/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MCP 伺服器（MCP Server）：任務執行者</a:t>
            </a:r>
            <a:b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伺服器的任務是將電腦內的功能（像是資料庫查詢、檔案讀寫、網頁操作）透過一組標準化的指令對外公開。當主機透過 MCP 發出指令時，伺服器就會依據這些指令執行操作，並將結果回傳。</a:t>
            </a:r>
          </a:p>
          <a:p>
            <a:endParaRPr lang="en-US" altLang="zh-TW" dirty="0"/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600" b="1" u="none" strike="noStrike" dirty="0">
                <a:effectLst/>
              </a:rPr>
              <a:t>AI Model Format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-</a:t>
            </a:r>
            <a:r>
              <a:rPr lang="zh-TW" altLang="en-US" sz="1200" b="1" dirty="0">
                <a:solidFill>
                  <a:prstClr val="black"/>
                </a:solidFill>
                <a:latin typeface="+mn-lt"/>
                <a:ea typeface="+mn-ea"/>
              </a:rPr>
              <a:t> </a:t>
            </a: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: LLM file format.</a:t>
            </a:r>
          </a:p>
          <a:p>
            <a:pPr marL="0" marR="0" lvl="0" indent="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-</a:t>
            </a:r>
            <a:r>
              <a:rPr kumimoji="0" lang="zh-TW" altLang="en-US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+mn-lt"/>
                <a:ea typeface="+mn-ea"/>
              </a:rPr>
              <a:t>, for example YOLO.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375464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正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確觀念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：Graph RAG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直接貼入Context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➔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一口氣讀完並生成最終答案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在簡報上，您可以強調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"Direct Context Injection"（直接上下文注入）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，這代表資料是以最快、最無損（Lossless）的方式直接賦予 AI 大腦。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2470832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三大雲端巨頭 (Hyper-scalers)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AWS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：提供 Amazon EC2 UltraClusters，部署數萬顆 NVIDIA H100/B200 GPU。同時提供性價比更高的自研 AI 晶片 Trainium（訓練）與 Inferentia（推論）實例。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 Cloud Platform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：除了NV GPU 外，其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自研 TPU (Tensor Processing Unit)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（如 TPU v5p）。大規模 Transformer 模型與大語言模型（LLM）訓練的算力效率極高。</a:t>
            </a:r>
          </a:p>
          <a:p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MS Azure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：與 OpenAI 深度綁定的算力平台，提供超大規模 NDv5/NDv6 系列 NVIDIA GPU 叢集與微軟自研的 Maia AI 晶片，非常適合大規模分散式訓練。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專屬 AI 算力雲 (AI-First Cloud Providers)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</a:p>
          <a:p>
            <a:r>
              <a:rPr lang="en-US" altLang="zh-TW" sz="1200" b="0" u="none" strike="noStrike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CloreWeave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Lambda Labs: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專注 AI 的新興雲服務商，直接與 NVIDIA 緊密合作，專門提供高效能、低延遲的 GPU 裸金屬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Bare Metal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租賃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價格通常比三大雲巨頭更具競爭力。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228600" indent="-228600">
              <a:buAutoNum type="arabicPeriod"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9951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（從「規模驅動」走向「品質核心」的創新）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近幾年最核心的技術典範轉移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Paradigm Shift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dirty="0"/>
              <a:t>四個趨勢（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數據品質、MoE架構、原生多模態、端側輕量化</a:t>
            </a:r>
            <a:r>
              <a:rPr lang="zh-TW" altLang="zh-TW" dirty="0"/>
              <a:t>）</a:t>
            </a:r>
            <a:endParaRPr lang="en-US" altLang="zh-TW" dirty="0"/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數據面的轉變（Data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：信奉「暴力美學」與對稱擴展定律（Scaling Laws）。當時的思維是：只要把網路上能爬到的資料（無論好壞）通通餵給模型，模型越大、資料越多，實力就越強。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：網路上高質量的人類原生數據快要被吃光了（數據荒危機）。現在的創新在於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數據工程（Data Engineering）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。大家不再比誰的資料量大，而是比誰的資料洗得乾淨、去重做得到位、或是誰能用強大模型生成出更高品質的「合成數據（Synthetic Data）」來餵養新模型 [?]。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模型架構與算力的轉變（Architecture &amp; Compute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：盲目追求參數模型的體積（例如從 175B 飆升到萬億參數）。這導致訓練和推理（Inference）成本高上天，只有極少數科技巨頭玩得起。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架構的精巧與高效率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。例如轉向「專家混合模型（MoE）」，雖然總參數很大，但每次處理文字時只啟動其中一小部分專家網路；或者專注於優化 3B、8B 的「小語言模型（SLM）」，讓它在極小的體積下，透過高質量的訓練達到逼近大模型的智商。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商業與應用落地面的轉變（Business &amp; Deployment Aspect）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過去（Scale-Driven）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：大家在實驗室裡刷榜（Benchmark），比拼誰的理論分數高、誰能回答各種刁鑽的常識問題。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現在（Quality-Centric）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：業界更看重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應用的精準度與ROI（投資回報率）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。模型必須能夠精準對齊（Alignment）人類意圖、減少幻覺（Hallucination）、並且能低延遲、低成本地部署在企業內部或使用者的手機、筆電端（On-device AI）。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55857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1. 長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上下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文窗口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128k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遠超 G2的8k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algn="just" latinLnBrk="0">
              <a:spcAft>
                <a:spcPts val="1875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2.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多模態能力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支援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文字處理與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內建 SigLIP 視覺編碼器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 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能夠處理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高清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圖像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圖片分析、OCR、圖像問答等應用。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3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跨語言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能力：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全新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分詞器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Tokenizer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與多語言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(35~140)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支持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。Google 強調，這將幫助開發者打造更國際化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翻譯能力。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4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單加速器運行優化，適用 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GPU(NV&amp;AMD),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TPU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Google 強調 Gemma 3 是「世界上最好的單加速器模型」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特化在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單一</a:t>
            </a:r>
            <a:r>
              <a:rPr lang="zh-TW" altLang="en-US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晶片發揮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高效能的 AI 應用。</a:t>
            </a:r>
            <a:endParaRPr lang="en-US" altLang="zh-TW" sz="1200" b="0" i="0" dirty="0">
              <a:solidFill>
                <a:srgbClr val="525151"/>
              </a:solidFill>
              <a:effectLst/>
              <a:latin typeface="Noto Sans TC" panose="020B0200000000000000" pitchFamily="34" charset="-120"/>
              <a:ea typeface="Noto Sans TC" panose="020B0200000000000000" pitchFamily="34" charset="-12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1875"/>
              </a:spcBef>
              <a:spcAft>
                <a:spcPts val="150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5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 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可調式框架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支援多種邊緣平台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手機平板筆電桌機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1B,4B,12B,27B).</a:t>
            </a:r>
          </a:p>
          <a:p>
            <a:pPr algn="l">
              <a:spcBef>
                <a:spcPts val="1875"/>
              </a:spcBef>
              <a:spcAft>
                <a:spcPts val="1500"/>
              </a:spcAft>
              <a:buNone/>
            </a:pP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6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. 支援函數呼叫與結構化輸出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提升AI Agent 智能化</a:t>
            </a:r>
            <a:r>
              <a:rPr lang="en-US" altLang="zh-TW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:</a:t>
            </a:r>
            <a:r>
              <a:rPr lang="zh-TW" altLang="en-US" sz="1200" b="1" i="0" dirty="0">
                <a:solidFill>
                  <a:srgbClr val="1990C6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Gemma 3 內建函數呼叫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Function Calling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與結構化輸出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(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Structured Output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),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使 AI 能夠更準確地與應用程式互動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適用於自動化工作流</a:t>
            </a:r>
            <a:r>
              <a:rPr lang="en-US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, </a:t>
            </a:r>
            <a:r>
              <a:rPr lang="zh-TW" altLang="zh-TW" sz="1200" b="0" i="0" dirty="0">
                <a:solidFill>
                  <a:srgbClr val="525151"/>
                </a:solidFill>
                <a:effectLst/>
                <a:latin typeface="Noto Sans TC" panose="020B0200000000000000" pitchFamily="34" charset="-120"/>
                <a:ea typeface="Noto Sans TC" panose="020B0200000000000000" pitchFamily="34" charset="-120"/>
              </a:rPr>
              <a:t>AI Agent 開發。</a:t>
            </a:r>
          </a:p>
          <a:p>
            <a:br>
              <a:rPr lang="en-US" altLang="zh-TW" dirty="0"/>
            </a:br>
            <a:r>
              <a:rPr lang="zh-TW" altLang="en-US" dirty="0"/>
              <a:t>量化壓縮技術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位元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35706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DC824-8DE8-9B3A-D261-5FDDDFD8C9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2F10EC9-6D84-2594-7CA2-B70B0D265D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9C2F833-7937-96D1-DC9C-B8C71BD9A1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在大型語言模型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SFT（監督式微調）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的 6 個步驟。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資料收集與清洗（最關鍵的一步）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圈內有一句名言：「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Quality is all you need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（品質就是一切）」。少量、高質量的資料，效果遠好於大量、有雜訊的資料。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格式標準化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：將資料轉換為 {"instruction": "...", "input": "...", "output": "..."} 或常見的 Chat 格式（如 OpenAI 的 messages 格式）。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高質量篩選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：剔除語意不通、回答過短、重複度高、或含有錯誤事實的資料。通常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1,000 到 10,000 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高質量對話，就能讓模型有很好的指令遵循能力。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資料 Tokenization（標記化與遮罩）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將文字轉換為模型看得懂的數字（Tokens），並設定訓練遮罩（Mask）。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長度截斷（Truncation）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：根據顯存大小與需求，設定最大序列長度（如 2048 或 4096 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計算遮罩（Data Collator）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：這是 SFT 的特殊之處。在將 Prompt 與 Response 拼接成一條序列時，必須將 Prompt 部分的標籤設為 -100。如此一來，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模型在計算損失（Loss）時只會對「回答」負責，而不會去預測「問題」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微調策略選擇（全參數 vs. PEFT）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根據預算與算力（GPU）選擇微調方式：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全參數微調（Full Fine-Tuning）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：更新模型的所有權重。效果最好、最穩定，但極度消耗顯存，且容易造成模型「災難性遺忘（Catastrophic Forgetting）」。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高效參數微調（PEFT / LoRA / QLoRA）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：凍結原模型所有參數，只在旁邊外掛小矩陣進行訓練。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這是目前企業最常用的主流作法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，能節省 70% 以上的顯存，且單張消費級顯卡（如 RTX 4090）即可執行。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超參數配置與模型訓練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啟動訓練腳本（通常使用 Hugging Face TRL 庫中的 SFTTrainer 或 LLaMA-Factory 框架）。常見的基礎超參數配置如下：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學習率（Learning Rate）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：通常設得很小，全參數約 1e-5 到 2e-5；LoRA 則可設為 1e-4 到 2e-4。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Epochs（訓練輪數）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：一般只需要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 到 3 個 Epochs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。過多的輪數會導致模型過擬合（Overfitting），死記硬背訓練集，失去泛化能力。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Batch Size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：透過 Gradient Accumulation Steps（梯度累積）來變相放大 Batch Size，確保訓練穩定。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訓練監控（Loss 觀察）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看指標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：密切注意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Training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Validation Loss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黃金曲線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：理想的 SFT Loss 曲線應該是平滑下降，最後收斂在一個合理區間（通常在 1.0 上下，取決於資料集）。如果 Validation Loss 開始反彈上升，說明模型已經過擬合，必須提前終止訓練（Early Stopping）。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6. 模型評估與部署（Evaluation）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自動化評估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：使用測試集（模型沒看過的資料）讓模型回答，並利用大模型（如 GPT-4）進行打分（LLM-as-a-Judge），或使用常識能力基準（如 MMLU、GSM8K）確保模型沒有變笨。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人工盲測（Side-by-Side）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：由人類專家直接對比「微調前」與「微調後」的回答，確認語氣、格式、業務邏輯是否完全對齊目標。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權重合併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：如果使用 LoRA，評估通過後需要將 LoRA 的小矩陣權重與原始 Base 模型合併（Merge），並導出為通用格式（如 Hugging Face 或 GGUF 格式）以便下游部署。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52A64DC-EC93-A8FC-41B2-21495D710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22506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9ACB4D-EB0C-6F94-5AFB-171B565F6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EF19517-2DEC-FC89-C498-25449BA60B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FEDAB6F-6B6E-9ECF-4575-0F2CB14623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SFT 的演進可以歸納為四大里程碑節點：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2018 - 2020：前身探索（Task-specific Fine-Tuning）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在 BERT 或 GPT-2 時代，微調是針對「單一任務」（如：專門微調一個只會判斷情感的模型）。此時模型還沒有具備統一的通用對話能力。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2021.09：指令微調的誕生（Google FLAN）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Google 發表里程碑論文 </a:t>
            </a:r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FLAN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，首次提出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Instruction Tuning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。他們將數十個標準 NLP 任務全部轉為指令格式來微調模型，證明了「任務微調得越多，模型沒見過的新任務就解得越好」。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2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3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4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2022.03：走向人類偏好（OpenAI InstructGPT）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OpenAI 發表論文，利用真實使用者的 Playground 輸入來標註 Q&amp;A。這宣告了 SFT 從「學術任務」走向「模仿真實人類助理的日常對話」。這也是同年底 ChatGPT 震撼世界的底座技術。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2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2023 - 2024：開源大爆發（Alpaca &amp; LoRA 普及化）</a:t>
            </a:r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特點：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史丹佛大學提出 </a:t>
            </a:r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Alpaca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，展示了如何用 GPT-4 自動生成 SFT 資料（Self-Instruct 蒸餾技術），搭配 LoRA 讓一般人在幾小時內就能微調出自己的 ChatGPT。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altLang="zh-TW" dirty="0"/>
          </a:p>
          <a:p>
            <a:endParaRPr lang="zh-TW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D0520A4-0224-B3B2-056D-6DA174DF55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4398358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391CA-EAA5-61AA-976B-D0A473DBCE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BB17E1F-7486-345D-4CF1-A610F24F0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FB8F9B-73BE-4DBC-4418-A5E1151339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27E670B-4E94-5D0F-9125-795575CD83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18617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常見的輕量化技術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知識蒸餾（Knowledge Distillation）：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讓參數量較少的小型模型（學生）模仿大型模型（老師）的行為，從中學習複雜的語言推理能力。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模型量化（Quantization）：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將模型權重（Weights）從高精度（如 16-bit 浮點數）降低到低精度（如 8-bit 或 4-bit 整數），大幅減少記憶體佔用。 [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]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參數剪枝（Pruning）：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移除模型中對預測結果影響較小、冗餘的神經元與連接。</a:t>
            </a:r>
          </a:p>
          <a:p>
            <a:br>
              <a:rPr lang="en-US" altLang="zh-TW" dirty="0"/>
            </a:br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層級嵌入 (Per-Layer Embeddings, PLE)</a:t>
            </a:r>
            <a:r>
              <a:rPr lang="zh-TW" altLang="zh-TW" dirty="0"/>
              <a:t> 是 AI 模型（如 Google 的 Gemma 4 等語言模型）中的一種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記憶體優化技術</a:t>
            </a:r>
            <a:r>
              <a:rPr lang="zh-TW" altLang="zh-TW" dirty="0"/>
              <a:t>。它為模型的每一層提供獨立的低維度特徵訊號，讓小尺寸模型能以更少參數獲得更精準的特化能力，從而提升邊緣裝置（如手機、筆電）上的執行效率。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2194957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795CE-C2D6-9D16-6D14-69ACBE5316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63352CE7-F871-B339-F340-2B51478FA4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8E757-4B05-165E-1607-0BCD6DE544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en-US" altLang="zh-TW" dirty="0"/>
            </a:br>
            <a:r>
              <a:rPr lang="en-US" altLang="zh-TW" dirty="0"/>
              <a:t>Gemma</a:t>
            </a:r>
            <a:r>
              <a:rPr lang="zh-TW" altLang="en-US" dirty="0"/>
              <a:t> </a:t>
            </a:r>
            <a:r>
              <a:rPr lang="en-US" altLang="zh-TW" dirty="0"/>
              <a:t>4</a:t>
            </a:r>
            <a:r>
              <a:rPr lang="zh-TW" altLang="en-US" dirty="0"/>
              <a:t> </a:t>
            </a:r>
            <a:r>
              <a:rPr lang="en-US" altLang="zh-TW" dirty="0"/>
              <a:t>12B</a:t>
            </a:r>
            <a:r>
              <a:rPr lang="zh-TW" altLang="en-US" dirty="0"/>
              <a:t> 統一架構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zh-TW" altLang="zh-TW" dirty="0"/>
              <a:t>層級嵌入 PLE</a:t>
            </a:r>
            <a:endParaRPr lang="zh-TW" altLang="en-US" dirty="0"/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多模態 AI 的架構簡介（從傳統到現代）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要在同一個 AI 模型裡同時塞入「文字、圖片、聲音」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技術架構經歷了兩個世代演變：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傳統架構：橋接法 (Encoder-based Architecture)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以往的 LLaVA 或舊型多模態模型，就像是「拼裝車」：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外掛多個編編碼器 (Encoders)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：文字有文字的處理器、圖片有專屬的視覺編碼器（如 CLIP）、聲音有語音編碼器。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對齊層 (Projection Layer)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：中間用一個轉換層，把圖片和聲音的訊號「強行翻譯」成文字看得懂的向量。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丟入 LLM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：最後才餵給主要的大型語言模型。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缺點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：編碼器體積龐大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數億參數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、會卡死微調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Fine-tuning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的彈性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且在轉換過程中容易漏掉細節。 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現代/未來架構：原生統一法 (Native Unified / Encoder-Free Architecture)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這也是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Gemma 4 的核心突破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！科學家發現，不需要外掛這麼多編碼器，主要的大腦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本質上就夠聰明了。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直接線性投影 (Linear Projection)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：圖片或聲音不經過外部編碼器加工，直接切碎並透過一個極輕量的線性模組轉成標記（Tokens）。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一體化推論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：多種模態的資料直接在同一個核心架構（Backbone）裡混合、計算。 </a:t>
            </a:r>
          </a:p>
          <a:p>
            <a:r>
              <a:rPr lang="zh-TW" altLang="zh-TW" sz="1200" b="0" i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優點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：推論速度極快、模型體積大幅縮小，而且文字、圖片、音訊可以完美融合在同一個資料流中，大幅降低硬體門檻。</a:t>
            </a:r>
          </a:p>
          <a:p>
            <a:endParaRPr lang="en-US" altLang="zh-TW" dirty="0"/>
          </a:p>
          <a:p>
            <a:endParaRPr lang="en-US" altLang="zh-TW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memory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用量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計算用電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 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如何知道級距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?</a:t>
            </a:r>
            <a:r>
              <a:rPr kumimoji="0" lang="zh-TW" alt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用雲端服務建立準線。</a:t>
            </a: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6E7571-A4C4-1EDD-1D49-0CFA2F6F94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640092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近年來「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總參數量</a:t>
            </a:r>
            <a:r>
              <a:rPr lang="zh-TW" altLang="zh-TW" dirty="0"/>
              <a:t>」已不等於「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實際運算量</a:t>
            </a:r>
            <a:r>
              <a:rPr lang="zh-TW" altLang="zh-TW" dirty="0"/>
              <a:t>」，因為許多模型採用了 MoE 技術，讓模型雖然體積龐大，但每次處理一個字（Token）時只需要啟動一小部分參數。</a:t>
            </a:r>
            <a:endParaRPr lang="en-US" altLang="zh-TW" dirty="0"/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極致的硬體成本效益（Cost-Effective）與演算法魔改</a:t>
            </a:r>
            <a:r>
              <a:rPr lang="zh-TW" altLang="zh-TW" dirty="0"/>
              <a:t>；</a:t>
            </a:r>
            <a:br>
              <a:rPr lang="en-US" altLang="zh-TW" dirty="0"/>
            </a:br>
            <a:r>
              <a:rPr lang="zh-TW" altLang="zh-TW" dirty="0"/>
              <a:t>Meta Llama 則追求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標準化、極致的架構穩定性（Scalability）與對開源生態的絕對相容</a:t>
            </a:r>
            <a:r>
              <a:rPr lang="zh-TW" altLang="zh-TW" dirty="0"/>
              <a:t>。</a:t>
            </a: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AWS </a:t>
            </a:r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與 </a:t>
            </a:r>
            <a:r>
              <a:rPr lang="en-US" altLang="zh-TW" dirty="0"/>
              <a:t>AWS Graviton </a:t>
            </a:r>
            <a:r>
              <a:rPr lang="zh-TW" altLang="en-US" dirty="0"/>
              <a:t>是亞馬遜自研晶片體系中的兩大核心。</a:t>
            </a:r>
            <a:endParaRPr lang="en-US" altLang="zh-TW" dirty="0"/>
          </a:p>
          <a:p>
            <a:r>
              <a:rPr lang="en-US" altLang="zh-TW" dirty="0"/>
              <a:t>Graviton </a:t>
            </a:r>
            <a:r>
              <a:rPr lang="zh-TW" altLang="en-US" dirty="0"/>
              <a:t>是通用型 </a:t>
            </a:r>
            <a:r>
              <a:rPr lang="en-US" altLang="zh-TW" dirty="0"/>
              <a:t>CPU,</a:t>
            </a:r>
            <a:r>
              <a:rPr lang="zh-TW" altLang="en-US" dirty="0"/>
              <a:t> 負責處理日常雲端運算與後台任務；</a:t>
            </a:r>
            <a:endParaRPr lang="en-US" altLang="zh-TW" dirty="0"/>
          </a:p>
          <a:p>
            <a:r>
              <a:rPr lang="en-US" altLang="zh-TW" dirty="0" err="1"/>
              <a:t>Trainium</a:t>
            </a:r>
            <a:r>
              <a:rPr lang="en-US" altLang="zh-TW" dirty="0"/>
              <a:t> </a:t>
            </a:r>
            <a:r>
              <a:rPr lang="zh-TW" altLang="en-US" dirty="0"/>
              <a:t>是專門的 </a:t>
            </a:r>
            <a:r>
              <a:rPr lang="en-US" altLang="zh-TW" dirty="0"/>
              <a:t>AI </a:t>
            </a:r>
            <a:r>
              <a:rPr lang="zh-TW" altLang="en-US" dirty="0"/>
              <a:t>加速晶片</a:t>
            </a:r>
            <a:r>
              <a:rPr lang="en-US" altLang="zh-TW" dirty="0"/>
              <a:t>, </a:t>
            </a:r>
            <a:r>
              <a:rPr lang="zh-TW" altLang="en-US" dirty="0"/>
              <a:t>專為大型 </a:t>
            </a:r>
            <a:r>
              <a:rPr lang="en-US" altLang="zh-TW" dirty="0"/>
              <a:t>AI </a:t>
            </a:r>
            <a:r>
              <a:rPr lang="zh-TW" altLang="en-US" dirty="0"/>
              <a:t>模型的訓練與密集運算而生。</a:t>
            </a:r>
          </a:p>
          <a:p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351336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ONNX（Open Neural Network Exchange，開放神經網路交換）是由微軟與 Meta（Facebook）等科技巨頭主導的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開源機器學習模型通用格式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它允許開發者將在 PyTorch、TensorFlow 或 Scikit-learn 等不同框架中訓練出的模型，轉換為統一的結構，以便在各種硬體和平台上進行高效能部署。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&lt;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跨平台互通性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簡化部署流程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硬體加速效能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將機器學習模型具象化為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計算圖（Computation Graph）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儲存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網路的架構、權重與資料流向。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662324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一、 5 大核心模型能力維度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邏輯與推理能力 (Reasoning &amp; Math)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這是區分「頂級模型」與「一般模型」的關鍵試金石。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：數學多步驟計算、程式碼編寫與 Debug、邏輯悖論破解。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GSM8K / MATH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：評估小學到高中程度的數學應用題解答能力。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HumanEval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：測試模型編寫 Python 程式碼的正確率。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語言理解與知識儲存 (Knowledge &amp; Language)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評估模型在文史、科學、醫學等各領域知識的廣度，以及對複雜語意的理解。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：多選題測試、長文字摘要、隱喻與幽默感理解。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MMLU (Massive Multitask Language Understanding)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：跨越人文、社科、硬科學等幾十個學科的綜合測試（目前最指標性的綜合評測）。</a:t>
            </a:r>
          </a:p>
          <a:p>
            <a:b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指令遵循與結構化輸出 (Instruction Following)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在將模型導入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LLM Flow 工作流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時，這項能力最為關鍵。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：能否嚴格遵守字數限制、格式限制（例如：只輸出 JSON，不要講廢話）、多重條件過濾。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IFEval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：嚴格測試模型對於「第 1 段必須以 A 開頭、總字數小於 400 字」這類格式指令的遵循率。</a:t>
            </a:r>
          </a:p>
          <a:p>
            <a:endParaRPr lang="en-US" altLang="zh-TW" sz="1200" b="1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長文本處理與上下文檢索 (Long-Context &amp; Retrieval)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測試模型在處理數萬字甚至百萬字資料時，是否會「忘東忘西」。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：長篇合約審查、長書摘要、大海撈針測試。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Needle In A Haystack (NIAH)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：將一句無關緊要的話（針）藏在數十萬字的文本（大海）中，測試模型能否精準抓出。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5. 對齊與安全性 (Alignment &amp; Safety)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評估模型是否符合人類價值觀，以及對惡意引導（Jailbreak）的防禦力。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評估指標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：拒絕回答有害問題（如炸彈製作）、不產生偏見、降低幻覺機率。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常見基準測試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TruthfulQA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：測試模型回答是否真實，而非順著人類的迷思或謠言瞎編。</a:t>
            </a:r>
          </a:p>
          <a:p>
            <a:br>
              <a:rPr lang="en-US" altLang="zh-TW" dirty="0"/>
            </a:b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二、 2 大實務工程指標（落地必看）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除了上述大腦能力的測試，實務上部署時還必須評估以下兩點：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吞吐量與延遲 (Throughput &amp; Latency)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TTFT (Time to First Token)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：模型吐出第一個字的速度（越快用戶體驗越好）。</a:t>
            </a:r>
          </a:p>
          <a:p>
            <a:pPr lvl="1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TPS (Tokens Per Second)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：每秒能生成多少個字（攸關整體流程執行的速度）。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成本與性價比 (Cost Efficiency)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pPr lvl="1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每百萬 Token 的輸入/輸出費用。例如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DeepSeek R1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或 各家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Flash 模型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常以極低的成本提供逼近旗艦模型的效能。</a:t>
            </a:r>
          </a:p>
          <a:p>
            <a:br>
              <a:rPr lang="zh-TW" altLang="zh-TW" dirty="0"/>
            </a:br>
            <a:endParaRPr lang="zh-TW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49000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dirty="0"/>
              <a:t>ONNX?</a:t>
            </a:r>
            <a:r>
              <a:rPr lang="zh-TW" altLang="en-US" dirty="0"/>
              <a:t> 有誰支持</a:t>
            </a:r>
            <a:r>
              <a:rPr lang="en-US" altLang="zh-TW" dirty="0"/>
              <a:t>, </a:t>
            </a:r>
            <a:r>
              <a:rPr lang="zh-TW" altLang="en-US" dirty="0"/>
              <a:t>影響為何</a:t>
            </a:r>
            <a:r>
              <a:rPr lang="en-US" altLang="zh-TW" dirty="0"/>
              <a:t>?</a:t>
            </a:r>
            <a:r>
              <a:rPr lang="zh-TW" altLang="en-US" dirty="0"/>
              <a:t> 架構如何</a:t>
            </a:r>
            <a:r>
              <a:rPr lang="en-US" altLang="zh-TW" dirty="0"/>
              <a:t>?</a:t>
            </a:r>
            <a:r>
              <a:rPr lang="zh-TW" altLang="en-US" dirty="0"/>
              <a:t> 目前發展</a:t>
            </a:r>
            <a:r>
              <a:rPr lang="en-US" altLang="zh-TW" dirty="0"/>
              <a:t>(</a:t>
            </a:r>
            <a:r>
              <a:rPr lang="zh-TW" altLang="en-US" dirty="0"/>
              <a:t>世界大廠</a:t>
            </a:r>
            <a:r>
              <a:rPr lang="en-US" altLang="zh-TW" dirty="0"/>
              <a:t>,</a:t>
            </a:r>
            <a:r>
              <a:rPr lang="zh-TW" altLang="en-US" dirty="0"/>
              <a:t> 台灣的機會</a:t>
            </a:r>
            <a:r>
              <a:rPr lang="en-US" altLang="zh-TW" dirty="0"/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名稱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本質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比喻負責任務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檔案格式規格通用外語定義模型的標準結構與算子，讓不同框架可以互相轉換。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ONNX Runtime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軟體推論引擎同聲傳譯員偏向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軟體層面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，在常見的 CPU/GPU 上直接載入並即時執行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推論模型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br>
              <a:rPr lang="en-US" altLang="zh-TW" sz="1600" b="1" dirty="0"/>
            </a:br>
            <a:r>
              <a:rPr lang="en-US" altLang="zh-TW" sz="1600" b="1" dirty="0"/>
              <a:t>Environment (What you will get and see?)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200" b="1" dirty="0">
                <a:solidFill>
                  <a:prstClr val="black"/>
                </a:solidFill>
              </a:rPr>
              <a:t>File Format</a:t>
            </a:r>
            <a:r>
              <a:rPr lang="en-US" altLang="zh-TW" sz="1200" dirty="0">
                <a:solidFill>
                  <a:prstClr val="black"/>
                </a:solidFill>
              </a:rPr>
              <a:t>: GGUF and ONNX(Open Neural Network </a:t>
            </a:r>
            <a:r>
              <a:rPr lang="en-US" altLang="zh-TW" sz="1200" dirty="0" err="1">
                <a:solidFill>
                  <a:prstClr val="black"/>
                </a:solidFill>
              </a:rPr>
              <a:t>eXchange</a:t>
            </a:r>
            <a:r>
              <a:rPr lang="en-US" altLang="zh-TW" sz="1200" dirty="0">
                <a:solidFill>
                  <a:prstClr val="black"/>
                </a:solidFill>
              </a:rPr>
              <a:t>).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200" b="1" dirty="0">
                <a:solidFill>
                  <a:prstClr val="black"/>
                </a:solidFill>
                <a:latin typeface="+mn-lt"/>
                <a:ea typeface="+mn-ea"/>
              </a:rPr>
              <a:t>Directory: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Model and  … 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965317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dirty="0"/>
              <a:t>以下為你將所有與 AI Agent 相關的專有名詞，由原本的表格形式全部改為</a:t>
            </a:r>
            <a:r>
              <a:rPr lang="zh-TW" altLang="zh-TW" b="1" dirty="0"/>
              <a:t>純文字列表</a:t>
            </a:r>
            <a:r>
              <a:rPr lang="zh-TW" altLang="zh-TW" dirty="0"/>
              <a:t>呈現。</a:t>
            </a:r>
          </a:p>
          <a:p>
            <a:r>
              <a:rPr lang="zh-TW" altLang="zh-TW" dirty="0"/>
              <a:t>每個項目均嚴格包含：</a:t>
            </a:r>
            <a:r>
              <a:rPr lang="zh-TW" altLang="zh-TW" b="1" dirty="0"/>
              <a:t>縮寫 / 名詞、英文全稱、繁體中文、中文說明</a:t>
            </a:r>
            <a:r>
              <a:rPr lang="zh-TW" altLang="zh-TW" dirty="0"/>
              <a:t>，並透過區塊與粗體維持極佳的 scannability（可讀性），方便你直接複製使用。</a:t>
            </a:r>
          </a:p>
          <a:p>
            <a:r>
              <a:rPr lang="zh-TW" altLang="zh-TW" b="1" dirty="0"/>
              <a:t>一、 核心架構與模型層 (Core Architecture &amp; Models)</a:t>
            </a:r>
          </a:p>
          <a:p>
            <a:r>
              <a:rPr lang="zh-TW" altLang="zh-TW" b="1" dirty="0"/>
              <a:t>Agent</a:t>
            </a:r>
            <a:r>
              <a:rPr lang="zh-TW" altLang="zh-TW" dirty="0"/>
              <a:t> (AI Agent / Autonomous Agent) —— 人工智慧代理 / 自主代理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具備感知、思考、自主規劃並能調用工具操作現實的 AI 實體。</a:t>
            </a:r>
          </a:p>
          <a:p>
            <a:r>
              <a:rPr lang="zh-TW" altLang="zh-TW" b="1" dirty="0"/>
              <a:t>LLM</a:t>
            </a:r>
            <a:r>
              <a:rPr lang="zh-TW" altLang="zh-TW" dirty="0"/>
              <a:t> (Large Language Model) —— 大型語言模型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的核心大腦，負責語言理解、常識推理與決策。</a:t>
            </a:r>
          </a:p>
          <a:p>
            <a:r>
              <a:rPr lang="zh-TW" altLang="zh-TW" b="1" dirty="0"/>
              <a:t>VLM / MLLM</a:t>
            </a:r>
            <a:r>
              <a:rPr lang="zh-TW" altLang="zh-TW" dirty="0"/>
              <a:t> (Vision-Language Model / Multi-modal LLM) —— 視覺語言模型 / 多模態大模型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賦予 Agent 眼睛（看懂螢幕截圖、網頁 UI 或真實世界影像）的大腦。</a:t>
            </a:r>
          </a:p>
          <a:p>
            <a:r>
              <a:rPr lang="zh-TW" altLang="zh-TW" b="1" dirty="0"/>
              <a:t>SLM</a:t>
            </a:r>
            <a:r>
              <a:rPr lang="zh-TW" altLang="zh-TW" dirty="0"/>
              <a:t> (Small Language Model) —— 小型語言模型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輕量化模型，常用於端點設備（Edge）或專職執行單一工具的邊緣 Agent。</a:t>
            </a:r>
          </a:p>
          <a:p>
            <a:r>
              <a:rPr lang="zh-TW" altLang="zh-TW" b="1" dirty="0"/>
              <a:t>HITL</a:t>
            </a:r>
            <a:r>
              <a:rPr lang="zh-TW" altLang="zh-TW" dirty="0"/>
              <a:t> (Human-in-the-Loop) —— 人類在環 / 人機協同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循環中加入人工作為審查、確認或中斷的防禦機制。</a:t>
            </a:r>
          </a:p>
          <a:p>
            <a:r>
              <a:rPr lang="zh-TW" altLang="zh-TW" b="1" dirty="0"/>
              <a:t>Embodied AI</a:t>
            </a:r>
            <a:r>
              <a:rPr lang="zh-TW" altLang="zh-TW" dirty="0"/>
              <a:t> (Embodied Artificial Intelligence) —— 具身智能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 Agent 大腦注入到物理實體（如機器人、無人機）中，使其具備操作物理世界的能力。</a:t>
            </a:r>
          </a:p>
          <a:p>
            <a:r>
              <a:rPr lang="zh-TW" altLang="zh-TW" b="1" dirty="0"/>
              <a:t>Substrate</a:t>
            </a:r>
            <a:r>
              <a:rPr lang="zh-TW" altLang="zh-TW" dirty="0"/>
              <a:t> (Substrate) —— 底層載體 / 介質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指 AI 運行的環境基礎（如「碳基」代表人類肉身、「矽基」代表數位電腦晶片）。</a:t>
            </a:r>
          </a:p>
          <a:p>
            <a:r>
              <a:rPr lang="zh-TW" altLang="zh-TW" b="1" dirty="0"/>
              <a:t>二、 自主規劃與推理框架 (Planning &amp; Reasoning)</a:t>
            </a:r>
          </a:p>
          <a:p>
            <a:r>
              <a:rPr lang="zh-TW" altLang="zh-TW" b="1" dirty="0"/>
              <a:t>ReAct</a:t>
            </a:r>
            <a:r>
              <a:rPr lang="zh-TW" altLang="zh-TW" dirty="0"/>
              <a:t> (Reasoning and Acting) —— 推理與行動框架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最經典的底層邏輯——交替進行「思考（Thought）」➔「行動（Action）」➔「觀察反饋（Observation）」。</a:t>
            </a:r>
          </a:p>
          <a:p>
            <a:r>
              <a:rPr lang="zh-TW" altLang="zh-TW" b="1" dirty="0"/>
              <a:t>CoT</a:t>
            </a:r>
            <a:r>
              <a:rPr lang="zh-TW" altLang="zh-TW" dirty="0"/>
              <a:t> (Chain of Thought) —— 思維鏈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引導大腦將複雜問題拆解，一步步寫出推理過程（"Let's think step by step"）。</a:t>
            </a:r>
          </a:p>
          <a:p>
            <a:r>
              <a:rPr lang="zh-TW" altLang="zh-TW" b="1" dirty="0"/>
              <a:t>ToT</a:t>
            </a:r>
            <a:r>
              <a:rPr lang="zh-TW" altLang="zh-TW" dirty="0"/>
              <a:t> (Tree of Thoughts) —— 思維樹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大腦在規劃時探索多條可能的決策路徑，並具備回溯（Backtracking）與評估能力。</a:t>
            </a:r>
          </a:p>
          <a:p>
            <a:r>
              <a:rPr lang="zh-TW" altLang="zh-TW" b="1" dirty="0"/>
              <a:t>GoT</a:t>
            </a:r>
            <a:r>
              <a:rPr lang="zh-TW" altLang="zh-TW" dirty="0"/>
              <a:t> (Graph of Thoughts) —— 思維圖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允許不同的思維網絡互相交織、結合或分岔，模擬人類大腦更複雜的非線性思考。</a:t>
            </a:r>
          </a:p>
          <a:p>
            <a:r>
              <a:rPr lang="zh-TW" altLang="zh-TW" b="1" dirty="0"/>
              <a:t>Reflexion</a:t>
            </a:r>
            <a:r>
              <a:rPr lang="zh-TW" altLang="zh-TW" dirty="0"/>
              <a:t> (Reflexion Framework) —— 自我反思架構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執行失敗時，透過評估模塊自我批判（Self-Criticism），將失敗轉化為記憶以修正下一次的規劃。</a:t>
            </a:r>
          </a:p>
          <a:p>
            <a:r>
              <a:rPr lang="zh-TW" altLang="zh-TW" b="1" dirty="0"/>
              <a:t>Task Decomposition</a:t>
            </a:r>
            <a:r>
              <a:rPr lang="zh-TW" altLang="zh-TW" dirty="0"/>
              <a:t> (Task Decomposition) —— 任務拆解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大腦將一個宏大的終極目標（Goal），細分為多個可執行的子任務（Sub-tasks）。</a:t>
            </a:r>
          </a:p>
          <a:p>
            <a:r>
              <a:rPr lang="zh-TW" altLang="zh-TW" b="1" dirty="0"/>
              <a:t>Plan-and-Solve</a:t>
            </a:r>
            <a:r>
              <a:rPr lang="zh-TW" altLang="zh-TW" dirty="0"/>
              <a:t> (Plan-and-Solve Prompting) —— 計畫與解決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先宏觀制定完整計畫，再依序執行，用以減少 CoT 過程中因走一步算一步而產生的計算偏差。</a:t>
            </a:r>
          </a:p>
          <a:p>
            <a:r>
              <a:rPr lang="zh-TW" altLang="zh-TW" b="1" dirty="0"/>
              <a:t>三、 記憶與脈絡工程 (Memory &amp; Context)</a:t>
            </a:r>
          </a:p>
          <a:p>
            <a:r>
              <a:rPr lang="zh-TW" altLang="zh-TW" b="1" dirty="0"/>
              <a:t>RAG</a:t>
            </a:r>
            <a:r>
              <a:rPr lang="zh-TW" altLang="zh-TW" dirty="0"/>
              <a:t> (Retrieval-Augmented Generation) —— 檢索增強生成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從外部知識庫動態撈取資料注入 Context，解決幻覺與長時記憶不足的問題。</a:t>
            </a:r>
          </a:p>
          <a:p>
            <a:r>
              <a:rPr lang="zh-TW" altLang="zh-TW" b="1" dirty="0"/>
              <a:t>Vector DB</a:t>
            </a:r>
            <a:r>
              <a:rPr lang="zh-TW" altLang="zh-TW" dirty="0"/>
              <a:t> (Vector Database) —— 向量資料庫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將文字轉為高維度向量，用於 Agent 的長期記憶（Long-term Memory）檢索。</a:t>
            </a:r>
          </a:p>
          <a:p>
            <a:r>
              <a:rPr lang="zh-TW" altLang="zh-TW" b="1" dirty="0"/>
              <a:t>Embedding</a:t>
            </a:r>
            <a:r>
              <a:rPr lang="zh-TW" altLang="zh-TW" dirty="0"/>
              <a:t> (Semantic Embedding) —— 語意嵌入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將文字、圖片轉化為數學向量的技術，是 Agent 進行「相似度查找」的底層基礎。</a:t>
            </a:r>
          </a:p>
          <a:p>
            <a:r>
              <a:rPr lang="zh-TW" altLang="zh-TW" b="1" dirty="0"/>
              <a:t>Short-term Memory</a:t>
            </a:r>
            <a:r>
              <a:rPr lang="zh-TW" altLang="zh-TW" dirty="0"/>
              <a:t> (Short-term Memory) —— 短期記憶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當前會話（Session）的對話歷史與中途狀態，隨著 Context 視窗滿載會被丟棄。</a:t>
            </a:r>
          </a:p>
          <a:p>
            <a:r>
              <a:rPr lang="zh-TW" altLang="zh-TW" b="1" dirty="0"/>
              <a:t>Long-term Memory</a:t>
            </a:r>
            <a:r>
              <a:rPr lang="zh-TW" altLang="zh-TW" dirty="0"/>
              <a:t> (Long-term Memory) —— 長期記憶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跨越不同對話、長久保存的用戶偏好、公司規章與過去的成功 SOP。</a:t>
            </a:r>
          </a:p>
          <a:p>
            <a:r>
              <a:rPr lang="zh-TW" altLang="zh-TW" b="1" dirty="0"/>
              <a:t>Context Window</a:t>
            </a:r>
            <a:r>
              <a:rPr lang="zh-TW" altLang="zh-TW" dirty="0"/>
              <a:t> (Context Window) —— 上下文視窗 / 脈絡空間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模型單次運算能讀取的最大 Token 限制（大腦的 RAM 限制）。</a:t>
            </a:r>
          </a:p>
          <a:p>
            <a:r>
              <a:rPr lang="zh-TW" altLang="zh-TW" b="1" dirty="0"/>
              <a:t>Prompt Caching</a:t>
            </a:r>
            <a:r>
              <a:rPr lang="zh-TW" altLang="zh-TW" dirty="0"/>
              <a:t> (Prompt Caching) —— 提示詞快取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將重複的系統提示或長期記憶鎖在伺服器記憶體中，降低 Agent 頻繁刷新的費用與延遲。</a:t>
            </a:r>
          </a:p>
          <a:p>
            <a:r>
              <a:rPr lang="zh-TW" altLang="zh-TW" b="1" dirty="0"/>
              <a:t>Lost in the Middle</a:t>
            </a:r>
            <a:r>
              <a:rPr lang="zh-TW" altLang="zh-TW" dirty="0"/>
              <a:t> (Lost in the Middle Effect) —— 迷失在中央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長文本模型的通病——AI 容易注意到開頭和結尾，卻忽略埋在 Context 正中間的記憶資訊。</a:t>
            </a:r>
          </a:p>
          <a:p>
            <a:r>
              <a:rPr lang="zh-TW" altLang="zh-TW" b="1" dirty="0"/>
              <a:t>四、 工具呼叫與環境執行 (Tools &amp; Action)</a:t>
            </a:r>
          </a:p>
          <a:p>
            <a:r>
              <a:rPr lang="zh-TW" altLang="zh-TW" b="1" dirty="0"/>
              <a:t>Function Calling</a:t>
            </a:r>
            <a:r>
              <a:rPr lang="zh-TW" altLang="zh-TW" dirty="0"/>
              <a:t> (Function Calling / Tool Calling) —— 函數呼叫 / 工具調用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模型識別意圖後，不輸出聊天文字，而是輸出標準結構化 JSON 參數的能力。</a:t>
            </a:r>
          </a:p>
          <a:p>
            <a:r>
              <a:rPr lang="zh-TW" altLang="zh-TW" b="1" dirty="0"/>
              <a:t>MCP</a:t>
            </a:r>
            <a:r>
              <a:rPr lang="zh-TW" altLang="zh-TW" dirty="0"/>
              <a:t> (Model Context Protocol) —— 模型上下文協議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Anthropic 倡導的開源標準，充當 AI 的統一 USB 接口，無縫連接各種資料與工具。</a:t>
            </a:r>
          </a:p>
          <a:p>
            <a:r>
              <a:rPr lang="zh-TW" altLang="zh-TW" b="1" dirty="0"/>
              <a:t>REPL</a:t>
            </a:r>
            <a:r>
              <a:rPr lang="zh-TW" altLang="zh-TW" dirty="0"/>
              <a:t> (Read-Eval-Print Loop) —— 互動式程式碼解譯器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自我撰寫 Python/JS 代碼後，直接在系統中執行、看結果並 debug 的工具。</a:t>
            </a:r>
          </a:p>
          <a:p>
            <a:r>
              <a:rPr lang="zh-TW" altLang="zh-TW" b="1" dirty="0"/>
              <a:t>Sandbox</a:t>
            </a:r>
            <a:r>
              <a:rPr lang="zh-TW" altLang="zh-TW" dirty="0"/>
              <a:t> (Secure Sandbox) —— 安全沙盒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與核心系統物理隔離的虛擬環境（如 E2B），防止 Agent 執行的程式碼帶有病毒或寫入敏感檔案。</a:t>
            </a:r>
          </a:p>
          <a:p>
            <a:r>
              <a:rPr lang="zh-TW" altLang="zh-TW" b="1" dirty="0"/>
              <a:t>RPA</a:t>
            </a:r>
            <a:r>
              <a:rPr lang="zh-TW" altLang="zh-TW" dirty="0"/>
              <a:t> (Robotic Process Automation) —— 機器人流程自動化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傳統寫死路徑的自動化腳本，現常作為 Agent 操作網頁、滑鼠與鍵盤的「手腳」。</a:t>
            </a:r>
          </a:p>
          <a:p>
            <a:r>
              <a:rPr lang="zh-TW" altLang="zh-TW" b="1" dirty="0"/>
              <a:t>BaaS</a:t>
            </a:r>
            <a:r>
              <a:rPr lang="zh-TW" altLang="zh-TW" dirty="0"/>
              <a:t> (Browser as a Service) —— 瀏覽器即服務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雲端群控的無頭瀏覽器技術（如 Browserbase），提供 Agent 防封鎖、過驗證碼的上網環境。</a:t>
            </a:r>
          </a:p>
          <a:p>
            <a:r>
              <a:rPr lang="zh-TW" altLang="zh-TW" b="1" dirty="0"/>
              <a:t>Grounding</a:t>
            </a:r>
            <a:r>
              <a:rPr lang="zh-TW" altLang="zh-TW" dirty="0"/>
              <a:t> (UI Grounding / Semantic Grounding) —— 介面定位 / 語意落地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多模態 Agent 將大腦理解的按鈕（如「購物車」），精確對齊到網頁上真實座標（X, Y）的技術。</a:t>
            </a:r>
          </a:p>
          <a:p>
            <a:r>
              <a:rPr lang="zh-TW" altLang="zh-TW" b="1" dirty="0"/>
              <a:t>Computer Use</a:t>
            </a:r>
            <a:r>
              <a:rPr lang="zh-TW" altLang="zh-TW" dirty="0"/>
              <a:t> (Computer Use API) —— 電腦操作 API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AI 直接看著作業系統的截圖，主動移動滑鼠、點擊與輸入，像真人一樣操作整台電腦。</a:t>
            </a:r>
          </a:p>
          <a:p>
            <a:r>
              <a:rPr lang="zh-TW" altLang="zh-TW" b="1" dirty="0"/>
              <a:t>五、 多代理協同與生態層 (Multi-Agent &amp; Ecosystem)</a:t>
            </a:r>
          </a:p>
          <a:p>
            <a:r>
              <a:rPr lang="zh-TW" altLang="zh-TW" b="1" dirty="0"/>
              <a:t>MAS</a:t>
            </a:r>
            <a:r>
              <a:rPr lang="zh-TW" altLang="zh-TW" dirty="0"/>
              <a:t> (Multi-Agent System) —— 多代理人系統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由多個專職、不同分工的 Agent（如：經理、工程師、測試員）共同協同完成複雜任務的系統。</a:t>
            </a:r>
          </a:p>
          <a:p>
            <a:r>
              <a:rPr lang="zh-TW" altLang="zh-TW" b="1" dirty="0"/>
              <a:t>Orchestrator</a:t>
            </a:r>
            <a:r>
              <a:rPr lang="zh-TW" altLang="zh-TW" dirty="0"/>
              <a:t> (Orchestrator Pattern) —— 編排器模式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由一個核心的主 Agent 負責統籌、分派任務給多個底層的子 Agent（Workers）。</a:t>
            </a:r>
          </a:p>
          <a:p>
            <a:r>
              <a:rPr lang="zh-TW" altLang="zh-TW" b="1" dirty="0"/>
              <a:t>Choreography</a:t>
            </a:r>
            <a:r>
              <a:rPr lang="zh-TW" altLang="zh-TW" dirty="0"/>
              <a:t> (Choreography Pattern) —— 編排舞蹈模式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Agent 之間沒有絕對的主導者，而是各自遵循 SOP 協議，自發性地互相傳遞接棒工作。</a:t>
            </a:r>
          </a:p>
          <a:p>
            <a:r>
              <a:rPr lang="zh-TW" altLang="zh-TW" b="1" dirty="0"/>
              <a:t>Router</a:t>
            </a:r>
            <a:r>
              <a:rPr lang="zh-TW" altLang="zh-TW" dirty="0"/>
              <a:t> (Agentic Router) —— 智慧型路由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大腦根據用戶的輸入輸入，自動將任務導向最適合處理該問題的專用 Agent 或工具。</a:t>
            </a:r>
          </a:p>
          <a:p>
            <a:r>
              <a:rPr lang="zh-TW" altLang="zh-TW" b="1" dirty="0"/>
              <a:t>SOP</a:t>
            </a:r>
            <a:r>
              <a:rPr lang="zh-TW" altLang="zh-TW" dirty="0"/>
              <a:t> (Standard Operating Procedure) —— 標準作業程序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寫在 Agent 框架中、硬性限制 Agents 之間溝通與執行順序的商務邏輯規則。</a:t>
            </a:r>
          </a:p>
          <a:p>
            <a:r>
              <a:rPr lang="zh-TW" altLang="zh-TW" b="1" dirty="0"/>
              <a:t>Swarm</a:t>
            </a:r>
            <a:r>
              <a:rPr lang="zh-TW" altLang="zh-TW" dirty="0"/>
              <a:t> (Swarm Intelligence) —— 群體智能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大量微型、輕量化的 Agent 透過簡單的群體溝通協議，集體湧現出解決龐大問題的能力。</a:t>
            </a:r>
          </a:p>
          <a:p>
            <a:r>
              <a:rPr lang="zh-TW" altLang="zh-TW" b="1" dirty="0"/>
              <a:t>六、 資安、評估與對齊層 (Safety, Evaluation &amp; Alignment)</a:t>
            </a:r>
          </a:p>
          <a:p>
            <a:r>
              <a:rPr lang="zh-TW" altLang="zh-TW" b="1" dirty="0"/>
              <a:t>Guardrails</a:t>
            </a:r>
            <a:r>
              <a:rPr lang="zh-TW" altLang="zh-TW" dirty="0"/>
              <a:t> (LLM Guardrails) —— 護欄機制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在 Agent 的輸入端與輸出端架設的安全過濾網（如 Llama Guard），硬性攔截不合規言論。</a:t>
            </a:r>
          </a:p>
          <a:p>
            <a:r>
              <a:rPr lang="zh-TW" altLang="zh-TW" b="1" dirty="0"/>
              <a:t>Prompt Injection</a:t>
            </a:r>
            <a:r>
              <a:rPr lang="zh-TW" altLang="zh-TW" dirty="0"/>
              <a:t> (Prompt Injection Attack) —— 提示詞注入攻擊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黑客透過惡意文字欺騙 Agent 大腦，使其忽視原本的 System Prompt 規範，進而執行越權操作。</a:t>
            </a:r>
          </a:p>
          <a:p>
            <a:r>
              <a:rPr lang="zh-TW" altLang="zh-TW" b="1" dirty="0"/>
              <a:t>Jailbreaking</a:t>
            </a:r>
            <a:r>
              <a:rPr lang="zh-TW" altLang="zh-TW" dirty="0"/>
              <a:t> (Jailbreaking) —— 越獄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利用特定話術或繞過技巧，解開模型原本內建的安全道德限制，使其產出有害或不合規的內容。</a:t>
            </a:r>
          </a:p>
          <a:p>
            <a:r>
              <a:rPr lang="zh-TW" altLang="zh-TW" b="1" dirty="0"/>
              <a:t>Alignment</a:t>
            </a:r>
            <a:r>
              <a:rPr lang="zh-TW" altLang="zh-TW" dirty="0"/>
              <a:t> (AI Alignment) —— 人工智慧對齊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確保 Agent 的價值觀、決策意圖、行為結果，完全符合人類的利益、道德與安全規範。</a:t>
            </a:r>
          </a:p>
          <a:p>
            <a:r>
              <a:rPr lang="zh-TW" altLang="zh-TW" b="1" dirty="0"/>
              <a:t>Alignment Tax</a:t>
            </a:r>
            <a:r>
              <a:rPr lang="zh-TW" altLang="zh-TW" dirty="0"/>
              <a:t> (Alignment Tax) —— 對齊稅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為了讓 AI 更安全、更聽話而進行的安全對齊微調，往往會導致模型失去部分原始推理能力或創造力的代價。</a:t>
            </a:r>
          </a:p>
          <a:p>
            <a:r>
              <a:rPr lang="zh-TW" altLang="zh-TW" b="1" dirty="0"/>
              <a:t>SWE-bench</a:t>
            </a:r>
            <a:r>
              <a:rPr lang="zh-TW" altLang="zh-TW" dirty="0"/>
              <a:t> (Software Engineering Benchmark) —— 軟體工程基準測試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目前業界評估「代碼研發 Agent（如 Devin）」自主解決真實 GitHub Issue 能力的權威標準。</a:t>
            </a:r>
          </a:p>
          <a:p>
            <a:r>
              <a:rPr lang="zh-TW" altLang="zh-TW" b="1" dirty="0"/>
              <a:t>GAIA</a:t>
            </a:r>
            <a:r>
              <a:rPr lang="zh-TW" altLang="zh-TW" dirty="0"/>
              <a:t> (General AI Assistants Benchmark) —— 通用 AI 助手基準測試</a:t>
            </a:r>
          </a:p>
          <a:p>
            <a:pPr lvl="1"/>
            <a:r>
              <a:rPr lang="zh-TW" altLang="zh-TW" b="1" dirty="0"/>
              <a:t>說明：</a:t>
            </a:r>
            <a:r>
              <a:rPr lang="zh-TW" altLang="zh-TW" dirty="0"/>
              <a:t> 用來評估 Agent 在面對需要跨工具、多模態、長程規劃等複雜現實任務時的綜合得分。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158739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分詞器組件（</a:t>
            </a:r>
            <a:r>
              <a:rPr lang="en-US" altLang="zh-TW" dirty="0"/>
              <a:t>Tokenizer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 err="1"/>
              <a:t>tokenizer_config.json</a:t>
            </a:r>
            <a:r>
              <a:rPr lang="zh-TW" altLang="en-US" dirty="0"/>
              <a:t>：記錄分詞器的控制面板參數與 </a:t>
            </a:r>
            <a:r>
              <a:rPr lang="en-US" altLang="zh-TW" dirty="0"/>
              <a:t>Jinja </a:t>
            </a:r>
            <a:r>
              <a:rPr lang="zh-TW" altLang="en-US" dirty="0"/>
              <a:t>對話模板，用來決定文字如何套用原廠角色格式。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 err="1"/>
              <a:t>vocab.json</a:t>
            </a:r>
            <a:r>
              <a:rPr lang="zh-TW" altLang="en-US" dirty="0"/>
              <a:t>：字詞與數位識別代號（</a:t>
            </a:r>
            <a:r>
              <a:rPr lang="en-US" altLang="zh-TW" dirty="0"/>
              <a:t>ID</a:t>
            </a:r>
            <a:r>
              <a:rPr lang="zh-TW" altLang="en-US" dirty="0"/>
              <a:t>）的對照字典，負責將切碎的字母字串翻譯成模型認得的密碼。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merges.txt</a:t>
            </a:r>
            <a:r>
              <a:rPr lang="zh-TW" altLang="en-US" dirty="0"/>
              <a:t>：記錄 </a:t>
            </a:r>
            <a:r>
              <a:rPr lang="en-US" altLang="zh-TW" dirty="0"/>
              <a:t>BPE </a:t>
            </a:r>
            <a:r>
              <a:rPr lang="zh-TW" altLang="en-US" dirty="0"/>
              <a:t>演算法的字詞合併規則表，引導分詞器如何有邏輯地將基礎字元組合成高階詞彙。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 err="1"/>
              <a:t>tokenizer.json</a:t>
            </a:r>
            <a:r>
              <a:rPr lang="zh-TW" altLang="en-US" dirty="0"/>
              <a:t>：現代內建 </a:t>
            </a:r>
            <a:r>
              <a:rPr lang="en-US" altLang="zh-TW" dirty="0"/>
              <a:t>Rust </a:t>
            </a:r>
            <a:r>
              <a:rPr lang="zh-TW" altLang="en-US" dirty="0"/>
              <a:t>高速核心的完全體分詞本體，將上述所有分詞與合併規則打包以達成高效編碼。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</a:t>
            </a:r>
            <a:r>
              <a:rPr lang="en-US" altLang="zh-TW" dirty="0" err="1"/>
              <a:t>special_tokens_map.json</a:t>
            </a:r>
            <a:r>
              <a:rPr lang="zh-TW" altLang="en-US" dirty="0"/>
              <a:t>：特殊符號對照表，用來定義與強制規範哪些數位代號代表文章開頭、結束或填補空白。</a:t>
            </a:r>
            <a:endParaRPr lang="en-US" altLang="zh-TW" dirty="0"/>
          </a:p>
          <a:p>
            <a:r>
              <a:rPr lang="zh-TW" altLang="en-US" dirty="0"/>
              <a:t>模型大腦組件（</a:t>
            </a:r>
            <a:r>
              <a:rPr lang="en-US" altLang="zh-TW" dirty="0"/>
              <a:t>Model Files</a:t>
            </a:r>
            <a:r>
              <a:rPr lang="zh-TW" altLang="en-US" dirty="0"/>
              <a:t>）：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</a:t>
            </a:r>
            <a:r>
              <a:rPr lang="en-US" altLang="zh-TW" dirty="0" err="1"/>
              <a:t>config.json</a:t>
            </a:r>
            <a:r>
              <a:rPr lang="zh-TW" altLang="en-US" dirty="0"/>
              <a:t>：大模型的神經網路結構藍圖，用來指引系統記憶體在開機時精準搭建出大腦的幾何骨架。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</a:t>
            </a:r>
            <a:r>
              <a:rPr lang="en-US" altLang="zh-TW" dirty="0" err="1"/>
              <a:t>model.safetensors</a:t>
            </a:r>
            <a:r>
              <a:rPr lang="zh-TW" altLang="en-US" dirty="0"/>
              <a:t>：大模型的實體大腦數字權重矩陣，負責在微調時被寫入與修改，永久保存所有的私有知識記憶。</a:t>
            </a:r>
            <a:endParaRPr lang="en-US" altLang="zh-TW" dirty="0"/>
          </a:p>
          <a:p>
            <a:pPr marL="342900" indent="-342900">
              <a:buAutoNum type="arabicPeriod"/>
            </a:pPr>
            <a:r>
              <a:rPr lang="en-US" altLang="zh-TW" dirty="0"/>
              <a:t> </a:t>
            </a:r>
            <a:r>
              <a:rPr lang="en-US" altLang="zh-TW" dirty="0" err="1"/>
              <a:t>generation_config.json</a:t>
            </a:r>
            <a:r>
              <a:rPr lang="zh-TW" altLang="en-US" dirty="0"/>
              <a:t>：文本生成控制台，用來決定模型在正式上線聊天接龍時的預設隨機度與說話語氣。</a:t>
            </a:r>
            <a:endParaRPr lang="en-US" altLang="zh-TW" dirty="0"/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AE597D-D1E7-4522-AA27-1BB111861251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51069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25E997-4179-402B-B045-C290473E86F3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04A4CC-0142-4D0E-B207-47A74A717BFD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36622843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EB8F32-D6CA-1096-5F7F-634DD3831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14FB77DC-1F1A-EDE3-202F-AD35BA1113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BBAA7D4-40C2-30FA-EF1C-009BF0978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D5AE9D-E316-4C75-862D-9EBD6D1B334B}" type="datetimeFigureOut">
              <a:rPr lang="zh-TW" altLang="en-US" smtClean="0"/>
              <a:t>2026/7/9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79E40CA-DAB8-F94E-65BD-7E947BD07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E982315-D0D5-22A2-3A7C-183FFB19C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9C4967A-F914-4D6D-AEDD-D79048CFF0C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64269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audio" Target="../media/audio1.wav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sv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4.svg"/><Relationship Id="rId5" Type="http://schemas.openxmlformats.org/officeDocument/2006/relationships/image" Target="../media/image3.svg"/><Relationship Id="rId4" Type="http://schemas.openxmlformats.org/officeDocument/2006/relationships/image" Target="../media/image2.svg"/><Relationship Id="rId9" Type="http://schemas.openxmlformats.org/officeDocument/2006/relationships/image" Target="../media/image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6.png"/><Relationship Id="rId7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svg"/><Relationship Id="rId5" Type="http://schemas.openxmlformats.org/officeDocument/2006/relationships/image" Target="../media/image8.sv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6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svg"/><Relationship Id="rId5" Type="http://schemas.openxmlformats.org/officeDocument/2006/relationships/image" Target="../media/image18.svg"/><Relationship Id="rId4" Type="http://schemas.openxmlformats.org/officeDocument/2006/relationships/image" Target="../media/image17.sv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27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4" Type="http://schemas.openxmlformats.org/officeDocument/2006/relationships/image" Target="../media/image28.png"/><Relationship Id="rId9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Gemma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3 Technical Report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2025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Google DeepMind	</a:t>
            </a:r>
            <a:r>
              <a:rPr lang="en-US" altLang="zh-TW" sz="1000" dirty="0">
                <a:sym typeface="Wingdings" panose="05000000000000000000" pitchFamily="2" charset="2"/>
              </a:rPr>
              <a:t>	Gemma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5B9CD27E-9C1A-3219-6A05-1CA47876AE20}"/>
              </a:ext>
            </a:extLst>
          </p:cNvPr>
          <p:cNvSpPr txBox="1"/>
          <p:nvPr/>
        </p:nvSpPr>
        <p:spPr>
          <a:xfrm>
            <a:off x="845586" y="1120676"/>
            <a:ext cx="7452828" cy="4339650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Ø"/>
              <a:defRPr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AI Runtime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(AI Agent, LLM, RAG, MCP)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MCP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(AI Stack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  <a:sym typeface="Wingdings" panose="05000000000000000000" pitchFamily="2" charset="2"/>
              </a:rPr>
              <a:t> Server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RAG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(Agent + Framework + Infrastructure )</a:t>
            </a:r>
            <a:r>
              <a:rPr lang="en-US" altLang="zh-TW" sz="1400" dirty="0">
                <a:solidFill>
                  <a:schemeClr val="bg1">
                    <a:lumMod val="50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LLM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(Stack)</a:t>
            </a:r>
            <a:endParaRPr kumimoji="0" lang="en-US" altLang="zh-TW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Trend</a:t>
            </a:r>
            <a:r>
              <a:rPr lang="zh-TW" altLang="en-US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Analysis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(SLM, Edge, Algorithm, )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en-US" altLang="zh-TW" sz="2400" dirty="0">
                <a:latin typeface="Noto Sans HK" panose="020B0200000000000000" pitchFamily="34" charset="-120"/>
                <a:ea typeface="Noto Sans HK" panose="020B0200000000000000" pitchFamily="34" charset="-120"/>
              </a:rPr>
              <a:t>Gemma 3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(Multi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odal,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Multilingual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Supervised Fine-Tuning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(Parameter Efficient Fine-Tuning)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Low-Rank Adaptation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(Efficient LLM Fine-Tuning)</a:t>
            </a:r>
            <a:endParaRPr lang="en-US" altLang="zh-TW" sz="1200" dirty="0">
              <a:solidFill>
                <a:schemeClr val="bg1">
                  <a:lumMod val="75000"/>
                </a:schemeClr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Gemma4</a:t>
            </a:r>
            <a:r>
              <a:rPr kumimoji="0" lang="zh-TW" altLang="en-US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zh-TW" dirty="0">
                <a:latin typeface="Noto Sans HK" panose="020B0200000000000000" pitchFamily="34" charset="-120"/>
                <a:ea typeface="Noto Sans HK" panose="020B0200000000000000" pitchFamily="34" charset="-120"/>
              </a:rPr>
              <a:t>PLE</a:t>
            </a:r>
            <a:r>
              <a:rPr lang="en-US" altLang="zh-TW" dirty="0">
                <a:solidFill>
                  <a:prstClr val="white">
                    <a:lumMod val="50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lang="en-US" altLang="zh-TW" sz="1200" dirty="0">
                <a:solidFill>
                  <a:schemeClr val="bg1">
                    <a:lumMod val="75000"/>
                  </a:scheme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(Per Layer Embedding)</a:t>
            </a:r>
            <a:r>
              <a:rPr lang="en-US" altLang="zh-TW" sz="12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endParaRPr kumimoji="0" lang="en-US" altLang="zh-TW" sz="120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altLang="zh-TW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Comparison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(Llama 4, Deep Seek)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Conclusion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white">
                    <a:lumMod val="50000"/>
                  </a:prst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75000"/>
                  </a:schemeClr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</a:rPr>
              <a:t>(A Holistic Perspective on GPT and AI Technology)</a:t>
            </a: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Leading Frameworks 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(How to evaluate the performance of model?)</a:t>
            </a:r>
            <a:endParaRPr lang="en-US" altLang="zh-TW" dirty="0">
              <a:solidFill>
                <a:prstClr val="black"/>
              </a:solidFill>
              <a:latin typeface="Noto Sans HK" panose="020B0200000000000000" pitchFamily="34" charset="-120"/>
              <a:ea typeface="Noto Sans HK" panose="020B0200000000000000" pitchFamily="34" charset="-120"/>
            </a:endParaRPr>
          </a:p>
          <a:p>
            <a:pPr marL="742950" lvl="1" indent="-285750">
              <a:buFont typeface="Arial" panose="020B0604020202020204" pitchFamily="34" charset="0"/>
              <a:buChar char="•"/>
              <a:defRPr/>
            </a:pPr>
            <a:r>
              <a:rPr lang="en-US" altLang="zh-TW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Practice Example </a:t>
            </a:r>
            <a:r>
              <a:rPr lang="en-US" altLang="zh-TW" sz="1200" dirty="0">
                <a:solidFill>
                  <a:prstClr val="white">
                    <a:lumMod val="75000"/>
                  </a:prstClr>
                </a:solidFill>
                <a:latin typeface="Noto Sans HK" panose="020B0200000000000000" pitchFamily="34" charset="-120"/>
                <a:ea typeface="Noto Sans HK" panose="020B0200000000000000" pitchFamily="34" charset="-120"/>
              </a:rPr>
              <a:t>(O! llama)</a:t>
            </a:r>
            <a:endParaRPr kumimoji="0" lang="en-US" altLang="zh-TW" sz="1400" b="0" i="0" u="none" strike="noStrike" kern="1200" cap="none" spc="0" normalizeH="0" baseline="0" noProof="0" dirty="0">
              <a:ln>
                <a:noFill/>
              </a:ln>
              <a:solidFill>
                <a:schemeClr val="bg1">
                  <a:lumMod val="75000"/>
                </a:schemeClr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</a:endParaRPr>
          </a:p>
        </p:txBody>
      </p:sp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Agenda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A1C639E3-E511-933C-E6C6-4C289F817DDD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/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/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" dur="5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8" dur="5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0" dur="2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1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2" dur="2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6" dur="5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7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18" dur="5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1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0" dur="5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1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2" dur="5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3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4" dur="5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3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25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26" dur="5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5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0" dur="5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2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3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2" dur="2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4" dur="2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6" dur="2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38" dur="2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3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0" dur="2000" fill="hold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1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2" dur="2000" fill="hold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4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4" dur="2000" fill="hold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48" dur="5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4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2" dur="5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4" dur="2000" fill="hold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3" presetClass="emph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58" dur="5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7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59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0" dur="5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59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1" presetID="3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2" dur="5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FF0000"/>
                                      </p:to>
                                    </p:animClr>
                                  </p:childTnLst>
                                  <p:subTnLst>
                                    <p:audio>
                                      <p:cMediaNode>
                                        <p:cTn display="0" masterRel="sameClick">
                                          <p:stCondLst>
                                            <p:cond evt="begin" delay="0">
                                              <p:tn val="61"/>
                                            </p:cond>
                                          </p:stCondLst>
                                          <p:endCondLst>
                                            <p:cond evt="onStopAudio" delay="0">
                                              <p:tgtEl>
                                                <p:sldTgt/>
                                              </p:tgtEl>
                                            </p:cond>
                                          </p:endCondLst>
                                        </p:cTn>
                                        <p:tgtEl>
                                          <p:sndTgt r:embed="rId3" name="type.wav"/>
                                        </p:tgtEl>
                                      </p:cMediaNode>
                                    </p:audio>
                                  </p:subTnLst>
                                </p:cTn>
                              </p:par>
                              <p:par>
                                <p:cTn id="63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4" dur="2000" fill="hold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5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6" dur="2000" fill="hold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7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68" dur="2000" fill="hold"/>
                                        <p:tgtEl>
                                          <p:spTgt spid="2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  <p:par>
                                <p:cTn id="69" presetID="3" presetClass="emph" presetSubtype="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 override="childStyle">
                                        <p:cTn id="70" dur="2000" fill="hold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a:srgbClr val="D8A09C"/>
                                      </p:to>
                                    </p:animClr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xit" presetSubtype="0" fill="hold" grpId="2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uiExpand="1" build="allAtOnce"/>
      <p:bldP spid="2" grpId="1" uiExpand="1" build="allAtOnce"/>
      <p:bldP spid="2" grpId="2" uiExpand="1" build="allAtOnce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71AC5596-EE09-9809-F3EF-BFD1A1950756}"/>
              </a:ext>
            </a:extLst>
          </p:cNvPr>
          <p:cNvSpPr txBox="1"/>
          <p:nvPr/>
        </p:nvSpPr>
        <p:spPr>
          <a:xfrm>
            <a:off x="2915816" y="3284985"/>
            <a:ext cx="3575442" cy="2007356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olid"/>
          </a:ln>
        </p:spPr>
        <p:txBody>
          <a:bodyPr wrap="none" lIns="72000" tIns="72000" rIns="0" bIns="0" anchor="t" anchorCtr="0">
            <a:noAutofit/>
          </a:bodyPr>
          <a:lstStyle/>
          <a:p>
            <a:pPr marL="0" marR="0" lvl="0" indent="0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altLang="zh-TW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1" name="標題 1">
            <a:extLst>
              <a:ext uri="{FF2B5EF4-FFF2-40B4-BE49-F238E27FC236}">
                <a16:creationId xmlns:a16="http://schemas.microsoft.com/office/drawing/2014/main" id="{4545CAD2-DED1-687D-F927-CC8160C4A862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Runtime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lvl="0">
              <a:spcBef>
                <a:spcPts val="0"/>
              </a:spcBef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An AI agent completes tasks using an LLM brain, RAG knowledge, and MCP tools. </a:t>
            </a:r>
            <a:r>
              <a:rPr lang="zh-TW" altLang="zh-TW" sz="1400" dirty="0"/>
              <a:t>➔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10" name="表格 9">
            <a:extLst>
              <a:ext uri="{FF2B5EF4-FFF2-40B4-BE49-F238E27FC236}">
                <a16:creationId xmlns:a16="http://schemas.microsoft.com/office/drawing/2014/main" id="{A23F70E7-2AF0-CCC8-DB8C-D9CFEB8FE8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1393876"/>
              </p:ext>
            </p:extLst>
          </p:nvPr>
        </p:nvGraphicFramePr>
        <p:xfrm>
          <a:off x="1372495" y="3645024"/>
          <a:ext cx="1356495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495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Workflow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Input Processing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Executing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Tool Calling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Output Parsing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23" name="文字方塊 22">
            <a:extLst>
              <a:ext uri="{FF2B5EF4-FFF2-40B4-BE49-F238E27FC236}">
                <a16:creationId xmlns:a16="http://schemas.microsoft.com/office/drawing/2014/main" id="{E0A41338-6FF6-3FD5-520C-C25BBAECA635}"/>
              </a:ext>
            </a:extLst>
          </p:cNvPr>
          <p:cNvSpPr txBox="1"/>
          <p:nvPr/>
        </p:nvSpPr>
        <p:spPr>
          <a:xfrm>
            <a:off x="3707905" y="1936783"/>
            <a:ext cx="881419" cy="756316"/>
          </a:xfrm>
          <a:prstGeom prst="rect">
            <a:avLst/>
          </a:prstGeom>
          <a:solidFill>
            <a:schemeClr val="accent1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5">
                    <a:lumMod val="75000"/>
                  </a:schemeClr>
                </a:solidFill>
                <a:effectLst/>
              </a:rPr>
              <a:t>LLM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Foundation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(Reasoning)</a:t>
            </a: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A35867F2-C1D1-B5A8-4A34-A85DFFA9F207}"/>
              </a:ext>
            </a:extLst>
          </p:cNvPr>
          <p:cNvSpPr txBox="1"/>
          <p:nvPr/>
        </p:nvSpPr>
        <p:spPr>
          <a:xfrm>
            <a:off x="5058733" y="1936783"/>
            <a:ext cx="881419" cy="756316"/>
          </a:xfrm>
          <a:prstGeom prst="rect">
            <a:avLst/>
          </a:prstGeom>
          <a:solidFill>
            <a:schemeClr val="accent3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</a:rPr>
              <a:t>RAG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Knowledge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(Anti-hallucination)</a:t>
            </a:r>
          </a:p>
        </p:txBody>
      </p:sp>
      <p:sp>
        <p:nvSpPr>
          <p:cNvPr id="26" name="文字方塊 25">
            <a:extLst>
              <a:ext uri="{FF2B5EF4-FFF2-40B4-BE49-F238E27FC236}">
                <a16:creationId xmlns:a16="http://schemas.microsoft.com/office/drawing/2014/main" id="{17651556-23BC-0DDD-07E7-364BC774FADB}"/>
              </a:ext>
            </a:extLst>
          </p:cNvPr>
          <p:cNvSpPr txBox="1"/>
          <p:nvPr/>
        </p:nvSpPr>
        <p:spPr>
          <a:xfrm>
            <a:off x="6426885" y="1936783"/>
            <a:ext cx="881419" cy="756316"/>
          </a:xfrm>
          <a:prstGeom prst="rect">
            <a:avLst/>
          </a:prstGeom>
          <a:solidFill>
            <a:schemeClr val="accent4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4">
                    <a:lumMod val="75000"/>
                  </a:schemeClr>
                </a:solidFill>
                <a:effectLst/>
              </a:rPr>
              <a:t>MCP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Action 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u="none" strike="noStrike" dirty="0">
                <a:effectLst/>
              </a:rPr>
              <a:t>(External tools)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978899A1-FBD5-7632-C399-E1601597C0CA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>
            <a:off x="4589324" y="2314941"/>
            <a:ext cx="469409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單箭頭接點 29">
            <a:extLst>
              <a:ext uri="{FF2B5EF4-FFF2-40B4-BE49-F238E27FC236}">
                <a16:creationId xmlns:a16="http://schemas.microsoft.com/office/drawing/2014/main" id="{D56C6C98-33E6-85B9-402F-84C3D75B4803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>
            <a:off x="5940152" y="2314941"/>
            <a:ext cx="48673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27C079F-0143-0F0C-F3B8-220CDDAD12FF}"/>
              </a:ext>
            </a:extLst>
          </p:cNvPr>
          <p:cNvSpPr txBox="1"/>
          <p:nvPr/>
        </p:nvSpPr>
        <p:spPr>
          <a:xfrm>
            <a:off x="2989497" y="3351879"/>
            <a:ext cx="764323" cy="293145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2"/>
                </a:solidFill>
                <a:effectLst/>
              </a:rPr>
              <a:t>AI Agent</a:t>
            </a:r>
            <a:endParaRPr lang="en-US" altLang="zh-TW" sz="1200" dirty="0">
              <a:solidFill>
                <a:schemeClr val="tx2"/>
              </a:solidFill>
            </a:endParaRPr>
          </a:p>
        </p:txBody>
      </p:sp>
      <p:sp>
        <p:nvSpPr>
          <p:cNvPr id="33" name="右大括弧 32">
            <a:extLst>
              <a:ext uri="{FF2B5EF4-FFF2-40B4-BE49-F238E27FC236}">
                <a16:creationId xmlns:a16="http://schemas.microsoft.com/office/drawing/2014/main" id="{85617580-DE52-B14E-49D6-B4987ACE2E74}"/>
              </a:ext>
            </a:extLst>
          </p:cNvPr>
          <p:cNvSpPr/>
          <p:nvPr/>
        </p:nvSpPr>
        <p:spPr>
          <a:xfrm rot="16200000">
            <a:off x="5443688" y="360344"/>
            <a:ext cx="161581" cy="279765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5" name="標題 1">
            <a:extLst>
              <a:ext uri="{FF2B5EF4-FFF2-40B4-BE49-F238E27FC236}">
                <a16:creationId xmlns:a16="http://schemas.microsoft.com/office/drawing/2014/main" id="{712111BD-605F-4F9A-B096-4D0A2B62113E}"/>
              </a:ext>
            </a:extLst>
          </p:cNvPr>
          <p:cNvSpPr txBox="1">
            <a:spLocks/>
          </p:cNvSpPr>
          <p:nvPr/>
        </p:nvSpPr>
        <p:spPr>
          <a:xfrm>
            <a:off x="4774068" y="1196752"/>
            <a:ext cx="1479398" cy="433217"/>
          </a:xfrm>
          <a:prstGeom prst="rect">
            <a:avLst/>
          </a:prstGeom>
        </p:spPr>
        <p:txBody>
          <a:bodyPr wrap="none" lIns="91440" tIns="0" rIns="0" bIns="0" anchor="ctr" anchorCtr="1"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altLang="zh-TW" sz="12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Runtime</a:t>
            </a:r>
          </a:p>
          <a:p>
            <a:pPr algn="ctr"/>
            <a:r>
              <a:rPr lang="en-US" altLang="zh-TW" sz="10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(Goal: Smarter AI Agent)</a:t>
            </a:r>
          </a:p>
        </p:txBody>
      </p: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6C4189AF-8414-40CC-60A0-54BF0A6CA583}"/>
              </a:ext>
            </a:extLst>
          </p:cNvPr>
          <p:cNvGrpSpPr/>
          <p:nvPr/>
        </p:nvGrpSpPr>
        <p:grpSpPr>
          <a:xfrm>
            <a:off x="611560" y="1273176"/>
            <a:ext cx="1219522" cy="1756213"/>
            <a:chOff x="1331640" y="2203695"/>
            <a:chExt cx="1219522" cy="1756213"/>
          </a:xfrm>
        </p:grpSpPr>
        <p:sp>
          <p:nvSpPr>
            <p:cNvPr id="32" name="文字方塊 31">
              <a:extLst>
                <a:ext uri="{FF2B5EF4-FFF2-40B4-BE49-F238E27FC236}">
                  <a16:creationId xmlns:a16="http://schemas.microsoft.com/office/drawing/2014/main" id="{FC3EE967-B2E4-1D42-F11F-68E5F269497C}"/>
                </a:ext>
              </a:extLst>
            </p:cNvPr>
            <p:cNvSpPr txBox="1"/>
            <p:nvPr/>
          </p:nvSpPr>
          <p:spPr>
            <a:xfrm>
              <a:off x="1331640" y="2867302"/>
              <a:ext cx="1219522" cy="1092606"/>
            </a:xfrm>
            <a:prstGeom prst="rect">
              <a:avLst/>
            </a:prstGeom>
            <a:solidFill>
              <a:schemeClr val="accent2">
                <a:lumMod val="20000"/>
                <a:lumOff val="80000"/>
                <a:alpha val="80000"/>
              </a:schemeClr>
            </a:solidFill>
            <a:ln w="25400">
              <a:solidFill>
                <a:schemeClr val="bg1">
                  <a:lumMod val="85000"/>
                </a:schemeClr>
              </a:solidFill>
            </a:ln>
          </p:spPr>
          <p:txBody>
            <a:bodyPr wrap="none" lIns="0" tIns="72000" rIns="0" bIns="36000" anchor="ctr" anchorCtr="1">
              <a:noAutofit/>
            </a:bodyPr>
            <a:lstStyle/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Pre-Training</a:t>
              </a:r>
            </a:p>
            <a:p>
              <a:pPr algn="ctr">
                <a:lnSpc>
                  <a:spcPts val="1400"/>
                </a:lnSpc>
                <a:buNone/>
              </a:pPr>
              <a:r>
                <a:rPr lang="en-US" altLang="zh-TW" sz="1400" b="1" u="none" strike="noStrike" dirty="0">
                  <a:solidFill>
                    <a:schemeClr val="accent2">
                      <a:lumMod val="60000"/>
                      <a:lumOff val="40000"/>
                    </a:schemeClr>
                  </a:solidFill>
                  <a:effectLst/>
                </a:rPr>
                <a:t>&amp; SFT</a:t>
              </a:r>
            </a:p>
          </p:txBody>
        </p:sp>
        <p:sp>
          <p:nvSpPr>
            <p:cNvPr id="36" name="標題 1">
              <a:extLst>
                <a:ext uri="{FF2B5EF4-FFF2-40B4-BE49-F238E27FC236}">
                  <a16:creationId xmlns:a16="http://schemas.microsoft.com/office/drawing/2014/main" id="{975BBE30-A6EE-B2AC-1910-5B401203FF00}"/>
                </a:ext>
              </a:extLst>
            </p:cNvPr>
            <p:cNvSpPr txBox="1">
              <a:spLocks/>
            </p:cNvSpPr>
            <p:nvPr/>
          </p:nvSpPr>
          <p:spPr>
            <a:xfrm>
              <a:off x="1383399" y="2203695"/>
              <a:ext cx="1100369" cy="433217"/>
            </a:xfrm>
            <a:prstGeom prst="rect">
              <a:avLst/>
            </a:prstGeom>
          </p:spPr>
          <p:txBody>
            <a:bodyPr wrap="none" lIns="0" tIns="0" rIns="0" bIns="0" anchor="ctr" anchorCtr="1"/>
            <a:lstStyle>
              <a:lvl1pPr algn="l" defTabSz="914400" rtl="0" eaLnBrk="1" latinLnBrk="0" hangingPunct="1">
                <a:spcBef>
                  <a:spcPct val="0"/>
                </a:spcBef>
                <a:buNone/>
                <a:defRPr sz="2400" kern="1200">
                  <a:solidFill>
                    <a:schemeClr val="tx1"/>
                  </a:solidFill>
                  <a:latin typeface="+mj-lt"/>
                  <a:ea typeface="+mj-ea"/>
                  <a:cs typeface="+mj-cs"/>
                </a:defRPr>
              </a:lvl1pPr>
            </a:lstStyle>
            <a:p>
              <a:pPr algn="ctr"/>
              <a:r>
                <a:rPr lang="en-US" altLang="zh-TW" sz="12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Training Stages </a:t>
              </a:r>
            </a:p>
            <a:p>
              <a:pPr algn="ctr"/>
              <a:r>
                <a:rPr lang="en-US" altLang="zh-TW" sz="1000" dirty="0">
                  <a:solidFill>
                    <a:schemeClr val="tx1">
                      <a:lumMod val="50000"/>
                      <a:lumOff val="50000"/>
                    </a:schemeClr>
                  </a:solidFill>
                  <a:latin typeface="Noto Sans HK" panose="020B0200000000000000" pitchFamily="34" charset="-120"/>
                  <a:ea typeface="Noto Sans HK" panose="020B0200000000000000" pitchFamily="34" charset="-120"/>
                  <a:cs typeface="Arial" panose="020B0604020202020204" pitchFamily="34" charset="0"/>
                </a:rPr>
                <a:t>(Goal: Alignment)</a:t>
              </a:r>
            </a:p>
          </p:txBody>
        </p:sp>
        <p:sp>
          <p:nvSpPr>
            <p:cNvPr id="37" name="右大括弧 36">
              <a:extLst>
                <a:ext uri="{FF2B5EF4-FFF2-40B4-BE49-F238E27FC236}">
                  <a16:creationId xmlns:a16="http://schemas.microsoft.com/office/drawing/2014/main" id="{D20F47B1-9D0B-3FB0-F3F1-472019ABA4C9}"/>
                </a:ext>
              </a:extLst>
            </p:cNvPr>
            <p:cNvSpPr/>
            <p:nvPr/>
          </p:nvSpPr>
          <p:spPr>
            <a:xfrm rot="16200000">
              <a:off x="1855526" y="2139505"/>
              <a:ext cx="153043" cy="1100372"/>
            </a:xfrm>
            <a:prstGeom prst="rightBrac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zh-TW" altLang="en-US"/>
            </a:p>
          </p:txBody>
        </p:sp>
      </p:grpSp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6DAD7B2C-ECBC-5409-ACCF-C57D6A2A82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6727229"/>
              </p:ext>
            </p:extLst>
          </p:nvPr>
        </p:nvGraphicFramePr>
        <p:xfrm>
          <a:off x="6887389" y="4395160"/>
          <a:ext cx="1645051" cy="1338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05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164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Functions 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Intent Parsing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Capability Matching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Dispatching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Execution Monitoring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  <a:tr h="20433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Update Skill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87791173"/>
                  </a:ext>
                </a:extLst>
              </a:tr>
            </a:tbl>
          </a:graphicData>
        </a:graphic>
      </p:graphicFrame>
      <p:cxnSp>
        <p:nvCxnSpPr>
          <p:cNvPr id="13" name="直線單箭頭接點 12">
            <a:extLst>
              <a:ext uri="{FF2B5EF4-FFF2-40B4-BE49-F238E27FC236}">
                <a16:creationId xmlns:a16="http://schemas.microsoft.com/office/drawing/2014/main" id="{59363631-C7E6-801B-5C06-7DF922EC9AD0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1831082" y="2314941"/>
            <a:ext cx="1876823" cy="0"/>
          </a:xfrm>
          <a:prstGeom prst="straightConnector1">
            <a:avLst/>
          </a:prstGeom>
          <a:ln w="25400">
            <a:solidFill>
              <a:schemeClr val="bg1">
                <a:lumMod val="85000"/>
              </a:schemeClr>
            </a:solidFill>
            <a:headEnd w="med" len="lg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6DB8FA6F-7F2A-81B9-BC87-5C6254408307}"/>
              </a:ext>
            </a:extLst>
          </p:cNvPr>
          <p:cNvSpPr txBox="1"/>
          <p:nvPr/>
        </p:nvSpPr>
        <p:spPr>
          <a:xfrm>
            <a:off x="3905988" y="3654966"/>
            <a:ext cx="1602116" cy="748224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7200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41" name="文字方塊 40">
            <a:extLst>
              <a:ext uri="{FF2B5EF4-FFF2-40B4-BE49-F238E27FC236}">
                <a16:creationId xmlns:a16="http://schemas.microsoft.com/office/drawing/2014/main" id="{E38D2852-0E50-B26A-DDD1-646A07E30642}"/>
              </a:ext>
            </a:extLst>
          </p:cNvPr>
          <p:cNvSpPr txBox="1"/>
          <p:nvPr/>
        </p:nvSpPr>
        <p:spPr>
          <a:xfrm>
            <a:off x="4395325" y="5670112"/>
            <a:ext cx="616423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E8BB46F6-04C0-304D-97C7-1C448761087C}"/>
              </a:ext>
            </a:extLst>
          </p:cNvPr>
          <p:cNvCxnSpPr>
            <a:cxnSpLocks/>
            <a:stCxn id="41" idx="0"/>
            <a:endCxn id="4" idx="2"/>
          </p:cNvCxnSpPr>
          <p:nvPr/>
        </p:nvCxnSpPr>
        <p:spPr>
          <a:xfrm flipV="1">
            <a:off x="4703537" y="5292341"/>
            <a:ext cx="0" cy="37777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接點: 肘形 64">
            <a:extLst>
              <a:ext uri="{FF2B5EF4-FFF2-40B4-BE49-F238E27FC236}">
                <a16:creationId xmlns:a16="http://schemas.microsoft.com/office/drawing/2014/main" id="{96A1C980-1A1E-0E55-BF8E-AC7D7F8FA548}"/>
              </a:ext>
            </a:extLst>
          </p:cNvPr>
          <p:cNvCxnSpPr>
            <a:cxnSpLocks/>
            <a:stCxn id="4" idx="0"/>
            <a:endCxn id="70" idx="3"/>
          </p:cNvCxnSpPr>
          <p:nvPr/>
        </p:nvCxnSpPr>
        <p:spPr>
          <a:xfrm rot="16200000" flipH="1">
            <a:off x="4730848" y="3257673"/>
            <a:ext cx="1521033" cy="1575656"/>
          </a:xfrm>
          <a:prstGeom prst="bentConnector4">
            <a:avLst>
              <a:gd name="adj1" fmla="val -15029"/>
              <a:gd name="adj2" fmla="val 127967"/>
            </a:avLst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菱形 69">
            <a:extLst>
              <a:ext uri="{FF2B5EF4-FFF2-40B4-BE49-F238E27FC236}">
                <a16:creationId xmlns:a16="http://schemas.microsoft.com/office/drawing/2014/main" id="{C103C3EA-9A2B-56B2-71C8-2DC4B5A44B88}"/>
              </a:ext>
            </a:extLst>
          </p:cNvPr>
          <p:cNvSpPr/>
          <p:nvPr/>
        </p:nvSpPr>
        <p:spPr>
          <a:xfrm>
            <a:off x="5868144" y="4598859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Execution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Monitoring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3" name="箭號: 向下 62">
            <a:extLst>
              <a:ext uri="{FF2B5EF4-FFF2-40B4-BE49-F238E27FC236}">
                <a16:creationId xmlns:a16="http://schemas.microsoft.com/office/drawing/2014/main" id="{F48C7747-863B-73B4-1013-B33EDF23A7A2}"/>
              </a:ext>
            </a:extLst>
          </p:cNvPr>
          <p:cNvSpPr/>
          <p:nvPr/>
        </p:nvSpPr>
        <p:spPr>
          <a:xfrm rot="10800000">
            <a:off x="5004049" y="3361821"/>
            <a:ext cx="325849" cy="356790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9" name="箭號: 向下 58">
            <a:extLst>
              <a:ext uri="{FF2B5EF4-FFF2-40B4-BE49-F238E27FC236}">
                <a16:creationId xmlns:a16="http://schemas.microsoft.com/office/drawing/2014/main" id="{F947BFCB-E126-A288-3F5F-5B82F85DC58F}"/>
              </a:ext>
            </a:extLst>
          </p:cNvPr>
          <p:cNvSpPr/>
          <p:nvPr/>
        </p:nvSpPr>
        <p:spPr>
          <a:xfrm rot="10800000">
            <a:off x="4030127" y="3361825"/>
            <a:ext cx="325849" cy="356786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1">
              <a:lumMod val="20000"/>
              <a:lumOff val="80000"/>
            </a:schemeClr>
          </a:solidFill>
          <a:ln w="254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cxnSp>
        <p:nvCxnSpPr>
          <p:cNvPr id="90" name="接點: 肘形 89">
            <a:extLst>
              <a:ext uri="{FF2B5EF4-FFF2-40B4-BE49-F238E27FC236}">
                <a16:creationId xmlns:a16="http://schemas.microsoft.com/office/drawing/2014/main" id="{860BF17A-3A43-8200-7E8F-A0E51B403159}"/>
              </a:ext>
            </a:extLst>
          </p:cNvPr>
          <p:cNvCxnSpPr>
            <a:cxnSpLocks/>
            <a:stCxn id="70" idx="1"/>
            <a:endCxn id="128" idx="2"/>
          </p:cNvCxnSpPr>
          <p:nvPr/>
        </p:nvCxnSpPr>
        <p:spPr>
          <a:xfrm rot="10800000">
            <a:off x="4691460" y="4581128"/>
            <a:ext cx="1176685" cy="224890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箭號: 向下 100">
            <a:extLst>
              <a:ext uri="{FF2B5EF4-FFF2-40B4-BE49-F238E27FC236}">
                <a16:creationId xmlns:a16="http://schemas.microsoft.com/office/drawing/2014/main" id="{740A28A5-004A-1140-2753-AD03B5752A44}"/>
              </a:ext>
            </a:extLst>
          </p:cNvPr>
          <p:cNvSpPr/>
          <p:nvPr/>
        </p:nvSpPr>
        <p:spPr>
          <a:xfrm rot="10800000">
            <a:off x="4534183" y="3382098"/>
            <a:ext cx="325849" cy="356789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3">
              <a:lumMod val="20000"/>
              <a:lumOff val="80000"/>
            </a:schemeClr>
          </a:solidFill>
          <a:ln w="2540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endParaRPr lang="zh-TW" altLang="en-US" sz="10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28" name="菱形 127">
            <a:extLst>
              <a:ext uri="{FF2B5EF4-FFF2-40B4-BE49-F238E27FC236}">
                <a16:creationId xmlns:a16="http://schemas.microsoft.com/office/drawing/2014/main" id="{056CEF72-D817-DA77-D783-EA6E90469BE3}"/>
              </a:ext>
            </a:extLst>
          </p:cNvPr>
          <p:cNvSpPr/>
          <p:nvPr/>
        </p:nvSpPr>
        <p:spPr>
          <a:xfrm>
            <a:off x="4485934" y="4166811"/>
            <a:ext cx="411049" cy="414317"/>
          </a:xfrm>
          <a:prstGeom prst="diamond">
            <a:avLst/>
          </a:prstGeom>
          <a:solidFill>
            <a:schemeClr val="bg1">
              <a:lumMod val="95000"/>
              <a:alpha val="9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Intent</a:t>
            </a:r>
          </a:p>
          <a:p>
            <a:pPr algn="ctr"/>
            <a:r>
              <a:rPr lang="en-US" altLang="zh-TW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Parsing</a:t>
            </a:r>
            <a:endParaRPr lang="zh-TW" altLang="en-US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50" name="文字方塊 149">
            <a:extLst>
              <a:ext uri="{FF2B5EF4-FFF2-40B4-BE49-F238E27FC236}">
                <a16:creationId xmlns:a16="http://schemas.microsoft.com/office/drawing/2014/main" id="{4DBC00A6-140D-02C8-ACC8-59862488BAFA}"/>
              </a:ext>
            </a:extLst>
          </p:cNvPr>
          <p:cNvSpPr txBox="1"/>
          <p:nvPr/>
        </p:nvSpPr>
        <p:spPr>
          <a:xfrm>
            <a:off x="4355976" y="3789040"/>
            <a:ext cx="706147" cy="4539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</a:p>
          <a:p>
            <a:pPr marL="0" marR="0" lvl="0" indent="0" algn="ctr" defTabSz="914400" rtl="0" eaLnBrk="1" fontAlgn="auto" latinLnBrk="0" hangingPunct="1">
              <a:lnSpc>
                <a:spcPts val="14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75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Router</a:t>
            </a:r>
          </a:p>
        </p:txBody>
      </p:sp>
      <p:cxnSp>
        <p:nvCxnSpPr>
          <p:cNvPr id="169" name="接點: 肘形 168">
            <a:extLst>
              <a:ext uri="{FF2B5EF4-FFF2-40B4-BE49-F238E27FC236}">
                <a16:creationId xmlns:a16="http://schemas.microsoft.com/office/drawing/2014/main" id="{CD0DEFC5-0B24-936F-DA7E-42881C2850C2}"/>
              </a:ext>
            </a:extLst>
          </p:cNvPr>
          <p:cNvCxnSpPr>
            <a:cxnSpLocks/>
            <a:stCxn id="31" idx="1"/>
            <a:endCxn id="10" idx="0"/>
          </p:cNvCxnSpPr>
          <p:nvPr/>
        </p:nvCxnSpPr>
        <p:spPr>
          <a:xfrm rot="10800000" flipV="1">
            <a:off x="2050743" y="3498452"/>
            <a:ext cx="938755" cy="14657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接點: 肘形 170">
            <a:extLst>
              <a:ext uri="{FF2B5EF4-FFF2-40B4-BE49-F238E27FC236}">
                <a16:creationId xmlns:a16="http://schemas.microsoft.com/office/drawing/2014/main" id="{6170D0D7-839B-02D8-7BA7-59D19B314486}"/>
              </a:ext>
            </a:extLst>
          </p:cNvPr>
          <p:cNvCxnSpPr>
            <a:cxnSpLocks/>
            <a:stCxn id="19" idx="3"/>
            <a:endCxn id="12" idx="0"/>
          </p:cNvCxnSpPr>
          <p:nvPr/>
        </p:nvCxnSpPr>
        <p:spPr>
          <a:xfrm>
            <a:off x="5508104" y="4029078"/>
            <a:ext cx="2201810" cy="366082"/>
          </a:xfrm>
          <a:prstGeom prst="bentConnector2">
            <a:avLst/>
          </a:prstGeom>
          <a:ln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7DEA0D74-EF3B-9C8A-F84C-2F323131741D}"/>
              </a:ext>
            </a:extLst>
          </p:cNvPr>
          <p:cNvSpPr txBox="1"/>
          <p:nvPr/>
        </p:nvSpPr>
        <p:spPr>
          <a:xfrm>
            <a:off x="2989497" y="3645024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LLM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(Inference)</a:t>
            </a:r>
          </a:p>
        </p:txBody>
      </p:sp>
      <p:sp>
        <p:nvSpPr>
          <p:cNvPr id="6" name="語音泡泡: 圓角矩形 5">
            <a:extLst>
              <a:ext uri="{FF2B5EF4-FFF2-40B4-BE49-F238E27FC236}">
                <a16:creationId xmlns:a16="http://schemas.microsoft.com/office/drawing/2014/main" id="{905E2150-432D-233C-0E0E-6B9259F5B0F8}"/>
              </a:ext>
            </a:extLst>
          </p:cNvPr>
          <p:cNvSpPr/>
          <p:nvPr/>
        </p:nvSpPr>
        <p:spPr>
          <a:xfrm>
            <a:off x="3203848" y="4742039"/>
            <a:ext cx="1149254" cy="703185"/>
          </a:xfrm>
          <a:prstGeom prst="wedgeRoundRectCallout">
            <a:avLst>
              <a:gd name="adj1" fmla="val 37486"/>
              <a:gd name="adj2" fmla="val 79865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Anything 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interesting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today?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ABBE1A47-340D-F018-875C-126691CF8304}"/>
              </a:ext>
            </a:extLst>
          </p:cNvPr>
          <p:cNvSpPr txBox="1"/>
          <p:nvPr/>
        </p:nvSpPr>
        <p:spPr>
          <a:xfrm>
            <a:off x="2989497" y="4060993"/>
            <a:ext cx="764323" cy="368208"/>
          </a:xfrm>
          <a:prstGeom prst="rect">
            <a:avLst/>
          </a:prstGeom>
          <a:solidFill>
            <a:schemeClr val="bg1">
              <a:alpha val="60000"/>
            </a:schemeClr>
          </a:solidFill>
          <a:ln w="25400">
            <a:solidFill>
              <a:schemeClr val="accent1">
                <a:lumMod val="75000"/>
                <a:alpha val="60000"/>
              </a:schemeClr>
            </a:solidFill>
            <a:prstDash val="sysDot"/>
          </a:ln>
        </p:spPr>
        <p:txBody>
          <a:bodyPr wrap="none" lIns="0" tIns="0" rIns="0" bIns="0" anchor="b" anchorCtr="1">
            <a:noAutofit/>
          </a:bodyPr>
          <a:lstStyle/>
          <a:p>
            <a:pPr algn="ctr">
              <a:lnSpc>
                <a:spcPts val="1200"/>
              </a:lnSpc>
              <a:buNone/>
            </a:pPr>
            <a:r>
              <a:rPr lang="en-US" altLang="zh-TW" sz="1400" b="1" dirty="0">
                <a:solidFill>
                  <a:schemeClr val="accent1">
                    <a:lumMod val="75000"/>
                  </a:schemeClr>
                </a:solidFill>
              </a:rPr>
              <a:t>Skill</a:t>
            </a:r>
          </a:p>
          <a:p>
            <a:pPr marL="0" marR="0" lvl="0" indent="0" algn="ctr" defTabSz="914400" rtl="0" eaLnBrk="1" fontAlgn="auto" latinLnBrk="0" hangingPunct="1">
              <a:lnSpc>
                <a:spcPts val="1200"/>
              </a:lnSpc>
              <a:buClrTx/>
              <a:buSzTx/>
              <a:buFontTx/>
              <a:buNone/>
              <a:tabLst/>
              <a:defRPr/>
            </a:pP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(Tools)</a:t>
            </a: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3408F49E-2660-ED9C-C17D-77DCF9AAA22F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rgbClr val="FF0000"/>
                </a:solidFill>
              </a:rPr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Practices</a:t>
            </a:r>
          </a:p>
        </p:txBody>
      </p:sp>
    </p:spTree>
    <p:extLst>
      <p:ext uri="{BB962C8B-B14F-4D97-AF65-F5344CB8AC3E}">
        <p14:creationId xmlns:p14="http://schemas.microsoft.com/office/powerpoint/2010/main" val="5091521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B8E9871D-CD28-29D2-C3B9-17959FEDFB46}"/>
              </a:ext>
            </a:extLst>
          </p:cNvPr>
          <p:cNvSpPr/>
          <p:nvPr/>
        </p:nvSpPr>
        <p:spPr>
          <a:xfrm>
            <a:off x="6403176" y="1978558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A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3" name="矩形: 圓角 62">
            <a:extLst>
              <a:ext uri="{FF2B5EF4-FFF2-40B4-BE49-F238E27FC236}">
                <a16:creationId xmlns:a16="http://schemas.microsoft.com/office/drawing/2014/main" id="{E4FB350E-E1A8-F9B4-5833-A320C32EEA10}"/>
              </a:ext>
            </a:extLst>
          </p:cNvPr>
          <p:cNvSpPr/>
          <p:nvPr/>
        </p:nvSpPr>
        <p:spPr>
          <a:xfrm>
            <a:off x="6403176" y="2630471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B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67" name="矩形: 圓角 66">
            <a:extLst>
              <a:ext uri="{FF2B5EF4-FFF2-40B4-BE49-F238E27FC236}">
                <a16:creationId xmlns:a16="http://schemas.microsoft.com/office/drawing/2014/main" id="{EFC7C74A-E190-637E-58B5-5EAE6F819354}"/>
              </a:ext>
            </a:extLst>
          </p:cNvPr>
          <p:cNvSpPr/>
          <p:nvPr/>
        </p:nvSpPr>
        <p:spPr>
          <a:xfrm>
            <a:off x="6403176" y="3276045"/>
            <a:ext cx="1013457" cy="481201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  <a:alpha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C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E6B6C4F2-3F1E-6AE2-7DFF-8F6FA04D2EDF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134" name="矩形: 圓角 133">
            <a:extLst>
              <a:ext uri="{FF2B5EF4-FFF2-40B4-BE49-F238E27FC236}">
                <a16:creationId xmlns:a16="http://schemas.microsoft.com/office/drawing/2014/main" id="{202C397C-75BA-F777-FD3B-5046214DE27F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AAD28DF-6498-6387-F96E-656B98F80A89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42" name="直線單箭頭接點 41">
            <a:extLst>
              <a:ext uri="{FF2B5EF4-FFF2-40B4-BE49-F238E27FC236}">
                <a16:creationId xmlns:a16="http://schemas.microsoft.com/office/drawing/2014/main" id="{5C031ACB-F901-E82F-EC14-CA1BE0422B34}"/>
              </a:ext>
            </a:extLst>
          </p:cNvPr>
          <p:cNvCxnSpPr>
            <a:cxnSpLocks/>
            <a:stCxn id="9" idx="0"/>
            <a:endCxn id="16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4" name="圖形 23" descr="資料庫 外框">
            <a:extLst>
              <a:ext uri="{FF2B5EF4-FFF2-40B4-BE49-F238E27FC236}">
                <a16:creationId xmlns:a16="http://schemas.microsoft.com/office/drawing/2014/main" id="{D596727D-E562-6026-F9B1-9D1D9C4256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07341" y="3329203"/>
            <a:ext cx="339828" cy="379784"/>
          </a:xfrm>
          <a:prstGeom prst="rect">
            <a:avLst/>
          </a:prstGeom>
        </p:spPr>
      </p:pic>
      <p:pic>
        <p:nvPicPr>
          <p:cNvPr id="38" name="圖形 37" descr="雲層雷雨交加 外框">
            <a:extLst>
              <a:ext uri="{FF2B5EF4-FFF2-40B4-BE49-F238E27FC236}">
                <a16:creationId xmlns:a16="http://schemas.microsoft.com/office/drawing/2014/main" id="{346A6EC7-751C-4D36-7261-2A593AC177A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8668" y="2032433"/>
            <a:ext cx="361764" cy="379783"/>
          </a:xfrm>
          <a:prstGeom prst="rect">
            <a:avLst/>
          </a:prstGeom>
          <a:effectLst>
            <a:glow rad="127000">
              <a:schemeClr val="accent5">
                <a:lumMod val="40000"/>
                <a:lumOff val="60000"/>
              </a:schemeClr>
            </a:glow>
          </a:effectLst>
        </p:spPr>
      </p:pic>
      <p:pic>
        <p:nvPicPr>
          <p:cNvPr id="52" name="圖形 51" descr="卷軸 以實心填滿">
            <a:extLst>
              <a:ext uri="{FF2B5EF4-FFF2-40B4-BE49-F238E27FC236}">
                <a16:creationId xmlns:a16="http://schemas.microsoft.com/office/drawing/2014/main" id="{F6CA5A40-9982-0F14-63E4-B4D6B3029F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080650" y="2682175"/>
            <a:ext cx="379782" cy="354089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48EC587F-29DE-2F04-46FF-CEDC728BDC5D}"/>
              </a:ext>
            </a:extLst>
          </p:cNvPr>
          <p:cNvSpPr txBox="1"/>
          <p:nvPr/>
        </p:nvSpPr>
        <p:spPr>
          <a:xfrm>
            <a:off x="7983304" y="3654286"/>
            <a:ext cx="549136" cy="396829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Remote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</a:rPr>
              <a:t>service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F325E1DC-6674-E4D2-2281-E8E06C60DAD2}"/>
              </a:ext>
            </a:extLst>
          </p:cNvPr>
          <p:cNvCxnSpPr>
            <a:cxnSpLocks/>
            <a:stCxn id="38" idx="1"/>
            <a:endCxn id="34" idx="3"/>
          </p:cNvCxnSpPr>
          <p:nvPr/>
        </p:nvCxnSpPr>
        <p:spPr>
          <a:xfrm flipH="1" flipV="1">
            <a:off x="7416633" y="2219159"/>
            <a:ext cx="682035" cy="3166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文字方塊 60">
            <a:extLst>
              <a:ext uri="{FF2B5EF4-FFF2-40B4-BE49-F238E27FC236}">
                <a16:creationId xmlns:a16="http://schemas.microsoft.com/office/drawing/2014/main" id="{5CBD3571-7A57-2216-0FE5-E2ABCD70BF10}"/>
              </a:ext>
            </a:extLst>
          </p:cNvPr>
          <p:cNvSpPr txBox="1"/>
          <p:nvPr/>
        </p:nvSpPr>
        <p:spPr>
          <a:xfrm>
            <a:off x="7524324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Open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Data</a:t>
            </a:r>
          </a:p>
        </p:txBody>
      </p:sp>
      <p:cxnSp>
        <p:nvCxnSpPr>
          <p:cNvPr id="62" name="直線單箭頭接點 61">
            <a:extLst>
              <a:ext uri="{FF2B5EF4-FFF2-40B4-BE49-F238E27FC236}">
                <a16:creationId xmlns:a16="http://schemas.microsoft.com/office/drawing/2014/main" id="{ECB804E9-3D17-8FB5-E2A2-F10ADE974A47}"/>
              </a:ext>
            </a:extLst>
          </p:cNvPr>
          <p:cNvCxnSpPr>
            <a:cxnSpLocks/>
            <a:stCxn id="52" idx="1"/>
            <a:endCxn id="63" idx="3"/>
          </p:cNvCxnSpPr>
          <p:nvPr/>
        </p:nvCxnSpPr>
        <p:spPr>
          <a:xfrm flipH="1">
            <a:off x="7416633" y="2859220"/>
            <a:ext cx="664017" cy="1185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文字方塊 64">
            <a:extLst>
              <a:ext uri="{FF2B5EF4-FFF2-40B4-BE49-F238E27FC236}">
                <a16:creationId xmlns:a16="http://schemas.microsoft.com/office/drawing/2014/main" id="{1565FD56-B192-9E72-AC7B-EF7FFEEA267B}"/>
              </a:ext>
            </a:extLst>
          </p:cNvPr>
          <p:cNvSpPr txBox="1"/>
          <p:nvPr/>
        </p:nvSpPr>
        <p:spPr>
          <a:xfrm>
            <a:off x="7547182" y="2689285"/>
            <a:ext cx="481202" cy="34479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GitHub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Projects</a:t>
            </a: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F7C38374-13EF-8444-DFEB-5FD1DE9489CF}"/>
              </a:ext>
            </a:extLst>
          </p:cNvPr>
          <p:cNvCxnSpPr>
            <a:cxnSpLocks/>
            <a:stCxn id="24" idx="1"/>
            <a:endCxn id="67" idx="3"/>
          </p:cNvCxnSpPr>
          <p:nvPr/>
        </p:nvCxnSpPr>
        <p:spPr>
          <a:xfrm flipH="1" flipV="1">
            <a:off x="7416633" y="3516646"/>
            <a:ext cx="690708" cy="2449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732D365C-E0C0-4480-5F30-50A8AB418212}"/>
              </a:ext>
            </a:extLst>
          </p:cNvPr>
          <p:cNvSpPr txBox="1"/>
          <p:nvPr/>
        </p:nvSpPr>
        <p:spPr>
          <a:xfrm>
            <a:off x="7547182" y="3284984"/>
            <a:ext cx="481202" cy="26024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Database</a:t>
            </a:r>
          </a:p>
        </p:txBody>
      </p:sp>
      <p:sp>
        <p:nvSpPr>
          <p:cNvPr id="89" name="矩形: 圓角 88">
            <a:extLst>
              <a:ext uri="{FF2B5EF4-FFF2-40B4-BE49-F238E27FC236}">
                <a16:creationId xmlns:a16="http://schemas.microsoft.com/office/drawing/2014/main" id="{C35C377F-104F-EB33-BFCB-9776ED9FED54}"/>
              </a:ext>
            </a:extLst>
          </p:cNvPr>
          <p:cNvSpPr/>
          <p:nvPr/>
        </p:nvSpPr>
        <p:spPr>
          <a:xfrm>
            <a:off x="4896241" y="2625546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92" name="矩形: 圓角 91">
            <a:extLst>
              <a:ext uri="{FF2B5EF4-FFF2-40B4-BE49-F238E27FC236}">
                <a16:creationId xmlns:a16="http://schemas.microsoft.com/office/drawing/2014/main" id="{0F1F2219-D782-334F-44BA-F7E58D8E34C3}"/>
              </a:ext>
            </a:extLst>
          </p:cNvPr>
          <p:cNvSpPr/>
          <p:nvPr/>
        </p:nvSpPr>
        <p:spPr>
          <a:xfrm>
            <a:off x="4896241" y="3271120"/>
            <a:ext cx="504689" cy="488364"/>
          </a:xfrm>
          <a:prstGeom prst="roundRect">
            <a:avLst>
              <a:gd name="adj" fmla="val 8706"/>
            </a:avLst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2" name="直線單箭頭接點 101">
            <a:extLst>
              <a:ext uri="{FF2B5EF4-FFF2-40B4-BE49-F238E27FC236}">
                <a16:creationId xmlns:a16="http://schemas.microsoft.com/office/drawing/2014/main" id="{B5FECA90-B6A6-D5DE-34B7-0D2458B6B40E}"/>
              </a:ext>
            </a:extLst>
          </p:cNvPr>
          <p:cNvCxnSpPr>
            <a:cxnSpLocks/>
            <a:stCxn id="34" idx="1"/>
            <a:endCxn id="36" idx="3"/>
          </p:cNvCxnSpPr>
          <p:nvPr/>
        </p:nvCxnSpPr>
        <p:spPr>
          <a:xfrm flipH="1">
            <a:off x="5400930" y="2219159"/>
            <a:ext cx="1002246" cy="3582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線單箭頭接點 106">
            <a:extLst>
              <a:ext uri="{FF2B5EF4-FFF2-40B4-BE49-F238E27FC236}">
                <a16:creationId xmlns:a16="http://schemas.microsoft.com/office/drawing/2014/main" id="{4B3B2844-3ED2-2107-9FA2-DDE0A38496FF}"/>
              </a:ext>
            </a:extLst>
          </p:cNvPr>
          <p:cNvCxnSpPr>
            <a:cxnSpLocks/>
            <a:stCxn id="63" idx="1"/>
            <a:endCxn id="89" idx="3"/>
          </p:cNvCxnSpPr>
          <p:nvPr/>
        </p:nvCxnSpPr>
        <p:spPr>
          <a:xfrm flipH="1" flipV="1">
            <a:off x="5400930" y="2869728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直線單箭頭接點 107">
            <a:extLst>
              <a:ext uri="{FF2B5EF4-FFF2-40B4-BE49-F238E27FC236}">
                <a16:creationId xmlns:a16="http://schemas.microsoft.com/office/drawing/2014/main" id="{DF5897A3-59AB-2800-B47B-61BAA4BE06CA}"/>
              </a:ext>
            </a:extLst>
          </p:cNvPr>
          <p:cNvCxnSpPr>
            <a:cxnSpLocks/>
            <a:stCxn id="67" idx="1"/>
            <a:endCxn id="92" idx="3"/>
          </p:cNvCxnSpPr>
          <p:nvPr/>
        </p:nvCxnSpPr>
        <p:spPr>
          <a:xfrm flipH="1" flipV="1">
            <a:off x="5400930" y="3515302"/>
            <a:ext cx="1002246" cy="1344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文字方塊 127">
            <a:extLst>
              <a:ext uri="{FF2B5EF4-FFF2-40B4-BE49-F238E27FC236}">
                <a16:creationId xmlns:a16="http://schemas.microsoft.com/office/drawing/2014/main" id="{ACA7D7BF-DBE4-058F-367A-8356FF5D7ACD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0" name="文字方塊 129">
            <a:extLst>
              <a:ext uri="{FF2B5EF4-FFF2-40B4-BE49-F238E27FC236}">
                <a16:creationId xmlns:a16="http://schemas.microsoft.com/office/drawing/2014/main" id="{DCAF35C5-5518-CDF2-1AC5-4528F8B47E2A}"/>
              </a:ext>
            </a:extLst>
          </p:cNvPr>
          <p:cNvSpPr txBox="1"/>
          <p:nvPr/>
        </p:nvSpPr>
        <p:spPr>
          <a:xfrm>
            <a:off x="5651487" y="2708711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132" name="文字方塊 131">
            <a:extLst>
              <a:ext uri="{FF2B5EF4-FFF2-40B4-BE49-F238E27FC236}">
                <a16:creationId xmlns:a16="http://schemas.microsoft.com/office/drawing/2014/main" id="{B27DB76A-51FC-8DE5-1DF8-7871A37C702C}"/>
              </a:ext>
            </a:extLst>
          </p:cNvPr>
          <p:cNvSpPr txBox="1"/>
          <p:nvPr/>
        </p:nvSpPr>
        <p:spPr>
          <a:xfrm>
            <a:off x="5651487" y="3367958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sp>
        <p:nvSpPr>
          <p:cNvPr id="27" name="標題 1">
            <a:extLst>
              <a:ext uri="{FF2B5EF4-FFF2-40B4-BE49-F238E27FC236}">
                <a16:creationId xmlns:a16="http://schemas.microsoft.com/office/drawing/2014/main" id="{714FED49-EBEA-804C-277F-87FC8CCB523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Model Context Protocol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MCP enables AI Agents to connect with external tools and data sources.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pic>
        <p:nvPicPr>
          <p:cNvPr id="122" name="圖形 121" descr="科學思想 以實心填滿">
            <a:extLst>
              <a:ext uri="{FF2B5EF4-FFF2-40B4-BE49-F238E27FC236}">
                <a16:creationId xmlns:a16="http://schemas.microsoft.com/office/drawing/2014/main" id="{53EAAAE7-6160-7CCC-5A4B-4BE4A3A490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1A54FABB-C12D-2671-5993-08851B7C76B4}"/>
              </a:ext>
            </a:extLst>
          </p:cNvPr>
          <p:cNvCxnSpPr>
            <a:cxnSpLocks/>
            <a:stCxn id="36" idx="1"/>
            <a:endCxn id="51" idx="0"/>
          </p:cNvCxnSpPr>
          <p:nvPr/>
        </p:nvCxnSpPr>
        <p:spPr>
          <a:xfrm rot="10800000">
            <a:off x="2253519" y="2108845"/>
            <a:ext cx="2642722" cy="113896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3" name="圖形 32" descr="伺服器 外框">
            <a:extLst>
              <a:ext uri="{FF2B5EF4-FFF2-40B4-BE49-F238E27FC236}">
                <a16:creationId xmlns:a16="http://schemas.microsoft.com/office/drawing/2014/main" id="{B7443F36-B2FC-CB85-E4F0-451C5483557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pic>
        <p:nvPicPr>
          <p:cNvPr id="64" name="圖形 63" descr="伺服器 外框">
            <a:extLst>
              <a:ext uri="{FF2B5EF4-FFF2-40B4-BE49-F238E27FC236}">
                <a16:creationId xmlns:a16="http://schemas.microsoft.com/office/drawing/2014/main" id="{806998D7-3658-0790-4F9D-0B45384B40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673936"/>
            <a:ext cx="379782" cy="379782"/>
          </a:xfrm>
          <a:prstGeom prst="rect">
            <a:avLst/>
          </a:prstGeom>
        </p:spPr>
      </p:pic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1D96CDB2-5F83-291C-71A2-055C73A7E0C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19510"/>
            <a:ext cx="379782" cy="379782"/>
          </a:xfrm>
          <a:prstGeom prst="rect">
            <a:avLst/>
          </a:prstGeom>
        </p:spPr>
      </p:pic>
      <p:cxnSp>
        <p:nvCxnSpPr>
          <p:cNvPr id="129" name="直線單箭頭接點 128">
            <a:extLst>
              <a:ext uri="{FF2B5EF4-FFF2-40B4-BE49-F238E27FC236}">
                <a16:creationId xmlns:a16="http://schemas.microsoft.com/office/drawing/2014/main" id="{827A2D18-C4EC-8149-F151-65A9F46CB2F8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字方塊 140">
            <a:extLst>
              <a:ext uri="{FF2B5EF4-FFF2-40B4-BE49-F238E27FC236}">
                <a16:creationId xmlns:a16="http://schemas.microsoft.com/office/drawing/2014/main" id="{0F66A28B-877E-790B-E5AB-98F5C06EAAA8}"/>
              </a:ext>
            </a:extLst>
          </p:cNvPr>
          <p:cNvSpPr txBox="1"/>
          <p:nvPr/>
        </p:nvSpPr>
        <p:spPr>
          <a:xfrm>
            <a:off x="2222968" y="3003255"/>
            <a:ext cx="1224935" cy="42574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“The share price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is $300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.</a:t>
            </a: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</a:t>
            </a:r>
            <a:endParaRPr lang="en-US" altLang="zh-TW" sz="1200" u="none" strike="noStrike" dirty="0">
              <a:solidFill>
                <a:schemeClr val="tx2">
                  <a:lumMod val="75000"/>
                </a:schemeClr>
              </a:solidFill>
              <a:effectLst/>
              <a:latin typeface="Comic Sans MS" panose="030F0702030302020204" pitchFamily="66" charset="0"/>
              <a:ea typeface="微軟正黑體" panose="020B0604030504040204" pitchFamily="34" charset="-120"/>
            </a:endParaRPr>
          </a:p>
        </p:txBody>
      </p: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BEE30526-718C-1AFB-A5C7-9709765E6B51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51" name="雲朵形 50">
              <a:extLst>
                <a:ext uri="{FF2B5EF4-FFF2-40B4-BE49-F238E27FC236}">
                  <a16:creationId xmlns:a16="http://schemas.microsoft.com/office/drawing/2014/main" id="{068ED43E-E3BC-FB12-2DE6-452E2E4EDCB0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159" name="文字方塊 158">
              <a:extLst>
                <a:ext uri="{FF2B5EF4-FFF2-40B4-BE49-F238E27FC236}">
                  <a16:creationId xmlns:a16="http://schemas.microsoft.com/office/drawing/2014/main" id="{A73A3A98-EF76-CBC8-28B7-D5216CD68F70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166" name="矩形: 圓角 165">
              <a:extLst>
                <a:ext uri="{FF2B5EF4-FFF2-40B4-BE49-F238E27FC236}">
                  <a16:creationId xmlns:a16="http://schemas.microsoft.com/office/drawing/2014/main" id="{4C2F2724-9C95-61E4-4E18-182C73598EEB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7" name="圖片 6">
              <a:extLst>
                <a:ext uri="{FF2B5EF4-FFF2-40B4-BE49-F238E27FC236}">
                  <a16:creationId xmlns:a16="http://schemas.microsoft.com/office/drawing/2014/main" id="{D82BC7A5-7FA1-4BBA-BF68-A20F3FC56D5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151" name="圖形 150" descr="原子 以實心填滿">
              <a:extLst>
                <a:ext uri="{FF2B5EF4-FFF2-40B4-BE49-F238E27FC236}">
                  <a16:creationId xmlns:a16="http://schemas.microsoft.com/office/drawing/2014/main" id="{B4A2124C-0737-AE16-69D0-A17BAB91282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5501C6B9-6DCD-10E9-0C12-453A6A83823F}"/>
              </a:ext>
            </a:extLst>
          </p:cNvPr>
          <p:cNvSpPr txBox="1"/>
          <p:nvPr/>
        </p:nvSpPr>
        <p:spPr>
          <a:xfrm>
            <a:off x="213023" y="5048016"/>
            <a:ext cx="7023273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Steps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Initialization &amp; Discovery</a:t>
            </a:r>
            <a:r>
              <a:rPr lang="en-US" altLang="zh-TW" sz="1600" b="0" u="none" strike="noStrike" dirty="0">
                <a:effectLst/>
              </a:rPr>
              <a:t>: MCP server provides tool schemas to the host.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Reasoning &amp; Tool Call</a:t>
            </a:r>
            <a:r>
              <a:rPr lang="en-US" altLang="zh-TW" sz="1600" b="0" u="none" strike="noStrike" dirty="0">
                <a:effectLst/>
              </a:rPr>
              <a:t>: LLM sends request to MCP server.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Execution &amp; Injection</a:t>
            </a:r>
            <a:r>
              <a:rPr lang="en-US" altLang="zh-TW" sz="1600" dirty="0"/>
              <a:t>: Server returns data to host for LLM context injection.</a:t>
            </a:r>
          </a:p>
        </p:txBody>
      </p:sp>
      <p:sp>
        <p:nvSpPr>
          <p:cNvPr id="29" name="文字方塊 28">
            <a:extLst>
              <a:ext uri="{FF2B5EF4-FFF2-40B4-BE49-F238E27FC236}">
                <a16:creationId xmlns:a16="http://schemas.microsoft.com/office/drawing/2014/main" id="{44BE3D63-325C-6AE3-8931-2C86EFB41E5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A]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highlight>
                  <a:srgbClr val="DCE6F2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[350]</a:t>
            </a: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5">
                    <a:lumMod val="75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5">
                  <a:lumMod val="75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7D840E78-A210-D6AF-34FA-E25B15F7C188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BCBF1B2A-C695-3EF2-5516-914B7DA9FBC2}"/>
              </a:ext>
            </a:extLst>
          </p:cNvPr>
          <p:cNvSpPr/>
          <p:nvPr/>
        </p:nvSpPr>
        <p:spPr>
          <a:xfrm>
            <a:off x="4896241" y="19785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5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98" name="接點: 肘形 97">
            <a:extLst>
              <a:ext uri="{FF2B5EF4-FFF2-40B4-BE49-F238E27FC236}">
                <a16:creationId xmlns:a16="http://schemas.microsoft.com/office/drawing/2014/main" id="{FC1A4AD5-EB90-7718-C060-348E600A7CF2}"/>
              </a:ext>
            </a:extLst>
          </p:cNvPr>
          <p:cNvCxnSpPr>
            <a:cxnSpLocks/>
            <a:stCxn id="122" idx="1"/>
            <a:endCxn id="166" idx="2"/>
          </p:cNvCxnSpPr>
          <p:nvPr/>
        </p:nvCxnSpPr>
        <p:spPr>
          <a:xfrm rot="10800000">
            <a:off x="1460467" y="2506646"/>
            <a:ext cx="2644361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語音泡泡: 圓角矩形 11">
            <a:extLst>
              <a:ext uri="{FF2B5EF4-FFF2-40B4-BE49-F238E27FC236}">
                <a16:creationId xmlns:a16="http://schemas.microsoft.com/office/drawing/2014/main" id="{04A1D9BB-D006-4486-9C4F-2B7ACF469AE1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What is TSMC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Trading at?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92789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918276-D0C6-01E6-A681-1240666C02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B6A8BEEF-A7AC-4877-7FC2-EFF0EC3A6A55}"/>
              </a:ext>
            </a:extLst>
          </p:cNvPr>
          <p:cNvSpPr txBox="1"/>
          <p:nvPr/>
        </p:nvSpPr>
        <p:spPr>
          <a:xfrm>
            <a:off x="3779912" y="1700809"/>
            <a:ext cx="1224934" cy="1800199"/>
          </a:xfrm>
          <a:prstGeom prst="rect">
            <a:avLst/>
          </a:prstGeom>
          <a:solidFill>
            <a:schemeClr val="bg1">
              <a:lumMod val="95000"/>
            </a:schemeClr>
          </a:solidFill>
          <a:ln w="25400"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lIns="0" tIns="0" rIns="0" bIns="36000" anchor="b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AI Agent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(PC/NB)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BAC03CC8-25FD-DD77-EFCD-8368C75E36C3}"/>
              </a:ext>
            </a:extLst>
          </p:cNvPr>
          <p:cNvSpPr txBox="1"/>
          <p:nvPr/>
        </p:nvSpPr>
        <p:spPr>
          <a:xfrm>
            <a:off x="213023" y="5048016"/>
            <a:ext cx="8751465" cy="10926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AI Agent Skills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Autonomous Task Execution:</a:t>
            </a:r>
            <a:r>
              <a:rPr lang="en-US" altLang="zh-TW" sz="1600" dirty="0"/>
              <a:t> Empowers AI to move beyond text and directly trigger actions.</a:t>
            </a:r>
            <a:endParaRPr lang="en-US" altLang="zh-TW" sz="1600" b="0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Secure Guardrail Enforcement</a:t>
            </a:r>
            <a:r>
              <a:rPr lang="en-US" altLang="zh-TW" sz="1600" b="0" u="none" strike="noStrike" dirty="0">
                <a:effectLst/>
              </a:rPr>
              <a:t>:</a:t>
            </a:r>
            <a:r>
              <a:rPr lang="zh-TW" altLang="en-US" sz="1600" b="0" u="none" strike="noStrike" dirty="0">
                <a:effectLst/>
              </a:rPr>
              <a:t> </a:t>
            </a:r>
            <a:r>
              <a:rPr lang="en-US" altLang="zh-TW" sz="1600" dirty="0"/>
              <a:t>Restricts AI behavior within save boundaries</a:t>
            </a:r>
            <a:r>
              <a:rPr lang="en-US" altLang="zh-TW" sz="1600" b="0" u="none" strike="noStrike" dirty="0">
                <a:effectLst/>
              </a:rPr>
              <a:t>.</a:t>
            </a:r>
          </a:p>
        </p:txBody>
      </p:sp>
      <p:cxnSp>
        <p:nvCxnSpPr>
          <p:cNvPr id="14" name="接點: 肘形 13">
            <a:extLst>
              <a:ext uri="{FF2B5EF4-FFF2-40B4-BE49-F238E27FC236}">
                <a16:creationId xmlns:a16="http://schemas.microsoft.com/office/drawing/2014/main" id="{FCBB867C-B370-A696-60AA-155EDB4A15BB}"/>
              </a:ext>
            </a:extLst>
          </p:cNvPr>
          <p:cNvCxnSpPr>
            <a:cxnSpLocks/>
            <a:stCxn id="44" idx="1"/>
            <a:endCxn id="20" idx="0"/>
          </p:cNvCxnSpPr>
          <p:nvPr/>
        </p:nvCxnSpPr>
        <p:spPr>
          <a:xfrm rot="10800000">
            <a:off x="2253519" y="2108845"/>
            <a:ext cx="2642722" cy="110314"/>
          </a:xfrm>
          <a:prstGeom prst="bentConnector3">
            <a:avLst>
              <a:gd name="adj1" fmla="val 50000"/>
            </a:avLst>
          </a:prstGeom>
          <a:ln w="15875">
            <a:solidFill>
              <a:schemeClr val="accent4">
                <a:lumMod val="75000"/>
              </a:schemeClr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接點: 肘形 15">
            <a:extLst>
              <a:ext uri="{FF2B5EF4-FFF2-40B4-BE49-F238E27FC236}">
                <a16:creationId xmlns:a16="http://schemas.microsoft.com/office/drawing/2014/main" id="{55238258-F5F8-B671-A8F4-1A0EFAA5AD94}"/>
              </a:ext>
            </a:extLst>
          </p:cNvPr>
          <p:cNvCxnSpPr>
            <a:cxnSpLocks/>
            <a:endCxn id="22" idx="2"/>
          </p:cNvCxnSpPr>
          <p:nvPr/>
        </p:nvCxnSpPr>
        <p:spPr>
          <a:xfrm rot="10800000">
            <a:off x="1460467" y="2506646"/>
            <a:ext cx="2607519" cy="322628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線單箭頭接點 16">
            <a:extLst>
              <a:ext uri="{FF2B5EF4-FFF2-40B4-BE49-F238E27FC236}">
                <a16:creationId xmlns:a16="http://schemas.microsoft.com/office/drawing/2014/main" id="{8E0D88E3-76C4-35F7-8D64-BB0751387405}"/>
              </a:ext>
            </a:extLst>
          </p:cNvPr>
          <p:cNvCxnSpPr>
            <a:cxnSpLocks/>
          </p:cNvCxnSpPr>
          <p:nvPr/>
        </p:nvCxnSpPr>
        <p:spPr>
          <a:xfrm>
            <a:off x="2339711" y="2929508"/>
            <a:ext cx="973953" cy="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9" name="群組 18">
            <a:extLst>
              <a:ext uri="{FF2B5EF4-FFF2-40B4-BE49-F238E27FC236}">
                <a16:creationId xmlns:a16="http://schemas.microsoft.com/office/drawing/2014/main" id="{A240268A-08D1-72C5-DEDE-862B010C1800}"/>
              </a:ext>
            </a:extLst>
          </p:cNvPr>
          <p:cNvGrpSpPr/>
          <p:nvPr/>
        </p:nvGrpSpPr>
        <p:grpSpPr>
          <a:xfrm>
            <a:off x="611561" y="1611402"/>
            <a:ext cx="1643158" cy="994885"/>
            <a:chOff x="611560" y="1474120"/>
            <a:chExt cx="1764115" cy="1132167"/>
          </a:xfrm>
        </p:grpSpPr>
        <p:sp>
          <p:nvSpPr>
            <p:cNvPr id="20" name="雲朵形 19">
              <a:extLst>
                <a:ext uri="{FF2B5EF4-FFF2-40B4-BE49-F238E27FC236}">
                  <a16:creationId xmlns:a16="http://schemas.microsoft.com/office/drawing/2014/main" id="{B443BC11-6CD8-93A3-9CAD-ED23FA535DD1}"/>
                </a:ext>
              </a:extLst>
            </p:cNvPr>
            <p:cNvSpPr/>
            <p:nvPr/>
          </p:nvSpPr>
          <p:spPr>
            <a:xfrm>
              <a:off x="829914" y="1474120"/>
              <a:ext cx="1545761" cy="1132167"/>
            </a:xfrm>
            <a:prstGeom prst="cloud">
              <a:avLst/>
            </a:prstGeom>
            <a:solidFill>
              <a:schemeClr val="accent1">
                <a:lumMod val="20000"/>
                <a:lumOff val="80000"/>
                <a:alpha val="70000"/>
              </a:schemeClr>
            </a:solidFill>
            <a:ln w="508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dirty="0">
                <a:solidFill>
                  <a:schemeClr val="tx2"/>
                </a:solidFill>
              </a:endParaRPr>
            </a:p>
          </p:txBody>
        </p:sp>
        <p:sp>
          <p:nvSpPr>
            <p:cNvPr id="21" name="文字方塊 20">
              <a:extLst>
                <a:ext uri="{FF2B5EF4-FFF2-40B4-BE49-F238E27FC236}">
                  <a16:creationId xmlns:a16="http://schemas.microsoft.com/office/drawing/2014/main" id="{CDC53BB1-745C-28C9-2C0E-D684A1D58F55}"/>
                </a:ext>
              </a:extLst>
            </p:cNvPr>
            <p:cNvSpPr txBox="1"/>
            <p:nvPr/>
          </p:nvSpPr>
          <p:spPr>
            <a:xfrm>
              <a:off x="1085518" y="1657807"/>
              <a:ext cx="863628" cy="486484"/>
            </a:xfrm>
            <a:prstGeom prst="rect">
              <a:avLst/>
            </a:prstGeom>
            <a:noFill/>
            <a:ln w="25400">
              <a:noFill/>
            </a:ln>
          </p:spPr>
          <p:txBody>
            <a:bodyPr wrap="none" lIns="504000" tIns="0" rIns="0" bIns="36000" anchor="b" anchorCtr="1">
              <a:noAutofit/>
            </a:bodyPr>
            <a:lstStyle/>
            <a:p>
              <a:pPr>
                <a:lnSpc>
                  <a:spcPts val="1400"/>
                </a:lnSpc>
                <a:buNone/>
              </a:pPr>
              <a:r>
                <a:rPr lang="en-US" altLang="zh-TW" sz="1400" b="1" dirty="0"/>
                <a:t>DLL</a:t>
              </a:r>
              <a:r>
                <a:rPr lang="en-US" altLang="zh-TW" sz="1200" b="1" dirty="0"/>
                <a:t> </a:t>
              </a:r>
            </a:p>
            <a:p>
              <a:pPr>
                <a:lnSpc>
                  <a:spcPts val="1400"/>
                </a:lnSpc>
                <a:buNone/>
              </a:pPr>
              <a:r>
                <a:rPr lang="en-US" altLang="zh-TW" sz="1200" b="1" dirty="0"/>
                <a:t>Model</a:t>
              </a:r>
              <a:endParaRPr lang="en-US" altLang="zh-TW" sz="1400" b="1" dirty="0"/>
            </a:p>
          </p:txBody>
        </p:sp>
        <p:sp>
          <p:nvSpPr>
            <p:cNvPr id="22" name="矩形: 圓角 21">
              <a:extLst>
                <a:ext uri="{FF2B5EF4-FFF2-40B4-BE49-F238E27FC236}">
                  <a16:creationId xmlns:a16="http://schemas.microsoft.com/office/drawing/2014/main" id="{EDF613AB-BC81-FE68-9EB4-CB6A8217F91D}"/>
                </a:ext>
              </a:extLst>
            </p:cNvPr>
            <p:cNvSpPr/>
            <p:nvPr/>
          </p:nvSpPr>
          <p:spPr>
            <a:xfrm>
              <a:off x="973930" y="2176134"/>
              <a:ext cx="1098050" cy="316762"/>
            </a:xfrm>
            <a:prstGeom prst="roundRect">
              <a:avLst>
                <a:gd name="adj" fmla="val 8706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lang="en-US" altLang="zh-TW" sz="1200" b="1" dirty="0">
                  <a:solidFill>
                    <a:schemeClr val="bg1"/>
                  </a:solidFill>
                </a:rPr>
                <a:t>Model Engine</a:t>
              </a:r>
              <a:endParaRPr lang="zh-TW" altLang="en-US" sz="1200" b="1" dirty="0">
                <a:solidFill>
                  <a:schemeClr val="bg1"/>
                </a:solidFill>
              </a:endParaRPr>
            </a:p>
          </p:txBody>
        </p:sp>
        <p:pic>
          <p:nvPicPr>
            <p:cNvPr id="23" name="圖片 22">
              <a:extLst>
                <a:ext uri="{FF2B5EF4-FFF2-40B4-BE49-F238E27FC236}">
                  <a16:creationId xmlns:a16="http://schemas.microsoft.com/office/drawing/2014/main" id="{1E5A1D11-8016-FA22-5DDF-98EDEFD495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1560" y="1916832"/>
              <a:ext cx="434378" cy="426757"/>
            </a:xfrm>
            <a:prstGeom prst="rect">
              <a:avLst/>
            </a:prstGeom>
            <a:effectLst>
              <a:glow rad="63500">
                <a:schemeClr val="accent5">
                  <a:lumMod val="20000"/>
                  <a:lumOff val="80000"/>
                  <a:alpha val="40000"/>
                </a:schemeClr>
              </a:glow>
              <a:softEdge rad="50800"/>
            </a:effectLst>
          </p:spPr>
        </p:pic>
        <p:pic>
          <p:nvPicPr>
            <p:cNvPr id="24" name="圖形 23" descr="原子 以實心填滿">
              <a:extLst>
                <a:ext uri="{FF2B5EF4-FFF2-40B4-BE49-F238E27FC236}">
                  <a16:creationId xmlns:a16="http://schemas.microsoft.com/office/drawing/2014/main" id="{45DF5554-C31D-8B87-5ED6-038581B2760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1041736" y="1651945"/>
              <a:ext cx="497527" cy="497527"/>
            </a:xfrm>
            <a:prstGeom prst="rect">
              <a:avLst/>
            </a:prstGeom>
          </p:spPr>
        </p:pic>
      </p:grpSp>
      <p:sp>
        <p:nvSpPr>
          <p:cNvPr id="28" name="標題 1">
            <a:extLst>
              <a:ext uri="{FF2B5EF4-FFF2-40B4-BE49-F238E27FC236}">
                <a16:creationId xmlns:a16="http://schemas.microsoft.com/office/drawing/2014/main" id="{D3E7AE70-36F7-0237-B3F5-AF84E381DE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Retrieval Augmented Generation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Leverages local knowledge to minimize hallucinations and deliver up-to-date, accurate responses</a:t>
            </a: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.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46C34D94-78AE-3E9A-A03A-2EAA9BA28BBD}"/>
              </a:ext>
            </a:extLst>
          </p:cNvPr>
          <p:cNvSpPr txBox="1"/>
          <p:nvPr/>
        </p:nvSpPr>
        <p:spPr>
          <a:xfrm>
            <a:off x="3983838" y="4484209"/>
            <a:ext cx="821797" cy="24093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32" name="直線單箭頭接點 31">
            <a:extLst>
              <a:ext uri="{FF2B5EF4-FFF2-40B4-BE49-F238E27FC236}">
                <a16:creationId xmlns:a16="http://schemas.microsoft.com/office/drawing/2014/main" id="{DCF40326-B2CE-D08E-6915-55182B1D1102}"/>
              </a:ext>
            </a:extLst>
          </p:cNvPr>
          <p:cNvCxnSpPr>
            <a:cxnSpLocks/>
            <a:stCxn id="31" idx="0"/>
            <a:endCxn id="29" idx="2"/>
          </p:cNvCxnSpPr>
          <p:nvPr/>
        </p:nvCxnSpPr>
        <p:spPr>
          <a:xfrm flipH="1" flipV="1">
            <a:off x="4392379" y="3501008"/>
            <a:ext cx="2358" cy="98320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6" name="圖形 35" descr="科學思想 以實心填滿">
            <a:extLst>
              <a:ext uri="{FF2B5EF4-FFF2-40B4-BE49-F238E27FC236}">
                <a16:creationId xmlns:a16="http://schemas.microsoft.com/office/drawing/2014/main" id="{B10E28A7-5412-D77E-9E72-7F850255821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04827" y="2517579"/>
            <a:ext cx="623389" cy="623389"/>
          </a:xfrm>
          <a:prstGeom prst="rect">
            <a:avLst/>
          </a:prstGeom>
          <a:effectLst>
            <a:glow rad="50800">
              <a:schemeClr val="accent4">
                <a:lumMod val="20000"/>
                <a:lumOff val="80000"/>
                <a:alpha val="40000"/>
              </a:schemeClr>
            </a:glow>
            <a:softEdge rad="0"/>
          </a:effectLst>
        </p:spPr>
      </p:pic>
      <p:sp>
        <p:nvSpPr>
          <p:cNvPr id="44" name="矩形: 圓角 43">
            <a:extLst>
              <a:ext uri="{FF2B5EF4-FFF2-40B4-BE49-F238E27FC236}">
                <a16:creationId xmlns:a16="http://schemas.microsoft.com/office/drawing/2014/main" id="{96AE5189-1D58-2977-92E3-469181F4EBF7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pic>
        <p:nvPicPr>
          <p:cNvPr id="61" name="圖形 60" descr="夾紙板 (徽章) 以實心填滿">
            <a:extLst>
              <a:ext uri="{FF2B5EF4-FFF2-40B4-BE49-F238E27FC236}">
                <a16:creationId xmlns:a16="http://schemas.microsoft.com/office/drawing/2014/main" id="{F0D1E6B5-1FFE-B5E9-19AE-C43372F1C05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8082472" y="2023366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64" name="矩形: 圓角 63">
            <a:extLst>
              <a:ext uri="{FF2B5EF4-FFF2-40B4-BE49-F238E27FC236}">
                <a16:creationId xmlns:a16="http://schemas.microsoft.com/office/drawing/2014/main" id="{E02B4FDE-B67A-A175-1B5A-E695E67035FD}"/>
              </a:ext>
            </a:extLst>
          </p:cNvPr>
          <p:cNvSpPr/>
          <p:nvPr/>
        </p:nvSpPr>
        <p:spPr>
          <a:xfrm>
            <a:off x="6403176" y="1979901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Server V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6" name="直線單箭頭接點 65">
            <a:extLst>
              <a:ext uri="{FF2B5EF4-FFF2-40B4-BE49-F238E27FC236}">
                <a16:creationId xmlns:a16="http://schemas.microsoft.com/office/drawing/2014/main" id="{8D48FECB-9789-4CFA-A699-CBD35DC82CE6}"/>
              </a:ext>
            </a:extLst>
          </p:cNvPr>
          <p:cNvCxnSpPr>
            <a:cxnSpLocks/>
            <a:stCxn id="61" idx="1"/>
            <a:endCxn id="64" idx="3"/>
          </p:cNvCxnSpPr>
          <p:nvPr/>
        </p:nvCxnSpPr>
        <p:spPr>
          <a:xfrm flipH="1">
            <a:off x="7416633" y="2220320"/>
            <a:ext cx="665839" cy="182"/>
          </a:xfrm>
          <a:prstGeom prst="straightConnector1">
            <a:avLst/>
          </a:prstGeom>
          <a:ln>
            <a:solidFill>
              <a:schemeClr val="tx1"/>
            </a:solidFill>
            <a:prstDash val="dash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矩形: 圓角 67">
            <a:extLst>
              <a:ext uri="{FF2B5EF4-FFF2-40B4-BE49-F238E27FC236}">
                <a16:creationId xmlns:a16="http://schemas.microsoft.com/office/drawing/2014/main" id="{1274870D-ED0F-57B5-50E7-8CF0BCE4633D}"/>
              </a:ext>
            </a:extLst>
          </p:cNvPr>
          <p:cNvSpPr/>
          <p:nvPr/>
        </p:nvSpPr>
        <p:spPr>
          <a:xfrm>
            <a:off x="4896241" y="1974976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69" name="直線單箭頭接點 68">
            <a:extLst>
              <a:ext uri="{FF2B5EF4-FFF2-40B4-BE49-F238E27FC236}">
                <a16:creationId xmlns:a16="http://schemas.microsoft.com/office/drawing/2014/main" id="{1B131FB0-7734-66F3-A446-5F58EF4CC2FD}"/>
              </a:ext>
            </a:extLst>
          </p:cNvPr>
          <p:cNvCxnSpPr>
            <a:cxnSpLocks/>
            <a:stCxn id="64" idx="1"/>
            <a:endCxn id="68" idx="3"/>
          </p:cNvCxnSpPr>
          <p:nvPr/>
        </p:nvCxnSpPr>
        <p:spPr>
          <a:xfrm flipH="1" flipV="1">
            <a:off x="5400930" y="2219159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文字方塊 69">
            <a:extLst>
              <a:ext uri="{FF2B5EF4-FFF2-40B4-BE49-F238E27FC236}">
                <a16:creationId xmlns:a16="http://schemas.microsoft.com/office/drawing/2014/main" id="{F6046C92-3712-82D8-0ECA-E8E22AC4717F}"/>
              </a:ext>
            </a:extLst>
          </p:cNvPr>
          <p:cNvSpPr txBox="1"/>
          <p:nvPr/>
        </p:nvSpPr>
        <p:spPr>
          <a:xfrm>
            <a:off x="5651487" y="2071814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71" name="圖形 70" descr="伺服器 外框">
            <a:extLst>
              <a:ext uri="{FF2B5EF4-FFF2-40B4-BE49-F238E27FC236}">
                <a16:creationId xmlns:a16="http://schemas.microsoft.com/office/drawing/2014/main" id="{4CF3848B-7662-CE06-F590-C873A38CF0D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2023366"/>
            <a:ext cx="379782" cy="379782"/>
          </a:xfrm>
          <a:prstGeom prst="rect">
            <a:avLst/>
          </a:prstGeom>
        </p:spPr>
      </p:pic>
      <p:sp>
        <p:nvSpPr>
          <p:cNvPr id="77" name="文字方塊 76">
            <a:extLst>
              <a:ext uri="{FF2B5EF4-FFF2-40B4-BE49-F238E27FC236}">
                <a16:creationId xmlns:a16="http://schemas.microsoft.com/office/drawing/2014/main" id="{64601706-CC3D-6433-8954-5A08DEFB2082}"/>
              </a:ext>
            </a:extLst>
          </p:cNvPr>
          <p:cNvSpPr txBox="1"/>
          <p:nvPr/>
        </p:nvSpPr>
        <p:spPr>
          <a:xfrm>
            <a:off x="7569153" y="2065927"/>
            <a:ext cx="432052" cy="28295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Search</a:t>
            </a:r>
            <a:br>
              <a:rPr lang="en-US" altLang="zh-TW" sz="1000" dirty="0">
                <a:ea typeface="Meiryo" panose="020B0604030504040204" pitchFamily="34" charset="-128"/>
              </a:rPr>
            </a:br>
            <a:r>
              <a:rPr lang="en-US" altLang="zh-TW" sz="1000" dirty="0">
                <a:ea typeface="Meiryo" panose="020B0604030504040204" pitchFamily="34" charset="-128"/>
              </a:rPr>
              <a:t>Enterprise</a:t>
            </a:r>
          </a:p>
        </p:txBody>
      </p:sp>
      <p:sp>
        <p:nvSpPr>
          <p:cNvPr id="79" name="文字方塊 78">
            <a:extLst>
              <a:ext uri="{FF2B5EF4-FFF2-40B4-BE49-F238E27FC236}">
                <a16:creationId xmlns:a16="http://schemas.microsoft.com/office/drawing/2014/main" id="{07ABF40E-5394-A71C-4FFA-70753EF57586}"/>
              </a:ext>
            </a:extLst>
          </p:cNvPr>
          <p:cNvSpPr txBox="1"/>
          <p:nvPr/>
        </p:nvSpPr>
        <p:spPr>
          <a:xfrm>
            <a:off x="8055312" y="2435667"/>
            <a:ext cx="909176" cy="57692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Base VDB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Pinecone, </a:t>
            </a:r>
            <a:r>
              <a:rPr lang="en-US" altLang="zh-TW" sz="1000" u="none" strike="noStrike" dirty="0">
                <a:effectLst/>
              </a:rPr>
              <a:t>Milvus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/>
              <a:t>o</a:t>
            </a:r>
            <a:r>
              <a:rPr lang="en-US" altLang="zh-TW" sz="1000" u="none" strike="noStrike" dirty="0">
                <a:effectLst/>
              </a:rPr>
              <a:t>r </a:t>
            </a:r>
            <a:r>
              <a:rPr lang="en-US" altLang="zh-TW" sz="1000" dirty="0"/>
              <a:t>Chroma</a:t>
            </a:r>
            <a:endParaRPr lang="en-US" altLang="zh-TW" sz="1000" u="none" strike="noStrike" dirty="0">
              <a:effectLst/>
            </a:endParaRPr>
          </a:p>
        </p:txBody>
      </p:sp>
      <p:sp>
        <p:nvSpPr>
          <p:cNvPr id="85" name="矩形: 圓角 84">
            <a:extLst>
              <a:ext uri="{FF2B5EF4-FFF2-40B4-BE49-F238E27FC236}">
                <a16:creationId xmlns:a16="http://schemas.microsoft.com/office/drawing/2014/main" id="{DABC191B-BB7F-306F-F52E-1008BDFB1F67}"/>
              </a:ext>
            </a:extLst>
          </p:cNvPr>
          <p:cNvSpPr/>
          <p:nvPr/>
        </p:nvSpPr>
        <p:spPr>
          <a:xfrm>
            <a:off x="4027099" y="1531881"/>
            <a:ext cx="797767" cy="240935"/>
          </a:xfrm>
          <a:prstGeom prst="roundRect">
            <a:avLst>
              <a:gd name="adj" fmla="val 8706"/>
            </a:avLst>
          </a:prstGeom>
          <a:solidFill>
            <a:schemeClr val="accent4">
              <a:lumMod val="75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bg1"/>
                </a:solidFill>
              </a:rPr>
              <a:t>MCP Host</a:t>
            </a:r>
            <a:endParaRPr lang="zh-TW" altLang="en-US" sz="1200" b="1" dirty="0">
              <a:solidFill>
                <a:schemeClr val="bg1"/>
              </a:solidFill>
            </a:endParaRPr>
          </a:p>
        </p:txBody>
      </p:sp>
      <p:sp>
        <p:nvSpPr>
          <p:cNvPr id="87" name="右大括弧 86">
            <a:extLst>
              <a:ext uri="{FF2B5EF4-FFF2-40B4-BE49-F238E27FC236}">
                <a16:creationId xmlns:a16="http://schemas.microsoft.com/office/drawing/2014/main" id="{8C8F3851-7089-F31E-32F3-53943C489D62}"/>
              </a:ext>
            </a:extLst>
          </p:cNvPr>
          <p:cNvSpPr/>
          <p:nvPr/>
        </p:nvSpPr>
        <p:spPr>
          <a:xfrm rot="5400000">
            <a:off x="6589056" y="1284486"/>
            <a:ext cx="155951" cy="2600274"/>
          </a:xfrm>
          <a:prstGeom prst="rightBrace">
            <a:avLst/>
          </a:prstGeom>
          <a:ln w="12700">
            <a:solidFill>
              <a:schemeClr val="accent3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89" name="文字方塊 88">
            <a:extLst>
              <a:ext uri="{FF2B5EF4-FFF2-40B4-BE49-F238E27FC236}">
                <a16:creationId xmlns:a16="http://schemas.microsoft.com/office/drawing/2014/main" id="{BE717CBE-C730-BD84-3DD5-94676538066C}"/>
              </a:ext>
            </a:extLst>
          </p:cNvPr>
          <p:cNvSpPr txBox="1"/>
          <p:nvPr/>
        </p:nvSpPr>
        <p:spPr>
          <a:xfrm>
            <a:off x="6424454" y="2667960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ea typeface="Meiryo" panose="020B0604030504040204" pitchFamily="34" charset="-128"/>
              </a:rPr>
              <a:t>RAG</a:t>
            </a:r>
          </a:p>
        </p:txBody>
      </p:sp>
      <p:sp>
        <p:nvSpPr>
          <p:cNvPr id="96" name="文字方塊 95">
            <a:extLst>
              <a:ext uri="{FF2B5EF4-FFF2-40B4-BE49-F238E27FC236}">
                <a16:creationId xmlns:a16="http://schemas.microsoft.com/office/drawing/2014/main" id="{AA152E9F-16DB-B89F-097B-B78A8648612F}"/>
              </a:ext>
            </a:extLst>
          </p:cNvPr>
          <p:cNvSpPr txBox="1"/>
          <p:nvPr/>
        </p:nvSpPr>
        <p:spPr>
          <a:xfrm>
            <a:off x="2605522" y="1879416"/>
            <a:ext cx="1000841" cy="417365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[Server V]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</a:t>
            </a:r>
            <a:endParaRPr lang="en-US" altLang="zh-TW" sz="1000" b="1" dirty="0">
              <a:solidFill>
                <a:schemeClr val="accent3">
                  <a:lumMod val="50000"/>
                </a:schemeClr>
              </a:solidFill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r">
              <a:lnSpc>
                <a:spcPts val="1400"/>
              </a:lnSpc>
              <a:buNone/>
            </a:pP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highlight>
                  <a:srgbClr val="CBDCA8"/>
                </a:highlight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[50]</a:t>
            </a:r>
            <a:r>
              <a:rPr lang="en-US" altLang="zh-TW" sz="1000" b="1" dirty="0">
                <a:solidFill>
                  <a:schemeClr val="accent3">
                    <a:lumMod val="50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b="1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  <a:sym typeface="Wingdings" panose="05000000000000000000" pitchFamily="2" charset="2"/>
              </a:rPr>
              <a:t></a:t>
            </a:r>
            <a:endParaRPr lang="en-US" altLang="zh-TW" sz="1200" b="1" u="none" strike="noStrike" dirty="0">
              <a:solidFill>
                <a:schemeClr val="accent3">
                  <a:lumMod val="50000"/>
                </a:schemeClr>
              </a:solidFill>
              <a:effectLst/>
              <a:latin typeface="Consolas" panose="020B0609020204030204" pitchFamily="49" charset="0"/>
              <a:ea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98" name="文字方塊 97">
            <a:extLst>
              <a:ext uri="{FF2B5EF4-FFF2-40B4-BE49-F238E27FC236}">
                <a16:creationId xmlns:a16="http://schemas.microsoft.com/office/drawing/2014/main" id="{D38BE440-ABD8-7315-849A-ACCD53C42F3A}"/>
              </a:ext>
            </a:extLst>
          </p:cNvPr>
          <p:cNvSpPr txBox="1"/>
          <p:nvPr/>
        </p:nvSpPr>
        <p:spPr>
          <a:xfrm>
            <a:off x="2300408" y="1673394"/>
            <a:ext cx="1306951" cy="240360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r">
              <a:lnSpc>
                <a:spcPts val="1200"/>
              </a:lnSpc>
              <a:buNone/>
            </a:pPr>
            <a:r>
              <a:rPr lang="en-US" altLang="zh-TW" sz="1000" b="1" dirty="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  <a:ea typeface="ADLaM Display" panose="02010000000000000000" pitchFamily="2" charset="0"/>
                <a:cs typeface="ADLaM Display" panose="02010000000000000000" pitchFamily="2" charset="0"/>
              </a:rPr>
              <a:t>Semantic Reasoning</a:t>
            </a:r>
          </a:p>
        </p:txBody>
      </p: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7B770F63-ED9B-A215-5A54-41A9BE18C861}"/>
              </a:ext>
            </a:extLst>
          </p:cNvPr>
          <p:cNvSpPr txBox="1"/>
          <p:nvPr/>
        </p:nvSpPr>
        <p:spPr>
          <a:xfrm>
            <a:off x="5255536" y="2667958"/>
            <a:ext cx="358640" cy="37133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Naive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RAG</a:t>
            </a:r>
          </a:p>
        </p:txBody>
      </p:sp>
      <p:pic>
        <p:nvPicPr>
          <p:cNvPr id="102" name="圖形 101" descr="夾紙板 (徽章) 以實心填滿">
            <a:extLst>
              <a:ext uri="{FF2B5EF4-FFF2-40B4-BE49-F238E27FC236}">
                <a16:creationId xmlns:a16="http://schemas.microsoft.com/office/drawing/2014/main" id="{5D513E2A-9747-3CF5-89B6-FE6821CEFC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877576" y="2656674"/>
            <a:ext cx="377960" cy="393907"/>
          </a:xfrm>
          <a:prstGeom prst="rect">
            <a:avLst/>
          </a:prstGeom>
          <a:effectLst>
            <a:glow rad="127000">
              <a:schemeClr val="accent3">
                <a:lumMod val="40000"/>
                <a:lumOff val="60000"/>
              </a:schemeClr>
            </a:glow>
          </a:effectLst>
        </p:spPr>
      </p:pic>
      <p:sp>
        <p:nvSpPr>
          <p:cNvPr id="103" name="矩形: 圓角 102">
            <a:extLst>
              <a:ext uri="{FF2B5EF4-FFF2-40B4-BE49-F238E27FC236}">
                <a16:creationId xmlns:a16="http://schemas.microsoft.com/office/drawing/2014/main" id="{86C1EA06-118A-24F8-41AF-8AD48189289E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solidFill>
            <a:schemeClr val="accent3">
              <a:lumMod val="20000"/>
              <a:lumOff val="80000"/>
            </a:schemeClr>
          </a:solidFill>
          <a:ln w="19050">
            <a:solidFill>
              <a:schemeClr val="bg1">
                <a:lumMod val="65000"/>
              </a:schemeClr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3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04" name="矩形: 圓角 103">
            <a:extLst>
              <a:ext uri="{FF2B5EF4-FFF2-40B4-BE49-F238E27FC236}">
                <a16:creationId xmlns:a16="http://schemas.microsoft.com/office/drawing/2014/main" id="{80734412-65B8-67C4-7DBF-92DD40DD8949}"/>
              </a:ext>
            </a:extLst>
          </p:cNvPr>
          <p:cNvSpPr/>
          <p:nvPr/>
        </p:nvSpPr>
        <p:spPr>
          <a:xfrm>
            <a:off x="6403176" y="3281883"/>
            <a:ext cx="1013457" cy="481201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76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40000"/>
                  <a:lumOff val="6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288000" tIns="0" rIns="0" bIns="0" rtlCol="0" anchor="ctr"/>
          <a:lstStyle/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Tool-Based</a:t>
            </a:r>
          </a:p>
          <a:p>
            <a:pPr algn="ctr"/>
            <a:r>
              <a:rPr lang="en-US" altLang="zh-TW" sz="1000" b="1" dirty="0">
                <a:solidFill>
                  <a:schemeClr val="accent4">
                    <a:lumMod val="75000"/>
                  </a:schemeClr>
                </a:solidFill>
              </a:rPr>
              <a:t>RAG Server</a:t>
            </a:r>
            <a:endParaRPr lang="zh-TW" altLang="en-US" sz="10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5" name="矩形: 圓角 104">
            <a:extLst>
              <a:ext uri="{FF2B5EF4-FFF2-40B4-BE49-F238E27FC236}">
                <a16:creationId xmlns:a16="http://schemas.microsoft.com/office/drawing/2014/main" id="{6A401393-F59E-2187-4B82-2640D4FEB776}"/>
              </a:ext>
            </a:extLst>
          </p:cNvPr>
          <p:cNvSpPr/>
          <p:nvPr/>
        </p:nvSpPr>
        <p:spPr>
          <a:xfrm>
            <a:off x="4896241" y="3276958"/>
            <a:ext cx="504689" cy="488365"/>
          </a:xfrm>
          <a:prstGeom prst="roundRect">
            <a:avLst>
              <a:gd name="adj" fmla="val 8706"/>
            </a:avLst>
          </a:prstGeom>
          <a:gradFill flip="none" rotWithShape="1">
            <a:gsLst>
              <a:gs pos="88000">
                <a:srgbClr val="D7D2DB"/>
              </a:gs>
              <a:gs pos="0">
                <a:schemeClr val="accent3">
                  <a:lumMod val="40000"/>
                  <a:lumOff val="60000"/>
                </a:schemeClr>
              </a:gs>
              <a:gs pos="100000">
                <a:schemeClr val="accent4">
                  <a:lumMod val="60000"/>
                  <a:lumOff val="40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 w="19050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</a:p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Client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06" name="直線單箭頭接點 105">
            <a:extLst>
              <a:ext uri="{FF2B5EF4-FFF2-40B4-BE49-F238E27FC236}">
                <a16:creationId xmlns:a16="http://schemas.microsoft.com/office/drawing/2014/main" id="{A08049F4-F820-212A-4F92-FA8926031A74}"/>
              </a:ext>
            </a:extLst>
          </p:cNvPr>
          <p:cNvCxnSpPr>
            <a:cxnSpLocks/>
            <a:stCxn id="104" idx="1"/>
            <a:endCxn id="105" idx="3"/>
          </p:cNvCxnSpPr>
          <p:nvPr/>
        </p:nvCxnSpPr>
        <p:spPr>
          <a:xfrm flipH="1" flipV="1">
            <a:off x="5400930" y="3521141"/>
            <a:ext cx="1002246" cy="1343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headEnd type="triangle" w="sm" len="med"/>
            <a:tailEnd type="triangle" w="sm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文字方塊 106">
            <a:extLst>
              <a:ext uri="{FF2B5EF4-FFF2-40B4-BE49-F238E27FC236}">
                <a16:creationId xmlns:a16="http://schemas.microsoft.com/office/drawing/2014/main" id="{1C9D6A22-5EDD-E6B8-8849-0FC406938CD9}"/>
              </a:ext>
            </a:extLst>
          </p:cNvPr>
          <p:cNvSpPr txBox="1"/>
          <p:nvPr/>
        </p:nvSpPr>
        <p:spPr>
          <a:xfrm>
            <a:off x="5651487" y="3373796"/>
            <a:ext cx="504689" cy="27706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  <a:buNone/>
            </a:pPr>
            <a:r>
              <a:rPr lang="en-US" altLang="zh-TW" sz="1000" u="none" strike="noStrike" dirty="0">
                <a:effectLst/>
                <a:ea typeface="Meiryo" panose="020B0604030504040204" pitchFamily="34" charset="-128"/>
              </a:rPr>
              <a:t>MCP</a:t>
            </a:r>
          </a:p>
          <a:p>
            <a:pPr>
              <a:lnSpc>
                <a:spcPts val="1400"/>
              </a:lnSpc>
              <a:buNone/>
            </a:pPr>
            <a:r>
              <a:rPr lang="en-US" altLang="zh-TW" sz="1000" dirty="0">
                <a:ea typeface="Meiryo" panose="020B0604030504040204" pitchFamily="34" charset="-128"/>
              </a:rPr>
              <a:t>Protocol</a:t>
            </a:r>
            <a:endParaRPr lang="en-US" altLang="zh-TW" sz="1000" u="none" strike="noStrike" dirty="0">
              <a:effectLst/>
              <a:ea typeface="Meiryo" panose="020B0604030504040204" pitchFamily="34" charset="-128"/>
            </a:endParaRPr>
          </a:p>
        </p:txBody>
      </p:sp>
      <p:pic>
        <p:nvPicPr>
          <p:cNvPr id="108" name="圖形 107" descr="伺服器 外框">
            <a:extLst>
              <a:ext uri="{FF2B5EF4-FFF2-40B4-BE49-F238E27FC236}">
                <a16:creationId xmlns:a16="http://schemas.microsoft.com/office/drawing/2014/main" id="{0AC1D560-71AD-50F5-B095-EE49B84459D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403176" y="3325348"/>
            <a:ext cx="379782" cy="379782"/>
          </a:xfrm>
          <a:prstGeom prst="rect">
            <a:avLst/>
          </a:prstGeom>
        </p:spPr>
      </p:pic>
      <p:pic>
        <p:nvPicPr>
          <p:cNvPr id="113" name="圖形 112" descr="放大鏡 以實心填滿">
            <a:extLst>
              <a:ext uri="{FF2B5EF4-FFF2-40B4-BE49-F238E27FC236}">
                <a16:creationId xmlns:a16="http://schemas.microsoft.com/office/drawing/2014/main" id="{1A4AB714-5ECE-1DEE-08CC-F4B5870CCC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flipH="1">
            <a:off x="7255389" y="3357850"/>
            <a:ext cx="429694" cy="421999"/>
          </a:xfrm>
          <a:prstGeom prst="rect">
            <a:avLst/>
          </a:prstGeom>
          <a:effectLst>
            <a:glow rad="127000">
              <a:schemeClr val="accent3">
                <a:lumMod val="20000"/>
                <a:lumOff val="80000"/>
                <a:alpha val="40000"/>
              </a:schemeClr>
            </a:glow>
          </a:effectLst>
        </p:spPr>
      </p:pic>
      <p:sp>
        <p:nvSpPr>
          <p:cNvPr id="33" name="文字方塊 32">
            <a:extLst>
              <a:ext uri="{FF2B5EF4-FFF2-40B4-BE49-F238E27FC236}">
                <a16:creationId xmlns:a16="http://schemas.microsoft.com/office/drawing/2014/main" id="{A8D36140-84C1-5298-9B8F-805E9887A308}"/>
              </a:ext>
            </a:extLst>
          </p:cNvPr>
          <p:cNvSpPr txBox="1"/>
          <p:nvPr/>
        </p:nvSpPr>
        <p:spPr>
          <a:xfrm>
            <a:off x="2524583" y="3003260"/>
            <a:ext cx="633503" cy="195426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200" dirty="0">
                <a:solidFill>
                  <a:schemeClr val="tx2">
                    <a:lumMod val="75000"/>
                  </a:schemeClr>
                </a:solidFill>
                <a:latin typeface="Comic Sans MS" panose="030F0702030302020204" pitchFamily="66" charset="0"/>
                <a:ea typeface="微軟正黑體" panose="020B0604030504040204" pitchFamily="34" charset="-120"/>
              </a:rPr>
              <a:t>“$50“</a:t>
            </a:r>
          </a:p>
        </p:txBody>
      </p:sp>
      <p:graphicFrame>
        <p:nvGraphicFramePr>
          <p:cNvPr id="35" name="表格 34">
            <a:extLst>
              <a:ext uri="{FF2B5EF4-FFF2-40B4-BE49-F238E27FC236}">
                <a16:creationId xmlns:a16="http://schemas.microsoft.com/office/drawing/2014/main" id="{DA50BB60-897A-3903-6631-883B14DA4B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084239"/>
              </p:ext>
            </p:extLst>
          </p:nvPr>
        </p:nvGraphicFramePr>
        <p:xfrm>
          <a:off x="6403176" y="3855864"/>
          <a:ext cx="2540034" cy="8640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184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3031015462"/>
                    </a:ext>
                  </a:extLst>
                </a:gridCol>
              </a:tblGrid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1454161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Native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Rapid context retrieval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147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Advanced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Query rewriting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983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Graph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Global document insights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sp>
        <p:nvSpPr>
          <p:cNvPr id="38" name="語音泡泡: 圓角矩形 37">
            <a:extLst>
              <a:ext uri="{FF2B5EF4-FFF2-40B4-BE49-F238E27FC236}">
                <a16:creationId xmlns:a16="http://schemas.microsoft.com/office/drawing/2014/main" id="{4F6A7D48-72EC-C32D-C277-18BB4F94051E}"/>
              </a:ext>
            </a:extLst>
          </p:cNvPr>
          <p:cNvSpPr/>
          <p:nvPr/>
        </p:nvSpPr>
        <p:spPr>
          <a:xfrm>
            <a:off x="2987824" y="3733927"/>
            <a:ext cx="1149254" cy="703185"/>
          </a:xfrm>
          <a:prstGeom prst="wedgeRoundRectCallout">
            <a:avLst>
              <a:gd name="adj1" fmla="val 64836"/>
              <a:gd name="adj2" fmla="val 39228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Any money left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in the account?</a:t>
            </a:r>
            <a:endParaRPr lang="en-US" altLang="zh-TW" sz="1200" dirty="0">
              <a:ln w="0"/>
              <a:solidFill>
                <a:srgbClr val="4F81BD">
                  <a:lumMod val="75000"/>
                </a:srgbClr>
              </a:solidFill>
              <a:latin typeface="Comic Sans MS" panose="030F0702030302020204" pitchFamily="66" charset="0"/>
              <a:ea typeface="新細明體" panose="02020500000000000000" pitchFamily="18" charset="-120"/>
              <a:cs typeface="Cavolini" panose="020B0502040204020203" pitchFamily="66" charset="0"/>
            </a:endParaRPr>
          </a:p>
        </p:txBody>
      </p:sp>
      <p:sp>
        <p:nvSpPr>
          <p:cNvPr id="27" name="語音泡泡: 圓角矩形 26">
            <a:extLst>
              <a:ext uri="{FF2B5EF4-FFF2-40B4-BE49-F238E27FC236}">
                <a16:creationId xmlns:a16="http://schemas.microsoft.com/office/drawing/2014/main" id="{6792054B-7EBC-6463-8733-4439C8EEAA86}"/>
              </a:ext>
            </a:extLst>
          </p:cNvPr>
          <p:cNvSpPr/>
          <p:nvPr/>
        </p:nvSpPr>
        <p:spPr>
          <a:xfrm>
            <a:off x="2051720" y="3284984"/>
            <a:ext cx="1155493" cy="568803"/>
          </a:xfrm>
          <a:prstGeom prst="wedgeRoundRectCallout">
            <a:avLst>
              <a:gd name="adj1" fmla="val -62522"/>
              <a:gd name="adj2" fmla="val -52287"/>
              <a:gd name="adj3" fmla="val 16667"/>
            </a:avLst>
          </a:prstGeom>
          <a:solidFill>
            <a:schemeClr val="bg1">
              <a:alpha val="80000"/>
            </a:schemeClr>
          </a:solidFill>
          <a:ln w="38100"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Almost nothing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dirty="0">
                <a:ln w="0"/>
                <a:solidFill>
                  <a:prstClr val="black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- </a:t>
            </a:r>
            <a:r>
              <a:rPr lang="en-US" altLang="zh-TW" sz="1200" dirty="0">
                <a:ln w="0"/>
                <a:solidFill>
                  <a:srgbClr val="FF0000"/>
                </a:solidFill>
                <a:latin typeface="Comic Sans MS" panose="030F0702030302020204" pitchFamily="66" charset="0"/>
                <a:ea typeface="新細明體" panose="02020500000000000000" pitchFamily="18" charset="-120"/>
                <a:cs typeface="Cavolini" panose="020B0502040204020203" pitchFamily="66" charset="0"/>
              </a:rPr>
              <a:t>Calm down!</a:t>
            </a:r>
          </a:p>
        </p:txBody>
      </p:sp>
    </p:spTree>
    <p:extLst>
      <p:ext uri="{BB962C8B-B14F-4D97-AF65-F5344CB8AC3E}">
        <p14:creationId xmlns:p14="http://schemas.microsoft.com/office/powerpoint/2010/main" val="5928157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030CBCA-E06F-157F-31ED-053E755AD007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Large Language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Tools in Ecosystem growing fast … </a:t>
            </a: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3727E64D-5853-3D6E-FFA3-DE78C931C7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9515540"/>
              </p:ext>
            </p:extLst>
          </p:nvPr>
        </p:nvGraphicFramePr>
        <p:xfrm>
          <a:off x="3234163" y="3284984"/>
          <a:ext cx="2675673" cy="28605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1891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91891">
                  <a:extLst>
                    <a:ext uri="{9D8B030D-6E8A-4147-A177-3AD203B41FA5}">
                      <a16:colId xmlns:a16="http://schemas.microsoft.com/office/drawing/2014/main" val="270114478"/>
                    </a:ext>
                  </a:extLst>
                </a:gridCol>
                <a:gridCol w="891891">
                  <a:extLst>
                    <a:ext uri="{9D8B030D-6E8A-4147-A177-3AD203B41FA5}">
                      <a16:colId xmlns:a16="http://schemas.microsoft.com/office/drawing/2014/main" val="1431172380"/>
                    </a:ext>
                  </a:extLst>
                </a:gridCol>
              </a:tblGrid>
              <a:tr h="1462308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Model Layer</a:t>
                      </a:r>
                    </a:p>
                  </a:txBody>
                  <a:tcPr marL="0" marR="0" marT="91440" marB="0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855259384"/>
                  </a:ext>
                </a:extLst>
              </a:tr>
              <a:tr h="197257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2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SLM</a:t>
                      </a:r>
                    </a:p>
                  </a:txBody>
                  <a:tcPr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197257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>
                    <a:lnL w="12700" cmpd="sng">
                      <a:noFill/>
                    </a:lnL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446942068"/>
                  </a:ext>
                </a:extLst>
              </a:tr>
              <a:tr h="1003689">
                <a:tc gridSpan="3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Software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Infrastructure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grpSp>
        <p:nvGrpSpPr>
          <p:cNvPr id="22" name="群組 21">
            <a:extLst>
              <a:ext uri="{FF2B5EF4-FFF2-40B4-BE49-F238E27FC236}">
                <a16:creationId xmlns:a16="http://schemas.microsoft.com/office/drawing/2014/main" id="{4CAC32F8-5374-6392-FEA9-BFECB1906D74}"/>
              </a:ext>
            </a:extLst>
          </p:cNvPr>
          <p:cNvGrpSpPr/>
          <p:nvPr/>
        </p:nvGrpSpPr>
        <p:grpSpPr>
          <a:xfrm>
            <a:off x="3245714" y="3861048"/>
            <a:ext cx="1614318" cy="720080"/>
            <a:chOff x="5985884" y="3911212"/>
            <a:chExt cx="1738969" cy="720080"/>
          </a:xfrm>
        </p:grpSpPr>
        <p:sp>
          <p:nvSpPr>
            <p:cNvPr id="6" name="語音泡泡: 圓角矩形 5">
              <a:extLst>
                <a:ext uri="{FF2B5EF4-FFF2-40B4-BE49-F238E27FC236}">
                  <a16:creationId xmlns:a16="http://schemas.microsoft.com/office/drawing/2014/main" id="{F91AC911-0D1C-DF7D-DA5F-71B189376E62}"/>
                </a:ext>
              </a:extLst>
            </p:cNvPr>
            <p:cNvSpPr/>
            <p:nvPr/>
          </p:nvSpPr>
          <p:spPr>
            <a:xfrm>
              <a:off x="5985884" y="3911212"/>
              <a:ext cx="1738969" cy="720080"/>
            </a:xfrm>
            <a:prstGeom prst="wedgeRoundRectCallout">
              <a:avLst>
                <a:gd name="adj1" fmla="val 21301"/>
                <a:gd name="adj2" fmla="val 80445"/>
                <a:gd name="adj3" fmla="val 16667"/>
              </a:avLst>
            </a:prstGeom>
            <a:solidFill>
              <a:schemeClr val="bg1">
                <a:alpha val="70000"/>
              </a:schemeClr>
            </a:solidFill>
            <a:ln w="38100">
              <a:solidFill>
                <a:schemeClr val="accent6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TW" sz="1200" b="1" i="0" u="none" strike="noStrike" kern="1200" cap="none" spc="0" normalizeH="0" baseline="0" noProof="0" dirty="0">
                  <a:ln w="0"/>
                  <a:solidFill>
                    <a:prstClr val="black"/>
                  </a:solidFill>
                  <a:effectLst/>
                  <a:uLnTx/>
                  <a:uFillTx/>
                  <a:latin typeface="Calibri"/>
                  <a:ea typeface="新細明體" panose="02020500000000000000" pitchFamily="18" charset="-120"/>
                  <a:cs typeface="+mn-cs"/>
                </a:rPr>
                <a:t>Model Engine</a:t>
              </a: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endParaRPr>
            </a:p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zh-TW" dirty="0">
                  <a:ln w="0"/>
                  <a:solidFill>
                    <a:schemeClr val="tx1">
                      <a:lumMod val="75000"/>
                      <a:lumOff val="2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     </a:t>
              </a:r>
              <a:r>
                <a:rPr lang="en-US" altLang="zh-TW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27" name="圖片 26">
              <a:extLst>
                <a:ext uri="{FF2B5EF4-FFF2-40B4-BE49-F238E27FC236}">
                  <a16:creationId xmlns:a16="http://schemas.microsoft.com/office/drawing/2014/main" id="{92A0724E-A38F-5195-50B0-C98F2CF9C9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73490" y="4132527"/>
              <a:ext cx="434378" cy="426757"/>
            </a:xfrm>
            <a:prstGeom prst="rect">
              <a:avLst/>
            </a:prstGeom>
          </p:spPr>
        </p:pic>
      </p:grp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CC15565B-23FB-5E59-4F90-9D5D878FE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4469572"/>
              </p:ext>
            </p:extLst>
          </p:nvPr>
        </p:nvGraphicFramePr>
        <p:xfrm>
          <a:off x="812083" y="3181276"/>
          <a:ext cx="1590622" cy="1071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62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40034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 Engine Tool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4815099"/>
                  </a:ext>
                </a:extLst>
              </a:tr>
              <a:tr h="24772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Deployment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2169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0175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Customization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</a:tbl>
          </a:graphicData>
        </a:graphic>
      </p:graphicFrame>
      <p:graphicFrame>
        <p:nvGraphicFramePr>
          <p:cNvPr id="17" name="表格 16">
            <a:extLst>
              <a:ext uri="{FF2B5EF4-FFF2-40B4-BE49-F238E27FC236}">
                <a16:creationId xmlns:a16="http://schemas.microsoft.com/office/drawing/2014/main" id="{57EFCE37-831A-9DEC-F096-56CA8F008C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59341486"/>
              </p:ext>
            </p:extLst>
          </p:nvPr>
        </p:nvGraphicFramePr>
        <p:xfrm>
          <a:off x="812083" y="4653136"/>
          <a:ext cx="2088232" cy="101510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823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776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Tools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</a:t>
                      </a:r>
                      <a:r>
                        <a:rPr lang="en-US" altLang="zh-TW" sz="1000" b="0" cap="none" spc="0" dirty="0" err="1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000" b="0" cap="none" spc="0" dirty="0">
                          <a:ln w="0"/>
                          <a:solidFill>
                            <a:schemeClr val="accent1">
                              <a:lumMod val="75000"/>
                            </a:schemeClr>
                          </a:solidFill>
                          <a:effectLst/>
                        </a:rPr>
                        <a:t>, Full Tunning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1005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(Open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25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WebUI)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1502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Axolotol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FDEC58D-CCB1-A42B-F522-40050B01CA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0595420"/>
              </p:ext>
            </p:extLst>
          </p:nvPr>
        </p:nvGraphicFramePr>
        <p:xfrm>
          <a:off x="6327392" y="4996020"/>
          <a:ext cx="1944216" cy="918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421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30783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Infrastructure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4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TensorFlow/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/JAX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421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Megatron-LM /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881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CUDA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0" name="表格 19">
            <a:extLst>
              <a:ext uri="{FF2B5EF4-FFF2-40B4-BE49-F238E27FC236}">
                <a16:creationId xmlns:a16="http://schemas.microsoft.com/office/drawing/2014/main" id="{1F029804-8A4D-A1F0-D8D0-ECDF117CAE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9842345"/>
              </p:ext>
            </p:extLst>
          </p:nvPr>
        </p:nvGraphicFramePr>
        <p:xfrm>
          <a:off x="3234163" y="1856742"/>
          <a:ext cx="2675674" cy="80348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916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59164">
                  <a:extLst>
                    <a:ext uri="{9D8B030D-6E8A-4147-A177-3AD203B41FA5}">
                      <a16:colId xmlns:a16="http://schemas.microsoft.com/office/drawing/2014/main" val="1426263881"/>
                    </a:ext>
                  </a:extLst>
                </a:gridCol>
                <a:gridCol w="557969">
                  <a:extLst>
                    <a:ext uri="{9D8B030D-6E8A-4147-A177-3AD203B41FA5}">
                      <a16:colId xmlns:a16="http://schemas.microsoft.com/office/drawing/2014/main" val="1549907192"/>
                    </a:ext>
                  </a:extLst>
                </a:gridCol>
                <a:gridCol w="557969">
                  <a:extLst>
                    <a:ext uri="{9D8B030D-6E8A-4147-A177-3AD203B41FA5}">
                      <a16:colId xmlns:a16="http://schemas.microsoft.com/office/drawing/2014/main" val="2139872543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636054194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1872490353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68804775"/>
                    </a:ext>
                  </a:extLst>
                </a:gridCol>
                <a:gridCol w="260352">
                  <a:extLst>
                    <a:ext uri="{9D8B030D-6E8A-4147-A177-3AD203B41FA5}">
                      <a16:colId xmlns:a16="http://schemas.microsoft.com/office/drawing/2014/main" val="3091919611"/>
                    </a:ext>
                  </a:extLst>
                </a:gridCol>
              </a:tblGrid>
              <a:tr h="432047">
                <a:tc gridSpan="8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</a:t>
                      </a:r>
                      <a:r>
                        <a:rPr kumimoji="0" lang="zh-TW" altLang="en-US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kumimoji="0" lang="en-US" altLang="zh-TW" sz="14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Agents</a:t>
                      </a:r>
                    </a:p>
                  </a:txBody>
                  <a:tcPr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7143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Open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Claw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Hermes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Agent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</a:tbl>
          </a:graphicData>
        </a:graphic>
      </p:graphicFrame>
      <p:graphicFrame>
        <p:nvGraphicFramePr>
          <p:cNvPr id="26" name="表格 25">
            <a:extLst>
              <a:ext uri="{FF2B5EF4-FFF2-40B4-BE49-F238E27FC236}">
                <a16:creationId xmlns:a16="http://schemas.microsoft.com/office/drawing/2014/main" id="{55FA761B-B1C0-6E26-1F64-397B428139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4693302"/>
              </p:ext>
            </p:extLst>
          </p:nvPr>
        </p:nvGraphicFramePr>
        <p:xfrm>
          <a:off x="6740869" y="1229251"/>
          <a:ext cx="1933441" cy="1148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344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56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AI Orchestrator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Multi-Agent Routing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State &amp; Context Management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Dynamic Workflow Execution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49642222"/>
                  </a:ext>
                </a:extLst>
              </a:tr>
              <a:tr h="19783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Resource Optimization</a:t>
                      </a:r>
                      <a:endParaRPr kumimoji="0" lang="zh-TW" altLang="en-US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24983"/>
                  </a:ext>
                </a:extLst>
              </a:tr>
            </a:tbl>
          </a:graphicData>
        </a:graphic>
      </p:graphicFrame>
      <p:sp>
        <p:nvSpPr>
          <p:cNvPr id="16" name="圖說文字: 直線 15">
            <a:extLst>
              <a:ext uri="{FF2B5EF4-FFF2-40B4-BE49-F238E27FC236}">
                <a16:creationId xmlns:a16="http://schemas.microsoft.com/office/drawing/2014/main" id="{004256FF-859E-CCD1-81EC-075CA72A316C}"/>
              </a:ext>
            </a:extLst>
          </p:cNvPr>
          <p:cNvSpPr/>
          <p:nvPr/>
        </p:nvSpPr>
        <p:spPr>
          <a:xfrm flipH="1">
            <a:off x="6660232" y="1229252"/>
            <a:ext cx="2086085" cy="1206064"/>
          </a:xfrm>
          <a:prstGeom prst="borderCallout1">
            <a:avLst>
              <a:gd name="adj1" fmla="val 83379"/>
              <a:gd name="adj2" fmla="val 96707"/>
              <a:gd name="adj3" fmla="val 109956"/>
              <a:gd name="adj4" fmla="val 124063"/>
            </a:avLst>
          </a:prstGeom>
          <a:noFill/>
          <a:ln w="1270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1440" rIns="0" rtlCol="0" anchor="ctr"/>
          <a:lstStyle/>
          <a:p>
            <a:endParaRPr lang="zh-TW" altLang="en-US" sz="1200" dirty="0">
              <a:solidFill>
                <a:schemeClr val="tx1"/>
              </a:solidFill>
            </a:endParaRPr>
          </a:p>
        </p:txBody>
      </p:sp>
      <p:pic>
        <p:nvPicPr>
          <p:cNvPr id="31" name="圖片 30">
            <a:extLst>
              <a:ext uri="{FF2B5EF4-FFF2-40B4-BE49-F238E27FC236}">
                <a16:creationId xmlns:a16="http://schemas.microsoft.com/office/drawing/2014/main" id="{A9399B61-E00C-FA21-7965-FEFD7381A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2724" y="135794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33" name="圖片 32">
            <a:extLst>
              <a:ext uri="{FF2B5EF4-FFF2-40B4-BE49-F238E27FC236}">
                <a16:creationId xmlns:a16="http://schemas.microsoft.com/office/drawing/2014/main" id="{F4258470-55CC-CEEB-1BAA-592F11ADCF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9869" y="1357945"/>
            <a:ext cx="47006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B73E7E98-C231-18BC-581C-CBCCC80F732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60232" y="836712"/>
            <a:ext cx="634319" cy="334586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E1C2A8E9-389D-2F9D-3C7D-8D935635C3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1575" y="886369"/>
            <a:ext cx="781627" cy="235272"/>
          </a:xfrm>
          <a:prstGeom prst="rect">
            <a:avLst/>
          </a:prstGeom>
        </p:spPr>
      </p:pic>
      <p:graphicFrame>
        <p:nvGraphicFramePr>
          <p:cNvPr id="13" name="表格 12">
            <a:extLst>
              <a:ext uri="{FF2B5EF4-FFF2-40B4-BE49-F238E27FC236}">
                <a16:creationId xmlns:a16="http://schemas.microsoft.com/office/drawing/2014/main" id="{210FCA04-BC42-C146-9ED5-553692E1CEB3}"/>
              </a:ext>
            </a:extLst>
          </p:cNvPr>
          <p:cNvGraphicFramePr>
            <a:graphicFrameLocks noGrp="1"/>
          </p:cNvGraphicFramePr>
          <p:nvPr/>
        </p:nvGraphicFramePr>
        <p:xfrm>
          <a:off x="-1076325" y="4810125"/>
          <a:ext cx="208280" cy="365760"/>
        </p:xfrm>
        <a:graphic>
          <a:graphicData uri="http://schemas.openxmlformats.org/drawingml/2006/table">
            <a:tbl>
              <a:tblPr/>
              <a:tblGrid>
                <a:gridCol w="208280">
                  <a:extLst>
                    <a:ext uri="{9D8B030D-6E8A-4147-A177-3AD203B41FA5}">
                      <a16:colId xmlns:a16="http://schemas.microsoft.com/office/drawing/2014/main" val="532732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zh-TW" altLang="en-US" dirty="0"/>
                    </a:p>
                  </a:txBody>
                  <a:tcPr>
                    <a:lnL w="3175" cmpd="sng">
                      <a:solidFill>
                        <a:schemeClr val="bg1"/>
                      </a:solidFill>
                      <a:prstDash val="solid"/>
                    </a:lnL>
                    <a:lnR w="3175" cmpd="sng">
                      <a:solidFill>
                        <a:schemeClr val="bg1"/>
                      </a:solidFill>
                      <a:prstDash val="solid"/>
                    </a:lnR>
                    <a:lnT w="3175" cmpd="sng">
                      <a:solidFill>
                        <a:schemeClr val="bg1"/>
                      </a:solidFill>
                      <a:prstDash val="solid"/>
                    </a:lnT>
                    <a:lnB w="3175" cmpd="sng">
                      <a:solidFill>
                        <a:schemeClr val="bg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55380650"/>
                  </a:ext>
                </a:extLst>
              </a:tr>
            </a:tbl>
          </a:graphicData>
        </a:graphic>
      </p:graphicFrame>
      <p:pic>
        <p:nvPicPr>
          <p:cNvPr id="15" name="圖片 14">
            <a:extLst>
              <a:ext uri="{FF2B5EF4-FFF2-40B4-BE49-F238E27FC236}">
                <a16:creationId xmlns:a16="http://schemas.microsoft.com/office/drawing/2014/main" id="{439D466C-08F0-8E9C-AC89-EAFD529E20B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14228" y="836712"/>
            <a:ext cx="360260" cy="334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3272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E853544-DBA0-E3DB-54BF-4BDC27EE2E9F}"/>
              </a:ext>
            </a:extLst>
          </p:cNvPr>
          <p:cNvSpPr txBox="1"/>
          <p:nvPr/>
        </p:nvSpPr>
        <p:spPr>
          <a:xfrm>
            <a:off x="287524" y="4375264"/>
            <a:ext cx="8568952" cy="1862048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dirty="0"/>
              <a:t>Key Trends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Data Transition</a:t>
            </a:r>
            <a:r>
              <a:rPr lang="en-US" altLang="zh-TW" sz="1600" b="0" u="none" strike="noStrike" dirty="0">
                <a:effectLst/>
              </a:rPr>
              <a:t>: Shifting from Quantity (raw web) to </a:t>
            </a:r>
            <a:r>
              <a:rPr lang="en-US" altLang="zh-TW" sz="1600" b="0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Quality</a:t>
            </a:r>
            <a:r>
              <a:rPr lang="en-US" altLang="zh-TW" sz="1600" b="0" u="none" strike="noStrike" dirty="0">
                <a:effectLst/>
              </a:rPr>
              <a:t> (curated c</a:t>
            </a:r>
            <a:r>
              <a:rPr lang="en-US" altLang="zh-TW" sz="1600" dirty="0"/>
              <a:t>orpora)</a:t>
            </a:r>
            <a:r>
              <a:rPr lang="en-US" altLang="zh-TW" sz="1600" b="0" u="none" strike="noStrike" dirty="0">
                <a:effectLst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Architecture (</a:t>
            </a:r>
            <a:r>
              <a:rPr lang="en-US" altLang="zh-TW" sz="1600" b="1" dirty="0" err="1"/>
              <a:t>MoE</a:t>
            </a:r>
            <a:r>
              <a:rPr lang="en-US" altLang="zh-TW" sz="1600" b="1" dirty="0"/>
              <a:t>)</a:t>
            </a:r>
            <a:r>
              <a:rPr lang="en-US" altLang="zh-TW" sz="1600" dirty="0"/>
              <a:t>: Activating only relevant sub-networks to drastically lower inference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costs</a:t>
            </a:r>
            <a:r>
              <a:rPr lang="en-US" altLang="zh-TW" sz="1600" dirty="0"/>
              <a:t>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Native Modality</a:t>
            </a:r>
            <a:r>
              <a:rPr lang="en-US" altLang="zh-TW" sz="1600" dirty="0"/>
              <a:t>: Integrating real-time voice and video natively for next-gen AI Agents.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Efficient Deployment</a:t>
            </a:r>
            <a:r>
              <a:rPr lang="en-US" altLang="zh-TW" sz="1600" dirty="0"/>
              <a:t>: Embracing Smaller Language Models (SLMs) for </a:t>
            </a:r>
            <a:r>
              <a:rPr lang="en-US" altLang="zh-TW" sz="1600" dirty="0">
                <a:solidFill>
                  <a:schemeClr val="accent6">
                    <a:lumMod val="75000"/>
                  </a:schemeClr>
                </a:solidFill>
              </a:rPr>
              <a:t>secure</a:t>
            </a:r>
            <a:r>
              <a:rPr lang="en-US" altLang="zh-TW" sz="1600" dirty="0"/>
              <a:t>, on-device AI.</a:t>
            </a:r>
            <a:endParaRPr lang="en-US" altLang="zh-TW" sz="16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" name="群組 5">
            <a:extLst>
              <a:ext uri="{FF2B5EF4-FFF2-40B4-BE49-F238E27FC236}">
                <a16:creationId xmlns:a16="http://schemas.microsoft.com/office/drawing/2014/main" id="{5E04EBFC-4EB4-0EDE-A780-590452CD0E38}"/>
              </a:ext>
            </a:extLst>
          </p:cNvPr>
          <p:cNvGrpSpPr/>
          <p:nvPr/>
        </p:nvGrpSpPr>
        <p:grpSpPr>
          <a:xfrm>
            <a:off x="1209216" y="1263958"/>
            <a:ext cx="2094003" cy="2114742"/>
            <a:chOff x="1011755" y="2851680"/>
            <a:chExt cx="2094003" cy="2114742"/>
          </a:xfrm>
        </p:grpSpPr>
        <p:sp>
          <p:nvSpPr>
            <p:cNvPr id="7" name="弧形 6">
              <a:extLst>
                <a:ext uri="{FF2B5EF4-FFF2-40B4-BE49-F238E27FC236}">
                  <a16:creationId xmlns:a16="http://schemas.microsoft.com/office/drawing/2014/main" id="{ADE78692-DD87-A403-B53B-072E2A6E9BC6}"/>
                </a:ext>
              </a:extLst>
            </p:cNvPr>
            <p:cNvSpPr/>
            <p:nvPr/>
          </p:nvSpPr>
          <p:spPr>
            <a:xfrm>
              <a:off x="1050655" y="2869831"/>
              <a:ext cx="2055103" cy="2096591"/>
            </a:xfrm>
            <a:prstGeom prst="arc">
              <a:avLst>
                <a:gd name="adj1" fmla="val 16400852"/>
                <a:gd name="adj2" fmla="val 12348078"/>
              </a:avLst>
            </a:prstGeom>
            <a:solidFill>
              <a:schemeClr val="accent1">
                <a:lumMod val="20000"/>
                <a:lumOff val="80000"/>
                <a:alpha val="40000"/>
              </a:schemeClr>
            </a:solidFill>
            <a:ln w="25400">
              <a:solidFill>
                <a:schemeClr val="accent1">
                  <a:lumMod val="40000"/>
                  <a:lumOff val="60000"/>
                  <a:alpha val="4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wrap="none" lIns="1097280" tIns="0" rIns="0" bIns="91440" rtlCol="0" anchor="b" anchorCtr="1"/>
            <a:lstStyle/>
            <a:p>
              <a:pPr algn="ctr"/>
              <a:endParaRPr lang="zh-TW" altLang="en-US" dirty="0">
                <a:solidFill>
                  <a:schemeClr val="accent5">
                    <a:lumMod val="75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" name="雲朵形 8">
              <a:extLst>
                <a:ext uri="{FF2B5EF4-FFF2-40B4-BE49-F238E27FC236}">
                  <a16:creationId xmlns:a16="http://schemas.microsoft.com/office/drawing/2014/main" id="{0D4D7F0B-3B8A-40C4-3859-2BE266019CFB}"/>
                </a:ext>
              </a:extLst>
            </p:cNvPr>
            <p:cNvSpPr/>
            <p:nvPr/>
          </p:nvSpPr>
          <p:spPr>
            <a:xfrm>
              <a:off x="1011755" y="2851680"/>
              <a:ext cx="1400005" cy="818598"/>
            </a:xfrm>
            <a:prstGeom prst="cloud">
              <a:avLst/>
            </a:prstGeom>
            <a:solidFill>
              <a:schemeClr val="bg1">
                <a:alpha val="90000"/>
              </a:schemeClr>
            </a:solidFill>
            <a:ln w="38100"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0933DF4D-AD42-441A-13FF-5E50431F984F}"/>
                </a:ext>
              </a:extLst>
            </p:cNvPr>
            <p:cNvSpPr txBox="1"/>
            <p:nvPr/>
          </p:nvSpPr>
          <p:spPr>
            <a:xfrm>
              <a:off x="1909740" y="4318350"/>
              <a:ext cx="1024639" cy="323239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75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Edge AI</a:t>
              </a:r>
            </a:p>
          </p:txBody>
        </p:sp>
        <p:cxnSp>
          <p:nvCxnSpPr>
            <p:cNvPr id="11" name="直線單箭頭接點 10">
              <a:extLst>
                <a:ext uri="{FF2B5EF4-FFF2-40B4-BE49-F238E27FC236}">
                  <a16:creationId xmlns:a16="http://schemas.microsoft.com/office/drawing/2014/main" id="{61D0780E-0D93-AC04-23AC-5BC70DB675D1}"/>
                </a:ext>
              </a:extLst>
            </p:cNvPr>
            <p:cNvCxnSpPr>
              <a:cxnSpLocks/>
              <a:stCxn id="13" idx="2"/>
              <a:endCxn id="10" idx="0"/>
            </p:cNvCxnSpPr>
            <p:nvPr/>
          </p:nvCxnSpPr>
          <p:spPr>
            <a:xfrm>
              <a:off x="1620496" y="3434549"/>
              <a:ext cx="801564" cy="883801"/>
            </a:xfrm>
            <a:prstGeom prst="straightConnector1">
              <a:avLst/>
            </a:prstGeom>
            <a:ln w="25400">
              <a:solidFill>
                <a:schemeClr val="accent6">
                  <a:alpha val="80000"/>
                </a:schemeClr>
              </a:solidFill>
              <a:headEnd w="med" len="lg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文字方塊 12">
              <a:extLst>
                <a:ext uri="{FF2B5EF4-FFF2-40B4-BE49-F238E27FC236}">
                  <a16:creationId xmlns:a16="http://schemas.microsoft.com/office/drawing/2014/main" id="{1E98D504-3706-7625-D7D4-1EF4B42EEE93}"/>
                </a:ext>
              </a:extLst>
            </p:cNvPr>
            <p:cNvSpPr txBox="1"/>
            <p:nvPr/>
          </p:nvSpPr>
          <p:spPr>
            <a:xfrm>
              <a:off x="1108176" y="3065217"/>
              <a:ext cx="1024639" cy="369332"/>
            </a:xfrm>
            <a:prstGeom prst="rect">
              <a:avLst/>
            </a:prstGeom>
            <a:noFill/>
          </p:spPr>
          <p:txBody>
            <a:bodyPr wrap="none" tIns="0" rIns="0" bIns="0" anchor="ctr" anchorCtr="0">
              <a:noAutofit/>
            </a:bodyPr>
            <a:lstStyle/>
            <a:p>
              <a:r>
                <a:rPr lang="en-US" altLang="zh-TW" dirty="0">
                  <a:solidFill>
                    <a:schemeClr val="accent1">
                      <a:lumMod val="60000"/>
                      <a:lumOff val="40000"/>
                    </a:schemeClr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Cloud AI</a:t>
              </a:r>
            </a:p>
          </p:txBody>
        </p:sp>
      </p:grpSp>
      <p:sp>
        <p:nvSpPr>
          <p:cNvPr id="8" name="標題 1">
            <a:extLst>
              <a:ext uri="{FF2B5EF4-FFF2-40B4-BE49-F238E27FC236}">
                <a16:creationId xmlns:a16="http://schemas.microsoft.com/office/drawing/2014/main" id="{173EE053-1FAE-538C-ABFD-598B0D03DD4E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LLM Trend Analysis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From Scale-Driven to Quality-Centric Innovation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EBD64A5D-812A-71D3-28E3-739F618DBF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0290827"/>
              </p:ext>
            </p:extLst>
          </p:nvPr>
        </p:nvGraphicFramePr>
        <p:xfrm>
          <a:off x="6012160" y="2204863"/>
          <a:ext cx="2736304" cy="158417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6104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88809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912102">
                  <a:extLst>
                    <a:ext uri="{9D8B030D-6E8A-4147-A177-3AD203B41FA5}">
                      <a16:colId xmlns:a16="http://schemas.microsoft.com/office/drawing/2014/main" val="2975023522"/>
                    </a:ext>
                  </a:extLst>
                </a:gridCol>
              </a:tblGrid>
              <a:tr h="307254">
                <a:tc>
                  <a:txBody>
                    <a:bodyPr/>
                    <a:lstStyle/>
                    <a:p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70B~405B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3~8B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7254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H/W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NPU/SoC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4745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HBM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4~16GB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367670"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Power</a:t>
                      </a:r>
                    </a:p>
                    <a:p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Consumption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MW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(Cooling)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W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>
                            <a:noFill/>
                          </a:ln>
                          <a:solidFill>
                            <a:schemeClr val="tx1"/>
                          </a:solidFill>
                          <a:effectLst/>
                        </a:rPr>
                        <a:t>(FAN)</a:t>
                      </a:r>
                      <a:endParaRPr lang="zh-TW" altLang="en-US" sz="1200" b="0" cap="none" spc="0" dirty="0">
                        <a:ln w="0">
                          <a:noFill/>
                        </a:ln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01787730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6749B70F-5258-6FA9-79B1-4335864F07B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945062"/>
              </p:ext>
            </p:extLst>
          </p:nvPr>
        </p:nvGraphicFramePr>
        <p:xfrm>
          <a:off x="2016630" y="3166080"/>
          <a:ext cx="2195330" cy="6218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5330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2157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On-premise and Local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40611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Enabling secure, low-latency, and privacy-first on-device AI.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D203658-CE58-BAA2-6096-1412F79207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3408085"/>
              </p:ext>
            </p:extLst>
          </p:nvPr>
        </p:nvGraphicFramePr>
        <p:xfrm>
          <a:off x="906443" y="2109980"/>
          <a:ext cx="1059168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91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157083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 Center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14166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AWS, MS Azure,</a:t>
                      </a:r>
                    </a:p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Google Cloud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 anchorCtr="1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</a:tbl>
          </a:graphicData>
        </a:graphic>
      </p:graphicFrame>
      <p:pic>
        <p:nvPicPr>
          <p:cNvPr id="16" name="圖形 15" descr="上升趨勢的橫條圖 以實心填滿">
            <a:extLst>
              <a:ext uri="{FF2B5EF4-FFF2-40B4-BE49-F238E27FC236}">
                <a16:creationId xmlns:a16="http://schemas.microsoft.com/office/drawing/2014/main" id="{00E2A0E3-F313-B0E4-4656-A3E57C0C81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64288" y="1772814"/>
            <a:ext cx="432049" cy="432049"/>
          </a:xfrm>
          <a:prstGeom prst="rect">
            <a:avLst/>
          </a:prstGeom>
        </p:spPr>
      </p:pic>
      <p:pic>
        <p:nvPicPr>
          <p:cNvPr id="26" name="圖形 25" descr="細菌 以實心填滿">
            <a:extLst>
              <a:ext uri="{FF2B5EF4-FFF2-40B4-BE49-F238E27FC236}">
                <a16:creationId xmlns:a16="http://schemas.microsoft.com/office/drawing/2014/main" id="{7FB8FBF8-1C70-5BC8-E2E1-86A8F4DD36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442428" y="1365419"/>
            <a:ext cx="431917" cy="413783"/>
          </a:xfrm>
          <a:prstGeom prst="rect">
            <a:avLst/>
          </a:prstGeom>
        </p:spPr>
      </p:pic>
      <p:pic>
        <p:nvPicPr>
          <p:cNvPr id="30" name="圖形 29" descr="聊天 外框">
            <a:extLst>
              <a:ext uri="{FF2B5EF4-FFF2-40B4-BE49-F238E27FC236}">
                <a16:creationId xmlns:a16="http://schemas.microsoft.com/office/drawing/2014/main" id="{420F4A24-C4A0-7481-631F-F979E20E429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100392" y="1767553"/>
            <a:ext cx="432048" cy="437310"/>
          </a:xfrm>
          <a:prstGeom prst="rect">
            <a:avLst/>
          </a:prstGeom>
        </p:spPr>
      </p:pic>
      <p:pic>
        <p:nvPicPr>
          <p:cNvPr id="36" name="圖形 35" descr="火箭 以實心填滿">
            <a:extLst>
              <a:ext uri="{FF2B5EF4-FFF2-40B4-BE49-F238E27FC236}">
                <a16:creationId xmlns:a16="http://schemas.microsoft.com/office/drawing/2014/main" id="{6F139867-337F-D82D-3EDB-17ACEAD4C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951680" y="1212288"/>
            <a:ext cx="432049" cy="412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173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B0B116-CCAD-8F24-3B05-0C6DFC371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矩形 72">
            <a:extLst>
              <a:ext uri="{FF2B5EF4-FFF2-40B4-BE49-F238E27FC236}">
                <a16:creationId xmlns:a16="http://schemas.microsoft.com/office/drawing/2014/main" id="{F81FE75E-9127-9681-590D-9061B2910228}"/>
              </a:ext>
            </a:extLst>
          </p:cNvPr>
          <p:cNvSpPr/>
          <p:nvPr/>
        </p:nvSpPr>
        <p:spPr>
          <a:xfrm>
            <a:off x="6012161" y="3387544"/>
            <a:ext cx="1871696" cy="549568"/>
          </a:xfrm>
          <a:prstGeom prst="rect">
            <a:avLst/>
          </a:prstGeom>
          <a:noFill/>
          <a:ln w="19050">
            <a:solidFill>
              <a:schemeClr val="accent5">
                <a:lumMod val="75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endParaRPr lang="en-US" altLang="zh-TW" sz="1600" b="1" baseline="-25000" dirty="0">
              <a:solidFill>
                <a:schemeClr val="tx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14DA1361-4D8B-4FCC-584F-629F1294A318}"/>
              </a:ext>
            </a:extLst>
          </p:cNvPr>
          <p:cNvSpPr txBox="1"/>
          <p:nvPr/>
        </p:nvSpPr>
        <p:spPr>
          <a:xfrm>
            <a:off x="214908" y="980728"/>
            <a:ext cx="5466488" cy="2246769"/>
          </a:xfrm>
          <a:prstGeom prst="rect">
            <a:avLst/>
          </a:prstGeom>
          <a:solidFill>
            <a:schemeClr val="bg1">
              <a:alpha val="8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128K tokens.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Vision-Language</a:t>
            </a:r>
            <a:r>
              <a:rPr lang="en-US" altLang="zh-TW" sz="1600" dirty="0"/>
              <a:t>: Multi-Modal for text and vision input.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Multilingual </a:t>
            </a:r>
            <a:r>
              <a:rPr lang="en-US" altLang="zh-TW" sz="1600" dirty="0"/>
              <a:t>: Default support 35 languages, and 140+.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Single Chip</a:t>
            </a:r>
            <a:r>
              <a:rPr lang="en-US" altLang="zh-TW" sz="1600" dirty="0"/>
              <a:t>: Inference by only one GPU or TPU.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Quantization</a:t>
            </a:r>
            <a:r>
              <a:rPr lang="en-US" altLang="zh-TW" sz="1600" dirty="0"/>
              <a:t>: Q4 and FP16.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99ED30C9-7FBC-5372-F2D1-F80EA7C8657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5697390"/>
              </p:ext>
            </p:extLst>
          </p:nvPr>
        </p:nvGraphicFramePr>
        <p:xfrm>
          <a:off x="351199" y="4521818"/>
          <a:ext cx="8225578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276585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File Size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Memory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GPU VRAM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Hardware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Platform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0.2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 0.6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Cell phone, Raspberry, Wearables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2.6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3.5 ~ 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Tablet, Notebook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 ~ 10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 ~ 28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Notebook 16G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27B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15.1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18 ~ 20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60 ~ 64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PC RTX 3090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8" name="標題 1">
            <a:extLst>
              <a:ext uri="{FF2B5EF4-FFF2-40B4-BE49-F238E27FC236}">
                <a16:creationId xmlns:a16="http://schemas.microsoft.com/office/drawing/2014/main" id="{3C9AD4A7-CE39-6D13-9A34-F4154B36620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3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Light, Fast, Multi-modal, and Multi-lingual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矩形: 圓角 2">
            <a:extLst>
              <a:ext uri="{FF2B5EF4-FFF2-40B4-BE49-F238E27FC236}">
                <a16:creationId xmlns:a16="http://schemas.microsoft.com/office/drawing/2014/main" id="{9F0C5F1F-8BA5-7023-CB2C-07E845026D34}"/>
              </a:ext>
            </a:extLst>
          </p:cNvPr>
          <p:cNvSpPr/>
          <p:nvPr/>
        </p:nvSpPr>
        <p:spPr>
          <a:xfrm>
            <a:off x="6221748" y="1412776"/>
            <a:ext cx="1440160" cy="1185341"/>
          </a:xfrm>
          <a:prstGeom prst="roundRect">
            <a:avLst>
              <a:gd name="adj" fmla="val 10053"/>
            </a:avLst>
          </a:prstGeom>
          <a:solidFill>
            <a:srgbClr val="DDDDDD">
              <a:alpha val="4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 sz="100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05B6047-2833-C1AD-81A4-9E94756336FA}"/>
              </a:ext>
            </a:extLst>
          </p:cNvPr>
          <p:cNvSpPr txBox="1"/>
          <p:nvPr/>
        </p:nvSpPr>
        <p:spPr>
          <a:xfrm>
            <a:off x="6365764" y="1571086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Feed</a:t>
            </a:r>
            <a:r>
              <a:rPr lang="zh-TW" altLang="en-US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 </a:t>
            </a: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Forward</a:t>
            </a: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F615B3A5-3FD2-4005-BC2E-69EC29B5B341}"/>
              </a:ext>
            </a:extLst>
          </p:cNvPr>
          <p:cNvSpPr txBox="1"/>
          <p:nvPr/>
        </p:nvSpPr>
        <p:spPr>
          <a:xfrm>
            <a:off x="6365764" y="1940154"/>
            <a:ext cx="1152128" cy="523222"/>
          </a:xfrm>
          <a:prstGeom prst="rect">
            <a:avLst/>
          </a:prstGeom>
          <a:solidFill>
            <a:srgbClr val="FEC203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Masked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Multi-Head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Attention</a:t>
            </a: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8AAD5BE6-CA01-DBC6-1993-208FB9ACBD36}"/>
              </a:ext>
            </a:extLst>
          </p:cNvPr>
          <p:cNvSpPr txBox="1"/>
          <p:nvPr/>
        </p:nvSpPr>
        <p:spPr>
          <a:xfrm>
            <a:off x="6507429" y="2708920"/>
            <a:ext cx="872480" cy="360040"/>
          </a:xfrm>
          <a:prstGeom prst="rect">
            <a:avLst/>
          </a:prstGeom>
          <a:solidFill>
            <a:srgbClr val="FDE7DA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000" b="1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TE + PE</a:t>
            </a:r>
            <a:endParaRPr lang="en-US" altLang="zh-TW" sz="1000" b="1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271A4FAC-3FA4-7F32-0DE0-90701BE854FB}"/>
              </a:ext>
            </a:extLst>
          </p:cNvPr>
          <p:cNvSpPr txBox="1"/>
          <p:nvPr/>
        </p:nvSpPr>
        <p:spPr>
          <a:xfrm>
            <a:off x="6507429" y="4398530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(Next Token)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5BE8163C-E658-EC9A-A3D6-4483843DC234}"/>
              </a:ext>
            </a:extLst>
          </p:cNvPr>
          <p:cNvSpPr txBox="1"/>
          <p:nvPr/>
        </p:nvSpPr>
        <p:spPr>
          <a:xfrm>
            <a:off x="6365764" y="980713"/>
            <a:ext cx="1152128" cy="225052"/>
          </a:xfrm>
          <a:prstGeom prst="rect">
            <a:avLst/>
          </a:prstGeom>
          <a:solidFill>
            <a:srgbClr val="B7C9E7">
              <a:alpha val="60000"/>
            </a:srgbClr>
          </a:solidFill>
          <a:ln w="15875">
            <a:solidFill>
              <a:schemeClr val="bg1">
                <a:lumMod val="65000"/>
              </a:schemeClr>
            </a:solidFill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Linear</a:t>
            </a: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9EA56A65-2A30-6FE7-1987-749C004F9F0B}"/>
              </a:ext>
            </a:extLst>
          </p:cNvPr>
          <p:cNvSpPr txBox="1"/>
          <p:nvPr/>
        </p:nvSpPr>
        <p:spPr>
          <a:xfrm>
            <a:off x="6365764" y="476672"/>
            <a:ext cx="1152128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Output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Probabilities</a:t>
            </a:r>
          </a:p>
        </p:txBody>
      </p:sp>
      <p:cxnSp>
        <p:nvCxnSpPr>
          <p:cNvPr id="18" name="直線單箭頭接點 17">
            <a:extLst>
              <a:ext uri="{FF2B5EF4-FFF2-40B4-BE49-F238E27FC236}">
                <a16:creationId xmlns:a16="http://schemas.microsoft.com/office/drawing/2014/main" id="{B82F44C6-607E-773F-9287-A4B04BF4B85F}"/>
              </a:ext>
            </a:extLst>
          </p:cNvPr>
          <p:cNvCxnSpPr>
            <a:cxnSpLocks/>
            <a:stCxn id="14" idx="0"/>
            <a:endCxn id="17" idx="2"/>
          </p:cNvCxnSpPr>
          <p:nvPr/>
        </p:nvCxnSpPr>
        <p:spPr>
          <a:xfrm flipV="1">
            <a:off x="6941828" y="836712"/>
            <a:ext cx="0" cy="14400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線單箭頭接點 19">
            <a:extLst>
              <a:ext uri="{FF2B5EF4-FFF2-40B4-BE49-F238E27FC236}">
                <a16:creationId xmlns:a16="http://schemas.microsoft.com/office/drawing/2014/main" id="{A5ADA3C9-51C2-3237-133D-BBEFBF739687}"/>
              </a:ext>
            </a:extLst>
          </p:cNvPr>
          <p:cNvCxnSpPr>
            <a:cxnSpLocks/>
            <a:stCxn id="7" idx="0"/>
            <a:endCxn id="14" idx="2"/>
          </p:cNvCxnSpPr>
          <p:nvPr/>
        </p:nvCxnSpPr>
        <p:spPr>
          <a:xfrm flipV="1">
            <a:off x="6941828" y="1205765"/>
            <a:ext cx="0" cy="365321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3">
            <a:extLst>
              <a:ext uri="{FF2B5EF4-FFF2-40B4-BE49-F238E27FC236}">
                <a16:creationId xmlns:a16="http://schemas.microsoft.com/office/drawing/2014/main" id="{1DBA7485-E4D3-633A-C8FD-B13CD069630A}"/>
              </a:ext>
            </a:extLst>
          </p:cNvPr>
          <p:cNvCxnSpPr>
            <a:cxnSpLocks/>
            <a:stCxn id="11" idx="0"/>
            <a:endCxn id="10" idx="2"/>
          </p:cNvCxnSpPr>
          <p:nvPr/>
        </p:nvCxnSpPr>
        <p:spPr>
          <a:xfrm flipH="1" flipV="1">
            <a:off x="6941828" y="2463376"/>
            <a:ext cx="1841" cy="245544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27">
            <a:extLst>
              <a:ext uri="{FF2B5EF4-FFF2-40B4-BE49-F238E27FC236}">
                <a16:creationId xmlns:a16="http://schemas.microsoft.com/office/drawing/2014/main" id="{2B0520ED-01AE-68FB-5B5E-0DAE72BFC9B6}"/>
              </a:ext>
            </a:extLst>
          </p:cNvPr>
          <p:cNvCxnSpPr>
            <a:cxnSpLocks/>
            <a:stCxn id="10" idx="0"/>
            <a:endCxn id="7" idx="2"/>
          </p:cNvCxnSpPr>
          <p:nvPr/>
        </p:nvCxnSpPr>
        <p:spPr>
          <a:xfrm flipV="1">
            <a:off x="6941828" y="1796138"/>
            <a:ext cx="0" cy="14401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AD612F0A-91C3-056E-BCE2-B3E95520AE28}"/>
              </a:ext>
            </a:extLst>
          </p:cNvPr>
          <p:cNvSpPr txBox="1"/>
          <p:nvPr/>
        </p:nvSpPr>
        <p:spPr>
          <a:xfrm>
            <a:off x="5508104" y="4398530"/>
            <a:ext cx="872480" cy="360040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Input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(User)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cxnSp>
        <p:nvCxnSpPr>
          <p:cNvPr id="31" name="接點: 肘形 30">
            <a:extLst>
              <a:ext uri="{FF2B5EF4-FFF2-40B4-BE49-F238E27FC236}">
                <a16:creationId xmlns:a16="http://schemas.microsoft.com/office/drawing/2014/main" id="{88FCB6D8-BB47-90D6-7438-7C3CA5BB1ABB}"/>
              </a:ext>
            </a:extLst>
          </p:cNvPr>
          <p:cNvCxnSpPr>
            <a:cxnSpLocks/>
            <a:stCxn id="17" idx="3"/>
            <a:endCxn id="11" idx="3"/>
          </p:cNvCxnSpPr>
          <p:nvPr/>
        </p:nvCxnSpPr>
        <p:spPr>
          <a:xfrm flipH="1">
            <a:off x="7379909" y="656692"/>
            <a:ext cx="137983" cy="2232248"/>
          </a:xfrm>
          <a:prstGeom prst="bentConnector3">
            <a:avLst>
              <a:gd name="adj1" fmla="val -165673"/>
            </a:avLst>
          </a:prstGeom>
          <a:ln w="19050">
            <a:solidFill>
              <a:srgbClr val="9E7800"/>
            </a:solidFill>
            <a:prstDash val="solid"/>
            <a:headEnd type="none" w="sm" len="sm"/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D45BD80B-F195-173E-C31C-1D8057144F3F}"/>
              </a:ext>
            </a:extLst>
          </p:cNvPr>
          <p:cNvSpPr txBox="1"/>
          <p:nvPr/>
        </p:nvSpPr>
        <p:spPr>
          <a:xfrm>
            <a:off x="6056570" y="2152607"/>
            <a:ext cx="294468" cy="205036"/>
          </a:xfrm>
          <a:prstGeom prst="rect">
            <a:avLst/>
          </a:prstGeom>
          <a:noFill/>
          <a:ln w="15875">
            <a:noFill/>
          </a:ln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100" b="1" u="none" strike="noStrike" dirty="0">
                <a:effectLst/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N </a:t>
            </a:r>
            <a:r>
              <a:rPr lang="en-US" altLang="zh-TW" sz="1000" dirty="0">
                <a:latin typeface="Gadugi" panose="020B0502040204020203" pitchFamily="34" charset="0"/>
                <a:ea typeface="Gadugi" panose="020B0502040204020203" pitchFamily="34" charset="0"/>
                <a:cs typeface="ADLaM Display" panose="02010000000000000000" pitchFamily="2" charset="0"/>
              </a:rPr>
              <a:t>x</a:t>
            </a:r>
            <a:endParaRPr lang="en-US" altLang="zh-TW" sz="1000" u="none" strike="noStrike" dirty="0">
              <a:effectLst/>
              <a:latin typeface="Gadugi" panose="020B0502040204020203" pitchFamily="34" charset="0"/>
              <a:ea typeface="Gadugi" panose="020B0502040204020203" pitchFamily="34" charset="0"/>
              <a:cs typeface="ADLaM Display" panose="02010000000000000000" pitchFamily="2" charset="0"/>
            </a:endParaRPr>
          </a:p>
        </p:txBody>
      </p:sp>
      <p:sp>
        <p:nvSpPr>
          <p:cNvPr id="66" name="矩形 65">
            <a:extLst>
              <a:ext uri="{FF2B5EF4-FFF2-40B4-BE49-F238E27FC236}">
                <a16:creationId xmlns:a16="http://schemas.microsoft.com/office/drawing/2014/main" id="{19526939-E9C0-4A2C-0511-0D5DE4384B47}"/>
              </a:ext>
            </a:extLst>
          </p:cNvPr>
          <p:cNvSpPr/>
          <p:nvPr/>
        </p:nvSpPr>
        <p:spPr>
          <a:xfrm>
            <a:off x="6084168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Text</a:t>
            </a:r>
          </a:p>
        </p:txBody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A1305DF5-9242-38FA-74E0-8B4262602807}"/>
              </a:ext>
            </a:extLst>
          </p:cNvPr>
          <p:cNvSpPr/>
          <p:nvPr/>
        </p:nvSpPr>
        <p:spPr>
          <a:xfrm>
            <a:off x="6689800" y="3592824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Image</a:t>
            </a:r>
          </a:p>
        </p:txBody>
      </p:sp>
      <p:sp>
        <p:nvSpPr>
          <p:cNvPr id="68" name="矩形 67">
            <a:extLst>
              <a:ext uri="{FF2B5EF4-FFF2-40B4-BE49-F238E27FC236}">
                <a16:creationId xmlns:a16="http://schemas.microsoft.com/office/drawing/2014/main" id="{357C1A51-F19F-0863-D7B0-2DC91CF29B6B}"/>
              </a:ext>
            </a:extLst>
          </p:cNvPr>
          <p:cNvSpPr/>
          <p:nvPr/>
        </p:nvSpPr>
        <p:spPr>
          <a:xfrm>
            <a:off x="7291750" y="3578347"/>
            <a:ext cx="504056" cy="268224"/>
          </a:xfrm>
          <a:prstGeom prst="rect">
            <a:avLst/>
          </a:prstGeom>
          <a:solidFill>
            <a:schemeClr val="bg1">
              <a:alpha val="90000"/>
            </a:schemeClr>
          </a:solidFill>
          <a:ln w="38100">
            <a:solidFill>
              <a:schemeClr val="accent5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400" b="1" baseline="-25000" dirty="0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Audio</a:t>
            </a: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0E72048D-2524-1E61-5076-ED59FF0E3E44}"/>
              </a:ext>
            </a:extLst>
          </p:cNvPr>
          <p:cNvSpPr/>
          <p:nvPr/>
        </p:nvSpPr>
        <p:spPr>
          <a:xfrm>
            <a:off x="6689800" y="3264256"/>
            <a:ext cx="504056" cy="26491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altLang="zh-TW" sz="1400" dirty="0">
                <a:solidFill>
                  <a:schemeClr val="tx1"/>
                </a:solidFill>
              </a:rPr>
              <a:t>SigLIP</a:t>
            </a:r>
            <a:endParaRPr lang="zh-TW" altLang="en-US" sz="1400" dirty="0">
              <a:solidFill>
                <a:schemeClr val="tx1"/>
              </a:solidFill>
            </a:endParaRPr>
          </a:p>
        </p:txBody>
      </p:sp>
      <p:cxnSp>
        <p:nvCxnSpPr>
          <p:cNvPr id="70" name="直線單箭頭接點 69">
            <a:extLst>
              <a:ext uri="{FF2B5EF4-FFF2-40B4-BE49-F238E27FC236}">
                <a16:creationId xmlns:a16="http://schemas.microsoft.com/office/drawing/2014/main" id="{B7100B46-3DD7-60AF-91CE-0B46B2EC6D09}"/>
              </a:ext>
            </a:extLst>
          </p:cNvPr>
          <p:cNvCxnSpPr>
            <a:cxnSpLocks/>
            <a:stCxn id="69" idx="0"/>
            <a:endCxn id="11" idx="2"/>
          </p:cNvCxnSpPr>
          <p:nvPr/>
        </p:nvCxnSpPr>
        <p:spPr>
          <a:xfrm flipV="1">
            <a:off x="6941828" y="3068960"/>
            <a:ext cx="1841" cy="195296"/>
          </a:xfrm>
          <a:prstGeom prst="straightConnector1">
            <a:avLst/>
          </a:prstGeom>
          <a:ln w="19050">
            <a:solidFill>
              <a:schemeClr val="tx1"/>
            </a:solidFill>
            <a:tailEnd type="triangl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右中括弧 1">
            <a:extLst>
              <a:ext uri="{FF2B5EF4-FFF2-40B4-BE49-F238E27FC236}">
                <a16:creationId xmlns:a16="http://schemas.microsoft.com/office/drawing/2014/main" id="{7F2CD794-D235-521D-97A5-56398293D55C}"/>
              </a:ext>
            </a:extLst>
          </p:cNvPr>
          <p:cNvSpPr/>
          <p:nvPr/>
        </p:nvSpPr>
        <p:spPr>
          <a:xfrm>
            <a:off x="7956376" y="3429000"/>
            <a:ext cx="45719" cy="46032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D2697D1-2609-B729-0E6A-3C9C323849AD}"/>
              </a:ext>
            </a:extLst>
          </p:cNvPr>
          <p:cNvSpPr txBox="1"/>
          <p:nvPr/>
        </p:nvSpPr>
        <p:spPr>
          <a:xfrm>
            <a:off x="8100392" y="3529169"/>
            <a:ext cx="577798" cy="216024"/>
          </a:xfrm>
          <a:prstGeom prst="rect">
            <a:avLst/>
          </a:prstGeom>
          <a:noFill/>
        </p:spPr>
        <p:txBody>
          <a:bodyPr wrap="none" lIns="0" tIns="0" rIns="0" bIns="0" rtlCol="0" anchor="ctr" anchorCtr="1">
            <a:noAutofit/>
          </a:bodyPr>
          <a:lstStyle/>
          <a:p>
            <a:pPr algn="ctr"/>
            <a:r>
              <a:rPr lang="en-US" altLang="zh-TW" sz="1200" dirty="0"/>
              <a:t>Encoder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5464001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18D97-612A-D280-211E-AB193E653C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8DEE41D5-A80F-7EBF-F31B-6B31BBBD445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Supervised Fine-Tuning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Fast …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Optimizes base model parameters via self-supervised learning.</a:t>
            </a: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F96995FE-97C3-6F08-57D9-74404BECD9A4}"/>
              </a:ext>
            </a:extLst>
          </p:cNvPr>
          <p:cNvSpPr txBox="1"/>
          <p:nvPr/>
        </p:nvSpPr>
        <p:spPr>
          <a:xfrm>
            <a:off x="213023" y="980728"/>
            <a:ext cx="8568952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Parameter Efficient Fine Tunning (PEFT)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LoRA</a:t>
            </a:r>
            <a:r>
              <a:rPr lang="en-US" altLang="zh-TW" sz="1600" b="0" u="none" strike="noStrike" dirty="0">
                <a:effectLst/>
              </a:rPr>
              <a:t>: The fuel for ML, consisting of Features (inputs) and Labels (correct answers).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 err="1">
                <a:effectLst/>
              </a:rPr>
              <a:t>QLoRA</a:t>
            </a:r>
            <a:r>
              <a:rPr lang="en-US" altLang="zh-TW" sz="1600" b="0" u="none" strike="noStrike" dirty="0">
                <a:effectLst/>
              </a:rPr>
              <a:t>: An optimized mathematical formula capable of making decisions.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Adapter Tuning:</a:t>
            </a:r>
            <a:r>
              <a:rPr lang="en-US" altLang="zh-TW" sz="1600" dirty="0"/>
              <a:t> Learning tool (e.g., like loss function and optimizer).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Prompt Tuning:</a:t>
            </a:r>
            <a:r>
              <a:rPr lang="en-US" altLang="zh-TW" sz="1600" dirty="0"/>
              <a:t> Learning tool (e.g., like loss function and optimizer).</a:t>
            </a: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9A9EF1A9-2994-2037-52D0-3B7B603D72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594157"/>
              </p:ext>
            </p:extLst>
          </p:nvPr>
        </p:nvGraphicFramePr>
        <p:xfrm>
          <a:off x="166935" y="3429000"/>
          <a:ext cx="2866653" cy="17510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41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2057241">
                  <a:extLst>
                    <a:ext uri="{9D8B030D-6E8A-4147-A177-3AD203B41FA5}">
                      <a16:colId xmlns:a16="http://schemas.microsoft.com/office/drawing/2014/main" val="2539720991"/>
                    </a:ext>
                  </a:extLst>
                </a:gridCol>
              </a:tblGrid>
              <a:tr h="196486">
                <a:tc gridSpan="2">
                  <a:txBody>
                    <a:bodyPr/>
                    <a:lstStyle/>
                    <a:p>
                      <a:pPr algn="l"/>
                      <a:r>
                        <a:rPr kumimoji="0" lang="en-US" altLang="zh-TW" sz="1200" b="1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 Adjust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37252825"/>
                  </a:ext>
                </a:extLst>
              </a:tr>
              <a:tr h="196486">
                <a:tc>
                  <a:txBody>
                    <a:bodyPr/>
                    <a:lstStyle/>
                    <a:p>
                      <a:pPr algn="l"/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Full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30408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PEFT</a:t>
                      </a:r>
                      <a:r>
                        <a:rPr kumimoji="0" lang="zh-TW" altLang="en-US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QLoRA</a:t>
                      </a: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5658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 err="1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DoRA</a:t>
                      </a:r>
                      <a:endParaRPr kumimoji="0" lang="en-US" altLang="zh-TW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3041651"/>
                  </a:ext>
                </a:extLst>
              </a:tr>
              <a:tr h="260816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Prefix Tuning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897546"/>
                  </a:ext>
                </a:extLst>
              </a:tr>
              <a:tr h="130408">
                <a:tc vMerge="1">
                  <a:txBody>
                    <a:bodyPr/>
                    <a:lstStyle/>
                    <a:p>
                      <a:endParaRPr lang="zh-TW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Prompt Tuning,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434728"/>
                  </a:ext>
                </a:extLst>
              </a:tr>
              <a:tr h="5867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Preference Alignment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ORPO, 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9072172"/>
                  </a:ext>
                </a:extLst>
              </a:tr>
              <a:tr h="177017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alpha val="2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1695270"/>
                  </a:ext>
                </a:extLst>
              </a:tr>
            </a:tbl>
          </a:graphicData>
        </a:graphic>
      </p:graphicFrame>
      <p:sp>
        <p:nvSpPr>
          <p:cNvPr id="4" name="文字方塊 3">
            <a:extLst>
              <a:ext uri="{FF2B5EF4-FFF2-40B4-BE49-F238E27FC236}">
                <a16:creationId xmlns:a16="http://schemas.microsoft.com/office/drawing/2014/main" id="{3C07F0B0-AB65-462E-40F1-001FD403F3DD}"/>
              </a:ext>
            </a:extLst>
          </p:cNvPr>
          <p:cNvSpPr txBox="1"/>
          <p:nvPr/>
        </p:nvSpPr>
        <p:spPr>
          <a:xfrm>
            <a:off x="4716016" y="4077072"/>
            <a:ext cx="20441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dirty="0"/>
              <a:t>1.</a:t>
            </a:r>
            <a:r>
              <a:rPr lang="zh-TW" altLang="en-US" dirty="0"/>
              <a:t> 主流技術</a:t>
            </a:r>
            <a:r>
              <a:rPr lang="en-US" altLang="zh-TW" dirty="0"/>
              <a:t>PEFT</a:t>
            </a:r>
            <a:br>
              <a:rPr lang="en-US" altLang="zh-TW" dirty="0"/>
            </a:br>
            <a:r>
              <a:rPr lang="en-US" altLang="zh-TW" dirty="0"/>
              <a:t>2.</a:t>
            </a:r>
            <a:r>
              <a:rPr lang="zh-TW" altLang="en-US" dirty="0"/>
              <a:t> 僅針對</a:t>
            </a:r>
            <a:r>
              <a:rPr lang="en-US" altLang="zh-TW" dirty="0" err="1"/>
              <a:t>LoRA</a:t>
            </a:r>
            <a:r>
              <a:rPr lang="zh-TW" altLang="en-US" dirty="0"/>
              <a:t>解說</a:t>
            </a:r>
          </a:p>
        </p:txBody>
      </p:sp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8551EB79-99C8-CA75-9C05-D5ABDF089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3123077"/>
              </p:ext>
            </p:extLst>
          </p:nvPr>
        </p:nvGraphicFramePr>
        <p:xfrm>
          <a:off x="3923928" y="4837127"/>
          <a:ext cx="3456384" cy="11270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106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057580889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337991183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160511082"/>
                    </a:ext>
                  </a:extLst>
                </a:gridCol>
                <a:gridCol w="546329">
                  <a:extLst>
                    <a:ext uri="{9D8B030D-6E8A-4147-A177-3AD203B41FA5}">
                      <a16:colId xmlns:a16="http://schemas.microsoft.com/office/drawing/2014/main" val="910252365"/>
                    </a:ext>
                  </a:extLst>
                </a:gridCol>
              </a:tblGrid>
              <a:tr h="212621">
                <a:tc>
                  <a:txBody>
                    <a:bodyPr/>
                    <a:lstStyle/>
                    <a:p>
                      <a:pPr algn="l"/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SFT</a:t>
                      </a: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LoRA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Parameters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99%</a:t>
                      </a: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0" i="0" u="none" strike="noStrike" kern="1200" cap="none" spc="0" normalizeH="0" baseline="-2500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0.9%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0.1%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7912659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Memory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2430528"/>
                  </a:ext>
                </a:extLst>
              </a:tr>
              <a:tr h="16394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0" i="0" u="none" strike="noStrike" kern="1200" cap="none" spc="0" normalizeH="0" baseline="0" noProof="0" dirty="0">
                          <a:ln w="0"/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Cost</a:t>
                      </a: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zh-TW" altLang="en-US" sz="1200" b="0" i="0" u="none" strike="noStrike" kern="1200" cap="none" spc="0" normalizeH="0" baseline="0" noProof="0" dirty="0">
                        <a:ln w="0"/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3600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956582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69306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E6E43-CC03-2DCD-18D3-87ED0D04D0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圖片 5">
            <a:extLst>
              <a:ext uri="{FF2B5EF4-FFF2-40B4-BE49-F238E27FC236}">
                <a16:creationId xmlns:a16="http://schemas.microsoft.com/office/drawing/2014/main" id="{5B447E22-5A1E-EF0E-F809-322E50BF5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1845" y="1124744"/>
            <a:ext cx="2367698" cy="1299459"/>
          </a:xfrm>
          <a:prstGeom prst="rect">
            <a:avLst/>
          </a:prstGeom>
          <a:effectLst>
            <a:glow rad="63500">
              <a:schemeClr val="accent1">
                <a:satMod val="175000"/>
                <a:alpha val="40000"/>
              </a:schemeClr>
            </a:glow>
          </a:effectLst>
        </p:spPr>
      </p:pic>
      <p:sp>
        <p:nvSpPr>
          <p:cNvPr id="7" name="標題 1">
            <a:extLst>
              <a:ext uri="{FF2B5EF4-FFF2-40B4-BE49-F238E27FC236}">
                <a16:creationId xmlns:a16="http://schemas.microsoft.com/office/drawing/2014/main" id="{ACF18A52-8D6D-846D-45B8-1A03D18B2B5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Basic Model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Establish a model to predict unknown outcomes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71AEB47B-29BC-2902-23BF-A4AE3E97C795}"/>
              </a:ext>
            </a:extLst>
          </p:cNvPr>
          <p:cNvSpPr txBox="1"/>
          <p:nvPr/>
        </p:nvSpPr>
        <p:spPr>
          <a:xfrm>
            <a:off x="7848364" y="44624"/>
            <a:ext cx="1214435" cy="4555093"/>
          </a:xfrm>
          <a:prstGeom prst="rect">
            <a:avLst/>
          </a:prstGeom>
          <a:noFill/>
        </p:spPr>
        <p:txBody>
          <a:bodyPr wrap="none" lIns="91440" tIns="91440" rIns="0" bIns="0">
            <a:spAutoFit/>
          </a:bodyPr>
          <a:lstStyle/>
          <a:p>
            <a:pPr defTabSz="1546225"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u="none" strike="noStrike" dirty="0">
                <a:solidFill>
                  <a:schemeClr val="bg1">
                    <a:lumMod val="65000"/>
                  </a:schemeClr>
                </a:solidFill>
                <a:effectLst/>
              </a:rPr>
              <a:t> Overview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 marL="111125" lvl="3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en-US" sz="1000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ML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Training Stages</a:t>
            </a:r>
            <a:endParaRPr lang="en-US" altLang="zh-TW" sz="1000" u="none" strike="noStrike" dirty="0">
              <a:solidFill>
                <a:schemeClr val="bg1">
                  <a:lumMod val="65000"/>
                </a:schemeClr>
              </a:solidFill>
              <a:effectLst/>
            </a:endParaRP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Transformer</a:t>
            </a:r>
            <a:endParaRPr lang="en-US" altLang="zh-TW" sz="1000" dirty="0">
              <a:solidFill>
                <a:schemeClr val="bg1">
                  <a:lumMod val="65000"/>
                </a:schemeClr>
              </a:solidFill>
            </a:endParaRP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Program Flow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Self-Attention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FFNN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Token Embedding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Rotary of PE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GPT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Pre-Training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rgbClr val="FF0000"/>
                </a:solidFill>
                <a:latin typeface="Calibri"/>
                <a:ea typeface="新細明體" panose="02020500000000000000" pitchFamily="18" charset="-120"/>
              </a:rPr>
              <a:t> Basic Model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  <a:latin typeface="Calibri"/>
                <a:ea typeface="新細明體" panose="02020500000000000000" pitchFamily="18" charset="-120"/>
              </a:rPr>
              <a:t> Backpropagation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Inference </a:t>
            </a:r>
          </a:p>
          <a:p>
            <a:pPr marL="111125" marR="0" lvl="2" algn="l" defTabSz="914400" rtl="0" eaLnBrk="1" fontAlgn="auto" latinLnBrk="0" hangingPunct="1">
              <a:lnSpc>
                <a:spcPts val="1200"/>
              </a:lnSpc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kumimoji="0" lang="en-US" altLang="zh-TW" sz="1000" b="0" i="0" u="none" strike="noStrike" kern="1200" cap="none" spc="0" normalizeH="0" baseline="0" noProof="0" dirty="0">
                <a:ln>
                  <a:noFill/>
                </a:ln>
                <a:solidFill>
                  <a:schemeClr val="bg1">
                    <a:lumMod val="65000"/>
                  </a:scheme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Training Cluster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AI Runtime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MCP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RAG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LLM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Trend Analysis 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3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Supervised FT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LoRA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Gemma 4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PLE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Comparison</a:t>
            </a:r>
          </a:p>
          <a:p>
            <a:pPr>
              <a:lnSpc>
                <a:spcPts val="1200"/>
              </a:lnSpc>
              <a:buFont typeface="Wingdings" panose="05000000000000000000" pitchFamily="2" charset="2"/>
              <a:buChar char="Ø"/>
            </a:pPr>
            <a:r>
              <a:rPr lang="en-US" altLang="zh-TW" sz="1000" b="1" dirty="0">
                <a:solidFill>
                  <a:schemeClr val="bg1">
                    <a:lumMod val="65000"/>
                  </a:schemeClr>
                </a:solidFill>
              </a:rPr>
              <a:t> Conclusion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Frameworks </a:t>
            </a:r>
          </a:p>
          <a:p>
            <a:pPr marL="111125" lvl="2">
              <a:lnSpc>
                <a:spcPts val="1200"/>
              </a:lnSpc>
              <a:buFont typeface="Arial" panose="020B0604020202020204" pitchFamily="34" charset="0"/>
              <a:buChar char="•"/>
              <a:defRPr/>
            </a:pPr>
            <a:r>
              <a:rPr lang="en-US" altLang="zh-TW" sz="1000" dirty="0">
                <a:solidFill>
                  <a:schemeClr val="bg1">
                    <a:lumMod val="65000"/>
                  </a:schemeClr>
                </a:solidFill>
              </a:rPr>
              <a:t> Practices</a:t>
            </a: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CE4A6892-55CB-4C86-5E95-D9CB630DD7A7}"/>
              </a:ext>
            </a:extLst>
          </p:cNvPr>
          <p:cNvSpPr txBox="1"/>
          <p:nvPr/>
        </p:nvSpPr>
        <p:spPr>
          <a:xfrm>
            <a:off x="1570425" y="5762224"/>
            <a:ext cx="881420" cy="756316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Distillation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Student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Model</a:t>
            </a:r>
            <a:endParaRPr lang="en-US" altLang="zh-TW" sz="1200" u="none" strike="noStrike" dirty="0">
              <a:effectLst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7792581F-C1FE-2FEB-D695-B3EE7FDACE26}"/>
              </a:ext>
            </a:extLst>
          </p:cNvPr>
          <p:cNvSpPr txBox="1"/>
          <p:nvPr/>
        </p:nvSpPr>
        <p:spPr>
          <a:xfrm>
            <a:off x="689005" y="4077072"/>
            <a:ext cx="881420" cy="756316"/>
          </a:xfrm>
          <a:prstGeom prst="rect">
            <a:avLst/>
          </a:prstGeom>
          <a:solidFill>
            <a:schemeClr val="bg1">
              <a:lumMod val="95000"/>
              <a:alpha val="8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effectLst/>
              </a:rPr>
              <a:t>Input</a:t>
            </a:r>
          </a:p>
          <a:p>
            <a:pPr algn="ctr">
              <a:lnSpc>
                <a:spcPts val="1400"/>
              </a:lnSpc>
              <a:buNone/>
            </a:pPr>
            <a:r>
              <a:rPr lang="en-US" altLang="zh-TW" sz="1200" dirty="0"/>
              <a:t>[x0, x1, …, </a:t>
            </a:r>
            <a:r>
              <a:rPr lang="en-US" altLang="zh-TW" sz="1200" dirty="0" err="1"/>
              <a:t>xn</a:t>
            </a:r>
            <a:r>
              <a:rPr lang="en-US" altLang="zh-TW" sz="1200" dirty="0"/>
              <a:t> ]</a:t>
            </a:r>
          </a:p>
        </p:txBody>
      </p:sp>
      <p:graphicFrame>
        <p:nvGraphicFramePr>
          <p:cNvPr id="9" name="表格 8">
            <a:extLst>
              <a:ext uri="{FF2B5EF4-FFF2-40B4-BE49-F238E27FC236}">
                <a16:creationId xmlns:a16="http://schemas.microsoft.com/office/drawing/2014/main" id="{A00EF93E-F122-2C6B-1031-232B6AB9EB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7469407"/>
              </p:ext>
            </p:extLst>
          </p:nvPr>
        </p:nvGraphicFramePr>
        <p:xfrm>
          <a:off x="792471" y="2709358"/>
          <a:ext cx="2437328" cy="10723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0.81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0.19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0.75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0.25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3966311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0.44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0.56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12799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0.08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</a:t>
                      </a:r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0.92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az-Cyrl-AZ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-ꚙ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94868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87DFB4-612C-B0B9-4BE8-45819BE65B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字方塊 8">
            <a:extLst>
              <a:ext uri="{FF2B5EF4-FFF2-40B4-BE49-F238E27FC236}">
                <a16:creationId xmlns:a16="http://schemas.microsoft.com/office/drawing/2014/main" id="{46EDBCD4-7EAC-421B-66FB-3388FFFF2900}"/>
              </a:ext>
            </a:extLst>
          </p:cNvPr>
          <p:cNvSpPr txBox="1"/>
          <p:nvPr/>
        </p:nvSpPr>
        <p:spPr>
          <a:xfrm>
            <a:off x="1691680" y="2611843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8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B7B60AB-5109-7BAE-FA39-45AF0A7FD0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8784976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Low-Rank Adaptation</a:t>
            </a:r>
          </a:p>
          <a:p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LoRA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 freezes the base model, squeezing updates through a narrow parameter bottleneck (r). </a:t>
            </a: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230C510-B223-AB07-63E6-5CA7DC527E06}"/>
              </a:ext>
            </a:extLst>
          </p:cNvPr>
          <p:cNvSpPr txBox="1"/>
          <p:nvPr/>
        </p:nvSpPr>
        <p:spPr>
          <a:xfrm>
            <a:off x="4355977" y="1395501"/>
            <a:ext cx="1368152" cy="1072326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2"/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400" b="1" dirty="0">
              <a:solidFill>
                <a:schemeClr val="accent2"/>
              </a:solidFill>
            </a:endParaRP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E11950E-8F49-2745-2EDD-097C758F04BA}"/>
              </a:ext>
            </a:extLst>
          </p:cNvPr>
          <p:cNvSpPr txBox="1"/>
          <p:nvPr/>
        </p:nvSpPr>
        <p:spPr>
          <a:xfrm>
            <a:off x="4644009" y="2691645"/>
            <a:ext cx="792088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174A7689-58E1-25E4-CAB8-C95092422A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7952975"/>
              </p:ext>
            </p:extLst>
          </p:nvPr>
        </p:nvGraphicFramePr>
        <p:xfrm>
          <a:off x="1770459" y="2899875"/>
          <a:ext cx="54506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72530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...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4F6F6C15-94A2-C0C5-36A9-0DAC9AAC373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0567835"/>
              </p:ext>
            </p:extLst>
          </p:nvPr>
        </p:nvGraphicFramePr>
        <p:xfrm>
          <a:off x="4433457" y="1688729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0" name="文字方塊 9">
            <a:extLst>
              <a:ext uri="{FF2B5EF4-FFF2-40B4-BE49-F238E27FC236}">
                <a16:creationId xmlns:a16="http://schemas.microsoft.com/office/drawing/2014/main" id="{FDAA76A0-7CB4-DA0D-EDD9-6D1BAA982226}"/>
              </a:ext>
            </a:extLst>
          </p:cNvPr>
          <p:cNvSpPr txBox="1"/>
          <p:nvPr/>
        </p:nvSpPr>
        <p:spPr>
          <a:xfrm>
            <a:off x="2940050" y="2827867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dirty="0">
                <a:solidFill>
                  <a:schemeClr val="accent6">
                    <a:lumMod val="75000"/>
                  </a:schemeClr>
                </a:solidFill>
              </a:rPr>
              <a:t>8</a:t>
            </a: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970FEFC2-8AF0-B494-88D8-630F4FEC97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9181518"/>
              </p:ext>
            </p:extLst>
          </p:nvPr>
        </p:nvGraphicFramePr>
        <p:xfrm>
          <a:off x="2562549" y="3121095"/>
          <a:ext cx="1577404" cy="3548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graphicFrame>
        <p:nvGraphicFramePr>
          <p:cNvPr id="12" name="表格 11">
            <a:extLst>
              <a:ext uri="{FF2B5EF4-FFF2-40B4-BE49-F238E27FC236}">
                <a16:creationId xmlns:a16="http://schemas.microsoft.com/office/drawing/2014/main" id="{FDFCECAB-DFF2-9A96-42C1-C1A92C90C6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8050651"/>
              </p:ext>
            </p:extLst>
          </p:nvPr>
        </p:nvGraphicFramePr>
        <p:xfrm>
          <a:off x="4430267" y="2960293"/>
          <a:ext cx="1218664" cy="7148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a23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a33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4934943"/>
                  </a:ext>
                </a:extLst>
              </a:tr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04674903"/>
                  </a:ext>
                </a:extLst>
              </a:tr>
            </a:tbl>
          </a:graphicData>
        </a:graphic>
      </p:graphicFrame>
      <p:sp>
        <p:nvSpPr>
          <p:cNvPr id="13" name="文字方塊 12">
            <a:extLst>
              <a:ext uri="{FF2B5EF4-FFF2-40B4-BE49-F238E27FC236}">
                <a16:creationId xmlns:a16="http://schemas.microsoft.com/office/drawing/2014/main" id="{CA418A53-024F-5256-DFDC-38C367C98546}"/>
              </a:ext>
            </a:extLst>
          </p:cNvPr>
          <p:cNvSpPr txBox="1"/>
          <p:nvPr/>
        </p:nvSpPr>
        <p:spPr>
          <a:xfrm>
            <a:off x="3148812" y="1660300"/>
            <a:ext cx="678086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1 x 100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3345E229-AD34-1F98-A1EE-ED0FCB9682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78535"/>
              </p:ext>
            </p:extLst>
          </p:nvPr>
        </p:nvGraphicFramePr>
        <p:xfrm>
          <a:off x="2855703" y="1960668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x3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5" name="文字方塊 14">
            <a:extLst>
              <a:ext uri="{FF2B5EF4-FFF2-40B4-BE49-F238E27FC236}">
                <a16:creationId xmlns:a16="http://schemas.microsoft.com/office/drawing/2014/main" id="{12B550F6-AAF7-C19A-A92E-CF87D9C54EF1}"/>
              </a:ext>
            </a:extLst>
          </p:cNvPr>
          <p:cNvSpPr txBox="1"/>
          <p:nvPr/>
        </p:nvSpPr>
        <p:spPr>
          <a:xfrm>
            <a:off x="6169043" y="1660300"/>
            <a:ext cx="648072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1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graphicFrame>
        <p:nvGraphicFramePr>
          <p:cNvPr id="16" name="表格 15">
            <a:extLst>
              <a:ext uri="{FF2B5EF4-FFF2-40B4-BE49-F238E27FC236}">
                <a16:creationId xmlns:a16="http://schemas.microsoft.com/office/drawing/2014/main" id="{996B90EC-11CB-52EE-8E93-6793DBEBCC4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9358539"/>
              </p:ext>
            </p:extLst>
          </p:nvPr>
        </p:nvGraphicFramePr>
        <p:xfrm>
          <a:off x="5868145" y="1950969"/>
          <a:ext cx="1218664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a13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17" name="文字方塊 16">
            <a:extLst>
              <a:ext uri="{FF2B5EF4-FFF2-40B4-BE49-F238E27FC236}">
                <a16:creationId xmlns:a16="http://schemas.microsoft.com/office/drawing/2014/main" id="{AC4206E9-412D-FD84-36F9-9F12F7A65F2F}"/>
              </a:ext>
            </a:extLst>
          </p:cNvPr>
          <p:cNvSpPr txBox="1"/>
          <p:nvPr/>
        </p:nvSpPr>
        <p:spPr>
          <a:xfrm>
            <a:off x="4932041" y="242048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+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0" name="文字方塊 19">
            <a:extLst>
              <a:ext uri="{FF2B5EF4-FFF2-40B4-BE49-F238E27FC236}">
                <a16:creationId xmlns:a16="http://schemas.microsoft.com/office/drawing/2014/main" id="{4EEBCB8E-14AD-6B5D-4F80-0544704FC54A}"/>
              </a:ext>
            </a:extLst>
          </p:cNvPr>
          <p:cNvSpPr txBox="1"/>
          <p:nvPr/>
        </p:nvSpPr>
        <p:spPr>
          <a:xfrm>
            <a:off x="4169967" y="190206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7C2A484D-460F-1A04-04CA-5C1908284B6D}"/>
              </a:ext>
            </a:extLst>
          </p:cNvPr>
          <p:cNvSpPr txBox="1"/>
          <p:nvPr/>
        </p:nvSpPr>
        <p:spPr>
          <a:xfrm>
            <a:off x="5648931" y="1902063"/>
            <a:ext cx="219214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2" name="文字方塊 21">
            <a:extLst>
              <a:ext uri="{FF2B5EF4-FFF2-40B4-BE49-F238E27FC236}">
                <a16:creationId xmlns:a16="http://schemas.microsoft.com/office/drawing/2014/main" id="{B37AEACB-00C0-87CF-71EE-829E83706821}"/>
              </a:ext>
            </a:extLst>
          </p:cNvPr>
          <p:cNvSpPr txBox="1"/>
          <p:nvPr/>
        </p:nvSpPr>
        <p:spPr>
          <a:xfrm>
            <a:off x="2361482" y="316683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3" name="文字方塊 22">
            <a:extLst>
              <a:ext uri="{FF2B5EF4-FFF2-40B4-BE49-F238E27FC236}">
                <a16:creationId xmlns:a16="http://schemas.microsoft.com/office/drawing/2014/main" id="{493FF47D-66F2-8021-8537-0B49581A514D}"/>
              </a:ext>
            </a:extLst>
          </p:cNvPr>
          <p:cNvSpPr txBox="1"/>
          <p:nvPr/>
        </p:nvSpPr>
        <p:spPr>
          <a:xfrm>
            <a:off x="4169967" y="3200239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=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sp>
        <p:nvSpPr>
          <p:cNvPr id="24" name="文字方塊 23">
            <a:extLst>
              <a:ext uri="{FF2B5EF4-FFF2-40B4-BE49-F238E27FC236}">
                <a16:creationId xmlns:a16="http://schemas.microsoft.com/office/drawing/2014/main" id="{166C89C2-E685-02E9-C209-61874A3350C9}"/>
              </a:ext>
            </a:extLst>
          </p:cNvPr>
          <p:cNvSpPr txBox="1"/>
          <p:nvPr/>
        </p:nvSpPr>
        <p:spPr>
          <a:xfrm>
            <a:off x="1715914" y="5211925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100 x 1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5" name="表格 24">
            <a:extLst>
              <a:ext uri="{FF2B5EF4-FFF2-40B4-BE49-F238E27FC236}">
                <a16:creationId xmlns:a16="http://schemas.microsoft.com/office/drawing/2014/main" id="{3A408C77-9AA7-C9E5-0EEA-D090525596A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683307"/>
              </p:ext>
            </p:extLst>
          </p:nvPr>
        </p:nvGraphicFramePr>
        <p:xfrm>
          <a:off x="1932110" y="5517232"/>
          <a:ext cx="272530" cy="8640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530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</a:tblGrid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b21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487370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2413032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59252951"/>
                  </a:ext>
                </a:extLst>
              </a:tr>
            </a:tbl>
          </a:graphicData>
        </a:graphic>
      </p:graphicFrame>
      <p:sp>
        <p:nvSpPr>
          <p:cNvPr id="26" name="文字方塊 25">
            <a:extLst>
              <a:ext uri="{FF2B5EF4-FFF2-40B4-BE49-F238E27FC236}">
                <a16:creationId xmlns:a16="http://schemas.microsoft.com/office/drawing/2014/main" id="{46547153-3887-39D1-68AC-E63C5A9D08BB}"/>
              </a:ext>
            </a:extLst>
          </p:cNvPr>
          <p:cNvSpPr txBox="1"/>
          <p:nvPr/>
        </p:nvSpPr>
        <p:spPr>
          <a:xfrm>
            <a:off x="2940049" y="5488909"/>
            <a:ext cx="695847" cy="288032"/>
          </a:xfrm>
          <a:prstGeom prst="rect">
            <a:avLst/>
          </a:prstGeom>
          <a:noFill/>
          <a:ln w="25400">
            <a:noFill/>
          </a:ln>
        </p:spPr>
        <p:txBody>
          <a:bodyPr wrap="none" lIns="0" tIns="72000" rIns="0" bIns="36000" anchor="t" anchorCtr="1">
            <a:noAutofit/>
          </a:bodyPr>
          <a:lstStyle/>
          <a:p>
            <a:pPr algn="ctr">
              <a:lnSpc>
                <a:spcPts val="1400"/>
              </a:lnSpc>
              <a:buNone/>
            </a:pPr>
            <a:r>
              <a:rPr lang="en-US" altLang="zh-TW" sz="1400" b="1" u="none" strike="noStrike" dirty="0">
                <a:solidFill>
                  <a:schemeClr val="accent6">
                    <a:lumMod val="75000"/>
                  </a:schemeClr>
                </a:solidFill>
                <a:effectLst/>
              </a:rPr>
              <a:t>1 x 200</a:t>
            </a:r>
          </a:p>
          <a:p>
            <a:pPr algn="ctr">
              <a:lnSpc>
                <a:spcPts val="1400"/>
              </a:lnSpc>
              <a:buNone/>
            </a:pPr>
            <a:endParaRPr lang="en-US" altLang="zh-TW" sz="1200" dirty="0"/>
          </a:p>
        </p:txBody>
      </p:sp>
      <p:graphicFrame>
        <p:nvGraphicFramePr>
          <p:cNvPr id="27" name="表格 26">
            <a:extLst>
              <a:ext uri="{FF2B5EF4-FFF2-40B4-BE49-F238E27FC236}">
                <a16:creationId xmlns:a16="http://schemas.microsoft.com/office/drawing/2014/main" id="{D856DEEC-0920-37CD-984E-6387928C9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7588344"/>
              </p:ext>
            </p:extLst>
          </p:nvPr>
        </p:nvGraphicFramePr>
        <p:xfrm>
          <a:off x="2562549" y="5832246"/>
          <a:ext cx="1577404" cy="177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351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213621589"/>
                    </a:ext>
                  </a:extLst>
                </a:gridCol>
                <a:gridCol w="394351">
                  <a:extLst>
                    <a:ext uri="{9D8B030D-6E8A-4147-A177-3AD203B41FA5}">
                      <a16:colId xmlns:a16="http://schemas.microsoft.com/office/drawing/2014/main" val="940613947"/>
                    </a:ext>
                  </a:extLst>
                </a:gridCol>
              </a:tblGrid>
              <a:tr h="177422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c13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sp>
        <p:nvSpPr>
          <p:cNvPr id="28" name="文字方塊 27">
            <a:extLst>
              <a:ext uri="{FF2B5EF4-FFF2-40B4-BE49-F238E27FC236}">
                <a16:creationId xmlns:a16="http://schemas.microsoft.com/office/drawing/2014/main" id="{8012E381-AA45-3D1A-CAEC-4D2813F6AB34}"/>
              </a:ext>
            </a:extLst>
          </p:cNvPr>
          <p:cNvSpPr txBox="1"/>
          <p:nvPr/>
        </p:nvSpPr>
        <p:spPr>
          <a:xfrm>
            <a:off x="2339753" y="5789273"/>
            <a:ext cx="177958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kumimoji="0" lang="en-US" altLang="zh-TW" sz="1400" b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Cambria Math" panose="02040503050406030204" pitchFamily="18" charset="0"/>
                <a:cs typeface="+mn-cs"/>
              </a:rPr>
              <a:t>x</a:t>
            </a:r>
            <a:endParaRPr kumimoji="0" lang="en-US" altLang="zh-TW" sz="1200" b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Cambria Math" panose="02040503050406030204" pitchFamily="18" charset="0"/>
              <a:cs typeface="+mn-cs"/>
            </a:endParaRPr>
          </a:p>
        </p:txBody>
      </p:sp>
      <p:graphicFrame>
        <p:nvGraphicFramePr>
          <p:cNvPr id="40" name="表格 39">
            <a:extLst>
              <a:ext uri="{FF2B5EF4-FFF2-40B4-BE49-F238E27FC236}">
                <a16:creationId xmlns:a16="http://schemas.microsoft.com/office/drawing/2014/main" id="{9E880617-74A7-3F1D-19E7-1C6CE624CC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5542779"/>
              </p:ext>
            </p:extLst>
          </p:nvPr>
        </p:nvGraphicFramePr>
        <p:xfrm>
          <a:off x="611560" y="4782788"/>
          <a:ext cx="4253728" cy="263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858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056063242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6922233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2844237105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1270248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426537453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52154210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1942328799"/>
                    </a:ext>
                  </a:extLst>
                </a:gridCol>
                <a:gridCol w="265858">
                  <a:extLst>
                    <a:ext uri="{9D8B030D-6E8A-4147-A177-3AD203B41FA5}">
                      <a16:colId xmlns:a16="http://schemas.microsoft.com/office/drawing/2014/main" val="3241487124"/>
                    </a:ext>
                  </a:extLst>
                </a:gridCol>
              </a:tblGrid>
              <a:tr h="26336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9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…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30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31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graphicFrame>
        <p:nvGraphicFramePr>
          <p:cNvPr id="41" name="表格 40">
            <a:extLst>
              <a:ext uri="{FF2B5EF4-FFF2-40B4-BE49-F238E27FC236}">
                <a16:creationId xmlns:a16="http://schemas.microsoft.com/office/drawing/2014/main" id="{9E930552-FE47-29BE-877E-18BE859F7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8166402"/>
              </p:ext>
            </p:extLst>
          </p:nvPr>
        </p:nvGraphicFramePr>
        <p:xfrm>
          <a:off x="1389570" y="4203813"/>
          <a:ext cx="2437328" cy="17872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666">
                  <a:extLst>
                    <a:ext uri="{9D8B030D-6E8A-4147-A177-3AD203B41FA5}">
                      <a16:colId xmlns:a16="http://schemas.microsoft.com/office/drawing/2014/main" val="871242339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42430128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288505345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066584392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3404935993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19478995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4011389836"/>
                    </a:ext>
                  </a:extLst>
                </a:gridCol>
                <a:gridCol w="304666">
                  <a:extLst>
                    <a:ext uri="{9D8B030D-6E8A-4147-A177-3AD203B41FA5}">
                      <a16:colId xmlns:a16="http://schemas.microsoft.com/office/drawing/2014/main" val="506512337"/>
                    </a:ext>
                  </a:extLst>
                </a:gridCol>
              </a:tblGrid>
              <a:tr h="178721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b11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b12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b13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b14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b15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b16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b17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000" b="0" dirty="0">
                          <a:solidFill>
                            <a:schemeClr val="tx1"/>
                          </a:solidFill>
                          <a:latin typeface="ADLaM Display" panose="02010000000000000000" pitchFamily="2" charset="0"/>
                          <a:cs typeface="ADLaM Display" panose="02010000000000000000" pitchFamily="2" charset="0"/>
                        </a:rPr>
                        <a:t>b18</a:t>
                      </a:r>
                      <a:endParaRPr lang="zh-TW" altLang="en-US" sz="1000" b="0" dirty="0">
                        <a:solidFill>
                          <a:schemeClr val="tx1"/>
                        </a:solidFill>
                        <a:latin typeface="ADLaM Display" panose="02010000000000000000" pitchFamily="2" charset="0"/>
                        <a:cs typeface="ADLaM Display" panose="02010000000000000000" pitchFamily="2" charset="0"/>
                      </a:endParaRPr>
                    </a:p>
                  </a:txBody>
                  <a:tcPr marL="0" marR="0" marT="0" marB="0" anchor="ctr" anchorCtr="1">
                    <a:lnL w="12700" cmpd="sng">
                      <a:noFill/>
                    </a:lnL>
                    <a:lnR w="6350" cap="flat" cmpd="sng" algn="ctr">
                      <a:solidFill>
                        <a:schemeClr val="tx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81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352794"/>
                  </a:ext>
                </a:extLst>
              </a:tr>
            </a:tbl>
          </a:graphicData>
        </a:graphic>
      </p:graphicFrame>
      <p:cxnSp>
        <p:nvCxnSpPr>
          <p:cNvPr id="43" name="直線單箭頭接點 42">
            <a:extLst>
              <a:ext uri="{FF2B5EF4-FFF2-40B4-BE49-F238E27FC236}">
                <a16:creationId xmlns:a16="http://schemas.microsoft.com/office/drawing/2014/main" id="{3D69D28E-D3BB-E57F-0654-C588ED181323}"/>
              </a:ext>
            </a:extLst>
          </p:cNvPr>
          <p:cNvCxnSpPr>
            <a:cxnSpLocks/>
          </p:cNvCxnSpPr>
          <p:nvPr/>
        </p:nvCxnSpPr>
        <p:spPr>
          <a:xfrm>
            <a:off x="1695126" y="4382534"/>
            <a:ext cx="0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線單箭頭接點 45">
            <a:extLst>
              <a:ext uri="{FF2B5EF4-FFF2-40B4-BE49-F238E27FC236}">
                <a16:creationId xmlns:a16="http://schemas.microsoft.com/office/drawing/2014/main" id="{F9A3051A-7393-2108-A65E-E17A5BDFC742}"/>
              </a:ext>
            </a:extLst>
          </p:cNvPr>
          <p:cNvCxnSpPr>
            <a:cxnSpLocks/>
            <a:endCxn id="40" idx="0"/>
          </p:cNvCxnSpPr>
          <p:nvPr/>
        </p:nvCxnSpPr>
        <p:spPr>
          <a:xfrm>
            <a:off x="1994782" y="4382534"/>
            <a:ext cx="743642" cy="400254"/>
          </a:xfrm>
          <a:prstGeom prst="straightConnector1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D91FD903-5CA4-5DF9-C34F-F10FB97C112B}"/>
              </a:ext>
            </a:extLst>
          </p:cNvPr>
          <p:cNvSpPr txBox="1"/>
          <p:nvPr/>
        </p:nvSpPr>
        <p:spPr>
          <a:xfrm>
            <a:off x="1852611" y="4537583"/>
            <a:ext cx="422451" cy="263368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4 bits</a:t>
            </a: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233890C5-0A88-D645-14E5-9AA7C51DF87A}"/>
              </a:ext>
            </a:extLst>
          </p:cNvPr>
          <p:cNvSpPr txBox="1"/>
          <p:nvPr/>
        </p:nvSpPr>
        <p:spPr>
          <a:xfrm>
            <a:off x="1641385" y="3850356"/>
            <a:ext cx="422451" cy="353457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16</a:t>
            </a:r>
          </a:p>
          <a:p>
            <a:pPr>
              <a:lnSpc>
                <a:spcPts val="1400"/>
              </a:lnSpc>
            </a:pPr>
            <a:r>
              <a:rPr lang="en-US" altLang="zh-TW" sz="1200" dirty="0">
                <a:solidFill>
                  <a:prstClr val="black"/>
                </a:solidFill>
                <a:ea typeface="Cambria Math" panose="02040503050406030204" pitchFamily="18" charset="0"/>
              </a:rPr>
              <a:t>bits</a:t>
            </a:r>
          </a:p>
        </p:txBody>
      </p:sp>
    </p:spTree>
    <p:extLst>
      <p:ext uri="{BB962C8B-B14F-4D97-AF65-F5344CB8AC3E}">
        <p14:creationId xmlns:p14="http://schemas.microsoft.com/office/powerpoint/2010/main" val="1681498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字方塊 7">
            <a:extLst>
              <a:ext uri="{FF2B5EF4-FFF2-40B4-BE49-F238E27FC236}">
                <a16:creationId xmlns:a16="http://schemas.microsoft.com/office/drawing/2014/main" id="{AF135B2E-EEC6-E246-846A-1EF62279E421}"/>
              </a:ext>
            </a:extLst>
          </p:cNvPr>
          <p:cNvSpPr txBox="1"/>
          <p:nvPr/>
        </p:nvSpPr>
        <p:spPr>
          <a:xfrm>
            <a:off x="213023" y="980728"/>
            <a:ext cx="8568952" cy="2246769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Features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Long Context Window</a:t>
            </a:r>
            <a:r>
              <a:rPr lang="en-US" altLang="zh-TW" sz="1600" dirty="0"/>
              <a:t>: More than 256K tokens.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u="none" strike="noStrike" dirty="0">
                <a:effectLst/>
              </a:rPr>
              <a:t>Native Unified / Encoder-Free</a:t>
            </a:r>
            <a:r>
              <a:rPr lang="en-US" altLang="zh-TW" sz="1600" u="none" strike="noStrike" dirty="0">
                <a:effectLst/>
              </a:rPr>
              <a:t>: Remove the image encoder (SigLIP).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Structured Thinking</a:t>
            </a:r>
            <a:r>
              <a:rPr lang="en-US" altLang="zh-TW" sz="1600" dirty="0"/>
              <a:t>: M?.</a:t>
            </a:r>
            <a:endParaRPr lang="en-US" altLang="zh-TW" sz="16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Per-Layer Embeddings (PLE):</a:t>
            </a:r>
            <a:r>
              <a:rPr lang="en-US" altLang="zh-TW" sz="1600" dirty="0"/>
              <a:t>: 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Multi-Token Prediction (MTP):</a:t>
            </a:r>
            <a:r>
              <a:rPr lang="en-US" altLang="zh-TW" sz="1600" dirty="0"/>
              <a:t>: .</a:t>
            </a:r>
          </a:p>
        </p:txBody>
      </p:sp>
      <p:graphicFrame>
        <p:nvGraphicFramePr>
          <p:cNvPr id="11" name="表格 10">
            <a:extLst>
              <a:ext uri="{FF2B5EF4-FFF2-40B4-BE49-F238E27FC236}">
                <a16:creationId xmlns:a16="http://schemas.microsoft.com/office/drawing/2014/main" id="{270DC3E0-A9BD-E0C6-9AF7-57F236AC3B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2723837"/>
              </p:ext>
            </p:extLst>
          </p:nvPr>
        </p:nvGraphicFramePr>
        <p:xfrm>
          <a:off x="351199" y="4221088"/>
          <a:ext cx="8225579" cy="200352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44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40160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1353938632"/>
                    </a:ext>
                  </a:extLst>
                </a:gridCol>
                <a:gridCol w="1728192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3854310234"/>
                    </a:ext>
                  </a:extLst>
                </a:gridCol>
                <a:gridCol w="620402">
                  <a:extLst>
                    <a:ext uri="{9D8B030D-6E8A-4147-A177-3AD203B41FA5}">
                      <a16:colId xmlns:a16="http://schemas.microsoft.com/office/drawing/2014/main" val="3929653818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</a:p>
                    <a:p>
                      <a:pPr algn="ctr"/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Version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FP16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SFP8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Q4_0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Mobile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Text</a:t>
                      </a:r>
                    </a:p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Only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11.4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1.1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0.84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E4B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2.5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2.2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6.7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26B A4B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57.7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28.8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14.4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69.9 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34.9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17.5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</a:tbl>
          </a:graphicData>
        </a:graphic>
      </p:graphicFrame>
      <p:sp>
        <p:nvSpPr>
          <p:cNvPr id="5" name="標題 1">
            <a:extLst>
              <a:ext uri="{FF2B5EF4-FFF2-40B4-BE49-F238E27FC236}">
                <a16:creationId xmlns:a16="http://schemas.microsoft.com/office/drawing/2014/main" id="{5E6D0E09-6EF5-9848-658D-D41ED80B4BA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Gemma 4</a:t>
            </a:r>
            <a:b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</a:b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Next-Gen Architecture &amp; Open Freedom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649EA95-8FB6-78DA-707B-076CC68FA7AD}"/>
              </a:ext>
            </a:extLst>
          </p:cNvPr>
          <p:cNvSpPr txBox="1"/>
          <p:nvPr/>
        </p:nvSpPr>
        <p:spPr>
          <a:xfrm>
            <a:off x="4209975" y="2166636"/>
            <a:ext cx="4572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/>
              <a:t>Gemma 3</a:t>
            </a:r>
            <a:r>
              <a:rPr lang="en-US" altLang="zh-TW" sz="1200" dirty="0"/>
              <a:t>: Google DeepMind's single-GPU powerhouses offering 128K context windows and cross-cultural communication in over 140 languages.</a:t>
            </a:r>
          </a:p>
          <a:p>
            <a:r>
              <a:rPr lang="en-US" altLang="zh-TW" dirty="0"/>
              <a:t>Gemma 4</a:t>
            </a:r>
            <a:r>
              <a:rPr lang="en-US" altLang="zh-TW" sz="1200" dirty="0"/>
              <a:t>: Unlocking true commercial flexibility with an Apache 2.0 license, 256K context expansions, and high-efficiency Mixture-of-Experts (</a:t>
            </a:r>
            <a:r>
              <a:rPr lang="en-US" altLang="zh-TW" sz="1200" dirty="0" err="1"/>
              <a:t>MoE</a:t>
            </a:r>
            <a:r>
              <a:rPr lang="en-US" altLang="zh-TW" sz="1200" dirty="0"/>
              <a:t>) scaling.</a:t>
            </a:r>
            <a:endParaRPr lang="zh-TW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343714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1FE66-60E4-CAE7-B48E-D43A9C24A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1">
            <a:extLst>
              <a:ext uri="{FF2B5EF4-FFF2-40B4-BE49-F238E27FC236}">
                <a16:creationId xmlns:a16="http://schemas.microsoft.com/office/drawing/2014/main" id="{621033B1-FD4B-EB3F-A072-643EF25F1EB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Per Layer Embeddings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pSp>
        <p:nvGrpSpPr>
          <p:cNvPr id="152" name="群組 151">
            <a:extLst>
              <a:ext uri="{FF2B5EF4-FFF2-40B4-BE49-F238E27FC236}">
                <a16:creationId xmlns:a16="http://schemas.microsoft.com/office/drawing/2014/main" id="{65EBA2E8-16EC-3A46-D66A-987C3901716B}"/>
              </a:ext>
            </a:extLst>
          </p:cNvPr>
          <p:cNvGrpSpPr/>
          <p:nvPr/>
        </p:nvGrpSpPr>
        <p:grpSpPr>
          <a:xfrm>
            <a:off x="2829812" y="1201393"/>
            <a:ext cx="1310140" cy="4405650"/>
            <a:chOff x="3849298" y="1201393"/>
            <a:chExt cx="1310140" cy="4405650"/>
          </a:xfrm>
        </p:grpSpPr>
        <p:sp>
          <p:nvSpPr>
            <p:cNvPr id="16" name="文字方塊 15">
              <a:extLst>
                <a:ext uri="{FF2B5EF4-FFF2-40B4-BE49-F238E27FC236}">
                  <a16:creationId xmlns:a16="http://schemas.microsoft.com/office/drawing/2014/main" id="{3F52AA91-A73D-ADB6-95F2-020FAF6419D5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31B</a:t>
              </a:r>
              <a:endParaRPr lang="zh-TW" altLang="en-US" dirty="0"/>
            </a:p>
          </p:txBody>
        </p:sp>
        <p:sp>
          <p:nvSpPr>
            <p:cNvPr id="103" name="矩形: 圓角 102">
              <a:extLst>
                <a:ext uri="{FF2B5EF4-FFF2-40B4-BE49-F238E27FC236}">
                  <a16:creationId xmlns:a16="http://schemas.microsoft.com/office/drawing/2014/main" id="{75B6E067-45CE-B85B-0CAA-A43833E04B97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48" name="群組 147">
              <a:extLst>
                <a:ext uri="{FF2B5EF4-FFF2-40B4-BE49-F238E27FC236}">
                  <a16:creationId xmlns:a16="http://schemas.microsoft.com/office/drawing/2014/main" id="{543C449C-D430-6EC4-6652-1406BB5D40CD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09" name="矩形: 圓角 108">
                <a:extLst>
                  <a:ext uri="{FF2B5EF4-FFF2-40B4-BE49-F238E27FC236}">
                    <a16:creationId xmlns:a16="http://schemas.microsoft.com/office/drawing/2014/main" id="{B1A0C47A-43B4-48C9-5DDE-799140A31BBB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0" name="矩形: 圓角 109">
                <a:extLst>
                  <a:ext uri="{FF2B5EF4-FFF2-40B4-BE49-F238E27FC236}">
                    <a16:creationId xmlns:a16="http://schemas.microsoft.com/office/drawing/2014/main" id="{8786C929-30C5-9F6A-57FF-D524059DA39C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50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1" name="矩形: 圓角 110">
                <a:extLst>
                  <a:ext uri="{FF2B5EF4-FFF2-40B4-BE49-F238E27FC236}">
                    <a16:creationId xmlns:a16="http://schemas.microsoft.com/office/drawing/2014/main" id="{FA5DE809-863D-1BD6-5A79-6527343088E6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2" name="矩形 111">
                <a:extLst>
                  <a:ext uri="{FF2B5EF4-FFF2-40B4-BE49-F238E27FC236}">
                    <a16:creationId xmlns:a16="http://schemas.microsoft.com/office/drawing/2014/main" id="{954CA58C-ECA8-D0E6-96F1-F93BBFB1B144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13" name="接點: 肘形 112">
                <a:extLst>
                  <a:ext uri="{FF2B5EF4-FFF2-40B4-BE49-F238E27FC236}">
                    <a16:creationId xmlns:a16="http://schemas.microsoft.com/office/drawing/2014/main" id="{EEAA8209-2A30-345D-A2F2-A445B86656F8}"/>
                  </a:ext>
                </a:extLst>
              </p:cNvPr>
              <p:cNvCxnSpPr>
                <a:cxnSpLocks/>
                <a:stCxn id="110" idx="2"/>
                <a:endCxn id="112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直線單箭頭接點 113">
                <a:extLst>
                  <a:ext uri="{FF2B5EF4-FFF2-40B4-BE49-F238E27FC236}">
                    <a16:creationId xmlns:a16="http://schemas.microsoft.com/office/drawing/2014/main" id="{8364B025-C4C5-AB69-EE31-E3027A430931}"/>
                  </a:ext>
                </a:extLst>
              </p:cNvPr>
              <p:cNvCxnSpPr>
                <a:cxnSpLocks/>
                <a:stCxn id="109" idx="2"/>
                <a:endCxn id="111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5" name="直線單箭頭接點 114">
                <a:extLst>
                  <a:ext uri="{FF2B5EF4-FFF2-40B4-BE49-F238E27FC236}">
                    <a16:creationId xmlns:a16="http://schemas.microsoft.com/office/drawing/2014/main" id="{ADE31BC4-90E6-6D3F-59D3-813D286D61C0}"/>
                  </a:ext>
                </a:extLst>
              </p:cNvPr>
              <p:cNvCxnSpPr>
                <a:cxnSpLocks/>
                <a:stCxn id="112" idx="0"/>
                <a:endCxn id="109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6" name="矩形: 圓角 115">
                <a:extLst>
                  <a:ext uri="{FF2B5EF4-FFF2-40B4-BE49-F238E27FC236}">
                    <a16:creationId xmlns:a16="http://schemas.microsoft.com/office/drawing/2014/main" id="{30DF811A-5FC0-52F5-F149-597ED05963C1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7" name="矩形: 圓角 116">
                <a:extLst>
                  <a:ext uri="{FF2B5EF4-FFF2-40B4-BE49-F238E27FC236}">
                    <a16:creationId xmlns:a16="http://schemas.microsoft.com/office/drawing/2014/main" id="{88C2B72B-1941-C2E9-CCDE-0E6EBA4C6A0E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08" name="矩形: 圓角 107">
                <a:extLst>
                  <a:ext uri="{FF2B5EF4-FFF2-40B4-BE49-F238E27FC236}">
                    <a16:creationId xmlns:a16="http://schemas.microsoft.com/office/drawing/2014/main" id="{81D65B75-1C95-0AA1-A90B-F98320248AB8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2" name="矩形: 圓角 131">
              <a:extLst>
                <a:ext uri="{FF2B5EF4-FFF2-40B4-BE49-F238E27FC236}">
                  <a16:creationId xmlns:a16="http://schemas.microsoft.com/office/drawing/2014/main" id="{BFD9E345-B80A-8E21-A3EB-86BEEE7EA026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151" name="群組 150">
            <a:extLst>
              <a:ext uri="{FF2B5EF4-FFF2-40B4-BE49-F238E27FC236}">
                <a16:creationId xmlns:a16="http://schemas.microsoft.com/office/drawing/2014/main" id="{44A0B88C-90C5-45C8-77ED-D51E0DC93E47}"/>
              </a:ext>
            </a:extLst>
          </p:cNvPr>
          <p:cNvGrpSpPr/>
          <p:nvPr/>
        </p:nvGrpSpPr>
        <p:grpSpPr>
          <a:xfrm>
            <a:off x="6719590" y="1196752"/>
            <a:ext cx="1308794" cy="4410291"/>
            <a:chOff x="6802972" y="1196752"/>
            <a:chExt cx="1308794" cy="4410291"/>
          </a:xfrm>
        </p:grpSpPr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BDFCCEC8-F9EA-2CE2-81B4-209FFFA8A01A}"/>
                </a:ext>
              </a:extLst>
            </p:cNvPr>
            <p:cNvSpPr txBox="1"/>
            <p:nvPr/>
          </p:nvSpPr>
          <p:spPr>
            <a:xfrm>
              <a:off x="6962972" y="1196752"/>
              <a:ext cx="971741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26B</a:t>
              </a:r>
              <a:r>
                <a:rPr lang="zh-TW" altLang="en-US" dirty="0"/>
                <a:t> </a:t>
              </a:r>
              <a:r>
                <a:rPr lang="en-US" altLang="zh-TW" dirty="0"/>
                <a:t>A4B</a:t>
              </a:r>
              <a:endParaRPr lang="zh-TW" altLang="en-US" dirty="0"/>
            </a:p>
          </p:txBody>
        </p:sp>
        <p:grpSp>
          <p:nvGrpSpPr>
            <p:cNvPr id="149" name="群組 148">
              <a:extLst>
                <a:ext uri="{FF2B5EF4-FFF2-40B4-BE49-F238E27FC236}">
                  <a16:creationId xmlns:a16="http://schemas.microsoft.com/office/drawing/2014/main" id="{914518BF-4D90-6E22-6D1D-F6151E3C3E6B}"/>
                </a:ext>
              </a:extLst>
            </p:cNvPr>
            <p:cNvGrpSpPr/>
            <p:nvPr/>
          </p:nvGrpSpPr>
          <p:grpSpPr>
            <a:xfrm>
              <a:off x="6802972" y="2060848"/>
              <a:ext cx="1308794" cy="3245081"/>
              <a:chOff x="6802972" y="2060848"/>
              <a:chExt cx="1308794" cy="3245081"/>
            </a:xfrm>
          </p:grpSpPr>
          <p:sp>
            <p:nvSpPr>
              <p:cNvPr id="120" name="矩形: 圓角 119">
                <a:extLst>
                  <a:ext uri="{FF2B5EF4-FFF2-40B4-BE49-F238E27FC236}">
                    <a16:creationId xmlns:a16="http://schemas.microsoft.com/office/drawing/2014/main" id="{09CB361F-5F83-C5B1-3CD2-BC96CAAE3787}"/>
                  </a:ext>
                </a:extLst>
              </p:cNvPr>
              <p:cNvSpPr/>
              <p:nvPr/>
            </p:nvSpPr>
            <p:spPr>
              <a:xfrm>
                <a:off x="693554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1" name="矩形: 圓角 120">
                <a:extLst>
                  <a:ext uri="{FF2B5EF4-FFF2-40B4-BE49-F238E27FC236}">
                    <a16:creationId xmlns:a16="http://schemas.microsoft.com/office/drawing/2014/main" id="{C059B1DF-F859-05CF-02DD-BCF6FFE6EAC8}"/>
                  </a:ext>
                </a:extLst>
              </p:cNvPr>
              <p:cNvSpPr/>
              <p:nvPr/>
            </p:nvSpPr>
            <p:spPr>
              <a:xfrm>
                <a:off x="6935547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 err="1">
                    <a:solidFill>
                      <a:schemeClr val="accent2">
                        <a:lumMod val="50000"/>
                      </a:schemeClr>
                    </a:solidFill>
                  </a:rPr>
                  <a:t>MoE</a:t>
                </a:r>
                <a:endParaRPr lang="zh-TW" altLang="en-US" sz="14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矩形: 圓角 121">
                <a:extLst>
                  <a:ext uri="{FF2B5EF4-FFF2-40B4-BE49-F238E27FC236}">
                    <a16:creationId xmlns:a16="http://schemas.microsoft.com/office/drawing/2014/main" id="{28F14AED-9A2A-B96B-438E-CAB09C6EC09E}"/>
                  </a:ext>
                </a:extLst>
              </p:cNvPr>
              <p:cNvSpPr/>
              <p:nvPr/>
            </p:nvSpPr>
            <p:spPr>
              <a:xfrm>
                <a:off x="693554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3" name="矩形 122">
                <a:extLst>
                  <a:ext uri="{FF2B5EF4-FFF2-40B4-BE49-F238E27FC236}">
                    <a16:creationId xmlns:a16="http://schemas.microsoft.com/office/drawing/2014/main" id="{C6649A89-BF96-006A-59D0-EA5169552E28}"/>
                  </a:ext>
                </a:extLst>
              </p:cNvPr>
              <p:cNvSpPr/>
              <p:nvPr/>
            </p:nvSpPr>
            <p:spPr>
              <a:xfrm>
                <a:off x="6802972" y="2614483"/>
                <a:ext cx="1308794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24" name="接點: 肘形 123">
                <a:extLst>
                  <a:ext uri="{FF2B5EF4-FFF2-40B4-BE49-F238E27FC236}">
                    <a16:creationId xmlns:a16="http://schemas.microsoft.com/office/drawing/2014/main" id="{54BBA61F-933C-E302-2722-155492A374CD}"/>
                  </a:ext>
                </a:extLst>
              </p:cNvPr>
              <p:cNvCxnSpPr>
                <a:cxnSpLocks/>
                <a:stCxn id="121" idx="2"/>
                <a:endCxn id="123" idx="0"/>
              </p:cNvCxnSpPr>
              <p:nvPr/>
            </p:nvCxnSpPr>
            <p:spPr>
              <a:xfrm rot="5400000" flipH="1" flipV="1">
                <a:off x="6625442" y="3438740"/>
                <a:ext cx="1656184" cy="7670"/>
              </a:xfrm>
              <a:prstGeom prst="bentConnector5">
                <a:avLst>
                  <a:gd name="adj1" fmla="val -13803"/>
                  <a:gd name="adj2" fmla="val 11612347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單箭頭接點 124">
                <a:extLst>
                  <a:ext uri="{FF2B5EF4-FFF2-40B4-BE49-F238E27FC236}">
                    <a16:creationId xmlns:a16="http://schemas.microsoft.com/office/drawing/2014/main" id="{2BD9A8CA-9389-393E-9448-914EF057A994}"/>
                  </a:ext>
                </a:extLst>
              </p:cNvPr>
              <p:cNvCxnSpPr>
                <a:cxnSpLocks/>
                <a:stCxn id="120" idx="2"/>
                <a:endCxn id="122" idx="0"/>
              </p:cNvCxnSpPr>
              <p:nvPr/>
            </p:nvCxnSpPr>
            <p:spPr>
              <a:xfrm>
                <a:off x="744969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6" name="直線單箭頭接點 125">
                <a:extLst>
                  <a:ext uri="{FF2B5EF4-FFF2-40B4-BE49-F238E27FC236}">
                    <a16:creationId xmlns:a16="http://schemas.microsoft.com/office/drawing/2014/main" id="{678ADA3E-F566-DF55-2F67-868077547768}"/>
                  </a:ext>
                </a:extLst>
              </p:cNvPr>
              <p:cNvCxnSpPr>
                <a:cxnSpLocks/>
                <a:stCxn id="123" idx="0"/>
                <a:endCxn id="120" idx="0"/>
              </p:cNvCxnSpPr>
              <p:nvPr/>
            </p:nvCxnSpPr>
            <p:spPr>
              <a:xfrm flipH="1">
                <a:off x="7449699" y="2614483"/>
                <a:ext cx="7670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7" name="矩形: 圓角 126">
                <a:extLst>
                  <a:ext uri="{FF2B5EF4-FFF2-40B4-BE49-F238E27FC236}">
                    <a16:creationId xmlns:a16="http://schemas.microsoft.com/office/drawing/2014/main" id="{53C549A5-999E-64E3-9B66-C549447A4807}"/>
                  </a:ext>
                </a:extLst>
              </p:cNvPr>
              <p:cNvSpPr/>
              <p:nvPr/>
            </p:nvSpPr>
            <p:spPr>
              <a:xfrm>
                <a:off x="6948264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28" name="矩形: 圓角 127">
                <a:extLst>
                  <a:ext uri="{FF2B5EF4-FFF2-40B4-BE49-F238E27FC236}">
                    <a16:creationId xmlns:a16="http://schemas.microsoft.com/office/drawing/2014/main" id="{798E2173-9DB8-9E98-4E1B-543E6352D905}"/>
                  </a:ext>
                </a:extLst>
              </p:cNvPr>
              <p:cNvSpPr/>
              <p:nvPr/>
            </p:nvSpPr>
            <p:spPr>
              <a:xfrm>
                <a:off x="6943217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Linear/SM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19" name="矩形: 圓角 118">
                <a:extLst>
                  <a:ext uri="{FF2B5EF4-FFF2-40B4-BE49-F238E27FC236}">
                    <a16:creationId xmlns:a16="http://schemas.microsoft.com/office/drawing/2014/main" id="{68D4254A-F22C-4427-B75E-6C46E56E92BA}"/>
                  </a:ext>
                </a:extLst>
              </p:cNvPr>
              <p:cNvSpPr/>
              <p:nvPr/>
            </p:nvSpPr>
            <p:spPr>
              <a:xfrm>
                <a:off x="6935547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33" name="矩形: 圓角 132">
              <a:extLst>
                <a:ext uri="{FF2B5EF4-FFF2-40B4-BE49-F238E27FC236}">
                  <a16:creationId xmlns:a16="http://schemas.microsoft.com/office/drawing/2014/main" id="{4D690126-61CA-F258-22BB-2E940F65C604}"/>
                </a:ext>
              </a:extLst>
            </p:cNvPr>
            <p:cNvSpPr/>
            <p:nvPr/>
          </p:nvSpPr>
          <p:spPr>
            <a:xfrm>
              <a:off x="6802972" y="1630144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150" name="矩形: 圓角 149">
              <a:extLst>
                <a:ext uri="{FF2B5EF4-FFF2-40B4-BE49-F238E27FC236}">
                  <a16:creationId xmlns:a16="http://schemas.microsoft.com/office/drawing/2014/main" id="{21AD1A59-C006-E11E-9DBF-E1BF5F701EE1}"/>
                </a:ext>
              </a:extLst>
            </p:cNvPr>
            <p:cNvSpPr/>
            <p:nvPr/>
          </p:nvSpPr>
          <p:spPr>
            <a:xfrm>
              <a:off x="6991754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incredible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grpSp>
        <p:nvGrpSpPr>
          <p:cNvPr id="9" name="群組 8">
            <a:extLst>
              <a:ext uri="{FF2B5EF4-FFF2-40B4-BE49-F238E27FC236}">
                <a16:creationId xmlns:a16="http://schemas.microsoft.com/office/drawing/2014/main" id="{799DB70C-EBA6-1AAB-5610-9E44A9B19D1E}"/>
              </a:ext>
            </a:extLst>
          </p:cNvPr>
          <p:cNvGrpSpPr/>
          <p:nvPr/>
        </p:nvGrpSpPr>
        <p:grpSpPr>
          <a:xfrm>
            <a:off x="899592" y="1196752"/>
            <a:ext cx="1310140" cy="4410291"/>
            <a:chOff x="1835696" y="1196752"/>
            <a:chExt cx="1310140" cy="4410291"/>
          </a:xfrm>
        </p:grpSpPr>
        <p:sp>
          <p:nvSpPr>
            <p:cNvPr id="15" name="文字方塊 14">
              <a:extLst>
                <a:ext uri="{FF2B5EF4-FFF2-40B4-BE49-F238E27FC236}">
                  <a16:creationId xmlns:a16="http://schemas.microsoft.com/office/drawing/2014/main" id="{8FE5E1F0-4507-2709-72C4-FBC1F3D5EE4F}"/>
                </a:ext>
              </a:extLst>
            </p:cNvPr>
            <p:cNvSpPr txBox="1"/>
            <p:nvPr/>
          </p:nvSpPr>
          <p:spPr>
            <a:xfrm>
              <a:off x="1941876" y="1196752"/>
              <a:ext cx="1104790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zh-TW" altLang="zh-TW" dirty="0"/>
                <a:t>E</a:t>
              </a:r>
              <a:r>
                <a:rPr lang="en-US" altLang="zh-TW" dirty="0"/>
                <a:t>2B</a:t>
              </a:r>
              <a:r>
                <a:rPr lang="zh-TW" altLang="en-US" dirty="0"/>
                <a:t> </a:t>
              </a:r>
              <a:r>
                <a:rPr lang="en-US" altLang="zh-TW" dirty="0"/>
                <a:t>|</a:t>
              </a:r>
              <a:r>
                <a:rPr lang="zh-TW" altLang="en-US" dirty="0"/>
                <a:t> </a:t>
              </a:r>
              <a:r>
                <a:rPr lang="en-US" altLang="zh-TW" dirty="0"/>
                <a:t>E4B</a:t>
              </a:r>
              <a:endParaRPr lang="zh-TW" altLang="en-US" dirty="0"/>
            </a:p>
          </p:txBody>
        </p:sp>
        <p:sp>
          <p:nvSpPr>
            <p:cNvPr id="100" name="矩形: 圓角 99">
              <a:extLst>
                <a:ext uri="{FF2B5EF4-FFF2-40B4-BE49-F238E27FC236}">
                  <a16:creationId xmlns:a16="http://schemas.microsoft.com/office/drawing/2014/main" id="{7FDED451-8F6A-446D-1B14-B4E0156FD4D3}"/>
                </a:ext>
              </a:extLst>
            </p:cNvPr>
            <p:cNvSpPr/>
            <p:nvPr/>
          </p:nvSpPr>
          <p:spPr>
            <a:xfrm>
              <a:off x="1837042" y="1628800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sp>
          <p:nvSpPr>
            <p:cNvPr id="99" name="矩形: 圓角 98">
              <a:extLst>
                <a:ext uri="{FF2B5EF4-FFF2-40B4-BE49-F238E27FC236}">
                  <a16:creationId xmlns:a16="http://schemas.microsoft.com/office/drawing/2014/main" id="{881310D7-8296-869F-341C-281D4F2B10A5}"/>
                </a:ext>
              </a:extLst>
            </p:cNvPr>
            <p:cNvSpPr/>
            <p:nvPr/>
          </p:nvSpPr>
          <p:spPr>
            <a:xfrm>
              <a:off x="1982334" y="2060848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Tokenizer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2" name="矩形: 圓角 101">
              <a:extLst>
                <a:ext uri="{FF2B5EF4-FFF2-40B4-BE49-F238E27FC236}">
                  <a16:creationId xmlns:a16="http://schemas.microsoft.com/office/drawing/2014/main" id="{DC949A37-E7DC-E21F-C0D1-12CF26477043}"/>
                </a:ext>
              </a:extLst>
            </p:cNvPr>
            <p:cNvSpPr/>
            <p:nvPr/>
          </p:nvSpPr>
          <p:spPr>
            <a:xfrm>
              <a:off x="1977287" y="5062755"/>
              <a:ext cx="1028304" cy="243174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12700">
              <a:solidFill>
                <a:schemeClr val="tx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b="1" dirty="0">
                  <a:solidFill>
                    <a:schemeClr val="accent1">
                      <a:lumMod val="75000"/>
                    </a:schemeClr>
                  </a:solidFill>
                </a:rPr>
                <a:t>Linear, SM</a:t>
              </a:r>
              <a:endParaRPr lang="zh-TW" altLang="en-US" sz="1400" b="1" dirty="0">
                <a:solidFill>
                  <a:schemeClr val="accent1">
                    <a:lumMod val="75000"/>
                  </a:schemeClr>
                </a:solidFill>
              </a:endParaRPr>
            </a:p>
          </p:txBody>
        </p:sp>
        <p:sp>
          <p:nvSpPr>
            <p:cNvPr id="106" name="矩形: 圓角 105">
              <a:extLst>
                <a:ext uri="{FF2B5EF4-FFF2-40B4-BE49-F238E27FC236}">
                  <a16:creationId xmlns:a16="http://schemas.microsoft.com/office/drawing/2014/main" id="{FF1A4766-120F-EEDC-A210-B9D7EE35980C}"/>
                </a:ext>
              </a:extLst>
            </p:cNvPr>
            <p:cNvSpPr/>
            <p:nvPr/>
          </p:nvSpPr>
          <p:spPr>
            <a:xfrm>
              <a:off x="2026681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efficient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8" name="群組 7">
              <a:extLst>
                <a:ext uri="{FF2B5EF4-FFF2-40B4-BE49-F238E27FC236}">
                  <a16:creationId xmlns:a16="http://schemas.microsoft.com/office/drawing/2014/main" id="{8D6DCFFB-C0BB-FCC4-011F-2270F791AC7D}"/>
                </a:ext>
              </a:extLst>
            </p:cNvPr>
            <p:cNvGrpSpPr/>
            <p:nvPr/>
          </p:nvGrpSpPr>
          <p:grpSpPr>
            <a:xfrm>
              <a:off x="1835696" y="2614483"/>
              <a:ext cx="1310140" cy="2115382"/>
              <a:chOff x="1835696" y="2614483"/>
              <a:chExt cx="1310140" cy="2115382"/>
            </a:xfrm>
          </p:grpSpPr>
          <p:sp>
            <p:nvSpPr>
              <p:cNvPr id="55" name="矩形: 圓角 54">
                <a:extLst>
                  <a:ext uri="{FF2B5EF4-FFF2-40B4-BE49-F238E27FC236}">
                    <a16:creationId xmlns:a16="http://schemas.microsoft.com/office/drawing/2014/main" id="{61356441-B1DA-3ADB-EAD9-6303F990BAB9}"/>
                  </a:ext>
                </a:extLst>
              </p:cNvPr>
              <p:cNvSpPr/>
              <p:nvPr/>
            </p:nvSpPr>
            <p:spPr>
              <a:xfrm>
                <a:off x="1982334" y="4486691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7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b="1" dirty="0">
                    <a:solidFill>
                      <a:schemeClr val="accent2">
                        <a:lumMod val="50000"/>
                      </a:schemeClr>
                    </a:solidFill>
                  </a:rPr>
                  <a:t>PLE</a:t>
                </a:r>
                <a:endParaRPr lang="zh-TW" altLang="en-US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1" name="矩形: 圓角 60">
                <a:extLst>
                  <a:ext uri="{FF2B5EF4-FFF2-40B4-BE49-F238E27FC236}">
                    <a16:creationId xmlns:a16="http://schemas.microsoft.com/office/drawing/2014/main" id="{EAAF1AF3-F61B-22E1-64D4-AB6882B54946}"/>
                  </a:ext>
                </a:extLst>
              </p:cNvPr>
              <p:cNvSpPr/>
              <p:nvPr/>
            </p:nvSpPr>
            <p:spPr>
              <a:xfrm>
                <a:off x="1969617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2" name="矩形: 圓角 61">
                <a:extLst>
                  <a:ext uri="{FF2B5EF4-FFF2-40B4-BE49-F238E27FC236}">
                    <a16:creationId xmlns:a16="http://schemas.microsoft.com/office/drawing/2014/main" id="{F27226A8-618A-460B-F7B0-9A91FD798FE0}"/>
                  </a:ext>
                </a:extLst>
              </p:cNvPr>
              <p:cNvSpPr/>
              <p:nvPr/>
            </p:nvSpPr>
            <p:spPr>
              <a:xfrm>
                <a:off x="1969617" y="402749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Dense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7" name="矩形: 圓角 66">
                <a:extLst>
                  <a:ext uri="{FF2B5EF4-FFF2-40B4-BE49-F238E27FC236}">
                    <a16:creationId xmlns:a16="http://schemas.microsoft.com/office/drawing/2014/main" id="{446D0A23-CFB0-77CF-6681-193B02CD4BC2}"/>
                  </a:ext>
                </a:extLst>
              </p:cNvPr>
              <p:cNvSpPr/>
              <p:nvPr/>
            </p:nvSpPr>
            <p:spPr>
              <a:xfrm>
                <a:off x="1969617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68" name="矩形 67">
                <a:extLst>
                  <a:ext uri="{FF2B5EF4-FFF2-40B4-BE49-F238E27FC236}">
                    <a16:creationId xmlns:a16="http://schemas.microsoft.com/office/drawing/2014/main" id="{EDC9D96B-FA70-8B28-F060-321A9F715380}"/>
                  </a:ext>
                </a:extLst>
              </p:cNvPr>
              <p:cNvSpPr/>
              <p:nvPr/>
            </p:nvSpPr>
            <p:spPr>
              <a:xfrm>
                <a:off x="1835696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73" name="接點: 肘形 72">
                <a:extLst>
                  <a:ext uri="{FF2B5EF4-FFF2-40B4-BE49-F238E27FC236}">
                    <a16:creationId xmlns:a16="http://schemas.microsoft.com/office/drawing/2014/main" id="{BB3A8C32-3EB2-F686-CAC5-BB82165F1204}"/>
                  </a:ext>
                </a:extLst>
              </p:cNvPr>
              <p:cNvCxnSpPr>
                <a:cxnSpLocks/>
                <a:stCxn id="55" idx="2"/>
                <a:endCxn id="68" idx="0"/>
              </p:cNvCxnSpPr>
              <p:nvPr/>
            </p:nvCxnSpPr>
            <p:spPr>
              <a:xfrm rot="5400000" flipH="1">
                <a:off x="1435935" y="3669314"/>
                <a:ext cx="2115382" cy="5720"/>
              </a:xfrm>
              <a:prstGeom prst="bentConnector5">
                <a:avLst>
                  <a:gd name="adj1" fmla="val -10807"/>
                  <a:gd name="adj2" fmla="val 15548776"/>
                  <a:gd name="adj3" fmla="val 110807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直線單箭頭接點 86">
                <a:extLst>
                  <a:ext uri="{FF2B5EF4-FFF2-40B4-BE49-F238E27FC236}">
                    <a16:creationId xmlns:a16="http://schemas.microsoft.com/office/drawing/2014/main" id="{63FC822F-BBDF-C96A-17A9-7AD6F755BD97}"/>
                  </a:ext>
                </a:extLst>
              </p:cNvPr>
              <p:cNvCxnSpPr>
                <a:cxnSpLocks/>
                <a:stCxn id="61" idx="2"/>
                <a:endCxn id="67" idx="0"/>
              </p:cNvCxnSpPr>
              <p:nvPr/>
            </p:nvCxnSpPr>
            <p:spPr>
              <a:xfrm>
                <a:off x="2483769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線單箭頭接點 87">
                <a:extLst>
                  <a:ext uri="{FF2B5EF4-FFF2-40B4-BE49-F238E27FC236}">
                    <a16:creationId xmlns:a16="http://schemas.microsoft.com/office/drawing/2014/main" id="{3D72D62E-80EC-57FB-06BC-90D556BA0ECA}"/>
                  </a:ext>
                </a:extLst>
              </p:cNvPr>
              <p:cNvCxnSpPr>
                <a:cxnSpLocks/>
                <a:stCxn id="68" idx="0"/>
                <a:endCxn id="61" idx="0"/>
              </p:cNvCxnSpPr>
              <p:nvPr/>
            </p:nvCxnSpPr>
            <p:spPr>
              <a:xfrm flipH="1">
                <a:off x="2483769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" name="矩形: 圓角 1">
                <a:extLst>
                  <a:ext uri="{FF2B5EF4-FFF2-40B4-BE49-F238E27FC236}">
                    <a16:creationId xmlns:a16="http://schemas.microsoft.com/office/drawing/2014/main" id="{67C984C6-AE48-5B4C-8B8F-BCE826BB52F8}"/>
                  </a:ext>
                </a:extLst>
              </p:cNvPr>
              <p:cNvSpPr/>
              <p:nvPr/>
            </p:nvSpPr>
            <p:spPr>
              <a:xfrm>
                <a:off x="2589697" y="3146727"/>
                <a:ext cx="410174" cy="473363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Static</a:t>
                </a:r>
              </a:p>
              <a:p>
                <a:pPr algn="ctr"/>
                <a:r>
                  <a:rPr lang="en-US" altLang="zh-TW" sz="1000" b="1" dirty="0">
                    <a:solidFill>
                      <a:schemeClr val="accent2">
                        <a:lumMod val="50000"/>
                      </a:schemeClr>
                    </a:solidFill>
                  </a:rPr>
                  <a:t>Lookup</a:t>
                </a:r>
                <a:endParaRPr lang="zh-TW" altLang="en-US" sz="1000" b="1" dirty="0">
                  <a:solidFill>
                    <a:schemeClr val="accent2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0" name="矩形: 圓角 59">
                <a:extLst>
                  <a:ext uri="{FF2B5EF4-FFF2-40B4-BE49-F238E27FC236}">
                    <a16:creationId xmlns:a16="http://schemas.microsoft.com/office/drawing/2014/main" id="{5016B45E-114D-E8BD-9EE1-4B3C5A0D4B8C}"/>
                  </a:ext>
                </a:extLst>
              </p:cNvPr>
              <p:cNvSpPr/>
              <p:nvPr/>
            </p:nvSpPr>
            <p:spPr>
              <a:xfrm>
                <a:off x="1969617" y="3169369"/>
                <a:ext cx="487505" cy="235949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QKV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</p:grpSp>
      <p:grpSp>
        <p:nvGrpSpPr>
          <p:cNvPr id="5" name="群組 4">
            <a:extLst>
              <a:ext uri="{FF2B5EF4-FFF2-40B4-BE49-F238E27FC236}">
                <a16:creationId xmlns:a16="http://schemas.microsoft.com/office/drawing/2014/main" id="{0F530714-EF5B-2630-007A-ABFDBA3A4E70}"/>
              </a:ext>
            </a:extLst>
          </p:cNvPr>
          <p:cNvGrpSpPr/>
          <p:nvPr/>
        </p:nvGrpSpPr>
        <p:grpSpPr>
          <a:xfrm>
            <a:off x="4536583" y="1202493"/>
            <a:ext cx="1310140" cy="4405650"/>
            <a:chOff x="3849298" y="1201393"/>
            <a:chExt cx="1310140" cy="4405650"/>
          </a:xfrm>
        </p:grpSpPr>
        <p:sp>
          <p:nvSpPr>
            <p:cNvPr id="6" name="文字方塊 5">
              <a:extLst>
                <a:ext uri="{FF2B5EF4-FFF2-40B4-BE49-F238E27FC236}">
                  <a16:creationId xmlns:a16="http://schemas.microsoft.com/office/drawing/2014/main" id="{58B6B9FF-7B9F-2491-3FC2-CF8C7AD3DBC1}"/>
                </a:ext>
              </a:extLst>
            </p:cNvPr>
            <p:cNvSpPr txBox="1"/>
            <p:nvPr/>
          </p:nvSpPr>
          <p:spPr>
            <a:xfrm>
              <a:off x="4233171" y="1201393"/>
              <a:ext cx="543739" cy="28088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none">
              <a:noAutofit/>
            </a:bodyPr>
            <a:lstStyle/>
            <a:p>
              <a:pPr algn="ctr"/>
              <a:r>
                <a:rPr lang="en-US" altLang="zh-TW" dirty="0"/>
                <a:t>-</a:t>
              </a:r>
              <a:endParaRPr lang="zh-TW" altLang="en-US" dirty="0"/>
            </a:p>
          </p:txBody>
        </p:sp>
        <p:sp>
          <p:nvSpPr>
            <p:cNvPr id="7" name="矩形: 圓角 6">
              <a:extLst>
                <a:ext uri="{FF2B5EF4-FFF2-40B4-BE49-F238E27FC236}">
                  <a16:creationId xmlns:a16="http://schemas.microsoft.com/office/drawing/2014/main" id="{D054E660-EF42-CBD8-2FA6-2E3298DC2C2D}"/>
                </a:ext>
              </a:extLst>
            </p:cNvPr>
            <p:cNvSpPr/>
            <p:nvPr/>
          </p:nvSpPr>
          <p:spPr>
            <a:xfrm>
              <a:off x="4056480" y="5401299"/>
              <a:ext cx="914176" cy="205744"/>
            </a:xfrm>
            <a:prstGeom prst="roundRect">
              <a:avLst>
                <a:gd name="adj" fmla="val 29689"/>
              </a:avLst>
            </a:prstGeom>
            <a:solidFill>
              <a:srgbClr val="FFFF00"/>
            </a:solidFill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cs typeface="ADLaM Display" panose="02010000000000000000" pitchFamily="2" charset="0"/>
                </a:rPr>
                <a:t>strong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E0AFB556-52A6-E2AB-18CD-3ADA72D0E04B}"/>
                </a:ext>
              </a:extLst>
            </p:cNvPr>
            <p:cNvGrpSpPr/>
            <p:nvPr/>
          </p:nvGrpSpPr>
          <p:grpSpPr>
            <a:xfrm>
              <a:off x="3849298" y="2060848"/>
              <a:ext cx="1310140" cy="3245081"/>
              <a:chOff x="3849298" y="2060848"/>
              <a:chExt cx="1310140" cy="3245081"/>
            </a:xfrm>
          </p:grpSpPr>
          <p:sp>
            <p:nvSpPr>
              <p:cNvPr id="12" name="矩形: 圓角 11">
                <a:extLst>
                  <a:ext uri="{FF2B5EF4-FFF2-40B4-BE49-F238E27FC236}">
                    <a16:creationId xmlns:a16="http://schemas.microsoft.com/office/drawing/2014/main" id="{5113E01A-30B8-BA91-6D84-593ABFD3736D}"/>
                  </a:ext>
                </a:extLst>
              </p:cNvPr>
              <p:cNvSpPr/>
              <p:nvPr/>
            </p:nvSpPr>
            <p:spPr>
              <a:xfrm>
                <a:off x="3983219" y="2851682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3" name="矩形: 圓角 12">
                <a:extLst>
                  <a:ext uri="{FF2B5EF4-FFF2-40B4-BE49-F238E27FC236}">
                    <a16:creationId xmlns:a16="http://schemas.microsoft.com/office/drawing/2014/main" id="{6AA99DBC-4A93-596D-730B-1CC8507C53A0}"/>
                  </a:ext>
                </a:extLst>
              </p:cNvPr>
              <p:cNvSpPr/>
              <p:nvPr/>
            </p:nvSpPr>
            <p:spPr>
              <a:xfrm>
                <a:off x="3983219" y="4027493"/>
                <a:ext cx="1028304" cy="243174"/>
              </a:xfrm>
              <a:prstGeom prst="roundRect">
                <a:avLst/>
              </a:prstGeom>
              <a:solidFill>
                <a:schemeClr val="accent2">
                  <a:lumMod val="20000"/>
                  <a:lumOff val="80000"/>
                  <a:alpha val="80000"/>
                </a:schemeClr>
              </a:solidFill>
              <a:ln w="12700">
                <a:solidFill>
                  <a:schemeClr val="accent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2">
                        <a:lumMod val="75000"/>
                      </a:schemeClr>
                    </a:solidFill>
                  </a:rPr>
                  <a:t>Dense</a:t>
                </a:r>
                <a:endParaRPr lang="zh-TW" altLang="en-US" sz="1400" b="1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4" name="矩形: 圓角 13">
                <a:extLst>
                  <a:ext uri="{FF2B5EF4-FFF2-40B4-BE49-F238E27FC236}">
                    <a16:creationId xmlns:a16="http://schemas.microsoft.com/office/drawing/2014/main" id="{247504F2-BFF7-EA0D-04C9-B86B5B3A52E0}"/>
                  </a:ext>
                </a:extLst>
              </p:cNvPr>
              <p:cNvSpPr/>
              <p:nvPr/>
            </p:nvSpPr>
            <p:spPr>
              <a:xfrm>
                <a:off x="3983219" y="3694603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RMS Norm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E2226900-3C29-08A8-EAD2-7664F85C95AE}"/>
                  </a:ext>
                </a:extLst>
              </p:cNvPr>
              <p:cNvSpPr/>
              <p:nvPr/>
            </p:nvSpPr>
            <p:spPr>
              <a:xfrm>
                <a:off x="3849298" y="2614483"/>
                <a:ext cx="1310140" cy="1797695"/>
              </a:xfrm>
              <a:prstGeom prst="rect">
                <a:avLst/>
              </a:prstGeom>
              <a:noFill/>
              <a:ln w="19050">
                <a:solidFill>
                  <a:schemeClr val="accent5">
                    <a:lumMod val="50000"/>
                  </a:schemeClr>
                </a:solidFill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91440" bIns="0" rtlCol="0" anchor="t" anchorCtr="0"/>
              <a:lstStyle/>
              <a:p>
                <a:pPr algn="r"/>
                <a:r>
                  <a:rPr lang="en-US" altLang="zh-TW" sz="1200" b="1" dirty="0">
                    <a:solidFill>
                      <a:schemeClr val="tx1"/>
                    </a:solidFill>
                  </a:rPr>
                  <a:t>Decoder</a:t>
                </a:r>
                <a:endParaRPr lang="zh-TW" altLang="en-US" sz="1200" b="1" dirty="0">
                  <a:solidFill>
                    <a:schemeClr val="tx1"/>
                  </a:solidFill>
                </a:endParaRPr>
              </a:p>
            </p:txBody>
          </p:sp>
          <p:cxnSp>
            <p:nvCxnSpPr>
              <p:cNvPr id="19" name="接點: 肘形 18">
                <a:extLst>
                  <a:ext uri="{FF2B5EF4-FFF2-40B4-BE49-F238E27FC236}">
                    <a16:creationId xmlns:a16="http://schemas.microsoft.com/office/drawing/2014/main" id="{777694FA-BA48-0FF7-8034-2CD9926E19F6}"/>
                  </a:ext>
                </a:extLst>
              </p:cNvPr>
              <p:cNvCxnSpPr>
                <a:cxnSpLocks/>
                <a:stCxn id="13" idx="2"/>
                <a:endCxn id="18" idx="0"/>
              </p:cNvCxnSpPr>
              <p:nvPr/>
            </p:nvCxnSpPr>
            <p:spPr>
              <a:xfrm rot="5400000" flipH="1" flipV="1">
                <a:off x="3672777" y="3439076"/>
                <a:ext cx="1656184" cy="6997"/>
              </a:xfrm>
              <a:prstGeom prst="bentConnector5">
                <a:avLst>
                  <a:gd name="adj1" fmla="val -13803"/>
                  <a:gd name="adj2" fmla="val 12729270"/>
                  <a:gd name="adj3" fmla="val 113803"/>
                </a:avLst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直線單箭頭接點 19">
                <a:extLst>
                  <a:ext uri="{FF2B5EF4-FFF2-40B4-BE49-F238E27FC236}">
                    <a16:creationId xmlns:a16="http://schemas.microsoft.com/office/drawing/2014/main" id="{7B6BA61C-9084-7884-5020-CEFFC7798120}"/>
                  </a:ext>
                </a:extLst>
              </p:cNvPr>
              <p:cNvCxnSpPr>
                <a:cxnSpLocks/>
                <a:stCxn id="12" idx="2"/>
                <a:endCxn id="14" idx="0"/>
              </p:cNvCxnSpPr>
              <p:nvPr/>
            </p:nvCxnSpPr>
            <p:spPr>
              <a:xfrm>
                <a:off x="4497371" y="3094856"/>
                <a:ext cx="0" cy="599747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直線單箭頭接點 20">
                <a:extLst>
                  <a:ext uri="{FF2B5EF4-FFF2-40B4-BE49-F238E27FC236}">
                    <a16:creationId xmlns:a16="http://schemas.microsoft.com/office/drawing/2014/main" id="{01FBAED6-2D73-EBDC-830A-9878D0105A6B}"/>
                  </a:ext>
                </a:extLst>
              </p:cNvPr>
              <p:cNvCxnSpPr>
                <a:cxnSpLocks/>
                <a:stCxn id="18" idx="0"/>
                <a:endCxn id="12" idx="0"/>
              </p:cNvCxnSpPr>
              <p:nvPr/>
            </p:nvCxnSpPr>
            <p:spPr>
              <a:xfrm flipH="1">
                <a:off x="4497371" y="2614483"/>
                <a:ext cx="6997" cy="237199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" name="矩形: 圓角 21">
                <a:extLst>
                  <a:ext uri="{FF2B5EF4-FFF2-40B4-BE49-F238E27FC236}">
                    <a16:creationId xmlns:a16="http://schemas.microsoft.com/office/drawing/2014/main" id="{CB537D79-E32D-F0DE-65D0-E7A6483C7552}"/>
                  </a:ext>
                </a:extLst>
              </p:cNvPr>
              <p:cNvSpPr/>
              <p:nvPr/>
            </p:nvSpPr>
            <p:spPr>
              <a:xfrm>
                <a:off x="3995936" y="2060848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Tokenizer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3" name="矩形: 圓角 22">
                <a:extLst>
                  <a:ext uri="{FF2B5EF4-FFF2-40B4-BE49-F238E27FC236}">
                    <a16:creationId xmlns:a16="http://schemas.microsoft.com/office/drawing/2014/main" id="{0D7E242E-1815-7182-58FA-019B7787C553}"/>
                  </a:ext>
                </a:extLst>
              </p:cNvPr>
              <p:cNvSpPr/>
              <p:nvPr/>
            </p:nvSpPr>
            <p:spPr>
              <a:xfrm>
                <a:off x="3990889" y="5062755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b="1" dirty="0">
                    <a:solidFill>
                      <a:schemeClr val="accent1">
                        <a:lumMod val="75000"/>
                      </a:schemeClr>
                    </a:solidFill>
                  </a:rPr>
                  <a:t>Linear, SM</a:t>
                </a:r>
                <a:endParaRPr lang="zh-TW" altLang="en-US" sz="1400" b="1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  <p:sp>
            <p:nvSpPr>
              <p:cNvPr id="24" name="矩形: 圓角 23">
                <a:extLst>
                  <a:ext uri="{FF2B5EF4-FFF2-40B4-BE49-F238E27FC236}">
                    <a16:creationId xmlns:a16="http://schemas.microsoft.com/office/drawing/2014/main" id="{0DD3497E-0FD2-388D-087A-F837807E9DBD}"/>
                  </a:ext>
                </a:extLst>
              </p:cNvPr>
              <p:cNvSpPr/>
              <p:nvPr/>
            </p:nvSpPr>
            <p:spPr>
              <a:xfrm>
                <a:off x="3983219" y="3163397"/>
                <a:ext cx="1028304" cy="243174"/>
              </a:xfrm>
              <a:prstGeom prst="round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12700">
                <a:solidFill>
                  <a:schemeClr val="tx2">
                    <a:lumMod val="40000"/>
                    <a:lumOff val="60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lIns="0" tIns="0" rIns="0" bIns="0" rtlCol="0" anchor="ctr" anchorCtr="1"/>
              <a:lstStyle/>
              <a:p>
                <a:pPr algn="ctr"/>
                <a:r>
                  <a:rPr lang="en-US" altLang="zh-TW" sz="1400" dirty="0">
                    <a:solidFill>
                      <a:schemeClr val="accent1">
                        <a:lumMod val="75000"/>
                      </a:schemeClr>
                    </a:solidFill>
                  </a:rPr>
                  <a:t>Attention</a:t>
                </a:r>
                <a:endParaRPr lang="zh-TW" altLang="en-US" sz="1400" dirty="0">
                  <a:solidFill>
                    <a:schemeClr val="accent1">
                      <a:lumMod val="75000"/>
                    </a:schemeClr>
                  </a:solidFill>
                </a:endParaRPr>
              </a:p>
            </p:txBody>
          </p:sp>
        </p:grpSp>
        <p:sp>
          <p:nvSpPr>
            <p:cNvPr id="11" name="矩形: 圓角 10">
              <a:extLst>
                <a:ext uri="{FF2B5EF4-FFF2-40B4-BE49-F238E27FC236}">
                  <a16:creationId xmlns:a16="http://schemas.microsoft.com/office/drawing/2014/main" id="{D807B372-9E93-7CCA-D200-CCCF76E64231}"/>
                </a:ext>
              </a:extLst>
            </p:cNvPr>
            <p:cNvSpPr/>
            <p:nvPr/>
          </p:nvSpPr>
          <p:spPr>
            <a:xfrm>
              <a:off x="3850644" y="1628801"/>
              <a:ext cx="1308794" cy="205743"/>
            </a:xfrm>
            <a:prstGeom prst="roundRect">
              <a:avLst/>
            </a:prstGeom>
            <a:solidFill>
              <a:srgbClr val="FFFF00"/>
            </a:solidFill>
            <a:ln w="3175">
              <a:solidFill>
                <a:srgbClr val="FFFF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 anchorCtr="1"/>
            <a:lstStyle/>
            <a:p>
              <a:pPr algn="ctr"/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Tiny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models</a:t>
              </a:r>
              <a:r>
                <a:rPr lang="en-US" altLang="zh-TW" sz="1400" dirty="0">
                  <a:solidFill>
                    <a:schemeClr val="bg1"/>
                  </a:solidFill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  </a:t>
              </a:r>
              <a:r>
                <a:rPr lang="en-US" altLang="zh-TW" sz="1400" dirty="0">
                  <a:solidFill>
                    <a:schemeClr val="bg1"/>
                  </a:solidFill>
                  <a:highlight>
                    <a:srgbClr val="000000"/>
                  </a:highlight>
                  <a:latin typeface="ADLaM Display" panose="02010000000000000000" pitchFamily="2" charset="0"/>
                  <a:ea typeface="ADLaM Display" panose="02010000000000000000" pitchFamily="2" charset="0"/>
                  <a:cs typeface="ADLaM Display" panose="02010000000000000000" pitchFamily="2" charset="0"/>
                </a:rPr>
                <a:t>are</a:t>
              </a:r>
              <a:endParaRPr lang="zh-TW" altLang="en-US" sz="1400" dirty="0">
                <a:solidFill>
                  <a:schemeClr val="bg1"/>
                </a:solidFill>
                <a:highlight>
                  <a:srgbClr val="000000"/>
                </a:highlight>
                <a:latin typeface="ADLaM Display" panose="02010000000000000000" pitchFamily="2" charset="0"/>
                <a:cs typeface="ADLaM Display" panose="02010000000000000000" pitchFamily="2" charset="0"/>
              </a:endParaRPr>
            </a:p>
          </p:txBody>
        </p:sp>
      </p:grpSp>
      <p:sp>
        <p:nvSpPr>
          <p:cNvPr id="4" name="矩形: 圓角 3">
            <a:extLst>
              <a:ext uri="{FF2B5EF4-FFF2-40B4-BE49-F238E27FC236}">
                <a16:creationId xmlns:a16="http://schemas.microsoft.com/office/drawing/2014/main" id="{0AD46D94-09CD-F9AA-F2B7-BEACFE4A0E73}"/>
              </a:ext>
            </a:extLst>
          </p:cNvPr>
          <p:cNvSpPr/>
          <p:nvPr/>
        </p:nvSpPr>
        <p:spPr>
          <a:xfrm>
            <a:off x="5724128" y="4027493"/>
            <a:ext cx="547318" cy="243174"/>
          </a:xfrm>
          <a:prstGeom prst="roundRect">
            <a:avLst/>
          </a:prstGeom>
          <a:solidFill>
            <a:schemeClr val="accent2">
              <a:lumMod val="20000"/>
              <a:lumOff val="80000"/>
              <a:alpha val="40000"/>
            </a:schemeClr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 err="1">
                <a:solidFill>
                  <a:schemeClr val="accent2">
                    <a:lumMod val="50000"/>
                  </a:schemeClr>
                </a:solidFill>
              </a:rPr>
              <a:t>RoLA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5" name="文字方塊 24">
            <a:extLst>
              <a:ext uri="{FF2B5EF4-FFF2-40B4-BE49-F238E27FC236}">
                <a16:creationId xmlns:a16="http://schemas.microsoft.com/office/drawing/2014/main" id="{0CB7A355-21C0-3E1F-35BD-27A7F03ADA4C}"/>
              </a:ext>
            </a:extLst>
          </p:cNvPr>
          <p:cNvSpPr txBox="1"/>
          <p:nvPr/>
        </p:nvSpPr>
        <p:spPr>
          <a:xfrm>
            <a:off x="513010" y="971049"/>
            <a:ext cx="792088" cy="4514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1400"/>
              </a:lnSpc>
              <a:tabLst>
                <a:tab pos="285750" algn="l"/>
              </a:tabLst>
            </a:pPr>
            <a:r>
              <a:rPr lang="en-US" altLang="zh-TW" sz="1200" b="1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E</a:t>
            </a:r>
            <a:r>
              <a:rPr lang="en-US" altLang="zh-TW" sz="1200" u="none" strike="noStrike" dirty="0">
                <a:solidFill>
                  <a:schemeClr val="tx1">
                    <a:lumMod val="65000"/>
                    <a:lumOff val="35000"/>
                  </a:schemeClr>
                </a:solidFill>
                <a:effectLst/>
              </a:rPr>
              <a:t>fficient/</a:t>
            </a:r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 E</a:t>
            </a:r>
            <a:r>
              <a:rPr lang="en-US" altLang="zh-TW" sz="12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dge</a:t>
            </a:r>
            <a:endParaRPr lang="en-US" altLang="zh-TW" sz="1200" u="none" strike="noStrike" dirty="0">
              <a:solidFill>
                <a:schemeClr val="tx1">
                  <a:lumMod val="65000"/>
                  <a:lumOff val="35000"/>
                </a:schemeClr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930727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A7115C8-56FB-C1E8-48CB-42F4B251C3ED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Comparison of Language Models</a:t>
            </a:r>
          </a:p>
          <a:p>
            <a:pPr marL="285750" indent="-285750">
              <a:buFontTx/>
              <a:buChar char="-"/>
            </a:pPr>
            <a:r>
              <a:rPr lang="en-US" altLang="zh-TW" sz="1400" dirty="0" err="1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Cx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3" name="表格 2">
            <a:extLst>
              <a:ext uri="{FF2B5EF4-FFF2-40B4-BE49-F238E27FC236}">
                <a16:creationId xmlns:a16="http://schemas.microsoft.com/office/drawing/2014/main" id="{8A44451E-FF02-AF4A-2290-C616F7E8860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098217"/>
              </p:ext>
            </p:extLst>
          </p:nvPr>
        </p:nvGraphicFramePr>
        <p:xfrm>
          <a:off x="683568" y="1317641"/>
          <a:ext cx="7560839" cy="49684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5757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414443">
                  <a:extLst>
                    <a:ext uri="{9D8B030D-6E8A-4147-A177-3AD203B41FA5}">
                      <a16:colId xmlns:a16="http://schemas.microsoft.com/office/drawing/2014/main" val="401334077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3431692166"/>
                    </a:ext>
                  </a:extLst>
                </a:gridCol>
                <a:gridCol w="1008112">
                  <a:extLst>
                    <a:ext uri="{9D8B030D-6E8A-4147-A177-3AD203B41FA5}">
                      <a16:colId xmlns:a16="http://schemas.microsoft.com/office/drawing/2014/main" val="768901619"/>
                    </a:ext>
                  </a:extLst>
                </a:gridCol>
                <a:gridCol w="1321184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423231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20084">
                <a:tc>
                  <a:txBody>
                    <a:bodyPr/>
                    <a:lstStyle/>
                    <a:p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Models</a:t>
                      </a:r>
                    </a:p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Name</a:t>
                      </a:r>
                      <a:endParaRPr lang="zh-TW" altLang="en-US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Parameter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(active/total)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Context</a:t>
                      </a:r>
                      <a:b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(tokens)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LiveCodeBench</a:t>
                      </a:r>
                      <a:endParaRPr lang="en-US" altLang="zh-TW" sz="12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(Pass@1)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(Requirement)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20084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 Pro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Preview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Cloud-based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Closed source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96.2%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目前最強的雲端閉源模型之一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Gemini 3.5 Flash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95.5%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zh-TW" sz="1100" b="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高速推理的頂級代表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26B A4B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3.8B/25.2B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94.8%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開源模型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極省電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(24GB 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99841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</a:t>
                      </a:r>
                      <a:r>
                        <a:rPr lang="zh-TW" altLang="en-US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GPT-5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93.5%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的主力旗艦模型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o3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91.9%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具備深度思考推理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(Reasoning)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能力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6*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o4-mini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90.7%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輕量化推理模型的代表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13170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V3.2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51B/685B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89.6%~73%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, Local open source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96671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Gemma 4 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31B/31B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256k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88.9%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旗艦模型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8975361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9*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Fable 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89.7%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Anthropic premium Agent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205179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OpenAI o1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：本地無硬體要求，經典初代大文本思考模型。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3407724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11*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Opus 4.5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87.1%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深度邏輯強悍但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成本較高。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8138396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12*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Claude 3.5 Sonnet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200k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83.3%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雲端 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：本地無硬體要求，企業最愛用的長青高性價比模型。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9243267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13_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DeepSeek V3.1 Terminus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37B/671B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79.8%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zh-TW" altLang="en-US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超大</a:t>
                      </a:r>
                      <a:r>
                        <a:rPr lang="en-US" altLang="zh-TW" sz="11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MoE</a:t>
                      </a:r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(160GB+VRAM)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9056015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14_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3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Nemotron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49B/49B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128k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73.7%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4574766"/>
                  </a:ext>
                </a:extLst>
              </a:tr>
              <a:tr h="287632">
                <a:tc>
                  <a:txBody>
                    <a:bodyPr/>
                    <a:lstStyle/>
                    <a:p>
                      <a:pPr algn="l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15_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 4 Maverick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~70B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10M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~72.0%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100" b="0" cap="none" spc="0" dirty="0">
                          <a:ln w="0"/>
                          <a:solidFill>
                            <a:schemeClr val="tx1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Dense, 48GB VRAM x 2</a:t>
                      </a:r>
                      <a:endParaRPr lang="zh-TW" altLang="en-US" sz="1100" b="0" cap="none" spc="0" dirty="0">
                        <a:ln w="0"/>
                        <a:solidFill>
                          <a:schemeClr val="tx1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50355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8470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FE3D3B2A-2DEC-1253-A1E1-B3380B49BA63}"/>
              </a:ext>
            </a:extLst>
          </p:cNvPr>
          <p:cNvSpPr txBox="1"/>
          <p:nvPr/>
        </p:nvSpPr>
        <p:spPr>
          <a:xfrm>
            <a:off x="683568" y="5229200"/>
            <a:ext cx="5217715" cy="1075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12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GPT Generated Unify Format (</a:t>
            </a: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GGUF)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LLM file format.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Open Neuro Network eXchange (ONNX): 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AI model file format</a:t>
            </a:r>
            <a:r>
              <a:rPr lang="en-US" altLang="zh-TW" sz="1200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, for example YOLO.</a:t>
            </a:r>
          </a:p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endParaRPr lang="en-US" altLang="zh-TW" sz="12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</p:txBody>
      </p:sp>
      <p:sp>
        <p:nvSpPr>
          <p:cNvPr id="3" name="標題 1">
            <a:extLst>
              <a:ext uri="{FF2B5EF4-FFF2-40B4-BE49-F238E27FC236}">
                <a16:creationId xmlns:a16="http://schemas.microsoft.com/office/drawing/2014/main" id="{539E0622-0F1A-61E6-0FAF-97C59BD780F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Leading Frameworks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Deploying and fine-tuning your own LLM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is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now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easier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than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 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ever. (</a:t>
            </a:r>
            <a:r>
              <a:rPr lang="zh-TW" altLang="en-US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框架可以做的事</a:t>
            </a:r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)</a:t>
            </a:r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4603716-DFAF-375B-2830-553970E04F4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3998326"/>
              </p:ext>
            </p:extLst>
          </p:nvPr>
        </p:nvGraphicFramePr>
        <p:xfrm>
          <a:off x="323528" y="1484784"/>
          <a:ext cx="8496944" cy="30282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417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936818418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</a:tblGrid>
              <a:tr h="305658">
                <a:tc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Training</a:t>
                      </a:r>
                    </a:p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Framework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-Factory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en-US" altLang="zh-TW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Axolotl +</a:t>
                      </a:r>
                    </a:p>
                    <a:p>
                      <a:r>
                        <a:rPr lang="en-US" altLang="zh-TW" sz="14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Description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Gradio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WebUI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Hugging Face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Open WebUI</a:t>
                      </a:r>
                    </a:p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Ollama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Llama3/Mistral</a:t>
                      </a:r>
                    </a:p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Meta Llama3, Mistral, Qwen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Llama3, Mistral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12504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LLMA-Factory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TRL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Unsloth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Continued PT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305658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 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PEFT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QLoRA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(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)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x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GGUP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5482051"/>
                  </a:ext>
                </a:extLst>
              </a:tr>
              <a:tr h="293214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Library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Improved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MS </a:t>
                      </a:r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DeepSpeed</a:t>
                      </a:r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/FSDP</a:t>
                      </a:r>
                    </a:p>
                    <a:p>
                      <a:r>
                        <a:rPr lang="en-US" altLang="zh-TW" sz="1200" b="0" cap="none" spc="0" dirty="0" err="1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PyTorch</a:t>
                      </a:r>
                      <a:endParaRPr lang="en-US" altLang="zh-TW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523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5399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FF99B597-7909-D1DA-8454-006A2FB29C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D35E8E5C-914A-198C-6F71-81C8CF8D75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0529344"/>
              </p:ext>
            </p:extLst>
          </p:nvPr>
        </p:nvGraphicFramePr>
        <p:xfrm>
          <a:off x="459210" y="4077072"/>
          <a:ext cx="8225582" cy="2111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0542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30775468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767948712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4512040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3248398504"/>
                    </a:ext>
                  </a:extLst>
                </a:gridCol>
                <a:gridCol w="1269008">
                  <a:extLst>
                    <a:ext uri="{9D8B030D-6E8A-4147-A177-3AD203B41FA5}">
                      <a16:colId xmlns:a16="http://schemas.microsoft.com/office/drawing/2014/main" val="1668600716"/>
                    </a:ext>
                  </a:extLst>
                </a:gridCol>
              </a:tblGrid>
              <a:tr h="232026">
                <a:tc rowSpan="2">
                  <a:txBody>
                    <a:bodyPr/>
                    <a:lstStyle/>
                    <a:p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Model</a:t>
                      </a:r>
                      <a:b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</a:br>
                      <a:r>
                        <a:rPr lang="en-US" altLang="zh-TW" sz="1600" b="1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Features</a:t>
                      </a:r>
                      <a:endParaRPr lang="zh-TW" altLang="en-US" sz="1600" b="1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Datasets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Pre-Training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Fine-Tunning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LLM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RAG</a:t>
                      </a:r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1258892"/>
                  </a:ext>
                </a:extLst>
              </a:tr>
              <a:tr h="232026">
                <a:tc vMerge="1"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weight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Routing/PLE</a:t>
                      </a: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Prompt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474553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endParaRPr lang="zh-TW" altLang="en-US" sz="14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340391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Reasoning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(Math)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487302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Knowledge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(Language)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744918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Instruction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(Following)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5565795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Long-Context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(Retrieval)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90134548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r>
                        <a:rPr lang="en-US" altLang="zh-TW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Alignment</a:t>
                      </a:r>
                      <a:r>
                        <a:rPr lang="zh-TW" altLang="en-US" sz="14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 </a:t>
                      </a:r>
                      <a:r>
                        <a:rPr lang="en-US" altLang="zh-TW" sz="1400" b="0" cap="none" spc="0" dirty="0">
                          <a:ln w="0"/>
                          <a:solidFill>
                            <a:schemeClr val="accent1">
                              <a:lumMod val="60000"/>
                              <a:lumOff val="40000"/>
                            </a:schemeClr>
                          </a:solidFill>
                          <a:effectLst/>
                        </a:rPr>
                        <a:t>(Safety)</a:t>
                      </a: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9149316"/>
                  </a:ext>
                </a:extLst>
              </a:tr>
              <a:tr h="23202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zh-TW" altLang="en-US" sz="1400" b="0" cap="none" spc="0" dirty="0">
                        <a:ln w="0"/>
                        <a:solidFill>
                          <a:schemeClr val="accent1">
                            <a:lumMod val="60000"/>
                            <a:lumOff val="40000"/>
                          </a:schemeClr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200" b="0" cap="none" spc="0" dirty="0">
                          <a:ln w="0"/>
                          <a:solidFill>
                            <a:schemeClr val="tx1"/>
                          </a:solidFill>
                          <a:effectLst/>
                        </a:rPr>
                        <a:t>v</a:t>
                      </a:r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1200" b="0" cap="none" spc="0" dirty="0">
                        <a:ln w="0"/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0" marR="0" marT="0" marB="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78726591"/>
                  </a:ext>
                </a:extLst>
              </a:tr>
            </a:tbl>
          </a:graphicData>
        </a:graphic>
      </p:graphicFrame>
      <p:sp>
        <p:nvSpPr>
          <p:cNvPr id="8" name="文字方塊 7">
            <a:extLst>
              <a:ext uri="{FF2B5EF4-FFF2-40B4-BE49-F238E27FC236}">
                <a16:creationId xmlns:a16="http://schemas.microsoft.com/office/drawing/2014/main" id="{09D16506-3A81-A8F0-9750-304184876E06}"/>
              </a:ext>
            </a:extLst>
          </p:cNvPr>
          <p:cNvSpPr txBox="1"/>
          <p:nvPr/>
        </p:nvSpPr>
        <p:spPr>
          <a:xfrm>
            <a:off x="495400" y="1509949"/>
            <a:ext cx="6657875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Engineering Index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Latency</a:t>
            </a:r>
            <a:r>
              <a:rPr lang="en-US" altLang="zh-TW" sz="1600" dirty="0">
                <a:solidFill>
                  <a:prstClr val="black"/>
                </a:solidFill>
              </a:rPr>
              <a:t>: Time to first token (TTFT)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Throughput: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Tokens per second (TPS)</a:t>
            </a:r>
          </a:p>
          <a:p>
            <a:pPr marL="285750" lvl="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Cost Efficiency: </a:t>
            </a:r>
            <a:r>
              <a:rPr lang="en-US" altLang="zh-TW" sz="1600" dirty="0">
                <a:solidFill>
                  <a:prstClr val="black"/>
                </a:solidFill>
              </a:rPr>
              <a:t>Cost per token </a:t>
            </a:r>
            <a:endParaRPr kumimoji="0" lang="en-US" altLang="zh-TW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0FDB6D11-60C8-5A2F-2DF3-BC903F9F91EF}"/>
              </a:ext>
            </a:extLst>
          </p:cNvPr>
          <p:cNvSpPr txBox="1"/>
          <p:nvPr/>
        </p:nvSpPr>
        <p:spPr>
          <a:xfrm>
            <a:off x="3030926" y="3640242"/>
            <a:ext cx="41044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dirty="0"/>
              <a:t>每個階段的成本分析</a:t>
            </a:r>
            <a:r>
              <a:rPr lang="en-US" altLang="zh-TW" dirty="0"/>
              <a:t>(</a:t>
            </a:r>
            <a:r>
              <a:rPr lang="zh-TW" altLang="en-US" dirty="0"/>
              <a:t>時間</a:t>
            </a:r>
            <a:r>
              <a:rPr lang="en-US" altLang="zh-TW" dirty="0"/>
              <a:t>, </a:t>
            </a:r>
            <a:r>
              <a:rPr lang="zh-TW" altLang="en-US" dirty="0"/>
              <a:t>金錢</a:t>
            </a:r>
            <a:r>
              <a:rPr lang="en-US" altLang="zh-TW" dirty="0"/>
              <a:t>)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50793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5C940E0C-74B1-7C52-4534-491AC8EC37ED}"/>
              </a:ext>
            </a:extLst>
          </p:cNvPr>
          <p:cNvSpPr txBox="1"/>
          <p:nvPr/>
        </p:nvSpPr>
        <p:spPr>
          <a:xfrm>
            <a:off x="478689" y="135092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Tools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Model Engine: </a:t>
            </a:r>
            <a:r>
              <a:rPr lang="en-US" altLang="zh-TW" sz="1600" dirty="0">
                <a:solidFill>
                  <a:prstClr val="black"/>
                </a:solidFill>
              </a:rPr>
              <a:t>Ollama,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: DeepSeek, LlaMA4, Gemma4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Fine-Tuning Tool</a:t>
            </a:r>
            <a:r>
              <a:rPr lang="en-US" altLang="zh-TW" sz="1600" dirty="0">
                <a:solidFill>
                  <a:prstClr val="black"/>
                </a:solidFill>
              </a:rPr>
              <a:t>: llama-factory (PEFT)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IDE</a:t>
            </a:r>
            <a:r>
              <a:rPr lang="en-US" altLang="zh-TW" sz="1600" dirty="0">
                <a:solidFill>
                  <a:prstClr val="black"/>
                </a:solidFill>
              </a:rPr>
              <a:t>: Anti-gravity …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4FCEE8A5-86EF-8FFC-09AD-B4AA7F4E6006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Hugging Face </a:t>
            </a: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  <a:sym typeface="Wingdings" panose="05000000000000000000" pitchFamily="2" charset="2"/>
              </a:rPr>
              <a:t> Ollama  Launch Model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0F2C1A-AAEE-60EA-B4F3-7315978747FF}"/>
              </a:ext>
            </a:extLst>
          </p:cNvPr>
          <p:cNvSpPr txBox="1"/>
          <p:nvPr/>
        </p:nvSpPr>
        <p:spPr>
          <a:xfrm>
            <a:off x="478689" y="3501008"/>
            <a:ext cx="6657875" cy="1862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dirty="0"/>
              <a:t>Steps</a:t>
            </a:r>
            <a:endParaRPr lang="en-US" altLang="zh-TW" sz="2000" b="1" u="none" strike="noStrike" dirty="0">
              <a:effectLst/>
            </a:endParaRP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dirty="0">
                <a:solidFill>
                  <a:prstClr val="black"/>
                </a:solidFill>
              </a:rPr>
              <a:t>Download and Setup</a:t>
            </a:r>
            <a:r>
              <a:rPr lang="en-US" altLang="zh-TW" sz="1600" dirty="0">
                <a:solidFill>
                  <a:prstClr val="black"/>
                </a:solidFill>
              </a:rPr>
              <a:t>: GGUF and ONNX.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lang="en-US" altLang="zh-TW" sz="1600" b="1" dirty="0"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Directory: 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Model and  … </a:t>
            </a: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endParaRPr lang="en-US" altLang="zh-TW" sz="1600" dirty="0">
              <a:solidFill>
                <a:prstClr val="black"/>
              </a:solidFill>
              <a:latin typeface="Calibri"/>
              <a:ea typeface="新細明體" panose="02020500000000000000" pitchFamily="18" charset="-120"/>
            </a:endParaRPr>
          </a:p>
          <a:p>
            <a:pPr marL="285750" marR="0" lvl="0" indent="-285750" algn="l" defTabSz="914400" rtl="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安裝完一切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該看到什麼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?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 那些檔案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, </a:t>
            </a:r>
            <a:r>
              <a:rPr kumimoji="0" lang="zh-TW" alt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各有什麼功用</a:t>
            </a:r>
            <a:r>
              <a:rPr kumimoji="0" lang="en-US" altLang="zh-TW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10180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2A78C-08E1-24C2-59AF-39BFBB385D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標題 1">
            <a:extLst>
              <a:ext uri="{FF2B5EF4-FFF2-40B4-BE49-F238E27FC236}">
                <a16:creationId xmlns:a16="http://schemas.microsoft.com/office/drawing/2014/main" id="{BF41F877-BB16-7E15-C2E2-B063C3C0854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740352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28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Practical Example:</a:t>
            </a:r>
            <a:endParaRPr kumimoji="0" lang="en-US" altLang="zh-TW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prstClr val="black"/>
                </a:solidFill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Python Program in IDE </a:t>
            </a: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23834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>
            <a:extLst>
              <a:ext uri="{FF2B5EF4-FFF2-40B4-BE49-F238E27FC236}">
                <a16:creationId xmlns:a16="http://schemas.microsoft.com/office/drawing/2014/main" id="{7D88264F-8D27-8E9F-CBF6-F61243BD5B41}"/>
              </a:ext>
            </a:extLst>
          </p:cNvPr>
          <p:cNvSpPr/>
          <p:nvPr/>
        </p:nvSpPr>
        <p:spPr>
          <a:xfrm>
            <a:off x="5918111" y="1933659"/>
            <a:ext cx="2764248" cy="333300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70AF1FB-ED05-70F0-4DB3-6127255BC839}"/>
              </a:ext>
            </a:extLst>
          </p:cNvPr>
          <p:cNvSpPr/>
          <p:nvPr/>
        </p:nvSpPr>
        <p:spPr>
          <a:xfrm>
            <a:off x="6228599" y="2908192"/>
            <a:ext cx="2138553" cy="235067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System Prompt 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07BA97E-C56E-E7DA-9BCB-13829BFBAF71}"/>
              </a:ext>
            </a:extLst>
          </p:cNvPr>
          <p:cNvSpPr/>
          <p:nvPr/>
        </p:nvSpPr>
        <p:spPr>
          <a:xfrm>
            <a:off x="6228599" y="2354902"/>
            <a:ext cx="2138553" cy="45396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User Prompt</a:t>
            </a:r>
            <a:endParaRPr lang="en-US" altLang="zh-TW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pPr algn="ctr"/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問話、檔案、圖片、聲音、影片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EFB6727-F3BA-A57C-3144-6772B21B5D15}"/>
              </a:ext>
            </a:extLst>
          </p:cNvPr>
          <p:cNvSpPr/>
          <p:nvPr/>
        </p:nvSpPr>
        <p:spPr>
          <a:xfrm>
            <a:off x="6211295" y="4334356"/>
            <a:ext cx="2138553" cy="556908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Block Hashing</a:t>
            </a:r>
            <a:br>
              <a:rPr lang="en-US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KV Cache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032344B-9D17-C577-54A3-35184C84F7A8}"/>
              </a:ext>
            </a:extLst>
          </p:cNvPr>
          <p:cNvSpPr/>
          <p:nvPr/>
        </p:nvSpPr>
        <p:spPr>
          <a:xfrm>
            <a:off x="6225468" y="3644907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Prompt Templating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AD862E8-6E61-CCD5-92B1-19DF3C04E057}"/>
              </a:ext>
            </a:extLst>
          </p:cNvPr>
          <p:cNvSpPr/>
          <p:nvPr/>
        </p:nvSpPr>
        <p:spPr>
          <a:xfrm>
            <a:off x="6211295" y="3995768"/>
            <a:ext cx="2138553" cy="249579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Tokenization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9" name="文字方塊 38">
            <a:extLst>
              <a:ext uri="{FF2B5EF4-FFF2-40B4-BE49-F238E27FC236}">
                <a16:creationId xmlns:a16="http://schemas.microsoft.com/office/drawing/2014/main" id="{DFCD5701-21B1-1F5E-2482-B310571D001E}"/>
              </a:ext>
            </a:extLst>
          </p:cNvPr>
          <p:cNvSpPr txBox="1"/>
          <p:nvPr/>
        </p:nvSpPr>
        <p:spPr>
          <a:xfrm>
            <a:off x="3932018" y="1840642"/>
            <a:ext cx="1652125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Agent (</a:t>
            </a:r>
            <a:r>
              <a:rPr lang="en-US" altLang="zh-CN" sz="1350" b="1" dirty="0" err="1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ReAct</a:t>
            </a:r>
            <a:r>
              <a:rPr lang="en-US" altLang="zh-CN" sz="1350" b="1" dirty="0">
                <a:solidFill>
                  <a:schemeClr val="accent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)</a:t>
            </a:r>
            <a:endParaRPr lang="zh-TW" altLang="en-US" sz="1350" b="1" dirty="0">
              <a:solidFill>
                <a:schemeClr val="accent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CD72146-64C0-38AB-C94D-DB29869A769A}"/>
              </a:ext>
            </a:extLst>
          </p:cNvPr>
          <p:cNvSpPr/>
          <p:nvPr/>
        </p:nvSpPr>
        <p:spPr>
          <a:xfrm>
            <a:off x="5020175" y="3385045"/>
            <a:ext cx="8031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397712A-50F4-F6E5-E88D-87EF4557CA99}"/>
              </a:ext>
            </a:extLst>
          </p:cNvPr>
          <p:cNvSpPr/>
          <p:nvPr/>
        </p:nvSpPr>
        <p:spPr>
          <a:xfrm>
            <a:off x="6063577" y="3415248"/>
            <a:ext cx="2462339" cy="1568706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大模型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B79AF00-F49A-7AF2-43C3-191C63509881}"/>
              </a:ext>
            </a:extLst>
          </p:cNvPr>
          <p:cNvSpPr/>
          <p:nvPr/>
        </p:nvSpPr>
        <p:spPr>
          <a:xfrm>
            <a:off x="6063576" y="2124619"/>
            <a:ext cx="2462339" cy="1078430"/>
          </a:xfrm>
          <a:prstGeom prst="rect">
            <a:avLst/>
          </a:prstGeom>
          <a:noFill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上下文管理</a:t>
            </a:r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E3A592-835A-8275-6406-486816C11202}"/>
              </a:ext>
            </a:extLst>
          </p:cNvPr>
          <p:cNvSpPr/>
          <p:nvPr/>
        </p:nvSpPr>
        <p:spPr>
          <a:xfrm>
            <a:off x="5020175" y="2708017"/>
            <a:ext cx="803151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Observation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5" name="接點: 肘形 44">
            <a:extLst>
              <a:ext uri="{FF2B5EF4-FFF2-40B4-BE49-F238E27FC236}">
                <a16:creationId xmlns:a16="http://schemas.microsoft.com/office/drawing/2014/main" id="{FCF97746-0406-AF7D-A163-C26DD130A6D2}"/>
              </a:ext>
            </a:extLst>
          </p:cNvPr>
          <p:cNvCxnSpPr>
            <a:cxnSpLocks/>
            <a:stCxn id="11" idx="2"/>
            <a:endCxn id="41" idx="2"/>
          </p:cNvCxnSpPr>
          <p:nvPr/>
        </p:nvCxnSpPr>
        <p:spPr>
          <a:xfrm rot="5400000" flipH="1">
            <a:off x="5535601" y="3502028"/>
            <a:ext cx="1650785" cy="1878485"/>
          </a:xfrm>
          <a:prstGeom prst="bentConnector3">
            <a:avLst>
              <a:gd name="adj1" fmla="val -593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接點: 肘形 45">
            <a:extLst>
              <a:ext uri="{FF2B5EF4-FFF2-40B4-BE49-F238E27FC236}">
                <a16:creationId xmlns:a16="http://schemas.microsoft.com/office/drawing/2014/main" id="{2766C5AD-18D5-9375-0DD2-00BA9204801A}"/>
              </a:ext>
            </a:extLst>
          </p:cNvPr>
          <p:cNvCxnSpPr>
            <a:cxnSpLocks/>
            <a:stCxn id="43" idx="0"/>
            <a:endCxn id="15" idx="0"/>
          </p:cNvCxnSpPr>
          <p:nvPr/>
        </p:nvCxnSpPr>
        <p:spPr>
          <a:xfrm rot="5400000" flipH="1" flipV="1">
            <a:off x="6183255" y="1593397"/>
            <a:ext cx="353115" cy="1876125"/>
          </a:xfrm>
          <a:prstGeom prst="bentConnector3">
            <a:avLst>
              <a:gd name="adj1" fmla="val 19017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接點: 肘形 49">
            <a:extLst>
              <a:ext uri="{FF2B5EF4-FFF2-40B4-BE49-F238E27FC236}">
                <a16:creationId xmlns:a16="http://schemas.microsoft.com/office/drawing/2014/main" id="{49FD5CB2-9F5D-592A-DAEE-72750F2C19A6}"/>
              </a:ext>
            </a:extLst>
          </p:cNvPr>
          <p:cNvCxnSpPr>
            <a:cxnSpLocks/>
            <a:stCxn id="41" idx="0"/>
            <a:endCxn id="43" idx="2"/>
          </p:cNvCxnSpPr>
          <p:nvPr/>
        </p:nvCxnSpPr>
        <p:spPr>
          <a:xfrm rot="16200000" flipV="1">
            <a:off x="5198653" y="3161947"/>
            <a:ext cx="446195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文字方塊 61">
            <a:extLst>
              <a:ext uri="{FF2B5EF4-FFF2-40B4-BE49-F238E27FC236}">
                <a16:creationId xmlns:a16="http://schemas.microsoft.com/office/drawing/2014/main" id="{C4933434-E99C-ACA0-C643-C8FD37F2A477}"/>
              </a:ext>
            </a:extLst>
          </p:cNvPr>
          <p:cNvSpPr txBox="1"/>
          <p:nvPr/>
        </p:nvSpPr>
        <p:spPr>
          <a:xfrm>
            <a:off x="3974512" y="3377636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工具執行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64" name="文字方塊 63">
            <a:extLst>
              <a:ext uri="{FF2B5EF4-FFF2-40B4-BE49-F238E27FC236}">
                <a16:creationId xmlns:a16="http://schemas.microsoft.com/office/drawing/2014/main" id="{9D8D8E31-9F9C-C709-59F8-96561CA4DFD3}"/>
              </a:ext>
            </a:extLst>
          </p:cNvPr>
          <p:cNvSpPr txBox="1"/>
          <p:nvPr/>
        </p:nvSpPr>
        <p:spPr>
          <a:xfrm>
            <a:off x="3958684" y="2686622"/>
            <a:ext cx="978980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執行</a:t>
            </a:r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結果反饋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0" name="矩形 69">
            <a:extLst>
              <a:ext uri="{FF2B5EF4-FFF2-40B4-BE49-F238E27FC236}">
                <a16:creationId xmlns:a16="http://schemas.microsoft.com/office/drawing/2014/main" id="{E4E60699-5A1E-65BD-C11D-3D1653332DA6}"/>
              </a:ext>
            </a:extLst>
          </p:cNvPr>
          <p:cNvSpPr/>
          <p:nvPr/>
        </p:nvSpPr>
        <p:spPr>
          <a:xfrm>
            <a:off x="6939459" y="5709871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TW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Answer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A0FB29B3-449C-CA85-0143-4D39CE832474}"/>
              </a:ext>
            </a:extLst>
          </p:cNvPr>
          <p:cNvSpPr/>
          <p:nvPr/>
        </p:nvSpPr>
        <p:spPr>
          <a:xfrm>
            <a:off x="6937100" y="1426796"/>
            <a:ext cx="721552" cy="230834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zh-CN" sz="900" b="1" dirty="0">
                <a:solidFill>
                  <a:schemeClr val="bg1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Question</a:t>
            </a:r>
            <a:endParaRPr lang="zh-TW" altLang="en-US" sz="900" b="1" dirty="0">
              <a:solidFill>
                <a:schemeClr val="bg1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81" name="接點: 肘形 80">
            <a:extLst>
              <a:ext uri="{FF2B5EF4-FFF2-40B4-BE49-F238E27FC236}">
                <a16:creationId xmlns:a16="http://schemas.microsoft.com/office/drawing/2014/main" id="{B4677D52-B7BF-A2F3-BD7C-A3CE3D5BC62F}"/>
              </a:ext>
            </a:extLst>
          </p:cNvPr>
          <p:cNvCxnSpPr>
            <a:cxnSpLocks/>
            <a:stCxn id="78" idx="2"/>
            <a:endCxn id="15" idx="0"/>
          </p:cNvCxnSpPr>
          <p:nvPr/>
        </p:nvCxnSpPr>
        <p:spPr>
          <a:xfrm rot="5400000">
            <a:off x="6949240" y="2006266"/>
            <a:ext cx="697272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接點: 肘形 84">
            <a:extLst>
              <a:ext uri="{FF2B5EF4-FFF2-40B4-BE49-F238E27FC236}">
                <a16:creationId xmlns:a16="http://schemas.microsoft.com/office/drawing/2014/main" id="{14C197BB-FF95-3F9F-2CF1-D8A0F38FABC2}"/>
              </a:ext>
            </a:extLst>
          </p:cNvPr>
          <p:cNvCxnSpPr>
            <a:cxnSpLocks/>
            <a:stCxn id="11" idx="2"/>
            <a:endCxn id="70" idx="0"/>
          </p:cNvCxnSpPr>
          <p:nvPr/>
        </p:nvCxnSpPr>
        <p:spPr>
          <a:xfrm rot="5400000">
            <a:off x="7078632" y="5488267"/>
            <a:ext cx="443209" cy="952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文字方塊 99">
            <a:extLst>
              <a:ext uri="{FF2B5EF4-FFF2-40B4-BE49-F238E27FC236}">
                <a16:creationId xmlns:a16="http://schemas.microsoft.com/office/drawing/2014/main" id="{E3159AEA-8130-A12D-8992-26D88711C085}"/>
              </a:ext>
            </a:extLst>
          </p:cNvPr>
          <p:cNvSpPr txBox="1"/>
          <p:nvPr/>
        </p:nvSpPr>
        <p:spPr>
          <a:xfrm>
            <a:off x="7340751" y="5288079"/>
            <a:ext cx="777098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0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規劃回應</a:t>
            </a:r>
            <a:endParaRPr lang="zh-TW" altLang="en-US" sz="10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4" name="矩形 113">
            <a:extLst>
              <a:ext uri="{FF2B5EF4-FFF2-40B4-BE49-F238E27FC236}">
                <a16:creationId xmlns:a16="http://schemas.microsoft.com/office/drawing/2014/main" id="{D0BC473B-D15A-A468-6E2B-BBDD3F162373}"/>
              </a:ext>
            </a:extLst>
          </p:cNvPr>
          <p:cNvSpPr/>
          <p:nvPr/>
        </p:nvSpPr>
        <p:spPr>
          <a:xfrm>
            <a:off x="3927022" y="1748523"/>
            <a:ext cx="4911308" cy="3770389"/>
          </a:xfrm>
          <a:prstGeom prst="rect">
            <a:avLst/>
          </a:prstGeom>
          <a:noFill/>
          <a:ln w="38100">
            <a:solidFill>
              <a:schemeClr val="accent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b"/>
          <a:lstStyle/>
          <a:p>
            <a:r>
              <a:rPr lang="zh-TW" altLang="zh-TW" sz="900" b="1" dirty="0">
                <a:noFill/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Thought</a:t>
            </a:r>
            <a:endParaRPr lang="zh-TW" altLang="en-US" sz="900" b="1" dirty="0">
              <a:noFill/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7" name="文字方塊 116">
            <a:extLst>
              <a:ext uri="{FF2B5EF4-FFF2-40B4-BE49-F238E27FC236}">
                <a16:creationId xmlns:a16="http://schemas.microsoft.com/office/drawing/2014/main" id="{30CFBF44-512D-8D83-A5D7-53A882A9823F}"/>
              </a:ext>
            </a:extLst>
          </p:cNvPr>
          <p:cNvSpPr txBox="1"/>
          <p:nvPr/>
        </p:nvSpPr>
        <p:spPr>
          <a:xfrm>
            <a:off x="4049780" y="980045"/>
            <a:ext cx="4632579" cy="3000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1350" dirty="0"/>
              <a:t>Agent 的上限由大模型決定，但下限由上下文管理決定。</a:t>
            </a:r>
          </a:p>
        </p:txBody>
      </p: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DD4EBD5C-159C-4264-4591-18EC61B9DBA4}"/>
              </a:ext>
            </a:extLst>
          </p:cNvPr>
          <p:cNvSpPr txBox="1"/>
          <p:nvPr/>
        </p:nvSpPr>
        <p:spPr>
          <a:xfrm>
            <a:off x="3998628" y="3663028"/>
            <a:ext cx="1757590" cy="18928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zh-TW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Function Calling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skill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A2A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ACP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Ephemeral 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Sub-agent</a:t>
            </a:r>
            <a:r>
              <a:rPr lang="zh-CN" altLang="en-US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HITL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REPL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Sandbox</a:t>
            </a:r>
          </a:p>
          <a:p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Vision-Based Operation</a:t>
            </a:r>
            <a:b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9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Computer Use</a:t>
            </a:r>
          </a:p>
          <a:p>
            <a:endParaRPr lang="zh-TW" altLang="en-US" sz="9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163" name="圖片 162">
            <a:extLst>
              <a:ext uri="{FF2B5EF4-FFF2-40B4-BE49-F238E27FC236}">
                <a16:creationId xmlns:a16="http://schemas.microsoft.com/office/drawing/2014/main" id="{B441A2AC-9804-55D0-23BA-CBE712A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1989" y="1565392"/>
            <a:ext cx="3340335" cy="2687707"/>
          </a:xfrm>
          <a:prstGeom prst="rect">
            <a:avLst/>
          </a:prstGeom>
        </p:spPr>
      </p:pic>
      <p:pic>
        <p:nvPicPr>
          <p:cNvPr id="165" name="圖片 164">
            <a:extLst>
              <a:ext uri="{FF2B5EF4-FFF2-40B4-BE49-F238E27FC236}">
                <a16:creationId xmlns:a16="http://schemas.microsoft.com/office/drawing/2014/main" id="{5753F105-B0A1-0CA7-1F31-A462F5FFD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237" y="4313131"/>
            <a:ext cx="3018275" cy="104092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/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Hash</m:t>
                      </m:r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(</m:t>
                      </m:r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Block</m:t>
                      </m:r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 1)</m:t>
                      </m:r>
                      <m:r>
                        <a:rPr lang="zh-TW" altLang="en-US" sz="9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SHA</m:t>
                      </m:r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256</m:t>
                      </m:r>
                      <m:d>
                        <m:dPr>
                          <m:ctrlPr>
                            <a:rPr lang="zh-TW" altLang="en-US" sz="9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Hash</m:t>
                          </m:r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(</m:t>
                          </m:r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0)</m:t>
                          </m:r>
                          <m:r>
                            <a:rPr lang="zh-TW" altLang="en-US" sz="90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Block</m:t>
                          </m:r>
                          <m:r>
                            <m:rPr>
                              <m:nor/>
                            </m:rPr>
                            <a:rPr lang="zh-TW" altLang="en-US" sz="900">
                              <a:latin typeface="微軟正黑體 Light" panose="020B0304030504040204" pitchFamily="34" charset="-120"/>
                              <a:ea typeface="微軟正黑體 Light" panose="020B0304030504040204" pitchFamily="34" charset="-120"/>
                            </a:rPr>
                            <m:t> 1 的內容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m:rPr>
                          <m:nor/>
                        </m:rPr>
                        <a:rPr lang="zh-TW" altLang="en-US" sz="900">
                          <a:latin typeface="微軟正黑體 Light" panose="020B0304030504040204" pitchFamily="34" charset="-120"/>
                          <a:ea typeface="微軟正黑體 Light" panose="020B0304030504040204" pitchFamily="34" charset="-120"/>
                        </a:rPr>
                        <m:t>靜態在頂，動態在底；由穩入變，線性追加</m:t>
                      </m:r>
                    </m:oMath>
                  </m:oMathPara>
                </a14:m>
                <a:endParaRPr lang="zh-TW" altLang="en-US" sz="900" dirty="0">
                  <a:latin typeface="微軟正黑體 Light" panose="020B0304030504040204" pitchFamily="34" charset="-120"/>
                  <a:ea typeface="微軟正黑體 Light" panose="020B0304030504040204" pitchFamily="34" charset="-120"/>
                </a:endParaRPr>
              </a:p>
            </p:txBody>
          </p:sp>
        </mc:Choice>
        <mc:Fallback xmlns="">
          <p:sp>
            <p:nvSpPr>
              <p:cNvPr id="167" name="文字方塊 166">
                <a:extLst>
                  <a:ext uri="{FF2B5EF4-FFF2-40B4-BE49-F238E27FC236}">
                    <a16:creationId xmlns:a16="http://schemas.microsoft.com/office/drawing/2014/main" id="{68428BF5-E137-79A2-9A22-6D73F9A159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080" y="5403495"/>
                <a:ext cx="3332021" cy="369460"/>
              </a:xfrm>
              <a:prstGeom prst="rect">
                <a:avLst/>
              </a:prstGeom>
              <a:blipFill>
                <a:blip r:embed="rId5"/>
                <a:stretch>
                  <a:fillRect b="-1639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441632E2-FB6B-F197-DF26-1CCC2A6D969E}"/>
              </a:ext>
            </a:extLst>
          </p:cNvPr>
          <p:cNvCxnSpPr>
            <a:cxnSpLocks/>
            <a:stCxn id="161" idx="3"/>
          </p:cNvCxnSpPr>
          <p:nvPr/>
        </p:nvCxnSpPr>
        <p:spPr>
          <a:xfrm>
            <a:off x="3303820" y="1614323"/>
            <a:ext cx="4001179" cy="1756863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2" name="直線單箭頭接點 171">
            <a:extLst>
              <a:ext uri="{FF2B5EF4-FFF2-40B4-BE49-F238E27FC236}">
                <a16:creationId xmlns:a16="http://schemas.microsoft.com/office/drawing/2014/main" id="{4F8379A8-E312-AAAB-0305-5F21D7A48075}"/>
              </a:ext>
            </a:extLst>
          </p:cNvPr>
          <p:cNvCxnSpPr>
            <a:cxnSpLocks/>
            <a:endCxn id="23" idx="1"/>
          </p:cNvCxnSpPr>
          <p:nvPr/>
        </p:nvCxnSpPr>
        <p:spPr>
          <a:xfrm>
            <a:off x="3080424" y="2908191"/>
            <a:ext cx="3145044" cy="86150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9" name="直線單箭頭接點 178">
            <a:extLst>
              <a:ext uri="{FF2B5EF4-FFF2-40B4-BE49-F238E27FC236}">
                <a16:creationId xmlns:a16="http://schemas.microsoft.com/office/drawing/2014/main" id="{CB0339C0-FB3B-E9D5-6168-023B9B26187C}"/>
              </a:ext>
            </a:extLst>
          </p:cNvPr>
          <p:cNvCxnSpPr>
            <a:cxnSpLocks/>
            <a:stCxn id="165" idx="3"/>
            <a:endCxn id="31" idx="1"/>
          </p:cNvCxnSpPr>
          <p:nvPr/>
        </p:nvCxnSpPr>
        <p:spPr>
          <a:xfrm flipV="1">
            <a:off x="3418511" y="4120558"/>
            <a:ext cx="2792784" cy="713036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82" name="直線單箭頭接點 181">
            <a:extLst>
              <a:ext uri="{FF2B5EF4-FFF2-40B4-BE49-F238E27FC236}">
                <a16:creationId xmlns:a16="http://schemas.microsoft.com/office/drawing/2014/main" id="{C2C124A4-03BF-CCAC-C4D6-0AB57500B2E6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3563977" y="4612810"/>
            <a:ext cx="2647319" cy="973959"/>
          </a:xfrm>
          <a:prstGeom prst="straightConnector1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88" name="圖片 187">
            <a:extLst>
              <a:ext uri="{FF2B5EF4-FFF2-40B4-BE49-F238E27FC236}">
                <a16:creationId xmlns:a16="http://schemas.microsoft.com/office/drawing/2014/main" id="{A3436026-A169-47CF-A377-C870212F410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5283" y="1426112"/>
            <a:ext cx="1697483" cy="139280"/>
          </a:xfrm>
          <a:prstGeom prst="rect">
            <a:avLst/>
          </a:prstGeom>
        </p:spPr>
      </p:pic>
      <p:pic>
        <p:nvPicPr>
          <p:cNvPr id="192" name="圖片 191">
            <a:extLst>
              <a:ext uri="{FF2B5EF4-FFF2-40B4-BE49-F238E27FC236}">
                <a16:creationId xmlns:a16="http://schemas.microsoft.com/office/drawing/2014/main" id="{DD6667E5-60F6-0869-8A1E-E007756D8E4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16478" y="2819990"/>
            <a:ext cx="1677644" cy="153246"/>
          </a:xfrm>
          <a:prstGeom prst="rect">
            <a:avLst/>
          </a:prstGeom>
        </p:spPr>
      </p:pic>
      <p:pic>
        <p:nvPicPr>
          <p:cNvPr id="161" name="圖片 160">
            <a:extLst>
              <a:ext uri="{FF2B5EF4-FFF2-40B4-BE49-F238E27FC236}">
                <a16:creationId xmlns:a16="http://schemas.microsoft.com/office/drawing/2014/main" id="{846CFD46-7FB4-E8C7-BCB8-ACCB38DC590D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545" y="1138729"/>
            <a:ext cx="3018275" cy="951188"/>
          </a:xfrm>
          <a:prstGeom prst="rect">
            <a:avLst/>
          </a:prstGeom>
        </p:spPr>
      </p:pic>
      <p:cxnSp>
        <p:nvCxnSpPr>
          <p:cNvPr id="4" name="接點: 肘形 3">
            <a:extLst>
              <a:ext uri="{FF2B5EF4-FFF2-40B4-BE49-F238E27FC236}">
                <a16:creationId xmlns:a16="http://schemas.microsoft.com/office/drawing/2014/main" id="{4EA7BBDC-7B61-EC8B-3736-ACD5249C1E37}"/>
              </a:ext>
            </a:extLst>
          </p:cNvPr>
          <p:cNvCxnSpPr>
            <a:cxnSpLocks/>
            <a:stCxn id="9" idx="2"/>
          </p:cNvCxnSpPr>
          <p:nvPr/>
        </p:nvCxnSpPr>
        <p:spPr>
          <a:xfrm rot="5400000">
            <a:off x="7099096" y="3398699"/>
            <a:ext cx="391299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A500A213-6C42-2B9F-F559-C623686766CC}"/>
              </a:ext>
            </a:extLst>
          </p:cNvPr>
          <p:cNvSpPr txBox="1"/>
          <p:nvPr/>
        </p:nvSpPr>
        <p:spPr>
          <a:xfrm>
            <a:off x="932451" y="1129909"/>
            <a:ext cx="4570821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TW" altLang="zh-TW" sz="900" dirty="0">
                <a:solidFill>
                  <a:schemeClr val="bg1"/>
                </a:solidFill>
              </a:rPr>
              <a:t>OpenAI Chat Completions API 格式</a:t>
            </a:r>
          </a:p>
        </p:txBody>
      </p:sp>
    </p:spTree>
    <p:extLst>
      <p:ext uri="{BB962C8B-B14F-4D97-AF65-F5344CB8AC3E}">
        <p14:creationId xmlns:p14="http://schemas.microsoft.com/office/powerpoint/2010/main" val="25705768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字方塊 6">
            <a:extLst>
              <a:ext uri="{FF2B5EF4-FFF2-40B4-BE49-F238E27FC236}">
                <a16:creationId xmlns:a16="http://schemas.microsoft.com/office/drawing/2014/main" id="{D871E9EB-038B-1CAB-C8C1-9B3E44316CC7}"/>
              </a:ext>
            </a:extLst>
          </p:cNvPr>
          <p:cNvSpPr txBox="1"/>
          <p:nvPr/>
        </p:nvSpPr>
        <p:spPr>
          <a:xfrm>
            <a:off x="3406032" y="926707"/>
            <a:ext cx="852563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下載來源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Hugging Face Hub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Civitai 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Kaggle Models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ModelScope 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WiseModel 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81F8168-4847-CF7D-8F9D-2111C391C931}"/>
              </a:ext>
            </a:extLst>
          </p:cNvPr>
          <p:cNvSpPr/>
          <p:nvPr/>
        </p:nvSpPr>
        <p:spPr>
          <a:xfrm>
            <a:off x="4533243" y="933330"/>
            <a:ext cx="852563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下載模型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2" name="文字方塊 11">
            <a:extLst>
              <a:ext uri="{FF2B5EF4-FFF2-40B4-BE49-F238E27FC236}">
                <a16:creationId xmlns:a16="http://schemas.microsoft.com/office/drawing/2014/main" id="{D29966B9-F7E5-0499-6A5C-D6A8D2DE7588}"/>
              </a:ext>
            </a:extLst>
          </p:cNvPr>
          <p:cNvSpPr txBox="1"/>
          <p:nvPr/>
        </p:nvSpPr>
        <p:spPr>
          <a:xfrm>
            <a:off x="4937155" y="1193886"/>
            <a:ext cx="924021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config.json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en-US" altLang="zh-TW" sz="600" dirty="0" err="1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model.safetensors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generation_config.json</a:t>
            </a:r>
            <a:endParaRPr lang="zh-TW" altLang="en-US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520C49D-79FC-6920-1D5C-7808103E61EB}"/>
              </a:ext>
            </a:extLst>
          </p:cNvPr>
          <p:cNvSpPr/>
          <p:nvPr/>
        </p:nvSpPr>
        <p:spPr>
          <a:xfrm>
            <a:off x="7288922" y="934573"/>
            <a:ext cx="1032487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下載或自定訓練資料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B7527AD-8CB3-9AE3-62DC-06B905D9F352}"/>
              </a:ext>
            </a:extLst>
          </p:cNvPr>
          <p:cNvSpPr/>
          <p:nvPr/>
        </p:nvSpPr>
        <p:spPr>
          <a:xfrm>
            <a:off x="7109102" y="2284877"/>
            <a:ext cx="1392126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訓練資料物件</a:t>
            </a:r>
            <a:b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（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Apache Arrow 二進位矩陣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9C03F95-903A-6223-6AFC-6B304CCF2901}"/>
              </a:ext>
            </a:extLst>
          </p:cNvPr>
          <p:cNvSpPr/>
          <p:nvPr/>
        </p:nvSpPr>
        <p:spPr>
          <a:xfrm>
            <a:off x="1289137" y="1942016"/>
            <a:ext cx="7319657" cy="969428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94B8F03-7160-0260-331E-43923BD264A3}"/>
              </a:ext>
            </a:extLst>
          </p:cNvPr>
          <p:cNvSpPr/>
          <p:nvPr/>
        </p:nvSpPr>
        <p:spPr>
          <a:xfrm>
            <a:off x="4572000" y="4155133"/>
            <a:ext cx="777946" cy="160634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模型測試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AFD015C-1F9D-2D95-AEDC-C02433CEBE33}"/>
              </a:ext>
            </a:extLst>
          </p:cNvPr>
          <p:cNvSpPr/>
          <p:nvPr/>
        </p:nvSpPr>
        <p:spPr>
          <a:xfrm>
            <a:off x="4572000" y="4449047"/>
            <a:ext cx="777946" cy="173672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模型產出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8" name="圖片 27">
            <a:extLst>
              <a:ext uri="{FF2B5EF4-FFF2-40B4-BE49-F238E27FC236}">
                <a16:creationId xmlns:a16="http://schemas.microsoft.com/office/drawing/2014/main" id="{CA67325C-624F-32CA-327A-EC0F558153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0453" y="2152343"/>
            <a:ext cx="1879627" cy="719795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0" name="圖片 29">
            <a:extLst>
              <a:ext uri="{FF2B5EF4-FFF2-40B4-BE49-F238E27FC236}">
                <a16:creationId xmlns:a16="http://schemas.microsoft.com/office/drawing/2014/main" id="{16BF6715-9287-EC26-3307-4DDCD97FDC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3425" y="2204471"/>
            <a:ext cx="983534" cy="476558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pic>
        <p:nvPicPr>
          <p:cNvPr id="32" name="圖片 31">
            <a:extLst>
              <a:ext uri="{FF2B5EF4-FFF2-40B4-BE49-F238E27FC236}">
                <a16:creationId xmlns:a16="http://schemas.microsoft.com/office/drawing/2014/main" id="{83457B68-7A59-7497-577E-E94876509A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18268" y="3015979"/>
            <a:ext cx="2786069" cy="753353"/>
          </a:xfrm>
          <a:prstGeom prst="rect">
            <a:avLst/>
          </a:prstGeom>
          <a:ln w="12700">
            <a:solidFill>
              <a:schemeClr val="tx1"/>
            </a:solidFill>
          </a:ln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7E6842AC-5B91-0E0F-E4A9-D56BD2012DA0}"/>
              </a:ext>
            </a:extLst>
          </p:cNvPr>
          <p:cNvSpPr/>
          <p:nvPr/>
        </p:nvSpPr>
        <p:spPr>
          <a:xfrm>
            <a:off x="4240630" y="2041934"/>
            <a:ext cx="1429394" cy="78412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模型物件（</a:t>
            </a:r>
            <a:r>
              <a:rPr lang="en-US" altLang="zh-CN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）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F252C65C-D672-5C68-794F-E0925F999210}"/>
              </a:ext>
            </a:extLst>
          </p:cNvPr>
          <p:cNvSpPr/>
          <p:nvPr/>
        </p:nvSpPr>
        <p:spPr>
          <a:xfrm>
            <a:off x="3333734" y="2351430"/>
            <a:ext cx="808909" cy="16081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訓練的參數物件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9A29691-5DC4-2523-0848-4376079D4EEA}"/>
              </a:ext>
            </a:extLst>
          </p:cNvPr>
          <p:cNvSpPr/>
          <p:nvPr/>
        </p:nvSpPr>
        <p:spPr>
          <a:xfrm>
            <a:off x="5936391" y="941546"/>
            <a:ext cx="852562" cy="17541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下載分詞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BA7E9471-E2FD-7314-ED18-B23A9B912B1C}"/>
              </a:ext>
            </a:extLst>
          </p:cNvPr>
          <p:cNvSpPr/>
          <p:nvPr/>
        </p:nvSpPr>
        <p:spPr>
          <a:xfrm>
            <a:off x="5943002" y="1761251"/>
            <a:ext cx="852562" cy="122673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分詞物件 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1AF69022-FE0D-1F1B-3379-9209ADAC26DA}"/>
              </a:ext>
            </a:extLst>
          </p:cNvPr>
          <p:cNvSpPr/>
          <p:nvPr/>
        </p:nvSpPr>
        <p:spPr>
          <a:xfrm>
            <a:off x="5777589" y="2284877"/>
            <a:ext cx="852563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資料核排物件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48" name="接點: 肘形 47">
            <a:extLst>
              <a:ext uri="{FF2B5EF4-FFF2-40B4-BE49-F238E27FC236}">
                <a16:creationId xmlns:a16="http://schemas.microsoft.com/office/drawing/2014/main" id="{42A5639D-869E-B09B-00DF-F40598C0B66F}"/>
              </a:ext>
            </a:extLst>
          </p:cNvPr>
          <p:cNvCxnSpPr>
            <a:cxnSpLocks/>
            <a:stCxn id="40" idx="2"/>
            <a:endCxn id="20" idx="0"/>
          </p:cNvCxnSpPr>
          <p:nvPr/>
        </p:nvCxnSpPr>
        <p:spPr>
          <a:xfrm rot="16200000" flipH="1">
            <a:off x="6886748" y="1366459"/>
            <a:ext cx="400953" cy="143588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接點: 肘形 50">
            <a:extLst>
              <a:ext uri="{FF2B5EF4-FFF2-40B4-BE49-F238E27FC236}">
                <a16:creationId xmlns:a16="http://schemas.microsoft.com/office/drawing/2014/main" id="{E8184D6F-1194-89A9-2EBE-106D9054DF3D}"/>
              </a:ext>
            </a:extLst>
          </p:cNvPr>
          <p:cNvCxnSpPr>
            <a:cxnSpLocks/>
            <a:stCxn id="40" idx="2"/>
            <a:endCxn id="42" idx="0"/>
          </p:cNvCxnSpPr>
          <p:nvPr/>
        </p:nvCxnSpPr>
        <p:spPr>
          <a:xfrm rot="5400000">
            <a:off x="6086100" y="2001694"/>
            <a:ext cx="400953" cy="16541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矩形 77">
            <a:extLst>
              <a:ext uri="{FF2B5EF4-FFF2-40B4-BE49-F238E27FC236}">
                <a16:creationId xmlns:a16="http://schemas.microsoft.com/office/drawing/2014/main" id="{E6C627EB-BF7F-9B14-B1F3-37E0A9AA5181}"/>
              </a:ext>
            </a:extLst>
          </p:cNvPr>
          <p:cNvSpPr/>
          <p:nvPr/>
        </p:nvSpPr>
        <p:spPr>
          <a:xfrm>
            <a:off x="4572000" y="3289905"/>
            <a:ext cx="772150" cy="293915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啓動模型訓練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05" name="矩形 104">
            <a:extLst>
              <a:ext uri="{FF2B5EF4-FFF2-40B4-BE49-F238E27FC236}">
                <a16:creationId xmlns:a16="http://schemas.microsoft.com/office/drawing/2014/main" id="{3EC90861-398C-5499-A9B4-38CA12520ACD}"/>
              </a:ext>
            </a:extLst>
          </p:cNvPr>
          <p:cNvSpPr/>
          <p:nvPr/>
        </p:nvSpPr>
        <p:spPr>
          <a:xfrm>
            <a:off x="185739" y="4999033"/>
            <a:ext cx="8815387" cy="7047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模型執行環境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110" name="矩形 109">
            <a:extLst>
              <a:ext uri="{FF2B5EF4-FFF2-40B4-BE49-F238E27FC236}">
                <a16:creationId xmlns:a16="http://schemas.microsoft.com/office/drawing/2014/main" id="{85109683-EDE3-2485-97C7-7F230C99D909}"/>
              </a:ext>
            </a:extLst>
          </p:cNvPr>
          <p:cNvSpPr/>
          <p:nvPr/>
        </p:nvSpPr>
        <p:spPr>
          <a:xfrm>
            <a:off x="185739" y="1679168"/>
            <a:ext cx="8815387" cy="2285241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t"/>
          <a:lstStyle/>
          <a:p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用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PyTorch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從頭寫 </a:t>
            </a:r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code </a:t>
            </a:r>
            <a:r>
              <a:rPr lang="zh-TW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</a:p>
        </p:txBody>
      </p:sp>
      <p:cxnSp>
        <p:nvCxnSpPr>
          <p:cNvPr id="114" name="直線單箭頭接點 113">
            <a:extLst>
              <a:ext uri="{FF2B5EF4-FFF2-40B4-BE49-F238E27FC236}">
                <a16:creationId xmlns:a16="http://schemas.microsoft.com/office/drawing/2014/main" id="{E4ADABD1-954E-F32A-757A-287F2D9844C5}"/>
              </a:ext>
            </a:extLst>
          </p:cNvPr>
          <p:cNvCxnSpPr>
            <a:cxnSpLocks/>
            <a:stCxn id="10" idx="2"/>
            <a:endCxn id="34" idx="0"/>
          </p:cNvCxnSpPr>
          <p:nvPr/>
        </p:nvCxnSpPr>
        <p:spPr>
          <a:xfrm flipH="1">
            <a:off x="4955327" y="1108749"/>
            <a:ext cx="4198" cy="933185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8" name="直線單箭頭接點 117">
            <a:extLst>
              <a:ext uri="{FF2B5EF4-FFF2-40B4-BE49-F238E27FC236}">
                <a16:creationId xmlns:a16="http://schemas.microsoft.com/office/drawing/2014/main" id="{785C6C88-C610-04FC-BF45-F4DAD511E4BD}"/>
              </a:ext>
            </a:extLst>
          </p:cNvPr>
          <p:cNvCxnSpPr>
            <a:cxnSpLocks/>
            <a:stCxn id="38" idx="2"/>
            <a:endCxn id="40" idx="0"/>
          </p:cNvCxnSpPr>
          <p:nvPr/>
        </p:nvCxnSpPr>
        <p:spPr>
          <a:xfrm>
            <a:off x="6362672" y="1116965"/>
            <a:ext cx="6611" cy="64428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1" name="直線單箭頭接點 120">
            <a:extLst>
              <a:ext uri="{FF2B5EF4-FFF2-40B4-BE49-F238E27FC236}">
                <a16:creationId xmlns:a16="http://schemas.microsoft.com/office/drawing/2014/main" id="{7C0638DC-7015-38BE-4FEE-43D8B83328C7}"/>
              </a:ext>
            </a:extLst>
          </p:cNvPr>
          <p:cNvCxnSpPr>
            <a:cxnSpLocks/>
            <a:stCxn id="14" idx="2"/>
            <a:endCxn id="20" idx="0"/>
          </p:cNvCxnSpPr>
          <p:nvPr/>
        </p:nvCxnSpPr>
        <p:spPr>
          <a:xfrm>
            <a:off x="7805165" y="1109992"/>
            <a:ext cx="0" cy="1174886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直線單箭頭接點 127">
            <a:extLst>
              <a:ext uri="{FF2B5EF4-FFF2-40B4-BE49-F238E27FC236}">
                <a16:creationId xmlns:a16="http://schemas.microsoft.com/office/drawing/2014/main" id="{72A1A04D-60AD-D17B-5905-3D7A6E87482F}"/>
              </a:ext>
            </a:extLst>
          </p:cNvPr>
          <p:cNvCxnSpPr>
            <a:cxnSpLocks/>
            <a:stCxn id="20" idx="1"/>
            <a:endCxn id="42" idx="3"/>
          </p:cNvCxnSpPr>
          <p:nvPr/>
        </p:nvCxnSpPr>
        <p:spPr>
          <a:xfrm flipH="1">
            <a:off x="6630152" y="2431835"/>
            <a:ext cx="478951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直線單箭頭接點 132">
            <a:extLst>
              <a:ext uri="{FF2B5EF4-FFF2-40B4-BE49-F238E27FC236}">
                <a16:creationId xmlns:a16="http://schemas.microsoft.com/office/drawing/2014/main" id="{F8859C5C-E641-D46A-0DB8-C5E6FAD38385}"/>
              </a:ext>
            </a:extLst>
          </p:cNvPr>
          <p:cNvCxnSpPr>
            <a:cxnSpLocks/>
            <a:stCxn id="42" idx="1"/>
            <a:endCxn id="34" idx="3"/>
          </p:cNvCxnSpPr>
          <p:nvPr/>
        </p:nvCxnSpPr>
        <p:spPr>
          <a:xfrm flipH="1">
            <a:off x="5670023" y="2431834"/>
            <a:ext cx="107565" cy="2162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直線單箭頭接點 136">
            <a:extLst>
              <a:ext uri="{FF2B5EF4-FFF2-40B4-BE49-F238E27FC236}">
                <a16:creationId xmlns:a16="http://schemas.microsoft.com/office/drawing/2014/main" id="{0F9F68E0-7684-F86B-A00C-A00298B706D2}"/>
              </a:ext>
            </a:extLst>
          </p:cNvPr>
          <p:cNvCxnSpPr>
            <a:cxnSpLocks/>
            <a:stCxn id="36" idx="3"/>
            <a:endCxn id="34" idx="1"/>
          </p:cNvCxnSpPr>
          <p:nvPr/>
        </p:nvCxnSpPr>
        <p:spPr>
          <a:xfrm>
            <a:off x="4142642" y="2431836"/>
            <a:ext cx="97988" cy="2161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矩形 145">
            <a:extLst>
              <a:ext uri="{FF2B5EF4-FFF2-40B4-BE49-F238E27FC236}">
                <a16:creationId xmlns:a16="http://schemas.microsoft.com/office/drawing/2014/main" id="{7CC0C207-7DCD-90A4-3CEE-B5686A84904A}"/>
              </a:ext>
            </a:extLst>
          </p:cNvPr>
          <p:cNvSpPr/>
          <p:nvPr/>
        </p:nvSpPr>
        <p:spPr>
          <a:xfrm>
            <a:off x="4461654" y="2240520"/>
            <a:ext cx="852563" cy="1483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</a:t>
            </a:r>
            <a:r>
              <a:rPr lang="zh-CN" altLang="en-US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手段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163" name="直線單箭頭接點 162">
            <a:extLst>
              <a:ext uri="{FF2B5EF4-FFF2-40B4-BE49-F238E27FC236}">
                <a16:creationId xmlns:a16="http://schemas.microsoft.com/office/drawing/2014/main" id="{5A8FECF0-ECFE-CF5E-6405-F2FB24E48054}"/>
              </a:ext>
            </a:extLst>
          </p:cNvPr>
          <p:cNvCxnSpPr>
            <a:cxnSpLocks/>
            <a:stCxn id="34" idx="2"/>
            <a:endCxn id="78" idx="0"/>
          </p:cNvCxnSpPr>
          <p:nvPr/>
        </p:nvCxnSpPr>
        <p:spPr>
          <a:xfrm>
            <a:off x="4955327" y="2826058"/>
            <a:ext cx="2749" cy="463847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直線單箭頭接點 165">
            <a:extLst>
              <a:ext uri="{FF2B5EF4-FFF2-40B4-BE49-F238E27FC236}">
                <a16:creationId xmlns:a16="http://schemas.microsoft.com/office/drawing/2014/main" id="{3B95A4BC-289B-F123-E3F9-4A3D68D3C9D9}"/>
              </a:ext>
            </a:extLst>
          </p:cNvPr>
          <p:cNvCxnSpPr>
            <a:cxnSpLocks/>
            <a:stCxn id="78" idx="2"/>
            <a:endCxn id="24" idx="0"/>
          </p:cNvCxnSpPr>
          <p:nvPr/>
        </p:nvCxnSpPr>
        <p:spPr>
          <a:xfrm>
            <a:off x="4958075" y="3583819"/>
            <a:ext cx="2898" cy="571313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直線單箭頭接點 170">
            <a:extLst>
              <a:ext uri="{FF2B5EF4-FFF2-40B4-BE49-F238E27FC236}">
                <a16:creationId xmlns:a16="http://schemas.microsoft.com/office/drawing/2014/main" id="{2EB35435-5FF8-4324-BF98-F63774C09651}"/>
              </a:ext>
            </a:extLst>
          </p:cNvPr>
          <p:cNvCxnSpPr>
            <a:cxnSpLocks/>
            <a:stCxn id="24" idx="2"/>
            <a:endCxn id="26" idx="0"/>
          </p:cNvCxnSpPr>
          <p:nvPr/>
        </p:nvCxnSpPr>
        <p:spPr>
          <a:xfrm>
            <a:off x="4960973" y="4315767"/>
            <a:ext cx="0" cy="13328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文字方塊 174">
            <a:extLst>
              <a:ext uri="{FF2B5EF4-FFF2-40B4-BE49-F238E27FC236}">
                <a16:creationId xmlns:a16="http://schemas.microsoft.com/office/drawing/2014/main" id="{DC63F816-AC5B-9D01-4FA4-51AFBA0D6F6E}"/>
              </a:ext>
            </a:extLst>
          </p:cNvPr>
          <p:cNvSpPr txBox="1"/>
          <p:nvPr/>
        </p:nvSpPr>
        <p:spPr>
          <a:xfrm>
            <a:off x="4266801" y="2370255"/>
            <a:ext cx="138254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開旁支：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LoRA / QLoRA / DoRA</a:t>
            </a:r>
          </a:p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層凍結：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Freeze</a:t>
            </a:r>
            <a:b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虛擬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Prefix / Prompt Tuning</a:t>
            </a:r>
          </a:p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微調 </a:t>
            </a:r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Bias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：</a:t>
            </a:r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BitFit</a:t>
            </a:r>
          </a:p>
        </p:txBody>
      </p:sp>
      <p:sp>
        <p:nvSpPr>
          <p:cNvPr id="191" name="文字方塊 190">
            <a:extLst>
              <a:ext uri="{FF2B5EF4-FFF2-40B4-BE49-F238E27FC236}">
                <a16:creationId xmlns:a16="http://schemas.microsoft.com/office/drawing/2014/main" id="{5D76B831-1B92-6132-F84C-703420D62D33}"/>
              </a:ext>
            </a:extLst>
          </p:cNvPr>
          <p:cNvSpPr txBox="1"/>
          <p:nvPr/>
        </p:nvSpPr>
        <p:spPr>
          <a:xfrm>
            <a:off x="6369282" y="1116147"/>
            <a:ext cx="1274688" cy="553998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tokenizer_config.json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en-US" altLang="zh-TW" sz="600" dirty="0" err="1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vocab.json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merges.txt</a:t>
            </a:r>
          </a:p>
          <a:p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tokenizer.json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en-US" altLang="zh-TW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special_tokens_map.json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02" name="文字方塊 201">
            <a:extLst>
              <a:ext uri="{FF2B5EF4-FFF2-40B4-BE49-F238E27FC236}">
                <a16:creationId xmlns:a16="http://schemas.microsoft.com/office/drawing/2014/main" id="{86C78B19-240D-1AE5-CE33-34433538B3A6}"/>
              </a:ext>
            </a:extLst>
          </p:cNvPr>
          <p:cNvSpPr txBox="1"/>
          <p:nvPr/>
        </p:nvSpPr>
        <p:spPr>
          <a:xfrm>
            <a:off x="7788181" y="1164677"/>
            <a:ext cx="1212944" cy="369332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README.md</a:t>
            </a:r>
            <a:endParaRPr lang="en-US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train-00000-of-00001.parquet</a:t>
            </a:r>
            <a:br>
              <a:rPr lang="en-US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zh-TW" altLang="zh-TW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test-00000-of-00001.parquet</a:t>
            </a:r>
            <a:endParaRPr lang="en-US" altLang="zh-TW" sz="600" dirty="0">
              <a:solidFill>
                <a:srgbClr val="FF0000"/>
              </a:solidFill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47" name="文字方塊 246">
            <a:extLst>
              <a:ext uri="{FF2B5EF4-FFF2-40B4-BE49-F238E27FC236}">
                <a16:creationId xmlns:a16="http://schemas.microsoft.com/office/drawing/2014/main" id="{A5C640EF-71D1-9954-00E7-1DCD265E0930}"/>
              </a:ext>
            </a:extLst>
          </p:cNvPr>
          <p:cNvSpPr txBox="1"/>
          <p:nvPr/>
        </p:nvSpPr>
        <p:spPr>
          <a:xfrm>
            <a:off x="253425" y="926707"/>
            <a:ext cx="1081211" cy="646331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[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直接可使用得微調工具</a:t>
            </a: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]</a:t>
            </a:r>
            <a:r>
              <a:rPr lang="zh-TW" altLang="zh-TW" sz="600" dirty="0"/>
              <a:t> </a:t>
            </a:r>
            <a:br>
              <a:rPr lang="en-US" altLang="zh-TW" sz="600" dirty="0"/>
            </a:br>
            <a:r>
              <a:rPr lang="zh-TW" altLang="zh-TW" sz="600" dirty="0"/>
              <a:t>Axolotl </a:t>
            </a:r>
            <a:endParaRPr lang="en-US" altLang="zh-TW" sz="600" dirty="0"/>
          </a:p>
          <a:p>
            <a:r>
              <a:rPr lang="zh-TW" altLang="zh-TW" sz="600" dirty="0">
                <a:solidFill>
                  <a:srgbClr val="FF0000"/>
                </a:solidFill>
              </a:rPr>
              <a:t>LLaMA Factory</a:t>
            </a:r>
            <a:endParaRPr lang="en-US" altLang="zh-TW" sz="600" dirty="0">
              <a:solidFill>
                <a:srgbClr val="FF0000"/>
              </a:solidFill>
            </a:endParaRPr>
          </a:p>
          <a:p>
            <a:r>
              <a:rPr lang="zh-TW" altLang="zh-TW" sz="600" dirty="0"/>
              <a:t>Unsloth </a:t>
            </a:r>
            <a:endParaRPr lang="en-US" altLang="zh-TW" sz="600" dirty="0"/>
          </a:p>
          <a:p>
            <a:r>
              <a:rPr lang="zh-TW" altLang="zh-TW" sz="600" dirty="0"/>
              <a:t>Torchtune </a:t>
            </a:r>
            <a:endParaRPr lang="en-US" altLang="zh-TW" sz="600" dirty="0"/>
          </a:p>
          <a:p>
            <a:r>
              <a:rPr lang="zh-TW" altLang="zh-TW" sz="600" dirty="0"/>
              <a:t>ModelScope SWIFT</a:t>
            </a:r>
          </a:p>
        </p:txBody>
      </p:sp>
      <p:sp>
        <p:nvSpPr>
          <p:cNvPr id="252" name="矩形 251">
            <a:extLst>
              <a:ext uri="{FF2B5EF4-FFF2-40B4-BE49-F238E27FC236}">
                <a16:creationId xmlns:a16="http://schemas.microsoft.com/office/drawing/2014/main" id="{9A6FC049-1187-D7E5-0630-C64F63C4816F}"/>
              </a:ext>
            </a:extLst>
          </p:cNvPr>
          <p:cNvSpPr/>
          <p:nvPr/>
        </p:nvSpPr>
        <p:spPr>
          <a:xfrm>
            <a:off x="1990764" y="514305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S</a:t>
            </a:r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afetensors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58" name="矩形 257">
            <a:extLst>
              <a:ext uri="{FF2B5EF4-FFF2-40B4-BE49-F238E27FC236}">
                <a16:creationId xmlns:a16="http://schemas.microsoft.com/office/drawing/2014/main" id="{1ADAF727-5FDF-2842-C7DB-D8C277D46F95}"/>
              </a:ext>
            </a:extLst>
          </p:cNvPr>
          <p:cNvSpPr/>
          <p:nvPr/>
        </p:nvSpPr>
        <p:spPr>
          <a:xfrm>
            <a:off x="6935619" y="5139160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GGUF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0" name="矩形 259">
            <a:extLst>
              <a:ext uri="{FF2B5EF4-FFF2-40B4-BE49-F238E27FC236}">
                <a16:creationId xmlns:a16="http://schemas.microsoft.com/office/drawing/2014/main" id="{231D6C02-3483-2589-2E13-924E757F37B9}"/>
              </a:ext>
            </a:extLst>
          </p:cNvPr>
          <p:cNvSpPr/>
          <p:nvPr/>
        </p:nvSpPr>
        <p:spPr>
          <a:xfrm>
            <a:off x="5155490" y="513456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zh-TW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62" name="矩形 261">
            <a:extLst>
              <a:ext uri="{FF2B5EF4-FFF2-40B4-BE49-F238E27FC236}">
                <a16:creationId xmlns:a16="http://schemas.microsoft.com/office/drawing/2014/main" id="{B2B955B9-2D46-C93F-B50E-EFFFE9188B34}"/>
              </a:ext>
            </a:extLst>
          </p:cNvPr>
          <p:cNvSpPr/>
          <p:nvPr/>
        </p:nvSpPr>
        <p:spPr>
          <a:xfrm>
            <a:off x="3395131" y="5141774"/>
            <a:ext cx="852563" cy="119279"/>
          </a:xfrm>
          <a:prstGeom prst="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en-US" altLang="zh-TW" sz="75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</a:t>
            </a:r>
            <a:endParaRPr lang="zh-TW" altLang="en-US" sz="75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cxnSp>
        <p:nvCxnSpPr>
          <p:cNvPr id="265" name="接點: 肘形 264">
            <a:extLst>
              <a:ext uri="{FF2B5EF4-FFF2-40B4-BE49-F238E27FC236}">
                <a16:creationId xmlns:a16="http://schemas.microsoft.com/office/drawing/2014/main" id="{42D552B2-437C-65F9-520E-189C69CC693A}"/>
              </a:ext>
            </a:extLst>
          </p:cNvPr>
          <p:cNvCxnSpPr>
            <a:cxnSpLocks/>
            <a:stCxn id="26" idx="2"/>
            <a:endCxn id="252" idx="0"/>
          </p:cNvCxnSpPr>
          <p:nvPr/>
        </p:nvCxnSpPr>
        <p:spPr>
          <a:xfrm rot="5400000">
            <a:off x="3428842" y="3610922"/>
            <a:ext cx="520336" cy="254392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8" name="接點: 肘形 267">
            <a:extLst>
              <a:ext uri="{FF2B5EF4-FFF2-40B4-BE49-F238E27FC236}">
                <a16:creationId xmlns:a16="http://schemas.microsoft.com/office/drawing/2014/main" id="{0D4B1183-3F84-40E9-3BF3-22D2AECBA622}"/>
              </a:ext>
            </a:extLst>
          </p:cNvPr>
          <p:cNvCxnSpPr>
            <a:cxnSpLocks/>
            <a:stCxn id="26" idx="2"/>
            <a:endCxn id="258" idx="0"/>
          </p:cNvCxnSpPr>
          <p:nvPr/>
        </p:nvCxnSpPr>
        <p:spPr>
          <a:xfrm rot="16200000" flipH="1">
            <a:off x="5903217" y="3680476"/>
            <a:ext cx="516442" cy="240092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接點: 肘形 271">
            <a:extLst>
              <a:ext uri="{FF2B5EF4-FFF2-40B4-BE49-F238E27FC236}">
                <a16:creationId xmlns:a16="http://schemas.microsoft.com/office/drawing/2014/main" id="{68D0530A-C47E-1270-2FAA-27D23EC81278}"/>
              </a:ext>
            </a:extLst>
          </p:cNvPr>
          <p:cNvCxnSpPr>
            <a:cxnSpLocks/>
            <a:stCxn id="26" idx="2"/>
            <a:endCxn id="260" idx="0"/>
          </p:cNvCxnSpPr>
          <p:nvPr/>
        </p:nvCxnSpPr>
        <p:spPr>
          <a:xfrm rot="16200000" flipH="1">
            <a:off x="5015450" y="4568242"/>
            <a:ext cx="511846" cy="620798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接點: 肘形 274">
            <a:extLst>
              <a:ext uri="{FF2B5EF4-FFF2-40B4-BE49-F238E27FC236}">
                <a16:creationId xmlns:a16="http://schemas.microsoft.com/office/drawing/2014/main" id="{19DE8891-6873-FDD2-E2BA-E7D41F288E63}"/>
              </a:ext>
            </a:extLst>
          </p:cNvPr>
          <p:cNvCxnSpPr>
            <a:cxnSpLocks/>
            <a:stCxn id="26" idx="2"/>
            <a:endCxn id="262" idx="0"/>
          </p:cNvCxnSpPr>
          <p:nvPr/>
        </p:nvCxnSpPr>
        <p:spPr>
          <a:xfrm rot="5400000">
            <a:off x="4131665" y="4312467"/>
            <a:ext cx="519056" cy="113956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文字方塊 282">
            <a:extLst>
              <a:ext uri="{FF2B5EF4-FFF2-40B4-BE49-F238E27FC236}">
                <a16:creationId xmlns:a16="http://schemas.microsoft.com/office/drawing/2014/main" id="{E73DAF14-0EDE-066F-1C03-22F3F7D00913}"/>
              </a:ext>
            </a:extLst>
          </p:cNvPr>
          <p:cNvSpPr txBox="1"/>
          <p:nvPr/>
        </p:nvSpPr>
        <p:spPr>
          <a:xfrm>
            <a:off x="1942286" y="527939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vLLM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5" name="文字方塊 284">
            <a:extLst>
              <a:ext uri="{FF2B5EF4-FFF2-40B4-BE49-F238E27FC236}">
                <a16:creationId xmlns:a16="http://schemas.microsoft.com/office/drawing/2014/main" id="{FD0685BF-B94F-4A9B-9E8A-4034E88D406B}"/>
              </a:ext>
            </a:extLst>
          </p:cNvPr>
          <p:cNvSpPr txBox="1"/>
          <p:nvPr/>
        </p:nvSpPr>
        <p:spPr>
          <a:xfrm>
            <a:off x="6952602" y="5249248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</a:t>
            </a:r>
            <a:r>
              <a:rPr lang="en-US" altLang="zh-CN" sz="600" dirty="0" err="1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Ollama</a:t>
            </a:r>
            <a:r>
              <a:rPr lang="en-US" altLang="zh-CN" sz="600" dirty="0">
                <a:solidFill>
                  <a:srgbClr val="FF0000"/>
                </a:solidFill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</a:t>
            </a:r>
            <a:b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</a:br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 TGI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7" name="文字方塊 286">
            <a:extLst>
              <a:ext uri="{FF2B5EF4-FFF2-40B4-BE49-F238E27FC236}">
                <a16:creationId xmlns:a16="http://schemas.microsoft.com/office/drawing/2014/main" id="{4B269E56-C728-6787-8E81-1981A87157F9}"/>
              </a:ext>
            </a:extLst>
          </p:cNvPr>
          <p:cNvSpPr txBox="1"/>
          <p:nvPr/>
        </p:nvSpPr>
        <p:spPr>
          <a:xfrm>
            <a:off x="5137010" y="5300545"/>
            <a:ext cx="852563" cy="276999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mlx-</a:t>
            </a:r>
            <a:r>
              <a:rPr lang="en-US" altLang="zh-CN" sz="600" dirty="0" err="1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lm</a:t>
            </a:r>
            <a:endParaRPr lang="en-US" altLang="zh-CN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  <a:p>
            <a:r>
              <a:rPr lang="en-US" altLang="zh-TW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LLM Farm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89" name="文字方塊 288">
            <a:extLst>
              <a:ext uri="{FF2B5EF4-FFF2-40B4-BE49-F238E27FC236}">
                <a16:creationId xmlns:a16="http://schemas.microsoft.com/office/drawing/2014/main" id="{2941C4EB-ADCA-39E4-0A07-CA423DBA4878}"/>
              </a:ext>
            </a:extLst>
          </p:cNvPr>
          <p:cNvSpPr txBox="1"/>
          <p:nvPr/>
        </p:nvSpPr>
        <p:spPr>
          <a:xfrm>
            <a:off x="3495632" y="527070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ONNX Runtime 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1" name="文字方塊 290">
            <a:extLst>
              <a:ext uri="{FF2B5EF4-FFF2-40B4-BE49-F238E27FC236}">
                <a16:creationId xmlns:a16="http://schemas.microsoft.com/office/drawing/2014/main" id="{38A2098C-65B1-BAEA-F313-AF7DEA58FB71}"/>
              </a:ext>
            </a:extLst>
          </p:cNvPr>
          <p:cNvSpPr txBox="1"/>
          <p:nvPr/>
        </p:nvSpPr>
        <p:spPr>
          <a:xfrm>
            <a:off x="1980422" y="550612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雲端、開發階段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3" name="文字方塊 292">
            <a:extLst>
              <a:ext uri="{FF2B5EF4-FFF2-40B4-BE49-F238E27FC236}">
                <a16:creationId xmlns:a16="http://schemas.microsoft.com/office/drawing/2014/main" id="{F156262B-FBDE-F4B9-3888-D43495A0DCCB}"/>
              </a:ext>
            </a:extLst>
          </p:cNvPr>
          <p:cNvSpPr txBox="1"/>
          <p:nvPr/>
        </p:nvSpPr>
        <p:spPr>
          <a:xfrm>
            <a:off x="7056293" y="5489959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pc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5" name="文字方塊 294">
            <a:extLst>
              <a:ext uri="{FF2B5EF4-FFF2-40B4-BE49-F238E27FC236}">
                <a16:creationId xmlns:a16="http://schemas.microsoft.com/office/drawing/2014/main" id="{43DD308C-3610-EE5B-A0AC-865CAC18D067}"/>
              </a:ext>
            </a:extLst>
          </p:cNvPr>
          <p:cNvSpPr txBox="1"/>
          <p:nvPr/>
        </p:nvSpPr>
        <p:spPr>
          <a:xfrm>
            <a:off x="5213282" y="5533312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en-US" altLang="zh-CN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mac</a:t>
            </a:r>
            <a:r>
              <a:rPr lang="zh-CN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邊緣端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sp>
        <p:nvSpPr>
          <p:cNvPr id="297" name="文字方塊 296">
            <a:extLst>
              <a:ext uri="{FF2B5EF4-FFF2-40B4-BE49-F238E27FC236}">
                <a16:creationId xmlns:a16="http://schemas.microsoft.com/office/drawing/2014/main" id="{8AB96CAE-778C-04C3-758E-EA80F7D02DEC}"/>
              </a:ext>
            </a:extLst>
          </p:cNvPr>
          <p:cNvSpPr txBox="1"/>
          <p:nvPr/>
        </p:nvSpPr>
        <p:spPr>
          <a:xfrm>
            <a:off x="3648084" y="5510651"/>
            <a:ext cx="852563" cy="184666"/>
          </a:xfrm>
          <a:prstGeom prst="rect">
            <a:avLst/>
          </a:prstGeom>
          <a:noFill/>
          <a:ln w="12700">
            <a:noFill/>
          </a:ln>
        </p:spPr>
        <p:txBody>
          <a:bodyPr wrap="square">
            <a:spAutoFit/>
          </a:bodyPr>
          <a:lstStyle/>
          <a:p>
            <a:r>
              <a:rPr lang="zh-TW" altLang="en-US" sz="600" dirty="0">
                <a:latin typeface="微軟正黑體 Light" panose="020B0304030504040204" pitchFamily="34" charset="-120"/>
                <a:ea typeface="微軟正黑體 Light" panose="020B0304030504040204" pitchFamily="34" charset="-120"/>
              </a:rPr>
              <a:t>跨平台</a:t>
            </a:r>
            <a:endParaRPr lang="zh-TW" altLang="zh-TW" sz="600" dirty="0">
              <a:latin typeface="微軟正黑體 Light" panose="020B0304030504040204" pitchFamily="34" charset="-120"/>
              <a:ea typeface="微軟正黑體 Light" panose="020B0304030504040204" pitchFamily="34" charset="-120"/>
            </a:endParaRPr>
          </a:p>
        </p:txBody>
      </p:sp>
      <p:pic>
        <p:nvPicPr>
          <p:cNvPr id="299" name="圖片 298">
            <a:extLst>
              <a:ext uri="{FF2B5EF4-FFF2-40B4-BE49-F238E27FC236}">
                <a16:creationId xmlns:a16="http://schemas.microsoft.com/office/drawing/2014/main" id="{3068F5DA-67C4-16D0-25EA-B8EC47790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8385" y="3408287"/>
            <a:ext cx="619157" cy="90492"/>
          </a:xfrm>
          <a:prstGeom prst="rect">
            <a:avLst/>
          </a:prstGeom>
        </p:spPr>
      </p:pic>
      <p:pic>
        <p:nvPicPr>
          <p:cNvPr id="301" name="圖片 300">
            <a:extLst>
              <a:ext uri="{FF2B5EF4-FFF2-40B4-BE49-F238E27FC236}">
                <a16:creationId xmlns:a16="http://schemas.microsoft.com/office/drawing/2014/main" id="{10C7C000-FE46-F822-B7E7-CAB6A732467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7853" y="4182410"/>
            <a:ext cx="519140" cy="133357"/>
          </a:xfrm>
          <a:prstGeom prst="rect">
            <a:avLst/>
          </a:prstGeom>
        </p:spPr>
      </p:pic>
      <p:pic>
        <p:nvPicPr>
          <p:cNvPr id="303" name="圖片 302">
            <a:extLst>
              <a:ext uri="{FF2B5EF4-FFF2-40B4-BE49-F238E27FC236}">
                <a16:creationId xmlns:a16="http://schemas.microsoft.com/office/drawing/2014/main" id="{92A525C8-3860-AAFC-0292-5954D4D603D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44584" y="4582336"/>
            <a:ext cx="1519316" cy="190510"/>
          </a:xfrm>
          <a:prstGeom prst="rect">
            <a:avLst/>
          </a:prstGeom>
        </p:spPr>
      </p:pic>
      <p:pic>
        <p:nvPicPr>
          <p:cNvPr id="309" name="圖片 308">
            <a:extLst>
              <a:ext uri="{FF2B5EF4-FFF2-40B4-BE49-F238E27FC236}">
                <a16:creationId xmlns:a16="http://schemas.microsoft.com/office/drawing/2014/main" id="{53B8548D-F084-A213-2F4D-C298EC54CB4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47244" y="4345355"/>
            <a:ext cx="1761549" cy="463336"/>
          </a:xfrm>
          <a:prstGeom prst="rect">
            <a:avLst/>
          </a:prstGeom>
        </p:spPr>
      </p:pic>
      <p:sp>
        <p:nvSpPr>
          <p:cNvPr id="350" name="文字方塊 349">
            <a:extLst>
              <a:ext uri="{FF2B5EF4-FFF2-40B4-BE49-F238E27FC236}">
                <a16:creationId xmlns:a16="http://schemas.microsoft.com/office/drawing/2014/main" id="{39FF7848-8229-04D6-551E-93C8BD91D235}"/>
              </a:ext>
            </a:extLst>
          </p:cNvPr>
          <p:cNvSpPr txBox="1"/>
          <p:nvPr/>
        </p:nvSpPr>
        <p:spPr>
          <a:xfrm>
            <a:off x="4937155" y="1108277"/>
            <a:ext cx="1217945" cy="363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069"/>
              </a:lnSpc>
            </a:pPr>
            <a:r>
              <a:rPr lang="zh-TW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gemma-4-E2B-it</a:t>
            </a:r>
            <a:r>
              <a:rPr lang="en-US" altLang="zh-TW" sz="750" dirty="0">
                <a:solidFill>
                  <a:srgbClr val="CE9178"/>
                </a:solidFill>
                <a:latin typeface="Consolas" panose="020B0609020204030204" pitchFamily="49" charset="0"/>
              </a:rPr>
              <a:t> 10.2</a:t>
            </a:r>
            <a:r>
              <a:rPr lang="en-US" altLang="zh-CN" sz="750" dirty="0">
                <a:solidFill>
                  <a:srgbClr val="CE9178"/>
                </a:solidFill>
                <a:latin typeface="Consolas" panose="020B0609020204030204" pitchFamily="49" charset="0"/>
              </a:rPr>
              <a:t>G</a:t>
            </a:r>
            <a:endParaRPr lang="zh-TW" altLang="zh-TW" sz="750" dirty="0">
              <a:solidFill>
                <a:srgbClr val="CCCCCC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0605963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554</TotalTime>
  <Words>9788</Words>
  <Application>Microsoft Office PowerPoint</Application>
  <PresentationFormat>如螢幕大小 (4:3)</PresentationFormat>
  <Paragraphs>1174</Paragraphs>
  <Slides>20</Slides>
  <Notes>19</Notes>
  <HiddenSlides>1</HiddenSlides>
  <MMClips>0</MMClips>
  <ScaleCrop>false</ScaleCrop>
  <HeadingPairs>
    <vt:vector size="6" baseType="variant">
      <vt:variant>
        <vt:lpstr>使用字型</vt:lpstr>
      </vt:variant>
      <vt:variant>
        <vt:i4>13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20</vt:i4>
      </vt:variant>
    </vt:vector>
  </HeadingPairs>
  <TitlesOfParts>
    <vt:vector size="34" baseType="lpstr">
      <vt:lpstr>Meiryo</vt:lpstr>
      <vt:lpstr>Noto Sans HK</vt:lpstr>
      <vt:lpstr>Noto Sans TC</vt:lpstr>
      <vt:lpstr>微軟正黑體</vt:lpstr>
      <vt:lpstr>微軟正黑體 Light</vt:lpstr>
      <vt:lpstr>ADLaM Display</vt:lpstr>
      <vt:lpstr>Arial</vt:lpstr>
      <vt:lpstr>Calibri</vt:lpstr>
      <vt:lpstr>Cambria Math</vt:lpstr>
      <vt:lpstr>Comic Sans MS</vt:lpstr>
      <vt:lpstr>Consolas</vt:lpstr>
      <vt:lpstr>Gadugi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1685</cp:revision>
  <cp:lastPrinted>2024-07-30T01:44:15Z</cp:lastPrinted>
  <dcterms:created xsi:type="dcterms:W3CDTF">2019-11-08T03:01:47Z</dcterms:created>
  <dcterms:modified xsi:type="dcterms:W3CDTF">2026-07-09T09:45:27Z</dcterms:modified>
</cp:coreProperties>
</file>