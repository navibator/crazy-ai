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1"/>
  </p:notesMasterIdLst>
  <p:handoutMasterIdLst>
    <p:handoutMasterId r:id="rId32"/>
  </p:handoutMasterIdLst>
  <p:sldIdLst>
    <p:sldId id="3459" r:id="rId2"/>
    <p:sldId id="3472" r:id="rId3"/>
    <p:sldId id="3555" r:id="rId4"/>
    <p:sldId id="3554" r:id="rId5"/>
    <p:sldId id="3537" r:id="rId6"/>
    <p:sldId id="3558" r:id="rId7"/>
    <p:sldId id="3564" r:id="rId8"/>
    <p:sldId id="3557" r:id="rId9"/>
    <p:sldId id="3544" r:id="rId10"/>
    <p:sldId id="3540" r:id="rId11"/>
    <p:sldId id="3543" r:id="rId12"/>
    <p:sldId id="3553" r:id="rId13"/>
    <p:sldId id="3545" r:id="rId14"/>
    <p:sldId id="3539" r:id="rId15"/>
    <p:sldId id="3542" r:id="rId16"/>
    <p:sldId id="3538" r:id="rId17"/>
    <p:sldId id="3563" r:id="rId18"/>
    <p:sldId id="3562" r:id="rId19"/>
    <p:sldId id="3559" r:id="rId20"/>
    <p:sldId id="3560" r:id="rId21"/>
    <p:sldId id="3556" r:id="rId22"/>
    <p:sldId id="3551" r:id="rId23"/>
    <p:sldId id="3561" r:id="rId24"/>
    <p:sldId id="3534" r:id="rId25"/>
    <p:sldId id="3536" r:id="rId26"/>
    <p:sldId id="3535" r:id="rId27"/>
    <p:sldId id="3548" r:id="rId28"/>
    <p:sldId id="3547" r:id="rId29"/>
    <p:sldId id="3549" r:id="rId3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eepseek" id="{8CC3907E-2537-4761-B8B4-20CC1D391E20}">
          <p14:sldIdLst>
            <p14:sldId id="3537"/>
            <p14:sldId id="3558"/>
            <p14:sldId id="3564"/>
            <p14:sldId id="3557"/>
            <p14:sldId id="3544"/>
            <p14:sldId id="3540"/>
            <p14:sldId id="3543"/>
            <p14:sldId id="3553"/>
            <p14:sldId id="3545"/>
            <p14:sldId id="3539"/>
            <p14:sldId id="3542"/>
            <p14:sldId id="3538"/>
          </p14:sldIdLst>
        </p14:section>
        <p14:section name="Moonshot-Kimi" id="{7C2BE5B2-C507-46C7-871E-C935EB653EC3}">
          <p14:sldIdLst/>
        </p14:section>
        <p14:section name="Optimizer" id="{D96295E3-C59A-456D-AE59-C3D5699A4263}">
          <p14:sldIdLst>
            <p14:sldId id="3563"/>
            <p14:sldId id="3562"/>
            <p14:sldId id="3559"/>
            <p14:sldId id="3560"/>
            <p14:sldId id="3556"/>
            <p14:sldId id="3551"/>
            <p14:sldId id="3561"/>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71958"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2026/8/20</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2026/8/20</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youtu.be/AIRfT41A89s?si=wd8CxmH65YRXOa75" TargetMode="External"/><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2.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22.png"/><Relationship Id="rId16"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5" Type="http://schemas.openxmlformats.org/officeDocument/2006/relationships/image" Target="../media/image34.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 Id="rId1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50.png"/><Relationship Id="rId7" Type="http://schemas.openxmlformats.org/officeDocument/2006/relationships/image" Target="../media/image54.png"/><Relationship Id="rId12" Type="http://schemas.openxmlformats.org/officeDocument/2006/relationships/image" Target="../media/image5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7.png"/><Relationship Id="rId5" Type="http://schemas.openxmlformats.org/officeDocument/2006/relationships/image" Target="../media/image52.png"/><Relationship Id="rId10" Type="http://schemas.openxmlformats.org/officeDocument/2006/relationships/image" Target="../media/image56.png"/><Relationship Id="rId4" Type="http://schemas.openxmlformats.org/officeDocument/2006/relationships/image" Target="../media/image51.png"/><Relationship Id="rId9"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2082621"/>
          </a:xfrm>
          <a:prstGeom prst="rect">
            <a:avLst/>
          </a:prstGeom>
          <a:noFill/>
        </p:spPr>
        <p:txBody>
          <a:bodyPr wrap="square" rtlCol="0">
            <a:spAutoFit/>
          </a:bodyPr>
          <a:lstStyle/>
          <a:p>
            <a:pPr algn="ctr"/>
            <a:r>
              <a:rPr lang="en-US" altLang="zh-TW" sz="4000" b="1" dirty="0"/>
              <a:t>DeepSeek</a:t>
            </a:r>
          </a:p>
          <a:p>
            <a:pPr algn="ctr"/>
            <a:r>
              <a:rPr lang="en-US" altLang="zh-TW" sz="4000" b="1" dirty="0" err="1"/>
              <a:t>MoE</a:t>
            </a:r>
            <a:r>
              <a:rPr lang="en-US" altLang="zh-TW" sz="4000" b="1" dirty="0"/>
              <a:t> v4</a:t>
            </a:r>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3528904632"/>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909273">
                  <a:extLst>
                    <a:ext uri="{9D8B030D-6E8A-4147-A177-3AD203B41FA5}">
                      <a16:colId xmlns:a16="http://schemas.microsoft.com/office/drawing/2014/main" val="3639967230"/>
                    </a:ext>
                  </a:extLst>
                </a:gridCol>
                <a:gridCol w="865719">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1~</a:t>
                      </a:r>
                      <a:r>
                        <a:rPr lang="en-US" altLang="zh-TW" sz="1000" b="0" cap="none" spc="0" dirty="0">
                          <a:ln w="0"/>
                          <a:solidFill>
                            <a:schemeClr val="bg2"/>
                          </a:solidFill>
                          <a:effectLst/>
                        </a:rPr>
                        <a:t>0</a:t>
                      </a:r>
                      <a:r>
                        <a:rPr lang="en-US" altLang="zh-TW" sz="1000" b="0" cap="none" spc="0" dirty="0">
                          <a:ln w="0"/>
                          <a:solidFill>
                            <a:schemeClr val="tx1"/>
                          </a:solidFill>
                          <a:effectLst/>
                        </a:rPr>
                        <a:t>2 HCA</a:t>
                      </a:r>
                    </a:p>
                    <a:p>
                      <a:pPr algn="l"/>
                      <a:r>
                        <a:rPr lang="en-US" altLang="zh-TW" sz="1000" b="0" cap="none" spc="0" dirty="0">
                          <a:ln w="0"/>
                          <a:solidFill>
                            <a:schemeClr val="tx1"/>
                          </a:solidFill>
                          <a:effectLst/>
                        </a:rPr>
                        <a:t>3~61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1~</a:t>
                      </a:r>
                      <a:r>
                        <a:rPr kumimoji="0" lang="en-US" altLang="zh-TW" sz="1000" b="0" i="0" u="none" strike="noStrike" kern="1200" cap="none" spc="0" normalizeH="0" baseline="0" noProof="0" dirty="0">
                          <a:ln w="0"/>
                          <a:solidFill>
                            <a:schemeClr val="bg2"/>
                          </a:solidFill>
                          <a:effectLst/>
                          <a:uLnTx/>
                          <a:uFillTx/>
                          <a:latin typeface="+mn-lt"/>
                          <a:ea typeface="+mn-ea"/>
                          <a:cs typeface="+mn-cs"/>
                        </a:rPr>
                        <a:t>0</a:t>
                      </a:r>
                      <a:r>
                        <a:rPr kumimoji="0" lang="en-US" altLang="zh-TW" sz="1000" b="0" i="0" u="none" strike="noStrike" kern="1200" cap="none" spc="0" normalizeH="0" baseline="0" noProof="0" dirty="0">
                          <a:ln w="0"/>
                          <a:solidFill>
                            <a:schemeClr val="tx1"/>
                          </a:solidFill>
                          <a:effectLst/>
                          <a:uLnTx/>
                          <a:uFillTx/>
                          <a:latin typeface="+mn-lt"/>
                          <a:ea typeface="+mn-ea"/>
                          <a:cs typeface="+mn-cs"/>
                        </a:rPr>
                        <a:t>2 SWA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3~43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2843808" y="3961300"/>
            <a:ext cx="5157192" cy="263605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834BE8E-F60D-7BB0-3E16-E44E3984BCCF}"/>
              </a:ext>
            </a:extLst>
          </p:cNvPr>
          <p:cNvPicPr>
            <a:picLocks noChangeAspect="1"/>
          </p:cNvPicPr>
          <p:nvPr/>
        </p:nvPicPr>
        <p:blipFill>
          <a:blip r:embed="rId2"/>
          <a:stretch>
            <a:fillRect/>
          </a:stretch>
        </p:blipFill>
        <p:spPr>
          <a:xfrm>
            <a:off x="0" y="831024"/>
            <a:ext cx="9144000" cy="5195952"/>
          </a:xfrm>
          <a:prstGeom prst="rect">
            <a:avLst/>
          </a:prstGeom>
        </p:spPr>
      </p:pic>
      <p:sp>
        <p:nvSpPr>
          <p:cNvPr id="5" name="文字方塊 4">
            <a:hlinkClick r:id="rId3"/>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3"/>
              </a:rPr>
              <a:t>The insane infrastructure design of DeepSeek V4</a:t>
            </a:r>
            <a:endParaRPr lang="zh-TW" altLang="en-US" dirty="0"/>
          </a:p>
        </p:txBody>
      </p:sp>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3140968"/>
            <a:ext cx="3517852" cy="31386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3563888" y="1099468"/>
            <a:ext cx="5256584" cy="1349087"/>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ED113-4CF9-E69D-FAB3-54656BEC3B51}"/>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DE898186-7DCE-3EBE-FDE7-B0534DB6DD62}"/>
              </a:ext>
            </a:extLst>
          </p:cNvPr>
          <p:cNvSpPr txBox="1">
            <a:spLocks/>
          </p:cNvSpPr>
          <p:nvPr/>
        </p:nvSpPr>
        <p:spPr>
          <a:xfrm>
            <a:off x="323528" y="104072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52FA1EEE-129C-BCE0-312C-9A0C6BD408CF}"/>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E20E731-3577-FBD9-280F-7CD599EDA8C9}"/>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
        <p:nvSpPr>
          <p:cNvPr id="4" name="標題 1">
            <a:extLst>
              <a:ext uri="{FF2B5EF4-FFF2-40B4-BE49-F238E27FC236}">
                <a16:creationId xmlns:a16="http://schemas.microsoft.com/office/drawing/2014/main" id="{7C029B32-8896-76A3-8D5C-A08D91C43953}"/>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AA52D455-78A1-F135-F70C-8D9547FFE8A8}"/>
              </a:ext>
            </a:extLst>
          </p:cNvPr>
          <p:cNvPicPr>
            <a:picLocks noChangeAspect="1"/>
          </p:cNvPicPr>
          <p:nvPr/>
        </p:nvPicPr>
        <p:blipFill>
          <a:blip r:embed="rId2"/>
          <a:stretch>
            <a:fillRect/>
          </a:stretch>
        </p:blipFill>
        <p:spPr>
          <a:xfrm>
            <a:off x="2890837" y="3305175"/>
            <a:ext cx="3362325" cy="257175"/>
          </a:xfrm>
          <a:prstGeom prst="rect">
            <a:avLst/>
          </a:prstGeom>
        </p:spPr>
      </p:pic>
    </p:spTree>
    <p:extLst>
      <p:ext uri="{BB962C8B-B14F-4D97-AF65-F5344CB8AC3E}">
        <p14:creationId xmlns:p14="http://schemas.microsoft.com/office/powerpoint/2010/main" val="336939123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1248</TotalTime>
  <Words>4916</Words>
  <Application>Microsoft Office PowerPoint</Application>
  <PresentationFormat>如螢幕大小 (4:3)</PresentationFormat>
  <Paragraphs>1004</Paragraphs>
  <Slides>29</Slides>
  <Notes>14</Notes>
  <HiddenSlides>1</HiddenSlides>
  <MMClips>0</MMClips>
  <ScaleCrop>false</ScaleCrop>
  <HeadingPairs>
    <vt:vector size="6" baseType="variant">
      <vt:variant>
        <vt:lpstr>使用字型</vt:lpstr>
      </vt:variant>
      <vt:variant>
        <vt:i4>10</vt:i4>
      </vt:variant>
      <vt:variant>
        <vt:lpstr>佈景主題</vt:lpstr>
      </vt:variant>
      <vt:variant>
        <vt:i4>1</vt:i4>
      </vt:variant>
      <vt:variant>
        <vt:lpstr>投影片標題</vt:lpstr>
      </vt:variant>
      <vt:variant>
        <vt:i4>29</vt:i4>
      </vt:variant>
    </vt:vector>
  </HeadingPairs>
  <TitlesOfParts>
    <vt:vector size="40" baseType="lpstr">
      <vt:lpstr>Google Sans</vt: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1867</cp:revision>
  <cp:lastPrinted>2024-07-30T01:44:15Z</cp:lastPrinted>
  <dcterms:created xsi:type="dcterms:W3CDTF">2019-11-08T03:01:47Z</dcterms:created>
  <dcterms:modified xsi:type="dcterms:W3CDTF">2026-08-20T09:16:04Z</dcterms:modified>
</cp:coreProperties>
</file>