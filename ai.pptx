
<file path=[Content_Types].xml><?xml version="1.0" encoding="utf-8"?>
<Types xmlns="http://schemas.openxmlformats.org/package/2006/content-types">
  <Default Extension="bmp" ContentType="image/bmp"/>
  <Default Extension="jpg" ContentType="image/jpeg"/>
  <Default Extension="png" ContentType="image/png"/>
  <Default Extension="rels" ContentType="application/vnd.openxmlformats-package.relationships+xml"/>
  <Default Extension="svg" ContentType="image/svg+xml"/>
  <Default Extension="wav" ContentType="audio/x-wav"/>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48" r:id="rId1"/>
  </p:sldMasterIdLst>
  <p:notesMasterIdLst>
    <p:notesMasterId r:id="rId28"/>
  </p:notesMasterIdLst>
  <p:handoutMasterIdLst>
    <p:handoutMasterId r:id="rId29"/>
  </p:handoutMasterIdLst>
  <p:sldIdLst>
    <p:sldId id="3459" r:id="rId2"/>
    <p:sldId id="3472" r:id="rId3"/>
    <p:sldId id="3504" r:id="rId4"/>
    <p:sldId id="3486" r:id="rId5"/>
    <p:sldId id="3427" r:id="rId6"/>
    <p:sldId id="3503" r:id="rId7"/>
    <p:sldId id="3470" r:id="rId8"/>
    <p:sldId id="3471" r:id="rId9"/>
    <p:sldId id="3482" r:id="rId10"/>
    <p:sldId id="3483" r:id="rId11"/>
    <p:sldId id="3428" r:id="rId12"/>
    <p:sldId id="3451" r:id="rId13"/>
    <p:sldId id="3465" r:id="rId14"/>
    <p:sldId id="3505" r:id="rId15"/>
    <p:sldId id="3484" r:id="rId16"/>
    <p:sldId id="3485" r:id="rId17"/>
    <p:sldId id="3443" r:id="rId18"/>
    <p:sldId id="3466" r:id="rId19"/>
    <p:sldId id="3476" r:id="rId20"/>
    <p:sldId id="3460" r:id="rId21"/>
    <p:sldId id="3481" r:id="rId22"/>
    <p:sldId id="3461" r:id="rId23"/>
    <p:sldId id="3462" r:id="rId24"/>
    <p:sldId id="3420" r:id="rId25"/>
    <p:sldId id="3479" r:id="rId26"/>
    <p:sldId id="3467" r:id="rId27"/>
  </p:sldIdLst>
  <p:sldSz cx="9144000" cy="6858000" type="screen4x3"/>
  <p:notesSz cx="6797675" cy="9925050"/>
  <p:defaultText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Attention Is All You Need" id="{30F6892D-1922-4A88-A82D-8CD0653C5411}">
          <p14:sldIdLst>
            <p14:sldId id="3459"/>
            <p14:sldId id="3472"/>
          </p14:sldIdLst>
        </p14:section>
        <p14:section name="Machine Learning" id="{B661AA10-C3FF-4E46-A114-E951FEA8A6DC}">
          <p14:sldIdLst>
            <p14:sldId id="3504"/>
            <p14:sldId id="3486"/>
            <p14:sldId id="3427"/>
            <p14:sldId id="3503"/>
          </p14:sldIdLst>
        </p14:section>
        <p14:section name="Transformer" id="{91BFD2B5-A843-4933-9519-5889D1D7895D}">
          <p14:sldIdLst>
            <p14:sldId id="3470"/>
            <p14:sldId id="3471"/>
            <p14:sldId id="3482"/>
            <p14:sldId id="3483"/>
            <p14:sldId id="3428"/>
            <p14:sldId id="3451"/>
          </p14:sldIdLst>
        </p14:section>
        <p14:section name="GPT" id="{5A048767-0D58-44AF-B962-12C29493294F}">
          <p14:sldIdLst>
            <p14:sldId id="3465"/>
            <p14:sldId id="3505"/>
            <p14:sldId id="3484"/>
            <p14:sldId id="3485"/>
            <p14:sldId id="3443"/>
            <p14:sldId id="3466"/>
            <p14:sldId id="3476"/>
            <p14:sldId id="3460"/>
          </p14:sldIdLst>
        </p14:section>
        <p14:section name="Hardware" id="{69C35067-BEF2-4B7C-9B54-B6977EB05C72}">
          <p14:sldIdLst>
            <p14:sldId id="3481"/>
            <p14:sldId id="3461"/>
            <p14:sldId id="3462"/>
            <p14:sldId id="3420"/>
            <p14:sldId id="3479"/>
            <p14:sldId id="3467"/>
          </p14:sldIdLst>
        </p14:section>
      </p14:sectionLst>
    </p:ext>
    <p:ext uri="{EFAFB233-063F-42B5-8137-9DF3F51BA10A}">
      <p15:sldGuideLst xmlns:p15="http://schemas.microsoft.com/office/powerpoint/2012/main">
        <p15:guide id="1" orient="horz" pos="2160">
          <p15:clr>
            <a:srgbClr val="A4A3A4"/>
          </p15:clr>
        </p15:guide>
        <p15:guide id="2" pos="1474" userDrawn="1">
          <p15:clr>
            <a:srgbClr val="A4A3A4"/>
          </p15:clr>
        </p15:guide>
      </p15:sldGuideLst>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DEF1DDEA-D49D-B2A5-9D83-8BDFFC6C721F}" name="Allen Ni(倪士凱)" initials="AN" userId="S::ani@centrilliontech.com.tw::64a9ee61-01eb-41d1-8925-9f522fa76fb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B7C9E7"/>
    <a:srgbClr val="FF0000"/>
    <a:srgbClr val="9E7800"/>
    <a:srgbClr val="DAA600"/>
    <a:srgbClr val="F8D462"/>
    <a:srgbClr val="FDE7DA"/>
    <a:srgbClr val="DDDDDD"/>
    <a:srgbClr val="FEC203"/>
    <a:srgbClr val="AAD290"/>
    <a:srgbClr val="FFCCCC"/>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中等深淺樣式 2 - 輔色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無樣式、表格格線">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69CF1AB2-1976-4502-BF36-3FF5EA218861}" styleName="中等深淺樣式 4 - 輔色 1">
    <a:wholeTbl>
      <a:tcTxStyle>
        <a:fontRef idx="minor">
          <a:scrgbClr r="0" g="0" b="0"/>
        </a:fontRef>
        <a:schemeClr val="dk1"/>
      </a:tcTxStyle>
      <a:tcStyle>
        <a:tcBdr>
          <a:left>
            <a:ln w="12700" cmpd="sng">
              <a:solidFill>
                <a:schemeClr val="accent1"/>
              </a:solidFill>
            </a:ln>
          </a:left>
          <a:right>
            <a:ln w="12700" cmpd="sng">
              <a:solidFill>
                <a:schemeClr val="accent1"/>
              </a:solidFill>
            </a:ln>
          </a:right>
          <a:top>
            <a:ln w="12700" cmpd="sng">
              <a:solidFill>
                <a:schemeClr val="accent1"/>
              </a:solidFill>
            </a:ln>
          </a:top>
          <a:bottom>
            <a:ln w="12700" cmpd="sng">
              <a:solidFill>
                <a:schemeClr val="accent1"/>
              </a:solidFill>
            </a:ln>
          </a:bottom>
          <a:insideH>
            <a:ln w="12700" cmpd="sng">
              <a:solidFill>
                <a:schemeClr val="accent1"/>
              </a:solidFill>
            </a:ln>
          </a:insideH>
          <a:insideV>
            <a:ln w="12700" cmpd="sng">
              <a:solidFill>
                <a:schemeClr val="accent1"/>
              </a:solidFill>
            </a:ln>
          </a:insideV>
        </a:tcBdr>
        <a:fill>
          <a:solidFill>
            <a:schemeClr val="accent1">
              <a:tint val="20000"/>
            </a:schemeClr>
          </a:solidFill>
        </a:fill>
      </a:tcStyle>
    </a:wholeTbl>
    <a:band1H>
      <a:tcStyle>
        <a:tcBdr/>
        <a:fill>
          <a:solidFill>
            <a:schemeClr val="accent1">
              <a:tint val="40000"/>
            </a:schemeClr>
          </a:solidFill>
        </a:fill>
      </a:tcStyle>
    </a:band1H>
    <a:band1V>
      <a:tcStyle>
        <a:tcBdr/>
        <a:fill>
          <a:solidFill>
            <a:schemeClr val="accent1">
              <a:tint val="40000"/>
            </a:schemeClr>
          </a:solidFill>
        </a:fill>
      </a:tcStyle>
    </a:band1V>
    <a:lastCol>
      <a:tcTxStyle b="on"/>
      <a:tcStyle>
        <a:tcBdr/>
      </a:tcStyle>
    </a:lastCol>
    <a:firstCol>
      <a:tcTxStyle b="on"/>
      <a:tcStyle>
        <a:tcBdr/>
      </a:tcStyle>
    </a:firstCol>
    <a:lastRow>
      <a:tcTxStyle b="on"/>
      <a:tcStyle>
        <a:tcBdr>
          <a:top>
            <a:ln w="25400" cmpd="sng">
              <a:solidFill>
                <a:schemeClr val="accent1"/>
              </a:solidFill>
            </a:ln>
          </a:top>
        </a:tcBdr>
        <a:fill>
          <a:solidFill>
            <a:schemeClr val="accent1">
              <a:tint val="20000"/>
            </a:schemeClr>
          </a:solidFill>
        </a:fill>
      </a:tcStyle>
    </a:lastRow>
    <a:firstRow>
      <a:tcTxStyle b="on"/>
      <a:tcStyle>
        <a:tcBdr/>
        <a:fill>
          <a:solidFill>
            <a:schemeClr val="accent1">
              <a:tint val="20000"/>
            </a:schemeClr>
          </a:solidFill>
        </a:fill>
      </a:tcStyle>
    </a:firstRow>
  </a:tblStyle>
  <a:tblStyle styleId="{2D5ABB26-0587-4C30-8999-92F81FD0307C}" styleName="無樣式、無格線">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20010" autoAdjust="0"/>
    <p:restoredTop sz="35602" autoAdjust="0"/>
  </p:normalViewPr>
  <p:slideViewPr>
    <p:cSldViewPr>
      <p:cViewPr>
        <p:scale>
          <a:sx n="100" d="100"/>
          <a:sy n="100" d="100"/>
        </p:scale>
        <p:origin x="672" y="58"/>
      </p:cViewPr>
      <p:guideLst>
        <p:guide orient="horz" pos="2160"/>
        <p:guide pos="1474"/>
      </p:guideLst>
    </p:cSldViewPr>
  </p:slideViewPr>
  <p:outlineViewPr>
    <p:cViewPr>
      <p:scale>
        <a:sx n="33" d="100"/>
        <a:sy n="33" d="100"/>
      </p:scale>
      <p:origin x="0" y="-1075"/>
    </p:cViewPr>
  </p:outlineViewPr>
  <p:notesTextViewPr>
    <p:cViewPr>
      <p:scale>
        <a:sx n="100" d="100"/>
        <a:sy n="100" d="100"/>
      </p:scale>
      <p:origin x="0" y="0"/>
    </p:cViewPr>
  </p:notesTextViewPr>
  <p:notesViewPr>
    <p:cSldViewPr>
      <p:cViewPr varScale="1">
        <p:scale>
          <a:sx n="96" d="100"/>
          <a:sy n="96" d="100"/>
        </p:scale>
        <p:origin x="2784" y="96"/>
      </p:cViewPr>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34" Type="http://schemas.microsoft.com/office/2018/10/relationships/authors" Target="authors.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handoutMaster" Target="handoutMasters/handoutMaster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presProps" Target="presProps.xml"/><Relationship Id="rId8" Type="http://schemas.openxmlformats.org/officeDocument/2006/relationships/slide" Target="slides/slide7.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a:extLst>
              <a:ext uri="{FF2B5EF4-FFF2-40B4-BE49-F238E27FC236}">
                <a16:creationId xmlns:a16="http://schemas.microsoft.com/office/drawing/2014/main" id="{8509AA70-DCA8-F2B3-665C-D289623E1626}"/>
              </a:ext>
            </a:extLst>
          </p:cNvPr>
          <p:cNvSpPr>
            <a:spLocks noGrp="1"/>
          </p:cNvSpPr>
          <p:nvPr>
            <p:ph type="hdr" sz="quarter"/>
          </p:nvPr>
        </p:nvSpPr>
        <p:spPr>
          <a:xfrm>
            <a:off x="2" y="0"/>
            <a:ext cx="2945659" cy="497976"/>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a:extLst>
              <a:ext uri="{FF2B5EF4-FFF2-40B4-BE49-F238E27FC236}">
                <a16:creationId xmlns:a16="http://schemas.microsoft.com/office/drawing/2014/main" id="{260D9017-2A20-36CB-3124-1CE24A164FFA}"/>
              </a:ext>
            </a:extLst>
          </p:cNvPr>
          <p:cNvSpPr>
            <a:spLocks noGrp="1"/>
          </p:cNvSpPr>
          <p:nvPr>
            <p:ph type="dt" sz="quarter" idx="1"/>
          </p:nvPr>
        </p:nvSpPr>
        <p:spPr>
          <a:xfrm>
            <a:off x="3850445" y="0"/>
            <a:ext cx="2945659" cy="497976"/>
          </a:xfrm>
          <a:prstGeom prst="rect">
            <a:avLst/>
          </a:prstGeom>
        </p:spPr>
        <p:txBody>
          <a:bodyPr vert="horz" lIns="91430" tIns="45714" rIns="91430" bIns="45714" rtlCol="0"/>
          <a:lstStyle>
            <a:lvl1pPr algn="r">
              <a:defRPr sz="1200"/>
            </a:lvl1pPr>
          </a:lstStyle>
          <a:p>
            <a:fld id="{982F7CBC-87DD-4F69-8F50-7ED68F7FF790}" type="datetimeFigureOut">
              <a:rPr lang="zh-TW" altLang="en-US" smtClean="0"/>
              <a:t>2026/7/5</a:t>
            </a:fld>
            <a:endParaRPr lang="zh-TW" altLang="en-US"/>
          </a:p>
        </p:txBody>
      </p:sp>
      <p:sp>
        <p:nvSpPr>
          <p:cNvPr id="4" name="頁尾版面配置區 3">
            <a:extLst>
              <a:ext uri="{FF2B5EF4-FFF2-40B4-BE49-F238E27FC236}">
                <a16:creationId xmlns:a16="http://schemas.microsoft.com/office/drawing/2014/main" id="{72E2BC4B-E97F-2930-F9D4-22EF7E0E14E0}"/>
              </a:ext>
            </a:extLst>
          </p:cNvPr>
          <p:cNvSpPr>
            <a:spLocks noGrp="1"/>
          </p:cNvSpPr>
          <p:nvPr>
            <p:ph type="ftr" sz="quarter" idx="2"/>
          </p:nvPr>
        </p:nvSpPr>
        <p:spPr>
          <a:xfrm>
            <a:off x="2" y="9427077"/>
            <a:ext cx="2945659" cy="497975"/>
          </a:xfrm>
          <a:prstGeom prst="rect">
            <a:avLst/>
          </a:prstGeom>
        </p:spPr>
        <p:txBody>
          <a:bodyPr vert="horz" lIns="91430" tIns="45714" rIns="91430" bIns="45714" rtlCol="0" anchor="b"/>
          <a:lstStyle>
            <a:lvl1pPr algn="l">
              <a:defRPr sz="1200"/>
            </a:lvl1pPr>
          </a:lstStyle>
          <a:p>
            <a:endParaRPr lang="zh-TW" altLang="en-US"/>
          </a:p>
        </p:txBody>
      </p:sp>
      <p:sp>
        <p:nvSpPr>
          <p:cNvPr id="5" name="投影片編號版面配置區 4">
            <a:extLst>
              <a:ext uri="{FF2B5EF4-FFF2-40B4-BE49-F238E27FC236}">
                <a16:creationId xmlns:a16="http://schemas.microsoft.com/office/drawing/2014/main" id="{F9105500-21C2-E70A-A08C-9E9E3094A4E0}"/>
              </a:ext>
            </a:extLst>
          </p:cNvPr>
          <p:cNvSpPr>
            <a:spLocks noGrp="1"/>
          </p:cNvSpPr>
          <p:nvPr>
            <p:ph type="sldNum" sz="quarter" idx="3"/>
          </p:nvPr>
        </p:nvSpPr>
        <p:spPr>
          <a:xfrm>
            <a:off x="3850445" y="9427077"/>
            <a:ext cx="2945659" cy="497975"/>
          </a:xfrm>
          <a:prstGeom prst="rect">
            <a:avLst/>
          </a:prstGeom>
        </p:spPr>
        <p:txBody>
          <a:bodyPr vert="horz" lIns="91430" tIns="45714" rIns="91430" bIns="45714" rtlCol="0" anchor="b"/>
          <a:lstStyle>
            <a:lvl1pPr algn="r">
              <a:defRPr sz="1200"/>
            </a:lvl1pPr>
          </a:lstStyle>
          <a:p>
            <a:fld id="{30EF305C-901E-49EC-B839-B172F9488209}" type="slidenum">
              <a:rPr lang="zh-TW" altLang="en-US" smtClean="0"/>
              <a:t>‹#›</a:t>
            </a:fld>
            <a:endParaRPr lang="zh-TW" altLang="en-US"/>
          </a:p>
        </p:txBody>
      </p:sp>
    </p:spTree>
    <p:extLst>
      <p:ext uri="{BB962C8B-B14F-4D97-AF65-F5344CB8AC3E}">
        <p14:creationId xmlns:p14="http://schemas.microsoft.com/office/powerpoint/2010/main" val="195190139"/>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頁首版面配置區 1"/>
          <p:cNvSpPr>
            <a:spLocks noGrp="1"/>
          </p:cNvSpPr>
          <p:nvPr>
            <p:ph type="hdr" sz="quarter"/>
          </p:nvPr>
        </p:nvSpPr>
        <p:spPr>
          <a:xfrm>
            <a:off x="2" y="1"/>
            <a:ext cx="2945659" cy="496253"/>
          </a:xfrm>
          <a:prstGeom prst="rect">
            <a:avLst/>
          </a:prstGeom>
        </p:spPr>
        <p:txBody>
          <a:bodyPr vert="horz" lIns="91430" tIns="45714" rIns="91430" bIns="45714" rtlCol="0"/>
          <a:lstStyle>
            <a:lvl1pPr algn="l">
              <a:defRPr sz="1200"/>
            </a:lvl1pPr>
          </a:lstStyle>
          <a:p>
            <a:endParaRPr lang="zh-TW" altLang="en-US"/>
          </a:p>
        </p:txBody>
      </p:sp>
      <p:sp>
        <p:nvSpPr>
          <p:cNvPr id="3" name="日期版面配置區 2"/>
          <p:cNvSpPr>
            <a:spLocks noGrp="1"/>
          </p:cNvSpPr>
          <p:nvPr>
            <p:ph type="dt" idx="1"/>
          </p:nvPr>
        </p:nvSpPr>
        <p:spPr>
          <a:xfrm>
            <a:off x="3850445" y="1"/>
            <a:ext cx="2945659" cy="496253"/>
          </a:xfrm>
          <a:prstGeom prst="rect">
            <a:avLst/>
          </a:prstGeom>
        </p:spPr>
        <p:txBody>
          <a:bodyPr vert="horz" lIns="91430" tIns="45714" rIns="91430" bIns="45714" rtlCol="0"/>
          <a:lstStyle>
            <a:lvl1pPr algn="r">
              <a:defRPr sz="1200"/>
            </a:lvl1pPr>
          </a:lstStyle>
          <a:p>
            <a:fld id="{863167AA-796B-4B6A-95ED-1C0BCB3E5802}" type="datetimeFigureOut">
              <a:rPr lang="zh-TW" altLang="en-US" smtClean="0"/>
              <a:t>2026/7/5</a:t>
            </a:fld>
            <a:endParaRPr lang="zh-TW" altLang="en-US"/>
          </a:p>
        </p:txBody>
      </p:sp>
      <p:sp>
        <p:nvSpPr>
          <p:cNvPr id="4" name="投影片圖像版面配置區 3"/>
          <p:cNvSpPr>
            <a:spLocks noGrp="1" noRot="1" noChangeAspect="1"/>
          </p:cNvSpPr>
          <p:nvPr>
            <p:ph type="sldImg" idx="2"/>
          </p:nvPr>
        </p:nvSpPr>
        <p:spPr>
          <a:xfrm>
            <a:off x="917575" y="744538"/>
            <a:ext cx="4962525" cy="3722687"/>
          </a:xfrm>
          <a:prstGeom prst="rect">
            <a:avLst/>
          </a:prstGeom>
          <a:noFill/>
          <a:ln w="12700">
            <a:solidFill>
              <a:prstClr val="black"/>
            </a:solidFill>
          </a:ln>
        </p:spPr>
        <p:txBody>
          <a:bodyPr vert="horz" lIns="91430" tIns="45714" rIns="91430" bIns="45714" rtlCol="0" anchor="ctr"/>
          <a:lstStyle/>
          <a:p>
            <a:endParaRPr lang="zh-TW" altLang="en-US"/>
          </a:p>
        </p:txBody>
      </p:sp>
      <p:sp>
        <p:nvSpPr>
          <p:cNvPr id="5" name="備忘稿版面配置區 4"/>
          <p:cNvSpPr>
            <a:spLocks noGrp="1"/>
          </p:cNvSpPr>
          <p:nvPr>
            <p:ph type="body" sz="quarter" idx="3"/>
          </p:nvPr>
        </p:nvSpPr>
        <p:spPr>
          <a:xfrm>
            <a:off x="679768" y="4714400"/>
            <a:ext cx="5438140" cy="4466272"/>
          </a:xfrm>
          <a:prstGeom prst="rect">
            <a:avLst/>
          </a:prstGeom>
        </p:spPr>
        <p:txBody>
          <a:bodyPr vert="horz" lIns="91430" tIns="45714" rIns="91430" bIns="45714" rtlCol="0"/>
          <a:lstStyle/>
          <a:p>
            <a:pPr lvl="0"/>
            <a:r>
              <a:rPr lang="zh-TW" altLang="en-US" dirty="0"/>
              <a:t>按一下以編輯母片文字樣式</a:t>
            </a:r>
          </a:p>
          <a:p>
            <a:pPr lvl="1"/>
            <a:r>
              <a:rPr lang="zh-TW" altLang="en-US" dirty="0"/>
              <a:t>第二層</a:t>
            </a:r>
          </a:p>
          <a:p>
            <a:pPr lvl="2"/>
            <a:r>
              <a:rPr lang="zh-TW" altLang="en-US" dirty="0"/>
              <a:t>第三層</a:t>
            </a:r>
          </a:p>
          <a:p>
            <a:pPr lvl="3"/>
            <a:r>
              <a:rPr lang="zh-TW" altLang="en-US" dirty="0"/>
              <a:t>第四層</a:t>
            </a:r>
          </a:p>
          <a:p>
            <a:pPr lvl="4"/>
            <a:r>
              <a:rPr lang="zh-TW" altLang="en-US" dirty="0"/>
              <a:t>第五層</a:t>
            </a:r>
          </a:p>
        </p:txBody>
      </p:sp>
      <p:sp>
        <p:nvSpPr>
          <p:cNvPr id="6" name="頁尾版面配置區 5"/>
          <p:cNvSpPr>
            <a:spLocks noGrp="1"/>
          </p:cNvSpPr>
          <p:nvPr>
            <p:ph type="ftr" sz="quarter" idx="4"/>
          </p:nvPr>
        </p:nvSpPr>
        <p:spPr>
          <a:xfrm>
            <a:off x="2" y="9427075"/>
            <a:ext cx="2945659" cy="496253"/>
          </a:xfrm>
          <a:prstGeom prst="rect">
            <a:avLst/>
          </a:prstGeom>
        </p:spPr>
        <p:txBody>
          <a:bodyPr vert="horz" lIns="91430" tIns="45714" rIns="91430" bIns="45714" rtlCol="0" anchor="b"/>
          <a:lstStyle>
            <a:lvl1pPr algn="l">
              <a:defRPr sz="1200"/>
            </a:lvl1pPr>
          </a:lstStyle>
          <a:p>
            <a:endParaRPr lang="zh-TW" altLang="en-US"/>
          </a:p>
        </p:txBody>
      </p:sp>
      <p:sp>
        <p:nvSpPr>
          <p:cNvPr id="7" name="投影片編號版面配置區 6"/>
          <p:cNvSpPr>
            <a:spLocks noGrp="1"/>
          </p:cNvSpPr>
          <p:nvPr>
            <p:ph type="sldNum" sz="quarter" idx="5"/>
          </p:nvPr>
        </p:nvSpPr>
        <p:spPr>
          <a:xfrm>
            <a:off x="3850445" y="9427075"/>
            <a:ext cx="2945659" cy="496253"/>
          </a:xfrm>
          <a:prstGeom prst="rect">
            <a:avLst/>
          </a:prstGeom>
        </p:spPr>
        <p:txBody>
          <a:bodyPr vert="horz" lIns="91430" tIns="45714" rIns="91430" bIns="45714" rtlCol="0" anchor="b"/>
          <a:lstStyle>
            <a:lvl1pPr algn="r">
              <a:defRPr sz="1200"/>
            </a:lvl1pPr>
          </a:lstStyle>
          <a:p>
            <a:fld id="{E3A6CE5E-F349-486D-8749-82EF2AD71FA8}" type="slidenum">
              <a:rPr lang="zh-TW" altLang="en-US" smtClean="0"/>
              <a:t>‹#›</a:t>
            </a:fld>
            <a:endParaRPr lang="zh-TW" altLang="en-US"/>
          </a:p>
        </p:txBody>
      </p:sp>
    </p:spTree>
    <p:extLst>
      <p:ext uri="{BB962C8B-B14F-4D97-AF65-F5344CB8AC3E}">
        <p14:creationId xmlns:p14="http://schemas.microsoft.com/office/powerpoint/2010/main" val="33360095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4.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8" Type="http://schemas.openxmlformats.org/officeDocument/2006/relationships/hyperlink" Target="https://cloud.tencent.com/developer/article/2245094" TargetMode="External"/><Relationship Id="rId3" Type="http://schemas.openxmlformats.org/officeDocument/2006/relationships/hyperlink" Target="https://aistudio.baidu.com/blog/detail/731024175967365" TargetMode="External"/><Relationship Id="rId7" Type="http://schemas.openxmlformats.org/officeDocument/2006/relationships/hyperlink" Target="https://hackmd.io/@MtkMWTAMStiGb_5Gc8900Q/BJoVM2VCkg" TargetMode="External"/><Relationship Id="rId2" Type="http://schemas.openxmlformats.org/officeDocument/2006/relationships/slide" Target="../slides/slide14.xml"/><Relationship Id="rId1" Type="http://schemas.openxmlformats.org/officeDocument/2006/relationships/notesMaster" Target="../notesMasters/notesMaster1.xml"/><Relationship Id="rId6" Type="http://schemas.openxmlformats.org/officeDocument/2006/relationships/hyperlink" Target="https://medium.com/@lmpo/an-overview-instruction-tuning-for-llms-440228e7edab" TargetMode="External"/><Relationship Id="rId5" Type="http://schemas.openxmlformats.org/officeDocument/2006/relationships/hyperlink" Target="https://blog.csdn.net/qq_39388410/article/details/128265846" TargetMode="External"/><Relationship Id="rId4" Type="http://schemas.openxmlformats.org/officeDocument/2006/relationships/hyperlink" Target="https://arxiv.org/pdf/2109.01652" TargetMode="Externa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a:t>
            </a:fld>
            <a:endParaRPr lang="zh-TW" altLang="en-US"/>
          </a:p>
        </p:txBody>
      </p:sp>
    </p:spTree>
    <p:extLst>
      <p:ext uri="{BB962C8B-B14F-4D97-AF65-F5344CB8AC3E}">
        <p14:creationId xmlns:p14="http://schemas.microsoft.com/office/powerpoint/2010/main" val="1419742193"/>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984B811-902A-94AB-AABB-4CC1382C733C}"/>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B32B768C-5222-29ED-3563-1AFFE32A73F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A1FC8048-7B6E-7E1E-EC2B-CCC4CC9FF303}"/>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Wingdings" panose="05000000000000000000" pitchFamily="2" charset="2"/>
              <a:buNone/>
              <a:tabLst/>
              <a:defRPr/>
            </a:pPr>
            <a:endParaRPr kumimoji="0" lang="en-US" altLang="zh-TW" sz="2000" b="0" i="0" u="none" strike="noStrike" kern="1200" cap="none" spc="0" normalizeH="0" baseline="0" noProof="0" dirty="0">
              <a:ln>
                <a:noFill/>
              </a:ln>
              <a:solidFill>
                <a:prstClr val="white">
                  <a:lumMod val="50000"/>
                </a:prstClr>
              </a:solidFill>
              <a:effectLst/>
              <a:uLnTx/>
              <a:uFillTx/>
              <a:latin typeface="+mn-lt"/>
              <a:ea typeface="+mn-ea"/>
              <a:cs typeface="+mn-cs"/>
            </a:endParaRPr>
          </a:p>
        </p:txBody>
      </p:sp>
      <p:sp>
        <p:nvSpPr>
          <p:cNvPr id="4" name="投影片編號版面配置區 3">
            <a:extLst>
              <a:ext uri="{FF2B5EF4-FFF2-40B4-BE49-F238E27FC236}">
                <a16:creationId xmlns:a16="http://schemas.microsoft.com/office/drawing/2014/main" id="{94A622D0-F740-070B-33AA-93A0D57A4D76}"/>
              </a:ext>
            </a:extLst>
          </p:cNvPr>
          <p:cNvSpPr>
            <a:spLocks noGrp="1"/>
          </p:cNvSpPr>
          <p:nvPr>
            <p:ph type="sldNum" sz="quarter" idx="5"/>
          </p:nvPr>
        </p:nvSpPr>
        <p:spPr/>
        <p:txBody>
          <a:bodyPr/>
          <a:lstStyle/>
          <a:p>
            <a:fld id="{E3A6CE5E-F349-486D-8749-82EF2AD71FA8}" type="slidenum">
              <a:rPr lang="zh-TW" altLang="en-US" smtClean="0"/>
              <a:t>2</a:t>
            </a:fld>
            <a:endParaRPr lang="zh-TW" altLang="en-US"/>
          </a:p>
        </p:txBody>
      </p:sp>
    </p:spTree>
    <p:extLst>
      <p:ext uri="{BB962C8B-B14F-4D97-AF65-F5344CB8AC3E}">
        <p14:creationId xmlns:p14="http://schemas.microsoft.com/office/powerpoint/2010/main" val="89435678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sp>
      <p:sp>
        <p:nvSpPr>
          <p:cNvPr id="3" name="備忘稿版面配置區 2"/>
          <p:cNvSpPr>
            <a:spLocks noGrp="1"/>
          </p:cNvSpPr>
          <p:nvPr>
            <p:ph type="body" idx="1"/>
          </p:nvPr>
        </p:nvSpPr>
        <p:spPr/>
        <p:txBody>
          <a:bodyPr/>
          <a:lstStyle/>
          <a:p>
            <a:r>
              <a:rPr lang="zh-TW" altLang="en-US" dirty="0"/>
              <a:t>算力助長了一切</a:t>
            </a:r>
            <a:endParaRPr lang="en-US" altLang="zh-TW" dirty="0"/>
          </a:p>
          <a:p>
            <a:endParaRPr lang="en-US" altLang="zh-TW" dirty="0"/>
          </a:p>
          <a:p>
            <a:br>
              <a:rPr lang="en-US" altLang="zh-TW" dirty="0"/>
            </a:br>
            <a:r>
              <a:rPr lang="en-US" altLang="zh-TW" dirty="0">
                <a:sym typeface="Wingdings" panose="05000000000000000000" pitchFamily="2" charset="2"/>
              </a:rPr>
              <a:t> </a:t>
            </a:r>
            <a:r>
              <a:rPr lang="zh-TW" altLang="zh-TW" dirty="0"/>
              <a:t>動態預訓練時代：上下文的「環境覺醒」 (2018)</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endParaRPr lang="en-US" altLang="zh-TW" dirty="0"/>
          </a:p>
          <a:p>
            <a:endParaRPr lang="en-US" altLang="zh-TW" dirty="0"/>
          </a:p>
          <a:p>
            <a:r>
              <a:rPr lang="en-US" altLang="zh-TW" dirty="0" err="1"/>
              <a:t>CoT</a:t>
            </a:r>
            <a:r>
              <a:rPr lang="en-US" altLang="zh-TW" dirty="0"/>
              <a:t>: Chain-of-Thought: (</a:t>
            </a:r>
            <a:r>
              <a:rPr lang="zh-TW" altLang="en-US" dirty="0"/>
              <a:t>思維鏈</a:t>
            </a:r>
            <a:r>
              <a:rPr lang="en-US" altLang="zh-TW" dirty="0"/>
              <a:t>)</a:t>
            </a:r>
            <a:r>
              <a:rPr lang="zh-TW" altLang="zh-TW" sz="1200" b="0" i="0" kern="1200" dirty="0">
                <a:solidFill>
                  <a:schemeClr val="tx1"/>
                </a:solidFill>
                <a:effectLst/>
                <a:latin typeface="+mn-lt"/>
                <a:ea typeface="+mn-ea"/>
                <a:cs typeface="+mn-cs"/>
              </a:rPr>
              <a:t>這個方法有助於大型語言模型克服一些需要邏輯思維或多個步驟來解決的推理任務</a:t>
            </a:r>
            <a:r>
              <a:rPr lang="zh-TW" altLang="en-US" sz="1200" b="0" i="0" kern="1200" dirty="0">
                <a:solidFill>
                  <a:schemeClr val="tx1"/>
                </a:solidFill>
                <a:effectLst/>
                <a:latin typeface="+mn-lt"/>
                <a:ea typeface="+mn-ea"/>
                <a:cs typeface="+mn-cs"/>
              </a:rPr>
              <a:t> </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在</a:t>
            </a:r>
            <a:r>
              <a:rPr lang="en-US" altLang="zh-TW" sz="1200" b="0" i="0" kern="1200" dirty="0">
                <a:solidFill>
                  <a:schemeClr val="tx1"/>
                </a:solidFill>
                <a:effectLst/>
                <a:latin typeface="+mn-lt"/>
                <a:ea typeface="+mn-ea"/>
                <a:cs typeface="+mn-cs"/>
              </a:rPr>
              <a:t>prompt</a:t>
            </a:r>
            <a:r>
              <a:rPr lang="zh-TW" altLang="en-US" sz="1200" b="0" i="0" kern="1200" dirty="0">
                <a:solidFill>
                  <a:schemeClr val="tx1"/>
                </a:solidFill>
                <a:effectLst/>
                <a:latin typeface="+mn-lt"/>
                <a:ea typeface="+mn-ea"/>
                <a:cs typeface="+mn-cs"/>
              </a:rPr>
              <a:t>裡面</a:t>
            </a:r>
            <a:r>
              <a:rPr lang="en-US" altLang="zh-TW" sz="1200" b="0" i="0" kern="1200" dirty="0">
                <a:solidFill>
                  <a:schemeClr val="tx1"/>
                </a:solidFill>
                <a:effectLst/>
                <a:latin typeface="+mn-lt"/>
                <a:ea typeface="+mn-ea"/>
                <a:cs typeface="+mn-cs"/>
              </a:rPr>
              <a:t>,</a:t>
            </a:r>
            <a:r>
              <a:rPr lang="zh-TW" altLang="en-US" sz="1200" b="0" i="0" kern="1200" dirty="0">
                <a:solidFill>
                  <a:schemeClr val="tx1"/>
                </a:solidFill>
                <a:effectLst/>
                <a:latin typeface="+mn-lt"/>
                <a:ea typeface="+mn-ea"/>
                <a:cs typeface="+mn-cs"/>
              </a:rPr>
              <a:t>帶著過程</a:t>
            </a:r>
            <a:r>
              <a:rPr lang="en-US" altLang="zh-TW" sz="1200" b="0" i="0" kern="1200" dirty="0">
                <a:solidFill>
                  <a:schemeClr val="tx1"/>
                </a:solidFill>
                <a:effectLst/>
                <a:latin typeface="+mn-lt"/>
                <a:ea typeface="+mn-ea"/>
                <a:cs typeface="+mn-cs"/>
              </a:rPr>
              <a:t>)</a:t>
            </a:r>
            <a:endParaRPr lang="en-US" altLang="zh-TW" dirty="0"/>
          </a:p>
          <a:p>
            <a:endParaRPr lang="en-US" altLang="zh-TW" dirty="0"/>
          </a:p>
          <a:p>
            <a:r>
              <a:rPr lang="zh-TW" altLang="en-US" dirty="0"/>
              <a:t>預訓練</a:t>
            </a:r>
            <a:r>
              <a:rPr lang="en-US" altLang="zh-TW" dirty="0"/>
              <a:t>/</a:t>
            </a:r>
            <a:r>
              <a:rPr lang="zh-TW" altLang="en-US" dirty="0"/>
              <a:t>微調技術大躍進</a:t>
            </a:r>
            <a:endParaRPr lang="en-US" altLang="zh-TW" dirty="0"/>
          </a:p>
          <a:p>
            <a:r>
              <a:rPr lang="en-US" altLang="zh-TW" dirty="0"/>
              <a:t>Reinforcement Learning from Human Feedback (RLHF): Anthropic </a:t>
            </a:r>
            <a:r>
              <a:rPr lang="zh-TW" altLang="en-US" dirty="0"/>
              <a:t>很具里程碑意義</a:t>
            </a:r>
            <a:endParaRPr lang="en-US" altLang="zh-TW" dirty="0"/>
          </a:p>
          <a:p>
            <a:r>
              <a:rPr lang="en-US" altLang="zh-TW" dirty="0"/>
              <a:t>Direct Preference Optimization (DPO): Standford </a:t>
            </a:r>
            <a:r>
              <a:rPr lang="zh-TW" altLang="en-US" dirty="0"/>
              <a:t>簡化學習偏好</a:t>
            </a:r>
            <a:r>
              <a:rPr lang="en-US" altLang="zh-TW" dirty="0"/>
              <a:t>,</a:t>
            </a:r>
            <a:r>
              <a:rPr lang="zh-TW" altLang="en-US" dirty="0"/>
              <a:t> 免除了獎勵模型</a:t>
            </a:r>
            <a:endParaRPr lang="en-US" altLang="zh-TW" dirty="0"/>
          </a:p>
          <a:p>
            <a:r>
              <a:rPr lang="en-US" altLang="zh-TW" dirty="0"/>
              <a:t>Self-Alignment</a:t>
            </a:r>
            <a:r>
              <a:rPr lang="zh-TW" altLang="en-US" dirty="0"/>
              <a:t> </a:t>
            </a:r>
            <a:r>
              <a:rPr lang="en-US" altLang="zh-TW" dirty="0"/>
              <a:t>(SA):</a:t>
            </a:r>
            <a:r>
              <a:rPr lang="zh-TW" altLang="en-US" dirty="0"/>
              <a:t> </a:t>
            </a:r>
            <a:r>
              <a:rPr lang="en-US" altLang="zh-TW" dirty="0"/>
              <a:t>Frontier labs </a:t>
            </a:r>
            <a:r>
              <a:rPr lang="zh-TW" altLang="en-US" dirty="0"/>
              <a:t>使用最小的人類引導</a:t>
            </a:r>
            <a:r>
              <a:rPr lang="en-US" altLang="zh-TW" dirty="0"/>
              <a:t>, </a:t>
            </a:r>
            <a:r>
              <a:rPr lang="zh-TW" altLang="en-US" dirty="0"/>
              <a:t>進行模型對齊</a:t>
            </a:r>
            <a:endParaRPr lang="en-US" altLang="zh-TW" dirty="0"/>
          </a:p>
          <a:p>
            <a:endParaRPr lang="en-US" altLang="zh-TW" dirty="0"/>
          </a:p>
          <a:p>
            <a:r>
              <a:rPr lang="en-US" altLang="zh-TW" dirty="0"/>
              <a:t>AI</a:t>
            </a:r>
            <a:r>
              <a:rPr lang="zh-TW" altLang="en-US" dirty="0"/>
              <a:t>的強弱</a:t>
            </a:r>
            <a:r>
              <a:rPr lang="en-US" altLang="zh-TW" dirty="0"/>
              <a:t>:</a:t>
            </a:r>
            <a:r>
              <a:rPr lang="zh-TW" altLang="en-US" dirty="0"/>
              <a:t> 取決於數據</a:t>
            </a:r>
            <a:r>
              <a:rPr lang="en-US" altLang="zh-TW" dirty="0"/>
              <a:t>(data),</a:t>
            </a:r>
            <a:r>
              <a:rPr lang="zh-TW" altLang="en-US" dirty="0"/>
              <a:t> 算法</a:t>
            </a:r>
            <a:r>
              <a:rPr lang="en-US" altLang="zh-TW" dirty="0"/>
              <a:t>(algorithm), </a:t>
            </a:r>
            <a:r>
              <a:rPr lang="zh-TW" altLang="en-US" dirty="0"/>
              <a:t>算力</a:t>
            </a:r>
            <a:r>
              <a:rPr lang="en-US" altLang="zh-TW" dirty="0"/>
              <a:t>(computing)</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3</a:t>
            </a:fld>
            <a:endParaRPr lang="zh-TW" altLang="en-US"/>
          </a:p>
        </p:txBody>
      </p:sp>
    </p:spTree>
    <p:extLst>
      <p:ext uri="{BB962C8B-B14F-4D97-AF65-F5344CB8AC3E}">
        <p14:creationId xmlns:p14="http://schemas.microsoft.com/office/powerpoint/2010/main" val="930976138"/>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F272A9-B1E3-A654-1E00-6053538D43F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DA425E55-F691-C5E5-9559-41465F1C75C1}"/>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104D59DA-7B82-1735-3DB2-7DAD014DBCD7}"/>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70E1D4C6-1F65-845C-72C5-3224A5B0239E}"/>
              </a:ext>
            </a:extLst>
          </p:cNvPr>
          <p:cNvSpPr>
            <a:spLocks noGrp="1"/>
          </p:cNvSpPr>
          <p:nvPr>
            <p:ph type="sldNum" sz="quarter" idx="5"/>
          </p:nvPr>
        </p:nvSpPr>
        <p:spPr/>
        <p:txBody>
          <a:bodyPr/>
          <a:lstStyle/>
          <a:p>
            <a:fld id="{E3A6CE5E-F349-486D-8749-82EF2AD71FA8}" type="slidenum">
              <a:rPr lang="zh-TW" altLang="en-US" smtClean="0"/>
              <a:t>4</a:t>
            </a:fld>
            <a:endParaRPr lang="zh-TW" altLang="en-US"/>
          </a:p>
        </p:txBody>
      </p:sp>
    </p:spTree>
    <p:extLst>
      <p:ext uri="{BB962C8B-B14F-4D97-AF65-F5344CB8AC3E}">
        <p14:creationId xmlns:p14="http://schemas.microsoft.com/office/powerpoint/2010/main" val="42510961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tabLst/>
              <a:defRPr/>
            </a:pPr>
            <a:endParaRPr lang="en-US" altLang="zh-TW" sz="1200" dirty="0">
              <a:latin typeface="微軟正黑體" panose="020B0604030504040204" pitchFamily="34" charset="-120"/>
              <a:ea typeface="微軟正黑體" panose="020B0604030504040204" pitchFamily="34" charset="-120"/>
              <a:sym typeface="Wingdings" panose="05000000000000000000" pitchFamily="2" charset="2"/>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5</a:t>
            </a:fld>
            <a:endParaRPr lang="zh-TW" altLang="en-US"/>
          </a:p>
        </p:txBody>
      </p:sp>
    </p:spTree>
    <p:extLst>
      <p:ext uri="{BB962C8B-B14F-4D97-AF65-F5344CB8AC3E}">
        <p14:creationId xmlns:p14="http://schemas.microsoft.com/office/powerpoint/2010/main" val="2199492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B90436F-7267-E3B9-11B0-3B1313F957CE}"/>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13F537D5-1AAE-3B72-D994-4221B05E1031}"/>
              </a:ext>
            </a:extLst>
          </p:cNvPr>
          <p:cNvSpPr>
            <a:spLocks noGrp="1" noRot="1" noChangeAspect="1"/>
          </p:cNvSpPr>
          <p:nvPr>
            <p:ph type="sldImg"/>
          </p:nvPr>
        </p:nvSpPr>
        <p:spPr/>
      </p:sp>
      <p:sp>
        <p:nvSpPr>
          <p:cNvPr id="3" name="備忘稿版面配置區 2">
            <a:extLst>
              <a:ext uri="{FF2B5EF4-FFF2-40B4-BE49-F238E27FC236}">
                <a16:creationId xmlns:a16="http://schemas.microsoft.com/office/drawing/2014/main" id="{5F3E3D7B-9F15-CBE3-4156-5BBE9C9BC581}"/>
              </a:ext>
            </a:extLst>
          </p:cNvPr>
          <p:cNvSpPr>
            <a:spLocks noGrp="1"/>
          </p:cNvSpPr>
          <p:nvPr>
            <p:ph type="body" idx="1"/>
          </p:nvPr>
        </p:nvSpPr>
        <p:spPr/>
        <p:txBody>
          <a:bodyPr/>
          <a:lstStyle/>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Pre-Training</a:t>
            </a:r>
            <a:r>
              <a:rPr lang="zh-TW" altLang="zh-TW" sz="1200" b="0" u="none" strike="noStrike" kern="1200" dirty="0">
                <a:solidFill>
                  <a:schemeClr val="tx1"/>
                </a:solidFill>
                <a:effectLst/>
                <a:latin typeface="+mn-lt"/>
                <a:ea typeface="+mn-ea"/>
                <a:cs typeface="+mn-cs"/>
              </a:rPr>
              <a:t>：自監督（機器自己幫資料打標籤）。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Distillation</a:t>
            </a:r>
            <a:r>
              <a:rPr lang="zh-TW" altLang="zh-TW" sz="1200" b="0" u="none" strike="noStrike" kern="1200" dirty="0">
                <a:solidFill>
                  <a:schemeClr val="tx1"/>
                </a:solidFill>
                <a:effectLst/>
                <a:latin typeface="+mn-lt"/>
                <a:ea typeface="+mn-ea"/>
                <a:cs typeface="+mn-cs"/>
              </a:rPr>
              <a:t>：師徒監督（小模型模仿大模型的標籤）。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SFT</a:t>
            </a:r>
            <a:r>
              <a:rPr lang="zh-TW" altLang="zh-TW" sz="1200" b="0" u="none" strike="noStrike" kern="1200" dirty="0">
                <a:solidFill>
                  <a:schemeClr val="tx1"/>
                </a:solidFill>
                <a:effectLst/>
                <a:latin typeface="+mn-lt"/>
                <a:ea typeface="+mn-ea"/>
                <a:cs typeface="+mn-cs"/>
              </a:rPr>
              <a:t>：黃金監督（模型模仿人類專家的標籤）。</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sz="1200" b="1" u="none" strike="noStrike" kern="1200" dirty="0">
                <a:solidFill>
                  <a:schemeClr val="tx1"/>
                </a:solidFill>
                <a:effectLst/>
                <a:latin typeface="+mn-lt"/>
                <a:ea typeface="+mn-ea"/>
                <a:cs typeface="+mn-cs"/>
              </a:rPr>
              <a:t>RLHF</a:t>
            </a:r>
            <a:r>
              <a:rPr lang="zh-TW" altLang="zh-TW" sz="1200" b="0" u="none" strike="noStrike" kern="1200" dirty="0">
                <a:solidFill>
                  <a:schemeClr val="tx1"/>
                </a:solidFill>
                <a:effectLst/>
                <a:latin typeface="+mn-lt"/>
                <a:ea typeface="+mn-ea"/>
                <a:cs typeface="+mn-cs"/>
              </a:rPr>
              <a:t>：偏好引導（不給標準答案，只給讚和倒讚）。</a:t>
            </a:r>
            <a:endParaRPr lang="en-US" altLang="zh-TW" sz="1200" b="0" u="none" strike="noStrike" kern="1200" dirty="0">
              <a:solidFill>
                <a:schemeClr val="tx1"/>
              </a:solidFill>
              <a:effectLst/>
              <a:latin typeface="+mn-lt"/>
              <a:ea typeface="+mn-ea"/>
              <a:cs typeface="+mn-cs"/>
            </a:endParaRPr>
          </a:p>
          <a:p>
            <a:pPr marL="0" marR="0">
              <a:spcBef>
                <a:spcPts val="1800"/>
              </a:spcBef>
              <a:spcAft>
                <a:spcPts val="900"/>
              </a:spcAft>
              <a:buNone/>
            </a:pPr>
            <a:r>
              <a:rPr lang="zh-TW" altLang="zh-TW" dirty="0"/>
              <a:t>Continual Pre-Training：也是「自監督學習」的延伸（領域專家養成）</a:t>
            </a:r>
            <a:endParaRPr lang="en-US" altLang="zh-TW" dirty="0"/>
          </a:p>
          <a:p>
            <a:pPr marL="0" marR="0">
              <a:spcBef>
                <a:spcPts val="1800"/>
              </a:spcBef>
              <a:spcAft>
                <a:spcPts val="900"/>
              </a:spcAft>
              <a:buNone/>
            </a:pPr>
            <a:endParaRPr lang="en-US" altLang="zh-TW" dirty="0"/>
          </a:p>
          <a:p>
            <a:pPr marL="0" marR="0">
              <a:spcBef>
                <a:spcPts val="1800"/>
              </a:spcBef>
              <a:spcAft>
                <a:spcPts val="900"/>
              </a:spcAft>
              <a:buNone/>
            </a:pPr>
            <a:br>
              <a:rPr lang="en-US" altLang="zh-TW" sz="1200" dirty="0"/>
            </a:br>
            <a:r>
              <a:rPr lang="en-US" altLang="zh-TW" sz="1200" b="1" u="none" strike="noStrike" dirty="0">
                <a:effectLst/>
                <a:latin typeface="Google Sans"/>
              </a:rPr>
              <a:t>1.</a:t>
            </a:r>
            <a:r>
              <a:rPr lang="zh-TW" altLang="en-US" sz="1200" b="1" u="none" strike="noStrike" dirty="0">
                <a:effectLst/>
                <a:latin typeface="Google Sans"/>
              </a:rPr>
              <a:t> </a:t>
            </a:r>
            <a:r>
              <a:rPr lang="zh-TW" altLang="zh-TW" sz="1200" b="1" u="none" strike="noStrike" dirty="0">
                <a:effectLst/>
                <a:latin typeface="Google Sans"/>
              </a:rPr>
              <a:t>強化學習陣營 (Reinforcement Learning)</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RLHF (人類反饋強化學習)：</a:t>
            </a:r>
            <a:r>
              <a:rPr lang="zh-TW" altLang="zh-TW" sz="1200" b="0" u="none" strike="noStrike" dirty="0">
                <a:effectLst/>
                <a:latin typeface="Google Sans"/>
              </a:rPr>
              <a:t> </a:t>
            </a:r>
            <a:r>
              <a:rPr lang="zh-TW" altLang="zh-TW" sz="1200" b="1" u="none" strike="noStrike" dirty="0">
                <a:effectLst/>
                <a:latin typeface="Google Sans"/>
              </a:rPr>
              <a:t>絕對屬於強化學習</a:t>
            </a:r>
            <a:r>
              <a:rPr lang="zh-TW" altLang="zh-TW" sz="1200" b="0" u="none" strike="noStrike" dirty="0">
                <a:effectLst/>
                <a:latin typeface="Google Sans"/>
              </a:rPr>
              <a:t>。它使用獎勵模型（Reward Model）來引導策略模型（Policy Model）優化，背後運行的是 PPO 等強化學習演算法。</a:t>
            </a:r>
          </a:p>
          <a:p>
            <a:pPr marL="0" marR="0">
              <a:spcBef>
                <a:spcPts val="900"/>
              </a:spcBef>
              <a:spcAft>
                <a:spcPts val="900"/>
              </a:spcAft>
              <a:buFont typeface="Arial" panose="020B0604020202020204" pitchFamily="34" charset="0"/>
              <a:buChar char="•"/>
            </a:pPr>
            <a:r>
              <a:rPr lang="zh-TW" altLang="zh-TW" sz="1200" b="1" u="none" strike="noStrike" dirty="0">
                <a:effectLst/>
                <a:latin typeface="Google Sans"/>
              </a:rPr>
              <a:t>DPO (直接偏好最佳化)：</a:t>
            </a:r>
            <a:r>
              <a:rPr lang="zh-TW" altLang="zh-TW" sz="1200" b="0" u="none" strike="noStrike" dirty="0">
                <a:effectLst/>
                <a:latin typeface="Google Sans"/>
              </a:rPr>
              <a:t> 雖然在數學上繞過了傳統強化學習的獎勵模型與採樣步驟，直接用二元交叉熵損失來訓練，但它的</a:t>
            </a:r>
            <a:r>
              <a:rPr lang="zh-TW" altLang="zh-TW" sz="1200" b="1" u="none" strike="noStrike" dirty="0">
                <a:effectLst/>
                <a:latin typeface="Google Sans"/>
              </a:rPr>
              <a:t>核心本質與目標仍然是強化學習（對齊人類偏好）</a:t>
            </a:r>
            <a:endParaRPr lang="en-US" altLang="zh-TW" sz="1200" b="1" u="none" strike="noStrike" dirty="0">
              <a:effectLst/>
              <a:latin typeface="Google Sans"/>
            </a:endParaRPr>
          </a:p>
          <a:p>
            <a:pPr marL="0" marR="0">
              <a:spcBef>
                <a:spcPts val="900"/>
              </a:spcBef>
              <a:spcAft>
                <a:spcPts val="900"/>
              </a:spcAft>
              <a:buFont typeface="Arial" panose="020B0604020202020204" pitchFamily="34" charset="0"/>
              <a:buNone/>
            </a:pPr>
            <a:br>
              <a:rPr lang="en-US" altLang="zh-TW" sz="1200" dirty="0"/>
            </a:br>
            <a:r>
              <a:rPr lang="en-US" altLang="zh-TW" sz="1200" dirty="0"/>
              <a:t>2. </a:t>
            </a:r>
            <a:r>
              <a:rPr lang="zh-TW" altLang="en-US" sz="1200" dirty="0"/>
              <a:t>監督式學習陣營 </a:t>
            </a:r>
            <a:r>
              <a:rPr lang="en-US" altLang="zh-TW" sz="1200" dirty="0"/>
              <a:t>(Supervised Learning)</a:t>
            </a:r>
            <a:r>
              <a:rPr lang="zh-TW" altLang="en-US" sz="1200" dirty="0"/>
              <a:t>在微調階段，</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許多技術雖然使用的是無標籤文本生成的底層邏輯，</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但因為資料集已經被人類高度結構化（有明確的 </a:t>
            </a:r>
            <a:r>
              <a:rPr lang="en-US" altLang="zh-TW" sz="1200" dirty="0"/>
              <a:t>Prompt </a:t>
            </a:r>
            <a:r>
              <a:rPr lang="zh-TW" altLang="en-US" sz="1200" dirty="0"/>
              <a:t>與對應的 </a:t>
            </a:r>
            <a:r>
              <a:rPr lang="en-US" altLang="zh-TW" sz="1200" dirty="0"/>
              <a:t>Target Answer</a:t>
            </a:r>
            <a:r>
              <a:rPr lang="zh-TW" altLang="en-US" sz="1200" dirty="0"/>
              <a:t>），</a:t>
            </a:r>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dirty="0"/>
              <a:t>因此在實務上被歸類為監督式學習：</a:t>
            </a:r>
            <a:r>
              <a:rPr lang="en-US" altLang="zh-TW" sz="1200" dirty="0"/>
              <a:t>SFT (</a:t>
            </a:r>
            <a:r>
              <a:rPr lang="zh-TW" altLang="en-US" sz="1200" dirty="0"/>
              <a:t>監督式微調</a:t>
            </a:r>
            <a:r>
              <a:rPr lang="en-US" altLang="zh-TW" sz="1200" dirty="0"/>
              <a:t>)</a:t>
            </a:r>
            <a:r>
              <a:rPr lang="zh-TW" altLang="en-US" sz="1200" dirty="0"/>
              <a:t>： 屬於監督式學習。它是用標準的「問題</a:t>
            </a:r>
            <a:r>
              <a:rPr lang="en-US" altLang="zh-TW" sz="1200" dirty="0"/>
              <a:t>-</a:t>
            </a:r>
            <a:r>
              <a:rPr lang="zh-TW" altLang="en-US" sz="1200" dirty="0"/>
              <a:t>正確答案」對來訓練模型。</a:t>
            </a:r>
            <a:endParaRPr lang="en-US" altLang="zh-TW" sz="1200" dirty="0"/>
          </a:p>
          <a:p>
            <a:endParaRPr lang="en-US" altLang="zh-TW" dirty="0"/>
          </a:p>
          <a:p>
            <a:endParaRPr lang="en-US" altLang="zh-TW" dirty="0"/>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dirty="0"/>
              <a:t>PPO </a:t>
            </a:r>
            <a:r>
              <a:rPr lang="en-US" altLang="zh-TW" dirty="0">
                <a:sym typeface="Wingdings" panose="05000000000000000000" pitchFamily="2" charset="2"/>
              </a:rPr>
              <a:t> </a:t>
            </a:r>
            <a:r>
              <a:rPr lang="en-US" altLang="zh-TW" dirty="0"/>
              <a:t>DPO (“</a:t>
            </a:r>
            <a:r>
              <a:rPr lang="zh-TW" altLang="en-US" dirty="0"/>
              <a:t>獎勵模型</a:t>
            </a:r>
            <a:r>
              <a:rPr lang="en-US" altLang="zh-TW" dirty="0"/>
              <a:t>” </a:t>
            </a:r>
            <a:r>
              <a:rPr lang="zh-TW" altLang="en-US" dirty="0"/>
              <a:t>看起來就痛苦得不得了</a:t>
            </a:r>
            <a:r>
              <a:rPr lang="en-US" altLang="zh-TW" dirty="0"/>
              <a:t>, </a:t>
            </a:r>
            <a:r>
              <a:rPr lang="zh-TW" altLang="en-US" dirty="0"/>
              <a:t>一定要改善</a:t>
            </a:r>
            <a:r>
              <a:rPr lang="en-US" altLang="zh-TW" dirty="0"/>
              <a:t>)</a:t>
            </a:r>
            <a:br>
              <a:rPr lang="en-US" altLang="zh-TW" dirty="0"/>
            </a:br>
            <a:r>
              <a:rPr lang="zh-TW" altLang="zh-TW" dirty="0"/>
              <a:t>1. PPO（Proximal Policy Optimization，近端策略優化）</a:t>
            </a:r>
            <a:r>
              <a:rPr lang="en-US" altLang="zh-TW" dirty="0"/>
              <a:t>2017OpenAI</a:t>
            </a:r>
            <a:br>
              <a:rPr lang="en-US" altLang="zh-TW" dirty="0"/>
            </a:br>
            <a:r>
              <a:rPr lang="zh-TW" altLang="zh-TW" sz="1200" b="0" u="none" strike="noStrike" kern="1200" dirty="0">
                <a:solidFill>
                  <a:schemeClr val="tx1"/>
                </a:solidFill>
                <a:effectLst/>
                <a:latin typeface="+mn-lt"/>
                <a:ea typeface="+mn-ea"/>
                <a:cs typeface="+mn-cs"/>
              </a:rPr>
              <a:t>PPO 原本是通用強化學習演算法。2022 年 OpenAI 將其應用於 </a:t>
            </a:r>
            <a:r>
              <a:rPr lang="zh-TW" altLang="zh-TW" sz="1200" b="1" u="none" strike="noStrike" kern="1200" dirty="0">
                <a:solidFill>
                  <a:schemeClr val="tx1"/>
                </a:solidFill>
                <a:effectLst/>
                <a:latin typeface="+mn-lt"/>
                <a:ea typeface="+mn-ea"/>
                <a:cs typeface="+mn-cs"/>
              </a:rPr>
              <a:t>InstructGPT / ChatGPT</a:t>
            </a:r>
            <a:r>
              <a:rPr lang="zh-TW" altLang="zh-TW" sz="1200" b="0" u="none" strike="noStrike" kern="1200" dirty="0">
                <a:solidFill>
                  <a:schemeClr val="tx1"/>
                </a:solidFill>
                <a:effectLst/>
                <a:latin typeface="+mn-lt"/>
                <a:ea typeface="+mn-ea"/>
                <a:cs typeface="+mn-cs"/>
              </a:rPr>
              <a:t> 中，成為 </a:t>
            </a:r>
            <a:r>
              <a:rPr lang="zh-TW" altLang="zh-TW" sz="1200" b="1" u="none" strike="noStrike" kern="1200" dirty="0">
                <a:solidFill>
                  <a:schemeClr val="tx1"/>
                </a:solidFill>
                <a:effectLst/>
                <a:latin typeface="+mn-lt"/>
                <a:ea typeface="+mn-ea"/>
                <a:cs typeface="+mn-cs"/>
              </a:rPr>
              <a:t>RLHF（從人類反饋中進行強化學習）</a:t>
            </a:r>
            <a:r>
              <a:rPr lang="zh-TW" altLang="zh-TW" sz="1200" b="0" u="none" strike="noStrike" kern="1200" dirty="0">
                <a:solidFill>
                  <a:schemeClr val="tx1"/>
                </a:solidFill>
                <a:effectLst/>
                <a:latin typeface="+mn-lt"/>
                <a:ea typeface="+mn-ea"/>
                <a:cs typeface="+mn-cs"/>
              </a:rPr>
              <a:t> 的核心後端演算法，因而名聲大噪。</a:t>
            </a:r>
          </a:p>
          <a:p>
            <a:r>
              <a:rPr lang="zh-TW" altLang="zh-TW" sz="1200" b="0" u="none" strike="noStrike" kern="1200" dirty="0">
                <a:solidFill>
                  <a:schemeClr val="tx1"/>
                </a:solidFill>
                <a:effectLst/>
                <a:latin typeface="+mn-lt"/>
                <a:ea typeface="+mn-ea"/>
                <a:cs typeface="+mn-cs"/>
              </a:rPr>
              <a:t>它包含四個同時運作的模型：</a:t>
            </a:r>
            <a:r>
              <a:rPr lang="en-US" altLang="zh-TW" sz="1200" b="0" u="none" strike="noStrike" kern="1200" dirty="0">
                <a:solidFill>
                  <a:schemeClr val="tx1"/>
                </a:solidFill>
                <a:effectLst/>
                <a:latin typeface="+mn-lt"/>
                <a:ea typeface="+mn-ea"/>
                <a:cs typeface="+mn-cs"/>
              </a:rPr>
              <a:t> ====</a:t>
            </a:r>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Actor（演員）</a:t>
            </a:r>
            <a:r>
              <a:rPr lang="zh-TW" altLang="zh-TW" sz="1200" b="0" u="none" strike="noStrike" kern="1200" dirty="0">
                <a:solidFill>
                  <a:schemeClr val="tx1"/>
                </a:solidFill>
                <a:effectLst/>
                <a:latin typeface="+mn-lt"/>
                <a:ea typeface="+mn-ea"/>
                <a:cs typeface="+mn-cs"/>
              </a:rPr>
              <a:t>：正在被訓練的 LLM，負責回答問題。</a:t>
            </a:r>
          </a:p>
          <a:p>
            <a:r>
              <a:rPr lang="zh-TW" altLang="zh-TW" sz="1200" b="1" u="none" strike="noStrike" kern="1200" dirty="0">
                <a:solidFill>
                  <a:schemeClr val="tx1"/>
                </a:solidFill>
                <a:effectLst/>
                <a:latin typeface="+mn-lt"/>
                <a:ea typeface="+mn-ea"/>
                <a:cs typeface="+mn-cs"/>
              </a:rPr>
              <a:t>Reference（參考）</a:t>
            </a:r>
            <a:r>
              <a:rPr lang="zh-TW" altLang="zh-TW" sz="1200" b="0" u="none" strike="noStrike" kern="1200" dirty="0">
                <a:solidFill>
                  <a:schemeClr val="tx1"/>
                </a:solidFill>
                <a:effectLst/>
                <a:latin typeface="+mn-lt"/>
                <a:ea typeface="+mn-ea"/>
                <a:cs typeface="+mn-cs"/>
              </a:rPr>
              <a:t>：剛做完 SFT 的原始 LLM，用來當作對照組，確保 Actor 不要「改得太誇張（獎勵作弊）」。</a:t>
            </a:r>
          </a:p>
          <a:p>
            <a:r>
              <a:rPr lang="zh-TW" altLang="zh-TW" sz="1200" b="1" u="none" strike="noStrike" kern="1200" dirty="0">
                <a:solidFill>
                  <a:schemeClr val="tx1"/>
                </a:solidFill>
                <a:effectLst/>
                <a:latin typeface="+mn-lt"/>
                <a:ea typeface="+mn-ea"/>
                <a:cs typeface="+mn-cs"/>
              </a:rPr>
              <a:t>Reward Model（獎勵模型）</a:t>
            </a:r>
            <a:r>
              <a:rPr lang="zh-TW" altLang="zh-TW" sz="1200" b="0" u="none" strike="noStrike" kern="1200" dirty="0">
                <a:solidFill>
                  <a:schemeClr val="tx1"/>
                </a:solidFill>
                <a:effectLst/>
                <a:latin typeface="+mn-lt"/>
                <a:ea typeface="+mn-ea"/>
                <a:cs typeface="+mn-cs"/>
              </a:rPr>
              <a:t>：模擬人類偏好的「裁判」，Actor 講得好就給高分，講得差（如髒話、偏見）就扣分。</a:t>
            </a:r>
          </a:p>
          <a:p>
            <a:r>
              <a:rPr lang="zh-TW" altLang="zh-TW" sz="1200" b="1" u="none" strike="noStrike" kern="1200" dirty="0">
                <a:solidFill>
                  <a:schemeClr val="tx1"/>
                </a:solidFill>
                <a:effectLst/>
                <a:latin typeface="+mn-lt"/>
                <a:ea typeface="+mn-ea"/>
                <a:cs typeface="+mn-cs"/>
              </a:rPr>
              <a:t>Critic（評論員）</a:t>
            </a:r>
            <a:r>
              <a:rPr lang="zh-TW" altLang="zh-TW" sz="1200" b="0" u="none" strike="noStrike" kern="1200" dirty="0">
                <a:solidFill>
                  <a:schemeClr val="tx1"/>
                </a:solidFill>
                <a:effectLst/>
                <a:latin typeface="+mn-lt"/>
                <a:ea typeface="+mn-ea"/>
                <a:cs typeface="+mn-cs"/>
              </a:rPr>
              <a:t>：負責評估當前局勢與預期得分的「教練」。</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核心機制</a:t>
            </a:r>
            <a:r>
              <a:rPr lang="zh-TW" altLang="zh-TW" sz="1200" b="0" u="none" strike="noStrike" kern="1200" dirty="0">
                <a:solidFill>
                  <a:schemeClr val="tx1"/>
                </a:solidFill>
                <a:effectLst/>
                <a:latin typeface="+mn-lt"/>
                <a:ea typeface="+mn-ea"/>
                <a:cs typeface="+mn-cs"/>
              </a:rPr>
              <a:t>：PPO 透過「剪裁機制（Clipping）」限制每次權重更新的幅度。這能防止模型因為某一次拿到極高分或極低分，而導致整個模型「練壞或崩潰」。</a:t>
            </a:r>
          </a:p>
          <a:p>
            <a:r>
              <a:rPr lang="zh-TW" altLang="zh-TW" sz="1200" b="1" u="none" strike="noStrike" kern="1200" dirty="0">
                <a:solidFill>
                  <a:schemeClr val="tx1"/>
                </a:solidFill>
                <a:effectLst/>
                <a:latin typeface="+mn-lt"/>
                <a:ea typeface="+mn-ea"/>
                <a:cs typeface="+mn-cs"/>
              </a:rPr>
              <a:t>缺點</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極度消耗顯存與算力</a:t>
            </a:r>
            <a:r>
              <a:rPr lang="zh-TW" altLang="zh-TW" sz="1200" b="0" u="none" strike="noStrike" kern="1200" dirty="0">
                <a:solidFill>
                  <a:schemeClr val="tx1"/>
                </a:solidFill>
                <a:effectLst/>
                <a:latin typeface="+mn-lt"/>
                <a:ea typeface="+mn-ea"/>
                <a:cs typeface="+mn-cs"/>
              </a:rPr>
              <a:t>。因為 GPU 必須同時加載 4 個大模型，且訓練過程極不穩定，調參非常痛苦。</a:t>
            </a:r>
          </a:p>
          <a:p>
            <a:br>
              <a:rPr lang="zh-TW" altLang="zh-TW" dirty="0"/>
            </a:br>
            <a:r>
              <a:rPr lang="en-US" altLang="zh-TW" dirty="0"/>
              <a:t>2.</a:t>
            </a:r>
            <a:r>
              <a:rPr lang="zh-TW" altLang="en-US" dirty="0"/>
              <a:t> </a:t>
            </a:r>
            <a:r>
              <a:rPr lang="zh-TW" altLang="zh-TW" dirty="0"/>
              <a:t>DPO（Direct Preference Optimization，直接偏好優化）</a:t>
            </a:r>
            <a:r>
              <a:rPr lang="en-US" altLang="zh-TW" dirty="0"/>
              <a:t>2023</a:t>
            </a:r>
            <a:r>
              <a:rPr lang="zh-TW" altLang="en-US" dirty="0"/>
              <a:t>史丹佛大學</a:t>
            </a:r>
            <a:br>
              <a:rPr lang="en-US" altLang="zh-TW" dirty="0"/>
            </a:br>
            <a:r>
              <a:rPr lang="zh-TW" altLang="zh-TW" dirty="0"/>
              <a:t>DPO 的出現是一場</a:t>
            </a:r>
            <a:r>
              <a:rPr lang="zh-TW" altLang="zh-TW" sz="1200" b="1" u="none" strike="noStrike" kern="1200" dirty="0">
                <a:solidFill>
                  <a:schemeClr val="tx1"/>
                </a:solidFill>
                <a:effectLst/>
                <a:latin typeface="+mn-lt"/>
                <a:ea typeface="+mn-ea"/>
                <a:cs typeface="+mn-cs"/>
              </a:rPr>
              <a:t>顛覆性的數學簡化</a:t>
            </a:r>
            <a:r>
              <a:rPr lang="zh-TW" altLang="zh-TW" dirty="0"/>
              <a:t>。它的核心思想是：「既然 PPO 繞了這麼大一圈（先訓獎勵模型，再用強化學習去對齊），</a:t>
            </a:r>
            <a:endParaRPr lang="en-US" altLang="zh-TW" dirty="0"/>
          </a:p>
          <a:p>
            <a:r>
              <a:rPr lang="zh-TW" altLang="zh-TW" dirty="0"/>
              <a:t>我們為什麼不直接用數學公式，把人類的偏好直接套在 LLM 上微調？」</a:t>
            </a:r>
          </a:p>
          <a:p>
            <a:endParaRPr lang="zh-TW" altLang="zh-TW" sz="1200" b="0" u="none" strike="noStrike" kern="1200" dirty="0">
              <a:solidFill>
                <a:schemeClr val="tx1"/>
              </a:solidFill>
              <a:effectLst/>
              <a:latin typeface="+mn-lt"/>
              <a:ea typeface="+mn-ea"/>
              <a:cs typeface="+mn-cs"/>
            </a:endParaRPr>
          </a:p>
          <a:p>
            <a:r>
              <a:rPr lang="en-US" altLang="zh-TW" sz="1200" b="1" u="none" strike="noStrike" kern="1200" dirty="0">
                <a:solidFill>
                  <a:schemeClr val="tx1"/>
                </a:solidFill>
                <a:effectLst/>
                <a:latin typeface="+mn-lt"/>
                <a:ea typeface="+mn-ea"/>
                <a:cs typeface="+mn-cs"/>
              </a:rPr>
              <a:t>a. </a:t>
            </a:r>
            <a:r>
              <a:rPr lang="zh-TW" altLang="zh-TW" sz="1200" b="1" u="none" strike="noStrike" kern="1200" dirty="0">
                <a:solidFill>
                  <a:schemeClr val="tx1"/>
                </a:solidFill>
                <a:effectLst/>
                <a:latin typeface="+mn-lt"/>
                <a:ea typeface="+mn-ea"/>
                <a:cs typeface="+mn-cs"/>
              </a:rPr>
              <a:t>數學替代</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DPO 的作者證明了恆等式</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「大語言模型本身的生成機率，其實就可以直接推導出隱含的獎勵分數」</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b. </a:t>
            </a:r>
            <a:r>
              <a:rPr lang="zh-TW" altLang="zh-TW" sz="1200" b="1" u="none" strike="noStrike" kern="1200" dirty="0">
                <a:solidFill>
                  <a:schemeClr val="tx1"/>
                </a:solidFill>
                <a:effectLst/>
                <a:latin typeface="+mn-lt"/>
                <a:ea typeface="+mn-ea"/>
                <a:cs typeface="+mn-cs"/>
              </a:rPr>
              <a:t>拋棄傳統強化學習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因為上述發現，DPO </a:t>
            </a:r>
            <a:r>
              <a:rPr lang="zh-TW" altLang="zh-TW" sz="1200" b="1" u="none" strike="noStrike" kern="1200" dirty="0">
                <a:solidFill>
                  <a:schemeClr val="tx1"/>
                </a:solidFill>
                <a:effectLst/>
                <a:latin typeface="+mn-lt"/>
                <a:ea typeface="+mn-ea"/>
                <a:cs typeface="+mn-cs"/>
              </a:rPr>
              <a:t>直接砍掉了「獎勵模型」與「評論員模型」</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en-US" altLang="zh-TW" sz="1200" b="0" u="none" strike="noStrike" kern="1200" dirty="0">
                <a:solidFill>
                  <a:schemeClr val="tx1"/>
                </a:solidFill>
                <a:effectLst/>
                <a:latin typeface="+mn-lt"/>
                <a:ea typeface="+mn-ea"/>
                <a:cs typeface="+mn-cs"/>
              </a:rPr>
              <a:t>c. </a:t>
            </a:r>
            <a:r>
              <a:rPr lang="zh-TW" altLang="zh-TW" sz="1200" b="1" u="none" strike="noStrike" kern="1200" dirty="0">
                <a:solidFill>
                  <a:schemeClr val="tx1"/>
                </a:solidFill>
                <a:effectLst/>
                <a:latin typeface="+mn-lt"/>
                <a:ea typeface="+mn-ea"/>
                <a:cs typeface="+mn-cs"/>
              </a:rPr>
              <a:t>直接分類學習</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訓練資料只需要成對的偏好數據：一個提示詞（Prompt），搭配一個好回答（Chosen）與一個壞回答</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Rejected</a:t>
            </a:r>
            <a:r>
              <a:rPr lang="en-US"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效果</a:t>
            </a:r>
            <a:r>
              <a:rPr lang="zh-TW" altLang="zh-TW" sz="1200" b="0" u="none" strike="noStrike" kern="1200" dirty="0">
                <a:solidFill>
                  <a:schemeClr val="tx1"/>
                </a:solidFill>
                <a:effectLst/>
                <a:latin typeface="+mn-lt"/>
                <a:ea typeface="+mn-ea"/>
                <a:cs typeface="+mn-cs"/>
              </a:rPr>
              <a:t>：將複雜的強化學習，直接簡化為普通的</a:t>
            </a:r>
            <a:r>
              <a:rPr lang="zh-TW" altLang="zh-TW" sz="1200" b="1" u="none" strike="noStrike" kern="1200" dirty="0">
                <a:solidFill>
                  <a:schemeClr val="tx1"/>
                </a:solidFill>
                <a:effectLst/>
                <a:latin typeface="+mn-lt"/>
                <a:ea typeface="+mn-ea"/>
                <a:cs typeface="+mn-cs"/>
              </a:rPr>
              <a:t>監督式二元分類任務（Binary Classification）</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zh-TW" altLang="en-US" dirty="0"/>
          </a:p>
        </p:txBody>
      </p:sp>
      <p:sp>
        <p:nvSpPr>
          <p:cNvPr id="4" name="投影片編號版面配置區 3">
            <a:extLst>
              <a:ext uri="{FF2B5EF4-FFF2-40B4-BE49-F238E27FC236}">
                <a16:creationId xmlns:a16="http://schemas.microsoft.com/office/drawing/2014/main" id="{B768C05B-391A-5143-B959-A88384F893E9}"/>
              </a:ext>
            </a:extLst>
          </p:cNvPr>
          <p:cNvSpPr>
            <a:spLocks noGrp="1"/>
          </p:cNvSpPr>
          <p:nvPr>
            <p:ph type="sldNum" sz="quarter" idx="5"/>
          </p:nvPr>
        </p:nvSpPr>
        <p:spPr/>
        <p:txBody>
          <a:bodyPr/>
          <a:lstStyle/>
          <a:p>
            <a:fld id="{E3A6CE5E-F349-486D-8749-82EF2AD71FA8}" type="slidenum">
              <a:rPr lang="zh-TW" altLang="en-US" smtClean="0"/>
              <a:t>6</a:t>
            </a:fld>
            <a:endParaRPr lang="zh-TW" altLang="en-US"/>
          </a:p>
        </p:txBody>
      </p:sp>
    </p:spTree>
    <p:extLst>
      <p:ext uri="{BB962C8B-B14F-4D97-AF65-F5344CB8AC3E}">
        <p14:creationId xmlns:p14="http://schemas.microsoft.com/office/powerpoint/2010/main" val="428434708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en-US" altLang="zh-TW" sz="1800" dirty="0">
                <a:latin typeface="Arial" panose="020B0604020202020204" pitchFamily="34" charset="0"/>
                <a:cs typeface="Arial" panose="020B0604020202020204" pitchFamily="34" charset="0"/>
              </a:rPr>
              <a:t>Transformer: SDT vs MoE</a:t>
            </a:r>
          </a:p>
          <a:p>
            <a:r>
              <a:rPr lang="en-US" altLang="zh-TW" sz="1200" dirty="0">
                <a:latin typeface="Arial" panose="020B0604020202020204" pitchFamily="34" charset="0"/>
                <a:cs typeface="Arial" panose="020B0604020202020204" pitchFamily="34" charset="0"/>
              </a:rPr>
              <a:t>Standard Dense Transformer vs Mixture of Exports</a:t>
            </a:r>
            <a:endParaRPr lang="en-US" altLang="zh-TW" sz="1400" dirty="0">
              <a:latin typeface="Arial" panose="020B0604020202020204" pitchFamily="34" charset="0"/>
              <a:cs typeface="Arial" panose="020B0604020202020204" pitchFamily="34" charset="0"/>
              <a:sym typeface="Wingdings" panose="05000000000000000000" pitchFamily="2" charset="2"/>
            </a:endParaRPr>
          </a:p>
          <a:p>
            <a:br>
              <a:rPr lang="en-US" altLang="zh-TW" dirty="0"/>
            </a:br>
            <a:r>
              <a:rPr lang="en-US" altLang="zh-TW" dirty="0"/>
              <a:t>MHA </a:t>
            </a:r>
            <a:r>
              <a:rPr lang="en-US" altLang="zh-TW" dirty="0">
                <a:sym typeface="Wingdings" panose="05000000000000000000" pitchFamily="2" charset="2"/>
              </a:rPr>
              <a:t> MQA/MGAMLA</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7</a:t>
            </a:fld>
            <a:endParaRPr lang="zh-TW" altLang="en-US"/>
          </a:p>
        </p:txBody>
      </p:sp>
    </p:spTree>
    <p:extLst>
      <p:ext uri="{BB962C8B-B14F-4D97-AF65-F5344CB8AC3E}">
        <p14:creationId xmlns:p14="http://schemas.microsoft.com/office/powerpoint/2010/main" val="188991301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9</a:t>
            </a:fld>
            <a:endParaRPr lang="zh-TW" altLang="en-US"/>
          </a:p>
        </p:txBody>
      </p:sp>
    </p:spTree>
    <p:extLst>
      <p:ext uri="{BB962C8B-B14F-4D97-AF65-F5344CB8AC3E}">
        <p14:creationId xmlns:p14="http://schemas.microsoft.com/office/powerpoint/2010/main" val="166743485"/>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MoE的挑選過程, 如何運算</a:t>
            </a:r>
          </a:p>
          <a:p>
            <a:pPr rtl="0"/>
            <a:r>
              <a:rPr lang="zh-TW" altLang="zh-TW" sz="1200" b="0" u="none" strike="noStrike" kern="1200" dirty="0">
                <a:solidFill>
                  <a:schemeClr val="tx1"/>
                </a:solidFill>
                <a:effectLst/>
                <a:latin typeface="+mn-lt"/>
                <a:ea typeface="+mn-ea"/>
                <a:cs typeface="+mn-cs"/>
              </a:rPr>
              <a:t>在 16 個專家的 MoE（Mixture of Experts）架構中，當設定 \(k=2\) 時，挑選專家的數學運算過程主要分為</a:t>
            </a:r>
            <a:r>
              <a:rPr lang="zh-TW" altLang="zh-TW" sz="1200" b="1" u="none" strike="noStrike" kern="1200" dirty="0">
                <a:solidFill>
                  <a:schemeClr val="tx1"/>
                </a:solidFill>
                <a:effectLst/>
                <a:latin typeface="+mn-lt"/>
                <a:ea typeface="+mn-ea"/>
                <a:cs typeface="+mn-cs"/>
              </a:rPr>
              <a:t>計算評分</a:t>
            </a:r>
            <a:r>
              <a:rPr lang="zh-TW"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Top-2 篩選與常態化</a:t>
            </a:r>
            <a:r>
              <a:rPr lang="zh-TW" altLang="zh-TW" sz="1200" b="0" u="none" strike="noStrike" kern="1200" dirty="0">
                <a:solidFill>
                  <a:schemeClr val="tx1"/>
                </a:solidFill>
                <a:effectLst/>
                <a:latin typeface="+mn-lt"/>
                <a:ea typeface="+mn-ea"/>
                <a:cs typeface="+mn-cs"/>
              </a:rPr>
              <a:t>、以及</a:t>
            </a:r>
            <a:r>
              <a:rPr lang="zh-TW" altLang="zh-TW" sz="1200" b="1" u="none" strike="noStrike" kern="1200" dirty="0">
                <a:solidFill>
                  <a:schemeClr val="tx1"/>
                </a:solidFill>
                <a:effectLst/>
                <a:latin typeface="+mn-lt"/>
                <a:ea typeface="+mn-ea"/>
                <a:cs typeface="+mn-cs"/>
              </a:rPr>
              <a:t>矩陣分流</a:t>
            </a:r>
            <a:r>
              <a:rPr lang="zh-TW" altLang="zh-TW" sz="1200" b="0" u="none" strike="noStrike" kern="1200" dirty="0">
                <a:solidFill>
                  <a:schemeClr val="tx1"/>
                </a:solidFill>
                <a:effectLst/>
                <a:latin typeface="+mn-lt"/>
                <a:ea typeface="+mn-ea"/>
                <a:cs typeface="+mn-cs"/>
              </a:rPr>
              <a:t>三個步驟。</a:t>
            </a:r>
          </a:p>
          <a:p>
            <a:r>
              <a:rPr lang="en-US" altLang="zh-TW" dirty="0"/>
              <a:t>1. </a:t>
            </a:r>
            <a:r>
              <a:rPr lang="zh-TW" altLang="zh-TW" dirty="0"/>
              <a:t>計算所有專家的原始評分 (Logits)</a:t>
            </a:r>
            <a:r>
              <a:rPr lang="en-US" altLang="zh-TW" dirty="0"/>
              <a:t> S= X*R</a:t>
            </a:r>
          </a:p>
          <a:p>
            <a:r>
              <a:rPr lang="en-US" altLang="zh-TW" dirty="0"/>
              <a:t>2. </a:t>
            </a:r>
            <a:r>
              <a:rPr lang="zh-TW" altLang="zh-TW" dirty="0"/>
              <a:t>挑選前 2 名專家 (Top-2 Selection):針對矩陣 \(S\) 的每一列（即每個 Token），找出數值最大的前 2 個索引（Indices）。</a:t>
            </a:r>
            <a:br>
              <a:rPr lang="en-US" altLang="zh-TW" dirty="0"/>
            </a:br>
            <a:r>
              <a:rPr lang="en-US" altLang="zh-TW" dirty="0"/>
              <a:t>3. </a:t>
            </a:r>
            <a:r>
              <a:rPr lang="zh-TW" altLang="zh-TW" sz="1200" b="1" u="none" strike="noStrike" kern="1200" dirty="0">
                <a:solidFill>
                  <a:schemeClr val="tx1"/>
                </a:solidFill>
                <a:effectLst/>
                <a:latin typeface="+mn-lt"/>
                <a:ea typeface="+mn-ea"/>
                <a:cs typeface="+mn-cs"/>
              </a:rPr>
              <a:t>計算門控權重 (Softmax &amp; Masking)</a:t>
            </a:r>
            <a:r>
              <a:rPr lang="en-US" altLang="zh-TW"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為了讓模型知道這兩個被選中的專家各自佔多少比重，我們會對 Top-2 的分數進行 Softmax 常態化，其餘未選中的 14 個專家分數則設為 </a:t>
            </a:r>
            <a:r>
              <a:rPr lang="en-US" altLang="zh-TW" sz="1200" b="0" u="none" strike="noStrike" kern="1200" dirty="0">
                <a:solidFill>
                  <a:schemeClr val="tx1"/>
                </a:solidFill>
                <a:effectLst/>
                <a:latin typeface="+mn-lt"/>
                <a:ea typeface="+mn-ea"/>
                <a:cs typeface="+mn-cs"/>
              </a:rPr>
              <a:t>-</a:t>
            </a:r>
            <a:r>
              <a:rPr lang="az-Cyrl-AZ" altLang="zh-TW" sz="1200" b="0" u="none" strike="noStrike" kern="1200" dirty="0">
                <a:solidFill>
                  <a:schemeClr val="tx1"/>
                </a:solidFill>
                <a:effectLst/>
                <a:latin typeface="Calibri" panose="020F0502020204030204" pitchFamily="34" charset="0"/>
                <a:ea typeface="Calibri" panose="020F0502020204030204" pitchFamily="34" charset="0"/>
                <a:cs typeface="Calibri" panose="020F0502020204030204" pitchFamily="34" charset="0"/>
              </a:rPr>
              <a:t>ꚙ</a:t>
            </a:r>
            <a:endParaRPr lang="zh-TW" altLang="zh-TW" sz="1200" b="0" u="none" strike="noStrike" kern="1200" dirty="0">
              <a:solidFill>
                <a:schemeClr val="tx1"/>
              </a:solidFill>
              <a:effectLst/>
              <a:latin typeface="+mn-lt"/>
              <a:ea typeface="+mn-ea"/>
              <a:cs typeface="+mn-cs"/>
            </a:endParaRPr>
          </a:p>
          <a:p>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0" u="none" strike="noStrike" kern="1200" dirty="0">
                <a:solidFill>
                  <a:schemeClr val="tx1"/>
                </a:solidFill>
                <a:effectLst/>
                <a:latin typeface="+mn-lt"/>
                <a:ea typeface="+mn-ea"/>
                <a:cs typeface="+mn-cs"/>
              </a:rPr>
              <a:t>矩陣</a:t>
            </a:r>
            <a:r>
              <a:rPr lang="en-US" altLang="zh-TW" sz="1200" b="0" u="none" strike="noStrike" kern="1200" dirty="0">
                <a:solidFill>
                  <a:schemeClr val="tx1"/>
                </a:solidFill>
                <a:effectLst/>
                <a:latin typeface="+mn-lt"/>
                <a:ea typeface="+mn-ea"/>
                <a:cs typeface="+mn-cs"/>
              </a:rPr>
              <a:t>G (Gating Matrix)</a:t>
            </a:r>
            <a:r>
              <a:rPr lang="zh-TW" altLang="zh-TW" sz="1200" b="0" u="none" strike="noStrike" kern="1200" dirty="0">
                <a:solidFill>
                  <a:schemeClr val="tx1"/>
                </a:solidFill>
                <a:effectLst/>
                <a:latin typeface="+mn-lt"/>
                <a:ea typeface="+mn-ea"/>
                <a:cs typeface="+mn-cs"/>
              </a:rPr>
              <a:t> 的每一列中，</a:t>
            </a:r>
            <a:r>
              <a:rPr lang="zh-TW" altLang="zh-TW" sz="1200" b="1" u="none" strike="noStrike" kern="1200" dirty="0">
                <a:solidFill>
                  <a:schemeClr val="tx1"/>
                </a:solidFill>
                <a:effectLst/>
                <a:latin typeface="+mn-lt"/>
                <a:ea typeface="+mn-ea"/>
                <a:cs typeface="+mn-cs"/>
              </a:rPr>
              <a:t>只有 2 個位置有大於 0 的機率值</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且兩者相加為</a:t>
            </a:r>
            <a:r>
              <a:rPr lang="en-US" altLang="zh-TW" sz="1200" b="0" u="none" strike="noStrike" kern="1200" dirty="0">
                <a:solidFill>
                  <a:schemeClr val="tx1"/>
                </a:solidFill>
                <a:effectLst/>
                <a:latin typeface="+mn-lt"/>
                <a:ea typeface="+mn-ea"/>
                <a:cs typeface="+mn-cs"/>
              </a:rPr>
              <a:t>1)</a:t>
            </a:r>
            <a:r>
              <a:rPr lang="zh-TW" altLang="zh-TW" sz="1200" b="0" u="none" strike="noStrike" kern="1200" dirty="0">
                <a:solidFill>
                  <a:schemeClr val="tx1"/>
                </a:solidFill>
                <a:effectLst/>
                <a:latin typeface="+mn-lt"/>
                <a:ea typeface="+mn-ea"/>
                <a:cs typeface="+mn-cs"/>
              </a:rPr>
              <a:t>，其餘 14 個位置皆為 0。</a:t>
            </a:r>
          </a:p>
          <a:p>
            <a:endParaRPr lang="en-US" altLang="zh-TW" dirty="0"/>
          </a:p>
          <a:p>
            <a:endParaRPr lang="en-US"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10</a:t>
            </a:fld>
            <a:endParaRPr lang="zh-TW" altLang="en-US"/>
          </a:p>
        </p:txBody>
      </p:sp>
    </p:spTree>
    <p:extLst>
      <p:ext uri="{BB962C8B-B14F-4D97-AF65-F5344CB8AC3E}">
        <p14:creationId xmlns:p14="http://schemas.microsoft.com/office/powerpoint/2010/main" val="348369937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每個向量指針</a:t>
            </a:r>
            <a:r>
              <a:rPr lang="en-US" altLang="zh-TW" dirty="0"/>
              <a:t>,</a:t>
            </a:r>
            <a:r>
              <a:rPr lang="zh-TW" altLang="en-US" dirty="0"/>
              <a:t> 根據自己的敏感度在所屬區段</a:t>
            </a:r>
            <a:r>
              <a:rPr lang="en-US" altLang="zh-TW" dirty="0"/>
              <a:t>, </a:t>
            </a:r>
            <a:r>
              <a:rPr lang="zh-TW" altLang="en-US" dirty="0"/>
              <a:t>去微調的權重</a:t>
            </a:r>
            <a:r>
              <a:rPr lang="en-US" altLang="zh-TW" dirty="0"/>
              <a:t>, </a:t>
            </a:r>
            <a:r>
              <a:rPr lang="zh-TW" altLang="en-US" dirty="0"/>
              <a:t>傳化成</a:t>
            </a:r>
            <a:r>
              <a:rPr lang="en-US" altLang="zh-TW" dirty="0"/>
              <a:t>sinusoidal.</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11</a:t>
            </a:fld>
            <a:endParaRPr lang="zh-TW" altLang="en-US"/>
          </a:p>
        </p:txBody>
      </p:sp>
    </p:spTree>
    <p:extLst>
      <p:ext uri="{BB962C8B-B14F-4D97-AF65-F5344CB8AC3E}">
        <p14:creationId xmlns:p14="http://schemas.microsoft.com/office/powerpoint/2010/main" val="285216408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mc:AlternateContent xmlns:mc="http://schemas.openxmlformats.org/markup-compatibility/2006" xmlns:a14="http://schemas.microsoft.com/office/drawing/2010/main">
        <mc:Choice Requires="a14">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14:m>
                  <m:oMath xmlns:m="http://schemas.openxmlformats.org/officeDocument/2006/math">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oMath>
                </a14:m>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14:m>
                  <m:oMath xmlns:m="http://schemas.openxmlformats.org/officeDocument/2006/math">
                    <m:r>
                      <a:rPr lang="zh-TW" altLang="en-US" sz="1200" i="1">
                        <a:latin typeface="Cambria Math" panose="02040503050406030204" pitchFamily="18" charset="0"/>
                      </a:rPr>
                      <m:t>𝑚</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14:m>
                  <m:oMath xmlns:m="http://schemas.openxmlformats.org/officeDocument/2006/math">
                    <m:r>
                      <a:rPr lang="zh-TW" altLang="en-US" sz="1200" i="1">
                        <a:latin typeface="Cambria Math" panose="02040503050406030204" pitchFamily="18" charset="0"/>
                      </a:rPr>
                      <m:t>𝑚</m:t>
                    </m:r>
                    <m:r>
                      <a:rPr lang="en-US" altLang="zh-TW" sz="1200" i="0">
                        <a:latin typeface="Cambria Math" panose="02040503050406030204" pitchFamily="18" charset="0"/>
                      </a:rPr>
                      <m:t>=</m:t>
                    </m:r>
                    <m:r>
                      <a:rPr lang="zh-TW" altLang="en-US" sz="1200" i="1">
                        <a:latin typeface="Cambria Math" panose="02040503050406030204" pitchFamily="18" charset="0"/>
                      </a:rPr>
                      <m:t>𝑛</m:t>
                    </m:r>
                  </m:oMath>
                </a14:m>
                <a:r>
                  <a:rPr lang="zh-TW" altLang="en-US" sz="1200" dirty="0">
                    <a:latin typeface="微軟正黑體" panose="020B0604030504040204" pitchFamily="34" charset="-120"/>
                    <a:ea typeface="微軟正黑體" panose="020B0604030504040204" pitchFamily="34" charset="-120"/>
                  </a:rPr>
                  <a:t>時，</a:t>
                </a:r>
                <a14:m>
                  <m:oMath xmlns:m="http://schemas.openxmlformats.org/officeDocument/2006/math">
                    <m:r>
                      <m:rPr>
                        <m:sty m:val="p"/>
                      </m:rPr>
                      <a:rPr lang="en-US" altLang="zh-TW" sz="1200">
                        <a:latin typeface="Cambria Math" panose="02040503050406030204" pitchFamily="18" charset="0"/>
                      </a:rPr>
                      <m:t>sin</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=0</m:t>
                    </m:r>
                  </m:oMath>
                </a14:m>
                <a:r>
                  <a:rPr lang="zh-TW" altLang="en-US" sz="1200" dirty="0">
                    <a:latin typeface="微軟正黑體" panose="020B0604030504040204" pitchFamily="34" charset="-120"/>
                    <a:ea typeface="微軟正黑體" panose="020B0604030504040204" pitchFamily="34" charset="-120"/>
                  </a:rPr>
                  <a:t>，</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r>
                          <a:rPr lang="en-US" altLang="zh-TW" sz="1200" i="0">
                            <a:latin typeface="Cambria Math" panose="02040503050406030204" pitchFamily="18" charset="0"/>
                          </a:rPr>
                          <m:t>0</m:t>
                        </m:r>
                      </m:e>
                    </m:d>
                    <m:r>
                      <a:rPr lang="en-US" altLang="zh-TW" sz="1200" i="0">
                        <a:latin typeface="Cambria Math" panose="02040503050406030204" pitchFamily="18" charset="0"/>
                      </a:rPr>
                      <m:t>=1</m:t>
                    </m:r>
                  </m:oMath>
                </a14:m>
                <a:r>
                  <a:rPr lang="zh-TW" altLang="en-US" sz="1200" dirty="0">
                    <a:latin typeface="微軟正黑體" panose="020B0604030504040204" pitchFamily="34" charset="-120"/>
                    <a:ea typeface="微軟正黑體" panose="020B0604030504040204" pitchFamily="34" charset="-120"/>
                  </a:rPr>
                  <a:t>，內積就等於原本 </a:t>
                </a:r>
                <a14:m>
                  <m:oMath xmlns:m="http://schemas.openxmlformats.org/officeDocument/2006/math">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1</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1</m:t>
                        </m:r>
                      </m:sub>
                    </m:sSub>
                    <m:r>
                      <a:rPr lang="en-US" altLang="zh-TW" sz="1200" i="0">
                        <a:latin typeface="Cambria Math" panose="02040503050406030204" pitchFamily="18" charset="0"/>
                      </a:rPr>
                      <m:t>+</m:t>
                    </m:r>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𝑞</m:t>
                        </m:r>
                      </m:e>
                      <m:sub>
                        <m:r>
                          <a:rPr lang="en-US" altLang="zh-TW" sz="1200" i="0">
                            <a:latin typeface="Cambria Math" panose="02040503050406030204" pitchFamily="18" charset="0"/>
                          </a:rPr>
                          <m:t>2</m:t>
                        </m:r>
                      </m:sub>
                    </m:sSub>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𝑘</m:t>
                        </m:r>
                      </m:e>
                      <m:sub>
                        <m:r>
                          <a:rPr lang="en-US" altLang="zh-TW" sz="1200" i="0">
                            <a:latin typeface="Cambria Math" panose="02040503050406030204" pitchFamily="18" charset="0"/>
                          </a:rPr>
                          <m:t>2</m:t>
                        </m:r>
                      </m:sub>
                    </m:sSub>
                  </m:oMath>
                </a14:m>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14:m>
                  <m:oMath xmlns:m="http://schemas.openxmlformats.org/officeDocument/2006/math">
                    <m:r>
                      <m:rPr>
                        <m:sty m:val="p"/>
                      </m:rPr>
                      <a:rPr lang="en-US" altLang="zh-TW" sz="1200">
                        <a:latin typeface="Cambria Math" panose="02040503050406030204" pitchFamily="18" charset="0"/>
                      </a:rPr>
                      <m:t>cos</m:t>
                    </m:r>
                    <m:r>
                      <a:rPr lang="zh-TW" altLang="en-US" sz="1200" i="0">
                        <a:latin typeface="Cambria Math" panose="02040503050406030204" pitchFamily="18" charset="0"/>
                      </a:rPr>
                      <m:t>⁡</m:t>
                    </m:r>
                    <m:d>
                      <m:dPr>
                        <m:ctrlPr>
                          <a:rPr lang="zh-TW" altLang="en-US" sz="1200" i="1">
                            <a:latin typeface="Cambria Math" panose="02040503050406030204" pitchFamily="18" charset="0"/>
                          </a:rPr>
                        </m:ctrlPr>
                      </m:dPr>
                      <m:e>
                        <m:d>
                          <m:dPr>
                            <m:ctrlPr>
                              <a:rPr lang="zh-TW" altLang="en-US" sz="1200" i="1">
                                <a:latin typeface="Cambria Math" panose="02040503050406030204" pitchFamily="18" charset="0"/>
                              </a:rPr>
                            </m:ctrlPr>
                          </m:dPr>
                          <m:e>
                            <m:r>
                              <a:rPr lang="zh-TW" altLang="en-US" sz="1200" i="1">
                                <a:latin typeface="Cambria Math" panose="02040503050406030204" pitchFamily="18" charset="0"/>
                              </a:rPr>
                              <m:t>𝑚</m:t>
                            </m:r>
                            <m:r>
                              <a:rPr lang="zh-TW" altLang="en-US" sz="1200" i="0">
                                <a:latin typeface="Cambria Math" panose="02040503050406030204" pitchFamily="18" charset="0"/>
                              </a:rPr>
                              <m:t>−</m:t>
                            </m:r>
                            <m:r>
                              <a:rPr lang="zh-TW" altLang="en-US" sz="1200" i="1">
                                <a:latin typeface="Cambria Math" panose="02040503050406030204" pitchFamily="18" charset="0"/>
                              </a:rPr>
                              <m:t>𝑛</m:t>
                            </m:r>
                          </m:e>
                        </m:d>
                        <m:r>
                          <a:rPr lang="zh-TW" altLang="en-US" sz="1200" i="1">
                            <a:latin typeface="Cambria Math" panose="02040503050406030204" pitchFamily="18" charset="0"/>
                          </a:rPr>
                          <m:t>𝜃</m:t>
                        </m:r>
                      </m:e>
                    </m:d>
                  </m:oMath>
                </a14:m>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Choice>
        <mc:Fallback xmlns="">
          <p:sp>
            <p:nvSpPr>
              <p:cNvPr id="3" name="備忘稿版面配置區 2"/>
              <p:cNvSpPr>
                <a:spLocks noGrp="1"/>
              </p:cNvSpPr>
              <p:nvPr>
                <p:ph type="body" idx="1"/>
              </p:nvPr>
            </p:nvSpPr>
            <p:spPr/>
            <p:txBody>
              <a:bodyPr/>
              <a:lstStyle/>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最終的 </a:t>
                </a:r>
                <a:r>
                  <a:rPr lang="en-US" altLang="zh-TW" sz="1200" dirty="0">
                    <a:latin typeface="微軟正黑體" panose="020B0604030504040204" pitchFamily="34" charset="-120"/>
                    <a:ea typeface="微軟正黑體" panose="020B0604030504040204" pitchFamily="34" charset="-120"/>
                  </a:rPr>
                  <a:t>Attention </a:t>
                </a:r>
                <a:r>
                  <a:rPr lang="zh-TW" altLang="en-US" sz="1200" dirty="0">
                    <a:latin typeface="微軟正黑體" panose="020B0604030504040204" pitchFamily="34" charset="-120"/>
                    <a:ea typeface="微軟正黑體" panose="020B0604030504040204" pitchFamily="34" charset="-120"/>
                  </a:rPr>
                  <a:t>分數 </a:t>
                </a:r>
                <a:r>
                  <a:rPr lang="zh-TW" altLang="en-US" sz="1200" b="1" dirty="0">
                    <a:latin typeface="微軟正黑體" panose="020B0604030504040204" pitchFamily="34" charset="-120"/>
                    <a:ea typeface="微軟正黑體" panose="020B0604030504040204" pitchFamily="34" charset="-120"/>
                  </a:rPr>
                  <a:t>只與相對位置 </a:t>
                </a:r>
                <a:r>
                  <a:rPr lang="zh-TW" altLang="en-US" sz="1200" i="0">
                    <a:latin typeface="Cambria Math" panose="02040503050406030204" pitchFamily="18" charset="0"/>
                  </a:rPr>
                  <a:t>(𝑚−𝑛)</a:t>
                </a:r>
                <a:r>
                  <a:rPr lang="zh-TW" altLang="en-US" sz="1200" b="1" dirty="0">
                    <a:latin typeface="微軟正黑體" panose="020B0604030504040204" pitchFamily="34" charset="-120"/>
                    <a:ea typeface="微軟正黑體" panose="020B0604030504040204" pitchFamily="34" charset="-120"/>
                  </a:rPr>
                  <a:t>有關</a:t>
                </a:r>
                <a:r>
                  <a:rPr lang="zh-TW" altLang="en-US" sz="1200" dirty="0">
                    <a:latin typeface="微軟正黑體" panose="020B0604030504040204" pitchFamily="34" charset="-120"/>
                    <a:ea typeface="微軟正黑體" panose="020B0604030504040204" pitchFamily="34" charset="-120"/>
                  </a:rPr>
                  <a:t>，與絕對位置 </a:t>
                </a:r>
                <a:r>
                  <a:rPr lang="zh-TW" altLang="en-US" sz="1200" i="0">
                    <a:latin typeface="Cambria Math" panose="02040503050406030204" pitchFamily="18" charset="0"/>
                  </a:rPr>
                  <a:t>𝑚</a:t>
                </a:r>
                <a:r>
                  <a:rPr lang="zh-TW" altLang="en-US" sz="1200" dirty="0">
                    <a:latin typeface="微軟正黑體" panose="020B0604030504040204" pitchFamily="34" charset="-120"/>
                    <a:ea typeface="微軟正黑體" panose="020B0604030504040204" pitchFamily="34" charset="-12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 無關。</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當 </a:t>
                </a:r>
                <a:r>
                  <a:rPr lang="zh-TW" altLang="en-US" sz="1200" i="0">
                    <a:latin typeface="Cambria Math" panose="02040503050406030204" pitchFamily="18" charset="0"/>
                  </a:rPr>
                  <a:t>𝑚</a:t>
                </a:r>
                <a:r>
                  <a:rPr lang="en-US" altLang="zh-TW" sz="1200" i="0">
                    <a:latin typeface="Cambria Math" panose="02040503050406030204" pitchFamily="18" charset="0"/>
                  </a:rPr>
                  <a:t>=</a:t>
                </a:r>
                <a:r>
                  <a:rPr lang="zh-TW" altLang="en-US" sz="1200" i="0">
                    <a:latin typeface="Cambria Math" panose="02040503050406030204" pitchFamily="18" charset="0"/>
                  </a:rPr>
                  <a:t>𝑛</a:t>
                </a:r>
                <a:r>
                  <a:rPr lang="zh-TW" altLang="en-US" sz="1200" dirty="0">
                    <a:latin typeface="微軟正黑體" panose="020B0604030504040204" pitchFamily="34" charset="-120"/>
                    <a:ea typeface="微軟正黑體" panose="020B0604030504040204" pitchFamily="34" charset="-120"/>
                  </a:rPr>
                  <a:t>時，</a:t>
                </a:r>
                <a:r>
                  <a:rPr lang="en-US" altLang="zh-TW" sz="1200" i="0">
                    <a:latin typeface="Cambria Math" panose="02040503050406030204" pitchFamily="18" charset="0"/>
                  </a:rPr>
                  <a:t>sin</a:t>
                </a:r>
                <a:r>
                  <a:rPr lang="zh-TW" altLang="en-US" sz="1200" i="0">
                    <a:latin typeface="Cambria Math" panose="02040503050406030204" pitchFamily="18" charset="0"/>
                  </a:rPr>
                  <a:t>⁡(</a:t>
                </a:r>
                <a:r>
                  <a:rPr lang="en-US" altLang="zh-TW" sz="1200" i="0">
                    <a:latin typeface="Cambria Math" panose="02040503050406030204" pitchFamily="18" charset="0"/>
                  </a:rPr>
                  <a:t>0)=0</a:t>
                </a:r>
                <a:r>
                  <a:rPr lang="zh-TW" altLang="en-US" sz="1200" dirty="0">
                    <a:latin typeface="微軟正黑體" panose="020B0604030504040204" pitchFamily="34" charset="-120"/>
                    <a:ea typeface="微軟正黑體" panose="020B0604030504040204" pitchFamily="34" charset="-120"/>
                  </a:rPr>
                  <a:t>，</a:t>
                </a:r>
                <a:r>
                  <a:rPr lang="en-US" altLang="zh-TW" sz="1200" i="0">
                    <a:latin typeface="Cambria Math" panose="02040503050406030204" pitchFamily="18" charset="0"/>
                  </a:rPr>
                  <a:t>cos</a:t>
                </a:r>
                <a:r>
                  <a:rPr lang="zh-TW" altLang="en-US" sz="1200" i="0">
                    <a:latin typeface="Cambria Math" panose="02040503050406030204" pitchFamily="18" charset="0"/>
                  </a:rPr>
                  <a:t>⁡(</a:t>
                </a:r>
                <a:r>
                  <a:rPr lang="en-US" altLang="zh-TW" sz="1200" i="0">
                    <a:latin typeface="Cambria Math" panose="02040503050406030204" pitchFamily="18" charset="0"/>
                  </a:rPr>
                  <a:t>0)=1</a:t>
                </a:r>
                <a:r>
                  <a:rPr lang="zh-TW" altLang="en-US" sz="1200" dirty="0">
                    <a:latin typeface="微軟正黑體" panose="020B0604030504040204" pitchFamily="34" charset="-120"/>
                    <a:ea typeface="微軟正黑體" panose="020B0604030504040204" pitchFamily="34" charset="-120"/>
                  </a:rPr>
                  <a:t>，內積就等於原本 </a:t>
                </a:r>
                <a:r>
                  <a:rPr lang="zh-TW" altLang="en-US" sz="1200" i="0">
                    <a:latin typeface="Cambria Math" panose="02040503050406030204" pitchFamily="18" charset="0"/>
                  </a:rPr>
                  <a:t>𝑞_</a:t>
                </a:r>
                <a:r>
                  <a:rPr lang="en-US" altLang="zh-TW" sz="1200" i="0">
                    <a:latin typeface="Cambria Math" panose="02040503050406030204" pitchFamily="18" charset="0"/>
                  </a:rPr>
                  <a:t>1</a:t>
                </a:r>
                <a:r>
                  <a:rPr lang="zh-TW" altLang="en-US" sz="1200" i="0">
                    <a:latin typeface="Cambria Math" panose="02040503050406030204" pitchFamily="18" charset="0"/>
                  </a:rPr>
                  <a:t> 𝑘_</a:t>
                </a:r>
                <a:r>
                  <a:rPr lang="en-US" altLang="zh-TW" sz="1200" i="0">
                    <a:latin typeface="Cambria Math" panose="02040503050406030204" pitchFamily="18" charset="0"/>
                  </a:rPr>
                  <a:t>1+</a:t>
                </a:r>
                <a:r>
                  <a:rPr lang="zh-TW" altLang="en-US" sz="1200" i="0">
                    <a:latin typeface="Cambria Math" panose="02040503050406030204" pitchFamily="18" charset="0"/>
                  </a:rPr>
                  <a:t>𝑞_</a:t>
                </a:r>
                <a:r>
                  <a:rPr lang="en-US" altLang="zh-TW" sz="1200" i="0">
                    <a:latin typeface="Cambria Math" panose="02040503050406030204" pitchFamily="18" charset="0"/>
                  </a:rPr>
                  <a:t>2</a:t>
                </a:r>
                <a:r>
                  <a:rPr lang="zh-TW" altLang="en-US" sz="1200" i="0">
                    <a:latin typeface="Cambria Math" panose="02040503050406030204" pitchFamily="18" charset="0"/>
                  </a:rPr>
                  <a:t> 𝑘_</a:t>
                </a:r>
                <a:r>
                  <a:rPr lang="en-US" altLang="zh-TW" sz="1200" i="0">
                    <a:latin typeface="Cambria Math" panose="02040503050406030204" pitchFamily="18" charset="0"/>
                  </a:rPr>
                  <a:t>2</a:t>
                </a:r>
                <a:r>
                  <a:rPr lang="zh-TW" altLang="en-US" sz="1200" dirty="0">
                    <a:latin typeface="微軟正黑體" panose="020B0604030504040204" pitchFamily="34" charset="-120"/>
                    <a:ea typeface="微軟正黑體" panose="020B0604030504040204" pitchFamily="34" charset="-120"/>
                  </a:rPr>
                  <a:t>（語義不變）。</a:t>
                </a:r>
              </a:p>
              <a:p>
                <a:pPr>
                  <a:buFont typeface="Arial" panose="020B0604020202020204" pitchFamily="34" charset="0"/>
                  <a:buChar char="•"/>
                </a:pPr>
                <a:r>
                  <a:rPr lang="zh-TW" altLang="en-US" sz="1200" dirty="0">
                    <a:latin typeface="微軟正黑體" panose="020B0604030504040204" pitchFamily="34" charset="-120"/>
                    <a:ea typeface="微軟正黑體" panose="020B0604030504040204" pitchFamily="34" charset="-120"/>
                  </a:rPr>
                  <a:t>距離越遠，</a:t>
                </a:r>
                <a:r>
                  <a:rPr lang="en-US" altLang="zh-TW" sz="1200" i="0">
                    <a:latin typeface="Cambria Math" panose="02040503050406030204" pitchFamily="18" charset="0"/>
                  </a:rPr>
                  <a:t>cos</a:t>
                </a:r>
                <a:r>
                  <a:rPr lang="zh-TW" altLang="en-US" sz="1200" i="0">
                    <a:latin typeface="Cambria Math" panose="02040503050406030204" pitchFamily="18" charset="0"/>
                  </a:rPr>
                  <a:t>⁡((𝑚−𝑛)𝜃)</a:t>
                </a:r>
                <a:r>
                  <a:rPr lang="zh-TW" altLang="en-US" sz="1200" dirty="0">
                    <a:latin typeface="微軟正黑體" panose="020B0604030504040204" pitchFamily="34" charset="-120"/>
                    <a:ea typeface="微軟正黑體" panose="020B0604030504040204" pitchFamily="34" charset="-120"/>
                  </a:rPr>
                  <a:t> 會振盪衰減，這就是 </a:t>
                </a:r>
                <a:r>
                  <a:rPr lang="en-US" altLang="zh-TW" sz="1200" dirty="0">
                    <a:latin typeface="微軟正黑體" panose="020B0604030504040204" pitchFamily="34" charset="-120"/>
                    <a:ea typeface="微軟正黑體" panose="020B0604030504040204" pitchFamily="34" charset="-120"/>
                  </a:rPr>
                  <a:t>RoPE </a:t>
                </a:r>
                <a:r>
                  <a:rPr lang="zh-TW" altLang="en-US" sz="1200" dirty="0">
                    <a:latin typeface="微軟正黑體" panose="020B0604030504040204" pitchFamily="34" charset="-120"/>
                    <a:ea typeface="微軟正黑體" panose="020B0604030504040204" pitchFamily="34" charset="-120"/>
                  </a:rPr>
                  <a:t>天然的距離衰減特性。  </a:t>
                </a:r>
              </a:p>
              <a:p>
                <a:endParaRPr lang="zh-TW" altLang="en-US" dirty="0"/>
              </a:p>
            </p:txBody>
          </p:sp>
        </mc:Fallback>
      </mc:AlternateContent>
      <p:sp>
        <p:nvSpPr>
          <p:cNvPr id="4" name="投影片編號版面配置區 3"/>
          <p:cNvSpPr>
            <a:spLocks noGrp="1"/>
          </p:cNvSpPr>
          <p:nvPr>
            <p:ph type="sldNum" sz="quarter" idx="5"/>
          </p:nvPr>
        </p:nvSpPr>
        <p:spPr/>
        <p:txBody>
          <a:bodyPr/>
          <a:lstStyle/>
          <a:p>
            <a:fld id="{E3A6CE5E-F349-486D-8749-82EF2AD71FA8}" type="slidenum">
              <a:rPr lang="zh-TW" altLang="en-US" smtClean="0"/>
              <a:t>12</a:t>
            </a:fld>
            <a:endParaRPr lang="zh-TW" altLang="en-US"/>
          </a:p>
        </p:txBody>
      </p:sp>
    </p:spTree>
    <p:extLst>
      <p:ext uri="{BB962C8B-B14F-4D97-AF65-F5344CB8AC3E}">
        <p14:creationId xmlns:p14="http://schemas.microsoft.com/office/powerpoint/2010/main" val="17644578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zh-TW" altLang="en-US" sz="1200" b="1" dirty="0">
                <a:latin typeface="微軟正黑體" panose="020B0604030504040204" pitchFamily="34" charset="-120"/>
                <a:ea typeface="微軟正黑體" panose="020B0604030504040204" pitchFamily="34" charset="-120"/>
              </a:rPr>
              <a:t>重點在說明</a:t>
            </a:r>
            <a:r>
              <a:rPr lang="en-US" altLang="zh-TW" sz="1200" b="1" dirty="0">
                <a:latin typeface="微軟正黑體" panose="020B0604030504040204" pitchFamily="34" charset="-120"/>
                <a:ea typeface="微軟正黑體" panose="020B0604030504040204" pitchFamily="34" charset="-120"/>
              </a:rPr>
              <a:t>: Next Token </a:t>
            </a:r>
            <a:r>
              <a:rPr lang="zh-TW" altLang="en-US" sz="1200" b="1" dirty="0">
                <a:latin typeface="微軟正黑體" panose="020B0604030504040204" pitchFamily="34" charset="-120"/>
                <a:ea typeface="微軟正黑體" panose="020B0604030504040204" pitchFamily="34" charset="-120"/>
              </a:rPr>
              <a:t>與 </a:t>
            </a:r>
            <a:r>
              <a:rPr lang="en-US" altLang="zh-TW" sz="1200" b="1" dirty="0">
                <a:latin typeface="微軟正黑體" panose="020B0604030504040204" pitchFamily="34" charset="-120"/>
                <a:ea typeface="微軟正黑體" panose="020B0604030504040204" pitchFamily="34" charset="-120"/>
              </a:rPr>
              <a:t>memory </a:t>
            </a:r>
            <a:r>
              <a:rPr lang="zh-TW" altLang="en-US" sz="1200" b="1" dirty="0">
                <a:latin typeface="微軟正黑體" panose="020B0604030504040204" pitchFamily="34" charset="-120"/>
                <a:ea typeface="微軟正黑體" panose="020B0604030504040204" pitchFamily="34" charset="-120"/>
              </a:rPr>
              <a:t>變化</a:t>
            </a:r>
            <a:endParaRPr lang="en-US" altLang="zh-TW" sz="1200" b="1" u="none" strike="noStrike" dirty="0">
              <a:effectLst/>
              <a:latin typeface="微軟正黑體" panose="020B0604030504040204" pitchFamily="34" charset="-120"/>
              <a:ea typeface="微軟正黑體" panose="020B0604030504040204" pitchFamily="34" charset="-120"/>
            </a:endParaRPr>
          </a:p>
          <a:p>
            <a:endParaRPr lang="en-US" altLang="zh-TW" dirty="0"/>
          </a:p>
          <a:p>
            <a:endParaRPr lang="en-US" altLang="zh-TW" dirty="0"/>
          </a:p>
          <a:p>
            <a:endParaRPr lang="en-US" altLang="zh-TW" dirty="0"/>
          </a:p>
          <a:p>
            <a:r>
              <a:rPr lang="en-US" altLang="zh-TW" dirty="0"/>
              <a:t>GPT </a:t>
            </a:r>
            <a:r>
              <a:rPr lang="zh-TW" altLang="en-US" dirty="0"/>
              <a:t>是「生成式預先訓練變壓器」（</a:t>
            </a:r>
            <a:r>
              <a:rPr lang="en-US" altLang="zh-TW" dirty="0"/>
              <a:t>Generative Pre-trained Transformer</a:t>
            </a:r>
            <a:r>
              <a:rPr lang="zh-TW" altLang="en-US" dirty="0"/>
              <a:t>）的縮寫。它是由 </a:t>
            </a:r>
            <a:r>
              <a:rPr lang="en-US" altLang="zh-TW" dirty="0"/>
              <a:t>OpenAI </a:t>
            </a:r>
            <a:r>
              <a:rPr lang="zh-TW" altLang="en-US" dirty="0"/>
              <a:t>開發的一種深度學習神經網路模型架構，也是目前全球最知名的 </a:t>
            </a:r>
            <a:r>
              <a:rPr lang="en-US" altLang="zh-TW" dirty="0"/>
              <a:t>AI </a:t>
            </a:r>
            <a:r>
              <a:rPr lang="zh-TW" altLang="en-US" dirty="0"/>
              <a:t>聊天機器人 </a:t>
            </a:r>
            <a:r>
              <a:rPr lang="en-US" altLang="zh-TW" dirty="0"/>
              <a:t>ChatGPT </a:t>
            </a:r>
            <a:r>
              <a:rPr lang="zh-TW" altLang="en-US" dirty="0"/>
              <a:t>的底層核心技術。</a:t>
            </a:r>
            <a:endParaRPr lang="zh-TW" altLang="zh-TW" sz="1200" b="0" u="none" strike="noStrike" kern="1200" dirty="0">
              <a:solidFill>
                <a:schemeClr val="tx1"/>
              </a:solidFill>
              <a:effectLst/>
              <a:latin typeface="+mn-lt"/>
              <a:ea typeface="+mn-ea"/>
              <a:cs typeface="+mn-cs"/>
            </a:endParaRPr>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13</a:t>
            </a:fld>
            <a:endParaRPr lang="zh-TW" altLang="en-US"/>
          </a:p>
        </p:txBody>
      </p:sp>
    </p:spTree>
    <p:extLst>
      <p:ext uri="{BB962C8B-B14F-4D97-AF65-F5344CB8AC3E}">
        <p14:creationId xmlns:p14="http://schemas.microsoft.com/office/powerpoint/2010/main" val="174170278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9ACB4D-EB0C-6F94-5AFB-171B565F6CC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EF19517-2DEC-FC89-C498-25449BA60BF5}"/>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DFEDAB6F-6B6E-9ECF-4575-0F2CB1462324}"/>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SFT 的演進可以歸納為四大里程碑節點：</a:t>
            </a:r>
          </a:p>
          <a:p>
            <a:r>
              <a:rPr lang="zh-TW" altLang="zh-TW" sz="1200" b="1" u="none" strike="noStrike" kern="1200" dirty="0">
                <a:solidFill>
                  <a:schemeClr val="tx1"/>
                </a:solidFill>
                <a:effectLst/>
                <a:latin typeface="+mn-lt"/>
                <a:ea typeface="+mn-ea"/>
                <a:cs typeface="+mn-cs"/>
              </a:rPr>
              <a:t>2018 - 2020：前身探索（Task-specific Fine-Tuning）</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在 BERT 或 GPT-2 時代，微調是針對「單一任務」（如：專門微調一個只會判斷情感的模型）。此時模型還沒有具備統一的通用對話能力。 [</a:t>
            </a:r>
            <a:r>
              <a:rPr lang="zh-TW" altLang="zh-TW" sz="1200" b="0" u="none" strike="noStrike" kern="1200" dirty="0">
                <a:solidFill>
                  <a:schemeClr val="tx1"/>
                </a:solidFill>
                <a:effectLst/>
                <a:latin typeface="+mn-lt"/>
                <a:ea typeface="+mn-ea"/>
                <a:cs typeface="+mn-cs"/>
                <a:hlinkClick r:id="rId3"/>
              </a:rPr>
              <a:t>1</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2021.09：指令微調的誕生（Google FLAN）</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Google 發表里程碑論文 </a:t>
            </a:r>
            <a:r>
              <a:rPr lang="zh-TW" altLang="zh-TW" sz="1200" b="0" i="1" u="none" strike="noStrike" kern="1200" dirty="0">
                <a:solidFill>
                  <a:schemeClr val="tx1"/>
                </a:solidFill>
                <a:effectLst/>
                <a:latin typeface="+mn-lt"/>
                <a:ea typeface="+mn-ea"/>
                <a:cs typeface="+mn-cs"/>
                <a:hlinkClick r:id="rId4"/>
              </a:rPr>
              <a:t>FLAN</a:t>
            </a:r>
            <a:r>
              <a:rPr lang="zh-TW" altLang="zh-TW" sz="1200" b="0" u="none" strike="noStrike" kern="1200" dirty="0">
                <a:solidFill>
                  <a:schemeClr val="tx1"/>
                </a:solidFill>
                <a:effectLst/>
                <a:latin typeface="+mn-lt"/>
                <a:ea typeface="+mn-ea"/>
                <a:cs typeface="+mn-cs"/>
              </a:rPr>
              <a:t>，首次提出 </a:t>
            </a:r>
            <a:r>
              <a:rPr lang="zh-TW" altLang="zh-TW" sz="1200" b="1" u="none" strike="noStrike" kern="1200" dirty="0">
                <a:solidFill>
                  <a:schemeClr val="tx1"/>
                </a:solidFill>
                <a:effectLst/>
                <a:latin typeface="+mn-lt"/>
                <a:ea typeface="+mn-ea"/>
                <a:cs typeface="+mn-cs"/>
              </a:rPr>
              <a:t>Instruction Tuning</a:t>
            </a:r>
            <a:r>
              <a:rPr lang="zh-TW" altLang="zh-TW" sz="1200" b="0" u="none" strike="noStrike" kern="1200" dirty="0">
                <a:solidFill>
                  <a:schemeClr val="tx1"/>
                </a:solidFill>
                <a:effectLst/>
                <a:latin typeface="+mn-lt"/>
                <a:ea typeface="+mn-ea"/>
                <a:cs typeface="+mn-cs"/>
              </a:rPr>
              <a:t>。他們將數十個標準 NLP 任務全部轉為指令格式來微調模型，證明了「任務微調得越多，模型沒見過的新任務就解得越好」。 [</a:t>
            </a:r>
            <a:r>
              <a:rPr lang="zh-TW" altLang="zh-TW" sz="1200" b="0" u="none" strike="noStrike" kern="1200" dirty="0">
                <a:solidFill>
                  <a:schemeClr val="tx1"/>
                </a:solidFill>
                <a:effectLst/>
                <a:latin typeface="+mn-lt"/>
                <a:ea typeface="+mn-ea"/>
                <a:cs typeface="+mn-cs"/>
                <a:hlinkClick r:id="rId5"/>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6"/>
              </a:rPr>
              <a:t>2</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3</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4"/>
              </a:rPr>
              <a:t>4</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2022.03：走向人類偏好（OpenAI InstructGPT）</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OpenAI 發表論文，利用真實使用者的 Playground 輸入來標註 Q&amp;A。這宣告了 SFT 從「學術任務」走向「模仿真實人類助理的日常對話」。這也是同年底 ChatGPT 震撼世界的底座技術。 [</a:t>
            </a:r>
            <a:r>
              <a:rPr lang="zh-TW" altLang="zh-TW" sz="1200" b="0" u="none" strike="noStrike" kern="1200" dirty="0">
                <a:solidFill>
                  <a:schemeClr val="tx1"/>
                </a:solidFill>
                <a:effectLst/>
                <a:latin typeface="+mn-lt"/>
                <a:ea typeface="+mn-ea"/>
                <a:cs typeface="+mn-cs"/>
                <a:hlinkClick r:id="rId8"/>
              </a:rPr>
              <a:t>1</a:t>
            </a:r>
            <a:r>
              <a:rPr lang="zh-TW"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hlinkClick r:id="rId7"/>
              </a:rPr>
              <a:t>2</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2023 - 2024：開源大爆發（Alpaca &amp; LoRA 普及化）</a:t>
            </a:r>
            <a:endParaRPr lang="zh-TW" altLang="zh-TW" sz="1200" b="0" u="none" strike="noStrike" kern="1200" dirty="0">
              <a:solidFill>
                <a:schemeClr val="tx1"/>
              </a:solidFill>
              <a:effectLst/>
              <a:latin typeface="+mn-lt"/>
              <a:ea typeface="+mn-ea"/>
              <a:cs typeface="+mn-cs"/>
            </a:endParaRPr>
          </a:p>
          <a:p>
            <a:pPr lvl="1"/>
            <a:r>
              <a:rPr lang="zh-TW" altLang="zh-TW" sz="1200" b="0" i="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史丹佛大學提出 </a:t>
            </a:r>
            <a:r>
              <a:rPr lang="zh-TW" altLang="zh-TW" sz="1200" b="0" i="1" u="none" strike="noStrike" kern="1200" dirty="0">
                <a:solidFill>
                  <a:schemeClr val="tx1"/>
                </a:solidFill>
                <a:effectLst/>
                <a:latin typeface="+mn-lt"/>
                <a:ea typeface="+mn-ea"/>
                <a:cs typeface="+mn-cs"/>
              </a:rPr>
              <a:t>Alpaca</a:t>
            </a:r>
            <a:r>
              <a:rPr lang="zh-TW" altLang="zh-TW" sz="1200" b="0" u="none" strike="noStrike" kern="1200" dirty="0">
                <a:solidFill>
                  <a:schemeClr val="tx1"/>
                </a:solidFill>
                <a:effectLst/>
                <a:latin typeface="+mn-lt"/>
                <a:ea typeface="+mn-ea"/>
                <a:cs typeface="+mn-cs"/>
              </a:rPr>
              <a:t>，展示了如何用 GPT-4 自動生成 SFT 資料（Self-Instruct 蒸餾技術），搭配 LoRA 讓一般人在幾小時內就能微調出自己的 ChatGPT。</a:t>
            </a:r>
          </a:p>
          <a:p>
            <a:br>
              <a:rPr lang="zh-TW" altLang="zh-TW" dirty="0"/>
            </a:br>
            <a:endParaRPr lang="zh-TW" altLang="zh-TW" dirty="0"/>
          </a:p>
          <a:p>
            <a:endParaRPr lang="en-US" altLang="zh-TW" sz="1200" b="0" u="none" strike="noStrike" kern="1200" dirty="0">
              <a:solidFill>
                <a:schemeClr val="tx1"/>
              </a:solidFill>
              <a:effectLst/>
              <a:latin typeface="+mn-lt"/>
              <a:ea typeface="+mn-ea"/>
              <a:cs typeface="+mn-cs"/>
            </a:endParaRPr>
          </a:p>
          <a:p>
            <a:endParaRPr lang="en-US" altLang="zh-TW" dirty="0"/>
          </a:p>
          <a:p>
            <a:endParaRPr lang="zh-TW" altLang="zh-TW" dirty="0"/>
          </a:p>
        </p:txBody>
      </p:sp>
      <p:sp>
        <p:nvSpPr>
          <p:cNvPr id="4" name="投影片編號版面配置區 3">
            <a:extLst>
              <a:ext uri="{FF2B5EF4-FFF2-40B4-BE49-F238E27FC236}">
                <a16:creationId xmlns:a16="http://schemas.microsoft.com/office/drawing/2014/main" id="{9D0520A4-0224-B3B2-056D-6DA174DF5508}"/>
              </a:ext>
            </a:extLst>
          </p:cNvPr>
          <p:cNvSpPr>
            <a:spLocks noGrp="1"/>
          </p:cNvSpPr>
          <p:nvPr>
            <p:ph type="sldNum" sz="quarter" idx="5"/>
          </p:nvPr>
        </p:nvSpPr>
        <p:spPr/>
        <p:txBody>
          <a:bodyPr/>
          <a:lstStyle/>
          <a:p>
            <a:fld id="{E3A6CE5E-F349-486D-8749-82EF2AD71FA8}" type="slidenum">
              <a:rPr lang="zh-TW" altLang="en-US" smtClean="0"/>
              <a:t>14</a:t>
            </a:fld>
            <a:endParaRPr lang="zh-TW" altLang="en-US"/>
          </a:p>
        </p:txBody>
      </p:sp>
    </p:spTree>
    <p:extLst>
      <p:ext uri="{BB962C8B-B14F-4D97-AF65-F5344CB8AC3E}">
        <p14:creationId xmlns:p14="http://schemas.microsoft.com/office/powerpoint/2010/main" val="94398358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39B1A3-E8A1-D539-19A4-641D78354EF3}"/>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A9AF86CA-F996-AB43-1D19-174ACE37600A}"/>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6F138B7E-8F63-940E-3BC0-6FC8D6B48D83}"/>
              </a:ext>
            </a:extLst>
          </p:cNvPr>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自監督預訓練（Self-supervised Pre-training）是建造 GPT 模型中</a:t>
            </a:r>
            <a:r>
              <a:rPr lang="zh-TW" altLang="zh-TW" sz="1200" b="1" u="none" strike="noStrike" kern="1200" dirty="0">
                <a:solidFill>
                  <a:schemeClr val="tx1"/>
                </a:solidFill>
                <a:effectLst/>
                <a:latin typeface="+mn-lt"/>
                <a:ea typeface="+mn-ea"/>
                <a:cs typeface="+mn-cs"/>
              </a:rPr>
              <a:t>耗時最長、算力成本最高</a:t>
            </a:r>
            <a:r>
              <a:rPr lang="zh-TW" altLang="zh-TW" sz="1200" b="0" u="none" strike="noStrike" kern="1200" dirty="0">
                <a:solidFill>
                  <a:schemeClr val="tx1"/>
                </a:solidFill>
                <a:effectLst/>
                <a:latin typeface="+mn-lt"/>
                <a:ea typeface="+mn-ea"/>
                <a:cs typeface="+mn-cs"/>
              </a:rPr>
              <a:t>的核心階段。這個階段的目標是讓模型從海量未標記的數據中，自動學會語言的語法規律、語意邏輯和世界知識。 </a:t>
            </a:r>
            <a:r>
              <a:rPr lang="zh-TW" altLang="zh-TW" sz="1200" b="1" u="none" strike="noStrike" kern="1200" dirty="0">
                <a:solidFill>
                  <a:schemeClr val="tx1"/>
                </a:solidFill>
                <a:effectLst/>
                <a:latin typeface="+mn-lt"/>
                <a:ea typeface="+mn-ea"/>
                <a:cs typeface="+mn-cs"/>
              </a:rPr>
              <a:t>4 個主要步驟</a:t>
            </a:r>
            <a:r>
              <a:rPr lang="zh-TW" altLang="zh-TW" sz="1200" b="0" u="none" strike="noStrike" kern="1200" dirty="0">
                <a:solidFill>
                  <a:schemeClr val="tx1"/>
                </a:solidFill>
                <a:effectLst/>
                <a:latin typeface="+mn-lt"/>
                <a:ea typeface="+mn-ea"/>
                <a:cs typeface="+mn-cs"/>
              </a:rPr>
              <a:t>：</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1. 數據收集與清洗 (Data Collection &amp; Preprocessing)</a:t>
            </a:r>
          </a:p>
          <a:p>
            <a:r>
              <a:rPr lang="zh-TW" altLang="zh-TW" sz="1200" b="0" u="none" strike="noStrike" kern="1200" dirty="0">
                <a:solidFill>
                  <a:schemeClr val="tx1"/>
                </a:solidFill>
                <a:effectLst/>
                <a:latin typeface="+mn-lt"/>
                <a:ea typeface="+mn-ea"/>
                <a:cs typeface="+mn-cs"/>
              </a:rPr>
              <a:t>從網際網路、書籍、學術論文、程式碼庫（如 GitHub）收集數以 TB 計的原始文本，並透過演算法進行</a:t>
            </a:r>
            <a:r>
              <a:rPr lang="zh-TW" altLang="zh-TW" sz="1200" b="1" u="none" strike="noStrike" kern="1200" dirty="0">
                <a:solidFill>
                  <a:schemeClr val="tx1"/>
                </a:solidFill>
                <a:effectLst/>
                <a:latin typeface="+mn-lt"/>
                <a:ea typeface="+mn-ea"/>
                <a:cs typeface="+mn-cs"/>
              </a:rPr>
              <a:t>去重（Deduplication）</a:t>
            </a:r>
            <a:r>
              <a:rPr lang="zh-TW" altLang="zh-TW" sz="1200" b="0" u="none" strike="noStrike" kern="1200" dirty="0">
                <a:solidFill>
                  <a:schemeClr val="tx1"/>
                </a:solidFill>
                <a:effectLst/>
                <a:latin typeface="+mn-lt"/>
                <a:ea typeface="+mn-ea"/>
                <a:cs typeface="+mn-cs"/>
              </a:rPr>
              <a:t>、過濾垃圾訊息和遮蔽敏感個資。</a:t>
            </a:r>
          </a:p>
          <a:p>
            <a:r>
              <a:rPr lang="zh-TW" altLang="zh-TW" sz="1200" b="1" u="none" strike="noStrike" kern="1200" dirty="0">
                <a:solidFill>
                  <a:schemeClr val="tx1"/>
                </a:solidFill>
                <a:effectLst/>
                <a:latin typeface="+mn-lt"/>
                <a:ea typeface="+mn-ea"/>
                <a:cs typeface="+mn-cs"/>
              </a:rPr>
              <a:t>2. 文本分詞與向量化 (Tokenization &amp; Embedding)</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使用訓練好的分詞器（Tokenizer，如 BPE 演算法）將清洗後的文本切碎成最小語意單位（Tokens），並透過 </a:t>
            </a:r>
            <a:r>
              <a:rPr lang="zh-TW" altLang="zh-TW" sz="1200" b="1" u="none" strike="noStrike" kern="1200" dirty="0">
                <a:solidFill>
                  <a:schemeClr val="tx1"/>
                </a:solidFill>
                <a:effectLst/>
                <a:latin typeface="+mn-lt"/>
                <a:ea typeface="+mn-ea"/>
                <a:cs typeface="+mn-cs"/>
              </a:rPr>
              <a:t>Embedding 矩陣</a:t>
            </a:r>
            <a:r>
              <a:rPr lang="zh-TW" altLang="zh-TW" sz="1200" b="0" u="none" strike="noStrike" kern="1200" dirty="0">
                <a:solidFill>
                  <a:schemeClr val="tx1"/>
                </a:solidFill>
                <a:effectLst/>
                <a:latin typeface="+mn-lt"/>
                <a:ea typeface="+mn-ea"/>
                <a:cs typeface="+mn-cs"/>
              </a:rPr>
              <a:t>將這些 Token 轉換為高維度的數學向量，作為大模型能夠看懂的輸入。</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3. 自迴歸預測任務 (Autoregressive Next-Token Prediction)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這是預訓練的核心訓練循環（Core training loop）。不依賴人工標籤，直接將前面的文本作為輸入，讓模型去</a:t>
            </a:r>
            <a:r>
              <a:rPr lang="zh-TW" altLang="zh-TW" sz="1200" b="1" u="none" strike="noStrike" kern="1200" dirty="0">
                <a:solidFill>
                  <a:schemeClr val="tx1"/>
                </a:solidFill>
                <a:effectLst/>
                <a:latin typeface="+mn-lt"/>
                <a:ea typeface="+mn-ea"/>
                <a:cs typeface="+mn-cs"/>
              </a:rPr>
              <a:t>預測下一個最可能出現的字（Token）</a:t>
            </a:r>
            <a:r>
              <a:rPr lang="zh-TW" altLang="zh-TW" sz="1200" b="0" u="none" strike="noStrike" kern="1200" dirty="0">
                <a:solidFill>
                  <a:schemeClr val="tx1"/>
                </a:solidFill>
                <a:effectLst/>
                <a:latin typeface="+mn-lt"/>
                <a:ea typeface="+mn-ea"/>
                <a:cs typeface="+mn-cs"/>
              </a:rPr>
              <a:t>。計算預測與真實字之間的</a:t>
            </a:r>
            <a:r>
              <a:rPr lang="zh-TW" altLang="zh-TW" sz="1200" b="1" u="none" strike="noStrike" kern="1200" dirty="0">
                <a:solidFill>
                  <a:schemeClr val="tx1"/>
                </a:solidFill>
                <a:effectLst/>
                <a:latin typeface="+mn-lt"/>
                <a:ea typeface="+mn-ea"/>
                <a:cs typeface="+mn-cs"/>
              </a:rPr>
              <a:t>交叉熵損失（Cross-Entropy Loss）</a:t>
            </a:r>
            <a:r>
              <a:rPr lang="zh-TW" altLang="zh-TW" sz="1200" b="0" u="none" strike="noStrike" kern="1200" dirty="0">
                <a:solidFill>
                  <a:schemeClr val="tx1"/>
                </a:solidFill>
                <a:effectLst/>
                <a:latin typeface="+mn-lt"/>
                <a:ea typeface="+mn-ea"/>
                <a:cs typeface="+mn-cs"/>
              </a:rPr>
              <a:t>。</a:t>
            </a:r>
            <a:br>
              <a:rPr lang="en-US" altLang="zh-TW" sz="1200" b="0" u="none" strike="noStrike" kern="1200" dirty="0">
                <a:solidFill>
                  <a:schemeClr val="tx1"/>
                </a:solidFill>
                <a:effectLst/>
                <a:latin typeface="+mn-lt"/>
                <a:ea typeface="+mn-ea"/>
                <a:cs typeface="+mn-cs"/>
              </a:rPr>
            </a:br>
            <a:r>
              <a:rPr lang="zh-TW" altLang="zh-TW" sz="1200" b="1" u="none" strike="noStrike" kern="1200" dirty="0">
                <a:solidFill>
                  <a:schemeClr val="tx1"/>
                </a:solidFill>
                <a:effectLst/>
                <a:latin typeface="+mn-lt"/>
                <a:ea typeface="+mn-ea"/>
                <a:cs typeface="+mn-cs"/>
              </a:rPr>
              <a:t>4. 梯度反向傳播與參數優化 (Backpropagation &amp; Parameter Optimization)</a:t>
            </a:r>
          </a:p>
          <a:p>
            <a:r>
              <a:rPr lang="zh-TW" altLang="zh-TW" sz="1200" b="1" u="none" strike="noStrike" kern="1200" dirty="0">
                <a:solidFill>
                  <a:schemeClr val="tx1"/>
                </a:solidFill>
                <a:effectLst/>
                <a:latin typeface="+mn-lt"/>
                <a:ea typeface="+mn-ea"/>
                <a:cs typeface="+mn-cs"/>
              </a:rPr>
              <a:t>中文：</a:t>
            </a:r>
            <a:r>
              <a:rPr lang="zh-TW" altLang="zh-TW" sz="1200" b="0" u="none" strike="noStrike" kern="1200" dirty="0">
                <a:solidFill>
                  <a:schemeClr val="tx1"/>
                </a:solidFill>
                <a:effectLst/>
                <a:latin typeface="+mn-lt"/>
                <a:ea typeface="+mn-ea"/>
                <a:cs typeface="+mn-cs"/>
              </a:rPr>
              <a:t> 根據每一次預測產生的誤差（Loss），透過</a:t>
            </a:r>
            <a:r>
              <a:rPr lang="zh-TW" altLang="zh-TW" sz="1200" b="1" u="none" strike="noStrike" kern="1200" dirty="0">
                <a:solidFill>
                  <a:schemeClr val="tx1"/>
                </a:solidFill>
                <a:effectLst/>
                <a:latin typeface="+mn-lt"/>
                <a:ea typeface="+mn-ea"/>
                <a:cs typeface="+mn-cs"/>
              </a:rPr>
              <a:t>反向傳播演算法</a:t>
            </a:r>
            <a:r>
              <a:rPr lang="zh-TW" altLang="zh-TW" sz="1200" b="0" u="none" strike="noStrike" kern="1200" dirty="0">
                <a:solidFill>
                  <a:schemeClr val="tx1"/>
                </a:solidFill>
                <a:effectLst/>
                <a:latin typeface="+mn-lt"/>
                <a:ea typeface="+mn-ea"/>
                <a:cs typeface="+mn-cs"/>
              </a:rPr>
              <a:t>計算梯度，並利用優化器（如 AdamW）來更新調整模型內數十億個</a:t>
            </a:r>
            <a:r>
              <a:rPr lang="zh-TW" altLang="zh-TW" sz="1200" b="1" u="none" strike="noStrike" kern="1200" dirty="0">
                <a:solidFill>
                  <a:schemeClr val="tx1"/>
                </a:solidFill>
                <a:effectLst/>
                <a:latin typeface="+mn-lt"/>
                <a:ea typeface="+mn-ea"/>
                <a:cs typeface="+mn-cs"/>
              </a:rPr>
              <a:t>參數權重（Weights）</a:t>
            </a:r>
            <a:r>
              <a:rPr lang="zh-TW" altLang="zh-TW" sz="1200" b="0" u="none" strike="noStrike" kern="1200" dirty="0">
                <a:solidFill>
                  <a:schemeClr val="tx1"/>
                </a:solidFill>
                <a:effectLst/>
                <a:latin typeface="+mn-lt"/>
                <a:ea typeface="+mn-ea"/>
                <a:cs typeface="+mn-cs"/>
              </a:rPr>
              <a:t>，直到模型的預測越來越準確、損失值趨於穩定。</a:t>
            </a:r>
            <a:endParaRPr lang="zh-TW" altLang="en-US" dirty="0"/>
          </a:p>
        </p:txBody>
      </p:sp>
      <p:sp>
        <p:nvSpPr>
          <p:cNvPr id="4" name="投影片編號版面配置區 3">
            <a:extLst>
              <a:ext uri="{FF2B5EF4-FFF2-40B4-BE49-F238E27FC236}">
                <a16:creationId xmlns:a16="http://schemas.microsoft.com/office/drawing/2014/main" id="{E571E789-91A4-4763-2832-0D1D7771F35A}"/>
              </a:ext>
            </a:extLst>
          </p:cNvPr>
          <p:cNvSpPr>
            <a:spLocks noGrp="1"/>
          </p:cNvSpPr>
          <p:nvPr>
            <p:ph type="sldNum" sz="quarter" idx="5"/>
          </p:nvPr>
        </p:nvSpPr>
        <p:spPr/>
        <p:txBody>
          <a:bodyPr/>
          <a:lstStyle/>
          <a:p>
            <a:fld id="{E3A6CE5E-F349-486D-8749-82EF2AD71FA8}" type="slidenum">
              <a:rPr lang="zh-TW" altLang="en-US" smtClean="0"/>
              <a:t>15</a:t>
            </a:fld>
            <a:endParaRPr lang="zh-TW" altLang="en-US"/>
          </a:p>
        </p:txBody>
      </p:sp>
    </p:spTree>
    <p:extLst>
      <p:ext uri="{BB962C8B-B14F-4D97-AF65-F5344CB8AC3E}">
        <p14:creationId xmlns:p14="http://schemas.microsoft.com/office/powerpoint/2010/main" val="24370615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ED1F47-5F44-5595-612A-D65C05D17A21}"/>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74D5A6B1-1A90-29AA-F23A-A86C6B72F15F}"/>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0D932277-A577-3363-D73E-049EEA9C44E9}"/>
              </a:ext>
            </a:extLst>
          </p:cNvPr>
          <p:cNvSpPr>
            <a:spLocks noGrp="1"/>
          </p:cNvSpPr>
          <p:nvPr>
            <p:ph type="body" idx="1"/>
          </p:nvPr>
        </p:nvSpPr>
        <p:spPr/>
        <p:txBody>
          <a:bodyPr/>
          <a:lstStyle/>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Traditional Programming</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Rules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outputs </a:t>
            </a:r>
            <a:r>
              <a:rPr lang="en-US" altLang="zh-TW" b="1" u="none" strike="noStrike" dirty="0">
                <a:effectLst/>
                <a:latin typeface="Google Sans"/>
              </a:rPr>
              <a:t>Answers</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b="1" u="none" strike="noStrike" dirty="0">
                <a:effectLst/>
                <a:latin typeface="Google Sans"/>
              </a:rPr>
              <a:t>Machine Learning (ML)</a:t>
            </a:r>
            <a:r>
              <a:rPr lang="en-US" altLang="zh-TW" b="0" u="none" strike="noStrike" dirty="0">
                <a:effectLst/>
                <a:latin typeface="Google Sans"/>
              </a:rPr>
              <a:t>: Input </a:t>
            </a:r>
            <a:r>
              <a:rPr lang="en-US" altLang="zh-TW" b="1" u="none" strike="noStrike" dirty="0">
                <a:effectLst/>
                <a:latin typeface="Google Sans"/>
              </a:rPr>
              <a:t>Data</a:t>
            </a:r>
            <a:r>
              <a:rPr lang="en-US" altLang="zh-TW" b="0" u="none" strike="noStrike" dirty="0">
                <a:effectLst/>
                <a:latin typeface="Google Sans"/>
              </a:rPr>
              <a:t> + </a:t>
            </a:r>
            <a:r>
              <a:rPr lang="en-US" altLang="zh-TW" b="1" u="none" strike="noStrike" dirty="0">
                <a:effectLst/>
                <a:latin typeface="Google Sans"/>
              </a:rPr>
              <a:t>Answers</a:t>
            </a:r>
            <a:r>
              <a:rPr lang="en-US" altLang="zh-TW" b="0" u="none" strike="noStrike" dirty="0">
                <a:effectLst/>
                <a:latin typeface="Google Sans"/>
              </a:rPr>
              <a:t> </a:t>
            </a:r>
            <a:r>
              <a:rPr lang="en-US" altLang="zh-TW" b="0" u="none" strike="noStrike" dirty="0">
                <a:effectLst/>
                <a:latin typeface="Google Sans"/>
                <a:sym typeface="Wingdings" panose="05000000000000000000" pitchFamily="2" charset="2"/>
              </a:rPr>
              <a:t></a:t>
            </a:r>
            <a:r>
              <a:rPr lang="en-US" altLang="zh-TW" b="0" u="none" strike="noStrike" dirty="0">
                <a:effectLst/>
                <a:latin typeface="Google Sans"/>
              </a:rPr>
              <a:t> Computer discovers the </a:t>
            </a:r>
            <a:r>
              <a:rPr lang="en-US" altLang="zh-TW" b="1" u="none" strike="noStrike" dirty="0">
                <a:effectLst/>
                <a:latin typeface="Google Sans"/>
              </a:rPr>
              <a:t>Rules (Model)</a:t>
            </a:r>
            <a:r>
              <a:rPr lang="en-US" altLang="zh-TW" b="0" u="none" strike="noStrike" dirty="0">
                <a:effectLst/>
                <a:latin typeface="Google Sans"/>
              </a:rPr>
              <a:t>.</a:t>
            </a:r>
          </a:p>
          <a:p>
            <a:pPr>
              <a:lnSpc>
                <a:spcPts val="1800"/>
              </a:lnSpc>
              <a:spcBef>
                <a:spcPts val="600"/>
              </a:spcBef>
              <a:spcAft>
                <a:spcPts val="600"/>
              </a:spcAft>
              <a:buFont typeface="Arial" panose="020B0604020202020204" pitchFamily="34" charset="0"/>
              <a:buNone/>
            </a:pPr>
            <a:r>
              <a:rPr lang="en-US" altLang="zh-TW" sz="1200" b="1" u="none" strike="noStrike" kern="1200" dirty="0">
                <a:solidFill>
                  <a:schemeClr val="tx1"/>
                </a:solidFill>
                <a:effectLst/>
                <a:latin typeface="+mn-lt"/>
                <a:ea typeface="+mn-ea"/>
                <a:cs typeface="+mn-cs"/>
              </a:rPr>
              <a:t>Essence</a:t>
            </a:r>
            <a:r>
              <a:rPr lang="en-US" altLang="zh-TW" sz="1200" b="0" u="none" strike="noStrike" kern="1200" dirty="0">
                <a:solidFill>
                  <a:schemeClr val="tx1"/>
                </a:solidFill>
                <a:effectLst/>
                <a:latin typeface="+mn-lt"/>
                <a:ea typeface="+mn-ea"/>
                <a:cs typeface="+mn-cs"/>
              </a:rPr>
              <a:t>: Enabling computers to learn from historical data to predict unknown future outcomes.</a:t>
            </a: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Traditional Programming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AI</a:t>
            </a:r>
            <a:r>
              <a:rPr lang="en-US" altLang="zh-TW" sz="1200" dirty="0">
                <a:latin typeface="微軟正黑體" panose="020B0604030504040204" pitchFamily="34" charset="-120"/>
                <a:ea typeface="微軟正黑體" panose="020B0604030504040204" pitchFamily="34" charset="-120"/>
              </a:rPr>
              <a:t> </a:t>
            </a:r>
          </a:p>
          <a:p>
            <a:pPr marL="0" indent="0">
              <a:buFont typeface="Arial" panose="020B0604020202020204" pitchFamily="34" charset="0"/>
              <a:buNone/>
            </a:pPr>
            <a:r>
              <a:rPr lang="en-US" altLang="zh-TW" sz="1200" dirty="0">
                <a:latin typeface="微軟正黑體" panose="020B0604030504040204" pitchFamily="34" charset="-120"/>
                <a:ea typeface="微軟正黑體" panose="020B0604030504040204" pitchFamily="34" charset="-120"/>
              </a:rPr>
              <a:t>(RD) Deduction(  </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(Machine) Inductive Learning </a:t>
            </a:r>
            <a:r>
              <a:rPr lang="en-US" altLang="zh-TW" sz="1200" dirty="0">
                <a:latin typeface="微軟正黑體" panose="020B0604030504040204" pitchFamily="34" charset="-120"/>
                <a:ea typeface="微軟正黑體" panose="020B0604030504040204" pitchFamily="34" charset="-120"/>
              </a:rPr>
              <a:t>(Observation</a:t>
            </a:r>
            <a:r>
              <a:rPr lang="en-US" altLang="zh-TW" sz="1200" dirty="0">
                <a:latin typeface="微軟正黑體" panose="020B0604030504040204" pitchFamily="34" charset="-120"/>
                <a:ea typeface="微軟正黑體" panose="020B0604030504040204" pitchFamily="34" charset="-120"/>
                <a:sym typeface="Wingdings" panose="05000000000000000000" pitchFamily="2" charset="2"/>
              </a:rPr>
              <a:t> features  Labels)</a:t>
            </a:r>
          </a:p>
          <a:p>
            <a:endParaRPr lang="zh-TW" altLang="en-US" dirty="0"/>
          </a:p>
        </p:txBody>
      </p:sp>
      <p:sp>
        <p:nvSpPr>
          <p:cNvPr id="4" name="投影片編號版面配置區 3">
            <a:extLst>
              <a:ext uri="{FF2B5EF4-FFF2-40B4-BE49-F238E27FC236}">
                <a16:creationId xmlns:a16="http://schemas.microsoft.com/office/drawing/2014/main" id="{DB28DFA3-4012-ED99-9893-6D05136FACB9}"/>
              </a:ext>
            </a:extLst>
          </p:cNvPr>
          <p:cNvSpPr>
            <a:spLocks noGrp="1"/>
          </p:cNvSpPr>
          <p:nvPr>
            <p:ph type="sldNum" sz="quarter" idx="5"/>
          </p:nvPr>
        </p:nvSpPr>
        <p:spPr/>
        <p:txBody>
          <a:bodyPr/>
          <a:lstStyle/>
          <a:p>
            <a:fld id="{E3A6CE5E-F349-486D-8749-82EF2AD71FA8}" type="slidenum">
              <a:rPr lang="zh-TW" altLang="en-US" smtClean="0"/>
              <a:t>16</a:t>
            </a:fld>
            <a:endParaRPr lang="zh-TW" altLang="en-US"/>
          </a:p>
        </p:txBody>
      </p:sp>
    </p:spTree>
    <p:extLst>
      <p:ext uri="{BB962C8B-B14F-4D97-AF65-F5344CB8AC3E}">
        <p14:creationId xmlns:p14="http://schemas.microsoft.com/office/powerpoint/2010/main" val="15581630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0" u="none" strike="noStrike" kern="1200" dirty="0">
                <a:solidFill>
                  <a:schemeClr val="tx1"/>
                </a:solidFill>
                <a:effectLst/>
                <a:latin typeface="+mn-lt"/>
                <a:ea typeface="+mn-ea"/>
                <a:cs typeface="+mn-cs"/>
              </a:rPr>
              <a:t>大型語言模型（LLM）的 </a:t>
            </a:r>
            <a:r>
              <a:rPr lang="zh-TW" altLang="zh-TW" sz="1200" b="1" u="none" strike="noStrike" kern="1200" dirty="0">
                <a:solidFill>
                  <a:schemeClr val="tx1"/>
                </a:solidFill>
                <a:effectLst/>
                <a:latin typeface="+mn-lt"/>
                <a:ea typeface="+mn-ea"/>
                <a:cs typeface="+mn-cs"/>
              </a:rPr>
              <a:t>Pre-training（預訓練）</a:t>
            </a:r>
            <a:r>
              <a:rPr lang="zh-TW" altLang="zh-TW" sz="1200" b="0" u="none" strike="noStrike" kern="1200" dirty="0">
                <a:solidFill>
                  <a:schemeClr val="tx1"/>
                </a:solidFill>
                <a:effectLst/>
                <a:latin typeface="+mn-lt"/>
                <a:ea typeface="+mn-ea"/>
                <a:cs typeface="+mn-cs"/>
              </a:rPr>
              <a:t>，是整個 LLM 誕生流程中</a:t>
            </a:r>
            <a:r>
              <a:rPr lang="zh-TW" altLang="zh-TW" sz="1200" b="1" u="none" strike="noStrike" kern="1200" dirty="0">
                <a:solidFill>
                  <a:schemeClr val="tx1"/>
                </a:solidFill>
                <a:effectLst/>
                <a:latin typeface="+mn-lt"/>
                <a:ea typeface="+mn-ea"/>
                <a:cs typeface="+mn-cs"/>
              </a:rPr>
              <a:t>耗資最巨、耗時最長、技術難度最高</a:t>
            </a:r>
            <a:r>
              <a:rPr lang="zh-TW" altLang="zh-TW" sz="1200" b="0" u="none" strike="noStrike" kern="1200" dirty="0">
                <a:solidFill>
                  <a:schemeClr val="tx1"/>
                </a:solidFill>
                <a:effectLst/>
                <a:latin typeface="+mn-lt"/>
                <a:ea typeface="+mn-ea"/>
                <a:cs typeface="+mn-cs"/>
              </a:rPr>
              <a:t>的第一階段（佔據了整個模型訓練 99% 的算力與時間）。</a:t>
            </a:r>
          </a:p>
          <a:p>
            <a:r>
              <a:rPr lang="zh-TW" altLang="zh-TW" sz="1200" b="0" u="none" strike="noStrike" kern="1200" dirty="0">
                <a:solidFill>
                  <a:schemeClr val="tx1"/>
                </a:solidFill>
                <a:effectLst/>
                <a:latin typeface="+mn-lt"/>
                <a:ea typeface="+mn-ea"/>
                <a:cs typeface="+mn-cs"/>
              </a:rPr>
              <a:t>如果說 SFT 是教模型學會「禮貌與專業對話的規矩」，那麼預訓練的唯一目的就是：</a:t>
            </a:r>
            <a:r>
              <a:rPr lang="zh-TW" altLang="zh-TW" sz="1200" b="1" u="none" strike="noStrike" kern="1200" dirty="0">
                <a:solidFill>
                  <a:schemeClr val="tx1"/>
                </a:solidFill>
                <a:effectLst/>
                <a:latin typeface="+mn-lt"/>
                <a:ea typeface="+mn-ea"/>
                <a:cs typeface="+mn-cs"/>
              </a:rPr>
              <a:t>讓模型獲得對這個世界萬事萬物的「通識認知與語言天賦」</a:t>
            </a:r>
            <a:r>
              <a:rPr lang="zh-TW" altLang="zh-TW" sz="1200" b="0" u="none" strike="noStrike" kern="1200" dirty="0">
                <a:solidFill>
                  <a:schemeClr val="tx1"/>
                </a:solidFill>
                <a:effectLst/>
                <a:latin typeface="+mn-lt"/>
                <a:ea typeface="+mn-ea"/>
                <a:cs typeface="+mn-cs"/>
              </a:rPr>
              <a:t>。</a:t>
            </a:r>
          </a:p>
          <a:p>
            <a:r>
              <a:rPr lang="zh-TW" altLang="zh-TW" sz="1200" b="0" u="none" strike="noStrike" kern="1200" dirty="0">
                <a:solidFill>
                  <a:schemeClr val="tx1"/>
                </a:solidFill>
                <a:effectLst/>
                <a:latin typeface="+mn-lt"/>
                <a:ea typeface="+mn-ea"/>
                <a:cs typeface="+mn-cs"/>
              </a:rPr>
              <a:t>以下為您拆解預訓練的四大核心目標：</a:t>
            </a:r>
            <a:endParaRPr lang="en-US" altLang="zh-TW" sz="1200" b="0" u="none" strike="noStrike" kern="1200" dirty="0">
              <a:solidFill>
                <a:schemeClr val="tx1"/>
              </a:solidFill>
              <a:effectLst/>
              <a:latin typeface="+mn-lt"/>
              <a:ea typeface="+mn-ea"/>
              <a:cs typeface="+mn-cs"/>
            </a:endParaRPr>
          </a:p>
          <a:p>
            <a:endParaRPr lang="zh-TW"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1. 建立「世界知識庫」（World Knowledge Allocation）</a:t>
            </a:r>
          </a:p>
          <a:p>
            <a:r>
              <a:rPr lang="zh-TW" altLang="zh-TW" sz="1200" b="0" u="none" strike="noStrike" kern="1200" dirty="0">
                <a:solidFill>
                  <a:schemeClr val="tx1"/>
                </a:solidFill>
                <a:effectLst/>
                <a:latin typeface="+mn-lt"/>
                <a:ea typeface="+mn-ea"/>
                <a:cs typeface="+mn-cs"/>
              </a:rPr>
              <a:t>預訓練會給模型吞下海量的網際網路文本（如 Common Crawl、維基百科、書籍、科學論文、代碼庫等，動輒數萬億個 Tokens）。</a:t>
            </a:r>
          </a:p>
          <a:p>
            <a:r>
              <a:rPr lang="zh-TW" altLang="zh-TW" sz="1200" b="1" u="none" strike="noStrike" kern="1200" dirty="0">
                <a:solidFill>
                  <a:schemeClr val="tx1"/>
                </a:solidFill>
                <a:effectLst/>
                <a:latin typeface="+mn-lt"/>
                <a:ea typeface="+mn-ea"/>
                <a:cs typeface="+mn-cs"/>
              </a:rPr>
              <a:t>知識壓縮</a:t>
            </a:r>
            <a:r>
              <a:rPr lang="zh-TW" altLang="zh-TW" sz="1200" b="0" u="none" strike="noStrike" kern="1200" dirty="0">
                <a:solidFill>
                  <a:schemeClr val="tx1"/>
                </a:solidFill>
                <a:effectLst/>
                <a:latin typeface="+mn-lt"/>
                <a:ea typeface="+mn-ea"/>
                <a:cs typeface="+mn-cs"/>
              </a:rPr>
              <a:t>：模型透過調整其數十億、數百億的參數，將整個網際網路的知識「壓縮」並儲存到權重矩陣中。</a:t>
            </a:r>
          </a:p>
          <a:p>
            <a:r>
              <a:rPr lang="zh-TW" altLang="zh-TW" sz="1200" b="1" u="none" strike="noStrike" kern="1200" dirty="0">
                <a:solidFill>
                  <a:schemeClr val="tx1"/>
                </a:solidFill>
                <a:effectLst/>
                <a:latin typeface="+mn-lt"/>
                <a:ea typeface="+mn-ea"/>
                <a:cs typeface="+mn-cs"/>
              </a:rPr>
              <a:t>範疇涵蓋</a:t>
            </a:r>
            <a:r>
              <a:rPr lang="zh-TW" altLang="zh-TW" sz="1200" b="0" u="none" strike="noStrike" kern="1200" dirty="0">
                <a:solidFill>
                  <a:schemeClr val="tx1"/>
                </a:solidFill>
                <a:effectLst/>
                <a:latin typeface="+mn-lt"/>
                <a:ea typeface="+mn-ea"/>
                <a:cs typeface="+mn-cs"/>
              </a:rPr>
              <a:t>：從歷史、物理、法律、醫學、程式語言，到各地風俗、網路流行語，模型必須在這個階段完成對人類現有知識體系的全面掃描。</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2. 掌握「語言的統計規律與語法」（Language Modeling）</a:t>
            </a:r>
          </a:p>
          <a:p>
            <a:r>
              <a:rPr lang="zh-TW" altLang="zh-TW" sz="1200" b="0" u="none" strike="noStrike" kern="1200" dirty="0">
                <a:solidFill>
                  <a:schemeClr val="tx1"/>
                </a:solidFill>
                <a:effectLst/>
                <a:latin typeface="+mn-lt"/>
                <a:ea typeface="+mn-ea"/>
                <a:cs typeface="+mn-cs"/>
              </a:rPr>
              <a:t>預訓練本質上只做一件事：</a:t>
            </a:r>
            <a:r>
              <a:rPr lang="zh-TW" altLang="zh-TW" sz="1200" b="1" u="none" strike="noStrike" kern="1200" dirty="0">
                <a:solidFill>
                  <a:schemeClr val="tx1"/>
                </a:solidFill>
                <a:effectLst/>
                <a:latin typeface="+mn-lt"/>
                <a:ea typeface="+mn-ea"/>
                <a:cs typeface="+mn-cs"/>
              </a:rPr>
              <a:t>Next-token prediction（預測下一個字）</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掌握語法與語意</a:t>
            </a:r>
            <a:r>
              <a:rPr lang="zh-TW" altLang="zh-TW" sz="1200" b="0" u="none" strike="noStrike" kern="1200" dirty="0">
                <a:solidFill>
                  <a:schemeClr val="tx1"/>
                </a:solidFill>
                <a:effectLst/>
                <a:latin typeface="+mn-lt"/>
                <a:ea typeface="+mn-ea"/>
                <a:cs typeface="+mn-cs"/>
              </a:rPr>
              <a:t>：為了精準預測下一個字，模型被迫主動學會主謂賓結構、代名詞指代、反諷、隱喻、脈絡邏輯等極其複雜的語言學規律。</a:t>
            </a:r>
          </a:p>
          <a:p>
            <a:r>
              <a:rPr lang="zh-TW" altLang="zh-TW" sz="1200" b="1" u="none" strike="noStrike" kern="1200" dirty="0">
                <a:solidFill>
                  <a:schemeClr val="tx1"/>
                </a:solidFill>
                <a:effectLst/>
                <a:latin typeface="+mn-lt"/>
                <a:ea typeface="+mn-ea"/>
                <a:cs typeface="+mn-cs"/>
              </a:rPr>
              <a:t>多語言能力</a:t>
            </a:r>
            <a:r>
              <a:rPr lang="zh-TW" altLang="zh-TW" sz="1200" b="0" u="none" strike="noStrike" kern="1200" dirty="0">
                <a:solidFill>
                  <a:schemeClr val="tx1"/>
                </a:solidFill>
                <a:effectLst/>
                <a:latin typeface="+mn-lt"/>
                <a:ea typeface="+mn-ea"/>
                <a:cs typeface="+mn-cs"/>
              </a:rPr>
              <a:t>：透過閱讀不同語言的文本，模型在底層建立了跨語言的語意空間映射。這就是為什麼模型即便用英文微調（SFT），它通常也能用中文回答，因為它的底層語意在預訓練階段就已經打通。</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3. 激發「湧現能力」（Emergent Abilities）與推理</a:t>
            </a:r>
          </a:p>
          <a:p>
            <a:r>
              <a:rPr lang="zh-TW" altLang="zh-TW" sz="1200" b="0" u="none" strike="noStrike" kern="1200" dirty="0">
                <a:solidFill>
                  <a:schemeClr val="tx1"/>
                </a:solidFill>
                <a:effectLst/>
                <a:latin typeface="+mn-lt"/>
                <a:ea typeface="+mn-ea"/>
                <a:cs typeface="+mn-cs"/>
              </a:rPr>
              <a:t>當預訓練的數據量、模型參數和算力達到某個臨界點（通常是百億參數以上）時，模型會突然展現出小模型不具備的能力：</a:t>
            </a:r>
          </a:p>
          <a:p>
            <a:r>
              <a:rPr lang="zh-TW" altLang="zh-TW" sz="1200" b="1" u="none" strike="noStrike" kern="1200" dirty="0">
                <a:solidFill>
                  <a:schemeClr val="tx1"/>
                </a:solidFill>
                <a:effectLst/>
                <a:latin typeface="+mn-lt"/>
                <a:ea typeface="+mn-ea"/>
                <a:cs typeface="+mn-cs"/>
              </a:rPr>
              <a:t>Context-Awareness（脈絡感知）</a:t>
            </a:r>
            <a:r>
              <a:rPr lang="zh-TW" altLang="zh-TW" sz="1200" b="0" u="none" strike="noStrike" kern="1200" dirty="0">
                <a:solidFill>
                  <a:schemeClr val="tx1"/>
                </a:solidFill>
                <a:effectLst/>
                <a:latin typeface="+mn-lt"/>
                <a:ea typeface="+mn-ea"/>
                <a:cs typeface="+mn-cs"/>
              </a:rPr>
              <a:t>：能夠在極長的文本中保持邏輯連貫。</a:t>
            </a:r>
          </a:p>
          <a:p>
            <a:r>
              <a:rPr lang="zh-TW" altLang="zh-TW" sz="1200" b="1" u="none" strike="noStrike" kern="1200" dirty="0">
                <a:solidFill>
                  <a:schemeClr val="tx1"/>
                </a:solidFill>
                <a:effectLst/>
                <a:latin typeface="+mn-lt"/>
                <a:ea typeface="+mn-ea"/>
                <a:cs typeface="+mn-cs"/>
              </a:rPr>
              <a:t>In-Context Learning（上下文學習）</a:t>
            </a:r>
            <a:r>
              <a:rPr lang="zh-TW" altLang="zh-TW" sz="1200" b="0" u="none" strike="noStrike" kern="1200" dirty="0">
                <a:solidFill>
                  <a:schemeClr val="tx1"/>
                </a:solidFill>
                <a:effectLst/>
                <a:latin typeface="+mn-lt"/>
                <a:ea typeface="+mn-ea"/>
                <a:cs typeface="+mn-cs"/>
              </a:rPr>
              <a:t>：模型不需要更新權重，只要在 Prompt 中給它一兩個範例（Few-shot），它就能依葫蘆畫瓢學會新任務。</a:t>
            </a:r>
          </a:p>
          <a:p>
            <a:r>
              <a:rPr lang="zh-TW" altLang="zh-TW" sz="1200" b="1" u="none" strike="noStrike" kern="1200" dirty="0">
                <a:solidFill>
                  <a:schemeClr val="tx1"/>
                </a:solidFill>
                <a:effectLst/>
                <a:latin typeface="+mn-lt"/>
                <a:ea typeface="+mn-ea"/>
                <a:cs typeface="+mn-cs"/>
              </a:rPr>
              <a:t>邏輯推理</a:t>
            </a:r>
            <a:r>
              <a:rPr lang="zh-TW" altLang="zh-TW" sz="1200" b="0" u="none" strike="noStrike" kern="1200" dirty="0">
                <a:solidFill>
                  <a:schemeClr val="tx1"/>
                </a:solidFill>
                <a:effectLst/>
                <a:latin typeface="+mn-lt"/>
                <a:ea typeface="+mn-ea"/>
                <a:cs typeface="+mn-cs"/>
              </a:rPr>
              <a:t>：透過閱讀大量代碼和數學題，模型矩陣內演化出了處理符號、條件判斷、因果推導的抽象能力。</a:t>
            </a:r>
          </a:p>
          <a:p>
            <a:endParaRPr lang="en-US" altLang="zh-TW" sz="1200" b="1"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4. 形成最強大的「特徵提取器」（Representational Learning）</a:t>
            </a:r>
          </a:p>
          <a:p>
            <a:r>
              <a:rPr lang="zh-TW" altLang="zh-TW" sz="1200" b="0" u="none" strike="noStrike" kern="1200" dirty="0">
                <a:solidFill>
                  <a:schemeClr val="tx1"/>
                </a:solidFill>
                <a:effectLst/>
                <a:latin typeface="+mn-lt"/>
                <a:ea typeface="+mn-ea"/>
                <a:cs typeface="+mn-cs"/>
              </a:rPr>
              <a:t>預訓練創造出了一個具備極高泛化能力的「半成品底座（Base Model）」。</a:t>
            </a:r>
          </a:p>
          <a:p>
            <a:r>
              <a:rPr lang="zh-TW" altLang="zh-TW" sz="1200" b="1" u="none" strike="noStrike" kern="1200" dirty="0">
                <a:solidFill>
                  <a:schemeClr val="tx1"/>
                </a:solidFill>
                <a:effectLst/>
                <a:latin typeface="+mn-lt"/>
                <a:ea typeface="+mn-ea"/>
                <a:cs typeface="+mn-cs"/>
              </a:rPr>
              <a:t>極佳的起跑線</a:t>
            </a:r>
            <a:r>
              <a:rPr lang="zh-TW" altLang="zh-TW" sz="1200" b="0" u="none" strike="noStrike" kern="1200" dirty="0">
                <a:solidFill>
                  <a:schemeClr val="tx1"/>
                </a:solidFill>
                <a:effectLst/>
                <a:latin typeface="+mn-lt"/>
                <a:ea typeface="+mn-ea"/>
                <a:cs typeface="+mn-cs"/>
              </a:rPr>
              <a:t>：這個底座已經對文字有了最深刻的理解。之後不論是要做情感分析、機器翻譯、程式碼生成，還是特定領域的客服，都只需要在這個底座上用極少量的資料進行微調（SFT），就能快速達到頂尖效果。</a:t>
            </a:r>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17</a:t>
            </a:fld>
            <a:endParaRPr lang="zh-TW" altLang="en-US"/>
          </a:p>
        </p:txBody>
      </p:sp>
    </p:spTree>
    <p:extLst>
      <p:ext uri="{BB962C8B-B14F-4D97-AF65-F5344CB8AC3E}">
        <p14:creationId xmlns:p14="http://schemas.microsoft.com/office/powerpoint/2010/main" val="291214891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zh-TW" sz="1200" b="1" u="none" strike="noStrike" kern="1200" dirty="0">
                <a:solidFill>
                  <a:schemeClr val="tx1"/>
                </a:solidFill>
                <a:effectLst/>
                <a:latin typeface="+mn-lt"/>
                <a:ea typeface="+mn-ea"/>
                <a:cs typeface="+mn-cs"/>
              </a:rPr>
              <a:t>Distillation（蒸餾／知識蒸餾）</a:t>
            </a:r>
          </a:p>
          <a:p>
            <a:r>
              <a:rPr lang="zh-TW" altLang="zh-TW" sz="1200" b="1" u="none" strike="noStrike" kern="1200" dirty="0">
                <a:solidFill>
                  <a:schemeClr val="tx1"/>
                </a:solidFill>
                <a:effectLst/>
                <a:latin typeface="+mn-lt"/>
                <a:ea typeface="+mn-ea"/>
                <a:cs typeface="+mn-cs"/>
              </a:rPr>
              <a:t>階段定位：</a:t>
            </a:r>
            <a:r>
              <a:rPr lang="zh-TW" altLang="zh-TW" sz="1200" b="0" u="none" strike="noStrike" kern="1200" dirty="0">
                <a:solidFill>
                  <a:schemeClr val="tx1"/>
                </a:solidFill>
                <a:effectLst/>
                <a:latin typeface="+mn-lt"/>
                <a:ea typeface="+mn-ea"/>
                <a:cs typeface="+mn-cs"/>
              </a:rPr>
              <a:t> 模型輕量化（壓縮）的技術。</a:t>
            </a:r>
          </a:p>
          <a:p>
            <a:r>
              <a:rPr lang="zh-TW" altLang="zh-TW" sz="1200" b="1" u="none" strike="noStrike" kern="1200" dirty="0">
                <a:solidFill>
                  <a:schemeClr val="tx1"/>
                </a:solidFill>
                <a:effectLst/>
                <a:latin typeface="+mn-lt"/>
                <a:ea typeface="+mn-ea"/>
                <a:cs typeface="+mn-cs"/>
              </a:rPr>
              <a:t>說明：</a:t>
            </a:r>
            <a:r>
              <a:rPr lang="zh-TW" altLang="zh-TW" sz="1200" b="0" u="none" strike="noStrike" kern="1200" dirty="0">
                <a:solidFill>
                  <a:schemeClr val="tx1"/>
                </a:solidFill>
                <a:effectLst/>
                <a:latin typeface="+mn-lt"/>
                <a:ea typeface="+mn-ea"/>
                <a:cs typeface="+mn-cs"/>
              </a:rPr>
              <a:t> 為了降低硬體負擔與營運成本，讓體積龐大、能力強大的「教師模型」（Teacher Model）去教導體積小、速度快的「學生模型」（Student Model）。</a:t>
            </a:r>
          </a:p>
          <a:p>
            <a:r>
              <a:rPr lang="zh-TW" altLang="zh-TW" sz="1200" b="1" u="none" strike="noStrike" kern="1200" dirty="0">
                <a:solidFill>
                  <a:schemeClr val="tx1"/>
                </a:solidFill>
                <a:effectLst/>
                <a:latin typeface="+mn-lt"/>
                <a:ea typeface="+mn-ea"/>
                <a:cs typeface="+mn-cs"/>
              </a:rPr>
              <a:t>特點：</a:t>
            </a:r>
            <a:r>
              <a:rPr lang="zh-TW" altLang="zh-TW" sz="1200" b="0" u="none" strike="noStrike" kern="1200" dirty="0">
                <a:solidFill>
                  <a:schemeClr val="tx1"/>
                </a:solidFill>
                <a:effectLst/>
                <a:latin typeface="+mn-lt"/>
                <a:ea typeface="+mn-ea"/>
                <a:cs typeface="+mn-cs"/>
              </a:rPr>
              <a:t> 學生模型不只學答案，還會學教師模型的「思考邏輯」，使其能在輕量化的狀態下發揮接近大模型的效果。</a:t>
            </a:r>
          </a:p>
          <a:p>
            <a:endParaRPr lang="en-US" altLang="zh-TW" dirty="0"/>
          </a:p>
          <a:p>
            <a:r>
              <a:rPr lang="zh-TW" altLang="zh-TW" sz="1200" b="1" u="none" strike="noStrike" kern="1200" dirty="0">
                <a:solidFill>
                  <a:schemeClr val="tx1"/>
                </a:solidFill>
                <a:effectLst/>
                <a:latin typeface="+mn-lt"/>
                <a:ea typeface="+mn-ea"/>
                <a:cs typeface="+mn-cs"/>
              </a:rPr>
              <a:t>核心運作原理（How it works）</a:t>
            </a:r>
          </a:p>
          <a:p>
            <a:r>
              <a:rPr lang="zh-TW" altLang="zh-TW" sz="1200" b="0" u="none" strike="noStrike" kern="1200" dirty="0">
                <a:solidFill>
                  <a:schemeClr val="tx1"/>
                </a:solidFill>
                <a:effectLst/>
                <a:latin typeface="+mn-lt"/>
                <a:ea typeface="+mn-ea"/>
                <a:cs typeface="+mn-cs"/>
              </a:rPr>
              <a:t>知識蒸餾（Knowledge Distillation）並不是單純讓學生「死記硬背」最終答案，而是讓學生去模仿教師模型的</a:t>
            </a:r>
            <a:r>
              <a:rPr lang="zh-TW" altLang="zh-TW" sz="1200" b="1" u="none" strike="noStrike" kern="1200" dirty="0">
                <a:solidFill>
                  <a:schemeClr val="tx1"/>
                </a:solidFill>
                <a:effectLst/>
                <a:latin typeface="+mn-lt"/>
                <a:ea typeface="+mn-ea"/>
                <a:cs typeface="+mn-cs"/>
              </a:rPr>
              <a:t>「思考邏輯與推導過程」</a:t>
            </a:r>
            <a:r>
              <a:rPr lang="zh-TW" altLang="zh-TW" sz="1200" b="0" u="none" strike="noStrike" kern="1200" dirty="0">
                <a:solidFill>
                  <a:schemeClr val="tx1"/>
                </a:solidFill>
                <a:effectLst/>
                <a:latin typeface="+mn-lt"/>
                <a:ea typeface="+mn-ea"/>
                <a:cs typeface="+mn-cs"/>
              </a:rPr>
              <a:t>。</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主要透過以下三種方式進行：</a:t>
            </a:r>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邏輯機率模仿</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Logit </a:t>
            </a:r>
            <a:r>
              <a:rPr lang="en-US" altLang="zh-TW" sz="1200" b="1" u="none" strike="noStrike" kern="1200" dirty="0">
                <a:solidFill>
                  <a:schemeClr val="tx1"/>
                </a:solidFill>
                <a:effectLst/>
                <a:latin typeface="+mn-lt"/>
                <a:ea typeface="+mn-ea"/>
                <a:cs typeface="+mn-cs"/>
              </a:rPr>
              <a:t>and </a:t>
            </a:r>
            <a:r>
              <a:rPr lang="zh-TW" altLang="zh-TW" sz="1200" b="1" u="none" strike="noStrike" kern="1200" dirty="0">
                <a:solidFill>
                  <a:schemeClr val="tx1"/>
                </a:solidFill>
                <a:effectLst/>
                <a:latin typeface="+mn-lt"/>
                <a:ea typeface="+mn-ea"/>
                <a:cs typeface="+mn-cs"/>
              </a:rPr>
              <a:t>Output Distillatio</a:t>
            </a:r>
            <a:r>
              <a:rPr lang="en-US" altLang="zh-TW" sz="1200" b="1" u="none" strike="noStrike" kern="1200" dirty="0">
                <a:solidFill>
                  <a:schemeClr val="tx1"/>
                </a:solidFill>
                <a:effectLst/>
                <a:latin typeface="+mn-lt"/>
                <a:ea typeface="+mn-ea"/>
                <a:cs typeface="+mn-cs"/>
              </a:rPr>
              <a:t>n):</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學生模型會去</a:t>
            </a:r>
            <a:r>
              <a:rPr lang="zh-TW" altLang="zh-TW" sz="1200" b="1" u="none" strike="noStrike" kern="1200" dirty="0">
                <a:solidFill>
                  <a:schemeClr val="tx1"/>
                </a:solidFill>
                <a:effectLst/>
                <a:latin typeface="+mn-lt"/>
                <a:ea typeface="+mn-ea"/>
                <a:cs typeface="+mn-cs"/>
              </a:rPr>
              <a:t>對齊</a:t>
            </a:r>
            <a:r>
              <a:rPr lang="zh-TW" altLang="zh-TW" sz="1200" b="0" u="none" strike="noStrike" kern="1200" dirty="0">
                <a:solidFill>
                  <a:schemeClr val="tx1"/>
                </a:solidFill>
                <a:effectLst/>
                <a:latin typeface="+mn-lt"/>
                <a:ea typeface="+mn-ea"/>
                <a:cs typeface="+mn-cs"/>
              </a:rPr>
              <a:t>這個</a:t>
            </a:r>
            <a:r>
              <a:rPr lang="en-US" altLang="zh-TW" sz="1200" b="0" u="none" strike="noStrike" kern="1200" dirty="0">
                <a:solidFill>
                  <a:schemeClr val="tx1"/>
                </a:solidFill>
                <a:effectLst/>
                <a:latin typeface="+mn-lt"/>
                <a:ea typeface="+mn-ea"/>
                <a:cs typeface="+mn-cs"/>
              </a:rPr>
              <a:t>”Dark Knowledge)</a:t>
            </a:r>
            <a:r>
              <a:rPr lang="zh-TW" altLang="en-US" sz="1200" b="0" u="none" strike="noStrike" kern="1200" dirty="0">
                <a:solidFill>
                  <a:schemeClr val="tx1"/>
                </a:solidFill>
                <a:effectLst/>
                <a:latin typeface="+mn-lt"/>
                <a:ea typeface="+mn-ea"/>
                <a:cs typeface="+mn-cs"/>
              </a:rPr>
              <a:t>的</a:t>
            </a:r>
            <a:r>
              <a:rPr lang="zh-TW" altLang="zh-TW" sz="1200" b="0" u="none" strike="noStrike" kern="1200" dirty="0">
                <a:solidFill>
                  <a:schemeClr val="tx1"/>
                </a:solidFill>
                <a:effectLst/>
                <a:latin typeface="+mn-lt"/>
                <a:ea typeface="+mn-ea"/>
                <a:cs typeface="+mn-cs"/>
              </a:rPr>
              <a:t>機率分佈，學習大模型的判斷邏輯。</a:t>
            </a:r>
            <a:endParaRPr lang="en-US" altLang="zh-TW" sz="1200" b="1" u="none" strike="noStrike" kern="1200" dirty="0">
              <a:solidFill>
                <a:schemeClr val="tx1"/>
              </a:solidFill>
              <a:effectLst/>
              <a:latin typeface="+mn-lt"/>
              <a:ea typeface="+mn-ea"/>
              <a:cs typeface="+mn-cs"/>
            </a:endParaRPr>
          </a:p>
          <a:p>
            <a:r>
              <a:rPr lang="zh-TW" altLang="zh-TW" sz="1200" b="0" u="none" strike="noStrike" kern="1200" dirty="0">
                <a:solidFill>
                  <a:schemeClr val="tx1"/>
                </a:solidFill>
                <a:effectLst/>
                <a:latin typeface="+mn-lt"/>
                <a:ea typeface="+mn-ea"/>
                <a:cs typeface="+mn-cs"/>
              </a:rPr>
              <a:t>大模型在預測下一個字時</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不只會輸出最正確的答案</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還會輸出其他字的「機率分佈」</a:t>
            </a:r>
            <a:endParaRPr lang="en-US" altLang="zh-TW" sz="1200" b="0" u="none" strike="noStrike" kern="1200" dirty="0">
              <a:solidFill>
                <a:schemeClr val="tx1"/>
              </a:solidFill>
              <a:effectLst/>
              <a:latin typeface="+mn-lt"/>
              <a:ea typeface="+mn-ea"/>
              <a:cs typeface="+mn-cs"/>
            </a:endParaRPr>
          </a:p>
          <a:p>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例如：問「天空是...」</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藍色80%</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黑色15%</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綠色0.01%。這些機率分佈包含了大模型的暗黑知識</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Dark Knowledge</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例如它知道天空有可能是黑的</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但絕不可能是綠的</a:t>
            </a:r>
            <a:r>
              <a:rPr lang="en-US"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中間層引導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Feature-based Distillation</a:t>
            </a:r>
            <a:r>
              <a:rPr lang="en-US" altLang="zh-TW" sz="1200" b="1" u="none" strike="noStrike" kern="1200" dirty="0">
                <a:solidFill>
                  <a:schemeClr val="tx1"/>
                </a:solidFill>
                <a:effectLst/>
                <a:latin typeface="+mn-lt"/>
                <a:ea typeface="+mn-ea"/>
                <a:cs typeface="+mn-cs"/>
              </a:rPr>
              <a:t>):</a:t>
            </a:r>
            <a:r>
              <a:rPr lang="zh-TW" altLang="en-US" sz="1200" b="1"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直接讓學生模型的隱藏層</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Hidden Layers</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去模仿教師模型中間層的特徵表達</a:t>
            </a:r>
            <a:r>
              <a:rPr lang="en-US" altLang="zh-TW" sz="1200" b="0" u="none" strike="noStrike" kern="1200" dirty="0">
                <a:solidFill>
                  <a:schemeClr val="tx1"/>
                </a:solidFill>
                <a:effectLst/>
                <a:latin typeface="+mn-lt"/>
                <a:ea typeface="+mn-ea"/>
                <a:cs typeface="+mn-cs"/>
              </a:rPr>
              <a:t>,</a:t>
            </a:r>
            <a:r>
              <a:rPr lang="zh-TW" altLang="en-US"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讓學生模型建立與大模型相似的思考架構。</a:t>
            </a:r>
          </a:p>
          <a:p>
            <a:r>
              <a:rPr lang="zh-TW" altLang="zh-TW" sz="1200" b="1" u="none" strike="noStrike" kern="1200" dirty="0">
                <a:solidFill>
                  <a:schemeClr val="tx1"/>
                </a:solidFill>
                <a:effectLst/>
                <a:latin typeface="+mn-lt"/>
                <a:ea typeface="+mn-ea"/>
                <a:cs typeface="+mn-cs"/>
              </a:rPr>
              <a:t>思維鏈引導</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Step-by-Step / CoT Distillation）</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大模型寫出</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推理步驟</a:t>
            </a:r>
            <a:r>
              <a:rPr lang="en-US" altLang="zh-TW" sz="1200" b="0" u="none" strike="noStrike" kern="1200" dirty="0">
                <a:solidFill>
                  <a:schemeClr val="tx1"/>
                </a:solidFill>
                <a:effectLst/>
                <a:latin typeface="+mn-lt"/>
                <a:ea typeface="+mn-ea"/>
                <a:cs typeface="+mn-cs"/>
              </a:rPr>
              <a:t>(</a:t>
            </a:r>
            <a:r>
              <a:rPr lang="zh-TW" altLang="zh-TW" sz="1200" b="0" u="none" strike="noStrike" kern="1200" dirty="0">
                <a:solidFill>
                  <a:schemeClr val="tx1"/>
                </a:solidFill>
                <a:effectLst/>
                <a:latin typeface="+mn-lt"/>
                <a:ea typeface="+mn-ea"/>
                <a:cs typeface="+mn-cs"/>
              </a:rPr>
              <a:t>Chain of Thought</a:t>
            </a:r>
            <a:r>
              <a:rPr lang="en-US" altLang="zh-TW" sz="1200" b="0" u="none" strike="noStrike" kern="1200" dirty="0">
                <a:solidFill>
                  <a:schemeClr val="tx1"/>
                </a:solidFill>
                <a:effectLst/>
                <a:latin typeface="+mn-lt"/>
                <a:ea typeface="+mn-ea"/>
                <a:cs typeface="+mn-cs"/>
              </a:rPr>
              <a:t>)”, </a:t>
            </a:r>
            <a:r>
              <a:rPr lang="zh-TW" altLang="zh-TW" sz="1200" b="0" u="none" strike="noStrike" kern="1200" dirty="0">
                <a:solidFill>
                  <a:schemeClr val="tx1"/>
                </a:solidFill>
                <a:effectLst/>
                <a:latin typeface="+mn-lt"/>
                <a:ea typeface="+mn-ea"/>
                <a:cs typeface="+mn-cs"/>
              </a:rPr>
              <a:t>再用這些步驟訓練小模型，讓小模型學會「如何思考」而不用盲猜答案。</a:t>
            </a:r>
          </a:p>
          <a:p>
            <a:br>
              <a:rPr lang="zh-TW" altLang="zh-TW" dirty="0"/>
            </a:br>
            <a:endParaRPr lang="zh-TW" altLang="zh-TW" dirty="0"/>
          </a:p>
          <a:p>
            <a:r>
              <a:rPr lang="zh-TW" altLang="zh-TW" sz="1200" b="1" u="none" strike="noStrike" kern="1200" dirty="0">
                <a:solidFill>
                  <a:schemeClr val="tx1"/>
                </a:solidFill>
                <a:effectLst/>
                <a:latin typeface="+mn-lt"/>
                <a:ea typeface="+mn-ea"/>
                <a:cs typeface="+mn-cs"/>
              </a:rPr>
              <a:t>LLM 蒸餾的四大核心優勢</a:t>
            </a:r>
          </a:p>
          <a:p>
            <a:r>
              <a:rPr lang="zh-TW" altLang="zh-TW" sz="1200" b="1" u="none" strike="noStrike" kern="1200" dirty="0">
                <a:solidFill>
                  <a:schemeClr val="tx1"/>
                </a:solidFill>
                <a:effectLst/>
                <a:latin typeface="+mn-lt"/>
                <a:ea typeface="+mn-ea"/>
                <a:cs typeface="+mn-cs"/>
              </a:rPr>
              <a:t>極致降本增效</a:t>
            </a:r>
            <a:r>
              <a:rPr lang="zh-TW" altLang="zh-TW" sz="1200" b="0" u="none" strike="noStrike" kern="1200" dirty="0">
                <a:solidFill>
                  <a:schemeClr val="tx1"/>
                </a:solidFill>
                <a:effectLst/>
                <a:latin typeface="+mn-lt"/>
                <a:ea typeface="+mn-ea"/>
                <a:cs typeface="+mn-cs"/>
              </a:rPr>
              <a:t>：大幅減少推理（Inference）所需的 GPU 算力與記憶體（VRAM），企業的伺服器成本可能直接降到原本的十分之一。</a:t>
            </a:r>
          </a:p>
          <a:p>
            <a:r>
              <a:rPr lang="zh-TW" altLang="zh-TW" sz="1200" b="1" u="none" strike="noStrike" kern="1200" dirty="0">
                <a:solidFill>
                  <a:schemeClr val="tx1"/>
                </a:solidFill>
                <a:effectLst/>
                <a:latin typeface="+mn-lt"/>
                <a:ea typeface="+mn-ea"/>
                <a:cs typeface="+mn-cs"/>
              </a:rPr>
              <a:t>解鎖邊緣運算（Edge AI）</a:t>
            </a:r>
            <a:r>
              <a:rPr lang="zh-TW" altLang="zh-TW" sz="1200" b="0" u="none" strike="noStrike" kern="1200" dirty="0">
                <a:solidFill>
                  <a:schemeClr val="tx1"/>
                </a:solidFill>
                <a:effectLst/>
                <a:latin typeface="+mn-lt"/>
                <a:ea typeface="+mn-ea"/>
                <a:cs typeface="+mn-cs"/>
              </a:rPr>
              <a:t>：原本幾千億參數的模型根本放不進手機、筆電或汽車晶片，蒸餾成幾十億（如 1B/3B）參數後，就能在邊緣設備上</a:t>
            </a:r>
            <a:r>
              <a:rPr lang="zh-TW" altLang="zh-TW" sz="1200" b="1" u="none" strike="noStrike" kern="1200" dirty="0">
                <a:solidFill>
                  <a:schemeClr val="tx1"/>
                </a:solidFill>
                <a:effectLst/>
                <a:latin typeface="+mn-lt"/>
                <a:ea typeface="+mn-ea"/>
                <a:cs typeface="+mn-cs"/>
              </a:rPr>
              <a:t>完全離線流暢運行</a:t>
            </a:r>
            <a:r>
              <a:rPr lang="zh-TW" altLang="zh-TW" sz="1200" b="0" u="none" strike="noStrike" kern="1200" dirty="0">
                <a:solidFill>
                  <a:schemeClr val="tx1"/>
                </a:solidFill>
                <a:effectLst/>
                <a:latin typeface="+mn-lt"/>
                <a:ea typeface="+mn-ea"/>
                <a:cs typeface="+mn-cs"/>
              </a:rPr>
              <a:t>。</a:t>
            </a:r>
          </a:p>
          <a:p>
            <a:r>
              <a:rPr lang="zh-TW" altLang="zh-TW" sz="1200" b="1" u="none" strike="noStrike" kern="1200" dirty="0">
                <a:solidFill>
                  <a:schemeClr val="tx1"/>
                </a:solidFill>
                <a:effectLst/>
                <a:latin typeface="+mn-lt"/>
                <a:ea typeface="+mn-ea"/>
                <a:cs typeface="+mn-cs"/>
              </a:rPr>
              <a:t>大幅提升速度</a:t>
            </a:r>
            <a:r>
              <a:rPr lang="zh-TW" altLang="zh-TW" sz="1200" b="0" u="none" strike="noStrike" kern="1200" dirty="0">
                <a:solidFill>
                  <a:schemeClr val="tx1"/>
                </a:solidFill>
                <a:effectLst/>
                <a:latin typeface="+mn-lt"/>
                <a:ea typeface="+mn-ea"/>
                <a:cs typeface="+mn-cs"/>
              </a:rPr>
              <a:t>：模型變小意味著 Token 輸出速度（Throughput）暴增，延遲（Latency）極低，大幅提升使用者體驗。</a:t>
            </a:r>
          </a:p>
          <a:p>
            <a:r>
              <a:rPr lang="zh-TW" altLang="zh-TW" sz="1200" b="1" u="none" strike="noStrike" kern="1200" dirty="0">
                <a:solidFill>
                  <a:schemeClr val="tx1"/>
                </a:solidFill>
                <a:effectLst/>
                <a:latin typeface="+mn-lt"/>
                <a:ea typeface="+mn-ea"/>
                <a:cs typeface="+mn-cs"/>
              </a:rPr>
              <a:t>保留專門領域能力</a:t>
            </a:r>
            <a:r>
              <a:rPr lang="zh-TW" altLang="zh-TW" sz="1200" b="0" u="none" strike="noStrike" kern="1200" dirty="0">
                <a:solidFill>
                  <a:schemeClr val="tx1"/>
                </a:solidFill>
                <a:effectLst/>
                <a:latin typeface="+mn-lt"/>
                <a:ea typeface="+mn-ea"/>
                <a:cs typeface="+mn-cs"/>
              </a:rPr>
              <a:t>：可以針對特定任務（如：寫程式、法律文件分析）進行精準蒸餾，讓小模型在該特定領域的表現幾乎與大模型平起平坐。</a:t>
            </a:r>
          </a:p>
          <a:p>
            <a:br>
              <a:rPr lang="zh-TW" altLang="zh-TW" dirty="0"/>
            </a:br>
            <a:endParaRPr lang="zh-TW" altLang="zh-TW" dirty="0"/>
          </a:p>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18</a:t>
            </a:fld>
            <a:endParaRPr lang="zh-TW" altLang="en-US"/>
          </a:p>
        </p:txBody>
      </p:sp>
    </p:spTree>
    <p:extLst>
      <p:ext uri="{BB962C8B-B14F-4D97-AF65-F5344CB8AC3E}">
        <p14:creationId xmlns:p14="http://schemas.microsoft.com/office/powerpoint/2010/main" val="229108783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B3CBDA2-5CC6-68DA-B9E1-9325B03C4068}"/>
            </a:ext>
          </a:extLst>
        </p:cNvPr>
        <p:cNvGrpSpPr/>
        <p:nvPr/>
      </p:nvGrpSpPr>
      <p:grpSpPr>
        <a:xfrm>
          <a:off x="0" y="0"/>
          <a:ext cx="0" cy="0"/>
          <a:chOff x="0" y="0"/>
          <a:chExt cx="0" cy="0"/>
        </a:xfrm>
      </p:grpSpPr>
      <p:sp>
        <p:nvSpPr>
          <p:cNvPr id="2" name="投影片影像版面配置區 1">
            <a:extLst>
              <a:ext uri="{FF2B5EF4-FFF2-40B4-BE49-F238E27FC236}">
                <a16:creationId xmlns:a16="http://schemas.microsoft.com/office/drawing/2014/main" id="{39D0FE7D-F083-76CB-66F6-B906138D511E}"/>
              </a:ext>
            </a:extLst>
          </p:cNvPr>
          <p:cNvSpPr>
            <a:spLocks noGrp="1" noRot="1" noChangeAspect="1"/>
          </p:cNvSpPr>
          <p:nvPr>
            <p:ph type="sldImg"/>
          </p:nvPr>
        </p:nvSpPr>
        <p:spPr/>
        <p:txBody>
          <a:bodyPr/>
          <a:lstStyle/>
          <a:p>
            <a:endParaRPr lang="zh-TW" altLang="en-US"/>
          </a:p>
        </p:txBody>
      </p:sp>
      <p:sp>
        <p:nvSpPr>
          <p:cNvPr id="3" name="備忘稿版面配置區 2">
            <a:extLst>
              <a:ext uri="{FF2B5EF4-FFF2-40B4-BE49-F238E27FC236}">
                <a16:creationId xmlns:a16="http://schemas.microsoft.com/office/drawing/2014/main" id="{7329A2D0-F1DE-7F9D-85D1-793C18C12B25}"/>
              </a:ext>
            </a:extLst>
          </p:cNvPr>
          <p:cNvSpPr>
            <a:spLocks noGrp="1"/>
          </p:cNvSpPr>
          <p:nvPr>
            <p:ph type="body" idx="1"/>
          </p:nvPr>
        </p:nvSpPr>
        <p:spPr/>
        <p:txBody>
          <a:bodyPr/>
          <a:lstStyle/>
          <a:p>
            <a:r>
              <a:rPr lang="en-US" altLang="zh-TW" dirty="0">
                <a:sym typeface="Wingdings" panose="05000000000000000000" pitchFamily="2" charset="2"/>
              </a:rPr>
              <a:t>AI Server =  Design(</a:t>
            </a:r>
            <a:r>
              <a:rPr lang="en-US" altLang="zh-TW" dirty="0" err="1">
                <a:sym typeface="Wingdings" panose="05000000000000000000" pitchFamily="2" charset="2"/>
              </a:rPr>
              <a:t>Chip+Server</a:t>
            </a:r>
            <a:r>
              <a:rPr lang="en-US" altLang="zh-TW" dirty="0">
                <a:sym typeface="Wingdings" panose="05000000000000000000" pitchFamily="2" charset="2"/>
              </a:rPr>
              <a:t>) + Manufacture(TSMC)</a:t>
            </a:r>
            <a:br>
              <a:rPr lang="en-US" altLang="zh-TW" dirty="0"/>
            </a:br>
            <a:r>
              <a:rPr lang="en-US" altLang="zh-TW" dirty="0"/>
              <a:t>[Design]: GPU/HBM</a:t>
            </a:r>
            <a:r>
              <a:rPr lang="zh-TW" altLang="en-US" dirty="0"/>
              <a:t> </a:t>
            </a:r>
            <a:r>
              <a:rPr lang="en-US"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[NV-Link, SerDes]  </a:t>
            </a:r>
            <a:br>
              <a:rPr lang="en-US" altLang="zh-TW" dirty="0"/>
            </a:br>
            <a:r>
              <a:rPr lang="en-US" altLang="zh-TW" dirty="0"/>
              <a:t>[Chip Manufacture]: TSMC </a:t>
            </a:r>
            <a:r>
              <a:rPr lang="en-US" altLang="zh-TW" dirty="0">
                <a:sym typeface="Wingdings" panose="05000000000000000000" pitchFamily="2" charset="2"/>
              </a:rPr>
              <a:t> Package (COWOS/COPOS/CPO)</a:t>
            </a:r>
          </a:p>
          <a:p>
            <a:r>
              <a:rPr lang="en-US" altLang="zh-TW" dirty="0">
                <a:sym typeface="Wingdings" panose="05000000000000000000" pitchFamily="2" charset="2"/>
              </a:rPr>
              <a:t>[Server] (</a:t>
            </a:r>
            <a:r>
              <a:rPr lang="zh-TW" altLang="en-US" dirty="0">
                <a:sym typeface="Wingdings" panose="05000000000000000000" pitchFamily="2" charset="2"/>
              </a:rPr>
              <a:t> 散熱</a:t>
            </a:r>
            <a:r>
              <a:rPr lang="en-US" altLang="zh-TW" dirty="0">
                <a:sym typeface="Wingdings" panose="05000000000000000000" pitchFamily="2" charset="2"/>
              </a:rPr>
              <a:t>/PCB</a:t>
            </a:r>
            <a:r>
              <a:rPr lang="zh-TW" altLang="en-US" dirty="0">
                <a:sym typeface="Wingdings" panose="05000000000000000000" pitchFamily="2" charset="2"/>
              </a:rPr>
              <a:t>多層數</a:t>
            </a:r>
            <a:r>
              <a:rPr lang="en-US" altLang="zh-TW" dirty="0">
                <a:sym typeface="Wingdings" panose="05000000000000000000" pitchFamily="2" charset="2"/>
              </a:rPr>
              <a:t>) </a:t>
            </a:r>
            <a:br>
              <a:rPr lang="en-US" altLang="zh-TW" dirty="0">
                <a:sym typeface="Wingdings" panose="05000000000000000000" pitchFamily="2" charset="2"/>
              </a:rPr>
            </a:br>
            <a:br>
              <a:rPr lang="en-US" altLang="zh-TW" dirty="0"/>
            </a:br>
            <a:br>
              <a:rPr lang="en-US" altLang="zh-TW" dirty="0"/>
            </a:br>
            <a:r>
              <a:rPr lang="zh-TW" altLang="en-US" dirty="0"/>
              <a:t>半導體製造 </a:t>
            </a:r>
            <a:r>
              <a:rPr lang="en-US" altLang="zh-TW" dirty="0">
                <a:sym typeface="Wingdings" panose="05000000000000000000" pitchFamily="2" charset="2"/>
              </a:rPr>
              <a:t></a:t>
            </a:r>
            <a:r>
              <a:rPr lang="zh-TW" altLang="en-US" dirty="0">
                <a:sym typeface="Wingdings" panose="05000000000000000000" pitchFamily="2" charset="2"/>
              </a:rPr>
              <a:t> 封測 </a:t>
            </a:r>
            <a:r>
              <a:rPr lang="en-US" altLang="zh-TW" dirty="0">
                <a:sym typeface="Wingdings" panose="05000000000000000000" pitchFamily="2" charset="2"/>
              </a:rPr>
              <a:t></a:t>
            </a:r>
            <a:r>
              <a:rPr lang="zh-TW" altLang="en-US" dirty="0">
                <a:sym typeface="Wingdings" panose="05000000000000000000" pitchFamily="2" charset="2"/>
              </a:rPr>
              <a:t> 電路板 </a:t>
            </a:r>
            <a:r>
              <a:rPr lang="en-US" altLang="zh-TW" dirty="0">
                <a:sym typeface="Wingdings" panose="05000000000000000000" pitchFamily="2" charset="2"/>
              </a:rPr>
              <a:t></a:t>
            </a:r>
            <a:r>
              <a:rPr lang="zh-TW" altLang="en-US" dirty="0">
                <a:sym typeface="Wingdings" panose="05000000000000000000" pitchFamily="2" charset="2"/>
              </a:rPr>
              <a:t> 被動元件</a:t>
            </a:r>
            <a:endParaRPr lang="en-US" altLang="zh-TW" dirty="0">
              <a:sym typeface="Wingdings" panose="05000000000000000000" pitchFamily="2" charset="2"/>
            </a:endParaRPr>
          </a:p>
          <a:p>
            <a:r>
              <a:rPr lang="zh-TW" altLang="en-US" dirty="0">
                <a:sym typeface="Wingdings" panose="05000000000000000000" pitchFamily="2" charset="2"/>
              </a:rPr>
              <a:t> </a:t>
            </a:r>
            <a:endParaRPr lang="en-US" altLang="zh-TW" dirty="0"/>
          </a:p>
          <a:p>
            <a:r>
              <a:rPr lang="en-US" altLang="zh-TW" dirty="0"/>
              <a:t>Multi GPU </a:t>
            </a:r>
            <a:r>
              <a:rPr lang="en-US" altLang="zh-TW" dirty="0">
                <a:sym typeface="Wingdings" panose="05000000000000000000" pitchFamily="2" charset="2"/>
              </a:rPr>
              <a:t> HBM  CoWoS/CoPos   CPO</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WSE</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TPU / AI CHIP</a:t>
            </a:r>
          </a:p>
          <a:p>
            <a:r>
              <a:rPr lang="en-US" altLang="zh-TW" dirty="0">
                <a:sym typeface="Wingdings" panose="05000000000000000000" pitchFamily="2" charset="2"/>
              </a:rPr>
              <a:t>CoWoS  PCB</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CCL</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MLCC</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endParaRPr lang="en-US" altLang="zh-TW" dirty="0">
              <a:sym typeface="Wingdings" panose="05000000000000000000" pitchFamily="2" charset="2"/>
            </a:endParaRPr>
          </a:p>
          <a:p>
            <a:r>
              <a:rPr lang="en-US" altLang="zh-TW" dirty="0">
                <a:sym typeface="Wingdings" panose="05000000000000000000" pitchFamily="2" charset="2"/>
              </a:rPr>
              <a:t>HBM</a:t>
            </a:r>
            <a:r>
              <a:rPr lang="zh-TW" altLang="en-US" dirty="0">
                <a:sym typeface="Wingdings" panose="05000000000000000000" pitchFamily="2" charset="2"/>
              </a:rPr>
              <a:t> </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CPO(Co-Packaged Optics)</a:t>
            </a:r>
          </a:p>
          <a:p>
            <a:endParaRPr lang="en-US" altLang="zh-TW" dirty="0"/>
          </a:p>
          <a:p>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）是PCB的核心基礎材料，約占PCB成本的40%。</a:t>
            </a:r>
            <a:endParaRPr lang="en-US" altLang="zh-TW" dirty="0"/>
          </a:p>
          <a:p>
            <a:r>
              <a:rPr lang="zh-TW" altLang="zh-TW" dirty="0"/>
              <a:t>其結構猶如「夾心餅乾」，由外層的導電銅箔，與中間夾層的「絕緣補強材料（如玻璃纖維布）」加「樹脂」高溫高壓貼合而成。</a:t>
            </a:r>
            <a:endParaRPr lang="en-US" altLang="zh-TW" dirty="0"/>
          </a:p>
          <a:p>
            <a:r>
              <a:rPr lang="zh-TW" altLang="zh-TW" sz="1200" b="1" u="none" strike="noStrike" kern="1200" dirty="0">
                <a:solidFill>
                  <a:schemeClr val="tx1"/>
                </a:solidFill>
                <a:effectLst/>
                <a:latin typeface="+mn-lt"/>
                <a:ea typeface="+mn-ea"/>
                <a:cs typeface="+mn-cs"/>
              </a:rPr>
              <a:t>銅箔基板的組成</a:t>
            </a:r>
            <a:r>
              <a:rPr lang="en-US" altLang="zh-TW" sz="1200" b="1" u="none" strike="noStrike" kern="1200" dirty="0">
                <a:solidFill>
                  <a:schemeClr val="tx1"/>
                </a:solidFill>
                <a:effectLst/>
                <a:latin typeface="+mn-lt"/>
                <a:ea typeface="+mn-ea"/>
                <a:cs typeface="+mn-cs"/>
              </a:rPr>
              <a:t>: </a:t>
            </a:r>
            <a:r>
              <a:rPr lang="zh-TW" altLang="zh-TW" sz="1200" b="1" u="none" strike="noStrike" kern="1200" dirty="0">
                <a:solidFill>
                  <a:schemeClr val="tx1"/>
                </a:solidFill>
                <a:effectLst/>
                <a:latin typeface="+mn-lt"/>
                <a:ea typeface="+mn-ea"/>
                <a:cs typeface="+mn-cs"/>
              </a:rPr>
              <a:t>銅箔 (約占 40%)</a:t>
            </a:r>
            <a:r>
              <a:rPr lang="zh-TW" altLang="zh-TW" sz="1200" b="0" u="none" strike="noStrike" kern="1200" dirty="0">
                <a:solidFill>
                  <a:schemeClr val="tx1"/>
                </a:solidFill>
                <a:effectLst/>
                <a:latin typeface="+mn-lt"/>
                <a:ea typeface="+mn-ea"/>
                <a:cs typeface="+mn-cs"/>
              </a:rPr>
              <a:t>導電層</a:t>
            </a:r>
            <a:r>
              <a:rPr lang="en-US" altLang="zh-TW" sz="1200" b="0"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樹脂 (約占 30%)</a:t>
            </a:r>
            <a:r>
              <a:rPr lang="zh-TW" altLang="zh-TW" sz="1200" b="0" u="none" strike="noStrike" kern="1200" dirty="0">
                <a:solidFill>
                  <a:schemeClr val="tx1"/>
                </a:solidFill>
                <a:effectLst/>
                <a:latin typeface="+mn-lt"/>
                <a:ea typeface="+mn-ea"/>
                <a:cs typeface="+mn-cs"/>
              </a:rPr>
              <a:t>絕緣體提供耐熱性與黏合力</a:t>
            </a:r>
            <a:r>
              <a:rPr lang="en-US" altLang="zh-TW" sz="1200" b="0" u="none" strike="noStrike" kern="1200" dirty="0">
                <a:solidFill>
                  <a:schemeClr val="tx1"/>
                </a:solidFill>
                <a:effectLst/>
                <a:latin typeface="+mn-lt"/>
                <a:ea typeface="+mn-ea"/>
                <a:cs typeface="+mn-cs"/>
              </a:rPr>
              <a:t> + </a:t>
            </a:r>
            <a:r>
              <a:rPr lang="zh-TW" altLang="zh-TW" sz="1200" b="1" u="none" strike="noStrike" kern="1200" dirty="0">
                <a:solidFill>
                  <a:schemeClr val="tx1"/>
                </a:solidFill>
                <a:effectLst/>
                <a:latin typeface="+mn-lt"/>
                <a:ea typeface="+mn-ea"/>
                <a:cs typeface="+mn-cs"/>
              </a:rPr>
              <a:t>補強材料 (約占 30%)</a:t>
            </a:r>
            <a:r>
              <a:rPr lang="zh-TW" altLang="zh-TW" dirty="0"/>
              <a:t>：通常為玻璃纖維布</a:t>
            </a:r>
            <a:r>
              <a:rPr lang="en-US" altLang="zh-TW" dirty="0"/>
              <a:t>.</a:t>
            </a:r>
            <a:endParaRPr lang="en-US" altLang="zh-TW" sz="1200" b="0" u="none" strike="noStrike" kern="1200" dirty="0">
              <a:solidFill>
                <a:schemeClr val="tx1"/>
              </a:solidFill>
              <a:effectLst/>
              <a:latin typeface="+mn-lt"/>
              <a:ea typeface="+mn-ea"/>
              <a:cs typeface="+mn-cs"/>
            </a:endParaRPr>
          </a:p>
          <a:p>
            <a:r>
              <a:rPr lang="zh-TW" altLang="zh-TW" sz="1200" b="1" u="none" strike="noStrike" kern="1200" dirty="0">
                <a:solidFill>
                  <a:schemeClr val="tx1"/>
                </a:solidFill>
                <a:effectLst/>
                <a:latin typeface="+mn-lt"/>
                <a:ea typeface="+mn-ea"/>
                <a:cs typeface="+mn-cs"/>
              </a:rPr>
              <a:t>台廠 CCL 龍頭（概念股）</a:t>
            </a:r>
            <a:r>
              <a:rPr lang="zh-TW" altLang="zh-TW" dirty="0"/>
              <a:t>：包含台光電 (2383)、台燿 (6274)、聯茂 (6213)，以及南亞 (1303) 等。</a:t>
            </a:r>
            <a:endParaRPr lang="en-US" altLang="zh-TW" dirty="0"/>
          </a:p>
          <a:p>
            <a:endParaRPr lang="en-US" altLang="zh-TW" dirty="0"/>
          </a:p>
          <a:p>
            <a:r>
              <a:rPr lang="zh-TW" altLang="zh-TW" dirty="0"/>
              <a:t>隨著 </a:t>
            </a:r>
            <a:r>
              <a:rPr lang="zh-TW" altLang="zh-TW" sz="1200" b="1" u="none" strike="noStrike" kern="1200" dirty="0">
                <a:solidFill>
                  <a:schemeClr val="tx1"/>
                </a:solidFill>
                <a:effectLst/>
                <a:latin typeface="+mn-lt"/>
                <a:ea typeface="+mn-ea"/>
                <a:cs typeface="+mn-cs"/>
              </a:rPr>
              <a:t>AI 伺服器</a:t>
            </a:r>
            <a:r>
              <a:rPr lang="zh-TW" altLang="zh-TW" dirty="0"/>
              <a:t>與 </a:t>
            </a:r>
            <a:r>
              <a:rPr lang="zh-TW" altLang="zh-TW" sz="1200" b="1" u="none" strike="noStrike" kern="1200" dirty="0">
                <a:solidFill>
                  <a:schemeClr val="tx1"/>
                </a:solidFill>
                <a:effectLst/>
                <a:latin typeface="+mn-lt"/>
                <a:ea typeface="+mn-ea"/>
                <a:cs typeface="+mn-cs"/>
              </a:rPr>
              <a:t>5G/高速通訊</a:t>
            </a:r>
            <a:r>
              <a:rPr lang="zh-TW" altLang="zh-TW" dirty="0"/>
              <a:t>快速發展，傳統消費電子的板材已無法負荷龐大的資料傳輸量與高發熱量。</a:t>
            </a:r>
            <a:endParaRPr lang="en-US" altLang="zh-TW" dirty="0"/>
          </a:p>
          <a:p>
            <a:r>
              <a:rPr lang="zh-TW" altLang="zh-TW" sz="1200" b="1" u="none" strike="noStrike" kern="1200" dirty="0">
                <a:solidFill>
                  <a:schemeClr val="tx1"/>
                </a:solidFill>
                <a:effectLst/>
                <a:latin typeface="+mn-lt"/>
                <a:ea typeface="+mn-ea"/>
                <a:cs typeface="+mn-cs"/>
              </a:rPr>
              <a:t>規格升級</a:t>
            </a:r>
            <a:r>
              <a:rPr lang="zh-TW" altLang="zh-TW" sz="1200" b="0" u="none" strike="noStrike" kern="1200" dirty="0">
                <a:solidFill>
                  <a:schemeClr val="tx1"/>
                </a:solidFill>
                <a:effectLst/>
                <a:latin typeface="+mn-lt"/>
                <a:ea typeface="+mn-ea"/>
                <a:cs typeface="+mn-cs"/>
              </a:rPr>
              <a:t>：高階 AI 伺服器對 CCL 的用量是傳統伺服器的 5 至 7 倍，且「低損耗（Low Loss / M8-M9等級）」材料以避免訊號干擾。</a:t>
            </a:r>
            <a:r>
              <a:rPr lang="zh-TW" altLang="zh-TW" sz="1200" b="1" u="none" strike="noStrike" kern="1200" dirty="0">
                <a:solidFill>
                  <a:schemeClr val="tx1"/>
                </a:solidFill>
                <a:effectLst/>
                <a:latin typeface="+mn-lt"/>
                <a:ea typeface="+mn-ea"/>
                <a:cs typeface="+mn-cs"/>
              </a:rPr>
              <a:t>長線商機</a:t>
            </a:r>
            <a:r>
              <a:rPr lang="zh-TW" altLang="zh-TW" sz="1200" b="0" u="none" strike="noStrike" kern="1200" dirty="0">
                <a:solidFill>
                  <a:schemeClr val="tx1"/>
                </a:solidFill>
                <a:effectLst/>
                <a:latin typeface="+mn-lt"/>
                <a:ea typeface="+mn-ea"/>
                <a:cs typeface="+mn-cs"/>
              </a:rPr>
              <a:t>：高階 CCL 認證門檻高、驗證週期長（通常需 2~3 年），因此一旦打入特定供應鏈，訂單穩定度與毛利率皆相當可觀。</a:t>
            </a:r>
            <a:endParaRPr lang="en-US" altLang="zh-TW" sz="1200" b="0" u="none" strike="noStrike" kern="1200" dirty="0">
              <a:solidFill>
                <a:schemeClr val="tx1"/>
              </a:solidFill>
              <a:effectLst/>
              <a:latin typeface="+mn-lt"/>
              <a:ea typeface="+mn-ea"/>
              <a:cs typeface="+mn-cs"/>
            </a:endParaRPr>
          </a:p>
          <a:p>
            <a:endParaRPr lang="en-US" altLang="zh-TW" sz="1200" b="0" u="none" strike="noStrike" kern="1200" dirty="0">
              <a:solidFill>
                <a:schemeClr val="tx1"/>
              </a:solidFill>
              <a:effectLst/>
              <a:latin typeface="+mn-lt"/>
              <a:ea typeface="+mn-ea"/>
              <a:cs typeface="+mn-cs"/>
            </a:endParaRPr>
          </a:p>
          <a:p>
            <a:r>
              <a:rPr lang="zh-TW" altLang="zh-TW" dirty="0"/>
              <a:t>紙質酚醛基板</a:t>
            </a:r>
            <a:r>
              <a:rPr lang="en-US" altLang="zh-TW" dirty="0"/>
              <a:t>(CCL/FR-1)</a:t>
            </a:r>
            <a:r>
              <a:rPr lang="en-US" altLang="zh-TW" dirty="0">
                <a:sym typeface="Wingdings" panose="05000000000000000000" pitchFamily="2" charset="2"/>
              </a:rPr>
              <a:t></a:t>
            </a:r>
            <a:r>
              <a:rPr lang="zh-TW" altLang="en-US" dirty="0">
                <a:sym typeface="Wingdings" panose="05000000000000000000" pitchFamily="2" charset="2"/>
              </a:rPr>
              <a:t>複合基板</a:t>
            </a:r>
            <a:r>
              <a:rPr lang="en-US" altLang="zh-TW" dirty="0">
                <a:sym typeface="Wingdings" panose="05000000000000000000" pitchFamily="2" charset="2"/>
              </a:rPr>
              <a:t>(CEM),</a:t>
            </a:r>
            <a:r>
              <a:rPr lang="zh-TW" altLang="en-US" dirty="0">
                <a:sym typeface="Wingdings" panose="05000000000000000000" pitchFamily="2" charset="2"/>
              </a:rPr>
              <a:t>玻璃纖維</a:t>
            </a:r>
            <a:r>
              <a:rPr lang="en-US" altLang="zh-TW" dirty="0">
                <a:sym typeface="Wingdings" panose="05000000000000000000" pitchFamily="2" charset="2"/>
              </a:rPr>
              <a:t>(FR-4) </a:t>
            </a:r>
            <a:r>
              <a:rPr lang="zh-TW" altLang="zh-TW" sz="1200" b="1" u="none" strike="noStrike" kern="1200" dirty="0">
                <a:solidFill>
                  <a:schemeClr val="tx1"/>
                </a:solidFill>
                <a:effectLst/>
                <a:latin typeface="+mn-lt"/>
                <a:ea typeface="+mn-ea"/>
                <a:cs typeface="+mn-cs"/>
              </a:rPr>
              <a:t>銅箔基板</a:t>
            </a:r>
            <a:r>
              <a:rPr lang="zh-TW" altLang="zh-TW" dirty="0"/>
              <a:t>（Copper Clad Laminate, 簡稱 </a:t>
            </a:r>
            <a:r>
              <a:rPr lang="zh-TW" altLang="zh-TW" sz="1200" b="1" u="none" strike="noStrike" kern="1200" dirty="0">
                <a:solidFill>
                  <a:schemeClr val="tx1"/>
                </a:solidFill>
                <a:effectLst/>
                <a:latin typeface="+mn-lt"/>
                <a:ea typeface="+mn-ea"/>
                <a:cs typeface="+mn-cs"/>
              </a:rPr>
              <a:t>CCL</a:t>
            </a:r>
            <a:r>
              <a:rPr lang="zh-TW" altLang="zh-TW" dirty="0"/>
              <a:t>）</a:t>
            </a:r>
            <a:r>
              <a:rPr lang="en-US" altLang="zh-TW" dirty="0">
                <a:sym typeface="Wingdings" panose="05000000000000000000" pitchFamily="2" charset="2"/>
              </a:rPr>
              <a:t></a:t>
            </a:r>
            <a:r>
              <a:rPr lang="zh-TW" altLang="en-US" dirty="0">
                <a:sym typeface="Wingdings" panose="05000000000000000000" pitchFamily="2" charset="2"/>
              </a:rPr>
              <a:t> </a:t>
            </a:r>
            <a:r>
              <a:rPr lang="en-US" altLang="zh-TW" dirty="0">
                <a:sym typeface="Wingdings" panose="05000000000000000000" pitchFamily="2" charset="2"/>
              </a:rPr>
              <a:t>ABF</a:t>
            </a:r>
            <a:r>
              <a:rPr lang="zh-TW" altLang="en-US" dirty="0">
                <a:sym typeface="Wingdings" panose="05000000000000000000" pitchFamily="2" charset="2"/>
              </a:rPr>
              <a:t>載板</a:t>
            </a:r>
            <a:r>
              <a:rPr lang="en-US" altLang="zh-TW" dirty="0">
                <a:sym typeface="Wingdings" panose="05000000000000000000" pitchFamily="2" charset="2"/>
              </a:rPr>
              <a:t>(</a:t>
            </a:r>
            <a:r>
              <a:rPr lang="zh-TW" altLang="zh-TW" dirty="0"/>
              <a:t>在絕緣層上精準電鍍「長」出線路</a:t>
            </a:r>
            <a:r>
              <a:rPr lang="en-US" altLang="zh-TW" dirty="0"/>
              <a:t>)</a:t>
            </a:r>
            <a:r>
              <a:rPr lang="zh-TW" altLang="en-US" dirty="0"/>
              <a:t> </a:t>
            </a:r>
            <a:r>
              <a:rPr lang="en-US" altLang="zh-TW" dirty="0">
                <a:sym typeface="Wingdings" panose="05000000000000000000" pitchFamily="2" charset="2"/>
              </a:rPr>
              <a:t></a:t>
            </a:r>
            <a:r>
              <a:rPr lang="zh-TW" altLang="zh-TW" dirty="0"/>
              <a:t>「</a:t>
            </a:r>
            <a:r>
              <a:rPr lang="zh-TW" altLang="zh-TW" sz="1200" b="1" u="none" strike="noStrike" kern="1200" dirty="0">
                <a:solidFill>
                  <a:schemeClr val="tx1"/>
                </a:solidFill>
                <a:effectLst/>
                <a:latin typeface="+mn-lt"/>
                <a:ea typeface="+mn-ea"/>
                <a:cs typeface="+mn-cs"/>
              </a:rPr>
              <a:t>玻璃基板（TGV）</a:t>
            </a:r>
            <a:r>
              <a:rPr lang="zh-TW" altLang="zh-TW" dirty="0"/>
              <a:t>」封裝技術</a:t>
            </a:r>
            <a:endParaRPr lang="en-US" altLang="zh-TW" dirty="0"/>
          </a:p>
          <a:p>
            <a:pPr marL="0" marR="0" lvl="0" indent="0" algn="l" defTabSz="914400" rtl="0" eaLnBrk="1" fontAlgn="auto" latinLnBrk="0" hangingPunct="1">
              <a:lnSpc>
                <a:spcPct val="100000"/>
              </a:lnSpc>
              <a:spcBef>
                <a:spcPts val="0"/>
              </a:spcBef>
              <a:spcAft>
                <a:spcPts val="0"/>
              </a:spcAft>
              <a:buClrTx/>
              <a:buSzTx/>
              <a:buFontTx/>
              <a:buNone/>
              <a:tabLst/>
              <a:defRPr/>
            </a:pPr>
            <a:r>
              <a:rPr lang="zh-TW" altLang="zh-TW" sz="1200" b="1" u="none" strike="noStrike" kern="1200" dirty="0">
                <a:solidFill>
                  <a:schemeClr val="tx1"/>
                </a:solidFill>
                <a:effectLst/>
                <a:latin typeface="+mn-lt"/>
                <a:ea typeface="+mn-ea"/>
                <a:cs typeface="+mn-cs"/>
              </a:rPr>
              <a:t>紙質</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易碎、耐熱差</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玻璃纖維</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強韌、耐熱</a:t>
            </a:r>
            <a:r>
              <a:rPr lang="zh-TW" altLang="zh-TW" sz="1200" b="0" u="none" strike="noStrike" kern="1200" dirty="0">
                <a:solidFill>
                  <a:schemeClr val="tx1"/>
                </a:solidFill>
                <a:effectLst/>
                <a:latin typeface="+mn-lt"/>
                <a:ea typeface="+mn-ea"/>
                <a:cs typeface="+mn-cs"/>
              </a:rPr>
              <a:t>)</a:t>
            </a:r>
            <a:r>
              <a:rPr lang="en-US" altLang="zh-TW" sz="1200" b="0"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高階塑膠/樹脂變革</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高速、低損耗</a:t>
            </a:r>
            <a:r>
              <a:rPr lang="en-US" altLang="zh-TW" sz="1200" b="1" u="none" strike="noStrike" kern="1200" dirty="0">
                <a:solidFill>
                  <a:schemeClr val="tx1"/>
                </a:solidFill>
                <a:effectLst/>
                <a:latin typeface="+mn-lt"/>
                <a:ea typeface="+mn-ea"/>
                <a:cs typeface="+mn-cs"/>
              </a:rPr>
              <a:t>)</a:t>
            </a:r>
            <a:r>
              <a:rPr lang="en-US" altLang="zh-TW" sz="1200" b="1" u="none" strike="noStrike" kern="1200" dirty="0">
                <a:solidFill>
                  <a:schemeClr val="tx1"/>
                </a:solidFill>
                <a:effectLst/>
                <a:latin typeface="+mn-lt"/>
                <a:ea typeface="+mn-ea"/>
                <a:cs typeface="+mn-cs"/>
                <a:sym typeface="Wingdings" panose="05000000000000000000" pitchFamily="2" charset="2"/>
              </a:rPr>
              <a:t></a:t>
            </a:r>
            <a:r>
              <a:rPr lang="zh-TW" altLang="zh-TW" sz="1200" b="1" u="none" strike="noStrike" kern="1200" dirty="0">
                <a:solidFill>
                  <a:schemeClr val="tx1"/>
                </a:solidFill>
                <a:effectLst/>
                <a:latin typeface="+mn-lt"/>
                <a:ea typeface="+mn-ea"/>
                <a:cs typeface="+mn-cs"/>
              </a:rPr>
              <a:t>純玻璃</a:t>
            </a:r>
            <a:r>
              <a:rPr lang="en-US" altLang="zh-TW" sz="1200" b="1" u="none" strike="noStrike" kern="1200" dirty="0">
                <a:solidFill>
                  <a:schemeClr val="tx1"/>
                </a:solidFill>
                <a:effectLst/>
                <a:latin typeface="+mn-lt"/>
                <a:ea typeface="+mn-ea"/>
                <a:cs typeface="+mn-cs"/>
              </a:rPr>
              <a:t>(</a:t>
            </a:r>
            <a:r>
              <a:rPr lang="zh-TW" altLang="zh-TW" sz="1200" b="1" u="none" strike="noStrike" kern="1200" dirty="0">
                <a:solidFill>
                  <a:schemeClr val="tx1"/>
                </a:solidFill>
                <a:effectLst/>
                <a:latin typeface="+mn-lt"/>
                <a:ea typeface="+mn-ea"/>
                <a:cs typeface="+mn-cs"/>
              </a:rPr>
              <a:t>極平整、半導體級微細線路</a:t>
            </a:r>
            <a:r>
              <a:rPr lang="en-US" altLang="zh-TW" sz="1200" b="1" u="none" strike="noStrike" kern="1200" dirty="0">
                <a:solidFill>
                  <a:schemeClr val="tx1"/>
                </a:solidFill>
                <a:effectLst/>
                <a:latin typeface="+mn-lt"/>
                <a:ea typeface="+mn-ea"/>
                <a:cs typeface="+mn-cs"/>
              </a:rPr>
              <a:t>)</a:t>
            </a:r>
            <a:endParaRPr lang="zh-TW" altLang="zh-TW" sz="1200" b="0" u="none" strike="noStrike" kern="1200" dirty="0">
              <a:solidFill>
                <a:schemeClr val="tx1"/>
              </a:solidFill>
              <a:effectLst/>
              <a:latin typeface="+mn-lt"/>
              <a:ea typeface="+mn-ea"/>
              <a:cs typeface="+mn-cs"/>
            </a:endParaRPr>
          </a:p>
          <a:p>
            <a:pPr>
              <a:lnSpc>
                <a:spcPts val="1800"/>
              </a:lnSpc>
              <a:spcBef>
                <a:spcPts val="600"/>
              </a:spcBef>
              <a:spcAft>
                <a:spcPts val="600"/>
              </a:spcAft>
              <a:buFont typeface="Arial" panose="020B0604020202020204" pitchFamily="34" charset="0"/>
              <a:buChar char="•"/>
            </a:pPr>
            <a:endParaRPr lang="en-US" altLang="zh-TW" sz="1200" b="0" u="none" strike="noStrike" kern="1200" dirty="0">
              <a:solidFill>
                <a:schemeClr val="tx1"/>
              </a:solidFill>
              <a:effectLst/>
              <a:latin typeface="+mn-lt"/>
              <a:ea typeface="+mn-ea"/>
              <a:cs typeface="+mn-cs"/>
            </a:endParaRPr>
          </a:p>
        </p:txBody>
      </p:sp>
      <p:sp>
        <p:nvSpPr>
          <p:cNvPr id="4" name="投影片編號版面配置區 3">
            <a:extLst>
              <a:ext uri="{FF2B5EF4-FFF2-40B4-BE49-F238E27FC236}">
                <a16:creationId xmlns:a16="http://schemas.microsoft.com/office/drawing/2014/main" id="{37027E21-4B37-188C-8748-204EF3A4848E}"/>
              </a:ext>
            </a:extLst>
          </p:cNvPr>
          <p:cNvSpPr>
            <a:spLocks noGrp="1"/>
          </p:cNvSpPr>
          <p:nvPr>
            <p:ph type="sldNum" sz="quarter" idx="5"/>
          </p:nvPr>
        </p:nvSpPr>
        <p:spPr/>
        <p:txBody>
          <a:bodyPr/>
          <a:lstStyle/>
          <a:p>
            <a:fld id="{E3A6CE5E-F349-486D-8749-82EF2AD71FA8}" type="slidenum">
              <a:rPr lang="zh-TW" altLang="en-US" smtClean="0"/>
              <a:t>19</a:t>
            </a:fld>
            <a:endParaRPr lang="zh-TW" altLang="en-US"/>
          </a:p>
        </p:txBody>
      </p:sp>
    </p:spTree>
    <p:extLst>
      <p:ext uri="{BB962C8B-B14F-4D97-AF65-F5344CB8AC3E}">
        <p14:creationId xmlns:p14="http://schemas.microsoft.com/office/powerpoint/2010/main" val="1017365942"/>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r>
              <a:rPr lang="zh-TW" altLang="en-US" dirty="0"/>
              <a:t>了解硬體結構</a:t>
            </a:r>
            <a:r>
              <a:rPr lang="en-US" altLang="zh-TW" dirty="0"/>
              <a:t>(</a:t>
            </a:r>
            <a:r>
              <a:rPr lang="en-US" altLang="zh-TW" dirty="0" err="1"/>
              <a:t>eBOM</a:t>
            </a:r>
            <a:r>
              <a:rPr lang="en-US" altLang="zh-TW" dirty="0"/>
              <a:t>)</a:t>
            </a:r>
            <a:r>
              <a:rPr lang="zh-TW" altLang="en-US" dirty="0"/>
              <a:t>與跨線</a:t>
            </a:r>
            <a:r>
              <a:rPr lang="en-US" altLang="zh-TW" dirty="0"/>
              <a:t>,</a:t>
            </a:r>
            <a:r>
              <a:rPr lang="zh-TW" altLang="en-US" dirty="0"/>
              <a:t> 散熱問題</a:t>
            </a:r>
            <a:r>
              <a:rPr lang="en-US" altLang="zh-TW" dirty="0"/>
              <a:t>., </a:t>
            </a:r>
            <a:r>
              <a:rPr lang="zh-TW" altLang="en-US" dirty="0"/>
              <a:t>有助於我們了解</a:t>
            </a:r>
            <a:r>
              <a:rPr lang="en-US" altLang="zh-TW" dirty="0"/>
              <a:t>“</a:t>
            </a:r>
            <a:r>
              <a:rPr lang="zh-TW" altLang="en-US" dirty="0"/>
              <a:t>為什麼</a:t>
            </a:r>
            <a:r>
              <a:rPr lang="en-US" altLang="zh-TW" dirty="0"/>
              <a:t>”</a:t>
            </a:r>
            <a:r>
              <a:rPr lang="zh-TW" altLang="en-US" dirty="0"/>
              <a:t>要去降低</a:t>
            </a:r>
            <a:r>
              <a:rPr lang="en-US" altLang="zh-TW" dirty="0"/>
              <a:t>”memory</a:t>
            </a:r>
            <a:r>
              <a:rPr lang="zh-TW" altLang="en-US" dirty="0"/>
              <a:t>要求</a:t>
            </a:r>
            <a:r>
              <a:rPr lang="en-US" altLang="zh-TW" dirty="0"/>
              <a:t>”,</a:t>
            </a:r>
            <a:r>
              <a:rPr lang="zh-TW" altLang="en-US" dirty="0"/>
              <a:t> 減少</a:t>
            </a:r>
            <a:r>
              <a:rPr lang="en-US" altLang="zh-TW" dirty="0"/>
              <a:t>”</a:t>
            </a:r>
            <a:r>
              <a:rPr lang="zh-TW" altLang="en-US" dirty="0"/>
              <a:t>算力浪費</a:t>
            </a:r>
            <a:r>
              <a:rPr lang="en-US" altLang="zh-TW" dirty="0"/>
              <a:t>”,</a:t>
            </a:r>
            <a:r>
              <a:rPr lang="zh-TW" altLang="en-US" dirty="0"/>
              <a:t> </a:t>
            </a:r>
            <a:br>
              <a:rPr lang="en-US" altLang="zh-TW" dirty="0"/>
            </a:br>
            <a:br>
              <a:rPr lang="en-US" altLang="zh-TW" dirty="0"/>
            </a:br>
            <a:r>
              <a:rPr lang="zh-TW" altLang="en-US" dirty="0"/>
              <a:t>發展方向</a:t>
            </a:r>
            <a:r>
              <a:rPr lang="en-US" altLang="zh-TW" dirty="0"/>
              <a:t>:</a:t>
            </a:r>
          </a:p>
          <a:p>
            <a:r>
              <a:rPr lang="zh-TW" altLang="en-US" dirty="0"/>
              <a:t>功能性 </a:t>
            </a:r>
            <a:r>
              <a:rPr lang="en-US" altLang="zh-TW" dirty="0"/>
              <a:t>(AI</a:t>
            </a:r>
            <a:r>
              <a:rPr lang="zh-TW" altLang="en-US" dirty="0"/>
              <a:t> </a:t>
            </a:r>
            <a:r>
              <a:rPr lang="en-US" altLang="zh-TW" dirty="0" err="1"/>
              <a:t>Agetn</a:t>
            </a:r>
            <a:r>
              <a:rPr lang="en-US" altLang="zh-TW" dirty="0"/>
              <a:t> , inference, data analysis … )</a:t>
            </a:r>
            <a:br>
              <a:rPr lang="en-US" altLang="zh-TW" dirty="0"/>
            </a:br>
            <a:r>
              <a:rPr lang="zh-TW" altLang="en-US" dirty="0"/>
              <a:t>便利性</a:t>
            </a:r>
            <a:r>
              <a:rPr lang="en-US" altLang="zh-TW" dirty="0"/>
              <a:t>(</a:t>
            </a:r>
            <a:r>
              <a:rPr lang="zh-TW" altLang="en-US" dirty="0"/>
              <a:t> </a:t>
            </a:r>
            <a:r>
              <a:rPr lang="en-US" altLang="zh-TW" dirty="0"/>
              <a:t>AI</a:t>
            </a:r>
            <a:r>
              <a:rPr lang="zh-TW" altLang="en-US" dirty="0"/>
              <a:t> </a:t>
            </a:r>
            <a:r>
              <a:rPr lang="en-US" altLang="zh-TW" dirty="0"/>
              <a:t>container/</a:t>
            </a:r>
            <a:r>
              <a:rPr lang="zh-TW" altLang="en-US" dirty="0"/>
              <a:t> </a:t>
            </a:r>
            <a:r>
              <a:rPr lang="en-US" altLang="zh-TW" dirty="0"/>
              <a:t>…</a:t>
            </a:r>
            <a:r>
              <a:rPr lang="zh-TW" altLang="en-US" dirty="0"/>
              <a:t> </a:t>
            </a:r>
            <a:r>
              <a:rPr lang="en-US" altLang="zh-TW" dirty="0"/>
              <a:t>)</a:t>
            </a:r>
          </a:p>
          <a:p>
            <a:r>
              <a:rPr lang="zh-TW" altLang="en-US" dirty="0"/>
              <a:t>算法 </a:t>
            </a:r>
            <a:r>
              <a:rPr lang="en-US" altLang="zh-TW" dirty="0"/>
              <a:t>(,</a:t>
            </a:r>
            <a:r>
              <a:rPr lang="zh-TW" altLang="en-US" dirty="0"/>
              <a:t> </a:t>
            </a:r>
            <a:r>
              <a:rPr lang="en-US" altLang="zh-TW" dirty="0"/>
              <a:t>MoE, Dimension, weight, </a:t>
            </a:r>
            <a:r>
              <a:rPr lang="en-US" altLang="zh-TW" dirty="0" err="1"/>
              <a:t>bitNet</a:t>
            </a:r>
            <a:r>
              <a:rPr lang="en-US" altLang="zh-TW" dirty="0"/>
              <a:t> …</a:t>
            </a:r>
            <a:r>
              <a:rPr lang="zh-TW" altLang="en-US" dirty="0"/>
              <a:t> </a:t>
            </a:r>
            <a:r>
              <a:rPr lang="en-US" altLang="zh-TW" dirty="0"/>
              <a:t>)</a:t>
            </a:r>
          </a:p>
          <a:p>
            <a:r>
              <a:rPr lang="zh-TW" altLang="en-US" dirty="0"/>
              <a:t>精度效率</a:t>
            </a:r>
            <a:r>
              <a:rPr lang="en-US" altLang="zh-TW" dirty="0"/>
              <a:t>(</a:t>
            </a:r>
            <a:r>
              <a:rPr lang="zh-TW" altLang="en-US" dirty="0"/>
              <a:t>蒸餾權重</a:t>
            </a:r>
            <a:r>
              <a:rPr lang="en-US" altLang="zh-TW" dirty="0"/>
              <a:t>,</a:t>
            </a:r>
            <a:r>
              <a:rPr lang="zh-TW" altLang="en-US" dirty="0"/>
              <a:t> 降低位元</a:t>
            </a:r>
            <a:r>
              <a:rPr lang="en-US" altLang="zh-TW" dirty="0"/>
              <a:t>, </a:t>
            </a:r>
            <a:r>
              <a:rPr lang="en-US" altLang="zh-TW" dirty="0" err="1"/>
              <a:t>bitNet</a:t>
            </a:r>
            <a:r>
              <a:rPr lang="en-US" altLang="zh-TW" dirty="0"/>
              <a:t>)</a:t>
            </a:r>
          </a:p>
          <a:p>
            <a:r>
              <a:rPr lang="zh-TW" altLang="en-US" dirty="0"/>
              <a:t>算力</a:t>
            </a:r>
            <a:r>
              <a:rPr lang="en-US" altLang="zh-TW" dirty="0"/>
              <a:t>(GPU, Memory, HBM3e, HBM4, CPO,</a:t>
            </a:r>
            <a:r>
              <a:rPr lang="zh-TW" altLang="en-US" dirty="0"/>
              <a:t> </a:t>
            </a:r>
            <a:r>
              <a:rPr lang="en-US" altLang="zh-TW" dirty="0"/>
              <a:t>WSE</a:t>
            </a:r>
            <a:r>
              <a:rPr lang="zh-TW" altLang="en-US" dirty="0"/>
              <a:t> </a:t>
            </a:r>
            <a:r>
              <a:rPr lang="en-US" altLang="zh-TW" dirty="0"/>
              <a:t>…</a:t>
            </a:r>
            <a:r>
              <a:rPr lang="zh-TW" altLang="en-US" dirty="0"/>
              <a:t> </a:t>
            </a:r>
            <a:r>
              <a:rPr lang="en-US" altLang="zh-TW" dirty="0"/>
              <a:t>)</a:t>
            </a:r>
          </a:p>
          <a:p>
            <a:r>
              <a:rPr lang="zh-TW" altLang="en-US" dirty="0"/>
              <a:t>散熱</a:t>
            </a:r>
            <a:r>
              <a:rPr lang="en-US" altLang="zh-TW" dirty="0"/>
              <a:t>/</a:t>
            </a:r>
            <a:r>
              <a:rPr lang="zh-TW" altLang="en-US" dirty="0"/>
              <a:t>冷卻方案 </a:t>
            </a:r>
            <a:r>
              <a:rPr lang="en-US" altLang="zh-TW" dirty="0"/>
              <a:t>(</a:t>
            </a:r>
            <a:r>
              <a:rPr lang="zh-TW" altLang="en-US" dirty="0"/>
              <a:t> </a:t>
            </a:r>
            <a:r>
              <a:rPr lang="en-US" altLang="zh-TW" dirty="0"/>
              <a:t>):</a:t>
            </a:r>
          </a:p>
          <a:p>
            <a:r>
              <a:rPr lang="zh-TW" altLang="en-US" dirty="0"/>
              <a:t>供電技術</a:t>
            </a:r>
            <a:r>
              <a:rPr lang="en-US" altLang="zh-TW" dirty="0"/>
              <a:t>:</a:t>
            </a:r>
          </a:p>
          <a:p>
            <a:endParaRPr lang="en-US" altLang="zh-TW" dirty="0"/>
          </a:p>
          <a:p>
            <a:r>
              <a:rPr lang="zh-TW" altLang="zh-TW" dirty="0"/>
              <a:t>BitNet 與 1.58 (常稱為 BitNet b1.58) 的關聯在於，</a:t>
            </a:r>
            <a:r>
              <a:rPr lang="zh-TW" altLang="zh-TW" sz="1200" b="1" u="none" strike="noStrike" kern="1200" dirty="0">
                <a:solidFill>
                  <a:schemeClr val="tx1"/>
                </a:solidFill>
                <a:effectLst/>
                <a:latin typeface="+mn-lt"/>
                <a:ea typeface="+mn-ea"/>
                <a:cs typeface="+mn-cs"/>
              </a:rPr>
              <a:t>1.58 bit 是 BitNet 架構的一種革命性參數量化方式</a:t>
            </a:r>
            <a:r>
              <a:rPr lang="zh-TW" altLang="zh-TW" dirty="0"/>
              <a:t>。微軟研究團隊提出的 </a:t>
            </a:r>
            <a:r>
              <a:rPr lang="zh-TW" altLang="zh-TW" sz="1200" b="1" u="none" strike="noStrike" kern="1200" dirty="0">
                <a:solidFill>
                  <a:schemeClr val="tx1"/>
                </a:solidFill>
                <a:effectLst/>
                <a:latin typeface="+mn-lt"/>
                <a:ea typeface="+mn-ea"/>
                <a:cs typeface="+mn-cs"/>
              </a:rPr>
              <a:t>BitNet</a:t>
            </a:r>
            <a:r>
              <a:rPr lang="zh-TW" altLang="zh-TW" dirty="0"/>
              <a:t> 是一種「1位元（1-bit）大型語言模型」，而 </a:t>
            </a:r>
            <a:r>
              <a:rPr lang="zh-TW" altLang="zh-TW" sz="1200" b="1" u="none" strike="noStrike" kern="1200" dirty="0">
                <a:solidFill>
                  <a:schemeClr val="tx1"/>
                </a:solidFill>
                <a:effectLst/>
                <a:latin typeface="+mn-lt"/>
                <a:ea typeface="+mn-ea"/>
                <a:cs typeface="+mn-cs"/>
              </a:rPr>
              <a:t>1.58 bits</a:t>
            </a:r>
            <a:r>
              <a:rPr lang="zh-TW" altLang="zh-TW" sz="1200" b="0" u="none" strike="noStrike" kern="1200" dirty="0">
                <a:solidFill>
                  <a:schemeClr val="tx1"/>
                </a:solidFill>
                <a:effectLst/>
                <a:latin typeface="+mn-lt"/>
                <a:ea typeface="+mn-ea"/>
                <a:cs typeface="+mn-cs"/>
              </a:rPr>
              <a:t> 則是將其從二值（僅 -1 和 1）升級為</a:t>
            </a:r>
            <a:r>
              <a:rPr lang="zh-TW" altLang="zh-TW" sz="1200" b="1" u="none" strike="noStrike" kern="1200" dirty="0">
                <a:solidFill>
                  <a:schemeClr val="tx1"/>
                </a:solidFill>
                <a:effectLst/>
                <a:latin typeface="+mn-lt"/>
                <a:ea typeface="+mn-ea"/>
                <a:cs typeface="+mn-cs"/>
              </a:rPr>
              <a:t>三元數值（-1, 0, 1）</a:t>
            </a:r>
            <a:r>
              <a:rPr lang="zh-TW" altLang="zh-TW" sz="1200" b="0" u="none" strike="noStrike" kern="1200" dirty="0">
                <a:solidFill>
                  <a:schemeClr val="tx1"/>
                </a:solidFill>
                <a:effectLst/>
                <a:latin typeface="+mn-lt"/>
                <a:ea typeface="+mn-ea"/>
                <a:cs typeface="+mn-cs"/>
              </a:rPr>
              <a:t>的具體架構名稱</a:t>
            </a:r>
            <a:r>
              <a:rPr lang="zh-TW" altLang="zh-TW" dirty="0"/>
              <a:t>。</a:t>
            </a:r>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20</a:t>
            </a:fld>
            <a:endParaRPr lang="zh-TW" altLang="en-US"/>
          </a:p>
        </p:txBody>
      </p:sp>
    </p:spTree>
    <p:extLst>
      <p:ext uri="{BB962C8B-B14F-4D97-AF65-F5344CB8AC3E}">
        <p14:creationId xmlns:p14="http://schemas.microsoft.com/office/powerpoint/2010/main" val="110950466"/>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22</a:t>
            </a:fld>
            <a:endParaRPr lang="zh-TW" altLang="en-US"/>
          </a:p>
        </p:txBody>
      </p:sp>
    </p:spTree>
    <p:extLst>
      <p:ext uri="{BB962C8B-B14F-4D97-AF65-F5344CB8AC3E}">
        <p14:creationId xmlns:p14="http://schemas.microsoft.com/office/powerpoint/2010/main" val="160254737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23</a:t>
            </a:fld>
            <a:endParaRPr lang="zh-TW" altLang="en-US"/>
          </a:p>
        </p:txBody>
      </p:sp>
    </p:spTree>
    <p:extLst>
      <p:ext uri="{BB962C8B-B14F-4D97-AF65-F5344CB8AC3E}">
        <p14:creationId xmlns:p14="http://schemas.microsoft.com/office/powerpoint/2010/main" val="4225120249"/>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pPr>
              <a:buNone/>
            </a:pPr>
            <a:r>
              <a:rPr lang="zh-TW" altLang="en-US" sz="1400" dirty="0">
                <a:effectLst/>
                <a:latin typeface="Microsoft JhengHei UI" panose="020B0604030504040204" pitchFamily="34" charset="-120"/>
                <a:ea typeface="Microsoft JhengHei UI" panose="020B0604030504040204" pitchFamily="34" charset="-120"/>
              </a:rPr>
              <a:t>一、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晶片的硬體成本結構（</a:t>
            </a:r>
            <a:r>
              <a:rPr lang="en-US" altLang="zh-TW" sz="1400" dirty="0">
                <a:effectLst/>
                <a:latin typeface="Microsoft JhengHei UI" panose="020B0604030504040204" pitchFamily="34" charset="-120"/>
                <a:ea typeface="Microsoft JhengHei UI" panose="020B0604030504040204" pitchFamily="34" charset="-120"/>
              </a:rPr>
              <a:t>BOM </a:t>
            </a:r>
            <a:r>
              <a:rPr lang="zh-TW" altLang="en-US" sz="1400" dirty="0">
                <a:effectLst/>
                <a:latin typeface="Microsoft JhengHei UI" panose="020B0604030504040204" pitchFamily="34" charset="-120"/>
                <a:ea typeface="Microsoft JhengHei UI" panose="020B0604030504040204" pitchFamily="34" charset="-120"/>
              </a:rPr>
              <a:t>結構）</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晶片通常以 </a:t>
            </a:r>
            <a:r>
              <a:rPr lang="en-US" altLang="zh-TW" sz="1400" dirty="0">
                <a:effectLst/>
                <a:latin typeface="Microsoft JhengHei UI" panose="020B0604030504040204" pitchFamily="34" charset="-120"/>
                <a:ea typeface="Microsoft JhengHei UI" panose="020B0604030504040204" pitchFamily="34" charset="-120"/>
              </a:rPr>
              <a:t>SoC</a:t>
            </a:r>
            <a:r>
              <a:rPr lang="zh-TW" altLang="en-US" sz="1400" dirty="0">
                <a:effectLst/>
                <a:latin typeface="Microsoft JhengHei UI" panose="020B0604030504040204" pitchFamily="34" charset="-120"/>
                <a:ea typeface="Microsoft JhengHei UI" panose="020B0604030504040204" pitchFamily="34" charset="-120"/>
              </a:rPr>
              <a:t>（系統單晶片） 或 </a:t>
            </a:r>
            <a:r>
              <a:rPr lang="en-US" altLang="zh-TW" sz="1400" dirty="0">
                <a:effectLst/>
                <a:latin typeface="Microsoft JhengHei UI" panose="020B0604030504040204" pitchFamily="34" charset="-120"/>
                <a:ea typeface="Microsoft JhengHei UI" panose="020B0604030504040204" pitchFamily="34" charset="-120"/>
              </a:rPr>
              <a:t>Chiplet</a:t>
            </a:r>
            <a:r>
              <a:rPr lang="zh-TW" altLang="en-US" sz="1400" dirty="0">
                <a:effectLst/>
                <a:latin typeface="Microsoft JhengHei UI" panose="020B0604030504040204" pitchFamily="34" charset="-120"/>
                <a:ea typeface="Microsoft JhengHei UI" panose="020B0604030504040204" pitchFamily="34" charset="-120"/>
              </a:rPr>
              <a:t>（小晶片封裝） 的形式存在。一顆 </a:t>
            </a:r>
            <a:r>
              <a:rPr lang="en-US" altLang="zh-TW" sz="1400" dirty="0">
                <a:effectLst/>
                <a:latin typeface="Microsoft JhengHei UI" panose="020B0604030504040204" pitchFamily="34" charset="-120"/>
                <a:ea typeface="Microsoft JhengHei UI" panose="020B0604030504040204" pitchFamily="34" charset="-120"/>
              </a:rPr>
              <a:t>Edge AI </a:t>
            </a:r>
            <a:r>
              <a:rPr lang="zh-TW" altLang="en-US" sz="1400" dirty="0">
                <a:effectLst/>
                <a:latin typeface="Microsoft JhengHei UI" panose="020B0604030504040204" pitchFamily="34" charset="-120"/>
                <a:ea typeface="Microsoft JhengHei UI" panose="020B0604030504040204" pitchFamily="34" charset="-120"/>
              </a:rPr>
              <a:t>晶片的硬體製造總成本，主要由以下四大核心區塊組成： </a:t>
            </a:r>
            <a:br>
              <a:rPr lang="zh-TW" altLang="en-US" sz="1400" dirty="0">
                <a:effectLst/>
                <a:latin typeface="Microsoft JhengHei UI" panose="020B0604030504040204" pitchFamily="34" charset="-120"/>
                <a:ea typeface="Microsoft JhengHei UI" panose="020B0604030504040204" pitchFamily="34" charset="-120"/>
              </a:rPr>
            </a:b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成本組成項目估計佔比核心說明與成本驅動因子</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邏輯晶圓（</a:t>
            </a:r>
            <a:r>
              <a:rPr lang="en-US" altLang="zh-TW" sz="1400" dirty="0">
                <a:effectLst/>
                <a:latin typeface="Microsoft JhengHei UI" panose="020B0604030504040204" pitchFamily="34" charset="-120"/>
                <a:ea typeface="Microsoft JhengHei UI" panose="020B0604030504040204" pitchFamily="34" charset="-120"/>
              </a:rPr>
              <a:t>Logic Die</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35% - 45%: </a:t>
            </a:r>
            <a:r>
              <a:rPr lang="zh-TW" altLang="en-US" sz="1400" dirty="0">
                <a:effectLst/>
                <a:latin typeface="Microsoft JhengHei UI" panose="020B0604030504040204" pitchFamily="34" charset="-120"/>
                <a:ea typeface="Microsoft JhengHei UI" panose="020B0604030504040204" pitchFamily="34" charset="-120"/>
              </a:rPr>
              <a:t>包含 </a:t>
            </a:r>
            <a:r>
              <a:rPr lang="en-US" altLang="zh-TW" sz="1400" dirty="0">
                <a:effectLst/>
                <a:latin typeface="Microsoft JhengHei UI" panose="020B0604030504040204" pitchFamily="34" charset="-120"/>
                <a:ea typeface="Microsoft JhengHei UI" panose="020B0604030504040204" pitchFamily="34" charset="-120"/>
              </a:rPr>
              <a:t>CPU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GPU</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DSP </a:t>
            </a:r>
            <a:r>
              <a:rPr lang="zh-TW" altLang="en-US" sz="1400" dirty="0">
                <a:effectLst/>
                <a:latin typeface="Microsoft JhengHei UI" panose="020B0604030504040204" pitchFamily="34" charset="-120"/>
                <a:ea typeface="Microsoft JhengHei UI" panose="020B0604030504040204" pitchFamily="34" charset="-120"/>
              </a:rPr>
              <a:t>以及核心的 </a:t>
            </a:r>
            <a:r>
              <a:rPr lang="en-US" altLang="zh-TW" sz="1400" dirty="0">
                <a:effectLst/>
                <a:latin typeface="Microsoft JhengHei UI" panose="020B0604030504040204" pitchFamily="34" charset="-120"/>
                <a:ea typeface="Microsoft JhengHei UI" panose="020B0604030504040204" pitchFamily="34" charset="-120"/>
              </a:rPr>
              <a:t>NPU</a:t>
            </a:r>
            <a:r>
              <a:rPr lang="zh-TW" altLang="en-US" sz="1400" dirty="0">
                <a:effectLst/>
                <a:latin typeface="Microsoft JhengHei UI" panose="020B0604030504040204" pitchFamily="34" charset="-120"/>
                <a:ea typeface="Microsoft JhengHei UI" panose="020B0604030504040204" pitchFamily="34" charset="-120"/>
              </a:rPr>
              <a:t>（神經處理單元）。成本取決於製程節點（多採用成本良率平衡的 </a:t>
            </a:r>
            <a:r>
              <a:rPr lang="en-US" altLang="zh-TW" sz="1400" dirty="0">
                <a:effectLst/>
                <a:latin typeface="Microsoft JhengHei UI" panose="020B0604030504040204" pitchFamily="34" charset="-120"/>
                <a:ea typeface="Microsoft JhengHei UI" panose="020B0604030504040204" pitchFamily="34" charset="-120"/>
              </a:rPr>
              <a:t>12nm / 16nm / 28nm </a:t>
            </a:r>
            <a:r>
              <a:rPr lang="zh-TW" altLang="en-US" sz="1400" dirty="0">
                <a:effectLst/>
                <a:latin typeface="Microsoft JhengHei UI" panose="020B0604030504040204" pitchFamily="34" charset="-120"/>
                <a:ea typeface="Microsoft JhengHei UI" panose="020B0604030504040204" pitchFamily="34" charset="-120"/>
              </a:rPr>
              <a:t>晶圓；高階如智慧手機與自駕車則會用到 </a:t>
            </a:r>
            <a:r>
              <a:rPr lang="en-US" altLang="zh-TW" sz="1400" dirty="0">
                <a:effectLst/>
                <a:latin typeface="Microsoft JhengHei UI" panose="020B0604030504040204" pitchFamily="34" charset="-120"/>
                <a:ea typeface="Microsoft JhengHei UI" panose="020B0604030504040204" pitchFamily="34" charset="-120"/>
              </a:rPr>
              <a:t>3nm / 5nm / 7nm</a:t>
            </a:r>
            <a:r>
              <a:rPr lang="zh-TW" altLang="en-US" sz="1400" dirty="0">
                <a:effectLst/>
                <a:latin typeface="Microsoft JhengHei UI" panose="020B0604030504040204" pitchFamily="34" charset="-120"/>
                <a:ea typeface="Microsoft JhengHei UI" panose="020B0604030504040204" pitchFamily="34" charset="-120"/>
              </a:rPr>
              <a:t>）。</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記憶體（</a:t>
            </a:r>
            <a:r>
              <a:rPr lang="en-US" altLang="zh-TW" sz="1400" dirty="0">
                <a:effectLst/>
                <a:latin typeface="Microsoft JhengHei UI" panose="020B0604030504040204" pitchFamily="34" charset="-120"/>
                <a:ea typeface="Microsoft JhengHei UI" panose="020B0604030504040204" pitchFamily="34" charset="-120"/>
              </a:rPr>
              <a:t>Memory</a:t>
            </a:r>
            <a:r>
              <a:rPr lang="zh-TW" altLang="en-US" sz="1400" dirty="0">
                <a:effectLst/>
                <a:latin typeface="Microsoft JhengHei UI" panose="020B0604030504040204" pitchFamily="34" charset="-120"/>
                <a:ea typeface="Microsoft JhengHei UI" panose="020B0604030504040204" pitchFamily="34" charset="-120"/>
              </a:rPr>
              <a:t>）</a:t>
            </a:r>
            <a:r>
              <a:rPr lang="en-US" altLang="zh-TW" sz="1400" dirty="0">
                <a:effectLst/>
                <a:latin typeface="Microsoft JhengHei UI" panose="020B0604030504040204" pitchFamily="34" charset="-120"/>
                <a:ea typeface="Microsoft JhengHei UI" panose="020B0604030504040204" pitchFamily="34" charset="-120"/>
              </a:rPr>
              <a:t>25% - 35%AI </a:t>
            </a:r>
            <a:r>
              <a:rPr lang="zh-TW" altLang="en-US" sz="1400" dirty="0">
                <a:effectLst/>
                <a:latin typeface="Microsoft JhengHei UI" panose="020B0604030504040204" pitchFamily="34" charset="-120"/>
                <a:ea typeface="Microsoft JhengHei UI" panose="020B0604030504040204" pitchFamily="34" charset="-120"/>
              </a:rPr>
              <a:t>運算需要極大頻寬。低成本方案採用內建 </a:t>
            </a:r>
            <a:r>
              <a:rPr lang="en-US" altLang="zh-TW" sz="1400" dirty="0">
                <a:effectLst/>
                <a:latin typeface="Microsoft JhengHei UI" panose="020B0604030504040204" pitchFamily="34" charset="-120"/>
                <a:ea typeface="Microsoft JhengHei UI" panose="020B0604030504040204" pitchFamily="34" charset="-120"/>
              </a:rPr>
              <a:t>SRAM </a:t>
            </a:r>
            <a:r>
              <a:rPr lang="zh-TW" altLang="en-US" sz="1400" dirty="0">
                <a:effectLst/>
                <a:latin typeface="Microsoft JhengHei UI" panose="020B0604030504040204" pitchFamily="34" charset="-120"/>
                <a:ea typeface="Microsoft JhengHei UI" panose="020B0604030504040204" pitchFamily="34" charset="-120"/>
              </a:rPr>
              <a:t>或外掛 </a:t>
            </a:r>
            <a:r>
              <a:rPr lang="en-US" altLang="zh-TW" sz="1400" dirty="0">
                <a:effectLst/>
                <a:latin typeface="Microsoft JhengHei UI" panose="020B0604030504040204" pitchFamily="34" charset="-120"/>
                <a:ea typeface="Microsoft JhengHei UI" panose="020B0604030504040204" pitchFamily="34" charset="-120"/>
              </a:rPr>
              <a:t>LPDDR5/DDR4</a:t>
            </a:r>
            <a:r>
              <a:rPr lang="zh-TW" altLang="en-US" sz="1400" dirty="0">
                <a:effectLst/>
                <a:latin typeface="Microsoft JhengHei UI" panose="020B0604030504040204" pitchFamily="34" charset="-120"/>
                <a:ea typeface="Microsoft JhengHei UI" panose="020B0604030504040204" pitchFamily="34" charset="-120"/>
              </a:rPr>
              <a:t>；高階高頻寬方案（如高階自駕車 </a:t>
            </a:r>
            <a:r>
              <a:rPr lang="en-US" altLang="zh-TW" sz="1400" dirty="0">
                <a:effectLst/>
                <a:latin typeface="Microsoft JhengHei UI" panose="020B0604030504040204" pitchFamily="34" charset="-120"/>
                <a:ea typeface="Microsoft JhengHei UI" panose="020B0604030504040204" pitchFamily="34" charset="-120"/>
              </a:rPr>
              <a:t>ADAS</a:t>
            </a:r>
            <a:r>
              <a:rPr lang="zh-TW" altLang="en-US" sz="1400" dirty="0">
                <a:effectLst/>
                <a:latin typeface="Microsoft JhengHei UI" panose="020B0604030504040204" pitchFamily="34" charset="-120"/>
                <a:ea typeface="Microsoft JhengHei UI" panose="020B0604030504040204" pitchFamily="34" charset="-120"/>
              </a:rPr>
              <a:t>、邊緣生成式 </a:t>
            </a:r>
            <a:r>
              <a:rPr lang="en-US" altLang="zh-TW" sz="1400" dirty="0">
                <a:effectLst/>
                <a:latin typeface="Microsoft JhengHei UI" panose="020B0604030504040204" pitchFamily="34" charset="-120"/>
                <a:ea typeface="Microsoft JhengHei UI" panose="020B0604030504040204" pitchFamily="34" charset="-120"/>
              </a:rPr>
              <a:t>AI</a:t>
            </a:r>
            <a:r>
              <a:rPr lang="zh-TW" altLang="en-US" sz="1400" dirty="0">
                <a:effectLst/>
                <a:latin typeface="Microsoft JhengHei UI" panose="020B0604030504040204" pitchFamily="34" charset="-120"/>
                <a:ea typeface="Microsoft JhengHei UI" panose="020B0604030504040204" pitchFamily="34" charset="-120"/>
              </a:rPr>
              <a:t>）則會導入 </a:t>
            </a:r>
            <a:r>
              <a:rPr lang="en-US" altLang="zh-TW" sz="1400" dirty="0">
                <a:effectLst/>
                <a:latin typeface="Microsoft JhengHei UI" panose="020B0604030504040204" pitchFamily="34" charset="-120"/>
                <a:ea typeface="Microsoft JhengHei UI" panose="020B0604030504040204" pitchFamily="34" charset="-120"/>
              </a:rPr>
              <a:t>HBM2e/HBM3 </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3D PIM</a:t>
            </a:r>
            <a:r>
              <a:rPr lang="zh-TW" altLang="en-US" sz="1400" dirty="0">
                <a:effectLst/>
                <a:latin typeface="Microsoft JhengHei UI" panose="020B0604030504040204" pitchFamily="34" charset="-120"/>
                <a:ea typeface="Microsoft JhengHei UI" panose="020B0604030504040204" pitchFamily="34" charset="-120"/>
              </a:rPr>
              <a:t>（記憶體內運算），此時記憶體成本會大幅飆升。</a:t>
            </a:r>
            <a:br>
              <a:rPr lang="zh-TW" altLang="en-US" sz="1400" dirty="0">
                <a:effectLst/>
                <a:latin typeface="Microsoft JhengHei UI" panose="020B0604030504040204" pitchFamily="34" charset="-120"/>
                <a:ea typeface="Microsoft JhengHei UI" panose="020B0604030504040204" pitchFamily="34" charset="-120"/>
              </a:rPr>
            </a:br>
            <a:r>
              <a:rPr lang="zh-TW" altLang="en-US" sz="1400" dirty="0">
                <a:effectLst/>
                <a:latin typeface="Microsoft JhengHei UI" panose="020B0604030504040204" pitchFamily="34" charset="-120"/>
                <a:ea typeface="Microsoft JhengHei UI" panose="020B0604030504040204" pitchFamily="34" charset="-120"/>
              </a:rPr>
              <a:t>先進封裝與測試</a:t>
            </a:r>
            <a:r>
              <a:rPr lang="en-US" altLang="zh-TW" sz="1400" dirty="0">
                <a:effectLst/>
                <a:latin typeface="Microsoft JhengHei UI" panose="020B0604030504040204" pitchFamily="34" charset="-120"/>
                <a:ea typeface="Microsoft JhengHei UI" panose="020B0604030504040204" pitchFamily="34" charset="-120"/>
              </a:rPr>
              <a:t>15% - 25%</a:t>
            </a:r>
            <a:r>
              <a:rPr lang="zh-TW" altLang="en-US" sz="1400" dirty="0">
                <a:effectLst/>
                <a:latin typeface="Microsoft JhengHei UI" panose="020B0604030504040204" pitchFamily="34" charset="-120"/>
                <a:ea typeface="Microsoft JhengHei UI" panose="020B0604030504040204" pitchFamily="34" charset="-120"/>
              </a:rPr>
              <a:t>晶片測試（包含汽車級 </a:t>
            </a:r>
            <a:r>
              <a:rPr lang="en-US" altLang="zh-TW" sz="1400" dirty="0">
                <a:effectLst/>
                <a:latin typeface="Microsoft JhengHei UI" panose="020B0604030504040204" pitchFamily="34" charset="-120"/>
                <a:ea typeface="Microsoft JhengHei UI" panose="020B0604030504040204" pitchFamily="34" charset="-120"/>
              </a:rPr>
              <a:t>ISO 26262 </a:t>
            </a:r>
            <a:r>
              <a:rPr lang="zh-TW" altLang="en-US" sz="1400" dirty="0">
                <a:effectLst/>
                <a:latin typeface="Microsoft JhengHei UI" panose="020B0604030504040204" pitchFamily="34" charset="-120"/>
                <a:ea typeface="Microsoft JhengHei UI" panose="020B0604030504040204" pitchFamily="34" charset="-120"/>
              </a:rPr>
              <a:t>驗證加價 </a:t>
            </a:r>
            <a:r>
              <a:rPr lang="en-US" altLang="zh-TW" sz="1400" dirty="0">
                <a:effectLst/>
                <a:latin typeface="Microsoft JhengHei UI" panose="020B0604030504040204" pitchFamily="34" charset="-120"/>
                <a:ea typeface="Microsoft JhengHei UI" panose="020B0604030504040204" pitchFamily="34" charset="-120"/>
              </a:rPr>
              <a:t>10%-25%</a:t>
            </a:r>
            <a:r>
              <a:rPr lang="zh-TW" altLang="en-US" sz="1400" dirty="0">
                <a:effectLst/>
                <a:latin typeface="Microsoft JhengHei UI" panose="020B0604030504040204" pitchFamily="34" charset="-120"/>
                <a:ea typeface="Microsoft JhengHei UI" panose="020B0604030504040204" pitchFamily="34" charset="-120"/>
              </a:rPr>
              <a:t>） 以及封裝技術（如 </a:t>
            </a:r>
            <a:r>
              <a:rPr lang="en-US" altLang="zh-TW" sz="1400" dirty="0">
                <a:effectLst/>
                <a:latin typeface="Microsoft JhengHei UI" panose="020B0604030504040204" pitchFamily="34" charset="-120"/>
                <a:ea typeface="Microsoft JhengHei UI" panose="020B0604030504040204" pitchFamily="34" charset="-120"/>
              </a:rPr>
              <a:t>SiP </a:t>
            </a:r>
            <a:r>
              <a:rPr lang="zh-TW" altLang="en-US" sz="1400" dirty="0">
                <a:effectLst/>
                <a:latin typeface="Microsoft JhengHei UI" panose="020B0604030504040204" pitchFamily="34" charset="-120"/>
                <a:ea typeface="Microsoft JhengHei UI" panose="020B0604030504040204" pitchFamily="34" charset="-120"/>
              </a:rPr>
              <a:t>系統級封裝、或是 </a:t>
            </a:r>
            <a:r>
              <a:rPr lang="en-US" altLang="zh-TW" sz="1400" dirty="0">
                <a:effectLst/>
                <a:latin typeface="Microsoft JhengHei UI" panose="020B0604030504040204" pitchFamily="34" charset="-120"/>
                <a:ea typeface="Microsoft JhengHei UI" panose="020B0604030504040204" pitchFamily="34" charset="-120"/>
              </a:rPr>
              <a:t>3D </a:t>
            </a:r>
            <a:r>
              <a:rPr lang="zh-TW" altLang="en-US" sz="1400" dirty="0">
                <a:effectLst/>
                <a:latin typeface="Microsoft JhengHei UI" panose="020B0604030504040204" pitchFamily="34" charset="-120"/>
                <a:ea typeface="Microsoft JhengHei UI" panose="020B0604030504040204" pitchFamily="34" charset="-120"/>
              </a:rPr>
              <a:t>堆疊</a:t>
            </a:r>
            <a:r>
              <a:rPr lang="en-US" altLang="zh-TW" sz="1400" dirty="0">
                <a:effectLst/>
                <a:latin typeface="Microsoft JhengHei UI" panose="020B0604030504040204" pitchFamily="34" charset="-120"/>
                <a:ea typeface="Microsoft JhengHei UI" panose="020B0604030504040204" pitchFamily="34" charset="-120"/>
              </a:rPr>
              <a:t>/TSV </a:t>
            </a:r>
            <a:r>
              <a:rPr lang="zh-TW" altLang="en-US" sz="1400" dirty="0">
                <a:effectLst/>
                <a:latin typeface="Microsoft JhengHei UI" panose="020B0604030504040204" pitchFamily="34" charset="-120"/>
                <a:ea typeface="Microsoft JhengHei UI" panose="020B0604030504040204" pitchFamily="34" charset="-120"/>
              </a:rPr>
              <a:t>矽穿孔技術，這會視封裝複雜度增加 </a:t>
            </a:r>
            <a:r>
              <a:rPr lang="en-US" altLang="zh-TW" sz="1400" dirty="0">
                <a:effectLst/>
                <a:latin typeface="Microsoft JhengHei UI" panose="020B0604030504040204" pitchFamily="34" charset="-120"/>
                <a:ea typeface="Microsoft JhengHei UI" panose="020B0604030504040204" pitchFamily="34" charset="-120"/>
              </a:rPr>
              <a:t>50–100 </a:t>
            </a:r>
            <a:r>
              <a:rPr lang="zh-TW" altLang="en-US" sz="1400" dirty="0">
                <a:effectLst/>
                <a:latin typeface="Microsoft JhengHei UI" panose="020B0604030504040204" pitchFamily="34" charset="-120"/>
                <a:ea typeface="Microsoft JhengHei UI" panose="020B0604030504040204" pitchFamily="34" charset="-120"/>
              </a:rPr>
              <a:t>美元不等的成本）。</a:t>
            </a:r>
            <a:br>
              <a:rPr lang="zh-TW" altLang="en-US" sz="1400" dirty="0">
                <a:effectLst/>
                <a:latin typeface="Microsoft JhengHei UI" panose="020B0604030504040204" pitchFamily="34" charset="-120"/>
                <a:ea typeface="Microsoft JhengHei UI" panose="020B0604030504040204" pitchFamily="34" charset="-120"/>
              </a:rPr>
            </a:br>
            <a:r>
              <a:rPr lang="en-US" altLang="zh-TW" sz="1400" dirty="0">
                <a:effectLst/>
                <a:latin typeface="Microsoft JhengHei UI" panose="020B0604030504040204" pitchFamily="34" charset="-120"/>
                <a:ea typeface="Microsoft JhengHei UI" panose="020B0604030504040204" pitchFamily="34" charset="-120"/>
              </a:rPr>
              <a:t>IP </a:t>
            </a:r>
            <a:r>
              <a:rPr lang="zh-TW" altLang="en-US" sz="1400" dirty="0">
                <a:effectLst/>
                <a:latin typeface="Microsoft JhengHei UI" panose="020B0604030504040204" pitchFamily="34" charset="-120"/>
                <a:ea typeface="Microsoft JhengHei UI" panose="020B0604030504040204" pitchFamily="34" charset="-120"/>
              </a:rPr>
              <a:t>授權與權利金</a:t>
            </a:r>
            <a:r>
              <a:rPr lang="en-US" altLang="zh-TW" sz="1400" dirty="0">
                <a:effectLst/>
                <a:latin typeface="Microsoft JhengHei UI" panose="020B0604030504040204" pitchFamily="34" charset="-120"/>
                <a:ea typeface="Microsoft JhengHei UI" panose="020B0604030504040204" pitchFamily="34" charset="-120"/>
              </a:rPr>
              <a:t>5% - 10%</a:t>
            </a:r>
            <a:r>
              <a:rPr lang="zh-TW" altLang="en-US" sz="1400" dirty="0">
                <a:effectLst/>
                <a:latin typeface="Microsoft JhengHei UI" panose="020B0604030504040204" pitchFamily="34" charset="-120"/>
                <a:ea typeface="Microsoft JhengHei UI" panose="020B0604030504040204" pitchFamily="34" charset="-120"/>
              </a:rPr>
              <a:t>晶片內部的架構多非全自研。例如向 </a:t>
            </a:r>
            <a:r>
              <a:rPr lang="en-US" altLang="zh-TW" sz="1400" dirty="0">
                <a:effectLst/>
                <a:latin typeface="Microsoft JhengHei UI" panose="020B0604030504040204" pitchFamily="34" charset="-120"/>
                <a:ea typeface="Microsoft JhengHei UI" panose="020B0604030504040204" pitchFamily="34" charset="-120"/>
              </a:rPr>
              <a:t>Arm </a:t>
            </a:r>
            <a:r>
              <a:rPr lang="zh-TW" altLang="en-US" sz="1400" dirty="0">
                <a:effectLst/>
                <a:latin typeface="Microsoft JhengHei UI" panose="020B0604030504040204" pitchFamily="34" charset="-120"/>
                <a:ea typeface="Microsoft JhengHei UI" panose="020B0604030504040204" pitchFamily="34" charset="-120"/>
              </a:rPr>
              <a:t>授權的 </a:t>
            </a:r>
            <a:r>
              <a:rPr lang="en-US" altLang="zh-TW" sz="1400" dirty="0">
                <a:effectLst/>
                <a:latin typeface="Microsoft JhengHei UI" panose="020B0604030504040204" pitchFamily="34" charset="-120"/>
                <a:ea typeface="Microsoft JhengHei UI" panose="020B0604030504040204" pitchFamily="34" charset="-120"/>
              </a:rPr>
              <a:t>CPU </a:t>
            </a:r>
            <a:r>
              <a:rPr lang="zh-TW" altLang="en-US" sz="1400" dirty="0">
                <a:effectLst/>
                <a:latin typeface="Microsoft JhengHei UI" panose="020B0604030504040204" pitchFamily="34" charset="-120"/>
                <a:ea typeface="Microsoft JhengHei UI" panose="020B0604030504040204" pitchFamily="34" charset="-120"/>
              </a:rPr>
              <a:t>架構（如 </a:t>
            </a:r>
            <a:r>
              <a:rPr lang="en-US" altLang="zh-TW" sz="1400" dirty="0">
                <a:effectLst/>
                <a:latin typeface="Microsoft JhengHei UI" panose="020B0604030504040204" pitchFamily="34" charset="-120"/>
                <a:ea typeface="Microsoft JhengHei UI" panose="020B0604030504040204" pitchFamily="34" charset="-120"/>
              </a:rPr>
              <a:t>Cortex-M55/M85</a:t>
            </a:r>
            <a:r>
              <a:rPr lang="zh-TW" altLang="en-US" sz="1400" dirty="0">
                <a:effectLst/>
                <a:latin typeface="Microsoft JhengHei UI" panose="020B0604030504040204" pitchFamily="34" charset="-120"/>
                <a:ea typeface="Microsoft JhengHei UI" panose="020B0604030504040204" pitchFamily="34" charset="-120"/>
              </a:rPr>
              <a:t>）、外購的 </a:t>
            </a:r>
            <a:r>
              <a:rPr lang="en-US" altLang="zh-TW" sz="1400" dirty="0">
                <a:effectLst/>
                <a:latin typeface="Microsoft JhengHei UI" panose="020B0604030504040204" pitchFamily="34" charset="-120"/>
                <a:ea typeface="Microsoft JhengHei UI" panose="020B0604030504040204" pitchFamily="34" charset="-120"/>
              </a:rPr>
              <a:t>NPU IP</a:t>
            </a:r>
            <a:r>
              <a:rPr lang="zh-TW" altLang="en-US" sz="1400" dirty="0">
                <a:effectLst/>
                <a:latin typeface="Microsoft JhengHei UI" panose="020B0604030504040204" pitchFamily="34" charset="-120"/>
                <a:ea typeface="Microsoft JhengHei UI" panose="020B0604030504040204" pitchFamily="34" charset="-120"/>
              </a:rPr>
              <a:t>，或 </a:t>
            </a:r>
            <a:r>
              <a:rPr lang="en-US" altLang="zh-TW" sz="1400" dirty="0">
                <a:effectLst/>
                <a:latin typeface="Microsoft JhengHei UI" panose="020B0604030504040204" pitchFamily="34" charset="-120"/>
                <a:ea typeface="Microsoft JhengHei UI" panose="020B0604030504040204" pitchFamily="34" charset="-120"/>
              </a:rPr>
              <a:t>HBM </a:t>
            </a:r>
            <a:r>
              <a:rPr lang="zh-TW" altLang="en-US" sz="1400" dirty="0">
                <a:effectLst/>
                <a:latin typeface="Microsoft JhengHei UI" panose="020B0604030504040204" pitchFamily="34" charset="-120"/>
                <a:ea typeface="Microsoft JhengHei UI" panose="020B0604030504040204" pitchFamily="34" charset="-120"/>
              </a:rPr>
              <a:t>控制器 </a:t>
            </a:r>
            <a:r>
              <a:rPr lang="en-US" altLang="zh-TW" sz="1400" dirty="0">
                <a:effectLst/>
                <a:latin typeface="Microsoft JhengHei UI" panose="020B0604030504040204" pitchFamily="34" charset="-120"/>
                <a:ea typeface="Microsoft JhengHei UI" panose="020B0604030504040204" pitchFamily="34" charset="-120"/>
              </a:rPr>
              <a:t>IP</a:t>
            </a:r>
            <a:r>
              <a:rPr lang="zh-TW" altLang="en-US" sz="1400" dirty="0">
                <a:effectLst/>
                <a:latin typeface="Microsoft JhengHei UI" panose="020B0604030504040204" pitchFamily="34" charset="-120"/>
                <a:ea typeface="Microsoft JhengHei UI" panose="020B0604030504040204" pitchFamily="34" charset="-120"/>
              </a:rPr>
              <a:t>，每顆晶片需要支付一定比例的 </a:t>
            </a:r>
            <a:r>
              <a:rPr lang="en-US" altLang="zh-TW" sz="1400" dirty="0">
                <a:effectLst/>
                <a:latin typeface="Microsoft JhengHei UI" panose="020B0604030504040204" pitchFamily="34" charset="-120"/>
                <a:ea typeface="Microsoft JhengHei UI" panose="020B0604030504040204" pitchFamily="34" charset="-120"/>
              </a:rPr>
              <a:t>Royalty</a:t>
            </a:r>
            <a:r>
              <a:rPr lang="zh-TW" altLang="en-US" sz="1400" dirty="0">
                <a:effectLst/>
                <a:latin typeface="Microsoft JhengHei UI" panose="020B0604030504040204" pitchFamily="34" charset="-120"/>
                <a:ea typeface="Microsoft JhengHei UI" panose="020B0604030504040204" pitchFamily="34" charset="-120"/>
              </a:rPr>
              <a:t>（權利</a:t>
            </a:r>
            <a:r>
              <a:rPr lang="zh-TW" altLang="en-US" sz="1400" baseline="0" dirty="0">
                <a:effectLst/>
                <a:latin typeface="Microsoft JhengHei UI" panose="020B0604030504040204" pitchFamily="34" charset="-120"/>
                <a:ea typeface="Microsoft JhengHei UI" panose="020B0604030504040204" pitchFamily="34" charset="-120"/>
              </a:rPr>
              <a:t>金</a:t>
            </a:r>
            <a:r>
              <a:rPr lang="zh-TW" altLang="en-US" sz="1400" dirty="0">
                <a:effectLst/>
                <a:latin typeface="Microsoft JhengHei UI" panose="020B0604030504040204" pitchFamily="34" charset="-120"/>
                <a:ea typeface="Microsoft JhengHei UI" panose="020B0604030504040204" pitchFamily="34" charset="-120"/>
              </a:rPr>
              <a:t>）。</a:t>
            </a:r>
          </a:p>
          <a:p>
            <a:endParaRPr lang="zh-TW" altLang="en-US" sz="1400"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24</a:t>
            </a:fld>
            <a:endParaRPr lang="zh-TW" altLang="en-US"/>
          </a:p>
        </p:txBody>
      </p:sp>
    </p:spTree>
    <p:extLst>
      <p:ext uri="{BB962C8B-B14F-4D97-AF65-F5344CB8AC3E}">
        <p14:creationId xmlns:p14="http://schemas.microsoft.com/office/powerpoint/2010/main" val="29723731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投影片影像版面配置區 1"/>
          <p:cNvSpPr>
            <a:spLocks noGrp="1" noRot="1" noChangeAspect="1"/>
          </p:cNvSpPr>
          <p:nvPr>
            <p:ph type="sldImg"/>
          </p:nvPr>
        </p:nvSpPr>
        <p:spPr/>
        <p:txBody>
          <a:bodyPr/>
          <a:lstStyle/>
          <a:p>
            <a:endParaRPr lang="zh-TW" altLang="en-US"/>
          </a:p>
        </p:txBody>
      </p:sp>
      <p:sp>
        <p:nvSpPr>
          <p:cNvPr id="3" name="備忘稿版面配置區 2"/>
          <p:cNvSpPr>
            <a:spLocks noGrp="1"/>
          </p:cNvSpPr>
          <p:nvPr>
            <p:ph type="body" idx="1"/>
          </p:nvPr>
        </p:nvSpPr>
        <p:spPr/>
        <p:txBody>
          <a:bodyPr/>
          <a:lstStyle/>
          <a:p>
            <a:endParaRPr lang="zh-TW" altLang="en-US" dirty="0"/>
          </a:p>
        </p:txBody>
      </p:sp>
      <p:sp>
        <p:nvSpPr>
          <p:cNvPr id="4" name="投影片編號版面配置區 3"/>
          <p:cNvSpPr>
            <a:spLocks noGrp="1"/>
          </p:cNvSpPr>
          <p:nvPr>
            <p:ph type="sldNum" sz="quarter" idx="5"/>
          </p:nvPr>
        </p:nvSpPr>
        <p:spPr/>
        <p:txBody>
          <a:bodyPr/>
          <a:lstStyle/>
          <a:p>
            <a:fld id="{E3A6CE5E-F349-486D-8749-82EF2AD71FA8}" type="slidenum">
              <a:rPr lang="zh-TW" altLang="en-US" smtClean="0"/>
              <a:t>25</a:t>
            </a:fld>
            <a:endParaRPr lang="zh-TW" altLang="en-US"/>
          </a:p>
        </p:txBody>
      </p:sp>
    </p:spTree>
    <p:extLst>
      <p:ext uri="{BB962C8B-B14F-4D97-AF65-F5344CB8AC3E}">
        <p14:creationId xmlns:p14="http://schemas.microsoft.com/office/powerpoint/2010/main" val="175082566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one column">
    <p:spTree>
      <p:nvGrpSpPr>
        <p:cNvPr id="1" name=""/>
        <p:cNvGrpSpPr/>
        <p:nvPr/>
      </p:nvGrpSpPr>
      <p:grpSpPr>
        <a:xfrm>
          <a:off x="0" y="0"/>
          <a:ext cx="0" cy="0"/>
          <a:chOff x="0" y="0"/>
          <a:chExt cx="0" cy="0"/>
        </a:xfrm>
      </p:grpSpPr>
    </p:spTree>
    <p:extLst>
      <p:ext uri="{BB962C8B-B14F-4D97-AF65-F5344CB8AC3E}">
        <p14:creationId xmlns:p14="http://schemas.microsoft.com/office/powerpoint/2010/main" val="2798709506"/>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title">
  <p:cSld name="標題投影片">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122363"/>
            <a:ext cx="7772400" cy="2387600"/>
          </a:xfrm>
        </p:spPr>
        <p:txBody>
          <a:bodyPr anchor="b"/>
          <a:lstStyle>
            <a:lvl1pPr algn="ctr">
              <a:defRPr sz="6000"/>
            </a:lvl1pPr>
          </a:lstStyle>
          <a:p>
            <a:r>
              <a:rPr lang="zh-TW" altLang="en-US"/>
              <a:t>按一下以編輯母片標題樣式</a:t>
            </a:r>
            <a:endParaRPr lang="en-US" dirty="0"/>
          </a:p>
        </p:txBody>
      </p:sp>
      <p:sp>
        <p:nvSpPr>
          <p:cNvPr id="3" name="Subtitle 2"/>
          <p:cNvSpPr>
            <a:spLocks noGrp="1"/>
          </p:cNvSpPr>
          <p:nvPr>
            <p:ph type="subTitle" idx="1"/>
          </p:nvPr>
        </p:nvSpPr>
        <p:spPr>
          <a:xfrm>
            <a:off x="1143000" y="3602038"/>
            <a:ext cx="6858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TW" altLang="en-US"/>
              <a:t>按一下以編輯母片子標題樣式</a:t>
            </a:r>
            <a:endParaRPr lang="en-US" dirty="0"/>
          </a:p>
        </p:txBody>
      </p:sp>
      <p:sp>
        <p:nvSpPr>
          <p:cNvPr id="4" name="Date Placeholder 3"/>
          <p:cNvSpPr>
            <a:spLocks noGrp="1"/>
          </p:cNvSpPr>
          <p:nvPr>
            <p:ph type="dt" sz="half" idx="10"/>
          </p:nvPr>
        </p:nvSpPr>
        <p:spPr/>
        <p:txBody>
          <a:bodyPr/>
          <a:lstStyle/>
          <a:p>
            <a:fld id="{AF25E997-4179-402B-B045-C290473E86F3}" type="datetimeFigureOut">
              <a:rPr lang="zh-TW" altLang="en-US" smtClean="0"/>
              <a:t>2026/7/5</a:t>
            </a:fld>
            <a:endParaRPr lang="zh-TW" altLang="en-US"/>
          </a:p>
        </p:txBody>
      </p:sp>
      <p:sp>
        <p:nvSpPr>
          <p:cNvPr id="5" name="Footer Placeholder 4"/>
          <p:cNvSpPr>
            <a:spLocks noGrp="1"/>
          </p:cNvSpPr>
          <p:nvPr>
            <p:ph type="ftr" sz="quarter" idx="11"/>
          </p:nvPr>
        </p:nvSpPr>
        <p:spPr/>
        <p:txBody>
          <a:bodyPr/>
          <a:lstStyle/>
          <a:p>
            <a:endParaRPr lang="zh-TW" altLang="en-US"/>
          </a:p>
        </p:txBody>
      </p:sp>
      <p:sp>
        <p:nvSpPr>
          <p:cNvPr id="6" name="Slide Number Placeholder 5"/>
          <p:cNvSpPr>
            <a:spLocks noGrp="1"/>
          </p:cNvSpPr>
          <p:nvPr>
            <p:ph type="sldNum" sz="quarter" idx="12"/>
          </p:nvPr>
        </p:nvSpPr>
        <p:spPr/>
        <p:txBody>
          <a:bodyPr/>
          <a:lstStyle/>
          <a:p>
            <a:fld id="{B204A4CC-0142-4D0E-B207-47A74A717BFD}" type="slidenum">
              <a:rPr lang="zh-TW" altLang="en-US" smtClean="0"/>
              <a:t>‹#›</a:t>
            </a:fld>
            <a:endParaRPr lang="zh-TW" altLang="en-US"/>
          </a:p>
        </p:txBody>
      </p:sp>
    </p:spTree>
    <p:extLst>
      <p:ext uri="{BB962C8B-B14F-4D97-AF65-F5344CB8AC3E}">
        <p14:creationId xmlns:p14="http://schemas.microsoft.com/office/powerpoint/2010/main" val="1366228434"/>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userDrawn="1">
  <p:cSld name="title">
    <p:spTree>
      <p:nvGrpSpPr>
        <p:cNvPr id="1" name=""/>
        <p:cNvGrpSpPr/>
        <p:nvPr/>
      </p:nvGrpSpPr>
      <p:grpSpPr>
        <a:xfrm>
          <a:off x="0" y="0"/>
          <a:ext cx="0" cy="0"/>
          <a:chOff x="0" y="0"/>
          <a:chExt cx="0" cy="0"/>
        </a:xfrm>
      </p:grpSpPr>
    </p:spTree>
    <p:extLst>
      <p:ext uri="{BB962C8B-B14F-4D97-AF65-F5344CB8AC3E}">
        <p14:creationId xmlns:p14="http://schemas.microsoft.com/office/powerpoint/2010/main" val="1773210173"/>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1" name="頁尾版面配置區 4">
            <a:extLst>
              <a:ext uri="{FF2B5EF4-FFF2-40B4-BE49-F238E27FC236}">
                <a16:creationId xmlns:a16="http://schemas.microsoft.com/office/drawing/2014/main" id="{F852660B-5776-4457-897C-22F48580809B}"/>
              </a:ext>
            </a:extLst>
          </p:cNvPr>
          <p:cNvSpPr txBox="1">
            <a:spLocks/>
          </p:cNvSpPr>
          <p:nvPr userDrawn="1"/>
        </p:nvSpPr>
        <p:spPr>
          <a:xfrm>
            <a:off x="0" y="6628025"/>
            <a:ext cx="9144000" cy="235219"/>
          </a:xfrm>
          <a:prstGeom prst="rect">
            <a:avLst/>
          </a:prstGeom>
          <a:solidFill>
            <a:schemeClr val="accent3">
              <a:lumMod val="20000"/>
              <a:lumOff val="80000"/>
            </a:schemeClr>
          </a:solidFill>
        </p:spPr>
        <p:txBody>
          <a:bodyPr vert="horz" lIns="91440" tIns="45720" rIns="91440" bIns="45720" rtlCol="0" anchor="ctr"/>
          <a:lstStyle>
            <a:defPPr>
              <a:defRPr lang="zh-TW"/>
            </a:defPPr>
            <a:lvl1pPr marL="0" algn="ctr" defTabSz="914400" rtl="0" eaLnBrk="1" latinLnBrk="0" hangingPunct="1">
              <a:defRPr sz="1200" b="1"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TW" altLang="en-US" dirty="0"/>
          </a:p>
        </p:txBody>
      </p:sp>
    </p:spTree>
  </p:cSld>
  <p:clrMap bg1="lt1" tx1="dk1" bg2="lt2" tx2="dk2" accent1="accent1" accent2="accent2" accent3="accent3" accent4="accent4" accent5="accent5" accent6="accent6" hlink="hlink" folHlink="folHlink"/>
  <p:sldLayoutIdLst>
    <p:sldLayoutId id="2147483659" r:id="rId1"/>
    <p:sldLayoutId id="2147483661" r:id="rId2"/>
    <p:sldLayoutId id="2147483662" r:id="rId3"/>
  </p:sldLayoutIdLst>
  <mc:AlternateContent xmlns:mc="http://schemas.openxmlformats.org/markup-compatibility/2006" xmlns:p159="http://schemas.microsoft.com/office/powerpoint/2015/09/main">
    <mc:Choice Requires="p159">
      <p:transition xmlns:p14="http://schemas.microsoft.com/office/powerpoint/2010/main" spd="slow" p14:dur="2000" advClick="0">
        <p159:morph option="byObject"/>
      </p:transition>
    </mc:Choice>
    <mc:Fallback xmlns="">
      <p:transition spd="slow" advClick="0">
        <p:fade/>
      </p:transition>
    </mc:Fallback>
  </mc:AlternateContent>
  <p:hf hdr="0"/>
  <p:txStyles>
    <p:titleStyle>
      <a:lvl1pPr algn="l" defTabSz="914400" rtl="0" eaLnBrk="1" latinLnBrk="0" hangingPunct="1">
        <a:spcBef>
          <a:spcPct val="0"/>
        </a:spcBef>
        <a:buNone/>
        <a:defRPr sz="2400" kern="1200">
          <a:solidFill>
            <a:schemeClr val="tx1"/>
          </a:solidFill>
          <a:latin typeface="+mj-lt"/>
          <a:ea typeface="+mj-ea"/>
          <a:cs typeface="+mj-cs"/>
        </a:defRPr>
      </a:lvl1pPr>
    </p:titleStyle>
    <p:bodyStyle>
      <a:lvl1pPr marL="36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1pPr>
      <a:lvl2pPr marL="720000" indent="-360000" algn="l" defTabSz="914400" rtl="0" eaLnBrk="1" latinLnBrk="0" hangingPunct="1">
        <a:spcBef>
          <a:spcPct val="20000"/>
        </a:spcBef>
        <a:buClr>
          <a:schemeClr val="tx1"/>
        </a:buClr>
        <a:buFont typeface="Calibri" pitchFamily="34" charset="0"/>
        <a:buChar char="○"/>
        <a:defRPr sz="2000" kern="1200">
          <a:solidFill>
            <a:schemeClr val="tx1"/>
          </a:solidFill>
          <a:latin typeface="+mn-lt"/>
          <a:ea typeface="+mn-ea"/>
          <a:cs typeface="+mn-cs"/>
        </a:defRPr>
      </a:lvl2pPr>
      <a:lvl3pPr marL="108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3pPr>
      <a:lvl4pPr marL="144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4pPr>
      <a:lvl5pPr marL="1800000" indent="-360000" algn="l" defTabSz="914400" rtl="0" eaLnBrk="1" latinLnBrk="0" hangingPunct="1">
        <a:spcBef>
          <a:spcPct val="20000"/>
        </a:spcBef>
        <a:buClr>
          <a:schemeClr val="tx1"/>
        </a:buClr>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zh-TW"/>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3.xml"/></Relationships>
</file>

<file path=ppt/slides/_rels/slide2.xml.rels><?xml version="1.0" encoding="UTF-8" standalone="yes"?>
<Relationships xmlns="http://schemas.openxmlformats.org/package/2006/relationships"><Relationship Id="rId3" Type="http://schemas.openxmlformats.org/officeDocument/2006/relationships/audio" Target="../media/audio1.wav"/><Relationship Id="rId2" Type="http://schemas.openxmlformats.org/officeDocument/2006/relationships/notesSlide" Target="../notesSlides/notesSlide2.xml"/><Relationship Id="rId1" Type="http://schemas.openxmlformats.org/officeDocument/2006/relationships/slideLayout" Target="../slideLayouts/slideLayout3.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7" Type="http://schemas.openxmlformats.org/officeDocument/2006/relationships/image" Target="../media/image5.png"/><Relationship Id="rId2" Type="http://schemas.openxmlformats.org/officeDocument/2006/relationships/notesSlide" Target="../notesSlides/notesSlide3.xml"/><Relationship Id="rId1" Type="http://schemas.openxmlformats.org/officeDocument/2006/relationships/slideLayout" Target="../slideLayouts/slideLayout3.xml"/><Relationship Id="rId6" Type="http://schemas.openxmlformats.org/officeDocument/2006/relationships/image" Target="../media/image4.png"/><Relationship Id="rId5" Type="http://schemas.openxmlformats.org/officeDocument/2006/relationships/image" Target="../media/image3.png"/><Relationship Id="rId4" Type="http://schemas.openxmlformats.org/officeDocument/2006/relationships/image" Target="../media/image2.png"/></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3.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47.png"/><Relationship Id="rId4" Type="http://schemas.openxmlformats.org/officeDocument/2006/relationships/image" Target="../media/image8.png"/></Relationships>
</file>

<file path=ppt/slides/_rels/slide8.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3.png"/><Relationship Id="rId1" Type="http://schemas.openxmlformats.org/officeDocument/2006/relationships/slideLayout" Target="../slideLayouts/slideLayout2.xml"/><Relationship Id="rId6" Type="http://schemas.openxmlformats.org/officeDocument/2006/relationships/image" Target="../media/image9.png"/><Relationship Id="rId5" Type="http://schemas.openxmlformats.org/officeDocument/2006/relationships/image" Target="../media/image80.png"/><Relationship Id="rId4" Type="http://schemas.openxmlformats.org/officeDocument/2006/relationships/image" Target="../media/image70.png"/></Relationships>
</file>

<file path=ppt/slides/_rels/slide9.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28.png"/><Relationship Id="rId4" Type="http://schemas.openxmlformats.org/officeDocument/2006/relationships/image" Target="../media/image26.png"/></Relationships>
</file>

<file path=ppt/slides/_rels/slide11.xml.rels><?xml version="1.0" encoding="UTF-8" standalone="yes"?>
<Relationships xmlns="http://schemas.openxmlformats.org/package/2006/relationships"><Relationship Id="rId8" Type="http://schemas.openxmlformats.org/officeDocument/2006/relationships/image" Target="../media/image270.png"/><Relationship Id="rId13" Type="http://schemas.openxmlformats.org/officeDocument/2006/relationships/image" Target="../media/image32.png"/><Relationship Id="rId18" Type="http://schemas.openxmlformats.org/officeDocument/2006/relationships/image" Target="../media/image37.png"/><Relationship Id="rId3" Type="http://schemas.openxmlformats.org/officeDocument/2006/relationships/image" Target="../media/image281.png"/><Relationship Id="rId21" Type="http://schemas.openxmlformats.org/officeDocument/2006/relationships/image" Target="../media/image40.png"/><Relationship Id="rId7" Type="http://schemas.openxmlformats.org/officeDocument/2006/relationships/image" Target="../media/image31.png"/><Relationship Id="rId12" Type="http://schemas.openxmlformats.org/officeDocument/2006/relationships/image" Target="../media/image310.png"/><Relationship Id="rId17" Type="http://schemas.openxmlformats.org/officeDocument/2006/relationships/image" Target="../media/image36.png"/><Relationship Id="rId2" Type="http://schemas.openxmlformats.org/officeDocument/2006/relationships/notesSlide" Target="../notesSlides/notesSlide10.xml"/><Relationship Id="rId16" Type="http://schemas.openxmlformats.org/officeDocument/2006/relationships/image" Target="../media/image35.png"/><Relationship Id="rId20" Type="http://schemas.openxmlformats.org/officeDocument/2006/relationships/image" Target="../media/image39.png"/><Relationship Id="rId1" Type="http://schemas.openxmlformats.org/officeDocument/2006/relationships/slideLayout" Target="../slideLayouts/slideLayout2.xml"/><Relationship Id="rId6" Type="http://schemas.openxmlformats.org/officeDocument/2006/relationships/image" Target="../media/image30.png"/><Relationship Id="rId11" Type="http://schemas.openxmlformats.org/officeDocument/2006/relationships/image" Target="../media/image300.png"/><Relationship Id="rId5" Type="http://schemas.openxmlformats.org/officeDocument/2006/relationships/image" Target="../media/image240.png"/><Relationship Id="rId15" Type="http://schemas.openxmlformats.org/officeDocument/2006/relationships/image" Target="../media/image34.png"/><Relationship Id="rId10" Type="http://schemas.openxmlformats.org/officeDocument/2006/relationships/image" Target="../media/image290.png"/><Relationship Id="rId19" Type="http://schemas.openxmlformats.org/officeDocument/2006/relationships/image" Target="../media/image38.png"/><Relationship Id="rId4" Type="http://schemas.openxmlformats.org/officeDocument/2006/relationships/image" Target="../media/image29.png"/><Relationship Id="rId9" Type="http://schemas.openxmlformats.org/officeDocument/2006/relationships/image" Target="../media/image280.png"/><Relationship Id="rId14" Type="http://schemas.openxmlformats.org/officeDocument/2006/relationships/image" Target="../media/image33.png"/></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7" Type="http://schemas.openxmlformats.org/officeDocument/2006/relationships/image" Target="../media/image45.png"/><Relationship Id="rId2" Type="http://schemas.openxmlformats.org/officeDocument/2006/relationships/notesSlide" Target="../notesSlides/notesSlide11.xml"/><Relationship Id="rId1" Type="http://schemas.openxmlformats.org/officeDocument/2006/relationships/slideLayout" Target="../slideLayouts/slideLayout3.xml"/><Relationship Id="rId6" Type="http://schemas.openxmlformats.org/officeDocument/2006/relationships/image" Target="../media/image44.png"/><Relationship Id="rId5" Type="http://schemas.openxmlformats.org/officeDocument/2006/relationships/image" Target="../media/image43.png"/><Relationship Id="rId4" Type="http://schemas.openxmlformats.org/officeDocument/2006/relationships/image" Target="../media/image42.png"/></Relationships>
</file>

<file path=ppt/slides/_rels/slide13.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2.xml"/><Relationship Id="rId1" Type="http://schemas.openxmlformats.org/officeDocument/2006/relationships/slideLayout" Target="../slideLayouts/slideLayout3.xml"/><Relationship Id="rId5" Type="http://schemas.openxmlformats.org/officeDocument/2006/relationships/image" Target="../media/image13.svg"/><Relationship Id="rId4" Type="http://schemas.openxmlformats.org/officeDocument/2006/relationships/image" Target="../media/image12.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3.xml"/></Relationships>
</file>

<file path=ppt/slides/_rels/slide15.xml.rels><?xml version="1.0" encoding="UTF-8" standalone="yes"?>
<Relationships xmlns="http://schemas.openxmlformats.org/package/2006/relationships"><Relationship Id="rId3" Type="http://schemas.openxmlformats.org/officeDocument/2006/relationships/image" Target="../media/image14.svg"/><Relationship Id="rId2" Type="http://schemas.openxmlformats.org/officeDocument/2006/relationships/notesSlide" Target="../notesSlides/notesSlide14.xml"/><Relationship Id="rId1" Type="http://schemas.openxmlformats.org/officeDocument/2006/relationships/slideLayout" Target="../slideLayouts/slideLayout3.xml"/><Relationship Id="rId4" Type="http://schemas.openxmlformats.org/officeDocument/2006/relationships/image" Target="../media/image15.png"/></Relationships>
</file>

<file path=ppt/slides/_rels/slide16.xml.rels><?xml version="1.0" encoding="UTF-8" standalone="yes"?>
<Relationships xmlns="http://schemas.openxmlformats.org/package/2006/relationships"><Relationship Id="rId8" Type="http://schemas.openxmlformats.org/officeDocument/2006/relationships/image" Target="../media/image20.png"/><Relationship Id="rId13" Type="http://schemas.openxmlformats.org/officeDocument/2006/relationships/image" Target="../media/image41.png"/><Relationship Id="rId3" Type="http://schemas.openxmlformats.org/officeDocument/2006/relationships/image" Target="../media/image16.png"/><Relationship Id="rId7" Type="http://schemas.openxmlformats.org/officeDocument/2006/relationships/image" Target="../media/image19.png"/><Relationship Id="rId12" Type="http://schemas.openxmlformats.org/officeDocument/2006/relationships/image" Target="../media/image27.png"/><Relationship Id="rId2" Type="http://schemas.openxmlformats.org/officeDocument/2006/relationships/notesSlide" Target="../notesSlides/notesSlide15.xml"/><Relationship Id="rId1" Type="http://schemas.openxmlformats.org/officeDocument/2006/relationships/slideLayout" Target="../slideLayouts/slideLayout3.xml"/><Relationship Id="rId6" Type="http://schemas.openxmlformats.org/officeDocument/2006/relationships/image" Target="../media/image18.png"/><Relationship Id="rId11" Type="http://schemas.openxmlformats.org/officeDocument/2006/relationships/image" Target="../media/image23.png"/><Relationship Id="rId5" Type="http://schemas.openxmlformats.org/officeDocument/2006/relationships/image" Target="../media/image17.png"/><Relationship Id="rId10" Type="http://schemas.openxmlformats.org/officeDocument/2006/relationships/image" Target="../media/image22.png"/><Relationship Id="rId4" Type="http://schemas.openxmlformats.org/officeDocument/2006/relationships/image" Target="../media/image160.png"/><Relationship Id="rId9" Type="http://schemas.openxmlformats.org/officeDocument/2006/relationships/image" Target="../media/image21.png"/><Relationship Id="rId14" Type="http://schemas.openxmlformats.org/officeDocument/2006/relationships/image" Target="../media/image46.png"/></Relationships>
</file>

<file path=ppt/slides/_rels/slide17.xml.rels><?xml version="1.0" encoding="UTF-8" standalone="yes"?>
<Relationships xmlns="http://schemas.openxmlformats.org/package/2006/relationships"><Relationship Id="rId3" Type="http://schemas.openxmlformats.org/officeDocument/2006/relationships/image" Target="../media/image47.bmp"/><Relationship Id="rId2" Type="http://schemas.openxmlformats.org/officeDocument/2006/relationships/notesSlide" Target="../notesSlides/notesSlide16.xml"/><Relationship Id="rId1" Type="http://schemas.openxmlformats.org/officeDocument/2006/relationships/slideLayout" Target="../slideLayouts/slideLayout3.xml"/><Relationship Id="rId5" Type="http://schemas.openxmlformats.org/officeDocument/2006/relationships/image" Target="../media/image49.png"/><Relationship Id="rId4" Type="http://schemas.openxmlformats.org/officeDocument/2006/relationships/image" Target="../media/image48.png"/></Relationships>
</file>

<file path=ppt/slides/_rels/slide18.xml.rels><?xml version="1.0" encoding="UTF-8" standalone="yes"?>
<Relationships xmlns="http://schemas.openxmlformats.org/package/2006/relationships"><Relationship Id="rId3" Type="http://schemas.openxmlformats.org/officeDocument/2006/relationships/image" Target="../media/image50.png"/><Relationship Id="rId2" Type="http://schemas.openxmlformats.org/officeDocument/2006/relationships/notesSlide" Target="../notesSlides/notesSlide17.xml"/><Relationship Id="rId1" Type="http://schemas.openxmlformats.org/officeDocument/2006/relationships/slideLayout" Target="../slideLayouts/slideLayout3.xml"/><Relationship Id="rId4" Type="http://schemas.openxmlformats.org/officeDocument/2006/relationships/hyperlink" Target="https://labs.adaline.ai/p/llm-distillation-explained" TargetMode="External"/></Relationships>
</file>

<file path=ppt/slides/_rels/slide19.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8" Type="http://schemas.openxmlformats.org/officeDocument/2006/relationships/image" Target="../media/image57.svg"/><Relationship Id="rId3" Type="http://schemas.openxmlformats.org/officeDocument/2006/relationships/image" Target="../media/image52.png"/><Relationship Id="rId7" Type="http://schemas.openxmlformats.org/officeDocument/2006/relationships/image" Target="../media/image56.svg"/><Relationship Id="rId12" Type="http://schemas.openxmlformats.org/officeDocument/2006/relationships/image" Target="../media/image61.png"/><Relationship Id="rId2" Type="http://schemas.openxmlformats.org/officeDocument/2006/relationships/notesSlide" Target="../notesSlides/notesSlide19.xml"/><Relationship Id="rId1" Type="http://schemas.openxmlformats.org/officeDocument/2006/relationships/slideLayout" Target="../slideLayouts/slideLayout3.xml"/><Relationship Id="rId6" Type="http://schemas.openxmlformats.org/officeDocument/2006/relationships/image" Target="../media/image55.svg"/><Relationship Id="rId11" Type="http://schemas.openxmlformats.org/officeDocument/2006/relationships/image" Target="../media/image60.png"/><Relationship Id="rId5" Type="http://schemas.openxmlformats.org/officeDocument/2006/relationships/image" Target="../media/image54.svg"/><Relationship Id="rId10" Type="http://schemas.openxmlformats.org/officeDocument/2006/relationships/image" Target="../media/image59.png"/><Relationship Id="rId4" Type="http://schemas.openxmlformats.org/officeDocument/2006/relationships/image" Target="../media/image53.svg"/><Relationship Id="rId9" Type="http://schemas.openxmlformats.org/officeDocument/2006/relationships/image" Target="../media/image58.svg"/></Relationships>
</file>

<file path=ppt/slides/_rels/slide21.xml.rels><?xml version="1.0" encoding="UTF-8" standalone="yes"?>
<Relationships xmlns="http://schemas.openxmlformats.org/package/2006/relationships"><Relationship Id="rId2" Type="http://schemas.openxmlformats.org/officeDocument/2006/relationships/image" Target="../media/image62.jpg"/><Relationship Id="rId1" Type="http://schemas.openxmlformats.org/officeDocument/2006/relationships/slideLayout" Target="../slideLayouts/slideLayout3.xml"/></Relationships>
</file>

<file path=ppt/slides/_rels/slide22.xml.rels><?xml version="1.0" encoding="UTF-8" standalone="yes"?>
<Relationships xmlns="http://schemas.openxmlformats.org/package/2006/relationships"><Relationship Id="rId3" Type="http://schemas.openxmlformats.org/officeDocument/2006/relationships/hyperlink" Target="https://www.google.com/search?ibp=oshop&amp;prds=pvt:hg,pvo:29,imageDocid:3587070959964051833,headlineOfferDocid:4681429727312423067,productDocid:4681429727312423067&amp;q=product&amp;sa=X&amp;ved=2ahUKEwjfiPuhqMSUAxWvbvUHHaHBB2IQxa4PegYIAAgQEAI" TargetMode="External"/><Relationship Id="rId2" Type="http://schemas.openxmlformats.org/officeDocument/2006/relationships/notesSlide" Target="../notesSlides/notesSlide20.xml"/><Relationship Id="rId1" Type="http://schemas.openxmlformats.org/officeDocument/2006/relationships/slideLayout" Target="../slideLayouts/slideLayout3.xml"/><Relationship Id="rId4" Type="http://schemas.openxmlformats.org/officeDocument/2006/relationships/hyperlink" Target="https://unclestocknotes.substack.com/p/ai-38c" TargetMode="External"/></Relationships>
</file>

<file path=ppt/slides/_rels/slide23.xml.rels><?xml version="1.0" encoding="UTF-8" standalone="yes"?>
<Relationships xmlns="http://schemas.openxmlformats.org/package/2006/relationships"><Relationship Id="rId3" Type="http://schemas.openxmlformats.org/officeDocument/2006/relationships/hyperlink" Target="https://www.linkedin.com/pulse/capacity-question-behind-every-ai-chip-huan-ma-rcmoe" TargetMode="External"/><Relationship Id="rId2" Type="http://schemas.openxmlformats.org/officeDocument/2006/relationships/notesSlide" Target="../notesSlides/notesSlide21.xml"/><Relationship Id="rId1" Type="http://schemas.openxmlformats.org/officeDocument/2006/relationships/slideLayout" Target="../slideLayouts/slideLayout3.xml"/><Relationship Id="rId5" Type="http://schemas.openxmlformats.org/officeDocument/2006/relationships/hyperlink" Target="https://cyfuture.cloud/kb/gpu/how-much-does-the-nvidia-h100-gpu-cost-in-2025" TargetMode="External"/><Relationship Id="rId4" Type="http://schemas.openxmlformats.org/officeDocument/2006/relationships/hyperlink" Target="https://www.google.com/search?ibp=oshop&amp;prds=pvt:hg,pvo:29,imageDocid:950387411976338395,gpcid:17533605446176267153,headlineOfferDocid:11979813095487954154,catalogid:2401887616791462714,productDocid:1096713661396697429,rds:PC_17533605446176267153%7CPROD_PC_17533605446176267153&amp;q=product&amp;sa=X&amp;ved=2ahUKEwjfiPuhqMSUAxWvbvUHHaHBB2IQxa4PegYIAAgoEAM" TargetMode="Externa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3.xml"/></Relationships>
</file>

<file path=ppt/slides/_rels/slide25.xml.rels><?xml version="1.0" encoding="UTF-8" standalone="yes"?>
<Relationships xmlns="http://schemas.openxmlformats.org/package/2006/relationships"><Relationship Id="rId3" Type="http://schemas.openxmlformats.org/officeDocument/2006/relationships/image" Target="../media/image63.jpg"/><Relationship Id="rId2" Type="http://schemas.openxmlformats.org/officeDocument/2006/relationships/notesSlide" Target="../notesSlides/notesSlide23.xml"/><Relationship Id="rId1" Type="http://schemas.openxmlformats.org/officeDocument/2006/relationships/slideLayout" Target="../slideLayouts/slideLayout3.xml"/></Relationships>
</file>

<file path=ppt/slides/_rels/slide26.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image" Target="../media/image64.png"/><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E41754-1A01-9656-056C-4B624E45A905}"/>
            </a:ext>
          </a:extLst>
        </p:cNvPr>
        <p:cNvGrpSpPr/>
        <p:nvPr/>
      </p:nvGrpSpPr>
      <p:grpSpPr>
        <a:xfrm>
          <a:off x="0" y="0"/>
          <a:ext cx="0" cy="0"/>
          <a:chOff x="0" y="0"/>
          <a:chExt cx="0" cy="0"/>
        </a:xfrm>
      </p:grpSpPr>
      <p:sp>
        <p:nvSpPr>
          <p:cNvPr id="3" name="文字方塊 2">
            <a:extLst>
              <a:ext uri="{FF2B5EF4-FFF2-40B4-BE49-F238E27FC236}">
                <a16:creationId xmlns:a16="http://schemas.microsoft.com/office/drawing/2014/main" id="{96A5153E-BD84-CB21-D566-B888A2F168CC}"/>
              </a:ext>
            </a:extLst>
          </p:cNvPr>
          <p:cNvSpPr txBox="1"/>
          <p:nvPr/>
        </p:nvSpPr>
        <p:spPr>
          <a:xfrm>
            <a:off x="3748825" y="5118283"/>
            <a:ext cx="1646348" cy="830997"/>
          </a:xfrm>
          <a:prstGeom prst="rect">
            <a:avLst/>
          </a:prstGeom>
          <a:noFill/>
        </p:spPr>
        <p:txBody>
          <a:bodyPr wrap="none" rtlCol="0">
            <a:spAutoFit/>
          </a:bodyPr>
          <a:lstStyle/>
          <a:p>
            <a:pPr algn="ctr"/>
            <a:r>
              <a:rPr lang="en-US" altLang="zh-TW" sz="1200" b="1" dirty="0">
                <a:solidFill>
                  <a:schemeClr val="accent1"/>
                </a:solidFill>
              </a:rPr>
              <a:t>Centrillion Technology </a:t>
            </a:r>
          </a:p>
          <a:p>
            <a:pPr algn="ctr"/>
            <a:r>
              <a:rPr lang="en-US" altLang="zh-TW" sz="1200" b="1" dirty="0">
                <a:solidFill>
                  <a:schemeClr val="accent1"/>
                </a:solidFill>
              </a:rPr>
              <a:t>Bioinformation Dept. </a:t>
            </a:r>
          </a:p>
          <a:p>
            <a:pPr algn="ctr"/>
            <a:r>
              <a:rPr lang="en-US" altLang="zh-TW" sz="1400" dirty="0">
                <a:solidFill>
                  <a:schemeClr val="accent1"/>
                </a:solidFill>
              </a:rPr>
              <a:t>Allen &amp; Felix</a:t>
            </a:r>
          </a:p>
          <a:p>
            <a:pPr algn="ctr"/>
            <a:r>
              <a:rPr lang="en-US" altLang="zh-TW" sz="1000" dirty="0">
                <a:solidFill>
                  <a:schemeClr val="accent1"/>
                </a:solidFill>
              </a:rPr>
              <a:t>2026/07/06</a:t>
            </a:r>
            <a:endParaRPr lang="zh-TW" altLang="en-US" sz="1000" dirty="0">
              <a:solidFill>
                <a:schemeClr val="accent1"/>
              </a:solidFill>
            </a:endParaRPr>
          </a:p>
        </p:txBody>
      </p:sp>
      <p:sp>
        <p:nvSpPr>
          <p:cNvPr id="2" name="文字方塊 1">
            <a:extLst>
              <a:ext uri="{FF2B5EF4-FFF2-40B4-BE49-F238E27FC236}">
                <a16:creationId xmlns:a16="http://schemas.microsoft.com/office/drawing/2014/main" id="{18C77BE7-A2CA-16B9-32EC-F267B3A21EBE}"/>
              </a:ext>
            </a:extLst>
          </p:cNvPr>
          <p:cNvSpPr txBox="1"/>
          <p:nvPr/>
        </p:nvSpPr>
        <p:spPr>
          <a:xfrm>
            <a:off x="809581" y="1500267"/>
            <a:ext cx="7524837" cy="1928733"/>
          </a:xfrm>
          <a:prstGeom prst="rect">
            <a:avLst/>
          </a:prstGeom>
          <a:noFill/>
        </p:spPr>
        <p:txBody>
          <a:bodyPr wrap="square" rtlCol="0">
            <a:spAutoFit/>
          </a:bodyPr>
          <a:lstStyle/>
          <a:p>
            <a:pPr algn="ctr"/>
            <a:r>
              <a:rPr lang="en-US" altLang="zh-TW" sz="4000" b="1" dirty="0"/>
              <a:t>Attention Is All You Need</a:t>
            </a:r>
          </a:p>
          <a:p>
            <a:pPr defTabSz="4857750">
              <a:lnSpc>
                <a:spcPts val="400"/>
              </a:lnSpc>
            </a:pPr>
            <a:r>
              <a:rPr lang="zh-TW" altLang="en-US" sz="1000" b="1" dirty="0"/>
              <a:t> </a:t>
            </a:r>
            <a:r>
              <a:rPr lang="en-US" altLang="zh-TW" sz="1000" b="1" dirty="0"/>
              <a:t>	2017</a:t>
            </a:r>
          </a:p>
          <a:p>
            <a:pPr defTabSz="6727825">
              <a:tabLst>
                <a:tab pos="2332038" algn="l"/>
              </a:tabLst>
            </a:pPr>
            <a:endParaRPr lang="en-US" altLang="zh-TW" sz="1200" b="1" dirty="0"/>
          </a:p>
          <a:p>
            <a:pPr defTabSz="6727825">
              <a:tabLst>
                <a:tab pos="2332038" algn="l"/>
              </a:tabLst>
            </a:pPr>
            <a:endParaRPr lang="en-US" altLang="zh-TW" sz="1200" b="1" dirty="0">
              <a:solidFill>
                <a:schemeClr val="accent1">
                  <a:lumMod val="75000"/>
                </a:schemeClr>
              </a:solidFill>
            </a:endParaRPr>
          </a:p>
          <a:p>
            <a:pPr indent="541338" defTabSz="7269163">
              <a:tabLst>
                <a:tab pos="2955925" algn="l"/>
                <a:tab pos="5470525" algn="l"/>
              </a:tabLst>
            </a:pPr>
            <a:r>
              <a:rPr lang="en-US" altLang="zh-TW" sz="1200" b="1" dirty="0"/>
              <a:t>Google Brain: 	</a:t>
            </a:r>
            <a:r>
              <a:rPr lang="en-US" altLang="zh-TW" sz="1200" b="1" dirty="0">
                <a:sym typeface="Wingdings" panose="05000000000000000000" pitchFamily="2" charset="2"/>
              </a:rPr>
              <a:t>Google Research	University of Toronto</a:t>
            </a:r>
          </a:p>
          <a:p>
            <a:pPr indent="541338" defTabSz="7269163">
              <a:tabLst>
                <a:tab pos="2955925" algn="l"/>
                <a:tab pos="5470525" algn="l"/>
              </a:tabLst>
            </a:pPr>
            <a:r>
              <a:rPr lang="en-US" altLang="zh-TW" sz="1000" dirty="0"/>
              <a:t>Ashish Vaswani</a:t>
            </a:r>
            <a:r>
              <a:rPr lang="en-US" altLang="zh-TW" sz="1000" dirty="0">
                <a:sym typeface="Wingdings" panose="05000000000000000000" pitchFamily="2" charset="2"/>
              </a:rPr>
              <a:t> (Essential AI*)	Niki Parmar (Anthropic)	Aidan N.Gomez (Cohere*)</a:t>
            </a:r>
          </a:p>
          <a:p>
            <a:pPr indent="541338" defTabSz="7269163">
              <a:tabLst>
                <a:tab pos="2955925" algn="l"/>
                <a:tab pos="5470525" algn="l"/>
              </a:tabLst>
            </a:pPr>
            <a:r>
              <a:rPr lang="en-US" altLang="zh-TW" sz="1000" dirty="0"/>
              <a:t>Noam Shazeer</a:t>
            </a:r>
            <a:r>
              <a:rPr lang="en-US" altLang="zh-TW" sz="1000" dirty="0">
                <a:sym typeface="Wingdings" panose="05000000000000000000" pitchFamily="2" charset="2"/>
              </a:rPr>
              <a:t> (Google)	Jakob Uszkoreit (Inceptive*)	</a:t>
            </a:r>
          </a:p>
          <a:p>
            <a:pPr indent="541338" defTabSz="7269163">
              <a:tabLst>
                <a:tab pos="2955925" algn="l"/>
                <a:tab pos="5470525" algn="l"/>
              </a:tabLst>
            </a:pPr>
            <a:r>
              <a:rPr lang="en-US" altLang="zh-TW" sz="1000" dirty="0">
                <a:sym typeface="Wingdings" panose="05000000000000000000" pitchFamily="2" charset="2"/>
              </a:rPr>
              <a:t>Lukasz Kaiser (OpenAI)	Llion Jones (Sakana AI*)	-- «The Transformer Eight»</a:t>
            </a:r>
            <a:endParaRPr lang="en-US" altLang="zh-TW" sz="1000" b="1" dirty="0">
              <a:sym typeface="Wingdings" panose="05000000000000000000" pitchFamily="2" charset="2"/>
            </a:endParaRPr>
          </a:p>
          <a:p>
            <a:pPr indent="541338" defTabSz="7269163">
              <a:tabLst>
                <a:tab pos="2955925" algn="l"/>
                <a:tab pos="5470525" algn="l"/>
              </a:tabLst>
            </a:pPr>
            <a:r>
              <a:rPr lang="en-US" altLang="zh-TW" sz="1000" dirty="0">
                <a:sym typeface="Wingdings" panose="05000000000000000000" pitchFamily="2" charset="2"/>
              </a:rPr>
              <a:t>		Illia Polosukhin (NEAR Protocol*)</a:t>
            </a:r>
            <a:endParaRPr lang="zh-TW" altLang="en-US" sz="1000" dirty="0">
              <a:solidFill>
                <a:schemeClr val="accent1">
                  <a:lumMod val="75000"/>
                </a:schemeClr>
              </a:solidFill>
            </a:endParaRPr>
          </a:p>
        </p:txBody>
      </p:sp>
    </p:spTree>
    <p:extLst>
      <p:ext uri="{BB962C8B-B14F-4D97-AF65-F5344CB8AC3E}">
        <p14:creationId xmlns:p14="http://schemas.microsoft.com/office/powerpoint/2010/main" val="326760958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BC20B80-B722-2523-9202-3F21EBB146DE}"/>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5B9CD27E-9C1A-3219-6A05-1CA47876AE20}"/>
              </a:ext>
            </a:extLst>
          </p:cNvPr>
          <p:cNvSpPr txBox="1"/>
          <p:nvPr/>
        </p:nvSpPr>
        <p:spPr>
          <a:xfrm>
            <a:off x="1295636" y="1305341"/>
            <a:ext cx="6552728" cy="3970318"/>
          </a:xfrm>
          <a:prstGeom prst="rect">
            <a:avLst/>
          </a:prstGeom>
          <a:solidFill>
            <a:schemeClr val="bg1"/>
          </a:solidFill>
        </p:spPr>
        <p:txBody>
          <a:bodyPr wrap="square" rtlCol="0">
            <a:spAutoFit/>
          </a:bodyPr>
          <a:lstStyle/>
          <a:p>
            <a:pPr marL="285750" indent="-285750">
              <a:buFont typeface="Wingdings" panose="05000000000000000000" pitchFamily="2" charset="2"/>
              <a:buChar char="Ø"/>
              <a:defRPr/>
            </a:pPr>
            <a:r>
              <a:rPr lang="en-US" altLang="zh-TW" sz="2400" dirty="0">
                <a:latin typeface="Noto Sans HK" panose="020B0200000000000000" pitchFamily="34" charset="-120"/>
                <a:ea typeface="Noto Sans HK" panose="020B0200000000000000" pitchFamily="34" charset="-120"/>
              </a:rPr>
              <a:t>Overview</a:t>
            </a:r>
            <a:r>
              <a:rPr lang="en-US" altLang="zh-TW" sz="1200" dirty="0">
                <a:solidFill>
                  <a:prstClr val="white">
                    <a:lumMod val="75000"/>
                  </a:prstClr>
                </a:solidFill>
                <a:latin typeface="Noto Sans HK" panose="020B0200000000000000" pitchFamily="34" charset="-120"/>
                <a:ea typeface="Noto Sans HK" panose="020B0200000000000000" pitchFamily="34" charset="-120"/>
              </a:rPr>
              <a:t> (AI Evolution from Alex</a:t>
            </a:r>
            <a:r>
              <a:rPr lang="zh-TW" altLang="en-US" sz="1200" dirty="0">
                <a:solidFill>
                  <a:prstClr val="white">
                    <a:lumMod val="75000"/>
                  </a:prstClr>
                </a:solidFill>
                <a:latin typeface="Noto Sans HK" panose="020B0200000000000000" pitchFamily="34" charset="-120"/>
                <a:ea typeface="Noto Sans HK" panose="020B0200000000000000" pitchFamily="34" charset="-120"/>
              </a:rPr>
              <a:t>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Net to GPT)</a:t>
            </a:r>
            <a:endParaRPr lang="en-US" altLang="zh-TW" sz="2400" dirty="0">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Machine Learning</a:t>
            </a:r>
            <a:r>
              <a:rPr lang="zh-TW" altLang="en-US" dirty="0">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(UL, semi-SL, SL, RL)</a:t>
            </a:r>
            <a:r>
              <a:rPr lang="en-US" altLang="zh-TW" sz="1400" dirty="0">
                <a:solidFill>
                  <a:schemeClr val="bg1">
                    <a:lumMod val="50000"/>
                  </a:schemeClr>
                </a:solidFill>
                <a:latin typeface="Noto Sans HK" panose="020B0200000000000000" pitchFamily="34" charset="-120"/>
                <a:ea typeface="Noto Sans HK" panose="020B0200000000000000" pitchFamily="34" charset="-120"/>
              </a:rPr>
              <a:t> </a:t>
            </a:r>
          </a:p>
          <a:p>
            <a:pPr marL="742950" lvl="1" indent="-285750">
              <a:buFont typeface="Arial" panose="020B0604020202020204" pitchFamily="34" charset="0"/>
              <a:buChar char="•"/>
            </a:pPr>
            <a:r>
              <a:rPr kumimoji="0" lang="en-US" altLang="zh-TW" sz="1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LLM Training Stages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(Pre-Training, SFT, RLHF)</a:t>
            </a:r>
          </a:p>
          <a:p>
            <a:pPr marL="285750" indent="-285750">
              <a:buFont typeface="Wingdings" panose="05000000000000000000" pitchFamily="2" charset="2"/>
              <a:buChar char="Ø"/>
            </a:pPr>
            <a:r>
              <a:rPr lang="en-US" altLang="zh-TW" sz="2400" dirty="0">
                <a:latin typeface="Noto Sans HK" panose="020B0200000000000000" pitchFamily="34" charset="-120"/>
                <a:ea typeface="Noto Sans HK" panose="020B0200000000000000" pitchFamily="34" charset="-120"/>
              </a:rPr>
              <a:t>Transformer</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(Basic model type has: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Dense and </a:t>
            </a:r>
            <a:r>
              <a:rPr lang="en-US" altLang="zh-TW" sz="1200" dirty="0" err="1">
                <a:solidFill>
                  <a:schemeClr val="bg1">
                    <a:lumMod val="75000"/>
                  </a:schemeClr>
                </a:solidFill>
                <a:latin typeface="Noto Sans HK" panose="020B0200000000000000" pitchFamily="34" charset="-120"/>
                <a:ea typeface="Noto Sans HK" panose="020B0200000000000000" pitchFamily="34" charset="-120"/>
              </a:rPr>
              <a:t>MoE</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Program Flow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(Embedding, PE, Self-Attention</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 FFN, LP2V</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Self-Attention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(Attention is all you nee)</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Feed Forward Neural Network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Token Embedding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(Semantic Space)</a:t>
            </a:r>
            <a:endParaRPr lang="en-US" altLang="zh-TW" sz="1200" dirty="0">
              <a:solidFill>
                <a:schemeClr val="bg1">
                  <a:lumMod val="75000"/>
                </a:schemeClr>
              </a:solidFill>
              <a:latin typeface="Noto Sans HK" panose="020B0200000000000000" pitchFamily="34" charset="-120"/>
              <a:ea typeface="Noto Sans HK" panose="020B0200000000000000" pitchFamily="34" charset="-120"/>
            </a:endParaRP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Rotary of PE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(Relative distance)</a:t>
            </a:r>
            <a:endParaRPr lang="en-US" altLang="zh-TW" sz="1200" dirty="0">
              <a:solidFill>
                <a:prstClr val="black"/>
              </a:solidFill>
              <a:latin typeface="Noto Sans HK" panose="020B0200000000000000" pitchFamily="34" charset="-120"/>
              <a:ea typeface="Noto Sans HK" panose="020B0200000000000000" pitchFamily="34" charset="-120"/>
            </a:endParaRPr>
          </a:p>
          <a:p>
            <a:pPr marL="285750" marR="0" lvl="0" indent="-285750" algn="l" defTabSz="914400" rtl="0" eaLnBrk="1" fontAlgn="auto" latinLnBrk="0" hangingPunct="1">
              <a:lnSpc>
                <a:spcPct val="100000"/>
              </a:lnSpc>
              <a:spcBef>
                <a:spcPts val="0"/>
              </a:spcBef>
              <a:spcAft>
                <a:spcPts val="0"/>
              </a:spcAft>
              <a:buClrTx/>
              <a:buSzTx/>
              <a:buFont typeface="Wingdings" panose="05000000000000000000" pitchFamily="2" charset="2"/>
              <a:buChar char="Ø"/>
              <a:tabLst/>
              <a:defRPr/>
            </a:pPr>
            <a:r>
              <a:rPr kumimoji="0" lang="en-US" altLang="zh-TW" sz="2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rPr>
              <a:t>GPT</a:t>
            </a:r>
            <a:r>
              <a:rPr kumimoji="0" lang="zh-TW" altLang="en-US" sz="1400" b="0" i="0" u="none" strike="noStrike" kern="1200" cap="none" spc="0" normalizeH="0" baseline="0" noProof="0" dirty="0">
                <a:ln>
                  <a:noFill/>
                </a:ln>
                <a:solidFill>
                  <a:prstClr val="white">
                    <a:lumMod val="50000"/>
                  </a:prstClr>
                </a:solidFill>
                <a:effectLst/>
                <a:uLnTx/>
                <a:uFillTx/>
                <a:latin typeface="Noto Sans HK" panose="020B0200000000000000" pitchFamily="34" charset="-120"/>
                <a:ea typeface="Noto Sans HK" panose="020B0200000000000000" pitchFamily="34" charset="-120"/>
              </a:rPr>
              <a:t> </a:t>
            </a:r>
            <a:r>
              <a:rPr kumimoji="0" lang="en-US" altLang="zh-TW" sz="1200" b="0" i="0" u="none" strike="noStrike" kern="1200" cap="none" spc="0" normalizeH="0" baseline="0" noProof="0" dirty="0">
                <a:ln>
                  <a:noFill/>
                </a:ln>
                <a:solidFill>
                  <a:schemeClr val="bg1">
                    <a:lumMod val="75000"/>
                  </a:schemeClr>
                </a:solidFill>
                <a:effectLst/>
                <a:uLnTx/>
                <a:uFillTx/>
                <a:latin typeface="Noto Sans HK" panose="020B0200000000000000" pitchFamily="34" charset="-120"/>
                <a:ea typeface="Noto Sans HK" panose="020B0200000000000000" pitchFamily="34" charset="-120"/>
              </a:rPr>
              <a:t>(How GPT predict next token?)</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Pre-Training</a:t>
            </a:r>
            <a:r>
              <a:rPr lang="en-US" altLang="zh-TW" dirty="0">
                <a:solidFill>
                  <a:prstClr val="white">
                    <a:lumMod val="50000"/>
                  </a:prstClr>
                </a:solidFill>
                <a:latin typeface="Noto Sans HK" panose="020B0200000000000000" pitchFamily="34" charset="-120"/>
                <a:ea typeface="Noto Sans HK" panose="020B0200000000000000" pitchFamily="34" charset="-120"/>
              </a:rPr>
              <a:t>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(Output: weight matrix and parameters)</a:t>
            </a:r>
          </a:p>
          <a:p>
            <a:pPr marL="742950" lvl="1" indent="-285750">
              <a:buFont typeface="Arial" panose="020B0604020202020204" pitchFamily="34" charset="0"/>
              <a:buChar char="•"/>
            </a:pPr>
            <a:r>
              <a:rPr lang="en-US" altLang="zh-TW" dirty="0">
                <a:latin typeface="Noto Sans HK" panose="020B0200000000000000" pitchFamily="34" charset="-120"/>
                <a:ea typeface="Noto Sans HK" panose="020B0200000000000000" pitchFamily="34" charset="-120"/>
              </a:rPr>
              <a:t>Backpropagation </a:t>
            </a:r>
            <a:r>
              <a:rPr lang="en-US" altLang="zh-TW" sz="1200" dirty="0">
                <a:solidFill>
                  <a:schemeClr val="bg1">
                    <a:lumMod val="75000"/>
                  </a:schemeClr>
                </a:solidFill>
                <a:latin typeface="Noto Sans HK" panose="020B0200000000000000" pitchFamily="34" charset="-120"/>
                <a:ea typeface="Noto Sans HK" panose="020B0200000000000000" pitchFamily="34" charset="-120"/>
              </a:rPr>
              <a:t>(Chain Rule, gradient descent)</a:t>
            </a:r>
          </a:p>
          <a:p>
            <a:pPr marL="742950" lvl="1" indent="-285750">
              <a:buFont typeface="Arial" panose="020B0604020202020204" pitchFamily="34" charset="0"/>
              <a:buChar char="•"/>
              <a:defRPr/>
            </a:pPr>
            <a:r>
              <a:rPr lang="en-US" altLang="zh-TW" dirty="0">
                <a:solidFill>
                  <a:prstClr val="black"/>
                </a:solidFill>
                <a:latin typeface="Noto Sans HK" panose="020B0200000000000000" pitchFamily="34" charset="-120"/>
                <a:ea typeface="Noto Sans HK" panose="020B0200000000000000" pitchFamily="34" charset="-120"/>
              </a:rPr>
              <a:t>AI</a:t>
            </a:r>
            <a:r>
              <a:rPr lang="zh-TW" altLang="en-US" dirty="0">
                <a:solidFill>
                  <a:prstClr val="black"/>
                </a:solidFill>
                <a:latin typeface="Noto Sans HK" panose="020B0200000000000000" pitchFamily="34" charset="-120"/>
                <a:ea typeface="Noto Sans HK" panose="020B0200000000000000" pitchFamily="34" charset="-120"/>
              </a:rPr>
              <a:t> </a:t>
            </a:r>
            <a:r>
              <a:rPr lang="en-US" altLang="zh-TW" dirty="0">
                <a:solidFill>
                  <a:prstClr val="black"/>
                </a:solidFill>
                <a:latin typeface="Noto Sans HK" panose="020B0200000000000000" pitchFamily="34" charset="-120"/>
                <a:ea typeface="Noto Sans HK" panose="020B0200000000000000" pitchFamily="34" charset="-120"/>
              </a:rPr>
              <a:t>Server </a:t>
            </a:r>
            <a:r>
              <a:rPr lang="en-US" altLang="zh-TW" sz="1200" dirty="0">
                <a:solidFill>
                  <a:prstClr val="white">
                    <a:lumMod val="75000"/>
                  </a:prstClr>
                </a:solidFill>
                <a:latin typeface="Noto Sans HK" panose="020B0200000000000000" pitchFamily="34" charset="-120"/>
                <a:ea typeface="Noto Sans HK" panose="020B0200000000000000" pitchFamily="34" charset="-120"/>
              </a:rPr>
              <a:t>(Cost structure analysis)</a:t>
            </a:r>
          </a:p>
        </p:txBody>
      </p:sp>
      <p:sp>
        <p:nvSpPr>
          <p:cNvPr id="64" name="標題 1">
            <a:extLst>
              <a:ext uri="{FF2B5EF4-FFF2-40B4-BE49-F238E27FC236}">
                <a16:creationId xmlns:a16="http://schemas.microsoft.com/office/drawing/2014/main" id="{94909093-0BFB-B658-A42D-64D3192A2420}"/>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Agenda</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3" name="文字方塊 2">
            <a:extLst>
              <a:ext uri="{FF2B5EF4-FFF2-40B4-BE49-F238E27FC236}">
                <a16:creationId xmlns:a16="http://schemas.microsoft.com/office/drawing/2014/main" id="{1DB4E429-5595-ACCD-1E73-CED595D308A6}"/>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450648465"/>
      </p:ext>
    </p:extLst>
  </p:cSld>
  <p:clrMapOvr>
    <a:masterClrMapping/>
  </p:clrMapOvr>
  <mc:AlternateContent xmlns:mc="http://schemas.openxmlformats.org/markup-compatibility/2006" xmlns:p14="http://schemas.microsoft.com/office/powerpoint/2010/main">
    <mc:Choice Requires="p14">
      <p:transition p14:dur="10" advClick="0"/>
    </mc:Choice>
    <mc:Fallback xmlns="">
      <p:transition advClick="0"/>
    </mc:Fallback>
  </mc:AlternateContent>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3" presetClass="emph" presetSubtype="2" fill="hold" grpId="0" nodeType="clickEffect">
                                  <p:stCondLst>
                                    <p:cond delay="0"/>
                                  </p:stCondLst>
                                  <p:childTnLst>
                                    <p:animClr clrSpc="rgb" dir="cw">
                                      <p:cBhvr override="childStyle">
                                        <p:cTn id="6" dur="500" fill="hold"/>
                                        <p:tgtEl>
                                          <p:spTgt spid="2">
                                            <p:txEl>
                                              <p:pRg st="0" end="0"/>
                                            </p:txEl>
                                          </p:spTgt>
                                        </p:tgtEl>
                                        <p:attrNameLst>
                                          <p:attrName>style.color</p:attrName>
                                        </p:attrNameLst>
                                      </p:cBhvr>
                                      <p:to>
                                        <a:srgbClr val="FF0000"/>
                                      </p:to>
                                    </p:animClr>
                                  </p:childTnLst>
                                  <p:subTnLst>
                                    <p:audio>
                                      <p:cMediaNode>
                                        <p:cTn display="0" masterRel="sameClick">
                                          <p:stCondLst>
                                            <p:cond evt="begin" delay="0">
                                              <p:tn val="5"/>
                                            </p:cond>
                                          </p:stCondLst>
                                          <p:endCondLst>
                                            <p:cond evt="onStopAudio" delay="0">
                                              <p:tgtEl>
                                                <p:sldTgt/>
                                              </p:tgtEl>
                                            </p:cond>
                                          </p:endCondLst>
                                        </p:cTn>
                                        <p:tgtEl>
                                          <p:sndTgt r:embed="rId3" name="type.wav"/>
                                        </p:tgtEl>
                                      </p:cMediaNode>
                                    </p:audio>
                                  </p:subTnLst>
                                </p:cTn>
                              </p:par>
                              <p:par>
                                <p:cTn id="7" presetID="3" presetClass="emph" presetSubtype="2" fill="hold" grpId="0" nodeType="withEffect">
                                  <p:stCondLst>
                                    <p:cond delay="0"/>
                                  </p:stCondLst>
                                  <p:childTnLst>
                                    <p:animClr clrSpc="rgb" dir="cw">
                                      <p:cBhvr override="childStyle">
                                        <p:cTn id="8" dur="500" fill="hold"/>
                                        <p:tgtEl>
                                          <p:spTgt spid="2">
                                            <p:txEl>
                                              <p:pRg st="1" end="1"/>
                                            </p:txEl>
                                          </p:spTgt>
                                        </p:tgtEl>
                                        <p:attrNameLst>
                                          <p:attrName>style.color</p:attrName>
                                        </p:attrNameLst>
                                      </p:cBhvr>
                                      <p:to>
                                        <a:srgbClr val="FF0000"/>
                                      </p:to>
                                    </p:animClr>
                                  </p:childTnLst>
                                  <p:subTnLst>
                                    <p:audio>
                                      <p:cMediaNode>
                                        <p:cTn display="0" masterRel="sameClick">
                                          <p:stCondLst>
                                            <p:cond evt="begin" delay="0">
                                              <p:tn val="7"/>
                                            </p:cond>
                                          </p:stCondLst>
                                          <p:endCondLst>
                                            <p:cond evt="onStopAudio" delay="0">
                                              <p:tgtEl>
                                                <p:sldTgt/>
                                              </p:tgtEl>
                                            </p:cond>
                                          </p:endCondLst>
                                        </p:cTn>
                                        <p:tgtEl>
                                          <p:sndTgt r:embed="rId3" name="type.wav"/>
                                        </p:tgtEl>
                                      </p:cMediaNode>
                                    </p:audio>
                                  </p:subTnLst>
                                </p:cTn>
                              </p:par>
                              <p:par>
                                <p:cTn id="9" presetID="3" presetClass="emph" presetSubtype="2" fill="hold" grpId="0" nodeType="withEffect">
                                  <p:stCondLst>
                                    <p:cond delay="0"/>
                                  </p:stCondLst>
                                  <p:childTnLst>
                                    <p:animClr clrSpc="rgb" dir="cw">
                                      <p:cBhvr override="childStyle">
                                        <p:cTn id="10" dur="500" fill="hold"/>
                                        <p:tgtEl>
                                          <p:spTgt spid="2">
                                            <p:txEl>
                                              <p:pRg st="2" end="2"/>
                                            </p:txEl>
                                          </p:spTgt>
                                        </p:tgtEl>
                                        <p:attrNameLst>
                                          <p:attrName>style.color</p:attrName>
                                        </p:attrNameLst>
                                      </p:cBhvr>
                                      <p:to>
                                        <a:srgbClr val="FF0000"/>
                                      </p:to>
                                    </p:animClr>
                                  </p:childTnLst>
                                  <p:subTnLst>
                                    <p:audio>
                                      <p:cMediaNode>
                                        <p:cTn display="0" masterRel="sameClick">
                                          <p:stCondLst>
                                            <p:cond evt="begin" delay="0">
                                              <p:tn val="9"/>
                                            </p:cond>
                                          </p:stCondLst>
                                          <p:endCondLst>
                                            <p:cond evt="onStopAudio" delay="0">
                                              <p:tgtEl>
                                                <p:sldTgt/>
                                              </p:tgtEl>
                                            </p:cond>
                                          </p:endCondLst>
                                        </p:cTn>
                                        <p:tgtEl>
                                          <p:sndTgt r:embed="rId3" name="type.wav"/>
                                        </p:tgtEl>
                                      </p:cMediaNode>
                                    </p:audio>
                                  </p:subTnLst>
                                </p:cTn>
                              </p:par>
                              <p:par>
                                <p:cTn id="11" presetID="3" presetClass="emph" presetSubtype="2" fill="hold" grpId="1" nodeType="withEffect">
                                  <p:stCondLst>
                                    <p:cond delay="0"/>
                                  </p:stCondLst>
                                  <p:childTnLst>
                                    <p:animClr clrSpc="rgb" dir="cw">
                                      <p:cBhvr override="childStyle">
                                        <p:cTn id="12" dur="2000" fill="hold"/>
                                        <p:tgtEl>
                                          <p:spTgt spid="2">
                                            <p:txEl>
                                              <p:pRg st="0" end="0"/>
                                            </p:txEl>
                                          </p:spTgt>
                                        </p:tgtEl>
                                        <p:attrNameLst>
                                          <p:attrName>style.color</p:attrName>
                                        </p:attrNameLst>
                                      </p:cBhvr>
                                      <p:to>
                                        <a:srgbClr val="4D4D4D"/>
                                      </p:to>
                                    </p:animClr>
                                  </p:childTnLst>
                                </p:cTn>
                              </p:par>
                              <p:par>
                                <p:cTn id="13" presetID="3" presetClass="emph" presetSubtype="2" fill="hold" grpId="1" nodeType="withEffect">
                                  <p:stCondLst>
                                    <p:cond delay="0"/>
                                  </p:stCondLst>
                                  <p:childTnLst>
                                    <p:animClr clrSpc="rgb" dir="cw">
                                      <p:cBhvr override="childStyle">
                                        <p:cTn id="14" dur="2000" fill="hold"/>
                                        <p:tgtEl>
                                          <p:spTgt spid="2">
                                            <p:txEl>
                                              <p:pRg st="1" end="1"/>
                                            </p:txEl>
                                          </p:spTgt>
                                        </p:tgtEl>
                                        <p:attrNameLst>
                                          <p:attrName>style.color</p:attrName>
                                        </p:attrNameLst>
                                      </p:cBhvr>
                                      <p:to>
                                        <a:srgbClr val="4D4D4D"/>
                                      </p:to>
                                    </p:animClr>
                                  </p:childTnLst>
                                </p:cTn>
                              </p:par>
                              <p:par>
                                <p:cTn id="15" presetID="3" presetClass="emph" presetSubtype="2" fill="hold" grpId="1" nodeType="withEffect">
                                  <p:stCondLst>
                                    <p:cond delay="0"/>
                                  </p:stCondLst>
                                  <p:childTnLst>
                                    <p:animClr clrSpc="rgb" dir="cw">
                                      <p:cBhvr override="childStyle">
                                        <p:cTn id="16" dur="2000" fill="hold"/>
                                        <p:tgtEl>
                                          <p:spTgt spid="2">
                                            <p:txEl>
                                              <p:pRg st="2" end="2"/>
                                            </p:txEl>
                                          </p:spTgt>
                                        </p:tgtEl>
                                        <p:attrNameLst>
                                          <p:attrName>style.color</p:attrName>
                                        </p:attrNameLst>
                                      </p:cBhvr>
                                      <p:to>
                                        <a:srgbClr val="4D4D4D"/>
                                      </p:to>
                                    </p:animClr>
                                  </p:childTnLst>
                                </p:cTn>
                              </p:par>
                            </p:childTnLst>
                          </p:cTn>
                        </p:par>
                      </p:childTnLst>
                    </p:cTn>
                  </p:par>
                  <p:par>
                    <p:cTn id="17" fill="hold">
                      <p:stCondLst>
                        <p:cond delay="indefinite"/>
                      </p:stCondLst>
                      <p:childTnLst>
                        <p:par>
                          <p:cTn id="18" fill="hold">
                            <p:stCondLst>
                              <p:cond delay="0"/>
                            </p:stCondLst>
                            <p:childTnLst>
                              <p:par>
                                <p:cTn id="19" presetID="3" presetClass="emph" presetSubtype="2" fill="hold" grpId="0" nodeType="clickEffect">
                                  <p:stCondLst>
                                    <p:cond delay="0"/>
                                  </p:stCondLst>
                                  <p:childTnLst>
                                    <p:animClr clrSpc="rgb" dir="cw">
                                      <p:cBhvr override="childStyle">
                                        <p:cTn id="20" dur="500" fill="hold"/>
                                        <p:tgtEl>
                                          <p:spTgt spid="2">
                                            <p:txEl>
                                              <p:pRg st="3" end="3"/>
                                            </p:txEl>
                                          </p:spTgt>
                                        </p:tgtEl>
                                        <p:attrNameLst>
                                          <p:attrName>style.color</p:attrName>
                                        </p:attrNameLst>
                                      </p:cBhvr>
                                      <p:to>
                                        <a:srgbClr val="FF0000"/>
                                      </p:to>
                                    </p:animClr>
                                  </p:childTnLst>
                                  <p:subTnLst>
                                    <p:audio>
                                      <p:cMediaNode>
                                        <p:cTn display="0" masterRel="sameClick">
                                          <p:stCondLst>
                                            <p:cond evt="begin" delay="0">
                                              <p:tn val="19"/>
                                            </p:cond>
                                          </p:stCondLst>
                                          <p:endCondLst>
                                            <p:cond evt="onStopAudio" delay="0">
                                              <p:tgtEl>
                                                <p:sldTgt/>
                                              </p:tgtEl>
                                            </p:cond>
                                          </p:endCondLst>
                                        </p:cTn>
                                        <p:tgtEl>
                                          <p:sndTgt r:embed="rId3" name="type.wav"/>
                                        </p:tgtEl>
                                      </p:cMediaNode>
                                    </p:audio>
                                  </p:subTnLst>
                                </p:cTn>
                              </p:par>
                            </p:childTnLst>
                          </p:cTn>
                        </p:par>
                      </p:childTnLst>
                    </p:cTn>
                  </p:par>
                  <p:par>
                    <p:cTn id="21" fill="hold">
                      <p:stCondLst>
                        <p:cond delay="indefinite"/>
                      </p:stCondLst>
                      <p:childTnLst>
                        <p:par>
                          <p:cTn id="22" fill="hold">
                            <p:stCondLst>
                              <p:cond delay="0"/>
                            </p:stCondLst>
                            <p:childTnLst>
                              <p:par>
                                <p:cTn id="23" presetID="3" presetClass="emph" presetSubtype="2" fill="hold" grpId="0" nodeType="clickEffect">
                                  <p:stCondLst>
                                    <p:cond delay="0"/>
                                  </p:stCondLst>
                                  <p:childTnLst>
                                    <p:animClr clrSpc="rgb" dir="cw">
                                      <p:cBhvr override="childStyle">
                                        <p:cTn id="24" dur="500" fill="hold"/>
                                        <p:tgtEl>
                                          <p:spTgt spid="2">
                                            <p:txEl>
                                              <p:pRg st="4" end="4"/>
                                            </p:txEl>
                                          </p:spTgt>
                                        </p:tgtEl>
                                        <p:attrNameLst>
                                          <p:attrName>style.color</p:attrName>
                                        </p:attrNameLst>
                                      </p:cBhvr>
                                      <p:to>
                                        <a:srgbClr val="FF0000"/>
                                      </p:to>
                                    </p:animClr>
                                  </p:childTnLst>
                                  <p:subTnLst>
                                    <p:audio>
                                      <p:cMediaNode>
                                        <p:cTn display="0" masterRel="sameClick">
                                          <p:stCondLst>
                                            <p:cond evt="begin" delay="0">
                                              <p:tn val="23"/>
                                            </p:cond>
                                          </p:stCondLst>
                                          <p:endCondLst>
                                            <p:cond evt="onStopAudio" delay="0">
                                              <p:tgtEl>
                                                <p:sldTgt/>
                                              </p:tgtEl>
                                            </p:cond>
                                          </p:endCondLst>
                                        </p:cTn>
                                        <p:tgtEl>
                                          <p:sndTgt r:embed="rId3" name="type.wav"/>
                                        </p:tgtEl>
                                      </p:cMediaNode>
                                    </p:audio>
                                  </p:subTnLst>
                                </p:cTn>
                              </p:par>
                              <p:par>
                                <p:cTn id="25" presetID="3" presetClass="emph" presetSubtype="2" fill="hold" grpId="1" nodeType="withEffect">
                                  <p:stCondLst>
                                    <p:cond delay="0"/>
                                  </p:stCondLst>
                                  <p:childTnLst>
                                    <p:animClr clrSpc="rgb" dir="cw">
                                      <p:cBhvr override="childStyle">
                                        <p:cTn id="26" dur="2000" fill="hold"/>
                                        <p:tgtEl>
                                          <p:spTgt spid="2">
                                            <p:txEl>
                                              <p:pRg st="3" end="3"/>
                                            </p:txEl>
                                          </p:spTgt>
                                        </p:tgtEl>
                                        <p:attrNameLst>
                                          <p:attrName>style.color</p:attrName>
                                        </p:attrNameLst>
                                      </p:cBhvr>
                                      <p:to>
                                        <a:srgbClr val="4D4D4D"/>
                                      </p:to>
                                    </p:animClr>
                                  </p:childTnLst>
                                </p:cTn>
                              </p:par>
                              <p:par>
                                <p:cTn id="27" presetID="3" presetClass="emph" presetSubtype="2" fill="hold" grpId="1" nodeType="withEffect">
                                  <p:stCondLst>
                                    <p:cond delay="0"/>
                                  </p:stCondLst>
                                  <p:childTnLst>
                                    <p:animClr clrSpc="rgb" dir="cw">
                                      <p:cBhvr override="childStyle">
                                        <p:cTn id="28" dur="2000" fill="hold"/>
                                        <p:tgtEl>
                                          <p:spTgt spid="2">
                                            <p:txEl>
                                              <p:pRg st="4" end="4"/>
                                            </p:txEl>
                                          </p:spTgt>
                                        </p:tgtEl>
                                        <p:attrNameLst>
                                          <p:attrName>style.color</p:attrName>
                                        </p:attrNameLst>
                                      </p:cBhvr>
                                      <p:to>
                                        <a:srgbClr val="4D4D4D"/>
                                      </p:to>
                                    </p:animClr>
                                  </p:childTnLst>
                                </p:cTn>
                              </p:par>
                            </p:childTnLst>
                          </p:cTn>
                        </p:par>
                      </p:childTnLst>
                    </p:cTn>
                  </p:par>
                  <p:par>
                    <p:cTn id="29" fill="hold">
                      <p:stCondLst>
                        <p:cond delay="indefinite"/>
                      </p:stCondLst>
                      <p:childTnLst>
                        <p:par>
                          <p:cTn id="30" fill="hold">
                            <p:stCondLst>
                              <p:cond delay="0"/>
                            </p:stCondLst>
                            <p:childTnLst>
                              <p:par>
                                <p:cTn id="31" presetID="3" presetClass="emph" presetSubtype="2" fill="hold" grpId="0" nodeType="clickEffect">
                                  <p:stCondLst>
                                    <p:cond delay="0"/>
                                  </p:stCondLst>
                                  <p:childTnLst>
                                    <p:animClr clrSpc="rgb" dir="cw">
                                      <p:cBhvr override="childStyle">
                                        <p:cTn id="32" dur="500" fill="hold"/>
                                        <p:tgtEl>
                                          <p:spTgt spid="2">
                                            <p:txEl>
                                              <p:pRg st="5" end="5"/>
                                            </p:txEl>
                                          </p:spTgt>
                                        </p:tgtEl>
                                        <p:attrNameLst>
                                          <p:attrName>style.color</p:attrName>
                                        </p:attrNameLst>
                                      </p:cBhvr>
                                      <p:to>
                                        <a:srgbClr val="FF0000"/>
                                      </p:to>
                                    </p:animClr>
                                  </p:childTnLst>
                                  <p:subTnLst>
                                    <p:audio>
                                      <p:cMediaNode>
                                        <p:cTn display="0" masterRel="sameClick">
                                          <p:stCondLst>
                                            <p:cond evt="begin" delay="0">
                                              <p:tn val="31"/>
                                            </p:cond>
                                          </p:stCondLst>
                                          <p:endCondLst>
                                            <p:cond evt="onStopAudio" delay="0">
                                              <p:tgtEl>
                                                <p:sldTgt/>
                                              </p:tgtEl>
                                            </p:cond>
                                          </p:endCondLst>
                                        </p:cTn>
                                        <p:tgtEl>
                                          <p:sndTgt r:embed="rId3" name="type.wav"/>
                                        </p:tgtEl>
                                      </p:cMediaNode>
                                    </p:audio>
                                  </p:subTnLst>
                                </p:cTn>
                              </p:par>
                            </p:childTnLst>
                          </p:cTn>
                        </p:par>
                      </p:childTnLst>
                    </p:cTn>
                  </p:par>
                  <p:par>
                    <p:cTn id="33" fill="hold">
                      <p:stCondLst>
                        <p:cond delay="indefinite"/>
                      </p:stCondLst>
                      <p:childTnLst>
                        <p:par>
                          <p:cTn id="34" fill="hold">
                            <p:stCondLst>
                              <p:cond delay="0"/>
                            </p:stCondLst>
                            <p:childTnLst>
                              <p:par>
                                <p:cTn id="35" presetID="3" presetClass="emph" presetSubtype="2" fill="hold" grpId="0" nodeType="clickEffect">
                                  <p:stCondLst>
                                    <p:cond delay="0"/>
                                  </p:stCondLst>
                                  <p:childTnLst>
                                    <p:animClr clrSpc="rgb" dir="cw">
                                      <p:cBhvr override="childStyle">
                                        <p:cTn id="36" dur="500" fill="hold"/>
                                        <p:tgtEl>
                                          <p:spTgt spid="2">
                                            <p:txEl>
                                              <p:pRg st="6" end="6"/>
                                            </p:txEl>
                                          </p:spTgt>
                                        </p:tgtEl>
                                        <p:attrNameLst>
                                          <p:attrName>style.color</p:attrName>
                                        </p:attrNameLst>
                                      </p:cBhvr>
                                      <p:to>
                                        <a:srgbClr val="FF0000"/>
                                      </p:to>
                                    </p:animClr>
                                  </p:childTnLst>
                                  <p:subTnLst>
                                    <p:audio>
                                      <p:cMediaNode>
                                        <p:cTn display="0" masterRel="sameClick">
                                          <p:stCondLst>
                                            <p:cond evt="begin" delay="0">
                                              <p:tn val="35"/>
                                            </p:cond>
                                          </p:stCondLst>
                                          <p:endCondLst>
                                            <p:cond evt="onStopAudio" delay="0">
                                              <p:tgtEl>
                                                <p:sldTgt/>
                                              </p:tgtEl>
                                            </p:cond>
                                          </p:endCondLst>
                                        </p:cTn>
                                        <p:tgtEl>
                                          <p:sndTgt r:embed="rId3" name="type.wav"/>
                                        </p:tgtEl>
                                      </p:cMediaNode>
                                    </p:audio>
                                  </p:subTnLst>
                                </p:cTn>
                              </p:par>
                              <p:par>
                                <p:cTn id="37" presetID="3" presetClass="emph" presetSubtype="2" fill="hold" grpId="1" nodeType="withEffect">
                                  <p:stCondLst>
                                    <p:cond delay="0"/>
                                  </p:stCondLst>
                                  <p:childTnLst>
                                    <p:animClr clrSpc="rgb" dir="cw">
                                      <p:cBhvr override="childStyle">
                                        <p:cTn id="38" dur="2000" fill="hold"/>
                                        <p:tgtEl>
                                          <p:spTgt spid="2">
                                            <p:txEl>
                                              <p:pRg st="5" end="5"/>
                                            </p:txEl>
                                          </p:spTgt>
                                        </p:tgtEl>
                                        <p:attrNameLst>
                                          <p:attrName>style.color</p:attrName>
                                        </p:attrNameLst>
                                      </p:cBhvr>
                                      <p:to>
                                        <a:srgbClr val="4D4D4D"/>
                                      </p:to>
                                    </p:animClr>
                                  </p:childTnLst>
                                </p:cTn>
                              </p:par>
                            </p:childTnLst>
                          </p:cTn>
                        </p:par>
                      </p:childTnLst>
                    </p:cTn>
                  </p:par>
                  <p:par>
                    <p:cTn id="39" fill="hold">
                      <p:stCondLst>
                        <p:cond delay="indefinite"/>
                      </p:stCondLst>
                      <p:childTnLst>
                        <p:par>
                          <p:cTn id="40" fill="hold">
                            <p:stCondLst>
                              <p:cond delay="0"/>
                            </p:stCondLst>
                            <p:childTnLst>
                              <p:par>
                                <p:cTn id="41" presetID="3" presetClass="emph" presetSubtype="2" fill="hold" grpId="0" nodeType="clickEffect">
                                  <p:stCondLst>
                                    <p:cond delay="0"/>
                                  </p:stCondLst>
                                  <p:childTnLst>
                                    <p:animClr clrSpc="rgb" dir="cw">
                                      <p:cBhvr override="childStyle">
                                        <p:cTn id="42" dur="500" fill="hold"/>
                                        <p:tgtEl>
                                          <p:spTgt spid="2">
                                            <p:txEl>
                                              <p:pRg st="7" end="7"/>
                                            </p:txEl>
                                          </p:spTgt>
                                        </p:tgtEl>
                                        <p:attrNameLst>
                                          <p:attrName>style.color</p:attrName>
                                        </p:attrNameLst>
                                      </p:cBhvr>
                                      <p:to>
                                        <a:srgbClr val="FF0000"/>
                                      </p:to>
                                    </p:animClr>
                                  </p:childTnLst>
                                  <p:subTnLst>
                                    <p:audio>
                                      <p:cMediaNode>
                                        <p:cTn display="0" masterRel="sameClick">
                                          <p:stCondLst>
                                            <p:cond evt="begin" delay="0">
                                              <p:tn val="41"/>
                                            </p:cond>
                                          </p:stCondLst>
                                          <p:endCondLst>
                                            <p:cond evt="onStopAudio" delay="0">
                                              <p:tgtEl>
                                                <p:sldTgt/>
                                              </p:tgtEl>
                                            </p:cond>
                                          </p:endCondLst>
                                        </p:cTn>
                                        <p:tgtEl>
                                          <p:sndTgt r:embed="rId3" name="type.wav"/>
                                        </p:tgtEl>
                                      </p:cMediaNode>
                                    </p:audio>
                                  </p:subTnLst>
                                </p:cTn>
                              </p:par>
                              <p:par>
                                <p:cTn id="43" presetID="3" presetClass="emph" presetSubtype="2" fill="hold" grpId="1" nodeType="withEffect">
                                  <p:stCondLst>
                                    <p:cond delay="0"/>
                                  </p:stCondLst>
                                  <p:childTnLst>
                                    <p:animClr clrSpc="rgb" dir="cw">
                                      <p:cBhvr override="childStyle">
                                        <p:cTn id="44" dur="2000" fill="hold"/>
                                        <p:tgtEl>
                                          <p:spTgt spid="2">
                                            <p:txEl>
                                              <p:pRg st="6" end="6"/>
                                            </p:txEl>
                                          </p:spTgt>
                                        </p:tgtEl>
                                        <p:attrNameLst>
                                          <p:attrName>style.color</p:attrName>
                                        </p:attrNameLst>
                                      </p:cBhvr>
                                      <p:to>
                                        <a:srgbClr val="4D4D4D"/>
                                      </p:to>
                                    </p:animClr>
                                  </p:childTnLst>
                                </p:cTn>
                              </p:par>
                            </p:childTnLst>
                          </p:cTn>
                        </p:par>
                      </p:childTnLst>
                    </p:cTn>
                  </p:par>
                  <p:par>
                    <p:cTn id="45" fill="hold">
                      <p:stCondLst>
                        <p:cond delay="indefinite"/>
                      </p:stCondLst>
                      <p:childTnLst>
                        <p:par>
                          <p:cTn id="46" fill="hold">
                            <p:stCondLst>
                              <p:cond delay="0"/>
                            </p:stCondLst>
                            <p:childTnLst>
                              <p:par>
                                <p:cTn id="47" presetID="3" presetClass="emph" presetSubtype="2" fill="hold" grpId="0" nodeType="clickEffect">
                                  <p:stCondLst>
                                    <p:cond delay="0"/>
                                  </p:stCondLst>
                                  <p:childTnLst>
                                    <p:animClr clrSpc="rgb" dir="cw">
                                      <p:cBhvr override="childStyle">
                                        <p:cTn id="48"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47"/>
                                            </p:cond>
                                          </p:stCondLst>
                                          <p:endCondLst>
                                            <p:cond evt="onStopAudio" delay="0">
                                              <p:tgtEl>
                                                <p:sldTgt/>
                                              </p:tgtEl>
                                            </p:cond>
                                          </p:endCondLst>
                                        </p:cTn>
                                        <p:tgtEl>
                                          <p:sndTgt r:embed="rId3" name="type.wav"/>
                                        </p:tgtEl>
                                      </p:cMediaNode>
                                    </p:audio>
                                  </p:subTnLst>
                                </p:cTn>
                              </p:par>
                              <p:par>
                                <p:cTn id="49" presetID="3" presetClass="emph" presetSubtype="2" fill="hold" grpId="1" nodeType="withEffect">
                                  <p:stCondLst>
                                    <p:cond delay="0"/>
                                  </p:stCondLst>
                                  <p:childTnLst>
                                    <p:animClr clrSpc="rgb" dir="cw">
                                      <p:cBhvr override="childStyle">
                                        <p:cTn id="50" dur="2000" fill="hold"/>
                                        <p:tgtEl>
                                          <p:spTgt spid="2">
                                            <p:txEl>
                                              <p:pRg st="7" end="7"/>
                                            </p:txEl>
                                          </p:spTgt>
                                        </p:tgtEl>
                                        <p:attrNameLst>
                                          <p:attrName>style.color</p:attrName>
                                        </p:attrNameLst>
                                      </p:cBhvr>
                                      <p:to>
                                        <a:srgbClr val="4D4D4D"/>
                                      </p:to>
                                    </p:animClr>
                                  </p:childTnLst>
                                </p:cTn>
                              </p:par>
                            </p:childTnLst>
                          </p:cTn>
                        </p:par>
                      </p:childTnLst>
                    </p:cTn>
                  </p:par>
                  <p:par>
                    <p:cTn id="51" fill="hold">
                      <p:stCondLst>
                        <p:cond delay="indefinite"/>
                      </p:stCondLst>
                      <p:childTnLst>
                        <p:par>
                          <p:cTn id="52" fill="hold">
                            <p:stCondLst>
                              <p:cond delay="0"/>
                            </p:stCondLst>
                            <p:childTnLst>
                              <p:par>
                                <p:cTn id="53" presetID="3" presetClass="emph" presetSubtype="2" fill="hold" grpId="0" nodeType="clickEffect">
                                  <p:stCondLst>
                                    <p:cond delay="0"/>
                                  </p:stCondLst>
                                  <p:childTnLst>
                                    <p:animClr clrSpc="rgb" dir="cw">
                                      <p:cBhvr override="childStyle">
                                        <p:cTn id="54"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53"/>
                                            </p:cond>
                                          </p:stCondLst>
                                          <p:endCondLst>
                                            <p:cond evt="onStopAudio" delay="0">
                                              <p:tgtEl>
                                                <p:sldTgt/>
                                              </p:tgtEl>
                                            </p:cond>
                                          </p:endCondLst>
                                        </p:cTn>
                                        <p:tgtEl>
                                          <p:sndTgt r:embed="rId3" name="type.wav"/>
                                        </p:tgtEl>
                                      </p:cMediaNode>
                                    </p:audio>
                                  </p:subTnLst>
                                </p:cTn>
                              </p:par>
                              <p:par>
                                <p:cTn id="55" presetID="3" presetClass="emph" presetSubtype="2" fill="hold" grpId="0" nodeType="withEffect">
                                  <p:stCondLst>
                                    <p:cond delay="0"/>
                                  </p:stCondLst>
                                  <p:childTnLst>
                                    <p:animClr clrSpc="rgb" dir="cw">
                                      <p:cBhvr override="childStyle">
                                        <p:cTn id="56"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55"/>
                                            </p:cond>
                                          </p:stCondLst>
                                          <p:endCondLst>
                                            <p:cond evt="onStopAudio" delay="0">
                                              <p:tgtEl>
                                                <p:sldTgt/>
                                              </p:tgtEl>
                                            </p:cond>
                                          </p:endCondLst>
                                        </p:cTn>
                                        <p:tgtEl>
                                          <p:sndTgt r:embed="rId3" name="type.wav"/>
                                        </p:tgtEl>
                                      </p:cMediaNode>
                                    </p:audio>
                                  </p:subTnLst>
                                </p:cTn>
                              </p:par>
                              <p:par>
                                <p:cTn id="57" presetID="3" presetClass="emph" presetSubtype="2" fill="hold" grpId="1" nodeType="withEffect">
                                  <p:stCondLst>
                                    <p:cond delay="0"/>
                                  </p:stCondLst>
                                  <p:childTnLst>
                                    <p:animClr clrSpc="rgb" dir="cw">
                                      <p:cBhvr override="childStyle">
                                        <p:cTn id="58" dur="2000" fill="hold"/>
                                        <p:tgtEl>
                                          <p:spTgt spid="2">
                                            <p:txEl>
                                              <p:pRg st="8" end="8"/>
                                            </p:txEl>
                                          </p:spTgt>
                                        </p:tgtEl>
                                        <p:attrNameLst>
                                          <p:attrName>style.color</p:attrName>
                                        </p:attrNameLst>
                                      </p:cBhvr>
                                      <p:to>
                                        <a:srgbClr val="4D4D4D"/>
                                      </p:to>
                                    </p:animClr>
                                  </p:childTnLst>
                                </p:cTn>
                              </p:par>
                              <p:par>
                                <p:cTn id="59" presetID="3" presetClass="emph" presetSubtype="2" fill="hold" grpId="1" nodeType="withEffect">
                                  <p:stCondLst>
                                    <p:cond delay="0"/>
                                  </p:stCondLst>
                                  <p:childTnLst>
                                    <p:animClr clrSpc="rgb" dir="cw">
                                      <p:cBhvr override="childStyle">
                                        <p:cTn id="60" dur="2000" fill="hold"/>
                                        <p:tgtEl>
                                          <p:spTgt spid="2">
                                            <p:txEl>
                                              <p:pRg st="9" end="9"/>
                                            </p:txEl>
                                          </p:spTgt>
                                        </p:tgtEl>
                                        <p:attrNameLst>
                                          <p:attrName>style.color</p:attrName>
                                        </p:attrNameLst>
                                      </p:cBhvr>
                                      <p:to>
                                        <a:srgbClr val="4D4D4D"/>
                                      </p:to>
                                    </p:animClr>
                                  </p:childTnLst>
                                </p:cTn>
                              </p:par>
                              <p:par>
                                <p:cTn id="61" presetID="3" presetClass="emph" presetSubtype="2" fill="hold" grpId="1" nodeType="withEffect">
                                  <p:stCondLst>
                                    <p:cond delay="0"/>
                                  </p:stCondLst>
                                  <p:childTnLst>
                                    <p:animClr clrSpc="rgb" dir="cw">
                                      <p:cBhvr override="childStyle">
                                        <p:cTn id="62" dur="2000" fill="hold"/>
                                        <p:tgtEl>
                                          <p:spTgt spid="2">
                                            <p:txEl>
                                              <p:pRg st="10" end="10"/>
                                            </p:txEl>
                                          </p:spTgt>
                                        </p:tgtEl>
                                        <p:attrNameLst>
                                          <p:attrName>style.color</p:attrName>
                                        </p:attrNameLst>
                                      </p:cBhvr>
                                      <p:to>
                                        <a:srgbClr val="4D4D4D"/>
                                      </p:to>
                                    </p:animClr>
                                  </p:childTnLst>
                                </p:cTn>
                              </p:par>
                            </p:childTnLst>
                          </p:cTn>
                        </p:par>
                      </p:childTnLst>
                    </p:cTn>
                  </p:par>
                  <p:par>
                    <p:cTn id="63" fill="hold">
                      <p:stCondLst>
                        <p:cond delay="indefinite"/>
                      </p:stCondLst>
                      <p:childTnLst>
                        <p:par>
                          <p:cTn id="64" fill="hold">
                            <p:stCondLst>
                              <p:cond delay="0"/>
                            </p:stCondLst>
                            <p:childTnLst>
                              <p:par>
                                <p:cTn id="65" presetID="3" presetClass="emph" presetSubtype="2" fill="hold" grpId="0" nodeType="clickEffect">
                                  <p:stCondLst>
                                    <p:cond delay="0"/>
                                  </p:stCondLst>
                                  <p:childTnLst>
                                    <p:animClr clrSpc="rgb" dir="cw">
                                      <p:cBhvr override="childStyle">
                                        <p:cTn id="66" dur="500" fill="hold"/>
                                        <p:tgtEl>
                                          <p:spTgt spid="2">
                                            <p:txEl>
                                              <p:pRg st="11" end="11"/>
                                            </p:txEl>
                                          </p:spTgt>
                                        </p:tgtEl>
                                        <p:attrNameLst>
                                          <p:attrName>style.color</p:attrName>
                                        </p:attrNameLst>
                                      </p:cBhvr>
                                      <p:to>
                                        <a:srgbClr val="FF0000"/>
                                      </p:to>
                                    </p:animClr>
                                  </p:childTnLst>
                                  <p:subTnLst>
                                    <p:audio>
                                      <p:cMediaNode>
                                        <p:cTn display="0" masterRel="sameClick">
                                          <p:stCondLst>
                                            <p:cond evt="begin" delay="0">
                                              <p:tn val="65"/>
                                            </p:cond>
                                          </p:stCondLst>
                                          <p:endCondLst>
                                            <p:cond evt="onStopAudio" delay="0">
                                              <p:tgtEl>
                                                <p:sldTgt/>
                                              </p:tgtEl>
                                            </p:cond>
                                          </p:endCondLst>
                                        </p:cTn>
                                        <p:tgtEl>
                                          <p:sndTgt r:embed="rId3" name="type.wav"/>
                                        </p:tgtEl>
                                      </p:cMediaNode>
                                    </p:audio>
                                  </p:subTnLst>
                                </p:cTn>
                              </p:par>
                            </p:childTnLst>
                          </p:cTn>
                        </p:par>
                      </p:childTnLst>
                    </p:cTn>
                  </p:par>
                  <p:par>
                    <p:cTn id="67" fill="hold">
                      <p:stCondLst>
                        <p:cond delay="indefinite"/>
                      </p:stCondLst>
                      <p:childTnLst>
                        <p:par>
                          <p:cTn id="68" fill="hold">
                            <p:stCondLst>
                              <p:cond delay="0"/>
                            </p:stCondLst>
                            <p:childTnLst>
                              <p:par>
                                <p:cTn id="69" presetID="3" presetClass="emph" presetSubtype="2" fill="hold" grpId="0" nodeType="clickEffect">
                                  <p:stCondLst>
                                    <p:cond delay="0"/>
                                  </p:stCondLst>
                                  <p:childTnLst>
                                    <p:animClr clrSpc="rgb" dir="cw">
                                      <p:cBhvr override="childStyle">
                                        <p:cTn id="70" dur="500" fill="hold"/>
                                        <p:tgtEl>
                                          <p:spTgt spid="2">
                                            <p:txEl>
                                              <p:pRg st="12" end="12"/>
                                            </p:txEl>
                                          </p:spTgt>
                                        </p:tgtEl>
                                        <p:attrNameLst>
                                          <p:attrName>style.color</p:attrName>
                                        </p:attrNameLst>
                                      </p:cBhvr>
                                      <p:to>
                                        <a:srgbClr val="FF0000"/>
                                      </p:to>
                                    </p:animClr>
                                  </p:childTnLst>
                                  <p:subTnLst>
                                    <p:audio>
                                      <p:cMediaNode>
                                        <p:cTn display="0" masterRel="sameClick">
                                          <p:stCondLst>
                                            <p:cond evt="begin" delay="0">
                                              <p:tn val="69"/>
                                            </p:cond>
                                          </p:stCondLst>
                                          <p:endCondLst>
                                            <p:cond evt="onStopAudio" delay="0">
                                              <p:tgtEl>
                                                <p:sldTgt/>
                                              </p:tgtEl>
                                            </p:cond>
                                          </p:endCondLst>
                                        </p:cTn>
                                        <p:tgtEl>
                                          <p:sndTgt r:embed="rId3" name="type.wav"/>
                                        </p:tgtEl>
                                      </p:cMediaNode>
                                    </p:audio>
                                  </p:subTnLst>
                                </p:cTn>
                              </p:par>
                              <p:par>
                                <p:cTn id="71" presetID="3" presetClass="emph" presetSubtype="2" fill="hold" grpId="1" nodeType="withEffect">
                                  <p:stCondLst>
                                    <p:cond delay="0"/>
                                  </p:stCondLst>
                                  <p:childTnLst>
                                    <p:animClr clrSpc="rgb" dir="cw">
                                      <p:cBhvr override="childStyle">
                                        <p:cTn id="72" dur="2000" fill="hold"/>
                                        <p:tgtEl>
                                          <p:spTgt spid="2">
                                            <p:txEl>
                                              <p:pRg st="11" end="11"/>
                                            </p:txEl>
                                          </p:spTgt>
                                        </p:tgtEl>
                                        <p:attrNameLst>
                                          <p:attrName>style.color</p:attrName>
                                        </p:attrNameLst>
                                      </p:cBhvr>
                                      <p:to>
                                        <a:srgbClr val="4D4D4D"/>
                                      </p:to>
                                    </p:animClr>
                                  </p:childTnLst>
                                </p:cTn>
                              </p:par>
                              <p:par>
                                <p:cTn id="73" presetID="3" presetClass="emph" presetSubtype="2" fill="hold" grpId="1" nodeType="withEffect">
                                  <p:stCondLst>
                                    <p:cond delay="0"/>
                                  </p:stCondLst>
                                  <p:childTnLst>
                                    <p:animClr clrSpc="rgb" dir="cw">
                                      <p:cBhvr override="childStyle">
                                        <p:cTn id="74" dur="2000" fill="hold"/>
                                        <p:tgtEl>
                                          <p:spTgt spid="2">
                                            <p:txEl>
                                              <p:pRg st="12" end="12"/>
                                            </p:txEl>
                                          </p:spTgt>
                                        </p:tgtEl>
                                        <p:attrNameLst>
                                          <p:attrName>style.color</p:attrName>
                                        </p:attrNameLst>
                                      </p:cBhvr>
                                      <p:to>
                                        <a:srgbClr val="4D4D4D"/>
                                      </p:to>
                                    </p:animClr>
                                  </p:childTnLst>
                                </p:cTn>
                              </p:par>
                            </p:childTnLst>
                          </p:cTn>
                        </p:par>
                      </p:childTnLst>
                    </p:cTn>
                  </p:par>
                  <p:par>
                    <p:cTn id="75" fill="hold">
                      <p:stCondLst>
                        <p:cond delay="indefinite"/>
                      </p:stCondLst>
                      <p:childTnLst>
                        <p:par>
                          <p:cTn id="76" fill="hold">
                            <p:stCondLst>
                              <p:cond delay="0"/>
                            </p:stCondLst>
                            <p:childTnLst>
                              <p:par>
                                <p:cTn id="77" presetID="1" presetClass="exit" presetSubtype="0" fill="hold" grpId="2" nodeType="clickEffect">
                                  <p:stCondLst>
                                    <p:cond delay="0"/>
                                  </p:stCondLst>
                                  <p:childTnLst>
                                    <p:set>
                                      <p:cBhvr>
                                        <p:cTn id="78" dur="1" fill="hold">
                                          <p:stCondLst>
                                            <p:cond delay="0"/>
                                          </p:stCondLst>
                                        </p:cTn>
                                        <p:tgtEl>
                                          <p:spTgt spid="2">
                                            <p:bg/>
                                          </p:spTgt>
                                        </p:tgtEl>
                                        <p:attrNameLst>
                                          <p:attrName>style.visibility</p:attrName>
                                        </p:attrNameLst>
                                      </p:cBhvr>
                                      <p:to>
                                        <p:strVal val="hidden"/>
                                      </p:to>
                                    </p:set>
                                  </p:childTnLst>
                                </p:cTn>
                              </p:par>
                            </p:childTnLst>
                          </p:cTn>
                        </p:par>
                      </p:childTnLst>
                    </p:cTn>
                  </p:par>
                  <p:par>
                    <p:cTn id="79" fill="hold">
                      <p:stCondLst>
                        <p:cond delay="indefinite"/>
                      </p:stCondLst>
                      <p:childTnLst>
                        <p:par>
                          <p:cTn id="80" fill="hold">
                            <p:stCondLst>
                              <p:cond delay="0"/>
                            </p:stCondLst>
                            <p:childTnLst>
                              <p:par>
                                <p:cTn id="81" presetID="3" presetClass="emph" presetSubtype="2" fill="hold" grpId="0" nodeType="clickEffect">
                                  <p:stCondLst>
                                    <p:cond delay="0"/>
                                  </p:stCondLst>
                                  <p:childTnLst>
                                    <p:animClr clrSpc="rgb" dir="cw">
                                      <p:cBhvr override="childStyle">
                                        <p:cTn id="82" dur="500" fill="hold"/>
                                        <p:tgtEl>
                                          <p:spTgt spid="2">
                                            <p:txEl>
                                              <p:pRg st="8" end="8"/>
                                            </p:txEl>
                                          </p:spTgt>
                                        </p:tgtEl>
                                        <p:attrNameLst>
                                          <p:attrName>style.color</p:attrName>
                                        </p:attrNameLst>
                                      </p:cBhvr>
                                      <p:to>
                                        <a:srgbClr val="FF0000"/>
                                      </p:to>
                                    </p:animClr>
                                  </p:childTnLst>
                                  <p:subTnLst>
                                    <p:audio>
                                      <p:cMediaNode>
                                        <p:cTn display="0" masterRel="sameClick">
                                          <p:stCondLst>
                                            <p:cond evt="begin" delay="0">
                                              <p:tn val="81"/>
                                            </p:cond>
                                          </p:stCondLst>
                                          <p:endCondLst>
                                            <p:cond evt="onStopAudio" delay="0">
                                              <p:tgtEl>
                                                <p:sldTgt/>
                                              </p:tgtEl>
                                            </p:cond>
                                          </p:endCondLst>
                                        </p:cTn>
                                        <p:tgtEl>
                                          <p:sndTgt r:embed="rId3" name="type.wav"/>
                                        </p:tgtEl>
                                      </p:cMediaNode>
                                    </p:audio>
                                  </p:subTnLst>
                                </p:cTn>
                              </p:par>
                            </p:childTnLst>
                          </p:cTn>
                        </p:par>
                      </p:childTnLst>
                    </p:cTn>
                  </p:par>
                  <p:par>
                    <p:cTn id="83" fill="hold">
                      <p:stCondLst>
                        <p:cond delay="indefinite"/>
                      </p:stCondLst>
                      <p:childTnLst>
                        <p:par>
                          <p:cTn id="84" fill="hold">
                            <p:stCondLst>
                              <p:cond delay="0"/>
                            </p:stCondLst>
                            <p:childTnLst>
                              <p:par>
                                <p:cTn id="85" presetID="3" presetClass="emph" presetSubtype="2" fill="hold" grpId="0" nodeType="clickEffect">
                                  <p:stCondLst>
                                    <p:cond delay="0"/>
                                  </p:stCondLst>
                                  <p:childTnLst>
                                    <p:animClr clrSpc="rgb" dir="cw">
                                      <p:cBhvr override="childStyle">
                                        <p:cTn id="86" dur="500" fill="hold"/>
                                        <p:tgtEl>
                                          <p:spTgt spid="2">
                                            <p:txEl>
                                              <p:pRg st="9" end="9"/>
                                            </p:txEl>
                                          </p:spTgt>
                                        </p:tgtEl>
                                        <p:attrNameLst>
                                          <p:attrName>style.color</p:attrName>
                                        </p:attrNameLst>
                                      </p:cBhvr>
                                      <p:to>
                                        <a:srgbClr val="FF0000"/>
                                      </p:to>
                                    </p:animClr>
                                  </p:childTnLst>
                                  <p:subTnLst>
                                    <p:audio>
                                      <p:cMediaNode>
                                        <p:cTn display="0" masterRel="sameClick">
                                          <p:stCondLst>
                                            <p:cond evt="begin" delay="0">
                                              <p:tn val="85"/>
                                            </p:cond>
                                          </p:stCondLst>
                                          <p:endCondLst>
                                            <p:cond evt="onStopAudio" delay="0">
                                              <p:tgtEl>
                                                <p:sldTgt/>
                                              </p:tgtEl>
                                            </p:cond>
                                          </p:endCondLst>
                                        </p:cTn>
                                        <p:tgtEl>
                                          <p:sndTgt r:embed="rId3" name="type.wav"/>
                                        </p:tgtEl>
                                      </p:cMediaNode>
                                    </p:audio>
                                  </p:subTnLst>
                                </p:cTn>
                              </p:par>
                              <p:par>
                                <p:cTn id="87" presetID="3" presetClass="emph" presetSubtype="2" fill="hold" grpId="0" nodeType="withEffect">
                                  <p:stCondLst>
                                    <p:cond delay="0"/>
                                  </p:stCondLst>
                                  <p:childTnLst>
                                    <p:animClr clrSpc="rgb" dir="cw">
                                      <p:cBhvr override="childStyle">
                                        <p:cTn id="88" dur="500" fill="hold"/>
                                        <p:tgtEl>
                                          <p:spTgt spid="2">
                                            <p:txEl>
                                              <p:pRg st="10" end="10"/>
                                            </p:txEl>
                                          </p:spTgt>
                                        </p:tgtEl>
                                        <p:attrNameLst>
                                          <p:attrName>style.color</p:attrName>
                                        </p:attrNameLst>
                                      </p:cBhvr>
                                      <p:to>
                                        <a:srgbClr val="FF0000"/>
                                      </p:to>
                                    </p:animClr>
                                  </p:childTnLst>
                                  <p:subTnLst>
                                    <p:audio>
                                      <p:cMediaNode>
                                        <p:cTn display="0" masterRel="sameClick">
                                          <p:stCondLst>
                                            <p:cond evt="begin" delay="0">
                                              <p:tn val="87"/>
                                            </p:cond>
                                          </p:stCondLst>
                                          <p:endCondLst>
                                            <p:cond evt="onStopAudio" delay="0">
                                              <p:tgtEl>
                                                <p:sldTgt/>
                                              </p:tgtEl>
                                            </p:cond>
                                          </p:endCondLst>
                                        </p:cTn>
                                        <p:tgtEl>
                                          <p:sndTgt r:embed="rId3" name="type.wav"/>
                                        </p:tgtEl>
                                      </p:cMediaNode>
                                    </p:audio>
                                  </p:subTnLst>
                                </p:cTn>
                              </p:par>
                              <p:par>
                                <p:cTn id="89" presetID="3" presetClass="emph" presetSubtype="2" fill="hold" grpId="1" nodeType="withEffect">
                                  <p:stCondLst>
                                    <p:cond delay="0"/>
                                  </p:stCondLst>
                                  <p:childTnLst>
                                    <p:animClr clrSpc="rgb" dir="cw">
                                      <p:cBhvr override="childStyle">
                                        <p:cTn id="90" dur="2000" fill="hold"/>
                                        <p:tgtEl>
                                          <p:spTgt spid="2">
                                            <p:txEl>
                                              <p:pRg st="12" end="12"/>
                                            </p:txEl>
                                          </p:spTgt>
                                        </p:tgtEl>
                                        <p:attrNameLst>
                                          <p:attrName>style.color</p:attrName>
                                        </p:attrNameLst>
                                      </p:cBhvr>
                                      <p:to>
                                        <a:srgbClr val="4D4D4D"/>
                                      </p:to>
                                    </p:animClr>
                                  </p:childTnLst>
                                </p:cTn>
                              </p:par>
                              <p:par>
                                <p:cTn id="91" presetID="3" presetClass="emph" presetSubtype="2" fill="hold" grpId="1" nodeType="withEffect">
                                  <p:stCondLst>
                                    <p:cond delay="0"/>
                                  </p:stCondLst>
                                  <p:childTnLst>
                                    <p:animClr clrSpc="rgb" dir="cw">
                                      <p:cBhvr override="childStyle">
                                        <p:cTn id="92" dur="2000" fill="hold"/>
                                        <p:tgtEl>
                                          <p:spTgt spid="2">
                                            <p:txEl>
                                              <p:pRg st="7" end="7"/>
                                            </p:txEl>
                                          </p:spTgt>
                                        </p:tgtEl>
                                        <p:attrNameLst>
                                          <p:attrName>style.color</p:attrName>
                                        </p:attrNameLst>
                                      </p:cBhvr>
                                      <p:to>
                                        <a:srgbClr val="4D4D4D"/>
                                      </p:to>
                                    </p:animClr>
                                  </p:childTnLst>
                                </p:cTn>
                              </p:par>
                              <p:par>
                                <p:cTn id="93" presetID="3" presetClass="emph" presetSubtype="2" fill="hold" grpId="1" nodeType="withEffect">
                                  <p:stCondLst>
                                    <p:cond delay="0"/>
                                  </p:stCondLst>
                                  <p:childTnLst>
                                    <p:animClr clrSpc="rgb" dir="cw">
                                      <p:cBhvr override="childStyle">
                                        <p:cTn id="94" dur="2000" fill="hold"/>
                                        <p:tgtEl>
                                          <p:spTgt spid="2">
                                            <p:txEl>
                                              <p:pRg st="9" end="9"/>
                                            </p:txEl>
                                          </p:spTgt>
                                        </p:tgtEl>
                                        <p:attrNameLst>
                                          <p:attrName>style.color</p:attrName>
                                        </p:attrNameLst>
                                      </p:cBhvr>
                                      <p:to>
                                        <a:srgbClr val="4D4D4D"/>
                                      </p:to>
                                    </p:animClr>
                                  </p:childTnLst>
                                </p:cTn>
                              </p:par>
                              <p:par>
                                <p:cTn id="95" presetID="3" presetClass="emph" presetSubtype="2" fill="hold" grpId="1" nodeType="withEffect">
                                  <p:stCondLst>
                                    <p:cond delay="0"/>
                                  </p:stCondLst>
                                  <p:childTnLst>
                                    <p:animClr clrSpc="rgb" dir="cw">
                                      <p:cBhvr override="childStyle">
                                        <p:cTn id="96" dur="2000" fill="hold"/>
                                        <p:tgtEl>
                                          <p:spTgt spid="2">
                                            <p:txEl>
                                              <p:pRg st="10" end="10"/>
                                            </p:txEl>
                                          </p:spTgt>
                                        </p:tgtEl>
                                        <p:attrNameLst>
                                          <p:attrName>style.color</p:attrName>
                                        </p:attrNameLst>
                                      </p:cBhvr>
                                      <p:to>
                                        <a:srgbClr val="4D4D4D"/>
                                      </p:to>
                                    </p:animClr>
                                  </p:childTnLst>
                                </p:cTn>
                              </p:par>
                            </p:childTnLst>
                          </p:cTn>
                        </p:par>
                      </p:childTnLst>
                    </p:cTn>
                  </p:par>
                  <p:par>
                    <p:cTn id="97" fill="hold">
                      <p:stCondLst>
                        <p:cond delay="indefinite"/>
                      </p:stCondLst>
                      <p:childTnLst>
                        <p:par>
                          <p:cTn id="98" fill="hold">
                            <p:stCondLst>
                              <p:cond delay="0"/>
                            </p:stCondLst>
                            <p:childTnLst>
                              <p:par>
                                <p:cTn id="99" presetID="1" presetClass="exit" presetSubtype="0" fill="hold" grpId="2" nodeType="clickEffect">
                                  <p:stCondLst>
                                    <p:cond delay="0"/>
                                  </p:stCondLst>
                                  <p:childTnLst>
                                    <p:set>
                                      <p:cBhvr>
                                        <p:cTn id="100" dur="1" fill="hold">
                                          <p:stCondLst>
                                            <p:cond delay="0"/>
                                          </p:stCondLst>
                                        </p:cTn>
                                        <p:tgtEl>
                                          <p:spTgt spid="2">
                                            <p:bg/>
                                          </p:spTgt>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uiExpand="1" build="allAtOnce"/>
      <p:bldP spid="2" grpId="1" uiExpand="1" build="allAtOnce"/>
      <p:bldP spid="2" grpId="2" uiExpand="1" build="allAtOnce" animBg="1"/>
    </p:bld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4" name="表格 3">
            <a:extLst>
              <a:ext uri="{FF2B5EF4-FFF2-40B4-BE49-F238E27FC236}">
                <a16:creationId xmlns:a16="http://schemas.microsoft.com/office/drawing/2014/main" id="{B449B576-2584-24BC-A097-49245A7A31E8}"/>
              </a:ext>
            </a:extLst>
          </p:cNvPr>
          <p:cNvGraphicFramePr>
            <a:graphicFrameLocks noGrp="1"/>
          </p:cNvGraphicFramePr>
          <p:nvPr>
            <p:extLst>
              <p:ext uri="{D42A27DB-BD31-4B8C-83A1-F6EECF244321}">
                <p14:modId xmlns:p14="http://schemas.microsoft.com/office/powerpoint/2010/main" val="1314183931"/>
              </p:ext>
            </p:extLst>
          </p:nvPr>
        </p:nvGraphicFramePr>
        <p:xfrm>
          <a:off x="863588" y="1052736"/>
          <a:ext cx="7416824" cy="4539853"/>
        </p:xfrm>
        <a:graphic>
          <a:graphicData uri="http://schemas.openxmlformats.org/drawingml/2006/table">
            <a:tbl>
              <a:tblPr firstRow="1" bandRow="1">
                <a:tableStyleId>{5C22544A-7EE6-4342-B048-85BDC9FD1C3A}</a:tableStyleId>
              </a:tblPr>
              <a:tblGrid>
                <a:gridCol w="618069">
                  <a:extLst>
                    <a:ext uri="{9D8B030D-6E8A-4147-A177-3AD203B41FA5}">
                      <a16:colId xmlns:a16="http://schemas.microsoft.com/office/drawing/2014/main" val="3115215194"/>
                    </a:ext>
                  </a:extLst>
                </a:gridCol>
                <a:gridCol w="1133126">
                  <a:extLst>
                    <a:ext uri="{9D8B030D-6E8A-4147-A177-3AD203B41FA5}">
                      <a16:colId xmlns:a16="http://schemas.microsoft.com/office/drawing/2014/main" val="2438358024"/>
                    </a:ext>
                  </a:extLst>
                </a:gridCol>
                <a:gridCol w="1133126">
                  <a:extLst>
                    <a:ext uri="{9D8B030D-6E8A-4147-A177-3AD203B41FA5}">
                      <a16:colId xmlns:a16="http://schemas.microsoft.com/office/drawing/2014/main" val="4024420245"/>
                    </a:ext>
                  </a:extLst>
                </a:gridCol>
                <a:gridCol w="1133126">
                  <a:extLst>
                    <a:ext uri="{9D8B030D-6E8A-4147-A177-3AD203B41FA5}">
                      <a16:colId xmlns:a16="http://schemas.microsoft.com/office/drawing/2014/main" val="1885199976"/>
                    </a:ext>
                  </a:extLst>
                </a:gridCol>
                <a:gridCol w="995777">
                  <a:extLst>
                    <a:ext uri="{9D8B030D-6E8A-4147-A177-3AD203B41FA5}">
                      <a16:colId xmlns:a16="http://schemas.microsoft.com/office/drawing/2014/main" val="2600189719"/>
                    </a:ext>
                  </a:extLst>
                </a:gridCol>
                <a:gridCol w="1270474">
                  <a:extLst>
                    <a:ext uri="{9D8B030D-6E8A-4147-A177-3AD203B41FA5}">
                      <a16:colId xmlns:a16="http://schemas.microsoft.com/office/drawing/2014/main" val="1289474231"/>
                    </a:ext>
                  </a:extLst>
                </a:gridCol>
                <a:gridCol w="1133126">
                  <a:extLst>
                    <a:ext uri="{9D8B030D-6E8A-4147-A177-3AD203B41FA5}">
                      <a16:colId xmlns:a16="http://schemas.microsoft.com/office/drawing/2014/main" val="2173516547"/>
                    </a:ext>
                  </a:extLst>
                </a:gridCol>
              </a:tblGrid>
              <a:tr h="422491">
                <a:tc gridSpan="7">
                  <a:txBody>
                    <a:bodyPr/>
                    <a:lstStyle/>
                    <a:p>
                      <a:pPr algn="ctr"/>
                      <a:r>
                        <a:rPr kumimoji="0" lang="en-US" altLang="zh-TW" sz="16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Evolution from Alex Net to GPT </a:t>
                      </a:r>
                      <a:r>
                        <a:rPr kumimoji="0" lang="en-US" altLang="zh-TW" sz="14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a:t>
                      </a:r>
                      <a:endParaRPr lang="en-US" altLang="zh-TW" sz="1200" b="1"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no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cap="none" spc="0" dirty="0">
                        <a:ln w="0"/>
                        <a:solidFill>
                          <a:schemeClr val="tx1"/>
                        </a:solidFill>
                        <a:effectLst/>
                        <a:latin typeface="+mn-lt"/>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74249274"/>
                  </a:ext>
                </a:extLst>
              </a:tr>
              <a:tr h="268097">
                <a:tc>
                  <a:txBody>
                    <a:bodyPr/>
                    <a:lstStyle/>
                    <a:p>
                      <a:pPr algn="l"/>
                      <a:endParaRPr lang="en-US" altLang="zh-TW" sz="1200" b="0" cap="none" spc="0" dirty="0">
                        <a:ln w="0"/>
                        <a:solidFill>
                          <a:schemeClr val="tx1"/>
                        </a:solidFill>
                        <a:effectLst/>
                        <a:latin typeface="+mn-lt"/>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Pre-Training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Fine-Tuning</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Alignment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Parameter</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Model</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1" cap="none" spc="0" dirty="0">
                          <a:ln w="0"/>
                          <a:solidFill>
                            <a:schemeClr val="tx1"/>
                          </a:solidFill>
                          <a:effectLst/>
                          <a:latin typeface="+mn-lt"/>
                        </a:rPr>
                        <a:t>CV</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13515898"/>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2010s</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Word2Vec</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RNN, LSTM</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CNN, Alex Net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64247455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2016</a:t>
                      </a: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Alpha GO</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v1</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603224414"/>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2017</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Transformer</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413403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2018</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BERT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RLHF</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49642222"/>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2019</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Full 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148326291"/>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2020</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GPT-3</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RAG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 v4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714491690"/>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2021</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Prompt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59259351"/>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2022</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FLAN</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(zero-shot)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CoT</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LoRA</a:t>
                      </a:r>
                      <a:endParaRPr kumimoji="0" lang="en-US" altLang="zh-TW"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772492193"/>
                  </a:ext>
                </a:extLst>
              </a:tr>
              <a:tr h="26809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2023</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QLoRA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w="0"/>
                          <a:solidFill>
                            <a:prstClr val="black"/>
                          </a:solidFill>
                          <a:effectLst/>
                          <a:uLnTx/>
                          <a:uFillTx/>
                          <a:latin typeface="+mn-lt"/>
                          <a:ea typeface="+mn-ea"/>
                          <a:cs typeface="+mn-cs"/>
                        </a:rPr>
                        <a:t>MoE</a:t>
                      </a:r>
                      <a:r>
                        <a:rPr kumimoji="0" lang="en-US" altLang="zh-TW" sz="1200" b="0" i="0" u="none" strike="noStrike" kern="1200" cap="none" spc="0" normalizeH="0" baseline="0" noProof="0" dirty="0">
                          <a:ln w="0"/>
                          <a:solidFill>
                            <a:prstClr val="black"/>
                          </a:solidFill>
                          <a:effectLst/>
                          <a:uLnTx/>
                          <a:uFillTx/>
                          <a:latin typeface="+mn-lt"/>
                          <a:ea typeface="+mn-ea"/>
                          <a:cs typeface="+mn-cs"/>
                        </a:rPr>
                        <a:t> (MLA)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40024983"/>
                  </a:ext>
                </a:extLst>
              </a:tr>
              <a:tr h="35766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2024</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Constitutional</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Self-Alignment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FFN (GQA)</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471133333"/>
                  </a:ext>
                </a:extLst>
              </a:tr>
              <a:tr h="249540">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2025</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1.58 Bits</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3175"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22028771"/>
                  </a:ext>
                </a:extLst>
              </a:tr>
              <a:tr h="16509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2026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Native</a:t>
                      </a:r>
                    </a:p>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Multimodal</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Gemma PLE</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YOLO26</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322451293"/>
                  </a:ext>
                </a:extLst>
              </a:tr>
              <a:tr h="357669">
                <a:tc gridSpan="7">
                  <a:txBody>
                    <a:bodyPr/>
                    <a:lstStyle/>
                    <a:p>
                      <a:pPr marL="0" marR="0" lvl="0" indent="0" algn="l" defTabSz="914400" rtl="0" eaLnBrk="1" fontAlgn="auto" latinLnBrk="0" hangingPunct="1">
                        <a:lnSpc>
                          <a:spcPts val="1800"/>
                        </a:lnSpc>
                        <a:spcBef>
                          <a:spcPts val="600"/>
                        </a:spcBef>
                        <a:spcAft>
                          <a:spcPts val="600"/>
                        </a:spcAft>
                        <a:buClrTx/>
                        <a:buSzTx/>
                        <a:buFontTx/>
                        <a:buNone/>
                        <a:tabLst/>
                        <a:defRPr/>
                      </a:pPr>
                      <a:r>
                        <a:rPr kumimoji="0" lang="en-US" altLang="zh-TW" sz="1400" b="1" i="0" u="none" strike="noStrike" kern="1200" cap="none" spc="0" normalizeH="0" baseline="0" noProof="0" dirty="0">
                          <a:ln>
                            <a:noFill/>
                          </a:ln>
                          <a:solidFill>
                            <a:prstClr val="black"/>
                          </a:solidFill>
                          <a:effectLst/>
                          <a:uLnTx/>
                          <a:uFillTx/>
                          <a:latin typeface="+mn-lt"/>
                          <a:ea typeface="+mn-ea"/>
                          <a:cs typeface="+mn-cs"/>
                        </a:rPr>
                        <a:t>Current Edge</a:t>
                      </a:r>
                      <a:r>
                        <a:rPr kumimoji="0" lang="en-US" altLang="zh-TW" sz="1400" b="0" i="0" u="none" strike="noStrike" kern="1200" cap="none" spc="0" normalizeH="0" baseline="0" noProof="0" dirty="0">
                          <a:ln>
                            <a:noFill/>
                          </a:ln>
                          <a:solidFill>
                            <a:prstClr val="black"/>
                          </a:solidFill>
                          <a:effectLst/>
                          <a:uLnTx/>
                          <a:uFillTx/>
                          <a:latin typeface="+mn-lt"/>
                          <a:ea typeface="+mn-ea"/>
                          <a:cs typeface="+mn-cs"/>
                        </a:rPr>
                        <a:t>: Llama4, Qwen 3, DeepSeek-V4, Mistral 3, Gemma4</a:t>
                      </a:r>
                    </a:p>
                  </a:txBody>
                  <a:tcPr marL="0" marR="0" marT="72000" marB="0" anchor="ctr">
                    <a:lnL w="3175" cap="flat" cmpd="sng" algn="ctr">
                      <a:noFill/>
                      <a:prstDash val="solid"/>
                      <a:round/>
                      <a:headEnd type="none" w="med" len="med"/>
                      <a:tailEnd type="none" w="med" len="med"/>
                    </a:lnL>
                    <a:lnR w="3175" cap="flat" cmpd="sng" algn="ctr">
                      <a:noFill/>
                      <a:prstDash val="solid"/>
                      <a:round/>
                      <a:headEnd type="none" w="med" len="med"/>
                      <a:tailEnd type="none" w="med" len="med"/>
                    </a:lnR>
                    <a:lnT w="19050" cap="flat" cmpd="sng" algn="ctr">
                      <a:solidFill>
                        <a:schemeClr val="accent1">
                          <a:lumMod val="40000"/>
                          <a:lumOff val="60000"/>
                        </a:schemeClr>
                      </a:solidFill>
                      <a:prstDash val="solid"/>
                      <a:round/>
                      <a:headEnd type="none" w="med" len="med"/>
                      <a:tailEnd type="none" w="med" len="med"/>
                    </a:lnT>
                    <a:lnB w="19050" cap="flat" cmpd="sng" algn="ctr">
                      <a:no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tc hMerge="1">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0" marR="0" marT="0" marB="0" anchor="ctr" anchorCtr="1">
                    <a:lnL w="3175" cap="flat" cmpd="sng" algn="ctr">
                      <a:noFill/>
                      <a:prstDash val="solid"/>
                      <a:round/>
                      <a:headEnd type="none" w="med" len="med"/>
                      <a:tailEnd type="none" w="med" len="med"/>
                    </a:lnL>
                    <a:lnR w="3175" cap="flat" cmpd="sng" algn="ctr">
                      <a:noFill/>
                      <a:prstDash val="solid"/>
                      <a:round/>
                      <a:headEnd type="none" w="med" len="med"/>
                      <a:tailEnd type="none" w="med" len="med"/>
                    </a:lnR>
                    <a:lnT w="3175" cap="flat" cmpd="sng" algn="ctr">
                      <a:solidFill>
                        <a:schemeClr val="accent1">
                          <a:lumMod val="40000"/>
                          <a:lumOff val="60000"/>
                        </a:schemeClr>
                      </a:solidFill>
                      <a:prstDash val="solid"/>
                      <a:round/>
                      <a:headEnd type="none" w="med" len="med"/>
                      <a:tailEnd type="none" w="med" len="med"/>
                    </a:lnT>
                    <a:lnB w="19050" cap="flat" cmpd="sng" algn="ctr">
                      <a:solidFill>
                        <a:schemeClr val="accent1">
                          <a:lumMod val="40000"/>
                          <a:lumOff val="60000"/>
                        </a:schemeClr>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397455380"/>
                  </a:ext>
                </a:extLst>
              </a:tr>
            </a:tbl>
          </a:graphicData>
        </a:graphic>
      </p:graphicFrame>
      <p:sp>
        <p:nvSpPr>
          <p:cNvPr id="6" name="標題 1">
            <a:extLst>
              <a:ext uri="{FF2B5EF4-FFF2-40B4-BE49-F238E27FC236}">
                <a16:creationId xmlns:a16="http://schemas.microsoft.com/office/drawing/2014/main" id="{216734A2-BD04-8252-C0F5-EFC9A1D5E52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Overview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Data is fuel, DL is the engine, and compute is the rocket.</a:t>
            </a: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8" name="圖片 7">
            <a:extLst>
              <a:ext uri="{FF2B5EF4-FFF2-40B4-BE49-F238E27FC236}">
                <a16:creationId xmlns:a16="http://schemas.microsoft.com/office/drawing/2014/main" id="{7B64792C-12EC-2C19-13ED-A7A868533C36}"/>
              </a:ext>
            </a:extLst>
          </p:cNvPr>
          <p:cNvPicPr>
            <a:picLocks noChangeAspect="1"/>
          </p:cNvPicPr>
          <p:nvPr/>
        </p:nvPicPr>
        <p:blipFill>
          <a:blip r:embed="rId3"/>
          <a:stretch>
            <a:fillRect/>
          </a:stretch>
        </p:blipFill>
        <p:spPr>
          <a:xfrm>
            <a:off x="1859504" y="5700451"/>
            <a:ext cx="408240" cy="432047"/>
          </a:xfrm>
          <a:prstGeom prst="rect">
            <a:avLst/>
          </a:prstGeom>
        </p:spPr>
      </p:pic>
      <p:pic>
        <p:nvPicPr>
          <p:cNvPr id="10" name="圖片 9">
            <a:extLst>
              <a:ext uri="{FF2B5EF4-FFF2-40B4-BE49-F238E27FC236}">
                <a16:creationId xmlns:a16="http://schemas.microsoft.com/office/drawing/2014/main" id="{1C3D7404-077C-3DA9-4F62-8C29CE58B772}"/>
              </a:ext>
            </a:extLst>
          </p:cNvPr>
          <p:cNvPicPr>
            <a:picLocks noChangeAspect="1"/>
          </p:cNvPicPr>
          <p:nvPr/>
        </p:nvPicPr>
        <p:blipFill>
          <a:blip r:embed="rId4"/>
          <a:stretch>
            <a:fillRect/>
          </a:stretch>
        </p:blipFill>
        <p:spPr>
          <a:xfrm>
            <a:off x="2627784" y="5705741"/>
            <a:ext cx="403241" cy="427829"/>
          </a:xfrm>
          <a:prstGeom prst="rect">
            <a:avLst/>
          </a:prstGeom>
        </p:spPr>
      </p:pic>
      <p:pic>
        <p:nvPicPr>
          <p:cNvPr id="12" name="圖片 11">
            <a:extLst>
              <a:ext uri="{FF2B5EF4-FFF2-40B4-BE49-F238E27FC236}">
                <a16:creationId xmlns:a16="http://schemas.microsoft.com/office/drawing/2014/main" id="{13A82B91-FAC4-568D-8CA5-969221C41E64}"/>
              </a:ext>
            </a:extLst>
          </p:cNvPr>
          <p:cNvPicPr>
            <a:picLocks noChangeAspect="1"/>
          </p:cNvPicPr>
          <p:nvPr/>
        </p:nvPicPr>
        <p:blipFill>
          <a:blip r:embed="rId5"/>
          <a:stretch>
            <a:fillRect/>
          </a:stretch>
        </p:blipFill>
        <p:spPr>
          <a:xfrm>
            <a:off x="3423347" y="5705741"/>
            <a:ext cx="576064" cy="432048"/>
          </a:xfrm>
          <a:prstGeom prst="rect">
            <a:avLst/>
          </a:prstGeom>
        </p:spPr>
      </p:pic>
      <p:pic>
        <p:nvPicPr>
          <p:cNvPr id="16" name="圖片 15">
            <a:extLst>
              <a:ext uri="{FF2B5EF4-FFF2-40B4-BE49-F238E27FC236}">
                <a16:creationId xmlns:a16="http://schemas.microsoft.com/office/drawing/2014/main" id="{9BFC4B13-B489-2ED6-C770-27D3FBC6DC14}"/>
              </a:ext>
            </a:extLst>
          </p:cNvPr>
          <p:cNvPicPr>
            <a:picLocks noChangeAspect="1"/>
          </p:cNvPicPr>
          <p:nvPr/>
        </p:nvPicPr>
        <p:blipFill>
          <a:blip r:embed="rId6"/>
          <a:stretch>
            <a:fillRect/>
          </a:stretch>
        </p:blipFill>
        <p:spPr>
          <a:xfrm>
            <a:off x="4283968" y="5661248"/>
            <a:ext cx="439296" cy="442615"/>
          </a:xfrm>
          <a:prstGeom prst="rect">
            <a:avLst/>
          </a:prstGeom>
        </p:spPr>
      </p:pic>
      <p:pic>
        <p:nvPicPr>
          <p:cNvPr id="20" name="圖片 19">
            <a:extLst>
              <a:ext uri="{FF2B5EF4-FFF2-40B4-BE49-F238E27FC236}">
                <a16:creationId xmlns:a16="http://schemas.microsoft.com/office/drawing/2014/main" id="{8DD3591A-3C3D-9A0A-8BB3-E42279EA5886}"/>
              </a:ext>
            </a:extLst>
          </p:cNvPr>
          <p:cNvPicPr>
            <a:picLocks noChangeAspect="1"/>
          </p:cNvPicPr>
          <p:nvPr/>
        </p:nvPicPr>
        <p:blipFill>
          <a:blip r:embed="rId7"/>
          <a:stretch>
            <a:fillRect/>
          </a:stretch>
        </p:blipFill>
        <p:spPr>
          <a:xfrm>
            <a:off x="5079264" y="5695199"/>
            <a:ext cx="439296" cy="437299"/>
          </a:xfrm>
          <a:prstGeom prst="rect">
            <a:avLst/>
          </a:prstGeom>
        </p:spPr>
      </p:pic>
    </p:spTree>
    <p:extLst>
      <p:ext uri="{BB962C8B-B14F-4D97-AF65-F5344CB8AC3E}">
        <p14:creationId xmlns:p14="http://schemas.microsoft.com/office/powerpoint/2010/main" val="810095682"/>
      </p:ext>
    </p:extLst>
  </p:cSld>
  <p:clrMapOvr>
    <a:masterClrMapping/>
  </p:clrMapOvr>
  <mc:AlternateContent xmlns:mc="http://schemas.openxmlformats.org/markup-compatibility/2006">
    <mc:Choice xmlns:p14="http://schemas.microsoft.com/office/powerpoint/2010/main" Requires="p14">
      <p:transition p14:dur="0" advClick="0"/>
    </mc:Choice>
    <mc:Fallback>
      <p:transition advClick="0"/>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819AB00-4371-F404-692F-68971E87673F}"/>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26ACEA48-3E4C-5184-DBDE-1CD1E7539829}"/>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pic>
        <p:nvPicPr>
          <p:cNvPr id="6" name="圖片 5">
            <a:extLst>
              <a:ext uri="{FF2B5EF4-FFF2-40B4-BE49-F238E27FC236}">
                <a16:creationId xmlns:a16="http://schemas.microsoft.com/office/drawing/2014/main" id="{3741FF3A-ABA5-67AB-83D1-06985DA790EE}"/>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2160" y="1844824"/>
            <a:ext cx="2367698" cy="1299459"/>
          </a:xfrm>
          <a:prstGeom prst="rect">
            <a:avLst/>
          </a:prstGeom>
          <a:effectLst>
            <a:glow rad="63500">
              <a:schemeClr val="accent1">
                <a:satMod val="175000"/>
                <a:alpha val="40000"/>
              </a:schemeClr>
            </a:glow>
          </a:effectLst>
        </p:spPr>
      </p:pic>
      <p:sp>
        <p:nvSpPr>
          <p:cNvPr id="7" name="標題 1">
            <a:extLst>
              <a:ext uri="{FF2B5EF4-FFF2-40B4-BE49-F238E27FC236}">
                <a16:creationId xmlns:a16="http://schemas.microsoft.com/office/drawing/2014/main" id="{9845D088-7104-5A0D-5F8B-C629102AD076}"/>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Tree>
    <p:extLst>
      <p:ext uri="{BB962C8B-B14F-4D97-AF65-F5344CB8AC3E}">
        <p14:creationId xmlns:p14="http://schemas.microsoft.com/office/powerpoint/2010/main" val="295739634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92B42F-8775-AC09-3933-1BD4B414D5EC}"/>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53E12340-3B58-15C0-9421-DB4C1461D7A5}"/>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Machine Learning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
        <p:nvSpPr>
          <p:cNvPr id="8" name="文字方塊 7">
            <a:extLst>
              <a:ext uri="{FF2B5EF4-FFF2-40B4-BE49-F238E27FC236}">
                <a16:creationId xmlns:a16="http://schemas.microsoft.com/office/drawing/2014/main" id="{70D1300E-2988-7E18-4352-77EA6DBC974F}"/>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Core Element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Data</a:t>
            </a:r>
            <a:r>
              <a:rPr lang="en-US" altLang="zh-TW" sz="1600" b="0" u="none" strike="noStrike" dirty="0">
                <a:effectLst/>
              </a:rPr>
              <a:t>: The fuel for ML, consisting of Features (inputs) and Labels (correct answers).</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Model</a:t>
            </a:r>
            <a:r>
              <a:rPr lang="en-US" altLang="zh-TW" sz="1600" b="0" u="none" strike="noStrike" dirty="0">
                <a:effectLst/>
              </a:rPr>
              <a:t>: An optimized mathematical formula capable of making decisions.</a:t>
            </a:r>
          </a:p>
          <a:p>
            <a:pPr marL="285750" indent="-285750">
              <a:lnSpc>
                <a:spcPts val="1800"/>
              </a:lnSpc>
              <a:spcBef>
                <a:spcPts val="600"/>
              </a:spcBef>
              <a:spcAft>
                <a:spcPts val="600"/>
              </a:spcAft>
              <a:buFont typeface="Wingdings" panose="05000000000000000000" pitchFamily="2" charset="2"/>
              <a:buChar char="Ø"/>
            </a:pPr>
            <a:r>
              <a:rPr lang="en-US" altLang="zh-TW" sz="1600" b="1" dirty="0"/>
              <a:t>Algorithm:</a:t>
            </a:r>
            <a:r>
              <a:rPr lang="en-US" altLang="zh-TW" sz="1600" dirty="0"/>
              <a:t> Learning tool (e.g., like loss function and optimizer).</a:t>
            </a:r>
          </a:p>
        </p:txBody>
      </p:sp>
      <p:sp>
        <p:nvSpPr>
          <p:cNvPr id="9" name="文字方塊 8">
            <a:extLst>
              <a:ext uri="{FF2B5EF4-FFF2-40B4-BE49-F238E27FC236}">
                <a16:creationId xmlns:a16="http://schemas.microsoft.com/office/drawing/2014/main" id="{4DF6EA5E-8E13-CA32-D72C-473CD4987FE4}"/>
              </a:ext>
            </a:extLst>
          </p:cNvPr>
          <p:cNvSpPr txBox="1"/>
          <p:nvPr/>
        </p:nvSpPr>
        <p:spPr>
          <a:xfrm>
            <a:off x="213023" y="2852936"/>
            <a:ext cx="8568952" cy="3400931"/>
          </a:xfrm>
          <a:prstGeom prst="rect">
            <a:avLst/>
          </a:prstGeom>
          <a:noFill/>
        </p:spPr>
        <p:txBody>
          <a:bodyPr wrap="square">
            <a:spAutoFit/>
          </a:bodyPr>
          <a:lstStyle/>
          <a:p>
            <a:pPr>
              <a:lnSpc>
                <a:spcPts val="1800"/>
              </a:lnSpc>
              <a:spcBef>
                <a:spcPts val="600"/>
              </a:spcBef>
              <a:spcAft>
                <a:spcPts val="600"/>
              </a:spcAft>
            </a:pPr>
            <a:r>
              <a:rPr lang="en-US" altLang="zh-TW" sz="2000" b="1" u="none" strike="noStrike" dirty="0">
                <a:effectLst/>
              </a:rPr>
              <a:t>Main Types of ML</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Unsupervised</a:t>
            </a:r>
            <a:r>
              <a:rPr lang="en-US" altLang="zh-TW" sz="1600" b="0" u="none" strike="noStrike" dirty="0">
                <a:effectLst/>
              </a:rPr>
              <a:t>: Data is unlabeled, no pre-defined answers provided.</a:t>
            </a:r>
          </a:p>
          <a:p>
            <a:pPr marL="742950" lvl="1" indent="-285750">
              <a:lnSpc>
                <a:spcPts val="1800"/>
              </a:lnSpc>
              <a:spcBef>
                <a:spcPts val="600"/>
              </a:spcBef>
              <a:spcAft>
                <a:spcPts val="600"/>
              </a:spcAft>
              <a:buFont typeface="Arial" panose="020B0604020202020204" pitchFamily="34" charset="0"/>
              <a:buChar char="•"/>
            </a:pPr>
            <a:r>
              <a:rPr lang="en-US" altLang="zh-TW" sz="1600" dirty="0"/>
              <a:t>Reduction: PCA, t-SNE and UMAP.</a:t>
            </a:r>
          </a:p>
          <a:p>
            <a:pPr marL="742950" lvl="1" indent="-285750">
              <a:lnSpc>
                <a:spcPts val="1800"/>
              </a:lnSpc>
              <a:spcBef>
                <a:spcPts val="600"/>
              </a:spcBef>
              <a:spcAft>
                <a:spcPts val="600"/>
              </a:spcAft>
              <a:buFont typeface="Arial" panose="020B0604020202020204" pitchFamily="34" charset="0"/>
              <a:buChar char="•"/>
            </a:pPr>
            <a:r>
              <a:rPr lang="en-US" altLang="zh-TW" sz="1600" dirty="0"/>
              <a:t>Clustering: K-mean and GMM. </a:t>
            </a:r>
            <a:endParaRPr lang="en-US" altLang="zh-TW" sz="1600" b="0"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Supervised</a:t>
            </a:r>
            <a:r>
              <a:rPr lang="en-US" altLang="zh-TW" sz="1600" dirty="0"/>
              <a:t>: Data is labeled, comes with the correct answers. </a:t>
            </a:r>
          </a:p>
          <a:p>
            <a:pPr marL="742950" lvl="1" indent="-285750">
              <a:lnSpc>
                <a:spcPts val="1800"/>
              </a:lnSpc>
              <a:spcBef>
                <a:spcPts val="600"/>
              </a:spcBef>
              <a:spcAft>
                <a:spcPts val="600"/>
              </a:spcAft>
              <a:buFont typeface="Arial" panose="020B0604020202020204" pitchFamily="34" charset="0"/>
              <a:buChar char="•"/>
            </a:pPr>
            <a:r>
              <a:rPr lang="en-US" altLang="zh-TW" sz="1600" dirty="0"/>
              <a:t>Build Model: Linear Regression, SVM, Decision Tree. </a:t>
            </a:r>
            <a:r>
              <a:rPr lang="en-US" altLang="zh-TW" sz="1600" dirty="0">
                <a:solidFill>
                  <a:schemeClr val="bg1">
                    <a:lumMod val="75000"/>
                  </a:schemeClr>
                </a:solidFill>
                <a:sym typeface="Wingdings" panose="05000000000000000000" pitchFamily="2" charset="2"/>
              </a:rPr>
              <a:t> Facial Recognition System</a:t>
            </a:r>
            <a:endParaRPr lang="en-US" altLang="zh-TW" sz="1600" dirty="0"/>
          </a:p>
          <a:p>
            <a:pPr marL="742950" lvl="1" indent="-285750">
              <a:lnSpc>
                <a:spcPts val="1800"/>
              </a:lnSpc>
              <a:spcBef>
                <a:spcPts val="600"/>
              </a:spcBef>
              <a:spcAft>
                <a:spcPts val="600"/>
              </a:spcAft>
              <a:buFont typeface="Arial" panose="020B0604020202020204" pitchFamily="34" charset="0"/>
              <a:buChar char="•"/>
            </a:pPr>
            <a:r>
              <a:rPr lang="en-US" altLang="zh-TW" sz="1600" dirty="0"/>
              <a:t>Semi-Supervised: When labels are expensive. </a:t>
            </a:r>
            <a:r>
              <a:rPr lang="en-US" altLang="zh-TW" sz="1600" dirty="0">
                <a:solidFill>
                  <a:schemeClr val="bg1">
                    <a:lumMod val="75000"/>
                  </a:schemeClr>
                </a:solidFill>
                <a:sym typeface="Wingdings" panose="05000000000000000000" pitchFamily="2" charset="2"/>
              </a:rPr>
              <a:t> GAN, Medical Imaging</a:t>
            </a:r>
            <a:endParaRPr lang="en-US" altLang="zh-TW" sz="1600" dirty="0">
              <a:solidFill>
                <a:schemeClr val="bg1">
                  <a:lumMod val="75000"/>
                </a:schemeClr>
              </a:solidFill>
            </a:endParaRPr>
          </a:p>
          <a:p>
            <a:pPr marL="742950" lvl="1" indent="-285750">
              <a:lnSpc>
                <a:spcPts val="1800"/>
              </a:lnSpc>
              <a:spcBef>
                <a:spcPts val="600"/>
              </a:spcBef>
              <a:spcAft>
                <a:spcPts val="600"/>
              </a:spcAft>
              <a:buFont typeface="Arial" panose="020B0604020202020204" pitchFamily="34" charset="0"/>
              <a:buChar char="•"/>
            </a:pPr>
            <a:r>
              <a:rPr lang="en-US" altLang="zh-TW" sz="1600" dirty="0"/>
              <a:t>Self-Supervised: When Labels are Plentiful. </a:t>
            </a:r>
            <a:r>
              <a:rPr lang="en-US" altLang="zh-TW" sz="1600" dirty="0">
                <a:solidFill>
                  <a:schemeClr val="bg1">
                    <a:lumMod val="75000"/>
                  </a:schemeClr>
                </a:solidFill>
                <a:sym typeface="Wingdings" panose="05000000000000000000" pitchFamily="2" charset="2"/>
              </a:rPr>
              <a:t> GPT-Pretraining</a:t>
            </a:r>
            <a:endParaRPr lang="en-US" altLang="zh-TW" sz="1600" dirty="0">
              <a:solidFill>
                <a:schemeClr val="bg1">
                  <a:lumMod val="75000"/>
                </a:schemeClr>
              </a:solidFill>
            </a:endParaRPr>
          </a:p>
          <a:p>
            <a:pPr marL="285750" indent="-285750">
              <a:lnSpc>
                <a:spcPts val="1800"/>
              </a:lnSpc>
              <a:spcBef>
                <a:spcPts val="600"/>
              </a:spcBef>
              <a:spcAft>
                <a:spcPts val="600"/>
              </a:spcAft>
              <a:buFont typeface="Wingdings" panose="05000000000000000000" pitchFamily="2" charset="2"/>
              <a:buChar char="Ø"/>
            </a:pPr>
            <a:r>
              <a:rPr lang="en-US" altLang="zh-TW" sz="1600" b="1" dirty="0"/>
              <a:t>Reinforcement</a:t>
            </a:r>
            <a:r>
              <a:rPr lang="en-US" altLang="zh-TW" sz="1600" dirty="0"/>
              <a:t>: Learning through trial and Error within an environment.</a:t>
            </a:r>
            <a:r>
              <a:rPr lang="en-US" altLang="zh-TW" sz="1600" dirty="0">
                <a:solidFill>
                  <a:schemeClr val="bg1">
                    <a:lumMod val="50000"/>
                  </a:schemeClr>
                </a:solidFill>
              </a:rPr>
              <a:t> </a:t>
            </a:r>
            <a:r>
              <a:rPr lang="en-US" altLang="zh-TW" sz="1600" dirty="0">
                <a:solidFill>
                  <a:schemeClr val="bg1">
                    <a:lumMod val="75000"/>
                  </a:schemeClr>
                </a:solidFill>
                <a:sym typeface="Wingdings" panose="05000000000000000000" pitchFamily="2" charset="2"/>
              </a:rPr>
              <a:t> GPT-RLHF</a:t>
            </a:r>
            <a:endParaRPr lang="en-US" altLang="zh-TW" sz="1600" b="0" u="none" strike="noStrike" dirty="0">
              <a:solidFill>
                <a:schemeClr val="bg1">
                  <a:lumMod val="75000"/>
                </a:schemeClr>
              </a:solidFill>
              <a:effectLst/>
            </a:endParaRPr>
          </a:p>
        </p:txBody>
      </p:sp>
      <p:sp>
        <p:nvSpPr>
          <p:cNvPr id="2" name="文字方塊 1">
            <a:extLst>
              <a:ext uri="{FF2B5EF4-FFF2-40B4-BE49-F238E27FC236}">
                <a16:creationId xmlns:a16="http://schemas.microsoft.com/office/drawing/2014/main" id="{03B31180-86CC-AF97-E4F9-B52E2872A4D7}"/>
              </a:ext>
            </a:extLst>
          </p:cNvPr>
          <p:cNvSpPr txBox="1"/>
          <p:nvPr/>
        </p:nvSpPr>
        <p:spPr>
          <a:xfrm>
            <a:off x="7380312" y="116632"/>
            <a:ext cx="1694681" cy="2964914"/>
          </a:xfrm>
          <a:prstGeom prst="rect">
            <a:avLst/>
          </a:prstGeom>
          <a:noFill/>
        </p:spPr>
        <p:txBody>
          <a:bodyPr wrap="square">
            <a:spAutoFit/>
          </a:bodyPr>
          <a:lstStyle/>
          <a:p>
            <a:pPr>
              <a:lnSpc>
                <a:spcPts val="1400"/>
              </a:lnSpc>
              <a:buFont typeface="Wingdings" panose="05000000000000000000" pitchFamily="2" charset="2"/>
              <a:buChar char="Ø"/>
              <a:tabLst>
                <a:tab pos="285750" algn="l"/>
              </a:tabLst>
            </a:pPr>
            <a:r>
              <a:rPr lang="en-US" altLang="zh-TW" sz="1400" b="1" u="none" strike="noStrike" dirty="0">
                <a:effectLst/>
              </a:rPr>
              <a:t> Machine Learning</a:t>
            </a:r>
            <a:endParaRPr lang="en-US" altLang="zh-TW" sz="1400" u="none" strike="noStrike" dirty="0">
              <a:effectLst/>
            </a:endParaRPr>
          </a:p>
          <a:p>
            <a:pPr marL="285750" lvl="2">
              <a:lnSpc>
                <a:spcPts val="1400"/>
              </a:lnSpc>
              <a:buFont typeface="Arial" panose="020B0604020202020204" pitchFamily="34" charset="0"/>
              <a:buChar char="•"/>
            </a:pPr>
            <a:r>
              <a:rPr lang="zh-TW" altLang="en-US" sz="1200" dirty="0"/>
              <a:t> </a:t>
            </a:r>
            <a:r>
              <a:rPr lang="en-US" altLang="zh-TW" sz="1200" dirty="0"/>
              <a:t>Self-Supervised</a:t>
            </a:r>
          </a:p>
          <a:p>
            <a:pPr marL="285750" lvl="2">
              <a:lnSpc>
                <a:spcPts val="1400"/>
              </a:lnSpc>
              <a:buFont typeface="Arial" panose="020B0604020202020204" pitchFamily="34" charset="0"/>
              <a:buChar char="•"/>
            </a:pPr>
            <a:r>
              <a:rPr lang="en-US" altLang="zh-TW" sz="1200" dirty="0"/>
              <a:t> Reinforcement</a:t>
            </a:r>
          </a:p>
          <a:p>
            <a:pPr marL="285750" lvl="2">
              <a:lnSpc>
                <a:spcPts val="1400"/>
              </a:lnSpc>
              <a:buFont typeface="Arial" panose="020B0604020202020204" pitchFamily="34" charset="0"/>
              <a:buChar char="•"/>
            </a:pPr>
            <a:r>
              <a:rPr lang="en-US" altLang="zh-TW" sz="1200" u="none" strike="noStrike" dirty="0">
                <a:effectLst/>
              </a:rPr>
              <a:t> Backpropagation</a:t>
            </a:r>
          </a:p>
          <a:p>
            <a:pPr>
              <a:lnSpc>
                <a:spcPts val="1400"/>
              </a:lnSpc>
              <a:buFont typeface="Wingdings" panose="05000000000000000000" pitchFamily="2" charset="2"/>
              <a:buChar char="Ø"/>
              <a:tabLst>
                <a:tab pos="285750" algn="l"/>
              </a:tabLst>
            </a:pPr>
            <a:r>
              <a:rPr lang="en-US" altLang="zh-TW" sz="1400" b="1" dirty="0"/>
              <a:t> Transformer</a:t>
            </a:r>
            <a:endParaRPr lang="en-US" altLang="zh-TW" sz="1400" dirty="0"/>
          </a:p>
          <a:p>
            <a:pPr marL="285750" lvl="2">
              <a:lnSpc>
                <a:spcPts val="1400"/>
              </a:lnSpc>
              <a:buFont typeface="Arial" panose="020B0604020202020204" pitchFamily="34" charset="0"/>
              <a:buChar char="•"/>
            </a:pPr>
            <a:r>
              <a:rPr lang="en-US" altLang="zh-TW" sz="1200" dirty="0"/>
              <a:t> Architecture</a:t>
            </a:r>
          </a:p>
          <a:p>
            <a:pPr marL="285750" lvl="2">
              <a:lnSpc>
                <a:spcPts val="1400"/>
              </a:lnSpc>
              <a:buFont typeface="Arial" panose="020B0604020202020204" pitchFamily="34" charset="0"/>
              <a:buChar char="•"/>
            </a:pPr>
            <a:r>
              <a:rPr lang="en-US" altLang="zh-TW" sz="1200" dirty="0"/>
              <a:t> Self-Attention</a:t>
            </a:r>
          </a:p>
          <a:p>
            <a:pPr marL="285750" lvl="2">
              <a:lnSpc>
                <a:spcPts val="1400"/>
              </a:lnSpc>
              <a:buFont typeface="Arial" panose="020B0604020202020204" pitchFamily="34" charset="0"/>
              <a:buChar char="•"/>
            </a:pPr>
            <a:r>
              <a:rPr lang="en-US" altLang="zh-TW" sz="1200" dirty="0"/>
              <a:t> FFNN</a:t>
            </a:r>
          </a:p>
          <a:p>
            <a:pPr marL="285750" lvl="2">
              <a:lnSpc>
                <a:spcPts val="1400"/>
              </a:lnSpc>
              <a:buFont typeface="Arial" panose="020B0604020202020204" pitchFamily="34" charset="0"/>
              <a:buChar char="•"/>
            </a:pPr>
            <a:r>
              <a:rPr lang="en-US" altLang="zh-TW" sz="1200" dirty="0"/>
              <a:t> Token Embedding</a:t>
            </a:r>
          </a:p>
          <a:p>
            <a:pPr marL="285750" lvl="2">
              <a:lnSpc>
                <a:spcPts val="1400"/>
              </a:lnSpc>
              <a:buFont typeface="Arial" panose="020B0604020202020204" pitchFamily="34" charset="0"/>
              <a:buChar char="•"/>
            </a:pPr>
            <a:r>
              <a:rPr lang="en-US" altLang="zh-TW" sz="1200" dirty="0"/>
              <a:t> Rotary of PE</a:t>
            </a:r>
          </a:p>
          <a:p>
            <a:pPr>
              <a:lnSpc>
                <a:spcPts val="1400"/>
              </a:lnSpc>
              <a:buFont typeface="Wingdings" panose="05000000000000000000" pitchFamily="2" charset="2"/>
              <a:buChar char="Ø"/>
              <a:tabLst>
                <a:tab pos="285750" algn="l"/>
              </a:tabLst>
            </a:pPr>
            <a:r>
              <a:rPr lang="en-US" altLang="zh-TW" sz="1400" b="1" dirty="0"/>
              <a:t> GPT</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Pretraining</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Distillation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lang="en-US" altLang="zh-TW" sz="1200" dirty="0">
                <a:solidFill>
                  <a:prstClr val="black"/>
                </a:solidFill>
                <a:latin typeface="Calibri"/>
                <a:ea typeface="新細明體" panose="02020500000000000000" pitchFamily="18" charset="-120"/>
              </a:rPr>
              <a:t> </a:t>
            </a:r>
            <a:r>
              <a:rPr lang="en-US" altLang="zh-TW" sz="1200" dirty="0"/>
              <a:t>Inference </a:t>
            </a:r>
          </a:p>
          <a:p>
            <a:pPr>
              <a:lnSpc>
                <a:spcPts val="1400"/>
              </a:lnSpc>
              <a:buFont typeface="Wingdings" panose="05000000000000000000" pitchFamily="2" charset="2"/>
              <a:buChar char="Ø"/>
              <a:tabLst>
                <a:tab pos="285750" algn="l"/>
              </a:tabLst>
            </a:pPr>
            <a:r>
              <a:rPr lang="en-US" altLang="zh-TW" sz="1400" b="1" dirty="0"/>
              <a:t> Conclusion</a:t>
            </a:r>
          </a:p>
          <a:p>
            <a:pPr marL="285750" marR="0" lvl="2" indent="0" algn="l" defTabSz="914400" rtl="0" eaLnBrk="1" fontAlgn="auto" latinLnBrk="0" hangingPunct="1">
              <a:lnSpc>
                <a:spcPts val="1400"/>
              </a:lnSpc>
              <a:spcBef>
                <a:spcPts val="0"/>
              </a:spcBef>
              <a:spcAft>
                <a:spcPts val="0"/>
              </a:spcAft>
              <a:buClrTx/>
              <a:buSzTx/>
              <a:buFont typeface="Arial" panose="020B0604020202020204" pitchFamily="34" charset="0"/>
              <a:buChar char="•"/>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AI Server</a:t>
            </a:r>
          </a:p>
        </p:txBody>
      </p:sp>
    </p:spTree>
    <p:extLst>
      <p:ext uri="{BB962C8B-B14F-4D97-AF65-F5344CB8AC3E}">
        <p14:creationId xmlns:p14="http://schemas.microsoft.com/office/powerpoint/2010/main" val="15086930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8450ED-70DB-3D7A-7385-495EBB05F11A}"/>
            </a:ext>
          </a:extLst>
        </p:cNvPr>
        <p:cNvGrpSpPr/>
        <p:nvPr/>
      </p:nvGrpSpPr>
      <p:grpSpPr>
        <a:xfrm>
          <a:off x="0" y="0"/>
          <a:ext cx="0" cy="0"/>
          <a:chOff x="0" y="0"/>
          <a:chExt cx="0" cy="0"/>
        </a:xfrm>
      </p:grpSpPr>
      <p:sp>
        <p:nvSpPr>
          <p:cNvPr id="3" name="標題 1">
            <a:extLst>
              <a:ext uri="{FF2B5EF4-FFF2-40B4-BE49-F238E27FC236}">
                <a16:creationId xmlns:a16="http://schemas.microsoft.com/office/drawing/2014/main" id="{8003781F-4D10-E932-0A8B-8F4100607904}"/>
              </a:ext>
            </a:extLst>
          </p:cNvPr>
          <p:cNvSpPr txBox="1">
            <a:spLocks/>
          </p:cNvSpPr>
          <p:nvPr/>
        </p:nvSpPr>
        <p:spPr>
          <a:xfrm>
            <a:off x="179512" y="116632"/>
            <a:ext cx="878497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LLM Training Stages</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Injecting domain knowledge and aligning preference behaviors. (Puzzle </a:t>
            </a:r>
            <a:r>
              <a:rPr lang="zh-TW" altLang="zh-TW" sz="1400" dirty="0"/>
              <a:t>➔</a:t>
            </a:r>
            <a:r>
              <a:rPr lang="en-US" altLang="zh-TW" sz="1400" dirty="0">
                <a:latin typeface="Noto Sans HK" panose="020B0200000000000000" pitchFamily="34" charset="-120"/>
                <a:ea typeface="Noto Sans HK" panose="020B0200000000000000" pitchFamily="34" charset="-120"/>
                <a:cs typeface="Arial" panose="020B0604020202020204" pitchFamily="34" charset="0"/>
                <a:sym typeface="Wingdings" panose="05000000000000000000" pitchFamily="2" charset="2"/>
              </a:rPr>
              <a:t> Dialog)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graphicFrame>
        <p:nvGraphicFramePr>
          <p:cNvPr id="6" name="表格 5">
            <a:extLst>
              <a:ext uri="{FF2B5EF4-FFF2-40B4-BE49-F238E27FC236}">
                <a16:creationId xmlns:a16="http://schemas.microsoft.com/office/drawing/2014/main" id="{D6073D31-ACE4-B89B-79B0-4C43AD8ECADD}"/>
              </a:ext>
            </a:extLst>
          </p:cNvPr>
          <p:cNvGraphicFramePr>
            <a:graphicFrameLocks noGrp="1"/>
          </p:cNvGraphicFramePr>
          <p:nvPr>
            <p:extLst>
              <p:ext uri="{D42A27DB-BD31-4B8C-83A1-F6EECF244321}">
                <p14:modId xmlns:p14="http://schemas.microsoft.com/office/powerpoint/2010/main" val="827914681"/>
              </p:ext>
            </p:extLst>
          </p:nvPr>
        </p:nvGraphicFramePr>
        <p:xfrm>
          <a:off x="5490780" y="4989905"/>
          <a:ext cx="2249568" cy="601935"/>
        </p:xfrm>
        <a:graphic>
          <a:graphicData uri="http://schemas.openxmlformats.org/drawingml/2006/table">
            <a:tbl>
              <a:tblPr firstRow="1" bandRow="1">
                <a:tableStyleId>{5C22544A-7EE6-4342-B048-85BDC9FD1C3A}</a:tableStyleId>
              </a:tblPr>
              <a:tblGrid>
                <a:gridCol w="2249568">
                  <a:extLst>
                    <a:ext uri="{9D8B030D-6E8A-4147-A177-3AD203B41FA5}">
                      <a16:colId xmlns:a16="http://schemas.microsoft.com/office/drawing/2014/main" val="4512040"/>
                    </a:ext>
                  </a:extLst>
                </a:gridCol>
              </a:tblGrid>
              <a:tr h="207498">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RLHF Optimization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207498">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PPO aligns via multiple models.</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8693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DPO aligns via direct optimization</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sp>
        <p:nvSpPr>
          <p:cNvPr id="34" name="文字方塊 33">
            <a:extLst>
              <a:ext uri="{FF2B5EF4-FFF2-40B4-BE49-F238E27FC236}">
                <a16:creationId xmlns:a16="http://schemas.microsoft.com/office/drawing/2014/main" id="{A9B4851E-DE27-676D-8B02-83F1F98C6342}"/>
              </a:ext>
            </a:extLst>
          </p:cNvPr>
          <p:cNvSpPr txBox="1"/>
          <p:nvPr/>
        </p:nvSpPr>
        <p:spPr>
          <a:xfrm>
            <a:off x="2250420" y="2861623"/>
            <a:ext cx="881420" cy="756316"/>
          </a:xfrm>
          <a:prstGeom prst="rect">
            <a:avLst/>
          </a:prstGeom>
          <a:solidFill>
            <a:schemeClr val="accent2">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2"/>
                </a:solidFill>
                <a:effectLst/>
              </a:rPr>
              <a:t>Pre-Training</a:t>
            </a:r>
          </a:p>
          <a:p>
            <a:pPr algn="ctr">
              <a:lnSpc>
                <a:spcPts val="1400"/>
              </a:lnSpc>
              <a:buNone/>
            </a:pPr>
            <a:r>
              <a:rPr lang="en-US" altLang="zh-TW" sz="1200" dirty="0"/>
              <a:t>Base</a:t>
            </a:r>
          </a:p>
          <a:p>
            <a:pPr algn="ctr">
              <a:lnSpc>
                <a:spcPts val="1400"/>
              </a:lnSpc>
              <a:buNone/>
            </a:pPr>
            <a:r>
              <a:rPr lang="en-US" altLang="zh-TW" sz="1200" dirty="0"/>
              <a:t>Model</a:t>
            </a:r>
            <a:endParaRPr lang="en-US" altLang="zh-TW" sz="1200" u="none" strike="noStrike" dirty="0">
              <a:effectLst/>
            </a:endParaRPr>
          </a:p>
        </p:txBody>
      </p:sp>
      <p:sp>
        <p:nvSpPr>
          <p:cNvPr id="35" name="文字方塊 34">
            <a:extLst>
              <a:ext uri="{FF2B5EF4-FFF2-40B4-BE49-F238E27FC236}">
                <a16:creationId xmlns:a16="http://schemas.microsoft.com/office/drawing/2014/main" id="{8E7DBC2E-4207-B8B4-EA17-630004A1BA4F}"/>
              </a:ext>
            </a:extLst>
          </p:cNvPr>
          <p:cNvSpPr txBox="1"/>
          <p:nvPr/>
        </p:nvSpPr>
        <p:spPr>
          <a:xfrm>
            <a:off x="3347864"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Distillation</a:t>
            </a:r>
          </a:p>
          <a:p>
            <a:pPr algn="ctr">
              <a:lnSpc>
                <a:spcPts val="1400"/>
              </a:lnSpc>
              <a:buNone/>
            </a:pPr>
            <a:r>
              <a:rPr lang="en-US" altLang="zh-TW" sz="1200" dirty="0"/>
              <a:t>Student</a:t>
            </a:r>
          </a:p>
          <a:p>
            <a:pPr algn="ctr">
              <a:lnSpc>
                <a:spcPts val="1400"/>
              </a:lnSpc>
              <a:buNone/>
            </a:pPr>
            <a:r>
              <a:rPr lang="en-US" altLang="zh-TW" sz="1200" dirty="0"/>
              <a:t>Model</a:t>
            </a:r>
            <a:endParaRPr lang="en-US" altLang="zh-TW" sz="1200" u="none" strike="noStrike" dirty="0">
              <a:effectLst/>
            </a:endParaRPr>
          </a:p>
        </p:txBody>
      </p:sp>
      <p:sp>
        <p:nvSpPr>
          <p:cNvPr id="36" name="文字方塊 35">
            <a:extLst>
              <a:ext uri="{FF2B5EF4-FFF2-40B4-BE49-F238E27FC236}">
                <a16:creationId xmlns:a16="http://schemas.microsoft.com/office/drawing/2014/main" id="{1053429B-025D-A27F-87C8-F91654D77787}"/>
              </a:ext>
            </a:extLst>
          </p:cNvPr>
          <p:cNvSpPr txBox="1"/>
          <p:nvPr/>
        </p:nvSpPr>
        <p:spPr>
          <a:xfrm>
            <a:off x="441066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6">
                    <a:lumMod val="75000"/>
                  </a:schemeClr>
                </a:solidFill>
                <a:effectLst/>
              </a:rPr>
              <a:t>SFT</a:t>
            </a:r>
          </a:p>
          <a:p>
            <a:pPr algn="ctr">
              <a:lnSpc>
                <a:spcPts val="1400"/>
              </a:lnSpc>
              <a:buNone/>
            </a:pPr>
            <a:r>
              <a:rPr lang="en-US" altLang="zh-TW" sz="1200" dirty="0"/>
              <a:t>Quality is</a:t>
            </a:r>
          </a:p>
          <a:p>
            <a:pPr algn="ctr">
              <a:lnSpc>
                <a:spcPts val="1400"/>
              </a:lnSpc>
              <a:buNone/>
            </a:pPr>
            <a:r>
              <a:rPr lang="en-US" altLang="zh-TW" sz="1200" dirty="0"/>
              <a:t>all you need.</a:t>
            </a:r>
          </a:p>
          <a:p>
            <a:pPr algn="ctr">
              <a:lnSpc>
                <a:spcPts val="1400"/>
              </a:lnSpc>
              <a:buNone/>
            </a:pPr>
            <a:endParaRPr lang="en-US" altLang="zh-TW" sz="1200" u="none" strike="noStrike" dirty="0">
              <a:effectLst/>
            </a:endParaRPr>
          </a:p>
        </p:txBody>
      </p:sp>
      <p:sp>
        <p:nvSpPr>
          <p:cNvPr id="38" name="文字方塊 37">
            <a:extLst>
              <a:ext uri="{FF2B5EF4-FFF2-40B4-BE49-F238E27FC236}">
                <a16:creationId xmlns:a16="http://schemas.microsoft.com/office/drawing/2014/main" id="{B219E49F-E7A4-F040-D438-F11A5202D811}"/>
              </a:ext>
            </a:extLst>
          </p:cNvPr>
          <p:cNvSpPr txBox="1"/>
          <p:nvPr/>
        </p:nvSpPr>
        <p:spPr>
          <a:xfrm>
            <a:off x="5490780" y="2861623"/>
            <a:ext cx="881420" cy="756316"/>
          </a:xfrm>
          <a:prstGeom prst="rect">
            <a:avLst/>
          </a:prstGeom>
          <a:solidFill>
            <a:schemeClr val="accent6">
              <a:lumMod val="20000"/>
              <a:lumOff val="80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dirty="0">
                <a:solidFill>
                  <a:schemeClr val="accent6">
                    <a:lumMod val="75000"/>
                  </a:schemeClr>
                </a:solidFill>
              </a:rPr>
              <a:t>RLHF</a:t>
            </a:r>
            <a:endParaRPr lang="en-US" altLang="zh-TW" sz="1400" b="1" u="none" strike="noStrike" dirty="0">
              <a:solidFill>
                <a:schemeClr val="accent6">
                  <a:lumMod val="75000"/>
                </a:schemeClr>
              </a:solidFill>
              <a:effectLst/>
            </a:endParaRPr>
          </a:p>
          <a:p>
            <a:pPr algn="ctr">
              <a:lnSpc>
                <a:spcPts val="1400"/>
              </a:lnSpc>
              <a:buNone/>
            </a:pPr>
            <a:r>
              <a:rPr lang="en-US" altLang="zh-TW" sz="1200" dirty="0"/>
              <a:t>Human</a:t>
            </a:r>
          </a:p>
          <a:p>
            <a:pPr algn="ctr">
              <a:lnSpc>
                <a:spcPts val="1400"/>
              </a:lnSpc>
              <a:buNone/>
            </a:pPr>
            <a:r>
              <a:rPr lang="en-US" altLang="zh-TW" sz="1200" dirty="0"/>
              <a:t>Preferences</a:t>
            </a:r>
            <a:endParaRPr lang="en-US" altLang="zh-TW" sz="1200" u="none" strike="noStrike" dirty="0">
              <a:effectLst/>
            </a:endParaRPr>
          </a:p>
        </p:txBody>
      </p:sp>
      <p:sp>
        <p:nvSpPr>
          <p:cNvPr id="40" name="右大括弧 39">
            <a:extLst>
              <a:ext uri="{FF2B5EF4-FFF2-40B4-BE49-F238E27FC236}">
                <a16:creationId xmlns:a16="http://schemas.microsoft.com/office/drawing/2014/main" id="{A6A4EA3D-75BC-2AED-0DDF-01899E6EFE8F}"/>
              </a:ext>
            </a:extLst>
          </p:cNvPr>
          <p:cNvSpPr/>
          <p:nvPr/>
        </p:nvSpPr>
        <p:spPr>
          <a:xfrm rot="5400000">
            <a:off x="3703394" y="2137368"/>
            <a:ext cx="153040" cy="4176464"/>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42" name="標題 1">
            <a:extLst>
              <a:ext uri="{FF2B5EF4-FFF2-40B4-BE49-F238E27FC236}">
                <a16:creationId xmlns:a16="http://schemas.microsoft.com/office/drawing/2014/main" id="{C9A885E4-818E-4964-4ED2-DF5CEF9806DD}"/>
              </a:ext>
            </a:extLst>
          </p:cNvPr>
          <p:cNvSpPr txBox="1">
            <a:spLocks/>
          </p:cNvSpPr>
          <p:nvPr/>
        </p:nvSpPr>
        <p:spPr>
          <a:xfrm>
            <a:off x="3245482" y="4323434"/>
            <a:ext cx="1100369" cy="387188"/>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latin typeface="Noto Sans HK" panose="020B0200000000000000" pitchFamily="34" charset="-120"/>
                <a:ea typeface="Noto Sans HK" panose="020B0200000000000000" pitchFamily="34" charset="-120"/>
                <a:cs typeface="Arial" panose="020B0604020202020204" pitchFamily="34" charset="0"/>
              </a:rPr>
              <a:t>Training Stage </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(Goal: Alignment)</a:t>
            </a:r>
          </a:p>
        </p:txBody>
      </p:sp>
      <p:sp>
        <p:nvSpPr>
          <p:cNvPr id="46" name="文字方塊 45">
            <a:extLst>
              <a:ext uri="{FF2B5EF4-FFF2-40B4-BE49-F238E27FC236}">
                <a16:creationId xmlns:a16="http://schemas.microsoft.com/office/drawing/2014/main" id="{48571342-EABE-0BA9-BE64-F0D902E11E2F}"/>
              </a:ext>
            </a:extLst>
          </p:cNvPr>
          <p:cNvSpPr txBox="1"/>
          <p:nvPr/>
        </p:nvSpPr>
        <p:spPr>
          <a:xfrm>
            <a:off x="1226244" y="2865420"/>
            <a:ext cx="881420" cy="756316"/>
          </a:xfrm>
          <a:prstGeom prst="rect">
            <a:avLst/>
          </a:prstGeom>
          <a:solidFill>
            <a:schemeClr val="bg1">
              <a:lumMod val="95000"/>
              <a:alpha val="8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effectLst/>
              </a:rPr>
              <a:t>Datasets</a:t>
            </a:r>
          </a:p>
          <a:p>
            <a:pPr algn="ctr">
              <a:lnSpc>
                <a:spcPts val="1400"/>
              </a:lnSpc>
              <a:buNone/>
            </a:pPr>
            <a:r>
              <a:rPr lang="en-US" altLang="zh-TW" sz="1200" dirty="0"/>
              <a:t>High-quality</a:t>
            </a:r>
          </a:p>
          <a:p>
            <a:pPr algn="ctr">
              <a:lnSpc>
                <a:spcPts val="1400"/>
              </a:lnSpc>
              <a:buNone/>
            </a:pPr>
            <a:r>
              <a:rPr lang="en-US" altLang="zh-TW" sz="1200" dirty="0"/>
              <a:t>data at scale</a:t>
            </a:r>
          </a:p>
        </p:txBody>
      </p:sp>
      <p:sp>
        <p:nvSpPr>
          <p:cNvPr id="4" name="文字方塊 3">
            <a:extLst>
              <a:ext uri="{FF2B5EF4-FFF2-40B4-BE49-F238E27FC236}">
                <a16:creationId xmlns:a16="http://schemas.microsoft.com/office/drawing/2014/main" id="{BADAF9A1-9632-45F8-45B0-2608A98B26A6}"/>
              </a:ext>
            </a:extLst>
          </p:cNvPr>
          <p:cNvSpPr txBox="1"/>
          <p:nvPr/>
        </p:nvSpPr>
        <p:spPr>
          <a:xfrm>
            <a:off x="7092280" y="2852936"/>
            <a:ext cx="1219522" cy="1092606"/>
          </a:xfrm>
          <a:prstGeom prst="rect">
            <a:avLst/>
          </a:prstGeom>
          <a:solidFill>
            <a:schemeClr val="accent1">
              <a:lumMod val="20000"/>
              <a:lumOff val="80000"/>
              <a:alpha val="80000"/>
            </a:schemeClr>
          </a:solidFill>
          <a:ln w="25400">
            <a:solidFill>
              <a:schemeClr val="bg1">
                <a:lumMod val="85000"/>
              </a:schemeClr>
            </a:solidFill>
          </a:ln>
        </p:spPr>
        <p:txBody>
          <a:bodyPr wrap="none" lIns="0" tIns="72000" rIns="0" bIns="36000" anchor="ctr" anchorCtr="1">
            <a:noAutofit/>
          </a:bodyPr>
          <a:lstStyle/>
          <a:p>
            <a:pPr algn="ctr">
              <a:lnSpc>
                <a:spcPts val="1400"/>
              </a:lnSpc>
              <a:buNone/>
            </a:pPr>
            <a:r>
              <a:rPr lang="en-US" altLang="zh-TW" sz="1400" b="1" u="none" strike="noStrike" dirty="0">
                <a:solidFill>
                  <a:schemeClr val="accent1">
                    <a:lumMod val="60000"/>
                    <a:lumOff val="40000"/>
                  </a:schemeClr>
                </a:solidFill>
                <a:effectLst/>
              </a:rPr>
              <a:t>LLM, RAG</a:t>
            </a:r>
          </a:p>
          <a:p>
            <a:pPr algn="ctr">
              <a:lnSpc>
                <a:spcPts val="1400"/>
              </a:lnSpc>
              <a:buNone/>
            </a:pPr>
            <a:r>
              <a:rPr lang="en-US" altLang="zh-TW" sz="1400" b="1" u="none" strike="noStrike" dirty="0">
                <a:solidFill>
                  <a:schemeClr val="accent1">
                    <a:lumMod val="60000"/>
                    <a:lumOff val="40000"/>
                  </a:schemeClr>
                </a:solidFill>
                <a:effectLst/>
              </a:rPr>
              <a:t>&amp; MCP</a:t>
            </a:r>
          </a:p>
        </p:txBody>
      </p:sp>
      <p:sp>
        <p:nvSpPr>
          <p:cNvPr id="48" name="右大括弧 47">
            <a:extLst>
              <a:ext uri="{FF2B5EF4-FFF2-40B4-BE49-F238E27FC236}">
                <a16:creationId xmlns:a16="http://schemas.microsoft.com/office/drawing/2014/main" id="{592F96BD-536F-D6A8-0626-53354B511790}"/>
              </a:ext>
            </a:extLst>
          </p:cNvPr>
          <p:cNvSpPr/>
          <p:nvPr/>
        </p:nvSpPr>
        <p:spPr>
          <a:xfrm rot="5400000">
            <a:off x="7618632" y="3478714"/>
            <a:ext cx="166822"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50" name="標題 1">
            <a:extLst>
              <a:ext uri="{FF2B5EF4-FFF2-40B4-BE49-F238E27FC236}">
                <a16:creationId xmlns:a16="http://schemas.microsoft.com/office/drawing/2014/main" id="{A6C60A52-6343-C98D-76E5-6AF3F0BFE940}"/>
              </a:ext>
            </a:extLst>
          </p:cNvPr>
          <p:cNvSpPr txBox="1">
            <a:spLocks/>
          </p:cNvSpPr>
          <p:nvPr/>
        </p:nvSpPr>
        <p:spPr>
          <a:xfrm>
            <a:off x="6962342" y="4265949"/>
            <a:ext cx="1479398" cy="387187"/>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AI Runtime</a:t>
            </a:r>
          </a:p>
          <a:p>
            <a:pPr algn="ctr"/>
            <a:r>
              <a:rPr lang="en-US" altLang="zh-TW" sz="1000" dirty="0">
                <a:solidFill>
                  <a:schemeClr val="tx1">
                    <a:lumMod val="50000"/>
                    <a:lumOff val="50000"/>
                  </a:schemeClr>
                </a:solidFill>
                <a:latin typeface="Noto Sans HK" panose="020B0200000000000000" pitchFamily="34" charset="-120"/>
                <a:ea typeface="Noto Sans HK" panose="020B0200000000000000" pitchFamily="34" charset="-120"/>
                <a:cs typeface="Arial" panose="020B0604020202020204" pitchFamily="34" charset="0"/>
              </a:rPr>
              <a:t>(Goal: Smarter AI Agent)</a:t>
            </a:r>
          </a:p>
        </p:txBody>
      </p:sp>
      <p:sp>
        <p:nvSpPr>
          <p:cNvPr id="56" name="標題 1">
            <a:extLst>
              <a:ext uri="{FF2B5EF4-FFF2-40B4-BE49-F238E27FC236}">
                <a16:creationId xmlns:a16="http://schemas.microsoft.com/office/drawing/2014/main" id="{2A82E91C-98AE-1B62-4C92-DB1CCFC0C8F9}"/>
              </a:ext>
            </a:extLst>
          </p:cNvPr>
          <p:cNvSpPr txBox="1">
            <a:spLocks/>
          </p:cNvSpPr>
          <p:nvPr/>
        </p:nvSpPr>
        <p:spPr>
          <a:xfrm>
            <a:off x="2621428" y="3842925"/>
            <a:ext cx="1219522" cy="306155"/>
          </a:xfrm>
          <a:prstGeom prst="rect">
            <a:avLst/>
          </a:prstGeom>
          <a:ln>
            <a:solidFill>
              <a:schemeClr val="accent1"/>
            </a:solidFill>
          </a:ln>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Self-Supervised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7" name="標題 1">
            <a:extLst>
              <a:ext uri="{FF2B5EF4-FFF2-40B4-BE49-F238E27FC236}">
                <a16:creationId xmlns:a16="http://schemas.microsoft.com/office/drawing/2014/main" id="{9639087C-5560-72DE-DC44-CD9A7EB3BB19}"/>
              </a:ext>
            </a:extLst>
          </p:cNvPr>
          <p:cNvSpPr txBox="1">
            <a:spLocks/>
          </p:cNvSpPr>
          <p:nvPr/>
        </p:nvSpPr>
        <p:spPr>
          <a:xfrm>
            <a:off x="4410660" y="3842924"/>
            <a:ext cx="881420" cy="30615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Supervised</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58" name="標題 1">
            <a:extLst>
              <a:ext uri="{FF2B5EF4-FFF2-40B4-BE49-F238E27FC236}">
                <a16:creationId xmlns:a16="http://schemas.microsoft.com/office/drawing/2014/main" id="{2B962C8B-BC20-A7C5-39C0-698656C6AF81}"/>
              </a:ext>
            </a:extLst>
          </p:cNvPr>
          <p:cNvSpPr txBox="1">
            <a:spLocks/>
          </p:cNvSpPr>
          <p:nvPr/>
        </p:nvSpPr>
        <p:spPr>
          <a:xfrm>
            <a:off x="5490780" y="3840781"/>
            <a:ext cx="881420" cy="30829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Reinforcement</a:t>
            </a:r>
          </a:p>
          <a:p>
            <a:pPr algn="ctr"/>
            <a:r>
              <a:rPr lang="en-US" altLang="zh-TW" sz="1000" dirty="0">
                <a:latin typeface="Noto Sans HK" panose="020B0200000000000000" pitchFamily="34" charset="-120"/>
                <a:ea typeface="Noto Sans HK" panose="020B0200000000000000" pitchFamily="34" charset="-120"/>
                <a:cs typeface="Arial" panose="020B0604020202020204" pitchFamily="34" charset="0"/>
              </a:rPr>
              <a:t>Learning</a:t>
            </a:r>
          </a:p>
        </p:txBody>
      </p:sp>
      <p:sp>
        <p:nvSpPr>
          <p:cNvPr id="63" name="右大括弧 62">
            <a:extLst>
              <a:ext uri="{FF2B5EF4-FFF2-40B4-BE49-F238E27FC236}">
                <a16:creationId xmlns:a16="http://schemas.microsoft.com/office/drawing/2014/main" id="{032F07CA-35E8-85B4-696B-E0A0F3EB0CAB}"/>
              </a:ext>
            </a:extLst>
          </p:cNvPr>
          <p:cNvSpPr/>
          <p:nvPr/>
        </p:nvSpPr>
        <p:spPr>
          <a:xfrm rot="5400000">
            <a:off x="3154669" y="3111783"/>
            <a:ext cx="153040" cy="1219522"/>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sp>
        <p:nvSpPr>
          <p:cNvPr id="64" name="箭號: 向下 63">
            <a:extLst>
              <a:ext uri="{FF2B5EF4-FFF2-40B4-BE49-F238E27FC236}">
                <a16:creationId xmlns:a16="http://schemas.microsoft.com/office/drawing/2014/main" id="{10F6799C-8544-967F-582D-18A4EB7271C9}"/>
              </a:ext>
            </a:extLst>
          </p:cNvPr>
          <p:cNvSpPr/>
          <p:nvPr/>
        </p:nvSpPr>
        <p:spPr>
          <a:xfrm>
            <a:off x="575147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6" name="箭號: 向下 65">
            <a:extLst>
              <a:ext uri="{FF2B5EF4-FFF2-40B4-BE49-F238E27FC236}">
                <a16:creationId xmlns:a16="http://schemas.microsoft.com/office/drawing/2014/main" id="{3F6D40EE-A09A-D897-2280-3A52093CC2C0}"/>
              </a:ext>
            </a:extLst>
          </p:cNvPr>
          <p:cNvSpPr/>
          <p:nvPr/>
        </p:nvSpPr>
        <p:spPr>
          <a:xfrm>
            <a:off x="467135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67" name="標題 1">
            <a:extLst>
              <a:ext uri="{FF2B5EF4-FFF2-40B4-BE49-F238E27FC236}">
                <a16:creationId xmlns:a16="http://schemas.microsoft.com/office/drawing/2014/main" id="{D2BFB449-7367-BD0D-10EF-228773E871A1}"/>
              </a:ext>
            </a:extLst>
          </p:cNvPr>
          <p:cNvSpPr txBox="1">
            <a:spLocks/>
          </p:cNvSpPr>
          <p:nvPr/>
        </p:nvSpPr>
        <p:spPr>
          <a:xfrm>
            <a:off x="4066994" y="1844824"/>
            <a:ext cx="1568751" cy="61218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Q&amp;A</a:t>
            </a:r>
            <a:r>
              <a:rPr kumimoji="0" lang="zh-TW" altLang="en-US"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Pair</a:t>
            </a:r>
          </a:p>
          <a:p>
            <a:pPr marL="0" marR="0" lvl="0" indent="0"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Q:</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he capital of France</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p>
          <a:p>
            <a:pPr marL="0" marR="0" lvl="0" indent="0" defTabSz="914400" rtl="0" eaLnBrk="1" fontAlgn="auto" latinLnBrk="0" hangingPunct="1">
              <a:lnSpc>
                <a:spcPct val="100000"/>
              </a:lnSpc>
              <a:spcBef>
                <a:spcPts val="0"/>
              </a:spcBef>
              <a:spcAft>
                <a:spcPts val="0"/>
              </a:spcAft>
              <a:buClrTx/>
              <a:buSzTx/>
              <a:buFontTx/>
              <a:buNone/>
              <a:tabLst/>
              <a:defRPr/>
            </a:pPr>
            <a:r>
              <a:rPr lang="zh-TW" altLang="zh-TW" sz="1200" dirty="0"/>
              <a:t>➔</a:t>
            </a:r>
            <a:r>
              <a:rPr lang="zh-TW" altLang="en-US" sz="1200" dirty="0"/>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Ans:</a:t>
            </a:r>
            <a:r>
              <a:rPr kumimoji="0" lang="zh-TW" altLang="en-US"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sp>
        <p:nvSpPr>
          <p:cNvPr id="70" name="箭號: 向下 69">
            <a:extLst>
              <a:ext uri="{FF2B5EF4-FFF2-40B4-BE49-F238E27FC236}">
                <a16:creationId xmlns:a16="http://schemas.microsoft.com/office/drawing/2014/main" id="{46089501-17DA-340E-3487-B561936A871F}"/>
              </a:ext>
            </a:extLst>
          </p:cNvPr>
          <p:cNvSpPr/>
          <p:nvPr/>
        </p:nvSpPr>
        <p:spPr>
          <a:xfrm>
            <a:off x="2511111" y="2607970"/>
            <a:ext cx="360038" cy="288032"/>
          </a:xfrm>
          <a:prstGeom prst="downArrow">
            <a:avLst>
              <a:gd name="adj1" fmla="val 50000"/>
              <a:gd name="adj2" fmla="val 43386"/>
            </a:avLst>
          </a:prstGeom>
          <a:solidFill>
            <a:schemeClr val="bg1">
              <a:lumMod val="95000"/>
            </a:schemeClr>
          </a:solidFill>
          <a:ln w="254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71" name="標題 1">
            <a:extLst>
              <a:ext uri="{FF2B5EF4-FFF2-40B4-BE49-F238E27FC236}">
                <a16:creationId xmlns:a16="http://schemas.microsoft.com/office/drawing/2014/main" id="{E6ED2FA8-083B-B6CF-541D-7E8A5A736CA6}"/>
              </a:ext>
            </a:extLst>
          </p:cNvPr>
          <p:cNvSpPr txBox="1">
            <a:spLocks/>
          </p:cNvSpPr>
          <p:nvPr/>
        </p:nvSpPr>
        <p:spPr>
          <a:xfrm>
            <a:off x="1611485" y="1268760"/>
            <a:ext cx="2159290" cy="899919"/>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algn="ctr"/>
            <a:r>
              <a:rPr lang="en-US" altLang="zh-TW" sz="1200" b="1" dirty="0"/>
              <a:t>Raw Text</a:t>
            </a:r>
          </a:p>
          <a:p>
            <a:pPr algn="ctr"/>
            <a:r>
              <a:rPr lang="zh-TW" altLang="zh-TW" sz="1200" dirty="0"/>
              <a:t>The capital </a:t>
            </a:r>
            <a:r>
              <a:rPr lang="en-US" altLang="zh-TW" sz="1200" dirty="0"/>
              <a:t>city </a:t>
            </a:r>
            <a:r>
              <a:rPr lang="zh-TW" altLang="zh-TW" sz="1200" dirty="0"/>
              <a:t>of France</a:t>
            </a:r>
            <a:r>
              <a:rPr lang="en-US" altLang="zh-TW" sz="1200" dirty="0"/>
              <a:t> </a:t>
            </a:r>
            <a:r>
              <a:rPr lang="zh-TW" altLang="zh-TW" sz="1200" dirty="0"/>
              <a:t>is Paris</a:t>
            </a:r>
            <a:r>
              <a:rPr lang="en-US" altLang="zh-TW" sz="1200" dirty="0"/>
              <a:t>, </a:t>
            </a:r>
          </a:p>
          <a:p>
            <a:pPr algn="ctr"/>
            <a:r>
              <a:rPr lang="en-US" altLang="zh-TW" sz="1200" dirty="0"/>
              <a:t>which is famous for the Eiffel Tower</a:t>
            </a:r>
          </a:p>
          <a:p>
            <a:pPr algn="ctr"/>
            <a:r>
              <a:rPr lang="en-US" altLang="zh-TW" sz="1200" dirty="0"/>
              <a:t>and its rich history of art and fashion </a:t>
            </a:r>
            <a:r>
              <a:rPr lang="en-US" altLang="zh-TW" sz="1200" dirty="0">
                <a:latin typeface="Microsoft YaHei Mono" panose="020B0509020204020204" pitchFamily="49" charset="-120"/>
                <a:ea typeface="Microsoft YaHei Mono" panose="020B0509020204020204" pitchFamily="49" charset="-120"/>
                <a:cs typeface="Arial" panose="020B0604020202020204" pitchFamily="34" charset="0"/>
              </a:rPr>
              <a:t>…</a:t>
            </a:r>
            <a:endParaRPr lang="en-US" altLang="zh-TW" sz="1200" dirty="0"/>
          </a:p>
        </p:txBody>
      </p:sp>
      <p:sp>
        <p:nvSpPr>
          <p:cNvPr id="75" name="標題 1">
            <a:extLst>
              <a:ext uri="{FF2B5EF4-FFF2-40B4-BE49-F238E27FC236}">
                <a16:creationId xmlns:a16="http://schemas.microsoft.com/office/drawing/2014/main" id="{FFF83890-18AB-4059-B960-1AF402528FFD}"/>
              </a:ext>
            </a:extLst>
          </p:cNvPr>
          <p:cNvSpPr txBox="1">
            <a:spLocks/>
          </p:cNvSpPr>
          <p:nvPr/>
        </p:nvSpPr>
        <p:spPr>
          <a:xfrm>
            <a:off x="5055186" y="1027015"/>
            <a:ext cx="1752607" cy="681036"/>
          </a:xfrm>
          <a:prstGeom prst="rect">
            <a:avLst/>
          </a:prstGeom>
        </p:spPr>
        <p:txBody>
          <a:bodyPr wrap="none" lIns="0" tIns="0" rIns="0" bIns="0"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Preference</a:t>
            </a:r>
            <a:r>
              <a:rPr kumimoji="0" lang="zh-TW" altLang="en-US"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 </a:t>
            </a:r>
            <a:r>
              <a:rPr kumimoji="0" lang="en-US" altLang="zh-TW" sz="1200" b="1"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Pair</a:t>
            </a:r>
          </a:p>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dirty="0">
                <a:solidFill>
                  <a:prstClr val="black"/>
                </a:solidFill>
              </a:rPr>
              <a:t>T</a:t>
            </a:r>
            <a:r>
              <a:rPr lang="zh-TW" altLang="zh-TW" sz="1200" dirty="0">
                <a:solidFill>
                  <a:prstClr val="black"/>
                </a:solidFill>
              </a:rPr>
              <a:t>he capital of France</a:t>
            </a:r>
            <a:r>
              <a:rPr lang="en-US" altLang="zh-TW" sz="1200" dirty="0">
                <a:solidFill>
                  <a:prstClr val="black"/>
                </a:solidFill>
              </a:rPr>
              <a:t>?</a:t>
            </a:r>
            <a:endPar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endParaRPr>
          </a:p>
          <a:p>
            <a:pPr lvl="0" algn="ctr">
              <a:spcBef>
                <a:spcPts val="0"/>
              </a:spcBef>
              <a:defRPr/>
            </a:pP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kumimoji="0" lang="zh-TW"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Paris</a:t>
            </a:r>
            <a:r>
              <a:rPr lang="en-US" altLang="zh-TW" sz="1200" dirty="0">
                <a:solidFill>
                  <a:prstClr val="black"/>
                </a:solidFill>
                <a:latin typeface="+mn-lt"/>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a:t>
            </a:r>
            <a:r>
              <a:rPr lang="zh-TW" altLang="zh-TW" sz="1200" dirty="0"/>
              <a:t>👍</a:t>
            </a:r>
            <a:r>
              <a:rPr lang="en-US" altLang="zh-TW" sz="1200" dirty="0"/>
              <a:t>,</a:t>
            </a:r>
            <a:r>
              <a:rPr lang="en-US" altLang="zh-TW" sz="1200" dirty="0">
                <a:solidFill>
                  <a:prstClr val="black"/>
                </a:solidFill>
                <a:latin typeface="+mn-lt"/>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mn-lt"/>
                <a:ea typeface="新細明體" panose="02020500000000000000" pitchFamily="18" charset="-120"/>
                <a:cs typeface="+mn-cs"/>
              </a:rPr>
              <a:t>“Bonjour!“ </a:t>
            </a:r>
            <a:r>
              <a:rPr lang="zh-TW" altLang="zh-TW" sz="1200" dirty="0"/>
              <a:t>❌</a:t>
            </a:r>
            <a:endParaRPr kumimoji="0" lang="en-US" altLang="zh-TW" sz="1200" b="0" i="0" u="none" strike="noStrike" kern="1200" cap="none" spc="0" normalizeH="0" baseline="0" noProof="0" dirty="0">
              <a:ln>
                <a:noFill/>
              </a:ln>
              <a:solidFill>
                <a:prstClr val="black"/>
              </a:solidFill>
              <a:effectLst/>
              <a:uLnTx/>
              <a:uFillTx/>
              <a:latin typeface="+mn-lt"/>
              <a:ea typeface="Microsoft YaHei Mono" panose="020B0509020204020204" pitchFamily="49" charset="-120"/>
              <a:cs typeface="Arial" panose="020B0604020202020204" pitchFamily="34" charset="0"/>
            </a:endParaRPr>
          </a:p>
        </p:txBody>
      </p:sp>
      <p:cxnSp>
        <p:nvCxnSpPr>
          <p:cNvPr id="77" name="直線接點 76">
            <a:extLst>
              <a:ext uri="{FF2B5EF4-FFF2-40B4-BE49-F238E27FC236}">
                <a16:creationId xmlns:a16="http://schemas.microsoft.com/office/drawing/2014/main" id="{B24DEF9A-91BE-D157-AECC-ACB0D61F69B5}"/>
              </a:ext>
            </a:extLst>
          </p:cNvPr>
          <p:cNvCxnSpPr>
            <a:cxnSpLocks/>
            <a:stCxn id="71" idx="2"/>
            <a:endCxn id="70" idx="0"/>
          </p:cNvCxnSpPr>
          <p:nvPr/>
        </p:nvCxnSpPr>
        <p:spPr>
          <a:xfrm>
            <a:off x="2691130" y="2168679"/>
            <a:ext cx="0" cy="439291"/>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79" name="直線接點 78">
            <a:extLst>
              <a:ext uri="{FF2B5EF4-FFF2-40B4-BE49-F238E27FC236}">
                <a16:creationId xmlns:a16="http://schemas.microsoft.com/office/drawing/2014/main" id="{FE277F59-9B55-D3F2-3CA9-FCF68A362EAE}"/>
              </a:ext>
            </a:extLst>
          </p:cNvPr>
          <p:cNvCxnSpPr>
            <a:cxnSpLocks/>
            <a:stCxn id="67" idx="2"/>
            <a:endCxn id="66" idx="0"/>
          </p:cNvCxnSpPr>
          <p:nvPr/>
        </p:nvCxnSpPr>
        <p:spPr>
          <a:xfrm>
            <a:off x="4851370" y="2457010"/>
            <a:ext cx="0" cy="150960"/>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cxnSp>
        <p:nvCxnSpPr>
          <p:cNvPr id="83" name="直線接點 82">
            <a:extLst>
              <a:ext uri="{FF2B5EF4-FFF2-40B4-BE49-F238E27FC236}">
                <a16:creationId xmlns:a16="http://schemas.microsoft.com/office/drawing/2014/main" id="{5A1B8CD9-2534-AFC8-155C-658340105A6C}"/>
              </a:ext>
            </a:extLst>
          </p:cNvPr>
          <p:cNvCxnSpPr>
            <a:cxnSpLocks/>
            <a:stCxn id="75" idx="2"/>
            <a:endCxn id="64" idx="0"/>
          </p:cNvCxnSpPr>
          <p:nvPr/>
        </p:nvCxnSpPr>
        <p:spPr>
          <a:xfrm>
            <a:off x="5931490" y="1708051"/>
            <a:ext cx="0" cy="899919"/>
          </a:xfrm>
          <a:prstGeom prst="line">
            <a:avLst/>
          </a:prstGeom>
          <a:ln>
            <a:solidFill>
              <a:schemeClr val="bg1">
                <a:lumMod val="50000"/>
              </a:schemeClr>
            </a:solidFill>
            <a:headEnd type="oval"/>
          </a:ln>
        </p:spPr>
        <p:style>
          <a:lnRef idx="1">
            <a:schemeClr val="accent1"/>
          </a:lnRef>
          <a:fillRef idx="0">
            <a:schemeClr val="accent1"/>
          </a:fillRef>
          <a:effectRef idx="0">
            <a:schemeClr val="accent1"/>
          </a:effectRef>
          <a:fontRef idx="minor">
            <a:schemeClr val="tx1"/>
          </a:fontRef>
        </p:style>
      </p:cxnSp>
      <p:graphicFrame>
        <p:nvGraphicFramePr>
          <p:cNvPr id="91" name="表格 90">
            <a:extLst>
              <a:ext uri="{FF2B5EF4-FFF2-40B4-BE49-F238E27FC236}">
                <a16:creationId xmlns:a16="http://schemas.microsoft.com/office/drawing/2014/main" id="{ABA906ED-CAE4-A5D0-712C-0D2B5446F468}"/>
              </a:ext>
            </a:extLst>
          </p:cNvPr>
          <p:cNvGraphicFramePr>
            <a:graphicFrameLocks noGrp="1"/>
          </p:cNvGraphicFramePr>
          <p:nvPr>
            <p:extLst>
              <p:ext uri="{D42A27DB-BD31-4B8C-83A1-F6EECF244321}">
                <p14:modId xmlns:p14="http://schemas.microsoft.com/office/powerpoint/2010/main" val="3363489755"/>
              </p:ext>
            </p:extLst>
          </p:nvPr>
        </p:nvGraphicFramePr>
        <p:xfrm>
          <a:off x="4410659" y="5736469"/>
          <a:ext cx="2249569" cy="731520"/>
        </p:xfrm>
        <a:graphic>
          <a:graphicData uri="http://schemas.openxmlformats.org/drawingml/2006/table">
            <a:tbl>
              <a:tblPr firstRow="1" bandRow="1">
                <a:tableStyleId>{5C22544A-7EE6-4342-B048-85BDC9FD1C3A}</a:tableStyleId>
              </a:tblPr>
              <a:tblGrid>
                <a:gridCol w="2249569">
                  <a:extLst>
                    <a:ext uri="{9D8B030D-6E8A-4147-A177-3AD203B41FA5}">
                      <a16:colId xmlns:a16="http://schemas.microsoft.com/office/drawing/2014/main" val="4512040"/>
                    </a:ext>
                  </a:extLst>
                </a:gridCol>
              </a:tblGrid>
              <a:tr h="179736">
                <a:tc>
                  <a:txBody>
                    <a:bodyPr/>
                    <a:lstStyle/>
                    <a:p>
                      <a:pPr algn="l"/>
                      <a:r>
                        <a:rPr kumimoji="0" lang="en-US" altLang="zh-TW" sz="1200" b="1" i="0" u="none" strike="noStrike" kern="1200" cap="none" spc="0" normalizeH="0" baseline="0" noProof="0" dirty="0">
                          <a:ln w="0"/>
                          <a:solidFill>
                            <a:prstClr val="black"/>
                          </a:solidFill>
                          <a:effectLst/>
                          <a:uLnTx/>
                          <a:uFillTx/>
                          <a:latin typeface="+mn-lt"/>
                          <a:ea typeface="+mn-ea"/>
                          <a:cs typeface="+mn-cs"/>
                        </a:rPr>
                        <a:t>SFT</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12700" cap="flat" cmpd="sng" algn="ctr">
                      <a:solidFill>
                        <a:schemeClr val="bg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537252825"/>
                  </a:ext>
                </a:extLst>
              </a:tr>
              <a:tr h="179736">
                <a:tc>
                  <a:txBody>
                    <a:bodyPr/>
                    <a:lstStyle/>
                    <a:p>
                      <a:pPr algn="l"/>
                      <a:r>
                        <a:rPr kumimoji="0" lang="en-US" altLang="zh-TW" sz="1200" b="0" i="0" u="none" strike="noStrike" kern="1200" cap="none" spc="0" normalizeH="0" baseline="0" noProof="0" dirty="0">
                          <a:ln w="0"/>
                          <a:solidFill>
                            <a:prstClr val="black"/>
                          </a:solidFill>
                          <a:effectLst/>
                          <a:uLnTx/>
                          <a:uFillTx/>
                          <a:latin typeface="+mn-lt"/>
                          <a:ea typeface="+mn-ea"/>
                          <a:cs typeface="+mn-cs"/>
                        </a:rPr>
                        <a:t>Instruction Tuning (Google FLAN)</a:t>
                      </a:r>
                      <a:endParaRPr lang="en-US" altLang="zh-TW" sz="1200" b="1" cap="none" spc="0" dirty="0">
                        <a:ln w="0"/>
                        <a:solidFill>
                          <a:schemeClr val="tx1"/>
                        </a:solidFill>
                        <a:effectLst/>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Masked Loss (GPT)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r h="164157">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PEFT</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R="0" marT="0" marB="0" anchor="ctr">
                    <a:lnL w="3175" cap="flat" cmpd="sng" algn="ctr">
                      <a:noFill/>
                      <a:prstDash val="solid"/>
                      <a:round/>
                      <a:headEnd type="none" w="med" len="med"/>
                      <a:tailEnd type="none" w="med" len="med"/>
                    </a:lnL>
                    <a:lnR w="12700" cmpd="sng">
                      <a:noFill/>
                    </a:lnR>
                    <a:lnT w="3175" cap="flat" cmpd="sng" algn="ctr">
                      <a:solidFill>
                        <a:schemeClr val="tx1"/>
                      </a:solidFill>
                      <a:prstDash val="solid"/>
                      <a:round/>
                      <a:headEnd type="none" w="med" len="med"/>
                      <a:tailEnd type="none" w="med" len="med"/>
                    </a:lnT>
                    <a:lnB w="3175" cap="flat" cmpd="sng" algn="ctr">
                      <a:solidFill>
                        <a:schemeClr val="tx1"/>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3249197690"/>
                  </a:ext>
                </a:extLst>
              </a:tr>
            </a:tbl>
          </a:graphicData>
        </a:graphic>
      </p:graphicFrame>
      <p:cxnSp>
        <p:nvCxnSpPr>
          <p:cNvPr id="92" name="直線接點 91">
            <a:extLst>
              <a:ext uri="{FF2B5EF4-FFF2-40B4-BE49-F238E27FC236}">
                <a16:creationId xmlns:a16="http://schemas.microsoft.com/office/drawing/2014/main" id="{C537D32B-3BFA-3EC7-677D-B5E0D4C8562F}"/>
              </a:ext>
            </a:extLst>
          </p:cNvPr>
          <p:cNvCxnSpPr>
            <a:cxnSpLocks/>
            <a:stCxn id="58" idx="2"/>
          </p:cNvCxnSpPr>
          <p:nvPr/>
        </p:nvCxnSpPr>
        <p:spPr>
          <a:xfrm>
            <a:off x="5931490" y="4149080"/>
            <a:ext cx="0" cy="840825"/>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102" name="直線接點 101">
            <a:extLst>
              <a:ext uri="{FF2B5EF4-FFF2-40B4-BE49-F238E27FC236}">
                <a16:creationId xmlns:a16="http://schemas.microsoft.com/office/drawing/2014/main" id="{9AD8B825-75F1-7834-F4BB-F758BF3469CD}"/>
              </a:ext>
            </a:extLst>
          </p:cNvPr>
          <p:cNvCxnSpPr>
            <a:cxnSpLocks/>
            <a:stCxn id="57" idx="2"/>
          </p:cNvCxnSpPr>
          <p:nvPr/>
        </p:nvCxnSpPr>
        <p:spPr>
          <a:xfrm flipH="1">
            <a:off x="4851369" y="4149080"/>
            <a:ext cx="1" cy="1587390"/>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cxnSp>
        <p:nvCxnSpPr>
          <p:cNvPr id="2" name="直線單箭頭接點 1">
            <a:extLst>
              <a:ext uri="{FF2B5EF4-FFF2-40B4-BE49-F238E27FC236}">
                <a16:creationId xmlns:a16="http://schemas.microsoft.com/office/drawing/2014/main" id="{7CE7BE7D-6DAD-3858-D4E5-E77519032314}"/>
              </a:ext>
            </a:extLst>
          </p:cNvPr>
          <p:cNvCxnSpPr>
            <a:cxnSpLocks/>
            <a:stCxn id="46" idx="3"/>
            <a:endCxn id="34" idx="1"/>
          </p:cNvCxnSpPr>
          <p:nvPr/>
        </p:nvCxnSpPr>
        <p:spPr>
          <a:xfrm flipV="1">
            <a:off x="2107664" y="3239781"/>
            <a:ext cx="142756" cy="3797"/>
          </a:xfrm>
          <a:prstGeom prst="straightConnector1">
            <a:avLst/>
          </a:prstGeom>
          <a:ln w="25400">
            <a:solidFill>
              <a:schemeClr val="bg1">
                <a:lumMod val="85000"/>
              </a:schemeClr>
            </a:solidFill>
            <a:headEnd w="med" len="lg"/>
            <a:tailEnd type="triangle"/>
          </a:ln>
        </p:spPr>
        <p:style>
          <a:lnRef idx="1">
            <a:schemeClr val="accent1"/>
          </a:lnRef>
          <a:fillRef idx="0">
            <a:schemeClr val="accent1"/>
          </a:fillRef>
          <a:effectRef idx="0">
            <a:schemeClr val="accent1"/>
          </a:effectRef>
          <a:fontRef idx="minor">
            <a:schemeClr val="tx1"/>
          </a:fontRef>
        </p:style>
      </p:cxnSp>
      <p:graphicFrame>
        <p:nvGraphicFramePr>
          <p:cNvPr id="7" name="表格 6">
            <a:extLst>
              <a:ext uri="{FF2B5EF4-FFF2-40B4-BE49-F238E27FC236}">
                <a16:creationId xmlns:a16="http://schemas.microsoft.com/office/drawing/2014/main" id="{030E9503-98E3-E82D-AD5D-EF80526B0217}"/>
              </a:ext>
            </a:extLst>
          </p:cNvPr>
          <p:cNvGraphicFramePr>
            <a:graphicFrameLocks noGrp="1"/>
          </p:cNvGraphicFramePr>
          <p:nvPr>
            <p:extLst>
              <p:ext uri="{D42A27DB-BD31-4B8C-83A1-F6EECF244321}">
                <p14:modId xmlns:p14="http://schemas.microsoft.com/office/powerpoint/2010/main" val="2728361232"/>
              </p:ext>
            </p:extLst>
          </p:nvPr>
        </p:nvGraphicFramePr>
        <p:xfrm>
          <a:off x="2621428" y="5404043"/>
          <a:ext cx="1219522" cy="761261"/>
        </p:xfrm>
        <a:graphic>
          <a:graphicData uri="http://schemas.openxmlformats.org/drawingml/2006/table">
            <a:tbl>
              <a:tblPr firstRow="1" bandRow="1">
                <a:tableStyleId>{5C22544A-7EE6-4342-B048-85BDC9FD1C3A}</a:tableStyleId>
              </a:tblPr>
              <a:tblGrid>
                <a:gridCol w="1219522">
                  <a:extLst>
                    <a:ext uri="{9D8B030D-6E8A-4147-A177-3AD203B41FA5}">
                      <a16:colId xmlns:a16="http://schemas.microsoft.com/office/drawing/2014/main" val="4512040"/>
                    </a:ext>
                  </a:extLst>
                </a:gridCol>
              </a:tblGrid>
              <a:tr h="212621">
                <a:tc>
                  <a:txBody>
                    <a:bodyPr/>
                    <a:lstStyle/>
                    <a:p>
                      <a:pPr algn="l"/>
                      <a:r>
                        <a:rPr lang="en-US" altLang="zh-TW" sz="1200" b="1" cap="none" spc="0" dirty="0">
                          <a:ln w="0"/>
                          <a:solidFill>
                            <a:schemeClr val="tx1"/>
                          </a:solidFill>
                          <a:effectLst/>
                        </a:rPr>
                        <a:t>Mentor Model</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11258892"/>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Regularities of NL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Reasoning</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94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World Fact (CAI)</a:t>
                      </a:r>
                      <a:endParaRPr kumimoji="0" lang="zh-TW" altLang="en-US" sz="1200" b="0" i="0" u="none" strike="noStrike" kern="1200" cap="none" spc="0" normalizeH="0" baseline="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2057912659"/>
                  </a:ext>
                </a:extLst>
              </a:tr>
            </a:tbl>
          </a:graphicData>
        </a:graphic>
      </p:graphicFrame>
      <p:cxnSp>
        <p:nvCxnSpPr>
          <p:cNvPr id="8" name="直線接點 7">
            <a:extLst>
              <a:ext uri="{FF2B5EF4-FFF2-40B4-BE49-F238E27FC236}">
                <a16:creationId xmlns:a16="http://schemas.microsoft.com/office/drawing/2014/main" id="{DFBEF656-21D3-87C5-1444-C70AEF5EB4FF}"/>
              </a:ext>
            </a:extLst>
          </p:cNvPr>
          <p:cNvCxnSpPr>
            <a:cxnSpLocks/>
            <a:stCxn id="56" idx="2"/>
            <a:endCxn id="7" idx="0"/>
          </p:cNvCxnSpPr>
          <p:nvPr/>
        </p:nvCxnSpPr>
        <p:spPr>
          <a:xfrm>
            <a:off x="3231189" y="4149080"/>
            <a:ext cx="0" cy="1254963"/>
          </a:xfrm>
          <a:prstGeom prst="line">
            <a:avLst/>
          </a:prstGeom>
          <a:ln>
            <a:solidFill>
              <a:schemeClr val="bg1">
                <a:lumMod val="75000"/>
              </a:schemeClr>
            </a:solidFill>
            <a:prstDash val="dash"/>
            <a:headEnd type="non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9858978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B0B116-CCAD-8F24-3B05-0C6DFC3711C6}"/>
            </a:ext>
          </a:extLst>
        </p:cNvPr>
        <p:cNvGrpSpPr/>
        <p:nvPr/>
      </p:nvGrpSpPr>
      <p:grpSpPr>
        <a:xfrm>
          <a:off x="0" y="0"/>
          <a:ext cx="0" cy="0"/>
          <a:chOff x="0" y="0"/>
          <a:chExt cx="0" cy="0"/>
        </a:xfrm>
      </p:grpSpPr>
      <p:pic>
        <p:nvPicPr>
          <p:cNvPr id="15" name="圖片 14">
            <a:extLst>
              <a:ext uri="{FF2B5EF4-FFF2-40B4-BE49-F238E27FC236}">
                <a16:creationId xmlns:a16="http://schemas.microsoft.com/office/drawing/2014/main" id="{0C340B15-2BF2-C136-5516-AEC553E90F3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619672" y="980728"/>
            <a:ext cx="2881856" cy="5401864"/>
          </a:xfrm>
          <a:prstGeom prst="rect">
            <a:avLst/>
          </a:prstGeom>
        </p:spPr>
      </p:pic>
      <p:pic>
        <p:nvPicPr>
          <p:cNvPr id="17" name="圖片 16">
            <a:extLst>
              <a:ext uri="{FF2B5EF4-FFF2-40B4-BE49-F238E27FC236}">
                <a16:creationId xmlns:a16="http://schemas.microsoft.com/office/drawing/2014/main" id="{FBE74C0A-E981-344A-F265-6ACA240DD2AE}"/>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5008325" y="980728"/>
            <a:ext cx="2881856" cy="5414003"/>
          </a:xfrm>
          <a:prstGeom prst="rect">
            <a:avLst/>
          </a:prstGeom>
        </p:spPr>
      </p:pic>
      <p:sp>
        <p:nvSpPr>
          <p:cNvPr id="4" name="標題 1">
            <a:extLst>
              <a:ext uri="{FF2B5EF4-FFF2-40B4-BE49-F238E27FC236}">
                <a16:creationId xmlns:a16="http://schemas.microsoft.com/office/drawing/2014/main" id="{8DA240C7-1AA6-01D1-A81E-AF38C6636C4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Architecture</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A deep dive into decoder stacks, attention layers, and feed-forward networks.</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mc:AlternateContent xmlns:mc="http://schemas.openxmlformats.org/markup-compatibility/2006" xmlns:a14="http://schemas.microsoft.com/office/drawing/2010/main">
        <mc:Choice Requires="a14">
          <p:sp>
            <p:nvSpPr>
              <p:cNvPr id="5" name="文字方塊 4">
                <a:extLst>
                  <a:ext uri="{FF2B5EF4-FFF2-40B4-BE49-F238E27FC236}">
                    <a16:creationId xmlns:a16="http://schemas.microsoft.com/office/drawing/2014/main" id="{C9AF0EDF-4436-A687-FC00-0F2CE87361AA}"/>
                  </a:ext>
                </a:extLst>
              </p:cNvPr>
              <p:cNvSpPr txBox="1"/>
              <p:nvPr/>
            </p:nvSpPr>
            <p:spPr>
              <a:xfrm>
                <a:off x="5633376" y="4149080"/>
                <a:ext cx="456605" cy="360040"/>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center"/>
                    </m:oMathParaPr>
                    <m:oMath xmlns:m="http://schemas.openxmlformats.org/officeDocument/2006/math">
                      <m:sSubSup>
                        <m:sSubSupPr>
                          <m:ctrlPr>
                            <a:rPr lang="en-US" altLang="zh-TW" sz="1200" b="0" i="1" smtClean="0">
                              <a:latin typeface="Cambria Math" panose="02040503050406030204" pitchFamily="18" charset="0"/>
                              <a:ea typeface="Cambria Math" panose="02040503050406030204" pitchFamily="18" charset="0"/>
                            </a:rPr>
                          </m:ctrlPr>
                        </m:sSubSupPr>
                        <m:e>
                          <m:r>
                            <m:rPr>
                              <m:sty m:val="p"/>
                            </m:rPr>
                            <a:rPr lang="en-US" altLang="zh-TW" sz="1200" i="1">
                              <a:latin typeface="Cambria Math" panose="02040503050406030204" pitchFamily="18" charset="0"/>
                              <a:ea typeface="Cambria Math" panose="02040503050406030204" pitchFamily="18" charset="0"/>
                            </a:rPr>
                            <m:t>C</m:t>
                          </m:r>
                        </m:e>
                        <m:sub>
                          <m:r>
                            <a:rPr lang="en-US" altLang="zh-TW" sz="1200" b="0" i="1" smtClean="0">
                              <a:latin typeface="Cambria Math" panose="02040503050406030204" pitchFamily="18" charset="0"/>
                              <a:ea typeface="Cambria Math" panose="02040503050406030204" pitchFamily="18" charset="0"/>
                            </a:rPr>
                            <m:t>𝑘</m:t>
                          </m:r>
                          <m:r>
                            <a:rPr lang="en-US" altLang="zh-TW" sz="1200" b="0" i="1" smtClean="0">
                              <a:latin typeface="Cambria Math" panose="02040503050406030204" pitchFamily="18" charset="0"/>
                              <a:ea typeface="Cambria Math" panose="02040503050406030204" pitchFamily="18" charset="0"/>
                            </a:rPr>
                            <m:t>=2</m:t>
                          </m:r>
                        </m:sub>
                        <m:sup>
                          <m:r>
                            <a:rPr lang="en-US" altLang="zh-TW" sz="1200" b="0" i="1" smtClean="0">
                              <a:latin typeface="Cambria Math" panose="02040503050406030204" pitchFamily="18" charset="0"/>
                              <a:ea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=16</m:t>
                          </m:r>
                        </m:sup>
                      </m:sSubSup>
                    </m:oMath>
                  </m:oMathPara>
                </a14:m>
                <a:endParaRPr lang="en-US" altLang="zh-TW" sz="1200" i="1" dirty="0">
                  <a:latin typeface="Microsoft GothicNeo" panose="020B0500000101010101" pitchFamily="34" charset="-127"/>
                  <a:ea typeface="Microsoft GothicNeo" panose="020B0500000101010101" pitchFamily="34" charset="-127"/>
                  <a:cs typeface="Microsoft GothicNeo" panose="020B0500000101010101" pitchFamily="34" charset="-127"/>
                </a:endParaRPr>
              </a:p>
            </p:txBody>
          </p:sp>
        </mc:Choice>
        <mc:Fallback xmlns="">
          <p:sp>
            <p:nvSpPr>
              <p:cNvPr id="5" name="文字方塊 4">
                <a:extLst>
                  <a:ext uri="{FF2B5EF4-FFF2-40B4-BE49-F238E27FC236}">
                    <a16:creationId xmlns:a16="http://schemas.microsoft.com/office/drawing/2014/main" id="{C9AF0EDF-4436-A687-FC00-0F2CE87361AA}"/>
                  </a:ext>
                </a:extLst>
              </p:cNvPr>
              <p:cNvSpPr txBox="1">
                <a:spLocks noRot="1" noChangeAspect="1" noMove="1" noResize="1" noEditPoints="1" noAdjustHandles="1" noChangeArrowheads="1" noChangeShapeType="1" noTextEdit="1"/>
              </p:cNvSpPr>
              <p:nvPr/>
            </p:nvSpPr>
            <p:spPr>
              <a:xfrm>
                <a:off x="5633376" y="4149080"/>
                <a:ext cx="456605" cy="360040"/>
              </a:xfrm>
              <a:prstGeom prst="rect">
                <a:avLst/>
              </a:prstGeom>
              <a:blipFill>
                <a:blip r:embed="rId5"/>
                <a:stretch>
                  <a:fillRect l="-12000"/>
                </a:stretch>
              </a:blipFill>
            </p:spPr>
            <p:txBody>
              <a:bodyPr/>
              <a:lstStyle/>
              <a:p>
                <a:r>
                  <a:rPr lang="zh-TW" altLang="en-US">
                    <a:noFill/>
                  </a:rPr>
                  <a:t> </a:t>
                </a:r>
              </a:p>
            </p:txBody>
          </p:sp>
        </mc:Fallback>
      </mc:AlternateContent>
      <p:graphicFrame>
        <p:nvGraphicFramePr>
          <p:cNvPr id="10" name="表格 9">
            <a:extLst>
              <a:ext uri="{FF2B5EF4-FFF2-40B4-BE49-F238E27FC236}">
                <a16:creationId xmlns:a16="http://schemas.microsoft.com/office/drawing/2014/main" id="{E600ABA0-0D35-91B4-E483-3FB60FE94327}"/>
              </a:ext>
            </a:extLst>
          </p:cNvPr>
          <p:cNvGraphicFramePr>
            <a:graphicFrameLocks noGrp="1"/>
          </p:cNvGraphicFramePr>
          <p:nvPr>
            <p:extLst>
              <p:ext uri="{D42A27DB-BD31-4B8C-83A1-F6EECF244321}">
                <p14:modId xmlns:p14="http://schemas.microsoft.com/office/powerpoint/2010/main" val="2199216139"/>
              </p:ext>
            </p:extLst>
          </p:nvPr>
        </p:nvGraphicFramePr>
        <p:xfrm>
          <a:off x="3982141" y="3285863"/>
          <a:ext cx="733875" cy="548640"/>
        </p:xfrm>
        <a:graphic>
          <a:graphicData uri="http://schemas.openxmlformats.org/drawingml/2006/table">
            <a:tbl>
              <a:tblPr firstRow="1" bandRow="1">
                <a:tableStyleId>{5C22544A-7EE6-4342-B048-85BDC9FD1C3A}</a:tableStyleId>
              </a:tblPr>
              <a:tblGrid>
                <a:gridCol w="733875">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Group</a:t>
                      </a:r>
                    </a:p>
                    <a:p>
                      <a:pPr algn="l"/>
                      <a:r>
                        <a:rPr lang="en-US" altLang="zh-TW" sz="1200" b="1" cap="none" spc="0" dirty="0">
                          <a:ln w="0"/>
                          <a:solidFill>
                            <a:schemeClr val="tx1"/>
                          </a:solidFill>
                          <a:effectLst/>
                        </a:rPr>
                        <a:t>Query</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12" name="表格 11">
            <a:extLst>
              <a:ext uri="{FF2B5EF4-FFF2-40B4-BE49-F238E27FC236}">
                <a16:creationId xmlns:a16="http://schemas.microsoft.com/office/drawing/2014/main" id="{77126B31-23BB-E8AA-8B71-FB1C933617C6}"/>
              </a:ext>
            </a:extLst>
          </p:cNvPr>
          <p:cNvGraphicFramePr>
            <a:graphicFrameLocks noGrp="1"/>
          </p:cNvGraphicFramePr>
          <p:nvPr>
            <p:extLst>
              <p:ext uri="{D42A27DB-BD31-4B8C-83A1-F6EECF244321}">
                <p14:modId xmlns:p14="http://schemas.microsoft.com/office/powerpoint/2010/main" val="2934177301"/>
              </p:ext>
            </p:extLst>
          </p:nvPr>
        </p:nvGraphicFramePr>
        <p:xfrm>
          <a:off x="7380314" y="3285863"/>
          <a:ext cx="734628" cy="548640"/>
        </p:xfrm>
        <a:graphic>
          <a:graphicData uri="http://schemas.openxmlformats.org/drawingml/2006/table">
            <a:tbl>
              <a:tblPr firstRow="1" bandRow="1">
                <a:tableStyleId>{5C22544A-7EE6-4342-B048-85BDC9FD1C3A}</a:tableStyleId>
              </a:tblPr>
              <a:tblGrid>
                <a:gridCol w="73462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Multi</a:t>
                      </a:r>
                    </a:p>
                    <a:p>
                      <a:pPr algn="l"/>
                      <a:r>
                        <a:rPr lang="en-US" altLang="zh-TW" sz="1200" b="1" cap="none" spc="0" dirty="0">
                          <a:ln w="0"/>
                          <a:solidFill>
                            <a:schemeClr val="tx1"/>
                          </a:solidFill>
                          <a:effectLst/>
                        </a:rPr>
                        <a:t>Latent</a:t>
                      </a:r>
                    </a:p>
                    <a:p>
                      <a:pPr algn="l"/>
                      <a:r>
                        <a:rPr lang="en-US" altLang="zh-TW" sz="1200" b="1" cap="none" spc="0" dirty="0">
                          <a:ln w="0"/>
                          <a:solidFill>
                            <a:schemeClr val="tx1"/>
                          </a:solidFill>
                          <a:effectLst/>
                        </a:rPr>
                        <a:t>Attention</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bl>
          </a:graphicData>
        </a:graphic>
      </p:graphicFrame>
      <p:graphicFrame>
        <p:nvGraphicFramePr>
          <p:cNvPr id="3" name="表格 2">
            <a:extLst>
              <a:ext uri="{FF2B5EF4-FFF2-40B4-BE49-F238E27FC236}">
                <a16:creationId xmlns:a16="http://schemas.microsoft.com/office/drawing/2014/main" id="{077B1C4B-F67F-C512-74CA-8E832AD34217}"/>
              </a:ext>
            </a:extLst>
          </p:cNvPr>
          <p:cNvGraphicFramePr>
            <a:graphicFrameLocks noGrp="1"/>
          </p:cNvGraphicFramePr>
          <p:nvPr>
            <p:extLst>
              <p:ext uri="{D42A27DB-BD31-4B8C-83A1-F6EECF244321}">
                <p14:modId xmlns:p14="http://schemas.microsoft.com/office/powerpoint/2010/main" val="3216491121"/>
              </p:ext>
            </p:extLst>
          </p:nvPr>
        </p:nvGraphicFramePr>
        <p:xfrm>
          <a:off x="539552" y="2031948"/>
          <a:ext cx="1222398" cy="43204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2">
                <a:tc>
                  <a:txBody>
                    <a:bodyPr/>
                    <a:lstStyle/>
                    <a:p>
                      <a:pPr algn="l"/>
                      <a:r>
                        <a:rPr lang="en-US" altLang="zh-TW" sz="1200" b="1" cap="none" spc="0" dirty="0">
                          <a:ln w="0"/>
                          <a:solidFill>
                            <a:schemeClr val="tx1"/>
                          </a:solidFill>
                          <a:effectLst/>
                        </a:rPr>
                        <a:t>Vocabulary</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VC</a:t>
                      </a:r>
                      <a:r>
                        <a:rPr lang="en-US" altLang="zh-TW" sz="1200" b="0" baseline="-25000" dirty="0"/>
                        <a:t> </a:t>
                      </a:r>
                      <a:r>
                        <a:rPr lang="en-US" altLang="zh-TW" sz="1200" b="0" dirty="0"/>
                        <a:t>] </a:t>
                      </a:r>
                      <a:r>
                        <a:rPr lang="en-US" altLang="zh-TW" sz="1200" b="0" baseline="-25000" dirty="0" err="1"/>
                        <a:t>Mxd</a:t>
                      </a:r>
                      <a:r>
                        <a:rPr lang="en-US" altLang="zh-TW" sz="1200" b="0" baseline="-25000" dirty="0"/>
                        <a:t> </a:t>
                      </a:r>
                      <a:endParaRPr lang="en-US" altLang="zh-TW" sz="1200" b="0" u="none" strike="noStrike" dirty="0">
                        <a:effectLst/>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6" name="表格 5">
            <a:extLst>
              <a:ext uri="{FF2B5EF4-FFF2-40B4-BE49-F238E27FC236}">
                <a16:creationId xmlns:a16="http://schemas.microsoft.com/office/drawing/2014/main" id="{04CB878F-B5F0-6786-2773-DCBA05B60C5E}"/>
              </a:ext>
            </a:extLst>
          </p:cNvPr>
          <p:cNvGraphicFramePr>
            <a:graphicFrameLocks noGrp="1"/>
          </p:cNvGraphicFramePr>
          <p:nvPr>
            <p:extLst>
              <p:ext uri="{D42A27DB-BD31-4B8C-83A1-F6EECF244321}">
                <p14:modId xmlns:p14="http://schemas.microsoft.com/office/powerpoint/2010/main" val="625609498"/>
              </p:ext>
            </p:extLst>
          </p:nvPr>
        </p:nvGraphicFramePr>
        <p:xfrm>
          <a:off x="539553" y="5626596"/>
          <a:ext cx="1222398" cy="653824"/>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Meta Llama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Google Gemma</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bl>
          </a:graphicData>
        </a:graphic>
      </p:graphicFrame>
      <p:graphicFrame>
        <p:nvGraphicFramePr>
          <p:cNvPr id="7" name="表格 6">
            <a:extLst>
              <a:ext uri="{FF2B5EF4-FFF2-40B4-BE49-F238E27FC236}">
                <a16:creationId xmlns:a16="http://schemas.microsoft.com/office/drawing/2014/main" id="{6696330E-A8B2-AB8B-118A-F6200FA59A6B}"/>
              </a:ext>
            </a:extLst>
          </p:cNvPr>
          <p:cNvGraphicFramePr>
            <a:graphicFrameLocks noGrp="1"/>
          </p:cNvGraphicFramePr>
          <p:nvPr>
            <p:extLst>
              <p:ext uri="{D42A27DB-BD31-4B8C-83A1-F6EECF244321}">
                <p14:modId xmlns:p14="http://schemas.microsoft.com/office/powerpoint/2010/main" val="4265289325"/>
              </p:ext>
            </p:extLst>
          </p:nvPr>
        </p:nvGraphicFramePr>
        <p:xfrm>
          <a:off x="7751068" y="5661248"/>
          <a:ext cx="997396" cy="653824"/>
        </p:xfrm>
        <a:graphic>
          <a:graphicData uri="http://schemas.openxmlformats.org/drawingml/2006/table">
            <a:tbl>
              <a:tblPr firstRow="1" bandRow="1">
                <a:tableStyleId>{5C22544A-7EE6-4342-B048-85BDC9FD1C3A}</a:tableStyleId>
              </a:tblPr>
              <a:tblGrid>
                <a:gridCol w="997396">
                  <a:extLst>
                    <a:ext uri="{9D8B030D-6E8A-4147-A177-3AD203B41FA5}">
                      <a16:colId xmlns:a16="http://schemas.microsoft.com/office/drawing/2014/main" val="4512040"/>
                    </a:ext>
                  </a:extLst>
                </a:gridCol>
              </a:tblGrid>
              <a:tr h="288064">
                <a:tc>
                  <a:txBody>
                    <a:bodyPr/>
                    <a:lstStyle/>
                    <a:p>
                      <a:pPr algn="l"/>
                      <a:r>
                        <a:rPr lang="en-US" altLang="zh-TW" sz="1200" b="1" cap="none" spc="0" dirty="0">
                          <a:ln w="0"/>
                          <a:solidFill>
                            <a:schemeClr val="tx1"/>
                          </a:solidFill>
                          <a:effectLst/>
                        </a:rPr>
                        <a:t>Model</a:t>
                      </a:r>
                      <a:endParaRPr lang="en-US" altLang="zh-TW" sz="1000" b="0" cap="none" spc="0" dirty="0">
                        <a:ln w="0"/>
                        <a:solidFill>
                          <a:schemeClr val="accent1">
                            <a:lumMod val="75000"/>
                          </a:schemeClr>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11258892"/>
                  </a:ext>
                </a:extLst>
              </a:tr>
              <a:tr h="159513">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DeepSeek</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642474553"/>
                  </a:ext>
                </a:extLst>
              </a:tr>
              <a:tr h="145166">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w="0"/>
                          <a:solidFill>
                            <a:prstClr val="black"/>
                          </a:solidFill>
                          <a:effectLst/>
                          <a:uLnTx/>
                          <a:uFillTx/>
                          <a:latin typeface="+mn-lt"/>
                          <a:ea typeface="+mn-ea"/>
                          <a:cs typeface="+mn-cs"/>
                        </a:rPr>
                        <a:t>Mistral</a:t>
                      </a:r>
                      <a:endParaRPr kumimoji="0" lang="en-US" altLang="zh-TW" sz="1200" b="0" i="0" u="none" strike="noStrike" kern="1200" cap="none" spc="0" normalizeH="0" baseline="-25000" noProof="0" dirty="0">
                        <a:ln w="0"/>
                        <a:solidFill>
                          <a:prstClr val="black"/>
                        </a:solidFill>
                        <a:effectLst/>
                        <a:uLnTx/>
                        <a:uFillTx/>
                        <a:latin typeface="+mn-lt"/>
                        <a:ea typeface="+mn-ea"/>
                        <a:cs typeface="+mn-cs"/>
                      </a:endParaRP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20000"/>
                      </a:schemeClr>
                    </a:solidFill>
                  </a:tcPr>
                </a:tc>
                <a:extLst>
                  <a:ext uri="{0D108BD9-81ED-4DB2-BD59-A6C34878D82A}">
                    <a16:rowId xmlns:a16="http://schemas.microsoft.com/office/drawing/2014/main" val="1341340391"/>
                  </a:ext>
                </a:extLst>
              </a:tr>
            </a:tbl>
          </a:graphicData>
        </a:graphic>
      </p:graphicFrame>
      <p:graphicFrame>
        <p:nvGraphicFramePr>
          <p:cNvPr id="9" name="表格 8">
            <a:extLst>
              <a:ext uri="{FF2B5EF4-FFF2-40B4-BE49-F238E27FC236}">
                <a16:creationId xmlns:a16="http://schemas.microsoft.com/office/drawing/2014/main" id="{764B5406-97D8-36F8-92D8-19C318CBC3DD}"/>
              </a:ext>
            </a:extLst>
          </p:cNvPr>
          <p:cNvGraphicFramePr>
            <a:graphicFrameLocks noGrp="1"/>
          </p:cNvGraphicFramePr>
          <p:nvPr>
            <p:extLst>
              <p:ext uri="{D42A27DB-BD31-4B8C-83A1-F6EECF244321}">
                <p14:modId xmlns:p14="http://schemas.microsoft.com/office/powerpoint/2010/main" val="91655252"/>
              </p:ext>
            </p:extLst>
          </p:nvPr>
        </p:nvGraphicFramePr>
        <p:xfrm>
          <a:off x="7740354" y="4360834"/>
          <a:ext cx="1005748" cy="590639"/>
        </p:xfrm>
        <a:graphic>
          <a:graphicData uri="http://schemas.openxmlformats.org/drawingml/2006/table">
            <a:tbl>
              <a:tblPr firstRow="1" bandRow="1">
                <a:tableStyleId>{5C22544A-7EE6-4342-B048-85BDC9FD1C3A}</a:tableStyleId>
              </a:tblPr>
              <a:tblGrid>
                <a:gridCol w="1005748">
                  <a:extLst>
                    <a:ext uri="{9D8B030D-6E8A-4147-A177-3AD203B41FA5}">
                      <a16:colId xmlns:a16="http://schemas.microsoft.com/office/drawing/2014/main" val="4512040"/>
                    </a:ext>
                  </a:extLst>
                </a:gridCol>
              </a:tblGrid>
              <a:tr h="283447">
                <a:tc>
                  <a:txBody>
                    <a:bodyPr/>
                    <a:lstStyle/>
                    <a:p>
                      <a:pPr algn="l"/>
                      <a:r>
                        <a:rPr lang="en-US" altLang="zh-TW" sz="1200" b="1" cap="none" spc="0" dirty="0" err="1">
                          <a:ln w="0"/>
                          <a:solidFill>
                            <a:schemeClr val="tx1"/>
                          </a:solidFill>
                          <a:effectLst/>
                        </a:rPr>
                        <a:t>MoE</a:t>
                      </a:r>
                      <a:r>
                        <a:rPr lang="en-US" altLang="zh-TW" sz="1200" b="1" cap="none" spc="0" dirty="0">
                          <a:ln w="0"/>
                          <a:solidFill>
                            <a:schemeClr val="tx1"/>
                          </a:solidFill>
                          <a:effectLst/>
                        </a:rPr>
                        <a:t> Gating Matrix</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1311258892"/>
                  </a:ext>
                </a:extLst>
              </a:tr>
              <a:tr h="22487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 R</a:t>
                      </a:r>
                      <a:r>
                        <a:rPr lang="en-US" altLang="zh-TW" sz="1200" b="0" baseline="-25000" dirty="0"/>
                        <a:t>E </a:t>
                      </a:r>
                      <a:r>
                        <a:rPr lang="en-US" altLang="zh-TW" sz="1200" b="0" dirty="0"/>
                        <a:t>] </a:t>
                      </a:r>
                      <a:r>
                        <a:rPr lang="en-US" altLang="zh-TW" sz="1200" b="0" baseline="-25000" dirty="0"/>
                        <a:t>dx16</a:t>
                      </a:r>
                      <a:r>
                        <a:rPr lang="en-US" altLang="zh-TW" sz="1200" b="0" dirty="0"/>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alpha val="60000"/>
                      </a:schemeClr>
                    </a:solidFill>
                  </a:tcPr>
                </a:tc>
                <a:extLst>
                  <a:ext uri="{0D108BD9-81ED-4DB2-BD59-A6C34878D82A}">
                    <a16:rowId xmlns:a16="http://schemas.microsoft.com/office/drawing/2014/main" val="3324911064"/>
                  </a:ext>
                </a:extLst>
              </a:tr>
            </a:tbl>
          </a:graphicData>
        </a:graphic>
      </p:graphicFrame>
      <p:graphicFrame>
        <p:nvGraphicFramePr>
          <p:cNvPr id="11" name="表格 10">
            <a:extLst>
              <a:ext uri="{FF2B5EF4-FFF2-40B4-BE49-F238E27FC236}">
                <a16:creationId xmlns:a16="http://schemas.microsoft.com/office/drawing/2014/main" id="{03CB00E6-F30C-0143-7E2C-D86FE609A97B}"/>
              </a:ext>
            </a:extLst>
          </p:cNvPr>
          <p:cNvGraphicFramePr>
            <a:graphicFrameLocks noGrp="1"/>
          </p:cNvGraphicFramePr>
          <p:nvPr>
            <p:extLst>
              <p:ext uri="{D42A27DB-BD31-4B8C-83A1-F6EECF244321}">
                <p14:modId xmlns:p14="http://schemas.microsoft.com/office/powerpoint/2010/main" val="3041630638"/>
              </p:ext>
            </p:extLst>
          </p:nvPr>
        </p:nvGraphicFramePr>
        <p:xfrm>
          <a:off x="539553" y="4379178"/>
          <a:ext cx="1222398" cy="576615"/>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221193">
                <a:tc>
                  <a:txBody>
                    <a:bodyPr/>
                    <a:lstStyle/>
                    <a:p>
                      <a:pPr algn="l"/>
                      <a:r>
                        <a:rPr lang="en-US" altLang="zh-TW" sz="1200" b="1" cap="none" spc="0" dirty="0">
                          <a:ln w="0"/>
                          <a:solidFill>
                            <a:schemeClr val="tx1"/>
                          </a:solidFill>
                          <a:effectLst/>
                        </a:rPr>
                        <a:t>Feed Forward Network</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1085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A</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U</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 </a:t>
                      </a:r>
                      <a:r>
                        <a:rPr kumimoji="0" lang="en-US" altLang="zh-TW" sz="1200" b="0" i="0" u="none" strike="noStrike" kern="1200" cap="none" spc="0" normalizeH="0" baseline="0" noProof="0" dirty="0" err="1">
                          <a:ln>
                            <a:noFill/>
                          </a:ln>
                          <a:solidFill>
                            <a:prstClr val="black"/>
                          </a:solidFill>
                          <a:effectLst/>
                          <a:uLnTx/>
                          <a:uFillTx/>
                          <a:latin typeface="+mn-lt"/>
                          <a:ea typeface="+mn-ea"/>
                          <a:cs typeface="+mn-cs"/>
                        </a:rPr>
                        <a:t>D</a:t>
                      </a:r>
                      <a:r>
                        <a:rPr kumimoji="0" lang="en-US" altLang="zh-TW" sz="1200" b="0" i="0" u="none" strike="noStrike" kern="1200" cap="none" spc="0" normalizeH="0" baseline="-25000" noProof="0" dirty="0" err="1">
                          <a:ln>
                            <a:noFill/>
                          </a:ln>
                          <a:solidFill>
                            <a:prstClr val="black"/>
                          </a:solidFill>
                          <a:effectLst/>
                          <a:uLnTx/>
                          <a:uFillTx/>
                          <a:latin typeface="+mn-lt"/>
                          <a:ea typeface="+mn-ea"/>
                          <a:cs typeface="+mn-cs"/>
                        </a:rPr>
                        <a:t>dxd</a:t>
                      </a:r>
                      <a:r>
                        <a:rPr kumimoji="0" lang="en-US" altLang="zh-TW" sz="1200" b="0" i="0" u="none" strike="noStrike" kern="1200" cap="none" spc="0" normalizeH="0" baseline="0" noProof="0" dirty="0">
                          <a:ln>
                            <a:noFill/>
                          </a:ln>
                          <a:solidFill>
                            <a:prstClr val="black"/>
                          </a:solidFill>
                          <a:effectLst/>
                          <a:uLnTx/>
                          <a:uFillTx/>
                          <a:latin typeface="+mn-lt"/>
                          <a:ea typeface="+mn-ea"/>
                          <a:cs typeface="+mn-cs"/>
                        </a:rPr>
                        <a:t>,.</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graphicFrame>
        <p:nvGraphicFramePr>
          <p:cNvPr id="13" name="表格 12">
            <a:extLst>
              <a:ext uri="{FF2B5EF4-FFF2-40B4-BE49-F238E27FC236}">
                <a16:creationId xmlns:a16="http://schemas.microsoft.com/office/drawing/2014/main" id="{82ADC6CE-CAD5-1EF3-42CF-C865F467F18F}"/>
              </a:ext>
            </a:extLst>
          </p:cNvPr>
          <p:cNvGraphicFramePr>
            <a:graphicFrameLocks noGrp="1"/>
          </p:cNvGraphicFramePr>
          <p:nvPr>
            <p:extLst>
              <p:ext uri="{D42A27DB-BD31-4B8C-83A1-F6EECF244321}">
                <p14:modId xmlns:p14="http://schemas.microsoft.com/office/powerpoint/2010/main" val="1459956919"/>
              </p:ext>
            </p:extLst>
          </p:nvPr>
        </p:nvGraphicFramePr>
        <p:xfrm>
          <a:off x="539552" y="3040059"/>
          <a:ext cx="1222398" cy="829978"/>
        </p:xfrm>
        <a:graphic>
          <a:graphicData uri="http://schemas.openxmlformats.org/drawingml/2006/table">
            <a:tbl>
              <a:tblPr firstRow="1" bandRow="1">
                <a:tableStyleId>{5C22544A-7EE6-4342-B048-85BDC9FD1C3A}</a:tableStyleId>
              </a:tblPr>
              <a:tblGrid>
                <a:gridCol w="1222398">
                  <a:extLst>
                    <a:ext uri="{9D8B030D-6E8A-4147-A177-3AD203B41FA5}">
                      <a16:colId xmlns:a16="http://schemas.microsoft.com/office/drawing/2014/main" val="4512040"/>
                    </a:ext>
                  </a:extLst>
                </a:gridCol>
              </a:tblGrid>
              <a:tr h="414989">
                <a:tc>
                  <a:txBody>
                    <a:bodyPr/>
                    <a:lstStyle/>
                    <a:p>
                      <a:pPr algn="l"/>
                      <a:r>
                        <a:rPr lang="en-US" altLang="zh-TW" sz="1200" b="1" cap="none" spc="0" dirty="0">
                          <a:ln w="0"/>
                          <a:solidFill>
                            <a:schemeClr val="tx1"/>
                          </a:solidFill>
                          <a:effectLst/>
                        </a:rPr>
                        <a:t>Attention Parameters</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41498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WQ, </a:t>
                      </a:r>
                      <a:r>
                        <a:rPr lang="en-US" altLang="zh-TW" sz="1200" b="0" dirty="0" err="1"/>
                        <a:t>WK</a:t>
                      </a:r>
                      <a:r>
                        <a:rPr lang="en-US" altLang="zh-TW" sz="1200" b="0" baseline="-25000" dirty="0" err="1"/>
                        <a:t>dxd</a:t>
                      </a:r>
                      <a:r>
                        <a:rPr lang="en-US" altLang="zh-TW" sz="1200" b="0" dirty="0"/>
                        <a:t>, </a:t>
                      </a:r>
                      <a:r>
                        <a:rPr lang="en-US" altLang="zh-TW" sz="1200" b="0" dirty="0" err="1"/>
                        <a:t>WV</a:t>
                      </a:r>
                      <a:r>
                        <a:rPr lang="en-US" altLang="zh-TW" sz="1200" b="0" baseline="-25000" dirty="0" err="1"/>
                        <a:t>dxd</a:t>
                      </a:r>
                      <a:r>
                        <a:rPr lang="en-US" altLang="zh-TW" sz="1200" b="0" dirty="0"/>
                        <a:t>,</a:t>
                      </a:r>
                      <a:r>
                        <a:rPr lang="zh-TW" altLang="en-US" sz="1200" b="0" dirty="0"/>
                        <a:t> </a:t>
                      </a:r>
                      <a:r>
                        <a:rPr lang="en-US" altLang="zh-TW" sz="1200" b="0" dirty="0" err="1"/>
                        <a:t>Wo</a:t>
                      </a:r>
                      <a:r>
                        <a:rPr lang="en-US" altLang="zh-TW" sz="1200" b="0" baseline="-25000" dirty="0" err="1"/>
                        <a:t>dxd</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bl>
          </a:graphicData>
        </a:graphic>
      </p:graphicFrame>
    </p:spTree>
    <p:extLst>
      <p:ext uri="{BB962C8B-B14F-4D97-AF65-F5344CB8AC3E}">
        <p14:creationId xmlns:p14="http://schemas.microsoft.com/office/powerpoint/2010/main" val="25464001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9CB412F-F717-D1EC-5B0B-39785D3DA5F8}"/>
            </a:ext>
          </a:extLst>
        </p:cNvPr>
        <p:cNvGrpSpPr/>
        <p:nvPr/>
      </p:nvGrpSpPr>
      <p:grpSpPr>
        <a:xfrm>
          <a:off x="0" y="0"/>
          <a:ext cx="0" cy="0"/>
          <a:chOff x="0" y="0"/>
          <a:chExt cx="0" cy="0"/>
        </a:xfrm>
      </p:grpSpPr>
      <p:sp>
        <p:nvSpPr>
          <p:cNvPr id="7" name="矩形 6">
            <a:extLst>
              <a:ext uri="{FF2B5EF4-FFF2-40B4-BE49-F238E27FC236}">
                <a16:creationId xmlns:a16="http://schemas.microsoft.com/office/drawing/2014/main" id="{C6B4CF8F-ADD7-749F-F88E-30C143A060E6}"/>
              </a:ext>
            </a:extLst>
          </p:cNvPr>
          <p:cNvSpPr/>
          <p:nvPr/>
        </p:nvSpPr>
        <p:spPr>
          <a:xfrm>
            <a:off x="501589" y="2141347"/>
            <a:ext cx="1704205" cy="3693064"/>
          </a:xfrm>
          <a:prstGeom prst="rect">
            <a:avLst/>
          </a:prstGeom>
          <a:solidFill>
            <a:schemeClr val="bg2"/>
          </a:solidFill>
          <a:ln w="9525">
            <a:noFill/>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ctr" anchorCtr="0"/>
          <a:lstStyle/>
          <a:p>
            <a:pPr defTabSz="231775">
              <a:lnSpc>
                <a:spcPts val="1600"/>
              </a:lnSpc>
            </a:pPr>
            <a:r>
              <a:rPr lang="en-US" altLang="zh-TW" sz="1600" b="1" dirty="0">
                <a:solidFill>
                  <a:schemeClr val="tx2"/>
                </a:solidFill>
                <a:ea typeface="微軟正黑體" panose="020B0604030504040204" pitchFamily="34" charset="-120"/>
              </a:rPr>
              <a:t>Tokenizer</a:t>
            </a:r>
          </a:p>
          <a:p>
            <a:pPr marL="0" lvl="1" defTabSz="231775">
              <a:lnSpc>
                <a:spcPts val="1600"/>
              </a:lnSpc>
            </a:pPr>
            <a:r>
              <a:rPr lang="en-US" altLang="zh-TW" sz="1400" dirty="0">
                <a:solidFill>
                  <a:schemeClr val="tx2"/>
                </a:solidFill>
                <a:ea typeface="微軟正黑體" panose="020B0604030504040204" pitchFamily="34" charset="-120"/>
              </a:rPr>
              <a:t>	Token Embedding</a:t>
            </a:r>
          </a:p>
          <a:p>
            <a:pPr marL="0" lvl="1" defTabSz="231775">
              <a:lnSpc>
                <a:spcPts val="1600"/>
              </a:lnSpc>
            </a:pPr>
            <a:r>
              <a:rPr lang="en-US" altLang="zh-TW" sz="1400" dirty="0">
                <a:solidFill>
                  <a:schemeClr val="tx2"/>
                </a:solidFill>
                <a:ea typeface="微軟正黑體" panose="020B0604030504040204" pitchFamily="34" charset="-120"/>
              </a:rPr>
              <a:t>	Position Encoding</a:t>
            </a:r>
          </a:p>
          <a:p>
            <a:pPr marL="0" lvl="1" defTabSz="231775">
              <a:lnSpc>
                <a:spcPts val="1600"/>
              </a:lnSpc>
            </a:pPr>
            <a:endParaRPr lang="en-US" altLang="zh-TW" sz="1400" dirty="0">
              <a:solidFill>
                <a:schemeClr val="tx2"/>
              </a:solidFill>
              <a:ea typeface="微軟正黑體" panose="020B0604030504040204" pitchFamily="34" charset="-120"/>
            </a:endParaRP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n x Layer</a:t>
            </a:r>
          </a:p>
          <a:p>
            <a:pPr defTabSz="231775">
              <a:lnSpc>
                <a:spcPts val="1600"/>
              </a:lnSpc>
            </a:pPr>
            <a:r>
              <a:rPr lang="en-US" altLang="zh-TW" sz="1400" b="1" dirty="0">
                <a:solidFill>
                  <a:schemeClr val="tx2"/>
                </a:solidFill>
                <a:ea typeface="微軟正黑體" panose="020B0604030504040204" pitchFamily="34" charset="-120"/>
              </a:rPr>
              <a:t>	</a:t>
            </a:r>
            <a:r>
              <a:rPr lang="en-US" altLang="zh-TW" sz="1400" dirty="0">
                <a:solidFill>
                  <a:schemeClr val="tx2"/>
                </a:solidFill>
                <a:ea typeface="微軟正黑體" panose="020B0604030504040204" pitchFamily="34" charset="-120"/>
              </a:rPr>
              <a:t>Transformer</a:t>
            </a:r>
          </a:p>
          <a:p>
            <a:pPr defTabSz="231775">
              <a:lnSpc>
                <a:spcPts val="1600"/>
              </a:lnSpc>
            </a:pPr>
            <a:r>
              <a:rPr lang="en-US" altLang="zh-TW" sz="1400" dirty="0">
                <a:solidFill>
                  <a:schemeClr val="tx2"/>
                </a:solidFill>
                <a:ea typeface="微軟正黑體" panose="020B0604030504040204" pitchFamily="34" charset="-120"/>
              </a:rPr>
              <a:t>	Transformer</a:t>
            </a:r>
          </a:p>
          <a:p>
            <a:pPr defTabSz="231775">
              <a:lnSpc>
                <a:spcPts val="1600"/>
              </a:lnSpc>
            </a:pPr>
            <a:r>
              <a:rPr lang="en-US" altLang="zh-TW" sz="1400" dirty="0">
                <a:solidFill>
                  <a:schemeClr val="tx2"/>
                </a:solidFill>
                <a:ea typeface="微軟正黑體" panose="020B0604030504040204" pitchFamily="34" charset="-120"/>
              </a:rPr>
              <a:t>	…</a:t>
            </a:r>
          </a:p>
          <a:p>
            <a:pPr marL="0" lvl="1" defTabSz="231775">
              <a:lnSpc>
                <a:spcPts val="1600"/>
              </a:lnSpc>
            </a:pPr>
            <a:endParaRPr lang="en-US" altLang="zh-TW" sz="1400"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endParaRPr lang="en-US" altLang="zh-TW" sz="1600" b="1" dirty="0">
              <a:solidFill>
                <a:schemeClr val="tx2"/>
              </a:solidFill>
              <a:ea typeface="微軟正黑體" panose="020B0604030504040204" pitchFamily="34" charset="-120"/>
            </a:endParaRPr>
          </a:p>
          <a:p>
            <a:pPr defTabSz="231775">
              <a:lnSpc>
                <a:spcPts val="1600"/>
              </a:lnSpc>
            </a:pPr>
            <a:r>
              <a:rPr lang="en-US" altLang="zh-TW" sz="1600" b="1" dirty="0">
                <a:solidFill>
                  <a:schemeClr val="tx2"/>
                </a:solidFill>
                <a:ea typeface="微軟正黑體" panose="020B0604030504040204" pitchFamily="34" charset="-120"/>
              </a:rPr>
              <a:t>Linear Projection</a:t>
            </a:r>
          </a:p>
          <a:p>
            <a:pPr marL="0" lvl="1" defTabSz="231775">
              <a:lnSpc>
                <a:spcPts val="1600"/>
              </a:lnSpc>
            </a:pPr>
            <a:r>
              <a:rPr lang="en-US" altLang="zh-TW" sz="1400" dirty="0">
                <a:solidFill>
                  <a:schemeClr val="tx2"/>
                </a:solidFill>
                <a:ea typeface="微軟正黑體" panose="020B0604030504040204" pitchFamily="34" charset="-120"/>
              </a:rPr>
              <a:t>	Semantics Space</a:t>
            </a:r>
          </a:p>
          <a:p>
            <a:pPr marL="0" lvl="1" defTabSz="231775">
              <a:lnSpc>
                <a:spcPts val="1600"/>
              </a:lnSpc>
            </a:pPr>
            <a:r>
              <a:rPr lang="en-US" altLang="zh-TW" sz="1400" dirty="0">
                <a:solidFill>
                  <a:schemeClr val="tx2"/>
                </a:solidFill>
                <a:ea typeface="微軟正黑體" panose="020B0604030504040204" pitchFamily="34" charset="-120"/>
              </a:rPr>
              <a:t>	Vocabulary Space</a:t>
            </a:r>
            <a:endParaRPr lang="en-US" altLang="zh-TW" sz="1400" b="1" dirty="0">
              <a:solidFill>
                <a:schemeClr val="tx2"/>
              </a:solidFill>
              <a:ea typeface="微軟正黑體" panose="020B0604030504040204" pitchFamily="34" charset="-120"/>
            </a:endParaRPr>
          </a:p>
        </p:txBody>
      </p:sp>
      <p:sp>
        <p:nvSpPr>
          <p:cNvPr id="74" name="右中括弧 73">
            <a:extLst>
              <a:ext uri="{FF2B5EF4-FFF2-40B4-BE49-F238E27FC236}">
                <a16:creationId xmlns:a16="http://schemas.microsoft.com/office/drawing/2014/main" id="{A67047D2-E59A-A94F-AFF0-D2DFFBB2721D}"/>
              </a:ext>
            </a:extLst>
          </p:cNvPr>
          <p:cNvSpPr/>
          <p:nvPr/>
        </p:nvSpPr>
        <p:spPr>
          <a:xfrm flipH="1">
            <a:off x="654205" y="3818187"/>
            <a:ext cx="91641" cy="80015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E934BD01-CE8C-1AF7-23F7-5239ED57881D}"/>
              </a:ext>
            </a:extLst>
          </p:cNvPr>
          <p:cNvSpPr/>
          <p:nvPr/>
        </p:nvSpPr>
        <p:spPr>
          <a:xfrm>
            <a:off x="4146345" y="3066931"/>
            <a:ext cx="1770003" cy="8466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Norm(X)</a:t>
            </a:r>
          </a:p>
          <a:p>
            <a:pPr>
              <a:lnSpc>
                <a:spcPts val="1600"/>
              </a:lnSpc>
            </a:pPr>
            <a:r>
              <a:rPr lang="en-US" altLang="zh-TW" sz="1200" b="1" dirty="0">
                <a:solidFill>
                  <a:schemeClr val="tx2"/>
                </a:solidFill>
                <a:ea typeface="微軟正黑體" panose="020B0604030504040204" pitchFamily="34" charset="-120"/>
              </a:rPr>
              <a:t>A = Attention(X, Q, K, V) </a:t>
            </a:r>
          </a:p>
          <a:p>
            <a:pPr>
              <a:lnSpc>
                <a:spcPts val="1600"/>
              </a:lnSpc>
            </a:pPr>
            <a:r>
              <a:rPr lang="en-US" altLang="zh-TW" sz="1200" b="1" dirty="0">
                <a:solidFill>
                  <a:schemeClr val="tx2"/>
                </a:solidFill>
                <a:ea typeface="微軟正黑體" panose="020B0604030504040204" pitchFamily="34" charset="-120"/>
              </a:rPr>
              <a:t>H</a:t>
            </a:r>
            <a:r>
              <a:rPr lang="en-US" altLang="zh-TW" sz="1200" b="1" baseline="-25000" dirty="0">
                <a:solidFill>
                  <a:schemeClr val="tx2"/>
                </a:solidFill>
                <a:ea typeface="微軟正黑體" panose="020B0604030504040204" pitchFamily="34" charset="-120"/>
              </a:rPr>
              <a:t> </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 = cat(A</a:t>
            </a:r>
            <a:r>
              <a:rPr lang="en-US" altLang="zh-TW" sz="1200" b="1" baseline="-25000" dirty="0">
                <a:solidFill>
                  <a:schemeClr val="tx2"/>
                </a:solidFill>
                <a:ea typeface="微軟正黑體" panose="020B0604030504040204" pitchFamily="34" charset="-120"/>
              </a:rPr>
              <a:t>1~h</a:t>
            </a:r>
            <a:r>
              <a:rPr lang="en-US" altLang="zh-TW" sz="1200" b="1" dirty="0">
                <a:solidFill>
                  <a:schemeClr val="tx2"/>
                </a:solidFill>
                <a:ea typeface="微軟正黑體" panose="020B0604030504040204" pitchFamily="34" charset="-120"/>
              </a:rPr>
              <a:t>)</a:t>
            </a:r>
            <a:r>
              <a:rPr lang="en-US" altLang="zh-TW" sz="1200" b="1" baseline="-25000" dirty="0" err="1">
                <a:solidFill>
                  <a:schemeClr val="tx2"/>
                </a:solidFill>
                <a:ea typeface="微軟正黑體" panose="020B0604030504040204" pitchFamily="34" charset="-120"/>
              </a:rPr>
              <a:t>Nxd</a:t>
            </a:r>
            <a:r>
              <a:rPr lang="en-US" altLang="zh-TW" sz="1200" b="1" dirty="0">
                <a:solidFill>
                  <a:schemeClr val="tx2"/>
                </a:solidFill>
                <a:ea typeface="微軟正黑體" panose="020B0604030504040204" pitchFamily="34" charset="-120"/>
              </a:rPr>
              <a:t>*O</a:t>
            </a:r>
            <a:r>
              <a:rPr lang="en-US" altLang="zh-TW" sz="1200" b="1" baseline="-25000" dirty="0">
                <a:solidFill>
                  <a:schemeClr val="tx2"/>
                </a:solidFill>
                <a:ea typeface="微軟正黑體" panose="020B0604030504040204" pitchFamily="34" charset="-120"/>
              </a:rPr>
              <a:t>dxd</a:t>
            </a:r>
            <a:br>
              <a:rPr lang="en-US" altLang="zh-TW" sz="1200" b="1" dirty="0">
                <a:solidFill>
                  <a:schemeClr val="tx2"/>
                </a:solidFill>
                <a:ea typeface="微軟正黑體" panose="020B0604030504040204" pitchFamily="34" charset="-120"/>
              </a:rPr>
            </a:br>
            <a:r>
              <a:rPr lang="en-US" altLang="zh-TW" sz="1200" b="1" dirty="0">
                <a:solidFill>
                  <a:schemeClr val="tx2"/>
                </a:solidFill>
                <a:ea typeface="微軟正黑體" panose="020B0604030504040204" pitchFamily="34" charset="-120"/>
              </a:rPr>
              <a:t>X = X + H</a:t>
            </a:r>
          </a:p>
        </p:txBody>
      </p:sp>
      <p:cxnSp>
        <p:nvCxnSpPr>
          <p:cNvPr id="66" name="直線接點 65">
            <a:extLst>
              <a:ext uri="{FF2B5EF4-FFF2-40B4-BE49-F238E27FC236}">
                <a16:creationId xmlns:a16="http://schemas.microsoft.com/office/drawing/2014/main" id="{2EFAE664-C48E-7A28-C687-A0760B049CD4}"/>
              </a:ext>
            </a:extLst>
          </p:cNvPr>
          <p:cNvCxnSpPr>
            <a:cxnSpLocks/>
          </p:cNvCxnSpPr>
          <p:nvPr/>
        </p:nvCxnSpPr>
        <p:spPr>
          <a:xfrm flipV="1">
            <a:off x="3756088" y="1984555"/>
            <a:ext cx="326140" cy="62462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A33FCC8-2312-EAA7-34B7-5C7253316B0E}"/>
              </a:ext>
            </a:extLst>
          </p:cNvPr>
          <p:cNvCxnSpPr>
            <a:cxnSpLocks/>
          </p:cNvCxnSpPr>
          <p:nvPr/>
        </p:nvCxnSpPr>
        <p:spPr>
          <a:xfrm>
            <a:off x="3756088" y="1477835"/>
            <a:ext cx="328667" cy="111771"/>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71" name="矩形 70">
            <a:extLst>
              <a:ext uri="{FF2B5EF4-FFF2-40B4-BE49-F238E27FC236}">
                <a16:creationId xmlns:a16="http://schemas.microsoft.com/office/drawing/2014/main" id="{1E4782C1-8E2A-30A3-FC43-6C2C93AC2464}"/>
              </a:ext>
            </a:extLst>
          </p:cNvPr>
          <p:cNvSpPr/>
          <p:nvPr/>
        </p:nvSpPr>
        <p:spPr>
          <a:xfrm>
            <a:off x="2430250" y="5030232"/>
            <a:ext cx="1599732" cy="42901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Vocabulary</a:t>
            </a:r>
          </a:p>
          <a:p>
            <a:pPr>
              <a:lnSpc>
                <a:spcPts val="1600"/>
              </a:lnSpc>
            </a:pPr>
            <a:r>
              <a:rPr lang="en-US" altLang="zh-TW" sz="1200" dirty="0">
                <a:solidFill>
                  <a:schemeClr val="tx2"/>
                </a:solidFill>
                <a:ea typeface="微軟正黑體" panose="020B0604030504040204" pitchFamily="34" charset="-120"/>
              </a:rPr>
              <a:t>to Probability Table</a:t>
            </a:r>
          </a:p>
        </p:txBody>
      </p:sp>
      <p:sp>
        <p:nvSpPr>
          <p:cNvPr id="73" name="矩形 72">
            <a:extLst>
              <a:ext uri="{FF2B5EF4-FFF2-40B4-BE49-F238E27FC236}">
                <a16:creationId xmlns:a16="http://schemas.microsoft.com/office/drawing/2014/main" id="{1935E340-622C-B63E-2CCE-B1FE939DDE95}"/>
              </a:ext>
            </a:extLst>
          </p:cNvPr>
          <p:cNvSpPr/>
          <p:nvPr/>
        </p:nvSpPr>
        <p:spPr>
          <a:xfrm>
            <a:off x="770570" y="3928295"/>
            <a:ext cx="1011599" cy="21602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endParaRPr lang="en-US" altLang="zh-TW" sz="1200" b="1" dirty="0">
              <a:solidFill>
                <a:schemeClr val="tx2"/>
              </a:solidFill>
              <a:ea typeface="微軟正黑體" panose="020B0604030504040204" pitchFamily="34" charset="-120"/>
            </a:endParaRPr>
          </a:p>
        </p:txBody>
      </p:sp>
      <mc:AlternateContent xmlns:mc="http://schemas.openxmlformats.org/markup-compatibility/2006" xmlns:a14="http://schemas.microsoft.com/office/drawing/2010/main">
        <mc:Choice Requires="a14">
          <p:sp>
            <p:nvSpPr>
              <p:cNvPr id="77" name="文字方塊 76">
                <a:extLst>
                  <a:ext uri="{FF2B5EF4-FFF2-40B4-BE49-F238E27FC236}">
                    <a16:creationId xmlns:a16="http://schemas.microsoft.com/office/drawing/2014/main" id="{E16DD0AC-FF5F-E64E-3A60-CA28680E7D46}"/>
                  </a:ext>
                </a:extLst>
              </p:cNvPr>
              <p:cNvSpPr txBox="1"/>
              <p:nvPr/>
            </p:nvSpPr>
            <p:spPr>
              <a:xfrm>
                <a:off x="6236824" y="1916832"/>
                <a:ext cx="1692707" cy="1097865"/>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Norm</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f>
                            <m:fPr>
                              <m:ctrlPr>
                                <a:rPr lang="en-US" altLang="zh-TW" sz="1200" i="1">
                                  <a:latin typeface="Cambria Math" panose="02040503050406030204" pitchFamily="18" charset="0"/>
                                </a:rPr>
                              </m:ctrlPr>
                            </m:fPr>
                            <m:num>
                              <m:r>
                                <m:rPr>
                                  <m:nor/>
                                </m:rPr>
                                <a:rPr lang="en-US" altLang="zh-TW" sz="1200" i="1" dirty="0"/>
                                <m:t>x</m:t>
                              </m:r>
                              <m:r>
                                <m:rPr>
                                  <m:nor/>
                                </m:rPr>
                                <a:rPr lang="en-US" altLang="zh-TW" sz="1200" baseline="-25000" dirty="0"/>
                                <m:t>i</m:t>
                              </m:r>
                              <m:r>
                                <m:rPr>
                                  <m:nor/>
                                </m:rPr>
                                <a:rPr lang="en-US" altLang="zh-TW" sz="1200" dirty="0"/>
                                <m:t>∗</m:t>
                              </m:r>
                              <m:r>
                                <m:rPr>
                                  <m:nor/>
                                </m:rPr>
                                <a:rPr lang="en-US" altLang="zh-TW" sz="1200" dirty="0"/>
                                <m:t>γi</m:t>
                              </m:r>
                            </m:num>
                            <m:den>
                              <m:r>
                                <m:rPr>
                                  <m:nor/>
                                </m:rPr>
                                <a:rPr lang="en-US" altLang="zh-TW" sz="1200" dirty="0"/>
                                <m:t>RMS</m:t>
                              </m:r>
                              <m:r>
                                <m:rPr>
                                  <m:nor/>
                                </m:rPr>
                                <a:rPr lang="en-US" altLang="zh-TW" sz="1200" dirty="0"/>
                                <m:t>(</m:t>
                              </m:r>
                              <m:r>
                                <m:rPr>
                                  <m:nor/>
                                </m:rPr>
                                <a:rPr lang="en-US" altLang="zh-TW" sz="1200" i="1" dirty="0"/>
                                <m:t>x</m:t>
                              </m:r>
                              <m:r>
                                <m:rPr>
                                  <m:nor/>
                                </m:rPr>
                                <a:rPr lang="en-US" altLang="zh-TW" sz="1200" dirty="0"/>
                                <m:t>)</m:t>
                              </m:r>
                            </m:den>
                          </m:f>
                        </m:e>
                      </m:d>
                      <m:r>
                        <a:rPr lang="en-US" altLang="zh-TW" sz="1200" b="0" i="0" smtClean="0">
                          <a:latin typeface="Cambria Math" panose="02040503050406030204" pitchFamily="18" charset="0"/>
                        </a:rPr>
                        <m:t>; </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RMS</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𝑥</m:t>
                          </m:r>
                        </m:e>
                      </m:d>
                      <m:r>
                        <a:rPr lang="en-US" altLang="zh-TW" sz="1200" b="0" i="1" smtClean="0">
                          <a:latin typeface="Cambria Math" panose="02040503050406030204" pitchFamily="18" charset="0"/>
                        </a:rPr>
                        <m:t>=</m:t>
                      </m:r>
                      <m:rad>
                        <m:radPr>
                          <m:degHide m:val="on"/>
                          <m:ctrlPr>
                            <a:rPr lang="en-US" altLang="zh-TW" sz="1200" b="0" i="1" smtClean="0">
                              <a:latin typeface="Cambria Math" panose="02040503050406030204" pitchFamily="18" charset="0"/>
                            </a:rPr>
                          </m:ctrlPr>
                        </m:radPr>
                        <m:deg/>
                        <m:e>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1</m:t>
                              </m:r>
                            </m:num>
                            <m:den>
                              <m:r>
                                <a:rPr lang="en-US" altLang="zh-TW" sz="1200" b="0" i="1" smtClean="0">
                                  <a:latin typeface="Cambria Math" panose="02040503050406030204" pitchFamily="18" charset="0"/>
                                </a:rPr>
                                <m:t>𝑑</m:t>
                              </m:r>
                            </m:den>
                          </m:f>
                          <m:nary>
                            <m:naryPr>
                              <m:chr m:val="∑"/>
                              <m:limLoc m:val="subSup"/>
                              <m:ctrlPr>
                                <a:rPr lang="en-US" altLang="zh-TW" sz="1200" i="1">
                                  <a:latin typeface="Cambria Math" panose="02040503050406030204" pitchFamily="18" charset="0"/>
                                </a:rPr>
                              </m:ctrlPr>
                            </m:naryPr>
                            <m:sub>
                              <m:r>
                                <m:rPr>
                                  <m:brk m:alnAt="25"/>
                                </m:rPr>
                                <a:rPr lang="en-US" altLang="zh-TW" sz="1200" i="1">
                                  <a:latin typeface="Cambria Math" panose="02040503050406030204" pitchFamily="18" charset="0"/>
                                </a:rPr>
                                <m:t>𝑖</m:t>
                              </m:r>
                            </m:sub>
                            <m:sup>
                              <m:r>
                                <a:rPr lang="en-US" altLang="zh-TW" sz="1200" i="1">
                                  <a:latin typeface="Cambria Math" panose="02040503050406030204" pitchFamily="18" charset="0"/>
                                </a:rPr>
                                <m:t>𝑑</m:t>
                              </m:r>
                            </m:sup>
                            <m:e>
                              <m:sSubSup>
                                <m:sSubSupPr>
                                  <m:ctrlPr>
                                    <a:rPr lang="en-US" altLang="zh-TW" sz="1200" i="1">
                                      <a:latin typeface="Cambria Math" panose="02040503050406030204" pitchFamily="18" charset="0"/>
                                    </a:rPr>
                                  </m:ctrlPr>
                                </m:sSubSupPr>
                                <m:e>
                                  <m:r>
                                    <a:rPr lang="en-US" altLang="zh-TW" sz="1200" i="1">
                                      <a:latin typeface="Cambria Math" panose="02040503050406030204" pitchFamily="18" charset="0"/>
                                    </a:rPr>
                                    <m:t>𝑥</m:t>
                                  </m:r>
                                </m:e>
                                <m:sub>
                                  <m:r>
                                    <a:rPr lang="en-US" altLang="zh-TW" sz="1200" i="1">
                                      <a:latin typeface="Cambria Math" panose="02040503050406030204" pitchFamily="18" charset="0"/>
                                    </a:rPr>
                                    <m:t>𝑖</m:t>
                                  </m:r>
                                </m:sub>
                                <m:sup>
                                  <m:r>
                                    <a:rPr lang="en-US" altLang="zh-TW" sz="1200" i="1">
                                      <a:latin typeface="Cambria Math" panose="02040503050406030204" pitchFamily="18" charset="0"/>
                                    </a:rPr>
                                    <m:t>2</m:t>
                                  </m:r>
                                </m:sup>
                              </m:sSubSup>
                              <m:r>
                                <a:rPr lang="en-US" altLang="zh-TW" sz="1200" i="1">
                                  <a:latin typeface="Cambria Math" panose="02040503050406030204" pitchFamily="18" charset="0"/>
                                </a:rPr>
                                <m:t>+</m:t>
                              </m:r>
                              <m:r>
                                <a:rPr lang="en-US" altLang="zh-TW" sz="1200" i="1">
                                  <a:latin typeface="Cambria Math" panose="02040503050406030204" pitchFamily="18" charset="0"/>
                                </a:rPr>
                                <m:t>𝑒</m:t>
                              </m:r>
                            </m:e>
                          </m:nary>
                        </m:e>
                      </m:rad>
                    </m:oMath>
                  </m:oMathPara>
                </a14:m>
                <a:endParaRPr lang="zh-TW" altLang="en-US" sz="1200" dirty="0"/>
              </a:p>
            </p:txBody>
          </p:sp>
        </mc:Choice>
        <mc:Fallback xmlns="">
          <p:sp>
            <p:nvSpPr>
              <p:cNvPr id="77" name="文字方塊 76">
                <a:extLst>
                  <a:ext uri="{FF2B5EF4-FFF2-40B4-BE49-F238E27FC236}">
                    <a16:creationId xmlns:a16="http://schemas.microsoft.com/office/drawing/2014/main" id="{E16DD0AC-FF5F-E64E-3A60-CA28680E7D46}"/>
                  </a:ext>
                </a:extLst>
              </p:cNvPr>
              <p:cNvSpPr txBox="1">
                <a:spLocks noRot="1" noChangeAspect="1" noMove="1" noResize="1" noEditPoints="1" noAdjustHandles="1" noChangeArrowheads="1" noChangeShapeType="1" noTextEdit="1"/>
              </p:cNvSpPr>
              <p:nvPr/>
            </p:nvSpPr>
            <p:spPr>
              <a:xfrm>
                <a:off x="6236824" y="1916832"/>
                <a:ext cx="1692707" cy="1097865"/>
              </a:xfrm>
              <a:prstGeom prst="rect">
                <a:avLst/>
              </a:prstGeom>
              <a:blipFill>
                <a:blip r:embed="rId2"/>
                <a:stretch>
                  <a:fillRect l="-3237" t="-1105"/>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1FBB3318-817D-36CA-CB7F-4FF5E1ADB026}"/>
              </a:ext>
            </a:extLst>
          </p:cNvPr>
          <p:cNvSpPr/>
          <p:nvPr/>
        </p:nvSpPr>
        <p:spPr>
          <a:xfrm>
            <a:off x="2430249" y="3026098"/>
            <a:ext cx="1599732" cy="159052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Multi-Head Attention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a:p>
            <a:pPr marL="0" marR="0" lvl="1" algn="l" defTabSz="1425575" rtl="0" eaLnBrk="1" fontAlgn="auto" latinLnBrk="0" hangingPunct="1">
              <a:lnSpc>
                <a:spcPts val="1600"/>
              </a:lnSpc>
              <a:spcBef>
                <a:spcPts val="0"/>
              </a:spcBef>
              <a:spcAft>
                <a:spcPts val="0"/>
              </a:spcAft>
              <a:buClrTx/>
              <a:buSzTx/>
              <a:buFontTx/>
              <a:buNone/>
              <a:tabLst/>
              <a:defRPr/>
            </a:pPr>
            <a:endPar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endParaRP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Normalization</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Feed Forward Network</a:t>
            </a:r>
          </a:p>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Residual Connection</a:t>
            </a:r>
          </a:p>
        </p:txBody>
      </p:sp>
      <p:cxnSp>
        <p:nvCxnSpPr>
          <p:cNvPr id="12" name="直線接點 11">
            <a:extLst>
              <a:ext uri="{FF2B5EF4-FFF2-40B4-BE49-F238E27FC236}">
                <a16:creationId xmlns:a16="http://schemas.microsoft.com/office/drawing/2014/main" id="{482F4407-5DE8-EC04-552F-A876607C1EFB}"/>
              </a:ext>
            </a:extLst>
          </p:cNvPr>
          <p:cNvCxnSpPr>
            <a:cxnSpLocks/>
          </p:cNvCxnSpPr>
          <p:nvPr/>
        </p:nvCxnSpPr>
        <p:spPr>
          <a:xfrm flipV="1">
            <a:off x="1766613" y="3010904"/>
            <a:ext cx="617623" cy="913199"/>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38" name="直線接點 37">
            <a:extLst>
              <a:ext uri="{FF2B5EF4-FFF2-40B4-BE49-F238E27FC236}">
                <a16:creationId xmlns:a16="http://schemas.microsoft.com/office/drawing/2014/main" id="{73A39969-7CD1-EDDD-D23B-5D4BF4C300AB}"/>
              </a:ext>
            </a:extLst>
          </p:cNvPr>
          <p:cNvCxnSpPr>
            <a:cxnSpLocks/>
          </p:cNvCxnSpPr>
          <p:nvPr/>
        </p:nvCxnSpPr>
        <p:spPr>
          <a:xfrm>
            <a:off x="1782169" y="4144319"/>
            <a:ext cx="602067" cy="472309"/>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46" name="矩形 45">
            <a:extLst>
              <a:ext uri="{FF2B5EF4-FFF2-40B4-BE49-F238E27FC236}">
                <a16:creationId xmlns:a16="http://schemas.microsoft.com/office/drawing/2014/main" id="{8D070003-5528-B227-F18B-65FE16FD90ED}"/>
              </a:ext>
            </a:extLst>
          </p:cNvPr>
          <p:cNvSpPr/>
          <p:nvPr/>
        </p:nvSpPr>
        <p:spPr>
          <a:xfrm>
            <a:off x="4146345" y="3971585"/>
            <a:ext cx="1770003" cy="645042"/>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X = Normalization(X)</a:t>
            </a:r>
          </a:p>
          <a:p>
            <a:pPr>
              <a:lnSpc>
                <a:spcPts val="1600"/>
              </a:lnSpc>
            </a:pPr>
            <a:r>
              <a:rPr lang="en-US" altLang="zh-TW" sz="1200" b="1" dirty="0">
                <a:solidFill>
                  <a:schemeClr val="tx2"/>
                </a:solidFill>
                <a:ea typeface="微軟正黑體" panose="020B0604030504040204" pitchFamily="34" charset="-120"/>
              </a:rPr>
              <a:t>S = FFN(X, A, U, D)</a:t>
            </a:r>
          </a:p>
          <a:p>
            <a:pPr>
              <a:lnSpc>
                <a:spcPts val="1600"/>
              </a:lnSpc>
            </a:pPr>
            <a:r>
              <a:rPr lang="en-US" altLang="zh-TW" sz="1200" b="1" dirty="0">
                <a:solidFill>
                  <a:schemeClr val="tx2"/>
                </a:solidFill>
                <a:ea typeface="微軟正黑體" panose="020B0604030504040204" pitchFamily="34" charset="-120"/>
              </a:rPr>
              <a:t>X = X + S</a:t>
            </a:r>
          </a:p>
        </p:txBody>
      </p:sp>
      <p:sp>
        <p:nvSpPr>
          <p:cNvPr id="85" name="矩形 84">
            <a:extLst>
              <a:ext uri="{FF2B5EF4-FFF2-40B4-BE49-F238E27FC236}">
                <a16:creationId xmlns:a16="http://schemas.microsoft.com/office/drawing/2014/main" id="{D851F138-84D6-9A7C-BC23-8C9D5BD35785}"/>
              </a:ext>
            </a:extLst>
          </p:cNvPr>
          <p:cNvSpPr/>
          <p:nvPr/>
        </p:nvSpPr>
        <p:spPr>
          <a:xfrm>
            <a:off x="4101989" y="158593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48A588-C108-4341-2F19-3F2C39654DAB}"/>
              </a:ext>
            </a:extLst>
          </p:cNvPr>
          <p:cNvSpPr txBox="1"/>
          <p:nvPr/>
        </p:nvSpPr>
        <p:spPr>
          <a:xfrm>
            <a:off x="3860231" y="168023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grpSp>
        <p:nvGrpSpPr>
          <p:cNvPr id="97" name="群組 96">
            <a:extLst>
              <a:ext uri="{FF2B5EF4-FFF2-40B4-BE49-F238E27FC236}">
                <a16:creationId xmlns:a16="http://schemas.microsoft.com/office/drawing/2014/main" id="{F197F39C-D8DB-D23A-A1DC-825EE358F026}"/>
              </a:ext>
            </a:extLst>
          </p:cNvPr>
          <p:cNvGrpSpPr/>
          <p:nvPr/>
        </p:nvGrpSpPr>
        <p:grpSpPr>
          <a:xfrm>
            <a:off x="2301789" y="1081883"/>
            <a:ext cx="1406400" cy="1549267"/>
            <a:chOff x="1907704" y="476672"/>
            <a:chExt cx="1406400" cy="1549267"/>
          </a:xfrm>
        </p:grpSpPr>
        <p:sp>
          <p:nvSpPr>
            <p:cNvPr id="88" name="矩形 87">
              <a:extLst>
                <a:ext uri="{FF2B5EF4-FFF2-40B4-BE49-F238E27FC236}">
                  <a16:creationId xmlns:a16="http://schemas.microsoft.com/office/drawing/2014/main" id="{BBAFACF7-FE6F-8962-5536-5C301C5C1B91}"/>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392A6AA1-E490-925E-9FE5-C1B69DE82D73}"/>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8E0E7A84-29E8-8C93-30D6-0BD8591074DA}"/>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977C8F42-B90D-A9E3-616C-CA1A9CAA4216}"/>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E532E354-A8FC-8A42-7A62-6316A8779490}"/>
                </a:ext>
              </a:extLst>
            </p:cNvPr>
            <p:cNvSpPr/>
            <p:nvPr/>
          </p:nvSpPr>
          <p:spPr>
            <a:xfrm>
              <a:off x="2230974" y="1844824"/>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289B2AA8-9CB7-FD3E-598A-E05EEA063034}"/>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48DAE785-7CD8-7220-938F-D23D3DE88DFE}"/>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4E789495-7FD8-8886-F2E5-D3E06364DBA2}"/>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C1D06676-1ABE-CD3B-6755-F2EB2961AEC4}"/>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mc:AlternateContent xmlns:mc="http://schemas.openxmlformats.org/markup-compatibility/2006" xmlns:a14="http://schemas.microsoft.com/office/drawing/2010/main">
        <mc:Choice Requires="a14">
          <p:sp>
            <p:nvSpPr>
              <p:cNvPr id="105" name="文字方塊 104">
                <a:extLst>
                  <a:ext uri="{FF2B5EF4-FFF2-40B4-BE49-F238E27FC236}">
                    <a16:creationId xmlns:a16="http://schemas.microsoft.com/office/drawing/2014/main" id="{06397DD8-8DC4-57B0-55B7-E29989C6201B}"/>
                  </a:ext>
                </a:extLst>
              </p:cNvPr>
              <p:cNvSpPr txBox="1"/>
              <p:nvPr/>
            </p:nvSpPr>
            <p:spPr>
              <a:xfrm>
                <a:off x="4186061" y="1826829"/>
                <a:ext cx="419984" cy="119150"/>
              </a:xfrm>
              <a:prstGeom prst="rect">
                <a:avLst/>
              </a:prstGeom>
              <a:solidFill>
                <a:schemeClr val="accent1">
                  <a:lumMod val="20000"/>
                  <a:lumOff val="80000"/>
                  <a:alpha val="60000"/>
                </a:schemeClr>
              </a:solidFill>
              <a:ln>
                <a:solidFill>
                  <a:schemeClr val="accent1">
                    <a:alpha val="40000"/>
                  </a:schemeClr>
                </a:solidFill>
              </a:ln>
            </p:spPr>
            <p:txBody>
              <a:bodyPr wrap="none" lIns="0" tIns="0" rIns="0" bIns="0" rtlCol="0" anchor="ctr" anchorCtr="1">
                <a:noAutofit/>
              </a:bodyPr>
              <a:lstStyle/>
              <a:p>
                <a:pPr algn="ctr"/>
                <a14:m>
                  <m:oMathPara xmlns:m="http://schemas.openxmlformats.org/officeDocument/2006/math">
                    <m:oMathParaPr>
                      <m:jc m:val="centerGroup"/>
                    </m:oMathParaPr>
                    <m:oMath xmlns:m="http://schemas.openxmlformats.org/officeDocument/2006/math">
                      <m:r>
                        <a:rPr lang="en-US" altLang="zh-TW" sz="1000" i="1">
                          <a:latin typeface="Cambria Math" panose="02040503050406030204" pitchFamily="18" charset="0"/>
                        </a:rPr>
                        <m:t>𝑥</m:t>
                      </m:r>
                    </m:oMath>
                  </m:oMathPara>
                </a14:m>
                <a:endParaRPr lang="zh-TW" altLang="en-US" sz="1000" i="1" dirty="0"/>
              </a:p>
            </p:txBody>
          </p:sp>
        </mc:Choice>
        <mc:Fallback xmlns="">
          <p:sp>
            <p:nvSpPr>
              <p:cNvPr id="105" name="文字方塊 104">
                <a:extLst>
                  <a:ext uri="{FF2B5EF4-FFF2-40B4-BE49-F238E27FC236}">
                    <a16:creationId xmlns:a16="http://schemas.microsoft.com/office/drawing/2014/main" id="{06397DD8-8DC4-57B0-55B7-E29989C6201B}"/>
                  </a:ext>
                </a:extLst>
              </p:cNvPr>
              <p:cNvSpPr txBox="1">
                <a:spLocks noRot="1" noChangeAspect="1" noMove="1" noResize="1" noEditPoints="1" noAdjustHandles="1" noChangeArrowheads="1" noChangeShapeType="1" noTextEdit="1"/>
              </p:cNvSpPr>
              <p:nvPr/>
            </p:nvSpPr>
            <p:spPr>
              <a:xfrm>
                <a:off x="4186061" y="1826829"/>
                <a:ext cx="419984" cy="119150"/>
              </a:xfrm>
              <a:prstGeom prst="rect">
                <a:avLst/>
              </a:prstGeom>
              <a:blipFill>
                <a:blip r:embed="rId3"/>
                <a:stretch>
                  <a:fillRect b="-9524"/>
                </a:stretch>
              </a:blipFill>
              <a:ln>
                <a:solidFill>
                  <a:schemeClr val="accent1">
                    <a:alpha val="40000"/>
                  </a:schemeClr>
                </a:solidFill>
              </a:ln>
            </p:spPr>
            <p:txBody>
              <a:bodyPr/>
              <a:lstStyle/>
              <a:p>
                <a:r>
                  <a:rPr lang="zh-TW" altLang="en-US">
                    <a:noFill/>
                  </a:rPr>
                  <a:t> </a:t>
                </a:r>
              </a:p>
            </p:txBody>
          </p:sp>
        </mc:Fallback>
      </mc:AlternateContent>
      <p:cxnSp>
        <p:nvCxnSpPr>
          <p:cNvPr id="106" name="接點: 弧形 105">
            <a:extLst>
              <a:ext uri="{FF2B5EF4-FFF2-40B4-BE49-F238E27FC236}">
                <a16:creationId xmlns:a16="http://schemas.microsoft.com/office/drawing/2014/main" id="{E338F06C-3D7C-4CCB-13C3-915E32D8E701}"/>
              </a:ext>
            </a:extLst>
          </p:cNvPr>
          <p:cNvCxnSpPr>
            <a:cxnSpLocks/>
            <a:stCxn id="105" idx="3"/>
            <a:endCxn id="120" idx="0"/>
          </p:cNvCxnSpPr>
          <p:nvPr/>
        </p:nvCxnSpPr>
        <p:spPr>
          <a:xfrm>
            <a:off x="4606045" y="1886404"/>
            <a:ext cx="425301" cy="548541"/>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20" name="矩形 119">
            <a:extLst>
              <a:ext uri="{FF2B5EF4-FFF2-40B4-BE49-F238E27FC236}">
                <a16:creationId xmlns:a16="http://schemas.microsoft.com/office/drawing/2014/main" id="{6F27C02F-FC26-248D-16F2-903241A6CBC7}"/>
              </a:ext>
            </a:extLst>
          </p:cNvPr>
          <p:cNvSpPr/>
          <p:nvPr/>
        </p:nvSpPr>
        <p:spPr>
          <a:xfrm>
            <a:off x="4146344" y="2434945"/>
            <a:ext cx="1770003" cy="2311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 = Position Encoding (</a:t>
            </a:r>
            <a:r>
              <a:rPr lang="en-US" altLang="zh-TW" sz="1200" b="1" i="1" dirty="0">
                <a:solidFill>
                  <a:schemeClr val="tx2"/>
                </a:solidFill>
                <a:ea typeface="微軟正黑體" panose="020B0604030504040204" pitchFamily="34" charset="-120"/>
              </a:rPr>
              <a:t>x</a:t>
            </a:r>
            <a:r>
              <a:rPr lang="en-US" altLang="zh-TW" sz="1200" b="1" dirty="0">
                <a:solidFill>
                  <a:schemeClr val="tx2"/>
                </a:solidFill>
                <a:ea typeface="微軟正黑體" panose="020B0604030504040204" pitchFamily="34" charset="-120"/>
              </a:rPr>
              <a:t>)</a:t>
            </a:r>
          </a:p>
        </p:txBody>
      </p:sp>
      <p:sp>
        <p:nvSpPr>
          <p:cNvPr id="75" name="文字方塊 74">
            <a:extLst>
              <a:ext uri="{FF2B5EF4-FFF2-40B4-BE49-F238E27FC236}">
                <a16:creationId xmlns:a16="http://schemas.microsoft.com/office/drawing/2014/main" id="{66BAB4DB-6D4E-B602-A6FC-D415F16C410F}"/>
              </a:ext>
            </a:extLst>
          </p:cNvPr>
          <p:cNvSpPr txBox="1"/>
          <p:nvPr/>
        </p:nvSpPr>
        <p:spPr>
          <a:xfrm>
            <a:off x="285595" y="4009759"/>
            <a:ext cx="427061" cy="469714"/>
          </a:xfrm>
          <a:prstGeom prst="rect">
            <a:avLst/>
          </a:prstGeom>
          <a:noFill/>
        </p:spPr>
        <p:txBody>
          <a:bodyPr wrap="none" lIns="0" tIns="0" rIns="0" bIns="0" rtlCol="0" anchor="ctr" anchorCtr="1">
            <a:noAutofit/>
          </a:bodyPr>
          <a:lstStyle/>
          <a:p>
            <a:pPr algn="ctr"/>
            <a:r>
              <a:rPr lang="en-US" altLang="zh-TW" sz="1400" dirty="0"/>
              <a:t>n = </a:t>
            </a:r>
          </a:p>
          <a:p>
            <a:pPr algn="ctr"/>
            <a:r>
              <a:rPr lang="en-US" altLang="zh-TW" sz="1000" dirty="0"/>
              <a:t>64~100</a:t>
            </a:r>
            <a:endParaRPr lang="zh-TW" altLang="en-US" sz="1000" dirty="0"/>
          </a:p>
        </p:txBody>
      </p:sp>
      <p:sp>
        <p:nvSpPr>
          <p:cNvPr id="150" name="矩形 149">
            <a:extLst>
              <a:ext uri="{FF2B5EF4-FFF2-40B4-BE49-F238E27FC236}">
                <a16:creationId xmlns:a16="http://schemas.microsoft.com/office/drawing/2014/main" id="{5B914841-29BD-9578-671C-69108AD55B2E}"/>
              </a:ext>
            </a:extLst>
          </p:cNvPr>
          <p:cNvSpPr/>
          <p:nvPr/>
        </p:nvSpPr>
        <p:spPr>
          <a:xfrm>
            <a:off x="4146344" y="5030282"/>
            <a:ext cx="1971869" cy="1063014"/>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b="1" dirty="0">
                <a:solidFill>
                  <a:schemeClr val="tx2"/>
                </a:solidFill>
                <a:ea typeface="微軟正黑體" panose="020B0604030504040204" pitchFamily="34" charset="-120"/>
              </a:rPr>
              <a:t>w = Last</a:t>
            </a:r>
            <a:r>
              <a:rPr lang="zh-TW" altLang="en-US" sz="1200" b="1" dirty="0">
                <a:solidFill>
                  <a:schemeClr val="tx2"/>
                </a:solidFill>
                <a:ea typeface="微軟正黑體" panose="020B0604030504040204" pitchFamily="34" charset="-120"/>
              </a:rPr>
              <a:t> </a:t>
            </a:r>
            <a:r>
              <a:rPr lang="en-US" altLang="zh-TW" sz="1200" b="1" dirty="0">
                <a:solidFill>
                  <a:schemeClr val="tx2"/>
                </a:solidFill>
                <a:ea typeface="微軟正黑體" panose="020B0604030504040204" pitchFamily="34" charset="-120"/>
              </a:rPr>
              <a:t>Vector(X)</a:t>
            </a:r>
          </a:p>
          <a:p>
            <a:pPr>
              <a:lnSpc>
                <a:spcPts val="1600"/>
              </a:lnSpc>
            </a:pPr>
            <a:r>
              <a:rPr lang="en-US" altLang="zh-TW" sz="1200" b="1" dirty="0">
                <a:solidFill>
                  <a:schemeClr val="tx2"/>
                </a:solidFill>
                <a:ea typeface="微軟正黑體" panose="020B0604030504040204" pitchFamily="34" charset="-120"/>
              </a:rPr>
              <a:t>P</a:t>
            </a:r>
            <a:r>
              <a:rPr lang="en-US" altLang="zh-TW" sz="1200" b="1" baseline="-25000" dirty="0">
                <a:solidFill>
                  <a:schemeClr val="tx2"/>
                </a:solidFill>
                <a:ea typeface="微軟正黑體" panose="020B0604030504040204" pitchFamily="34" charset="-120"/>
              </a:rPr>
              <a:t>Vx1</a:t>
            </a:r>
            <a:r>
              <a:rPr lang="en-US" altLang="zh-TW" sz="1200" b="1" dirty="0">
                <a:solidFill>
                  <a:schemeClr val="tx2"/>
                </a:solidFill>
                <a:ea typeface="微軟正黑體" panose="020B0604030504040204" pitchFamily="34" charset="-120"/>
              </a:rPr>
              <a:t> = Softmax(</a:t>
            </a:r>
            <a:r>
              <a:rPr lang="en-US" altLang="zh-TW" sz="1200" b="1" dirty="0" err="1">
                <a:solidFill>
                  <a:schemeClr val="tx2"/>
                </a:solidFill>
                <a:ea typeface="微軟正黑體" panose="020B0604030504040204" pitchFamily="34" charset="-120"/>
              </a:rPr>
              <a:t>VC</a:t>
            </a:r>
            <a:r>
              <a:rPr lang="en-US" altLang="zh-TW" sz="1200"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 * w</a:t>
            </a:r>
            <a:r>
              <a:rPr lang="en-US" altLang="zh-TW" sz="1200" b="1" baseline="-25000" dirty="0">
                <a:solidFill>
                  <a:schemeClr val="tx2"/>
                </a:solidFill>
                <a:ea typeface="微軟正黑體" panose="020B0604030504040204" pitchFamily="34" charset="-120"/>
              </a:rPr>
              <a:t>dx1</a:t>
            </a:r>
            <a:r>
              <a:rPr lang="en-US" altLang="zh-TW" sz="1200" b="1" dirty="0">
                <a:solidFill>
                  <a:schemeClr val="tx2"/>
                </a:solidFill>
                <a:ea typeface="微軟正黑體" panose="020B0604030504040204" pitchFamily="34" charset="-120"/>
              </a:rPr>
              <a:t>)</a:t>
            </a:r>
          </a:p>
          <a:p>
            <a:pPr>
              <a:lnSpc>
                <a:spcPts val="1600"/>
              </a:lnSpc>
            </a:pPr>
            <a:endParaRPr lang="en-US" altLang="zh-TW" sz="1200" b="1" dirty="0">
              <a:solidFill>
                <a:schemeClr val="tx2"/>
              </a:solidFill>
              <a:ea typeface="微軟正黑體" panose="020B0604030504040204" pitchFamily="34" charset="-120"/>
            </a:endParaRPr>
          </a:p>
          <a:p>
            <a:pPr>
              <a:lnSpc>
                <a:spcPts val="1600"/>
              </a:lnSpc>
            </a:pPr>
            <a:r>
              <a:rPr lang="en-US" altLang="zh-TW" sz="1200" b="1" dirty="0">
                <a:solidFill>
                  <a:schemeClr val="tx2"/>
                </a:solidFill>
                <a:ea typeface="微軟正黑體" panose="020B0604030504040204" pitchFamily="34" charset="-120"/>
              </a:rPr>
              <a:t>P[I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 = Max Probability</a:t>
            </a:r>
          </a:p>
          <a:p>
            <a:pPr>
              <a:lnSpc>
                <a:spcPts val="1600"/>
              </a:lnSpc>
            </a:pPr>
            <a:r>
              <a:rPr lang="en-US" altLang="zh-TW" sz="1200" b="1" dirty="0">
                <a:solidFill>
                  <a:schemeClr val="tx2"/>
                </a:solidFill>
                <a:ea typeface="微軟正黑體" panose="020B0604030504040204" pitchFamily="34" charset="-120"/>
              </a:rPr>
              <a:t>Next = </a:t>
            </a:r>
            <a:r>
              <a:rPr lang="en-US" altLang="zh-TW" sz="1200" b="1" dirty="0" err="1">
                <a:solidFill>
                  <a:schemeClr val="tx2"/>
                </a:solidFill>
                <a:ea typeface="微軟正黑體" panose="020B0604030504040204" pitchFamily="34" charset="-120"/>
              </a:rPr>
              <a:t>VC</a:t>
            </a:r>
            <a:r>
              <a:rPr lang="en-US" altLang="zh-TW" sz="1200" b="1" baseline="-25000" dirty="0" err="1">
                <a:solidFill>
                  <a:schemeClr val="tx2"/>
                </a:solidFill>
                <a:ea typeface="微軟正黑體" panose="020B0604030504040204" pitchFamily="34" charset="-120"/>
              </a:rPr>
              <a:t>Vxd</a:t>
            </a:r>
            <a:r>
              <a:rPr lang="en-US" altLang="zh-TW" sz="1200" b="1" dirty="0">
                <a:solidFill>
                  <a:schemeClr val="tx2"/>
                </a:solidFill>
                <a:ea typeface="微軟正黑體" panose="020B0604030504040204" pitchFamily="34" charset="-120"/>
              </a:rPr>
              <a:t>[I</a:t>
            </a:r>
            <a:r>
              <a:rPr lang="en-US" altLang="zh-TW" sz="1200" b="1" baseline="-25000" dirty="0">
                <a:solidFill>
                  <a:schemeClr val="tx2"/>
                </a:solidFill>
                <a:ea typeface="微軟正黑體" panose="020B0604030504040204" pitchFamily="34" charset="-120"/>
              </a:rPr>
              <a:t>max</a:t>
            </a:r>
            <a:r>
              <a:rPr lang="en-US" altLang="zh-TW" sz="1200" b="1" dirty="0">
                <a:solidFill>
                  <a:schemeClr val="tx2"/>
                </a:solidFill>
                <a:ea typeface="微軟正黑體" panose="020B0604030504040204" pitchFamily="34" charset="-120"/>
              </a:rPr>
              <a:t>]</a:t>
            </a:r>
          </a:p>
        </p:txBody>
      </p:sp>
      <mc:AlternateContent xmlns:mc="http://schemas.openxmlformats.org/markup-compatibility/2006" xmlns:a14="http://schemas.microsoft.com/office/drawing/2010/main">
        <mc:Choice Requires="a14">
          <p:sp>
            <p:nvSpPr>
              <p:cNvPr id="153" name="文字方塊 152">
                <a:extLst>
                  <a:ext uri="{FF2B5EF4-FFF2-40B4-BE49-F238E27FC236}">
                    <a16:creationId xmlns:a16="http://schemas.microsoft.com/office/drawing/2014/main" id="{008D5AC1-207D-EC4F-0771-2C8666C4DF47}"/>
                  </a:ext>
                </a:extLst>
              </p:cNvPr>
              <p:cNvSpPr txBox="1"/>
              <p:nvPr/>
            </p:nvSpPr>
            <p:spPr>
              <a:xfrm>
                <a:off x="6277905" y="3170115"/>
                <a:ext cx="1750479" cy="846642"/>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rPr>
                          </m:ctrlPr>
                        </m:sSubPr>
                        <m:e>
                          <m:r>
                            <m:rPr>
                              <m:sty m:val="p"/>
                            </m:rPr>
                            <a:rPr lang="en-US" altLang="zh-TW" sz="1200" i="1">
                              <a:latin typeface="Cambria Math" panose="02040503050406030204" pitchFamily="18" charset="0"/>
                            </a:rPr>
                            <m:t>A</m:t>
                          </m:r>
                        </m:e>
                        <m:sub>
                          <m:r>
                            <a:rPr lang="en-US" altLang="zh-TW" sz="1200" i="1">
                              <a:latin typeface="Cambria Math" panose="02040503050406030204" pitchFamily="18" charset="0"/>
                            </a:rPr>
                            <m:t>0</m:t>
                          </m:r>
                        </m:sub>
                      </m:sSub>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𝑠𝑜𝑓𝑡𝑚𝑎𝑥</m:t>
                      </m:r>
                      <m:d>
                        <m:dPr>
                          <m:ctrlPr>
                            <a:rPr lang="en-US" altLang="zh-TW" sz="1200" b="0" i="1" smtClean="0">
                              <a:latin typeface="Cambria Math" panose="02040503050406030204" pitchFamily="18" charset="0"/>
                            </a:rPr>
                          </m:ctrlPr>
                        </m:dPr>
                        <m:e>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𝑄𝐾</m:t>
                                  </m:r>
                                </m:e>
                                <m:sup>
                                  <m:r>
                                    <a:rPr lang="en-US" altLang="zh-TW" sz="1200" b="0" i="1" smtClean="0">
                                      <a:latin typeface="Cambria Math" panose="02040503050406030204" pitchFamily="18" charset="0"/>
                                    </a:rPr>
                                    <m:t>𝑇</m:t>
                                  </m:r>
                                </m:sup>
                              </m:sSup>
                            </m:num>
                            <m:den>
                              <m:rad>
                                <m:radPr>
                                  <m:degHide m:val="on"/>
                                  <m:ctrlPr>
                                    <a:rPr lang="en-US" altLang="zh-TW" sz="1200" b="0" i="1" smtClean="0">
                                      <a:latin typeface="Cambria Math" panose="02040503050406030204" pitchFamily="18" charset="0"/>
                                    </a:rPr>
                                  </m:ctrlPr>
                                </m:radPr>
                                <m:deg/>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𝑑</m:t>
                                      </m:r>
                                    </m:e>
                                    <m:sub>
                                      <m:r>
                                        <a:rPr lang="en-US" altLang="zh-TW" sz="1200" b="0" i="1" smtClean="0">
                                          <a:latin typeface="Cambria Math" panose="02040503050406030204" pitchFamily="18" charset="0"/>
                                        </a:rPr>
                                        <m:t>h</m:t>
                                      </m:r>
                                    </m:sub>
                                  </m:sSub>
                                </m:e>
                              </m:rad>
                            </m:den>
                          </m:f>
                        </m:e>
                      </m:d>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V</m:t>
                      </m:r>
                    </m:oMath>
                  </m:oMathPara>
                </a14:m>
                <a:endParaRPr lang="en-US" altLang="zh-TW" sz="1200" b="0" i="0" dirty="0">
                  <a:latin typeface="Cambria Math" panose="02040503050406030204" pitchFamily="18" charset="0"/>
                </a:endParaRPr>
              </a:p>
              <a:p>
                <a:endParaRPr lang="en-US" altLang="zh-TW" sz="1200" b="0" i="0" dirty="0">
                  <a:latin typeface="Cambria Math" panose="02040503050406030204" pitchFamily="18" charset="0"/>
                </a:endParaRPr>
              </a:p>
              <a:p>
                <a:r>
                  <a:rPr lang="en-US" altLang="zh-TW" sz="1200" b="0" i="0" dirty="0">
                    <a:latin typeface="Cambria Math" panose="02040503050406030204" pitchFamily="18" charset="0"/>
                  </a:rPr>
                  <a:t>A = </a:t>
                </a:r>
                <a14:m>
                  <m:oMath xmlns:m="http://schemas.openxmlformats.org/officeDocument/2006/math">
                    <m:r>
                      <a:rPr lang="en-US" altLang="zh-TW" sz="1200" b="0" i="1" smtClean="0">
                        <a:latin typeface="Cambria Math" panose="02040503050406030204" pitchFamily="18" charset="0"/>
                      </a:rPr>
                      <m:t>𝐶𝑎𝑢𝑠𝑎𝑙𝑀𝑎𝑠𝑘</m:t>
                    </m:r>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𝐴</m:t>
                        </m:r>
                      </m:e>
                      <m:sub>
                        <m:r>
                          <a:rPr lang="en-US" altLang="zh-TW" sz="1200" b="0" i="1" smtClean="0">
                            <a:latin typeface="Cambria Math" panose="02040503050406030204" pitchFamily="18" charset="0"/>
                          </a:rPr>
                          <m:t>0</m:t>
                        </m:r>
                      </m:sub>
                    </m:sSub>
                    <m:r>
                      <a:rPr lang="en-US" altLang="zh-TW" sz="1200" b="0" i="1" smtClean="0">
                        <a:latin typeface="Cambria Math" panose="02040503050406030204" pitchFamily="18" charset="0"/>
                      </a:rPr>
                      <m:t>)</m:t>
                    </m:r>
                  </m:oMath>
                </a14:m>
                <a:endParaRPr lang="en-US" altLang="zh-TW" sz="1200" b="0" i="0" dirty="0">
                  <a:latin typeface="Cambria Math" panose="02040503050406030204" pitchFamily="18" charset="0"/>
                </a:endParaRPr>
              </a:p>
            </p:txBody>
          </p:sp>
        </mc:Choice>
        <mc:Fallback xmlns="">
          <p:sp>
            <p:nvSpPr>
              <p:cNvPr id="153" name="文字方塊 152">
                <a:extLst>
                  <a:ext uri="{FF2B5EF4-FFF2-40B4-BE49-F238E27FC236}">
                    <a16:creationId xmlns:a16="http://schemas.microsoft.com/office/drawing/2014/main" id="{008D5AC1-207D-EC4F-0771-2C8666C4DF47}"/>
                  </a:ext>
                </a:extLst>
              </p:cNvPr>
              <p:cNvSpPr txBox="1">
                <a:spLocks noRot="1" noChangeAspect="1" noMove="1" noResize="1" noEditPoints="1" noAdjustHandles="1" noChangeArrowheads="1" noChangeShapeType="1" noTextEdit="1"/>
              </p:cNvSpPr>
              <p:nvPr/>
            </p:nvSpPr>
            <p:spPr>
              <a:xfrm>
                <a:off x="6277905" y="3170115"/>
                <a:ext cx="1750479" cy="846642"/>
              </a:xfrm>
              <a:prstGeom prst="rect">
                <a:avLst/>
              </a:prstGeom>
              <a:blipFill>
                <a:blip r:embed="rId4"/>
                <a:stretch>
                  <a:fillRect l="-5575" r="-348" b="-10791"/>
                </a:stretch>
              </a:blipFill>
            </p:spPr>
            <p:txBody>
              <a:bodyPr/>
              <a:lstStyle/>
              <a:p>
                <a:r>
                  <a:rPr lang="zh-TW" altLang="en-US">
                    <a:noFill/>
                  </a:rPr>
                  <a:t> </a:t>
                </a:r>
              </a:p>
            </p:txBody>
          </p:sp>
        </mc:Fallback>
      </mc:AlternateContent>
      <p:sp>
        <p:nvSpPr>
          <p:cNvPr id="154" name="矩形 153">
            <a:extLst>
              <a:ext uri="{FF2B5EF4-FFF2-40B4-BE49-F238E27FC236}">
                <a16:creationId xmlns:a16="http://schemas.microsoft.com/office/drawing/2014/main" id="{FA34DE1C-C9C3-9098-1B8A-3D4DFE5952CC}"/>
              </a:ext>
            </a:extLst>
          </p:cNvPr>
          <p:cNvSpPr/>
          <p:nvPr/>
        </p:nvSpPr>
        <p:spPr>
          <a:xfrm>
            <a:off x="2421788" y="5661213"/>
            <a:ext cx="1608193" cy="432083"/>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0" rIns="0" bIns="0" rtlCol="0" anchor="ctr" anchorCtr="0">
            <a:noAutofit/>
          </a:bodyPr>
          <a:lstStyle/>
          <a:p>
            <a:pPr>
              <a:lnSpc>
                <a:spcPts val="1600"/>
              </a:lnSpc>
            </a:pPr>
            <a:r>
              <a:rPr lang="en-US" altLang="zh-TW" sz="1200" dirty="0">
                <a:solidFill>
                  <a:schemeClr val="tx2"/>
                </a:solidFill>
                <a:ea typeface="微軟正黑體" panose="020B0604030504040204" pitchFamily="34" charset="-120"/>
              </a:rPr>
              <a:t>Find out the token with</a:t>
            </a:r>
          </a:p>
          <a:p>
            <a:pPr>
              <a:lnSpc>
                <a:spcPts val="1600"/>
              </a:lnSpc>
            </a:pPr>
            <a:r>
              <a:rPr lang="en-US" altLang="zh-TW" sz="1200" dirty="0">
                <a:solidFill>
                  <a:schemeClr val="tx2"/>
                </a:solidFill>
                <a:ea typeface="微軟正黑體" panose="020B0604030504040204" pitchFamily="34" charset="-120"/>
              </a:rPr>
              <a:t>maximum Probability</a:t>
            </a:r>
          </a:p>
        </p:txBody>
      </p:sp>
      <mc:AlternateContent xmlns:mc="http://schemas.openxmlformats.org/markup-compatibility/2006" xmlns:a14="http://schemas.microsoft.com/office/drawing/2010/main">
        <mc:Choice Requires="a14">
          <p:sp>
            <p:nvSpPr>
              <p:cNvPr id="155" name="文字方塊 154">
                <a:extLst>
                  <a:ext uri="{FF2B5EF4-FFF2-40B4-BE49-F238E27FC236}">
                    <a16:creationId xmlns:a16="http://schemas.microsoft.com/office/drawing/2014/main" id="{7C8BE5E5-1135-80FF-4A29-D3651AA7AD8C}"/>
                  </a:ext>
                </a:extLst>
              </p:cNvPr>
              <p:cNvSpPr txBox="1"/>
              <p:nvPr/>
            </p:nvSpPr>
            <p:spPr>
              <a:xfrm>
                <a:off x="6277905" y="4290154"/>
                <a:ext cx="1595501" cy="506998"/>
              </a:xfrm>
              <a:prstGeom prst="rect">
                <a:avLst/>
              </a:prstGeom>
              <a:noFill/>
            </p:spPr>
            <p:txBody>
              <a:bodyPr wrap="none" lIns="0" tIns="0" rIns="0" bIns="0" rtlCol="0">
                <a:spAutoFit/>
              </a:bodyPr>
              <a:lstStyle/>
              <a:p>
                <a:r>
                  <a:rPr lang="en-US" altLang="zh-TW" sz="1200" dirty="0"/>
                  <a:t>FFN:</a:t>
                </a:r>
              </a:p>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i="1">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155" name="文字方塊 154">
                <a:extLst>
                  <a:ext uri="{FF2B5EF4-FFF2-40B4-BE49-F238E27FC236}">
                    <a16:creationId xmlns:a16="http://schemas.microsoft.com/office/drawing/2014/main" id="{7C8BE5E5-1135-80FF-4A29-D3651AA7AD8C}"/>
                  </a:ext>
                </a:extLst>
              </p:cNvPr>
              <p:cNvSpPr txBox="1">
                <a:spLocks noRot="1" noChangeAspect="1" noMove="1" noResize="1" noEditPoints="1" noAdjustHandles="1" noChangeArrowheads="1" noChangeShapeType="1" noTextEdit="1"/>
              </p:cNvSpPr>
              <p:nvPr/>
            </p:nvSpPr>
            <p:spPr>
              <a:xfrm>
                <a:off x="6277905" y="4290154"/>
                <a:ext cx="1595501" cy="506998"/>
              </a:xfrm>
              <a:prstGeom prst="rect">
                <a:avLst/>
              </a:prstGeom>
              <a:blipFill>
                <a:blip r:embed="rId5"/>
                <a:stretch>
                  <a:fillRect l="-6107" t="-9639" b="-96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2" name="文字方塊 1">
                <a:extLst>
                  <a:ext uri="{FF2B5EF4-FFF2-40B4-BE49-F238E27FC236}">
                    <a16:creationId xmlns:a16="http://schemas.microsoft.com/office/drawing/2014/main" id="{4A5A56A1-2A4A-5E79-12DE-B20D9935564A}"/>
                  </a:ext>
                </a:extLst>
              </p:cNvPr>
              <p:cNvSpPr txBox="1"/>
              <p:nvPr/>
            </p:nvSpPr>
            <p:spPr>
              <a:xfrm>
                <a:off x="6277905" y="5258347"/>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2" name="文字方塊 1">
                <a:extLst>
                  <a:ext uri="{FF2B5EF4-FFF2-40B4-BE49-F238E27FC236}">
                    <a16:creationId xmlns:a16="http://schemas.microsoft.com/office/drawing/2014/main" id="{4A5A56A1-2A4A-5E79-12DE-B20D9935564A}"/>
                  </a:ext>
                </a:extLst>
              </p:cNvPr>
              <p:cNvSpPr txBox="1">
                <a:spLocks noRot="1" noChangeAspect="1" noMove="1" noResize="1" noEditPoints="1" noAdjustHandles="1" noChangeArrowheads="1" noChangeShapeType="1" noTextEdit="1"/>
              </p:cNvSpPr>
              <p:nvPr/>
            </p:nvSpPr>
            <p:spPr>
              <a:xfrm>
                <a:off x="6277905" y="5258347"/>
                <a:ext cx="813171" cy="448264"/>
              </a:xfrm>
              <a:prstGeom prst="rect">
                <a:avLst/>
              </a:prstGeom>
              <a:blipFill>
                <a:blip r:embed="rId6"/>
                <a:stretch>
                  <a:fillRect l="-4511" t="-19178" r="-30827" b="-102740"/>
                </a:stretch>
              </a:blipFill>
            </p:spPr>
            <p:txBody>
              <a:bodyPr/>
              <a:lstStyle/>
              <a:p>
                <a:r>
                  <a:rPr lang="zh-TW" altLang="en-US">
                    <a:noFill/>
                  </a:rPr>
                  <a:t> </a:t>
                </a:r>
              </a:p>
            </p:txBody>
          </p:sp>
        </mc:Fallback>
      </mc:AlternateContent>
      <p:sp>
        <p:nvSpPr>
          <p:cNvPr id="3" name="標題 1">
            <a:extLst>
              <a:ext uri="{FF2B5EF4-FFF2-40B4-BE49-F238E27FC236}">
                <a16:creationId xmlns:a16="http://schemas.microsoft.com/office/drawing/2014/main" id="{334B01AD-8B9A-5965-E35E-5BDDEF0307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Program Flow</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Embeddings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Positional Encoding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Self-Attention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FFN </a:t>
            </a:r>
            <a:r>
              <a:rPr lang="zh-TW" altLang="zh-TW" sz="1400" dirty="0"/>
              <a:t>➔</a:t>
            </a:r>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 Linear Projection</a:t>
            </a:r>
            <a:endParaRPr lang="en-US" altLang="zh-TW" sz="1200" dirty="0">
              <a:latin typeface="ADLaM Display" panose="02010000000000000000" pitchFamily="2" charset="0"/>
              <a:ea typeface="ADLaM Display" panose="02010000000000000000" pitchFamily="2" charset="0"/>
              <a:cs typeface="ADLaM Display" panose="02010000000000000000" pitchFamily="2" charset="0"/>
              <a:sym typeface="Wingdings" panose="05000000000000000000" pitchFamily="2" charset="2"/>
            </a:endParaRPr>
          </a:p>
        </p:txBody>
      </p:sp>
    </p:spTree>
    <p:extLst>
      <p:ext uri="{BB962C8B-B14F-4D97-AF65-F5344CB8AC3E}">
        <p14:creationId xmlns:p14="http://schemas.microsoft.com/office/powerpoint/2010/main" val="8784588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90BA6C-BB7F-B835-C42D-3F241F6D7601}"/>
            </a:ext>
          </a:extLst>
        </p:cNvPr>
        <p:cNvGrpSpPr/>
        <p:nvPr/>
      </p:nvGrpSpPr>
      <p:grpSpPr>
        <a:xfrm>
          <a:off x="0" y="0"/>
          <a:ext cx="0" cy="0"/>
          <a:chOff x="0" y="0"/>
          <a:chExt cx="0" cy="0"/>
        </a:xfrm>
      </p:grpSpPr>
      <p:sp>
        <p:nvSpPr>
          <p:cNvPr id="4" name="標題 1">
            <a:extLst>
              <a:ext uri="{FF2B5EF4-FFF2-40B4-BE49-F238E27FC236}">
                <a16:creationId xmlns:a16="http://schemas.microsoft.com/office/drawing/2014/main" id="{C7E932C9-3BC7-9E10-9963-24F3D3FFF1A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Self-Attention</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Concentrate all information in latest token</a:t>
            </a:r>
          </a:p>
        </p:txBody>
      </p:sp>
      <p:cxnSp>
        <p:nvCxnSpPr>
          <p:cNvPr id="66" name="直線接點 65">
            <a:extLst>
              <a:ext uri="{FF2B5EF4-FFF2-40B4-BE49-F238E27FC236}">
                <a16:creationId xmlns:a16="http://schemas.microsoft.com/office/drawing/2014/main" id="{0412083C-ED18-54C7-8A7D-F0BC4CB3240D}"/>
              </a:ext>
            </a:extLst>
          </p:cNvPr>
          <p:cNvCxnSpPr>
            <a:cxnSpLocks/>
            <a:stCxn id="92" idx="3"/>
          </p:cNvCxnSpPr>
          <p:nvPr/>
        </p:nvCxnSpPr>
        <p:spPr>
          <a:xfrm flipV="1">
            <a:off x="1657920" y="2315070"/>
            <a:ext cx="531742" cy="249834"/>
          </a:xfrm>
          <a:prstGeom prst="line">
            <a:avLst/>
          </a:prstGeom>
          <a:ln>
            <a:prstDash val="dash"/>
          </a:ln>
        </p:spPr>
        <p:style>
          <a:lnRef idx="1">
            <a:schemeClr val="accent1"/>
          </a:lnRef>
          <a:fillRef idx="0">
            <a:schemeClr val="accent1"/>
          </a:fillRef>
          <a:effectRef idx="0">
            <a:schemeClr val="accent1"/>
          </a:effectRef>
          <a:fontRef idx="minor">
            <a:schemeClr val="tx1"/>
          </a:fontRef>
        </p:style>
      </p:cxnSp>
      <p:cxnSp>
        <p:nvCxnSpPr>
          <p:cNvPr id="67" name="直線接點 66">
            <a:extLst>
              <a:ext uri="{FF2B5EF4-FFF2-40B4-BE49-F238E27FC236}">
                <a16:creationId xmlns:a16="http://schemas.microsoft.com/office/drawing/2014/main" id="{CCD1EE38-15A2-F146-BF93-0EB4D61FC3BE}"/>
              </a:ext>
            </a:extLst>
          </p:cNvPr>
          <p:cNvCxnSpPr>
            <a:cxnSpLocks/>
            <a:stCxn id="89" idx="3"/>
          </p:cNvCxnSpPr>
          <p:nvPr/>
        </p:nvCxnSpPr>
        <p:spPr>
          <a:xfrm>
            <a:off x="1657920" y="1676812"/>
            <a:ext cx="531742" cy="183856"/>
          </a:xfrm>
          <a:prstGeom prst="line">
            <a:avLst/>
          </a:prstGeom>
          <a:ln>
            <a:prstDash val="dash"/>
          </a:ln>
        </p:spPr>
        <p:style>
          <a:lnRef idx="1">
            <a:schemeClr val="accent1"/>
          </a:lnRef>
          <a:fillRef idx="0">
            <a:schemeClr val="accent1"/>
          </a:fillRef>
          <a:effectRef idx="0">
            <a:schemeClr val="accent1"/>
          </a:effectRef>
          <a:fontRef idx="minor">
            <a:schemeClr val="tx1"/>
          </a:fontRef>
        </p:style>
      </p:cxnSp>
      <p:sp>
        <p:nvSpPr>
          <p:cNvPr id="85" name="矩形 84">
            <a:extLst>
              <a:ext uri="{FF2B5EF4-FFF2-40B4-BE49-F238E27FC236}">
                <a16:creationId xmlns:a16="http://schemas.microsoft.com/office/drawing/2014/main" id="{9A7236A9-7EEB-C01A-8050-70C9BF32BB8A}"/>
              </a:ext>
            </a:extLst>
          </p:cNvPr>
          <p:cNvSpPr/>
          <p:nvPr/>
        </p:nvSpPr>
        <p:spPr>
          <a:xfrm>
            <a:off x="2189662" y="1885549"/>
            <a:ext cx="365952"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87" name="文字方塊 86">
            <a:extLst>
              <a:ext uri="{FF2B5EF4-FFF2-40B4-BE49-F238E27FC236}">
                <a16:creationId xmlns:a16="http://schemas.microsoft.com/office/drawing/2014/main" id="{F3962AD9-9B7E-81EB-AA05-54BD5CCBF9F4}"/>
              </a:ext>
            </a:extLst>
          </p:cNvPr>
          <p:cNvSpPr txBox="1"/>
          <p:nvPr/>
        </p:nvSpPr>
        <p:spPr>
          <a:xfrm>
            <a:off x="1829622" y="2004109"/>
            <a:ext cx="365952" cy="235664"/>
          </a:xfrm>
          <a:prstGeom prst="rect">
            <a:avLst/>
          </a:prstGeom>
          <a:noFill/>
        </p:spPr>
        <p:txBody>
          <a:bodyPr wrap="none" lIns="0" tIns="0" rIns="0" bIns="0" rtlCol="0" anchor="ctr" anchorCtr="1">
            <a:noAutofit/>
          </a:bodyPr>
          <a:lstStyle/>
          <a:p>
            <a:pPr algn="ctr"/>
            <a:r>
              <a:rPr lang="en-US" altLang="zh-TW" sz="1200" dirty="0" err="1"/>
              <a:t>RoPE</a:t>
            </a:r>
            <a:r>
              <a:rPr lang="en-US" altLang="zh-TW" sz="1200" dirty="0"/>
              <a:t>()</a:t>
            </a:r>
            <a:r>
              <a:rPr lang="en-US" altLang="zh-TW" sz="1200" dirty="0">
                <a:sym typeface="Wingdings" panose="05000000000000000000" pitchFamily="2" charset="2"/>
              </a:rPr>
              <a:t></a:t>
            </a:r>
            <a:endParaRPr lang="zh-TW" altLang="en-US" sz="1200" dirty="0"/>
          </a:p>
        </p:txBody>
      </p:sp>
      <p:grpSp>
        <p:nvGrpSpPr>
          <p:cNvPr id="97" name="群組 96">
            <a:extLst>
              <a:ext uri="{FF2B5EF4-FFF2-40B4-BE49-F238E27FC236}">
                <a16:creationId xmlns:a16="http://schemas.microsoft.com/office/drawing/2014/main" id="{A006F49A-6C63-84B6-F3C4-3B2B3A3D21B2}"/>
              </a:ext>
            </a:extLst>
          </p:cNvPr>
          <p:cNvGrpSpPr/>
          <p:nvPr/>
        </p:nvGrpSpPr>
        <p:grpSpPr>
          <a:xfrm>
            <a:off x="251520" y="1087645"/>
            <a:ext cx="1406400" cy="1549267"/>
            <a:chOff x="1907704" y="476672"/>
            <a:chExt cx="1406400" cy="1549267"/>
          </a:xfrm>
        </p:grpSpPr>
        <p:sp>
          <p:nvSpPr>
            <p:cNvPr id="88" name="矩形 87">
              <a:extLst>
                <a:ext uri="{FF2B5EF4-FFF2-40B4-BE49-F238E27FC236}">
                  <a16:creationId xmlns:a16="http://schemas.microsoft.com/office/drawing/2014/main" id="{2A3273B4-280D-2500-B3E2-D5398D25A019}"/>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008C6EC-6CC1-84E3-E3C4-558B4A2D14F4}"/>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7B8D5C38-9841-F5B4-516A-91E4CA49B1C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E605785A-C720-DDB1-E785-3D8725DF0FC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989134F6-20AE-AEB9-8562-A763C64631BA}"/>
                </a:ext>
              </a:extLst>
            </p:cNvPr>
            <p:cNvSpPr/>
            <p:nvPr/>
          </p:nvSpPr>
          <p:spPr>
            <a:xfrm>
              <a:off x="2230974" y="1881923"/>
              <a:ext cx="1083130" cy="14401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C52D50F-9788-DE81-632A-8CDDDE7C0B39}"/>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E9A3C937-19AF-6C22-0544-D7965868DD17}"/>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6DF3AD3E-10E4-1095-51BB-4E59F1405146}"/>
                </a:ext>
              </a:extLst>
            </p:cNvPr>
            <p:cNvSpPr/>
            <p:nvPr/>
          </p:nvSpPr>
          <p:spPr>
            <a:xfrm>
              <a:off x="2699792" y="47667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B6BB993E-AE2E-3719-AB5B-9B4E7A2E13A3}"/>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9343CCE7-E30C-FB1D-1514-C9D09F0E48DA}"/>
              </a:ext>
            </a:extLst>
          </p:cNvPr>
          <p:cNvCxnSpPr>
            <a:cxnSpLocks/>
            <a:stCxn id="85" idx="3"/>
            <a:endCxn id="77" idx="1"/>
          </p:cNvCxnSpPr>
          <p:nvPr/>
        </p:nvCxnSpPr>
        <p:spPr>
          <a:xfrm flipV="1">
            <a:off x="2555614" y="1968775"/>
            <a:ext cx="579486" cy="12989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 name="矩形 10">
            <a:extLst>
              <a:ext uri="{FF2B5EF4-FFF2-40B4-BE49-F238E27FC236}">
                <a16:creationId xmlns:a16="http://schemas.microsoft.com/office/drawing/2014/main" id="{49EDF0B5-AB72-492D-3A92-9881C35CEEE8}"/>
              </a:ext>
            </a:extLst>
          </p:cNvPr>
          <p:cNvSpPr/>
          <p:nvPr/>
        </p:nvSpPr>
        <p:spPr>
          <a:xfrm>
            <a:off x="5320532" y="3482964"/>
            <a:ext cx="1508519" cy="448264"/>
          </a:xfrm>
          <a:prstGeom prst="rect">
            <a:avLst/>
          </a:prstGeom>
          <a:noFill/>
          <a:ln w="2540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18" name="矩形 17">
            <a:extLst>
              <a:ext uri="{FF2B5EF4-FFF2-40B4-BE49-F238E27FC236}">
                <a16:creationId xmlns:a16="http://schemas.microsoft.com/office/drawing/2014/main" id="{5279F498-27F7-CA61-12E6-3AF2F0F1BAB5}"/>
              </a:ext>
            </a:extLst>
          </p:cNvPr>
          <p:cNvSpPr/>
          <p:nvPr/>
        </p:nvSpPr>
        <p:spPr>
          <a:xfrm>
            <a:off x="3285155" y="1297052"/>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9" name="矩形 18">
            <a:extLst>
              <a:ext uri="{FF2B5EF4-FFF2-40B4-BE49-F238E27FC236}">
                <a16:creationId xmlns:a16="http://schemas.microsoft.com/office/drawing/2014/main" id="{A0935C28-6B5F-5EF5-D11F-DD7E0AD7D6FA}"/>
              </a:ext>
            </a:extLst>
          </p:cNvPr>
          <p:cNvSpPr/>
          <p:nvPr/>
        </p:nvSpPr>
        <p:spPr>
          <a:xfrm>
            <a:off x="3693930" y="1297052"/>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q</a:t>
            </a:r>
          </a:p>
        </p:txBody>
      </p:sp>
      <p:sp>
        <p:nvSpPr>
          <p:cNvPr id="22" name="文字方塊 21">
            <a:extLst>
              <a:ext uri="{FF2B5EF4-FFF2-40B4-BE49-F238E27FC236}">
                <a16:creationId xmlns:a16="http://schemas.microsoft.com/office/drawing/2014/main" id="{E13945CA-38FA-7C2E-486B-01D81CC63878}"/>
              </a:ext>
            </a:extLst>
          </p:cNvPr>
          <p:cNvSpPr txBox="1"/>
          <p:nvPr/>
        </p:nvSpPr>
        <p:spPr>
          <a:xfrm>
            <a:off x="3576876" y="1355727"/>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39" name="文字方塊 38">
            <a:extLst>
              <a:ext uri="{FF2B5EF4-FFF2-40B4-BE49-F238E27FC236}">
                <a16:creationId xmlns:a16="http://schemas.microsoft.com/office/drawing/2014/main" id="{0AF4B18A-9DCA-C6E3-BDA4-EBD8EA96CAAA}"/>
              </a:ext>
            </a:extLst>
          </p:cNvPr>
          <p:cNvSpPr txBox="1"/>
          <p:nvPr/>
        </p:nvSpPr>
        <p:spPr>
          <a:xfrm>
            <a:off x="4277905" y="1355727"/>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0" name="矩形 39">
            <a:extLst>
              <a:ext uri="{FF2B5EF4-FFF2-40B4-BE49-F238E27FC236}">
                <a16:creationId xmlns:a16="http://schemas.microsoft.com/office/drawing/2014/main" id="{7EEE9D8A-7190-3E68-E767-0C6BC4D89CBD}"/>
              </a:ext>
            </a:extLst>
          </p:cNvPr>
          <p:cNvSpPr/>
          <p:nvPr/>
        </p:nvSpPr>
        <p:spPr>
          <a:xfrm>
            <a:off x="4441934" y="1808005"/>
            <a:ext cx="240032" cy="39425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K</a:t>
            </a:r>
          </a:p>
        </p:txBody>
      </p:sp>
      <p:sp>
        <p:nvSpPr>
          <p:cNvPr id="41" name="矩形 40">
            <a:extLst>
              <a:ext uri="{FF2B5EF4-FFF2-40B4-BE49-F238E27FC236}">
                <a16:creationId xmlns:a16="http://schemas.microsoft.com/office/drawing/2014/main" id="{E55EA9E2-B869-8E95-26D7-63E8C82D7DA8}"/>
              </a:ext>
            </a:extLst>
          </p:cNvPr>
          <p:cNvSpPr/>
          <p:nvPr/>
        </p:nvSpPr>
        <p:spPr>
          <a:xfrm>
            <a:off x="3279092" y="1801108"/>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2" name="矩形 41">
            <a:extLst>
              <a:ext uri="{FF2B5EF4-FFF2-40B4-BE49-F238E27FC236}">
                <a16:creationId xmlns:a16="http://schemas.microsoft.com/office/drawing/2014/main" id="{A7AC1FB1-0A72-46B2-7FC2-E6C212857353}"/>
              </a:ext>
            </a:extLst>
          </p:cNvPr>
          <p:cNvSpPr/>
          <p:nvPr/>
        </p:nvSpPr>
        <p:spPr>
          <a:xfrm>
            <a:off x="3693930" y="1801205"/>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k</a:t>
            </a:r>
          </a:p>
        </p:txBody>
      </p:sp>
      <p:sp>
        <p:nvSpPr>
          <p:cNvPr id="43" name="文字方塊 42">
            <a:extLst>
              <a:ext uri="{FF2B5EF4-FFF2-40B4-BE49-F238E27FC236}">
                <a16:creationId xmlns:a16="http://schemas.microsoft.com/office/drawing/2014/main" id="{34937AB4-D9F8-645B-B8F9-58FCE445B671}"/>
              </a:ext>
            </a:extLst>
          </p:cNvPr>
          <p:cNvSpPr txBox="1"/>
          <p:nvPr/>
        </p:nvSpPr>
        <p:spPr>
          <a:xfrm>
            <a:off x="3576876" y="1859880"/>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44" name="文字方塊 43">
            <a:extLst>
              <a:ext uri="{FF2B5EF4-FFF2-40B4-BE49-F238E27FC236}">
                <a16:creationId xmlns:a16="http://schemas.microsoft.com/office/drawing/2014/main" id="{22C2ECFF-6C61-88C1-FACE-1D7A8C83FFB9}"/>
              </a:ext>
            </a:extLst>
          </p:cNvPr>
          <p:cNvSpPr txBox="1"/>
          <p:nvPr/>
        </p:nvSpPr>
        <p:spPr>
          <a:xfrm>
            <a:off x="4277905" y="185988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45" name="矩形 44">
            <a:extLst>
              <a:ext uri="{FF2B5EF4-FFF2-40B4-BE49-F238E27FC236}">
                <a16:creationId xmlns:a16="http://schemas.microsoft.com/office/drawing/2014/main" id="{79BA20B3-13EC-E6B3-B20A-685EE4F3F3FA}"/>
              </a:ext>
            </a:extLst>
          </p:cNvPr>
          <p:cNvSpPr/>
          <p:nvPr/>
        </p:nvSpPr>
        <p:spPr>
          <a:xfrm>
            <a:off x="4441934" y="2311964"/>
            <a:ext cx="240032" cy="37671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47" name="矩形 46">
            <a:extLst>
              <a:ext uri="{FF2B5EF4-FFF2-40B4-BE49-F238E27FC236}">
                <a16:creationId xmlns:a16="http://schemas.microsoft.com/office/drawing/2014/main" id="{99C5D5A5-76CA-8F03-E4AF-D332C9118F88}"/>
              </a:ext>
            </a:extLst>
          </p:cNvPr>
          <p:cNvSpPr/>
          <p:nvPr/>
        </p:nvSpPr>
        <p:spPr>
          <a:xfrm>
            <a:off x="3285155" y="2305164"/>
            <a:ext cx="240032" cy="39425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48" name="矩形 47">
            <a:extLst>
              <a:ext uri="{FF2B5EF4-FFF2-40B4-BE49-F238E27FC236}">
                <a16:creationId xmlns:a16="http://schemas.microsoft.com/office/drawing/2014/main" id="{E84E7CE9-597F-3E33-4A02-301617C2B233}"/>
              </a:ext>
            </a:extLst>
          </p:cNvPr>
          <p:cNvSpPr/>
          <p:nvPr/>
        </p:nvSpPr>
        <p:spPr>
          <a:xfrm>
            <a:off x="3693930" y="2305164"/>
            <a:ext cx="216553" cy="25727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49" name="文字方塊 48">
            <a:extLst>
              <a:ext uri="{FF2B5EF4-FFF2-40B4-BE49-F238E27FC236}">
                <a16:creationId xmlns:a16="http://schemas.microsoft.com/office/drawing/2014/main" id="{73E80D52-4C45-F455-656C-EC181DB2CAF5}"/>
              </a:ext>
            </a:extLst>
          </p:cNvPr>
          <p:cNvSpPr txBox="1"/>
          <p:nvPr/>
        </p:nvSpPr>
        <p:spPr>
          <a:xfrm>
            <a:off x="3576876" y="2363839"/>
            <a:ext cx="54021" cy="181041"/>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50" name="文字方塊 49">
            <a:extLst>
              <a:ext uri="{FF2B5EF4-FFF2-40B4-BE49-F238E27FC236}">
                <a16:creationId xmlns:a16="http://schemas.microsoft.com/office/drawing/2014/main" id="{ED69420B-68B2-26E5-7E14-D8B9D6E54493}"/>
              </a:ext>
            </a:extLst>
          </p:cNvPr>
          <p:cNvSpPr txBox="1"/>
          <p:nvPr/>
        </p:nvSpPr>
        <p:spPr>
          <a:xfrm>
            <a:off x="4277905" y="2363839"/>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55" name="矩形 54">
            <a:extLst>
              <a:ext uri="{FF2B5EF4-FFF2-40B4-BE49-F238E27FC236}">
                <a16:creationId xmlns:a16="http://schemas.microsoft.com/office/drawing/2014/main" id="{45B3CB3A-DF76-A954-7ACD-784F85AFB1BA}"/>
              </a:ext>
            </a:extLst>
          </p:cNvPr>
          <p:cNvSpPr/>
          <p:nvPr/>
        </p:nvSpPr>
        <p:spPr>
          <a:xfrm>
            <a:off x="2209685" y="2239773"/>
            <a:ext cx="313067" cy="8448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59" name="矩形 58">
            <a:extLst>
              <a:ext uri="{FF2B5EF4-FFF2-40B4-BE49-F238E27FC236}">
                <a16:creationId xmlns:a16="http://schemas.microsoft.com/office/drawing/2014/main" id="{AEFE6880-011C-5B06-37CC-7955AC2D10C8}"/>
              </a:ext>
            </a:extLst>
          </p:cNvPr>
          <p:cNvSpPr/>
          <p:nvPr/>
        </p:nvSpPr>
        <p:spPr>
          <a:xfrm>
            <a:off x="6529939" y="3482963"/>
            <a:ext cx="275740"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0" name="矩形 59">
            <a:extLst>
              <a:ext uri="{FF2B5EF4-FFF2-40B4-BE49-F238E27FC236}">
                <a16:creationId xmlns:a16="http://schemas.microsoft.com/office/drawing/2014/main" id="{B2A8793D-39DB-E18A-FF85-993DB10D0200}"/>
              </a:ext>
            </a:extLst>
          </p:cNvPr>
          <p:cNvSpPr/>
          <p:nvPr/>
        </p:nvSpPr>
        <p:spPr>
          <a:xfrm>
            <a:off x="6529939" y="3852528"/>
            <a:ext cx="277055" cy="76870"/>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2" name="左右大括弧 61">
            <a:extLst>
              <a:ext uri="{FF2B5EF4-FFF2-40B4-BE49-F238E27FC236}">
                <a16:creationId xmlns:a16="http://schemas.microsoft.com/office/drawing/2014/main" id="{8CE10F52-2583-64A4-7856-26F1465A74F4}"/>
              </a:ext>
            </a:extLst>
          </p:cNvPr>
          <p:cNvSpPr/>
          <p:nvPr/>
        </p:nvSpPr>
        <p:spPr>
          <a:xfrm>
            <a:off x="5607686" y="3570312"/>
            <a:ext cx="549922" cy="241226"/>
          </a:xfrm>
          <a:prstGeom prst="brace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lstStyle/>
          <a:p>
            <a:pPr algn="ctr"/>
            <a:r>
              <a:rPr lang="en-US" altLang="zh-TW" sz="1400" dirty="0"/>
              <a:t>Heads</a:t>
            </a:r>
            <a:endParaRPr lang="zh-TW" altLang="en-US" sz="1400" dirty="0"/>
          </a:p>
        </p:txBody>
      </p:sp>
      <p:sp>
        <p:nvSpPr>
          <p:cNvPr id="65" name="矩形 64">
            <a:extLst>
              <a:ext uri="{FF2B5EF4-FFF2-40B4-BE49-F238E27FC236}">
                <a16:creationId xmlns:a16="http://schemas.microsoft.com/office/drawing/2014/main" id="{8BFBEB88-53E1-8226-CFDE-620E86943D97}"/>
              </a:ext>
            </a:extLst>
          </p:cNvPr>
          <p:cNvSpPr/>
          <p:nvPr/>
        </p:nvSpPr>
        <p:spPr>
          <a:xfrm>
            <a:off x="5326595" y="3850698"/>
            <a:ext cx="1202029" cy="64535"/>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86" name="矩形 85">
            <a:extLst>
              <a:ext uri="{FF2B5EF4-FFF2-40B4-BE49-F238E27FC236}">
                <a16:creationId xmlns:a16="http://schemas.microsoft.com/office/drawing/2014/main" id="{5A9D73E4-4A20-B2A3-97C4-C8886F0E21C8}"/>
              </a:ext>
            </a:extLst>
          </p:cNvPr>
          <p:cNvSpPr/>
          <p:nvPr/>
        </p:nvSpPr>
        <p:spPr>
          <a:xfrm>
            <a:off x="4439942" y="1314596"/>
            <a:ext cx="240032" cy="376709"/>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Q</a:t>
            </a:r>
          </a:p>
        </p:txBody>
      </p:sp>
      <p:sp>
        <p:nvSpPr>
          <p:cNvPr id="99" name="右中括弧 98">
            <a:extLst>
              <a:ext uri="{FF2B5EF4-FFF2-40B4-BE49-F238E27FC236}">
                <a16:creationId xmlns:a16="http://schemas.microsoft.com/office/drawing/2014/main" id="{716E358A-DD91-C615-64A9-F1DD46207106}"/>
              </a:ext>
            </a:extLst>
          </p:cNvPr>
          <p:cNvSpPr/>
          <p:nvPr/>
        </p:nvSpPr>
        <p:spPr>
          <a:xfrm rot="16200000">
            <a:off x="4524520" y="109552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0" name="文字方塊 99">
            <a:extLst>
              <a:ext uri="{FF2B5EF4-FFF2-40B4-BE49-F238E27FC236}">
                <a16:creationId xmlns:a16="http://schemas.microsoft.com/office/drawing/2014/main" id="{A1520AB4-80B0-5F64-C5B0-2E2EF372E12C}"/>
              </a:ext>
            </a:extLst>
          </p:cNvPr>
          <p:cNvSpPr txBox="1"/>
          <p:nvPr/>
        </p:nvSpPr>
        <p:spPr>
          <a:xfrm>
            <a:off x="4528567" y="97802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01" name="右中括弧 100">
            <a:extLst>
              <a:ext uri="{FF2B5EF4-FFF2-40B4-BE49-F238E27FC236}">
                <a16:creationId xmlns:a16="http://schemas.microsoft.com/office/drawing/2014/main" id="{B9DD458B-E8AB-F085-C3D4-80CC43657575}"/>
              </a:ext>
            </a:extLst>
          </p:cNvPr>
          <p:cNvSpPr/>
          <p:nvPr/>
        </p:nvSpPr>
        <p:spPr>
          <a:xfrm>
            <a:off x="4778271" y="1314596"/>
            <a:ext cx="81761" cy="359210"/>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2" name="文字方塊 101">
            <a:extLst>
              <a:ext uri="{FF2B5EF4-FFF2-40B4-BE49-F238E27FC236}">
                <a16:creationId xmlns:a16="http://schemas.microsoft.com/office/drawing/2014/main" id="{8728D05F-1DCF-3875-8FAF-C7E9964A5610}"/>
              </a:ext>
            </a:extLst>
          </p:cNvPr>
          <p:cNvSpPr txBox="1"/>
          <p:nvPr/>
        </p:nvSpPr>
        <p:spPr>
          <a:xfrm>
            <a:off x="4880981" y="1410072"/>
            <a:ext cx="123067" cy="217983"/>
          </a:xfrm>
          <a:prstGeom prst="rect">
            <a:avLst/>
          </a:prstGeom>
          <a:noFill/>
        </p:spPr>
        <p:txBody>
          <a:bodyPr wrap="none" lIns="0" tIns="0" rIns="0" bIns="0" rtlCol="0" anchor="ctr" anchorCtr="1">
            <a:noAutofit/>
          </a:bodyPr>
          <a:lstStyle/>
          <a:p>
            <a:pPr algn="ctr"/>
            <a:r>
              <a:rPr lang="en-US" altLang="zh-TW" sz="1200" dirty="0"/>
              <a:t>N</a:t>
            </a:r>
            <a:endParaRPr lang="zh-TW" altLang="en-US" sz="1200" dirty="0"/>
          </a:p>
        </p:txBody>
      </p:sp>
      <p:sp>
        <p:nvSpPr>
          <p:cNvPr id="103" name="右中括弧 102">
            <a:extLst>
              <a:ext uri="{FF2B5EF4-FFF2-40B4-BE49-F238E27FC236}">
                <a16:creationId xmlns:a16="http://schemas.microsoft.com/office/drawing/2014/main" id="{FD6FA144-6334-B650-3E57-91603A152D10}"/>
              </a:ext>
            </a:extLst>
          </p:cNvPr>
          <p:cNvSpPr/>
          <p:nvPr/>
        </p:nvSpPr>
        <p:spPr>
          <a:xfrm rot="16200000">
            <a:off x="3774271" y="1108631"/>
            <a:ext cx="45719" cy="216554"/>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04" name="文字方塊 103">
            <a:extLst>
              <a:ext uri="{FF2B5EF4-FFF2-40B4-BE49-F238E27FC236}">
                <a16:creationId xmlns:a16="http://schemas.microsoft.com/office/drawing/2014/main" id="{3EEBDD07-5DBE-3092-9C70-434C53CCC692}"/>
              </a:ext>
            </a:extLst>
          </p:cNvPr>
          <p:cNvSpPr txBox="1"/>
          <p:nvPr/>
        </p:nvSpPr>
        <p:spPr>
          <a:xfrm>
            <a:off x="3718442" y="978024"/>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08" name="矩形 107">
            <a:extLst>
              <a:ext uri="{FF2B5EF4-FFF2-40B4-BE49-F238E27FC236}">
                <a16:creationId xmlns:a16="http://schemas.microsoft.com/office/drawing/2014/main" id="{623D8103-A918-62FC-0F70-49AFEA320CFA}"/>
              </a:ext>
            </a:extLst>
          </p:cNvPr>
          <p:cNvSpPr/>
          <p:nvPr/>
        </p:nvSpPr>
        <p:spPr>
          <a:xfrm>
            <a:off x="3279666" y="3504120"/>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9" name="矩形 108">
            <a:extLst>
              <a:ext uri="{FF2B5EF4-FFF2-40B4-BE49-F238E27FC236}">
                <a16:creationId xmlns:a16="http://schemas.microsoft.com/office/drawing/2014/main" id="{2B6CB6E9-FB09-4D8A-C2E7-1841EAD6EDE2}"/>
              </a:ext>
            </a:extLst>
          </p:cNvPr>
          <p:cNvSpPr/>
          <p:nvPr/>
        </p:nvSpPr>
        <p:spPr>
          <a:xfrm>
            <a:off x="3980387" y="3500018"/>
            <a:ext cx="254169"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11" name="文字方塊 110">
            <a:extLst>
              <a:ext uri="{FF2B5EF4-FFF2-40B4-BE49-F238E27FC236}">
                <a16:creationId xmlns:a16="http://schemas.microsoft.com/office/drawing/2014/main" id="{082B2476-733E-16FA-DE3F-5B9EE6270CC8}"/>
              </a:ext>
            </a:extLst>
          </p:cNvPr>
          <p:cNvSpPr txBox="1"/>
          <p:nvPr/>
        </p:nvSpPr>
        <p:spPr>
          <a:xfrm>
            <a:off x="4340429" y="3618578"/>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12" name="矩形 111">
            <a:extLst>
              <a:ext uri="{FF2B5EF4-FFF2-40B4-BE49-F238E27FC236}">
                <a16:creationId xmlns:a16="http://schemas.microsoft.com/office/drawing/2014/main" id="{5FB92E40-B973-22D2-0B03-14720A9B6C91}"/>
              </a:ext>
            </a:extLst>
          </p:cNvPr>
          <p:cNvSpPr/>
          <p:nvPr/>
        </p:nvSpPr>
        <p:spPr>
          <a:xfrm>
            <a:off x="4536034" y="3498304"/>
            <a:ext cx="251990"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H</a:t>
            </a:r>
          </a:p>
        </p:txBody>
      </p:sp>
      <p:sp>
        <p:nvSpPr>
          <p:cNvPr id="113" name="文字方塊 112">
            <a:extLst>
              <a:ext uri="{FF2B5EF4-FFF2-40B4-BE49-F238E27FC236}">
                <a16:creationId xmlns:a16="http://schemas.microsoft.com/office/drawing/2014/main" id="{2CAB38FF-F2B2-8DE6-59F7-3DC2C6266345}"/>
              </a:ext>
            </a:extLst>
          </p:cNvPr>
          <p:cNvSpPr txBox="1"/>
          <p:nvPr/>
        </p:nvSpPr>
        <p:spPr>
          <a:xfrm>
            <a:off x="3639706" y="3616864"/>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77" name="左大括弧 76">
            <a:extLst>
              <a:ext uri="{FF2B5EF4-FFF2-40B4-BE49-F238E27FC236}">
                <a16:creationId xmlns:a16="http://schemas.microsoft.com/office/drawing/2014/main" id="{915A9241-6838-8FEB-FC02-7CEE51FD2D3F}"/>
              </a:ext>
            </a:extLst>
          </p:cNvPr>
          <p:cNvSpPr/>
          <p:nvPr/>
        </p:nvSpPr>
        <p:spPr>
          <a:xfrm>
            <a:off x="3135100" y="1355727"/>
            <a:ext cx="74660" cy="1226095"/>
          </a:xfrm>
          <a:prstGeom prst="lef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107" name="接點: 弧形 106">
            <a:extLst>
              <a:ext uri="{FF2B5EF4-FFF2-40B4-BE49-F238E27FC236}">
                <a16:creationId xmlns:a16="http://schemas.microsoft.com/office/drawing/2014/main" id="{A43539FF-2C71-75DB-E04C-053A249DC1BB}"/>
              </a:ext>
            </a:extLst>
          </p:cNvPr>
          <p:cNvCxnSpPr>
            <a:cxnSpLocks/>
            <a:endCxn id="59" idx="1"/>
          </p:cNvCxnSpPr>
          <p:nvPr/>
        </p:nvCxnSpPr>
        <p:spPr>
          <a:xfrm rot="16200000" flipH="1">
            <a:off x="5934173" y="3112244"/>
            <a:ext cx="909260" cy="282272"/>
          </a:xfrm>
          <a:prstGeom prst="curvedConnector2">
            <a:avLst/>
          </a:prstGeom>
          <a:ln>
            <a:tailEnd type="triangle"/>
          </a:ln>
        </p:spPr>
        <p:style>
          <a:lnRef idx="1">
            <a:schemeClr val="accent1"/>
          </a:lnRef>
          <a:fillRef idx="0">
            <a:schemeClr val="accent1"/>
          </a:fillRef>
          <a:effectRef idx="0">
            <a:schemeClr val="accent1"/>
          </a:effectRef>
          <a:fontRef idx="minor">
            <a:schemeClr val="tx1"/>
          </a:fontRef>
        </p:style>
      </p:cxnSp>
      <p:sp>
        <p:nvSpPr>
          <p:cNvPr id="119" name="矩形: 圓角 118">
            <a:extLst>
              <a:ext uri="{FF2B5EF4-FFF2-40B4-BE49-F238E27FC236}">
                <a16:creationId xmlns:a16="http://schemas.microsoft.com/office/drawing/2014/main" id="{20F4EA3B-B1EC-0871-547B-A709EEC04FF2}"/>
              </a:ext>
            </a:extLst>
          </p:cNvPr>
          <p:cNvSpPr/>
          <p:nvPr/>
        </p:nvSpPr>
        <p:spPr>
          <a:xfrm>
            <a:off x="9612560" y="4725666"/>
            <a:ext cx="914400" cy="914400"/>
          </a:xfrm>
          <a:prstGeom prst="roundRect">
            <a:avLst/>
          </a:prstGeom>
          <a:solidFill>
            <a:schemeClr val="tx1">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124" name="群組 123">
            <a:extLst>
              <a:ext uri="{FF2B5EF4-FFF2-40B4-BE49-F238E27FC236}">
                <a16:creationId xmlns:a16="http://schemas.microsoft.com/office/drawing/2014/main" id="{F7304076-0BF8-901A-AE44-60317D24A8AA}"/>
              </a:ext>
            </a:extLst>
          </p:cNvPr>
          <p:cNvGrpSpPr/>
          <p:nvPr/>
        </p:nvGrpSpPr>
        <p:grpSpPr>
          <a:xfrm>
            <a:off x="5233519" y="1988840"/>
            <a:ext cx="3082897" cy="832958"/>
            <a:chOff x="5233519" y="1857299"/>
            <a:chExt cx="3082897" cy="832958"/>
          </a:xfrm>
        </p:grpSpPr>
        <p:sp>
          <p:nvSpPr>
            <p:cNvPr id="57" name="矩形 56">
              <a:extLst>
                <a:ext uri="{FF2B5EF4-FFF2-40B4-BE49-F238E27FC236}">
                  <a16:creationId xmlns:a16="http://schemas.microsoft.com/office/drawing/2014/main" id="{BF8F8D13-9E03-AB21-3107-9AE8C2074AC0}"/>
                </a:ext>
              </a:extLst>
            </p:cNvPr>
            <p:cNvSpPr/>
            <p:nvPr/>
          </p:nvSpPr>
          <p:spPr>
            <a:xfrm>
              <a:off x="8010458" y="2050202"/>
              <a:ext cx="305958"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V</a:t>
              </a:r>
            </a:p>
          </p:txBody>
        </p:sp>
        <p:sp>
          <p:nvSpPr>
            <p:cNvPr id="70" name="左右中括弧 69">
              <a:extLst>
                <a:ext uri="{FF2B5EF4-FFF2-40B4-BE49-F238E27FC236}">
                  <a16:creationId xmlns:a16="http://schemas.microsoft.com/office/drawing/2014/main" id="{0846E78B-DE37-09F6-B908-E08C32E32479}"/>
                </a:ext>
              </a:extLst>
            </p:cNvPr>
            <p:cNvSpPr/>
            <p:nvPr/>
          </p:nvSpPr>
          <p:spPr>
            <a:xfrm>
              <a:off x="5788266" y="1987279"/>
              <a:ext cx="1190446" cy="612186"/>
            </a:xfrm>
            <a:prstGeom prst="bracketPair">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2" name="矩形 71">
              <a:extLst>
                <a:ext uri="{FF2B5EF4-FFF2-40B4-BE49-F238E27FC236}">
                  <a16:creationId xmlns:a16="http://schemas.microsoft.com/office/drawing/2014/main" id="{0425A6A6-AEFB-EF05-54D7-A40F178B3C81}"/>
                </a:ext>
              </a:extLst>
            </p:cNvPr>
            <p:cNvSpPr/>
            <p:nvPr/>
          </p:nvSpPr>
          <p:spPr>
            <a:xfrm>
              <a:off x="5930489" y="2032683"/>
              <a:ext cx="298802" cy="504056"/>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76" name="矩形 75">
              <a:extLst>
                <a:ext uri="{FF2B5EF4-FFF2-40B4-BE49-F238E27FC236}">
                  <a16:creationId xmlns:a16="http://schemas.microsoft.com/office/drawing/2014/main" id="{391FDFEE-4E39-F152-304E-97BA62A9C387}"/>
                </a:ext>
              </a:extLst>
            </p:cNvPr>
            <p:cNvSpPr/>
            <p:nvPr/>
          </p:nvSpPr>
          <p:spPr>
            <a:xfrm>
              <a:off x="5922740" y="2444225"/>
              <a:ext cx="298802" cy="95623"/>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78" name="矩形 77">
              <a:extLst>
                <a:ext uri="{FF2B5EF4-FFF2-40B4-BE49-F238E27FC236}">
                  <a16:creationId xmlns:a16="http://schemas.microsoft.com/office/drawing/2014/main" id="{61850AAA-EAD0-0C84-5065-9178181E6239}"/>
                </a:ext>
              </a:extLst>
            </p:cNvPr>
            <p:cNvSpPr/>
            <p:nvPr/>
          </p:nvSpPr>
          <p:spPr>
            <a:xfrm>
              <a:off x="6347999" y="2126235"/>
              <a:ext cx="501145" cy="27869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79" name="矩形 78">
              <a:extLst>
                <a:ext uri="{FF2B5EF4-FFF2-40B4-BE49-F238E27FC236}">
                  <a16:creationId xmlns:a16="http://schemas.microsoft.com/office/drawing/2014/main" id="{E9B41A6D-CB9F-8897-7EE5-717EA176BCC0}"/>
                </a:ext>
              </a:extLst>
            </p:cNvPr>
            <p:cNvSpPr/>
            <p:nvPr/>
          </p:nvSpPr>
          <p:spPr>
            <a:xfrm>
              <a:off x="6754437" y="2116897"/>
              <a:ext cx="87680" cy="275427"/>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600" baseline="-25000" dirty="0">
                <a:solidFill>
                  <a:schemeClr val="tx1"/>
                </a:solidFill>
                <a:latin typeface="微軟正黑體" panose="020B0604030504040204" pitchFamily="34" charset="-120"/>
                <a:ea typeface="微軟正黑體" panose="020B0604030504040204" pitchFamily="34" charset="-120"/>
              </a:endParaRPr>
            </a:p>
          </p:txBody>
        </p:sp>
        <p:sp>
          <p:nvSpPr>
            <p:cNvPr id="80" name="文字方塊 79">
              <a:extLst>
                <a:ext uri="{FF2B5EF4-FFF2-40B4-BE49-F238E27FC236}">
                  <a16:creationId xmlns:a16="http://schemas.microsoft.com/office/drawing/2014/main" id="{75E5CE86-5FD9-82F7-2F79-C30E2E6AEACA}"/>
                </a:ext>
              </a:extLst>
            </p:cNvPr>
            <p:cNvSpPr txBox="1"/>
            <p:nvPr/>
          </p:nvSpPr>
          <p:spPr>
            <a:xfrm>
              <a:off x="6921152" y="2117682"/>
              <a:ext cx="286745" cy="278693"/>
            </a:xfrm>
            <a:prstGeom prst="rect">
              <a:avLst/>
            </a:prstGeom>
            <a:noFill/>
          </p:spPr>
          <p:txBody>
            <a:bodyPr wrap="none" lIns="0" tIns="0" rIns="0" bIns="0" rtlCol="0" anchor="ctr" anchorCtr="1">
              <a:noAutofit/>
            </a:bodyPr>
            <a:lstStyle/>
            <a:p>
              <a:pPr algn="ctr"/>
              <a:r>
                <a:rPr lang="az-Cyrl-AZ" altLang="zh-TW" sz="1400" dirty="0"/>
                <a:t>ꚛ</a:t>
              </a:r>
              <a:endParaRPr lang="zh-TW" altLang="en-US" sz="1400" dirty="0"/>
            </a:p>
          </p:txBody>
        </p:sp>
        <mc:AlternateContent xmlns:mc="http://schemas.openxmlformats.org/markup-compatibility/2006" xmlns:a14="http://schemas.microsoft.com/office/drawing/2010/main">
          <mc:Choice Requires="a14">
            <p:sp>
              <p:nvSpPr>
                <p:cNvPr id="81" name="文字方塊 80">
                  <a:extLst>
                    <a:ext uri="{FF2B5EF4-FFF2-40B4-BE49-F238E27FC236}">
                      <a16:creationId xmlns:a16="http://schemas.microsoft.com/office/drawing/2014/main" id="{F63D7D1E-5656-A894-F761-3CDC029E0567}"/>
                    </a:ext>
                  </a:extLst>
                </p:cNvPr>
                <p:cNvSpPr txBox="1"/>
                <p:nvPr/>
              </p:nvSpPr>
              <p:spPr>
                <a:xfrm>
                  <a:off x="5396859" y="2072990"/>
                  <a:ext cx="319062" cy="42441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f>
                          <m:fPr>
                            <m:ctrlPr>
                              <a:rPr lang="zh-TW" altLang="en-US" sz="1200" i="1" smtClean="0">
                                <a:latin typeface="Cambria Math" panose="02040503050406030204" pitchFamily="18" charset="0"/>
                              </a:rPr>
                            </m:ctrlPr>
                          </m:fPr>
                          <m:num>
                            <m:r>
                              <a:rPr lang="zh-TW" altLang="en-US" sz="1200">
                                <a:latin typeface="Cambria Math" panose="02040503050406030204" pitchFamily="18" charset="0"/>
                              </a:rPr>
                              <m:t>1</m:t>
                            </m:r>
                          </m:num>
                          <m:den>
                            <m:rad>
                              <m:radPr>
                                <m:degHide m:val="on"/>
                                <m:ctrlPr>
                                  <a:rPr lang="zh-TW" altLang="en-US" sz="1200" i="1">
                                    <a:latin typeface="Cambria Math" panose="02040503050406030204" pitchFamily="18" charset="0"/>
                                  </a:rPr>
                                </m:ctrlPr>
                              </m:radPr>
                              <m:deg/>
                              <m:e>
                                <m:sSub>
                                  <m:sSubPr>
                                    <m:ctrlPr>
                                      <a:rPr lang="zh-TW" altLang="en-US" sz="1200" i="1">
                                        <a:latin typeface="Cambria Math" panose="02040503050406030204" pitchFamily="18" charset="0"/>
                                      </a:rPr>
                                    </m:ctrlPr>
                                  </m:sSubPr>
                                  <m:e>
                                    <m:r>
                                      <a:rPr lang="zh-TW" altLang="en-US" sz="1200" i="1">
                                        <a:latin typeface="Cambria Math" panose="02040503050406030204" pitchFamily="18" charset="0"/>
                                      </a:rPr>
                                      <m:t>𝑑</m:t>
                                    </m:r>
                                  </m:e>
                                  <m:sub>
                                    <m:r>
                                      <a:rPr lang="zh-TW" altLang="en-US" sz="1200" i="1">
                                        <a:latin typeface="Cambria Math" panose="02040503050406030204" pitchFamily="18" charset="0"/>
                                      </a:rPr>
                                      <m:t>h</m:t>
                                    </m:r>
                                  </m:sub>
                                </m:sSub>
                              </m:e>
                            </m:rad>
                          </m:den>
                        </m:f>
                      </m:oMath>
                    </m:oMathPara>
                  </a14:m>
                  <a:endParaRPr lang="zh-TW" altLang="en-US" sz="1200" dirty="0"/>
                </a:p>
              </p:txBody>
            </p:sp>
          </mc:Choice>
          <mc:Fallback xmlns="">
            <p:sp>
              <p:nvSpPr>
                <p:cNvPr id="81" name="文字方塊 80">
                  <a:extLst>
                    <a:ext uri="{FF2B5EF4-FFF2-40B4-BE49-F238E27FC236}">
                      <a16:creationId xmlns:a16="http://schemas.microsoft.com/office/drawing/2014/main" id="{F63D7D1E-5656-A894-F761-3CDC029E0567}"/>
                    </a:ext>
                  </a:extLst>
                </p:cNvPr>
                <p:cNvSpPr txBox="1">
                  <a:spLocks noRot="1" noChangeAspect="1" noMove="1" noResize="1" noEditPoints="1" noAdjustHandles="1" noChangeArrowheads="1" noChangeShapeType="1" noTextEdit="1"/>
                </p:cNvSpPr>
                <p:nvPr/>
              </p:nvSpPr>
              <p:spPr>
                <a:xfrm>
                  <a:off x="5396859" y="2072990"/>
                  <a:ext cx="319062" cy="424412"/>
                </a:xfrm>
                <a:prstGeom prst="rect">
                  <a:avLst/>
                </a:prstGeom>
                <a:blipFill>
                  <a:blip r:embed="rId3"/>
                  <a:stretch>
                    <a:fillRect t="-2899" r="-1887" b="-4348"/>
                  </a:stretch>
                </a:blipFill>
              </p:spPr>
              <p:txBody>
                <a:bodyPr/>
                <a:lstStyle/>
                <a:p>
                  <a:r>
                    <a:rPr lang="zh-TW" altLang="en-US">
                      <a:noFill/>
                    </a:rPr>
                    <a:t> </a:t>
                  </a:r>
                </a:p>
              </p:txBody>
            </p:sp>
          </mc:Fallback>
        </mc:AlternateContent>
        <p:sp>
          <p:nvSpPr>
            <p:cNvPr id="82" name="矩形 81">
              <a:extLst>
                <a:ext uri="{FF2B5EF4-FFF2-40B4-BE49-F238E27FC236}">
                  <a16:creationId xmlns:a16="http://schemas.microsoft.com/office/drawing/2014/main" id="{5E8A929B-9B2E-7F1C-D830-9DDFCF071C7E}"/>
                </a:ext>
              </a:extLst>
            </p:cNvPr>
            <p:cNvSpPr/>
            <p:nvPr/>
          </p:nvSpPr>
          <p:spPr>
            <a:xfrm>
              <a:off x="7203738" y="2043852"/>
              <a:ext cx="392598" cy="51149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182880" rIns="182880" bIns="0" rtlCol="0" anchor="ctr" anchorCtr="1"/>
            <a:lstStyle/>
            <a:p>
              <a:pPr algn="ctr">
                <a:lnSpc>
                  <a:spcPts val="1600"/>
                </a:lnSpc>
              </a:pPr>
              <a:endParaRPr lang="en-US" altLang="zh-TW" sz="1400" baseline="80000" dirty="0">
                <a:solidFill>
                  <a:schemeClr val="tx1"/>
                </a:solidFill>
                <a:latin typeface="微軟正黑體" panose="020B0604030504040204" pitchFamily="34" charset="-120"/>
                <a:ea typeface="微軟正黑體" panose="020B0604030504040204" pitchFamily="34" charset="-120"/>
              </a:endParaRPr>
            </a:p>
          </p:txBody>
        </p:sp>
        <p:sp>
          <p:nvSpPr>
            <p:cNvPr id="83" name="直角三角形 82">
              <a:extLst>
                <a:ext uri="{FF2B5EF4-FFF2-40B4-BE49-F238E27FC236}">
                  <a16:creationId xmlns:a16="http://schemas.microsoft.com/office/drawing/2014/main" id="{0614F978-3824-C923-4FA5-D5B7F8412463}"/>
                </a:ext>
              </a:extLst>
            </p:cNvPr>
            <p:cNvSpPr/>
            <p:nvPr/>
          </p:nvSpPr>
          <p:spPr>
            <a:xfrm rot="10800000">
              <a:off x="7236296" y="2070380"/>
              <a:ext cx="360040" cy="504174"/>
            </a:xfrm>
            <a:prstGeom prst="rtTriangle">
              <a:avLst/>
            </a:prstGeom>
            <a:solidFill>
              <a:schemeClr val="tx1"/>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lstStyle/>
            <a:p>
              <a:pPr algn="ctr"/>
              <a:r>
                <a:rPr lang="az-Cyrl-AZ" altLang="zh-TW" sz="1200" b="1" dirty="0">
                  <a:solidFill>
                    <a:srgbClr val="FFFF00"/>
                  </a:solidFill>
                </a:rPr>
                <a:t>ꚙ</a:t>
              </a:r>
              <a:r>
                <a:rPr lang="en-US" altLang="zh-TW" sz="1200" b="1" dirty="0">
                  <a:solidFill>
                    <a:srgbClr val="FFFF00"/>
                  </a:solidFill>
                </a:rPr>
                <a:t>-</a:t>
              </a:r>
              <a:endParaRPr lang="zh-TW" altLang="en-US" sz="1200" b="1" dirty="0">
                <a:solidFill>
                  <a:srgbClr val="FFFF00"/>
                </a:solidFill>
              </a:endParaRPr>
            </a:p>
          </p:txBody>
        </p:sp>
        <p:sp>
          <p:nvSpPr>
            <p:cNvPr id="120" name="左中括弧 119">
              <a:extLst>
                <a:ext uri="{FF2B5EF4-FFF2-40B4-BE49-F238E27FC236}">
                  <a16:creationId xmlns:a16="http://schemas.microsoft.com/office/drawing/2014/main" id="{5D7BC184-02C2-7DE4-133C-A739B5E71281}"/>
                </a:ext>
              </a:extLst>
            </p:cNvPr>
            <p:cNvSpPr/>
            <p:nvPr/>
          </p:nvSpPr>
          <p:spPr>
            <a:xfrm>
              <a:off x="5233519" y="1864543"/>
              <a:ext cx="135014"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1" name="左中括弧 120">
              <a:extLst>
                <a:ext uri="{FF2B5EF4-FFF2-40B4-BE49-F238E27FC236}">
                  <a16:creationId xmlns:a16="http://schemas.microsoft.com/office/drawing/2014/main" id="{343217DE-F8C6-2ACD-437F-0DD31634649C}"/>
                </a:ext>
              </a:extLst>
            </p:cNvPr>
            <p:cNvSpPr/>
            <p:nvPr/>
          </p:nvSpPr>
          <p:spPr>
            <a:xfrm flipH="1">
              <a:off x="7638657" y="1857299"/>
              <a:ext cx="173703" cy="825714"/>
            </a:xfrm>
            <a:prstGeom prst="lef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3" name="文字方塊 122">
              <a:extLst>
                <a:ext uri="{FF2B5EF4-FFF2-40B4-BE49-F238E27FC236}">
                  <a16:creationId xmlns:a16="http://schemas.microsoft.com/office/drawing/2014/main" id="{E532109A-97ED-0949-9EF2-4CD995CB4254}"/>
                </a:ext>
              </a:extLst>
            </p:cNvPr>
            <p:cNvSpPr txBox="1"/>
            <p:nvPr/>
          </p:nvSpPr>
          <p:spPr>
            <a:xfrm>
              <a:off x="7849875" y="2193238"/>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125" name="文字方塊 124">
            <a:extLst>
              <a:ext uri="{FF2B5EF4-FFF2-40B4-BE49-F238E27FC236}">
                <a16:creationId xmlns:a16="http://schemas.microsoft.com/office/drawing/2014/main" id="{F350397C-5644-DBA0-30D4-27BC65996251}"/>
              </a:ext>
            </a:extLst>
          </p:cNvPr>
          <p:cNvSpPr txBox="1"/>
          <p:nvPr/>
        </p:nvSpPr>
        <p:spPr>
          <a:xfrm>
            <a:off x="3923928" y="1317977"/>
            <a:ext cx="206538" cy="223840"/>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baseline="-25000" dirty="0"/>
          </a:p>
        </p:txBody>
      </p:sp>
      <p:sp>
        <p:nvSpPr>
          <p:cNvPr id="126" name="右中括弧 125">
            <a:extLst>
              <a:ext uri="{FF2B5EF4-FFF2-40B4-BE49-F238E27FC236}">
                <a16:creationId xmlns:a16="http://schemas.microsoft.com/office/drawing/2014/main" id="{168F04D2-2783-4256-2494-AE35C34AED91}"/>
              </a:ext>
            </a:extLst>
          </p:cNvPr>
          <p:cNvSpPr/>
          <p:nvPr/>
        </p:nvSpPr>
        <p:spPr>
          <a:xfrm>
            <a:off x="3939477" y="1296072"/>
            <a:ext cx="54972" cy="25727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31" name="矩形 130">
            <a:extLst>
              <a:ext uri="{FF2B5EF4-FFF2-40B4-BE49-F238E27FC236}">
                <a16:creationId xmlns:a16="http://schemas.microsoft.com/office/drawing/2014/main" id="{D2E41A05-6318-000C-98AB-E11C7639A576}"/>
              </a:ext>
            </a:extLst>
          </p:cNvPr>
          <p:cNvSpPr/>
          <p:nvPr/>
        </p:nvSpPr>
        <p:spPr>
          <a:xfrm>
            <a:off x="2888130" y="4658475"/>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32" name="矩形 131">
            <a:extLst>
              <a:ext uri="{FF2B5EF4-FFF2-40B4-BE49-F238E27FC236}">
                <a16:creationId xmlns:a16="http://schemas.microsoft.com/office/drawing/2014/main" id="{DCAE6307-0F7E-FDF4-922D-4553336DFD54}"/>
              </a:ext>
            </a:extLst>
          </p:cNvPr>
          <p:cNvSpPr/>
          <p:nvPr/>
        </p:nvSpPr>
        <p:spPr>
          <a:xfrm rot="16200000">
            <a:off x="4102163" y="4610769"/>
            <a:ext cx="531742"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vert="eaVert"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p>
        </p:txBody>
      </p:sp>
      <p:sp>
        <p:nvSpPr>
          <p:cNvPr id="139" name="矩形 138">
            <a:extLst>
              <a:ext uri="{FF2B5EF4-FFF2-40B4-BE49-F238E27FC236}">
                <a16:creationId xmlns:a16="http://schemas.microsoft.com/office/drawing/2014/main" id="{27E23837-6FAD-C75E-463A-AA3C4E0A8D8A}"/>
              </a:ext>
            </a:extLst>
          </p:cNvPr>
          <p:cNvSpPr/>
          <p:nvPr/>
        </p:nvSpPr>
        <p:spPr>
          <a:xfrm>
            <a:off x="956783" y="4677253"/>
            <a:ext cx="1416044" cy="141604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QK</a:t>
            </a:r>
          </a:p>
          <a:p>
            <a:pPr algn="ctr">
              <a:lnSpc>
                <a:spcPts val="1600"/>
              </a:lnSpc>
            </a:pPr>
            <a:r>
              <a:rPr lang="en-US" altLang="zh-TW" sz="1200" b="1" dirty="0">
                <a:solidFill>
                  <a:schemeClr val="tx1"/>
                </a:solidFill>
                <a:latin typeface="微軟正黑體" panose="020B0604030504040204" pitchFamily="34" charset="-120"/>
                <a:ea typeface="微軟正黑體" panose="020B0604030504040204" pitchFamily="34" charset="-120"/>
              </a:rPr>
              <a:t>Cache</a:t>
            </a:r>
          </a:p>
        </p:txBody>
      </p:sp>
      <p:cxnSp>
        <p:nvCxnSpPr>
          <p:cNvPr id="140" name="直線接點 139">
            <a:extLst>
              <a:ext uri="{FF2B5EF4-FFF2-40B4-BE49-F238E27FC236}">
                <a16:creationId xmlns:a16="http://schemas.microsoft.com/office/drawing/2014/main" id="{F48C0D5E-47CC-7A48-647B-3CDFA9F9E10E}"/>
              </a:ext>
            </a:extLst>
          </p:cNvPr>
          <p:cNvCxnSpPr>
            <a:cxnSpLocks/>
          </p:cNvCxnSpPr>
          <p:nvPr/>
        </p:nvCxnSpPr>
        <p:spPr>
          <a:xfrm>
            <a:off x="956784" y="4671368"/>
            <a:ext cx="1416043" cy="1421928"/>
          </a:xfrm>
          <a:prstGeom prst="line">
            <a:avLst/>
          </a:prstGeom>
        </p:spPr>
        <p:style>
          <a:lnRef idx="1">
            <a:schemeClr val="accent1"/>
          </a:lnRef>
          <a:fillRef idx="0">
            <a:schemeClr val="accent1"/>
          </a:fillRef>
          <a:effectRef idx="0">
            <a:schemeClr val="accent1"/>
          </a:effectRef>
          <a:fontRef idx="minor">
            <a:schemeClr val="tx1"/>
          </a:fontRef>
        </p:style>
      </p:cxnSp>
      <p:sp>
        <p:nvSpPr>
          <p:cNvPr id="145" name="矩形 144">
            <a:extLst>
              <a:ext uri="{FF2B5EF4-FFF2-40B4-BE49-F238E27FC236}">
                <a16:creationId xmlns:a16="http://schemas.microsoft.com/office/drawing/2014/main" id="{4AA218F1-0101-BE93-2018-D360744DF41B}"/>
              </a:ext>
            </a:extLst>
          </p:cNvPr>
          <p:cNvSpPr/>
          <p:nvPr/>
        </p:nvSpPr>
        <p:spPr>
          <a:xfrm>
            <a:off x="956782" y="5943809"/>
            <a:ext cx="14160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token</a:t>
            </a:r>
          </a:p>
        </p:txBody>
      </p:sp>
      <p:sp>
        <p:nvSpPr>
          <p:cNvPr id="146" name="矩形 145">
            <a:extLst>
              <a:ext uri="{FF2B5EF4-FFF2-40B4-BE49-F238E27FC236}">
                <a16:creationId xmlns:a16="http://schemas.microsoft.com/office/drawing/2014/main" id="{F9ED9B25-56F9-303B-D500-502B8B68F75C}"/>
              </a:ext>
            </a:extLst>
          </p:cNvPr>
          <p:cNvSpPr/>
          <p:nvPr/>
        </p:nvSpPr>
        <p:spPr>
          <a:xfrm>
            <a:off x="2888130" y="5943809"/>
            <a:ext cx="531742" cy="149487"/>
          </a:xfrm>
          <a:prstGeom prst="rect">
            <a:avLst/>
          </a:prstGeom>
          <a:gradFill flip="none" rotWithShape="1">
            <a:gsLst>
              <a:gs pos="0">
                <a:schemeClr val="bg1"/>
              </a:gs>
              <a:gs pos="100000">
                <a:schemeClr val="accent6">
                  <a:lumMod val="60000"/>
                  <a:lumOff val="40000"/>
                </a:schemeClr>
              </a:gs>
            </a:gsLst>
            <a:lin ang="108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q</a:t>
            </a:r>
          </a:p>
        </p:txBody>
      </p:sp>
      <p:sp>
        <p:nvSpPr>
          <p:cNvPr id="147" name="矩形 146">
            <a:extLst>
              <a:ext uri="{FF2B5EF4-FFF2-40B4-BE49-F238E27FC236}">
                <a16:creationId xmlns:a16="http://schemas.microsoft.com/office/drawing/2014/main" id="{116F7E5F-4903-98D5-9B7E-AB3E68001B22}"/>
              </a:ext>
            </a:extLst>
          </p:cNvPr>
          <p:cNvSpPr/>
          <p:nvPr/>
        </p:nvSpPr>
        <p:spPr>
          <a:xfrm>
            <a:off x="3988873" y="5038814"/>
            <a:ext cx="151079" cy="550426"/>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50" name="矩形 149">
            <a:extLst>
              <a:ext uri="{FF2B5EF4-FFF2-40B4-BE49-F238E27FC236}">
                <a16:creationId xmlns:a16="http://schemas.microsoft.com/office/drawing/2014/main" id="{8C9D97CF-B202-7104-D3C9-612C0A5C7434}"/>
              </a:ext>
            </a:extLst>
          </p:cNvPr>
          <p:cNvSpPr/>
          <p:nvPr/>
        </p:nvSpPr>
        <p:spPr>
          <a:xfrm>
            <a:off x="943914" y="486916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55" name="文字方塊 154">
            <a:extLst>
              <a:ext uri="{FF2B5EF4-FFF2-40B4-BE49-F238E27FC236}">
                <a16:creationId xmlns:a16="http://schemas.microsoft.com/office/drawing/2014/main" id="{CC038A0D-3ABF-A8B9-2BE9-F34133F62019}"/>
              </a:ext>
            </a:extLst>
          </p:cNvPr>
          <p:cNvSpPr txBox="1"/>
          <p:nvPr/>
        </p:nvSpPr>
        <p:spPr>
          <a:xfrm>
            <a:off x="3542561" y="5816847"/>
            <a:ext cx="585866" cy="369332"/>
          </a:xfrm>
          <a:prstGeom prst="rect">
            <a:avLst/>
          </a:prstGeom>
          <a:noFill/>
        </p:spPr>
        <p:txBody>
          <a:bodyPr wrap="none" rtlCol="0">
            <a:spAutoFit/>
          </a:bodyPr>
          <a:lstStyle/>
          <a:p>
            <a:r>
              <a:rPr lang="en-US" altLang="zh-TW" dirty="0"/>
              <a:t>new</a:t>
            </a:r>
            <a:endParaRPr lang="zh-TW" altLang="en-US" dirty="0"/>
          </a:p>
        </p:txBody>
      </p:sp>
      <p:sp>
        <p:nvSpPr>
          <p:cNvPr id="161" name="矩形 160">
            <a:extLst>
              <a:ext uri="{FF2B5EF4-FFF2-40B4-BE49-F238E27FC236}">
                <a16:creationId xmlns:a16="http://schemas.microsoft.com/office/drawing/2014/main" id="{5DE78BFE-EDA2-B825-6D13-D9A6B125228E}"/>
              </a:ext>
            </a:extLst>
          </p:cNvPr>
          <p:cNvSpPr/>
          <p:nvPr/>
        </p:nvSpPr>
        <p:spPr>
          <a:xfrm>
            <a:off x="3635896" y="5048339"/>
            <a:ext cx="171702" cy="536323"/>
          </a:xfrm>
          <a:prstGeom prst="rect">
            <a:avLst/>
          </a:prstGeom>
          <a:gradFill flip="none" rotWithShape="1">
            <a:gsLst>
              <a:gs pos="0">
                <a:schemeClr val="bg1"/>
              </a:gs>
              <a:gs pos="100000">
                <a:schemeClr val="accent6">
                  <a:lumMod val="60000"/>
                  <a:lumOff val="40000"/>
                </a:schemeClr>
              </a:gs>
            </a:gsLst>
            <a:lin ang="16200000" scaled="1"/>
            <a:tileRect/>
          </a:gra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2"/>
                </a:solidFill>
                <a:latin typeface="微軟正黑體" panose="020B0604030504040204" pitchFamily="34" charset="-120"/>
                <a:ea typeface="微軟正黑體" panose="020B0604030504040204" pitchFamily="34" charset="-120"/>
              </a:rPr>
              <a:t>k</a:t>
            </a:r>
          </a:p>
        </p:txBody>
      </p:sp>
      <p:sp>
        <p:nvSpPr>
          <p:cNvPr id="162" name="矩形 161">
            <a:extLst>
              <a:ext uri="{FF2B5EF4-FFF2-40B4-BE49-F238E27FC236}">
                <a16:creationId xmlns:a16="http://schemas.microsoft.com/office/drawing/2014/main" id="{74765AE3-2FF0-401F-03FC-F1A6F4BBC62F}"/>
              </a:ext>
            </a:extLst>
          </p:cNvPr>
          <p:cNvSpPr/>
          <p:nvPr/>
        </p:nvSpPr>
        <p:spPr>
          <a:xfrm>
            <a:off x="3635896" y="4969120"/>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163" name="矩形 162">
            <a:extLst>
              <a:ext uri="{FF2B5EF4-FFF2-40B4-BE49-F238E27FC236}">
                <a16:creationId xmlns:a16="http://schemas.microsoft.com/office/drawing/2014/main" id="{36339F44-4251-31BE-04DB-907A73D27E0F}"/>
              </a:ext>
            </a:extLst>
          </p:cNvPr>
          <p:cNvSpPr/>
          <p:nvPr/>
        </p:nvSpPr>
        <p:spPr>
          <a:xfrm>
            <a:off x="3988873" y="4972553"/>
            <a:ext cx="151079" cy="144438"/>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cxnSp>
        <p:nvCxnSpPr>
          <p:cNvPr id="165" name="直線單箭頭接點 164">
            <a:extLst>
              <a:ext uri="{FF2B5EF4-FFF2-40B4-BE49-F238E27FC236}">
                <a16:creationId xmlns:a16="http://schemas.microsoft.com/office/drawing/2014/main" id="{58023D4A-518B-BD5F-4288-628FCE1031CA}"/>
              </a:ext>
            </a:extLst>
          </p:cNvPr>
          <p:cNvCxnSpPr>
            <a:stCxn id="158" idx="0"/>
            <a:endCxn id="150" idx="2"/>
          </p:cNvCxnSpPr>
          <p:nvPr/>
        </p:nvCxnSpPr>
        <p:spPr>
          <a:xfrm flipV="1">
            <a:off x="1029765" y="5025513"/>
            <a:ext cx="0" cy="85175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69" name="矩形 168">
            <a:extLst>
              <a:ext uri="{FF2B5EF4-FFF2-40B4-BE49-F238E27FC236}">
                <a16:creationId xmlns:a16="http://schemas.microsoft.com/office/drawing/2014/main" id="{592FB36E-A68C-226D-BFB1-A9634096470D}"/>
              </a:ext>
            </a:extLst>
          </p:cNvPr>
          <p:cNvSpPr/>
          <p:nvPr/>
        </p:nvSpPr>
        <p:spPr>
          <a:xfrm>
            <a:off x="4919032" y="4960637"/>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cxnSp>
        <p:nvCxnSpPr>
          <p:cNvPr id="171" name="直線接點 170">
            <a:extLst>
              <a:ext uri="{FF2B5EF4-FFF2-40B4-BE49-F238E27FC236}">
                <a16:creationId xmlns:a16="http://schemas.microsoft.com/office/drawing/2014/main" id="{EA5FBCEE-BB8E-7962-6AEB-3D1C400C3B94}"/>
              </a:ext>
            </a:extLst>
          </p:cNvPr>
          <p:cNvCxnSpPr/>
          <p:nvPr/>
        </p:nvCxnSpPr>
        <p:spPr>
          <a:xfrm>
            <a:off x="2771800" y="4643201"/>
            <a:ext cx="0" cy="1440706"/>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cxnSp>
        <p:nvCxnSpPr>
          <p:cNvPr id="172" name="直線接點 171">
            <a:extLst>
              <a:ext uri="{FF2B5EF4-FFF2-40B4-BE49-F238E27FC236}">
                <a16:creationId xmlns:a16="http://schemas.microsoft.com/office/drawing/2014/main" id="{4EC5357E-B57D-5696-B511-76127ECAE7E3}"/>
              </a:ext>
            </a:extLst>
          </p:cNvPr>
          <p:cNvCxnSpPr>
            <a:cxnSpLocks/>
          </p:cNvCxnSpPr>
          <p:nvPr/>
        </p:nvCxnSpPr>
        <p:spPr>
          <a:xfrm flipV="1">
            <a:off x="3630897" y="4865769"/>
            <a:ext cx="1469275" cy="3391"/>
          </a:xfrm>
          <a:prstGeom prst="line">
            <a:avLst/>
          </a:prstGeom>
          <a:ln w="38100">
            <a:solidFill>
              <a:schemeClr val="accent6">
                <a:lumMod val="60000"/>
                <a:lumOff val="40000"/>
              </a:schemeClr>
            </a:solidFill>
            <a:tailEnd type="oval"/>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1A614FA1-2FE8-03D5-9A01-4EE09275FF05}"/>
              </a:ext>
            </a:extLst>
          </p:cNvPr>
          <p:cNvSpPr/>
          <p:nvPr/>
        </p:nvSpPr>
        <p:spPr>
          <a:xfrm>
            <a:off x="7031249" y="3482963"/>
            <a:ext cx="277055" cy="45009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W</a:t>
            </a:r>
            <a:r>
              <a:rPr lang="en-US" altLang="zh-TW" sz="1200" b="1" baseline="-25000" dirty="0">
                <a:solidFill>
                  <a:srgbClr val="FF0000"/>
                </a:solidFill>
                <a:latin typeface="微軟正黑體" panose="020B0604030504040204" pitchFamily="34" charset="-120"/>
                <a:ea typeface="微軟正黑體" panose="020B0604030504040204" pitchFamily="34" charset="-120"/>
              </a:rPr>
              <a:t>O</a:t>
            </a:r>
          </a:p>
        </p:txBody>
      </p:sp>
      <p:sp>
        <p:nvSpPr>
          <p:cNvPr id="3" name="文字方塊 2">
            <a:extLst>
              <a:ext uri="{FF2B5EF4-FFF2-40B4-BE49-F238E27FC236}">
                <a16:creationId xmlns:a16="http://schemas.microsoft.com/office/drawing/2014/main" id="{66E00A59-7D33-BABF-7882-2F0838F43D92}"/>
              </a:ext>
            </a:extLst>
          </p:cNvPr>
          <p:cNvSpPr txBox="1"/>
          <p:nvPr/>
        </p:nvSpPr>
        <p:spPr>
          <a:xfrm>
            <a:off x="6869448" y="3625704"/>
            <a:ext cx="123067" cy="217983"/>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176" name="矩形 175">
            <a:extLst>
              <a:ext uri="{FF2B5EF4-FFF2-40B4-BE49-F238E27FC236}">
                <a16:creationId xmlns:a16="http://schemas.microsoft.com/office/drawing/2014/main" id="{55CE9919-2B60-6324-484E-21E7B0AE0DC6}"/>
              </a:ext>
            </a:extLst>
          </p:cNvPr>
          <p:cNvSpPr/>
          <p:nvPr/>
        </p:nvSpPr>
        <p:spPr>
          <a:xfrm>
            <a:off x="2195736" y="5877271"/>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Y</a:t>
            </a:r>
          </a:p>
        </p:txBody>
      </p:sp>
      <p:sp>
        <p:nvSpPr>
          <p:cNvPr id="148" name="矩形 147">
            <a:extLst>
              <a:ext uri="{FF2B5EF4-FFF2-40B4-BE49-F238E27FC236}">
                <a16:creationId xmlns:a16="http://schemas.microsoft.com/office/drawing/2014/main" id="{BF2089BB-BC6C-017D-8DF1-85369728E189}"/>
              </a:ext>
            </a:extLst>
          </p:cNvPr>
          <p:cNvSpPr/>
          <p:nvPr/>
        </p:nvSpPr>
        <p:spPr>
          <a:xfrm>
            <a:off x="1259632" y="5877272"/>
            <a:ext cx="144016" cy="149487"/>
          </a:xfrm>
          <a:prstGeom prst="rect">
            <a:avLst/>
          </a:prstGeom>
          <a:solidFill>
            <a:schemeClr val="bg1">
              <a:alpha val="40000"/>
            </a:schemeClr>
          </a:solid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b="1" dirty="0">
              <a:solidFill>
                <a:schemeClr val="accent2"/>
              </a:solidFill>
              <a:latin typeface="微軟正黑體" panose="020B0604030504040204" pitchFamily="34" charset="-120"/>
              <a:ea typeface="微軟正黑體" panose="020B0604030504040204" pitchFamily="34" charset="-120"/>
            </a:endParaRPr>
          </a:p>
        </p:txBody>
      </p:sp>
      <p:sp>
        <p:nvSpPr>
          <p:cNvPr id="158" name="矩形 157">
            <a:extLst>
              <a:ext uri="{FF2B5EF4-FFF2-40B4-BE49-F238E27FC236}">
                <a16:creationId xmlns:a16="http://schemas.microsoft.com/office/drawing/2014/main" id="{DF4F9B46-4036-0705-42F5-51A1C56471DA}"/>
              </a:ext>
            </a:extLst>
          </p:cNvPr>
          <p:cNvSpPr/>
          <p:nvPr/>
        </p:nvSpPr>
        <p:spPr>
          <a:xfrm>
            <a:off x="943914" y="5877272"/>
            <a:ext cx="171702" cy="156353"/>
          </a:xfrm>
          <a:prstGeom prst="rect">
            <a:avLst/>
          </a:prstGeom>
          <a:solidFill>
            <a:schemeClr val="bg1">
              <a:lumMod val="85000"/>
              <a:alpha val="40000"/>
            </a:schemeClr>
          </a:solidFill>
          <a:ln w="9525">
            <a:solidFill>
              <a:schemeClr val="tx1">
                <a:lumMod val="50000"/>
                <a:lumOff val="5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b="1" dirty="0">
                <a:solidFill>
                  <a:schemeClr val="accent1">
                    <a:lumMod val="75000"/>
                  </a:schemeClr>
                </a:solidFill>
                <a:latin typeface="微軟正黑體" panose="020B0604030504040204" pitchFamily="34" charset="-120"/>
                <a:ea typeface="微軟正黑體" panose="020B0604030504040204" pitchFamily="34" charset="-120"/>
              </a:rPr>
              <a:t>x</a:t>
            </a:r>
          </a:p>
        </p:txBody>
      </p:sp>
      <p:sp>
        <p:nvSpPr>
          <p:cNvPr id="6" name="右中括弧 5">
            <a:extLst>
              <a:ext uri="{FF2B5EF4-FFF2-40B4-BE49-F238E27FC236}">
                <a16:creationId xmlns:a16="http://schemas.microsoft.com/office/drawing/2014/main" id="{C81A02FB-AC09-8887-36BD-3E73264A3E4D}"/>
              </a:ext>
            </a:extLst>
          </p:cNvPr>
          <p:cNvSpPr/>
          <p:nvPr/>
        </p:nvSpPr>
        <p:spPr>
          <a:xfrm rot="16200000">
            <a:off x="6638449" y="3327610"/>
            <a:ext cx="56927" cy="253983"/>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7" name="文字方塊 6">
            <a:extLst>
              <a:ext uri="{FF2B5EF4-FFF2-40B4-BE49-F238E27FC236}">
                <a16:creationId xmlns:a16="http://schemas.microsoft.com/office/drawing/2014/main" id="{EE6FBDB8-B933-F607-F838-66A97D79B1D5}"/>
              </a:ext>
            </a:extLst>
          </p:cNvPr>
          <p:cNvSpPr txBox="1"/>
          <p:nvPr/>
        </p:nvSpPr>
        <p:spPr>
          <a:xfrm>
            <a:off x="6642496" y="3210114"/>
            <a:ext cx="78071" cy="217983"/>
          </a:xfrm>
          <a:prstGeom prst="rect">
            <a:avLst/>
          </a:prstGeom>
          <a:noFill/>
        </p:spPr>
        <p:txBody>
          <a:bodyPr wrap="none" lIns="0" tIns="0" rIns="0" bIns="0" rtlCol="0" anchor="ctr" anchorCtr="1">
            <a:noAutofit/>
          </a:bodyPr>
          <a:lstStyle/>
          <a:p>
            <a:pPr algn="ctr"/>
            <a:r>
              <a:rPr lang="en-US" altLang="zh-TW" sz="1200" dirty="0"/>
              <a:t>d</a:t>
            </a:r>
            <a:r>
              <a:rPr lang="en-US" altLang="zh-TW" sz="1200" baseline="-25000" dirty="0"/>
              <a:t>h</a:t>
            </a:r>
            <a:endParaRPr lang="zh-TW" altLang="en-US" sz="1200" dirty="0"/>
          </a:p>
        </p:txBody>
      </p:sp>
      <p:sp>
        <p:nvSpPr>
          <p:cNvPr id="15" name="矩形 14">
            <a:extLst>
              <a:ext uri="{FF2B5EF4-FFF2-40B4-BE49-F238E27FC236}">
                <a16:creationId xmlns:a16="http://schemas.microsoft.com/office/drawing/2014/main" id="{F5273199-2037-8A7D-0F36-C1BFDCAE1C77}"/>
              </a:ext>
            </a:extLst>
          </p:cNvPr>
          <p:cNvSpPr/>
          <p:nvPr/>
        </p:nvSpPr>
        <p:spPr>
          <a:xfrm>
            <a:off x="4581111" y="32720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16" name="文字方塊 15">
            <a:extLst>
              <a:ext uri="{FF2B5EF4-FFF2-40B4-BE49-F238E27FC236}">
                <a16:creationId xmlns:a16="http://schemas.microsoft.com/office/drawing/2014/main" id="{C0110784-D5CD-5A16-47A7-F9BAD4876B56}"/>
              </a:ext>
            </a:extLst>
          </p:cNvPr>
          <p:cNvSpPr txBox="1"/>
          <p:nvPr/>
        </p:nvSpPr>
        <p:spPr>
          <a:xfrm>
            <a:off x="3103547" y="3570918"/>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7" name="右大括弧 16">
            <a:extLst>
              <a:ext uri="{FF2B5EF4-FFF2-40B4-BE49-F238E27FC236}">
                <a16:creationId xmlns:a16="http://schemas.microsoft.com/office/drawing/2014/main" id="{D92052ED-9B39-43D1-7CD4-11CA0827C1E2}"/>
              </a:ext>
            </a:extLst>
          </p:cNvPr>
          <p:cNvSpPr/>
          <p:nvPr/>
        </p:nvSpPr>
        <p:spPr>
          <a:xfrm rot="5400000">
            <a:off x="6249316" y="3089790"/>
            <a:ext cx="130201" cy="1987773"/>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0" name="矩形 19">
            <a:extLst>
              <a:ext uri="{FF2B5EF4-FFF2-40B4-BE49-F238E27FC236}">
                <a16:creationId xmlns:a16="http://schemas.microsoft.com/office/drawing/2014/main" id="{919C9182-6025-78FD-DD4B-34D2D9F56B15}"/>
              </a:ext>
            </a:extLst>
          </p:cNvPr>
          <p:cNvSpPr/>
          <p:nvPr/>
        </p:nvSpPr>
        <p:spPr>
          <a:xfrm>
            <a:off x="5907139" y="4148777"/>
            <a:ext cx="867263" cy="333057"/>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 Matrix H</a:t>
            </a:r>
          </a:p>
        </p:txBody>
      </p:sp>
    </p:spTree>
    <p:extLst>
      <p:ext uri="{BB962C8B-B14F-4D97-AF65-F5344CB8AC3E}">
        <p14:creationId xmlns:p14="http://schemas.microsoft.com/office/powerpoint/2010/main" val="104112652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C5E2C96-8CCA-2513-9ED1-26FD67B6EE2D}"/>
            </a:ext>
          </a:extLst>
        </p:cNvPr>
        <p:cNvGrpSpPr/>
        <p:nvPr/>
      </p:nvGrpSpPr>
      <p:grpSpPr>
        <a:xfrm>
          <a:off x="0" y="0"/>
          <a:ext cx="0" cy="0"/>
          <a:chOff x="0" y="0"/>
          <a:chExt cx="0" cy="0"/>
        </a:xfrm>
      </p:grpSpPr>
      <p:sp>
        <p:nvSpPr>
          <p:cNvPr id="39" name="右中括弧 38">
            <a:extLst>
              <a:ext uri="{FF2B5EF4-FFF2-40B4-BE49-F238E27FC236}">
                <a16:creationId xmlns:a16="http://schemas.microsoft.com/office/drawing/2014/main" id="{4925490F-5CC4-F608-2390-2B238EE875D7}"/>
              </a:ext>
            </a:extLst>
          </p:cNvPr>
          <p:cNvSpPr/>
          <p:nvPr/>
        </p:nvSpPr>
        <p:spPr>
          <a:xfrm flipH="1">
            <a:off x="2037676" y="5055020"/>
            <a:ext cx="79946" cy="89694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120" name="矩形 119">
            <a:extLst>
              <a:ext uri="{FF2B5EF4-FFF2-40B4-BE49-F238E27FC236}">
                <a16:creationId xmlns:a16="http://schemas.microsoft.com/office/drawing/2014/main" id="{5BD871C5-7650-32E5-1F21-AEFE9937B6E7}"/>
              </a:ext>
            </a:extLst>
          </p:cNvPr>
          <p:cNvSpPr/>
          <p:nvPr/>
        </p:nvSpPr>
        <p:spPr>
          <a:xfrm>
            <a:off x="6621175" y="2348880"/>
            <a:ext cx="2099555" cy="2121429"/>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Router(X)</a:t>
            </a:r>
          </a:p>
        </p:txBody>
      </p:sp>
      <p:sp>
        <p:nvSpPr>
          <p:cNvPr id="4" name="標題 1">
            <a:extLst>
              <a:ext uri="{FF2B5EF4-FFF2-40B4-BE49-F238E27FC236}">
                <a16:creationId xmlns:a16="http://schemas.microsoft.com/office/drawing/2014/main" id="{D678E424-A792-0ECC-8A4B-F6AE1723D55F}"/>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Feed Forward Network</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rPr>
              <a:t>Extract the features</a:t>
            </a:r>
          </a:p>
        </p:txBody>
      </p:sp>
      <p:grpSp>
        <p:nvGrpSpPr>
          <p:cNvPr id="2" name="群組 1">
            <a:extLst>
              <a:ext uri="{FF2B5EF4-FFF2-40B4-BE49-F238E27FC236}">
                <a16:creationId xmlns:a16="http://schemas.microsoft.com/office/drawing/2014/main" id="{C3FC8396-7738-396B-4EC3-4B7F9FF3F9F4}"/>
              </a:ext>
            </a:extLst>
          </p:cNvPr>
          <p:cNvGrpSpPr/>
          <p:nvPr/>
        </p:nvGrpSpPr>
        <p:grpSpPr>
          <a:xfrm>
            <a:off x="2818393" y="3083065"/>
            <a:ext cx="3049751" cy="1008634"/>
            <a:chOff x="3610481" y="4004542"/>
            <a:chExt cx="3049751" cy="1008634"/>
          </a:xfrm>
        </p:grpSpPr>
        <p:sp>
          <p:nvSpPr>
            <p:cNvPr id="3" name="矩形 2">
              <a:extLst>
                <a:ext uri="{FF2B5EF4-FFF2-40B4-BE49-F238E27FC236}">
                  <a16:creationId xmlns:a16="http://schemas.microsoft.com/office/drawing/2014/main" id="{9EA9CF9A-00DF-3794-7D5B-29CDFD75AA9B}"/>
                </a:ext>
              </a:extLst>
            </p:cNvPr>
            <p:cNvSpPr/>
            <p:nvPr/>
          </p:nvSpPr>
          <p:spPr>
            <a:xfrm>
              <a:off x="3707904" y="4004542"/>
              <a:ext cx="249785" cy="364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 name="矩形 5">
              <a:extLst>
                <a:ext uri="{FF2B5EF4-FFF2-40B4-BE49-F238E27FC236}">
                  <a16:creationId xmlns:a16="http://schemas.microsoft.com/office/drawing/2014/main" id="{F2E17025-5008-AC48-ABF1-5D8995C7E706}"/>
                </a:ext>
              </a:extLst>
            </p:cNvPr>
            <p:cNvSpPr/>
            <p:nvPr/>
          </p:nvSpPr>
          <p:spPr>
            <a:xfrm>
              <a:off x="4025877"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8" name="矩形 7">
              <a:extLst>
                <a:ext uri="{FF2B5EF4-FFF2-40B4-BE49-F238E27FC236}">
                  <a16:creationId xmlns:a16="http://schemas.microsoft.com/office/drawing/2014/main" id="{1AC45CBD-8970-4C34-B74F-AF5645DD3186}"/>
                </a:ext>
              </a:extLst>
            </p:cNvPr>
            <p:cNvSpPr/>
            <p:nvPr/>
          </p:nvSpPr>
          <p:spPr>
            <a:xfrm>
              <a:off x="3707904" y="4437112"/>
              <a:ext cx="1091936" cy="377309"/>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A</a:t>
              </a:r>
              <a:r>
                <a:rPr lang="en-US" altLang="zh-TW" sz="800" dirty="0">
                  <a:solidFill>
                    <a:schemeClr val="tx1"/>
                  </a:solidFill>
                  <a:latin typeface="微軟正黑體" panose="020B0604030504040204" pitchFamily="34" charset="-120"/>
                  <a:ea typeface="微軟正黑體" panose="020B0604030504040204" pitchFamily="34" charset="-120"/>
                </a:rPr>
                <a:t>ctivation</a:t>
              </a:r>
            </a:p>
          </p:txBody>
        </p:sp>
        <p:sp>
          <p:nvSpPr>
            <p:cNvPr id="9" name="矩形 8">
              <a:extLst>
                <a:ext uri="{FF2B5EF4-FFF2-40B4-BE49-F238E27FC236}">
                  <a16:creationId xmlns:a16="http://schemas.microsoft.com/office/drawing/2014/main" id="{4C8DF73F-4F3C-A692-BD96-F71648DBE87A}"/>
                </a:ext>
              </a:extLst>
            </p:cNvPr>
            <p:cNvSpPr/>
            <p:nvPr/>
          </p:nvSpPr>
          <p:spPr>
            <a:xfrm>
              <a:off x="5024295" y="4004542"/>
              <a:ext cx="237183" cy="35528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3" name="矩形 12">
              <a:extLst>
                <a:ext uri="{FF2B5EF4-FFF2-40B4-BE49-F238E27FC236}">
                  <a16:creationId xmlns:a16="http://schemas.microsoft.com/office/drawing/2014/main" id="{4C6EAD61-4A7B-16B8-C92D-E26BBC02A444}"/>
                </a:ext>
              </a:extLst>
            </p:cNvPr>
            <p:cNvSpPr/>
            <p:nvPr/>
          </p:nvSpPr>
          <p:spPr>
            <a:xfrm>
              <a:off x="5322021" y="4004543"/>
              <a:ext cx="690139" cy="212220"/>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4" name="矩形 13">
              <a:extLst>
                <a:ext uri="{FF2B5EF4-FFF2-40B4-BE49-F238E27FC236}">
                  <a16:creationId xmlns:a16="http://schemas.microsoft.com/office/drawing/2014/main" id="{DAAAB223-9377-63D7-94BA-1B9732312813}"/>
                </a:ext>
              </a:extLst>
            </p:cNvPr>
            <p:cNvSpPr/>
            <p:nvPr/>
          </p:nvSpPr>
          <p:spPr>
            <a:xfrm>
              <a:off x="5024295" y="4437112"/>
              <a:ext cx="915857" cy="359020"/>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r>
                <a:rPr lang="zh-TW" altLang="en-US" sz="1200" dirty="0">
                  <a:solidFill>
                    <a:schemeClr val="tx1"/>
                  </a:solidFill>
                  <a:latin typeface="微軟正黑體" panose="020B0604030504040204" pitchFamily="34" charset="-120"/>
                  <a:ea typeface="微軟正黑體" panose="020B0604030504040204" pitchFamily="34" charset="-120"/>
                </a:rPr>
                <a:t>*</a:t>
              </a:r>
              <a:r>
                <a:rPr lang="en-US" altLang="zh-TW" sz="1200" dirty="0">
                  <a:solidFill>
                    <a:schemeClr val="tx1"/>
                  </a:solidFill>
                  <a:latin typeface="微軟正黑體" panose="020B0604030504040204" pitchFamily="34" charset="-120"/>
                  <a:ea typeface="微軟正黑體" panose="020B0604030504040204" pitchFamily="34" charset="-120"/>
                </a:rPr>
                <a:t>U</a:t>
              </a:r>
              <a:r>
                <a:rPr lang="en-US" altLang="zh-TW" sz="800" dirty="0">
                  <a:solidFill>
                    <a:schemeClr val="tx1"/>
                  </a:solidFill>
                  <a:latin typeface="微軟正黑體" panose="020B0604030504040204" pitchFamily="34" charset="-120"/>
                  <a:ea typeface="微軟正黑體" panose="020B0604030504040204" pitchFamily="34" charset="-120"/>
                </a:rPr>
                <a:t>p</a:t>
              </a:r>
            </a:p>
          </p:txBody>
        </p:sp>
        <p:sp>
          <p:nvSpPr>
            <p:cNvPr id="15" name="文字方塊 14">
              <a:extLst>
                <a:ext uri="{FF2B5EF4-FFF2-40B4-BE49-F238E27FC236}">
                  <a16:creationId xmlns:a16="http://schemas.microsoft.com/office/drawing/2014/main" id="{5F011F37-1818-A942-23E9-2CC99561558F}"/>
                </a:ext>
              </a:extLst>
            </p:cNvPr>
            <p:cNvSpPr txBox="1"/>
            <p:nvPr/>
          </p:nvSpPr>
          <p:spPr>
            <a:xfrm>
              <a:off x="4860032" y="4549794"/>
              <a:ext cx="104240" cy="235664"/>
            </a:xfrm>
            <a:prstGeom prst="rect">
              <a:avLst/>
            </a:prstGeom>
            <a:noFill/>
          </p:spPr>
          <p:txBody>
            <a:bodyPr wrap="none" lIns="0" tIns="0" rIns="0" bIns="0" rtlCol="0" anchor="ctr" anchorCtr="1">
              <a:noAutofit/>
            </a:bodyPr>
            <a:lstStyle/>
            <a:p>
              <a:pPr algn="ctr"/>
              <a:r>
                <a:rPr lang="en-US" altLang="zh-TW" sz="1200" dirty="0"/>
                <a:t>Ꙩ</a:t>
              </a:r>
              <a:endParaRPr lang="zh-TW" altLang="en-US" sz="1200" dirty="0"/>
            </a:p>
          </p:txBody>
        </p:sp>
        <p:sp>
          <p:nvSpPr>
            <p:cNvPr id="16" name="矩形 15">
              <a:extLst>
                <a:ext uri="{FF2B5EF4-FFF2-40B4-BE49-F238E27FC236}">
                  <a16:creationId xmlns:a16="http://schemas.microsoft.com/office/drawing/2014/main" id="{D44FF357-8C9E-D367-0E4C-3FAE9662A658}"/>
                </a:ext>
              </a:extLst>
            </p:cNvPr>
            <p:cNvSpPr/>
            <p:nvPr/>
          </p:nvSpPr>
          <p:spPr>
            <a:xfrm>
              <a:off x="6305296" y="4170428"/>
              <a:ext cx="354936" cy="842748"/>
            </a:xfrm>
            <a:prstGeom prst="rect">
              <a:avLst/>
            </a:prstGeom>
            <a:noFill/>
            <a:ln w="19050">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D</a:t>
              </a:r>
              <a:r>
                <a:rPr lang="en-US" altLang="zh-TW" sz="800" dirty="0">
                  <a:solidFill>
                    <a:schemeClr val="tx1"/>
                  </a:solidFill>
                  <a:latin typeface="微軟正黑體" panose="020B0604030504040204" pitchFamily="34" charset="-120"/>
                  <a:ea typeface="微軟正黑體" panose="020B0604030504040204" pitchFamily="34" charset="-120"/>
                </a:rPr>
                <a:t>own</a:t>
              </a:r>
            </a:p>
          </p:txBody>
        </p:sp>
        <p:sp>
          <p:nvSpPr>
            <p:cNvPr id="17" name="左右中括弧 16">
              <a:extLst>
                <a:ext uri="{FF2B5EF4-FFF2-40B4-BE49-F238E27FC236}">
                  <a16:creationId xmlns:a16="http://schemas.microsoft.com/office/drawing/2014/main" id="{6A12358E-68A9-8144-3B6E-BD6CE0D422A8}"/>
                </a:ext>
              </a:extLst>
            </p:cNvPr>
            <p:cNvSpPr/>
            <p:nvPr/>
          </p:nvSpPr>
          <p:spPr>
            <a:xfrm>
              <a:off x="3610481" y="4365104"/>
              <a:ext cx="2473687" cy="517667"/>
            </a:xfrm>
            <a:prstGeom prst="bracketPair">
              <a:avLst/>
            </a:prstGeom>
          </p:spPr>
          <p:style>
            <a:lnRef idx="1">
              <a:schemeClr val="accent1"/>
            </a:lnRef>
            <a:fillRef idx="0">
              <a:schemeClr val="accent1"/>
            </a:fillRef>
            <a:effectRef idx="0">
              <a:schemeClr val="accent1"/>
            </a:effectRef>
            <a:fontRef idx="minor">
              <a:schemeClr val="tx1"/>
            </a:fontRef>
          </p:style>
          <p:txBody>
            <a:bodyPr wrap="none" lIns="0" tIns="0" rIns="0" bIns="0" rtlCol="0" anchor="ctr" anchorCtr="1">
              <a:noAutofit/>
            </a:bodyPr>
            <a:lstStyle/>
            <a:p>
              <a:pPr algn="ctr"/>
              <a:endParaRPr lang="zh-TW" altLang="en-US" sz="1200"/>
            </a:p>
          </p:txBody>
        </p:sp>
        <p:sp>
          <p:nvSpPr>
            <p:cNvPr id="20" name="文字方塊 19">
              <a:extLst>
                <a:ext uri="{FF2B5EF4-FFF2-40B4-BE49-F238E27FC236}">
                  <a16:creationId xmlns:a16="http://schemas.microsoft.com/office/drawing/2014/main" id="{916A0708-2F84-32BF-2EDA-897BD4737441}"/>
                </a:ext>
              </a:extLst>
            </p:cNvPr>
            <p:cNvSpPr txBox="1"/>
            <p:nvPr/>
          </p:nvSpPr>
          <p:spPr>
            <a:xfrm>
              <a:off x="6129895" y="4477784"/>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grpSp>
      <p:sp>
        <p:nvSpPr>
          <p:cNvPr id="21" name="矩形 20">
            <a:extLst>
              <a:ext uri="{FF2B5EF4-FFF2-40B4-BE49-F238E27FC236}">
                <a16:creationId xmlns:a16="http://schemas.microsoft.com/office/drawing/2014/main" id="{47ED10C2-9F56-2A97-6D9F-EA161EE290B4}"/>
              </a:ext>
            </a:extLst>
          </p:cNvPr>
          <p:cNvSpPr/>
          <p:nvPr/>
        </p:nvSpPr>
        <p:spPr>
          <a:xfrm>
            <a:off x="2162163" y="3521451"/>
            <a:ext cx="306835"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p>
        </p:txBody>
      </p:sp>
      <p:sp>
        <p:nvSpPr>
          <p:cNvPr id="23" name="文字方塊 22">
            <a:extLst>
              <a:ext uri="{FF2B5EF4-FFF2-40B4-BE49-F238E27FC236}">
                <a16:creationId xmlns:a16="http://schemas.microsoft.com/office/drawing/2014/main" id="{B61AEF35-828B-545A-4220-B99579A27D57}"/>
              </a:ext>
            </a:extLst>
          </p:cNvPr>
          <p:cNvSpPr txBox="1"/>
          <p:nvPr/>
        </p:nvSpPr>
        <p:spPr>
          <a:xfrm>
            <a:off x="2647685" y="3640011"/>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24" name="矩形 23">
            <a:extLst>
              <a:ext uri="{FF2B5EF4-FFF2-40B4-BE49-F238E27FC236}">
                <a16:creationId xmlns:a16="http://schemas.microsoft.com/office/drawing/2014/main" id="{A7397AC1-0701-51AC-DD03-D56D5FA42671}"/>
              </a:ext>
            </a:extLst>
          </p:cNvPr>
          <p:cNvSpPr/>
          <p:nvPr/>
        </p:nvSpPr>
        <p:spPr>
          <a:xfrm>
            <a:off x="2175861" y="5061672"/>
            <a:ext cx="346902" cy="88232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b="1" dirty="0">
                <a:solidFill>
                  <a:schemeClr val="tx1"/>
                </a:solidFill>
                <a:latin typeface="微軟正黑體" panose="020B0604030504040204" pitchFamily="34" charset="-120"/>
                <a:ea typeface="微軟正黑體" panose="020B0604030504040204" pitchFamily="34" charset="-120"/>
              </a:rPr>
              <a:t>VC</a:t>
            </a:r>
            <a:endParaRPr lang="en-US" altLang="zh-TW" b="1" baseline="-25000" dirty="0">
              <a:solidFill>
                <a:schemeClr val="tx1"/>
              </a:solidFill>
              <a:latin typeface="微軟正黑體" panose="020B0604030504040204" pitchFamily="34" charset="-120"/>
              <a:ea typeface="微軟正黑體" panose="020B0604030504040204" pitchFamily="34" charset="-120"/>
            </a:endParaRPr>
          </a:p>
        </p:txBody>
      </p:sp>
      <p:sp>
        <p:nvSpPr>
          <p:cNvPr id="25" name="矩形 24">
            <a:extLst>
              <a:ext uri="{FF2B5EF4-FFF2-40B4-BE49-F238E27FC236}">
                <a16:creationId xmlns:a16="http://schemas.microsoft.com/office/drawing/2014/main" id="{99E69F22-9523-53FD-5F4C-0D14B118F6E8}"/>
              </a:ext>
            </a:extLst>
          </p:cNvPr>
          <p:cNvSpPr/>
          <p:nvPr/>
        </p:nvSpPr>
        <p:spPr>
          <a:xfrm>
            <a:off x="2751925" y="5315451"/>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26" name="文字方塊 25">
            <a:extLst>
              <a:ext uri="{FF2B5EF4-FFF2-40B4-BE49-F238E27FC236}">
                <a16:creationId xmlns:a16="http://schemas.microsoft.com/office/drawing/2014/main" id="{E6AE0F62-C614-4559-BE28-38AB4D405DC9}"/>
              </a:ext>
            </a:extLst>
          </p:cNvPr>
          <p:cNvSpPr txBox="1"/>
          <p:nvPr/>
        </p:nvSpPr>
        <p:spPr>
          <a:xfrm>
            <a:off x="2611465" y="5359453"/>
            <a:ext cx="123067" cy="278693"/>
          </a:xfrm>
          <a:prstGeom prst="rect">
            <a:avLst/>
          </a:prstGeom>
          <a:noFill/>
        </p:spPr>
        <p:txBody>
          <a:bodyPr wrap="none" lIns="0" tIns="0" rIns="0" bIns="0" rtlCol="0" anchor="ctr" anchorCtr="1">
            <a:noAutofit/>
          </a:bodyPr>
          <a:lstStyle/>
          <a:p>
            <a:pPr algn="ctr"/>
            <a:r>
              <a:rPr lang="en-US" altLang="zh-TW" sz="1000" dirty="0"/>
              <a:t>x</a:t>
            </a:r>
            <a:endParaRPr lang="zh-TW" altLang="en-US" sz="1000" dirty="0"/>
          </a:p>
        </p:txBody>
      </p:sp>
      <p:cxnSp>
        <p:nvCxnSpPr>
          <p:cNvPr id="27" name="接點: 弧形 26">
            <a:extLst>
              <a:ext uri="{FF2B5EF4-FFF2-40B4-BE49-F238E27FC236}">
                <a16:creationId xmlns:a16="http://schemas.microsoft.com/office/drawing/2014/main" id="{3EDC2E05-0E41-6507-D4C1-37310A7BF654}"/>
              </a:ext>
            </a:extLst>
          </p:cNvPr>
          <p:cNvCxnSpPr>
            <a:cxnSpLocks/>
            <a:stCxn id="18" idx="2"/>
            <a:endCxn id="25" idx="0"/>
          </p:cNvCxnSpPr>
          <p:nvPr/>
        </p:nvCxnSpPr>
        <p:spPr>
          <a:xfrm>
            <a:off x="2514959" y="4600264"/>
            <a:ext cx="293577" cy="715187"/>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28" name="矩形 27">
            <a:extLst>
              <a:ext uri="{FF2B5EF4-FFF2-40B4-BE49-F238E27FC236}">
                <a16:creationId xmlns:a16="http://schemas.microsoft.com/office/drawing/2014/main" id="{DD572D28-E21B-EC18-BCC4-32209AD2D5A2}"/>
              </a:ext>
            </a:extLst>
          </p:cNvPr>
          <p:cNvSpPr/>
          <p:nvPr/>
        </p:nvSpPr>
        <p:spPr>
          <a:xfrm>
            <a:off x="3554306" y="5061672"/>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Z</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29" name="文字方塊 28">
            <a:extLst>
              <a:ext uri="{FF2B5EF4-FFF2-40B4-BE49-F238E27FC236}">
                <a16:creationId xmlns:a16="http://schemas.microsoft.com/office/drawing/2014/main" id="{4B3AD1C9-6E48-0577-1DC0-8E9700308F76}"/>
              </a:ext>
            </a:extLst>
          </p:cNvPr>
          <p:cNvSpPr txBox="1"/>
          <p:nvPr/>
        </p:nvSpPr>
        <p:spPr>
          <a:xfrm>
            <a:off x="2981350" y="5393690"/>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0" name="矩形 29">
            <a:extLst>
              <a:ext uri="{FF2B5EF4-FFF2-40B4-BE49-F238E27FC236}">
                <a16:creationId xmlns:a16="http://schemas.microsoft.com/office/drawing/2014/main" id="{3A5C3284-5E4A-6C2B-0B16-3A6B39441A74}"/>
              </a:ext>
            </a:extLst>
          </p:cNvPr>
          <p:cNvSpPr/>
          <p:nvPr/>
        </p:nvSpPr>
        <p:spPr>
          <a:xfrm>
            <a:off x="4192085" y="5061673"/>
            <a:ext cx="205731" cy="882327"/>
          </a:xfrm>
          <a:prstGeom prst="rect">
            <a:avLst/>
          </a:prstGeom>
          <a:noFill/>
          <a:ln w="25400">
            <a:solidFill>
              <a:schemeClr val="accent5">
                <a:lumMod val="75000"/>
                <a:alpha val="2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1</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a:t>
            </a:r>
          </a:p>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v</a:t>
            </a:r>
          </a:p>
        </p:txBody>
      </p:sp>
      <p:sp>
        <p:nvSpPr>
          <p:cNvPr id="31" name="文字方塊 30">
            <a:extLst>
              <a:ext uri="{FF2B5EF4-FFF2-40B4-BE49-F238E27FC236}">
                <a16:creationId xmlns:a16="http://schemas.microsoft.com/office/drawing/2014/main" id="{C937DC02-6F86-8270-4AD8-04DDA79EE401}"/>
              </a:ext>
            </a:extLst>
          </p:cNvPr>
          <p:cNvSpPr txBox="1"/>
          <p:nvPr/>
        </p:nvSpPr>
        <p:spPr>
          <a:xfrm>
            <a:off x="3944593" y="5393691"/>
            <a:ext cx="78071" cy="217983"/>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p:sp>
        <p:nvSpPr>
          <p:cNvPr id="32" name="文字方塊 31">
            <a:extLst>
              <a:ext uri="{FF2B5EF4-FFF2-40B4-BE49-F238E27FC236}">
                <a16:creationId xmlns:a16="http://schemas.microsoft.com/office/drawing/2014/main" id="{11003101-4C3B-7BEF-93A5-0602CEC6AA86}"/>
              </a:ext>
            </a:extLst>
          </p:cNvPr>
          <p:cNvSpPr txBox="1"/>
          <p:nvPr/>
        </p:nvSpPr>
        <p:spPr>
          <a:xfrm>
            <a:off x="3164923" y="5108061"/>
            <a:ext cx="274038" cy="742820"/>
          </a:xfrm>
          <a:prstGeom prst="rect">
            <a:avLst/>
          </a:prstGeom>
          <a:noFill/>
        </p:spPr>
        <p:txBody>
          <a:bodyPr wrap="none" lIns="0" tIns="0" rIns="0" bIns="0" rtlCol="0" anchor="ctr" anchorCtr="1">
            <a:noAutofit/>
          </a:bodyPr>
          <a:lstStyle/>
          <a:p>
            <a:pPr algn="ctr"/>
            <a:r>
              <a:rPr lang="en-US" altLang="zh-TW" sz="1200" dirty="0"/>
              <a:t>Soft</a:t>
            </a:r>
          </a:p>
          <a:p>
            <a:pPr algn="ctr"/>
            <a:r>
              <a:rPr lang="en-US" altLang="zh-TW" sz="1200" dirty="0"/>
              <a:t>Max</a:t>
            </a:r>
            <a:endParaRPr lang="zh-TW" altLang="en-US" sz="1200" dirty="0"/>
          </a:p>
        </p:txBody>
      </p:sp>
      <p:sp>
        <p:nvSpPr>
          <p:cNvPr id="33" name="左右中括弧 32">
            <a:extLst>
              <a:ext uri="{FF2B5EF4-FFF2-40B4-BE49-F238E27FC236}">
                <a16:creationId xmlns:a16="http://schemas.microsoft.com/office/drawing/2014/main" id="{FD6EB530-7992-AFF7-31AB-DEB32DCBB475}"/>
              </a:ext>
            </a:extLst>
          </p:cNvPr>
          <p:cNvSpPr/>
          <p:nvPr/>
        </p:nvSpPr>
        <p:spPr>
          <a:xfrm>
            <a:off x="3458011" y="506167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375EFAA5-D959-25A5-4144-958F784FCDCF}"/>
                  </a:ext>
                </a:extLst>
              </p:cNvPr>
              <p:cNvSpPr txBox="1"/>
              <p:nvPr/>
            </p:nvSpPr>
            <p:spPr>
              <a:xfrm>
                <a:off x="4651153" y="5213062"/>
                <a:ext cx="813171" cy="448264"/>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𝑃𝑖</m:t>
                      </m:r>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𝑍𝑖</m:t>
                              </m:r>
                            </m:sup>
                          </m:sSup>
                        </m:num>
                        <m:den>
                          <m:nary>
                            <m:naryPr>
                              <m:chr m:val="∑"/>
                              <m:ctrlPr>
                                <a:rPr lang="en-US" altLang="zh-TW" sz="1200" b="0" i="1" smtClean="0">
                                  <a:latin typeface="Cambria Math" panose="02040503050406030204" pitchFamily="18" charset="0"/>
                                </a:rPr>
                              </m:ctrlPr>
                            </m:naryPr>
                            <m:sub>
                              <m:r>
                                <m:rPr>
                                  <m:brk m:alnAt="23"/>
                                </m:rPr>
                                <a:rPr lang="en-US" altLang="zh-TW" sz="1200" b="0" i="1" smtClean="0">
                                  <a:latin typeface="Cambria Math" panose="02040503050406030204" pitchFamily="18" charset="0"/>
                                </a:rPr>
                                <m:t>𝑗</m:t>
                              </m:r>
                            </m:sub>
                            <m:sup>
                              <m:r>
                                <a:rPr lang="en-US" altLang="zh-TW" sz="1200" b="0" i="1" smtClean="0">
                                  <a:latin typeface="Cambria Math" panose="02040503050406030204" pitchFamily="18" charset="0"/>
                                </a:rPr>
                                <m:t>𝑉</m:t>
                              </m:r>
                            </m:sup>
                            <m:e>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𝑍𝑗</m:t>
                                  </m:r>
                                </m:sup>
                              </m:sSup>
                            </m:e>
                          </m:nary>
                        </m:den>
                      </m:f>
                    </m:oMath>
                  </m:oMathPara>
                </a14:m>
                <a:endParaRPr lang="zh-TW" altLang="en-US" sz="1200" dirty="0"/>
              </a:p>
            </p:txBody>
          </p:sp>
        </mc:Choice>
        <mc:Fallback xmlns="">
          <p:sp>
            <p:nvSpPr>
              <p:cNvPr id="34" name="文字方塊 33">
                <a:extLst>
                  <a:ext uri="{FF2B5EF4-FFF2-40B4-BE49-F238E27FC236}">
                    <a16:creationId xmlns:a16="http://schemas.microsoft.com/office/drawing/2014/main" id="{375EFAA5-D959-25A5-4144-958F784FCDCF}"/>
                  </a:ext>
                </a:extLst>
              </p:cNvPr>
              <p:cNvSpPr txBox="1">
                <a:spLocks noRot="1" noChangeAspect="1" noMove="1" noResize="1" noEditPoints="1" noAdjustHandles="1" noChangeArrowheads="1" noChangeShapeType="1" noTextEdit="1"/>
              </p:cNvSpPr>
              <p:nvPr/>
            </p:nvSpPr>
            <p:spPr>
              <a:xfrm>
                <a:off x="4651153" y="5213062"/>
                <a:ext cx="813171" cy="448264"/>
              </a:xfrm>
              <a:prstGeom prst="rect">
                <a:avLst/>
              </a:prstGeom>
              <a:blipFill>
                <a:blip r:embed="rId3"/>
                <a:stretch>
                  <a:fillRect l="-4511" t="-17568" r="-30827" b="-101351"/>
                </a:stretch>
              </a:blipFill>
            </p:spPr>
            <p:txBody>
              <a:bodyPr/>
              <a:lstStyle/>
              <a:p>
                <a:r>
                  <a:rPr lang="zh-TW" altLang="en-US">
                    <a:noFill/>
                  </a:rPr>
                  <a:t> </a:t>
                </a:r>
              </a:p>
            </p:txBody>
          </p:sp>
        </mc:Fallback>
      </mc:AlternateContent>
      <p:sp>
        <p:nvSpPr>
          <p:cNvPr id="35" name="左右中括弧 34">
            <a:extLst>
              <a:ext uri="{FF2B5EF4-FFF2-40B4-BE49-F238E27FC236}">
                <a16:creationId xmlns:a16="http://schemas.microsoft.com/office/drawing/2014/main" id="{C21B6252-6BFC-711D-27FF-00C512752E88}"/>
              </a:ext>
            </a:extLst>
          </p:cNvPr>
          <p:cNvSpPr/>
          <p:nvPr/>
        </p:nvSpPr>
        <p:spPr>
          <a:xfrm>
            <a:off x="4097072" y="5066953"/>
            <a:ext cx="411241" cy="882327"/>
          </a:xfrm>
          <a:prstGeom prst="bracketPair">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6" name="矩形 35">
            <a:extLst>
              <a:ext uri="{FF2B5EF4-FFF2-40B4-BE49-F238E27FC236}">
                <a16:creationId xmlns:a16="http://schemas.microsoft.com/office/drawing/2014/main" id="{FD40B967-E71A-372B-6291-20CBEAA6F0D4}"/>
              </a:ext>
            </a:extLst>
          </p:cNvPr>
          <p:cNvSpPr/>
          <p:nvPr/>
        </p:nvSpPr>
        <p:spPr>
          <a:xfrm>
            <a:off x="2162163" y="5627340"/>
            <a:ext cx="373738" cy="185979"/>
          </a:xfrm>
          <a:prstGeom prst="rect">
            <a:avLst/>
          </a:prstGeom>
          <a:solidFill>
            <a:schemeClr val="accent6">
              <a:lumMod val="20000"/>
              <a:lumOff val="80000"/>
              <a:alpha val="60000"/>
            </a:schemeClr>
          </a:solidFill>
          <a:ln w="9525">
            <a:solidFill>
              <a:schemeClr val="accent6">
                <a:lumMod val="75000"/>
                <a:alpha val="60000"/>
              </a:schemeClr>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accent6">
                    <a:lumMod val="75000"/>
                  </a:schemeClr>
                </a:solidFill>
                <a:latin typeface="微軟正黑體" panose="020B0604030504040204" pitchFamily="34" charset="-120"/>
                <a:ea typeface="微軟正黑體" panose="020B0604030504040204" pitchFamily="34" charset="-120"/>
              </a:rPr>
              <a:t>max</a:t>
            </a:r>
          </a:p>
        </p:txBody>
      </p:sp>
      <mc:AlternateContent xmlns:mc="http://schemas.openxmlformats.org/markup-compatibility/2006" xmlns:a14="http://schemas.microsoft.com/office/drawing/2010/main">
        <mc:Choice Requires="a14">
          <p:sp>
            <p:nvSpPr>
              <p:cNvPr id="37" name="文字方塊 36">
                <a:extLst>
                  <a:ext uri="{FF2B5EF4-FFF2-40B4-BE49-F238E27FC236}">
                    <a16:creationId xmlns:a16="http://schemas.microsoft.com/office/drawing/2014/main" id="{8F02FD58-9203-490D-77BE-B66DD332BA3E}"/>
                  </a:ext>
                </a:extLst>
              </p:cNvPr>
              <p:cNvSpPr txBox="1"/>
              <p:nvPr/>
            </p:nvSpPr>
            <p:spPr>
              <a:xfrm>
                <a:off x="2856528" y="3989165"/>
                <a:ext cx="1547924" cy="322332"/>
              </a:xfrm>
              <a:prstGeom prst="rect">
                <a:avLst/>
              </a:prstGeom>
              <a:noFill/>
            </p:spPr>
            <p:txBody>
              <a:bodyPr wrap="none" lIns="0" tIns="0" rIns="0" bIns="0" rtlCol="0">
                <a:spAutoFit/>
              </a:bodyPr>
              <a:lstStyle/>
              <a:p>
                <a:pPr/>
                <a14:m>
                  <m:oMathPara xmlns:m="http://schemas.openxmlformats.org/officeDocument/2006/math">
                    <m:oMathParaPr>
                      <m:jc m:val="centerGroup"/>
                    </m:oMathParaPr>
                    <m:oMath xmlns:m="http://schemas.openxmlformats.org/officeDocument/2006/math">
                      <m:r>
                        <a:rPr lang="en-US" altLang="zh-TW" sz="1200" b="0" i="1" smtClean="0">
                          <a:latin typeface="Cambria Math" panose="02040503050406030204" pitchFamily="18" charset="0"/>
                        </a:rPr>
                        <m:t>𝑠𝑤𝑖𝑠h</m:t>
                      </m:r>
                      <m:d>
                        <m:dPr>
                          <m:ctrlPr>
                            <a:rPr lang="en-US" altLang="zh-TW" sz="1200" b="0" i="1" smtClean="0">
                              <a:latin typeface="Cambria Math" panose="02040503050406030204" pitchFamily="18" charset="0"/>
                            </a:rPr>
                          </m:ctrlPr>
                        </m:dPr>
                        <m:e>
                          <m:r>
                            <m:rPr>
                              <m:sty m:val="p"/>
                            </m:rPr>
                            <a:rPr lang="el-GR" altLang="zh-TW" sz="1200" b="0" i="1" smtClean="0">
                              <a:latin typeface="Cambria Math" panose="02040503050406030204" pitchFamily="18" charset="0"/>
                            </a:rPr>
                            <m:t>β</m:t>
                          </m:r>
                          <m:r>
                            <a:rPr lang="en-US" altLang="zh-TW" sz="1200" i="1">
                              <a:latin typeface="Cambria Math" panose="02040503050406030204" pitchFamily="18" charset="0"/>
                            </a:rPr>
                            <m:t>,</m:t>
                          </m:r>
                          <m:r>
                            <a:rPr lang="en-US" altLang="zh-TW" sz="1200" b="0" i="1" smtClean="0">
                              <a:latin typeface="Cambria Math" panose="02040503050406030204" pitchFamily="18" charset="0"/>
                            </a:rPr>
                            <m:t>𝑧</m:t>
                          </m:r>
                        </m:e>
                      </m:d>
                      <m:r>
                        <a:rPr lang="en-US" altLang="zh-TW" sz="1200" b="0" i="1"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1" smtClean="0">
                              <a:latin typeface="Cambria Math" panose="02040503050406030204" pitchFamily="18" charset="0"/>
                            </a:rPr>
                            <m:t>𝑧</m:t>
                          </m:r>
                        </m:num>
                        <m:den>
                          <m:r>
                            <a:rPr lang="en-US" altLang="zh-TW" sz="1200" b="0" i="1" smtClean="0">
                              <a:latin typeface="Cambria Math" panose="02040503050406030204" pitchFamily="18" charset="0"/>
                            </a:rPr>
                            <m:t>1+</m:t>
                          </m:r>
                          <m:sSup>
                            <m:sSupPr>
                              <m:ctrlPr>
                                <a:rPr lang="en-US" altLang="zh-TW" sz="1200" b="0" i="1" smtClean="0">
                                  <a:latin typeface="Cambria Math" panose="02040503050406030204" pitchFamily="18" charset="0"/>
                                </a:rPr>
                              </m:ctrlPr>
                            </m:sSupPr>
                            <m:e>
                              <m:r>
                                <a:rPr lang="en-US" altLang="zh-TW" sz="1200" b="0" i="1" smtClean="0">
                                  <a:latin typeface="Cambria Math" panose="02040503050406030204" pitchFamily="18" charset="0"/>
                                </a:rPr>
                                <m:t>𝑒</m:t>
                              </m:r>
                            </m:e>
                            <m:sup>
                              <m:r>
                                <a:rPr lang="en-US" altLang="zh-TW" sz="1200" b="0" i="1" smtClean="0">
                                  <a:latin typeface="Cambria Math" panose="02040503050406030204" pitchFamily="18" charset="0"/>
                                </a:rPr>
                                <m:t>−</m:t>
                              </m:r>
                              <m:r>
                                <m:rPr>
                                  <m:sty m:val="p"/>
                                </m:rPr>
                                <a:rPr lang="el-GR" altLang="zh-TW" sz="1200" i="1">
                                  <a:latin typeface="Cambria Math" panose="02040503050406030204" pitchFamily="18" charset="0"/>
                                </a:rPr>
                                <m:t>β</m:t>
                              </m:r>
                              <m:r>
                                <a:rPr lang="en-US" altLang="zh-TW" sz="1200" b="0" i="1" smtClean="0">
                                  <a:latin typeface="Cambria Math" panose="02040503050406030204" pitchFamily="18" charset="0"/>
                                </a:rPr>
                                <m:t>𝑧</m:t>
                              </m:r>
                            </m:sup>
                          </m:sSup>
                        </m:den>
                      </m:f>
                    </m:oMath>
                  </m:oMathPara>
                </a14:m>
                <a:endParaRPr lang="zh-TW" altLang="en-US" sz="1200" dirty="0"/>
              </a:p>
            </p:txBody>
          </p:sp>
        </mc:Choice>
        <mc:Fallback xmlns="">
          <p:sp>
            <p:nvSpPr>
              <p:cNvPr id="37" name="文字方塊 36">
                <a:extLst>
                  <a:ext uri="{FF2B5EF4-FFF2-40B4-BE49-F238E27FC236}">
                    <a16:creationId xmlns:a16="http://schemas.microsoft.com/office/drawing/2014/main" id="{8F02FD58-9203-490D-77BE-B66DD332BA3E}"/>
                  </a:ext>
                </a:extLst>
              </p:cNvPr>
              <p:cNvSpPr txBox="1">
                <a:spLocks noRot="1" noChangeAspect="1" noMove="1" noResize="1" noEditPoints="1" noAdjustHandles="1" noChangeArrowheads="1" noChangeShapeType="1" noTextEdit="1"/>
              </p:cNvSpPr>
              <p:nvPr/>
            </p:nvSpPr>
            <p:spPr>
              <a:xfrm>
                <a:off x="2856528" y="3989165"/>
                <a:ext cx="1547924" cy="322332"/>
              </a:xfrm>
              <a:prstGeom prst="rect">
                <a:avLst/>
              </a:prstGeom>
              <a:blipFill>
                <a:blip r:embed="rId4"/>
                <a:stretch>
                  <a:fillRect l="-2362" b="-16981"/>
                </a:stretch>
              </a:blipFill>
            </p:spPr>
            <p:txBody>
              <a:bodyPr/>
              <a:lstStyle/>
              <a:p>
                <a:r>
                  <a:rPr lang="zh-TW" altLang="en-US">
                    <a:noFill/>
                  </a:rPr>
                  <a:t> </a:t>
                </a:r>
              </a:p>
            </p:txBody>
          </p:sp>
        </mc:Fallback>
      </mc:AlternateContent>
      <p:sp>
        <p:nvSpPr>
          <p:cNvPr id="10" name="矩形 9">
            <a:extLst>
              <a:ext uri="{FF2B5EF4-FFF2-40B4-BE49-F238E27FC236}">
                <a16:creationId xmlns:a16="http://schemas.microsoft.com/office/drawing/2014/main" id="{AEA97777-5F60-72F7-9D59-5664DF27C842}"/>
              </a:ext>
            </a:extLst>
          </p:cNvPr>
          <p:cNvSpPr/>
          <p:nvPr/>
        </p:nvSpPr>
        <p:spPr>
          <a:xfrm>
            <a:off x="1979712" y="2344206"/>
            <a:ext cx="3995091" cy="2559572"/>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91440" tIns="91440" rIns="0" bIns="0" rtlCol="0" anchor="t" anchorCtr="0">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4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FFN(X)</a:t>
            </a:r>
          </a:p>
        </p:txBody>
      </p:sp>
      <p:grpSp>
        <p:nvGrpSpPr>
          <p:cNvPr id="97" name="群組 96">
            <a:extLst>
              <a:ext uri="{FF2B5EF4-FFF2-40B4-BE49-F238E27FC236}">
                <a16:creationId xmlns:a16="http://schemas.microsoft.com/office/drawing/2014/main" id="{2D72C439-F480-7006-4395-9CA65DFE8201}"/>
              </a:ext>
            </a:extLst>
          </p:cNvPr>
          <p:cNvGrpSpPr/>
          <p:nvPr/>
        </p:nvGrpSpPr>
        <p:grpSpPr>
          <a:xfrm>
            <a:off x="251520" y="3031863"/>
            <a:ext cx="1406400" cy="1477257"/>
            <a:chOff x="1907704" y="548682"/>
            <a:chExt cx="1406400" cy="1477257"/>
          </a:xfrm>
        </p:grpSpPr>
        <p:sp>
          <p:nvSpPr>
            <p:cNvPr id="88" name="矩形 87">
              <a:extLst>
                <a:ext uri="{FF2B5EF4-FFF2-40B4-BE49-F238E27FC236}">
                  <a16:creationId xmlns:a16="http://schemas.microsoft.com/office/drawing/2014/main" id="{6D47A4D7-3AAE-548A-B215-112D8959A04A}"/>
                </a:ext>
              </a:extLst>
            </p:cNvPr>
            <p:cNvSpPr/>
            <p:nvPr/>
          </p:nvSpPr>
          <p:spPr>
            <a:xfrm>
              <a:off x="2230974" y="872832"/>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9" name="矩形 88">
              <a:extLst>
                <a:ext uri="{FF2B5EF4-FFF2-40B4-BE49-F238E27FC236}">
                  <a16:creationId xmlns:a16="http://schemas.microsoft.com/office/drawing/2014/main" id="{5A9FE36E-9F3C-D719-A11A-9AF67D240D0A}"/>
                </a:ext>
              </a:extLst>
            </p:cNvPr>
            <p:cNvSpPr/>
            <p:nvPr/>
          </p:nvSpPr>
          <p:spPr>
            <a:xfrm>
              <a:off x="2230974" y="859364"/>
              <a:ext cx="1083130" cy="412950"/>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System Prompt</a:t>
              </a:r>
            </a:p>
          </p:txBody>
        </p:sp>
        <p:sp>
          <p:nvSpPr>
            <p:cNvPr id="90" name="矩形 89">
              <a:extLst>
                <a:ext uri="{FF2B5EF4-FFF2-40B4-BE49-F238E27FC236}">
                  <a16:creationId xmlns:a16="http://schemas.microsoft.com/office/drawing/2014/main" id="{F9148EBB-AB20-B55F-FFB6-6EC6E59E140D}"/>
                </a:ext>
              </a:extLst>
            </p:cNvPr>
            <p:cNvSpPr/>
            <p:nvPr/>
          </p:nvSpPr>
          <p:spPr>
            <a:xfrm>
              <a:off x="2230974" y="1272315"/>
              <a:ext cx="1083130" cy="240025"/>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Historical Chat</a:t>
              </a:r>
            </a:p>
          </p:txBody>
        </p:sp>
        <p:sp>
          <p:nvSpPr>
            <p:cNvPr id="91" name="矩形 90">
              <a:extLst>
                <a:ext uri="{FF2B5EF4-FFF2-40B4-BE49-F238E27FC236}">
                  <a16:creationId xmlns:a16="http://schemas.microsoft.com/office/drawing/2014/main" id="{4D8F02BE-DCD2-0446-3A26-48B3DB41C014}"/>
                </a:ext>
              </a:extLst>
            </p:cNvPr>
            <p:cNvSpPr/>
            <p:nvPr/>
          </p:nvSpPr>
          <p:spPr>
            <a:xfrm>
              <a:off x="2230974" y="1512340"/>
              <a:ext cx="1083130" cy="216023"/>
            </a:xfrm>
            <a:prstGeom prst="rect">
              <a:avLst/>
            </a:prstGeom>
            <a:noFill/>
            <a:ln w="9525">
              <a:solidFill>
                <a:schemeClr val="accent5">
                  <a:lumMod val="50000"/>
                </a:schemeClr>
              </a:solidFill>
              <a:prstDash val="sysDo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dirty="0">
                  <a:solidFill>
                    <a:schemeClr val="tx1"/>
                  </a:solidFill>
                  <a:latin typeface="微軟正黑體" panose="020B0604030504040204" pitchFamily="34" charset="-120"/>
                  <a:ea typeface="微軟正黑體" panose="020B0604030504040204" pitchFamily="34" charset="-120"/>
                </a:rPr>
                <a:t>User Input Data</a:t>
              </a:r>
            </a:p>
          </p:txBody>
        </p:sp>
        <p:sp>
          <p:nvSpPr>
            <p:cNvPr id="92" name="矩形 91">
              <a:extLst>
                <a:ext uri="{FF2B5EF4-FFF2-40B4-BE49-F238E27FC236}">
                  <a16:creationId xmlns:a16="http://schemas.microsoft.com/office/drawing/2014/main" id="{08D00F58-3A7D-2E42-D9FA-7926C5EDC7C7}"/>
                </a:ext>
              </a:extLst>
            </p:cNvPr>
            <p:cNvSpPr/>
            <p:nvPr/>
          </p:nvSpPr>
          <p:spPr>
            <a:xfrm>
              <a:off x="2230974" y="1809915"/>
              <a:ext cx="1083130" cy="177826"/>
            </a:xfrm>
            <a:prstGeom prst="rect">
              <a:avLst/>
            </a:prstGeom>
            <a:noFill/>
            <a:ln w="9525">
              <a:solidFill>
                <a:srgbClr val="FF0000"/>
              </a:solidFill>
              <a:prstDash val="dash"/>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400" dirty="0">
                  <a:solidFill>
                    <a:schemeClr val="accent2"/>
                  </a:solidFill>
                  <a:latin typeface="微軟正黑體" panose="020B0604030504040204" pitchFamily="34" charset="-120"/>
                  <a:ea typeface="微軟正黑體" panose="020B0604030504040204" pitchFamily="34" charset="-120"/>
                </a:rPr>
                <a:t>new</a:t>
              </a:r>
            </a:p>
          </p:txBody>
        </p:sp>
        <p:sp>
          <p:nvSpPr>
            <p:cNvPr id="93" name="右中括弧 92">
              <a:extLst>
                <a:ext uri="{FF2B5EF4-FFF2-40B4-BE49-F238E27FC236}">
                  <a16:creationId xmlns:a16="http://schemas.microsoft.com/office/drawing/2014/main" id="{726D4F6F-AD22-CDAC-8E4E-73A042283B0F}"/>
                </a:ext>
              </a:extLst>
            </p:cNvPr>
            <p:cNvSpPr/>
            <p:nvPr/>
          </p:nvSpPr>
          <p:spPr>
            <a:xfrm flipH="1">
              <a:off x="2073700" y="872624"/>
              <a:ext cx="50028" cy="1116216"/>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94" name="文字方塊 93">
              <a:extLst>
                <a:ext uri="{FF2B5EF4-FFF2-40B4-BE49-F238E27FC236}">
                  <a16:creationId xmlns:a16="http://schemas.microsoft.com/office/drawing/2014/main" id="{32886A3A-07CE-363A-C75B-60B16833F7C6}"/>
                </a:ext>
              </a:extLst>
            </p:cNvPr>
            <p:cNvSpPr txBox="1"/>
            <p:nvPr/>
          </p:nvSpPr>
          <p:spPr>
            <a:xfrm>
              <a:off x="1907704" y="1213079"/>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95" name="矩形 94">
              <a:extLst>
                <a:ext uri="{FF2B5EF4-FFF2-40B4-BE49-F238E27FC236}">
                  <a16:creationId xmlns:a16="http://schemas.microsoft.com/office/drawing/2014/main" id="{99A03B84-596F-F60C-204F-5B4D1275788B}"/>
                </a:ext>
              </a:extLst>
            </p:cNvPr>
            <p:cNvSpPr/>
            <p:nvPr/>
          </p:nvSpPr>
          <p:spPr>
            <a:xfrm>
              <a:off x="2699792" y="548682"/>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d</a:t>
              </a:r>
            </a:p>
          </p:txBody>
        </p:sp>
        <p:sp>
          <p:nvSpPr>
            <p:cNvPr id="96" name="右中括弧 95">
              <a:extLst>
                <a:ext uri="{FF2B5EF4-FFF2-40B4-BE49-F238E27FC236}">
                  <a16:creationId xmlns:a16="http://schemas.microsoft.com/office/drawing/2014/main" id="{ACD60F43-426B-744C-94D7-9C69E9678CB5}"/>
                </a:ext>
              </a:extLst>
            </p:cNvPr>
            <p:cNvSpPr/>
            <p:nvPr/>
          </p:nvSpPr>
          <p:spPr>
            <a:xfrm rot="16200000">
              <a:off x="2723018" y="204090"/>
              <a:ext cx="90950" cy="1068162"/>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grpSp>
      <p:cxnSp>
        <p:nvCxnSpPr>
          <p:cNvPr id="106" name="接點: 弧形 105">
            <a:extLst>
              <a:ext uri="{FF2B5EF4-FFF2-40B4-BE49-F238E27FC236}">
                <a16:creationId xmlns:a16="http://schemas.microsoft.com/office/drawing/2014/main" id="{04B9222C-170D-2E86-2883-9BB5DC9B9A6C}"/>
              </a:ext>
            </a:extLst>
          </p:cNvPr>
          <p:cNvCxnSpPr>
            <a:cxnSpLocks/>
            <a:stCxn id="71" idx="2"/>
            <a:endCxn id="3" idx="0"/>
          </p:cNvCxnSpPr>
          <p:nvPr/>
        </p:nvCxnSpPr>
        <p:spPr>
          <a:xfrm rot="5400000">
            <a:off x="3186062" y="2563567"/>
            <a:ext cx="374145" cy="66485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sp>
        <p:nvSpPr>
          <p:cNvPr id="110" name="矩形 109">
            <a:extLst>
              <a:ext uri="{FF2B5EF4-FFF2-40B4-BE49-F238E27FC236}">
                <a16:creationId xmlns:a16="http://schemas.microsoft.com/office/drawing/2014/main" id="{2A5B34E1-0657-B7B9-69A2-3D23E49C0407}"/>
              </a:ext>
            </a:extLst>
          </p:cNvPr>
          <p:cNvSpPr/>
          <p:nvPr/>
        </p:nvSpPr>
        <p:spPr>
          <a:xfrm>
            <a:off x="2175861" y="4188901"/>
            <a:ext cx="303429" cy="482344"/>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X+S</a:t>
            </a:r>
          </a:p>
        </p:txBody>
      </p:sp>
      <p:cxnSp>
        <p:nvCxnSpPr>
          <p:cNvPr id="144" name="直線單箭頭接點 143">
            <a:extLst>
              <a:ext uri="{FF2B5EF4-FFF2-40B4-BE49-F238E27FC236}">
                <a16:creationId xmlns:a16="http://schemas.microsoft.com/office/drawing/2014/main" id="{6B2C4577-B92C-F325-0B6D-5C71D775FEF2}"/>
              </a:ext>
            </a:extLst>
          </p:cNvPr>
          <p:cNvCxnSpPr>
            <a:cxnSpLocks/>
            <a:endCxn id="36" idx="3"/>
          </p:cNvCxnSpPr>
          <p:nvPr/>
        </p:nvCxnSpPr>
        <p:spPr>
          <a:xfrm flipH="1">
            <a:off x="2535901" y="5720248"/>
            <a:ext cx="1748439" cy="82"/>
          </a:xfrm>
          <a:prstGeom prst="straightConnector1">
            <a:avLst/>
          </a:prstGeom>
          <a:ln w="25400">
            <a:solidFill>
              <a:schemeClr val="accent6"/>
            </a:solidFill>
            <a:tailEnd type="triangle"/>
          </a:ln>
        </p:spPr>
        <p:style>
          <a:lnRef idx="1">
            <a:schemeClr val="accent1"/>
          </a:lnRef>
          <a:fillRef idx="0">
            <a:schemeClr val="accent1"/>
          </a:fillRef>
          <a:effectRef idx="0">
            <a:schemeClr val="accent1"/>
          </a:effectRef>
          <a:fontRef idx="minor">
            <a:schemeClr val="tx1"/>
          </a:fontRef>
        </p:style>
      </p:cxnSp>
      <p:cxnSp>
        <p:nvCxnSpPr>
          <p:cNvPr id="51" name="接點: 弧形 50">
            <a:extLst>
              <a:ext uri="{FF2B5EF4-FFF2-40B4-BE49-F238E27FC236}">
                <a16:creationId xmlns:a16="http://schemas.microsoft.com/office/drawing/2014/main" id="{08C12969-1CAA-7C8C-1A80-A12CB3FB3E18}"/>
              </a:ext>
            </a:extLst>
          </p:cNvPr>
          <p:cNvCxnSpPr>
            <a:cxnSpLocks/>
            <a:stCxn id="71" idx="2"/>
            <a:endCxn id="9" idx="0"/>
          </p:cNvCxnSpPr>
          <p:nvPr/>
        </p:nvCxnSpPr>
        <p:spPr>
          <a:xfrm rot="16200000" flipH="1">
            <a:off x="3841107" y="2573372"/>
            <a:ext cx="374145" cy="645240"/>
          </a:xfrm>
          <a:prstGeom prst="curvedConnector3">
            <a:avLst>
              <a:gd name="adj1" fmla="val 50000"/>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73" name="接點: 弧形 72">
            <a:extLst>
              <a:ext uri="{FF2B5EF4-FFF2-40B4-BE49-F238E27FC236}">
                <a16:creationId xmlns:a16="http://schemas.microsoft.com/office/drawing/2014/main" id="{50052D83-62A8-C7A2-9CC8-F8763979B5DE}"/>
              </a:ext>
            </a:extLst>
          </p:cNvPr>
          <p:cNvCxnSpPr>
            <a:cxnSpLocks/>
            <a:stCxn id="36" idx="1"/>
            <a:endCxn id="88" idx="2"/>
          </p:cNvCxnSpPr>
          <p:nvPr/>
        </p:nvCxnSpPr>
        <p:spPr>
          <a:xfrm rot="10800000">
            <a:off x="1116355" y="4509120"/>
            <a:ext cx="1045808" cy="1211210"/>
          </a:xfrm>
          <a:prstGeom prst="curvedConnector2">
            <a:avLst/>
          </a:prstGeom>
          <a:ln>
            <a:solidFill>
              <a:srgbClr val="C00000"/>
            </a:solidFill>
            <a:tailEnd type="triangle"/>
          </a:ln>
        </p:spPr>
        <p:style>
          <a:lnRef idx="1">
            <a:schemeClr val="accent1"/>
          </a:lnRef>
          <a:fillRef idx="0">
            <a:schemeClr val="accent1"/>
          </a:fillRef>
          <a:effectRef idx="0">
            <a:schemeClr val="accent1"/>
          </a:effectRef>
          <a:fontRef idx="minor">
            <a:schemeClr val="tx1"/>
          </a:fontRef>
        </p:style>
      </p:cxnSp>
      <p:sp>
        <p:nvSpPr>
          <p:cNvPr id="56" name="文字方塊 55">
            <a:extLst>
              <a:ext uri="{FF2B5EF4-FFF2-40B4-BE49-F238E27FC236}">
                <a16:creationId xmlns:a16="http://schemas.microsoft.com/office/drawing/2014/main" id="{C8FE1119-F9FF-D03A-C39E-26169689D227}"/>
              </a:ext>
            </a:extLst>
          </p:cNvPr>
          <p:cNvSpPr txBox="1"/>
          <p:nvPr/>
        </p:nvSpPr>
        <p:spPr>
          <a:xfrm>
            <a:off x="7452320" y="2965723"/>
            <a:ext cx="104240" cy="235664"/>
          </a:xfrm>
          <a:prstGeom prst="rect">
            <a:avLst/>
          </a:prstGeom>
          <a:noFill/>
        </p:spPr>
        <p:txBody>
          <a:bodyPr wrap="none" lIns="0" tIns="0" rIns="0" bIns="0" rtlCol="0" anchor="ctr" anchorCtr="1">
            <a:noAutofit/>
          </a:bodyPr>
          <a:lstStyle/>
          <a:p>
            <a:pPr algn="ctr"/>
            <a:r>
              <a:rPr lang="en-US" altLang="zh-TW" sz="1200" dirty="0"/>
              <a:t>x</a:t>
            </a:r>
            <a:endParaRPr lang="zh-TW" altLang="en-US" sz="1200" dirty="0"/>
          </a:p>
        </p:txBody>
      </p:sp>
      <p:sp>
        <p:nvSpPr>
          <p:cNvPr id="62" name="矩形 61">
            <a:extLst>
              <a:ext uri="{FF2B5EF4-FFF2-40B4-BE49-F238E27FC236}">
                <a16:creationId xmlns:a16="http://schemas.microsoft.com/office/drawing/2014/main" id="{9580A3F7-0ABE-23F3-CAEE-86771B6B7544}"/>
              </a:ext>
            </a:extLst>
          </p:cNvPr>
          <p:cNvSpPr/>
          <p:nvPr/>
        </p:nvSpPr>
        <p:spPr>
          <a:xfrm>
            <a:off x="8157374" y="2841347"/>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63" name="文字方塊 62">
            <a:extLst>
              <a:ext uri="{FF2B5EF4-FFF2-40B4-BE49-F238E27FC236}">
                <a16:creationId xmlns:a16="http://schemas.microsoft.com/office/drawing/2014/main" id="{75A82EF4-F2F9-36DE-FC76-7FE442CF997F}"/>
              </a:ext>
            </a:extLst>
          </p:cNvPr>
          <p:cNvSpPr txBox="1"/>
          <p:nvPr/>
        </p:nvSpPr>
        <p:spPr>
          <a:xfrm>
            <a:off x="7924144" y="2999199"/>
            <a:ext cx="104240" cy="235664"/>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a:t>
            </a:r>
            <a:endParaRPr lang="zh-TW" altLang="en-US" sz="1200" dirty="0"/>
          </a:p>
        </p:txBody>
      </p:sp>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41E5E743-24FA-D667-C359-D4D00392854D}"/>
                  </a:ext>
                </a:extLst>
              </p:cNvPr>
              <p:cNvSpPr txBox="1"/>
              <p:nvPr/>
            </p:nvSpPr>
            <p:spPr>
              <a:xfrm>
                <a:off x="5301677" y="286258"/>
                <a:ext cx="3566405" cy="1518364"/>
              </a:xfrm>
              <a:prstGeom prst="rect">
                <a:avLst/>
              </a:prstGeom>
              <a:noFill/>
            </p:spPr>
            <p:txBody>
              <a:bodyPr wrap="none" lIns="0" tIns="0" rIns="0" bIns="0" anchor="ctr" anchorCtr="1">
                <a:noAutofit/>
              </a:bodyPr>
              <a:lstStyle/>
              <a:p>
                <a:pPr/>
                <a14:m>
                  <m:oMathPara xmlns:m="http://schemas.openxmlformats.org/officeDocument/2006/math">
                    <m:oMathParaPr>
                      <m:jc m:val="left"/>
                    </m:oMathParaPr>
                    <m:oMath xmlns:m="http://schemas.openxmlformats.org/officeDocument/2006/math">
                      <m:sSub>
                        <m:sSubPr>
                          <m:ctrlPr>
                            <a:rPr lang="en-US" altLang="zh-TW" sz="1200" i="1" smtClean="0">
                              <a:solidFill>
                                <a:prstClr val="black"/>
                              </a:solidFill>
                              <a:latin typeface="Cambria Math" panose="02040503050406030204" pitchFamily="18" charset="0"/>
                              <a:ea typeface="Cambria Math" panose="02040503050406030204" pitchFamily="18" charset="0"/>
                            </a:rPr>
                          </m:ctrlPr>
                        </m:sSubPr>
                        <m:e>
                          <m:r>
                            <a:rPr lang="en-US" altLang="zh-TW" sz="1200" b="0" i="1" smtClean="0">
                              <a:solidFill>
                                <a:prstClr val="black"/>
                              </a:solidFill>
                              <a:latin typeface="Cambria Math" panose="02040503050406030204" pitchFamily="18" charset="0"/>
                              <a:ea typeface="Cambria Math" panose="02040503050406030204" pitchFamily="18" charset="0"/>
                            </a:rPr>
                            <m:t>𝑃</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eqArrPr>
                            <m:e>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𝟖𝟏</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kumimoji="0" lang="az-Cyrl-AZ" altLang="zh-TW" sz="1200" b="0" i="1" u="none" strike="noStrike" kern="1200" cap="none" spc="0" normalizeH="0" baseline="0" noProof="0" smtClean="0">
                                  <a:ln>
                                    <a:noFill/>
                                  </a:ln>
                                  <a:solidFill>
                                    <a:prstClr val="black"/>
                                  </a:solidFill>
                                  <a:effectLst/>
                                  <a:uLnTx/>
                                  <a:uFillTx/>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𝟎</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m:t>
                              </m:r>
                              <m:r>
                                <a:rPr kumimoji="0" lang="en-US" altLang="zh-TW" sz="1200" b="1" i="1" u="none" strike="noStrike" kern="1200" cap="none" spc="0" normalizeH="0" baseline="0" noProof="0" smtClean="0">
                                  <a:ln>
                                    <a:noFill/>
                                  </a:ln>
                                  <a:solidFill>
                                    <a:prstClr val="black"/>
                                  </a:solidFill>
                                  <a:effectLst/>
                                  <a:uLnTx/>
                                  <a:uFillTx/>
                                  <a:latin typeface="Cambria Math" panose="02040503050406030204" pitchFamily="18" charset="0"/>
                                  <a:cs typeface="+mn-cs"/>
                                </a:rPr>
                                <m:t>𝟏𝟗</m:t>
                              </m:r>
                              <m:r>
                                <a:rPr lang="zh-TW" altLang="en-US" sz="1200" b="1" i="1">
                                  <a:solidFill>
                                    <a:prstClr val="black"/>
                                  </a:solidFill>
                                  <a:latin typeface="Cambria Math" panose="02040503050406030204" pitchFamily="18" charset="0"/>
                                </a:rPr>
                                <m:t> </m:t>
                              </m:r>
                              <m:r>
                                <a:rPr lang="en-US" altLang="zh-TW" sz="1200" b="1"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b="0" i="1" smtClean="0">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𝟎</m:t>
                              </m:r>
                              <m:r>
                                <a:rPr lang="en-US" altLang="zh-TW" sz="1200" b="0" i="1" smtClean="0">
                                  <a:solidFill>
                                    <a:prstClr val="black"/>
                                  </a:solidFill>
                                  <a:latin typeface="Cambria Math" panose="02040503050406030204" pitchFamily="18" charset="0"/>
                                </a:rPr>
                                <m:t>2</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smtClean="0">
                                  <a:solidFill>
                                    <a:prstClr val="black"/>
                                  </a:solidFill>
                                  <a:latin typeface="Cambria Math" panose="02040503050406030204" pitchFamily="18" charset="0"/>
                                </a:rPr>
                                <m:t>𝟗𝟖</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b="0" i="1" smtClean="0">
                                  <a:solidFill>
                                    <a:prstClr val="black"/>
                                  </a:solidFill>
                                  <a:latin typeface="Cambria Math" panose="02040503050406030204" pitchFamily="18" charset="0"/>
                                </a:rPr>
                                <m:t>…</m:t>
                              </m:r>
                            </m:e>
                            <m:e>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 </m:t>
                              </m:r>
                              <m:r>
                                <a:rPr lang="en-US" altLang="zh-TW" sz="1200" i="1" smtClean="0">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en-US" altLang="zh-TW" sz="1200" i="1">
                                  <a:solidFill>
                                    <a:prstClr val="black"/>
                                  </a:solidFill>
                                  <a:latin typeface="Cambria Math" panose="02040503050406030204" pitchFamily="18" charset="0"/>
                                </a:rPr>
                                <m:t>…</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m:t>
                              </m:r>
                              <m:r>
                                <a:rPr lang="az-Cyrl-AZ" altLang="zh-TW" sz="1200" i="1" smtClean="0">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r>
                                <a:rPr lang="az-Cyrl-AZ" altLang="zh-TW" sz="1200" i="1">
                                  <a:solidFill>
                                    <a:prstClr val="black"/>
                                  </a:solidFill>
                                  <a:latin typeface="Cambria Math" panose="02040503050406030204" pitchFamily="18" charset="0"/>
                                </a:rPr>
                                <m:t>ꚙ</m:t>
                              </m:r>
                              <m:r>
                                <a:rPr lang="zh-TW" altLang="en-US" sz="1200"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𝟒</m:t>
                              </m:r>
                              <m:r>
                                <a:rPr lang="zh-TW" altLang="en-US" sz="1200" b="1" i="1">
                                  <a:solidFill>
                                    <a:prstClr val="black"/>
                                  </a:solidFill>
                                  <a:latin typeface="Cambria Math" panose="02040503050406030204" pitchFamily="18" charset="0"/>
                                </a:rPr>
                                <m:t> </m:t>
                              </m:r>
                              <m:r>
                                <a:rPr lang="en-US" altLang="zh-TW" sz="1200" b="1" i="1">
                                  <a:solidFill>
                                    <a:prstClr val="black"/>
                                  </a:solidFill>
                                  <a:latin typeface="Cambria Math" panose="02040503050406030204" pitchFamily="18" charset="0"/>
                                </a:rPr>
                                <m:t>𝟎</m:t>
                              </m:r>
                              <m:r>
                                <a:rPr lang="en-US" altLang="zh-TW" sz="1200" b="1" i="1">
                                  <a:solidFill>
                                    <a:prstClr val="black"/>
                                  </a:solidFill>
                                  <a:latin typeface="Cambria Math" panose="02040503050406030204" pitchFamily="18" charset="0"/>
                                </a:rPr>
                                <m:t>.</m:t>
                              </m:r>
                              <m:r>
                                <a:rPr lang="en-US" altLang="zh-TW" sz="1200" b="1" i="1">
                                  <a:solidFill>
                                    <a:prstClr val="black"/>
                                  </a:solidFill>
                                  <a:latin typeface="Cambria Math" panose="02040503050406030204" pitchFamily="18" charset="0"/>
                                </a:rPr>
                                <m:t>𝟔</m:t>
                              </m:r>
                            </m:e>
                            <m:e>
                              <m:r>
                                <a:rPr lang="en-US" altLang="zh-TW" sz="1200" b="0" i="1" smtClean="0">
                                  <a:solidFill>
                                    <a:prstClr val="black"/>
                                  </a:solidFill>
                                  <a:latin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65" name="文字方塊 64">
                <a:extLst>
                  <a:ext uri="{FF2B5EF4-FFF2-40B4-BE49-F238E27FC236}">
                    <a16:creationId xmlns:a16="http://schemas.microsoft.com/office/drawing/2014/main" id="{41E5E743-24FA-D667-C359-D4D00392854D}"/>
                  </a:ext>
                </a:extLst>
              </p:cNvPr>
              <p:cNvSpPr txBox="1">
                <a:spLocks noRot="1" noChangeAspect="1" noMove="1" noResize="1" noEditPoints="1" noAdjustHandles="1" noChangeArrowheads="1" noChangeShapeType="1" noTextEdit="1"/>
              </p:cNvSpPr>
              <p:nvPr/>
            </p:nvSpPr>
            <p:spPr>
              <a:xfrm>
                <a:off x="5301677" y="286258"/>
                <a:ext cx="3566405" cy="1518364"/>
              </a:xfrm>
              <a:prstGeom prst="rect">
                <a:avLst/>
              </a:prstGeom>
              <a:blipFill>
                <a:blip r:embed="rId6"/>
                <a:stretch>
                  <a:fillRect/>
                </a:stretch>
              </a:blipFill>
            </p:spPr>
            <p:txBody>
              <a:bodyPr/>
              <a:lstStyle/>
              <a:p>
                <a:r>
                  <a:rPr lang="zh-TW" altLang="en-US">
                    <a:noFill/>
                  </a:rPr>
                  <a:t> </a:t>
                </a:r>
              </a:p>
            </p:txBody>
          </p:sp>
        </mc:Fallback>
      </mc:AlternateContent>
      <p:grpSp>
        <p:nvGrpSpPr>
          <p:cNvPr id="76" name="群組 75">
            <a:extLst>
              <a:ext uri="{FF2B5EF4-FFF2-40B4-BE49-F238E27FC236}">
                <a16:creationId xmlns:a16="http://schemas.microsoft.com/office/drawing/2014/main" id="{0BE68F61-BA79-B2B7-F578-BB83B3F1361D}"/>
              </a:ext>
            </a:extLst>
          </p:cNvPr>
          <p:cNvGrpSpPr/>
          <p:nvPr/>
        </p:nvGrpSpPr>
        <p:grpSpPr>
          <a:xfrm>
            <a:off x="7596336" y="2953892"/>
            <a:ext cx="161836" cy="449370"/>
            <a:chOff x="7713529" y="3033343"/>
            <a:chExt cx="161836" cy="449370"/>
          </a:xfrm>
        </p:grpSpPr>
        <p:sp>
          <p:nvSpPr>
            <p:cNvPr id="55" name="矩形 54">
              <a:extLst>
                <a:ext uri="{FF2B5EF4-FFF2-40B4-BE49-F238E27FC236}">
                  <a16:creationId xmlns:a16="http://schemas.microsoft.com/office/drawing/2014/main" id="{1B649D75-18D1-0830-D655-A2B640FBA496}"/>
                </a:ext>
              </a:extLst>
            </p:cNvPr>
            <p:cNvSpPr/>
            <p:nvPr/>
          </p:nvSpPr>
          <p:spPr>
            <a:xfrm>
              <a:off x="7725128" y="3033343"/>
              <a:ext cx="141223" cy="289683"/>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800" dirty="0">
                  <a:solidFill>
                    <a:schemeClr val="tx1"/>
                  </a:solidFill>
                  <a:latin typeface="微軟正黑體" panose="020B0604030504040204" pitchFamily="34" charset="-120"/>
                  <a:ea typeface="微軟正黑體" panose="020B0604030504040204" pitchFamily="34" charset="-120"/>
                </a:rPr>
                <a:t>G</a:t>
              </a:r>
            </a:p>
          </p:txBody>
        </p:sp>
        <p:sp>
          <p:nvSpPr>
            <p:cNvPr id="66" name="文字方塊 65">
              <a:extLst>
                <a:ext uri="{FF2B5EF4-FFF2-40B4-BE49-F238E27FC236}">
                  <a16:creationId xmlns:a16="http://schemas.microsoft.com/office/drawing/2014/main" id="{A6C7910E-3AEA-10F8-CF1E-7C1C09535798}"/>
                </a:ext>
              </a:extLst>
            </p:cNvPr>
            <p:cNvSpPr txBox="1"/>
            <p:nvPr/>
          </p:nvSpPr>
          <p:spPr>
            <a:xfrm>
              <a:off x="7713529" y="3248112"/>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dx16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69" name="群組 68">
            <a:extLst>
              <a:ext uri="{FF2B5EF4-FFF2-40B4-BE49-F238E27FC236}">
                <a16:creationId xmlns:a16="http://schemas.microsoft.com/office/drawing/2014/main" id="{9156E076-2976-A383-243A-F090F75134A3}"/>
              </a:ext>
            </a:extLst>
          </p:cNvPr>
          <p:cNvGrpSpPr/>
          <p:nvPr/>
        </p:nvGrpSpPr>
        <p:grpSpPr>
          <a:xfrm>
            <a:off x="6957789" y="2586791"/>
            <a:ext cx="422523" cy="756009"/>
            <a:chOff x="6957789" y="2814404"/>
            <a:chExt cx="422523" cy="756009"/>
          </a:xfrm>
        </p:grpSpPr>
        <p:sp>
          <p:nvSpPr>
            <p:cNvPr id="54" name="矩形 53">
              <a:extLst>
                <a:ext uri="{FF2B5EF4-FFF2-40B4-BE49-F238E27FC236}">
                  <a16:creationId xmlns:a16="http://schemas.microsoft.com/office/drawing/2014/main" id="{2A5B317B-E1E4-CFB6-3F15-1C4EBAA0C37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67" name="文字方塊 66">
              <a:extLst>
                <a:ext uri="{FF2B5EF4-FFF2-40B4-BE49-F238E27FC236}">
                  <a16:creationId xmlns:a16="http://schemas.microsoft.com/office/drawing/2014/main" id="{769081CE-31C5-153C-5ECB-90933C843546}"/>
                </a:ext>
              </a:extLst>
            </p:cNvPr>
            <p:cNvSpPr txBox="1"/>
            <p:nvPr/>
          </p:nvSpPr>
          <p:spPr>
            <a:xfrm>
              <a:off x="7164288" y="2814404"/>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68" name="文字方塊 67">
              <a:extLst>
                <a:ext uri="{FF2B5EF4-FFF2-40B4-BE49-F238E27FC236}">
                  <a16:creationId xmlns:a16="http://schemas.microsoft.com/office/drawing/2014/main" id="{78DE7BDD-A9EA-3A7F-E609-BD27E8869B6C}"/>
                </a:ext>
              </a:extLst>
            </p:cNvPr>
            <p:cNvSpPr txBox="1"/>
            <p:nvPr/>
          </p:nvSpPr>
          <p:spPr>
            <a:xfrm>
              <a:off x="6957789" y="3140968"/>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grpSp>
        <p:nvGrpSpPr>
          <p:cNvPr id="70" name="群組 69">
            <a:extLst>
              <a:ext uri="{FF2B5EF4-FFF2-40B4-BE49-F238E27FC236}">
                <a16:creationId xmlns:a16="http://schemas.microsoft.com/office/drawing/2014/main" id="{D68BE199-0510-9EBC-9404-4038D5CF7A02}"/>
              </a:ext>
            </a:extLst>
          </p:cNvPr>
          <p:cNvGrpSpPr/>
          <p:nvPr/>
        </p:nvGrpSpPr>
        <p:grpSpPr>
          <a:xfrm>
            <a:off x="3410120" y="2058651"/>
            <a:ext cx="422523" cy="650269"/>
            <a:chOff x="6957789" y="2841156"/>
            <a:chExt cx="422523" cy="729257"/>
          </a:xfrm>
        </p:grpSpPr>
        <p:sp>
          <p:nvSpPr>
            <p:cNvPr id="71" name="矩形 70">
              <a:extLst>
                <a:ext uri="{FF2B5EF4-FFF2-40B4-BE49-F238E27FC236}">
                  <a16:creationId xmlns:a16="http://schemas.microsoft.com/office/drawing/2014/main" id="{2B825F66-2300-FFE4-5C68-5606FAEEC243}"/>
                </a:ext>
              </a:extLst>
            </p:cNvPr>
            <p:cNvSpPr/>
            <p:nvPr/>
          </p:nvSpPr>
          <p:spPr>
            <a:xfrm>
              <a:off x="7126144" y="3068960"/>
              <a:ext cx="254168"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72" name="文字方塊 71">
              <a:extLst>
                <a:ext uri="{FF2B5EF4-FFF2-40B4-BE49-F238E27FC236}">
                  <a16:creationId xmlns:a16="http://schemas.microsoft.com/office/drawing/2014/main" id="{8D5D350D-45F7-2684-0003-D57D1A46F7B6}"/>
                </a:ext>
              </a:extLst>
            </p:cNvPr>
            <p:cNvSpPr txBox="1"/>
            <p:nvPr/>
          </p:nvSpPr>
          <p:spPr>
            <a:xfrm>
              <a:off x="7199255" y="2841156"/>
              <a:ext cx="93132" cy="111417"/>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4" name="文字方塊 73">
              <a:extLst>
                <a:ext uri="{FF2B5EF4-FFF2-40B4-BE49-F238E27FC236}">
                  <a16:creationId xmlns:a16="http://schemas.microsoft.com/office/drawing/2014/main" id="{9FD319B0-2867-85D3-C938-6EDC2A38A1EA}"/>
                </a:ext>
              </a:extLst>
            </p:cNvPr>
            <p:cNvSpPr txBox="1"/>
            <p:nvPr/>
          </p:nvSpPr>
          <p:spPr>
            <a:xfrm>
              <a:off x="6957789" y="3129473"/>
              <a:ext cx="161836" cy="260995"/>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N</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grpSp>
      <p:sp>
        <p:nvSpPr>
          <p:cNvPr id="75" name="文字方塊 74">
            <a:extLst>
              <a:ext uri="{FF2B5EF4-FFF2-40B4-BE49-F238E27FC236}">
                <a16:creationId xmlns:a16="http://schemas.microsoft.com/office/drawing/2014/main" id="{A35CCDEF-998A-9444-CC04-EEE26F2BD0D4}"/>
              </a:ext>
            </a:extLst>
          </p:cNvPr>
          <p:cNvSpPr txBox="1"/>
          <p:nvPr/>
        </p:nvSpPr>
        <p:spPr>
          <a:xfrm>
            <a:off x="8154580" y="3266407"/>
            <a:ext cx="161836" cy="234601"/>
          </a:xfrm>
          <a:prstGeom prst="rect">
            <a:avLst/>
          </a:prstGeom>
          <a:noFill/>
        </p:spPr>
        <p:txBody>
          <a:bodyPr wrap="none" lIns="0" tIns="0" rIns="0" bIns="0" anchor="ctr" anchorCtr="1">
            <a:noAutofit/>
          </a:bodyPr>
          <a:lstStyle/>
          <a:p>
            <a:pPr algn="ctr">
              <a:lnSpc>
                <a:spcPts val="1600"/>
              </a:lnSpc>
            </a:pPr>
            <a:r>
              <a:rPr lang="en-US" altLang="zh-TW" sz="1200" baseline="-25000" dirty="0">
                <a:latin typeface="微軟正黑體" panose="020B0604030504040204" pitchFamily="34" charset="-120"/>
                <a:ea typeface="微軟正黑體" panose="020B0604030504040204" pitchFamily="34" charset="-120"/>
              </a:rPr>
              <a:t>Nx16</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77" name="標題 1">
            <a:extLst>
              <a:ext uri="{FF2B5EF4-FFF2-40B4-BE49-F238E27FC236}">
                <a16:creationId xmlns:a16="http://schemas.microsoft.com/office/drawing/2014/main" id="{8B2E68CE-C9C3-EF7A-3426-00B00CD833A1}"/>
              </a:ext>
            </a:extLst>
          </p:cNvPr>
          <p:cNvSpPr txBox="1">
            <a:spLocks/>
          </p:cNvSpPr>
          <p:nvPr/>
        </p:nvSpPr>
        <p:spPr>
          <a:xfrm>
            <a:off x="6395080" y="4998765"/>
            <a:ext cx="2325650" cy="923330"/>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Noto Sans HK" panose="020B0200000000000000" pitchFamily="34" charset="-120"/>
                <a:ea typeface="Noto Sans HK" panose="020B0200000000000000" pitchFamily="34" charset="-120"/>
                <a:cs typeface="Arial" panose="020B0604020202020204" pitchFamily="34" charset="0"/>
              </a:rPr>
              <a:t>MoE</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a:p>
            <a:r>
              <a:rPr lang="en-US" altLang="zh-TW" sz="1200" dirty="0">
                <a:latin typeface="Noto Sans HK" panose="020B0200000000000000" pitchFamily="34" charset="-120"/>
                <a:ea typeface="Noto Sans HK" panose="020B0200000000000000" pitchFamily="34" charset="-120"/>
                <a:cs typeface="Arial" panose="020B0604020202020204" pitchFamily="34" charset="0"/>
              </a:rPr>
              <a:t>Select the top2 experts,  mask the rest, and apply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softmax</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 to obtain the probability-based </a:t>
            </a:r>
            <a:r>
              <a:rPr lang="en-US" altLang="zh-TW" sz="1200" dirty="0" err="1">
                <a:latin typeface="Noto Sans HK" panose="020B0200000000000000" pitchFamily="34" charset="-120"/>
                <a:ea typeface="Noto Sans HK" panose="020B0200000000000000" pitchFamily="34" charset="-120"/>
                <a:cs typeface="Arial" panose="020B0604020202020204" pitchFamily="34" charset="0"/>
              </a:rPr>
              <a:t>weigths</a:t>
            </a:r>
            <a:r>
              <a:rPr lang="en-US" altLang="zh-TW" sz="1200" dirty="0">
                <a:latin typeface="Noto Sans HK" panose="020B0200000000000000" pitchFamily="34" charset="-120"/>
                <a:ea typeface="Noto Sans HK" panose="020B0200000000000000" pitchFamily="34" charset="-120"/>
                <a:cs typeface="Arial" panose="020B0604020202020204" pitchFamily="34" charset="0"/>
              </a:rPr>
              <a:t>.</a:t>
            </a:r>
          </a:p>
        </p:txBody>
      </p:sp>
      <p:sp>
        <p:nvSpPr>
          <p:cNvPr id="78" name="矩形 77">
            <a:extLst>
              <a:ext uri="{FF2B5EF4-FFF2-40B4-BE49-F238E27FC236}">
                <a16:creationId xmlns:a16="http://schemas.microsoft.com/office/drawing/2014/main" id="{16B8AABB-E1F2-7038-FA86-34A5CFDEE7CB}"/>
              </a:ext>
            </a:extLst>
          </p:cNvPr>
          <p:cNvSpPr/>
          <p:nvPr/>
        </p:nvSpPr>
        <p:spPr>
          <a:xfrm>
            <a:off x="6807042" y="3577348"/>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S</a:t>
            </a:r>
            <a:endParaRPr lang="en-US" altLang="zh-TW" sz="1200" baseline="-25000" dirty="0">
              <a:solidFill>
                <a:schemeClr val="tx1"/>
              </a:solidFill>
              <a:latin typeface="微軟正黑體" panose="020B0604030504040204" pitchFamily="34" charset="-120"/>
              <a:ea typeface="微軟正黑體" panose="020B0604030504040204" pitchFamily="34" charset="-120"/>
            </a:endParaRPr>
          </a:p>
        </p:txBody>
      </p:sp>
      <p:sp>
        <p:nvSpPr>
          <p:cNvPr id="79" name="文字方塊 78">
            <a:extLst>
              <a:ext uri="{FF2B5EF4-FFF2-40B4-BE49-F238E27FC236}">
                <a16:creationId xmlns:a16="http://schemas.microsoft.com/office/drawing/2014/main" id="{96FDD76F-0283-791D-8F62-ECACD405233A}"/>
              </a:ext>
            </a:extLst>
          </p:cNvPr>
          <p:cNvSpPr txBox="1"/>
          <p:nvPr/>
        </p:nvSpPr>
        <p:spPr>
          <a:xfrm>
            <a:off x="6679788" y="4077072"/>
            <a:ext cx="437658"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(Gating)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0" name="矩形 79">
            <a:extLst>
              <a:ext uri="{FF2B5EF4-FFF2-40B4-BE49-F238E27FC236}">
                <a16:creationId xmlns:a16="http://schemas.microsoft.com/office/drawing/2014/main" id="{694316F9-88F8-9F8B-5AE8-A6AA8BE0EE16}"/>
              </a:ext>
            </a:extLst>
          </p:cNvPr>
          <p:cNvSpPr/>
          <p:nvPr/>
        </p:nvSpPr>
        <p:spPr>
          <a:xfrm>
            <a:off x="7396962" y="3580142"/>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T</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1" name="文字方塊 80">
            <a:extLst>
              <a:ext uri="{FF2B5EF4-FFF2-40B4-BE49-F238E27FC236}">
                <a16:creationId xmlns:a16="http://schemas.microsoft.com/office/drawing/2014/main" id="{6C7C03DF-3C0F-1F9E-3543-854BB2FA5F16}"/>
              </a:ext>
            </a:extLst>
          </p:cNvPr>
          <p:cNvSpPr txBox="1"/>
          <p:nvPr/>
        </p:nvSpPr>
        <p:spPr>
          <a:xfrm>
            <a:off x="7241906" y="4077072"/>
            <a:ext cx="498898" cy="321087"/>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p>
          <a:p>
            <a:pPr algn="ctr">
              <a:lnSpc>
                <a:spcPts val="12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(Mask)</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3" name="文字方塊 82">
            <a:extLst>
              <a:ext uri="{FF2B5EF4-FFF2-40B4-BE49-F238E27FC236}">
                <a16:creationId xmlns:a16="http://schemas.microsoft.com/office/drawing/2014/main" id="{90A7DC8E-8C44-F27F-B2F4-0BE094585587}"/>
              </a:ext>
            </a:extLst>
          </p:cNvPr>
          <p:cNvSpPr txBox="1"/>
          <p:nvPr/>
        </p:nvSpPr>
        <p:spPr>
          <a:xfrm>
            <a:off x="7011860" y="3597146"/>
            <a:ext cx="328120" cy="324000"/>
          </a:xfrm>
          <a:prstGeom prst="rect">
            <a:avLst/>
          </a:prstGeom>
          <a:noFill/>
        </p:spPr>
        <p:txBody>
          <a:bodyPr wrap="none" lIns="0" tIns="0" rIns="0" bIns="0" rtlCol="0" anchor="ctr" anchorCtr="1">
            <a:noAutofit/>
          </a:bodyPr>
          <a:lstStyle/>
          <a:p>
            <a:pPr algn="ctr"/>
            <a:r>
              <a:rPr lang="en-US" altLang="zh-TW" sz="1200" dirty="0">
                <a:sym typeface="Wingdings" panose="05000000000000000000" pitchFamily="2" charset="2"/>
              </a:rPr>
              <a:t>Top 2</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84" name="矩形 83">
            <a:extLst>
              <a:ext uri="{FF2B5EF4-FFF2-40B4-BE49-F238E27FC236}">
                <a16:creationId xmlns:a16="http://schemas.microsoft.com/office/drawing/2014/main" id="{FA79592B-F846-5072-23CD-098E7D52A09D}"/>
              </a:ext>
            </a:extLst>
          </p:cNvPr>
          <p:cNvSpPr/>
          <p:nvPr/>
        </p:nvSpPr>
        <p:spPr>
          <a:xfrm>
            <a:off x="8229382" y="3573016"/>
            <a:ext cx="141222" cy="501453"/>
          </a:xfrm>
          <a:prstGeom prst="rect">
            <a:avLst/>
          </a:prstGeom>
          <a:solidFill>
            <a:schemeClr val="bg1">
              <a:alpha val="80000"/>
            </a:schemeClr>
          </a:solid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P</a:t>
            </a:r>
            <a:r>
              <a:rPr lang="en-US" altLang="zh-TW" sz="1200" baseline="-25000" dirty="0">
                <a:solidFill>
                  <a:schemeClr val="tx1"/>
                </a:solidFill>
                <a:latin typeface="微軟正黑體" panose="020B0604030504040204" pitchFamily="34" charset="-120"/>
                <a:ea typeface="微軟正黑體" panose="020B0604030504040204" pitchFamily="34" charset="-120"/>
              </a:rPr>
              <a:t>2</a:t>
            </a:r>
          </a:p>
        </p:txBody>
      </p:sp>
      <p:sp>
        <p:nvSpPr>
          <p:cNvPr id="85" name="文字方塊 84">
            <a:extLst>
              <a:ext uri="{FF2B5EF4-FFF2-40B4-BE49-F238E27FC236}">
                <a16:creationId xmlns:a16="http://schemas.microsoft.com/office/drawing/2014/main" id="{E64504FF-6FE5-6B94-EA2B-0332A58A986C}"/>
              </a:ext>
            </a:extLst>
          </p:cNvPr>
          <p:cNvSpPr txBox="1"/>
          <p:nvPr/>
        </p:nvSpPr>
        <p:spPr>
          <a:xfrm>
            <a:off x="8066249" y="4077072"/>
            <a:ext cx="502690" cy="321086"/>
          </a:xfrm>
          <a:prstGeom prst="rect">
            <a:avLst/>
          </a:prstGeom>
          <a:noFill/>
        </p:spPr>
        <p:txBody>
          <a:bodyPr wrap="none" lIns="0" tIns="0" rIns="0" bIns="0" anchor="ctr" anchorCtr="1">
            <a:noAutofit/>
          </a:bodyPr>
          <a:lstStyle/>
          <a:p>
            <a:pPr algn="ctr">
              <a:lnSpc>
                <a:spcPts val="1200"/>
              </a:lnSpc>
            </a:pPr>
            <a:r>
              <a:rPr lang="en-US" altLang="zh-TW" sz="1200" baseline="-25000" dirty="0">
                <a:latin typeface="微軟正黑體" panose="020B0604030504040204" pitchFamily="34" charset="-120"/>
                <a:ea typeface="微軟正黑體" panose="020B0604030504040204" pitchFamily="34" charset="-120"/>
              </a:rPr>
              <a:t>Nx16</a:t>
            </a:r>
            <a:br>
              <a:rPr lang="en-US" altLang="zh-TW" sz="1200" baseline="-25000" dirty="0">
                <a:latin typeface="微軟正黑體" panose="020B0604030504040204" pitchFamily="34" charset="-120"/>
                <a:ea typeface="微軟正黑體" panose="020B0604030504040204" pitchFamily="34" charset="-120"/>
              </a:rPr>
            </a:br>
            <a:r>
              <a:rPr lang="en-US" altLang="zh-TW" sz="1200" baseline="-25000" dirty="0">
                <a:latin typeface="微軟正黑體" panose="020B0604030504040204" pitchFamily="34" charset="-120"/>
                <a:ea typeface="微軟正黑體" panose="020B0604030504040204" pitchFamily="34" charset="-120"/>
              </a:rPr>
              <a:t>(Weighting)</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86" name="文字方塊 85">
            <a:extLst>
              <a:ext uri="{FF2B5EF4-FFF2-40B4-BE49-F238E27FC236}">
                <a16:creationId xmlns:a16="http://schemas.microsoft.com/office/drawing/2014/main" id="{F88E85A2-D086-ADD5-7534-4B363BB6A964}"/>
              </a:ext>
            </a:extLst>
          </p:cNvPr>
          <p:cNvSpPr txBox="1"/>
          <p:nvPr/>
        </p:nvSpPr>
        <p:spPr>
          <a:xfrm>
            <a:off x="7700264" y="3590020"/>
            <a:ext cx="328120" cy="324000"/>
          </a:xfrm>
          <a:prstGeom prst="rect">
            <a:avLst/>
          </a:prstGeom>
          <a:noFill/>
        </p:spPr>
        <p:txBody>
          <a:bodyPr wrap="none" lIns="0" tIns="0" rIns="0" bIns="0" rtlCol="0" anchor="ctr" anchorCtr="1">
            <a:noAutofit/>
          </a:bodyPr>
          <a:lstStyle/>
          <a:p>
            <a:pPr algn="ctr"/>
            <a:r>
              <a:rPr lang="en-US" altLang="zh-TW" sz="1200" dirty="0" err="1">
                <a:sym typeface="Wingdings" panose="05000000000000000000" pitchFamily="2" charset="2"/>
              </a:rPr>
              <a:t>Softmax</a:t>
            </a:r>
            <a:br>
              <a:rPr lang="en-US" altLang="zh-TW" sz="1200" dirty="0">
                <a:sym typeface="Wingdings" panose="05000000000000000000" pitchFamily="2" charset="2"/>
              </a:rPr>
            </a:br>
            <a:r>
              <a:rPr lang="en-US" altLang="zh-TW" sz="1200" dirty="0">
                <a:sym typeface="Wingdings" panose="05000000000000000000" pitchFamily="2" charset="2"/>
              </a:rPr>
              <a:t></a:t>
            </a:r>
            <a:endParaRPr lang="zh-TW" altLang="en-US" sz="1200" dirty="0"/>
          </a:p>
        </p:txBody>
      </p:sp>
      <p:sp>
        <p:nvSpPr>
          <p:cNvPr id="100" name="矩形 99">
            <a:extLst>
              <a:ext uri="{FF2B5EF4-FFF2-40B4-BE49-F238E27FC236}">
                <a16:creationId xmlns:a16="http://schemas.microsoft.com/office/drawing/2014/main" id="{83A1B9A5-CEB6-032E-6AC0-EC0A575B5E3D}"/>
              </a:ext>
            </a:extLst>
          </p:cNvPr>
          <p:cNvSpPr/>
          <p:nvPr/>
        </p:nvSpPr>
        <p:spPr>
          <a:xfrm>
            <a:off x="3588157" y="1482198"/>
            <a:ext cx="254168"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200" dirty="0">
                <a:solidFill>
                  <a:schemeClr val="tx1"/>
                </a:solidFill>
                <a:latin typeface="微軟正黑體" panose="020B0604030504040204" pitchFamily="34" charset="-120"/>
                <a:ea typeface="微軟正黑體" panose="020B0604030504040204" pitchFamily="34" charset="-120"/>
              </a:rPr>
              <a:t>X</a:t>
            </a:r>
          </a:p>
        </p:txBody>
      </p:sp>
      <p:sp>
        <p:nvSpPr>
          <p:cNvPr id="101" name="矩形 100">
            <a:extLst>
              <a:ext uri="{FF2B5EF4-FFF2-40B4-BE49-F238E27FC236}">
                <a16:creationId xmlns:a16="http://schemas.microsoft.com/office/drawing/2014/main" id="{9562C7A7-7CE5-4A39-D29E-759B1851AD76}"/>
              </a:ext>
            </a:extLst>
          </p:cNvPr>
          <p:cNvSpPr/>
          <p:nvPr/>
        </p:nvSpPr>
        <p:spPr>
          <a:xfrm>
            <a:off x="4106201" y="1471405"/>
            <a:ext cx="1089904" cy="426232"/>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algn="ctr">
              <a:lnSpc>
                <a:spcPts val="1600"/>
              </a:lnSpc>
            </a:pPr>
            <a:r>
              <a:rPr lang="en-US" altLang="zh-TW" sz="1400" dirty="0">
                <a:solidFill>
                  <a:schemeClr val="accent1">
                    <a:lumMod val="50000"/>
                  </a:schemeClr>
                </a:solidFill>
                <a:ea typeface="微軟正黑體" panose="020B0604030504040204" pitchFamily="34" charset="-120"/>
              </a:rPr>
              <a:t>Attention(X)</a:t>
            </a:r>
          </a:p>
        </p:txBody>
      </p:sp>
      <p:sp>
        <p:nvSpPr>
          <p:cNvPr id="104" name="文字方塊 103">
            <a:extLst>
              <a:ext uri="{FF2B5EF4-FFF2-40B4-BE49-F238E27FC236}">
                <a16:creationId xmlns:a16="http://schemas.microsoft.com/office/drawing/2014/main" id="{F8404CBC-FB22-42B7-FC1D-5F04EBF656CC}"/>
              </a:ext>
            </a:extLst>
          </p:cNvPr>
          <p:cNvSpPr txBox="1"/>
          <p:nvPr/>
        </p:nvSpPr>
        <p:spPr>
          <a:xfrm>
            <a:off x="3948197" y="1594942"/>
            <a:ext cx="104240" cy="235664"/>
          </a:xfrm>
          <a:prstGeom prst="rect">
            <a:avLst/>
          </a:prstGeom>
          <a:noFill/>
        </p:spPr>
        <p:txBody>
          <a:bodyPr wrap="none" lIns="0" tIns="0" rIns="0" bIns="0" rtlCol="0" anchor="ctr" anchorCtr="1">
            <a:noAutofit/>
          </a:bodyPr>
          <a:lstStyle/>
          <a:p>
            <a:pPr algn="ctr"/>
            <a:r>
              <a:rPr lang="en-US" altLang="zh-TW" sz="1200" dirty="0"/>
              <a:t>=</a:t>
            </a:r>
            <a:endParaRPr lang="zh-TW" altLang="en-US" sz="1200" dirty="0"/>
          </a:p>
        </p:txBody>
      </p:sp>
      <p:sp>
        <p:nvSpPr>
          <p:cNvPr id="107" name="文字方塊 106">
            <a:extLst>
              <a:ext uri="{FF2B5EF4-FFF2-40B4-BE49-F238E27FC236}">
                <a16:creationId xmlns:a16="http://schemas.microsoft.com/office/drawing/2014/main" id="{3C11C7D8-386A-92BD-9B02-1EB1DA57660F}"/>
              </a:ext>
            </a:extLst>
          </p:cNvPr>
          <p:cNvSpPr txBox="1"/>
          <p:nvPr/>
        </p:nvSpPr>
        <p:spPr>
          <a:xfrm>
            <a:off x="3412038" y="1548996"/>
            <a:ext cx="123067" cy="278693"/>
          </a:xfrm>
          <a:prstGeom prst="rect">
            <a:avLst/>
          </a:prstGeom>
          <a:noFill/>
        </p:spPr>
        <p:txBody>
          <a:bodyPr wrap="none" lIns="0" tIns="0" rIns="0" bIns="0" rtlCol="0" anchor="ctr" anchorCtr="1">
            <a:noAutofit/>
          </a:bodyPr>
          <a:lstStyle/>
          <a:p>
            <a:pPr algn="ctr"/>
            <a:r>
              <a:rPr lang="en-US" altLang="zh-TW" sz="1400" dirty="0"/>
              <a:t>N</a:t>
            </a:r>
            <a:endParaRPr lang="zh-TW" altLang="en-US" sz="1400" dirty="0"/>
          </a:p>
        </p:txBody>
      </p:sp>
      <p:sp>
        <p:nvSpPr>
          <p:cNvPr id="122" name="矩形 121">
            <a:extLst>
              <a:ext uri="{FF2B5EF4-FFF2-40B4-BE49-F238E27FC236}">
                <a16:creationId xmlns:a16="http://schemas.microsoft.com/office/drawing/2014/main" id="{D8D9A589-D7BD-E59E-46E1-F9EE87A70466}"/>
              </a:ext>
            </a:extLst>
          </p:cNvPr>
          <p:cNvSpPr/>
          <p:nvPr/>
        </p:nvSpPr>
        <p:spPr>
          <a:xfrm>
            <a:off x="6621175" y="4581128"/>
            <a:ext cx="1271891"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FFN1(x)*k1</a:t>
            </a:r>
          </a:p>
        </p:txBody>
      </p:sp>
      <p:sp>
        <p:nvSpPr>
          <p:cNvPr id="123" name="矩形 122">
            <a:extLst>
              <a:ext uri="{FF2B5EF4-FFF2-40B4-BE49-F238E27FC236}">
                <a16:creationId xmlns:a16="http://schemas.microsoft.com/office/drawing/2014/main" id="{9EA4E8C7-AE21-6B7F-9744-DB5030A39301}"/>
              </a:ext>
            </a:extLst>
          </p:cNvPr>
          <p:cNvSpPr/>
          <p:nvPr/>
        </p:nvSpPr>
        <p:spPr>
          <a:xfrm>
            <a:off x="7975833" y="4581128"/>
            <a:ext cx="744897" cy="322650"/>
          </a:xfrm>
          <a:prstGeom prst="rect">
            <a:avLst/>
          </a:prstGeom>
          <a:noFill/>
          <a:ln w="28575">
            <a:solidFill>
              <a:schemeClr val="accent5">
                <a:lumMod val="75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noAutofit/>
          </a:bodyPr>
          <a:lstStyle/>
          <a:p>
            <a:pPr marL="0" marR="0" lvl="1" algn="l" defTabSz="1425575" rtl="0" eaLnBrk="1" fontAlgn="auto" latinLnBrk="0" hangingPunct="1">
              <a:lnSpc>
                <a:spcPts val="1600"/>
              </a:lnSpc>
              <a:spcBef>
                <a:spcPts val="0"/>
              </a:spcBef>
              <a:spcAft>
                <a:spcPts val="0"/>
              </a:spcAft>
              <a:buClrTx/>
              <a:buSzTx/>
              <a:buFontTx/>
              <a:buNone/>
              <a:tabLst/>
              <a:defRPr/>
            </a:pPr>
            <a:r>
              <a:rPr kumimoji="0" lang="en-US" altLang="zh-TW" sz="1200" b="1" i="0" u="none" strike="noStrike" kern="1200" cap="none" spc="0" normalizeH="0" baseline="0" noProof="0" dirty="0">
                <a:ln>
                  <a:noFill/>
                </a:ln>
                <a:solidFill>
                  <a:srgbClr val="1F497D"/>
                </a:solidFill>
                <a:effectLst/>
                <a:uLnTx/>
                <a:uFillTx/>
                <a:latin typeface="Calibri"/>
                <a:ea typeface="微軟正黑體" panose="020B0604030504040204" pitchFamily="34" charset="-120"/>
                <a:cs typeface="+mn-cs"/>
              </a:rPr>
              <a:t>FFN2(x)*k2</a:t>
            </a:r>
          </a:p>
        </p:txBody>
      </p:sp>
      <p:sp>
        <p:nvSpPr>
          <p:cNvPr id="126" name="標題 1">
            <a:extLst>
              <a:ext uri="{FF2B5EF4-FFF2-40B4-BE49-F238E27FC236}">
                <a16:creationId xmlns:a16="http://schemas.microsoft.com/office/drawing/2014/main" id="{8053E3DC-D7CF-1F33-067D-7B79C1E2C44E}"/>
              </a:ext>
            </a:extLst>
          </p:cNvPr>
          <p:cNvSpPr txBox="1">
            <a:spLocks/>
          </p:cNvSpPr>
          <p:nvPr/>
        </p:nvSpPr>
        <p:spPr>
          <a:xfrm>
            <a:off x="828147" y="5055019"/>
            <a:ext cx="647509" cy="369332"/>
          </a:xfrm>
          <a:prstGeom prst="rect">
            <a:avLst/>
          </a:prstGeom>
        </p:spPr>
        <p:txBody>
          <a:bodyPr wrap="square" lIns="91440" tIns="0" rIns="0" bIns="0">
            <a:spAutoFit/>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Predict</a:t>
            </a:r>
            <a:r>
              <a:rPr lang="zh-TW" altLang="en-US"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 </a:t>
            </a:r>
            <a:r>
              <a:rPr lang="en-US" altLang="zh-TW" sz="1200" dirty="0">
                <a:solidFill>
                  <a:schemeClr val="accent2"/>
                </a:solidFill>
                <a:latin typeface="Noto Sans HK" panose="020B0200000000000000" pitchFamily="34" charset="-120"/>
                <a:ea typeface="Noto Sans HK" panose="020B0200000000000000" pitchFamily="34" charset="-120"/>
                <a:cs typeface="Arial" panose="020B0604020202020204" pitchFamily="34" charset="0"/>
              </a:rPr>
              <a:t>Next</a:t>
            </a:r>
          </a:p>
        </p:txBody>
      </p:sp>
      <p:sp>
        <p:nvSpPr>
          <p:cNvPr id="18" name="矩形 17">
            <a:extLst>
              <a:ext uri="{FF2B5EF4-FFF2-40B4-BE49-F238E27FC236}">
                <a16:creationId xmlns:a16="http://schemas.microsoft.com/office/drawing/2014/main" id="{4FBC2DEF-1F94-22F9-5C1B-819E669197B3}"/>
              </a:ext>
            </a:extLst>
          </p:cNvPr>
          <p:cNvSpPr/>
          <p:nvPr/>
        </p:nvSpPr>
        <p:spPr>
          <a:xfrm rot="16200000">
            <a:off x="2270964" y="4412880"/>
            <a:ext cx="113222" cy="374768"/>
          </a:xfrm>
          <a:prstGeom prst="rect">
            <a:avLst/>
          </a:prstGeom>
          <a:noFill/>
          <a:ln w="19050">
            <a:solidFill>
              <a:srgbClr val="FF0000"/>
            </a:solidFill>
            <a:prstDash val="sysDot"/>
            <a:extLst>
              <a:ext uri="{C807C97D-BFC1-408E-A445-0C87EB9F89A2}">
                <ask:lineSketchStyleProps xmlns:ask="http://schemas.microsoft.com/office/drawing/2018/sketchyshapes">
                  <ask:type>
                    <ask:lineSketchNone/>
                  </ask:type>
                </ask:lineSketchStyleProps>
              </a:ext>
            </a:extLst>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1000" b="1" dirty="0">
                <a:solidFill>
                  <a:srgbClr val="C00000"/>
                </a:solidFill>
                <a:latin typeface="微軟正黑體" panose="020B0604030504040204" pitchFamily="34" charset="-120"/>
                <a:ea typeface="微軟正黑體" panose="020B0604030504040204" pitchFamily="34" charset="-120"/>
              </a:rPr>
              <a:t>W</a:t>
            </a:r>
          </a:p>
        </p:txBody>
      </p:sp>
      <p:sp>
        <p:nvSpPr>
          <p:cNvPr id="38" name="文字方塊 37">
            <a:extLst>
              <a:ext uri="{FF2B5EF4-FFF2-40B4-BE49-F238E27FC236}">
                <a16:creationId xmlns:a16="http://schemas.microsoft.com/office/drawing/2014/main" id="{B31B93FF-E34A-6029-C1FD-88A4C54C0C65}"/>
              </a:ext>
            </a:extLst>
          </p:cNvPr>
          <p:cNvSpPr txBox="1"/>
          <p:nvPr/>
        </p:nvSpPr>
        <p:spPr>
          <a:xfrm>
            <a:off x="1887071" y="5359452"/>
            <a:ext cx="236657" cy="278693"/>
          </a:xfrm>
          <a:prstGeom prst="rect">
            <a:avLst/>
          </a:prstGeom>
          <a:noFill/>
        </p:spPr>
        <p:txBody>
          <a:bodyPr wrap="none" lIns="0" tIns="0" rIns="0" bIns="0" rtlCol="0" anchor="ctr" anchorCtr="1">
            <a:noAutofit/>
          </a:bodyPr>
          <a:lstStyle/>
          <a:p>
            <a:pPr algn="ctr"/>
            <a:r>
              <a:rPr lang="en-US" altLang="zh-TW" sz="1400" dirty="0"/>
              <a:t>M</a:t>
            </a:r>
            <a:endParaRPr lang="zh-TW" altLang="en-US" sz="1400" dirty="0"/>
          </a:p>
        </p:txBody>
      </p:sp>
      <p:sp>
        <p:nvSpPr>
          <p:cNvPr id="40" name="文字方塊 39">
            <a:extLst>
              <a:ext uri="{FF2B5EF4-FFF2-40B4-BE49-F238E27FC236}">
                <a16:creationId xmlns:a16="http://schemas.microsoft.com/office/drawing/2014/main" id="{5866B278-267D-91F9-14E3-7AE128272285}"/>
              </a:ext>
            </a:extLst>
          </p:cNvPr>
          <p:cNvSpPr txBox="1"/>
          <p:nvPr/>
        </p:nvSpPr>
        <p:spPr>
          <a:xfrm>
            <a:off x="2302466" y="6010628"/>
            <a:ext cx="93132" cy="99349"/>
          </a:xfrm>
          <a:prstGeom prst="rect">
            <a:avLst/>
          </a:prstGeom>
          <a:noFill/>
        </p:spPr>
        <p:txBody>
          <a:bodyPr wrap="none" lIns="0" tIns="0" rIns="0" bIns="0" anchor="ctr" anchorCtr="1">
            <a:noAutofit/>
          </a:bodyPr>
          <a:lstStyle/>
          <a:p>
            <a:pPr algn="ctr">
              <a:lnSpc>
                <a:spcPts val="1600"/>
              </a:lnSpc>
            </a:pPr>
            <a:r>
              <a:rPr lang="en-US" altLang="zh-TW" sz="1200" baseline="-25000" dirty="0">
                <a:solidFill>
                  <a:schemeClr val="tx1"/>
                </a:solidFill>
                <a:latin typeface="微軟正黑體" panose="020B0604030504040204" pitchFamily="34" charset="-120"/>
                <a:ea typeface="微軟正黑體" panose="020B0604030504040204" pitchFamily="34" charset="-120"/>
              </a:rPr>
              <a:t>d</a:t>
            </a:r>
            <a:endParaRPr lang="en-US" altLang="zh-TW" sz="1200" dirty="0">
              <a:solidFill>
                <a:schemeClr val="tx1"/>
              </a:solidFill>
              <a:latin typeface="微軟正黑體" panose="020B0604030504040204" pitchFamily="34" charset="-120"/>
              <a:ea typeface="微軟正黑體" panose="020B0604030504040204" pitchFamily="34" charset="-120"/>
            </a:endParaRPr>
          </a:p>
        </p:txBody>
      </p:sp>
      <p:sp>
        <p:nvSpPr>
          <p:cNvPr id="41" name="右中括弧 40">
            <a:extLst>
              <a:ext uri="{FF2B5EF4-FFF2-40B4-BE49-F238E27FC236}">
                <a16:creationId xmlns:a16="http://schemas.microsoft.com/office/drawing/2014/main" id="{EB94D0DA-B01F-F4EF-6BE3-539B135BC76E}"/>
              </a:ext>
            </a:extLst>
          </p:cNvPr>
          <p:cNvSpPr/>
          <p:nvPr/>
        </p:nvSpPr>
        <p:spPr>
          <a:xfrm rot="5400000">
            <a:off x="2299756" y="5818047"/>
            <a:ext cx="54607" cy="373738"/>
          </a:xfrm>
          <a:prstGeom prst="rightBracket">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Tree>
    <p:extLst>
      <p:ext uri="{BB962C8B-B14F-4D97-AF65-F5344CB8AC3E}">
        <p14:creationId xmlns:p14="http://schemas.microsoft.com/office/powerpoint/2010/main" val="264759369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55" name="群組 54">
            <a:extLst>
              <a:ext uri="{FF2B5EF4-FFF2-40B4-BE49-F238E27FC236}">
                <a16:creationId xmlns:a16="http://schemas.microsoft.com/office/drawing/2014/main" id="{032E068C-BED4-DAAD-C477-AE10DD88BC4D}"/>
              </a:ext>
            </a:extLst>
          </p:cNvPr>
          <p:cNvGrpSpPr/>
          <p:nvPr/>
        </p:nvGrpSpPr>
        <p:grpSpPr>
          <a:xfrm>
            <a:off x="4372667" y="2256090"/>
            <a:ext cx="1728262" cy="1731863"/>
            <a:chOff x="5889783" y="2057354"/>
            <a:chExt cx="1739742" cy="1875702"/>
          </a:xfrm>
        </p:grpSpPr>
        <p:sp>
          <p:nvSpPr>
            <p:cNvPr id="33" name="局部圓 32">
              <a:extLst>
                <a:ext uri="{FF2B5EF4-FFF2-40B4-BE49-F238E27FC236}">
                  <a16:creationId xmlns:a16="http://schemas.microsoft.com/office/drawing/2014/main" id="{90FEF55D-352E-7939-49E0-A9B88A43848E}"/>
                </a:ext>
              </a:extLst>
            </p:cNvPr>
            <p:cNvSpPr/>
            <p:nvPr/>
          </p:nvSpPr>
          <p:spPr>
            <a:xfrm>
              <a:off x="5889783" y="2477244"/>
              <a:ext cx="1418521" cy="1455812"/>
            </a:xfrm>
            <a:prstGeom prst="pie">
              <a:avLst>
                <a:gd name="adj1" fmla="val 17363646"/>
                <a:gd name="adj2" fmla="val 19855348"/>
              </a:avLst>
            </a:prstGeom>
            <a:solidFill>
              <a:schemeClr val="accent2">
                <a:lumMod val="20000"/>
                <a:lumOff val="80000"/>
                <a:alpha val="70000"/>
              </a:schemeClr>
            </a:solidFill>
            <a:ln w="12700">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solidFill>
                  <a:schemeClr val="tx1"/>
                </a:solidFill>
              </a:endParaRPr>
            </a:p>
          </p:txBody>
        </p:sp>
        <p:cxnSp>
          <p:nvCxnSpPr>
            <p:cNvPr id="20" name="直線單箭頭接點 19">
              <a:extLst>
                <a:ext uri="{FF2B5EF4-FFF2-40B4-BE49-F238E27FC236}">
                  <a16:creationId xmlns:a16="http://schemas.microsoft.com/office/drawing/2014/main" id="{1DD52C49-034B-5D51-6CA7-1C3A6767E139}"/>
                </a:ext>
              </a:extLst>
            </p:cNvPr>
            <p:cNvCxnSpPr/>
            <p:nvPr/>
          </p:nvCxnSpPr>
          <p:spPr>
            <a:xfrm flipV="1">
              <a:off x="6588224" y="2057354"/>
              <a:ext cx="0" cy="1371646"/>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1" name="直線單箭頭接點 20">
              <a:extLst>
                <a:ext uri="{FF2B5EF4-FFF2-40B4-BE49-F238E27FC236}">
                  <a16:creationId xmlns:a16="http://schemas.microsoft.com/office/drawing/2014/main" id="{2CE1F358-8314-ED6F-737B-F54103AF1758}"/>
                </a:ext>
              </a:extLst>
            </p:cNvPr>
            <p:cNvCxnSpPr>
              <a:cxnSpLocks/>
            </p:cNvCxnSpPr>
            <p:nvPr/>
          </p:nvCxnSpPr>
          <p:spPr>
            <a:xfrm>
              <a:off x="6339011" y="3193314"/>
              <a:ext cx="1041301"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4" name="直線單箭頭接點 23">
              <a:extLst>
                <a:ext uri="{FF2B5EF4-FFF2-40B4-BE49-F238E27FC236}">
                  <a16:creationId xmlns:a16="http://schemas.microsoft.com/office/drawing/2014/main" id="{FCF20143-A1BD-B310-22E7-EF16A375CB3B}"/>
                </a:ext>
              </a:extLst>
            </p:cNvPr>
            <p:cNvCxnSpPr/>
            <p:nvPr/>
          </p:nvCxnSpPr>
          <p:spPr>
            <a:xfrm flipV="1">
              <a:off x="6597812" y="2501732"/>
              <a:ext cx="576064" cy="679874"/>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cxnSp>
          <p:nvCxnSpPr>
            <p:cNvPr id="28" name="直線接點 27">
              <a:extLst>
                <a:ext uri="{FF2B5EF4-FFF2-40B4-BE49-F238E27FC236}">
                  <a16:creationId xmlns:a16="http://schemas.microsoft.com/office/drawing/2014/main" id="{8D17591A-26C0-F70D-7D2D-884084C8C255}"/>
                </a:ext>
              </a:extLst>
            </p:cNvPr>
            <p:cNvCxnSpPr>
              <a:cxnSpLocks/>
            </p:cNvCxnSpPr>
            <p:nvPr/>
          </p:nvCxnSpPr>
          <p:spPr>
            <a:xfrm flipV="1">
              <a:off x="6588224" y="2328248"/>
              <a:ext cx="304157" cy="864096"/>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p:cxnSp>
          <p:nvCxnSpPr>
            <p:cNvPr id="30" name="直線接點 29">
              <a:extLst>
                <a:ext uri="{FF2B5EF4-FFF2-40B4-BE49-F238E27FC236}">
                  <a16:creationId xmlns:a16="http://schemas.microsoft.com/office/drawing/2014/main" id="{D63BA61C-0F22-7A08-3438-46A8C009D045}"/>
                </a:ext>
              </a:extLst>
            </p:cNvPr>
            <p:cNvCxnSpPr>
              <a:cxnSpLocks/>
            </p:cNvCxnSpPr>
            <p:nvPr/>
          </p:nvCxnSpPr>
          <p:spPr>
            <a:xfrm flipV="1">
              <a:off x="6597809" y="2712093"/>
              <a:ext cx="792091" cy="493057"/>
            </a:xfrm>
            <a:prstGeom prst="line">
              <a:avLst/>
            </a:prstGeom>
            <a:ln>
              <a:solidFill>
                <a:schemeClr val="accent2">
                  <a:lumMod val="40000"/>
                  <a:lumOff val="60000"/>
                </a:schemeClr>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1" name="文字方塊 50">
                  <a:extLst>
                    <a:ext uri="{FF2B5EF4-FFF2-40B4-BE49-F238E27FC236}">
                      <a16:creationId xmlns:a16="http://schemas.microsoft.com/office/drawing/2014/main" id="{063F8301-C40E-66CC-D9A5-3189DE4307BA}"/>
                    </a:ext>
                  </a:extLst>
                </p:cNvPr>
                <p:cNvSpPr txBox="1"/>
                <p:nvPr/>
              </p:nvSpPr>
              <p:spPr>
                <a:xfrm>
                  <a:off x="6925149" y="2703771"/>
                  <a:ext cx="704376" cy="40000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n-US" altLang="zh-TW" i="1">
                            <a:solidFill>
                              <a:srgbClr val="FF0000"/>
                            </a:solidFill>
                            <a:latin typeface="Cambria Math" panose="02040503050406030204" pitchFamily="18" charset="0"/>
                            <a:ea typeface="Cambria Math" panose="02040503050406030204" pitchFamily="18" charset="0"/>
                          </a:rPr>
                          <m:t>𝑙</m:t>
                        </m:r>
                        <m:r>
                          <a:rPr lang="zh-TW" altLang="en-US" i="1" smtClean="0">
                            <a:solidFill>
                              <a:srgbClr val="FF0000"/>
                            </a:solidFill>
                            <a:latin typeface="Cambria Math" panose="02040503050406030204" pitchFamily="18" charset="0"/>
                            <a:ea typeface="Cambria Math" panose="02040503050406030204" pitchFamily="18" charset="0"/>
                          </a:rPr>
                          <m:t>∗</m:t>
                        </m:r>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zh-TW" altLang="en-US" i="1">
                                <a:solidFill>
                                  <a:srgbClr val="FF0000"/>
                                </a:solidFill>
                                <a:latin typeface="Cambria Math" panose="02040503050406030204" pitchFamily="18" charset="0"/>
                                <a:ea typeface="Cambria Math" panose="02040503050406030204" pitchFamily="18" charset="0"/>
                              </a:rPr>
                              <m:t>𝜃</m:t>
                            </m:r>
                          </m:e>
                          <m:sub>
                            <m:r>
                              <a:rPr lang="en-US" altLang="zh-TW" i="1">
                                <a:solidFill>
                                  <a:srgbClr val="FF0000"/>
                                </a:solidFill>
                                <a:latin typeface="Cambria Math" panose="02040503050406030204" pitchFamily="18" charset="0"/>
                                <a:ea typeface="Cambria Math" panose="02040503050406030204" pitchFamily="18" charset="0"/>
                              </a:rPr>
                              <m:t>𝑖</m:t>
                            </m:r>
                          </m:sub>
                        </m:sSub>
                      </m:oMath>
                    </m:oMathPara>
                  </a14:m>
                  <a:endParaRPr lang="zh-TW" altLang="en-US" dirty="0"/>
                </a:p>
              </p:txBody>
            </p:sp>
          </mc:Choice>
          <mc:Fallback xmlns="">
            <p:sp>
              <p:nvSpPr>
                <p:cNvPr id="51" name="文字方塊 50">
                  <a:extLst>
                    <a:ext uri="{FF2B5EF4-FFF2-40B4-BE49-F238E27FC236}">
                      <a16:creationId xmlns:a16="http://schemas.microsoft.com/office/drawing/2014/main" id="{063F8301-C40E-66CC-D9A5-3189DE4307BA}"/>
                    </a:ext>
                  </a:extLst>
                </p:cNvPr>
                <p:cNvSpPr txBox="1">
                  <a:spLocks noRot="1" noChangeAspect="1" noMove="1" noResize="1" noEditPoints="1" noAdjustHandles="1" noChangeArrowheads="1" noChangeShapeType="1" noTextEdit="1"/>
                </p:cNvSpPr>
                <p:nvPr/>
              </p:nvSpPr>
              <p:spPr>
                <a:xfrm>
                  <a:off x="6925149" y="2703771"/>
                  <a:ext cx="704376" cy="400007"/>
                </a:xfrm>
                <a:prstGeom prst="rect">
                  <a:avLst/>
                </a:prstGeom>
                <a:blipFill>
                  <a:blip r:embed="rId3"/>
                  <a:stretch>
                    <a:fillRect/>
                  </a:stretch>
                </a:blipFill>
              </p:spPr>
              <p:txBody>
                <a:bodyPr/>
                <a:lstStyle/>
                <a:p>
                  <a:r>
                    <a:rPr lang="zh-TW" altLang="en-US">
                      <a:noFill/>
                    </a:rPr>
                    <a:t> </a:t>
                  </a:r>
                </a:p>
              </p:txBody>
            </p:sp>
          </mc:Fallback>
        </mc:AlternateContent>
      </p:grpSp>
      <p:sp>
        <p:nvSpPr>
          <p:cNvPr id="12" name="矩形: 圓角 11">
            <a:extLst>
              <a:ext uri="{FF2B5EF4-FFF2-40B4-BE49-F238E27FC236}">
                <a16:creationId xmlns:a16="http://schemas.microsoft.com/office/drawing/2014/main" id="{700D029E-B4F8-EA5F-0ADA-B740C8349817}"/>
              </a:ext>
            </a:extLst>
          </p:cNvPr>
          <p:cNvSpPr/>
          <p:nvPr/>
        </p:nvSpPr>
        <p:spPr>
          <a:xfrm>
            <a:off x="1076622" y="3334799"/>
            <a:ext cx="1629729" cy="220600"/>
          </a:xfrm>
          <a:prstGeom prst="roundRect">
            <a:avLst/>
          </a:prstGeom>
          <a:solidFill>
            <a:schemeClr val="bg1">
              <a:lumMod val="95000"/>
              <a:alpha val="6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7" name="矩形 26">
            <a:extLst>
              <a:ext uri="{FF2B5EF4-FFF2-40B4-BE49-F238E27FC236}">
                <a16:creationId xmlns:a16="http://schemas.microsoft.com/office/drawing/2014/main" id="{58AAD6B0-29A5-F072-A23A-1590C3A19EC6}"/>
              </a:ext>
            </a:extLst>
          </p:cNvPr>
          <p:cNvSpPr/>
          <p:nvPr/>
        </p:nvSpPr>
        <p:spPr>
          <a:xfrm>
            <a:off x="733816" y="148380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sp>
        <p:nvSpPr>
          <p:cNvPr id="11" name="矩形: 圓角 10">
            <a:extLst>
              <a:ext uri="{FF2B5EF4-FFF2-40B4-BE49-F238E27FC236}">
                <a16:creationId xmlns:a16="http://schemas.microsoft.com/office/drawing/2014/main" id="{8020BDD0-86F7-07FC-6552-9284A65459B9}"/>
              </a:ext>
            </a:extLst>
          </p:cNvPr>
          <p:cNvSpPr/>
          <p:nvPr/>
        </p:nvSpPr>
        <p:spPr>
          <a:xfrm>
            <a:off x="728122" y="2238090"/>
            <a:ext cx="1099830" cy="107391"/>
          </a:xfrm>
          <a:prstGeom prst="roundRect">
            <a:avLst/>
          </a:prstGeom>
          <a:solidFill>
            <a:schemeClr val="bg1">
              <a:lumMod val="9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54" name="矩形: 圓角 53">
            <a:extLst>
              <a:ext uri="{FF2B5EF4-FFF2-40B4-BE49-F238E27FC236}">
                <a16:creationId xmlns:a16="http://schemas.microsoft.com/office/drawing/2014/main" id="{7A412538-C8FD-A4B2-8E22-47E80D65D21C}"/>
              </a:ext>
            </a:extLst>
          </p:cNvPr>
          <p:cNvSpPr/>
          <p:nvPr/>
        </p:nvSpPr>
        <p:spPr>
          <a:xfrm>
            <a:off x="1460936" y="2239688"/>
            <a:ext cx="214615" cy="107149"/>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2" name="標題 1">
            <a:extLst>
              <a:ext uri="{FF2B5EF4-FFF2-40B4-BE49-F238E27FC236}">
                <a16:creationId xmlns:a16="http://schemas.microsoft.com/office/drawing/2014/main" id="{E6DD3AC6-ABB1-653C-5DAE-1DE4C021A50E}"/>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Token Embedding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Enhance the difference and feature</a:t>
            </a:r>
          </a:p>
        </p:txBody>
      </p:sp>
      <p:cxnSp>
        <p:nvCxnSpPr>
          <p:cNvPr id="6" name="直線接點 5">
            <a:extLst>
              <a:ext uri="{FF2B5EF4-FFF2-40B4-BE49-F238E27FC236}">
                <a16:creationId xmlns:a16="http://schemas.microsoft.com/office/drawing/2014/main" id="{AFF11F6A-29DE-67F7-D273-86946AC3BCD9}"/>
              </a:ext>
            </a:extLst>
          </p:cNvPr>
          <p:cNvCxnSpPr>
            <a:cxnSpLocks/>
            <a:endCxn id="54" idx="0"/>
          </p:cNvCxnSpPr>
          <p:nvPr/>
        </p:nvCxnSpPr>
        <p:spPr>
          <a:xfrm flipH="1">
            <a:off x="1568244" y="1346963"/>
            <a:ext cx="4833" cy="892725"/>
          </a:xfrm>
          <a:prstGeom prst="line">
            <a:avLst/>
          </a:prstGeom>
          <a:ln w="15875">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16" name="矩形 15">
            <a:extLst>
              <a:ext uri="{FF2B5EF4-FFF2-40B4-BE49-F238E27FC236}">
                <a16:creationId xmlns:a16="http://schemas.microsoft.com/office/drawing/2014/main" id="{E24399CC-4C2F-7F05-1E04-F60111F9636D}"/>
              </a:ext>
            </a:extLst>
          </p:cNvPr>
          <p:cNvSpPr/>
          <p:nvPr/>
        </p:nvSpPr>
        <p:spPr>
          <a:xfrm>
            <a:off x="399059" y="1776110"/>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1"/>
                </a:solidFill>
                <a:ea typeface="STXingkai" panose="020B0503020204020204" pitchFamily="2" charset="-122"/>
              </a:rPr>
              <a:t>l</a:t>
            </a:r>
          </a:p>
        </p:txBody>
      </p:sp>
      <p:sp>
        <p:nvSpPr>
          <p:cNvPr id="17" name="左大括弧 16">
            <a:extLst>
              <a:ext uri="{FF2B5EF4-FFF2-40B4-BE49-F238E27FC236}">
                <a16:creationId xmlns:a16="http://schemas.microsoft.com/office/drawing/2014/main" id="{E166C875-0798-4B9E-B845-D3335E0BA09A}"/>
              </a:ext>
            </a:extLst>
          </p:cNvPr>
          <p:cNvSpPr/>
          <p:nvPr/>
        </p:nvSpPr>
        <p:spPr>
          <a:xfrm>
            <a:off x="571987" y="1483721"/>
            <a:ext cx="145042" cy="808186"/>
          </a:xfrm>
          <a:prstGeom prst="leftBrace">
            <a:avLst/>
          </a:prstGeom>
          <a:ln w="15875">
            <a:solidFill>
              <a:schemeClr val="accent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mc:AlternateContent xmlns:mc="http://schemas.openxmlformats.org/markup-compatibility/2006" xmlns:a14="http://schemas.microsoft.com/office/drawing/2010/main">
        <mc:Choice Requires="a14">
          <p:sp>
            <p:nvSpPr>
              <p:cNvPr id="25" name="文字方塊 24">
                <a:extLst>
                  <a:ext uri="{FF2B5EF4-FFF2-40B4-BE49-F238E27FC236}">
                    <a16:creationId xmlns:a16="http://schemas.microsoft.com/office/drawing/2014/main" id="{DECEFE30-010A-BD0B-F32D-C4D1E4ADFAA6}"/>
                  </a:ext>
                </a:extLst>
              </p:cNvPr>
              <p:cNvSpPr txBox="1"/>
              <p:nvPr/>
            </p:nvSpPr>
            <p:spPr>
              <a:xfrm>
                <a:off x="1891575" y="1959714"/>
                <a:ext cx="2016225" cy="447885"/>
              </a:xfrm>
              <a:prstGeom prst="rect">
                <a:avLst/>
              </a:prstGeom>
              <a:noFill/>
            </p:spPr>
            <p:txBody>
              <a:bodyPr wrap="none" lIns="0" tIns="0" rIns="0" bIns="0" rtlCol="0" anchor="ctr" anchorCtr="0">
                <a:noAutofit/>
              </a:bodyPr>
              <a:lstStyle/>
              <a:p>
                <a:pPr algn="just">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𝑅</m:t>
                          </m:r>
                        </m:e>
                        <m:sub>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b="0" i="1" smtClean="0">
                                  <a:solidFill>
                                    <a:srgbClr val="FF0000"/>
                                  </a:solidFill>
                                  <a:latin typeface="Cambria Math" panose="02040503050406030204" pitchFamily="18" charset="0"/>
                                  <a:ea typeface="Cambria Math" panose="02040503050406030204" pitchFamily="18" charset="0"/>
                                </a:rPr>
                              </m:ctrlPr>
                            </m:sSubPr>
                            <m:e>
                              <m:r>
                                <a:rPr lang="zh-TW" altLang="en-US" sz="1200" b="0" i="1" smtClean="0">
                                  <a:solidFill>
                                    <a:srgbClr val="FF0000"/>
                                  </a:solidFill>
                                  <a:latin typeface="Cambria Math" panose="02040503050406030204" pitchFamily="18" charset="0"/>
                                  <a:ea typeface="Cambria Math" panose="02040503050406030204" pitchFamily="18" charset="0"/>
                                </a:rPr>
                                <m:t>𝜃</m:t>
                              </m:r>
                            </m:e>
                            <m:sub>
                              <m:r>
                                <a:rPr lang="en-US" altLang="zh-TW" sz="1200" b="0" i="1" smtClean="0">
                                  <a:solidFill>
                                    <a:srgbClr val="FF0000"/>
                                  </a:solidFill>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b="0" i="0" smtClean="0">
                                        <a:solidFill>
                                          <a:srgbClr val="FF0000"/>
                                        </a:solidFill>
                                        <a:latin typeface="Cambria Math" panose="02040503050406030204" pitchFamily="18" charset="0"/>
                                        <a:ea typeface="Cambria Math" panose="02040503050406030204" pitchFamily="18" charset="0"/>
                                      </a:rPr>
                                      <m:t>c</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𝑙</m:t>
                                        </m:r>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b="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b="0" i="0" smtClean="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25" name="文字方塊 24">
                <a:extLst>
                  <a:ext uri="{FF2B5EF4-FFF2-40B4-BE49-F238E27FC236}">
                    <a16:creationId xmlns:a16="http://schemas.microsoft.com/office/drawing/2014/main" id="{DECEFE30-010A-BD0B-F32D-C4D1E4ADFAA6}"/>
                  </a:ext>
                </a:extLst>
              </p:cNvPr>
              <p:cNvSpPr txBox="1">
                <a:spLocks noRot="1" noChangeAspect="1" noMove="1" noResize="1" noEditPoints="1" noAdjustHandles="1" noChangeArrowheads="1" noChangeShapeType="1" noTextEdit="1"/>
              </p:cNvSpPr>
              <p:nvPr/>
            </p:nvSpPr>
            <p:spPr>
              <a:xfrm>
                <a:off x="1891575" y="1959714"/>
                <a:ext cx="2016225" cy="447885"/>
              </a:xfrm>
              <a:prstGeom prst="rect">
                <a:avLst/>
              </a:prstGeom>
              <a:blipFill>
                <a:blip r:embed="rId4"/>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4" name="文字方塊 33">
                <a:extLst>
                  <a:ext uri="{FF2B5EF4-FFF2-40B4-BE49-F238E27FC236}">
                    <a16:creationId xmlns:a16="http://schemas.microsoft.com/office/drawing/2014/main" id="{9320DAC2-A578-FDAB-0D7D-7C76D50F0F5A}"/>
                  </a:ext>
                </a:extLst>
              </p:cNvPr>
              <p:cNvSpPr txBox="1"/>
              <p:nvPr/>
            </p:nvSpPr>
            <p:spPr>
              <a:xfrm>
                <a:off x="5004048" y="4718948"/>
                <a:ext cx="2376264"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dPr>
                        <m:e>
                          <m:m>
                            <m:mPr>
                              <m:mcs>
                                <m:mc>
                                  <m:mcPr>
                                    <m:count m:val="3"/>
                                    <m:mcJc m:val="center"/>
                                  </m:mcPr>
                                </m:mc>
                              </m:mcs>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mP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b="0" i="1" smtClean="0">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m:t>
                                            </m:r>
                                            <m:r>
                                              <a:rPr lang="en-US" altLang="zh-TW" sz="1200" i="1">
                                                <a:latin typeface="Cambria Math" panose="02040503050406030204" pitchFamily="18" charset="0"/>
                                                <a:ea typeface="Cambria Math" panose="02040503050406030204" pitchFamily="18" charset="0"/>
                                              </a:rPr>
                                              <m:t>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m:t>
                                        </m:r>
                                        <m:r>
                                          <m:rPr>
                                            <m:sty m:val="p"/>
                                          </m:rPr>
                                          <a:rPr lang="en-US" altLang="zh-TW" sz="1200" b="0" i="0" smtClean="0">
                                            <a:latin typeface="Cambria Math" panose="02040503050406030204" pitchFamily="18" charset="0"/>
                                            <a:ea typeface="Cambria Math" panose="02040503050406030204" pitchFamily="18" charset="0"/>
                                          </a:rPr>
                                          <m:t>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0</m:t>
                                            </m:r>
                                          </m:sub>
                                        </m:sSub>
                                      </m:e>
                                    </m:func>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b="0" i="1" smtClean="0">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1</m:t>
                                                </m:r>
                                              </m:sub>
                                            </m:sSub>
                                          </m:e>
                                        </m:func>
                                      </m:e>
                                    </m:eqArr>
                                  </m:e>
                                </m:eqArr>
                              </m:e>
                            </m:mr>
                            <m:mr>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ctrlPr>
                                  </m:eqArr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rPr>
                                      <m:t>⋮</m:t>
                                    </m:r>
                                  </m:e>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a:rPr lang="en-US" altLang="zh-TW" sz="1200" b="0" i="0" smtClean="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mr>
                            <m:mr>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m:t>
                                        </m:r>
                                        <m:r>
                                          <m:rPr>
                                            <m:sty m:val="p"/>
                                          </m:rPr>
                                          <a:rPr lang="en-US" altLang="zh-TW" sz="1200" b="0" i="0" smtClean="0">
                                            <a:solidFill>
                                              <a:srgbClr val="FF0000"/>
                                            </a:solidFill>
                                            <a:latin typeface="Cambria Math" panose="02040503050406030204" pitchFamily="18" charset="0"/>
                                            <a:ea typeface="Cambria Math" panose="02040503050406030204" pitchFamily="18" charset="0"/>
                                          </a:rPr>
                                          <m:t>in</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e>
                                <m:r>
                                  <a:rPr kumimoji="0" lang="en-US" altLang="zh-TW" sz="1200" b="0" i="1" u="none" strike="noStrike" kern="1200" cap="none" spc="0" normalizeH="0" baseline="0" noProof="0" smtClean="0">
                                    <a:ln>
                                      <a:noFill/>
                                    </a:ln>
                                    <a:solidFill>
                                      <a:schemeClr val="bg1"/>
                                    </a:solidFill>
                                    <a:effectLst/>
                                    <a:uLnTx/>
                                    <a:uFillTx/>
                                    <a:latin typeface="Cambria Math" panose="02040503050406030204" pitchFamily="18" charset="0"/>
                                    <a:ea typeface="Cambria Math" panose="02040503050406030204" pitchFamily="18" charset="0"/>
                                  </a:rPr>
                                  <m:t>⋯</m:t>
                                </m:r>
                              </m:e>
                              <m:e>
                                <m:eqArr>
                                  <m:eqArrPr>
                                    <m:ctrlPr>
                                      <a:rPr lang="en-US" altLang="zh-TW" sz="1200" i="1">
                                        <a:latin typeface="Cambria Math" panose="02040503050406030204" pitchFamily="18" charset="0"/>
                                        <a:ea typeface="Cambria Math" panose="02040503050406030204" pitchFamily="18" charset="0"/>
                                      </a:rPr>
                                    </m:ctrlPr>
                                  </m:eqArrPr>
                                  <m:e>
                                    <m:func>
                                      <m:funcPr>
                                        <m:ctrlPr>
                                          <a:rPr lang="en-US" altLang="zh-TW" sz="1200" i="1" smtClean="0">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mr>
                          </m:m>
                        </m:e>
                      </m:d>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eqArrPr>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0</m:t>
                                  </m:r>
                                </m:sub>
                              </m:sSub>
                            </m:e>
                            <m:e>
                              <m:sSub>
                                <m:sSubPr>
                                  <m:ctrlP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2</m:t>
                                  </m:r>
                                </m:sub>
                              </m:sSub>
                            </m:e>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b="0" i="1" smtClean="0">
                                      <a:solidFill>
                                        <a:prstClr val="black"/>
                                      </a:solidFill>
                                      <a:latin typeface="Cambria Math" panose="02040503050406030204" pitchFamily="18" charset="0"/>
                                      <a:ea typeface="Cambria Math" panose="02040503050406030204" pitchFamily="18" charset="0"/>
                                    </a:rPr>
                                    <m:t>3</m:t>
                                  </m:r>
                                </m:sub>
                              </m:sSub>
                            </m:e>
                            <m:e>
                              <m:r>
                                <a:rPr lang="en-US" altLang="zh-TW" sz="1200" i="1">
                                  <a:solidFill>
                                    <a:prstClr val="black"/>
                                  </a:solidFill>
                                  <a:latin typeface="Cambria Math" panose="02040503050406030204" pitchFamily="18" charset="0"/>
                                  <a:ea typeface="Cambria Math" panose="02040503050406030204" pitchFamily="18" charset="0"/>
                                </a:rPr>
                                <m:t>⋮</m:t>
                              </m:r>
                            </m:e>
                            <m:e>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ea typeface="Cambria Math" panose="02040503050406030204" pitchFamily="18" charset="0"/>
                                      <a:cs typeface="+mn-cs"/>
                                    </a:rPr>
                                    <m:t>𝑣</m:t>
                                  </m:r>
                                </m:e>
                                <m:sub>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2</m:t>
                                  </m:r>
                                  <m: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ea typeface="Cambria Math" panose="02040503050406030204" pitchFamily="18" charset="0"/>
                                      <a:cs typeface="+mn-cs"/>
                                    </a:rPr>
                                    <m:t>𝑖</m:t>
                                  </m:r>
                                </m:sub>
                              </m:sSub>
                            </m:e>
                            <m:e>
                              <m:sSub>
                                <m:sSubPr>
                                  <m:ctrlPr>
                                    <a:rPr lang="en-US" altLang="zh-TW" sz="1200" i="1" smtClean="0">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lang="zh-TW" altLang="en-US" dirty="0"/>
              </a:p>
            </p:txBody>
          </p:sp>
        </mc:Choice>
        <mc:Fallback xmlns="">
          <p:sp>
            <p:nvSpPr>
              <p:cNvPr id="34" name="文字方塊 33">
                <a:extLst>
                  <a:ext uri="{FF2B5EF4-FFF2-40B4-BE49-F238E27FC236}">
                    <a16:creationId xmlns:a16="http://schemas.microsoft.com/office/drawing/2014/main" id="{9320DAC2-A578-FDAB-0D7D-7C76D50F0F5A}"/>
                  </a:ext>
                </a:extLst>
              </p:cNvPr>
              <p:cNvSpPr txBox="1">
                <a:spLocks noRot="1" noChangeAspect="1" noMove="1" noResize="1" noEditPoints="1" noAdjustHandles="1" noChangeArrowheads="1" noChangeShapeType="1" noTextEdit="1"/>
              </p:cNvSpPr>
              <p:nvPr/>
            </p:nvSpPr>
            <p:spPr>
              <a:xfrm>
                <a:off x="5004048" y="4718948"/>
                <a:ext cx="2376264" cy="15183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6" name="文字方塊 35">
                <a:extLst>
                  <a:ext uri="{FF2B5EF4-FFF2-40B4-BE49-F238E27FC236}">
                    <a16:creationId xmlns:a16="http://schemas.microsoft.com/office/drawing/2014/main" id="{5E331054-5827-7B11-EFAF-E06442BE4DF0}"/>
                  </a:ext>
                </a:extLst>
              </p:cNvPr>
              <p:cNvSpPr txBox="1"/>
              <p:nvPr/>
            </p:nvSpPr>
            <p:spPr>
              <a:xfrm>
                <a:off x="1891575" y="1519608"/>
                <a:ext cx="2016225" cy="476674"/>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ea typeface="Cambria Math" panose="02040503050406030204" pitchFamily="18" charset="0"/>
                            </a:rPr>
                          </m:ctrlPr>
                        </m:sSupPr>
                        <m:e>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𝑏𝑎𝑠𝑒</m:t>
                          </m:r>
                        </m:e>
                        <m:sup>
                          <m:r>
                            <a:rPr lang="en-US" altLang="zh-TW" sz="1200" b="0" i="1" smtClean="0">
                              <a:latin typeface="Cambria Math" panose="02040503050406030204" pitchFamily="18" charset="0"/>
                              <a:ea typeface="Cambria Math" panose="02040503050406030204" pitchFamily="18" charset="0"/>
                            </a:rPr>
                            <m:t>−</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2</m:t>
                              </m:r>
                              <m:r>
                                <a:rPr lang="en-US" altLang="zh-TW" sz="1200" b="0" i="1" smtClean="0">
                                  <a:latin typeface="Cambria Math" panose="02040503050406030204" pitchFamily="18" charset="0"/>
                                  <a:ea typeface="Cambria Math" panose="02040503050406030204" pitchFamily="18" charset="0"/>
                                </a:rPr>
                                <m:t>𝑖</m:t>
                              </m:r>
                            </m:num>
                            <m:den>
                              <m:r>
                                <a:rPr lang="en-US" altLang="zh-TW" sz="1200" b="0" i="1" smtClean="0">
                                  <a:latin typeface="Cambria Math" panose="02040503050406030204" pitchFamily="18" charset="0"/>
                                  <a:ea typeface="Cambria Math" panose="02040503050406030204" pitchFamily="18" charset="0"/>
                                </a:rPr>
                                <m:t>𝑑</m:t>
                              </m:r>
                            </m:den>
                          </m:f>
                        </m:sup>
                      </m:sSup>
                      <m:r>
                        <a:rPr lang="en-US" altLang="zh-TW" sz="1200" b="0" i="1" smtClean="0">
                          <a:latin typeface="Cambria Math" panose="02040503050406030204" pitchFamily="18" charset="0"/>
                          <a:ea typeface="Cambria Math" panose="02040503050406030204" pitchFamily="18" charset="0"/>
                        </a:rPr>
                        <m:t> , </m:t>
                      </m:r>
                      <m:r>
                        <a:rPr lang="en-US" altLang="zh-TW" sz="1200" b="0" i="1" smtClean="0">
                          <a:latin typeface="Cambria Math" panose="02040503050406030204" pitchFamily="18" charset="0"/>
                          <a:ea typeface="Cambria Math" panose="02040503050406030204" pitchFamily="18" charset="0"/>
                        </a:rPr>
                        <m:t>𝑖</m:t>
                      </m:r>
                      <m:r>
                        <a:rPr lang="en-US" altLang="zh-TW" sz="1200" b="0" i="1" smtClean="0">
                          <a:latin typeface="Cambria Math" panose="02040503050406030204" pitchFamily="18" charset="0"/>
                          <a:ea typeface="Cambria Math" panose="02040503050406030204" pitchFamily="18" charset="0"/>
                        </a:rPr>
                        <m:t>=0,1,…,</m:t>
                      </m:r>
                      <m:f>
                        <m:fPr>
                          <m:ctrlPr>
                            <a:rPr lang="en-US" altLang="zh-TW" sz="1200" b="0" i="1" smtClean="0">
                              <a:latin typeface="Cambria Math" panose="02040503050406030204" pitchFamily="18" charset="0"/>
                              <a:ea typeface="Cambria Math" panose="02040503050406030204" pitchFamily="18" charset="0"/>
                            </a:rPr>
                          </m:ctrlPr>
                        </m:fPr>
                        <m:num>
                          <m:r>
                            <a:rPr lang="en-US" altLang="zh-TW" sz="1200" b="0" i="1" smtClean="0">
                              <a:latin typeface="Cambria Math" panose="02040503050406030204" pitchFamily="18" charset="0"/>
                              <a:ea typeface="Cambria Math" panose="02040503050406030204" pitchFamily="18" charset="0"/>
                            </a:rPr>
                            <m:t>𝑑</m:t>
                          </m:r>
                        </m:num>
                        <m:den>
                          <m:r>
                            <a:rPr lang="en-US" altLang="zh-TW" sz="1200" b="0" i="1" smtClean="0">
                              <a:latin typeface="Cambria Math" panose="02040503050406030204" pitchFamily="18" charset="0"/>
                              <a:ea typeface="Cambria Math" panose="02040503050406030204" pitchFamily="18" charset="0"/>
                            </a:rPr>
                            <m:t>2</m:t>
                          </m:r>
                        </m:den>
                      </m:f>
                      <m:r>
                        <a:rPr lang="en-US" altLang="zh-TW" sz="1200" b="0" i="1" smtClean="0">
                          <a:latin typeface="Cambria Math" panose="02040503050406030204" pitchFamily="18" charset="0"/>
                          <a:ea typeface="Cambria Math" panose="02040503050406030204" pitchFamily="18" charset="0"/>
                        </a:rPr>
                        <m:t>−1 </m:t>
                      </m:r>
                    </m:oMath>
                  </m:oMathPara>
                </a14:m>
                <a:endParaRPr lang="en-US" altLang="zh-TW" sz="1200" b="0" i="1" dirty="0">
                  <a:latin typeface="Cambria Math" panose="02040503050406030204" pitchFamily="18" charset="0"/>
                  <a:ea typeface="Cambria Math" panose="02040503050406030204" pitchFamily="18" charset="0"/>
                </a:endParaRPr>
              </a:p>
            </p:txBody>
          </p:sp>
        </mc:Choice>
        <mc:Fallback xmlns="">
          <p:sp>
            <p:nvSpPr>
              <p:cNvPr id="36" name="文字方塊 35">
                <a:extLst>
                  <a:ext uri="{FF2B5EF4-FFF2-40B4-BE49-F238E27FC236}">
                    <a16:creationId xmlns:a16="http://schemas.microsoft.com/office/drawing/2014/main" id="{5E331054-5827-7B11-EFAF-E06442BE4DF0}"/>
                  </a:ext>
                </a:extLst>
              </p:cNvPr>
              <p:cNvSpPr txBox="1">
                <a:spLocks noRot="1" noChangeAspect="1" noMove="1" noResize="1" noEditPoints="1" noAdjustHandles="1" noChangeArrowheads="1" noChangeShapeType="1" noTextEdit="1"/>
              </p:cNvSpPr>
              <p:nvPr/>
            </p:nvSpPr>
            <p:spPr>
              <a:xfrm>
                <a:off x="1891575" y="1519608"/>
                <a:ext cx="2016225" cy="476674"/>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0" name="文字方塊 39">
                <a:extLst>
                  <a:ext uri="{FF2B5EF4-FFF2-40B4-BE49-F238E27FC236}">
                    <a16:creationId xmlns:a16="http://schemas.microsoft.com/office/drawing/2014/main" id="{E8C236E5-E62F-6B00-D01F-96BAF6DFEACE}"/>
                  </a:ext>
                </a:extLst>
              </p:cNvPr>
              <p:cNvSpPr txBox="1"/>
              <p:nvPr/>
            </p:nvSpPr>
            <p:spPr>
              <a:xfrm>
                <a:off x="539552" y="2924944"/>
                <a:ext cx="3672405" cy="1018760"/>
              </a:xfrm>
              <a:prstGeom prst="rect">
                <a:avLst/>
              </a:prstGeom>
              <a:noFill/>
            </p:spPr>
            <p:txBody>
              <a:bodyPr wrap="none" lIns="0" tIns="0" rIns="0" bIns="0" rtlCol="0" anchor="ctr" anchorCtr="0">
                <a:noAutofit/>
              </a:bodyPr>
              <a:lstStyle/>
              <a:p>
                <a:pPr algn="ctr">
                  <a:lnSpc>
                    <a:spcPct val="150000"/>
                  </a:lnSpc>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𝑙</m:t>
                              </m:r>
                            </m:sub>
                          </m:sSub>
                        </m:e>
                      </m:d>
                    </m:oMath>
                  </m:oMathPara>
                </a14:m>
                <a:endParaRPr lang="en-US" altLang="zh-TW" sz="1200" i="1" dirty="0">
                  <a:solidFill>
                    <a:prstClr val="black"/>
                  </a:solidFill>
                  <a:latin typeface="Cambria Math" panose="02040503050406030204" pitchFamily="18" charset="0"/>
                </a:endParaRPr>
              </a:p>
              <a:p>
                <a:pPr algn="ctr">
                  <a:lnSpc>
                    <a:spcPct val="150000"/>
                  </a:lnSpc>
                </a:pPr>
                <a14:m>
                  <m:oMathPara xmlns:m="http://schemas.openxmlformats.org/officeDocument/2006/math">
                    <m:oMathParaPr>
                      <m:jc m:val="left"/>
                    </m:oMathParaPr>
                    <m:oMath xmlns:m="http://schemas.openxmlformats.org/officeDocument/2006/math">
                      <m:r>
                        <a:rPr lang="en-US" altLang="zh-TW" sz="1200" i="1">
                          <a:solidFill>
                            <a:prstClr val="black"/>
                          </a:solidFill>
                          <a:latin typeface="Cambria Math" panose="02040503050406030204" pitchFamily="18" charset="0"/>
                        </a:rPr>
                        <m:t>=</m:t>
                      </m:r>
                      <m:r>
                        <a:rPr lang="en-US" altLang="zh-TW" sz="1200" i="1">
                          <a:solidFill>
                            <a:prstClr val="black"/>
                          </a:solidFill>
                          <a:latin typeface="Cambria Math" panose="02040503050406030204" pitchFamily="18" charset="0"/>
                        </a:rPr>
                        <m:t>𝑅𝑜𝑃𝐸</m:t>
                      </m:r>
                      <m:d>
                        <m:dPr>
                          <m:ctrlPr>
                            <a:rPr lang="en-US" altLang="zh-TW" sz="1200" i="1">
                              <a:solidFill>
                                <a:prstClr val="black"/>
                              </a:solidFill>
                              <a:latin typeface="Cambria Math" panose="02040503050406030204" pitchFamily="18" charset="0"/>
                            </a:rPr>
                          </m:ctrlPr>
                        </m:dPr>
                        <m:e>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0</m:t>
                              </m:r>
                            </m:sub>
                          </m:sSub>
                          <m:r>
                            <a:rPr lang="en-US" altLang="zh-TW" sz="1200" i="1">
                              <a:solidFill>
                                <a:prstClr val="black"/>
                              </a:solidFill>
                              <a:latin typeface="Cambria Math" panose="02040503050406030204" pitchFamily="18" charset="0"/>
                            </a:rPr>
                            <m:t>,</m:t>
                          </m:r>
                          <m:sSub>
                            <m:sSubPr>
                              <m:ctrlPr>
                                <a:rPr lang="en-US" altLang="zh-TW" sz="1200" i="1">
                                  <a:solidFill>
                                    <a:prstClr val="black"/>
                                  </a:solidFill>
                                  <a:latin typeface="Cambria Math" panose="02040503050406030204" pitchFamily="18" charset="0"/>
                                </a:rPr>
                              </m:ctrlPr>
                            </m:sSubPr>
                            <m:e>
                              <m:r>
                                <a:rPr lang="en-US" altLang="zh-TW" sz="1200" i="1">
                                  <a:solidFill>
                                    <a:prstClr val="black"/>
                                  </a:solidFill>
                                  <a:latin typeface="Cambria Math" panose="02040503050406030204" pitchFamily="18" charset="0"/>
                                </a:rPr>
                                <m:t>𝑣</m:t>
                              </m:r>
                            </m:e>
                            <m:sub>
                              <m:r>
                                <a:rPr lang="en-US" altLang="zh-TW" sz="1200" i="1">
                                  <a:solidFill>
                                    <a:prstClr val="black"/>
                                  </a:solidFill>
                                  <a:latin typeface="Cambria Math" panose="02040503050406030204" pitchFamily="18" charset="0"/>
                                </a:rPr>
                                <m:t>1</m:t>
                              </m:r>
                            </m:sub>
                          </m:sSub>
                          <m:r>
                            <a:rPr lang="en-US" altLang="zh-TW" sz="1200" i="1">
                              <a:solidFill>
                                <a:prstClr val="black"/>
                              </a:solidFill>
                              <a:latin typeface="Cambria Math" panose="02040503050406030204" pitchFamily="18" charset="0"/>
                            </a:rPr>
                            <m:t>,</m:t>
                          </m:r>
                          <m:r>
                            <a:rPr lang="en-US" altLang="zh-TW" sz="1200">
                              <a:solidFill>
                                <a:prstClr val="black"/>
                              </a:solidFill>
                              <a:latin typeface="Cambria Math" panose="02040503050406030204" pitchFamily="18" charset="0"/>
                            </a:rPr>
                            <m:t>…</m:t>
                          </m:r>
                          <m:r>
                            <a:rPr lang="en-US" altLang="zh-TW" sz="1200" b="0" i="1" smtClean="0">
                              <a:solidFill>
                                <a:prstClr val="black"/>
                              </a:solidFill>
                              <a:latin typeface="Cambria Math" panose="02040503050406030204" pitchFamily="18" charset="0"/>
                            </a:rPr>
                            <m:t>                       </m:t>
                          </m:r>
                          <m:r>
                            <a:rPr lang="en-US" altLang="zh-TW" sz="1200" i="1">
                              <a:solidFill>
                                <a:prstClr val="black"/>
                              </a:solidFill>
                              <a:latin typeface="Cambria Math" panose="02040503050406030204" pitchFamily="18" charset="0"/>
                            </a:rPr>
                            <m:t>,…</m:t>
                          </m:r>
                        </m:e>
                      </m:d>
                      <m:r>
                        <a:rPr lang="en-US" altLang="zh-TW" sz="1200">
                          <a:solidFill>
                            <a:prstClr val="black"/>
                          </a:solidFill>
                          <a:latin typeface="Cambria Math" panose="02040503050406030204" pitchFamily="18" charset="0"/>
                        </a:rPr>
                        <m:t> </m:t>
                      </m:r>
                    </m:oMath>
                  </m:oMathPara>
                </a14:m>
                <a:endParaRPr lang="en-US" altLang="zh-TW" sz="1200" dirty="0">
                  <a:solidFill>
                    <a:prstClr val="black"/>
                  </a:solidFill>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i="1">
                          <a:latin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0</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𝑣</m:t>
                              </m:r>
                            </m:e>
                            <m:sub>
                              <m:r>
                                <a:rPr lang="en-US" altLang="zh-TW" sz="1200" i="1">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i="1">
                                  <a:latin typeface="Cambria Math" panose="02040503050406030204" pitchFamily="18" charset="0"/>
                                </a:rPr>
                                <m:t>𝑣</m:t>
                              </m:r>
                            </m:e>
                            <m:sub>
                              <m:r>
                                <a:rPr lang="en-US" altLang="zh-TW" sz="1200" i="1">
                                  <a:latin typeface="Cambria Math" panose="02040503050406030204" pitchFamily="18" charset="0"/>
                                </a:rPr>
                                <m:t>3</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𝑅</m:t>
                          </m:r>
                        </m:e>
                        <m:sub>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smtClean="0">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𝑖</m:t>
                              </m:r>
                            </m:sub>
                          </m:sSub>
                          <m:sSub>
                            <m:sSubPr>
                              <m:ctrlPr>
                                <a:rPr lang="en-US" altLang="zh-TW" sz="1200" i="1">
                                  <a:solidFill>
                                    <a:srgbClr val="FF0000"/>
                                  </a:solidFill>
                                  <a:latin typeface="Cambria Math" panose="02040503050406030204" pitchFamily="18" charset="0"/>
                                </a:rPr>
                              </m:ctrlPr>
                            </m:sSubPr>
                            <m:e>
                              <m:r>
                                <a:rPr lang="en-US" altLang="zh-TW" sz="1200" i="1">
                                  <a:solidFill>
                                    <a:srgbClr val="FF0000"/>
                                  </a:solidFill>
                                  <a:latin typeface="Cambria Math" panose="02040503050406030204" pitchFamily="18" charset="0"/>
                                </a:rPr>
                                <m:t>,</m:t>
                              </m:r>
                              <m:r>
                                <a:rPr lang="en-US" altLang="zh-TW" sz="1200" i="1">
                                  <a:solidFill>
                                    <a:srgbClr val="FF0000"/>
                                  </a:solidFill>
                                  <a:latin typeface="Cambria Math" panose="02040503050406030204" pitchFamily="18" charset="0"/>
                                </a:rPr>
                                <m:t>𝑣</m:t>
                              </m:r>
                            </m:e>
                            <m:sub>
                              <m:r>
                                <a:rPr lang="en-US" altLang="zh-TW" sz="1200" i="1">
                                  <a:solidFill>
                                    <a:srgbClr val="FF0000"/>
                                  </a:solidFill>
                                  <a:latin typeface="Cambria Math" panose="02040503050406030204" pitchFamily="18" charset="0"/>
                                </a:rPr>
                                <m:t>2</m:t>
                              </m:r>
                              <m:r>
                                <a:rPr lang="en-US" altLang="zh-TW" sz="1200" i="1">
                                  <a:solidFill>
                                    <a:srgbClr val="FF0000"/>
                                  </a:solidFill>
                                  <a:latin typeface="Cambria Math" panose="02040503050406030204" pitchFamily="18" charset="0"/>
                                </a:rPr>
                                <m:t>𝑖</m:t>
                              </m:r>
                              <m:r>
                                <a:rPr lang="en-US" altLang="zh-TW" sz="1200" i="1">
                                  <a:solidFill>
                                    <a:srgbClr val="FF0000"/>
                                  </a:solidFill>
                                  <a:latin typeface="Cambria Math" panose="02040503050406030204" pitchFamily="18" charset="0"/>
                                </a:rPr>
                                <m:t>+1</m:t>
                              </m:r>
                            </m:sub>
                          </m:sSub>
                        </m:e>
                      </m:d>
                      <m:r>
                        <a:rPr lang="az-Cyrl-AZ" altLang="zh-TW" sz="1200" i="1">
                          <a:latin typeface="Cambria Math" panose="02040503050406030204" pitchFamily="18" charset="0"/>
                          <a:ea typeface="Cambria Math" panose="02040503050406030204" pitchFamily="18" charset="0"/>
                        </a:rPr>
                        <m:t>ꚛ</m:t>
                      </m:r>
                      <m:r>
                        <a:rPr lang="en-US" altLang="zh-TW" sz="1200" i="1">
                          <a:latin typeface="Cambria Math" panose="02040503050406030204" pitchFamily="18" charset="0"/>
                          <a:ea typeface="Cambria Math" panose="02040503050406030204" pitchFamily="18" charset="0"/>
                        </a:rPr>
                        <m:t>…</m:t>
                      </m:r>
                    </m:oMath>
                  </m:oMathPara>
                </a14:m>
                <a:endParaRPr lang="en-US" altLang="zh-TW" sz="1200" i="1" dirty="0">
                  <a:latin typeface="Cambria Math" panose="02040503050406030204" pitchFamily="18" charset="0"/>
                </a:endParaRPr>
              </a:p>
            </p:txBody>
          </p:sp>
        </mc:Choice>
        <mc:Fallback xmlns="">
          <p:sp>
            <p:nvSpPr>
              <p:cNvPr id="40" name="文字方塊 39">
                <a:extLst>
                  <a:ext uri="{FF2B5EF4-FFF2-40B4-BE49-F238E27FC236}">
                    <a16:creationId xmlns:a16="http://schemas.microsoft.com/office/drawing/2014/main" id="{E8C236E5-E62F-6B00-D01F-96BAF6DFEACE}"/>
                  </a:ext>
                </a:extLst>
              </p:cNvPr>
              <p:cNvSpPr txBox="1">
                <a:spLocks noRot="1" noChangeAspect="1" noMove="1" noResize="1" noEditPoints="1" noAdjustHandles="1" noChangeArrowheads="1" noChangeShapeType="1" noTextEdit="1"/>
              </p:cNvSpPr>
              <p:nvPr/>
            </p:nvSpPr>
            <p:spPr>
              <a:xfrm>
                <a:off x="539552" y="2924944"/>
                <a:ext cx="3672405" cy="1018760"/>
              </a:xfrm>
              <a:prstGeom prst="rect">
                <a:avLst/>
              </a:prstGeom>
              <a:blipFill>
                <a:blip r:embed="rId7"/>
                <a:stretch>
                  <a:fillRect l="-149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1" name="文字方塊 40">
                <a:extLst>
                  <a:ext uri="{FF2B5EF4-FFF2-40B4-BE49-F238E27FC236}">
                    <a16:creationId xmlns:a16="http://schemas.microsoft.com/office/drawing/2014/main" id="{5EE6B8B5-7E70-C752-6DAD-D8F22799D214}"/>
                  </a:ext>
                </a:extLst>
              </p:cNvPr>
              <p:cNvSpPr txBox="1"/>
              <p:nvPr/>
            </p:nvSpPr>
            <p:spPr>
              <a:xfrm>
                <a:off x="3059832" y="4712969"/>
                <a:ext cx="1872208" cy="1518364"/>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smtClean="0">
                          <a:solidFill>
                            <a:prstClr val="black"/>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r>
                                <a:rPr lang="en-US" altLang="zh-TW" sz="1200" i="1">
                                  <a:solidFill>
                                    <a:prstClr val="black"/>
                                  </a:solidFill>
                                  <a:latin typeface="Cambria Math" panose="02040503050406030204" pitchFamily="18" charset="0"/>
                                  <a:ea typeface="Cambria Math" panose="02040503050406030204" pitchFamily="18" charset="0"/>
                                </a:rPr>
                                <m:t>⋮</m:t>
                              </m:r>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1" name="文字方塊 40">
                <a:extLst>
                  <a:ext uri="{FF2B5EF4-FFF2-40B4-BE49-F238E27FC236}">
                    <a16:creationId xmlns:a16="http://schemas.microsoft.com/office/drawing/2014/main" id="{5EE6B8B5-7E70-C752-6DAD-D8F22799D214}"/>
                  </a:ext>
                </a:extLst>
              </p:cNvPr>
              <p:cNvSpPr txBox="1">
                <a:spLocks noRot="1" noChangeAspect="1" noMove="1" noResize="1" noEditPoints="1" noAdjustHandles="1" noChangeArrowheads="1" noChangeShapeType="1" noTextEdit="1"/>
              </p:cNvSpPr>
              <p:nvPr/>
            </p:nvSpPr>
            <p:spPr>
              <a:xfrm>
                <a:off x="3059832" y="4712969"/>
                <a:ext cx="1872208" cy="1518364"/>
              </a:xfrm>
              <a:prstGeom prst="rect">
                <a:avLst/>
              </a:prstGeom>
              <a:blipFill>
                <a:blip r:embed="rId8"/>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5" name="文字方塊 44">
                <a:extLst>
                  <a:ext uri="{FF2B5EF4-FFF2-40B4-BE49-F238E27FC236}">
                    <a16:creationId xmlns:a16="http://schemas.microsoft.com/office/drawing/2014/main" id="{49BF8C33-E713-F6C4-5866-95AD37D15273}"/>
                  </a:ext>
                </a:extLst>
              </p:cNvPr>
              <p:cNvSpPr txBox="1"/>
              <p:nvPr/>
            </p:nvSpPr>
            <p:spPr>
              <a:xfrm>
                <a:off x="930730" y="471916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b="0" i="1"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func>
                                <m:funcPr>
                                  <m:ctrlPr>
                                    <a:rPr lang="en-US" altLang="zh-TW" sz="1200" i="1">
                                      <a:latin typeface="Cambria Math" panose="02040503050406030204" pitchFamily="18" charset="0"/>
                                      <a:ea typeface="Cambria Math" panose="02040503050406030204" pitchFamily="18" charset="0"/>
                                    </a:rPr>
                                  </m:ctrlPr>
                                </m:funcPr>
                                <m:fName>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0</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1</m:t>
                                      </m:r>
                                    </m:sub>
                                  </m:sSub>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5" name="文字方塊 44">
                <a:extLst>
                  <a:ext uri="{FF2B5EF4-FFF2-40B4-BE49-F238E27FC236}">
                    <a16:creationId xmlns:a16="http://schemas.microsoft.com/office/drawing/2014/main" id="{49BF8C33-E713-F6C4-5866-95AD37D15273}"/>
                  </a:ext>
                </a:extLst>
              </p:cNvPr>
              <p:cNvSpPr txBox="1">
                <a:spLocks noRot="1" noChangeAspect="1" noMove="1" noResize="1" noEditPoints="1" noAdjustHandles="1" noChangeArrowheads="1" noChangeShapeType="1" noTextEdit="1"/>
              </p:cNvSpPr>
              <p:nvPr/>
            </p:nvSpPr>
            <p:spPr>
              <a:xfrm>
                <a:off x="930730" y="4719165"/>
                <a:ext cx="1781018" cy="485356"/>
              </a:xfrm>
              <a:prstGeom prst="rect">
                <a:avLst/>
              </a:prstGeom>
              <a:blipFill>
                <a:blip r:embed="rId9"/>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6" name="文字方塊 45">
                <a:extLst>
                  <a:ext uri="{FF2B5EF4-FFF2-40B4-BE49-F238E27FC236}">
                    <a16:creationId xmlns:a16="http://schemas.microsoft.com/office/drawing/2014/main" id="{B53BA721-5E37-3CAF-FB71-FA50D4078BCA}"/>
                  </a:ext>
                </a:extLst>
              </p:cNvPr>
              <p:cNvSpPr txBox="1"/>
              <p:nvPr/>
            </p:nvSpPr>
            <p:spPr>
              <a:xfrm>
                <a:off x="925334" y="5060505"/>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smtClean="0">
                                  <a:solidFill>
                                    <a:prstClr val="black"/>
                                  </a:solidFill>
                                  <a:latin typeface="Cambria Math" panose="02040503050406030204" pitchFamily="18" charset="0"/>
                                  <a:ea typeface="Cambria Math" panose="02040503050406030204" pitchFamily="18" charset="0"/>
                                </a:rPr>
                              </m:ctrlPr>
                            </m:eqArrPr>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b="0" i="1" smtClean="0">
                                      <a:solidFill>
                                        <a:prstClr val="black"/>
                                      </a:solidFill>
                                      <a:latin typeface="Cambria Math" panose="02040503050406030204" pitchFamily="18" charset="0"/>
                                      <a:ea typeface="Cambria Math" panose="02040503050406030204" pitchFamily="18" charset="0"/>
                                    </a:rPr>
                                    <m:t> </m:t>
                                  </m:r>
                                  <m:r>
                                    <m:rPr>
                                      <m:brk m:alnAt="7"/>
                                    </m:rPr>
                                    <a:rPr lang="en-US" altLang="zh-TW" sz="1200" i="1">
                                      <a:latin typeface="Cambria Math" panose="02040503050406030204" pitchFamily="18" charset="0"/>
                                      <a:ea typeface="Cambria Math" panose="02040503050406030204" pitchFamily="18" charset="0"/>
                                    </a:rPr>
                                    <m:t>𝑐</m:t>
                                  </m:r>
                                  <m:r>
                                    <a:rPr lang="en-US" altLang="zh-TW" sz="1200" i="1">
                                      <a:latin typeface="Cambria Math" panose="02040503050406030204" pitchFamily="18" charset="0"/>
                                      <a:ea typeface="Cambria Math" panose="02040503050406030204" pitchFamily="18" charset="0"/>
                                    </a:rPr>
                                    <m:t>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𝑠𝑖𝑛</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ea typeface="Cambria Math" panose="02040503050406030204" pitchFamily="18" charset="0"/>
                                    </a:rPr>
                                  </m:ctrlPr>
                                </m:funcPr>
                                <m:fName>
                                  <m:sSub>
                                    <m:sSubPr>
                                      <m:ctrlPr>
                                        <a:rPr lang="en-US" altLang="zh-TW" sz="1200" i="1">
                                          <a:solidFill>
                                            <a:prstClr val="black"/>
                                          </a:solidFill>
                                          <a:latin typeface="Cambria Math" panose="02040503050406030204" pitchFamily="18" charset="0"/>
                                          <a:ea typeface="Cambria Math" panose="02040503050406030204" pitchFamily="18" charset="0"/>
                                        </a:rPr>
                                      </m:ctrlPr>
                                    </m:sSubPr>
                                    <m:e>
                                      <m:r>
                                        <a:rPr lang="en-US" altLang="zh-TW" sz="1200" i="1">
                                          <a:solidFill>
                                            <a:prstClr val="black"/>
                                          </a:solidFill>
                                          <a:latin typeface="Cambria Math" panose="02040503050406030204" pitchFamily="18" charset="0"/>
                                          <a:ea typeface="Cambria Math" panose="02040503050406030204" pitchFamily="18" charset="0"/>
                                        </a:rPr>
                                        <m:t>𝑣</m:t>
                                      </m:r>
                                    </m:e>
                                    <m:sub>
                                      <m:r>
                                        <a:rPr lang="en-US" altLang="zh-TW" sz="1200" i="1">
                                          <a:solidFill>
                                            <a:prstClr val="black"/>
                                          </a:solidFill>
                                          <a:latin typeface="Cambria Math" panose="02040503050406030204" pitchFamily="18" charset="0"/>
                                          <a:ea typeface="Cambria Math" panose="02040503050406030204" pitchFamily="18" charset="0"/>
                                        </a:rPr>
                                        <m:t>3</m:t>
                                      </m:r>
                                    </m:sub>
                                  </m:sSub>
                                  <m:r>
                                    <a:rPr lang="en-US" altLang="zh-TW" sz="1200" i="1">
                                      <a:latin typeface="Cambria Math" panose="02040503050406030204" pitchFamily="18" charset="0"/>
                                      <a:ea typeface="Cambria Math" panose="02040503050406030204" pitchFamily="18" charset="0"/>
                                    </a:rPr>
                                    <m:t>𝑐𝑜𝑠</m:t>
                                  </m:r>
                                </m:fName>
                                <m:e>
                                  <m:r>
                                    <a:rPr lang="en-US" altLang="zh-TW" sz="1200" i="1">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6" name="文字方塊 45">
                <a:extLst>
                  <a:ext uri="{FF2B5EF4-FFF2-40B4-BE49-F238E27FC236}">
                    <a16:creationId xmlns:a16="http://schemas.microsoft.com/office/drawing/2014/main" id="{B53BA721-5E37-3CAF-FB71-FA50D4078BCA}"/>
                  </a:ext>
                </a:extLst>
              </p:cNvPr>
              <p:cNvSpPr txBox="1">
                <a:spLocks noRot="1" noChangeAspect="1" noMove="1" noResize="1" noEditPoints="1" noAdjustHandles="1" noChangeArrowheads="1" noChangeShapeType="1" noTextEdit="1"/>
              </p:cNvSpPr>
              <p:nvPr/>
            </p:nvSpPr>
            <p:spPr>
              <a:xfrm>
                <a:off x="925334" y="5060505"/>
                <a:ext cx="1781018" cy="485356"/>
              </a:xfrm>
              <a:prstGeom prst="rect">
                <a:avLst/>
              </a:prstGeom>
              <a:blipFill>
                <a:blip r:embed="rId10"/>
                <a:stretch>
                  <a:fillRect l="-2055"/>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7" name="文字方塊 46">
                <a:extLst>
                  <a:ext uri="{FF2B5EF4-FFF2-40B4-BE49-F238E27FC236}">
                    <a16:creationId xmlns:a16="http://schemas.microsoft.com/office/drawing/2014/main" id="{38DBAE69-A98E-B82A-FC3A-CE1B6E52F339}"/>
                  </a:ext>
                </a:extLst>
              </p:cNvPr>
              <p:cNvSpPr txBox="1"/>
              <p:nvPr/>
            </p:nvSpPr>
            <p:spPr>
              <a:xfrm>
                <a:off x="1780653" y="6093296"/>
                <a:ext cx="91440" cy="216024"/>
              </a:xfrm>
              <a:prstGeom prst="rect">
                <a:avLst/>
              </a:prstGeom>
              <a:noFill/>
            </p:spPr>
            <p:txBody>
              <a:bodyPr wrap="none" lIns="0" tIns="0" rIns="0" bIns="0" anchor="ctr" anchorCtr="1">
                <a:noAutofit/>
              </a:bodyPr>
              <a:lstStyle/>
              <a:p>
                <a:pPr algn="ctr"/>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7" name="文字方塊 46">
                <a:extLst>
                  <a:ext uri="{FF2B5EF4-FFF2-40B4-BE49-F238E27FC236}">
                    <a16:creationId xmlns:a16="http://schemas.microsoft.com/office/drawing/2014/main" id="{38DBAE69-A98E-B82A-FC3A-CE1B6E52F339}"/>
                  </a:ext>
                </a:extLst>
              </p:cNvPr>
              <p:cNvSpPr txBox="1">
                <a:spLocks noRot="1" noChangeAspect="1" noMove="1" noResize="1" noEditPoints="1" noAdjustHandles="1" noChangeArrowheads="1" noChangeShapeType="1" noTextEdit="1"/>
              </p:cNvSpPr>
              <p:nvPr/>
            </p:nvSpPr>
            <p:spPr>
              <a:xfrm>
                <a:off x="1780653" y="6093296"/>
                <a:ext cx="91440" cy="216024"/>
              </a:xfrm>
              <a:prstGeom prst="rect">
                <a:avLst/>
              </a:prstGeom>
              <a:blipFill>
                <a:blip r:embed="rId11"/>
                <a:stretch>
                  <a:fillRect l="-13333" r="-4666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8" name="文字方塊 47">
                <a:extLst>
                  <a:ext uri="{FF2B5EF4-FFF2-40B4-BE49-F238E27FC236}">
                    <a16:creationId xmlns:a16="http://schemas.microsoft.com/office/drawing/2014/main" id="{6219F9C4-8249-2BDF-9852-9F91F32180E9}"/>
                  </a:ext>
                </a:extLst>
              </p:cNvPr>
              <p:cNvSpPr txBox="1"/>
              <p:nvPr/>
            </p:nvSpPr>
            <p:spPr>
              <a:xfrm>
                <a:off x="925334" y="5636569"/>
                <a:ext cx="1781018" cy="485356"/>
              </a:xfrm>
              <a:prstGeom prst="rect">
                <a:avLst/>
              </a:prstGeom>
              <a:noFill/>
            </p:spPr>
            <p:txBody>
              <a:bodyPr wrap="none" lIns="0" tIns="0" rIns="0" bIns="0" anchor="ctr" anchorCtr="0">
                <a:noAutofit/>
              </a:bodyPr>
              <a:lstStyle/>
              <a:p>
                <a:pPr/>
                <a14:m>
                  <m:oMathPara xmlns:m="http://schemas.openxmlformats.org/officeDocument/2006/math">
                    <m:oMathParaPr>
                      <m:jc m:val="left"/>
                    </m:oMathParaPr>
                    <m:oMath xmlns:m="http://schemas.openxmlformats.org/officeDocument/2006/math">
                      <m:r>
                        <a:rPr lang="en-US" altLang="zh-TW" sz="1200" i="1" noProof="0" smtClean="0">
                          <a:solidFill>
                            <a:schemeClr val="bg1">
                              <a:lumMod val="50000"/>
                            </a:schemeClr>
                          </a:solidFill>
                          <a:latin typeface="Cambria Math" panose="02040503050406030204" pitchFamily="18" charset="0"/>
                          <a:ea typeface="Cambria Math" panose="02040503050406030204" pitchFamily="18" charset="0"/>
                        </a:rPr>
                        <m:t>=</m:t>
                      </m:r>
                      <m:d>
                        <m:dPr>
                          <m:begChr m:val="["/>
                          <m:endChr m:val="]"/>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cs typeface="+mn-cs"/>
                            </a:rPr>
                          </m:ctrlPr>
                        </m:dPr>
                        <m:e>
                          <m:eqArr>
                            <m:eqArrPr>
                              <m:ctrlPr>
                                <a:rPr lang="en-US" altLang="zh-TW" sz="1200" i="1">
                                  <a:solidFill>
                                    <a:prstClr val="black"/>
                                  </a:solidFill>
                                  <a:latin typeface="Cambria Math" panose="02040503050406030204" pitchFamily="18" charset="0"/>
                                  <a:ea typeface="Cambria Math" panose="02040503050406030204" pitchFamily="18" charset="0"/>
                                </a:rPr>
                              </m:ctrlPr>
                            </m:eqArrP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sub>
                                  </m:sSub>
                                  <m:r>
                                    <a:rPr lang="en-US" altLang="zh-TW" sz="1200" i="1">
                                      <a:solidFill>
                                        <a:srgbClr val="FF0000"/>
                                      </a:solidFill>
                                      <a:latin typeface="Cambria Math" panose="02040503050406030204" pitchFamily="18" charset="0"/>
                                      <a:ea typeface="Cambria Math" panose="02040503050406030204" pitchFamily="18" charset="0"/>
                                    </a:rPr>
                                    <m:t>𝑠𝑖𝑛</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r>
                                <a:rPr lang="en-US" altLang="zh-TW" sz="1200" i="1">
                                  <a:solidFill>
                                    <a:srgbClr val="FF0000"/>
                                  </a:solidFill>
                                  <a:latin typeface="Cambria Math" panose="02040503050406030204" pitchFamily="18" charset="0"/>
                                  <a:ea typeface="Cambria Math" panose="02040503050406030204" pitchFamily="18" charset="0"/>
                                </a:rPr>
                                <m:t>+</m:t>
                              </m:r>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i="1">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i="1">
                                          <a:solidFill>
                                            <a:srgbClr val="FF0000"/>
                                          </a:solidFill>
                                          <a:latin typeface="Cambria Math" panose="02040503050406030204" pitchFamily="18" charset="0"/>
                                          <a:ea typeface="Cambria Math" panose="02040503050406030204" pitchFamily="18" charset="0"/>
                                        </a:rPr>
                                        <m:t>𝑖</m:t>
                                      </m:r>
                                      <m:r>
                                        <a:rPr lang="en-US" altLang="zh-TW" sz="1200" i="1">
                                          <a:solidFill>
                                            <a:srgbClr val="FF0000"/>
                                          </a:solidFill>
                                          <a:latin typeface="Cambria Math" panose="02040503050406030204" pitchFamily="18" charset="0"/>
                                          <a:ea typeface="Cambria Math" panose="02040503050406030204" pitchFamily="18" charset="0"/>
                                        </a:rPr>
                                        <m:t>+1</m:t>
                                      </m:r>
                                    </m:sub>
                                  </m:sSub>
                                  <m:r>
                                    <a:rPr lang="en-US" altLang="zh-TW" sz="1200" i="1">
                                      <a:solidFill>
                                        <a:srgbClr val="FF0000"/>
                                      </a:solidFill>
                                      <a:latin typeface="Cambria Math" panose="02040503050406030204" pitchFamily="18" charset="0"/>
                                      <a:ea typeface="Cambria Math" panose="02040503050406030204" pitchFamily="18" charset="0"/>
                                    </a:rPr>
                                    <m:t>𝑐𝑜𝑠</m:t>
                                  </m:r>
                                </m:fName>
                                <m:e>
                                  <m:r>
                                    <a:rPr lang="en-US" altLang="zh-TW" sz="1200" i="1">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qArr>
                        </m:e>
                      </m:d>
                    </m:oMath>
                  </m:oMathPara>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8" name="文字方塊 47">
                <a:extLst>
                  <a:ext uri="{FF2B5EF4-FFF2-40B4-BE49-F238E27FC236}">
                    <a16:creationId xmlns:a16="http://schemas.microsoft.com/office/drawing/2014/main" id="{6219F9C4-8249-2BDF-9852-9F91F32180E9}"/>
                  </a:ext>
                </a:extLst>
              </p:cNvPr>
              <p:cNvSpPr txBox="1">
                <a:spLocks noRot="1" noChangeAspect="1" noMove="1" noResize="1" noEditPoints="1" noAdjustHandles="1" noChangeArrowheads="1" noChangeShapeType="1" noTextEdit="1"/>
              </p:cNvSpPr>
              <p:nvPr/>
            </p:nvSpPr>
            <p:spPr>
              <a:xfrm>
                <a:off x="925334" y="5636569"/>
                <a:ext cx="1781018" cy="485356"/>
              </a:xfrm>
              <a:prstGeom prst="rect">
                <a:avLst/>
              </a:prstGeom>
              <a:blipFill>
                <a:blip r:embed="rId12"/>
                <a:stretch>
                  <a:fillRect l="-2055" r="-2397"/>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49" name="文字方塊 48">
                <a:extLst>
                  <a:ext uri="{FF2B5EF4-FFF2-40B4-BE49-F238E27FC236}">
                    <a16:creationId xmlns:a16="http://schemas.microsoft.com/office/drawing/2014/main" id="{8710FAEE-DC95-7B35-38E1-3851B10D3482}"/>
                  </a:ext>
                </a:extLst>
              </p:cNvPr>
              <p:cNvSpPr txBox="1"/>
              <p:nvPr/>
            </p:nvSpPr>
            <p:spPr>
              <a:xfrm>
                <a:off x="1763688" y="5517232"/>
                <a:ext cx="91440" cy="216024"/>
              </a:xfrm>
              <a:prstGeom prst="rect">
                <a:avLst/>
              </a:prstGeom>
              <a:noFill/>
            </p:spPr>
            <p:txBody>
              <a:bodyPr wrap="none" lIns="0" tIns="0" rIns="0" bIns="0" anchor="ctr" anchorCtr="1">
                <a:noAutofit/>
              </a:bodyPr>
              <a:lstStyle/>
              <a:p>
                <a:pPr algn="ctr"/>
                <a14:m>
                  <m:oMath xmlns:m="http://schemas.openxmlformats.org/officeDocument/2006/math">
                    <m:r>
                      <a:rPr lang="en-US" altLang="zh-TW" sz="1200" b="0" i="1" smtClean="0">
                        <a:solidFill>
                          <a:prstClr val="black"/>
                        </a:solidFill>
                        <a:latin typeface="Cambria Math" panose="02040503050406030204" pitchFamily="18" charset="0"/>
                        <a:ea typeface="Cambria Math" panose="02040503050406030204" pitchFamily="18" charset="0"/>
                      </a:rPr>
                      <m:t> </m:t>
                    </m:r>
                  </m:oMath>
                </a14:m>
                <a:r>
                  <a:rPr lang="en-US" altLang="zh-TW" sz="1200" dirty="0">
                    <a:solidFill>
                      <a:prstClr val="black"/>
                    </a:solidFill>
                    <a:ea typeface="Cambria Math" panose="02040503050406030204" pitchFamily="18" charset="0"/>
                  </a:rPr>
                  <a:t> </a:t>
                </a:r>
                <a14:m>
                  <m:oMath xmlns:m="http://schemas.openxmlformats.org/officeDocument/2006/math">
                    <m:r>
                      <a:rPr lang="en-US" altLang="zh-TW" sz="1200" i="1">
                        <a:solidFill>
                          <a:prstClr val="black"/>
                        </a:solidFill>
                        <a:latin typeface="Cambria Math" panose="02040503050406030204" pitchFamily="18" charset="0"/>
                        <a:ea typeface="Cambria Math" panose="02040503050406030204" pitchFamily="18" charset="0"/>
                      </a:rPr>
                      <m:t>⋮</m:t>
                    </m:r>
                  </m:oMath>
                </a14:m>
                <a:endParaRPr kumimoji="0" lang="en-US" altLang="zh-TW" sz="1200" b="0" u="none" strike="noStrike" kern="1200" cap="none" spc="0" normalizeH="0" baseline="0" noProof="0" dirty="0">
                  <a:ln>
                    <a:noFill/>
                  </a:ln>
                  <a:solidFill>
                    <a:prstClr val="black"/>
                  </a:solidFill>
                  <a:effectLst/>
                  <a:uLnTx/>
                  <a:uFillTx/>
                  <a:ea typeface="Cambria Math" panose="02040503050406030204" pitchFamily="18" charset="0"/>
                  <a:cs typeface="+mn-cs"/>
                </a:endParaRPr>
              </a:p>
            </p:txBody>
          </p:sp>
        </mc:Choice>
        <mc:Fallback xmlns="">
          <p:sp>
            <p:nvSpPr>
              <p:cNvPr id="49" name="文字方塊 48">
                <a:extLst>
                  <a:ext uri="{FF2B5EF4-FFF2-40B4-BE49-F238E27FC236}">
                    <a16:creationId xmlns:a16="http://schemas.microsoft.com/office/drawing/2014/main" id="{8710FAEE-DC95-7B35-38E1-3851B10D3482}"/>
                  </a:ext>
                </a:extLst>
              </p:cNvPr>
              <p:cNvSpPr txBox="1">
                <a:spLocks noRot="1" noChangeAspect="1" noMove="1" noResize="1" noEditPoints="1" noAdjustHandles="1" noChangeArrowheads="1" noChangeShapeType="1" noTextEdit="1"/>
              </p:cNvSpPr>
              <p:nvPr/>
            </p:nvSpPr>
            <p:spPr>
              <a:xfrm>
                <a:off x="1763688" y="5517232"/>
                <a:ext cx="91440" cy="216024"/>
              </a:xfrm>
              <a:prstGeom prst="rect">
                <a:avLst/>
              </a:prstGeom>
              <a:blipFill>
                <a:blip r:embed="rId13"/>
                <a:stretch>
                  <a:fillRect l="-20000" r="-66667"/>
                </a:stretch>
              </a:blipFill>
            </p:spPr>
            <p:txBody>
              <a:bodyPr/>
              <a:lstStyle/>
              <a:p>
                <a:r>
                  <a:rPr lang="zh-TW" altLang="en-US">
                    <a:noFill/>
                  </a:rPr>
                  <a:t> </a:t>
                </a:r>
              </a:p>
            </p:txBody>
          </p:sp>
        </mc:Fallback>
      </mc:AlternateContent>
      <p:sp>
        <p:nvSpPr>
          <p:cNvPr id="50" name="左大括弧 49">
            <a:extLst>
              <a:ext uri="{FF2B5EF4-FFF2-40B4-BE49-F238E27FC236}">
                <a16:creationId xmlns:a16="http://schemas.microsoft.com/office/drawing/2014/main" id="{A127C043-67A0-1EB0-F629-CF6716731514}"/>
              </a:ext>
            </a:extLst>
          </p:cNvPr>
          <p:cNvSpPr/>
          <p:nvPr/>
        </p:nvSpPr>
        <p:spPr>
          <a:xfrm rot="16200000">
            <a:off x="3419134" y="1689337"/>
            <a:ext cx="133284" cy="5628834"/>
          </a:xfrm>
          <a:prstGeom prst="leftBrace">
            <a:avLst>
              <a:gd name="adj1" fmla="val 13879"/>
              <a:gd name="adj2" fmla="val 7406"/>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mc:AlternateContent xmlns:mc="http://schemas.openxmlformats.org/markup-compatibility/2006" xmlns:a14="http://schemas.microsoft.com/office/drawing/2010/main">
        <mc:Choice Requires="a14">
          <p:sp>
            <p:nvSpPr>
              <p:cNvPr id="52" name="文字方塊 51">
                <a:extLst>
                  <a:ext uri="{FF2B5EF4-FFF2-40B4-BE49-F238E27FC236}">
                    <a16:creationId xmlns:a16="http://schemas.microsoft.com/office/drawing/2014/main" id="{5FFBAF91-F5A1-E1C9-9298-0FDBD8F3E358}"/>
                  </a:ext>
                </a:extLst>
              </p:cNvPr>
              <p:cNvSpPr txBox="1"/>
              <p:nvPr/>
            </p:nvSpPr>
            <p:spPr>
              <a:xfrm>
                <a:off x="323528" y="2137774"/>
                <a:ext cx="214997" cy="196235"/>
              </a:xfrm>
              <a:prstGeom prst="rect">
                <a:avLst/>
              </a:prstGeom>
              <a:solidFill>
                <a:schemeClr val="bg1">
                  <a:alpha val="40000"/>
                </a:schemeClr>
              </a:solid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sSub>
                        <m:sSubPr>
                          <m:ctrlPr>
                            <a:rPr lang="en-US" altLang="zh-TW" i="1">
                              <a:solidFill>
                                <a:prstClr val="black"/>
                              </a:solidFill>
                              <a:latin typeface="Cambria Math" panose="02040503050406030204" pitchFamily="18" charset="0"/>
                            </a:rPr>
                          </m:ctrlPr>
                        </m:sSubPr>
                        <m:e>
                          <m:r>
                            <a:rPr lang="en-US" altLang="zh-TW" i="1">
                              <a:solidFill>
                                <a:prstClr val="black"/>
                              </a:solidFill>
                              <a:latin typeface="Cambria Math" panose="02040503050406030204" pitchFamily="18" charset="0"/>
                            </a:rPr>
                            <m:t>𝑣</m:t>
                          </m:r>
                        </m:e>
                        <m:sub>
                          <m:r>
                            <a:rPr lang="en-US" altLang="zh-TW" i="1">
                              <a:solidFill>
                                <a:prstClr val="black"/>
                              </a:solidFill>
                              <a:latin typeface="Cambria Math" panose="02040503050406030204" pitchFamily="18" charset="0"/>
                            </a:rPr>
                            <m:t>𝑙</m:t>
                          </m:r>
                        </m:sub>
                      </m:sSub>
                    </m:oMath>
                  </m:oMathPara>
                </a14:m>
                <a:endParaRPr lang="en-US" altLang="zh-TW" baseline="-25000" dirty="0">
                  <a:solidFill>
                    <a:schemeClr val="accent1"/>
                  </a:solidFill>
                  <a:latin typeface="STXingkai" panose="020B0503020204020204" pitchFamily="2" charset="-122"/>
                  <a:ea typeface="STXingkai" panose="020B0503020204020204" pitchFamily="2" charset="-122"/>
                </a:endParaRPr>
              </a:p>
            </p:txBody>
          </p:sp>
        </mc:Choice>
        <mc:Fallback xmlns="">
          <p:sp>
            <p:nvSpPr>
              <p:cNvPr id="52" name="文字方塊 51">
                <a:extLst>
                  <a:ext uri="{FF2B5EF4-FFF2-40B4-BE49-F238E27FC236}">
                    <a16:creationId xmlns:a16="http://schemas.microsoft.com/office/drawing/2014/main" id="{5FFBAF91-F5A1-E1C9-9298-0FDBD8F3E358}"/>
                  </a:ext>
                </a:extLst>
              </p:cNvPr>
              <p:cNvSpPr txBox="1">
                <a:spLocks noRot="1" noChangeAspect="1" noMove="1" noResize="1" noEditPoints="1" noAdjustHandles="1" noChangeArrowheads="1" noChangeShapeType="1" noTextEdit="1"/>
              </p:cNvSpPr>
              <p:nvPr/>
            </p:nvSpPr>
            <p:spPr>
              <a:xfrm>
                <a:off x="323528" y="2137774"/>
                <a:ext cx="214997" cy="196235"/>
              </a:xfrm>
              <a:prstGeom prst="rect">
                <a:avLst/>
              </a:prstGeom>
              <a:blipFill>
                <a:blip r:embed="rId14"/>
                <a:stretch>
                  <a:fillRect l="-31429" r="-11429" b="-46875"/>
                </a:stretch>
              </a:blipFill>
            </p:spPr>
            <p:txBody>
              <a:bodyPr/>
              <a:lstStyle/>
              <a:p>
                <a:r>
                  <a:rPr lang="zh-TW" altLang="en-US">
                    <a:noFill/>
                  </a:rPr>
                  <a:t> </a:t>
                </a:r>
              </a:p>
            </p:txBody>
          </p:sp>
        </mc:Fallback>
      </mc:AlternateContent>
      <p:sp>
        <p:nvSpPr>
          <p:cNvPr id="57" name="左大括弧 56">
            <a:extLst>
              <a:ext uri="{FF2B5EF4-FFF2-40B4-BE49-F238E27FC236}">
                <a16:creationId xmlns:a16="http://schemas.microsoft.com/office/drawing/2014/main" id="{4B71AF04-8281-A938-B2D7-9B5E3236A288}"/>
              </a:ext>
            </a:extLst>
          </p:cNvPr>
          <p:cNvSpPr/>
          <p:nvPr/>
        </p:nvSpPr>
        <p:spPr>
          <a:xfrm>
            <a:off x="784490" y="4881433"/>
            <a:ext cx="135448" cy="1295665"/>
          </a:xfrm>
          <a:prstGeom prst="leftBrace">
            <a:avLst>
              <a:gd name="adj1" fmla="val 13879"/>
              <a:gd name="adj2" fmla="val 47568"/>
            </a:avLst>
          </a:prstGeom>
          <a:ln>
            <a:solidFill>
              <a:schemeClr val="bg1">
                <a:lumMod val="50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dirty="0"/>
          </a:p>
        </p:txBody>
      </p:sp>
      <p:grpSp>
        <p:nvGrpSpPr>
          <p:cNvPr id="70" name="群組 69">
            <a:extLst>
              <a:ext uri="{FF2B5EF4-FFF2-40B4-BE49-F238E27FC236}">
                <a16:creationId xmlns:a16="http://schemas.microsoft.com/office/drawing/2014/main" id="{EA2AD1D5-9877-95D6-BB11-D79D3C7B4D88}"/>
              </a:ext>
            </a:extLst>
          </p:cNvPr>
          <p:cNvGrpSpPr/>
          <p:nvPr/>
        </p:nvGrpSpPr>
        <p:grpSpPr>
          <a:xfrm>
            <a:off x="539552" y="3801996"/>
            <a:ext cx="5715350" cy="539765"/>
            <a:chOff x="2195736" y="2502079"/>
            <a:chExt cx="5715350" cy="539765"/>
          </a:xfrm>
        </p:grpSpPr>
        <mc:AlternateContent xmlns:mc="http://schemas.openxmlformats.org/markup-compatibility/2006" xmlns:a14="http://schemas.microsoft.com/office/drawing/2010/main">
          <mc:Choice Requires="a14">
            <p:sp>
              <p:nvSpPr>
                <p:cNvPr id="58" name="文字方塊 57">
                  <a:extLst>
                    <a:ext uri="{FF2B5EF4-FFF2-40B4-BE49-F238E27FC236}">
                      <a16:creationId xmlns:a16="http://schemas.microsoft.com/office/drawing/2014/main" id="{2E507043-57B8-FE60-7B87-8DA1FE602112}"/>
                    </a:ext>
                  </a:extLst>
                </p:cNvPr>
                <p:cNvSpPr txBox="1"/>
                <p:nvPr/>
              </p:nvSpPr>
              <p:spPr>
                <a:xfrm>
                  <a:off x="2195736" y="2502079"/>
                  <a:ext cx="1693176"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0</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0</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1</m:t>
                                    </m:r>
                                  </m:sub>
                                </m:sSub>
                              </m:e>
                            </m:eqArr>
                          </m:e>
                        </m:d>
                      </m:oMath>
                    </m:oMathPara>
                  </a14:m>
                  <a:endParaRPr lang="en-US" altLang="zh-TW" sz="1200" dirty="0">
                    <a:ea typeface="Cambria Math" panose="02040503050406030204" pitchFamily="18" charset="0"/>
                  </a:endParaRPr>
                </a:p>
              </p:txBody>
            </p:sp>
          </mc:Choice>
          <mc:Fallback xmlns="">
            <p:sp>
              <p:nvSpPr>
                <p:cNvPr id="58" name="文字方塊 57">
                  <a:extLst>
                    <a:ext uri="{FF2B5EF4-FFF2-40B4-BE49-F238E27FC236}">
                      <a16:creationId xmlns:a16="http://schemas.microsoft.com/office/drawing/2014/main" id="{2E507043-57B8-FE60-7B87-8DA1FE602112}"/>
                    </a:ext>
                  </a:extLst>
                </p:cNvPr>
                <p:cNvSpPr txBox="1">
                  <a:spLocks noRot="1" noChangeAspect="1" noMove="1" noResize="1" noEditPoints="1" noAdjustHandles="1" noChangeArrowheads="1" noChangeShapeType="1" noTextEdit="1"/>
                </p:cNvSpPr>
                <p:nvPr/>
              </p:nvSpPr>
              <p:spPr>
                <a:xfrm>
                  <a:off x="2195736" y="2502079"/>
                  <a:ext cx="1693176" cy="539765"/>
                </a:xfrm>
                <a:prstGeom prst="rect">
                  <a:avLst/>
                </a:prstGeom>
                <a:blipFill>
                  <a:blip r:embed="rId1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59" name="文字方塊 58">
                  <a:extLst>
                    <a:ext uri="{FF2B5EF4-FFF2-40B4-BE49-F238E27FC236}">
                      <a16:creationId xmlns:a16="http://schemas.microsoft.com/office/drawing/2014/main" id="{6CCF481D-D445-2CC3-F70B-BF29361BC989}"/>
                    </a:ext>
                  </a:extLst>
                </p:cNvPr>
                <p:cNvSpPr txBox="1"/>
                <p:nvPr/>
              </p:nvSpPr>
              <p:spPr>
                <a:xfrm>
                  <a:off x="4067944" y="2502079"/>
                  <a:ext cx="1552651" cy="539765"/>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𝑙</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𝑙</m:t>
                                          </m:r>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1</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2</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𝑣</m:t>
                                    </m:r>
                                  </m:e>
                                  <m:sub>
                                    <m:r>
                                      <a:rPr lang="en-US" altLang="zh-TW" sz="1200" b="0" i="1" smtClean="0">
                                        <a:latin typeface="Cambria Math" panose="02040503050406030204" pitchFamily="18" charset="0"/>
                                        <a:ea typeface="Cambria Math" panose="02040503050406030204" pitchFamily="18" charset="0"/>
                                      </a:rPr>
                                      <m:t>3</m:t>
                                    </m:r>
                                  </m:sub>
                                </m:sSub>
                              </m:e>
                            </m:eqArr>
                          </m:e>
                        </m:d>
                      </m:oMath>
                    </m:oMathPara>
                  </a14:m>
                  <a:endParaRPr lang="en-US" altLang="zh-TW" sz="1200" dirty="0">
                    <a:ea typeface="Cambria Math" panose="02040503050406030204" pitchFamily="18" charset="0"/>
                  </a:endParaRPr>
                </a:p>
              </p:txBody>
            </p:sp>
          </mc:Choice>
          <mc:Fallback xmlns="">
            <p:sp>
              <p:nvSpPr>
                <p:cNvPr id="59" name="文字方塊 58">
                  <a:extLst>
                    <a:ext uri="{FF2B5EF4-FFF2-40B4-BE49-F238E27FC236}">
                      <a16:creationId xmlns:a16="http://schemas.microsoft.com/office/drawing/2014/main" id="{6CCF481D-D445-2CC3-F70B-BF29361BC989}"/>
                    </a:ext>
                  </a:extLst>
                </p:cNvPr>
                <p:cNvSpPr txBox="1">
                  <a:spLocks noRot="1" noChangeAspect="1" noMove="1" noResize="1" noEditPoints="1" noAdjustHandles="1" noChangeArrowheads="1" noChangeShapeType="1" noTextEdit="1"/>
                </p:cNvSpPr>
                <p:nvPr/>
              </p:nvSpPr>
              <p:spPr>
                <a:xfrm>
                  <a:off x="4067944" y="2502079"/>
                  <a:ext cx="1552651" cy="539765"/>
                </a:xfrm>
                <a:prstGeom prst="rect">
                  <a:avLst/>
                </a:prstGeom>
                <a:blipFill>
                  <a:blip r:embed="rId1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0" name="文字方塊 59">
                  <a:extLst>
                    <a:ext uri="{FF2B5EF4-FFF2-40B4-BE49-F238E27FC236}">
                      <a16:creationId xmlns:a16="http://schemas.microsoft.com/office/drawing/2014/main" id="{DB0A07EF-8C6D-421E-750F-D9F271AB6482}"/>
                    </a:ext>
                  </a:extLst>
                </p:cNvPr>
                <p:cNvSpPr txBox="1"/>
                <p:nvPr/>
              </p:nvSpPr>
              <p:spPr>
                <a:xfrm>
                  <a:off x="5887766" y="2502079"/>
                  <a:ext cx="1792440" cy="539765"/>
                </a:xfrm>
                <a:prstGeom prst="rect">
                  <a:avLst/>
                </a:prstGeom>
                <a:noFill/>
              </p:spPr>
              <p:txBody>
                <a:bodyPr wrap="none" lIns="0" tIns="0" rIns="0" bIns="0" rtlCol="0" anchor="ctr" anchorCtr="0">
                  <a:noAutofit/>
                </a:bodyPr>
                <a:lstStyle/>
                <a:p>
                  <a:pPr>
                    <a:lnSpc>
                      <a:spcPct val="150000"/>
                    </a:lnSpc>
                  </a:pPr>
                  <a14:m>
                    <m:oMath xmlns:m="http://schemas.openxmlformats.org/officeDocument/2006/math">
                      <m:d>
                        <m:dPr>
                          <m:begChr m:val="["/>
                          <m:endChr m:val="]"/>
                          <m:ctrlPr>
                            <a:rPr lang="en-US" altLang="zh-TW" sz="120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smtClean="0">
                                  <a:solidFill>
                                    <a:srgbClr val="FF0000"/>
                                  </a:solidFill>
                                  <a:latin typeface="Cambria Math" panose="02040503050406030204" pitchFamily="18" charset="0"/>
                                  <a:ea typeface="Cambria Math" panose="02040503050406030204" pitchFamily="18" charset="0"/>
                                </a:rPr>
                              </m:ctrlPr>
                            </m:mP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brk m:alnAt="7"/>
                                      </m:rPr>
                                      <a:rPr lang="en-US" altLang="zh-TW" sz="1200">
                                        <a:solidFill>
                                          <a:srgbClr val="FF0000"/>
                                        </a:solidFill>
                                        <a:latin typeface="Cambria Math" panose="02040503050406030204" pitchFamily="18" charset="0"/>
                                        <a:ea typeface="Cambria Math" panose="02040503050406030204" pitchFamily="18" charset="0"/>
                                      </a:rPr>
                                      <m:t>c</m:t>
                                    </m:r>
                                    <m:r>
                                      <m:rPr>
                                        <m:sty m:val="p"/>
                                      </m:rPr>
                                      <a:rPr lang="en-US" altLang="zh-TW" sz="1200">
                                        <a:solidFill>
                                          <a:srgbClr val="FF0000"/>
                                        </a:solidFill>
                                        <a:latin typeface="Cambria Math" panose="02040503050406030204" pitchFamily="18" charset="0"/>
                                        <a:ea typeface="Cambria Math" panose="02040503050406030204" pitchFamily="18" charset="0"/>
                                      </a:rPr>
                                      <m:t>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a:rPr lang="en-US" altLang="zh-TW" sz="1200">
                                        <a:solidFill>
                                          <a:srgbClr val="FF0000"/>
                                        </a:solidFill>
                                        <a:latin typeface="Cambria Math" panose="02040503050406030204" pitchFamily="18" charset="0"/>
                                        <a:ea typeface="Cambria Math" panose="02040503050406030204" pitchFamily="18" charset="0"/>
                                      </a:rPr>
                                      <m:t>−</m:t>
                                    </m:r>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r>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sin</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e>
                                <m:func>
                                  <m:funcPr>
                                    <m:ctrlPr>
                                      <a:rPr lang="en-US" altLang="zh-TW" sz="1200" i="1">
                                        <a:solidFill>
                                          <a:srgbClr val="FF0000"/>
                                        </a:solidFill>
                                        <a:latin typeface="Cambria Math" panose="02040503050406030204" pitchFamily="18" charset="0"/>
                                        <a:ea typeface="Cambria Math" panose="02040503050406030204" pitchFamily="18" charset="0"/>
                                      </a:rPr>
                                    </m:ctrlPr>
                                  </m:funcPr>
                                  <m:fName>
                                    <m:r>
                                      <m:rPr>
                                        <m:sty m:val="p"/>
                                      </m:rPr>
                                      <a:rPr lang="en-US" altLang="zh-TW" sz="1200">
                                        <a:solidFill>
                                          <a:srgbClr val="FF0000"/>
                                        </a:solidFill>
                                        <a:latin typeface="Cambria Math" panose="02040503050406030204" pitchFamily="18" charset="0"/>
                                        <a:ea typeface="Cambria Math" panose="02040503050406030204" pitchFamily="18" charset="0"/>
                                      </a:rPr>
                                      <m:t>cos</m:t>
                                    </m:r>
                                  </m:fName>
                                  <m:e>
                                    <m:r>
                                      <a:rPr lang="en-US" altLang="zh-TW" sz="1200" b="0" i="1" smtClean="0">
                                        <a:solidFill>
                                          <a:srgbClr val="FF0000"/>
                                        </a:solidFill>
                                        <a:latin typeface="Cambria Math" panose="02040503050406030204" pitchFamily="18" charset="0"/>
                                        <a:ea typeface="Cambria Math" panose="02040503050406030204" pitchFamily="18" charset="0"/>
                                      </a:rPr>
                                      <m:t>𝑙</m:t>
                                    </m:r>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zh-TW" altLang="en-US" sz="1200" i="1">
                                            <a:solidFill>
                                              <a:srgbClr val="FF0000"/>
                                            </a:solidFill>
                                            <a:latin typeface="Cambria Math" panose="02040503050406030204" pitchFamily="18" charset="0"/>
                                            <a:ea typeface="Cambria Math" panose="02040503050406030204" pitchFamily="18" charset="0"/>
                                          </a:rPr>
                                          <m:t>𝜃</m:t>
                                        </m:r>
                                      </m:e>
                                      <m:sub>
                                        <m:r>
                                          <a:rPr lang="en-US" altLang="zh-TW" sz="1200" i="1">
                                            <a:solidFill>
                                              <a:srgbClr val="FF0000"/>
                                            </a:solidFill>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smtClean="0">
                                  <a:solidFill>
                                    <a:srgbClr val="FF0000"/>
                                  </a:solidFill>
                                  <a:latin typeface="Cambria Math" panose="02040503050406030204" pitchFamily="18" charset="0"/>
                                  <a:ea typeface="Cambria Math" panose="02040503050406030204" pitchFamily="18" charset="0"/>
                                </a:rPr>
                              </m:ctrlPr>
                            </m:eqArrPr>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b="0" i="1" smtClean="0">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sub>
                              </m:sSub>
                            </m:e>
                            <m:e>
                              <m:sSub>
                                <m:sSubPr>
                                  <m:ctrlPr>
                                    <a:rPr lang="en-US" altLang="zh-TW" sz="1200" i="1">
                                      <a:solidFill>
                                        <a:srgbClr val="FF0000"/>
                                      </a:solidFill>
                                      <a:latin typeface="Cambria Math" panose="02040503050406030204" pitchFamily="18" charset="0"/>
                                      <a:ea typeface="Cambria Math" panose="02040503050406030204" pitchFamily="18" charset="0"/>
                                    </a:rPr>
                                  </m:ctrlPr>
                                </m:sSubPr>
                                <m:e>
                                  <m:r>
                                    <a:rPr lang="en-US" altLang="zh-TW" sz="1200" b="0" i="1" smtClean="0">
                                      <a:solidFill>
                                        <a:srgbClr val="FF0000"/>
                                      </a:solidFill>
                                      <a:latin typeface="Cambria Math" panose="02040503050406030204" pitchFamily="18" charset="0"/>
                                      <a:ea typeface="Cambria Math" panose="02040503050406030204" pitchFamily="18" charset="0"/>
                                    </a:rPr>
                                    <m:t>𝑣</m:t>
                                  </m:r>
                                </m:e>
                                <m:sub>
                                  <m:r>
                                    <a:rPr lang="en-US" altLang="zh-TW" sz="1200" i="1">
                                      <a:solidFill>
                                        <a:srgbClr val="FF0000"/>
                                      </a:solidFill>
                                      <a:latin typeface="Cambria Math" panose="02040503050406030204" pitchFamily="18" charset="0"/>
                                      <a:ea typeface="Cambria Math" panose="02040503050406030204" pitchFamily="18" charset="0"/>
                                    </a:rPr>
                                    <m:t>2</m:t>
                                  </m:r>
                                  <m:r>
                                    <a:rPr lang="en-US" altLang="zh-TW" sz="1200" b="0" i="1" smtClean="0">
                                      <a:solidFill>
                                        <a:srgbClr val="FF0000"/>
                                      </a:solidFill>
                                      <a:latin typeface="Cambria Math" panose="02040503050406030204" pitchFamily="18" charset="0"/>
                                      <a:ea typeface="Cambria Math" panose="02040503050406030204" pitchFamily="18" charset="0"/>
                                    </a:rPr>
                                    <m:t>𝑖</m:t>
                                  </m:r>
                                  <m:r>
                                    <a:rPr lang="en-US" altLang="zh-TW" sz="1200" b="0" i="1" smtClean="0">
                                      <a:solidFill>
                                        <a:srgbClr val="FF0000"/>
                                      </a:solidFill>
                                      <a:latin typeface="Cambria Math" panose="02040503050406030204" pitchFamily="18" charset="0"/>
                                      <a:ea typeface="Cambria Math" panose="02040503050406030204" pitchFamily="18" charset="0"/>
                                    </a:rPr>
                                    <m:t>+1</m:t>
                                  </m:r>
                                </m:sub>
                              </m:sSub>
                            </m:e>
                          </m:eqArr>
                        </m:e>
                      </m:d>
                    </m:oMath>
                  </a14:m>
                  <a:r>
                    <a:rPr lang="az-Cyrl-AZ" altLang="zh-TW" sz="1200" dirty="0">
                      <a:ea typeface="Cambria Math" panose="02040503050406030204" pitchFamily="18" charset="0"/>
                    </a:rPr>
                    <a:t> </a:t>
                  </a:r>
                  <a:endParaRPr lang="en-US" altLang="zh-TW" sz="1200" dirty="0">
                    <a:ea typeface="Cambria Math" panose="02040503050406030204" pitchFamily="18" charset="0"/>
                  </a:endParaRPr>
                </a:p>
              </p:txBody>
            </p:sp>
          </mc:Choice>
          <mc:Fallback xmlns="">
            <p:sp>
              <p:nvSpPr>
                <p:cNvPr id="60" name="文字方塊 59">
                  <a:extLst>
                    <a:ext uri="{FF2B5EF4-FFF2-40B4-BE49-F238E27FC236}">
                      <a16:creationId xmlns:a16="http://schemas.microsoft.com/office/drawing/2014/main" id="{DB0A07EF-8C6D-421E-750F-D9F271AB6482}"/>
                    </a:ext>
                  </a:extLst>
                </p:cNvPr>
                <p:cNvSpPr txBox="1">
                  <a:spLocks noRot="1" noChangeAspect="1" noMove="1" noResize="1" noEditPoints="1" noAdjustHandles="1" noChangeArrowheads="1" noChangeShapeType="1" noTextEdit="1"/>
                </p:cNvSpPr>
                <p:nvPr/>
              </p:nvSpPr>
              <p:spPr>
                <a:xfrm>
                  <a:off x="5887766" y="2502079"/>
                  <a:ext cx="1792440" cy="539765"/>
                </a:xfrm>
                <a:prstGeom prst="rect">
                  <a:avLst/>
                </a:prstGeom>
                <a:blipFill>
                  <a:blip r:embed="rId17"/>
                  <a:stretch>
                    <a:fillRect b="-112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5" name="文字方塊 64">
                  <a:extLst>
                    <a:ext uri="{FF2B5EF4-FFF2-40B4-BE49-F238E27FC236}">
                      <a16:creationId xmlns:a16="http://schemas.microsoft.com/office/drawing/2014/main" id="{87104EDB-3AA3-9E42-67EE-AB4142DBF392}"/>
                    </a:ext>
                  </a:extLst>
                </p:cNvPr>
                <p:cNvSpPr txBox="1"/>
                <p:nvPr/>
              </p:nvSpPr>
              <p:spPr>
                <a:xfrm>
                  <a:off x="3906625" y="2660357"/>
                  <a:ext cx="211482" cy="307777"/>
                </a:xfrm>
                <a:prstGeom prst="rect">
                  <a:avLst/>
                </a:prstGeom>
                <a:noFill/>
              </p:spPr>
              <p:txBody>
                <a:bodyPr wrap="none" lIns="0" tIns="0" rIns="0" bIns="0" rtlCol="0" anchor="ctr" anchorCtr="1">
                  <a:noAutofit/>
                </a:bodyPr>
                <a:lstStyle/>
                <a:p>
                  <a:pPr/>
                  <a14:m>
                    <m:oMathPara xmlns:m="http://schemas.openxmlformats.org/officeDocument/2006/math">
                      <m:oMathParaPr>
                        <m:jc m:val="centerGroup"/>
                      </m:oMathParaPr>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oMath>
                    </m:oMathPara>
                  </a14:m>
                  <a:endParaRPr lang="zh-TW" altLang="en-US" sz="1400" dirty="0"/>
                </a:p>
              </p:txBody>
            </p:sp>
          </mc:Choice>
          <mc:Fallback xmlns="">
            <p:sp>
              <p:nvSpPr>
                <p:cNvPr id="65" name="文字方塊 64">
                  <a:extLst>
                    <a:ext uri="{FF2B5EF4-FFF2-40B4-BE49-F238E27FC236}">
                      <a16:creationId xmlns:a16="http://schemas.microsoft.com/office/drawing/2014/main" id="{87104EDB-3AA3-9E42-67EE-AB4142DBF392}"/>
                    </a:ext>
                  </a:extLst>
                </p:cNvPr>
                <p:cNvSpPr txBox="1">
                  <a:spLocks noRot="1" noChangeAspect="1" noMove="1" noResize="1" noEditPoints="1" noAdjustHandles="1" noChangeArrowheads="1" noChangeShapeType="1" noTextEdit="1"/>
                </p:cNvSpPr>
                <p:nvPr/>
              </p:nvSpPr>
              <p:spPr>
                <a:xfrm>
                  <a:off x="3906625" y="2660357"/>
                  <a:ext cx="211482" cy="307777"/>
                </a:xfrm>
                <a:prstGeom prst="rect">
                  <a:avLst/>
                </a:prstGeom>
                <a:blipFill>
                  <a:blip r:embed="rId18"/>
                  <a:stretch>
                    <a:fillRect l="-571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8" name="文字方塊 67">
                  <a:extLst>
                    <a:ext uri="{FF2B5EF4-FFF2-40B4-BE49-F238E27FC236}">
                      <a16:creationId xmlns:a16="http://schemas.microsoft.com/office/drawing/2014/main" id="{7F23FC21-3B90-5E5B-3F64-0847FB4CB71D}"/>
                    </a:ext>
                  </a:extLst>
                </p:cNvPr>
                <p:cNvSpPr txBox="1"/>
                <p:nvPr/>
              </p:nvSpPr>
              <p:spPr>
                <a:xfrm>
                  <a:off x="5600284"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8" name="文字方塊 67">
                  <a:extLst>
                    <a:ext uri="{FF2B5EF4-FFF2-40B4-BE49-F238E27FC236}">
                      <a16:creationId xmlns:a16="http://schemas.microsoft.com/office/drawing/2014/main" id="{7F23FC21-3B90-5E5B-3F64-0847FB4CB71D}"/>
                    </a:ext>
                  </a:extLst>
                </p:cNvPr>
                <p:cNvSpPr txBox="1">
                  <a:spLocks noRot="1" noChangeAspect="1" noMove="1" noResize="1" noEditPoints="1" noAdjustHandles="1" noChangeArrowheads="1" noChangeShapeType="1" noTextEdit="1"/>
                </p:cNvSpPr>
                <p:nvPr/>
              </p:nvSpPr>
              <p:spPr>
                <a:xfrm>
                  <a:off x="5600284" y="2660357"/>
                  <a:ext cx="283490" cy="307777"/>
                </a:xfrm>
                <a:prstGeom prst="rect">
                  <a:avLst/>
                </a:prstGeom>
                <a:blipFill>
                  <a:blip r:embed="rId19"/>
                  <a:stretch>
                    <a:fillRect l="-14894" t="-1961" r="-34043" b="-1960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69" name="文字方塊 68">
                  <a:extLst>
                    <a:ext uri="{FF2B5EF4-FFF2-40B4-BE49-F238E27FC236}">
                      <a16:creationId xmlns:a16="http://schemas.microsoft.com/office/drawing/2014/main" id="{CC116A41-F6DB-0BA0-76A7-74952D593CAD}"/>
                    </a:ext>
                  </a:extLst>
                </p:cNvPr>
                <p:cNvSpPr txBox="1"/>
                <p:nvPr/>
              </p:nvSpPr>
              <p:spPr>
                <a:xfrm>
                  <a:off x="7627596" y="2660357"/>
                  <a:ext cx="283490" cy="307777"/>
                </a:xfrm>
                <a:prstGeom prst="rect">
                  <a:avLst/>
                </a:prstGeom>
                <a:noFill/>
              </p:spPr>
              <p:txBody>
                <a:bodyPr wrap="none" lIns="0" tIns="0" rIns="0" bIns="0" rtlCol="0" anchor="ctr" anchorCtr="1">
                  <a:noAutofit/>
                </a:bodyPr>
                <a:lstStyle/>
                <a:p>
                  <a14:m>
                    <m:oMath xmlns:m="http://schemas.openxmlformats.org/officeDocument/2006/math">
                      <m:r>
                        <a:rPr lang="az-Cyrl-AZ" altLang="zh-TW" sz="1400">
                          <a:solidFill>
                            <a:prstClr val="black"/>
                          </a:solidFill>
                          <a:latin typeface="Cambria Math" panose="02040503050406030204" pitchFamily="18" charset="0"/>
                          <a:ea typeface="Cambria Math" panose="02040503050406030204" pitchFamily="18" charset="0"/>
                        </a:rPr>
                        <m:t>ꚛ</m:t>
                      </m:r>
                      <m:r>
                        <a:rPr lang="zh-TW" altLang="en-US" sz="1400" i="1" smtClean="0">
                          <a:solidFill>
                            <a:prstClr val="black"/>
                          </a:solidFill>
                          <a:latin typeface="Cambria Math" panose="02040503050406030204" pitchFamily="18" charset="0"/>
                          <a:ea typeface="Cambria Math" panose="02040503050406030204" pitchFamily="18" charset="0"/>
                        </a:rPr>
                        <m:t> </m:t>
                      </m:r>
                    </m:oMath>
                  </a14:m>
                  <a:r>
                    <a:rPr lang="en-US" altLang="zh-TW" sz="1400" dirty="0"/>
                    <a:t>…</a:t>
                  </a:r>
                  <a:endParaRPr lang="zh-TW" altLang="en-US" sz="1400" dirty="0"/>
                </a:p>
              </p:txBody>
            </p:sp>
          </mc:Choice>
          <mc:Fallback xmlns="">
            <p:sp>
              <p:nvSpPr>
                <p:cNvPr id="69" name="文字方塊 68">
                  <a:extLst>
                    <a:ext uri="{FF2B5EF4-FFF2-40B4-BE49-F238E27FC236}">
                      <a16:creationId xmlns:a16="http://schemas.microsoft.com/office/drawing/2014/main" id="{CC116A41-F6DB-0BA0-76A7-74952D593CAD}"/>
                    </a:ext>
                  </a:extLst>
                </p:cNvPr>
                <p:cNvSpPr txBox="1">
                  <a:spLocks noRot="1" noChangeAspect="1" noMove="1" noResize="1" noEditPoints="1" noAdjustHandles="1" noChangeArrowheads="1" noChangeShapeType="1" noTextEdit="1"/>
                </p:cNvSpPr>
                <p:nvPr/>
              </p:nvSpPr>
              <p:spPr>
                <a:xfrm>
                  <a:off x="7627596" y="2660357"/>
                  <a:ext cx="283490" cy="307777"/>
                </a:xfrm>
                <a:prstGeom prst="rect">
                  <a:avLst/>
                </a:prstGeom>
                <a:blipFill>
                  <a:blip r:embed="rId19"/>
                  <a:stretch>
                    <a:fillRect l="-15217" t="-1961" r="-36957" b="-19608"/>
                  </a:stretch>
                </a:blipFill>
              </p:spPr>
              <p:txBody>
                <a:bodyPr/>
                <a:lstStyle/>
                <a:p>
                  <a:r>
                    <a:rPr lang="zh-TW" altLang="en-US">
                      <a:noFill/>
                    </a:rPr>
                    <a:t> </a:t>
                  </a:r>
                </a:p>
              </p:txBody>
            </p:sp>
          </mc:Fallback>
        </mc:AlternateContent>
      </p:grpSp>
      <p:cxnSp>
        <p:nvCxnSpPr>
          <p:cNvPr id="72" name="直線接點 71">
            <a:extLst>
              <a:ext uri="{FF2B5EF4-FFF2-40B4-BE49-F238E27FC236}">
                <a16:creationId xmlns:a16="http://schemas.microsoft.com/office/drawing/2014/main" id="{B35E4B8E-03FB-79DB-2F06-CB53804C78E1}"/>
              </a:ext>
            </a:extLst>
          </p:cNvPr>
          <p:cNvCxnSpPr>
            <a:cxnSpLocks/>
            <a:stCxn id="17" idx="2"/>
            <a:endCxn id="54" idx="1"/>
          </p:cNvCxnSpPr>
          <p:nvPr/>
        </p:nvCxnSpPr>
        <p:spPr>
          <a:xfrm>
            <a:off x="717029" y="2291907"/>
            <a:ext cx="743907" cy="1356"/>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6" name="矩形: 圓角 85">
                <a:extLst>
                  <a:ext uri="{FF2B5EF4-FFF2-40B4-BE49-F238E27FC236}">
                    <a16:creationId xmlns:a16="http://schemas.microsoft.com/office/drawing/2014/main" id="{08B3A628-4E79-5EC6-7D70-3DC07D98B3CE}"/>
                  </a:ext>
                </a:extLst>
              </p:cNvPr>
              <p:cNvSpPr/>
              <p:nvPr/>
            </p:nvSpPr>
            <p:spPr>
              <a:xfrm>
                <a:off x="1835696" y="3341362"/>
                <a:ext cx="648072" cy="201657"/>
              </a:xfrm>
              <a:prstGeom prst="roundRect">
                <a:avLst/>
              </a:prstGeom>
              <a:solidFill>
                <a:schemeClr val="bg1">
                  <a:lumMod val="75000"/>
                  <a:alpha val="40000"/>
                </a:schemeClr>
              </a:solidFill>
              <a:ln w="12700">
                <a:solidFill>
                  <a:schemeClr val="tx1">
                    <a:lumMod val="50000"/>
                    <a:lumOff val="50000"/>
                  </a:schemeClr>
                </a:solidFill>
                <a:prstDash val="sys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14:m>
                  <m:oMathPara xmlns:m="http://schemas.openxmlformats.org/officeDocument/2006/math">
                    <m:oMathParaPr>
                      <m:jc m:val="centerGroup"/>
                    </m:oMathParaPr>
                    <m:oMath xmlns:m="http://schemas.openxmlformats.org/officeDocument/2006/math">
                      <m:sSub>
                        <m:sSubPr>
                          <m:ctrlPr>
                            <a:rPr kumimoji="0" lang="en-US" altLang="zh-TW" sz="1200" b="0" i="1" u="none" strike="noStrike" kern="1200" cap="none" spc="0" normalizeH="0" baseline="0" noProof="0" smtClean="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sub>
                      </m:s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m:t>
                      </m:r>
                      <m:sSub>
                        <m:sSubPr>
                          <m:ctrlP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ctrlPr>
                        </m:sSubPr>
                        <m:e>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𝑣</m:t>
                          </m:r>
                        </m:e>
                        <m:sub>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2</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𝑖</m:t>
                          </m:r>
                          <m:r>
                            <a:rPr kumimoji="0" lang="en-US" altLang="zh-TW" sz="1200" b="0" i="1" u="none" strike="noStrike" kern="1200" cap="none" spc="0" normalizeH="0" baseline="0" noProof="0">
                              <a:ln>
                                <a:noFill/>
                              </a:ln>
                              <a:solidFill>
                                <a:srgbClr val="FF0000"/>
                              </a:solidFill>
                              <a:effectLst/>
                              <a:uLnTx/>
                              <a:uFillTx/>
                              <a:latin typeface="Cambria Math" panose="02040503050406030204" pitchFamily="18" charset="0"/>
                              <a:cs typeface="+mn-cs"/>
                            </a:rPr>
                            <m:t>+1</m:t>
                          </m:r>
                        </m:sub>
                      </m:sSub>
                    </m:oMath>
                  </m:oMathPara>
                </a14:m>
                <a:endParaRPr lang="zh-TW" altLang="en-US" dirty="0"/>
              </a:p>
            </p:txBody>
          </p:sp>
        </mc:Choice>
        <mc:Fallback xmlns="">
          <p:sp>
            <p:nvSpPr>
              <p:cNvPr id="86" name="矩形: 圓角 85">
                <a:extLst>
                  <a:ext uri="{FF2B5EF4-FFF2-40B4-BE49-F238E27FC236}">
                    <a16:creationId xmlns:a16="http://schemas.microsoft.com/office/drawing/2014/main" id="{08B3A628-4E79-5EC6-7D70-3DC07D98B3CE}"/>
                  </a:ext>
                </a:extLst>
              </p:cNvPr>
              <p:cNvSpPr>
                <a:spLocks noRot="1" noChangeAspect="1" noMove="1" noResize="1" noEditPoints="1" noAdjustHandles="1" noChangeArrowheads="1" noChangeShapeType="1" noTextEdit="1"/>
              </p:cNvSpPr>
              <p:nvPr/>
            </p:nvSpPr>
            <p:spPr>
              <a:xfrm>
                <a:off x="1835696" y="3341362"/>
                <a:ext cx="648072" cy="201657"/>
              </a:xfrm>
              <a:prstGeom prst="roundRect">
                <a:avLst/>
              </a:prstGeom>
              <a:blipFill>
                <a:blip r:embed="rId20"/>
                <a:stretch>
                  <a:fillRect l="-3704" b="-8571"/>
                </a:stretch>
              </a:blipFill>
              <a:ln w="12700">
                <a:solidFill>
                  <a:schemeClr val="tx1">
                    <a:lumMod val="50000"/>
                    <a:lumOff val="50000"/>
                  </a:schemeClr>
                </a:solidFill>
                <a:prstDash val="sysDash"/>
              </a:ln>
            </p:spPr>
            <p:txBody>
              <a:bodyPr/>
              <a:lstStyle/>
              <a:p>
                <a:r>
                  <a:rPr lang="zh-TW" altLang="en-US">
                    <a:noFill/>
                  </a:rPr>
                  <a:t> </a:t>
                </a:r>
              </a:p>
            </p:txBody>
          </p:sp>
        </mc:Fallback>
      </mc:AlternateContent>
      <p:sp>
        <p:nvSpPr>
          <p:cNvPr id="3" name="矩形 2">
            <a:extLst>
              <a:ext uri="{FF2B5EF4-FFF2-40B4-BE49-F238E27FC236}">
                <a16:creationId xmlns:a16="http://schemas.microsoft.com/office/drawing/2014/main" id="{B9AFDA67-3138-D2E5-A7C4-929650D98371}"/>
              </a:ext>
            </a:extLst>
          </p:cNvPr>
          <p:cNvSpPr/>
          <p:nvPr/>
        </p:nvSpPr>
        <p:spPr>
          <a:xfrm>
            <a:off x="1459527" y="112368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 name="左大括弧 4">
            <a:extLst>
              <a:ext uri="{FF2B5EF4-FFF2-40B4-BE49-F238E27FC236}">
                <a16:creationId xmlns:a16="http://schemas.microsoft.com/office/drawing/2014/main" id="{8850AEC9-1E47-0549-94F3-058D3F617E0A}"/>
              </a:ext>
            </a:extLst>
          </p:cNvPr>
          <p:cNvSpPr/>
          <p:nvPr/>
        </p:nvSpPr>
        <p:spPr>
          <a:xfrm rot="5400000">
            <a:off x="1203416" y="834070"/>
            <a:ext cx="143930" cy="1083129"/>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29" name="矩形 28">
            <a:extLst>
              <a:ext uri="{FF2B5EF4-FFF2-40B4-BE49-F238E27FC236}">
                <a16:creationId xmlns:a16="http://schemas.microsoft.com/office/drawing/2014/main" id="{44DE6910-D0BB-7904-6428-150FA189C28F}"/>
              </a:ext>
            </a:extLst>
          </p:cNvPr>
          <p:cNvSpPr/>
          <p:nvPr/>
        </p:nvSpPr>
        <p:spPr>
          <a:xfrm>
            <a:off x="883463" y="873432"/>
            <a:ext cx="1353050" cy="286136"/>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0 1</a:t>
            </a:r>
            <a:r>
              <a:rPr lang="zh-TW" altLang="en-US" sz="1400" dirty="0">
                <a:solidFill>
                  <a:schemeClr val="tx1"/>
                </a:solidFill>
              </a:rPr>
              <a:t> </a:t>
            </a:r>
            <a:r>
              <a:rPr lang="en-US" altLang="zh-TW" sz="1400" dirty="0">
                <a:solidFill>
                  <a:schemeClr val="tx1"/>
                </a:solidFill>
              </a:rPr>
              <a:t>…   </a:t>
            </a:r>
            <a:r>
              <a:rPr lang="en-US" altLang="zh-TW" sz="1400" dirty="0">
                <a:solidFill>
                  <a:schemeClr val="tx1"/>
                </a:solidFill>
                <a:latin typeface="STXingkai" panose="02010800040101010101" pitchFamily="2" charset="-122"/>
                <a:ea typeface="STXingkai" panose="02010800040101010101" pitchFamily="2" charset="-122"/>
              </a:rPr>
              <a:t>i</a:t>
            </a:r>
            <a:r>
              <a:rPr lang="en-US" altLang="zh-TW" sz="1400" dirty="0">
                <a:solidFill>
                  <a:schemeClr val="tx1"/>
                </a:solidFill>
              </a:rPr>
              <a:t> … d</a:t>
            </a:r>
            <a:r>
              <a:rPr lang="en-US" altLang="zh-TW" sz="1400" baseline="-25000" dirty="0">
                <a:solidFill>
                  <a:schemeClr val="tx1"/>
                </a:solidFill>
              </a:rPr>
              <a:t>/2</a:t>
            </a:r>
            <a:r>
              <a:rPr lang="en-US" altLang="zh-TW" sz="1400" dirty="0">
                <a:solidFill>
                  <a:schemeClr val="tx1"/>
                </a:solidFill>
              </a:rPr>
              <a:t>-1</a:t>
            </a:r>
          </a:p>
        </p:txBody>
      </p:sp>
      <p:cxnSp>
        <p:nvCxnSpPr>
          <p:cNvPr id="10" name="接點: 弧形 9">
            <a:extLst>
              <a:ext uri="{FF2B5EF4-FFF2-40B4-BE49-F238E27FC236}">
                <a16:creationId xmlns:a16="http://schemas.microsoft.com/office/drawing/2014/main" id="{935026FB-86FD-B997-33BF-0B3118BE38F4}"/>
              </a:ext>
            </a:extLst>
          </p:cNvPr>
          <p:cNvCxnSpPr>
            <a:stCxn id="54" idx="3"/>
            <a:endCxn id="86" idx="0"/>
          </p:cNvCxnSpPr>
          <p:nvPr/>
        </p:nvCxnSpPr>
        <p:spPr>
          <a:xfrm>
            <a:off x="1675551" y="2293263"/>
            <a:ext cx="484181" cy="1048099"/>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p:cxnSp>
        <p:nvCxnSpPr>
          <p:cNvPr id="13" name="接點: 弧形 12">
            <a:extLst>
              <a:ext uri="{FF2B5EF4-FFF2-40B4-BE49-F238E27FC236}">
                <a16:creationId xmlns:a16="http://schemas.microsoft.com/office/drawing/2014/main" id="{D6499392-D92D-9199-92F8-55FE1DD6A5CD}"/>
              </a:ext>
            </a:extLst>
          </p:cNvPr>
          <p:cNvCxnSpPr>
            <a:cxnSpLocks/>
            <a:stCxn id="86" idx="3"/>
            <a:endCxn id="60" idx="0"/>
          </p:cNvCxnSpPr>
          <p:nvPr/>
        </p:nvCxnSpPr>
        <p:spPr>
          <a:xfrm>
            <a:off x="2483768" y="3442191"/>
            <a:ext cx="2644034" cy="359805"/>
          </a:xfrm>
          <a:prstGeom prst="curvedConnector2">
            <a:avLst/>
          </a:prstGeom>
          <a:ln>
            <a:solidFill>
              <a:schemeClr val="accent2"/>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61" name="文字方塊 60">
                <a:extLst>
                  <a:ext uri="{FF2B5EF4-FFF2-40B4-BE49-F238E27FC236}">
                    <a16:creationId xmlns:a16="http://schemas.microsoft.com/office/drawing/2014/main" id="{1137EB63-2A95-2F3C-5AFE-F67130CC7222}"/>
                  </a:ext>
                </a:extLst>
              </p:cNvPr>
              <p:cNvSpPr txBox="1"/>
              <p:nvPr/>
            </p:nvSpPr>
            <p:spPr>
              <a:xfrm>
                <a:off x="5368649" y="2269129"/>
                <a:ext cx="1227970" cy="369332"/>
              </a:xfrm>
              <a:prstGeom prst="rect">
                <a:avLst/>
              </a:prstGeom>
              <a:noFill/>
            </p:spPr>
            <p:txBody>
              <a:bodyPr wrap="square">
                <a:spAutoFit/>
              </a:bodyPr>
              <a:lstStyle/>
              <a:p>
                <a:r>
                  <a:rPr lang="en-US" altLang="zh-TW" dirty="0">
                    <a:solidFill>
                      <a:srgbClr val="FF0000"/>
                    </a:solidFill>
                    <a:ea typeface="Cambria Math" panose="02040503050406030204" pitchFamily="18" charset="0"/>
                  </a:rPr>
                  <a:t>(</a:t>
                </a:r>
                <a14:m>
                  <m:oMath xmlns:m="http://schemas.openxmlformats.org/officeDocument/2006/math">
                    <m:sSub>
                      <m:sSubPr>
                        <m:ctrlPr>
                          <a:rPr lang="en-US" altLang="zh-TW" i="1" smtClean="0">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sub>
                    </m:sSub>
                    <m:sSub>
                      <m:sSubPr>
                        <m:ctrlPr>
                          <a:rPr lang="en-US" altLang="zh-TW" i="1">
                            <a:solidFill>
                              <a:srgbClr val="FF0000"/>
                            </a:solidFill>
                            <a:latin typeface="Cambria Math" panose="02040503050406030204" pitchFamily="18" charset="0"/>
                            <a:ea typeface="Cambria Math" panose="02040503050406030204" pitchFamily="18" charset="0"/>
                          </a:rPr>
                        </m:ctrlPr>
                      </m:sSubPr>
                      <m:e>
                        <m:r>
                          <a:rPr lang="en-US" altLang="zh-TW" b="0" i="1" smtClean="0">
                            <a:solidFill>
                              <a:srgbClr val="FF0000"/>
                            </a:solidFill>
                            <a:latin typeface="Cambria Math" panose="02040503050406030204" pitchFamily="18" charset="0"/>
                            <a:ea typeface="Cambria Math" panose="02040503050406030204" pitchFamily="18" charset="0"/>
                          </a:rPr>
                          <m:t>,</m:t>
                        </m:r>
                        <m:r>
                          <a:rPr lang="en-US" altLang="zh-TW" i="1">
                            <a:solidFill>
                              <a:srgbClr val="FF0000"/>
                            </a:solidFill>
                            <a:latin typeface="Cambria Math" panose="02040503050406030204" pitchFamily="18" charset="0"/>
                            <a:ea typeface="Cambria Math" panose="02040503050406030204" pitchFamily="18" charset="0"/>
                          </a:rPr>
                          <m:t>𝑣</m:t>
                        </m:r>
                      </m:e>
                      <m:sub>
                        <m:r>
                          <a:rPr lang="en-US" altLang="zh-TW" b="0" i="1" smtClean="0">
                            <a:solidFill>
                              <a:srgbClr val="FF0000"/>
                            </a:solidFill>
                            <a:latin typeface="Cambria Math" panose="02040503050406030204" pitchFamily="18" charset="0"/>
                            <a:ea typeface="Cambria Math" panose="02040503050406030204" pitchFamily="18" charset="0"/>
                          </a:rPr>
                          <m:t>2</m:t>
                        </m:r>
                        <m:r>
                          <a:rPr lang="en-US" altLang="zh-TW" i="1">
                            <a:solidFill>
                              <a:srgbClr val="FF0000"/>
                            </a:solidFill>
                            <a:latin typeface="Cambria Math" panose="02040503050406030204" pitchFamily="18" charset="0"/>
                            <a:ea typeface="Cambria Math" panose="02040503050406030204" pitchFamily="18" charset="0"/>
                          </a:rPr>
                          <m:t>𝑖</m:t>
                        </m:r>
                        <m:r>
                          <a:rPr lang="en-US" altLang="zh-TW" b="0" i="1" smtClean="0">
                            <a:solidFill>
                              <a:srgbClr val="FF0000"/>
                            </a:solidFill>
                            <a:latin typeface="Cambria Math" panose="02040503050406030204" pitchFamily="18" charset="0"/>
                            <a:ea typeface="Cambria Math" panose="02040503050406030204" pitchFamily="18" charset="0"/>
                          </a:rPr>
                          <m:t>+1</m:t>
                        </m:r>
                      </m:sub>
                    </m:sSub>
                  </m:oMath>
                </a14:m>
                <a:r>
                  <a:rPr lang="en-US" altLang="zh-TW" dirty="0">
                    <a:solidFill>
                      <a:srgbClr val="FF0000"/>
                    </a:solidFill>
                  </a:rPr>
                  <a:t>)</a:t>
                </a:r>
                <a:endParaRPr lang="zh-TW" altLang="en-US" dirty="0">
                  <a:solidFill>
                    <a:srgbClr val="FF0000"/>
                  </a:solidFill>
                </a:endParaRPr>
              </a:p>
            </p:txBody>
          </p:sp>
        </mc:Choice>
        <mc:Fallback xmlns="">
          <p:sp>
            <p:nvSpPr>
              <p:cNvPr id="61" name="文字方塊 60">
                <a:extLst>
                  <a:ext uri="{FF2B5EF4-FFF2-40B4-BE49-F238E27FC236}">
                    <a16:creationId xmlns:a16="http://schemas.microsoft.com/office/drawing/2014/main" id="{1137EB63-2A95-2F3C-5AFE-F67130CC7222}"/>
                  </a:ext>
                </a:extLst>
              </p:cNvPr>
              <p:cNvSpPr txBox="1">
                <a:spLocks noRot="1" noChangeAspect="1" noMove="1" noResize="1" noEditPoints="1" noAdjustHandles="1" noChangeArrowheads="1" noChangeShapeType="1" noTextEdit="1"/>
              </p:cNvSpPr>
              <p:nvPr/>
            </p:nvSpPr>
            <p:spPr>
              <a:xfrm>
                <a:off x="5368649" y="2269129"/>
                <a:ext cx="1227970" cy="369332"/>
              </a:xfrm>
              <a:prstGeom prst="rect">
                <a:avLst/>
              </a:prstGeom>
              <a:blipFill>
                <a:blip r:embed="rId21"/>
                <a:stretch>
                  <a:fillRect l="-4478" t="-8197" r="-3483" b="-24590"/>
                </a:stretch>
              </a:blipFill>
            </p:spPr>
            <p:txBody>
              <a:bodyPr/>
              <a:lstStyle/>
              <a:p>
                <a:r>
                  <a:rPr lang="zh-TW" altLang="en-US">
                    <a:noFill/>
                  </a:rPr>
                  <a:t> </a:t>
                </a:r>
              </a:p>
            </p:txBody>
          </p:sp>
        </mc:Fallback>
      </mc:AlternateContent>
      <p:sp>
        <p:nvSpPr>
          <p:cNvPr id="62" name="弧形 61">
            <a:extLst>
              <a:ext uri="{FF2B5EF4-FFF2-40B4-BE49-F238E27FC236}">
                <a16:creationId xmlns:a16="http://schemas.microsoft.com/office/drawing/2014/main" id="{71E3FCBD-921D-4AAD-66D2-0A4A1DC8FB05}"/>
              </a:ext>
            </a:extLst>
          </p:cNvPr>
          <p:cNvSpPr/>
          <p:nvPr/>
        </p:nvSpPr>
        <p:spPr>
          <a:xfrm>
            <a:off x="5140833" y="3056004"/>
            <a:ext cx="353745" cy="421056"/>
          </a:xfrm>
          <a:prstGeom prst="arc">
            <a:avLst>
              <a:gd name="adj1" fmla="val 16200000"/>
              <a:gd name="adj2" fmla="val 20363557"/>
            </a:avLst>
          </a:prstGeom>
          <a:ln>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cxnSp>
        <p:nvCxnSpPr>
          <p:cNvPr id="4" name="直線單箭頭接點 3">
            <a:extLst>
              <a:ext uri="{FF2B5EF4-FFF2-40B4-BE49-F238E27FC236}">
                <a16:creationId xmlns:a16="http://schemas.microsoft.com/office/drawing/2014/main" id="{2D7E400D-B6F7-F2F9-777A-629A0393157B}"/>
              </a:ext>
            </a:extLst>
          </p:cNvPr>
          <p:cNvCxnSpPr>
            <a:cxnSpLocks/>
            <a:endCxn id="51" idx="2"/>
          </p:cNvCxnSpPr>
          <p:nvPr/>
        </p:nvCxnSpPr>
        <p:spPr>
          <a:xfrm flipV="1">
            <a:off x="5056975" y="3222268"/>
            <a:ext cx="694090" cy="93599"/>
          </a:xfrm>
          <a:prstGeom prst="straightConnector1">
            <a:avLst/>
          </a:prstGeom>
          <a:ln>
            <a:tailEnd type="triangle" w="med" len="lg"/>
          </a:ln>
        </p:spPr>
        <p:style>
          <a:lnRef idx="1">
            <a:schemeClr val="accent2"/>
          </a:lnRef>
          <a:fillRef idx="0">
            <a:schemeClr val="accent2"/>
          </a:fillRef>
          <a:effectRef idx="0">
            <a:schemeClr val="accent2"/>
          </a:effectRef>
          <a:fontRef idx="minor">
            <a:schemeClr val="tx1"/>
          </a:fontRef>
        </p:style>
      </p:cxnSp>
    </p:spTree>
    <p:extLst>
      <p:ext uri="{BB962C8B-B14F-4D97-AF65-F5344CB8AC3E}">
        <p14:creationId xmlns:p14="http://schemas.microsoft.com/office/powerpoint/2010/main" val="36723486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cxnSp>
        <p:nvCxnSpPr>
          <p:cNvPr id="48" name="直線接點 47">
            <a:extLst>
              <a:ext uri="{FF2B5EF4-FFF2-40B4-BE49-F238E27FC236}">
                <a16:creationId xmlns:a16="http://schemas.microsoft.com/office/drawing/2014/main" id="{24C193FF-B938-0A29-7239-B1B89CC95EFE}"/>
              </a:ext>
            </a:extLst>
          </p:cNvPr>
          <p:cNvCxnSpPr/>
          <p:nvPr/>
        </p:nvCxnSpPr>
        <p:spPr>
          <a:xfrm>
            <a:off x="1292565" y="1088858"/>
            <a:ext cx="0" cy="1404038"/>
          </a:xfrm>
          <a:prstGeom prst="line">
            <a:avLst/>
          </a:prstGeom>
          <a:ln w="19050">
            <a:solidFill>
              <a:schemeClr val="bg1">
                <a:lumMod val="50000"/>
              </a:schemeClr>
            </a:solidFill>
            <a:prstDash val="sysDash"/>
          </a:ln>
        </p:spPr>
        <p:style>
          <a:lnRef idx="1">
            <a:schemeClr val="accent1"/>
          </a:lnRef>
          <a:fillRef idx="0">
            <a:schemeClr val="accent1"/>
          </a:fillRef>
          <a:effectRef idx="0">
            <a:schemeClr val="accent1"/>
          </a:effectRef>
          <a:fontRef idx="minor">
            <a:schemeClr val="tx1"/>
          </a:fontRef>
        </p:style>
      </p:cxnSp>
      <p:sp>
        <p:nvSpPr>
          <p:cNvPr id="46" name="左大括弧 45">
            <a:extLst>
              <a:ext uri="{FF2B5EF4-FFF2-40B4-BE49-F238E27FC236}">
                <a16:creationId xmlns:a16="http://schemas.microsoft.com/office/drawing/2014/main" id="{A4B22DC8-3C8A-1A92-9A4D-F2496937F800}"/>
              </a:ext>
            </a:extLst>
          </p:cNvPr>
          <p:cNvSpPr/>
          <p:nvPr/>
        </p:nvSpPr>
        <p:spPr>
          <a:xfrm>
            <a:off x="520265" y="1301318"/>
            <a:ext cx="144887" cy="1153107"/>
          </a:xfrm>
          <a:prstGeom prst="leftBrace">
            <a:avLst>
              <a:gd name="adj1" fmla="val 8333"/>
              <a:gd name="adj2" fmla="val 91608"/>
            </a:avLst>
          </a:prstGeom>
          <a:ln>
            <a:solidFill>
              <a:schemeClr val="accent4">
                <a:lumMod val="75000"/>
              </a:scheme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3" name="標題 1">
            <a:extLst>
              <a:ext uri="{FF2B5EF4-FFF2-40B4-BE49-F238E27FC236}">
                <a16:creationId xmlns:a16="http://schemas.microsoft.com/office/drawing/2014/main" id="{56F25196-03B9-1C85-2824-5F98C248CA1C}"/>
              </a:ext>
            </a:extLst>
          </p:cNvPr>
          <p:cNvSpPr txBox="1">
            <a:spLocks/>
          </p:cNvSpPr>
          <p:nvPr/>
        </p:nvSpPr>
        <p:spPr>
          <a:xfrm>
            <a:off x="179512" y="116632"/>
            <a:ext cx="5904656"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Rotary of Position Encoding</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285750" indent="-285750">
              <a:buFontTx/>
              <a:buChar char="-"/>
            </a:pP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sp>
        <p:nvSpPr>
          <p:cNvPr id="13" name="矩形 12">
            <a:extLst>
              <a:ext uri="{FF2B5EF4-FFF2-40B4-BE49-F238E27FC236}">
                <a16:creationId xmlns:a16="http://schemas.microsoft.com/office/drawing/2014/main" id="{C7149255-EE62-F2B3-F9EA-27B0D631BBA2}"/>
              </a:ext>
            </a:extLst>
          </p:cNvPr>
          <p:cNvSpPr/>
          <p:nvPr/>
        </p:nvSpPr>
        <p:spPr>
          <a:xfrm>
            <a:off x="2051720" y="1309289"/>
            <a:ext cx="793195" cy="1153107"/>
          </a:xfrm>
          <a:prstGeom prst="rect">
            <a:avLst/>
          </a:prstGeom>
          <a:noFill/>
          <a:ln w="38100">
            <a:solidFill>
              <a:schemeClr val="accent2">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Q</a:t>
            </a:r>
          </a:p>
        </p:txBody>
      </p:sp>
      <p:sp>
        <p:nvSpPr>
          <p:cNvPr id="15" name="矩形 14">
            <a:extLst>
              <a:ext uri="{FF2B5EF4-FFF2-40B4-BE49-F238E27FC236}">
                <a16:creationId xmlns:a16="http://schemas.microsoft.com/office/drawing/2014/main" id="{5EC13F2D-894D-7509-8FCE-C7698DA4D496}"/>
              </a:ext>
            </a:extLst>
          </p:cNvPr>
          <p:cNvSpPr/>
          <p:nvPr/>
        </p:nvSpPr>
        <p:spPr>
          <a:xfrm>
            <a:off x="3058851" y="1304965"/>
            <a:ext cx="1153109" cy="793196"/>
          </a:xfrm>
          <a:prstGeom prst="rect">
            <a:avLst/>
          </a:prstGeom>
          <a:noFill/>
          <a:ln w="38100">
            <a:solidFill>
              <a:schemeClr val="accent4">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K</a:t>
            </a:r>
            <a:r>
              <a:rPr lang="en-US" altLang="zh-TW" sz="1400" baseline="80000" dirty="0">
                <a:solidFill>
                  <a:schemeClr val="tx1"/>
                </a:solidFill>
                <a:latin typeface="微軟正黑體" panose="020B0604030504040204" pitchFamily="34" charset="-120"/>
                <a:ea typeface="微軟正黑體" panose="020B0604030504040204" pitchFamily="34" charset="-120"/>
              </a:rPr>
              <a:t>T</a:t>
            </a:r>
          </a:p>
        </p:txBody>
      </p:sp>
      <p:sp>
        <p:nvSpPr>
          <p:cNvPr id="19" name="矩形 18">
            <a:extLst>
              <a:ext uri="{FF2B5EF4-FFF2-40B4-BE49-F238E27FC236}">
                <a16:creationId xmlns:a16="http://schemas.microsoft.com/office/drawing/2014/main" id="{727E6B00-688E-B150-5987-5DF77B22C0F6}"/>
              </a:ext>
            </a:extLst>
          </p:cNvPr>
          <p:cNvSpPr/>
          <p:nvPr/>
        </p:nvSpPr>
        <p:spPr>
          <a:xfrm>
            <a:off x="677937" y="1304965"/>
            <a:ext cx="1083130" cy="1153107"/>
          </a:xfrm>
          <a:prstGeom prst="rect">
            <a:avLst/>
          </a:prstGeom>
          <a:noFill/>
          <a:ln w="38100">
            <a:solidFill>
              <a:schemeClr val="accent5">
                <a:lumMod val="60000"/>
                <a:lumOff val="40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lnSpc>
                <a:spcPts val="1600"/>
              </a:lnSpc>
            </a:pPr>
            <a:r>
              <a:rPr lang="en-US" altLang="zh-TW" sz="2000" dirty="0">
                <a:solidFill>
                  <a:schemeClr val="tx1"/>
                </a:solidFill>
                <a:latin typeface="微軟正黑體" panose="020B0604030504040204" pitchFamily="34" charset="-120"/>
                <a:ea typeface="微軟正黑體" panose="020B0604030504040204" pitchFamily="34" charset="-120"/>
              </a:rPr>
              <a:t>X</a:t>
            </a:r>
          </a:p>
        </p:txBody>
      </p:sp>
      <p:cxnSp>
        <p:nvCxnSpPr>
          <p:cNvPr id="22" name="直線接點 21">
            <a:extLst>
              <a:ext uri="{FF2B5EF4-FFF2-40B4-BE49-F238E27FC236}">
                <a16:creationId xmlns:a16="http://schemas.microsoft.com/office/drawing/2014/main" id="{D8D68E0B-368E-FAB4-AE3A-7B98F7011A83}"/>
              </a:ext>
            </a:extLst>
          </p:cNvPr>
          <p:cNvCxnSpPr>
            <a:cxnSpLocks/>
          </p:cNvCxnSpPr>
          <p:nvPr/>
        </p:nvCxnSpPr>
        <p:spPr>
          <a:xfrm>
            <a:off x="682461"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cxnSp>
        <p:nvCxnSpPr>
          <p:cNvPr id="23" name="直線接點 22">
            <a:extLst>
              <a:ext uri="{FF2B5EF4-FFF2-40B4-BE49-F238E27FC236}">
                <a16:creationId xmlns:a16="http://schemas.microsoft.com/office/drawing/2014/main" id="{9E74ABB1-C392-86E8-9340-D7DE5DB90F75}"/>
              </a:ext>
            </a:extLst>
          </p:cNvPr>
          <p:cNvCxnSpPr>
            <a:cxnSpLocks/>
          </p:cNvCxnSpPr>
          <p:nvPr/>
        </p:nvCxnSpPr>
        <p:spPr>
          <a:xfrm>
            <a:off x="683568" y="2385002"/>
            <a:ext cx="607876" cy="0"/>
          </a:xfrm>
          <a:prstGeom prst="line">
            <a:avLst/>
          </a:prstGeom>
          <a:ln w="19050">
            <a:solidFill>
              <a:schemeClr val="accent4"/>
            </a:solidFill>
            <a:prstDash val="sysDash"/>
          </a:ln>
        </p:spPr>
        <p:style>
          <a:lnRef idx="1">
            <a:schemeClr val="accent1"/>
          </a:lnRef>
          <a:fillRef idx="0">
            <a:schemeClr val="accent1"/>
          </a:fillRef>
          <a:effectRef idx="0">
            <a:schemeClr val="accent1"/>
          </a:effectRef>
          <a:fontRef idx="minor">
            <a:schemeClr val="tx1"/>
          </a:fontRef>
        </p:style>
      </p:cxnSp>
      <p:cxnSp>
        <p:nvCxnSpPr>
          <p:cNvPr id="24" name="直線接點 23">
            <a:extLst>
              <a:ext uri="{FF2B5EF4-FFF2-40B4-BE49-F238E27FC236}">
                <a16:creationId xmlns:a16="http://schemas.microsoft.com/office/drawing/2014/main" id="{7F880E63-60DA-AA0D-3EDD-5FEA6C78B519}"/>
              </a:ext>
            </a:extLst>
          </p:cNvPr>
          <p:cNvCxnSpPr>
            <a:cxnSpLocks/>
          </p:cNvCxnSpPr>
          <p:nvPr/>
        </p:nvCxnSpPr>
        <p:spPr>
          <a:xfrm>
            <a:off x="2050613" y="1592914"/>
            <a:ext cx="649179" cy="0"/>
          </a:xfrm>
          <a:prstGeom prst="line">
            <a:avLst/>
          </a:prstGeom>
          <a:ln w="15875">
            <a:solidFill>
              <a:schemeClr val="accent2"/>
            </a:solidFill>
            <a:prstDash val="sysDash"/>
          </a:ln>
        </p:spPr>
        <p:style>
          <a:lnRef idx="1">
            <a:schemeClr val="accent1"/>
          </a:lnRef>
          <a:fillRef idx="0">
            <a:schemeClr val="accent1"/>
          </a:fillRef>
          <a:effectRef idx="0">
            <a:schemeClr val="accent1"/>
          </a:effectRef>
          <a:fontRef idx="minor">
            <a:schemeClr val="tx1"/>
          </a:fontRef>
        </p:style>
      </p:cxnSp>
      <p:sp>
        <p:nvSpPr>
          <p:cNvPr id="2" name="矩形 1">
            <a:extLst>
              <a:ext uri="{FF2B5EF4-FFF2-40B4-BE49-F238E27FC236}">
                <a16:creationId xmlns:a16="http://schemas.microsoft.com/office/drawing/2014/main" id="{D79BF9DE-5AEF-F8CE-8EA7-19C3E69E50DB}"/>
              </a:ext>
            </a:extLst>
          </p:cNvPr>
          <p:cNvSpPr/>
          <p:nvPr/>
        </p:nvSpPr>
        <p:spPr>
          <a:xfrm>
            <a:off x="2483768" y="1448898"/>
            <a:ext cx="504056"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r>
              <a:rPr lang="en-US" altLang="zh-TW" sz="1400" baseline="-25000" dirty="0">
                <a:solidFill>
                  <a:schemeClr val="accent2">
                    <a:lumMod val="75000"/>
                  </a:schemeClr>
                </a:solidFill>
              </a:rPr>
              <a:t>1</a:t>
            </a:r>
            <a:r>
              <a:rPr lang="en-US" altLang="zh-TW" sz="1400" dirty="0">
                <a:solidFill>
                  <a:schemeClr val="accent2">
                    <a:lumMod val="75000"/>
                  </a:schemeClr>
                </a:solidFill>
              </a:rPr>
              <a:t>, q</a:t>
            </a:r>
            <a:r>
              <a:rPr lang="en-US" altLang="zh-TW" sz="1400" baseline="-25000" dirty="0">
                <a:solidFill>
                  <a:schemeClr val="accent2">
                    <a:lumMod val="75000"/>
                  </a:schemeClr>
                </a:solidFill>
              </a:rPr>
              <a:t>2</a:t>
            </a:r>
            <a:r>
              <a:rPr lang="en-US" altLang="zh-TW" sz="1400" dirty="0">
                <a:solidFill>
                  <a:schemeClr val="accent2">
                    <a:lumMod val="75000"/>
                  </a:schemeClr>
                </a:solidFill>
              </a:rPr>
              <a:t>)</a:t>
            </a:r>
            <a:endParaRPr lang="zh-TW" altLang="en-US" sz="1400" dirty="0">
              <a:solidFill>
                <a:schemeClr val="accent2">
                  <a:lumMod val="75000"/>
                </a:schemeClr>
              </a:solidFill>
            </a:endParaRPr>
          </a:p>
        </p:txBody>
      </p:sp>
      <p:cxnSp>
        <p:nvCxnSpPr>
          <p:cNvPr id="25" name="直線接點 24">
            <a:extLst>
              <a:ext uri="{FF2B5EF4-FFF2-40B4-BE49-F238E27FC236}">
                <a16:creationId xmlns:a16="http://schemas.microsoft.com/office/drawing/2014/main" id="{C50F45EF-71BD-F1BF-BAF5-1560075977FF}"/>
              </a:ext>
            </a:extLst>
          </p:cNvPr>
          <p:cNvCxnSpPr>
            <a:cxnSpLocks/>
          </p:cNvCxnSpPr>
          <p:nvPr/>
        </p:nvCxnSpPr>
        <p:spPr>
          <a:xfrm>
            <a:off x="4067944" y="1304882"/>
            <a:ext cx="0" cy="648072"/>
          </a:xfrm>
          <a:prstGeom prst="line">
            <a:avLst/>
          </a:prstGeom>
          <a:ln w="15875">
            <a:solidFill>
              <a:schemeClr val="accent4"/>
            </a:solidFill>
            <a:prstDash val="sysDash"/>
          </a:ln>
        </p:spPr>
        <p:style>
          <a:lnRef idx="1">
            <a:schemeClr val="accent1"/>
          </a:lnRef>
          <a:fillRef idx="0">
            <a:schemeClr val="accent1"/>
          </a:fillRef>
          <a:effectRef idx="0">
            <a:schemeClr val="accent1"/>
          </a:effectRef>
          <a:fontRef idx="minor">
            <a:schemeClr val="tx1"/>
          </a:fontRef>
        </p:style>
      </p:cxnSp>
      <p:sp>
        <p:nvSpPr>
          <p:cNvPr id="5" name="矩形 4">
            <a:extLst>
              <a:ext uri="{FF2B5EF4-FFF2-40B4-BE49-F238E27FC236}">
                <a16:creationId xmlns:a16="http://schemas.microsoft.com/office/drawing/2014/main" id="{E49F5492-4F0F-88D2-C444-E97C23E35C80}"/>
              </a:ext>
            </a:extLst>
          </p:cNvPr>
          <p:cNvSpPr/>
          <p:nvPr/>
        </p:nvSpPr>
        <p:spPr>
          <a:xfrm rot="5400000">
            <a:off x="3816797" y="1898767"/>
            <a:ext cx="539695"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r>
              <a:rPr lang="en-US" altLang="zh-TW" sz="1400" baseline="-25000" dirty="0">
                <a:solidFill>
                  <a:schemeClr val="accent4">
                    <a:lumMod val="75000"/>
                  </a:schemeClr>
                </a:solidFill>
              </a:rPr>
              <a:t>1</a:t>
            </a:r>
            <a:r>
              <a:rPr lang="en-US" altLang="zh-TW" sz="1400" dirty="0">
                <a:solidFill>
                  <a:schemeClr val="accent4">
                    <a:lumMod val="75000"/>
                  </a:schemeClr>
                </a:solidFill>
              </a:rPr>
              <a:t>, k</a:t>
            </a:r>
            <a:r>
              <a:rPr lang="en-US" altLang="zh-TW" sz="1400" baseline="-25000" dirty="0">
                <a:solidFill>
                  <a:schemeClr val="accent4">
                    <a:lumMod val="75000"/>
                  </a:schemeClr>
                </a:solidFill>
              </a:rPr>
              <a:t>2</a:t>
            </a:r>
            <a:r>
              <a:rPr lang="en-US" altLang="zh-TW" sz="1400" dirty="0">
                <a:solidFill>
                  <a:schemeClr val="accent4">
                    <a:lumMod val="75000"/>
                  </a:schemeClr>
                </a:solidFill>
              </a:rPr>
              <a:t>)</a:t>
            </a:r>
          </a:p>
        </p:txBody>
      </p:sp>
      <p:sp>
        <p:nvSpPr>
          <p:cNvPr id="33" name="矩形 32">
            <a:extLst>
              <a:ext uri="{FF2B5EF4-FFF2-40B4-BE49-F238E27FC236}">
                <a16:creationId xmlns:a16="http://schemas.microsoft.com/office/drawing/2014/main" id="{2EC998CA-3318-51E2-8FE3-653FC308401C}"/>
              </a:ext>
            </a:extLst>
          </p:cNvPr>
          <p:cNvSpPr/>
          <p:nvPr/>
        </p:nvSpPr>
        <p:spPr>
          <a:xfrm>
            <a:off x="1187624" y="1465615"/>
            <a:ext cx="207640" cy="235948"/>
          </a:xfrm>
          <a:prstGeom prst="rect">
            <a:avLst/>
          </a:prstGeom>
          <a:solidFill>
            <a:schemeClr val="accent2">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lumMod val="75000"/>
                  </a:schemeClr>
                </a:solidFill>
              </a:rPr>
              <a:t>(q)</a:t>
            </a:r>
            <a:endParaRPr lang="zh-TW" altLang="en-US" sz="1400" dirty="0">
              <a:solidFill>
                <a:schemeClr val="accent2">
                  <a:lumMod val="75000"/>
                </a:schemeClr>
              </a:solidFill>
            </a:endParaRPr>
          </a:p>
        </p:txBody>
      </p:sp>
      <p:sp>
        <p:nvSpPr>
          <p:cNvPr id="34" name="矩形 33">
            <a:extLst>
              <a:ext uri="{FF2B5EF4-FFF2-40B4-BE49-F238E27FC236}">
                <a16:creationId xmlns:a16="http://schemas.microsoft.com/office/drawing/2014/main" id="{071CA28F-3AE8-4268-FD6D-9B1FF40C68A3}"/>
              </a:ext>
            </a:extLst>
          </p:cNvPr>
          <p:cNvSpPr/>
          <p:nvPr/>
        </p:nvSpPr>
        <p:spPr>
          <a:xfrm>
            <a:off x="1245891" y="2272246"/>
            <a:ext cx="103052" cy="216022"/>
          </a:xfrm>
          <a:prstGeom prst="rect">
            <a:avLst/>
          </a:prstGeom>
          <a:solidFill>
            <a:schemeClr val="accent4">
              <a:lumMod val="20000"/>
              <a:lumOff val="80000"/>
              <a:alpha val="70000"/>
            </a:schemeClr>
          </a:solidFill>
          <a:ln w="3175">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lumMod val="75000"/>
                  </a:schemeClr>
                </a:solidFill>
              </a:rPr>
              <a:t>(k)</a:t>
            </a:r>
          </a:p>
        </p:txBody>
      </p:sp>
      <p:sp>
        <p:nvSpPr>
          <p:cNvPr id="36" name="矩形 35">
            <a:extLst>
              <a:ext uri="{FF2B5EF4-FFF2-40B4-BE49-F238E27FC236}">
                <a16:creationId xmlns:a16="http://schemas.microsoft.com/office/drawing/2014/main" id="{E1685F92-63D5-6A09-2CCA-DE5ED1C6DC64}"/>
              </a:ext>
            </a:extLst>
          </p:cNvPr>
          <p:cNvSpPr/>
          <p:nvPr/>
        </p:nvSpPr>
        <p:spPr>
          <a:xfrm>
            <a:off x="354271" y="2240986"/>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4"/>
                </a:solidFill>
              </a:rPr>
              <a:t>n</a:t>
            </a:r>
          </a:p>
        </p:txBody>
      </p:sp>
      <p:sp>
        <p:nvSpPr>
          <p:cNvPr id="39" name="矩形 38">
            <a:extLst>
              <a:ext uri="{FF2B5EF4-FFF2-40B4-BE49-F238E27FC236}">
                <a16:creationId xmlns:a16="http://schemas.microsoft.com/office/drawing/2014/main" id="{F7060D8D-6187-ACDC-E55F-F5E71DC56607}"/>
              </a:ext>
            </a:extLst>
          </p:cNvPr>
          <p:cNvSpPr/>
          <p:nvPr/>
        </p:nvSpPr>
        <p:spPr>
          <a:xfrm>
            <a:off x="343180" y="1328189"/>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accent2"/>
                </a:solidFill>
              </a:rPr>
              <a:t>m</a:t>
            </a:r>
          </a:p>
        </p:txBody>
      </p:sp>
      <p:sp>
        <p:nvSpPr>
          <p:cNvPr id="45" name="左大括弧 44">
            <a:extLst>
              <a:ext uri="{FF2B5EF4-FFF2-40B4-BE49-F238E27FC236}">
                <a16:creationId xmlns:a16="http://schemas.microsoft.com/office/drawing/2014/main" id="{FFF90071-FB99-0245-1ED9-E7DBC7B0A912}"/>
              </a:ext>
            </a:extLst>
          </p:cNvPr>
          <p:cNvSpPr/>
          <p:nvPr/>
        </p:nvSpPr>
        <p:spPr>
          <a:xfrm>
            <a:off x="516108" y="1304882"/>
            <a:ext cx="166354" cy="288032"/>
          </a:xfrm>
          <a:prstGeom prst="leftBrace">
            <a:avLst/>
          </a:prstGeom>
          <a:ln w="15875">
            <a:solidFill>
              <a:schemeClr val="accent2"/>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sp>
        <p:nvSpPr>
          <p:cNvPr id="52" name="矩形 51">
            <a:extLst>
              <a:ext uri="{FF2B5EF4-FFF2-40B4-BE49-F238E27FC236}">
                <a16:creationId xmlns:a16="http://schemas.microsoft.com/office/drawing/2014/main" id="{129BB3AF-76F0-75BA-1CE0-B2588BA6B7D1}"/>
              </a:ext>
            </a:extLst>
          </p:cNvPr>
          <p:cNvSpPr/>
          <p:nvPr/>
        </p:nvSpPr>
        <p:spPr>
          <a:xfrm>
            <a:off x="1218884" y="944843"/>
            <a:ext cx="161836" cy="216022"/>
          </a:xfrm>
          <a:prstGeom prst="rect">
            <a:avLst/>
          </a:prstGeom>
          <a:noFill/>
          <a:ln w="3175">
            <a:no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1400" dirty="0">
                <a:solidFill>
                  <a:schemeClr val="tx1"/>
                </a:solidFill>
              </a:rPr>
              <a:t>i</a:t>
            </a:r>
          </a:p>
        </p:txBody>
      </p:sp>
      <p:sp>
        <p:nvSpPr>
          <p:cNvPr id="53" name="左大括弧 52">
            <a:extLst>
              <a:ext uri="{FF2B5EF4-FFF2-40B4-BE49-F238E27FC236}">
                <a16:creationId xmlns:a16="http://schemas.microsoft.com/office/drawing/2014/main" id="{194BF863-3822-AACA-4B0C-0E243D9D3231}"/>
              </a:ext>
            </a:extLst>
          </p:cNvPr>
          <p:cNvSpPr/>
          <p:nvPr/>
        </p:nvSpPr>
        <p:spPr>
          <a:xfrm rot="5400000">
            <a:off x="1020584" y="818221"/>
            <a:ext cx="107892" cy="793185"/>
          </a:xfrm>
          <a:prstGeom prst="leftBrace">
            <a:avLst>
              <a:gd name="adj1" fmla="val 8333"/>
              <a:gd name="adj2" fmla="val 21426"/>
            </a:avLst>
          </a:prstGeom>
          <a:ln w="9525">
            <a:solidFill>
              <a:schemeClr val="tx1"/>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zh-TW" altLang="en-US"/>
          </a:p>
        </p:txBody>
      </p:sp>
      <p:pic>
        <p:nvPicPr>
          <p:cNvPr id="55" name="圖片 54">
            <a:extLst>
              <a:ext uri="{FF2B5EF4-FFF2-40B4-BE49-F238E27FC236}">
                <a16:creationId xmlns:a16="http://schemas.microsoft.com/office/drawing/2014/main" id="{99FEC9B0-0081-839F-29D5-3692BF794B58}"/>
              </a:ext>
            </a:extLst>
          </p:cNvPr>
          <p:cNvPicPr>
            <a:picLocks noChangeAspect="1"/>
          </p:cNvPicPr>
          <p:nvPr/>
        </p:nvPicPr>
        <p:blipFill>
          <a:blip r:embed="rId3"/>
          <a:stretch>
            <a:fillRect/>
          </a:stretch>
        </p:blipFill>
        <p:spPr>
          <a:xfrm>
            <a:off x="6486980" y="2004231"/>
            <a:ext cx="2588013" cy="1360292"/>
          </a:xfrm>
          <a:prstGeom prst="rect">
            <a:avLst/>
          </a:prstGeom>
        </p:spPr>
      </p:pic>
      <mc:AlternateContent xmlns:mc="http://schemas.openxmlformats.org/markup-compatibility/2006" xmlns:a14="http://schemas.microsoft.com/office/drawing/2010/main">
        <mc:Choice Requires="a14">
          <p:sp>
            <p:nvSpPr>
              <p:cNvPr id="4" name="文字方塊 3">
                <a:extLst>
                  <a:ext uri="{FF2B5EF4-FFF2-40B4-BE49-F238E27FC236}">
                    <a16:creationId xmlns:a16="http://schemas.microsoft.com/office/drawing/2014/main" id="{8EEBC337-2ABD-9F06-0885-CEB6C91D9396}"/>
                  </a:ext>
                </a:extLst>
              </p:cNvPr>
              <p:cNvSpPr txBox="1"/>
              <p:nvPr/>
            </p:nvSpPr>
            <p:spPr>
              <a:xfrm>
                <a:off x="539552" y="3178606"/>
                <a:ext cx="3816421" cy="1018760"/>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𝑘</m:t>
                          </m:r>
                        </m:e>
                      </m:d>
                    </m:oMath>
                  </m:oMathPara>
                </a14:m>
                <a:endParaRPr lang="en-US" altLang="zh-TW" sz="1200" b="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𝑅𝑜𝑃𝐸</m:t>
                      </m:r>
                      <m:d>
                        <m:dPr>
                          <m:ctrlPr>
                            <a:rPr lang="en-US" altLang="zh-TW" sz="1200" b="0" i="1" smtClean="0">
                              <a:latin typeface="Cambria Math" panose="02040503050406030204" pitchFamily="18" charset="0"/>
                            </a:rPr>
                          </m:ctrlPr>
                        </m:dPr>
                        <m:e>
                          <m:r>
                            <a:rPr lang="en-US" altLang="zh-TW" sz="1200" b="0" i="1" smtClean="0">
                              <a:latin typeface="Cambria Math" panose="02040503050406030204" pitchFamily="18" charset="0"/>
                            </a:rPr>
                            <m:t>𝑞</m:t>
                          </m:r>
                        </m:e>
                      </m:d>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𝑅𝑜𝑃𝐸</m:t>
                      </m:r>
                      <m:d>
                        <m:dPr>
                          <m:ctrlPr>
                            <a:rPr lang="en-US" altLang="zh-TW" sz="1200" b="0" i="1" smtClean="0">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𝑘</m:t>
                          </m:r>
                        </m:e>
                      </m:d>
                    </m:oMath>
                  </m:oMathPara>
                </a14:m>
                <a:endParaRPr lang="en-US" altLang="zh-TW" sz="1200" b="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𝑅</m:t>
                          </m:r>
                        </m:e>
                        <m:sub>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sub>
                      </m:sSub>
                      <m:d>
                        <m:dPr>
                          <m:ctrlPr>
                            <a:rPr lang="en-US" altLang="zh-TW" sz="1200" b="0" i="1" smtClean="0">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smtClean="0">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m:t>
                              </m:r>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e>
                      </m:d>
                      <m:r>
                        <a:rPr lang="en-US" altLang="zh-TW" sz="1200" b="0" i="1" smtClean="0">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m:t>
                              </m:r>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e>
                      </m:d>
                    </m:oMath>
                  </m:oMathPara>
                </a14:m>
                <a:endParaRPr lang="en-US" altLang="zh-TW" sz="1200" i="1" dirty="0">
                  <a:latin typeface="Cambria Math" panose="02040503050406030204" pitchFamily="18" charset="0"/>
                </a:endParaRPr>
              </a:p>
            </p:txBody>
          </p:sp>
        </mc:Choice>
        <mc:Fallback xmlns="">
          <p:sp>
            <p:nvSpPr>
              <p:cNvPr id="4" name="文字方塊 3">
                <a:extLst>
                  <a:ext uri="{FF2B5EF4-FFF2-40B4-BE49-F238E27FC236}">
                    <a16:creationId xmlns:a16="http://schemas.microsoft.com/office/drawing/2014/main" id="{8EEBC337-2ABD-9F06-0885-CEB6C91D9396}"/>
                  </a:ext>
                </a:extLst>
              </p:cNvPr>
              <p:cNvSpPr txBox="1">
                <a:spLocks noRot="1" noChangeAspect="1" noMove="1" noResize="1" noEditPoints="1" noAdjustHandles="1" noChangeArrowheads="1" noChangeShapeType="1" noTextEdit="1"/>
              </p:cNvSpPr>
              <p:nvPr/>
            </p:nvSpPr>
            <p:spPr>
              <a:xfrm>
                <a:off x="539552" y="3178606"/>
                <a:ext cx="3816421" cy="1018760"/>
              </a:xfrm>
              <a:prstGeom prst="rect">
                <a:avLst/>
              </a:prstGeom>
              <a:blipFill>
                <a:blip r:embed="rId4"/>
                <a:stretch>
                  <a:fillRect l="-143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 name="文字方塊 7">
                <a:extLst>
                  <a:ext uri="{FF2B5EF4-FFF2-40B4-BE49-F238E27FC236}">
                    <a16:creationId xmlns:a16="http://schemas.microsoft.com/office/drawing/2014/main" id="{C736D0EF-242D-623C-3A9F-0D04A2BDB577}"/>
                  </a:ext>
                </a:extLst>
              </p:cNvPr>
              <p:cNvSpPr txBox="1"/>
              <p:nvPr/>
            </p:nvSpPr>
            <p:spPr>
              <a:xfrm>
                <a:off x="5464356" y="3729887"/>
                <a:ext cx="2111120" cy="1018764"/>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𝑚</m:t>
                          </m:r>
                          <m:sSub>
                            <m:sSubPr>
                              <m:ctrlPr>
                                <a:rPr lang="en-US" altLang="zh-TW" sz="1200" b="0" i="1" smtClean="0">
                                  <a:latin typeface="Cambria Math" panose="02040503050406030204" pitchFamily="18" charset="0"/>
                                  <a:ea typeface="Cambria Math" panose="02040503050406030204" pitchFamily="18" charset="0"/>
                                </a:rPr>
                              </m:ctrlPr>
                            </m:sSubPr>
                            <m:e>
                              <m:r>
                                <a:rPr lang="zh-TW" altLang="en-US" sz="1200" b="0" i="1" smtClean="0">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b="0" i="1" smtClean="0">
                          <a:latin typeface="Cambria Math" panose="02040503050406030204" pitchFamily="18" charset="0"/>
                          <a:ea typeface="Cambria Math" panose="02040503050406030204" pitchFamily="18" charset="0"/>
                        </a:rPr>
                        <m:t>=</m:t>
                      </m:r>
                      <m:d>
                        <m:dPr>
                          <m:begChr m:val="["/>
                          <m:endChr m:val="]"/>
                          <m:ctrlPr>
                            <a:rPr lang="en-US" altLang="zh-TW" sz="1200" b="0" i="1" smtClean="0">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b="0" i="1" smtClean="0">
                                  <a:latin typeface="Cambria Math" panose="02040503050406030204" pitchFamily="18" charset="0"/>
                                  <a:ea typeface="Cambria Math" panose="02040503050406030204" pitchFamily="18" charset="0"/>
                                </a:rPr>
                              </m:ctrlPr>
                            </m:mP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brk m:alnAt="7"/>
                                      </m:rPr>
                                      <a:rPr lang="en-US" altLang="zh-TW" sz="1200" b="0" i="0" smtClean="0">
                                        <a:latin typeface="Cambria Math" panose="02040503050406030204" pitchFamily="18" charset="0"/>
                                        <a:ea typeface="Cambria Math" panose="02040503050406030204" pitchFamily="18" charset="0"/>
                                      </a:rPr>
                                      <m:t>c</m:t>
                                    </m:r>
                                    <m:r>
                                      <m:rPr>
                                        <m:sty m:val="p"/>
                                      </m:rPr>
                                      <a:rPr lang="en-US" altLang="zh-TW" sz="1200" b="0" i="0" smtClean="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a:rPr lang="en-US" altLang="zh-TW" sz="1200" b="0" i="0" smtClean="0">
                                        <a:latin typeface="Cambria Math" panose="02040503050406030204" pitchFamily="18" charset="0"/>
                                        <a:ea typeface="Cambria Math" panose="02040503050406030204" pitchFamily="18" charset="0"/>
                                      </a:rPr>
                                      <m:t>−</m:t>
                                    </m:r>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b="0" i="1" smtClean="0">
                                        <a:latin typeface="Cambria Math" panose="02040503050406030204" pitchFamily="18" charset="0"/>
                                        <a:ea typeface="Cambria Math" panose="02040503050406030204" pitchFamily="18" charset="0"/>
                                      </a:rPr>
                                    </m:ctrlPr>
                                  </m:funcPr>
                                  <m:fName>
                                    <m:r>
                                      <m:rPr>
                                        <m:sty m:val="p"/>
                                      </m:rPr>
                                      <a:rPr lang="en-US" altLang="zh-TW" sz="1200" b="0" i="0" smtClean="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sSub>
                        <m:sSubPr>
                          <m:ctrlPr>
                            <a:rPr lang="en-US" altLang="zh-TW" sz="1200" i="1">
                              <a:latin typeface="Cambria Math" panose="02040503050406030204" pitchFamily="18" charset="0"/>
                              <a:ea typeface="Cambria Math" panose="02040503050406030204" pitchFamily="18" charset="0"/>
                            </a:rPr>
                          </m:ctrlPr>
                        </m:sSubPr>
                        <m:e>
                          <m:r>
                            <a:rPr lang="en-US" altLang="zh-TW" sz="1200" i="1">
                              <a:latin typeface="Cambria Math" panose="02040503050406030204" pitchFamily="18" charset="0"/>
                              <a:ea typeface="Cambria Math" panose="02040503050406030204" pitchFamily="18" charset="0"/>
                            </a:rPr>
                            <m:t>𝑅</m:t>
                          </m:r>
                        </m:e>
                        <m:sub>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sub>
                      </m:sSub>
                      <m:r>
                        <a:rPr lang="en-US" altLang="zh-TW" sz="1200" i="1">
                          <a:latin typeface="Cambria Math" panose="02040503050406030204" pitchFamily="18" charset="0"/>
                          <a:ea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b="0" i="1" smtClean="0">
                                            <a:latin typeface="Cambria Math" panose="02040503050406030204" pitchFamily="18" charset="0"/>
                                            <a:ea typeface="Cambria Math" panose="02040503050406030204" pitchFamily="18" charset="0"/>
                                          </a:rPr>
                                          <m:t>𝑖</m:t>
                                        </m:r>
                                      </m:sub>
                                    </m:sSub>
                                  </m:e>
                                </m:func>
                              </m:e>
                            </m:mr>
                          </m:m>
                        </m:e>
                      </m:d>
                    </m:oMath>
                  </m:oMathPara>
                </a14:m>
                <a:endParaRPr lang="zh-TW" altLang="en-US" sz="1200" dirty="0"/>
              </a:p>
            </p:txBody>
          </p:sp>
        </mc:Choice>
        <mc:Fallback xmlns="">
          <p:sp>
            <p:nvSpPr>
              <p:cNvPr id="8" name="文字方塊 7">
                <a:extLst>
                  <a:ext uri="{FF2B5EF4-FFF2-40B4-BE49-F238E27FC236}">
                    <a16:creationId xmlns:a16="http://schemas.microsoft.com/office/drawing/2014/main" id="{C736D0EF-242D-623C-3A9F-0D04A2BDB577}"/>
                  </a:ext>
                </a:extLst>
              </p:cNvPr>
              <p:cNvSpPr txBox="1">
                <a:spLocks noRot="1" noChangeAspect="1" noMove="1" noResize="1" noEditPoints="1" noAdjustHandles="1" noChangeArrowheads="1" noChangeShapeType="1" noTextEdit="1"/>
              </p:cNvSpPr>
              <p:nvPr/>
            </p:nvSpPr>
            <p:spPr>
              <a:xfrm>
                <a:off x="5464356" y="3729887"/>
                <a:ext cx="2111120" cy="1018764"/>
              </a:xfrm>
              <a:prstGeom prst="rect">
                <a:avLst/>
              </a:prstGeom>
              <a:blipFill>
                <a:blip r:embed="rId5"/>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0" name="文字方塊 9">
                <a:extLst>
                  <a:ext uri="{FF2B5EF4-FFF2-40B4-BE49-F238E27FC236}">
                    <a16:creationId xmlns:a16="http://schemas.microsoft.com/office/drawing/2014/main" id="{BB05E6DF-8A0D-67BB-DB5C-5980049090CA}"/>
                  </a:ext>
                </a:extLst>
              </p:cNvPr>
              <p:cNvSpPr txBox="1"/>
              <p:nvPr/>
            </p:nvSpPr>
            <p:spPr>
              <a:xfrm>
                <a:off x="5464356" y="4732675"/>
                <a:ext cx="3068084" cy="712549"/>
              </a:xfrm>
              <a:prstGeom prst="rect">
                <a:avLst/>
              </a:prstGeom>
              <a:noFill/>
            </p:spPr>
            <p:txBody>
              <a:bodyPr wrap="none" lIns="0" tIns="0" rIns="0" bIns="0" rtlCol="0" anchor="ctr" anchorCtr="1">
                <a:noAutofit/>
              </a:bodyPr>
              <a:lstStyle/>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d>
                            <m:dPr>
                              <m:ctrlPr>
                                <a:rPr lang="en-US" altLang="zh-TW" sz="1200" i="1">
                                  <a:latin typeface="Cambria Math" panose="02040503050406030204" pitchFamily="18" charset="0"/>
                                </a:rPr>
                              </m:ctrlPr>
                            </m:dPr>
                            <m:e>
                              <m:r>
                                <a:rPr lang="en-US" altLang="zh-TW" sz="1200" i="1">
                                  <a:latin typeface="Cambria Math" panose="02040503050406030204" pitchFamily="18" charset="0"/>
                                </a:rPr>
                                <m:t>𝑚</m:t>
                              </m:r>
                              <m:r>
                                <a:rPr lang="en-US" altLang="zh-TW"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𝑛</m:t>
                              </m:r>
                            </m:e>
                          </m:d>
                        </m:e>
                      </m:func>
                      <m:r>
                        <a:rPr lang="en-US" altLang="zh-TW" sz="1200" i="1">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i="1">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a:p>
                <a:pPr>
                  <a:lnSpc>
                    <a:spcPct val="150000"/>
                  </a:lnSpc>
                </a:pPr>
                <a14:m>
                  <m:oMathPara xmlns:m="http://schemas.openxmlformats.org/officeDocument/2006/math">
                    <m:oMathParaPr>
                      <m:jc m:val="left"/>
                    </m:oMathParaPr>
                    <m:oMath xmlns:m="http://schemas.openxmlformats.org/officeDocument/2006/math">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0" i="1" smtClean="0">
                                  <a:latin typeface="Cambria Math" panose="02040503050406030204" pitchFamily="18" charset="0"/>
                                </a:rPr>
                                <m:t>𝑚</m:t>
                              </m:r>
                              <m:r>
                                <a:rPr lang="en-US" altLang="zh-TW" sz="1200" b="0" i="1" smtClean="0">
                                  <a:latin typeface="Cambria Math" panose="02040503050406030204" pitchFamily="18" charset="0"/>
                                  <a:ea typeface="Cambria Math" panose="02040503050406030204" pitchFamily="18" charset="0"/>
                                </a:rPr>
                                <m:t>−</m:t>
                              </m:r>
                              <m:r>
                                <a:rPr lang="en-US" altLang="zh-TW" sz="1200" b="0" i="1" smtClean="0">
                                  <a:latin typeface="Cambria Math" panose="02040503050406030204" pitchFamily="18" charset="0"/>
                                  <a:ea typeface="Cambria Math" panose="02040503050406030204" pitchFamily="18" charset="0"/>
                                </a:rPr>
                                <m:t>𝑛</m:t>
                              </m:r>
                            </m:e>
                          </m:d>
                        </m:e>
                      </m:func>
                      <m:r>
                        <a:rPr lang="en-US" altLang="zh-TW" sz="1200" i="1" smtClean="0">
                          <a:latin typeface="Cambria Math" panose="02040503050406030204" pitchFamily="18" charset="0"/>
                          <a:ea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cos</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r>
                        <a:rPr lang="en-US" altLang="zh-TW" sz="1200" b="0" i="1" smtClean="0">
                          <a:latin typeface="Cambria Math" panose="02040503050406030204" pitchFamily="18" charset="0"/>
                        </a:rPr>
                        <m:t>+</m:t>
                      </m:r>
                      <m:func>
                        <m:funcPr>
                          <m:ctrlPr>
                            <a:rPr lang="en-US" altLang="zh-TW" sz="1200" i="1">
                              <a:latin typeface="Cambria Math" panose="02040503050406030204" pitchFamily="18" charset="0"/>
                            </a:rPr>
                          </m:ctrlPr>
                        </m:funcPr>
                        <m:fName>
                          <m:r>
                            <m:rPr>
                              <m:sty m:val="p"/>
                            </m:rPr>
                            <a:rPr lang="en-US" altLang="zh-TW" sz="1200">
                              <a:latin typeface="Cambria Math" panose="02040503050406030204" pitchFamily="18" charset="0"/>
                            </a:rPr>
                            <m:t>s</m:t>
                          </m:r>
                          <m:r>
                            <m:rPr>
                              <m:sty m:val="p"/>
                            </m:rPr>
                            <a:rPr lang="en-US" altLang="zh-TW" sz="1200" b="0" i="0" smtClean="0">
                              <a:latin typeface="Cambria Math" panose="02040503050406030204" pitchFamily="18" charset="0"/>
                            </a:rPr>
                            <m:t>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𝑚</m:t>
                          </m:r>
                          <m:r>
                            <a:rPr lang="en-US" altLang="zh-TW" sz="1200" b="0" i="1" smtClean="0">
                              <a:latin typeface="Cambria Math" panose="02040503050406030204" pitchFamily="18" charset="0"/>
                            </a:rPr>
                            <m:t>)</m:t>
                          </m:r>
                        </m:e>
                      </m:func>
                      <m:func>
                        <m:funcPr>
                          <m:ctrlPr>
                            <a:rPr lang="en-US" altLang="zh-TW" sz="1200" i="1">
                              <a:latin typeface="Cambria Math" panose="02040503050406030204" pitchFamily="18" charset="0"/>
                            </a:rPr>
                          </m:ctrlPr>
                        </m:funcPr>
                        <m:fName>
                          <m:r>
                            <m:rPr>
                              <m:sty m:val="p"/>
                            </m:rPr>
                            <a:rPr lang="en-US" altLang="zh-TW" sz="1200" b="0" i="0" smtClean="0">
                              <a:latin typeface="Cambria Math" panose="02040503050406030204" pitchFamily="18" charset="0"/>
                            </a:rPr>
                            <m:t>sin</m:t>
                          </m:r>
                        </m:fName>
                        <m:e>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𝑛</m:t>
                          </m:r>
                          <m:r>
                            <a:rPr lang="en-US" altLang="zh-TW" sz="1200" b="0" i="1" smtClean="0">
                              <a:latin typeface="Cambria Math" panose="02040503050406030204" pitchFamily="18" charset="0"/>
                            </a:rPr>
                            <m:t>)</m:t>
                          </m:r>
                        </m:e>
                      </m:func>
                    </m:oMath>
                  </m:oMathPara>
                </a14:m>
                <a:endParaRPr lang="en-US" altLang="zh-TW" sz="1200" i="1" dirty="0">
                  <a:latin typeface="Cambria Math" panose="02040503050406030204" pitchFamily="18" charset="0"/>
                </a:endParaRPr>
              </a:p>
            </p:txBody>
          </p:sp>
        </mc:Choice>
        <mc:Fallback xmlns="">
          <p:sp>
            <p:nvSpPr>
              <p:cNvPr id="10" name="文字方塊 9">
                <a:extLst>
                  <a:ext uri="{FF2B5EF4-FFF2-40B4-BE49-F238E27FC236}">
                    <a16:creationId xmlns:a16="http://schemas.microsoft.com/office/drawing/2014/main" id="{BB05E6DF-8A0D-67BB-DB5C-5980049090CA}"/>
                  </a:ext>
                </a:extLst>
              </p:cNvPr>
              <p:cNvSpPr txBox="1">
                <a:spLocks noRot="1" noChangeAspect="1" noMove="1" noResize="1" noEditPoints="1" noAdjustHandles="1" noChangeArrowheads="1" noChangeShapeType="1" noTextEdit="1"/>
              </p:cNvSpPr>
              <p:nvPr/>
            </p:nvSpPr>
            <p:spPr>
              <a:xfrm>
                <a:off x="5464356" y="4732675"/>
                <a:ext cx="3068084" cy="712549"/>
              </a:xfrm>
              <a:prstGeom prst="rect">
                <a:avLst/>
              </a:prstGeom>
              <a:blipFill>
                <a:blip r:embed="rId6"/>
                <a:stretch>
                  <a:fillRect/>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1" name="文字方塊 10">
                <a:extLst>
                  <a:ext uri="{FF2B5EF4-FFF2-40B4-BE49-F238E27FC236}">
                    <a16:creationId xmlns:a16="http://schemas.microsoft.com/office/drawing/2014/main" id="{38833136-D2E0-FCFD-BF10-DE4A8DAECD23}"/>
                  </a:ext>
                </a:extLst>
              </p:cNvPr>
              <p:cNvSpPr txBox="1"/>
              <p:nvPr/>
            </p:nvSpPr>
            <p:spPr>
              <a:xfrm>
                <a:off x="527277" y="4368610"/>
                <a:ext cx="4076197" cy="1148622"/>
              </a:xfrm>
              <a:prstGeom prst="rect">
                <a:avLst/>
              </a:prstGeom>
              <a:noFill/>
            </p:spPr>
            <p:txBody>
              <a:bodyPr wrap="none" lIns="0" tIns="0" rIns="0" bIns="0" rtlCol="0" anchor="ctr" anchorCtr="0">
                <a:noAutofit/>
              </a:bodyPr>
              <a:lstStyle/>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i="1">
                                        <a:latin typeface="Cambria Math" panose="02040503050406030204" pitchFamily="18" charset="0"/>
                                        <a:ea typeface="Cambria Math" panose="02040503050406030204" pitchFamily="18" charset="0"/>
                                      </a:rPr>
                                      <m:t>𝑚</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smtClean="0">
                              <a:latin typeface="Cambria Math" panose="02040503050406030204" pitchFamily="18" charset="0"/>
                              <a:ea typeface="Cambria Math" panose="02040503050406030204" pitchFamily="18" charset="0"/>
                            </a:rPr>
                          </m:ctrlPr>
                        </m:dPr>
                        <m:e>
                          <m:eqArr>
                            <m:eqArrPr>
                              <m:ctrlPr>
                                <a:rPr lang="en-US" altLang="zh-TW" sz="1200" i="1" smtClean="0">
                                  <a:latin typeface="Cambria Math" panose="02040503050406030204" pitchFamily="18" charset="0"/>
                                  <a:ea typeface="Cambria Math" panose="02040503050406030204" pitchFamily="18" charset="0"/>
                                </a:rPr>
                              </m:ctrlPr>
                            </m:eqArrPr>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1</m:t>
                                  </m:r>
                                </m:sub>
                              </m:sSub>
                            </m:e>
                            <m:e>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𝑞</m:t>
                                  </m:r>
                                </m:e>
                                <m:sub>
                                  <m:r>
                                    <a:rPr lang="en-US" altLang="zh-TW" sz="1200" b="0" i="1" smtClean="0">
                                      <a:latin typeface="Cambria Math" panose="02040503050406030204" pitchFamily="18" charset="0"/>
                                      <a:ea typeface="Cambria Math" panose="02040503050406030204" pitchFamily="18" charset="0"/>
                                    </a:rPr>
                                    <m:t>2</m:t>
                                  </m:r>
                                </m:sub>
                              </m:sSub>
                            </m:e>
                          </m:eqArr>
                        </m:e>
                      </m:d>
                      <m:r>
                        <a:rPr lang="az-Cyrl-AZ" altLang="zh-TW" sz="1200" i="1" smtClean="0">
                          <a:latin typeface="Cambria Math" panose="02040503050406030204" pitchFamily="18" charset="0"/>
                          <a:ea typeface="Cambria Math" panose="02040503050406030204" pitchFamily="18" charset="0"/>
                        </a:rPr>
                        <m:t>ꚛ</m:t>
                      </m:r>
                      <m:d>
                        <m:dPr>
                          <m:begChr m:val="["/>
                          <m:endChr m:val="]"/>
                          <m:ctrlPr>
                            <a:rPr lang="en-US" altLang="zh-TW" sz="1200" i="1">
                              <a:latin typeface="Cambria Math" panose="02040503050406030204" pitchFamily="18" charset="0"/>
                              <a:ea typeface="Cambria Math" panose="02040503050406030204" pitchFamily="18" charset="0"/>
                            </a:rPr>
                          </m:ctrlPr>
                        </m:dPr>
                        <m:e>
                          <m:m>
                            <m:mPr>
                              <m:mcs>
                                <m:mc>
                                  <m:mcPr>
                                    <m:count m:val="2"/>
                                    <m:mcJc m:val="center"/>
                                  </m:mcPr>
                                </m:mc>
                              </m:mcs>
                              <m:ctrlPr>
                                <a:rPr lang="en-US" altLang="zh-TW" sz="1200" i="1">
                                  <a:latin typeface="Cambria Math" panose="02040503050406030204" pitchFamily="18" charset="0"/>
                                  <a:ea typeface="Cambria Math" panose="02040503050406030204" pitchFamily="18" charset="0"/>
                                </a:rPr>
                              </m:ctrlPr>
                            </m:mPr>
                            <m:mr>
                              <m:e>
                                <m:func>
                                  <m:funcPr>
                                    <m:ctrlPr>
                                      <a:rPr lang="en-US" altLang="zh-TW" sz="1200" i="1">
                                        <a:latin typeface="Cambria Math" panose="02040503050406030204" pitchFamily="18" charset="0"/>
                                        <a:ea typeface="Cambria Math" panose="02040503050406030204" pitchFamily="18" charset="0"/>
                                      </a:rPr>
                                    </m:ctrlPr>
                                  </m:funcPr>
                                  <m:fName>
                                    <m:r>
                                      <m:rPr>
                                        <m:sty m:val="p"/>
                                        <m:brk m:alnAt="7"/>
                                      </m:rPr>
                                      <a:rPr lang="en-US" altLang="zh-TW" sz="1200">
                                        <a:latin typeface="Cambria Math" panose="02040503050406030204" pitchFamily="18" charset="0"/>
                                        <a:ea typeface="Cambria Math" panose="02040503050406030204" pitchFamily="18" charset="0"/>
                                      </a:rPr>
                                      <m:t>c</m:t>
                                    </m:r>
                                    <m:r>
                                      <m:rPr>
                                        <m:sty m:val="p"/>
                                      </m:rPr>
                                      <a:rPr lang="en-US" altLang="zh-TW" sz="1200">
                                        <a:latin typeface="Cambria Math" panose="02040503050406030204" pitchFamily="18" charset="0"/>
                                        <a:ea typeface="Cambria Math" panose="02040503050406030204" pitchFamily="18" charset="0"/>
                                      </a:rPr>
                                      <m:t>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a:rPr lang="en-US" altLang="zh-TW" sz="1200">
                                        <a:latin typeface="Cambria Math" panose="02040503050406030204" pitchFamily="18" charset="0"/>
                                        <a:ea typeface="Cambria Math" panose="02040503050406030204" pitchFamily="18" charset="0"/>
                                      </a:rPr>
                                      <m:t>−</m:t>
                                    </m:r>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r>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sin</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e>
                                <m:func>
                                  <m:funcPr>
                                    <m:ctrlPr>
                                      <a:rPr lang="en-US" altLang="zh-TW" sz="1200" i="1">
                                        <a:latin typeface="Cambria Math" panose="02040503050406030204" pitchFamily="18" charset="0"/>
                                        <a:ea typeface="Cambria Math" panose="02040503050406030204" pitchFamily="18" charset="0"/>
                                      </a:rPr>
                                    </m:ctrlPr>
                                  </m:funcPr>
                                  <m:fName>
                                    <m:r>
                                      <m:rPr>
                                        <m:sty m:val="p"/>
                                      </m:rPr>
                                      <a:rPr lang="en-US" altLang="zh-TW" sz="1200">
                                        <a:latin typeface="Cambria Math" panose="02040503050406030204" pitchFamily="18" charset="0"/>
                                        <a:ea typeface="Cambria Math" panose="02040503050406030204" pitchFamily="18" charset="0"/>
                                      </a:rPr>
                                      <m:t>cos</m:t>
                                    </m:r>
                                  </m:fName>
                                  <m:e>
                                    <m:r>
                                      <a:rPr lang="en-US" altLang="zh-TW" sz="1200" b="0" i="1" smtClean="0">
                                        <a:latin typeface="Cambria Math" panose="02040503050406030204" pitchFamily="18" charset="0"/>
                                        <a:ea typeface="Cambria Math" panose="02040503050406030204" pitchFamily="18" charset="0"/>
                                      </a:rPr>
                                      <m:t>𝑛</m:t>
                                    </m:r>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e>
                                </m:func>
                              </m:e>
                            </m:mr>
                          </m:m>
                        </m:e>
                      </m:d>
                      <m:d>
                        <m:dPr>
                          <m:begChr m:val="["/>
                          <m:endChr m:val="]"/>
                          <m:ctrlPr>
                            <a:rPr lang="en-US" altLang="zh-TW" sz="1200" i="1">
                              <a:latin typeface="Cambria Math" panose="02040503050406030204" pitchFamily="18" charset="0"/>
                              <a:ea typeface="Cambria Math" panose="02040503050406030204" pitchFamily="18" charset="0"/>
                            </a:rPr>
                          </m:ctrlPr>
                        </m:dPr>
                        <m:e>
                          <m:eqArr>
                            <m:eqArrPr>
                              <m:ctrlPr>
                                <a:rPr lang="en-US" altLang="zh-TW" sz="1200" i="1">
                                  <a:latin typeface="Cambria Math" panose="02040503050406030204" pitchFamily="18" charset="0"/>
                                  <a:ea typeface="Cambria Math" panose="02040503050406030204" pitchFamily="18" charset="0"/>
                                </a:rPr>
                              </m:ctrlPr>
                            </m:eqArrPr>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1</m:t>
                                  </m:r>
                                </m:sub>
                              </m:sSub>
                            </m:e>
                            <m:e>
                              <m:sSub>
                                <m:sSubPr>
                                  <m:ctrlPr>
                                    <a:rPr lang="en-US" altLang="zh-TW" sz="1200" i="1">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𝑘</m:t>
                                  </m:r>
                                </m:e>
                                <m:sub>
                                  <m:r>
                                    <a:rPr lang="en-US" altLang="zh-TW" sz="1200" i="1">
                                      <a:latin typeface="Cambria Math" panose="02040503050406030204" pitchFamily="18" charset="0"/>
                                      <a:ea typeface="Cambria Math" panose="02040503050406030204" pitchFamily="18" charset="0"/>
                                    </a:rPr>
                                    <m:t>2</m:t>
                                  </m:r>
                                </m:sub>
                              </m:sSub>
                            </m:e>
                          </m:eqArr>
                        </m:e>
                      </m:d>
                    </m:oMath>
                  </m:oMathPara>
                </a14:m>
                <a:endParaRPr lang="en-US" altLang="zh-TW" sz="1200" i="1" dirty="0">
                  <a:latin typeface="Cambria Math" panose="02040503050406030204" pitchFamily="18" charset="0"/>
                  <a:ea typeface="Cambria Math" panose="02040503050406030204" pitchFamily="18" charset="0"/>
                </a:endParaRPr>
              </a:p>
              <a:p>
                <a:pPr>
                  <a:lnSpc>
                    <a:spcPct val="150000"/>
                  </a:lnSpc>
                </a:pPr>
                <a:r>
                  <a:rPr lang="en-US" altLang="zh-TW" sz="1200" b="0" i="1" dirty="0">
                    <a:latin typeface="Cambria Math" panose="02040503050406030204" pitchFamily="18" charset="0"/>
                  </a:rPr>
                  <a:t>=  …</a:t>
                </a:r>
              </a:p>
              <a:p>
                <a:pPr>
                  <a:lnSpc>
                    <a:spcPct val="150000"/>
                  </a:lnSpc>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i="1">
                                  <a:latin typeface="Cambria Math" panose="02040503050406030204" pitchFamily="18" charset="0"/>
                                </a:rPr>
                                <m:t>2</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cos</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ea typeface="Cambria Math" panose="02040503050406030204" pitchFamily="18" charset="0"/>
                                </a:rPr>
                                <m:t>−</m:t>
                              </m:r>
                              <m:r>
                                <a:rPr lang="en-US" altLang="zh-TW" sz="1200" b="1" i="1" smtClean="0">
                                  <a:solidFill>
                                    <a:srgbClr val="FF0000"/>
                                  </a:solidFill>
                                  <a:latin typeface="Cambria Math" panose="02040503050406030204" pitchFamily="18" charset="0"/>
                                  <a:ea typeface="Cambria Math" panose="02040503050406030204" pitchFamily="18" charset="0"/>
                                </a:rPr>
                                <m:t>𝒏</m:t>
                              </m:r>
                            </m:e>
                          </m:d>
                          <m:sSub>
                            <m:sSubPr>
                              <m:ctrlPr>
                                <a:rPr lang="en-US" altLang="zh-TW" sz="1200" i="1">
                                  <a:latin typeface="Cambria Math" panose="02040503050406030204" pitchFamily="18" charset="0"/>
                                  <a:ea typeface="Cambria Math" panose="02040503050406030204" pitchFamily="18" charset="0"/>
                                </a:rPr>
                              </m:ctrlPr>
                            </m:sSubPr>
                            <m:e>
                              <m:r>
                                <a:rPr lang="zh-TW" altLang="en-US" sz="1200" i="1">
                                  <a:latin typeface="Cambria Math" panose="02040503050406030204" pitchFamily="18" charset="0"/>
                                  <a:ea typeface="Cambria Math" panose="02040503050406030204" pitchFamily="18" charset="0"/>
                                </a:rPr>
                                <m:t>𝜃</m:t>
                              </m:r>
                            </m:e>
                            <m:sub>
                              <m:r>
                                <a:rPr lang="en-US" altLang="zh-TW" sz="1200" i="1">
                                  <a:latin typeface="Cambria Math" panose="02040503050406030204" pitchFamily="18" charset="0"/>
                                  <a:ea typeface="Cambria Math" panose="02040503050406030204" pitchFamily="18" charset="0"/>
                                </a:rPr>
                                <m:t>𝑖</m:t>
                              </m:r>
                            </m:sub>
                          </m:sSub>
                          <m:r>
                            <a:rPr lang="en-US" altLang="zh-TW" sz="120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rPr>
                              </m:ctrlPr>
                            </m:dPr>
                            <m:e>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𝑞</m:t>
                                  </m:r>
                                </m:e>
                                <m:sub>
                                  <m:r>
                                    <a:rPr lang="en-US" altLang="zh-TW" sz="1200" i="1">
                                      <a:latin typeface="Cambria Math" panose="02040503050406030204" pitchFamily="18" charset="0"/>
                                    </a:rPr>
                                    <m:t>1</m:t>
                                  </m:r>
                                </m:sub>
                              </m:sSub>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𝑘</m:t>
                                  </m:r>
                                </m:e>
                                <m:sub>
                                  <m:r>
                                    <a:rPr lang="en-US" altLang="zh-TW" sz="1200" i="1">
                                      <a:latin typeface="Cambria Math" panose="02040503050406030204" pitchFamily="18" charset="0"/>
                                    </a:rPr>
                                    <m:t>2</m:t>
                                  </m:r>
                                </m:sub>
                              </m:sSub>
                              <m:r>
                                <a:rPr lang="en-US" altLang="zh-TW" sz="1200" i="1">
                                  <a:latin typeface="Cambria Math" panose="02040503050406030204" pitchFamily="18" charset="0"/>
                                  <a:ea typeface="Cambria Math" panose="02040503050406030204" pitchFamily="18" charset="0"/>
                                </a:rPr>
                                <m:t>−</m:t>
                              </m:r>
                              <m:sSub>
                                <m:sSubPr>
                                  <m:ctrlPr>
                                    <a:rPr lang="en-US" altLang="zh-TW" sz="1200" i="1">
                                      <a:latin typeface="Cambria Math" panose="02040503050406030204" pitchFamily="18" charset="0"/>
                                    </a:rPr>
                                  </m:ctrlPr>
                                </m:sSubPr>
                                <m:e>
                                  <m:r>
                                    <a:rPr lang="en-US" altLang="zh-TW" sz="1200" b="0" i="1" smtClean="0">
                                      <a:latin typeface="Cambria Math" panose="02040503050406030204" pitchFamily="18" charset="0"/>
                                    </a:rPr>
                                    <m:t>𝑞</m:t>
                                  </m:r>
                                </m:e>
                                <m:sub>
                                  <m:r>
                                    <a:rPr lang="en-US" altLang="zh-TW" sz="1200" b="0" i="1" smtClean="0">
                                      <a:latin typeface="Cambria Math" panose="02040503050406030204" pitchFamily="18" charset="0"/>
                                    </a:rPr>
                                    <m:t>2</m:t>
                                  </m:r>
                                </m:sub>
                              </m:sSub>
                              <m:sSub>
                                <m:sSubPr>
                                  <m:ctrlPr>
                                    <a:rPr lang="en-US" altLang="zh-TW" sz="1200" i="1">
                                      <a:latin typeface="Cambria Math" panose="02040503050406030204" pitchFamily="18" charset="0"/>
                                    </a:rPr>
                                  </m:ctrlPr>
                                </m:sSubPr>
                                <m:e>
                                  <m:r>
                                    <a:rPr lang="en-US" altLang="zh-TW" sz="1200" i="1">
                                      <a:latin typeface="Cambria Math" panose="02040503050406030204" pitchFamily="18" charset="0"/>
                                    </a:rPr>
                                    <m:t>𝑘</m:t>
                                  </m:r>
                                </m:e>
                                <m:sub>
                                  <m:r>
                                    <a:rPr lang="en-US" altLang="zh-TW" sz="1200" b="0" i="1" smtClean="0">
                                      <a:latin typeface="Cambria Math" panose="02040503050406030204" pitchFamily="18" charset="0"/>
                                    </a:rPr>
                                    <m:t>1</m:t>
                                  </m:r>
                                </m:sub>
                              </m:sSub>
                            </m:e>
                          </m:d>
                          <m:func>
                            <m:funcPr>
                              <m:ctrlPr>
                                <a:rPr lang="en-US" altLang="zh-TW" sz="1200" i="1" smtClean="0">
                                  <a:latin typeface="Cambria Math" panose="02040503050406030204" pitchFamily="18" charset="0"/>
                                </a:rPr>
                              </m:ctrlPr>
                            </m:funcPr>
                            <m:fName>
                              <m:r>
                                <m:rPr>
                                  <m:sty m:val="p"/>
                                </m:rPr>
                                <a:rPr lang="en-US" altLang="zh-TW" sz="1200" i="0" smtClean="0">
                                  <a:latin typeface="Cambria Math" panose="02040503050406030204" pitchFamily="18" charset="0"/>
                                </a:rPr>
                                <m:t>sin</m:t>
                              </m:r>
                            </m:fName>
                            <m:e>
                              <m:d>
                                <m:dPr>
                                  <m:ctrlPr>
                                    <a:rPr lang="en-US" altLang="zh-TW" sz="1200" i="1" smtClean="0">
                                      <a:latin typeface="Cambria Math" panose="02040503050406030204" pitchFamily="18" charset="0"/>
                                    </a:rPr>
                                  </m:ctrlPr>
                                </m:dPr>
                                <m:e>
                                  <m:r>
                                    <a:rPr lang="en-US" altLang="zh-TW" sz="1200" b="1" i="1" smtClean="0">
                                      <a:solidFill>
                                        <a:srgbClr val="FF0000"/>
                                      </a:solidFill>
                                      <a:latin typeface="Cambria Math" panose="02040503050406030204" pitchFamily="18" charset="0"/>
                                    </a:rPr>
                                    <m:t>𝒎</m:t>
                                  </m:r>
                                  <m:r>
                                    <a:rPr lang="en-US" altLang="zh-TW" sz="1200" b="1" i="1" smtClean="0">
                                      <a:solidFill>
                                        <a:srgbClr val="FF0000"/>
                                      </a:solidFill>
                                      <a:latin typeface="Cambria Math" panose="02040503050406030204" pitchFamily="18" charset="0"/>
                                    </a:rPr>
                                    <m:t>−</m:t>
                                  </m:r>
                                  <m:r>
                                    <a:rPr lang="en-US" altLang="zh-TW" sz="1200" b="1" i="1" smtClean="0">
                                      <a:solidFill>
                                        <a:srgbClr val="FF0000"/>
                                      </a:solidFill>
                                      <a:latin typeface="Cambria Math" panose="02040503050406030204" pitchFamily="18" charset="0"/>
                                    </a:rPr>
                                    <m:t>𝒏</m:t>
                                  </m:r>
                                </m:e>
                              </m:d>
                              <m:sSub>
                                <m:sSubPr>
                                  <m:ctrlPr>
                                    <a:rPr lang="en-US" altLang="zh-TW" sz="1200" i="1" smtClean="0">
                                      <a:latin typeface="Cambria Math" panose="02040503050406030204" pitchFamily="18" charset="0"/>
                                    </a:rPr>
                                  </m:ctrlPr>
                                </m:sSubPr>
                                <m:e>
                                  <m:r>
                                    <a:rPr lang="zh-TW" altLang="en-US" sz="1200" i="1" smtClean="0">
                                      <a:latin typeface="Cambria Math" panose="02040503050406030204" pitchFamily="18" charset="0"/>
                                    </a:rPr>
                                    <m:t>𝜃</m:t>
                                  </m:r>
                                </m:e>
                                <m:sub>
                                  <m:r>
                                    <a:rPr lang="en-US" altLang="zh-TW" sz="1200" b="0" i="1" smtClean="0">
                                      <a:latin typeface="Cambria Math" panose="02040503050406030204" pitchFamily="18" charset="0"/>
                                    </a:rPr>
                                    <m:t>𝑗</m:t>
                                  </m:r>
                                </m:sub>
                              </m:sSub>
                            </m:e>
                          </m:func>
                        </m:e>
                      </m:func>
                    </m:oMath>
                  </m:oMathPara>
                </a14:m>
                <a:endParaRPr lang="en-US" altLang="zh-TW" sz="1200" b="0" i="1" dirty="0">
                  <a:latin typeface="Cambria Math" panose="02040503050406030204" pitchFamily="18" charset="0"/>
                </a:endParaRPr>
              </a:p>
            </p:txBody>
          </p:sp>
        </mc:Choice>
        <mc:Fallback xmlns="">
          <p:sp>
            <p:nvSpPr>
              <p:cNvPr id="11" name="文字方塊 10">
                <a:extLst>
                  <a:ext uri="{FF2B5EF4-FFF2-40B4-BE49-F238E27FC236}">
                    <a16:creationId xmlns:a16="http://schemas.microsoft.com/office/drawing/2014/main" id="{38833136-D2E0-FCFD-BF10-DE4A8DAECD23}"/>
                  </a:ext>
                </a:extLst>
              </p:cNvPr>
              <p:cNvSpPr txBox="1">
                <a:spLocks noRot="1" noChangeAspect="1" noMove="1" noResize="1" noEditPoints="1" noAdjustHandles="1" noChangeArrowheads="1" noChangeShapeType="1" noTextEdit="1"/>
              </p:cNvSpPr>
              <p:nvPr/>
            </p:nvSpPr>
            <p:spPr>
              <a:xfrm>
                <a:off x="527277" y="4368610"/>
                <a:ext cx="4076197" cy="1148622"/>
              </a:xfrm>
              <a:prstGeom prst="rect">
                <a:avLst/>
              </a:prstGeom>
              <a:blipFill>
                <a:blip r:embed="rId7"/>
                <a:stretch>
                  <a:fillRect l="-2242"/>
                </a:stretch>
              </a:blipFill>
            </p:spPr>
            <p:txBody>
              <a:bodyPr/>
              <a:lstStyle/>
              <a:p>
                <a:r>
                  <a:rPr lang="zh-TW" altLang="en-US">
                    <a:noFill/>
                  </a:rPr>
                  <a:t> </a:t>
                </a:r>
              </a:p>
            </p:txBody>
          </p:sp>
        </mc:Fallback>
      </mc:AlternateContent>
    </p:spTree>
    <p:extLst>
      <p:ext uri="{BB962C8B-B14F-4D97-AF65-F5344CB8AC3E}">
        <p14:creationId xmlns:p14="http://schemas.microsoft.com/office/powerpoint/2010/main" val="980087860"/>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文字方塊 6">
            <a:extLst>
              <a:ext uri="{FF2B5EF4-FFF2-40B4-BE49-F238E27FC236}">
                <a16:creationId xmlns:a16="http://schemas.microsoft.com/office/drawing/2014/main" id="{783E2FE9-23D8-8321-7637-C17FA74FAB22}"/>
              </a:ext>
            </a:extLst>
          </p:cNvPr>
          <p:cNvSpPr txBox="1"/>
          <p:nvPr/>
        </p:nvSpPr>
        <p:spPr>
          <a:xfrm>
            <a:off x="287524" y="4653136"/>
            <a:ext cx="5076564" cy="1862048"/>
          </a:xfrm>
          <a:prstGeom prst="rect">
            <a:avLst/>
          </a:prstGeom>
          <a:noFill/>
        </p:spPr>
        <p:txBody>
          <a:bodyPr wrap="square">
            <a:spAutoFit/>
          </a:bodyPr>
          <a:lstStyle/>
          <a:p>
            <a:pPr>
              <a:lnSpc>
                <a:spcPts val="1800"/>
              </a:lnSpc>
              <a:spcBef>
                <a:spcPts val="600"/>
              </a:spcBef>
              <a:spcAft>
                <a:spcPts val="600"/>
              </a:spcAft>
            </a:pPr>
            <a:r>
              <a:rPr lang="en-US" altLang="zh-TW" sz="2000" b="1" dirty="0"/>
              <a:t>Summary</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ML: </a:t>
            </a:r>
            <a:r>
              <a:rPr lang="en-US" altLang="zh-TW" sz="1600" u="none" strike="noStrike" dirty="0">
                <a:effectLst/>
              </a:rPr>
              <a:t>Establish a model to predict unknown outcomes</a:t>
            </a:r>
          </a:p>
          <a:p>
            <a:pPr marL="285750" indent="-285750">
              <a:lnSpc>
                <a:spcPts val="1800"/>
              </a:lnSpc>
              <a:spcBef>
                <a:spcPts val="600"/>
              </a:spcBef>
              <a:spcAft>
                <a:spcPts val="600"/>
              </a:spcAft>
              <a:buFont typeface="Wingdings" panose="05000000000000000000" pitchFamily="2" charset="2"/>
              <a:buChar char="Ø"/>
            </a:pPr>
            <a:r>
              <a:rPr lang="en-US" altLang="zh-TW" sz="1600" b="1" dirty="0"/>
              <a:t>GPT</a:t>
            </a:r>
            <a:r>
              <a:rPr lang="en-US" altLang="zh-TW" sz="1600" dirty="0"/>
              <a:t>:</a:t>
            </a:r>
            <a:r>
              <a:rPr lang="zh-TW" altLang="en-US" sz="1600" dirty="0"/>
              <a:t> </a:t>
            </a:r>
            <a:r>
              <a:rPr lang="en-US" altLang="zh-TW" sz="1600" dirty="0"/>
              <a:t>Establish a language model to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Inference</a:t>
            </a:r>
            <a:r>
              <a:rPr lang="en-US" altLang="zh-TW" sz="1600" u="none" strike="noStrike" dirty="0">
                <a:effectLst/>
              </a:rPr>
              <a:t>: How GPT generate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Training</a:t>
            </a:r>
            <a:r>
              <a:rPr lang="en-US" altLang="zh-TW" sz="1600" dirty="0"/>
              <a:t>: Minimize the prediction errors.</a:t>
            </a:r>
          </a:p>
        </p:txBody>
      </p:sp>
      <p:sp>
        <p:nvSpPr>
          <p:cNvPr id="11" name="標題 1">
            <a:extLst>
              <a:ext uri="{FF2B5EF4-FFF2-40B4-BE49-F238E27FC236}">
                <a16:creationId xmlns:a16="http://schemas.microsoft.com/office/drawing/2014/main" id="{D342347B-3406-5B70-888B-D0EE62A80FC4}"/>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Generative Pretrained Transformer</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ChatGPT is developed by OpenAI</a:t>
            </a:r>
            <a:endParaRPr lang="en-US" altLang="zh-TW" sz="14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p:txBody>
      </p:sp>
      <p:grpSp>
        <p:nvGrpSpPr>
          <p:cNvPr id="102" name="群組 101">
            <a:extLst>
              <a:ext uri="{FF2B5EF4-FFF2-40B4-BE49-F238E27FC236}">
                <a16:creationId xmlns:a16="http://schemas.microsoft.com/office/drawing/2014/main" id="{8FCF9956-704A-E7BC-B547-D9197FED39D4}"/>
              </a:ext>
            </a:extLst>
          </p:cNvPr>
          <p:cNvGrpSpPr/>
          <p:nvPr/>
        </p:nvGrpSpPr>
        <p:grpSpPr>
          <a:xfrm>
            <a:off x="1475656" y="980728"/>
            <a:ext cx="3046918" cy="3600400"/>
            <a:chOff x="1262831" y="1264889"/>
            <a:chExt cx="2695542" cy="3087944"/>
          </a:xfrm>
        </p:grpSpPr>
        <p:pic>
          <p:nvPicPr>
            <p:cNvPr id="5" name="圖片 4" descr="一張含有 文字, 螢幕擷取畫面, 圖表, 字型 的圖片&#10;&#10;AI 產生的內容可能不正確。">
              <a:extLst>
                <a:ext uri="{FF2B5EF4-FFF2-40B4-BE49-F238E27FC236}">
                  <a16:creationId xmlns:a16="http://schemas.microsoft.com/office/drawing/2014/main" id="{2BCA7568-8E19-A6E4-C92F-833FC4128D3F}"/>
                </a:ext>
              </a:extLst>
            </p:cNvPr>
            <p:cNvPicPr>
              <a:picLocks noChangeAspect="1"/>
            </p:cNvPicPr>
            <p:nvPr/>
          </p:nvPicPr>
          <p:blipFill>
            <a:blip r:embed="rId3"/>
            <a:stretch>
              <a:fillRect/>
            </a:stretch>
          </p:blipFill>
          <p:spPr>
            <a:xfrm>
              <a:off x="1271735" y="1264889"/>
              <a:ext cx="2577367" cy="3087944"/>
            </a:xfrm>
            <a:prstGeom prst="rect">
              <a:avLst/>
            </a:prstGeom>
            <a:ln>
              <a:gradFill>
                <a:gsLst>
                  <a:gs pos="0">
                    <a:schemeClr val="accent1">
                      <a:lumMod val="5000"/>
                      <a:lumOff val="95000"/>
                    </a:schemeClr>
                  </a:gs>
                  <a:gs pos="74000">
                    <a:schemeClr val="accent1">
                      <a:lumMod val="45000"/>
                      <a:lumOff val="55000"/>
                    </a:schemeClr>
                  </a:gs>
                  <a:gs pos="83000">
                    <a:schemeClr val="accent1">
                      <a:lumMod val="45000"/>
                      <a:lumOff val="55000"/>
                    </a:schemeClr>
                  </a:gs>
                  <a:gs pos="100000">
                    <a:schemeClr val="accent1">
                      <a:lumMod val="30000"/>
                      <a:lumOff val="70000"/>
                    </a:schemeClr>
                  </a:gs>
                </a:gsLst>
                <a:lin ang="5400000" scaled="1"/>
              </a:gradFill>
            </a:ln>
            <a:effectLst>
              <a:glow rad="63500">
                <a:schemeClr val="accent1">
                  <a:satMod val="175000"/>
                  <a:alpha val="40000"/>
                </a:schemeClr>
              </a:glow>
            </a:effectLst>
          </p:spPr>
        </p:pic>
        <p:sp>
          <p:nvSpPr>
            <p:cNvPr id="8" name="標題 1">
              <a:extLst>
                <a:ext uri="{FF2B5EF4-FFF2-40B4-BE49-F238E27FC236}">
                  <a16:creationId xmlns:a16="http://schemas.microsoft.com/office/drawing/2014/main" id="{525BE251-F62B-F004-400A-FC6BC5C705B4}"/>
                </a:ext>
              </a:extLst>
            </p:cNvPr>
            <p:cNvSpPr txBox="1">
              <a:spLocks/>
            </p:cNvSpPr>
            <p:nvPr/>
          </p:nvSpPr>
          <p:spPr>
            <a:xfrm>
              <a:off x="1262831" y="2097449"/>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Encoder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sp>
          <p:nvSpPr>
            <p:cNvPr id="40" name="標題 1">
              <a:extLst>
                <a:ext uri="{FF2B5EF4-FFF2-40B4-BE49-F238E27FC236}">
                  <a16:creationId xmlns:a16="http://schemas.microsoft.com/office/drawing/2014/main" id="{9C23FA67-70C4-3768-1F74-DA78B9D624BB}"/>
                </a:ext>
              </a:extLst>
            </p:cNvPr>
            <p:cNvSpPr txBox="1">
              <a:spLocks/>
            </p:cNvSpPr>
            <p:nvPr/>
          </p:nvSpPr>
          <p:spPr>
            <a:xfrm>
              <a:off x="3347864" y="1665401"/>
              <a:ext cx="610509" cy="251431"/>
            </a:xfrm>
            <a:prstGeom prst="rect">
              <a:avLst/>
            </a:prstGeom>
          </p:spPr>
          <p:txBody>
            <a:bodyPr wrap="none" anchor="ctr" anchorCtr="1"/>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200" b="1" dirty="0">
                  <a:latin typeface="Arial" panose="020B0604020202020204" pitchFamily="34" charset="0"/>
                  <a:cs typeface="Arial" panose="020B0604020202020204" pitchFamily="34" charset="0"/>
                  <a:sym typeface="Wingdings" panose="05000000000000000000" pitchFamily="2" charset="2"/>
                </a:rPr>
                <a:t>Decoder</a:t>
              </a:r>
              <a:endParaRPr lang="en-US" altLang="zh-TW" sz="1400" b="1" dirty="0">
                <a:latin typeface="Arial" panose="020B0604020202020204" pitchFamily="34" charset="0"/>
                <a:cs typeface="Arial" panose="020B0604020202020204" pitchFamily="34" charset="0"/>
                <a:sym typeface="Wingdings" panose="05000000000000000000" pitchFamily="2" charset="2"/>
              </a:endParaRPr>
            </a:p>
          </p:txBody>
        </p:sp>
      </p:grpSp>
      <p:sp>
        <p:nvSpPr>
          <p:cNvPr id="100" name="文字方塊 99">
            <a:extLst>
              <a:ext uri="{FF2B5EF4-FFF2-40B4-BE49-F238E27FC236}">
                <a16:creationId xmlns:a16="http://schemas.microsoft.com/office/drawing/2014/main" id="{1E34967F-7D17-B18F-EF29-ADF843C3ABDE}"/>
              </a:ext>
            </a:extLst>
          </p:cNvPr>
          <p:cNvSpPr txBox="1"/>
          <p:nvPr/>
        </p:nvSpPr>
        <p:spPr>
          <a:xfrm>
            <a:off x="5148064" y="1070493"/>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1" name="表格 100">
            <a:extLst>
              <a:ext uri="{FF2B5EF4-FFF2-40B4-BE49-F238E27FC236}">
                <a16:creationId xmlns:a16="http://schemas.microsoft.com/office/drawing/2014/main" id="{95517A14-39B7-2889-DF33-E453BC760876}"/>
              </a:ext>
            </a:extLst>
          </p:cNvPr>
          <p:cNvGraphicFramePr>
            <a:graphicFrameLocks noGrp="1"/>
          </p:cNvGraphicFramePr>
          <p:nvPr>
            <p:extLst>
              <p:ext uri="{D42A27DB-BD31-4B8C-83A1-F6EECF244321}">
                <p14:modId xmlns:p14="http://schemas.microsoft.com/office/powerpoint/2010/main" val="112201847"/>
              </p:ext>
            </p:extLst>
          </p:nvPr>
        </p:nvGraphicFramePr>
        <p:xfrm>
          <a:off x="5207041" y="1092619"/>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7" name="文字方塊 106">
            <a:extLst>
              <a:ext uri="{FF2B5EF4-FFF2-40B4-BE49-F238E27FC236}">
                <a16:creationId xmlns:a16="http://schemas.microsoft.com/office/drawing/2014/main" id="{F1C8B0C7-8D3E-084A-819C-41D5EF20519F}"/>
              </a:ext>
            </a:extLst>
          </p:cNvPr>
          <p:cNvSpPr txBox="1"/>
          <p:nvPr/>
        </p:nvSpPr>
        <p:spPr>
          <a:xfrm>
            <a:off x="5148064" y="2102606"/>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08" name="表格 107">
            <a:extLst>
              <a:ext uri="{FF2B5EF4-FFF2-40B4-BE49-F238E27FC236}">
                <a16:creationId xmlns:a16="http://schemas.microsoft.com/office/drawing/2014/main" id="{1F04AE3E-C6EB-D350-EFB3-26C2D1879152}"/>
              </a:ext>
            </a:extLst>
          </p:cNvPr>
          <p:cNvGraphicFramePr>
            <a:graphicFrameLocks noGrp="1"/>
          </p:cNvGraphicFramePr>
          <p:nvPr>
            <p:extLst>
              <p:ext uri="{D42A27DB-BD31-4B8C-83A1-F6EECF244321}">
                <p14:modId xmlns:p14="http://schemas.microsoft.com/office/powerpoint/2010/main" val="4017909049"/>
              </p:ext>
            </p:extLst>
          </p:nvPr>
        </p:nvGraphicFramePr>
        <p:xfrm>
          <a:off x="5207041" y="2124732"/>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09" name="文字方塊 108">
            <a:extLst>
              <a:ext uri="{FF2B5EF4-FFF2-40B4-BE49-F238E27FC236}">
                <a16:creationId xmlns:a16="http://schemas.microsoft.com/office/drawing/2014/main" id="{B98439EE-FD02-FC25-D93D-26FFC2AE0889}"/>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0" name="表格 109">
            <a:extLst>
              <a:ext uri="{FF2B5EF4-FFF2-40B4-BE49-F238E27FC236}">
                <a16:creationId xmlns:a16="http://schemas.microsoft.com/office/drawing/2014/main" id="{6CBE62CD-66DD-ADA7-37FD-2A4A9FF3FC96}"/>
              </a:ext>
            </a:extLst>
          </p:cNvPr>
          <p:cNvGraphicFramePr>
            <a:graphicFrameLocks noGrp="1"/>
          </p:cNvGraphicFramePr>
          <p:nvPr>
            <p:extLst>
              <p:ext uri="{D42A27DB-BD31-4B8C-83A1-F6EECF244321}">
                <p14:modId xmlns:p14="http://schemas.microsoft.com/office/powerpoint/2010/main" val="2991861615"/>
              </p:ext>
            </p:extLst>
          </p:nvPr>
        </p:nvGraphicFramePr>
        <p:xfrm>
          <a:off x="5211278" y="3156845"/>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1" cap="none" spc="0" dirty="0">
                          <a:ln w="0"/>
                          <a:solidFill>
                            <a:schemeClr val="tx1"/>
                          </a:solidFill>
                          <a:effectLst/>
                        </a:rPr>
                        <a:t>Input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solidFill>
                      <a:schemeClr val="bg1"/>
                    </a:solidFill>
                  </a:tcPr>
                </a:tc>
                <a:extLst>
                  <a:ext uri="{0D108BD9-81ED-4DB2-BD59-A6C34878D82A}">
                    <a16:rowId xmlns:a16="http://schemas.microsoft.com/office/drawing/2014/main" val="3168480023"/>
                  </a:ext>
                </a:extLst>
              </a:tr>
            </a:tbl>
          </a:graphicData>
        </a:graphic>
      </p:graphicFrame>
      <p:sp>
        <p:nvSpPr>
          <p:cNvPr id="111" name="文字方塊 110">
            <a:extLst>
              <a:ext uri="{FF2B5EF4-FFF2-40B4-BE49-F238E27FC236}">
                <a16:creationId xmlns:a16="http://schemas.microsoft.com/office/drawing/2014/main" id="{F746BA90-4911-879D-BBE0-D8C6854D6136}"/>
              </a:ext>
            </a:extLst>
          </p:cNvPr>
          <p:cNvSpPr txBox="1"/>
          <p:nvPr/>
        </p:nvSpPr>
        <p:spPr>
          <a:xfrm>
            <a:off x="8172400" y="3839127"/>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2" name="表格 111">
            <a:extLst>
              <a:ext uri="{FF2B5EF4-FFF2-40B4-BE49-F238E27FC236}">
                <a16:creationId xmlns:a16="http://schemas.microsoft.com/office/drawing/2014/main" id="{4369CB11-5FD5-528A-DE9C-505B7E58E552}"/>
              </a:ext>
            </a:extLst>
          </p:cNvPr>
          <p:cNvGraphicFramePr>
            <a:graphicFrameLocks noGrp="1"/>
          </p:cNvGraphicFramePr>
          <p:nvPr>
            <p:extLst>
              <p:ext uri="{D42A27DB-BD31-4B8C-83A1-F6EECF244321}">
                <p14:modId xmlns:p14="http://schemas.microsoft.com/office/powerpoint/2010/main" val="2276687434"/>
              </p:ext>
            </p:extLst>
          </p:nvPr>
        </p:nvGraphicFramePr>
        <p:xfrm>
          <a:off x="8231377" y="3861253"/>
          <a:ext cx="610509" cy="86905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SP</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0" cap="none" spc="0" dirty="0">
                          <a:ln w="0"/>
                          <a:solidFill>
                            <a:schemeClr val="tx1"/>
                          </a:solidFill>
                          <a:effectLst/>
                        </a:rPr>
                        <a:t>HC</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algn="ctr"/>
                      <a:r>
                        <a:rPr lang="en-US" altLang="zh-TW" sz="1200" b="0" cap="none" spc="0" dirty="0">
                          <a:ln w="0"/>
                          <a:solidFill>
                            <a:schemeClr val="tx1"/>
                          </a:solidFill>
                          <a:effectLst/>
                        </a:rPr>
                        <a:t>Input</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algn="ctr"/>
                      <a:r>
                        <a:rPr lang="en-US" altLang="zh-TW" sz="1200" b="1" cap="none" spc="0" dirty="0">
                          <a:ln w="0"/>
                          <a:solidFill>
                            <a:schemeClr val="tx1"/>
                          </a:solidFill>
                          <a:effectLst/>
                        </a:rPr>
                        <a:t>Output</a:t>
                      </a:r>
                      <a:endParaRPr lang="zh-TW" altLang="en-US" sz="1200" b="1"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4" name="箭號: 向下 113">
            <a:extLst>
              <a:ext uri="{FF2B5EF4-FFF2-40B4-BE49-F238E27FC236}">
                <a16:creationId xmlns:a16="http://schemas.microsoft.com/office/drawing/2014/main" id="{4B8AF1D3-A95C-2891-D86C-C73137410A5F}"/>
              </a:ext>
            </a:extLst>
          </p:cNvPr>
          <p:cNvSpPr/>
          <p:nvPr/>
        </p:nvSpPr>
        <p:spPr>
          <a:xfrm>
            <a:off x="5396876" y="1927947"/>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5" name="箭號: 向下 114">
            <a:extLst>
              <a:ext uri="{FF2B5EF4-FFF2-40B4-BE49-F238E27FC236}">
                <a16:creationId xmlns:a16="http://schemas.microsoft.com/office/drawing/2014/main" id="{4996FDAD-F12E-7E38-59F8-896763677DF0}"/>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sp>
        <p:nvSpPr>
          <p:cNvPr id="116" name="箭號: 向下 115">
            <a:extLst>
              <a:ext uri="{FF2B5EF4-FFF2-40B4-BE49-F238E27FC236}">
                <a16:creationId xmlns:a16="http://schemas.microsoft.com/office/drawing/2014/main" id="{5DAF6F4A-CD75-4918-BC49-EF906AE4E878}"/>
              </a:ext>
            </a:extLst>
          </p:cNvPr>
          <p:cNvSpPr/>
          <p:nvPr/>
        </p:nvSpPr>
        <p:spPr>
          <a:xfrm>
            <a:off x="8437036" y="367249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grpSp>
        <p:nvGrpSpPr>
          <p:cNvPr id="3" name="群組 2">
            <a:extLst>
              <a:ext uri="{FF2B5EF4-FFF2-40B4-BE49-F238E27FC236}">
                <a16:creationId xmlns:a16="http://schemas.microsoft.com/office/drawing/2014/main" id="{313771C8-620C-0542-7B51-6B3D2BB7860E}"/>
              </a:ext>
            </a:extLst>
          </p:cNvPr>
          <p:cNvGrpSpPr/>
          <p:nvPr/>
        </p:nvGrpSpPr>
        <p:grpSpPr>
          <a:xfrm>
            <a:off x="5508104" y="947302"/>
            <a:ext cx="2153804" cy="4497922"/>
            <a:chOff x="5508104" y="947302"/>
            <a:chExt cx="2153804" cy="4497922"/>
          </a:xfrm>
        </p:grpSpPr>
        <p:sp>
          <p:nvSpPr>
            <p:cNvPr id="15" name="矩形: 圓角 14">
              <a:extLst>
                <a:ext uri="{FF2B5EF4-FFF2-40B4-BE49-F238E27FC236}">
                  <a16:creationId xmlns:a16="http://schemas.microsoft.com/office/drawing/2014/main" id="{0DA4822F-AD21-0C15-8299-8E0676744ED3}"/>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21" name="文字方塊 20">
              <a:extLst>
                <a:ext uri="{FF2B5EF4-FFF2-40B4-BE49-F238E27FC236}">
                  <a16:creationId xmlns:a16="http://schemas.microsoft.com/office/drawing/2014/main" id="{8E129EE3-7A74-F9FC-FD3C-18FC908CE8A6}"/>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2" name="文字方塊 11">
              <a:extLst>
                <a:ext uri="{FF2B5EF4-FFF2-40B4-BE49-F238E27FC236}">
                  <a16:creationId xmlns:a16="http://schemas.microsoft.com/office/drawing/2014/main" id="{A2BFBE3B-FDA6-4D67-496D-01A022449EDC}"/>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3" name="文字方塊 12">
              <a:extLst>
                <a:ext uri="{FF2B5EF4-FFF2-40B4-BE49-F238E27FC236}">
                  <a16:creationId xmlns:a16="http://schemas.microsoft.com/office/drawing/2014/main" id="{8FF93134-1961-FF87-3518-31A31B4FD9AB}"/>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14" name="文字方塊 13">
              <a:extLst>
                <a:ext uri="{FF2B5EF4-FFF2-40B4-BE49-F238E27FC236}">
                  <a16:creationId xmlns:a16="http://schemas.microsoft.com/office/drawing/2014/main" id="{48DB52DE-8C3C-3B1B-F383-6B08F6084388}"/>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16" name="文字方塊 15">
              <a:extLst>
                <a:ext uri="{FF2B5EF4-FFF2-40B4-BE49-F238E27FC236}">
                  <a16:creationId xmlns:a16="http://schemas.microsoft.com/office/drawing/2014/main" id="{26626394-298E-FFEF-EB6B-953E1984D12C}"/>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7" name="文字方塊 16">
              <a:extLst>
                <a:ext uri="{FF2B5EF4-FFF2-40B4-BE49-F238E27FC236}">
                  <a16:creationId xmlns:a16="http://schemas.microsoft.com/office/drawing/2014/main" id="{ED598174-1231-7774-5223-4B76858CB8B2}"/>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(Next Token)</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8" name="文字方塊 17">
              <a:extLst>
                <a:ext uri="{FF2B5EF4-FFF2-40B4-BE49-F238E27FC236}">
                  <a16:creationId xmlns:a16="http://schemas.microsoft.com/office/drawing/2014/main" id="{AE122E59-E71C-BF7E-9FA2-246BB6BA8DCB}"/>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19" name="文字方塊 18">
              <a:extLst>
                <a:ext uri="{FF2B5EF4-FFF2-40B4-BE49-F238E27FC236}">
                  <a16:creationId xmlns:a16="http://schemas.microsoft.com/office/drawing/2014/main" id="{4BBD43E6-F6A9-D473-B829-B1816F1F343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23" name="接點: 肘形 22">
              <a:extLst>
                <a:ext uri="{FF2B5EF4-FFF2-40B4-BE49-F238E27FC236}">
                  <a16:creationId xmlns:a16="http://schemas.microsoft.com/office/drawing/2014/main" id="{F7408739-59B0-0EFF-566F-8E702C7A5746}"/>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25" name="直線單箭頭接點 24">
              <a:extLst>
                <a:ext uri="{FF2B5EF4-FFF2-40B4-BE49-F238E27FC236}">
                  <a16:creationId xmlns:a16="http://schemas.microsoft.com/office/drawing/2014/main" id="{F96DF998-11B5-6DCD-260B-94D629BFAEF0}"/>
                </a:ext>
              </a:extLst>
            </p:cNvPr>
            <p:cNvCxnSpPr>
              <a:cxnSpLocks/>
              <a:stCxn id="16" idx="0"/>
              <a:endCxn id="45" idx="4"/>
            </p:cNvCxnSpPr>
            <p:nvPr/>
          </p:nvCxnSpPr>
          <p:spPr>
            <a:xfrm flipH="1" flipV="1">
              <a:off x="6941828" y="4426290"/>
              <a:ext cx="1841" cy="193405"/>
            </a:xfrm>
            <a:prstGeom prst="straightConnector1">
              <a:avLst/>
            </a:prstGeom>
            <a:ln w="19050">
              <a:solidFill>
                <a:srgbClr val="9E78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28" name="文字方塊 27">
              <a:extLst>
                <a:ext uri="{FF2B5EF4-FFF2-40B4-BE49-F238E27FC236}">
                  <a16:creationId xmlns:a16="http://schemas.microsoft.com/office/drawing/2014/main" id="{941C9E26-B687-4ED9-51F0-5E90918645ED}"/>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30" name="直線單箭頭接點 29">
              <a:extLst>
                <a:ext uri="{FF2B5EF4-FFF2-40B4-BE49-F238E27FC236}">
                  <a16:creationId xmlns:a16="http://schemas.microsoft.com/office/drawing/2014/main" id="{52A478B3-FF36-58DD-AAF2-9833A0BE5470}"/>
                </a:ext>
              </a:extLst>
            </p:cNvPr>
            <p:cNvCxnSpPr>
              <a:cxnSpLocks/>
              <a:stCxn id="18" idx="0"/>
              <a:endCxn id="28"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4" name="直線單箭頭接點 33">
              <a:extLst>
                <a:ext uri="{FF2B5EF4-FFF2-40B4-BE49-F238E27FC236}">
                  <a16:creationId xmlns:a16="http://schemas.microsoft.com/office/drawing/2014/main" id="{0BAE8AF3-776E-BC4D-708B-9DEC5223FB44}"/>
                </a:ext>
              </a:extLst>
            </p:cNvPr>
            <p:cNvCxnSpPr>
              <a:cxnSpLocks/>
              <a:stCxn id="19" idx="0"/>
              <a:endCxn id="18"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37" name="直線單箭頭接點 36">
              <a:extLst>
                <a:ext uri="{FF2B5EF4-FFF2-40B4-BE49-F238E27FC236}">
                  <a16:creationId xmlns:a16="http://schemas.microsoft.com/office/drawing/2014/main" id="{DE7673E4-7421-8C17-22D8-760FD21345A3}"/>
                </a:ext>
              </a:extLst>
            </p:cNvPr>
            <p:cNvCxnSpPr>
              <a:cxnSpLocks/>
              <a:stCxn id="21" idx="0"/>
              <a:endCxn id="19"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43" name="橢圓 42">
              <a:extLst>
                <a:ext uri="{FF2B5EF4-FFF2-40B4-BE49-F238E27FC236}">
                  <a16:creationId xmlns:a16="http://schemas.microsoft.com/office/drawing/2014/main" id="{CFEAC299-EC47-6B68-B7EB-B8AB808179C7}"/>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45" name="橢圓 44">
              <a:extLst>
                <a:ext uri="{FF2B5EF4-FFF2-40B4-BE49-F238E27FC236}">
                  <a16:creationId xmlns:a16="http://schemas.microsoft.com/office/drawing/2014/main" id="{380EBCE0-8A56-3CD8-39A0-674F5CC541D8}"/>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47" name="直線單箭頭接點 46">
              <a:extLst>
                <a:ext uri="{FF2B5EF4-FFF2-40B4-BE49-F238E27FC236}">
                  <a16:creationId xmlns:a16="http://schemas.microsoft.com/office/drawing/2014/main" id="{47761A70-FD4B-667F-6C59-2728142DFC4D}"/>
                </a:ext>
              </a:extLst>
            </p:cNvPr>
            <p:cNvCxnSpPr>
              <a:cxnSpLocks/>
              <a:stCxn id="45" idx="6"/>
              <a:endCxn id="4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0" name="直線單箭頭接點 49">
              <a:extLst>
                <a:ext uri="{FF2B5EF4-FFF2-40B4-BE49-F238E27FC236}">
                  <a16:creationId xmlns:a16="http://schemas.microsoft.com/office/drawing/2014/main" id="{C71B28EA-3A7D-4020-72BA-8F498504E3BF}"/>
                </a:ext>
              </a:extLst>
            </p:cNvPr>
            <p:cNvCxnSpPr>
              <a:cxnSpLocks/>
              <a:stCxn id="45" idx="0"/>
              <a:endCxn id="14"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A840CA12-EC17-F314-F2BD-183427A6D884}"/>
                </a:ext>
              </a:extLst>
            </p:cNvPr>
            <p:cNvCxnSpPr>
              <a:cxnSpLocks/>
              <a:stCxn id="14" idx="0"/>
              <a:endCxn id="13"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8" name="直線單箭頭接點 67">
              <a:extLst>
                <a:ext uri="{FF2B5EF4-FFF2-40B4-BE49-F238E27FC236}">
                  <a16:creationId xmlns:a16="http://schemas.microsoft.com/office/drawing/2014/main" id="{C334263B-961D-794D-245E-BCCB48172AD8}"/>
                </a:ext>
              </a:extLst>
            </p:cNvPr>
            <p:cNvCxnSpPr>
              <a:cxnSpLocks/>
              <a:stCxn id="12" idx="0"/>
              <a:endCxn id="21"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69" name="接點: 肘形 68">
              <a:extLst>
                <a:ext uri="{FF2B5EF4-FFF2-40B4-BE49-F238E27FC236}">
                  <a16:creationId xmlns:a16="http://schemas.microsoft.com/office/drawing/2014/main" id="{CA12EA47-2EC6-D640-ACF5-345508561799}"/>
                </a:ext>
              </a:extLst>
            </p:cNvPr>
            <p:cNvCxnSpPr>
              <a:cxnSpLocks/>
              <a:stCxn id="91" idx="0"/>
              <a:endCxn id="45" idx="2"/>
            </p:cNvCxnSpPr>
            <p:nvPr/>
          </p:nvCxnSpPr>
          <p:spPr>
            <a:xfrm rot="5400000" flipH="1" flipV="1">
              <a:off x="6272280" y="4026347"/>
              <a:ext cx="265413" cy="921284"/>
            </a:xfrm>
            <a:prstGeom prst="bentConnector2">
              <a:avLst/>
            </a:prstGeom>
            <a:ln w="19050">
              <a:solidFill>
                <a:schemeClr val="tx1"/>
              </a:solidFill>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直線單箭頭接點 76">
              <a:extLst>
                <a:ext uri="{FF2B5EF4-FFF2-40B4-BE49-F238E27FC236}">
                  <a16:creationId xmlns:a16="http://schemas.microsoft.com/office/drawing/2014/main" id="{1B96F702-EE29-F650-3477-168D4689C873}"/>
                </a:ext>
              </a:extLst>
            </p:cNvPr>
            <p:cNvCxnSpPr>
              <a:cxnSpLocks/>
              <a:stCxn id="13" idx="0"/>
              <a:endCxn id="12"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91" name="文字方塊 90">
              <a:extLst>
                <a:ext uri="{FF2B5EF4-FFF2-40B4-BE49-F238E27FC236}">
                  <a16:creationId xmlns:a16="http://schemas.microsoft.com/office/drawing/2014/main" id="{A60CBA71-8C1E-AABF-CC17-30A3F40B8433}"/>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92" name="文字方塊 91">
              <a:extLst>
                <a:ext uri="{FF2B5EF4-FFF2-40B4-BE49-F238E27FC236}">
                  <a16:creationId xmlns:a16="http://schemas.microsoft.com/office/drawing/2014/main" id="{65AFE4E3-3C98-DBC2-C378-FDBF78ABC7FC}"/>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(User)</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95" name="接點: 肘形 94">
              <a:extLst>
                <a:ext uri="{FF2B5EF4-FFF2-40B4-BE49-F238E27FC236}">
                  <a16:creationId xmlns:a16="http://schemas.microsoft.com/office/drawing/2014/main" id="{5572A0B8-E119-1449-0DCE-E6E70157C7D0}"/>
                </a:ext>
              </a:extLst>
            </p:cNvPr>
            <p:cNvCxnSpPr>
              <a:cxnSpLocks/>
              <a:stCxn id="28" idx="3"/>
              <a:endCxn id="16" idx="3"/>
            </p:cNvCxnSpPr>
            <p:nvPr/>
          </p:nvCxnSpPr>
          <p:spPr>
            <a:xfrm flipH="1">
              <a:off x="7379909" y="1127322"/>
              <a:ext cx="137983" cy="3672393"/>
            </a:xfrm>
            <a:prstGeom prst="bentConnector3">
              <a:avLst>
                <a:gd name="adj1" fmla="val -296831"/>
              </a:avLst>
            </a:prstGeom>
            <a:ln w="19050">
              <a:solidFill>
                <a:srgbClr val="9E7800"/>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27" name="文字方塊 26">
              <a:extLst>
                <a:ext uri="{FF2B5EF4-FFF2-40B4-BE49-F238E27FC236}">
                  <a16:creationId xmlns:a16="http://schemas.microsoft.com/office/drawing/2014/main" id="{C43073DE-0AC2-1372-21F9-F7CD4697B6E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pSp>
      <p:pic>
        <p:nvPicPr>
          <p:cNvPr id="10" name="圖片 9">
            <a:extLst>
              <a:ext uri="{FF2B5EF4-FFF2-40B4-BE49-F238E27FC236}">
                <a16:creationId xmlns:a16="http://schemas.microsoft.com/office/drawing/2014/main" id="{676555D1-24B1-A883-31E1-7942045B2592}"/>
              </a:ext>
            </a:extLst>
          </p:cNvPr>
          <p:cNvPicPr>
            <a:picLocks noChangeAspect="1"/>
          </p:cNvPicPr>
          <p:nvPr/>
        </p:nvPicPr>
        <p:blipFill>
          <a:blip r:embed="rId4"/>
          <a:stretch>
            <a:fillRect/>
          </a:stretch>
        </p:blipFill>
        <p:spPr>
          <a:xfrm>
            <a:off x="431881" y="912934"/>
            <a:ext cx="502778" cy="502778"/>
          </a:xfrm>
          <a:prstGeom prst="rect">
            <a:avLst/>
          </a:prstGeom>
        </p:spPr>
      </p:pic>
      <p:pic>
        <p:nvPicPr>
          <p:cNvPr id="22" name="圖形 21" descr="使用者 外框">
            <a:extLst>
              <a:ext uri="{FF2B5EF4-FFF2-40B4-BE49-F238E27FC236}">
                <a16:creationId xmlns:a16="http://schemas.microsoft.com/office/drawing/2014/main" id="{916B75CB-0D23-AA1B-B0A1-C6915ABAEAFA}"/>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5750436" y="5407653"/>
            <a:ext cx="387816" cy="387816"/>
          </a:xfrm>
          <a:prstGeom prst="rect">
            <a:avLst/>
          </a:prstGeom>
        </p:spPr>
      </p:pic>
    </p:spTree>
    <p:extLst>
      <p:ext uri="{BB962C8B-B14F-4D97-AF65-F5344CB8AC3E}">
        <p14:creationId xmlns:p14="http://schemas.microsoft.com/office/powerpoint/2010/main" val="3343714154"/>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22E6E43-CC03-2DCD-18D3-87ED0D04D0AD}"/>
            </a:ext>
          </a:extLst>
        </p:cNvPr>
        <p:cNvGrpSpPr/>
        <p:nvPr/>
      </p:nvGrpSpPr>
      <p:grpSpPr>
        <a:xfrm>
          <a:off x="0" y="0"/>
          <a:ext cx="0" cy="0"/>
          <a:chOff x="0" y="0"/>
          <a:chExt cx="0" cy="0"/>
        </a:xfrm>
      </p:grpSpPr>
      <p:sp>
        <p:nvSpPr>
          <p:cNvPr id="2" name="文字方塊 1">
            <a:extLst>
              <a:ext uri="{FF2B5EF4-FFF2-40B4-BE49-F238E27FC236}">
                <a16:creationId xmlns:a16="http://schemas.microsoft.com/office/drawing/2014/main" id="{BDF14932-8C74-5F1A-4C71-8DA451197583}"/>
              </a:ext>
            </a:extLst>
          </p:cNvPr>
          <p:cNvSpPr txBox="1"/>
          <p:nvPr/>
        </p:nvSpPr>
        <p:spPr>
          <a:xfrm>
            <a:off x="287524" y="1206912"/>
            <a:ext cx="8689540" cy="1092607"/>
          </a:xfrm>
          <a:prstGeom prst="rect">
            <a:avLst/>
          </a:prstGeom>
          <a:noFill/>
        </p:spPr>
        <p:txBody>
          <a:bodyPr wrap="square">
            <a:spAutoFit/>
          </a:bodyPr>
          <a:lstStyle/>
          <a:p>
            <a:pPr>
              <a:lnSpc>
                <a:spcPts val="1800"/>
              </a:lnSpc>
              <a:spcBef>
                <a:spcPts val="600"/>
              </a:spcBef>
              <a:spcAft>
                <a:spcPts val="600"/>
              </a:spcAft>
            </a:pPr>
            <a:r>
              <a:rPr lang="en-US" altLang="zh-TW" sz="2000" b="1" dirty="0"/>
              <a:t>Proximal Policy Optimization vs Direct Preference Optimization</a:t>
            </a:r>
            <a:endParaRPr lang="en-US" altLang="zh-TW" sz="2000" b="1" u="none" strike="noStrike" dirty="0">
              <a:effectLst/>
            </a:endParaRP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PPO</a:t>
            </a:r>
            <a:r>
              <a:rPr lang="en-US" altLang="zh-TW" sz="1600" u="none" strike="noStrike" dirty="0">
                <a:effectLst/>
              </a:rPr>
              <a:t>:</a:t>
            </a:r>
            <a:r>
              <a:rPr lang="en-US" altLang="zh-TW" sz="1600" b="1" u="none" strike="noStrike" dirty="0">
                <a:effectLst/>
              </a:rPr>
              <a:t> </a:t>
            </a:r>
            <a:r>
              <a:rPr lang="en-US" altLang="zh-TW" sz="1600" u="none" strike="noStrike" dirty="0">
                <a:effectLst/>
              </a:rPr>
              <a:t>Optimizes policy with complex reward models.</a:t>
            </a:r>
          </a:p>
          <a:p>
            <a:pPr marL="285750" indent="-285750">
              <a:lnSpc>
                <a:spcPts val="1800"/>
              </a:lnSpc>
              <a:spcBef>
                <a:spcPts val="600"/>
              </a:spcBef>
              <a:spcAft>
                <a:spcPts val="600"/>
              </a:spcAft>
              <a:buFont typeface="Wingdings" panose="05000000000000000000" pitchFamily="2" charset="2"/>
              <a:buChar char="Ø"/>
            </a:pPr>
            <a:r>
              <a:rPr lang="en-US" altLang="zh-TW" sz="1600" b="1" dirty="0"/>
              <a:t>DPO</a:t>
            </a:r>
            <a:r>
              <a:rPr lang="en-US" altLang="zh-TW" sz="1600" dirty="0"/>
              <a:t>: Optimizes text directly from human choices.</a:t>
            </a:r>
          </a:p>
        </p:txBody>
      </p:sp>
      <p:pic>
        <p:nvPicPr>
          <p:cNvPr id="6" name="圖片 5">
            <a:extLst>
              <a:ext uri="{FF2B5EF4-FFF2-40B4-BE49-F238E27FC236}">
                <a16:creationId xmlns:a16="http://schemas.microsoft.com/office/drawing/2014/main" id="{5B447E22-5A1E-EF0E-F809-322E50BF51C7}"/>
              </a:ext>
              <a:ext uri="{C183D7F6-B498-43B3-948B-1728B52AA6E4}">
                <adec:decorative xmlns:adec="http://schemas.microsoft.com/office/drawing/2017/decorative" val="1"/>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6012160" y="1844824"/>
            <a:ext cx="2367698" cy="1299459"/>
          </a:xfrm>
          <a:prstGeom prst="rect">
            <a:avLst/>
          </a:prstGeom>
          <a:effectLst>
            <a:glow rad="63500">
              <a:schemeClr val="accent1">
                <a:satMod val="175000"/>
                <a:alpha val="40000"/>
              </a:schemeClr>
            </a:glow>
          </a:effectLst>
        </p:spPr>
      </p:pic>
      <p:sp>
        <p:nvSpPr>
          <p:cNvPr id="7" name="標題 1">
            <a:extLst>
              <a:ext uri="{FF2B5EF4-FFF2-40B4-BE49-F238E27FC236}">
                <a16:creationId xmlns:a16="http://schemas.microsoft.com/office/drawing/2014/main" id="{ACF18A52-8D6D-846D-45B8-1A03D18B2B5D}"/>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Model</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Establish a model to predict unknown outcomes</a:t>
            </a:r>
          </a:p>
        </p:txBody>
      </p:sp>
    </p:spTree>
    <p:extLst>
      <p:ext uri="{BB962C8B-B14F-4D97-AF65-F5344CB8AC3E}">
        <p14:creationId xmlns:p14="http://schemas.microsoft.com/office/powerpoint/2010/main" val="14394868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F722CCE-17C8-B632-0F8E-882715CE425E}"/>
            </a:ext>
          </a:extLst>
        </p:cNvPr>
        <p:cNvGrpSpPr/>
        <p:nvPr/>
      </p:nvGrpSpPr>
      <p:grpSpPr>
        <a:xfrm>
          <a:off x="0" y="0"/>
          <a:ext cx="0" cy="0"/>
          <a:chOff x="0" y="0"/>
          <a:chExt cx="0" cy="0"/>
        </a:xfrm>
      </p:grpSpPr>
      <p:sp>
        <p:nvSpPr>
          <p:cNvPr id="40" name="文字方塊 39">
            <a:extLst>
              <a:ext uri="{FF2B5EF4-FFF2-40B4-BE49-F238E27FC236}">
                <a16:creationId xmlns:a16="http://schemas.microsoft.com/office/drawing/2014/main" id="{BB594E6E-2F5C-C000-698B-5ECF549AA47A}"/>
              </a:ext>
            </a:extLst>
          </p:cNvPr>
          <p:cNvSpPr txBox="1"/>
          <p:nvPr/>
        </p:nvSpPr>
        <p:spPr>
          <a:xfrm>
            <a:off x="6365764" y="2720522"/>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Feed</a:t>
            </a:r>
            <a:r>
              <a:rPr lang="zh-TW" altLang="en-US" sz="1100" b="1" u="none" strike="noStrike" dirty="0">
                <a:effectLst/>
                <a:latin typeface="Gadugi" panose="020B0502040204020203" pitchFamily="34" charset="0"/>
                <a:ea typeface="Gadugi" panose="020B0502040204020203" pitchFamily="34" charset="0"/>
                <a:cs typeface="ADLaM Display" panose="02010000000000000000" pitchFamily="2" charset="0"/>
              </a:rPr>
              <a:t> </a:t>
            </a: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Forward</a:t>
            </a:r>
          </a:p>
        </p:txBody>
      </p:sp>
      <p:sp>
        <p:nvSpPr>
          <p:cNvPr id="18" name="標題 1">
            <a:extLst>
              <a:ext uri="{FF2B5EF4-FFF2-40B4-BE49-F238E27FC236}">
                <a16:creationId xmlns:a16="http://schemas.microsoft.com/office/drawing/2014/main" id="{FD41704A-03CD-6D02-4D94-379D7717DEFA}"/>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Pre-Training</a:t>
            </a:r>
          </a:p>
          <a:p>
            <a:r>
              <a:rPr lang="en-US" altLang="zh-TW" sz="1400" dirty="0">
                <a:latin typeface="Noto Sans HK" panose="020B0200000000000000" pitchFamily="34" charset="-120"/>
                <a:ea typeface="Noto Sans HK" panose="020B0200000000000000" pitchFamily="34" charset="-120"/>
                <a:cs typeface="Aharoni" panose="020F0502020204030204" pitchFamily="2" charset="-79"/>
              </a:rPr>
              <a:t>Optimizes base model parameters via self-supervised learning.</a:t>
            </a:r>
          </a:p>
        </p:txBody>
      </p:sp>
      <p:sp>
        <p:nvSpPr>
          <p:cNvPr id="13" name="文字方塊 12">
            <a:extLst>
              <a:ext uri="{FF2B5EF4-FFF2-40B4-BE49-F238E27FC236}">
                <a16:creationId xmlns:a16="http://schemas.microsoft.com/office/drawing/2014/main" id="{9A59D008-BD50-9961-7FAD-5F166BEB6700}"/>
              </a:ext>
            </a:extLst>
          </p:cNvPr>
          <p:cNvSpPr txBox="1"/>
          <p:nvPr/>
        </p:nvSpPr>
        <p:spPr>
          <a:xfrm>
            <a:off x="287524" y="1211852"/>
            <a:ext cx="4860538" cy="1092607"/>
          </a:xfrm>
          <a:prstGeom prst="rect">
            <a:avLst/>
          </a:prstGeom>
          <a:noFill/>
        </p:spPr>
        <p:txBody>
          <a:bodyPr wrap="square">
            <a:spAutoFit/>
          </a:bodyPr>
          <a:lstStyle/>
          <a:p>
            <a:pPr>
              <a:lnSpc>
                <a:spcPts val="1800"/>
              </a:lnSpc>
              <a:spcBef>
                <a:spcPts val="600"/>
              </a:spcBef>
              <a:spcAft>
                <a:spcPts val="600"/>
              </a:spcAft>
            </a:pPr>
            <a:r>
              <a:rPr lang="en-US" altLang="zh-TW" sz="2000" b="1" dirty="0"/>
              <a:t>Transformer Lifecycle</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Forward (Inference)</a:t>
            </a:r>
            <a:r>
              <a:rPr lang="en-US" altLang="zh-TW" sz="1600" dirty="0"/>
              <a:t>: Predict next token.</a:t>
            </a:r>
          </a:p>
          <a:p>
            <a:pPr marL="285750" indent="-285750">
              <a:lnSpc>
                <a:spcPts val="1800"/>
              </a:lnSpc>
              <a:spcBef>
                <a:spcPts val="600"/>
              </a:spcBef>
              <a:spcAft>
                <a:spcPts val="600"/>
              </a:spcAft>
              <a:buFont typeface="Wingdings" panose="05000000000000000000" pitchFamily="2" charset="2"/>
              <a:buChar char="Ø"/>
            </a:pPr>
            <a:r>
              <a:rPr lang="en-US" altLang="zh-TW" sz="1600" b="1" dirty="0"/>
              <a:t>Backward (Training)</a:t>
            </a:r>
            <a:r>
              <a:rPr lang="en-US" altLang="zh-TW" sz="1600" u="none" strike="noStrike" dirty="0">
                <a:effectLst/>
              </a:rPr>
              <a:t>: Minimize prediction errors. </a:t>
            </a:r>
            <a:endParaRPr lang="en-US" altLang="zh-TW" sz="1600" dirty="0"/>
          </a:p>
        </p:txBody>
      </p:sp>
      <p:sp>
        <p:nvSpPr>
          <p:cNvPr id="38" name="矩形: 圓角 37">
            <a:extLst>
              <a:ext uri="{FF2B5EF4-FFF2-40B4-BE49-F238E27FC236}">
                <a16:creationId xmlns:a16="http://schemas.microsoft.com/office/drawing/2014/main" id="{AAFD800B-17DA-2CFB-836B-0EF6036B4BEF}"/>
              </a:ext>
            </a:extLst>
          </p:cNvPr>
          <p:cNvSpPr/>
          <p:nvPr/>
        </p:nvSpPr>
        <p:spPr>
          <a:xfrm>
            <a:off x="6221748" y="2182260"/>
            <a:ext cx="1440160" cy="2028006"/>
          </a:xfrm>
          <a:prstGeom prst="roundRect">
            <a:avLst>
              <a:gd name="adj" fmla="val 10053"/>
            </a:avLst>
          </a:prstGeom>
          <a:solidFill>
            <a:srgbClr val="DDDDDD">
              <a:alpha val="40000"/>
            </a:srgbClr>
          </a:solidFill>
          <a:ln w="15875">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39" name="文字方塊 38">
            <a:extLst>
              <a:ext uri="{FF2B5EF4-FFF2-40B4-BE49-F238E27FC236}">
                <a16:creationId xmlns:a16="http://schemas.microsoft.com/office/drawing/2014/main" id="{78824FE7-A3C7-C7F9-DF8A-49AA711E59C0}"/>
              </a:ext>
            </a:extLst>
          </p:cNvPr>
          <p:cNvSpPr txBox="1"/>
          <p:nvPr/>
        </p:nvSpPr>
        <p:spPr>
          <a:xfrm>
            <a:off x="6365764" y="232627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1" name="文字方塊 40">
            <a:extLst>
              <a:ext uri="{FF2B5EF4-FFF2-40B4-BE49-F238E27FC236}">
                <a16:creationId xmlns:a16="http://schemas.microsoft.com/office/drawing/2014/main" id="{6568F00C-E2DC-CE04-03E7-9F46D2F9F3AC}"/>
              </a:ext>
            </a:extLst>
          </p:cNvPr>
          <p:cNvSpPr txBox="1"/>
          <p:nvPr/>
        </p:nvSpPr>
        <p:spPr>
          <a:xfrm>
            <a:off x="6365764" y="3109336"/>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Add &amp; Norm</a:t>
            </a:r>
          </a:p>
        </p:txBody>
      </p:sp>
      <p:sp>
        <p:nvSpPr>
          <p:cNvPr id="42" name="文字方塊 41">
            <a:extLst>
              <a:ext uri="{FF2B5EF4-FFF2-40B4-BE49-F238E27FC236}">
                <a16:creationId xmlns:a16="http://schemas.microsoft.com/office/drawing/2014/main" id="{AD922E72-968D-E212-8B94-CBE4AB7F49F9}"/>
              </a:ext>
            </a:extLst>
          </p:cNvPr>
          <p:cNvSpPr txBox="1"/>
          <p:nvPr/>
        </p:nvSpPr>
        <p:spPr>
          <a:xfrm>
            <a:off x="6365764" y="3459238"/>
            <a:ext cx="1152128" cy="523222"/>
          </a:xfrm>
          <a:prstGeom prst="rect">
            <a:avLst/>
          </a:prstGeom>
          <a:solidFill>
            <a:srgbClr val="FEC203">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Masked</a:t>
            </a:r>
          </a:p>
          <a:p>
            <a:pPr algn="ctr">
              <a:lnSpc>
                <a:spcPts val="1400"/>
              </a:lnSpc>
              <a:buNone/>
            </a:pPr>
            <a:r>
              <a:rPr lang="en-US" altLang="zh-TW" sz="1100" b="1" dirty="0">
                <a:latin typeface="Gadugi" panose="020B0502040204020203" pitchFamily="34" charset="0"/>
                <a:ea typeface="Gadugi" panose="020B0502040204020203" pitchFamily="34" charset="0"/>
                <a:cs typeface="ADLaM Display" panose="02010000000000000000" pitchFamily="2" charset="0"/>
              </a:rPr>
              <a:t>Multi-Head</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Attention</a:t>
            </a:r>
          </a:p>
        </p:txBody>
      </p:sp>
      <p:sp>
        <p:nvSpPr>
          <p:cNvPr id="43" name="文字方塊 42">
            <a:extLst>
              <a:ext uri="{FF2B5EF4-FFF2-40B4-BE49-F238E27FC236}">
                <a16:creationId xmlns:a16="http://schemas.microsoft.com/office/drawing/2014/main" id="{F25BB647-D30C-6403-BD3C-89C8B4A415A3}"/>
              </a:ext>
            </a:extLst>
          </p:cNvPr>
          <p:cNvSpPr txBox="1"/>
          <p:nvPr/>
        </p:nvSpPr>
        <p:spPr>
          <a:xfrm>
            <a:off x="6507429"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4" name="文字方塊 43">
            <a:extLst>
              <a:ext uri="{FF2B5EF4-FFF2-40B4-BE49-F238E27FC236}">
                <a16:creationId xmlns:a16="http://schemas.microsoft.com/office/drawing/2014/main" id="{DDD77131-495F-1135-3025-F0FD2E1BADCC}"/>
              </a:ext>
            </a:extLst>
          </p:cNvPr>
          <p:cNvSpPr txBox="1"/>
          <p:nvPr/>
        </p:nvSpPr>
        <p:spPr>
          <a:xfrm>
            <a:off x="6507429"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Optimizer</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Adam, SGD …</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5" name="文字方塊 44">
            <a:extLst>
              <a:ext uri="{FF2B5EF4-FFF2-40B4-BE49-F238E27FC236}">
                <a16:creationId xmlns:a16="http://schemas.microsoft.com/office/drawing/2014/main" id="{1311BD40-A308-C9A4-FC07-4A8F0AC4E9A1}"/>
              </a:ext>
            </a:extLst>
          </p:cNvPr>
          <p:cNvSpPr txBox="1"/>
          <p:nvPr/>
        </p:nvSpPr>
        <p:spPr>
          <a:xfrm>
            <a:off x="6365764" y="1487362"/>
            <a:ext cx="1152128" cy="225052"/>
          </a:xfrm>
          <a:prstGeom prst="rect">
            <a:avLst/>
          </a:prstGeom>
          <a:solidFill>
            <a:srgbClr val="AAD290">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err="1">
                <a:effectLst/>
                <a:latin typeface="Gadugi" panose="020B0502040204020203" pitchFamily="34" charset="0"/>
                <a:ea typeface="Gadugi" panose="020B0502040204020203" pitchFamily="34" charset="0"/>
                <a:cs typeface="ADLaM Display" panose="02010000000000000000" pitchFamily="2" charset="0"/>
              </a:rPr>
              <a:t>Softmax</a:t>
            </a:r>
            <a:endPar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46" name="文字方塊 45">
            <a:extLst>
              <a:ext uri="{FF2B5EF4-FFF2-40B4-BE49-F238E27FC236}">
                <a16:creationId xmlns:a16="http://schemas.microsoft.com/office/drawing/2014/main" id="{9C11D834-3F69-466F-0DA5-FDF6EC73D129}"/>
              </a:ext>
            </a:extLst>
          </p:cNvPr>
          <p:cNvSpPr txBox="1"/>
          <p:nvPr/>
        </p:nvSpPr>
        <p:spPr>
          <a:xfrm>
            <a:off x="6365764" y="1811383"/>
            <a:ext cx="1152128" cy="225052"/>
          </a:xfrm>
          <a:prstGeom prst="rect">
            <a:avLst/>
          </a:prstGeom>
          <a:solidFill>
            <a:srgbClr val="B7C9E7">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Linear</a:t>
            </a:r>
          </a:p>
        </p:txBody>
      </p:sp>
      <p:cxnSp>
        <p:nvCxnSpPr>
          <p:cNvPr id="47" name="接點: 肘形 46">
            <a:extLst>
              <a:ext uri="{FF2B5EF4-FFF2-40B4-BE49-F238E27FC236}">
                <a16:creationId xmlns:a16="http://schemas.microsoft.com/office/drawing/2014/main" id="{172C6B7A-B68C-2F23-4EB2-17BC6D3377C0}"/>
              </a:ext>
            </a:extLst>
          </p:cNvPr>
          <p:cNvCxnSpPr>
            <a:cxnSpLocks/>
          </p:cNvCxnSpPr>
          <p:nvPr/>
        </p:nvCxnSpPr>
        <p:spPr>
          <a:xfrm rot="5400000">
            <a:off x="6938650" y="3746567"/>
            <a:ext cx="6355" cy="456467"/>
          </a:xfrm>
          <a:prstGeom prst="bentConnector3">
            <a:avLst>
              <a:gd name="adj1" fmla="val 2048466"/>
            </a:avLst>
          </a:prstGeom>
          <a:ln w="19050">
            <a:solidFill>
              <a:schemeClr val="tx1"/>
            </a:solidFill>
            <a:headEnd type="triangl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48" name="直線單箭頭接點 47">
            <a:extLst>
              <a:ext uri="{FF2B5EF4-FFF2-40B4-BE49-F238E27FC236}">
                <a16:creationId xmlns:a16="http://schemas.microsoft.com/office/drawing/2014/main" id="{E46A0302-D7CC-5761-1C7B-ECE075DE08F3}"/>
              </a:ext>
            </a:extLst>
          </p:cNvPr>
          <p:cNvCxnSpPr>
            <a:cxnSpLocks/>
            <a:stCxn id="43" idx="0"/>
            <a:endCxn id="54" idx="4"/>
          </p:cNvCxnSpPr>
          <p:nvPr/>
        </p:nvCxnSpPr>
        <p:spPr>
          <a:xfrm flipH="1" flipV="1">
            <a:off x="6941828" y="4426290"/>
            <a:ext cx="1841" cy="193405"/>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49" name="文字方塊 48">
            <a:extLst>
              <a:ext uri="{FF2B5EF4-FFF2-40B4-BE49-F238E27FC236}">
                <a16:creationId xmlns:a16="http://schemas.microsoft.com/office/drawing/2014/main" id="{104A363C-AE5B-C3FC-5F6D-21A857B3C684}"/>
              </a:ext>
            </a:extLst>
          </p:cNvPr>
          <p:cNvSpPr txBox="1"/>
          <p:nvPr/>
        </p:nvSpPr>
        <p:spPr>
          <a:xfrm>
            <a:off x="6365764" y="947302"/>
            <a:ext cx="1152128"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Output</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Probabilities</a:t>
            </a:r>
          </a:p>
        </p:txBody>
      </p:sp>
      <p:cxnSp>
        <p:nvCxnSpPr>
          <p:cNvPr id="50" name="直線單箭頭接點 49">
            <a:extLst>
              <a:ext uri="{FF2B5EF4-FFF2-40B4-BE49-F238E27FC236}">
                <a16:creationId xmlns:a16="http://schemas.microsoft.com/office/drawing/2014/main" id="{5E850AC5-29CF-9865-38FD-39CAC09EACB6}"/>
              </a:ext>
            </a:extLst>
          </p:cNvPr>
          <p:cNvCxnSpPr>
            <a:cxnSpLocks/>
            <a:stCxn id="45" idx="0"/>
            <a:endCxn id="49" idx="2"/>
          </p:cNvCxnSpPr>
          <p:nvPr/>
        </p:nvCxnSpPr>
        <p:spPr>
          <a:xfrm flipV="1">
            <a:off x="6941828" y="1307342"/>
            <a:ext cx="0" cy="18002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1" name="直線單箭頭接點 50">
            <a:extLst>
              <a:ext uri="{FF2B5EF4-FFF2-40B4-BE49-F238E27FC236}">
                <a16:creationId xmlns:a16="http://schemas.microsoft.com/office/drawing/2014/main" id="{2F5C1827-A6A9-96BE-FB22-BA579B324CAA}"/>
              </a:ext>
            </a:extLst>
          </p:cNvPr>
          <p:cNvCxnSpPr>
            <a:cxnSpLocks/>
            <a:stCxn id="46" idx="0"/>
            <a:endCxn id="45" idx="2"/>
          </p:cNvCxnSpPr>
          <p:nvPr/>
        </p:nvCxnSpPr>
        <p:spPr>
          <a:xfrm flipV="1">
            <a:off x="6941828" y="1712414"/>
            <a:ext cx="0" cy="98969"/>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2" name="直線單箭頭接點 51">
            <a:extLst>
              <a:ext uri="{FF2B5EF4-FFF2-40B4-BE49-F238E27FC236}">
                <a16:creationId xmlns:a16="http://schemas.microsoft.com/office/drawing/2014/main" id="{F2E4C3E4-4C47-C748-0AD1-4769DAEF6B8B}"/>
              </a:ext>
            </a:extLst>
          </p:cNvPr>
          <p:cNvCxnSpPr>
            <a:cxnSpLocks/>
            <a:stCxn id="39" idx="0"/>
            <a:endCxn id="46" idx="2"/>
          </p:cNvCxnSpPr>
          <p:nvPr/>
        </p:nvCxnSpPr>
        <p:spPr>
          <a:xfrm flipV="1">
            <a:off x="6941828" y="2036435"/>
            <a:ext cx="0" cy="289841"/>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53" name="橢圓 52">
            <a:extLst>
              <a:ext uri="{FF2B5EF4-FFF2-40B4-BE49-F238E27FC236}">
                <a16:creationId xmlns:a16="http://schemas.microsoft.com/office/drawing/2014/main" id="{AA53DA14-9665-7BBA-9583-65B64BCAEFA6}"/>
              </a:ext>
            </a:extLst>
          </p:cNvPr>
          <p:cNvSpPr/>
          <p:nvPr/>
        </p:nvSpPr>
        <p:spPr>
          <a:xfrm>
            <a:off x="7236296"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91440" rIns="0" bIns="0" rtlCol="0" anchor="ctr" anchorCtr="1"/>
          <a:lstStyle/>
          <a:p>
            <a:pPr algn="ctr"/>
            <a:r>
              <a:rPr lang="en-US" altLang="zh-TW" sz="24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400" dirty="0">
              <a:solidFill>
                <a:schemeClr val="tx1"/>
              </a:solidFill>
            </a:endParaRPr>
          </a:p>
        </p:txBody>
      </p:sp>
      <p:sp>
        <p:nvSpPr>
          <p:cNvPr id="54" name="橢圓 53">
            <a:extLst>
              <a:ext uri="{FF2B5EF4-FFF2-40B4-BE49-F238E27FC236}">
                <a16:creationId xmlns:a16="http://schemas.microsoft.com/office/drawing/2014/main" id="{1BE97C51-1D1D-229C-D2B6-1DA1336415DC}"/>
              </a:ext>
            </a:extLst>
          </p:cNvPr>
          <p:cNvSpPr/>
          <p:nvPr/>
        </p:nvSpPr>
        <p:spPr>
          <a:xfrm>
            <a:off x="6865628" y="4282274"/>
            <a:ext cx="152400" cy="144016"/>
          </a:xfrm>
          <a:prstGeom prst="ellipse">
            <a:avLst/>
          </a:prstGeom>
          <a:noFill/>
          <a:ln w="19050">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wrap="none" lIns="0" tIns="0" rIns="0" bIns="0" rtlCol="0" anchor="ctr" anchorCtr="1"/>
          <a:lstStyle/>
          <a:p>
            <a:pPr algn="ctr"/>
            <a:r>
              <a:rPr lang="en-US" altLang="zh-TW" sz="2000" dirty="0">
                <a:solidFill>
                  <a:schemeClr val="tx1"/>
                </a:solidFill>
                <a:latin typeface="Calibri" panose="020F0502020204030204" pitchFamily="34" charset="0"/>
                <a:ea typeface="Calibri" panose="020F0502020204030204" pitchFamily="34" charset="0"/>
                <a:cs typeface="Calibri" panose="020F0502020204030204" pitchFamily="34" charset="0"/>
              </a:rPr>
              <a:t>+</a:t>
            </a:r>
            <a:endParaRPr lang="zh-TW" altLang="en-US" sz="2000" dirty="0">
              <a:solidFill>
                <a:schemeClr val="tx1"/>
              </a:solidFill>
            </a:endParaRPr>
          </a:p>
        </p:txBody>
      </p:sp>
      <p:cxnSp>
        <p:nvCxnSpPr>
          <p:cNvPr id="55" name="直線單箭頭接點 54">
            <a:extLst>
              <a:ext uri="{FF2B5EF4-FFF2-40B4-BE49-F238E27FC236}">
                <a16:creationId xmlns:a16="http://schemas.microsoft.com/office/drawing/2014/main" id="{4BDFD4F6-FFAD-CF1B-94AC-E2A9A31D8B96}"/>
              </a:ext>
            </a:extLst>
          </p:cNvPr>
          <p:cNvCxnSpPr>
            <a:cxnSpLocks/>
            <a:stCxn id="54" idx="6"/>
            <a:endCxn id="53" idx="2"/>
          </p:cNvCxnSpPr>
          <p:nvPr/>
        </p:nvCxnSpPr>
        <p:spPr>
          <a:xfrm>
            <a:off x="7018028" y="4354282"/>
            <a:ext cx="218268" cy="0"/>
          </a:xfrm>
          <a:prstGeom prst="straightConnector1">
            <a:avLst/>
          </a:prstGeom>
          <a:ln w="19050">
            <a:solidFill>
              <a:schemeClr val="tx1"/>
            </a:solidFill>
            <a:tailEnd type="none" w="sm" len="sm"/>
          </a:ln>
        </p:spPr>
        <p:style>
          <a:lnRef idx="1">
            <a:schemeClr val="accent1"/>
          </a:lnRef>
          <a:fillRef idx="0">
            <a:schemeClr val="accent1"/>
          </a:fillRef>
          <a:effectRef idx="0">
            <a:schemeClr val="accent1"/>
          </a:effectRef>
          <a:fontRef idx="minor">
            <a:schemeClr val="tx1"/>
          </a:fontRef>
        </p:style>
      </p:cxnSp>
      <p:cxnSp>
        <p:nvCxnSpPr>
          <p:cNvPr id="56" name="直線單箭頭接點 55">
            <a:extLst>
              <a:ext uri="{FF2B5EF4-FFF2-40B4-BE49-F238E27FC236}">
                <a16:creationId xmlns:a16="http://schemas.microsoft.com/office/drawing/2014/main" id="{BCA148E9-0598-EFCE-D742-0CBF5F78A836}"/>
              </a:ext>
            </a:extLst>
          </p:cNvPr>
          <p:cNvCxnSpPr>
            <a:cxnSpLocks/>
            <a:stCxn id="54" idx="0"/>
            <a:endCxn id="42" idx="2"/>
          </p:cNvCxnSpPr>
          <p:nvPr/>
        </p:nvCxnSpPr>
        <p:spPr>
          <a:xfrm flipV="1">
            <a:off x="6941828" y="3982460"/>
            <a:ext cx="0" cy="29981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7" name="直線單箭頭接點 56">
            <a:extLst>
              <a:ext uri="{FF2B5EF4-FFF2-40B4-BE49-F238E27FC236}">
                <a16:creationId xmlns:a16="http://schemas.microsoft.com/office/drawing/2014/main" id="{9C06FCB8-E711-51BA-4D2D-E54FC110DAC9}"/>
              </a:ext>
            </a:extLst>
          </p:cNvPr>
          <p:cNvCxnSpPr>
            <a:cxnSpLocks/>
            <a:stCxn id="42" idx="0"/>
            <a:endCxn id="41" idx="2"/>
          </p:cNvCxnSpPr>
          <p:nvPr/>
        </p:nvCxnSpPr>
        <p:spPr>
          <a:xfrm flipV="1">
            <a:off x="6941828" y="3334388"/>
            <a:ext cx="0" cy="124850"/>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cxnSp>
        <p:nvCxnSpPr>
          <p:cNvPr id="59" name="接點: 肘形 58">
            <a:extLst>
              <a:ext uri="{FF2B5EF4-FFF2-40B4-BE49-F238E27FC236}">
                <a16:creationId xmlns:a16="http://schemas.microsoft.com/office/drawing/2014/main" id="{A273B059-B9B9-3CC0-320F-19F9F9AB337C}"/>
              </a:ext>
            </a:extLst>
          </p:cNvPr>
          <p:cNvCxnSpPr>
            <a:cxnSpLocks/>
            <a:stCxn id="61" idx="0"/>
            <a:endCxn id="54" idx="2"/>
          </p:cNvCxnSpPr>
          <p:nvPr/>
        </p:nvCxnSpPr>
        <p:spPr>
          <a:xfrm rot="5400000" flipH="1" flipV="1">
            <a:off x="6272280" y="4026347"/>
            <a:ext cx="265413" cy="921284"/>
          </a:xfrm>
          <a:prstGeom prst="bentConnector2">
            <a:avLst/>
          </a:prstGeom>
          <a:ln w="19050">
            <a:solidFill>
              <a:srgbClr val="FF0000"/>
            </a:solidFill>
            <a:prstDash val="sysDash"/>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60" name="直線單箭頭接點 59">
            <a:extLst>
              <a:ext uri="{FF2B5EF4-FFF2-40B4-BE49-F238E27FC236}">
                <a16:creationId xmlns:a16="http://schemas.microsoft.com/office/drawing/2014/main" id="{888B0A8D-4335-FD1F-BBD7-A163963806CF}"/>
              </a:ext>
            </a:extLst>
          </p:cNvPr>
          <p:cNvCxnSpPr>
            <a:cxnSpLocks/>
            <a:stCxn id="41" idx="0"/>
            <a:endCxn id="40" idx="2"/>
          </p:cNvCxnSpPr>
          <p:nvPr/>
        </p:nvCxnSpPr>
        <p:spPr>
          <a:xfrm flipV="1">
            <a:off x="6941828" y="2945574"/>
            <a:ext cx="0" cy="163762"/>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sp>
        <p:nvSpPr>
          <p:cNvPr id="61" name="文字方塊 60">
            <a:extLst>
              <a:ext uri="{FF2B5EF4-FFF2-40B4-BE49-F238E27FC236}">
                <a16:creationId xmlns:a16="http://schemas.microsoft.com/office/drawing/2014/main" id="{5D1666DB-89CB-499D-E6CE-FAB597EB5A7A}"/>
              </a:ext>
            </a:extLst>
          </p:cNvPr>
          <p:cNvSpPr txBox="1"/>
          <p:nvPr/>
        </p:nvSpPr>
        <p:spPr>
          <a:xfrm>
            <a:off x="5508104" y="4619695"/>
            <a:ext cx="872480" cy="360040"/>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r>
              <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b="1" dirty="0">
                <a:latin typeface="Gadugi" panose="020B0502040204020203" pitchFamily="34" charset="0"/>
                <a:ea typeface="Gadugi" panose="020B0502040204020203" pitchFamily="34" charset="0"/>
                <a:cs typeface="ADLaM Display" panose="02010000000000000000" pitchFamily="2" charset="0"/>
              </a:rPr>
              <a:t>Embedding</a:t>
            </a:r>
            <a:endParaRPr lang="en-US" altLang="zh-TW" sz="10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sp>
        <p:nvSpPr>
          <p:cNvPr id="62" name="文字方塊 61">
            <a:extLst>
              <a:ext uri="{FF2B5EF4-FFF2-40B4-BE49-F238E27FC236}">
                <a16:creationId xmlns:a16="http://schemas.microsoft.com/office/drawing/2014/main" id="{D57D002C-042A-8051-630C-4E19B8D4CF0A}"/>
              </a:ext>
            </a:extLst>
          </p:cNvPr>
          <p:cNvSpPr txBox="1"/>
          <p:nvPr/>
        </p:nvSpPr>
        <p:spPr>
          <a:xfrm>
            <a:off x="5508104" y="5085184"/>
            <a:ext cx="872480" cy="360040"/>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Input</a:t>
            </a:r>
          </a:p>
          <a:p>
            <a:pPr algn="ctr">
              <a:lnSpc>
                <a:spcPts val="1400"/>
              </a:lnSpc>
              <a:buNone/>
            </a:pPr>
            <a:r>
              <a:rPr lang="en-US" altLang="zh-TW" sz="1000" dirty="0">
                <a:latin typeface="Gadugi" panose="020B0502040204020203" pitchFamily="34" charset="0"/>
                <a:ea typeface="Gadugi" panose="020B0502040204020203" pitchFamily="34" charset="0"/>
                <a:cs typeface="ADLaM Display" panose="02010000000000000000" pitchFamily="2" charset="0"/>
              </a:rPr>
              <a:t>(Datasets)</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cxnSp>
        <p:nvCxnSpPr>
          <p:cNvPr id="63" name="接點: 肘形 62">
            <a:extLst>
              <a:ext uri="{FF2B5EF4-FFF2-40B4-BE49-F238E27FC236}">
                <a16:creationId xmlns:a16="http://schemas.microsoft.com/office/drawing/2014/main" id="{DBD4362F-4DAB-27FC-5CCC-DADD4A8C7A92}"/>
              </a:ext>
            </a:extLst>
          </p:cNvPr>
          <p:cNvCxnSpPr>
            <a:cxnSpLocks/>
            <a:stCxn id="49" idx="3"/>
            <a:endCxn id="43" idx="3"/>
          </p:cNvCxnSpPr>
          <p:nvPr/>
        </p:nvCxnSpPr>
        <p:spPr>
          <a:xfrm flipH="1">
            <a:off x="7379909" y="1127322"/>
            <a:ext cx="137983" cy="3672393"/>
          </a:xfrm>
          <a:prstGeom prst="bentConnector3">
            <a:avLst>
              <a:gd name="adj1" fmla="val -296831"/>
            </a:avLst>
          </a:prstGeom>
          <a:ln w="19050">
            <a:solidFill>
              <a:srgbClr val="9E7800">
                <a:alpha val="20000"/>
              </a:srgbClr>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64" name="文字方塊 63">
            <a:extLst>
              <a:ext uri="{FF2B5EF4-FFF2-40B4-BE49-F238E27FC236}">
                <a16:creationId xmlns:a16="http://schemas.microsoft.com/office/drawing/2014/main" id="{C0DAF25E-BDB4-50EE-6EEB-F2762A57710C}"/>
              </a:ext>
            </a:extLst>
          </p:cNvPr>
          <p:cNvSpPr txBox="1"/>
          <p:nvPr/>
        </p:nvSpPr>
        <p:spPr>
          <a:xfrm>
            <a:off x="6056570" y="3319995"/>
            <a:ext cx="294468" cy="205036"/>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N </a:t>
            </a:r>
            <a:r>
              <a:rPr lang="en-US" altLang="zh-TW" sz="1000" dirty="0">
                <a:latin typeface="Gadugi" panose="020B0502040204020203" pitchFamily="34" charset="0"/>
                <a:ea typeface="Gadugi" panose="020B0502040204020203" pitchFamily="34" charset="0"/>
                <a:cs typeface="ADLaM Display" panose="02010000000000000000" pitchFamily="2" charset="0"/>
              </a:rPr>
              <a:t>x</a:t>
            </a:r>
            <a:endParaRPr lang="en-US" altLang="zh-TW" sz="1000"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pic>
        <p:nvPicPr>
          <p:cNvPr id="66" name="圖形 65" descr="橫條圖 以實心填滿">
            <a:extLst>
              <a:ext uri="{FF2B5EF4-FFF2-40B4-BE49-F238E27FC236}">
                <a16:creationId xmlns:a16="http://schemas.microsoft.com/office/drawing/2014/main" id="{260C39DA-875B-437B-9040-F4572C680635}"/>
              </a:ext>
            </a:extLst>
          </p:cNvPr>
          <p:cNvPicPr>
            <a:picLocks noChangeAspect="1"/>
          </p:cNvPicPr>
          <p:nvPr/>
        </p:nvPicPr>
        <p:blipFill>
          <a:blip>
            <a:extLst>
              <a:ext uri="{96DAC541-7B7A-43D3-8B79-37D633B846F1}">
                <asvg:svgBlip xmlns:asvg="http://schemas.microsoft.com/office/drawing/2016/SVG/main" r:embed="rId3"/>
              </a:ext>
            </a:extLst>
          </a:blip>
          <a:stretch>
            <a:fillRect/>
          </a:stretch>
        </p:blipFill>
        <p:spPr>
          <a:xfrm>
            <a:off x="5651422" y="5484557"/>
            <a:ext cx="585843" cy="585843"/>
          </a:xfrm>
          <a:prstGeom prst="rect">
            <a:avLst/>
          </a:prstGeom>
        </p:spPr>
      </p:pic>
      <p:sp>
        <p:nvSpPr>
          <p:cNvPr id="70" name="文字方塊 69">
            <a:extLst>
              <a:ext uri="{FF2B5EF4-FFF2-40B4-BE49-F238E27FC236}">
                <a16:creationId xmlns:a16="http://schemas.microsoft.com/office/drawing/2014/main" id="{A4C9DA8A-05B6-BDA8-3C38-486B531A7C71}"/>
              </a:ext>
            </a:extLst>
          </p:cNvPr>
          <p:cNvSpPr txBox="1"/>
          <p:nvPr/>
        </p:nvSpPr>
        <p:spPr>
          <a:xfrm>
            <a:off x="7802582" y="2204863"/>
            <a:ext cx="1161905" cy="455241"/>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Cross </a:t>
            </a:r>
            <a:r>
              <a:rPr lang="en-US" altLang="zh-TW" sz="1100" b="1" dirty="0">
                <a:latin typeface="Gadugi" panose="020B0502040204020203" pitchFamily="34" charset="0"/>
                <a:ea typeface="Gadugi" panose="020B0502040204020203" pitchFamily="34" charset="0"/>
                <a:cs typeface="ADLaM Display" panose="02010000000000000000" pitchFamily="2" charset="0"/>
              </a:rPr>
              <a:t>Entropy</a:t>
            </a:r>
          </a:p>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Loss </a:t>
            </a:r>
          </a:p>
        </p:txBody>
      </p:sp>
      <p:cxnSp>
        <p:nvCxnSpPr>
          <p:cNvPr id="73" name="接點: 肘形 72">
            <a:extLst>
              <a:ext uri="{FF2B5EF4-FFF2-40B4-BE49-F238E27FC236}">
                <a16:creationId xmlns:a16="http://schemas.microsoft.com/office/drawing/2014/main" id="{216E02E9-A3CE-76E5-497E-3DD85BBC6AB6}"/>
              </a:ext>
            </a:extLst>
          </p:cNvPr>
          <p:cNvCxnSpPr>
            <a:cxnSpLocks/>
            <a:stCxn id="83" idx="2"/>
            <a:endCxn id="109" idx="3"/>
          </p:cNvCxnSpPr>
          <p:nvPr/>
        </p:nvCxnSpPr>
        <p:spPr>
          <a:xfrm rot="5400000">
            <a:off x="7882805" y="3085241"/>
            <a:ext cx="372997" cy="628466"/>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cxnSp>
        <p:nvCxnSpPr>
          <p:cNvPr id="77" name="接點: 肘形 76">
            <a:extLst>
              <a:ext uri="{FF2B5EF4-FFF2-40B4-BE49-F238E27FC236}">
                <a16:creationId xmlns:a16="http://schemas.microsoft.com/office/drawing/2014/main" id="{0E461973-1A74-307A-9816-3CD2BE9AE7F2}"/>
              </a:ext>
            </a:extLst>
          </p:cNvPr>
          <p:cNvCxnSpPr>
            <a:cxnSpLocks/>
            <a:stCxn id="45" idx="3"/>
            <a:endCxn id="70" idx="0"/>
          </p:cNvCxnSpPr>
          <p:nvPr/>
        </p:nvCxnSpPr>
        <p:spPr>
          <a:xfrm>
            <a:off x="7517892" y="1599888"/>
            <a:ext cx="865643" cy="604975"/>
          </a:xfrm>
          <a:prstGeom prst="bentConnector2">
            <a:avLst/>
          </a:prstGeom>
          <a:ln w="19050">
            <a:solidFill>
              <a:schemeClr val="accent2"/>
            </a:solidFill>
            <a:prstDash val="solid"/>
            <a:headEnd type="none" w="sm" len="sm"/>
            <a:tailEnd type="triangle" w="sm" len="sm"/>
          </a:ln>
        </p:spPr>
        <p:style>
          <a:lnRef idx="1">
            <a:schemeClr val="accent1"/>
          </a:lnRef>
          <a:fillRef idx="0">
            <a:schemeClr val="accent1"/>
          </a:fillRef>
          <a:effectRef idx="0">
            <a:schemeClr val="accent1"/>
          </a:effectRef>
          <a:fontRef idx="minor">
            <a:schemeClr val="tx1"/>
          </a:fontRef>
        </p:style>
      </p:cxnSp>
      <p:sp>
        <p:nvSpPr>
          <p:cNvPr id="83" name="文字方塊 82">
            <a:extLst>
              <a:ext uri="{FF2B5EF4-FFF2-40B4-BE49-F238E27FC236}">
                <a16:creationId xmlns:a16="http://schemas.microsoft.com/office/drawing/2014/main" id="{6832CADE-A012-7F64-DDAB-6EF23DC2DFCB}"/>
              </a:ext>
            </a:extLst>
          </p:cNvPr>
          <p:cNvSpPr txBox="1"/>
          <p:nvPr/>
        </p:nvSpPr>
        <p:spPr>
          <a:xfrm>
            <a:off x="7802583" y="2945574"/>
            <a:ext cx="1161905" cy="267402"/>
          </a:xfrm>
          <a:prstGeom prst="rect">
            <a:avLst/>
          </a:prstGeom>
          <a:noFill/>
          <a:ln w="15875">
            <a:noFill/>
          </a:ln>
        </p:spPr>
        <p:txBody>
          <a:bodyPr wrap="none" lIns="0" tIns="0" rIns="0" bIns="0" anchor="ctr" anchorCtr="1">
            <a:noAutofit/>
          </a:bodyPr>
          <a:lstStyle/>
          <a:p>
            <a:pPr algn="ctr">
              <a:lnSpc>
                <a:spcPts val="1400"/>
              </a:lnSpc>
              <a:buNone/>
            </a:pPr>
            <a:r>
              <a:rPr lang="en-US" altLang="zh-TW" sz="1100" b="1" u="none" strike="noStrike" dirty="0">
                <a:effectLst/>
                <a:latin typeface="Gadugi" panose="020B0502040204020203" pitchFamily="34" charset="0"/>
                <a:ea typeface="Gadugi" panose="020B0502040204020203" pitchFamily="34" charset="0"/>
                <a:cs typeface="ADLaM Display" panose="02010000000000000000" pitchFamily="2" charset="0"/>
              </a:rPr>
              <a:t>Backpropagation</a:t>
            </a:r>
          </a:p>
        </p:txBody>
      </p:sp>
      <p:cxnSp>
        <p:nvCxnSpPr>
          <p:cNvPr id="85" name="直線單箭頭接點 84">
            <a:extLst>
              <a:ext uri="{FF2B5EF4-FFF2-40B4-BE49-F238E27FC236}">
                <a16:creationId xmlns:a16="http://schemas.microsoft.com/office/drawing/2014/main" id="{9DC51F15-272D-4DF3-7D78-2712B4CA881C}"/>
              </a:ext>
            </a:extLst>
          </p:cNvPr>
          <p:cNvCxnSpPr>
            <a:cxnSpLocks/>
            <a:stCxn id="70" idx="2"/>
            <a:endCxn id="83" idx="0"/>
          </p:cNvCxnSpPr>
          <p:nvPr/>
        </p:nvCxnSpPr>
        <p:spPr>
          <a:xfrm>
            <a:off x="8383535" y="2660104"/>
            <a:ext cx="1" cy="285470"/>
          </a:xfrm>
          <a:prstGeom prst="straightConnector1">
            <a:avLst/>
          </a:prstGeom>
          <a:ln w="19050">
            <a:solidFill>
              <a:srgbClr val="C00000"/>
            </a:solidFill>
            <a:prstDash val="solid"/>
            <a:tailEnd type="triangle" w="sm" len="sm"/>
          </a:ln>
        </p:spPr>
        <p:style>
          <a:lnRef idx="1">
            <a:schemeClr val="accent1"/>
          </a:lnRef>
          <a:fillRef idx="0">
            <a:schemeClr val="accent1"/>
          </a:fillRef>
          <a:effectRef idx="0">
            <a:schemeClr val="accent1"/>
          </a:effectRef>
          <a:fontRef idx="minor">
            <a:schemeClr val="tx1"/>
          </a:fontRef>
        </p:style>
      </p:cxnSp>
      <p:sp>
        <p:nvSpPr>
          <p:cNvPr id="109" name="矩形: 圓角 108">
            <a:extLst>
              <a:ext uri="{FF2B5EF4-FFF2-40B4-BE49-F238E27FC236}">
                <a16:creationId xmlns:a16="http://schemas.microsoft.com/office/drawing/2014/main" id="{EAAA9432-3B8E-CE97-5586-DEB7A299AE33}"/>
              </a:ext>
            </a:extLst>
          </p:cNvPr>
          <p:cNvSpPr/>
          <p:nvPr/>
        </p:nvSpPr>
        <p:spPr>
          <a:xfrm>
            <a:off x="6156178" y="2126094"/>
            <a:ext cx="1598892" cy="2919757"/>
          </a:xfrm>
          <a:prstGeom prst="roundRect">
            <a:avLst>
              <a:gd name="adj" fmla="val 10053"/>
            </a:avLst>
          </a:prstGeom>
          <a:solidFill>
            <a:schemeClr val="accent2">
              <a:lumMod val="50000"/>
              <a:alpha val="60000"/>
            </a:schemeClr>
          </a:solidFill>
          <a:ln w="15875">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000">
              <a:latin typeface="ADLaM Display" panose="02010000000000000000" pitchFamily="2" charset="0"/>
              <a:cs typeface="ADLaM Display" panose="02010000000000000000" pitchFamily="2" charset="0"/>
            </a:endParaRPr>
          </a:p>
        </p:txBody>
      </p:sp>
      <p:sp>
        <p:nvSpPr>
          <p:cNvPr id="114" name="文字方塊 113">
            <a:extLst>
              <a:ext uri="{FF2B5EF4-FFF2-40B4-BE49-F238E27FC236}">
                <a16:creationId xmlns:a16="http://schemas.microsoft.com/office/drawing/2014/main" id="{7ABCDAB6-2DC5-0E8C-89AC-8E0D70851A57}"/>
              </a:ext>
            </a:extLst>
          </p:cNvPr>
          <p:cNvSpPr txBox="1"/>
          <p:nvPr/>
        </p:nvSpPr>
        <p:spPr>
          <a:xfrm>
            <a:off x="5152301" y="3134719"/>
            <a:ext cx="728464" cy="958025"/>
          </a:xfrm>
          <a:prstGeom prst="rect">
            <a:avLst/>
          </a:prstGeom>
          <a:solidFill>
            <a:srgbClr val="FDE7DA">
              <a:alpha val="60000"/>
            </a:srgbClr>
          </a:solidFill>
          <a:ln w="15875">
            <a:solidFill>
              <a:schemeClr val="bg1">
                <a:lumMod val="65000"/>
              </a:schemeClr>
            </a:solidFill>
          </a:ln>
        </p:spPr>
        <p:txBody>
          <a:bodyPr wrap="none" lIns="0" tIns="0" rIns="0" bIns="0" anchor="ctr" anchorCtr="1">
            <a:noAutofit/>
          </a:bodyPr>
          <a:lstStyle/>
          <a:p>
            <a:pPr algn="ctr">
              <a:lnSpc>
                <a:spcPts val="1400"/>
              </a:lnSpc>
              <a:buNone/>
            </a:pPr>
            <a:endParaRPr lang="en-US" altLang="zh-TW" sz="1200" b="1" u="none" strike="noStrike" dirty="0">
              <a:effectLst/>
              <a:latin typeface="Gadugi" panose="020B0502040204020203" pitchFamily="34" charset="0"/>
              <a:ea typeface="Gadugi" panose="020B0502040204020203" pitchFamily="34" charset="0"/>
              <a:cs typeface="ADLaM Display" panose="02010000000000000000" pitchFamily="2" charset="0"/>
            </a:endParaRPr>
          </a:p>
        </p:txBody>
      </p:sp>
      <p:graphicFrame>
        <p:nvGraphicFramePr>
          <p:cNvPr id="115" name="表格 114">
            <a:extLst>
              <a:ext uri="{FF2B5EF4-FFF2-40B4-BE49-F238E27FC236}">
                <a16:creationId xmlns:a16="http://schemas.microsoft.com/office/drawing/2014/main" id="{EAE72022-DB67-8C5B-F34B-3FC9F913817F}"/>
              </a:ext>
            </a:extLst>
          </p:cNvPr>
          <p:cNvGraphicFramePr>
            <a:graphicFrameLocks noGrp="1"/>
          </p:cNvGraphicFramePr>
          <p:nvPr>
            <p:extLst>
              <p:ext uri="{D42A27DB-BD31-4B8C-83A1-F6EECF244321}">
                <p14:modId xmlns:p14="http://schemas.microsoft.com/office/powerpoint/2010/main" val="1021469756"/>
              </p:ext>
            </p:extLst>
          </p:nvPr>
        </p:nvGraphicFramePr>
        <p:xfrm>
          <a:off x="5211278" y="3156845"/>
          <a:ext cx="610509" cy="838578"/>
        </p:xfrm>
        <a:graphic>
          <a:graphicData uri="http://schemas.openxmlformats.org/drawingml/2006/table">
            <a:tbl>
              <a:tblPr firstRow="1" bandRow="1">
                <a:tableStyleId>{5C22544A-7EE6-4342-B048-85BDC9FD1C3A}</a:tableStyleId>
              </a:tblPr>
              <a:tblGrid>
                <a:gridCol w="610509">
                  <a:extLst>
                    <a:ext uri="{9D8B030D-6E8A-4147-A177-3AD203B41FA5}">
                      <a16:colId xmlns:a16="http://schemas.microsoft.com/office/drawing/2014/main" val="4512040"/>
                    </a:ext>
                  </a:extLst>
                </a:gridCol>
              </a:tblGrid>
              <a:tr h="251649">
                <a:tc>
                  <a:txBody>
                    <a:bodyPr/>
                    <a:lstStyle/>
                    <a:p>
                      <a:pPr algn="ctr"/>
                      <a:r>
                        <a:rPr lang="en-US" altLang="zh-TW" sz="1200" b="0" cap="none" spc="0" dirty="0">
                          <a:ln w="0"/>
                          <a:solidFill>
                            <a:schemeClr val="tx1"/>
                          </a:solidFill>
                          <a:effectLst/>
                        </a:rPr>
                        <a:t>Datasets</a:t>
                      </a:r>
                      <a:endParaRPr lang="zh-TW" altLang="en-US" sz="1200" b="0" cap="none" spc="0" dirty="0">
                        <a:ln w="0"/>
                        <a:solidFill>
                          <a:schemeClr val="tx1"/>
                        </a:solidFill>
                        <a:effectLst/>
                      </a:endParaRPr>
                    </a:p>
                  </a:txBody>
                  <a:tcPr marL="0" marR="0" marT="0" marB="0" anchor="ctr" anchorCtr="1">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11258892"/>
                  </a:ext>
                </a:extLst>
              </a:tr>
              <a:tr h="251649">
                <a:tc>
                  <a:txBody>
                    <a:bodyPr/>
                    <a:lstStyle/>
                    <a:p>
                      <a:pPr algn="ctr"/>
                      <a:r>
                        <a:rPr lang="en-US" altLang="zh-TW" sz="1200" b="1" cap="none" spc="0" dirty="0">
                          <a:ln w="0"/>
                          <a:solidFill>
                            <a:schemeClr val="tx1"/>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642474553"/>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100" b="1" cap="none" spc="0" dirty="0">
                          <a:ln w="0"/>
                          <a:solidFill>
                            <a:srgbClr val="FF0000"/>
                          </a:solidFill>
                          <a:effectLst/>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341340391"/>
                  </a:ext>
                </a:extLst>
              </a:tr>
              <a:tr h="163766">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kumimoji="0" lang="en-US" altLang="zh-TW" sz="1100" b="1" i="0" u="none" strike="noStrike" kern="1200" cap="none" spc="0" normalizeH="0" baseline="0" noProof="0" dirty="0">
                          <a:ln w="0"/>
                          <a:solidFill>
                            <a:srgbClr val="FF0000"/>
                          </a:solidFill>
                          <a:effectLst/>
                          <a:uLnTx/>
                          <a:uFillTx/>
                          <a:latin typeface="+mn-lt"/>
                          <a:ea typeface="+mn-ea"/>
                          <a:cs typeface="+mn-cs"/>
                        </a:rPr>
                        <a:t>…</a:t>
                      </a:r>
                    </a:p>
                  </a:txBody>
                  <a:tcPr marL="0" marR="0" marT="0" marB="0" anchor="ctr" anchorCtr="1">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168480023"/>
                  </a:ext>
                </a:extLst>
              </a:tr>
            </a:tbl>
          </a:graphicData>
        </a:graphic>
      </p:graphicFrame>
      <p:sp>
        <p:nvSpPr>
          <p:cNvPr id="116" name="箭號: 向下 115">
            <a:extLst>
              <a:ext uri="{FF2B5EF4-FFF2-40B4-BE49-F238E27FC236}">
                <a16:creationId xmlns:a16="http://schemas.microsoft.com/office/drawing/2014/main" id="{3946F719-9781-7D5F-52EF-BD9B0585F8BF}"/>
              </a:ext>
            </a:extLst>
          </p:cNvPr>
          <p:cNvSpPr/>
          <p:nvPr/>
        </p:nvSpPr>
        <p:spPr>
          <a:xfrm>
            <a:off x="5404284" y="2967583"/>
            <a:ext cx="216022" cy="225052"/>
          </a:xfrm>
          <a:prstGeom prst="downArrow">
            <a:avLst/>
          </a:prstGeom>
          <a:solidFill>
            <a:schemeClr val="accent2">
              <a:alpha val="70000"/>
            </a:schemeClr>
          </a:solidFill>
          <a:ln w="12700">
            <a:solidFill>
              <a:schemeClr val="accent2">
                <a:lumMod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a:p>
        </p:txBody>
      </p:sp>
      <p:cxnSp>
        <p:nvCxnSpPr>
          <p:cNvPr id="58" name="直線單箭頭接點 57">
            <a:extLst>
              <a:ext uri="{FF2B5EF4-FFF2-40B4-BE49-F238E27FC236}">
                <a16:creationId xmlns:a16="http://schemas.microsoft.com/office/drawing/2014/main" id="{E10BFB08-33FE-C5C4-323B-9AAA0E2811F3}"/>
              </a:ext>
            </a:extLst>
          </p:cNvPr>
          <p:cNvCxnSpPr>
            <a:cxnSpLocks/>
            <a:stCxn id="40" idx="0"/>
            <a:endCxn id="39" idx="2"/>
          </p:cNvCxnSpPr>
          <p:nvPr/>
        </p:nvCxnSpPr>
        <p:spPr>
          <a:xfrm flipV="1">
            <a:off x="6941828" y="2551328"/>
            <a:ext cx="0" cy="169194"/>
          </a:xfrm>
          <a:prstGeom prst="straightConnector1">
            <a:avLst/>
          </a:prstGeom>
          <a:ln w="19050">
            <a:solidFill>
              <a:schemeClr val="tx1"/>
            </a:solidFill>
            <a:tailEnd type="triangle" w="sm" len="sm"/>
          </a:ln>
        </p:spPr>
        <p:style>
          <a:lnRef idx="1">
            <a:schemeClr val="accent1"/>
          </a:lnRef>
          <a:fillRef idx="0">
            <a:schemeClr val="accent1"/>
          </a:fillRef>
          <a:effectRef idx="0">
            <a:schemeClr val="accent1"/>
          </a:effectRef>
          <a:fontRef idx="minor">
            <a:schemeClr val="tx1"/>
          </a:fontRef>
        </p:style>
      </p:cxnSp>
      <p:pic>
        <p:nvPicPr>
          <p:cNvPr id="3" name="圖片 2">
            <a:extLst>
              <a:ext uri="{FF2B5EF4-FFF2-40B4-BE49-F238E27FC236}">
                <a16:creationId xmlns:a16="http://schemas.microsoft.com/office/drawing/2014/main" id="{4A400AFA-51A1-CF40-84EE-AA519BB9D299}"/>
              </a:ext>
            </a:extLst>
          </p:cNvPr>
          <p:cNvPicPr>
            <a:picLocks noChangeAspect="1"/>
          </p:cNvPicPr>
          <p:nvPr/>
        </p:nvPicPr>
        <p:blipFill>
          <a:blip r:embed="rId4"/>
          <a:stretch>
            <a:fillRect/>
          </a:stretch>
        </p:blipFill>
        <p:spPr>
          <a:xfrm>
            <a:off x="162372" y="2634995"/>
            <a:ext cx="4578946" cy="1591079"/>
          </a:xfrm>
          <a:prstGeom prst="rect">
            <a:avLst/>
          </a:prstGeom>
        </p:spPr>
      </p:pic>
    </p:spTree>
    <p:extLst>
      <p:ext uri="{BB962C8B-B14F-4D97-AF65-F5344CB8AC3E}">
        <p14:creationId xmlns:p14="http://schemas.microsoft.com/office/powerpoint/2010/main" val="101978726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A470BD4-0B3A-8761-338B-16D3700FC10B}"/>
            </a:ext>
          </a:extLst>
        </p:cNvPr>
        <p:cNvGrpSpPr/>
        <p:nvPr/>
      </p:nvGrpSpPr>
      <p:grpSpPr>
        <a:xfrm>
          <a:off x="0" y="0"/>
          <a:ext cx="0" cy="0"/>
          <a:chOff x="0" y="0"/>
          <a:chExt cx="0" cy="0"/>
        </a:xfrm>
      </p:grpSpPr>
      <p:pic>
        <p:nvPicPr>
          <p:cNvPr id="5" name="圖片 4">
            <a:extLst>
              <a:ext uri="{FF2B5EF4-FFF2-40B4-BE49-F238E27FC236}">
                <a16:creationId xmlns:a16="http://schemas.microsoft.com/office/drawing/2014/main" id="{1642B539-21C3-8609-5E84-D3BEED265161}"/>
              </a:ext>
            </a:extLst>
          </p:cNvPr>
          <p:cNvPicPr>
            <a:picLocks noChangeAspect="1"/>
          </p:cNvPicPr>
          <p:nvPr/>
        </p:nvPicPr>
        <p:blipFill>
          <a:blip r:embed="rId3"/>
          <a:stretch>
            <a:fillRect/>
          </a:stretch>
        </p:blipFill>
        <p:spPr>
          <a:xfrm>
            <a:off x="35496" y="4568919"/>
            <a:ext cx="4073577" cy="1998935"/>
          </a:xfrm>
          <a:prstGeom prst="rect">
            <a:avLst/>
          </a:prstGeom>
        </p:spPr>
      </p:pic>
      <p:sp>
        <p:nvSpPr>
          <p:cNvPr id="126" name="圖說文字: 折線不加上框線 125">
            <a:extLst>
              <a:ext uri="{FF2B5EF4-FFF2-40B4-BE49-F238E27FC236}">
                <a16:creationId xmlns:a16="http://schemas.microsoft.com/office/drawing/2014/main" id="{D13CFBDC-5C17-F6FD-E8D3-5329669F765A}"/>
              </a:ext>
            </a:extLst>
          </p:cNvPr>
          <p:cNvSpPr/>
          <p:nvPr/>
        </p:nvSpPr>
        <p:spPr>
          <a:xfrm>
            <a:off x="5065362" y="3418263"/>
            <a:ext cx="1165863" cy="269574"/>
          </a:xfrm>
          <a:prstGeom prst="callout2">
            <a:avLst>
              <a:gd name="adj1" fmla="val 20017"/>
              <a:gd name="adj2" fmla="val 77457"/>
              <a:gd name="adj3" fmla="val -14766"/>
              <a:gd name="adj4" fmla="val 76990"/>
              <a:gd name="adj5" fmla="val -367959"/>
              <a:gd name="adj6" fmla="val 167511"/>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p:sp>
        <p:nvSpPr>
          <p:cNvPr id="62" name="圖說文字: 折線不加上框線 61">
            <a:extLst>
              <a:ext uri="{FF2B5EF4-FFF2-40B4-BE49-F238E27FC236}">
                <a16:creationId xmlns:a16="http://schemas.microsoft.com/office/drawing/2014/main" id="{969D7E42-CF6D-8DCB-4E53-30D18C5557C0}"/>
              </a:ext>
            </a:extLst>
          </p:cNvPr>
          <p:cNvSpPr/>
          <p:nvPr/>
        </p:nvSpPr>
        <p:spPr>
          <a:xfrm>
            <a:off x="6595788" y="3350865"/>
            <a:ext cx="1165863" cy="362592"/>
          </a:xfrm>
          <a:prstGeom prst="callout2">
            <a:avLst>
              <a:gd name="adj1" fmla="val 28866"/>
              <a:gd name="adj2" fmla="val 20850"/>
              <a:gd name="adj3" fmla="val -5918"/>
              <a:gd name="adj4" fmla="val 20383"/>
              <a:gd name="adj5" fmla="val -247089"/>
              <a:gd name="adj6" fmla="val 68619"/>
            </a:avLst>
          </a:prstGeom>
          <a:solidFill>
            <a:schemeClr val="tx2">
              <a:lumMod val="20000"/>
              <a:lumOff val="80000"/>
              <a:alpha val="70000"/>
            </a:schemeClr>
          </a:solid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TW" altLang="en-US" sz="1400"/>
          </a:p>
        </p:txBody>
      </p:sp>
      <mc:AlternateContent xmlns:mc="http://schemas.openxmlformats.org/markup-compatibility/2006" xmlns:a14="http://schemas.microsoft.com/office/drawing/2010/main">
        <mc:Choice Requires="a14">
          <p:sp>
            <p:nvSpPr>
              <p:cNvPr id="88" name="文字方塊 87">
                <a:extLst>
                  <a:ext uri="{FF2B5EF4-FFF2-40B4-BE49-F238E27FC236}">
                    <a16:creationId xmlns:a16="http://schemas.microsoft.com/office/drawing/2014/main" id="{D71A8021-6DE4-3237-89F6-C9E232820F8F}"/>
                  </a:ext>
                </a:extLst>
              </p:cNvPr>
              <p:cNvSpPr txBox="1"/>
              <p:nvPr/>
            </p:nvSpPr>
            <p:spPr>
              <a:xfrm>
                <a:off x="5188313" y="2940158"/>
                <a:ext cx="1324882" cy="703846"/>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z</m:t>
                          </m:r>
                        </m:e>
                      </m:d>
                      <m:r>
                        <a:rPr lang="en-US" altLang="zh-TW" sz="1200" b="0" i="0" smtClean="0">
                          <a:latin typeface="Cambria Math" panose="02040503050406030204" pitchFamily="18" charset="0"/>
                        </a:rPr>
                        <m:t>=</m:t>
                      </m:r>
                      <m:f>
                        <m:fPr>
                          <m:ctrlPr>
                            <a:rPr lang="en-US" altLang="zh-TW" sz="1200" b="0" i="1" smtClean="0">
                              <a:latin typeface="Cambria Math" panose="02040503050406030204" pitchFamily="18" charset="0"/>
                            </a:rPr>
                          </m:ctrlPr>
                        </m:fPr>
                        <m:num>
                          <m:r>
                            <a:rPr lang="en-US" altLang="zh-TW" sz="1200" b="0" i="0" smtClean="0">
                              <a:latin typeface="Cambria Math" panose="02040503050406030204" pitchFamily="18" charset="0"/>
                            </a:rPr>
                            <m:t>1</m:t>
                          </m:r>
                        </m:num>
                        <m:den>
                          <m:r>
                            <a:rPr lang="en-US" altLang="zh-TW" sz="1200" b="0" i="0" smtClean="0">
                              <a:latin typeface="Cambria Math" panose="02040503050406030204" pitchFamily="18" charset="0"/>
                            </a:rPr>
                            <m:t>1+</m:t>
                          </m:r>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e</m:t>
                              </m:r>
                            </m:e>
                            <m: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z</m:t>
                              </m:r>
                            </m:sup>
                          </m:sSup>
                        </m:den>
                      </m:f>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a</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
                        <m:dPr>
                          <m:ctrlPr>
                            <a:rPr lang="en-US" altLang="zh-TW" sz="1200" b="0" i="1" smtClean="0">
                              <a:latin typeface="Cambria Math" panose="02040503050406030204" pitchFamily="18" charset="0"/>
                              <a:ea typeface="Cambria Math" panose="02040503050406030204" pitchFamily="18" charset="0"/>
                            </a:rPr>
                          </m:ctrlPr>
                        </m:dPr>
                        <m:e>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e>
                      </m:d>
                    </m:oMath>
                  </m:oMathPara>
                </a14:m>
                <a:br>
                  <a:rPr lang="en-US" altLang="zh-TW" sz="1400" b="0" dirty="0"/>
                </a:br>
                <a:endParaRPr lang="en-US" altLang="zh-TW" sz="1400" b="0" dirty="0"/>
              </a:p>
            </p:txBody>
          </p:sp>
        </mc:Choice>
        <mc:Fallback xmlns="">
          <p:sp>
            <p:nvSpPr>
              <p:cNvPr id="88" name="文字方塊 87">
                <a:extLst>
                  <a:ext uri="{FF2B5EF4-FFF2-40B4-BE49-F238E27FC236}">
                    <a16:creationId xmlns:a16="http://schemas.microsoft.com/office/drawing/2014/main" id="{D71A8021-6DE4-3237-89F6-C9E232820F8F}"/>
                  </a:ext>
                </a:extLst>
              </p:cNvPr>
              <p:cNvSpPr txBox="1">
                <a:spLocks noRot="1" noChangeAspect="1" noMove="1" noResize="1" noEditPoints="1" noAdjustHandles="1" noChangeArrowheads="1" noChangeShapeType="1" noTextEdit="1"/>
              </p:cNvSpPr>
              <p:nvPr/>
            </p:nvSpPr>
            <p:spPr>
              <a:xfrm>
                <a:off x="5188313" y="2940158"/>
                <a:ext cx="1324882" cy="703846"/>
              </a:xfrm>
              <a:prstGeom prst="rect">
                <a:avLst/>
              </a:prstGeom>
              <a:blipFill>
                <a:blip r:embed="rId4"/>
                <a:stretch>
                  <a:fillRect l="-2765" t="-1724" b="-2586"/>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83" name="文字方塊 82">
                <a:extLst>
                  <a:ext uri="{FF2B5EF4-FFF2-40B4-BE49-F238E27FC236}">
                    <a16:creationId xmlns:a16="http://schemas.microsoft.com/office/drawing/2014/main" id="{CD1B30EE-A555-AF3C-1ACF-C67A58852798}"/>
                  </a:ext>
                </a:extLst>
              </p:cNvPr>
              <p:cNvSpPr txBox="1"/>
              <p:nvPr/>
            </p:nvSpPr>
            <p:spPr>
              <a:xfrm>
                <a:off x="5598232" y="2229082"/>
                <a:ext cx="2376264" cy="50199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𝑤</m:t>
                      </m:r>
                      <m:r>
                        <a:rPr lang="en-US" altLang="zh-TW" sz="1400" b="0" i="1" smtClean="0">
                          <a:latin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smtClean="0">
                              <a:latin typeface="Cambria Math" panose="02040503050406030204" pitchFamily="18" charset="0"/>
                              <a:ea typeface="Cambria Math" panose="02040503050406030204" pitchFamily="18" charset="0"/>
                            </a:rPr>
                            <m:t>𝜕</m:t>
                          </m:r>
                          <m:r>
                            <m:rPr>
                              <m:sty m:val="p"/>
                            </m:rPr>
                            <a:rPr lang="en-US" altLang="zh-TW" sz="1400" i="1">
                              <a:latin typeface="Cambria Math" panose="02040503050406030204" pitchFamily="18" charset="0"/>
                              <a:ea typeface="Cambria Math" panose="02040503050406030204" pitchFamily="18" charset="0"/>
                            </a:rPr>
                            <m:t>L</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𝑧</m:t>
                          </m:r>
                        </m:den>
                      </m:f>
                      <m:r>
                        <a:rPr lang="en-US" altLang="zh-TW" sz="1400" i="1" smtClean="0">
                          <a:latin typeface="Cambria Math" panose="02040503050406030204" pitchFamily="18" charset="0"/>
                          <a:ea typeface="Cambria Math" panose="02040503050406030204" pitchFamily="18" charset="0"/>
                        </a:rPr>
                        <m:t>⋅</m:t>
                      </m:r>
                      <m:f>
                        <m:fPr>
                          <m:ctrlPr>
                            <a:rPr lang="en-US" altLang="zh-TW" sz="1400" i="1" smtClean="0">
                              <a:latin typeface="Cambria Math" panose="02040503050406030204" pitchFamily="18" charset="0"/>
                              <a:ea typeface="Cambria Math" panose="02040503050406030204" pitchFamily="18" charset="0"/>
                            </a:rPr>
                          </m:ctrlPr>
                        </m:fPr>
                        <m:num>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𝐿</m:t>
                          </m:r>
                        </m:num>
                        <m:den>
                          <m:r>
                            <a:rPr lang="zh-TW" altLang="en-US"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𝑎</m:t>
                          </m:r>
                        </m:den>
                      </m:f>
                    </m:oMath>
                  </m:oMathPara>
                </a14:m>
                <a:endParaRPr lang="zh-TW" altLang="en-US" sz="1400" dirty="0"/>
              </a:p>
            </p:txBody>
          </p:sp>
        </mc:Choice>
        <mc:Fallback xmlns="">
          <p:sp>
            <p:nvSpPr>
              <p:cNvPr id="83" name="文字方塊 82">
                <a:extLst>
                  <a:ext uri="{FF2B5EF4-FFF2-40B4-BE49-F238E27FC236}">
                    <a16:creationId xmlns:a16="http://schemas.microsoft.com/office/drawing/2014/main" id="{CD1B30EE-A555-AF3C-1ACF-C67A58852798}"/>
                  </a:ext>
                </a:extLst>
              </p:cNvPr>
              <p:cNvSpPr txBox="1">
                <a:spLocks noRot="1" noChangeAspect="1" noMove="1" noResize="1" noEditPoints="1" noAdjustHandles="1" noChangeArrowheads="1" noChangeShapeType="1" noTextEdit="1"/>
              </p:cNvSpPr>
              <p:nvPr/>
            </p:nvSpPr>
            <p:spPr>
              <a:xfrm>
                <a:off x="5598232" y="2229082"/>
                <a:ext cx="2376264" cy="501997"/>
              </a:xfrm>
              <a:prstGeom prst="rect">
                <a:avLst/>
              </a:prstGeom>
              <a:blipFill>
                <a:blip r:embed="rId5"/>
                <a:stretch>
                  <a:fillRect b="-2439"/>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90" name="文字方塊 89">
                <a:extLst>
                  <a:ext uri="{FF2B5EF4-FFF2-40B4-BE49-F238E27FC236}">
                    <a16:creationId xmlns:a16="http://schemas.microsoft.com/office/drawing/2014/main" id="{E05D3B94-FFF2-997C-CCEC-DAC320C7FC87}"/>
                  </a:ext>
                </a:extLst>
              </p:cNvPr>
              <p:cNvSpPr txBox="1"/>
              <p:nvPr/>
            </p:nvSpPr>
            <p:spPr>
              <a:xfrm>
                <a:off x="4663330" y="1945197"/>
                <a:ext cx="1684142" cy="30777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𝑤</m:t>
                      </m:r>
                      <m:r>
                        <a:rPr lang="en-US" altLang="zh-TW" sz="1400" b="0" i="1" smtClean="0">
                          <a:latin typeface="Cambria Math" panose="02040503050406030204" pitchFamily="18" charset="0"/>
                          <a:ea typeface="Cambria Math" panose="02040503050406030204" pitchFamily="18" charset="0"/>
                        </a:rPr>
                        <m:t>−</m:t>
                      </m:r>
                      <m:r>
                        <a:rPr lang="zh-TW" altLang="en-US" sz="1400" b="0" i="1" smtClean="0">
                          <a:latin typeface="Cambria Math" panose="02040503050406030204" pitchFamily="18" charset="0"/>
                          <a:ea typeface="Cambria Math" panose="02040503050406030204" pitchFamily="18" charset="0"/>
                        </a:rPr>
                        <m:t>𝜂</m:t>
                      </m:r>
                      <m:r>
                        <a:rPr lang="zh-TW" altLang="en-US" sz="1400" i="1" smtClean="0">
                          <a:latin typeface="Cambria Math" panose="02040503050406030204" pitchFamily="18" charset="0"/>
                          <a:ea typeface="Cambria Math" panose="02040503050406030204" pitchFamily="18" charset="0"/>
                        </a:rPr>
                        <m:t>⋅</m:t>
                      </m:r>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r>
                        <a:rPr lang="en-US" altLang="zh-TW" sz="1400" i="1">
                          <a:latin typeface="Cambria Math" panose="02040503050406030204" pitchFamily="18" charset="0"/>
                        </a:rPr>
                        <m:t>(</m:t>
                      </m:r>
                      <m:r>
                        <a:rPr lang="en-US" altLang="zh-TW" sz="1400" i="1">
                          <a:latin typeface="Cambria Math" panose="02040503050406030204" pitchFamily="18" charset="0"/>
                        </a:rPr>
                        <m:t>𝑤</m:t>
                      </m:r>
                      <m:r>
                        <a:rPr lang="en-US" altLang="zh-TW" sz="1400" i="1">
                          <a:latin typeface="Cambria Math" panose="02040503050406030204" pitchFamily="18" charset="0"/>
                        </a:rPr>
                        <m:t>)</m:t>
                      </m:r>
                    </m:oMath>
                  </m:oMathPara>
                </a14:m>
                <a:endParaRPr lang="en-US" altLang="zh-TW" sz="1400" b="0" i="1" dirty="0">
                  <a:latin typeface="Cambria Math" panose="02040503050406030204" pitchFamily="18" charset="0"/>
                </a:endParaRPr>
              </a:p>
            </p:txBody>
          </p:sp>
        </mc:Choice>
        <mc:Fallback xmlns="">
          <p:sp>
            <p:nvSpPr>
              <p:cNvPr id="90" name="文字方塊 89">
                <a:extLst>
                  <a:ext uri="{FF2B5EF4-FFF2-40B4-BE49-F238E27FC236}">
                    <a16:creationId xmlns:a16="http://schemas.microsoft.com/office/drawing/2014/main" id="{E05D3B94-FFF2-997C-CCEC-DAC320C7FC87}"/>
                  </a:ext>
                </a:extLst>
              </p:cNvPr>
              <p:cNvSpPr txBox="1">
                <a:spLocks noRot="1" noChangeAspect="1" noMove="1" noResize="1" noEditPoints="1" noAdjustHandles="1" noChangeArrowheads="1" noChangeShapeType="1" noTextEdit="1"/>
              </p:cNvSpPr>
              <p:nvPr/>
            </p:nvSpPr>
            <p:spPr>
              <a:xfrm>
                <a:off x="4663330" y="1945197"/>
                <a:ext cx="1684142" cy="307777"/>
              </a:xfrm>
              <a:prstGeom prst="rect">
                <a:avLst/>
              </a:prstGeom>
              <a:blipFill>
                <a:blip r:embed="rId6"/>
                <a:stretch>
                  <a:fillRect b="-7843"/>
                </a:stretch>
              </a:blipFill>
            </p:spPr>
            <p:txBody>
              <a:bodyPr/>
              <a:lstStyle/>
              <a:p>
                <a:r>
                  <a:rPr lang="zh-TW" altLang="en-US">
                    <a:noFill/>
                  </a:rPr>
                  <a:t> </a:t>
                </a:r>
              </a:p>
            </p:txBody>
          </p:sp>
        </mc:Fallback>
      </mc:AlternateContent>
      <p:grpSp>
        <p:nvGrpSpPr>
          <p:cNvPr id="2" name="群組 1">
            <a:extLst>
              <a:ext uri="{FF2B5EF4-FFF2-40B4-BE49-F238E27FC236}">
                <a16:creationId xmlns:a16="http://schemas.microsoft.com/office/drawing/2014/main" id="{7BBFCDFC-8455-654F-81FA-2F7934574061}"/>
              </a:ext>
            </a:extLst>
          </p:cNvPr>
          <p:cNvGrpSpPr/>
          <p:nvPr/>
        </p:nvGrpSpPr>
        <p:grpSpPr>
          <a:xfrm>
            <a:off x="2547506" y="2007114"/>
            <a:ext cx="1561567" cy="998560"/>
            <a:chOff x="1565170" y="985713"/>
            <a:chExt cx="1561567" cy="998560"/>
          </a:xfrm>
        </p:grpSpPr>
        <p:sp>
          <p:nvSpPr>
            <p:cNvPr id="91" name="流程圖: 接點 90">
              <a:extLst>
                <a:ext uri="{FF2B5EF4-FFF2-40B4-BE49-F238E27FC236}">
                  <a16:creationId xmlns:a16="http://schemas.microsoft.com/office/drawing/2014/main" id="{27A34108-C6B6-4CA3-37EF-0F781206AB19}"/>
                </a:ext>
              </a:extLst>
            </p:cNvPr>
            <p:cNvSpPr/>
            <p:nvPr/>
          </p:nvSpPr>
          <p:spPr>
            <a:xfrm>
              <a:off x="2195736" y="1519983"/>
              <a:ext cx="360040" cy="360040"/>
            </a:xfrm>
            <a:prstGeom prst="flowChartConnector">
              <a:avLst/>
            </a:prstGeom>
            <a:noFill/>
            <a:ln w="12700">
              <a:solidFill>
                <a:schemeClr val="tx2"/>
              </a:solidFill>
            </a:ln>
          </p:spPr>
          <p:style>
            <a:lnRef idx="2">
              <a:schemeClr val="accent1">
                <a:shade val="15000"/>
              </a:schemeClr>
            </a:lnRef>
            <a:fillRef idx="1">
              <a:schemeClr val="accent1"/>
            </a:fillRef>
            <a:effectRef idx="0">
              <a:schemeClr val="accent1"/>
            </a:effectRef>
            <a:fontRef idx="minor">
              <a:schemeClr val="lt1"/>
            </a:fontRef>
          </p:style>
          <p:txBody>
            <a:bodyPr wrap="none" rtlCol="0" anchor="ctr" anchorCtr="1"/>
            <a:lstStyle/>
            <a:p>
              <a:pPr algn="ctr"/>
              <a:r>
                <a:rPr lang="en-US" altLang="zh-TW" sz="1200" dirty="0">
                  <a:solidFill>
                    <a:schemeClr val="tx1"/>
                  </a:solidFill>
                </a:rPr>
                <a:t>b   a</a:t>
              </a:r>
              <a:endParaRPr lang="zh-TW" altLang="en-US" sz="1200" dirty="0">
                <a:solidFill>
                  <a:schemeClr val="tx1"/>
                </a:solidFill>
              </a:endParaRPr>
            </a:p>
          </p:txBody>
        </p:sp>
        <p:cxnSp>
          <p:nvCxnSpPr>
            <p:cNvPr id="93" name="直線接點 92">
              <a:extLst>
                <a:ext uri="{FF2B5EF4-FFF2-40B4-BE49-F238E27FC236}">
                  <a16:creationId xmlns:a16="http://schemas.microsoft.com/office/drawing/2014/main" id="{581E3EEE-3B2F-78DE-91E6-08BC170C92D2}"/>
                </a:ext>
              </a:extLst>
            </p:cNvPr>
            <p:cNvCxnSpPr>
              <a:stCxn id="91" idx="0"/>
              <a:endCxn id="91" idx="4"/>
            </p:cNvCxnSpPr>
            <p:nvPr/>
          </p:nvCxnSpPr>
          <p:spPr>
            <a:xfrm>
              <a:off x="2375756" y="1519983"/>
              <a:ext cx="0" cy="360040"/>
            </a:xfrm>
            <a:prstGeom prst="line">
              <a:avLst/>
            </a:prstGeom>
            <a:ln w="15875">
              <a:solidFill>
                <a:schemeClr val="tx2"/>
              </a:solidFill>
            </a:ln>
          </p:spPr>
          <p:style>
            <a:lnRef idx="1">
              <a:schemeClr val="accent1"/>
            </a:lnRef>
            <a:fillRef idx="0">
              <a:schemeClr val="accent1"/>
            </a:fillRef>
            <a:effectRef idx="0">
              <a:schemeClr val="accent1"/>
            </a:effectRef>
            <a:fontRef idx="minor">
              <a:schemeClr val="tx1"/>
            </a:fontRef>
          </p:style>
        </p:cxnSp>
        <p:cxnSp>
          <p:nvCxnSpPr>
            <p:cNvPr id="95" name="直線單箭頭接點 94">
              <a:extLst>
                <a:ext uri="{FF2B5EF4-FFF2-40B4-BE49-F238E27FC236}">
                  <a16:creationId xmlns:a16="http://schemas.microsoft.com/office/drawing/2014/main" id="{A3D68FA1-3525-27FC-0823-73E733185BFA}"/>
                </a:ext>
              </a:extLst>
            </p:cNvPr>
            <p:cNvCxnSpPr>
              <a:cxnSpLocks/>
              <a:stCxn id="107" idx="3"/>
              <a:endCxn id="91" idx="1"/>
            </p:cNvCxnSpPr>
            <p:nvPr/>
          </p:nvCxnSpPr>
          <p:spPr>
            <a:xfrm>
              <a:off x="1861472" y="1093435"/>
              <a:ext cx="386991" cy="479275"/>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97" name="直線單箭頭接點 96">
              <a:extLst>
                <a:ext uri="{FF2B5EF4-FFF2-40B4-BE49-F238E27FC236}">
                  <a16:creationId xmlns:a16="http://schemas.microsoft.com/office/drawing/2014/main" id="{38B164E3-6072-E6FC-6A42-F417C68F819D}"/>
                </a:ext>
              </a:extLst>
            </p:cNvPr>
            <p:cNvCxnSpPr>
              <a:cxnSpLocks/>
              <a:stCxn id="108" idx="3"/>
              <a:endCxn id="91" idx="2"/>
            </p:cNvCxnSpPr>
            <p:nvPr/>
          </p:nvCxnSpPr>
          <p:spPr>
            <a:xfrm>
              <a:off x="1717456" y="1507789"/>
              <a:ext cx="478280" cy="192214"/>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6" name="文字方塊 105">
              <a:extLst>
                <a:ext uri="{FF2B5EF4-FFF2-40B4-BE49-F238E27FC236}">
                  <a16:creationId xmlns:a16="http://schemas.microsoft.com/office/drawing/2014/main" id="{28D5786C-C5FF-64EF-A732-2BD7870003B3}"/>
                </a:ext>
              </a:extLst>
            </p:cNvPr>
            <p:cNvSpPr txBox="1"/>
            <p:nvPr/>
          </p:nvSpPr>
          <p:spPr>
            <a:xfrm>
              <a:off x="1670879" y="1676496"/>
              <a:ext cx="475890" cy="307777"/>
            </a:xfrm>
            <a:prstGeom prst="rect">
              <a:avLst/>
            </a:prstGeom>
            <a:noFill/>
          </p:spPr>
          <p:txBody>
            <a:bodyPr wrap="none" lIns="0" tIns="0" rIns="0" bIns="0" anchor="ctr" anchorCtr="1">
              <a:noAutofit/>
            </a:bodyPr>
            <a:lstStyle/>
            <a:p>
              <a:pPr algn="ctr"/>
              <a:r>
                <a:rPr lang="en-US" altLang="zh-TW" sz="1400" b="0" i="1" dirty="0">
                  <a:latin typeface="Cambria Math" panose="02040503050406030204" pitchFamily="18" charset="0"/>
                </a:rPr>
                <a:t>…</a:t>
              </a:r>
            </a:p>
          </p:txBody>
        </p:sp>
        <p:sp>
          <p:nvSpPr>
            <p:cNvPr id="107" name="文字方塊 106">
              <a:extLst>
                <a:ext uri="{FF2B5EF4-FFF2-40B4-BE49-F238E27FC236}">
                  <a16:creationId xmlns:a16="http://schemas.microsoft.com/office/drawing/2014/main" id="{79147F9F-A8A3-1905-3221-C71BFADDB0CD}"/>
                </a:ext>
              </a:extLst>
            </p:cNvPr>
            <p:cNvSpPr txBox="1"/>
            <p:nvPr/>
          </p:nvSpPr>
          <p:spPr>
            <a:xfrm>
              <a:off x="1709186" y="985713"/>
              <a:ext cx="152286"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08" name="文字方塊 107">
              <a:extLst>
                <a:ext uri="{FF2B5EF4-FFF2-40B4-BE49-F238E27FC236}">
                  <a16:creationId xmlns:a16="http://schemas.microsoft.com/office/drawing/2014/main" id="{FCE26686-4760-0719-D6F3-D81BF164EBE6}"/>
                </a:ext>
              </a:extLst>
            </p:cNvPr>
            <p:cNvSpPr txBox="1"/>
            <p:nvPr/>
          </p:nvSpPr>
          <p:spPr>
            <a:xfrm>
              <a:off x="1565170" y="1400067"/>
              <a:ext cx="152286" cy="215444"/>
            </a:xfrm>
            <a:prstGeom prst="rect">
              <a:avLst/>
            </a:prstGeom>
            <a:noFill/>
          </p:spPr>
          <p:txBody>
            <a:bodyPr wrap="none" lIns="0" tIns="0" rIns="0" bIns="0" anchor="ctr" anchorCtr="1">
              <a:noAutofit/>
            </a:bodyPr>
            <a:lstStyle/>
            <a:p>
              <a:pPr algn="ctr"/>
              <a:r>
                <a:rPr lang="en-US" altLang="zh-TW" sz="1400" dirty="0">
                  <a:latin typeface="Cambria Math" panose="02040503050406030204" pitchFamily="18" charset="0"/>
                </a:rPr>
                <a:t>x</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sp>
          <p:nvSpPr>
            <p:cNvPr id="114" name="文字方塊 113">
              <a:extLst>
                <a:ext uri="{FF2B5EF4-FFF2-40B4-BE49-F238E27FC236}">
                  <a16:creationId xmlns:a16="http://schemas.microsoft.com/office/drawing/2014/main" id="{2A7965A0-14B9-0E84-C8EE-FD0FC190101E}"/>
                </a:ext>
              </a:extLst>
            </p:cNvPr>
            <p:cNvSpPr txBox="1"/>
            <p:nvPr/>
          </p:nvSpPr>
          <p:spPr>
            <a:xfrm>
              <a:off x="1933480" y="1183463"/>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1</a:t>
              </a:r>
              <a:endParaRPr lang="en-US" altLang="zh-TW" sz="1400" b="0" baseline="-25000" dirty="0">
                <a:latin typeface="Cambria Math" panose="02040503050406030204" pitchFamily="18" charset="0"/>
              </a:endParaRPr>
            </a:p>
          </p:txBody>
        </p:sp>
        <p:sp>
          <p:nvSpPr>
            <p:cNvPr id="115" name="文字方塊 114">
              <a:extLst>
                <a:ext uri="{FF2B5EF4-FFF2-40B4-BE49-F238E27FC236}">
                  <a16:creationId xmlns:a16="http://schemas.microsoft.com/office/drawing/2014/main" id="{F7BCEEA1-767D-263C-D750-052EECC88EE3}"/>
                </a:ext>
              </a:extLst>
            </p:cNvPr>
            <p:cNvSpPr txBox="1"/>
            <p:nvPr/>
          </p:nvSpPr>
          <p:spPr>
            <a:xfrm>
              <a:off x="1800304" y="1471495"/>
              <a:ext cx="205184" cy="215444"/>
            </a:xfrm>
            <a:prstGeom prst="rect">
              <a:avLst/>
            </a:prstGeom>
            <a:noFill/>
          </p:spPr>
          <p:txBody>
            <a:bodyPr wrap="none" lIns="0" tIns="0" rIns="0" bIns="0" anchor="ctr" anchorCtr="1">
              <a:spAutoFit/>
            </a:bodyPr>
            <a:lstStyle/>
            <a:p>
              <a:pPr algn="ctr"/>
              <a:r>
                <a:rPr lang="en-US" altLang="zh-TW" sz="1400" dirty="0">
                  <a:latin typeface="Cambria Math" panose="02040503050406030204" pitchFamily="18" charset="0"/>
                </a:rPr>
                <a:t>w</a:t>
              </a:r>
              <a:r>
                <a:rPr lang="en-US" altLang="zh-TW" sz="1400" baseline="-25000" dirty="0">
                  <a:latin typeface="Cambria Math" panose="02040503050406030204" pitchFamily="18" charset="0"/>
                </a:rPr>
                <a:t>2</a:t>
              </a:r>
              <a:endParaRPr lang="en-US" altLang="zh-TW" sz="1400" b="0" baseline="-25000" dirty="0">
                <a:latin typeface="Cambria Math" panose="02040503050406030204" pitchFamily="18" charset="0"/>
              </a:endParaRPr>
            </a:p>
          </p:txBody>
        </p:sp>
        <p:cxnSp>
          <p:nvCxnSpPr>
            <p:cNvPr id="116" name="直線單箭頭接點 115">
              <a:extLst>
                <a:ext uri="{FF2B5EF4-FFF2-40B4-BE49-F238E27FC236}">
                  <a16:creationId xmlns:a16="http://schemas.microsoft.com/office/drawing/2014/main" id="{25C7B506-0473-83B6-F8EC-3B732D675C20}"/>
                </a:ext>
              </a:extLst>
            </p:cNvPr>
            <p:cNvCxnSpPr>
              <a:cxnSpLocks/>
              <a:stCxn id="91" idx="6"/>
            </p:cNvCxnSpPr>
            <p:nvPr/>
          </p:nvCxnSpPr>
          <p:spPr>
            <a:xfrm>
              <a:off x="2555776" y="1700003"/>
              <a:ext cx="570961"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0" name="文字方塊 119">
                <a:extLst>
                  <a:ext uri="{FF2B5EF4-FFF2-40B4-BE49-F238E27FC236}">
                    <a16:creationId xmlns:a16="http://schemas.microsoft.com/office/drawing/2014/main" id="{F7FC68DD-5ED9-949C-ADEF-7B2B32BF89BF}"/>
                  </a:ext>
                </a:extLst>
              </p:cNvPr>
              <p:cNvSpPr txBox="1"/>
              <p:nvPr/>
            </p:nvSpPr>
            <p:spPr>
              <a:xfrm>
                <a:off x="2780945" y="3099359"/>
                <a:ext cx="1214050" cy="1365310"/>
              </a:xfrm>
              <a:prstGeom prst="rect">
                <a:avLst/>
              </a:prstGeom>
              <a:noFill/>
            </p:spPr>
            <p:txBody>
              <a:bodyPr wrap="none" lIns="0" tIns="0" rIns="0" bIns="0" rtlCol="0">
                <a:spAutoFit/>
              </a:bodyPr>
              <a:lstStyle/>
              <a:p>
                <a:pPr/>
                <a14:m>
                  <m:oMathPara xmlns:m="http://schemas.openxmlformats.org/officeDocument/2006/math">
                    <m:oMathParaPr>
                      <m:jc m:val="left"/>
                    </m:oMathParaPr>
                    <m:oMath xmlns:m="http://schemas.openxmlformats.org/officeDocument/2006/math">
                      <m:r>
                        <a:rPr lang="en-US" altLang="zh-TW" sz="1200" b="0" i="1" smtClean="0">
                          <a:latin typeface="Cambria Math" panose="02040503050406030204" pitchFamily="18" charset="0"/>
                        </a:rPr>
                        <m:t>𝑧</m:t>
                      </m:r>
                      <m:r>
                        <a:rPr lang="en-US" altLang="zh-TW" sz="1200" b="0" i="1" smtClean="0">
                          <a:latin typeface="Cambria Math" panose="02040503050406030204" pitchFamily="18" charset="0"/>
                        </a:rPr>
                        <m:t>=</m:t>
                      </m:r>
                      <m:nary>
                        <m:naryPr>
                          <m:chr m:val="∑"/>
                          <m:subHide m:val="on"/>
                          <m:supHide m:val="on"/>
                          <m:ctrlPr>
                            <a:rPr lang="en-US" altLang="zh-TW" sz="1200" b="0" i="1" smtClean="0">
                              <a:latin typeface="Cambria Math" panose="02040503050406030204" pitchFamily="18" charset="0"/>
                            </a:rPr>
                          </m:ctrlPr>
                        </m:naryPr>
                        <m:sub/>
                        <m:sup/>
                        <m:e>
                          <m:sSub>
                            <m:sSubPr>
                              <m:ctrlPr>
                                <a:rPr lang="en-US" altLang="zh-TW" sz="1200" b="0" i="1" smtClean="0">
                                  <a:latin typeface="Cambria Math" panose="02040503050406030204" pitchFamily="18" charset="0"/>
                                </a:rPr>
                              </m:ctrlPr>
                            </m:sSubPr>
                            <m:e>
                              <m:r>
                                <a:rPr lang="en-US" altLang="zh-TW" sz="1200" b="0" i="1" smtClean="0">
                                  <a:latin typeface="Cambria Math" panose="02040503050406030204" pitchFamily="18" charset="0"/>
                                </a:rPr>
                                <m:t>𝑥</m:t>
                              </m:r>
                            </m:e>
                            <m:sub>
                              <m:r>
                                <a:rPr lang="en-US" altLang="zh-TW" sz="1200" b="0" i="1" smtClean="0">
                                  <a:latin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e>
                      </m:nary>
                      <m:r>
                        <a:rPr lang="en-US" altLang="zh-TW" sz="1200" b="0" i="1" smtClean="0">
                          <a:latin typeface="Cambria Math" panose="02040503050406030204" pitchFamily="18" charset="0"/>
                        </a:rPr>
                        <m:t>+</m:t>
                      </m:r>
                      <m:r>
                        <a:rPr lang="en-US" altLang="zh-TW" sz="1200" b="0" i="1" smtClean="0">
                          <a:latin typeface="Cambria Math" panose="02040503050406030204" pitchFamily="18" charset="0"/>
                        </a:rPr>
                        <m:t>𝑏</m:t>
                      </m:r>
                    </m:oMath>
                  </m:oMathPara>
                </a14:m>
                <a:endParaRPr lang="en-US" altLang="zh-TW" sz="1200" b="0" dirty="0"/>
              </a:p>
              <a:p>
                <a:pPr/>
                <a14:m>
                  <m:oMathPara xmlns:m="http://schemas.openxmlformats.org/officeDocument/2006/math">
                    <m:oMathParaPr>
                      <m:jc m:val="left"/>
                    </m:oMathParaPr>
                    <m:oMath xmlns:m="http://schemas.openxmlformats.org/officeDocument/2006/math">
                      <m:f>
                        <m:fPr>
                          <m:ctrlPr>
                            <a:rPr lang="en-US" altLang="zh-TW" sz="1200" i="1">
                              <a:latin typeface="Cambria Math" panose="02040503050406030204" pitchFamily="18" charset="0"/>
                              <a:ea typeface="Cambria Math" panose="02040503050406030204" pitchFamily="18" charset="0"/>
                            </a:rPr>
                          </m:ctrlPr>
                        </m:fPr>
                        <m:num>
                          <m:r>
                            <a:rPr lang="zh-TW" altLang="en-US" sz="1200" i="1">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𝑧</m:t>
                          </m:r>
                        </m:num>
                        <m:den>
                          <m:r>
                            <a:rPr lang="zh-TW" altLang="en-US" sz="1200" i="1">
                              <a:latin typeface="Cambria Math" panose="02040503050406030204" pitchFamily="18" charset="0"/>
                              <a:ea typeface="Cambria Math" panose="02040503050406030204" pitchFamily="18" charset="0"/>
                            </a:rPr>
                            <m:t>𝜕</m:t>
                          </m:r>
                          <m:sSub>
                            <m:sSubPr>
                              <m:ctrlPr>
                                <a:rPr lang="en-US" altLang="zh-TW" sz="120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𝑤</m:t>
                              </m:r>
                            </m:e>
                            <m:sub>
                              <m:r>
                                <a:rPr lang="en-US" altLang="zh-TW" sz="1200" b="0" i="1" smtClean="0">
                                  <a:latin typeface="Cambria Math" panose="02040503050406030204" pitchFamily="18" charset="0"/>
                                  <a:ea typeface="Cambria Math" panose="02040503050406030204" pitchFamily="18" charset="0"/>
                                </a:rPr>
                                <m:t>𝑖</m:t>
                              </m:r>
                            </m:sub>
                          </m:sSub>
                        </m:den>
                      </m:f>
                      <m:r>
                        <a:rPr lang="en-US" altLang="zh-TW" sz="1200" b="0" i="1" smtClean="0">
                          <a:latin typeface="Cambria Math" panose="02040503050406030204" pitchFamily="18" charset="0"/>
                          <a:ea typeface="Cambria Math" panose="02040503050406030204" pitchFamily="18" charset="0"/>
                        </a:rPr>
                        <m:t>=</m:t>
                      </m:r>
                      <m:sSub>
                        <m:sSubPr>
                          <m:ctrlPr>
                            <a:rPr lang="en-US" altLang="zh-TW" sz="1200" b="0" i="1" smtClean="0">
                              <a:latin typeface="Cambria Math" panose="02040503050406030204" pitchFamily="18" charset="0"/>
                              <a:ea typeface="Cambria Math" panose="02040503050406030204" pitchFamily="18" charset="0"/>
                            </a:rPr>
                          </m:ctrlPr>
                        </m:sSubPr>
                        <m:e>
                          <m:r>
                            <a:rPr lang="en-US" altLang="zh-TW" sz="1200" b="0" i="1" smtClean="0">
                              <a:latin typeface="Cambria Math" panose="02040503050406030204" pitchFamily="18" charset="0"/>
                              <a:ea typeface="Cambria Math" panose="02040503050406030204" pitchFamily="18" charset="0"/>
                            </a:rPr>
                            <m:t>𝑥</m:t>
                          </m:r>
                        </m:e>
                        <m:sub>
                          <m:r>
                            <a:rPr lang="en-US" altLang="zh-TW" sz="1200" b="0" i="1" smtClean="0">
                              <a:latin typeface="Cambria Math" panose="02040503050406030204" pitchFamily="18" charset="0"/>
                              <a:ea typeface="Cambria Math" panose="02040503050406030204" pitchFamily="18" charset="0"/>
                            </a:rPr>
                            <m:t>𝑖</m:t>
                          </m:r>
                        </m:sub>
                      </m:sSub>
                      <m:r>
                        <a:rPr lang="en-US" altLang="zh-TW" sz="1200" b="0" i="1" smtClean="0">
                          <a:latin typeface="Cambria Math" panose="02040503050406030204" pitchFamily="18" charset="0"/>
                          <a:ea typeface="Cambria Math" panose="02040503050406030204" pitchFamily="18" charset="0"/>
                        </a:rPr>
                        <m:t> </m:t>
                      </m:r>
                    </m:oMath>
                  </m:oMathPara>
                </a14:m>
                <a:endParaRPr lang="en-US" altLang="zh-TW" sz="1200" dirty="0"/>
              </a:p>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altLang="zh-TW" sz="1200" b="0" i="1" u="none" strike="noStrike" kern="1200" cap="none" spc="0" normalizeH="0" baseline="0" noProof="0" dirty="0">
                  <a:ln>
                    <a:noFill/>
                  </a:ln>
                  <a:solidFill>
                    <a:prstClr val="black"/>
                  </a:solidFill>
                  <a:effectLst/>
                  <a:uLnTx/>
                  <a:uFillTx/>
                  <a:latin typeface="Cambria Math" panose="02040503050406030204" pitchFamily="18" charset="0"/>
                  <a:ea typeface="Cambria Math" panose="02040503050406030204" pitchFamily="18" charset="0"/>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left"/>
                    </m:oMathParaPr>
                    <m:oMath xmlns:m="http://schemas.openxmlformats.org/officeDocument/2006/math">
                      <m:f>
                        <m:fPr>
                          <m:ctrlP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ctrlPr>
                        </m:fPr>
                        <m:num>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𝑧</m:t>
                          </m:r>
                        </m:num>
                        <m:den>
                          <m:r>
                            <a:rPr kumimoji="0" lang="zh-TW" altLang="en-US" sz="1200" b="0" i="1" u="none" strike="noStrike" kern="1200" cap="none" spc="0" normalizeH="0" baseline="0" noProof="0">
                              <a:ln>
                                <a:noFill/>
                              </a:ln>
                              <a:solidFill>
                                <a:prstClr val="black"/>
                              </a:solidFill>
                              <a:effectLst/>
                              <a:uLnTx/>
                              <a:uFillTx/>
                              <a:latin typeface="Cambria Math" panose="02040503050406030204" pitchFamily="18" charset="0"/>
                              <a:ea typeface="Cambria Math" panose="02040503050406030204" pitchFamily="18" charset="0"/>
                              <a:cs typeface="+mn-cs"/>
                            </a:rPr>
                            <m:t>𝜕</m:t>
                          </m:r>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𝑏</m:t>
                          </m:r>
                        </m:den>
                      </m:f>
                      <m:r>
                        <a:rPr kumimoji="0" lang="en-US" altLang="zh-TW" sz="1200" b="0" i="1" u="none" strike="noStrike" kern="1200" cap="none" spc="0" normalizeH="0" baseline="0" noProof="0" smtClean="0">
                          <a:ln>
                            <a:noFill/>
                          </a:ln>
                          <a:solidFill>
                            <a:prstClr val="black"/>
                          </a:solidFill>
                          <a:effectLst/>
                          <a:uLnTx/>
                          <a:uFillTx/>
                          <a:latin typeface="Cambria Math" panose="02040503050406030204" pitchFamily="18" charset="0"/>
                          <a:ea typeface="Cambria Math" panose="02040503050406030204" pitchFamily="18" charset="0"/>
                          <a:cs typeface="+mn-cs"/>
                        </a:rPr>
                        <m:t>=1</m:t>
                      </m:r>
                    </m:oMath>
                  </m:oMathPara>
                </a14:m>
                <a:endPar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endParaRPr>
              </a:p>
            </p:txBody>
          </p:sp>
        </mc:Choice>
        <mc:Fallback xmlns="">
          <p:sp>
            <p:nvSpPr>
              <p:cNvPr id="120" name="文字方塊 119">
                <a:extLst>
                  <a:ext uri="{FF2B5EF4-FFF2-40B4-BE49-F238E27FC236}">
                    <a16:creationId xmlns:a16="http://schemas.microsoft.com/office/drawing/2014/main" id="{F7FC68DD-5ED9-949C-ADEF-7B2B32BF89BF}"/>
                  </a:ext>
                </a:extLst>
              </p:cNvPr>
              <p:cNvSpPr txBox="1">
                <a:spLocks noRot="1" noChangeAspect="1" noMove="1" noResize="1" noEditPoints="1" noAdjustHandles="1" noChangeArrowheads="1" noChangeShapeType="1" noTextEdit="1"/>
              </p:cNvSpPr>
              <p:nvPr/>
            </p:nvSpPr>
            <p:spPr>
              <a:xfrm>
                <a:off x="2780945" y="3099359"/>
                <a:ext cx="1214050" cy="1365310"/>
              </a:xfrm>
              <a:prstGeom prst="rect">
                <a:avLst/>
              </a:prstGeom>
              <a:blipFill>
                <a:blip r:embed="rId7"/>
                <a:stretch>
                  <a:fillRect l="-25628" t="-49107" r="-33668" b="-3571"/>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2" name="文字方塊 121">
                <a:extLst>
                  <a:ext uri="{FF2B5EF4-FFF2-40B4-BE49-F238E27FC236}">
                    <a16:creationId xmlns:a16="http://schemas.microsoft.com/office/drawing/2014/main" id="{E7439828-3872-4A8E-DEBD-FBDB31B91A09}"/>
                  </a:ext>
                </a:extLst>
              </p:cNvPr>
              <p:cNvSpPr txBox="1"/>
              <p:nvPr/>
            </p:nvSpPr>
            <p:spPr>
              <a:xfrm>
                <a:off x="7284512" y="1605349"/>
                <a:ext cx="1684142" cy="52322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n-US" altLang="zh-TW" sz="1400" b="0" i="1" smtClean="0">
                          <a:latin typeface="Cambria Math" panose="02040503050406030204" pitchFamily="18" charset="0"/>
                        </a:rPr>
                        <m:t>𝑎</m:t>
                      </m:r>
                      <m:d>
                        <m:dPr>
                          <m:ctrlPr>
                            <a:rPr lang="en-US" altLang="zh-TW" sz="1400" b="0" i="1">
                              <a:latin typeface="Cambria Math" panose="02040503050406030204" pitchFamily="18" charset="0"/>
                            </a:rPr>
                          </m:ctrlPr>
                        </m:dPr>
                        <m:e>
                          <m:r>
                            <a:rPr lang="en-US" altLang="zh-TW" sz="1400" b="0" i="1" smtClean="0">
                              <a:latin typeface="Cambria Math" panose="02040503050406030204" pitchFamily="18" charset="0"/>
                            </a:rPr>
                            <m:t>𝑧</m:t>
                          </m:r>
                        </m:e>
                      </m:d>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𝑝𝑟𝑒𝑑𝑖𝑐𝑡</m:t>
                      </m:r>
                    </m:oMath>
                  </m:oMathPara>
                </a14:m>
                <a:endParaRPr lang="en-US" altLang="zh-TW" sz="1400" b="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sSub>
                        <m:sSubPr>
                          <m:ctrlPr>
                            <a:rPr lang="en-US" altLang="zh-TW" sz="1400" b="0" i="1" smtClean="0">
                              <a:latin typeface="Cambria Math" panose="02040503050406030204" pitchFamily="18" charset="0"/>
                            </a:rPr>
                          </m:ctrlPr>
                        </m:sSubPr>
                        <m:e>
                          <m:r>
                            <a:rPr lang="en-US" altLang="zh-TW" sz="1400" b="0" i="1" smtClean="0">
                              <a:latin typeface="Cambria Math" panose="02040503050406030204" pitchFamily="18" charset="0"/>
                            </a:rPr>
                            <m:t>𝑦</m:t>
                          </m:r>
                        </m:e>
                        <m:sub>
                          <m:r>
                            <a:rPr lang="en-US" altLang="zh-TW" sz="1400" b="0" i="1" smtClean="0">
                              <a:latin typeface="Cambria Math" panose="02040503050406030204" pitchFamily="18" charset="0"/>
                            </a:rPr>
                            <m:t>𝑡</m:t>
                          </m:r>
                        </m:sub>
                      </m:sSub>
                      <m:r>
                        <a:rPr lang="en-US" altLang="zh-TW" sz="1400" b="0" i="1" smtClean="0">
                          <a:latin typeface="Cambria Math" panose="02040503050406030204" pitchFamily="18" charset="0"/>
                        </a:rPr>
                        <m:t>:</m:t>
                      </m:r>
                      <m:r>
                        <a:rPr lang="en-US" altLang="zh-TW" sz="1400" b="0" i="1" smtClean="0">
                          <a:latin typeface="Cambria Math" panose="02040503050406030204" pitchFamily="18" charset="0"/>
                        </a:rPr>
                        <m:t>𝑟𝑒𝑎𝑙</m:t>
                      </m:r>
                      <m:r>
                        <a:rPr lang="en-US" altLang="zh-TW" sz="1400" b="0" i="1" smtClean="0">
                          <a:latin typeface="Cambria Math" panose="02040503050406030204" pitchFamily="18" charset="0"/>
                        </a:rPr>
                        <m:t> </m:t>
                      </m:r>
                      <m:r>
                        <a:rPr lang="en-US" altLang="zh-TW" sz="1400" b="0" i="1" smtClean="0">
                          <a:latin typeface="Cambria Math" panose="02040503050406030204" pitchFamily="18" charset="0"/>
                        </a:rPr>
                        <m:t>𝑣𝑎𝑙𝑢𝑒</m:t>
                      </m:r>
                    </m:oMath>
                  </m:oMathPara>
                </a14:m>
                <a:endParaRPr lang="en-US" altLang="zh-TW" sz="1400" b="0" i="1" dirty="0">
                  <a:latin typeface="Cambria Math" panose="02040503050406030204" pitchFamily="18" charset="0"/>
                </a:endParaRPr>
              </a:p>
            </p:txBody>
          </p:sp>
        </mc:Choice>
        <mc:Fallback xmlns="">
          <p:sp>
            <p:nvSpPr>
              <p:cNvPr id="122" name="文字方塊 121">
                <a:extLst>
                  <a:ext uri="{FF2B5EF4-FFF2-40B4-BE49-F238E27FC236}">
                    <a16:creationId xmlns:a16="http://schemas.microsoft.com/office/drawing/2014/main" id="{E7439828-3872-4A8E-DEBD-FBDB31B91A09}"/>
                  </a:ext>
                </a:extLst>
              </p:cNvPr>
              <p:cNvSpPr txBox="1">
                <a:spLocks noRot="1" noChangeAspect="1" noMove="1" noResize="1" noEditPoints="1" noAdjustHandles="1" noChangeArrowheads="1" noChangeShapeType="1" noTextEdit="1"/>
              </p:cNvSpPr>
              <p:nvPr/>
            </p:nvSpPr>
            <p:spPr>
              <a:xfrm>
                <a:off x="7284512" y="1605349"/>
                <a:ext cx="1684142" cy="523220"/>
              </a:xfrm>
              <a:prstGeom prst="rect">
                <a:avLst/>
              </a:prstGeom>
              <a:blipFill>
                <a:blip r:embed="rId8"/>
                <a:stretch>
                  <a:fillRect b="-1163"/>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3" name="文字方塊 122">
                <a:extLst>
                  <a:ext uri="{FF2B5EF4-FFF2-40B4-BE49-F238E27FC236}">
                    <a16:creationId xmlns:a16="http://schemas.microsoft.com/office/drawing/2014/main" id="{CCE819DD-F95F-A64B-6F5D-A08144D5D2A1}"/>
                  </a:ext>
                </a:extLst>
              </p:cNvPr>
              <p:cNvSpPr txBox="1"/>
              <p:nvPr/>
            </p:nvSpPr>
            <p:spPr>
              <a:xfrm>
                <a:off x="6704934" y="2995457"/>
                <a:ext cx="2376264" cy="695701"/>
              </a:xfrm>
              <a:prstGeom prst="rect">
                <a:avLst/>
              </a:prstGeom>
              <a:noFill/>
            </p:spPr>
            <p:txBody>
              <a:bodyPr wrap="none" lIns="0" tIns="0" rIns="0" bIns="0" rtlCol="0" anchor="ctr" anchorCtr="0">
                <a:noAutofit/>
              </a:bodyPr>
              <a:lstStyle/>
              <a:p>
                <a:pPr/>
                <a14:m>
                  <m:oMathPara xmlns:m="http://schemas.openxmlformats.org/officeDocument/2006/math">
                    <m:oMathParaPr>
                      <m:jc m:val="left"/>
                    </m:oMathParaPr>
                    <m:oMath xmlns:m="http://schemas.openxmlformats.org/officeDocument/2006/math">
                      <m:r>
                        <m:rPr>
                          <m:sty m:val="p"/>
                        </m:rPr>
                        <a:rPr lang="en-US" altLang="zh-TW" sz="1200" b="0" i="0" smtClean="0">
                          <a:latin typeface="Cambria Math" panose="02040503050406030204" pitchFamily="18" charset="0"/>
                        </a:rPr>
                        <m:t>L</m:t>
                      </m:r>
                      <m:r>
                        <a:rPr lang="en-US" altLang="zh-TW" sz="1200" b="0" i="0" smtClean="0">
                          <a:latin typeface="Cambria Math" panose="02040503050406030204" pitchFamily="18" charset="0"/>
                        </a:rPr>
                        <m:t>=−</m:t>
                      </m:r>
                      <m:d>
                        <m:dPr>
                          <m:begChr m:val="["/>
                          <m:endChr m:val="]"/>
                          <m:ctrlPr>
                            <a:rPr lang="en-US" altLang="zh-TW" sz="1200" b="0" i="1" smtClean="0">
                              <a:latin typeface="Cambria Math" panose="02040503050406030204" pitchFamily="18" charset="0"/>
                            </a:rPr>
                          </m:ctrlPr>
                        </m:dPr>
                        <m:e>
                          <m:sSub>
                            <m:sSubPr>
                              <m:ctrlPr>
                                <a:rPr lang="en-US" altLang="zh-TW" sz="1200" b="0" i="1" smtClean="0">
                                  <a:latin typeface="Cambria Math" panose="02040503050406030204" pitchFamily="18" charset="0"/>
                                </a:rPr>
                              </m:ctrlPr>
                            </m:sSubPr>
                            <m:e>
                              <m:r>
                                <m:rPr>
                                  <m:sty m:val="p"/>
                                </m:rPr>
                                <a:rPr lang="en-US" altLang="zh-TW" sz="1200" b="0" i="0" smtClean="0">
                                  <a:latin typeface="Cambria Math" panose="02040503050406030204" pitchFamily="18" charset="0"/>
                                </a:rPr>
                                <m:t>y</m:t>
                              </m:r>
                            </m:e>
                            <m:sub>
                              <m:r>
                                <m:rPr>
                                  <m:sty m:val="p"/>
                                </m:rPr>
                                <a:rPr lang="en-US" altLang="zh-TW" sz="1200" b="0" i="0" smtClean="0">
                                  <a:latin typeface="Cambria Math" panose="02040503050406030204" pitchFamily="18" charset="0"/>
                                </a:rPr>
                                <m:t>t</m:t>
                              </m:r>
                            </m:sub>
                          </m:sSub>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m:rPr>
                                      <m:sty m:val="p"/>
                                    </m:rPr>
                                    <a:rPr lang="en-US" altLang="zh-TW" sz="1200" b="0" i="0" smtClean="0">
                                      <a:latin typeface="Cambria Math" panose="02040503050406030204" pitchFamily="18" charset="0"/>
                                    </a:rPr>
                                    <m:t>a</m:t>
                                  </m:r>
                                </m:e>
                              </m:d>
                            </m:e>
                          </m:func>
                          <m:r>
                            <a:rPr lang="en-US" altLang="zh-TW" sz="1200" b="0" i="0" smtClean="0">
                              <a:latin typeface="Cambria Math" panose="02040503050406030204" pitchFamily="18" charset="0"/>
                            </a:rPr>
                            <m:t>+</m:t>
                          </m:r>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sSub>
                                <m:sSubPr>
                                  <m:ctrlPr>
                                    <a:rPr lang="en-US" altLang="zh-TW" sz="1200" i="1">
                                      <a:latin typeface="Cambria Math" panose="02040503050406030204" pitchFamily="18" charset="0"/>
                                    </a:rPr>
                                  </m:ctrlPr>
                                </m:sSubPr>
                                <m:e>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e>
                          </m:d>
                          <m:func>
                            <m:funcPr>
                              <m:ctrlPr>
                                <a:rPr lang="en-US" altLang="zh-TW" sz="1200" b="0" i="1" smtClean="0">
                                  <a:latin typeface="Cambria Math" panose="02040503050406030204" pitchFamily="18" charset="0"/>
                                </a:rPr>
                              </m:ctrlPr>
                            </m:funcPr>
                            <m:fName>
                              <m:r>
                                <m:rPr>
                                  <m:sty m:val="p"/>
                                </m:rPr>
                                <a:rPr lang="en-US" altLang="zh-TW" sz="1200" b="0" i="0" smtClean="0">
                                  <a:latin typeface="Cambria Math" panose="02040503050406030204" pitchFamily="18" charset="0"/>
                                </a:rPr>
                                <m:t>ln</m:t>
                              </m:r>
                            </m:fName>
                            <m:e>
                              <m:d>
                                <m:dPr>
                                  <m:ctrlPr>
                                    <a:rPr lang="en-US" altLang="zh-TW" sz="1200" b="0" i="1" smtClean="0">
                                      <a:latin typeface="Cambria Math" panose="02040503050406030204" pitchFamily="18" charset="0"/>
                                    </a:rPr>
                                  </m:ctrlPr>
                                </m:dPr>
                                <m:e>
                                  <m:r>
                                    <a:rPr lang="en-US" altLang="zh-TW" sz="1200" b="0" i="0" smtClean="0">
                                      <a:latin typeface="Cambria Math" panose="02040503050406030204" pitchFamily="18" charset="0"/>
                                    </a:rPr>
                                    <m:t>1−</m:t>
                                  </m:r>
                                  <m:r>
                                    <m:rPr>
                                      <m:sty m:val="p"/>
                                    </m:rPr>
                                    <a:rPr lang="en-US" altLang="zh-TW" sz="1200" b="0" i="0" smtClean="0">
                                      <a:latin typeface="Cambria Math" panose="02040503050406030204" pitchFamily="18" charset="0"/>
                                    </a:rPr>
                                    <m:t>a</m:t>
                                  </m:r>
                                </m:e>
                              </m:d>
                            </m:e>
                          </m:func>
                        </m:e>
                      </m:d>
                    </m:oMath>
                  </m:oMathPara>
                </a14:m>
                <a:endParaRPr lang="en-US" altLang="zh-TW" sz="1200" b="0" dirty="0">
                  <a:latin typeface="Cambria Math" panose="02040503050406030204" pitchFamily="18" charset="0"/>
                </a:endParaRPr>
              </a:p>
              <a:p>
                <a:endParaRPr lang="en-US" altLang="zh-TW" sz="1200" b="0" dirty="0">
                  <a:latin typeface="Cambria Math" panose="02040503050406030204" pitchFamily="18" charset="0"/>
                </a:endParaRPr>
              </a:p>
              <a:p>
                <a:pPr/>
                <a14:m>
                  <m:oMathPara xmlns:m="http://schemas.openxmlformats.org/officeDocument/2006/math">
                    <m:oMathParaPr>
                      <m:jc m:val="left"/>
                    </m:oMathParaPr>
                    <m:oMath xmlns:m="http://schemas.openxmlformats.org/officeDocument/2006/math">
                      <m:sSup>
                        <m:sSupPr>
                          <m:ctrlPr>
                            <a:rPr lang="en-US" altLang="zh-TW" sz="1200" b="0" i="1" smtClean="0">
                              <a:latin typeface="Cambria Math" panose="02040503050406030204" pitchFamily="18" charset="0"/>
                            </a:rPr>
                          </m:ctrlPr>
                        </m:sSupPr>
                        <m:e>
                          <m:r>
                            <m:rPr>
                              <m:sty m:val="p"/>
                            </m:rPr>
                            <a:rPr lang="en-US" altLang="zh-TW" sz="1200" b="0" i="0" smtClean="0">
                              <a:latin typeface="Cambria Math" panose="02040503050406030204" pitchFamily="18" charset="0"/>
                            </a:rPr>
                            <m:t>L</m:t>
                          </m:r>
                        </m:e>
                        <m:sup>
                          <m:r>
                            <a:rPr lang="en-US" altLang="zh-TW" sz="1200" b="0" i="0" smtClean="0">
                              <a:latin typeface="Cambria Math" panose="02040503050406030204" pitchFamily="18" charset="0"/>
                            </a:rPr>
                            <m:t>′</m:t>
                          </m:r>
                        </m:sup>
                      </m:sSup>
                      <m:r>
                        <a:rPr lang="en-US" altLang="zh-TW" sz="1200" b="0" i="0" smtClean="0">
                          <a:latin typeface="Cambria Math" panose="02040503050406030204" pitchFamily="18" charset="0"/>
                        </a:rPr>
                        <m:t>=</m:t>
                      </m:r>
                      <m:f>
                        <m:fPr>
                          <m:ctrlPr>
                            <a:rPr lang="en-US" altLang="zh-TW" sz="1200" i="1">
                              <a:latin typeface="Cambria Math" panose="02040503050406030204" pitchFamily="18" charset="0"/>
                            </a:rPr>
                          </m:ctrlPr>
                        </m:fPr>
                        <m:num>
                          <m:sSub>
                            <m:sSubPr>
                              <m:ctrlPr>
                                <a:rPr lang="en-US" altLang="zh-TW" sz="1200" i="1">
                                  <a:latin typeface="Cambria Math" panose="02040503050406030204" pitchFamily="18" charset="0"/>
                                </a:rPr>
                              </m:ctrlPr>
                            </m:sSubPr>
                            <m:e>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rPr>
                                <m:t>−</m:t>
                              </m:r>
                              <m:r>
                                <m:rPr>
                                  <m:sty m:val="p"/>
                                </m:rPr>
                                <a:rPr lang="en-US" altLang="zh-TW" sz="1200" i="0">
                                  <a:latin typeface="Cambria Math" panose="02040503050406030204" pitchFamily="18" charset="0"/>
                                </a:rPr>
                                <m:t>y</m:t>
                              </m:r>
                            </m:e>
                            <m:sub>
                              <m:r>
                                <m:rPr>
                                  <m:sty m:val="p"/>
                                </m:rPr>
                                <a:rPr lang="en-US" altLang="zh-TW" sz="1200" i="0">
                                  <a:latin typeface="Cambria Math" panose="02040503050406030204" pitchFamily="18" charset="0"/>
                                </a:rPr>
                                <m:t>t</m:t>
                              </m:r>
                            </m:sub>
                          </m:sSub>
                        </m:num>
                        <m:den>
                          <m:r>
                            <m:rPr>
                              <m:sty m:val="p"/>
                            </m:rPr>
                            <a:rPr lang="en-US" altLang="zh-TW" sz="1200" b="0" i="0" smtClean="0">
                              <a:latin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⋅(1−</m:t>
                          </m:r>
                          <m:r>
                            <m:rPr>
                              <m:sty m:val="p"/>
                            </m:rPr>
                            <a:rPr lang="en-US" altLang="zh-TW" sz="1200" b="0" i="0" smtClean="0">
                              <a:latin typeface="Cambria Math" panose="02040503050406030204" pitchFamily="18" charset="0"/>
                              <a:ea typeface="Cambria Math" panose="02040503050406030204" pitchFamily="18" charset="0"/>
                            </a:rPr>
                            <m:t>a</m:t>
                          </m:r>
                          <m:r>
                            <a:rPr lang="en-US" altLang="zh-TW" sz="1200" b="0" i="0" smtClean="0">
                              <a:latin typeface="Cambria Math" panose="02040503050406030204" pitchFamily="18" charset="0"/>
                              <a:ea typeface="Cambria Math" panose="02040503050406030204" pitchFamily="18" charset="0"/>
                            </a:rPr>
                            <m:t>)</m:t>
                          </m:r>
                        </m:den>
                      </m:f>
                    </m:oMath>
                  </m:oMathPara>
                </a14:m>
                <a:endParaRPr lang="en-US" altLang="zh-TW" sz="1200" b="0" dirty="0"/>
              </a:p>
            </p:txBody>
          </p:sp>
        </mc:Choice>
        <mc:Fallback xmlns="">
          <p:sp>
            <p:nvSpPr>
              <p:cNvPr id="123" name="文字方塊 122">
                <a:extLst>
                  <a:ext uri="{FF2B5EF4-FFF2-40B4-BE49-F238E27FC236}">
                    <a16:creationId xmlns:a16="http://schemas.microsoft.com/office/drawing/2014/main" id="{CCE819DD-F95F-A64B-6F5D-A08144D5D2A1}"/>
                  </a:ext>
                </a:extLst>
              </p:cNvPr>
              <p:cNvSpPr txBox="1">
                <a:spLocks noRot="1" noChangeAspect="1" noMove="1" noResize="1" noEditPoints="1" noAdjustHandles="1" noChangeArrowheads="1" noChangeShapeType="1" noTextEdit="1"/>
              </p:cNvSpPr>
              <p:nvPr/>
            </p:nvSpPr>
            <p:spPr>
              <a:xfrm>
                <a:off x="6704934" y="2995457"/>
                <a:ext cx="2376264" cy="695701"/>
              </a:xfrm>
              <a:prstGeom prst="rect">
                <a:avLst/>
              </a:prstGeom>
              <a:blipFill>
                <a:blip r:embed="rId9"/>
                <a:stretch>
                  <a:fillRect l="-2308" b="-12174"/>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124" name="文字方塊 123">
                <a:extLst>
                  <a:ext uri="{FF2B5EF4-FFF2-40B4-BE49-F238E27FC236}">
                    <a16:creationId xmlns:a16="http://schemas.microsoft.com/office/drawing/2014/main" id="{9F52FA95-A20A-981C-D8D3-51145139B703}"/>
                  </a:ext>
                </a:extLst>
              </p:cNvPr>
              <p:cNvSpPr txBox="1"/>
              <p:nvPr/>
            </p:nvSpPr>
            <p:spPr>
              <a:xfrm>
                <a:off x="5580112" y="3861048"/>
                <a:ext cx="1913336" cy="707886"/>
              </a:xfrm>
              <a:prstGeom prst="rect">
                <a:avLst/>
              </a:prstGeom>
              <a:noFill/>
            </p:spPr>
            <p:txBody>
              <a:bodyPr wrap="square">
                <a:spAutoFit/>
              </a:bodyPr>
              <a:lstStyle/>
              <a:p>
                <a:r>
                  <a:rPr lang="en-US" altLang="zh-TW" sz="1200" dirty="0">
                    <a:solidFill>
                      <a:schemeClr val="accent2">
                        <a:lumMod val="75000"/>
                      </a:schemeClr>
                    </a:solidFill>
                    <a:latin typeface="Cambria Math" panose="02040503050406030204" pitchFamily="18" charset="0"/>
                  </a:rPr>
                  <a:t>Sigmoid + Cross Entropy:</a:t>
                </a:r>
              </a:p>
              <a:p>
                <a:pPr algn="ctr"/>
                <a14:m>
                  <m:oMathPara xmlns:m="http://schemas.openxmlformats.org/officeDocument/2006/math">
                    <m:oMathParaPr>
                      <m:jc m:val="centerGroup"/>
                    </m:oMathParaPr>
                    <m:oMath xmlns:m="http://schemas.openxmlformats.org/officeDocument/2006/math">
                      <m:r>
                        <m:rPr>
                          <m:sty m:val="p"/>
                        </m:rPr>
                        <a:rPr lang="zh-TW" altLang="en-US" sz="1400" i="1" smtClean="0">
                          <a:latin typeface="Cambria Math" panose="02040503050406030204" pitchFamily="18" charset="0"/>
                        </a:rPr>
                        <m:t>∇</m:t>
                      </m:r>
                      <m:r>
                        <a:rPr lang="en-US" altLang="zh-TW" sz="1400" b="0" i="1" smtClean="0">
                          <a:latin typeface="Cambria Math" panose="02040503050406030204" pitchFamily="18" charset="0"/>
                        </a:rPr>
                        <m:t>𝑓</m:t>
                      </m:r>
                      <m:d>
                        <m:dPr>
                          <m:ctrlPr>
                            <a:rPr lang="en-US" altLang="zh-TW" sz="1400" b="0" i="1" smtClean="0">
                              <a:latin typeface="Cambria Math" panose="02040503050406030204" pitchFamily="18" charset="0"/>
                            </a:rPr>
                          </m:ctrlPr>
                        </m:dPr>
                        <m:e>
                          <m:r>
                            <a:rPr lang="en-US" altLang="zh-TW" sz="1400" b="0" i="1" smtClean="0">
                              <a:latin typeface="Cambria Math" panose="02040503050406030204" pitchFamily="18" charset="0"/>
                            </a:rPr>
                            <m:t>𝑤</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𝑥</m:t>
                      </m:r>
                      <m:d>
                        <m:dPr>
                          <m:ctrlPr>
                            <a:rPr lang="en-US" altLang="zh-TW" sz="1400" b="0" i="1" smtClean="0">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a:p>
                <a:pPr algn="ctr"/>
                <a14:m>
                  <m:oMathPara xmlns:m="http://schemas.openxmlformats.org/officeDocument/2006/math">
                    <m:oMathParaPr>
                      <m:jc m:val="centerGroup"/>
                    </m:oMathParaPr>
                    <m:oMath xmlns:m="http://schemas.openxmlformats.org/officeDocument/2006/math">
                      <m:r>
                        <m:rPr>
                          <m:sty m:val="p"/>
                        </m:rPr>
                        <a:rPr lang="zh-TW" altLang="en-US" sz="1400" i="1">
                          <a:latin typeface="Cambria Math" panose="02040503050406030204" pitchFamily="18" charset="0"/>
                        </a:rPr>
                        <m:t>∇</m:t>
                      </m:r>
                      <m:r>
                        <a:rPr lang="en-US" altLang="zh-TW" sz="1400" i="1">
                          <a:latin typeface="Cambria Math" panose="02040503050406030204" pitchFamily="18" charset="0"/>
                        </a:rPr>
                        <m:t>𝑓</m:t>
                      </m:r>
                      <m:d>
                        <m:dPr>
                          <m:ctrlPr>
                            <a:rPr lang="en-US" altLang="zh-TW" sz="1400" i="1">
                              <a:latin typeface="Cambria Math" panose="02040503050406030204" pitchFamily="18" charset="0"/>
                            </a:rPr>
                          </m:ctrlPr>
                        </m:dPr>
                        <m:e>
                          <m:r>
                            <a:rPr lang="en-US" altLang="zh-TW" sz="1400" b="0" i="1" smtClean="0">
                              <a:latin typeface="Cambria Math" panose="02040503050406030204" pitchFamily="18" charset="0"/>
                            </a:rPr>
                            <m:t>𝑏</m:t>
                          </m:r>
                        </m:e>
                      </m:d>
                      <m:r>
                        <a:rPr lang="en-US" altLang="zh-TW" sz="1400" i="1">
                          <a:latin typeface="Cambria Math" panose="02040503050406030204" pitchFamily="18" charset="0"/>
                          <a:ea typeface="Cambria Math" panose="02040503050406030204" pitchFamily="18" charset="0"/>
                        </a:rPr>
                        <m:t>=</m:t>
                      </m:r>
                      <m:r>
                        <a:rPr lang="en-US" altLang="zh-TW" sz="1400" b="0" i="1" smtClean="0">
                          <a:latin typeface="Cambria Math" panose="02040503050406030204" pitchFamily="18" charset="0"/>
                          <a:ea typeface="Cambria Math" panose="02040503050406030204" pitchFamily="18" charset="0"/>
                        </a:rPr>
                        <m:t>1</m:t>
                      </m:r>
                      <m:d>
                        <m:dPr>
                          <m:ctrlPr>
                            <a:rPr lang="en-US" altLang="zh-TW" sz="1400" i="1">
                              <a:latin typeface="Cambria Math" panose="02040503050406030204" pitchFamily="18" charset="0"/>
                              <a:ea typeface="Cambria Math" panose="02040503050406030204" pitchFamily="18" charset="0"/>
                            </a:rPr>
                          </m:ctrlPr>
                        </m:dPr>
                        <m:e>
                          <m:sSub>
                            <m:sSubPr>
                              <m:ctrlPr>
                                <a:rPr lang="en-US" altLang="zh-TW" sz="1400" i="1">
                                  <a:latin typeface="Cambria Math" panose="02040503050406030204" pitchFamily="18" charset="0"/>
                                </a:rPr>
                              </m:ctrlPr>
                            </m:sSubPr>
                            <m:e>
                              <m:r>
                                <m:rPr>
                                  <m:sty m:val="p"/>
                                </m:rPr>
                                <a:rPr lang="en-US" altLang="zh-TW" sz="1400">
                                  <a:latin typeface="Cambria Math" panose="02040503050406030204" pitchFamily="18" charset="0"/>
                                </a:rPr>
                                <m:t>a</m:t>
                              </m:r>
                              <m:r>
                                <a:rPr lang="en-US" altLang="zh-TW" sz="1400">
                                  <a:latin typeface="Cambria Math" panose="02040503050406030204" pitchFamily="18" charset="0"/>
                                </a:rPr>
                                <m:t>−</m:t>
                              </m:r>
                              <m:r>
                                <m:rPr>
                                  <m:sty m:val="p"/>
                                </m:rPr>
                                <a:rPr lang="en-US" altLang="zh-TW" sz="1400">
                                  <a:latin typeface="Cambria Math" panose="02040503050406030204" pitchFamily="18" charset="0"/>
                                </a:rPr>
                                <m:t>y</m:t>
                              </m:r>
                            </m:e>
                            <m:sub>
                              <m:r>
                                <m:rPr>
                                  <m:sty m:val="p"/>
                                </m:rPr>
                                <a:rPr lang="en-US" altLang="zh-TW" sz="1400">
                                  <a:latin typeface="Cambria Math" panose="02040503050406030204" pitchFamily="18" charset="0"/>
                                </a:rPr>
                                <m:t>t</m:t>
                              </m:r>
                            </m:sub>
                          </m:sSub>
                        </m:e>
                      </m:d>
                    </m:oMath>
                  </m:oMathPara>
                </a14:m>
                <a:endParaRPr lang="en-US" altLang="zh-TW" sz="1400" i="1" dirty="0">
                  <a:latin typeface="Cambria Math" panose="02040503050406030204" pitchFamily="18" charset="0"/>
                </a:endParaRPr>
              </a:p>
            </p:txBody>
          </p:sp>
        </mc:Choice>
        <mc:Fallback xmlns="">
          <p:sp>
            <p:nvSpPr>
              <p:cNvPr id="124" name="文字方塊 123">
                <a:extLst>
                  <a:ext uri="{FF2B5EF4-FFF2-40B4-BE49-F238E27FC236}">
                    <a16:creationId xmlns:a16="http://schemas.microsoft.com/office/drawing/2014/main" id="{9F52FA95-A20A-981C-D8D3-51145139B703}"/>
                  </a:ext>
                </a:extLst>
              </p:cNvPr>
              <p:cNvSpPr txBox="1">
                <a:spLocks noRot="1" noChangeAspect="1" noMove="1" noResize="1" noEditPoints="1" noAdjustHandles="1" noChangeArrowheads="1" noChangeShapeType="1" noTextEdit="1"/>
              </p:cNvSpPr>
              <p:nvPr/>
            </p:nvSpPr>
            <p:spPr>
              <a:xfrm>
                <a:off x="5580112" y="3861048"/>
                <a:ext cx="1913336" cy="707886"/>
              </a:xfrm>
              <a:prstGeom prst="rect">
                <a:avLst/>
              </a:prstGeom>
              <a:blipFill>
                <a:blip r:embed="rId10"/>
                <a:stretch>
                  <a:fillRect b="-3448"/>
                </a:stretch>
              </a:blipFill>
            </p:spPr>
            <p:txBody>
              <a:bodyPr/>
              <a:lstStyle/>
              <a:p>
                <a:r>
                  <a:rPr lang="zh-TW" altLang="en-US">
                    <a:noFill/>
                  </a:rPr>
                  <a:t> </a:t>
                </a:r>
              </a:p>
            </p:txBody>
          </p:sp>
        </mc:Fallback>
      </mc:AlternateContent>
      <mc:AlternateContent xmlns:mc="http://schemas.openxmlformats.org/markup-compatibility/2006" xmlns:a14="http://schemas.microsoft.com/office/drawing/2010/main">
        <mc:Choice Requires="a14">
          <p:sp>
            <p:nvSpPr>
              <p:cNvPr id="3" name="文字方塊 2">
                <a:extLst>
                  <a:ext uri="{FF2B5EF4-FFF2-40B4-BE49-F238E27FC236}">
                    <a16:creationId xmlns:a16="http://schemas.microsoft.com/office/drawing/2014/main" id="{DBA277BE-F61B-BF6A-07EC-925865E5D47A}"/>
                  </a:ext>
                </a:extLst>
              </p:cNvPr>
              <p:cNvSpPr txBox="1"/>
              <p:nvPr/>
            </p:nvSpPr>
            <p:spPr>
              <a:xfrm>
                <a:off x="4704714" y="5562807"/>
                <a:ext cx="4263940" cy="830997"/>
              </a:xfrm>
              <a:prstGeom prst="rect">
                <a:avLst/>
              </a:prstGeom>
              <a:noFill/>
            </p:spPr>
            <p:txBody>
              <a:bodyPr wrap="square">
                <a:spAutoFit/>
              </a:bodyPr>
              <a:lstStyle/>
              <a:p>
                <a:pPr algn="ctr"/>
                <a:r>
                  <a:rPr lang="el-GR" altLang="zh-TW" sz="1200" dirty="0"/>
                  <a:t>η</a:t>
                </a:r>
                <a:r>
                  <a:rPr lang="en-US" altLang="zh-TW" sz="1200" dirty="0"/>
                  <a:t>=0.015</a:t>
                </a:r>
              </a:p>
              <a:p>
                <a:pPr algn="ctr"/>
                <a:r>
                  <a:rPr lang="en-US" altLang="zh-TW" sz="1200" dirty="0"/>
                  <a:t>x= 10, a=0.73, y</a:t>
                </a:r>
                <a:r>
                  <a:rPr lang="en-US" altLang="zh-TW" sz="1200" baseline="-25000" dirty="0"/>
                  <a:t>t</a:t>
                </a:r>
                <a:r>
                  <a:rPr lang="en-US" altLang="zh-TW" sz="1200" dirty="0"/>
                  <a:t>=0.15</a:t>
                </a: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𝑤</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𝑥</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b="0" i="1" smtClean="0">
                            <a:latin typeface="Cambria Math" panose="02040503050406030204" pitchFamily="18" charset="0"/>
                          </a:rPr>
                          <m:t>1</m:t>
                        </m:r>
                      </m:e>
                    </m:d>
                  </m:oMath>
                </a14:m>
                <a:r>
                  <a:rPr lang="en-US" altLang="zh-TW" sz="1200" dirty="0">
                    <a:ea typeface="Cambria Math" panose="02040503050406030204" pitchFamily="18" charset="0"/>
                  </a:rPr>
                  <a:t>= 0.015*10*(-0.27) =0.04</a:t>
                </a:r>
                <a:endParaRPr lang="en-US" altLang="zh-TW" sz="1200" i="1" dirty="0">
                  <a:latin typeface="Cambria Math" panose="02040503050406030204" pitchFamily="18" charset="0"/>
                </a:endParaRPr>
              </a:p>
              <a:p>
                <a:pPr algn="ctr"/>
                <a14:m>
                  <m:oMath xmlns:m="http://schemas.openxmlformats.org/officeDocument/2006/math">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m:rPr>
                        <m:sty m:val="p"/>
                      </m:rPr>
                      <a:rPr lang="zh-TW" altLang="en-US" sz="1200" i="1">
                        <a:latin typeface="Cambria Math" panose="02040503050406030204" pitchFamily="18" charset="0"/>
                      </a:rPr>
                      <m:t>∇</m:t>
                    </m:r>
                    <m:r>
                      <a:rPr lang="en-US" altLang="zh-TW" sz="1200" i="1">
                        <a:latin typeface="Cambria Math" panose="02040503050406030204" pitchFamily="18" charset="0"/>
                      </a:rPr>
                      <m:t>𝑓</m:t>
                    </m:r>
                    <m:d>
                      <m:dPr>
                        <m:ctrlPr>
                          <a:rPr lang="en-US" altLang="zh-TW" sz="1200" i="1">
                            <a:latin typeface="Cambria Math" panose="02040503050406030204" pitchFamily="18" charset="0"/>
                          </a:rPr>
                        </m:ctrlPr>
                      </m:dPr>
                      <m:e>
                        <m:r>
                          <a:rPr lang="en-US" altLang="zh-TW" sz="1200" i="1">
                            <a:latin typeface="Cambria Math" panose="02040503050406030204" pitchFamily="18" charset="0"/>
                          </a:rPr>
                          <m:t>𝑏</m:t>
                        </m:r>
                      </m:e>
                    </m:d>
                    <m:r>
                      <a:rPr lang="en-US" altLang="zh-TW" sz="1200" i="1">
                        <a:latin typeface="Cambria Math" panose="02040503050406030204" pitchFamily="18" charset="0"/>
                        <a:ea typeface="Cambria Math" panose="02040503050406030204" pitchFamily="18" charset="0"/>
                      </a:rPr>
                      <m:t>=</m:t>
                    </m:r>
                    <m:r>
                      <a:rPr lang="zh-TW" altLang="en-US" sz="1200" i="1">
                        <a:latin typeface="Cambria Math" panose="02040503050406030204" pitchFamily="18" charset="0"/>
                        <a:ea typeface="Cambria Math" panose="02040503050406030204" pitchFamily="18" charset="0"/>
                      </a:rPr>
                      <m:t>𝜂</m:t>
                    </m:r>
                    <m:r>
                      <a:rPr lang="en-US" altLang="zh-TW" sz="1200" b="0" i="1" smtClean="0">
                        <a:latin typeface="Cambria Math" panose="02040503050406030204" pitchFamily="18" charset="0"/>
                        <a:ea typeface="Cambria Math" panose="02040503050406030204" pitchFamily="18" charset="0"/>
                      </a:rPr>
                      <m:t>∗</m:t>
                    </m:r>
                    <m:r>
                      <a:rPr lang="en-US" altLang="zh-TW" sz="1200" i="1">
                        <a:latin typeface="Cambria Math" panose="02040503050406030204" pitchFamily="18" charset="0"/>
                        <a:ea typeface="Cambria Math" panose="02040503050406030204" pitchFamily="18" charset="0"/>
                      </a:rPr>
                      <m:t>1</m:t>
                    </m:r>
                    <m:r>
                      <a:rPr lang="en-US" altLang="zh-TW" sz="1200" b="0" i="1" smtClean="0">
                        <a:latin typeface="Cambria Math" panose="02040503050406030204" pitchFamily="18" charset="0"/>
                        <a:ea typeface="Cambria Math" panose="02040503050406030204" pitchFamily="18" charset="0"/>
                      </a:rPr>
                      <m:t>∗</m:t>
                    </m:r>
                    <m:d>
                      <m:dPr>
                        <m:ctrlPr>
                          <a:rPr lang="en-US" altLang="zh-TW" sz="1200" i="1">
                            <a:latin typeface="Cambria Math" panose="02040503050406030204" pitchFamily="18" charset="0"/>
                            <a:ea typeface="Cambria Math" panose="02040503050406030204" pitchFamily="18" charset="0"/>
                          </a:rPr>
                        </m:ctrlPr>
                      </m:dPr>
                      <m:e>
                        <m:r>
                          <a:rPr lang="en-US" altLang="zh-TW" sz="1200" b="0" i="1" smtClean="0">
                            <a:latin typeface="Cambria Math" panose="02040503050406030204" pitchFamily="18" charset="0"/>
                            <a:ea typeface="Cambria Math" panose="02040503050406030204" pitchFamily="18" charset="0"/>
                          </a:rPr>
                          <m:t>0.73−</m:t>
                        </m:r>
                        <m:r>
                          <a:rPr lang="en-US" altLang="zh-TW" sz="1200" i="1" smtClean="0">
                            <a:latin typeface="Cambria Math" panose="02040503050406030204" pitchFamily="18" charset="0"/>
                          </a:rPr>
                          <m:t>1</m:t>
                        </m:r>
                      </m:e>
                    </m:d>
                  </m:oMath>
                </a14:m>
                <a:r>
                  <a:rPr lang="en-US" altLang="zh-TW" sz="1200" b="0" dirty="0">
                    <a:ea typeface="Cambria Math" panose="02040503050406030204" pitchFamily="18" charset="0"/>
                  </a:rPr>
                  <a:t> = 0.015*1*(-0.27) =0.004</a:t>
                </a:r>
              </a:p>
            </p:txBody>
          </p:sp>
        </mc:Choice>
        <mc:Fallback xmlns="">
          <p:sp>
            <p:nvSpPr>
              <p:cNvPr id="3" name="文字方塊 2">
                <a:extLst>
                  <a:ext uri="{FF2B5EF4-FFF2-40B4-BE49-F238E27FC236}">
                    <a16:creationId xmlns:a16="http://schemas.microsoft.com/office/drawing/2014/main" id="{DBA277BE-F61B-BF6A-07EC-925865E5D47A}"/>
                  </a:ext>
                </a:extLst>
              </p:cNvPr>
              <p:cNvSpPr txBox="1">
                <a:spLocks noRot="1" noChangeAspect="1" noMove="1" noResize="1" noEditPoints="1" noAdjustHandles="1" noChangeArrowheads="1" noChangeShapeType="1" noTextEdit="1"/>
              </p:cNvSpPr>
              <p:nvPr/>
            </p:nvSpPr>
            <p:spPr>
              <a:xfrm>
                <a:off x="4704714" y="5562807"/>
                <a:ext cx="4263940" cy="830997"/>
              </a:xfrm>
              <a:prstGeom prst="rect">
                <a:avLst/>
              </a:prstGeom>
              <a:blipFill>
                <a:blip r:embed="rId11"/>
                <a:stretch>
                  <a:fillRect t="-735" b="-5147"/>
                </a:stretch>
              </a:blipFill>
            </p:spPr>
            <p:txBody>
              <a:bodyPr/>
              <a:lstStyle/>
              <a:p>
                <a:r>
                  <a:rPr lang="zh-TW" altLang="en-US">
                    <a:noFill/>
                  </a:rPr>
                  <a:t> </a:t>
                </a:r>
              </a:p>
            </p:txBody>
          </p:sp>
        </mc:Fallback>
      </mc:AlternateContent>
      <p:pic>
        <p:nvPicPr>
          <p:cNvPr id="11" name="圖片 10">
            <a:extLst>
              <a:ext uri="{FF2B5EF4-FFF2-40B4-BE49-F238E27FC236}">
                <a16:creationId xmlns:a16="http://schemas.microsoft.com/office/drawing/2014/main" id="{7D4C676D-924C-A274-2059-94F73F9EE304}"/>
              </a:ext>
            </a:extLst>
          </p:cNvPr>
          <p:cNvPicPr>
            <a:picLocks noChangeAspect="1"/>
          </p:cNvPicPr>
          <p:nvPr/>
        </p:nvPicPr>
        <p:blipFill>
          <a:blip r:embed="rId12"/>
          <a:stretch>
            <a:fillRect/>
          </a:stretch>
        </p:blipFill>
        <p:spPr>
          <a:xfrm>
            <a:off x="2715198" y="5003146"/>
            <a:ext cx="910956" cy="231354"/>
          </a:xfrm>
          <a:prstGeom prst="rect">
            <a:avLst/>
          </a:prstGeom>
        </p:spPr>
      </p:pic>
      <p:sp>
        <p:nvSpPr>
          <p:cNvPr id="14" name="矩形 13">
            <a:extLst>
              <a:ext uri="{FF2B5EF4-FFF2-40B4-BE49-F238E27FC236}">
                <a16:creationId xmlns:a16="http://schemas.microsoft.com/office/drawing/2014/main" id="{0792AAAB-B316-C0B2-B358-E8FBCB0EB9EC}"/>
              </a:ext>
            </a:extLst>
          </p:cNvPr>
          <p:cNvSpPr/>
          <p:nvPr/>
        </p:nvSpPr>
        <p:spPr>
          <a:xfrm>
            <a:off x="260957" y="4495115"/>
            <a:ext cx="665604" cy="231354"/>
          </a:xfrm>
          <a:prstGeom prst="rect">
            <a:avLst/>
          </a:prstGeom>
          <a:noFill/>
          <a:ln w="12700">
            <a:solidFill>
              <a:schemeClr val="bg1">
                <a:lumMod val="7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altLang="zh-TW" sz="1600" b="1" dirty="0">
                <a:solidFill>
                  <a:srgbClr val="7030A0"/>
                </a:solidFill>
              </a:rPr>
              <a:t>y</a:t>
            </a:r>
            <a:r>
              <a:rPr lang="en-US" altLang="zh-TW" sz="1600" b="1" baseline="-25000" dirty="0">
                <a:solidFill>
                  <a:srgbClr val="7030A0"/>
                </a:solidFill>
              </a:rPr>
              <a:t>t</a:t>
            </a:r>
            <a:r>
              <a:rPr lang="en-US" altLang="zh-TW" sz="1600" b="1" dirty="0">
                <a:solidFill>
                  <a:srgbClr val="7030A0"/>
                </a:solidFill>
              </a:rPr>
              <a:t>=1</a:t>
            </a:r>
            <a:endParaRPr lang="zh-TW" altLang="en-US" sz="1600" b="1" dirty="0">
              <a:solidFill>
                <a:srgbClr val="7030A0"/>
              </a:solidFill>
            </a:endParaRPr>
          </a:p>
        </p:txBody>
      </p:sp>
      <p:pic>
        <p:nvPicPr>
          <p:cNvPr id="16" name="圖片 15">
            <a:extLst>
              <a:ext uri="{FF2B5EF4-FFF2-40B4-BE49-F238E27FC236}">
                <a16:creationId xmlns:a16="http://schemas.microsoft.com/office/drawing/2014/main" id="{4AFE90C8-423A-9A96-987D-615F83BB846F}"/>
              </a:ext>
            </a:extLst>
          </p:cNvPr>
          <p:cNvPicPr>
            <a:picLocks noChangeAspect="1"/>
          </p:cNvPicPr>
          <p:nvPr/>
        </p:nvPicPr>
        <p:blipFill>
          <a:blip r:embed="rId13"/>
          <a:stretch>
            <a:fillRect/>
          </a:stretch>
        </p:blipFill>
        <p:spPr>
          <a:xfrm>
            <a:off x="3043330" y="5668727"/>
            <a:ext cx="1538542" cy="461563"/>
          </a:xfrm>
          <a:prstGeom prst="rect">
            <a:avLst/>
          </a:prstGeom>
          <a:ln w="15875">
            <a:solidFill>
              <a:schemeClr val="accent2"/>
            </a:solidFill>
          </a:ln>
          <a:effectLst>
            <a:glow rad="25400">
              <a:schemeClr val="accent2">
                <a:lumMod val="40000"/>
                <a:lumOff val="60000"/>
              </a:schemeClr>
            </a:glow>
            <a:softEdge rad="25400"/>
          </a:effectLst>
        </p:spPr>
      </p:pic>
      <p:pic>
        <p:nvPicPr>
          <p:cNvPr id="20" name="圖片 19">
            <a:extLst>
              <a:ext uri="{FF2B5EF4-FFF2-40B4-BE49-F238E27FC236}">
                <a16:creationId xmlns:a16="http://schemas.microsoft.com/office/drawing/2014/main" id="{8770D11E-B30F-0798-1DF2-2DF5A09F099A}"/>
              </a:ext>
            </a:extLst>
          </p:cNvPr>
          <p:cNvPicPr>
            <a:picLocks noChangeAspect="1"/>
          </p:cNvPicPr>
          <p:nvPr/>
        </p:nvPicPr>
        <p:blipFill>
          <a:blip r:embed="rId14"/>
          <a:stretch>
            <a:fillRect/>
          </a:stretch>
        </p:blipFill>
        <p:spPr>
          <a:xfrm>
            <a:off x="48165" y="5612736"/>
            <a:ext cx="1368781" cy="479585"/>
          </a:xfrm>
          <a:prstGeom prst="rect">
            <a:avLst/>
          </a:prstGeom>
          <a:effectLst>
            <a:glow rad="76200">
              <a:schemeClr val="accent3">
                <a:lumMod val="60000"/>
                <a:lumOff val="40000"/>
              </a:schemeClr>
            </a:glow>
          </a:effectLst>
        </p:spPr>
      </p:pic>
      <p:sp>
        <p:nvSpPr>
          <p:cNvPr id="10" name="標題 1">
            <a:extLst>
              <a:ext uri="{FF2B5EF4-FFF2-40B4-BE49-F238E27FC236}">
                <a16:creationId xmlns:a16="http://schemas.microsoft.com/office/drawing/2014/main" id="{DB23806E-455B-B442-A514-C6A6160F4DE3}"/>
              </a:ext>
            </a:extLst>
          </p:cNvPr>
          <p:cNvSpPr txBox="1">
            <a:spLocks/>
          </p:cNvSpPr>
          <p:nvPr/>
        </p:nvSpPr>
        <p:spPr>
          <a:xfrm>
            <a:off x="179512" y="116632"/>
            <a:ext cx="7713554"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2800" dirty="0">
                <a:latin typeface="Noto Sans HK" panose="020B0200000000000000" pitchFamily="34" charset="-120"/>
                <a:ea typeface="Noto Sans HK" panose="020B0200000000000000" pitchFamily="34" charset="-120"/>
                <a:cs typeface="Aharoni" panose="020F0502020204030204" pitchFamily="2" charset="-79"/>
              </a:rPr>
              <a:t>Back Propagation</a:t>
            </a:r>
            <a:endParaRPr lang="en-US" altLang="zh-TW" sz="2800" dirty="0">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r>
              <a:rPr lang="en-US" altLang="zh-TW" sz="1400" dirty="0">
                <a:latin typeface="Noto Sans HK" panose="020B0200000000000000" pitchFamily="34" charset="-120"/>
                <a:ea typeface="Noto Sans HK" panose="020B0200000000000000" pitchFamily="34" charset="-120"/>
                <a:cs typeface="Arial" panose="020B0604020202020204" pitchFamily="34" charset="0"/>
              </a:rPr>
              <a:t>Chain Rule + Gradient Descent</a:t>
            </a:r>
          </a:p>
        </p:txBody>
      </p:sp>
      <p:cxnSp>
        <p:nvCxnSpPr>
          <p:cNvPr id="4" name="接點: 弧形 3">
            <a:extLst>
              <a:ext uri="{FF2B5EF4-FFF2-40B4-BE49-F238E27FC236}">
                <a16:creationId xmlns:a16="http://schemas.microsoft.com/office/drawing/2014/main" id="{1A85E7FA-59D9-A0B4-E985-70D07CA55BA9}"/>
              </a:ext>
            </a:extLst>
          </p:cNvPr>
          <p:cNvCxnSpPr>
            <a:stCxn id="124" idx="1"/>
            <a:endCxn id="90" idx="1"/>
          </p:cNvCxnSpPr>
          <p:nvPr/>
        </p:nvCxnSpPr>
        <p:spPr>
          <a:xfrm rot="10800000">
            <a:off x="4663330" y="2099087"/>
            <a:ext cx="916782" cy="2115905"/>
          </a:xfrm>
          <a:prstGeom prst="curvedConnector3">
            <a:avLst>
              <a:gd name="adj1" fmla="val 124935"/>
            </a:avLst>
          </a:prstGeom>
          <a:ln>
            <a:tailEnd type="triangle"/>
          </a:ln>
        </p:spPr>
        <p:style>
          <a:lnRef idx="1">
            <a:schemeClr val="accent1"/>
          </a:lnRef>
          <a:fillRef idx="0">
            <a:schemeClr val="accent1"/>
          </a:fillRef>
          <a:effectRef idx="0">
            <a:schemeClr val="accent1"/>
          </a:effectRef>
          <a:fontRef idx="minor">
            <a:schemeClr val="tx1"/>
          </a:fontRef>
        </p:style>
      </p:cxnSp>
      <p:sp>
        <p:nvSpPr>
          <p:cNvPr id="8" name="文字方塊 7">
            <a:extLst>
              <a:ext uri="{FF2B5EF4-FFF2-40B4-BE49-F238E27FC236}">
                <a16:creationId xmlns:a16="http://schemas.microsoft.com/office/drawing/2014/main" id="{14D3711C-2EEB-66A7-F7B8-3D678AC495BF}"/>
              </a:ext>
            </a:extLst>
          </p:cNvPr>
          <p:cNvSpPr txBox="1"/>
          <p:nvPr/>
        </p:nvSpPr>
        <p:spPr>
          <a:xfrm>
            <a:off x="287524" y="980728"/>
            <a:ext cx="5148572" cy="1092607"/>
          </a:xfrm>
          <a:prstGeom prst="rect">
            <a:avLst/>
          </a:prstGeom>
          <a:noFill/>
        </p:spPr>
        <p:txBody>
          <a:bodyPr wrap="square">
            <a:spAutoFit/>
          </a:bodyPr>
          <a:lstStyle/>
          <a:p>
            <a:pPr>
              <a:lnSpc>
                <a:spcPts val="1800"/>
              </a:lnSpc>
              <a:spcBef>
                <a:spcPts val="600"/>
              </a:spcBef>
              <a:spcAft>
                <a:spcPts val="600"/>
              </a:spcAft>
            </a:pPr>
            <a:r>
              <a:rPr lang="en-US" altLang="zh-TW" sz="2000" b="1" dirty="0"/>
              <a:t>Backpropagation</a:t>
            </a:r>
            <a:endParaRPr lang="en-US" altLang="zh-TW" sz="1600" b="1" dirty="0"/>
          </a:p>
          <a:p>
            <a:pPr marL="285750" indent="-285750">
              <a:lnSpc>
                <a:spcPts val="1800"/>
              </a:lnSpc>
              <a:spcBef>
                <a:spcPts val="600"/>
              </a:spcBef>
              <a:spcAft>
                <a:spcPts val="600"/>
              </a:spcAft>
              <a:buFont typeface="Wingdings" panose="05000000000000000000" pitchFamily="2" charset="2"/>
              <a:buChar char="Ø"/>
            </a:pPr>
            <a:r>
              <a:rPr lang="en-US" altLang="zh-TW" sz="1600" b="1" dirty="0"/>
              <a:t>Chain Rule</a:t>
            </a:r>
            <a:r>
              <a:rPr lang="en-US" altLang="zh-TW" sz="1600" dirty="0"/>
              <a:t>:.</a:t>
            </a:r>
          </a:p>
          <a:p>
            <a:pPr marL="285750" indent="-285750">
              <a:lnSpc>
                <a:spcPts val="1800"/>
              </a:lnSpc>
              <a:spcBef>
                <a:spcPts val="600"/>
              </a:spcBef>
              <a:spcAft>
                <a:spcPts val="600"/>
              </a:spcAft>
              <a:buFont typeface="Wingdings" panose="05000000000000000000" pitchFamily="2" charset="2"/>
              <a:buChar char="Ø"/>
            </a:pPr>
            <a:r>
              <a:rPr lang="en-US" altLang="zh-TW" sz="1600" b="1" dirty="0"/>
              <a:t>Gradient Descent</a:t>
            </a:r>
            <a:r>
              <a:rPr lang="en-US" altLang="zh-TW" sz="1600" u="none" strike="noStrike" dirty="0">
                <a:effectLst/>
              </a:rPr>
              <a:t>: .</a:t>
            </a:r>
          </a:p>
        </p:txBody>
      </p:sp>
    </p:spTree>
    <p:extLst>
      <p:ext uri="{BB962C8B-B14F-4D97-AF65-F5344CB8AC3E}">
        <p14:creationId xmlns:p14="http://schemas.microsoft.com/office/powerpoint/2010/main" val="1582280458"/>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ED1F628E-4844-1881-995F-0233A20315E5}"/>
            </a:ext>
          </a:extLst>
        </p:cNvPr>
        <p:cNvGrpSpPr/>
        <p:nvPr/>
      </p:nvGrpSpPr>
      <p:grpSpPr>
        <a:xfrm>
          <a:off x="0" y="0"/>
          <a:ext cx="0" cy="0"/>
          <a:chOff x="0" y="0"/>
          <a:chExt cx="0" cy="0"/>
        </a:xfrm>
      </p:grpSpPr>
      <p:pic>
        <p:nvPicPr>
          <p:cNvPr id="8" name="圖片 7">
            <a:extLst>
              <a:ext uri="{FF2B5EF4-FFF2-40B4-BE49-F238E27FC236}">
                <a16:creationId xmlns:a16="http://schemas.microsoft.com/office/drawing/2014/main" id="{71EB32EA-10F9-DC7E-042F-3AA1C016890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1600" y="0"/>
            <a:ext cx="7992888" cy="3684041"/>
          </a:xfrm>
          <a:prstGeom prst="rect">
            <a:avLst/>
          </a:prstGeom>
        </p:spPr>
      </p:pic>
      <p:pic>
        <p:nvPicPr>
          <p:cNvPr id="11" name="圖片 10">
            <a:extLst>
              <a:ext uri="{FF2B5EF4-FFF2-40B4-BE49-F238E27FC236}">
                <a16:creationId xmlns:a16="http://schemas.microsoft.com/office/drawing/2014/main" id="{9D0A6358-7FF9-2E9D-E138-8A36430FF763}"/>
              </a:ext>
            </a:extLst>
          </p:cNvPr>
          <p:cNvPicPr>
            <a:picLocks noChangeAspect="1"/>
          </p:cNvPicPr>
          <p:nvPr/>
        </p:nvPicPr>
        <p:blipFill>
          <a:blip r:embed="rId4"/>
          <a:stretch>
            <a:fillRect/>
          </a:stretch>
        </p:blipFill>
        <p:spPr>
          <a:xfrm>
            <a:off x="0" y="1515619"/>
            <a:ext cx="9144000" cy="3209525"/>
          </a:xfrm>
          <a:prstGeom prst="rect">
            <a:avLst/>
          </a:prstGeom>
          <a:effectLst>
            <a:glow rad="76200">
              <a:srgbClr val="FFC000">
                <a:alpha val="40000"/>
              </a:srgbClr>
            </a:glow>
            <a:softEdge rad="12700"/>
          </a:effectLst>
        </p:spPr>
      </p:pic>
      <p:pic>
        <p:nvPicPr>
          <p:cNvPr id="9" name="圖片 8">
            <a:extLst>
              <a:ext uri="{FF2B5EF4-FFF2-40B4-BE49-F238E27FC236}">
                <a16:creationId xmlns:a16="http://schemas.microsoft.com/office/drawing/2014/main" id="{E74874C4-AF14-CB4A-1CAA-F50E359DA4D4}"/>
              </a:ext>
            </a:extLst>
          </p:cNvPr>
          <p:cNvPicPr>
            <a:picLocks noChangeAspect="1"/>
          </p:cNvPicPr>
          <p:nvPr/>
        </p:nvPicPr>
        <p:blipFill>
          <a:blip r:embed="rId5"/>
          <a:stretch>
            <a:fillRect/>
          </a:stretch>
        </p:blipFill>
        <p:spPr>
          <a:xfrm>
            <a:off x="1907704" y="4897482"/>
            <a:ext cx="4509946" cy="1087989"/>
          </a:xfrm>
          <a:prstGeom prst="rect">
            <a:avLst/>
          </a:prstGeom>
          <a:effectLst>
            <a:glow rad="76200">
              <a:srgbClr val="FFC000">
                <a:alpha val="40000"/>
              </a:srgbClr>
            </a:glow>
            <a:softEdge rad="12700"/>
          </a:effectLst>
        </p:spPr>
      </p:pic>
    </p:spTree>
    <p:extLst>
      <p:ext uri="{BB962C8B-B14F-4D97-AF65-F5344CB8AC3E}">
        <p14:creationId xmlns:p14="http://schemas.microsoft.com/office/powerpoint/2010/main" val="4020295946"/>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圖片 4">
            <a:extLst>
              <a:ext uri="{FF2B5EF4-FFF2-40B4-BE49-F238E27FC236}">
                <a16:creationId xmlns:a16="http://schemas.microsoft.com/office/drawing/2014/main" id="{4B507F9A-D2D2-2979-B7C6-B5CE84AEB0D1}"/>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1048092"/>
            <a:ext cx="9144000" cy="5189220"/>
          </a:xfrm>
          <a:prstGeom prst="rect">
            <a:avLst/>
          </a:prstGeom>
        </p:spPr>
      </p:pic>
      <p:sp>
        <p:nvSpPr>
          <p:cNvPr id="7" name="文字方塊 6">
            <a:hlinkClick r:id="rId4"/>
            <a:extLst>
              <a:ext uri="{FF2B5EF4-FFF2-40B4-BE49-F238E27FC236}">
                <a16:creationId xmlns:a16="http://schemas.microsoft.com/office/drawing/2014/main" id="{D44B7B11-A042-E281-4E0C-8CA28AFF7708}"/>
              </a:ext>
            </a:extLst>
          </p:cNvPr>
          <p:cNvSpPr txBox="1"/>
          <p:nvPr/>
        </p:nvSpPr>
        <p:spPr>
          <a:xfrm>
            <a:off x="7668344" y="6132115"/>
            <a:ext cx="1008112" cy="400110"/>
          </a:xfrm>
          <a:prstGeom prst="rect">
            <a:avLst/>
          </a:prstGeom>
          <a:noFill/>
        </p:spPr>
        <p:txBody>
          <a:bodyPr wrap="square">
            <a:spAutoFit/>
          </a:bodyPr>
          <a:lstStyle/>
          <a:p>
            <a:r>
              <a:rPr lang="en-US" altLang="zh-TW" sz="1000" u="sng" dirty="0"/>
              <a:t>LLM Distillation Explained</a:t>
            </a:r>
            <a:endParaRPr lang="zh-TW" altLang="en-US" sz="1000" u="sng" dirty="0"/>
          </a:p>
        </p:txBody>
      </p:sp>
      <p:sp>
        <p:nvSpPr>
          <p:cNvPr id="2" name="文字方塊 1">
            <a:extLst>
              <a:ext uri="{FF2B5EF4-FFF2-40B4-BE49-F238E27FC236}">
                <a16:creationId xmlns:a16="http://schemas.microsoft.com/office/drawing/2014/main" id="{076D38B1-5B2B-0B7D-0489-32FF5F9247B5}"/>
              </a:ext>
            </a:extLst>
          </p:cNvPr>
          <p:cNvSpPr txBox="1"/>
          <p:nvPr/>
        </p:nvSpPr>
        <p:spPr>
          <a:xfrm>
            <a:off x="5724128" y="1048092"/>
            <a:ext cx="864096" cy="378158"/>
          </a:xfrm>
          <a:prstGeom prst="rect">
            <a:avLst/>
          </a:prstGeom>
          <a:solidFill>
            <a:schemeClr val="tx2">
              <a:lumMod val="20000"/>
              <a:lumOff val="80000"/>
              <a:alpha val="20000"/>
            </a:schemeClr>
          </a:solidFill>
          <a:ln w="25400">
            <a:solidFill>
              <a:schemeClr val="bg1">
                <a:lumMod val="85000"/>
              </a:schemeClr>
            </a:solidFill>
          </a:ln>
        </p:spPr>
        <p:txBody>
          <a:bodyPr wrap="none" lIns="0" tIns="72000" rIns="0" bIns="36000" anchor="t" anchorCtr="1">
            <a:noAutofit/>
          </a:bodyPr>
          <a:lstStyle/>
          <a:p>
            <a:pPr algn="ctr">
              <a:lnSpc>
                <a:spcPts val="1400"/>
              </a:lnSpc>
              <a:buNone/>
            </a:pPr>
            <a:r>
              <a:rPr lang="en-US" altLang="zh-TW" sz="1400" b="1" u="none" strike="noStrike" dirty="0">
                <a:solidFill>
                  <a:schemeClr val="accent5">
                    <a:lumMod val="75000"/>
                  </a:schemeClr>
                </a:solidFill>
                <a:effectLst/>
              </a:rPr>
              <a:t>LLM</a:t>
            </a:r>
          </a:p>
          <a:p>
            <a:pPr algn="ctr">
              <a:lnSpc>
                <a:spcPts val="1400"/>
              </a:lnSpc>
              <a:buNone/>
            </a:pPr>
            <a:r>
              <a:rPr lang="en-US" altLang="zh-TW" sz="1200" dirty="0"/>
              <a:t>Foundation Layer</a:t>
            </a:r>
          </a:p>
          <a:p>
            <a:pPr algn="ctr">
              <a:lnSpc>
                <a:spcPts val="1400"/>
              </a:lnSpc>
              <a:buNone/>
            </a:pPr>
            <a:r>
              <a:rPr lang="en-US" altLang="zh-TW" sz="1200" u="none" strike="noStrike" dirty="0">
                <a:effectLst/>
              </a:rPr>
              <a:t>(Reasoning)</a:t>
            </a:r>
          </a:p>
        </p:txBody>
      </p:sp>
    </p:spTree>
    <p:extLst>
      <p:ext uri="{BB962C8B-B14F-4D97-AF65-F5344CB8AC3E}">
        <p14:creationId xmlns:p14="http://schemas.microsoft.com/office/powerpoint/2010/main" val="2376020425"/>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6571B84-1670-A048-1767-4044E543521B}"/>
            </a:ext>
          </a:extLst>
        </p:cNvPr>
        <p:cNvGrpSpPr/>
        <p:nvPr/>
      </p:nvGrpSpPr>
      <p:grpSpPr>
        <a:xfrm>
          <a:off x="0" y="0"/>
          <a:ext cx="0" cy="0"/>
          <a:chOff x="0" y="0"/>
          <a:chExt cx="0" cy="0"/>
        </a:xfrm>
      </p:grpSpPr>
      <p:sp>
        <p:nvSpPr>
          <p:cNvPr id="13" name="文字方塊 12">
            <a:extLst>
              <a:ext uri="{FF2B5EF4-FFF2-40B4-BE49-F238E27FC236}">
                <a16:creationId xmlns:a16="http://schemas.microsoft.com/office/drawing/2014/main" id="{6AC4EF48-5297-82D5-AB5E-975ED6827326}"/>
              </a:ext>
            </a:extLst>
          </p:cNvPr>
          <p:cNvSpPr txBox="1"/>
          <p:nvPr/>
        </p:nvSpPr>
        <p:spPr>
          <a:xfrm>
            <a:off x="3419872" y="4641731"/>
            <a:ext cx="936104" cy="1523573"/>
          </a:xfrm>
          <a:prstGeom prst="rect">
            <a:avLst/>
          </a:prstGeom>
          <a:noFill/>
          <a:ln w="25400">
            <a:solidFill>
              <a:schemeClr val="accent2">
                <a:lumMod val="60000"/>
                <a:lumOff val="40000"/>
              </a:schemeClr>
            </a:solidFill>
            <a:prstDash val="sysDot"/>
          </a:ln>
        </p:spPr>
        <p:txBody>
          <a:bodyPr wrap="none" lIns="0" tIns="0" rIns="0" bIns="0" anchor="b" anchorCtr="1">
            <a:noAutofit/>
          </a:bodyPr>
          <a:lstStyle/>
          <a:p>
            <a:pPr algn="ctr">
              <a:lnSpc>
                <a:spcPts val="1400"/>
              </a:lnSpc>
              <a:buNone/>
            </a:pPr>
            <a:r>
              <a:rPr lang="en-US" altLang="zh-TW" sz="1400" b="1" u="none" strike="noStrike" dirty="0">
                <a:solidFill>
                  <a:schemeClr val="accent2"/>
                </a:solidFill>
                <a:effectLst/>
              </a:rPr>
              <a:t>AI Server</a:t>
            </a:r>
          </a:p>
        </p:txBody>
      </p:sp>
      <p:sp>
        <p:nvSpPr>
          <p:cNvPr id="8" name="文字方塊 7">
            <a:extLst>
              <a:ext uri="{FF2B5EF4-FFF2-40B4-BE49-F238E27FC236}">
                <a16:creationId xmlns:a16="http://schemas.microsoft.com/office/drawing/2014/main" id="{23088F4F-3037-5FDB-EFDD-D772BA9672F5}"/>
              </a:ext>
            </a:extLst>
          </p:cNvPr>
          <p:cNvSpPr txBox="1"/>
          <p:nvPr/>
        </p:nvSpPr>
        <p:spPr>
          <a:xfrm>
            <a:off x="213023" y="980728"/>
            <a:ext cx="8568952" cy="1480534"/>
          </a:xfrm>
          <a:prstGeom prst="rect">
            <a:avLst/>
          </a:prstGeom>
          <a:noFill/>
        </p:spPr>
        <p:txBody>
          <a:bodyPr wrap="square">
            <a:spAutoFit/>
          </a:bodyPr>
          <a:lstStyle/>
          <a:p>
            <a:pPr>
              <a:lnSpc>
                <a:spcPts val="1800"/>
              </a:lnSpc>
              <a:spcBef>
                <a:spcPts val="600"/>
              </a:spcBef>
              <a:spcAft>
                <a:spcPts val="600"/>
              </a:spcAft>
              <a:buNone/>
            </a:pPr>
            <a:r>
              <a:rPr lang="en-US" altLang="zh-TW" sz="2000" b="1" u="none" strike="noStrike" dirty="0">
                <a:effectLst/>
              </a:rPr>
              <a:t>Cost Structure</a:t>
            </a:r>
          </a:p>
          <a:p>
            <a:pPr marL="285750" indent="-285750">
              <a:lnSpc>
                <a:spcPts val="1800"/>
              </a:lnSpc>
              <a:spcBef>
                <a:spcPts val="600"/>
              </a:spcBef>
              <a:spcAft>
                <a:spcPts val="600"/>
              </a:spcAft>
              <a:buFont typeface="Wingdings" panose="05000000000000000000" pitchFamily="2" charset="2"/>
              <a:buChar char="Ø"/>
            </a:pPr>
            <a:r>
              <a:rPr lang="en-US" altLang="zh-TW" sz="1600" b="1" dirty="0"/>
              <a:t>Manufacture Cost: </a:t>
            </a:r>
            <a:r>
              <a:rPr lang="en-US" altLang="zh-TW" sz="1600" dirty="0"/>
              <a:t>G</a:t>
            </a:r>
            <a:r>
              <a:rPr lang="en-US" altLang="zh-TW" sz="1600" u="none" strike="noStrike" dirty="0">
                <a:effectLst/>
              </a:rPr>
              <a:t>PU 300, HBM 1200, COWOS 1500 </a:t>
            </a:r>
            <a:r>
              <a:rPr lang="en-US" altLang="zh-TW" sz="1600" b="0" u="none" strike="noStrike" dirty="0">
                <a:effectLst/>
              </a:rPr>
              <a:t>= $3000 </a:t>
            </a:r>
            <a:r>
              <a:rPr lang="en-US" altLang="zh-TW" sz="1600" dirty="0">
                <a:solidFill>
                  <a:schemeClr val="bg1">
                    <a:lumMod val="75000"/>
                  </a:schemeClr>
                </a:solidFill>
                <a:sym typeface="Wingdings" panose="05000000000000000000" pitchFamily="2" charset="2"/>
              </a:rPr>
              <a:t> $30000</a:t>
            </a:r>
            <a:r>
              <a:rPr lang="en-US" altLang="zh-TW" sz="1600" b="0" u="none" strike="noStrike" dirty="0">
                <a:effectLst/>
              </a:rPr>
              <a:t>.</a:t>
            </a:r>
          </a:p>
          <a:p>
            <a:pPr marL="285750" indent="-285750">
              <a:lnSpc>
                <a:spcPts val="1800"/>
              </a:lnSpc>
              <a:spcBef>
                <a:spcPts val="600"/>
              </a:spcBef>
              <a:spcAft>
                <a:spcPts val="600"/>
              </a:spcAft>
              <a:buFont typeface="Wingdings" panose="05000000000000000000" pitchFamily="2" charset="2"/>
              <a:buChar char="Ø"/>
            </a:pPr>
            <a:r>
              <a:rPr lang="en-US" altLang="zh-TW" sz="1600" b="1" u="none" strike="noStrike" dirty="0">
                <a:effectLst/>
              </a:rPr>
              <a:t>HBM</a:t>
            </a:r>
            <a:r>
              <a:rPr lang="en-US" altLang="zh-TW" sz="1600" b="0" u="none" strike="noStrike" dirty="0">
                <a:effectLst/>
              </a:rPr>
              <a:t>: $1200.</a:t>
            </a:r>
          </a:p>
          <a:p>
            <a:pPr marL="285750" indent="-285750">
              <a:lnSpc>
                <a:spcPts val="1800"/>
              </a:lnSpc>
              <a:spcBef>
                <a:spcPts val="600"/>
              </a:spcBef>
              <a:spcAft>
                <a:spcPts val="600"/>
              </a:spcAft>
              <a:buFont typeface="Wingdings" panose="05000000000000000000" pitchFamily="2" charset="2"/>
              <a:buChar char="Ø"/>
            </a:pPr>
            <a:r>
              <a:rPr lang="en-US" altLang="zh-TW" sz="1600" b="1" dirty="0"/>
              <a:t>EDA:</a:t>
            </a:r>
            <a:r>
              <a:rPr lang="en-US" altLang="zh-TW" sz="1600" dirty="0"/>
              <a:t> Learning tool (e.g., like loss function and optimizer).</a:t>
            </a:r>
          </a:p>
        </p:txBody>
      </p:sp>
      <p:sp>
        <p:nvSpPr>
          <p:cNvPr id="6" name="標題 1">
            <a:extLst>
              <a:ext uri="{FF2B5EF4-FFF2-40B4-BE49-F238E27FC236}">
                <a16:creationId xmlns:a16="http://schemas.microsoft.com/office/drawing/2014/main" id="{3046A77F-1B2F-D9BE-9E1F-C45D8B5BE814}"/>
              </a:ext>
            </a:extLst>
          </p:cNvPr>
          <p:cNvSpPr txBox="1">
            <a:spLocks/>
          </p:cNvSpPr>
          <p:nvPr/>
        </p:nvSpPr>
        <p:spPr>
          <a:xfrm>
            <a:off x="179512" y="116632"/>
            <a:ext cx="7713554" cy="740352"/>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rPr>
              <a:t>AI Training Cluster</a:t>
            </a:r>
            <a:endParaRPr kumimoji="0" lang="en-US" altLang="zh-TW" sz="2800" b="0" i="0" u="none" strike="noStrike" kern="1200" cap="none" spc="0" normalizeH="0" baseline="0" noProof="0" dirty="0">
              <a:ln>
                <a:noFill/>
              </a:ln>
              <a:solidFill>
                <a:prstClr val="black"/>
              </a:solidFill>
              <a:effectLst/>
              <a:uLnTx/>
              <a:uFillTx/>
              <a:latin typeface="Noto Sans HK" panose="020B0200000000000000" pitchFamily="34" charset="-120"/>
              <a:ea typeface="Noto Sans HK" panose="020B0200000000000000" pitchFamily="34" charset="-120"/>
              <a:cs typeface="Aharoni" panose="020F0502020204030204" pitchFamily="2" charset="-79"/>
              <a:sym typeface="Wingdings" panose="05000000000000000000" pitchFamily="2" charset="2"/>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400" dirty="0">
                <a:solidFill>
                  <a:prstClr val="black"/>
                </a:solidFill>
                <a:latin typeface="Noto Sans HK" panose="020B0200000000000000" pitchFamily="34" charset="-120"/>
                <a:ea typeface="Noto Sans HK" panose="020B0200000000000000" pitchFamily="34" charset="-120"/>
                <a:cs typeface="Arial" panose="020B0604020202020204" pitchFamily="34" charset="0"/>
              </a:rPr>
              <a:t>99% computing power is used for pre-training.</a:t>
            </a:r>
            <a:endParaRPr lang="en-US" altLang="zh-TW" sz="1400" dirty="0">
              <a:latin typeface="Noto Sans HK" panose="020B0200000000000000" pitchFamily="34" charset="-120"/>
              <a:ea typeface="Noto Sans HK" panose="020B0200000000000000" pitchFamily="34" charset="-120"/>
              <a:cs typeface="Arial" panose="020B0604020202020204" pitchFamily="34" charset="0"/>
            </a:endParaRPr>
          </a:p>
        </p:txBody>
      </p:sp>
      <p:pic>
        <p:nvPicPr>
          <p:cNvPr id="3" name="圖片 2">
            <a:extLst>
              <a:ext uri="{FF2B5EF4-FFF2-40B4-BE49-F238E27FC236}">
                <a16:creationId xmlns:a16="http://schemas.microsoft.com/office/drawing/2014/main" id="{A7D844D1-E62B-BBB6-6D4E-D82EA4049ADD}"/>
              </a:ext>
            </a:extLst>
          </p:cNvPr>
          <p:cNvPicPr>
            <a:picLocks noChangeAspect="1"/>
          </p:cNvPicPr>
          <p:nvPr/>
        </p:nvPicPr>
        <p:blipFill>
          <a:blip r:embed="rId3" cstate="print">
            <a:extLst>
              <a:ext uri="{28A0092B-C50C-407E-A947-70E740481C1C}">
                <a14:useLocalDpi xmlns:a14="http://schemas.microsoft.com/office/drawing/2010/main" val="0"/>
              </a:ext>
            </a:extLst>
          </a:blip>
          <a:stretch>
            <a:fillRect/>
          </a:stretch>
        </p:blipFill>
        <p:spPr>
          <a:xfrm>
            <a:off x="4572000" y="1844824"/>
            <a:ext cx="4369532" cy="2459783"/>
          </a:xfrm>
          <a:prstGeom prst="rect">
            <a:avLst/>
          </a:prstGeom>
        </p:spPr>
      </p:pic>
      <p:sp>
        <p:nvSpPr>
          <p:cNvPr id="4" name="文字方塊 3">
            <a:extLst>
              <a:ext uri="{FF2B5EF4-FFF2-40B4-BE49-F238E27FC236}">
                <a16:creationId xmlns:a16="http://schemas.microsoft.com/office/drawing/2014/main" id="{9643FFB5-2C2F-48A8-5E22-3E982FB04A13}"/>
              </a:ext>
            </a:extLst>
          </p:cNvPr>
          <p:cNvSpPr txBox="1"/>
          <p:nvPr/>
        </p:nvSpPr>
        <p:spPr>
          <a:xfrm>
            <a:off x="3563888" y="5381600"/>
            <a:ext cx="648072" cy="423664"/>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GPU</a:t>
            </a:r>
          </a:p>
          <a:p>
            <a:pPr algn="ctr">
              <a:lnSpc>
                <a:spcPts val="1400"/>
              </a:lnSpc>
              <a:buNone/>
            </a:pPr>
            <a:r>
              <a:rPr lang="en-US" altLang="zh-TW" sz="1000" dirty="0"/>
              <a:t>(x80)</a:t>
            </a:r>
            <a:endParaRPr lang="en-US" altLang="zh-TW" sz="1000" u="none" strike="noStrike" dirty="0">
              <a:effectLst/>
            </a:endParaRPr>
          </a:p>
        </p:txBody>
      </p:sp>
      <p:sp>
        <p:nvSpPr>
          <p:cNvPr id="10" name="文字方塊 9">
            <a:extLst>
              <a:ext uri="{FF2B5EF4-FFF2-40B4-BE49-F238E27FC236}">
                <a16:creationId xmlns:a16="http://schemas.microsoft.com/office/drawing/2014/main" id="{E43D07FD-4BF1-56D5-1E68-5ECFB6C16738}"/>
              </a:ext>
            </a:extLst>
          </p:cNvPr>
          <p:cNvSpPr txBox="1"/>
          <p:nvPr/>
        </p:nvSpPr>
        <p:spPr>
          <a:xfrm>
            <a:off x="80670" y="4581128"/>
            <a:ext cx="2403098" cy="1661993"/>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AI Server =  Design(</a:t>
            </a:r>
            <a:r>
              <a:rPr kumimoji="0" lang="en-US" altLang="zh-TW" sz="1200" b="0" i="0" u="none" strike="noStrike" kern="1200" cap="none" spc="0" normalizeH="0" baseline="0" noProof="0" dirty="0" err="1">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Chip+Server</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 Manufacture(TSMC)</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[Design]: GPU/HBM</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[NV-Link, SerDes] 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b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rPr>
              <a:t>[Chip Manufacture]: TSMC </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Package (COWOS/COPOS/CPO)</a:t>
            </a:r>
          </a:p>
          <a:p>
            <a:pPr marL="0" marR="0" lvl="0" indent="0" algn="l" defTabSz="914400" rtl="0" eaLnBrk="1" fontAlgn="auto" latinLnBrk="0" hangingPunct="1">
              <a:lnSpc>
                <a:spcPct val="100000"/>
              </a:lnSpc>
              <a:spcBef>
                <a:spcPts val="0"/>
              </a:spcBef>
              <a:spcAft>
                <a:spcPts val="0"/>
              </a:spcAft>
              <a:buClrTx/>
              <a:buSzTx/>
              <a:buFontTx/>
              <a:buNone/>
              <a:tabLst/>
              <a:defRPr/>
            </a:pP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[Server] (</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散熱</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/PCB</a:t>
            </a:r>
            <a:r>
              <a:rPr kumimoji="0" lang="zh-TW" altLang="en-US"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多層數</a:t>
            </a:r>
            <a: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t>) </a:t>
            </a:r>
            <a:br>
              <a:rPr kumimoji="0" lang="en-US" altLang="zh-TW" sz="1200" b="0" i="0" u="none" strike="noStrike" kern="1200" cap="none" spc="0" normalizeH="0" baseline="0" noProof="0" dirty="0">
                <a:ln>
                  <a:noFill/>
                </a:ln>
                <a:solidFill>
                  <a:prstClr val="black"/>
                </a:solidFill>
                <a:effectLst/>
                <a:uLnTx/>
                <a:uFillTx/>
                <a:latin typeface="Calibri"/>
                <a:ea typeface="新細明體" panose="02020500000000000000" pitchFamily="18" charset="-120"/>
                <a:cs typeface="+mn-cs"/>
                <a:sym typeface="Wingdings" panose="05000000000000000000" pitchFamily="2" charset="2"/>
              </a:rPr>
            </a:br>
            <a:endParaRPr lang="zh-TW" altLang="en-US" dirty="0"/>
          </a:p>
        </p:txBody>
      </p:sp>
      <p:sp>
        <p:nvSpPr>
          <p:cNvPr id="11" name="文字方塊 10">
            <a:extLst>
              <a:ext uri="{FF2B5EF4-FFF2-40B4-BE49-F238E27FC236}">
                <a16:creationId xmlns:a16="http://schemas.microsoft.com/office/drawing/2014/main" id="{3EF71A41-6BDB-2DFD-3FF6-8C6F8F33AD0C}"/>
              </a:ext>
            </a:extLst>
          </p:cNvPr>
          <p:cNvSpPr txBox="1"/>
          <p:nvPr/>
        </p:nvSpPr>
        <p:spPr>
          <a:xfrm>
            <a:off x="3563888" y="4797153"/>
            <a:ext cx="648072" cy="432048"/>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u="none" strike="noStrike" dirty="0">
                <a:solidFill>
                  <a:schemeClr val="accent2"/>
                </a:solidFill>
                <a:effectLst/>
              </a:rPr>
              <a:t>HBM</a:t>
            </a:r>
          </a:p>
        </p:txBody>
      </p:sp>
      <p:sp>
        <p:nvSpPr>
          <p:cNvPr id="12" name="文字方塊 11">
            <a:extLst>
              <a:ext uri="{FF2B5EF4-FFF2-40B4-BE49-F238E27FC236}">
                <a16:creationId xmlns:a16="http://schemas.microsoft.com/office/drawing/2014/main" id="{88606B3C-AD5F-004E-06E9-7CF2D013060F}"/>
              </a:ext>
            </a:extLst>
          </p:cNvPr>
          <p:cNvSpPr txBox="1"/>
          <p:nvPr/>
        </p:nvSpPr>
        <p:spPr>
          <a:xfrm>
            <a:off x="2483768" y="5830899"/>
            <a:ext cx="648072" cy="455049"/>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400" b="1" dirty="0">
                <a:solidFill>
                  <a:schemeClr val="accent2"/>
                </a:solidFill>
              </a:rPr>
              <a:t>N</a:t>
            </a:r>
            <a:r>
              <a:rPr lang="en-US" altLang="zh-TW" sz="1400" b="1" u="none" strike="noStrike" dirty="0">
                <a:solidFill>
                  <a:schemeClr val="accent2"/>
                </a:solidFill>
                <a:effectLst/>
              </a:rPr>
              <a:t>PU</a:t>
            </a:r>
            <a:br>
              <a:rPr lang="en-US" altLang="zh-TW" sz="1400" b="1" u="none" strike="noStrike" dirty="0">
                <a:solidFill>
                  <a:schemeClr val="accent2"/>
                </a:solidFill>
                <a:effectLst/>
              </a:rPr>
            </a:br>
            <a:r>
              <a:rPr lang="en-US" altLang="zh-TW" sz="1200" u="none" strike="noStrike" dirty="0">
                <a:effectLst/>
              </a:rPr>
              <a:t>TPU/LPU</a:t>
            </a:r>
            <a:endParaRPr lang="en-US" altLang="zh-TW" sz="1400" b="1" u="none" strike="noStrike" dirty="0">
              <a:effectLst/>
            </a:endParaRPr>
          </a:p>
        </p:txBody>
      </p:sp>
      <p:sp>
        <p:nvSpPr>
          <p:cNvPr id="14" name="文字方塊 13">
            <a:extLst>
              <a:ext uri="{FF2B5EF4-FFF2-40B4-BE49-F238E27FC236}">
                <a16:creationId xmlns:a16="http://schemas.microsoft.com/office/drawing/2014/main" id="{1802B229-6A59-D68D-4D41-00B5AA0FC4D1}"/>
              </a:ext>
            </a:extLst>
          </p:cNvPr>
          <p:cNvSpPr txBox="1"/>
          <p:nvPr/>
        </p:nvSpPr>
        <p:spPr>
          <a:xfrm>
            <a:off x="3563888" y="5229200"/>
            <a:ext cx="648072" cy="152400"/>
          </a:xfrm>
          <a:prstGeom prst="rect">
            <a:avLst/>
          </a:prstGeom>
          <a:solidFill>
            <a:schemeClr val="accent2">
              <a:lumMod val="20000"/>
              <a:lumOff val="80000"/>
              <a:alpha val="80000"/>
            </a:schemeClr>
          </a:solidFill>
          <a:ln w="25400">
            <a:solidFill>
              <a:schemeClr val="bg1">
                <a:lumMod val="85000"/>
              </a:schemeClr>
            </a:solidFill>
          </a:ln>
        </p:spPr>
        <p:txBody>
          <a:bodyPr wrap="none" lIns="0" tIns="0" rIns="0" bIns="0" anchor="ctr" anchorCtr="1">
            <a:noAutofit/>
          </a:bodyPr>
          <a:lstStyle/>
          <a:p>
            <a:pPr algn="ctr">
              <a:lnSpc>
                <a:spcPts val="1400"/>
              </a:lnSpc>
              <a:buNone/>
            </a:pPr>
            <a:r>
              <a:rPr lang="en-US" altLang="zh-TW" sz="1000" b="1" u="none" strike="noStrike" dirty="0">
                <a:effectLst/>
              </a:rPr>
              <a:t>COWOS</a:t>
            </a:r>
          </a:p>
        </p:txBody>
      </p:sp>
      <p:graphicFrame>
        <p:nvGraphicFramePr>
          <p:cNvPr id="15" name="表格 14">
            <a:extLst>
              <a:ext uri="{FF2B5EF4-FFF2-40B4-BE49-F238E27FC236}">
                <a16:creationId xmlns:a16="http://schemas.microsoft.com/office/drawing/2014/main" id="{0D967E37-337C-77DC-563E-364C43929D05}"/>
              </a:ext>
            </a:extLst>
          </p:cNvPr>
          <p:cNvGraphicFramePr>
            <a:graphicFrameLocks noGrp="1"/>
          </p:cNvGraphicFramePr>
          <p:nvPr>
            <p:extLst>
              <p:ext uri="{D42A27DB-BD31-4B8C-83A1-F6EECF244321}">
                <p14:modId xmlns:p14="http://schemas.microsoft.com/office/powerpoint/2010/main" val="2907520796"/>
              </p:ext>
            </p:extLst>
          </p:nvPr>
        </p:nvGraphicFramePr>
        <p:xfrm>
          <a:off x="7166148" y="4480279"/>
          <a:ext cx="1726332" cy="1198820"/>
        </p:xfrm>
        <a:graphic>
          <a:graphicData uri="http://schemas.openxmlformats.org/drawingml/2006/table">
            <a:tbl>
              <a:tblPr firstRow="1" bandRow="1">
                <a:tableStyleId>{5C22544A-7EE6-4342-B048-85BDC9FD1C3A}</a:tableStyleId>
              </a:tblPr>
              <a:tblGrid>
                <a:gridCol w="1016933">
                  <a:extLst>
                    <a:ext uri="{9D8B030D-6E8A-4147-A177-3AD203B41FA5}">
                      <a16:colId xmlns:a16="http://schemas.microsoft.com/office/drawing/2014/main" val="3669842267"/>
                    </a:ext>
                  </a:extLst>
                </a:gridCol>
                <a:gridCol w="709399">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AI Chip</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$300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 DIE</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$1200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CoWoS</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$1500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NV</a:t>
                      </a:r>
                      <a:r>
                        <a:rPr lang="zh-TW" altLang="en-US" sz="1200" b="0" dirty="0"/>
                        <a:t> </a:t>
                      </a: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10*$3000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bl>
          </a:graphicData>
        </a:graphic>
      </p:graphicFrame>
      <p:graphicFrame>
        <p:nvGraphicFramePr>
          <p:cNvPr id="16" name="表格 15">
            <a:extLst>
              <a:ext uri="{FF2B5EF4-FFF2-40B4-BE49-F238E27FC236}">
                <a16:creationId xmlns:a16="http://schemas.microsoft.com/office/drawing/2014/main" id="{55C7A56F-9C32-25C0-494E-54C7295443EA}"/>
              </a:ext>
            </a:extLst>
          </p:cNvPr>
          <p:cNvGraphicFramePr>
            <a:graphicFrameLocks noGrp="1"/>
          </p:cNvGraphicFramePr>
          <p:nvPr>
            <p:extLst>
              <p:ext uri="{D42A27DB-BD31-4B8C-83A1-F6EECF244321}">
                <p14:modId xmlns:p14="http://schemas.microsoft.com/office/powerpoint/2010/main" val="1656070497"/>
              </p:ext>
            </p:extLst>
          </p:nvPr>
        </p:nvGraphicFramePr>
        <p:xfrm>
          <a:off x="5364088" y="4480279"/>
          <a:ext cx="1440160" cy="1935390"/>
        </p:xfrm>
        <a:graphic>
          <a:graphicData uri="http://schemas.openxmlformats.org/drawingml/2006/table">
            <a:tbl>
              <a:tblPr firstRow="1" bandRow="1">
                <a:tableStyleId>{5C22544A-7EE6-4342-B048-85BDC9FD1C3A}</a:tableStyleId>
              </a:tblPr>
              <a:tblGrid>
                <a:gridCol w="1008112">
                  <a:extLst>
                    <a:ext uri="{9D8B030D-6E8A-4147-A177-3AD203B41FA5}">
                      <a16:colId xmlns:a16="http://schemas.microsoft.com/office/drawing/2014/main" val="3669842267"/>
                    </a:ext>
                  </a:extLst>
                </a:gridCol>
                <a:gridCol w="432048">
                  <a:extLst>
                    <a:ext uri="{9D8B030D-6E8A-4147-A177-3AD203B41FA5}">
                      <a16:colId xmlns:a16="http://schemas.microsoft.com/office/drawing/2014/main" val="1100154702"/>
                    </a:ext>
                  </a:extLst>
                </a:gridCol>
              </a:tblGrid>
              <a:tr h="215885">
                <a:tc gridSpan="2">
                  <a:txBody>
                    <a:bodyPr/>
                    <a:lstStyle/>
                    <a:p>
                      <a:pPr algn="l"/>
                      <a:r>
                        <a:rPr lang="en-US" altLang="zh-TW" sz="1200" b="1" cap="none" spc="0" dirty="0">
                          <a:ln w="0"/>
                          <a:solidFill>
                            <a:schemeClr val="tx1"/>
                          </a:solidFill>
                          <a:effectLst/>
                        </a:rPr>
                        <a:t>Vera Rubin ($7.8M)</a:t>
                      </a:r>
                      <a:br>
                        <a:rPr lang="en-US" altLang="zh-TW" sz="1200" b="1" cap="none" spc="0" dirty="0">
                          <a:ln w="0"/>
                          <a:solidFill>
                            <a:schemeClr val="tx1"/>
                          </a:solidFill>
                          <a:effectLst/>
                        </a:rPr>
                      </a:br>
                      <a:r>
                        <a:rPr lang="en-US" altLang="zh-TW" sz="1000" b="0" cap="none" spc="0" dirty="0">
                          <a:ln w="0"/>
                          <a:solidFill>
                            <a:schemeClr val="accent1"/>
                          </a:solidFill>
                          <a:effectLst/>
                        </a:rPr>
                        <a:t>Cost</a:t>
                      </a:r>
                      <a:r>
                        <a:rPr lang="zh-TW" altLang="en-US" sz="1000" b="0" cap="none" spc="0" dirty="0">
                          <a:ln w="0"/>
                          <a:solidFill>
                            <a:schemeClr val="accent1"/>
                          </a:solidFill>
                          <a:effectLst/>
                        </a:rPr>
                        <a:t> </a:t>
                      </a:r>
                      <a:r>
                        <a:rPr lang="en-US" altLang="zh-TW" sz="1000" b="0" cap="none" spc="0" dirty="0">
                          <a:ln w="0"/>
                          <a:solidFill>
                            <a:schemeClr val="accent1"/>
                          </a:solidFill>
                          <a:effectLst/>
                        </a:rPr>
                        <a:t>Structure</a:t>
                      </a: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hMerge="1">
                  <a:txBody>
                    <a:bodyPr/>
                    <a:lstStyle/>
                    <a:p>
                      <a:pPr algn="l"/>
                      <a:endParaRPr lang="en-US" altLang="zh-TW" sz="1200" b="1" cap="none" spc="0" dirty="0">
                        <a:ln w="0"/>
                        <a:solidFill>
                          <a:schemeClr val="tx1"/>
                        </a:solidFill>
                        <a:effectLst/>
                      </a:endParaRPr>
                    </a:p>
                  </a:txBody>
                  <a:tcPr marL="36000" marR="0" marT="0" marB="0" anchor="ctr">
                    <a:lnL w="3175" cap="flat" cmpd="sng" algn="ctr">
                      <a:noFill/>
                      <a:prstDash val="solid"/>
                      <a:round/>
                      <a:headEnd type="none" w="med" len="med"/>
                      <a:tailEnd type="none" w="med" len="med"/>
                    </a:lnL>
                    <a:lnR w="12700" cmpd="sng">
                      <a:noFill/>
                    </a:lnR>
                    <a:lnT w="12700" cmpd="sng">
                      <a:noFill/>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060820752"/>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GPU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51 </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808428270"/>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HBM</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25</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405723602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CPU</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3</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962848898"/>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PCB</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1</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3331820524"/>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200" b="0" dirty="0"/>
                        <a:t>Other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altLang="zh-TW" sz="1200" b="0" dirty="0"/>
                        <a:t>20</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2247291965"/>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MLCC/ABF/Heat</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zh-TW" sz="1000" b="0" dirty="0"/>
                        <a:t>/Power</a:t>
                      </a:r>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1740695031"/>
                  </a:ext>
                </a:extLst>
              </a:tr>
              <a:tr h="215885">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US" altLang="zh-TW" sz="1200" b="0" dirty="0"/>
                    </a:p>
                  </a:txBody>
                  <a:tcPr marL="36000" marR="0" marT="0" marB="0" anchor="ctr">
                    <a:lnL w="3175" cap="flat" cmpd="sng" algn="ctr">
                      <a:noFill/>
                      <a:prstDash val="solid"/>
                      <a:round/>
                      <a:headEnd type="none" w="med" len="med"/>
                      <a:tailEnd type="none" w="med" len="med"/>
                    </a:lnL>
                    <a:lnR w="12700" cmpd="sng">
                      <a:noFill/>
                    </a:lnR>
                    <a:lnT w="3175" cap="flat" cmpd="sng" algn="ctr">
                      <a:solidFill>
                        <a:schemeClr val="tx1">
                          <a:lumMod val="65000"/>
                          <a:lumOff val="35000"/>
                        </a:schemeClr>
                      </a:solidFill>
                      <a:prstDash val="solid"/>
                      <a:round/>
                      <a:headEnd type="none" w="med" len="med"/>
                      <a:tailEnd type="none" w="med" len="med"/>
                    </a:lnT>
                    <a:lnB w="3175" cap="flat" cmpd="sng" algn="ctr">
                      <a:solidFill>
                        <a:schemeClr val="tx1">
                          <a:lumMod val="65000"/>
                          <a:lumOff val="35000"/>
                        </a:schemeClr>
                      </a:solidFill>
                      <a:prstDash val="solid"/>
                      <a:round/>
                      <a:headEnd type="none" w="med" len="med"/>
                      <a:tailEnd type="none" w="med" len="med"/>
                    </a:lnB>
                    <a:lnTlToBr w="12700" cmpd="sng">
                      <a:noFill/>
                      <a:prstDash val="solid"/>
                    </a:lnTlToBr>
                    <a:noFill/>
                  </a:tcPr>
                </a:tc>
                <a:extLst>
                  <a:ext uri="{0D108BD9-81ED-4DB2-BD59-A6C34878D82A}">
                    <a16:rowId xmlns:a16="http://schemas.microsoft.com/office/drawing/2014/main" val="721164091"/>
                  </a:ext>
                </a:extLst>
              </a:tr>
            </a:tbl>
          </a:graphicData>
        </a:graphic>
      </p:graphicFrame>
    </p:spTree>
    <p:extLst>
      <p:ext uri="{BB962C8B-B14F-4D97-AF65-F5344CB8AC3E}">
        <p14:creationId xmlns:p14="http://schemas.microsoft.com/office/powerpoint/2010/main" val="346748935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BED9D150-F62E-C82E-E18D-96661F0595EC}"/>
              </a:ext>
            </a:extLst>
          </p:cNvPr>
          <p:cNvSpPr txBox="1">
            <a:spLocks/>
          </p:cNvSpPr>
          <p:nvPr/>
        </p:nvSpPr>
        <p:spPr>
          <a:xfrm>
            <a:off x="-8612" y="80510"/>
            <a:ext cx="7748963" cy="679839"/>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Conclusion</a:t>
            </a:r>
          </a:p>
          <a:p>
            <a:r>
              <a:rPr lang="en-US" altLang="zh-TW" sz="1200" dirty="0">
                <a:latin typeface="Arial" panose="020B0604020202020204" pitchFamily="34" charset="0"/>
                <a:cs typeface="Arial" panose="020B0604020202020204" pitchFamily="34" charset="0"/>
              </a:rPr>
              <a:t>Knowledge grounding is useful for reducing hallucinations.</a:t>
            </a:r>
          </a:p>
          <a:p>
            <a:endParaRPr lang="en-US" altLang="zh-TW" sz="1400" dirty="0">
              <a:latin typeface="Arial" panose="020B0604020202020204" pitchFamily="34" charset="0"/>
              <a:cs typeface="Arial" panose="020B0604020202020204" pitchFamily="34" charset="0"/>
              <a:sym typeface="Wingdings" panose="05000000000000000000" pitchFamily="2" charset="2"/>
            </a:endParaRPr>
          </a:p>
          <a:p>
            <a:pPr marL="285750" indent="-285750">
              <a:buFontTx/>
              <a:buChar char="-"/>
            </a:pPr>
            <a:endParaRPr lang="en-US" altLang="zh-TW" sz="1400" dirty="0">
              <a:latin typeface="Arial" panose="020B0604020202020204" pitchFamily="34" charset="0"/>
              <a:cs typeface="Arial" panose="020B0604020202020204" pitchFamily="34" charset="0"/>
            </a:endParaRPr>
          </a:p>
        </p:txBody>
      </p:sp>
      <p:pic>
        <p:nvPicPr>
          <p:cNvPr id="5" name="圖片 4">
            <a:extLst>
              <a:ext uri="{FF2B5EF4-FFF2-40B4-BE49-F238E27FC236}">
                <a16:creationId xmlns:a16="http://schemas.microsoft.com/office/drawing/2014/main" id="{1ABD43F0-0180-6E2E-FDD8-93116076EC3C}"/>
              </a:ext>
            </a:extLst>
          </p:cNvPr>
          <p:cNvPicPr>
            <a:picLocks noChangeAspect="1"/>
          </p:cNvPicPr>
          <p:nvPr/>
        </p:nvPicPr>
        <p:blipFill>
          <a:blip r:embed="rId3"/>
          <a:stretch>
            <a:fillRect/>
          </a:stretch>
        </p:blipFill>
        <p:spPr>
          <a:xfrm>
            <a:off x="179512" y="2522515"/>
            <a:ext cx="9144000" cy="3727360"/>
          </a:xfrm>
          <a:prstGeom prst="rect">
            <a:avLst/>
          </a:prstGeom>
        </p:spPr>
      </p:pic>
      <p:sp>
        <p:nvSpPr>
          <p:cNvPr id="6" name="文字方塊 5">
            <a:extLst>
              <a:ext uri="{FF2B5EF4-FFF2-40B4-BE49-F238E27FC236}">
                <a16:creationId xmlns:a16="http://schemas.microsoft.com/office/drawing/2014/main" id="{F855954C-6FBF-D827-4487-FCECA30EE9C6}"/>
              </a:ext>
            </a:extLst>
          </p:cNvPr>
          <p:cNvSpPr txBox="1"/>
          <p:nvPr/>
        </p:nvSpPr>
        <p:spPr>
          <a:xfrm>
            <a:off x="5652120" y="5156745"/>
            <a:ext cx="936103" cy="271869"/>
          </a:xfrm>
          <a:prstGeom prst="rect">
            <a:avLst/>
          </a:prstGeom>
          <a:noFill/>
        </p:spPr>
        <p:txBody>
          <a:bodyPr wrap="none" lIns="0" tIns="0" rIns="0" bIns="0" anchor="ctr" anchorCtr="1">
            <a:noAutofit/>
          </a:bodyPr>
          <a:lstStyle/>
          <a:p>
            <a:pP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水冷方案</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sp>
        <p:nvSpPr>
          <p:cNvPr id="4" name="文字方塊 3">
            <a:extLst>
              <a:ext uri="{FF2B5EF4-FFF2-40B4-BE49-F238E27FC236}">
                <a16:creationId xmlns:a16="http://schemas.microsoft.com/office/drawing/2014/main" id="{BC5F94B8-C6FD-68C7-D3DE-F455FD4A7480}"/>
              </a:ext>
            </a:extLst>
          </p:cNvPr>
          <p:cNvSpPr txBox="1"/>
          <p:nvPr/>
        </p:nvSpPr>
        <p:spPr>
          <a:xfrm>
            <a:off x="1259632" y="4952844"/>
            <a:ext cx="1152128" cy="708404"/>
          </a:xfrm>
          <a:prstGeom prst="rect">
            <a:avLst/>
          </a:prstGeom>
          <a:noFill/>
        </p:spPr>
        <p:txBody>
          <a:bodyPr wrap="none" lIns="0" tIns="0" rIns="0" bIns="0" anchor="ctr" anchorCtr="1">
            <a:noAutofit/>
          </a:bodyPr>
          <a:lstStyle/>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AI Chip</a:t>
            </a:r>
          </a:p>
          <a:p>
            <a:pPr>
              <a:lnSpc>
                <a:spcPts val="1400"/>
              </a:lnSpc>
              <a:tabLst>
                <a:tab pos="285750" algn="l"/>
              </a:tabLst>
            </a:pPr>
            <a:r>
              <a:rPr lang="en-US" altLang="zh-TW" sz="1200" u="none" strike="noStrike" dirty="0">
                <a:solidFill>
                  <a:schemeClr val="tx2"/>
                </a:solidFill>
                <a:effectLst/>
                <a:latin typeface="微軟正黑體" panose="020B0604030504040204" pitchFamily="34" charset="-120"/>
                <a:ea typeface="微軟正黑體" panose="020B0604030504040204" pitchFamily="34" charset="-120"/>
              </a:rPr>
              <a:t>Memory</a:t>
            </a:r>
          </a:p>
          <a:p>
            <a:pP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Power Supply</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7" name="圖形 6" descr="城市 以實心填滿">
            <a:extLst>
              <a:ext uri="{FF2B5EF4-FFF2-40B4-BE49-F238E27FC236}">
                <a16:creationId xmlns:a16="http://schemas.microsoft.com/office/drawing/2014/main" id="{C2B72C25-ED45-5954-14FF-4ED6E9CA641D}"/>
              </a:ext>
            </a:extLst>
          </p:cNvPr>
          <p:cNvPicPr>
            <a:picLocks noChangeAspect="1"/>
          </p:cNvPicPr>
          <p:nvPr/>
        </p:nvPicPr>
        <p:blipFill>
          <a:blip>
            <a:extLst>
              <a:ext uri="{96DAC541-7B7A-43D3-8B79-37D633B846F1}">
                <asvg:svgBlip xmlns:asvg="http://schemas.microsoft.com/office/drawing/2016/SVG/main" r:embed="rId4"/>
              </a:ext>
            </a:extLst>
          </a:blip>
          <a:stretch>
            <a:fillRect/>
          </a:stretch>
        </p:blipFill>
        <p:spPr>
          <a:xfrm>
            <a:off x="509632" y="1107406"/>
            <a:ext cx="914400" cy="914400"/>
          </a:xfrm>
          <a:prstGeom prst="rect">
            <a:avLst/>
          </a:prstGeom>
        </p:spPr>
      </p:pic>
      <p:pic>
        <p:nvPicPr>
          <p:cNvPr id="9" name="圖形 8" descr="城市 外框">
            <a:extLst>
              <a:ext uri="{FF2B5EF4-FFF2-40B4-BE49-F238E27FC236}">
                <a16:creationId xmlns:a16="http://schemas.microsoft.com/office/drawing/2014/main" id="{D0FFB431-F1C9-6B9E-3F36-A836E681AE02}"/>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659632" y="1257406"/>
            <a:ext cx="914400" cy="914400"/>
          </a:xfrm>
          <a:prstGeom prst="rect">
            <a:avLst/>
          </a:prstGeom>
        </p:spPr>
      </p:pic>
      <p:pic>
        <p:nvPicPr>
          <p:cNvPr id="11" name="圖形 10" descr="電腦 以實心填滿">
            <a:extLst>
              <a:ext uri="{FF2B5EF4-FFF2-40B4-BE49-F238E27FC236}">
                <a16:creationId xmlns:a16="http://schemas.microsoft.com/office/drawing/2014/main" id="{7D5A119F-63F7-8F26-05E0-9E842762F21C}"/>
              </a:ext>
            </a:extLst>
          </p:cNvPr>
          <p:cNvPicPr>
            <a:picLocks noChangeAspect="1"/>
          </p:cNvPicPr>
          <p:nvPr/>
        </p:nvPicPr>
        <p:blipFill>
          <a:blip>
            <a:extLst>
              <a:ext uri="{96DAC541-7B7A-43D3-8B79-37D633B846F1}">
                <asvg:svgBlip xmlns:asvg="http://schemas.microsoft.com/office/drawing/2016/SVG/main" r:embed="rId6"/>
              </a:ext>
            </a:extLst>
          </a:blip>
          <a:stretch>
            <a:fillRect/>
          </a:stretch>
        </p:blipFill>
        <p:spPr>
          <a:xfrm>
            <a:off x="2504152" y="1100206"/>
            <a:ext cx="914400" cy="914400"/>
          </a:xfrm>
          <a:prstGeom prst="rect">
            <a:avLst/>
          </a:prstGeom>
        </p:spPr>
      </p:pic>
      <p:pic>
        <p:nvPicPr>
          <p:cNvPr id="13" name="圖形 12" descr="電腦 外框">
            <a:extLst>
              <a:ext uri="{FF2B5EF4-FFF2-40B4-BE49-F238E27FC236}">
                <a16:creationId xmlns:a16="http://schemas.microsoft.com/office/drawing/2014/main" id="{85417B8B-7D02-1518-C9D2-3537AFA24D3F}"/>
              </a:ext>
            </a:extLst>
          </p:cNvPr>
          <p:cNvPicPr>
            <a:picLocks noChangeAspect="1"/>
          </p:cNvPicPr>
          <p:nvPr/>
        </p:nvPicPr>
        <p:blipFill>
          <a:blip>
            <a:extLst>
              <a:ext uri="{96DAC541-7B7A-43D3-8B79-37D633B846F1}">
                <asvg:svgBlip xmlns:asvg="http://schemas.microsoft.com/office/drawing/2016/SVG/main" r:embed="rId7"/>
              </a:ext>
            </a:extLst>
          </a:blip>
          <a:stretch>
            <a:fillRect/>
          </a:stretch>
        </p:blipFill>
        <p:spPr>
          <a:xfrm>
            <a:off x="959632" y="1557406"/>
            <a:ext cx="914400" cy="914400"/>
          </a:xfrm>
          <a:prstGeom prst="rect">
            <a:avLst/>
          </a:prstGeom>
        </p:spPr>
      </p:pic>
      <p:pic>
        <p:nvPicPr>
          <p:cNvPr id="15" name="圖形 14" descr="處理器 外框">
            <a:extLst>
              <a:ext uri="{FF2B5EF4-FFF2-40B4-BE49-F238E27FC236}">
                <a16:creationId xmlns:a16="http://schemas.microsoft.com/office/drawing/2014/main" id="{1FA51469-F2E2-418C-DF4E-F8C83D8C1517}"/>
              </a:ext>
            </a:extLst>
          </p:cNvPr>
          <p:cNvPicPr>
            <a:picLocks noChangeAspect="1"/>
          </p:cNvPicPr>
          <p:nvPr/>
        </p:nvPicPr>
        <p:blipFill>
          <a:blip>
            <a:extLst>
              <a:ext uri="{96DAC541-7B7A-43D3-8B79-37D633B846F1}">
                <asvg:svgBlip xmlns:asvg="http://schemas.microsoft.com/office/drawing/2016/SVG/main" r:embed="rId8"/>
              </a:ext>
            </a:extLst>
          </a:blip>
          <a:stretch>
            <a:fillRect/>
          </a:stretch>
        </p:blipFill>
        <p:spPr>
          <a:xfrm>
            <a:off x="1109632" y="1707406"/>
            <a:ext cx="914400" cy="914400"/>
          </a:xfrm>
          <a:prstGeom prst="rect">
            <a:avLst/>
          </a:prstGeom>
        </p:spPr>
      </p:pic>
      <p:pic>
        <p:nvPicPr>
          <p:cNvPr id="17" name="圖形 16" descr="處理器 以實心填滿">
            <a:extLst>
              <a:ext uri="{FF2B5EF4-FFF2-40B4-BE49-F238E27FC236}">
                <a16:creationId xmlns:a16="http://schemas.microsoft.com/office/drawing/2014/main" id="{0AA322B1-04A1-CFFE-728E-8C3824FCFE29}"/>
              </a:ext>
            </a:extLst>
          </p:cNvPr>
          <p:cNvPicPr>
            <a:picLocks noChangeAspect="1"/>
          </p:cNvPicPr>
          <p:nvPr/>
        </p:nvPicPr>
        <p:blipFill>
          <a:blip>
            <a:extLst>
              <a:ext uri="{96DAC541-7B7A-43D3-8B79-37D633B846F1}">
                <asvg:svgBlip xmlns:asvg="http://schemas.microsoft.com/office/drawing/2016/SVG/main" r:embed="rId9"/>
              </a:ext>
            </a:extLst>
          </a:blip>
          <a:stretch>
            <a:fillRect/>
          </a:stretch>
        </p:blipFill>
        <p:spPr>
          <a:xfrm>
            <a:off x="4124747" y="650205"/>
            <a:ext cx="914400" cy="914400"/>
          </a:xfrm>
          <a:prstGeom prst="rect">
            <a:avLst/>
          </a:prstGeom>
        </p:spPr>
      </p:pic>
      <p:pic>
        <p:nvPicPr>
          <p:cNvPr id="19" name="圖片 18">
            <a:extLst>
              <a:ext uri="{FF2B5EF4-FFF2-40B4-BE49-F238E27FC236}">
                <a16:creationId xmlns:a16="http://schemas.microsoft.com/office/drawing/2014/main" id="{C84BDED7-0B93-3079-2719-BAB7E5456ECC}"/>
              </a:ext>
            </a:extLst>
          </p:cNvPr>
          <p:cNvPicPr>
            <a:picLocks noChangeAspect="1"/>
          </p:cNvPicPr>
          <p:nvPr/>
        </p:nvPicPr>
        <p:blipFill>
          <a:blip r:embed="rId10"/>
          <a:stretch>
            <a:fillRect/>
          </a:stretch>
        </p:blipFill>
        <p:spPr>
          <a:xfrm>
            <a:off x="5464116" y="569168"/>
            <a:ext cx="1124107" cy="1076475"/>
          </a:xfrm>
          <a:prstGeom prst="rect">
            <a:avLst/>
          </a:prstGeom>
        </p:spPr>
      </p:pic>
      <p:pic>
        <p:nvPicPr>
          <p:cNvPr id="21" name="圖片 20">
            <a:extLst>
              <a:ext uri="{FF2B5EF4-FFF2-40B4-BE49-F238E27FC236}">
                <a16:creationId xmlns:a16="http://schemas.microsoft.com/office/drawing/2014/main" id="{8D0477E1-D253-0DF8-70E7-619094E21A5C}"/>
              </a:ext>
            </a:extLst>
          </p:cNvPr>
          <p:cNvPicPr>
            <a:picLocks noChangeAspect="1"/>
          </p:cNvPicPr>
          <p:nvPr/>
        </p:nvPicPr>
        <p:blipFill>
          <a:blip r:embed="rId11"/>
          <a:stretch>
            <a:fillRect/>
          </a:stretch>
        </p:blipFill>
        <p:spPr>
          <a:xfrm>
            <a:off x="7269840" y="476274"/>
            <a:ext cx="914528" cy="1438476"/>
          </a:xfrm>
          <a:prstGeom prst="rect">
            <a:avLst/>
          </a:prstGeom>
        </p:spPr>
      </p:pic>
      <p:pic>
        <p:nvPicPr>
          <p:cNvPr id="23" name="圖片 22">
            <a:extLst>
              <a:ext uri="{FF2B5EF4-FFF2-40B4-BE49-F238E27FC236}">
                <a16:creationId xmlns:a16="http://schemas.microsoft.com/office/drawing/2014/main" id="{A9F8AC15-3589-E734-23EA-38B6F24A44E9}"/>
              </a:ext>
            </a:extLst>
          </p:cNvPr>
          <p:cNvPicPr>
            <a:picLocks noChangeAspect="1"/>
          </p:cNvPicPr>
          <p:nvPr/>
        </p:nvPicPr>
        <p:blipFill>
          <a:blip r:embed="rId12"/>
          <a:stretch>
            <a:fillRect/>
          </a:stretch>
        </p:blipFill>
        <p:spPr>
          <a:xfrm>
            <a:off x="5957346" y="1831200"/>
            <a:ext cx="971686" cy="981212"/>
          </a:xfrm>
          <a:prstGeom prst="rect">
            <a:avLst/>
          </a:prstGeom>
        </p:spPr>
      </p:pic>
    </p:spTree>
    <p:extLst>
      <p:ext uri="{BB962C8B-B14F-4D97-AF65-F5344CB8AC3E}">
        <p14:creationId xmlns:p14="http://schemas.microsoft.com/office/powerpoint/2010/main" val="381018095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2018AC-1B69-5C5F-D06C-82F3DCF3FF90}"/>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FF4C7BA1-3F14-92B7-7B1E-DE9895DF5CD3}"/>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pic>
        <p:nvPicPr>
          <p:cNvPr id="5" name="圖片 4">
            <a:extLst>
              <a:ext uri="{FF2B5EF4-FFF2-40B4-BE49-F238E27FC236}">
                <a16:creationId xmlns:a16="http://schemas.microsoft.com/office/drawing/2014/main" id="{B5BE417B-3333-4922-9330-C1DD05761A58}"/>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0" y="935831"/>
            <a:ext cx="9144000" cy="4986338"/>
          </a:xfrm>
          <a:prstGeom prst="rect">
            <a:avLst/>
          </a:prstGeom>
        </p:spPr>
      </p:pic>
    </p:spTree>
    <p:extLst>
      <p:ext uri="{BB962C8B-B14F-4D97-AF65-F5344CB8AC3E}">
        <p14:creationId xmlns:p14="http://schemas.microsoft.com/office/powerpoint/2010/main" val="2416124941"/>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標題 1">
            <a:extLst>
              <a:ext uri="{FF2B5EF4-FFF2-40B4-BE49-F238E27FC236}">
                <a16:creationId xmlns:a16="http://schemas.microsoft.com/office/drawing/2014/main" id="{78DCF87D-D8A6-48A4-23C9-ED219CAE6D6A}"/>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4" name="文字方塊 3">
            <a:extLst>
              <a:ext uri="{FF2B5EF4-FFF2-40B4-BE49-F238E27FC236}">
                <a16:creationId xmlns:a16="http://schemas.microsoft.com/office/drawing/2014/main" id="{638D2052-20CE-5307-D375-69FD3BA4E10D}"/>
              </a:ext>
            </a:extLst>
          </p:cNvPr>
          <p:cNvSpPr txBox="1"/>
          <p:nvPr/>
        </p:nvSpPr>
        <p:spPr>
          <a:xfrm>
            <a:off x="179512" y="1700808"/>
            <a:ext cx="4600574" cy="1169551"/>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一、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晶片的硬體製造成本（</a:t>
            </a:r>
            <a:r>
              <a:rPr lang="en-US" altLang="zh-TW" sz="1100" b="1" u="none" strike="noStrike" dirty="0">
                <a:effectLst/>
                <a:latin typeface="Google Sans"/>
                <a:ea typeface="微軟正黑體" panose="020B0604030504040204" pitchFamily="34" charset="-120"/>
              </a:rPr>
              <a:t>BOM </a:t>
            </a:r>
            <a:r>
              <a:rPr lang="zh-TW" altLang="en-US" sz="1100" b="1" u="none" strike="noStrike" dirty="0">
                <a:effectLst/>
                <a:latin typeface="Google Sans"/>
                <a:ea typeface="微軟正黑體" panose="020B0604030504040204" pitchFamily="34" charset="-120"/>
              </a:rPr>
              <a:t>結構）</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以最普及的 </a:t>
            </a:r>
            <a:r>
              <a:rPr lang="en-US" altLang="zh-TW" sz="1100" b="1" u="none" strike="noStrike" dirty="0">
                <a:effectLst/>
                <a:latin typeface="Google Sans"/>
                <a:ea typeface="微軟正黑體" panose="020B0604030504040204" pitchFamily="34" charset="-120"/>
                <a:hlinkClick r:id="rId3"/>
              </a:rPr>
              <a:t>NVIDIA H100 (SXM5)</a:t>
            </a:r>
            <a:r>
              <a:rPr lang="zh-TW" altLang="en-US" sz="1100" b="0" u="none" strike="noStrike" dirty="0">
                <a:effectLst/>
                <a:latin typeface="Google Sans"/>
                <a:ea typeface="微軟正黑體" panose="020B0604030504040204" pitchFamily="34" charset="-120"/>
              </a:rPr>
              <a:t> 晶片為基準，其硬體材料與封裝的</a:t>
            </a:r>
            <a:r>
              <a:rPr lang="zh-TW" altLang="en-US" sz="1100" b="1" u="none" strike="noStrike" dirty="0">
                <a:effectLst/>
                <a:latin typeface="Google Sans"/>
                <a:ea typeface="微軟正黑體" panose="020B0604030504040204" pitchFamily="34" charset="-120"/>
              </a:rPr>
              <a:t>總生產成本約為 </a:t>
            </a:r>
            <a:r>
              <a:rPr lang="en-US" altLang="zh-TW" sz="1100" b="1" u="none" strike="noStrike" dirty="0">
                <a:effectLst/>
                <a:latin typeface="Google Sans"/>
                <a:ea typeface="微軟正黑體" panose="020B0604030504040204" pitchFamily="34" charset="-120"/>
              </a:rPr>
              <a:t>3,320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。然而，因為市場極度供不應求與技術壟斷，其終端售價高達 </a:t>
            </a:r>
            <a:r>
              <a:rPr lang="en-US" altLang="zh-TW" sz="1100" b="1" u="none" strike="noStrike" dirty="0">
                <a:effectLst/>
                <a:latin typeface="Google Sans"/>
                <a:ea typeface="微軟正黑體" panose="020B0604030504040204" pitchFamily="34" charset="-120"/>
              </a:rPr>
              <a:t>28,000 </a:t>
            </a:r>
            <a:r>
              <a:rPr lang="zh-TW" altLang="en-US" sz="1100" b="1" u="none" strike="noStrike" dirty="0">
                <a:effectLst/>
                <a:latin typeface="Google Sans"/>
                <a:ea typeface="微軟正黑體" panose="020B0604030504040204" pitchFamily="34" charset="-120"/>
              </a:rPr>
              <a:t>至 </a:t>
            </a:r>
            <a:r>
              <a:rPr lang="en-US" altLang="zh-TW" sz="1100" b="1" u="none" strike="noStrike" dirty="0">
                <a:effectLst/>
                <a:latin typeface="Google Sans"/>
                <a:ea typeface="微軟正黑體" panose="020B0604030504040204" pitchFamily="34" charset="-120"/>
              </a:rPr>
              <a:t>35,000 </a:t>
            </a:r>
            <a:r>
              <a:rPr lang="zh-TW" altLang="en-US" sz="1100" b="1" u="none" strike="noStrike" dirty="0">
                <a:effectLst/>
                <a:latin typeface="Google Sans"/>
                <a:ea typeface="微軟正黑體" panose="020B0604030504040204" pitchFamily="34" charset="-120"/>
              </a:rPr>
              <a:t>美元</a:t>
            </a:r>
            <a:r>
              <a:rPr lang="zh-TW" altLang="en-US" sz="1100" b="0" u="none" strike="noStrike" dirty="0">
                <a:effectLst/>
                <a:latin typeface="Google Sans"/>
                <a:ea typeface="微軟正黑體" panose="020B0604030504040204" pitchFamily="34" charset="-120"/>
              </a:rPr>
              <a:t>，這意味著晶片擁有高達 </a:t>
            </a:r>
            <a:r>
              <a:rPr lang="en-US" altLang="zh-TW" sz="1100" b="1" u="none" strike="noStrike" dirty="0">
                <a:effectLst/>
                <a:latin typeface="Google Sans"/>
                <a:ea typeface="微軟正黑體" panose="020B0604030504040204" pitchFamily="34" charset="-120"/>
              </a:rPr>
              <a:t>85% - 88% </a:t>
            </a:r>
            <a:r>
              <a:rPr lang="zh-TW" altLang="en-US" sz="1100" b="1" u="none" strike="noStrike" dirty="0">
                <a:effectLst/>
                <a:latin typeface="Google Sans"/>
                <a:ea typeface="微軟正黑體" panose="020B0604030504040204" pitchFamily="34" charset="-120"/>
              </a:rPr>
              <a:t>的超高毛利率</a:t>
            </a:r>
            <a:r>
              <a:rPr lang="zh-TW" altLang="en-US" sz="1100" b="0" u="none" strike="noStrike" dirty="0">
                <a:effectLst/>
                <a:latin typeface="Google Sans"/>
                <a:ea typeface="微軟正黑體" panose="020B0604030504040204" pitchFamily="34" charset="-120"/>
              </a:rPr>
              <a:t>。</a:t>
            </a:r>
          </a:p>
        </p:txBody>
      </p:sp>
      <p:sp>
        <p:nvSpPr>
          <p:cNvPr id="10" name="文字方塊 9">
            <a:extLst>
              <a:ext uri="{FF2B5EF4-FFF2-40B4-BE49-F238E27FC236}">
                <a16:creationId xmlns:a16="http://schemas.microsoft.com/office/drawing/2014/main" id="{F7E885B6-DCC5-34B7-750B-0CDBA361DF3B}"/>
              </a:ext>
            </a:extLst>
          </p:cNvPr>
          <p:cNvSpPr txBox="1"/>
          <p:nvPr/>
        </p:nvSpPr>
        <p:spPr>
          <a:xfrm>
            <a:off x="160884" y="2982021"/>
            <a:ext cx="4600574" cy="938719"/>
          </a:xfrm>
          <a:prstGeom prst="rect">
            <a:avLst/>
          </a:prstGeom>
          <a:noFill/>
        </p:spPr>
        <p:txBody>
          <a:bodyPr wrap="square">
            <a:spAutoFit/>
          </a:bodyPr>
          <a:lstStyle/>
          <a:p>
            <a:r>
              <a:rPr lang="en-US" altLang="zh-TW" sz="1100" dirty="0">
                <a:latin typeface="微軟正黑體" panose="020B0604030504040204" pitchFamily="34" charset="-120"/>
                <a:ea typeface="微軟正黑體" panose="020B0604030504040204" pitchFamily="34" charset="-120"/>
              </a:rPr>
              <a:t>NVIDIA H100 </a:t>
            </a:r>
            <a:r>
              <a:rPr lang="zh-TW" altLang="en-US" sz="1100" dirty="0">
                <a:latin typeface="微軟正黑體" panose="020B0604030504040204" pitchFamily="34" charset="-120"/>
                <a:ea typeface="微軟正黑體" panose="020B0604030504040204" pitchFamily="34" charset="-120"/>
              </a:rPr>
              <a:t>晶片製造成本拆解 </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$3,320 </a:t>
            </a:r>
            <a:r>
              <a:rPr lang="zh-TW" altLang="en-US" sz="1100" dirty="0">
                <a:latin typeface="微軟正黑體" panose="020B0604030504040204" pitchFamily="34" charset="-120"/>
                <a:ea typeface="微軟正黑體" panose="020B0604030504040204" pitchFamily="34" charset="-120"/>
              </a:rPr>
              <a:t>美元</a:t>
            </a:r>
            <a:r>
              <a:rPr lang="en-US" altLang="zh-TW" sz="1100" dirty="0">
                <a:latin typeface="微軟正黑體" panose="020B0604030504040204" pitchFamily="34" charset="-120"/>
                <a:ea typeface="微軟正黑體" panose="020B0604030504040204" pitchFamily="34" charset="-120"/>
              </a:rPr>
              <a:t>)</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邏輯晶粒 </a:t>
            </a:r>
            <a:r>
              <a:rPr lang="en-US" altLang="zh-TW" sz="1100" dirty="0">
                <a:latin typeface="微軟正黑體" panose="020B0604030504040204" pitchFamily="34" charset="-120"/>
                <a:ea typeface="微軟正黑體" panose="020B0604030504040204" pitchFamily="34" charset="-120"/>
              </a:rPr>
              <a:t>(Logic Die: TSMC 4N)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$300 ( 9%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高頻寬記憶體 </a:t>
            </a:r>
            <a:r>
              <a:rPr lang="en-US" altLang="zh-TW" sz="1100" dirty="0">
                <a:latin typeface="微軟正黑體" panose="020B0604030504040204" pitchFamily="34" charset="-120"/>
                <a:ea typeface="微軟正黑體" panose="020B0604030504040204" pitchFamily="34" charset="-120"/>
              </a:rPr>
              <a:t>(HBM3, 80GB)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$1,350 ( 41%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先進封裝 </a:t>
            </a:r>
            <a:r>
              <a:rPr lang="en-US" altLang="zh-TW" sz="1100" dirty="0">
                <a:latin typeface="微軟正黑體" panose="020B0604030504040204" pitchFamily="34" charset="-120"/>
                <a:ea typeface="微軟正黑體" panose="020B0604030504040204" pitchFamily="34" charset="-120"/>
              </a:rPr>
              <a:t>(TSMC CoWoS-S)        ──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$750 ( 22% )</a:t>
            </a:r>
          </a:p>
          <a:p>
            <a:r>
              <a:rPr lang="en-US" altLang="zh-TW" sz="1100" dirty="0">
                <a:latin typeface="微軟正黑體" panose="020B0604030504040204" pitchFamily="34" charset="-120"/>
                <a:ea typeface="微軟正黑體" panose="020B0604030504040204" pitchFamily="34" charset="-120"/>
              </a:rPr>
              <a:t>└─ </a:t>
            </a:r>
            <a:r>
              <a:rPr lang="zh-TW" altLang="en-US" sz="1100" dirty="0">
                <a:latin typeface="微軟正黑體" panose="020B0604030504040204" pitchFamily="34" charset="-120"/>
                <a:ea typeface="微軟正黑體" panose="020B0604030504040204" pitchFamily="34" charset="-120"/>
              </a:rPr>
              <a:t>測試、載板與其餘組裝 </a:t>
            </a:r>
            <a:r>
              <a:rPr lang="en-US" altLang="zh-TW" sz="1100" dirty="0">
                <a:latin typeface="微軟正黑體" panose="020B0604030504040204" pitchFamily="34" charset="-120"/>
                <a:ea typeface="微軟正黑體" panose="020B0604030504040204" pitchFamily="34" charset="-120"/>
              </a:rPr>
              <a:t>(Test/Assy)──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$920 ( 28% )</a:t>
            </a:r>
            <a:endParaRPr lang="zh-TW" altLang="en-US" sz="1100" dirty="0">
              <a:latin typeface="微軟正黑體" panose="020B0604030504040204" pitchFamily="34" charset="-120"/>
              <a:ea typeface="微軟正黑體" panose="020B0604030504040204" pitchFamily="34" charset="-120"/>
            </a:endParaRPr>
          </a:p>
        </p:txBody>
      </p:sp>
      <p:sp>
        <p:nvSpPr>
          <p:cNvPr id="11" name="Rectangle 1">
            <a:extLst>
              <a:ext uri="{FF2B5EF4-FFF2-40B4-BE49-F238E27FC236}">
                <a16:creationId xmlns:a16="http://schemas.microsoft.com/office/drawing/2014/main" id="{7B76D4F8-3568-DF11-A00E-AE477600322A}"/>
              </a:ext>
            </a:extLst>
          </p:cNvPr>
          <p:cNvSpPr>
            <a:spLocks noChangeArrowheads="1"/>
          </p:cNvSpPr>
          <p:nvPr/>
        </p:nvSpPr>
        <p:spPr bwMode="auto">
          <a:xfrm>
            <a:off x="179512" y="4089433"/>
            <a:ext cx="6120680" cy="2200602"/>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高頻寬記憶體（HBM）成為第一大成本怪獸 (佔比約 40% - 50%)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雲端大模型（LLM）的運算瓶頸在於記憶體傳輸速度（稱為「記憶體牆」）。因此雲端晶片必須外掛 6 到 8 顆極其昂貴的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HBM3 或 HBM3E</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光是這些記憶體組件，在晶片 BOM 表中就佔據了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1,000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（下一代 B300 晶片搭載 288GB HBM3E 成本將更驚人）。</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台積電先進封裝（CoWoS）是核心門檻 (佔比約 20% - 25%)</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要把龐大的邏輯主晶片（Logic Die）跟數顆 HBM 像蓋大樓一樣緊密接合，傳統封裝無法做到，必須使用</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hlinkClick r:id="rId4"/>
              </a:rPr>
              <a:t>台積電的 CoWoS 先進封裝技術</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endParaRPr kumimoji="0" lang="en-US" altLang="zh-TW" sz="1100" b="0" i="0" u="none" strike="noStrike" cap="none" normalizeH="0" baseline="0" dirty="0">
              <a:ln>
                <a:noFill/>
              </a:ln>
              <a:solidFill>
                <a:schemeClr val="tx1"/>
              </a:solidFill>
              <a:effectLst/>
              <a:latin typeface="Google Sans"/>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這層「中介層（Interposer）」與先進封裝的成本每顆就高達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500 ~ 1,500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p>
          <a:p>
            <a:pPr marL="0" marR="0" lvl="0" indent="0" algn="l" defTabSz="914400" rtl="0" eaLnBrk="0" fontAlgn="base" latinLnBrk="0" hangingPunct="0">
              <a:lnSpc>
                <a:spcPct val="100000"/>
              </a:lnSpc>
              <a:spcBef>
                <a:spcPct val="0"/>
              </a:spcBef>
              <a:spcAft>
                <a:spcPct val="0"/>
              </a:spcAft>
              <a:buClrTx/>
              <a:buSzTx/>
              <a:buFontTx/>
              <a:buChar char="•"/>
              <a:tabLst/>
            </a:pP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最核心的邏輯主晶片，成本占比反而最低 (佔比約 10%)</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a:t>
            </a:r>
            <a:b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b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負責算力的核心 Logic Die，雖然採用了台積電最頂尖的 4nm 或 3nm 等極紫外光（EUV）製程，但如果單純計算從 12 吋矽晶圓上切下來的「裸晶（Die）」成本，在良率穩定的情況下，單顆成本其實僅約 </a:t>
            </a:r>
            <a:r>
              <a:rPr kumimoji="0" lang="zh-TW" altLang="zh-TW" sz="1100" b="1" i="0" u="none" strike="noStrike" cap="none" normalizeH="0" baseline="0" dirty="0">
                <a:ln>
                  <a:noFill/>
                </a:ln>
                <a:solidFill>
                  <a:schemeClr val="tx1"/>
                </a:solidFill>
                <a:effectLst/>
                <a:latin typeface="Google Sans"/>
                <a:ea typeface="微軟正黑體" panose="020B0604030504040204" pitchFamily="34" charset="-120"/>
              </a:rPr>
              <a:t>250 ~ 350 美元</a:t>
            </a:r>
            <a:r>
              <a:rPr kumimoji="0" lang="zh-TW" altLang="zh-TW" sz="1100" b="0" i="0" u="none" strike="noStrike" cap="none" normalizeH="0" baseline="0" dirty="0">
                <a:ln>
                  <a:noFill/>
                </a:ln>
                <a:solidFill>
                  <a:schemeClr val="tx1"/>
                </a:solidFill>
                <a:effectLst/>
                <a:latin typeface="Google Sans"/>
                <a:ea typeface="微軟正黑體" panose="020B0604030504040204" pitchFamily="34" charset="-120"/>
              </a:rPr>
              <a:t>。 </a:t>
            </a:r>
          </a:p>
        </p:txBody>
      </p:sp>
      <p:sp>
        <p:nvSpPr>
          <p:cNvPr id="15" name="文字方塊 14">
            <a:extLst>
              <a:ext uri="{FF2B5EF4-FFF2-40B4-BE49-F238E27FC236}">
                <a16:creationId xmlns:a16="http://schemas.microsoft.com/office/drawing/2014/main" id="{822DAA9F-422D-5F46-A460-4C5974302240}"/>
              </a:ext>
            </a:extLst>
          </p:cNvPr>
          <p:cNvSpPr txBox="1"/>
          <p:nvPr/>
        </p:nvSpPr>
        <p:spPr>
          <a:xfrm>
            <a:off x="160884" y="451578"/>
            <a:ext cx="4600574" cy="1107996"/>
          </a:xfrm>
          <a:prstGeom prst="rect">
            <a:avLst/>
          </a:prstGeom>
          <a:noFill/>
        </p:spPr>
        <p:txBody>
          <a:bodyPr wrap="square">
            <a:spAutoFit/>
          </a:bodyPr>
          <a:lstStyle/>
          <a:p>
            <a:r>
              <a:rPr lang="zh-TW" altLang="en-US" sz="1100" dirty="0">
                <a:latin typeface="微軟正黑體" panose="020B0604030504040204" pitchFamily="34" charset="-120"/>
                <a:ea typeface="微軟正黑體" panose="020B0604030504040204" pitchFamily="34" charset="-120"/>
              </a:rPr>
              <a:t>雲端人工智慧晶片（</a:t>
            </a:r>
            <a:r>
              <a:rPr lang="en-US" altLang="zh-TW" sz="1100" dirty="0">
                <a:latin typeface="微軟正黑體" panose="020B0604030504040204" pitchFamily="34" charset="-120"/>
                <a:ea typeface="微軟正黑體" panose="020B0604030504040204" pitchFamily="34" charset="-120"/>
              </a:rPr>
              <a:t>Cloud AI Chip</a:t>
            </a:r>
            <a:r>
              <a:rPr lang="zh-TW" altLang="en-US" sz="1100" dirty="0">
                <a:latin typeface="微軟正黑體" panose="020B0604030504040204" pitchFamily="34" charset="-120"/>
                <a:ea typeface="微軟正黑體" panose="020B0604030504040204" pitchFamily="34" charset="-120"/>
              </a:rPr>
              <a:t>，如 </a:t>
            </a:r>
            <a:r>
              <a:rPr lang="en-US" altLang="zh-TW" sz="1100" dirty="0">
                <a:latin typeface="微軟正黑體" panose="020B0604030504040204" pitchFamily="34" charset="-120"/>
                <a:ea typeface="微軟正黑體" panose="020B0604030504040204" pitchFamily="34" charset="-120"/>
              </a:rPr>
              <a:t>NVIDIA H100 / B200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AMD MI300X</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Google TPU</a:t>
            </a:r>
            <a:r>
              <a:rPr lang="zh-TW" altLang="en-US" sz="1100" dirty="0">
                <a:latin typeface="微軟正黑體" panose="020B0604030504040204" pitchFamily="34" charset="-120"/>
                <a:ea typeface="微軟正黑體" panose="020B0604030504040204" pitchFamily="34" charset="-120"/>
              </a:rPr>
              <a:t>）的設計核心是「不惜一切代價追求極致算力與記憶體頻寬」。與 </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晶片斤斤計較於幾美元的低成本不同，雲端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晶片屬於動輒數千甚至數萬美元的晶片巨獸。根據 </a:t>
            </a:r>
            <a:r>
              <a:rPr lang="en-US" altLang="zh-TW" sz="1100" dirty="0">
                <a:latin typeface="微軟正黑體" panose="020B0604030504040204" pitchFamily="34" charset="-120"/>
                <a:ea typeface="微軟正黑體" panose="020B0604030504040204" pitchFamily="34" charset="-120"/>
              </a:rPr>
              <a:t>Silicon Analysts </a:t>
            </a:r>
            <a:r>
              <a:rPr lang="zh-TW" altLang="en-US" sz="1100" dirty="0">
                <a:latin typeface="微軟正黑體" panose="020B0604030504040204" pitchFamily="34" charset="-120"/>
                <a:ea typeface="微軟正黑體" panose="020B0604030504040204" pitchFamily="34" charset="-120"/>
              </a:rPr>
              <a:t>最新產業研究與 </a:t>
            </a:r>
            <a:r>
              <a:rPr lang="en-US" altLang="zh-TW" sz="1100" dirty="0">
                <a:latin typeface="微軟正黑體" panose="020B0604030504040204" pitchFamily="34" charset="-120"/>
                <a:ea typeface="微軟正黑體" panose="020B0604030504040204" pitchFamily="34" charset="-120"/>
              </a:rPr>
              <a:t>Epoch AI </a:t>
            </a:r>
            <a:r>
              <a:rPr lang="zh-TW" altLang="en-US" sz="1100" dirty="0">
                <a:latin typeface="微軟正黑體" panose="020B0604030504040204" pitchFamily="34" charset="-120"/>
                <a:ea typeface="微軟正黑體" panose="020B0604030504040204" pitchFamily="34" charset="-120"/>
              </a:rPr>
              <a:t>的數據，雲端 </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晶片的硬體製造成本（</a:t>
            </a:r>
            <a:r>
              <a:rPr lang="en-US" altLang="zh-TW" sz="1100" dirty="0">
                <a:latin typeface="微軟正黑體" panose="020B0604030504040204" pitchFamily="34" charset="-120"/>
                <a:ea typeface="微軟正黑體" panose="020B0604030504040204" pitchFamily="34" charset="-120"/>
              </a:rPr>
              <a:t>BOM</a:t>
            </a:r>
            <a:r>
              <a:rPr lang="zh-TW" altLang="en-US" sz="1100" dirty="0">
                <a:latin typeface="微軟正黑體" panose="020B0604030504040204" pitchFamily="34" charset="-120"/>
                <a:ea typeface="微軟正黑體" panose="020B0604030504040204" pitchFamily="34" charset="-120"/>
              </a:rPr>
              <a:t>）與整體結構分析如下：</a:t>
            </a:r>
          </a:p>
        </p:txBody>
      </p:sp>
    </p:spTree>
    <p:extLst>
      <p:ext uri="{BB962C8B-B14F-4D97-AF65-F5344CB8AC3E}">
        <p14:creationId xmlns:p14="http://schemas.microsoft.com/office/powerpoint/2010/main" val="61103376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文字方塊 2">
            <a:extLst>
              <a:ext uri="{FF2B5EF4-FFF2-40B4-BE49-F238E27FC236}">
                <a16:creationId xmlns:a16="http://schemas.microsoft.com/office/drawing/2014/main" id="{8F9BCE9E-B799-4EF7-10FE-13770935932E}"/>
              </a:ext>
            </a:extLst>
          </p:cNvPr>
          <p:cNvSpPr txBox="1"/>
          <p:nvPr/>
        </p:nvSpPr>
        <p:spPr>
          <a:xfrm>
            <a:off x="107504" y="980728"/>
            <a:ext cx="8928992" cy="3085460"/>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二、 雲端 </a:t>
            </a:r>
            <a:r>
              <a:rPr lang="en-US" altLang="zh-TW" sz="1100" b="1" u="none" strike="noStrike" dirty="0">
                <a:effectLst/>
                <a:latin typeface="Google Sans"/>
                <a:ea typeface="微軟正黑體" panose="020B0604030504040204" pitchFamily="34" charset="-120"/>
              </a:rPr>
              <a:t>AI </a:t>
            </a:r>
            <a:r>
              <a:rPr lang="zh-TW" altLang="en-US" sz="1100" b="1" u="none" strike="noStrike" dirty="0">
                <a:effectLst/>
                <a:latin typeface="Google Sans"/>
                <a:ea typeface="微軟正黑體" panose="020B0604030504040204" pitchFamily="34" charset="-120"/>
              </a:rPr>
              <a:t>晶片的三大結構性變化趨勢</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進入 </a:t>
            </a:r>
            <a:r>
              <a:rPr lang="en-US" altLang="zh-TW" sz="1100" b="0" u="none" strike="noStrike" dirty="0">
                <a:effectLst/>
                <a:latin typeface="Google Sans"/>
                <a:ea typeface="微軟正黑體" panose="020B0604030504040204" pitchFamily="34" charset="-120"/>
              </a:rPr>
              <a:t>2025</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2026 </a:t>
            </a:r>
            <a:r>
              <a:rPr lang="zh-TW" altLang="en-US" sz="1100" b="0" u="none" strike="noStrike" dirty="0">
                <a:effectLst/>
                <a:latin typeface="Google Sans"/>
                <a:ea typeface="微軟正黑體" panose="020B0604030504040204" pitchFamily="34" charset="-120"/>
              </a:rPr>
              <a:t>年，隨著晶片算力需求邁入「</a:t>
            </a:r>
            <a:r>
              <a:rPr lang="en-US" altLang="zh-TW" sz="1100" b="0" u="none" strike="noStrike" dirty="0">
                <a:effectLst/>
                <a:latin typeface="Google Sans"/>
                <a:ea typeface="微軟正黑體" panose="020B0604030504040204" pitchFamily="34" charset="-120"/>
              </a:rPr>
              <a:t>Blackwell</a:t>
            </a:r>
            <a:r>
              <a:rPr lang="zh-TW" altLang="en-US" sz="1100" b="0" u="none" strike="noStrike" dirty="0">
                <a:effectLst/>
                <a:latin typeface="Google Sans"/>
                <a:ea typeface="微軟正黑體" panose="020B0604030504040204" pitchFamily="34" charset="-120"/>
              </a:rPr>
              <a:t>」與「次世代架構」時代，雲端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晶片的結構正在發生激烈的物理與成本質變：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3"/>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從「單一晶片（</a:t>
            </a:r>
            <a:r>
              <a:rPr lang="en-US" altLang="zh-TW" sz="1100" b="1" u="none" strike="noStrike" dirty="0">
                <a:effectLst/>
                <a:latin typeface="Google Sans"/>
                <a:ea typeface="微軟正黑體" panose="020B0604030504040204" pitchFamily="34" charset="-120"/>
              </a:rPr>
              <a:t>Monolithic</a:t>
            </a:r>
            <a:r>
              <a:rPr lang="zh-TW" altLang="en-US" sz="1100" b="1" u="none" strike="noStrike" dirty="0">
                <a:effectLst/>
                <a:latin typeface="Google Sans"/>
                <a:ea typeface="微軟正黑體" panose="020B0604030504040204" pitchFamily="34" charset="-120"/>
              </a:rPr>
              <a:t>）」走向「小晶片（</a:t>
            </a:r>
            <a:r>
              <a:rPr lang="en-US" altLang="zh-TW" sz="1100" b="1" u="none" strike="noStrike" dirty="0">
                <a:effectLst/>
                <a:latin typeface="Google Sans"/>
                <a:ea typeface="微軟正黑體" panose="020B0604030504040204" pitchFamily="34" charset="-120"/>
              </a:rPr>
              <a:t>Chiplet / Multi-Die</a:t>
            </a:r>
            <a:r>
              <a:rPr lang="zh-TW" altLang="en-US" sz="1100" b="1" u="none" strike="noStrike" dirty="0">
                <a:effectLst/>
                <a:latin typeface="Google Sans"/>
                <a:ea typeface="微軟正黑體" panose="020B0604030504040204" pitchFamily="34" charset="-120"/>
              </a:rPr>
              <a:t>）」</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由於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晶片的面積已經大到逼近曝光機的物理極限（光罩極限，約 </a:t>
            </a:r>
            <a:r>
              <a:rPr lang="en-US" altLang="zh-TW" sz="1100" b="0" u="none" strike="noStrike" dirty="0">
                <a:effectLst/>
                <a:latin typeface="Google Sans"/>
                <a:ea typeface="微軟正黑體" panose="020B0604030504040204" pitchFamily="34" charset="-120"/>
              </a:rPr>
              <a:t>858 mm²</a:t>
            </a:r>
            <a:r>
              <a:rPr lang="zh-TW" altLang="en-US" sz="1100" b="0" u="none" strike="noStrike" dirty="0">
                <a:effectLst/>
                <a:latin typeface="Google Sans"/>
                <a:ea typeface="微軟正黑體" panose="020B0604030504040204" pitchFamily="34" charset="-120"/>
              </a:rPr>
              <a:t>），單一塊晶片再做大就會良率暴跌。現在的雲端晶片（如 </a:t>
            </a:r>
            <a:r>
              <a:rPr lang="en-US" altLang="zh-TW" sz="1100" b="0" u="none" strike="noStrike" dirty="0">
                <a:effectLst/>
                <a:latin typeface="Google Sans"/>
                <a:ea typeface="微軟正黑體" panose="020B0604030504040204" pitchFamily="34" charset="-120"/>
              </a:rPr>
              <a:t>AMD MI300X</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4"/>
              </a:rPr>
              <a:t>NVIDIA Blackwell</a:t>
            </a:r>
            <a:r>
              <a:rPr lang="zh-TW" altLang="en-US" sz="1100" b="0" u="none" strike="noStrike" dirty="0">
                <a:effectLst/>
                <a:latin typeface="Google Sans"/>
                <a:ea typeface="微軟正黑體" panose="020B0604030504040204" pitchFamily="34" charset="-120"/>
              </a:rPr>
              <a:t>）都改用 </a:t>
            </a:r>
            <a:r>
              <a:rPr lang="en-US" altLang="zh-TW" sz="1100" b="1" u="none" strike="noStrike" dirty="0">
                <a:effectLst/>
                <a:latin typeface="Google Sans"/>
                <a:ea typeface="微軟正黑體" panose="020B0604030504040204" pitchFamily="34" charset="-120"/>
              </a:rPr>
              <a:t>Chiplet </a:t>
            </a:r>
            <a:r>
              <a:rPr lang="zh-TW" altLang="en-US" sz="1100" b="1" u="none" strike="noStrike" dirty="0">
                <a:effectLst/>
                <a:latin typeface="Google Sans"/>
                <a:ea typeface="微軟正黑體" panose="020B0604030504040204" pitchFamily="34" charset="-120"/>
              </a:rPr>
              <a:t>技術</a:t>
            </a:r>
            <a:r>
              <a:rPr lang="zh-TW" altLang="en-US" sz="1100" b="0" u="none" strike="noStrike" dirty="0">
                <a:effectLst/>
                <a:latin typeface="Google Sans"/>
                <a:ea typeface="微軟正黑體" panose="020B0604030504040204" pitchFamily="34" charset="-120"/>
              </a:rPr>
              <a:t>：把兩塊或多塊較小的邏輯晶片拼在一起，這雖然增加了先進封裝的成本與複雜度，但極大提升了製造良率。</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封裝技術從 </a:t>
            </a:r>
            <a:r>
              <a:rPr lang="en-US" altLang="zh-TW" sz="1100" b="1" u="none" strike="noStrike" dirty="0">
                <a:effectLst/>
                <a:latin typeface="Google Sans"/>
                <a:ea typeface="微軟正黑體" panose="020B0604030504040204" pitchFamily="34" charset="-120"/>
              </a:rPr>
              <a:t>CoWoS-S </a:t>
            </a:r>
            <a:r>
              <a:rPr lang="zh-TW" altLang="en-US" sz="1100" b="1" u="none" strike="noStrike" dirty="0">
                <a:effectLst/>
                <a:latin typeface="Google Sans"/>
                <a:ea typeface="微軟正黑體" panose="020B0604030504040204" pitchFamily="34" charset="-120"/>
              </a:rPr>
              <a:t>演進至 </a:t>
            </a:r>
            <a:r>
              <a:rPr lang="en-US" altLang="zh-TW" sz="1100" b="1" u="none" strike="noStrike" dirty="0">
                <a:effectLst/>
                <a:latin typeface="Google Sans"/>
                <a:ea typeface="微軟正黑體" panose="020B0604030504040204" pitchFamily="34" charset="-120"/>
              </a:rPr>
              <a:t>CoWoS-L</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過去使用全矽中介層（</a:t>
            </a:r>
            <a:r>
              <a:rPr lang="en-US" altLang="zh-TW" sz="1100" b="0" u="none" strike="noStrike" dirty="0">
                <a:effectLst/>
                <a:latin typeface="Google Sans"/>
                <a:ea typeface="微軟正黑體" panose="020B0604030504040204" pitchFamily="34" charset="-120"/>
              </a:rPr>
              <a:t>CoWoS-S</a:t>
            </a:r>
            <a:r>
              <a:rPr lang="zh-TW" altLang="en-US" sz="1100" b="0" u="none" strike="noStrike" dirty="0">
                <a:effectLst/>
                <a:latin typeface="Google Sans"/>
                <a:ea typeface="微軟正黑體" panose="020B0604030504040204" pitchFamily="34" charset="-120"/>
              </a:rPr>
              <a:t>）的尺寸受到限制。為了塞入更多的邏輯晶片與更多堆疊的 </a:t>
            </a:r>
            <a:r>
              <a:rPr lang="en-US" altLang="zh-TW" sz="1100" b="0" u="none" strike="noStrike" dirty="0">
                <a:effectLst/>
                <a:latin typeface="Google Sans"/>
                <a:ea typeface="微軟正黑體" panose="020B0604030504040204" pitchFamily="34" charset="-120"/>
              </a:rPr>
              <a:t>HBM</a:t>
            </a:r>
            <a:r>
              <a:rPr lang="zh-TW" altLang="en-US" sz="1100" b="0" u="none" strike="noStrike" dirty="0">
                <a:effectLst/>
                <a:latin typeface="Google Sans"/>
                <a:ea typeface="微軟正黑體" panose="020B0604030504040204" pitchFamily="34" charset="-120"/>
              </a:rPr>
              <a:t>，現在產業大量轉向</a:t>
            </a:r>
            <a:r>
              <a:rPr lang="zh-TW" altLang="en-US" sz="1100" b="0" u="none" strike="noStrike" dirty="0">
                <a:effectLst/>
                <a:latin typeface="Google Sans"/>
                <a:ea typeface="微軟正黑體" panose="020B0604030504040204" pitchFamily="34" charset="-120"/>
                <a:hlinkClick r:id="rId3"/>
              </a:rPr>
              <a:t>採用局部矽橋接的有機中介層技術（</a:t>
            </a:r>
            <a:r>
              <a:rPr lang="en-US" altLang="zh-TW" sz="1100" b="0" u="none" strike="noStrike" dirty="0">
                <a:effectLst/>
                <a:latin typeface="Google Sans"/>
                <a:ea typeface="微軟正黑體" panose="020B0604030504040204" pitchFamily="34" charset="-120"/>
                <a:hlinkClick r:id="rId3"/>
              </a:rPr>
              <a:t>CoWoS-L</a:t>
            </a:r>
            <a:r>
              <a:rPr lang="zh-TW" altLang="en-US" sz="1100" b="0" u="none" strike="noStrike" dirty="0">
                <a:effectLst/>
                <a:latin typeface="Google Sans"/>
                <a:ea typeface="微軟正黑體" panose="020B0604030504040204" pitchFamily="34" charset="-120"/>
                <a:hlinkClick r:id="rId3"/>
              </a:rPr>
              <a:t>）</a:t>
            </a:r>
            <a:r>
              <a:rPr lang="zh-TW" altLang="en-US" sz="1100" b="0" u="none" strike="noStrike" dirty="0">
                <a:effectLst/>
                <a:latin typeface="Google Sans"/>
                <a:ea typeface="微軟正黑體" panose="020B0604030504040204" pitchFamily="34" charset="-120"/>
              </a:rPr>
              <a:t>，這能允許晶片封裝面積擴大數倍，支持更龐大的超級晶片架構。</a:t>
            </a:r>
          </a:p>
          <a:p>
            <a:pPr>
              <a:spcBef>
                <a:spcPts val="900"/>
              </a:spcBef>
              <a:spcAft>
                <a:spcPts val="900"/>
              </a:spcAft>
              <a:buFont typeface="+mj-lt"/>
              <a:buAutoNum type="arabicPeriod"/>
            </a:pPr>
            <a:r>
              <a:rPr lang="zh-TW" altLang="en-US" sz="1100" b="1" u="none" strike="noStrike" dirty="0">
                <a:effectLst/>
                <a:latin typeface="Google Sans"/>
                <a:ea typeface="微軟正黑體" panose="020B0604030504040204" pitchFamily="34" charset="-120"/>
              </a:rPr>
              <a:t>系統級晶片（</a:t>
            </a:r>
            <a:r>
              <a:rPr lang="en-US" altLang="zh-TW" sz="1100" b="1" u="none" strike="noStrike" dirty="0">
                <a:effectLst/>
                <a:latin typeface="Google Sans"/>
                <a:ea typeface="微軟正黑體" panose="020B0604030504040204" pitchFamily="34" charset="-120"/>
              </a:rPr>
              <a:t>System-on-Wafer</a:t>
            </a:r>
            <a:r>
              <a:rPr lang="zh-TW" altLang="en-US" sz="1100" b="1" u="none" strike="noStrike" dirty="0">
                <a:effectLst/>
                <a:latin typeface="Google Sans"/>
                <a:ea typeface="微軟正黑體" panose="020B0604030504040204" pitchFamily="34" charset="-120"/>
              </a:rPr>
              <a:t>）與光子學（</a:t>
            </a:r>
            <a:r>
              <a:rPr lang="en-US" altLang="zh-TW" sz="1100" b="1" u="none" strike="noStrike" dirty="0">
                <a:effectLst/>
                <a:latin typeface="Google Sans"/>
                <a:ea typeface="微軟正黑體" panose="020B0604030504040204" pitchFamily="34" charset="-120"/>
              </a:rPr>
              <a:t>Silicon Photonics</a:t>
            </a:r>
            <a:r>
              <a:rPr lang="zh-TW" altLang="en-US" sz="1100" b="1" u="none" strike="noStrike" dirty="0">
                <a:effectLst/>
                <a:latin typeface="Google Sans"/>
                <a:ea typeface="微軟正黑體" panose="020B0604030504040204" pitchFamily="34" charset="-120"/>
              </a:rPr>
              <a:t>）興起</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為了徹底打破傳統銅線傳輸的延遲與功耗，高階雲端晶片開始導入</a:t>
            </a:r>
            <a:r>
              <a:rPr lang="zh-TW" altLang="en-US" sz="1100" b="1" u="none" strike="noStrike" dirty="0">
                <a:effectLst/>
                <a:latin typeface="Google Sans"/>
                <a:ea typeface="微軟正黑體" panose="020B0604030504040204" pitchFamily="34" charset="-120"/>
              </a:rPr>
              <a:t>矽光子技術</a:t>
            </a:r>
            <a:r>
              <a:rPr lang="zh-TW" altLang="en-US" sz="1100" b="0" u="none" strike="noStrike" dirty="0">
                <a:effectLst/>
                <a:latin typeface="Google Sans"/>
                <a:ea typeface="微軟正黑體" panose="020B0604030504040204" pitchFamily="34" charset="-120"/>
              </a:rPr>
              <a:t>，利用光訊號代替電訊號進行晶片間的高速傳輸；更有甚者（如 </a:t>
            </a:r>
            <a:r>
              <a:rPr lang="en-US" altLang="zh-TW" sz="1100" b="0" u="none" strike="noStrike" dirty="0">
                <a:effectLst/>
                <a:latin typeface="Google Sans"/>
                <a:ea typeface="微軟正黑體" panose="020B0604030504040204" pitchFamily="34" charset="-120"/>
              </a:rPr>
              <a:t>Cerebras WSE-3</a:t>
            </a:r>
            <a:r>
              <a:rPr lang="zh-TW" altLang="en-US" sz="1100" b="0" u="none" strike="noStrike" dirty="0">
                <a:effectLst/>
                <a:latin typeface="Google Sans"/>
                <a:ea typeface="微軟正黑體" panose="020B0604030504040204" pitchFamily="34" charset="-120"/>
              </a:rPr>
              <a:t>）直接將整塊 </a:t>
            </a:r>
            <a:r>
              <a:rPr lang="en-US" altLang="zh-TW" sz="1100" b="0" u="none" strike="noStrike" dirty="0">
                <a:effectLst/>
                <a:latin typeface="Google Sans"/>
                <a:ea typeface="微軟正黑體" panose="020B0604030504040204" pitchFamily="34" charset="-120"/>
              </a:rPr>
              <a:t>12 </a:t>
            </a:r>
            <a:r>
              <a:rPr lang="zh-TW" altLang="en-US" sz="1100" b="0" u="none" strike="noStrike" dirty="0">
                <a:effectLst/>
                <a:latin typeface="Google Sans"/>
                <a:ea typeface="微軟正黑體" panose="020B0604030504040204" pitchFamily="34" charset="-120"/>
              </a:rPr>
              <a:t>吋晶圓做成單一顆超巨大晶片。</a:t>
            </a:r>
          </a:p>
        </p:txBody>
      </p:sp>
      <p:sp>
        <p:nvSpPr>
          <p:cNvPr id="5" name="文字方塊 4">
            <a:extLst>
              <a:ext uri="{FF2B5EF4-FFF2-40B4-BE49-F238E27FC236}">
                <a16:creationId xmlns:a16="http://schemas.microsoft.com/office/drawing/2014/main" id="{88599599-67B4-B35F-D446-D9CC83D395EF}"/>
              </a:ext>
            </a:extLst>
          </p:cNvPr>
          <p:cNvSpPr txBox="1"/>
          <p:nvPr/>
        </p:nvSpPr>
        <p:spPr>
          <a:xfrm>
            <a:off x="112862" y="4085238"/>
            <a:ext cx="8923634" cy="2346796"/>
          </a:xfrm>
          <a:prstGeom prst="rect">
            <a:avLst/>
          </a:prstGeom>
          <a:noFill/>
        </p:spPr>
        <p:txBody>
          <a:bodyPr wrap="square">
            <a:spAutoFit/>
          </a:bodyPr>
          <a:lstStyle/>
          <a:p>
            <a:pPr>
              <a:spcBef>
                <a:spcPts val="1800"/>
              </a:spcBef>
              <a:spcAft>
                <a:spcPts val="900"/>
              </a:spcAft>
              <a:buNone/>
            </a:pPr>
            <a:r>
              <a:rPr lang="zh-TW" altLang="en-US" sz="1100" b="1" u="none" strike="noStrike" dirty="0">
                <a:effectLst/>
                <a:latin typeface="Google Sans"/>
                <a:ea typeface="微軟正黑體" panose="020B0604030504040204" pitchFamily="34" charset="-120"/>
              </a:rPr>
              <a:t>💰 三、 超越晶片本身的「隱形研發與系統成本」</a:t>
            </a:r>
          </a:p>
          <a:p>
            <a:pPr>
              <a:spcBef>
                <a:spcPts val="900"/>
              </a:spcBef>
              <a:spcAft>
                <a:spcPts val="1200"/>
              </a:spcAft>
              <a:buNone/>
            </a:pPr>
            <a:r>
              <a:rPr lang="zh-TW" altLang="en-US" sz="1100" b="0" u="none" strike="noStrike" dirty="0">
                <a:effectLst/>
                <a:latin typeface="Google Sans"/>
                <a:ea typeface="微軟正黑體" panose="020B0604030504040204" pitchFamily="34" charset="-120"/>
              </a:rPr>
              <a:t>買了雲端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晶片並不代表能直接運作，對於 </a:t>
            </a:r>
            <a:r>
              <a:rPr lang="en-US" altLang="zh-TW" sz="1100" b="0" u="none" strike="noStrike" dirty="0">
                <a:effectLst/>
                <a:latin typeface="Google Sans"/>
                <a:ea typeface="微軟正黑體" panose="020B0604030504040204" pitchFamily="34" charset="-120"/>
              </a:rPr>
              <a:t>IC </a:t>
            </a:r>
            <a:r>
              <a:rPr lang="zh-TW" altLang="en-US" sz="1100" b="0" u="none" strike="noStrike" dirty="0">
                <a:effectLst/>
                <a:latin typeface="Google Sans"/>
                <a:ea typeface="微軟正黑體" panose="020B0604030504040204" pitchFamily="34" charset="-120"/>
              </a:rPr>
              <a:t>設計公司與資料中心（如微軟、</a:t>
            </a:r>
            <a:r>
              <a:rPr lang="en-US" altLang="zh-TW" sz="1100" b="0" u="none" strike="noStrike" dirty="0">
                <a:effectLst/>
                <a:latin typeface="Google Sans"/>
                <a:ea typeface="微軟正黑體" panose="020B0604030504040204" pitchFamily="34" charset="-120"/>
              </a:rPr>
              <a:t>Google</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Meta</a:t>
            </a:r>
            <a:r>
              <a:rPr lang="zh-TW" altLang="en-US" sz="1100" b="0" u="none" strike="noStrike" dirty="0">
                <a:effectLst/>
                <a:latin typeface="Google Sans"/>
                <a:ea typeface="微軟正黑體" panose="020B0604030504040204" pitchFamily="34" charset="-120"/>
              </a:rPr>
              <a:t>）而言，還存在著巨大的結構性成本： </a:t>
            </a:r>
            <a:r>
              <a:rPr lang="en-US" altLang="zh-TW"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hlinkClick r:id="rId5"/>
              </a:rPr>
              <a:t>1</a:t>
            </a:r>
            <a:r>
              <a:rPr lang="en-US" altLang="zh-TW" sz="1100" b="0" u="none" strike="noStrike" dirty="0">
                <a:effectLst/>
                <a:latin typeface="Google Sans"/>
                <a:ea typeface="微軟正黑體" panose="020B0604030504040204" pitchFamily="34" charset="-120"/>
              </a:rPr>
              <a:t>]</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天文數字的 </a:t>
            </a:r>
            <a:r>
              <a:rPr lang="en-US" altLang="zh-TW" sz="1100" b="1" u="none" strike="noStrike" dirty="0">
                <a:effectLst/>
                <a:latin typeface="Google Sans"/>
                <a:ea typeface="微軟正黑體" panose="020B0604030504040204" pitchFamily="34" charset="-120"/>
              </a:rPr>
              <a:t>NRE</a:t>
            </a:r>
            <a:r>
              <a:rPr lang="zh-TW" altLang="en-US" sz="1100" b="1" u="none" strike="noStrike" dirty="0">
                <a:effectLst/>
                <a:latin typeface="Google Sans"/>
                <a:ea typeface="微軟正黑體" panose="020B0604030504040204" pitchFamily="34" charset="-120"/>
              </a:rPr>
              <a:t>（研發與光罩費用）</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開發一款 </a:t>
            </a:r>
            <a:r>
              <a:rPr lang="en-US" altLang="zh-TW" sz="1100" b="0" u="none" strike="noStrike" dirty="0">
                <a:effectLst/>
                <a:latin typeface="Google Sans"/>
                <a:ea typeface="微軟正黑體" panose="020B0604030504040204" pitchFamily="34" charset="-120"/>
              </a:rPr>
              <a:t>3nm </a:t>
            </a:r>
            <a:r>
              <a:rPr lang="zh-TW" altLang="en-US" sz="1100" b="0" u="none" strike="noStrike" dirty="0">
                <a:effectLst/>
                <a:latin typeface="Google Sans"/>
                <a:ea typeface="微軟正黑體" panose="020B0604030504040204" pitchFamily="34" charset="-120"/>
              </a:rPr>
              <a:t>級別的雲端 </a:t>
            </a:r>
            <a:r>
              <a:rPr lang="en-US" altLang="zh-TW" sz="1100" b="0" u="none" strike="noStrike" dirty="0">
                <a:effectLst/>
                <a:latin typeface="Google Sans"/>
                <a:ea typeface="微軟正黑體" panose="020B0604030504040204" pitchFamily="34" charset="-120"/>
              </a:rPr>
              <a:t>AI </a:t>
            </a:r>
            <a:r>
              <a:rPr lang="zh-TW" altLang="en-US" sz="1100" b="0" u="none" strike="noStrike" dirty="0">
                <a:effectLst/>
                <a:latin typeface="Google Sans"/>
                <a:ea typeface="微軟正黑體" panose="020B0604030504040204" pitchFamily="34" charset="-120"/>
              </a:rPr>
              <a:t>晶片，前期的晶片架構設計、</a:t>
            </a:r>
            <a:r>
              <a:rPr lang="en-US" altLang="zh-TW" sz="1100" b="0" u="none" strike="noStrike" dirty="0">
                <a:effectLst/>
                <a:latin typeface="Google Sans"/>
                <a:ea typeface="微軟正黑體" panose="020B0604030504040204" pitchFamily="34" charset="-120"/>
              </a:rPr>
              <a:t>EDA </a:t>
            </a:r>
            <a:r>
              <a:rPr lang="zh-TW" altLang="en-US" sz="1100" b="0" u="none" strike="noStrike" dirty="0">
                <a:effectLst/>
                <a:latin typeface="Google Sans"/>
                <a:ea typeface="微軟正黑體" panose="020B0604030504040204" pitchFamily="34" charset="-120"/>
              </a:rPr>
              <a:t>軟體授權、光罩（</a:t>
            </a:r>
            <a:r>
              <a:rPr lang="en-US" altLang="zh-TW" sz="1100" b="0" u="none" strike="noStrike" dirty="0">
                <a:effectLst/>
                <a:latin typeface="Google Sans"/>
                <a:ea typeface="微軟正黑體" panose="020B0604030504040204" pitchFamily="34" charset="-120"/>
              </a:rPr>
              <a:t>Mask</a:t>
            </a:r>
            <a:r>
              <a:rPr lang="zh-TW" altLang="en-US" sz="1100" b="0" u="none" strike="noStrike" dirty="0">
                <a:effectLst/>
                <a:latin typeface="Google Sans"/>
                <a:ea typeface="微軟正黑體" panose="020B0604030504040204" pitchFamily="34" charset="-120"/>
              </a:rPr>
              <a:t>）製作，一次投片失敗就是數億美元蒸發。這需要晶片公司有極強的資本支撐，也是為什麼目前全球只有 </a:t>
            </a:r>
            <a:r>
              <a:rPr lang="en-US" altLang="zh-TW" sz="1100" b="0" u="none" strike="noStrike" dirty="0">
                <a:effectLst/>
                <a:latin typeface="Google Sans"/>
                <a:ea typeface="微軟正黑體" panose="020B0604030504040204" pitchFamily="34" charset="-120"/>
              </a:rPr>
              <a:t>NVIDIA</a:t>
            </a:r>
            <a:r>
              <a:rPr lang="zh-TW" altLang="en-US" sz="1100" b="0" u="none" strike="noStrike" dirty="0">
                <a:effectLst/>
                <a:latin typeface="Google Sans"/>
                <a:ea typeface="微軟正黑體" panose="020B0604030504040204" pitchFamily="34" charset="-120"/>
              </a:rPr>
              <a:t>、</a:t>
            </a:r>
            <a:r>
              <a:rPr lang="en-US" altLang="zh-TW" sz="1100" b="0" u="none" strike="noStrike" dirty="0">
                <a:effectLst/>
                <a:latin typeface="Google Sans"/>
                <a:ea typeface="微軟正黑體" panose="020B0604030504040204" pitchFamily="34" charset="-120"/>
              </a:rPr>
              <a:t>AMD </a:t>
            </a:r>
            <a:r>
              <a:rPr lang="zh-TW" altLang="en-US" sz="1100" b="0" u="none" strike="noStrike" dirty="0">
                <a:effectLst/>
                <a:latin typeface="Google Sans"/>
                <a:ea typeface="微軟正黑體" panose="020B0604030504040204" pitchFamily="34" charset="-120"/>
              </a:rPr>
              <a:t>以及少數幾家大型雲端巨頭（</a:t>
            </a:r>
            <a:r>
              <a:rPr lang="en-US" altLang="zh-TW" sz="1100" b="0" u="none" strike="noStrike" dirty="0">
                <a:effectLst/>
                <a:latin typeface="Google Sans"/>
                <a:ea typeface="微軟正黑體" panose="020B0604030504040204" pitchFamily="34" charset="-120"/>
              </a:rPr>
              <a:t>CSPs</a:t>
            </a:r>
            <a:r>
              <a:rPr lang="zh-TW" altLang="en-US" sz="1100" b="0" u="none" strike="noStrike" dirty="0">
                <a:effectLst/>
                <a:latin typeface="Google Sans"/>
                <a:ea typeface="微軟正黑體" panose="020B0604030504040204" pitchFamily="34" charset="-120"/>
              </a:rPr>
              <a:t>）有能力自行研發 </a:t>
            </a:r>
            <a:r>
              <a:rPr lang="en-US" altLang="zh-TW" sz="1100" b="0" u="none" strike="noStrike" dirty="0">
                <a:effectLst/>
                <a:latin typeface="Google Sans"/>
                <a:ea typeface="微軟正黑體" panose="020B0604030504040204" pitchFamily="34" charset="-120"/>
              </a:rPr>
              <a:t>ASIC </a:t>
            </a:r>
            <a:r>
              <a:rPr lang="zh-TW" altLang="en-US" sz="1100" b="0" u="none" strike="noStrike" dirty="0">
                <a:effectLst/>
                <a:latin typeface="Google Sans"/>
                <a:ea typeface="微軟正黑體" panose="020B0604030504040204" pitchFamily="34" charset="-120"/>
              </a:rPr>
              <a:t>晶片。</a:t>
            </a:r>
          </a:p>
          <a:p>
            <a:pPr>
              <a:spcBef>
                <a:spcPts val="900"/>
              </a:spcBef>
              <a:spcAft>
                <a:spcPts val="900"/>
              </a:spcAft>
              <a:buFont typeface="Arial" panose="020B0604020202020204" pitchFamily="34" charset="0"/>
              <a:buChar char="•"/>
            </a:pPr>
            <a:r>
              <a:rPr lang="zh-TW" altLang="en-US" sz="1100" b="1" u="none" strike="noStrike" dirty="0">
                <a:effectLst/>
                <a:latin typeface="Google Sans"/>
                <a:ea typeface="微軟正黑體" panose="020B0604030504040204" pitchFamily="34" charset="-120"/>
              </a:rPr>
              <a:t>軟體生態系牆（</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護城河）</a:t>
            </a:r>
            <a:r>
              <a:rPr lang="zh-TW" altLang="en-US" sz="1100" b="0" u="none" strike="noStrike" dirty="0">
                <a:effectLst/>
                <a:latin typeface="Google Sans"/>
                <a:ea typeface="微軟正黑體" panose="020B0604030504040204" pitchFamily="34" charset="-120"/>
              </a:rPr>
              <a:t>：</a:t>
            </a:r>
            <a:br>
              <a:rPr lang="zh-TW" altLang="en-US" sz="1100" b="0" u="none" strike="noStrike" dirty="0">
                <a:effectLst/>
                <a:latin typeface="Google Sans"/>
                <a:ea typeface="微軟正黑體" panose="020B0604030504040204" pitchFamily="34" charset="-120"/>
              </a:rPr>
            </a:br>
            <a:r>
              <a:rPr lang="zh-TW" altLang="en-US" sz="1100" b="0" u="none" strike="noStrike" dirty="0">
                <a:effectLst/>
                <a:latin typeface="Google Sans"/>
                <a:ea typeface="微軟正黑體" panose="020B0604030504040204" pitchFamily="34" charset="-120"/>
              </a:rPr>
              <a:t>雲端晶片極度依賴龐大的分散式運算軟體。</a:t>
            </a:r>
            <a:r>
              <a:rPr lang="en-US" altLang="zh-TW" sz="1100" b="0" u="none" strike="noStrike" dirty="0">
                <a:effectLst/>
                <a:latin typeface="Google Sans"/>
                <a:ea typeface="微軟正黑體" panose="020B0604030504040204" pitchFamily="34" charset="-120"/>
              </a:rPr>
              <a:t>NVIDIA </a:t>
            </a:r>
            <a:r>
              <a:rPr lang="zh-TW" altLang="en-US" sz="1100" b="0" u="none" strike="noStrike" dirty="0">
                <a:effectLst/>
                <a:latin typeface="Google Sans"/>
                <a:ea typeface="微軟正黑體" panose="020B0604030504040204" pitchFamily="34" charset="-120"/>
              </a:rPr>
              <a:t>每年在 </a:t>
            </a:r>
            <a:r>
              <a:rPr lang="en-US" altLang="zh-TW" sz="1100" b="1" u="none" strike="noStrike" dirty="0">
                <a:effectLst/>
                <a:latin typeface="Google Sans"/>
                <a:ea typeface="微軟正黑體" panose="020B0604030504040204" pitchFamily="34" charset="-120"/>
              </a:rPr>
              <a:t>CUDA </a:t>
            </a:r>
            <a:r>
              <a:rPr lang="zh-TW" altLang="en-US" sz="1100" b="1" u="none" strike="noStrike" dirty="0">
                <a:effectLst/>
                <a:latin typeface="Google Sans"/>
                <a:ea typeface="微軟正黑體" panose="020B0604030504040204" pitchFamily="34" charset="-120"/>
              </a:rPr>
              <a:t>軟體平台</a:t>
            </a:r>
            <a:r>
              <a:rPr lang="zh-TW" altLang="en-US" sz="1100" b="0" u="none" strike="noStrike" dirty="0">
                <a:effectLst/>
                <a:latin typeface="Google Sans"/>
                <a:ea typeface="微軟正黑體" panose="020B0604030504040204" pitchFamily="34" charset="-120"/>
              </a:rPr>
              <a:t> 上投入的研發工程師與資金不計其數。許多競爭對手的硬體成本雖然較低，但因為軟體編譯器（</a:t>
            </a:r>
            <a:r>
              <a:rPr lang="en-US" altLang="zh-TW" sz="1100" b="0" u="none" strike="noStrike" dirty="0">
                <a:effectLst/>
                <a:latin typeface="Google Sans"/>
                <a:ea typeface="微軟正黑體" panose="020B0604030504040204" pitchFamily="34" charset="-120"/>
              </a:rPr>
              <a:t>Compiler</a:t>
            </a:r>
            <a:r>
              <a:rPr lang="zh-TW" altLang="en-US" sz="1100" b="0" u="none" strike="noStrike" dirty="0">
                <a:effectLst/>
                <a:latin typeface="Google Sans"/>
                <a:ea typeface="微軟正黑體" panose="020B0604030504040204" pitchFamily="34" charset="-120"/>
              </a:rPr>
              <a:t>）無法完美將數千顆晶片串聯進行大型語言模型（</a:t>
            </a:r>
            <a:r>
              <a:rPr lang="en-US" altLang="zh-TW" sz="1100" b="0" u="none" strike="noStrike" dirty="0">
                <a:effectLst/>
                <a:latin typeface="Google Sans"/>
                <a:ea typeface="微軟正黑體" panose="020B0604030504040204" pitchFamily="34" charset="-120"/>
              </a:rPr>
              <a:t>LLM</a:t>
            </a:r>
            <a:r>
              <a:rPr lang="zh-TW" altLang="en-US" sz="1100" b="0" u="none" strike="noStrike" dirty="0">
                <a:effectLst/>
                <a:latin typeface="Google Sans"/>
                <a:ea typeface="微軟正黑體" panose="020B0604030504040204" pitchFamily="34" charset="-120"/>
              </a:rPr>
              <a:t>）的訓練，導致客戶轉向的軟體遷移成本高得難以想像。</a:t>
            </a:r>
          </a:p>
        </p:txBody>
      </p:sp>
      <p:sp>
        <p:nvSpPr>
          <p:cNvPr id="6" name="標題 1">
            <a:extLst>
              <a:ext uri="{FF2B5EF4-FFF2-40B4-BE49-F238E27FC236}">
                <a16:creationId xmlns:a16="http://schemas.microsoft.com/office/drawing/2014/main" id="{D243E1F9-718F-53B6-DEBA-3F7AC8EE3F2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Cloud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Tree>
    <p:extLst>
      <p:ext uri="{BB962C8B-B14F-4D97-AF65-F5344CB8AC3E}">
        <p14:creationId xmlns:p14="http://schemas.microsoft.com/office/powerpoint/2010/main" val="224099697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30EEB37-4D02-FA99-CAFE-1AD2F6B60D85}"/>
            </a:ext>
          </a:extLst>
        </p:cNvPr>
        <p:cNvGrpSpPr/>
        <p:nvPr/>
      </p:nvGrpSpPr>
      <p:grpSpPr>
        <a:xfrm>
          <a:off x="0" y="0"/>
          <a:ext cx="0" cy="0"/>
          <a:chOff x="0" y="0"/>
          <a:chExt cx="0" cy="0"/>
        </a:xfrm>
      </p:grpSpPr>
      <p:sp>
        <p:nvSpPr>
          <p:cNvPr id="11" name="Rectangle 2">
            <a:extLst>
              <a:ext uri="{FF2B5EF4-FFF2-40B4-BE49-F238E27FC236}">
                <a16:creationId xmlns:a16="http://schemas.microsoft.com/office/drawing/2014/main" id="{461DE1F0-FD17-DB02-14FB-430F8776844A}"/>
              </a:ext>
            </a:extLst>
          </p:cNvPr>
          <p:cNvSpPr>
            <a:spLocks noChangeArrowheads="1"/>
          </p:cNvSpPr>
          <p:nvPr/>
        </p:nvSpPr>
        <p:spPr bwMode="auto">
          <a:xfrm>
            <a:off x="251519" y="2349839"/>
            <a:ext cx="6984776" cy="144655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0" tIns="0" rIns="0" bIns="0" numCol="1" anchor="ctr" anchorCtr="0" compatLnSpc="1">
            <a:prstTxWarp prst="textNoShape">
              <a:avLst/>
            </a:prstTxWarp>
            <a:spAutoFit/>
          </a:bodyPr>
          <a:lstStyle/>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4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 Edge AI 晶片的硬體成本結構（BOM 結構）</a:t>
            </a:r>
            <a:endParaRPr kumimoji="0" lang="zh-TW" altLang="zh-TW" sz="14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Edge AI 晶片通常以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SoC（系統單晶片）</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或 </a:t>
            </a:r>
            <a:r>
              <a:rPr kumimoji="0" lang="zh-TW" altLang="zh-TW" sz="1200" b="1"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Chiplet（小晶片封裝）</a:t>
            </a: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 的形式存在。</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r>
              <a:rPr kumimoji="0" lang="zh-TW"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rPr>
              <a:t>一顆 Edge AI 晶片的硬體製造總成本，主要由以下四大核心區塊組成： </a:t>
            </a: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0" marR="0" lvl="0" indent="0" algn="l" defTabSz="914400" rtl="0" eaLnBrk="0" fontAlgn="base" latinLnBrk="0" hangingPunct="0">
              <a:lnSpc>
                <a:spcPct val="100000"/>
              </a:lnSpc>
              <a:spcBef>
                <a:spcPct val="0"/>
              </a:spcBef>
              <a:spcAft>
                <a:spcPct val="0"/>
              </a:spcAft>
              <a:buClrTx/>
              <a:buSzTx/>
              <a:buFontTx/>
              <a:buNone/>
              <a:tabLst/>
            </a:pPr>
            <a:endParaRPr kumimoji="0" lang="en-US" altLang="zh-TW" sz="1200" b="0" i="0" u="none" strike="noStrike" cap="none" normalizeH="0" baseline="0" dirty="0">
              <a:ln>
                <a:noFill/>
              </a:ln>
              <a:solidFill>
                <a:schemeClr val="tx1"/>
              </a:solidFill>
              <a:effectLst/>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邏輯晶圓（</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Logic Die</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35% - 45%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記憶體（</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Memory</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25% - 35%AI</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先進封裝與測試</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15% - 25%</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晶片測試。</a:t>
            </a:r>
            <a:endPar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endParaRPr>
          </a:p>
          <a:p>
            <a:pPr marL="228600" marR="0" lvl="0" indent="-228600" algn="l" defTabSz="914400" rtl="0" eaLnBrk="1" fontAlgn="auto" latinLnBrk="0" hangingPunct="1">
              <a:lnSpc>
                <a:spcPct val="100000"/>
              </a:lnSpc>
              <a:spcBef>
                <a:spcPts val="0"/>
              </a:spcBef>
              <a:spcAft>
                <a:spcPts val="0"/>
              </a:spcAft>
              <a:buClrTx/>
              <a:buSzTx/>
              <a:buFontTx/>
              <a:buAutoNum type="arabicPeriod"/>
              <a:tabLst/>
              <a:defRPr/>
            </a:pP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IP </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授權與權利金</a:t>
            </a:r>
            <a:r>
              <a:rPr kumimoji="0" lang="en-US" altLang="zh-TW"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5% - 10%</a:t>
            </a:r>
            <a:r>
              <a:rPr kumimoji="0" lang="zh-TW" altLang="en-US" sz="1100" b="0" i="0" u="none" strike="noStrike" kern="1200" cap="none" spc="0" normalizeH="0" baseline="0" noProof="0" dirty="0">
                <a:ln>
                  <a:noFill/>
                </a:ln>
                <a:solidFill>
                  <a:prstClr val="black"/>
                </a:solidFill>
                <a:effectLst/>
                <a:uLnTx/>
                <a:uFillTx/>
                <a:latin typeface="微軟正黑體" panose="020B0604030504040204" pitchFamily="34" charset="-120"/>
                <a:ea typeface="微軟正黑體" panose="020B0604030504040204" pitchFamily="34" charset="-120"/>
              </a:rPr>
              <a:t>晶片內部的架構多非全自研。</a:t>
            </a:r>
          </a:p>
        </p:txBody>
      </p:sp>
      <p:sp>
        <p:nvSpPr>
          <p:cNvPr id="29" name="文字方塊 28">
            <a:extLst>
              <a:ext uri="{FF2B5EF4-FFF2-40B4-BE49-F238E27FC236}">
                <a16:creationId xmlns:a16="http://schemas.microsoft.com/office/drawing/2014/main" id="{D53A45AC-2EC1-50D2-D682-7CB10042CEC0}"/>
              </a:ext>
            </a:extLst>
          </p:cNvPr>
          <p:cNvSpPr txBox="1"/>
          <p:nvPr/>
        </p:nvSpPr>
        <p:spPr>
          <a:xfrm>
            <a:off x="129558" y="3922891"/>
            <a:ext cx="7106737" cy="1954381"/>
          </a:xfrm>
          <a:prstGeom prst="rect">
            <a:avLst/>
          </a:prstGeom>
          <a:noFill/>
        </p:spPr>
        <p:txBody>
          <a:bodyPr wrap="square">
            <a:spAutoFit/>
          </a:bodyPr>
          <a:lstStyle/>
          <a:p>
            <a:pPr lvl="0" eaLnBrk="0" fontAlgn="base" hangingPunct="0">
              <a:spcBef>
                <a:spcPct val="0"/>
              </a:spcBef>
              <a:spcAft>
                <a:spcPct val="0"/>
              </a:spcAft>
            </a:pPr>
            <a:r>
              <a:rPr lang="zh-TW" altLang="en-US" sz="1100" b="1" u="none" strike="noStrike" dirty="0">
                <a:effectLst/>
                <a:latin typeface="微軟正黑體" panose="020B0604030504040204" pitchFamily="34" charset="-120"/>
                <a:ea typeface="微軟正黑體" panose="020B0604030504040204" pitchFamily="34" charset="-120"/>
              </a:rPr>
              <a:t>二、 晶片的晶圓晶粒（</a:t>
            </a:r>
            <a:r>
              <a:rPr lang="en-US" altLang="zh-TW" sz="1100" b="1" u="none" strike="noStrike" dirty="0">
                <a:effectLst/>
                <a:latin typeface="微軟正黑體" panose="020B0604030504040204" pitchFamily="34" charset="-120"/>
                <a:ea typeface="微軟正黑體" panose="020B0604030504040204" pitchFamily="34" charset="-120"/>
              </a:rPr>
              <a:t>Die</a:t>
            </a:r>
            <a:r>
              <a:rPr lang="zh-TW" altLang="en-US" sz="1100" b="1" u="none" strike="noStrike" dirty="0">
                <a:effectLst/>
                <a:latin typeface="微軟正黑體" panose="020B0604030504040204" pitchFamily="34" charset="-120"/>
                <a:ea typeface="微軟正黑體" panose="020B0604030504040204" pitchFamily="34" charset="-120"/>
              </a:rPr>
              <a:t>）內部面積結構分析</a:t>
            </a:r>
            <a:r>
              <a:rPr lang="zh-TW" altLang="zh-TW" sz="1100" b="1" dirty="0">
                <a:latin typeface="微軟正黑體" panose="020B0604030504040204" pitchFamily="34" charset="-120"/>
                <a:ea typeface="微軟正黑體" panose="020B0604030504040204" pitchFamily="34" charset="-120"/>
              </a:rPr>
              <a:t>）</a:t>
            </a:r>
            <a:endParaRPr lang="zh-TW"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r>
              <a:rPr lang="zh-TW" altLang="en-US" sz="1100" dirty="0">
                <a:latin typeface="微軟正黑體" panose="020B0604030504040204" pitchFamily="34" charset="-120"/>
                <a:ea typeface="微軟正黑體" panose="020B0604030504040204" pitchFamily="34" charset="-120"/>
              </a:rPr>
              <a:t>如果將晶片放大來看，在矽晶圓的「晶粒面積（</a:t>
            </a:r>
            <a:r>
              <a:rPr lang="en-US" altLang="zh-TW" sz="1100" dirty="0">
                <a:latin typeface="微軟正黑體" panose="020B0604030504040204" pitchFamily="34" charset="-120"/>
                <a:ea typeface="微軟正黑體" panose="020B0604030504040204" pitchFamily="34" charset="-120"/>
              </a:rPr>
              <a:t>Die Area</a:t>
            </a:r>
            <a:r>
              <a:rPr lang="zh-TW" altLang="en-US" sz="1100" dirty="0">
                <a:latin typeface="微軟正黑體" panose="020B0604030504040204" pitchFamily="34" charset="-120"/>
                <a:ea typeface="微軟正黑體" panose="020B0604030504040204" pitchFamily="34" charset="-120"/>
              </a:rPr>
              <a:t>）」分配上，</a:t>
            </a:r>
            <a:r>
              <a:rPr lang="en-US" altLang="zh-TW" sz="1100" dirty="0">
                <a:latin typeface="微軟正黑體" panose="020B0604030504040204" pitchFamily="34" charset="-120"/>
                <a:ea typeface="微軟正黑體" panose="020B0604030504040204" pitchFamily="34" charset="-120"/>
              </a:rPr>
              <a:t>Edge AI </a:t>
            </a:r>
            <a:r>
              <a:rPr lang="zh-TW" altLang="en-US" sz="1100" dirty="0">
                <a:latin typeface="微軟正黑體" panose="020B0604030504040204" pitchFamily="34" charset="-120"/>
                <a:ea typeface="微軟正黑體" panose="020B0604030504040204" pitchFamily="34" charset="-120"/>
              </a:rPr>
              <a:t>晶片呈現顯著的「記憶體與算力高度拉鋸」特徵。</a:t>
            </a:r>
            <a:endParaRPr lang="en-US" altLang="zh-TW" sz="1100" dirty="0">
              <a:latin typeface="微軟正黑體" panose="020B0604030504040204" pitchFamily="34" charset="-120"/>
              <a:ea typeface="微軟正黑體" panose="020B0604030504040204" pitchFamily="34" charset="-120"/>
            </a:endParaRPr>
          </a:p>
          <a:p>
            <a:pPr lvl="0" eaLnBrk="0" fontAlgn="base" hangingPunct="0">
              <a:spcBef>
                <a:spcPct val="0"/>
              </a:spcBef>
              <a:spcAft>
                <a:spcPct val="0"/>
              </a:spcAft>
            </a:pPr>
            <a:endParaRPr lang="en-US" altLang="zh-TW" sz="1100" dirty="0">
              <a:latin typeface="微軟正黑體" panose="020B0604030504040204" pitchFamily="34" charset="-120"/>
              <a:ea typeface="微軟正黑體" panose="020B0604030504040204" pitchFamily="34" charset="-120"/>
            </a:endParaRP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記憶體佔地極大（</a:t>
            </a:r>
            <a:r>
              <a:rPr lang="en-US" altLang="zh-TW" sz="1100" dirty="0">
                <a:latin typeface="微軟正黑體" panose="020B0604030504040204" pitchFamily="34" charset="-120"/>
                <a:ea typeface="微軟正黑體" panose="020B0604030504040204" pitchFamily="34" charset="-120"/>
              </a:rPr>
              <a:t>SRAM / Cache,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40% - 50%</a:t>
            </a:r>
            <a:r>
              <a:rPr lang="zh-TW" altLang="en-US" sz="1100" dirty="0">
                <a:latin typeface="微軟正黑體" panose="020B0604030504040204" pitchFamily="34" charset="-120"/>
                <a:ea typeface="微軟正黑體" panose="020B0604030504040204" pitchFamily="34" charset="-120"/>
              </a:rPr>
              <a:t>）：</a:t>
            </a:r>
            <a:r>
              <a:rPr lang="en-US" altLang="zh-TW" sz="1100" dirty="0">
                <a:latin typeface="微軟正黑體" panose="020B0604030504040204" pitchFamily="34" charset="-120"/>
                <a:ea typeface="微軟正黑體" panose="020B0604030504040204" pitchFamily="34" charset="-120"/>
              </a:rPr>
              <a:t>AI </a:t>
            </a:r>
            <a:r>
              <a:rPr lang="zh-TW" altLang="en-US" sz="1100" dirty="0">
                <a:latin typeface="微軟正黑體" panose="020B0604030504040204" pitchFamily="34" charset="-120"/>
                <a:ea typeface="微軟正黑體" panose="020B0604030504040204" pitchFamily="34" charset="-120"/>
              </a:rPr>
              <a:t>推論（</a:t>
            </a:r>
            <a:r>
              <a:rPr lang="en-US" altLang="zh-TW" sz="1100" dirty="0">
                <a:latin typeface="微軟正黑體" panose="020B0604030504040204" pitchFamily="34" charset="-120"/>
                <a:ea typeface="微軟正黑體" panose="020B0604030504040204" pitchFamily="34" charset="-120"/>
              </a:rPr>
              <a:t>Inference</a:t>
            </a:r>
            <a:r>
              <a:rPr lang="zh-TW" altLang="en-US" sz="1100" dirty="0">
                <a:latin typeface="微軟正黑體" panose="020B0604030504040204" pitchFamily="34" charset="-120"/>
                <a:ea typeface="微軟正黑體" panose="020B0604030504040204" pitchFamily="34" charset="-120"/>
              </a:rPr>
              <a:t>）需要频繁讀取權重（</a:t>
            </a:r>
            <a:r>
              <a:rPr lang="en-US" altLang="zh-TW" sz="1100" dirty="0">
                <a:latin typeface="微軟正黑體" panose="020B0604030504040204" pitchFamily="34" charset="-120"/>
                <a:ea typeface="微軟正黑體" panose="020B0604030504040204" pitchFamily="34" charset="-120"/>
              </a:rPr>
              <a:t>Weights</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為了減少節能殺手</a:t>
            </a:r>
            <a:r>
              <a:rPr lang="en-US" altLang="zh-TW" sz="1100" dirty="0">
                <a:latin typeface="微軟正黑體" panose="020B0604030504040204" pitchFamily="34" charset="-120"/>
                <a:ea typeface="微軟正黑體" panose="020B0604030504040204" pitchFamily="34" charset="-120"/>
              </a:rPr>
              <a:t>——</a:t>
            </a:r>
            <a:r>
              <a:rPr lang="zh-TW" altLang="en-US" sz="1100" dirty="0">
                <a:latin typeface="微軟正黑體" panose="020B0604030504040204" pitchFamily="34" charset="-120"/>
                <a:ea typeface="微軟正黑體" panose="020B0604030504040204" pitchFamily="34" charset="-120"/>
              </a:rPr>
              <a:t>「離開晶片去抓外部記憶體資料」的功耗，設計師會把大量的晶片面積留給片上緩存（</a:t>
            </a:r>
            <a:r>
              <a:rPr lang="en-US" altLang="zh-TW" sz="1100" dirty="0">
                <a:latin typeface="微軟正黑體" panose="020B0604030504040204" pitchFamily="34" charset="-120"/>
                <a:ea typeface="微軟正黑體" panose="020B0604030504040204" pitchFamily="34" charset="-120"/>
              </a:rPr>
              <a:t>On-chip SRAM</a:t>
            </a:r>
            <a:r>
              <a:rPr lang="zh-TW" altLang="en-US" sz="1100" dirty="0">
                <a:latin typeface="微軟正黑體" panose="020B0604030504040204" pitchFamily="34" charset="-120"/>
                <a:ea typeface="微軟正黑體" panose="020B0604030504040204" pitchFamily="34" charset="-120"/>
              </a:rPr>
              <a:t>）。</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神經網路加速核心（</a:t>
            </a:r>
            <a:r>
              <a:rPr lang="en-US" altLang="zh-TW" sz="1100" dirty="0">
                <a:latin typeface="微軟正黑體" panose="020B0604030504040204" pitchFamily="34" charset="-120"/>
                <a:ea typeface="微軟正黑體" panose="020B0604030504040204" pitchFamily="34" charset="-120"/>
              </a:rPr>
              <a:t>NPU,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25% - 35%</a:t>
            </a:r>
            <a:r>
              <a:rPr lang="zh-TW" altLang="en-US" sz="1100" dirty="0">
                <a:latin typeface="微軟正黑體" panose="020B0604030504040204" pitchFamily="34" charset="-120"/>
                <a:ea typeface="微軟正黑體" panose="020B0604030504040204" pitchFamily="34" charset="-120"/>
              </a:rPr>
              <a:t>）：專門用來執行大量矩陣乘法與累積運算（</a:t>
            </a:r>
            <a:r>
              <a:rPr lang="en-US" altLang="zh-TW" sz="1100" dirty="0">
                <a:latin typeface="微軟正黑體" panose="020B0604030504040204" pitchFamily="34" charset="-120"/>
                <a:ea typeface="微軟正黑體" panose="020B0604030504040204" pitchFamily="34" charset="-120"/>
              </a:rPr>
              <a:t>MAC Array</a:t>
            </a:r>
            <a:r>
              <a:rPr lang="zh-TW" altLang="en-US" sz="1100" dirty="0">
                <a:latin typeface="微軟正黑體" panose="020B0604030504040204" pitchFamily="34" charset="-120"/>
                <a:ea typeface="微軟正黑體" panose="020B0604030504040204" pitchFamily="34" charset="-120"/>
              </a:rPr>
              <a:t>）的硬體電路，是晶片能效比（</a:t>
            </a:r>
            <a:r>
              <a:rPr lang="en-US" altLang="zh-TW" sz="1100" dirty="0">
                <a:latin typeface="微軟正黑體" panose="020B0604030504040204" pitchFamily="34" charset="-120"/>
                <a:ea typeface="微軟正黑體" panose="020B0604030504040204" pitchFamily="34" charset="-120"/>
              </a:rPr>
              <a:t>TOPS/W</a:t>
            </a:r>
            <a:r>
              <a:rPr lang="zh-TW" altLang="en-US" sz="1100" dirty="0">
                <a:latin typeface="微軟正黑體" panose="020B0604030504040204" pitchFamily="34" charset="-120"/>
                <a:ea typeface="微軟正黑體" panose="020B0604030504040204" pitchFamily="34" charset="-120"/>
              </a:rPr>
              <a:t>）的關鍵。</a:t>
            </a:r>
          </a:p>
          <a:p>
            <a:pPr marL="228600" indent="-228600">
              <a:buAutoNum type="arabicPeriod"/>
            </a:pPr>
            <a:r>
              <a:rPr lang="zh-TW" altLang="en-US" sz="1100" dirty="0">
                <a:latin typeface="微軟正黑體" panose="020B0604030504040204" pitchFamily="34" charset="-120"/>
                <a:ea typeface="微軟正黑體" panose="020B0604030504040204" pitchFamily="34" charset="-120"/>
              </a:rPr>
              <a:t>控制與多媒體核心（</a:t>
            </a:r>
            <a:r>
              <a:rPr lang="en-US" altLang="zh-TW" sz="1100" dirty="0">
                <a:latin typeface="微軟正黑體" panose="020B0604030504040204" pitchFamily="34" charset="-120"/>
                <a:ea typeface="微軟正黑體" panose="020B0604030504040204" pitchFamily="34" charset="-120"/>
              </a:rPr>
              <a:t>CPU/DSP/ISP, </a:t>
            </a:r>
            <a:r>
              <a:rPr lang="zh-TW" altLang="en-US" sz="1100" dirty="0">
                <a:latin typeface="微軟正黑體" panose="020B0604030504040204" pitchFamily="34" charset="-120"/>
                <a:ea typeface="微軟正黑體" panose="020B0604030504040204" pitchFamily="34" charset="-120"/>
              </a:rPr>
              <a:t>約 </a:t>
            </a:r>
            <a:r>
              <a:rPr lang="en-US" altLang="zh-TW" sz="1100" dirty="0">
                <a:latin typeface="微軟正黑體" panose="020B0604030504040204" pitchFamily="34" charset="-120"/>
                <a:ea typeface="微軟正黑體" panose="020B0604030504040204" pitchFamily="34" charset="-120"/>
              </a:rPr>
              <a:t>15% - 20%</a:t>
            </a:r>
            <a:r>
              <a:rPr lang="zh-TW" altLang="en-US" sz="1100" dirty="0">
                <a:latin typeface="微軟正黑體" panose="020B0604030504040204" pitchFamily="34" charset="-120"/>
                <a:ea typeface="微軟正黑體" panose="020B0604030504040204" pitchFamily="34" charset="-120"/>
              </a:rPr>
              <a:t>）：負責系統排程（如 </a:t>
            </a:r>
            <a:r>
              <a:rPr lang="en-US" altLang="zh-TW" sz="1100" dirty="0">
                <a:latin typeface="微軟正黑體" panose="020B0604030504040204" pitchFamily="34" charset="-120"/>
                <a:ea typeface="微軟正黑體" panose="020B0604030504040204" pitchFamily="34" charset="-120"/>
              </a:rPr>
              <a:t>Arm </a:t>
            </a:r>
            <a:r>
              <a:rPr lang="zh-TW" altLang="en-US" sz="1100" dirty="0">
                <a:latin typeface="微軟正黑體" panose="020B0604030504040204" pitchFamily="34" charset="-120"/>
                <a:ea typeface="微軟正黑體" panose="020B0604030504040204" pitchFamily="34" charset="-120"/>
              </a:rPr>
              <a:t>核心）以及影像訊號預處理（</a:t>
            </a:r>
            <a:r>
              <a:rPr lang="en-US" altLang="zh-TW" sz="1100" dirty="0">
                <a:latin typeface="微軟正黑體" panose="020B0604030504040204" pitchFamily="34" charset="-120"/>
                <a:ea typeface="微軟正黑體" panose="020B0604030504040204" pitchFamily="34" charset="-120"/>
              </a:rPr>
              <a:t>ISP</a:t>
            </a:r>
            <a:r>
              <a:rPr lang="zh-TW" altLang="en-US" sz="1100" dirty="0">
                <a:latin typeface="微軟正黑體" panose="020B0604030504040204" pitchFamily="34" charset="-120"/>
                <a:ea typeface="微軟正黑體" panose="020B0604030504040204" pitchFamily="34" charset="-120"/>
              </a:rPr>
              <a:t>）、音訊處理等。 </a:t>
            </a:r>
            <a:endParaRPr lang="en-US" altLang="zh-TW" sz="1100" dirty="0">
              <a:latin typeface="微軟正黑體" panose="020B0604030504040204" pitchFamily="34" charset="-120"/>
              <a:ea typeface="微軟正黑體" panose="020B0604030504040204" pitchFamily="34" charset="-120"/>
            </a:endParaRPr>
          </a:p>
        </p:txBody>
      </p:sp>
      <p:sp>
        <p:nvSpPr>
          <p:cNvPr id="33" name="標題 1">
            <a:extLst>
              <a:ext uri="{FF2B5EF4-FFF2-40B4-BE49-F238E27FC236}">
                <a16:creationId xmlns:a16="http://schemas.microsoft.com/office/drawing/2014/main" id="{CDC6BDD2-E286-4042-F93D-BFB1951021E2}"/>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The Role of Hardware: Edge Chip</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7" name="文字方塊 36">
            <a:extLst>
              <a:ext uri="{FF2B5EF4-FFF2-40B4-BE49-F238E27FC236}">
                <a16:creationId xmlns:a16="http://schemas.microsoft.com/office/drawing/2014/main" id="{9A04C72F-8C65-07AE-FB45-4C8BEDA435F7}"/>
              </a:ext>
            </a:extLst>
          </p:cNvPr>
          <p:cNvSpPr txBox="1"/>
          <p:nvPr/>
        </p:nvSpPr>
        <p:spPr>
          <a:xfrm>
            <a:off x="251518" y="1610287"/>
            <a:ext cx="8784977" cy="646331"/>
          </a:xfrm>
          <a:prstGeom prst="rect">
            <a:avLst/>
          </a:prstGeom>
          <a:noFill/>
        </p:spPr>
        <p:txBody>
          <a:bodyPr wrap="square">
            <a:spAutoFit/>
          </a:bodyPr>
          <a:lstStyle/>
          <a:p>
            <a:r>
              <a:rPr lang="zh-TW" altLang="en-US" sz="1200" dirty="0">
                <a:latin typeface="Google Sans"/>
                <a:ea typeface="微軟正黑體" panose="020B0604030504040204" pitchFamily="34" charset="-120"/>
              </a:rPr>
              <a:t>邊緣人工智慧晶片（</a:t>
            </a:r>
            <a:r>
              <a:rPr lang="en-US" altLang="zh-TW" sz="1200" dirty="0">
                <a:latin typeface="Google Sans"/>
                <a:ea typeface="微軟正黑體" panose="020B0604030504040204" pitchFamily="34" charset="-120"/>
              </a:rPr>
              <a:t>Edge AI Chip</a:t>
            </a:r>
            <a:r>
              <a:rPr lang="zh-TW" altLang="en-US" sz="1200" dirty="0">
                <a:latin typeface="Google Sans"/>
                <a:ea typeface="微軟正黑體" panose="020B0604030504040204" pitchFamily="34" charset="-120"/>
              </a:rPr>
              <a:t>）與雲端 </a:t>
            </a:r>
            <a:r>
              <a:rPr lang="en-US" altLang="zh-TW" sz="1200" dirty="0">
                <a:latin typeface="Google Sans"/>
                <a:ea typeface="微軟正黑體" panose="020B0604030504040204" pitchFamily="34" charset="-120"/>
              </a:rPr>
              <a:t>AI </a:t>
            </a:r>
            <a:r>
              <a:rPr lang="zh-TW" altLang="en-US" sz="1200" dirty="0">
                <a:latin typeface="Google Sans"/>
                <a:ea typeface="微軟正黑體" panose="020B0604030504040204" pitchFamily="34" charset="-120"/>
              </a:rPr>
              <a:t>晶片（如 </a:t>
            </a:r>
            <a:r>
              <a:rPr lang="en-US" altLang="zh-TW" sz="1200" dirty="0">
                <a:latin typeface="Google Sans"/>
                <a:ea typeface="微軟正黑體" panose="020B0604030504040204" pitchFamily="34" charset="-120"/>
              </a:rPr>
              <a:t>NVIDIA H100 / B200</a:t>
            </a:r>
            <a:r>
              <a:rPr lang="zh-TW" altLang="en-US" sz="1200" dirty="0">
                <a:latin typeface="Google Sans"/>
                <a:ea typeface="微軟正黑體" panose="020B0604030504040204" pitchFamily="34" charset="-120"/>
              </a:rPr>
              <a:t>）在設計哲學上完全不同。雲端追求「極致算力」，而 </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晶片必須在極低功耗（通常 </a:t>
            </a:r>
            <a:r>
              <a:rPr lang="en-US" altLang="zh-TW" sz="1200" dirty="0">
                <a:latin typeface="Google Sans"/>
                <a:ea typeface="微軟正黑體" panose="020B0604030504040204" pitchFamily="34" charset="-120"/>
              </a:rPr>
              <a:t>sub-5W</a:t>
            </a:r>
            <a:r>
              <a:rPr lang="zh-TW" altLang="en-US" sz="1200" dirty="0">
                <a:latin typeface="Google Sans"/>
                <a:ea typeface="微軟正黑體" panose="020B0604030504040204" pitchFamily="34" charset="-120"/>
              </a:rPr>
              <a:t>）、極低延遲以及極其敏感的「低成本」之間取得平衡。</a:t>
            </a:r>
            <a:endParaRPr lang="en-US" altLang="zh-TW" sz="1200" dirty="0">
              <a:latin typeface="Google Sans"/>
              <a:ea typeface="微軟正黑體" panose="020B0604030504040204" pitchFamily="34" charset="-120"/>
            </a:endParaRPr>
          </a:p>
          <a:p>
            <a:r>
              <a:rPr lang="zh-TW" altLang="en-US" sz="1200" dirty="0">
                <a:latin typeface="Google Sans"/>
                <a:ea typeface="微軟正黑體" panose="020B0604030504040204" pitchFamily="34" charset="-120"/>
              </a:rPr>
              <a:t>目前在市場上，</a:t>
            </a:r>
            <a:r>
              <a:rPr lang="en-US" altLang="zh-TW" sz="1200" dirty="0">
                <a:latin typeface="Google Sans"/>
                <a:ea typeface="微軟正黑體" panose="020B0604030504040204" pitchFamily="34" charset="-120"/>
              </a:rPr>
              <a:t>Edge AI </a:t>
            </a:r>
            <a:r>
              <a:rPr lang="zh-TW" altLang="en-US" sz="1200" dirty="0">
                <a:latin typeface="Google Sans"/>
                <a:ea typeface="微軟正黑體" panose="020B0604030504040204" pitchFamily="34" charset="-120"/>
              </a:rPr>
              <a:t>晶片的硬體成本結構（</a:t>
            </a:r>
            <a:r>
              <a:rPr lang="en-US" altLang="zh-TW" sz="1200" dirty="0">
                <a:latin typeface="Google Sans"/>
                <a:ea typeface="微軟正黑體" panose="020B0604030504040204" pitchFamily="34" charset="-120"/>
              </a:rPr>
              <a:t>BOM </a:t>
            </a:r>
            <a:r>
              <a:rPr lang="zh-TW" altLang="en-US" sz="1200" dirty="0">
                <a:latin typeface="Google Sans"/>
                <a:ea typeface="微軟正黑體" panose="020B0604030504040204" pitchFamily="34" charset="-120"/>
              </a:rPr>
              <a:t>結構）與整體開發成本分析如下：</a:t>
            </a:r>
          </a:p>
        </p:txBody>
      </p:sp>
    </p:spTree>
    <p:extLst>
      <p:ext uri="{BB962C8B-B14F-4D97-AF65-F5344CB8AC3E}">
        <p14:creationId xmlns:p14="http://schemas.microsoft.com/office/powerpoint/2010/main" val="3856552792"/>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3" name="圖片 2">
            <a:extLst>
              <a:ext uri="{FF2B5EF4-FFF2-40B4-BE49-F238E27FC236}">
                <a16:creationId xmlns:a16="http://schemas.microsoft.com/office/drawing/2014/main" id="{C8038C6C-A0CC-EECA-FADD-6DD008729863}"/>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0" y="381000"/>
            <a:ext cx="9144000" cy="6096000"/>
          </a:xfrm>
          <a:prstGeom prst="rect">
            <a:avLst/>
          </a:prstGeom>
        </p:spPr>
      </p:pic>
    </p:spTree>
    <p:extLst>
      <p:ext uri="{BB962C8B-B14F-4D97-AF65-F5344CB8AC3E}">
        <p14:creationId xmlns:p14="http://schemas.microsoft.com/office/powerpoint/2010/main" val="2598861229"/>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8FCFFB-A020-FD80-C327-271A0547EBB3}"/>
            </a:ext>
          </a:extLst>
        </p:cNvPr>
        <p:cNvGrpSpPr/>
        <p:nvPr/>
      </p:nvGrpSpPr>
      <p:grpSpPr>
        <a:xfrm>
          <a:off x="0" y="0"/>
          <a:ext cx="0" cy="0"/>
          <a:chOff x="0" y="0"/>
          <a:chExt cx="0" cy="0"/>
        </a:xfrm>
      </p:grpSpPr>
      <p:sp>
        <p:nvSpPr>
          <p:cNvPr id="2" name="標題 1">
            <a:extLst>
              <a:ext uri="{FF2B5EF4-FFF2-40B4-BE49-F238E27FC236}">
                <a16:creationId xmlns:a16="http://schemas.microsoft.com/office/drawing/2014/main" id="{D04A0BC9-81E6-8EDA-7925-B0D513956CE7}"/>
              </a:ext>
            </a:extLst>
          </p:cNvPr>
          <p:cNvSpPr txBox="1">
            <a:spLocks/>
          </p:cNvSpPr>
          <p:nvPr/>
        </p:nvSpPr>
        <p:spPr>
          <a:xfrm>
            <a:off x="-8612" y="80510"/>
            <a:ext cx="7748963" cy="612186"/>
          </a:xfrm>
          <a:prstGeom prst="rect">
            <a:avLst/>
          </a:prstGeom>
        </p:spPr>
        <p:txBody>
          <a:bodyPr/>
          <a:lstStyle>
            <a:lvl1pPr algn="l" defTabSz="914400" rtl="0" eaLnBrk="1" latinLnBrk="0" hangingPunct="1">
              <a:spcBef>
                <a:spcPct val="0"/>
              </a:spcBef>
              <a:buNone/>
              <a:defRPr sz="2400" kern="1200">
                <a:solidFill>
                  <a:schemeClr val="tx1"/>
                </a:solidFill>
                <a:latin typeface="+mj-lt"/>
                <a:ea typeface="+mj-ea"/>
                <a:cs typeface="+mj-cs"/>
              </a:defRPr>
            </a:lvl1pPr>
          </a:lstStyle>
          <a:p>
            <a:r>
              <a:rPr lang="en-US" altLang="zh-TW" sz="1800" dirty="0">
                <a:latin typeface="Arial" panose="020B0604020202020204" pitchFamily="34" charset="0"/>
                <a:cs typeface="Arial" panose="020B0604020202020204" pitchFamily="34" charset="0"/>
              </a:rPr>
              <a:t>Memory</a:t>
            </a:r>
          </a:p>
          <a:p>
            <a:r>
              <a:rPr lang="en-US" altLang="zh-TW" sz="1200" dirty="0">
                <a:latin typeface="Arial" panose="020B0604020202020204" pitchFamily="34" charset="0"/>
                <a:cs typeface="Arial" panose="020B0604020202020204" pitchFamily="34" charset="0"/>
              </a:rPr>
              <a:t>A</a:t>
            </a:r>
            <a:endParaRPr lang="en-US" altLang="zh-TW" sz="1400" dirty="0">
              <a:latin typeface="Arial" panose="020B0604020202020204" pitchFamily="34" charset="0"/>
              <a:cs typeface="Arial" panose="020B0604020202020204" pitchFamily="34" charset="0"/>
              <a:sym typeface="Wingdings" panose="05000000000000000000" pitchFamily="2" charset="2"/>
            </a:endParaRPr>
          </a:p>
        </p:txBody>
      </p:sp>
      <p:sp>
        <p:nvSpPr>
          <p:cNvPr id="3" name="文字方塊 2">
            <a:extLst>
              <a:ext uri="{FF2B5EF4-FFF2-40B4-BE49-F238E27FC236}">
                <a16:creationId xmlns:a16="http://schemas.microsoft.com/office/drawing/2014/main" id="{9C0076D6-5376-EDAD-EF25-F1F33898A23A}"/>
              </a:ext>
            </a:extLst>
          </p:cNvPr>
          <p:cNvSpPr txBox="1"/>
          <p:nvPr/>
        </p:nvSpPr>
        <p:spPr>
          <a:xfrm>
            <a:off x="0" y="1412776"/>
            <a:ext cx="2117971" cy="1440160"/>
          </a:xfrm>
          <a:prstGeom prst="rect">
            <a:avLst/>
          </a:prstGeom>
          <a:noFill/>
        </p:spPr>
        <p:txBody>
          <a:bodyPr wrap="none" lIns="0" tIns="0" rIns="0" bIns="0" anchor="ctr" anchorCtr="1">
            <a:noAutofit/>
          </a:bodyPr>
          <a:lstStyle/>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Bit Net</a:t>
            </a:r>
          </a:p>
          <a:p>
            <a:pPr algn="ctr">
              <a:lnSpc>
                <a:spcPts val="1400"/>
              </a:lnSpc>
              <a:tabLst>
                <a:tab pos="285750" algn="l"/>
              </a:tabLst>
            </a:pPr>
            <a:r>
              <a:rPr lang="en-US" altLang="zh-TW" sz="1200" dirty="0">
                <a:solidFill>
                  <a:schemeClr val="tx2"/>
                </a:solidFill>
                <a:latin typeface="微軟正黑體" panose="020B0604030504040204" pitchFamily="34" charset="-120"/>
                <a:ea typeface="微軟正黑體" panose="020B0604030504040204" pitchFamily="34" charset="-120"/>
              </a:rPr>
              <a:t>1.58b (2</a:t>
            </a:r>
            <a:r>
              <a:rPr lang="en-US" altLang="zh-TW" sz="1200" b="1" baseline="30000" dirty="0">
                <a:solidFill>
                  <a:srgbClr val="FF0000"/>
                </a:solidFill>
                <a:latin typeface="微軟正黑體" panose="020B0604030504040204" pitchFamily="34" charset="-120"/>
                <a:ea typeface="微軟正黑體" panose="020B0604030504040204" pitchFamily="34" charset="-120"/>
              </a:rPr>
              <a:t>1.58</a:t>
            </a:r>
            <a:r>
              <a:rPr lang="en-US" altLang="zh-TW" sz="1200" dirty="0">
                <a:solidFill>
                  <a:schemeClr val="tx2"/>
                </a:solidFill>
                <a:latin typeface="微軟正黑體" panose="020B0604030504040204" pitchFamily="34" charset="-120"/>
                <a:ea typeface="微軟正黑體" panose="020B0604030504040204" pitchFamily="34" charset="-120"/>
              </a:rPr>
              <a:t> =3)</a:t>
            </a:r>
          </a:p>
          <a:p>
            <a:pPr algn="ctr">
              <a:lnSpc>
                <a:spcPts val="1400"/>
              </a:lnSpc>
              <a:tabLst>
                <a:tab pos="285750" algn="l"/>
              </a:tabLst>
            </a:pPr>
            <a:endParaRPr lang="en-US" altLang="zh-TW" sz="1200" dirty="0">
              <a:solidFill>
                <a:schemeClr val="tx2"/>
              </a:solidFill>
              <a:latin typeface="微軟正黑體" panose="020B0604030504040204" pitchFamily="34" charset="-120"/>
              <a:ea typeface="微軟正黑體" panose="020B0604030504040204" pitchFamily="34" charset="-120"/>
            </a:endParaRPr>
          </a:p>
          <a:p>
            <a:pPr algn="ctr">
              <a:lnSpc>
                <a:spcPts val="1400"/>
              </a:lnSpc>
              <a:tabLst>
                <a:tab pos="285750" algn="l"/>
              </a:tabLst>
            </a:pPr>
            <a:r>
              <a:rPr lang="zh-TW" altLang="en-US" sz="1200" dirty="0">
                <a:solidFill>
                  <a:schemeClr val="tx2"/>
                </a:solidFill>
                <a:latin typeface="微軟正黑體" panose="020B0604030504040204" pitchFamily="34" charset="-120"/>
                <a:ea typeface="微軟正黑體" panose="020B0604030504040204" pitchFamily="34" charset="-120"/>
              </a:rPr>
              <a:t>大幅下降記憶體需求</a:t>
            </a:r>
            <a:endParaRPr lang="en-US" altLang="zh-TW" sz="1200" u="none" strike="noStrike" dirty="0">
              <a:solidFill>
                <a:schemeClr val="tx2"/>
              </a:solidFill>
              <a:effectLst/>
              <a:latin typeface="微軟正黑體" panose="020B0604030504040204" pitchFamily="34" charset="-120"/>
              <a:ea typeface="微軟正黑體" panose="020B0604030504040204" pitchFamily="34" charset="-120"/>
            </a:endParaRPr>
          </a:p>
        </p:txBody>
      </p:sp>
      <p:pic>
        <p:nvPicPr>
          <p:cNvPr id="6" name="圖片 5">
            <a:extLst>
              <a:ext uri="{FF2B5EF4-FFF2-40B4-BE49-F238E27FC236}">
                <a16:creationId xmlns:a16="http://schemas.microsoft.com/office/drawing/2014/main" id="{76B6E4EA-EFE8-AE03-ABF6-BA21A72E0B94}"/>
              </a:ext>
            </a:extLst>
          </p:cNvPr>
          <p:cNvPicPr>
            <a:picLocks noChangeAspect="1"/>
          </p:cNvPicPr>
          <p:nvPr/>
        </p:nvPicPr>
        <p:blipFill>
          <a:blip r:embed="rId2"/>
          <a:stretch>
            <a:fillRect/>
          </a:stretch>
        </p:blipFill>
        <p:spPr>
          <a:xfrm>
            <a:off x="21332" y="3140968"/>
            <a:ext cx="2705478" cy="1514686"/>
          </a:xfrm>
          <a:prstGeom prst="rect">
            <a:avLst/>
          </a:prstGeom>
        </p:spPr>
      </p:pic>
      <p:pic>
        <p:nvPicPr>
          <p:cNvPr id="8" name="圖片 7">
            <a:extLst>
              <a:ext uri="{FF2B5EF4-FFF2-40B4-BE49-F238E27FC236}">
                <a16:creationId xmlns:a16="http://schemas.microsoft.com/office/drawing/2014/main" id="{F8B5A82C-706F-F959-3445-79222273ACEA}"/>
              </a:ext>
            </a:extLst>
          </p:cNvPr>
          <p:cNvPicPr>
            <a:picLocks noChangeAspect="1"/>
          </p:cNvPicPr>
          <p:nvPr/>
        </p:nvPicPr>
        <p:blipFill>
          <a:blip r:embed="rId3"/>
          <a:stretch>
            <a:fillRect/>
          </a:stretch>
        </p:blipFill>
        <p:spPr>
          <a:xfrm>
            <a:off x="2843808" y="1412776"/>
            <a:ext cx="5419992" cy="4777739"/>
          </a:xfrm>
          <a:prstGeom prst="rect">
            <a:avLst/>
          </a:prstGeom>
        </p:spPr>
      </p:pic>
    </p:spTree>
    <p:extLst>
      <p:ext uri="{BB962C8B-B14F-4D97-AF65-F5344CB8AC3E}">
        <p14:creationId xmlns:p14="http://schemas.microsoft.com/office/powerpoint/2010/main" val="2141526493"/>
      </p:ext>
    </p:extLst>
  </p:cSld>
  <p:clrMapOvr>
    <a:masterClrMapping/>
  </p:clrMapOvr>
  <mc:AlternateContent xmlns:mc="http://schemas.openxmlformats.org/markup-compatibility/2006" xmlns:p14="http://schemas.microsoft.com/office/powerpoint/2010/main">
    <mc:Choice Requires="p14">
      <p:transition p14:dur="0" advClick="0"/>
    </mc:Choice>
    <mc:Fallback xmlns="">
      <p:transition advClick="0"/>
    </mc:Fallback>
  </mc:AlternateContent>
</p:sld>
</file>

<file path=ppt/theme/theme1.xml><?xml version="1.0" encoding="utf-8"?>
<a:theme xmlns:a="http://schemas.openxmlformats.org/drawingml/2006/main" name="Default">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solidFill>
          <a:schemeClr val="tx1">
            <a:alpha val="70000"/>
          </a:schemeClr>
        </a:solidFill>
        <a:ln w="12700">
          <a:solidFill>
            <a:schemeClr val="bg1">
              <a:lumMod val="75000"/>
            </a:schemeClr>
          </a:solidFill>
        </a:ln>
      </a:spPr>
      <a:bodyPr rtlCol="0" anchor="ctr"/>
      <a:lstStyle>
        <a:defPPr algn="ctr">
          <a:defRPr/>
        </a:defPPr>
      </a:lstStyle>
      <a:style>
        <a:lnRef idx="2">
          <a:schemeClr val="accent1">
            <a:shade val="15000"/>
          </a:schemeClr>
        </a:lnRef>
        <a:fillRef idx="1">
          <a:schemeClr val="accent1"/>
        </a:fillRef>
        <a:effectRef idx="0">
          <a:schemeClr val="accent1"/>
        </a:effectRef>
        <a:fontRef idx="minor">
          <a:schemeClr val="lt1"/>
        </a:fontRef>
      </a:style>
    </a:spDef>
  </a:objectDefaults>
  <a:extraClrSchemeLst/>
  <a:extLst>
    <a:ext uri="{05A4C25C-085E-4340-85A3-A5531E510DB2}">
      <thm15:themeFamily xmlns:thm15="http://schemas.microsoft.com/office/thememl/2012/main" name="簡報1" id="{3349570C-DE3B-48BB-8671-1853FC12C45D}" vid="{424F00FA-23EC-402E-8D8B-A6A8EB048657}"/>
    </a:ext>
  </a:extLst>
</a:theme>
</file>

<file path=ppt/theme/theme2.xml><?xml version="1.0" encoding="utf-8"?>
<a:theme xmlns:a="http://schemas.openxmlformats.org/drawingml/2006/main" name="Office 佈景主題">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佈景主題">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TM02900688[[fn=多面向]]</Template>
  <TotalTime>0</TotalTime>
  <Words>8141</Words>
  <Application>Microsoft Office PowerPoint</Application>
  <PresentationFormat>如螢幕大小 (4:3)</PresentationFormat>
  <Paragraphs>869</Paragraphs>
  <Slides>26</Slides>
  <Notes>23</Notes>
  <HiddenSlides>5</HiddenSlides>
  <MMClips>0</MMClips>
  <ScaleCrop>false</ScaleCrop>
  <HeadingPairs>
    <vt:vector size="6" baseType="variant">
      <vt:variant>
        <vt:lpstr>使用字型</vt:lpstr>
      </vt:variant>
      <vt:variant>
        <vt:i4>13</vt:i4>
      </vt:variant>
      <vt:variant>
        <vt:lpstr>佈景主題</vt:lpstr>
      </vt:variant>
      <vt:variant>
        <vt:i4>1</vt:i4>
      </vt:variant>
      <vt:variant>
        <vt:lpstr>投影片標題</vt:lpstr>
      </vt:variant>
      <vt:variant>
        <vt:i4>26</vt:i4>
      </vt:variant>
    </vt:vector>
  </HeadingPairs>
  <TitlesOfParts>
    <vt:vector size="40" baseType="lpstr">
      <vt:lpstr>Google Sans</vt:lpstr>
      <vt:lpstr>Microsoft GothicNeo</vt:lpstr>
      <vt:lpstr>Microsoft JhengHei UI</vt:lpstr>
      <vt:lpstr>Microsoft YaHei Mono</vt:lpstr>
      <vt:lpstr>Noto Sans HK</vt:lpstr>
      <vt:lpstr>STXingkai</vt:lpstr>
      <vt:lpstr>微軟正黑體</vt:lpstr>
      <vt:lpstr>ADLaM Display</vt:lpstr>
      <vt:lpstr>Arial</vt:lpstr>
      <vt:lpstr>Calibri</vt:lpstr>
      <vt:lpstr>Cambria Math</vt:lpstr>
      <vt:lpstr>Gadugi</vt:lpstr>
      <vt:lpstr>Wingdings</vt:lpstr>
      <vt:lpstr>Default</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lpstr>PowerPoint 簡報</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Progress Report</dc:title>
  <dc:creator>Felix Tien(田慶豐)</dc:creator>
  <cp:lastModifiedBy>Allen Ni(倪士凱)</cp:lastModifiedBy>
  <cp:revision>1637</cp:revision>
  <cp:lastPrinted>2024-07-30T01:44:15Z</cp:lastPrinted>
  <dcterms:created xsi:type="dcterms:W3CDTF">2019-11-08T03:01:47Z</dcterms:created>
  <dcterms:modified xsi:type="dcterms:W3CDTF">2026-07-05T12:59:09Z</dcterms:modified>
</cp:coreProperties>
</file>