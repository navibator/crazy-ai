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2"/>
  </p:notesMasterIdLst>
  <p:handoutMasterIdLst>
    <p:handoutMasterId r:id="rId33"/>
  </p:handoutMasterIdLst>
  <p:sldIdLst>
    <p:sldId id="3459" r:id="rId2"/>
    <p:sldId id="3472" r:id="rId3"/>
    <p:sldId id="3573" r:id="rId4"/>
    <p:sldId id="3465" r:id="rId5"/>
    <p:sldId id="3574" r:id="rId6"/>
    <p:sldId id="3566" r:id="rId7"/>
    <p:sldId id="3575" r:id="rId8"/>
    <p:sldId id="3563" r:id="rId9"/>
    <p:sldId id="3562" r:id="rId10"/>
    <p:sldId id="3556" r:id="rId11"/>
    <p:sldId id="3551" r:id="rId12"/>
    <p:sldId id="3561" r:id="rId13"/>
    <p:sldId id="3577" r:id="rId14"/>
    <p:sldId id="3559" r:id="rId15"/>
    <p:sldId id="3578" r:id="rId16"/>
    <p:sldId id="3570" r:id="rId17"/>
    <p:sldId id="3571" r:id="rId18"/>
    <p:sldId id="3579" r:id="rId19"/>
    <p:sldId id="3572" r:id="rId20"/>
    <p:sldId id="3567" r:id="rId21"/>
    <p:sldId id="3568" r:id="rId22"/>
    <p:sldId id="3534" r:id="rId23"/>
    <p:sldId id="3565" r:id="rId24"/>
    <p:sldId id="3451" r:id="rId25"/>
    <p:sldId id="3560" r:id="rId26"/>
    <p:sldId id="3564" r:id="rId27"/>
    <p:sldId id="3536" r:id="rId28"/>
    <p:sldId id="3569" r:id="rId29"/>
    <p:sldId id="3535" r:id="rId30"/>
    <p:sldId id="3549" r:id="rId31"/>
  </p:sldIdLst>
  <p:sldSz cx="9144000" cy="6858000" type="screen4x3"/>
  <p:notesSz cx="6797675" cy="992505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genda" id="{30F6892D-1922-4A88-A82D-8CD0653C5411}">
          <p14:sldIdLst>
            <p14:sldId id="3459"/>
            <p14:sldId id="3472"/>
          </p14:sldIdLst>
        </p14:section>
        <p14:section name="LSTM" id="{EE40A592-26E0-44D5-B20C-08484E6740F4}">
          <p14:sldIdLst>
            <p14:sldId id="3573"/>
            <p14:sldId id="3465"/>
            <p14:sldId id="3574"/>
            <p14:sldId id="3566"/>
          </p14:sldIdLst>
        </p14:section>
        <p14:section name="Residual and Skip" id="{9BECC90A-F116-468A-AB32-1AF6F0FAE763}">
          <p14:sldIdLst>
            <p14:sldId id="3575"/>
          </p14:sldIdLst>
        </p14:section>
        <p14:section name="Optimizer-MuON" id="{D96295E3-C59A-456D-AE59-C3D5699A4263}">
          <p14:sldIdLst>
            <p14:sldId id="3563"/>
            <p14:sldId id="3562"/>
            <p14:sldId id="3556"/>
            <p14:sldId id="3551"/>
          </p14:sldIdLst>
        </p14:section>
        <p14:section name="Scaling Laws" id="{D8A0A845-B83A-4610-8E4F-071F07C07C23}">
          <p14:sldIdLst>
            <p14:sldId id="3561"/>
            <p14:sldId id="3577"/>
            <p14:sldId id="3559"/>
          </p14:sldIdLst>
        </p14:section>
        <p14:section name="Moonshot-Kimi" id="{7C2BE5B2-C507-46C7-871E-C935EB653EC3}">
          <p14:sldIdLst>
            <p14:sldId id="3578"/>
            <p14:sldId id="3570"/>
            <p14:sldId id="3571"/>
            <p14:sldId id="3579"/>
            <p14:sldId id="3572"/>
            <p14:sldId id="3567"/>
            <p14:sldId id="3568"/>
            <p14:sldId id="3534"/>
            <p14:sldId id="3565"/>
            <p14:sldId id="3451"/>
            <p14:sldId id="3560"/>
            <p14:sldId id="3564"/>
            <p14:sldId id="3536"/>
            <p14:sldId id="3569"/>
          </p14:sldIdLst>
        </p14:section>
        <p14:section name="Conclusion" id="{D9E6914C-A73F-4176-B0F8-3F87EAC09119}">
          <p14:sldIdLst>
            <p14:sldId id="3535"/>
            <p14:sldId id="3549"/>
          </p14:sldIdLst>
        </p14:section>
      </p14:sectionLst>
    </p:ext>
    <p:ext uri="{EFAFB233-063F-42B5-8137-9DF3F51BA10A}">
      <p15:sldGuideLst xmlns:p15="http://schemas.microsoft.com/office/powerpoint/2012/main">
        <p15:guide id="1" orient="horz" pos="2160">
          <p15:clr>
            <a:srgbClr val="A4A3A4"/>
          </p15:clr>
        </p15:guide>
        <p15:guide id="2" pos="147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EF1DDEA-D49D-B2A5-9D83-8BDFFC6C721F}" name="Allen Ni(倪士凱)" initials="AN" userId="S::ani@centrilliontech.com.tw::64a9ee61-01eb-41d1-8925-9f522fa76fb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C203"/>
    <a:srgbClr val="FF9900"/>
    <a:srgbClr val="FDF3DB"/>
    <a:srgbClr val="2260DC"/>
    <a:srgbClr val="F0F0F0"/>
    <a:srgbClr val="F8D462"/>
    <a:srgbClr val="4C6BFF"/>
    <a:srgbClr val="3079EF"/>
    <a:srgbClr val="B8EACA"/>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0" autoAdjust="0"/>
    <p:restoredTop sz="59738" autoAdjust="0"/>
  </p:normalViewPr>
  <p:slideViewPr>
    <p:cSldViewPr>
      <p:cViewPr varScale="1">
        <p:scale>
          <a:sx n="123" d="100"/>
          <a:sy n="123" d="100"/>
        </p:scale>
        <p:origin x="240" y="102"/>
      </p:cViewPr>
      <p:guideLst>
        <p:guide orient="horz" pos="2160"/>
        <p:guide pos="1474"/>
      </p:guideLst>
    </p:cSldViewPr>
  </p:slideViewPr>
  <p:outlineViewPr>
    <p:cViewPr>
      <p:scale>
        <a:sx n="33" d="100"/>
        <a:sy n="33" d="100"/>
      </p:scale>
      <p:origin x="0" y="-1075"/>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96" d="100"/>
          <a:sy n="96" d="100"/>
        </p:scale>
        <p:origin x="2784"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8509AA70-DCA8-F2B3-665C-D289623E1626}"/>
              </a:ext>
            </a:extLst>
          </p:cNvPr>
          <p:cNvSpPr>
            <a:spLocks noGrp="1"/>
          </p:cNvSpPr>
          <p:nvPr>
            <p:ph type="hdr" sz="quarter"/>
          </p:nvPr>
        </p:nvSpPr>
        <p:spPr>
          <a:xfrm>
            <a:off x="2" y="0"/>
            <a:ext cx="2945659" cy="497976"/>
          </a:xfrm>
          <a:prstGeom prst="rect">
            <a:avLst/>
          </a:prstGeom>
        </p:spPr>
        <p:txBody>
          <a:bodyPr vert="horz" lIns="91430" tIns="45714" rIns="91430" bIns="45714"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260D9017-2A20-36CB-3124-1CE24A164FFA}"/>
              </a:ext>
            </a:extLst>
          </p:cNvPr>
          <p:cNvSpPr>
            <a:spLocks noGrp="1"/>
          </p:cNvSpPr>
          <p:nvPr>
            <p:ph type="dt" sz="quarter" idx="1"/>
          </p:nvPr>
        </p:nvSpPr>
        <p:spPr>
          <a:xfrm>
            <a:off x="3850445" y="0"/>
            <a:ext cx="2945659" cy="497976"/>
          </a:xfrm>
          <a:prstGeom prst="rect">
            <a:avLst/>
          </a:prstGeom>
        </p:spPr>
        <p:txBody>
          <a:bodyPr vert="horz" lIns="91430" tIns="45714" rIns="91430" bIns="45714" rtlCol="0"/>
          <a:lstStyle>
            <a:lvl1pPr algn="r">
              <a:defRPr sz="1200"/>
            </a:lvl1pPr>
          </a:lstStyle>
          <a:p>
            <a:fld id="{982F7CBC-87DD-4F69-8F50-7ED68F7FF790}" type="datetimeFigureOut">
              <a:rPr lang="zh-TW" altLang="en-US" smtClean="0"/>
              <a:t>2026/9/18</a:t>
            </a:fld>
            <a:endParaRPr lang="zh-TW" altLang="en-US"/>
          </a:p>
        </p:txBody>
      </p:sp>
      <p:sp>
        <p:nvSpPr>
          <p:cNvPr id="4" name="頁尾版面配置區 3">
            <a:extLst>
              <a:ext uri="{FF2B5EF4-FFF2-40B4-BE49-F238E27FC236}">
                <a16:creationId xmlns:a16="http://schemas.microsoft.com/office/drawing/2014/main" id="{72E2BC4B-E97F-2930-F9D4-22EF7E0E14E0}"/>
              </a:ext>
            </a:extLst>
          </p:cNvPr>
          <p:cNvSpPr>
            <a:spLocks noGrp="1"/>
          </p:cNvSpPr>
          <p:nvPr>
            <p:ph type="ftr" sz="quarter" idx="2"/>
          </p:nvPr>
        </p:nvSpPr>
        <p:spPr>
          <a:xfrm>
            <a:off x="2" y="9427077"/>
            <a:ext cx="2945659" cy="497975"/>
          </a:xfrm>
          <a:prstGeom prst="rect">
            <a:avLst/>
          </a:prstGeom>
        </p:spPr>
        <p:txBody>
          <a:bodyPr vert="horz" lIns="91430" tIns="45714" rIns="91430" bIns="45714"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F9105500-21C2-E70A-A08C-9E9E3094A4E0}"/>
              </a:ext>
            </a:extLst>
          </p:cNvPr>
          <p:cNvSpPr>
            <a:spLocks noGrp="1"/>
          </p:cNvSpPr>
          <p:nvPr>
            <p:ph type="sldNum" sz="quarter" idx="3"/>
          </p:nvPr>
        </p:nvSpPr>
        <p:spPr>
          <a:xfrm>
            <a:off x="3850445" y="9427077"/>
            <a:ext cx="2945659" cy="497975"/>
          </a:xfrm>
          <a:prstGeom prst="rect">
            <a:avLst/>
          </a:prstGeom>
        </p:spPr>
        <p:txBody>
          <a:bodyPr vert="horz" lIns="91430" tIns="45714" rIns="91430" bIns="45714" rtlCol="0" anchor="b"/>
          <a:lstStyle>
            <a:lvl1pPr algn="r">
              <a:defRPr sz="1200"/>
            </a:lvl1pPr>
          </a:lstStyle>
          <a:p>
            <a:fld id="{30EF305C-901E-49EC-B839-B172F9488209}" type="slidenum">
              <a:rPr lang="zh-TW" altLang="en-US" smtClean="0"/>
              <a:t>‹#›</a:t>
            </a:fld>
            <a:endParaRPr lang="zh-TW" altLang="en-US"/>
          </a:p>
        </p:txBody>
      </p:sp>
    </p:spTree>
    <p:extLst>
      <p:ext uri="{BB962C8B-B14F-4D97-AF65-F5344CB8AC3E}">
        <p14:creationId xmlns:p14="http://schemas.microsoft.com/office/powerpoint/2010/main" val="1951901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2" y="1"/>
            <a:ext cx="2945659" cy="496253"/>
          </a:xfrm>
          <a:prstGeom prst="rect">
            <a:avLst/>
          </a:prstGeom>
        </p:spPr>
        <p:txBody>
          <a:bodyPr vert="horz" lIns="91430" tIns="45714" rIns="91430" bIns="45714" rtlCol="0"/>
          <a:lstStyle>
            <a:lvl1pPr algn="l">
              <a:defRPr sz="1200"/>
            </a:lvl1pPr>
          </a:lstStyle>
          <a:p>
            <a:endParaRPr lang="zh-TW" altLang="en-US"/>
          </a:p>
        </p:txBody>
      </p:sp>
      <p:sp>
        <p:nvSpPr>
          <p:cNvPr id="3" name="日期版面配置區 2"/>
          <p:cNvSpPr>
            <a:spLocks noGrp="1"/>
          </p:cNvSpPr>
          <p:nvPr>
            <p:ph type="dt" idx="1"/>
          </p:nvPr>
        </p:nvSpPr>
        <p:spPr>
          <a:xfrm>
            <a:off x="3850445" y="1"/>
            <a:ext cx="2945659" cy="496253"/>
          </a:xfrm>
          <a:prstGeom prst="rect">
            <a:avLst/>
          </a:prstGeom>
        </p:spPr>
        <p:txBody>
          <a:bodyPr vert="horz" lIns="91430" tIns="45714" rIns="91430" bIns="45714" rtlCol="0"/>
          <a:lstStyle>
            <a:lvl1pPr algn="r">
              <a:defRPr sz="1200"/>
            </a:lvl1pPr>
          </a:lstStyle>
          <a:p>
            <a:fld id="{863167AA-796B-4B6A-95ED-1C0BCB3E5802}" type="datetimeFigureOut">
              <a:rPr lang="zh-TW" altLang="en-US" smtClean="0"/>
              <a:t>2026/9/18</a:t>
            </a:fld>
            <a:endParaRPr lang="zh-TW" altLang="en-US"/>
          </a:p>
        </p:txBody>
      </p:sp>
      <p:sp>
        <p:nvSpPr>
          <p:cNvPr id="4" name="投影片圖像版面配置區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30" tIns="45714" rIns="91430" bIns="45714" rtlCol="0" anchor="ctr"/>
          <a:lstStyle/>
          <a:p>
            <a:endParaRPr lang="zh-TW" altLang="en-US"/>
          </a:p>
        </p:txBody>
      </p:sp>
      <p:sp>
        <p:nvSpPr>
          <p:cNvPr id="5" name="備忘稿版面配置區 4"/>
          <p:cNvSpPr>
            <a:spLocks noGrp="1"/>
          </p:cNvSpPr>
          <p:nvPr>
            <p:ph type="body" sz="quarter" idx="3"/>
          </p:nvPr>
        </p:nvSpPr>
        <p:spPr>
          <a:xfrm>
            <a:off x="679768" y="4714400"/>
            <a:ext cx="5438140" cy="4466272"/>
          </a:xfrm>
          <a:prstGeom prst="rect">
            <a:avLst/>
          </a:prstGeom>
        </p:spPr>
        <p:txBody>
          <a:bodyPr vert="horz" lIns="91430" tIns="45714" rIns="91430" bIns="45714" rtlCol="0"/>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6" name="頁尾版面配置區 5"/>
          <p:cNvSpPr>
            <a:spLocks noGrp="1"/>
          </p:cNvSpPr>
          <p:nvPr>
            <p:ph type="ftr" sz="quarter" idx="4"/>
          </p:nvPr>
        </p:nvSpPr>
        <p:spPr>
          <a:xfrm>
            <a:off x="2" y="9427075"/>
            <a:ext cx="2945659" cy="496253"/>
          </a:xfrm>
          <a:prstGeom prst="rect">
            <a:avLst/>
          </a:prstGeom>
        </p:spPr>
        <p:txBody>
          <a:bodyPr vert="horz" lIns="91430" tIns="45714" rIns="91430" bIns="45714"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0445" y="9427075"/>
            <a:ext cx="2945659" cy="496253"/>
          </a:xfrm>
          <a:prstGeom prst="rect">
            <a:avLst/>
          </a:prstGeom>
        </p:spPr>
        <p:txBody>
          <a:bodyPr vert="horz" lIns="91430" tIns="45714" rIns="91430" bIns="45714" rtlCol="0" anchor="b"/>
          <a:lstStyle>
            <a:lvl1pPr algn="r">
              <a:defRPr sz="1200"/>
            </a:lvl1pPr>
          </a:lstStyle>
          <a:p>
            <a:fld id="{E3A6CE5E-F349-486D-8749-82EF2AD71FA8}" type="slidenum">
              <a:rPr lang="zh-TW" altLang="en-US" smtClean="0"/>
              <a:t>‹#›</a:t>
            </a:fld>
            <a:endParaRPr lang="zh-TW" altLang="en-US"/>
          </a:p>
        </p:txBody>
      </p:sp>
    </p:spTree>
    <p:extLst>
      <p:ext uri="{BB962C8B-B14F-4D97-AF65-F5344CB8AC3E}">
        <p14:creationId xmlns:p14="http://schemas.microsoft.com/office/powerpoint/2010/main" val="3336009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m.aitntnews.com/newDetail.html?newId=21495"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hao.cnyes.com/post/262066"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en.wikipedia.org/wiki/Chinchilla_(language_model)" TargetMode="External"/><Relationship Id="rId2" Type="http://schemas.openxmlformats.org/officeDocument/2006/relationships/slide" Target="../slides/slide13.xml"/><Relationship Id="rId1" Type="http://schemas.openxmlformats.org/officeDocument/2006/relationships/notesMaster" Target="../notesMasters/notesMaster1.xml"/><Relationship Id="rId5" Type="http://schemas.openxmlformats.org/officeDocument/2006/relationships/hyperlink" Target="https://ai.meta.com/blog/large-language-model-llama-meta-ai/" TargetMode="External"/><Relationship Id="rId4" Type="http://schemas.openxmlformats.org/officeDocument/2006/relationships/hyperlink" Target="https://arxiv.org/abs/2203.15556"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a:t>
            </a:fld>
            <a:endParaRPr lang="zh-TW" altLang="en-US"/>
          </a:p>
        </p:txBody>
      </p:sp>
    </p:spTree>
    <p:extLst>
      <p:ext uri="{BB962C8B-B14F-4D97-AF65-F5344CB8AC3E}">
        <p14:creationId xmlns:p14="http://schemas.microsoft.com/office/powerpoint/2010/main" val="1419742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4B811-902A-94AB-AABB-4CC1382C733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32B768C-5222-29ED-3563-1AFFE32A73F1}"/>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A1FC8048-7B6E-7E1E-EC2B-CCC4CC9FF30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en-US" altLang="zh-TW" sz="2000" b="0" i="0" u="none" strike="noStrike" kern="1200" cap="none" spc="0" normalizeH="0" baseline="0" noProof="0" dirty="0">
              <a:ln>
                <a:noFill/>
              </a:ln>
              <a:solidFill>
                <a:prstClr val="white">
                  <a:lumMod val="50000"/>
                </a:prstClr>
              </a:solidFill>
              <a:effectLst/>
              <a:uLnTx/>
              <a:uFillTx/>
              <a:latin typeface="+mn-lt"/>
              <a:ea typeface="+mn-ea"/>
              <a:cs typeface="+mn-cs"/>
            </a:endParaRPr>
          </a:p>
        </p:txBody>
      </p:sp>
      <p:sp>
        <p:nvSpPr>
          <p:cNvPr id="4" name="投影片編號版面配置區 3">
            <a:extLst>
              <a:ext uri="{FF2B5EF4-FFF2-40B4-BE49-F238E27FC236}">
                <a16:creationId xmlns:a16="http://schemas.microsoft.com/office/drawing/2014/main" id="{94A622D0-F740-070B-33AA-93A0D57A4D76}"/>
              </a:ext>
            </a:extLst>
          </p:cNvPr>
          <p:cNvSpPr>
            <a:spLocks noGrp="1"/>
          </p:cNvSpPr>
          <p:nvPr>
            <p:ph type="sldNum" sz="quarter" idx="5"/>
          </p:nvPr>
        </p:nvSpPr>
        <p:spPr/>
        <p:txBody>
          <a:bodyPr/>
          <a:lstStyle/>
          <a:p>
            <a:fld id="{E3A6CE5E-F349-486D-8749-82EF2AD71FA8}" type="slidenum">
              <a:rPr lang="zh-TW" altLang="en-US" smtClean="0"/>
              <a:t>2</a:t>
            </a:fld>
            <a:endParaRPr lang="zh-TW" altLang="en-US"/>
          </a:p>
        </p:txBody>
      </p:sp>
    </p:spTree>
    <p:extLst>
      <p:ext uri="{BB962C8B-B14F-4D97-AF65-F5344CB8AC3E}">
        <p14:creationId xmlns:p14="http://schemas.microsoft.com/office/powerpoint/2010/main" val="8943567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AC8A5-7208-42FD-4AB1-69FB94E8C31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E50C716-EBED-7B37-B89E-FE33A365325C}"/>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83A44D22-12E4-0B2B-0CE3-74F0B4E51A5B}"/>
              </a:ext>
            </a:extLst>
          </p:cNvPr>
          <p:cNvSpPr>
            <a:spLocks noGrp="1"/>
          </p:cNvSpPr>
          <p:nvPr>
            <p:ph type="body" idx="1"/>
          </p:nvPr>
        </p:nvSpPr>
        <p:spPr/>
        <p:txBody>
          <a:bodyPr/>
          <a:lstStyle/>
          <a:p>
            <a:r>
              <a:rPr lang="en-US" altLang="zh-TW" sz="1200" dirty="0">
                <a:ea typeface="ADLaM Display" panose="02010000000000000000" pitchFamily="2" charset="0"/>
                <a:cs typeface="ADLaM Display" panose="02010000000000000000" pitchFamily="2" charset="0"/>
              </a:rPr>
              <a:t>LSA(laten semantic analysis) based on “Bag of Words” and SVD,</a:t>
            </a:r>
            <a:br>
              <a:rPr lang="en-US" altLang="zh-TW" sz="1200" dirty="0">
                <a:ea typeface="ADLaM Display" panose="02010000000000000000" pitchFamily="2" charset="0"/>
                <a:cs typeface="ADLaM Display" panose="02010000000000000000" pitchFamily="2" charset="0"/>
              </a:rPr>
            </a:br>
            <a:br>
              <a:rPr lang="en-US" altLang="zh-TW" sz="1200" dirty="0">
                <a:ea typeface="ADLaM Display" panose="02010000000000000000" pitchFamily="2" charset="0"/>
                <a:cs typeface="ADLaM Display" panose="02010000000000000000" pitchFamily="2" charset="0"/>
              </a:rPr>
            </a:br>
            <a:r>
              <a:rPr lang="en-US" altLang="zh-TW" sz="1200" dirty="0">
                <a:ea typeface="ADLaM Display" panose="02010000000000000000" pitchFamily="2" charset="0"/>
                <a:cs typeface="ADLaM Display" panose="02010000000000000000" pitchFamily="2" charset="0"/>
              </a:rPr>
              <a:t>Document-Term Matrix can’t distinguish 2 backs below:</a:t>
            </a:r>
            <a:br>
              <a:rPr lang="en-US" altLang="zh-TW" sz="1200" dirty="0">
                <a:ea typeface="ADLaM Display" panose="02010000000000000000" pitchFamily="2" charset="0"/>
                <a:cs typeface="ADLaM Display" panose="02010000000000000000" pitchFamily="2" charset="0"/>
              </a:rPr>
            </a:br>
            <a:br>
              <a:rPr lang="en-US" altLang="zh-TW" sz="1200" dirty="0">
                <a:ea typeface="ADLaM Display" panose="02010000000000000000" pitchFamily="2" charset="0"/>
                <a:cs typeface="ADLaM Display" panose="02010000000000000000" pitchFamily="2" charset="0"/>
              </a:rPr>
            </a:br>
            <a:r>
              <a:rPr lang="en-US" altLang="zh-TW" sz="1200" dirty="0">
                <a:ea typeface="ADLaM Display" panose="02010000000000000000" pitchFamily="2" charset="0"/>
                <a:cs typeface="ADLaM Display" panose="02010000000000000000" pitchFamily="2" charset="0"/>
              </a:rPr>
              <a:t>The </a:t>
            </a:r>
            <a:r>
              <a:rPr lang="en-US" altLang="zh-TW" sz="1200" b="1" dirty="0">
                <a:solidFill>
                  <a:schemeClr val="accent6">
                    <a:lumMod val="75000"/>
                  </a:schemeClr>
                </a:solidFill>
                <a:ea typeface="ADLaM Display" panose="02010000000000000000" pitchFamily="2" charset="0"/>
                <a:cs typeface="ADLaM Display" panose="02010000000000000000" pitchFamily="2" charset="0"/>
              </a:rPr>
              <a:t>back</a:t>
            </a:r>
            <a:r>
              <a:rPr lang="en-US" altLang="zh-TW" sz="1200" dirty="0">
                <a:ea typeface="ADLaM Display" panose="02010000000000000000" pitchFamily="2" charset="0"/>
                <a:cs typeface="ADLaM Display" panose="02010000000000000000" pitchFamily="2" charset="0"/>
              </a:rPr>
              <a:t> of the river was wet.</a:t>
            </a:r>
          </a:p>
          <a:p>
            <a:r>
              <a:rPr lang="en-US" altLang="zh-TW" sz="1200" dirty="0">
                <a:ea typeface="ADLaM Display" panose="02010000000000000000" pitchFamily="2" charset="0"/>
                <a:cs typeface="ADLaM Display" panose="02010000000000000000" pitchFamily="2" charset="0"/>
              </a:rPr>
              <a:t>The river of the </a:t>
            </a:r>
            <a:r>
              <a:rPr lang="en-US" altLang="zh-TW" sz="1200" b="1" dirty="0">
                <a:solidFill>
                  <a:schemeClr val="accent6">
                    <a:lumMod val="75000"/>
                  </a:schemeClr>
                </a:solidFill>
                <a:ea typeface="ADLaM Display" panose="02010000000000000000" pitchFamily="2" charset="0"/>
                <a:cs typeface="ADLaM Display" panose="02010000000000000000" pitchFamily="2" charset="0"/>
              </a:rPr>
              <a:t>back</a:t>
            </a:r>
            <a:r>
              <a:rPr lang="en-US" altLang="zh-TW" sz="1200" dirty="0">
                <a:ea typeface="ADLaM Display" panose="02010000000000000000" pitchFamily="2" charset="0"/>
                <a:cs typeface="ADLaM Display" panose="02010000000000000000" pitchFamily="2" charset="0"/>
              </a:rPr>
              <a:t> was dry.</a:t>
            </a:r>
            <a:endParaRPr lang="zh-TW" altLang="en-US" sz="1200" dirty="0">
              <a:cs typeface="ADLaM Display" panose="0201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zh-TW" sz="1200" b="0" u="none" strike="noStrike"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53B19BF4-B58A-E05F-89B6-8578AAFD9E4C}"/>
              </a:ext>
            </a:extLst>
          </p:cNvPr>
          <p:cNvSpPr>
            <a:spLocks noGrp="1"/>
          </p:cNvSpPr>
          <p:nvPr>
            <p:ph type="sldNum" sz="quarter" idx="5"/>
          </p:nvPr>
        </p:nvSpPr>
        <p:spPr/>
        <p:txBody>
          <a:bodyPr/>
          <a:lstStyle/>
          <a:p>
            <a:fld id="{E3A6CE5E-F349-486D-8749-82EF2AD71FA8}" type="slidenum">
              <a:rPr lang="zh-TW" altLang="en-US" smtClean="0"/>
              <a:t>3</a:t>
            </a:fld>
            <a:endParaRPr lang="zh-TW" altLang="en-US"/>
          </a:p>
        </p:txBody>
      </p:sp>
    </p:spTree>
    <p:extLst>
      <p:ext uri="{BB962C8B-B14F-4D97-AF65-F5344CB8AC3E}">
        <p14:creationId xmlns:p14="http://schemas.microsoft.com/office/powerpoint/2010/main" val="34364148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zh-TW" sz="1200" b="0" i="0" kern="1200" dirty="0">
                <a:solidFill>
                  <a:schemeClr val="tx1"/>
                </a:solidFill>
                <a:effectLst/>
                <a:latin typeface="+mn-lt"/>
                <a:ea typeface="+mn-ea"/>
                <a:cs typeface="+mn-cs"/>
              </a:rPr>
              <a:t>Practical applications</a:t>
            </a:r>
          </a:p>
          <a:p>
            <a:r>
              <a:rPr lang="zh-TW" altLang="zh-TW" sz="1200" b="0" i="0" kern="1200" dirty="0">
                <a:solidFill>
                  <a:schemeClr val="tx1"/>
                </a:solidFill>
                <a:effectLst/>
                <a:latin typeface="+mn-lt"/>
                <a:ea typeface="+mn-ea"/>
                <a:cs typeface="+mn-cs"/>
              </a:rPr>
              <a:t>LSTM networks find applications across various domains due to their capabilities to “remember” data. In language processing, they power tasks such as language translation, sentiment analysis, and text generation by understanding and predicting linguistic patterns. For time series forecasting, LSTM networks predict future trends in sequential data like stock prices and medical diagnostics. They also excel in speech recognition by converting spoken language into text and in video analysis by identifying objects and actions.</a:t>
            </a:r>
          </a:p>
          <a:p>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r>
              <a:rPr lang="zh-TW" altLang="zh-TW" sz="1200" b="0" i="0" kern="1200" dirty="0">
                <a:solidFill>
                  <a:schemeClr val="tx1"/>
                </a:solidFill>
                <a:effectLst/>
                <a:latin typeface="+mn-lt"/>
                <a:ea typeface="+mn-ea"/>
                <a:cs typeface="+mn-cs"/>
              </a:rPr>
              <a:t>Conclusion</a:t>
            </a:r>
          </a:p>
          <a:p>
            <a:r>
              <a:rPr lang="zh-TW" altLang="zh-TW" sz="1200" b="0" i="0" kern="1200" dirty="0">
                <a:solidFill>
                  <a:schemeClr val="tx1"/>
                </a:solidFill>
                <a:effectLst/>
                <a:latin typeface="+mn-lt"/>
                <a:ea typeface="+mn-ea"/>
                <a:cs typeface="+mn-cs"/>
              </a:rPr>
              <a:t>In conclusion, LSTM networks represent an important method in deep learning, enabling machines to understand and predict patterns within sequential data effectively. As research progresses, LSTM networks are increasingly substituted by the dominant transformer architectures. </a:t>
            </a:r>
          </a:p>
          <a:p>
            <a:r>
              <a:rPr lang="zh-TW" altLang="zh-TW" sz="1200" b="0" i="0" kern="1200" dirty="0">
                <a:solidFill>
                  <a:schemeClr val="tx1"/>
                </a:solidFill>
                <a:effectLst/>
                <a:latin typeface="+mn-lt"/>
                <a:ea typeface="+mn-ea"/>
                <a:cs typeface="+mn-cs"/>
              </a:rPr>
              <a:t>Nevertheless, by leveraging the advanced architecture of LSTM networks and exploring bidirectional capabilities, researchers and practitioners can harness the power of deep learning to tackle complex challenges and unlock new opportunities in intelligent systems.</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zh-TW" sz="1200" b="0" u="none" strike="noStrike" kern="1200" dirty="0">
              <a:solidFill>
                <a:schemeClr val="tx1"/>
              </a:solidFill>
              <a:effectLst/>
              <a:latin typeface="+mn-lt"/>
              <a:ea typeface="+mn-ea"/>
              <a:cs typeface="+mn-cs"/>
            </a:endParaRPr>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4</a:t>
            </a:fld>
            <a:endParaRPr lang="zh-TW" altLang="en-US"/>
          </a:p>
        </p:txBody>
      </p:sp>
    </p:spTree>
    <p:extLst>
      <p:ext uri="{BB962C8B-B14F-4D97-AF65-F5344CB8AC3E}">
        <p14:creationId xmlns:p14="http://schemas.microsoft.com/office/powerpoint/2010/main" val="17417027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0B52B-AE4C-4051-C3F5-0DE813B4CE9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8850CCC-3A19-9090-B62D-D6F6158F0B4B}"/>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D0644453-D979-7592-6351-6937AA22A0DF}"/>
              </a:ext>
            </a:extLst>
          </p:cNvPr>
          <p:cNvSpPr>
            <a:spLocks noGrp="1"/>
          </p:cNvSpPr>
          <p:nvPr>
            <p:ph type="body" idx="1"/>
          </p:nvPr>
        </p:nvSpPr>
        <p:spPr/>
        <p:txBody>
          <a:bodyPr/>
          <a:lstStyle/>
          <a:p>
            <a:r>
              <a:rPr lang="zh-TW" altLang="zh-TW" sz="1200" b="0" i="0" kern="1200" dirty="0">
                <a:solidFill>
                  <a:schemeClr val="tx1"/>
                </a:solidFill>
                <a:effectLst/>
                <a:latin typeface="+mn-lt"/>
                <a:ea typeface="+mn-ea"/>
                <a:cs typeface="+mn-cs"/>
              </a:rPr>
              <a:t>Practical applications</a:t>
            </a:r>
          </a:p>
          <a:p>
            <a:r>
              <a:rPr lang="zh-TW" altLang="zh-TW" sz="1200" b="0" i="0" kern="1200" dirty="0">
                <a:solidFill>
                  <a:schemeClr val="tx1"/>
                </a:solidFill>
                <a:effectLst/>
                <a:latin typeface="+mn-lt"/>
                <a:ea typeface="+mn-ea"/>
                <a:cs typeface="+mn-cs"/>
              </a:rPr>
              <a:t>LSTM networks find applications across various domains due to their capabilities to “remember” data. In language processing, they power tasks such as language translation, sentiment analysis, and text generation by understanding and predicting linguistic patterns. For time series forecasting, LSTM networks predict future trends in sequential data like stock prices and medical diagnostics. They also excel in speech recognition by converting spoken language into text and in video analysis by identifying objects and actions.</a:t>
            </a:r>
          </a:p>
          <a:p>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r>
              <a:rPr lang="zh-TW" altLang="zh-TW" sz="1200" b="0" i="0" kern="1200" dirty="0">
                <a:solidFill>
                  <a:schemeClr val="tx1"/>
                </a:solidFill>
                <a:effectLst/>
                <a:latin typeface="+mn-lt"/>
                <a:ea typeface="+mn-ea"/>
                <a:cs typeface="+mn-cs"/>
              </a:rPr>
              <a:t>Conclusion</a:t>
            </a:r>
          </a:p>
          <a:p>
            <a:r>
              <a:rPr lang="zh-TW" altLang="zh-TW" sz="1200" b="0" i="0" kern="1200" dirty="0">
                <a:solidFill>
                  <a:schemeClr val="tx1"/>
                </a:solidFill>
                <a:effectLst/>
                <a:latin typeface="+mn-lt"/>
                <a:ea typeface="+mn-ea"/>
                <a:cs typeface="+mn-cs"/>
              </a:rPr>
              <a:t>In conclusion, LSTM networks represent an important method in deep learning, enabling machines to understand and predict patterns within sequential data effectively. As research progresses, LSTM networks are increasingly substituted by the dominant transformer architectures. </a:t>
            </a:r>
          </a:p>
          <a:p>
            <a:r>
              <a:rPr lang="zh-TW" altLang="zh-TW" sz="1200" b="0" i="0" kern="1200" dirty="0">
                <a:solidFill>
                  <a:schemeClr val="tx1"/>
                </a:solidFill>
                <a:effectLst/>
                <a:latin typeface="+mn-lt"/>
                <a:ea typeface="+mn-ea"/>
                <a:cs typeface="+mn-cs"/>
              </a:rPr>
              <a:t>Nevertheless, by leveraging the advanced architecture of LSTM networks and exploring bidirectional capabilities, researchers and practitioners can harness the power of deep learning to tackle complex challenges and unlock new opportunities in intelligent systems.</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zh-TW" sz="1200" b="0" u="none" strike="noStrike"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95DC47D7-CF20-0354-B2A3-FE46E998FD7E}"/>
              </a:ext>
            </a:extLst>
          </p:cNvPr>
          <p:cNvSpPr>
            <a:spLocks noGrp="1"/>
          </p:cNvSpPr>
          <p:nvPr>
            <p:ph type="sldNum" sz="quarter" idx="5"/>
          </p:nvPr>
        </p:nvSpPr>
        <p:spPr/>
        <p:txBody>
          <a:bodyPr/>
          <a:lstStyle/>
          <a:p>
            <a:fld id="{E3A6CE5E-F349-486D-8749-82EF2AD71FA8}" type="slidenum">
              <a:rPr lang="zh-TW" altLang="en-US" smtClean="0"/>
              <a:t>5</a:t>
            </a:fld>
            <a:endParaRPr lang="zh-TW" altLang="en-US"/>
          </a:p>
        </p:txBody>
      </p:sp>
    </p:spTree>
    <p:extLst>
      <p:ext uri="{BB962C8B-B14F-4D97-AF65-F5344CB8AC3E}">
        <p14:creationId xmlns:p14="http://schemas.microsoft.com/office/powerpoint/2010/main" val="15428810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pPr>
              <a:lnSpc>
                <a:spcPts val="1200"/>
              </a:lnSpc>
            </a:pPr>
            <a:r>
              <a:rPr lang="zh-TW" altLang="en-US" sz="1200" dirty="0">
                <a:latin typeface="微軟正黑體" panose="020B0604030504040204" pitchFamily="34" charset="-120"/>
                <a:ea typeface="微軟正黑體" panose="020B0604030504040204" pitchFamily="34" charset="-120"/>
              </a:rPr>
              <a:t>💡 實務運作的核心痛點（為什麼要排隊？）</a:t>
            </a:r>
          </a:p>
          <a:p>
            <a:pPr>
              <a:lnSpc>
                <a:spcPts val="1200"/>
              </a:lnSpc>
            </a:pPr>
            <a:r>
              <a:rPr lang="zh-TW" altLang="en-US" sz="1200" dirty="0">
                <a:latin typeface="微軟正黑體" panose="020B0604030504040204" pitchFamily="34" charset="-120"/>
                <a:ea typeface="微軟正黑體" panose="020B0604030504040204" pitchFamily="34" charset="-120"/>
              </a:rPr>
              <a:t>從上述的「作法」中你可以發現，計算第 </a:t>
            </a:r>
            <a:r>
              <a:rPr lang="en-US" altLang="zh-TW" sz="1200" dirty="0">
                <a:latin typeface="微軟正黑體" panose="020B0604030504040204" pitchFamily="34" charset="-120"/>
                <a:ea typeface="微軟正黑體" panose="020B0604030504040204" pitchFamily="34" charset="-120"/>
              </a:rPr>
              <a:t>2 </a:t>
            </a:r>
            <a:r>
              <a:rPr lang="zh-TW" altLang="en-US" sz="1200" dirty="0">
                <a:latin typeface="微軟正黑體" panose="020B0604030504040204" pitchFamily="34" charset="-120"/>
                <a:ea typeface="微軟正黑體" panose="020B0604030504040204" pitchFamily="34" charset="-120"/>
              </a:rPr>
              <a:t>個字時，公式裡必須代入上一步的 </a:t>
            </a:r>
            <a:r>
              <a:rPr lang="en-US" altLang="zh-TW" sz="1200" dirty="0">
                <a:latin typeface="微軟正黑體" panose="020B0604030504040204" pitchFamily="34" charset="-120"/>
                <a:ea typeface="微軟正黑體" panose="020B0604030504040204" pitchFamily="34" charset="-120"/>
              </a:rPr>
              <a:t>h{t-1} </a:t>
            </a:r>
            <a:r>
              <a:rPr lang="zh-TW" altLang="en-US" sz="1200" dirty="0">
                <a:latin typeface="微軟正黑體" panose="020B0604030504040204" pitchFamily="34" charset="-120"/>
                <a:ea typeface="微軟正黑體" panose="020B0604030504040204" pitchFamily="34" charset="-120"/>
              </a:rPr>
              <a:t>和 </a:t>
            </a:r>
            <a:r>
              <a:rPr lang="en-US" altLang="zh-TW" sz="1200" dirty="0">
                <a:latin typeface="微軟正黑體" panose="020B0604030504040204" pitchFamily="34" charset="-120"/>
                <a:ea typeface="微軟正黑體" panose="020B0604030504040204" pitchFamily="34" charset="-120"/>
              </a:rPr>
              <a:t>C_{t-1}</a:t>
            </a:r>
            <a:r>
              <a:rPr lang="zh-TW" altLang="en-US" sz="1200" dirty="0">
                <a:latin typeface="微軟正黑體" panose="020B0604030504040204" pitchFamily="34" charset="-120"/>
                <a:ea typeface="微軟正黑體" panose="020B0604030504040204" pitchFamily="34" charset="-120"/>
              </a:rPr>
              <a:t>。</a:t>
            </a:r>
            <a:br>
              <a:rPr lang="zh-TW" altLang="en-US" sz="1200" dirty="0">
                <a:latin typeface="微軟正黑體" panose="020B0604030504040204" pitchFamily="34" charset="-120"/>
                <a:ea typeface="微軟正黑體" panose="020B0604030504040204" pitchFamily="34" charset="-120"/>
              </a:rPr>
            </a:br>
            <a:r>
              <a:rPr lang="zh-TW" altLang="en-US" sz="1200" dirty="0">
                <a:latin typeface="微軟正黑體" panose="020B0604030504040204" pitchFamily="34" charset="-120"/>
                <a:ea typeface="微軟正黑體" panose="020B0604030504040204" pitchFamily="34" charset="-120"/>
              </a:rPr>
              <a:t>這意味著：</a:t>
            </a:r>
          </a:p>
          <a:p>
            <a:pPr>
              <a:lnSpc>
                <a:spcPts val="1200"/>
              </a:lnSpc>
            </a:pPr>
            <a:r>
              <a:rPr lang="zh-TW" altLang="en-US" sz="1200" dirty="0">
                <a:latin typeface="微軟正黑體" panose="020B0604030504040204" pitchFamily="34" charset="-120"/>
                <a:ea typeface="微軟正黑體" panose="020B0604030504040204" pitchFamily="34" charset="-120"/>
              </a:rPr>
              <a:t>你無法同時計算第 </a:t>
            </a:r>
            <a:r>
              <a:rPr lang="en-US" altLang="zh-TW" sz="1200" dirty="0">
                <a:latin typeface="微軟正黑體" panose="020B0604030504040204" pitchFamily="34" charset="-120"/>
                <a:ea typeface="微軟正黑體" panose="020B0604030504040204" pitchFamily="34" charset="-120"/>
              </a:rPr>
              <a:t>1 </a:t>
            </a:r>
            <a:r>
              <a:rPr lang="zh-TW" altLang="en-US" sz="1200" dirty="0">
                <a:latin typeface="微軟正黑體" panose="020B0604030504040204" pitchFamily="34" charset="-120"/>
                <a:ea typeface="微軟正黑體" panose="020B0604030504040204" pitchFamily="34" charset="-120"/>
              </a:rPr>
              <a:t>個字和第 </a:t>
            </a:r>
            <a:r>
              <a:rPr lang="en-US" altLang="zh-TW" sz="1200" dirty="0">
                <a:latin typeface="微軟正黑體" panose="020B0604030504040204" pitchFamily="34" charset="-120"/>
                <a:ea typeface="微軟正黑體" panose="020B0604030504040204" pitchFamily="34" charset="-120"/>
              </a:rPr>
              <a:t>100 </a:t>
            </a:r>
            <a:r>
              <a:rPr lang="zh-TW" altLang="en-US" sz="1200" dirty="0">
                <a:latin typeface="微軟正黑體" panose="020B0604030504040204" pitchFamily="34" charset="-120"/>
                <a:ea typeface="微軟正黑體" panose="020B0604030504040204" pitchFamily="34" charset="-120"/>
              </a:rPr>
              <a:t>個字。</a:t>
            </a:r>
          </a:p>
          <a:p>
            <a:pPr>
              <a:lnSpc>
                <a:spcPts val="1200"/>
              </a:lnSpc>
            </a:pPr>
            <a:r>
              <a:rPr lang="zh-TW" altLang="en-US" sz="1200" dirty="0">
                <a:latin typeface="微軟正黑體" panose="020B0604030504040204" pitchFamily="34" charset="-120"/>
                <a:ea typeface="微軟正黑體" panose="020B0604030504040204" pitchFamily="34" charset="-120"/>
              </a:rPr>
              <a:t>顯示卡（</a:t>
            </a:r>
            <a:r>
              <a:rPr lang="en-US" altLang="zh-TW" sz="1200" dirty="0">
                <a:latin typeface="微軟正黑體" panose="020B0604030504040204" pitchFamily="34" charset="-120"/>
                <a:ea typeface="微軟正黑體" panose="020B0604030504040204" pitchFamily="34" charset="-120"/>
              </a:rPr>
              <a:t>GPU</a:t>
            </a:r>
            <a:r>
              <a:rPr lang="zh-TW" altLang="en-US" sz="1200" dirty="0">
                <a:latin typeface="微軟正黑體" panose="020B0604030504040204" pitchFamily="34" charset="-120"/>
                <a:ea typeface="微軟正黑體" panose="020B0604030504040204" pitchFamily="34" charset="-120"/>
              </a:rPr>
              <a:t>）有幾千個核心可以並行運算，但在跑 </a:t>
            </a:r>
            <a:r>
              <a:rPr lang="en-US" altLang="zh-TW" sz="1200" dirty="0">
                <a:latin typeface="微軟正黑體" panose="020B0604030504040204" pitchFamily="34" charset="-120"/>
                <a:ea typeface="微軟正黑體" panose="020B0604030504040204" pitchFamily="34" charset="-120"/>
              </a:rPr>
              <a:t>LSTM </a:t>
            </a:r>
            <a:r>
              <a:rPr lang="zh-TW" altLang="en-US" sz="1200" dirty="0">
                <a:latin typeface="微軟正黑體" panose="020B0604030504040204" pitchFamily="34" charset="-120"/>
                <a:ea typeface="微軟正黑體" panose="020B0604030504040204" pitchFamily="34" charset="-120"/>
              </a:rPr>
              <a:t>時，只能逼它們乖乖「排隊」等前一個字算完。</a:t>
            </a:r>
          </a:p>
          <a:p>
            <a:pPr>
              <a:lnSpc>
                <a:spcPts val="1200"/>
              </a:lnSpc>
            </a:pPr>
            <a:r>
              <a:rPr lang="zh-TW" altLang="en-US" sz="1200" dirty="0">
                <a:latin typeface="微軟正黑體" panose="020B0604030504040204" pitchFamily="34" charset="-120"/>
                <a:ea typeface="微軟正黑體" panose="020B0604030504040204" pitchFamily="34" charset="-120"/>
              </a:rPr>
              <a:t>這也是為什麼當前 </a:t>
            </a:r>
            <a:r>
              <a:rPr lang="en-US" altLang="zh-TW" sz="1200" dirty="0">
                <a:latin typeface="微軟正黑體" panose="020B0604030504040204" pitchFamily="34" charset="-120"/>
                <a:ea typeface="微軟正黑體" panose="020B0604030504040204" pitchFamily="34" charset="-120"/>
              </a:rPr>
              <a:t>AI </a:t>
            </a:r>
            <a:r>
              <a:rPr lang="zh-TW" altLang="en-US" sz="1200" dirty="0">
                <a:latin typeface="微軟正黑體" panose="020B0604030504040204" pitchFamily="34" charset="-120"/>
                <a:ea typeface="微軟正黑體" panose="020B0604030504040204" pitchFamily="34" charset="-120"/>
              </a:rPr>
              <a:t>業界全面轉向 </a:t>
            </a:r>
            <a:r>
              <a:rPr lang="en-US" altLang="zh-TW" sz="1200" dirty="0">
                <a:latin typeface="微軟正黑體" panose="020B0604030504040204" pitchFamily="34" charset="-120"/>
                <a:ea typeface="微軟正黑體" panose="020B0604030504040204" pitchFamily="34" charset="-120"/>
              </a:rPr>
              <a:t>Transformer</a:t>
            </a:r>
            <a:r>
              <a:rPr lang="zh-TW" altLang="en-US" sz="1200" dirty="0">
                <a:latin typeface="微軟正黑體" panose="020B0604030504040204" pitchFamily="34" charset="-120"/>
                <a:ea typeface="微軟正黑體" panose="020B0604030504040204" pitchFamily="34" charset="-120"/>
              </a:rPr>
              <a:t>，因為 </a:t>
            </a:r>
            <a:r>
              <a:rPr lang="en-US" altLang="zh-TW" sz="1200" dirty="0">
                <a:latin typeface="微軟正黑體" panose="020B0604030504040204" pitchFamily="34" charset="-120"/>
                <a:ea typeface="微軟正黑體" panose="020B0604030504040204" pitchFamily="34" charset="-120"/>
              </a:rPr>
              <a:t>Transformer </a:t>
            </a:r>
            <a:r>
              <a:rPr lang="zh-TW" altLang="en-US" sz="1200" dirty="0">
                <a:latin typeface="微軟正黑體" panose="020B0604030504040204" pitchFamily="34" charset="-120"/>
                <a:ea typeface="微軟正黑體" panose="020B0604030504040204" pitchFamily="34" charset="-120"/>
              </a:rPr>
              <a:t>的作法是把所有字一次全部丟進去算（</a:t>
            </a:r>
            <a:r>
              <a:rPr lang="en-US" altLang="zh-TW" sz="1200" dirty="0">
                <a:latin typeface="微軟正黑體" panose="020B0604030504040204" pitchFamily="34" charset="-120"/>
                <a:ea typeface="微軟正黑體" panose="020B0604030504040204" pitchFamily="34" charset="-120"/>
              </a:rPr>
              <a:t>Self-Attention</a:t>
            </a:r>
            <a:r>
              <a:rPr lang="zh-TW" altLang="en-US" sz="1200" dirty="0">
                <a:latin typeface="微軟正黑體" panose="020B0604030504040204" pitchFamily="34" charset="-120"/>
                <a:ea typeface="微軟正黑體" panose="020B0604030504040204" pitchFamily="34" charset="-120"/>
              </a:rPr>
              <a:t>），徹底解放了 </a:t>
            </a:r>
            <a:r>
              <a:rPr lang="en-US" altLang="zh-TW" sz="1200" dirty="0">
                <a:latin typeface="微軟正黑體" panose="020B0604030504040204" pitchFamily="34" charset="-120"/>
                <a:ea typeface="微軟正黑體" panose="020B0604030504040204" pitchFamily="34" charset="-120"/>
              </a:rPr>
              <a:t>GPU </a:t>
            </a:r>
            <a:r>
              <a:rPr lang="zh-TW" altLang="en-US" sz="1200" dirty="0">
                <a:latin typeface="微軟正黑體" panose="020B0604030504040204" pitchFamily="34" charset="-120"/>
                <a:ea typeface="微軟正黑體" panose="020B0604030504040204" pitchFamily="34" charset="-120"/>
              </a:rPr>
              <a:t>的並行算力。</a:t>
            </a:r>
          </a:p>
          <a:p>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r>
              <a:rPr lang="zh-TW" altLang="zh-TW" sz="1200" b="0" u="none" strike="noStrike" kern="1200" dirty="0">
                <a:solidFill>
                  <a:schemeClr val="tx1"/>
                </a:solidFill>
                <a:effectLst/>
                <a:latin typeface="+mn-lt"/>
                <a:ea typeface="+mn-ea"/>
                <a:cs typeface="+mn-cs"/>
              </a:rPr>
              <a:t>Kimi（月之暗面團隊）的大模型架構與傳統的 </a:t>
            </a:r>
            <a:r>
              <a:rPr lang="zh-TW" altLang="zh-TW" sz="1200" b="1" u="none" strike="noStrike" kern="1200" dirty="0">
                <a:solidFill>
                  <a:schemeClr val="tx1"/>
                </a:solidFill>
                <a:effectLst/>
                <a:latin typeface="+mn-lt"/>
                <a:ea typeface="+mn-ea"/>
                <a:cs typeface="+mn-cs"/>
              </a:rPr>
              <a:t>LSTM</a:t>
            </a:r>
            <a:r>
              <a:rPr lang="zh-TW" altLang="zh-TW" sz="1200" b="0" u="none" strike="noStrike" kern="1200" dirty="0">
                <a:solidFill>
                  <a:schemeClr val="tx1"/>
                </a:solidFill>
                <a:effectLst/>
                <a:latin typeface="+mn-lt"/>
                <a:ea typeface="+mn-ea"/>
                <a:cs typeface="+mn-cs"/>
              </a:rPr>
              <a:t>之間，存在著深刻的</a:t>
            </a:r>
            <a:r>
              <a:rPr lang="zh-TW" altLang="zh-TW" sz="1200" b="1" u="none" strike="noStrike" kern="1200" dirty="0">
                <a:solidFill>
                  <a:schemeClr val="tx1"/>
                </a:solidFill>
                <a:effectLst/>
                <a:latin typeface="+mn-lt"/>
                <a:ea typeface="+mn-ea"/>
                <a:cs typeface="+mn-cs"/>
              </a:rPr>
              <a:t>技術演進與「旋轉」概念的傳承</a:t>
            </a:r>
            <a:r>
              <a:rPr lang="zh-TW" altLang="zh-TW" sz="1200" b="0" u="none" strike="noStrike" kern="1200" dirty="0">
                <a:solidFill>
                  <a:schemeClr val="tx1"/>
                </a:solidFill>
                <a:effectLst/>
                <a:latin typeface="+mn-lt"/>
                <a:ea typeface="+mn-ea"/>
                <a:cs typeface="+mn-cs"/>
              </a:rPr>
              <a:t>關係。 </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0" u="none" strike="noStrike" kern="1200" dirty="0">
                <a:solidFill>
                  <a:schemeClr val="tx1"/>
                </a:solidFill>
                <a:effectLst/>
                <a:latin typeface="+mn-lt"/>
                <a:ea typeface="+mn-ea"/>
                <a:cs typeface="+mn-cs"/>
              </a:rPr>
              <a:t>在早期，處理序列資料主要依賴像 LSTM 這樣的循環神經網絡</a:t>
            </a:r>
            <a:r>
              <a:rPr lang="en-US" altLang="zh-TW" sz="1200" b="0" u="none" strike="noStrike" kern="1200" dirty="0">
                <a:solidFill>
                  <a:schemeClr val="tx1"/>
                </a:solidFill>
                <a:effectLst/>
                <a:latin typeface="+mn-lt"/>
                <a:ea typeface="+mn-ea"/>
                <a:cs typeface="+mn-cs"/>
              </a:rPr>
              <a:t>(RNN)</a:t>
            </a:r>
            <a:r>
              <a:rPr lang="zh-TW" altLang="zh-TW" sz="1200" b="0" u="none" strike="noStrike" kern="1200" dirty="0">
                <a:solidFill>
                  <a:schemeClr val="tx1"/>
                </a:solidFill>
                <a:effectLst/>
                <a:latin typeface="+mn-lt"/>
                <a:ea typeface="+mn-ea"/>
                <a:cs typeface="+mn-cs"/>
              </a:rPr>
              <a:t>，但它必須像單行道一樣依序排隊處理，速度較慢且容易遺忘長文本。後來以 Transformer 為主的「注意力機制</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Attention</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」成為主流。 </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0" u="none" strike="noStrike" kern="1200" dirty="0">
                <a:solidFill>
                  <a:schemeClr val="tx1"/>
                </a:solidFill>
                <a:effectLst/>
                <a:latin typeface="+mn-lt"/>
                <a:ea typeface="+mn-ea"/>
                <a:cs typeface="+mn-cs"/>
              </a:rPr>
              <a:t>而 Kimi 團隊</a:t>
            </a:r>
            <a:r>
              <a:rPr lang="zh-TW" altLang="en-US"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將概念「旋轉 90 度」</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OpenAI 創辦人</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Ilya Sutskever 曾提出設想，把按時間序列處理資料的 LSTM「旋轉 90 度」</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將時間軸換成深度軸</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就會變成殘差網路</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ResNet</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a:t>
            </a:r>
            <a:endParaRPr lang="en-US" altLang="zh-TW" sz="1200" b="0" u="none" strike="noStrike" kern="1200" dirty="0">
              <a:solidFill>
                <a:schemeClr val="tx1"/>
              </a:solidFill>
              <a:effectLst/>
              <a:latin typeface="+mn-lt"/>
              <a:ea typeface="+mn-ea"/>
              <a:cs typeface="+mn-cs"/>
            </a:endParaRPr>
          </a:p>
          <a:p>
            <a:pPr lvl="0"/>
            <a:endParaRPr lang="en-US" altLang="zh-TW" sz="1200" b="0" u="none" strike="noStrike" kern="1200" dirty="0">
              <a:solidFill>
                <a:schemeClr val="tx1"/>
              </a:solidFill>
              <a:effectLst/>
              <a:latin typeface="+mn-lt"/>
              <a:ea typeface="+mn-ea"/>
              <a:cs typeface="+mn-cs"/>
            </a:endParaRPr>
          </a:p>
          <a:p>
            <a:pPr lvl="0"/>
            <a:r>
              <a:rPr lang="zh-TW" altLang="zh-TW" sz="1200" b="0" u="none" strike="noStrike" kern="1200" dirty="0">
                <a:solidFill>
                  <a:schemeClr val="tx1"/>
                </a:solidFill>
                <a:effectLst/>
                <a:latin typeface="+mn-lt"/>
                <a:ea typeface="+mn-ea"/>
                <a:cs typeface="+mn-cs"/>
              </a:rPr>
              <a:t>Kimi 團隊進一步思考：既然時間上的 LSTM 能對應深度上的殘差，那注意力機制也可以如法炮製，推出 </a:t>
            </a:r>
            <a:r>
              <a:rPr lang="zh-TW" altLang="zh-TW" sz="1200" b="1" u="none" strike="noStrike" kern="1200" dirty="0">
                <a:solidFill>
                  <a:schemeClr val="tx1"/>
                </a:solidFill>
                <a:effectLst/>
                <a:latin typeface="+mn-lt"/>
                <a:ea typeface="+mn-ea"/>
                <a:cs typeface="+mn-cs"/>
              </a:rPr>
              <a:t>Attention Residuals（注意力殘差）</a:t>
            </a:r>
            <a:r>
              <a:rPr lang="zh-TW" altLang="zh-TW" sz="1200" b="0" u="none" strike="noStrike" kern="1200" dirty="0">
                <a:solidFill>
                  <a:schemeClr val="tx1"/>
                </a:solidFill>
                <a:effectLst/>
                <a:latin typeface="+mn-lt"/>
                <a:ea typeface="+mn-ea"/>
                <a:cs typeface="+mn-cs"/>
              </a:rPr>
              <a:t> 等技術，讓模型在深度方向也能像 LSTM 處理上下文一樣「回頭看」。 </a:t>
            </a:r>
          </a:p>
          <a:p>
            <a:pPr lvl="0"/>
            <a:endParaRPr lang="en-US" altLang="zh-TW" sz="1200" b="1" u="none" strike="noStrike" kern="1200" dirty="0">
              <a:solidFill>
                <a:schemeClr val="tx1"/>
              </a:solidFill>
              <a:effectLst/>
              <a:latin typeface="+mn-lt"/>
              <a:ea typeface="+mn-ea"/>
              <a:cs typeface="+mn-cs"/>
            </a:endParaRPr>
          </a:p>
          <a:p>
            <a:pPr lvl="0"/>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借鏡遺忘門與記憶衰減</a:t>
            </a:r>
            <a:r>
              <a:rPr lang="zh-TW" altLang="zh-TW" sz="1200" b="0" u="none" strike="noStrike" kern="1200" dirty="0">
                <a:solidFill>
                  <a:schemeClr val="tx1"/>
                </a:solidFill>
                <a:effectLst/>
                <a:latin typeface="+mn-lt"/>
                <a:ea typeface="+mn-ea"/>
                <a:cs typeface="+mn-cs"/>
              </a:rPr>
              <a:t>：在 Kimi 的新型線性注意力機制與記憶架構（如 Kimi Linear/KDA 演算法）中，為了在超長文本（如百萬級上下文）中兼顧速度與記憶能力，他們引入了類似 LSTM「遺忘門（Forget Gate）」的概念，將權重衰減擴展為更精細的對角化矩陣，用來精準控制過去的資訊或記憶要保留多久、何時淡出。 [</a:t>
            </a:r>
            <a:r>
              <a:rPr lang="zh-TW" altLang="zh-TW" sz="1200" b="0" u="none" strike="noStrike" kern="1200" dirty="0">
                <a:solidFill>
                  <a:schemeClr val="tx1"/>
                </a:solidFill>
                <a:effectLst/>
                <a:latin typeface="+mn-lt"/>
                <a:ea typeface="+mn-ea"/>
                <a:cs typeface="+mn-cs"/>
                <a:hlinkClick r:id="rId3"/>
              </a:rPr>
              <a:t>1</a:t>
            </a:r>
            <a:r>
              <a:rPr lang="zh-TW"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hlinkClick r:id="rId4"/>
              </a:rPr>
              <a:t>2</a:t>
            </a:r>
            <a:r>
              <a:rPr lang="zh-TW" altLang="zh-TW" sz="1200" b="0" u="none" strike="noStrike" kern="1200" dirty="0">
                <a:solidFill>
                  <a:schemeClr val="tx1"/>
                </a:solidFill>
                <a:effectLst/>
                <a:latin typeface="+mn-lt"/>
                <a:ea typeface="+mn-ea"/>
                <a:cs typeface="+mn-cs"/>
              </a:rPr>
              <a:t>]</a:t>
            </a:r>
          </a:p>
          <a:p>
            <a:r>
              <a:rPr lang="zh-TW" altLang="zh-TW" sz="1200" b="0" u="none" strike="noStrike" kern="1200" dirty="0">
                <a:solidFill>
                  <a:schemeClr val="tx1"/>
                </a:solidFill>
                <a:effectLst/>
                <a:latin typeface="+mn-lt"/>
                <a:ea typeface="+mn-ea"/>
                <a:cs typeface="+mn-cs"/>
              </a:rPr>
              <a:t>簡單來說，Kimi 並非直接使用古老的 LSTM 來建構現今的千億級大模型，而是</a:t>
            </a:r>
            <a:r>
              <a:rPr lang="zh-TW" altLang="zh-TW" sz="1200" b="1" u="none" strike="noStrike" kern="1200" dirty="0">
                <a:solidFill>
                  <a:schemeClr val="tx1"/>
                </a:solidFill>
                <a:effectLst/>
                <a:latin typeface="+mn-lt"/>
                <a:ea typeface="+mn-ea"/>
                <a:cs typeface="+mn-cs"/>
              </a:rPr>
              <a:t>從 LSTM 的「門控與記憶衰減」機制中汲取靈感</a:t>
            </a:r>
            <a:r>
              <a:rPr lang="zh-TW" altLang="zh-TW" sz="1200" b="0" u="none" strike="noStrike" kern="1200" dirty="0">
                <a:solidFill>
                  <a:schemeClr val="tx1"/>
                </a:solidFill>
                <a:effectLst/>
                <a:latin typeface="+mn-lt"/>
                <a:ea typeface="+mn-ea"/>
                <a:cs typeface="+mn-cs"/>
              </a:rPr>
              <a:t>，將其與現代的注意力機制結合，改良並創造出能高效處理超長文本的新一代線性架構。</a:t>
            </a:r>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6</a:t>
            </a:fld>
            <a:endParaRPr lang="zh-TW" altLang="en-US"/>
          </a:p>
        </p:txBody>
      </p:sp>
    </p:spTree>
    <p:extLst>
      <p:ext uri="{BB962C8B-B14F-4D97-AF65-F5344CB8AC3E}">
        <p14:creationId xmlns:p14="http://schemas.microsoft.com/office/powerpoint/2010/main" val="7841480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sz="1200" b="0" u="none" strike="noStrike" kern="1200" dirty="0">
              <a:solidFill>
                <a:schemeClr val="tx1"/>
              </a:solidFill>
              <a:effectLst/>
              <a:latin typeface="+mn-lt"/>
              <a:ea typeface="+mn-ea"/>
              <a:cs typeface="+mn-cs"/>
            </a:endParaRPr>
          </a:p>
          <a:p>
            <a:r>
              <a:rPr lang="en-US" altLang="zh-TW" sz="1200" b="1" u="none" strike="noStrike" kern="1200" dirty="0">
                <a:solidFill>
                  <a:schemeClr val="tx1"/>
                </a:solidFill>
                <a:effectLst/>
                <a:latin typeface="+mn-lt"/>
                <a:ea typeface="+mn-ea"/>
                <a:cs typeface="+mn-cs"/>
              </a:rPr>
              <a:t>2</a:t>
            </a:r>
            <a:r>
              <a:rPr lang="zh-TW" altLang="zh-TW" sz="1200" b="1" u="none" strike="noStrike" kern="1200" dirty="0">
                <a:solidFill>
                  <a:schemeClr val="tx1"/>
                </a:solidFill>
                <a:effectLst/>
                <a:latin typeface="+mn-lt"/>
                <a:ea typeface="+mn-ea"/>
                <a:cs typeface="+mn-cs"/>
              </a:rPr>
              <a:t>015年 12月ResNet微軟亞洲研究院 (MSRA)</a:t>
            </a:r>
            <a:r>
              <a:rPr lang="zh-TW" altLang="zh-TW" sz="1200" b="0" u="none" strike="noStrike" kern="1200" dirty="0">
                <a:solidFill>
                  <a:schemeClr val="tx1"/>
                </a:solidFill>
                <a:effectLst/>
                <a:latin typeface="+mn-lt"/>
                <a:ea typeface="+mn-ea"/>
                <a:cs typeface="+mn-cs"/>
              </a:rPr>
              <a:t>何愷明、張祥雨、任少卿、孫劍</a:t>
            </a:r>
            <a:r>
              <a:rPr lang="zh-TW" altLang="zh-TW" sz="1200" b="1" u="none" strike="noStrike" kern="1200" dirty="0">
                <a:solidFill>
                  <a:schemeClr val="tx1"/>
                </a:solidFill>
                <a:effectLst/>
                <a:latin typeface="+mn-lt"/>
                <a:ea typeface="+mn-ea"/>
                <a:cs typeface="+mn-cs"/>
              </a:rPr>
              <a:t>奠定基石</a:t>
            </a:r>
            <a:r>
              <a:rPr lang="zh-TW" altLang="zh-TW" sz="1200" b="0" u="none" strike="noStrike" kern="1200" dirty="0">
                <a:solidFill>
                  <a:schemeClr val="tx1"/>
                </a:solidFill>
                <a:effectLst/>
                <a:latin typeface="+mn-lt"/>
                <a:ea typeface="+mn-ea"/>
                <a:cs typeface="+mn-cs"/>
              </a:rPr>
              <a:t>：首次提出標準殘差連接（H(x) = F(x) + x），透過捷徑連接解決深層網路退化與梯度消失問題，沿用至今成為 Transformer 的默認配置。</a:t>
            </a:r>
          </a:p>
          <a:p>
            <a:endParaRPr lang="en-US"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2024年 12月HC</a:t>
            </a:r>
            <a:r>
              <a:rPr lang="zh-TW" altLang="zh-TW" sz="1200" b="0" u="none" strike="noStrike" kern="1200" dirty="0">
                <a:solidFill>
                  <a:schemeClr val="tx1"/>
                </a:solidFill>
                <a:effectLst/>
                <a:latin typeface="+mn-lt"/>
                <a:ea typeface="+mn-ea"/>
                <a:cs typeface="+mn-cs"/>
              </a:rPr>
              <a:t> </a:t>
            </a:r>
            <a:r>
              <a:rPr lang="zh-TW" altLang="zh-TW" sz="1200" b="0" i="1" u="none" strike="noStrike" kern="1200" dirty="0">
                <a:solidFill>
                  <a:schemeClr val="tx1"/>
                </a:solidFill>
                <a:effectLst/>
                <a:latin typeface="+mn-lt"/>
                <a:ea typeface="+mn-ea"/>
                <a:cs typeface="+mn-cs"/>
              </a:rPr>
              <a:t>(Hyper-Connections)</a:t>
            </a:r>
            <a:r>
              <a:rPr lang="zh-TW" altLang="zh-TW" sz="1200" b="1" u="none" strike="noStrike" kern="1200" dirty="0">
                <a:solidFill>
                  <a:schemeClr val="tx1"/>
                </a:solidFill>
                <a:effectLst/>
                <a:latin typeface="+mn-lt"/>
                <a:ea typeface="+mn-ea"/>
                <a:cs typeface="+mn-cs"/>
              </a:rPr>
              <a:t>字節跳動 (ByteDance)</a:t>
            </a:r>
            <a:r>
              <a:rPr lang="zh-TW" altLang="zh-TW" sz="1200" b="0" u="none" strike="noStrike" kern="1200" dirty="0">
                <a:solidFill>
                  <a:schemeClr val="tx1"/>
                </a:solidFill>
                <a:effectLst/>
                <a:latin typeface="+mn-lt"/>
                <a:ea typeface="+mn-ea"/>
                <a:cs typeface="+mn-cs"/>
              </a:rPr>
              <a:t>朱等 (Zhu et al.)</a:t>
            </a:r>
            <a:r>
              <a:rPr lang="zh-TW" altLang="zh-TW" sz="1200" b="1" u="none" strike="noStrike" kern="1200" dirty="0">
                <a:solidFill>
                  <a:schemeClr val="tx1"/>
                </a:solidFill>
                <a:effectLst/>
                <a:latin typeface="+mn-lt"/>
                <a:ea typeface="+mn-ea"/>
                <a:cs typeface="+mn-cs"/>
              </a:rPr>
              <a:t>拓寬架構</a:t>
            </a:r>
            <a:r>
              <a:rPr lang="zh-TW" altLang="zh-TW" sz="1200" b="0" u="none" strike="noStrike" kern="1200" dirty="0">
                <a:solidFill>
                  <a:schemeClr val="tx1"/>
                </a:solidFill>
                <a:effectLst/>
                <a:latin typeface="+mn-lt"/>
                <a:ea typeface="+mn-ea"/>
                <a:cs typeface="+mn-cs"/>
              </a:rPr>
              <a:t>：打破單一殘差流限制，提出「多流並行（多通道）混合」，但多通道隨意混合容易破壞恆等映射，導致超深大模型訓練不穩定。</a:t>
            </a:r>
          </a:p>
          <a:p>
            <a:endParaRPr lang="en-US"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2025年 2月MUDDformer</a:t>
            </a:r>
            <a:r>
              <a:rPr lang="en-US" altLang="zh-TW" sz="1200" b="1"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北京郵電大學 &amp; 彩雲科技</a:t>
            </a:r>
            <a:r>
              <a:rPr lang="zh-TW" altLang="zh-TW" sz="1200" b="0" u="none" strike="noStrike" kern="1200" dirty="0">
                <a:solidFill>
                  <a:schemeClr val="tx1"/>
                </a:solidFill>
                <a:effectLst/>
                <a:latin typeface="+mn-lt"/>
                <a:ea typeface="+mn-ea"/>
                <a:cs typeface="+mn-cs"/>
              </a:rPr>
              <a:t>肖達 (Da Xiao)、孟慶業、李省平、袁行遠</a:t>
            </a:r>
            <a:r>
              <a:rPr lang="zh-TW" altLang="zh-TW" sz="1200" b="1" u="none" strike="noStrike" kern="1200" dirty="0">
                <a:solidFill>
                  <a:schemeClr val="tx1"/>
                </a:solidFill>
                <a:effectLst/>
                <a:latin typeface="+mn-lt"/>
                <a:ea typeface="+mn-ea"/>
                <a:cs typeface="+mn-cs"/>
              </a:rPr>
              <a:t>引入動態稠密</a:t>
            </a:r>
            <a:r>
              <a:rPr lang="zh-TW" altLang="zh-TW" sz="1200" b="0" u="none" strike="noStrike" kern="1200" dirty="0">
                <a:solidFill>
                  <a:schemeClr val="tx1"/>
                </a:solidFill>
                <a:effectLst/>
                <a:latin typeface="+mn-lt"/>
                <a:ea typeface="+mn-ea"/>
                <a:cs typeface="+mn-cs"/>
              </a:rPr>
              <a:t>：將 Transformer 的輸入切分為 4 個獨立流</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Q</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K</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V</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R</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並利用輕量化 MLP 依據 token 位置</a:t>
            </a:r>
            <a:r>
              <a:rPr lang="zh-TW" altLang="zh-TW" sz="1200" b="1" u="none" strike="noStrike" kern="1200" dirty="0">
                <a:solidFill>
                  <a:schemeClr val="tx1"/>
                </a:solidFill>
                <a:effectLst/>
                <a:latin typeface="+mn-lt"/>
                <a:ea typeface="+mn-ea"/>
                <a:cs typeface="+mn-cs"/>
              </a:rPr>
              <a:t>動態生成跨層稠密連接權重</a:t>
            </a:r>
            <a:r>
              <a:rPr lang="zh-TW" altLang="zh-TW" sz="1200" b="0" u="none" strike="noStrike" kern="1200" dirty="0">
                <a:solidFill>
                  <a:schemeClr val="tx1"/>
                </a:solidFill>
                <a:effectLst/>
                <a:latin typeface="+mn-lt"/>
                <a:ea typeface="+mn-ea"/>
                <a:cs typeface="+mn-cs"/>
              </a:rPr>
              <a:t>。</a:t>
            </a:r>
          </a:p>
          <a:p>
            <a:endParaRPr lang="en-US"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2026年 1月mHC</a:t>
            </a:r>
            <a:r>
              <a:rPr lang="zh-TW" altLang="zh-TW" sz="1200" b="0" u="none" strike="noStrike" kern="1200" dirty="0">
                <a:solidFill>
                  <a:schemeClr val="tx1"/>
                </a:solidFill>
                <a:effectLst/>
                <a:latin typeface="+mn-lt"/>
                <a:ea typeface="+mn-ea"/>
                <a:cs typeface="+mn-cs"/>
              </a:rPr>
              <a:t> </a:t>
            </a:r>
            <a:r>
              <a:rPr lang="en-US" altLang="zh-TW" sz="1200" b="0" u="none" strike="noStrike" kern="1200" dirty="0">
                <a:solidFill>
                  <a:schemeClr val="tx1"/>
                </a:solidFill>
                <a:effectLst/>
                <a:latin typeface="+mn-lt"/>
                <a:ea typeface="+mn-ea"/>
                <a:cs typeface="+mn-cs"/>
              </a:rPr>
              <a:t> </a:t>
            </a:r>
            <a:r>
              <a:rPr lang="zh-TW" altLang="zh-TW" sz="1200" b="0" i="1" u="none" strike="noStrike" kern="1200" dirty="0">
                <a:solidFill>
                  <a:schemeClr val="tx1"/>
                </a:solidFill>
                <a:effectLst/>
                <a:latin typeface="+mn-lt"/>
                <a:ea typeface="+mn-ea"/>
                <a:cs typeface="+mn-cs"/>
              </a:rPr>
              <a:t>(Manifold-Constrained HC)</a:t>
            </a:r>
            <a:r>
              <a:rPr lang="zh-TW" altLang="zh-TW" sz="1200" b="1" u="none" strike="noStrike" kern="1200" dirty="0">
                <a:solidFill>
                  <a:schemeClr val="tx1"/>
                </a:solidFill>
                <a:effectLst/>
                <a:latin typeface="+mn-lt"/>
                <a:ea typeface="+mn-ea"/>
                <a:cs typeface="+mn-cs"/>
              </a:rPr>
              <a:t>深度求索 (DeepSeek)</a:t>
            </a:r>
            <a:r>
              <a:rPr lang="zh-TW" altLang="zh-TW" sz="1200" b="0" u="none" strike="noStrike" kern="1200" dirty="0">
                <a:solidFill>
                  <a:schemeClr val="tx1"/>
                </a:solidFill>
                <a:effectLst/>
                <a:latin typeface="+mn-lt"/>
                <a:ea typeface="+mn-ea"/>
                <a:cs typeface="+mn-cs"/>
              </a:rPr>
              <a:t>謝振達、梁文峰等 (Xie et al.)</a:t>
            </a:r>
            <a:r>
              <a:rPr lang="zh-TW" altLang="zh-TW" sz="1200" b="1" u="none" strike="noStrike" kern="1200" dirty="0">
                <a:solidFill>
                  <a:schemeClr val="tx1"/>
                </a:solidFill>
                <a:effectLst/>
                <a:latin typeface="+mn-lt"/>
                <a:ea typeface="+mn-ea"/>
                <a:cs typeface="+mn-cs"/>
              </a:rPr>
              <a:t>加入數學約束</a:t>
            </a:r>
            <a:r>
              <a:rPr lang="zh-TW" altLang="zh-TW" sz="1200" b="0" u="none" strike="noStrike" kern="1200" dirty="0">
                <a:solidFill>
                  <a:schemeClr val="tx1"/>
                </a:solidFill>
                <a:effectLst/>
                <a:latin typeface="+mn-lt"/>
                <a:ea typeface="+mn-ea"/>
                <a:cs typeface="+mn-cs"/>
              </a:rPr>
              <a:t>：回歸數學本質，利用 Sinkhorn-Knopp 演算法將多流混合矩陣強制約束在一個「雙隨機流形」上，既保留多通道的表達力，又找回了 ResNet 訓練的穩定性。</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2026年 3月AttnRes</a:t>
            </a:r>
            <a:r>
              <a:rPr lang="zh-TW" altLang="zh-TW" sz="1200" b="0" u="none" strike="noStrike" kern="1200" dirty="0">
                <a:solidFill>
                  <a:schemeClr val="tx1"/>
                </a:solidFill>
                <a:effectLst/>
                <a:latin typeface="+mn-lt"/>
                <a:ea typeface="+mn-ea"/>
                <a:cs typeface="+mn-cs"/>
              </a:rPr>
              <a:t> </a:t>
            </a:r>
            <a:r>
              <a:rPr lang="zh-TW" altLang="zh-TW" sz="1200" b="0" i="1" u="none" strike="noStrike" kern="1200" dirty="0">
                <a:solidFill>
                  <a:schemeClr val="tx1"/>
                </a:solidFill>
                <a:effectLst/>
                <a:latin typeface="+mn-lt"/>
                <a:ea typeface="+mn-ea"/>
                <a:cs typeface="+mn-cs"/>
              </a:rPr>
              <a:t>(Attention Residuals)</a:t>
            </a:r>
            <a:r>
              <a:rPr lang="zh-TW" altLang="zh-TW" sz="1200" b="1" u="none" strike="noStrike" kern="1200" dirty="0">
                <a:solidFill>
                  <a:schemeClr val="tx1"/>
                </a:solidFill>
                <a:effectLst/>
                <a:latin typeface="+mn-lt"/>
                <a:ea typeface="+mn-ea"/>
                <a:cs typeface="+mn-cs"/>
              </a:rPr>
              <a:t>月之暗面 (Moonshot AI)</a:t>
            </a:r>
            <a:r>
              <a:rPr lang="zh-TW" altLang="zh-TW" sz="1200" b="0" u="none" strike="noStrike" kern="1200" dirty="0">
                <a:solidFill>
                  <a:schemeClr val="tx1"/>
                </a:solidFill>
                <a:effectLst/>
                <a:latin typeface="+mn-lt"/>
                <a:ea typeface="+mn-ea"/>
                <a:cs typeface="+mn-cs"/>
              </a:rPr>
              <a:t>陳廣宇、張宇、蘇劍林 (Kimi 團隊)</a:t>
            </a:r>
            <a:r>
              <a:rPr lang="zh-TW" altLang="zh-TW" sz="1200" b="1" u="none" strike="noStrike" kern="1200" dirty="0">
                <a:solidFill>
                  <a:schemeClr val="tx1"/>
                </a:solidFill>
                <a:effectLst/>
                <a:latin typeface="+mn-lt"/>
                <a:ea typeface="+mn-ea"/>
                <a:cs typeface="+mn-cs"/>
              </a:rPr>
              <a:t>終極注意力重構</a:t>
            </a:r>
            <a:r>
              <a:rPr lang="zh-TW" altLang="zh-TW" sz="1200" b="0" u="none" strike="noStrike" kern="1200" dirty="0">
                <a:solidFill>
                  <a:schemeClr val="tx1"/>
                </a:solidFill>
                <a:effectLst/>
                <a:latin typeface="+mn-lt"/>
                <a:ea typeface="+mn-ea"/>
                <a:cs typeface="+mn-cs"/>
              </a:rPr>
              <a:t>：提出深度與時間的對偶性，徹底拋棄硬相加，改用 </a:t>
            </a:r>
            <a:r>
              <a:rPr lang="zh-TW" altLang="zh-TW" sz="1200" b="1" u="none" strike="noStrike" kern="1200" dirty="0">
                <a:solidFill>
                  <a:schemeClr val="tx1"/>
                </a:solidFill>
                <a:effectLst/>
                <a:latin typeface="+mn-lt"/>
                <a:ea typeface="+mn-ea"/>
                <a:cs typeface="+mn-cs"/>
              </a:rPr>
              <a:t>Softmax Attention</a:t>
            </a:r>
            <a:r>
              <a:rPr lang="zh-TW" altLang="zh-TW" sz="1200" b="0" u="none" strike="noStrike" kern="1200" dirty="0">
                <a:solidFill>
                  <a:schemeClr val="tx1"/>
                </a:solidFill>
                <a:effectLst/>
                <a:latin typeface="+mn-lt"/>
                <a:ea typeface="+mn-ea"/>
                <a:cs typeface="+mn-cs"/>
              </a:rPr>
              <a:t> 機制，讓深層網路能像翻書查資料一樣，主動且具選擇性地撈取前面任意層的特徵，並以 Block AttnRes 成功商用落地。</a:t>
            </a:r>
          </a:p>
          <a:p>
            <a:endParaRPr lang="en-US" altLang="zh-TW" sz="1200" b="0" u="none" strike="noStrike" kern="1200" dirty="0">
              <a:solidFill>
                <a:schemeClr val="tx1"/>
              </a:solidFill>
              <a:effectLst/>
              <a:latin typeface="+mn-lt"/>
              <a:ea typeface="+mn-ea"/>
              <a:cs typeface="+mn-cs"/>
            </a:endParaRPr>
          </a:p>
          <a:p>
            <a:r>
              <a:rPr lang="zh-TW" altLang="zh-TW" sz="1200" b="0" u="none" strike="noStrike" kern="1200" dirty="0">
                <a:solidFill>
                  <a:schemeClr val="tx1"/>
                </a:solidFill>
                <a:effectLst/>
                <a:latin typeface="+mn-lt"/>
                <a:ea typeface="+mn-ea"/>
                <a:cs typeface="+mn-cs"/>
              </a:rPr>
              <a:t>這十年的技術演進，本質上是將殘差連線從</a:t>
            </a:r>
            <a:r>
              <a:rPr lang="zh-TW" altLang="zh-TW" sz="1200" b="1" u="none" strike="noStrike" kern="1200" dirty="0">
                <a:solidFill>
                  <a:schemeClr val="tx1"/>
                </a:solidFill>
                <a:effectLst/>
                <a:latin typeface="+mn-lt"/>
                <a:ea typeface="+mn-ea"/>
                <a:cs typeface="+mn-cs"/>
              </a:rPr>
              <a:t>「靜態、死板的等權重相加」</a:t>
            </a:r>
            <a:r>
              <a:rPr lang="zh-TW" altLang="zh-TW" sz="1200" b="0" u="none" strike="noStrike" kern="1200" dirty="0">
                <a:solidFill>
                  <a:schemeClr val="tx1"/>
                </a:solidFill>
                <a:effectLst/>
                <a:latin typeface="+mn-lt"/>
                <a:ea typeface="+mn-ea"/>
                <a:cs typeface="+mn-cs"/>
              </a:rPr>
              <a:t>逐步轉化為</a:t>
            </a:r>
            <a:r>
              <a:rPr lang="zh-TW" altLang="zh-TW" sz="1200" b="1" u="none" strike="noStrike" kern="1200" dirty="0">
                <a:solidFill>
                  <a:schemeClr val="tx1"/>
                </a:solidFill>
                <a:effectLst/>
                <a:latin typeface="+mn-lt"/>
                <a:ea typeface="+mn-ea"/>
                <a:cs typeface="+mn-cs"/>
              </a:rPr>
              <a:t>「動態、可學習的條件聚合」</a:t>
            </a:r>
            <a:r>
              <a:rPr lang="zh-TW" altLang="zh-TW" sz="1200" b="0" u="none" strike="noStrike" kern="1200" dirty="0">
                <a:solidFill>
                  <a:schemeClr val="tx1"/>
                </a:solidFill>
                <a:effectLst/>
                <a:latin typeface="+mn-lt"/>
                <a:ea typeface="+mn-ea"/>
                <a:cs typeface="+mn-cs"/>
              </a:rPr>
              <a:t>。</a:t>
            </a:r>
          </a:p>
          <a:p>
            <a:pPr lvl="0"/>
            <a:r>
              <a:rPr lang="zh-TW" altLang="zh-TW" sz="1200" b="1" u="none" strike="noStrike" kern="1200" dirty="0">
                <a:solidFill>
                  <a:schemeClr val="tx1"/>
                </a:solidFill>
                <a:effectLst/>
                <a:latin typeface="+mn-lt"/>
                <a:ea typeface="+mn-ea"/>
                <a:cs typeface="+mn-cs"/>
              </a:rPr>
              <a:t>微軟</a:t>
            </a:r>
            <a:r>
              <a:rPr lang="zh-TW" altLang="zh-TW" sz="1200" b="0" u="none" strike="noStrike" kern="1200" dirty="0">
                <a:solidFill>
                  <a:schemeClr val="tx1"/>
                </a:solidFill>
                <a:effectLst/>
                <a:latin typeface="+mn-lt"/>
                <a:ea typeface="+mn-ea"/>
                <a:cs typeface="+mn-cs"/>
              </a:rPr>
              <a:t>給了世界一條不會斷的梯度導線；</a:t>
            </a:r>
          </a:p>
          <a:p>
            <a:pPr lvl="0"/>
            <a:endParaRPr lang="en-US" altLang="zh-TW" sz="1200" b="1" u="none" strike="noStrike" kern="1200" dirty="0">
              <a:solidFill>
                <a:schemeClr val="tx1"/>
              </a:solidFill>
              <a:effectLst/>
              <a:latin typeface="+mn-lt"/>
              <a:ea typeface="+mn-ea"/>
              <a:cs typeface="+mn-cs"/>
            </a:endParaRPr>
          </a:p>
          <a:p>
            <a:pPr lvl="0"/>
            <a:r>
              <a:rPr lang="zh-TW" altLang="zh-TW" sz="1200" b="1" u="none" strike="noStrike" kern="1200" dirty="0">
                <a:solidFill>
                  <a:schemeClr val="tx1"/>
                </a:solidFill>
                <a:effectLst/>
                <a:latin typeface="+mn-lt"/>
                <a:ea typeface="+mn-ea"/>
                <a:cs typeface="+mn-cs"/>
              </a:rPr>
              <a:t>字節跳動</a:t>
            </a:r>
            <a:r>
              <a:rPr lang="zh-TW" altLang="zh-TW" sz="1200" b="0" u="none" strike="noStrike" kern="1200" dirty="0">
                <a:solidFill>
                  <a:schemeClr val="tx1"/>
                </a:solidFill>
                <a:effectLst/>
                <a:latin typeface="+mn-lt"/>
                <a:ea typeface="+mn-ea"/>
                <a:cs typeface="+mn-cs"/>
              </a:rPr>
              <a:t>與</a:t>
            </a:r>
            <a:r>
              <a:rPr lang="zh-TW" altLang="zh-TW" sz="1200" b="1" u="none" strike="noStrike" kern="1200" dirty="0">
                <a:solidFill>
                  <a:schemeClr val="tx1"/>
                </a:solidFill>
                <a:effectLst/>
                <a:latin typeface="+mn-lt"/>
                <a:ea typeface="+mn-ea"/>
                <a:cs typeface="+mn-cs"/>
              </a:rPr>
              <a:t>北郵/彩雲科技</a:t>
            </a:r>
            <a:r>
              <a:rPr lang="zh-TW" altLang="zh-TW" sz="1200" b="0" u="none" strike="noStrike" kern="1200" dirty="0">
                <a:solidFill>
                  <a:schemeClr val="tx1"/>
                </a:solidFill>
                <a:effectLst/>
                <a:latin typeface="+mn-lt"/>
                <a:ea typeface="+mn-ea"/>
                <a:cs typeface="+mn-cs"/>
              </a:rPr>
              <a:t>嘗試把導線變成多條、並加入權重預測；</a:t>
            </a:r>
          </a:p>
          <a:p>
            <a:pPr lvl="0"/>
            <a:endParaRPr lang="en-US" altLang="zh-TW" sz="1200" b="1" u="none" strike="noStrike" kern="1200" dirty="0">
              <a:solidFill>
                <a:schemeClr val="tx1"/>
              </a:solidFill>
              <a:effectLst/>
              <a:latin typeface="+mn-lt"/>
              <a:ea typeface="+mn-ea"/>
              <a:cs typeface="+mn-cs"/>
            </a:endParaRPr>
          </a:p>
          <a:p>
            <a:pPr lvl="0"/>
            <a:r>
              <a:rPr lang="zh-TW" altLang="zh-TW" sz="1200" b="1" u="none" strike="noStrike" kern="1200" dirty="0">
                <a:solidFill>
                  <a:schemeClr val="tx1"/>
                </a:solidFill>
                <a:effectLst/>
                <a:latin typeface="+mn-lt"/>
                <a:ea typeface="+mn-ea"/>
                <a:cs typeface="+mn-cs"/>
              </a:rPr>
              <a:t>DeepSeek</a:t>
            </a:r>
            <a:r>
              <a:rPr lang="zh-TW" altLang="zh-TW" sz="1200" b="0" u="none" strike="noStrike" kern="1200" dirty="0">
                <a:solidFill>
                  <a:schemeClr val="tx1"/>
                </a:solidFill>
                <a:effectLst/>
                <a:latin typeface="+mn-lt"/>
                <a:ea typeface="+mn-ea"/>
                <a:cs typeface="+mn-cs"/>
              </a:rPr>
              <a:t> 透過精妙的數學流形約束確保了這套多線路權重的穩定運作；</a:t>
            </a:r>
            <a:endParaRPr lang="en-US" altLang="zh-TW" sz="1200" b="0" u="none" strike="noStrike" kern="1200" dirty="0">
              <a:solidFill>
                <a:schemeClr val="tx1"/>
              </a:solidFill>
              <a:effectLst/>
              <a:latin typeface="+mn-lt"/>
              <a:ea typeface="+mn-ea"/>
              <a:cs typeface="+mn-cs"/>
            </a:endParaRPr>
          </a:p>
          <a:p>
            <a:pPr lvl="0"/>
            <a:endParaRPr lang="zh-TW" altLang="zh-TW" sz="1200" b="0" u="none" strike="noStrike" kern="1200" dirty="0">
              <a:solidFill>
                <a:schemeClr val="tx1"/>
              </a:solidFill>
              <a:effectLst/>
              <a:latin typeface="+mn-lt"/>
              <a:ea typeface="+mn-ea"/>
              <a:cs typeface="+mn-cs"/>
            </a:endParaRPr>
          </a:p>
          <a:p>
            <a:pPr lvl="0"/>
            <a:r>
              <a:rPr lang="zh-TW" altLang="zh-TW" sz="1200" b="1" u="none" strike="noStrike" kern="1200" dirty="0">
                <a:solidFill>
                  <a:schemeClr val="tx1"/>
                </a:solidFill>
                <a:effectLst/>
                <a:latin typeface="+mn-lt"/>
                <a:ea typeface="+mn-ea"/>
                <a:cs typeface="+mn-cs"/>
              </a:rPr>
              <a:t>Kimi 團隊</a:t>
            </a:r>
            <a:r>
              <a:rPr lang="zh-TW" altLang="zh-TW" sz="1200" b="0" u="none" strike="noStrike" kern="1200" dirty="0">
                <a:solidFill>
                  <a:schemeClr val="tx1"/>
                </a:solidFill>
                <a:effectLst/>
                <a:latin typeface="+mn-lt"/>
                <a:ea typeface="+mn-ea"/>
                <a:cs typeface="+mn-cs"/>
              </a:rPr>
              <a:t>則巧妙地用 Attention 機制一統江山，完成了殘差架構這十年來最激進也最優雅的一次底層重構。</a:t>
            </a:r>
          </a:p>
          <a:p>
            <a:endParaRPr lang="en-US" altLang="zh-TW" dirty="0"/>
          </a:p>
          <a:p>
            <a:endParaRPr lang="en-US" altLang="zh-TW" sz="1200" b="0" u="none" strike="noStrike" kern="1200" dirty="0">
              <a:solidFill>
                <a:schemeClr val="tx1"/>
              </a:solidFill>
              <a:effectLst/>
              <a:latin typeface="+mn-lt"/>
              <a:ea typeface="+mn-ea"/>
              <a:cs typeface="+mn-cs"/>
            </a:endParaRPr>
          </a:p>
          <a:p>
            <a:r>
              <a:rPr lang="en-US" altLang="zh-TW" sz="1200" b="1"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全面替代派</a:t>
            </a:r>
            <a:endParaRPr lang="en-US" altLang="zh-TW" sz="1200" b="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200" b="0" u="none" strike="noStrike" kern="1200" dirty="0">
                <a:solidFill>
                  <a:schemeClr val="tx1"/>
                </a:solidFill>
                <a:effectLst/>
                <a:latin typeface="+mn-lt"/>
                <a:ea typeface="+mn-ea"/>
                <a:cs typeface="+mn-cs"/>
              </a:rPr>
              <a:t>Moonshot 在 </a:t>
            </a:r>
            <a:r>
              <a:rPr lang="zh-TW" altLang="zh-TW" sz="1200" b="1" u="none" strike="noStrike" kern="1200" dirty="0">
                <a:solidFill>
                  <a:schemeClr val="tx1"/>
                </a:solidFill>
                <a:effectLst/>
                <a:latin typeface="+mn-lt"/>
                <a:ea typeface="+mn-ea"/>
                <a:cs typeface="+mn-cs"/>
              </a:rPr>
              <a:t>2025 年 10 月</a:t>
            </a:r>
            <a:r>
              <a:rPr lang="zh-TW" altLang="zh-TW" sz="1200" b="0" u="none" strike="noStrike" kern="1200" dirty="0">
                <a:solidFill>
                  <a:schemeClr val="tx1"/>
                </a:solidFill>
                <a:effectLst/>
                <a:latin typeface="+mn-lt"/>
                <a:ea typeface="+mn-ea"/>
                <a:cs typeface="+mn-cs"/>
              </a:rPr>
              <a:t> 發表關於 </a:t>
            </a:r>
            <a:r>
              <a:rPr lang="zh-TW" altLang="zh-TW" sz="1200" b="1" u="none" strike="noStrike" kern="1200" dirty="0">
                <a:solidFill>
                  <a:schemeClr val="tx1"/>
                </a:solidFill>
                <a:effectLst/>
                <a:latin typeface="+mn-lt"/>
                <a:ea typeface="+mn-ea"/>
                <a:cs typeface="+mn-cs"/>
              </a:rPr>
              <a:t>Kimi Linear</a:t>
            </a:r>
            <a:r>
              <a:rPr lang="zh-TW" altLang="zh-TW" sz="1200" b="0" u="none" strike="noStrike" kern="1200" dirty="0">
                <a:solidFill>
                  <a:schemeClr val="tx1"/>
                </a:solidFill>
                <a:effectLst/>
                <a:latin typeface="+mn-lt"/>
                <a:ea typeface="+mn-ea"/>
                <a:cs typeface="+mn-cs"/>
              </a:rPr>
              <a:t> 的技術論文。</a:t>
            </a:r>
            <a:r>
              <a:rPr lang="zh-TW" altLang="zh-TW" dirty="0"/>
              <a:t>將 NoPE 概念推向了更極致的 Everywhere 階段。</a:t>
            </a:r>
            <a:endParaRPr lang="zh-TW" altLang="zh-TW" sz="1200" b="0" u="none" strike="noStrike" kern="1200" dirty="0">
              <a:solidFill>
                <a:schemeClr val="tx1"/>
              </a:solidFill>
              <a:effectLst/>
              <a:latin typeface="+mn-lt"/>
              <a:ea typeface="+mn-ea"/>
              <a:cs typeface="+mn-cs"/>
            </a:endParaRPr>
          </a:p>
          <a:p>
            <a:pPr lvl="0"/>
            <a:r>
              <a:rPr lang="zh-TW" altLang="zh-TW" sz="1200" b="1" u="none" strike="noStrike" kern="1200" dirty="0">
                <a:solidFill>
                  <a:schemeClr val="tx1"/>
                </a:solidFill>
                <a:effectLst/>
                <a:latin typeface="+mn-lt"/>
                <a:ea typeface="+mn-ea"/>
                <a:cs typeface="+mn-cs"/>
              </a:rPr>
              <a:t>承接與進化：</a:t>
            </a:r>
            <a:r>
              <a:rPr lang="zh-TW" altLang="zh-TW" sz="1200" b="0" u="none" strike="noStrike" kern="1200" dirty="0">
                <a:solidFill>
                  <a:schemeClr val="tx1"/>
                </a:solidFill>
                <a:effectLst/>
                <a:latin typeface="+mn-lt"/>
                <a:ea typeface="+mn-ea"/>
                <a:cs typeface="+mn-cs"/>
              </a:rPr>
              <a:t> Kimi 在設計其線性注意力（Linear Attention）時</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Kimi 研發了全新的 KDA</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Kimi Delta Attention</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機制來隱式處理位置資訊，他們在部分層中直接將位置編碼完全剝離，實現了比 DeepSeek 更激進的「全 NoPE」設計（NoPE for MLA layers）。</a:t>
            </a:r>
          </a:p>
          <a:p>
            <a:endParaRPr lang="en-US" altLang="zh-TW" dirty="0"/>
          </a:p>
          <a:p>
            <a:pPr lvl="0"/>
            <a:r>
              <a:rPr lang="en-US" altLang="zh-TW" sz="1200" b="1"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Kimi / Moonshot：做法：</a:t>
            </a:r>
            <a:r>
              <a:rPr lang="zh-TW" altLang="zh-TW" sz="1200" b="0" u="none" strike="noStrike" kern="1200" dirty="0">
                <a:solidFill>
                  <a:schemeClr val="tx1"/>
                </a:solidFill>
                <a:effectLst/>
                <a:latin typeface="+mn-lt"/>
                <a:ea typeface="+mn-ea"/>
                <a:cs typeface="+mn-cs"/>
              </a:rPr>
              <a:t> 在 </a:t>
            </a:r>
            <a:r>
              <a:rPr lang="zh-TW" altLang="zh-TW" sz="1200" b="1" u="none" strike="noStrike" kern="1200" dirty="0">
                <a:solidFill>
                  <a:schemeClr val="tx1"/>
                </a:solidFill>
                <a:effectLst/>
                <a:latin typeface="+mn-lt"/>
                <a:ea typeface="+mn-ea"/>
                <a:cs typeface="+mn-cs"/>
              </a:rPr>
              <a:t>Kimi Linear</a:t>
            </a:r>
            <a:r>
              <a:rPr lang="zh-TW" altLang="zh-TW" sz="1200" b="0" u="none" strike="noStrike" kern="1200" dirty="0">
                <a:solidFill>
                  <a:schemeClr val="tx1"/>
                </a:solidFill>
                <a:effectLst/>
                <a:latin typeface="+mn-lt"/>
                <a:ea typeface="+mn-ea"/>
                <a:cs typeface="+mn-cs"/>
              </a:rPr>
              <a:t> 或最新的旗艦 </a:t>
            </a:r>
            <a:r>
              <a:rPr lang="zh-TW" altLang="zh-TW" sz="1200" b="1" u="none" strike="noStrike" kern="1200" dirty="0">
                <a:solidFill>
                  <a:schemeClr val="tx1"/>
                </a:solidFill>
                <a:effectLst/>
                <a:latin typeface="+mn-lt"/>
                <a:ea typeface="+mn-ea"/>
                <a:cs typeface="+mn-cs"/>
              </a:rPr>
              <a:t>Kimi K3</a:t>
            </a:r>
            <a:r>
              <a:rPr lang="zh-TW" altLang="zh-TW" sz="1200" b="0" u="none" strike="noStrike" kern="1200" dirty="0">
                <a:solidFill>
                  <a:schemeClr val="tx1"/>
                </a:solidFill>
                <a:effectLst/>
                <a:latin typeface="+mn-lt"/>
                <a:ea typeface="+mn-ea"/>
                <a:cs typeface="+mn-cs"/>
              </a:rPr>
              <a:t> 中，直接徹底拔除了傳統的 RoPE 旋轉位置編碼層，大膽做到 </a:t>
            </a:r>
            <a:r>
              <a:rPr lang="zh-TW" altLang="zh-TW" sz="1200" b="1" u="none" strike="noStrike" kern="1200" dirty="0">
                <a:solidFill>
                  <a:schemeClr val="tx1"/>
                </a:solidFill>
                <a:effectLst/>
                <a:latin typeface="+mn-lt"/>
                <a:ea typeface="+mn-ea"/>
                <a:cs typeface="+mn-cs"/>
              </a:rPr>
              <a:t>NoPE Everywhere</a:t>
            </a:r>
            <a:r>
              <a:rPr lang="en-US" altLang="zh-TW" sz="1200" b="1"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全模型或全全域層皆為 NoPE</a:t>
            </a:r>
            <a:r>
              <a:rPr lang="en-US" altLang="zh-TW" sz="1200" b="1"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a:t>
            </a:r>
          </a:p>
          <a:p>
            <a:pPr lvl="0"/>
            <a:r>
              <a:rPr lang="zh-TW" altLang="zh-TW" sz="1200" b="1" u="none" strike="noStrike" kern="1200" dirty="0">
                <a:solidFill>
                  <a:schemeClr val="tx1"/>
                </a:solidFill>
                <a:effectLst/>
                <a:latin typeface="+mn-lt"/>
                <a:ea typeface="+mn-ea"/>
                <a:cs typeface="+mn-cs"/>
              </a:rPr>
              <a:t>邏輯：</a:t>
            </a:r>
            <a:r>
              <a:rPr lang="zh-TW" altLang="zh-TW" sz="1200" b="0" u="none" strike="noStrike" kern="1200" dirty="0">
                <a:solidFill>
                  <a:schemeClr val="tx1"/>
                </a:solidFill>
                <a:effectLst/>
                <a:latin typeface="+mn-lt"/>
                <a:ea typeface="+mn-ea"/>
                <a:cs typeface="+mn-cs"/>
              </a:rPr>
              <a:t> 既然叫 NoPE，這幾層就真的</a:t>
            </a:r>
            <a:r>
              <a:rPr lang="zh-TW" altLang="zh-TW" sz="1200" b="1" u="none" strike="noStrike" kern="1200" dirty="0">
                <a:solidFill>
                  <a:schemeClr val="tx1"/>
                </a:solidFill>
                <a:effectLst/>
                <a:latin typeface="+mn-lt"/>
                <a:ea typeface="+mn-ea"/>
                <a:cs typeface="+mn-cs"/>
              </a:rPr>
              <a:t>完全沒有任何顯式的位置編碼</a:t>
            </a:r>
            <a:r>
              <a:rPr lang="zh-TW" altLang="zh-TW" sz="1200" b="0" u="none" strike="noStrike" kern="1200" dirty="0">
                <a:solidFill>
                  <a:schemeClr val="tx1"/>
                </a:solidFill>
                <a:effectLst/>
                <a:latin typeface="+mn-lt"/>
                <a:ea typeface="+mn-ea"/>
                <a:cs typeface="+mn-cs"/>
              </a:rPr>
              <a:t>。Kimi 改用自研的 </a:t>
            </a:r>
            <a:r>
              <a:rPr lang="zh-TW" altLang="zh-TW" sz="1200" b="1" u="none" strike="noStrike" kern="1200" dirty="0">
                <a:solidFill>
                  <a:schemeClr val="tx1"/>
                </a:solidFill>
                <a:effectLst/>
                <a:latin typeface="+mn-lt"/>
                <a:ea typeface="+mn-ea"/>
                <a:cs typeface="+mn-cs"/>
              </a:rPr>
              <a:t>KDA（Kimi Delta Attention）</a:t>
            </a:r>
            <a:r>
              <a:rPr lang="zh-TW" altLang="zh-TW" sz="1200" b="0" u="none" strike="noStrike" kern="1200" dirty="0">
                <a:solidFill>
                  <a:schemeClr val="tx1"/>
                </a:solidFill>
                <a:effectLst/>
                <a:latin typeface="+mn-lt"/>
                <a:ea typeface="+mn-ea"/>
                <a:cs typeface="+mn-cs"/>
              </a:rPr>
              <a:t> 機制。KDA 具有種類似循環神經網絡（RNN）的衰減閘門</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Decay Gate</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會隨著序列長度動態調整時間尺度（Timescales）。</a:t>
            </a:r>
          </a:p>
          <a:p>
            <a:pPr lvl="0"/>
            <a:r>
              <a:rPr lang="zh-TW" altLang="zh-TW" sz="1200" b="1" u="none" strike="noStrike" kern="1200" dirty="0">
                <a:solidFill>
                  <a:schemeClr val="tx1"/>
                </a:solidFill>
                <a:effectLst/>
                <a:latin typeface="+mn-lt"/>
                <a:ea typeface="+mn-ea"/>
                <a:cs typeface="+mn-cs"/>
              </a:rPr>
              <a:t>定位：</a:t>
            </a:r>
            <a:r>
              <a:rPr lang="zh-TW" altLang="zh-TW" sz="1200" b="0" u="none" strike="noStrike" kern="1200" dirty="0">
                <a:solidFill>
                  <a:schemeClr val="tx1"/>
                </a:solidFill>
                <a:effectLst/>
                <a:latin typeface="+mn-lt"/>
                <a:ea typeface="+mn-ea"/>
                <a:cs typeface="+mn-cs"/>
              </a:rPr>
              <a:t> Kimi 的 NoPE 是一場</a:t>
            </a:r>
            <a:r>
              <a:rPr lang="zh-TW" altLang="zh-TW" sz="1200" b="1" u="none" strike="noStrike" kern="1200" dirty="0">
                <a:solidFill>
                  <a:schemeClr val="tx1"/>
                </a:solidFill>
                <a:effectLst/>
                <a:latin typeface="+mn-lt"/>
                <a:ea typeface="+mn-ea"/>
                <a:cs typeface="+mn-cs"/>
              </a:rPr>
              <a:t>對注意力機制的根本性簡化</a:t>
            </a:r>
            <a:endParaRPr lang="zh-TW" altLang="zh-TW" sz="1200" b="0" u="none" strike="noStrike" kern="1200" dirty="0">
              <a:solidFill>
                <a:schemeClr val="tx1"/>
              </a:solidFill>
              <a:effectLst/>
              <a:latin typeface="+mn-lt"/>
              <a:ea typeface="+mn-ea"/>
              <a:cs typeface="+mn-cs"/>
            </a:endParaRPr>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7</a:t>
            </a:fld>
            <a:endParaRPr lang="zh-TW" altLang="en-US"/>
          </a:p>
        </p:txBody>
      </p:sp>
    </p:spTree>
    <p:extLst>
      <p:ext uri="{BB962C8B-B14F-4D97-AF65-F5344CB8AC3E}">
        <p14:creationId xmlns:p14="http://schemas.microsoft.com/office/powerpoint/2010/main" val="6523510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E1B50-36C2-3AAC-6195-6D6290F49DE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4C3EB0F-8828-273B-A955-F1294176FE80}"/>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94844179-B599-DDBE-54BC-B8D96AEF4A45}"/>
              </a:ext>
            </a:extLst>
          </p:cNvPr>
          <p:cNvSpPr>
            <a:spLocks noGrp="1"/>
          </p:cNvSpPr>
          <p:nvPr>
            <p:ph type="body" idx="1"/>
          </p:nvPr>
        </p:nvSpPr>
        <p:spPr/>
        <p:txBody>
          <a:bodyPr/>
          <a:lstStyle/>
          <a:p>
            <a:r>
              <a:rPr lang="zh-TW" altLang="zh-TW" sz="1200" b="1" u="none" strike="noStrike" kern="1200" dirty="0">
                <a:solidFill>
                  <a:schemeClr val="tx1"/>
                </a:solidFill>
                <a:effectLst/>
                <a:latin typeface="+mn-lt"/>
                <a:ea typeface="+mn-ea"/>
                <a:cs typeface="+mn-cs"/>
              </a:rPr>
              <a:t>Momentum Orthogonalized by Newton-Schulz</a:t>
            </a:r>
            <a:r>
              <a:rPr lang="zh-TW" altLang="zh-TW" sz="1200" b="0" u="none" strike="noStrike" kern="1200" dirty="0">
                <a:solidFill>
                  <a:schemeClr val="tx1"/>
                </a:solidFill>
                <a:effectLst/>
                <a:latin typeface="+mn-lt"/>
                <a:ea typeface="+mn-ea"/>
                <a:cs typeface="+mn-cs"/>
              </a:rPr>
              <a:t>（利用牛頓-舒爾茨方法進行動量正交化）是 LLM</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訓練中非常前沿的優化器技術，也是知名優化器 </a:t>
            </a:r>
            <a:r>
              <a:rPr lang="zh-TW" altLang="zh-TW" sz="1200" b="1" u="none" strike="noStrike" kern="1200" dirty="0">
                <a:solidFill>
                  <a:schemeClr val="tx1"/>
                </a:solidFill>
                <a:effectLst/>
                <a:latin typeface="+mn-lt"/>
                <a:ea typeface="+mn-ea"/>
                <a:cs typeface="+mn-cs"/>
              </a:rPr>
              <a:t>Muon</a:t>
            </a:r>
            <a:r>
              <a:rPr lang="zh-TW" altLang="zh-TW" sz="1200" b="0" u="none" strike="noStrike" kern="1200" dirty="0">
                <a:solidFill>
                  <a:schemeClr val="tx1"/>
                </a:solidFill>
                <a:effectLst/>
                <a:latin typeface="+mn-lt"/>
                <a:ea typeface="+mn-ea"/>
                <a:cs typeface="+mn-cs"/>
              </a:rPr>
              <a:t> 的核心運作機制 。</a:t>
            </a:r>
          </a:p>
          <a:p>
            <a:r>
              <a:rPr lang="zh-TW" altLang="zh-TW" sz="1200" b="0" u="none" strike="noStrike" kern="1200" dirty="0">
                <a:solidFill>
                  <a:schemeClr val="tx1"/>
                </a:solidFill>
                <a:effectLst/>
                <a:latin typeface="+mn-lt"/>
                <a:ea typeface="+mn-ea"/>
                <a:cs typeface="+mn-cs"/>
              </a:rPr>
              <a:t>簡單來說，它的核心目的是：</a:t>
            </a:r>
            <a:r>
              <a:rPr lang="zh-TW" altLang="zh-TW" sz="1200" b="1" u="none" strike="noStrike" kern="1200" dirty="0">
                <a:solidFill>
                  <a:schemeClr val="tx1"/>
                </a:solidFill>
                <a:effectLst/>
                <a:latin typeface="+mn-lt"/>
                <a:ea typeface="+mn-ea"/>
                <a:cs typeface="+mn-cs"/>
              </a:rPr>
              <a:t>在模型更新參數時，利用 Newton-Schulz 數學迭代法，將原本帶有方向偏誤的「動量（Momentum）」，</a:t>
            </a:r>
            <a:endParaRPr lang="en-US"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強行轉換為一個「嚴格正交且基底均勻」的矩陣。</a:t>
            </a:r>
            <a:r>
              <a:rPr lang="zh-TW" altLang="zh-TW" sz="1200" b="0" u="none" strike="noStrike" kern="1200" dirty="0">
                <a:solidFill>
                  <a:schemeClr val="tx1"/>
                </a:solidFill>
                <a:effectLst/>
                <a:latin typeface="+mn-lt"/>
                <a:ea typeface="+mn-ea"/>
                <a:cs typeface="+mn-cs"/>
              </a:rPr>
              <a:t> 這樣做可以確保模型在各個維度上的學習速度完全一致，大幅加快極大模型的收斂速度。</a:t>
            </a:r>
          </a:p>
          <a:p>
            <a:endParaRPr lang="zh-TW" altLang="en-US" dirty="0"/>
          </a:p>
        </p:txBody>
      </p:sp>
      <p:sp>
        <p:nvSpPr>
          <p:cNvPr id="4" name="投影片編號版面配置區 3">
            <a:extLst>
              <a:ext uri="{FF2B5EF4-FFF2-40B4-BE49-F238E27FC236}">
                <a16:creationId xmlns:a16="http://schemas.microsoft.com/office/drawing/2014/main" id="{EDF9E040-D292-65E0-F09A-F6C500D2C282}"/>
              </a:ext>
            </a:extLst>
          </p:cNvPr>
          <p:cNvSpPr>
            <a:spLocks noGrp="1"/>
          </p:cNvSpPr>
          <p:nvPr>
            <p:ph type="sldNum" sz="quarter" idx="5"/>
          </p:nvPr>
        </p:nvSpPr>
        <p:spPr/>
        <p:txBody>
          <a:bodyPr/>
          <a:lstStyle/>
          <a:p>
            <a:fld id="{E3A6CE5E-F349-486D-8749-82EF2AD71FA8}" type="slidenum">
              <a:rPr lang="zh-TW" altLang="en-US" smtClean="0"/>
              <a:t>10</a:t>
            </a:fld>
            <a:endParaRPr lang="zh-TW" altLang="en-US"/>
          </a:p>
        </p:txBody>
      </p:sp>
    </p:spTree>
    <p:extLst>
      <p:ext uri="{BB962C8B-B14F-4D97-AF65-F5344CB8AC3E}">
        <p14:creationId xmlns:p14="http://schemas.microsoft.com/office/powerpoint/2010/main" val="11996536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CEB95-4B28-36E7-87CA-1F30261B4E5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C62F1D8-6DF7-73D8-C9BE-87163917B318}"/>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DB09A24C-06FD-8BD3-CE5A-4D77584C67AC}"/>
              </a:ext>
            </a:extLst>
          </p:cNvPr>
          <p:cNvSpPr>
            <a:spLocks noGrp="1"/>
          </p:cNvSpPr>
          <p:nvPr>
            <p:ph type="body" idx="1"/>
          </p:nvPr>
        </p:nvSpPr>
        <p:spPr/>
        <p:txBody>
          <a:bodyPr/>
          <a:lstStyle/>
          <a:p>
            <a:r>
              <a:rPr lang="zh-TW" altLang="zh-TW" sz="1200" b="1" u="none" strike="noStrike" kern="1200" dirty="0">
                <a:solidFill>
                  <a:schemeClr val="tx1"/>
                </a:solidFill>
                <a:effectLst/>
                <a:latin typeface="+mn-lt"/>
                <a:ea typeface="+mn-ea"/>
                <a:cs typeface="+mn-cs"/>
              </a:rPr>
              <a:t>Momentum Orthogonalized by Newton-Schulz</a:t>
            </a:r>
            <a:r>
              <a:rPr lang="zh-TW" altLang="zh-TW" sz="1200" b="0" u="none" strike="noStrike" kern="1200" dirty="0">
                <a:solidFill>
                  <a:schemeClr val="tx1"/>
                </a:solidFill>
                <a:effectLst/>
                <a:latin typeface="+mn-lt"/>
                <a:ea typeface="+mn-ea"/>
                <a:cs typeface="+mn-cs"/>
              </a:rPr>
              <a:t>（利用牛頓-舒爾茨方法進行動量正交化）是 LLM</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訓練中非常前沿的優化器技術，也是知名優化器 </a:t>
            </a:r>
            <a:r>
              <a:rPr lang="zh-TW" altLang="zh-TW" sz="1200" b="1" u="none" strike="noStrike" kern="1200" dirty="0">
                <a:solidFill>
                  <a:schemeClr val="tx1"/>
                </a:solidFill>
                <a:effectLst/>
                <a:latin typeface="+mn-lt"/>
                <a:ea typeface="+mn-ea"/>
                <a:cs typeface="+mn-cs"/>
              </a:rPr>
              <a:t>Muon</a:t>
            </a:r>
            <a:r>
              <a:rPr lang="zh-TW" altLang="zh-TW" sz="1200" b="0" u="none" strike="noStrike" kern="1200" dirty="0">
                <a:solidFill>
                  <a:schemeClr val="tx1"/>
                </a:solidFill>
                <a:effectLst/>
                <a:latin typeface="+mn-lt"/>
                <a:ea typeface="+mn-ea"/>
                <a:cs typeface="+mn-cs"/>
              </a:rPr>
              <a:t> 的核心運作機制 。</a:t>
            </a:r>
          </a:p>
          <a:p>
            <a:r>
              <a:rPr lang="zh-TW" altLang="zh-TW" sz="1200" b="0" u="none" strike="noStrike" kern="1200" dirty="0">
                <a:solidFill>
                  <a:schemeClr val="tx1"/>
                </a:solidFill>
                <a:effectLst/>
                <a:latin typeface="+mn-lt"/>
                <a:ea typeface="+mn-ea"/>
                <a:cs typeface="+mn-cs"/>
              </a:rPr>
              <a:t>簡單來說，它的核心目的是：</a:t>
            </a:r>
            <a:r>
              <a:rPr lang="zh-TW" altLang="zh-TW" sz="1200" b="1" u="none" strike="noStrike" kern="1200" dirty="0">
                <a:solidFill>
                  <a:schemeClr val="tx1"/>
                </a:solidFill>
                <a:effectLst/>
                <a:latin typeface="+mn-lt"/>
                <a:ea typeface="+mn-ea"/>
                <a:cs typeface="+mn-cs"/>
              </a:rPr>
              <a:t>在模型更新參數時，利用 Newton-Schulz 數學迭代法，將原本帶有方向偏誤的「動量（Momentum）」，強行轉換為一個「嚴格正交且基底均勻」的矩陣。</a:t>
            </a:r>
            <a:r>
              <a:rPr lang="zh-TW" altLang="zh-TW" sz="1200" b="0" u="none" strike="noStrike" kern="1200" dirty="0">
                <a:solidFill>
                  <a:schemeClr val="tx1"/>
                </a:solidFill>
                <a:effectLst/>
                <a:latin typeface="+mn-lt"/>
                <a:ea typeface="+mn-ea"/>
                <a:cs typeface="+mn-cs"/>
              </a:rPr>
              <a:t> 這樣做可以確保模型在各個維度上的學習速度完全一致，大幅加快極大模型的收斂速度。</a:t>
            </a:r>
          </a:p>
          <a:p>
            <a:endParaRPr lang="zh-TW" altLang="en-US" dirty="0"/>
          </a:p>
        </p:txBody>
      </p:sp>
      <p:sp>
        <p:nvSpPr>
          <p:cNvPr id="4" name="投影片編號版面配置區 3">
            <a:extLst>
              <a:ext uri="{FF2B5EF4-FFF2-40B4-BE49-F238E27FC236}">
                <a16:creationId xmlns:a16="http://schemas.microsoft.com/office/drawing/2014/main" id="{C5A4A188-00BE-20FA-2048-87C75C2A4CBE}"/>
              </a:ext>
            </a:extLst>
          </p:cNvPr>
          <p:cNvSpPr>
            <a:spLocks noGrp="1"/>
          </p:cNvSpPr>
          <p:nvPr>
            <p:ph type="sldNum" sz="quarter" idx="5"/>
          </p:nvPr>
        </p:nvSpPr>
        <p:spPr/>
        <p:txBody>
          <a:bodyPr/>
          <a:lstStyle/>
          <a:p>
            <a:fld id="{E3A6CE5E-F349-486D-8749-82EF2AD71FA8}" type="slidenum">
              <a:rPr lang="zh-TW" altLang="en-US" smtClean="0"/>
              <a:t>11</a:t>
            </a:fld>
            <a:endParaRPr lang="zh-TW" altLang="en-US"/>
          </a:p>
        </p:txBody>
      </p:sp>
    </p:spTree>
    <p:extLst>
      <p:ext uri="{BB962C8B-B14F-4D97-AF65-F5344CB8AC3E}">
        <p14:creationId xmlns:p14="http://schemas.microsoft.com/office/powerpoint/2010/main" val="766998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pPr lvl="0"/>
            <a:r>
              <a:rPr lang="zh-TW" altLang="zh-TW" sz="1200" b="1" u="none" strike="noStrike" kern="1200" dirty="0">
                <a:solidFill>
                  <a:schemeClr val="tx1"/>
                </a:solidFill>
                <a:effectLst/>
                <a:latin typeface="+mn-lt"/>
                <a:ea typeface="+mn-ea"/>
                <a:cs typeface="+mn-cs"/>
              </a:rPr>
              <a:t>Chinchilla 定律</a:t>
            </a:r>
            <a:r>
              <a:rPr lang="zh-TW" altLang="zh-TW" sz="1200" b="0" u="none" strike="noStrike" kern="1200" dirty="0">
                <a:solidFill>
                  <a:schemeClr val="tx1"/>
                </a:solidFill>
                <a:effectLst/>
                <a:latin typeface="+mn-lt"/>
                <a:ea typeface="+mn-ea"/>
                <a:cs typeface="+mn-cs"/>
              </a:rPr>
              <a:t>：在最優化配置下，</a:t>
            </a:r>
            <a:r>
              <a:rPr lang="zh-TW" altLang="zh-TW" sz="1200" b="1" u="none" strike="noStrike" kern="1200" dirty="0">
                <a:solidFill>
                  <a:schemeClr val="tx1"/>
                </a:solidFill>
                <a:effectLst/>
                <a:latin typeface="+mn-lt"/>
                <a:ea typeface="+mn-ea"/>
                <a:cs typeface="+mn-cs"/>
              </a:rPr>
              <a:t>模型參數量（N）和訓練數據量（D）應該要以 1:1 的比例均等增長</a:t>
            </a:r>
            <a:r>
              <a:rPr lang="zh-TW" altLang="zh-TW" sz="1200" b="0" u="none" strike="noStrike" kern="1200" dirty="0">
                <a:solidFill>
                  <a:schemeClr val="tx1"/>
                </a:solidFill>
                <a:effectLst/>
                <a:latin typeface="+mn-lt"/>
                <a:ea typeface="+mn-ea"/>
                <a:cs typeface="+mn-cs"/>
              </a:rPr>
              <a:t>。粗略換算下來，</a:t>
            </a:r>
            <a:r>
              <a:rPr lang="zh-TW" altLang="zh-TW" sz="1200" b="1" u="none" strike="noStrike" kern="1200" dirty="0">
                <a:solidFill>
                  <a:schemeClr val="tx1"/>
                </a:solidFill>
                <a:effectLst/>
                <a:latin typeface="+mn-lt"/>
                <a:ea typeface="+mn-ea"/>
                <a:cs typeface="+mn-cs"/>
              </a:rPr>
              <a:t>每增加 1 個參數，大約就需要配上 20 個 Token 的數據量。</a:t>
            </a:r>
            <a:endParaRPr lang="zh-TW" altLang="zh-TW" sz="1200" b="0" u="none" strike="noStrike" kern="1200" dirty="0">
              <a:solidFill>
                <a:schemeClr val="tx1"/>
              </a:solidFill>
              <a:effectLst/>
              <a:latin typeface="+mn-lt"/>
              <a:ea typeface="+mn-ea"/>
              <a:cs typeface="+mn-cs"/>
            </a:endParaRPr>
          </a:p>
          <a:p>
            <a:r>
              <a:rPr lang="zh-TW" altLang="zh-TW" sz="1200" b="0" u="none" strike="noStrike" kern="1200" dirty="0">
                <a:solidFill>
                  <a:schemeClr val="tx1"/>
                </a:solidFill>
                <a:effectLst/>
                <a:latin typeface="+mn-lt"/>
                <a:ea typeface="+mn-ea"/>
                <a:cs typeface="+mn-cs"/>
              </a:rPr>
              <a:t>對後來的 AI 發展有什麼驚人影響？</a:t>
            </a:r>
          </a:p>
          <a:p>
            <a:r>
              <a:rPr lang="zh-TW" altLang="zh-TW" sz="1200" b="0" u="none" strike="noStrike" kern="1200" dirty="0">
                <a:solidFill>
                  <a:schemeClr val="tx1"/>
                </a:solidFill>
                <a:effectLst/>
                <a:latin typeface="+mn-lt"/>
                <a:ea typeface="+mn-ea"/>
                <a:cs typeface="+mn-cs"/>
              </a:rPr>
              <a:t>自從 Chinchilla 縮放定律被驗證後，整個 AI 工業界的風向徹底改變了：</a:t>
            </a:r>
          </a:p>
          <a:p>
            <a:pPr lvl="0"/>
            <a:r>
              <a:rPr lang="zh-TW" altLang="zh-TW" sz="1200" b="1" u="none" strike="noStrike" kern="1200" dirty="0">
                <a:solidFill>
                  <a:schemeClr val="tx1"/>
                </a:solidFill>
                <a:effectLst/>
                <a:latin typeface="+mn-lt"/>
                <a:ea typeface="+mn-ea"/>
                <a:cs typeface="+mn-cs"/>
              </a:rPr>
              <a:t>精簡高效模型的誕生</a:t>
            </a:r>
            <a:r>
              <a:rPr lang="zh-TW" altLang="zh-TW" sz="1200" b="0" u="none" strike="noStrike" kern="1200" dirty="0">
                <a:solidFill>
                  <a:schemeClr val="tx1"/>
                </a:solidFill>
                <a:effectLst/>
                <a:latin typeface="+mn-lt"/>
                <a:ea typeface="+mn-ea"/>
                <a:cs typeface="+mn-cs"/>
              </a:rPr>
              <a:t>：Meta 後來推出的 </a:t>
            </a:r>
            <a:r>
              <a:rPr lang="zh-TW" altLang="zh-TW" sz="1200" b="1" u="none" strike="noStrike" kern="1200" dirty="0">
                <a:solidFill>
                  <a:schemeClr val="tx1"/>
                </a:solidFill>
                <a:effectLst/>
                <a:latin typeface="+mn-lt"/>
                <a:ea typeface="+mn-ea"/>
                <a:cs typeface="+mn-cs"/>
              </a:rPr>
              <a:t>LLaMA</a:t>
            </a:r>
            <a:r>
              <a:rPr lang="zh-TW" altLang="zh-TW" sz="1200" b="0" u="none" strike="noStrike" kern="1200" dirty="0">
                <a:solidFill>
                  <a:schemeClr val="tx1"/>
                </a:solidFill>
                <a:effectLst/>
                <a:latin typeface="+mn-lt"/>
                <a:ea typeface="+mn-ea"/>
                <a:cs typeface="+mn-cs"/>
              </a:rPr>
              <a:t> 系列、法國的 </a:t>
            </a:r>
            <a:r>
              <a:rPr lang="zh-TW" altLang="zh-TW" sz="1200" b="1" u="none" strike="noStrike" kern="1200" dirty="0">
                <a:solidFill>
                  <a:schemeClr val="tx1"/>
                </a:solidFill>
                <a:effectLst/>
                <a:latin typeface="+mn-lt"/>
                <a:ea typeface="+mn-ea"/>
                <a:cs typeface="+mn-cs"/>
              </a:rPr>
              <a:t>Mistral</a:t>
            </a:r>
            <a:r>
              <a:rPr lang="zh-TW" altLang="zh-TW" sz="1200" b="0" u="none" strike="noStrike" kern="1200" dirty="0">
                <a:solidFill>
                  <a:schemeClr val="tx1"/>
                </a:solidFill>
                <a:effectLst/>
                <a:latin typeface="+mn-lt"/>
                <a:ea typeface="+mn-ea"/>
                <a:cs typeface="+mn-cs"/>
              </a:rPr>
              <a:t>、甚至是 Google 的 </a:t>
            </a:r>
            <a:r>
              <a:rPr lang="zh-TW" altLang="zh-TW" sz="1200" b="1" u="none" strike="noStrike" kern="1200" dirty="0">
                <a:solidFill>
                  <a:schemeClr val="tx1"/>
                </a:solidFill>
                <a:effectLst/>
                <a:latin typeface="+mn-lt"/>
                <a:ea typeface="+mn-ea"/>
                <a:cs typeface="+mn-cs"/>
              </a:rPr>
              <a:t>Gemma</a:t>
            </a:r>
            <a:r>
              <a:rPr lang="zh-TW" altLang="zh-TW" sz="1200" b="0" u="none" strike="noStrike" kern="1200" dirty="0">
                <a:solidFill>
                  <a:schemeClr val="tx1"/>
                </a:solidFill>
                <a:effectLst/>
                <a:latin typeface="+mn-lt"/>
                <a:ea typeface="+mn-ea"/>
                <a:cs typeface="+mn-cs"/>
              </a:rPr>
              <a:t>，全都繼承了 Chinchilla 的精神——</a:t>
            </a:r>
            <a:r>
              <a:rPr lang="zh-TW" altLang="zh-TW" sz="1200" b="1" u="none" strike="noStrike" kern="1200" dirty="0">
                <a:solidFill>
                  <a:schemeClr val="tx1"/>
                </a:solidFill>
                <a:effectLst/>
                <a:latin typeface="+mn-lt"/>
                <a:ea typeface="+mn-ea"/>
                <a:cs typeface="+mn-cs"/>
              </a:rPr>
              <a:t>寧可把模型參數控制在 7B、8B、70B，也要瘋狂餵入 2 兆、3 兆甚至 15 兆的 Token 來把模型「訓練到極致」（Overtrained）</a:t>
            </a:r>
            <a:r>
              <a:rPr lang="zh-TW" altLang="zh-TW" sz="1200" b="0" u="none" strike="noStrike" kern="1200" dirty="0">
                <a:solidFill>
                  <a:schemeClr val="tx1"/>
                </a:solidFill>
                <a:effectLst/>
                <a:latin typeface="+mn-lt"/>
                <a:ea typeface="+mn-ea"/>
                <a:cs typeface="+mn-cs"/>
              </a:rPr>
              <a:t>。</a:t>
            </a:r>
          </a:p>
          <a:p>
            <a:pPr lvl="0"/>
            <a:r>
              <a:rPr lang="zh-TW" altLang="zh-TW" sz="1200" b="1" u="none" strike="noStrike" kern="1200" dirty="0">
                <a:solidFill>
                  <a:schemeClr val="tx1"/>
                </a:solidFill>
                <a:effectLst/>
                <a:latin typeface="+mn-lt"/>
                <a:ea typeface="+mn-ea"/>
                <a:cs typeface="+mn-cs"/>
              </a:rPr>
              <a:t>推理成本大幅降低</a:t>
            </a:r>
            <a:r>
              <a:rPr lang="zh-TW" altLang="zh-TW" sz="1200" b="0" u="none" strike="noStrike" kern="1200" dirty="0">
                <a:solidFill>
                  <a:schemeClr val="tx1"/>
                </a:solidFill>
                <a:effectLst/>
                <a:latin typeface="+mn-lt"/>
                <a:ea typeface="+mn-ea"/>
                <a:cs typeface="+mn-cs"/>
              </a:rPr>
              <a:t>：對我們使用者和企業來說，模型體積小，意味著部署在顯示卡上的成本極低、速度極快，這才真正開啟了開源 AI 大爆發的時代。</a:t>
            </a:r>
          </a:p>
          <a:p>
            <a:endParaRPr lang="en-US" altLang="zh-TW" dirty="0"/>
          </a:p>
          <a:p>
            <a:r>
              <a:rPr lang="zh-TW" altLang="zh-TW" sz="1200" b="0" u="none" strike="noStrike" kern="1200" dirty="0">
                <a:solidFill>
                  <a:schemeClr val="tx1"/>
                </a:solidFill>
                <a:effectLst/>
                <a:latin typeface="+mn-lt"/>
                <a:ea typeface="+mn-ea"/>
                <a:cs typeface="+mn-cs"/>
              </a:rPr>
              <a:t>1. 生物領域：絨鼠（俗稱「龍貓」）</a:t>
            </a:r>
          </a:p>
          <a:p>
            <a:r>
              <a:rPr lang="zh-TW" altLang="zh-TW" sz="1200" b="0" u="none" strike="noStrike" kern="1200" dirty="0">
                <a:solidFill>
                  <a:schemeClr val="tx1"/>
                </a:solidFill>
                <a:effectLst/>
                <a:latin typeface="+mn-lt"/>
                <a:ea typeface="+mn-ea"/>
                <a:cs typeface="+mn-cs"/>
              </a:rPr>
              <a:t>在生物學上，Chinchilla 是原產於南美洲安地斯山脈的小型齧齒目哺乳動物，中文正式名稱為</a:t>
            </a:r>
            <a:r>
              <a:rPr lang="zh-TW" altLang="zh-TW" sz="1200" b="1" u="none" strike="noStrike" kern="1200" dirty="0">
                <a:solidFill>
                  <a:schemeClr val="tx1"/>
                </a:solidFill>
                <a:effectLst/>
                <a:latin typeface="+mn-lt"/>
                <a:ea typeface="+mn-ea"/>
                <a:cs typeface="+mn-cs"/>
              </a:rPr>
              <a:t>絨鼠</a:t>
            </a:r>
            <a:r>
              <a:rPr lang="zh-TW" altLang="zh-TW"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毛絲鼠</a:t>
            </a:r>
            <a:r>
              <a:rPr lang="zh-TW" altLang="zh-TW" sz="1200" b="0" u="none" strike="noStrike" kern="1200" dirty="0">
                <a:solidFill>
                  <a:schemeClr val="tx1"/>
                </a:solidFill>
                <a:effectLst/>
                <a:latin typeface="+mn-lt"/>
                <a:ea typeface="+mn-ea"/>
                <a:cs typeface="+mn-cs"/>
              </a:rPr>
              <a:t>或</a:t>
            </a:r>
            <a:r>
              <a:rPr lang="zh-TW" altLang="zh-TW" sz="1200" b="1" u="none" strike="noStrike" kern="1200" dirty="0">
                <a:solidFill>
                  <a:schemeClr val="tx1"/>
                </a:solidFill>
                <a:effectLst/>
                <a:latin typeface="+mn-lt"/>
                <a:ea typeface="+mn-ea"/>
                <a:cs typeface="+mn-cs"/>
              </a:rPr>
              <a:t>栗鼠</a:t>
            </a:r>
            <a:r>
              <a:rPr lang="zh-TW" altLang="zh-TW" sz="1200" b="0" u="none" strike="noStrike" kern="1200" dirty="0">
                <a:solidFill>
                  <a:schemeClr val="tx1"/>
                </a:solidFill>
                <a:effectLst/>
                <a:latin typeface="+mn-lt"/>
                <a:ea typeface="+mn-ea"/>
                <a:cs typeface="+mn-cs"/>
              </a:rPr>
              <a:t>，在華語圈因為外型酷似宮崎駿動畫角色，常被俗稱為「</a:t>
            </a:r>
            <a:r>
              <a:rPr lang="zh-TW" altLang="zh-TW" sz="1200" b="1" u="none" strike="noStrike" kern="1200" dirty="0">
                <a:solidFill>
                  <a:schemeClr val="tx1"/>
                </a:solidFill>
                <a:effectLst/>
                <a:latin typeface="+mn-lt"/>
                <a:ea typeface="+mn-ea"/>
                <a:cs typeface="+mn-cs"/>
              </a:rPr>
              <a:t>龍貓</a:t>
            </a:r>
            <a:r>
              <a:rPr lang="zh-TW" altLang="zh-TW" sz="1200" b="0" u="none" strike="noStrike" kern="1200" dirty="0">
                <a:solidFill>
                  <a:schemeClr val="tx1"/>
                </a:solidFill>
                <a:effectLst/>
                <a:latin typeface="+mn-lt"/>
                <a:ea typeface="+mn-ea"/>
                <a:cs typeface="+mn-cs"/>
              </a:rPr>
              <a:t>」。</a:t>
            </a:r>
          </a:p>
          <a:p>
            <a:pPr lvl="0"/>
            <a:r>
              <a:rPr lang="zh-TW" altLang="zh-TW" sz="1200" b="1" u="none" strike="noStrike" kern="1200" dirty="0">
                <a:solidFill>
                  <a:schemeClr val="tx1"/>
                </a:solidFill>
                <a:effectLst/>
                <a:latin typeface="+mn-lt"/>
                <a:ea typeface="+mn-ea"/>
                <a:cs typeface="+mn-cs"/>
              </a:rPr>
              <a:t>陸地上最濃密的毛皮</a:t>
            </a:r>
            <a:r>
              <a:rPr lang="zh-TW" altLang="zh-TW" sz="1200" b="0" u="none" strike="noStrike" kern="1200" dirty="0">
                <a:solidFill>
                  <a:schemeClr val="tx1"/>
                </a:solidFill>
                <a:effectLst/>
                <a:latin typeface="+mn-lt"/>
                <a:ea typeface="+mn-ea"/>
                <a:cs typeface="+mn-cs"/>
              </a:rPr>
              <a:t>：牠們為了在寒冷的高山生存，演化出極其細軟綿密的毛髮，一個毛囊可以長出 60～80 根細毛（人類只有 1 根）。</a:t>
            </a:r>
          </a:p>
          <a:p>
            <a:pPr lvl="0"/>
            <a:r>
              <a:rPr lang="zh-TW" altLang="zh-TW" sz="1200" b="1" u="none" strike="noStrike" kern="1200" dirty="0">
                <a:solidFill>
                  <a:schemeClr val="tx1"/>
                </a:solidFill>
                <a:effectLst/>
                <a:latin typeface="+mn-lt"/>
                <a:ea typeface="+mn-ea"/>
                <a:cs typeface="+mn-cs"/>
              </a:rPr>
              <a:t>不能用水洗澡</a:t>
            </a:r>
            <a:r>
              <a:rPr lang="zh-TW" altLang="zh-TW" sz="1200" b="0" u="none" strike="noStrike" kern="1200" dirty="0">
                <a:solidFill>
                  <a:schemeClr val="tx1"/>
                </a:solidFill>
                <a:effectLst/>
                <a:latin typeface="+mn-lt"/>
                <a:ea typeface="+mn-ea"/>
                <a:cs typeface="+mn-cs"/>
              </a:rPr>
              <a:t>：因為毛髮太密，碰水極難乾且容易發霉感染，牠們必須使用專用的火山灰或細砂進行「砂浴（火山灰洗澡）」來去除皮脂。</a:t>
            </a:r>
          </a:p>
          <a:p>
            <a:pPr lvl="0"/>
            <a:r>
              <a:rPr lang="zh-TW" altLang="zh-TW" sz="1200" b="1" u="none" strike="noStrike" kern="1200" dirty="0">
                <a:solidFill>
                  <a:schemeClr val="tx1"/>
                </a:solidFill>
                <a:effectLst/>
                <a:latin typeface="+mn-lt"/>
                <a:ea typeface="+mn-ea"/>
                <a:cs typeface="+mn-cs"/>
              </a:rPr>
              <a:t>高壽與跳躍力</a:t>
            </a:r>
            <a:r>
              <a:rPr lang="zh-TW" altLang="zh-TW" sz="1200" b="0" u="none" strike="noStrike" kern="1200" dirty="0">
                <a:solidFill>
                  <a:schemeClr val="tx1"/>
                </a:solidFill>
                <a:effectLst/>
                <a:latin typeface="+mn-lt"/>
                <a:ea typeface="+mn-ea"/>
                <a:cs typeface="+mn-cs"/>
              </a:rPr>
              <a:t>：牠們身手極其敏捷，最高可跳躍超過 1.8 公尺，且在人工悉心飼養下壽命可長達 15～20 年。</a:t>
            </a:r>
          </a:p>
          <a:p>
            <a:endParaRPr lang="en-US" altLang="zh-TW" dirty="0"/>
          </a:p>
          <a:p>
            <a:r>
              <a:rPr lang="zh-TW" altLang="zh-TW" sz="1200" b="0" u="none" strike="noStrike" kern="1200" dirty="0">
                <a:solidFill>
                  <a:schemeClr val="tx1"/>
                </a:solidFill>
                <a:effectLst/>
                <a:latin typeface="+mn-lt"/>
                <a:ea typeface="+mn-ea"/>
                <a:cs typeface="+mn-cs"/>
              </a:rPr>
              <a:t>1. 2021 年 12 月：前身 Gopher 發表</a:t>
            </a:r>
          </a:p>
          <a:p>
            <a:r>
              <a:rPr lang="zh-TW" altLang="zh-TW" sz="1200" b="0" u="none" strike="noStrike" kern="1200" dirty="0">
                <a:solidFill>
                  <a:schemeClr val="tx1"/>
                </a:solidFill>
                <a:effectLst/>
                <a:latin typeface="+mn-lt"/>
                <a:ea typeface="+mn-ea"/>
                <a:cs typeface="+mn-cs"/>
              </a:rPr>
              <a:t>Google DeepMind 發表了擁有 2800 億參數的巨型模型 </a:t>
            </a:r>
            <a:r>
              <a:rPr lang="zh-TW" altLang="zh-TW" sz="1200" b="0" u="none" strike="noStrike" kern="1200" dirty="0">
                <a:solidFill>
                  <a:schemeClr val="tx1"/>
                </a:solidFill>
                <a:effectLst/>
                <a:latin typeface="+mn-lt"/>
                <a:ea typeface="+mn-ea"/>
                <a:cs typeface="+mn-cs"/>
                <a:hlinkClick r:id="rId3"/>
              </a:rPr>
              <a:t>Gopher</a:t>
            </a:r>
            <a:r>
              <a:rPr lang="zh-TW" altLang="zh-TW" sz="1200" b="0" u="none" strike="noStrike" kern="1200" dirty="0">
                <a:solidFill>
                  <a:schemeClr val="tx1"/>
                </a:solidFill>
                <a:effectLst/>
                <a:latin typeface="+mn-lt"/>
                <a:ea typeface="+mn-ea"/>
                <a:cs typeface="+mn-cs"/>
              </a:rPr>
              <a:t>。雖然表現優異，但科學家在後續幾個月的成本效益與矩陣分析中，發現了嚴重的「訓練不足」盲點。 </a:t>
            </a:r>
          </a:p>
          <a:p>
            <a:r>
              <a:rPr lang="zh-TW" altLang="zh-TW" sz="1200" b="0" u="none" strike="noStrike" kern="1200" dirty="0">
                <a:solidFill>
                  <a:schemeClr val="tx1"/>
                </a:solidFill>
                <a:effectLst/>
                <a:latin typeface="+mn-lt"/>
                <a:ea typeface="+mn-ea"/>
                <a:cs typeface="+mn-cs"/>
              </a:rPr>
              <a:t>2. 2022 年 3 月 29 日：Chinchilla 正式發表（劃時代的分水嶺）</a:t>
            </a:r>
          </a:p>
          <a:p>
            <a:r>
              <a:rPr lang="zh-TW" altLang="zh-TW" sz="1200" b="0" u="none" strike="noStrike" kern="1200" dirty="0">
                <a:solidFill>
                  <a:schemeClr val="tx1"/>
                </a:solidFill>
                <a:effectLst/>
                <a:latin typeface="+mn-lt"/>
                <a:ea typeface="+mn-ea"/>
                <a:cs typeface="+mn-cs"/>
              </a:rPr>
              <a:t>DeepMind 正式發布了名為《</a:t>
            </a:r>
            <a:r>
              <a:rPr lang="zh-TW" altLang="zh-TW" sz="1200" b="0" u="none" strike="noStrike" kern="1200" dirty="0">
                <a:solidFill>
                  <a:schemeClr val="tx1"/>
                </a:solidFill>
                <a:effectLst/>
                <a:latin typeface="+mn-lt"/>
                <a:ea typeface="+mn-ea"/>
                <a:cs typeface="+mn-cs"/>
                <a:hlinkClick r:id="rId4"/>
              </a:rPr>
              <a:t>Training Compute-Optimal Large Language Models</a:t>
            </a:r>
            <a:r>
              <a:rPr lang="zh-TW" altLang="zh-TW" sz="1200" b="0" u="none" strike="noStrike" kern="1200" dirty="0">
                <a:solidFill>
                  <a:schemeClr val="tx1"/>
                </a:solidFill>
                <a:effectLst/>
                <a:latin typeface="+mn-lt"/>
                <a:ea typeface="+mn-ea"/>
                <a:cs typeface="+mn-cs"/>
              </a:rPr>
              <a:t>》的里程碑論文，正式推出 </a:t>
            </a:r>
            <a:r>
              <a:rPr lang="zh-TW" altLang="zh-TW" sz="1200" b="1" u="none" strike="noStrike" kern="1200" dirty="0">
                <a:solidFill>
                  <a:schemeClr val="tx1"/>
                </a:solidFill>
                <a:effectLst/>
                <a:latin typeface="+mn-lt"/>
                <a:ea typeface="+mn-ea"/>
                <a:cs typeface="+mn-cs"/>
              </a:rPr>
              <a:t>Chinchilla（70B）模型</a:t>
            </a:r>
            <a:r>
              <a:rPr lang="zh-TW" altLang="zh-TW" sz="1200" b="0" u="none" strike="noStrike" kern="1200" dirty="0">
                <a:solidFill>
                  <a:schemeClr val="tx1"/>
                </a:solidFill>
                <a:effectLst/>
                <a:latin typeface="+mn-lt"/>
                <a:ea typeface="+mn-ea"/>
                <a:cs typeface="+mn-cs"/>
              </a:rPr>
              <a:t>並確立了 </a:t>
            </a:r>
            <a:r>
              <a:rPr lang="zh-TW" altLang="zh-TW" sz="1200" b="1" u="none" strike="noStrike" kern="1200" dirty="0">
                <a:solidFill>
                  <a:schemeClr val="tx1"/>
                </a:solidFill>
                <a:effectLst/>
                <a:latin typeface="+mn-lt"/>
                <a:ea typeface="+mn-ea"/>
                <a:cs typeface="+mn-cs"/>
              </a:rPr>
              <a:t>Chinchilla 縮放定律</a:t>
            </a:r>
            <a:r>
              <a:rPr lang="zh-TW" altLang="zh-TW" sz="1200" b="0" u="none" strike="noStrike" kern="1200" dirty="0">
                <a:solidFill>
                  <a:schemeClr val="tx1"/>
                </a:solidFill>
                <a:effectLst/>
                <a:latin typeface="+mn-lt"/>
                <a:ea typeface="+mn-ea"/>
                <a:cs typeface="+mn-cs"/>
              </a:rPr>
              <a:t>。 </a:t>
            </a:r>
          </a:p>
          <a:p>
            <a:r>
              <a:rPr lang="zh-TW" altLang="zh-TW" sz="1200" b="0" u="none" strike="noStrike" kern="1200" dirty="0">
                <a:solidFill>
                  <a:schemeClr val="tx1"/>
                </a:solidFill>
                <a:effectLst/>
                <a:latin typeface="+mn-lt"/>
                <a:ea typeface="+mn-ea"/>
                <a:cs typeface="+mn-cs"/>
              </a:rPr>
              <a:t>3. 2023 年至今：定律的全面實踐與「過度訓練」時代</a:t>
            </a:r>
          </a:p>
          <a:p>
            <a:pPr lvl="0"/>
            <a:r>
              <a:rPr lang="zh-TW" altLang="zh-TW" sz="1200" b="1" u="none" strike="noStrike" kern="1200" dirty="0">
                <a:solidFill>
                  <a:schemeClr val="tx1"/>
                </a:solidFill>
                <a:effectLst/>
                <a:latin typeface="+mn-lt"/>
                <a:ea typeface="+mn-ea"/>
                <a:cs typeface="+mn-cs"/>
              </a:rPr>
              <a:t>2023 年</a:t>
            </a:r>
            <a:r>
              <a:rPr lang="zh-TW" altLang="zh-TW" sz="1200" b="0" u="none" strike="noStrike" kern="1200" dirty="0">
                <a:solidFill>
                  <a:schemeClr val="tx1"/>
                </a:solidFill>
                <a:effectLst/>
                <a:latin typeface="+mn-lt"/>
                <a:ea typeface="+mn-ea"/>
                <a:cs typeface="+mn-cs"/>
              </a:rPr>
              <a:t>：Meta 推出 </a:t>
            </a:r>
            <a:r>
              <a:rPr lang="zh-TW" altLang="zh-TW" sz="1200" b="0" u="none" strike="noStrike" kern="1200" dirty="0">
                <a:solidFill>
                  <a:schemeClr val="tx1"/>
                </a:solidFill>
                <a:effectLst/>
                <a:latin typeface="+mn-lt"/>
                <a:ea typeface="+mn-ea"/>
                <a:cs typeface="+mn-cs"/>
                <a:hlinkClick r:id="rId5"/>
              </a:rPr>
              <a:t>LLaMA 1</a:t>
            </a:r>
            <a:r>
              <a:rPr lang="zh-TW" altLang="zh-TW" sz="1200" b="0" u="none" strike="noStrike" kern="1200" dirty="0">
                <a:solidFill>
                  <a:schemeClr val="tx1"/>
                </a:solidFill>
                <a:effectLst/>
                <a:latin typeface="+mn-lt"/>
                <a:ea typeface="+mn-ea"/>
                <a:cs typeface="+mn-cs"/>
              </a:rPr>
              <a:t> 與 LLaMA 2，正式將 Chinchilla 的精簡高效概念導入開源社群。</a:t>
            </a:r>
          </a:p>
          <a:p>
            <a:pPr lvl="0"/>
            <a:r>
              <a:rPr lang="zh-TW" altLang="zh-TW" sz="1200" b="1" u="none" strike="noStrike" kern="1200" dirty="0">
                <a:solidFill>
                  <a:schemeClr val="tx1"/>
                </a:solidFill>
                <a:effectLst/>
                <a:latin typeface="+mn-lt"/>
                <a:ea typeface="+mn-ea"/>
                <a:cs typeface="+mn-cs"/>
              </a:rPr>
              <a:t>2024 年至 2026 年（現在）</a:t>
            </a:r>
            <a:r>
              <a:rPr lang="zh-TW" altLang="zh-TW" sz="1200" b="0" u="none" strike="noStrike" kern="1200" dirty="0">
                <a:solidFill>
                  <a:schemeClr val="tx1"/>
                </a:solidFill>
                <a:effectLst/>
                <a:latin typeface="+mn-lt"/>
                <a:ea typeface="+mn-ea"/>
                <a:cs typeface="+mn-cs"/>
              </a:rPr>
              <a:t>：工業界更進一步跨越 Chinchilla 的 1:20 天花板。例如 LLaMA 3（8B 參數配 15 兆 Token）將比例推到了接近 </a:t>
            </a:r>
            <a:r>
              <a:rPr lang="zh-TW" altLang="zh-TW" sz="1200" b="1" u="none" strike="noStrike" kern="1200" dirty="0">
                <a:solidFill>
                  <a:schemeClr val="tx1"/>
                </a:solidFill>
                <a:effectLst/>
                <a:latin typeface="+mn-lt"/>
                <a:ea typeface="+mn-ea"/>
                <a:cs typeface="+mn-cs"/>
              </a:rPr>
              <a:t>1:1875</a:t>
            </a:r>
            <a:r>
              <a:rPr lang="zh-TW" altLang="zh-TW" sz="1200" b="0" u="none" strike="noStrike" kern="1200" dirty="0">
                <a:solidFill>
                  <a:schemeClr val="tx1"/>
                </a:solidFill>
                <a:effectLst/>
                <a:latin typeface="+mn-lt"/>
                <a:ea typeface="+mn-ea"/>
                <a:cs typeface="+mn-cs"/>
              </a:rPr>
              <a:t>，開啟了為了極致降低推理成本而瘋狂「過度訓練（Overtraining）」的新技術浪潮。陳章博士在 </a:t>
            </a:r>
            <a:r>
              <a:rPr lang="zh-TW" altLang="zh-TW" sz="1200" b="1" u="none" strike="noStrike" kern="1200" dirty="0">
                <a:solidFill>
                  <a:schemeClr val="tx1"/>
                </a:solidFill>
                <a:effectLst/>
                <a:latin typeface="+mn-lt"/>
                <a:ea typeface="+mn-ea"/>
                <a:cs typeface="+mn-cs"/>
              </a:rPr>
              <a:t>EZ.Encoder Academy</a:t>
            </a:r>
            <a:r>
              <a:rPr lang="zh-TW" altLang="zh-TW" sz="1200" b="0" u="none" strike="noStrike" kern="1200" dirty="0">
                <a:solidFill>
                  <a:schemeClr val="tx1"/>
                </a:solidFill>
                <a:effectLst/>
                <a:latin typeface="+mn-lt"/>
                <a:ea typeface="+mn-ea"/>
                <a:cs typeface="+mn-cs"/>
              </a:rPr>
              <a:t> 的影片中，通常就是以 </a:t>
            </a:r>
            <a:r>
              <a:rPr lang="zh-TW" altLang="zh-TW" sz="1200" b="1" u="none" strike="noStrike" kern="1200" dirty="0">
                <a:solidFill>
                  <a:schemeClr val="tx1"/>
                </a:solidFill>
                <a:effectLst/>
                <a:latin typeface="+mn-lt"/>
                <a:ea typeface="+mn-ea"/>
                <a:cs typeface="+mn-cs"/>
              </a:rPr>
              <a:t>2022 年</a:t>
            </a:r>
            <a:r>
              <a:rPr lang="zh-TW" altLang="zh-TW" sz="1200" b="0" u="none" strike="noStrike" kern="1200" dirty="0">
                <a:solidFill>
                  <a:schemeClr val="tx1"/>
                </a:solidFill>
                <a:effectLst/>
                <a:latin typeface="+mn-lt"/>
                <a:ea typeface="+mn-ea"/>
                <a:cs typeface="+mn-cs"/>
              </a:rPr>
              <a:t> 的這篇 Chinchilla 論文作為分界線，來對比「2022 年前盲目做大」與「2022 年後追求數據高密度」的 AI 發展大轉折。</a:t>
            </a:r>
            <a:endParaRPr lang="en-US" altLang="zh-TW" sz="1200" b="0" u="none" strike="noStrike" kern="1200" dirty="0">
              <a:solidFill>
                <a:schemeClr val="tx1"/>
              </a:solidFill>
              <a:effectLst/>
              <a:latin typeface="+mn-lt"/>
              <a:ea typeface="+mn-ea"/>
              <a:cs typeface="+mn-cs"/>
            </a:endParaRPr>
          </a:p>
          <a:p>
            <a:pPr lvl="0"/>
            <a:endParaRPr lang="zh-TW" altLang="zh-TW" sz="1200" b="0" u="none" strike="noStrike" kern="1200" dirty="0">
              <a:solidFill>
                <a:schemeClr val="tx1"/>
              </a:solidFill>
              <a:effectLst/>
              <a:latin typeface="+mn-lt"/>
              <a:ea typeface="+mn-ea"/>
              <a:cs typeface="+mn-cs"/>
            </a:endParaRPr>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13</a:t>
            </a:fld>
            <a:endParaRPr lang="zh-TW" altLang="en-US"/>
          </a:p>
        </p:txBody>
      </p:sp>
    </p:spTree>
    <p:extLst>
      <p:ext uri="{BB962C8B-B14F-4D97-AF65-F5344CB8AC3E}">
        <p14:creationId xmlns:p14="http://schemas.microsoft.com/office/powerpoint/2010/main" val="23257010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14</a:t>
            </a:fld>
            <a:endParaRPr lang="zh-TW" altLang="en-US"/>
          </a:p>
        </p:txBody>
      </p:sp>
    </p:spTree>
    <p:extLst>
      <p:ext uri="{BB962C8B-B14F-4D97-AF65-F5344CB8AC3E}">
        <p14:creationId xmlns:p14="http://schemas.microsoft.com/office/powerpoint/2010/main" val="14382478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77D7E-2791-E92D-99B3-29331390237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1A7B221-803D-EBD0-89EE-BEEF13A615B6}"/>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D762DE49-57CA-6A5A-E457-83C76388DC4F}"/>
              </a:ext>
            </a:extLst>
          </p:cNvPr>
          <p:cNvSpPr>
            <a:spLocks noGrp="1"/>
          </p:cNvSpPr>
          <p:nvPr>
            <p:ph type="body" idx="1"/>
          </p:nvPr>
        </p:nvSpPr>
        <p:spPr/>
        <p:txBody>
          <a:bodyPr/>
          <a:lstStyle/>
          <a:p>
            <a:r>
              <a:rPr lang="en-US" altLang="zh-TW" dirty="0"/>
              <a:t>1.</a:t>
            </a:r>
            <a:r>
              <a:rPr lang="zh-TW" altLang="en-US" dirty="0"/>
              <a:t> </a:t>
            </a:r>
            <a:r>
              <a:rPr lang="en-US" altLang="zh-TW" dirty="0"/>
              <a:t>token</a:t>
            </a:r>
            <a:r>
              <a:rPr lang="zh-TW" altLang="en-US" dirty="0"/>
              <a:t>效率</a:t>
            </a:r>
            <a:r>
              <a:rPr lang="en-US" altLang="zh-TW" dirty="0">
                <a:sym typeface="Wingdings" panose="05000000000000000000" pitchFamily="2" charset="2"/>
              </a:rPr>
              <a:t></a:t>
            </a:r>
            <a:r>
              <a:rPr lang="zh-TW" altLang="en-US" dirty="0">
                <a:sym typeface="Wingdings" panose="05000000000000000000" pitchFamily="2" charset="2"/>
              </a:rPr>
              <a:t> </a:t>
            </a:r>
            <a:r>
              <a:rPr lang="zh-TW" altLang="en-US" dirty="0"/>
              <a:t>更強的先驗知識</a:t>
            </a:r>
            <a:r>
              <a:rPr lang="en-US" altLang="zh-TW" dirty="0"/>
              <a:t>,</a:t>
            </a:r>
            <a:r>
              <a:rPr lang="zh-TW" altLang="en-US" dirty="0"/>
              <a:t> 讓智能體在做</a:t>
            </a:r>
            <a:r>
              <a:rPr lang="en-US" altLang="zh-TW" dirty="0"/>
              <a:t>RLHF</a:t>
            </a:r>
            <a:r>
              <a:rPr lang="zh-TW" altLang="en-US" dirty="0"/>
              <a:t>時</a:t>
            </a:r>
            <a:r>
              <a:rPr lang="en-US" altLang="zh-TW" dirty="0"/>
              <a:t>,</a:t>
            </a:r>
            <a:r>
              <a:rPr lang="zh-TW" altLang="en-US" dirty="0"/>
              <a:t>能更有效率的搜尋答案</a:t>
            </a:r>
            <a:endParaRPr lang="en-US" altLang="zh-TW" dirty="0"/>
          </a:p>
          <a:p>
            <a:r>
              <a:rPr lang="en-US" altLang="zh-TW" dirty="0"/>
              <a:t>2.</a:t>
            </a:r>
            <a:r>
              <a:rPr lang="zh-TW" altLang="en-US" dirty="0"/>
              <a:t> 長上下文</a:t>
            </a:r>
            <a:r>
              <a:rPr lang="en-US" altLang="zh-TW" dirty="0">
                <a:sym typeface="Wingdings" panose="05000000000000000000" pitchFamily="2" charset="2"/>
              </a:rPr>
              <a:t></a:t>
            </a:r>
            <a:r>
              <a:rPr lang="zh-TW" altLang="en-US" dirty="0">
                <a:sym typeface="Wingdings" panose="05000000000000000000" pitchFamily="2" charset="2"/>
              </a:rPr>
              <a:t> 能持續運作更久的</a:t>
            </a:r>
            <a:r>
              <a:rPr lang="en-US" altLang="zh-TW" dirty="0">
                <a:sym typeface="Wingdings" panose="05000000000000000000" pitchFamily="2" charset="2"/>
              </a:rPr>
              <a:t>Agent, </a:t>
            </a:r>
            <a:r>
              <a:rPr lang="zh-TW" altLang="en-US" dirty="0">
                <a:sym typeface="Wingdings" panose="05000000000000000000" pitchFamily="2" charset="2"/>
              </a:rPr>
              <a:t>能連續執行幾個月</a:t>
            </a:r>
            <a:r>
              <a:rPr lang="en-US" altLang="zh-TW" dirty="0">
                <a:sym typeface="Wingdings" panose="05000000000000000000" pitchFamily="2" charset="2"/>
              </a:rPr>
              <a:t>,</a:t>
            </a:r>
            <a:r>
              <a:rPr lang="zh-TW" altLang="en-US" dirty="0">
                <a:sym typeface="Wingdings" panose="05000000000000000000" pitchFamily="2" charset="2"/>
              </a:rPr>
              <a:t> 完成複雜任務</a:t>
            </a:r>
            <a:r>
              <a:rPr lang="en-US" altLang="zh-TW" dirty="0">
                <a:sym typeface="Wingdings" panose="05000000000000000000" pitchFamily="2" charset="2"/>
              </a:rPr>
              <a:t>.</a:t>
            </a:r>
          </a:p>
          <a:p>
            <a:r>
              <a:rPr lang="en-US" altLang="zh-TW" dirty="0">
                <a:sym typeface="Wingdings" panose="05000000000000000000" pitchFamily="2" charset="2"/>
              </a:rPr>
              <a:t>3.</a:t>
            </a:r>
            <a:r>
              <a:rPr lang="zh-TW" altLang="en-US" dirty="0">
                <a:sym typeface="Wingdings" panose="05000000000000000000" pitchFamily="2" charset="2"/>
              </a:rPr>
              <a:t> </a:t>
            </a:r>
            <a:r>
              <a:rPr lang="en-US" altLang="zh-TW" dirty="0">
                <a:sym typeface="Wingdings" panose="05000000000000000000" pitchFamily="2" charset="2"/>
              </a:rPr>
              <a:t>Agent</a:t>
            </a:r>
            <a:r>
              <a:rPr lang="zh-TW" altLang="en-US" dirty="0">
                <a:sym typeface="Wingdings" panose="05000000000000000000" pitchFamily="2" charset="2"/>
              </a:rPr>
              <a:t>蜂群</a:t>
            </a:r>
            <a:r>
              <a:rPr lang="en-US" altLang="zh-TW" dirty="0">
                <a:sym typeface="Wingdings" panose="05000000000000000000" pitchFamily="2" charset="2"/>
              </a:rPr>
              <a:t></a:t>
            </a:r>
            <a:r>
              <a:rPr lang="zh-TW" altLang="en-US" dirty="0">
                <a:sym typeface="Wingdings" panose="05000000000000000000" pitchFamily="2" charset="2"/>
              </a:rPr>
              <a:t> 疊加前兩者</a:t>
            </a:r>
            <a:r>
              <a:rPr lang="en-US" altLang="zh-TW" dirty="0">
                <a:sym typeface="Wingdings" panose="05000000000000000000" pitchFamily="2" charset="2"/>
              </a:rPr>
              <a:t>.</a:t>
            </a:r>
          </a:p>
          <a:p>
            <a:endParaRPr lang="en-US" altLang="zh-TW" dirty="0">
              <a:sym typeface="Wingdings" panose="05000000000000000000" pitchFamily="2" charset="2"/>
            </a:endParaRPr>
          </a:p>
          <a:p>
            <a:r>
              <a:rPr lang="zh-TW" altLang="en-US" dirty="0"/>
              <a:t>一、 </a:t>
            </a:r>
            <a:r>
              <a:rPr lang="en-US" altLang="zh-TW" dirty="0"/>
              <a:t>Kimi </a:t>
            </a:r>
            <a:r>
              <a:rPr lang="zh-TW" altLang="en-US" dirty="0"/>
              <a:t>的「三板斧」策略</a:t>
            </a:r>
          </a:p>
          <a:p>
            <a:r>
              <a:rPr lang="zh-TW" altLang="en-US" dirty="0"/>
              <a:t>很多大模型只會硬砸錢、堆機器、瘋狂吞資料。但月之暗面（</a:t>
            </a:r>
            <a:r>
              <a:rPr lang="en-US" altLang="zh-TW" dirty="0"/>
              <a:t>Moonshot</a:t>
            </a:r>
            <a:r>
              <a:rPr lang="zh-TW" altLang="en-US" dirty="0"/>
              <a:t>）創辦人楊植麟認為，光靠硬砸不行，得在三個維度上搞創新：</a:t>
            </a:r>
          </a:p>
          <a:p>
            <a:r>
              <a:rPr lang="zh-TW" altLang="en-US" dirty="0"/>
              <a:t>* 讓每一字（</a:t>
            </a:r>
            <a:r>
              <a:rPr lang="en-US" altLang="zh-TW" dirty="0"/>
              <a:t>Token</a:t>
            </a:r>
            <a:r>
              <a:rPr lang="zh-TW" altLang="en-US" dirty="0"/>
              <a:t>）更值錢：不靠乾嗑數據，而是換更好的“發動機”，用同樣的數據練出更聰明的模型。 </a:t>
            </a:r>
          </a:p>
          <a:p>
            <a:r>
              <a:rPr lang="zh-TW" altLang="en-US" dirty="0"/>
              <a:t>* 把記憶拉得極長：讓 </a:t>
            </a:r>
            <a:r>
              <a:rPr lang="en-US" altLang="zh-TW" dirty="0"/>
              <a:t>AI </a:t>
            </a:r>
            <a:r>
              <a:rPr lang="zh-TW" altLang="en-US" dirty="0"/>
              <a:t>能連續工作幾天甚至幾個月，能一口氣讀懂一整個軟體程式碼庫。 </a:t>
            </a:r>
          </a:p>
          <a:p>
            <a:pPr marL="0" indent="0">
              <a:buFont typeface="Arial" panose="020B0604020202020204" pitchFamily="34" charset="0"/>
              <a:buNone/>
            </a:pPr>
            <a:r>
              <a:rPr lang="en-US" altLang="zh-TW" dirty="0"/>
              <a:t>* </a:t>
            </a:r>
            <a:r>
              <a:rPr lang="zh-TW" altLang="en-US" dirty="0"/>
              <a:t>讓 </a:t>
            </a:r>
            <a:r>
              <a:rPr lang="en-US" altLang="zh-TW" dirty="0"/>
              <a:t>AI</a:t>
            </a:r>
            <a:r>
              <a:rPr lang="zh-TW" altLang="en-US" dirty="0"/>
              <a:t>「組團群毆」：不再靠單一 </a:t>
            </a:r>
            <a:r>
              <a:rPr lang="en-US" altLang="zh-TW" dirty="0"/>
              <a:t>AI </a:t>
            </a:r>
            <a:r>
              <a:rPr lang="zh-TW" altLang="en-US" dirty="0"/>
              <a:t>硬抗，而是成立「</a:t>
            </a:r>
            <a:r>
              <a:rPr lang="en-US" altLang="zh-TW" dirty="0"/>
              <a:t>AI </a:t>
            </a:r>
            <a:r>
              <a:rPr lang="zh-TW" altLang="en-US" dirty="0"/>
              <a:t>小分隊」分工合作。</a:t>
            </a:r>
            <a:endParaRPr lang="en-US" altLang="zh-TW" dirty="0"/>
          </a:p>
          <a:p>
            <a:pPr marL="171450" indent="-171450">
              <a:buFont typeface="Arial" panose="020B0604020202020204" pitchFamily="34" charset="0"/>
              <a:buChar char="•"/>
            </a:pPr>
            <a:endParaRPr lang="zh-TW" altLang="en-US" dirty="0"/>
          </a:p>
          <a:p>
            <a:r>
              <a:rPr lang="zh-TW" altLang="en-US" dirty="0"/>
              <a:t>二、 技術大突破：換引擎與防爆倉</a:t>
            </a:r>
          </a:p>
          <a:p>
            <a:r>
              <a:rPr lang="zh-TW" altLang="en-US" dirty="0"/>
              <a:t>* 換上黑科技引擎（</a:t>
            </a:r>
            <a:r>
              <a:rPr lang="en-US" altLang="zh-TW" dirty="0"/>
              <a:t>Muon </a:t>
            </a:r>
            <a:r>
              <a:rPr lang="zh-TW" altLang="en-US" dirty="0"/>
              <a:t>優化器）：他們是全球第一個把這種高階演算法用到萬億參數模型上的團隊。效果極度拔群</a:t>
            </a:r>
            <a:r>
              <a:rPr lang="en-US" altLang="zh-TW" dirty="0"/>
              <a:t>——</a:t>
            </a:r>
            <a:r>
              <a:rPr lang="zh-TW" altLang="en-US" dirty="0"/>
              <a:t>相當於把手裡現有的高品質資料翻了一倍。 </a:t>
            </a:r>
          </a:p>
          <a:p>
            <a:pPr marL="0" indent="0">
              <a:buFont typeface="Arial" panose="020B0604020202020204" pitchFamily="34" charset="0"/>
              <a:buNone/>
            </a:pPr>
            <a:r>
              <a:rPr lang="en-US" altLang="zh-TW" dirty="0"/>
              <a:t>* </a:t>
            </a:r>
            <a:r>
              <a:rPr lang="zh-TW" altLang="en-US" dirty="0"/>
              <a:t>解決 </a:t>
            </a:r>
            <a:r>
              <a:rPr lang="en-US" altLang="zh-TW" dirty="0"/>
              <a:t>AI </a:t>
            </a:r>
            <a:r>
              <a:rPr lang="zh-TW" altLang="en-US" dirty="0"/>
              <a:t>訓練炸機：模型越大，訓練時越容易「走火入魔」把程式搞崩。他們發明了個叫 </a:t>
            </a:r>
            <a:r>
              <a:rPr lang="en-US" altLang="zh-TW" dirty="0"/>
              <a:t>QK Clip </a:t>
            </a:r>
            <a:r>
              <a:rPr lang="zh-TW" altLang="en-US" dirty="0"/>
              <a:t>的小裝置，成功把訓練風險壓住了，破紀錄地讓模型吃了 </a:t>
            </a:r>
            <a:r>
              <a:rPr lang="en-US" altLang="zh-TW" dirty="0"/>
              <a:t>30 </a:t>
            </a:r>
            <a:r>
              <a:rPr lang="zh-TW" altLang="en-US" dirty="0"/>
              <a:t>兆的數據，全程沒崩過一次。</a:t>
            </a:r>
            <a:endParaRPr lang="en-US" altLang="zh-TW" dirty="0"/>
          </a:p>
          <a:p>
            <a:pPr marL="171450" indent="-171450">
              <a:buFont typeface="Arial" panose="020B0604020202020204" pitchFamily="34" charset="0"/>
              <a:buChar char="•"/>
            </a:pPr>
            <a:endParaRPr lang="zh-TW" altLang="en-US" dirty="0"/>
          </a:p>
          <a:p>
            <a:r>
              <a:rPr lang="zh-TW" altLang="en-US" dirty="0"/>
              <a:t>三、 架構進化：長記憶與“把演算法旋轉</a:t>
            </a:r>
            <a:r>
              <a:rPr lang="en-US" altLang="zh-TW" dirty="0"/>
              <a:t>90</a:t>
            </a:r>
            <a:r>
              <a:rPr lang="zh-TW" altLang="en-US" dirty="0"/>
              <a:t>度”</a:t>
            </a:r>
          </a:p>
          <a:p>
            <a:r>
              <a:rPr lang="zh-TW" altLang="en-US" dirty="0"/>
              <a:t>* </a:t>
            </a:r>
            <a:r>
              <a:rPr lang="en-US" altLang="zh-TW" dirty="0"/>
              <a:t>Kimi Linear </a:t>
            </a:r>
            <a:r>
              <a:rPr lang="zh-TW" altLang="en-US" dirty="0"/>
              <a:t>架構</a:t>
            </a:r>
            <a:r>
              <a:rPr lang="en-US" altLang="zh-TW" dirty="0"/>
              <a:t>:</a:t>
            </a:r>
            <a:r>
              <a:rPr lang="zh-TW" altLang="en-US" dirty="0"/>
              <a:t>以前的 </a:t>
            </a:r>
            <a:r>
              <a:rPr lang="en-US" altLang="zh-TW" dirty="0"/>
              <a:t>AI </a:t>
            </a:r>
            <a:r>
              <a:rPr lang="zh-TW" altLang="en-US" dirty="0"/>
              <a:t>要嘛是個「近視眼」</a:t>
            </a:r>
            <a:r>
              <a:rPr lang="en-US" altLang="zh-TW" dirty="0"/>
              <a:t>(</a:t>
            </a:r>
            <a:r>
              <a:rPr lang="zh-TW" altLang="en-US" dirty="0"/>
              <a:t>長文記不住</a:t>
            </a:r>
            <a:r>
              <a:rPr lang="en-US" altLang="zh-TW" dirty="0"/>
              <a:t>), </a:t>
            </a:r>
            <a:r>
              <a:rPr lang="zh-TW" altLang="en-US" dirty="0"/>
              <a:t>要嘛是個「死記硬背狂」</a:t>
            </a:r>
            <a:r>
              <a:rPr lang="en-US" altLang="zh-TW" dirty="0"/>
              <a:t>(</a:t>
            </a:r>
            <a:r>
              <a:rPr lang="zh-TW" altLang="en-US" dirty="0"/>
              <a:t>啥都記</a:t>
            </a:r>
            <a:r>
              <a:rPr lang="en-US" altLang="zh-TW" dirty="0"/>
              <a:t>,</a:t>
            </a:r>
            <a:r>
              <a:rPr lang="zh-TW" altLang="en-US" dirty="0"/>
              <a:t>腦子亂了</a:t>
            </a:r>
            <a:r>
              <a:rPr lang="en-US" altLang="zh-TW" dirty="0"/>
              <a:t>).</a:t>
            </a:r>
            <a:r>
              <a:rPr lang="zh-TW" altLang="en-US" dirty="0"/>
              <a:t> </a:t>
            </a:r>
            <a:r>
              <a:rPr lang="en-US" altLang="zh-TW" dirty="0"/>
              <a:t>Kimi </a:t>
            </a:r>
            <a:r>
              <a:rPr lang="zh-TW" altLang="en-US" dirty="0"/>
              <a:t>換了新結構，學會了像人一樣有選擇地忘記廢話留下精髓</a:t>
            </a:r>
            <a:r>
              <a:rPr lang="en-US" altLang="zh-TW" dirty="0"/>
              <a:t>, </a:t>
            </a:r>
            <a:r>
              <a:rPr lang="zh-TW" altLang="en-US" dirty="0"/>
              <a:t>而且短任務和超長任務都很強。 </a:t>
            </a:r>
          </a:p>
          <a:p>
            <a:pPr marL="0" indent="0">
              <a:buFont typeface="Arial" panose="020B0604020202020204" pitchFamily="34" charset="0"/>
              <a:buNone/>
            </a:pPr>
            <a:r>
              <a:rPr lang="en-US" altLang="zh-TW" dirty="0"/>
              <a:t>* </a:t>
            </a:r>
            <a:r>
              <a:rPr lang="zh-TW" altLang="en-US" dirty="0"/>
              <a:t>注意力殘差：他們做了一個大膽嘗試，把原來用來做「前後記憶」的演算法旋轉了 </a:t>
            </a:r>
            <a:r>
              <a:rPr lang="en-US" altLang="zh-TW" dirty="0"/>
              <a:t>90 </a:t>
            </a:r>
            <a:r>
              <a:rPr lang="zh-TW" altLang="en-US" dirty="0"/>
              <a:t>度用到「網路深度」上，讓 </a:t>
            </a:r>
            <a:r>
              <a:rPr lang="en-US" altLang="zh-TW" dirty="0"/>
              <a:t>AI </a:t>
            </a:r>
            <a:r>
              <a:rPr lang="zh-TW" altLang="en-US" dirty="0"/>
              <a:t>的學習效率又額外提升了 </a:t>
            </a:r>
            <a:r>
              <a:rPr lang="en-US" altLang="zh-TW" dirty="0"/>
              <a:t>24%</a:t>
            </a:r>
            <a:r>
              <a:rPr lang="zh-TW" altLang="en-US" dirty="0"/>
              <a:t>。</a:t>
            </a:r>
            <a:endParaRPr lang="en-US" altLang="zh-TW" dirty="0"/>
          </a:p>
          <a:p>
            <a:pPr marL="171450" indent="-171450">
              <a:buFont typeface="Arial" panose="020B0604020202020204" pitchFamily="34" charset="0"/>
              <a:buChar char="•"/>
            </a:pPr>
            <a:endParaRPr lang="zh-TW" altLang="en-US" dirty="0"/>
          </a:p>
          <a:p>
            <a:r>
              <a:rPr lang="zh-TW" altLang="en-US" dirty="0"/>
              <a:t>四、 </a:t>
            </a:r>
            <a:r>
              <a:rPr lang="en-US" altLang="zh-TW" dirty="0"/>
              <a:t>AI </a:t>
            </a:r>
            <a:r>
              <a:rPr lang="zh-TW" altLang="en-US" dirty="0"/>
              <a:t>小分隊（智能體蜂群）</a:t>
            </a:r>
          </a:p>
          <a:p>
            <a:r>
              <a:rPr lang="zh-TW" altLang="en-US" dirty="0"/>
              <a:t>*  </a:t>
            </a:r>
            <a:r>
              <a:rPr lang="en-US" altLang="zh-TW" dirty="0"/>
              <a:t>AI </a:t>
            </a:r>
            <a:r>
              <a:rPr lang="zh-TW" altLang="en-US" dirty="0"/>
              <a:t>當 </a:t>
            </a:r>
            <a:r>
              <a:rPr lang="en-US" altLang="zh-TW" dirty="0"/>
              <a:t>CEO</a:t>
            </a:r>
            <a:r>
              <a:rPr lang="zh-TW" altLang="en-US" dirty="0"/>
              <a:t>：以前是你跟一個 </a:t>
            </a:r>
            <a:r>
              <a:rPr lang="en-US" altLang="zh-TW" dirty="0"/>
              <a:t>AI </a:t>
            </a:r>
            <a:r>
              <a:rPr lang="zh-TW" altLang="en-US" dirty="0"/>
              <a:t>對話；現在是一個「主控 </a:t>
            </a:r>
            <a:r>
              <a:rPr lang="en-US" altLang="zh-TW" dirty="0"/>
              <a:t>AI</a:t>
            </a:r>
            <a:r>
              <a:rPr lang="zh-TW" altLang="en-US" dirty="0"/>
              <a:t>」當老闆，自動把大任務拆成好幾個小任務，分發給手下一堆「子 </a:t>
            </a:r>
            <a:r>
              <a:rPr lang="en-US" altLang="zh-TW" dirty="0"/>
              <a:t>AI</a:t>
            </a:r>
            <a:r>
              <a:rPr lang="zh-TW" altLang="en-US" dirty="0"/>
              <a:t>」（例如一個去查資料、一個去寫程式碼、一個去審核）。 </a:t>
            </a:r>
          </a:p>
          <a:p>
            <a:pPr marL="0" indent="0">
              <a:buFont typeface="Arial" panose="020B0604020202020204" pitchFamily="34" charset="0"/>
              <a:buNone/>
            </a:pPr>
            <a:r>
              <a:rPr lang="en-US" altLang="zh-TW" dirty="0"/>
              <a:t>* </a:t>
            </a:r>
            <a:r>
              <a:rPr lang="zh-TW" altLang="en-US" dirty="0"/>
              <a:t>防止 </a:t>
            </a:r>
            <a:r>
              <a:rPr lang="en-US" altLang="zh-TW" dirty="0"/>
              <a:t>AI </a:t>
            </a:r>
            <a:r>
              <a:rPr lang="zh-TW" altLang="en-US" dirty="0"/>
              <a:t>磨洋工：為了防止子 </a:t>
            </a:r>
            <a:r>
              <a:rPr lang="en-US" altLang="zh-TW" dirty="0"/>
              <a:t>AI </a:t>
            </a:r>
            <a:r>
              <a:rPr lang="zh-TW" altLang="en-US" dirty="0"/>
              <a:t>亂造假工時，他們設計了一套極其精細的獎懲機制，幹得好有賞，偷懶不完成任務就扣分，讓整支 </a:t>
            </a:r>
            <a:r>
              <a:rPr lang="en-US" altLang="zh-TW" dirty="0"/>
              <a:t>AI </a:t>
            </a:r>
            <a:r>
              <a:rPr lang="zh-TW" altLang="en-US" dirty="0"/>
              <a:t>團隊幹活又快又準。</a:t>
            </a:r>
            <a:endParaRPr lang="en-US" altLang="zh-TW" dirty="0"/>
          </a:p>
          <a:p>
            <a:pPr marL="171450" indent="-171450">
              <a:buFont typeface="Arial" panose="020B0604020202020204" pitchFamily="34" charset="0"/>
              <a:buChar char="•"/>
            </a:pPr>
            <a:endParaRPr lang="zh-TW" altLang="en-US" dirty="0"/>
          </a:p>
          <a:p>
            <a:r>
              <a:rPr lang="zh-TW" altLang="en-US" dirty="0"/>
              <a:t>五、 圖文同修：打破產業的“老偏見”</a:t>
            </a:r>
          </a:p>
          <a:p>
            <a:r>
              <a:rPr lang="zh-TW" altLang="en-US" dirty="0"/>
              <a:t>* 打娘胎裡就圖文雙修：傳統 </a:t>
            </a:r>
            <a:r>
              <a:rPr lang="en-US" altLang="zh-TW" dirty="0"/>
              <a:t>AI </a:t>
            </a:r>
            <a:r>
              <a:rPr lang="zh-TW" altLang="en-US" dirty="0"/>
              <a:t>是先學完文字，再去補習看圖（效果很差）。 </a:t>
            </a:r>
            <a:r>
              <a:rPr lang="en-US" altLang="zh-TW" dirty="0"/>
              <a:t>Kimi </a:t>
            </a:r>
            <a:r>
              <a:rPr lang="zh-TW" altLang="en-US" dirty="0"/>
              <a:t>是從訓練第一天起就把文字和圖片放在一起學習。 </a:t>
            </a:r>
          </a:p>
          <a:p>
            <a:r>
              <a:rPr lang="zh-TW" altLang="en-US" dirty="0"/>
              <a:t>* 出人意料的互相促進：過去行業裡都覺得“讓 </a:t>
            </a:r>
            <a:r>
              <a:rPr lang="en-US" altLang="zh-TW" dirty="0"/>
              <a:t>AI </a:t>
            </a:r>
            <a:r>
              <a:rPr lang="zh-TW" altLang="en-US" dirty="0"/>
              <a:t>學看圖會把文字變蠢”，但 </a:t>
            </a:r>
            <a:r>
              <a:rPr lang="en-US" altLang="zh-TW" dirty="0"/>
              <a:t>Kimi </a:t>
            </a:r>
            <a:r>
              <a:rPr lang="zh-TW" altLang="en-US" dirty="0"/>
              <a:t>證明了看圖能讓 </a:t>
            </a:r>
            <a:r>
              <a:rPr lang="en-US" altLang="zh-TW" dirty="0"/>
              <a:t>AI </a:t>
            </a:r>
            <a:r>
              <a:rPr lang="zh-TW" altLang="en-US" dirty="0"/>
              <a:t>的邏輯推理更強，而文字功底深了，看圖能力也會被順帶拔高！</a:t>
            </a:r>
          </a:p>
        </p:txBody>
      </p:sp>
      <p:sp>
        <p:nvSpPr>
          <p:cNvPr id="4" name="投影片編號版面配置區 3">
            <a:extLst>
              <a:ext uri="{FF2B5EF4-FFF2-40B4-BE49-F238E27FC236}">
                <a16:creationId xmlns:a16="http://schemas.microsoft.com/office/drawing/2014/main" id="{91F674A9-7C3F-B629-B0F0-CE5822E8B7D6}"/>
              </a:ext>
            </a:extLst>
          </p:cNvPr>
          <p:cNvSpPr>
            <a:spLocks noGrp="1"/>
          </p:cNvSpPr>
          <p:nvPr>
            <p:ph type="sldNum" sz="quarter" idx="5"/>
          </p:nvPr>
        </p:nvSpPr>
        <p:spPr/>
        <p:txBody>
          <a:bodyPr/>
          <a:lstStyle/>
          <a:p>
            <a:fld id="{E3A6CE5E-F349-486D-8749-82EF2AD71FA8}" type="slidenum">
              <a:rPr lang="zh-TW" altLang="en-US" smtClean="0"/>
              <a:t>15</a:t>
            </a:fld>
            <a:endParaRPr lang="zh-TW" altLang="en-US"/>
          </a:p>
        </p:txBody>
      </p:sp>
    </p:spTree>
    <p:extLst>
      <p:ext uri="{BB962C8B-B14F-4D97-AF65-F5344CB8AC3E}">
        <p14:creationId xmlns:p14="http://schemas.microsoft.com/office/powerpoint/2010/main" val="28812922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sz="1200" b="0" u="none" strike="noStrike" kern="1200" dirty="0">
              <a:solidFill>
                <a:schemeClr val="tx1"/>
              </a:solidFill>
              <a:effectLst/>
              <a:latin typeface="+mn-lt"/>
              <a:ea typeface="+mn-ea"/>
              <a:cs typeface="+mn-cs"/>
            </a:endParaRPr>
          </a:p>
          <a:p>
            <a:r>
              <a:rPr lang="en-US" altLang="zh-TW" sz="1200" b="1" u="none" strike="noStrike" kern="1200" dirty="0">
                <a:solidFill>
                  <a:schemeClr val="tx1"/>
                </a:solidFill>
                <a:effectLst/>
                <a:latin typeface="+mn-lt"/>
                <a:ea typeface="+mn-ea"/>
                <a:cs typeface="+mn-cs"/>
              </a:rPr>
              <a:t>2</a:t>
            </a:r>
            <a:r>
              <a:rPr lang="zh-TW" altLang="zh-TW" sz="1200" b="1" u="none" strike="noStrike" kern="1200" dirty="0">
                <a:solidFill>
                  <a:schemeClr val="tx1"/>
                </a:solidFill>
                <a:effectLst/>
                <a:latin typeface="+mn-lt"/>
                <a:ea typeface="+mn-ea"/>
                <a:cs typeface="+mn-cs"/>
              </a:rPr>
              <a:t>015年 12月ResNet微軟亞洲研究院 (MSRA)</a:t>
            </a:r>
            <a:r>
              <a:rPr lang="zh-TW" altLang="zh-TW" sz="1200" b="0" u="none" strike="noStrike" kern="1200" dirty="0">
                <a:solidFill>
                  <a:schemeClr val="tx1"/>
                </a:solidFill>
                <a:effectLst/>
                <a:latin typeface="+mn-lt"/>
                <a:ea typeface="+mn-ea"/>
                <a:cs typeface="+mn-cs"/>
              </a:rPr>
              <a:t>何愷明、張祥雨、任少卿、孫劍</a:t>
            </a:r>
            <a:r>
              <a:rPr lang="zh-TW" altLang="zh-TW" sz="1200" b="1" u="none" strike="noStrike" kern="1200" dirty="0">
                <a:solidFill>
                  <a:schemeClr val="tx1"/>
                </a:solidFill>
                <a:effectLst/>
                <a:latin typeface="+mn-lt"/>
                <a:ea typeface="+mn-ea"/>
                <a:cs typeface="+mn-cs"/>
              </a:rPr>
              <a:t>奠定基石</a:t>
            </a:r>
            <a:r>
              <a:rPr lang="zh-TW" altLang="zh-TW" sz="1200" b="0" u="none" strike="noStrike" kern="1200" dirty="0">
                <a:solidFill>
                  <a:schemeClr val="tx1"/>
                </a:solidFill>
                <a:effectLst/>
                <a:latin typeface="+mn-lt"/>
                <a:ea typeface="+mn-ea"/>
                <a:cs typeface="+mn-cs"/>
              </a:rPr>
              <a:t>：首次提出標準殘差連接（H(x) = F(x) + x），透過捷徑連接解決深層網路退化與梯度消失問題，沿用至今成為 Transformer 的默認配置。</a:t>
            </a:r>
          </a:p>
          <a:p>
            <a:endParaRPr lang="en-US"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2024年 12月HC</a:t>
            </a:r>
            <a:r>
              <a:rPr lang="zh-TW" altLang="zh-TW" sz="1200" b="0" u="none" strike="noStrike" kern="1200" dirty="0">
                <a:solidFill>
                  <a:schemeClr val="tx1"/>
                </a:solidFill>
                <a:effectLst/>
                <a:latin typeface="+mn-lt"/>
                <a:ea typeface="+mn-ea"/>
                <a:cs typeface="+mn-cs"/>
              </a:rPr>
              <a:t> </a:t>
            </a:r>
            <a:r>
              <a:rPr lang="zh-TW" altLang="zh-TW" sz="1200" b="0" i="1" u="none" strike="noStrike" kern="1200" dirty="0">
                <a:solidFill>
                  <a:schemeClr val="tx1"/>
                </a:solidFill>
                <a:effectLst/>
                <a:latin typeface="+mn-lt"/>
                <a:ea typeface="+mn-ea"/>
                <a:cs typeface="+mn-cs"/>
              </a:rPr>
              <a:t>(Hyper-Connections)</a:t>
            </a:r>
            <a:r>
              <a:rPr lang="zh-TW" altLang="zh-TW" sz="1200" b="1" u="none" strike="noStrike" kern="1200" dirty="0">
                <a:solidFill>
                  <a:schemeClr val="tx1"/>
                </a:solidFill>
                <a:effectLst/>
                <a:latin typeface="+mn-lt"/>
                <a:ea typeface="+mn-ea"/>
                <a:cs typeface="+mn-cs"/>
              </a:rPr>
              <a:t>字節跳動 (ByteDance)</a:t>
            </a:r>
            <a:r>
              <a:rPr lang="zh-TW" altLang="zh-TW" sz="1200" b="0" u="none" strike="noStrike" kern="1200" dirty="0">
                <a:solidFill>
                  <a:schemeClr val="tx1"/>
                </a:solidFill>
                <a:effectLst/>
                <a:latin typeface="+mn-lt"/>
                <a:ea typeface="+mn-ea"/>
                <a:cs typeface="+mn-cs"/>
              </a:rPr>
              <a:t>朱等 (Zhu et al.)</a:t>
            </a:r>
            <a:r>
              <a:rPr lang="zh-TW" altLang="zh-TW" sz="1200" b="1" u="none" strike="noStrike" kern="1200" dirty="0">
                <a:solidFill>
                  <a:schemeClr val="tx1"/>
                </a:solidFill>
                <a:effectLst/>
                <a:latin typeface="+mn-lt"/>
                <a:ea typeface="+mn-ea"/>
                <a:cs typeface="+mn-cs"/>
              </a:rPr>
              <a:t>拓寬架構</a:t>
            </a:r>
            <a:r>
              <a:rPr lang="zh-TW" altLang="zh-TW" sz="1200" b="0" u="none" strike="noStrike" kern="1200" dirty="0">
                <a:solidFill>
                  <a:schemeClr val="tx1"/>
                </a:solidFill>
                <a:effectLst/>
                <a:latin typeface="+mn-lt"/>
                <a:ea typeface="+mn-ea"/>
                <a:cs typeface="+mn-cs"/>
              </a:rPr>
              <a:t>：打破單一殘差流限制，提出「多流並行（多通道）混合」，但多通道隨意混合容易破壞恆等映射，導致超深大模型訓練不穩定。</a:t>
            </a:r>
          </a:p>
          <a:p>
            <a:endParaRPr lang="en-US"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2025年 2月MUDDformer</a:t>
            </a:r>
            <a:r>
              <a:rPr lang="en-US" altLang="zh-TW" sz="1200" b="1"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北京郵電大學 &amp; 彩雲科技</a:t>
            </a:r>
            <a:r>
              <a:rPr lang="zh-TW" altLang="zh-TW" sz="1200" b="0" u="none" strike="noStrike" kern="1200" dirty="0">
                <a:solidFill>
                  <a:schemeClr val="tx1"/>
                </a:solidFill>
                <a:effectLst/>
                <a:latin typeface="+mn-lt"/>
                <a:ea typeface="+mn-ea"/>
                <a:cs typeface="+mn-cs"/>
              </a:rPr>
              <a:t>肖達 (Da Xiao)、孟慶業、李省平、袁行遠</a:t>
            </a:r>
            <a:r>
              <a:rPr lang="zh-TW" altLang="zh-TW" sz="1200" b="1" u="none" strike="noStrike" kern="1200" dirty="0">
                <a:solidFill>
                  <a:schemeClr val="tx1"/>
                </a:solidFill>
                <a:effectLst/>
                <a:latin typeface="+mn-lt"/>
                <a:ea typeface="+mn-ea"/>
                <a:cs typeface="+mn-cs"/>
              </a:rPr>
              <a:t>引入動態稠密</a:t>
            </a:r>
            <a:r>
              <a:rPr lang="zh-TW" altLang="zh-TW" sz="1200" b="0" u="none" strike="noStrike" kern="1200" dirty="0">
                <a:solidFill>
                  <a:schemeClr val="tx1"/>
                </a:solidFill>
                <a:effectLst/>
                <a:latin typeface="+mn-lt"/>
                <a:ea typeface="+mn-ea"/>
                <a:cs typeface="+mn-cs"/>
              </a:rPr>
              <a:t>：將 Transformer 的輸入切分為 4 個獨立流</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Q</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K</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V</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R</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並利用輕量化 MLP 依據 token 位置</a:t>
            </a:r>
            <a:r>
              <a:rPr lang="zh-TW" altLang="zh-TW" sz="1200" b="1" u="none" strike="noStrike" kern="1200" dirty="0">
                <a:solidFill>
                  <a:schemeClr val="tx1"/>
                </a:solidFill>
                <a:effectLst/>
                <a:latin typeface="+mn-lt"/>
                <a:ea typeface="+mn-ea"/>
                <a:cs typeface="+mn-cs"/>
              </a:rPr>
              <a:t>動態生成跨層稠密連接權重</a:t>
            </a:r>
            <a:r>
              <a:rPr lang="zh-TW" altLang="zh-TW" sz="1200" b="0" u="none" strike="noStrike" kern="1200" dirty="0">
                <a:solidFill>
                  <a:schemeClr val="tx1"/>
                </a:solidFill>
                <a:effectLst/>
                <a:latin typeface="+mn-lt"/>
                <a:ea typeface="+mn-ea"/>
                <a:cs typeface="+mn-cs"/>
              </a:rPr>
              <a:t>。</a:t>
            </a:r>
          </a:p>
          <a:p>
            <a:endParaRPr lang="en-US"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2026年 1月mHC</a:t>
            </a:r>
            <a:r>
              <a:rPr lang="zh-TW" altLang="zh-TW" sz="1200" b="0" u="none" strike="noStrike" kern="1200" dirty="0">
                <a:solidFill>
                  <a:schemeClr val="tx1"/>
                </a:solidFill>
                <a:effectLst/>
                <a:latin typeface="+mn-lt"/>
                <a:ea typeface="+mn-ea"/>
                <a:cs typeface="+mn-cs"/>
              </a:rPr>
              <a:t> </a:t>
            </a:r>
            <a:r>
              <a:rPr lang="en-US" altLang="zh-TW" sz="1200" b="0" u="none" strike="noStrike" kern="1200" dirty="0">
                <a:solidFill>
                  <a:schemeClr val="tx1"/>
                </a:solidFill>
                <a:effectLst/>
                <a:latin typeface="+mn-lt"/>
                <a:ea typeface="+mn-ea"/>
                <a:cs typeface="+mn-cs"/>
              </a:rPr>
              <a:t> </a:t>
            </a:r>
            <a:r>
              <a:rPr lang="zh-TW" altLang="zh-TW" sz="1200" b="0" i="1" u="none" strike="noStrike" kern="1200" dirty="0">
                <a:solidFill>
                  <a:schemeClr val="tx1"/>
                </a:solidFill>
                <a:effectLst/>
                <a:latin typeface="+mn-lt"/>
                <a:ea typeface="+mn-ea"/>
                <a:cs typeface="+mn-cs"/>
              </a:rPr>
              <a:t>(Manifold-Constrained HC)</a:t>
            </a:r>
            <a:r>
              <a:rPr lang="zh-TW" altLang="zh-TW" sz="1200" b="1" u="none" strike="noStrike" kern="1200" dirty="0">
                <a:solidFill>
                  <a:schemeClr val="tx1"/>
                </a:solidFill>
                <a:effectLst/>
                <a:latin typeface="+mn-lt"/>
                <a:ea typeface="+mn-ea"/>
                <a:cs typeface="+mn-cs"/>
              </a:rPr>
              <a:t>深度求索 (DeepSeek)</a:t>
            </a:r>
            <a:r>
              <a:rPr lang="zh-TW" altLang="zh-TW" sz="1200" b="0" u="none" strike="noStrike" kern="1200" dirty="0">
                <a:solidFill>
                  <a:schemeClr val="tx1"/>
                </a:solidFill>
                <a:effectLst/>
                <a:latin typeface="+mn-lt"/>
                <a:ea typeface="+mn-ea"/>
                <a:cs typeface="+mn-cs"/>
              </a:rPr>
              <a:t>謝振達、梁文峰等 (Xie et al.)</a:t>
            </a:r>
            <a:r>
              <a:rPr lang="zh-TW" altLang="zh-TW" sz="1200" b="1" u="none" strike="noStrike" kern="1200" dirty="0">
                <a:solidFill>
                  <a:schemeClr val="tx1"/>
                </a:solidFill>
                <a:effectLst/>
                <a:latin typeface="+mn-lt"/>
                <a:ea typeface="+mn-ea"/>
                <a:cs typeface="+mn-cs"/>
              </a:rPr>
              <a:t>加入數學約束</a:t>
            </a:r>
            <a:r>
              <a:rPr lang="zh-TW" altLang="zh-TW" sz="1200" b="0" u="none" strike="noStrike" kern="1200" dirty="0">
                <a:solidFill>
                  <a:schemeClr val="tx1"/>
                </a:solidFill>
                <a:effectLst/>
                <a:latin typeface="+mn-lt"/>
                <a:ea typeface="+mn-ea"/>
                <a:cs typeface="+mn-cs"/>
              </a:rPr>
              <a:t>：回歸數學本質，利用 Sinkhorn-Knopp 演算法將多流混合矩陣強制約束在一個「雙隨機流形」上，既保留多通道的表達力，又找回了 ResNet 訓練的穩定性。</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2026年 3月AttnRes</a:t>
            </a:r>
            <a:r>
              <a:rPr lang="zh-TW" altLang="zh-TW" sz="1200" b="0" u="none" strike="noStrike" kern="1200" dirty="0">
                <a:solidFill>
                  <a:schemeClr val="tx1"/>
                </a:solidFill>
                <a:effectLst/>
                <a:latin typeface="+mn-lt"/>
                <a:ea typeface="+mn-ea"/>
                <a:cs typeface="+mn-cs"/>
              </a:rPr>
              <a:t> </a:t>
            </a:r>
            <a:r>
              <a:rPr lang="zh-TW" altLang="zh-TW" sz="1200" b="0" i="1" u="none" strike="noStrike" kern="1200" dirty="0">
                <a:solidFill>
                  <a:schemeClr val="tx1"/>
                </a:solidFill>
                <a:effectLst/>
                <a:latin typeface="+mn-lt"/>
                <a:ea typeface="+mn-ea"/>
                <a:cs typeface="+mn-cs"/>
              </a:rPr>
              <a:t>(Attention Residuals)</a:t>
            </a:r>
            <a:r>
              <a:rPr lang="zh-TW" altLang="zh-TW" sz="1200" b="1" u="none" strike="noStrike" kern="1200" dirty="0">
                <a:solidFill>
                  <a:schemeClr val="tx1"/>
                </a:solidFill>
                <a:effectLst/>
                <a:latin typeface="+mn-lt"/>
                <a:ea typeface="+mn-ea"/>
                <a:cs typeface="+mn-cs"/>
              </a:rPr>
              <a:t>月之暗面 (Moonshot AI)</a:t>
            </a:r>
            <a:r>
              <a:rPr lang="zh-TW" altLang="zh-TW" sz="1200" b="0" u="none" strike="noStrike" kern="1200" dirty="0">
                <a:solidFill>
                  <a:schemeClr val="tx1"/>
                </a:solidFill>
                <a:effectLst/>
                <a:latin typeface="+mn-lt"/>
                <a:ea typeface="+mn-ea"/>
                <a:cs typeface="+mn-cs"/>
              </a:rPr>
              <a:t>陳廣宇、張宇、蘇劍林 (Kimi 團隊)</a:t>
            </a:r>
            <a:r>
              <a:rPr lang="zh-TW" altLang="zh-TW" sz="1200" b="1" u="none" strike="noStrike" kern="1200" dirty="0">
                <a:solidFill>
                  <a:schemeClr val="tx1"/>
                </a:solidFill>
                <a:effectLst/>
                <a:latin typeface="+mn-lt"/>
                <a:ea typeface="+mn-ea"/>
                <a:cs typeface="+mn-cs"/>
              </a:rPr>
              <a:t>終極注意力重構</a:t>
            </a:r>
            <a:r>
              <a:rPr lang="zh-TW" altLang="zh-TW" sz="1200" b="0" u="none" strike="noStrike" kern="1200" dirty="0">
                <a:solidFill>
                  <a:schemeClr val="tx1"/>
                </a:solidFill>
                <a:effectLst/>
                <a:latin typeface="+mn-lt"/>
                <a:ea typeface="+mn-ea"/>
                <a:cs typeface="+mn-cs"/>
              </a:rPr>
              <a:t>：提出深度與時間的對偶性，徹底拋棄硬相加，改用 </a:t>
            </a:r>
            <a:r>
              <a:rPr lang="zh-TW" altLang="zh-TW" sz="1200" b="1" u="none" strike="noStrike" kern="1200" dirty="0">
                <a:solidFill>
                  <a:schemeClr val="tx1"/>
                </a:solidFill>
                <a:effectLst/>
                <a:latin typeface="+mn-lt"/>
                <a:ea typeface="+mn-ea"/>
                <a:cs typeface="+mn-cs"/>
              </a:rPr>
              <a:t>Softmax Attention</a:t>
            </a:r>
            <a:r>
              <a:rPr lang="zh-TW" altLang="zh-TW" sz="1200" b="0" u="none" strike="noStrike" kern="1200" dirty="0">
                <a:solidFill>
                  <a:schemeClr val="tx1"/>
                </a:solidFill>
                <a:effectLst/>
                <a:latin typeface="+mn-lt"/>
                <a:ea typeface="+mn-ea"/>
                <a:cs typeface="+mn-cs"/>
              </a:rPr>
              <a:t> 機制，讓深層網路能像翻書查資料一樣，主動且具選擇性地撈取前面任意層的特徵，並以 Block AttnRes 成功商用落地。</a:t>
            </a:r>
          </a:p>
          <a:p>
            <a:endParaRPr lang="en-US" altLang="zh-TW" sz="1200" b="0" u="none" strike="noStrike" kern="1200" dirty="0">
              <a:solidFill>
                <a:schemeClr val="tx1"/>
              </a:solidFill>
              <a:effectLst/>
              <a:latin typeface="+mn-lt"/>
              <a:ea typeface="+mn-ea"/>
              <a:cs typeface="+mn-cs"/>
            </a:endParaRPr>
          </a:p>
          <a:p>
            <a:r>
              <a:rPr lang="zh-TW" altLang="zh-TW" sz="1200" b="0" u="none" strike="noStrike" kern="1200" dirty="0">
                <a:solidFill>
                  <a:schemeClr val="tx1"/>
                </a:solidFill>
                <a:effectLst/>
                <a:latin typeface="+mn-lt"/>
                <a:ea typeface="+mn-ea"/>
                <a:cs typeface="+mn-cs"/>
              </a:rPr>
              <a:t>這十年的技術演進，本質上是將殘差連線從</a:t>
            </a:r>
            <a:r>
              <a:rPr lang="zh-TW" altLang="zh-TW" sz="1200" b="1" u="none" strike="noStrike" kern="1200" dirty="0">
                <a:solidFill>
                  <a:schemeClr val="tx1"/>
                </a:solidFill>
                <a:effectLst/>
                <a:latin typeface="+mn-lt"/>
                <a:ea typeface="+mn-ea"/>
                <a:cs typeface="+mn-cs"/>
              </a:rPr>
              <a:t>「靜態、死板的等權重相加」</a:t>
            </a:r>
            <a:r>
              <a:rPr lang="zh-TW" altLang="zh-TW" sz="1200" b="0" u="none" strike="noStrike" kern="1200" dirty="0">
                <a:solidFill>
                  <a:schemeClr val="tx1"/>
                </a:solidFill>
                <a:effectLst/>
                <a:latin typeface="+mn-lt"/>
                <a:ea typeface="+mn-ea"/>
                <a:cs typeface="+mn-cs"/>
              </a:rPr>
              <a:t>逐步轉化為</a:t>
            </a:r>
            <a:r>
              <a:rPr lang="zh-TW" altLang="zh-TW" sz="1200" b="1" u="none" strike="noStrike" kern="1200" dirty="0">
                <a:solidFill>
                  <a:schemeClr val="tx1"/>
                </a:solidFill>
                <a:effectLst/>
                <a:latin typeface="+mn-lt"/>
                <a:ea typeface="+mn-ea"/>
                <a:cs typeface="+mn-cs"/>
              </a:rPr>
              <a:t>「動態、可學習的條件聚合」</a:t>
            </a:r>
            <a:r>
              <a:rPr lang="zh-TW" altLang="zh-TW" sz="1200" b="0" u="none" strike="noStrike" kern="1200" dirty="0">
                <a:solidFill>
                  <a:schemeClr val="tx1"/>
                </a:solidFill>
                <a:effectLst/>
                <a:latin typeface="+mn-lt"/>
                <a:ea typeface="+mn-ea"/>
                <a:cs typeface="+mn-cs"/>
              </a:rPr>
              <a:t>。</a:t>
            </a:r>
          </a:p>
          <a:p>
            <a:pPr lvl="0"/>
            <a:r>
              <a:rPr lang="zh-TW" altLang="zh-TW" sz="1200" b="1" u="none" strike="noStrike" kern="1200" dirty="0">
                <a:solidFill>
                  <a:schemeClr val="tx1"/>
                </a:solidFill>
                <a:effectLst/>
                <a:latin typeface="+mn-lt"/>
                <a:ea typeface="+mn-ea"/>
                <a:cs typeface="+mn-cs"/>
              </a:rPr>
              <a:t>微軟</a:t>
            </a:r>
            <a:r>
              <a:rPr lang="zh-TW" altLang="zh-TW" sz="1200" b="0" u="none" strike="noStrike" kern="1200" dirty="0">
                <a:solidFill>
                  <a:schemeClr val="tx1"/>
                </a:solidFill>
                <a:effectLst/>
                <a:latin typeface="+mn-lt"/>
                <a:ea typeface="+mn-ea"/>
                <a:cs typeface="+mn-cs"/>
              </a:rPr>
              <a:t>給了世界一條不會斷的梯度導線；</a:t>
            </a:r>
          </a:p>
          <a:p>
            <a:pPr lvl="0"/>
            <a:r>
              <a:rPr lang="zh-TW" altLang="zh-TW" sz="1200" b="1" u="none" strike="noStrike" kern="1200" dirty="0">
                <a:solidFill>
                  <a:schemeClr val="tx1"/>
                </a:solidFill>
                <a:effectLst/>
                <a:latin typeface="+mn-lt"/>
                <a:ea typeface="+mn-ea"/>
                <a:cs typeface="+mn-cs"/>
              </a:rPr>
              <a:t>字節跳動</a:t>
            </a:r>
            <a:r>
              <a:rPr lang="zh-TW" altLang="zh-TW" sz="1200" b="0" u="none" strike="noStrike" kern="1200" dirty="0">
                <a:solidFill>
                  <a:schemeClr val="tx1"/>
                </a:solidFill>
                <a:effectLst/>
                <a:latin typeface="+mn-lt"/>
                <a:ea typeface="+mn-ea"/>
                <a:cs typeface="+mn-cs"/>
              </a:rPr>
              <a:t>與</a:t>
            </a:r>
            <a:r>
              <a:rPr lang="zh-TW" altLang="zh-TW" sz="1200" b="1" u="none" strike="noStrike" kern="1200" dirty="0">
                <a:solidFill>
                  <a:schemeClr val="tx1"/>
                </a:solidFill>
                <a:effectLst/>
                <a:latin typeface="+mn-lt"/>
                <a:ea typeface="+mn-ea"/>
                <a:cs typeface="+mn-cs"/>
              </a:rPr>
              <a:t>北郵/彩雲科技</a:t>
            </a:r>
            <a:r>
              <a:rPr lang="zh-TW" altLang="zh-TW" sz="1200" b="0" u="none" strike="noStrike" kern="1200" dirty="0">
                <a:solidFill>
                  <a:schemeClr val="tx1"/>
                </a:solidFill>
                <a:effectLst/>
                <a:latin typeface="+mn-lt"/>
                <a:ea typeface="+mn-ea"/>
                <a:cs typeface="+mn-cs"/>
              </a:rPr>
              <a:t>嘗試把導線變成多條、並加入權重預測；</a:t>
            </a:r>
          </a:p>
          <a:p>
            <a:pPr lvl="0"/>
            <a:r>
              <a:rPr lang="zh-TW" altLang="zh-TW" sz="1200" b="1" u="none" strike="noStrike" kern="1200" dirty="0">
                <a:solidFill>
                  <a:schemeClr val="tx1"/>
                </a:solidFill>
                <a:effectLst/>
                <a:latin typeface="+mn-lt"/>
                <a:ea typeface="+mn-ea"/>
                <a:cs typeface="+mn-cs"/>
              </a:rPr>
              <a:t>DeepSeek</a:t>
            </a:r>
            <a:r>
              <a:rPr lang="zh-TW" altLang="zh-TW" sz="1200" b="0" u="none" strike="noStrike" kern="1200" dirty="0">
                <a:solidFill>
                  <a:schemeClr val="tx1"/>
                </a:solidFill>
                <a:effectLst/>
                <a:latin typeface="+mn-lt"/>
                <a:ea typeface="+mn-ea"/>
                <a:cs typeface="+mn-cs"/>
              </a:rPr>
              <a:t> 透過精妙的數學流形約束確保了這套多線路權重的穩定運作；</a:t>
            </a:r>
          </a:p>
          <a:p>
            <a:pPr lvl="0"/>
            <a:r>
              <a:rPr lang="zh-TW" altLang="zh-TW" sz="1200" b="1" u="none" strike="noStrike" kern="1200" dirty="0">
                <a:solidFill>
                  <a:schemeClr val="tx1"/>
                </a:solidFill>
                <a:effectLst/>
                <a:latin typeface="+mn-lt"/>
                <a:ea typeface="+mn-ea"/>
                <a:cs typeface="+mn-cs"/>
              </a:rPr>
              <a:t>Kimi 團隊</a:t>
            </a:r>
            <a:r>
              <a:rPr lang="zh-TW" altLang="zh-TW" sz="1200" b="0" u="none" strike="noStrike" kern="1200" dirty="0">
                <a:solidFill>
                  <a:schemeClr val="tx1"/>
                </a:solidFill>
                <a:effectLst/>
                <a:latin typeface="+mn-lt"/>
                <a:ea typeface="+mn-ea"/>
                <a:cs typeface="+mn-cs"/>
              </a:rPr>
              <a:t>則巧妙地用 Attention 機制一統江山，完成了殘差架構這十年來最激進也最優雅的一次底層重構。</a:t>
            </a:r>
          </a:p>
          <a:p>
            <a:endParaRPr lang="en-US" altLang="zh-TW" dirty="0"/>
          </a:p>
          <a:p>
            <a:endParaRPr lang="en-US" altLang="zh-TW" sz="1200" b="0" u="none" strike="noStrike" kern="1200" dirty="0">
              <a:solidFill>
                <a:schemeClr val="tx1"/>
              </a:solidFill>
              <a:effectLst/>
              <a:latin typeface="+mn-lt"/>
              <a:ea typeface="+mn-ea"/>
              <a:cs typeface="+mn-cs"/>
            </a:endParaRPr>
          </a:p>
          <a:p>
            <a:r>
              <a:rPr lang="en-US" altLang="zh-TW" sz="1200" b="1"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全面替代派</a:t>
            </a:r>
            <a:endParaRPr lang="en-US" altLang="zh-TW" sz="1200" b="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200" b="0" u="none" strike="noStrike" kern="1200" dirty="0">
                <a:solidFill>
                  <a:schemeClr val="tx1"/>
                </a:solidFill>
                <a:effectLst/>
                <a:latin typeface="+mn-lt"/>
                <a:ea typeface="+mn-ea"/>
                <a:cs typeface="+mn-cs"/>
              </a:rPr>
              <a:t>Moonshot 在 </a:t>
            </a:r>
            <a:r>
              <a:rPr lang="zh-TW" altLang="zh-TW" sz="1200" b="1" u="none" strike="noStrike" kern="1200" dirty="0">
                <a:solidFill>
                  <a:schemeClr val="tx1"/>
                </a:solidFill>
                <a:effectLst/>
                <a:latin typeface="+mn-lt"/>
                <a:ea typeface="+mn-ea"/>
                <a:cs typeface="+mn-cs"/>
              </a:rPr>
              <a:t>2025 年 10 月</a:t>
            </a:r>
            <a:r>
              <a:rPr lang="zh-TW" altLang="zh-TW" sz="1200" b="0" u="none" strike="noStrike" kern="1200" dirty="0">
                <a:solidFill>
                  <a:schemeClr val="tx1"/>
                </a:solidFill>
                <a:effectLst/>
                <a:latin typeface="+mn-lt"/>
                <a:ea typeface="+mn-ea"/>
                <a:cs typeface="+mn-cs"/>
              </a:rPr>
              <a:t> 發表關於 </a:t>
            </a:r>
            <a:r>
              <a:rPr lang="zh-TW" altLang="zh-TW" sz="1200" b="1" u="none" strike="noStrike" kern="1200" dirty="0">
                <a:solidFill>
                  <a:schemeClr val="tx1"/>
                </a:solidFill>
                <a:effectLst/>
                <a:latin typeface="+mn-lt"/>
                <a:ea typeface="+mn-ea"/>
                <a:cs typeface="+mn-cs"/>
              </a:rPr>
              <a:t>Kimi Linear</a:t>
            </a:r>
            <a:r>
              <a:rPr lang="zh-TW" altLang="zh-TW" sz="1200" b="0" u="none" strike="noStrike" kern="1200" dirty="0">
                <a:solidFill>
                  <a:schemeClr val="tx1"/>
                </a:solidFill>
                <a:effectLst/>
                <a:latin typeface="+mn-lt"/>
                <a:ea typeface="+mn-ea"/>
                <a:cs typeface="+mn-cs"/>
              </a:rPr>
              <a:t> 的技術論文。</a:t>
            </a:r>
            <a:r>
              <a:rPr lang="zh-TW" altLang="zh-TW" dirty="0"/>
              <a:t>將 NoPE 概念推向了更極致的 Everywhere 階段。</a:t>
            </a:r>
            <a:endParaRPr lang="zh-TW" altLang="zh-TW" sz="1200" b="0" u="none" strike="noStrike" kern="1200" dirty="0">
              <a:solidFill>
                <a:schemeClr val="tx1"/>
              </a:solidFill>
              <a:effectLst/>
              <a:latin typeface="+mn-lt"/>
              <a:ea typeface="+mn-ea"/>
              <a:cs typeface="+mn-cs"/>
            </a:endParaRPr>
          </a:p>
          <a:p>
            <a:pPr lvl="0"/>
            <a:r>
              <a:rPr lang="zh-TW" altLang="zh-TW" sz="1200" b="1" u="none" strike="noStrike" kern="1200" dirty="0">
                <a:solidFill>
                  <a:schemeClr val="tx1"/>
                </a:solidFill>
                <a:effectLst/>
                <a:latin typeface="+mn-lt"/>
                <a:ea typeface="+mn-ea"/>
                <a:cs typeface="+mn-cs"/>
              </a:rPr>
              <a:t>承接與進化：</a:t>
            </a:r>
            <a:r>
              <a:rPr lang="zh-TW" altLang="zh-TW" sz="1200" b="0" u="none" strike="noStrike" kern="1200" dirty="0">
                <a:solidFill>
                  <a:schemeClr val="tx1"/>
                </a:solidFill>
                <a:effectLst/>
                <a:latin typeface="+mn-lt"/>
                <a:ea typeface="+mn-ea"/>
                <a:cs typeface="+mn-cs"/>
              </a:rPr>
              <a:t> Kimi 在設計其線性注意力（Linear Attention）時</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Kimi 研發了全新的 KDA</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Kimi Delta Attention</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機制來隱式處理位置資訊，他們在部分層中直接將位置編碼完全剝離，實現了比 DeepSeek 更激進的「全 NoPE」設計（NoPE for MLA layers）。</a:t>
            </a:r>
          </a:p>
          <a:p>
            <a:endParaRPr lang="en-US" altLang="zh-TW" dirty="0"/>
          </a:p>
          <a:p>
            <a:pPr lvl="0"/>
            <a:r>
              <a:rPr lang="en-US" altLang="zh-TW" sz="1200" b="1"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Kimi / Moonshot：做法：</a:t>
            </a:r>
            <a:r>
              <a:rPr lang="zh-TW" altLang="zh-TW" sz="1200" b="0" u="none" strike="noStrike" kern="1200" dirty="0">
                <a:solidFill>
                  <a:schemeClr val="tx1"/>
                </a:solidFill>
                <a:effectLst/>
                <a:latin typeface="+mn-lt"/>
                <a:ea typeface="+mn-ea"/>
                <a:cs typeface="+mn-cs"/>
              </a:rPr>
              <a:t> 在 </a:t>
            </a:r>
            <a:r>
              <a:rPr lang="zh-TW" altLang="zh-TW" sz="1200" b="1" u="none" strike="noStrike" kern="1200" dirty="0">
                <a:solidFill>
                  <a:schemeClr val="tx1"/>
                </a:solidFill>
                <a:effectLst/>
                <a:latin typeface="+mn-lt"/>
                <a:ea typeface="+mn-ea"/>
                <a:cs typeface="+mn-cs"/>
              </a:rPr>
              <a:t>Kimi Linear</a:t>
            </a:r>
            <a:r>
              <a:rPr lang="zh-TW" altLang="zh-TW" sz="1200" b="0" u="none" strike="noStrike" kern="1200" dirty="0">
                <a:solidFill>
                  <a:schemeClr val="tx1"/>
                </a:solidFill>
                <a:effectLst/>
                <a:latin typeface="+mn-lt"/>
                <a:ea typeface="+mn-ea"/>
                <a:cs typeface="+mn-cs"/>
              </a:rPr>
              <a:t> 或最新的旗艦 </a:t>
            </a:r>
            <a:r>
              <a:rPr lang="zh-TW" altLang="zh-TW" sz="1200" b="1" u="none" strike="noStrike" kern="1200" dirty="0">
                <a:solidFill>
                  <a:schemeClr val="tx1"/>
                </a:solidFill>
                <a:effectLst/>
                <a:latin typeface="+mn-lt"/>
                <a:ea typeface="+mn-ea"/>
                <a:cs typeface="+mn-cs"/>
              </a:rPr>
              <a:t>Kimi K3</a:t>
            </a:r>
            <a:r>
              <a:rPr lang="zh-TW" altLang="zh-TW" sz="1200" b="0" u="none" strike="noStrike" kern="1200" dirty="0">
                <a:solidFill>
                  <a:schemeClr val="tx1"/>
                </a:solidFill>
                <a:effectLst/>
                <a:latin typeface="+mn-lt"/>
                <a:ea typeface="+mn-ea"/>
                <a:cs typeface="+mn-cs"/>
              </a:rPr>
              <a:t> 中，直接徹底拔除了傳統的 RoPE 旋轉位置編碼層，大膽做到 </a:t>
            </a:r>
            <a:r>
              <a:rPr lang="zh-TW" altLang="zh-TW" sz="1200" b="1" u="none" strike="noStrike" kern="1200" dirty="0">
                <a:solidFill>
                  <a:schemeClr val="tx1"/>
                </a:solidFill>
                <a:effectLst/>
                <a:latin typeface="+mn-lt"/>
                <a:ea typeface="+mn-ea"/>
                <a:cs typeface="+mn-cs"/>
              </a:rPr>
              <a:t>NoPE Everywhere</a:t>
            </a:r>
            <a:r>
              <a:rPr lang="en-US" altLang="zh-TW" sz="1200" b="1"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全模型或全全域層皆為 NoPE</a:t>
            </a:r>
            <a:r>
              <a:rPr lang="en-US" altLang="zh-TW" sz="1200" b="1"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a:t>
            </a:r>
          </a:p>
          <a:p>
            <a:pPr lvl="0"/>
            <a:r>
              <a:rPr lang="zh-TW" altLang="zh-TW" sz="1200" b="1" u="none" strike="noStrike" kern="1200" dirty="0">
                <a:solidFill>
                  <a:schemeClr val="tx1"/>
                </a:solidFill>
                <a:effectLst/>
                <a:latin typeface="+mn-lt"/>
                <a:ea typeface="+mn-ea"/>
                <a:cs typeface="+mn-cs"/>
              </a:rPr>
              <a:t>邏輯：</a:t>
            </a:r>
            <a:r>
              <a:rPr lang="zh-TW" altLang="zh-TW" sz="1200" b="0" u="none" strike="noStrike" kern="1200" dirty="0">
                <a:solidFill>
                  <a:schemeClr val="tx1"/>
                </a:solidFill>
                <a:effectLst/>
                <a:latin typeface="+mn-lt"/>
                <a:ea typeface="+mn-ea"/>
                <a:cs typeface="+mn-cs"/>
              </a:rPr>
              <a:t> 既然叫 NoPE，這幾層就真的</a:t>
            </a:r>
            <a:r>
              <a:rPr lang="zh-TW" altLang="zh-TW" sz="1200" b="1" u="none" strike="noStrike" kern="1200" dirty="0">
                <a:solidFill>
                  <a:schemeClr val="tx1"/>
                </a:solidFill>
                <a:effectLst/>
                <a:latin typeface="+mn-lt"/>
                <a:ea typeface="+mn-ea"/>
                <a:cs typeface="+mn-cs"/>
              </a:rPr>
              <a:t>完全沒有任何顯式的位置編碼</a:t>
            </a:r>
            <a:r>
              <a:rPr lang="zh-TW" altLang="zh-TW" sz="1200" b="0" u="none" strike="noStrike" kern="1200" dirty="0">
                <a:solidFill>
                  <a:schemeClr val="tx1"/>
                </a:solidFill>
                <a:effectLst/>
                <a:latin typeface="+mn-lt"/>
                <a:ea typeface="+mn-ea"/>
                <a:cs typeface="+mn-cs"/>
              </a:rPr>
              <a:t>。Kimi 改用自研的 </a:t>
            </a:r>
            <a:r>
              <a:rPr lang="zh-TW" altLang="zh-TW" sz="1200" b="1" u="none" strike="noStrike" kern="1200" dirty="0">
                <a:solidFill>
                  <a:schemeClr val="tx1"/>
                </a:solidFill>
                <a:effectLst/>
                <a:latin typeface="+mn-lt"/>
                <a:ea typeface="+mn-ea"/>
                <a:cs typeface="+mn-cs"/>
              </a:rPr>
              <a:t>KDA（Kimi Delta Attention）</a:t>
            </a:r>
            <a:r>
              <a:rPr lang="zh-TW" altLang="zh-TW" sz="1200" b="0" u="none" strike="noStrike" kern="1200" dirty="0">
                <a:solidFill>
                  <a:schemeClr val="tx1"/>
                </a:solidFill>
                <a:effectLst/>
                <a:latin typeface="+mn-lt"/>
                <a:ea typeface="+mn-ea"/>
                <a:cs typeface="+mn-cs"/>
              </a:rPr>
              <a:t> 機制。KDA 具有種類似循環神經網絡（RNN）的衰減閘門</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Decay Gate</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會隨著序列長度動態調整時間尺度（Timescales）。</a:t>
            </a:r>
          </a:p>
          <a:p>
            <a:pPr lvl="0"/>
            <a:r>
              <a:rPr lang="zh-TW" altLang="zh-TW" sz="1200" b="1" u="none" strike="noStrike" kern="1200" dirty="0">
                <a:solidFill>
                  <a:schemeClr val="tx1"/>
                </a:solidFill>
                <a:effectLst/>
                <a:latin typeface="+mn-lt"/>
                <a:ea typeface="+mn-ea"/>
                <a:cs typeface="+mn-cs"/>
              </a:rPr>
              <a:t>定位：</a:t>
            </a:r>
            <a:r>
              <a:rPr lang="zh-TW" altLang="zh-TW" sz="1200" b="0" u="none" strike="noStrike" kern="1200" dirty="0">
                <a:solidFill>
                  <a:schemeClr val="tx1"/>
                </a:solidFill>
                <a:effectLst/>
                <a:latin typeface="+mn-lt"/>
                <a:ea typeface="+mn-ea"/>
                <a:cs typeface="+mn-cs"/>
              </a:rPr>
              <a:t> Kimi 的 NoPE 是一場</a:t>
            </a:r>
            <a:r>
              <a:rPr lang="zh-TW" altLang="zh-TW" sz="1200" b="1" u="none" strike="noStrike" kern="1200" dirty="0">
                <a:solidFill>
                  <a:schemeClr val="tx1"/>
                </a:solidFill>
                <a:effectLst/>
                <a:latin typeface="+mn-lt"/>
                <a:ea typeface="+mn-ea"/>
                <a:cs typeface="+mn-cs"/>
              </a:rPr>
              <a:t>對注意力機制的根本性簡化</a:t>
            </a:r>
            <a:endParaRPr lang="zh-TW" altLang="zh-TW" sz="1200" b="0" u="none" strike="noStrike" kern="1200" dirty="0">
              <a:solidFill>
                <a:schemeClr val="tx1"/>
              </a:solidFill>
              <a:effectLst/>
              <a:latin typeface="+mn-lt"/>
              <a:ea typeface="+mn-ea"/>
              <a:cs typeface="+mn-cs"/>
            </a:endParaRPr>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18</a:t>
            </a:fld>
            <a:endParaRPr lang="zh-TW" altLang="en-US"/>
          </a:p>
        </p:txBody>
      </p:sp>
    </p:spTree>
    <p:extLst>
      <p:ext uri="{BB962C8B-B14F-4D97-AF65-F5344CB8AC3E}">
        <p14:creationId xmlns:p14="http://schemas.microsoft.com/office/powerpoint/2010/main" val="6669671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55B09-3B3A-04FC-B910-FD514564E8D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397D7B1-3963-C2C0-8936-531A5502EA3F}"/>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2D87AC4C-85F7-140D-7FC7-B8BF07EEF986}"/>
              </a:ext>
            </a:extLst>
          </p:cNvPr>
          <p:cNvSpPr>
            <a:spLocks noGrp="1"/>
          </p:cNvSpPr>
          <p:nvPr>
            <p:ph type="body" idx="1"/>
          </p:nvPr>
        </p:nvSpPr>
        <p:spPr/>
        <p:txBody>
          <a:bodyPr/>
          <a:lstStyle/>
          <a:p>
            <a:r>
              <a:rPr lang="zh-TW" altLang="zh-TW" dirty="0"/>
              <a:t>在傳統的 Transformer 架構中，模型運作會面臨兩個維度的資訊損耗：</a:t>
            </a:r>
            <a:endParaRPr lang="en-US" altLang="zh-TW" dirty="0"/>
          </a:p>
          <a:p>
            <a:r>
              <a:rPr lang="zh-TW" altLang="zh-TW" dirty="0"/>
              <a:t>一個是文字序列越長，記憶體越容易爆掉（水平瓶頸）；</a:t>
            </a:r>
            <a:endParaRPr lang="en-US" altLang="zh-TW" dirty="0"/>
          </a:p>
          <a:p>
            <a:r>
              <a:rPr lang="zh-TW" altLang="zh-TW" dirty="0"/>
              <a:t>另一個是神經網路層數越深，早期的重要訊號越容易被後面的層沖淡（垂直瓶頸）。</a:t>
            </a:r>
            <a:endParaRPr lang="en-US" altLang="zh-TW" dirty="0"/>
          </a:p>
          <a:p>
            <a:r>
              <a:rPr lang="zh-TW" altLang="zh-TW" dirty="0"/>
              <a:t>Kimi 的解法是將「注意力機制」同時應用在這兩個維度：</a:t>
            </a:r>
            <a:endParaRPr lang="zh-TW" altLang="en-US" dirty="0"/>
          </a:p>
        </p:txBody>
      </p:sp>
      <p:sp>
        <p:nvSpPr>
          <p:cNvPr id="4" name="投影片編號版面配置區 3">
            <a:extLst>
              <a:ext uri="{FF2B5EF4-FFF2-40B4-BE49-F238E27FC236}">
                <a16:creationId xmlns:a16="http://schemas.microsoft.com/office/drawing/2014/main" id="{72BCDD50-3061-C594-041C-9330E755B76F}"/>
              </a:ext>
            </a:extLst>
          </p:cNvPr>
          <p:cNvSpPr>
            <a:spLocks noGrp="1"/>
          </p:cNvSpPr>
          <p:nvPr>
            <p:ph type="sldNum" sz="quarter" idx="5"/>
          </p:nvPr>
        </p:nvSpPr>
        <p:spPr/>
        <p:txBody>
          <a:bodyPr/>
          <a:lstStyle/>
          <a:p>
            <a:fld id="{E3A6CE5E-F349-486D-8749-82EF2AD71FA8}" type="slidenum">
              <a:rPr lang="zh-TW" altLang="en-US" smtClean="0"/>
              <a:t>22</a:t>
            </a:fld>
            <a:endParaRPr lang="zh-TW" altLang="en-US"/>
          </a:p>
        </p:txBody>
      </p:sp>
    </p:spTree>
    <p:extLst>
      <p:ext uri="{BB962C8B-B14F-4D97-AF65-F5344CB8AC3E}">
        <p14:creationId xmlns:p14="http://schemas.microsoft.com/office/powerpoint/2010/main" val="34022479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en-US" altLang="zh-TW" sz="1200" b="1" u="none" strike="noStrike" kern="1200" dirty="0">
                <a:solidFill>
                  <a:schemeClr val="tx1"/>
                </a:solidFill>
                <a:effectLst/>
                <a:latin typeface="+mn-lt"/>
                <a:ea typeface="+mn-ea"/>
                <a:cs typeface="+mn-cs"/>
              </a:rPr>
              <a:t>1. </a:t>
            </a:r>
            <a:r>
              <a:rPr lang="zh-TW" altLang="zh-TW" sz="1200" b="1" u="none" strike="noStrike" kern="1200" dirty="0">
                <a:solidFill>
                  <a:schemeClr val="tx1"/>
                </a:solidFill>
                <a:effectLst/>
                <a:latin typeface="+mn-lt"/>
                <a:ea typeface="+mn-ea"/>
                <a:cs typeface="+mn-cs"/>
              </a:rPr>
              <a:t>理論基礎的奠定者（2022年）</a:t>
            </a:r>
          </a:p>
          <a:p>
            <a:pPr lvl="0"/>
            <a:r>
              <a:rPr lang="zh-TW" altLang="zh-TW" sz="1200" b="1" u="none" strike="noStrike" kern="1200" dirty="0">
                <a:solidFill>
                  <a:schemeClr val="tx1"/>
                </a:solidFill>
                <a:effectLst/>
                <a:latin typeface="+mn-lt"/>
                <a:ea typeface="+mn-ea"/>
                <a:cs typeface="+mn-cs"/>
              </a:rPr>
              <a:t>提出團隊</a:t>
            </a:r>
            <a:r>
              <a:rPr lang="zh-TW" altLang="zh-TW"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特拉維夫大學（Tel Aviv University）與 Meta AI</a:t>
            </a:r>
            <a:r>
              <a:rPr lang="zh-TW" altLang="zh-TW" sz="1200" b="0" u="none" strike="noStrike" kern="1200" dirty="0">
                <a:solidFill>
                  <a:schemeClr val="tx1"/>
                </a:solidFill>
                <a:effectLst/>
                <a:latin typeface="+mn-lt"/>
                <a:ea typeface="+mn-ea"/>
                <a:cs typeface="+mn-cs"/>
              </a:rPr>
              <a:t>（由 Adi Haviv、Ori Ram、Ofir Press、Peter Izsak 和 Omer Levy 等人組成）。 </a:t>
            </a:r>
          </a:p>
          <a:p>
            <a:pPr lvl="0"/>
            <a:r>
              <a:rPr lang="zh-TW" altLang="zh-TW" sz="1200" b="1" u="none" strike="noStrike" kern="1200" dirty="0">
                <a:solidFill>
                  <a:schemeClr val="tx1"/>
                </a:solidFill>
                <a:effectLst/>
                <a:latin typeface="+mn-lt"/>
                <a:ea typeface="+mn-ea"/>
                <a:cs typeface="+mn-cs"/>
              </a:rPr>
              <a:t>代表論文</a:t>
            </a:r>
            <a:r>
              <a:rPr lang="zh-TW" altLang="zh-TW" sz="1200" b="0" u="none" strike="noStrike" kern="1200" dirty="0">
                <a:solidFill>
                  <a:schemeClr val="tx1"/>
                </a:solidFill>
                <a:effectLst/>
                <a:latin typeface="+mn-lt"/>
                <a:ea typeface="+mn-ea"/>
                <a:cs typeface="+mn-cs"/>
              </a:rPr>
              <a:t>：發表於 EMNLP 2022 的 </a:t>
            </a:r>
            <a:r>
              <a:rPr lang="zh-TW" altLang="zh-TW" sz="1200" b="0" i="1" u="none" strike="noStrike" kern="1200" dirty="0">
                <a:solidFill>
                  <a:schemeClr val="tx1"/>
                </a:solidFill>
                <a:effectLst/>
                <a:latin typeface="+mn-lt"/>
                <a:ea typeface="+mn-ea"/>
                <a:cs typeface="+mn-cs"/>
              </a:rPr>
              <a:t>《Transformer Language Models without Positional Encodings Still Learn Positional Information》</a:t>
            </a:r>
            <a:r>
              <a:rPr lang="zh-TW" altLang="zh-TW" sz="1200" b="0" u="none" strike="noStrike" kern="1200" dirty="0">
                <a:solidFill>
                  <a:schemeClr val="tx1"/>
                </a:solidFill>
                <a:effectLst/>
                <a:latin typeface="+mn-lt"/>
                <a:ea typeface="+mn-ea"/>
                <a:cs typeface="+mn-cs"/>
              </a:rPr>
              <a:t>。 </a:t>
            </a:r>
          </a:p>
          <a:p>
            <a:pPr lvl="0"/>
            <a:r>
              <a:rPr lang="zh-TW" altLang="zh-TW" sz="1200" b="1" u="none" strike="noStrike" kern="1200" dirty="0">
                <a:solidFill>
                  <a:schemeClr val="tx1"/>
                </a:solidFill>
                <a:effectLst/>
                <a:latin typeface="+mn-lt"/>
                <a:ea typeface="+mn-ea"/>
                <a:cs typeface="+mn-cs"/>
              </a:rPr>
              <a:t>核心貢獻</a:t>
            </a:r>
            <a:r>
              <a:rPr lang="zh-TW" altLang="zh-TW" sz="1200" b="0" u="none" strike="noStrike" kern="1200" dirty="0">
                <a:solidFill>
                  <a:schemeClr val="tx1"/>
                </a:solidFill>
                <a:effectLst/>
                <a:latin typeface="+mn-lt"/>
                <a:ea typeface="+mn-ea"/>
                <a:cs typeface="+mn-cs"/>
              </a:rPr>
              <a:t>：他們首度證實，自迴歸（Decoder-only）架構中的</a:t>
            </a:r>
            <a:r>
              <a:rPr lang="zh-TW" altLang="zh-TW" sz="1200" b="1" u="none" strike="noStrike" kern="1200" dirty="0">
                <a:solidFill>
                  <a:schemeClr val="tx1"/>
                </a:solidFill>
                <a:effectLst/>
                <a:latin typeface="+mn-lt"/>
                <a:ea typeface="+mn-ea"/>
                <a:cs typeface="+mn-cs"/>
              </a:rPr>
              <a:t>因果遮罩（Causal Mask）本身就會漏出時序訊號</a:t>
            </a:r>
            <a:r>
              <a:rPr lang="zh-TW" altLang="zh-TW" sz="1200" b="0" u="none" strike="noStrike" kern="1200" dirty="0">
                <a:solidFill>
                  <a:schemeClr val="tx1"/>
                </a:solidFill>
                <a:effectLst/>
                <a:latin typeface="+mn-lt"/>
                <a:ea typeface="+mn-ea"/>
                <a:cs typeface="+mn-cs"/>
              </a:rPr>
              <a:t>。即使完全不加位置編碼，模型也能隱式學會絕對位置，打破了「Transformer 必須依賴顯式位置編碼」的傳統工程思維。</a:t>
            </a:r>
          </a:p>
          <a:p>
            <a:r>
              <a:rPr lang="zh-TW" altLang="zh-TW" sz="1200" b="1" u="none" strike="noStrike" kern="1200" dirty="0">
                <a:solidFill>
                  <a:schemeClr val="tx1"/>
                </a:solidFill>
                <a:effectLst/>
                <a:latin typeface="+mn-lt"/>
                <a:ea typeface="+mn-ea"/>
                <a:cs typeface="+mn-cs"/>
              </a:rPr>
              <a:t>2. 「NoPE」縮寫的明確定義與實證（2023年）</a:t>
            </a:r>
          </a:p>
          <a:p>
            <a:pPr lvl="0"/>
            <a:r>
              <a:rPr lang="zh-TW" altLang="zh-TW" sz="1200" b="1" u="none" strike="noStrike" kern="1200" dirty="0">
                <a:solidFill>
                  <a:schemeClr val="tx1"/>
                </a:solidFill>
                <a:effectLst/>
                <a:latin typeface="+mn-lt"/>
                <a:ea typeface="+mn-ea"/>
                <a:cs typeface="+mn-cs"/>
              </a:rPr>
              <a:t>提出團隊</a:t>
            </a:r>
            <a:r>
              <a:rPr lang="zh-TW" altLang="zh-TW"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阿姆斯特丹大學（University of Amsterdam）</a:t>
            </a:r>
            <a:r>
              <a:rPr lang="zh-TW" altLang="zh-TW" sz="1200" b="0" u="none" strike="noStrike" kern="1200" dirty="0">
                <a:solidFill>
                  <a:schemeClr val="tx1"/>
                </a:solidFill>
                <a:effectLst/>
                <a:latin typeface="+mn-lt"/>
                <a:ea typeface="+mn-ea"/>
                <a:cs typeface="+mn-cs"/>
              </a:rPr>
              <a:t>（Amir Kazemnejad 等人）。</a:t>
            </a:r>
          </a:p>
          <a:p>
            <a:pPr lvl="0"/>
            <a:r>
              <a:rPr lang="zh-TW" altLang="zh-TW" sz="1200" b="1" u="none" strike="noStrike" kern="1200" dirty="0">
                <a:solidFill>
                  <a:schemeClr val="tx1"/>
                </a:solidFill>
                <a:effectLst/>
                <a:latin typeface="+mn-lt"/>
                <a:ea typeface="+mn-ea"/>
                <a:cs typeface="+mn-cs"/>
              </a:rPr>
              <a:t>代表論文</a:t>
            </a:r>
            <a:r>
              <a:rPr lang="zh-TW" altLang="zh-TW" sz="1200" b="0" u="none" strike="noStrike" kern="1200" dirty="0">
                <a:solidFill>
                  <a:schemeClr val="tx1"/>
                </a:solidFill>
                <a:effectLst/>
                <a:latin typeface="+mn-lt"/>
                <a:ea typeface="+mn-ea"/>
                <a:cs typeface="+mn-cs"/>
              </a:rPr>
              <a:t>：發表於 NeurIPS 2023 的 </a:t>
            </a:r>
            <a:r>
              <a:rPr lang="zh-TW" altLang="zh-TW" sz="1200" b="0" i="1" u="none" strike="noStrike" kern="1200" dirty="0">
                <a:solidFill>
                  <a:schemeClr val="tx1"/>
                </a:solidFill>
                <a:effectLst/>
                <a:latin typeface="+mn-lt"/>
                <a:ea typeface="+mn-ea"/>
                <a:cs typeface="+mn-cs"/>
              </a:rPr>
              <a:t>《The Impact of Positional Encoding on Length Generalization in Transformers》</a:t>
            </a:r>
            <a:r>
              <a:rPr lang="zh-TW" altLang="zh-TW" sz="1200" b="0" u="none" strike="noStrike" kern="1200" dirty="0">
                <a:solidFill>
                  <a:schemeClr val="tx1"/>
                </a:solidFill>
                <a:effectLst/>
                <a:latin typeface="+mn-lt"/>
                <a:ea typeface="+mn-ea"/>
                <a:cs typeface="+mn-cs"/>
              </a:rPr>
              <a:t>。</a:t>
            </a:r>
          </a:p>
          <a:p>
            <a:pPr lvl="0"/>
            <a:r>
              <a:rPr lang="zh-TW" altLang="zh-TW" sz="1200" b="1" u="none" strike="noStrike" kern="1200" dirty="0">
                <a:solidFill>
                  <a:schemeClr val="tx1"/>
                </a:solidFill>
                <a:effectLst/>
                <a:latin typeface="+mn-lt"/>
                <a:ea typeface="+mn-ea"/>
                <a:cs typeface="+mn-cs"/>
              </a:rPr>
              <a:t>核心貢獻</a:t>
            </a:r>
            <a:r>
              <a:rPr lang="zh-TW" altLang="zh-TW" sz="1200" b="0" u="none" strike="noStrike" kern="1200" dirty="0">
                <a:solidFill>
                  <a:schemeClr val="tx1"/>
                </a:solidFill>
                <a:effectLst/>
                <a:latin typeface="+mn-lt"/>
                <a:ea typeface="+mn-ea"/>
                <a:cs typeface="+mn-cs"/>
              </a:rPr>
              <a:t>：這篇論文在社群中</a:t>
            </a:r>
            <a:r>
              <a:rPr lang="zh-TW" altLang="zh-TW" sz="1200" b="1" u="none" strike="noStrike" kern="1200" dirty="0">
                <a:solidFill>
                  <a:schemeClr val="tx1"/>
                </a:solidFill>
                <a:effectLst/>
                <a:latin typeface="+mn-lt"/>
                <a:ea typeface="+mn-ea"/>
                <a:cs typeface="+mn-cs"/>
              </a:rPr>
              <a:t>正式將此架構命名為「NoPE」</a:t>
            </a:r>
            <a:r>
              <a:rPr lang="zh-TW" altLang="zh-TW" sz="1200" b="0" u="none" strike="noStrike" kern="1200" dirty="0">
                <a:solidFill>
                  <a:schemeClr val="tx1"/>
                </a:solidFill>
                <a:effectLst/>
                <a:latin typeface="+mn-lt"/>
                <a:ea typeface="+mn-ea"/>
                <a:cs typeface="+mn-cs"/>
              </a:rPr>
              <a:t>。研究人員透過嚴格的控制變因實驗發現，NoPE 在長度外推（Length Extrapolation）和長文本泛化上的表現，竟然優於當時主流的 ALiBi 或旋轉位置編碼（RoPE），奠定了今日大模型大規模導入的工程信心。</a:t>
            </a:r>
            <a:endParaRPr lang="en-US" altLang="zh-TW" sz="1200" b="0" u="none" strike="noStrike" kern="1200" dirty="0">
              <a:solidFill>
                <a:schemeClr val="tx1"/>
              </a:solidFill>
              <a:effectLst/>
              <a:latin typeface="+mn-lt"/>
              <a:ea typeface="+mn-ea"/>
              <a:cs typeface="+mn-cs"/>
            </a:endParaRPr>
          </a:p>
          <a:p>
            <a:pPr lvl="0"/>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總結</a:t>
            </a:r>
            <a:r>
              <a:rPr lang="en-US" altLang="zh-TW"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簡單來說，</a:t>
            </a:r>
            <a:r>
              <a:rPr lang="zh-TW" altLang="zh-TW" sz="1200" b="1" u="none" strike="noStrike" kern="1200" dirty="0">
                <a:solidFill>
                  <a:schemeClr val="tx1"/>
                </a:solidFill>
                <a:effectLst/>
                <a:latin typeface="+mn-lt"/>
                <a:ea typeface="+mn-ea"/>
                <a:cs typeface="+mn-cs"/>
              </a:rPr>
              <a:t>Meta AI 與特拉維夫大學</a:t>
            </a:r>
            <a:r>
              <a:rPr lang="zh-TW" altLang="zh-TW" sz="1200" b="0" u="none" strike="noStrike" kern="1200" dirty="0">
                <a:solidFill>
                  <a:schemeClr val="tx1"/>
                </a:solidFill>
                <a:effectLst/>
                <a:latin typeface="+mn-lt"/>
                <a:ea typeface="+mn-ea"/>
                <a:cs typeface="+mn-cs"/>
              </a:rPr>
              <a:t>率先發現了「不加位置編碼模型也能運作」的隱式科學現象，而</a:t>
            </a:r>
            <a:r>
              <a:rPr lang="zh-TW" altLang="zh-TW" sz="1200" b="1" u="none" strike="noStrike" kern="1200" dirty="0">
                <a:solidFill>
                  <a:schemeClr val="tx1"/>
                </a:solidFill>
                <a:effectLst/>
                <a:latin typeface="+mn-lt"/>
                <a:ea typeface="+mn-ea"/>
                <a:cs typeface="+mn-cs"/>
              </a:rPr>
              <a:t>阿姆斯特丹大學</a:t>
            </a:r>
            <a:r>
              <a:rPr lang="zh-TW" altLang="zh-TW" sz="1200" b="0" u="none" strike="noStrike" kern="1200" dirty="0">
                <a:solidFill>
                  <a:schemeClr val="tx1"/>
                </a:solidFill>
                <a:effectLst/>
                <a:latin typeface="+mn-lt"/>
                <a:ea typeface="+mn-ea"/>
                <a:cs typeface="+mn-cs"/>
              </a:rPr>
              <a:t>則正式將其定義為「NoPE」技術，並證明了它在長文本上的驚人潛力，進而引發了 Kimi K3、</a:t>
            </a:r>
            <a:r>
              <a:rPr lang="en-US" altLang="zh-TW" sz="1200" b="0" u="none" strike="noStrike" kern="1200" dirty="0">
                <a:solidFill>
                  <a:schemeClr val="tx1"/>
                </a:solidFill>
                <a:effectLst/>
                <a:latin typeface="+mn-lt"/>
                <a:ea typeface="+mn-ea"/>
                <a:cs typeface="+mn-cs"/>
              </a:rPr>
              <a:t>IBM</a:t>
            </a:r>
            <a:r>
              <a:rPr lang="zh-TW" altLang="en-US"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Granite 4.0 等新一代前沿大模型架構的革新。</a:t>
            </a:r>
          </a:p>
          <a:p>
            <a:endParaRPr lang="zh-TW" altLang="zh-TW" sz="1200" b="0" u="none" strike="noStrike" kern="1200" dirty="0">
              <a:solidFill>
                <a:schemeClr val="tx1"/>
              </a:solidFill>
              <a:effectLst/>
              <a:latin typeface="+mn-lt"/>
              <a:ea typeface="+mn-ea"/>
              <a:cs typeface="+mn-cs"/>
            </a:endParaRPr>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24</a:t>
            </a:fld>
            <a:endParaRPr lang="zh-TW" altLang="en-US"/>
          </a:p>
        </p:txBody>
      </p:sp>
    </p:spTree>
    <p:extLst>
      <p:ext uri="{BB962C8B-B14F-4D97-AF65-F5344CB8AC3E}">
        <p14:creationId xmlns:p14="http://schemas.microsoft.com/office/powerpoint/2010/main" val="1764457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C2ADC-2C95-ABF7-695A-C98BD6E65DB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9C820AD-EC54-39E5-1D26-41BCCC7488E9}"/>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22C0D158-E6C6-9BA9-5A56-BF3DE1E85E9F}"/>
              </a:ext>
            </a:extLst>
          </p:cNvPr>
          <p:cNvSpPr>
            <a:spLocks noGrp="1"/>
          </p:cNvSpPr>
          <p:nvPr>
            <p:ph type="body" idx="1"/>
          </p:nvPr>
        </p:nvSpPr>
        <p:spPr/>
        <p:txBody>
          <a:bodyPr/>
          <a:lstStyle/>
          <a:p>
            <a:pPr lvl="0"/>
            <a:r>
              <a:rPr lang="en-US" altLang="zh-TW" sz="1200" b="0" u="none" strike="noStrike" kern="1200" dirty="0">
                <a:solidFill>
                  <a:schemeClr val="tx1"/>
                </a:solidFill>
                <a:effectLst/>
                <a:latin typeface="+mn-lt"/>
                <a:ea typeface="+mn-ea"/>
                <a:cs typeface="+mn-cs"/>
              </a:rPr>
              <a:t>KDA</a:t>
            </a:r>
            <a:r>
              <a:rPr lang="zh-TW" altLang="zh-TW" sz="1200" b="1" u="none" strike="noStrike" kern="1200" dirty="0">
                <a:solidFill>
                  <a:schemeClr val="tx1"/>
                </a:solidFill>
                <a:effectLst/>
                <a:latin typeface="+mn-lt"/>
                <a:ea typeface="+mn-ea"/>
                <a:cs typeface="+mn-cs"/>
              </a:rPr>
              <a:t>技術原理</a:t>
            </a:r>
            <a:r>
              <a:rPr lang="zh-TW" altLang="zh-TW" dirty="0"/>
              <a:t>：</a:t>
            </a:r>
            <a:r>
              <a:rPr lang="zh-TW" altLang="zh-TW" sz="1200" b="0" u="none" strike="noStrike" kern="1200" dirty="0">
                <a:solidFill>
                  <a:schemeClr val="tx1"/>
                </a:solidFill>
                <a:effectLst/>
                <a:latin typeface="+mn-lt"/>
                <a:ea typeface="+mn-ea"/>
                <a:cs typeface="+mn-cs"/>
              </a:rPr>
              <a:t>：傳統的 Transformer 架構在處理百萬級 Token 時，KV Cache（鍵值快取）會耗盡所有顯存。</a:t>
            </a:r>
            <a:endParaRPr lang="en-US" altLang="zh-TW" sz="1200" b="0" u="none" strike="noStrike" kern="1200" dirty="0">
              <a:solidFill>
                <a:schemeClr val="tx1"/>
              </a:solidFill>
              <a:effectLst/>
              <a:latin typeface="+mn-lt"/>
              <a:ea typeface="+mn-ea"/>
              <a:cs typeface="+mn-cs"/>
            </a:endParaRPr>
          </a:p>
          <a:p>
            <a:pPr lvl="0"/>
            <a:r>
              <a:rPr lang="zh-TW" altLang="zh-TW" sz="1200" b="0" u="none" strike="noStrike" kern="1200" dirty="0">
                <a:solidFill>
                  <a:schemeClr val="tx1"/>
                </a:solidFill>
                <a:effectLst/>
                <a:latin typeface="+mn-lt"/>
                <a:ea typeface="+mn-ea"/>
                <a:cs typeface="+mn-cs"/>
              </a:rPr>
              <a:t>KDA 是一種</a:t>
            </a:r>
            <a:r>
              <a:rPr lang="zh-TW" altLang="zh-TW" sz="1200" b="1" u="none" strike="noStrike" kern="1200" dirty="0">
                <a:solidFill>
                  <a:schemeClr val="tx1"/>
                </a:solidFill>
                <a:effectLst/>
                <a:latin typeface="+mn-lt"/>
                <a:ea typeface="+mn-ea"/>
                <a:cs typeface="+mn-cs"/>
              </a:rPr>
              <a:t>混合線性注意力機制</a:t>
            </a:r>
            <a:r>
              <a:rPr lang="zh-TW" altLang="zh-TW" sz="1200" b="0" u="none" strike="noStrike" kern="1200" dirty="0">
                <a:solidFill>
                  <a:schemeClr val="tx1"/>
                </a:solidFill>
                <a:effectLst/>
                <a:latin typeface="+mn-lt"/>
                <a:ea typeface="+mn-ea"/>
                <a:cs typeface="+mn-cs"/>
              </a:rPr>
              <a:t>，它在不損失長文本脈絡的前提下，引入了循環狀態快取（Recurrent State Caches），大幅縮減了每一步解碼需要保留的常規 KV 對。</a:t>
            </a:r>
          </a:p>
          <a:p>
            <a:pPr lvl="0"/>
            <a:r>
              <a:rPr lang="zh-TW" altLang="zh-TW" sz="1200" b="1" u="none" strike="noStrike" kern="1200" dirty="0">
                <a:solidFill>
                  <a:schemeClr val="tx1"/>
                </a:solidFill>
                <a:effectLst/>
                <a:latin typeface="+mn-lt"/>
                <a:ea typeface="+mn-ea"/>
                <a:cs typeface="+mn-cs"/>
              </a:rPr>
              <a:t>擅長效果</a:t>
            </a:r>
            <a:r>
              <a:rPr lang="zh-TW" altLang="zh-TW" sz="1200" b="0" u="none" strike="noStrike" kern="1200" dirty="0">
                <a:solidFill>
                  <a:schemeClr val="tx1"/>
                </a:solidFill>
                <a:effectLst/>
                <a:latin typeface="+mn-lt"/>
                <a:ea typeface="+mn-ea"/>
                <a:cs typeface="+mn-cs"/>
              </a:rPr>
              <a:t>：實現高達 </a:t>
            </a:r>
            <a:r>
              <a:rPr lang="zh-TW" altLang="zh-TW" sz="1200" b="1" u="none" strike="noStrike" kern="1200" dirty="0">
                <a:solidFill>
                  <a:schemeClr val="tx1"/>
                </a:solidFill>
                <a:effectLst/>
                <a:latin typeface="+mn-lt"/>
                <a:ea typeface="+mn-ea"/>
                <a:cs typeface="+mn-cs"/>
              </a:rPr>
              <a:t>100 萬 Token 的超長上下文視窗</a:t>
            </a:r>
            <a:r>
              <a:rPr lang="en-US" altLang="zh-TW" sz="1200" b="1" u="none" strike="noStrike" kern="1200" dirty="0">
                <a:solidFill>
                  <a:schemeClr val="tx1"/>
                </a:solidFill>
                <a:effectLst/>
                <a:latin typeface="+mn-lt"/>
                <a:ea typeface="+mn-ea"/>
                <a:cs typeface="+mn-cs"/>
              </a:rPr>
              <a:t>.</a:t>
            </a:r>
            <a:endParaRPr lang="zh-TW" altLang="zh-TW" sz="1200" b="0" u="none" strike="noStrike" kern="1200" dirty="0">
              <a:solidFill>
                <a:schemeClr val="tx1"/>
              </a:solidFill>
              <a:effectLst/>
              <a:latin typeface="+mn-lt"/>
              <a:ea typeface="+mn-ea"/>
              <a:cs typeface="+mn-cs"/>
            </a:endParaRPr>
          </a:p>
          <a:p>
            <a:endParaRPr lang="zh-TW" altLang="en-US" dirty="0"/>
          </a:p>
        </p:txBody>
      </p:sp>
      <p:sp>
        <p:nvSpPr>
          <p:cNvPr id="4" name="投影片編號版面配置區 3">
            <a:extLst>
              <a:ext uri="{FF2B5EF4-FFF2-40B4-BE49-F238E27FC236}">
                <a16:creationId xmlns:a16="http://schemas.microsoft.com/office/drawing/2014/main" id="{D41D6B82-61C8-3A08-1F2F-D94DBF3D6EE5}"/>
              </a:ext>
            </a:extLst>
          </p:cNvPr>
          <p:cNvSpPr>
            <a:spLocks noGrp="1"/>
          </p:cNvSpPr>
          <p:nvPr>
            <p:ph type="sldNum" sz="quarter" idx="5"/>
          </p:nvPr>
        </p:nvSpPr>
        <p:spPr/>
        <p:txBody>
          <a:bodyPr/>
          <a:lstStyle/>
          <a:p>
            <a:fld id="{E3A6CE5E-F349-486D-8749-82EF2AD71FA8}" type="slidenum">
              <a:rPr lang="zh-TW" altLang="en-US" smtClean="0"/>
              <a:t>26</a:t>
            </a:fld>
            <a:endParaRPr lang="zh-TW" altLang="en-US"/>
          </a:p>
        </p:txBody>
      </p:sp>
    </p:spTree>
    <p:extLst>
      <p:ext uri="{BB962C8B-B14F-4D97-AF65-F5344CB8AC3E}">
        <p14:creationId xmlns:p14="http://schemas.microsoft.com/office/powerpoint/2010/main" val="2274291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AF9E9-CC83-DF27-E397-155D3F2D0B0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3C573ED-4303-C760-C0E6-466DBCFD019D}"/>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9555CB64-0641-AE5C-0077-6CD2BA1E2E47}"/>
              </a:ext>
            </a:extLst>
          </p:cNvPr>
          <p:cNvSpPr>
            <a:spLocks noGrp="1"/>
          </p:cNvSpPr>
          <p:nvPr>
            <p:ph type="body" idx="1"/>
          </p:nvPr>
        </p:nvSpPr>
        <p:spPr/>
        <p:txBody>
          <a:bodyPr/>
          <a:lstStyle/>
          <a:p>
            <a:pPr lvl="0"/>
            <a:r>
              <a:rPr lang="en-US" altLang="zh-TW" sz="1200" b="0" u="none" strike="noStrike" kern="1200" dirty="0">
                <a:solidFill>
                  <a:schemeClr val="tx1"/>
                </a:solidFill>
                <a:effectLst/>
                <a:latin typeface="+mn-lt"/>
                <a:ea typeface="+mn-ea"/>
                <a:cs typeface="+mn-cs"/>
              </a:rPr>
              <a:t>KDA</a:t>
            </a:r>
            <a:r>
              <a:rPr lang="zh-TW" altLang="zh-TW" sz="1200" b="1" u="none" strike="noStrike" kern="1200" dirty="0">
                <a:solidFill>
                  <a:schemeClr val="tx1"/>
                </a:solidFill>
                <a:effectLst/>
                <a:latin typeface="+mn-lt"/>
                <a:ea typeface="+mn-ea"/>
                <a:cs typeface="+mn-cs"/>
              </a:rPr>
              <a:t>技術原理</a:t>
            </a:r>
            <a:r>
              <a:rPr lang="zh-TW" altLang="zh-TW" dirty="0"/>
              <a:t>：</a:t>
            </a:r>
            <a:r>
              <a:rPr lang="zh-TW" altLang="zh-TW" sz="1200" b="0" u="none" strike="noStrike" kern="1200" dirty="0">
                <a:solidFill>
                  <a:schemeClr val="tx1"/>
                </a:solidFill>
                <a:effectLst/>
                <a:latin typeface="+mn-lt"/>
                <a:ea typeface="+mn-ea"/>
                <a:cs typeface="+mn-cs"/>
              </a:rPr>
              <a:t>：傳統的 Transformer 架構在處理百萬級 Token 時，KV Cache（鍵值快取）會耗盡所有顯存。</a:t>
            </a:r>
            <a:endParaRPr lang="en-US" altLang="zh-TW" sz="1200" b="0" u="none" strike="noStrike" kern="1200" dirty="0">
              <a:solidFill>
                <a:schemeClr val="tx1"/>
              </a:solidFill>
              <a:effectLst/>
              <a:latin typeface="+mn-lt"/>
              <a:ea typeface="+mn-ea"/>
              <a:cs typeface="+mn-cs"/>
            </a:endParaRPr>
          </a:p>
          <a:p>
            <a:pPr lvl="0"/>
            <a:r>
              <a:rPr lang="zh-TW" altLang="zh-TW" sz="1200" b="0" u="none" strike="noStrike" kern="1200" dirty="0">
                <a:solidFill>
                  <a:schemeClr val="tx1"/>
                </a:solidFill>
                <a:effectLst/>
                <a:latin typeface="+mn-lt"/>
                <a:ea typeface="+mn-ea"/>
                <a:cs typeface="+mn-cs"/>
              </a:rPr>
              <a:t>KDA 是一種</a:t>
            </a:r>
            <a:r>
              <a:rPr lang="zh-TW" altLang="zh-TW" sz="1200" b="1" u="none" strike="noStrike" kern="1200" dirty="0">
                <a:solidFill>
                  <a:schemeClr val="tx1"/>
                </a:solidFill>
                <a:effectLst/>
                <a:latin typeface="+mn-lt"/>
                <a:ea typeface="+mn-ea"/>
                <a:cs typeface="+mn-cs"/>
              </a:rPr>
              <a:t>混合線性注意力機制</a:t>
            </a:r>
            <a:r>
              <a:rPr lang="zh-TW" altLang="zh-TW" sz="1200" b="0" u="none" strike="noStrike" kern="1200" dirty="0">
                <a:solidFill>
                  <a:schemeClr val="tx1"/>
                </a:solidFill>
                <a:effectLst/>
                <a:latin typeface="+mn-lt"/>
                <a:ea typeface="+mn-ea"/>
                <a:cs typeface="+mn-cs"/>
              </a:rPr>
              <a:t>，它在不損失長文本脈絡的前提下，引入了循環狀態快取（Recurrent State Caches），大幅縮減了每一步解碼需要保留的常規 KV 對。</a:t>
            </a:r>
          </a:p>
          <a:p>
            <a:pPr lvl="0"/>
            <a:r>
              <a:rPr lang="zh-TW" altLang="zh-TW" sz="1200" b="1" u="none" strike="noStrike" kern="1200" dirty="0">
                <a:solidFill>
                  <a:schemeClr val="tx1"/>
                </a:solidFill>
                <a:effectLst/>
                <a:latin typeface="+mn-lt"/>
                <a:ea typeface="+mn-ea"/>
                <a:cs typeface="+mn-cs"/>
              </a:rPr>
              <a:t>擅長效果</a:t>
            </a:r>
            <a:r>
              <a:rPr lang="zh-TW" altLang="zh-TW" sz="1200" b="0" u="none" strike="noStrike" kern="1200" dirty="0">
                <a:solidFill>
                  <a:schemeClr val="tx1"/>
                </a:solidFill>
                <a:effectLst/>
                <a:latin typeface="+mn-lt"/>
                <a:ea typeface="+mn-ea"/>
                <a:cs typeface="+mn-cs"/>
              </a:rPr>
              <a:t>：實現高達 </a:t>
            </a:r>
            <a:r>
              <a:rPr lang="zh-TW" altLang="zh-TW" sz="1200" b="1" u="none" strike="noStrike" kern="1200" dirty="0">
                <a:solidFill>
                  <a:schemeClr val="tx1"/>
                </a:solidFill>
                <a:effectLst/>
                <a:latin typeface="+mn-lt"/>
                <a:ea typeface="+mn-ea"/>
                <a:cs typeface="+mn-cs"/>
              </a:rPr>
              <a:t>100 萬 Token 的超長上下文視窗</a:t>
            </a:r>
            <a:r>
              <a:rPr lang="en-US" altLang="zh-TW" sz="1200" b="1" u="none" strike="noStrike" kern="1200" dirty="0">
                <a:solidFill>
                  <a:schemeClr val="tx1"/>
                </a:solidFill>
                <a:effectLst/>
                <a:latin typeface="+mn-lt"/>
                <a:ea typeface="+mn-ea"/>
                <a:cs typeface="+mn-cs"/>
              </a:rPr>
              <a:t>.</a:t>
            </a:r>
            <a:endParaRPr lang="zh-TW" altLang="zh-TW" sz="1200" b="0" u="none" strike="noStrike" kern="1200" dirty="0">
              <a:solidFill>
                <a:schemeClr val="tx1"/>
              </a:solidFill>
              <a:effectLst/>
              <a:latin typeface="+mn-lt"/>
              <a:ea typeface="+mn-ea"/>
              <a:cs typeface="+mn-cs"/>
            </a:endParaRPr>
          </a:p>
          <a:p>
            <a:endParaRPr lang="zh-TW" altLang="en-US" dirty="0"/>
          </a:p>
        </p:txBody>
      </p:sp>
      <p:sp>
        <p:nvSpPr>
          <p:cNvPr id="4" name="投影片編號版面配置區 3">
            <a:extLst>
              <a:ext uri="{FF2B5EF4-FFF2-40B4-BE49-F238E27FC236}">
                <a16:creationId xmlns:a16="http://schemas.microsoft.com/office/drawing/2014/main" id="{B66461CB-AAFB-8D6B-0436-EE1377E4AB5B}"/>
              </a:ext>
            </a:extLst>
          </p:cNvPr>
          <p:cNvSpPr>
            <a:spLocks noGrp="1"/>
          </p:cNvSpPr>
          <p:nvPr>
            <p:ph type="sldNum" sz="quarter" idx="5"/>
          </p:nvPr>
        </p:nvSpPr>
        <p:spPr/>
        <p:txBody>
          <a:bodyPr/>
          <a:lstStyle/>
          <a:p>
            <a:fld id="{E3A6CE5E-F349-486D-8749-82EF2AD71FA8}" type="slidenum">
              <a:rPr lang="zh-TW" altLang="en-US" smtClean="0"/>
              <a:t>27</a:t>
            </a:fld>
            <a:endParaRPr lang="zh-TW" altLang="en-US"/>
          </a:p>
        </p:txBody>
      </p:sp>
    </p:spTree>
    <p:extLst>
      <p:ext uri="{BB962C8B-B14F-4D97-AF65-F5344CB8AC3E}">
        <p14:creationId xmlns:p14="http://schemas.microsoft.com/office/powerpoint/2010/main" val="39398991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E6667-2A85-FF53-8F83-A2A48D7CC89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29B604A-8ED3-03F5-03F9-DAF0CCD5B826}"/>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72D3A238-5F41-23FE-BADB-1E35C342E214}"/>
              </a:ext>
            </a:extLst>
          </p:cNvPr>
          <p:cNvSpPr>
            <a:spLocks noGrp="1"/>
          </p:cNvSpPr>
          <p:nvPr>
            <p:ph type="body" idx="1"/>
          </p:nvPr>
        </p:nvSpPr>
        <p:spPr/>
        <p:txBody>
          <a:bodyPr/>
          <a:lstStyle/>
          <a:p>
            <a:endParaRPr lang="en-US" altLang="zh-TW" sz="1200" b="0" i="0" kern="1200" dirty="0">
              <a:solidFill>
                <a:schemeClr val="tx1"/>
              </a:solidFill>
              <a:effectLst/>
              <a:latin typeface="+mn-lt"/>
              <a:ea typeface="+mn-ea"/>
              <a:cs typeface="+mn-cs"/>
            </a:endParaRPr>
          </a:p>
          <a:p>
            <a:r>
              <a:rPr lang="zh-TW" altLang="zh-TW" sz="1200" b="0" i="0" kern="1200" dirty="0">
                <a:solidFill>
                  <a:schemeClr val="tx1"/>
                </a:solidFill>
                <a:effectLst/>
                <a:latin typeface="+mn-lt"/>
                <a:ea typeface="+mn-ea"/>
                <a:cs typeface="+mn-cs"/>
              </a:rPr>
              <a:t>Kimi K3 基于 Kimi Delta Attention（KDA）和 Attention Residuals（AttnRes）构建。</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r>
              <a:rPr lang="zh-TW" altLang="zh-TW" sz="1200" b="0" i="0" kern="1200" dirty="0">
                <a:solidFill>
                  <a:schemeClr val="tx1"/>
                </a:solidFill>
                <a:effectLst/>
                <a:latin typeface="+mn-lt"/>
                <a:ea typeface="+mn-ea"/>
                <a:cs typeface="+mn-cs"/>
              </a:rPr>
              <a:t>Mixture of Experts（MoE）的稀疏度</a:t>
            </a:r>
            <a:r>
              <a:rPr lang="en-US" altLang="zh-TW" sz="1200" b="0" i="0" kern="1200" dirty="0">
                <a:solidFill>
                  <a:schemeClr val="tx1"/>
                </a:solidFill>
                <a:effectLst/>
                <a:latin typeface="+mn-lt"/>
                <a:ea typeface="+mn-ea"/>
                <a:cs typeface="+mn-cs"/>
              </a:rPr>
              <a:t>(16/896</a:t>
            </a:r>
            <a:r>
              <a:rPr lang="zh-TW" altLang="en-US" sz="1200" b="0" i="0" kern="1200" dirty="0">
                <a:solidFill>
                  <a:schemeClr val="tx1"/>
                </a:solidFill>
                <a:effectLst/>
                <a:latin typeface="+mn-lt"/>
                <a:ea typeface="+mn-ea"/>
                <a:cs typeface="+mn-cs"/>
              </a:rPr>
              <a:t> </a:t>
            </a:r>
            <a:r>
              <a:rPr lang="en-US" altLang="zh-TW" sz="1200" b="0" i="0" kern="1200" dirty="0">
                <a:solidFill>
                  <a:schemeClr val="tx1"/>
                </a:solidFill>
                <a:effectLst/>
                <a:latin typeface="+mn-lt"/>
                <a:ea typeface="+mn-ea"/>
                <a:cs typeface="+mn-cs"/>
              </a:rPr>
              <a:t>=1.8%)</a:t>
            </a:r>
            <a:r>
              <a:rPr lang="zh-TW" altLang="zh-TW" sz="1200" b="0" i="0" kern="1200" dirty="0">
                <a:solidFill>
                  <a:schemeClr val="tx1"/>
                </a:solidFill>
                <a:effectLst/>
                <a:latin typeface="+mn-lt"/>
                <a:ea typeface="+mn-ea"/>
                <a:cs typeface="+mn-cs"/>
              </a:rPr>
              <a:t>：</a:t>
            </a:r>
            <a:endParaRPr lang="en-US" altLang="zh-TW" sz="1200" b="0" i="0" kern="1200" dirty="0">
              <a:solidFill>
                <a:schemeClr val="tx1"/>
              </a:solidFill>
              <a:effectLst/>
              <a:latin typeface="+mn-lt"/>
              <a:ea typeface="+mn-ea"/>
              <a:cs typeface="+mn-cs"/>
            </a:endParaRPr>
          </a:p>
          <a:p>
            <a:r>
              <a:rPr lang="zh-TW" altLang="zh-TW" sz="1200" b="0" i="0" kern="1200" dirty="0">
                <a:solidFill>
                  <a:schemeClr val="tx1"/>
                </a:solidFill>
                <a:effectLst/>
                <a:latin typeface="+mn-lt"/>
                <a:ea typeface="+mn-ea"/>
                <a:cs typeface="+mn-cs"/>
              </a:rPr>
              <a:t>Stable Latent</a:t>
            </a:r>
            <a:r>
              <a:rPr lang="zh-TW" altLang="en-US" sz="1200" b="0" i="0" kern="1200" dirty="0">
                <a:solidFill>
                  <a:schemeClr val="tx1"/>
                </a:solidFill>
                <a:effectLst/>
                <a:latin typeface="+mn-lt"/>
                <a:ea typeface="+mn-ea"/>
                <a:cs typeface="+mn-cs"/>
              </a:rPr>
              <a:t> </a:t>
            </a:r>
            <a:r>
              <a:rPr lang="zh-TW" altLang="zh-TW" sz="1200" b="0" i="0" kern="1200" dirty="0">
                <a:solidFill>
                  <a:schemeClr val="tx1"/>
                </a:solidFill>
                <a:effectLst/>
                <a:latin typeface="+mn-lt"/>
                <a:ea typeface="+mn-ea"/>
                <a:cs typeface="+mn-cs"/>
              </a:rPr>
              <a:t>MoE </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 由</a:t>
            </a:r>
            <a:r>
              <a:rPr lang="en-US" altLang="zh-TW" sz="1200" b="0" i="0" kern="1200" dirty="0">
                <a:solidFill>
                  <a:schemeClr val="tx1"/>
                </a:solidFill>
                <a:effectLst/>
                <a:latin typeface="+mn-lt"/>
                <a:ea typeface="+mn-ea"/>
                <a:cs typeface="+mn-cs"/>
              </a:rPr>
              <a:t>896</a:t>
            </a:r>
            <a:r>
              <a:rPr lang="zh-TW" altLang="en-US" sz="1200" b="0" i="0" kern="1200" dirty="0">
                <a:solidFill>
                  <a:schemeClr val="tx1"/>
                </a:solidFill>
                <a:effectLst/>
                <a:latin typeface="+mn-lt"/>
                <a:ea typeface="+mn-ea"/>
                <a:cs typeface="+mn-cs"/>
              </a:rPr>
              <a:t>個專家</a:t>
            </a:r>
            <a:r>
              <a:rPr lang="zh-TW" altLang="zh-TW" sz="1200" b="0" i="0" kern="1200" dirty="0">
                <a:solidFill>
                  <a:schemeClr val="tx1"/>
                </a:solidFill>
                <a:effectLst/>
                <a:latin typeface="+mn-lt"/>
                <a:ea typeface="+mn-ea"/>
                <a:cs typeface="+mn-cs"/>
              </a:rPr>
              <a:t>模型</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 </a:t>
            </a:r>
            <a:r>
              <a:rPr lang="zh-TW" altLang="zh-TW" sz="1200" b="0" i="0" kern="1200" dirty="0">
                <a:solidFill>
                  <a:schemeClr val="tx1"/>
                </a:solidFill>
                <a:effectLst/>
                <a:latin typeface="+mn-lt"/>
                <a:ea typeface="+mn-ea"/>
                <a:cs typeface="+mn-cs"/>
              </a:rPr>
              <a:t>高效激活16</a:t>
            </a:r>
            <a:r>
              <a:rPr lang="zh-TW" altLang="en-US" sz="1200" b="0" i="0" kern="1200" dirty="0">
                <a:solidFill>
                  <a:schemeClr val="tx1"/>
                </a:solidFill>
                <a:effectLst/>
                <a:latin typeface="+mn-lt"/>
                <a:ea typeface="+mn-ea"/>
                <a:cs typeface="+mn-cs"/>
              </a:rPr>
              <a:t>個</a:t>
            </a:r>
            <a:r>
              <a:rPr lang="zh-TW" altLang="zh-TW" sz="1200" b="0" i="0" kern="1200" dirty="0">
                <a:solidFill>
                  <a:schemeClr val="tx1"/>
                </a:solidFill>
                <a:effectLst/>
                <a:latin typeface="+mn-lt"/>
                <a:ea typeface="+mn-ea"/>
                <a:cs typeface="+mn-cs"/>
              </a:rPr>
              <a:t> </a:t>
            </a:r>
            <a:r>
              <a:rPr lang="en-US" altLang="zh-TW" sz="1200" b="0" i="0" kern="1200" dirty="0">
                <a:solidFill>
                  <a:schemeClr val="tx1"/>
                </a:solidFill>
                <a:effectLst/>
                <a:latin typeface="+mn-lt"/>
                <a:ea typeface="+mn-ea"/>
                <a:cs typeface="+mn-cs"/>
              </a:rPr>
              <a:t>(2</a:t>
            </a:r>
            <a:r>
              <a:rPr lang="zh-TW" altLang="en-US" sz="1200" b="0" i="0" kern="1200" dirty="0">
                <a:solidFill>
                  <a:schemeClr val="tx1"/>
                </a:solidFill>
                <a:effectLst/>
                <a:latin typeface="+mn-lt"/>
                <a:ea typeface="+mn-ea"/>
                <a:cs typeface="+mn-cs"/>
              </a:rPr>
              <a:t>常駐分享</a:t>
            </a:r>
            <a:r>
              <a:rPr lang="en-US" altLang="zh-TW" sz="1200" b="0" i="0" kern="1200" dirty="0">
                <a:solidFill>
                  <a:schemeClr val="tx1"/>
                </a:solidFill>
                <a:effectLst/>
                <a:latin typeface="+mn-lt"/>
                <a:ea typeface="+mn-ea"/>
                <a:cs typeface="+mn-cs"/>
              </a:rPr>
              <a:t>+14</a:t>
            </a:r>
            <a:r>
              <a:rPr lang="zh-TW" altLang="en-US" sz="1200" b="0" i="0" kern="1200" dirty="0">
                <a:solidFill>
                  <a:schemeClr val="tx1"/>
                </a:solidFill>
                <a:effectLst/>
                <a:latin typeface="+mn-lt"/>
                <a:ea typeface="+mn-ea"/>
                <a:cs typeface="+mn-cs"/>
              </a:rPr>
              <a:t>動態選取</a:t>
            </a:r>
            <a:r>
              <a:rPr lang="en-US" altLang="zh-TW" sz="1200" b="0" i="0" kern="1200" dirty="0">
                <a:solidFill>
                  <a:schemeClr val="tx1"/>
                </a:solidFill>
                <a:effectLst/>
                <a:latin typeface="+mn-lt"/>
                <a:ea typeface="+mn-ea"/>
                <a:cs typeface="+mn-cs"/>
              </a:rPr>
              <a:t>)</a:t>
            </a:r>
            <a:r>
              <a:rPr lang="zh-TW" altLang="zh-TW" sz="1200" b="0" i="0" kern="1200" dirty="0">
                <a:solidFill>
                  <a:schemeClr val="tx1"/>
                </a:solidFill>
                <a:effectLst/>
                <a:latin typeface="+mn-lt"/>
                <a:ea typeface="+mn-ea"/>
                <a:cs typeface="+mn-cs"/>
              </a:rPr>
              <a:t>。</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r>
              <a:rPr lang="zh-TW" altLang="zh-TW" sz="1200" b="0" i="0" kern="1200" dirty="0">
                <a:solidFill>
                  <a:schemeClr val="tx1"/>
                </a:solidFill>
                <a:effectLst/>
                <a:latin typeface="+mn-lt"/>
                <a:ea typeface="+mn-ea"/>
                <a:cs typeface="+mn-cs"/>
              </a:rPr>
              <a:t>再加上训练方法和数据配方的优化，这些结构性改进让 Kimi K3 相比 K2 的整体扩展效率提升约 2.5 倍，能更有效地把算力转化为能力。</a:t>
            </a:r>
            <a:endParaRPr lang="zh-TW" altLang="en-US" dirty="0"/>
          </a:p>
        </p:txBody>
      </p:sp>
      <p:sp>
        <p:nvSpPr>
          <p:cNvPr id="4" name="投影片編號版面配置區 3">
            <a:extLst>
              <a:ext uri="{FF2B5EF4-FFF2-40B4-BE49-F238E27FC236}">
                <a16:creationId xmlns:a16="http://schemas.microsoft.com/office/drawing/2014/main" id="{12179625-06B8-3D73-D2D4-34D86FEE2A0A}"/>
              </a:ext>
            </a:extLst>
          </p:cNvPr>
          <p:cNvSpPr>
            <a:spLocks noGrp="1"/>
          </p:cNvSpPr>
          <p:nvPr>
            <p:ph type="sldNum" sz="quarter" idx="5"/>
          </p:nvPr>
        </p:nvSpPr>
        <p:spPr/>
        <p:txBody>
          <a:bodyPr/>
          <a:lstStyle/>
          <a:p>
            <a:fld id="{E3A6CE5E-F349-486D-8749-82EF2AD71FA8}" type="slidenum">
              <a:rPr lang="zh-TW" altLang="en-US" smtClean="0"/>
              <a:t>28</a:t>
            </a:fld>
            <a:endParaRPr lang="zh-TW" altLang="en-US"/>
          </a:p>
        </p:txBody>
      </p:sp>
    </p:spTree>
    <p:extLst>
      <p:ext uri="{BB962C8B-B14F-4D97-AF65-F5344CB8AC3E}">
        <p14:creationId xmlns:p14="http://schemas.microsoft.com/office/powerpoint/2010/main" val="40651194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E6667-2A85-FF53-8F83-A2A48D7CC89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29B604A-8ED3-03F5-03F9-DAF0CCD5B826}"/>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72D3A238-5F41-23FE-BADB-1E35C342E214}"/>
              </a:ext>
            </a:extLst>
          </p:cNvPr>
          <p:cNvSpPr>
            <a:spLocks noGrp="1"/>
          </p:cNvSpPr>
          <p:nvPr>
            <p:ph type="body" idx="1"/>
          </p:nvPr>
        </p:nvSpPr>
        <p:spPr/>
        <p:txBody>
          <a:bodyPr/>
          <a:lstStyle/>
          <a:p>
            <a:endParaRPr lang="en-US" altLang="zh-TW" sz="1200" b="0" i="0" kern="1200" dirty="0">
              <a:solidFill>
                <a:schemeClr val="tx1"/>
              </a:solidFill>
              <a:effectLst/>
              <a:latin typeface="+mn-lt"/>
              <a:ea typeface="+mn-ea"/>
              <a:cs typeface="+mn-cs"/>
            </a:endParaRPr>
          </a:p>
          <a:p>
            <a:r>
              <a:rPr lang="zh-TW" altLang="zh-TW" sz="1200" b="0" i="0" kern="1200" dirty="0">
                <a:solidFill>
                  <a:schemeClr val="tx1"/>
                </a:solidFill>
                <a:effectLst/>
                <a:latin typeface="+mn-lt"/>
                <a:ea typeface="+mn-ea"/>
                <a:cs typeface="+mn-cs"/>
              </a:rPr>
              <a:t>Kimi K3 基于 Kimi Delta Attention（KDA）和 Attention Residuals（AttnRes）构建。</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r>
              <a:rPr lang="zh-TW" altLang="zh-TW" sz="1200" b="0" i="0" kern="1200" dirty="0">
                <a:solidFill>
                  <a:schemeClr val="tx1"/>
                </a:solidFill>
                <a:effectLst/>
                <a:latin typeface="+mn-lt"/>
                <a:ea typeface="+mn-ea"/>
                <a:cs typeface="+mn-cs"/>
              </a:rPr>
              <a:t>Mixture of Experts（MoE）的稀疏度</a:t>
            </a:r>
            <a:r>
              <a:rPr lang="en-US" altLang="zh-TW" sz="1200" b="0" i="0" kern="1200" dirty="0">
                <a:solidFill>
                  <a:schemeClr val="tx1"/>
                </a:solidFill>
                <a:effectLst/>
                <a:latin typeface="+mn-lt"/>
                <a:ea typeface="+mn-ea"/>
                <a:cs typeface="+mn-cs"/>
              </a:rPr>
              <a:t>(16/896</a:t>
            </a:r>
            <a:r>
              <a:rPr lang="zh-TW" altLang="en-US" sz="1200" b="0" i="0" kern="1200" dirty="0">
                <a:solidFill>
                  <a:schemeClr val="tx1"/>
                </a:solidFill>
                <a:effectLst/>
                <a:latin typeface="+mn-lt"/>
                <a:ea typeface="+mn-ea"/>
                <a:cs typeface="+mn-cs"/>
              </a:rPr>
              <a:t> </a:t>
            </a:r>
            <a:r>
              <a:rPr lang="en-US" altLang="zh-TW" sz="1200" b="0" i="0" kern="1200" dirty="0">
                <a:solidFill>
                  <a:schemeClr val="tx1"/>
                </a:solidFill>
                <a:effectLst/>
                <a:latin typeface="+mn-lt"/>
                <a:ea typeface="+mn-ea"/>
                <a:cs typeface="+mn-cs"/>
              </a:rPr>
              <a:t>=1.8%)</a:t>
            </a:r>
            <a:r>
              <a:rPr lang="zh-TW" altLang="zh-TW" sz="1200" b="0" i="0" kern="1200" dirty="0">
                <a:solidFill>
                  <a:schemeClr val="tx1"/>
                </a:solidFill>
                <a:effectLst/>
                <a:latin typeface="+mn-lt"/>
                <a:ea typeface="+mn-ea"/>
                <a:cs typeface="+mn-cs"/>
              </a:rPr>
              <a:t>：</a:t>
            </a:r>
            <a:endParaRPr lang="en-US" altLang="zh-TW" sz="1200" b="0" i="0" kern="1200" dirty="0">
              <a:solidFill>
                <a:schemeClr val="tx1"/>
              </a:solidFill>
              <a:effectLst/>
              <a:latin typeface="+mn-lt"/>
              <a:ea typeface="+mn-ea"/>
              <a:cs typeface="+mn-cs"/>
            </a:endParaRPr>
          </a:p>
          <a:p>
            <a:r>
              <a:rPr lang="zh-TW" altLang="zh-TW" sz="1200" b="0" i="0" kern="1200" dirty="0">
                <a:solidFill>
                  <a:schemeClr val="tx1"/>
                </a:solidFill>
                <a:effectLst/>
                <a:latin typeface="+mn-lt"/>
                <a:ea typeface="+mn-ea"/>
                <a:cs typeface="+mn-cs"/>
              </a:rPr>
              <a:t>Stable Latent</a:t>
            </a:r>
            <a:r>
              <a:rPr lang="zh-TW" altLang="en-US" sz="1200" b="0" i="0" kern="1200" dirty="0">
                <a:solidFill>
                  <a:schemeClr val="tx1"/>
                </a:solidFill>
                <a:effectLst/>
                <a:latin typeface="+mn-lt"/>
                <a:ea typeface="+mn-ea"/>
                <a:cs typeface="+mn-cs"/>
              </a:rPr>
              <a:t> </a:t>
            </a:r>
            <a:r>
              <a:rPr lang="zh-TW" altLang="zh-TW" sz="1200" b="0" i="0" kern="1200" dirty="0">
                <a:solidFill>
                  <a:schemeClr val="tx1"/>
                </a:solidFill>
                <a:effectLst/>
                <a:latin typeface="+mn-lt"/>
                <a:ea typeface="+mn-ea"/>
                <a:cs typeface="+mn-cs"/>
              </a:rPr>
              <a:t>MoE </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 由</a:t>
            </a:r>
            <a:r>
              <a:rPr lang="en-US" altLang="zh-TW" sz="1200" b="0" i="0" kern="1200" dirty="0">
                <a:solidFill>
                  <a:schemeClr val="tx1"/>
                </a:solidFill>
                <a:effectLst/>
                <a:latin typeface="+mn-lt"/>
                <a:ea typeface="+mn-ea"/>
                <a:cs typeface="+mn-cs"/>
              </a:rPr>
              <a:t>896</a:t>
            </a:r>
            <a:r>
              <a:rPr lang="zh-TW" altLang="en-US" sz="1200" b="0" i="0" kern="1200" dirty="0">
                <a:solidFill>
                  <a:schemeClr val="tx1"/>
                </a:solidFill>
                <a:effectLst/>
                <a:latin typeface="+mn-lt"/>
                <a:ea typeface="+mn-ea"/>
                <a:cs typeface="+mn-cs"/>
              </a:rPr>
              <a:t>個專家</a:t>
            </a:r>
            <a:r>
              <a:rPr lang="zh-TW" altLang="zh-TW" sz="1200" b="0" i="0" kern="1200" dirty="0">
                <a:solidFill>
                  <a:schemeClr val="tx1"/>
                </a:solidFill>
                <a:effectLst/>
                <a:latin typeface="+mn-lt"/>
                <a:ea typeface="+mn-ea"/>
                <a:cs typeface="+mn-cs"/>
              </a:rPr>
              <a:t>模型</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 </a:t>
            </a:r>
            <a:r>
              <a:rPr lang="zh-TW" altLang="zh-TW" sz="1200" b="0" i="0" kern="1200" dirty="0">
                <a:solidFill>
                  <a:schemeClr val="tx1"/>
                </a:solidFill>
                <a:effectLst/>
                <a:latin typeface="+mn-lt"/>
                <a:ea typeface="+mn-ea"/>
                <a:cs typeface="+mn-cs"/>
              </a:rPr>
              <a:t>高效激活16</a:t>
            </a:r>
            <a:r>
              <a:rPr lang="zh-TW" altLang="en-US" sz="1200" b="0" i="0" kern="1200" dirty="0">
                <a:solidFill>
                  <a:schemeClr val="tx1"/>
                </a:solidFill>
                <a:effectLst/>
                <a:latin typeface="+mn-lt"/>
                <a:ea typeface="+mn-ea"/>
                <a:cs typeface="+mn-cs"/>
              </a:rPr>
              <a:t>個</a:t>
            </a:r>
            <a:r>
              <a:rPr lang="zh-TW" altLang="zh-TW" sz="1200" b="0" i="0" kern="1200" dirty="0">
                <a:solidFill>
                  <a:schemeClr val="tx1"/>
                </a:solidFill>
                <a:effectLst/>
                <a:latin typeface="+mn-lt"/>
                <a:ea typeface="+mn-ea"/>
                <a:cs typeface="+mn-cs"/>
              </a:rPr>
              <a:t> </a:t>
            </a:r>
            <a:r>
              <a:rPr lang="en-US" altLang="zh-TW" sz="1200" b="0" i="0" kern="1200" dirty="0">
                <a:solidFill>
                  <a:schemeClr val="tx1"/>
                </a:solidFill>
                <a:effectLst/>
                <a:latin typeface="+mn-lt"/>
                <a:ea typeface="+mn-ea"/>
                <a:cs typeface="+mn-cs"/>
              </a:rPr>
              <a:t>(2</a:t>
            </a:r>
            <a:r>
              <a:rPr lang="zh-TW" altLang="en-US" sz="1200" b="0" i="0" kern="1200" dirty="0">
                <a:solidFill>
                  <a:schemeClr val="tx1"/>
                </a:solidFill>
                <a:effectLst/>
                <a:latin typeface="+mn-lt"/>
                <a:ea typeface="+mn-ea"/>
                <a:cs typeface="+mn-cs"/>
              </a:rPr>
              <a:t>常駐分享</a:t>
            </a:r>
            <a:r>
              <a:rPr lang="en-US" altLang="zh-TW" sz="1200" b="0" i="0" kern="1200" dirty="0">
                <a:solidFill>
                  <a:schemeClr val="tx1"/>
                </a:solidFill>
                <a:effectLst/>
                <a:latin typeface="+mn-lt"/>
                <a:ea typeface="+mn-ea"/>
                <a:cs typeface="+mn-cs"/>
              </a:rPr>
              <a:t>+14</a:t>
            </a:r>
            <a:r>
              <a:rPr lang="zh-TW" altLang="en-US" sz="1200" b="0" i="0" kern="1200" dirty="0">
                <a:solidFill>
                  <a:schemeClr val="tx1"/>
                </a:solidFill>
                <a:effectLst/>
                <a:latin typeface="+mn-lt"/>
                <a:ea typeface="+mn-ea"/>
                <a:cs typeface="+mn-cs"/>
              </a:rPr>
              <a:t>動態選取</a:t>
            </a:r>
            <a:r>
              <a:rPr lang="en-US" altLang="zh-TW" sz="1200" b="0" i="0" kern="1200" dirty="0">
                <a:solidFill>
                  <a:schemeClr val="tx1"/>
                </a:solidFill>
                <a:effectLst/>
                <a:latin typeface="+mn-lt"/>
                <a:ea typeface="+mn-ea"/>
                <a:cs typeface="+mn-cs"/>
              </a:rPr>
              <a:t>)</a:t>
            </a:r>
            <a:r>
              <a:rPr lang="zh-TW" altLang="zh-TW" sz="1200" b="0" i="0" kern="1200" dirty="0">
                <a:solidFill>
                  <a:schemeClr val="tx1"/>
                </a:solidFill>
                <a:effectLst/>
                <a:latin typeface="+mn-lt"/>
                <a:ea typeface="+mn-ea"/>
                <a:cs typeface="+mn-cs"/>
              </a:rPr>
              <a:t>。</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r>
              <a:rPr lang="zh-TW" altLang="zh-TW" sz="1200" b="0" i="0" kern="1200" dirty="0">
                <a:solidFill>
                  <a:schemeClr val="tx1"/>
                </a:solidFill>
                <a:effectLst/>
                <a:latin typeface="+mn-lt"/>
                <a:ea typeface="+mn-ea"/>
                <a:cs typeface="+mn-cs"/>
              </a:rPr>
              <a:t>再加上训练方法和数据配方的优化，这些结构性改进让 Kimi K3 相比 K2 的整体扩展效率提升约 2.5 倍，能更有效地把算力转化为能力。</a:t>
            </a:r>
            <a:endParaRPr lang="zh-TW" altLang="en-US" dirty="0"/>
          </a:p>
        </p:txBody>
      </p:sp>
      <p:sp>
        <p:nvSpPr>
          <p:cNvPr id="4" name="投影片編號版面配置區 3">
            <a:extLst>
              <a:ext uri="{FF2B5EF4-FFF2-40B4-BE49-F238E27FC236}">
                <a16:creationId xmlns:a16="http://schemas.microsoft.com/office/drawing/2014/main" id="{12179625-06B8-3D73-D2D4-34D86FEE2A0A}"/>
              </a:ext>
            </a:extLst>
          </p:cNvPr>
          <p:cNvSpPr>
            <a:spLocks noGrp="1"/>
          </p:cNvSpPr>
          <p:nvPr>
            <p:ph type="sldNum" sz="quarter" idx="5"/>
          </p:nvPr>
        </p:nvSpPr>
        <p:spPr/>
        <p:txBody>
          <a:bodyPr/>
          <a:lstStyle/>
          <a:p>
            <a:fld id="{E3A6CE5E-F349-486D-8749-82EF2AD71FA8}" type="slidenum">
              <a:rPr lang="zh-TW" altLang="en-US" smtClean="0"/>
              <a:t>29</a:t>
            </a:fld>
            <a:endParaRPr lang="zh-TW" altLang="en-US"/>
          </a:p>
        </p:txBody>
      </p:sp>
    </p:spTree>
    <p:extLst>
      <p:ext uri="{BB962C8B-B14F-4D97-AF65-F5344CB8AC3E}">
        <p14:creationId xmlns:p14="http://schemas.microsoft.com/office/powerpoint/2010/main" val="40651194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3DBA0-5016-15B9-B336-967BC65044C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8CEE158-7518-B36E-6B39-A56DF4E6EB9E}"/>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AE68B9F-F26F-17C6-19AE-499CDA9202C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AI</a:t>
            </a:r>
            <a:r>
              <a:rPr lang="zh-TW" altLang="en-US" dirty="0"/>
              <a:t>的強弱</a:t>
            </a:r>
            <a:r>
              <a:rPr lang="en-US" altLang="zh-TW" dirty="0"/>
              <a:t>:</a:t>
            </a:r>
            <a:r>
              <a:rPr lang="zh-TW" altLang="en-US" dirty="0"/>
              <a:t> 取決於數據</a:t>
            </a:r>
            <a:r>
              <a:rPr lang="en-US" altLang="zh-TW" dirty="0"/>
              <a:t>(data),</a:t>
            </a:r>
            <a:r>
              <a:rPr lang="zh-TW" altLang="en-US" dirty="0"/>
              <a:t> 算法</a:t>
            </a:r>
            <a:r>
              <a:rPr lang="en-US" altLang="zh-TW" dirty="0"/>
              <a:t>(algorithm), </a:t>
            </a:r>
            <a:r>
              <a:rPr lang="zh-TW" altLang="en-US" dirty="0"/>
              <a:t>算力</a:t>
            </a:r>
            <a:r>
              <a:rPr lang="en-US" altLang="zh-TW" dirty="0"/>
              <a:t>(computing)</a:t>
            </a:r>
          </a:p>
          <a:p>
            <a:endParaRPr lang="en-US" altLang="zh-TW" dirty="0"/>
          </a:p>
          <a:p>
            <a:r>
              <a:rPr lang="en-US" altLang="zh-TW" dirty="0"/>
              <a:t>2010 </a:t>
            </a:r>
            <a:r>
              <a:rPr lang="zh-TW" altLang="en-US" dirty="0"/>
              <a:t>算力助長了一切</a:t>
            </a:r>
            <a:r>
              <a:rPr lang="en-US" altLang="zh-TW" dirty="0"/>
              <a:t>:</a:t>
            </a:r>
          </a:p>
          <a:p>
            <a:r>
              <a:rPr lang="en-US" altLang="zh-TW" dirty="0"/>
              <a:t>2018 </a:t>
            </a:r>
            <a:r>
              <a:rPr lang="zh-TW" altLang="zh-TW" dirty="0"/>
              <a:t>動態預訓練時代：上下文的「環境覺醒」 </a:t>
            </a:r>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endParaRPr lang="en-US" altLang="zh-TW" dirty="0"/>
          </a:p>
          <a:p>
            <a:r>
              <a:rPr lang="en-US" altLang="zh-TW" dirty="0"/>
              <a:t>CoT: Chain-of-Thought: (</a:t>
            </a:r>
            <a:r>
              <a:rPr lang="zh-TW" altLang="en-US" dirty="0"/>
              <a:t>思維鏈</a:t>
            </a:r>
            <a:r>
              <a:rPr lang="en-US" altLang="zh-TW" dirty="0"/>
              <a:t>)</a:t>
            </a:r>
            <a:r>
              <a:rPr lang="zh-TW" altLang="zh-TW" sz="1200" b="0" i="0" kern="1200" dirty="0">
                <a:solidFill>
                  <a:schemeClr val="tx1"/>
                </a:solidFill>
                <a:effectLst/>
                <a:latin typeface="+mn-lt"/>
                <a:ea typeface="+mn-ea"/>
                <a:cs typeface="+mn-cs"/>
              </a:rPr>
              <a:t>這個方法有助於大型語言模型克服一些需要邏輯思維或多個步驟來解決的推理任務</a:t>
            </a:r>
            <a:r>
              <a:rPr lang="zh-TW" altLang="en-US" sz="1200" b="0" i="0" kern="1200" dirty="0">
                <a:solidFill>
                  <a:schemeClr val="tx1"/>
                </a:solidFill>
                <a:effectLst/>
                <a:latin typeface="+mn-lt"/>
                <a:ea typeface="+mn-ea"/>
                <a:cs typeface="+mn-cs"/>
              </a:rPr>
              <a:t> </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在</a:t>
            </a:r>
            <a:r>
              <a:rPr lang="en-US" altLang="zh-TW" sz="1200" b="0" i="0" kern="1200" dirty="0">
                <a:solidFill>
                  <a:schemeClr val="tx1"/>
                </a:solidFill>
                <a:effectLst/>
                <a:latin typeface="+mn-lt"/>
                <a:ea typeface="+mn-ea"/>
                <a:cs typeface="+mn-cs"/>
              </a:rPr>
              <a:t>prompt</a:t>
            </a:r>
            <a:r>
              <a:rPr lang="zh-TW" altLang="en-US" sz="1200" b="0" i="0" kern="1200" dirty="0">
                <a:solidFill>
                  <a:schemeClr val="tx1"/>
                </a:solidFill>
                <a:effectLst/>
                <a:latin typeface="+mn-lt"/>
                <a:ea typeface="+mn-ea"/>
                <a:cs typeface="+mn-cs"/>
              </a:rPr>
              <a:t>裡面</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帶著過程</a:t>
            </a:r>
            <a:r>
              <a:rPr lang="en-US" altLang="zh-TW" sz="1200" b="0" i="0" kern="1200" dirty="0">
                <a:solidFill>
                  <a:schemeClr val="tx1"/>
                </a:solidFill>
                <a:effectLst/>
                <a:latin typeface="+mn-lt"/>
                <a:ea typeface="+mn-ea"/>
                <a:cs typeface="+mn-cs"/>
              </a:rPr>
              <a:t>)</a:t>
            </a:r>
            <a:endParaRPr lang="en-US" altLang="zh-TW" dirty="0"/>
          </a:p>
          <a:p>
            <a:endParaRPr lang="en-US" altLang="zh-TW" dirty="0"/>
          </a:p>
          <a:p>
            <a:r>
              <a:rPr lang="zh-TW" altLang="en-US" dirty="0"/>
              <a:t>預訓練</a:t>
            </a:r>
            <a:r>
              <a:rPr lang="en-US" altLang="zh-TW" dirty="0"/>
              <a:t>/</a:t>
            </a:r>
            <a:r>
              <a:rPr lang="zh-TW" altLang="en-US" dirty="0"/>
              <a:t>微調技術大躍進</a:t>
            </a:r>
            <a:endParaRPr lang="en-US" altLang="zh-TW" dirty="0"/>
          </a:p>
          <a:p>
            <a:r>
              <a:rPr lang="en-US" altLang="zh-TW" dirty="0"/>
              <a:t>Reinforcement Learning from Human Feedback (RLHF): Anthropic </a:t>
            </a:r>
            <a:r>
              <a:rPr lang="zh-TW" altLang="en-US" dirty="0"/>
              <a:t>很具里程碑意義</a:t>
            </a:r>
            <a:endParaRPr lang="en-US" altLang="zh-TW" dirty="0"/>
          </a:p>
          <a:p>
            <a:r>
              <a:rPr lang="en-US" altLang="zh-TW" dirty="0"/>
              <a:t>Direct Preference Optimization (DPO): Standford </a:t>
            </a:r>
            <a:r>
              <a:rPr lang="zh-TW" altLang="en-US" dirty="0"/>
              <a:t>簡化學習偏好</a:t>
            </a:r>
            <a:r>
              <a:rPr lang="en-US" altLang="zh-TW" dirty="0"/>
              <a:t>,</a:t>
            </a:r>
            <a:r>
              <a:rPr lang="zh-TW" altLang="en-US" dirty="0"/>
              <a:t> 免除了獎勵模型</a:t>
            </a:r>
            <a:endParaRPr lang="en-US" altLang="zh-TW" dirty="0"/>
          </a:p>
          <a:p>
            <a:r>
              <a:rPr lang="en-US" altLang="zh-TW" dirty="0"/>
              <a:t>Self-Alignment</a:t>
            </a:r>
            <a:r>
              <a:rPr lang="zh-TW" altLang="en-US" dirty="0"/>
              <a:t> </a:t>
            </a:r>
            <a:r>
              <a:rPr lang="en-US" altLang="zh-TW" dirty="0"/>
              <a:t>(SA):</a:t>
            </a:r>
            <a:r>
              <a:rPr lang="zh-TW" altLang="en-US" dirty="0"/>
              <a:t> </a:t>
            </a:r>
            <a:r>
              <a:rPr lang="en-US" altLang="zh-TW" dirty="0"/>
              <a:t>Frontier labs </a:t>
            </a:r>
            <a:r>
              <a:rPr lang="zh-TW" altLang="en-US" dirty="0"/>
              <a:t>使用最小的人類引導</a:t>
            </a:r>
            <a:r>
              <a:rPr lang="en-US" altLang="zh-TW" dirty="0"/>
              <a:t>, </a:t>
            </a:r>
            <a:r>
              <a:rPr lang="zh-TW" altLang="en-US" dirty="0"/>
              <a:t>進行模型對齊</a:t>
            </a:r>
            <a:endParaRPr lang="en-US" altLang="zh-TW" dirty="0"/>
          </a:p>
          <a:p>
            <a:endParaRPr lang="en-US" altLang="zh-TW" dirty="0"/>
          </a:p>
          <a:p>
            <a:endParaRPr lang="zh-TW" altLang="en-US" dirty="0"/>
          </a:p>
        </p:txBody>
      </p:sp>
      <p:sp>
        <p:nvSpPr>
          <p:cNvPr id="4" name="投影片編號版面配置區 3">
            <a:extLst>
              <a:ext uri="{FF2B5EF4-FFF2-40B4-BE49-F238E27FC236}">
                <a16:creationId xmlns:a16="http://schemas.microsoft.com/office/drawing/2014/main" id="{E5C4B865-7765-C3FC-A6C5-674D1B923E08}"/>
              </a:ext>
            </a:extLst>
          </p:cNvPr>
          <p:cNvSpPr>
            <a:spLocks noGrp="1"/>
          </p:cNvSpPr>
          <p:nvPr>
            <p:ph type="sldNum" sz="quarter" idx="5"/>
          </p:nvPr>
        </p:nvSpPr>
        <p:spPr/>
        <p:txBody>
          <a:bodyPr/>
          <a:lstStyle/>
          <a:p>
            <a:fld id="{E3A6CE5E-F349-486D-8749-82EF2AD71FA8}" type="slidenum">
              <a:rPr lang="zh-TW" altLang="en-US" smtClean="0"/>
              <a:t>30</a:t>
            </a:fld>
            <a:endParaRPr lang="zh-TW" altLang="en-US"/>
          </a:p>
        </p:txBody>
      </p:sp>
    </p:spTree>
    <p:extLst>
      <p:ext uri="{BB962C8B-B14F-4D97-AF65-F5344CB8AC3E}">
        <p14:creationId xmlns:p14="http://schemas.microsoft.com/office/powerpoint/2010/main" val="803191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87095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32101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AF25E997-4179-402B-B045-C290473E86F3}" type="datetimeFigureOut">
              <a:rPr lang="zh-TW" altLang="en-US" smtClean="0"/>
              <a:t>2026/9/18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204A4CC-0142-4D0E-B207-47A74A717BFD}" type="slidenum">
              <a:rPr lang="zh-TW" altLang="en-US" smtClean="0"/>
              <a:t>‹#›</a:t>
            </a:fld>
            <a:endParaRPr lang="zh-TW" altLang="en-US"/>
          </a:p>
        </p:txBody>
      </p:sp>
    </p:spTree>
    <p:extLst>
      <p:ext uri="{BB962C8B-B14F-4D97-AF65-F5344CB8AC3E}">
        <p14:creationId xmlns:p14="http://schemas.microsoft.com/office/powerpoint/2010/main" val="35672754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頁尾版面配置區 4">
            <a:extLst>
              <a:ext uri="{FF2B5EF4-FFF2-40B4-BE49-F238E27FC236}">
                <a16:creationId xmlns:a16="http://schemas.microsoft.com/office/drawing/2014/main" id="{F852660B-5776-4457-897C-22F48580809B}"/>
              </a:ext>
            </a:extLst>
          </p:cNvPr>
          <p:cNvSpPr txBox="1">
            <a:spLocks/>
          </p:cNvSpPr>
          <p:nvPr userDrawn="1"/>
        </p:nvSpPr>
        <p:spPr>
          <a:xfrm>
            <a:off x="0" y="6628025"/>
            <a:ext cx="9144000" cy="235219"/>
          </a:xfrm>
          <a:prstGeom prst="rect">
            <a:avLst/>
          </a:prstGeom>
          <a:solidFill>
            <a:schemeClr val="accent3">
              <a:lumMod val="20000"/>
              <a:lumOff val="80000"/>
            </a:schemeClr>
          </a:solidFill>
        </p:spPr>
        <p:txBody>
          <a:bodyPr vert="horz" lIns="91440" tIns="45720" rIns="91440" bIns="45720" rtlCol="0" anchor="ctr"/>
          <a:lstStyle>
            <a:defPPr>
              <a:defRPr lang="zh-TW"/>
            </a:defPPr>
            <a:lvl1pPr marL="0" algn="ct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TW" altLang="en-US" dirty="0"/>
          </a:p>
        </p:txBody>
      </p:sp>
    </p:spTree>
  </p:cSld>
  <p:clrMap bg1="lt1" tx1="dk1" bg2="lt2" tx2="dk2" accent1="accent1" accent2="accent2" accent3="accent3" accent4="accent4" accent5="accent5" accent6="accent6" hlink="hlink" folHlink="folHlink"/>
  <p:sldLayoutIdLst>
    <p:sldLayoutId id="2147483659" r:id="rId1"/>
    <p:sldLayoutId id="2147483662" r:id="rId2"/>
    <p:sldLayoutId id="2147483663" r:id="rId3"/>
  </p:sldLayoutIdLst>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hf hdr="0"/>
  <p:txStyles>
    <p:titleStyle>
      <a:lvl1pPr algn="l" defTabSz="914400" rtl="0" eaLnBrk="1" latinLnBrk="0" hangingPunct="1">
        <a:spcBef>
          <a:spcPct val="0"/>
        </a:spcBef>
        <a:buNone/>
        <a:defRPr sz="2400" kern="1200">
          <a:solidFill>
            <a:schemeClr val="tx1"/>
          </a:solidFill>
          <a:latin typeface="+mj-lt"/>
          <a:ea typeface="+mj-ea"/>
          <a:cs typeface="+mj-cs"/>
        </a:defRPr>
      </a:lvl1pPr>
    </p:titleStyle>
    <p:bodyStyle>
      <a:lvl1pPr marL="360000" indent="-360000" algn="l" defTabSz="914400" rtl="0" eaLnBrk="1" latinLnBrk="0" hangingPunct="1">
        <a:spcBef>
          <a:spcPct val="20000"/>
        </a:spcBef>
        <a:buClr>
          <a:schemeClr val="tx1"/>
        </a:buClr>
        <a:buFont typeface="Calibri" pitchFamily="34" charset="0"/>
        <a:buChar char="●"/>
        <a:defRPr sz="2000" kern="1200">
          <a:solidFill>
            <a:schemeClr val="tx1"/>
          </a:solidFill>
          <a:latin typeface="+mn-lt"/>
          <a:ea typeface="+mn-ea"/>
          <a:cs typeface="+mn-cs"/>
        </a:defRPr>
      </a:lvl1pPr>
      <a:lvl2pPr marL="720000" indent="-360000" algn="l" defTabSz="914400" rtl="0" eaLnBrk="1" latinLnBrk="0" hangingPunct="1">
        <a:spcBef>
          <a:spcPct val="20000"/>
        </a:spcBef>
        <a:buClr>
          <a:schemeClr val="tx1"/>
        </a:buClr>
        <a:buFont typeface="Calibri" pitchFamily="34" charset="0"/>
        <a:buChar char="○"/>
        <a:defRPr sz="2000" kern="1200">
          <a:solidFill>
            <a:schemeClr val="tx1"/>
          </a:solidFill>
          <a:latin typeface="+mn-lt"/>
          <a:ea typeface="+mn-ea"/>
          <a:cs typeface="+mn-cs"/>
        </a:defRPr>
      </a:lvl2pPr>
      <a:lvl3pPr marL="1080000" indent="-360000" algn="l" defTabSz="914400" rtl="0" eaLnBrk="1" latinLnBrk="0" hangingPunct="1">
        <a:spcBef>
          <a:spcPct val="20000"/>
        </a:spcBef>
        <a:buClr>
          <a:schemeClr val="tx1"/>
        </a:buClr>
        <a:buFont typeface="Arial" pitchFamily="34" charset="0"/>
        <a:buChar char="–"/>
        <a:defRPr sz="2000" kern="1200">
          <a:solidFill>
            <a:schemeClr val="tx1"/>
          </a:solidFill>
          <a:latin typeface="+mn-lt"/>
          <a:ea typeface="+mn-ea"/>
          <a:cs typeface="+mn-cs"/>
        </a:defRPr>
      </a:lvl3pPr>
      <a:lvl4pPr marL="1440000" indent="-360000" algn="l" defTabSz="914400" rtl="0" eaLnBrk="1" latinLnBrk="0" hangingPunct="1">
        <a:spcBef>
          <a:spcPct val="20000"/>
        </a:spcBef>
        <a:buClr>
          <a:schemeClr val="tx1"/>
        </a:buClr>
        <a:buFont typeface="Arial" pitchFamily="34" charset="0"/>
        <a:buChar char="‒"/>
        <a:defRPr sz="2000" kern="1200">
          <a:solidFill>
            <a:schemeClr val="tx1"/>
          </a:solidFill>
          <a:latin typeface="+mn-lt"/>
          <a:ea typeface="+mn-ea"/>
          <a:cs typeface="+mn-cs"/>
        </a:defRPr>
      </a:lvl4pPr>
      <a:lvl5pPr marL="1800000" indent="-360000" algn="l" defTabSz="914400" rtl="0" eaLnBrk="1" latinLnBrk="0" hangingPunct="1">
        <a:spcBef>
          <a:spcPct val="20000"/>
        </a:spcBef>
        <a:buClr>
          <a:schemeClr val="tx1"/>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3.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hyperlink" Target="https://zhida.zhihu.com/search?content_id=240665807&amp;content_type=Article&amp;match_order=1&amp;q=%E6%A0%87%E5%87%86%E5%8A%A8%E9%87%8FSGD%E7%AE%97%E6%B3%95&amp;zd_token=eyJhbGciOiJIUzI1NiIsInR5cCI6IkpXVCJ9.eyJpc3MiOiJ6aGlkYV9zZXJ2ZXIiLCJleHAiOjE3ODcxOTY4NTgsInEiOiLmoIflh4bliqjph49TR0Tnrpfms5UiLCJ6aGlkYV9zb3VyY2UiOiJlbnRpdHkiLCJjb250ZW50X2lkIjoyNDA2NjU4MDcsImNvbnRlbnRfdHlwZSI6IkFydGljbGUiLCJtYXRjaF9vcmRlciI6MSwiemRfdG9rZW4iOm51bGx9.Sf45ojFVVGocTHv9n7ReJO3xfYKL7Qhnws7r8tZGHms&amp;zhida_source=entity" TargetMode="External"/><Relationship Id="rId2" Type="http://schemas.openxmlformats.org/officeDocument/2006/relationships/image" Target="../media/image13.png"/><Relationship Id="rId16"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5.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0.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33.png"/><Relationship Id="rId7" Type="http://schemas.openxmlformats.org/officeDocument/2006/relationships/image" Target="../media/image39.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60.png"/><Relationship Id="rId4" Type="http://schemas.openxmlformats.org/officeDocument/2006/relationships/image" Target="../media/image350.png"/></Relationships>
</file>

<file path=ppt/slides/_rels/slide2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58.png"/><Relationship Id="rId7" Type="http://schemas.openxmlformats.org/officeDocument/2006/relationships/image" Target="../media/image62.png"/><Relationship Id="rId12" Type="http://schemas.openxmlformats.org/officeDocument/2006/relationships/image" Target="../media/image66.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65.png"/><Relationship Id="rId5" Type="http://schemas.openxmlformats.org/officeDocument/2006/relationships/image" Target="../media/image60.png"/><Relationship Id="rId10" Type="http://schemas.openxmlformats.org/officeDocument/2006/relationships/image" Target="../media/image64.png"/><Relationship Id="rId4" Type="http://schemas.openxmlformats.org/officeDocument/2006/relationships/image" Target="../media/image59.png"/><Relationship Id="rId9" Type="http://schemas.openxmlformats.org/officeDocument/2006/relationships/image" Target="../media/image6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41754-1A01-9656-056C-4B624E45A905}"/>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96A5153E-BD84-CB21-D566-B888A2F168CC}"/>
              </a:ext>
            </a:extLst>
          </p:cNvPr>
          <p:cNvSpPr txBox="1"/>
          <p:nvPr/>
        </p:nvSpPr>
        <p:spPr>
          <a:xfrm>
            <a:off x="3748825" y="5118283"/>
            <a:ext cx="1646348" cy="830997"/>
          </a:xfrm>
          <a:prstGeom prst="rect">
            <a:avLst/>
          </a:prstGeom>
          <a:noFill/>
        </p:spPr>
        <p:txBody>
          <a:bodyPr wrap="none" rtlCol="0">
            <a:spAutoFit/>
          </a:bodyPr>
          <a:lstStyle/>
          <a:p>
            <a:pPr algn="ctr"/>
            <a:r>
              <a:rPr lang="en-US" altLang="zh-TW" sz="1200" b="1" dirty="0">
                <a:solidFill>
                  <a:schemeClr val="accent1"/>
                </a:solidFill>
              </a:rPr>
              <a:t>Centrillion Technology </a:t>
            </a:r>
          </a:p>
          <a:p>
            <a:pPr algn="ctr"/>
            <a:r>
              <a:rPr lang="en-US" altLang="zh-TW" sz="1200" b="1" dirty="0">
                <a:solidFill>
                  <a:schemeClr val="accent1"/>
                </a:solidFill>
              </a:rPr>
              <a:t>Bioinformation Dept. </a:t>
            </a:r>
          </a:p>
          <a:p>
            <a:pPr algn="ctr"/>
            <a:r>
              <a:rPr lang="en-US" altLang="zh-TW" sz="1400" dirty="0">
                <a:solidFill>
                  <a:schemeClr val="accent1"/>
                </a:solidFill>
              </a:rPr>
              <a:t>Allen &amp; Felix</a:t>
            </a:r>
          </a:p>
          <a:p>
            <a:pPr algn="ctr"/>
            <a:r>
              <a:rPr lang="en-US" altLang="zh-TW" sz="1000" dirty="0">
                <a:solidFill>
                  <a:schemeClr val="accent1"/>
                </a:solidFill>
              </a:rPr>
              <a:t>2026/09/03</a:t>
            </a:r>
            <a:endParaRPr lang="zh-TW" altLang="en-US" sz="1000" dirty="0">
              <a:solidFill>
                <a:schemeClr val="accent1"/>
              </a:solidFill>
            </a:endParaRPr>
          </a:p>
        </p:txBody>
      </p:sp>
      <p:sp>
        <p:nvSpPr>
          <p:cNvPr id="5" name="文字方塊 4">
            <a:extLst>
              <a:ext uri="{FF2B5EF4-FFF2-40B4-BE49-F238E27FC236}">
                <a16:creationId xmlns:a16="http://schemas.microsoft.com/office/drawing/2014/main" id="{04CB84FD-A5FC-F21A-B4BF-263FCA334053}"/>
              </a:ext>
            </a:extLst>
          </p:cNvPr>
          <p:cNvSpPr txBox="1"/>
          <p:nvPr/>
        </p:nvSpPr>
        <p:spPr>
          <a:xfrm>
            <a:off x="809581" y="2177956"/>
            <a:ext cx="7524837" cy="1713290"/>
          </a:xfrm>
          <a:prstGeom prst="rect">
            <a:avLst/>
          </a:prstGeom>
          <a:noFill/>
        </p:spPr>
        <p:txBody>
          <a:bodyPr wrap="square" rtlCol="0">
            <a:spAutoFit/>
          </a:bodyPr>
          <a:lstStyle/>
          <a:p>
            <a:pPr algn="ctr"/>
            <a:r>
              <a:rPr lang="en-US" altLang="zh-TW" sz="4000" b="1" dirty="0"/>
              <a:t>Kimi K3:</a:t>
            </a:r>
          </a:p>
          <a:p>
            <a:pPr algn="ctr"/>
            <a:r>
              <a:rPr lang="en-US" altLang="zh-TW" sz="4000" b="1" dirty="0"/>
              <a:t>Open Frontier Intelligence</a:t>
            </a:r>
          </a:p>
          <a:p>
            <a:pPr defTabSz="5467350">
              <a:lnSpc>
                <a:spcPts val="400"/>
              </a:lnSpc>
            </a:pPr>
            <a:r>
              <a:rPr lang="zh-TW" altLang="en-US" sz="1000" b="1" dirty="0"/>
              <a:t> </a:t>
            </a:r>
            <a:r>
              <a:rPr lang="en-US" altLang="zh-TW" sz="1000" b="1" dirty="0"/>
              <a:t>	July  2026</a:t>
            </a:r>
          </a:p>
          <a:p>
            <a:pPr indent="541338" defTabSz="7269163">
              <a:tabLst>
                <a:tab pos="2955925" algn="l"/>
                <a:tab pos="5470525" algn="l"/>
              </a:tabLst>
            </a:pPr>
            <a:r>
              <a:rPr lang="en-US" altLang="zh-TW" sz="1200" b="1" dirty="0"/>
              <a:t>	</a:t>
            </a:r>
            <a:r>
              <a:rPr lang="en-US" altLang="zh-TW" sz="1200" b="1" dirty="0">
                <a:sym typeface="Wingdings" panose="05000000000000000000" pitchFamily="2" charset="2"/>
              </a:rPr>
              <a:t>Moonshot</a:t>
            </a:r>
            <a:r>
              <a:rPr lang="zh-TW" altLang="en-US" sz="1200" b="1" dirty="0">
                <a:sym typeface="Wingdings" panose="05000000000000000000" pitchFamily="2" charset="2"/>
              </a:rPr>
              <a:t> </a:t>
            </a:r>
            <a:r>
              <a:rPr lang="en-US" altLang="zh-TW" sz="1200" b="1" dirty="0">
                <a:sym typeface="Wingdings" panose="05000000000000000000" pitchFamily="2" charset="2"/>
              </a:rPr>
              <a:t>Kimi Team	</a:t>
            </a:r>
            <a:r>
              <a:rPr lang="en-US" altLang="zh-TW" sz="1000" dirty="0">
                <a:sym typeface="Wingdings" panose="05000000000000000000" pitchFamily="2" charset="2"/>
              </a:rPr>
              <a:t>	</a:t>
            </a:r>
            <a:r>
              <a:rPr lang="en-US" altLang="zh-TW" sz="1000" dirty="0" err="1">
                <a:sym typeface="Wingdings" panose="05000000000000000000" pitchFamily="2" charset="2"/>
              </a:rPr>
              <a:t>Tongtong</a:t>
            </a:r>
            <a:r>
              <a:rPr lang="en-US" altLang="zh-TW" sz="1000" dirty="0">
                <a:sym typeface="Wingdings" panose="05000000000000000000" pitchFamily="2" charset="2"/>
              </a:rPr>
              <a:t> Bai and 400 other authors</a:t>
            </a:r>
            <a:endParaRPr lang="zh-TW" altLang="en-US" sz="1000" dirty="0">
              <a:solidFill>
                <a:schemeClr val="accent1">
                  <a:lumMod val="75000"/>
                </a:schemeClr>
              </a:solidFill>
            </a:endParaRPr>
          </a:p>
        </p:txBody>
      </p:sp>
      <p:sp>
        <p:nvSpPr>
          <p:cNvPr id="9" name="文字方塊 8">
            <a:extLst>
              <a:ext uri="{FF2B5EF4-FFF2-40B4-BE49-F238E27FC236}">
                <a16:creationId xmlns:a16="http://schemas.microsoft.com/office/drawing/2014/main" id="{FB98A5CE-C6BF-E5C2-A315-6E118FCEFA4D}"/>
              </a:ext>
            </a:extLst>
          </p:cNvPr>
          <p:cNvSpPr txBox="1"/>
          <p:nvPr/>
        </p:nvSpPr>
        <p:spPr>
          <a:xfrm>
            <a:off x="809581" y="476672"/>
            <a:ext cx="7524837" cy="1313180"/>
          </a:xfrm>
          <a:prstGeom prst="rect">
            <a:avLst/>
          </a:prstGeom>
          <a:noFill/>
        </p:spPr>
        <p:txBody>
          <a:bodyPr wrap="square" rtlCol="0">
            <a:spAutoFit/>
          </a:bodyPr>
          <a:lstStyle/>
          <a:p>
            <a:pPr algn="ctr"/>
            <a:r>
              <a:rPr lang="en-US" altLang="zh-TW" sz="3200" b="1" dirty="0">
                <a:solidFill>
                  <a:schemeClr val="bg1">
                    <a:lumMod val="65000"/>
                  </a:schemeClr>
                </a:solidFill>
              </a:rPr>
              <a:t>Kimi K2.5:</a:t>
            </a:r>
          </a:p>
          <a:p>
            <a:pPr algn="ctr"/>
            <a:r>
              <a:rPr lang="en-US" altLang="zh-TW" sz="3200" b="1" dirty="0">
                <a:solidFill>
                  <a:schemeClr val="bg1">
                    <a:lumMod val="65000"/>
                  </a:schemeClr>
                </a:solidFill>
              </a:rPr>
              <a:t>Visual Agentic Intelligence</a:t>
            </a:r>
          </a:p>
          <a:p>
            <a:pPr defTabSz="5467350">
              <a:lnSpc>
                <a:spcPts val="400"/>
              </a:lnSpc>
            </a:pPr>
            <a:r>
              <a:rPr lang="zh-TW" altLang="en-US" sz="1000" b="1" dirty="0">
                <a:solidFill>
                  <a:schemeClr val="bg1">
                    <a:lumMod val="50000"/>
                  </a:schemeClr>
                </a:solidFill>
              </a:rPr>
              <a:t> </a:t>
            </a:r>
            <a:r>
              <a:rPr lang="en-US" altLang="zh-TW" sz="1000" b="1" dirty="0">
                <a:solidFill>
                  <a:schemeClr val="bg1">
                    <a:lumMod val="50000"/>
                  </a:schemeClr>
                </a:solidFill>
              </a:rPr>
              <a:t>	February  2026</a:t>
            </a:r>
          </a:p>
          <a:p>
            <a:pPr indent="541338" defTabSz="7269163">
              <a:tabLst>
                <a:tab pos="2955925" algn="l"/>
                <a:tab pos="5470525" algn="l"/>
              </a:tabLst>
            </a:pPr>
            <a:r>
              <a:rPr lang="en-US" altLang="zh-TW" sz="1200" b="1" dirty="0">
                <a:solidFill>
                  <a:schemeClr val="bg1">
                    <a:lumMod val="50000"/>
                  </a:schemeClr>
                </a:solidFill>
              </a:rPr>
              <a:t> 	</a:t>
            </a:r>
            <a:r>
              <a:rPr lang="en-US" altLang="zh-TW" sz="1200" b="1" dirty="0">
                <a:solidFill>
                  <a:schemeClr val="bg1">
                    <a:lumMod val="50000"/>
                  </a:schemeClr>
                </a:solidFill>
                <a:sym typeface="Wingdings" panose="05000000000000000000" pitchFamily="2" charset="2"/>
              </a:rPr>
              <a:t>Moonshot Kimi Team 	</a:t>
            </a:r>
          </a:p>
        </p:txBody>
      </p:sp>
      <p:sp>
        <p:nvSpPr>
          <p:cNvPr id="11" name="箭號: 向下 10">
            <a:extLst>
              <a:ext uri="{FF2B5EF4-FFF2-40B4-BE49-F238E27FC236}">
                <a16:creationId xmlns:a16="http://schemas.microsoft.com/office/drawing/2014/main" id="{95BFB3E6-E9A0-BA95-8A5C-3CBFA1A3A37C}"/>
              </a:ext>
            </a:extLst>
          </p:cNvPr>
          <p:cNvSpPr/>
          <p:nvPr/>
        </p:nvSpPr>
        <p:spPr>
          <a:xfrm>
            <a:off x="4355975" y="1850247"/>
            <a:ext cx="432048" cy="426625"/>
          </a:xfrm>
          <a:prstGeom prst="downArrow">
            <a:avLst/>
          </a:prstGeom>
          <a:solidFill>
            <a:schemeClr val="bg1">
              <a:lumMod val="75000"/>
              <a:alpha val="70000"/>
            </a:schemeClr>
          </a:solidFill>
          <a:ln w="127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26760958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20B80-B722-2523-9202-3F21EBB146DE}"/>
            </a:ext>
          </a:extLst>
        </p:cNvPr>
        <p:cNvGrpSpPr/>
        <p:nvPr/>
      </p:nvGrpSpPr>
      <p:grpSpPr>
        <a:xfrm>
          <a:off x="0" y="0"/>
          <a:ext cx="0" cy="0"/>
          <a:chOff x="0" y="0"/>
          <a:chExt cx="0" cy="0"/>
        </a:xfrm>
      </p:grpSpPr>
      <p:sp>
        <p:nvSpPr>
          <p:cNvPr id="64" name="標題 1">
            <a:extLst>
              <a:ext uri="{FF2B5EF4-FFF2-40B4-BE49-F238E27FC236}">
                <a16:creationId xmlns:a16="http://schemas.microsoft.com/office/drawing/2014/main" id="{94909093-0BFB-B658-A42D-64D3192A2420}"/>
              </a:ext>
            </a:extLst>
          </p:cNvPr>
          <p:cNvSpPr txBox="1">
            <a:spLocks/>
          </p:cNvSpPr>
          <p:nvPr/>
        </p:nvSpPr>
        <p:spPr>
          <a:xfrm>
            <a:off x="179512" y="116632"/>
            <a:ext cx="2448272"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Agenda</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2" name="文字方塊 1">
            <a:extLst>
              <a:ext uri="{FF2B5EF4-FFF2-40B4-BE49-F238E27FC236}">
                <a16:creationId xmlns:a16="http://schemas.microsoft.com/office/drawing/2014/main" id="{5B9CD27E-9C1A-3219-6A05-1CA47876AE20}"/>
              </a:ext>
            </a:extLst>
          </p:cNvPr>
          <p:cNvSpPr txBox="1"/>
          <p:nvPr/>
        </p:nvSpPr>
        <p:spPr>
          <a:xfrm>
            <a:off x="845586" y="1268760"/>
            <a:ext cx="7452828" cy="4524315"/>
          </a:xfrm>
          <a:prstGeom prst="rect">
            <a:avLst/>
          </a:prstGeom>
          <a:noFill/>
        </p:spPr>
        <p:txBody>
          <a:bodyPr wrap="square" rtlCol="0">
            <a:spAutoFit/>
          </a:bodyPr>
          <a:lstStyle/>
          <a:p>
            <a:pPr marL="285750" indent="-285750">
              <a:buFont typeface="Wingdings" panose="05000000000000000000" pitchFamily="2" charset="2"/>
              <a:buChar char="Ø"/>
              <a:defRPr/>
            </a:pPr>
            <a:r>
              <a:rPr lang="en-US" altLang="zh-TW" sz="2400" dirty="0">
                <a:latin typeface="Noto Sans HK" panose="020B0200000000000000" pitchFamily="34" charset="-120"/>
                <a:ea typeface="Noto Sans HK" panose="020B0200000000000000" pitchFamily="34" charset="-120"/>
              </a:rPr>
              <a:t>Overview</a:t>
            </a:r>
            <a:r>
              <a:rPr lang="en-US" altLang="zh-TW" sz="1200" dirty="0">
                <a:solidFill>
                  <a:prstClr val="white">
                    <a:lumMod val="75000"/>
                  </a:prstClr>
                </a:solidFill>
                <a:latin typeface="Noto Sans HK" panose="020B0200000000000000" pitchFamily="34" charset="-120"/>
                <a:ea typeface="Noto Sans HK" panose="020B0200000000000000" pitchFamily="34" charset="-120"/>
              </a:rPr>
              <a:t> (AI Evolution from Alex</a:t>
            </a:r>
            <a:r>
              <a:rPr lang="zh-TW" altLang="en-US" sz="1200" dirty="0">
                <a:solidFill>
                  <a:prstClr val="white">
                    <a:lumMod val="75000"/>
                  </a:prstClr>
                </a:solidFill>
                <a:latin typeface="Noto Sans HK" panose="020B0200000000000000" pitchFamily="34" charset="-120"/>
                <a:ea typeface="Noto Sans HK" panose="020B0200000000000000" pitchFamily="34" charset="-120"/>
              </a:rPr>
              <a:t>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Net to GPT)</a:t>
            </a:r>
            <a:endParaRPr lang="en-US" altLang="zh-TW" sz="2400" dirty="0">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Machine Learning</a:t>
            </a:r>
            <a:r>
              <a:rPr lang="zh-TW" altLang="en-US" dirty="0">
                <a:latin typeface="Noto Sans HK" panose="020B0200000000000000" pitchFamily="34" charset="-120"/>
                <a:ea typeface="Noto Sans HK" panose="020B0200000000000000" pitchFamily="34" charset="-120"/>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(UL, semi-SL, SL, RL)</a:t>
            </a:r>
            <a:r>
              <a:rPr lang="en-US" altLang="zh-TW" sz="1400" dirty="0">
                <a:solidFill>
                  <a:schemeClr val="bg1">
                    <a:lumMod val="50000"/>
                  </a:schemeClr>
                </a:solidFill>
                <a:latin typeface="Noto Sans HK" panose="020B0200000000000000" pitchFamily="34" charset="-120"/>
                <a:ea typeface="Noto Sans HK" panose="020B0200000000000000" pitchFamily="34" charset="-120"/>
              </a:rPr>
              <a:t> </a:t>
            </a:r>
          </a:p>
          <a:p>
            <a:pPr marL="742950" lvl="1" indent="-285750">
              <a:buFont typeface="Arial" panose="020B0604020202020204" pitchFamily="34" charset="0"/>
              <a:buChar char="•"/>
            </a:pPr>
            <a:r>
              <a:rPr kumimoji="0" lang="en-US" altLang="zh-TW" sz="1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LLM Training Stages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(Pre-Training, SFT, RLHF)</a:t>
            </a:r>
          </a:p>
          <a:p>
            <a:pPr marL="285750" indent="-285750">
              <a:buFont typeface="Wingdings" panose="05000000000000000000" pitchFamily="2" charset="2"/>
              <a:buChar char="Ø"/>
            </a:pPr>
            <a:r>
              <a:rPr lang="en-US" altLang="zh-TW" sz="2400" dirty="0">
                <a:latin typeface="Noto Sans HK" panose="020B0200000000000000" pitchFamily="34" charset="-120"/>
                <a:ea typeface="Noto Sans HK" panose="020B0200000000000000" pitchFamily="34" charset="-120"/>
              </a:rPr>
              <a:t>Transformer</a:t>
            </a:r>
            <a:r>
              <a:rPr kumimoji="0" lang="zh-TW" altLang="en-US"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(Basic model type has: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Dense and MoE</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Program Flow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(Embedding, PE, Self-Attention</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 FFN, LP2V</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Self-Attention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(Attention is all you nee)</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Feed Forward Network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(FFN)</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Token Embeddings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(Semantic Space)</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Rotary of Positional Encoding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(Relative distance)</a:t>
            </a:r>
            <a:endParaRPr lang="en-US" altLang="zh-TW" sz="1200" dirty="0">
              <a:solidFill>
                <a:prstClr val="black"/>
              </a:solidFill>
              <a:latin typeface="Noto Sans HK" panose="020B0200000000000000" pitchFamily="34" charset="-120"/>
              <a:ea typeface="Noto Sans HK" panose="020B0200000000000000" pitchFamily="34" charset="-12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TW" sz="2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GPT</a:t>
            </a:r>
            <a:r>
              <a:rPr kumimoji="0" lang="zh-TW" altLang="en-US"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(How GPT predict next token?)</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Pre-Training</a:t>
            </a:r>
            <a:r>
              <a:rPr lang="en-US" altLang="zh-TW" dirty="0">
                <a:solidFill>
                  <a:prstClr val="white">
                    <a:lumMod val="50000"/>
                  </a:prstClr>
                </a:solidFill>
                <a:latin typeface="Noto Sans HK" panose="020B0200000000000000" pitchFamily="34" charset="-120"/>
                <a:ea typeface="Noto Sans HK" panose="020B0200000000000000" pitchFamily="34" charset="-120"/>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(Output: weight matrix and parameters)</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MLP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(Multi-Layer Perceptron)</a:t>
            </a:r>
            <a:endParaRPr lang="en-US" altLang="zh-TW" dirty="0">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Backpropagation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(Chain Rule, gradient descent)</a:t>
            </a:r>
            <a:endParaRPr lang="en-US" altLang="zh-TW" sz="1200" dirty="0">
              <a:solidFill>
                <a:prstClr val="white">
                  <a:lumMod val="75000"/>
                </a:prst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defRPr/>
            </a:pPr>
            <a:r>
              <a:rPr lang="en-US" altLang="zh-TW" dirty="0">
                <a:solidFill>
                  <a:prstClr val="black"/>
                </a:solidFill>
                <a:latin typeface="Noto Sans HK" panose="020B0200000000000000" pitchFamily="34" charset="-120"/>
                <a:ea typeface="Noto Sans HK" panose="020B0200000000000000" pitchFamily="34" charset="-120"/>
              </a:rPr>
              <a:t>AI</a:t>
            </a:r>
            <a:r>
              <a:rPr lang="zh-TW" altLang="en-US" dirty="0">
                <a:solidFill>
                  <a:prstClr val="black"/>
                </a:solidFill>
                <a:latin typeface="Noto Sans HK" panose="020B0200000000000000" pitchFamily="34" charset="-120"/>
                <a:ea typeface="Noto Sans HK" panose="020B0200000000000000" pitchFamily="34" charset="-120"/>
              </a:rPr>
              <a:t> </a:t>
            </a:r>
            <a:r>
              <a:rPr lang="en-US" altLang="zh-TW" dirty="0">
                <a:solidFill>
                  <a:prstClr val="black"/>
                </a:solidFill>
                <a:latin typeface="Noto Sans HK" panose="020B0200000000000000" pitchFamily="34" charset="-120"/>
                <a:ea typeface="Noto Sans HK" panose="020B0200000000000000" pitchFamily="34" charset="-120"/>
              </a:rPr>
              <a:t>Ecosystem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(Top 20)</a:t>
            </a:r>
          </a:p>
          <a:p>
            <a:pPr marL="742950" lvl="1" indent="-285750">
              <a:buFont typeface="Arial" panose="020B0604020202020204" pitchFamily="34" charset="0"/>
              <a:buChar char="•"/>
              <a:defRPr/>
            </a:pPr>
            <a:r>
              <a:rPr lang="en-US" altLang="zh-TW" dirty="0">
                <a:solidFill>
                  <a:prstClr val="black"/>
                </a:solidFill>
                <a:latin typeface="Noto Sans HK" panose="020B0200000000000000" pitchFamily="34" charset="-120"/>
                <a:ea typeface="Noto Sans HK" panose="020B0200000000000000" pitchFamily="34" charset="-120"/>
              </a:rPr>
              <a:t>AI</a:t>
            </a:r>
            <a:r>
              <a:rPr lang="zh-TW" altLang="en-US" dirty="0">
                <a:solidFill>
                  <a:prstClr val="black"/>
                </a:solidFill>
                <a:latin typeface="Noto Sans HK" panose="020B0200000000000000" pitchFamily="34" charset="-120"/>
                <a:ea typeface="Noto Sans HK" panose="020B0200000000000000" pitchFamily="34" charset="-120"/>
              </a:rPr>
              <a:t> </a:t>
            </a:r>
            <a:r>
              <a:rPr lang="en-US" altLang="zh-TW" dirty="0">
                <a:solidFill>
                  <a:prstClr val="black"/>
                </a:solidFill>
                <a:latin typeface="Noto Sans HK" panose="020B0200000000000000" pitchFamily="34" charset="-120"/>
                <a:ea typeface="Noto Sans HK" panose="020B0200000000000000" pitchFamily="34" charset="-120"/>
              </a:rPr>
              <a:t>Training Cluster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(Cost structure analysis)</a:t>
            </a:r>
          </a:p>
        </p:txBody>
      </p:sp>
      <p:sp>
        <p:nvSpPr>
          <p:cNvPr id="5" name="文字方塊 4">
            <a:extLst>
              <a:ext uri="{FF2B5EF4-FFF2-40B4-BE49-F238E27FC236}">
                <a16:creationId xmlns:a16="http://schemas.microsoft.com/office/drawing/2014/main" id="{3786730F-13DC-7C8B-152D-46A041A29A8E}"/>
              </a:ext>
            </a:extLst>
          </p:cNvPr>
          <p:cNvSpPr txBox="1"/>
          <p:nvPr/>
        </p:nvSpPr>
        <p:spPr>
          <a:xfrm>
            <a:off x="7848364" y="44624"/>
            <a:ext cx="1240083" cy="3813095"/>
          </a:xfrm>
          <a:prstGeom prst="rect">
            <a:avLst/>
          </a:prstGeom>
          <a:noFill/>
        </p:spPr>
        <p:txBody>
          <a:bodyPr wrap="none" lIns="91440" tIns="91440" rIns="0" bIns="0">
            <a:spAutoFit/>
          </a:bodyPr>
          <a:lstStyle/>
          <a:p>
            <a:pPr defTabSz="1546225">
              <a:lnSpc>
                <a:spcPts val="1000"/>
              </a:lnSpc>
              <a:buFont typeface="Wingdings" panose="05000000000000000000" pitchFamily="2" charset="2"/>
              <a:buChar char="Ø"/>
            </a:pPr>
            <a:r>
              <a:rPr lang="en-US" altLang="zh-TW" sz="1000" b="1" u="none" strike="noStrike" dirty="0">
                <a:effectLst/>
              </a:rPr>
              <a:t> Overview</a:t>
            </a:r>
            <a:endParaRPr lang="en-US" altLang="zh-TW" sz="1000" u="none" strike="noStrike" dirty="0">
              <a:effectLst/>
            </a:endParaRPr>
          </a:p>
          <a:p>
            <a:pPr marL="111125" lvl="3">
              <a:lnSpc>
                <a:spcPts val="1000"/>
              </a:lnSpc>
              <a:buFont typeface="Arial" panose="020B0604020202020204" pitchFamily="34" charset="0"/>
              <a:buChar char="•"/>
            </a:pPr>
            <a:r>
              <a:rPr lang="zh-TW" altLang="en-US" sz="1000" dirty="0"/>
              <a:t> </a:t>
            </a:r>
            <a:r>
              <a:rPr lang="en-US" altLang="zh-TW" sz="1000" dirty="0"/>
              <a:t>ML</a:t>
            </a:r>
          </a:p>
          <a:p>
            <a:pPr marL="111125" lvl="2">
              <a:lnSpc>
                <a:spcPts val="1000"/>
              </a:lnSpc>
              <a:buFont typeface="Arial" panose="020B0604020202020204" pitchFamily="34" charset="0"/>
              <a:buChar char="•"/>
            </a:pPr>
            <a:r>
              <a:rPr lang="en-US" altLang="zh-TW" sz="1000" dirty="0"/>
              <a:t>Training Stages</a:t>
            </a:r>
            <a:endParaRPr lang="en-US" altLang="zh-TW" sz="1000" u="none" strike="noStrike" dirty="0">
              <a:effectLst/>
            </a:endParaRPr>
          </a:p>
          <a:p>
            <a:pPr>
              <a:lnSpc>
                <a:spcPts val="1000"/>
              </a:lnSpc>
              <a:buFont typeface="Wingdings" panose="05000000000000000000" pitchFamily="2" charset="2"/>
              <a:buChar char="Ø"/>
            </a:pPr>
            <a:r>
              <a:rPr lang="en-US" altLang="zh-TW" sz="1000" b="1" dirty="0"/>
              <a:t> Transformer</a:t>
            </a:r>
            <a:endParaRPr lang="en-US" altLang="zh-TW" sz="1000" dirty="0"/>
          </a:p>
          <a:p>
            <a:pPr marL="111125" lvl="2">
              <a:lnSpc>
                <a:spcPts val="1000"/>
              </a:lnSpc>
              <a:buFont typeface="Arial" panose="020B0604020202020204" pitchFamily="34" charset="0"/>
              <a:buChar char="•"/>
            </a:pPr>
            <a:r>
              <a:rPr lang="en-US" altLang="zh-TW" sz="1000" dirty="0"/>
              <a:t> Program Flow</a:t>
            </a:r>
          </a:p>
          <a:p>
            <a:pPr marL="111125" lvl="2">
              <a:lnSpc>
                <a:spcPts val="1000"/>
              </a:lnSpc>
              <a:buFont typeface="Arial" panose="020B0604020202020204" pitchFamily="34" charset="0"/>
              <a:buChar char="•"/>
            </a:pPr>
            <a:r>
              <a:rPr lang="en-US" altLang="zh-TW" sz="1000" dirty="0"/>
              <a:t> Self-Attention</a:t>
            </a:r>
          </a:p>
          <a:p>
            <a:pPr marL="111125" lvl="2">
              <a:lnSpc>
                <a:spcPts val="1000"/>
              </a:lnSpc>
              <a:buFont typeface="Arial" panose="020B0604020202020204" pitchFamily="34" charset="0"/>
              <a:buChar char="•"/>
            </a:pPr>
            <a:r>
              <a:rPr lang="en-US" altLang="zh-TW" sz="1000" dirty="0"/>
              <a:t> FFN</a:t>
            </a:r>
          </a:p>
          <a:p>
            <a:pPr marL="111125" lvl="2">
              <a:lnSpc>
                <a:spcPts val="1000"/>
              </a:lnSpc>
              <a:buFont typeface="Arial" panose="020B0604020202020204" pitchFamily="34" charset="0"/>
              <a:buChar char="•"/>
            </a:pPr>
            <a:r>
              <a:rPr lang="zh-TW" altLang="en-US" sz="1000" dirty="0"/>
              <a:t> </a:t>
            </a:r>
            <a:r>
              <a:rPr lang="en-US" altLang="zh-TW" sz="1000" dirty="0"/>
              <a:t>Embeddings</a:t>
            </a:r>
          </a:p>
          <a:p>
            <a:pPr marL="111125" lvl="2">
              <a:lnSpc>
                <a:spcPts val="1000"/>
              </a:lnSpc>
              <a:buFont typeface="Arial" panose="020B0604020202020204" pitchFamily="34" charset="0"/>
              <a:buChar char="•"/>
            </a:pPr>
            <a:r>
              <a:rPr lang="en-US" altLang="zh-TW" sz="1000" dirty="0"/>
              <a:t> Position Encoding</a:t>
            </a:r>
          </a:p>
          <a:p>
            <a:pPr>
              <a:lnSpc>
                <a:spcPts val="1000"/>
              </a:lnSpc>
              <a:buFont typeface="Wingdings" panose="05000000000000000000" pitchFamily="2" charset="2"/>
              <a:buChar char="Ø"/>
            </a:pPr>
            <a:r>
              <a:rPr lang="en-US" altLang="zh-TW" sz="1000" b="1" dirty="0"/>
              <a:t> GPT</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Pre-Training</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MLP</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Backpropagation</a:t>
            </a:r>
            <a:r>
              <a:rPr lang="en-US" altLang="zh-TW" sz="1000" dirty="0"/>
              <a:t> </a:t>
            </a:r>
          </a:p>
          <a:p>
            <a:pPr marL="111125" marR="0" lvl="2" algn="l" defTabSz="914400" rtl="0" eaLnBrk="1" fontAlgn="auto" latinLnBrk="0" hangingPunct="1">
              <a:lnSpc>
                <a:spcPts val="1000"/>
              </a:lnSpc>
              <a:buClrTx/>
              <a:buSzTx/>
              <a:buFont typeface="Arial" panose="020B0604020202020204" pitchFamily="34" charset="0"/>
              <a:buChar char="•"/>
              <a:defRPr/>
            </a:pPr>
            <a:r>
              <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Training Cluster</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AI Ecosystem</a:t>
            </a:r>
            <a:endPar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a:p>
            <a:pPr>
              <a:lnSpc>
                <a:spcPts val="1000"/>
              </a:lnSpc>
              <a:buFont typeface="Wingdings" panose="05000000000000000000" pitchFamily="2" charset="2"/>
              <a:buChar char="Ø"/>
            </a:pPr>
            <a:r>
              <a:rPr lang="en-US" altLang="zh-TW" sz="1000" b="1" dirty="0"/>
              <a:t> AI Runtime</a:t>
            </a:r>
          </a:p>
          <a:p>
            <a:pPr marL="111125" lvl="2">
              <a:lnSpc>
                <a:spcPts val="1000"/>
              </a:lnSpc>
              <a:buFont typeface="Arial" panose="020B0604020202020204" pitchFamily="34" charset="0"/>
              <a:buChar char="•"/>
              <a:defRPr/>
            </a:pPr>
            <a:r>
              <a:rPr lang="en-US" altLang="zh-TW" sz="1000" dirty="0">
                <a:solidFill>
                  <a:prstClr val="black"/>
                </a:solidFill>
              </a:rPr>
              <a:t> MCP</a:t>
            </a:r>
          </a:p>
          <a:p>
            <a:pPr marL="111125" lvl="2">
              <a:lnSpc>
                <a:spcPts val="1000"/>
              </a:lnSpc>
              <a:buFont typeface="Arial" panose="020B0604020202020204" pitchFamily="34" charset="0"/>
              <a:buChar char="•"/>
              <a:defRPr/>
            </a:pPr>
            <a:r>
              <a:rPr lang="en-US" altLang="zh-TW" sz="1000" dirty="0">
                <a:solidFill>
                  <a:prstClr val="black"/>
                </a:solidFill>
              </a:rPr>
              <a:t> Skill</a:t>
            </a:r>
          </a:p>
          <a:p>
            <a:pPr marL="111125" lvl="2">
              <a:lnSpc>
                <a:spcPts val="1000"/>
              </a:lnSpc>
              <a:buFont typeface="Arial" panose="020B0604020202020204" pitchFamily="34" charset="0"/>
              <a:buChar char="•"/>
              <a:defRPr/>
            </a:pPr>
            <a:r>
              <a:rPr lang="en-US" altLang="zh-TW" sz="1000" dirty="0">
                <a:solidFill>
                  <a:prstClr val="black"/>
                </a:solidFill>
              </a:rPr>
              <a:t> SLM Engine</a:t>
            </a:r>
          </a:p>
          <a:p>
            <a:pPr marL="111125" lvl="2">
              <a:lnSpc>
                <a:spcPts val="1000"/>
              </a:lnSpc>
              <a:buFont typeface="Arial" panose="020B0604020202020204" pitchFamily="34" charset="0"/>
              <a:buChar char="•"/>
              <a:defRPr/>
            </a:pPr>
            <a:r>
              <a:rPr lang="en-US" altLang="zh-TW" sz="1000" dirty="0"/>
              <a:t> Emerging Trends </a:t>
            </a:r>
            <a:endParaRPr lang="en-US" altLang="zh-TW" sz="1000" dirty="0">
              <a:solidFill>
                <a:prstClr val="black"/>
              </a:solidFill>
            </a:endParaRPr>
          </a:p>
          <a:p>
            <a:pPr>
              <a:lnSpc>
                <a:spcPts val="1000"/>
              </a:lnSpc>
              <a:buFont typeface="Wingdings" panose="05000000000000000000" pitchFamily="2" charset="2"/>
              <a:buChar char="Ø"/>
            </a:pPr>
            <a:r>
              <a:rPr lang="zh-TW" altLang="en-US" sz="1000" b="1" dirty="0"/>
              <a:t> </a:t>
            </a:r>
            <a:r>
              <a:rPr lang="en-US" altLang="zh-TW" sz="1000" b="1" dirty="0"/>
              <a:t>Gemma Family</a:t>
            </a:r>
          </a:p>
          <a:p>
            <a:pPr marL="111125" lvl="2">
              <a:lnSpc>
                <a:spcPts val="1000"/>
              </a:lnSpc>
              <a:buFont typeface="Arial" panose="020B0604020202020204" pitchFamily="34" charset="0"/>
              <a:buChar char="•"/>
              <a:defRPr/>
            </a:pPr>
            <a:r>
              <a:rPr lang="en-US" altLang="zh-TW" sz="1000" dirty="0"/>
              <a:t> Supervised FT</a:t>
            </a:r>
          </a:p>
          <a:p>
            <a:pPr marL="111125" lvl="2">
              <a:lnSpc>
                <a:spcPts val="1000"/>
              </a:lnSpc>
              <a:buFont typeface="Arial" panose="020B0604020202020204" pitchFamily="34" charset="0"/>
              <a:buChar char="•"/>
              <a:defRPr/>
            </a:pPr>
            <a:r>
              <a:rPr lang="en-US" altLang="zh-TW" sz="1000" dirty="0">
                <a:solidFill>
                  <a:prstClr val="black"/>
                </a:solidFill>
              </a:rPr>
              <a:t> PEFT: QLoRA</a:t>
            </a:r>
          </a:p>
          <a:p>
            <a:pPr marL="111125" lvl="2">
              <a:lnSpc>
                <a:spcPts val="1000"/>
              </a:lnSpc>
              <a:buFont typeface="Arial" panose="020B0604020202020204" pitchFamily="34" charset="0"/>
              <a:buChar char="•"/>
              <a:defRPr/>
            </a:pPr>
            <a:r>
              <a:rPr lang="en-US" altLang="zh-TW" sz="1000" dirty="0">
                <a:solidFill>
                  <a:prstClr val="black"/>
                </a:solidFill>
              </a:rPr>
              <a:t> PEFT: DoRA</a:t>
            </a:r>
          </a:p>
          <a:p>
            <a:pPr marL="111125" lvl="2">
              <a:lnSpc>
                <a:spcPts val="1000"/>
              </a:lnSpc>
              <a:buFont typeface="Arial" panose="020B0604020202020204" pitchFamily="34" charset="0"/>
              <a:buChar char="•"/>
              <a:defRPr/>
            </a:pPr>
            <a:r>
              <a:rPr lang="en-US" altLang="zh-TW" sz="1000" dirty="0">
                <a:solidFill>
                  <a:prstClr val="black"/>
                </a:solidFill>
              </a:rPr>
              <a:t> Gemma4: PLE</a:t>
            </a:r>
          </a:p>
          <a:p>
            <a:pPr marL="111125" lvl="2">
              <a:lnSpc>
                <a:spcPts val="1000"/>
              </a:lnSpc>
              <a:buFont typeface="Arial" panose="020B0604020202020204" pitchFamily="34" charset="0"/>
              <a:buChar char="•"/>
              <a:defRPr/>
            </a:pPr>
            <a:r>
              <a:rPr lang="en-US" altLang="zh-TW" sz="1000" dirty="0">
                <a:solidFill>
                  <a:prstClr val="black"/>
                </a:solidFill>
              </a:rPr>
              <a:t> Benchmarking</a:t>
            </a:r>
          </a:p>
          <a:p>
            <a:pPr>
              <a:lnSpc>
                <a:spcPts val="1000"/>
              </a:lnSpc>
              <a:buFont typeface="Wingdings" panose="05000000000000000000" pitchFamily="2" charset="2"/>
              <a:buChar char="Ø"/>
            </a:pPr>
            <a:r>
              <a:rPr lang="en-US" altLang="zh-TW" sz="1000" b="1" dirty="0"/>
              <a:t> Conclusion</a:t>
            </a:r>
          </a:p>
          <a:p>
            <a:pPr marL="111125" lvl="2">
              <a:lnSpc>
                <a:spcPts val="1000"/>
              </a:lnSpc>
              <a:buFont typeface="Arial" panose="020B0604020202020204" pitchFamily="34" charset="0"/>
              <a:buChar char="•"/>
              <a:defRPr/>
            </a:pPr>
            <a:r>
              <a:rPr lang="en-US" altLang="zh-TW" sz="1000" dirty="0"/>
              <a:t> Building the Agent</a:t>
            </a:r>
          </a:p>
          <a:p>
            <a:pPr marL="111125" lvl="2">
              <a:lnSpc>
                <a:spcPts val="1000"/>
              </a:lnSpc>
              <a:buFont typeface="Arial" panose="020B0604020202020204" pitchFamily="34" charset="0"/>
              <a:buChar char="•"/>
              <a:defRPr/>
            </a:pPr>
            <a:r>
              <a:rPr lang="en-US" altLang="zh-TW" sz="1000" dirty="0">
                <a:solidFill>
                  <a:prstClr val="black"/>
                </a:solidFill>
              </a:rPr>
              <a:t> Practice: Unsloth</a:t>
            </a:r>
          </a:p>
        </p:txBody>
      </p:sp>
    </p:spTree>
    <p:extLst>
      <p:ext uri="{BB962C8B-B14F-4D97-AF65-F5344CB8AC3E}">
        <p14:creationId xmlns:p14="http://schemas.microsoft.com/office/powerpoint/2010/main" val="45064846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500" fill="hold"/>
                                        <p:tgtEl>
                                          <p:spTgt spid="2">
                                            <p:txEl>
                                              <p:pRg st="0" end="0"/>
                                            </p:txEl>
                                          </p:spTgt>
                                        </p:tgtEl>
                                        <p:attrNameLst>
                                          <p:attrName>style.color</p:attrName>
                                        </p:attrNameLst>
                                      </p:cBhvr>
                                      <p:to>
                                        <a:srgbClr val="FF0000"/>
                                      </p:to>
                                    </p:animClr>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par>
                                <p:cTn id="7" presetID="3" presetClass="emph" presetSubtype="2" fill="hold" grpId="0" nodeType="withEffect">
                                  <p:stCondLst>
                                    <p:cond delay="0"/>
                                  </p:stCondLst>
                                  <p:childTnLst>
                                    <p:animClr clrSpc="rgb" dir="cw">
                                      <p:cBhvr override="childStyle">
                                        <p:cTn id="8" dur="500" fill="hold"/>
                                        <p:tgtEl>
                                          <p:spTgt spid="2">
                                            <p:txEl>
                                              <p:pRg st="1" end="1"/>
                                            </p:txEl>
                                          </p:spTgt>
                                        </p:tgtEl>
                                        <p:attrNameLst>
                                          <p:attrName>style.color</p:attrName>
                                        </p:attrNameLst>
                                      </p:cBhvr>
                                      <p:to>
                                        <a:srgbClr val="FF0000"/>
                                      </p:to>
                                    </p:animClr>
                                  </p:childTnLst>
                                  <p:subTnLst>
                                    <p:audio>
                                      <p:cMediaNode>
                                        <p:cTn display="0" masterRel="sameClick">
                                          <p:stCondLst>
                                            <p:cond evt="begin" delay="0">
                                              <p:tn val="7"/>
                                            </p:cond>
                                          </p:stCondLst>
                                          <p:endCondLst>
                                            <p:cond evt="onStopAudio" delay="0">
                                              <p:tgtEl>
                                                <p:sldTgt/>
                                              </p:tgtEl>
                                            </p:cond>
                                          </p:endCondLst>
                                        </p:cTn>
                                        <p:tgtEl>
                                          <p:sndTgt r:embed="rId3" name="type.wav"/>
                                        </p:tgtEl>
                                      </p:cMediaNode>
                                    </p:audio>
                                  </p:subTnLst>
                                </p:cTn>
                              </p:par>
                              <p:par>
                                <p:cTn id="9" presetID="3" presetClass="emph" presetSubtype="2" fill="hold" grpId="0" nodeType="withEffect">
                                  <p:stCondLst>
                                    <p:cond delay="0"/>
                                  </p:stCondLst>
                                  <p:childTnLst>
                                    <p:animClr clrSpc="rgb" dir="cw">
                                      <p:cBhvr override="childStyle">
                                        <p:cTn id="10" dur="500" fill="hold"/>
                                        <p:tgtEl>
                                          <p:spTgt spid="2">
                                            <p:txEl>
                                              <p:pRg st="2" end="2"/>
                                            </p:txEl>
                                          </p:spTgt>
                                        </p:tgtEl>
                                        <p:attrNameLst>
                                          <p:attrName>style.color</p:attrName>
                                        </p:attrNameLst>
                                      </p:cBhvr>
                                      <p:to>
                                        <a:srgbClr val="FF0000"/>
                                      </p:to>
                                    </p:animClr>
                                  </p:childTnLst>
                                  <p:subTnLst>
                                    <p:audio>
                                      <p:cMediaNode>
                                        <p:cTn display="0" masterRel="sameClick">
                                          <p:stCondLst>
                                            <p:cond evt="begin" delay="0">
                                              <p:tn val="9"/>
                                            </p:cond>
                                          </p:stCondLst>
                                          <p:endCondLst>
                                            <p:cond evt="onStopAudio" delay="0">
                                              <p:tgtEl>
                                                <p:sldTgt/>
                                              </p:tgtEl>
                                            </p:cond>
                                          </p:endCondLst>
                                        </p:cTn>
                                        <p:tgtEl>
                                          <p:sndTgt r:embed="rId3" name="type.wav"/>
                                        </p:tgtEl>
                                      </p:cMediaNode>
                                    </p:audio>
                                  </p:subTnLst>
                                </p:cTn>
                              </p:par>
                              <p:par>
                                <p:cTn id="11" presetID="3" presetClass="emph" presetSubtype="2" fill="hold" grpId="1" nodeType="withEffect">
                                  <p:stCondLst>
                                    <p:cond delay="0"/>
                                  </p:stCondLst>
                                  <p:childTnLst>
                                    <p:animClr clrSpc="rgb" dir="cw">
                                      <p:cBhvr override="childStyle">
                                        <p:cTn id="12" dur="2000" fill="hold"/>
                                        <p:tgtEl>
                                          <p:spTgt spid="2">
                                            <p:txEl>
                                              <p:pRg st="0" end="0"/>
                                            </p:txEl>
                                          </p:spTgt>
                                        </p:tgtEl>
                                        <p:attrNameLst>
                                          <p:attrName>style.color</p:attrName>
                                        </p:attrNameLst>
                                      </p:cBhvr>
                                      <p:to>
                                        <a:srgbClr val="4D4D4D"/>
                                      </p:to>
                                    </p:animClr>
                                  </p:childTnLst>
                                </p:cTn>
                              </p:par>
                              <p:par>
                                <p:cTn id="13" presetID="3" presetClass="emph" presetSubtype="2" fill="hold" grpId="1" nodeType="withEffect">
                                  <p:stCondLst>
                                    <p:cond delay="0"/>
                                  </p:stCondLst>
                                  <p:childTnLst>
                                    <p:animClr clrSpc="rgb" dir="cw">
                                      <p:cBhvr override="childStyle">
                                        <p:cTn id="14" dur="2000" fill="hold"/>
                                        <p:tgtEl>
                                          <p:spTgt spid="2">
                                            <p:txEl>
                                              <p:pRg st="1" end="1"/>
                                            </p:txEl>
                                          </p:spTgt>
                                        </p:tgtEl>
                                        <p:attrNameLst>
                                          <p:attrName>style.color</p:attrName>
                                        </p:attrNameLst>
                                      </p:cBhvr>
                                      <p:to>
                                        <a:srgbClr val="4D4D4D"/>
                                      </p:to>
                                    </p:animClr>
                                  </p:childTnLst>
                                </p:cTn>
                              </p:par>
                              <p:par>
                                <p:cTn id="15" presetID="3" presetClass="emph" presetSubtype="2" fill="hold" grpId="1" nodeType="withEffect">
                                  <p:stCondLst>
                                    <p:cond delay="0"/>
                                  </p:stCondLst>
                                  <p:childTnLst>
                                    <p:animClr clrSpc="rgb" dir="cw">
                                      <p:cBhvr override="childStyle">
                                        <p:cTn id="16" dur="2000" fill="hold"/>
                                        <p:tgtEl>
                                          <p:spTgt spid="2">
                                            <p:txEl>
                                              <p:pRg st="2" end="2"/>
                                            </p:txEl>
                                          </p:spTgt>
                                        </p:tgtEl>
                                        <p:attrNameLst>
                                          <p:attrName>style.color</p:attrName>
                                        </p:attrNameLst>
                                      </p:cBhvr>
                                      <p:to>
                                        <a:srgbClr val="4D4D4D"/>
                                      </p:to>
                                    </p:animClr>
                                  </p:childTnLst>
                                </p:cTn>
                              </p:par>
                            </p:childTnLst>
                          </p:cTn>
                        </p:par>
                      </p:childTnLst>
                    </p:cTn>
                  </p:par>
                  <p:par>
                    <p:cTn id="17" fill="hold">
                      <p:stCondLst>
                        <p:cond delay="indefinite"/>
                      </p:stCondLst>
                      <p:childTnLst>
                        <p:par>
                          <p:cTn id="18" fill="hold">
                            <p:stCondLst>
                              <p:cond delay="0"/>
                            </p:stCondLst>
                            <p:childTnLst>
                              <p:par>
                                <p:cTn id="19" presetID="3" presetClass="emph" presetSubtype="2" fill="hold" grpId="0" nodeType="clickEffect">
                                  <p:stCondLst>
                                    <p:cond delay="0"/>
                                  </p:stCondLst>
                                  <p:childTnLst>
                                    <p:animClr clrSpc="rgb" dir="cw">
                                      <p:cBhvr override="childStyle">
                                        <p:cTn id="20" dur="500" fill="hold"/>
                                        <p:tgtEl>
                                          <p:spTgt spid="2">
                                            <p:txEl>
                                              <p:pRg st="3" end="3"/>
                                            </p:txEl>
                                          </p:spTgt>
                                        </p:tgtEl>
                                        <p:attrNameLst>
                                          <p:attrName>style.color</p:attrName>
                                        </p:attrNameLst>
                                      </p:cBhvr>
                                      <p:to>
                                        <a:srgbClr val="FF0000"/>
                                      </p:to>
                                    </p:animClr>
                                  </p:childTnLst>
                                  <p:subTnLst>
                                    <p:audio>
                                      <p:cMediaNode>
                                        <p:cTn display="0" masterRel="sameClick">
                                          <p:stCondLst>
                                            <p:cond evt="begin" delay="0">
                                              <p:tn val="19"/>
                                            </p:cond>
                                          </p:stCondLst>
                                          <p:endCondLst>
                                            <p:cond evt="onStopAudio" delay="0">
                                              <p:tgtEl>
                                                <p:sldTgt/>
                                              </p:tgtEl>
                                            </p:cond>
                                          </p:endCondLst>
                                        </p:cTn>
                                        <p:tgtEl>
                                          <p:sndTgt r:embed="rId3" name="type.wav"/>
                                        </p:tgtEl>
                                      </p:cMediaNode>
                                    </p:audio>
                                  </p:subTnLst>
                                </p:cTn>
                              </p:par>
                            </p:childTnLst>
                          </p:cTn>
                        </p:par>
                      </p:childTnLst>
                    </p:cTn>
                  </p:par>
                  <p:par>
                    <p:cTn id="21" fill="hold">
                      <p:stCondLst>
                        <p:cond delay="indefinite"/>
                      </p:stCondLst>
                      <p:childTnLst>
                        <p:par>
                          <p:cTn id="22" fill="hold">
                            <p:stCondLst>
                              <p:cond delay="0"/>
                            </p:stCondLst>
                            <p:childTnLst>
                              <p:par>
                                <p:cTn id="23" presetID="3" presetClass="emph" presetSubtype="2" fill="hold" grpId="0" nodeType="clickEffect">
                                  <p:stCondLst>
                                    <p:cond delay="0"/>
                                  </p:stCondLst>
                                  <p:childTnLst>
                                    <p:animClr clrSpc="rgb" dir="cw">
                                      <p:cBhvr override="childStyle">
                                        <p:cTn id="24" dur="500" fill="hold"/>
                                        <p:tgtEl>
                                          <p:spTgt spid="2">
                                            <p:txEl>
                                              <p:pRg st="4" end="4"/>
                                            </p:txEl>
                                          </p:spTgt>
                                        </p:tgtEl>
                                        <p:attrNameLst>
                                          <p:attrName>style.color</p:attrName>
                                        </p:attrNameLst>
                                      </p:cBhvr>
                                      <p:to>
                                        <a:srgbClr val="FF0000"/>
                                      </p:to>
                                    </p:animClr>
                                  </p:childTnLst>
                                  <p:subTnLst>
                                    <p:audio>
                                      <p:cMediaNode>
                                        <p:cTn display="0" masterRel="sameClick">
                                          <p:stCondLst>
                                            <p:cond evt="begin" delay="0">
                                              <p:tn val="23"/>
                                            </p:cond>
                                          </p:stCondLst>
                                          <p:endCondLst>
                                            <p:cond evt="onStopAudio" delay="0">
                                              <p:tgtEl>
                                                <p:sldTgt/>
                                              </p:tgtEl>
                                            </p:cond>
                                          </p:endCondLst>
                                        </p:cTn>
                                        <p:tgtEl>
                                          <p:sndTgt r:embed="rId3" name="type.wav"/>
                                        </p:tgtEl>
                                      </p:cMediaNode>
                                    </p:audio>
                                  </p:subTnLst>
                                </p:cTn>
                              </p:par>
                              <p:par>
                                <p:cTn id="25" presetID="3" presetClass="emph" presetSubtype="2" fill="hold" grpId="1" nodeType="withEffect">
                                  <p:stCondLst>
                                    <p:cond delay="0"/>
                                  </p:stCondLst>
                                  <p:childTnLst>
                                    <p:animClr clrSpc="rgb" dir="cw">
                                      <p:cBhvr override="childStyle">
                                        <p:cTn id="26" dur="2000" fill="hold"/>
                                        <p:tgtEl>
                                          <p:spTgt spid="2">
                                            <p:txEl>
                                              <p:pRg st="3" end="3"/>
                                            </p:txEl>
                                          </p:spTgt>
                                        </p:tgtEl>
                                        <p:attrNameLst>
                                          <p:attrName>style.color</p:attrName>
                                        </p:attrNameLst>
                                      </p:cBhvr>
                                      <p:to>
                                        <a:srgbClr val="4D4D4D"/>
                                      </p:to>
                                    </p:animClr>
                                  </p:childTnLst>
                                </p:cTn>
                              </p:par>
                              <p:par>
                                <p:cTn id="27" presetID="3" presetClass="emph" presetSubtype="2" fill="hold" grpId="1" nodeType="withEffect">
                                  <p:stCondLst>
                                    <p:cond delay="0"/>
                                  </p:stCondLst>
                                  <p:childTnLst>
                                    <p:animClr clrSpc="rgb" dir="cw">
                                      <p:cBhvr override="childStyle">
                                        <p:cTn id="28" dur="2000" fill="hold"/>
                                        <p:tgtEl>
                                          <p:spTgt spid="2">
                                            <p:txEl>
                                              <p:pRg st="4" end="4"/>
                                            </p:txEl>
                                          </p:spTgt>
                                        </p:tgtEl>
                                        <p:attrNameLst>
                                          <p:attrName>style.color</p:attrName>
                                        </p:attrNameLst>
                                      </p:cBhvr>
                                      <p:to>
                                        <a:srgbClr val="4D4D4D"/>
                                      </p:to>
                                    </p:animClr>
                                  </p:childTnLst>
                                </p:cTn>
                              </p:par>
                            </p:childTnLst>
                          </p:cTn>
                        </p:par>
                      </p:childTnLst>
                    </p:cTn>
                  </p:par>
                  <p:par>
                    <p:cTn id="29" fill="hold">
                      <p:stCondLst>
                        <p:cond delay="indefinite"/>
                      </p:stCondLst>
                      <p:childTnLst>
                        <p:par>
                          <p:cTn id="30" fill="hold">
                            <p:stCondLst>
                              <p:cond delay="0"/>
                            </p:stCondLst>
                            <p:childTnLst>
                              <p:par>
                                <p:cTn id="31" presetID="3" presetClass="emph" presetSubtype="2" fill="hold" grpId="0" nodeType="clickEffect">
                                  <p:stCondLst>
                                    <p:cond delay="0"/>
                                  </p:stCondLst>
                                  <p:childTnLst>
                                    <p:animClr clrSpc="rgb" dir="cw">
                                      <p:cBhvr override="childStyle">
                                        <p:cTn id="32" dur="500" fill="hold"/>
                                        <p:tgtEl>
                                          <p:spTgt spid="2">
                                            <p:txEl>
                                              <p:pRg st="5" end="5"/>
                                            </p:txEl>
                                          </p:spTgt>
                                        </p:tgtEl>
                                        <p:attrNameLst>
                                          <p:attrName>style.color</p:attrName>
                                        </p:attrNameLst>
                                      </p:cBhvr>
                                      <p:to>
                                        <a:srgbClr val="FF0000"/>
                                      </p:to>
                                    </p:animClr>
                                  </p:childTnLst>
                                  <p:subTnLst>
                                    <p:audio>
                                      <p:cMediaNode>
                                        <p:cTn display="0" masterRel="sameClick">
                                          <p:stCondLst>
                                            <p:cond evt="begin" delay="0">
                                              <p:tn val="31"/>
                                            </p:cond>
                                          </p:stCondLst>
                                          <p:endCondLst>
                                            <p:cond evt="onStopAudio" delay="0">
                                              <p:tgtEl>
                                                <p:sldTgt/>
                                              </p:tgtEl>
                                            </p:cond>
                                          </p:endCondLst>
                                        </p:cTn>
                                        <p:tgtEl>
                                          <p:sndTgt r:embed="rId3" name="type.wav"/>
                                        </p:tgtEl>
                                      </p:cMediaNode>
                                    </p:audio>
                                  </p:subTnLst>
                                </p:cTn>
                              </p:par>
                            </p:childTnLst>
                          </p:cTn>
                        </p:par>
                      </p:childTnLst>
                    </p:cTn>
                  </p:par>
                  <p:par>
                    <p:cTn id="33" fill="hold">
                      <p:stCondLst>
                        <p:cond delay="indefinite"/>
                      </p:stCondLst>
                      <p:childTnLst>
                        <p:par>
                          <p:cTn id="34" fill="hold">
                            <p:stCondLst>
                              <p:cond delay="0"/>
                            </p:stCondLst>
                            <p:childTnLst>
                              <p:par>
                                <p:cTn id="35" presetID="3" presetClass="emph" presetSubtype="2" fill="hold" grpId="0" nodeType="clickEffect">
                                  <p:stCondLst>
                                    <p:cond delay="0"/>
                                  </p:stCondLst>
                                  <p:childTnLst>
                                    <p:animClr clrSpc="rgb" dir="cw">
                                      <p:cBhvr override="childStyle">
                                        <p:cTn id="36" dur="500" fill="hold"/>
                                        <p:tgtEl>
                                          <p:spTgt spid="2">
                                            <p:txEl>
                                              <p:pRg st="6" end="6"/>
                                            </p:txEl>
                                          </p:spTgt>
                                        </p:tgtEl>
                                        <p:attrNameLst>
                                          <p:attrName>style.color</p:attrName>
                                        </p:attrNameLst>
                                      </p:cBhvr>
                                      <p:to>
                                        <a:srgbClr val="FF0000"/>
                                      </p:to>
                                    </p:animClr>
                                  </p:childTnLst>
                                  <p:subTnLst>
                                    <p:audio>
                                      <p:cMediaNode>
                                        <p:cTn display="0" masterRel="sameClick">
                                          <p:stCondLst>
                                            <p:cond evt="begin" delay="0">
                                              <p:tn val="35"/>
                                            </p:cond>
                                          </p:stCondLst>
                                          <p:endCondLst>
                                            <p:cond evt="onStopAudio" delay="0">
                                              <p:tgtEl>
                                                <p:sldTgt/>
                                              </p:tgtEl>
                                            </p:cond>
                                          </p:endCondLst>
                                        </p:cTn>
                                        <p:tgtEl>
                                          <p:sndTgt r:embed="rId3" name="type.wav"/>
                                        </p:tgtEl>
                                      </p:cMediaNode>
                                    </p:audio>
                                  </p:subTnLst>
                                </p:cTn>
                              </p:par>
                              <p:par>
                                <p:cTn id="37" presetID="3" presetClass="emph" presetSubtype="2" fill="hold" grpId="1" nodeType="withEffect">
                                  <p:stCondLst>
                                    <p:cond delay="0"/>
                                  </p:stCondLst>
                                  <p:childTnLst>
                                    <p:animClr clrSpc="rgb" dir="cw">
                                      <p:cBhvr override="childStyle">
                                        <p:cTn id="38" dur="2000" fill="hold"/>
                                        <p:tgtEl>
                                          <p:spTgt spid="2">
                                            <p:txEl>
                                              <p:pRg st="5" end="5"/>
                                            </p:txEl>
                                          </p:spTgt>
                                        </p:tgtEl>
                                        <p:attrNameLst>
                                          <p:attrName>style.color</p:attrName>
                                        </p:attrNameLst>
                                      </p:cBhvr>
                                      <p:to>
                                        <a:srgbClr val="4D4D4D"/>
                                      </p:to>
                                    </p:animClr>
                                  </p:childTnLst>
                                </p:cTn>
                              </p:par>
                            </p:childTnLst>
                          </p:cTn>
                        </p:par>
                      </p:childTnLst>
                    </p:cTn>
                  </p:par>
                  <p:par>
                    <p:cTn id="39" fill="hold">
                      <p:stCondLst>
                        <p:cond delay="indefinite"/>
                      </p:stCondLst>
                      <p:childTnLst>
                        <p:par>
                          <p:cTn id="40" fill="hold">
                            <p:stCondLst>
                              <p:cond delay="0"/>
                            </p:stCondLst>
                            <p:childTnLst>
                              <p:par>
                                <p:cTn id="41" presetID="3" presetClass="emph" presetSubtype="2" fill="hold" grpId="0" nodeType="clickEffect">
                                  <p:stCondLst>
                                    <p:cond delay="0"/>
                                  </p:stCondLst>
                                  <p:childTnLst>
                                    <p:animClr clrSpc="rgb" dir="cw">
                                      <p:cBhvr override="childStyle">
                                        <p:cTn id="42" dur="500" fill="hold"/>
                                        <p:tgtEl>
                                          <p:spTgt spid="2">
                                            <p:txEl>
                                              <p:pRg st="7" end="7"/>
                                            </p:txEl>
                                          </p:spTgt>
                                        </p:tgtEl>
                                        <p:attrNameLst>
                                          <p:attrName>style.color</p:attrName>
                                        </p:attrNameLst>
                                      </p:cBhvr>
                                      <p:to>
                                        <a:srgbClr val="FF0000"/>
                                      </p:to>
                                    </p:animClr>
                                  </p:childTnLst>
                                  <p:subTnLst>
                                    <p:audio>
                                      <p:cMediaNode>
                                        <p:cTn display="0" masterRel="sameClick">
                                          <p:stCondLst>
                                            <p:cond evt="begin" delay="0">
                                              <p:tn val="41"/>
                                            </p:cond>
                                          </p:stCondLst>
                                          <p:endCondLst>
                                            <p:cond evt="onStopAudio" delay="0">
                                              <p:tgtEl>
                                                <p:sldTgt/>
                                              </p:tgtEl>
                                            </p:cond>
                                          </p:endCondLst>
                                        </p:cTn>
                                        <p:tgtEl>
                                          <p:sndTgt r:embed="rId3" name="type.wav"/>
                                        </p:tgtEl>
                                      </p:cMediaNode>
                                    </p:audio>
                                  </p:subTnLst>
                                </p:cTn>
                              </p:par>
                              <p:par>
                                <p:cTn id="43" presetID="3" presetClass="emph" presetSubtype="2" fill="hold" grpId="1" nodeType="withEffect">
                                  <p:stCondLst>
                                    <p:cond delay="0"/>
                                  </p:stCondLst>
                                  <p:childTnLst>
                                    <p:animClr clrSpc="rgb" dir="cw">
                                      <p:cBhvr override="childStyle">
                                        <p:cTn id="44" dur="2000" fill="hold"/>
                                        <p:tgtEl>
                                          <p:spTgt spid="2">
                                            <p:txEl>
                                              <p:pRg st="6" end="6"/>
                                            </p:txEl>
                                          </p:spTgt>
                                        </p:tgtEl>
                                        <p:attrNameLst>
                                          <p:attrName>style.color</p:attrName>
                                        </p:attrNameLst>
                                      </p:cBhvr>
                                      <p:to>
                                        <a:srgbClr val="4D4D4D"/>
                                      </p:to>
                                    </p:animClr>
                                  </p:childTnLst>
                                </p:cTn>
                              </p:par>
                            </p:childTnLst>
                          </p:cTn>
                        </p:par>
                      </p:childTnLst>
                    </p:cTn>
                  </p:par>
                  <p:par>
                    <p:cTn id="45" fill="hold">
                      <p:stCondLst>
                        <p:cond delay="indefinite"/>
                      </p:stCondLst>
                      <p:childTnLst>
                        <p:par>
                          <p:cTn id="46" fill="hold">
                            <p:stCondLst>
                              <p:cond delay="0"/>
                            </p:stCondLst>
                            <p:childTnLst>
                              <p:par>
                                <p:cTn id="47" presetID="3" presetClass="emph" presetSubtype="2" fill="hold" grpId="0" nodeType="clickEffect">
                                  <p:stCondLst>
                                    <p:cond delay="0"/>
                                  </p:stCondLst>
                                  <p:childTnLst>
                                    <p:animClr clrSpc="rgb" dir="cw">
                                      <p:cBhvr override="childStyle">
                                        <p:cTn id="48" dur="500" fill="hold"/>
                                        <p:tgtEl>
                                          <p:spTgt spid="2">
                                            <p:txEl>
                                              <p:pRg st="8" end="8"/>
                                            </p:txEl>
                                          </p:spTgt>
                                        </p:tgtEl>
                                        <p:attrNameLst>
                                          <p:attrName>style.color</p:attrName>
                                        </p:attrNameLst>
                                      </p:cBhvr>
                                      <p:to>
                                        <a:srgbClr val="FF0000"/>
                                      </p:to>
                                    </p:animClr>
                                  </p:childTnLst>
                                  <p:subTnLst>
                                    <p:audio>
                                      <p:cMediaNode>
                                        <p:cTn display="0" masterRel="sameClick">
                                          <p:stCondLst>
                                            <p:cond evt="begin" delay="0">
                                              <p:tn val="47"/>
                                            </p:cond>
                                          </p:stCondLst>
                                          <p:endCondLst>
                                            <p:cond evt="onStopAudio" delay="0">
                                              <p:tgtEl>
                                                <p:sldTgt/>
                                              </p:tgtEl>
                                            </p:cond>
                                          </p:endCondLst>
                                        </p:cTn>
                                        <p:tgtEl>
                                          <p:sndTgt r:embed="rId3" name="type.wav"/>
                                        </p:tgtEl>
                                      </p:cMediaNode>
                                    </p:audio>
                                  </p:subTnLst>
                                </p:cTn>
                              </p:par>
                              <p:par>
                                <p:cTn id="49" presetID="3" presetClass="emph" presetSubtype="2" fill="hold" grpId="1" nodeType="withEffect">
                                  <p:stCondLst>
                                    <p:cond delay="0"/>
                                  </p:stCondLst>
                                  <p:childTnLst>
                                    <p:animClr clrSpc="rgb" dir="cw">
                                      <p:cBhvr override="childStyle">
                                        <p:cTn id="50" dur="2000" fill="hold"/>
                                        <p:tgtEl>
                                          <p:spTgt spid="2">
                                            <p:txEl>
                                              <p:pRg st="7" end="7"/>
                                            </p:txEl>
                                          </p:spTgt>
                                        </p:tgtEl>
                                        <p:attrNameLst>
                                          <p:attrName>style.color</p:attrName>
                                        </p:attrNameLst>
                                      </p:cBhvr>
                                      <p:to>
                                        <a:srgbClr val="4D4D4D"/>
                                      </p:to>
                                    </p:animClr>
                                  </p:childTnLst>
                                </p:cTn>
                              </p:par>
                            </p:childTnLst>
                          </p:cTn>
                        </p:par>
                      </p:childTnLst>
                    </p:cTn>
                  </p:par>
                  <p:par>
                    <p:cTn id="51" fill="hold">
                      <p:stCondLst>
                        <p:cond delay="indefinite"/>
                      </p:stCondLst>
                      <p:childTnLst>
                        <p:par>
                          <p:cTn id="52" fill="hold">
                            <p:stCondLst>
                              <p:cond delay="0"/>
                            </p:stCondLst>
                            <p:childTnLst>
                              <p:par>
                                <p:cTn id="53" presetID="3" presetClass="emph" presetSubtype="2" fill="hold" grpId="0" nodeType="clickEffect">
                                  <p:stCondLst>
                                    <p:cond delay="0"/>
                                  </p:stCondLst>
                                  <p:childTnLst>
                                    <p:animClr clrSpc="rgb" dir="cw">
                                      <p:cBhvr override="childStyle">
                                        <p:cTn id="54" dur="500" fill="hold"/>
                                        <p:tgtEl>
                                          <p:spTgt spid="2">
                                            <p:txEl>
                                              <p:pRg st="9" end="9"/>
                                            </p:txEl>
                                          </p:spTgt>
                                        </p:tgtEl>
                                        <p:attrNameLst>
                                          <p:attrName>style.color</p:attrName>
                                        </p:attrNameLst>
                                      </p:cBhvr>
                                      <p:to>
                                        <a:srgbClr val="FF0000"/>
                                      </p:to>
                                    </p:animClr>
                                  </p:childTnLst>
                                  <p:subTnLst>
                                    <p:audio>
                                      <p:cMediaNode>
                                        <p:cTn display="0" masterRel="sameClick">
                                          <p:stCondLst>
                                            <p:cond evt="begin" delay="0">
                                              <p:tn val="53"/>
                                            </p:cond>
                                          </p:stCondLst>
                                          <p:endCondLst>
                                            <p:cond evt="onStopAudio" delay="0">
                                              <p:tgtEl>
                                                <p:sldTgt/>
                                              </p:tgtEl>
                                            </p:cond>
                                          </p:endCondLst>
                                        </p:cTn>
                                        <p:tgtEl>
                                          <p:sndTgt r:embed="rId3" name="type.wav"/>
                                        </p:tgtEl>
                                      </p:cMediaNode>
                                    </p:audio>
                                  </p:subTnLst>
                                </p:cTn>
                              </p:par>
                              <p:par>
                                <p:cTn id="55" presetID="3" presetClass="emph" presetSubtype="2" fill="hold" grpId="0" nodeType="withEffect">
                                  <p:stCondLst>
                                    <p:cond delay="0"/>
                                  </p:stCondLst>
                                  <p:childTnLst>
                                    <p:animClr clrSpc="rgb" dir="cw">
                                      <p:cBhvr override="childStyle">
                                        <p:cTn id="56" dur="500" fill="hold"/>
                                        <p:tgtEl>
                                          <p:spTgt spid="2">
                                            <p:txEl>
                                              <p:pRg st="10" end="10"/>
                                            </p:txEl>
                                          </p:spTgt>
                                        </p:tgtEl>
                                        <p:attrNameLst>
                                          <p:attrName>style.color</p:attrName>
                                        </p:attrNameLst>
                                      </p:cBhvr>
                                      <p:to>
                                        <a:srgbClr val="FF0000"/>
                                      </p:to>
                                    </p:animClr>
                                  </p:childTnLst>
                                  <p:subTnLst>
                                    <p:audio>
                                      <p:cMediaNode>
                                        <p:cTn display="0" masterRel="sameClick">
                                          <p:stCondLst>
                                            <p:cond evt="begin" delay="0">
                                              <p:tn val="55"/>
                                            </p:cond>
                                          </p:stCondLst>
                                          <p:endCondLst>
                                            <p:cond evt="onStopAudio" delay="0">
                                              <p:tgtEl>
                                                <p:sldTgt/>
                                              </p:tgtEl>
                                            </p:cond>
                                          </p:endCondLst>
                                        </p:cTn>
                                        <p:tgtEl>
                                          <p:sndTgt r:embed="rId3" name="type.wav"/>
                                        </p:tgtEl>
                                      </p:cMediaNode>
                                    </p:audio>
                                  </p:subTnLst>
                                </p:cTn>
                              </p:par>
                              <p:par>
                                <p:cTn id="57" presetID="3" presetClass="emph" presetSubtype="2" fill="hold" grpId="0" nodeType="withEffect">
                                  <p:stCondLst>
                                    <p:cond delay="0"/>
                                  </p:stCondLst>
                                  <p:childTnLst>
                                    <p:animClr clrSpc="rgb" dir="cw">
                                      <p:cBhvr override="childStyle">
                                        <p:cTn id="58" dur="500" fill="hold"/>
                                        <p:tgtEl>
                                          <p:spTgt spid="2">
                                            <p:txEl>
                                              <p:pRg st="11" end="11"/>
                                            </p:txEl>
                                          </p:spTgt>
                                        </p:tgtEl>
                                        <p:attrNameLst>
                                          <p:attrName>style.color</p:attrName>
                                        </p:attrNameLst>
                                      </p:cBhvr>
                                      <p:to>
                                        <a:srgbClr val="FF0000"/>
                                      </p:to>
                                    </p:animClr>
                                  </p:childTnLst>
                                  <p:subTnLst>
                                    <p:audio>
                                      <p:cMediaNode>
                                        <p:cTn display="0" masterRel="sameClick">
                                          <p:stCondLst>
                                            <p:cond evt="begin" delay="0">
                                              <p:tn val="57"/>
                                            </p:cond>
                                          </p:stCondLst>
                                          <p:endCondLst>
                                            <p:cond evt="onStopAudio" delay="0">
                                              <p:tgtEl>
                                                <p:sldTgt/>
                                              </p:tgtEl>
                                            </p:cond>
                                          </p:endCondLst>
                                        </p:cTn>
                                        <p:tgtEl>
                                          <p:sndTgt r:embed="rId3" name="type.wav"/>
                                        </p:tgtEl>
                                      </p:cMediaNode>
                                    </p:audio>
                                  </p:subTnLst>
                                </p:cTn>
                              </p:par>
                              <p:par>
                                <p:cTn id="59" presetID="3" presetClass="emph" presetSubtype="2" fill="hold" grpId="0" nodeType="withEffect">
                                  <p:stCondLst>
                                    <p:cond delay="0"/>
                                  </p:stCondLst>
                                  <p:childTnLst>
                                    <p:animClr clrSpc="rgb" dir="cw">
                                      <p:cBhvr override="childStyle">
                                        <p:cTn id="60" dur="500" fill="hold"/>
                                        <p:tgtEl>
                                          <p:spTgt spid="2">
                                            <p:txEl>
                                              <p:pRg st="12" end="12"/>
                                            </p:txEl>
                                          </p:spTgt>
                                        </p:tgtEl>
                                        <p:attrNameLst>
                                          <p:attrName>style.color</p:attrName>
                                        </p:attrNameLst>
                                      </p:cBhvr>
                                      <p:to>
                                        <a:srgbClr val="FF0000"/>
                                      </p:to>
                                    </p:animClr>
                                  </p:childTnLst>
                                  <p:subTnLst>
                                    <p:audio>
                                      <p:cMediaNode>
                                        <p:cTn display="0" masterRel="sameClick">
                                          <p:stCondLst>
                                            <p:cond evt="begin" delay="0">
                                              <p:tn val="59"/>
                                            </p:cond>
                                          </p:stCondLst>
                                          <p:endCondLst>
                                            <p:cond evt="onStopAudio" delay="0">
                                              <p:tgtEl>
                                                <p:sldTgt/>
                                              </p:tgtEl>
                                            </p:cond>
                                          </p:endCondLst>
                                        </p:cTn>
                                        <p:tgtEl>
                                          <p:sndTgt r:embed="rId3" name="type.wav"/>
                                        </p:tgtEl>
                                      </p:cMediaNode>
                                    </p:audio>
                                  </p:subTnLst>
                                </p:cTn>
                              </p:par>
                              <p:par>
                                <p:cTn id="61" presetID="3" presetClass="emph" presetSubtype="2" fill="hold" grpId="1" nodeType="withEffect">
                                  <p:stCondLst>
                                    <p:cond delay="0"/>
                                  </p:stCondLst>
                                  <p:childTnLst>
                                    <p:animClr clrSpc="rgb" dir="cw">
                                      <p:cBhvr override="childStyle">
                                        <p:cTn id="62" dur="2000" fill="hold"/>
                                        <p:tgtEl>
                                          <p:spTgt spid="2">
                                            <p:txEl>
                                              <p:pRg st="8" end="8"/>
                                            </p:txEl>
                                          </p:spTgt>
                                        </p:tgtEl>
                                        <p:attrNameLst>
                                          <p:attrName>style.color</p:attrName>
                                        </p:attrNameLst>
                                      </p:cBhvr>
                                      <p:to>
                                        <a:srgbClr val="4D4D4D"/>
                                      </p:to>
                                    </p:animClr>
                                  </p:childTnLst>
                                </p:cTn>
                              </p:par>
                              <p:par>
                                <p:cTn id="63" presetID="3" presetClass="emph" presetSubtype="2" fill="hold" grpId="1" nodeType="withEffect">
                                  <p:stCondLst>
                                    <p:cond delay="0"/>
                                  </p:stCondLst>
                                  <p:childTnLst>
                                    <p:animClr clrSpc="rgb" dir="cw">
                                      <p:cBhvr override="childStyle">
                                        <p:cTn id="64" dur="2000" fill="hold"/>
                                        <p:tgtEl>
                                          <p:spTgt spid="2">
                                            <p:txEl>
                                              <p:pRg st="9" end="9"/>
                                            </p:txEl>
                                          </p:spTgt>
                                        </p:tgtEl>
                                        <p:attrNameLst>
                                          <p:attrName>style.color</p:attrName>
                                        </p:attrNameLst>
                                      </p:cBhvr>
                                      <p:to>
                                        <a:srgbClr val="4D4D4D"/>
                                      </p:to>
                                    </p:animClr>
                                  </p:childTnLst>
                                </p:cTn>
                              </p:par>
                              <p:par>
                                <p:cTn id="65" presetID="3" presetClass="emph" presetSubtype="2" fill="hold" grpId="1" nodeType="withEffect">
                                  <p:stCondLst>
                                    <p:cond delay="0"/>
                                  </p:stCondLst>
                                  <p:childTnLst>
                                    <p:animClr clrSpc="rgb" dir="cw">
                                      <p:cBhvr override="childStyle">
                                        <p:cTn id="66" dur="2000" fill="hold"/>
                                        <p:tgtEl>
                                          <p:spTgt spid="2">
                                            <p:txEl>
                                              <p:pRg st="10" end="10"/>
                                            </p:txEl>
                                          </p:spTgt>
                                        </p:tgtEl>
                                        <p:attrNameLst>
                                          <p:attrName>style.color</p:attrName>
                                        </p:attrNameLst>
                                      </p:cBhvr>
                                      <p:to>
                                        <a:srgbClr val="4D4D4D"/>
                                      </p:to>
                                    </p:animClr>
                                  </p:childTnLst>
                                </p:cTn>
                              </p:par>
                              <p:par>
                                <p:cTn id="67" presetID="3" presetClass="emph" presetSubtype="2" fill="hold" grpId="1" nodeType="withEffect">
                                  <p:stCondLst>
                                    <p:cond delay="0"/>
                                  </p:stCondLst>
                                  <p:childTnLst>
                                    <p:animClr clrSpc="rgb" dir="cw">
                                      <p:cBhvr override="childStyle">
                                        <p:cTn id="68" dur="2000" fill="hold"/>
                                        <p:tgtEl>
                                          <p:spTgt spid="2">
                                            <p:txEl>
                                              <p:pRg st="11" end="11"/>
                                            </p:txEl>
                                          </p:spTgt>
                                        </p:tgtEl>
                                        <p:attrNameLst>
                                          <p:attrName>style.color</p:attrName>
                                        </p:attrNameLst>
                                      </p:cBhvr>
                                      <p:to>
                                        <a:srgbClr val="4D4D4D"/>
                                      </p:to>
                                    </p:animClr>
                                  </p:childTnLst>
                                </p:cTn>
                              </p:par>
                              <p:par>
                                <p:cTn id="69" presetID="3" presetClass="emph" presetSubtype="2" fill="hold" grpId="1" nodeType="withEffect">
                                  <p:stCondLst>
                                    <p:cond delay="0"/>
                                  </p:stCondLst>
                                  <p:childTnLst>
                                    <p:animClr clrSpc="rgb" dir="cw">
                                      <p:cBhvr override="childStyle">
                                        <p:cTn id="70" dur="2000" fill="hold"/>
                                        <p:tgtEl>
                                          <p:spTgt spid="2">
                                            <p:txEl>
                                              <p:pRg st="12" end="12"/>
                                            </p:txEl>
                                          </p:spTgt>
                                        </p:tgtEl>
                                        <p:attrNameLst>
                                          <p:attrName>style.color</p:attrName>
                                        </p:attrNameLst>
                                      </p:cBhvr>
                                      <p:to>
                                        <a:srgbClr val="4D4D4D"/>
                                      </p:to>
                                    </p:animClr>
                                  </p:childTnLst>
                                </p:cTn>
                              </p:par>
                              <p:par>
                                <p:cTn id="71" presetID="3" presetClass="emph" presetSubtype="2" fill="hold" grpId="0" nodeType="withEffect">
                                  <p:stCondLst>
                                    <p:cond delay="0"/>
                                  </p:stCondLst>
                                  <p:childTnLst>
                                    <p:animClr clrSpc="rgb" dir="cw">
                                      <p:cBhvr override="childStyle">
                                        <p:cTn id="72" dur="500" fill="hold"/>
                                        <p:tgtEl>
                                          <p:spTgt spid="2">
                                            <p:txEl>
                                              <p:pRg st="13" end="13"/>
                                            </p:txEl>
                                          </p:spTgt>
                                        </p:tgtEl>
                                        <p:attrNameLst>
                                          <p:attrName>style.color</p:attrName>
                                        </p:attrNameLst>
                                      </p:cBhvr>
                                      <p:to>
                                        <a:srgbClr val="FF0000"/>
                                      </p:to>
                                    </p:animClr>
                                  </p:childTnLst>
                                  <p:subTnLst>
                                    <p:audio>
                                      <p:cMediaNode>
                                        <p:cTn display="0" masterRel="sameClick">
                                          <p:stCondLst>
                                            <p:cond evt="begin" delay="0">
                                              <p:tn val="71"/>
                                            </p:cond>
                                          </p:stCondLst>
                                          <p:endCondLst>
                                            <p:cond evt="onStopAudio" delay="0">
                                              <p:tgtEl>
                                                <p:sldTgt/>
                                              </p:tgtEl>
                                            </p:cond>
                                          </p:endCondLst>
                                        </p:cTn>
                                        <p:tgtEl>
                                          <p:sndTgt r:embed="rId3" name="type.wav"/>
                                        </p:tgtEl>
                                      </p:cMediaNode>
                                    </p:audio>
                                  </p:subTnLst>
                                </p:cTn>
                              </p:par>
                              <p:par>
                                <p:cTn id="73" presetID="3" presetClass="emph" presetSubtype="2" fill="hold" grpId="0" nodeType="withEffect">
                                  <p:stCondLst>
                                    <p:cond delay="0"/>
                                  </p:stCondLst>
                                  <p:childTnLst>
                                    <p:animClr clrSpc="rgb" dir="cw">
                                      <p:cBhvr override="childStyle">
                                        <p:cTn id="74" dur="500" fill="hold"/>
                                        <p:tgtEl>
                                          <p:spTgt spid="2">
                                            <p:txEl>
                                              <p:pRg st="14" end="14"/>
                                            </p:txEl>
                                          </p:spTgt>
                                        </p:tgtEl>
                                        <p:attrNameLst>
                                          <p:attrName>style.color</p:attrName>
                                        </p:attrNameLst>
                                      </p:cBhvr>
                                      <p:to>
                                        <a:srgbClr val="FF0000"/>
                                      </p:to>
                                    </p:animClr>
                                  </p:childTnLst>
                                  <p:subTnLst>
                                    <p:audio>
                                      <p:cMediaNode>
                                        <p:cTn display="0" masterRel="sameClick">
                                          <p:stCondLst>
                                            <p:cond evt="begin" delay="0">
                                              <p:tn val="73"/>
                                            </p:cond>
                                          </p:stCondLst>
                                          <p:endCondLst>
                                            <p:cond evt="onStopAudio" delay="0">
                                              <p:tgtEl>
                                                <p:sldTgt/>
                                              </p:tgtEl>
                                            </p:cond>
                                          </p:endCondLst>
                                        </p:cTn>
                                        <p:tgtEl>
                                          <p:sndTgt r:embed="rId3" name="type.wav"/>
                                        </p:tgtEl>
                                      </p:cMediaNode>
                                    </p:audio>
                                  </p:subTnLst>
                                </p:cTn>
                              </p:par>
                              <p:par>
                                <p:cTn id="75" presetID="3" presetClass="emph" presetSubtype="2" fill="hold" grpId="1" nodeType="withEffect">
                                  <p:stCondLst>
                                    <p:cond delay="0"/>
                                  </p:stCondLst>
                                  <p:childTnLst>
                                    <p:animClr clrSpc="rgb" dir="cw">
                                      <p:cBhvr override="childStyle">
                                        <p:cTn id="76" dur="2000" fill="hold"/>
                                        <p:tgtEl>
                                          <p:spTgt spid="2">
                                            <p:txEl>
                                              <p:pRg st="13" end="13"/>
                                            </p:txEl>
                                          </p:spTgt>
                                        </p:tgtEl>
                                        <p:attrNameLst>
                                          <p:attrName>style.color</p:attrName>
                                        </p:attrNameLst>
                                      </p:cBhvr>
                                      <p:to>
                                        <a:srgbClr val="4D4D4D"/>
                                      </p:to>
                                    </p:animClr>
                                  </p:childTnLst>
                                </p:cTn>
                              </p:par>
                              <p:par>
                                <p:cTn id="77" presetID="3" presetClass="emph" presetSubtype="2" fill="hold" grpId="1" nodeType="withEffect">
                                  <p:stCondLst>
                                    <p:cond delay="0"/>
                                  </p:stCondLst>
                                  <p:childTnLst>
                                    <p:animClr clrSpc="rgb" dir="cw">
                                      <p:cBhvr override="childStyle">
                                        <p:cTn id="78" dur="2000" fill="hold"/>
                                        <p:tgtEl>
                                          <p:spTgt spid="2">
                                            <p:txEl>
                                              <p:pRg st="14" end="14"/>
                                            </p:txEl>
                                          </p:spTgt>
                                        </p:tgtEl>
                                        <p:attrNameLst>
                                          <p:attrName>style.color</p:attrName>
                                        </p:attrNameLst>
                                      </p:cBhvr>
                                      <p:to>
                                        <a:srgbClr val="4D4D4D"/>
                                      </p:to>
                                    </p:animClr>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grpId="2" nodeType="clickEffect">
                                  <p:stCondLst>
                                    <p:cond delay="0"/>
                                  </p:stCondLst>
                                  <p:childTnLst>
                                    <p:set>
                                      <p:cBhvr>
                                        <p:cTn id="82" dur="1" fill="hold">
                                          <p:stCondLst>
                                            <p:cond delay="0"/>
                                          </p:stCondLst>
                                        </p:cTn>
                                        <p:tgtEl>
                                          <p:spTgt spid="2">
                                            <p:bg/>
                                          </p:spTgt>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3" presetClass="emph" presetSubtype="2" fill="hold" grpId="0" nodeType="clickEffect">
                                  <p:stCondLst>
                                    <p:cond delay="0"/>
                                  </p:stCondLst>
                                  <p:childTnLst>
                                    <p:animClr clrSpc="rgb" dir="cw">
                                      <p:cBhvr override="childStyle">
                                        <p:cTn id="86" dur="500" fill="hold"/>
                                        <p:tgtEl>
                                          <p:spTgt spid="2">
                                            <p:txEl>
                                              <p:pRg st="8" end="8"/>
                                            </p:txEl>
                                          </p:spTgt>
                                        </p:tgtEl>
                                        <p:attrNameLst>
                                          <p:attrName>style.color</p:attrName>
                                        </p:attrNameLst>
                                      </p:cBhvr>
                                      <p:to>
                                        <a:srgbClr val="FF0000"/>
                                      </p:to>
                                    </p:animClr>
                                  </p:childTnLst>
                                  <p:subTnLst>
                                    <p:audio>
                                      <p:cMediaNode>
                                        <p:cTn display="0" masterRel="sameClick">
                                          <p:stCondLst>
                                            <p:cond evt="begin" delay="0">
                                              <p:tn val="85"/>
                                            </p:cond>
                                          </p:stCondLst>
                                          <p:endCondLst>
                                            <p:cond evt="onStopAudio" delay="0">
                                              <p:tgtEl>
                                                <p:sldTgt/>
                                              </p:tgtEl>
                                            </p:cond>
                                          </p:endCondLst>
                                        </p:cTn>
                                        <p:tgtEl>
                                          <p:sndTgt r:embed="rId3" name="type.wav"/>
                                        </p:tgtEl>
                                      </p:cMediaNode>
                                    </p:audio>
                                  </p:subTnLst>
                                </p:cTn>
                              </p:par>
                            </p:childTnLst>
                          </p:cTn>
                        </p:par>
                      </p:childTnLst>
                    </p:cTn>
                  </p:par>
                  <p:par>
                    <p:cTn id="87" fill="hold">
                      <p:stCondLst>
                        <p:cond delay="indefinite"/>
                      </p:stCondLst>
                      <p:childTnLst>
                        <p:par>
                          <p:cTn id="88" fill="hold">
                            <p:stCondLst>
                              <p:cond delay="0"/>
                            </p:stCondLst>
                            <p:childTnLst>
                              <p:par>
                                <p:cTn id="89" presetID="3" presetClass="emph" presetSubtype="2" fill="hold" grpId="0" nodeType="clickEffect">
                                  <p:stCondLst>
                                    <p:cond delay="0"/>
                                  </p:stCondLst>
                                  <p:childTnLst>
                                    <p:animClr clrSpc="rgb" dir="cw">
                                      <p:cBhvr override="childStyle">
                                        <p:cTn id="90" dur="500" fill="hold"/>
                                        <p:tgtEl>
                                          <p:spTgt spid="2">
                                            <p:txEl>
                                              <p:pRg st="9" end="9"/>
                                            </p:txEl>
                                          </p:spTgt>
                                        </p:tgtEl>
                                        <p:attrNameLst>
                                          <p:attrName>style.color</p:attrName>
                                        </p:attrNameLst>
                                      </p:cBhvr>
                                      <p:to>
                                        <a:srgbClr val="FF0000"/>
                                      </p:to>
                                    </p:animClr>
                                  </p:childTnLst>
                                  <p:subTnLst>
                                    <p:audio>
                                      <p:cMediaNode>
                                        <p:cTn display="0" masterRel="sameClick">
                                          <p:stCondLst>
                                            <p:cond evt="begin" delay="0">
                                              <p:tn val="89"/>
                                            </p:cond>
                                          </p:stCondLst>
                                          <p:endCondLst>
                                            <p:cond evt="onStopAudio" delay="0">
                                              <p:tgtEl>
                                                <p:sldTgt/>
                                              </p:tgtEl>
                                            </p:cond>
                                          </p:endCondLst>
                                        </p:cTn>
                                        <p:tgtEl>
                                          <p:sndTgt r:embed="rId3" name="type.wav"/>
                                        </p:tgtEl>
                                      </p:cMediaNode>
                                    </p:audio>
                                  </p:subTnLst>
                                </p:cTn>
                              </p:par>
                              <p:par>
                                <p:cTn id="91" presetID="3" presetClass="emph" presetSubtype="2" fill="hold" grpId="0" nodeType="withEffect">
                                  <p:stCondLst>
                                    <p:cond delay="0"/>
                                  </p:stCondLst>
                                  <p:childTnLst>
                                    <p:animClr clrSpc="rgb" dir="cw">
                                      <p:cBhvr override="childStyle">
                                        <p:cTn id="92" dur="500" fill="hold"/>
                                        <p:tgtEl>
                                          <p:spTgt spid="2">
                                            <p:txEl>
                                              <p:pRg st="10" end="10"/>
                                            </p:txEl>
                                          </p:spTgt>
                                        </p:tgtEl>
                                        <p:attrNameLst>
                                          <p:attrName>style.color</p:attrName>
                                        </p:attrNameLst>
                                      </p:cBhvr>
                                      <p:to>
                                        <a:srgbClr val="FF0000"/>
                                      </p:to>
                                    </p:animClr>
                                  </p:childTnLst>
                                  <p:subTnLst>
                                    <p:audio>
                                      <p:cMediaNode>
                                        <p:cTn display="0" masterRel="sameClick">
                                          <p:stCondLst>
                                            <p:cond evt="begin" delay="0">
                                              <p:tn val="91"/>
                                            </p:cond>
                                          </p:stCondLst>
                                          <p:endCondLst>
                                            <p:cond evt="onStopAudio" delay="0">
                                              <p:tgtEl>
                                                <p:sldTgt/>
                                              </p:tgtEl>
                                            </p:cond>
                                          </p:endCondLst>
                                        </p:cTn>
                                        <p:tgtEl>
                                          <p:sndTgt r:embed="rId3" name="type.wav"/>
                                        </p:tgtEl>
                                      </p:cMediaNode>
                                    </p:audio>
                                  </p:subTnLst>
                                </p:cTn>
                              </p:par>
                              <p:par>
                                <p:cTn id="93" presetID="3" presetClass="emph" presetSubtype="2" fill="hold" grpId="0" nodeType="withEffect">
                                  <p:stCondLst>
                                    <p:cond delay="0"/>
                                  </p:stCondLst>
                                  <p:childTnLst>
                                    <p:animClr clrSpc="rgb" dir="cw">
                                      <p:cBhvr override="childStyle">
                                        <p:cTn id="94" dur="500" fill="hold"/>
                                        <p:tgtEl>
                                          <p:spTgt spid="2">
                                            <p:txEl>
                                              <p:pRg st="11" end="11"/>
                                            </p:txEl>
                                          </p:spTgt>
                                        </p:tgtEl>
                                        <p:attrNameLst>
                                          <p:attrName>style.color</p:attrName>
                                        </p:attrNameLst>
                                      </p:cBhvr>
                                      <p:to>
                                        <a:srgbClr val="FF0000"/>
                                      </p:to>
                                    </p:animClr>
                                  </p:childTnLst>
                                  <p:subTnLst>
                                    <p:audio>
                                      <p:cMediaNode>
                                        <p:cTn display="0" masterRel="sameClick">
                                          <p:stCondLst>
                                            <p:cond evt="begin" delay="0">
                                              <p:tn val="93"/>
                                            </p:cond>
                                          </p:stCondLst>
                                          <p:endCondLst>
                                            <p:cond evt="onStopAudio" delay="0">
                                              <p:tgtEl>
                                                <p:sldTgt/>
                                              </p:tgtEl>
                                            </p:cond>
                                          </p:endCondLst>
                                        </p:cTn>
                                        <p:tgtEl>
                                          <p:sndTgt r:embed="rId3" name="type.wav"/>
                                        </p:tgtEl>
                                      </p:cMediaNode>
                                    </p:audio>
                                  </p:subTnLst>
                                </p:cTn>
                              </p:par>
                              <p:par>
                                <p:cTn id="95" presetID="3" presetClass="emph" presetSubtype="2" fill="hold" grpId="0" nodeType="withEffect">
                                  <p:stCondLst>
                                    <p:cond delay="0"/>
                                  </p:stCondLst>
                                  <p:childTnLst>
                                    <p:animClr clrSpc="rgb" dir="cw">
                                      <p:cBhvr override="childStyle">
                                        <p:cTn id="96" dur="500" fill="hold"/>
                                        <p:tgtEl>
                                          <p:spTgt spid="2">
                                            <p:txEl>
                                              <p:pRg st="12" end="12"/>
                                            </p:txEl>
                                          </p:spTgt>
                                        </p:tgtEl>
                                        <p:attrNameLst>
                                          <p:attrName>style.color</p:attrName>
                                        </p:attrNameLst>
                                      </p:cBhvr>
                                      <p:to>
                                        <a:srgbClr val="FF0000"/>
                                      </p:to>
                                    </p:animClr>
                                  </p:childTnLst>
                                  <p:subTnLst>
                                    <p:audio>
                                      <p:cMediaNode>
                                        <p:cTn display="0" masterRel="sameClick">
                                          <p:stCondLst>
                                            <p:cond evt="begin" delay="0">
                                              <p:tn val="95"/>
                                            </p:cond>
                                          </p:stCondLst>
                                          <p:endCondLst>
                                            <p:cond evt="onStopAudio" delay="0">
                                              <p:tgtEl>
                                                <p:sldTgt/>
                                              </p:tgtEl>
                                            </p:cond>
                                          </p:endCondLst>
                                        </p:cTn>
                                        <p:tgtEl>
                                          <p:sndTgt r:embed="rId3" name="type.wav"/>
                                        </p:tgtEl>
                                      </p:cMediaNode>
                                    </p:audio>
                                  </p:subTnLst>
                                </p:cTn>
                              </p:par>
                              <p:par>
                                <p:cTn id="97" presetID="3" presetClass="emph" presetSubtype="2" fill="hold" grpId="1" nodeType="withEffect">
                                  <p:stCondLst>
                                    <p:cond delay="0"/>
                                  </p:stCondLst>
                                  <p:childTnLst>
                                    <p:animClr clrSpc="rgb" dir="cw">
                                      <p:cBhvr override="childStyle">
                                        <p:cTn id="98" dur="2000" fill="hold"/>
                                        <p:tgtEl>
                                          <p:spTgt spid="2">
                                            <p:txEl>
                                              <p:pRg st="7" end="7"/>
                                            </p:txEl>
                                          </p:spTgt>
                                        </p:tgtEl>
                                        <p:attrNameLst>
                                          <p:attrName>style.color</p:attrName>
                                        </p:attrNameLst>
                                      </p:cBhvr>
                                      <p:to>
                                        <a:srgbClr val="4D4D4D"/>
                                      </p:to>
                                    </p:animClr>
                                  </p:childTnLst>
                                </p:cTn>
                              </p:par>
                              <p:par>
                                <p:cTn id="99" presetID="3" presetClass="emph" presetSubtype="2" fill="hold" grpId="1" nodeType="withEffect">
                                  <p:stCondLst>
                                    <p:cond delay="0"/>
                                  </p:stCondLst>
                                  <p:childTnLst>
                                    <p:animClr clrSpc="rgb" dir="cw">
                                      <p:cBhvr override="childStyle">
                                        <p:cTn id="100" dur="2000" fill="hold"/>
                                        <p:tgtEl>
                                          <p:spTgt spid="2">
                                            <p:txEl>
                                              <p:pRg st="9" end="9"/>
                                            </p:txEl>
                                          </p:spTgt>
                                        </p:tgtEl>
                                        <p:attrNameLst>
                                          <p:attrName>style.color</p:attrName>
                                        </p:attrNameLst>
                                      </p:cBhvr>
                                      <p:to>
                                        <a:srgbClr val="4D4D4D"/>
                                      </p:to>
                                    </p:animClr>
                                  </p:childTnLst>
                                </p:cTn>
                              </p:par>
                              <p:par>
                                <p:cTn id="101" presetID="3" presetClass="emph" presetSubtype="2" fill="hold" grpId="1" nodeType="withEffect">
                                  <p:stCondLst>
                                    <p:cond delay="0"/>
                                  </p:stCondLst>
                                  <p:childTnLst>
                                    <p:animClr clrSpc="rgb" dir="cw">
                                      <p:cBhvr override="childStyle">
                                        <p:cTn id="102" dur="2000" fill="hold"/>
                                        <p:tgtEl>
                                          <p:spTgt spid="2">
                                            <p:txEl>
                                              <p:pRg st="10" end="10"/>
                                            </p:txEl>
                                          </p:spTgt>
                                        </p:tgtEl>
                                        <p:attrNameLst>
                                          <p:attrName>style.color</p:attrName>
                                        </p:attrNameLst>
                                      </p:cBhvr>
                                      <p:to>
                                        <a:srgbClr val="4D4D4D"/>
                                      </p:to>
                                    </p:animClr>
                                  </p:childTnLst>
                                </p:cTn>
                              </p:par>
                              <p:par>
                                <p:cTn id="103" presetID="3" presetClass="emph" presetSubtype="2" fill="hold" grpId="1" nodeType="withEffect">
                                  <p:stCondLst>
                                    <p:cond delay="0"/>
                                  </p:stCondLst>
                                  <p:childTnLst>
                                    <p:animClr clrSpc="rgb" dir="cw">
                                      <p:cBhvr override="childStyle">
                                        <p:cTn id="104" dur="2000" fill="hold"/>
                                        <p:tgtEl>
                                          <p:spTgt spid="2">
                                            <p:txEl>
                                              <p:pRg st="11" end="11"/>
                                            </p:txEl>
                                          </p:spTgt>
                                        </p:tgtEl>
                                        <p:attrNameLst>
                                          <p:attrName>style.color</p:attrName>
                                        </p:attrNameLst>
                                      </p:cBhvr>
                                      <p:to>
                                        <a:srgbClr val="4D4D4D"/>
                                      </p:to>
                                    </p:animClr>
                                  </p:childTnLst>
                                </p:cTn>
                              </p:par>
                              <p:par>
                                <p:cTn id="105" presetID="3" presetClass="emph" presetSubtype="2" fill="hold" grpId="1" nodeType="withEffect">
                                  <p:stCondLst>
                                    <p:cond delay="0"/>
                                  </p:stCondLst>
                                  <p:childTnLst>
                                    <p:animClr clrSpc="rgb" dir="cw">
                                      <p:cBhvr override="childStyle">
                                        <p:cTn id="106" dur="2000" fill="hold"/>
                                        <p:tgtEl>
                                          <p:spTgt spid="2">
                                            <p:txEl>
                                              <p:pRg st="12" end="12"/>
                                            </p:txEl>
                                          </p:spTgt>
                                        </p:tgtEl>
                                        <p:attrNameLst>
                                          <p:attrName>style.color</p:attrName>
                                        </p:attrNameLst>
                                      </p:cBhvr>
                                      <p:to>
                                        <a:srgbClr val="4D4D4D"/>
                                      </p:to>
                                    </p:animClr>
                                  </p:childTnLst>
                                </p:cTn>
                              </p:par>
                            </p:childTnLst>
                          </p:cTn>
                        </p:par>
                      </p:childTnLst>
                    </p:cTn>
                  </p:par>
                  <p:par>
                    <p:cTn id="107" fill="hold">
                      <p:stCondLst>
                        <p:cond delay="indefinite"/>
                      </p:stCondLst>
                      <p:childTnLst>
                        <p:par>
                          <p:cTn id="108" fill="hold">
                            <p:stCondLst>
                              <p:cond delay="0"/>
                            </p:stCondLst>
                            <p:childTnLst>
                              <p:par>
                                <p:cTn id="109" presetID="1" presetClass="exit" presetSubtype="0" fill="hold" grpId="2" nodeType="clickEffect">
                                  <p:stCondLst>
                                    <p:cond delay="0"/>
                                  </p:stCondLst>
                                  <p:childTnLst>
                                    <p:set>
                                      <p:cBhvr>
                                        <p:cTn id="110" dur="1" fill="hold">
                                          <p:stCondLst>
                                            <p:cond delay="0"/>
                                          </p:stCondLst>
                                        </p:cTn>
                                        <p:tgtEl>
                                          <p:spTgt spid="2">
                                            <p:bg/>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allAtOnce"/>
      <p:bldP spid="2" grpId="1" uiExpand="1" build="allAtOnce"/>
      <p:bldP spid="2" grpId="2" uiExpand="1" build="allAtOnce"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2CAD1-8507-9886-51B1-A666941BA121}"/>
            </a:ext>
          </a:extLst>
        </p:cNvPr>
        <p:cNvGrpSpPr/>
        <p:nvPr/>
      </p:nvGrpSpPr>
      <p:grpSpPr>
        <a:xfrm>
          <a:off x="0" y="0"/>
          <a:ext cx="0" cy="0"/>
          <a:chOff x="0" y="0"/>
          <a:chExt cx="0" cy="0"/>
        </a:xfrm>
      </p:grpSpPr>
      <p:sp>
        <p:nvSpPr>
          <p:cNvPr id="7" name="文字方塊 6">
            <a:extLst>
              <a:ext uri="{FF2B5EF4-FFF2-40B4-BE49-F238E27FC236}">
                <a16:creationId xmlns:a16="http://schemas.microsoft.com/office/drawing/2014/main" id="{9E9524A1-5728-0389-B76D-B76D05DA4637}"/>
              </a:ext>
            </a:extLst>
          </p:cNvPr>
          <p:cNvSpPr txBox="1"/>
          <p:nvPr/>
        </p:nvSpPr>
        <p:spPr>
          <a:xfrm>
            <a:off x="179512" y="1447616"/>
            <a:ext cx="7992888" cy="1323439"/>
          </a:xfrm>
          <a:prstGeom prst="rect">
            <a:avLst/>
          </a:prstGeom>
          <a:noFill/>
        </p:spPr>
        <p:txBody>
          <a:bodyPr wrap="square">
            <a:spAutoFit/>
          </a:bodyPr>
          <a:lstStyle/>
          <a:p>
            <a:pPr>
              <a:lnSpc>
                <a:spcPts val="1800"/>
              </a:lnSpc>
              <a:spcBef>
                <a:spcPts val="600"/>
              </a:spcBef>
              <a:spcAft>
                <a:spcPts val="600"/>
              </a:spcAft>
            </a:pPr>
            <a:r>
              <a:rPr lang="en-US" altLang="zh-TW" sz="2000" b="1" dirty="0"/>
              <a:t>Vanilla RNN</a:t>
            </a:r>
            <a:endParaRPr lang="en-US" altLang="zh-TW" sz="20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Weight Sharing Across Time</a:t>
            </a:r>
            <a:r>
              <a:rPr lang="en-US" altLang="zh-TW" sz="1600" dirty="0"/>
              <a:t>: Process sequences of arbitrary length.</a:t>
            </a:r>
            <a:endParaRPr lang="en-US" altLang="zh-TW" sz="16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Short-Term Memory</a:t>
            </a:r>
            <a:r>
              <a:rPr lang="en-US" altLang="zh-TW" sz="1600" u="none" strike="noStrike" dirty="0">
                <a:effectLst/>
              </a:rPr>
              <a:t>: Backpropagation over long sequences triggers vanishing or exploding gradients.</a:t>
            </a:r>
            <a:endParaRPr lang="en-US" altLang="zh-TW" sz="1600" dirty="0"/>
          </a:p>
        </p:txBody>
      </p:sp>
      <p:sp>
        <p:nvSpPr>
          <p:cNvPr id="11" name="標題 1">
            <a:extLst>
              <a:ext uri="{FF2B5EF4-FFF2-40B4-BE49-F238E27FC236}">
                <a16:creationId xmlns:a16="http://schemas.microsoft.com/office/drawing/2014/main" id="{18284B0B-93FC-DFA6-2CC8-F67455FF7187}"/>
              </a:ext>
            </a:extLst>
          </p:cNvPr>
          <p:cNvSpPr txBox="1">
            <a:spLocks/>
          </p:cNvSpPr>
          <p:nvPr/>
        </p:nvSpPr>
        <p:spPr>
          <a:xfrm>
            <a:off x="179512" y="116632"/>
            <a:ext cx="8856984" cy="10905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R</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ecurrent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N</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eural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N</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etwork</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An RNN is simply an FCN(Fully Connection NN) with a temporal memory loop.</a:t>
            </a:r>
          </a:p>
        </p:txBody>
      </p:sp>
      <p:sp>
        <p:nvSpPr>
          <p:cNvPr id="8" name="文字方塊 7">
            <a:extLst>
              <a:ext uri="{FF2B5EF4-FFF2-40B4-BE49-F238E27FC236}">
                <a16:creationId xmlns:a16="http://schemas.microsoft.com/office/drawing/2014/main" id="{99BBD11D-7E3B-48DD-DF53-6501A8604960}"/>
              </a:ext>
            </a:extLst>
          </p:cNvPr>
          <p:cNvSpPr txBox="1"/>
          <p:nvPr/>
        </p:nvSpPr>
        <p:spPr>
          <a:xfrm>
            <a:off x="4317435" y="4188799"/>
            <a:ext cx="1305142" cy="248314"/>
          </a:xfrm>
          <a:prstGeom prst="rect">
            <a:avLst/>
          </a:prstGeom>
          <a:solidFill>
            <a:srgbClr val="FEC203">
              <a:alpha val="60000"/>
            </a:srgbClr>
          </a:solidFill>
          <a:ln w="15875">
            <a:solidFill>
              <a:schemeClr val="bg1">
                <a:lumMod val="65000"/>
              </a:schemeClr>
            </a:solidFill>
          </a:ln>
        </p:spPr>
        <p:txBody>
          <a:bodyPr wrap="none" lIns="91440" tIns="0" rIns="0" bIns="0" anchor="ctr"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X</a:t>
            </a:r>
            <a:r>
              <a:rPr lang="en-US" altLang="zh-TW" sz="1200" b="1" u="none" strike="noStrike" baseline="-25000" dirty="0">
                <a:effectLst/>
                <a:latin typeface="Gadugi" panose="020B0502040204020203" pitchFamily="34" charset="0"/>
                <a:ea typeface="Gadugi" panose="020B0502040204020203" pitchFamily="34" charset="0"/>
                <a:cs typeface="ADLaM Display" panose="02010000000000000000" pitchFamily="2" charset="0"/>
              </a:rPr>
              <a:t>t</a:t>
            </a:r>
          </a:p>
        </p:txBody>
      </p:sp>
      <p:pic>
        <p:nvPicPr>
          <p:cNvPr id="20" name="圖片 19">
            <a:extLst>
              <a:ext uri="{FF2B5EF4-FFF2-40B4-BE49-F238E27FC236}">
                <a16:creationId xmlns:a16="http://schemas.microsoft.com/office/drawing/2014/main" id="{CE3E1628-182E-8997-D5C4-ECDCF581F249}"/>
              </a:ext>
            </a:extLst>
          </p:cNvPr>
          <p:cNvPicPr>
            <a:picLocks noChangeAspect="1"/>
          </p:cNvPicPr>
          <p:nvPr/>
        </p:nvPicPr>
        <p:blipFill>
          <a:blip r:embed="rId3"/>
          <a:stretch>
            <a:fillRect/>
          </a:stretch>
        </p:blipFill>
        <p:spPr>
          <a:xfrm>
            <a:off x="2317637" y="2273208"/>
            <a:ext cx="2407576" cy="1386273"/>
          </a:xfrm>
          <a:prstGeom prst="rect">
            <a:avLst/>
          </a:prstGeom>
        </p:spPr>
      </p:pic>
      <p:sp>
        <p:nvSpPr>
          <p:cNvPr id="10" name="文字方塊 9">
            <a:extLst>
              <a:ext uri="{FF2B5EF4-FFF2-40B4-BE49-F238E27FC236}">
                <a16:creationId xmlns:a16="http://schemas.microsoft.com/office/drawing/2014/main" id="{E22969E3-BC50-A43C-1D22-6E0CDFD148BF}"/>
              </a:ext>
            </a:extLst>
          </p:cNvPr>
          <p:cNvSpPr txBox="1"/>
          <p:nvPr/>
        </p:nvSpPr>
        <p:spPr>
          <a:xfrm>
            <a:off x="6291300" y="3356992"/>
            <a:ext cx="872480" cy="360040"/>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Output</a:t>
            </a:r>
          </a:p>
          <a:p>
            <a:pPr algn="ctr">
              <a:lnSpc>
                <a:spcPts val="1400"/>
              </a:lnSpc>
              <a:buNone/>
            </a:pPr>
            <a:r>
              <a:rPr lang="en-US" altLang="zh-TW" sz="1000" b="1" dirty="0">
                <a:latin typeface="Gadugi" panose="020B0502040204020203" pitchFamily="34" charset="0"/>
                <a:ea typeface="Gadugi" panose="020B0502040204020203" pitchFamily="34" charset="0"/>
                <a:cs typeface="ADLaM Display" panose="02010000000000000000" pitchFamily="2" charset="0"/>
              </a:rPr>
              <a:t>Embedding</a:t>
            </a:r>
            <a:endPar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13" name="文字方塊 12">
            <a:extLst>
              <a:ext uri="{FF2B5EF4-FFF2-40B4-BE49-F238E27FC236}">
                <a16:creationId xmlns:a16="http://schemas.microsoft.com/office/drawing/2014/main" id="{90420F50-31C2-3801-F012-BA495FB67751}"/>
              </a:ext>
            </a:extLst>
          </p:cNvPr>
          <p:cNvSpPr txBox="1"/>
          <p:nvPr/>
        </p:nvSpPr>
        <p:spPr>
          <a:xfrm>
            <a:off x="6288637" y="5410384"/>
            <a:ext cx="872480" cy="360040"/>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Input</a:t>
            </a:r>
          </a:p>
          <a:p>
            <a:pPr algn="ctr">
              <a:lnSpc>
                <a:spcPts val="1400"/>
              </a:lnSpc>
              <a:buNone/>
            </a:pPr>
            <a:r>
              <a:rPr lang="en-US" altLang="zh-TW" sz="1000" b="1" dirty="0">
                <a:latin typeface="Gadugi" panose="020B0502040204020203" pitchFamily="34" charset="0"/>
                <a:ea typeface="Gadugi" panose="020B0502040204020203" pitchFamily="34" charset="0"/>
                <a:cs typeface="ADLaM Display" panose="02010000000000000000" pitchFamily="2" charset="0"/>
              </a:rPr>
              <a:t>Embedding</a:t>
            </a:r>
            <a:endPar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17" name="文字方塊 16">
            <a:extLst>
              <a:ext uri="{FF2B5EF4-FFF2-40B4-BE49-F238E27FC236}">
                <a16:creationId xmlns:a16="http://schemas.microsoft.com/office/drawing/2014/main" id="{0CEDE517-4295-B81B-7ABA-627D4A84487D}"/>
              </a:ext>
            </a:extLst>
          </p:cNvPr>
          <p:cNvSpPr txBox="1"/>
          <p:nvPr/>
        </p:nvSpPr>
        <p:spPr>
          <a:xfrm>
            <a:off x="174424" y="4535676"/>
            <a:ext cx="2232248" cy="276999"/>
          </a:xfrm>
          <a:prstGeom prst="rect">
            <a:avLst/>
          </a:prstGeom>
          <a:noFill/>
        </p:spPr>
        <p:txBody>
          <a:bodyPr wrap="square" rtlCol="0">
            <a:spAutoFit/>
          </a:bodyPr>
          <a:lstStyle/>
          <a:p>
            <a:r>
              <a:rPr lang="en-US" altLang="zh-TW" sz="1200" dirty="0">
                <a:latin typeface="ADLaM Display" panose="02010000000000000000" pitchFamily="2" charset="0"/>
                <a:ea typeface="ADLaM Display" panose="02010000000000000000" pitchFamily="2" charset="0"/>
                <a:cs typeface="ADLaM Display" panose="02010000000000000000" pitchFamily="2" charset="0"/>
              </a:rPr>
              <a:t>The fox jumps over the dog.</a:t>
            </a:r>
            <a:endParaRPr lang="zh-TW" altLang="en-US" sz="1200" dirty="0">
              <a:latin typeface="ADLaM Display" panose="02010000000000000000" pitchFamily="2" charset="0"/>
              <a:cs typeface="ADLaM Display" panose="02010000000000000000" pitchFamily="2" charset="0"/>
            </a:endParaRPr>
          </a:p>
        </p:txBody>
      </p:sp>
      <p:graphicFrame>
        <p:nvGraphicFramePr>
          <p:cNvPr id="4" name="表格 3">
            <a:extLst>
              <a:ext uri="{FF2B5EF4-FFF2-40B4-BE49-F238E27FC236}">
                <a16:creationId xmlns:a16="http://schemas.microsoft.com/office/drawing/2014/main" id="{EF335AFD-B9B3-BB8A-4751-B8A246560B65}"/>
              </a:ext>
            </a:extLst>
          </p:cNvPr>
          <p:cNvGraphicFramePr>
            <a:graphicFrameLocks noGrp="1"/>
          </p:cNvGraphicFramePr>
          <p:nvPr>
            <p:extLst>
              <p:ext uri="{D42A27DB-BD31-4B8C-83A1-F6EECF244321}">
                <p14:modId xmlns:p14="http://schemas.microsoft.com/office/powerpoint/2010/main" val="368244717"/>
              </p:ext>
            </p:extLst>
          </p:nvPr>
        </p:nvGraphicFramePr>
        <p:xfrm>
          <a:off x="1741417" y="5020713"/>
          <a:ext cx="482931" cy="1499421"/>
        </p:xfrm>
        <a:graphic>
          <a:graphicData uri="http://schemas.openxmlformats.org/drawingml/2006/table">
            <a:tbl>
              <a:tblPr firstRow="1" bandRow="1">
                <a:tableStyleId>{5C22544A-7EE6-4342-B048-85BDC9FD1C3A}</a:tableStyleId>
              </a:tblPr>
              <a:tblGrid>
                <a:gridCol w="482931">
                  <a:extLst>
                    <a:ext uri="{9D8B030D-6E8A-4147-A177-3AD203B41FA5}">
                      <a16:colId xmlns:a16="http://schemas.microsoft.com/office/drawing/2014/main" val="3375373057"/>
                    </a:ext>
                  </a:extLst>
                </a:gridCol>
              </a:tblGrid>
              <a:tr h="214203">
                <a:tc>
                  <a:txBody>
                    <a:bodyPr/>
                    <a:lstStyle/>
                    <a:p>
                      <a:pPr algn="ctr"/>
                      <a:r>
                        <a:rPr lang="en-US" altLang="zh-TW" sz="1000" b="0" dirty="0">
                          <a:solidFill>
                            <a:schemeClr val="bg1">
                              <a:lumMod val="50000"/>
                            </a:schemeClr>
                          </a:solidFill>
                          <a:latin typeface="ADLaM Display" panose="02010000000000000000" pitchFamily="2" charset="0"/>
                          <a:cs typeface="ADLaM Display" panose="02010000000000000000" pitchFamily="2" charset="0"/>
                        </a:rPr>
                        <a:t>.</a:t>
                      </a: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75496678"/>
                  </a:ext>
                </a:extLst>
              </a:tr>
              <a:tr h="214203">
                <a:tc>
                  <a:txBody>
                    <a:bodyPr/>
                    <a:lstStyle/>
                    <a:p>
                      <a:pPr algn="ctr"/>
                      <a:r>
                        <a:rPr lang="en-US" altLang="zh-TW" sz="1000" b="0" dirty="0">
                          <a:solidFill>
                            <a:schemeClr val="bg1">
                              <a:lumMod val="50000"/>
                            </a:schemeClr>
                          </a:solidFill>
                          <a:latin typeface="ADLaM Display" panose="02010000000000000000" pitchFamily="2" charset="0"/>
                          <a:cs typeface="ADLaM Display" panose="02010000000000000000" pitchFamily="2" charset="0"/>
                        </a:rPr>
                        <a:t>dog</a:t>
                      </a: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87225911"/>
                  </a:ext>
                </a:extLst>
              </a:tr>
              <a:tr h="214203">
                <a:tc>
                  <a:txBody>
                    <a:bodyPr/>
                    <a:lstStyle/>
                    <a:p>
                      <a:pPr algn="ctr"/>
                      <a:r>
                        <a:rPr lang="en-US" altLang="zh-TW" sz="1000" b="0" dirty="0">
                          <a:solidFill>
                            <a:schemeClr val="bg1">
                              <a:lumMod val="50000"/>
                            </a:schemeClr>
                          </a:solidFill>
                          <a:latin typeface="ADLaM Display" panose="02010000000000000000" pitchFamily="2" charset="0"/>
                          <a:cs typeface="ADLaM Display" panose="02010000000000000000" pitchFamily="2" charset="0"/>
                        </a:rPr>
                        <a:t>the</a:t>
                      </a: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29971003"/>
                  </a:ext>
                </a:extLst>
              </a:tr>
              <a:tr h="214203">
                <a:tc>
                  <a:txBody>
                    <a:bodyPr/>
                    <a:lstStyle/>
                    <a:p>
                      <a:pPr algn="ctr"/>
                      <a:r>
                        <a:rPr lang="en-US" altLang="zh-TW" sz="1000" b="0" dirty="0">
                          <a:solidFill>
                            <a:schemeClr val="bg1">
                              <a:lumMod val="50000"/>
                            </a:schemeClr>
                          </a:solidFill>
                          <a:latin typeface="ADLaM Display" panose="02010000000000000000" pitchFamily="2" charset="0"/>
                          <a:cs typeface="ADLaM Display" panose="02010000000000000000" pitchFamily="2" charset="0"/>
                        </a:rPr>
                        <a:t>over</a:t>
                      </a: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70384225"/>
                  </a:ext>
                </a:extLst>
              </a:tr>
              <a:tr h="214203">
                <a:tc>
                  <a:txBody>
                    <a:bodyPr/>
                    <a:lstStyle/>
                    <a:p>
                      <a:pPr algn="ctr"/>
                      <a:r>
                        <a:rPr lang="en-US" altLang="zh-TW" sz="1000" b="0" dirty="0">
                          <a:solidFill>
                            <a:schemeClr val="bg1">
                              <a:lumMod val="50000"/>
                            </a:schemeClr>
                          </a:solidFill>
                          <a:latin typeface="ADLaM Display" panose="02010000000000000000" pitchFamily="2" charset="0"/>
                          <a:cs typeface="ADLaM Display" panose="02010000000000000000" pitchFamily="2" charset="0"/>
                        </a:rPr>
                        <a:t>jumps</a:t>
                      </a: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75019256"/>
                  </a:ext>
                </a:extLst>
              </a:tr>
              <a:tr h="214203">
                <a:tc>
                  <a:txBody>
                    <a:bodyPr/>
                    <a:lstStyle/>
                    <a:p>
                      <a:pPr algn="ctr"/>
                      <a:r>
                        <a:rPr lang="en-US" altLang="zh-TW" sz="1000" b="0" dirty="0">
                          <a:solidFill>
                            <a:schemeClr val="bg1">
                              <a:lumMod val="50000"/>
                            </a:schemeClr>
                          </a:solidFill>
                          <a:latin typeface="ADLaM Display" panose="02010000000000000000" pitchFamily="2" charset="0"/>
                          <a:cs typeface="ADLaM Display" panose="02010000000000000000" pitchFamily="2" charset="0"/>
                        </a:rPr>
                        <a:t>fox</a:t>
                      </a: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36641310"/>
                  </a:ext>
                </a:extLst>
              </a:tr>
              <a:tr h="214203">
                <a:tc>
                  <a:txBody>
                    <a:bodyPr/>
                    <a:lstStyle/>
                    <a:p>
                      <a:pPr algn="ctr"/>
                      <a:r>
                        <a:rPr lang="en-US" altLang="zh-TW" sz="1000" b="0" dirty="0">
                          <a:solidFill>
                            <a:schemeClr val="bg1">
                              <a:lumMod val="50000"/>
                            </a:schemeClr>
                          </a:solidFill>
                          <a:latin typeface="ADLaM Display" panose="02010000000000000000" pitchFamily="2" charset="0"/>
                          <a:cs typeface="ADLaM Display" panose="02010000000000000000" pitchFamily="2" charset="0"/>
                        </a:rPr>
                        <a:t>The</a:t>
                      </a: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89904019"/>
                  </a:ext>
                </a:extLst>
              </a:tr>
            </a:tbl>
          </a:graphicData>
        </a:graphic>
      </p:graphicFrame>
      <p:graphicFrame>
        <p:nvGraphicFramePr>
          <p:cNvPr id="14" name="表格 13">
            <a:extLst>
              <a:ext uri="{FF2B5EF4-FFF2-40B4-BE49-F238E27FC236}">
                <a16:creationId xmlns:a16="http://schemas.microsoft.com/office/drawing/2014/main" id="{9653FEB0-DC7A-AD8E-F475-AC7EE776ED94}"/>
              </a:ext>
            </a:extLst>
          </p:cNvPr>
          <p:cNvGraphicFramePr>
            <a:graphicFrameLocks noGrp="1"/>
          </p:cNvGraphicFramePr>
          <p:nvPr>
            <p:extLst>
              <p:ext uri="{D42A27DB-BD31-4B8C-83A1-F6EECF244321}">
                <p14:modId xmlns:p14="http://schemas.microsoft.com/office/powerpoint/2010/main" val="2374357902"/>
              </p:ext>
            </p:extLst>
          </p:nvPr>
        </p:nvGraphicFramePr>
        <p:xfrm>
          <a:off x="2267744" y="5020713"/>
          <a:ext cx="728545" cy="1499421"/>
        </p:xfrm>
        <a:graphic>
          <a:graphicData uri="http://schemas.openxmlformats.org/drawingml/2006/table">
            <a:tbl>
              <a:tblPr firstRow="1" bandRow="1">
                <a:tableStyleId>{5C22544A-7EE6-4342-B048-85BDC9FD1C3A}</a:tableStyleId>
              </a:tblPr>
              <a:tblGrid>
                <a:gridCol w="249257">
                  <a:extLst>
                    <a:ext uri="{9D8B030D-6E8A-4147-A177-3AD203B41FA5}">
                      <a16:colId xmlns:a16="http://schemas.microsoft.com/office/drawing/2014/main" val="871242339"/>
                    </a:ext>
                  </a:extLst>
                </a:gridCol>
                <a:gridCol w="239644">
                  <a:extLst>
                    <a:ext uri="{9D8B030D-6E8A-4147-A177-3AD203B41FA5}">
                      <a16:colId xmlns:a16="http://schemas.microsoft.com/office/drawing/2014/main" val="1823401774"/>
                    </a:ext>
                  </a:extLst>
                </a:gridCol>
                <a:gridCol w="239644">
                  <a:extLst>
                    <a:ext uri="{9D8B030D-6E8A-4147-A177-3AD203B41FA5}">
                      <a16:colId xmlns:a16="http://schemas.microsoft.com/office/drawing/2014/main" val="1424301285"/>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7225911"/>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0384225"/>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6641310"/>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789904019"/>
                  </a:ext>
                </a:extLst>
              </a:tr>
            </a:tbl>
          </a:graphicData>
        </a:graphic>
      </p:graphicFrame>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55C63892-029D-F9E4-04BA-101895981765}"/>
                  </a:ext>
                </a:extLst>
              </p:cNvPr>
              <p:cNvSpPr txBox="1"/>
              <p:nvPr/>
            </p:nvSpPr>
            <p:spPr>
              <a:xfrm>
                <a:off x="1215532" y="3429000"/>
                <a:ext cx="319062" cy="427675"/>
              </a:xfrm>
              <a:prstGeom prst="rect">
                <a:avLst/>
              </a:prstGeom>
              <a:noFill/>
            </p:spPr>
            <p:txBody>
              <a:bodyPr wrap="none" lIns="0" tIns="0" rIns="0" bIns="0" rtlCol="0">
                <a:spAutoFit/>
              </a:bodyPr>
              <a:lstStyle/>
              <a:p>
                <a:pPr/>
                <a14:m>
                  <m:oMathPara xmlns:m="http://schemas.openxmlformats.org/officeDocument/2006/math">
                    <m:oMath>
                      <m:f>
                        <m:fPr>
                          <m:ctrlPr>
                            <a:rPr lang="zh-TW" altLang="en-US" sz="1200">
                              <a:latin typeface="Cambria Math" panose="02040503050406030204" pitchFamily="18" charset="0"/>
                            </a:rPr>
                          </m:ctrlPr>
                        </m:fPr>
                        <m:num>
                          <m:r>
                            <a:rPr lang="zh-TW" altLang="en-US" sz="1200">
                              <a:latin typeface="Cambria Math" panose="02040503050406030204" pitchFamily="18" charset="0"/>
                            </a:rPr>
                            <m:t>1</m:t>
                          </m:r>
                        </m:num>
                        <m:den>
                          <m:rad>
                            <m:radPr>
                              <m:degHide m:val="on"/>
                              <m:ctrlPr>
                                <a:rPr lang="zh-TW" altLang="en-US" sz="1200" i="1">
                                  <a:latin typeface="Cambria Math" panose="02040503050406030204" pitchFamily="18" charset="0"/>
                                </a:rPr>
                              </m:ctrlPr>
                            </m:radPr>
                            <m:deg/>
                            <m:e>
                              <m:sSub>
                                <m:sSubPr>
                                  <m:ctrlPr>
                                    <a:rPr lang="zh-TW" altLang="en-US" sz="1200" i="1">
                                      <a:latin typeface="Cambria Math" panose="02040503050406030204" pitchFamily="18" charset="0"/>
                                    </a:rPr>
                                  </m:ctrlPr>
                                </m:sSubPr>
                                <m:e>
                                  <m:r>
                                    <a:rPr lang="zh-TW" altLang="en-US" sz="1200" i="1">
                                      <a:latin typeface="Cambria Math" panose="02040503050406030204" pitchFamily="18" charset="0"/>
                                    </a:rPr>
                                    <m:t>𝑑</m:t>
                                  </m:r>
                                </m:e>
                                <m:sub>
                                  <m:r>
                                    <a:rPr lang="zh-TW" altLang="en-US" sz="1200" i="1">
                                      <a:latin typeface="Cambria Math" panose="02040503050406030204" pitchFamily="18" charset="0"/>
                                    </a:rPr>
                                    <m:t>ℎ</m:t>
                                  </m:r>
                                </m:sub>
                              </m:sSub>
                            </m:e>
                          </m:rad>
                        </m:den>
                      </m:f>
                    </m:oMath>
                  </m:oMathPara>
                </a14:m>
                <a:endParaRPr lang="zh-TW" altLang="en-US" sz="1200" dirty="0"/>
              </a:p>
            </p:txBody>
          </p:sp>
        </mc:Choice>
        <mc:Fallback xmlns="">
          <p:sp>
            <p:nvSpPr>
              <p:cNvPr id="16" name="文字方塊 15">
                <a:extLst>
                  <a:ext uri="{FF2B5EF4-FFF2-40B4-BE49-F238E27FC236}">
                    <a16:creationId xmlns:a16="http://schemas.microsoft.com/office/drawing/2014/main" id="{55C63892-029D-F9E4-04BA-101895981765}"/>
                  </a:ext>
                </a:extLst>
              </p:cNvPr>
              <p:cNvSpPr txBox="1">
                <a:spLocks noRot="1" noChangeAspect="1" noMove="1" noResize="1" noEditPoints="1" noAdjustHandles="1" noChangeArrowheads="1" noChangeShapeType="1" noTextEdit="1"/>
              </p:cNvSpPr>
              <p:nvPr/>
            </p:nvSpPr>
            <p:spPr>
              <a:xfrm>
                <a:off x="1215532" y="3429000"/>
                <a:ext cx="319062" cy="427675"/>
              </a:xfrm>
              <a:prstGeom prst="rect">
                <a:avLst/>
              </a:prstGeom>
              <a:blipFill>
                <a:blip r:embed="rId4"/>
                <a:stretch>
                  <a:fillRect t="-2857" r="-1887" b="-2857"/>
                </a:stretch>
              </a:blipFill>
            </p:spPr>
            <p:txBody>
              <a:bodyPr/>
              <a:lstStyle/>
              <a:p>
                <a:r>
                  <a:rPr lang="zh-TW" altLang="en-US">
                    <a:noFill/>
                  </a:rPr>
                  <a:t> </a:t>
                </a:r>
              </a:p>
            </p:txBody>
          </p:sp>
        </mc:Fallback>
      </mc:AlternateContent>
      <p:graphicFrame>
        <p:nvGraphicFramePr>
          <p:cNvPr id="3" name="表格 2">
            <a:extLst>
              <a:ext uri="{FF2B5EF4-FFF2-40B4-BE49-F238E27FC236}">
                <a16:creationId xmlns:a16="http://schemas.microsoft.com/office/drawing/2014/main" id="{AFE25F8A-B035-2EAD-7FD6-C63076F52AE8}"/>
              </a:ext>
            </a:extLst>
          </p:cNvPr>
          <p:cNvGraphicFramePr>
            <a:graphicFrameLocks noGrp="1"/>
          </p:cNvGraphicFramePr>
          <p:nvPr>
            <p:extLst>
              <p:ext uri="{D42A27DB-BD31-4B8C-83A1-F6EECF244321}">
                <p14:modId xmlns:p14="http://schemas.microsoft.com/office/powerpoint/2010/main" val="1372128920"/>
              </p:ext>
            </p:extLst>
          </p:nvPr>
        </p:nvGraphicFramePr>
        <p:xfrm>
          <a:off x="2245679" y="3337235"/>
          <a:ext cx="728545" cy="856812"/>
        </p:xfrm>
        <a:graphic>
          <a:graphicData uri="http://schemas.openxmlformats.org/drawingml/2006/table">
            <a:tbl>
              <a:tblPr firstRow="1" bandRow="1">
                <a:tableStyleId>{5C22544A-7EE6-4342-B048-85BDC9FD1C3A}</a:tableStyleId>
              </a:tblPr>
              <a:tblGrid>
                <a:gridCol w="249257">
                  <a:extLst>
                    <a:ext uri="{9D8B030D-6E8A-4147-A177-3AD203B41FA5}">
                      <a16:colId xmlns:a16="http://schemas.microsoft.com/office/drawing/2014/main" val="871242339"/>
                    </a:ext>
                  </a:extLst>
                </a:gridCol>
                <a:gridCol w="239644">
                  <a:extLst>
                    <a:ext uri="{9D8B030D-6E8A-4147-A177-3AD203B41FA5}">
                      <a16:colId xmlns:a16="http://schemas.microsoft.com/office/drawing/2014/main" val="1823401774"/>
                    </a:ext>
                  </a:extLst>
                </a:gridCol>
                <a:gridCol w="239644">
                  <a:extLst>
                    <a:ext uri="{9D8B030D-6E8A-4147-A177-3AD203B41FA5}">
                      <a16:colId xmlns:a16="http://schemas.microsoft.com/office/drawing/2014/main" val="1424301285"/>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75496678"/>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529971003"/>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975019256"/>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789904019"/>
                  </a:ext>
                </a:extLst>
              </a:tr>
            </a:tbl>
          </a:graphicData>
        </a:graphic>
      </p:graphicFrame>
    </p:spTree>
    <p:extLst>
      <p:ext uri="{BB962C8B-B14F-4D97-AF65-F5344CB8AC3E}">
        <p14:creationId xmlns:p14="http://schemas.microsoft.com/office/powerpoint/2010/main" val="370045833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字方塊 6">
            <a:extLst>
              <a:ext uri="{FF2B5EF4-FFF2-40B4-BE49-F238E27FC236}">
                <a16:creationId xmlns:a16="http://schemas.microsoft.com/office/drawing/2014/main" id="{783E2FE9-23D8-8321-7637-C17FA74FAB22}"/>
              </a:ext>
            </a:extLst>
          </p:cNvPr>
          <p:cNvSpPr txBox="1"/>
          <p:nvPr/>
        </p:nvSpPr>
        <p:spPr>
          <a:xfrm>
            <a:off x="179512" y="1447616"/>
            <a:ext cx="8721352" cy="1477328"/>
          </a:xfrm>
          <a:prstGeom prst="rect">
            <a:avLst/>
          </a:prstGeom>
          <a:noFill/>
        </p:spPr>
        <p:txBody>
          <a:bodyPr wrap="square">
            <a:spAutoFit/>
          </a:bodyPr>
          <a:lstStyle/>
          <a:p>
            <a:pPr>
              <a:lnSpc>
                <a:spcPts val="1800"/>
              </a:lnSpc>
              <a:spcBef>
                <a:spcPts val="600"/>
              </a:spcBef>
              <a:spcAft>
                <a:spcPts val="600"/>
              </a:spcAft>
            </a:pPr>
            <a:r>
              <a:rPr lang="en-US" altLang="zh-TW" sz="2000" b="1" dirty="0"/>
              <a:t>These Gates</a:t>
            </a:r>
            <a:r>
              <a:rPr lang="zh-TW" altLang="en-US" sz="2000" b="1" dirty="0"/>
              <a:t> </a:t>
            </a:r>
            <a:r>
              <a:rPr lang="en-US" altLang="zh-TW" sz="2000" b="1" dirty="0"/>
              <a:t>regulate how information flows</a:t>
            </a:r>
            <a:endParaRPr lang="en-US" altLang="zh-TW" sz="20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Forget Gate</a:t>
            </a:r>
            <a:r>
              <a:rPr lang="en-US" altLang="zh-TW" sz="1600" u="none" strike="noStrike" dirty="0">
                <a:effectLst/>
              </a:rPr>
              <a:t>: </a:t>
            </a:r>
            <a:r>
              <a:rPr lang="en-US" altLang="zh-TW" sz="1600" dirty="0"/>
              <a:t>D</a:t>
            </a:r>
            <a:r>
              <a:rPr lang="en-US" altLang="zh-TW" sz="1600" u="none" strike="noStrike" dirty="0">
                <a:effectLst/>
              </a:rPr>
              <a:t>ecides which past information to discard.</a:t>
            </a:r>
          </a:p>
          <a:p>
            <a:pPr marL="285750" indent="-285750">
              <a:lnSpc>
                <a:spcPts val="1800"/>
              </a:lnSpc>
              <a:spcBef>
                <a:spcPts val="600"/>
              </a:spcBef>
              <a:spcAft>
                <a:spcPts val="600"/>
              </a:spcAft>
              <a:buFont typeface="Wingdings" panose="05000000000000000000" pitchFamily="2" charset="2"/>
              <a:buChar char="Ø"/>
            </a:pPr>
            <a:r>
              <a:rPr lang="en-US" altLang="zh-TW" sz="1600" b="1" dirty="0"/>
              <a:t>Input Gate</a:t>
            </a:r>
            <a:r>
              <a:rPr lang="en-US" altLang="zh-TW" sz="1600" dirty="0"/>
              <a:t>: Controls the relevance of new information.</a:t>
            </a:r>
          </a:p>
          <a:p>
            <a:pPr marL="285750" indent="-285750">
              <a:lnSpc>
                <a:spcPts val="1800"/>
              </a:lnSpc>
              <a:spcBef>
                <a:spcPts val="600"/>
              </a:spcBef>
              <a:spcAft>
                <a:spcPts val="600"/>
              </a:spcAft>
              <a:buFont typeface="Wingdings" panose="05000000000000000000" pitchFamily="2" charset="2"/>
              <a:buChar char="Ø"/>
            </a:pPr>
            <a:r>
              <a:rPr lang="en-US" altLang="zh-TW" sz="1600" b="1" dirty="0"/>
              <a:t>Output Gate</a:t>
            </a:r>
            <a:r>
              <a:rPr lang="en-US" altLang="zh-TW" sz="1600" dirty="0"/>
              <a:t>: Manages what information the LSTM unit should pass to the next time stamp.</a:t>
            </a:r>
          </a:p>
        </p:txBody>
      </p:sp>
      <p:sp>
        <p:nvSpPr>
          <p:cNvPr id="11" name="標題 1">
            <a:extLst>
              <a:ext uri="{FF2B5EF4-FFF2-40B4-BE49-F238E27FC236}">
                <a16:creationId xmlns:a16="http://schemas.microsoft.com/office/drawing/2014/main" id="{D342347B-3406-5B70-888B-D0EE62A80FC4}"/>
              </a:ext>
            </a:extLst>
          </p:cNvPr>
          <p:cNvSpPr txBox="1">
            <a:spLocks/>
          </p:cNvSpPr>
          <p:nvPr/>
        </p:nvSpPr>
        <p:spPr>
          <a:xfrm>
            <a:off x="179512" y="116632"/>
            <a:ext cx="8721352" cy="10905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L</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ong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S</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hort-</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T</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erm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M</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emory</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Cell state allows critical information to travel across long sequences without dilution.</a:t>
            </a:r>
            <a:endPar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p:txBody>
      </p:sp>
      <p:pic>
        <p:nvPicPr>
          <p:cNvPr id="8" name="圖片 7">
            <a:extLst>
              <a:ext uri="{FF2B5EF4-FFF2-40B4-BE49-F238E27FC236}">
                <a16:creationId xmlns:a16="http://schemas.microsoft.com/office/drawing/2014/main" id="{169773E7-B30A-794E-28AC-8FD1CB0E3323}"/>
              </a:ext>
            </a:extLst>
          </p:cNvPr>
          <p:cNvPicPr>
            <a:picLocks noChangeAspect="1"/>
          </p:cNvPicPr>
          <p:nvPr/>
        </p:nvPicPr>
        <p:blipFill>
          <a:blip r:embed="rId3"/>
          <a:stretch>
            <a:fillRect/>
          </a:stretch>
        </p:blipFill>
        <p:spPr>
          <a:xfrm>
            <a:off x="107504" y="4092630"/>
            <a:ext cx="1735864" cy="2072674"/>
          </a:xfrm>
          <a:prstGeom prst="rect">
            <a:avLst/>
          </a:prstGeom>
        </p:spPr>
      </p:pic>
      <p:pic>
        <p:nvPicPr>
          <p:cNvPr id="20" name="圖片 19">
            <a:extLst>
              <a:ext uri="{FF2B5EF4-FFF2-40B4-BE49-F238E27FC236}">
                <a16:creationId xmlns:a16="http://schemas.microsoft.com/office/drawing/2014/main" id="{EA6D820A-9145-B84E-0551-974ECABF6384}"/>
              </a:ext>
            </a:extLst>
          </p:cNvPr>
          <p:cNvPicPr>
            <a:picLocks noChangeAspect="1"/>
          </p:cNvPicPr>
          <p:nvPr/>
        </p:nvPicPr>
        <p:blipFill>
          <a:blip r:embed="rId4"/>
          <a:stretch>
            <a:fillRect/>
          </a:stretch>
        </p:blipFill>
        <p:spPr>
          <a:xfrm>
            <a:off x="3131840" y="4435849"/>
            <a:ext cx="3960440" cy="2072674"/>
          </a:xfrm>
          <a:prstGeom prst="rect">
            <a:avLst/>
          </a:prstGeom>
        </p:spPr>
      </p:pic>
    </p:spTree>
    <p:extLst>
      <p:ext uri="{BB962C8B-B14F-4D97-AF65-F5344CB8AC3E}">
        <p14:creationId xmlns:p14="http://schemas.microsoft.com/office/powerpoint/2010/main" val="334371415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23217-625E-805F-5AEB-67F8FBD9E70C}"/>
            </a:ext>
          </a:extLst>
        </p:cNvPr>
        <p:cNvGrpSpPr/>
        <p:nvPr/>
      </p:nvGrpSpPr>
      <p:grpSpPr>
        <a:xfrm>
          <a:off x="0" y="0"/>
          <a:ext cx="0" cy="0"/>
          <a:chOff x="0" y="0"/>
          <a:chExt cx="0" cy="0"/>
        </a:xfrm>
      </p:grpSpPr>
      <p:sp>
        <p:nvSpPr>
          <p:cNvPr id="8" name="文字方塊 7">
            <a:extLst>
              <a:ext uri="{FF2B5EF4-FFF2-40B4-BE49-F238E27FC236}">
                <a16:creationId xmlns:a16="http://schemas.microsoft.com/office/drawing/2014/main" id="{12200328-F543-0FFF-9CEC-73F749406B50}"/>
              </a:ext>
            </a:extLst>
          </p:cNvPr>
          <p:cNvSpPr txBox="1"/>
          <p:nvPr/>
        </p:nvSpPr>
        <p:spPr>
          <a:xfrm>
            <a:off x="899592" y="947302"/>
            <a:ext cx="2664296" cy="1473586"/>
          </a:xfrm>
          <a:prstGeom prst="rect">
            <a:avLst/>
          </a:prstGeom>
          <a:solidFill>
            <a:srgbClr val="FEC203">
              <a:alpha val="60000"/>
            </a:srgbClr>
          </a:solidFill>
          <a:ln w="15875">
            <a:solidFill>
              <a:schemeClr val="bg1">
                <a:lumMod val="65000"/>
              </a:schemeClr>
            </a:solidFill>
          </a:ln>
        </p:spPr>
        <p:txBody>
          <a:bodyPr wrap="none" lIns="0" tIns="18288" rIns="0" bIns="0" anchor="t"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LSTM Memory Cell</a:t>
            </a:r>
          </a:p>
        </p:txBody>
      </p:sp>
      <p:sp>
        <p:nvSpPr>
          <p:cNvPr id="100" name="文字方塊 99">
            <a:extLst>
              <a:ext uri="{FF2B5EF4-FFF2-40B4-BE49-F238E27FC236}">
                <a16:creationId xmlns:a16="http://schemas.microsoft.com/office/drawing/2014/main" id="{068B1AC4-1D4A-0E7B-6991-41083D30C0F0}"/>
              </a:ext>
            </a:extLst>
          </p:cNvPr>
          <p:cNvSpPr txBox="1"/>
          <p:nvPr/>
        </p:nvSpPr>
        <p:spPr>
          <a:xfrm>
            <a:off x="5148064" y="1070493"/>
            <a:ext cx="728464" cy="958025"/>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endPar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aphicFrame>
        <p:nvGraphicFramePr>
          <p:cNvPr id="101" name="表格 100">
            <a:extLst>
              <a:ext uri="{FF2B5EF4-FFF2-40B4-BE49-F238E27FC236}">
                <a16:creationId xmlns:a16="http://schemas.microsoft.com/office/drawing/2014/main" id="{06ABD774-6A1D-EFFF-A1FB-05FEF4238262}"/>
              </a:ext>
            </a:extLst>
          </p:cNvPr>
          <p:cNvGraphicFramePr>
            <a:graphicFrameLocks noGrp="1"/>
          </p:cNvGraphicFramePr>
          <p:nvPr/>
        </p:nvGraphicFramePr>
        <p:xfrm>
          <a:off x="5207041" y="1092619"/>
          <a:ext cx="610509" cy="869058"/>
        </p:xfrm>
        <a:graphic>
          <a:graphicData uri="http://schemas.openxmlformats.org/drawingml/2006/table">
            <a:tbl>
              <a:tblPr firstRow="1" bandRow="1">
                <a:tableStyleId>{5C22544A-7EE6-4342-B048-85BDC9FD1C3A}</a:tableStyleId>
              </a:tblPr>
              <a:tblGrid>
                <a:gridCol w="610509">
                  <a:extLst>
                    <a:ext uri="{9D8B030D-6E8A-4147-A177-3AD203B41FA5}">
                      <a16:colId xmlns:a16="http://schemas.microsoft.com/office/drawing/2014/main" val="4512040"/>
                    </a:ext>
                  </a:extLst>
                </a:gridCol>
              </a:tblGrid>
              <a:tr h="251649">
                <a:tc>
                  <a:txBody>
                    <a:bodyPr/>
                    <a:lstStyle/>
                    <a:p>
                      <a:pPr algn="ctr"/>
                      <a:r>
                        <a:rPr lang="en-US" altLang="zh-TW" sz="1200" b="0" cap="none" spc="0" dirty="0">
                          <a:ln w="0"/>
                          <a:solidFill>
                            <a:schemeClr val="tx1"/>
                          </a:solidFill>
                          <a:effectLst/>
                        </a:rPr>
                        <a:t>SP</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1649">
                <a:tc>
                  <a:txBody>
                    <a:bodyPr/>
                    <a:lstStyle/>
                    <a:p>
                      <a:pPr algn="ctr"/>
                      <a:r>
                        <a:rPr lang="en-US" altLang="zh-TW" sz="1200" b="0" cap="none" spc="0" dirty="0">
                          <a:ln w="0"/>
                          <a:solidFill>
                            <a:schemeClr val="tx1"/>
                          </a:solidFill>
                          <a:effectLst/>
                        </a:rPr>
                        <a:t>-</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163766">
                <a:tc>
                  <a:txBody>
                    <a:bodyPr/>
                    <a:lstStyle/>
                    <a:p>
                      <a:pPr algn="ctr"/>
                      <a:r>
                        <a:rPr lang="en-US" altLang="zh-TW" sz="1200" b="0" cap="none" spc="0" dirty="0">
                          <a:ln w="0"/>
                          <a:solidFill>
                            <a:schemeClr val="tx1"/>
                          </a:solidFill>
                          <a:effectLst/>
                        </a:rPr>
                        <a:t>-</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163766">
                <a:tc>
                  <a:txBody>
                    <a:bodyPr/>
                    <a:lstStyle/>
                    <a:p>
                      <a:pPr algn="ct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168480023"/>
                  </a:ext>
                </a:extLst>
              </a:tr>
            </a:tbl>
          </a:graphicData>
        </a:graphic>
      </p:graphicFrame>
      <p:sp>
        <p:nvSpPr>
          <p:cNvPr id="107" name="文字方塊 106">
            <a:extLst>
              <a:ext uri="{FF2B5EF4-FFF2-40B4-BE49-F238E27FC236}">
                <a16:creationId xmlns:a16="http://schemas.microsoft.com/office/drawing/2014/main" id="{5C00DBFB-4EE6-2BD2-AC77-1593E82FD52C}"/>
              </a:ext>
            </a:extLst>
          </p:cNvPr>
          <p:cNvSpPr txBox="1"/>
          <p:nvPr/>
        </p:nvSpPr>
        <p:spPr>
          <a:xfrm>
            <a:off x="5148064" y="2102606"/>
            <a:ext cx="728464" cy="958025"/>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endPar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aphicFrame>
        <p:nvGraphicFramePr>
          <p:cNvPr id="108" name="表格 107">
            <a:extLst>
              <a:ext uri="{FF2B5EF4-FFF2-40B4-BE49-F238E27FC236}">
                <a16:creationId xmlns:a16="http://schemas.microsoft.com/office/drawing/2014/main" id="{5C9E2D2A-C2E9-8210-B437-9A4DC26146A7}"/>
              </a:ext>
            </a:extLst>
          </p:cNvPr>
          <p:cNvGraphicFramePr>
            <a:graphicFrameLocks noGrp="1"/>
          </p:cNvGraphicFramePr>
          <p:nvPr/>
        </p:nvGraphicFramePr>
        <p:xfrm>
          <a:off x="5207041" y="2124732"/>
          <a:ext cx="610509" cy="869058"/>
        </p:xfrm>
        <a:graphic>
          <a:graphicData uri="http://schemas.openxmlformats.org/drawingml/2006/table">
            <a:tbl>
              <a:tblPr firstRow="1" bandRow="1">
                <a:tableStyleId>{5C22544A-7EE6-4342-B048-85BDC9FD1C3A}</a:tableStyleId>
              </a:tblPr>
              <a:tblGrid>
                <a:gridCol w="610509">
                  <a:extLst>
                    <a:ext uri="{9D8B030D-6E8A-4147-A177-3AD203B41FA5}">
                      <a16:colId xmlns:a16="http://schemas.microsoft.com/office/drawing/2014/main" val="4512040"/>
                    </a:ext>
                  </a:extLst>
                </a:gridCol>
              </a:tblGrid>
              <a:tr h="251649">
                <a:tc>
                  <a:txBody>
                    <a:bodyPr/>
                    <a:lstStyle/>
                    <a:p>
                      <a:pPr algn="ctr"/>
                      <a:r>
                        <a:rPr lang="en-US" altLang="zh-TW" sz="1200" b="0" cap="none" spc="0" dirty="0">
                          <a:ln w="0"/>
                          <a:solidFill>
                            <a:schemeClr val="tx1"/>
                          </a:solidFill>
                          <a:effectLst/>
                        </a:rPr>
                        <a:t>SP</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1649">
                <a:tc>
                  <a:txBody>
                    <a:bodyPr/>
                    <a:lstStyle/>
                    <a:p>
                      <a:pPr algn="ctr"/>
                      <a:r>
                        <a:rPr lang="en-US" altLang="zh-TW" sz="1200" b="0" cap="none" spc="0" dirty="0">
                          <a:ln w="0"/>
                          <a:solidFill>
                            <a:schemeClr val="tx1"/>
                          </a:solidFill>
                          <a:effectLst/>
                        </a:rPr>
                        <a:t>HC</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63766">
                <a:tc>
                  <a:txBody>
                    <a:bodyPr/>
                    <a:lstStyle/>
                    <a:p>
                      <a:pPr algn="ctr"/>
                      <a:r>
                        <a:rPr lang="en-US" altLang="zh-TW" sz="1200" b="0" cap="none" spc="0" dirty="0">
                          <a:ln w="0"/>
                          <a:solidFill>
                            <a:schemeClr val="tx1"/>
                          </a:solidFill>
                          <a:effectLst/>
                        </a:rPr>
                        <a:t>-</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163766">
                <a:tc>
                  <a:txBody>
                    <a:bodyPr/>
                    <a:lstStyle/>
                    <a:p>
                      <a:pPr algn="ct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168480023"/>
                  </a:ext>
                </a:extLst>
              </a:tr>
            </a:tbl>
          </a:graphicData>
        </a:graphic>
      </p:graphicFrame>
      <p:sp>
        <p:nvSpPr>
          <p:cNvPr id="109" name="文字方塊 108">
            <a:extLst>
              <a:ext uri="{FF2B5EF4-FFF2-40B4-BE49-F238E27FC236}">
                <a16:creationId xmlns:a16="http://schemas.microsoft.com/office/drawing/2014/main" id="{C1A6C5B2-083E-5F60-62AD-39D3D058A654}"/>
              </a:ext>
            </a:extLst>
          </p:cNvPr>
          <p:cNvSpPr txBox="1"/>
          <p:nvPr/>
        </p:nvSpPr>
        <p:spPr>
          <a:xfrm>
            <a:off x="5152301" y="3134719"/>
            <a:ext cx="728464" cy="958025"/>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endPar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aphicFrame>
        <p:nvGraphicFramePr>
          <p:cNvPr id="110" name="表格 109">
            <a:extLst>
              <a:ext uri="{FF2B5EF4-FFF2-40B4-BE49-F238E27FC236}">
                <a16:creationId xmlns:a16="http://schemas.microsoft.com/office/drawing/2014/main" id="{FC6E02AE-7229-E5CA-8217-64EE8B5FA96A}"/>
              </a:ext>
            </a:extLst>
          </p:cNvPr>
          <p:cNvGraphicFramePr>
            <a:graphicFrameLocks noGrp="1"/>
          </p:cNvGraphicFramePr>
          <p:nvPr/>
        </p:nvGraphicFramePr>
        <p:xfrm>
          <a:off x="5211278" y="3156845"/>
          <a:ext cx="610509" cy="869058"/>
        </p:xfrm>
        <a:graphic>
          <a:graphicData uri="http://schemas.openxmlformats.org/drawingml/2006/table">
            <a:tbl>
              <a:tblPr firstRow="1" bandRow="1">
                <a:tableStyleId>{5C22544A-7EE6-4342-B048-85BDC9FD1C3A}</a:tableStyleId>
              </a:tblPr>
              <a:tblGrid>
                <a:gridCol w="610509">
                  <a:extLst>
                    <a:ext uri="{9D8B030D-6E8A-4147-A177-3AD203B41FA5}">
                      <a16:colId xmlns:a16="http://schemas.microsoft.com/office/drawing/2014/main" val="4512040"/>
                    </a:ext>
                  </a:extLst>
                </a:gridCol>
              </a:tblGrid>
              <a:tr h="251649">
                <a:tc>
                  <a:txBody>
                    <a:bodyPr/>
                    <a:lstStyle/>
                    <a:p>
                      <a:pPr algn="ctr"/>
                      <a:r>
                        <a:rPr lang="en-US" altLang="zh-TW" sz="1200" b="0" cap="none" spc="0" dirty="0">
                          <a:ln w="0"/>
                          <a:solidFill>
                            <a:schemeClr val="tx1"/>
                          </a:solidFill>
                          <a:effectLst/>
                        </a:rPr>
                        <a:t>SP</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1649">
                <a:tc>
                  <a:txBody>
                    <a:bodyPr/>
                    <a:lstStyle/>
                    <a:p>
                      <a:pPr algn="ctr"/>
                      <a:r>
                        <a:rPr lang="en-US" altLang="zh-TW" sz="1200" b="0" cap="none" spc="0" dirty="0">
                          <a:ln w="0"/>
                          <a:solidFill>
                            <a:schemeClr val="tx1"/>
                          </a:solidFill>
                          <a:effectLst/>
                        </a:rPr>
                        <a:t>HC</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63766">
                <a:tc>
                  <a:txBody>
                    <a:bodyPr/>
                    <a:lstStyle/>
                    <a:p>
                      <a:pPr algn="ctr"/>
                      <a:r>
                        <a:rPr lang="en-US" altLang="zh-TW" sz="1200" b="1" cap="none" spc="0" dirty="0">
                          <a:ln w="0"/>
                          <a:solidFill>
                            <a:schemeClr val="tx1"/>
                          </a:solidFill>
                          <a:effectLst/>
                        </a:rPr>
                        <a:t>Input</a:t>
                      </a:r>
                      <a:endParaRPr lang="zh-TW" altLang="en-US" sz="1200" b="1"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63766">
                <a:tc>
                  <a:txBody>
                    <a:bodyPr/>
                    <a:lstStyle/>
                    <a:p>
                      <a:pPr algn="ct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168480023"/>
                  </a:ext>
                </a:extLst>
              </a:tr>
            </a:tbl>
          </a:graphicData>
        </a:graphic>
      </p:graphicFrame>
      <p:sp>
        <p:nvSpPr>
          <p:cNvPr id="111" name="文字方塊 110">
            <a:extLst>
              <a:ext uri="{FF2B5EF4-FFF2-40B4-BE49-F238E27FC236}">
                <a16:creationId xmlns:a16="http://schemas.microsoft.com/office/drawing/2014/main" id="{797DB904-DE44-6CCE-20E2-23B451A0EE91}"/>
              </a:ext>
            </a:extLst>
          </p:cNvPr>
          <p:cNvSpPr txBox="1"/>
          <p:nvPr/>
        </p:nvSpPr>
        <p:spPr>
          <a:xfrm>
            <a:off x="8172400" y="3839127"/>
            <a:ext cx="728464" cy="958025"/>
          </a:xfrm>
          <a:prstGeom prst="rect">
            <a:avLst/>
          </a:prstGeom>
          <a:solidFill>
            <a:srgbClr val="FDE7DA">
              <a:alpha val="80000"/>
            </a:srgbClr>
          </a:solidFill>
          <a:ln w="15875">
            <a:solidFill>
              <a:schemeClr val="bg1">
                <a:lumMod val="65000"/>
              </a:schemeClr>
            </a:solidFill>
          </a:ln>
        </p:spPr>
        <p:txBody>
          <a:bodyPr wrap="none" lIns="0" tIns="0" rIns="0" bIns="0" anchor="ctr" anchorCtr="1">
            <a:noAutofit/>
          </a:bodyPr>
          <a:lstStyle/>
          <a:p>
            <a:pPr algn="ctr">
              <a:lnSpc>
                <a:spcPts val="1400"/>
              </a:lnSpc>
              <a:buNone/>
            </a:pPr>
            <a:endPar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aphicFrame>
        <p:nvGraphicFramePr>
          <p:cNvPr id="112" name="表格 111">
            <a:extLst>
              <a:ext uri="{FF2B5EF4-FFF2-40B4-BE49-F238E27FC236}">
                <a16:creationId xmlns:a16="http://schemas.microsoft.com/office/drawing/2014/main" id="{ABB1FFFE-8A62-292A-9DC8-40526C0EE43D}"/>
              </a:ext>
            </a:extLst>
          </p:cNvPr>
          <p:cNvGraphicFramePr>
            <a:graphicFrameLocks noGrp="1"/>
          </p:cNvGraphicFramePr>
          <p:nvPr/>
        </p:nvGraphicFramePr>
        <p:xfrm>
          <a:off x="8231377" y="3861253"/>
          <a:ext cx="610509" cy="869058"/>
        </p:xfrm>
        <a:graphic>
          <a:graphicData uri="http://schemas.openxmlformats.org/drawingml/2006/table">
            <a:tbl>
              <a:tblPr firstRow="1" bandRow="1">
                <a:tableStyleId>{5C22544A-7EE6-4342-B048-85BDC9FD1C3A}</a:tableStyleId>
              </a:tblPr>
              <a:tblGrid>
                <a:gridCol w="610509">
                  <a:extLst>
                    <a:ext uri="{9D8B030D-6E8A-4147-A177-3AD203B41FA5}">
                      <a16:colId xmlns:a16="http://schemas.microsoft.com/office/drawing/2014/main" val="4512040"/>
                    </a:ext>
                  </a:extLst>
                </a:gridCol>
              </a:tblGrid>
              <a:tr h="251649">
                <a:tc>
                  <a:txBody>
                    <a:bodyPr/>
                    <a:lstStyle/>
                    <a:p>
                      <a:pPr algn="ctr"/>
                      <a:r>
                        <a:rPr lang="en-US" altLang="zh-TW" sz="1200" b="0" cap="none" spc="0" dirty="0">
                          <a:ln w="0"/>
                          <a:solidFill>
                            <a:schemeClr val="tx1"/>
                          </a:solidFill>
                          <a:effectLst/>
                        </a:rPr>
                        <a:t>SP</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1649">
                <a:tc>
                  <a:txBody>
                    <a:bodyPr/>
                    <a:lstStyle/>
                    <a:p>
                      <a:pPr algn="ctr"/>
                      <a:r>
                        <a:rPr lang="en-US" altLang="zh-TW" sz="1200" b="0" cap="none" spc="0" dirty="0">
                          <a:ln w="0"/>
                          <a:solidFill>
                            <a:schemeClr val="tx1"/>
                          </a:solidFill>
                          <a:effectLst/>
                        </a:rPr>
                        <a:t>HC</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63766">
                <a:tc>
                  <a:txBody>
                    <a:bodyPr/>
                    <a:lstStyle/>
                    <a:p>
                      <a:pPr algn="ctr"/>
                      <a:r>
                        <a:rPr lang="en-US" altLang="zh-TW" sz="1200" b="0" cap="none" spc="0" dirty="0">
                          <a:ln w="0"/>
                          <a:solidFill>
                            <a:schemeClr val="tx1"/>
                          </a:solidFill>
                          <a:effectLst/>
                        </a:rPr>
                        <a:t>Input</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63766">
                <a:tc>
                  <a:txBody>
                    <a:bodyPr/>
                    <a:lstStyle/>
                    <a:p>
                      <a:pPr algn="ctr"/>
                      <a:r>
                        <a:rPr lang="en-US" altLang="zh-TW" sz="1200" b="1" cap="none" spc="0" dirty="0">
                          <a:ln w="0"/>
                          <a:solidFill>
                            <a:schemeClr val="tx1"/>
                          </a:solidFill>
                          <a:effectLst/>
                        </a:rPr>
                        <a:t>Output</a:t>
                      </a:r>
                      <a:endParaRPr lang="zh-TW" altLang="en-US" sz="1200" b="1"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168480023"/>
                  </a:ext>
                </a:extLst>
              </a:tr>
            </a:tbl>
          </a:graphicData>
        </a:graphic>
      </p:graphicFrame>
      <p:sp>
        <p:nvSpPr>
          <p:cNvPr id="114" name="箭號: 向下 113">
            <a:extLst>
              <a:ext uri="{FF2B5EF4-FFF2-40B4-BE49-F238E27FC236}">
                <a16:creationId xmlns:a16="http://schemas.microsoft.com/office/drawing/2014/main" id="{31FB7D69-604B-BAD7-055D-8362D8471E69}"/>
              </a:ext>
            </a:extLst>
          </p:cNvPr>
          <p:cNvSpPr/>
          <p:nvPr/>
        </p:nvSpPr>
        <p:spPr>
          <a:xfrm>
            <a:off x="5396876" y="1927947"/>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5" name="箭號: 向下 114">
            <a:extLst>
              <a:ext uri="{FF2B5EF4-FFF2-40B4-BE49-F238E27FC236}">
                <a16:creationId xmlns:a16="http://schemas.microsoft.com/office/drawing/2014/main" id="{69492AF6-68A8-7483-E082-F9118B3C1DA9}"/>
              </a:ext>
            </a:extLst>
          </p:cNvPr>
          <p:cNvSpPr/>
          <p:nvPr/>
        </p:nvSpPr>
        <p:spPr>
          <a:xfrm>
            <a:off x="5404284" y="2967583"/>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6" name="箭號: 向下 115">
            <a:extLst>
              <a:ext uri="{FF2B5EF4-FFF2-40B4-BE49-F238E27FC236}">
                <a16:creationId xmlns:a16="http://schemas.microsoft.com/office/drawing/2014/main" id="{F35B03DF-C661-E7F4-132F-B3954CEC0E6A}"/>
              </a:ext>
            </a:extLst>
          </p:cNvPr>
          <p:cNvSpPr/>
          <p:nvPr/>
        </p:nvSpPr>
        <p:spPr>
          <a:xfrm>
            <a:off x="8437036" y="3672493"/>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圓角 14">
            <a:extLst>
              <a:ext uri="{FF2B5EF4-FFF2-40B4-BE49-F238E27FC236}">
                <a16:creationId xmlns:a16="http://schemas.microsoft.com/office/drawing/2014/main" id="{E625F811-10EE-A736-270A-F307424E81CD}"/>
              </a:ext>
            </a:extLst>
          </p:cNvPr>
          <p:cNvSpPr/>
          <p:nvPr/>
        </p:nvSpPr>
        <p:spPr>
          <a:xfrm>
            <a:off x="6221748" y="2182260"/>
            <a:ext cx="1440160" cy="202800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21" name="文字方塊 20">
            <a:extLst>
              <a:ext uri="{FF2B5EF4-FFF2-40B4-BE49-F238E27FC236}">
                <a16:creationId xmlns:a16="http://schemas.microsoft.com/office/drawing/2014/main" id="{C6F17E19-E804-BF89-0930-EB1457F4E720}"/>
              </a:ext>
            </a:extLst>
          </p:cNvPr>
          <p:cNvSpPr txBox="1"/>
          <p:nvPr/>
        </p:nvSpPr>
        <p:spPr>
          <a:xfrm>
            <a:off x="6365764" y="2326276"/>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Add &amp; Norm</a:t>
            </a:r>
          </a:p>
        </p:txBody>
      </p:sp>
      <p:sp>
        <p:nvSpPr>
          <p:cNvPr id="12" name="文字方塊 11">
            <a:extLst>
              <a:ext uri="{FF2B5EF4-FFF2-40B4-BE49-F238E27FC236}">
                <a16:creationId xmlns:a16="http://schemas.microsoft.com/office/drawing/2014/main" id="{A4AEAC62-A051-C385-365D-BA63201F89C2}"/>
              </a:ext>
            </a:extLst>
          </p:cNvPr>
          <p:cNvSpPr txBox="1"/>
          <p:nvPr/>
        </p:nvSpPr>
        <p:spPr>
          <a:xfrm>
            <a:off x="6365764" y="2720522"/>
            <a:ext cx="1152128" cy="225052"/>
          </a:xfrm>
          <a:prstGeom prst="rect">
            <a:avLst/>
          </a:prstGeom>
          <a:solidFill>
            <a:srgbClr val="B7C9E7">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Feed</a:t>
            </a:r>
            <a:r>
              <a:rPr lang="zh-TW" altLang="en-US" sz="1100" b="1" u="none" strike="noStrike" dirty="0">
                <a:effectLst/>
                <a:latin typeface="Gadugi" panose="020B0502040204020203" pitchFamily="34" charset="0"/>
                <a:ea typeface="Gadugi" panose="020B0502040204020203" pitchFamily="34" charset="0"/>
                <a:cs typeface="ADLaM Display" panose="02010000000000000000" pitchFamily="2" charset="0"/>
              </a:rPr>
              <a:t> </a:t>
            </a: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Forward</a:t>
            </a:r>
          </a:p>
        </p:txBody>
      </p:sp>
      <p:sp>
        <p:nvSpPr>
          <p:cNvPr id="13" name="文字方塊 12">
            <a:extLst>
              <a:ext uri="{FF2B5EF4-FFF2-40B4-BE49-F238E27FC236}">
                <a16:creationId xmlns:a16="http://schemas.microsoft.com/office/drawing/2014/main" id="{08767653-CF05-F52D-0116-607BA1CF251E}"/>
              </a:ext>
            </a:extLst>
          </p:cNvPr>
          <p:cNvSpPr txBox="1"/>
          <p:nvPr/>
        </p:nvSpPr>
        <p:spPr>
          <a:xfrm>
            <a:off x="6365764" y="3109336"/>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Add &amp; Norm</a:t>
            </a:r>
          </a:p>
        </p:txBody>
      </p:sp>
      <p:sp>
        <p:nvSpPr>
          <p:cNvPr id="14" name="文字方塊 13">
            <a:extLst>
              <a:ext uri="{FF2B5EF4-FFF2-40B4-BE49-F238E27FC236}">
                <a16:creationId xmlns:a16="http://schemas.microsoft.com/office/drawing/2014/main" id="{BA0F4A55-06D6-1B6B-BBC9-2EB74CC463CA}"/>
              </a:ext>
            </a:extLst>
          </p:cNvPr>
          <p:cNvSpPr txBox="1"/>
          <p:nvPr/>
        </p:nvSpPr>
        <p:spPr>
          <a:xfrm>
            <a:off x="6119882" y="3489920"/>
            <a:ext cx="1152128" cy="523222"/>
          </a:xfrm>
          <a:prstGeom prst="rect">
            <a:avLst/>
          </a:prstGeom>
          <a:solidFill>
            <a:srgbClr val="FEC203">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Masked</a:t>
            </a:r>
          </a:p>
          <a:p>
            <a:pPr algn="ctr">
              <a:lnSpc>
                <a:spcPts val="1400"/>
              </a:lnSpc>
              <a:buNone/>
            </a:pPr>
            <a:r>
              <a:rPr lang="en-US" altLang="zh-TW" sz="1100" b="1" dirty="0">
                <a:latin typeface="Gadugi" panose="020B0502040204020203" pitchFamily="34" charset="0"/>
                <a:ea typeface="Gadugi" panose="020B0502040204020203" pitchFamily="34" charset="0"/>
                <a:cs typeface="ADLaM Display" panose="02010000000000000000" pitchFamily="2" charset="0"/>
              </a:rPr>
              <a:t>Multi-Head</a:t>
            </a:r>
          </a:p>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Attention</a:t>
            </a:r>
          </a:p>
        </p:txBody>
      </p:sp>
      <p:sp>
        <p:nvSpPr>
          <p:cNvPr id="16" name="文字方塊 15">
            <a:extLst>
              <a:ext uri="{FF2B5EF4-FFF2-40B4-BE49-F238E27FC236}">
                <a16:creationId xmlns:a16="http://schemas.microsoft.com/office/drawing/2014/main" id="{874CF8E5-3026-F7AE-B806-0F8445829B06}"/>
              </a:ext>
            </a:extLst>
          </p:cNvPr>
          <p:cNvSpPr txBox="1"/>
          <p:nvPr/>
        </p:nvSpPr>
        <p:spPr>
          <a:xfrm>
            <a:off x="6507429" y="4619695"/>
            <a:ext cx="872480" cy="360040"/>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Output</a:t>
            </a:r>
          </a:p>
          <a:p>
            <a:pPr algn="ctr">
              <a:lnSpc>
                <a:spcPts val="1400"/>
              </a:lnSpc>
              <a:buNone/>
            </a:pPr>
            <a:r>
              <a:rPr lang="en-US" altLang="zh-TW" sz="1000" b="1" dirty="0">
                <a:latin typeface="Gadugi" panose="020B0502040204020203" pitchFamily="34" charset="0"/>
                <a:ea typeface="Gadugi" panose="020B0502040204020203" pitchFamily="34" charset="0"/>
                <a:cs typeface="ADLaM Display" panose="02010000000000000000" pitchFamily="2" charset="0"/>
              </a:rPr>
              <a:t>Embedding</a:t>
            </a:r>
            <a:endPar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17" name="文字方塊 16">
            <a:extLst>
              <a:ext uri="{FF2B5EF4-FFF2-40B4-BE49-F238E27FC236}">
                <a16:creationId xmlns:a16="http://schemas.microsoft.com/office/drawing/2014/main" id="{B3698059-07ED-BC5D-78EA-D67B9CD843E5}"/>
              </a:ext>
            </a:extLst>
          </p:cNvPr>
          <p:cNvSpPr txBox="1"/>
          <p:nvPr/>
        </p:nvSpPr>
        <p:spPr>
          <a:xfrm>
            <a:off x="423730" y="2911048"/>
            <a:ext cx="762724" cy="517951"/>
          </a:xfrm>
          <a:prstGeom prst="rect">
            <a:avLst/>
          </a:prstGeom>
          <a:noFill/>
          <a:ln w="15875">
            <a:noFill/>
          </a:ln>
        </p:spPr>
        <p:txBody>
          <a:bodyPr wrap="none" lIns="0" tIns="0" rIns="0" bIns="0" anchor="ctr" anchorCtr="1">
            <a:noAutofit/>
          </a:bodyPr>
          <a:lstStyle/>
          <a:p>
            <a:pPr algn="ctr">
              <a:lnSpc>
                <a:spcPts val="12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Hyperbolic</a:t>
            </a:r>
          </a:p>
          <a:p>
            <a:pPr algn="ctr">
              <a:lnSpc>
                <a:spcPts val="1200"/>
              </a:lnSpc>
              <a:buNone/>
            </a:pPr>
            <a:r>
              <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rPr>
              <a:t>Tangent</a:t>
            </a:r>
          </a:p>
          <a:p>
            <a:pPr algn="ctr">
              <a:lnSpc>
                <a:spcPts val="12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Function</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18" name="文字方塊 17">
            <a:extLst>
              <a:ext uri="{FF2B5EF4-FFF2-40B4-BE49-F238E27FC236}">
                <a16:creationId xmlns:a16="http://schemas.microsoft.com/office/drawing/2014/main" id="{C3D8C5D0-B31D-8C57-F8BC-9FA0DDDFD2DF}"/>
              </a:ext>
            </a:extLst>
          </p:cNvPr>
          <p:cNvSpPr txBox="1"/>
          <p:nvPr/>
        </p:nvSpPr>
        <p:spPr>
          <a:xfrm>
            <a:off x="6365764" y="1487362"/>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SoftMax</a:t>
            </a:r>
          </a:p>
        </p:txBody>
      </p:sp>
      <p:sp>
        <p:nvSpPr>
          <p:cNvPr id="19" name="文字方塊 18">
            <a:extLst>
              <a:ext uri="{FF2B5EF4-FFF2-40B4-BE49-F238E27FC236}">
                <a16:creationId xmlns:a16="http://schemas.microsoft.com/office/drawing/2014/main" id="{39C5AEEC-B235-C7C0-7865-04F87FBF5CAE}"/>
              </a:ext>
            </a:extLst>
          </p:cNvPr>
          <p:cNvSpPr txBox="1"/>
          <p:nvPr/>
        </p:nvSpPr>
        <p:spPr>
          <a:xfrm>
            <a:off x="6365764" y="1811383"/>
            <a:ext cx="1152128" cy="225052"/>
          </a:xfrm>
          <a:prstGeom prst="rect">
            <a:avLst/>
          </a:prstGeom>
          <a:solidFill>
            <a:srgbClr val="B7C9E7">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Linear</a:t>
            </a:r>
          </a:p>
        </p:txBody>
      </p:sp>
      <p:cxnSp>
        <p:nvCxnSpPr>
          <p:cNvPr id="25" name="直線單箭頭接點 24">
            <a:extLst>
              <a:ext uri="{FF2B5EF4-FFF2-40B4-BE49-F238E27FC236}">
                <a16:creationId xmlns:a16="http://schemas.microsoft.com/office/drawing/2014/main" id="{3C0182C2-37AA-8C62-9D0E-C4B1A5BF94B1}"/>
              </a:ext>
            </a:extLst>
          </p:cNvPr>
          <p:cNvCxnSpPr>
            <a:cxnSpLocks/>
            <a:stCxn id="16" idx="0"/>
            <a:endCxn id="45" idx="4"/>
          </p:cNvCxnSpPr>
          <p:nvPr/>
        </p:nvCxnSpPr>
        <p:spPr>
          <a:xfrm flipH="1" flipV="1">
            <a:off x="6941828" y="4426290"/>
            <a:ext cx="1841" cy="193405"/>
          </a:xfrm>
          <a:prstGeom prst="straightConnector1">
            <a:avLst/>
          </a:prstGeom>
          <a:ln w="19050">
            <a:solidFill>
              <a:srgbClr val="9E7800"/>
            </a:solidFill>
            <a:prstDash val="solid"/>
            <a:tailEnd type="triangle" w="sm" len="sm"/>
          </a:ln>
        </p:spPr>
        <p:style>
          <a:lnRef idx="1">
            <a:schemeClr val="accent1"/>
          </a:lnRef>
          <a:fillRef idx="0">
            <a:schemeClr val="accent1"/>
          </a:fillRef>
          <a:effectRef idx="0">
            <a:schemeClr val="accent1"/>
          </a:effectRef>
          <a:fontRef idx="minor">
            <a:schemeClr val="tx1"/>
          </a:fontRef>
        </p:style>
      </p:cxnSp>
      <p:sp>
        <p:nvSpPr>
          <p:cNvPr id="28" name="文字方塊 27">
            <a:extLst>
              <a:ext uri="{FF2B5EF4-FFF2-40B4-BE49-F238E27FC236}">
                <a16:creationId xmlns:a16="http://schemas.microsoft.com/office/drawing/2014/main" id="{1E5DA509-B255-A4F2-F267-C83B2CE3052B}"/>
              </a:ext>
            </a:extLst>
          </p:cNvPr>
          <p:cNvSpPr txBox="1"/>
          <p:nvPr/>
        </p:nvSpPr>
        <p:spPr>
          <a:xfrm>
            <a:off x="6365764" y="947302"/>
            <a:ext cx="1152128"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Output</a:t>
            </a:r>
          </a:p>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Probabilities</a:t>
            </a:r>
          </a:p>
        </p:txBody>
      </p:sp>
      <p:cxnSp>
        <p:nvCxnSpPr>
          <p:cNvPr id="30" name="直線單箭頭接點 29">
            <a:extLst>
              <a:ext uri="{FF2B5EF4-FFF2-40B4-BE49-F238E27FC236}">
                <a16:creationId xmlns:a16="http://schemas.microsoft.com/office/drawing/2014/main" id="{6FD8331D-1572-0AD4-2103-AAEDEEAA04FC}"/>
              </a:ext>
            </a:extLst>
          </p:cNvPr>
          <p:cNvCxnSpPr>
            <a:cxnSpLocks/>
            <a:stCxn id="18" idx="0"/>
            <a:endCxn id="28" idx="2"/>
          </p:cNvCxnSpPr>
          <p:nvPr/>
        </p:nvCxnSpPr>
        <p:spPr>
          <a:xfrm flipV="1">
            <a:off x="6941828" y="1307342"/>
            <a:ext cx="0" cy="180020"/>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4" name="直線單箭頭接點 33">
            <a:extLst>
              <a:ext uri="{FF2B5EF4-FFF2-40B4-BE49-F238E27FC236}">
                <a16:creationId xmlns:a16="http://schemas.microsoft.com/office/drawing/2014/main" id="{E0483849-D7DC-431A-1B52-57F228AE6EA6}"/>
              </a:ext>
            </a:extLst>
          </p:cNvPr>
          <p:cNvCxnSpPr>
            <a:cxnSpLocks/>
            <a:stCxn id="19" idx="0"/>
            <a:endCxn id="18" idx="2"/>
          </p:cNvCxnSpPr>
          <p:nvPr/>
        </p:nvCxnSpPr>
        <p:spPr>
          <a:xfrm flipV="1">
            <a:off x="6941828" y="1712414"/>
            <a:ext cx="0" cy="98969"/>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7" name="直線單箭頭接點 36">
            <a:extLst>
              <a:ext uri="{FF2B5EF4-FFF2-40B4-BE49-F238E27FC236}">
                <a16:creationId xmlns:a16="http://schemas.microsoft.com/office/drawing/2014/main" id="{CD6E85D7-AE92-4AD0-4986-1C8C1EDA47DD}"/>
              </a:ext>
            </a:extLst>
          </p:cNvPr>
          <p:cNvCxnSpPr>
            <a:cxnSpLocks/>
            <a:stCxn id="21" idx="0"/>
            <a:endCxn id="19" idx="2"/>
          </p:cNvCxnSpPr>
          <p:nvPr/>
        </p:nvCxnSpPr>
        <p:spPr>
          <a:xfrm flipV="1">
            <a:off x="6941828" y="2036435"/>
            <a:ext cx="0" cy="289841"/>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43" name="橢圓 42">
            <a:extLst>
              <a:ext uri="{FF2B5EF4-FFF2-40B4-BE49-F238E27FC236}">
                <a16:creationId xmlns:a16="http://schemas.microsoft.com/office/drawing/2014/main" id="{B13320E2-99BC-252A-016B-ECD56C232498}"/>
              </a:ext>
            </a:extLst>
          </p:cNvPr>
          <p:cNvSpPr/>
          <p:nvPr/>
        </p:nvSpPr>
        <p:spPr>
          <a:xfrm>
            <a:off x="7236296" y="4282274"/>
            <a:ext cx="152400" cy="144016"/>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algn="ctr"/>
            <a:r>
              <a:rPr lang="en-US" altLang="zh-TW" sz="24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zh-TW" altLang="en-US" sz="2400" dirty="0">
              <a:solidFill>
                <a:schemeClr val="tx1"/>
              </a:solidFill>
            </a:endParaRPr>
          </a:p>
        </p:txBody>
      </p:sp>
      <p:sp>
        <p:nvSpPr>
          <p:cNvPr id="45" name="橢圓 44">
            <a:extLst>
              <a:ext uri="{FF2B5EF4-FFF2-40B4-BE49-F238E27FC236}">
                <a16:creationId xmlns:a16="http://schemas.microsoft.com/office/drawing/2014/main" id="{1DB39A2A-57D1-33FD-6721-26FDE2F27EFF}"/>
              </a:ext>
            </a:extLst>
          </p:cNvPr>
          <p:cNvSpPr/>
          <p:nvPr/>
        </p:nvSpPr>
        <p:spPr>
          <a:xfrm>
            <a:off x="6865628" y="4282274"/>
            <a:ext cx="152400" cy="144016"/>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20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zh-TW" altLang="en-US" sz="2000" dirty="0">
              <a:solidFill>
                <a:schemeClr val="tx1"/>
              </a:solidFill>
            </a:endParaRPr>
          </a:p>
        </p:txBody>
      </p:sp>
      <p:cxnSp>
        <p:nvCxnSpPr>
          <p:cNvPr id="47" name="直線單箭頭接點 46">
            <a:extLst>
              <a:ext uri="{FF2B5EF4-FFF2-40B4-BE49-F238E27FC236}">
                <a16:creationId xmlns:a16="http://schemas.microsoft.com/office/drawing/2014/main" id="{8351ACD9-669B-C8B6-C2B5-B93E4E5CFC35}"/>
              </a:ext>
            </a:extLst>
          </p:cNvPr>
          <p:cNvCxnSpPr>
            <a:cxnSpLocks/>
            <a:stCxn id="45" idx="6"/>
            <a:endCxn id="43" idx="2"/>
          </p:cNvCxnSpPr>
          <p:nvPr/>
        </p:nvCxnSpPr>
        <p:spPr>
          <a:xfrm>
            <a:off x="7018028" y="4354282"/>
            <a:ext cx="218268" cy="0"/>
          </a:xfrm>
          <a:prstGeom prst="straightConnector1">
            <a:avLst/>
          </a:prstGeom>
          <a:ln w="1905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56" name="直線單箭頭接點 55">
            <a:extLst>
              <a:ext uri="{FF2B5EF4-FFF2-40B4-BE49-F238E27FC236}">
                <a16:creationId xmlns:a16="http://schemas.microsoft.com/office/drawing/2014/main" id="{B31D06E7-DC9D-E210-3CAC-52B5DC0227FD}"/>
              </a:ext>
            </a:extLst>
          </p:cNvPr>
          <p:cNvCxnSpPr>
            <a:cxnSpLocks/>
            <a:stCxn id="14" idx="0"/>
            <a:endCxn id="13" idx="2"/>
          </p:cNvCxnSpPr>
          <p:nvPr/>
        </p:nvCxnSpPr>
        <p:spPr>
          <a:xfrm flipV="1">
            <a:off x="6695946" y="3334388"/>
            <a:ext cx="245882" cy="15553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8" name="直線單箭頭接點 67">
            <a:extLst>
              <a:ext uri="{FF2B5EF4-FFF2-40B4-BE49-F238E27FC236}">
                <a16:creationId xmlns:a16="http://schemas.microsoft.com/office/drawing/2014/main" id="{D80B795B-47F3-2DE8-C9BB-4BABAA455F8B}"/>
              </a:ext>
            </a:extLst>
          </p:cNvPr>
          <p:cNvCxnSpPr>
            <a:cxnSpLocks/>
            <a:stCxn id="12" idx="0"/>
            <a:endCxn id="21" idx="2"/>
          </p:cNvCxnSpPr>
          <p:nvPr/>
        </p:nvCxnSpPr>
        <p:spPr>
          <a:xfrm flipV="1">
            <a:off x="6941828" y="2551328"/>
            <a:ext cx="0" cy="16919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9" name="接點: 肘形 68">
            <a:extLst>
              <a:ext uri="{FF2B5EF4-FFF2-40B4-BE49-F238E27FC236}">
                <a16:creationId xmlns:a16="http://schemas.microsoft.com/office/drawing/2014/main" id="{EA3386DC-00AE-9700-5760-C55E6411DC06}"/>
              </a:ext>
            </a:extLst>
          </p:cNvPr>
          <p:cNvCxnSpPr>
            <a:cxnSpLocks/>
            <a:stCxn id="91" idx="0"/>
            <a:endCxn id="45" idx="2"/>
          </p:cNvCxnSpPr>
          <p:nvPr/>
        </p:nvCxnSpPr>
        <p:spPr>
          <a:xfrm rot="5400000" flipH="1" flipV="1">
            <a:off x="6272280" y="4026347"/>
            <a:ext cx="265413" cy="921284"/>
          </a:xfrm>
          <a:prstGeom prst="bentConnector2">
            <a:avLst/>
          </a:prstGeom>
          <a:ln w="19050">
            <a:solidFill>
              <a:schemeClr val="tx1"/>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7" name="直線單箭頭接點 76">
            <a:extLst>
              <a:ext uri="{FF2B5EF4-FFF2-40B4-BE49-F238E27FC236}">
                <a16:creationId xmlns:a16="http://schemas.microsoft.com/office/drawing/2014/main" id="{5F1DB198-B8B2-90EB-DDB3-303794112C26}"/>
              </a:ext>
            </a:extLst>
          </p:cNvPr>
          <p:cNvCxnSpPr>
            <a:cxnSpLocks/>
            <a:stCxn id="13" idx="0"/>
            <a:endCxn id="12" idx="2"/>
          </p:cNvCxnSpPr>
          <p:nvPr/>
        </p:nvCxnSpPr>
        <p:spPr>
          <a:xfrm flipV="1">
            <a:off x="6941828" y="2945574"/>
            <a:ext cx="0" cy="16376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91" name="文字方塊 90">
            <a:extLst>
              <a:ext uri="{FF2B5EF4-FFF2-40B4-BE49-F238E27FC236}">
                <a16:creationId xmlns:a16="http://schemas.microsoft.com/office/drawing/2014/main" id="{2E01AFC0-1264-6AB6-8213-A8062A689522}"/>
              </a:ext>
            </a:extLst>
          </p:cNvPr>
          <p:cNvSpPr txBox="1"/>
          <p:nvPr/>
        </p:nvSpPr>
        <p:spPr>
          <a:xfrm>
            <a:off x="5508104" y="4619695"/>
            <a:ext cx="872480" cy="360040"/>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Input</a:t>
            </a:r>
          </a:p>
          <a:p>
            <a:pPr algn="ctr">
              <a:lnSpc>
                <a:spcPts val="1400"/>
              </a:lnSpc>
              <a:buNone/>
            </a:pPr>
            <a:r>
              <a:rPr lang="en-US" altLang="zh-TW" sz="1000" b="1" dirty="0">
                <a:latin typeface="Gadugi" panose="020B0502040204020203" pitchFamily="34" charset="0"/>
                <a:ea typeface="Gadugi" panose="020B0502040204020203" pitchFamily="34" charset="0"/>
                <a:cs typeface="ADLaM Display" panose="02010000000000000000" pitchFamily="2" charset="0"/>
              </a:rPr>
              <a:t>Embedding</a:t>
            </a:r>
            <a:endPar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cxnSp>
        <p:nvCxnSpPr>
          <p:cNvPr id="95" name="接點: 肘形 94">
            <a:extLst>
              <a:ext uri="{FF2B5EF4-FFF2-40B4-BE49-F238E27FC236}">
                <a16:creationId xmlns:a16="http://schemas.microsoft.com/office/drawing/2014/main" id="{BEAD8D78-7F2D-8CAC-41CF-D2C63C70AEB9}"/>
              </a:ext>
            </a:extLst>
          </p:cNvPr>
          <p:cNvCxnSpPr>
            <a:cxnSpLocks/>
            <a:stCxn id="28" idx="3"/>
            <a:endCxn id="16" idx="3"/>
          </p:cNvCxnSpPr>
          <p:nvPr/>
        </p:nvCxnSpPr>
        <p:spPr>
          <a:xfrm flipH="1">
            <a:off x="7379909" y="1127322"/>
            <a:ext cx="137983" cy="3672393"/>
          </a:xfrm>
          <a:prstGeom prst="bentConnector3">
            <a:avLst>
              <a:gd name="adj1" fmla="val -296831"/>
            </a:avLst>
          </a:prstGeom>
          <a:ln w="19050">
            <a:solidFill>
              <a:srgbClr val="9E7800"/>
            </a:solidFill>
            <a:prstDash val="solid"/>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27" name="文字方塊 26">
            <a:extLst>
              <a:ext uri="{FF2B5EF4-FFF2-40B4-BE49-F238E27FC236}">
                <a16:creationId xmlns:a16="http://schemas.microsoft.com/office/drawing/2014/main" id="{4E18B4D0-18B6-D36E-B92D-A99DFF9A3A96}"/>
              </a:ext>
            </a:extLst>
          </p:cNvPr>
          <p:cNvSpPr txBox="1"/>
          <p:nvPr/>
        </p:nvSpPr>
        <p:spPr>
          <a:xfrm>
            <a:off x="6056570" y="3319995"/>
            <a:ext cx="294468" cy="205036"/>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N </a:t>
            </a:r>
            <a:r>
              <a:rPr lang="en-US" altLang="zh-TW" sz="1000" dirty="0">
                <a:latin typeface="Gadugi" panose="020B0502040204020203" pitchFamily="34" charset="0"/>
                <a:ea typeface="Gadugi" panose="020B0502040204020203" pitchFamily="34" charset="0"/>
                <a:cs typeface="ADLaM Display" panose="02010000000000000000" pitchFamily="2" charset="0"/>
              </a:rPr>
              <a:t>x</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pic>
        <p:nvPicPr>
          <p:cNvPr id="22" name="圖形 21" descr="使用者 外框">
            <a:extLst>
              <a:ext uri="{FF2B5EF4-FFF2-40B4-BE49-F238E27FC236}">
                <a16:creationId xmlns:a16="http://schemas.microsoft.com/office/drawing/2014/main" id="{7F2E2D3F-C058-8BDD-F0B9-53CE6D831E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50436" y="5407653"/>
            <a:ext cx="387816" cy="387816"/>
          </a:xfrm>
          <a:prstGeom prst="rect">
            <a:avLst/>
          </a:prstGeom>
        </p:spPr>
      </p:pic>
      <p:pic>
        <p:nvPicPr>
          <p:cNvPr id="9" name="圖片 8">
            <a:extLst>
              <a:ext uri="{FF2B5EF4-FFF2-40B4-BE49-F238E27FC236}">
                <a16:creationId xmlns:a16="http://schemas.microsoft.com/office/drawing/2014/main" id="{60AEE403-B0C0-681C-F446-ECF031FD751E}"/>
              </a:ext>
            </a:extLst>
          </p:cNvPr>
          <p:cNvPicPr>
            <a:picLocks noChangeAspect="1"/>
          </p:cNvPicPr>
          <p:nvPr/>
        </p:nvPicPr>
        <p:blipFill>
          <a:blip r:embed="rId4"/>
          <a:stretch>
            <a:fillRect/>
          </a:stretch>
        </p:blipFill>
        <p:spPr>
          <a:xfrm>
            <a:off x="61064" y="3766931"/>
            <a:ext cx="4436729" cy="2626846"/>
          </a:xfrm>
          <a:prstGeom prst="rect">
            <a:avLst/>
          </a:prstGeom>
        </p:spPr>
      </p:pic>
      <p:sp>
        <p:nvSpPr>
          <p:cNvPr id="92" name="文字方塊 91">
            <a:extLst>
              <a:ext uri="{FF2B5EF4-FFF2-40B4-BE49-F238E27FC236}">
                <a16:creationId xmlns:a16="http://schemas.microsoft.com/office/drawing/2014/main" id="{3B7CFB88-4432-804D-D91E-55B20A946B6A}"/>
              </a:ext>
            </a:extLst>
          </p:cNvPr>
          <p:cNvSpPr txBox="1"/>
          <p:nvPr/>
        </p:nvSpPr>
        <p:spPr>
          <a:xfrm>
            <a:off x="1023042" y="1204970"/>
            <a:ext cx="580256" cy="1103243"/>
          </a:xfrm>
          <a:prstGeom prst="rect">
            <a:avLst/>
          </a:prstGeom>
          <a:solidFill>
            <a:schemeClr val="accent1">
              <a:lumMod val="20000"/>
              <a:lumOff val="80000"/>
            </a:schemeClr>
          </a:solidFill>
          <a:ln w="3175">
            <a:solidFill>
              <a:srgbClr val="FEC203"/>
            </a:solidFill>
          </a:ln>
        </p:spPr>
        <p:txBody>
          <a:bodyPr wrap="none" lIns="0" tIns="0" rIns="0" bIns="0" anchor="t" anchorCtr="1">
            <a:noAutofit/>
          </a:bodyPr>
          <a:lstStyle/>
          <a:p>
            <a:pPr algn="ctr">
              <a:lnSpc>
                <a:spcPts val="1400"/>
              </a:lnSpc>
              <a:buNone/>
            </a:pPr>
            <a:r>
              <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rPr>
              <a:t>Forget </a:t>
            </a:r>
            <a:r>
              <a:rPr lang="en-US" altLang="zh-TW" sz="1000" dirty="0">
                <a:latin typeface="Gadugi" panose="020B0502040204020203" pitchFamily="34" charset="0"/>
                <a:ea typeface="Gadugi" panose="020B0502040204020203" pitchFamily="34" charset="0"/>
                <a:cs typeface="ADLaM Display" panose="02010000000000000000" pitchFamily="2" charset="0"/>
              </a:rPr>
              <a:t>gate</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26" name="文字方塊 25">
            <a:extLst>
              <a:ext uri="{FF2B5EF4-FFF2-40B4-BE49-F238E27FC236}">
                <a16:creationId xmlns:a16="http://schemas.microsoft.com/office/drawing/2014/main" id="{4622BC11-D7B6-AEAA-43B9-D44111A21737}"/>
              </a:ext>
            </a:extLst>
          </p:cNvPr>
          <p:cNvSpPr txBox="1"/>
          <p:nvPr/>
        </p:nvSpPr>
        <p:spPr>
          <a:xfrm>
            <a:off x="1726748" y="1204970"/>
            <a:ext cx="973892" cy="1103243"/>
          </a:xfrm>
          <a:prstGeom prst="rect">
            <a:avLst/>
          </a:prstGeom>
          <a:solidFill>
            <a:schemeClr val="accent1">
              <a:lumMod val="20000"/>
              <a:lumOff val="80000"/>
            </a:schemeClr>
          </a:solidFill>
          <a:ln w="3175">
            <a:solidFill>
              <a:srgbClr val="FEC203"/>
            </a:solidFill>
          </a:ln>
        </p:spPr>
        <p:txBody>
          <a:bodyPr wrap="none" lIns="0" tIns="0" rIns="0" bIns="0" anchor="t" anchorCtr="1">
            <a:noAutofit/>
          </a:bodyPr>
          <a:lstStyle/>
          <a:p>
            <a:pPr algn="ctr">
              <a:lnSpc>
                <a:spcPts val="1400"/>
              </a:lnSpc>
              <a:buNone/>
            </a:pPr>
            <a:r>
              <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rPr>
              <a:t>Input</a:t>
            </a:r>
            <a:r>
              <a:rPr lang="zh-TW" altLang="en-US" sz="1000" u="none" strike="noStrike" dirty="0">
                <a:effectLst/>
                <a:latin typeface="Gadugi" panose="020B0502040204020203" pitchFamily="34" charset="0"/>
                <a:ea typeface="Gadugi" panose="020B0502040204020203" pitchFamily="34" charset="0"/>
                <a:cs typeface="ADLaM Display" panose="02010000000000000000" pitchFamily="2" charset="0"/>
              </a:rPr>
              <a:t> </a:t>
            </a:r>
            <a:r>
              <a:rPr lang="en-US" altLang="zh-TW" sz="1000" dirty="0">
                <a:latin typeface="Gadugi" panose="020B0502040204020203" pitchFamily="34" charset="0"/>
                <a:ea typeface="Gadugi" panose="020B0502040204020203" pitchFamily="34" charset="0"/>
                <a:cs typeface="ADLaM Display" panose="02010000000000000000" pitchFamily="2" charset="0"/>
              </a:rPr>
              <a:t>gate</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31" name="文字方塊 30">
            <a:extLst>
              <a:ext uri="{FF2B5EF4-FFF2-40B4-BE49-F238E27FC236}">
                <a16:creationId xmlns:a16="http://schemas.microsoft.com/office/drawing/2014/main" id="{51BEF5BC-506C-BAA4-21B5-F70E94D4FF1F}"/>
              </a:ext>
            </a:extLst>
          </p:cNvPr>
          <p:cNvSpPr txBox="1"/>
          <p:nvPr/>
        </p:nvSpPr>
        <p:spPr>
          <a:xfrm>
            <a:off x="2843808" y="1196752"/>
            <a:ext cx="580256" cy="1103243"/>
          </a:xfrm>
          <a:prstGeom prst="rect">
            <a:avLst/>
          </a:prstGeom>
          <a:solidFill>
            <a:schemeClr val="accent1">
              <a:lumMod val="20000"/>
              <a:lumOff val="80000"/>
            </a:schemeClr>
          </a:solidFill>
          <a:ln w="3175">
            <a:solidFill>
              <a:srgbClr val="FEC203"/>
            </a:solidFill>
          </a:ln>
        </p:spPr>
        <p:txBody>
          <a:bodyPr wrap="none" lIns="0" tIns="0" rIns="0" bIns="0" anchor="t" anchorCtr="1">
            <a:noAutofit/>
          </a:bodyPr>
          <a:lstStyle/>
          <a:p>
            <a:pPr algn="ctr">
              <a:lnSpc>
                <a:spcPts val="1400"/>
              </a:lnSpc>
              <a:buNone/>
            </a:pPr>
            <a:r>
              <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rPr>
              <a:t>Output </a:t>
            </a:r>
            <a:r>
              <a:rPr lang="en-US" altLang="zh-TW" sz="1000" dirty="0">
                <a:latin typeface="Gadugi" panose="020B0502040204020203" pitchFamily="34" charset="0"/>
                <a:ea typeface="Gadugi" panose="020B0502040204020203" pitchFamily="34" charset="0"/>
                <a:cs typeface="ADLaM Display" panose="02010000000000000000" pitchFamily="2" charset="0"/>
              </a:rPr>
              <a:t>gate</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33" name="橢圓 32">
            <a:extLst>
              <a:ext uri="{FF2B5EF4-FFF2-40B4-BE49-F238E27FC236}">
                <a16:creationId xmlns:a16="http://schemas.microsoft.com/office/drawing/2014/main" id="{7A7A9FE4-3CA5-0521-13AB-0B6CB004D617}"/>
              </a:ext>
            </a:extLst>
          </p:cNvPr>
          <p:cNvSpPr/>
          <p:nvPr/>
        </p:nvSpPr>
        <p:spPr>
          <a:xfrm>
            <a:off x="1241008" y="1480974"/>
            <a:ext cx="152400" cy="144016"/>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900"/>
              </a:lnSpc>
            </a:pPr>
            <a:r>
              <a:rPr lang="en-US" altLang="zh-TW" dirty="0">
                <a:solidFill>
                  <a:schemeClr val="tx1"/>
                </a:solidFill>
              </a:rPr>
              <a:t>x</a:t>
            </a:r>
            <a:endParaRPr lang="zh-TW" altLang="en-US" dirty="0">
              <a:solidFill>
                <a:schemeClr val="tx1"/>
              </a:solidFill>
            </a:endParaRPr>
          </a:p>
        </p:txBody>
      </p:sp>
      <p:sp>
        <p:nvSpPr>
          <p:cNvPr id="39" name="文字方塊 38">
            <a:extLst>
              <a:ext uri="{FF2B5EF4-FFF2-40B4-BE49-F238E27FC236}">
                <a16:creationId xmlns:a16="http://schemas.microsoft.com/office/drawing/2014/main" id="{E9FE29A2-DA20-679A-1C26-83E93D55A60F}"/>
              </a:ext>
            </a:extLst>
          </p:cNvPr>
          <p:cNvSpPr txBox="1"/>
          <p:nvPr/>
        </p:nvSpPr>
        <p:spPr>
          <a:xfrm>
            <a:off x="1238732" y="2060848"/>
            <a:ext cx="152400" cy="188118"/>
          </a:xfrm>
          <a:prstGeom prst="rect">
            <a:avLst/>
          </a:prstGeom>
          <a:noFill/>
          <a:ln w="3175">
            <a:noFill/>
          </a:ln>
        </p:spPr>
        <p:txBody>
          <a:bodyPr wrap="none" lIns="0" tIns="0" rIns="0" bIns="0" anchor="ctr" anchorCtr="1">
            <a:noAutofit/>
          </a:bodyPr>
          <a:lstStyle/>
          <a:p>
            <a:pPr algn="ctr">
              <a:lnSpc>
                <a:spcPts val="2000"/>
              </a:lnSpc>
              <a:buNone/>
            </a:pPr>
            <a:r>
              <a:rPr lang="el-GR" altLang="zh-TW" sz="2000" b="1" u="none" strike="noStrike" dirty="0">
                <a:effectLst/>
                <a:latin typeface="Calibri" panose="020F0502020204030204" pitchFamily="34" charset="0"/>
                <a:ea typeface="Calibri" panose="020F0502020204030204" pitchFamily="34" charset="0"/>
                <a:cs typeface="Calibri" panose="020F0502020204030204" pitchFamily="34" charset="0"/>
              </a:rPr>
              <a:t>σ</a:t>
            </a:r>
            <a:endParaRPr lang="en-US" altLang="zh-TW" sz="20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cxnSp>
        <p:nvCxnSpPr>
          <p:cNvPr id="50" name="直線單箭頭接點 49">
            <a:extLst>
              <a:ext uri="{FF2B5EF4-FFF2-40B4-BE49-F238E27FC236}">
                <a16:creationId xmlns:a16="http://schemas.microsoft.com/office/drawing/2014/main" id="{01B6C39D-DEFC-BEBA-3AFF-9A8AE6F8AD09}"/>
              </a:ext>
            </a:extLst>
          </p:cNvPr>
          <p:cNvCxnSpPr>
            <a:cxnSpLocks/>
            <a:stCxn id="39" idx="0"/>
            <a:endCxn id="33" idx="4"/>
          </p:cNvCxnSpPr>
          <p:nvPr/>
        </p:nvCxnSpPr>
        <p:spPr>
          <a:xfrm flipV="1">
            <a:off x="1314932" y="1624990"/>
            <a:ext cx="2276" cy="435858"/>
          </a:xfrm>
          <a:prstGeom prst="straightConnector1">
            <a:avLst/>
          </a:prstGeom>
          <a:ln w="1905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sp>
        <p:nvSpPr>
          <p:cNvPr id="48" name="文字方塊 47">
            <a:extLst>
              <a:ext uri="{FF2B5EF4-FFF2-40B4-BE49-F238E27FC236}">
                <a16:creationId xmlns:a16="http://schemas.microsoft.com/office/drawing/2014/main" id="{AB8889CD-C78C-A5A0-D303-EF8C6E09336F}"/>
              </a:ext>
            </a:extLst>
          </p:cNvPr>
          <p:cNvSpPr txBox="1"/>
          <p:nvPr/>
        </p:nvSpPr>
        <p:spPr>
          <a:xfrm>
            <a:off x="1899320" y="2060848"/>
            <a:ext cx="152400" cy="188118"/>
          </a:xfrm>
          <a:prstGeom prst="rect">
            <a:avLst/>
          </a:prstGeom>
          <a:noFill/>
          <a:ln w="3175">
            <a:noFill/>
          </a:ln>
        </p:spPr>
        <p:txBody>
          <a:bodyPr wrap="none" lIns="0" tIns="0" rIns="0" bIns="0" anchor="ctr" anchorCtr="1">
            <a:noAutofit/>
          </a:bodyPr>
          <a:lstStyle/>
          <a:p>
            <a:pPr algn="ctr">
              <a:lnSpc>
                <a:spcPts val="2000"/>
              </a:lnSpc>
              <a:buNone/>
            </a:pPr>
            <a:r>
              <a:rPr lang="el-GR" altLang="zh-TW" sz="2000" b="1" u="none" strike="noStrike" dirty="0">
                <a:effectLst/>
                <a:latin typeface="Calibri" panose="020F0502020204030204" pitchFamily="34" charset="0"/>
                <a:ea typeface="Calibri" panose="020F0502020204030204" pitchFamily="34" charset="0"/>
                <a:cs typeface="Calibri" panose="020F0502020204030204" pitchFamily="34" charset="0"/>
              </a:rPr>
              <a:t>σ</a:t>
            </a:r>
            <a:endParaRPr lang="en-US" altLang="zh-TW" sz="20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51" name="文字方塊 50">
            <a:extLst>
              <a:ext uri="{FF2B5EF4-FFF2-40B4-BE49-F238E27FC236}">
                <a16:creationId xmlns:a16="http://schemas.microsoft.com/office/drawing/2014/main" id="{1A732318-4D7E-87B0-D821-EC6E083EB099}"/>
              </a:ext>
            </a:extLst>
          </p:cNvPr>
          <p:cNvSpPr txBox="1"/>
          <p:nvPr/>
        </p:nvSpPr>
        <p:spPr>
          <a:xfrm>
            <a:off x="2195333" y="2124732"/>
            <a:ext cx="432451" cy="121776"/>
          </a:xfrm>
          <a:prstGeom prst="rect">
            <a:avLst/>
          </a:prstGeom>
          <a:noFill/>
          <a:ln w="3175">
            <a:noFill/>
          </a:ln>
        </p:spPr>
        <p:txBody>
          <a:bodyPr wrap="none" lIns="0" tIns="0" rIns="0" bIns="0" anchor="ctr" anchorCtr="1">
            <a:noAutofit/>
          </a:bodyPr>
          <a:lstStyle/>
          <a:p>
            <a:pPr algn="ctr">
              <a:lnSpc>
                <a:spcPts val="2000"/>
              </a:lnSpc>
              <a:buNone/>
            </a:pPr>
            <a:r>
              <a:rPr lang="en-US" altLang="zh-TW" sz="1400" u="none" strike="noStrike" dirty="0">
                <a:effectLst/>
                <a:latin typeface="ADLaM Display" panose="02010000000000000000" pitchFamily="2" charset="0"/>
                <a:ea typeface="ADLaM Display" panose="02010000000000000000" pitchFamily="2" charset="0"/>
                <a:cs typeface="ADLaM Display" panose="02010000000000000000" pitchFamily="2" charset="0"/>
              </a:rPr>
              <a:t>tanh</a:t>
            </a:r>
          </a:p>
        </p:txBody>
      </p:sp>
      <p:sp>
        <p:nvSpPr>
          <p:cNvPr id="55" name="文字方塊 54">
            <a:extLst>
              <a:ext uri="{FF2B5EF4-FFF2-40B4-BE49-F238E27FC236}">
                <a16:creationId xmlns:a16="http://schemas.microsoft.com/office/drawing/2014/main" id="{3200B7B1-C3E2-407B-B6D2-74D42CFAE87E}"/>
              </a:ext>
            </a:extLst>
          </p:cNvPr>
          <p:cNvSpPr txBox="1"/>
          <p:nvPr/>
        </p:nvSpPr>
        <p:spPr>
          <a:xfrm>
            <a:off x="3103540" y="2060848"/>
            <a:ext cx="152400" cy="188118"/>
          </a:xfrm>
          <a:prstGeom prst="rect">
            <a:avLst/>
          </a:prstGeom>
          <a:noFill/>
          <a:ln w="3175">
            <a:noFill/>
          </a:ln>
        </p:spPr>
        <p:txBody>
          <a:bodyPr wrap="none" lIns="0" tIns="0" rIns="0" bIns="0" anchor="ctr" anchorCtr="1">
            <a:noAutofit/>
          </a:bodyPr>
          <a:lstStyle/>
          <a:p>
            <a:pPr algn="ctr">
              <a:lnSpc>
                <a:spcPts val="2000"/>
              </a:lnSpc>
              <a:buNone/>
            </a:pPr>
            <a:r>
              <a:rPr lang="el-GR" altLang="zh-TW" sz="2000" b="1" u="none" strike="noStrike" dirty="0">
                <a:effectLst/>
                <a:latin typeface="Calibri" panose="020F0502020204030204" pitchFamily="34" charset="0"/>
                <a:ea typeface="Calibri" panose="020F0502020204030204" pitchFamily="34" charset="0"/>
                <a:cs typeface="Calibri" panose="020F0502020204030204" pitchFamily="34" charset="0"/>
              </a:rPr>
              <a:t>σ</a:t>
            </a:r>
            <a:endParaRPr lang="en-US" altLang="zh-TW" sz="20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20" name="橢圓 19">
            <a:extLst>
              <a:ext uri="{FF2B5EF4-FFF2-40B4-BE49-F238E27FC236}">
                <a16:creationId xmlns:a16="http://schemas.microsoft.com/office/drawing/2014/main" id="{0305871E-B55F-FEB4-5354-3C955255ED17}"/>
              </a:ext>
            </a:extLst>
          </p:cNvPr>
          <p:cNvSpPr/>
          <p:nvPr/>
        </p:nvSpPr>
        <p:spPr>
          <a:xfrm>
            <a:off x="2340893" y="1484784"/>
            <a:ext cx="152400" cy="144016"/>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2000"/>
              </a:lnSpc>
            </a:pPr>
            <a:r>
              <a:rPr lang="en-US" altLang="zh-TW"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zh-TW" altLang="en-US" dirty="0">
              <a:solidFill>
                <a:schemeClr val="tx1"/>
              </a:solidFill>
            </a:endParaRPr>
          </a:p>
        </p:txBody>
      </p:sp>
      <p:sp>
        <p:nvSpPr>
          <p:cNvPr id="58" name="橢圓 57">
            <a:extLst>
              <a:ext uri="{FF2B5EF4-FFF2-40B4-BE49-F238E27FC236}">
                <a16:creationId xmlns:a16="http://schemas.microsoft.com/office/drawing/2014/main" id="{C62D1443-FDAD-41D8-E71D-4F1C4FF88C78}"/>
              </a:ext>
            </a:extLst>
          </p:cNvPr>
          <p:cNvSpPr/>
          <p:nvPr/>
        </p:nvSpPr>
        <p:spPr>
          <a:xfrm>
            <a:off x="2339446" y="1810916"/>
            <a:ext cx="152400" cy="144016"/>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900"/>
              </a:lnSpc>
            </a:pPr>
            <a:r>
              <a:rPr lang="en-US" altLang="zh-TW" dirty="0">
                <a:solidFill>
                  <a:schemeClr val="tx1"/>
                </a:solidFill>
              </a:rPr>
              <a:t>x</a:t>
            </a:r>
            <a:endParaRPr lang="zh-TW" altLang="en-US" dirty="0">
              <a:solidFill>
                <a:schemeClr val="tx1"/>
              </a:solidFill>
            </a:endParaRPr>
          </a:p>
        </p:txBody>
      </p:sp>
      <p:cxnSp>
        <p:nvCxnSpPr>
          <p:cNvPr id="59" name="直線單箭頭接點 58">
            <a:extLst>
              <a:ext uri="{FF2B5EF4-FFF2-40B4-BE49-F238E27FC236}">
                <a16:creationId xmlns:a16="http://schemas.microsoft.com/office/drawing/2014/main" id="{230AB2D2-2E3B-10D0-7E7B-56F180A3BFBC}"/>
              </a:ext>
            </a:extLst>
          </p:cNvPr>
          <p:cNvCxnSpPr>
            <a:cxnSpLocks/>
            <a:stCxn id="51" idx="0"/>
            <a:endCxn id="58" idx="4"/>
          </p:cNvCxnSpPr>
          <p:nvPr/>
        </p:nvCxnSpPr>
        <p:spPr>
          <a:xfrm flipV="1">
            <a:off x="2411559" y="1954932"/>
            <a:ext cx="4087" cy="169800"/>
          </a:xfrm>
          <a:prstGeom prst="straightConnector1">
            <a:avLst/>
          </a:prstGeom>
          <a:ln w="1905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64" name="直線單箭頭接點 63">
            <a:extLst>
              <a:ext uri="{FF2B5EF4-FFF2-40B4-BE49-F238E27FC236}">
                <a16:creationId xmlns:a16="http://schemas.microsoft.com/office/drawing/2014/main" id="{F5C052F5-CA49-3CC7-324D-8A1237AD62C5}"/>
              </a:ext>
            </a:extLst>
          </p:cNvPr>
          <p:cNvCxnSpPr>
            <a:cxnSpLocks/>
            <a:stCxn id="58" idx="0"/>
            <a:endCxn id="20" idx="4"/>
          </p:cNvCxnSpPr>
          <p:nvPr/>
        </p:nvCxnSpPr>
        <p:spPr>
          <a:xfrm flipV="1">
            <a:off x="2415646" y="1628800"/>
            <a:ext cx="1447" cy="182116"/>
          </a:xfrm>
          <a:prstGeom prst="straightConnector1">
            <a:avLst/>
          </a:prstGeom>
          <a:ln w="1905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接點: 肘形 22">
            <a:extLst>
              <a:ext uri="{FF2B5EF4-FFF2-40B4-BE49-F238E27FC236}">
                <a16:creationId xmlns:a16="http://schemas.microsoft.com/office/drawing/2014/main" id="{FB5C4BBF-079F-0ED7-1300-8A84B44C9232}"/>
              </a:ext>
            </a:extLst>
          </p:cNvPr>
          <p:cNvCxnSpPr>
            <a:cxnSpLocks/>
            <a:stCxn id="48" idx="0"/>
            <a:endCxn id="58" idx="2"/>
          </p:cNvCxnSpPr>
          <p:nvPr/>
        </p:nvCxnSpPr>
        <p:spPr>
          <a:xfrm rot="5400000" flipH="1" flipV="1">
            <a:off x="2068521" y="1789923"/>
            <a:ext cx="177924" cy="363926"/>
          </a:xfrm>
          <a:prstGeom prst="bentConnector2">
            <a:avLst/>
          </a:prstGeom>
          <a:ln w="19050">
            <a:solidFill>
              <a:schemeClr val="tx1"/>
            </a:solidFill>
            <a:headEnd type="none" w="sm" len="sm"/>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759588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57B754B0-027A-B652-8298-85EFEE70CADF}"/>
              </a:ext>
            </a:extLst>
          </p:cNvPr>
          <p:cNvPicPr>
            <a:picLocks noChangeAspect="1"/>
          </p:cNvPicPr>
          <p:nvPr/>
        </p:nvPicPr>
        <p:blipFill>
          <a:blip r:embed="rId3"/>
          <a:stretch>
            <a:fillRect/>
          </a:stretch>
        </p:blipFill>
        <p:spPr>
          <a:xfrm>
            <a:off x="0" y="0"/>
            <a:ext cx="5594988" cy="3356992"/>
          </a:xfrm>
          <a:prstGeom prst="rect">
            <a:avLst/>
          </a:prstGeom>
        </p:spPr>
      </p:pic>
      <p:pic>
        <p:nvPicPr>
          <p:cNvPr id="5" name="圖片 4">
            <a:extLst>
              <a:ext uri="{FF2B5EF4-FFF2-40B4-BE49-F238E27FC236}">
                <a16:creationId xmlns:a16="http://schemas.microsoft.com/office/drawing/2014/main" id="{22F1C41D-3687-518E-0C70-4B97661137E2}"/>
              </a:ext>
            </a:extLst>
          </p:cNvPr>
          <p:cNvPicPr>
            <a:picLocks noChangeAspect="1"/>
          </p:cNvPicPr>
          <p:nvPr/>
        </p:nvPicPr>
        <p:blipFill>
          <a:blip r:embed="rId4"/>
          <a:stretch>
            <a:fillRect/>
          </a:stretch>
        </p:blipFill>
        <p:spPr>
          <a:xfrm>
            <a:off x="251520" y="3593246"/>
            <a:ext cx="4680520" cy="1086984"/>
          </a:xfrm>
          <a:prstGeom prst="rect">
            <a:avLst/>
          </a:prstGeom>
        </p:spPr>
      </p:pic>
      <p:pic>
        <p:nvPicPr>
          <p:cNvPr id="7" name="圖片 6">
            <a:extLst>
              <a:ext uri="{FF2B5EF4-FFF2-40B4-BE49-F238E27FC236}">
                <a16:creationId xmlns:a16="http://schemas.microsoft.com/office/drawing/2014/main" id="{296D0F34-BC94-6A8B-1050-24E9A84D2DA9}"/>
              </a:ext>
            </a:extLst>
          </p:cNvPr>
          <p:cNvPicPr>
            <a:picLocks noChangeAspect="1"/>
          </p:cNvPicPr>
          <p:nvPr/>
        </p:nvPicPr>
        <p:blipFill>
          <a:blip r:embed="rId5"/>
          <a:stretch>
            <a:fillRect/>
          </a:stretch>
        </p:blipFill>
        <p:spPr>
          <a:xfrm>
            <a:off x="337548" y="4869160"/>
            <a:ext cx="4819203" cy="1088954"/>
          </a:xfrm>
          <a:prstGeom prst="rect">
            <a:avLst/>
          </a:prstGeom>
        </p:spPr>
      </p:pic>
      <p:pic>
        <p:nvPicPr>
          <p:cNvPr id="9" name="圖片 8">
            <a:extLst>
              <a:ext uri="{FF2B5EF4-FFF2-40B4-BE49-F238E27FC236}">
                <a16:creationId xmlns:a16="http://schemas.microsoft.com/office/drawing/2014/main" id="{C7768AC6-198F-0B95-D652-44F0E96315F3}"/>
              </a:ext>
            </a:extLst>
          </p:cNvPr>
          <p:cNvPicPr>
            <a:picLocks noChangeAspect="1"/>
          </p:cNvPicPr>
          <p:nvPr/>
        </p:nvPicPr>
        <p:blipFill>
          <a:blip r:embed="rId6"/>
          <a:stretch>
            <a:fillRect/>
          </a:stretch>
        </p:blipFill>
        <p:spPr>
          <a:xfrm>
            <a:off x="3933484" y="541567"/>
            <a:ext cx="5093230" cy="1283027"/>
          </a:xfrm>
          <a:prstGeom prst="rect">
            <a:avLst/>
          </a:prstGeom>
        </p:spPr>
      </p:pic>
      <p:pic>
        <p:nvPicPr>
          <p:cNvPr id="11" name="圖片 10">
            <a:extLst>
              <a:ext uri="{FF2B5EF4-FFF2-40B4-BE49-F238E27FC236}">
                <a16:creationId xmlns:a16="http://schemas.microsoft.com/office/drawing/2014/main" id="{31CA6E19-EF8D-DA11-2613-B8697BCC083E}"/>
              </a:ext>
            </a:extLst>
          </p:cNvPr>
          <p:cNvPicPr>
            <a:picLocks noChangeAspect="1"/>
          </p:cNvPicPr>
          <p:nvPr/>
        </p:nvPicPr>
        <p:blipFill>
          <a:blip r:embed="rId7"/>
          <a:stretch>
            <a:fillRect/>
          </a:stretch>
        </p:blipFill>
        <p:spPr>
          <a:xfrm>
            <a:off x="4499992" y="2060848"/>
            <a:ext cx="4070341" cy="1050888"/>
          </a:xfrm>
          <a:prstGeom prst="rect">
            <a:avLst/>
          </a:prstGeom>
        </p:spPr>
      </p:pic>
    </p:spTree>
    <p:extLst>
      <p:ext uri="{BB962C8B-B14F-4D97-AF65-F5344CB8AC3E}">
        <p14:creationId xmlns:p14="http://schemas.microsoft.com/office/powerpoint/2010/main" val="349785322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B29C7219-C4CF-C21F-F08B-3CA6B0AE6462}"/>
              </a:ext>
            </a:extLst>
          </p:cNvPr>
          <p:cNvPicPr>
            <a:picLocks noChangeAspect="1"/>
          </p:cNvPicPr>
          <p:nvPr/>
        </p:nvPicPr>
        <p:blipFill>
          <a:blip r:embed="rId3"/>
          <a:stretch>
            <a:fillRect/>
          </a:stretch>
        </p:blipFill>
        <p:spPr>
          <a:xfrm>
            <a:off x="395536" y="1373370"/>
            <a:ext cx="4737153" cy="5052963"/>
          </a:xfrm>
          <a:prstGeom prst="rect">
            <a:avLst/>
          </a:prstGeom>
        </p:spPr>
      </p:pic>
      <p:sp>
        <p:nvSpPr>
          <p:cNvPr id="4" name="文字方塊 3">
            <a:extLst>
              <a:ext uri="{FF2B5EF4-FFF2-40B4-BE49-F238E27FC236}">
                <a16:creationId xmlns:a16="http://schemas.microsoft.com/office/drawing/2014/main" id="{2B998B20-26E1-AAA0-704F-5584BC87DCD5}"/>
              </a:ext>
            </a:extLst>
          </p:cNvPr>
          <p:cNvSpPr txBox="1"/>
          <p:nvPr/>
        </p:nvSpPr>
        <p:spPr>
          <a:xfrm>
            <a:off x="5580109" y="1988840"/>
            <a:ext cx="997815" cy="756316"/>
          </a:xfrm>
          <a:prstGeom prst="rect">
            <a:avLst/>
          </a:prstGeom>
          <a:solidFill>
            <a:schemeClr val="accent3">
              <a:lumMod val="20000"/>
              <a:lumOff val="80000"/>
              <a:alpha val="80000"/>
            </a:scheme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err="1">
                <a:effectLst/>
                <a:latin typeface="Gadugi" panose="020B0502040204020203" pitchFamily="34" charset="0"/>
                <a:ea typeface="Gadugi" panose="020B0502040204020203" pitchFamily="34" charset="0"/>
                <a:cs typeface="ADLaM Display" panose="02010000000000000000" pitchFamily="2" charset="0"/>
              </a:rPr>
              <a:t>ResNet</a:t>
            </a:r>
            <a:endPar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endParaRPr>
          </a:p>
          <a:p>
            <a:pPr algn="ctr">
              <a:lnSpc>
                <a:spcPts val="14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MSRA</a:t>
            </a:r>
            <a:r>
              <a:rPr lang="zh-TW" altLang="en-US" sz="1000" dirty="0">
                <a:latin typeface="Gadugi" panose="020B0502040204020203" pitchFamily="34" charset="0"/>
                <a:ea typeface="Gadugi" panose="020B0502040204020203" pitchFamily="34" charset="0"/>
                <a:cs typeface="ADLaM Display" panose="02010000000000000000" pitchFamily="2" charset="0"/>
              </a:rPr>
              <a:t> 何愷明</a:t>
            </a:r>
            <a:endParaRPr lang="en-US" altLang="zh-TW" sz="1000" dirty="0">
              <a:latin typeface="Gadugi" panose="020B0502040204020203" pitchFamily="34" charset="0"/>
              <a:ea typeface="Gadugi" panose="020B0502040204020203" pitchFamily="34" charset="0"/>
              <a:cs typeface="ADLaM Display" panose="02010000000000000000" pitchFamily="2" charset="0"/>
            </a:endParaRPr>
          </a:p>
          <a:p>
            <a:pPr algn="ctr">
              <a:lnSpc>
                <a:spcPts val="14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2015</a:t>
            </a:r>
          </a:p>
        </p:txBody>
      </p:sp>
      <p:sp>
        <p:nvSpPr>
          <p:cNvPr id="6" name="文字方塊 5">
            <a:extLst>
              <a:ext uri="{FF2B5EF4-FFF2-40B4-BE49-F238E27FC236}">
                <a16:creationId xmlns:a16="http://schemas.microsoft.com/office/drawing/2014/main" id="{C5260EB1-A8A4-BAF7-42D7-F5CFE711E907}"/>
              </a:ext>
            </a:extLst>
          </p:cNvPr>
          <p:cNvSpPr txBox="1"/>
          <p:nvPr/>
        </p:nvSpPr>
        <p:spPr>
          <a:xfrm>
            <a:off x="5580109" y="2856781"/>
            <a:ext cx="997815" cy="756316"/>
          </a:xfrm>
          <a:prstGeom prst="rect">
            <a:avLst/>
          </a:prstGeom>
          <a:solidFill>
            <a:schemeClr val="accent3">
              <a:lumMod val="20000"/>
              <a:lumOff val="80000"/>
              <a:alpha val="80000"/>
            </a:scheme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rPr>
              <a:t>H</a:t>
            </a:r>
            <a:r>
              <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rPr>
              <a:t>yper-</a:t>
            </a:r>
          </a:p>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C</a:t>
            </a:r>
            <a:r>
              <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rPr>
              <a:t>onnections</a:t>
            </a:r>
          </a:p>
          <a:p>
            <a:pPr algn="ctr">
              <a:lnSpc>
                <a:spcPts val="14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ByteDance </a:t>
            </a:r>
            <a:r>
              <a:rPr lang="zh-TW" altLang="en-US" sz="1000" dirty="0">
                <a:latin typeface="Gadugi" panose="020B0502040204020203" pitchFamily="34" charset="0"/>
                <a:ea typeface="Gadugi" panose="020B0502040204020203" pitchFamily="34" charset="0"/>
                <a:cs typeface="ADLaM Display" panose="02010000000000000000" pitchFamily="2" charset="0"/>
              </a:rPr>
              <a:t>朱等</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a:p>
            <a:pPr algn="ctr">
              <a:lnSpc>
                <a:spcPts val="14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2024</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8" name="文字方塊 7">
            <a:extLst>
              <a:ext uri="{FF2B5EF4-FFF2-40B4-BE49-F238E27FC236}">
                <a16:creationId xmlns:a16="http://schemas.microsoft.com/office/drawing/2014/main" id="{D77D799B-6CE8-CF1C-CE89-401E4DBDB6EE}"/>
              </a:ext>
            </a:extLst>
          </p:cNvPr>
          <p:cNvSpPr txBox="1"/>
          <p:nvPr/>
        </p:nvSpPr>
        <p:spPr>
          <a:xfrm>
            <a:off x="5580109" y="3719600"/>
            <a:ext cx="997815" cy="756316"/>
          </a:xfrm>
          <a:prstGeom prst="rect">
            <a:avLst/>
          </a:prstGeom>
          <a:solidFill>
            <a:schemeClr val="accent3">
              <a:lumMod val="20000"/>
              <a:lumOff val="80000"/>
              <a:alpha val="80000"/>
            </a:scheme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err="1">
                <a:effectLst/>
                <a:latin typeface="Gadugi" panose="020B0502040204020203" pitchFamily="34" charset="0"/>
                <a:ea typeface="Gadugi" panose="020B0502040204020203" pitchFamily="34" charset="0"/>
                <a:cs typeface="ADLaM Display" panose="02010000000000000000" pitchFamily="2" charset="0"/>
              </a:rPr>
              <a:t>MUDDformer</a:t>
            </a:r>
            <a:endPar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endParaRPr>
          </a:p>
          <a:p>
            <a:pPr algn="ctr">
              <a:lnSpc>
                <a:spcPts val="1400"/>
              </a:lnSpc>
              <a:buNone/>
            </a:pPr>
            <a:r>
              <a:rPr lang="zh-TW" altLang="en-US" sz="1000" dirty="0">
                <a:latin typeface="Gadugi" panose="020B0502040204020203" pitchFamily="34" charset="0"/>
                <a:ea typeface="Gadugi" panose="020B0502040204020203" pitchFamily="34" charset="0"/>
                <a:cs typeface="ADLaM Display" panose="02010000000000000000" pitchFamily="2" charset="0"/>
              </a:rPr>
              <a:t>肖達 </a:t>
            </a:r>
            <a:r>
              <a:rPr lang="en-US" altLang="zh-TW" sz="1000" dirty="0">
                <a:latin typeface="Gadugi" panose="020B0502040204020203" pitchFamily="34" charset="0"/>
                <a:ea typeface="Gadugi" panose="020B0502040204020203" pitchFamily="34" charset="0"/>
                <a:cs typeface="ADLaM Display" panose="02010000000000000000" pitchFamily="2" charset="0"/>
              </a:rPr>
              <a:t>2025</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10" name="文字方塊 9">
            <a:extLst>
              <a:ext uri="{FF2B5EF4-FFF2-40B4-BE49-F238E27FC236}">
                <a16:creationId xmlns:a16="http://schemas.microsoft.com/office/drawing/2014/main" id="{DC7B0787-5A80-DF72-C374-61C01F849B65}"/>
              </a:ext>
            </a:extLst>
          </p:cNvPr>
          <p:cNvSpPr txBox="1"/>
          <p:nvPr/>
        </p:nvSpPr>
        <p:spPr>
          <a:xfrm>
            <a:off x="5580109" y="4623583"/>
            <a:ext cx="997815" cy="756316"/>
          </a:xfrm>
          <a:prstGeom prst="rect">
            <a:avLst/>
          </a:prstGeom>
          <a:solidFill>
            <a:schemeClr val="accent3">
              <a:lumMod val="20000"/>
              <a:lumOff val="80000"/>
              <a:alpha val="80000"/>
            </a:scheme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rPr>
              <a:t>M</a:t>
            </a:r>
            <a:r>
              <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rPr>
              <a:t>anifold-</a:t>
            </a:r>
          </a:p>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C</a:t>
            </a:r>
            <a:r>
              <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rPr>
              <a:t>onstrained </a:t>
            </a:r>
            <a:r>
              <a:rPr lang="en-US" altLang="zh-TW" sz="1000" dirty="0">
                <a:latin typeface="Gadugi" panose="020B0502040204020203" pitchFamily="34" charset="0"/>
                <a:ea typeface="Gadugi" panose="020B0502040204020203" pitchFamily="34" charset="0"/>
                <a:cs typeface="ADLaM Display" panose="02010000000000000000" pitchFamily="2" charset="0"/>
              </a:rPr>
              <a:t>HC</a:t>
            </a:r>
          </a:p>
          <a:p>
            <a:pPr algn="ctr">
              <a:lnSpc>
                <a:spcPts val="1400"/>
              </a:lnSpc>
              <a:buNone/>
            </a:pPr>
            <a:r>
              <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rPr>
              <a:t>DeepSeek</a:t>
            </a:r>
          </a:p>
          <a:p>
            <a:pPr algn="ctr">
              <a:lnSpc>
                <a:spcPts val="1400"/>
              </a:lnSpc>
              <a:buNone/>
            </a:pPr>
            <a:r>
              <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rPr>
              <a:t>2026</a:t>
            </a:r>
          </a:p>
        </p:txBody>
      </p:sp>
      <p:sp>
        <p:nvSpPr>
          <p:cNvPr id="12" name="文字方塊 11">
            <a:extLst>
              <a:ext uri="{FF2B5EF4-FFF2-40B4-BE49-F238E27FC236}">
                <a16:creationId xmlns:a16="http://schemas.microsoft.com/office/drawing/2014/main" id="{D67CC2A5-538F-5E4F-2707-6987523CE7EA}"/>
              </a:ext>
            </a:extLst>
          </p:cNvPr>
          <p:cNvSpPr txBox="1"/>
          <p:nvPr/>
        </p:nvSpPr>
        <p:spPr>
          <a:xfrm>
            <a:off x="5580109" y="5527566"/>
            <a:ext cx="997815" cy="756316"/>
          </a:xfrm>
          <a:prstGeom prst="rect">
            <a:avLst/>
          </a:prstGeom>
          <a:solidFill>
            <a:schemeClr val="accent3">
              <a:lumMod val="20000"/>
              <a:lumOff val="80000"/>
              <a:alpha val="80000"/>
            </a:scheme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err="1">
                <a:effectLst/>
                <a:latin typeface="Gadugi" panose="020B0502040204020203" pitchFamily="34" charset="0"/>
                <a:ea typeface="Gadugi" panose="020B0502040204020203" pitchFamily="34" charset="0"/>
                <a:cs typeface="ADLaM Display" panose="02010000000000000000" pitchFamily="2" charset="0"/>
              </a:rPr>
              <a:t>AttnRes</a:t>
            </a:r>
            <a:endPar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endParaRPr>
          </a:p>
          <a:p>
            <a:pPr algn="ctr">
              <a:lnSpc>
                <a:spcPts val="14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Moonshot</a:t>
            </a:r>
          </a:p>
          <a:p>
            <a:pPr algn="ctr">
              <a:lnSpc>
                <a:spcPts val="1400"/>
              </a:lnSpc>
              <a:buNone/>
            </a:pPr>
            <a:r>
              <a:rPr lang="zh-TW" altLang="en-US" sz="1000" dirty="0">
                <a:latin typeface="Gadugi" panose="020B0502040204020203" pitchFamily="34" charset="0"/>
                <a:ea typeface="Gadugi" panose="020B0502040204020203" pitchFamily="34" charset="0"/>
                <a:cs typeface="ADLaM Display" panose="02010000000000000000" pitchFamily="2" charset="0"/>
              </a:rPr>
              <a:t>陳廣宇</a:t>
            </a:r>
            <a:endParaRPr lang="en-US" altLang="zh-TW" sz="1000" dirty="0">
              <a:latin typeface="Gadugi" panose="020B0502040204020203" pitchFamily="34" charset="0"/>
              <a:ea typeface="Gadugi" panose="020B0502040204020203" pitchFamily="34" charset="0"/>
              <a:cs typeface="ADLaM Display" panose="02010000000000000000" pitchFamily="2" charset="0"/>
            </a:endParaRPr>
          </a:p>
          <a:p>
            <a:pPr algn="ctr">
              <a:lnSpc>
                <a:spcPts val="1400"/>
              </a:lnSpc>
              <a:buNone/>
            </a:pPr>
            <a:r>
              <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rPr>
              <a:t>2026</a:t>
            </a:r>
          </a:p>
        </p:txBody>
      </p:sp>
      <p:sp>
        <p:nvSpPr>
          <p:cNvPr id="14" name="標題 1">
            <a:extLst>
              <a:ext uri="{FF2B5EF4-FFF2-40B4-BE49-F238E27FC236}">
                <a16:creationId xmlns:a16="http://schemas.microsoft.com/office/drawing/2014/main" id="{68F7834C-1B08-250A-B00C-3306B1340E94}"/>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Residual Connection Summary</a:t>
            </a: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G- Optimizer</a:t>
            </a:r>
          </a:p>
        </p:txBody>
      </p:sp>
    </p:spTree>
    <p:extLst>
      <p:ext uri="{BB962C8B-B14F-4D97-AF65-F5344CB8AC3E}">
        <p14:creationId xmlns:p14="http://schemas.microsoft.com/office/powerpoint/2010/main" val="744906562"/>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2DBCD-E36C-4249-43A3-591218F550AD}"/>
            </a:ext>
          </a:extLst>
        </p:cNvPr>
        <p:cNvGrpSpPr/>
        <p:nvPr/>
      </p:nvGrpSpPr>
      <p:grpSpPr>
        <a:xfrm>
          <a:off x="0" y="0"/>
          <a:ext cx="0" cy="0"/>
          <a:chOff x="0" y="0"/>
          <a:chExt cx="0" cy="0"/>
        </a:xfrm>
      </p:grpSpPr>
      <p:sp>
        <p:nvSpPr>
          <p:cNvPr id="5" name="標題 1">
            <a:extLst>
              <a:ext uri="{FF2B5EF4-FFF2-40B4-BE49-F238E27FC236}">
                <a16:creationId xmlns:a16="http://schemas.microsoft.com/office/drawing/2014/main" id="{86AA1F60-58D7-F9B1-6D45-13DD2B5DA90F}"/>
              </a:ext>
            </a:extLst>
          </p:cNvPr>
          <p:cNvSpPr txBox="1">
            <a:spLocks/>
          </p:cNvSpPr>
          <p:nvPr/>
        </p:nvSpPr>
        <p:spPr>
          <a:xfrm>
            <a:off x="179511" y="116632"/>
            <a:ext cx="6768753"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Optimizer</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p>
        </p:txBody>
      </p:sp>
      <p:sp>
        <p:nvSpPr>
          <p:cNvPr id="3" name="文字方塊 2">
            <a:extLst>
              <a:ext uri="{FF2B5EF4-FFF2-40B4-BE49-F238E27FC236}">
                <a16:creationId xmlns:a16="http://schemas.microsoft.com/office/drawing/2014/main" id="{0EDD6D9C-A978-91F6-3789-64D81D9F0816}"/>
              </a:ext>
            </a:extLst>
          </p:cNvPr>
          <p:cNvSpPr txBox="1"/>
          <p:nvPr/>
        </p:nvSpPr>
        <p:spPr>
          <a:xfrm>
            <a:off x="695839" y="2781903"/>
            <a:ext cx="1005212" cy="740351"/>
          </a:xfrm>
          <a:prstGeom prst="rect">
            <a:avLst/>
          </a:prstGeom>
          <a:noFill/>
        </p:spPr>
        <p:txBody>
          <a:bodyPr wrap="none" lIns="0" tIns="0" rIns="0" bIns="0" anchor="ctr" anchorCtr="1">
            <a:noAutofit/>
          </a:bodyPr>
          <a:lstStyle/>
          <a:p>
            <a:pPr algn="ctr"/>
            <a:r>
              <a:rPr lang="en-US" altLang="zh-TW" sz="1200" b="1" dirty="0">
                <a:solidFill>
                  <a:prstClr val="black"/>
                </a:solidFill>
                <a:ea typeface="Cambria Math" panose="02040503050406030204" pitchFamily="18" charset="0"/>
              </a:rPr>
              <a:t>SGD</a:t>
            </a:r>
          </a:p>
          <a:p>
            <a:pPr algn="ct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rPr>
              <a:t>Stochastic</a:t>
            </a:r>
          </a:p>
          <a:p>
            <a:pPr algn="ctr"/>
            <a:r>
              <a:rPr lang="en-US" altLang="zh-TW" sz="1000" dirty="0">
                <a:solidFill>
                  <a:prstClr val="black"/>
                </a:solidFill>
                <a:ea typeface="Cambria Math" panose="02040503050406030204" pitchFamily="18" charset="0"/>
              </a:rPr>
              <a:t>Gradient</a:t>
            </a:r>
          </a:p>
          <a:p>
            <a:pPr algn="ct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rPr>
              <a:t>Descent</a:t>
            </a:r>
          </a:p>
        </p:txBody>
      </p:sp>
      <p:pic>
        <p:nvPicPr>
          <p:cNvPr id="4" name="圖片 3">
            <a:extLst>
              <a:ext uri="{FF2B5EF4-FFF2-40B4-BE49-F238E27FC236}">
                <a16:creationId xmlns:a16="http://schemas.microsoft.com/office/drawing/2014/main" id="{3E42D9D0-95A2-92AF-12D9-F820D97983A1}"/>
              </a:ext>
            </a:extLst>
          </p:cNvPr>
          <p:cNvPicPr>
            <a:picLocks noChangeAspect="1"/>
          </p:cNvPicPr>
          <p:nvPr/>
        </p:nvPicPr>
        <p:blipFill>
          <a:blip r:embed="rId2"/>
          <a:stretch>
            <a:fillRect/>
          </a:stretch>
        </p:blipFill>
        <p:spPr>
          <a:xfrm>
            <a:off x="294470" y="1268760"/>
            <a:ext cx="1159890" cy="1281291"/>
          </a:xfrm>
          <a:prstGeom prst="rect">
            <a:avLst/>
          </a:prstGeom>
        </p:spPr>
      </p:pic>
      <p:sp>
        <p:nvSpPr>
          <p:cNvPr id="7" name="文字方塊 6">
            <a:extLst>
              <a:ext uri="{FF2B5EF4-FFF2-40B4-BE49-F238E27FC236}">
                <a16:creationId xmlns:a16="http://schemas.microsoft.com/office/drawing/2014/main" id="{BCAE0738-5BCF-EDD0-10BD-ADAA203AEF16}"/>
              </a:ext>
            </a:extLst>
          </p:cNvPr>
          <p:cNvSpPr txBox="1"/>
          <p:nvPr/>
        </p:nvSpPr>
        <p:spPr>
          <a:xfrm>
            <a:off x="2063991" y="2781904"/>
            <a:ext cx="1005212" cy="740351"/>
          </a:xfrm>
          <a:prstGeom prst="rect">
            <a:avLst/>
          </a:prstGeom>
          <a:noFill/>
        </p:spPr>
        <p:txBody>
          <a:bodyPr wrap="none" lIns="0" tIns="0" rIns="0" bIns="0" anchor="ctr" anchorCtr="1">
            <a:noAutofit/>
          </a:bodyPr>
          <a:lstStyle/>
          <a:p>
            <a:pPr algn="ctr"/>
            <a:r>
              <a:rPr lang="en-US" altLang="zh-TW" sz="1200" b="1" dirty="0">
                <a:solidFill>
                  <a:prstClr val="black"/>
                </a:solidFill>
                <a:ea typeface="Cambria Math" panose="02040503050406030204" pitchFamily="18" charset="0"/>
              </a:rPr>
              <a:t>SGD +</a:t>
            </a:r>
          </a:p>
          <a:p>
            <a:pPr algn="ctr"/>
            <a:r>
              <a:rPr lang="en-US" altLang="zh-TW" sz="1200" b="1" dirty="0">
                <a:solidFill>
                  <a:prstClr val="black"/>
                </a:solidFill>
                <a:ea typeface="Cambria Math" panose="02040503050406030204" pitchFamily="18" charset="0"/>
              </a:rPr>
              <a:t>Momentum</a:t>
            </a:r>
          </a:p>
          <a:p>
            <a:pPr algn="ctr"/>
            <a:r>
              <a:rPr lang="en-US" altLang="zh-TW" sz="1000" dirty="0">
                <a:solidFill>
                  <a:prstClr val="black"/>
                </a:solidFill>
                <a:ea typeface="Cambria Math" panose="02040503050406030204" pitchFamily="18" charset="0"/>
              </a:rPr>
              <a:t>-</a:t>
            </a:r>
          </a:p>
        </p:txBody>
      </p:sp>
      <p:sp>
        <p:nvSpPr>
          <p:cNvPr id="10" name="文字方塊 9">
            <a:extLst>
              <a:ext uri="{FF2B5EF4-FFF2-40B4-BE49-F238E27FC236}">
                <a16:creationId xmlns:a16="http://schemas.microsoft.com/office/drawing/2014/main" id="{A15F0577-85FD-1352-E80F-EEAE2E7A4FCB}"/>
              </a:ext>
            </a:extLst>
          </p:cNvPr>
          <p:cNvSpPr txBox="1"/>
          <p:nvPr/>
        </p:nvSpPr>
        <p:spPr>
          <a:xfrm>
            <a:off x="3453022" y="2781903"/>
            <a:ext cx="1005212" cy="740351"/>
          </a:xfrm>
          <a:prstGeom prst="rect">
            <a:avLst/>
          </a:prstGeom>
          <a:noFill/>
        </p:spPr>
        <p:txBody>
          <a:bodyPr wrap="none" lIns="0" tIns="0" rIns="0" bIns="0" anchor="ctr" anchorCtr="1">
            <a:noAutofit/>
          </a:bodyPr>
          <a:lstStyle/>
          <a:p>
            <a:pPr algn="ctr"/>
            <a:r>
              <a:rPr lang="en-US" altLang="zh-TW" sz="1200" b="1" dirty="0">
                <a:solidFill>
                  <a:prstClr val="black"/>
                </a:solidFill>
                <a:ea typeface="Cambria Math" panose="02040503050406030204" pitchFamily="18" charset="0"/>
              </a:rPr>
              <a:t>NAG</a:t>
            </a:r>
          </a:p>
          <a:p>
            <a:pPr algn="ct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rPr>
              <a:t>Nesterov’s</a:t>
            </a:r>
          </a:p>
          <a:p>
            <a:pPr algn="ctr"/>
            <a:r>
              <a:rPr lang="en-US" altLang="zh-TW" sz="1000" dirty="0">
                <a:solidFill>
                  <a:prstClr val="black"/>
                </a:solidFill>
                <a:ea typeface="Cambria Math" panose="02040503050406030204" pitchFamily="18" charset="0"/>
              </a:rPr>
              <a:t>Accelerated</a:t>
            </a:r>
          </a:p>
          <a:p>
            <a:pPr algn="ct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rPr>
              <a:t>Gradient</a:t>
            </a:r>
          </a:p>
        </p:txBody>
      </p:sp>
      <p:sp>
        <p:nvSpPr>
          <p:cNvPr id="14" name="文字方塊 13">
            <a:extLst>
              <a:ext uri="{FF2B5EF4-FFF2-40B4-BE49-F238E27FC236}">
                <a16:creationId xmlns:a16="http://schemas.microsoft.com/office/drawing/2014/main" id="{E5AD7DEF-5E54-8475-7656-A3A8015053CD}"/>
              </a:ext>
            </a:extLst>
          </p:cNvPr>
          <p:cNvSpPr txBox="1"/>
          <p:nvPr/>
        </p:nvSpPr>
        <p:spPr>
          <a:xfrm>
            <a:off x="4842053" y="2781902"/>
            <a:ext cx="1005212" cy="740351"/>
          </a:xfrm>
          <a:prstGeom prst="rect">
            <a:avLst/>
          </a:prstGeom>
          <a:noFill/>
        </p:spPr>
        <p:txBody>
          <a:bodyPr wrap="none" lIns="0" tIns="0" rIns="0" bIns="0" anchor="ctr" anchorCtr="1">
            <a:noAutofit/>
          </a:bodyPr>
          <a:lstStyle/>
          <a:p>
            <a:pPr algn="ctr"/>
            <a:r>
              <a:rPr lang="en-US" altLang="zh-TW" sz="1200" b="1" dirty="0" err="1">
                <a:solidFill>
                  <a:prstClr val="black"/>
                </a:solidFill>
                <a:ea typeface="Cambria Math" panose="02040503050406030204" pitchFamily="18" charset="0"/>
              </a:rPr>
              <a:t>AdaGrad</a:t>
            </a:r>
            <a:endParaRPr lang="en-US" altLang="zh-TW" sz="1200" b="1" dirty="0">
              <a:solidFill>
                <a:prstClr val="black"/>
              </a:solidFill>
              <a:ea typeface="Cambria Math" panose="02040503050406030204" pitchFamily="18" charset="0"/>
            </a:endParaRPr>
          </a:p>
          <a:p>
            <a:pPr algn="ct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rPr>
              <a:t>Ada</a:t>
            </a:r>
          </a:p>
          <a:p>
            <a:pPr algn="ctr"/>
            <a:r>
              <a:rPr lang="en-US" altLang="zh-TW" sz="1000" dirty="0">
                <a:solidFill>
                  <a:prstClr val="black"/>
                </a:solidFill>
                <a:ea typeface="Cambria Math" panose="02040503050406030204" pitchFamily="18" charset="0"/>
              </a:rPr>
              <a:t>Gradient</a:t>
            </a:r>
          </a:p>
          <a:p>
            <a:pPr algn="ct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rPr>
              <a:t>Descent</a:t>
            </a:r>
          </a:p>
        </p:txBody>
      </p:sp>
      <p:pic>
        <p:nvPicPr>
          <p:cNvPr id="18" name="圖片 17">
            <a:extLst>
              <a:ext uri="{FF2B5EF4-FFF2-40B4-BE49-F238E27FC236}">
                <a16:creationId xmlns:a16="http://schemas.microsoft.com/office/drawing/2014/main" id="{05C3EA48-29BC-E5B4-BF6D-90570F23564A}"/>
              </a:ext>
            </a:extLst>
          </p:cNvPr>
          <p:cNvPicPr>
            <a:picLocks noChangeAspect="1"/>
          </p:cNvPicPr>
          <p:nvPr/>
        </p:nvPicPr>
        <p:blipFill>
          <a:blip r:embed="rId3"/>
          <a:stretch>
            <a:fillRect/>
          </a:stretch>
        </p:blipFill>
        <p:spPr>
          <a:xfrm>
            <a:off x="123637" y="3701380"/>
            <a:ext cx="2436616" cy="650263"/>
          </a:xfrm>
          <a:prstGeom prst="rect">
            <a:avLst/>
          </a:prstGeom>
          <a:effectLst>
            <a:glow rad="50800">
              <a:schemeClr val="accent4">
                <a:lumMod val="20000"/>
                <a:lumOff val="80000"/>
              </a:schemeClr>
            </a:glow>
          </a:effectLst>
        </p:spPr>
      </p:pic>
      <p:pic>
        <p:nvPicPr>
          <p:cNvPr id="21" name="圖片 20">
            <a:extLst>
              <a:ext uri="{FF2B5EF4-FFF2-40B4-BE49-F238E27FC236}">
                <a16:creationId xmlns:a16="http://schemas.microsoft.com/office/drawing/2014/main" id="{207C12AB-C706-B64E-5657-0ADEEF5902C2}"/>
              </a:ext>
            </a:extLst>
          </p:cNvPr>
          <p:cNvPicPr>
            <a:picLocks noChangeAspect="1"/>
          </p:cNvPicPr>
          <p:nvPr/>
        </p:nvPicPr>
        <p:blipFill>
          <a:blip r:embed="rId4"/>
          <a:stretch>
            <a:fillRect/>
          </a:stretch>
        </p:blipFill>
        <p:spPr>
          <a:xfrm>
            <a:off x="755576" y="5445224"/>
            <a:ext cx="5688632" cy="1060738"/>
          </a:xfrm>
          <a:prstGeom prst="rect">
            <a:avLst/>
          </a:prstGeom>
          <a:effectLst>
            <a:glow rad="50800">
              <a:schemeClr val="bg2">
                <a:lumMod val="50000"/>
              </a:schemeClr>
            </a:glow>
          </a:effectLst>
        </p:spPr>
      </p:pic>
      <p:pic>
        <p:nvPicPr>
          <p:cNvPr id="25" name="圖片 24">
            <a:extLst>
              <a:ext uri="{FF2B5EF4-FFF2-40B4-BE49-F238E27FC236}">
                <a16:creationId xmlns:a16="http://schemas.microsoft.com/office/drawing/2014/main" id="{15A74A9B-470C-3A0B-145A-4C29E8FA6E9D}"/>
              </a:ext>
            </a:extLst>
          </p:cNvPr>
          <p:cNvPicPr>
            <a:picLocks noChangeAspect="1"/>
          </p:cNvPicPr>
          <p:nvPr/>
        </p:nvPicPr>
        <p:blipFill>
          <a:blip r:embed="rId5"/>
          <a:stretch>
            <a:fillRect/>
          </a:stretch>
        </p:blipFill>
        <p:spPr>
          <a:xfrm>
            <a:off x="1682771" y="1916832"/>
            <a:ext cx="2220278" cy="599456"/>
          </a:xfrm>
          <a:prstGeom prst="rect">
            <a:avLst/>
          </a:prstGeom>
        </p:spPr>
      </p:pic>
      <p:pic>
        <p:nvPicPr>
          <p:cNvPr id="27" name="圖片 26">
            <a:extLst>
              <a:ext uri="{FF2B5EF4-FFF2-40B4-BE49-F238E27FC236}">
                <a16:creationId xmlns:a16="http://schemas.microsoft.com/office/drawing/2014/main" id="{0246A359-29ED-A79E-511B-C4123647098C}"/>
              </a:ext>
            </a:extLst>
          </p:cNvPr>
          <p:cNvPicPr>
            <a:picLocks noChangeAspect="1"/>
          </p:cNvPicPr>
          <p:nvPr/>
        </p:nvPicPr>
        <p:blipFill>
          <a:blip r:embed="rId6"/>
          <a:stretch>
            <a:fillRect/>
          </a:stretch>
        </p:blipFill>
        <p:spPr>
          <a:xfrm>
            <a:off x="1660720" y="1215406"/>
            <a:ext cx="2234183" cy="564167"/>
          </a:xfrm>
          <a:prstGeom prst="rect">
            <a:avLst/>
          </a:prstGeom>
        </p:spPr>
      </p:pic>
      <p:pic>
        <p:nvPicPr>
          <p:cNvPr id="31" name="圖片 30">
            <a:extLst>
              <a:ext uri="{FF2B5EF4-FFF2-40B4-BE49-F238E27FC236}">
                <a16:creationId xmlns:a16="http://schemas.microsoft.com/office/drawing/2014/main" id="{DFE4AA7B-4CFB-7F09-610B-22863B264E74}"/>
              </a:ext>
            </a:extLst>
          </p:cNvPr>
          <p:cNvPicPr>
            <a:picLocks noChangeAspect="1"/>
          </p:cNvPicPr>
          <p:nvPr/>
        </p:nvPicPr>
        <p:blipFill>
          <a:blip r:embed="rId7"/>
          <a:stretch>
            <a:fillRect/>
          </a:stretch>
        </p:blipFill>
        <p:spPr>
          <a:xfrm>
            <a:off x="3081665" y="682368"/>
            <a:ext cx="1102126" cy="738983"/>
          </a:xfrm>
          <a:prstGeom prst="rect">
            <a:avLst/>
          </a:prstGeom>
        </p:spPr>
      </p:pic>
      <p:sp>
        <p:nvSpPr>
          <p:cNvPr id="35" name="文字方塊 34">
            <a:extLst>
              <a:ext uri="{FF2B5EF4-FFF2-40B4-BE49-F238E27FC236}">
                <a16:creationId xmlns:a16="http://schemas.microsoft.com/office/drawing/2014/main" id="{E34C2F70-D131-6A71-3D37-111EF670880B}"/>
              </a:ext>
            </a:extLst>
          </p:cNvPr>
          <p:cNvSpPr txBox="1"/>
          <p:nvPr/>
        </p:nvSpPr>
        <p:spPr>
          <a:xfrm>
            <a:off x="6231084" y="2772785"/>
            <a:ext cx="1005212" cy="740351"/>
          </a:xfrm>
          <a:prstGeom prst="rect">
            <a:avLst/>
          </a:prstGeom>
          <a:noFill/>
          <a:effectLst>
            <a:glow rad="114300">
              <a:schemeClr val="accent2"/>
            </a:glow>
            <a:softEdge rad="12700"/>
          </a:effectLst>
        </p:spPr>
        <p:txBody>
          <a:bodyPr wrap="none" lIns="0" tIns="0" rIns="0" bIns="0" anchor="ctr" anchorCtr="1">
            <a:noAutofit/>
          </a:bodyPr>
          <a:lstStyle/>
          <a:p>
            <a:pPr algn="ctr"/>
            <a:r>
              <a:rPr lang="en-US" altLang="zh-TW" sz="1200" b="1" dirty="0" err="1">
                <a:solidFill>
                  <a:prstClr val="black"/>
                </a:solidFill>
                <a:ea typeface="Cambria Math" panose="02040503050406030204" pitchFamily="18" charset="0"/>
              </a:rPr>
              <a:t>RMSProp</a:t>
            </a:r>
            <a:endParaRPr lang="en-US" altLang="zh-TW" sz="1200" b="1" dirty="0">
              <a:solidFill>
                <a:prstClr val="black"/>
              </a:solidFill>
              <a:ea typeface="Cambria Math" panose="02040503050406030204" pitchFamily="18" charset="0"/>
            </a:endParaRPr>
          </a:p>
          <a:p>
            <a:pPr algn="ct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rPr>
              <a:t>-</a:t>
            </a:r>
          </a:p>
        </p:txBody>
      </p:sp>
      <p:grpSp>
        <p:nvGrpSpPr>
          <p:cNvPr id="2" name="群組 1">
            <a:extLst>
              <a:ext uri="{FF2B5EF4-FFF2-40B4-BE49-F238E27FC236}">
                <a16:creationId xmlns:a16="http://schemas.microsoft.com/office/drawing/2014/main" id="{623281E3-0586-017B-EEF2-B923D492DCC6}"/>
              </a:ext>
            </a:extLst>
          </p:cNvPr>
          <p:cNvGrpSpPr/>
          <p:nvPr/>
        </p:nvGrpSpPr>
        <p:grpSpPr>
          <a:xfrm>
            <a:off x="4507739" y="1714453"/>
            <a:ext cx="2656549" cy="994467"/>
            <a:chOff x="3882858" y="1570437"/>
            <a:chExt cx="2656549" cy="994467"/>
          </a:xfrm>
        </p:grpSpPr>
        <p:pic>
          <p:nvPicPr>
            <p:cNvPr id="41" name="圖片 40">
              <a:extLst>
                <a:ext uri="{FF2B5EF4-FFF2-40B4-BE49-F238E27FC236}">
                  <a16:creationId xmlns:a16="http://schemas.microsoft.com/office/drawing/2014/main" id="{CA62DB9E-1B07-6FA2-475D-6FE65D44AE1B}"/>
                </a:ext>
              </a:extLst>
            </p:cNvPr>
            <p:cNvPicPr>
              <a:picLocks noChangeAspect="1"/>
            </p:cNvPicPr>
            <p:nvPr/>
          </p:nvPicPr>
          <p:blipFill>
            <a:blip r:embed="rId8"/>
            <a:stretch>
              <a:fillRect/>
            </a:stretch>
          </p:blipFill>
          <p:spPr>
            <a:xfrm>
              <a:off x="3882858" y="1570437"/>
              <a:ext cx="2086266" cy="657317"/>
            </a:xfrm>
            <a:prstGeom prst="rect">
              <a:avLst/>
            </a:prstGeom>
            <a:effectLst>
              <a:glow rad="50800">
                <a:schemeClr val="accent1">
                  <a:lumMod val="40000"/>
                  <a:lumOff val="60000"/>
                </a:schemeClr>
              </a:glow>
            </a:effectLst>
          </p:spPr>
        </p:pic>
        <p:pic>
          <p:nvPicPr>
            <p:cNvPr id="43" name="圖片 42">
              <a:extLst>
                <a:ext uri="{FF2B5EF4-FFF2-40B4-BE49-F238E27FC236}">
                  <a16:creationId xmlns:a16="http://schemas.microsoft.com/office/drawing/2014/main" id="{BB19E516-DAFA-8C59-0ABB-7A2317726E1B}"/>
                </a:ext>
              </a:extLst>
            </p:cNvPr>
            <p:cNvPicPr>
              <a:picLocks noChangeAspect="1"/>
            </p:cNvPicPr>
            <p:nvPr/>
          </p:nvPicPr>
          <p:blipFill>
            <a:blip r:embed="rId9"/>
            <a:stretch>
              <a:fillRect/>
            </a:stretch>
          </p:blipFill>
          <p:spPr>
            <a:xfrm>
              <a:off x="3959171" y="2135184"/>
              <a:ext cx="2580236" cy="223125"/>
            </a:xfrm>
            <a:prstGeom prst="rect">
              <a:avLst/>
            </a:prstGeom>
            <a:effectLst>
              <a:glow rad="25400">
                <a:schemeClr val="accent1">
                  <a:lumMod val="40000"/>
                  <a:lumOff val="60000"/>
                </a:schemeClr>
              </a:glow>
            </a:effectLst>
          </p:spPr>
        </p:pic>
        <p:pic>
          <p:nvPicPr>
            <p:cNvPr id="45" name="圖片 44">
              <a:extLst>
                <a:ext uri="{FF2B5EF4-FFF2-40B4-BE49-F238E27FC236}">
                  <a16:creationId xmlns:a16="http://schemas.microsoft.com/office/drawing/2014/main" id="{259262C4-DBA7-66AC-ECCB-064629D7BF0B}"/>
                </a:ext>
              </a:extLst>
            </p:cNvPr>
            <p:cNvPicPr>
              <a:picLocks noChangeAspect="1"/>
            </p:cNvPicPr>
            <p:nvPr/>
          </p:nvPicPr>
          <p:blipFill>
            <a:blip r:embed="rId10"/>
            <a:stretch>
              <a:fillRect/>
            </a:stretch>
          </p:blipFill>
          <p:spPr>
            <a:xfrm>
              <a:off x="3959171" y="2337414"/>
              <a:ext cx="1403775" cy="227490"/>
            </a:xfrm>
            <a:prstGeom prst="rect">
              <a:avLst/>
            </a:prstGeom>
            <a:effectLst>
              <a:glow rad="25400">
                <a:schemeClr val="accent1">
                  <a:lumMod val="40000"/>
                  <a:lumOff val="60000"/>
                </a:schemeClr>
              </a:glow>
            </a:effectLst>
          </p:spPr>
        </p:pic>
      </p:grpSp>
      <p:grpSp>
        <p:nvGrpSpPr>
          <p:cNvPr id="74" name="群組 73">
            <a:extLst>
              <a:ext uri="{FF2B5EF4-FFF2-40B4-BE49-F238E27FC236}">
                <a16:creationId xmlns:a16="http://schemas.microsoft.com/office/drawing/2014/main" id="{618E70F5-F50C-936A-373B-C3ACE643F6B4}"/>
              </a:ext>
            </a:extLst>
          </p:cNvPr>
          <p:cNvGrpSpPr/>
          <p:nvPr/>
        </p:nvGrpSpPr>
        <p:grpSpPr>
          <a:xfrm>
            <a:off x="3045614" y="4005064"/>
            <a:ext cx="3182570" cy="1859444"/>
            <a:chOff x="2542188" y="3873812"/>
            <a:chExt cx="3182570" cy="1859444"/>
          </a:xfrm>
        </p:grpSpPr>
        <p:pic>
          <p:nvPicPr>
            <p:cNvPr id="47" name="圖片 46">
              <a:extLst>
                <a:ext uri="{FF2B5EF4-FFF2-40B4-BE49-F238E27FC236}">
                  <a16:creationId xmlns:a16="http://schemas.microsoft.com/office/drawing/2014/main" id="{B6BC6A13-C1B2-13F1-1B1F-F08A81D19AFB}"/>
                </a:ext>
              </a:extLst>
            </p:cNvPr>
            <p:cNvPicPr>
              <a:picLocks noChangeAspect="1"/>
            </p:cNvPicPr>
            <p:nvPr/>
          </p:nvPicPr>
          <p:blipFill>
            <a:blip r:embed="rId11"/>
            <a:stretch>
              <a:fillRect/>
            </a:stretch>
          </p:blipFill>
          <p:spPr>
            <a:xfrm>
              <a:off x="2542188" y="3873812"/>
              <a:ext cx="1456648" cy="923340"/>
            </a:xfrm>
            <a:prstGeom prst="rect">
              <a:avLst/>
            </a:prstGeom>
            <a:effectLst>
              <a:glow rad="50800">
                <a:schemeClr val="tx2"/>
              </a:glow>
            </a:effectLst>
          </p:spPr>
        </p:pic>
        <p:sp>
          <p:nvSpPr>
            <p:cNvPr id="55" name="文字方塊 54">
              <a:extLst>
                <a:ext uri="{FF2B5EF4-FFF2-40B4-BE49-F238E27FC236}">
                  <a16:creationId xmlns:a16="http://schemas.microsoft.com/office/drawing/2014/main" id="{309BF9B5-128D-C8E7-940F-B15484BA4072}"/>
                </a:ext>
              </a:extLst>
            </p:cNvPr>
            <p:cNvSpPr txBox="1"/>
            <p:nvPr/>
          </p:nvSpPr>
          <p:spPr>
            <a:xfrm>
              <a:off x="2938601" y="4717593"/>
              <a:ext cx="2762111" cy="1015663"/>
            </a:xfrm>
            <a:prstGeom prst="rect">
              <a:avLst/>
            </a:prstGeom>
            <a:solidFill>
              <a:schemeClr val="bg1"/>
            </a:solidFill>
            <a:effectLst>
              <a:glow rad="50800">
                <a:schemeClr val="tx2"/>
              </a:glow>
            </a:effectLst>
          </p:spPr>
          <p:txBody>
            <a:bodyPr wrap="square">
              <a:spAutoFit/>
            </a:bodyPr>
            <a:lstStyle/>
            <a:p>
              <a:pPr marL="0" marR="0" indent="0" algn="l">
                <a:buNone/>
              </a:pPr>
              <a:r>
                <a:rPr lang="zh-TW" altLang="zh-TW" sz="1000" b="0" i="0" dirty="0">
                  <a:solidFill>
                    <a:srgbClr val="191B1F"/>
                  </a:solidFill>
                  <a:effectLst/>
                  <a:latin typeface="微軟正黑體" panose="020B0604030504040204" pitchFamily="34" charset="-120"/>
                  <a:ea typeface="微軟正黑體" panose="020B0604030504040204" pitchFamily="34" charset="-120"/>
                </a:rPr>
                <a:t>就是根据当前梯度方向向前走一步之后再计算出来的梯度。通过这种方式，在接近最优解时，Nesterov优化器比</a:t>
              </a:r>
              <a:r>
                <a:rPr lang="zh-TW" altLang="zh-TW" sz="1000" b="0" i="0" u="none" strike="noStrike" dirty="0">
                  <a:solidFill>
                    <a:srgbClr val="09408E"/>
                  </a:solidFill>
                  <a:effectLst/>
                  <a:latin typeface="微軟正黑體" panose="020B0604030504040204" pitchFamily="34" charset="-120"/>
                  <a:ea typeface="微軟正黑體" panose="020B0604030504040204" pitchFamily="34" charset="-120"/>
                  <a:hlinkClick r:id="rId12"/>
                </a:rPr>
                <a:t>标准动量SGD算法</a:t>
              </a:r>
              <a:r>
                <a:rPr lang="zh-TW" altLang="zh-TW" sz="1000" b="0" i="0" dirty="0">
                  <a:solidFill>
                    <a:srgbClr val="191B1F"/>
                  </a:solidFill>
                  <a:effectLst/>
                  <a:latin typeface="微軟正黑體" panose="020B0604030504040204" pitchFamily="34" charset="-120"/>
                  <a:ea typeface="微軟正黑體" panose="020B0604030504040204" pitchFamily="34" charset="-120"/>
                </a:rPr>
                <a:t>有更快的收敛速度。因为这种“前瞻性”的操作能帮助优化器避免走得太远，就像是提前刹车，所以在接近最优解时更加稳定。</a:t>
              </a:r>
              <a:endParaRPr lang="zh-TW" altLang="en-US" sz="1000" dirty="0">
                <a:latin typeface="微軟正黑體" panose="020B0604030504040204" pitchFamily="34" charset="-120"/>
                <a:ea typeface="微軟正黑體" panose="020B0604030504040204" pitchFamily="34" charset="-120"/>
              </a:endParaRPr>
            </a:p>
          </p:txBody>
        </p:sp>
        <p:pic>
          <p:nvPicPr>
            <p:cNvPr id="49" name="圖片 48">
              <a:extLst>
                <a:ext uri="{FF2B5EF4-FFF2-40B4-BE49-F238E27FC236}">
                  <a16:creationId xmlns:a16="http://schemas.microsoft.com/office/drawing/2014/main" id="{ECC39C6B-9DC2-4CBE-7A6F-36D7F7FF3466}"/>
                </a:ext>
              </a:extLst>
            </p:cNvPr>
            <p:cNvPicPr>
              <a:picLocks noChangeAspect="1"/>
            </p:cNvPicPr>
            <p:nvPr/>
          </p:nvPicPr>
          <p:blipFill>
            <a:blip r:embed="rId13"/>
            <a:stretch>
              <a:fillRect/>
            </a:stretch>
          </p:blipFill>
          <p:spPr>
            <a:xfrm>
              <a:off x="3491880" y="4141529"/>
              <a:ext cx="2232878" cy="292628"/>
            </a:xfrm>
            <a:prstGeom prst="rect">
              <a:avLst/>
            </a:prstGeom>
            <a:effectLst>
              <a:glow rad="50800">
                <a:schemeClr val="tx2"/>
              </a:glow>
            </a:effectLst>
          </p:spPr>
        </p:pic>
        <p:pic>
          <p:nvPicPr>
            <p:cNvPr id="51" name="圖片 50">
              <a:extLst>
                <a:ext uri="{FF2B5EF4-FFF2-40B4-BE49-F238E27FC236}">
                  <a16:creationId xmlns:a16="http://schemas.microsoft.com/office/drawing/2014/main" id="{955E8F71-A2DB-504A-1060-AA7778685E2C}"/>
                </a:ext>
              </a:extLst>
            </p:cNvPr>
            <p:cNvPicPr>
              <a:picLocks noChangeAspect="1"/>
            </p:cNvPicPr>
            <p:nvPr/>
          </p:nvPicPr>
          <p:blipFill>
            <a:blip r:embed="rId14"/>
            <a:stretch>
              <a:fillRect/>
            </a:stretch>
          </p:blipFill>
          <p:spPr>
            <a:xfrm>
              <a:off x="4319656" y="4490511"/>
              <a:ext cx="1260901" cy="227082"/>
            </a:xfrm>
            <a:prstGeom prst="rect">
              <a:avLst/>
            </a:prstGeom>
            <a:effectLst>
              <a:glow rad="50800">
                <a:schemeClr val="tx2"/>
              </a:glow>
            </a:effectLst>
          </p:spPr>
        </p:pic>
      </p:grpSp>
      <p:grpSp>
        <p:nvGrpSpPr>
          <p:cNvPr id="75" name="群組 74">
            <a:extLst>
              <a:ext uri="{FF2B5EF4-FFF2-40B4-BE49-F238E27FC236}">
                <a16:creationId xmlns:a16="http://schemas.microsoft.com/office/drawing/2014/main" id="{25F2D184-8ACE-06F5-AE97-7CCE4C518FB5}"/>
              </a:ext>
            </a:extLst>
          </p:cNvPr>
          <p:cNvGrpSpPr/>
          <p:nvPr/>
        </p:nvGrpSpPr>
        <p:grpSpPr>
          <a:xfrm>
            <a:off x="6090567" y="3348054"/>
            <a:ext cx="2081833" cy="945042"/>
            <a:chOff x="6045578" y="3612225"/>
            <a:chExt cx="2081833" cy="945042"/>
          </a:xfrm>
        </p:grpSpPr>
        <p:pic>
          <p:nvPicPr>
            <p:cNvPr id="61" name="圖片 60">
              <a:extLst>
                <a:ext uri="{FF2B5EF4-FFF2-40B4-BE49-F238E27FC236}">
                  <a16:creationId xmlns:a16="http://schemas.microsoft.com/office/drawing/2014/main" id="{71F1B7E1-0FDA-73E1-BD1C-D3F8AF401885}"/>
                </a:ext>
              </a:extLst>
            </p:cNvPr>
            <p:cNvPicPr>
              <a:picLocks noChangeAspect="1"/>
            </p:cNvPicPr>
            <p:nvPr/>
          </p:nvPicPr>
          <p:blipFill>
            <a:blip r:embed="rId15"/>
            <a:stretch>
              <a:fillRect/>
            </a:stretch>
          </p:blipFill>
          <p:spPr>
            <a:xfrm>
              <a:off x="6102055" y="3612225"/>
              <a:ext cx="1735035" cy="474630"/>
            </a:xfrm>
            <a:prstGeom prst="rect">
              <a:avLst/>
            </a:prstGeom>
            <a:effectLst>
              <a:glow rad="50800">
                <a:schemeClr val="accent2"/>
              </a:glow>
            </a:effectLst>
          </p:spPr>
        </p:pic>
        <p:pic>
          <p:nvPicPr>
            <p:cNvPr id="65" name="圖片 64">
              <a:extLst>
                <a:ext uri="{FF2B5EF4-FFF2-40B4-BE49-F238E27FC236}">
                  <a16:creationId xmlns:a16="http://schemas.microsoft.com/office/drawing/2014/main" id="{ECF615E0-E564-1514-B77E-EE87188502FE}"/>
                </a:ext>
              </a:extLst>
            </p:cNvPr>
            <p:cNvPicPr>
              <a:picLocks noChangeAspect="1"/>
            </p:cNvPicPr>
            <p:nvPr/>
          </p:nvPicPr>
          <p:blipFill>
            <a:blip r:embed="rId16"/>
            <a:stretch>
              <a:fillRect/>
            </a:stretch>
          </p:blipFill>
          <p:spPr>
            <a:xfrm>
              <a:off x="6101996" y="4056156"/>
              <a:ext cx="1854380" cy="276920"/>
            </a:xfrm>
            <a:prstGeom prst="rect">
              <a:avLst/>
            </a:prstGeom>
            <a:effectLst>
              <a:glow rad="25400">
                <a:schemeClr val="accent2"/>
              </a:glow>
            </a:effectLst>
          </p:spPr>
        </p:pic>
        <p:sp>
          <p:nvSpPr>
            <p:cNvPr id="69" name="文字方塊 68">
              <a:extLst>
                <a:ext uri="{FF2B5EF4-FFF2-40B4-BE49-F238E27FC236}">
                  <a16:creationId xmlns:a16="http://schemas.microsoft.com/office/drawing/2014/main" id="{468369E3-85D2-7D82-7ED6-4B8326471153}"/>
                </a:ext>
              </a:extLst>
            </p:cNvPr>
            <p:cNvSpPr txBox="1"/>
            <p:nvPr/>
          </p:nvSpPr>
          <p:spPr>
            <a:xfrm>
              <a:off x="6045578" y="4311046"/>
              <a:ext cx="2081833" cy="246221"/>
            </a:xfrm>
            <a:prstGeom prst="rect">
              <a:avLst/>
            </a:prstGeom>
            <a:solidFill>
              <a:schemeClr val="bg1">
                <a:alpha val="40000"/>
              </a:schemeClr>
            </a:solidFill>
            <a:ln>
              <a:solidFill>
                <a:schemeClr val="accent2"/>
              </a:solidFill>
            </a:ln>
          </p:spPr>
          <p:txBody>
            <a:bodyPr wrap="square">
              <a:spAutoFit/>
            </a:bodyPr>
            <a:lstStyle/>
            <a:p>
              <a:r>
                <a:rPr lang="zh-CN" altLang="en-US" sz="1000" dirty="0">
                  <a:latin typeface="微軟正黑體" panose="020B0604030504040204" pitchFamily="34" charset="-120"/>
                  <a:ea typeface="微軟正黑體" panose="020B0604030504040204" pitchFamily="34" charset="-120"/>
                </a:rPr>
                <a:t>代表着历史中所有梯度的平方和</a:t>
              </a:r>
              <a:endParaRPr lang="zh-TW" altLang="en-US" sz="1000" dirty="0">
                <a:latin typeface="微軟正黑體" panose="020B0604030504040204" pitchFamily="34" charset="-120"/>
                <a:ea typeface="微軟正黑體" panose="020B0604030504040204" pitchFamily="34" charset="-120"/>
              </a:endParaRPr>
            </a:p>
          </p:txBody>
        </p:sp>
      </p:grpSp>
    </p:spTree>
    <p:extLst>
      <p:ext uri="{BB962C8B-B14F-4D97-AF65-F5344CB8AC3E}">
        <p14:creationId xmlns:p14="http://schemas.microsoft.com/office/powerpoint/2010/main" val="242559800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E53AF-4039-27D5-1E16-7BA7DD68C621}"/>
            </a:ext>
          </a:extLst>
        </p:cNvPr>
        <p:cNvGrpSpPr/>
        <p:nvPr/>
      </p:nvGrpSpPr>
      <p:grpSpPr>
        <a:xfrm>
          <a:off x="0" y="0"/>
          <a:ext cx="0" cy="0"/>
          <a:chOff x="0" y="0"/>
          <a:chExt cx="0" cy="0"/>
        </a:xfrm>
      </p:grpSpPr>
      <p:sp>
        <p:nvSpPr>
          <p:cNvPr id="5" name="標題 1">
            <a:extLst>
              <a:ext uri="{FF2B5EF4-FFF2-40B4-BE49-F238E27FC236}">
                <a16:creationId xmlns:a16="http://schemas.microsoft.com/office/drawing/2014/main" id="{7B7E46A5-10E4-B048-8F53-DB5D36B0BE19}"/>
              </a:ext>
            </a:extLst>
          </p:cNvPr>
          <p:cNvSpPr txBox="1">
            <a:spLocks/>
          </p:cNvSpPr>
          <p:nvPr/>
        </p:nvSpPr>
        <p:spPr>
          <a:xfrm>
            <a:off x="179511" y="116632"/>
            <a:ext cx="6768753"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err="1">
                <a:latin typeface="Noto Sans HK" panose="020B0200000000000000" pitchFamily="34" charset="-120"/>
                <a:ea typeface="Noto Sans HK" panose="020B0200000000000000" pitchFamily="34" charset="-120"/>
                <a:cs typeface="Aharoni" panose="020F0502020204030204" pitchFamily="2" charset="-79"/>
              </a:rPr>
              <a:t>AdamW</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The First Principles of LLMs.</a:t>
            </a:r>
          </a:p>
        </p:txBody>
      </p:sp>
      <p:sp>
        <p:nvSpPr>
          <p:cNvPr id="37" name="文字方塊 36">
            <a:extLst>
              <a:ext uri="{FF2B5EF4-FFF2-40B4-BE49-F238E27FC236}">
                <a16:creationId xmlns:a16="http://schemas.microsoft.com/office/drawing/2014/main" id="{A75477C2-792D-52F1-4CA7-1B7180531EB8}"/>
              </a:ext>
            </a:extLst>
          </p:cNvPr>
          <p:cNvSpPr txBox="1"/>
          <p:nvPr/>
        </p:nvSpPr>
        <p:spPr>
          <a:xfrm>
            <a:off x="2771800" y="2772784"/>
            <a:ext cx="1005212" cy="740351"/>
          </a:xfrm>
          <a:prstGeom prst="rect">
            <a:avLst/>
          </a:prstGeom>
          <a:solidFill>
            <a:schemeClr val="accent3">
              <a:lumMod val="20000"/>
              <a:lumOff val="80000"/>
            </a:schemeClr>
          </a:solidFill>
        </p:spPr>
        <p:txBody>
          <a:bodyPr wrap="none" lIns="0" tIns="0" rIns="0" bIns="0" anchor="ctr" anchorCtr="1">
            <a:noAutofit/>
          </a:bodyPr>
          <a:lstStyle/>
          <a:p>
            <a:pPr algn="ctr"/>
            <a:r>
              <a:rPr lang="en-US" altLang="zh-TW" sz="1200" b="1" dirty="0">
                <a:solidFill>
                  <a:prstClr val="black"/>
                </a:solidFill>
                <a:ea typeface="Cambria Math" panose="02040503050406030204" pitchFamily="18" charset="0"/>
              </a:rPr>
              <a:t>Adam</a:t>
            </a:r>
          </a:p>
          <a:p>
            <a:pPr algn="ct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rPr>
              <a:t>SGD</a:t>
            </a:r>
            <a:r>
              <a:rPr kumimoji="0" lang="zh-TW" altLang="en-US" sz="1000" u="none" strike="noStrike" kern="1200" cap="none" spc="0" normalizeH="0" baseline="0" noProof="0" dirty="0">
                <a:ln>
                  <a:noFill/>
                </a:ln>
                <a:solidFill>
                  <a:prstClr val="black"/>
                </a:solidFill>
                <a:effectLst/>
                <a:uLnTx/>
                <a:uFillTx/>
                <a:ea typeface="Cambria Math" panose="02040503050406030204" pitchFamily="18" charset="0"/>
                <a:cs typeface="+mn-cs"/>
              </a:rPr>
              <a:t> </a:t>
            </a: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rPr>
              <a:t>Momentum</a:t>
            </a:r>
          </a:p>
          <a:p>
            <a:pPr algn="ctr"/>
            <a:r>
              <a:rPr lang="en-US" altLang="zh-TW" sz="1000" dirty="0">
                <a:solidFill>
                  <a:prstClr val="black"/>
                </a:solidFill>
                <a:ea typeface="Cambria Math" panose="02040503050406030204" pitchFamily="18" charset="0"/>
              </a:rPr>
              <a:t>+ </a:t>
            </a:r>
            <a:r>
              <a:rPr lang="en-US" altLang="zh-TW" sz="1000" dirty="0" err="1">
                <a:solidFill>
                  <a:prstClr val="black"/>
                </a:solidFill>
                <a:ea typeface="Cambria Math" panose="02040503050406030204" pitchFamily="18" charset="0"/>
              </a:rPr>
              <a:t>RMSProp</a:t>
            </a:r>
            <a:endPar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71" name="文字方塊 70">
            <a:extLst>
              <a:ext uri="{FF2B5EF4-FFF2-40B4-BE49-F238E27FC236}">
                <a16:creationId xmlns:a16="http://schemas.microsoft.com/office/drawing/2014/main" id="{3EA18BD1-6CA3-B8F0-3C9C-776E7732F598}"/>
              </a:ext>
            </a:extLst>
          </p:cNvPr>
          <p:cNvSpPr txBox="1"/>
          <p:nvPr/>
        </p:nvSpPr>
        <p:spPr>
          <a:xfrm>
            <a:off x="7301833" y="2752702"/>
            <a:ext cx="1005212" cy="740351"/>
          </a:xfrm>
          <a:prstGeom prst="rect">
            <a:avLst/>
          </a:prstGeom>
          <a:solidFill>
            <a:schemeClr val="accent6">
              <a:lumMod val="20000"/>
              <a:lumOff val="80000"/>
            </a:schemeClr>
          </a:solidFill>
        </p:spPr>
        <p:txBody>
          <a:bodyPr wrap="none" lIns="0" tIns="0" rIns="0" bIns="0" anchor="ctr" anchorCtr="1">
            <a:noAutofit/>
          </a:bodyPr>
          <a:lstStyle/>
          <a:p>
            <a:pPr algn="ctr"/>
            <a:r>
              <a:rPr lang="en-US" altLang="zh-TW" sz="1200" b="1" dirty="0" err="1">
                <a:solidFill>
                  <a:prstClr val="black"/>
                </a:solidFill>
                <a:ea typeface="Cambria Math" panose="02040503050406030204" pitchFamily="18" charset="0"/>
              </a:rPr>
              <a:t>AdamW</a:t>
            </a:r>
            <a:endParaRPr lang="en-US" altLang="zh-TW" sz="1200" b="1" dirty="0">
              <a:solidFill>
                <a:prstClr val="black"/>
              </a:solidFill>
              <a:ea typeface="Cambria Math" panose="02040503050406030204" pitchFamily="18" charset="0"/>
            </a:endParaRPr>
          </a:p>
          <a:p>
            <a:pPr algn="ct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rPr>
              <a:t>-</a:t>
            </a:r>
          </a:p>
        </p:txBody>
      </p:sp>
      <p:pic>
        <p:nvPicPr>
          <p:cNvPr id="73" name="圖片 72">
            <a:extLst>
              <a:ext uri="{FF2B5EF4-FFF2-40B4-BE49-F238E27FC236}">
                <a16:creationId xmlns:a16="http://schemas.microsoft.com/office/drawing/2014/main" id="{847D5CFB-EE93-5B26-ABE6-D0768EBAA04C}"/>
              </a:ext>
            </a:extLst>
          </p:cNvPr>
          <p:cNvPicPr>
            <a:picLocks noChangeAspect="1"/>
          </p:cNvPicPr>
          <p:nvPr/>
        </p:nvPicPr>
        <p:blipFill>
          <a:blip r:embed="rId2"/>
          <a:stretch>
            <a:fillRect/>
          </a:stretch>
        </p:blipFill>
        <p:spPr>
          <a:xfrm>
            <a:off x="5724758" y="2458182"/>
            <a:ext cx="3292206" cy="412866"/>
          </a:xfrm>
          <a:prstGeom prst="rect">
            <a:avLst/>
          </a:prstGeom>
          <a:effectLst>
            <a:glow rad="50800">
              <a:schemeClr val="accent6"/>
            </a:glow>
          </a:effectLst>
        </p:spPr>
      </p:pic>
      <p:pic>
        <p:nvPicPr>
          <p:cNvPr id="77" name="圖片 76">
            <a:extLst>
              <a:ext uri="{FF2B5EF4-FFF2-40B4-BE49-F238E27FC236}">
                <a16:creationId xmlns:a16="http://schemas.microsoft.com/office/drawing/2014/main" id="{B357D767-4994-F193-AAB3-2B7E99909C6F}"/>
              </a:ext>
            </a:extLst>
          </p:cNvPr>
          <p:cNvPicPr>
            <a:picLocks noChangeAspect="1"/>
          </p:cNvPicPr>
          <p:nvPr/>
        </p:nvPicPr>
        <p:blipFill>
          <a:blip r:embed="rId3"/>
          <a:stretch>
            <a:fillRect/>
          </a:stretch>
        </p:blipFill>
        <p:spPr>
          <a:xfrm>
            <a:off x="1223559" y="2027987"/>
            <a:ext cx="3791280" cy="843061"/>
          </a:xfrm>
          <a:prstGeom prst="rect">
            <a:avLst/>
          </a:prstGeom>
          <a:effectLst>
            <a:glow rad="127000">
              <a:schemeClr val="accent3"/>
            </a:glow>
          </a:effectLst>
        </p:spPr>
      </p:pic>
    </p:spTree>
    <p:extLst>
      <p:ext uri="{BB962C8B-B14F-4D97-AF65-F5344CB8AC3E}">
        <p14:creationId xmlns:p14="http://schemas.microsoft.com/office/powerpoint/2010/main" val="26607024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53FB2-FFFD-E6EE-95FE-18E3B114936D}"/>
            </a:ext>
          </a:extLst>
        </p:cNvPr>
        <p:cNvGrpSpPr/>
        <p:nvPr/>
      </p:nvGrpSpPr>
      <p:grpSpPr>
        <a:xfrm>
          <a:off x="0" y="0"/>
          <a:ext cx="0" cy="0"/>
          <a:chOff x="0" y="0"/>
          <a:chExt cx="0" cy="0"/>
        </a:xfrm>
      </p:grpSpPr>
      <p:sp>
        <p:nvSpPr>
          <p:cNvPr id="56" name="矩形 55">
            <a:extLst>
              <a:ext uri="{FF2B5EF4-FFF2-40B4-BE49-F238E27FC236}">
                <a16:creationId xmlns:a16="http://schemas.microsoft.com/office/drawing/2014/main" id="{EF4CF63F-298C-E5F6-65A4-53806A694550}"/>
              </a:ext>
            </a:extLst>
          </p:cNvPr>
          <p:cNvSpPr/>
          <p:nvPr/>
        </p:nvSpPr>
        <p:spPr>
          <a:xfrm>
            <a:off x="1979712" y="5085185"/>
            <a:ext cx="465295" cy="825514"/>
          </a:xfrm>
          <a:prstGeom prst="rect">
            <a:avLst/>
          </a:prstGeom>
          <a:solidFill>
            <a:schemeClr val="bg1"/>
          </a:solidFill>
          <a:ln w="38100">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b="1" dirty="0">
                <a:solidFill>
                  <a:schemeClr val="bg1">
                    <a:lumMod val="75000"/>
                  </a:schemeClr>
                </a:solidFill>
                <a:ea typeface="微軟正黑體" panose="020B0604030504040204" pitchFamily="34" charset="-120"/>
              </a:rPr>
              <a:t>X</a:t>
            </a:r>
          </a:p>
        </p:txBody>
      </p:sp>
      <p:sp>
        <p:nvSpPr>
          <p:cNvPr id="2" name="矩形 1">
            <a:extLst>
              <a:ext uri="{FF2B5EF4-FFF2-40B4-BE49-F238E27FC236}">
                <a16:creationId xmlns:a16="http://schemas.microsoft.com/office/drawing/2014/main" id="{30B7A68F-2C27-8CD7-3F28-3A6222FAE057}"/>
              </a:ext>
            </a:extLst>
          </p:cNvPr>
          <p:cNvSpPr/>
          <p:nvPr/>
        </p:nvSpPr>
        <p:spPr>
          <a:xfrm>
            <a:off x="6227799" y="6022050"/>
            <a:ext cx="1119629" cy="221303"/>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FFN(x)*k1</a:t>
            </a:r>
          </a:p>
        </p:txBody>
      </p:sp>
      <p:sp>
        <p:nvSpPr>
          <p:cNvPr id="3" name="矩形 2">
            <a:extLst>
              <a:ext uri="{FF2B5EF4-FFF2-40B4-BE49-F238E27FC236}">
                <a16:creationId xmlns:a16="http://schemas.microsoft.com/office/drawing/2014/main" id="{C9D9E8C0-255B-F8B4-CE7B-95CCB63C99C0}"/>
              </a:ext>
            </a:extLst>
          </p:cNvPr>
          <p:cNvSpPr/>
          <p:nvPr/>
        </p:nvSpPr>
        <p:spPr>
          <a:xfrm>
            <a:off x="7515292" y="6022050"/>
            <a:ext cx="771031" cy="221303"/>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FFN(x)*k2</a:t>
            </a:r>
          </a:p>
        </p:txBody>
      </p:sp>
      <p:sp>
        <p:nvSpPr>
          <p:cNvPr id="4" name="矩形 3">
            <a:extLst>
              <a:ext uri="{FF2B5EF4-FFF2-40B4-BE49-F238E27FC236}">
                <a16:creationId xmlns:a16="http://schemas.microsoft.com/office/drawing/2014/main" id="{BCD56B9F-3CB5-4823-F9B1-6960FDBC0FB5}"/>
              </a:ext>
            </a:extLst>
          </p:cNvPr>
          <p:cNvSpPr/>
          <p:nvPr/>
        </p:nvSpPr>
        <p:spPr>
          <a:xfrm>
            <a:off x="6202530" y="4194205"/>
            <a:ext cx="2083794" cy="1396319"/>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91440" tIns="91440" rIns="0" bIns="0" rtlCol="0" anchor="t" anchorCtr="0">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MoE Router(X)</a:t>
            </a:r>
          </a:p>
        </p:txBody>
      </p:sp>
      <p:sp>
        <p:nvSpPr>
          <p:cNvPr id="5" name="文字方塊 4">
            <a:extLst>
              <a:ext uri="{FF2B5EF4-FFF2-40B4-BE49-F238E27FC236}">
                <a16:creationId xmlns:a16="http://schemas.microsoft.com/office/drawing/2014/main" id="{E91D3EF4-718E-43D3-6A68-4D65ABAEAE94}"/>
              </a:ext>
            </a:extLst>
          </p:cNvPr>
          <p:cNvSpPr txBox="1"/>
          <p:nvPr/>
        </p:nvSpPr>
        <p:spPr>
          <a:xfrm>
            <a:off x="6575500" y="4848653"/>
            <a:ext cx="123404" cy="289683"/>
          </a:xfrm>
          <a:prstGeom prst="rect">
            <a:avLst/>
          </a:prstGeom>
          <a:noFill/>
        </p:spPr>
        <p:txBody>
          <a:bodyPr wrap="none" lIns="0" tIns="0" rIns="0" bIns="0" rtlCol="0" anchor="ctr" anchorCtr="1">
            <a:noAutofit/>
          </a:bodyPr>
          <a:lstStyle/>
          <a:p>
            <a:pPr algn="ctr"/>
            <a:r>
              <a:rPr lang="en-US" altLang="zh-TW" sz="1200" dirty="0">
                <a:latin typeface="Noto Sans HK" panose="020B0200000000000000" pitchFamily="34" charset="-120"/>
                <a:ea typeface="Noto Sans HK" panose="020B0200000000000000" pitchFamily="34" charset="-120"/>
              </a:rPr>
              <a:t>*</a:t>
            </a:r>
            <a:endParaRPr lang="zh-TW" altLang="en-US" sz="1200" dirty="0">
              <a:latin typeface="Noto Sans HK" panose="020B0200000000000000" pitchFamily="34" charset="-120"/>
              <a:ea typeface="Noto Sans HK" panose="020B0200000000000000" pitchFamily="34" charset="-120"/>
            </a:endParaRPr>
          </a:p>
        </p:txBody>
      </p:sp>
      <p:sp>
        <p:nvSpPr>
          <p:cNvPr id="6" name="矩形 5">
            <a:extLst>
              <a:ext uri="{FF2B5EF4-FFF2-40B4-BE49-F238E27FC236}">
                <a16:creationId xmlns:a16="http://schemas.microsoft.com/office/drawing/2014/main" id="{F60B48F6-4AD3-FDBE-6D45-BD5090544A0F}"/>
              </a:ext>
            </a:extLst>
          </p:cNvPr>
          <p:cNvSpPr/>
          <p:nvPr/>
        </p:nvSpPr>
        <p:spPr>
          <a:xfrm>
            <a:off x="7307919" y="4653898"/>
            <a:ext cx="141222" cy="501453"/>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S</a:t>
            </a:r>
            <a:endParaRPr lang="en-US" altLang="zh-TW" sz="1200" b="1" baseline="-25000" dirty="0">
              <a:solidFill>
                <a:schemeClr val="tx1"/>
              </a:solidFill>
              <a:ea typeface="微軟正黑體" panose="020B0604030504040204" pitchFamily="34" charset="-120"/>
            </a:endParaRPr>
          </a:p>
        </p:txBody>
      </p:sp>
      <p:sp>
        <p:nvSpPr>
          <p:cNvPr id="7" name="文字方塊 6">
            <a:extLst>
              <a:ext uri="{FF2B5EF4-FFF2-40B4-BE49-F238E27FC236}">
                <a16:creationId xmlns:a16="http://schemas.microsoft.com/office/drawing/2014/main" id="{38FFBB7D-B5BC-429C-4E65-9D6DC1233F28}"/>
              </a:ext>
            </a:extLst>
          </p:cNvPr>
          <p:cNvSpPr txBox="1"/>
          <p:nvPr/>
        </p:nvSpPr>
        <p:spPr>
          <a:xfrm>
            <a:off x="6202530" y="3180361"/>
            <a:ext cx="307455" cy="300850"/>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P</a:t>
            </a:r>
            <a:r>
              <a:rPr kumimoji="0" lang="en-US" altLang="zh-TW" sz="1400" b="1" u="none" strike="noStrike" kern="1200" cap="none" spc="0" normalizeH="0" baseline="-25000" noProof="0" dirty="0">
                <a:ln>
                  <a:noFill/>
                </a:ln>
                <a:solidFill>
                  <a:prstClr val="black"/>
                </a:solidFill>
                <a:effectLst/>
                <a:uLnTx/>
                <a:uFillTx/>
                <a:ea typeface="Cambria Math" panose="02040503050406030204" pitchFamily="18" charset="0"/>
                <a:cs typeface="+mn-cs"/>
              </a:rPr>
              <a:t>2</a:t>
            </a:r>
            <a:r>
              <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rPr>
              <a:t> =</a:t>
            </a:r>
          </a:p>
        </p:txBody>
      </p:sp>
      <p:sp>
        <p:nvSpPr>
          <p:cNvPr id="8" name="矩形 7">
            <a:extLst>
              <a:ext uri="{FF2B5EF4-FFF2-40B4-BE49-F238E27FC236}">
                <a16:creationId xmlns:a16="http://schemas.microsoft.com/office/drawing/2014/main" id="{35A31170-318B-D58C-C215-E0CD0FCD99FE}"/>
              </a:ext>
            </a:extLst>
          </p:cNvPr>
          <p:cNvSpPr/>
          <p:nvPr/>
        </p:nvSpPr>
        <p:spPr>
          <a:xfrm>
            <a:off x="6291195" y="4653898"/>
            <a:ext cx="254168" cy="501453"/>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X</a:t>
            </a:r>
          </a:p>
        </p:txBody>
      </p:sp>
      <p:sp>
        <p:nvSpPr>
          <p:cNvPr id="9" name="文字方塊 8">
            <a:extLst>
              <a:ext uri="{FF2B5EF4-FFF2-40B4-BE49-F238E27FC236}">
                <a16:creationId xmlns:a16="http://schemas.microsoft.com/office/drawing/2014/main" id="{9C09900E-1DED-6E3E-EA25-EA3C64BC214D}"/>
              </a:ext>
            </a:extLst>
          </p:cNvPr>
          <p:cNvSpPr txBox="1"/>
          <p:nvPr/>
        </p:nvSpPr>
        <p:spPr>
          <a:xfrm>
            <a:off x="7235911" y="5220514"/>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Nx16</a:t>
            </a:r>
          </a:p>
        </p:txBody>
      </p:sp>
      <p:sp>
        <p:nvSpPr>
          <p:cNvPr id="10" name="矩形 9">
            <a:extLst>
              <a:ext uri="{FF2B5EF4-FFF2-40B4-BE49-F238E27FC236}">
                <a16:creationId xmlns:a16="http://schemas.microsoft.com/office/drawing/2014/main" id="{FF0E46EC-89B8-24B6-E892-4D08DC3DBAAE}"/>
              </a:ext>
            </a:extLst>
          </p:cNvPr>
          <p:cNvSpPr/>
          <p:nvPr/>
        </p:nvSpPr>
        <p:spPr>
          <a:xfrm>
            <a:off x="8030793" y="4653898"/>
            <a:ext cx="141222" cy="501453"/>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P</a:t>
            </a:r>
            <a:r>
              <a:rPr lang="en-US" altLang="zh-TW" sz="1200" b="1" baseline="-25000" dirty="0">
                <a:solidFill>
                  <a:schemeClr val="tx1"/>
                </a:solidFill>
                <a:ea typeface="微軟正黑體" panose="020B0604030504040204" pitchFamily="34" charset="-120"/>
              </a:rPr>
              <a:t>2</a:t>
            </a:r>
          </a:p>
        </p:txBody>
      </p:sp>
      <p:sp>
        <p:nvSpPr>
          <p:cNvPr id="11" name="文字方塊 10">
            <a:extLst>
              <a:ext uri="{FF2B5EF4-FFF2-40B4-BE49-F238E27FC236}">
                <a16:creationId xmlns:a16="http://schemas.microsoft.com/office/drawing/2014/main" id="{D585F32F-A502-408B-7DEE-FEA9BA964AF6}"/>
              </a:ext>
            </a:extLst>
          </p:cNvPr>
          <p:cNvSpPr txBox="1"/>
          <p:nvPr/>
        </p:nvSpPr>
        <p:spPr>
          <a:xfrm>
            <a:off x="7481468" y="4749435"/>
            <a:ext cx="502689" cy="155189"/>
          </a:xfrm>
          <a:prstGeom prst="rect">
            <a:avLst/>
          </a:prstGeom>
          <a:noFill/>
        </p:spPr>
        <p:txBody>
          <a:bodyPr wrap="none" lIns="0" tIns="0" rIns="0" bIns="0" rtlCol="0" anchor="ctr" anchorCtr="1">
            <a:noAutofit/>
          </a:bodyPr>
          <a:lstStyle/>
          <a:p>
            <a:pPr algn="ctr"/>
            <a:r>
              <a:rPr lang="en-US" altLang="zh-TW" sz="1000" dirty="0">
                <a:sym typeface="Wingdings" panose="05000000000000000000" pitchFamily="2" charset="2"/>
              </a:rPr>
              <a:t>SoftMax</a:t>
            </a:r>
            <a:endParaRPr lang="zh-TW" altLang="en-US" sz="1000" dirty="0"/>
          </a:p>
        </p:txBody>
      </p:sp>
      <p:cxnSp>
        <p:nvCxnSpPr>
          <p:cNvPr id="13" name="接點: 肘形 12">
            <a:extLst>
              <a:ext uri="{FF2B5EF4-FFF2-40B4-BE49-F238E27FC236}">
                <a16:creationId xmlns:a16="http://schemas.microsoft.com/office/drawing/2014/main" id="{5AB074D7-3E7D-11C6-9321-750F6C36C057}"/>
              </a:ext>
            </a:extLst>
          </p:cNvPr>
          <p:cNvCxnSpPr>
            <a:cxnSpLocks/>
            <a:endCxn id="2" idx="1"/>
          </p:cNvCxnSpPr>
          <p:nvPr/>
        </p:nvCxnSpPr>
        <p:spPr>
          <a:xfrm>
            <a:off x="5736151" y="4720547"/>
            <a:ext cx="491648" cy="1412155"/>
          </a:xfrm>
          <a:prstGeom prst="bentConnector3">
            <a:avLst/>
          </a:prstGeom>
          <a:ln w="25400">
            <a:solidFill>
              <a:schemeClr val="accent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接點: 弧形 13">
            <a:extLst>
              <a:ext uri="{FF2B5EF4-FFF2-40B4-BE49-F238E27FC236}">
                <a16:creationId xmlns:a16="http://schemas.microsoft.com/office/drawing/2014/main" id="{F1AD2B78-2C9A-A675-387C-88CE3529E05E}"/>
              </a:ext>
            </a:extLst>
          </p:cNvPr>
          <p:cNvCxnSpPr>
            <a:cxnSpLocks/>
            <a:stCxn id="20" idx="2"/>
            <a:endCxn id="3" idx="0"/>
          </p:cNvCxnSpPr>
          <p:nvPr/>
        </p:nvCxnSpPr>
        <p:spPr>
          <a:xfrm rot="5400000">
            <a:off x="7694508" y="5609695"/>
            <a:ext cx="618656" cy="206055"/>
          </a:xfrm>
          <a:prstGeom prst="curvedConnector3">
            <a:avLst>
              <a:gd name="adj1" fmla="val 50000"/>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5" name="接點: 弧形 14">
            <a:extLst>
              <a:ext uri="{FF2B5EF4-FFF2-40B4-BE49-F238E27FC236}">
                <a16:creationId xmlns:a16="http://schemas.microsoft.com/office/drawing/2014/main" id="{62B6F707-3B3C-CE48-E8BC-1F3EC56750C5}"/>
              </a:ext>
            </a:extLst>
          </p:cNvPr>
          <p:cNvCxnSpPr>
            <a:cxnSpLocks/>
            <a:stCxn id="20" idx="2"/>
            <a:endCxn id="2" idx="0"/>
          </p:cNvCxnSpPr>
          <p:nvPr/>
        </p:nvCxnSpPr>
        <p:spPr>
          <a:xfrm rot="5400000">
            <a:off x="7137911" y="5053098"/>
            <a:ext cx="618656" cy="1319249"/>
          </a:xfrm>
          <a:prstGeom prst="curvedConnector3">
            <a:avLst>
              <a:gd name="adj1" fmla="val 50000"/>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6" name="標題 1">
            <a:extLst>
              <a:ext uri="{FF2B5EF4-FFF2-40B4-BE49-F238E27FC236}">
                <a16:creationId xmlns:a16="http://schemas.microsoft.com/office/drawing/2014/main" id="{988AD252-6AAC-12D3-6A54-384E435AB021}"/>
              </a:ext>
            </a:extLst>
          </p:cNvPr>
          <p:cNvSpPr txBox="1">
            <a:spLocks/>
          </p:cNvSpPr>
          <p:nvPr/>
        </p:nvSpPr>
        <p:spPr>
          <a:xfrm>
            <a:off x="7059396" y="5806026"/>
            <a:ext cx="368691" cy="153888"/>
          </a:xfrm>
          <a:prstGeom prst="rect">
            <a:avLst/>
          </a:prstGeom>
        </p:spPr>
        <p:txBody>
          <a:bodyPr wrap="none" lIns="0" tIns="0" rIns="0" bIns="0" anchor="ctr" anchorCtr="1">
            <a:spAutoFit/>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000" b="1" dirty="0">
                <a:solidFill>
                  <a:srgbClr val="FF0000"/>
                </a:solidFill>
                <a:latin typeface="Noto Sans HK" panose="020B0200000000000000" pitchFamily="34" charset="-120"/>
                <a:ea typeface="Noto Sans HK" panose="020B0200000000000000" pitchFamily="34" charset="-120"/>
                <a:cs typeface="Arial" panose="020B0604020202020204" pitchFamily="34" charset="0"/>
              </a:rPr>
              <a:t>x 0.08</a:t>
            </a:r>
          </a:p>
        </p:txBody>
      </p:sp>
      <p:sp>
        <p:nvSpPr>
          <p:cNvPr id="17" name="標題 1">
            <a:extLst>
              <a:ext uri="{FF2B5EF4-FFF2-40B4-BE49-F238E27FC236}">
                <a16:creationId xmlns:a16="http://schemas.microsoft.com/office/drawing/2014/main" id="{37CCDACD-CE3A-ABBC-7F87-D14425849903}"/>
              </a:ext>
            </a:extLst>
          </p:cNvPr>
          <p:cNvSpPr txBox="1">
            <a:spLocks/>
          </p:cNvSpPr>
          <p:nvPr/>
        </p:nvSpPr>
        <p:spPr>
          <a:xfrm>
            <a:off x="7947340" y="5806026"/>
            <a:ext cx="368691" cy="153888"/>
          </a:xfrm>
          <a:prstGeom prst="rect">
            <a:avLst/>
          </a:prstGeom>
        </p:spPr>
        <p:txBody>
          <a:bodyPr wrap="none" lIns="0" tIns="0" rIns="0" bIns="0" anchor="ctr" anchorCtr="1">
            <a:spAutoFit/>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000" b="1" dirty="0">
                <a:solidFill>
                  <a:srgbClr val="FF0000"/>
                </a:solidFill>
                <a:latin typeface="Noto Sans HK" panose="020B0200000000000000" pitchFamily="34" charset="-120"/>
                <a:ea typeface="Noto Sans HK" panose="020B0200000000000000" pitchFamily="34" charset="-120"/>
                <a:cs typeface="Arial" panose="020B0604020202020204" pitchFamily="34" charset="0"/>
              </a:rPr>
              <a:t>x 0.92</a:t>
            </a:r>
          </a:p>
        </p:txBody>
      </p:sp>
      <p:sp>
        <p:nvSpPr>
          <p:cNvPr id="18" name="文字方塊 17">
            <a:extLst>
              <a:ext uri="{FF2B5EF4-FFF2-40B4-BE49-F238E27FC236}">
                <a16:creationId xmlns:a16="http://schemas.microsoft.com/office/drawing/2014/main" id="{EBD0AAF9-3F83-3A4B-6993-F26188955CB3}"/>
              </a:ext>
            </a:extLst>
          </p:cNvPr>
          <p:cNvSpPr txBox="1"/>
          <p:nvPr/>
        </p:nvSpPr>
        <p:spPr>
          <a:xfrm>
            <a:off x="6910766" y="4797914"/>
            <a:ext cx="364202" cy="307777"/>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19" name="文字方塊 18">
            <a:extLst>
              <a:ext uri="{FF2B5EF4-FFF2-40B4-BE49-F238E27FC236}">
                <a16:creationId xmlns:a16="http://schemas.microsoft.com/office/drawing/2014/main" id="{23B7FA2A-6E1D-8436-2695-AB694CBC01E5}"/>
              </a:ext>
            </a:extLst>
          </p:cNvPr>
          <p:cNvSpPr txBox="1"/>
          <p:nvPr/>
        </p:nvSpPr>
        <p:spPr>
          <a:xfrm>
            <a:off x="7558838" y="4855196"/>
            <a:ext cx="364202" cy="230750"/>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20" name="文字方塊 19">
            <a:extLst>
              <a:ext uri="{FF2B5EF4-FFF2-40B4-BE49-F238E27FC236}">
                <a16:creationId xmlns:a16="http://schemas.microsoft.com/office/drawing/2014/main" id="{2DDE61CA-7857-ACD8-4BA5-1837949360DF}"/>
              </a:ext>
            </a:extLst>
          </p:cNvPr>
          <p:cNvSpPr txBox="1"/>
          <p:nvPr/>
        </p:nvSpPr>
        <p:spPr>
          <a:xfrm>
            <a:off x="7969703" y="5220514"/>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Nx16</a:t>
            </a:r>
          </a:p>
        </p:txBody>
      </p:sp>
      <p:sp>
        <p:nvSpPr>
          <p:cNvPr id="21" name="文字方塊 20">
            <a:extLst>
              <a:ext uri="{FF2B5EF4-FFF2-40B4-BE49-F238E27FC236}">
                <a16:creationId xmlns:a16="http://schemas.microsoft.com/office/drawing/2014/main" id="{D56AD42F-F5A0-5368-4353-9E57881FA6E5}"/>
              </a:ext>
            </a:extLst>
          </p:cNvPr>
          <p:cNvSpPr txBox="1"/>
          <p:nvPr/>
        </p:nvSpPr>
        <p:spPr>
          <a:xfrm>
            <a:off x="6712616" y="5220514"/>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dx16</a:t>
            </a:r>
          </a:p>
        </p:txBody>
      </p:sp>
      <p:sp>
        <p:nvSpPr>
          <p:cNvPr id="22" name="文字方塊 21">
            <a:extLst>
              <a:ext uri="{FF2B5EF4-FFF2-40B4-BE49-F238E27FC236}">
                <a16:creationId xmlns:a16="http://schemas.microsoft.com/office/drawing/2014/main" id="{CF0AD642-CBF1-EFBA-CC80-09161963EEE7}"/>
              </a:ext>
            </a:extLst>
          </p:cNvPr>
          <p:cNvSpPr txBox="1"/>
          <p:nvPr/>
        </p:nvSpPr>
        <p:spPr>
          <a:xfrm>
            <a:off x="6280384" y="5220514"/>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Nxd</a:t>
            </a:r>
          </a:p>
        </p:txBody>
      </p:sp>
      <p:sp>
        <p:nvSpPr>
          <p:cNvPr id="23" name="文字方塊 22">
            <a:extLst>
              <a:ext uri="{FF2B5EF4-FFF2-40B4-BE49-F238E27FC236}">
                <a16:creationId xmlns:a16="http://schemas.microsoft.com/office/drawing/2014/main" id="{963FA891-12E0-B6CB-B4B8-F2D4EA82BC34}"/>
              </a:ext>
            </a:extLst>
          </p:cNvPr>
          <p:cNvSpPr txBox="1"/>
          <p:nvPr/>
        </p:nvSpPr>
        <p:spPr>
          <a:xfrm>
            <a:off x="6905979" y="4749435"/>
            <a:ext cx="382683" cy="155189"/>
          </a:xfrm>
          <a:prstGeom prst="rect">
            <a:avLst/>
          </a:prstGeom>
          <a:noFill/>
        </p:spPr>
        <p:txBody>
          <a:bodyPr wrap="none" lIns="0" tIns="0" rIns="0" bIns="0" rtlCol="0" anchor="ctr" anchorCtr="1">
            <a:noAutofit/>
          </a:bodyPr>
          <a:lstStyle/>
          <a:p>
            <a:pPr algn="ctr"/>
            <a:r>
              <a:rPr lang="en-US" altLang="zh-TW" sz="1000" dirty="0">
                <a:sym typeface="Wingdings" panose="05000000000000000000" pitchFamily="2" charset="2"/>
              </a:rPr>
              <a:t>Top 2</a:t>
            </a:r>
            <a:endParaRPr lang="zh-TW" altLang="en-US" sz="1000" dirty="0"/>
          </a:p>
        </p:txBody>
      </p:sp>
      <p:sp>
        <p:nvSpPr>
          <p:cNvPr id="24" name="矩形 23">
            <a:extLst>
              <a:ext uri="{FF2B5EF4-FFF2-40B4-BE49-F238E27FC236}">
                <a16:creationId xmlns:a16="http://schemas.microsoft.com/office/drawing/2014/main" id="{51A8739A-B1BC-CF60-2045-EE0CD80942DE}"/>
              </a:ext>
            </a:extLst>
          </p:cNvPr>
          <p:cNvSpPr/>
          <p:nvPr/>
        </p:nvSpPr>
        <p:spPr>
          <a:xfrm>
            <a:off x="6731855" y="4767977"/>
            <a:ext cx="135693" cy="317969"/>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G</a:t>
            </a:r>
            <a:endParaRPr lang="en-US" altLang="zh-TW" sz="1200" b="1" baseline="-25000" dirty="0">
              <a:solidFill>
                <a:schemeClr val="tx1"/>
              </a:solidFill>
              <a:ea typeface="微軟正黑體" panose="020B0604030504040204" pitchFamily="34" charset="-120"/>
            </a:endParaRPr>
          </a:p>
        </p:txBody>
      </p:sp>
      <p:sp>
        <p:nvSpPr>
          <p:cNvPr id="25" name="矩形 24">
            <a:extLst>
              <a:ext uri="{FF2B5EF4-FFF2-40B4-BE49-F238E27FC236}">
                <a16:creationId xmlns:a16="http://schemas.microsoft.com/office/drawing/2014/main" id="{C67B062C-DD24-E639-4308-97680E62C416}"/>
              </a:ext>
            </a:extLst>
          </p:cNvPr>
          <p:cNvSpPr/>
          <p:nvPr/>
        </p:nvSpPr>
        <p:spPr>
          <a:xfrm>
            <a:off x="6525371" y="3920828"/>
            <a:ext cx="2529877" cy="176939"/>
          </a:xfrm>
          <a:prstGeom prst="rect">
            <a:avLst/>
          </a:prstGeom>
          <a:solidFill>
            <a:schemeClr val="accent2">
              <a:lumMod val="20000"/>
              <a:lumOff val="80000"/>
              <a:alpha val="20000"/>
            </a:schemeClr>
          </a:solidFill>
          <a:ln w="1905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lang="en-US" altLang="zh-TW" sz="1000" dirty="0">
              <a:solidFill>
                <a:srgbClr val="FF0000"/>
              </a:solidFill>
              <a:ea typeface="微軟正黑體" panose="020B0604030504040204" pitchFamily="34" charset="-120"/>
            </a:endParaRPr>
          </a:p>
        </p:txBody>
      </p:sp>
      <p:sp>
        <p:nvSpPr>
          <p:cNvPr id="26" name="矩形 25">
            <a:extLst>
              <a:ext uri="{FF2B5EF4-FFF2-40B4-BE49-F238E27FC236}">
                <a16:creationId xmlns:a16="http://schemas.microsoft.com/office/drawing/2014/main" id="{10B2BC11-1E5F-41EC-AC1A-D17A516F9D53}"/>
              </a:ext>
            </a:extLst>
          </p:cNvPr>
          <p:cNvSpPr/>
          <p:nvPr/>
        </p:nvSpPr>
        <p:spPr>
          <a:xfrm>
            <a:off x="6227502" y="6318182"/>
            <a:ext cx="2058821" cy="221302"/>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1">
                    <a:lumMod val="75000"/>
                  </a:schemeClr>
                </a:solidFill>
                <a:effectLst/>
                <a:uLnTx/>
                <a:uFillTx/>
                <a:latin typeface="Calibri"/>
                <a:ea typeface="微軟正黑體" panose="020B0604030504040204" pitchFamily="34" charset="-120"/>
                <a:cs typeface="+mn-cs"/>
              </a:rPr>
              <a:t>… other Experts</a:t>
            </a:r>
          </a:p>
        </p:txBody>
      </p:sp>
      <p:sp>
        <p:nvSpPr>
          <p:cNvPr id="28" name="矩形 27">
            <a:extLst>
              <a:ext uri="{FF2B5EF4-FFF2-40B4-BE49-F238E27FC236}">
                <a16:creationId xmlns:a16="http://schemas.microsoft.com/office/drawing/2014/main" id="{C40958A2-B6F8-C15F-A408-2391FE127946}"/>
              </a:ext>
            </a:extLst>
          </p:cNvPr>
          <p:cNvSpPr/>
          <p:nvPr/>
        </p:nvSpPr>
        <p:spPr>
          <a:xfrm>
            <a:off x="163939" y="5085185"/>
            <a:ext cx="1219699" cy="308828"/>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ctr" defTabSz="1425575" rtl="0" eaLnBrk="1" fontAlgn="auto" latinLnBrk="0" hangingPunct="1">
              <a:lnSpc>
                <a:spcPts val="16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Attention</a:t>
            </a:r>
          </a:p>
        </p:txBody>
      </p:sp>
      <p:sp>
        <p:nvSpPr>
          <p:cNvPr id="30" name="文字方塊 29">
            <a:extLst>
              <a:ext uri="{FF2B5EF4-FFF2-40B4-BE49-F238E27FC236}">
                <a16:creationId xmlns:a16="http://schemas.microsoft.com/office/drawing/2014/main" id="{8F4C6418-8998-8FE3-6A7B-64FA8F82A6B3}"/>
              </a:ext>
            </a:extLst>
          </p:cNvPr>
          <p:cNvSpPr txBox="1"/>
          <p:nvPr/>
        </p:nvSpPr>
        <p:spPr>
          <a:xfrm>
            <a:off x="2476661" y="5757472"/>
            <a:ext cx="123404" cy="289683"/>
          </a:xfrm>
          <a:prstGeom prst="rect">
            <a:avLst/>
          </a:prstGeom>
          <a:noFill/>
        </p:spPr>
        <p:txBody>
          <a:bodyPr wrap="none" lIns="0" tIns="0" rIns="0" bIns="0" rtlCol="0" anchor="ctr" anchorCtr="1">
            <a:noAutofit/>
          </a:bodyPr>
          <a:lstStyle/>
          <a:p>
            <a:pPr algn="ctr"/>
            <a:r>
              <a:rPr lang="en-US" altLang="zh-TW" sz="1200" dirty="0">
                <a:latin typeface="Noto Sans HK" panose="020B0200000000000000" pitchFamily="34" charset="-120"/>
                <a:ea typeface="Noto Sans HK" panose="020B0200000000000000" pitchFamily="34" charset="-120"/>
              </a:rPr>
              <a:t>*</a:t>
            </a:r>
            <a:endParaRPr lang="zh-TW" altLang="en-US" sz="1200" dirty="0">
              <a:latin typeface="Noto Sans HK" panose="020B0200000000000000" pitchFamily="34" charset="-120"/>
              <a:ea typeface="Noto Sans HK" panose="020B0200000000000000" pitchFamily="34" charset="-120"/>
            </a:endParaRPr>
          </a:p>
        </p:txBody>
      </p:sp>
      <p:sp>
        <p:nvSpPr>
          <p:cNvPr id="32" name="矩形 31">
            <a:extLst>
              <a:ext uri="{FF2B5EF4-FFF2-40B4-BE49-F238E27FC236}">
                <a16:creationId xmlns:a16="http://schemas.microsoft.com/office/drawing/2014/main" id="{0373013C-8B67-9741-763C-0B12EBCE06DB}"/>
              </a:ext>
            </a:extLst>
          </p:cNvPr>
          <p:cNvSpPr/>
          <p:nvPr/>
        </p:nvSpPr>
        <p:spPr>
          <a:xfrm>
            <a:off x="4139952" y="5781516"/>
            <a:ext cx="237234" cy="104777"/>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200"/>
              </a:lnSpc>
            </a:pPr>
            <a:r>
              <a:rPr lang="en-US" altLang="zh-TW" sz="1200" b="1" dirty="0">
                <a:solidFill>
                  <a:schemeClr val="tx1"/>
                </a:solidFill>
                <a:ea typeface="微軟正黑體" panose="020B0604030504040204" pitchFamily="34" charset="-120"/>
              </a:rPr>
              <a:t>p</a:t>
            </a:r>
            <a:r>
              <a:rPr lang="en-US" altLang="zh-TW" sz="1200" b="1" baseline="-25000" dirty="0">
                <a:solidFill>
                  <a:schemeClr val="tx1"/>
                </a:solidFill>
                <a:ea typeface="微軟正黑體" panose="020B0604030504040204" pitchFamily="34" charset="-120"/>
              </a:rPr>
              <a:t>6</a:t>
            </a:r>
          </a:p>
        </p:txBody>
      </p:sp>
      <p:sp>
        <p:nvSpPr>
          <p:cNvPr id="36" name="文字方塊 35">
            <a:extLst>
              <a:ext uri="{FF2B5EF4-FFF2-40B4-BE49-F238E27FC236}">
                <a16:creationId xmlns:a16="http://schemas.microsoft.com/office/drawing/2014/main" id="{3D2F62BA-F010-0488-4844-EC55BDB986CD}"/>
              </a:ext>
            </a:extLst>
          </p:cNvPr>
          <p:cNvSpPr txBox="1"/>
          <p:nvPr/>
        </p:nvSpPr>
        <p:spPr>
          <a:xfrm>
            <a:off x="3289568" y="5910416"/>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1x16</a:t>
            </a:r>
          </a:p>
        </p:txBody>
      </p:sp>
      <p:sp>
        <p:nvSpPr>
          <p:cNvPr id="38" name="矩形 37">
            <a:extLst>
              <a:ext uri="{FF2B5EF4-FFF2-40B4-BE49-F238E27FC236}">
                <a16:creationId xmlns:a16="http://schemas.microsoft.com/office/drawing/2014/main" id="{45B14785-C6A4-B1C5-24AE-992CFE5659FA}"/>
              </a:ext>
            </a:extLst>
          </p:cNvPr>
          <p:cNvSpPr/>
          <p:nvPr/>
        </p:nvSpPr>
        <p:spPr>
          <a:xfrm>
            <a:off x="5146979" y="5517232"/>
            <a:ext cx="141222" cy="501453"/>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P</a:t>
            </a:r>
            <a:r>
              <a:rPr lang="en-US" altLang="zh-TW" sz="1200" b="1" baseline="-25000" dirty="0">
                <a:solidFill>
                  <a:schemeClr val="tx1"/>
                </a:solidFill>
                <a:ea typeface="微軟正黑體" panose="020B0604030504040204" pitchFamily="34" charset="-120"/>
              </a:rPr>
              <a:t>2</a:t>
            </a:r>
          </a:p>
        </p:txBody>
      </p:sp>
      <p:sp>
        <p:nvSpPr>
          <p:cNvPr id="40" name="文字方塊 39">
            <a:extLst>
              <a:ext uri="{FF2B5EF4-FFF2-40B4-BE49-F238E27FC236}">
                <a16:creationId xmlns:a16="http://schemas.microsoft.com/office/drawing/2014/main" id="{987CD78A-D1B8-7019-4BA5-AB8D626DB688}"/>
              </a:ext>
            </a:extLst>
          </p:cNvPr>
          <p:cNvSpPr txBox="1"/>
          <p:nvPr/>
        </p:nvSpPr>
        <p:spPr>
          <a:xfrm>
            <a:off x="3618690" y="5612769"/>
            <a:ext cx="502689" cy="155189"/>
          </a:xfrm>
          <a:prstGeom prst="rect">
            <a:avLst/>
          </a:prstGeom>
          <a:noFill/>
        </p:spPr>
        <p:txBody>
          <a:bodyPr wrap="none" lIns="0" tIns="0" rIns="0" bIns="0" rtlCol="0" anchor="ctr" anchorCtr="1">
            <a:noAutofit/>
          </a:bodyPr>
          <a:lstStyle/>
          <a:p>
            <a:pPr algn="ctr"/>
            <a:r>
              <a:rPr lang="en-US" altLang="zh-TW" sz="1000" dirty="0">
                <a:sym typeface="Wingdings" panose="05000000000000000000" pitchFamily="2" charset="2"/>
              </a:rPr>
              <a:t>SoftMax</a:t>
            </a:r>
            <a:endParaRPr lang="zh-TW" altLang="en-US" sz="1000" dirty="0"/>
          </a:p>
        </p:txBody>
      </p:sp>
      <p:sp>
        <p:nvSpPr>
          <p:cNvPr id="42" name="文字方塊 41">
            <a:extLst>
              <a:ext uri="{FF2B5EF4-FFF2-40B4-BE49-F238E27FC236}">
                <a16:creationId xmlns:a16="http://schemas.microsoft.com/office/drawing/2014/main" id="{EB942EEC-3934-C852-76CB-1FA43A3AD8B7}"/>
              </a:ext>
            </a:extLst>
          </p:cNvPr>
          <p:cNvSpPr txBox="1"/>
          <p:nvPr/>
        </p:nvSpPr>
        <p:spPr>
          <a:xfrm>
            <a:off x="2895777" y="5690024"/>
            <a:ext cx="364202" cy="307777"/>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44" name="文字方塊 43">
            <a:extLst>
              <a:ext uri="{FF2B5EF4-FFF2-40B4-BE49-F238E27FC236}">
                <a16:creationId xmlns:a16="http://schemas.microsoft.com/office/drawing/2014/main" id="{A15CDD8B-AEA9-0B19-BAFF-5F6F8D6D0034}"/>
              </a:ext>
            </a:extLst>
          </p:cNvPr>
          <p:cNvSpPr txBox="1"/>
          <p:nvPr/>
        </p:nvSpPr>
        <p:spPr>
          <a:xfrm>
            <a:off x="3696060" y="5718530"/>
            <a:ext cx="364202" cy="230750"/>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46" name="文字方塊 45">
            <a:extLst>
              <a:ext uri="{FF2B5EF4-FFF2-40B4-BE49-F238E27FC236}">
                <a16:creationId xmlns:a16="http://schemas.microsoft.com/office/drawing/2014/main" id="{648AA5D1-F0A1-6492-49D6-AA447F98958C}"/>
              </a:ext>
            </a:extLst>
          </p:cNvPr>
          <p:cNvSpPr txBox="1"/>
          <p:nvPr/>
        </p:nvSpPr>
        <p:spPr>
          <a:xfrm>
            <a:off x="5085889" y="6083848"/>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Nx16</a:t>
            </a:r>
          </a:p>
        </p:txBody>
      </p:sp>
      <p:sp>
        <p:nvSpPr>
          <p:cNvPr id="48" name="文字方塊 47">
            <a:extLst>
              <a:ext uri="{FF2B5EF4-FFF2-40B4-BE49-F238E27FC236}">
                <a16:creationId xmlns:a16="http://schemas.microsoft.com/office/drawing/2014/main" id="{022D2868-93FE-C4EE-F632-DDFE0801E8DA}"/>
              </a:ext>
            </a:extLst>
          </p:cNvPr>
          <p:cNvSpPr txBox="1"/>
          <p:nvPr/>
        </p:nvSpPr>
        <p:spPr>
          <a:xfrm>
            <a:off x="2621457" y="6093578"/>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dx16</a:t>
            </a:r>
          </a:p>
        </p:txBody>
      </p:sp>
      <p:sp>
        <p:nvSpPr>
          <p:cNvPr id="50" name="文字方塊 49">
            <a:extLst>
              <a:ext uri="{FF2B5EF4-FFF2-40B4-BE49-F238E27FC236}">
                <a16:creationId xmlns:a16="http://schemas.microsoft.com/office/drawing/2014/main" id="{A61551E6-B1F1-188D-F847-727557FAC397}"/>
              </a:ext>
            </a:extLst>
          </p:cNvPr>
          <p:cNvSpPr txBox="1"/>
          <p:nvPr/>
        </p:nvSpPr>
        <p:spPr>
          <a:xfrm>
            <a:off x="2070980" y="5910698"/>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1xd</a:t>
            </a:r>
          </a:p>
        </p:txBody>
      </p:sp>
      <p:sp>
        <p:nvSpPr>
          <p:cNvPr id="52" name="文字方塊 51">
            <a:extLst>
              <a:ext uri="{FF2B5EF4-FFF2-40B4-BE49-F238E27FC236}">
                <a16:creationId xmlns:a16="http://schemas.microsoft.com/office/drawing/2014/main" id="{8E9F3E85-D9B1-854A-6767-4576DDCE3A9D}"/>
              </a:ext>
            </a:extLst>
          </p:cNvPr>
          <p:cNvSpPr txBox="1"/>
          <p:nvPr/>
        </p:nvSpPr>
        <p:spPr>
          <a:xfrm>
            <a:off x="2903792" y="5644960"/>
            <a:ext cx="382683" cy="145147"/>
          </a:xfrm>
          <a:prstGeom prst="rect">
            <a:avLst/>
          </a:prstGeom>
          <a:noFill/>
        </p:spPr>
        <p:txBody>
          <a:bodyPr wrap="none" lIns="0" tIns="0" rIns="0" bIns="0" rtlCol="0" anchor="ctr" anchorCtr="1">
            <a:noAutofit/>
          </a:bodyPr>
          <a:lstStyle/>
          <a:p>
            <a:pPr algn="ctr"/>
            <a:r>
              <a:rPr lang="en-US" altLang="zh-TW" sz="1000" dirty="0">
                <a:sym typeface="Wingdings" panose="05000000000000000000" pitchFamily="2" charset="2"/>
              </a:rPr>
              <a:t>Top 2</a:t>
            </a:r>
            <a:endParaRPr lang="zh-TW" altLang="en-US" sz="1000" dirty="0"/>
          </a:p>
        </p:txBody>
      </p:sp>
      <p:sp>
        <p:nvSpPr>
          <p:cNvPr id="54" name="矩形 53">
            <a:extLst>
              <a:ext uri="{FF2B5EF4-FFF2-40B4-BE49-F238E27FC236}">
                <a16:creationId xmlns:a16="http://schemas.microsoft.com/office/drawing/2014/main" id="{DA2D575E-21FF-543B-50A3-3F9CBF7C57A0}"/>
              </a:ext>
            </a:extLst>
          </p:cNvPr>
          <p:cNvSpPr/>
          <p:nvPr/>
        </p:nvSpPr>
        <p:spPr>
          <a:xfrm>
            <a:off x="2627783" y="5617141"/>
            <a:ext cx="222611" cy="467344"/>
          </a:xfrm>
          <a:prstGeom prst="rect">
            <a:avLst/>
          </a:prstGeom>
          <a:solidFill>
            <a:schemeClr val="accent6">
              <a:lumMod val="40000"/>
              <a:lumOff val="6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G</a:t>
            </a:r>
            <a:endParaRPr lang="en-US" altLang="zh-TW" sz="1200" b="1" baseline="-25000" dirty="0">
              <a:solidFill>
                <a:schemeClr val="tx1"/>
              </a:solidFill>
              <a:ea typeface="微軟正黑體" panose="020B0604030504040204" pitchFamily="34" charset="-120"/>
            </a:endParaRPr>
          </a:p>
        </p:txBody>
      </p:sp>
      <p:sp>
        <p:nvSpPr>
          <p:cNvPr id="34" name="矩形 33">
            <a:extLst>
              <a:ext uri="{FF2B5EF4-FFF2-40B4-BE49-F238E27FC236}">
                <a16:creationId xmlns:a16="http://schemas.microsoft.com/office/drawing/2014/main" id="{00BB627C-9C7B-229D-4348-5243254E944E}"/>
              </a:ext>
            </a:extLst>
          </p:cNvPr>
          <p:cNvSpPr/>
          <p:nvPr/>
        </p:nvSpPr>
        <p:spPr>
          <a:xfrm>
            <a:off x="1979712" y="5780347"/>
            <a:ext cx="466030" cy="121967"/>
          </a:xfrm>
          <a:prstGeom prst="rect">
            <a:avLst/>
          </a:prstGeom>
          <a:solidFill>
            <a:schemeClr val="accent2">
              <a:lumMod val="75000"/>
              <a:alpha val="20000"/>
            </a:schemeClr>
          </a:solidFill>
          <a:ln w="25400">
            <a:solidFill>
              <a:schemeClr val="accent2">
                <a:lumMod val="75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X</a:t>
            </a:r>
          </a:p>
        </p:txBody>
      </p:sp>
      <p:sp>
        <p:nvSpPr>
          <p:cNvPr id="58" name="矩形 57">
            <a:extLst>
              <a:ext uri="{FF2B5EF4-FFF2-40B4-BE49-F238E27FC236}">
                <a16:creationId xmlns:a16="http://schemas.microsoft.com/office/drawing/2014/main" id="{BA04D4F6-4DAA-AB3A-5188-3B18E65B8171}"/>
              </a:ext>
            </a:extLst>
          </p:cNvPr>
          <p:cNvSpPr/>
          <p:nvPr/>
        </p:nvSpPr>
        <p:spPr>
          <a:xfrm>
            <a:off x="3318052" y="5784269"/>
            <a:ext cx="215174" cy="104777"/>
          </a:xfrm>
          <a:prstGeom prst="rect">
            <a:avLst/>
          </a:prstGeom>
          <a:solidFill>
            <a:schemeClr val="accent6">
              <a:lumMod val="75000"/>
              <a:alpha val="20000"/>
            </a:schemeClr>
          </a:solidFill>
          <a:ln w="38100">
            <a:solidFill>
              <a:schemeClr val="accent2">
                <a:lumMod val="60000"/>
                <a:lumOff val="4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200"/>
              </a:lnSpc>
            </a:pPr>
            <a:r>
              <a:rPr lang="en-US" altLang="zh-TW" sz="1200" b="1" dirty="0">
                <a:solidFill>
                  <a:schemeClr val="tx1"/>
                </a:solidFill>
                <a:ea typeface="微軟正黑體" panose="020B0604030504040204" pitchFamily="34" charset="-120"/>
              </a:rPr>
              <a:t>S</a:t>
            </a:r>
          </a:p>
        </p:txBody>
      </p:sp>
      <p:sp>
        <p:nvSpPr>
          <p:cNvPr id="31" name="標題 1">
            <a:extLst>
              <a:ext uri="{FF2B5EF4-FFF2-40B4-BE49-F238E27FC236}">
                <a16:creationId xmlns:a16="http://schemas.microsoft.com/office/drawing/2014/main" id="{2D66367A-4E82-77C6-1B8A-1A8EC1990F34}"/>
              </a:ext>
            </a:extLst>
          </p:cNvPr>
          <p:cNvSpPr txBox="1">
            <a:spLocks/>
          </p:cNvSpPr>
          <p:nvPr/>
        </p:nvSpPr>
        <p:spPr>
          <a:xfrm>
            <a:off x="179512" y="116632"/>
            <a:ext cx="8712968"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Newton-Schulz</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An u.</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35" name="文字方塊 34">
            <a:extLst>
              <a:ext uri="{FF2B5EF4-FFF2-40B4-BE49-F238E27FC236}">
                <a16:creationId xmlns:a16="http://schemas.microsoft.com/office/drawing/2014/main" id="{69C77415-596C-9F0A-13A0-E973BFADAA86}"/>
              </a:ext>
            </a:extLst>
          </p:cNvPr>
          <p:cNvSpPr txBox="1"/>
          <p:nvPr/>
        </p:nvSpPr>
        <p:spPr>
          <a:xfrm>
            <a:off x="236725" y="1440646"/>
            <a:ext cx="8280922" cy="1477328"/>
          </a:xfrm>
          <a:prstGeom prst="rect">
            <a:avLst/>
          </a:prstGeom>
          <a:noFill/>
        </p:spPr>
        <p:txBody>
          <a:bodyPr wrap="square">
            <a:spAutoFit/>
          </a:bodyPr>
          <a:lstStyle/>
          <a:p>
            <a:pPr>
              <a:lnSpc>
                <a:spcPts val="1800"/>
              </a:lnSpc>
              <a:spcBef>
                <a:spcPts val="600"/>
              </a:spcBef>
              <a:spcAft>
                <a:spcPts val="600"/>
              </a:spcAft>
              <a:buNone/>
            </a:pPr>
            <a:r>
              <a:rPr lang="en-US" altLang="zh-TW" sz="2000" b="1" u="none" strike="noStrike" dirty="0">
                <a:effectLst/>
              </a:rPr>
              <a:t>Features</a:t>
            </a:r>
          </a:p>
          <a:p>
            <a:pPr marL="285750" indent="-285750">
              <a:lnSpc>
                <a:spcPts val="1800"/>
              </a:lnSpc>
              <a:spcBef>
                <a:spcPts val="600"/>
              </a:spcBef>
              <a:spcAft>
                <a:spcPts val="600"/>
              </a:spcAft>
              <a:buFont typeface="Wingdings" panose="05000000000000000000" pitchFamily="2" charset="2"/>
              <a:buChar char="Ø"/>
            </a:pPr>
            <a:r>
              <a:rPr lang="en-US" altLang="zh-TW" sz="1600" b="1" dirty="0"/>
              <a:t>DeepSeek : </a:t>
            </a:r>
            <a:r>
              <a:rPr lang="en-US" altLang="zh-TW" sz="1600" dirty="0"/>
              <a:t>F-</a:t>
            </a:r>
          </a:p>
          <a:p>
            <a:pPr marL="285750" indent="-285750">
              <a:lnSpc>
                <a:spcPts val="1800"/>
              </a:lnSpc>
              <a:spcBef>
                <a:spcPts val="600"/>
              </a:spcBef>
              <a:spcAft>
                <a:spcPts val="600"/>
              </a:spcAft>
              <a:buFont typeface="Wingdings" panose="05000000000000000000" pitchFamily="2" charset="2"/>
              <a:buChar char="Ø"/>
            </a:pPr>
            <a:r>
              <a:rPr lang="en-US" altLang="zh-TW" sz="1600" b="1" dirty="0"/>
              <a:t>Key Technology:</a:t>
            </a:r>
            <a:r>
              <a:rPr lang="en-US" altLang="zh-TW" sz="1600" dirty="0"/>
              <a:t> </a:t>
            </a:r>
          </a:p>
          <a:p>
            <a:pPr marL="742950" lvl="1" indent="-285750">
              <a:lnSpc>
                <a:spcPts val="1800"/>
              </a:lnSpc>
              <a:spcBef>
                <a:spcPts val="600"/>
              </a:spcBef>
              <a:buFont typeface="Arial" panose="020B0604020202020204" pitchFamily="34" charset="0"/>
              <a:buChar char="•"/>
            </a:pPr>
            <a:r>
              <a:rPr lang="en-US" altLang="zh-TW" sz="1600" dirty="0"/>
              <a:t>Mu</a:t>
            </a:r>
          </a:p>
        </p:txBody>
      </p:sp>
    </p:spTree>
    <p:extLst>
      <p:ext uri="{BB962C8B-B14F-4D97-AF65-F5344CB8AC3E}">
        <p14:creationId xmlns:p14="http://schemas.microsoft.com/office/powerpoint/2010/main" val="66938635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5F4DC-2C5D-1DF8-C13C-2A98212F622C}"/>
            </a:ext>
          </a:extLst>
        </p:cNvPr>
        <p:cNvGrpSpPr/>
        <p:nvPr/>
      </p:nvGrpSpPr>
      <p:grpSpPr>
        <a:xfrm>
          <a:off x="0" y="0"/>
          <a:ext cx="0" cy="0"/>
          <a:chOff x="0" y="0"/>
          <a:chExt cx="0" cy="0"/>
        </a:xfrm>
      </p:grpSpPr>
      <p:sp>
        <p:nvSpPr>
          <p:cNvPr id="31" name="標題 1">
            <a:extLst>
              <a:ext uri="{FF2B5EF4-FFF2-40B4-BE49-F238E27FC236}">
                <a16:creationId xmlns:a16="http://schemas.microsoft.com/office/drawing/2014/main" id="{F34D51B4-CFFC-D6DB-2D03-A832CBED1EFD}"/>
              </a:ext>
            </a:extLst>
          </p:cNvPr>
          <p:cNvSpPr txBox="1">
            <a:spLocks/>
          </p:cNvSpPr>
          <p:nvPr/>
        </p:nvSpPr>
        <p:spPr>
          <a:xfrm>
            <a:off x="179512" y="116632"/>
            <a:ext cx="8712968"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M</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oment</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u</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m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O</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rthogonalized by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N</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ewton-Schulz</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An ultra-fast optimizer for 2D matrices that updates exclusively via Newton-Schulz orthogonalized direction while completely discarding gradient scale.</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39" name="圖片 38">
            <a:extLst>
              <a:ext uri="{FF2B5EF4-FFF2-40B4-BE49-F238E27FC236}">
                <a16:creationId xmlns:a16="http://schemas.microsoft.com/office/drawing/2014/main" id="{F1A33483-58B1-E17F-DEB4-BB4B30FB8180}"/>
              </a:ext>
            </a:extLst>
          </p:cNvPr>
          <p:cNvPicPr>
            <a:picLocks noChangeAspect="1"/>
          </p:cNvPicPr>
          <p:nvPr/>
        </p:nvPicPr>
        <p:blipFill>
          <a:blip r:embed="rId3"/>
          <a:stretch>
            <a:fillRect/>
          </a:stretch>
        </p:blipFill>
        <p:spPr>
          <a:xfrm>
            <a:off x="0" y="2887754"/>
            <a:ext cx="7596336" cy="3637590"/>
          </a:xfrm>
          <a:prstGeom prst="rect">
            <a:avLst/>
          </a:prstGeom>
        </p:spPr>
      </p:pic>
      <p:pic>
        <p:nvPicPr>
          <p:cNvPr id="43" name="圖片 42">
            <a:extLst>
              <a:ext uri="{FF2B5EF4-FFF2-40B4-BE49-F238E27FC236}">
                <a16:creationId xmlns:a16="http://schemas.microsoft.com/office/drawing/2014/main" id="{94C8EA73-D599-5656-F850-1CFC1A026EED}"/>
              </a:ext>
            </a:extLst>
          </p:cNvPr>
          <p:cNvPicPr>
            <a:picLocks noChangeAspect="1"/>
          </p:cNvPicPr>
          <p:nvPr/>
        </p:nvPicPr>
        <p:blipFill>
          <a:blip r:embed="rId4"/>
          <a:stretch>
            <a:fillRect/>
          </a:stretch>
        </p:blipFill>
        <p:spPr>
          <a:xfrm>
            <a:off x="5486826" y="4315270"/>
            <a:ext cx="3621678" cy="2354090"/>
          </a:xfrm>
          <a:prstGeom prst="rect">
            <a:avLst/>
          </a:prstGeom>
        </p:spPr>
      </p:pic>
      <p:pic>
        <p:nvPicPr>
          <p:cNvPr id="3" name="圖片 2">
            <a:extLst>
              <a:ext uri="{FF2B5EF4-FFF2-40B4-BE49-F238E27FC236}">
                <a16:creationId xmlns:a16="http://schemas.microsoft.com/office/drawing/2014/main" id="{2F35AD2E-ABB4-9F25-94C4-94B8A15A67CE}"/>
              </a:ext>
            </a:extLst>
          </p:cNvPr>
          <p:cNvPicPr>
            <a:picLocks noChangeAspect="1"/>
          </p:cNvPicPr>
          <p:nvPr/>
        </p:nvPicPr>
        <p:blipFill>
          <a:blip r:embed="rId5"/>
          <a:stretch>
            <a:fillRect/>
          </a:stretch>
        </p:blipFill>
        <p:spPr>
          <a:xfrm>
            <a:off x="1793042" y="116632"/>
            <a:ext cx="7308304" cy="2682172"/>
          </a:xfrm>
          <a:prstGeom prst="rect">
            <a:avLst/>
          </a:prstGeom>
        </p:spPr>
      </p:pic>
    </p:spTree>
    <p:extLst>
      <p:ext uri="{BB962C8B-B14F-4D97-AF65-F5344CB8AC3E}">
        <p14:creationId xmlns:p14="http://schemas.microsoft.com/office/powerpoint/2010/main" val="126055179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68678-8819-BF86-96FB-0D6B0474C460}"/>
            </a:ext>
          </a:extLst>
        </p:cNvPr>
        <p:cNvGrpSpPr/>
        <p:nvPr/>
      </p:nvGrpSpPr>
      <p:grpSpPr>
        <a:xfrm>
          <a:off x="0" y="0"/>
          <a:ext cx="0" cy="0"/>
          <a:chOff x="0" y="0"/>
          <a:chExt cx="0" cy="0"/>
        </a:xfrm>
      </p:grpSpPr>
      <p:sp>
        <p:nvSpPr>
          <p:cNvPr id="5" name="標題 1">
            <a:extLst>
              <a:ext uri="{FF2B5EF4-FFF2-40B4-BE49-F238E27FC236}">
                <a16:creationId xmlns:a16="http://schemas.microsoft.com/office/drawing/2014/main" id="{5C2D5DB0-B13E-CC8D-BEAD-3CFE1FC01260}"/>
              </a:ext>
            </a:extLst>
          </p:cNvPr>
          <p:cNvSpPr txBox="1">
            <a:spLocks/>
          </p:cNvSpPr>
          <p:nvPr/>
        </p:nvSpPr>
        <p:spPr>
          <a:xfrm>
            <a:off x="179511" y="116632"/>
            <a:ext cx="8784977"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Scaling Law</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Model performance scales predictably with computing power, parameters, and data size.</a:t>
            </a:r>
          </a:p>
        </p:txBody>
      </p:sp>
      <p:pic>
        <p:nvPicPr>
          <p:cNvPr id="9" name="圖片 8">
            <a:extLst>
              <a:ext uri="{FF2B5EF4-FFF2-40B4-BE49-F238E27FC236}">
                <a16:creationId xmlns:a16="http://schemas.microsoft.com/office/drawing/2014/main" id="{C89A2E64-CE39-0D5A-90FD-BC77BBEBB409}"/>
              </a:ext>
            </a:extLst>
          </p:cNvPr>
          <p:cNvPicPr>
            <a:picLocks noChangeAspect="1"/>
          </p:cNvPicPr>
          <p:nvPr/>
        </p:nvPicPr>
        <p:blipFill>
          <a:blip r:embed="rId2"/>
          <a:stretch>
            <a:fillRect/>
          </a:stretch>
        </p:blipFill>
        <p:spPr>
          <a:xfrm>
            <a:off x="3390842" y="1157705"/>
            <a:ext cx="2671000" cy="2042529"/>
          </a:xfrm>
          <a:prstGeom prst="rect">
            <a:avLst/>
          </a:prstGeom>
        </p:spPr>
      </p:pic>
      <p:pic>
        <p:nvPicPr>
          <p:cNvPr id="11" name="圖片 10">
            <a:extLst>
              <a:ext uri="{FF2B5EF4-FFF2-40B4-BE49-F238E27FC236}">
                <a16:creationId xmlns:a16="http://schemas.microsoft.com/office/drawing/2014/main" id="{41C0F3C9-5B35-EEAA-5410-9C94A52BB987}"/>
              </a:ext>
            </a:extLst>
          </p:cNvPr>
          <p:cNvPicPr>
            <a:picLocks noChangeAspect="1"/>
          </p:cNvPicPr>
          <p:nvPr/>
        </p:nvPicPr>
        <p:blipFill>
          <a:blip r:embed="rId3"/>
          <a:stretch>
            <a:fillRect/>
          </a:stretch>
        </p:blipFill>
        <p:spPr>
          <a:xfrm>
            <a:off x="6238776" y="1164576"/>
            <a:ext cx="2679728" cy="2042529"/>
          </a:xfrm>
          <a:prstGeom prst="rect">
            <a:avLst/>
          </a:prstGeom>
        </p:spPr>
      </p:pic>
      <p:pic>
        <p:nvPicPr>
          <p:cNvPr id="13" name="圖片 12">
            <a:extLst>
              <a:ext uri="{FF2B5EF4-FFF2-40B4-BE49-F238E27FC236}">
                <a16:creationId xmlns:a16="http://schemas.microsoft.com/office/drawing/2014/main" id="{22971B65-9602-76A3-B159-4A6787C8241C}"/>
              </a:ext>
            </a:extLst>
          </p:cNvPr>
          <p:cNvPicPr>
            <a:picLocks noChangeAspect="1"/>
          </p:cNvPicPr>
          <p:nvPr/>
        </p:nvPicPr>
        <p:blipFill>
          <a:blip r:embed="rId4"/>
          <a:stretch>
            <a:fillRect/>
          </a:stretch>
        </p:blipFill>
        <p:spPr>
          <a:xfrm>
            <a:off x="225496" y="1163410"/>
            <a:ext cx="2950319" cy="2103630"/>
          </a:xfrm>
          <a:prstGeom prst="rect">
            <a:avLst/>
          </a:prstGeom>
        </p:spPr>
      </p:pic>
      <p:sp>
        <p:nvSpPr>
          <p:cNvPr id="15" name="文字方塊 14">
            <a:extLst>
              <a:ext uri="{FF2B5EF4-FFF2-40B4-BE49-F238E27FC236}">
                <a16:creationId xmlns:a16="http://schemas.microsoft.com/office/drawing/2014/main" id="{3449EE38-D2F0-6E65-391C-051BDCC290D1}"/>
              </a:ext>
            </a:extLst>
          </p:cNvPr>
          <p:cNvSpPr txBox="1"/>
          <p:nvPr/>
        </p:nvSpPr>
        <p:spPr>
          <a:xfrm>
            <a:off x="1011566" y="3290111"/>
            <a:ext cx="1378177" cy="300850"/>
          </a:xfrm>
          <a:prstGeom prst="rect">
            <a:avLst/>
          </a:prstGeom>
          <a:noFill/>
        </p:spPr>
        <p:txBody>
          <a:bodyPr wrap="none" lIns="0" tIns="0" rIns="0" bIns="0" anchor="ctr" anchorCtr="1">
            <a:noAutofit/>
          </a:bodyPr>
          <a:lstStyle/>
          <a:p>
            <a:pPr algn="ctr"/>
            <a:r>
              <a:rPr lang="en-US" altLang="zh-TW" sz="1200" b="1" dirty="0">
                <a:solidFill>
                  <a:prstClr val="black"/>
                </a:solidFill>
                <a:ea typeface="Cambria Math" panose="02040503050406030204" pitchFamily="18" charset="0"/>
              </a:rPr>
              <a:t>Compute</a:t>
            </a:r>
          </a:p>
          <a:p>
            <a:pPr algn="ct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rPr>
              <a:t>PF-days, non-embedding</a:t>
            </a:r>
          </a:p>
        </p:txBody>
      </p:sp>
      <p:sp>
        <p:nvSpPr>
          <p:cNvPr id="17" name="文字方塊 16">
            <a:extLst>
              <a:ext uri="{FF2B5EF4-FFF2-40B4-BE49-F238E27FC236}">
                <a16:creationId xmlns:a16="http://schemas.microsoft.com/office/drawing/2014/main" id="{917CB614-9D91-6082-E732-C1EB9B94CBB2}"/>
              </a:ext>
            </a:extLst>
          </p:cNvPr>
          <p:cNvSpPr txBox="1"/>
          <p:nvPr/>
        </p:nvSpPr>
        <p:spPr>
          <a:xfrm>
            <a:off x="4037253" y="3290111"/>
            <a:ext cx="1378177" cy="300850"/>
          </a:xfrm>
          <a:prstGeom prst="rect">
            <a:avLst/>
          </a:prstGeom>
          <a:noFill/>
        </p:spPr>
        <p:txBody>
          <a:bodyPr wrap="none" lIns="0" tIns="0" rIns="0" bIns="0" anchor="ctr" anchorCtr="1">
            <a:noAutofit/>
          </a:bodyPr>
          <a:lstStyle/>
          <a:p>
            <a:pPr algn="ctr"/>
            <a:r>
              <a:rPr lang="en-US" altLang="zh-TW" sz="1200" b="1" dirty="0">
                <a:solidFill>
                  <a:prstClr val="black"/>
                </a:solidFill>
                <a:ea typeface="Cambria Math" panose="02040503050406030204" pitchFamily="18" charset="0"/>
              </a:rPr>
              <a:t>Dataset Size</a:t>
            </a:r>
          </a:p>
          <a:p>
            <a:pPr algn="ct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rPr>
              <a:t>tokens</a:t>
            </a:r>
          </a:p>
        </p:txBody>
      </p:sp>
      <p:sp>
        <p:nvSpPr>
          <p:cNvPr id="19" name="文字方塊 18">
            <a:extLst>
              <a:ext uri="{FF2B5EF4-FFF2-40B4-BE49-F238E27FC236}">
                <a16:creationId xmlns:a16="http://schemas.microsoft.com/office/drawing/2014/main" id="{873A4A8C-4DB5-C8E4-8137-40158A09AA46}"/>
              </a:ext>
            </a:extLst>
          </p:cNvPr>
          <p:cNvSpPr txBox="1"/>
          <p:nvPr/>
        </p:nvSpPr>
        <p:spPr>
          <a:xfrm>
            <a:off x="6889551" y="3290111"/>
            <a:ext cx="1378177" cy="300850"/>
          </a:xfrm>
          <a:prstGeom prst="rect">
            <a:avLst/>
          </a:prstGeom>
          <a:noFill/>
        </p:spPr>
        <p:txBody>
          <a:bodyPr wrap="none" lIns="0" tIns="0" rIns="0" bIns="0" anchor="ctr" anchorCtr="1">
            <a:noAutofit/>
          </a:bodyPr>
          <a:lstStyle/>
          <a:p>
            <a:pPr algn="ctr"/>
            <a:r>
              <a:rPr lang="en-US" altLang="zh-TW" sz="1200" b="1" dirty="0">
                <a:solidFill>
                  <a:prstClr val="black"/>
                </a:solidFill>
                <a:ea typeface="Cambria Math" panose="02040503050406030204" pitchFamily="18" charset="0"/>
              </a:rPr>
              <a:t>Parameters</a:t>
            </a:r>
          </a:p>
          <a:p>
            <a:pPr algn="ct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rPr>
              <a:t>Non-embedding</a:t>
            </a:r>
          </a:p>
        </p:txBody>
      </p:sp>
    </p:spTree>
    <p:extLst>
      <p:ext uri="{BB962C8B-B14F-4D97-AF65-F5344CB8AC3E}">
        <p14:creationId xmlns:p14="http://schemas.microsoft.com/office/powerpoint/2010/main" val="1328516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E0FC2-98C8-DE7F-80C7-6FE956573D8F}"/>
            </a:ext>
          </a:extLst>
        </p:cNvPr>
        <p:cNvGrpSpPr/>
        <p:nvPr/>
      </p:nvGrpSpPr>
      <p:grpSpPr>
        <a:xfrm>
          <a:off x="0" y="0"/>
          <a:ext cx="0" cy="0"/>
          <a:chOff x="0" y="0"/>
          <a:chExt cx="0" cy="0"/>
        </a:xfrm>
      </p:grpSpPr>
      <p:sp>
        <p:nvSpPr>
          <p:cNvPr id="5" name="標題 1">
            <a:extLst>
              <a:ext uri="{FF2B5EF4-FFF2-40B4-BE49-F238E27FC236}">
                <a16:creationId xmlns:a16="http://schemas.microsoft.com/office/drawing/2014/main" id="{CD152267-BEB6-4217-23CE-D0B8CA573F29}"/>
              </a:ext>
            </a:extLst>
          </p:cNvPr>
          <p:cNvSpPr txBox="1">
            <a:spLocks/>
          </p:cNvSpPr>
          <p:nvPr/>
        </p:nvSpPr>
        <p:spPr>
          <a:xfrm>
            <a:off x="179511" y="116632"/>
            <a:ext cx="8784977"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Chinchilla Law</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To achieve optimal performance, the ratio of model parameters to training tokens must be maintained at a </a:t>
            </a:r>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1:20</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balance.</a:t>
            </a:r>
          </a:p>
        </p:txBody>
      </p:sp>
      <p:sp>
        <p:nvSpPr>
          <p:cNvPr id="3" name="文字方塊 2">
            <a:extLst>
              <a:ext uri="{FF2B5EF4-FFF2-40B4-BE49-F238E27FC236}">
                <a16:creationId xmlns:a16="http://schemas.microsoft.com/office/drawing/2014/main" id="{FA3440C9-814C-1D07-72DD-59A3180D0919}"/>
              </a:ext>
            </a:extLst>
          </p:cNvPr>
          <p:cNvSpPr txBox="1"/>
          <p:nvPr/>
        </p:nvSpPr>
        <p:spPr>
          <a:xfrm>
            <a:off x="2286000" y="1997839"/>
            <a:ext cx="4572000" cy="2862322"/>
          </a:xfrm>
          <a:prstGeom prst="rect">
            <a:avLst/>
          </a:prstGeom>
          <a:noFill/>
        </p:spPr>
        <p:txBody>
          <a:bodyPr wrap="square">
            <a:spAutoFit/>
          </a:bodyPr>
          <a:lstStyle/>
          <a:p>
            <a:r>
              <a:rPr lang="zh-TW" altLang="zh-TW" sz="1200" b="0" u="none" strike="noStrike" kern="1200" dirty="0">
                <a:solidFill>
                  <a:schemeClr val="tx1"/>
                </a:solidFill>
                <a:effectLst/>
                <a:latin typeface="+mn-lt"/>
                <a:ea typeface="+mn-ea"/>
                <a:cs typeface="+mn-cs"/>
              </a:rPr>
              <a:t>2. Chinchilla 戳破的「盲目大模型迷思」</a:t>
            </a:r>
          </a:p>
          <a:p>
            <a:r>
              <a:rPr lang="zh-TW" altLang="zh-TW" sz="1200" b="0" u="none" strike="noStrike" kern="1200" dirty="0">
                <a:solidFill>
                  <a:schemeClr val="tx1"/>
                </a:solidFill>
                <a:effectLst/>
                <a:latin typeface="+mn-lt"/>
                <a:ea typeface="+mn-ea"/>
                <a:cs typeface="+mn-cs"/>
              </a:rPr>
              <a:t>在 Chinchilla 出現之前（2020~2021年），以 OpenAI 的 </a:t>
            </a:r>
            <a:r>
              <a:rPr lang="zh-TW" altLang="zh-TW" sz="1200" b="1" u="none" strike="noStrike" kern="1200" dirty="0">
                <a:solidFill>
                  <a:schemeClr val="tx1"/>
                </a:solidFill>
                <a:effectLst/>
                <a:latin typeface="+mn-lt"/>
                <a:ea typeface="+mn-ea"/>
                <a:cs typeface="+mn-cs"/>
              </a:rPr>
              <a:t>GPT-3（1750億參數）</a:t>
            </a:r>
            <a:r>
              <a:rPr lang="zh-TW" altLang="zh-TW" sz="1200" b="0" u="none" strike="noStrike" kern="1200" dirty="0">
                <a:solidFill>
                  <a:schemeClr val="tx1"/>
                </a:solidFill>
                <a:effectLst/>
                <a:latin typeface="+mn-lt"/>
                <a:ea typeface="+mn-ea"/>
                <a:cs typeface="+mn-cs"/>
              </a:rPr>
              <a:t> 為首，全世界的科技巨頭都陷入了「參數軍備競賽」，認為參數越多模型越強。</a:t>
            </a:r>
            <a:br>
              <a:rPr lang="zh-TW"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但 DeepMind 團隊做了一個實驗：他們做了一個只有 </a:t>
            </a:r>
            <a:r>
              <a:rPr lang="zh-TW" altLang="zh-TW" sz="1200" b="1" u="none" strike="noStrike" kern="1200" dirty="0">
                <a:solidFill>
                  <a:schemeClr val="tx1"/>
                </a:solidFill>
                <a:effectLst/>
                <a:latin typeface="+mn-lt"/>
                <a:ea typeface="+mn-ea"/>
                <a:cs typeface="+mn-cs"/>
              </a:rPr>
              <a:t>700 億參數（70B）</a:t>
            </a:r>
            <a:r>
              <a:rPr lang="zh-TW" altLang="zh-TW" sz="1200" b="0" u="none" strike="noStrike" kern="1200" dirty="0">
                <a:solidFill>
                  <a:schemeClr val="tx1"/>
                </a:solidFill>
                <a:effectLst/>
                <a:latin typeface="+mn-lt"/>
                <a:ea typeface="+mn-ea"/>
                <a:cs typeface="+mn-cs"/>
              </a:rPr>
              <a:t> 的模型，命名為 </a:t>
            </a:r>
            <a:r>
              <a:rPr lang="zh-TW" altLang="zh-TW" sz="1200" b="1" u="none" strike="noStrike" kern="1200" dirty="0">
                <a:solidFill>
                  <a:schemeClr val="tx1"/>
                </a:solidFill>
                <a:effectLst/>
                <a:latin typeface="+mn-lt"/>
                <a:ea typeface="+mn-ea"/>
                <a:cs typeface="+mn-cs"/>
              </a:rPr>
              <a:t>Chinchilla</a:t>
            </a:r>
            <a:r>
              <a:rPr lang="zh-TW" altLang="zh-TW" sz="1200" b="0" u="none" strike="noStrike" kern="1200" dirty="0">
                <a:solidFill>
                  <a:schemeClr val="tx1"/>
                </a:solidFill>
                <a:effectLst/>
                <a:latin typeface="+mn-lt"/>
                <a:ea typeface="+mn-ea"/>
                <a:cs typeface="+mn-cs"/>
              </a:rPr>
              <a:t>，卻餵給它高達 </a:t>
            </a:r>
            <a:r>
              <a:rPr lang="zh-TW" altLang="zh-TW" sz="1200" b="1" u="none" strike="noStrike" kern="1200" dirty="0">
                <a:solidFill>
                  <a:schemeClr val="tx1"/>
                </a:solidFill>
                <a:effectLst/>
                <a:latin typeface="+mn-lt"/>
                <a:ea typeface="+mn-ea"/>
                <a:cs typeface="+mn-cs"/>
              </a:rPr>
              <a:t>1.4 兆（1.4T）個 Token</a:t>
            </a:r>
            <a:r>
              <a:rPr lang="zh-TW" altLang="zh-TW" sz="1200" b="0" u="none" strike="noStrike" kern="1200" dirty="0">
                <a:solidFill>
                  <a:schemeClr val="tx1"/>
                </a:solidFill>
                <a:effectLst/>
                <a:latin typeface="+mn-lt"/>
                <a:ea typeface="+mn-ea"/>
                <a:cs typeface="+mn-cs"/>
              </a:rPr>
              <a:t> 的數據。</a:t>
            </a:r>
          </a:p>
          <a:p>
            <a:r>
              <a:rPr lang="zh-TW" altLang="zh-TW" sz="1200" b="0" u="none" strike="noStrike" kern="1200" dirty="0">
                <a:solidFill>
                  <a:schemeClr val="tx1"/>
                </a:solidFill>
                <a:effectLst/>
                <a:latin typeface="+mn-lt"/>
                <a:ea typeface="+mn-ea"/>
                <a:cs typeface="+mn-cs"/>
              </a:rPr>
              <a:t>結果震驚了整個 AI 界：</a:t>
            </a:r>
            <a:r>
              <a:rPr lang="zh-TW" altLang="zh-TW" sz="1200" b="1" u="none" strike="noStrike" kern="1200" dirty="0">
                <a:solidFill>
                  <a:schemeClr val="tx1"/>
                </a:solidFill>
                <a:effectLst/>
                <a:latin typeface="+mn-lt"/>
                <a:ea typeface="+mn-ea"/>
                <a:cs typeface="+mn-cs"/>
              </a:rPr>
              <a:t>只有 GPT-3 不到一半體積的 Chinchilla，在各項下游任務的表現上，完爆了 GPT-3。</a:t>
            </a:r>
            <a:endParaRPr lang="zh-TW" altLang="zh-TW" sz="1200" b="0" u="none" strike="noStrike" kern="1200" dirty="0">
              <a:solidFill>
                <a:schemeClr val="tx1"/>
              </a:solidFill>
              <a:effectLst/>
              <a:latin typeface="+mn-lt"/>
              <a:ea typeface="+mn-ea"/>
              <a:cs typeface="+mn-cs"/>
            </a:endParaRPr>
          </a:p>
          <a:p>
            <a:r>
              <a:rPr lang="zh-TW" altLang="zh-TW" sz="1200" b="0" u="none" strike="noStrike" kern="1200" dirty="0">
                <a:solidFill>
                  <a:schemeClr val="tx1"/>
                </a:solidFill>
                <a:effectLst/>
                <a:latin typeface="+mn-lt"/>
                <a:ea typeface="+mn-ea"/>
                <a:cs typeface="+mn-cs"/>
              </a:rPr>
              <a:t>3. 陳章博士必講的 Chinchilla 核心技術結論</a:t>
            </a:r>
          </a:p>
          <a:p>
            <a:r>
              <a:rPr lang="zh-TW" altLang="zh-TW" sz="1200" b="0" u="none" strike="noStrike" kern="1200" dirty="0">
                <a:solidFill>
                  <a:schemeClr val="tx1"/>
                </a:solidFill>
                <a:effectLst/>
                <a:latin typeface="+mn-lt"/>
                <a:ea typeface="+mn-ea"/>
                <a:cs typeface="+mn-cs"/>
              </a:rPr>
              <a:t>這篇論文推導出了大模型訓練的</a:t>
            </a:r>
            <a:r>
              <a:rPr lang="zh-TW" altLang="zh-TW" sz="1200" b="1" u="none" strike="noStrike" kern="1200" dirty="0">
                <a:solidFill>
                  <a:schemeClr val="tx1"/>
                </a:solidFill>
                <a:effectLst/>
                <a:latin typeface="+mn-lt"/>
                <a:ea typeface="+mn-ea"/>
                <a:cs typeface="+mn-cs"/>
              </a:rPr>
              <a:t>「黃金比例」</a:t>
            </a:r>
            <a:r>
              <a:rPr lang="zh-TW" altLang="zh-TW" sz="1200" b="0" u="none" strike="noStrike" kern="1200" dirty="0">
                <a:solidFill>
                  <a:schemeClr val="tx1"/>
                </a:solidFill>
                <a:effectLst/>
                <a:latin typeface="+mn-lt"/>
                <a:ea typeface="+mn-ea"/>
                <a:cs typeface="+mn-cs"/>
              </a:rPr>
              <a:t>（也就是所謂的 Chinchilla Optimal）：</a:t>
            </a:r>
          </a:p>
          <a:p>
            <a:pPr lvl="0"/>
            <a:r>
              <a:rPr lang="zh-TW" altLang="zh-TW" sz="1200" b="1" u="none" strike="noStrike" kern="1200" dirty="0">
                <a:solidFill>
                  <a:schemeClr val="tx1"/>
                </a:solidFill>
                <a:effectLst/>
                <a:latin typeface="+mn-lt"/>
                <a:ea typeface="+mn-ea"/>
                <a:cs typeface="+mn-cs"/>
              </a:rPr>
              <a:t>以前的錯誤</a:t>
            </a:r>
            <a:r>
              <a:rPr lang="zh-TW" altLang="zh-TW" sz="1200" b="0" u="none" strike="noStrike" kern="1200" dirty="0">
                <a:solidFill>
                  <a:schemeClr val="tx1"/>
                </a:solidFill>
                <a:effectLst/>
                <a:latin typeface="+mn-lt"/>
                <a:ea typeface="+mn-ea"/>
                <a:cs typeface="+mn-cs"/>
              </a:rPr>
              <a:t>：大家把預算（計算資源）都拿去加大模型參數，結果數據沒給夠，導致模型就像「一個空有極高智商，卻沒讀過幾本書的神童」，嚴重</a:t>
            </a:r>
            <a:r>
              <a:rPr lang="zh-TW" altLang="zh-TW" sz="1200" b="1" u="none" strike="noStrike" kern="1200" dirty="0">
                <a:solidFill>
                  <a:schemeClr val="tx1"/>
                </a:solidFill>
                <a:effectLst/>
                <a:latin typeface="+mn-lt"/>
                <a:ea typeface="+mn-ea"/>
                <a:cs typeface="+mn-cs"/>
              </a:rPr>
              <a:t>訓練不足（Undertrained）</a:t>
            </a:r>
            <a:r>
              <a:rPr lang="zh-TW" altLang="zh-TW" sz="1200" b="0" u="none" strike="noStrike" kern="1200" dirty="0">
                <a:solidFill>
                  <a:schemeClr val="tx1"/>
                </a:solidFill>
                <a:effectLst/>
                <a:latin typeface="+mn-lt"/>
                <a:ea typeface="+mn-ea"/>
                <a:cs typeface="+mn-cs"/>
              </a:rPr>
              <a:t>。</a:t>
            </a:r>
          </a:p>
        </p:txBody>
      </p:sp>
    </p:spTree>
    <p:extLst>
      <p:ext uri="{BB962C8B-B14F-4D97-AF65-F5344CB8AC3E}">
        <p14:creationId xmlns:p14="http://schemas.microsoft.com/office/powerpoint/2010/main" val="37342159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25A7D983-02B0-5CC5-0F21-9C63F71FCEC8}"/>
              </a:ext>
            </a:extLst>
          </p:cNvPr>
          <p:cNvSpPr txBox="1">
            <a:spLocks/>
          </p:cNvSpPr>
          <p:nvPr/>
        </p:nvSpPr>
        <p:spPr>
          <a:xfrm>
            <a:off x="79481" y="183631"/>
            <a:ext cx="6768753"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Chinchilla vs Gopher</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K ..</a:t>
            </a:r>
          </a:p>
        </p:txBody>
      </p:sp>
      <p:sp>
        <p:nvSpPr>
          <p:cNvPr id="15" name="文字方塊 14">
            <a:extLst>
              <a:ext uri="{FF2B5EF4-FFF2-40B4-BE49-F238E27FC236}">
                <a16:creationId xmlns:a16="http://schemas.microsoft.com/office/drawing/2014/main" id="{1B588763-430B-C125-9DA4-C1F7BDB448EC}"/>
              </a:ext>
            </a:extLst>
          </p:cNvPr>
          <p:cNvSpPr txBox="1"/>
          <p:nvPr/>
        </p:nvSpPr>
        <p:spPr>
          <a:xfrm>
            <a:off x="970249" y="5157192"/>
            <a:ext cx="1378177" cy="300850"/>
          </a:xfrm>
          <a:prstGeom prst="rect">
            <a:avLst/>
          </a:prstGeom>
          <a:noFill/>
        </p:spPr>
        <p:txBody>
          <a:bodyPr wrap="none" lIns="0" tIns="0" rIns="0" bIns="0" anchor="ctr" anchorCtr="1">
            <a:noAutofit/>
          </a:bodyPr>
          <a:lstStyle/>
          <a:p>
            <a:pPr algn="ctr"/>
            <a:r>
              <a:rPr lang="en-US" altLang="zh-TW" sz="1200" b="1" dirty="0">
                <a:solidFill>
                  <a:prstClr val="black"/>
                </a:solidFill>
                <a:ea typeface="Cambria Math" panose="02040503050406030204" pitchFamily="18" charset="0"/>
              </a:rPr>
              <a:t>Compute</a:t>
            </a:r>
          </a:p>
          <a:p>
            <a:pPr algn="ct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rPr>
              <a:t>PF-days, non-embedding</a:t>
            </a:r>
          </a:p>
        </p:txBody>
      </p:sp>
      <p:sp>
        <p:nvSpPr>
          <p:cNvPr id="17" name="文字方塊 16">
            <a:extLst>
              <a:ext uri="{FF2B5EF4-FFF2-40B4-BE49-F238E27FC236}">
                <a16:creationId xmlns:a16="http://schemas.microsoft.com/office/drawing/2014/main" id="{FBF60411-7274-612C-05BC-B94FCB38646E}"/>
              </a:ext>
            </a:extLst>
          </p:cNvPr>
          <p:cNvSpPr txBox="1"/>
          <p:nvPr/>
        </p:nvSpPr>
        <p:spPr>
          <a:xfrm>
            <a:off x="3995936" y="5157192"/>
            <a:ext cx="1378177" cy="300850"/>
          </a:xfrm>
          <a:prstGeom prst="rect">
            <a:avLst/>
          </a:prstGeom>
          <a:noFill/>
        </p:spPr>
        <p:txBody>
          <a:bodyPr wrap="none" lIns="0" tIns="0" rIns="0" bIns="0" anchor="ctr" anchorCtr="1">
            <a:noAutofit/>
          </a:bodyPr>
          <a:lstStyle/>
          <a:p>
            <a:pPr algn="ctr"/>
            <a:r>
              <a:rPr lang="en-US" altLang="zh-TW" sz="1200" b="1" dirty="0">
                <a:solidFill>
                  <a:prstClr val="black"/>
                </a:solidFill>
                <a:ea typeface="Cambria Math" panose="02040503050406030204" pitchFamily="18" charset="0"/>
              </a:rPr>
              <a:t>Dataset Size</a:t>
            </a:r>
          </a:p>
          <a:p>
            <a:pPr algn="ct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rPr>
              <a:t>tokens</a:t>
            </a:r>
          </a:p>
        </p:txBody>
      </p:sp>
      <p:sp>
        <p:nvSpPr>
          <p:cNvPr id="19" name="文字方塊 18">
            <a:extLst>
              <a:ext uri="{FF2B5EF4-FFF2-40B4-BE49-F238E27FC236}">
                <a16:creationId xmlns:a16="http://schemas.microsoft.com/office/drawing/2014/main" id="{1C9A1B35-6087-4D88-BC6D-A9C51BE8DB7C}"/>
              </a:ext>
            </a:extLst>
          </p:cNvPr>
          <p:cNvSpPr txBox="1"/>
          <p:nvPr/>
        </p:nvSpPr>
        <p:spPr>
          <a:xfrm>
            <a:off x="6848234" y="5157192"/>
            <a:ext cx="1378177" cy="300850"/>
          </a:xfrm>
          <a:prstGeom prst="rect">
            <a:avLst/>
          </a:prstGeom>
          <a:noFill/>
        </p:spPr>
        <p:txBody>
          <a:bodyPr wrap="none" lIns="0" tIns="0" rIns="0" bIns="0" anchor="ctr" anchorCtr="1">
            <a:noAutofit/>
          </a:bodyPr>
          <a:lstStyle/>
          <a:p>
            <a:pPr algn="ctr"/>
            <a:r>
              <a:rPr lang="en-US" altLang="zh-TW" sz="1200" b="1" dirty="0">
                <a:solidFill>
                  <a:prstClr val="black"/>
                </a:solidFill>
                <a:ea typeface="Cambria Math" panose="02040503050406030204" pitchFamily="18" charset="0"/>
              </a:rPr>
              <a:t>Parameters</a:t>
            </a:r>
          </a:p>
          <a:p>
            <a:pPr algn="ct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rPr>
              <a:t>Non-embedding</a:t>
            </a:r>
          </a:p>
        </p:txBody>
      </p:sp>
      <p:sp>
        <p:nvSpPr>
          <p:cNvPr id="23" name="文字方塊 22">
            <a:extLst>
              <a:ext uri="{FF2B5EF4-FFF2-40B4-BE49-F238E27FC236}">
                <a16:creationId xmlns:a16="http://schemas.microsoft.com/office/drawing/2014/main" id="{03C2125C-8CFE-D3FC-DE92-F4581EB15102}"/>
              </a:ext>
            </a:extLst>
          </p:cNvPr>
          <p:cNvSpPr txBox="1"/>
          <p:nvPr/>
        </p:nvSpPr>
        <p:spPr>
          <a:xfrm>
            <a:off x="970249" y="5805669"/>
            <a:ext cx="1378177" cy="498524"/>
          </a:xfrm>
          <a:prstGeom prst="rect">
            <a:avLst/>
          </a:prstGeom>
          <a:noFill/>
        </p:spPr>
        <p:txBody>
          <a:bodyPr wrap="none" lIns="0" tIns="0" rIns="0" bIns="0" anchor="ctr" anchorCtr="1">
            <a:noAutofit/>
          </a:bodyPr>
          <a:lstStyle/>
          <a:p>
            <a:pPr algn="ctr"/>
            <a:r>
              <a:rPr lang="en-US" altLang="zh-TW" sz="1200" b="1" dirty="0">
                <a:solidFill>
                  <a:prstClr val="black"/>
                </a:solidFill>
                <a:ea typeface="Cambria Math" panose="02040503050406030204" pitchFamily="18" charset="0"/>
              </a:rPr>
              <a:t>Token</a:t>
            </a:r>
          </a:p>
          <a:p>
            <a:pPr algn="ctr"/>
            <a:r>
              <a:rPr lang="en-US" altLang="zh-TW" sz="1200" b="1" dirty="0">
                <a:solidFill>
                  <a:prstClr val="black"/>
                </a:solidFill>
                <a:ea typeface="Cambria Math" panose="02040503050406030204" pitchFamily="18" charset="0"/>
              </a:rPr>
              <a:t>Efficiency</a:t>
            </a:r>
          </a:p>
          <a:p>
            <a:pPr algn="ctr"/>
            <a:r>
              <a:rPr lang="en-US" altLang="zh-TW" sz="1000" dirty="0">
                <a:solidFill>
                  <a:prstClr val="black"/>
                </a:solidFill>
                <a:ea typeface="Cambria Math" panose="02040503050406030204" pitchFamily="18" charset="0"/>
              </a:rPr>
              <a:t>l</a:t>
            </a:r>
            <a:r>
              <a:rPr kumimoji="0" lang="en-US" altLang="zh-TW" sz="1000" u="none" strike="noStrike" kern="1200" cap="none" spc="0" normalizeH="0" baseline="0" noProof="0" dirty="0" err="1">
                <a:ln>
                  <a:noFill/>
                </a:ln>
                <a:solidFill>
                  <a:prstClr val="black"/>
                </a:solidFill>
                <a:effectLst/>
                <a:uLnTx/>
                <a:uFillTx/>
                <a:ea typeface="Cambria Math" panose="02040503050406030204" pitchFamily="18" charset="0"/>
                <a:cs typeface="+mn-cs"/>
              </a:rPr>
              <a:t>og</a:t>
            </a: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rPr>
              <a:t>(Loss) </a:t>
            </a: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sym typeface="Wingdings" panose="05000000000000000000" pitchFamily="2" charset="2"/>
              </a:rPr>
              <a:t> log(Training tokens)</a:t>
            </a:r>
            <a:endPar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7" name="文字方塊 26">
            <a:extLst>
              <a:ext uri="{FF2B5EF4-FFF2-40B4-BE49-F238E27FC236}">
                <a16:creationId xmlns:a16="http://schemas.microsoft.com/office/drawing/2014/main" id="{350DA7CC-4E6F-1006-E418-FB6BBE36A6FF}"/>
              </a:ext>
            </a:extLst>
          </p:cNvPr>
          <p:cNvSpPr txBox="1"/>
          <p:nvPr/>
        </p:nvSpPr>
        <p:spPr>
          <a:xfrm>
            <a:off x="4026627" y="5805669"/>
            <a:ext cx="1378177" cy="498524"/>
          </a:xfrm>
          <a:prstGeom prst="rect">
            <a:avLst/>
          </a:prstGeom>
          <a:noFill/>
        </p:spPr>
        <p:txBody>
          <a:bodyPr wrap="none" lIns="0" tIns="0" rIns="0" bIns="0" anchor="ctr" anchorCtr="1">
            <a:noAutofit/>
          </a:bodyPr>
          <a:lstStyle/>
          <a:p>
            <a:pPr algn="ctr"/>
            <a:r>
              <a:rPr lang="en-US" altLang="zh-TW" sz="1200" b="1" dirty="0">
                <a:solidFill>
                  <a:prstClr val="black"/>
                </a:solidFill>
                <a:ea typeface="Cambria Math" panose="02040503050406030204" pitchFamily="18" charset="0"/>
              </a:rPr>
              <a:t>Long</a:t>
            </a:r>
          </a:p>
          <a:p>
            <a:pPr algn="ctr"/>
            <a:r>
              <a:rPr lang="en-US" altLang="zh-TW" sz="1200" b="1" dirty="0">
                <a:solidFill>
                  <a:prstClr val="black"/>
                </a:solidFill>
                <a:ea typeface="Cambria Math" panose="02040503050406030204" pitchFamily="18" charset="0"/>
              </a:rPr>
              <a:t>Context</a:t>
            </a:r>
          </a:p>
          <a:p>
            <a:pPr algn="ctr"/>
            <a:r>
              <a:rPr lang="en-US" altLang="zh-TW" sz="1000" dirty="0">
                <a:solidFill>
                  <a:prstClr val="black"/>
                </a:solidFill>
                <a:ea typeface="Cambria Math" panose="02040503050406030204" pitchFamily="18" charset="0"/>
              </a:rPr>
              <a:t>Position Loss/token  </a:t>
            </a:r>
            <a:r>
              <a:rPr lang="en-US" altLang="zh-TW" sz="1000" dirty="0">
                <a:solidFill>
                  <a:prstClr val="black"/>
                </a:solidFill>
                <a:ea typeface="Cambria Math" panose="02040503050406030204" pitchFamily="18" charset="0"/>
                <a:sym typeface="Wingdings" panose="05000000000000000000" pitchFamily="2" charset="2"/>
              </a:rPr>
              <a:t> Context position</a:t>
            </a:r>
            <a:endParaRPr lang="en-US" altLang="zh-TW" sz="1000" dirty="0">
              <a:solidFill>
                <a:prstClr val="black"/>
              </a:solidFill>
              <a:ea typeface="Cambria Math" panose="02040503050406030204" pitchFamily="18" charset="0"/>
            </a:endParaRPr>
          </a:p>
        </p:txBody>
      </p:sp>
      <p:sp>
        <p:nvSpPr>
          <p:cNvPr id="33" name="文字方塊 32">
            <a:extLst>
              <a:ext uri="{FF2B5EF4-FFF2-40B4-BE49-F238E27FC236}">
                <a16:creationId xmlns:a16="http://schemas.microsoft.com/office/drawing/2014/main" id="{F2208DFA-2BB8-CD97-2D57-8FAA0EF79701}"/>
              </a:ext>
            </a:extLst>
          </p:cNvPr>
          <p:cNvSpPr txBox="1"/>
          <p:nvPr/>
        </p:nvSpPr>
        <p:spPr>
          <a:xfrm>
            <a:off x="6968930" y="5805368"/>
            <a:ext cx="1378177" cy="498524"/>
          </a:xfrm>
          <a:prstGeom prst="rect">
            <a:avLst/>
          </a:prstGeom>
          <a:noFill/>
        </p:spPr>
        <p:txBody>
          <a:bodyPr wrap="none" lIns="0" tIns="0" rIns="0" bIns="0" anchor="ctr" anchorCtr="1">
            <a:noAutofit/>
          </a:bodyPr>
          <a:lstStyle/>
          <a:p>
            <a:pPr algn="ctr"/>
            <a:r>
              <a:rPr lang="en-US" altLang="zh-TW" sz="1200" b="1" dirty="0">
                <a:solidFill>
                  <a:prstClr val="black"/>
                </a:solidFill>
                <a:ea typeface="Cambria Math" panose="02040503050406030204" pitchFamily="18" charset="0"/>
              </a:rPr>
              <a:t>Agent</a:t>
            </a:r>
          </a:p>
          <a:p>
            <a:pPr algn="ctr"/>
            <a:r>
              <a:rPr lang="en-US" altLang="zh-TW" sz="1200" b="1" dirty="0">
                <a:solidFill>
                  <a:prstClr val="black"/>
                </a:solidFill>
                <a:ea typeface="Cambria Math" panose="02040503050406030204" pitchFamily="18" charset="0"/>
              </a:rPr>
              <a:t>Swarms</a:t>
            </a:r>
          </a:p>
          <a:p>
            <a:pPr algn="ctr"/>
            <a:r>
              <a:rPr lang="en-US" altLang="zh-TW" sz="1000" dirty="0">
                <a:solidFill>
                  <a:prstClr val="black"/>
                </a:solidFill>
                <a:ea typeface="Cambria Math" panose="02040503050406030204" pitchFamily="18" charset="0"/>
              </a:rPr>
              <a:t>Task complexity </a:t>
            </a:r>
            <a:r>
              <a:rPr lang="en-US" altLang="zh-TW" sz="1000" dirty="0">
                <a:solidFill>
                  <a:prstClr val="black"/>
                </a:solidFill>
                <a:ea typeface="Cambria Math" panose="02040503050406030204" pitchFamily="18" charset="0"/>
                <a:sym typeface="Wingdings" panose="05000000000000000000" pitchFamily="2" charset="2"/>
              </a:rPr>
              <a:t> Number of agents</a:t>
            </a:r>
            <a:endParaRPr lang="en-US" altLang="zh-TW" sz="1000" dirty="0">
              <a:solidFill>
                <a:prstClr val="black"/>
              </a:solidFill>
              <a:ea typeface="Cambria Math" panose="02040503050406030204" pitchFamily="18" charset="0"/>
            </a:endParaRPr>
          </a:p>
        </p:txBody>
      </p:sp>
      <p:pic>
        <p:nvPicPr>
          <p:cNvPr id="3" name="圖片 2">
            <a:extLst>
              <a:ext uri="{FF2B5EF4-FFF2-40B4-BE49-F238E27FC236}">
                <a16:creationId xmlns:a16="http://schemas.microsoft.com/office/drawing/2014/main" id="{354338D5-7A2C-DB90-BF1A-5592822F49A7}"/>
              </a:ext>
            </a:extLst>
          </p:cNvPr>
          <p:cNvPicPr>
            <a:picLocks noChangeAspect="1"/>
          </p:cNvPicPr>
          <p:nvPr/>
        </p:nvPicPr>
        <p:blipFill>
          <a:blip r:embed="rId3"/>
          <a:stretch>
            <a:fillRect/>
          </a:stretch>
        </p:blipFill>
        <p:spPr>
          <a:xfrm>
            <a:off x="1187624" y="3406899"/>
            <a:ext cx="1003708" cy="512735"/>
          </a:xfrm>
          <a:prstGeom prst="rect">
            <a:avLst/>
          </a:prstGeom>
        </p:spPr>
      </p:pic>
      <p:pic>
        <p:nvPicPr>
          <p:cNvPr id="6" name="圖片 5">
            <a:extLst>
              <a:ext uri="{FF2B5EF4-FFF2-40B4-BE49-F238E27FC236}">
                <a16:creationId xmlns:a16="http://schemas.microsoft.com/office/drawing/2014/main" id="{11F0CC11-3AED-41A3-2C0A-ADDCDBD6FF36}"/>
              </a:ext>
            </a:extLst>
          </p:cNvPr>
          <p:cNvPicPr>
            <a:picLocks noChangeAspect="1"/>
          </p:cNvPicPr>
          <p:nvPr/>
        </p:nvPicPr>
        <p:blipFill>
          <a:blip r:embed="rId4"/>
          <a:stretch>
            <a:fillRect/>
          </a:stretch>
        </p:blipFill>
        <p:spPr>
          <a:xfrm>
            <a:off x="2770918" y="1890194"/>
            <a:ext cx="1729074" cy="2673890"/>
          </a:xfrm>
          <a:prstGeom prst="rect">
            <a:avLst/>
          </a:prstGeom>
        </p:spPr>
      </p:pic>
    </p:spTree>
    <p:extLst>
      <p:ext uri="{BB962C8B-B14F-4D97-AF65-F5344CB8AC3E}">
        <p14:creationId xmlns:p14="http://schemas.microsoft.com/office/powerpoint/2010/main" val="212495141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5CB22-1859-5418-A024-B02613379408}"/>
            </a:ext>
          </a:extLst>
        </p:cNvPr>
        <p:cNvGrpSpPr/>
        <p:nvPr/>
      </p:nvGrpSpPr>
      <p:grpSpPr>
        <a:xfrm>
          <a:off x="0" y="0"/>
          <a:ext cx="0" cy="0"/>
          <a:chOff x="0" y="0"/>
          <a:chExt cx="0" cy="0"/>
        </a:xfrm>
      </p:grpSpPr>
      <p:sp>
        <p:nvSpPr>
          <p:cNvPr id="5" name="標題 1">
            <a:extLst>
              <a:ext uri="{FF2B5EF4-FFF2-40B4-BE49-F238E27FC236}">
                <a16:creationId xmlns:a16="http://schemas.microsoft.com/office/drawing/2014/main" id="{1DBFEE4A-2DE6-B44F-2D6F-381571861501}"/>
              </a:ext>
            </a:extLst>
          </p:cNvPr>
          <p:cNvSpPr txBox="1">
            <a:spLocks/>
          </p:cNvSpPr>
          <p:nvPr/>
        </p:nvSpPr>
        <p:spPr>
          <a:xfrm>
            <a:off x="179511" y="116632"/>
            <a:ext cx="6768753"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Kimi</a:t>
            </a:r>
            <a:r>
              <a:rPr lang="en-US" altLang="zh-TW" sz="2800" dirty="0">
                <a:latin typeface="Malgun Gothic" panose="020B0503020000020004" pitchFamily="34" charset="-127"/>
                <a:ea typeface="Malgun Gothic" panose="020B0503020000020004" pitchFamily="34" charset="-127"/>
                <a:cs typeface="Aharoni" panose="020F0502020204030204" pitchFamily="2" charset="-79"/>
              </a:rPr>
              <a:t>’</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s</a:t>
            </a:r>
            <a:r>
              <a:rPr lang="zh-TW" altLang="en-US" sz="2800" dirty="0">
                <a:latin typeface="Noto Sans HK" panose="020B0200000000000000" pitchFamily="34" charset="-120"/>
                <a:ea typeface="Noto Sans HK" panose="020B0200000000000000" pitchFamily="34" charset="-120"/>
                <a:cs typeface="Aharoni" panose="020F0502020204030204" pitchFamily="2" charset="-79"/>
              </a:rPr>
              <a:t> </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Scaling Strategy</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K ..</a:t>
            </a:r>
          </a:p>
        </p:txBody>
      </p:sp>
      <p:sp>
        <p:nvSpPr>
          <p:cNvPr id="23" name="文字方塊 22">
            <a:extLst>
              <a:ext uri="{FF2B5EF4-FFF2-40B4-BE49-F238E27FC236}">
                <a16:creationId xmlns:a16="http://schemas.microsoft.com/office/drawing/2014/main" id="{72FA3108-675D-2B5E-78A6-661E33360DBA}"/>
              </a:ext>
            </a:extLst>
          </p:cNvPr>
          <p:cNvSpPr txBox="1"/>
          <p:nvPr/>
        </p:nvSpPr>
        <p:spPr>
          <a:xfrm>
            <a:off x="1011566" y="3938588"/>
            <a:ext cx="1378177" cy="498524"/>
          </a:xfrm>
          <a:prstGeom prst="rect">
            <a:avLst/>
          </a:prstGeom>
          <a:noFill/>
        </p:spPr>
        <p:txBody>
          <a:bodyPr wrap="none" lIns="0" tIns="0" rIns="0" bIns="0" anchor="ctr" anchorCtr="1">
            <a:noAutofit/>
          </a:bodyPr>
          <a:lstStyle/>
          <a:p>
            <a:pPr algn="ctr"/>
            <a:r>
              <a:rPr lang="en-US" altLang="zh-TW" sz="1200" b="1" dirty="0">
                <a:solidFill>
                  <a:prstClr val="black"/>
                </a:solidFill>
                <a:ea typeface="Cambria Math" panose="02040503050406030204" pitchFamily="18" charset="0"/>
              </a:rPr>
              <a:t>Token</a:t>
            </a:r>
          </a:p>
          <a:p>
            <a:pPr algn="ctr"/>
            <a:r>
              <a:rPr lang="en-US" altLang="zh-TW" sz="1200" b="1" dirty="0">
                <a:solidFill>
                  <a:prstClr val="black"/>
                </a:solidFill>
                <a:ea typeface="Cambria Math" panose="02040503050406030204" pitchFamily="18" charset="0"/>
              </a:rPr>
              <a:t>Efficiency</a:t>
            </a:r>
          </a:p>
          <a:p>
            <a:pPr algn="ctr"/>
            <a:r>
              <a:rPr lang="en-US" altLang="zh-TW" sz="1000" dirty="0">
                <a:solidFill>
                  <a:prstClr val="black"/>
                </a:solidFill>
                <a:ea typeface="Cambria Math" panose="02040503050406030204" pitchFamily="18" charset="0"/>
              </a:rPr>
              <a:t>l</a:t>
            </a:r>
            <a:r>
              <a:rPr kumimoji="0" lang="en-US" altLang="zh-TW" sz="1000" u="none" strike="noStrike" kern="1200" cap="none" spc="0" normalizeH="0" baseline="0" noProof="0" dirty="0" err="1">
                <a:ln>
                  <a:noFill/>
                </a:ln>
                <a:solidFill>
                  <a:prstClr val="black"/>
                </a:solidFill>
                <a:effectLst/>
                <a:uLnTx/>
                <a:uFillTx/>
                <a:ea typeface="Cambria Math" panose="02040503050406030204" pitchFamily="18" charset="0"/>
                <a:cs typeface="+mn-cs"/>
              </a:rPr>
              <a:t>og</a:t>
            </a: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rPr>
              <a:t>(Loss) </a:t>
            </a: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sym typeface="Wingdings" panose="05000000000000000000" pitchFamily="2" charset="2"/>
              </a:rPr>
              <a:t> log(Training tokens)</a:t>
            </a:r>
            <a:endPar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7" name="文字方塊 26">
            <a:extLst>
              <a:ext uri="{FF2B5EF4-FFF2-40B4-BE49-F238E27FC236}">
                <a16:creationId xmlns:a16="http://schemas.microsoft.com/office/drawing/2014/main" id="{1E33A60B-24AD-C70E-A334-5AD54554A99B}"/>
              </a:ext>
            </a:extLst>
          </p:cNvPr>
          <p:cNvSpPr txBox="1"/>
          <p:nvPr/>
        </p:nvSpPr>
        <p:spPr>
          <a:xfrm>
            <a:off x="4067944" y="3938588"/>
            <a:ext cx="1378177" cy="498524"/>
          </a:xfrm>
          <a:prstGeom prst="rect">
            <a:avLst/>
          </a:prstGeom>
          <a:noFill/>
        </p:spPr>
        <p:txBody>
          <a:bodyPr wrap="none" lIns="0" tIns="0" rIns="0" bIns="0" anchor="ctr" anchorCtr="1">
            <a:noAutofit/>
          </a:bodyPr>
          <a:lstStyle/>
          <a:p>
            <a:pPr algn="ctr"/>
            <a:r>
              <a:rPr lang="en-US" altLang="zh-TW" sz="1200" b="1" dirty="0">
                <a:solidFill>
                  <a:prstClr val="black"/>
                </a:solidFill>
                <a:ea typeface="Cambria Math" panose="02040503050406030204" pitchFamily="18" charset="0"/>
              </a:rPr>
              <a:t>Long</a:t>
            </a:r>
          </a:p>
          <a:p>
            <a:pPr algn="ctr"/>
            <a:r>
              <a:rPr lang="en-US" altLang="zh-TW" sz="1200" b="1" dirty="0">
                <a:solidFill>
                  <a:prstClr val="black"/>
                </a:solidFill>
                <a:ea typeface="Cambria Math" panose="02040503050406030204" pitchFamily="18" charset="0"/>
              </a:rPr>
              <a:t>Context</a:t>
            </a:r>
          </a:p>
          <a:p>
            <a:pPr algn="ctr"/>
            <a:r>
              <a:rPr lang="en-US" altLang="zh-TW" sz="1000" dirty="0">
                <a:solidFill>
                  <a:prstClr val="black"/>
                </a:solidFill>
                <a:ea typeface="Cambria Math" panose="02040503050406030204" pitchFamily="18" charset="0"/>
              </a:rPr>
              <a:t>Position Loss/token  </a:t>
            </a:r>
            <a:r>
              <a:rPr lang="en-US" altLang="zh-TW" sz="1000" dirty="0">
                <a:solidFill>
                  <a:prstClr val="black"/>
                </a:solidFill>
                <a:ea typeface="Cambria Math" panose="02040503050406030204" pitchFamily="18" charset="0"/>
                <a:sym typeface="Wingdings" panose="05000000000000000000" pitchFamily="2" charset="2"/>
              </a:rPr>
              <a:t> Context position</a:t>
            </a:r>
            <a:endParaRPr lang="en-US" altLang="zh-TW" sz="1000" dirty="0">
              <a:solidFill>
                <a:prstClr val="black"/>
              </a:solidFill>
              <a:ea typeface="Cambria Math" panose="02040503050406030204" pitchFamily="18" charset="0"/>
            </a:endParaRPr>
          </a:p>
        </p:txBody>
      </p:sp>
      <p:sp>
        <p:nvSpPr>
          <p:cNvPr id="33" name="文字方塊 32">
            <a:extLst>
              <a:ext uri="{FF2B5EF4-FFF2-40B4-BE49-F238E27FC236}">
                <a16:creationId xmlns:a16="http://schemas.microsoft.com/office/drawing/2014/main" id="{355F8500-ABAB-4083-9344-481DEFE29259}"/>
              </a:ext>
            </a:extLst>
          </p:cNvPr>
          <p:cNvSpPr txBox="1"/>
          <p:nvPr/>
        </p:nvSpPr>
        <p:spPr>
          <a:xfrm>
            <a:off x="7010247" y="3938287"/>
            <a:ext cx="1378177" cy="498524"/>
          </a:xfrm>
          <a:prstGeom prst="rect">
            <a:avLst/>
          </a:prstGeom>
          <a:noFill/>
        </p:spPr>
        <p:txBody>
          <a:bodyPr wrap="none" lIns="0" tIns="0" rIns="0" bIns="0" anchor="ctr" anchorCtr="1">
            <a:noAutofit/>
          </a:bodyPr>
          <a:lstStyle/>
          <a:p>
            <a:pPr algn="ctr"/>
            <a:r>
              <a:rPr lang="en-US" altLang="zh-TW" sz="1200" b="1" dirty="0">
                <a:solidFill>
                  <a:prstClr val="black"/>
                </a:solidFill>
                <a:ea typeface="Cambria Math" panose="02040503050406030204" pitchFamily="18" charset="0"/>
              </a:rPr>
              <a:t>Agent</a:t>
            </a:r>
          </a:p>
          <a:p>
            <a:pPr algn="ctr"/>
            <a:r>
              <a:rPr lang="en-US" altLang="zh-TW" sz="1200" b="1" dirty="0">
                <a:solidFill>
                  <a:prstClr val="black"/>
                </a:solidFill>
                <a:ea typeface="Cambria Math" panose="02040503050406030204" pitchFamily="18" charset="0"/>
              </a:rPr>
              <a:t>Swarms</a:t>
            </a:r>
          </a:p>
          <a:p>
            <a:pPr algn="ctr"/>
            <a:r>
              <a:rPr lang="en-US" altLang="zh-TW" sz="1000" dirty="0">
                <a:solidFill>
                  <a:prstClr val="black"/>
                </a:solidFill>
                <a:ea typeface="Cambria Math" panose="02040503050406030204" pitchFamily="18" charset="0"/>
              </a:rPr>
              <a:t>Task complexity </a:t>
            </a:r>
            <a:r>
              <a:rPr lang="en-US" altLang="zh-TW" sz="1000" dirty="0">
                <a:solidFill>
                  <a:prstClr val="black"/>
                </a:solidFill>
                <a:ea typeface="Cambria Math" panose="02040503050406030204" pitchFamily="18" charset="0"/>
                <a:sym typeface="Wingdings" panose="05000000000000000000" pitchFamily="2" charset="2"/>
              </a:rPr>
              <a:t> Number of agents</a:t>
            </a:r>
            <a:endParaRPr lang="en-US" altLang="zh-TW" sz="1000" dirty="0">
              <a:solidFill>
                <a:prstClr val="black"/>
              </a:solidFill>
              <a:ea typeface="Cambria Math" panose="02040503050406030204" pitchFamily="18" charset="0"/>
            </a:endParaRPr>
          </a:p>
        </p:txBody>
      </p:sp>
      <p:pic>
        <p:nvPicPr>
          <p:cNvPr id="37" name="圖片 36">
            <a:extLst>
              <a:ext uri="{FF2B5EF4-FFF2-40B4-BE49-F238E27FC236}">
                <a16:creationId xmlns:a16="http://schemas.microsoft.com/office/drawing/2014/main" id="{6F73B008-214A-9210-717A-17191E92BF0B}"/>
              </a:ext>
            </a:extLst>
          </p:cNvPr>
          <p:cNvPicPr>
            <a:picLocks noChangeAspect="1"/>
          </p:cNvPicPr>
          <p:nvPr/>
        </p:nvPicPr>
        <p:blipFill>
          <a:blip r:embed="rId3"/>
          <a:stretch>
            <a:fillRect/>
          </a:stretch>
        </p:blipFill>
        <p:spPr>
          <a:xfrm>
            <a:off x="956590" y="4485621"/>
            <a:ext cx="1488127" cy="1065934"/>
          </a:xfrm>
          <a:prstGeom prst="rect">
            <a:avLst/>
          </a:prstGeom>
        </p:spPr>
      </p:pic>
      <p:pic>
        <p:nvPicPr>
          <p:cNvPr id="39" name="圖片 38">
            <a:extLst>
              <a:ext uri="{FF2B5EF4-FFF2-40B4-BE49-F238E27FC236}">
                <a16:creationId xmlns:a16="http://schemas.microsoft.com/office/drawing/2014/main" id="{AB332303-82CC-F2E4-674C-BD6C78AD0185}"/>
              </a:ext>
            </a:extLst>
          </p:cNvPr>
          <p:cNvPicPr>
            <a:picLocks noChangeAspect="1"/>
          </p:cNvPicPr>
          <p:nvPr/>
        </p:nvPicPr>
        <p:blipFill>
          <a:blip r:embed="rId4"/>
          <a:stretch>
            <a:fillRect/>
          </a:stretch>
        </p:blipFill>
        <p:spPr>
          <a:xfrm>
            <a:off x="6810475" y="4485622"/>
            <a:ext cx="1777720" cy="1237889"/>
          </a:xfrm>
          <a:prstGeom prst="rect">
            <a:avLst/>
          </a:prstGeom>
        </p:spPr>
      </p:pic>
      <p:pic>
        <p:nvPicPr>
          <p:cNvPr id="41" name="圖片 40">
            <a:extLst>
              <a:ext uri="{FF2B5EF4-FFF2-40B4-BE49-F238E27FC236}">
                <a16:creationId xmlns:a16="http://schemas.microsoft.com/office/drawing/2014/main" id="{7FA6E037-8645-449A-D7DC-C190F56339DD}"/>
              </a:ext>
            </a:extLst>
          </p:cNvPr>
          <p:cNvPicPr>
            <a:picLocks noChangeAspect="1"/>
          </p:cNvPicPr>
          <p:nvPr/>
        </p:nvPicPr>
        <p:blipFill>
          <a:blip r:embed="rId5"/>
          <a:stretch>
            <a:fillRect/>
          </a:stretch>
        </p:blipFill>
        <p:spPr>
          <a:xfrm>
            <a:off x="4138615" y="4485620"/>
            <a:ext cx="1444934" cy="1065935"/>
          </a:xfrm>
          <a:prstGeom prst="rect">
            <a:avLst/>
          </a:prstGeom>
        </p:spPr>
      </p:pic>
      <p:sp>
        <p:nvSpPr>
          <p:cNvPr id="43" name="文字方塊 42">
            <a:extLst>
              <a:ext uri="{FF2B5EF4-FFF2-40B4-BE49-F238E27FC236}">
                <a16:creationId xmlns:a16="http://schemas.microsoft.com/office/drawing/2014/main" id="{B49743B1-6170-FB2D-4D5A-8ABA5C7C5D5E}"/>
              </a:ext>
            </a:extLst>
          </p:cNvPr>
          <p:cNvSpPr txBox="1"/>
          <p:nvPr/>
        </p:nvSpPr>
        <p:spPr>
          <a:xfrm>
            <a:off x="1115616" y="5849862"/>
            <a:ext cx="1378177" cy="300850"/>
          </a:xfrm>
          <a:prstGeom prst="rect">
            <a:avLst/>
          </a:prstGeom>
          <a:noFill/>
        </p:spPr>
        <p:txBody>
          <a:bodyPr wrap="none" lIns="0" tIns="0" rIns="0" bIns="0" anchor="ctr" anchorCtr="1">
            <a:noAutofit/>
          </a:bodyPr>
          <a:lstStyle/>
          <a:p>
            <a:pPr algn="ctr"/>
            <a:r>
              <a:rPr kumimoji="0" lang="en-US" altLang="zh-TW" sz="1000" u="none" strike="noStrike" kern="1200" cap="none" spc="0" normalizeH="0" baseline="0" noProof="0" dirty="0" err="1">
                <a:ln>
                  <a:noFill/>
                </a:ln>
                <a:solidFill>
                  <a:prstClr val="black"/>
                </a:solidFill>
                <a:effectLst/>
                <a:uLnTx/>
                <a:uFillTx/>
                <a:ea typeface="Cambria Math" panose="02040503050406030204" pitchFamily="18" charset="0"/>
                <a:cs typeface="+mn-cs"/>
                <a:sym typeface="Wingdings" panose="05000000000000000000" pitchFamily="2" charset="2"/>
              </a:rPr>
              <a:t>MuonClip</a:t>
            </a: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sym typeface="Wingdings" panose="05000000000000000000" pitchFamily="2" charset="2"/>
              </a:rPr>
              <a:t> Optimizer</a:t>
            </a:r>
            <a:endPar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5" name="文字方塊 44">
            <a:extLst>
              <a:ext uri="{FF2B5EF4-FFF2-40B4-BE49-F238E27FC236}">
                <a16:creationId xmlns:a16="http://schemas.microsoft.com/office/drawing/2014/main" id="{6AECD8F4-A129-EF89-8F70-4B3FAD464901}"/>
              </a:ext>
            </a:extLst>
          </p:cNvPr>
          <p:cNvSpPr txBox="1"/>
          <p:nvPr/>
        </p:nvSpPr>
        <p:spPr>
          <a:xfrm>
            <a:off x="4171994" y="5849862"/>
            <a:ext cx="1378177" cy="300850"/>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sym typeface="Wingdings" panose="05000000000000000000" pitchFamily="2" charset="2"/>
              </a:rPr>
              <a:t>Kimi Delta Attention</a:t>
            </a:r>
          </a:p>
          <a:p>
            <a:pPr algn="ctr"/>
            <a:r>
              <a:rPr lang="en-US" altLang="zh-TW" sz="1200" dirty="0">
                <a:solidFill>
                  <a:prstClr val="black"/>
                </a:solidFill>
                <a:ea typeface="Cambria Math" panose="02040503050406030204" pitchFamily="18" charset="0"/>
                <a:sym typeface="Wingdings" panose="05000000000000000000" pitchFamily="2" charset="2"/>
              </a:rPr>
              <a:t>Kimi Linear</a:t>
            </a:r>
            <a:endParaRPr lang="en-US" altLang="zh-TW" sz="1200" dirty="0">
              <a:solidFill>
                <a:prstClr val="black"/>
              </a:solidFill>
              <a:ea typeface="Cambria Math" panose="02040503050406030204" pitchFamily="18" charset="0"/>
            </a:endParaRPr>
          </a:p>
        </p:txBody>
      </p:sp>
      <p:sp>
        <p:nvSpPr>
          <p:cNvPr id="47" name="文字方塊 46">
            <a:extLst>
              <a:ext uri="{FF2B5EF4-FFF2-40B4-BE49-F238E27FC236}">
                <a16:creationId xmlns:a16="http://schemas.microsoft.com/office/drawing/2014/main" id="{5E32688D-D67D-4B09-234C-FBF5ACCD7665}"/>
              </a:ext>
            </a:extLst>
          </p:cNvPr>
          <p:cNvSpPr txBox="1"/>
          <p:nvPr/>
        </p:nvSpPr>
        <p:spPr>
          <a:xfrm>
            <a:off x="7114297" y="5849561"/>
            <a:ext cx="1378177" cy="300850"/>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sym typeface="Wingdings" panose="05000000000000000000" pitchFamily="2" charset="2"/>
              </a:rPr>
              <a:t>Paradigm RL for</a:t>
            </a:r>
          </a:p>
          <a:p>
            <a:pPr algn="ctr"/>
            <a:r>
              <a:rPr lang="en-US" altLang="zh-TW" sz="1200" dirty="0">
                <a:solidFill>
                  <a:prstClr val="black"/>
                </a:solidFill>
                <a:ea typeface="Cambria Math" panose="02040503050406030204" pitchFamily="18" charset="0"/>
                <a:sym typeface="Wingdings" panose="05000000000000000000" pitchFamily="2" charset="2"/>
              </a:rPr>
              <a:t>Agents Swarms</a:t>
            </a:r>
            <a:endParaRPr lang="en-US" altLang="zh-TW" sz="1200" dirty="0">
              <a:solidFill>
                <a:prstClr val="black"/>
              </a:solidFill>
              <a:ea typeface="Cambria Math" panose="02040503050406030204" pitchFamily="18" charset="0"/>
            </a:endParaRPr>
          </a:p>
        </p:txBody>
      </p:sp>
    </p:spTree>
    <p:extLst>
      <p:ext uri="{BB962C8B-B14F-4D97-AF65-F5344CB8AC3E}">
        <p14:creationId xmlns:p14="http://schemas.microsoft.com/office/powerpoint/2010/main" val="298671711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5B936BAD-3CA1-5A93-68D0-18D4749B896D}"/>
              </a:ext>
            </a:extLst>
          </p:cNvPr>
          <p:cNvPicPr>
            <a:picLocks noChangeAspect="1"/>
          </p:cNvPicPr>
          <p:nvPr/>
        </p:nvPicPr>
        <p:blipFill>
          <a:blip r:embed="rId2"/>
          <a:stretch>
            <a:fillRect/>
          </a:stretch>
        </p:blipFill>
        <p:spPr>
          <a:xfrm>
            <a:off x="445394" y="0"/>
            <a:ext cx="8253211" cy="6858000"/>
          </a:xfrm>
          <a:prstGeom prst="rect">
            <a:avLst/>
          </a:prstGeom>
        </p:spPr>
      </p:pic>
      <p:sp>
        <p:nvSpPr>
          <p:cNvPr id="5" name="標題 1">
            <a:extLst>
              <a:ext uri="{FF2B5EF4-FFF2-40B4-BE49-F238E27FC236}">
                <a16:creationId xmlns:a16="http://schemas.microsoft.com/office/drawing/2014/main" id="{EA642F90-58F9-AC4E-23F9-20D780B8B74F}"/>
              </a:ext>
            </a:extLst>
          </p:cNvPr>
          <p:cNvSpPr txBox="1">
            <a:spLocks/>
          </p:cNvSpPr>
          <p:nvPr/>
        </p:nvSpPr>
        <p:spPr>
          <a:xfrm>
            <a:off x="179511" y="116632"/>
            <a:ext cx="6768753"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Kimi K3 Architecture</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K ..</a:t>
            </a:r>
          </a:p>
        </p:txBody>
      </p:sp>
    </p:spTree>
    <p:extLst>
      <p:ext uri="{BB962C8B-B14F-4D97-AF65-F5344CB8AC3E}">
        <p14:creationId xmlns:p14="http://schemas.microsoft.com/office/powerpoint/2010/main" val="2211158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505DD-CDA6-FE4C-F217-AF444E3CACAF}"/>
            </a:ext>
          </a:extLst>
        </p:cNvPr>
        <p:cNvGrpSpPr/>
        <p:nvPr/>
      </p:nvGrpSpPr>
      <p:grpSpPr>
        <a:xfrm>
          <a:off x="0" y="0"/>
          <a:ext cx="0" cy="0"/>
          <a:chOff x="0" y="0"/>
          <a:chExt cx="0" cy="0"/>
        </a:xfrm>
      </p:grpSpPr>
      <p:sp>
        <p:nvSpPr>
          <p:cNvPr id="5" name="標題 1">
            <a:extLst>
              <a:ext uri="{FF2B5EF4-FFF2-40B4-BE49-F238E27FC236}">
                <a16:creationId xmlns:a16="http://schemas.microsoft.com/office/drawing/2014/main" id="{8EB04A97-81D2-A052-5744-4D29BE61D10B}"/>
              </a:ext>
            </a:extLst>
          </p:cNvPr>
          <p:cNvSpPr txBox="1">
            <a:spLocks/>
          </p:cNvSpPr>
          <p:nvPr/>
        </p:nvSpPr>
        <p:spPr>
          <a:xfrm>
            <a:off x="179511" y="116632"/>
            <a:ext cx="8784977"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K</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imi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D</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elta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A</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ttention</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 hybrid linear attention technique created to render the context window of 1M tokens feasible instead of quadratic.</a:t>
            </a:r>
          </a:p>
        </p:txBody>
      </p:sp>
      <p:pic>
        <p:nvPicPr>
          <p:cNvPr id="7" name="圖片 6">
            <a:extLst>
              <a:ext uri="{FF2B5EF4-FFF2-40B4-BE49-F238E27FC236}">
                <a16:creationId xmlns:a16="http://schemas.microsoft.com/office/drawing/2014/main" id="{0A39CAF0-2B6E-920B-22F1-4CB97C3BB504}"/>
              </a:ext>
            </a:extLst>
          </p:cNvPr>
          <p:cNvPicPr>
            <a:picLocks noChangeAspect="1"/>
          </p:cNvPicPr>
          <p:nvPr/>
        </p:nvPicPr>
        <p:blipFill>
          <a:blip r:embed="rId2"/>
          <a:stretch>
            <a:fillRect/>
          </a:stretch>
        </p:blipFill>
        <p:spPr>
          <a:xfrm>
            <a:off x="213047" y="1916832"/>
            <a:ext cx="3839111" cy="4496427"/>
          </a:xfrm>
          <a:prstGeom prst="rect">
            <a:avLst/>
          </a:prstGeom>
        </p:spPr>
      </p:pic>
      <p:pic>
        <p:nvPicPr>
          <p:cNvPr id="4" name="圖片 3">
            <a:extLst>
              <a:ext uri="{FF2B5EF4-FFF2-40B4-BE49-F238E27FC236}">
                <a16:creationId xmlns:a16="http://schemas.microsoft.com/office/drawing/2014/main" id="{C7D648D9-ABFB-3579-6CC8-D919C5327F82}"/>
              </a:ext>
            </a:extLst>
          </p:cNvPr>
          <p:cNvPicPr>
            <a:picLocks noChangeAspect="1"/>
          </p:cNvPicPr>
          <p:nvPr/>
        </p:nvPicPr>
        <p:blipFill>
          <a:blip r:embed="rId3"/>
          <a:stretch>
            <a:fillRect/>
          </a:stretch>
        </p:blipFill>
        <p:spPr>
          <a:xfrm>
            <a:off x="2555776" y="980728"/>
            <a:ext cx="4210638" cy="1419423"/>
          </a:xfrm>
          <a:prstGeom prst="rect">
            <a:avLst/>
          </a:prstGeom>
        </p:spPr>
      </p:pic>
      <p:sp>
        <p:nvSpPr>
          <p:cNvPr id="9" name="文字方塊 8">
            <a:extLst>
              <a:ext uri="{FF2B5EF4-FFF2-40B4-BE49-F238E27FC236}">
                <a16:creationId xmlns:a16="http://schemas.microsoft.com/office/drawing/2014/main" id="{C0DFBAC6-426F-03B3-9FFE-A154CE87BBA1}"/>
              </a:ext>
            </a:extLst>
          </p:cNvPr>
          <p:cNvSpPr txBox="1"/>
          <p:nvPr/>
        </p:nvSpPr>
        <p:spPr>
          <a:xfrm>
            <a:off x="899592" y="1642663"/>
            <a:ext cx="1378177" cy="300850"/>
          </a:xfrm>
          <a:prstGeom prst="rect">
            <a:avLst/>
          </a:prstGeom>
          <a:noFill/>
        </p:spPr>
        <p:txBody>
          <a:bodyPr wrap="none" lIns="0" tIns="0" rIns="0" bIns="0" anchor="ctr" anchorCtr="1">
            <a:noAutofit/>
          </a:bodyPr>
          <a:lstStyle/>
          <a:p>
            <a:pPr algn="ctr"/>
            <a:r>
              <a:rPr lang="en-US" altLang="zh-TW" sz="1200" b="1" dirty="0">
                <a:solidFill>
                  <a:prstClr val="black"/>
                </a:solidFill>
                <a:ea typeface="Cambria Math" panose="02040503050406030204" pitchFamily="18" charset="0"/>
              </a:rPr>
              <a:t>KDA</a:t>
            </a:r>
          </a:p>
          <a:p>
            <a:pPr algn="ct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rPr>
              <a:t>Kimi Delta Attention</a:t>
            </a:r>
          </a:p>
        </p:txBody>
      </p:sp>
      <p:cxnSp>
        <p:nvCxnSpPr>
          <p:cNvPr id="12" name="直線單箭頭接點 11">
            <a:extLst>
              <a:ext uri="{FF2B5EF4-FFF2-40B4-BE49-F238E27FC236}">
                <a16:creationId xmlns:a16="http://schemas.microsoft.com/office/drawing/2014/main" id="{0436543E-3072-40B4-782F-95CFF0F582CB}"/>
              </a:ext>
            </a:extLst>
          </p:cNvPr>
          <p:cNvCxnSpPr>
            <a:cxnSpLocks/>
            <a:stCxn id="16" idx="2"/>
            <a:endCxn id="17" idx="0"/>
          </p:cNvCxnSpPr>
          <p:nvPr/>
        </p:nvCxnSpPr>
        <p:spPr>
          <a:xfrm>
            <a:off x="7737477" y="2924944"/>
            <a:ext cx="15238" cy="1141684"/>
          </a:xfrm>
          <a:prstGeom prst="straightConnector1">
            <a:avLst/>
          </a:prstGeom>
          <a:ln w="22225">
            <a:solidFill>
              <a:schemeClr val="accent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B10808CA-1DF2-8265-C178-CEF922F916DD}"/>
              </a:ext>
            </a:extLst>
          </p:cNvPr>
          <p:cNvSpPr/>
          <p:nvPr/>
        </p:nvSpPr>
        <p:spPr>
          <a:xfrm>
            <a:off x="7380312" y="3040060"/>
            <a:ext cx="708323" cy="172916"/>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G</a:t>
            </a: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QA</a:t>
            </a:r>
          </a:p>
        </p:txBody>
      </p:sp>
      <p:sp>
        <p:nvSpPr>
          <p:cNvPr id="14" name="矩形 13">
            <a:extLst>
              <a:ext uri="{FF2B5EF4-FFF2-40B4-BE49-F238E27FC236}">
                <a16:creationId xmlns:a16="http://schemas.microsoft.com/office/drawing/2014/main" id="{ED887128-0066-C7E3-0AFA-E38FC88A04B6}"/>
              </a:ext>
            </a:extLst>
          </p:cNvPr>
          <p:cNvSpPr/>
          <p:nvPr/>
        </p:nvSpPr>
        <p:spPr>
          <a:xfrm>
            <a:off x="7398553" y="3335321"/>
            <a:ext cx="708323" cy="165687"/>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MQA</a:t>
            </a:r>
          </a:p>
        </p:txBody>
      </p:sp>
      <p:sp>
        <p:nvSpPr>
          <p:cNvPr id="15" name="矩形 14">
            <a:extLst>
              <a:ext uri="{FF2B5EF4-FFF2-40B4-BE49-F238E27FC236}">
                <a16:creationId xmlns:a16="http://schemas.microsoft.com/office/drawing/2014/main" id="{C33BCE02-7E6C-1470-3C10-7B11AA3BFD50}"/>
              </a:ext>
            </a:extLst>
          </p:cNvPr>
          <p:cNvSpPr/>
          <p:nvPr/>
        </p:nvSpPr>
        <p:spPr>
          <a:xfrm>
            <a:off x="7398553" y="3616375"/>
            <a:ext cx="708323" cy="348657"/>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Multi </a:t>
            </a:r>
            <a:r>
              <a:rPr lang="en-US" altLang="zh-TW" sz="1200" b="1" dirty="0">
                <a:ln w="0"/>
                <a:solidFill>
                  <a:prstClr val="black"/>
                </a:solidFill>
                <a:latin typeface="Calibri"/>
                <a:ea typeface="新細明體" panose="02020500000000000000" pitchFamily="18" charset="-120"/>
              </a:rPr>
              <a:t>Latent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Attention</a:t>
            </a:r>
          </a:p>
        </p:txBody>
      </p:sp>
      <p:sp>
        <p:nvSpPr>
          <p:cNvPr id="16" name="矩形 15">
            <a:extLst>
              <a:ext uri="{FF2B5EF4-FFF2-40B4-BE49-F238E27FC236}">
                <a16:creationId xmlns:a16="http://schemas.microsoft.com/office/drawing/2014/main" id="{EC8518F6-35AB-08B9-2B5E-27F751E4F1A5}"/>
              </a:ext>
            </a:extLst>
          </p:cNvPr>
          <p:cNvSpPr/>
          <p:nvPr/>
        </p:nvSpPr>
        <p:spPr>
          <a:xfrm>
            <a:off x="7383315" y="2752028"/>
            <a:ext cx="708323" cy="172916"/>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MH</a:t>
            </a: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A</a:t>
            </a:r>
          </a:p>
        </p:txBody>
      </p:sp>
      <p:sp>
        <p:nvSpPr>
          <p:cNvPr id="17" name="矩形 16">
            <a:extLst>
              <a:ext uri="{FF2B5EF4-FFF2-40B4-BE49-F238E27FC236}">
                <a16:creationId xmlns:a16="http://schemas.microsoft.com/office/drawing/2014/main" id="{7459CB1D-35A3-2F99-5B4F-5668C50E7067}"/>
              </a:ext>
            </a:extLst>
          </p:cNvPr>
          <p:cNvSpPr/>
          <p:nvPr/>
        </p:nvSpPr>
        <p:spPr>
          <a:xfrm>
            <a:off x="7398553" y="4066628"/>
            <a:ext cx="708323" cy="150314"/>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KDA</a:t>
            </a:r>
          </a:p>
        </p:txBody>
      </p:sp>
    </p:spTree>
    <p:extLst>
      <p:ext uri="{BB962C8B-B14F-4D97-AF65-F5344CB8AC3E}">
        <p14:creationId xmlns:p14="http://schemas.microsoft.com/office/powerpoint/2010/main" val="40046117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1">
            <a:extLst>
              <a:ext uri="{FF2B5EF4-FFF2-40B4-BE49-F238E27FC236}">
                <a16:creationId xmlns:a16="http://schemas.microsoft.com/office/drawing/2014/main" id="{86D655F9-6A67-F151-59CE-818F721614E9}"/>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KDA: PE everywhere</a:t>
            </a: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Gx</a:t>
            </a:r>
          </a:p>
        </p:txBody>
      </p:sp>
      <p:pic>
        <p:nvPicPr>
          <p:cNvPr id="8" name="圖片 7">
            <a:extLst>
              <a:ext uri="{FF2B5EF4-FFF2-40B4-BE49-F238E27FC236}">
                <a16:creationId xmlns:a16="http://schemas.microsoft.com/office/drawing/2014/main" id="{E01A32C3-51B0-68CA-8C1D-742AFF97C741}"/>
              </a:ext>
            </a:extLst>
          </p:cNvPr>
          <p:cNvPicPr>
            <a:picLocks noChangeAspect="1"/>
          </p:cNvPicPr>
          <p:nvPr/>
        </p:nvPicPr>
        <p:blipFill>
          <a:blip r:embed="rId3"/>
          <a:stretch>
            <a:fillRect/>
          </a:stretch>
        </p:blipFill>
        <p:spPr>
          <a:xfrm>
            <a:off x="6482503" y="1701374"/>
            <a:ext cx="2652796" cy="3167786"/>
          </a:xfrm>
          <a:prstGeom prst="rect">
            <a:avLst/>
          </a:prstGeom>
        </p:spPr>
      </p:pic>
      <p:pic>
        <p:nvPicPr>
          <p:cNvPr id="10" name="圖片 9">
            <a:extLst>
              <a:ext uri="{FF2B5EF4-FFF2-40B4-BE49-F238E27FC236}">
                <a16:creationId xmlns:a16="http://schemas.microsoft.com/office/drawing/2014/main" id="{FE11B9E4-9AE4-C3C3-CA43-9D130416298A}"/>
              </a:ext>
            </a:extLst>
          </p:cNvPr>
          <p:cNvPicPr>
            <a:picLocks noChangeAspect="1"/>
          </p:cNvPicPr>
          <p:nvPr/>
        </p:nvPicPr>
        <p:blipFill>
          <a:blip r:embed="rId4"/>
          <a:stretch>
            <a:fillRect/>
          </a:stretch>
        </p:blipFill>
        <p:spPr>
          <a:xfrm>
            <a:off x="541097" y="1484784"/>
            <a:ext cx="5182086" cy="2027773"/>
          </a:xfrm>
          <a:prstGeom prst="rect">
            <a:avLst/>
          </a:prstGeom>
        </p:spPr>
      </p:pic>
      <p:pic>
        <p:nvPicPr>
          <p:cNvPr id="12" name="圖片 11">
            <a:extLst>
              <a:ext uri="{FF2B5EF4-FFF2-40B4-BE49-F238E27FC236}">
                <a16:creationId xmlns:a16="http://schemas.microsoft.com/office/drawing/2014/main" id="{AB393DCE-CE40-69D1-E1E0-265CF92EAA9D}"/>
              </a:ext>
            </a:extLst>
          </p:cNvPr>
          <p:cNvPicPr>
            <a:picLocks noChangeAspect="1"/>
          </p:cNvPicPr>
          <p:nvPr/>
        </p:nvPicPr>
        <p:blipFill>
          <a:blip r:embed="rId5"/>
          <a:stretch>
            <a:fillRect/>
          </a:stretch>
        </p:blipFill>
        <p:spPr>
          <a:xfrm>
            <a:off x="325072" y="4902930"/>
            <a:ext cx="4608512" cy="735631"/>
          </a:xfrm>
          <a:prstGeom prst="rect">
            <a:avLst/>
          </a:prstGeom>
        </p:spPr>
      </p:pic>
      <p:pic>
        <p:nvPicPr>
          <p:cNvPr id="15" name="圖片 14">
            <a:extLst>
              <a:ext uri="{FF2B5EF4-FFF2-40B4-BE49-F238E27FC236}">
                <a16:creationId xmlns:a16="http://schemas.microsoft.com/office/drawing/2014/main" id="{63143830-0B85-764F-B7FB-D4B0FC20A8B5}"/>
              </a:ext>
            </a:extLst>
          </p:cNvPr>
          <p:cNvPicPr>
            <a:picLocks noChangeAspect="1"/>
          </p:cNvPicPr>
          <p:nvPr/>
        </p:nvPicPr>
        <p:blipFill>
          <a:blip r:embed="rId6"/>
          <a:stretch>
            <a:fillRect/>
          </a:stretch>
        </p:blipFill>
        <p:spPr>
          <a:xfrm>
            <a:off x="1117160" y="4153541"/>
            <a:ext cx="1936839" cy="715619"/>
          </a:xfrm>
          <a:prstGeom prst="rect">
            <a:avLst/>
          </a:prstGeom>
        </p:spPr>
      </p:pic>
    </p:spTree>
    <p:extLst>
      <p:ext uri="{BB962C8B-B14F-4D97-AF65-F5344CB8AC3E}">
        <p14:creationId xmlns:p14="http://schemas.microsoft.com/office/powerpoint/2010/main" val="345226759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949EC-1316-A85B-5F0E-AEEC5553A7D3}"/>
            </a:ext>
          </a:extLst>
        </p:cNvPr>
        <p:cNvGrpSpPr/>
        <p:nvPr/>
      </p:nvGrpSpPr>
      <p:grpSpPr>
        <a:xfrm>
          <a:off x="0" y="0"/>
          <a:ext cx="0" cy="0"/>
          <a:chOff x="0" y="0"/>
          <a:chExt cx="0" cy="0"/>
        </a:xfrm>
      </p:grpSpPr>
      <p:sp>
        <p:nvSpPr>
          <p:cNvPr id="5" name="標題 1">
            <a:extLst>
              <a:ext uri="{FF2B5EF4-FFF2-40B4-BE49-F238E27FC236}">
                <a16:creationId xmlns:a16="http://schemas.microsoft.com/office/drawing/2014/main" id="{BF2F72E6-93F4-5D0A-183F-078808B83F1F}"/>
              </a:ext>
            </a:extLst>
          </p:cNvPr>
          <p:cNvSpPr txBox="1">
            <a:spLocks/>
          </p:cNvSpPr>
          <p:nvPr/>
        </p:nvSpPr>
        <p:spPr>
          <a:xfrm>
            <a:off x="179511" y="116632"/>
            <a:ext cx="8784977"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Attention Residuals</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 complete substitute for standard residual connections that Moonshot claims lead to more consistent results as the model grows lager.</a:t>
            </a:r>
          </a:p>
        </p:txBody>
      </p:sp>
      <p:pic>
        <p:nvPicPr>
          <p:cNvPr id="3" name="圖片 2">
            <a:extLst>
              <a:ext uri="{FF2B5EF4-FFF2-40B4-BE49-F238E27FC236}">
                <a16:creationId xmlns:a16="http://schemas.microsoft.com/office/drawing/2014/main" id="{6DD31490-34C9-88AB-BC5D-2B5A1DAE6804}"/>
              </a:ext>
            </a:extLst>
          </p:cNvPr>
          <p:cNvPicPr>
            <a:picLocks noChangeAspect="1"/>
          </p:cNvPicPr>
          <p:nvPr/>
        </p:nvPicPr>
        <p:blipFill>
          <a:blip r:embed="rId2"/>
          <a:stretch>
            <a:fillRect/>
          </a:stretch>
        </p:blipFill>
        <p:spPr>
          <a:xfrm>
            <a:off x="0" y="1124744"/>
            <a:ext cx="3920761" cy="2167605"/>
          </a:xfrm>
          <a:prstGeom prst="rect">
            <a:avLst/>
          </a:prstGeom>
        </p:spPr>
      </p:pic>
      <p:pic>
        <p:nvPicPr>
          <p:cNvPr id="6" name="圖片 5">
            <a:extLst>
              <a:ext uri="{FF2B5EF4-FFF2-40B4-BE49-F238E27FC236}">
                <a16:creationId xmlns:a16="http://schemas.microsoft.com/office/drawing/2014/main" id="{27B08812-6FDF-E638-B897-C816AAA52387}"/>
              </a:ext>
            </a:extLst>
          </p:cNvPr>
          <p:cNvPicPr>
            <a:picLocks noChangeAspect="1"/>
          </p:cNvPicPr>
          <p:nvPr/>
        </p:nvPicPr>
        <p:blipFill>
          <a:blip r:embed="rId3"/>
          <a:stretch>
            <a:fillRect/>
          </a:stretch>
        </p:blipFill>
        <p:spPr>
          <a:xfrm>
            <a:off x="827584" y="3269397"/>
            <a:ext cx="2453030" cy="938344"/>
          </a:xfrm>
          <a:prstGeom prst="rect">
            <a:avLst/>
          </a:prstGeom>
        </p:spPr>
      </p:pic>
      <p:pic>
        <p:nvPicPr>
          <p:cNvPr id="8" name="圖片 7">
            <a:extLst>
              <a:ext uri="{FF2B5EF4-FFF2-40B4-BE49-F238E27FC236}">
                <a16:creationId xmlns:a16="http://schemas.microsoft.com/office/drawing/2014/main" id="{0FDF98A3-572D-416F-04D9-7F22D1E922F7}"/>
              </a:ext>
            </a:extLst>
          </p:cNvPr>
          <p:cNvPicPr>
            <a:picLocks noChangeAspect="1"/>
          </p:cNvPicPr>
          <p:nvPr/>
        </p:nvPicPr>
        <p:blipFill>
          <a:blip r:embed="rId4"/>
          <a:stretch>
            <a:fillRect/>
          </a:stretch>
        </p:blipFill>
        <p:spPr>
          <a:xfrm>
            <a:off x="1384874" y="4207741"/>
            <a:ext cx="1895740" cy="381053"/>
          </a:xfrm>
          <a:prstGeom prst="rect">
            <a:avLst/>
          </a:prstGeom>
        </p:spPr>
      </p:pic>
      <p:pic>
        <p:nvPicPr>
          <p:cNvPr id="10" name="圖片 9">
            <a:extLst>
              <a:ext uri="{FF2B5EF4-FFF2-40B4-BE49-F238E27FC236}">
                <a16:creationId xmlns:a16="http://schemas.microsoft.com/office/drawing/2014/main" id="{8D122126-F323-96A2-2B0F-862455C74E2D}"/>
              </a:ext>
            </a:extLst>
          </p:cNvPr>
          <p:cNvPicPr>
            <a:picLocks noChangeAspect="1"/>
          </p:cNvPicPr>
          <p:nvPr/>
        </p:nvPicPr>
        <p:blipFill>
          <a:blip r:embed="rId5"/>
          <a:stretch>
            <a:fillRect/>
          </a:stretch>
        </p:blipFill>
        <p:spPr>
          <a:xfrm>
            <a:off x="7090929" y="1085523"/>
            <a:ext cx="2053071" cy="3279581"/>
          </a:xfrm>
          <a:prstGeom prst="rect">
            <a:avLst/>
          </a:prstGeom>
        </p:spPr>
      </p:pic>
      <p:pic>
        <p:nvPicPr>
          <p:cNvPr id="12" name="圖片 11">
            <a:extLst>
              <a:ext uri="{FF2B5EF4-FFF2-40B4-BE49-F238E27FC236}">
                <a16:creationId xmlns:a16="http://schemas.microsoft.com/office/drawing/2014/main" id="{07003AB1-8B39-6ADC-7F03-DDF41CC54083}"/>
              </a:ext>
            </a:extLst>
          </p:cNvPr>
          <p:cNvPicPr>
            <a:picLocks noChangeAspect="1"/>
          </p:cNvPicPr>
          <p:nvPr/>
        </p:nvPicPr>
        <p:blipFill>
          <a:blip r:embed="rId6"/>
          <a:stretch>
            <a:fillRect/>
          </a:stretch>
        </p:blipFill>
        <p:spPr>
          <a:xfrm>
            <a:off x="4959630" y="1085522"/>
            <a:ext cx="2017149" cy="3279582"/>
          </a:xfrm>
          <a:prstGeom prst="rect">
            <a:avLst/>
          </a:prstGeom>
        </p:spPr>
      </p:pic>
      <p:pic>
        <p:nvPicPr>
          <p:cNvPr id="14" name="圖片 13">
            <a:extLst>
              <a:ext uri="{FF2B5EF4-FFF2-40B4-BE49-F238E27FC236}">
                <a16:creationId xmlns:a16="http://schemas.microsoft.com/office/drawing/2014/main" id="{584326FD-949B-C14B-9D60-AC6A38703B7B}"/>
              </a:ext>
            </a:extLst>
          </p:cNvPr>
          <p:cNvPicPr>
            <a:picLocks noChangeAspect="1"/>
          </p:cNvPicPr>
          <p:nvPr/>
        </p:nvPicPr>
        <p:blipFill>
          <a:blip r:embed="rId7"/>
          <a:stretch>
            <a:fillRect/>
          </a:stretch>
        </p:blipFill>
        <p:spPr>
          <a:xfrm>
            <a:off x="4499993" y="4478486"/>
            <a:ext cx="3672408" cy="2322131"/>
          </a:xfrm>
          <a:prstGeom prst="rect">
            <a:avLst/>
          </a:prstGeom>
        </p:spPr>
      </p:pic>
    </p:spTree>
    <p:extLst>
      <p:ext uri="{BB962C8B-B14F-4D97-AF65-F5344CB8AC3E}">
        <p14:creationId xmlns:p14="http://schemas.microsoft.com/office/powerpoint/2010/main" val="33605181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25A7D983-02B0-5CC5-0F21-9C63F71FCEC8}"/>
              </a:ext>
            </a:extLst>
          </p:cNvPr>
          <p:cNvSpPr txBox="1">
            <a:spLocks/>
          </p:cNvSpPr>
          <p:nvPr/>
        </p:nvSpPr>
        <p:spPr>
          <a:xfrm>
            <a:off x="179511" y="116632"/>
            <a:ext cx="6768753"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Scaling Law</a:t>
            </a:r>
            <a:r>
              <a:rPr lang="zh-TW" altLang="en-US" sz="2800" dirty="0">
                <a:latin typeface="Noto Sans HK" panose="020B0200000000000000" pitchFamily="34" charset="-120"/>
                <a:ea typeface="Noto Sans HK" panose="020B0200000000000000" pitchFamily="34" charset="-120"/>
                <a:cs typeface="Aharoni" panose="020F0502020204030204" pitchFamily="2" charset="-79"/>
              </a:rPr>
              <a:t> </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vs  Kimi</a:t>
            </a:r>
            <a:r>
              <a:rPr lang="en-US" altLang="zh-TW" sz="2800" dirty="0">
                <a:latin typeface="Malgun Gothic" panose="020B0503020000020004" pitchFamily="34" charset="-127"/>
                <a:ea typeface="Malgun Gothic" panose="020B0503020000020004" pitchFamily="34" charset="-127"/>
                <a:cs typeface="Aharoni" panose="020F0502020204030204" pitchFamily="2" charset="-79"/>
              </a:rPr>
              <a:t>’</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s</a:t>
            </a:r>
            <a:r>
              <a:rPr lang="zh-TW" altLang="en-US" sz="2800" dirty="0">
                <a:latin typeface="Noto Sans HK" panose="020B0200000000000000" pitchFamily="34" charset="-120"/>
                <a:ea typeface="Noto Sans HK" panose="020B0200000000000000" pitchFamily="34" charset="-120"/>
                <a:cs typeface="Aharoni" panose="020F0502020204030204" pitchFamily="2" charset="-79"/>
              </a:rPr>
              <a:t> </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Scaling Strategy</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K ..</a:t>
            </a:r>
          </a:p>
        </p:txBody>
      </p:sp>
      <p:pic>
        <p:nvPicPr>
          <p:cNvPr id="9" name="圖片 8">
            <a:extLst>
              <a:ext uri="{FF2B5EF4-FFF2-40B4-BE49-F238E27FC236}">
                <a16:creationId xmlns:a16="http://schemas.microsoft.com/office/drawing/2014/main" id="{FC192506-A527-E600-5566-4A160003BBDE}"/>
              </a:ext>
            </a:extLst>
          </p:cNvPr>
          <p:cNvPicPr>
            <a:picLocks noChangeAspect="1"/>
          </p:cNvPicPr>
          <p:nvPr/>
        </p:nvPicPr>
        <p:blipFill>
          <a:blip r:embed="rId2"/>
          <a:stretch>
            <a:fillRect/>
          </a:stretch>
        </p:blipFill>
        <p:spPr>
          <a:xfrm>
            <a:off x="3390842" y="1157705"/>
            <a:ext cx="2671000" cy="2042529"/>
          </a:xfrm>
          <a:prstGeom prst="rect">
            <a:avLst/>
          </a:prstGeom>
        </p:spPr>
      </p:pic>
      <p:pic>
        <p:nvPicPr>
          <p:cNvPr id="11" name="圖片 10">
            <a:extLst>
              <a:ext uri="{FF2B5EF4-FFF2-40B4-BE49-F238E27FC236}">
                <a16:creationId xmlns:a16="http://schemas.microsoft.com/office/drawing/2014/main" id="{FEBF8933-4E25-6F2E-7F5D-E835ADCF20ED}"/>
              </a:ext>
            </a:extLst>
          </p:cNvPr>
          <p:cNvPicPr>
            <a:picLocks noChangeAspect="1"/>
          </p:cNvPicPr>
          <p:nvPr/>
        </p:nvPicPr>
        <p:blipFill>
          <a:blip r:embed="rId3"/>
          <a:stretch>
            <a:fillRect/>
          </a:stretch>
        </p:blipFill>
        <p:spPr>
          <a:xfrm>
            <a:off x="6238776" y="1164576"/>
            <a:ext cx="2679728" cy="2042529"/>
          </a:xfrm>
          <a:prstGeom prst="rect">
            <a:avLst/>
          </a:prstGeom>
        </p:spPr>
      </p:pic>
      <p:pic>
        <p:nvPicPr>
          <p:cNvPr id="13" name="圖片 12">
            <a:extLst>
              <a:ext uri="{FF2B5EF4-FFF2-40B4-BE49-F238E27FC236}">
                <a16:creationId xmlns:a16="http://schemas.microsoft.com/office/drawing/2014/main" id="{6B33F7C6-40D7-FA44-5ADA-47E3C9C99623}"/>
              </a:ext>
            </a:extLst>
          </p:cNvPr>
          <p:cNvPicPr>
            <a:picLocks noChangeAspect="1"/>
          </p:cNvPicPr>
          <p:nvPr/>
        </p:nvPicPr>
        <p:blipFill>
          <a:blip r:embed="rId4"/>
          <a:stretch>
            <a:fillRect/>
          </a:stretch>
        </p:blipFill>
        <p:spPr>
          <a:xfrm>
            <a:off x="225496" y="1163410"/>
            <a:ext cx="2950319" cy="2103630"/>
          </a:xfrm>
          <a:prstGeom prst="rect">
            <a:avLst/>
          </a:prstGeom>
        </p:spPr>
      </p:pic>
      <p:sp>
        <p:nvSpPr>
          <p:cNvPr id="15" name="文字方塊 14">
            <a:extLst>
              <a:ext uri="{FF2B5EF4-FFF2-40B4-BE49-F238E27FC236}">
                <a16:creationId xmlns:a16="http://schemas.microsoft.com/office/drawing/2014/main" id="{1B588763-430B-C125-9DA4-C1F7BDB448EC}"/>
              </a:ext>
            </a:extLst>
          </p:cNvPr>
          <p:cNvSpPr txBox="1"/>
          <p:nvPr/>
        </p:nvSpPr>
        <p:spPr>
          <a:xfrm>
            <a:off x="1011566" y="3290111"/>
            <a:ext cx="1378177" cy="300850"/>
          </a:xfrm>
          <a:prstGeom prst="rect">
            <a:avLst/>
          </a:prstGeom>
          <a:noFill/>
        </p:spPr>
        <p:txBody>
          <a:bodyPr wrap="none" lIns="0" tIns="0" rIns="0" bIns="0" anchor="ctr" anchorCtr="1">
            <a:noAutofit/>
          </a:bodyPr>
          <a:lstStyle/>
          <a:p>
            <a:pPr algn="ctr"/>
            <a:r>
              <a:rPr lang="en-US" altLang="zh-TW" sz="1200" b="1" dirty="0">
                <a:solidFill>
                  <a:prstClr val="black"/>
                </a:solidFill>
                <a:ea typeface="Cambria Math" panose="02040503050406030204" pitchFamily="18" charset="0"/>
              </a:rPr>
              <a:t>Compute</a:t>
            </a:r>
          </a:p>
          <a:p>
            <a:pPr algn="ct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rPr>
              <a:t>PF-days, non-embedding</a:t>
            </a:r>
          </a:p>
        </p:txBody>
      </p:sp>
      <p:sp>
        <p:nvSpPr>
          <p:cNvPr id="17" name="文字方塊 16">
            <a:extLst>
              <a:ext uri="{FF2B5EF4-FFF2-40B4-BE49-F238E27FC236}">
                <a16:creationId xmlns:a16="http://schemas.microsoft.com/office/drawing/2014/main" id="{FBF60411-7274-612C-05BC-B94FCB38646E}"/>
              </a:ext>
            </a:extLst>
          </p:cNvPr>
          <p:cNvSpPr txBox="1"/>
          <p:nvPr/>
        </p:nvSpPr>
        <p:spPr>
          <a:xfrm>
            <a:off x="4037253" y="3290111"/>
            <a:ext cx="1378177" cy="300850"/>
          </a:xfrm>
          <a:prstGeom prst="rect">
            <a:avLst/>
          </a:prstGeom>
          <a:noFill/>
        </p:spPr>
        <p:txBody>
          <a:bodyPr wrap="none" lIns="0" tIns="0" rIns="0" bIns="0" anchor="ctr" anchorCtr="1">
            <a:noAutofit/>
          </a:bodyPr>
          <a:lstStyle/>
          <a:p>
            <a:pPr algn="ctr"/>
            <a:r>
              <a:rPr lang="en-US" altLang="zh-TW" sz="1200" b="1" dirty="0">
                <a:solidFill>
                  <a:prstClr val="black"/>
                </a:solidFill>
                <a:ea typeface="Cambria Math" panose="02040503050406030204" pitchFamily="18" charset="0"/>
              </a:rPr>
              <a:t>Dataset Size</a:t>
            </a:r>
          </a:p>
          <a:p>
            <a:pPr algn="ct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rPr>
              <a:t>tokens</a:t>
            </a:r>
          </a:p>
        </p:txBody>
      </p:sp>
      <p:sp>
        <p:nvSpPr>
          <p:cNvPr id="19" name="文字方塊 18">
            <a:extLst>
              <a:ext uri="{FF2B5EF4-FFF2-40B4-BE49-F238E27FC236}">
                <a16:creationId xmlns:a16="http://schemas.microsoft.com/office/drawing/2014/main" id="{1C9A1B35-6087-4D88-BC6D-A9C51BE8DB7C}"/>
              </a:ext>
            </a:extLst>
          </p:cNvPr>
          <p:cNvSpPr txBox="1"/>
          <p:nvPr/>
        </p:nvSpPr>
        <p:spPr>
          <a:xfrm>
            <a:off x="6889551" y="3290111"/>
            <a:ext cx="1378177" cy="300850"/>
          </a:xfrm>
          <a:prstGeom prst="rect">
            <a:avLst/>
          </a:prstGeom>
          <a:noFill/>
        </p:spPr>
        <p:txBody>
          <a:bodyPr wrap="none" lIns="0" tIns="0" rIns="0" bIns="0" anchor="ctr" anchorCtr="1">
            <a:noAutofit/>
          </a:bodyPr>
          <a:lstStyle/>
          <a:p>
            <a:pPr algn="ctr"/>
            <a:r>
              <a:rPr lang="en-US" altLang="zh-TW" sz="1200" b="1" dirty="0">
                <a:solidFill>
                  <a:prstClr val="black"/>
                </a:solidFill>
                <a:ea typeface="Cambria Math" panose="02040503050406030204" pitchFamily="18" charset="0"/>
              </a:rPr>
              <a:t>Parameters</a:t>
            </a:r>
          </a:p>
          <a:p>
            <a:pPr algn="ct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rPr>
              <a:t>Non-embedding</a:t>
            </a:r>
          </a:p>
        </p:txBody>
      </p:sp>
      <p:sp>
        <p:nvSpPr>
          <p:cNvPr id="23" name="文字方塊 22">
            <a:extLst>
              <a:ext uri="{FF2B5EF4-FFF2-40B4-BE49-F238E27FC236}">
                <a16:creationId xmlns:a16="http://schemas.microsoft.com/office/drawing/2014/main" id="{03C2125C-8CFE-D3FC-DE92-F4581EB15102}"/>
              </a:ext>
            </a:extLst>
          </p:cNvPr>
          <p:cNvSpPr txBox="1"/>
          <p:nvPr/>
        </p:nvSpPr>
        <p:spPr>
          <a:xfrm>
            <a:off x="1011566" y="4077373"/>
            <a:ext cx="1378177" cy="300850"/>
          </a:xfrm>
          <a:prstGeom prst="rect">
            <a:avLst/>
          </a:prstGeom>
          <a:noFill/>
        </p:spPr>
        <p:txBody>
          <a:bodyPr wrap="none" lIns="0" tIns="0" rIns="0" bIns="0" anchor="ctr" anchorCtr="1">
            <a:noAutofit/>
          </a:bodyPr>
          <a:lstStyle/>
          <a:p>
            <a:pPr algn="ctr"/>
            <a:r>
              <a:rPr lang="en-US" altLang="zh-TW" sz="1200" b="1" dirty="0">
                <a:solidFill>
                  <a:prstClr val="black"/>
                </a:solidFill>
                <a:ea typeface="Cambria Math" panose="02040503050406030204" pitchFamily="18" charset="0"/>
              </a:rPr>
              <a:t>Token Efficiency</a:t>
            </a:r>
          </a:p>
          <a:p>
            <a:pPr algn="ctr"/>
            <a:r>
              <a:rPr lang="en-US" altLang="zh-TW" sz="1000" dirty="0">
                <a:solidFill>
                  <a:prstClr val="black"/>
                </a:solidFill>
                <a:ea typeface="Cambria Math" panose="02040503050406030204" pitchFamily="18" charset="0"/>
              </a:rPr>
              <a:t>l</a:t>
            </a:r>
            <a:r>
              <a:rPr kumimoji="0" lang="en-US" altLang="zh-TW" sz="1000" u="none" strike="noStrike" kern="1200" cap="none" spc="0" normalizeH="0" baseline="0" noProof="0" dirty="0" err="1">
                <a:ln>
                  <a:noFill/>
                </a:ln>
                <a:solidFill>
                  <a:prstClr val="black"/>
                </a:solidFill>
                <a:effectLst/>
                <a:uLnTx/>
                <a:uFillTx/>
                <a:ea typeface="Cambria Math" panose="02040503050406030204" pitchFamily="18" charset="0"/>
                <a:cs typeface="+mn-cs"/>
              </a:rPr>
              <a:t>og</a:t>
            </a: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rPr>
              <a:t>(Loss) </a:t>
            </a: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sym typeface="Wingdings" panose="05000000000000000000" pitchFamily="2" charset="2"/>
              </a:rPr>
              <a:t> log(Training tokens)</a:t>
            </a:r>
            <a:endPar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7" name="文字方塊 26">
            <a:extLst>
              <a:ext uri="{FF2B5EF4-FFF2-40B4-BE49-F238E27FC236}">
                <a16:creationId xmlns:a16="http://schemas.microsoft.com/office/drawing/2014/main" id="{350DA7CC-4E6F-1006-E418-FB6BBE36A6FF}"/>
              </a:ext>
            </a:extLst>
          </p:cNvPr>
          <p:cNvSpPr txBox="1"/>
          <p:nvPr/>
        </p:nvSpPr>
        <p:spPr>
          <a:xfrm>
            <a:off x="4067944" y="4077373"/>
            <a:ext cx="1378177" cy="300850"/>
          </a:xfrm>
          <a:prstGeom prst="rect">
            <a:avLst/>
          </a:prstGeom>
          <a:noFill/>
        </p:spPr>
        <p:txBody>
          <a:bodyPr wrap="none" lIns="0" tIns="0" rIns="0" bIns="0" anchor="ctr" anchorCtr="1">
            <a:noAutofit/>
          </a:bodyPr>
          <a:lstStyle/>
          <a:p>
            <a:pPr algn="ctr"/>
            <a:r>
              <a:rPr lang="en-US" altLang="zh-TW" sz="1200" b="1" dirty="0">
                <a:solidFill>
                  <a:prstClr val="black"/>
                </a:solidFill>
                <a:ea typeface="Cambria Math" panose="02040503050406030204" pitchFamily="18" charset="0"/>
              </a:rPr>
              <a:t>Long Context</a:t>
            </a:r>
          </a:p>
          <a:p>
            <a:pPr algn="ctr"/>
            <a:r>
              <a:rPr lang="en-US" altLang="zh-TW" sz="1000" dirty="0">
                <a:solidFill>
                  <a:prstClr val="black"/>
                </a:solidFill>
                <a:ea typeface="Cambria Math" panose="02040503050406030204" pitchFamily="18" charset="0"/>
              </a:rPr>
              <a:t>Position Loss/token  </a:t>
            </a:r>
            <a:r>
              <a:rPr lang="en-US" altLang="zh-TW" sz="1000" dirty="0">
                <a:solidFill>
                  <a:prstClr val="black"/>
                </a:solidFill>
                <a:ea typeface="Cambria Math" panose="02040503050406030204" pitchFamily="18" charset="0"/>
                <a:sym typeface="Wingdings" panose="05000000000000000000" pitchFamily="2" charset="2"/>
              </a:rPr>
              <a:t> Context position</a:t>
            </a:r>
            <a:endParaRPr lang="en-US" altLang="zh-TW" sz="1000" dirty="0">
              <a:solidFill>
                <a:prstClr val="black"/>
              </a:solidFill>
              <a:ea typeface="Cambria Math" panose="02040503050406030204" pitchFamily="18" charset="0"/>
            </a:endParaRPr>
          </a:p>
        </p:txBody>
      </p:sp>
      <p:sp>
        <p:nvSpPr>
          <p:cNvPr id="33" name="文字方塊 32">
            <a:extLst>
              <a:ext uri="{FF2B5EF4-FFF2-40B4-BE49-F238E27FC236}">
                <a16:creationId xmlns:a16="http://schemas.microsoft.com/office/drawing/2014/main" id="{F2208DFA-2BB8-CD97-2D57-8FAA0EF79701}"/>
              </a:ext>
            </a:extLst>
          </p:cNvPr>
          <p:cNvSpPr txBox="1"/>
          <p:nvPr/>
        </p:nvSpPr>
        <p:spPr>
          <a:xfrm>
            <a:off x="7010247" y="4077072"/>
            <a:ext cx="1378177" cy="300850"/>
          </a:xfrm>
          <a:prstGeom prst="rect">
            <a:avLst/>
          </a:prstGeom>
          <a:noFill/>
        </p:spPr>
        <p:txBody>
          <a:bodyPr wrap="none" lIns="0" tIns="0" rIns="0" bIns="0" anchor="ctr" anchorCtr="1">
            <a:noAutofit/>
          </a:bodyPr>
          <a:lstStyle/>
          <a:p>
            <a:pPr algn="ctr"/>
            <a:r>
              <a:rPr lang="en-US" altLang="zh-TW" sz="1200" b="1" dirty="0">
                <a:solidFill>
                  <a:prstClr val="black"/>
                </a:solidFill>
                <a:ea typeface="Cambria Math" panose="02040503050406030204" pitchFamily="18" charset="0"/>
              </a:rPr>
              <a:t>Agent Swarms</a:t>
            </a:r>
          </a:p>
          <a:p>
            <a:pPr algn="ctr"/>
            <a:r>
              <a:rPr lang="en-US" altLang="zh-TW" sz="1000" dirty="0">
                <a:solidFill>
                  <a:prstClr val="black"/>
                </a:solidFill>
                <a:ea typeface="Cambria Math" panose="02040503050406030204" pitchFamily="18" charset="0"/>
              </a:rPr>
              <a:t>Task complexity </a:t>
            </a:r>
            <a:r>
              <a:rPr lang="en-US" altLang="zh-TW" sz="1000" dirty="0">
                <a:solidFill>
                  <a:prstClr val="black"/>
                </a:solidFill>
                <a:ea typeface="Cambria Math" panose="02040503050406030204" pitchFamily="18" charset="0"/>
                <a:sym typeface="Wingdings" panose="05000000000000000000" pitchFamily="2" charset="2"/>
              </a:rPr>
              <a:t> Number of agents</a:t>
            </a:r>
            <a:endParaRPr lang="en-US" altLang="zh-TW" sz="1000" dirty="0">
              <a:solidFill>
                <a:prstClr val="black"/>
              </a:solidFill>
              <a:ea typeface="Cambria Math" panose="02040503050406030204" pitchFamily="18" charset="0"/>
            </a:endParaRPr>
          </a:p>
        </p:txBody>
      </p:sp>
      <p:pic>
        <p:nvPicPr>
          <p:cNvPr id="37" name="圖片 36">
            <a:extLst>
              <a:ext uri="{FF2B5EF4-FFF2-40B4-BE49-F238E27FC236}">
                <a16:creationId xmlns:a16="http://schemas.microsoft.com/office/drawing/2014/main" id="{6743A732-DF87-690E-A27C-B8A037057841}"/>
              </a:ext>
            </a:extLst>
          </p:cNvPr>
          <p:cNvPicPr>
            <a:picLocks noChangeAspect="1"/>
          </p:cNvPicPr>
          <p:nvPr/>
        </p:nvPicPr>
        <p:blipFill>
          <a:blip r:embed="rId5"/>
          <a:stretch>
            <a:fillRect/>
          </a:stretch>
        </p:blipFill>
        <p:spPr>
          <a:xfrm>
            <a:off x="251520" y="4485622"/>
            <a:ext cx="1488127" cy="1065934"/>
          </a:xfrm>
          <a:prstGeom prst="rect">
            <a:avLst/>
          </a:prstGeom>
        </p:spPr>
      </p:pic>
      <p:pic>
        <p:nvPicPr>
          <p:cNvPr id="39" name="圖片 38">
            <a:extLst>
              <a:ext uri="{FF2B5EF4-FFF2-40B4-BE49-F238E27FC236}">
                <a16:creationId xmlns:a16="http://schemas.microsoft.com/office/drawing/2014/main" id="{2CDF102C-618E-0BFC-91B1-F0CF35A10F45}"/>
              </a:ext>
            </a:extLst>
          </p:cNvPr>
          <p:cNvPicPr>
            <a:picLocks noChangeAspect="1"/>
          </p:cNvPicPr>
          <p:nvPr/>
        </p:nvPicPr>
        <p:blipFill>
          <a:blip r:embed="rId6"/>
          <a:stretch>
            <a:fillRect/>
          </a:stretch>
        </p:blipFill>
        <p:spPr>
          <a:xfrm>
            <a:off x="6810475" y="4485622"/>
            <a:ext cx="1777720" cy="1237889"/>
          </a:xfrm>
          <a:prstGeom prst="rect">
            <a:avLst/>
          </a:prstGeom>
        </p:spPr>
      </p:pic>
      <p:pic>
        <p:nvPicPr>
          <p:cNvPr id="41" name="圖片 40">
            <a:extLst>
              <a:ext uri="{FF2B5EF4-FFF2-40B4-BE49-F238E27FC236}">
                <a16:creationId xmlns:a16="http://schemas.microsoft.com/office/drawing/2014/main" id="{A23BAC22-BE01-3C4C-27B6-57430D8B18A8}"/>
              </a:ext>
            </a:extLst>
          </p:cNvPr>
          <p:cNvPicPr>
            <a:picLocks noChangeAspect="1"/>
          </p:cNvPicPr>
          <p:nvPr/>
        </p:nvPicPr>
        <p:blipFill>
          <a:blip r:embed="rId7"/>
          <a:stretch>
            <a:fillRect/>
          </a:stretch>
        </p:blipFill>
        <p:spPr>
          <a:xfrm>
            <a:off x="3213630" y="4485620"/>
            <a:ext cx="1444934" cy="1065935"/>
          </a:xfrm>
          <a:prstGeom prst="rect">
            <a:avLst/>
          </a:prstGeom>
        </p:spPr>
      </p:pic>
      <p:sp>
        <p:nvSpPr>
          <p:cNvPr id="43" name="文字方塊 42">
            <a:extLst>
              <a:ext uri="{FF2B5EF4-FFF2-40B4-BE49-F238E27FC236}">
                <a16:creationId xmlns:a16="http://schemas.microsoft.com/office/drawing/2014/main" id="{251222A2-2D00-186D-C92E-8C73EDC6465B}"/>
              </a:ext>
            </a:extLst>
          </p:cNvPr>
          <p:cNvSpPr txBox="1"/>
          <p:nvPr/>
        </p:nvSpPr>
        <p:spPr>
          <a:xfrm>
            <a:off x="1115616" y="5849862"/>
            <a:ext cx="1378177" cy="300850"/>
          </a:xfrm>
          <a:prstGeom prst="rect">
            <a:avLst/>
          </a:prstGeom>
          <a:noFill/>
        </p:spPr>
        <p:txBody>
          <a:bodyPr wrap="none" lIns="0" tIns="0" rIns="0" bIns="0" anchor="ctr" anchorCtr="1">
            <a:noAutofit/>
          </a:bodyPr>
          <a:lstStyle/>
          <a:p>
            <a:pPr algn="ct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sym typeface="Wingdings" panose="05000000000000000000" pitchFamily="2" charset="2"/>
              </a:rPr>
              <a:t>QK-Clip</a:t>
            </a:r>
            <a:endPar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5" name="文字方塊 44">
            <a:extLst>
              <a:ext uri="{FF2B5EF4-FFF2-40B4-BE49-F238E27FC236}">
                <a16:creationId xmlns:a16="http://schemas.microsoft.com/office/drawing/2014/main" id="{137E073D-D39F-B978-EDE5-B4E94491B044}"/>
              </a:ext>
            </a:extLst>
          </p:cNvPr>
          <p:cNvSpPr txBox="1"/>
          <p:nvPr/>
        </p:nvSpPr>
        <p:spPr>
          <a:xfrm>
            <a:off x="4171994" y="5849862"/>
            <a:ext cx="1378177" cy="300850"/>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sym typeface="Wingdings" panose="05000000000000000000" pitchFamily="2" charset="2"/>
              </a:rPr>
              <a:t>Kimi Linear</a:t>
            </a:r>
            <a:endParaRPr lang="en-US" altLang="zh-TW" sz="1200" dirty="0">
              <a:solidFill>
                <a:prstClr val="black"/>
              </a:solidFill>
              <a:ea typeface="Cambria Math" panose="02040503050406030204" pitchFamily="18" charset="0"/>
            </a:endParaRPr>
          </a:p>
        </p:txBody>
      </p:sp>
      <p:sp>
        <p:nvSpPr>
          <p:cNvPr id="47" name="文字方塊 46">
            <a:extLst>
              <a:ext uri="{FF2B5EF4-FFF2-40B4-BE49-F238E27FC236}">
                <a16:creationId xmlns:a16="http://schemas.microsoft.com/office/drawing/2014/main" id="{604FAE4E-7D66-A107-3F09-9D88E3DAE572}"/>
              </a:ext>
            </a:extLst>
          </p:cNvPr>
          <p:cNvSpPr txBox="1"/>
          <p:nvPr/>
        </p:nvSpPr>
        <p:spPr>
          <a:xfrm>
            <a:off x="7114297" y="5849561"/>
            <a:ext cx="1378177" cy="300850"/>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sym typeface="Wingdings" panose="05000000000000000000" pitchFamily="2" charset="2"/>
              </a:rPr>
              <a:t>f agents</a:t>
            </a:r>
            <a:endParaRPr lang="en-US" altLang="zh-TW" sz="1200" dirty="0">
              <a:solidFill>
                <a:prstClr val="black"/>
              </a:solidFill>
              <a:ea typeface="Cambria Math" panose="02040503050406030204" pitchFamily="18" charset="0"/>
            </a:endParaRPr>
          </a:p>
        </p:txBody>
      </p:sp>
      <p:pic>
        <p:nvPicPr>
          <p:cNvPr id="49" name="圖片 48">
            <a:extLst>
              <a:ext uri="{FF2B5EF4-FFF2-40B4-BE49-F238E27FC236}">
                <a16:creationId xmlns:a16="http://schemas.microsoft.com/office/drawing/2014/main" id="{D3F610A2-6BA4-F8DE-E41D-DA2B1DA00336}"/>
              </a:ext>
            </a:extLst>
          </p:cNvPr>
          <p:cNvPicPr>
            <a:picLocks noChangeAspect="1"/>
          </p:cNvPicPr>
          <p:nvPr/>
        </p:nvPicPr>
        <p:blipFill>
          <a:blip r:embed="rId8"/>
          <a:stretch>
            <a:fillRect/>
          </a:stretch>
        </p:blipFill>
        <p:spPr>
          <a:xfrm>
            <a:off x="1804704" y="4485620"/>
            <a:ext cx="1316743" cy="1065935"/>
          </a:xfrm>
          <a:prstGeom prst="rect">
            <a:avLst/>
          </a:prstGeom>
        </p:spPr>
      </p:pic>
    </p:spTree>
    <p:extLst>
      <p:ext uri="{BB962C8B-B14F-4D97-AF65-F5344CB8AC3E}">
        <p14:creationId xmlns:p14="http://schemas.microsoft.com/office/powerpoint/2010/main" val="834322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a:extLst>
              <a:ext uri="{FF2B5EF4-FFF2-40B4-BE49-F238E27FC236}">
                <a16:creationId xmlns:a16="http://schemas.microsoft.com/office/drawing/2014/main" id="{0386F936-F4B8-05C9-432E-EEF681F5A8BD}"/>
              </a:ext>
            </a:extLst>
          </p:cNvPr>
          <p:cNvSpPr txBox="1">
            <a:spLocks/>
          </p:cNvSpPr>
          <p:nvPr/>
        </p:nvSpPr>
        <p:spPr>
          <a:xfrm>
            <a:off x="179511" y="116632"/>
            <a:ext cx="6768753"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Token Efficient</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The--.</a:t>
            </a:r>
          </a:p>
        </p:txBody>
      </p:sp>
      <p:sp>
        <p:nvSpPr>
          <p:cNvPr id="9" name="文字方塊 8">
            <a:extLst>
              <a:ext uri="{FF2B5EF4-FFF2-40B4-BE49-F238E27FC236}">
                <a16:creationId xmlns:a16="http://schemas.microsoft.com/office/drawing/2014/main" id="{F30002D9-A4A4-A587-5D56-5B96D6CF016C}"/>
              </a:ext>
            </a:extLst>
          </p:cNvPr>
          <p:cNvSpPr txBox="1"/>
          <p:nvPr/>
        </p:nvSpPr>
        <p:spPr>
          <a:xfrm>
            <a:off x="179510" y="3615695"/>
            <a:ext cx="7560841" cy="2477601"/>
          </a:xfrm>
          <a:prstGeom prst="rect">
            <a:avLst/>
          </a:prstGeom>
          <a:solidFill>
            <a:schemeClr val="bg1">
              <a:alpha val="90000"/>
            </a:schemeClr>
          </a:solidFill>
        </p:spPr>
        <p:txBody>
          <a:bodyPr wrap="square">
            <a:spAutoFit/>
          </a:bodyPr>
          <a:lstStyle/>
          <a:p>
            <a:pPr>
              <a:lnSpc>
                <a:spcPts val="1800"/>
              </a:lnSpc>
              <a:spcBef>
                <a:spcPts val="600"/>
              </a:spcBef>
              <a:spcAft>
                <a:spcPts val="600"/>
              </a:spcAft>
            </a:pPr>
            <a:r>
              <a:rPr lang="en-US" altLang="zh-TW" sz="2000" b="1" u="none" strike="noStrike" dirty="0">
                <a:effectLst/>
              </a:rPr>
              <a:t>Muon is Scalable for LLM Training</a:t>
            </a:r>
          </a:p>
          <a:p>
            <a:pPr marL="285750" indent="-285750">
              <a:lnSpc>
                <a:spcPts val="1800"/>
              </a:lnSpc>
              <a:spcBef>
                <a:spcPts val="600"/>
              </a:spcBef>
              <a:spcAft>
                <a:spcPts val="600"/>
              </a:spcAft>
              <a:buFont typeface="Wingdings" panose="05000000000000000000" pitchFamily="2" charset="2"/>
              <a:buChar char="Ø"/>
            </a:pPr>
            <a:r>
              <a:rPr lang="en-US" altLang="zh-TW" sz="1600" b="1" dirty="0"/>
              <a:t>Scale Muon Optimizer</a:t>
            </a:r>
          </a:p>
          <a:p>
            <a:pPr marL="742950" lvl="1" indent="-285750">
              <a:lnSpc>
                <a:spcPts val="1800"/>
              </a:lnSpc>
              <a:spcBef>
                <a:spcPts val="600"/>
              </a:spcBef>
              <a:spcAft>
                <a:spcPts val="600"/>
              </a:spcAft>
              <a:buFont typeface="Arial" panose="020B0604020202020204" pitchFamily="34" charset="0"/>
              <a:buChar char="•"/>
            </a:pPr>
            <a:r>
              <a:rPr lang="en-US" altLang="zh-TW" sz="1600" b="1" dirty="0"/>
              <a:t>Weight Decay: </a:t>
            </a:r>
            <a:r>
              <a:rPr lang="en-US" altLang="zh-TW" sz="1600" dirty="0"/>
              <a:t>Critical for scaling to larger models.</a:t>
            </a:r>
          </a:p>
          <a:p>
            <a:pPr marL="742950" lvl="1" indent="-285750">
              <a:lnSpc>
                <a:spcPts val="1800"/>
              </a:lnSpc>
              <a:spcBef>
                <a:spcPts val="600"/>
              </a:spcBef>
              <a:spcAft>
                <a:spcPts val="600"/>
              </a:spcAft>
              <a:buFont typeface="Arial" panose="020B0604020202020204" pitchFamily="34" charset="0"/>
              <a:buChar char="•"/>
            </a:pPr>
            <a:r>
              <a:rPr lang="en-US" altLang="zh-TW" sz="1600" b="1" dirty="0"/>
              <a:t>Consistent RMS Updates: </a:t>
            </a:r>
            <a:r>
              <a:rPr lang="en-US" altLang="zh-TW" sz="1600" dirty="0"/>
              <a:t>Fine-tuning per-parameter update magnitudes, enforcing consistent root-mean-square</a:t>
            </a:r>
            <a:r>
              <a:rPr lang="en-US" altLang="zh-TW" sz="1600" b="1" dirty="0"/>
              <a:t>.</a:t>
            </a:r>
            <a:endParaRPr lang="en-US" altLang="zh-TW" sz="1600" dirty="0"/>
          </a:p>
          <a:p>
            <a:pPr marL="285750" indent="-285750">
              <a:lnSpc>
                <a:spcPts val="1800"/>
              </a:lnSpc>
              <a:spcBef>
                <a:spcPts val="600"/>
              </a:spcBef>
              <a:spcAft>
                <a:spcPts val="600"/>
              </a:spcAft>
              <a:buFont typeface="Wingdings" panose="05000000000000000000" pitchFamily="2" charset="2"/>
              <a:buChar char="Ø"/>
            </a:pPr>
            <a:r>
              <a:rPr lang="en-US" altLang="zh-TW" sz="1600" b="1" dirty="0"/>
              <a:t>Scaling Law: Experimental Results</a:t>
            </a:r>
          </a:p>
          <a:p>
            <a:pPr marL="742950" lvl="1" indent="-285750">
              <a:lnSpc>
                <a:spcPts val="1800"/>
              </a:lnSpc>
              <a:spcBef>
                <a:spcPts val="600"/>
              </a:spcBef>
              <a:spcAft>
                <a:spcPts val="600"/>
              </a:spcAft>
              <a:buFont typeface="Arial" panose="020B0604020202020204" pitchFamily="34" charset="0"/>
              <a:buChar char="•"/>
            </a:pPr>
            <a:r>
              <a:rPr lang="en-US" altLang="zh-TW" sz="1600" b="1" dirty="0"/>
              <a:t>~2x token efficiency (vs </a:t>
            </a:r>
            <a:r>
              <a:rPr lang="en-US" altLang="zh-TW" sz="1600" b="1" dirty="0" err="1"/>
              <a:t>AdamW</a:t>
            </a:r>
            <a:r>
              <a:rPr lang="en-US" altLang="zh-TW" sz="1600" b="1" dirty="0"/>
              <a:t>) </a:t>
            </a:r>
            <a:endParaRPr lang="en-US" altLang="zh-TW" sz="1600" dirty="0"/>
          </a:p>
        </p:txBody>
      </p:sp>
      <p:pic>
        <p:nvPicPr>
          <p:cNvPr id="11" name="圖片 10">
            <a:extLst>
              <a:ext uri="{FF2B5EF4-FFF2-40B4-BE49-F238E27FC236}">
                <a16:creationId xmlns:a16="http://schemas.microsoft.com/office/drawing/2014/main" id="{AC00E7AA-1873-38AF-0CDE-FFD343E4A196}"/>
              </a:ext>
            </a:extLst>
          </p:cNvPr>
          <p:cNvPicPr>
            <a:picLocks noChangeAspect="1"/>
          </p:cNvPicPr>
          <p:nvPr/>
        </p:nvPicPr>
        <p:blipFill>
          <a:blip r:embed="rId2"/>
          <a:stretch>
            <a:fillRect/>
          </a:stretch>
        </p:blipFill>
        <p:spPr>
          <a:xfrm>
            <a:off x="5791900" y="2204864"/>
            <a:ext cx="2312728" cy="1872208"/>
          </a:xfrm>
          <a:prstGeom prst="rect">
            <a:avLst/>
          </a:prstGeom>
        </p:spPr>
      </p:pic>
    </p:spTree>
    <p:extLst>
      <p:ext uri="{BB962C8B-B14F-4D97-AF65-F5344CB8AC3E}">
        <p14:creationId xmlns:p14="http://schemas.microsoft.com/office/powerpoint/2010/main" val="40102178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6153A-3295-7DB2-C1BA-6B1E69F8BC78}"/>
            </a:ext>
          </a:extLst>
        </p:cNvPr>
        <p:cNvGrpSpPr/>
        <p:nvPr/>
      </p:nvGrpSpPr>
      <p:grpSpPr>
        <a:xfrm>
          <a:off x="0" y="0"/>
          <a:ext cx="0" cy="0"/>
          <a:chOff x="0" y="0"/>
          <a:chExt cx="0" cy="0"/>
        </a:xfrm>
      </p:grpSpPr>
      <p:sp>
        <p:nvSpPr>
          <p:cNvPr id="8" name="文字方塊 7">
            <a:extLst>
              <a:ext uri="{FF2B5EF4-FFF2-40B4-BE49-F238E27FC236}">
                <a16:creationId xmlns:a16="http://schemas.microsoft.com/office/drawing/2014/main" id="{71575A03-C679-3AD3-2F44-6BE10B57902E}"/>
              </a:ext>
            </a:extLst>
          </p:cNvPr>
          <p:cNvSpPr txBox="1"/>
          <p:nvPr/>
        </p:nvSpPr>
        <p:spPr>
          <a:xfrm>
            <a:off x="179510" y="1377042"/>
            <a:ext cx="7560841" cy="2477601"/>
          </a:xfrm>
          <a:prstGeom prst="rect">
            <a:avLst/>
          </a:prstGeom>
          <a:solidFill>
            <a:schemeClr val="bg1">
              <a:alpha val="90000"/>
            </a:schemeClr>
          </a:solidFill>
        </p:spPr>
        <p:txBody>
          <a:bodyPr wrap="square">
            <a:spAutoFit/>
          </a:bodyPr>
          <a:lstStyle/>
          <a:p>
            <a:pPr>
              <a:lnSpc>
                <a:spcPts val="1800"/>
              </a:lnSpc>
              <a:spcBef>
                <a:spcPts val="600"/>
              </a:spcBef>
              <a:spcAft>
                <a:spcPts val="600"/>
              </a:spcAft>
              <a:buNone/>
            </a:pPr>
            <a:r>
              <a:rPr lang="en-US" altLang="zh-TW" sz="2000" b="1" u="none" strike="noStrike" dirty="0">
                <a:effectLst/>
              </a:rPr>
              <a:t>Features</a:t>
            </a:r>
          </a:p>
          <a:p>
            <a:pPr marL="285750" indent="-285750">
              <a:lnSpc>
                <a:spcPts val="1800"/>
              </a:lnSpc>
              <a:spcBef>
                <a:spcPts val="600"/>
              </a:spcBef>
              <a:spcAft>
                <a:spcPts val="600"/>
              </a:spcAft>
              <a:buFont typeface="Wingdings" panose="05000000000000000000" pitchFamily="2" charset="2"/>
              <a:buChar char="Ø"/>
            </a:pPr>
            <a:r>
              <a:rPr lang="en-US" altLang="zh-TW" sz="1600" b="1" dirty="0"/>
              <a:t>Moonshot AI: </a:t>
            </a:r>
            <a:r>
              <a:rPr lang="en-US" altLang="zh-TW" sz="1600" dirty="0"/>
              <a:t>Founded in March 2023, CEO Kimi(</a:t>
            </a:r>
            <a:r>
              <a:rPr lang="zh-TW" altLang="en-US" sz="1400" dirty="0">
                <a:latin typeface="微軟正黑體" panose="020B0604030504040204" pitchFamily="34" charset="-120"/>
                <a:ea typeface="微軟正黑體" panose="020B0604030504040204" pitchFamily="34" charset="-120"/>
              </a:rPr>
              <a:t>楊植麟</a:t>
            </a:r>
            <a:r>
              <a:rPr lang="en-US" altLang="zh-TW" sz="1400" dirty="0">
                <a:latin typeface="微軟正黑體" panose="020B0604030504040204" pitchFamily="34" charset="-120"/>
                <a:ea typeface="微軟正黑體" panose="020B0604030504040204" pitchFamily="34" charset="-120"/>
              </a:rPr>
              <a:t>1992.</a:t>
            </a:r>
            <a:r>
              <a:rPr lang="zh-TW" altLang="en-US" sz="1400" dirty="0">
                <a:latin typeface="微軟正黑體" panose="020B0604030504040204" pitchFamily="34" charset="-120"/>
                <a:ea typeface="微軟正黑體" panose="020B0604030504040204" pitchFamily="34" charset="-120"/>
              </a:rPr>
              <a:t>清華大學</a:t>
            </a:r>
            <a:r>
              <a:rPr lang="en-US" altLang="zh-TW" sz="1400" dirty="0">
                <a:latin typeface="微軟正黑體" panose="020B0604030504040204" pitchFamily="34" charset="-120"/>
                <a:ea typeface="微軟正黑體" panose="020B0604030504040204" pitchFamily="34" charset="-120"/>
              </a:rPr>
              <a:t>.CMU</a:t>
            </a:r>
            <a:r>
              <a:rPr lang="en-US" altLang="zh-TW" sz="1600" dirty="0"/>
              <a:t>).</a:t>
            </a:r>
          </a:p>
          <a:p>
            <a:pPr marL="285750" indent="-285750">
              <a:lnSpc>
                <a:spcPts val="1800"/>
              </a:lnSpc>
              <a:spcBef>
                <a:spcPts val="600"/>
              </a:spcBef>
              <a:spcAft>
                <a:spcPts val="600"/>
              </a:spcAft>
              <a:buFont typeface="Wingdings" panose="05000000000000000000" pitchFamily="2" charset="2"/>
              <a:buChar char="Ø"/>
            </a:pPr>
            <a:r>
              <a:rPr lang="en-US" altLang="zh-TW" sz="1600" b="1" dirty="0"/>
              <a:t>Key Technology:</a:t>
            </a:r>
            <a:r>
              <a:rPr lang="en-US" altLang="zh-TW" sz="1600" dirty="0"/>
              <a:t> </a:t>
            </a:r>
          </a:p>
          <a:p>
            <a:pPr marL="742950" lvl="1" indent="-285750">
              <a:lnSpc>
                <a:spcPts val="1800"/>
              </a:lnSpc>
              <a:spcBef>
                <a:spcPts val="600"/>
              </a:spcBef>
              <a:spcAft>
                <a:spcPts val="600"/>
              </a:spcAft>
              <a:buFont typeface="Arial" panose="020B0604020202020204" pitchFamily="34" charset="0"/>
              <a:buChar char="•"/>
            </a:pPr>
            <a:r>
              <a:rPr lang="en-US" altLang="zh-TW" sz="1600" dirty="0"/>
              <a:t>Kimi delta attention (</a:t>
            </a:r>
            <a:r>
              <a:rPr lang="en-US" altLang="zh-TW" sz="1600" b="1" dirty="0">
                <a:solidFill>
                  <a:schemeClr val="accent6">
                    <a:lumMod val="75000"/>
                  </a:schemeClr>
                </a:solidFill>
              </a:rPr>
              <a:t>KDA</a:t>
            </a:r>
            <a:r>
              <a:rPr lang="en-US" altLang="zh-TW" sz="1600" dirty="0"/>
              <a:t>): </a:t>
            </a:r>
            <a:r>
              <a:rPr lang="zh-TW" altLang="en-US" sz="1600" dirty="0"/>
              <a:t>水平方向優化</a:t>
            </a:r>
            <a:r>
              <a:rPr lang="en-US" altLang="zh-TW" sz="1600" dirty="0"/>
              <a:t>(</a:t>
            </a:r>
            <a:r>
              <a:rPr lang="zh-TW" altLang="en-US" sz="1600" dirty="0"/>
              <a:t>序列長度</a:t>
            </a:r>
            <a:r>
              <a:rPr lang="en-US" altLang="zh-TW" sz="1600" dirty="0"/>
              <a:t>).</a:t>
            </a:r>
          </a:p>
          <a:p>
            <a:pPr marL="742950" lvl="1" indent="-285750">
              <a:lnSpc>
                <a:spcPts val="1800"/>
              </a:lnSpc>
              <a:spcBef>
                <a:spcPts val="600"/>
              </a:spcBef>
              <a:spcAft>
                <a:spcPts val="600"/>
              </a:spcAft>
              <a:buFont typeface="Arial" panose="020B0604020202020204" pitchFamily="34" charset="0"/>
              <a:buChar char="•"/>
            </a:pPr>
            <a:r>
              <a:rPr lang="en-US" altLang="zh-TW" sz="1600" dirty="0"/>
              <a:t>AttnRes reduces layers (</a:t>
            </a:r>
            <a:r>
              <a:rPr lang="en-US" altLang="zh-TW" sz="1600" b="1" dirty="0">
                <a:solidFill>
                  <a:schemeClr val="accent6">
                    <a:lumMod val="75000"/>
                  </a:schemeClr>
                </a:solidFill>
              </a:rPr>
              <a:t>AttnRes</a:t>
            </a:r>
            <a:r>
              <a:rPr lang="en-US" altLang="zh-TW" sz="1600" dirty="0"/>
              <a:t>): </a:t>
            </a:r>
            <a:r>
              <a:rPr lang="zh-TW" altLang="en-US" sz="1600" dirty="0"/>
              <a:t>垂直方向優化</a:t>
            </a:r>
            <a:r>
              <a:rPr lang="en-US" altLang="zh-TW" sz="1600" dirty="0"/>
              <a:t>(</a:t>
            </a:r>
            <a:r>
              <a:rPr lang="zh-TW" altLang="en-US" sz="1600" dirty="0"/>
              <a:t>模型深度</a:t>
            </a:r>
            <a:r>
              <a:rPr lang="en-US" altLang="zh-TW" sz="1600" dirty="0"/>
              <a:t>).</a:t>
            </a:r>
          </a:p>
          <a:p>
            <a:pPr marL="742950" lvl="1" indent="-285750">
              <a:lnSpc>
                <a:spcPts val="1800"/>
              </a:lnSpc>
              <a:spcBef>
                <a:spcPts val="600"/>
              </a:spcBef>
              <a:spcAft>
                <a:spcPts val="600"/>
              </a:spcAft>
              <a:buFont typeface="Arial" panose="020B0604020202020204" pitchFamily="34" charset="0"/>
              <a:buChar char="•"/>
            </a:pPr>
            <a:r>
              <a:rPr lang="en-US" altLang="zh-TW" sz="1600" dirty="0"/>
              <a:t>Stable Latent MoE: has</a:t>
            </a:r>
            <a:r>
              <a:rPr lang="zh-TW" altLang="en-US" sz="1600" dirty="0"/>
              <a:t> </a:t>
            </a:r>
            <a:r>
              <a:rPr lang="en-US" altLang="zh-TW" sz="1600" dirty="0"/>
              <a:t>2 shared, and 14 selected export from 896 fine-grained experts.</a:t>
            </a:r>
          </a:p>
        </p:txBody>
      </p:sp>
      <p:sp>
        <p:nvSpPr>
          <p:cNvPr id="5" name="標題 1">
            <a:extLst>
              <a:ext uri="{FF2B5EF4-FFF2-40B4-BE49-F238E27FC236}">
                <a16:creationId xmlns:a16="http://schemas.microsoft.com/office/drawing/2014/main" id="{9451D045-C073-695F-6BAB-9A162FB85C82}"/>
              </a:ext>
            </a:extLst>
          </p:cNvPr>
          <p:cNvSpPr txBox="1">
            <a:spLocks/>
          </p:cNvSpPr>
          <p:nvPr/>
        </p:nvSpPr>
        <p:spPr>
          <a:xfrm>
            <a:off x="179511" y="116632"/>
            <a:ext cx="6768753"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Kimi K3 (2.8T)</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 frontier intelligence colossus specializing in lossless long-context memory and high-end autonomous agentic reasoning.</a:t>
            </a:r>
          </a:p>
        </p:txBody>
      </p:sp>
      <p:pic>
        <p:nvPicPr>
          <p:cNvPr id="31" name="圖片 30">
            <a:extLst>
              <a:ext uri="{FF2B5EF4-FFF2-40B4-BE49-F238E27FC236}">
                <a16:creationId xmlns:a16="http://schemas.microsoft.com/office/drawing/2014/main" id="{BB38B373-E827-B78E-6E07-1DF4B2799A74}"/>
              </a:ext>
            </a:extLst>
          </p:cNvPr>
          <p:cNvPicPr>
            <a:picLocks noChangeAspect="1"/>
          </p:cNvPicPr>
          <p:nvPr/>
        </p:nvPicPr>
        <p:blipFill>
          <a:blip r:embed="rId3"/>
          <a:stretch>
            <a:fillRect/>
          </a:stretch>
        </p:blipFill>
        <p:spPr>
          <a:xfrm>
            <a:off x="8406510" y="116632"/>
            <a:ext cx="552628" cy="548681"/>
          </a:xfrm>
          <a:prstGeom prst="rect">
            <a:avLst/>
          </a:prstGeom>
        </p:spPr>
      </p:pic>
      <p:sp>
        <p:nvSpPr>
          <p:cNvPr id="37" name="標題 1">
            <a:extLst>
              <a:ext uri="{FF2B5EF4-FFF2-40B4-BE49-F238E27FC236}">
                <a16:creationId xmlns:a16="http://schemas.microsoft.com/office/drawing/2014/main" id="{1926B4C0-13E0-523A-9940-67A0C3295914}"/>
              </a:ext>
            </a:extLst>
          </p:cNvPr>
          <p:cNvSpPr txBox="1">
            <a:spLocks/>
          </p:cNvSpPr>
          <p:nvPr/>
        </p:nvSpPr>
        <p:spPr>
          <a:xfrm>
            <a:off x="8312648" y="692696"/>
            <a:ext cx="740352" cy="425223"/>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Moonshot</a:t>
            </a:r>
          </a:p>
          <a:p>
            <a:pPr algn="ctr"/>
            <a:r>
              <a:rPr lang="zh-TW" altLang="en-US" sz="1000" b="1"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月之暗面</a:t>
            </a:r>
            <a:endParaRPr lang="en-US" altLang="zh-TW" sz="1000" b="1"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p:txBody>
      </p:sp>
    </p:spTree>
    <p:extLst>
      <p:ext uri="{BB962C8B-B14F-4D97-AF65-F5344CB8AC3E}">
        <p14:creationId xmlns:p14="http://schemas.microsoft.com/office/powerpoint/2010/main" val="320096866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011E9-ADCA-8AD3-5955-8B4CFF50F99D}"/>
            </a:ext>
          </a:extLst>
        </p:cNvPr>
        <p:cNvGrpSpPr/>
        <p:nvPr/>
      </p:nvGrpSpPr>
      <p:grpSpPr>
        <a:xfrm>
          <a:off x="0" y="0"/>
          <a:ext cx="0" cy="0"/>
          <a:chOff x="0" y="0"/>
          <a:chExt cx="0" cy="0"/>
        </a:xfrm>
      </p:grpSpPr>
      <p:sp>
        <p:nvSpPr>
          <p:cNvPr id="7" name="標題 1">
            <a:extLst>
              <a:ext uri="{FF2B5EF4-FFF2-40B4-BE49-F238E27FC236}">
                <a16:creationId xmlns:a16="http://schemas.microsoft.com/office/drawing/2014/main" id="{E4DF5537-7767-3FE2-DF63-AAEA1B1D639C}"/>
              </a:ext>
            </a:extLst>
          </p:cNvPr>
          <p:cNvSpPr txBox="1">
            <a:spLocks/>
          </p:cNvSpPr>
          <p:nvPr/>
        </p:nvSpPr>
        <p:spPr>
          <a:xfrm>
            <a:off x="179511" y="116632"/>
            <a:ext cx="6768753"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Kimi Architecture</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The--.</a:t>
            </a:r>
          </a:p>
        </p:txBody>
      </p:sp>
      <p:sp>
        <p:nvSpPr>
          <p:cNvPr id="9" name="文字方塊 8">
            <a:extLst>
              <a:ext uri="{FF2B5EF4-FFF2-40B4-BE49-F238E27FC236}">
                <a16:creationId xmlns:a16="http://schemas.microsoft.com/office/drawing/2014/main" id="{C1B77582-7129-1481-6EC8-8A0D8D78D952}"/>
              </a:ext>
            </a:extLst>
          </p:cNvPr>
          <p:cNvSpPr txBox="1"/>
          <p:nvPr/>
        </p:nvSpPr>
        <p:spPr>
          <a:xfrm>
            <a:off x="179510" y="3615695"/>
            <a:ext cx="7560841" cy="2477601"/>
          </a:xfrm>
          <a:prstGeom prst="rect">
            <a:avLst/>
          </a:prstGeom>
          <a:solidFill>
            <a:schemeClr val="bg1">
              <a:alpha val="90000"/>
            </a:schemeClr>
          </a:solidFill>
        </p:spPr>
        <p:txBody>
          <a:bodyPr wrap="square">
            <a:spAutoFit/>
          </a:bodyPr>
          <a:lstStyle/>
          <a:p>
            <a:pPr>
              <a:lnSpc>
                <a:spcPts val="1800"/>
              </a:lnSpc>
              <a:spcBef>
                <a:spcPts val="600"/>
              </a:spcBef>
              <a:spcAft>
                <a:spcPts val="600"/>
              </a:spcAft>
            </a:pPr>
            <a:r>
              <a:rPr lang="en-US" altLang="zh-TW" sz="2000" b="1" u="none" strike="noStrike" dirty="0">
                <a:effectLst/>
              </a:rPr>
              <a:t>Muon is Scalable for LLM Training</a:t>
            </a:r>
          </a:p>
          <a:p>
            <a:pPr marL="285750" indent="-285750">
              <a:lnSpc>
                <a:spcPts val="1800"/>
              </a:lnSpc>
              <a:spcBef>
                <a:spcPts val="600"/>
              </a:spcBef>
              <a:spcAft>
                <a:spcPts val="600"/>
              </a:spcAft>
              <a:buFont typeface="Wingdings" panose="05000000000000000000" pitchFamily="2" charset="2"/>
              <a:buChar char="Ø"/>
            </a:pPr>
            <a:r>
              <a:rPr lang="en-US" altLang="zh-TW" sz="1600" b="1" dirty="0"/>
              <a:t>Scale Muon Optimizer</a:t>
            </a:r>
          </a:p>
          <a:p>
            <a:pPr marL="742950" lvl="1" indent="-285750">
              <a:lnSpc>
                <a:spcPts val="1800"/>
              </a:lnSpc>
              <a:spcBef>
                <a:spcPts val="600"/>
              </a:spcBef>
              <a:spcAft>
                <a:spcPts val="600"/>
              </a:spcAft>
              <a:buFont typeface="Arial" panose="020B0604020202020204" pitchFamily="34" charset="0"/>
              <a:buChar char="•"/>
            </a:pPr>
            <a:r>
              <a:rPr lang="en-US" altLang="zh-TW" sz="1600" b="1" dirty="0"/>
              <a:t>Weight Decay: </a:t>
            </a:r>
            <a:r>
              <a:rPr lang="en-US" altLang="zh-TW" sz="1600" dirty="0"/>
              <a:t>Critical for scaling to larger models.</a:t>
            </a:r>
          </a:p>
          <a:p>
            <a:pPr marL="742950" lvl="1" indent="-285750">
              <a:lnSpc>
                <a:spcPts val="1800"/>
              </a:lnSpc>
              <a:spcBef>
                <a:spcPts val="600"/>
              </a:spcBef>
              <a:spcAft>
                <a:spcPts val="600"/>
              </a:spcAft>
              <a:buFont typeface="Arial" panose="020B0604020202020204" pitchFamily="34" charset="0"/>
              <a:buChar char="•"/>
            </a:pPr>
            <a:r>
              <a:rPr lang="en-US" altLang="zh-TW" sz="1600" b="1" dirty="0"/>
              <a:t>Consistent RMS Updates: </a:t>
            </a:r>
            <a:r>
              <a:rPr lang="en-US" altLang="zh-TW" sz="1600" dirty="0"/>
              <a:t>Fine-tuning per-parameter update magnitudes, enforcing consistent root-mean-square</a:t>
            </a:r>
            <a:r>
              <a:rPr lang="en-US" altLang="zh-TW" sz="1600" b="1" dirty="0"/>
              <a:t>.</a:t>
            </a:r>
            <a:endParaRPr lang="en-US" altLang="zh-TW" sz="1600" dirty="0"/>
          </a:p>
          <a:p>
            <a:pPr marL="285750" indent="-285750">
              <a:lnSpc>
                <a:spcPts val="1800"/>
              </a:lnSpc>
              <a:spcBef>
                <a:spcPts val="600"/>
              </a:spcBef>
              <a:spcAft>
                <a:spcPts val="600"/>
              </a:spcAft>
              <a:buFont typeface="Wingdings" panose="05000000000000000000" pitchFamily="2" charset="2"/>
              <a:buChar char="Ø"/>
            </a:pPr>
            <a:r>
              <a:rPr lang="en-US" altLang="zh-TW" sz="1600" b="1" dirty="0"/>
              <a:t>Scaling Law: Experimental Results</a:t>
            </a:r>
          </a:p>
          <a:p>
            <a:pPr marL="742950" lvl="1" indent="-285750">
              <a:lnSpc>
                <a:spcPts val="1800"/>
              </a:lnSpc>
              <a:spcBef>
                <a:spcPts val="600"/>
              </a:spcBef>
              <a:spcAft>
                <a:spcPts val="600"/>
              </a:spcAft>
              <a:buFont typeface="Arial" panose="020B0604020202020204" pitchFamily="34" charset="0"/>
              <a:buChar char="•"/>
            </a:pPr>
            <a:r>
              <a:rPr lang="en-US" altLang="zh-TW" sz="1600" b="1" dirty="0"/>
              <a:t>~2x token efficiency (vs </a:t>
            </a:r>
            <a:r>
              <a:rPr lang="en-US" altLang="zh-TW" sz="1600" b="1" dirty="0" err="1"/>
              <a:t>AdamW</a:t>
            </a:r>
            <a:r>
              <a:rPr lang="en-US" altLang="zh-TW" sz="1600" b="1" dirty="0"/>
              <a:t>) </a:t>
            </a:r>
            <a:endParaRPr lang="en-US" altLang="zh-TW" sz="1600" dirty="0"/>
          </a:p>
        </p:txBody>
      </p:sp>
      <p:pic>
        <p:nvPicPr>
          <p:cNvPr id="11" name="圖片 10">
            <a:extLst>
              <a:ext uri="{FF2B5EF4-FFF2-40B4-BE49-F238E27FC236}">
                <a16:creationId xmlns:a16="http://schemas.microsoft.com/office/drawing/2014/main" id="{27EB0C08-FFAC-265A-35FC-9352AF083829}"/>
              </a:ext>
            </a:extLst>
          </p:cNvPr>
          <p:cNvPicPr>
            <a:picLocks noChangeAspect="1"/>
          </p:cNvPicPr>
          <p:nvPr/>
        </p:nvPicPr>
        <p:blipFill>
          <a:blip r:embed="rId2"/>
          <a:stretch>
            <a:fillRect/>
          </a:stretch>
        </p:blipFill>
        <p:spPr>
          <a:xfrm>
            <a:off x="5791900" y="2204864"/>
            <a:ext cx="2312728" cy="1872208"/>
          </a:xfrm>
          <a:prstGeom prst="rect">
            <a:avLst/>
          </a:prstGeom>
        </p:spPr>
      </p:pic>
    </p:spTree>
    <p:extLst>
      <p:ext uri="{BB962C8B-B14F-4D97-AF65-F5344CB8AC3E}">
        <p14:creationId xmlns:p14="http://schemas.microsoft.com/office/powerpoint/2010/main" val="318276204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直線接點 47">
            <a:extLst>
              <a:ext uri="{FF2B5EF4-FFF2-40B4-BE49-F238E27FC236}">
                <a16:creationId xmlns:a16="http://schemas.microsoft.com/office/drawing/2014/main" id="{24C193FF-B938-0A29-7239-B1B89CC95EFE}"/>
              </a:ext>
            </a:extLst>
          </p:cNvPr>
          <p:cNvCxnSpPr/>
          <p:nvPr/>
        </p:nvCxnSpPr>
        <p:spPr>
          <a:xfrm>
            <a:off x="1292565" y="1448898"/>
            <a:ext cx="0" cy="1404038"/>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6" name="左大括弧 45">
            <a:extLst>
              <a:ext uri="{FF2B5EF4-FFF2-40B4-BE49-F238E27FC236}">
                <a16:creationId xmlns:a16="http://schemas.microsoft.com/office/drawing/2014/main" id="{A4B22DC8-3C8A-1A92-9A4D-F2496937F800}"/>
              </a:ext>
            </a:extLst>
          </p:cNvPr>
          <p:cNvSpPr/>
          <p:nvPr/>
        </p:nvSpPr>
        <p:spPr>
          <a:xfrm>
            <a:off x="520265" y="1661358"/>
            <a:ext cx="144887" cy="1153107"/>
          </a:xfrm>
          <a:prstGeom prst="leftBrace">
            <a:avLst>
              <a:gd name="adj1" fmla="val 8333"/>
              <a:gd name="adj2" fmla="val 91608"/>
            </a:avLst>
          </a:prstGeom>
          <a:ln>
            <a:solidFill>
              <a:schemeClr val="accent4">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 name="標題 1">
            <a:extLst>
              <a:ext uri="{FF2B5EF4-FFF2-40B4-BE49-F238E27FC236}">
                <a16:creationId xmlns:a16="http://schemas.microsoft.com/office/drawing/2014/main" id="{56F25196-03B9-1C85-2824-5F98C248CA1C}"/>
              </a:ext>
            </a:extLst>
          </p:cNvPr>
          <p:cNvSpPr txBox="1">
            <a:spLocks/>
          </p:cNvSpPr>
          <p:nvPr/>
        </p:nvSpPr>
        <p:spPr>
          <a:xfrm>
            <a:off x="179511" y="116632"/>
            <a:ext cx="8784975"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No</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P</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ositional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E</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ncoding</a:t>
            </a:r>
          </a:p>
          <a:p>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Relative Distance</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as the Core Variable.</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13" name="矩形 12">
            <a:extLst>
              <a:ext uri="{FF2B5EF4-FFF2-40B4-BE49-F238E27FC236}">
                <a16:creationId xmlns:a16="http://schemas.microsoft.com/office/drawing/2014/main" id="{C7149255-EE62-F2B3-F9EA-27B0D631BBA2}"/>
              </a:ext>
            </a:extLst>
          </p:cNvPr>
          <p:cNvSpPr/>
          <p:nvPr/>
        </p:nvSpPr>
        <p:spPr>
          <a:xfrm>
            <a:off x="2051720" y="1669329"/>
            <a:ext cx="793195" cy="1153107"/>
          </a:xfrm>
          <a:prstGeom prst="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Q</a:t>
            </a:r>
          </a:p>
        </p:txBody>
      </p:sp>
      <p:sp>
        <p:nvSpPr>
          <p:cNvPr id="15" name="矩形 14">
            <a:extLst>
              <a:ext uri="{FF2B5EF4-FFF2-40B4-BE49-F238E27FC236}">
                <a16:creationId xmlns:a16="http://schemas.microsoft.com/office/drawing/2014/main" id="{5EC13F2D-894D-7509-8FCE-C7698DA4D496}"/>
              </a:ext>
            </a:extLst>
          </p:cNvPr>
          <p:cNvSpPr/>
          <p:nvPr/>
        </p:nvSpPr>
        <p:spPr>
          <a:xfrm>
            <a:off x="3058851" y="1665005"/>
            <a:ext cx="1153109" cy="793196"/>
          </a:xfrm>
          <a:prstGeom prst="rect">
            <a:avLst/>
          </a:prstGeom>
          <a:noFill/>
          <a:ln w="381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K</a:t>
            </a:r>
            <a:r>
              <a:rPr lang="en-US" altLang="zh-TW" sz="1400" baseline="80000" dirty="0">
                <a:solidFill>
                  <a:schemeClr val="tx1"/>
                </a:solidFill>
                <a:latin typeface="微軟正黑體" panose="020B0604030504040204" pitchFamily="34" charset="-120"/>
                <a:ea typeface="微軟正黑體" panose="020B0604030504040204" pitchFamily="34" charset="-120"/>
              </a:rPr>
              <a:t>T</a:t>
            </a:r>
          </a:p>
        </p:txBody>
      </p:sp>
      <p:sp>
        <p:nvSpPr>
          <p:cNvPr id="19" name="矩形 18">
            <a:extLst>
              <a:ext uri="{FF2B5EF4-FFF2-40B4-BE49-F238E27FC236}">
                <a16:creationId xmlns:a16="http://schemas.microsoft.com/office/drawing/2014/main" id="{727E6B00-688E-B150-5987-5DF77B22C0F6}"/>
              </a:ext>
            </a:extLst>
          </p:cNvPr>
          <p:cNvSpPr/>
          <p:nvPr/>
        </p:nvSpPr>
        <p:spPr>
          <a:xfrm>
            <a:off x="677937" y="1665005"/>
            <a:ext cx="1083130" cy="1153107"/>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X</a:t>
            </a:r>
          </a:p>
        </p:txBody>
      </p:sp>
      <p:cxnSp>
        <p:nvCxnSpPr>
          <p:cNvPr id="22" name="直線接點 21">
            <a:extLst>
              <a:ext uri="{FF2B5EF4-FFF2-40B4-BE49-F238E27FC236}">
                <a16:creationId xmlns:a16="http://schemas.microsoft.com/office/drawing/2014/main" id="{D8D68E0B-368E-FAB4-AE3A-7B98F7011A83}"/>
              </a:ext>
            </a:extLst>
          </p:cNvPr>
          <p:cNvCxnSpPr>
            <a:cxnSpLocks/>
          </p:cNvCxnSpPr>
          <p:nvPr/>
        </p:nvCxnSpPr>
        <p:spPr>
          <a:xfrm>
            <a:off x="682461" y="1952954"/>
            <a:ext cx="649179" cy="0"/>
          </a:xfrm>
          <a:prstGeom prst="line">
            <a:avLst/>
          </a:prstGeom>
          <a:ln w="158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9E74ABB1-C392-86E8-9340-D7DE5DB90F75}"/>
              </a:ext>
            </a:extLst>
          </p:cNvPr>
          <p:cNvCxnSpPr>
            <a:cxnSpLocks/>
          </p:cNvCxnSpPr>
          <p:nvPr/>
        </p:nvCxnSpPr>
        <p:spPr>
          <a:xfrm>
            <a:off x="683568" y="2745042"/>
            <a:ext cx="607876" cy="0"/>
          </a:xfrm>
          <a:prstGeom prst="line">
            <a:avLst/>
          </a:prstGeom>
          <a:ln w="19050">
            <a:solidFill>
              <a:schemeClr val="accent4"/>
            </a:solidFill>
            <a:prstDash val="sysDash"/>
          </a:ln>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7F880E63-60DA-AA0D-3EDD-5FEA6C78B519}"/>
              </a:ext>
            </a:extLst>
          </p:cNvPr>
          <p:cNvCxnSpPr>
            <a:cxnSpLocks/>
          </p:cNvCxnSpPr>
          <p:nvPr/>
        </p:nvCxnSpPr>
        <p:spPr>
          <a:xfrm>
            <a:off x="2050613" y="1952954"/>
            <a:ext cx="649179" cy="0"/>
          </a:xfrm>
          <a:prstGeom prst="line">
            <a:avLst/>
          </a:prstGeom>
          <a:ln w="158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D79BF9DE-5AEF-F8CE-8EA7-19C3E69E50DB}"/>
              </a:ext>
            </a:extLst>
          </p:cNvPr>
          <p:cNvSpPr/>
          <p:nvPr/>
        </p:nvSpPr>
        <p:spPr>
          <a:xfrm>
            <a:off x="2483768" y="1808938"/>
            <a:ext cx="504056" cy="235948"/>
          </a:xfrm>
          <a:prstGeom prst="rect">
            <a:avLst/>
          </a:prstGeom>
          <a:solidFill>
            <a:schemeClr val="accent2">
              <a:lumMod val="20000"/>
              <a:lumOff val="80000"/>
              <a:alpha val="70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2">
                    <a:lumMod val="75000"/>
                  </a:schemeClr>
                </a:solidFill>
              </a:rPr>
              <a:t>(q</a:t>
            </a:r>
            <a:r>
              <a:rPr lang="en-US" altLang="zh-TW" sz="1400" baseline="-25000" dirty="0">
                <a:solidFill>
                  <a:schemeClr val="accent2">
                    <a:lumMod val="75000"/>
                  </a:schemeClr>
                </a:solidFill>
              </a:rPr>
              <a:t>1</a:t>
            </a:r>
            <a:r>
              <a:rPr lang="en-US" altLang="zh-TW" sz="1400" dirty="0">
                <a:solidFill>
                  <a:schemeClr val="accent2">
                    <a:lumMod val="75000"/>
                  </a:schemeClr>
                </a:solidFill>
              </a:rPr>
              <a:t>, q</a:t>
            </a:r>
            <a:r>
              <a:rPr lang="en-US" altLang="zh-TW" sz="1400" baseline="-25000" dirty="0">
                <a:solidFill>
                  <a:schemeClr val="accent2">
                    <a:lumMod val="75000"/>
                  </a:schemeClr>
                </a:solidFill>
              </a:rPr>
              <a:t>2</a:t>
            </a:r>
            <a:r>
              <a:rPr lang="en-US" altLang="zh-TW" sz="1400" dirty="0">
                <a:solidFill>
                  <a:schemeClr val="accent2">
                    <a:lumMod val="75000"/>
                  </a:schemeClr>
                </a:solidFill>
              </a:rPr>
              <a:t>)</a:t>
            </a:r>
            <a:endParaRPr lang="zh-TW" altLang="en-US" sz="1400" dirty="0">
              <a:solidFill>
                <a:schemeClr val="accent2">
                  <a:lumMod val="75000"/>
                </a:schemeClr>
              </a:solidFill>
            </a:endParaRPr>
          </a:p>
        </p:txBody>
      </p:sp>
      <p:cxnSp>
        <p:nvCxnSpPr>
          <p:cNvPr id="25" name="直線接點 24">
            <a:extLst>
              <a:ext uri="{FF2B5EF4-FFF2-40B4-BE49-F238E27FC236}">
                <a16:creationId xmlns:a16="http://schemas.microsoft.com/office/drawing/2014/main" id="{C50F45EF-71BD-F1BF-BAF5-1560075977FF}"/>
              </a:ext>
            </a:extLst>
          </p:cNvPr>
          <p:cNvCxnSpPr>
            <a:cxnSpLocks/>
          </p:cNvCxnSpPr>
          <p:nvPr/>
        </p:nvCxnSpPr>
        <p:spPr>
          <a:xfrm>
            <a:off x="4067944" y="1664922"/>
            <a:ext cx="0" cy="648072"/>
          </a:xfrm>
          <a:prstGeom prst="line">
            <a:avLst/>
          </a:prstGeom>
          <a:ln w="15875">
            <a:solidFill>
              <a:schemeClr val="accent4"/>
            </a:solidFill>
            <a:prstDash val="sysDash"/>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E49F5492-4F0F-88D2-C444-E97C23E35C80}"/>
              </a:ext>
            </a:extLst>
          </p:cNvPr>
          <p:cNvSpPr/>
          <p:nvPr/>
        </p:nvSpPr>
        <p:spPr>
          <a:xfrm rot="5400000">
            <a:off x="3816797" y="2258807"/>
            <a:ext cx="539695" cy="216022"/>
          </a:xfrm>
          <a:prstGeom prst="rect">
            <a:avLst/>
          </a:prstGeom>
          <a:solidFill>
            <a:schemeClr val="accent4">
              <a:lumMod val="20000"/>
              <a:lumOff val="80000"/>
              <a:alpha val="70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4">
                    <a:lumMod val="75000"/>
                  </a:schemeClr>
                </a:solidFill>
              </a:rPr>
              <a:t>(k</a:t>
            </a:r>
            <a:r>
              <a:rPr lang="en-US" altLang="zh-TW" sz="1400" baseline="-25000" dirty="0">
                <a:solidFill>
                  <a:schemeClr val="accent4">
                    <a:lumMod val="75000"/>
                  </a:schemeClr>
                </a:solidFill>
              </a:rPr>
              <a:t>1</a:t>
            </a:r>
            <a:r>
              <a:rPr lang="en-US" altLang="zh-TW" sz="1400" dirty="0">
                <a:solidFill>
                  <a:schemeClr val="accent4">
                    <a:lumMod val="75000"/>
                  </a:schemeClr>
                </a:solidFill>
              </a:rPr>
              <a:t>, k</a:t>
            </a:r>
            <a:r>
              <a:rPr lang="en-US" altLang="zh-TW" sz="1400" baseline="-25000" dirty="0">
                <a:solidFill>
                  <a:schemeClr val="accent4">
                    <a:lumMod val="75000"/>
                  </a:schemeClr>
                </a:solidFill>
              </a:rPr>
              <a:t>2</a:t>
            </a:r>
            <a:r>
              <a:rPr lang="en-US" altLang="zh-TW" sz="1400" dirty="0">
                <a:solidFill>
                  <a:schemeClr val="accent4">
                    <a:lumMod val="75000"/>
                  </a:schemeClr>
                </a:solidFill>
              </a:rPr>
              <a:t>)</a:t>
            </a:r>
          </a:p>
        </p:txBody>
      </p:sp>
      <p:sp>
        <p:nvSpPr>
          <p:cNvPr id="33" name="矩形 32">
            <a:extLst>
              <a:ext uri="{FF2B5EF4-FFF2-40B4-BE49-F238E27FC236}">
                <a16:creationId xmlns:a16="http://schemas.microsoft.com/office/drawing/2014/main" id="{2EC998CA-3318-51E2-8FE3-653FC308401C}"/>
              </a:ext>
            </a:extLst>
          </p:cNvPr>
          <p:cNvSpPr/>
          <p:nvPr/>
        </p:nvSpPr>
        <p:spPr>
          <a:xfrm>
            <a:off x="1187624" y="1825655"/>
            <a:ext cx="207640" cy="235948"/>
          </a:xfrm>
          <a:prstGeom prst="rect">
            <a:avLst/>
          </a:prstGeom>
          <a:solidFill>
            <a:schemeClr val="accent2">
              <a:lumMod val="20000"/>
              <a:lumOff val="80000"/>
              <a:alpha val="70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2">
                    <a:lumMod val="75000"/>
                  </a:schemeClr>
                </a:solidFill>
              </a:rPr>
              <a:t>(q)</a:t>
            </a:r>
            <a:endParaRPr lang="zh-TW" altLang="en-US" sz="1400" dirty="0">
              <a:solidFill>
                <a:schemeClr val="accent2">
                  <a:lumMod val="75000"/>
                </a:schemeClr>
              </a:solidFill>
            </a:endParaRPr>
          </a:p>
        </p:txBody>
      </p:sp>
      <p:sp>
        <p:nvSpPr>
          <p:cNvPr id="34" name="矩形 33">
            <a:extLst>
              <a:ext uri="{FF2B5EF4-FFF2-40B4-BE49-F238E27FC236}">
                <a16:creationId xmlns:a16="http://schemas.microsoft.com/office/drawing/2014/main" id="{071CA28F-3AE8-4268-FD6D-9B1FF40C68A3}"/>
              </a:ext>
            </a:extLst>
          </p:cNvPr>
          <p:cNvSpPr/>
          <p:nvPr/>
        </p:nvSpPr>
        <p:spPr>
          <a:xfrm>
            <a:off x="1245891" y="2632286"/>
            <a:ext cx="103052" cy="216022"/>
          </a:xfrm>
          <a:prstGeom prst="rect">
            <a:avLst/>
          </a:prstGeom>
          <a:solidFill>
            <a:schemeClr val="accent4">
              <a:lumMod val="20000"/>
              <a:lumOff val="80000"/>
              <a:alpha val="70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4">
                    <a:lumMod val="75000"/>
                  </a:schemeClr>
                </a:solidFill>
              </a:rPr>
              <a:t>(k)</a:t>
            </a:r>
          </a:p>
        </p:txBody>
      </p:sp>
      <p:sp>
        <p:nvSpPr>
          <p:cNvPr id="36" name="矩形 35">
            <a:extLst>
              <a:ext uri="{FF2B5EF4-FFF2-40B4-BE49-F238E27FC236}">
                <a16:creationId xmlns:a16="http://schemas.microsoft.com/office/drawing/2014/main" id="{E1685F92-63D5-6A09-2CCA-DE5ED1C6DC64}"/>
              </a:ext>
            </a:extLst>
          </p:cNvPr>
          <p:cNvSpPr/>
          <p:nvPr/>
        </p:nvSpPr>
        <p:spPr>
          <a:xfrm>
            <a:off x="354271" y="2601026"/>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4"/>
                </a:solidFill>
              </a:rPr>
              <a:t>n</a:t>
            </a:r>
          </a:p>
        </p:txBody>
      </p:sp>
      <p:sp>
        <p:nvSpPr>
          <p:cNvPr id="39" name="矩形 38">
            <a:extLst>
              <a:ext uri="{FF2B5EF4-FFF2-40B4-BE49-F238E27FC236}">
                <a16:creationId xmlns:a16="http://schemas.microsoft.com/office/drawing/2014/main" id="{F7060D8D-6187-ACDC-E55F-F5E71DC56607}"/>
              </a:ext>
            </a:extLst>
          </p:cNvPr>
          <p:cNvSpPr/>
          <p:nvPr/>
        </p:nvSpPr>
        <p:spPr>
          <a:xfrm>
            <a:off x="343180" y="1688229"/>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2"/>
                </a:solidFill>
              </a:rPr>
              <a:t>m</a:t>
            </a:r>
          </a:p>
        </p:txBody>
      </p:sp>
      <p:sp>
        <p:nvSpPr>
          <p:cNvPr id="45" name="左大括弧 44">
            <a:extLst>
              <a:ext uri="{FF2B5EF4-FFF2-40B4-BE49-F238E27FC236}">
                <a16:creationId xmlns:a16="http://schemas.microsoft.com/office/drawing/2014/main" id="{FFF90071-FB99-0245-1ED9-E7DBC7B0A912}"/>
              </a:ext>
            </a:extLst>
          </p:cNvPr>
          <p:cNvSpPr/>
          <p:nvPr/>
        </p:nvSpPr>
        <p:spPr>
          <a:xfrm>
            <a:off x="516108" y="1664922"/>
            <a:ext cx="166354" cy="288032"/>
          </a:xfrm>
          <a:prstGeom prst="leftBrace">
            <a:avLst/>
          </a:prstGeom>
          <a:ln w="1587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129BB3AF-76F0-75BA-1CE0-B2588BA6B7D1}"/>
              </a:ext>
            </a:extLst>
          </p:cNvPr>
          <p:cNvSpPr/>
          <p:nvPr/>
        </p:nvSpPr>
        <p:spPr>
          <a:xfrm>
            <a:off x="1218884" y="1304883"/>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rPr>
              <a:t>i</a:t>
            </a:r>
          </a:p>
        </p:txBody>
      </p:sp>
      <p:sp>
        <p:nvSpPr>
          <p:cNvPr id="53" name="左大括弧 52">
            <a:extLst>
              <a:ext uri="{FF2B5EF4-FFF2-40B4-BE49-F238E27FC236}">
                <a16:creationId xmlns:a16="http://schemas.microsoft.com/office/drawing/2014/main" id="{194BF863-3822-AACA-4B0C-0E243D9D3231}"/>
              </a:ext>
            </a:extLst>
          </p:cNvPr>
          <p:cNvSpPr/>
          <p:nvPr/>
        </p:nvSpPr>
        <p:spPr>
          <a:xfrm rot="5400000">
            <a:off x="1020584" y="1178261"/>
            <a:ext cx="107892" cy="793185"/>
          </a:xfrm>
          <a:prstGeom prst="leftBrace">
            <a:avLst>
              <a:gd name="adj1" fmla="val 8333"/>
              <a:gd name="adj2" fmla="val 21426"/>
            </a:avLst>
          </a:prstGeom>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8EEBC337-2ABD-9F06-0885-CEB6C91D9396}"/>
                  </a:ext>
                </a:extLst>
              </p:cNvPr>
              <p:cNvSpPr txBox="1"/>
              <p:nvPr/>
            </p:nvSpPr>
            <p:spPr>
              <a:xfrm>
                <a:off x="539552" y="4618766"/>
                <a:ext cx="3816421" cy="1018760"/>
              </a:xfrm>
              <a:prstGeom prst="rect">
                <a:avLst/>
              </a:prstGeom>
              <a:noFill/>
            </p:spPr>
            <p:txBody>
              <a:bodyPr wrap="none" lIns="0" tIns="0" rIns="0" bIns="0" rtlCol="0" anchor="ctr" anchorCtr="0">
                <a:noAutofit/>
              </a:bodyPr>
              <a:lstStyle/>
              <a:p>
                <a:pPr>
                  <a:lnSpc>
                    <a:spcPct val="150000"/>
                  </a:lnSpc>
                </a:pPr>
                <a14:m>
                  <m:oMathPara xmlns:m="http://schemas.openxmlformats.org/officeDocument/2006/math">
                    <m:oMathParaPr>
                      <m:jc m:val="left"/>
                    </m:oMathParaPr>
                    <m:oMath>
                      <m:r>
                        <a:rPr lang="en-US" altLang="zh-TW" sz="1200" b="0" i="1" smtClean="0">
                          <a:latin typeface="Cambria Math" panose="02040503050406030204" pitchFamily="18" charset="0"/>
                        </a:rPr>
                        <m:t>𝑅𝑜𝑃𝐸</m:t>
                      </m:r>
                      <m:d>
                        <m:dPr>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𝑞</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𝑘</m:t>
                          </m:r>
                        </m:e>
                      </m:d>
                    </m:oMath>
                  </m:oMathPara>
                </a14:m>
                <a:endParaRPr lang="en-US" altLang="zh-TW" sz="1200" b="0" i="1" dirty="0">
                  <a:latin typeface="Cambria Math" panose="02040503050406030204" pitchFamily="18" charset="0"/>
                </a:endParaRPr>
              </a:p>
              <a:p>
                <a:pPr>
                  <a:lnSpc>
                    <a:spcPct val="150000"/>
                  </a:lnSpc>
                </a:pPr>
                <a14:m>
                  <m:oMathPara xmlns:m="http://schemas.openxmlformats.org/officeDocument/2006/math">
                    <m:oMathParaPr>
                      <m:jc m:val="left"/>
                    </m:oMathParaPr>
                    <m:oMath>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𝑅𝑜𝑃𝐸</m:t>
                      </m:r>
                      <m:d>
                        <m:dPr>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𝑞</m:t>
                          </m:r>
                        </m:e>
                      </m:d>
                      <m:r>
                        <a:rPr lang="en-US"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𝑅𝑜𝑃𝐸</m:t>
                      </m:r>
                      <m:d>
                        <m:dPr>
                          <m:ctrlPr>
                            <a:rPr lang="en-US" altLang="zh-TW" sz="1200" b="0" i="1" smtClean="0">
                              <a:latin typeface="Cambria Math" panose="02040503050406030204" pitchFamily="18" charset="0"/>
                              <a:ea typeface="Cambria Math" panose="02040503050406030204" pitchFamily="18" charset="0"/>
                            </a:rPr>
                          </m:ctrlPr>
                        </m:dPr>
                        <m:e>
                          <m:r>
                            <a:rPr lang="en-US" altLang="zh-TW" sz="1200" b="0" i="1" smtClean="0">
                              <a:latin typeface="Cambria Math" panose="02040503050406030204" pitchFamily="18" charset="0"/>
                              <a:ea typeface="Cambria Math" panose="02040503050406030204" pitchFamily="18" charset="0"/>
                            </a:rPr>
                            <m:t>𝑘</m:t>
                          </m:r>
                        </m:e>
                      </m:d>
                    </m:oMath>
                  </m:oMathPara>
                </a14:m>
                <a:endParaRPr lang="en-US" altLang="zh-TW" sz="1200" b="0" i="1" dirty="0">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m:r>
                        <a:rPr lang="en-US" altLang="zh-TW" sz="1200" b="0" i="1" smtClean="0">
                          <a:latin typeface="Cambria Math" panose="02040503050406030204" pitchFamily="18" charset="0"/>
                        </a:rPr>
                        <m:t>=</m:t>
                      </m:r>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𝑅</m:t>
                          </m:r>
                        </m:e>
                        <m:sub>
                          <m:r>
                            <a:rPr lang="en-US" altLang="zh-TW" sz="1200" i="1">
                              <a:latin typeface="Cambria Math" panose="02040503050406030204" pitchFamily="18" charset="0"/>
                              <a:ea typeface="Cambria Math" panose="02040503050406030204" pitchFamily="18" charset="0"/>
                            </a:rPr>
                            <m:t>𝑚</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sub>
                      </m:sSub>
                      <m:d>
                        <m:dPr>
                          <m:ctrlPr>
                            <a:rPr lang="en-US" altLang="zh-TW" sz="1200" i="1" smtClean="0">
                              <a:latin typeface="Cambria Math" panose="02040503050406030204" pitchFamily="18" charset="0"/>
                            </a:rPr>
                          </m:ctrlPr>
                        </m:dPr>
                        <m:e>
                          <m:sSub>
                            <m:sSubPr>
                              <m:ctrlPr>
                                <a:rPr lang="en-US" altLang="zh-TW" sz="1200" i="1" smtClean="0">
                                  <a:latin typeface="Cambria Math" panose="02040503050406030204" pitchFamily="18" charset="0"/>
                                </a:rPr>
                              </m:ctrlPr>
                            </m:sSubPr>
                            <m:e>
                              <m:r>
                                <a:rPr lang="en-US" altLang="zh-TW" sz="1200" i="1" smtClean="0">
                                  <a:latin typeface="Cambria Math" panose="02040503050406030204" pitchFamily="18" charset="0"/>
                                </a:rPr>
                                <m:t>𝑞</m:t>
                              </m:r>
                            </m:e>
                            <m:sub>
                              <m:r>
                                <a:rPr lang="en-US" altLang="zh-TW" sz="1200" i="1">
                                  <a:latin typeface="Cambria Math" panose="02040503050406030204" pitchFamily="18" charset="0"/>
                                </a:rPr>
                                <m:t>1</m:t>
                              </m:r>
                            </m:sub>
                          </m:sSub>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m:t>
                              </m:r>
                              <m:r>
                                <a:rPr lang="en-US" altLang="zh-TW" sz="1200" i="1">
                                  <a:latin typeface="Cambria Math" panose="02040503050406030204" pitchFamily="18" charset="0"/>
                                </a:rPr>
                                <m:t>𝑞</m:t>
                              </m:r>
                            </m:e>
                            <m:sub>
                              <m:r>
                                <a:rPr lang="en-US" altLang="zh-TW" sz="1200" i="1">
                                  <a:latin typeface="Cambria Math" panose="02040503050406030204" pitchFamily="18" charset="0"/>
                                </a:rPr>
                                <m:t>2</m:t>
                              </m:r>
                            </m:sub>
                          </m:sSub>
                        </m:e>
                      </m:d>
                      <m:r>
                        <a:rPr lang="en-US" altLang="zh-TW" sz="1200" b="0" i="1" smtClean="0">
                          <a:latin typeface="Cambria Math" panose="02040503050406030204" pitchFamily="18" charset="0"/>
                          <a:ea typeface="Cambria Math" panose="02040503050406030204" pitchFamily="18" charset="0"/>
                        </a:rPr>
                        <m:t>∙</m:t>
                      </m:r>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𝑅</m:t>
                          </m:r>
                        </m:e>
                        <m:sub>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𝑖</m:t>
                              </m:r>
                            </m:sub>
                          </m:sSub>
                        </m:sub>
                      </m:sSub>
                      <m:d>
                        <m:dPr>
                          <m:ctrlPr>
                            <a:rPr lang="en-US" altLang="zh-TW" sz="1200" b="0" i="1" smtClean="0">
                              <a:latin typeface="Cambria Math" panose="02040503050406030204" pitchFamily="18" charset="0"/>
                            </a:rPr>
                          </m:ctrlPr>
                        </m:dPr>
                        <m:e>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𝑘</m:t>
                              </m:r>
                            </m:e>
                            <m:sub>
                              <m:r>
                                <a:rPr lang="en-US" altLang="zh-TW" sz="1200" i="1">
                                  <a:latin typeface="Cambria Math" panose="02040503050406030204" pitchFamily="18" charset="0"/>
                                </a:rPr>
                                <m:t>1</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m:t>
                              </m:r>
                              <m:r>
                                <a:rPr lang="en-US" altLang="zh-TW" sz="1200" b="0" i="1" smtClean="0">
                                  <a:latin typeface="Cambria Math" panose="02040503050406030204" pitchFamily="18" charset="0"/>
                                </a:rPr>
                                <m:t>𝑘</m:t>
                              </m:r>
                            </m:e>
                            <m:sub>
                              <m:r>
                                <a:rPr lang="en-US" altLang="zh-TW" sz="1200" i="1">
                                  <a:latin typeface="Cambria Math" panose="02040503050406030204" pitchFamily="18" charset="0"/>
                                </a:rPr>
                                <m:t>2</m:t>
                              </m:r>
                            </m:sub>
                          </m:sSub>
                        </m:e>
                      </m:d>
                    </m:oMath>
                  </m:oMathPara>
                </a14:m>
                <a:endParaRPr lang="en-US" altLang="zh-TW" sz="1200" i="1" dirty="0">
                  <a:latin typeface="Cambria Math" panose="02040503050406030204" pitchFamily="18" charset="0"/>
                </a:endParaRPr>
              </a:p>
            </p:txBody>
          </p:sp>
        </mc:Choice>
        <mc:Fallback xmlns="">
          <p:sp>
            <p:nvSpPr>
              <p:cNvPr id="4" name="文字方塊 3">
                <a:extLst>
                  <a:ext uri="{FF2B5EF4-FFF2-40B4-BE49-F238E27FC236}">
                    <a16:creationId xmlns:a16="http://schemas.microsoft.com/office/drawing/2014/main" id="{8EEBC337-2ABD-9F06-0885-CEB6C91D9396}"/>
                  </a:ext>
                </a:extLst>
              </p:cNvPr>
              <p:cNvSpPr txBox="1">
                <a:spLocks noRot="1" noChangeAspect="1" noMove="1" noResize="1" noEditPoints="1" noAdjustHandles="1" noChangeArrowheads="1" noChangeShapeType="1" noTextEdit="1"/>
              </p:cNvSpPr>
              <p:nvPr/>
            </p:nvSpPr>
            <p:spPr>
              <a:xfrm>
                <a:off x="539552" y="4618766"/>
                <a:ext cx="3816421" cy="1018760"/>
              </a:xfrm>
              <a:prstGeom prst="rect">
                <a:avLst/>
              </a:prstGeom>
              <a:blipFill>
                <a:blip r:embed="rId3"/>
                <a:stretch>
                  <a:fillRect l="-143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C736D0EF-242D-623C-3A9F-0D04A2BDB577}"/>
                  </a:ext>
                </a:extLst>
              </p:cNvPr>
              <p:cNvSpPr txBox="1"/>
              <p:nvPr/>
            </p:nvSpPr>
            <p:spPr>
              <a:xfrm>
                <a:off x="4606854" y="4509120"/>
                <a:ext cx="2111120" cy="1018764"/>
              </a:xfrm>
              <a:prstGeom prst="rect">
                <a:avLst/>
              </a:prstGeom>
              <a:noFill/>
            </p:spPr>
            <p:txBody>
              <a:bodyPr wrap="none" lIns="0" tIns="0" rIns="0" bIns="0" rtlCol="0" anchor="ctr" anchorCtr="1">
                <a:noAutofit/>
              </a:bodyPr>
              <a:lstStyle/>
              <a:p>
                <a:pPr>
                  <a:lnSpc>
                    <a:spcPct val="150000"/>
                  </a:lnSpc>
                </a:pPr>
                <a14:m>
                  <m:oMathPara xmlns:m="http://schemas.openxmlformats.org/officeDocument/2006/math">
                    <m:oMathParaPr>
                      <m:jc m:val="left"/>
                    </m:oMathParaPr>
                    <m:oMath>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𝑅</m:t>
                          </m:r>
                        </m:e>
                        <m:sub>
                          <m:r>
                            <a:rPr lang="en-US" altLang="zh-TW" sz="1200" b="0" i="1" smtClean="0">
                              <a:latin typeface="Cambria Math" panose="02040503050406030204" pitchFamily="18" charset="0"/>
                              <a:ea typeface="Cambria Math" panose="02040503050406030204" pitchFamily="18" charset="0"/>
                            </a:rPr>
                            <m:t>𝑚</m:t>
                          </m:r>
                          <m:sSub>
                            <m:sSubPr>
                              <m:ctrlPr>
                                <a:rPr lang="zh-TW" altLang="en-US" sz="1200" b="0" i="1" smtClean="0">
                                  <a:latin typeface="Cambria Math" panose="02040503050406030204" pitchFamily="18" charset="0"/>
                                  <a:ea typeface="Cambria Math" panose="02040503050406030204" pitchFamily="18" charset="0"/>
                                </a:rPr>
                              </m:ctrlPr>
                            </m:sSubPr>
                            <m:e>
                              <m:r>
                                <a:rPr lang="zh-TW" altLang="en-US" sz="1200" b="0" i="1" smtClean="0">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𝑖</m:t>
                              </m:r>
                            </m:sub>
                          </m:sSub>
                        </m:sub>
                      </m:sSub>
                      <m:r>
                        <a:rPr lang="en-US" altLang="zh-TW" sz="1200" b="0" i="1" smtClean="0">
                          <a:latin typeface="Cambria Math" panose="02040503050406030204" pitchFamily="18" charset="0"/>
                          <a:ea typeface="Cambria Math" panose="02040503050406030204" pitchFamily="18" charset="0"/>
                        </a:rPr>
                        <m:t>=</m:t>
                      </m:r>
                      <m:d>
                        <m:dPr>
                          <m:begChr m:val="["/>
                          <m:endChr m:val="]"/>
                          <m:ctrlPr>
                            <a:rPr lang="en-US" altLang="zh-TW" sz="1200" b="0" i="1" smtClean="0">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b="0" i="1" smtClean="0">
                                  <a:latin typeface="Cambria Math" panose="02040503050406030204" pitchFamily="18" charset="0"/>
                                  <a:ea typeface="Cambria Math" panose="02040503050406030204" pitchFamily="18" charset="0"/>
                                </a:rPr>
                              </m:ctrlPr>
                            </m:mPr>
                            <m:mr>
                              <m:e>
                                <m:func>
                                  <m:funcPr>
                                    <m:ctrlPr>
                                      <a:rPr lang="en-US" altLang="zh-TW" sz="1200" b="0" i="0" smtClean="0">
                                        <a:latin typeface="Cambria Math" panose="02040503050406030204" pitchFamily="18" charset="0"/>
                                        <a:ea typeface="Cambria Math" panose="02040503050406030204" pitchFamily="18" charset="0"/>
                                      </a:rPr>
                                    </m:ctrlPr>
                                  </m:funcPr>
                                  <m:fName>
                                    <m:r>
                                      <m:rPr>
                                        <m:sty m:val="p"/>
                                        <m:brk m:alnAt="7"/>
                                      </m:rPr>
                                      <a:rPr lang="en-US" altLang="zh-TW" sz="1200" b="0" i="0" smtClean="0">
                                        <a:latin typeface="Cambria Math" panose="02040503050406030204" pitchFamily="18" charset="0"/>
                                        <a:ea typeface="Cambria Math" panose="02040503050406030204" pitchFamily="18" charset="0"/>
                                      </a:rPr>
                                      <m:t>c</m:t>
                                    </m:r>
                                    <m:r>
                                      <m:rPr>
                                        <m:sty m:val="p"/>
                                      </m:rPr>
                                      <a:rPr lang="en-US" altLang="zh-TW" sz="1200" b="0" i="0" smtClean="0">
                                        <a:latin typeface="Cambria Math" panose="02040503050406030204" pitchFamily="18" charset="0"/>
                                        <a:ea typeface="Cambria Math" panose="02040503050406030204" pitchFamily="18" charset="0"/>
                                      </a:rPr>
                                      <m:t>os</m:t>
                                    </m:r>
                                  </m:fName>
                                  <m:e>
                                    <m:r>
                                      <a:rPr lang="en-US" altLang="zh-TW" sz="1200" i="1">
                                        <a:latin typeface="Cambria Math" panose="02040503050406030204" pitchFamily="18" charset="0"/>
                                        <a:ea typeface="Cambria Math" panose="02040503050406030204" pitchFamily="18" charset="0"/>
                                      </a:rPr>
                                      <m:t>𝑚</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e>
                                <m:func>
                                  <m:funcPr>
                                    <m:ctrlPr>
                                      <a:rPr lang="en-US" altLang="zh-TW" sz="1200" b="0" i="0" smtClean="0">
                                        <a:latin typeface="Cambria Math" panose="02040503050406030204" pitchFamily="18" charset="0"/>
                                        <a:ea typeface="Cambria Math" panose="02040503050406030204" pitchFamily="18" charset="0"/>
                                      </a:rPr>
                                    </m:ctrlPr>
                                  </m:funcPr>
                                  <m:fName>
                                    <m:r>
                                      <a:rPr lang="en-US" altLang="zh-TW" sz="1200" b="0" i="0" smtClean="0">
                                        <a:latin typeface="Cambria Math" panose="02040503050406030204" pitchFamily="18" charset="0"/>
                                        <a:ea typeface="Cambria Math" panose="02040503050406030204" pitchFamily="18" charset="0"/>
                                      </a:rPr>
                                      <m:t>−</m:t>
                                    </m:r>
                                    <m:r>
                                      <m:rPr>
                                        <m:sty m:val="p"/>
                                      </m:rPr>
                                      <a:rPr lang="en-US" altLang="zh-TW" sz="1200" b="0" i="0" smtClean="0">
                                        <a:latin typeface="Cambria Math" panose="02040503050406030204" pitchFamily="18" charset="0"/>
                                        <a:ea typeface="Cambria Math" panose="02040503050406030204" pitchFamily="18" charset="0"/>
                                      </a:rPr>
                                      <m:t>sin</m:t>
                                    </m:r>
                                  </m:fName>
                                  <m:e>
                                    <m:r>
                                      <a:rPr lang="en-US" altLang="zh-TW" sz="1200" i="1">
                                        <a:latin typeface="Cambria Math" panose="02040503050406030204" pitchFamily="18" charset="0"/>
                                        <a:ea typeface="Cambria Math" panose="02040503050406030204" pitchFamily="18" charset="0"/>
                                      </a:rPr>
                                      <m:t>𝑚</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mr>
                            <m:mr>
                              <m:e>
                                <m:func>
                                  <m:funcPr>
                                    <m:ctrlPr>
                                      <a:rPr lang="en-US" altLang="zh-TW" sz="1200" b="0" i="0" smtClean="0">
                                        <a:latin typeface="Cambria Math" panose="02040503050406030204" pitchFamily="18" charset="0"/>
                                        <a:ea typeface="Cambria Math" panose="02040503050406030204" pitchFamily="18" charset="0"/>
                                      </a:rPr>
                                    </m:ctrlPr>
                                  </m:funcPr>
                                  <m:fName>
                                    <m:r>
                                      <m:rPr>
                                        <m:sty m:val="p"/>
                                      </m:rPr>
                                      <a:rPr lang="en-US" altLang="zh-TW" sz="1200" b="0" i="0" smtClean="0">
                                        <a:latin typeface="Cambria Math" panose="02040503050406030204" pitchFamily="18" charset="0"/>
                                        <a:ea typeface="Cambria Math" panose="02040503050406030204" pitchFamily="18" charset="0"/>
                                      </a:rPr>
                                      <m:t>sin</m:t>
                                    </m:r>
                                  </m:fName>
                                  <m:e>
                                    <m:r>
                                      <a:rPr lang="en-US" altLang="zh-TW" sz="1200" i="1">
                                        <a:latin typeface="Cambria Math" panose="02040503050406030204" pitchFamily="18" charset="0"/>
                                        <a:ea typeface="Cambria Math" panose="02040503050406030204" pitchFamily="18" charset="0"/>
                                      </a:rPr>
                                      <m:t>𝑚</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e>
                                <m:func>
                                  <m:funcPr>
                                    <m:ctrlPr>
                                      <a:rPr lang="en-US" altLang="zh-TW" sz="1200" b="0" i="0" smtClean="0">
                                        <a:latin typeface="Cambria Math" panose="02040503050406030204" pitchFamily="18" charset="0"/>
                                        <a:ea typeface="Cambria Math" panose="02040503050406030204" pitchFamily="18" charset="0"/>
                                      </a:rPr>
                                    </m:ctrlPr>
                                  </m:funcPr>
                                  <m:fName>
                                    <m:r>
                                      <m:rPr>
                                        <m:sty m:val="p"/>
                                      </m:rPr>
                                      <a:rPr lang="en-US" altLang="zh-TW" sz="1200" b="0" i="0" smtClean="0">
                                        <a:latin typeface="Cambria Math" panose="02040503050406030204" pitchFamily="18" charset="0"/>
                                        <a:ea typeface="Cambria Math" panose="02040503050406030204" pitchFamily="18" charset="0"/>
                                      </a:rPr>
                                      <m:t>cos</m:t>
                                    </m:r>
                                  </m:fName>
                                  <m:e>
                                    <m:r>
                                      <a:rPr lang="en-US" altLang="zh-TW" sz="1200" i="1">
                                        <a:latin typeface="Cambria Math" panose="02040503050406030204" pitchFamily="18" charset="0"/>
                                        <a:ea typeface="Cambria Math" panose="02040503050406030204" pitchFamily="18" charset="0"/>
                                      </a:rPr>
                                      <m:t>𝑚</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mr>
                          </m:m>
                        </m:e>
                      </m:d>
                    </m:oMath>
                  </m:oMathPara>
                </a14:m>
                <a:endParaRPr lang="en-US" altLang="zh-TW" sz="1200" i="1" dirty="0">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𝑅</m:t>
                          </m:r>
                        </m:e>
                        <m:sub>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𝑖</m:t>
                              </m:r>
                            </m:sub>
                          </m:sSub>
                        </m:sub>
                      </m:sSub>
                      <m:r>
                        <a:rPr lang="en-US" altLang="zh-TW" sz="1200" i="1">
                          <a:latin typeface="Cambria Math" panose="02040503050406030204" pitchFamily="18" charset="0"/>
                          <a:ea typeface="Cambria Math" panose="02040503050406030204" pitchFamily="18" charset="0"/>
                        </a:rPr>
                        <m:t>=</m:t>
                      </m:r>
                      <m:d>
                        <m:dPr>
                          <m:begChr m:val="["/>
                          <m:endChr m:val="]"/>
                          <m:ctrlPr>
                            <a:rPr lang="en-US" altLang="zh-TW" sz="1200" i="1">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a:latin typeface="Cambria Math" panose="02040503050406030204" pitchFamily="18" charset="0"/>
                                  <a:ea typeface="Cambria Math" panose="02040503050406030204" pitchFamily="18" charset="0"/>
                                </a:rPr>
                              </m:ctrlPr>
                            </m:mPr>
                            <m:mr>
                              <m:e>
                                <m:func>
                                  <m:funcPr>
                                    <m:ctrlPr>
                                      <a:rPr lang="en-US" altLang="zh-TW" sz="1200">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𝑖</m:t>
                                        </m:r>
                                      </m:sub>
                                    </m:sSub>
                                  </m:e>
                                </m:func>
                              </m:e>
                              <m:e>
                                <m:func>
                                  <m:funcPr>
                                    <m:ctrlPr>
                                      <a:rPr lang="en-US" altLang="zh-TW" sz="1200">
                                        <a:latin typeface="Cambria Math" panose="02040503050406030204" pitchFamily="18" charset="0"/>
                                        <a:ea typeface="Cambria Math" panose="02040503050406030204" pitchFamily="18" charset="0"/>
                                      </a:rPr>
                                    </m:ctrlPr>
                                  </m:funcPr>
                                  <m:fName>
                                    <m:r>
                                      <a:rPr lang="en-US" altLang="zh-TW" sz="1200">
                                        <a:latin typeface="Cambria Math" panose="02040503050406030204" pitchFamily="18" charset="0"/>
                                        <a:ea typeface="Cambria Math" panose="02040503050406030204" pitchFamily="18" charset="0"/>
                                      </a:rPr>
                                      <m:t>−</m:t>
                                    </m:r>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𝑖</m:t>
                                        </m:r>
                                      </m:sub>
                                    </m:sSub>
                                  </m:e>
                                </m:func>
                              </m:e>
                            </m:mr>
                            <m:mr>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𝑖</m:t>
                                        </m:r>
                                      </m:sub>
                                    </m:sSub>
                                  </m:e>
                                </m:func>
                              </m:e>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cos</m:t>
                                    </m:r>
                                  </m:fName>
                                  <m:e>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𝑖</m:t>
                                        </m:r>
                                      </m:sub>
                                    </m:sSub>
                                  </m:e>
                                </m:func>
                              </m:e>
                            </m:mr>
                          </m:m>
                        </m:e>
                      </m:d>
                    </m:oMath>
                  </m:oMathPara>
                </a14:m>
                <a:endParaRPr lang="zh-TW" altLang="en-US" sz="1200" dirty="0"/>
              </a:p>
            </p:txBody>
          </p:sp>
        </mc:Choice>
        <mc:Fallback xmlns="">
          <p:sp>
            <p:nvSpPr>
              <p:cNvPr id="8" name="文字方塊 7">
                <a:extLst>
                  <a:ext uri="{FF2B5EF4-FFF2-40B4-BE49-F238E27FC236}">
                    <a16:creationId xmlns:a16="http://schemas.microsoft.com/office/drawing/2014/main" id="{C736D0EF-242D-623C-3A9F-0D04A2BDB577}"/>
                  </a:ext>
                </a:extLst>
              </p:cNvPr>
              <p:cNvSpPr txBox="1">
                <a:spLocks noRot="1" noChangeAspect="1" noMove="1" noResize="1" noEditPoints="1" noAdjustHandles="1" noChangeArrowheads="1" noChangeShapeType="1" noTextEdit="1"/>
              </p:cNvSpPr>
              <p:nvPr/>
            </p:nvSpPr>
            <p:spPr>
              <a:xfrm>
                <a:off x="4606854" y="4509120"/>
                <a:ext cx="2111120" cy="1018764"/>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BB05E6DF-8A0D-67BB-DB5C-5980049090CA}"/>
                  </a:ext>
                </a:extLst>
              </p:cNvPr>
              <p:cNvSpPr txBox="1"/>
              <p:nvPr/>
            </p:nvSpPr>
            <p:spPr>
              <a:xfrm>
                <a:off x="4653431" y="5670532"/>
                <a:ext cx="3068084" cy="712549"/>
              </a:xfrm>
              <a:prstGeom prst="rect">
                <a:avLst/>
              </a:prstGeom>
              <a:noFill/>
            </p:spPr>
            <p:txBody>
              <a:bodyPr wrap="none" lIns="0" tIns="0" rIns="0" bIns="0" rtlCol="0" anchor="ctr" anchorCtr="1">
                <a:noAutofit/>
              </a:bodyPr>
              <a:lstStyle/>
              <a:p>
                <a:pPr>
                  <a:lnSpc>
                    <a:spcPct val="150000"/>
                  </a:lnSpc>
                </a:pPr>
                <a14:m>
                  <m:oMathPara xmlns:m="http://schemas.openxmlformats.org/officeDocument/2006/math">
                    <m:oMathParaPr>
                      <m:jc m:val="left"/>
                    </m:oMathParaPr>
                    <m:oMath>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s</m:t>
                          </m:r>
                          <m:r>
                            <m:rPr>
                              <m:sty m:val="p"/>
                            </m:rPr>
                            <a:rPr lang="en-US" altLang="zh-TW" sz="1200" b="0" i="0" smtClean="0">
                              <a:latin typeface="Cambria Math" panose="02040503050406030204" pitchFamily="18" charset="0"/>
                            </a:rPr>
                            <m:t>in</m:t>
                          </m:r>
                        </m:fName>
                        <m:e>
                          <m:d>
                            <m:dPr>
                              <m:ctrlPr>
                                <a:rPr lang="en-US" altLang="zh-TW" sz="1200" i="1">
                                  <a:latin typeface="Cambria Math" panose="02040503050406030204" pitchFamily="18" charset="0"/>
                                </a:rPr>
                              </m:ctrlPr>
                            </m:dPr>
                            <m:e>
                              <m:r>
                                <a:rPr lang="en-US" altLang="zh-TW" sz="1200" i="1">
                                  <a:latin typeface="Cambria Math" panose="02040503050406030204" pitchFamily="18" charset="0"/>
                                </a:rPr>
                                <m:t>𝑚</m:t>
                              </m:r>
                              <m:r>
                                <a:rPr lang="en-US" altLang="zh-TW" sz="1200" i="1">
                                  <a:latin typeface="Cambria Math" panose="02040503050406030204" pitchFamily="18" charset="0"/>
                                  <a:ea typeface="Cambria Math" panose="02040503050406030204" pitchFamily="18" charset="0"/>
                                </a:rPr>
                                <m:t>−</m:t>
                              </m:r>
                              <m:r>
                                <a:rPr lang="en-US" altLang="zh-TW" sz="1200" i="1">
                                  <a:latin typeface="Cambria Math" panose="02040503050406030204" pitchFamily="18" charset="0"/>
                                  <a:ea typeface="Cambria Math" panose="02040503050406030204" pitchFamily="18" charset="0"/>
                                </a:rPr>
                                <m:t>𝑛</m:t>
                              </m:r>
                            </m:e>
                          </m:d>
                        </m:e>
                      </m:func>
                      <m:r>
                        <a:rPr lang="en-US" altLang="zh-TW" sz="1200" i="1">
                          <a:latin typeface="Cambria Math" panose="02040503050406030204" pitchFamily="18" charset="0"/>
                          <a:ea typeface="Cambria Math" panose="02040503050406030204" pitchFamily="18" charset="0"/>
                        </a:rPr>
                        <m:t>=</m:t>
                      </m:r>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s</m:t>
                          </m:r>
                          <m:r>
                            <m:rPr>
                              <m:sty m:val="p"/>
                            </m:rPr>
                            <a:rPr lang="en-US" altLang="zh-TW" sz="1200" b="0" i="0" smtClean="0">
                              <a:latin typeface="Cambria Math" panose="02040503050406030204" pitchFamily="18" charset="0"/>
                            </a:rPr>
                            <m:t>in</m:t>
                          </m:r>
                        </m:fName>
                        <m:e>
                          <m:r>
                            <a:rPr lang="en-US" altLang="zh-TW" sz="1200" b="0" i="1" smtClean="0">
                              <a:latin typeface="Cambria Math" panose="02040503050406030204" pitchFamily="18" charset="0"/>
                            </a:rPr>
                            <m:t>(</m:t>
                          </m:r>
                          <m:r>
                            <a:rPr lang="en-US" altLang="zh-TW" sz="1200" i="1">
                              <a:latin typeface="Cambria Math" panose="02040503050406030204" pitchFamily="18" charset="0"/>
                            </a:rPr>
                            <m:t>𝑚</m:t>
                          </m:r>
                          <m:r>
                            <a:rPr lang="en-US" altLang="zh-TW" sz="1200" b="0" i="1" smtClean="0">
                              <a:latin typeface="Cambria Math" panose="02040503050406030204" pitchFamily="18" charset="0"/>
                            </a:rPr>
                            <m:t>)</m:t>
                          </m:r>
                        </m:e>
                      </m:func>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cos</m:t>
                          </m:r>
                        </m:fName>
                        <m:e>
                          <m:r>
                            <a:rPr lang="en-US" altLang="zh-TW" sz="1200" b="0" i="1" smtClean="0">
                              <a:latin typeface="Cambria Math" panose="02040503050406030204" pitchFamily="18" charset="0"/>
                            </a:rPr>
                            <m:t>(</m:t>
                          </m:r>
                          <m:r>
                            <a:rPr lang="en-US" altLang="zh-TW" sz="1200" i="1">
                              <a:latin typeface="Cambria Math" panose="02040503050406030204" pitchFamily="18" charset="0"/>
                            </a:rPr>
                            <m:t>𝑛</m:t>
                          </m:r>
                          <m:r>
                            <a:rPr lang="en-US" altLang="zh-TW" sz="1200" b="0" i="1" smtClean="0">
                              <a:latin typeface="Cambria Math" panose="02040503050406030204" pitchFamily="18" charset="0"/>
                            </a:rPr>
                            <m:t>)</m:t>
                          </m:r>
                        </m:e>
                      </m:func>
                      <m:r>
                        <a:rPr lang="en-US" altLang="zh-TW" sz="1200" b="0" i="1" smtClean="0">
                          <a:latin typeface="Cambria Math" panose="02040503050406030204" pitchFamily="18" charset="0"/>
                          <a:ea typeface="Cambria Math" panose="02040503050406030204" pitchFamily="18" charset="0"/>
                        </a:rPr>
                        <m:t>−</m:t>
                      </m:r>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sin</m:t>
                          </m:r>
                        </m:fName>
                        <m:e>
                          <m:r>
                            <a:rPr lang="en-US" altLang="zh-TW" sz="1200" b="0" i="1" smtClean="0">
                              <a:latin typeface="Cambria Math" panose="02040503050406030204" pitchFamily="18" charset="0"/>
                            </a:rPr>
                            <m:t>(</m:t>
                          </m:r>
                          <m:r>
                            <a:rPr lang="en-US" altLang="zh-TW" sz="1200" i="1">
                              <a:latin typeface="Cambria Math" panose="02040503050406030204" pitchFamily="18" charset="0"/>
                            </a:rPr>
                            <m:t>𝑚</m:t>
                          </m:r>
                          <m:r>
                            <a:rPr lang="en-US" altLang="zh-TW" sz="1200" b="0" i="1" smtClean="0">
                              <a:latin typeface="Cambria Math" panose="02040503050406030204" pitchFamily="18" charset="0"/>
                            </a:rPr>
                            <m:t>)</m:t>
                          </m:r>
                        </m:e>
                      </m:func>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sin</m:t>
                          </m:r>
                        </m:fName>
                        <m:e>
                          <m:r>
                            <a:rPr lang="en-US" altLang="zh-TW" sz="1200" b="0" i="1" smtClean="0">
                              <a:latin typeface="Cambria Math" panose="02040503050406030204" pitchFamily="18" charset="0"/>
                            </a:rPr>
                            <m:t>(</m:t>
                          </m:r>
                          <m:r>
                            <a:rPr lang="en-US" altLang="zh-TW" sz="1200" i="1">
                              <a:latin typeface="Cambria Math" panose="02040503050406030204" pitchFamily="18" charset="0"/>
                            </a:rPr>
                            <m:t>𝑛</m:t>
                          </m:r>
                          <m:r>
                            <a:rPr lang="en-US" altLang="zh-TW" sz="1200" b="0" i="1" smtClean="0">
                              <a:latin typeface="Cambria Math" panose="02040503050406030204" pitchFamily="18" charset="0"/>
                            </a:rPr>
                            <m:t>)</m:t>
                          </m:r>
                        </m:e>
                      </m:func>
                    </m:oMath>
                  </m:oMathPara>
                </a14:m>
                <a:endParaRPr lang="en-US" altLang="zh-TW" sz="1200" i="1" dirty="0">
                  <a:latin typeface="Cambria Math" panose="02040503050406030204" pitchFamily="18" charset="0"/>
                </a:endParaRPr>
              </a:p>
              <a:p>
                <a:pPr>
                  <a:lnSpc>
                    <a:spcPct val="150000"/>
                  </a:lnSpc>
                </a:pPr>
                <a14:m>
                  <m:oMathPara xmlns:m="http://schemas.openxmlformats.org/officeDocument/2006/math">
                    <m:oMathParaPr>
                      <m:jc m:val="left"/>
                    </m:oMathParaPr>
                    <m:oMath>
                      <m:func>
                        <m:funcPr>
                          <m:ctrlPr>
                            <a:rPr lang="en-US" altLang="zh-TW" sz="1200" i="0" smtClean="0">
                              <a:latin typeface="Cambria Math" panose="02040503050406030204" pitchFamily="18" charset="0"/>
                            </a:rPr>
                          </m:ctrlPr>
                        </m:funcPr>
                        <m:fName>
                          <m:r>
                            <m:rPr>
                              <m:sty m:val="p"/>
                            </m:rPr>
                            <a:rPr lang="en-US" altLang="zh-TW" sz="1200" i="0" smtClean="0">
                              <a:latin typeface="Cambria Math" panose="02040503050406030204" pitchFamily="18" charset="0"/>
                            </a:rPr>
                            <m:t>cos</m:t>
                          </m:r>
                        </m:fName>
                        <m:e>
                          <m:d>
                            <m:dPr>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𝑚</m:t>
                              </m:r>
                              <m:r>
                                <a:rPr lang="en-US"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𝑛</m:t>
                              </m:r>
                            </m:e>
                          </m:d>
                        </m:e>
                      </m:func>
                      <m:r>
                        <a:rPr lang="en-US" altLang="zh-TW" sz="1200" i="1" smtClean="0">
                          <a:latin typeface="Cambria Math" panose="02040503050406030204" pitchFamily="18" charset="0"/>
                          <a:ea typeface="Cambria Math" panose="02040503050406030204" pitchFamily="18" charset="0"/>
                        </a:rPr>
                        <m:t>=</m:t>
                      </m:r>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cos</m:t>
                          </m:r>
                        </m:fName>
                        <m:e>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𝑚</m:t>
                          </m:r>
                          <m:r>
                            <a:rPr lang="en-US" altLang="zh-TW" sz="1200" b="0" i="1" smtClean="0">
                              <a:latin typeface="Cambria Math" panose="02040503050406030204" pitchFamily="18" charset="0"/>
                            </a:rPr>
                            <m:t>)</m:t>
                          </m:r>
                        </m:e>
                      </m:func>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cos</m:t>
                          </m:r>
                        </m:fName>
                        <m:e>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𝑛</m:t>
                          </m:r>
                          <m:r>
                            <a:rPr lang="en-US" altLang="zh-TW" sz="1200" b="0" i="1" smtClean="0">
                              <a:latin typeface="Cambria Math" panose="02040503050406030204" pitchFamily="18" charset="0"/>
                            </a:rPr>
                            <m:t>)</m:t>
                          </m:r>
                        </m:e>
                      </m:func>
                      <m:r>
                        <a:rPr lang="en-US" altLang="zh-TW" sz="1200" b="0" i="1" smtClean="0">
                          <a:latin typeface="Cambria Math" panose="02040503050406030204" pitchFamily="18" charset="0"/>
                        </a:rPr>
                        <m:t>+</m:t>
                      </m:r>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s</m:t>
                          </m:r>
                          <m:r>
                            <m:rPr>
                              <m:sty m:val="p"/>
                            </m:rPr>
                            <a:rPr lang="en-US" altLang="zh-TW" sz="1200" b="0" i="0" smtClean="0">
                              <a:latin typeface="Cambria Math" panose="02040503050406030204" pitchFamily="18" charset="0"/>
                            </a:rPr>
                            <m:t>in</m:t>
                          </m:r>
                        </m:fName>
                        <m:e>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𝑚</m:t>
                          </m:r>
                          <m:r>
                            <a:rPr lang="en-US" altLang="zh-TW" sz="1200" b="0" i="1" smtClean="0">
                              <a:latin typeface="Cambria Math" panose="02040503050406030204" pitchFamily="18" charset="0"/>
                            </a:rPr>
                            <m:t>)</m:t>
                          </m:r>
                        </m:e>
                      </m:func>
                      <m:func>
                        <m:funcPr>
                          <m:ctrlPr>
                            <a:rPr lang="en-US" altLang="zh-TW" sz="1200" b="0" i="0" smtClean="0">
                              <a:latin typeface="Cambria Math" panose="02040503050406030204" pitchFamily="18" charset="0"/>
                            </a:rPr>
                          </m:ctrlPr>
                        </m:funcPr>
                        <m:fName>
                          <m:r>
                            <m:rPr>
                              <m:sty m:val="p"/>
                            </m:rPr>
                            <a:rPr lang="en-US" altLang="zh-TW" sz="1200" b="0" i="0" smtClean="0">
                              <a:latin typeface="Cambria Math" panose="02040503050406030204" pitchFamily="18" charset="0"/>
                            </a:rPr>
                            <m:t>sin</m:t>
                          </m:r>
                        </m:fName>
                        <m:e>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𝑛</m:t>
                          </m:r>
                          <m:r>
                            <a:rPr lang="en-US" altLang="zh-TW" sz="1200" b="0" i="1" smtClean="0">
                              <a:latin typeface="Cambria Math" panose="02040503050406030204" pitchFamily="18" charset="0"/>
                            </a:rPr>
                            <m:t>)</m:t>
                          </m:r>
                        </m:e>
                      </m:func>
                    </m:oMath>
                  </m:oMathPara>
                </a14:m>
                <a:endParaRPr lang="en-US" altLang="zh-TW" sz="1200" i="1" dirty="0">
                  <a:latin typeface="Cambria Math" panose="02040503050406030204" pitchFamily="18" charset="0"/>
                </a:endParaRPr>
              </a:p>
            </p:txBody>
          </p:sp>
        </mc:Choice>
        <mc:Fallback xmlns="">
          <p:sp>
            <p:nvSpPr>
              <p:cNvPr id="10" name="文字方塊 9">
                <a:extLst>
                  <a:ext uri="{FF2B5EF4-FFF2-40B4-BE49-F238E27FC236}">
                    <a16:creationId xmlns:a16="http://schemas.microsoft.com/office/drawing/2014/main" id="{BB05E6DF-8A0D-67BB-DB5C-5980049090CA}"/>
                  </a:ext>
                </a:extLst>
              </p:cNvPr>
              <p:cNvSpPr txBox="1">
                <a:spLocks noRot="1" noChangeAspect="1" noMove="1" noResize="1" noEditPoints="1" noAdjustHandles="1" noChangeArrowheads="1" noChangeShapeType="1" noTextEdit="1"/>
              </p:cNvSpPr>
              <p:nvPr/>
            </p:nvSpPr>
            <p:spPr>
              <a:xfrm>
                <a:off x="4653431" y="5670532"/>
                <a:ext cx="3068084" cy="712549"/>
              </a:xfrm>
              <a:prstGeom prst="rect">
                <a:avLst/>
              </a:prstGeom>
              <a:blipFill>
                <a:blip r:embed="rId5"/>
                <a:stretch>
                  <a:fillRect/>
                </a:stretch>
              </a:blipFill>
            </p:spPr>
            <p:txBody>
              <a:bodyPr/>
              <a:lstStyle/>
              <a:p>
                <a:r>
                  <a:rPr lang="zh-TW" altLang="en-US">
                    <a:noFill/>
                  </a:rPr>
                  <a:t> </a:t>
                </a:r>
              </a:p>
            </p:txBody>
          </p:sp>
        </mc:Fallback>
      </mc:AlternateContent>
      <p:sp>
        <p:nvSpPr>
          <p:cNvPr id="7" name="文字方塊 6">
            <a:extLst>
              <a:ext uri="{FF2B5EF4-FFF2-40B4-BE49-F238E27FC236}">
                <a16:creationId xmlns:a16="http://schemas.microsoft.com/office/drawing/2014/main" id="{406D497E-F14A-9F07-6A01-416E0160ED6A}"/>
              </a:ext>
            </a:extLst>
          </p:cNvPr>
          <p:cNvSpPr txBox="1"/>
          <p:nvPr/>
        </p:nvSpPr>
        <p:spPr>
          <a:xfrm>
            <a:off x="4788024" y="333735"/>
            <a:ext cx="4176461" cy="1107996"/>
          </a:xfrm>
          <a:prstGeom prst="rect">
            <a:avLst/>
          </a:prstGeom>
          <a:solidFill>
            <a:schemeClr val="accent6">
              <a:lumMod val="20000"/>
              <a:lumOff val="80000"/>
            </a:schemeClr>
          </a:solidFill>
        </p:spPr>
        <p:txBody>
          <a:bodyPr wrap="square">
            <a:spAutoFit/>
          </a:bodyPr>
          <a:lstStyle/>
          <a:p>
            <a:r>
              <a:rPr lang="zh-TW" altLang="zh-TW" sz="1100" b="0" u="none" strike="noStrike" dirty="0">
                <a:effectLst/>
                <a:latin typeface="微軟正黑體" panose="020B0604030504040204" pitchFamily="34" charset="-120"/>
                <a:ea typeface="微軟正黑體" panose="020B0604030504040204" pitchFamily="34" charset="-120"/>
              </a:rPr>
              <a:t>NoPE（No Positional Embedding，無位置編碼）技術在近年（2025-2026年）的大型語言模型架構中受到重視，它完全捨棄傳統的 RoPE 旋轉位置編碼，改由因果注意力遮罩（Causal Mask）或混合線性注意力機制的衰減門控來隱式攜帶時序與位置資訊</a:t>
            </a:r>
            <a:r>
              <a:rPr lang="zh-TW" altLang="zh-TW" sz="1100" dirty="0">
                <a:latin typeface="微軟正黑體" panose="020B0604030504040204" pitchFamily="34" charset="-120"/>
                <a:ea typeface="微軟正黑體" panose="020B0604030504040204" pitchFamily="34" charset="-120"/>
              </a:rPr>
              <a:t>。目前採用或實驗 NoPE 技術的知名模型包含：</a:t>
            </a:r>
            <a:endParaRPr lang="en-US" altLang="zh-TW" sz="1100" dirty="0">
              <a:latin typeface="微軟正黑體" panose="020B0604030504040204" pitchFamily="34" charset="-120"/>
              <a:ea typeface="微軟正黑體" panose="020B0604030504040204" pitchFamily="34" charset="-120"/>
            </a:endParaRPr>
          </a:p>
          <a:p>
            <a:r>
              <a:rPr lang="en-US" altLang="zh-TW" sz="1100" dirty="0">
                <a:latin typeface="微軟正黑體" panose="020B0604030504040204" pitchFamily="34" charset="-120"/>
                <a:ea typeface="微軟正黑體" panose="020B0604030504040204" pitchFamily="34" charset="-120"/>
              </a:rPr>
              <a:t>K-EXAONE 2.0, SmolLM3, IBM Granite 4.0 …</a:t>
            </a:r>
            <a:endParaRPr lang="zh-TW" altLang="en-US" sz="1100" dirty="0">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ACF86D5B-7F2D-D2EE-FB5E-D5D9C77FE2AE}"/>
              </a:ext>
            </a:extLst>
          </p:cNvPr>
          <p:cNvSpPr txBox="1"/>
          <p:nvPr/>
        </p:nvSpPr>
        <p:spPr>
          <a:xfrm>
            <a:off x="4788024" y="1551872"/>
            <a:ext cx="4215949" cy="1157048"/>
          </a:xfrm>
          <a:prstGeom prst="rect">
            <a:avLst/>
          </a:prstGeom>
          <a:solidFill>
            <a:schemeClr val="accent6">
              <a:lumMod val="20000"/>
              <a:lumOff val="80000"/>
            </a:schemeClr>
          </a:solidFill>
        </p:spPr>
        <p:txBody>
          <a:bodyPr wrap="square">
            <a:spAutoFit/>
          </a:bodyPr>
          <a:lstStyle/>
          <a:p>
            <a:pPr marR="0" lvl="0">
              <a:lnSpc>
                <a:spcPts val="1400"/>
              </a:lnSpc>
            </a:pPr>
            <a:r>
              <a:rPr lang="en-US" altLang="zh-TW" sz="1100" b="1" u="none" strike="noStrike" dirty="0">
                <a:effectLst/>
                <a:latin typeface="微軟正黑體" panose="020B0604030504040204" pitchFamily="34" charset="-120"/>
                <a:ea typeface="微軟正黑體" panose="020B0604030504040204" pitchFamily="34" charset="-120"/>
              </a:rPr>
              <a:t>* </a:t>
            </a:r>
            <a:r>
              <a:rPr lang="zh-TW" altLang="zh-TW" sz="1100" b="1" u="none" strike="noStrike" dirty="0">
                <a:effectLst/>
                <a:latin typeface="微軟正黑體" panose="020B0604030504040204" pitchFamily="34" charset="-120"/>
                <a:ea typeface="微軟正黑體" panose="020B0604030504040204" pitchFamily="34" charset="-120"/>
              </a:rPr>
              <a:t>記憶體釋放</a:t>
            </a:r>
            <a:r>
              <a:rPr lang="zh-TW" altLang="zh-TW" sz="1100" b="0" u="none" strike="noStrike" dirty="0">
                <a:effectLst/>
                <a:latin typeface="微軟正黑體" panose="020B0604030504040204" pitchFamily="34" charset="-120"/>
                <a:ea typeface="微軟正黑體" panose="020B0604030504040204" pitchFamily="34" charset="-120"/>
              </a:rPr>
              <a:t>：省去 RoPE 的旋轉矩陣運算，KV Cache 的傳輸與儲存成本顯著降低。</a:t>
            </a:r>
          </a:p>
          <a:p>
            <a:pPr marR="0" lvl="0">
              <a:lnSpc>
                <a:spcPts val="1400"/>
              </a:lnSpc>
            </a:pPr>
            <a:r>
              <a:rPr lang="en-US" altLang="zh-TW" sz="1100" b="1" u="none" strike="noStrike" dirty="0">
                <a:effectLst/>
                <a:latin typeface="微軟正黑體" panose="020B0604030504040204" pitchFamily="34" charset="-120"/>
                <a:ea typeface="微軟正黑體" panose="020B0604030504040204" pitchFamily="34" charset="-120"/>
              </a:rPr>
              <a:t>* </a:t>
            </a:r>
            <a:r>
              <a:rPr lang="zh-TW" altLang="zh-TW" sz="1100" b="1" u="none" strike="noStrike" dirty="0">
                <a:effectLst/>
                <a:latin typeface="微軟正黑體" panose="020B0604030504040204" pitchFamily="34" charset="-120"/>
                <a:ea typeface="微軟正黑體" panose="020B0604030504040204" pitchFamily="34" charset="-120"/>
              </a:rPr>
              <a:t>外推上限解鎖</a:t>
            </a:r>
            <a:r>
              <a:rPr lang="zh-TW" altLang="zh-TW" sz="1100" b="0" u="none" strike="noStrike" dirty="0">
                <a:effectLst/>
                <a:latin typeface="微軟正黑體" panose="020B0604030504040204" pitchFamily="34" charset="-120"/>
                <a:ea typeface="微軟正黑體" panose="020B0604030504040204" pitchFamily="34" charset="-120"/>
              </a:rPr>
              <a:t>：不受 RoPE 頻率基底（Base Frequency）的理論限制，突破長文本的硬性天花板。</a:t>
            </a:r>
          </a:p>
          <a:p>
            <a:pPr marR="0" lvl="0">
              <a:lnSpc>
                <a:spcPts val="1400"/>
              </a:lnSpc>
            </a:pPr>
            <a:r>
              <a:rPr lang="en-US" altLang="zh-TW" sz="1100" b="1" u="none" strike="noStrike" dirty="0">
                <a:effectLst/>
                <a:latin typeface="微軟正黑體" panose="020B0604030504040204" pitchFamily="34" charset="-120"/>
                <a:ea typeface="微軟正黑體" panose="020B0604030504040204" pitchFamily="34" charset="-120"/>
              </a:rPr>
              <a:t>* </a:t>
            </a:r>
            <a:r>
              <a:rPr lang="zh-TW" altLang="zh-TW" sz="1100" b="1" u="none" strike="noStrike" dirty="0">
                <a:effectLst/>
                <a:latin typeface="微軟正黑體" panose="020B0604030504040204" pitchFamily="34" charset="-120"/>
                <a:ea typeface="微軟正黑體" panose="020B0604030504040204" pitchFamily="34" charset="-120"/>
              </a:rPr>
              <a:t>訓練吞吐量提升</a:t>
            </a:r>
            <a:r>
              <a:rPr lang="zh-TW" altLang="zh-TW" sz="1100" b="0" u="none" strike="noStrike" dirty="0">
                <a:effectLst/>
                <a:latin typeface="微軟正黑體" panose="020B0604030504040204" pitchFamily="34" charset="-120"/>
                <a:ea typeface="微軟正黑體" panose="020B0604030504040204" pitchFamily="34" charset="-120"/>
              </a:rPr>
              <a:t>：移除序列長度相關的複數運算，硬體算力（FLOPs）利用率更高。</a:t>
            </a:r>
          </a:p>
        </p:txBody>
      </p:sp>
      <p:sp>
        <p:nvSpPr>
          <p:cNvPr id="16" name="文字方塊 15">
            <a:extLst>
              <a:ext uri="{FF2B5EF4-FFF2-40B4-BE49-F238E27FC236}">
                <a16:creationId xmlns:a16="http://schemas.microsoft.com/office/drawing/2014/main" id="{52E62E83-F6E9-D9DC-EA96-D78887ED8270}"/>
              </a:ext>
            </a:extLst>
          </p:cNvPr>
          <p:cNvSpPr txBox="1"/>
          <p:nvPr/>
        </p:nvSpPr>
        <p:spPr>
          <a:xfrm>
            <a:off x="261350" y="2965450"/>
            <a:ext cx="8784971" cy="1329161"/>
          </a:xfrm>
          <a:prstGeom prst="rect">
            <a:avLst/>
          </a:prstGeom>
          <a:solidFill>
            <a:schemeClr val="accent2">
              <a:lumMod val="20000"/>
              <a:lumOff val="80000"/>
            </a:schemeClr>
          </a:solidFill>
        </p:spPr>
        <p:txBody>
          <a:bodyPr wrap="none" lIns="0" tIns="0" rIns="0" bIns="0">
            <a:noAutofit/>
          </a:bodyPr>
          <a:lstStyle/>
          <a:p>
            <a:pPr marL="0" marR="0">
              <a:lnSpc>
                <a:spcPts val="1400"/>
              </a:lnSpc>
              <a:buNone/>
            </a:pPr>
            <a:r>
              <a:rPr lang="zh-TW" altLang="zh-TW" sz="1100" b="1" u="none" strike="noStrike" dirty="0">
                <a:effectLst/>
                <a:latin typeface="微軟正黑體" panose="020B0604030504040204" pitchFamily="34" charset="-120"/>
                <a:ea typeface="微軟正黑體" panose="020B0604030504040204" pitchFamily="34" charset="-120"/>
              </a:rPr>
              <a:t>長度外推原理</a:t>
            </a:r>
          </a:p>
          <a:p>
            <a:pPr marL="0" marR="0">
              <a:lnSpc>
                <a:spcPts val="1400"/>
              </a:lnSpc>
              <a:buNone/>
            </a:pPr>
            <a:r>
              <a:rPr lang="zh-TW" altLang="zh-TW" sz="1100" b="0" u="none" strike="noStrike" dirty="0">
                <a:effectLst/>
                <a:latin typeface="微軟正黑體" panose="020B0604030504040204" pitchFamily="34" charset="-120"/>
                <a:ea typeface="微軟正黑體" panose="020B0604030504040204" pitchFamily="34" charset="-120"/>
              </a:rPr>
              <a:t>RoPE 的外推失敗，是因為測試長度超過訓練長度時，旋轉角度會進入模型</a:t>
            </a:r>
            <a:r>
              <a:rPr lang="zh-TW" altLang="zh-TW" sz="1100" b="1" u="none" strike="noStrike" dirty="0">
                <a:effectLst/>
                <a:latin typeface="微軟正黑體" panose="020B0604030504040204" pitchFamily="34" charset="-120"/>
                <a:ea typeface="微軟正黑體" panose="020B0604030504040204" pitchFamily="34" charset="-120"/>
              </a:rPr>
              <a:t>從未見過的極端頻率區間</a:t>
            </a:r>
            <a:r>
              <a:rPr lang="zh-TW" altLang="zh-TW" sz="1100" b="0" u="none" strike="noStrike" dirty="0">
                <a:effectLst/>
                <a:latin typeface="微軟正黑體" panose="020B0604030504040204" pitchFamily="34" charset="-120"/>
                <a:ea typeface="微軟正黑體" panose="020B0604030504040204" pitchFamily="34" charset="-120"/>
              </a:rPr>
              <a:t>，導致注意力機制崩潰。</a:t>
            </a:r>
            <a:endParaRPr lang="en-US" altLang="zh-TW" sz="1100" b="0" u="none" strike="noStrike" dirty="0">
              <a:effectLst/>
              <a:latin typeface="微軟正黑體" panose="020B0604030504040204" pitchFamily="34" charset="-120"/>
              <a:ea typeface="微軟正黑體" panose="020B0604030504040204" pitchFamily="34" charset="-120"/>
            </a:endParaRPr>
          </a:p>
          <a:p>
            <a:pPr marL="0" marR="0">
              <a:lnSpc>
                <a:spcPts val="1400"/>
              </a:lnSpc>
              <a:buNone/>
            </a:pPr>
            <a:r>
              <a:rPr lang="zh-TW" altLang="zh-TW" sz="1100" b="0" u="none" strike="noStrike" dirty="0">
                <a:effectLst/>
                <a:latin typeface="微軟正黑體" panose="020B0604030504040204" pitchFamily="34" charset="-120"/>
                <a:ea typeface="微軟正黑體" panose="020B0604030504040204" pitchFamily="34" charset="-120"/>
              </a:rPr>
              <a:t>NoPE 能夠成功外推的關鍵在於：</a:t>
            </a:r>
          </a:p>
          <a:p>
            <a:pPr marR="0" lvl="0">
              <a:lnSpc>
                <a:spcPts val="1400"/>
              </a:lnSpc>
            </a:pPr>
            <a:r>
              <a:rPr lang="en-US" altLang="zh-TW" sz="1100" b="1" u="none" strike="noStrike" dirty="0">
                <a:effectLst/>
                <a:latin typeface="微軟正黑體" panose="020B0604030504040204" pitchFamily="34" charset="-120"/>
                <a:ea typeface="微軟正黑體" panose="020B0604030504040204" pitchFamily="34" charset="-120"/>
              </a:rPr>
              <a:t>* </a:t>
            </a:r>
            <a:r>
              <a:rPr lang="zh-TW" altLang="zh-TW" sz="1100" b="1" u="none" strike="noStrike" dirty="0">
                <a:effectLst/>
                <a:latin typeface="微軟正黑體" panose="020B0604030504040204" pitchFamily="34" charset="-120"/>
                <a:ea typeface="微軟正黑體" panose="020B0604030504040204" pitchFamily="34" charset="-120"/>
              </a:rPr>
              <a:t>因果遮罩的邊界效應</a:t>
            </a:r>
            <a:r>
              <a:rPr lang="zh-TW" altLang="zh-TW" sz="1100" b="0" u="none" strike="noStrike" dirty="0">
                <a:effectLst/>
                <a:latin typeface="微軟正黑體" panose="020B0604030504040204" pitchFamily="34" charset="-120"/>
                <a:ea typeface="微軟正黑體" panose="020B0604030504040204" pitchFamily="34" charset="-120"/>
              </a:rPr>
              <a:t>：在自迴歸模型中，第 \(N\) 個 Token 只能看到前 \(N-1\) 個 Token。</a:t>
            </a:r>
            <a:endParaRPr lang="en-US" altLang="zh-TW" sz="1100" b="0" u="none" strike="noStrike" dirty="0">
              <a:effectLst/>
              <a:latin typeface="微軟正黑體" panose="020B0604030504040204" pitchFamily="34" charset="-120"/>
              <a:ea typeface="微軟正黑體" panose="020B0604030504040204" pitchFamily="34" charset="-120"/>
            </a:endParaRPr>
          </a:p>
          <a:p>
            <a:pPr marR="0" lvl="0">
              <a:lnSpc>
                <a:spcPts val="1400"/>
              </a:lnSpc>
            </a:pPr>
            <a:r>
              <a:rPr lang="zh-TW" altLang="zh-TW" sz="1100" b="0" u="none" strike="noStrike" dirty="0">
                <a:effectLst/>
                <a:latin typeface="微軟正黑體" panose="020B0604030504040204" pitchFamily="34" charset="-120"/>
                <a:ea typeface="微軟正黑體" panose="020B0604030504040204" pitchFamily="34" charset="-120"/>
              </a:rPr>
              <a:t>這種 Causal Mask 形成了一個天然的「階梯狀」資訊流。模型透過矩陣乘法，能隱式學會「距離當前 Token 多遠」的相對概念。</a:t>
            </a:r>
          </a:p>
          <a:p>
            <a:pPr marR="0" lvl="0">
              <a:lnSpc>
                <a:spcPts val="1400"/>
              </a:lnSpc>
            </a:pPr>
            <a:r>
              <a:rPr lang="en-US" altLang="zh-TW" sz="1100" b="1" u="none" strike="noStrike" dirty="0">
                <a:effectLst/>
                <a:latin typeface="微軟正黑體" panose="020B0604030504040204" pitchFamily="34" charset="-120"/>
                <a:ea typeface="微軟正黑體" panose="020B0604030504040204" pitchFamily="34" charset="-120"/>
              </a:rPr>
              <a:t>* </a:t>
            </a:r>
            <a:r>
              <a:rPr lang="zh-TW" altLang="zh-TW" sz="1100" b="1" u="none" strike="noStrike" dirty="0">
                <a:effectLst/>
                <a:latin typeface="微軟正黑體" panose="020B0604030504040204" pitchFamily="34" charset="-120"/>
                <a:ea typeface="微軟正黑體" panose="020B0604030504040204" pitchFamily="34" charset="-120"/>
              </a:rPr>
              <a:t>注意力梯度的自然衰減</a:t>
            </a:r>
            <a:r>
              <a:rPr lang="zh-TW" altLang="zh-TW" sz="1100" b="0" u="none" strike="noStrike" dirty="0">
                <a:effectLst/>
                <a:latin typeface="微軟正黑體" panose="020B0604030504040204" pitchFamily="34" charset="-120"/>
                <a:ea typeface="微軟正黑體" panose="020B0604030504040204" pitchFamily="34" charset="-120"/>
              </a:rPr>
              <a:t>：隨着序列變長，Softmax 分配給每個 Token 的權重會隨距離自然攤薄。</a:t>
            </a:r>
            <a:endParaRPr lang="en-US" altLang="zh-TW" sz="1100" b="0" u="none" strike="noStrike" dirty="0">
              <a:effectLst/>
              <a:latin typeface="微軟正黑體" panose="020B0604030504040204" pitchFamily="34" charset="-120"/>
              <a:ea typeface="微軟正黑體" panose="020B0604030504040204" pitchFamily="34" charset="-120"/>
            </a:endParaRPr>
          </a:p>
          <a:p>
            <a:pPr marR="0" lvl="0">
              <a:lnSpc>
                <a:spcPts val="1400"/>
              </a:lnSpc>
            </a:pPr>
            <a:r>
              <a:rPr lang="zh-TW" altLang="zh-TW" sz="1100" b="0" u="none" strike="noStrike" dirty="0">
                <a:effectLst/>
                <a:latin typeface="微軟正黑體" panose="020B0604030504040204" pitchFamily="34" charset="-120"/>
                <a:ea typeface="微軟正黑體" panose="020B0604030504040204" pitchFamily="34" charset="-120"/>
              </a:rPr>
              <a:t>NoPE 轉而依賴這種「距離越遠、影響越弱」的隱式物理規律，而非硬性規定的數學公式，因此在文本無限延伸時，注意力矩陣不會產生突變。</a:t>
            </a:r>
          </a:p>
        </p:txBody>
      </p:sp>
    </p:spTree>
    <p:extLst>
      <p:ext uri="{BB962C8B-B14F-4D97-AF65-F5344CB8AC3E}">
        <p14:creationId xmlns:p14="http://schemas.microsoft.com/office/powerpoint/2010/main" val="98008786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a:extLst>
              <a:ext uri="{FF2B5EF4-FFF2-40B4-BE49-F238E27FC236}">
                <a16:creationId xmlns:a16="http://schemas.microsoft.com/office/drawing/2014/main" id="{0386F936-F4B8-05C9-432E-EEF681F5A8BD}"/>
              </a:ext>
            </a:extLst>
          </p:cNvPr>
          <p:cNvSpPr txBox="1">
            <a:spLocks/>
          </p:cNvSpPr>
          <p:nvPr/>
        </p:nvSpPr>
        <p:spPr>
          <a:xfrm>
            <a:off x="179511" y="116632"/>
            <a:ext cx="6768753"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Token Efficient</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The--.</a:t>
            </a:r>
          </a:p>
        </p:txBody>
      </p:sp>
      <p:sp>
        <p:nvSpPr>
          <p:cNvPr id="9" name="文字方塊 8">
            <a:extLst>
              <a:ext uri="{FF2B5EF4-FFF2-40B4-BE49-F238E27FC236}">
                <a16:creationId xmlns:a16="http://schemas.microsoft.com/office/drawing/2014/main" id="{F30002D9-A4A4-A587-5D56-5B96D6CF016C}"/>
              </a:ext>
            </a:extLst>
          </p:cNvPr>
          <p:cNvSpPr txBox="1"/>
          <p:nvPr/>
        </p:nvSpPr>
        <p:spPr>
          <a:xfrm>
            <a:off x="179510" y="3615695"/>
            <a:ext cx="7560841" cy="2477601"/>
          </a:xfrm>
          <a:prstGeom prst="rect">
            <a:avLst/>
          </a:prstGeom>
          <a:solidFill>
            <a:schemeClr val="bg1">
              <a:alpha val="90000"/>
            </a:schemeClr>
          </a:solidFill>
        </p:spPr>
        <p:txBody>
          <a:bodyPr wrap="square">
            <a:spAutoFit/>
          </a:bodyPr>
          <a:lstStyle/>
          <a:p>
            <a:pPr>
              <a:lnSpc>
                <a:spcPts val="1800"/>
              </a:lnSpc>
              <a:spcBef>
                <a:spcPts val="600"/>
              </a:spcBef>
              <a:spcAft>
                <a:spcPts val="600"/>
              </a:spcAft>
            </a:pPr>
            <a:r>
              <a:rPr lang="en-US" altLang="zh-TW" sz="2000" b="1" u="none" strike="noStrike" dirty="0">
                <a:effectLst/>
              </a:rPr>
              <a:t>Muon is Scalable for LLM Training</a:t>
            </a:r>
          </a:p>
          <a:p>
            <a:pPr marL="285750" indent="-285750">
              <a:lnSpc>
                <a:spcPts val="1800"/>
              </a:lnSpc>
              <a:spcBef>
                <a:spcPts val="600"/>
              </a:spcBef>
              <a:spcAft>
                <a:spcPts val="600"/>
              </a:spcAft>
              <a:buFont typeface="Wingdings" panose="05000000000000000000" pitchFamily="2" charset="2"/>
              <a:buChar char="Ø"/>
            </a:pPr>
            <a:r>
              <a:rPr lang="en-US" altLang="zh-TW" sz="1600" b="1" dirty="0"/>
              <a:t>Scale Muon Optimizer</a:t>
            </a:r>
          </a:p>
          <a:p>
            <a:pPr marL="742950" lvl="1" indent="-285750">
              <a:lnSpc>
                <a:spcPts val="1800"/>
              </a:lnSpc>
              <a:spcBef>
                <a:spcPts val="600"/>
              </a:spcBef>
              <a:spcAft>
                <a:spcPts val="600"/>
              </a:spcAft>
              <a:buFont typeface="Arial" panose="020B0604020202020204" pitchFamily="34" charset="0"/>
              <a:buChar char="•"/>
            </a:pPr>
            <a:r>
              <a:rPr lang="en-US" altLang="zh-TW" sz="1600" b="1" dirty="0"/>
              <a:t>Weight Decay: </a:t>
            </a:r>
            <a:r>
              <a:rPr lang="en-US" altLang="zh-TW" sz="1600" dirty="0"/>
              <a:t>Critical for scaling to larger models.</a:t>
            </a:r>
          </a:p>
          <a:p>
            <a:pPr marL="742950" lvl="1" indent="-285750">
              <a:lnSpc>
                <a:spcPts val="1800"/>
              </a:lnSpc>
              <a:spcBef>
                <a:spcPts val="600"/>
              </a:spcBef>
              <a:spcAft>
                <a:spcPts val="600"/>
              </a:spcAft>
              <a:buFont typeface="Arial" panose="020B0604020202020204" pitchFamily="34" charset="0"/>
              <a:buChar char="•"/>
            </a:pPr>
            <a:r>
              <a:rPr lang="en-US" altLang="zh-TW" sz="1600" b="1" dirty="0"/>
              <a:t>Consistent RMS Updates: </a:t>
            </a:r>
            <a:r>
              <a:rPr lang="en-US" altLang="zh-TW" sz="1600" dirty="0"/>
              <a:t>Fine-tuning per-parameter update magnitudes, enforcing consistent root-mean-square</a:t>
            </a:r>
            <a:r>
              <a:rPr lang="en-US" altLang="zh-TW" sz="1600" b="1" dirty="0"/>
              <a:t>.</a:t>
            </a:r>
            <a:endParaRPr lang="en-US" altLang="zh-TW" sz="1600" dirty="0"/>
          </a:p>
          <a:p>
            <a:pPr marL="285750" indent="-285750">
              <a:lnSpc>
                <a:spcPts val="1800"/>
              </a:lnSpc>
              <a:spcBef>
                <a:spcPts val="600"/>
              </a:spcBef>
              <a:spcAft>
                <a:spcPts val="600"/>
              </a:spcAft>
              <a:buFont typeface="Wingdings" panose="05000000000000000000" pitchFamily="2" charset="2"/>
              <a:buChar char="Ø"/>
            </a:pPr>
            <a:r>
              <a:rPr lang="en-US" altLang="zh-TW" sz="1600" b="1" dirty="0"/>
              <a:t>Scaling Law: Experimental Results</a:t>
            </a:r>
          </a:p>
          <a:p>
            <a:pPr marL="742950" lvl="1" indent="-285750">
              <a:lnSpc>
                <a:spcPts val="1800"/>
              </a:lnSpc>
              <a:spcBef>
                <a:spcPts val="600"/>
              </a:spcBef>
              <a:spcAft>
                <a:spcPts val="600"/>
              </a:spcAft>
              <a:buFont typeface="Arial" panose="020B0604020202020204" pitchFamily="34" charset="0"/>
              <a:buChar char="•"/>
            </a:pPr>
            <a:r>
              <a:rPr lang="en-US" altLang="zh-TW" sz="1600" b="1" dirty="0"/>
              <a:t>~2x token efficiency (vs </a:t>
            </a:r>
            <a:r>
              <a:rPr lang="en-US" altLang="zh-TW" sz="1600" b="1" dirty="0" err="1"/>
              <a:t>AdamW</a:t>
            </a:r>
            <a:r>
              <a:rPr lang="en-US" altLang="zh-TW" sz="1600" b="1" dirty="0"/>
              <a:t>) </a:t>
            </a:r>
            <a:endParaRPr lang="en-US" altLang="zh-TW" sz="1600" dirty="0"/>
          </a:p>
        </p:txBody>
      </p:sp>
      <p:pic>
        <p:nvPicPr>
          <p:cNvPr id="11" name="圖片 10">
            <a:extLst>
              <a:ext uri="{FF2B5EF4-FFF2-40B4-BE49-F238E27FC236}">
                <a16:creationId xmlns:a16="http://schemas.microsoft.com/office/drawing/2014/main" id="{AC00E7AA-1873-38AF-0CDE-FFD343E4A196}"/>
              </a:ext>
            </a:extLst>
          </p:cNvPr>
          <p:cNvPicPr>
            <a:picLocks noChangeAspect="1"/>
          </p:cNvPicPr>
          <p:nvPr/>
        </p:nvPicPr>
        <p:blipFill>
          <a:blip r:embed="rId2"/>
          <a:stretch>
            <a:fillRect/>
          </a:stretch>
        </p:blipFill>
        <p:spPr>
          <a:xfrm>
            <a:off x="5791900" y="2204864"/>
            <a:ext cx="2312728" cy="1872208"/>
          </a:xfrm>
          <a:prstGeom prst="rect">
            <a:avLst/>
          </a:prstGeom>
        </p:spPr>
      </p:pic>
    </p:spTree>
    <p:extLst>
      <p:ext uri="{BB962C8B-B14F-4D97-AF65-F5344CB8AC3E}">
        <p14:creationId xmlns:p14="http://schemas.microsoft.com/office/powerpoint/2010/main" val="173597710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4DE73-845E-56B1-338E-79BD8AD2BA71}"/>
            </a:ext>
          </a:extLst>
        </p:cNvPr>
        <p:cNvGrpSpPr/>
        <p:nvPr/>
      </p:nvGrpSpPr>
      <p:grpSpPr>
        <a:xfrm>
          <a:off x="0" y="0"/>
          <a:ext cx="0" cy="0"/>
          <a:chOff x="0" y="0"/>
          <a:chExt cx="0" cy="0"/>
        </a:xfrm>
      </p:grpSpPr>
      <p:sp>
        <p:nvSpPr>
          <p:cNvPr id="16" name="標題 1">
            <a:extLst>
              <a:ext uri="{FF2B5EF4-FFF2-40B4-BE49-F238E27FC236}">
                <a16:creationId xmlns:a16="http://schemas.microsoft.com/office/drawing/2014/main" id="{31387CC2-AA34-BD9A-1D10-662C2C0E7AC4}"/>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Kimi  Linear</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An Expressive, Efficient Attention, Architecture</a:t>
            </a:r>
          </a:p>
        </p:txBody>
      </p:sp>
      <p:sp>
        <p:nvSpPr>
          <p:cNvPr id="9" name="文字方塊 8">
            <a:extLst>
              <a:ext uri="{FF2B5EF4-FFF2-40B4-BE49-F238E27FC236}">
                <a16:creationId xmlns:a16="http://schemas.microsoft.com/office/drawing/2014/main" id="{9F0C7E82-DA95-DF79-29A5-3FC58C092FFC}"/>
              </a:ext>
            </a:extLst>
          </p:cNvPr>
          <p:cNvSpPr txBox="1"/>
          <p:nvPr/>
        </p:nvSpPr>
        <p:spPr>
          <a:xfrm>
            <a:off x="6712434" y="5620158"/>
            <a:ext cx="247476" cy="226195"/>
          </a:xfrm>
          <a:prstGeom prst="rect">
            <a:avLst/>
          </a:prstGeom>
          <a:noFill/>
        </p:spPr>
        <p:txBody>
          <a:bodyPr wrap="none" lIns="0" tIns="0" rIns="0" bIns="0" anchor="ctr" anchorCtr="1">
            <a:noAutofit/>
          </a:bodyPr>
          <a:lstStyle/>
          <a:p>
            <a:r>
              <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rPr>
              <a:t>D</a:t>
            </a:r>
          </a:p>
        </p:txBody>
      </p:sp>
      <p:pic>
        <p:nvPicPr>
          <p:cNvPr id="14" name="圖片 13">
            <a:extLst>
              <a:ext uri="{FF2B5EF4-FFF2-40B4-BE49-F238E27FC236}">
                <a16:creationId xmlns:a16="http://schemas.microsoft.com/office/drawing/2014/main" id="{BA39B5A4-81BC-B102-0C1A-F8CFC8E9AE98}"/>
              </a:ext>
            </a:extLst>
          </p:cNvPr>
          <p:cNvPicPr>
            <a:picLocks noChangeAspect="1"/>
          </p:cNvPicPr>
          <p:nvPr/>
        </p:nvPicPr>
        <p:blipFill>
          <a:blip r:embed="rId3"/>
          <a:stretch>
            <a:fillRect/>
          </a:stretch>
        </p:blipFill>
        <p:spPr>
          <a:xfrm>
            <a:off x="0" y="2472698"/>
            <a:ext cx="9144000" cy="1912603"/>
          </a:xfrm>
          <a:prstGeom prst="rect">
            <a:avLst/>
          </a:prstGeom>
        </p:spPr>
      </p:pic>
    </p:spTree>
    <p:extLst>
      <p:ext uri="{BB962C8B-B14F-4D97-AF65-F5344CB8AC3E}">
        <p14:creationId xmlns:p14="http://schemas.microsoft.com/office/powerpoint/2010/main" val="371834071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F6746-9142-1125-6596-6627093E8340}"/>
            </a:ext>
          </a:extLst>
        </p:cNvPr>
        <p:cNvGrpSpPr/>
        <p:nvPr/>
      </p:nvGrpSpPr>
      <p:grpSpPr>
        <a:xfrm>
          <a:off x="0" y="0"/>
          <a:ext cx="0" cy="0"/>
          <a:chOff x="0" y="0"/>
          <a:chExt cx="0" cy="0"/>
        </a:xfrm>
      </p:grpSpPr>
      <p:sp>
        <p:nvSpPr>
          <p:cNvPr id="454" name="矩形 453">
            <a:extLst>
              <a:ext uri="{FF2B5EF4-FFF2-40B4-BE49-F238E27FC236}">
                <a16:creationId xmlns:a16="http://schemas.microsoft.com/office/drawing/2014/main" id="{A53C3235-4FD1-1D38-82A6-F6BEDB811571}"/>
              </a:ext>
            </a:extLst>
          </p:cNvPr>
          <p:cNvSpPr/>
          <p:nvPr/>
        </p:nvSpPr>
        <p:spPr>
          <a:xfrm>
            <a:off x="8244408" y="2883915"/>
            <a:ext cx="648072" cy="1041669"/>
          </a:xfrm>
          <a:prstGeom prst="rect">
            <a:avLst/>
          </a:prstGeom>
          <a:solidFill>
            <a:schemeClr val="bg1">
              <a:lumMod val="95000"/>
            </a:schemeClr>
          </a:solidFill>
          <a:ln w="19050">
            <a:solidFill>
              <a:schemeClr val="bg2">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bg2">
                    <a:lumMod val="50000"/>
                  </a:schemeClr>
                </a:solidFill>
                <a:latin typeface="ADLaM Display" panose="02010000000000000000" pitchFamily="2" charset="0"/>
                <a:ea typeface="ADLaM Display" panose="02010000000000000000" pitchFamily="2" charset="0"/>
                <a:cs typeface="ADLaM Display" panose="02010000000000000000" pitchFamily="2" charset="0"/>
              </a:rPr>
              <a:t>VC</a:t>
            </a:r>
          </a:p>
          <a:p>
            <a:pPr algn="ctr">
              <a:lnSpc>
                <a:spcPts val="1600"/>
              </a:lnSpc>
            </a:pPr>
            <a:endParaRPr lang="en-US" altLang="zh-TW" sz="1600" dirty="0">
              <a:solidFill>
                <a:schemeClr val="bg2">
                  <a:lumMod val="50000"/>
                </a:schemeClr>
              </a:solidFill>
              <a:latin typeface="ADLaM Display" panose="02010000000000000000" pitchFamily="2" charset="0"/>
              <a:ea typeface="ADLaM Display" panose="02010000000000000000" pitchFamily="2" charset="0"/>
              <a:cs typeface="ADLaM Display" panose="02010000000000000000" pitchFamily="2" charset="0"/>
            </a:endParaRPr>
          </a:p>
          <a:p>
            <a:pPr algn="ctr">
              <a:lnSpc>
                <a:spcPts val="1600"/>
              </a:lnSpc>
            </a:pPr>
            <a:endParaRPr lang="en-US" altLang="zh-TW" sz="1600" dirty="0">
              <a:solidFill>
                <a:schemeClr val="bg2">
                  <a:lumMod val="50000"/>
                </a:schemeClr>
              </a:solidFill>
              <a:latin typeface="ADLaM Display" panose="02010000000000000000" pitchFamily="2" charset="0"/>
              <a:ea typeface="ADLaM Display" panose="02010000000000000000" pitchFamily="2" charset="0"/>
              <a:cs typeface="ADLaM Display" panose="02010000000000000000" pitchFamily="2" charset="0"/>
            </a:endParaRPr>
          </a:p>
          <a:p>
            <a:pPr algn="ctr">
              <a:lnSpc>
                <a:spcPts val="1600"/>
              </a:lnSpc>
            </a:pPr>
            <a:endPar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45" name="矩形 444">
            <a:extLst>
              <a:ext uri="{FF2B5EF4-FFF2-40B4-BE49-F238E27FC236}">
                <a16:creationId xmlns:a16="http://schemas.microsoft.com/office/drawing/2014/main" id="{FCBAE47A-1424-F040-2145-DC1D97F7D804}"/>
              </a:ext>
            </a:extLst>
          </p:cNvPr>
          <p:cNvSpPr/>
          <p:nvPr/>
        </p:nvSpPr>
        <p:spPr>
          <a:xfrm>
            <a:off x="8367367" y="2883915"/>
            <a:ext cx="241412" cy="1041669"/>
          </a:xfrm>
          <a:prstGeom prst="rect">
            <a:avLst/>
          </a:prstGeom>
          <a:solidFill>
            <a:schemeClr val="bg2">
              <a:lumMod val="90000"/>
              <a:alpha val="40000"/>
            </a:schemeClr>
          </a:solidFill>
          <a:ln w="19050">
            <a:solidFill>
              <a:schemeClr val="bg2">
                <a:lumMod val="50000"/>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b="1" dirty="0">
                <a:solidFill>
                  <a:schemeClr val="tx1"/>
                </a:solidFill>
                <a:ea typeface="ADLaM Display" panose="02010000000000000000" pitchFamily="2" charset="0"/>
                <a:cs typeface="ADLaM Display" panose="02010000000000000000" pitchFamily="2" charset="0"/>
              </a:rPr>
              <a:t>VC</a:t>
            </a:r>
          </a:p>
          <a:p>
            <a:pPr algn="ctr">
              <a:lnSpc>
                <a:spcPts val="1000"/>
              </a:lnSpc>
            </a:pPr>
            <a:r>
              <a:rPr lang="en-US" altLang="zh-TW" sz="1000" dirty="0">
                <a:solidFill>
                  <a:schemeClr val="tx1"/>
                </a:solidFill>
                <a:ea typeface="ADLaM Display" panose="02010000000000000000" pitchFamily="2" charset="0"/>
                <a:cs typeface="ADLaM Display" panose="02010000000000000000" pitchFamily="2" charset="0"/>
              </a:rPr>
              <a:t>PLE</a:t>
            </a:r>
          </a:p>
          <a:p>
            <a:pPr algn="ctr">
              <a:lnSpc>
                <a:spcPts val="1000"/>
              </a:lnSpc>
            </a:pPr>
            <a:endParaRPr lang="en-US" altLang="zh-TW" sz="1000" dirty="0">
              <a:solidFill>
                <a:schemeClr val="tx1"/>
              </a:solidFill>
              <a:ea typeface="ADLaM Display" panose="02010000000000000000" pitchFamily="2" charset="0"/>
              <a:cs typeface="ADLaM Display" panose="02010000000000000000" pitchFamily="2" charset="0"/>
            </a:endParaRPr>
          </a:p>
        </p:txBody>
      </p:sp>
      <p:sp>
        <p:nvSpPr>
          <p:cNvPr id="170" name="矩形: 圓角 169">
            <a:extLst>
              <a:ext uri="{FF2B5EF4-FFF2-40B4-BE49-F238E27FC236}">
                <a16:creationId xmlns:a16="http://schemas.microsoft.com/office/drawing/2014/main" id="{BE0A9E20-F836-F032-C9F1-D0C844445195}"/>
              </a:ext>
            </a:extLst>
          </p:cNvPr>
          <p:cNvSpPr/>
          <p:nvPr/>
        </p:nvSpPr>
        <p:spPr>
          <a:xfrm>
            <a:off x="2123728" y="5092506"/>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Input Layer</a:t>
            </a:r>
          </a:p>
        </p:txBody>
      </p:sp>
      <p:sp>
        <p:nvSpPr>
          <p:cNvPr id="172" name="矩形: 圓角 171">
            <a:extLst>
              <a:ext uri="{FF2B5EF4-FFF2-40B4-BE49-F238E27FC236}">
                <a16:creationId xmlns:a16="http://schemas.microsoft.com/office/drawing/2014/main" id="{BC1948D7-B839-0028-27CE-1E2CF5281DD8}"/>
              </a:ext>
            </a:extLst>
          </p:cNvPr>
          <p:cNvSpPr/>
          <p:nvPr/>
        </p:nvSpPr>
        <p:spPr>
          <a:xfrm>
            <a:off x="467544" y="5092506"/>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Input Layer</a:t>
            </a:r>
          </a:p>
        </p:txBody>
      </p:sp>
      <p:sp>
        <p:nvSpPr>
          <p:cNvPr id="2" name="矩形: 圓角 1">
            <a:extLst>
              <a:ext uri="{FF2B5EF4-FFF2-40B4-BE49-F238E27FC236}">
                <a16:creationId xmlns:a16="http://schemas.microsoft.com/office/drawing/2014/main" id="{8729D631-BF91-8BC3-4BEA-1E529F12C632}"/>
              </a:ext>
            </a:extLst>
          </p:cNvPr>
          <p:cNvSpPr/>
          <p:nvPr/>
        </p:nvSpPr>
        <p:spPr>
          <a:xfrm>
            <a:off x="467826" y="1922626"/>
            <a:ext cx="1219522" cy="27950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4" name="文字方塊 3">
            <a:extLst>
              <a:ext uri="{FF2B5EF4-FFF2-40B4-BE49-F238E27FC236}">
                <a16:creationId xmlns:a16="http://schemas.microsoft.com/office/drawing/2014/main" id="{C1B96EB9-3086-F91B-B6F4-AF62653FE4F5}"/>
              </a:ext>
            </a:extLst>
          </p:cNvPr>
          <p:cNvSpPr txBox="1"/>
          <p:nvPr/>
        </p:nvSpPr>
        <p:spPr>
          <a:xfrm>
            <a:off x="535220" y="2002309"/>
            <a:ext cx="1086557" cy="1635243"/>
          </a:xfrm>
          <a:prstGeom prst="rect">
            <a:avLst/>
          </a:prstGeom>
          <a:solidFill>
            <a:srgbClr val="B7C9E7">
              <a:alpha val="6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5" name="文字方塊 4">
            <a:extLst>
              <a:ext uri="{FF2B5EF4-FFF2-40B4-BE49-F238E27FC236}">
                <a16:creationId xmlns:a16="http://schemas.microsoft.com/office/drawing/2014/main" id="{F5B4EA22-18C0-D52E-F2FC-7D1EE09C7763}"/>
              </a:ext>
            </a:extLst>
          </p:cNvPr>
          <p:cNvSpPr txBox="1"/>
          <p:nvPr/>
        </p:nvSpPr>
        <p:spPr>
          <a:xfrm>
            <a:off x="535220" y="3781568"/>
            <a:ext cx="1086557" cy="824652"/>
          </a:xfrm>
          <a:prstGeom prst="rect">
            <a:avLst/>
          </a:prstGeom>
          <a:solidFill>
            <a:schemeClr val="accent1">
              <a:lumMod val="20000"/>
              <a:lumOff val="80000"/>
              <a:alpha val="20000"/>
            </a:scheme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7" name="直線單箭頭接點 6">
            <a:extLst>
              <a:ext uri="{FF2B5EF4-FFF2-40B4-BE49-F238E27FC236}">
                <a16:creationId xmlns:a16="http://schemas.microsoft.com/office/drawing/2014/main" id="{EC440B47-022A-4F2E-ADB9-9E340AE7B99A}"/>
              </a:ext>
            </a:extLst>
          </p:cNvPr>
          <p:cNvCxnSpPr>
            <a:cxnSpLocks/>
            <a:endCxn id="179" idx="2"/>
          </p:cNvCxnSpPr>
          <p:nvPr/>
        </p:nvCxnSpPr>
        <p:spPr>
          <a:xfrm flipH="1" flipV="1">
            <a:off x="1075281" y="4501648"/>
            <a:ext cx="2307" cy="435063"/>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6" name="標題 1">
            <a:extLst>
              <a:ext uri="{FF2B5EF4-FFF2-40B4-BE49-F238E27FC236}">
                <a16:creationId xmlns:a16="http://schemas.microsoft.com/office/drawing/2014/main" id="{8DB9693A-E2A1-CCD2-2F2F-2065D8528EA2}"/>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Stable Latent MoE </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NVIDIA Latent MoE + Kimi Quantile Balancing</a:t>
            </a:r>
          </a:p>
        </p:txBody>
      </p:sp>
      <p:sp>
        <p:nvSpPr>
          <p:cNvPr id="19" name="矩形: 圓角 18">
            <a:extLst>
              <a:ext uri="{FF2B5EF4-FFF2-40B4-BE49-F238E27FC236}">
                <a16:creationId xmlns:a16="http://schemas.microsoft.com/office/drawing/2014/main" id="{7C5DF3DB-0A46-D193-F5D9-6C5336E76BA5}"/>
              </a:ext>
            </a:extLst>
          </p:cNvPr>
          <p:cNvSpPr/>
          <p:nvPr/>
        </p:nvSpPr>
        <p:spPr>
          <a:xfrm>
            <a:off x="2123728" y="1922626"/>
            <a:ext cx="1219522" cy="27950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20" name="文字方塊 19">
            <a:extLst>
              <a:ext uri="{FF2B5EF4-FFF2-40B4-BE49-F238E27FC236}">
                <a16:creationId xmlns:a16="http://schemas.microsoft.com/office/drawing/2014/main" id="{8CB62931-0116-4F8D-48BF-62F2DE049D2C}"/>
              </a:ext>
            </a:extLst>
          </p:cNvPr>
          <p:cNvSpPr txBox="1"/>
          <p:nvPr/>
        </p:nvSpPr>
        <p:spPr>
          <a:xfrm>
            <a:off x="2200023"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21" name="文字方塊 20">
            <a:extLst>
              <a:ext uri="{FF2B5EF4-FFF2-40B4-BE49-F238E27FC236}">
                <a16:creationId xmlns:a16="http://schemas.microsoft.com/office/drawing/2014/main" id="{F9783ACE-7D1B-5C7C-1112-A1423E5FEFF2}"/>
              </a:ext>
            </a:extLst>
          </p:cNvPr>
          <p:cNvSpPr txBox="1"/>
          <p:nvPr/>
        </p:nvSpPr>
        <p:spPr>
          <a:xfrm>
            <a:off x="2195735" y="3781568"/>
            <a:ext cx="1086557" cy="824652"/>
          </a:xfrm>
          <a:prstGeom prst="rect">
            <a:avLst/>
          </a:prstGeom>
          <a:solidFill>
            <a:srgbClr val="DCE6F2">
              <a:alpha val="2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23" name="直線單箭頭接點 22">
            <a:extLst>
              <a:ext uri="{FF2B5EF4-FFF2-40B4-BE49-F238E27FC236}">
                <a16:creationId xmlns:a16="http://schemas.microsoft.com/office/drawing/2014/main" id="{8A882AA6-6867-F830-42C6-244BEB4AE9AF}"/>
              </a:ext>
            </a:extLst>
          </p:cNvPr>
          <p:cNvCxnSpPr>
            <a:cxnSpLocks/>
            <a:stCxn id="176" idx="0"/>
            <a:endCxn id="177" idx="2"/>
          </p:cNvCxnSpPr>
          <p:nvPr/>
        </p:nvCxnSpPr>
        <p:spPr>
          <a:xfrm flipH="1" flipV="1">
            <a:off x="2726271" y="4501648"/>
            <a:ext cx="2070" cy="255057"/>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14" name="矩形: 圓角 113">
            <a:extLst>
              <a:ext uri="{FF2B5EF4-FFF2-40B4-BE49-F238E27FC236}">
                <a16:creationId xmlns:a16="http://schemas.microsoft.com/office/drawing/2014/main" id="{5A324B73-A2B0-2068-6311-5BD0FDC1B00D}"/>
              </a:ext>
            </a:extLst>
          </p:cNvPr>
          <p:cNvSpPr/>
          <p:nvPr/>
        </p:nvSpPr>
        <p:spPr>
          <a:xfrm>
            <a:off x="2123728" y="1405304"/>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sp>
        <p:nvSpPr>
          <p:cNvPr id="116" name="矩形: 圓角 115">
            <a:extLst>
              <a:ext uri="{FF2B5EF4-FFF2-40B4-BE49-F238E27FC236}">
                <a16:creationId xmlns:a16="http://schemas.microsoft.com/office/drawing/2014/main" id="{1BD8915E-AF1F-5982-35FD-A8CA9A3E8CDE}"/>
              </a:ext>
            </a:extLst>
          </p:cNvPr>
          <p:cNvSpPr/>
          <p:nvPr/>
        </p:nvSpPr>
        <p:spPr>
          <a:xfrm>
            <a:off x="467544" y="1405304"/>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cxnSp>
        <p:nvCxnSpPr>
          <p:cNvPr id="117" name="直線單箭頭接點 116">
            <a:extLst>
              <a:ext uri="{FF2B5EF4-FFF2-40B4-BE49-F238E27FC236}">
                <a16:creationId xmlns:a16="http://schemas.microsoft.com/office/drawing/2014/main" id="{4A3F95B3-680D-D78C-8853-E6B590C190E6}"/>
              </a:ext>
            </a:extLst>
          </p:cNvPr>
          <p:cNvCxnSpPr>
            <a:cxnSpLocks/>
            <a:stCxn id="2" idx="0"/>
            <a:endCxn id="116" idx="2"/>
          </p:cNvCxnSpPr>
          <p:nvPr/>
        </p:nvCxnSpPr>
        <p:spPr>
          <a:xfrm flipH="1" flipV="1">
            <a:off x="1077305" y="1750550"/>
            <a:ext cx="282" cy="17207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20" name="直線單箭頭接點 119">
            <a:extLst>
              <a:ext uri="{FF2B5EF4-FFF2-40B4-BE49-F238E27FC236}">
                <a16:creationId xmlns:a16="http://schemas.microsoft.com/office/drawing/2014/main" id="{E0551D9F-0AA6-4035-F927-8873E0FD90C7}"/>
              </a:ext>
            </a:extLst>
          </p:cNvPr>
          <p:cNvCxnSpPr>
            <a:cxnSpLocks/>
            <a:stCxn id="19" idx="0"/>
            <a:endCxn id="114" idx="2"/>
          </p:cNvCxnSpPr>
          <p:nvPr/>
        </p:nvCxnSpPr>
        <p:spPr>
          <a:xfrm flipV="1">
            <a:off x="2733489" y="1750550"/>
            <a:ext cx="0" cy="17207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29" name="文字方塊 128">
            <a:extLst>
              <a:ext uri="{FF2B5EF4-FFF2-40B4-BE49-F238E27FC236}">
                <a16:creationId xmlns:a16="http://schemas.microsoft.com/office/drawing/2014/main" id="{7FE9C879-E200-EB5A-2CC2-69A71AB1713D}"/>
              </a:ext>
            </a:extLst>
          </p:cNvPr>
          <p:cNvSpPr txBox="1"/>
          <p:nvPr/>
        </p:nvSpPr>
        <p:spPr>
          <a:xfrm>
            <a:off x="2488055"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38" name="文字方塊 137">
            <a:extLst>
              <a:ext uri="{FF2B5EF4-FFF2-40B4-BE49-F238E27FC236}">
                <a16:creationId xmlns:a16="http://schemas.microsoft.com/office/drawing/2014/main" id="{4CD21E97-532C-B0C9-5963-6BC07711A17A}"/>
              </a:ext>
            </a:extLst>
          </p:cNvPr>
          <p:cNvSpPr txBox="1"/>
          <p:nvPr/>
        </p:nvSpPr>
        <p:spPr>
          <a:xfrm>
            <a:off x="2787962"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0" name="文字方塊 139">
            <a:extLst>
              <a:ext uri="{FF2B5EF4-FFF2-40B4-BE49-F238E27FC236}">
                <a16:creationId xmlns:a16="http://schemas.microsoft.com/office/drawing/2014/main" id="{A8972DAD-5FD1-C633-ACF7-462CB437C21A}"/>
              </a:ext>
            </a:extLst>
          </p:cNvPr>
          <p:cNvSpPr txBox="1"/>
          <p:nvPr/>
        </p:nvSpPr>
        <p:spPr>
          <a:xfrm>
            <a:off x="3074595"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2" name="文字方塊 141">
            <a:extLst>
              <a:ext uri="{FF2B5EF4-FFF2-40B4-BE49-F238E27FC236}">
                <a16:creationId xmlns:a16="http://schemas.microsoft.com/office/drawing/2014/main" id="{BB162BC8-55DA-04F0-BAB2-1C519A2BAF87}"/>
              </a:ext>
            </a:extLst>
          </p:cNvPr>
          <p:cNvSpPr txBox="1"/>
          <p:nvPr/>
        </p:nvSpPr>
        <p:spPr>
          <a:xfrm>
            <a:off x="2195736" y="235093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4" name="文字方塊 143">
            <a:extLst>
              <a:ext uri="{FF2B5EF4-FFF2-40B4-BE49-F238E27FC236}">
                <a16:creationId xmlns:a16="http://schemas.microsoft.com/office/drawing/2014/main" id="{5FC666CF-592D-7189-C114-4A4C013CBF6D}"/>
              </a:ext>
            </a:extLst>
          </p:cNvPr>
          <p:cNvSpPr txBox="1"/>
          <p:nvPr/>
        </p:nvSpPr>
        <p:spPr>
          <a:xfrm>
            <a:off x="2483768" y="2350933"/>
            <a:ext cx="201168" cy="201168"/>
          </a:xfrm>
          <a:prstGeom prst="rect">
            <a:avLst/>
          </a:prstGeom>
          <a:solidFill>
            <a:schemeClr val="accent2">
              <a:lumMod val="20000"/>
              <a:lumOff val="80000"/>
            </a:schemeClr>
          </a:solidFill>
          <a:ln w="25400">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6" name="文字方塊 145">
            <a:extLst>
              <a:ext uri="{FF2B5EF4-FFF2-40B4-BE49-F238E27FC236}">
                <a16:creationId xmlns:a16="http://schemas.microsoft.com/office/drawing/2014/main" id="{5F702349-7BBE-30ED-CD8A-023983F6269E}"/>
              </a:ext>
            </a:extLst>
          </p:cNvPr>
          <p:cNvSpPr txBox="1"/>
          <p:nvPr/>
        </p:nvSpPr>
        <p:spPr>
          <a:xfrm>
            <a:off x="2783675" y="235093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8" name="文字方塊 147">
            <a:extLst>
              <a:ext uri="{FF2B5EF4-FFF2-40B4-BE49-F238E27FC236}">
                <a16:creationId xmlns:a16="http://schemas.microsoft.com/office/drawing/2014/main" id="{A825FE45-C6B6-3543-95E6-B3D894125747}"/>
              </a:ext>
            </a:extLst>
          </p:cNvPr>
          <p:cNvSpPr txBox="1"/>
          <p:nvPr/>
        </p:nvSpPr>
        <p:spPr>
          <a:xfrm>
            <a:off x="3074595" y="235093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0" name="文字方塊 149">
            <a:extLst>
              <a:ext uri="{FF2B5EF4-FFF2-40B4-BE49-F238E27FC236}">
                <a16:creationId xmlns:a16="http://schemas.microsoft.com/office/drawing/2014/main" id="{34DE2255-C248-2104-FB4C-A40919921807}"/>
              </a:ext>
            </a:extLst>
          </p:cNvPr>
          <p:cNvSpPr txBox="1"/>
          <p:nvPr/>
        </p:nvSpPr>
        <p:spPr>
          <a:xfrm>
            <a:off x="2199071"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2" name="文字方塊 151">
            <a:extLst>
              <a:ext uri="{FF2B5EF4-FFF2-40B4-BE49-F238E27FC236}">
                <a16:creationId xmlns:a16="http://schemas.microsoft.com/office/drawing/2014/main" id="{1E786C9A-A13F-E064-4286-D1DCEB6C8DB8}"/>
              </a:ext>
            </a:extLst>
          </p:cNvPr>
          <p:cNvSpPr txBox="1"/>
          <p:nvPr/>
        </p:nvSpPr>
        <p:spPr>
          <a:xfrm>
            <a:off x="2487103"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4" name="文字方塊 153">
            <a:extLst>
              <a:ext uri="{FF2B5EF4-FFF2-40B4-BE49-F238E27FC236}">
                <a16:creationId xmlns:a16="http://schemas.microsoft.com/office/drawing/2014/main" id="{D23A0C5C-F1CC-6596-6168-20098B665F56}"/>
              </a:ext>
            </a:extLst>
          </p:cNvPr>
          <p:cNvSpPr txBox="1"/>
          <p:nvPr/>
        </p:nvSpPr>
        <p:spPr>
          <a:xfrm>
            <a:off x="2787010"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6" name="文字方塊 155">
            <a:extLst>
              <a:ext uri="{FF2B5EF4-FFF2-40B4-BE49-F238E27FC236}">
                <a16:creationId xmlns:a16="http://schemas.microsoft.com/office/drawing/2014/main" id="{646733A6-99E9-0F50-04BB-6514E8205CBA}"/>
              </a:ext>
            </a:extLst>
          </p:cNvPr>
          <p:cNvSpPr txBox="1"/>
          <p:nvPr/>
        </p:nvSpPr>
        <p:spPr>
          <a:xfrm>
            <a:off x="3073643"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8" name="文字方塊 157">
            <a:extLst>
              <a:ext uri="{FF2B5EF4-FFF2-40B4-BE49-F238E27FC236}">
                <a16:creationId xmlns:a16="http://schemas.microsoft.com/office/drawing/2014/main" id="{75BA3559-BA09-08D0-D330-6ED320E54702}"/>
              </a:ext>
            </a:extLst>
          </p:cNvPr>
          <p:cNvSpPr txBox="1"/>
          <p:nvPr/>
        </p:nvSpPr>
        <p:spPr>
          <a:xfrm>
            <a:off x="2194784" y="2917472"/>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0" name="文字方塊 159">
            <a:extLst>
              <a:ext uri="{FF2B5EF4-FFF2-40B4-BE49-F238E27FC236}">
                <a16:creationId xmlns:a16="http://schemas.microsoft.com/office/drawing/2014/main" id="{527EA4F8-BFCB-0AD7-1C54-E92FD7002C82}"/>
              </a:ext>
            </a:extLst>
          </p:cNvPr>
          <p:cNvSpPr txBox="1"/>
          <p:nvPr/>
        </p:nvSpPr>
        <p:spPr>
          <a:xfrm>
            <a:off x="2482816" y="2917472"/>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2" name="文字方塊 161">
            <a:extLst>
              <a:ext uri="{FF2B5EF4-FFF2-40B4-BE49-F238E27FC236}">
                <a16:creationId xmlns:a16="http://schemas.microsoft.com/office/drawing/2014/main" id="{4C6FC89D-BBC7-8090-5F91-BE74A60B32CB}"/>
              </a:ext>
            </a:extLst>
          </p:cNvPr>
          <p:cNvSpPr txBox="1"/>
          <p:nvPr/>
        </p:nvSpPr>
        <p:spPr>
          <a:xfrm>
            <a:off x="2782723" y="2917472"/>
            <a:ext cx="201168" cy="201168"/>
          </a:xfrm>
          <a:prstGeom prst="rect">
            <a:avLst/>
          </a:prstGeom>
          <a:solidFill>
            <a:schemeClr val="accent2">
              <a:lumMod val="20000"/>
              <a:lumOff val="80000"/>
            </a:schemeClr>
          </a:solidFill>
          <a:ln w="25400">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4" name="文字方塊 163">
            <a:extLst>
              <a:ext uri="{FF2B5EF4-FFF2-40B4-BE49-F238E27FC236}">
                <a16:creationId xmlns:a16="http://schemas.microsoft.com/office/drawing/2014/main" id="{5A29A6E7-12E3-7EAD-3445-6D9A8D6C0427}"/>
              </a:ext>
            </a:extLst>
          </p:cNvPr>
          <p:cNvSpPr txBox="1"/>
          <p:nvPr/>
        </p:nvSpPr>
        <p:spPr>
          <a:xfrm>
            <a:off x="3073643" y="2917472"/>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8" name="矩形 167">
            <a:extLst>
              <a:ext uri="{FF2B5EF4-FFF2-40B4-BE49-F238E27FC236}">
                <a16:creationId xmlns:a16="http://schemas.microsoft.com/office/drawing/2014/main" id="{9D8A1084-9F03-ADF1-38BA-A040AD80E8B6}"/>
              </a:ext>
            </a:extLst>
          </p:cNvPr>
          <p:cNvSpPr/>
          <p:nvPr/>
        </p:nvSpPr>
        <p:spPr>
          <a:xfrm>
            <a:off x="607229" y="4756564"/>
            <a:ext cx="933795" cy="393156"/>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176" name="矩形 175">
            <a:extLst>
              <a:ext uri="{FF2B5EF4-FFF2-40B4-BE49-F238E27FC236}">
                <a16:creationId xmlns:a16="http://schemas.microsoft.com/office/drawing/2014/main" id="{8D498E4C-5D51-7DB9-17CF-CACB40A7A705}"/>
              </a:ext>
            </a:extLst>
          </p:cNvPr>
          <p:cNvSpPr/>
          <p:nvPr/>
        </p:nvSpPr>
        <p:spPr>
          <a:xfrm>
            <a:off x="2476313" y="4756705"/>
            <a:ext cx="504056" cy="393015"/>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177" name="矩形: 圓角 176">
            <a:extLst>
              <a:ext uri="{FF2B5EF4-FFF2-40B4-BE49-F238E27FC236}">
                <a16:creationId xmlns:a16="http://schemas.microsoft.com/office/drawing/2014/main" id="{820663F9-B5F4-81B3-0343-D1B5EA59C156}"/>
              </a:ext>
            </a:extLst>
          </p:cNvPr>
          <p:cNvSpPr/>
          <p:nvPr/>
        </p:nvSpPr>
        <p:spPr>
          <a:xfrm>
            <a:off x="2474243" y="4069600"/>
            <a:ext cx="504056" cy="432048"/>
          </a:xfrm>
          <a:prstGeom prst="roundRect">
            <a:avLst/>
          </a:prstGeom>
          <a:solidFill>
            <a:schemeClr val="bg1"/>
          </a:solid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 x 2048</a:t>
            </a:r>
          </a:p>
        </p:txBody>
      </p:sp>
      <p:sp>
        <p:nvSpPr>
          <p:cNvPr id="179" name="矩形: 圓角 178">
            <a:extLst>
              <a:ext uri="{FF2B5EF4-FFF2-40B4-BE49-F238E27FC236}">
                <a16:creationId xmlns:a16="http://schemas.microsoft.com/office/drawing/2014/main" id="{E35675A0-647C-6987-3E01-AA861C9B4DA7}"/>
              </a:ext>
            </a:extLst>
          </p:cNvPr>
          <p:cNvSpPr/>
          <p:nvPr/>
        </p:nvSpPr>
        <p:spPr>
          <a:xfrm>
            <a:off x="607229" y="4069600"/>
            <a:ext cx="936104" cy="432048"/>
          </a:xfrm>
          <a:prstGeom prst="roundRect">
            <a:avLst/>
          </a:prstGeom>
          <a:solidFill>
            <a:schemeClr val="bg1"/>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 x 8192</a:t>
            </a:r>
          </a:p>
        </p:txBody>
      </p:sp>
      <p:sp>
        <p:nvSpPr>
          <p:cNvPr id="181" name="矩形: 圓角 180">
            <a:extLst>
              <a:ext uri="{FF2B5EF4-FFF2-40B4-BE49-F238E27FC236}">
                <a16:creationId xmlns:a16="http://schemas.microsoft.com/office/drawing/2014/main" id="{03933175-BA42-F91B-94EA-358EEE0391FF}"/>
              </a:ext>
            </a:extLst>
          </p:cNvPr>
          <p:cNvSpPr/>
          <p:nvPr/>
        </p:nvSpPr>
        <p:spPr>
          <a:xfrm>
            <a:off x="607229" y="2472158"/>
            <a:ext cx="936104" cy="1093386"/>
          </a:xfrm>
          <a:prstGeom prst="roundRect">
            <a:avLst>
              <a:gd name="adj" fmla="val 8860"/>
            </a:avLst>
          </a:prstGeom>
          <a:solidFill>
            <a:schemeClr val="accent2">
              <a:lumMod val="20000"/>
              <a:lumOff val="8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FFN</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214" name="矩形: 圓角 213">
            <a:extLst>
              <a:ext uri="{FF2B5EF4-FFF2-40B4-BE49-F238E27FC236}">
                <a16:creationId xmlns:a16="http://schemas.microsoft.com/office/drawing/2014/main" id="{031B7DF6-9439-AFF2-1A7A-A362C47B3B0F}"/>
              </a:ext>
            </a:extLst>
          </p:cNvPr>
          <p:cNvSpPr/>
          <p:nvPr/>
        </p:nvSpPr>
        <p:spPr>
          <a:xfrm>
            <a:off x="3779912" y="1393059"/>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sp>
        <p:nvSpPr>
          <p:cNvPr id="243" name="矩形: 圓角 242">
            <a:extLst>
              <a:ext uri="{FF2B5EF4-FFF2-40B4-BE49-F238E27FC236}">
                <a16:creationId xmlns:a16="http://schemas.microsoft.com/office/drawing/2014/main" id="{CC01AD58-2464-AD52-928D-A7DA560B113A}"/>
              </a:ext>
            </a:extLst>
          </p:cNvPr>
          <p:cNvSpPr/>
          <p:nvPr/>
        </p:nvSpPr>
        <p:spPr>
          <a:xfrm>
            <a:off x="2467914" y="3224554"/>
            <a:ext cx="516929" cy="436010"/>
          </a:xfrm>
          <a:prstGeom prst="roundRect">
            <a:avLst>
              <a:gd name="adj" fmla="val 8860"/>
            </a:avLst>
          </a:prstGeom>
          <a:solidFill>
            <a:schemeClr val="accent2">
              <a:lumMod val="20000"/>
              <a:lumOff val="80000"/>
            </a:schemeClr>
          </a:solidFill>
          <a:ln w="2540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MoE</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Router</a:t>
            </a:r>
          </a:p>
        </p:txBody>
      </p:sp>
      <p:graphicFrame>
        <p:nvGraphicFramePr>
          <p:cNvPr id="247" name="表格 246">
            <a:extLst>
              <a:ext uri="{FF2B5EF4-FFF2-40B4-BE49-F238E27FC236}">
                <a16:creationId xmlns:a16="http://schemas.microsoft.com/office/drawing/2014/main" id="{C0C92457-E1D1-AE97-4DED-9FF74D4517D8}"/>
              </a:ext>
            </a:extLst>
          </p:cNvPr>
          <p:cNvGraphicFramePr>
            <a:graphicFrameLocks noGrp="1"/>
          </p:cNvGraphicFramePr>
          <p:nvPr/>
        </p:nvGraphicFramePr>
        <p:xfrm>
          <a:off x="5652400" y="1777144"/>
          <a:ext cx="2520000" cy="261855"/>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871242339"/>
                    </a:ext>
                  </a:extLst>
                </a:gridCol>
                <a:gridCol w="252000">
                  <a:extLst>
                    <a:ext uri="{9D8B030D-6E8A-4147-A177-3AD203B41FA5}">
                      <a16:colId xmlns:a16="http://schemas.microsoft.com/office/drawing/2014/main" val="337396536"/>
                    </a:ext>
                  </a:extLst>
                </a:gridCol>
                <a:gridCol w="252000">
                  <a:extLst>
                    <a:ext uri="{9D8B030D-6E8A-4147-A177-3AD203B41FA5}">
                      <a16:colId xmlns:a16="http://schemas.microsoft.com/office/drawing/2014/main" val="506512337"/>
                    </a:ext>
                  </a:extLst>
                </a:gridCol>
                <a:gridCol w="252000">
                  <a:extLst>
                    <a:ext uri="{9D8B030D-6E8A-4147-A177-3AD203B41FA5}">
                      <a16:colId xmlns:a16="http://schemas.microsoft.com/office/drawing/2014/main" val="223754513"/>
                    </a:ext>
                  </a:extLst>
                </a:gridCol>
                <a:gridCol w="252000">
                  <a:extLst>
                    <a:ext uri="{9D8B030D-6E8A-4147-A177-3AD203B41FA5}">
                      <a16:colId xmlns:a16="http://schemas.microsoft.com/office/drawing/2014/main" val="213621589"/>
                    </a:ext>
                  </a:extLst>
                </a:gridCol>
                <a:gridCol w="252000">
                  <a:extLst>
                    <a:ext uri="{9D8B030D-6E8A-4147-A177-3AD203B41FA5}">
                      <a16:colId xmlns:a16="http://schemas.microsoft.com/office/drawing/2014/main" val="334335693"/>
                    </a:ext>
                  </a:extLst>
                </a:gridCol>
                <a:gridCol w="252000">
                  <a:extLst>
                    <a:ext uri="{9D8B030D-6E8A-4147-A177-3AD203B41FA5}">
                      <a16:colId xmlns:a16="http://schemas.microsoft.com/office/drawing/2014/main" val="2850820999"/>
                    </a:ext>
                  </a:extLst>
                </a:gridCol>
                <a:gridCol w="252000">
                  <a:extLst>
                    <a:ext uri="{9D8B030D-6E8A-4147-A177-3AD203B41FA5}">
                      <a16:colId xmlns:a16="http://schemas.microsoft.com/office/drawing/2014/main" val="3242229700"/>
                    </a:ext>
                  </a:extLst>
                </a:gridCol>
                <a:gridCol w="504000">
                  <a:extLst>
                    <a:ext uri="{9D8B030D-6E8A-4147-A177-3AD203B41FA5}">
                      <a16:colId xmlns:a16="http://schemas.microsoft.com/office/drawing/2014/main" val="940613947"/>
                    </a:ext>
                  </a:extLst>
                </a:gridCol>
              </a:tblGrid>
              <a:tr h="261855">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D</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1536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253" name="表格 252">
            <a:extLst>
              <a:ext uri="{FF2B5EF4-FFF2-40B4-BE49-F238E27FC236}">
                <a16:creationId xmlns:a16="http://schemas.microsoft.com/office/drawing/2014/main" id="{EAA610AB-467F-98F8-8DA1-4BB70E001F9F}"/>
              </a:ext>
            </a:extLst>
          </p:cNvPr>
          <p:cNvGraphicFramePr>
            <a:graphicFrameLocks noGrp="1"/>
          </p:cNvGraphicFramePr>
          <p:nvPr/>
        </p:nvGraphicFramePr>
        <p:xfrm>
          <a:off x="6823274" y="3400354"/>
          <a:ext cx="1264220" cy="273655"/>
        </p:xfrm>
        <a:graphic>
          <a:graphicData uri="http://schemas.openxmlformats.org/drawingml/2006/table">
            <a:tbl>
              <a:tblPr firstRow="1" bandRow="1">
                <a:tableStyleId>{5C22544A-7EE6-4342-B048-85BDC9FD1C3A}</a:tableStyleId>
              </a:tblPr>
              <a:tblGrid>
                <a:gridCol w="252844">
                  <a:extLst>
                    <a:ext uri="{9D8B030D-6E8A-4147-A177-3AD203B41FA5}">
                      <a16:colId xmlns:a16="http://schemas.microsoft.com/office/drawing/2014/main" val="871242339"/>
                    </a:ext>
                  </a:extLst>
                </a:gridCol>
                <a:gridCol w="252844">
                  <a:extLst>
                    <a:ext uri="{9D8B030D-6E8A-4147-A177-3AD203B41FA5}">
                      <a16:colId xmlns:a16="http://schemas.microsoft.com/office/drawing/2014/main" val="337396536"/>
                    </a:ext>
                  </a:extLst>
                </a:gridCol>
                <a:gridCol w="252844">
                  <a:extLst>
                    <a:ext uri="{9D8B030D-6E8A-4147-A177-3AD203B41FA5}">
                      <a16:colId xmlns:a16="http://schemas.microsoft.com/office/drawing/2014/main" val="506512337"/>
                    </a:ext>
                  </a:extLst>
                </a:gridCol>
                <a:gridCol w="145648">
                  <a:extLst>
                    <a:ext uri="{9D8B030D-6E8A-4147-A177-3AD203B41FA5}">
                      <a16:colId xmlns:a16="http://schemas.microsoft.com/office/drawing/2014/main" val="223754513"/>
                    </a:ext>
                  </a:extLst>
                </a:gridCol>
                <a:gridCol w="360040">
                  <a:extLst>
                    <a:ext uri="{9D8B030D-6E8A-4147-A177-3AD203B41FA5}">
                      <a16:colId xmlns:a16="http://schemas.microsoft.com/office/drawing/2014/main" val="213621589"/>
                    </a:ext>
                  </a:extLst>
                </a:gridCol>
              </a:tblGrid>
              <a:tr h="273655">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accent6">
                          <a:lumMod val="75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256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accent6">
                          <a:lumMod val="7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1352794"/>
                  </a:ext>
                </a:extLst>
              </a:tr>
            </a:tbl>
          </a:graphicData>
        </a:graphic>
      </p:graphicFrame>
      <p:graphicFrame>
        <p:nvGraphicFramePr>
          <p:cNvPr id="259" name="表格 258">
            <a:extLst>
              <a:ext uri="{FF2B5EF4-FFF2-40B4-BE49-F238E27FC236}">
                <a16:creationId xmlns:a16="http://schemas.microsoft.com/office/drawing/2014/main" id="{DD5C0867-1792-B2D3-EC75-F0E6FAF0173C}"/>
              </a:ext>
            </a:extLst>
          </p:cNvPr>
          <p:cNvGraphicFramePr>
            <a:graphicFrameLocks noGrp="1"/>
          </p:cNvGraphicFramePr>
          <p:nvPr/>
        </p:nvGraphicFramePr>
        <p:xfrm>
          <a:off x="6823274" y="4066479"/>
          <a:ext cx="1264220" cy="276776"/>
        </p:xfrm>
        <a:graphic>
          <a:graphicData uri="http://schemas.openxmlformats.org/drawingml/2006/table">
            <a:tbl>
              <a:tblPr firstRow="1" bandRow="1">
                <a:tableStyleId>{5C22544A-7EE6-4342-B048-85BDC9FD1C3A}</a:tableStyleId>
              </a:tblPr>
              <a:tblGrid>
                <a:gridCol w="252844">
                  <a:extLst>
                    <a:ext uri="{9D8B030D-6E8A-4147-A177-3AD203B41FA5}">
                      <a16:colId xmlns:a16="http://schemas.microsoft.com/office/drawing/2014/main" val="871242339"/>
                    </a:ext>
                  </a:extLst>
                </a:gridCol>
                <a:gridCol w="252844">
                  <a:extLst>
                    <a:ext uri="{9D8B030D-6E8A-4147-A177-3AD203B41FA5}">
                      <a16:colId xmlns:a16="http://schemas.microsoft.com/office/drawing/2014/main" val="337396536"/>
                    </a:ext>
                  </a:extLst>
                </a:gridCol>
                <a:gridCol w="252844">
                  <a:extLst>
                    <a:ext uri="{9D8B030D-6E8A-4147-A177-3AD203B41FA5}">
                      <a16:colId xmlns:a16="http://schemas.microsoft.com/office/drawing/2014/main" val="506512337"/>
                    </a:ext>
                  </a:extLst>
                </a:gridCol>
                <a:gridCol w="145650">
                  <a:extLst>
                    <a:ext uri="{9D8B030D-6E8A-4147-A177-3AD203B41FA5}">
                      <a16:colId xmlns:a16="http://schemas.microsoft.com/office/drawing/2014/main" val="223754513"/>
                    </a:ext>
                  </a:extLst>
                </a:gridCol>
                <a:gridCol w="360038">
                  <a:extLst>
                    <a:ext uri="{9D8B030D-6E8A-4147-A177-3AD203B41FA5}">
                      <a16:colId xmlns:a16="http://schemas.microsoft.com/office/drawing/2014/main" val="213621589"/>
                    </a:ext>
                  </a:extLst>
                </a:gridCol>
              </a:tblGrid>
              <a:tr h="276776">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75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256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75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1352794"/>
                  </a:ext>
                </a:extLst>
              </a:tr>
            </a:tbl>
          </a:graphicData>
        </a:graphic>
      </p:graphicFrame>
      <p:graphicFrame>
        <p:nvGraphicFramePr>
          <p:cNvPr id="261" name="表格 260">
            <a:extLst>
              <a:ext uri="{FF2B5EF4-FFF2-40B4-BE49-F238E27FC236}">
                <a16:creationId xmlns:a16="http://schemas.microsoft.com/office/drawing/2014/main" id="{014ABB89-C3D2-52CD-CFF3-58D9388A97DC}"/>
              </a:ext>
            </a:extLst>
          </p:cNvPr>
          <p:cNvGraphicFramePr>
            <a:graphicFrameLocks noGrp="1"/>
          </p:cNvGraphicFramePr>
          <p:nvPr/>
        </p:nvGraphicFramePr>
        <p:xfrm>
          <a:off x="5652120" y="5265132"/>
          <a:ext cx="2520000" cy="302259"/>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871242339"/>
                    </a:ext>
                  </a:extLst>
                </a:gridCol>
                <a:gridCol w="252000">
                  <a:extLst>
                    <a:ext uri="{9D8B030D-6E8A-4147-A177-3AD203B41FA5}">
                      <a16:colId xmlns:a16="http://schemas.microsoft.com/office/drawing/2014/main" val="337396536"/>
                    </a:ext>
                  </a:extLst>
                </a:gridCol>
                <a:gridCol w="252000">
                  <a:extLst>
                    <a:ext uri="{9D8B030D-6E8A-4147-A177-3AD203B41FA5}">
                      <a16:colId xmlns:a16="http://schemas.microsoft.com/office/drawing/2014/main" val="506512337"/>
                    </a:ext>
                  </a:extLst>
                </a:gridCol>
                <a:gridCol w="252000">
                  <a:extLst>
                    <a:ext uri="{9D8B030D-6E8A-4147-A177-3AD203B41FA5}">
                      <a16:colId xmlns:a16="http://schemas.microsoft.com/office/drawing/2014/main" val="223754513"/>
                    </a:ext>
                  </a:extLst>
                </a:gridCol>
                <a:gridCol w="252000">
                  <a:extLst>
                    <a:ext uri="{9D8B030D-6E8A-4147-A177-3AD203B41FA5}">
                      <a16:colId xmlns:a16="http://schemas.microsoft.com/office/drawing/2014/main" val="213621589"/>
                    </a:ext>
                  </a:extLst>
                </a:gridCol>
                <a:gridCol w="252000">
                  <a:extLst>
                    <a:ext uri="{9D8B030D-6E8A-4147-A177-3AD203B41FA5}">
                      <a16:colId xmlns:a16="http://schemas.microsoft.com/office/drawing/2014/main" val="334335693"/>
                    </a:ext>
                  </a:extLst>
                </a:gridCol>
                <a:gridCol w="252000">
                  <a:extLst>
                    <a:ext uri="{9D8B030D-6E8A-4147-A177-3AD203B41FA5}">
                      <a16:colId xmlns:a16="http://schemas.microsoft.com/office/drawing/2014/main" val="2850820999"/>
                    </a:ext>
                  </a:extLst>
                </a:gridCol>
                <a:gridCol w="252000">
                  <a:extLst>
                    <a:ext uri="{9D8B030D-6E8A-4147-A177-3AD203B41FA5}">
                      <a16:colId xmlns:a16="http://schemas.microsoft.com/office/drawing/2014/main" val="3242229700"/>
                    </a:ext>
                  </a:extLst>
                </a:gridCol>
                <a:gridCol w="504000">
                  <a:extLst>
                    <a:ext uri="{9D8B030D-6E8A-4147-A177-3AD203B41FA5}">
                      <a16:colId xmlns:a16="http://schemas.microsoft.com/office/drawing/2014/main" val="940613947"/>
                    </a:ext>
                  </a:extLst>
                </a:gridCol>
              </a:tblGrid>
              <a:tr h="302259">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3175" cap="flat" cmpd="sng" algn="ctr">
                      <a:solidFill>
                        <a:schemeClr val="accent6">
                          <a:lumMod val="60000"/>
                          <a:lumOff val="4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3175" cap="flat" cmpd="sng" algn="ctr">
                      <a:solidFill>
                        <a:schemeClr val="accent6">
                          <a:lumMod val="60000"/>
                          <a:lumOff val="40000"/>
                        </a:schemeClr>
                      </a:solidFill>
                      <a:prstDash val="solid"/>
                      <a:round/>
                      <a:headEnd type="none" w="med" len="med"/>
                      <a:tailEnd type="none" w="med" len="med"/>
                    </a:lnL>
                    <a:lnR w="3175" cap="flat" cmpd="sng" algn="ctr">
                      <a:solidFill>
                        <a:schemeClr val="accent6">
                          <a:lumMod val="60000"/>
                          <a:lumOff val="4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3175"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1536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cxnSp>
        <p:nvCxnSpPr>
          <p:cNvPr id="293" name="直線接點 292">
            <a:extLst>
              <a:ext uri="{FF2B5EF4-FFF2-40B4-BE49-F238E27FC236}">
                <a16:creationId xmlns:a16="http://schemas.microsoft.com/office/drawing/2014/main" id="{1E2D3E8D-0452-7E25-9998-74A6AE18F4D9}"/>
              </a:ext>
            </a:extLst>
          </p:cNvPr>
          <p:cNvCxnSpPr>
            <a:cxnSpLocks/>
            <a:stCxn id="447" idx="1"/>
            <a:endCxn id="253" idx="3"/>
          </p:cNvCxnSpPr>
          <p:nvPr/>
        </p:nvCxnSpPr>
        <p:spPr>
          <a:xfrm flipH="1">
            <a:off x="8087494" y="3537181"/>
            <a:ext cx="275854" cy="0"/>
          </a:xfrm>
          <a:prstGeom prst="line">
            <a:avLst/>
          </a:prstGeom>
          <a:ln>
            <a:solidFill>
              <a:schemeClr val="accent6">
                <a:lumMod val="50000"/>
              </a:schemeClr>
            </a:solidFill>
            <a:prstDash val="sysDot"/>
            <a:tailEnd type="triangle" w="sm" len="med"/>
          </a:ln>
        </p:spPr>
        <p:style>
          <a:lnRef idx="1">
            <a:schemeClr val="accent1"/>
          </a:lnRef>
          <a:fillRef idx="0">
            <a:schemeClr val="accent1"/>
          </a:fillRef>
          <a:effectRef idx="0">
            <a:schemeClr val="accent1"/>
          </a:effectRef>
          <a:fontRef idx="minor">
            <a:schemeClr val="tx1"/>
          </a:fontRef>
        </p:style>
      </p:cxnSp>
      <p:sp>
        <p:nvSpPr>
          <p:cNvPr id="323" name="文字方塊 322">
            <a:extLst>
              <a:ext uri="{FF2B5EF4-FFF2-40B4-BE49-F238E27FC236}">
                <a16:creationId xmlns:a16="http://schemas.microsoft.com/office/drawing/2014/main" id="{CA57806C-ACF6-8983-1D97-6B31CC1CB11E}"/>
              </a:ext>
            </a:extLst>
          </p:cNvPr>
          <p:cNvSpPr txBox="1"/>
          <p:nvPr/>
        </p:nvSpPr>
        <p:spPr>
          <a:xfrm>
            <a:off x="5652120" y="5069655"/>
            <a:ext cx="899391" cy="209704"/>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Gating </a:t>
            </a:r>
            <a:r>
              <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rPr>
              <a:t>Router</a:t>
            </a:r>
          </a:p>
        </p:txBody>
      </p:sp>
      <p:sp>
        <p:nvSpPr>
          <p:cNvPr id="363" name="文字方塊 362">
            <a:extLst>
              <a:ext uri="{FF2B5EF4-FFF2-40B4-BE49-F238E27FC236}">
                <a16:creationId xmlns:a16="http://schemas.microsoft.com/office/drawing/2014/main" id="{620D659A-7991-4FAE-8590-B03AAC3BB088}"/>
              </a:ext>
            </a:extLst>
          </p:cNvPr>
          <p:cNvSpPr txBox="1"/>
          <p:nvPr/>
        </p:nvSpPr>
        <p:spPr>
          <a:xfrm>
            <a:off x="6823274" y="3839199"/>
            <a:ext cx="963697" cy="264500"/>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Token Indexing</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379" name="矩形: 圓角 378">
            <a:extLst>
              <a:ext uri="{FF2B5EF4-FFF2-40B4-BE49-F238E27FC236}">
                <a16:creationId xmlns:a16="http://schemas.microsoft.com/office/drawing/2014/main" id="{2F1EACE9-6C4F-E6A2-7E9C-5369AFF3D3C7}"/>
              </a:ext>
            </a:extLst>
          </p:cNvPr>
          <p:cNvSpPr/>
          <p:nvPr/>
        </p:nvSpPr>
        <p:spPr>
          <a:xfrm>
            <a:off x="8355366" y="5135343"/>
            <a:ext cx="287468" cy="302259"/>
          </a:xfrm>
          <a:prstGeom prst="roundRect">
            <a:avLst>
              <a:gd name="adj" fmla="val 13748"/>
            </a:avLst>
          </a:prstGeom>
          <a:solidFill>
            <a:srgbClr val="DCE6F2">
              <a:alpha val="40000"/>
            </a:srgbClr>
          </a:solidFill>
          <a:ln w="19050">
            <a:solidFill>
              <a:schemeClr val="bg1">
                <a:lumMod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altLang="zh-TW" sz="1200" b="1" dirty="0">
                <a:solidFill>
                  <a:prstClr val="black"/>
                </a:solidFill>
                <a:latin typeface="Calibri"/>
                <a:ea typeface="微軟正黑體" panose="020B0604030504040204" pitchFamily="34" charset="-120"/>
              </a:rPr>
              <a:t>W</a:t>
            </a:r>
            <a:br>
              <a:rPr lang="en-US" altLang="zh-TW" sz="1000" dirty="0">
                <a:solidFill>
                  <a:prstClr val="black"/>
                </a:solidFill>
                <a:latin typeface="Calibri"/>
                <a:ea typeface="微軟正黑體" panose="020B0604030504040204" pitchFamily="34" charset="-120"/>
              </a:rPr>
            </a:br>
            <a:r>
              <a:rPr lang="en-US" altLang="zh-TW" sz="1000" dirty="0">
                <a:solidFill>
                  <a:prstClr val="black"/>
                </a:solidFill>
                <a:latin typeface="Calibri"/>
                <a:ea typeface="微軟正黑體" panose="020B0604030504040204" pitchFamily="34" charset="-120"/>
              </a:rPr>
              <a:t>Dxd</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402" name="文字方塊 401">
            <a:extLst>
              <a:ext uri="{FF2B5EF4-FFF2-40B4-BE49-F238E27FC236}">
                <a16:creationId xmlns:a16="http://schemas.microsoft.com/office/drawing/2014/main" id="{4E0A9FAE-29B1-816E-5483-771F675B8989}"/>
              </a:ext>
            </a:extLst>
          </p:cNvPr>
          <p:cNvSpPr txBox="1"/>
          <p:nvPr/>
        </p:nvSpPr>
        <p:spPr>
          <a:xfrm>
            <a:off x="8172400" y="5135343"/>
            <a:ext cx="182966"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cxnSp>
        <p:nvCxnSpPr>
          <p:cNvPr id="407" name="接點: 弧形 406">
            <a:extLst>
              <a:ext uri="{FF2B5EF4-FFF2-40B4-BE49-F238E27FC236}">
                <a16:creationId xmlns:a16="http://schemas.microsoft.com/office/drawing/2014/main" id="{8B1C2571-5A79-380C-3907-98FA7100E4FD}"/>
              </a:ext>
            </a:extLst>
          </p:cNvPr>
          <p:cNvCxnSpPr>
            <a:cxnSpLocks/>
            <a:stCxn id="406" idx="0"/>
            <a:endCxn id="259" idx="3"/>
          </p:cNvCxnSpPr>
          <p:nvPr/>
        </p:nvCxnSpPr>
        <p:spPr>
          <a:xfrm rot="16200000" flipV="1">
            <a:off x="8118153" y="4174208"/>
            <a:ext cx="354412" cy="415730"/>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4" name="接點: 弧形 413">
            <a:extLst>
              <a:ext uri="{FF2B5EF4-FFF2-40B4-BE49-F238E27FC236}">
                <a16:creationId xmlns:a16="http://schemas.microsoft.com/office/drawing/2014/main" id="{8D8F4C6C-B285-EE2B-06C3-512A8855AB4D}"/>
              </a:ext>
            </a:extLst>
          </p:cNvPr>
          <p:cNvCxnSpPr>
            <a:cxnSpLocks/>
            <a:stCxn id="379" idx="0"/>
            <a:endCxn id="404" idx="3"/>
          </p:cNvCxnSpPr>
          <p:nvPr/>
        </p:nvCxnSpPr>
        <p:spPr>
          <a:xfrm rot="16200000" flipV="1">
            <a:off x="8139011" y="4775254"/>
            <a:ext cx="321471" cy="398708"/>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00" name="文字方塊 399">
            <a:extLst>
              <a:ext uri="{FF2B5EF4-FFF2-40B4-BE49-F238E27FC236}">
                <a16:creationId xmlns:a16="http://schemas.microsoft.com/office/drawing/2014/main" id="{2F583315-4FA0-6602-451D-ABD98885CC2D}"/>
              </a:ext>
            </a:extLst>
          </p:cNvPr>
          <p:cNvSpPr txBox="1"/>
          <p:nvPr/>
        </p:nvSpPr>
        <p:spPr>
          <a:xfrm>
            <a:off x="8100392" y="4559279"/>
            <a:ext cx="252367" cy="276776"/>
          </a:xfrm>
          <a:prstGeom prst="rect">
            <a:avLst/>
          </a:prstGeom>
          <a:solidFill>
            <a:schemeClr val="bg1">
              <a:alpha val="60000"/>
            </a:schemeClr>
          </a:solid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 </a:t>
            </a:r>
            <a:r>
              <a:rPr kumimoji="0" lang="az-Cyrl-AZ" altLang="zh-TW" sz="1400" b="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Ꙩ</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06" name="矩形: 圓角 405">
            <a:extLst>
              <a:ext uri="{FF2B5EF4-FFF2-40B4-BE49-F238E27FC236}">
                <a16:creationId xmlns:a16="http://schemas.microsoft.com/office/drawing/2014/main" id="{8AFDE857-C413-DD9E-F7EB-6C906CA3FCFF}"/>
              </a:ext>
            </a:extLst>
          </p:cNvPr>
          <p:cNvSpPr/>
          <p:nvPr/>
        </p:nvSpPr>
        <p:spPr>
          <a:xfrm>
            <a:off x="8365657" y="4559279"/>
            <a:ext cx="275134" cy="276776"/>
          </a:xfrm>
          <a:prstGeom prst="roundRect">
            <a:avLst>
              <a:gd name="adj" fmla="val 13748"/>
            </a:avLst>
          </a:prstGeom>
          <a:solidFill>
            <a:schemeClr val="bg1">
              <a:alpha val="60000"/>
            </a:schemeClr>
          </a:solidFill>
          <a:ln w="19050">
            <a:solidFill>
              <a:schemeClr val="bg1">
                <a:lumMod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lang="el-GR" altLang="zh-TW" sz="1400" b="1" dirty="0">
                <a:solidFill>
                  <a:prstClr val="black"/>
                </a:solidFill>
                <a:latin typeface="Calibri"/>
                <a:ea typeface="微軟正黑體" panose="020B0604030504040204" pitchFamily="34" charset="-120"/>
              </a:rPr>
              <a:t>σ</a:t>
            </a:r>
            <a:endParaRPr lang="en-US" altLang="zh-TW" sz="1400" b="1" dirty="0">
              <a:solidFill>
                <a:prstClr val="black"/>
              </a:solidFill>
              <a:latin typeface="Calibri"/>
              <a:ea typeface="微軟正黑體" panose="020B0604030504040204" pitchFamily="34" charset="-120"/>
            </a:endParaRPr>
          </a:p>
          <a:p>
            <a:pPr marL="0" marR="0" lvl="0" indent="0" algn="ctr" defTabSz="914400" rtl="0" eaLnBrk="1" fontAlgn="auto" latinLnBrk="0" hangingPunct="1">
              <a:lnSpc>
                <a:spcPts val="800"/>
              </a:lnSpc>
              <a:spcBef>
                <a:spcPts val="0"/>
              </a:spcBef>
              <a:spcAft>
                <a:spcPts val="0"/>
              </a:spcAft>
              <a:buClrTx/>
              <a:buSzTx/>
              <a:buFontTx/>
              <a:buNone/>
              <a:tabLst/>
              <a:defRPr/>
            </a:pPr>
            <a:r>
              <a:rPr kumimoji="0" lang="en-US" altLang="zh-TW" sz="1000" i="0" u="none" strike="noStrike" kern="1200" cap="none" spc="0" normalizeH="0" noProof="0" dirty="0">
                <a:ln>
                  <a:noFill/>
                </a:ln>
                <a:solidFill>
                  <a:prstClr val="black"/>
                </a:solidFill>
                <a:effectLst/>
                <a:uLnTx/>
                <a:uFillTx/>
                <a:latin typeface="Calibri"/>
                <a:ea typeface="微軟正黑體" panose="020B0604030504040204" pitchFamily="34" charset="-120"/>
                <a:cs typeface="+mn-cs"/>
              </a:rPr>
              <a:t>1xd</a:t>
            </a:r>
          </a:p>
        </p:txBody>
      </p:sp>
      <p:graphicFrame>
        <p:nvGraphicFramePr>
          <p:cNvPr id="404" name="表格 403">
            <a:extLst>
              <a:ext uri="{FF2B5EF4-FFF2-40B4-BE49-F238E27FC236}">
                <a16:creationId xmlns:a16="http://schemas.microsoft.com/office/drawing/2014/main" id="{6E3D035F-6702-C057-0997-E88CF58E6154}"/>
              </a:ext>
            </a:extLst>
          </p:cNvPr>
          <p:cNvGraphicFramePr>
            <a:graphicFrameLocks noGrp="1"/>
          </p:cNvGraphicFramePr>
          <p:nvPr/>
        </p:nvGraphicFramePr>
        <p:xfrm>
          <a:off x="6836172" y="4662743"/>
          <a:ext cx="1264220" cy="302259"/>
        </p:xfrm>
        <a:graphic>
          <a:graphicData uri="http://schemas.openxmlformats.org/drawingml/2006/table">
            <a:tbl>
              <a:tblPr firstRow="1" bandRow="1">
                <a:tableStyleId>{5C22544A-7EE6-4342-B048-85BDC9FD1C3A}</a:tableStyleId>
              </a:tblPr>
              <a:tblGrid>
                <a:gridCol w="180603">
                  <a:extLst>
                    <a:ext uri="{9D8B030D-6E8A-4147-A177-3AD203B41FA5}">
                      <a16:colId xmlns:a16="http://schemas.microsoft.com/office/drawing/2014/main" val="871242339"/>
                    </a:ext>
                  </a:extLst>
                </a:gridCol>
                <a:gridCol w="219521">
                  <a:extLst>
                    <a:ext uri="{9D8B030D-6E8A-4147-A177-3AD203B41FA5}">
                      <a16:colId xmlns:a16="http://schemas.microsoft.com/office/drawing/2014/main" val="337396536"/>
                    </a:ext>
                  </a:extLst>
                </a:gridCol>
                <a:gridCol w="141685">
                  <a:extLst>
                    <a:ext uri="{9D8B030D-6E8A-4147-A177-3AD203B41FA5}">
                      <a16:colId xmlns:a16="http://schemas.microsoft.com/office/drawing/2014/main" val="334335693"/>
                    </a:ext>
                  </a:extLst>
                </a:gridCol>
                <a:gridCol w="180603">
                  <a:extLst>
                    <a:ext uri="{9D8B030D-6E8A-4147-A177-3AD203B41FA5}">
                      <a16:colId xmlns:a16="http://schemas.microsoft.com/office/drawing/2014/main" val="2850820999"/>
                    </a:ext>
                  </a:extLst>
                </a:gridCol>
                <a:gridCol w="180603">
                  <a:extLst>
                    <a:ext uri="{9D8B030D-6E8A-4147-A177-3AD203B41FA5}">
                      <a16:colId xmlns:a16="http://schemas.microsoft.com/office/drawing/2014/main" val="3242229700"/>
                    </a:ext>
                  </a:extLst>
                </a:gridCol>
                <a:gridCol w="361205">
                  <a:extLst>
                    <a:ext uri="{9D8B030D-6E8A-4147-A177-3AD203B41FA5}">
                      <a16:colId xmlns:a16="http://schemas.microsoft.com/office/drawing/2014/main" val="940613947"/>
                    </a:ext>
                  </a:extLst>
                </a:gridCol>
              </a:tblGrid>
              <a:tr h="302259">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w</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w</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3175" cap="flat" cmpd="sng" algn="ctr">
                      <a:solidFill>
                        <a:schemeClr val="accent6">
                          <a:lumMod val="60000"/>
                          <a:lumOff val="4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3175"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w</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256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sp>
        <p:nvSpPr>
          <p:cNvPr id="427" name="文字方塊 426">
            <a:extLst>
              <a:ext uri="{FF2B5EF4-FFF2-40B4-BE49-F238E27FC236}">
                <a16:creationId xmlns:a16="http://schemas.microsoft.com/office/drawing/2014/main" id="{47F05608-923F-2B14-01AF-B4581090A390}"/>
              </a:ext>
            </a:extLst>
          </p:cNvPr>
          <p:cNvSpPr txBox="1"/>
          <p:nvPr/>
        </p:nvSpPr>
        <p:spPr>
          <a:xfrm>
            <a:off x="6836172" y="4475026"/>
            <a:ext cx="646847" cy="203300"/>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Sigmoid</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35" name="矩形 434">
            <a:extLst>
              <a:ext uri="{FF2B5EF4-FFF2-40B4-BE49-F238E27FC236}">
                <a16:creationId xmlns:a16="http://schemas.microsoft.com/office/drawing/2014/main" id="{4EF0C082-B586-2A83-3CC7-FCEA141E4164}"/>
              </a:ext>
            </a:extLst>
          </p:cNvPr>
          <p:cNvSpPr/>
          <p:nvPr/>
        </p:nvSpPr>
        <p:spPr>
          <a:xfrm>
            <a:off x="282880" y="5308701"/>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37" name="矩形 436">
            <a:extLst>
              <a:ext uri="{FF2B5EF4-FFF2-40B4-BE49-F238E27FC236}">
                <a16:creationId xmlns:a16="http://schemas.microsoft.com/office/drawing/2014/main" id="{2A83D4DC-A1FC-D379-0B41-0FC0453F77E9}"/>
              </a:ext>
            </a:extLst>
          </p:cNvPr>
          <p:cNvSpPr/>
          <p:nvPr/>
        </p:nvSpPr>
        <p:spPr>
          <a:xfrm>
            <a:off x="1939064" y="5308701"/>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47" name="矩形: 圓角 446">
            <a:extLst>
              <a:ext uri="{FF2B5EF4-FFF2-40B4-BE49-F238E27FC236}">
                <a16:creationId xmlns:a16="http://schemas.microsoft.com/office/drawing/2014/main" id="{46AAE791-BF66-906B-21D6-002C7F24A655}"/>
              </a:ext>
            </a:extLst>
          </p:cNvPr>
          <p:cNvSpPr/>
          <p:nvPr/>
        </p:nvSpPr>
        <p:spPr>
          <a:xfrm>
            <a:off x="8363348" y="3501266"/>
            <a:ext cx="257333" cy="71829"/>
          </a:xfrm>
          <a:prstGeom prst="roundRect">
            <a:avLst>
              <a:gd name="adj" fmla="val 13748"/>
            </a:avLst>
          </a:prstGeom>
          <a:solidFill>
            <a:schemeClr val="accent6">
              <a:lumMod val="60000"/>
              <a:lumOff val="40000"/>
            </a:schemeClr>
          </a:solid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cxnSp>
        <p:nvCxnSpPr>
          <p:cNvPr id="448" name="接點: 肘形 447">
            <a:extLst>
              <a:ext uri="{FF2B5EF4-FFF2-40B4-BE49-F238E27FC236}">
                <a16:creationId xmlns:a16="http://schemas.microsoft.com/office/drawing/2014/main" id="{4FAEA13E-A6B7-AAFC-7E5C-1333363380E8}"/>
              </a:ext>
            </a:extLst>
          </p:cNvPr>
          <p:cNvCxnSpPr>
            <a:cxnSpLocks/>
            <a:stCxn id="363" idx="3"/>
            <a:endCxn id="447" idx="2"/>
          </p:cNvCxnSpPr>
          <p:nvPr/>
        </p:nvCxnSpPr>
        <p:spPr>
          <a:xfrm flipV="1">
            <a:off x="7786971" y="3573095"/>
            <a:ext cx="705044" cy="398354"/>
          </a:xfrm>
          <a:prstGeom prst="bentConnector2">
            <a:avLst/>
          </a:prstGeom>
          <a:ln>
            <a:solidFill>
              <a:schemeClr val="accent6">
                <a:lumMod val="50000"/>
              </a:schemeClr>
            </a:solidFill>
            <a:prstDash val="sysDot"/>
            <a:tailEnd type="triangle" w="sm" len="med"/>
          </a:ln>
        </p:spPr>
        <p:style>
          <a:lnRef idx="1">
            <a:schemeClr val="accent1"/>
          </a:lnRef>
          <a:fillRef idx="0">
            <a:schemeClr val="accent1"/>
          </a:fillRef>
          <a:effectRef idx="0">
            <a:schemeClr val="accent1"/>
          </a:effectRef>
          <a:fontRef idx="minor">
            <a:schemeClr val="tx1"/>
          </a:fontRef>
        </p:style>
      </p:cxnSp>
      <p:sp>
        <p:nvSpPr>
          <p:cNvPr id="466" name="文字方塊 465">
            <a:extLst>
              <a:ext uri="{FF2B5EF4-FFF2-40B4-BE49-F238E27FC236}">
                <a16:creationId xmlns:a16="http://schemas.microsoft.com/office/drawing/2014/main" id="{92279F43-B2F2-FB04-5344-62A9C2F8EA11}"/>
              </a:ext>
            </a:extLst>
          </p:cNvPr>
          <p:cNvSpPr txBox="1"/>
          <p:nvPr/>
        </p:nvSpPr>
        <p:spPr>
          <a:xfrm>
            <a:off x="6823274" y="3191127"/>
            <a:ext cx="1135886" cy="209227"/>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Layer</a:t>
            </a:r>
            <a:r>
              <a:rPr lang="zh-TW" altLang="en-US" sz="1200" dirty="0">
                <a:solidFill>
                  <a:prstClr val="black"/>
                </a:solidFill>
                <a:ea typeface="Cambria Math" panose="02040503050406030204" pitchFamily="18" charset="0"/>
              </a:rPr>
              <a:t> </a:t>
            </a:r>
            <a:r>
              <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rPr>
              <a:t>Embedding</a:t>
            </a:r>
          </a:p>
        </p:txBody>
      </p:sp>
      <p:sp>
        <p:nvSpPr>
          <p:cNvPr id="479" name="矩形: 圓角 478">
            <a:extLst>
              <a:ext uri="{FF2B5EF4-FFF2-40B4-BE49-F238E27FC236}">
                <a16:creationId xmlns:a16="http://schemas.microsoft.com/office/drawing/2014/main" id="{AAEF32EF-4601-2FFE-31D1-4EB5DB72B456}"/>
              </a:ext>
            </a:extLst>
          </p:cNvPr>
          <p:cNvSpPr/>
          <p:nvPr/>
        </p:nvSpPr>
        <p:spPr>
          <a:xfrm>
            <a:off x="7365587" y="2787416"/>
            <a:ext cx="287468" cy="302259"/>
          </a:xfrm>
          <a:prstGeom prst="roundRect">
            <a:avLst>
              <a:gd name="adj" fmla="val 13748"/>
            </a:avLst>
          </a:prstGeom>
          <a:solidFill>
            <a:srgbClr val="DCE6F2">
              <a:alpha val="40000"/>
            </a:srgbClr>
          </a:solidFill>
          <a:ln w="19050">
            <a:solidFill>
              <a:schemeClr val="bg1">
                <a:lumMod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altLang="zh-TW" sz="1200" b="1" dirty="0">
                <a:solidFill>
                  <a:prstClr val="black"/>
                </a:solidFill>
                <a:latin typeface="Calibri"/>
                <a:ea typeface="微軟正黑體" panose="020B0604030504040204" pitchFamily="34" charset="-120"/>
              </a:rPr>
              <a:t>U</a:t>
            </a:r>
            <a:br>
              <a:rPr lang="en-US" altLang="zh-TW" sz="1000" dirty="0">
                <a:solidFill>
                  <a:prstClr val="black"/>
                </a:solidFill>
                <a:latin typeface="Calibri"/>
                <a:ea typeface="微軟正黑體" panose="020B0604030504040204" pitchFamily="34" charset="-120"/>
              </a:rPr>
            </a:br>
            <a:r>
              <a:rPr lang="en-US" altLang="zh-TW" sz="1000" dirty="0">
                <a:solidFill>
                  <a:prstClr val="black"/>
                </a:solidFill>
                <a:latin typeface="Calibri"/>
                <a:ea typeface="微軟正黑體" panose="020B0604030504040204" pitchFamily="34" charset="-120"/>
              </a:rPr>
              <a:t>dxD</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graphicFrame>
        <p:nvGraphicFramePr>
          <p:cNvPr id="481" name="表格 480">
            <a:extLst>
              <a:ext uri="{FF2B5EF4-FFF2-40B4-BE49-F238E27FC236}">
                <a16:creationId xmlns:a16="http://schemas.microsoft.com/office/drawing/2014/main" id="{EFE93AF7-E38D-1AE6-A6F5-7DC949647DC6}"/>
              </a:ext>
            </a:extLst>
          </p:cNvPr>
          <p:cNvGraphicFramePr>
            <a:graphicFrameLocks noGrp="1"/>
          </p:cNvGraphicFramePr>
          <p:nvPr/>
        </p:nvGraphicFramePr>
        <p:xfrm>
          <a:off x="5652400" y="2209192"/>
          <a:ext cx="2520000" cy="261855"/>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871242339"/>
                    </a:ext>
                  </a:extLst>
                </a:gridCol>
                <a:gridCol w="252000">
                  <a:extLst>
                    <a:ext uri="{9D8B030D-6E8A-4147-A177-3AD203B41FA5}">
                      <a16:colId xmlns:a16="http://schemas.microsoft.com/office/drawing/2014/main" val="337396536"/>
                    </a:ext>
                  </a:extLst>
                </a:gridCol>
                <a:gridCol w="252000">
                  <a:extLst>
                    <a:ext uri="{9D8B030D-6E8A-4147-A177-3AD203B41FA5}">
                      <a16:colId xmlns:a16="http://schemas.microsoft.com/office/drawing/2014/main" val="506512337"/>
                    </a:ext>
                  </a:extLst>
                </a:gridCol>
                <a:gridCol w="252000">
                  <a:extLst>
                    <a:ext uri="{9D8B030D-6E8A-4147-A177-3AD203B41FA5}">
                      <a16:colId xmlns:a16="http://schemas.microsoft.com/office/drawing/2014/main" val="223754513"/>
                    </a:ext>
                  </a:extLst>
                </a:gridCol>
                <a:gridCol w="252000">
                  <a:extLst>
                    <a:ext uri="{9D8B030D-6E8A-4147-A177-3AD203B41FA5}">
                      <a16:colId xmlns:a16="http://schemas.microsoft.com/office/drawing/2014/main" val="213621589"/>
                    </a:ext>
                  </a:extLst>
                </a:gridCol>
                <a:gridCol w="252000">
                  <a:extLst>
                    <a:ext uri="{9D8B030D-6E8A-4147-A177-3AD203B41FA5}">
                      <a16:colId xmlns:a16="http://schemas.microsoft.com/office/drawing/2014/main" val="334335693"/>
                    </a:ext>
                  </a:extLst>
                </a:gridCol>
                <a:gridCol w="252000">
                  <a:extLst>
                    <a:ext uri="{9D8B030D-6E8A-4147-A177-3AD203B41FA5}">
                      <a16:colId xmlns:a16="http://schemas.microsoft.com/office/drawing/2014/main" val="2850820999"/>
                    </a:ext>
                  </a:extLst>
                </a:gridCol>
                <a:gridCol w="252000">
                  <a:extLst>
                    <a:ext uri="{9D8B030D-6E8A-4147-A177-3AD203B41FA5}">
                      <a16:colId xmlns:a16="http://schemas.microsoft.com/office/drawing/2014/main" val="3242229700"/>
                    </a:ext>
                  </a:extLst>
                </a:gridCol>
                <a:gridCol w="504000">
                  <a:extLst>
                    <a:ext uri="{9D8B030D-6E8A-4147-A177-3AD203B41FA5}">
                      <a16:colId xmlns:a16="http://schemas.microsoft.com/office/drawing/2014/main" val="940613947"/>
                    </a:ext>
                  </a:extLst>
                </a:gridCol>
              </a:tblGrid>
              <a:tr h="261855">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a1</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a2</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1536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483" name="表格 482">
            <a:extLst>
              <a:ext uri="{FF2B5EF4-FFF2-40B4-BE49-F238E27FC236}">
                <a16:creationId xmlns:a16="http://schemas.microsoft.com/office/drawing/2014/main" id="{1613D734-D7EE-8469-5327-8CD37D8B38AF}"/>
              </a:ext>
            </a:extLst>
          </p:cNvPr>
          <p:cNvGraphicFramePr>
            <a:graphicFrameLocks noGrp="1"/>
          </p:cNvGraphicFramePr>
          <p:nvPr/>
        </p:nvGraphicFramePr>
        <p:xfrm>
          <a:off x="6823274" y="2787342"/>
          <a:ext cx="375653" cy="293524"/>
        </p:xfrm>
        <a:graphic>
          <a:graphicData uri="http://schemas.openxmlformats.org/drawingml/2006/table">
            <a:tbl>
              <a:tblPr firstRow="1" bandRow="1">
                <a:tableStyleId>{5C22544A-7EE6-4342-B048-85BDC9FD1C3A}</a:tableStyleId>
              </a:tblPr>
              <a:tblGrid>
                <a:gridCol w="375653">
                  <a:extLst>
                    <a:ext uri="{9D8B030D-6E8A-4147-A177-3AD203B41FA5}">
                      <a16:colId xmlns:a16="http://schemas.microsoft.com/office/drawing/2014/main" val="871242339"/>
                    </a:ext>
                  </a:extLst>
                </a:gridCol>
              </a:tblGrid>
              <a:tr h="293524">
                <a:tc>
                  <a:txBody>
                    <a:bodyPr/>
                    <a:lstStyle/>
                    <a:p>
                      <a:pPr algn="ctr"/>
                      <a:r>
                        <a:rPr lang="en-US" altLang="zh-TW" sz="1200" b="0" dirty="0">
                          <a:solidFill>
                            <a:schemeClr val="tx1"/>
                          </a:solidFill>
                          <a:latin typeface="+mn-lt"/>
                          <a:ea typeface="ADLaM Display" panose="02010000000000000000" pitchFamily="2" charset="0"/>
                          <a:cs typeface="ADLaM Display" panose="02010000000000000000" pitchFamily="2" charset="0"/>
                        </a:rPr>
                        <a:t>1xd</a:t>
                      </a:r>
                      <a:endParaRPr lang="zh-TW" altLang="en-US" sz="1200" b="0" baseline="-25000" dirty="0">
                        <a:solidFill>
                          <a:schemeClr val="tx1"/>
                        </a:solidFill>
                        <a:latin typeface="+mn-lt"/>
                        <a:cs typeface="ADLaM Display" panose="02010000000000000000" pitchFamily="2" charset="0"/>
                      </a:endParaRPr>
                    </a:p>
                  </a:txBody>
                  <a:tcPr marL="0" marR="0" marT="0" marB="0" anchor="ctr" anchorCtr="1">
                    <a:lnL w="19050" cap="flat" cmpd="sng" algn="ctr">
                      <a:solidFill>
                        <a:schemeClr val="accent6">
                          <a:lumMod val="75000"/>
                        </a:schemeClr>
                      </a:solidFill>
                      <a:prstDash val="solid"/>
                      <a:round/>
                      <a:headEnd type="none" w="med" len="med"/>
                      <a:tailEnd type="none" w="med" len="med"/>
                    </a:lnL>
                    <a:lnR w="19050" cap="flat" cmpd="sng" algn="ctr">
                      <a:solidFill>
                        <a:schemeClr val="accent6">
                          <a:lumMod val="7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1352794"/>
                  </a:ext>
                </a:extLst>
              </a:tr>
            </a:tbl>
          </a:graphicData>
        </a:graphic>
      </p:graphicFrame>
      <p:sp>
        <p:nvSpPr>
          <p:cNvPr id="485" name="文字方塊 484">
            <a:extLst>
              <a:ext uri="{FF2B5EF4-FFF2-40B4-BE49-F238E27FC236}">
                <a16:creationId xmlns:a16="http://schemas.microsoft.com/office/drawing/2014/main" id="{AF300427-60AB-270B-7DD2-3C93CCD7650F}"/>
              </a:ext>
            </a:extLst>
          </p:cNvPr>
          <p:cNvSpPr txBox="1"/>
          <p:nvPr/>
        </p:nvSpPr>
        <p:spPr>
          <a:xfrm>
            <a:off x="7211082" y="2831087"/>
            <a:ext cx="131861" cy="199518"/>
          </a:xfrm>
          <a:prstGeom prst="rect">
            <a:avLst/>
          </a:prstGeom>
          <a:noFill/>
        </p:spPr>
        <p:txBody>
          <a:bodyPr wrap="none" lIns="0" tIns="0" rIns="0" bIns="0" anchor="ctr" anchorCtr="1">
            <a:noAutofit/>
          </a:bodyPr>
          <a:lstStyle/>
          <a:p>
            <a:pPr algn="ctr"/>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57" name="文字方塊 256">
            <a:extLst>
              <a:ext uri="{FF2B5EF4-FFF2-40B4-BE49-F238E27FC236}">
                <a16:creationId xmlns:a16="http://schemas.microsoft.com/office/drawing/2014/main" id="{2FB0E5F6-49B7-D8E2-93FB-7F7FD78EA55A}"/>
              </a:ext>
            </a:extLst>
          </p:cNvPr>
          <p:cNvSpPr txBox="1"/>
          <p:nvPr/>
        </p:nvSpPr>
        <p:spPr>
          <a:xfrm>
            <a:off x="7936010" y="3839925"/>
            <a:ext cx="313421" cy="263368"/>
          </a:xfrm>
          <a:prstGeom prst="rect">
            <a:avLst/>
          </a:prstGeom>
          <a:no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 </a:t>
            </a:r>
            <a:r>
              <a:rPr kumimoji="0" lang="az-Cyrl-AZ" altLang="zh-TW" sz="1400" b="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Ꙩ</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87" name="文字方塊 486">
            <a:extLst>
              <a:ext uri="{FF2B5EF4-FFF2-40B4-BE49-F238E27FC236}">
                <a16:creationId xmlns:a16="http://schemas.microsoft.com/office/drawing/2014/main" id="{5041D6AD-1103-86B9-C9AA-C8E731758846}"/>
              </a:ext>
            </a:extLst>
          </p:cNvPr>
          <p:cNvSpPr txBox="1"/>
          <p:nvPr/>
        </p:nvSpPr>
        <p:spPr>
          <a:xfrm>
            <a:off x="6588779" y="1981367"/>
            <a:ext cx="313421" cy="273656"/>
          </a:xfrm>
          <a:prstGeom prst="rect">
            <a:avLst/>
          </a:prstGeom>
          <a:no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 </a:t>
            </a:r>
            <a:r>
              <a:rPr lang="en-US" altLang="zh-TW" sz="1400" b="1" dirty="0">
                <a:solidFill>
                  <a:prstClr val="black"/>
                </a:solidFill>
                <a:latin typeface="Calibri" panose="020F0502020204030204" pitchFamily="34" charset="0"/>
                <a:ea typeface="Calibri" panose="020F0502020204030204" pitchFamily="34" charset="0"/>
                <a:cs typeface="Calibri" panose="020F0502020204030204" pitchFamily="34" charset="0"/>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93" name="文字方塊 492">
            <a:extLst>
              <a:ext uri="{FF2B5EF4-FFF2-40B4-BE49-F238E27FC236}">
                <a16:creationId xmlns:a16="http://schemas.microsoft.com/office/drawing/2014/main" id="{7D95342C-48CE-3428-8BAF-56C02A6A28FB}"/>
              </a:ext>
            </a:extLst>
          </p:cNvPr>
          <p:cNvSpPr txBox="1"/>
          <p:nvPr/>
        </p:nvSpPr>
        <p:spPr>
          <a:xfrm>
            <a:off x="5652120" y="1549320"/>
            <a:ext cx="1321377" cy="273655"/>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Residual Connection</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cxnSp>
        <p:nvCxnSpPr>
          <p:cNvPr id="494" name="接點: 弧形 493">
            <a:extLst>
              <a:ext uri="{FF2B5EF4-FFF2-40B4-BE49-F238E27FC236}">
                <a16:creationId xmlns:a16="http://schemas.microsoft.com/office/drawing/2014/main" id="{068BEFDE-A54C-E48C-D788-F5D0D3C87A15}"/>
              </a:ext>
            </a:extLst>
          </p:cNvPr>
          <p:cNvCxnSpPr>
            <a:cxnSpLocks/>
            <a:stCxn id="479" idx="3"/>
            <a:endCxn id="481" idx="3"/>
          </p:cNvCxnSpPr>
          <p:nvPr/>
        </p:nvCxnSpPr>
        <p:spPr>
          <a:xfrm flipV="1">
            <a:off x="7653055" y="2340119"/>
            <a:ext cx="519345" cy="598427"/>
          </a:xfrm>
          <a:prstGeom prst="curvedConnector3">
            <a:avLst>
              <a:gd name="adj1" fmla="val 144017"/>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右大括弧 5">
            <a:extLst>
              <a:ext uri="{FF2B5EF4-FFF2-40B4-BE49-F238E27FC236}">
                <a16:creationId xmlns:a16="http://schemas.microsoft.com/office/drawing/2014/main" id="{05D3A30A-23B5-89E0-3314-62B741022036}"/>
              </a:ext>
            </a:extLst>
          </p:cNvPr>
          <p:cNvSpPr/>
          <p:nvPr/>
        </p:nvSpPr>
        <p:spPr>
          <a:xfrm rot="5400000">
            <a:off x="6865727" y="4375632"/>
            <a:ext cx="92783" cy="2519999"/>
          </a:xfrm>
          <a:prstGeom prst="rightBrac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9" name="文字方塊 8">
            <a:extLst>
              <a:ext uri="{FF2B5EF4-FFF2-40B4-BE49-F238E27FC236}">
                <a16:creationId xmlns:a16="http://schemas.microsoft.com/office/drawing/2014/main" id="{4CAF5C0C-9699-33DC-CAC5-64503391EF41}"/>
              </a:ext>
            </a:extLst>
          </p:cNvPr>
          <p:cNvSpPr txBox="1"/>
          <p:nvPr/>
        </p:nvSpPr>
        <p:spPr>
          <a:xfrm>
            <a:off x="6712434" y="5620158"/>
            <a:ext cx="247476" cy="226195"/>
          </a:xfrm>
          <a:prstGeom prst="rect">
            <a:avLst/>
          </a:prstGeom>
          <a:noFill/>
        </p:spPr>
        <p:txBody>
          <a:bodyPr wrap="none" lIns="0" tIns="0" rIns="0" bIns="0" anchor="ctr" anchorCtr="1">
            <a:noAutofit/>
          </a:bodyPr>
          <a:lstStyle/>
          <a:p>
            <a:r>
              <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rPr>
              <a:t>D</a:t>
            </a:r>
          </a:p>
        </p:txBody>
      </p:sp>
      <p:sp>
        <p:nvSpPr>
          <p:cNvPr id="3" name="矩形: 圓角 2">
            <a:extLst>
              <a:ext uri="{FF2B5EF4-FFF2-40B4-BE49-F238E27FC236}">
                <a16:creationId xmlns:a16="http://schemas.microsoft.com/office/drawing/2014/main" id="{5A833C20-E34A-794E-C38B-514B6ED5B13C}"/>
              </a:ext>
            </a:extLst>
          </p:cNvPr>
          <p:cNvSpPr/>
          <p:nvPr/>
        </p:nvSpPr>
        <p:spPr>
          <a:xfrm>
            <a:off x="3774439" y="5092506"/>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Input Layer</a:t>
            </a:r>
          </a:p>
        </p:txBody>
      </p:sp>
      <p:sp>
        <p:nvSpPr>
          <p:cNvPr id="8" name="矩形: 圓角 7">
            <a:extLst>
              <a:ext uri="{FF2B5EF4-FFF2-40B4-BE49-F238E27FC236}">
                <a16:creationId xmlns:a16="http://schemas.microsoft.com/office/drawing/2014/main" id="{8A0E9DEC-6BB0-B86B-39F0-F6F279A4E191}"/>
              </a:ext>
            </a:extLst>
          </p:cNvPr>
          <p:cNvSpPr/>
          <p:nvPr/>
        </p:nvSpPr>
        <p:spPr>
          <a:xfrm>
            <a:off x="3774439" y="1922626"/>
            <a:ext cx="1219522" cy="27950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11" name="文字方塊 10">
            <a:extLst>
              <a:ext uri="{FF2B5EF4-FFF2-40B4-BE49-F238E27FC236}">
                <a16:creationId xmlns:a16="http://schemas.microsoft.com/office/drawing/2014/main" id="{E4B4E782-C4A9-9E49-E107-64014F5CE375}"/>
              </a:ext>
            </a:extLst>
          </p:cNvPr>
          <p:cNvSpPr txBox="1"/>
          <p:nvPr/>
        </p:nvSpPr>
        <p:spPr>
          <a:xfrm>
            <a:off x="3846446" y="3781568"/>
            <a:ext cx="1086557" cy="824652"/>
          </a:xfrm>
          <a:prstGeom prst="rect">
            <a:avLst/>
          </a:prstGeom>
          <a:solidFill>
            <a:srgbClr val="DCE6F2">
              <a:alpha val="2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12" name="直線單箭頭接點 11">
            <a:extLst>
              <a:ext uri="{FF2B5EF4-FFF2-40B4-BE49-F238E27FC236}">
                <a16:creationId xmlns:a16="http://schemas.microsoft.com/office/drawing/2014/main" id="{7991A0C8-F4D0-EF0A-8800-0DEA97697164}"/>
              </a:ext>
            </a:extLst>
          </p:cNvPr>
          <p:cNvCxnSpPr>
            <a:cxnSpLocks/>
            <a:stCxn id="34" idx="0"/>
            <a:endCxn id="35" idx="2"/>
          </p:cNvCxnSpPr>
          <p:nvPr/>
        </p:nvCxnSpPr>
        <p:spPr>
          <a:xfrm flipH="1" flipV="1">
            <a:off x="4250989" y="4501648"/>
            <a:ext cx="128063" cy="255057"/>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3" name="直線單箭頭接點 12">
            <a:extLst>
              <a:ext uri="{FF2B5EF4-FFF2-40B4-BE49-F238E27FC236}">
                <a16:creationId xmlns:a16="http://schemas.microsoft.com/office/drawing/2014/main" id="{5F2CBFB4-0982-E8DC-7CDD-9EB6C336CAAE}"/>
              </a:ext>
            </a:extLst>
          </p:cNvPr>
          <p:cNvCxnSpPr>
            <a:cxnSpLocks/>
            <a:stCxn id="8" idx="0"/>
            <a:endCxn id="214" idx="2"/>
          </p:cNvCxnSpPr>
          <p:nvPr/>
        </p:nvCxnSpPr>
        <p:spPr>
          <a:xfrm flipV="1">
            <a:off x="4384200" y="1738305"/>
            <a:ext cx="5473" cy="184321"/>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8" name="文字方塊 17">
            <a:extLst>
              <a:ext uri="{FF2B5EF4-FFF2-40B4-BE49-F238E27FC236}">
                <a16:creationId xmlns:a16="http://schemas.microsoft.com/office/drawing/2014/main" id="{9FEB499D-2C2E-3B44-A165-2519817D9658}"/>
              </a:ext>
            </a:extLst>
          </p:cNvPr>
          <p:cNvSpPr txBox="1"/>
          <p:nvPr/>
        </p:nvSpPr>
        <p:spPr>
          <a:xfrm>
            <a:off x="3867272" y="2433529"/>
            <a:ext cx="139424" cy="11519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200"/>
              </a:lnSpc>
              <a:buNone/>
            </a:pPr>
            <a:r>
              <a:rPr lang="en-US" altLang="zh-TW" sz="1200" b="1" dirty="0">
                <a:solidFill>
                  <a:schemeClr val="bg1">
                    <a:lumMod val="50000"/>
                  </a:schemeClr>
                </a:solidFill>
                <a:latin typeface="Gadugi" panose="020B0502040204020203" pitchFamily="34" charset="0"/>
                <a:ea typeface="Gadugi" panose="020B0502040204020203" pitchFamily="34" charset="0"/>
                <a:cs typeface="ADLaM Display" panose="02010000000000000000" pitchFamily="2" charset="0"/>
              </a:rPr>
              <a:t>e</a:t>
            </a:r>
            <a:endPar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endParaRPr>
          </a:p>
        </p:txBody>
      </p:sp>
      <p:sp>
        <p:nvSpPr>
          <p:cNvPr id="22" name="文字方塊 21">
            <a:extLst>
              <a:ext uri="{FF2B5EF4-FFF2-40B4-BE49-F238E27FC236}">
                <a16:creationId xmlns:a16="http://schemas.microsoft.com/office/drawing/2014/main" id="{51D08741-5391-21D3-C63C-01DEAD6BA47A}"/>
              </a:ext>
            </a:extLst>
          </p:cNvPr>
          <p:cNvSpPr txBox="1"/>
          <p:nvPr/>
        </p:nvSpPr>
        <p:spPr>
          <a:xfrm>
            <a:off x="3867271" y="2587760"/>
            <a:ext cx="128666" cy="95048"/>
          </a:xfrm>
          <a:prstGeom prst="rect">
            <a:avLst/>
          </a:prstGeom>
          <a:solidFill>
            <a:schemeClr val="accent2">
              <a:lumMod val="40000"/>
              <a:lumOff val="60000"/>
            </a:schemeClr>
          </a:solidFill>
          <a:ln w="25400">
            <a:solidFill>
              <a:schemeClr val="bg1">
                <a:lumMod val="85000"/>
              </a:schemeClr>
            </a:solidFill>
          </a:ln>
        </p:spPr>
        <p:txBody>
          <a:bodyPr wrap="none" lIns="0" tIns="0" rIns="0" bIns="0" anchor="ctr" anchorCtr="1">
            <a:noAutofit/>
          </a:bodyPr>
          <a:lstStyle/>
          <a:p>
            <a:pPr algn="ctr">
              <a:lnSpc>
                <a:spcPts val="1200"/>
              </a:lnSpc>
              <a:buNone/>
            </a:pPr>
            <a:r>
              <a:rPr lang="en-US" altLang="zh-TW" sz="1200" b="1" dirty="0">
                <a:solidFill>
                  <a:schemeClr val="tx1">
                    <a:lumMod val="95000"/>
                    <a:lumOff val="5000"/>
                  </a:schemeClr>
                </a:solidFill>
                <a:latin typeface="Gadugi" panose="020B0502040204020203" pitchFamily="34" charset="0"/>
                <a:ea typeface="Gadugi" panose="020B0502040204020203" pitchFamily="34" charset="0"/>
                <a:cs typeface="ADLaM Display" panose="02010000000000000000" pitchFamily="2" charset="0"/>
              </a:rPr>
              <a:t>e</a:t>
            </a:r>
            <a:endParaRPr lang="en-US" altLang="zh-TW" sz="1200" b="1" u="none" strike="noStrike" dirty="0">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endParaRPr>
          </a:p>
        </p:txBody>
      </p:sp>
      <p:sp>
        <p:nvSpPr>
          <p:cNvPr id="34" name="矩形 33">
            <a:extLst>
              <a:ext uri="{FF2B5EF4-FFF2-40B4-BE49-F238E27FC236}">
                <a16:creationId xmlns:a16="http://schemas.microsoft.com/office/drawing/2014/main" id="{5635B5C8-ED48-859A-7297-1A969AF1BD0D}"/>
              </a:ext>
            </a:extLst>
          </p:cNvPr>
          <p:cNvSpPr/>
          <p:nvPr/>
        </p:nvSpPr>
        <p:spPr>
          <a:xfrm>
            <a:off x="4127024" y="4756705"/>
            <a:ext cx="504056" cy="393015"/>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35" name="矩形: 圓角 34">
            <a:extLst>
              <a:ext uri="{FF2B5EF4-FFF2-40B4-BE49-F238E27FC236}">
                <a16:creationId xmlns:a16="http://schemas.microsoft.com/office/drawing/2014/main" id="{89CF481E-9E76-E131-29F0-867FDAB83382}"/>
              </a:ext>
            </a:extLst>
          </p:cNvPr>
          <p:cNvSpPr/>
          <p:nvPr/>
        </p:nvSpPr>
        <p:spPr>
          <a:xfrm>
            <a:off x="4124954" y="4069600"/>
            <a:ext cx="252070" cy="432048"/>
          </a:xfrm>
          <a:prstGeom prst="roundRect">
            <a:avLst/>
          </a:prstGeom>
          <a:solidFill>
            <a:schemeClr val="bg1"/>
          </a:solid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 x 2048</a:t>
            </a:r>
          </a:p>
        </p:txBody>
      </p:sp>
      <p:sp>
        <p:nvSpPr>
          <p:cNvPr id="36" name="矩形: 圓角 35">
            <a:extLst>
              <a:ext uri="{FF2B5EF4-FFF2-40B4-BE49-F238E27FC236}">
                <a16:creationId xmlns:a16="http://schemas.microsoft.com/office/drawing/2014/main" id="{B4CFC56D-9909-C54C-EB39-58E0216E1164}"/>
              </a:ext>
            </a:extLst>
          </p:cNvPr>
          <p:cNvSpPr/>
          <p:nvPr/>
        </p:nvSpPr>
        <p:spPr>
          <a:xfrm>
            <a:off x="4118625" y="3224554"/>
            <a:ext cx="516929" cy="436010"/>
          </a:xfrm>
          <a:prstGeom prst="roundRect">
            <a:avLst>
              <a:gd name="adj" fmla="val 8860"/>
            </a:avLst>
          </a:prstGeom>
          <a:solidFill>
            <a:schemeClr val="accent2">
              <a:lumMod val="20000"/>
              <a:lumOff val="80000"/>
            </a:schemeClr>
          </a:solidFill>
          <a:ln w="2540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MoE</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Router</a:t>
            </a:r>
          </a:p>
        </p:txBody>
      </p:sp>
      <p:sp>
        <p:nvSpPr>
          <p:cNvPr id="37" name="矩形 36">
            <a:extLst>
              <a:ext uri="{FF2B5EF4-FFF2-40B4-BE49-F238E27FC236}">
                <a16:creationId xmlns:a16="http://schemas.microsoft.com/office/drawing/2014/main" id="{700D4D76-B6B2-CDF3-F006-413140F97FC7}"/>
              </a:ext>
            </a:extLst>
          </p:cNvPr>
          <p:cNvSpPr/>
          <p:nvPr/>
        </p:nvSpPr>
        <p:spPr>
          <a:xfrm>
            <a:off x="3589775" y="5308701"/>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1" name="文字方塊 40">
            <a:extLst>
              <a:ext uri="{FF2B5EF4-FFF2-40B4-BE49-F238E27FC236}">
                <a16:creationId xmlns:a16="http://schemas.microsoft.com/office/drawing/2014/main" id="{52F424F2-C2DC-704B-3F67-BE4A7763F979}"/>
              </a:ext>
            </a:extLst>
          </p:cNvPr>
          <p:cNvSpPr txBox="1"/>
          <p:nvPr/>
        </p:nvSpPr>
        <p:spPr>
          <a:xfrm>
            <a:off x="3867270" y="2719894"/>
            <a:ext cx="126133" cy="108574"/>
          </a:xfrm>
          <a:prstGeom prst="rect">
            <a:avLst/>
          </a:prstGeom>
          <a:solidFill>
            <a:schemeClr val="accent2">
              <a:lumMod val="40000"/>
              <a:lumOff val="60000"/>
            </a:schemeClr>
          </a:solidFill>
          <a:ln w="25400">
            <a:solidFill>
              <a:schemeClr val="bg1">
                <a:lumMod val="85000"/>
              </a:schemeClr>
            </a:solidFill>
          </a:ln>
        </p:spPr>
        <p:txBody>
          <a:bodyPr wrap="none" lIns="0" tIns="0" rIns="0" bIns="0" anchor="ctr" anchorCtr="1">
            <a:noAutofit/>
          </a:bodyPr>
          <a:lstStyle/>
          <a:p>
            <a:pPr algn="ctr">
              <a:lnSpc>
                <a:spcPts val="1200"/>
              </a:lnSpc>
              <a:buNone/>
            </a:pPr>
            <a:r>
              <a:rPr lang="en-US" altLang="zh-TW" sz="1200" b="1" dirty="0">
                <a:solidFill>
                  <a:schemeClr val="tx1">
                    <a:lumMod val="95000"/>
                    <a:lumOff val="5000"/>
                  </a:schemeClr>
                </a:solidFill>
                <a:latin typeface="Gadugi" panose="020B0502040204020203" pitchFamily="34" charset="0"/>
                <a:ea typeface="Gadugi" panose="020B0502040204020203" pitchFamily="34" charset="0"/>
                <a:cs typeface="ADLaM Display" panose="02010000000000000000" pitchFamily="2" charset="0"/>
              </a:rPr>
              <a:t>e</a:t>
            </a:r>
            <a:endParaRPr lang="en-US" altLang="zh-TW" sz="1200" b="1" u="none" strike="noStrike" dirty="0">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endParaRPr>
          </a:p>
        </p:txBody>
      </p:sp>
    </p:spTree>
    <p:extLst>
      <p:ext uri="{BB962C8B-B14F-4D97-AF65-F5344CB8AC3E}">
        <p14:creationId xmlns:p14="http://schemas.microsoft.com/office/powerpoint/2010/main" val="54621272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B2A54-6427-97B5-1E87-2A9EB5F61F81}"/>
            </a:ext>
          </a:extLst>
        </p:cNvPr>
        <p:cNvGrpSpPr/>
        <p:nvPr/>
      </p:nvGrpSpPr>
      <p:grpSpPr>
        <a:xfrm>
          <a:off x="0" y="0"/>
          <a:ext cx="0" cy="0"/>
          <a:chOff x="0" y="0"/>
          <a:chExt cx="0" cy="0"/>
        </a:xfrm>
      </p:grpSpPr>
      <p:pic>
        <p:nvPicPr>
          <p:cNvPr id="3" name="圖片 2" descr="Kimi K3 架构">
            <a:extLst>
              <a:ext uri="{FF2B5EF4-FFF2-40B4-BE49-F238E27FC236}">
                <a16:creationId xmlns:a16="http://schemas.microsoft.com/office/drawing/2014/main" id="{98621101-8A38-BE97-2C19-3040C57E8430}"/>
              </a:ext>
            </a:extLst>
          </p:cNvPr>
          <p:cNvPicPr>
            <a:picLocks noChangeAspect="1"/>
          </p:cNvPicPr>
          <p:nvPr/>
        </p:nvPicPr>
        <p:blipFill>
          <a:blip r:embed="rId3"/>
          <a:stretch>
            <a:fillRect/>
          </a:stretch>
        </p:blipFill>
        <p:spPr>
          <a:xfrm>
            <a:off x="976102" y="0"/>
            <a:ext cx="7191796" cy="6858000"/>
          </a:xfrm>
          <a:prstGeom prst="rect">
            <a:avLst/>
          </a:prstGeom>
        </p:spPr>
      </p:pic>
    </p:spTree>
    <p:extLst>
      <p:ext uri="{BB962C8B-B14F-4D97-AF65-F5344CB8AC3E}">
        <p14:creationId xmlns:p14="http://schemas.microsoft.com/office/powerpoint/2010/main" val="174146994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B2A54-6427-97B5-1E87-2A9EB5F61F81}"/>
            </a:ext>
          </a:extLst>
        </p:cNvPr>
        <p:cNvGrpSpPr/>
        <p:nvPr/>
      </p:nvGrpSpPr>
      <p:grpSpPr>
        <a:xfrm>
          <a:off x="0" y="0"/>
          <a:ext cx="0" cy="0"/>
          <a:chOff x="0" y="0"/>
          <a:chExt cx="0" cy="0"/>
        </a:xfrm>
      </p:grpSpPr>
      <p:pic>
        <p:nvPicPr>
          <p:cNvPr id="4" name="圖片 3">
            <a:extLst>
              <a:ext uri="{FF2B5EF4-FFF2-40B4-BE49-F238E27FC236}">
                <a16:creationId xmlns:a16="http://schemas.microsoft.com/office/drawing/2014/main" id="{DFCF731C-6331-9A7E-69D1-E08908ECDFC7}"/>
              </a:ext>
            </a:extLst>
          </p:cNvPr>
          <p:cNvPicPr>
            <a:picLocks noChangeAspect="1"/>
          </p:cNvPicPr>
          <p:nvPr/>
        </p:nvPicPr>
        <p:blipFill>
          <a:blip r:embed="rId3"/>
          <a:stretch>
            <a:fillRect/>
          </a:stretch>
        </p:blipFill>
        <p:spPr>
          <a:xfrm>
            <a:off x="0" y="1090587"/>
            <a:ext cx="9144000" cy="4676825"/>
          </a:xfrm>
          <a:prstGeom prst="rect">
            <a:avLst/>
          </a:prstGeom>
        </p:spPr>
      </p:pic>
      <p:sp>
        <p:nvSpPr>
          <p:cNvPr id="6" name="標題 1">
            <a:extLst>
              <a:ext uri="{FF2B5EF4-FFF2-40B4-BE49-F238E27FC236}">
                <a16:creationId xmlns:a16="http://schemas.microsoft.com/office/drawing/2014/main" id="{C1DFD697-19B0-D518-76E0-8B069936C6F5}"/>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HW Requirement </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NVIDIA Latent MoE + Kimi Quantile Balancing</a:t>
            </a:r>
          </a:p>
        </p:txBody>
      </p:sp>
    </p:spTree>
    <p:extLst>
      <p:ext uri="{BB962C8B-B14F-4D97-AF65-F5344CB8AC3E}">
        <p14:creationId xmlns:p14="http://schemas.microsoft.com/office/powerpoint/2010/main" val="166384911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A6CC2-BDE4-965A-84C4-C8CEAFC9885E}"/>
            </a:ext>
          </a:extLst>
        </p:cNvPr>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F28CCEC3-1387-0743-9796-8CCF90C0AE03}"/>
              </a:ext>
            </a:extLst>
          </p:cNvPr>
          <p:cNvGraphicFramePr>
            <a:graphicFrameLocks noGrp="1"/>
          </p:cNvGraphicFramePr>
          <p:nvPr>
            <p:extLst>
              <p:ext uri="{D42A27DB-BD31-4B8C-83A1-F6EECF244321}">
                <p14:modId xmlns:p14="http://schemas.microsoft.com/office/powerpoint/2010/main" val="141976597"/>
              </p:ext>
            </p:extLst>
          </p:nvPr>
        </p:nvGraphicFramePr>
        <p:xfrm>
          <a:off x="300657" y="1084161"/>
          <a:ext cx="8542691" cy="4276923"/>
        </p:xfrm>
        <a:graphic>
          <a:graphicData uri="http://schemas.openxmlformats.org/drawingml/2006/table">
            <a:tbl>
              <a:tblPr firstRow="1" bandRow="1">
                <a:tableStyleId>{5C22544A-7EE6-4342-B048-85BDC9FD1C3A}</a:tableStyleId>
              </a:tblPr>
              <a:tblGrid>
                <a:gridCol w="382911">
                  <a:extLst>
                    <a:ext uri="{9D8B030D-6E8A-4147-A177-3AD203B41FA5}">
                      <a16:colId xmlns:a16="http://schemas.microsoft.com/office/drawing/2014/main" val="3115215194"/>
                    </a:ext>
                  </a:extLst>
                </a:gridCol>
                <a:gridCol w="766178">
                  <a:extLst>
                    <a:ext uri="{9D8B030D-6E8A-4147-A177-3AD203B41FA5}">
                      <a16:colId xmlns:a16="http://schemas.microsoft.com/office/drawing/2014/main" val="4024420245"/>
                    </a:ext>
                  </a:extLst>
                </a:gridCol>
                <a:gridCol w="766178">
                  <a:extLst>
                    <a:ext uri="{9D8B030D-6E8A-4147-A177-3AD203B41FA5}">
                      <a16:colId xmlns:a16="http://schemas.microsoft.com/office/drawing/2014/main" val="2857999959"/>
                    </a:ext>
                  </a:extLst>
                </a:gridCol>
                <a:gridCol w="766178">
                  <a:extLst>
                    <a:ext uri="{9D8B030D-6E8A-4147-A177-3AD203B41FA5}">
                      <a16:colId xmlns:a16="http://schemas.microsoft.com/office/drawing/2014/main" val="310011697"/>
                    </a:ext>
                  </a:extLst>
                </a:gridCol>
                <a:gridCol w="766178">
                  <a:extLst>
                    <a:ext uri="{9D8B030D-6E8A-4147-A177-3AD203B41FA5}">
                      <a16:colId xmlns:a16="http://schemas.microsoft.com/office/drawing/2014/main" val="932094440"/>
                    </a:ext>
                  </a:extLst>
                </a:gridCol>
                <a:gridCol w="1039744">
                  <a:extLst>
                    <a:ext uri="{9D8B030D-6E8A-4147-A177-3AD203B41FA5}">
                      <a16:colId xmlns:a16="http://schemas.microsoft.com/office/drawing/2014/main" val="1885199976"/>
                    </a:ext>
                  </a:extLst>
                </a:gridCol>
                <a:gridCol w="1080120">
                  <a:extLst>
                    <a:ext uri="{9D8B030D-6E8A-4147-A177-3AD203B41FA5}">
                      <a16:colId xmlns:a16="http://schemas.microsoft.com/office/drawing/2014/main" val="2502900903"/>
                    </a:ext>
                  </a:extLst>
                </a:gridCol>
                <a:gridCol w="743801">
                  <a:extLst>
                    <a:ext uri="{9D8B030D-6E8A-4147-A177-3AD203B41FA5}">
                      <a16:colId xmlns:a16="http://schemas.microsoft.com/office/drawing/2014/main" val="2600189719"/>
                    </a:ext>
                  </a:extLst>
                </a:gridCol>
                <a:gridCol w="743801">
                  <a:extLst>
                    <a:ext uri="{9D8B030D-6E8A-4147-A177-3AD203B41FA5}">
                      <a16:colId xmlns:a16="http://schemas.microsoft.com/office/drawing/2014/main" val="217543664"/>
                    </a:ext>
                  </a:extLst>
                </a:gridCol>
                <a:gridCol w="743801">
                  <a:extLst>
                    <a:ext uri="{9D8B030D-6E8A-4147-A177-3AD203B41FA5}">
                      <a16:colId xmlns:a16="http://schemas.microsoft.com/office/drawing/2014/main" val="2209626822"/>
                    </a:ext>
                  </a:extLst>
                </a:gridCol>
                <a:gridCol w="743801">
                  <a:extLst>
                    <a:ext uri="{9D8B030D-6E8A-4147-A177-3AD203B41FA5}">
                      <a16:colId xmlns:a16="http://schemas.microsoft.com/office/drawing/2014/main" val="2727600684"/>
                    </a:ext>
                  </a:extLst>
                </a:gridCol>
              </a:tblGrid>
              <a:tr h="668032">
                <a:tc>
                  <a:txBody>
                    <a:bodyPr/>
                    <a:lstStyle/>
                    <a:p>
                      <a:pPr algn="l"/>
                      <a:endParaRPr lang="en-US" altLang="zh-TW" sz="1200" b="1" cap="none" spc="0" dirty="0">
                        <a:ln w="0"/>
                        <a:solidFill>
                          <a:schemeClr val="tx1"/>
                        </a:solidFill>
                        <a:effectLst/>
                        <a:latin typeface="+mn-lt"/>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Modern Open-Source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Backbone</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Cross-Border Academic Collaboration</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Community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-Driven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Pioneers</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Independent &amp;</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Native Pillars</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1" cap="none" spc="0" dirty="0">
                        <a:ln w="0"/>
                        <a:solidFill>
                          <a:schemeClr val="tx1"/>
                        </a:solidFill>
                        <a:effectLst/>
                        <a:latin typeface="+mn-lt"/>
                      </a:endParaRPr>
                    </a:p>
                  </a:txBody>
                  <a:tcPr marL="0" marR="0" marT="0" marB="0" anchor="ctr" anchorCtr="1">
                    <a:lnL w="6350" cap="flat" cmpd="sng" algn="ctr">
                      <a:solidFill>
                        <a:schemeClr val="accent4">
                          <a:lumMod val="75000"/>
                        </a:schemeClr>
                      </a:solidFill>
                      <a:prstDash val="solid"/>
                      <a:round/>
                      <a:headEnd type="none" w="med" len="med"/>
                      <a:tailEnd type="none" w="med" len="med"/>
                    </a:lnL>
                    <a:lnR w="6350" cap="flat" cmpd="sng" algn="ctr">
                      <a:solidFill>
                        <a:schemeClr val="accent4">
                          <a:lumMod val="75000"/>
                        </a:schemeClr>
                      </a:solidFill>
                      <a:prstDash val="solid"/>
                      <a:round/>
                      <a:headEnd type="none" w="med" len="med"/>
                      <a:tailEnd type="none" w="med" len="med"/>
                    </a:lnR>
                    <a:lnT w="6350" cap="flat" cmpd="sng" algn="ctr">
                      <a:solidFill>
                        <a:schemeClr val="accent4">
                          <a:lumMod val="75000"/>
                        </a:schemeClr>
                      </a:solidFill>
                      <a:prstDash val="solid"/>
                      <a:round/>
                      <a:headEnd type="none" w="med" len="med"/>
                      <a:tailEnd type="none" w="med" len="med"/>
                    </a:lnT>
                    <a:lnB w="635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213515898"/>
                  </a:ext>
                </a:extLst>
              </a:tr>
              <a:tr h="75780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DeepMind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(Google)</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Phi</a:t>
                      </a:r>
                      <a:br>
                        <a:rPr kumimoji="0" lang="en-US" altLang="zh-TW" sz="1200" b="1" i="0" u="none" strike="noStrike" kern="1200" cap="none" spc="0" normalizeH="0" baseline="0" noProof="0" dirty="0">
                          <a:ln w="0"/>
                          <a:solidFill>
                            <a:schemeClr val="tx2"/>
                          </a:solidFill>
                          <a:effectLst/>
                          <a:uLnTx/>
                          <a:uFillTx/>
                          <a:latin typeface="+mn-lt"/>
                          <a:ea typeface="+mn-ea"/>
                          <a:cs typeface="+mn-cs"/>
                        </a:rPr>
                      </a:br>
                      <a:r>
                        <a:rPr kumimoji="0" lang="en-US" altLang="zh-TW" sz="1000" b="0" i="0" u="none" strike="noStrike" kern="1200" cap="none" spc="0" normalizeH="0" baseline="0" noProof="0" dirty="0">
                          <a:ln w="0"/>
                          <a:solidFill>
                            <a:schemeClr val="tx2"/>
                          </a:solidFill>
                          <a:effectLst/>
                          <a:uLnTx/>
                          <a:uFillTx/>
                          <a:latin typeface="+mn-lt"/>
                          <a:ea typeface="+mn-ea"/>
                          <a:cs typeface="+mn-cs"/>
                        </a:rPr>
                        <a:t>(Microsoft)</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Meta AI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(FAIR)</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 AI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(Europe)</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BigScience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(Hugging Face, France</a:t>
                      </a:r>
                      <a:r>
                        <a:rPr kumimoji="0" lang="zh-TW" altLang="en-US" sz="1000" b="0" i="0" u="none" strike="noStrike" kern="1200" cap="none" spc="0" normalizeH="0" baseline="0" noProof="0" dirty="0">
                          <a:ln w="0"/>
                          <a:solidFill>
                            <a:schemeClr val="tx2"/>
                          </a:solidFill>
                          <a:effectLst/>
                          <a:uLnTx/>
                          <a:uFillTx/>
                          <a:latin typeface="+mn-lt"/>
                          <a:ea typeface="+mn-ea"/>
                          <a:cs typeface="+mn-cs"/>
                        </a:rPr>
                        <a:t> </a:t>
                      </a:r>
                      <a:r>
                        <a:rPr kumimoji="0" lang="en-US" altLang="zh-TW" sz="1000" b="0" i="0" u="none" strike="noStrike" kern="1200" cap="none" spc="0" normalizeH="0" baseline="0" noProof="0" dirty="0">
                          <a:ln w="0"/>
                          <a:solidFill>
                            <a:schemeClr val="tx2"/>
                          </a:solidFill>
                          <a:effectLst/>
                          <a:uLnTx/>
                          <a:uFillTx/>
                          <a:latin typeface="+mn-lt"/>
                          <a:ea typeface="+mn-ea"/>
                          <a:cs typeface="+mn-cs"/>
                        </a:rPr>
                        <a:t> and 1000+ scientists )</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EleutherAI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(Hugging Face, CoreWeave,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Stability AI, …)</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Technology Innovation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Institute </a:t>
                      </a:r>
                      <a:r>
                        <a:rPr kumimoji="0" lang="en-US" altLang="zh-TW" sz="1000" b="0" i="0" u="none" strike="noStrike" kern="1200" cap="none" spc="0" normalizeH="0" baseline="0" noProof="0" dirty="0">
                          <a:ln w="0"/>
                          <a:solidFill>
                            <a:schemeClr val="tx2"/>
                          </a:solidFill>
                          <a:effectLst/>
                          <a:uLnTx/>
                          <a:uFillTx/>
                          <a:latin typeface="+mn-lt"/>
                          <a:ea typeface="+mn-ea"/>
                          <a:cs typeface="+mn-cs"/>
                        </a:rPr>
                        <a:t>(NV)</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(Alibaba)</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DS MoE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(DeepSeek)</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KIMI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(Moonshot)</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603224414"/>
                  </a:ext>
                </a:extLst>
              </a:tr>
              <a:tr h="317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2020</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GPT-Neo</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41340391"/>
                  </a:ext>
                </a:extLst>
              </a:tr>
              <a:tr h="317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2021</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GPT-J</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49642222"/>
                  </a:ext>
                </a:extLst>
              </a:tr>
              <a:tr h="317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2022</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OPT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bg2">
                              <a:lumMod val="50000"/>
                            </a:schemeClr>
                          </a:solidFill>
                          <a:effectLst/>
                          <a:uLnTx/>
                          <a:uFillTx/>
                          <a:latin typeface="+mn-lt"/>
                          <a:ea typeface="+mn-ea"/>
                          <a:cs typeface="+mn-cs"/>
                        </a:rPr>
                        <a:t>BLOOM</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a:t>
                      </a:r>
                      <a:r>
                        <a:rPr kumimoji="0" lang="en-US" altLang="zh-TW" sz="1200" b="0" i="0" u="none" strike="noStrike" kern="1200" cap="none" spc="0" normalizeH="0" baseline="0" noProof="0" dirty="0" err="1">
                          <a:ln w="0"/>
                          <a:solidFill>
                            <a:prstClr val="black"/>
                          </a:solidFill>
                          <a:effectLst/>
                          <a:uLnTx/>
                          <a:uFillTx/>
                          <a:latin typeface="+mn-lt"/>
                          <a:ea typeface="+mn-ea"/>
                          <a:cs typeface="+mn-cs"/>
                        </a:rPr>
                        <a:t>NeoX</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148326291"/>
                  </a:ext>
                </a:extLst>
              </a:tr>
              <a:tr h="3953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Phi-1</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 1</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 7B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Mixtral</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solidFill>
                        <a:schemeClr val="accent4">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err="1">
                          <a:ln w="0"/>
                          <a:solidFill>
                            <a:prstClr val="black"/>
                          </a:solidFill>
                          <a:effectLst/>
                          <a:uLnTx/>
                          <a:uFillTx/>
                          <a:latin typeface="+mn-lt"/>
                          <a:ea typeface="+mn-ea"/>
                          <a:cs typeface="+mn-cs"/>
                        </a:rPr>
                        <a:t>LLeMA</a:t>
                      </a: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Falcon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1.0</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LLM</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714491690"/>
                  </a:ext>
                </a:extLst>
              </a:tr>
              <a:tr h="3953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Phi-3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 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solidFill>
                        <a:schemeClr val="accent4">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schemeClr val="tx2">
                            <a:lumMod val="75000"/>
                          </a:schemeClr>
                        </a:solidFill>
                        <a:effectLst/>
                        <a:uLnTx/>
                        <a:uFillTx/>
                        <a:latin typeface="+mn-lt"/>
                        <a:ea typeface="+mn-ea"/>
                        <a:cs typeface="+mn-cs"/>
                      </a:endParaRPr>
                    </a:p>
                  </a:txBody>
                  <a:tcPr marL="0" marR="0" marT="0" marB="0" anchor="ctr" anchorCtr="1">
                    <a:lnL w="1270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Falcon 3</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2.5</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V3</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59259351"/>
                  </a:ext>
                </a:extLst>
              </a:tr>
              <a:tr h="3953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2025</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Gemma 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Phi-4</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 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Large 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solidFill>
                        <a:schemeClr val="accent4">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lumMod val="50000"/>
                              <a:lumOff val="50000"/>
                            </a:schemeClr>
                          </a:solidFill>
                          <a:effectLst/>
                          <a:uLnTx/>
                          <a:uFillTx/>
                          <a:latin typeface="+mn-lt"/>
                          <a:ea typeface="+mn-ea"/>
                          <a:cs typeface="+mn-cs"/>
                        </a:rPr>
                        <a:t>The Common Pile</a:t>
                      </a:r>
                    </a:p>
                  </a:txBody>
                  <a:tcPr marL="0" marR="0" marT="0" marB="0" anchor="ctr" anchorCtr="1">
                    <a:lnL w="1270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Falcon H1</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3.0</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72492193"/>
                  </a:ext>
                </a:extLst>
              </a:tr>
              <a:tr h="3953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2026</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Gemma 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Phi-4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Vision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Muse 1</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Small 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solidFill>
                        <a:schemeClr val="accent4">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lumMod val="50000"/>
                              <a:lumOff val="50000"/>
                            </a:schemeClr>
                          </a:solidFill>
                          <a:effectLst/>
                          <a:uLnTx/>
                          <a:uFillTx/>
                          <a:latin typeface="+mn-lt"/>
                          <a:ea typeface="+mn-ea"/>
                          <a:cs typeface="+mn-cs"/>
                        </a:rPr>
                        <a:t>LM-Evaluation-Harness</a:t>
                      </a:r>
                      <a:endParaRPr kumimoji="0" lang="zh-TW" altLang="en-US" sz="1200" b="0" i="0" u="none" strike="noStrike" kern="1200" cap="none" spc="0" normalizeH="0" baseline="0" noProof="0" dirty="0">
                        <a:ln w="0"/>
                        <a:solidFill>
                          <a:schemeClr val="tx1">
                            <a:lumMod val="50000"/>
                            <a:lumOff val="50000"/>
                          </a:schemeClr>
                        </a:solidFill>
                        <a:effectLst/>
                        <a:uLnTx/>
                        <a:uFillTx/>
                        <a:latin typeface="+mn-lt"/>
                        <a:ea typeface="+mn-ea"/>
                        <a:cs typeface="+mn-cs"/>
                      </a:endParaRPr>
                    </a:p>
                  </a:txBody>
                  <a:tcPr marL="0" marR="0" marT="0" marB="0" anchor="ctr" anchorCtr="1">
                    <a:lnL w="1270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Falcon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H1R</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3.8</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V4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Kimi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K3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0024983"/>
                  </a:ext>
                </a:extLst>
              </a:tr>
              <a:tr h="317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schemeClr val="tx2">
                            <a:lumMod val="75000"/>
                          </a:schemeClr>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2451293"/>
                  </a:ext>
                </a:extLst>
              </a:tr>
            </a:tbl>
          </a:graphicData>
        </a:graphic>
      </p:graphicFrame>
      <p:sp>
        <p:nvSpPr>
          <p:cNvPr id="6" name="標題 1">
            <a:extLst>
              <a:ext uri="{FF2B5EF4-FFF2-40B4-BE49-F238E27FC236}">
                <a16:creationId xmlns:a16="http://schemas.microsoft.com/office/drawing/2014/main" id="{2584B682-80DC-5350-E199-F653A8484A51}"/>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The Evolution of Open-Source LLMs</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From 2020 to 2026.</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10" name="圖片 9">
            <a:extLst>
              <a:ext uri="{FF2B5EF4-FFF2-40B4-BE49-F238E27FC236}">
                <a16:creationId xmlns:a16="http://schemas.microsoft.com/office/drawing/2014/main" id="{9C034926-36B1-924C-1E61-4CBCD515102C}"/>
              </a:ext>
            </a:extLst>
          </p:cNvPr>
          <p:cNvPicPr>
            <a:picLocks noChangeAspect="1"/>
          </p:cNvPicPr>
          <p:nvPr/>
        </p:nvPicPr>
        <p:blipFill>
          <a:blip r:embed="rId3"/>
          <a:stretch>
            <a:fillRect/>
          </a:stretch>
        </p:blipFill>
        <p:spPr>
          <a:xfrm>
            <a:off x="6807316" y="5216376"/>
            <a:ext cx="284964" cy="284964"/>
          </a:xfrm>
          <a:prstGeom prst="rect">
            <a:avLst/>
          </a:prstGeom>
          <a:effectLst>
            <a:glow rad="12700">
              <a:schemeClr val="bg1">
                <a:lumMod val="95000"/>
                <a:alpha val="40000"/>
              </a:schemeClr>
            </a:glow>
            <a:softEdge rad="25400"/>
          </a:effectLst>
        </p:spPr>
      </p:pic>
      <p:pic>
        <p:nvPicPr>
          <p:cNvPr id="12" name="圖片 11">
            <a:extLst>
              <a:ext uri="{FF2B5EF4-FFF2-40B4-BE49-F238E27FC236}">
                <a16:creationId xmlns:a16="http://schemas.microsoft.com/office/drawing/2014/main" id="{B49E799F-C565-ABB2-F1E1-804D95D1669C}"/>
              </a:ext>
            </a:extLst>
          </p:cNvPr>
          <p:cNvPicPr>
            <a:picLocks noChangeAspect="1"/>
          </p:cNvPicPr>
          <p:nvPr/>
        </p:nvPicPr>
        <p:blipFill>
          <a:blip r:embed="rId4"/>
          <a:stretch>
            <a:fillRect/>
          </a:stretch>
        </p:blipFill>
        <p:spPr>
          <a:xfrm>
            <a:off x="7533826" y="5208414"/>
            <a:ext cx="350542" cy="284964"/>
          </a:xfrm>
          <a:prstGeom prst="rect">
            <a:avLst/>
          </a:prstGeom>
        </p:spPr>
      </p:pic>
      <p:pic>
        <p:nvPicPr>
          <p:cNvPr id="16" name="圖片 15">
            <a:extLst>
              <a:ext uri="{FF2B5EF4-FFF2-40B4-BE49-F238E27FC236}">
                <a16:creationId xmlns:a16="http://schemas.microsoft.com/office/drawing/2014/main" id="{37610F10-8CC5-F71E-FB14-609A88EA39AD}"/>
              </a:ext>
            </a:extLst>
          </p:cNvPr>
          <p:cNvPicPr>
            <a:picLocks noChangeAspect="1"/>
          </p:cNvPicPr>
          <p:nvPr/>
        </p:nvPicPr>
        <p:blipFill>
          <a:blip r:embed="rId5"/>
          <a:stretch>
            <a:fillRect/>
          </a:stretch>
        </p:blipFill>
        <p:spPr>
          <a:xfrm>
            <a:off x="3275856" y="5184697"/>
            <a:ext cx="284964" cy="284964"/>
          </a:xfrm>
          <a:prstGeom prst="rect">
            <a:avLst/>
          </a:prstGeom>
        </p:spPr>
      </p:pic>
      <p:pic>
        <p:nvPicPr>
          <p:cNvPr id="20" name="圖片 19">
            <a:extLst>
              <a:ext uri="{FF2B5EF4-FFF2-40B4-BE49-F238E27FC236}">
                <a16:creationId xmlns:a16="http://schemas.microsoft.com/office/drawing/2014/main" id="{3C663D43-268C-53AE-455E-FD0977CCE05C}"/>
              </a:ext>
            </a:extLst>
          </p:cNvPr>
          <p:cNvPicPr>
            <a:picLocks noChangeAspect="1"/>
          </p:cNvPicPr>
          <p:nvPr/>
        </p:nvPicPr>
        <p:blipFill>
          <a:blip r:embed="rId6"/>
          <a:stretch>
            <a:fillRect/>
          </a:stretch>
        </p:blipFill>
        <p:spPr>
          <a:xfrm>
            <a:off x="879223" y="5151468"/>
            <a:ext cx="380409" cy="380409"/>
          </a:xfrm>
          <a:prstGeom prst="rect">
            <a:avLst/>
          </a:prstGeom>
          <a:effectLst>
            <a:glow rad="25400">
              <a:schemeClr val="accent5">
                <a:lumMod val="40000"/>
                <a:lumOff val="60000"/>
                <a:alpha val="40000"/>
              </a:schemeClr>
            </a:glow>
            <a:softEdge rad="12700"/>
          </a:effectLst>
        </p:spPr>
      </p:pic>
      <p:pic>
        <p:nvPicPr>
          <p:cNvPr id="9" name="圖片 8">
            <a:extLst>
              <a:ext uri="{FF2B5EF4-FFF2-40B4-BE49-F238E27FC236}">
                <a16:creationId xmlns:a16="http://schemas.microsoft.com/office/drawing/2014/main" id="{F5012F1A-6F0A-97DF-CC14-7D190C26E4F0}"/>
              </a:ext>
            </a:extLst>
          </p:cNvPr>
          <p:cNvPicPr>
            <a:picLocks noChangeAspect="1"/>
          </p:cNvPicPr>
          <p:nvPr/>
        </p:nvPicPr>
        <p:blipFill>
          <a:blip r:embed="rId7"/>
          <a:stretch>
            <a:fillRect/>
          </a:stretch>
        </p:blipFill>
        <p:spPr>
          <a:xfrm>
            <a:off x="2483768" y="5240323"/>
            <a:ext cx="284964" cy="225568"/>
          </a:xfrm>
          <a:prstGeom prst="rect">
            <a:avLst/>
          </a:prstGeom>
        </p:spPr>
      </p:pic>
      <p:pic>
        <p:nvPicPr>
          <p:cNvPr id="22" name="圖片 21">
            <a:extLst>
              <a:ext uri="{FF2B5EF4-FFF2-40B4-BE49-F238E27FC236}">
                <a16:creationId xmlns:a16="http://schemas.microsoft.com/office/drawing/2014/main" id="{3D4C8B4F-8579-798A-BD81-2A9ED45B4E54}"/>
              </a:ext>
            </a:extLst>
          </p:cNvPr>
          <p:cNvPicPr>
            <a:picLocks noChangeAspect="1"/>
          </p:cNvPicPr>
          <p:nvPr/>
        </p:nvPicPr>
        <p:blipFill>
          <a:blip r:embed="rId8"/>
          <a:stretch>
            <a:fillRect/>
          </a:stretch>
        </p:blipFill>
        <p:spPr>
          <a:xfrm>
            <a:off x="8317433" y="5208413"/>
            <a:ext cx="287015" cy="284965"/>
          </a:xfrm>
          <a:prstGeom prst="rect">
            <a:avLst/>
          </a:prstGeom>
        </p:spPr>
      </p:pic>
      <p:pic>
        <p:nvPicPr>
          <p:cNvPr id="30" name="圖片 29">
            <a:extLst>
              <a:ext uri="{FF2B5EF4-FFF2-40B4-BE49-F238E27FC236}">
                <a16:creationId xmlns:a16="http://schemas.microsoft.com/office/drawing/2014/main" id="{46A64EA5-8F7A-E610-5F8F-CE72FAA64EBE}"/>
              </a:ext>
            </a:extLst>
          </p:cNvPr>
          <p:cNvPicPr>
            <a:picLocks noChangeAspect="1"/>
          </p:cNvPicPr>
          <p:nvPr/>
        </p:nvPicPr>
        <p:blipFill>
          <a:blip r:embed="rId9"/>
          <a:stretch>
            <a:fillRect/>
          </a:stretch>
        </p:blipFill>
        <p:spPr>
          <a:xfrm>
            <a:off x="3779912" y="2942072"/>
            <a:ext cx="980309" cy="265437"/>
          </a:xfrm>
          <a:prstGeom prst="rect">
            <a:avLst/>
          </a:prstGeom>
          <a:effectLst>
            <a:glow rad="50800">
              <a:schemeClr val="tx1">
                <a:alpha val="20000"/>
              </a:schemeClr>
            </a:glow>
            <a:softEdge rad="0"/>
          </a:effectLst>
        </p:spPr>
      </p:pic>
      <p:pic>
        <p:nvPicPr>
          <p:cNvPr id="31" name="圖片 30" descr="EleutherAI">
            <a:extLst>
              <a:ext uri="{FF2B5EF4-FFF2-40B4-BE49-F238E27FC236}">
                <a16:creationId xmlns:a16="http://schemas.microsoft.com/office/drawing/2014/main" id="{B9927168-FE93-7A1D-D637-FBC5D13D256E}"/>
              </a:ext>
            </a:extLst>
          </p:cNvPr>
          <p:cNvPicPr>
            <a:picLocks noChangeAspect="1"/>
          </p:cNvPicPr>
          <p:nvPr/>
        </p:nvPicPr>
        <p:blipFill>
          <a:blip r:embed="rId10"/>
          <a:stretch>
            <a:fillRect/>
          </a:stretch>
        </p:blipFill>
        <p:spPr>
          <a:xfrm>
            <a:off x="4355976" y="3915928"/>
            <a:ext cx="1595502" cy="331066"/>
          </a:xfrm>
          <a:prstGeom prst="rect">
            <a:avLst/>
          </a:prstGeom>
          <a:effectLst>
            <a:glow rad="76200">
              <a:schemeClr val="tx1">
                <a:alpha val="80000"/>
              </a:schemeClr>
            </a:glow>
            <a:softEdge rad="0"/>
          </a:effectLst>
        </p:spPr>
      </p:pic>
      <p:pic>
        <p:nvPicPr>
          <p:cNvPr id="34" name="圖片 33">
            <a:extLst>
              <a:ext uri="{FF2B5EF4-FFF2-40B4-BE49-F238E27FC236}">
                <a16:creationId xmlns:a16="http://schemas.microsoft.com/office/drawing/2014/main" id="{736F2CD2-8368-1411-CDA1-CD7BED977C1D}"/>
              </a:ext>
            </a:extLst>
          </p:cNvPr>
          <p:cNvPicPr>
            <a:picLocks noChangeAspect="1"/>
          </p:cNvPicPr>
          <p:nvPr/>
        </p:nvPicPr>
        <p:blipFill>
          <a:blip r:embed="rId11"/>
          <a:stretch>
            <a:fillRect/>
          </a:stretch>
        </p:blipFill>
        <p:spPr>
          <a:xfrm>
            <a:off x="6084168" y="5184558"/>
            <a:ext cx="272407" cy="332674"/>
          </a:xfrm>
          <a:prstGeom prst="rect">
            <a:avLst/>
          </a:prstGeom>
        </p:spPr>
      </p:pic>
      <p:pic>
        <p:nvPicPr>
          <p:cNvPr id="36" name="圖片 35">
            <a:extLst>
              <a:ext uri="{FF2B5EF4-FFF2-40B4-BE49-F238E27FC236}">
                <a16:creationId xmlns:a16="http://schemas.microsoft.com/office/drawing/2014/main" id="{19738192-72EC-1EEB-D2CA-5EDC92128DB0}"/>
              </a:ext>
            </a:extLst>
          </p:cNvPr>
          <p:cNvPicPr>
            <a:picLocks noChangeAspect="1"/>
          </p:cNvPicPr>
          <p:nvPr/>
        </p:nvPicPr>
        <p:blipFill>
          <a:blip r:embed="rId12"/>
          <a:stretch>
            <a:fillRect/>
          </a:stretch>
        </p:blipFill>
        <p:spPr>
          <a:xfrm>
            <a:off x="1715117" y="5184558"/>
            <a:ext cx="288546" cy="281333"/>
          </a:xfrm>
          <a:prstGeom prst="rect">
            <a:avLst/>
          </a:prstGeom>
        </p:spPr>
      </p:pic>
    </p:spTree>
    <p:extLst>
      <p:ext uri="{BB962C8B-B14F-4D97-AF65-F5344CB8AC3E}">
        <p14:creationId xmlns:p14="http://schemas.microsoft.com/office/powerpoint/2010/main" val="230050673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heme/theme1.xml><?xml version="1.0" encoding="utf-8"?>
<a:theme xmlns:a="http://schemas.openxmlformats.org/drawingml/2006/main" name="Defaul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alpha val="70000"/>
          </a:schemeClr>
        </a:solidFill>
        <a:ln w="12700">
          <a:solidFill>
            <a:schemeClr val="bg1">
              <a:lumMod val="75000"/>
            </a:schemeClr>
          </a:solid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簡報1" id="{3349570C-DE3B-48BB-8671-1853FC12C45D}" vid="{424F00FA-23EC-402E-8D8B-A6A8EB048657}"/>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TM02900688[[fn=多面向]]</Template>
  <TotalTime>1498</TotalTime>
  <Words>7304</Words>
  <Application>Microsoft Office PowerPoint</Application>
  <PresentationFormat>如螢幕大小 (4:3)</PresentationFormat>
  <Paragraphs>773</Paragraphs>
  <Slides>30</Slides>
  <Notes>20</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30</vt:i4>
      </vt:variant>
    </vt:vector>
  </HeadingPairs>
  <TitlesOfParts>
    <vt:vector size="40" baseType="lpstr">
      <vt:lpstr>Malgun Gothic</vt:lpstr>
      <vt:lpstr>Noto Sans HK</vt:lpstr>
      <vt:lpstr>微軟正黑體</vt:lpstr>
      <vt:lpstr>ADLaM Display</vt:lpstr>
      <vt:lpstr>Arial</vt:lpstr>
      <vt:lpstr>Calibri</vt:lpstr>
      <vt:lpstr>Cambria Math</vt:lpstr>
      <vt:lpstr>Gadugi</vt:lpstr>
      <vt:lpstr>Wingdings</vt:lpstr>
      <vt:lpstr>Default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Report</dc:title>
  <dc:creator>Felix Tien(田慶豐)</dc:creator>
  <cp:lastModifiedBy>Allen Ni(倪士凱)</cp:lastModifiedBy>
  <cp:revision>1895</cp:revision>
  <cp:lastPrinted>2024-07-30T01:44:15Z</cp:lastPrinted>
  <dcterms:created xsi:type="dcterms:W3CDTF">2019-11-08T03:01:47Z</dcterms:created>
  <dcterms:modified xsi:type="dcterms:W3CDTF">2026-09-18T07:14:51Z</dcterms:modified>
</cp:coreProperties>
</file>