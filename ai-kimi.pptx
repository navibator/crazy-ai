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handoutMasterIdLst>
    <p:handoutMasterId r:id="rId33"/>
  </p:handoutMasterIdLst>
  <p:sldIdLst>
    <p:sldId id="3459" r:id="rId2"/>
    <p:sldId id="3472" r:id="rId3"/>
    <p:sldId id="3573" r:id="rId4"/>
    <p:sldId id="3465" r:id="rId5"/>
    <p:sldId id="3574" r:id="rId6"/>
    <p:sldId id="3566" r:id="rId7"/>
    <p:sldId id="3563" r:id="rId8"/>
    <p:sldId id="3562" r:id="rId9"/>
    <p:sldId id="3556" r:id="rId10"/>
    <p:sldId id="3551" r:id="rId11"/>
    <p:sldId id="3561" r:id="rId12"/>
    <p:sldId id="3577" r:id="rId13"/>
    <p:sldId id="3559" r:id="rId14"/>
    <p:sldId id="3578" r:id="rId15"/>
    <p:sldId id="3570" r:id="rId16"/>
    <p:sldId id="3571" r:id="rId17"/>
    <p:sldId id="3576" r:id="rId18"/>
    <p:sldId id="3572" r:id="rId19"/>
    <p:sldId id="3575" r:id="rId20"/>
    <p:sldId id="3567" r:id="rId21"/>
    <p:sldId id="3568" r:id="rId22"/>
    <p:sldId id="3534" r:id="rId23"/>
    <p:sldId id="3565" r:id="rId24"/>
    <p:sldId id="3451" r:id="rId25"/>
    <p:sldId id="3560" r:id="rId26"/>
    <p:sldId id="3564" r:id="rId27"/>
    <p:sldId id="3536" r:id="rId28"/>
    <p:sldId id="3569" r:id="rId29"/>
    <p:sldId id="3535" r:id="rId30"/>
    <p:sldId id="3549" r:id="rId31"/>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LSTM" id="{EE40A592-26E0-44D5-B20C-08484E6740F4}">
          <p14:sldIdLst>
            <p14:sldId id="3573"/>
            <p14:sldId id="3465"/>
            <p14:sldId id="3574"/>
            <p14:sldId id="3566"/>
          </p14:sldIdLst>
        </p14:section>
        <p14:section name="Optimizer-MuON" id="{D96295E3-C59A-456D-AE59-C3D5699A4263}">
          <p14:sldIdLst>
            <p14:sldId id="3563"/>
            <p14:sldId id="3562"/>
            <p14:sldId id="3556"/>
            <p14:sldId id="3551"/>
          </p14:sldIdLst>
        </p14:section>
        <p14:section name="Scaling Laws" id="{D8A0A845-B83A-4610-8E4F-071F07C07C23}">
          <p14:sldIdLst>
            <p14:sldId id="3561"/>
            <p14:sldId id="3577"/>
            <p14:sldId id="3559"/>
          </p14:sldIdLst>
        </p14:section>
        <p14:section name="Moonshot-Kimi" id="{7C2BE5B2-C507-46C7-871E-C935EB653EC3}">
          <p14:sldIdLst>
            <p14:sldId id="3578"/>
            <p14:sldId id="3570"/>
            <p14:sldId id="3571"/>
            <p14:sldId id="3576"/>
            <p14:sldId id="3572"/>
            <p14:sldId id="3575"/>
            <p14:sldId id="3567"/>
            <p14:sldId id="3568"/>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F9900"/>
    <a:srgbClr val="FDF3DB"/>
    <a:srgbClr val="2260DC"/>
    <a:srgbClr val="F0F0F0"/>
    <a:srgbClr val="F8D462"/>
    <a:srgbClr val="4C6BFF"/>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en.wikipedia.org/wiki/Chinchilla_(language_model)" TargetMode="External"/><Relationship Id="rId2" Type="http://schemas.openxmlformats.org/officeDocument/2006/relationships/slide" Target="../slides/slide12.xml"/><Relationship Id="rId1" Type="http://schemas.openxmlformats.org/officeDocument/2006/relationships/notesMaster" Target="../notesMasters/notesMaster1.xml"/><Relationship Id="rId5" Type="http://schemas.openxmlformats.org/officeDocument/2006/relationships/hyperlink" Target="https://ai.meta.com/blog/large-language-model-llama-meta-ai/" TargetMode="External"/><Relationship Id="rId4" Type="http://schemas.openxmlformats.org/officeDocument/2006/relationships/hyperlink" Target="https://arxiv.org/abs/2203.15556" TargetMode="Externa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AC8A5-7208-42FD-4AB1-69FB94E8C31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50C716-EBED-7B37-B89E-FE33A365325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3A44D22-12E4-0B2B-0CE3-74F0B4E51A5B}"/>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53B19BF4-B58A-E05F-89B6-8578AAFD9E4C}"/>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34364148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0B52B-AE4C-4051-C3F5-0DE813B4CE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8850CCC-3A19-9090-B62D-D6F6158F0B4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0644453-D979-7592-6351-6937AA22A0DF}"/>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95DC47D7-CF20-0354-B2A3-FE46E998FD7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15428810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LSTM（長短期記憶網路）</a:t>
            </a:r>
            <a:r>
              <a:rPr lang="zh-TW" altLang="zh-TW" sz="1200" b="0" u="none" strike="noStrike" kern="1200" dirty="0">
                <a:solidFill>
                  <a:schemeClr val="tx1"/>
                </a:solidFill>
                <a:effectLst/>
                <a:latin typeface="+mn-lt"/>
                <a:ea typeface="+mn-ea"/>
                <a:cs typeface="+mn-cs"/>
              </a:rPr>
              <a:t> 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團隊在近年</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Kimi Linear 與 KDA 等新架構研究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對底層技術進行突破時，借鑒並延伸了 LSTM 的核心精神</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pPr lvl="0"/>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a:t>
            </a:r>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lvl="0"/>
            <a:r>
              <a:rPr lang="zh-TW" altLang="zh-TW" sz="1200" b="1" u="none" strike="noStrike" kern="1200" dirty="0">
                <a:solidFill>
                  <a:schemeClr val="tx1"/>
                </a:solidFill>
                <a:effectLst/>
                <a:latin typeface="+mn-lt"/>
                <a:ea typeface="+mn-ea"/>
                <a:cs typeface="+mn-cs"/>
              </a:rPr>
              <a:t>Chinchilla 定律</a:t>
            </a:r>
            <a:r>
              <a:rPr lang="zh-TW" altLang="zh-TW" sz="1200" b="0" u="none" strike="noStrike" kern="1200" dirty="0">
                <a:solidFill>
                  <a:schemeClr val="tx1"/>
                </a:solidFill>
                <a:effectLst/>
                <a:latin typeface="+mn-lt"/>
                <a:ea typeface="+mn-ea"/>
                <a:cs typeface="+mn-cs"/>
              </a:rPr>
              <a:t>：在最優化配置下，</a:t>
            </a:r>
            <a:r>
              <a:rPr lang="zh-TW" altLang="zh-TW" sz="1200" b="1" u="none" strike="noStrike" kern="1200" dirty="0">
                <a:solidFill>
                  <a:schemeClr val="tx1"/>
                </a:solidFill>
                <a:effectLst/>
                <a:latin typeface="+mn-lt"/>
                <a:ea typeface="+mn-ea"/>
                <a:cs typeface="+mn-cs"/>
              </a:rPr>
              <a:t>模型參數量（N）和訓練數據量（D）應該要以 1:1 的比例均等增長</a:t>
            </a:r>
            <a:r>
              <a:rPr lang="zh-TW" altLang="zh-TW" sz="1200" b="0" u="none" strike="noStrike" kern="1200" dirty="0">
                <a:solidFill>
                  <a:schemeClr val="tx1"/>
                </a:solidFill>
                <a:effectLst/>
                <a:latin typeface="+mn-lt"/>
                <a:ea typeface="+mn-ea"/>
                <a:cs typeface="+mn-cs"/>
              </a:rPr>
              <a:t>。粗略換算下來，</a:t>
            </a:r>
            <a:r>
              <a:rPr lang="zh-TW" altLang="zh-TW" sz="1200" b="1" u="none" strike="noStrike" kern="1200" dirty="0">
                <a:solidFill>
                  <a:schemeClr val="tx1"/>
                </a:solidFill>
                <a:effectLst/>
                <a:latin typeface="+mn-lt"/>
                <a:ea typeface="+mn-ea"/>
                <a:cs typeface="+mn-cs"/>
              </a:rPr>
              <a:t>每增加 1 個參數，大約就需要配上 20 個 Token 的數據量。</a:t>
            </a:r>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對後來的 AI 發展有什麼驚人影響？</a:t>
            </a:r>
          </a:p>
          <a:p>
            <a:r>
              <a:rPr lang="zh-TW" altLang="zh-TW" sz="1200" b="0" u="none" strike="noStrike" kern="1200" dirty="0">
                <a:solidFill>
                  <a:schemeClr val="tx1"/>
                </a:solidFill>
                <a:effectLst/>
                <a:latin typeface="+mn-lt"/>
                <a:ea typeface="+mn-ea"/>
                <a:cs typeface="+mn-cs"/>
              </a:rPr>
              <a:t>自從 Chinchilla 縮放定律被驗證後，整個 AI 工業界的風向徹底改變了：</a:t>
            </a:r>
          </a:p>
          <a:p>
            <a:pPr lvl="0"/>
            <a:r>
              <a:rPr lang="zh-TW" altLang="zh-TW" sz="1200" b="1" u="none" strike="noStrike" kern="1200" dirty="0">
                <a:solidFill>
                  <a:schemeClr val="tx1"/>
                </a:solidFill>
                <a:effectLst/>
                <a:latin typeface="+mn-lt"/>
                <a:ea typeface="+mn-ea"/>
                <a:cs typeface="+mn-cs"/>
              </a:rPr>
              <a:t>精簡高效模型的誕生</a:t>
            </a:r>
            <a:r>
              <a:rPr lang="zh-TW" altLang="zh-TW" sz="1200" b="0" u="none" strike="noStrike" kern="1200" dirty="0">
                <a:solidFill>
                  <a:schemeClr val="tx1"/>
                </a:solidFill>
                <a:effectLst/>
                <a:latin typeface="+mn-lt"/>
                <a:ea typeface="+mn-ea"/>
                <a:cs typeface="+mn-cs"/>
              </a:rPr>
              <a:t>：Meta 後來推出的 </a:t>
            </a:r>
            <a:r>
              <a:rPr lang="zh-TW" altLang="zh-TW" sz="1200" b="1" u="none" strike="noStrike" kern="1200" dirty="0">
                <a:solidFill>
                  <a:schemeClr val="tx1"/>
                </a:solidFill>
                <a:effectLst/>
                <a:latin typeface="+mn-lt"/>
                <a:ea typeface="+mn-ea"/>
                <a:cs typeface="+mn-cs"/>
              </a:rPr>
              <a:t>LLaMA</a:t>
            </a:r>
            <a:r>
              <a:rPr lang="zh-TW" altLang="zh-TW" sz="1200" b="0" u="none" strike="noStrike" kern="1200" dirty="0">
                <a:solidFill>
                  <a:schemeClr val="tx1"/>
                </a:solidFill>
                <a:effectLst/>
                <a:latin typeface="+mn-lt"/>
                <a:ea typeface="+mn-ea"/>
                <a:cs typeface="+mn-cs"/>
              </a:rPr>
              <a:t> 系列、法國的 </a:t>
            </a:r>
            <a:r>
              <a:rPr lang="zh-TW" altLang="zh-TW" sz="1200" b="1" u="none" strike="noStrike" kern="1200" dirty="0">
                <a:solidFill>
                  <a:schemeClr val="tx1"/>
                </a:solidFill>
                <a:effectLst/>
                <a:latin typeface="+mn-lt"/>
                <a:ea typeface="+mn-ea"/>
                <a:cs typeface="+mn-cs"/>
              </a:rPr>
              <a:t>Mistral</a:t>
            </a:r>
            <a:r>
              <a:rPr lang="zh-TW" altLang="zh-TW" sz="1200" b="0" u="none" strike="noStrike" kern="1200" dirty="0">
                <a:solidFill>
                  <a:schemeClr val="tx1"/>
                </a:solidFill>
                <a:effectLst/>
                <a:latin typeface="+mn-lt"/>
                <a:ea typeface="+mn-ea"/>
                <a:cs typeface="+mn-cs"/>
              </a:rPr>
              <a:t>、甚至是 Google 的 </a:t>
            </a:r>
            <a:r>
              <a:rPr lang="zh-TW" altLang="zh-TW" sz="1200" b="1" u="none" strike="noStrike" kern="1200" dirty="0">
                <a:solidFill>
                  <a:schemeClr val="tx1"/>
                </a:solidFill>
                <a:effectLst/>
                <a:latin typeface="+mn-lt"/>
                <a:ea typeface="+mn-ea"/>
                <a:cs typeface="+mn-cs"/>
              </a:rPr>
              <a:t>Gemma</a:t>
            </a:r>
            <a:r>
              <a:rPr lang="zh-TW" altLang="zh-TW" sz="1200" b="0" u="none" strike="noStrike" kern="1200" dirty="0">
                <a:solidFill>
                  <a:schemeClr val="tx1"/>
                </a:solidFill>
                <a:effectLst/>
                <a:latin typeface="+mn-lt"/>
                <a:ea typeface="+mn-ea"/>
                <a:cs typeface="+mn-cs"/>
              </a:rPr>
              <a:t>，全都繼承了 Chinchilla 的精神——</a:t>
            </a:r>
            <a:r>
              <a:rPr lang="zh-TW" altLang="zh-TW" sz="1200" b="1" u="none" strike="noStrike" kern="1200" dirty="0">
                <a:solidFill>
                  <a:schemeClr val="tx1"/>
                </a:solidFill>
                <a:effectLst/>
                <a:latin typeface="+mn-lt"/>
                <a:ea typeface="+mn-ea"/>
                <a:cs typeface="+mn-cs"/>
              </a:rPr>
              <a:t>寧可把模型參數控制在 7B、8B、70B，也要瘋狂餵入 2 兆、3 兆甚至 15 兆的 Token 來把模型「訓練到極致」（Overtrained）</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推理成本大幅降低</a:t>
            </a:r>
            <a:r>
              <a:rPr lang="zh-TW" altLang="zh-TW" sz="1200" b="0" u="none" strike="noStrike" kern="1200" dirty="0">
                <a:solidFill>
                  <a:schemeClr val="tx1"/>
                </a:solidFill>
                <a:effectLst/>
                <a:latin typeface="+mn-lt"/>
                <a:ea typeface="+mn-ea"/>
                <a:cs typeface="+mn-cs"/>
              </a:rPr>
              <a:t>：對我們使用者和企業來說，模型體積小，意味著部署在顯示卡上的成本極低、速度極快，這才真正開啟了開源 AI 大爆發的時代。</a:t>
            </a:r>
          </a:p>
          <a:p>
            <a:endParaRPr lang="en-US" altLang="zh-TW" dirty="0"/>
          </a:p>
          <a:p>
            <a:r>
              <a:rPr lang="zh-TW" altLang="zh-TW" sz="1200" b="0" u="none" strike="noStrike" kern="1200" dirty="0">
                <a:solidFill>
                  <a:schemeClr val="tx1"/>
                </a:solidFill>
                <a:effectLst/>
                <a:latin typeface="+mn-lt"/>
                <a:ea typeface="+mn-ea"/>
                <a:cs typeface="+mn-cs"/>
              </a:rPr>
              <a:t>1. 生物領域：絨鼠（俗稱「龍貓」）</a:t>
            </a:r>
          </a:p>
          <a:p>
            <a:r>
              <a:rPr lang="zh-TW" altLang="zh-TW" sz="1200" b="0" u="none" strike="noStrike" kern="1200" dirty="0">
                <a:solidFill>
                  <a:schemeClr val="tx1"/>
                </a:solidFill>
                <a:effectLst/>
                <a:latin typeface="+mn-lt"/>
                <a:ea typeface="+mn-ea"/>
                <a:cs typeface="+mn-cs"/>
              </a:rPr>
              <a:t>在生物學上，Chinchilla 是原產於南美洲安地斯山脈的小型齧齒目哺乳動物，中文正式名稱為</a:t>
            </a:r>
            <a:r>
              <a:rPr lang="zh-TW" altLang="zh-TW" sz="1200" b="1" u="none" strike="noStrike" kern="1200" dirty="0">
                <a:solidFill>
                  <a:schemeClr val="tx1"/>
                </a:solidFill>
                <a:effectLst/>
                <a:latin typeface="+mn-lt"/>
                <a:ea typeface="+mn-ea"/>
                <a:cs typeface="+mn-cs"/>
              </a:rPr>
              <a:t>絨鼠</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毛絲鼠</a:t>
            </a:r>
            <a:r>
              <a:rPr lang="zh-TW" altLang="zh-TW" sz="1200" b="0" u="none" strike="noStrike" kern="1200" dirty="0">
                <a:solidFill>
                  <a:schemeClr val="tx1"/>
                </a:solidFill>
                <a:effectLst/>
                <a:latin typeface="+mn-lt"/>
                <a:ea typeface="+mn-ea"/>
                <a:cs typeface="+mn-cs"/>
              </a:rPr>
              <a:t>或</a:t>
            </a:r>
            <a:r>
              <a:rPr lang="zh-TW" altLang="zh-TW" sz="1200" b="1" u="none" strike="noStrike" kern="1200" dirty="0">
                <a:solidFill>
                  <a:schemeClr val="tx1"/>
                </a:solidFill>
                <a:effectLst/>
                <a:latin typeface="+mn-lt"/>
                <a:ea typeface="+mn-ea"/>
                <a:cs typeface="+mn-cs"/>
              </a:rPr>
              <a:t>栗鼠</a:t>
            </a:r>
            <a:r>
              <a:rPr lang="zh-TW" altLang="zh-TW" sz="1200" b="0" u="none" strike="noStrike" kern="1200" dirty="0">
                <a:solidFill>
                  <a:schemeClr val="tx1"/>
                </a:solidFill>
                <a:effectLst/>
                <a:latin typeface="+mn-lt"/>
                <a:ea typeface="+mn-ea"/>
                <a:cs typeface="+mn-cs"/>
              </a:rPr>
              <a:t>，在華語圈因為外型酷似宮崎駿動畫角色，常被俗稱為「</a:t>
            </a:r>
            <a:r>
              <a:rPr lang="zh-TW" altLang="zh-TW" sz="1200" b="1" u="none" strike="noStrike" kern="1200" dirty="0">
                <a:solidFill>
                  <a:schemeClr val="tx1"/>
                </a:solidFill>
                <a:effectLst/>
                <a:latin typeface="+mn-lt"/>
                <a:ea typeface="+mn-ea"/>
                <a:cs typeface="+mn-cs"/>
              </a:rPr>
              <a:t>龍貓</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陸地上最濃密的毛皮</a:t>
            </a:r>
            <a:r>
              <a:rPr lang="zh-TW" altLang="zh-TW" sz="1200" b="0" u="none" strike="noStrike" kern="1200" dirty="0">
                <a:solidFill>
                  <a:schemeClr val="tx1"/>
                </a:solidFill>
                <a:effectLst/>
                <a:latin typeface="+mn-lt"/>
                <a:ea typeface="+mn-ea"/>
                <a:cs typeface="+mn-cs"/>
              </a:rPr>
              <a:t>：牠們為了在寒冷的高山生存，演化出極其細軟綿密的毛髮，一個毛囊可以長出 60～80 根細毛（人類只有 1 根）。</a:t>
            </a:r>
          </a:p>
          <a:p>
            <a:pPr lvl="0"/>
            <a:r>
              <a:rPr lang="zh-TW" altLang="zh-TW" sz="1200" b="1" u="none" strike="noStrike" kern="1200" dirty="0">
                <a:solidFill>
                  <a:schemeClr val="tx1"/>
                </a:solidFill>
                <a:effectLst/>
                <a:latin typeface="+mn-lt"/>
                <a:ea typeface="+mn-ea"/>
                <a:cs typeface="+mn-cs"/>
              </a:rPr>
              <a:t>不能用水洗澡</a:t>
            </a:r>
            <a:r>
              <a:rPr lang="zh-TW" altLang="zh-TW" sz="1200" b="0" u="none" strike="noStrike" kern="1200" dirty="0">
                <a:solidFill>
                  <a:schemeClr val="tx1"/>
                </a:solidFill>
                <a:effectLst/>
                <a:latin typeface="+mn-lt"/>
                <a:ea typeface="+mn-ea"/>
                <a:cs typeface="+mn-cs"/>
              </a:rPr>
              <a:t>：因為毛髮太密，碰水極難乾且容易發霉感染，牠們必須使用專用的火山灰或細砂進行「砂浴（火山灰洗澡）」來去除皮脂。</a:t>
            </a:r>
          </a:p>
          <a:p>
            <a:pPr lvl="0"/>
            <a:r>
              <a:rPr lang="zh-TW" altLang="zh-TW" sz="1200" b="1" u="none" strike="noStrike" kern="1200" dirty="0">
                <a:solidFill>
                  <a:schemeClr val="tx1"/>
                </a:solidFill>
                <a:effectLst/>
                <a:latin typeface="+mn-lt"/>
                <a:ea typeface="+mn-ea"/>
                <a:cs typeface="+mn-cs"/>
              </a:rPr>
              <a:t>高壽與跳躍力</a:t>
            </a:r>
            <a:r>
              <a:rPr lang="zh-TW" altLang="zh-TW" sz="1200" b="0" u="none" strike="noStrike" kern="1200" dirty="0">
                <a:solidFill>
                  <a:schemeClr val="tx1"/>
                </a:solidFill>
                <a:effectLst/>
                <a:latin typeface="+mn-lt"/>
                <a:ea typeface="+mn-ea"/>
                <a:cs typeface="+mn-cs"/>
              </a:rPr>
              <a:t>：牠們身手極其敏捷，最高可跳躍超過 1.8 公尺，且在人工悉心飼養下壽命可長達 15～20 年。</a:t>
            </a:r>
          </a:p>
          <a:p>
            <a:endParaRPr lang="en-US" altLang="zh-TW" dirty="0"/>
          </a:p>
          <a:p>
            <a:r>
              <a:rPr lang="zh-TW" altLang="zh-TW" sz="1200" b="0" u="none" strike="noStrike" kern="1200" dirty="0">
                <a:solidFill>
                  <a:schemeClr val="tx1"/>
                </a:solidFill>
                <a:effectLst/>
                <a:latin typeface="+mn-lt"/>
                <a:ea typeface="+mn-ea"/>
                <a:cs typeface="+mn-cs"/>
              </a:rPr>
              <a:t>1. 2021 年 12 月：前身 Gopher 發表</a:t>
            </a:r>
          </a:p>
          <a:p>
            <a:r>
              <a:rPr lang="zh-TW" altLang="zh-TW" sz="1200" b="0" u="none" strike="noStrike" kern="1200" dirty="0">
                <a:solidFill>
                  <a:schemeClr val="tx1"/>
                </a:solidFill>
                <a:effectLst/>
                <a:latin typeface="+mn-lt"/>
                <a:ea typeface="+mn-ea"/>
                <a:cs typeface="+mn-cs"/>
              </a:rPr>
              <a:t>Google DeepMind 發表了擁有 2800 億參數的巨型模型 </a:t>
            </a:r>
            <a:r>
              <a:rPr lang="zh-TW" altLang="zh-TW" sz="1200" b="0" u="none" strike="noStrike" kern="1200" dirty="0">
                <a:solidFill>
                  <a:schemeClr val="tx1"/>
                </a:solidFill>
                <a:effectLst/>
                <a:latin typeface="+mn-lt"/>
                <a:ea typeface="+mn-ea"/>
                <a:cs typeface="+mn-cs"/>
                <a:hlinkClick r:id="rId3"/>
              </a:rPr>
              <a:t>Gopher</a:t>
            </a:r>
            <a:r>
              <a:rPr lang="zh-TW" altLang="zh-TW" sz="1200" b="0" u="none" strike="noStrike" kern="1200" dirty="0">
                <a:solidFill>
                  <a:schemeClr val="tx1"/>
                </a:solidFill>
                <a:effectLst/>
                <a:latin typeface="+mn-lt"/>
                <a:ea typeface="+mn-ea"/>
                <a:cs typeface="+mn-cs"/>
              </a:rPr>
              <a:t>。雖然表現優異，但科學家在後續幾個月的成本效益與矩陣分析中，發現了嚴重的「訓練不足」盲點。 </a:t>
            </a:r>
          </a:p>
          <a:p>
            <a:r>
              <a:rPr lang="zh-TW" altLang="zh-TW" sz="1200" b="0" u="none" strike="noStrike" kern="1200" dirty="0">
                <a:solidFill>
                  <a:schemeClr val="tx1"/>
                </a:solidFill>
                <a:effectLst/>
                <a:latin typeface="+mn-lt"/>
                <a:ea typeface="+mn-ea"/>
                <a:cs typeface="+mn-cs"/>
              </a:rPr>
              <a:t>2. 2022 年 3 月 29 日：Chinchilla 正式發表（劃時代的分水嶺）</a:t>
            </a:r>
          </a:p>
          <a:p>
            <a:r>
              <a:rPr lang="zh-TW" altLang="zh-TW" sz="1200" b="0" u="none" strike="noStrike" kern="1200" dirty="0">
                <a:solidFill>
                  <a:schemeClr val="tx1"/>
                </a:solidFill>
                <a:effectLst/>
                <a:latin typeface="+mn-lt"/>
                <a:ea typeface="+mn-ea"/>
                <a:cs typeface="+mn-cs"/>
              </a:rPr>
              <a:t>DeepMind 正式發布了名為《</a:t>
            </a:r>
            <a:r>
              <a:rPr lang="zh-TW" altLang="zh-TW" sz="1200" b="0" u="none" strike="noStrike" kern="1200" dirty="0">
                <a:solidFill>
                  <a:schemeClr val="tx1"/>
                </a:solidFill>
                <a:effectLst/>
                <a:latin typeface="+mn-lt"/>
                <a:ea typeface="+mn-ea"/>
                <a:cs typeface="+mn-cs"/>
                <a:hlinkClick r:id="rId4"/>
              </a:rPr>
              <a:t>Training Compute-Optimal Large Language Models</a:t>
            </a:r>
            <a:r>
              <a:rPr lang="zh-TW" altLang="zh-TW" sz="1200" b="0" u="none" strike="noStrike" kern="1200" dirty="0">
                <a:solidFill>
                  <a:schemeClr val="tx1"/>
                </a:solidFill>
                <a:effectLst/>
                <a:latin typeface="+mn-lt"/>
                <a:ea typeface="+mn-ea"/>
                <a:cs typeface="+mn-cs"/>
              </a:rPr>
              <a:t>》的里程碑論文，正式推出 </a:t>
            </a:r>
            <a:r>
              <a:rPr lang="zh-TW" altLang="zh-TW" sz="1200" b="1" u="none" strike="noStrike" kern="1200" dirty="0">
                <a:solidFill>
                  <a:schemeClr val="tx1"/>
                </a:solidFill>
                <a:effectLst/>
                <a:latin typeface="+mn-lt"/>
                <a:ea typeface="+mn-ea"/>
                <a:cs typeface="+mn-cs"/>
              </a:rPr>
              <a:t>Chinchilla（70B）模型</a:t>
            </a:r>
            <a:r>
              <a:rPr lang="zh-TW" altLang="zh-TW" sz="1200" b="0" u="none" strike="noStrike" kern="1200" dirty="0">
                <a:solidFill>
                  <a:schemeClr val="tx1"/>
                </a:solidFill>
                <a:effectLst/>
                <a:latin typeface="+mn-lt"/>
                <a:ea typeface="+mn-ea"/>
                <a:cs typeface="+mn-cs"/>
              </a:rPr>
              <a:t>並確立了 </a:t>
            </a:r>
            <a:r>
              <a:rPr lang="zh-TW" altLang="zh-TW" sz="1200" b="1" u="none" strike="noStrike" kern="1200" dirty="0">
                <a:solidFill>
                  <a:schemeClr val="tx1"/>
                </a:solidFill>
                <a:effectLst/>
                <a:latin typeface="+mn-lt"/>
                <a:ea typeface="+mn-ea"/>
                <a:cs typeface="+mn-cs"/>
              </a:rPr>
              <a:t>Chinchilla 縮放定律</a:t>
            </a:r>
            <a:r>
              <a:rPr lang="zh-TW" altLang="zh-TW" sz="1200" b="0" u="none" strike="noStrike" kern="1200" dirty="0">
                <a:solidFill>
                  <a:schemeClr val="tx1"/>
                </a:solidFill>
                <a:effectLst/>
                <a:latin typeface="+mn-lt"/>
                <a:ea typeface="+mn-ea"/>
                <a:cs typeface="+mn-cs"/>
              </a:rPr>
              <a:t>。 </a:t>
            </a:r>
          </a:p>
          <a:p>
            <a:r>
              <a:rPr lang="zh-TW" altLang="zh-TW" sz="1200" b="0" u="none" strike="noStrike" kern="1200" dirty="0">
                <a:solidFill>
                  <a:schemeClr val="tx1"/>
                </a:solidFill>
                <a:effectLst/>
                <a:latin typeface="+mn-lt"/>
                <a:ea typeface="+mn-ea"/>
                <a:cs typeface="+mn-cs"/>
              </a:rPr>
              <a:t>3. 2023 年至今：定律的全面實踐與「過度訓練」時代</a:t>
            </a:r>
          </a:p>
          <a:p>
            <a:pPr lvl="0"/>
            <a:r>
              <a:rPr lang="zh-TW" altLang="zh-TW" sz="1200" b="1" u="none" strike="noStrike" kern="1200" dirty="0">
                <a:solidFill>
                  <a:schemeClr val="tx1"/>
                </a:solidFill>
                <a:effectLst/>
                <a:latin typeface="+mn-lt"/>
                <a:ea typeface="+mn-ea"/>
                <a:cs typeface="+mn-cs"/>
              </a:rPr>
              <a:t>2023 年</a:t>
            </a:r>
            <a:r>
              <a:rPr lang="zh-TW" altLang="zh-TW" sz="1200" b="0" u="none" strike="noStrike" kern="1200" dirty="0">
                <a:solidFill>
                  <a:schemeClr val="tx1"/>
                </a:solidFill>
                <a:effectLst/>
                <a:latin typeface="+mn-lt"/>
                <a:ea typeface="+mn-ea"/>
                <a:cs typeface="+mn-cs"/>
              </a:rPr>
              <a:t>：Meta 推出 </a:t>
            </a:r>
            <a:r>
              <a:rPr lang="zh-TW" altLang="zh-TW" sz="1200" b="0" u="none" strike="noStrike" kern="1200" dirty="0">
                <a:solidFill>
                  <a:schemeClr val="tx1"/>
                </a:solidFill>
                <a:effectLst/>
                <a:latin typeface="+mn-lt"/>
                <a:ea typeface="+mn-ea"/>
                <a:cs typeface="+mn-cs"/>
                <a:hlinkClick r:id="rId5"/>
              </a:rPr>
              <a:t>LLaMA 1</a:t>
            </a:r>
            <a:r>
              <a:rPr lang="zh-TW" altLang="zh-TW" sz="1200" b="0" u="none" strike="noStrike" kern="1200" dirty="0">
                <a:solidFill>
                  <a:schemeClr val="tx1"/>
                </a:solidFill>
                <a:effectLst/>
                <a:latin typeface="+mn-lt"/>
                <a:ea typeface="+mn-ea"/>
                <a:cs typeface="+mn-cs"/>
              </a:rPr>
              <a:t> 與 LLaMA 2，正式將 Chinchilla 的精簡高效概念導入開源社群。</a:t>
            </a:r>
          </a:p>
          <a:p>
            <a:pPr lvl="0"/>
            <a:r>
              <a:rPr lang="zh-TW" altLang="zh-TW" sz="1200" b="1" u="none" strike="noStrike" kern="1200" dirty="0">
                <a:solidFill>
                  <a:schemeClr val="tx1"/>
                </a:solidFill>
                <a:effectLst/>
                <a:latin typeface="+mn-lt"/>
                <a:ea typeface="+mn-ea"/>
                <a:cs typeface="+mn-cs"/>
              </a:rPr>
              <a:t>2024 年至 2026 年（現在）</a:t>
            </a:r>
            <a:r>
              <a:rPr lang="zh-TW" altLang="zh-TW" sz="1200" b="0" u="none" strike="noStrike" kern="1200" dirty="0">
                <a:solidFill>
                  <a:schemeClr val="tx1"/>
                </a:solidFill>
                <a:effectLst/>
                <a:latin typeface="+mn-lt"/>
                <a:ea typeface="+mn-ea"/>
                <a:cs typeface="+mn-cs"/>
              </a:rPr>
              <a:t>：工業界更進一步跨越 Chinchilla 的 1:20 天花板。例如 LLaMA 3（8B 參數配 15 兆 Token）將比例推到了接近 </a:t>
            </a:r>
            <a:r>
              <a:rPr lang="zh-TW" altLang="zh-TW" sz="1200" b="1" u="none" strike="noStrike" kern="1200" dirty="0">
                <a:solidFill>
                  <a:schemeClr val="tx1"/>
                </a:solidFill>
                <a:effectLst/>
                <a:latin typeface="+mn-lt"/>
                <a:ea typeface="+mn-ea"/>
                <a:cs typeface="+mn-cs"/>
              </a:rPr>
              <a:t>1:1875</a:t>
            </a:r>
            <a:r>
              <a:rPr lang="zh-TW" altLang="zh-TW" sz="1200" b="0" u="none" strike="noStrike" kern="1200" dirty="0">
                <a:solidFill>
                  <a:schemeClr val="tx1"/>
                </a:solidFill>
                <a:effectLst/>
                <a:latin typeface="+mn-lt"/>
                <a:ea typeface="+mn-ea"/>
                <a:cs typeface="+mn-cs"/>
              </a:rPr>
              <a:t>，開啟了為了極致降低推理成本而瘋狂「過度訓練（Overtraining）」的新技術浪潮。陳章博士在 </a:t>
            </a:r>
            <a:r>
              <a:rPr lang="zh-TW" altLang="zh-TW" sz="1200" b="1" u="none" strike="noStrike" kern="1200" dirty="0">
                <a:solidFill>
                  <a:schemeClr val="tx1"/>
                </a:solidFill>
                <a:effectLst/>
                <a:latin typeface="+mn-lt"/>
                <a:ea typeface="+mn-ea"/>
                <a:cs typeface="+mn-cs"/>
              </a:rPr>
              <a:t>EZ.Encoder Academy</a:t>
            </a:r>
            <a:r>
              <a:rPr lang="zh-TW" altLang="zh-TW" sz="1200" b="0" u="none" strike="noStrike" kern="1200" dirty="0">
                <a:solidFill>
                  <a:schemeClr val="tx1"/>
                </a:solidFill>
                <a:effectLst/>
                <a:latin typeface="+mn-lt"/>
                <a:ea typeface="+mn-ea"/>
                <a:cs typeface="+mn-cs"/>
              </a:rPr>
              <a:t> 的影片中，通常就是以 </a:t>
            </a:r>
            <a:r>
              <a:rPr lang="zh-TW" altLang="zh-TW" sz="1200" b="1" u="none" strike="noStrike" kern="1200" dirty="0">
                <a:solidFill>
                  <a:schemeClr val="tx1"/>
                </a:solidFill>
                <a:effectLst/>
                <a:latin typeface="+mn-lt"/>
                <a:ea typeface="+mn-ea"/>
                <a:cs typeface="+mn-cs"/>
              </a:rPr>
              <a:t>2022 年</a:t>
            </a:r>
            <a:r>
              <a:rPr lang="zh-TW" altLang="zh-TW" sz="1200" b="0" u="none" strike="noStrike" kern="1200" dirty="0">
                <a:solidFill>
                  <a:schemeClr val="tx1"/>
                </a:solidFill>
                <a:effectLst/>
                <a:latin typeface="+mn-lt"/>
                <a:ea typeface="+mn-ea"/>
                <a:cs typeface="+mn-cs"/>
              </a:rPr>
              <a:t> 的這篇 Chinchilla 論文作為分界線，來對比「2022 年前盲目做大」與「2022 年後追求數據高密度」的 AI 發展大轉折。</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325701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77D7E-2791-E92D-99B3-29331390237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1A7B221-803D-EBD0-89EE-BEEF13A615B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762DE49-57CA-6A5A-E457-83C76388DC4F}"/>
              </a:ext>
            </a:extLst>
          </p:cNvPr>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a:extLst>
              <a:ext uri="{FF2B5EF4-FFF2-40B4-BE49-F238E27FC236}">
                <a16:creationId xmlns:a16="http://schemas.microsoft.com/office/drawing/2014/main" id="{91F674A9-7C3F-B629-B0F0-CE5822E8B7D6}"/>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81292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1.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1.png"/><Relationship Id="rId16"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3.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5" Type="http://schemas.openxmlformats.org/officeDocument/2006/relationships/image" Target="../media/image44.png"/><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31.png"/><Relationship Id="rId7" Type="http://schemas.openxmlformats.org/officeDocument/2006/relationships/image" Target="../media/image37.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5.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4.png"/><Relationship Id="rId5" Type="http://schemas.openxmlformats.org/officeDocument/2006/relationships/image" Target="../media/image59.png"/><Relationship Id="rId10" Type="http://schemas.openxmlformats.org/officeDocument/2006/relationships/image" Target="../media/image63.png"/><Relationship Id="rId4" Type="http://schemas.openxmlformats.org/officeDocument/2006/relationships/image" Target="../media/image58.png"/><Relationship Id="rId9" Type="http://schemas.openxmlformats.org/officeDocument/2006/relationships/image" Target="../media/image6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713290"/>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5467350">
              <a:lnSpc>
                <a:spcPts val="400"/>
              </a:lnSpc>
            </a:pPr>
            <a:r>
              <a:rPr lang="zh-TW" altLang="en-US" sz="1000" b="1" dirty="0"/>
              <a:t> </a:t>
            </a:r>
            <a:r>
              <a:rPr lang="en-US" altLang="zh-TW" sz="1000" b="1" dirty="0"/>
              <a:t>	July  2026</a:t>
            </a: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a:t>
            </a:r>
            <a:r>
              <a:rPr lang="zh-TW" altLang="en-US" sz="1200" b="1" dirty="0">
                <a:sym typeface="Wingdings" panose="05000000000000000000" pitchFamily="2" charset="2"/>
              </a:rPr>
              <a:t> </a:t>
            </a:r>
            <a:r>
              <a:rPr lang="en-US" altLang="zh-TW" sz="1200" b="1" dirty="0">
                <a:sym typeface="Wingdings" panose="05000000000000000000" pitchFamily="2" charset="2"/>
              </a:rPr>
              <a:t>Kimi Team	</a:t>
            </a:r>
            <a:r>
              <a:rPr lang="en-US" altLang="zh-TW" sz="1000" dirty="0">
                <a:sym typeface="Wingdings" panose="05000000000000000000" pitchFamily="2" charset="2"/>
              </a:rPr>
              <a:t>	</a:t>
            </a:r>
            <a:r>
              <a:rPr lang="en-US" altLang="zh-TW" sz="1000" dirty="0" err="1">
                <a:sym typeface="Wingdings" panose="05000000000000000000" pitchFamily="2" charset="2"/>
              </a:rPr>
              <a:t>Tongtong</a:t>
            </a:r>
            <a:r>
              <a:rPr lang="en-US" altLang="zh-TW" sz="1000" dirty="0">
                <a:sym typeface="Wingdings" panose="05000000000000000000" pitchFamily="2" charset="2"/>
              </a:rPr>
              <a:t> Bai and 400 other authors</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313180"/>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algn="ctr"/>
            <a:r>
              <a:rPr lang="en-US" altLang="zh-TW" sz="3200" b="1" dirty="0">
                <a:solidFill>
                  <a:schemeClr val="bg1">
                    <a:lumMod val="65000"/>
                  </a:schemeClr>
                </a:solidFill>
              </a:rPr>
              <a:t>Visual Agentic Intelligence</a:t>
            </a:r>
          </a:p>
          <a:p>
            <a:pPr defTabSz="54673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February  2026</a:t>
            </a:r>
          </a:p>
          <a:p>
            <a:pPr indent="541338" defTabSz="7269163">
              <a:tabLst>
                <a:tab pos="2955925" algn="l"/>
                <a:tab pos="5470525" algn="l"/>
              </a:tabLst>
            </a:pPr>
            <a:r>
              <a:rPr lang="en-US" altLang="zh-TW" sz="1200" b="1" dirty="0">
                <a:solidFill>
                  <a:schemeClr val="bg1">
                    <a:lumMod val="50000"/>
                  </a:schemeClr>
                </a:solidFill>
              </a:rPr>
              <a:t> 	</a:t>
            </a:r>
            <a:r>
              <a:rPr lang="en-US" altLang="zh-TW" sz="1200" b="1" dirty="0">
                <a:solidFill>
                  <a:schemeClr val="bg1">
                    <a:lumMod val="50000"/>
                  </a:schemeClr>
                </a:solidFill>
                <a:sym typeface="Wingdings" panose="05000000000000000000" pitchFamily="2" charset="2"/>
              </a:rPr>
              <a:t>Moonshot Kimi Team 	</a:t>
            </a: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850247"/>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2CAD1-8507-9886-51B1-A666941BA121}"/>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9E9524A1-5728-0389-B76D-B76D05DA4637}"/>
              </a:ext>
            </a:extLst>
          </p:cNvPr>
          <p:cNvSpPr txBox="1"/>
          <p:nvPr/>
        </p:nvSpPr>
        <p:spPr>
          <a:xfrm>
            <a:off x="179512" y="1447616"/>
            <a:ext cx="7992888" cy="1477328"/>
          </a:xfrm>
          <a:prstGeom prst="rect">
            <a:avLst/>
          </a:prstGeom>
          <a:noFill/>
        </p:spPr>
        <p:txBody>
          <a:bodyPr wrap="square">
            <a:spAutoFit/>
          </a:bodyPr>
          <a:lstStyle/>
          <a:p>
            <a:pPr>
              <a:lnSpc>
                <a:spcPts val="1800"/>
              </a:lnSpc>
              <a:spcBef>
                <a:spcPts val="600"/>
              </a:spcBef>
              <a:spcAft>
                <a:spcPts val="600"/>
              </a:spcAft>
            </a:pPr>
            <a:r>
              <a:rPr lang="en-US" altLang="zh-TW" sz="2000" b="1" dirty="0"/>
              <a:t>An RNN is simply an FCN with a</a:t>
            </a:r>
            <a:r>
              <a:rPr lang="zh-TW" altLang="en-US" sz="2000" b="1" dirty="0"/>
              <a:t> </a:t>
            </a:r>
            <a:r>
              <a:rPr lang="en-US" altLang="zh-TW" sz="2000" b="1" dirty="0"/>
              <a:t>temporal memory loop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FCN</a:t>
            </a:r>
            <a:r>
              <a:rPr lang="en-US" altLang="zh-TW" sz="1600" dirty="0"/>
              <a:t>: Fully Connection Network.</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LSA</a:t>
            </a:r>
            <a:r>
              <a:rPr lang="en-US" altLang="zh-TW" sz="1600" u="none" strike="noStrike" dirty="0">
                <a:effectLst/>
              </a:rPr>
              <a:t>: Latent semantic analysis </a:t>
            </a:r>
            <a:r>
              <a:rPr lang="en-US" altLang="zh-TW" sz="1600" u="none" strike="noStrike" dirty="0">
                <a:effectLst/>
                <a:sym typeface="Wingdings" panose="05000000000000000000" pitchFamily="2" charset="2"/>
              </a:rPr>
              <a:t> LDA  </a:t>
            </a:r>
            <a:endParaRPr lang="en-US" altLang="zh-TW" sz="160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dirty="0" err="1"/>
              <a:t>pLSA</a:t>
            </a:r>
            <a:r>
              <a:rPr lang="en-US" altLang="zh-TW" sz="1600" dirty="0"/>
              <a:t>: LDA.</a:t>
            </a:r>
          </a:p>
        </p:txBody>
      </p:sp>
      <p:sp>
        <p:nvSpPr>
          <p:cNvPr id="11" name="標題 1">
            <a:extLst>
              <a:ext uri="{FF2B5EF4-FFF2-40B4-BE49-F238E27FC236}">
                <a16:creationId xmlns:a16="http://schemas.microsoft.com/office/drawing/2014/main" id="{18284B0B-93FC-DFA6-2CC8-F67455FF7187}"/>
              </a:ext>
            </a:extLst>
          </p:cNvPr>
          <p:cNvSpPr txBox="1">
            <a:spLocks/>
          </p:cNvSpPr>
          <p:nvPr/>
        </p:nvSpPr>
        <p:spPr>
          <a:xfrm>
            <a:off x="179512" y="116632"/>
            <a:ext cx="8856984"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ecurrent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eural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RNN is simply an FCN(Fully Connection NN) with a temporal memory loop.</a:t>
            </a:r>
          </a:p>
        </p:txBody>
      </p:sp>
      <p:sp>
        <p:nvSpPr>
          <p:cNvPr id="111" name="文字方塊 110">
            <a:extLst>
              <a:ext uri="{FF2B5EF4-FFF2-40B4-BE49-F238E27FC236}">
                <a16:creationId xmlns:a16="http://schemas.microsoft.com/office/drawing/2014/main" id="{5B934F34-585C-6669-7CC4-CE328B45ABF8}"/>
              </a:ext>
            </a:extLst>
          </p:cNvPr>
          <p:cNvSpPr txBox="1"/>
          <p:nvPr/>
        </p:nvSpPr>
        <p:spPr>
          <a:xfrm>
            <a:off x="1399859" y="4786191"/>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CC6169BB-285E-EDB3-6344-B8208C2C9611}"/>
              </a:ext>
            </a:extLst>
          </p:cNvPr>
          <p:cNvGraphicFramePr>
            <a:graphicFrameLocks noGrp="1"/>
          </p:cNvGraphicFramePr>
          <p:nvPr>
            <p:extLst>
              <p:ext uri="{D42A27DB-BD31-4B8C-83A1-F6EECF244321}">
                <p14:modId xmlns:p14="http://schemas.microsoft.com/office/powerpoint/2010/main" val="64919338"/>
              </p:ext>
            </p:extLst>
          </p:nvPr>
        </p:nvGraphicFramePr>
        <p:xfrm>
          <a:off x="3016227" y="4426290"/>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8" name="文字方塊 7">
            <a:extLst>
              <a:ext uri="{FF2B5EF4-FFF2-40B4-BE49-F238E27FC236}">
                <a16:creationId xmlns:a16="http://schemas.microsoft.com/office/drawing/2014/main" id="{99BBD11D-7E3B-48DD-DF53-6501A8604960}"/>
              </a:ext>
            </a:extLst>
          </p:cNvPr>
          <p:cNvSpPr txBox="1"/>
          <p:nvPr/>
        </p:nvSpPr>
        <p:spPr>
          <a:xfrm>
            <a:off x="821811" y="3809991"/>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pic>
        <p:nvPicPr>
          <p:cNvPr id="20" name="圖片 19">
            <a:extLst>
              <a:ext uri="{FF2B5EF4-FFF2-40B4-BE49-F238E27FC236}">
                <a16:creationId xmlns:a16="http://schemas.microsoft.com/office/drawing/2014/main" id="{CE3E1628-182E-8997-D5C4-ECDCF581F249}"/>
              </a:ext>
            </a:extLst>
          </p:cNvPr>
          <p:cNvPicPr>
            <a:picLocks noChangeAspect="1"/>
          </p:cNvPicPr>
          <p:nvPr/>
        </p:nvPicPr>
        <p:blipFill>
          <a:blip r:embed="rId3"/>
          <a:stretch>
            <a:fillRect/>
          </a:stretch>
        </p:blipFill>
        <p:spPr>
          <a:xfrm>
            <a:off x="4252656" y="3809991"/>
            <a:ext cx="4099125" cy="2360260"/>
          </a:xfrm>
          <a:prstGeom prst="rect">
            <a:avLst/>
          </a:prstGeom>
        </p:spPr>
      </p:pic>
    </p:spTree>
    <p:extLst>
      <p:ext uri="{BB962C8B-B14F-4D97-AF65-F5344CB8AC3E}">
        <p14:creationId xmlns:p14="http://schemas.microsoft.com/office/powerpoint/2010/main" val="37004583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8721352" cy="1477328"/>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8" name="圖片 7">
            <a:extLst>
              <a:ext uri="{FF2B5EF4-FFF2-40B4-BE49-F238E27FC236}">
                <a16:creationId xmlns:a16="http://schemas.microsoft.com/office/drawing/2014/main" id="{169773E7-B30A-794E-28AC-8FD1CB0E3323}"/>
              </a:ext>
            </a:extLst>
          </p:cNvPr>
          <p:cNvPicPr>
            <a:picLocks noChangeAspect="1"/>
          </p:cNvPicPr>
          <p:nvPr/>
        </p:nvPicPr>
        <p:blipFill>
          <a:blip r:embed="rId3"/>
          <a:stretch>
            <a:fillRect/>
          </a:stretch>
        </p:blipFill>
        <p:spPr>
          <a:xfrm>
            <a:off x="6660232" y="44624"/>
            <a:ext cx="2412268" cy="2880320"/>
          </a:xfrm>
          <a:prstGeom prst="rect">
            <a:avLst/>
          </a:prstGeom>
        </p:spPr>
      </p:pic>
      <p:pic>
        <p:nvPicPr>
          <p:cNvPr id="20" name="圖片 19">
            <a:extLst>
              <a:ext uri="{FF2B5EF4-FFF2-40B4-BE49-F238E27FC236}">
                <a16:creationId xmlns:a16="http://schemas.microsoft.com/office/drawing/2014/main" id="{EA6D820A-9145-B84E-0551-974ECABF6384}"/>
              </a:ext>
            </a:extLst>
          </p:cNvPr>
          <p:cNvPicPr>
            <a:picLocks noChangeAspect="1"/>
          </p:cNvPicPr>
          <p:nvPr/>
        </p:nvPicPr>
        <p:blipFill>
          <a:blip r:embed="rId4"/>
          <a:stretch>
            <a:fillRect/>
          </a:stretch>
        </p:blipFill>
        <p:spPr>
          <a:xfrm>
            <a:off x="283493" y="2945184"/>
            <a:ext cx="6808787" cy="3563339"/>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23217-625E-805F-5AEB-67F8FBD9E70C}"/>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12200328-F543-0FFF-9CEC-73F749406B50}"/>
              </a:ext>
            </a:extLst>
          </p:cNvPr>
          <p:cNvSpPr txBox="1"/>
          <p:nvPr/>
        </p:nvSpPr>
        <p:spPr>
          <a:xfrm>
            <a:off x="899592" y="947302"/>
            <a:ext cx="2664296" cy="1473586"/>
          </a:xfrm>
          <a:prstGeom prst="rect">
            <a:avLst/>
          </a:prstGeom>
          <a:solidFill>
            <a:srgbClr val="FEC203">
              <a:alpha val="40000"/>
            </a:srgbClr>
          </a:solidFill>
          <a:ln w="15875">
            <a:solidFill>
              <a:schemeClr val="bg1">
                <a:lumMod val="65000"/>
              </a:schemeClr>
            </a:solidFill>
          </a:ln>
        </p:spPr>
        <p:txBody>
          <a:bodyPr wrap="none" lIns="0" tIns="18288" rIns="0" bIns="0" anchor="t"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LSTM Memory Cell</a:t>
            </a:r>
          </a:p>
        </p:txBody>
      </p:sp>
      <p:sp>
        <p:nvSpPr>
          <p:cNvPr id="100" name="文字方塊 99">
            <a:extLst>
              <a:ext uri="{FF2B5EF4-FFF2-40B4-BE49-F238E27FC236}">
                <a16:creationId xmlns:a16="http://schemas.microsoft.com/office/drawing/2014/main" id="{068B1AC4-1D4A-0E7B-6991-41083D30C0F0}"/>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06ABD774-6A1D-EFFF-A1FB-05FEF4238262}"/>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5C00DBFB-4EE6-2BD2-AC77-1593E82FD52C}"/>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5C9E2D2A-C2E9-8210-B437-9A4DC26146A7}"/>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C1A6C5B2-083E-5F60-62AD-39D3D058A654}"/>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FC6E02AE-7229-E5CA-8217-64EE8B5FA96A}"/>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797DB904-DE44-6CCE-20E2-23B451A0EE91}"/>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ABB1FFFE-8A62-292A-9DC8-40526C0EE43D}"/>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31FB7D69-604B-BAD7-055D-8362D8471E69}"/>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69492AF6-68A8-7483-E082-F9118B3C1DA9}"/>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F35B03DF-C661-E7F4-132F-B3954CEC0E6A}"/>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E625F811-10EE-A736-270A-F307424E81CD}"/>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C6F17E19-E804-BF89-0930-EB1457F4E72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4AEAC62-A051-C385-365D-BA63201F89C2}"/>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08767653-CF05-F52D-0116-607BA1CF251E}"/>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BA0F4A55-06D6-1B6B-BBC9-2EB74CC463CA}"/>
              </a:ext>
            </a:extLst>
          </p:cNvPr>
          <p:cNvSpPr txBox="1"/>
          <p:nvPr/>
        </p:nvSpPr>
        <p:spPr>
          <a:xfrm>
            <a:off x="6119882" y="3489920"/>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874CF8E5-3026-F7AE-B806-0F8445829B06}"/>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B3698059-07ED-BC5D-78EA-D67B9CD843E5}"/>
              </a:ext>
            </a:extLst>
          </p:cNvPr>
          <p:cNvSpPr txBox="1"/>
          <p:nvPr/>
        </p:nvSpPr>
        <p:spPr>
          <a:xfrm>
            <a:off x="423730" y="2911048"/>
            <a:ext cx="762724" cy="517951"/>
          </a:xfrm>
          <a:prstGeom prst="rect">
            <a:avLst/>
          </a:prstGeom>
          <a:noFill/>
          <a:ln w="15875">
            <a:noFill/>
          </a:ln>
        </p:spPr>
        <p:txBody>
          <a:bodyPr wrap="none" lIns="0" tIns="0" rIns="0" bIns="0" anchor="ctr" anchorCtr="1">
            <a:noAutofit/>
          </a:bodyPr>
          <a:lstStyle/>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Hyperbolic</a:t>
            </a:r>
          </a:p>
          <a:p>
            <a:pPr algn="ctr">
              <a:lnSpc>
                <a:spcPts val="12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Tangent</a:t>
            </a:r>
          </a:p>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Function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C3D8C5D0-B31D-8C57-F8BC-9FA0DDDFD2DF}"/>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39C5AEEC-B235-C7C0-7865-04F87FBF5CA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5" name="直線單箭頭接點 24">
            <a:extLst>
              <a:ext uri="{FF2B5EF4-FFF2-40B4-BE49-F238E27FC236}">
                <a16:creationId xmlns:a16="http://schemas.microsoft.com/office/drawing/2014/main" id="{3C0182C2-37AA-8C62-9D0E-C4B1A5BF94B1}"/>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1E5DA509-B255-A4F2-F267-C83B2CE3052B}"/>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6FD8331D-1572-0AD4-2103-AAEDEEAA04FC}"/>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E0483849-D7DC-431A-1B52-57F228AE6EA6}"/>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CD6E85D7-AE92-4AD0-4986-1C8C1EDA47DD}"/>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B13320E2-99BC-252A-016B-ECD56C232498}"/>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1DB39A2A-57D1-33FD-6721-26FDE2F27EFF}"/>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8351ACD9-669B-C8B6-C2B5-B93E4E5CFC35}"/>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31D06E7-DC9D-E210-3CAC-52B5DC0227FD}"/>
              </a:ext>
            </a:extLst>
          </p:cNvPr>
          <p:cNvCxnSpPr>
            <a:cxnSpLocks/>
            <a:stCxn id="14" idx="0"/>
            <a:endCxn id="13" idx="2"/>
          </p:cNvCxnSpPr>
          <p:nvPr/>
        </p:nvCxnSpPr>
        <p:spPr>
          <a:xfrm flipV="1">
            <a:off x="6695946" y="3334388"/>
            <a:ext cx="245882" cy="1555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D80B795B-47F3-2DE8-C9BB-4BABAA455F8B}"/>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EA3386DC-00AE-9700-5760-C55E6411DC06}"/>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5F1DB198-B8B2-90EB-DDB3-303794112C26}"/>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2E01AFC0-1264-6AB6-8213-A8062A689522}"/>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BEAD8D78-7F2D-8CAC-41CF-D2C63C70AEB9}"/>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4E18B4D0-18B6-D36E-B92D-A99DFF9A3A96}"/>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22" name="圖形 21" descr="使用者 外框">
            <a:extLst>
              <a:ext uri="{FF2B5EF4-FFF2-40B4-BE49-F238E27FC236}">
                <a16:creationId xmlns:a16="http://schemas.microsoft.com/office/drawing/2014/main" id="{7F2E2D3F-C058-8BDD-F0B9-53CE6D831EB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60AEE403-B0C0-681C-F446-ECF031FD751E}"/>
              </a:ext>
            </a:extLst>
          </p:cNvPr>
          <p:cNvPicPr>
            <a:picLocks noChangeAspect="1"/>
          </p:cNvPicPr>
          <p:nvPr/>
        </p:nvPicPr>
        <p:blipFill>
          <a:blip r:embed="rId4"/>
          <a:stretch>
            <a:fillRect/>
          </a:stretch>
        </p:blipFill>
        <p:spPr>
          <a:xfrm>
            <a:off x="61064" y="3766931"/>
            <a:ext cx="4436729" cy="2626846"/>
          </a:xfrm>
          <a:prstGeom prst="rect">
            <a:avLst/>
          </a:prstGeom>
        </p:spPr>
      </p:pic>
      <p:sp>
        <p:nvSpPr>
          <p:cNvPr id="92" name="文字方塊 91">
            <a:extLst>
              <a:ext uri="{FF2B5EF4-FFF2-40B4-BE49-F238E27FC236}">
                <a16:creationId xmlns:a16="http://schemas.microsoft.com/office/drawing/2014/main" id="{3B7CFB88-4432-804D-D91E-55B20A946B6A}"/>
              </a:ext>
            </a:extLst>
          </p:cNvPr>
          <p:cNvSpPr txBox="1"/>
          <p:nvPr/>
        </p:nvSpPr>
        <p:spPr>
          <a:xfrm>
            <a:off x="1023042" y="1204970"/>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Forget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文字方塊 25">
            <a:extLst>
              <a:ext uri="{FF2B5EF4-FFF2-40B4-BE49-F238E27FC236}">
                <a16:creationId xmlns:a16="http://schemas.microsoft.com/office/drawing/2014/main" id="{4622BC11-D7B6-AEAA-43B9-D44111A21737}"/>
              </a:ext>
            </a:extLst>
          </p:cNvPr>
          <p:cNvSpPr txBox="1"/>
          <p:nvPr/>
        </p:nvSpPr>
        <p:spPr>
          <a:xfrm>
            <a:off x="1726748" y="1204970"/>
            <a:ext cx="973892"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Input</a:t>
            </a:r>
            <a:r>
              <a:rPr lang="zh-TW" altLang="en-US" sz="1000"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1" name="文字方塊 30">
            <a:extLst>
              <a:ext uri="{FF2B5EF4-FFF2-40B4-BE49-F238E27FC236}">
                <a16:creationId xmlns:a16="http://schemas.microsoft.com/office/drawing/2014/main" id="{51BEF5BC-506C-BAA4-21B5-F70E94D4FF1F}"/>
              </a:ext>
            </a:extLst>
          </p:cNvPr>
          <p:cNvSpPr txBox="1"/>
          <p:nvPr/>
        </p:nvSpPr>
        <p:spPr>
          <a:xfrm>
            <a:off x="2911624" y="1196752"/>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Output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橢圓 32">
            <a:extLst>
              <a:ext uri="{FF2B5EF4-FFF2-40B4-BE49-F238E27FC236}">
                <a16:creationId xmlns:a16="http://schemas.microsoft.com/office/drawing/2014/main" id="{7A7A9FE4-3CA5-0521-13AB-0B6CB004D617}"/>
              </a:ext>
            </a:extLst>
          </p:cNvPr>
          <p:cNvSpPr/>
          <p:nvPr/>
        </p:nvSpPr>
        <p:spPr>
          <a:xfrm>
            <a:off x="1241008" y="14809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sp>
        <p:nvSpPr>
          <p:cNvPr id="39" name="文字方塊 38">
            <a:extLst>
              <a:ext uri="{FF2B5EF4-FFF2-40B4-BE49-F238E27FC236}">
                <a16:creationId xmlns:a16="http://schemas.microsoft.com/office/drawing/2014/main" id="{E9FE29A2-DA20-679A-1C26-83E93D55A60F}"/>
              </a:ext>
            </a:extLst>
          </p:cNvPr>
          <p:cNvSpPr txBox="1"/>
          <p:nvPr/>
        </p:nvSpPr>
        <p:spPr>
          <a:xfrm>
            <a:off x="1238732"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50" name="直線單箭頭接點 49">
            <a:extLst>
              <a:ext uri="{FF2B5EF4-FFF2-40B4-BE49-F238E27FC236}">
                <a16:creationId xmlns:a16="http://schemas.microsoft.com/office/drawing/2014/main" id="{01B6C39D-DEFC-BEBA-3AFF-9A8AE6F8AD09}"/>
              </a:ext>
            </a:extLst>
          </p:cNvPr>
          <p:cNvCxnSpPr>
            <a:cxnSpLocks/>
            <a:stCxn id="39" idx="0"/>
            <a:endCxn id="33" idx="4"/>
          </p:cNvCxnSpPr>
          <p:nvPr/>
        </p:nvCxnSpPr>
        <p:spPr>
          <a:xfrm flipV="1">
            <a:off x="1314932" y="1624990"/>
            <a:ext cx="2276" cy="435858"/>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8" name="文字方塊 47">
            <a:extLst>
              <a:ext uri="{FF2B5EF4-FFF2-40B4-BE49-F238E27FC236}">
                <a16:creationId xmlns:a16="http://schemas.microsoft.com/office/drawing/2014/main" id="{AB8889CD-C78C-A5A0-D303-EF8C6E09336F}"/>
              </a:ext>
            </a:extLst>
          </p:cNvPr>
          <p:cNvSpPr txBox="1"/>
          <p:nvPr/>
        </p:nvSpPr>
        <p:spPr>
          <a:xfrm>
            <a:off x="1899320"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1" name="文字方塊 50">
            <a:extLst>
              <a:ext uri="{FF2B5EF4-FFF2-40B4-BE49-F238E27FC236}">
                <a16:creationId xmlns:a16="http://schemas.microsoft.com/office/drawing/2014/main" id="{1A732318-4D7E-87B0-D821-EC6E083EB099}"/>
              </a:ext>
            </a:extLst>
          </p:cNvPr>
          <p:cNvSpPr txBox="1"/>
          <p:nvPr/>
        </p:nvSpPr>
        <p:spPr>
          <a:xfrm>
            <a:off x="2195333" y="2124732"/>
            <a:ext cx="432451" cy="121776"/>
          </a:xfrm>
          <a:prstGeom prst="rect">
            <a:avLst/>
          </a:prstGeom>
          <a:noFill/>
          <a:ln w="3175">
            <a:noFill/>
          </a:ln>
        </p:spPr>
        <p:txBody>
          <a:bodyPr wrap="none" lIns="0" tIns="0" rIns="0" bIns="0" anchor="ctr" anchorCtr="1">
            <a:noAutofit/>
          </a:bodyPr>
          <a:lstStyle/>
          <a:p>
            <a:pPr algn="ctr">
              <a:lnSpc>
                <a:spcPts val="2000"/>
              </a:lnSpc>
              <a:buNone/>
            </a:pPr>
            <a:r>
              <a:rPr lang="en-US" altLang="zh-TW" sz="1400" u="none" strike="noStrike" dirty="0">
                <a:effectLst/>
                <a:latin typeface="ADLaM Display" panose="02010000000000000000" pitchFamily="2" charset="0"/>
                <a:ea typeface="ADLaM Display" panose="02010000000000000000" pitchFamily="2" charset="0"/>
                <a:cs typeface="ADLaM Display" panose="02010000000000000000" pitchFamily="2" charset="0"/>
              </a:rPr>
              <a:t>tanh</a:t>
            </a:r>
          </a:p>
        </p:txBody>
      </p:sp>
      <p:sp>
        <p:nvSpPr>
          <p:cNvPr id="55" name="文字方塊 54">
            <a:extLst>
              <a:ext uri="{FF2B5EF4-FFF2-40B4-BE49-F238E27FC236}">
                <a16:creationId xmlns:a16="http://schemas.microsoft.com/office/drawing/2014/main" id="{3200B7B1-C3E2-407B-B6D2-74D42CFAE87E}"/>
              </a:ext>
            </a:extLst>
          </p:cNvPr>
          <p:cNvSpPr txBox="1"/>
          <p:nvPr/>
        </p:nvSpPr>
        <p:spPr>
          <a:xfrm>
            <a:off x="3140164"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0" name="橢圓 19">
            <a:extLst>
              <a:ext uri="{FF2B5EF4-FFF2-40B4-BE49-F238E27FC236}">
                <a16:creationId xmlns:a16="http://schemas.microsoft.com/office/drawing/2014/main" id="{0305871E-B55F-FEB4-5354-3C955255ED17}"/>
              </a:ext>
            </a:extLst>
          </p:cNvPr>
          <p:cNvSpPr/>
          <p:nvPr/>
        </p:nvSpPr>
        <p:spPr>
          <a:xfrm>
            <a:off x="2340893" y="148478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2000"/>
              </a:lnSpc>
            </a:pPr>
            <a:r>
              <a:rPr lang="en-US" altLang="zh-TW"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dirty="0">
              <a:solidFill>
                <a:schemeClr val="tx1"/>
              </a:solidFill>
            </a:endParaRPr>
          </a:p>
        </p:txBody>
      </p:sp>
      <p:sp>
        <p:nvSpPr>
          <p:cNvPr id="58" name="橢圓 57">
            <a:extLst>
              <a:ext uri="{FF2B5EF4-FFF2-40B4-BE49-F238E27FC236}">
                <a16:creationId xmlns:a16="http://schemas.microsoft.com/office/drawing/2014/main" id="{C62D1443-FDAD-41D8-E71D-4F1C4FF88C78}"/>
              </a:ext>
            </a:extLst>
          </p:cNvPr>
          <p:cNvSpPr/>
          <p:nvPr/>
        </p:nvSpPr>
        <p:spPr>
          <a:xfrm>
            <a:off x="2339446" y="1810916"/>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cxnSp>
        <p:nvCxnSpPr>
          <p:cNvPr id="59" name="直線單箭頭接點 58">
            <a:extLst>
              <a:ext uri="{FF2B5EF4-FFF2-40B4-BE49-F238E27FC236}">
                <a16:creationId xmlns:a16="http://schemas.microsoft.com/office/drawing/2014/main" id="{230AB2D2-2E3B-10D0-7E7B-56F180A3BFBC}"/>
              </a:ext>
            </a:extLst>
          </p:cNvPr>
          <p:cNvCxnSpPr>
            <a:cxnSpLocks/>
            <a:stCxn id="51" idx="0"/>
            <a:endCxn id="58" idx="4"/>
          </p:cNvCxnSpPr>
          <p:nvPr/>
        </p:nvCxnSpPr>
        <p:spPr>
          <a:xfrm flipV="1">
            <a:off x="2411559" y="1954932"/>
            <a:ext cx="4087" cy="169800"/>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線單箭頭接點 63">
            <a:extLst>
              <a:ext uri="{FF2B5EF4-FFF2-40B4-BE49-F238E27FC236}">
                <a16:creationId xmlns:a16="http://schemas.microsoft.com/office/drawing/2014/main" id="{F5C052F5-CA49-3CC7-324D-8A1237AD62C5}"/>
              </a:ext>
            </a:extLst>
          </p:cNvPr>
          <p:cNvCxnSpPr>
            <a:cxnSpLocks/>
            <a:stCxn id="58" idx="0"/>
            <a:endCxn id="20" idx="4"/>
          </p:cNvCxnSpPr>
          <p:nvPr/>
        </p:nvCxnSpPr>
        <p:spPr>
          <a:xfrm flipV="1">
            <a:off x="2415646" y="1628800"/>
            <a:ext cx="1447" cy="182116"/>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接點: 肘形 22">
            <a:extLst>
              <a:ext uri="{FF2B5EF4-FFF2-40B4-BE49-F238E27FC236}">
                <a16:creationId xmlns:a16="http://schemas.microsoft.com/office/drawing/2014/main" id="{FB5C4BBF-079F-0ED7-1300-8A84B44C9232}"/>
              </a:ext>
            </a:extLst>
          </p:cNvPr>
          <p:cNvCxnSpPr>
            <a:cxnSpLocks/>
            <a:stCxn id="48" idx="0"/>
            <a:endCxn id="58" idx="2"/>
          </p:cNvCxnSpPr>
          <p:nvPr/>
        </p:nvCxnSpPr>
        <p:spPr>
          <a:xfrm rot="5400000" flipH="1" flipV="1">
            <a:off x="2068521" y="1789923"/>
            <a:ext cx="177924" cy="363926"/>
          </a:xfrm>
          <a:prstGeom prst="bentConnector2">
            <a:avLst/>
          </a:prstGeom>
          <a:ln w="19050">
            <a:solidFill>
              <a:schemeClr val="tx1"/>
            </a:solidFill>
            <a:headEnd type="none" w="sm" len="sm"/>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75958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6382641" cy="3829584"/>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179512" y="3933056"/>
            <a:ext cx="5496692" cy="1276528"/>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184845" y="5313056"/>
            <a:ext cx="5944430" cy="1343212"/>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2904254" y="201757"/>
            <a:ext cx="6239746" cy="1571844"/>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3762900" y="1877073"/>
            <a:ext cx="5239481" cy="1352739"/>
          </a:xfrm>
          <a:prstGeom prst="rect">
            <a:avLst/>
          </a:prstGeom>
        </p:spPr>
      </p:pic>
      <p:sp>
        <p:nvSpPr>
          <p:cNvPr id="15" name="文字方塊 14">
            <a:extLst>
              <a:ext uri="{FF2B5EF4-FFF2-40B4-BE49-F238E27FC236}">
                <a16:creationId xmlns:a16="http://schemas.microsoft.com/office/drawing/2014/main" id="{08DA9942-5A75-91F2-0080-CBB4DCE111B0}"/>
              </a:ext>
            </a:extLst>
          </p:cNvPr>
          <p:cNvSpPr txBox="1"/>
          <p:nvPr/>
        </p:nvSpPr>
        <p:spPr>
          <a:xfrm>
            <a:off x="6684565" y="4101698"/>
            <a:ext cx="2342149" cy="2554545"/>
          </a:xfrm>
          <a:prstGeom prst="rect">
            <a:avLst/>
          </a:prstGeom>
          <a:noFill/>
        </p:spPr>
        <p:txBody>
          <a:bodyPr wrap="square">
            <a:spAutoFit/>
          </a:bodyPr>
          <a:lstStyle/>
          <a:p>
            <a:pPr>
              <a:lnSpc>
                <a:spcPts val="1200"/>
              </a:lnSpc>
            </a:pPr>
            <a:r>
              <a:rPr lang="zh-TW" altLang="en-US" sz="10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000" dirty="0">
                <a:latin typeface="微軟正黑體" panose="020B0604030504040204" pitchFamily="34" charset="-120"/>
                <a:ea typeface="微軟正黑體" panose="020B0604030504040204" pitchFamily="34" charset="-120"/>
              </a:rPr>
              <a:t>從上述的「作法」中你可以發現，計算第 </a:t>
            </a:r>
            <a:r>
              <a:rPr lang="en-US" altLang="zh-TW" sz="1000" dirty="0">
                <a:latin typeface="微軟正黑體" panose="020B0604030504040204" pitchFamily="34" charset="-120"/>
                <a:ea typeface="微軟正黑體" panose="020B0604030504040204" pitchFamily="34" charset="-120"/>
              </a:rPr>
              <a:t>2 </a:t>
            </a:r>
            <a:r>
              <a:rPr lang="zh-TW" altLang="en-US" sz="1000" dirty="0">
                <a:latin typeface="微軟正黑體" panose="020B0604030504040204" pitchFamily="34" charset="-120"/>
                <a:ea typeface="微軟正黑體" panose="020B0604030504040204" pitchFamily="34" charset="-120"/>
              </a:rPr>
              <a:t>個字時，公式裡必須代入上一步的 </a:t>
            </a:r>
            <a:r>
              <a:rPr lang="en-US" altLang="zh-TW" sz="1000" dirty="0">
                <a:latin typeface="微軟正黑體" panose="020B0604030504040204" pitchFamily="34" charset="-120"/>
                <a:ea typeface="微軟正黑體" panose="020B0604030504040204" pitchFamily="34" charset="-120"/>
              </a:rPr>
              <a:t>h{t-1} </a:t>
            </a:r>
            <a:r>
              <a:rPr lang="zh-TW" altLang="en-US" sz="1000" dirty="0">
                <a:latin typeface="微軟正黑體" panose="020B0604030504040204" pitchFamily="34" charset="-120"/>
                <a:ea typeface="微軟正黑體" panose="020B0604030504040204" pitchFamily="34" charset="-120"/>
              </a:rPr>
              <a:t>和 </a:t>
            </a:r>
            <a:r>
              <a:rPr lang="en-US" altLang="zh-TW" sz="1000" dirty="0">
                <a:latin typeface="微軟正黑體" panose="020B0604030504040204" pitchFamily="34" charset="-120"/>
                <a:ea typeface="微軟正黑體" panose="020B0604030504040204" pitchFamily="34" charset="-120"/>
              </a:rPr>
              <a:t>C_{t-1}</a:t>
            </a:r>
            <a:r>
              <a:rPr lang="zh-TW" altLang="en-US" sz="1000" dirty="0">
                <a:latin typeface="微軟正黑體" panose="020B0604030504040204" pitchFamily="34" charset="-120"/>
                <a:ea typeface="微軟正黑體" panose="020B0604030504040204" pitchFamily="34" charset="-120"/>
              </a:rPr>
              <a:t>。</a:t>
            </a:r>
            <a:br>
              <a:rPr lang="zh-TW" altLang="en-US" sz="1000" dirty="0">
                <a:latin typeface="微軟正黑體" panose="020B0604030504040204" pitchFamily="34" charset="-120"/>
                <a:ea typeface="微軟正黑體" panose="020B0604030504040204" pitchFamily="34" charset="-120"/>
              </a:rPr>
            </a:br>
            <a:r>
              <a:rPr lang="zh-TW" altLang="en-US" sz="1000" dirty="0">
                <a:latin typeface="微軟正黑體" panose="020B0604030504040204" pitchFamily="34" charset="-120"/>
                <a:ea typeface="微軟正黑體" panose="020B0604030504040204" pitchFamily="34" charset="-120"/>
              </a:rPr>
              <a:t>這意味著：</a:t>
            </a:r>
          </a:p>
          <a:p>
            <a:pPr>
              <a:lnSpc>
                <a:spcPts val="1200"/>
              </a:lnSpc>
            </a:pPr>
            <a:r>
              <a:rPr lang="zh-TW" altLang="en-US" sz="1000" dirty="0">
                <a:latin typeface="微軟正黑體" panose="020B0604030504040204" pitchFamily="34" charset="-120"/>
                <a:ea typeface="微軟正黑體" panose="020B0604030504040204" pitchFamily="34" charset="-120"/>
              </a:rPr>
              <a:t>你無法同時計算第 </a:t>
            </a:r>
            <a:r>
              <a:rPr lang="en-US" altLang="zh-TW" sz="1000" dirty="0">
                <a:latin typeface="微軟正黑體" panose="020B0604030504040204" pitchFamily="34" charset="-120"/>
                <a:ea typeface="微軟正黑體" panose="020B0604030504040204" pitchFamily="34" charset="-120"/>
              </a:rPr>
              <a:t>1 </a:t>
            </a:r>
            <a:r>
              <a:rPr lang="zh-TW" altLang="en-US" sz="1000" dirty="0">
                <a:latin typeface="微軟正黑體" panose="020B0604030504040204" pitchFamily="34" charset="-120"/>
                <a:ea typeface="微軟正黑體" panose="020B0604030504040204" pitchFamily="34" charset="-120"/>
              </a:rPr>
              <a:t>個字和第 </a:t>
            </a:r>
            <a:r>
              <a:rPr lang="en-US" altLang="zh-TW" sz="1000" dirty="0">
                <a:latin typeface="微軟正黑體" panose="020B0604030504040204" pitchFamily="34" charset="-120"/>
                <a:ea typeface="微軟正黑體" panose="020B0604030504040204" pitchFamily="34" charset="-120"/>
              </a:rPr>
              <a:t>100 </a:t>
            </a:r>
            <a:r>
              <a:rPr lang="zh-TW" altLang="en-US" sz="1000" dirty="0">
                <a:latin typeface="微軟正黑體" panose="020B0604030504040204" pitchFamily="34" charset="-120"/>
                <a:ea typeface="微軟正黑體" panose="020B0604030504040204" pitchFamily="34" charset="-120"/>
              </a:rPr>
              <a:t>個字。</a:t>
            </a:r>
          </a:p>
          <a:p>
            <a:pPr>
              <a:lnSpc>
                <a:spcPts val="1200"/>
              </a:lnSpc>
            </a:pPr>
            <a:r>
              <a:rPr lang="zh-TW" altLang="en-US" sz="1000" dirty="0">
                <a:latin typeface="微軟正黑體" panose="020B0604030504040204" pitchFamily="34" charset="-120"/>
                <a:ea typeface="微軟正黑體" panose="020B0604030504040204" pitchFamily="34" charset="-120"/>
              </a:rPr>
              <a:t>顯示卡（</a:t>
            </a:r>
            <a:r>
              <a:rPr lang="en-US" altLang="zh-TW" sz="1000" dirty="0">
                <a:latin typeface="微軟正黑體" panose="020B0604030504040204" pitchFamily="34" charset="-120"/>
                <a:ea typeface="微軟正黑體" panose="020B0604030504040204" pitchFamily="34" charset="-120"/>
              </a:rPr>
              <a:t>GPU</a:t>
            </a:r>
            <a:r>
              <a:rPr lang="zh-TW" altLang="en-US" sz="1000" dirty="0">
                <a:latin typeface="微軟正黑體" panose="020B0604030504040204" pitchFamily="34" charset="-120"/>
                <a:ea typeface="微軟正黑體" panose="020B0604030504040204" pitchFamily="34" charset="-120"/>
              </a:rPr>
              <a:t>）有幾千個核心可以並行運算，但在跑 </a:t>
            </a:r>
            <a:r>
              <a:rPr lang="en-US" altLang="zh-TW" sz="1000" dirty="0">
                <a:latin typeface="微軟正黑體" panose="020B0604030504040204" pitchFamily="34" charset="-120"/>
                <a:ea typeface="微軟正黑體" panose="020B0604030504040204" pitchFamily="34" charset="-120"/>
              </a:rPr>
              <a:t>LSTM </a:t>
            </a:r>
            <a:r>
              <a:rPr lang="zh-TW" altLang="en-US" sz="10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000" dirty="0">
                <a:latin typeface="微軟正黑體" panose="020B0604030504040204" pitchFamily="34" charset="-120"/>
                <a:ea typeface="微軟正黑體" panose="020B0604030504040204" pitchFamily="34" charset="-120"/>
              </a:rPr>
              <a:t>這也是為什麼當前 </a:t>
            </a:r>
            <a:r>
              <a:rPr lang="en-US" altLang="zh-TW" sz="1000" dirty="0">
                <a:latin typeface="微軟正黑體" panose="020B0604030504040204" pitchFamily="34" charset="-120"/>
                <a:ea typeface="微軟正黑體" panose="020B0604030504040204" pitchFamily="34" charset="-120"/>
              </a:rPr>
              <a:t>AI </a:t>
            </a:r>
            <a:r>
              <a:rPr lang="zh-TW" altLang="en-US" sz="1000" dirty="0">
                <a:latin typeface="微軟正黑體" panose="020B0604030504040204" pitchFamily="34" charset="-120"/>
                <a:ea typeface="微軟正黑體" panose="020B0604030504040204" pitchFamily="34" charset="-120"/>
              </a:rPr>
              <a:t>業界全面轉向 </a:t>
            </a:r>
            <a:r>
              <a:rPr lang="en-US" altLang="zh-TW" sz="1000" dirty="0">
                <a:latin typeface="微軟正黑體" panose="020B0604030504040204" pitchFamily="34" charset="-120"/>
                <a:ea typeface="微軟正黑體" panose="020B0604030504040204" pitchFamily="34" charset="-120"/>
              </a:rPr>
              <a:t>Transformer</a:t>
            </a:r>
            <a:r>
              <a:rPr lang="zh-TW" altLang="en-US" sz="1000" dirty="0">
                <a:latin typeface="微軟正黑體" panose="020B0604030504040204" pitchFamily="34" charset="-120"/>
                <a:ea typeface="微軟正黑體" panose="020B0604030504040204" pitchFamily="34" charset="-120"/>
              </a:rPr>
              <a:t>，因為 </a:t>
            </a:r>
            <a:r>
              <a:rPr lang="en-US" altLang="zh-TW" sz="1000" dirty="0">
                <a:latin typeface="微軟正黑體" panose="020B0604030504040204" pitchFamily="34" charset="-120"/>
                <a:ea typeface="微軟正黑體" panose="020B0604030504040204" pitchFamily="34" charset="-120"/>
              </a:rPr>
              <a:t>Transformer </a:t>
            </a:r>
            <a:r>
              <a:rPr lang="zh-TW" altLang="en-US" sz="1000" dirty="0">
                <a:latin typeface="微軟正黑體" panose="020B0604030504040204" pitchFamily="34" charset="-120"/>
                <a:ea typeface="微軟正黑體" panose="020B0604030504040204" pitchFamily="34" charset="-120"/>
              </a:rPr>
              <a:t>的作法是把所有字一次全部丟進去算（</a:t>
            </a:r>
            <a:r>
              <a:rPr lang="en-US" altLang="zh-TW" sz="1000" dirty="0">
                <a:latin typeface="微軟正黑體" panose="020B0604030504040204" pitchFamily="34" charset="-120"/>
                <a:ea typeface="微軟正黑體" panose="020B0604030504040204" pitchFamily="34" charset="-120"/>
              </a:rPr>
              <a:t>Self-Attention</a:t>
            </a:r>
            <a:r>
              <a:rPr lang="zh-TW" altLang="en-US" sz="1000" dirty="0">
                <a:latin typeface="微軟正黑體" panose="020B0604030504040204" pitchFamily="34" charset="-120"/>
                <a:ea typeface="微軟正黑體" panose="020B0604030504040204" pitchFamily="34" charset="-120"/>
              </a:rPr>
              <a:t>），徹底解放了 </a:t>
            </a:r>
            <a:r>
              <a:rPr lang="en-US" altLang="zh-TW" sz="1000" dirty="0">
                <a:latin typeface="微軟正黑體" panose="020B0604030504040204" pitchFamily="34" charset="-120"/>
                <a:ea typeface="微軟正黑體" panose="020B0604030504040204" pitchFamily="34" charset="-120"/>
              </a:rPr>
              <a:t>GPU </a:t>
            </a:r>
            <a:r>
              <a:rPr lang="zh-TW" altLang="en-US" sz="1000" dirty="0">
                <a:latin typeface="微軟正黑體" panose="020B0604030504040204" pitchFamily="34" charset="-120"/>
                <a:ea typeface="微軟正黑體" panose="020B0604030504040204" pitchFamily="34" charset="-120"/>
              </a:rPr>
              <a:t>的並行算力。</a:t>
            </a:r>
          </a:p>
        </p:txBody>
      </p:sp>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pic>
        <p:nvPicPr>
          <p:cNvPr id="3" name="圖片 2">
            <a:extLst>
              <a:ext uri="{FF2B5EF4-FFF2-40B4-BE49-F238E27FC236}">
                <a16:creationId xmlns:a16="http://schemas.microsoft.com/office/drawing/2014/main" id="{2F35AD2E-ABB4-9F25-94C4-94B8A15A67CE}"/>
              </a:ext>
            </a:extLst>
          </p:cNvPr>
          <p:cNvPicPr>
            <a:picLocks noChangeAspect="1"/>
          </p:cNvPicPr>
          <p:nvPr/>
        </p:nvPicPr>
        <p:blipFill>
          <a:blip r:embed="rId5"/>
          <a:stretch>
            <a:fillRect/>
          </a:stretch>
        </p:blipFill>
        <p:spPr>
          <a:xfrm>
            <a:off x="1793042" y="116632"/>
            <a:ext cx="7308304" cy="2682172"/>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Model performance scales predictably with computing power, parameters, and data size.</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E0FC2-98C8-DE7F-80C7-6FE956573D8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CD152267-BEB6-4217-23CE-D0B8CA573F29}"/>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Chinchilla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 achieve optimal performance, the ratio of model parameters to training tokens must be maintained at a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1:20</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balance.</a:t>
            </a:r>
          </a:p>
        </p:txBody>
      </p:sp>
      <p:sp>
        <p:nvSpPr>
          <p:cNvPr id="3" name="文字方塊 2">
            <a:extLst>
              <a:ext uri="{FF2B5EF4-FFF2-40B4-BE49-F238E27FC236}">
                <a16:creationId xmlns:a16="http://schemas.microsoft.com/office/drawing/2014/main" id="{FA3440C9-814C-1D07-72DD-59A3180D0919}"/>
              </a:ext>
            </a:extLst>
          </p:cNvPr>
          <p:cNvSpPr txBox="1"/>
          <p:nvPr/>
        </p:nvSpPr>
        <p:spPr>
          <a:xfrm>
            <a:off x="2286000" y="1997839"/>
            <a:ext cx="4572000" cy="2862322"/>
          </a:xfrm>
          <a:prstGeom prst="rect">
            <a:avLst/>
          </a:prstGeom>
          <a:noFill/>
        </p:spPr>
        <p:txBody>
          <a:bodyPr wrap="square">
            <a:spAutoFit/>
          </a:bodyPr>
          <a:lstStyle/>
          <a:p>
            <a:r>
              <a:rPr lang="zh-TW" altLang="zh-TW" sz="1200" b="0" u="none" strike="noStrike" kern="1200" dirty="0">
                <a:solidFill>
                  <a:schemeClr val="tx1"/>
                </a:solidFill>
                <a:effectLst/>
                <a:latin typeface="+mn-lt"/>
                <a:ea typeface="+mn-ea"/>
                <a:cs typeface="+mn-cs"/>
              </a:rPr>
              <a:t>2. Chinchilla 戳破的「盲目大模型迷思」</a:t>
            </a:r>
          </a:p>
          <a:p>
            <a:r>
              <a:rPr lang="zh-TW" altLang="zh-TW" sz="1200" b="0" u="none" strike="noStrike" kern="1200" dirty="0">
                <a:solidFill>
                  <a:schemeClr val="tx1"/>
                </a:solidFill>
                <a:effectLst/>
                <a:latin typeface="+mn-lt"/>
                <a:ea typeface="+mn-ea"/>
                <a:cs typeface="+mn-cs"/>
              </a:rPr>
              <a:t>在 Chinchilla 出現之前（2020~2021年），以 OpenAI 的 </a:t>
            </a:r>
            <a:r>
              <a:rPr lang="zh-TW" altLang="zh-TW" sz="1200" b="1" u="none" strike="noStrike" kern="1200" dirty="0">
                <a:solidFill>
                  <a:schemeClr val="tx1"/>
                </a:solidFill>
                <a:effectLst/>
                <a:latin typeface="+mn-lt"/>
                <a:ea typeface="+mn-ea"/>
                <a:cs typeface="+mn-cs"/>
              </a:rPr>
              <a:t>GPT-3（1750億參數）</a:t>
            </a:r>
            <a:r>
              <a:rPr lang="zh-TW" altLang="zh-TW" sz="1200" b="0" u="none" strike="noStrike" kern="1200" dirty="0">
                <a:solidFill>
                  <a:schemeClr val="tx1"/>
                </a:solidFill>
                <a:effectLst/>
                <a:latin typeface="+mn-lt"/>
                <a:ea typeface="+mn-ea"/>
                <a:cs typeface="+mn-cs"/>
              </a:rPr>
              <a:t> 為首，全世界的科技巨頭都陷入了「參數軍備競賽」，認為參數越多模型越強。</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但 DeepMind 團隊做了一個實驗：他們做了一個只有 </a:t>
            </a:r>
            <a:r>
              <a:rPr lang="zh-TW" altLang="zh-TW" sz="1200" b="1" u="none" strike="noStrike" kern="1200" dirty="0">
                <a:solidFill>
                  <a:schemeClr val="tx1"/>
                </a:solidFill>
                <a:effectLst/>
                <a:latin typeface="+mn-lt"/>
                <a:ea typeface="+mn-ea"/>
                <a:cs typeface="+mn-cs"/>
              </a:rPr>
              <a:t>700 億參數（70B）</a:t>
            </a:r>
            <a:r>
              <a:rPr lang="zh-TW" altLang="zh-TW" sz="1200" b="0" u="none" strike="noStrike" kern="1200" dirty="0">
                <a:solidFill>
                  <a:schemeClr val="tx1"/>
                </a:solidFill>
                <a:effectLst/>
                <a:latin typeface="+mn-lt"/>
                <a:ea typeface="+mn-ea"/>
                <a:cs typeface="+mn-cs"/>
              </a:rPr>
              <a:t> 的模型，命名為 </a:t>
            </a:r>
            <a:r>
              <a:rPr lang="zh-TW" altLang="zh-TW" sz="1200" b="1" u="none" strike="noStrike" kern="1200" dirty="0">
                <a:solidFill>
                  <a:schemeClr val="tx1"/>
                </a:solidFill>
                <a:effectLst/>
                <a:latin typeface="+mn-lt"/>
                <a:ea typeface="+mn-ea"/>
                <a:cs typeface="+mn-cs"/>
              </a:rPr>
              <a:t>Chinchilla</a:t>
            </a:r>
            <a:r>
              <a:rPr lang="zh-TW" altLang="zh-TW" sz="1200" b="0" u="none" strike="noStrike" kern="1200" dirty="0">
                <a:solidFill>
                  <a:schemeClr val="tx1"/>
                </a:solidFill>
                <a:effectLst/>
                <a:latin typeface="+mn-lt"/>
                <a:ea typeface="+mn-ea"/>
                <a:cs typeface="+mn-cs"/>
              </a:rPr>
              <a:t>，卻餵給它高達 </a:t>
            </a:r>
            <a:r>
              <a:rPr lang="zh-TW" altLang="zh-TW" sz="1200" b="1" u="none" strike="noStrike" kern="1200" dirty="0">
                <a:solidFill>
                  <a:schemeClr val="tx1"/>
                </a:solidFill>
                <a:effectLst/>
                <a:latin typeface="+mn-lt"/>
                <a:ea typeface="+mn-ea"/>
                <a:cs typeface="+mn-cs"/>
              </a:rPr>
              <a:t>1.4 兆（1.4T）個 Token</a:t>
            </a:r>
            <a:r>
              <a:rPr lang="zh-TW" altLang="zh-TW" sz="1200" b="0" u="none" strike="noStrike" kern="1200" dirty="0">
                <a:solidFill>
                  <a:schemeClr val="tx1"/>
                </a:solidFill>
                <a:effectLst/>
                <a:latin typeface="+mn-lt"/>
                <a:ea typeface="+mn-ea"/>
                <a:cs typeface="+mn-cs"/>
              </a:rPr>
              <a:t> 的數據。</a:t>
            </a:r>
          </a:p>
          <a:p>
            <a:r>
              <a:rPr lang="zh-TW" altLang="zh-TW" sz="1200" b="0" u="none" strike="noStrike" kern="1200" dirty="0">
                <a:solidFill>
                  <a:schemeClr val="tx1"/>
                </a:solidFill>
                <a:effectLst/>
                <a:latin typeface="+mn-lt"/>
                <a:ea typeface="+mn-ea"/>
                <a:cs typeface="+mn-cs"/>
              </a:rPr>
              <a:t>結果震驚了整個 AI 界：</a:t>
            </a:r>
            <a:r>
              <a:rPr lang="zh-TW" altLang="zh-TW" sz="1200" b="1" u="none" strike="noStrike" kern="1200" dirty="0">
                <a:solidFill>
                  <a:schemeClr val="tx1"/>
                </a:solidFill>
                <a:effectLst/>
                <a:latin typeface="+mn-lt"/>
                <a:ea typeface="+mn-ea"/>
                <a:cs typeface="+mn-cs"/>
              </a:rPr>
              <a:t>只有 GPT-3 不到一半體積的 Chinchilla，在各項下游任務的表現上，完爆了 GPT-3。</a:t>
            </a:r>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3. 陳章博士必講的 Chinchilla 核心技術結論</a:t>
            </a:r>
          </a:p>
          <a:p>
            <a:r>
              <a:rPr lang="zh-TW" altLang="zh-TW" sz="1200" b="0" u="none" strike="noStrike" kern="1200" dirty="0">
                <a:solidFill>
                  <a:schemeClr val="tx1"/>
                </a:solidFill>
                <a:effectLst/>
                <a:latin typeface="+mn-lt"/>
                <a:ea typeface="+mn-ea"/>
                <a:cs typeface="+mn-cs"/>
              </a:rPr>
              <a:t>這篇論文推導出了大模型訓練的</a:t>
            </a:r>
            <a:r>
              <a:rPr lang="zh-TW" altLang="zh-TW" sz="1200" b="1" u="none" strike="noStrike" kern="1200" dirty="0">
                <a:solidFill>
                  <a:schemeClr val="tx1"/>
                </a:solidFill>
                <a:effectLst/>
                <a:latin typeface="+mn-lt"/>
                <a:ea typeface="+mn-ea"/>
                <a:cs typeface="+mn-cs"/>
              </a:rPr>
              <a:t>「黃金比例」</a:t>
            </a:r>
            <a:r>
              <a:rPr lang="zh-TW" altLang="zh-TW" sz="1200" b="0" u="none" strike="noStrike" kern="1200" dirty="0">
                <a:solidFill>
                  <a:schemeClr val="tx1"/>
                </a:solidFill>
                <a:effectLst/>
                <a:latin typeface="+mn-lt"/>
                <a:ea typeface="+mn-ea"/>
                <a:cs typeface="+mn-cs"/>
              </a:rPr>
              <a:t>（也就是所謂的 Chinchilla Optimal）：</a:t>
            </a:r>
          </a:p>
          <a:p>
            <a:pPr lvl="0"/>
            <a:r>
              <a:rPr lang="zh-TW" altLang="zh-TW" sz="1200" b="1" u="none" strike="noStrike" kern="1200" dirty="0">
                <a:solidFill>
                  <a:schemeClr val="tx1"/>
                </a:solidFill>
                <a:effectLst/>
                <a:latin typeface="+mn-lt"/>
                <a:ea typeface="+mn-ea"/>
                <a:cs typeface="+mn-cs"/>
              </a:rPr>
              <a:t>以前的錯誤</a:t>
            </a:r>
            <a:r>
              <a:rPr lang="zh-TW" altLang="zh-TW" sz="1200" b="0" u="none" strike="noStrike" kern="1200" dirty="0">
                <a:solidFill>
                  <a:schemeClr val="tx1"/>
                </a:solidFill>
                <a:effectLst/>
                <a:latin typeface="+mn-lt"/>
                <a:ea typeface="+mn-ea"/>
                <a:cs typeface="+mn-cs"/>
              </a:rPr>
              <a:t>：大家把預算（計算資源）都拿去加大模型參數，結果數據沒給夠，導致模型就像「一個空有極高智商，卻沒讀過幾本書的神童」，嚴重</a:t>
            </a:r>
            <a:r>
              <a:rPr lang="zh-TW" altLang="zh-TW" sz="1200" b="1" u="none" strike="noStrike" kern="1200" dirty="0">
                <a:solidFill>
                  <a:schemeClr val="tx1"/>
                </a:solidFill>
                <a:effectLst/>
                <a:latin typeface="+mn-lt"/>
                <a:ea typeface="+mn-ea"/>
                <a:cs typeface="+mn-cs"/>
              </a:rPr>
              <a:t>訓練不足（Undertrained）</a:t>
            </a:r>
            <a:r>
              <a:rPr lang="zh-TW" altLang="zh-TW" sz="1200" b="0" u="none" strike="noStrike"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37342159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79481" y="183631"/>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Chinchilla vs Gopher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
        <p:nvSpPr>
          <p:cNvPr id="15" name="文字方塊 14">
            <a:extLst>
              <a:ext uri="{FF2B5EF4-FFF2-40B4-BE49-F238E27FC236}">
                <a16:creationId xmlns:a16="http://schemas.microsoft.com/office/drawing/2014/main" id="{1B588763-430B-C125-9DA4-C1F7BDB448EC}"/>
              </a:ext>
            </a:extLst>
          </p:cNvPr>
          <p:cNvSpPr txBox="1"/>
          <p:nvPr/>
        </p:nvSpPr>
        <p:spPr>
          <a:xfrm>
            <a:off x="970249"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3995936"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48234" y="515719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970249" y="5805669"/>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26627" y="5805669"/>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6968930" y="580536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 name="圖片 2">
            <a:extLst>
              <a:ext uri="{FF2B5EF4-FFF2-40B4-BE49-F238E27FC236}">
                <a16:creationId xmlns:a16="http://schemas.microsoft.com/office/drawing/2014/main" id="{354338D5-7A2C-DB90-BF1A-5592822F49A7}"/>
              </a:ext>
            </a:extLst>
          </p:cNvPr>
          <p:cNvPicPr>
            <a:picLocks noChangeAspect="1"/>
          </p:cNvPicPr>
          <p:nvPr/>
        </p:nvPicPr>
        <p:blipFill>
          <a:blip r:embed="rId3"/>
          <a:stretch>
            <a:fillRect/>
          </a:stretch>
        </p:blipFill>
        <p:spPr>
          <a:xfrm>
            <a:off x="1187624" y="3406899"/>
            <a:ext cx="1003708" cy="512735"/>
          </a:xfrm>
          <a:prstGeom prst="rect">
            <a:avLst/>
          </a:prstGeom>
        </p:spPr>
      </p:pic>
      <p:pic>
        <p:nvPicPr>
          <p:cNvPr id="6" name="圖片 5">
            <a:extLst>
              <a:ext uri="{FF2B5EF4-FFF2-40B4-BE49-F238E27FC236}">
                <a16:creationId xmlns:a16="http://schemas.microsoft.com/office/drawing/2014/main" id="{11F0CC11-3AED-41A3-2C0A-ADDCDBD6FF36}"/>
              </a:ext>
            </a:extLst>
          </p:cNvPr>
          <p:cNvPicPr>
            <a:picLocks noChangeAspect="1"/>
          </p:cNvPicPr>
          <p:nvPr/>
        </p:nvPicPr>
        <p:blipFill>
          <a:blip r:embed="rId4"/>
          <a:stretch>
            <a:fillRect/>
          </a:stretch>
        </p:blipFill>
        <p:spPr>
          <a:xfrm>
            <a:off x="2770918" y="1890194"/>
            <a:ext cx="1729074" cy="2673890"/>
          </a:xfrm>
          <a:prstGeom prst="rect">
            <a:avLst/>
          </a:prstGeom>
        </p:spPr>
      </p:pic>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5CB22-1859-5418-A024-B02613379408}"/>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1DBFEE4A-2DE6-B44F-2D6F-381571861501}"/>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
        <p:nvSpPr>
          <p:cNvPr id="23" name="文字方塊 22">
            <a:extLst>
              <a:ext uri="{FF2B5EF4-FFF2-40B4-BE49-F238E27FC236}">
                <a16:creationId xmlns:a16="http://schemas.microsoft.com/office/drawing/2014/main" id="{72FA3108-675D-2B5E-78A6-661E33360DBA}"/>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1E33A60B-24AD-C70E-A334-5AD54554A99B}"/>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355F8500-ABAB-4083-9344-481DEFE29259}"/>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F73B008-214A-9210-717A-17191E92BF0B}"/>
              </a:ext>
            </a:extLst>
          </p:cNvPr>
          <p:cNvPicPr>
            <a:picLocks noChangeAspect="1"/>
          </p:cNvPicPr>
          <p:nvPr/>
        </p:nvPicPr>
        <p:blipFill>
          <a:blip r:embed="rId3"/>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AB332303-82CC-F2E4-674C-BD6C78AD0185}"/>
              </a:ext>
            </a:extLst>
          </p:cNvPr>
          <p:cNvPicPr>
            <a:picLocks noChangeAspect="1"/>
          </p:cNvPicPr>
          <p:nvPr/>
        </p:nvPicPr>
        <p:blipFill>
          <a:blip r:embed="rId4"/>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7FA6E037-8645-449A-D7DC-C190F56339DD}"/>
              </a:ext>
            </a:extLst>
          </p:cNvPr>
          <p:cNvPicPr>
            <a:picLocks noChangeAspect="1"/>
          </p:cNvPicPr>
          <p:nvPr/>
        </p:nvPicPr>
        <p:blipFill>
          <a:blip r:embed="rId5"/>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B49743B1-6170-FB2D-4D5A-8ABA5C7C5D5E}"/>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6AECD8F4-A129-EF89-8F70-4B3FAD464901}"/>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5E32688D-D67D-4B09-234C-FBF5ACCD7665}"/>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9867171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A62AFD0E-C1ED-8EF9-8931-FE992ECFE360}"/>
              </a:ext>
            </a:extLst>
          </p:cNvPr>
          <p:cNvPicPr>
            <a:picLocks noChangeAspect="1"/>
          </p:cNvPicPr>
          <p:nvPr/>
        </p:nvPicPr>
        <p:blipFill>
          <a:blip r:embed="rId2"/>
          <a:stretch>
            <a:fillRect/>
          </a:stretch>
        </p:blipFill>
        <p:spPr>
          <a:xfrm>
            <a:off x="6480959" y="909286"/>
            <a:ext cx="2652796" cy="3167786"/>
          </a:xfrm>
          <a:prstGeom prst="rect">
            <a:avLst/>
          </a:prstGeom>
        </p:spPr>
      </p:pic>
      <p:pic>
        <p:nvPicPr>
          <p:cNvPr id="5" name="圖片 4">
            <a:extLst>
              <a:ext uri="{FF2B5EF4-FFF2-40B4-BE49-F238E27FC236}">
                <a16:creationId xmlns:a16="http://schemas.microsoft.com/office/drawing/2014/main" id="{A3528C1D-E092-82D2-3C40-0A205A29EAC1}"/>
              </a:ext>
            </a:extLst>
          </p:cNvPr>
          <p:cNvPicPr>
            <a:picLocks noChangeAspect="1"/>
          </p:cNvPicPr>
          <p:nvPr/>
        </p:nvPicPr>
        <p:blipFill>
          <a:blip r:embed="rId3"/>
          <a:stretch>
            <a:fillRect/>
          </a:stretch>
        </p:blipFill>
        <p:spPr>
          <a:xfrm>
            <a:off x="539553" y="692696"/>
            <a:ext cx="5182086" cy="2027773"/>
          </a:xfrm>
          <a:prstGeom prst="rect">
            <a:avLst/>
          </a:prstGeom>
        </p:spPr>
      </p:pic>
      <p:pic>
        <p:nvPicPr>
          <p:cNvPr id="7" name="圖片 6">
            <a:extLst>
              <a:ext uri="{FF2B5EF4-FFF2-40B4-BE49-F238E27FC236}">
                <a16:creationId xmlns:a16="http://schemas.microsoft.com/office/drawing/2014/main" id="{01371016-9EE6-C53F-CA8E-A255B222469D}"/>
              </a:ext>
            </a:extLst>
          </p:cNvPr>
          <p:cNvPicPr>
            <a:picLocks noChangeAspect="1"/>
          </p:cNvPicPr>
          <p:nvPr/>
        </p:nvPicPr>
        <p:blipFill>
          <a:blip r:embed="rId4"/>
          <a:stretch>
            <a:fillRect/>
          </a:stretch>
        </p:blipFill>
        <p:spPr>
          <a:xfrm>
            <a:off x="323528" y="4110842"/>
            <a:ext cx="4608512" cy="735631"/>
          </a:xfrm>
          <a:prstGeom prst="rect">
            <a:avLst/>
          </a:prstGeom>
        </p:spPr>
      </p:pic>
      <p:pic>
        <p:nvPicPr>
          <p:cNvPr id="9" name="圖片 8">
            <a:extLst>
              <a:ext uri="{FF2B5EF4-FFF2-40B4-BE49-F238E27FC236}">
                <a16:creationId xmlns:a16="http://schemas.microsoft.com/office/drawing/2014/main" id="{1578BD67-A721-1F6B-11BD-E62D94B9368A}"/>
              </a:ext>
            </a:extLst>
          </p:cNvPr>
          <p:cNvPicPr>
            <a:picLocks noChangeAspect="1"/>
          </p:cNvPicPr>
          <p:nvPr/>
        </p:nvPicPr>
        <p:blipFill>
          <a:blip r:embed="rId5"/>
          <a:stretch>
            <a:fillRect/>
          </a:stretch>
        </p:blipFill>
        <p:spPr>
          <a:xfrm>
            <a:off x="1115616" y="3361453"/>
            <a:ext cx="1936839" cy="715619"/>
          </a:xfrm>
          <a:prstGeom prst="rect">
            <a:avLst/>
          </a:prstGeom>
        </p:spPr>
      </p:pic>
    </p:spTree>
    <p:extLst>
      <p:ext uri="{BB962C8B-B14F-4D97-AF65-F5344CB8AC3E}">
        <p14:creationId xmlns:p14="http://schemas.microsoft.com/office/powerpoint/2010/main" val="3776902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pic>
        <p:nvPicPr>
          <p:cNvPr id="3" name="圖片 2">
            <a:extLst>
              <a:ext uri="{FF2B5EF4-FFF2-40B4-BE49-F238E27FC236}">
                <a16:creationId xmlns:a16="http://schemas.microsoft.com/office/drawing/2014/main" id="{6DD31490-34C9-88AB-BC5D-2B5A1DAE6804}"/>
              </a:ext>
            </a:extLst>
          </p:cNvPr>
          <p:cNvPicPr>
            <a:picLocks noChangeAspect="1"/>
          </p:cNvPicPr>
          <p:nvPr/>
        </p:nvPicPr>
        <p:blipFill>
          <a:blip r:embed="rId2"/>
          <a:stretch>
            <a:fillRect/>
          </a:stretch>
        </p:blipFill>
        <p:spPr>
          <a:xfrm>
            <a:off x="0" y="1124744"/>
            <a:ext cx="3920761" cy="2167605"/>
          </a:xfrm>
          <a:prstGeom prst="rect">
            <a:avLst/>
          </a:prstGeom>
        </p:spPr>
      </p:pic>
      <p:pic>
        <p:nvPicPr>
          <p:cNvPr id="6" name="圖片 5">
            <a:extLst>
              <a:ext uri="{FF2B5EF4-FFF2-40B4-BE49-F238E27FC236}">
                <a16:creationId xmlns:a16="http://schemas.microsoft.com/office/drawing/2014/main" id="{27B08812-6FDF-E638-B897-C816AAA52387}"/>
              </a:ext>
            </a:extLst>
          </p:cNvPr>
          <p:cNvPicPr>
            <a:picLocks noChangeAspect="1"/>
          </p:cNvPicPr>
          <p:nvPr/>
        </p:nvPicPr>
        <p:blipFill>
          <a:blip r:embed="rId3"/>
          <a:stretch>
            <a:fillRect/>
          </a:stretch>
        </p:blipFill>
        <p:spPr>
          <a:xfrm>
            <a:off x="827584" y="3269397"/>
            <a:ext cx="2453030" cy="938344"/>
          </a:xfrm>
          <a:prstGeom prst="rect">
            <a:avLst/>
          </a:prstGeom>
        </p:spPr>
      </p:pic>
      <p:pic>
        <p:nvPicPr>
          <p:cNvPr id="8" name="圖片 7">
            <a:extLst>
              <a:ext uri="{FF2B5EF4-FFF2-40B4-BE49-F238E27FC236}">
                <a16:creationId xmlns:a16="http://schemas.microsoft.com/office/drawing/2014/main" id="{0FDF98A3-572D-416F-04D9-7F22D1E922F7}"/>
              </a:ext>
            </a:extLst>
          </p:cNvPr>
          <p:cNvPicPr>
            <a:picLocks noChangeAspect="1"/>
          </p:cNvPicPr>
          <p:nvPr/>
        </p:nvPicPr>
        <p:blipFill>
          <a:blip r:embed="rId4"/>
          <a:stretch>
            <a:fillRect/>
          </a:stretch>
        </p:blipFill>
        <p:spPr>
          <a:xfrm>
            <a:off x="1384874" y="4207741"/>
            <a:ext cx="1895740" cy="381053"/>
          </a:xfrm>
          <a:prstGeom prst="rect">
            <a:avLst/>
          </a:prstGeom>
        </p:spPr>
      </p:pic>
      <p:pic>
        <p:nvPicPr>
          <p:cNvPr id="10" name="圖片 9">
            <a:extLst>
              <a:ext uri="{FF2B5EF4-FFF2-40B4-BE49-F238E27FC236}">
                <a16:creationId xmlns:a16="http://schemas.microsoft.com/office/drawing/2014/main" id="{8D122126-F323-96A2-2B0F-862455C74E2D}"/>
              </a:ext>
            </a:extLst>
          </p:cNvPr>
          <p:cNvPicPr>
            <a:picLocks noChangeAspect="1"/>
          </p:cNvPicPr>
          <p:nvPr/>
        </p:nvPicPr>
        <p:blipFill>
          <a:blip r:embed="rId5"/>
          <a:stretch>
            <a:fillRect/>
          </a:stretch>
        </p:blipFill>
        <p:spPr>
          <a:xfrm>
            <a:off x="7090929" y="1085523"/>
            <a:ext cx="2053071" cy="3279581"/>
          </a:xfrm>
          <a:prstGeom prst="rect">
            <a:avLst/>
          </a:prstGeom>
        </p:spPr>
      </p:pic>
      <p:pic>
        <p:nvPicPr>
          <p:cNvPr id="12" name="圖片 11">
            <a:extLst>
              <a:ext uri="{FF2B5EF4-FFF2-40B4-BE49-F238E27FC236}">
                <a16:creationId xmlns:a16="http://schemas.microsoft.com/office/drawing/2014/main" id="{07003AB1-8B39-6ADC-7F03-DDF41CC54083}"/>
              </a:ext>
            </a:extLst>
          </p:cNvPr>
          <p:cNvPicPr>
            <a:picLocks noChangeAspect="1"/>
          </p:cNvPicPr>
          <p:nvPr/>
        </p:nvPicPr>
        <p:blipFill>
          <a:blip r:embed="rId6"/>
          <a:stretch>
            <a:fillRect/>
          </a:stretch>
        </p:blipFill>
        <p:spPr>
          <a:xfrm>
            <a:off x="4959630" y="1085522"/>
            <a:ext cx="2017149" cy="3279582"/>
          </a:xfrm>
          <a:prstGeom prst="rect">
            <a:avLst/>
          </a:prstGeom>
        </p:spPr>
      </p:pic>
      <p:pic>
        <p:nvPicPr>
          <p:cNvPr id="14" name="圖片 13">
            <a:extLst>
              <a:ext uri="{FF2B5EF4-FFF2-40B4-BE49-F238E27FC236}">
                <a16:creationId xmlns:a16="http://schemas.microsoft.com/office/drawing/2014/main" id="{584326FD-949B-C14B-9D60-AC6A38703B7B}"/>
              </a:ext>
            </a:extLst>
          </p:cNvPr>
          <p:cNvPicPr>
            <a:picLocks noChangeAspect="1"/>
          </p:cNvPicPr>
          <p:nvPr/>
        </p:nvPicPr>
        <p:blipFill>
          <a:blip r:embed="rId7"/>
          <a:stretch>
            <a:fillRect/>
          </a:stretch>
        </p:blipFill>
        <p:spPr>
          <a:xfrm>
            <a:off x="4499993" y="4478486"/>
            <a:ext cx="3672408" cy="2322131"/>
          </a:xfrm>
          <a:prstGeom prst="rect">
            <a:avLst/>
          </a:prstGeom>
        </p:spPr>
      </p:pic>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29C7219-C4CF-C21F-F08B-3CA6B0AE6462}"/>
              </a:ext>
            </a:extLst>
          </p:cNvPr>
          <p:cNvPicPr>
            <a:picLocks noChangeAspect="1"/>
          </p:cNvPicPr>
          <p:nvPr/>
        </p:nvPicPr>
        <p:blipFill>
          <a:blip r:embed="rId2"/>
          <a:stretch>
            <a:fillRect/>
          </a:stretch>
        </p:blipFill>
        <p:spPr>
          <a:xfrm>
            <a:off x="1357312" y="0"/>
            <a:ext cx="6429375" cy="6858000"/>
          </a:xfrm>
          <a:prstGeom prst="rect">
            <a:avLst/>
          </a:prstGeom>
        </p:spPr>
      </p:pic>
    </p:spTree>
    <p:extLst>
      <p:ext uri="{BB962C8B-B14F-4D97-AF65-F5344CB8AC3E}">
        <p14:creationId xmlns:p14="http://schemas.microsoft.com/office/powerpoint/2010/main" val="7449065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761</TotalTime>
  <Words>5869</Words>
  <Application>Microsoft Office PowerPoint</Application>
  <PresentationFormat>如螢幕大小 (4:3)</PresentationFormat>
  <Paragraphs>672</Paragraphs>
  <Slides>30</Slides>
  <Notes>18</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30</vt:i4>
      </vt:variant>
    </vt:vector>
  </HeadingPairs>
  <TitlesOfParts>
    <vt:vector size="40"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1889</cp:revision>
  <cp:lastPrinted>2024-07-30T01:44:15Z</cp:lastPrinted>
  <dcterms:created xsi:type="dcterms:W3CDTF">2019-11-08T03:01:47Z</dcterms:created>
  <dcterms:modified xsi:type="dcterms:W3CDTF">2026-09-04T06:28:04Z</dcterms:modified>
</cp:coreProperties>
</file>