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5"/>
  </p:notesMasterIdLst>
  <p:handoutMasterIdLst>
    <p:handoutMasterId r:id="rId46"/>
  </p:handoutMasterIdLst>
  <p:sldIdLst>
    <p:sldId id="3459" r:id="rId2"/>
    <p:sldId id="3563" r:id="rId3"/>
    <p:sldId id="3504" r:id="rId4"/>
    <p:sldId id="3557" r:id="rId5"/>
    <p:sldId id="3427" r:id="rId6"/>
    <p:sldId id="3503" r:id="rId7"/>
    <p:sldId id="3470" r:id="rId8"/>
    <p:sldId id="3560" r:id="rId9"/>
    <p:sldId id="3564" r:id="rId10"/>
    <p:sldId id="3562" r:id="rId11"/>
    <p:sldId id="3428" r:id="rId12"/>
    <p:sldId id="3451" r:id="rId13"/>
    <p:sldId id="3561" r:id="rId14"/>
    <p:sldId id="3465" r:id="rId15"/>
    <p:sldId id="3558" r:id="rId16"/>
    <p:sldId id="3559" r:id="rId17"/>
    <p:sldId id="3505" r:id="rId18"/>
    <p:sldId id="3507" r:id="rId19"/>
    <p:sldId id="3460" r:id="rId20"/>
    <p:sldId id="3531" r:id="rId21"/>
    <p:sldId id="3499" r:id="rId22"/>
    <p:sldId id="3444" r:id="rId23"/>
    <p:sldId id="3532" r:id="rId24"/>
    <p:sldId id="3520" r:id="rId25"/>
    <p:sldId id="3518" r:id="rId26"/>
    <p:sldId id="3475" r:id="rId27"/>
    <p:sldId id="3527" r:id="rId28"/>
    <p:sldId id="3550" r:id="rId29"/>
    <p:sldId id="3515" r:id="rId30"/>
    <p:sldId id="3556" r:id="rId31"/>
    <p:sldId id="3528" r:id="rId32"/>
    <p:sldId id="3514" r:id="rId33"/>
    <p:sldId id="3529" r:id="rId34"/>
    <p:sldId id="3555" r:id="rId35"/>
    <p:sldId id="3553" r:id="rId36"/>
    <p:sldId id="3554" r:id="rId37"/>
    <p:sldId id="3549" r:id="rId38"/>
    <p:sldId id="3519" r:id="rId39"/>
    <p:sldId id="3530" r:id="rId40"/>
    <p:sldId id="269" r:id="rId41"/>
    <p:sldId id="270" r:id="rId42"/>
    <p:sldId id="257" r:id="rId43"/>
    <p:sldId id="265" r:id="rId44"/>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563"/>
          </p14:sldIdLst>
        </p14:section>
        <p14:section name="Machine Learning" id="{B661AA10-C3FF-4E46-A114-E951FEA8A6DC}">
          <p14:sldIdLst>
            <p14:sldId id="3504"/>
            <p14:sldId id="3557"/>
            <p14:sldId id="3427"/>
            <p14:sldId id="3503"/>
          </p14:sldIdLst>
        </p14:section>
        <p14:section name="Transformer" id="{91BFD2B5-A843-4933-9519-5889D1D7895D}">
          <p14:sldIdLst>
            <p14:sldId id="3470"/>
            <p14:sldId id="3560"/>
            <p14:sldId id="3564"/>
            <p14:sldId id="3562"/>
            <p14:sldId id="3428"/>
            <p14:sldId id="3451"/>
            <p14:sldId id="3561"/>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5121"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1899-0CB0-A1C7-3D09-B2C47673AA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9916FE-8099-B8F2-AF31-B9114F9DF8E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C674E06-F27B-42A7-0C8B-8EA4912CEFAC}"/>
              </a:ext>
            </a:extLst>
          </p:cNvPr>
          <p:cNvSpPr>
            <a:spLocks noGrp="1"/>
          </p:cNvSpPr>
          <p:nvPr>
            <p:ph type="body" idx="1"/>
          </p:nvPr>
        </p:nvSpPr>
        <p:spPr/>
        <p:txBody>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 </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err="1">
                <a:solidFill>
                  <a:prstClr val="black"/>
                </a:solidFill>
                <a:latin typeface="Noto Sans HK" panose="020B0200000000000000" pitchFamily="34" charset="-120"/>
                <a:ea typeface="Noto Sans HK" panose="020B0200000000000000" pitchFamily="34" charset="-120"/>
              </a:rPr>
              <a:t>Unsloth</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p:txBody>
      </p:sp>
      <p:sp>
        <p:nvSpPr>
          <p:cNvPr id="4" name="投影片編號版面配置區 3">
            <a:extLst>
              <a:ext uri="{FF2B5EF4-FFF2-40B4-BE49-F238E27FC236}">
                <a16:creationId xmlns:a16="http://schemas.microsoft.com/office/drawing/2014/main" id="{2BF3F087-F326-9085-BF72-55BAE20BDD1B}"/>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1929665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br>
              <a:rPr lang="en-US" altLang="zh-TW" dirty="0"/>
            </a:br>
            <a:br>
              <a:rPr lang="en-US" altLang="zh-TW" dirty="0"/>
            </a:br>
            <a:r>
              <a:rPr lang="en-US" altLang="zh-TW" dirty="0"/>
              <a:t>pre-training: </a:t>
            </a:r>
            <a:r>
              <a:rPr lang="zh-TW" altLang="en-US" dirty="0"/>
              <a:t>資料型態</a:t>
            </a:r>
            <a:r>
              <a:rPr lang="en-US" altLang="zh-TW" dirty="0"/>
              <a:t>/</a:t>
            </a:r>
            <a:r>
              <a:rPr lang="zh-TW" altLang="en-US" dirty="0"/>
              <a:t>向量文字</a:t>
            </a:r>
            <a:r>
              <a:rPr lang="en-US" altLang="zh-TW" dirty="0"/>
              <a:t>/</a:t>
            </a:r>
            <a:r>
              <a:rPr lang="zh-TW" altLang="en-US" dirty="0"/>
              <a:t>技術</a:t>
            </a:r>
            <a:r>
              <a:rPr lang="en-US" altLang="zh-TW" dirty="0"/>
              <a:t>/</a:t>
            </a:r>
            <a:r>
              <a:rPr lang="zh-TW" altLang="en-US" dirty="0"/>
              <a:t>思考方向</a:t>
            </a:r>
            <a:r>
              <a:rPr lang="en-US" altLang="zh-TW" dirty="0"/>
              <a:t>/</a:t>
            </a:r>
            <a:r>
              <a:rPr lang="zh-TW" altLang="en-US" dirty="0"/>
              <a:t>與人文</a:t>
            </a:r>
            <a:r>
              <a:rPr lang="en-US" altLang="zh-TW" dirty="0"/>
              <a:t>/</a:t>
            </a:r>
            <a:r>
              <a:rPr lang="zh-TW" altLang="en-US" dirty="0"/>
              <a:t>憲法</a:t>
            </a:r>
            <a:r>
              <a:rPr lang="en-US" altLang="zh-TW" dirty="0"/>
              <a:t>AI/</a:t>
            </a:r>
            <a:br>
              <a:rPr lang="en-US" altLang="zh-TW" dirty="0"/>
            </a:br>
            <a:r>
              <a:rPr lang="en-US" altLang="zh-TW" dirty="0"/>
              <a:t>fine-tuning: </a:t>
            </a:r>
            <a:r>
              <a:rPr lang="zh-TW" altLang="en-US" dirty="0"/>
              <a:t>目的</a:t>
            </a:r>
            <a:r>
              <a:rPr lang="en-US" altLang="zh-TW" dirty="0"/>
              <a:t>/</a:t>
            </a:r>
            <a:r>
              <a:rPr lang="zh-TW" altLang="en-US" dirty="0"/>
              <a:t>效果</a:t>
            </a:r>
            <a:r>
              <a:rPr lang="en-US" altLang="zh-TW" dirty="0"/>
              <a:t>/</a:t>
            </a:r>
            <a:r>
              <a:rPr lang="zh-TW" altLang="en-US" dirty="0"/>
              <a:t>自動化學習 </a:t>
            </a:r>
            <a:r>
              <a:rPr lang="en-US" altLang="zh-TW" dirty="0"/>
              <a:t>,…</a:t>
            </a:r>
            <a:r>
              <a:rPr lang="zh-TW" altLang="en-US" dirty="0"/>
              <a:t> 微調效率</a:t>
            </a:r>
            <a:br>
              <a:rPr lang="en-US" altLang="zh-TW" dirty="0"/>
            </a:br>
            <a:r>
              <a:rPr lang="en-US" altLang="zh-TW" dirty="0"/>
              <a:t>loss: </a:t>
            </a:r>
            <a:r>
              <a:rPr lang="zh-TW" altLang="en-US" dirty="0"/>
              <a:t>最佳化效率</a:t>
            </a:r>
            <a:r>
              <a:rPr lang="en-US" altLang="zh-TW" dirty="0"/>
              <a:t>/</a:t>
            </a:r>
            <a:r>
              <a:rPr lang="zh-TW" altLang="en-US" dirty="0"/>
              <a:t>結構優化</a:t>
            </a:r>
            <a:endParaRPr lang="en-US" altLang="zh-TW" dirty="0"/>
          </a:p>
          <a:p>
            <a:r>
              <a:rPr lang="en-US" altLang="zh-TW" dirty="0"/>
              <a:t>Parameters: </a:t>
            </a:r>
            <a:r>
              <a:rPr lang="zh-TW" altLang="en-US" dirty="0"/>
              <a:t>參數減量</a:t>
            </a:r>
            <a:r>
              <a:rPr lang="en-US" altLang="zh-TW" dirty="0"/>
              <a:t>/</a:t>
            </a:r>
            <a:r>
              <a:rPr lang="zh-TW" altLang="en-US" dirty="0"/>
              <a:t>低秩技術</a:t>
            </a:r>
            <a:r>
              <a:rPr lang="en-US" altLang="zh-TW" dirty="0"/>
              <a:t>/</a:t>
            </a:r>
            <a:r>
              <a:rPr lang="zh-TW" altLang="en-US" dirty="0"/>
              <a:t>量化技術</a:t>
            </a:r>
            <a:r>
              <a:rPr lang="en-US" altLang="zh-TW" dirty="0"/>
              <a:t>/</a:t>
            </a:r>
            <a:r>
              <a:rPr lang="zh-TW" altLang="en-US" dirty="0"/>
              <a:t> </a:t>
            </a:r>
            <a:r>
              <a:rPr lang="en-US" altLang="zh-TW" dirty="0"/>
              <a:t>token</a:t>
            </a:r>
            <a:r>
              <a:rPr lang="zh-TW" altLang="en-US" dirty="0"/>
              <a:t>效率</a:t>
            </a:r>
            <a:r>
              <a:rPr lang="en-US" altLang="zh-TW" dirty="0"/>
              <a:t>/</a:t>
            </a:r>
            <a:r>
              <a:rPr lang="zh-TW" altLang="en-US" dirty="0"/>
              <a:t> </a:t>
            </a:r>
            <a:br>
              <a:rPr lang="en-US" altLang="zh-TW" dirty="0"/>
            </a:br>
            <a:r>
              <a:rPr lang="en-US" altLang="zh-TW" dirty="0"/>
              <a:t>attention: </a:t>
            </a:r>
            <a:r>
              <a:rPr lang="zh-TW" altLang="en-US" dirty="0"/>
              <a:t>編碼改良</a:t>
            </a:r>
            <a:r>
              <a:rPr lang="en-US" altLang="zh-TW" dirty="0"/>
              <a:t>/</a:t>
            </a:r>
            <a:r>
              <a:rPr lang="zh-TW" altLang="en-US" dirty="0"/>
              <a:t> 特徵擷取更有效率</a:t>
            </a:r>
            <a:br>
              <a:rPr lang="en-US" altLang="zh-TW" dirty="0"/>
            </a:br>
            <a:r>
              <a:rPr lang="en-US" altLang="zh-TW" dirty="0"/>
              <a:t>model: </a:t>
            </a:r>
            <a:r>
              <a:rPr lang="zh-TW" altLang="en-US" dirty="0"/>
              <a:t>省電</a:t>
            </a:r>
            <a:r>
              <a:rPr lang="en-US" altLang="zh-TW" dirty="0"/>
              <a:t>/</a:t>
            </a:r>
            <a:r>
              <a:rPr lang="zh-TW" altLang="en-US" dirty="0"/>
              <a:t>高速</a:t>
            </a:r>
            <a:r>
              <a:rPr lang="en-US" altLang="zh-TW" dirty="0"/>
              <a:t>/</a:t>
            </a:r>
            <a:r>
              <a:rPr lang="zh-TW" altLang="en-US" dirty="0"/>
              <a:t>記憶體</a:t>
            </a:r>
            <a:r>
              <a:rPr lang="en-US" altLang="zh-TW" dirty="0"/>
              <a:t>/</a:t>
            </a:r>
            <a:r>
              <a:rPr lang="zh-TW" altLang="en-US" dirty="0"/>
              <a:t>算力優化</a:t>
            </a:r>
            <a:br>
              <a:rPr lang="en-US" altLang="zh-TW" dirty="0"/>
            </a:br>
            <a:r>
              <a:rPr lang="en-US" altLang="zh-TW" dirty="0"/>
              <a:t>agent: </a:t>
            </a:r>
            <a:r>
              <a:rPr lang="zh-TW" altLang="en-US" dirty="0"/>
              <a:t>防幻覺</a:t>
            </a:r>
            <a:r>
              <a:rPr lang="en-US" altLang="zh-TW" dirty="0"/>
              <a:t>/</a:t>
            </a:r>
            <a:r>
              <a:rPr lang="zh-TW" altLang="en-US" dirty="0"/>
              <a:t>事實查證</a:t>
            </a:r>
            <a:r>
              <a:rPr lang="en-US" altLang="zh-TW" dirty="0"/>
              <a:t>/</a:t>
            </a:r>
            <a:r>
              <a:rPr lang="zh-TW" altLang="en-US" dirty="0"/>
              <a:t>實用</a:t>
            </a:r>
            <a:r>
              <a:rPr lang="en-US" altLang="zh-TW" dirty="0"/>
              <a:t>/</a:t>
            </a:r>
            <a:r>
              <a:rPr lang="zh-TW" altLang="en-US" dirty="0"/>
              <a:t>多模態</a:t>
            </a:r>
            <a:r>
              <a:rPr lang="en-US" altLang="zh-TW" dirty="0"/>
              <a:t>/</a:t>
            </a:r>
            <a:r>
              <a:rPr lang="zh-TW" altLang="en-US" dirty="0"/>
              <a:t>獲利</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6C87C-F1D4-3D0B-F5BA-10B6D7D5E7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32815C-6209-93D8-7030-8EE8F864436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D9BA93D-6C5C-4421-21BC-3A07520D79D1}"/>
              </a:ext>
            </a:extLst>
          </p:cNvPr>
          <p:cNvSpPr>
            <a:spLocks noGrp="1"/>
          </p:cNvSpPr>
          <p:nvPr>
            <p:ph type="body" idx="1"/>
          </p:nvPr>
        </p:nvSpPr>
        <p:spPr/>
        <p:txBody>
          <a:bodyPr/>
          <a:lstStyle/>
          <a:p>
            <a:pPr marL="228600" indent="-228600">
              <a:buAutoNum type="arabicPeriod"/>
            </a:pPr>
            <a:endParaRPr lang="en-US" altLang="zh-TW" sz="1200" dirty="0">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E6838917-C31E-56D7-F64A-5DDCEDE456C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3767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F364-EDE1-1C66-6068-75A8DCEC78A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CCAAD1B-CCCD-50EC-8F02-813862B11F1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F4F7BCC-F1E6-ECEC-2EF8-ED9E29725E6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6A9B1C25-2C43-7626-EE13-319BE46BB3FA}"/>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102430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510575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42</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43</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2026/9/14</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1.png"/><Relationship Id="rId21" Type="http://schemas.openxmlformats.org/officeDocument/2006/relationships/image" Target="../media/image22.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5" Type="http://schemas.openxmlformats.org/officeDocument/2006/relationships/image" Target="../media/image2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24" Type="http://schemas.openxmlformats.org/officeDocument/2006/relationships/image" Target="../media/image25.png"/><Relationship Id="rId5" Type="http://schemas.openxmlformats.org/officeDocument/2006/relationships/image" Target="../media/image180.png"/><Relationship Id="rId15" Type="http://schemas.openxmlformats.org/officeDocument/2006/relationships/image" Target="../media/image34.png"/><Relationship Id="rId23" Type="http://schemas.openxmlformats.org/officeDocument/2006/relationships/image" Target="../media/image24.png"/><Relationship Id="rId10" Type="http://schemas.openxmlformats.org/officeDocument/2006/relationships/image" Target="../media/image230.png"/><Relationship Id="rId19" Type="http://schemas.openxmlformats.org/officeDocument/2006/relationships/image" Target="../media/image38.png"/><Relationship Id="rId9" Type="http://schemas.openxmlformats.org/officeDocument/2006/relationships/image" Target="../media/image220.png"/><Relationship Id="rId14" Type="http://schemas.openxmlformats.org/officeDocument/2006/relationships/image" Target="../media/image27.png"/><Relationship Id="rId22"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9.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11" Type="http://schemas.openxmlformats.org/officeDocument/2006/relationships/image" Target="../media/image41.png"/><Relationship Id="rId5" Type="http://schemas.openxmlformats.org/officeDocument/2006/relationships/image" Target="../media/image30.png"/><Relationship Id="rId10" Type="http://schemas.openxmlformats.org/officeDocument/2006/relationships/image" Target="../media/image40.png"/><Relationship Id="rId4" Type="http://schemas.openxmlformats.org/officeDocument/2006/relationships/image" Target="../media/image31.png"/><Relationship Id="rId9" Type="http://schemas.openxmlformats.org/officeDocument/2006/relationships/image" Target="../media/image3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3.svg"/></Relationships>
</file>

<file path=ppt/slides/_rels/slide15.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45.png"/><Relationship Id="rId7"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10.png"/><Relationship Id="rId4" Type="http://schemas.openxmlformats.org/officeDocument/2006/relationships/image" Target="../media/image40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0.png"/><Relationship Id="rId4" Type="http://schemas.openxmlformats.org/officeDocument/2006/relationships/image" Target="../media/image49.png"/></Relationships>
</file>

<file path=ppt/slides/_rels/slide19.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5.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3.svg"/><Relationship Id="rId4" Type="http://schemas.openxmlformats.org/officeDocument/2006/relationships/image" Target="../media/image5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5.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jpeg"/></Relationships>
</file>

<file path=ppt/slides/_rels/slide26.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6.svg"/></Relationships>
</file>

<file path=ppt/slides/_rels/slide27.xml.rels><?xml version="1.0" encoding="UTF-8" standalone="yes"?>
<Relationships xmlns="http://schemas.openxmlformats.org/package/2006/relationships"><Relationship Id="rId3" Type="http://schemas.openxmlformats.org/officeDocument/2006/relationships/image" Target="../media/image77.svg"/><Relationship Id="rId7" Type="http://schemas.openxmlformats.org/officeDocument/2006/relationships/image" Target="../media/image81.sv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80.svg"/><Relationship Id="rId5" Type="http://schemas.openxmlformats.org/officeDocument/2006/relationships/image" Target="../media/image79.svg"/><Relationship Id="rId4" Type="http://schemas.openxmlformats.org/officeDocument/2006/relationships/image" Target="../media/image78.svg"/></Relationships>
</file>

<file path=ppt/slides/_rels/slide28.xml.rels><?xml version="1.0" encoding="UTF-8" standalone="yes"?>
<Relationships xmlns="http://schemas.openxmlformats.org/package/2006/relationships"><Relationship Id="rId3"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83.sv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2.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3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 Id="rId6" Type="http://schemas.openxmlformats.org/officeDocument/2006/relationships/image" Target="../media/image90.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3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3.png"/><Relationship Id="rId5" Type="http://schemas.openxmlformats.org/officeDocument/2006/relationships/image" Target="../media/image3.png"/><Relationship Id="rId10" Type="http://schemas.openxmlformats.org/officeDocument/2006/relationships/image" Target="../media/image92.png"/><Relationship Id="rId4" Type="http://schemas.openxmlformats.org/officeDocument/2006/relationships/image" Target="../media/image2.png"/><Relationship Id="rId9" Type="http://schemas.openxmlformats.org/officeDocument/2006/relationships/image" Target="../media/image91.png"/></Relationships>
</file>

<file path=ppt/slides/_rels/slide38.xml.rels><?xml version="1.0" encoding="UTF-8" standalone="yes"?>
<Relationships xmlns="http://schemas.openxmlformats.org/package/2006/relationships"><Relationship Id="rId3" Type="http://schemas.openxmlformats.org/officeDocument/2006/relationships/image" Target="../media/image96.png"/><Relationship Id="rId7" Type="http://schemas.openxmlformats.org/officeDocument/2006/relationships/image" Target="../media/image68.png"/><Relationship Id="rId2" Type="http://schemas.openxmlformats.org/officeDocument/2006/relationships/image" Target="../media/image95.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7.png"/></Relationships>
</file>

<file path=ppt/slides/_rels/slide3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4.xml"/><Relationship Id="rId5" Type="http://schemas.openxmlformats.org/officeDocument/2006/relationships/image" Target="../media/image101.png"/><Relationship Id="rId4" Type="http://schemas.openxmlformats.org/officeDocument/2006/relationships/image" Target="../media/image100.png"/></Relationships>
</file>

<file path=ppt/slides/_rels/slide41.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4.xml"/><Relationship Id="rId5" Type="http://schemas.openxmlformats.org/officeDocument/2006/relationships/image" Target="../media/image105.png"/><Relationship Id="rId4" Type="http://schemas.openxmlformats.org/officeDocument/2006/relationships/image" Target="../media/image104.png"/></Relationships>
</file>

<file path=ppt/slides/_rels/slide42.xml.rels><?xml version="1.0" encoding="UTF-8" standalone="yes"?>
<Relationships xmlns="http://schemas.openxmlformats.org/package/2006/relationships"><Relationship Id="rId8" Type="http://schemas.openxmlformats.org/officeDocument/2006/relationships/image" Target="../media/image110.png"/><Relationship Id="rId3" Type="http://schemas.openxmlformats.org/officeDocument/2006/relationships/image" Target="../media/image106.png"/><Relationship Id="rId7" Type="http://schemas.openxmlformats.org/officeDocument/2006/relationships/image" Target="../media/image109.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108.png"/><Relationship Id="rId5" Type="http://schemas.openxmlformats.org/officeDocument/2006/relationships/image" Target="../media/image2300.png"/><Relationship Id="rId4" Type="http://schemas.openxmlformats.org/officeDocument/2006/relationships/image" Target="../media/image107.png"/></Relationships>
</file>

<file path=ppt/slides/_rels/slide4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 Id="rId9" Type="http://schemas.openxmlformats.org/officeDocument/2006/relationships/image" Target="../media/image1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A8BA-E622-A1CC-404C-EB017E6BF95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C9739514-6554-72C8-3ED7-69B42C29B62B}"/>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6D48A04F-3EED-2752-2505-2887BD7E441F}"/>
              </a:ext>
            </a:extLst>
          </p:cNvPr>
          <p:cNvSpPr txBox="1"/>
          <p:nvPr/>
        </p:nvSpPr>
        <p:spPr>
          <a:xfrm>
            <a:off x="845586" y="1268760"/>
            <a:ext cx="6102678" cy="3339376"/>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600"/>
              </a:spcBef>
              <a:spcAft>
                <a:spcPts val="60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(Environment of AI Agent, SLM, LLM, RAG and MCP)</a:t>
            </a: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lang="zh-TW" altLang="en-US"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p>
          <a:p>
            <a:pPr marL="285750" lvl="0" indent="-285750">
              <a:spcBef>
                <a:spcPts val="600"/>
              </a:spcBef>
              <a:spcAft>
                <a:spcPts val="600"/>
              </a:spcAft>
              <a:buFont typeface="Wingdings" panose="05000000000000000000" pitchFamily="2" charset="2"/>
              <a:buChar char="Ø"/>
              <a:defRPr/>
            </a:pPr>
            <a:r>
              <a:rPr lang="en-US" altLang="zh-TW" sz="2400" dirty="0">
                <a:solidFill>
                  <a:prstClr val="black"/>
                </a:solidFill>
                <a:latin typeface="Noto Sans HK" panose="020B0200000000000000" pitchFamily="34" charset="-120"/>
                <a:ea typeface="Noto Sans HK" panose="020B0200000000000000" pitchFamily="34" charset="-120"/>
              </a:rPr>
              <a:t>Conclusion</a:t>
            </a:r>
            <a:r>
              <a:rPr lang="en-US" altLang="zh-TW"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 Holistic Perspective)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5" name="文字方塊 4">
            <a:extLst>
              <a:ext uri="{FF2B5EF4-FFF2-40B4-BE49-F238E27FC236}">
                <a16:creationId xmlns:a16="http://schemas.microsoft.com/office/drawing/2014/main" id="{FC291065-9D27-7A60-F942-B3D58357404F}"/>
              </a:ext>
            </a:extLst>
          </p:cNvPr>
          <p:cNvSpPr txBox="1"/>
          <p:nvPr/>
        </p:nvSpPr>
        <p:spPr>
          <a:xfrm>
            <a:off x="7848364" y="44624"/>
            <a:ext cx="1240083" cy="4069576"/>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r>
              <a:rPr lang="zh-TW" altLang="en-US" sz="1000" dirty="0"/>
              <a:t> </a:t>
            </a:r>
            <a:r>
              <a:rPr lang="en-US" altLang="zh-TW" sz="1000" dirty="0"/>
              <a:t>and MoE</a:t>
            </a:r>
          </a:p>
          <a:p>
            <a:pPr marL="111125" lvl="2">
              <a:lnSpc>
                <a:spcPts val="1000"/>
              </a:lnSpc>
              <a:buFont typeface="Arial" panose="020B0604020202020204" pitchFamily="34" charset="0"/>
              <a:buChar char="•"/>
            </a:pPr>
            <a:r>
              <a:rPr lang="zh-TW" altLang="en-US" sz="1000" dirty="0"/>
              <a:t> </a:t>
            </a:r>
            <a:r>
              <a:rPr lang="en-US" altLang="zh-TW" sz="1000" dirty="0"/>
              <a:t>Linear Projection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marL="111125" lvl="2">
              <a:lnSpc>
                <a:spcPts val="1000"/>
              </a:lnSpc>
              <a:buFont typeface="Arial" panose="020B0604020202020204" pitchFamily="34" charset="0"/>
              <a:buChar char="•"/>
            </a:pPr>
            <a:r>
              <a:rPr lang="en-US" altLang="zh-TW" sz="1000" dirty="0"/>
              <a:t> Summary</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MTP</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39679383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MoE</a:t>
            </a: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7236926"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021533"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mHC</a:t>
            </a: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AttnRes</a:t>
            </a: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43358" y="5809347"/>
            <a:ext cx="628457"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3"/>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7021536"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282141"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445253"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74143"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8" name="標題 1">
            <a:extLst>
              <a:ext uri="{FF2B5EF4-FFF2-40B4-BE49-F238E27FC236}">
                <a16:creationId xmlns:a16="http://schemas.microsoft.com/office/drawing/2014/main" id="{B36748D0-C94C-1474-C83D-0587CD10BB8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9" name="橢圓 18">
            <a:extLst>
              <a:ext uri="{FF2B5EF4-FFF2-40B4-BE49-F238E27FC236}">
                <a16:creationId xmlns:a16="http://schemas.microsoft.com/office/drawing/2014/main" id="{B60FF1D0-43BC-6603-EF59-36C96BEB0E9A}"/>
              </a:ext>
            </a:extLst>
          </p:cNvPr>
          <p:cNvSpPr/>
          <p:nvPr/>
        </p:nvSpPr>
        <p:spPr>
          <a:xfrm>
            <a:off x="3995936" y="2162671"/>
            <a:ext cx="389945" cy="330225"/>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W2V</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8353815" y="2803318"/>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996650" y="291843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8014891" y="3213695"/>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8014891" y="3494749"/>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999653" y="263040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8014891" y="3945002"/>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
        <p:nvSpPr>
          <p:cNvPr id="6" name="矩形: 圓角 5">
            <a:extLst>
              <a:ext uri="{FF2B5EF4-FFF2-40B4-BE49-F238E27FC236}">
                <a16:creationId xmlns:a16="http://schemas.microsoft.com/office/drawing/2014/main" id="{C165562B-0C22-70B1-31F2-3E50669FC44E}"/>
              </a:ext>
            </a:extLst>
          </p:cNvPr>
          <p:cNvSpPr/>
          <p:nvPr/>
        </p:nvSpPr>
        <p:spPr>
          <a:xfrm>
            <a:off x="3969498" y="6432596"/>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8" name="矩形: 圓角 7">
            <a:extLst>
              <a:ext uri="{FF2B5EF4-FFF2-40B4-BE49-F238E27FC236}">
                <a16:creationId xmlns:a16="http://schemas.microsoft.com/office/drawing/2014/main" id="{8C109D09-4906-C1F6-3742-452E67A961C2}"/>
              </a:ext>
            </a:extLst>
          </p:cNvPr>
          <p:cNvSpPr/>
          <p:nvPr/>
        </p:nvSpPr>
        <p:spPr>
          <a:xfrm>
            <a:off x="4454596" y="6418040"/>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14" name="矩形 13">
            <a:extLst>
              <a:ext uri="{FF2B5EF4-FFF2-40B4-BE49-F238E27FC236}">
                <a16:creationId xmlns:a16="http://schemas.microsoft.com/office/drawing/2014/main" id="{F96C8218-1559-7D81-3C83-97ED7848E608}"/>
              </a:ext>
            </a:extLst>
          </p:cNvPr>
          <p:cNvSpPr/>
          <p:nvPr/>
        </p:nvSpPr>
        <p:spPr>
          <a:xfrm>
            <a:off x="4499992" y="1011596"/>
            <a:ext cx="1440159" cy="645227"/>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19957269"/>
              </p:ext>
            </p:extLst>
          </p:nvPr>
        </p:nvGraphicFramePr>
        <p:xfrm>
          <a:off x="2182414" y="3873795"/>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040547199"/>
              </p:ext>
            </p:extLst>
          </p:nvPr>
        </p:nvGraphicFramePr>
        <p:xfrm>
          <a:off x="4402887" y="3873795"/>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490034796"/>
              </p:ext>
            </p:extLst>
          </p:nvPr>
        </p:nvGraphicFramePr>
        <p:xfrm>
          <a:off x="628166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1903365497"/>
              </p:ext>
            </p:extLst>
          </p:nvPr>
        </p:nvGraphicFramePr>
        <p:xfrm>
          <a:off x="1418853" y="3873795"/>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564866" y="3490393"/>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87820" y="3490393"/>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536403808"/>
              </p:ext>
            </p:extLst>
          </p:nvPr>
        </p:nvGraphicFramePr>
        <p:xfrm>
          <a:off x="729894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36106" y="3490392"/>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071668" y="4490880"/>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361337" y="2814774"/>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939348478"/>
              </p:ext>
            </p:extLst>
          </p:nvPr>
        </p:nvGraphicFramePr>
        <p:xfrm>
          <a:off x="2182413" y="3068960"/>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557145" y="3532622"/>
            <a:ext cx="316238" cy="256418"/>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27914" y="2767633"/>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368927" y="3490392"/>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1150937947"/>
              </p:ext>
            </p:extLst>
          </p:nvPr>
        </p:nvGraphicFramePr>
        <p:xfrm>
          <a:off x="4147140" y="3861570"/>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mc:Choice xmlns:a14="http://schemas.microsoft.com/office/drawing/2010/main" Requires="a14">
          <p:sp>
            <p:nvSpPr>
              <p:cNvPr id="6" name="文字方塊 5">
                <a:extLst>
                  <a:ext uri="{FF2B5EF4-FFF2-40B4-BE49-F238E27FC236}">
                    <a16:creationId xmlns:a16="http://schemas.microsoft.com/office/drawing/2014/main" id="{6533E10E-209C-5074-10A7-4E4A830D6AF9}"/>
                  </a:ext>
                </a:extLst>
              </p:cNvPr>
              <p:cNvSpPr txBox="1"/>
              <p:nvPr/>
            </p:nvSpPr>
            <p:spPr>
              <a:xfrm>
                <a:off x="6876256" y="5599951"/>
                <a:ext cx="1775422" cy="749244"/>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m:t>
                          </m:r>
                          <m:f>
                            <m:fPr>
                              <m:ctrlPr>
                                <a:rPr lang="en-US" altLang="zh-TW" sz="1200" i="1">
                                  <a:latin typeface="Cambria Math" panose="02040503050406030204" pitchFamily="18" charset="0"/>
                                </a:rPr>
                              </m:ctrlPr>
                            </m:fPr>
                            <m:num>
                              <m:r>
                                <a:rPr lang="en-US" altLang="zh-TW" sz="1200" i="1">
                                  <a:latin typeface="Cambria Math" panose="02040503050406030204" pitchFamily="18" charset="0"/>
                                </a:rPr>
                                <m:t>1</m:t>
                              </m:r>
                            </m:num>
                            <m:den>
                              <m:r>
                                <a:rPr lang="en-US" altLang="zh-TW" sz="1200" i="1">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r>
                            <a:rPr lang="en-US" altLang="zh-TW" sz="1200" i="1">
                              <a:latin typeface="Cambria Math" panose="02040503050406030204" pitchFamily="18" charset="0"/>
                            </a:rPr>
                            <m:t>)</m:t>
                          </m:r>
                        </m:e>
                        <m:sup>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2</m:t>
                              </m:r>
                            </m:den>
                          </m:f>
                        </m:sup>
                      </m:sSup>
                    </m:oMath>
                  </m:oMathPara>
                </a14:m>
                <a:endParaRPr lang="zh-TW" altLang="en-US" sz="1200" dirty="0"/>
              </a:p>
            </p:txBody>
          </p:sp>
        </mc:Choice>
        <mc:Fallback>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876256" y="5599951"/>
                <a:ext cx="1775422" cy="749244"/>
              </a:xfrm>
              <a:prstGeom prst="rect">
                <a:avLst/>
              </a:prstGeom>
              <a:blipFill>
                <a:blip r:embed="rId3"/>
                <a:stretch>
                  <a:fillRect l="-3093" t="-41463" r="-25773" b="-13252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04C69D51-1D28-7D46-D4F3-7BE78FE1AE01}"/>
                  </a:ext>
                </a:extLst>
              </p:cNvPr>
              <p:cNvSpPr txBox="1"/>
              <p:nvPr/>
            </p:nvSpPr>
            <p:spPr>
              <a:xfrm>
                <a:off x="3203848" y="5524053"/>
                <a:ext cx="2145524" cy="477310"/>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So</m:t>
                      </m:r>
                      <m:r>
                        <m:rPr>
                          <m:sty m:val="p"/>
                        </m:rPr>
                        <a:rPr lang="en-US" altLang="zh-TW" sz="1200">
                          <a:latin typeface="Cambria Math" panose="02040503050406030204" pitchFamily="18" charset="0"/>
                        </a:rPr>
                        <m:t>ftmax</m:t>
                      </m:r>
                      <m:d>
                        <m:dPr>
                          <m:ctrlPr>
                            <a:rPr lang="en-US" altLang="zh-TW" sz="1200" i="1">
                              <a:latin typeface="Cambria Math" panose="02040503050406030204" pitchFamily="18" charset="0"/>
                            </a:rPr>
                          </m:ctrlPr>
                        </m:dPr>
                        <m:e>
                          <m:f>
                            <m:fPr>
                              <m:ctrlPr>
                                <a:rPr lang="en-US" altLang="zh-TW" sz="1200" i="1">
                                  <a:latin typeface="Cambria Math" panose="02040503050406030204" pitchFamily="18" charset="0"/>
                                </a:rPr>
                              </m:ctrlPr>
                            </m:fPr>
                            <m:num>
                              <m:sSup>
                                <m:sSupPr>
                                  <m:ctrlPr>
                                    <a:rPr lang="en-US" altLang="zh-TW" sz="1200">
                                      <a:latin typeface="Cambria Math" panose="02040503050406030204" pitchFamily="18" charset="0"/>
                                    </a:rPr>
                                  </m:ctrlPr>
                                </m:sSupPr>
                                <m:e>
                                  <m:r>
                                    <m:rPr>
                                      <m:sty m:val="p"/>
                                    </m:rPr>
                                    <a:rPr lang="en-US" altLang="zh-TW" sz="1200">
                                      <a:latin typeface="Cambria Math" panose="02040503050406030204" pitchFamily="18" charset="0"/>
                                    </a:rPr>
                                    <m:t>QK</m:t>
                                  </m:r>
                                </m:e>
                                <m:sup>
                                  <m:r>
                                    <m:rPr>
                                      <m:sty m:val="p"/>
                                    </m:rPr>
                                    <a:rPr lang="en-US" altLang="zh-TW" sz="1200">
                                      <a:latin typeface="Cambria Math" panose="02040503050406030204" pitchFamily="18" charset="0"/>
                                    </a:rPr>
                                    <m:t>T</m:t>
                                  </m:r>
                                </m:sup>
                              </m:sSup>
                            </m:num>
                            <m:den>
                              <m:rad>
                                <m:radPr>
                                  <m:degHide m:val="on"/>
                                  <m:ctrlPr>
                                    <a:rPr lang="en-US" altLang="zh-TW" sz="1200" i="1">
                                      <a:latin typeface="Cambria Math" panose="02040503050406030204" pitchFamily="18" charset="0"/>
                                    </a:rPr>
                                  </m:ctrlPr>
                                </m:radPr>
                                <m:deg/>
                                <m:e>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d</m:t>
                                      </m:r>
                                    </m:e>
                                    <m:sub>
                                      <m:r>
                                        <m:rPr>
                                          <m:sty m:val="p"/>
                                        </m:rPr>
                                        <a:rPr lang="en-US" altLang="zh-TW" sz="1200">
                                          <a:latin typeface="Cambria Math" panose="02040503050406030204" pitchFamily="18" charset="0"/>
                                        </a:rPr>
                                        <m:t>h</m:t>
                                      </m:r>
                                    </m:sub>
                                  </m:sSub>
                                </m:e>
                              </m:rad>
                            </m:den>
                          </m:f>
                        </m:e>
                      </m:d>
                      <m:r>
                        <a:rPr lang="en-US" altLang="zh-TW" sz="1200">
                          <a:latin typeface="Cambria Math" panose="02040503050406030204" pitchFamily="18" charset="0"/>
                        </a:rPr>
                        <m:t>∗</m:t>
                      </m:r>
                      <m:r>
                        <m:rPr>
                          <m:sty m:val="p"/>
                        </m:rPr>
                        <a:rPr lang="en-US" altLang="zh-TW" sz="1200">
                          <a:latin typeface="Cambria Math" panose="02040503050406030204" pitchFamily="18" charset="0"/>
                        </a:rPr>
                        <m:t>V</m:t>
                      </m:r>
                      <m:r>
                        <a:rPr lang="en-US" altLang="zh-TW" sz="1200" b="0" i="0" smtClean="0">
                          <a:latin typeface="Cambria Math" panose="02040503050406030204" pitchFamily="18" charset="0"/>
                        </a:rPr>
                        <m:t> </m:t>
                      </m:r>
                      <m:r>
                        <m:rPr>
                          <m:nor/>
                        </m:rPr>
                        <a:rPr lang="zh-TW" altLang="zh-TW" sz="1200" dirty="0">
                          <a:solidFill>
                            <a:prstClr val="black"/>
                          </a:solidFill>
                        </a:rPr>
                        <m:t>➔</m:t>
                      </m:r>
                      <m:r>
                        <m:rPr>
                          <m:nor/>
                        </m:rPr>
                        <a:rPr lang="en-US" altLang="zh-TW" sz="1200" b="0" i="0" dirty="0" smtClean="0">
                          <a:solidFill>
                            <a:prstClr val="black"/>
                          </a:solidFill>
                        </a:rPr>
                        <m:t> </m:t>
                      </m:r>
                      <m:r>
                        <m:rPr>
                          <m:sty m:val="p"/>
                        </m:rPr>
                        <a:rPr lang="en-US" altLang="zh-TW" sz="1200" b="0" i="0" smtClean="0">
                          <a:latin typeface="Cambria Math" panose="02040503050406030204" pitchFamily="18" charset="0"/>
                        </a:rPr>
                        <m:t>Attention</m:t>
                      </m:r>
                    </m:oMath>
                  </m:oMathPara>
                </a14:m>
                <a:endParaRPr lang="en-US" altLang="zh-TW" sz="1200" b="0" dirty="0">
                  <a:latin typeface="Cambria Math" panose="02040503050406030204" pitchFamily="18" charset="0"/>
                </a:endParaRPr>
              </a:p>
            </p:txBody>
          </p:sp>
        </mc:Choice>
        <mc:Fallback>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203848" y="5524053"/>
                <a:ext cx="2145524" cy="477310"/>
              </a:xfrm>
              <a:prstGeom prst="rect">
                <a:avLst/>
              </a:prstGeom>
              <a:blipFill>
                <a:blip r:embed="rId4"/>
                <a:stretch>
                  <a:fillRect l="-2557" b="-5128"/>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112589" y="4226173"/>
            <a:ext cx="1803468" cy="490618"/>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2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521954" y="4218716"/>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81353" y="2348880"/>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 name="矩形: 圓角 6">
            <a:extLst>
              <a:ext uri="{FF2B5EF4-FFF2-40B4-BE49-F238E27FC236}">
                <a16:creationId xmlns:a16="http://schemas.microsoft.com/office/drawing/2014/main" id="{79D62CE4-E91E-3981-9BF3-2C1BE29B1BC3}"/>
              </a:ext>
            </a:extLst>
          </p:cNvPr>
          <p:cNvSpPr/>
          <p:nvPr/>
        </p:nvSpPr>
        <p:spPr>
          <a:xfrm>
            <a:off x="5489321" y="1118107"/>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9" name="矩形 8">
            <a:extLst>
              <a:ext uri="{FF2B5EF4-FFF2-40B4-BE49-F238E27FC236}">
                <a16:creationId xmlns:a16="http://schemas.microsoft.com/office/drawing/2014/main" id="{25DF4894-29E0-7855-ACBE-49137CE41C09}"/>
              </a:ext>
            </a:extLst>
          </p:cNvPr>
          <p:cNvSpPr/>
          <p:nvPr/>
        </p:nvSpPr>
        <p:spPr>
          <a:xfrm>
            <a:off x="4073664" y="111955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箭號: 向下 10">
            <a:extLst>
              <a:ext uri="{FF2B5EF4-FFF2-40B4-BE49-F238E27FC236}">
                <a16:creationId xmlns:a16="http://schemas.microsoft.com/office/drawing/2014/main" id="{CEF5505A-877F-0AB9-92CB-3BEEFA4D3C43}"/>
              </a:ext>
            </a:extLst>
          </p:cNvPr>
          <p:cNvSpPr/>
          <p:nvPr/>
        </p:nvSpPr>
        <p:spPr>
          <a:xfrm rot="16200000">
            <a:off x="4288847" y="124632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878B2AA1-3FF7-5D57-9091-4447938193D0}"/>
              </a:ext>
            </a:extLst>
          </p:cNvPr>
          <p:cNvSpPr txBox="1"/>
          <p:nvPr/>
        </p:nvSpPr>
        <p:spPr>
          <a:xfrm>
            <a:off x="4755700" y="1682857"/>
            <a:ext cx="864000" cy="21434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p:txBody>
      </p:sp>
      <p:grpSp>
        <p:nvGrpSpPr>
          <p:cNvPr id="75" name="群組 74">
            <a:extLst>
              <a:ext uri="{FF2B5EF4-FFF2-40B4-BE49-F238E27FC236}">
                <a16:creationId xmlns:a16="http://schemas.microsoft.com/office/drawing/2014/main" id="{09A5A324-3DEC-03BE-2AE4-D9D702A8112A}"/>
              </a:ext>
            </a:extLst>
          </p:cNvPr>
          <p:cNvGrpSpPr/>
          <p:nvPr/>
        </p:nvGrpSpPr>
        <p:grpSpPr>
          <a:xfrm>
            <a:off x="251520" y="2944608"/>
            <a:ext cx="1066099" cy="628408"/>
            <a:chOff x="121525" y="3016616"/>
            <a:chExt cx="1066099" cy="628408"/>
          </a:xfrm>
        </p:grpSpPr>
        <p:sp>
          <p:nvSpPr>
            <p:cNvPr id="30" name="矩形 29">
              <a:extLst>
                <a:ext uri="{FF2B5EF4-FFF2-40B4-BE49-F238E27FC236}">
                  <a16:creationId xmlns:a16="http://schemas.microsoft.com/office/drawing/2014/main" id="{E2DE1953-49AE-101D-1BFB-FD07A518B130}"/>
                </a:ext>
              </a:extLst>
            </p:cNvPr>
            <p:cNvSpPr/>
            <p:nvPr/>
          </p:nvSpPr>
          <p:spPr>
            <a:xfrm>
              <a:off x="542232" y="3279264"/>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34" name="文字方塊 33">
              <a:extLst>
                <a:ext uri="{FF2B5EF4-FFF2-40B4-BE49-F238E27FC236}">
                  <a16:creationId xmlns:a16="http://schemas.microsoft.com/office/drawing/2014/main" id="{E3F54B8A-B657-67EA-3222-54AE4FAC6F79}"/>
                </a:ext>
              </a:extLst>
            </p:cNvPr>
            <p:cNvSpPr txBox="1"/>
            <p:nvPr/>
          </p:nvSpPr>
          <p:spPr>
            <a:xfrm>
              <a:off x="971600" y="332498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37" name="文字方塊 36">
              <a:extLst>
                <a:ext uri="{FF2B5EF4-FFF2-40B4-BE49-F238E27FC236}">
                  <a16:creationId xmlns:a16="http://schemas.microsoft.com/office/drawing/2014/main" id="{CF0BEBF6-5813-CF95-1FA4-C0C39E260B81}"/>
                </a:ext>
              </a:extLst>
            </p:cNvPr>
            <p:cNvSpPr txBox="1"/>
            <p:nvPr/>
          </p:nvSpPr>
          <p:spPr>
            <a:xfrm>
              <a:off x="390507" y="332498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1" name="文字方塊 50">
              <a:extLst>
                <a:ext uri="{FF2B5EF4-FFF2-40B4-BE49-F238E27FC236}">
                  <a16:creationId xmlns:a16="http://schemas.microsoft.com/office/drawing/2014/main" id="{D0C52DBD-DEB6-AFFA-E98D-75380BBC0371}"/>
                </a:ext>
              </a:extLst>
            </p:cNvPr>
            <p:cNvSpPr txBox="1"/>
            <p:nvPr/>
          </p:nvSpPr>
          <p:spPr>
            <a:xfrm>
              <a:off x="553264" y="3140968"/>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54" name="文字方塊 53">
              <a:extLst>
                <a:ext uri="{FF2B5EF4-FFF2-40B4-BE49-F238E27FC236}">
                  <a16:creationId xmlns:a16="http://schemas.microsoft.com/office/drawing/2014/main" id="{FD0449CD-2130-D541-F9FD-A9750EEB6BF7}"/>
                </a:ext>
              </a:extLst>
            </p:cNvPr>
            <p:cNvSpPr txBox="1"/>
            <p:nvPr/>
          </p:nvSpPr>
          <p:spPr>
            <a:xfrm>
              <a:off x="894563" y="321297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67" name="矩形 66">
              <a:extLst>
                <a:ext uri="{FF2B5EF4-FFF2-40B4-BE49-F238E27FC236}">
                  <a16:creationId xmlns:a16="http://schemas.microsoft.com/office/drawing/2014/main" id="{35A5F392-B90C-AD01-59A7-501B83DBBAC6}"/>
                </a:ext>
              </a:extLst>
            </p:cNvPr>
            <p:cNvSpPr/>
            <p:nvPr/>
          </p:nvSpPr>
          <p:spPr>
            <a:xfrm>
              <a:off x="126554"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4" name="文字方塊 73">
              <a:extLst>
                <a:ext uri="{FF2B5EF4-FFF2-40B4-BE49-F238E27FC236}">
                  <a16:creationId xmlns:a16="http://schemas.microsoft.com/office/drawing/2014/main" id="{92B6EA84-82D7-9B13-9C67-46BDF886A2A7}"/>
                </a:ext>
              </a:extLst>
            </p:cNvPr>
            <p:cNvSpPr txBox="1"/>
            <p:nvPr/>
          </p:nvSpPr>
          <p:spPr>
            <a:xfrm>
              <a:off x="121525" y="3016616"/>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grpSp>
        <p:nvGrpSpPr>
          <p:cNvPr id="82" name="群組 81">
            <a:extLst>
              <a:ext uri="{FF2B5EF4-FFF2-40B4-BE49-F238E27FC236}">
                <a16:creationId xmlns:a16="http://schemas.microsoft.com/office/drawing/2014/main" id="{2E09DC6D-F60A-A48C-51C2-6B9D5204E5DE}"/>
              </a:ext>
            </a:extLst>
          </p:cNvPr>
          <p:cNvGrpSpPr/>
          <p:nvPr/>
        </p:nvGrpSpPr>
        <p:grpSpPr>
          <a:xfrm>
            <a:off x="1187624" y="1628800"/>
            <a:ext cx="1066099" cy="638586"/>
            <a:chOff x="1091459" y="1303398"/>
            <a:chExt cx="1066099" cy="638586"/>
          </a:xfrm>
        </p:grpSpPr>
        <p:sp>
          <p:nvSpPr>
            <p:cNvPr id="32" name="矩形 31">
              <a:extLst>
                <a:ext uri="{FF2B5EF4-FFF2-40B4-BE49-F238E27FC236}">
                  <a16:creationId xmlns:a16="http://schemas.microsoft.com/office/drawing/2014/main" id="{BFFF05FC-B9A5-6CC5-758F-A8A192F39652}"/>
                </a:ext>
              </a:extLst>
            </p:cNvPr>
            <p:cNvSpPr/>
            <p:nvPr/>
          </p:nvSpPr>
          <p:spPr>
            <a:xfrm>
              <a:off x="1550421" y="157631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40" name="文字方塊 39">
              <a:extLst>
                <a:ext uri="{FF2B5EF4-FFF2-40B4-BE49-F238E27FC236}">
                  <a16:creationId xmlns:a16="http://schemas.microsoft.com/office/drawing/2014/main" id="{1A904E3C-14D7-4DD7-2DB3-3CE890071D3A}"/>
                </a:ext>
              </a:extLst>
            </p:cNvPr>
            <p:cNvSpPr txBox="1"/>
            <p:nvPr/>
          </p:nvSpPr>
          <p:spPr>
            <a:xfrm>
              <a:off x="1398696" y="162203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43" name="文字方塊 42">
              <a:extLst>
                <a:ext uri="{FF2B5EF4-FFF2-40B4-BE49-F238E27FC236}">
                  <a16:creationId xmlns:a16="http://schemas.microsoft.com/office/drawing/2014/main" id="{0572CC80-221C-CFA8-6CA0-C9209C8C0807}"/>
                </a:ext>
              </a:extLst>
            </p:cNvPr>
            <p:cNvSpPr txBox="1"/>
            <p:nvPr/>
          </p:nvSpPr>
          <p:spPr>
            <a:xfrm>
              <a:off x="1940848" y="162203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70" name="矩形 69">
              <a:extLst>
                <a:ext uri="{FF2B5EF4-FFF2-40B4-BE49-F238E27FC236}">
                  <a16:creationId xmlns:a16="http://schemas.microsoft.com/office/drawing/2014/main" id="{1C097F63-2D37-58F6-D724-29AD948117B6}"/>
                </a:ext>
              </a:extLst>
            </p:cNvPr>
            <p:cNvSpPr/>
            <p:nvPr/>
          </p:nvSpPr>
          <p:spPr>
            <a:xfrm>
              <a:off x="1115616" y="148478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7" name="文字方塊 76">
              <a:extLst>
                <a:ext uri="{FF2B5EF4-FFF2-40B4-BE49-F238E27FC236}">
                  <a16:creationId xmlns:a16="http://schemas.microsoft.com/office/drawing/2014/main" id="{830D44BB-39A0-3014-543C-89117CBE1B64}"/>
                </a:ext>
              </a:extLst>
            </p:cNvPr>
            <p:cNvSpPr txBox="1"/>
            <p:nvPr/>
          </p:nvSpPr>
          <p:spPr>
            <a:xfrm>
              <a:off x="1523198" y="1427750"/>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79" name="文字方塊 78">
              <a:extLst>
                <a:ext uri="{FF2B5EF4-FFF2-40B4-BE49-F238E27FC236}">
                  <a16:creationId xmlns:a16="http://schemas.microsoft.com/office/drawing/2014/main" id="{ED7EA4EE-F758-B904-E7DF-513A69A187EC}"/>
                </a:ext>
              </a:extLst>
            </p:cNvPr>
            <p:cNvSpPr txBox="1"/>
            <p:nvPr/>
          </p:nvSpPr>
          <p:spPr>
            <a:xfrm>
              <a:off x="1864497" y="149975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1" name="文字方塊 80">
              <a:extLst>
                <a:ext uri="{FF2B5EF4-FFF2-40B4-BE49-F238E27FC236}">
                  <a16:creationId xmlns:a16="http://schemas.microsoft.com/office/drawing/2014/main" id="{9F5A2A00-AA2B-2668-0A78-241389E1C38B}"/>
                </a:ext>
              </a:extLst>
            </p:cNvPr>
            <p:cNvSpPr txBox="1"/>
            <p:nvPr/>
          </p:nvSpPr>
          <p:spPr>
            <a:xfrm>
              <a:off x="1091459" y="1303398"/>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cxnSp>
        <p:nvCxnSpPr>
          <p:cNvPr id="84" name="接點: 肘形 83">
            <a:extLst>
              <a:ext uri="{FF2B5EF4-FFF2-40B4-BE49-F238E27FC236}">
                <a16:creationId xmlns:a16="http://schemas.microsoft.com/office/drawing/2014/main" id="{8F443832-6634-CC95-EFEB-76CC61FD2CA3}"/>
              </a:ext>
            </a:extLst>
          </p:cNvPr>
          <p:cNvCxnSpPr>
            <a:stCxn id="43" idx="3"/>
            <a:endCxn id="57" idx="2"/>
          </p:cNvCxnSpPr>
          <p:nvPr/>
        </p:nvCxnSpPr>
        <p:spPr>
          <a:xfrm>
            <a:off x="2219893" y="2038876"/>
            <a:ext cx="366140" cy="310004"/>
          </a:xfrm>
          <a:prstGeom prst="bentConnector2">
            <a:avLst/>
          </a:prstGeom>
          <a:ln w="15875">
            <a:solidFill>
              <a:schemeClr val="accent1">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grpSp>
        <p:nvGrpSpPr>
          <p:cNvPr id="91" name="群組 90">
            <a:extLst>
              <a:ext uri="{FF2B5EF4-FFF2-40B4-BE49-F238E27FC236}">
                <a16:creationId xmlns:a16="http://schemas.microsoft.com/office/drawing/2014/main" id="{B819329B-F084-4216-7BA9-DE8E75792C09}"/>
              </a:ext>
            </a:extLst>
          </p:cNvPr>
          <p:cNvGrpSpPr/>
          <p:nvPr/>
        </p:nvGrpSpPr>
        <p:grpSpPr>
          <a:xfrm>
            <a:off x="4572000" y="2892725"/>
            <a:ext cx="1026360" cy="636377"/>
            <a:chOff x="4739871" y="2964733"/>
            <a:chExt cx="1026360" cy="636377"/>
          </a:xfrm>
        </p:grpSpPr>
        <p:sp>
          <p:nvSpPr>
            <p:cNvPr id="25" name="文字方塊 24">
              <a:extLst>
                <a:ext uri="{FF2B5EF4-FFF2-40B4-BE49-F238E27FC236}">
                  <a16:creationId xmlns:a16="http://schemas.microsoft.com/office/drawing/2014/main" id="{181CB809-ECAA-D9D0-D1EB-2F3D9BA9F17C}"/>
                </a:ext>
              </a:extLst>
            </p:cNvPr>
            <p:cNvSpPr txBox="1"/>
            <p:nvPr/>
          </p:nvSpPr>
          <p:spPr>
            <a:xfrm>
              <a:off x="4739871" y="296473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8" name="矩形 27">
              <a:extLst>
                <a:ext uri="{FF2B5EF4-FFF2-40B4-BE49-F238E27FC236}">
                  <a16:creationId xmlns:a16="http://schemas.microsoft.com/office/drawing/2014/main" id="{66340DE9-B9F8-5D8E-F0D8-531BF19180DC}"/>
                </a:ext>
              </a:extLst>
            </p:cNvPr>
            <p:cNvSpPr/>
            <p:nvPr/>
          </p:nvSpPr>
          <p:spPr>
            <a:xfrm>
              <a:off x="4739871" y="314391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56" name="矩形 55">
              <a:extLst>
                <a:ext uri="{FF2B5EF4-FFF2-40B4-BE49-F238E27FC236}">
                  <a16:creationId xmlns:a16="http://schemas.microsoft.com/office/drawing/2014/main" id="{FDE51605-7F17-B0D7-1EE1-7A6FACF24754}"/>
                </a:ext>
              </a:extLst>
            </p:cNvPr>
            <p:cNvSpPr/>
            <p:nvPr/>
          </p:nvSpPr>
          <p:spPr>
            <a:xfrm>
              <a:off x="5130408" y="3229629"/>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60" name="文字方塊 59">
              <a:extLst>
                <a:ext uri="{FF2B5EF4-FFF2-40B4-BE49-F238E27FC236}">
                  <a16:creationId xmlns:a16="http://schemas.microsoft.com/office/drawing/2014/main" id="{589B9766-37D4-CE54-10FC-FC09AB6106AB}"/>
                </a:ext>
              </a:extLst>
            </p:cNvPr>
            <p:cNvSpPr txBox="1"/>
            <p:nvPr/>
          </p:nvSpPr>
          <p:spPr>
            <a:xfrm>
              <a:off x="4986845" y="3275349"/>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3" name="文字方塊 62">
              <a:extLst>
                <a:ext uri="{FF2B5EF4-FFF2-40B4-BE49-F238E27FC236}">
                  <a16:creationId xmlns:a16="http://schemas.microsoft.com/office/drawing/2014/main" id="{33EEE794-1D55-0142-2347-DA849F37E466}"/>
                </a:ext>
              </a:extLst>
            </p:cNvPr>
            <p:cNvSpPr txBox="1"/>
            <p:nvPr/>
          </p:nvSpPr>
          <p:spPr>
            <a:xfrm>
              <a:off x="5514236" y="327534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6" name="文字方塊 85">
              <a:extLst>
                <a:ext uri="{FF2B5EF4-FFF2-40B4-BE49-F238E27FC236}">
                  <a16:creationId xmlns:a16="http://schemas.microsoft.com/office/drawing/2014/main" id="{5B5DC91F-8035-D277-E5EB-16D37B4A6F00}"/>
                </a:ext>
              </a:extLst>
            </p:cNvPr>
            <p:cNvSpPr txBox="1"/>
            <p:nvPr/>
          </p:nvSpPr>
          <p:spPr>
            <a:xfrm>
              <a:off x="5131871" y="3079956"/>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88" name="文字方塊 87">
              <a:extLst>
                <a:ext uri="{FF2B5EF4-FFF2-40B4-BE49-F238E27FC236}">
                  <a16:creationId xmlns:a16="http://schemas.microsoft.com/office/drawing/2014/main" id="{C6440293-C01A-CD1D-8B26-EB5E7FF89915}"/>
                </a:ext>
              </a:extLst>
            </p:cNvPr>
            <p:cNvSpPr txBox="1"/>
            <p:nvPr/>
          </p:nvSpPr>
          <p:spPr>
            <a:xfrm>
              <a:off x="5473170" y="315196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sp>
        <p:nvSpPr>
          <p:cNvPr id="90" name="左中括弧 89">
            <a:extLst>
              <a:ext uri="{FF2B5EF4-FFF2-40B4-BE49-F238E27FC236}">
                <a16:creationId xmlns:a16="http://schemas.microsoft.com/office/drawing/2014/main" id="{5F5C135D-A705-2E2A-4B4F-4C7DB4C0E927}"/>
              </a:ext>
            </a:extLst>
          </p:cNvPr>
          <p:cNvSpPr/>
          <p:nvPr/>
        </p:nvSpPr>
        <p:spPr>
          <a:xfrm rot="16200000" flipH="1">
            <a:off x="5219676" y="-550677"/>
            <a:ext cx="98278" cy="4994029"/>
          </a:xfrm>
          <a:prstGeom prst="leftBracket">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92" name="接點: 肘形 91">
            <a:extLst>
              <a:ext uri="{FF2B5EF4-FFF2-40B4-BE49-F238E27FC236}">
                <a16:creationId xmlns:a16="http://schemas.microsoft.com/office/drawing/2014/main" id="{5487B822-8698-F7FD-3F12-C96B513E5B22}"/>
              </a:ext>
            </a:extLst>
          </p:cNvPr>
          <p:cNvCxnSpPr>
            <a:cxnSpLocks/>
            <a:stCxn id="34" idx="3"/>
            <a:endCxn id="36" idx="0"/>
          </p:cNvCxnSpPr>
          <p:nvPr/>
        </p:nvCxnSpPr>
        <p:spPr>
          <a:xfrm>
            <a:off x="1284475" y="3344416"/>
            <a:ext cx="430789" cy="188206"/>
          </a:xfrm>
          <a:prstGeom prst="bentConnector2">
            <a:avLst/>
          </a:prstGeom>
          <a:ln w="15875">
            <a:solidFill>
              <a:schemeClr val="accent2">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cxnSp>
        <p:nvCxnSpPr>
          <p:cNvPr id="96" name="接點: 肘形 95">
            <a:extLst>
              <a:ext uri="{FF2B5EF4-FFF2-40B4-BE49-F238E27FC236}">
                <a16:creationId xmlns:a16="http://schemas.microsoft.com/office/drawing/2014/main" id="{5B806913-7DE1-6C59-985B-B6A05DE4267C}"/>
              </a:ext>
            </a:extLst>
          </p:cNvPr>
          <p:cNvCxnSpPr>
            <a:cxnSpLocks/>
            <a:stCxn id="63" idx="3"/>
            <a:endCxn id="41" idx="0"/>
          </p:cNvCxnSpPr>
          <p:nvPr/>
        </p:nvCxnSpPr>
        <p:spPr>
          <a:xfrm>
            <a:off x="5529245" y="3294781"/>
            <a:ext cx="193740" cy="195612"/>
          </a:xfrm>
          <a:prstGeom prst="bentConnector2">
            <a:avLst/>
          </a:prstGeom>
          <a:ln w="15875">
            <a:solidFill>
              <a:schemeClr val="accent3">
                <a:lumMod val="75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103" name="矩形: 圓角 102">
            <a:extLst>
              <a:ext uri="{FF2B5EF4-FFF2-40B4-BE49-F238E27FC236}">
                <a16:creationId xmlns:a16="http://schemas.microsoft.com/office/drawing/2014/main" id="{B0C79619-D968-AE9D-9EF0-27A69B99A3B8}"/>
              </a:ext>
            </a:extLst>
          </p:cNvPr>
          <p:cNvSpPr/>
          <p:nvPr/>
        </p:nvSpPr>
        <p:spPr>
          <a:xfrm>
            <a:off x="4572000" y="1117675"/>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cs typeface="ADLaM Display" panose="02010000000000000000" pitchFamily="2" charset="0"/>
              </a:rPr>
              <a:t>Attn</a:t>
            </a:r>
            <a:endParaRPr lang="zh-TW" altLang="en-US" sz="12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106" name="文字方塊 105">
            <a:extLst>
              <a:ext uri="{FF2B5EF4-FFF2-40B4-BE49-F238E27FC236}">
                <a16:creationId xmlns:a16="http://schemas.microsoft.com/office/drawing/2014/main" id="{ED8138D6-F08E-4EEC-726E-2CBE7DD8AA4E}"/>
              </a:ext>
            </a:extLst>
          </p:cNvPr>
          <p:cNvSpPr txBox="1"/>
          <p:nvPr/>
        </p:nvSpPr>
        <p:spPr>
          <a:xfrm>
            <a:off x="5181208" y="124276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8" name="文字方塊 107">
            <a:extLst>
              <a:ext uri="{FF2B5EF4-FFF2-40B4-BE49-F238E27FC236}">
                <a16:creationId xmlns:a16="http://schemas.microsoft.com/office/drawing/2014/main" id="{331941BD-1F0A-7985-B5AD-509EE5A71819}"/>
              </a:ext>
            </a:extLst>
          </p:cNvPr>
          <p:cNvSpPr txBox="1"/>
          <p:nvPr/>
        </p:nvSpPr>
        <p:spPr>
          <a:xfrm>
            <a:off x="6499408"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0" name="文字方塊 109">
            <a:extLst>
              <a:ext uri="{FF2B5EF4-FFF2-40B4-BE49-F238E27FC236}">
                <a16:creationId xmlns:a16="http://schemas.microsoft.com/office/drawing/2014/main" id="{597F843D-2535-3972-0FCE-B49E5D1BC5AE}"/>
              </a:ext>
            </a:extLst>
          </p:cNvPr>
          <p:cNvSpPr txBox="1"/>
          <p:nvPr/>
        </p:nvSpPr>
        <p:spPr>
          <a:xfrm>
            <a:off x="7519299"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2" name="文字方塊 111">
            <a:extLst>
              <a:ext uri="{FF2B5EF4-FFF2-40B4-BE49-F238E27FC236}">
                <a16:creationId xmlns:a16="http://schemas.microsoft.com/office/drawing/2014/main" id="{09C897FE-19BF-2501-23EF-DC208C9BA9B7}"/>
              </a:ext>
            </a:extLst>
          </p:cNvPr>
          <p:cNvSpPr txBox="1"/>
          <p:nvPr/>
        </p:nvSpPr>
        <p:spPr>
          <a:xfrm>
            <a:off x="8244408" y="288978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4" name="矩形 113">
            <a:extLst>
              <a:ext uri="{FF2B5EF4-FFF2-40B4-BE49-F238E27FC236}">
                <a16:creationId xmlns:a16="http://schemas.microsoft.com/office/drawing/2014/main" id="{B8E866B7-6A7F-1A8A-4859-1E7634CD5A35}"/>
              </a:ext>
            </a:extLst>
          </p:cNvPr>
          <p:cNvSpPr/>
          <p:nvPr/>
        </p:nvSpPr>
        <p:spPr>
          <a:xfrm>
            <a:off x="8244408" y="306896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6" name="矩形: 圓角 115">
            <a:extLst>
              <a:ext uri="{FF2B5EF4-FFF2-40B4-BE49-F238E27FC236}">
                <a16:creationId xmlns:a16="http://schemas.microsoft.com/office/drawing/2014/main" id="{FFDADA24-F9F5-1B4A-8D88-A8ECB7DF7435}"/>
              </a:ext>
            </a:extLst>
          </p:cNvPr>
          <p:cNvSpPr/>
          <p:nvPr/>
        </p:nvSpPr>
        <p:spPr>
          <a:xfrm>
            <a:off x="5678732" y="764704"/>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9035F860-043F-CB1C-452D-12BB448F6CB0}"/>
              </a:ext>
            </a:extLst>
          </p:cNvPr>
          <p:cNvSpPr txBox="1"/>
          <p:nvPr/>
        </p:nvSpPr>
        <p:spPr>
          <a:xfrm>
            <a:off x="8462862" y="32123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20B0-BEFF-7A6F-2EA5-02B6382B5F82}"/>
            </a:ext>
          </a:extLst>
        </p:cNvPr>
        <p:cNvGrpSpPr/>
        <p:nvPr/>
      </p:nvGrpSpPr>
      <p:grpSpPr>
        <a:xfrm>
          <a:off x="0" y="0"/>
          <a:ext cx="0" cy="0"/>
          <a:chOff x="0" y="0"/>
          <a:chExt cx="0" cy="0"/>
        </a:xfrm>
      </p:grpSpPr>
      <p:sp>
        <p:nvSpPr>
          <p:cNvPr id="179" name="矩形 178">
            <a:extLst>
              <a:ext uri="{FF2B5EF4-FFF2-40B4-BE49-F238E27FC236}">
                <a16:creationId xmlns:a16="http://schemas.microsoft.com/office/drawing/2014/main" id="{8FB58A0A-24D8-E664-F4BD-7805146B3F25}"/>
              </a:ext>
            </a:extLst>
          </p:cNvPr>
          <p:cNvSpPr/>
          <p:nvPr/>
        </p:nvSpPr>
        <p:spPr>
          <a:xfrm>
            <a:off x="8258120"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9" name="矩形: 圓角 118">
            <a:extLst>
              <a:ext uri="{FF2B5EF4-FFF2-40B4-BE49-F238E27FC236}">
                <a16:creationId xmlns:a16="http://schemas.microsoft.com/office/drawing/2014/main" id="{C5C47423-E8B1-D73B-FF11-9061E6FB763C}"/>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標題 1">
            <a:extLst>
              <a:ext uri="{FF2B5EF4-FFF2-40B4-BE49-F238E27FC236}">
                <a16:creationId xmlns:a16="http://schemas.microsoft.com/office/drawing/2014/main" id="{85FE02F0-2D41-9303-763A-4903C2069F1C}"/>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FFN and MoE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b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b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4" name="文字方塊 3">
            <a:extLst>
              <a:ext uri="{FF2B5EF4-FFF2-40B4-BE49-F238E27FC236}">
                <a16:creationId xmlns:a16="http://schemas.microsoft.com/office/drawing/2014/main" id="{08595CBB-D535-54F3-634F-6E8985F0FF26}"/>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Dense FFN</a:t>
            </a:r>
            <a:r>
              <a:rPr lang="en-US" altLang="zh-TW" sz="1600" dirty="0"/>
              <a:t>: Straightforward architecture and H/W friendly deployment.</a:t>
            </a:r>
          </a:p>
          <a:p>
            <a:pPr marL="285750" indent="-285750">
              <a:lnSpc>
                <a:spcPts val="1800"/>
              </a:lnSpc>
              <a:spcBef>
                <a:spcPts val="600"/>
              </a:spcBef>
              <a:spcAft>
                <a:spcPts val="600"/>
              </a:spcAft>
              <a:buFont typeface="Wingdings" panose="05000000000000000000" pitchFamily="2" charset="2"/>
              <a:buChar char="Ø"/>
            </a:pPr>
            <a:r>
              <a:rPr lang="en-US" altLang="zh-TW" sz="1600" b="1" dirty="0"/>
              <a:t>Sparse MoE</a:t>
            </a:r>
            <a:r>
              <a:rPr lang="en-US" altLang="zh-TW" sz="1600" dirty="0"/>
              <a:t>: Minimal computational cost and maximized model capacity. </a:t>
            </a:r>
            <a:endParaRPr lang="en-US" altLang="zh-TW" sz="1600" b="1" dirty="0"/>
          </a:p>
        </p:txBody>
      </p:sp>
      <p:grpSp>
        <p:nvGrpSpPr>
          <p:cNvPr id="5" name="群組 4">
            <a:extLst>
              <a:ext uri="{FF2B5EF4-FFF2-40B4-BE49-F238E27FC236}">
                <a16:creationId xmlns:a16="http://schemas.microsoft.com/office/drawing/2014/main" id="{8387F6FA-116B-73E4-D141-F991685258E9}"/>
              </a:ext>
            </a:extLst>
          </p:cNvPr>
          <p:cNvGrpSpPr/>
          <p:nvPr/>
        </p:nvGrpSpPr>
        <p:grpSpPr>
          <a:xfrm>
            <a:off x="395536" y="2883447"/>
            <a:ext cx="3014965" cy="819997"/>
            <a:chOff x="1187624" y="3953478"/>
            <a:chExt cx="3014965" cy="819997"/>
          </a:xfrm>
        </p:grpSpPr>
        <p:sp>
          <p:nvSpPr>
            <p:cNvPr id="8" name="矩形 7">
              <a:extLst>
                <a:ext uri="{FF2B5EF4-FFF2-40B4-BE49-F238E27FC236}">
                  <a16:creationId xmlns:a16="http://schemas.microsoft.com/office/drawing/2014/main" id="{857A162F-B8A4-9566-5673-54D8C6464FAE}"/>
                </a:ext>
              </a:extLst>
            </p:cNvPr>
            <p:cNvSpPr/>
            <p:nvPr/>
          </p:nvSpPr>
          <p:spPr>
            <a:xfrm>
              <a:off x="1700818" y="4133282"/>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10" name="矩形 9">
              <a:extLst>
                <a:ext uri="{FF2B5EF4-FFF2-40B4-BE49-F238E27FC236}">
                  <a16:creationId xmlns:a16="http://schemas.microsoft.com/office/drawing/2014/main" id="{00F3746D-76ED-0F83-4ACB-52965404E31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矩形 10">
              <a:extLst>
                <a:ext uri="{FF2B5EF4-FFF2-40B4-BE49-F238E27FC236}">
                  <a16:creationId xmlns:a16="http://schemas.microsoft.com/office/drawing/2014/main" id="{8853F636-EBC3-83D0-9F17-C9FC8C2F290E}"/>
                </a:ext>
              </a:extLst>
            </p:cNvPr>
            <p:cNvSpPr/>
            <p:nvPr/>
          </p:nvSpPr>
          <p:spPr>
            <a:xfrm>
              <a:off x="2926879" y="4145821"/>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12" name="矩形 11">
              <a:extLst>
                <a:ext uri="{FF2B5EF4-FFF2-40B4-BE49-F238E27FC236}">
                  <a16:creationId xmlns:a16="http://schemas.microsoft.com/office/drawing/2014/main" id="{3CFCA351-167D-2A5C-FBE2-2AFC48A2095E}"/>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文字方塊 13">
              <a:extLst>
                <a:ext uri="{FF2B5EF4-FFF2-40B4-BE49-F238E27FC236}">
                  <a16:creationId xmlns:a16="http://schemas.microsoft.com/office/drawing/2014/main" id="{2EFFA3CC-08E3-CA84-F4C4-CE247FC6CF0A}"/>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5" name="矩形 14">
              <a:extLst>
                <a:ext uri="{FF2B5EF4-FFF2-40B4-BE49-F238E27FC236}">
                  <a16:creationId xmlns:a16="http://schemas.microsoft.com/office/drawing/2014/main" id="{AF1E12CE-8B58-5721-8727-98E109AE463B}"/>
                </a:ext>
              </a:extLst>
            </p:cNvPr>
            <p:cNvSpPr/>
            <p:nvPr/>
          </p:nvSpPr>
          <p:spPr>
            <a:xfrm rot="16200000">
              <a:off x="3721460" y="4320325"/>
              <a:ext cx="631980" cy="274320"/>
            </a:xfrm>
            <a:prstGeom prst="rect">
              <a:avLst/>
            </a:prstGeom>
            <a:solidFill>
              <a:schemeClr val="accent3">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18" name="文字方塊 17">
              <a:extLst>
                <a:ext uri="{FF2B5EF4-FFF2-40B4-BE49-F238E27FC236}">
                  <a16:creationId xmlns:a16="http://schemas.microsoft.com/office/drawing/2014/main" id="{CB988084-69E4-2C35-74BD-A27221F56B38}"/>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9" name="文字方塊 18">
              <a:extLst>
                <a:ext uri="{FF2B5EF4-FFF2-40B4-BE49-F238E27FC236}">
                  <a16:creationId xmlns:a16="http://schemas.microsoft.com/office/drawing/2014/main" id="{B690F013-D449-7B5A-C53D-9D64842E182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0" name="文字方塊 19">
              <a:extLst>
                <a:ext uri="{FF2B5EF4-FFF2-40B4-BE49-F238E27FC236}">
                  <a16:creationId xmlns:a16="http://schemas.microsoft.com/office/drawing/2014/main" id="{7A182192-883D-C416-92C5-03E133FAD981}"/>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22" name="文字方塊 21">
              <a:extLst>
                <a:ext uri="{FF2B5EF4-FFF2-40B4-BE49-F238E27FC236}">
                  <a16:creationId xmlns:a16="http://schemas.microsoft.com/office/drawing/2014/main" id="{088F27CD-C30A-43B1-2561-07AC9BDF5115}"/>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23" name="左右中括弧 22">
              <a:extLst>
                <a:ext uri="{FF2B5EF4-FFF2-40B4-BE49-F238E27FC236}">
                  <a16:creationId xmlns:a16="http://schemas.microsoft.com/office/drawing/2014/main" id="{E46DC2B8-02E8-E1FB-7EC8-17793BDCFCD6}"/>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27" name="左中括弧 26">
            <a:extLst>
              <a:ext uri="{FF2B5EF4-FFF2-40B4-BE49-F238E27FC236}">
                <a16:creationId xmlns:a16="http://schemas.microsoft.com/office/drawing/2014/main" id="{8539CAF7-56EA-733C-7429-1A0824F85AF2}"/>
              </a:ext>
            </a:extLst>
          </p:cNvPr>
          <p:cNvSpPr/>
          <p:nvPr/>
        </p:nvSpPr>
        <p:spPr>
          <a:xfrm rot="16200000" flipH="1">
            <a:off x="1940946" y="1574559"/>
            <a:ext cx="45719"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28" name="群組 27">
            <a:extLst>
              <a:ext uri="{FF2B5EF4-FFF2-40B4-BE49-F238E27FC236}">
                <a16:creationId xmlns:a16="http://schemas.microsoft.com/office/drawing/2014/main" id="{36663390-B69E-B311-2BA9-3A379103EB8F}"/>
              </a:ext>
            </a:extLst>
          </p:cNvPr>
          <p:cNvGrpSpPr/>
          <p:nvPr/>
        </p:nvGrpSpPr>
        <p:grpSpPr>
          <a:xfrm>
            <a:off x="976246" y="3891514"/>
            <a:ext cx="1595502" cy="1210625"/>
            <a:chOff x="1109821" y="5005729"/>
            <a:chExt cx="1595502" cy="1210625"/>
          </a:xfrm>
        </p:grpSpPr>
        <p:pic>
          <p:nvPicPr>
            <p:cNvPr id="30" name="圖片 29">
              <a:extLst>
                <a:ext uri="{FF2B5EF4-FFF2-40B4-BE49-F238E27FC236}">
                  <a16:creationId xmlns:a16="http://schemas.microsoft.com/office/drawing/2014/main" id="{D031D34C-0754-836C-8D6A-D66B5F1F8555}"/>
                </a:ext>
              </a:extLst>
            </p:cNvPr>
            <p:cNvPicPr>
              <a:picLocks noChangeAspect="1"/>
            </p:cNvPicPr>
            <p:nvPr/>
          </p:nvPicPr>
          <p:blipFill>
            <a:blip r:embed="rId3"/>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DCB40673-8E90-429E-7658-FAFA69FC3883}"/>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xmlns="">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32" name="文字方塊 31">
            <a:extLst>
              <a:ext uri="{FF2B5EF4-FFF2-40B4-BE49-F238E27FC236}">
                <a16:creationId xmlns:a16="http://schemas.microsoft.com/office/drawing/2014/main" id="{C83F665C-610C-F499-A6B1-DD2517469EC9}"/>
              </a:ext>
            </a:extLst>
          </p:cNvPr>
          <p:cNvSpPr txBox="1"/>
          <p:nvPr/>
        </p:nvSpPr>
        <p:spPr>
          <a:xfrm>
            <a:off x="1000036" y="2564904"/>
            <a:ext cx="1985336" cy="276999"/>
          </a:xfrm>
          <a:prstGeom prst="rect">
            <a:avLst/>
          </a:prstGeom>
          <a:noFill/>
        </p:spPr>
        <p:txBody>
          <a:bodyPr wrap="none" anchor="ctr" anchorCtr="1">
            <a:noAutofit/>
          </a:bodyPr>
          <a:lstStyle/>
          <a:p>
            <a:r>
              <a:rPr lang="en-US" altLang="zh-TW" sz="1200" b="1" dirty="0">
                <a:solidFill>
                  <a:schemeClr val="accent3">
                    <a:lumMod val="50000"/>
                  </a:schemeClr>
                </a:solidFill>
              </a:rPr>
              <a:t>Dense Feed Forward Network</a:t>
            </a:r>
          </a:p>
        </p:txBody>
      </p:sp>
      <p:graphicFrame>
        <p:nvGraphicFramePr>
          <p:cNvPr id="39" name="表格 38">
            <a:extLst>
              <a:ext uri="{FF2B5EF4-FFF2-40B4-BE49-F238E27FC236}">
                <a16:creationId xmlns:a16="http://schemas.microsoft.com/office/drawing/2014/main" id="{394AB1E5-1778-8E1C-8044-06DD8A63E295}"/>
              </a:ext>
            </a:extLst>
          </p:cNvPr>
          <p:cNvGraphicFramePr>
            <a:graphicFrameLocks noGrp="1"/>
          </p:cNvGraphicFramePr>
          <p:nvPr>
            <p:extLst>
              <p:ext uri="{D42A27DB-BD31-4B8C-83A1-F6EECF244321}">
                <p14:modId xmlns:p14="http://schemas.microsoft.com/office/powerpoint/2010/main" val="1193541049"/>
              </p:ext>
            </p:extLst>
          </p:nvPr>
        </p:nvGraphicFramePr>
        <p:xfrm>
          <a:off x="5634356" y="2610929"/>
          <a:ext cx="2440637" cy="102558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0930">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0.81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0.7</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1.1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0930">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0.75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0.9</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0.14</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0930">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4.8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093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41" name="矩形 40">
            <a:extLst>
              <a:ext uri="{FF2B5EF4-FFF2-40B4-BE49-F238E27FC236}">
                <a16:creationId xmlns:a16="http://schemas.microsoft.com/office/drawing/2014/main" id="{CF5973AA-C4B4-515F-3E30-2080778F1C4F}"/>
              </a:ext>
            </a:extLst>
          </p:cNvPr>
          <p:cNvSpPr/>
          <p:nvPr/>
        </p:nvSpPr>
        <p:spPr>
          <a:xfrm>
            <a:off x="5584227" y="3430761"/>
            <a:ext cx="2529877" cy="234564"/>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92" name="矩形 91">
            <a:extLst>
              <a:ext uri="{FF2B5EF4-FFF2-40B4-BE49-F238E27FC236}">
                <a16:creationId xmlns:a16="http://schemas.microsoft.com/office/drawing/2014/main" id="{616F3CF7-8D6A-9A67-A439-4B8E6B457A2C}"/>
              </a:ext>
            </a:extLst>
          </p:cNvPr>
          <p:cNvSpPr/>
          <p:nvPr/>
        </p:nvSpPr>
        <p:spPr>
          <a:xfrm>
            <a:off x="4453251" y="306410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5" name="文字方塊 94">
            <a:extLst>
              <a:ext uri="{FF2B5EF4-FFF2-40B4-BE49-F238E27FC236}">
                <a16:creationId xmlns:a16="http://schemas.microsoft.com/office/drawing/2014/main" id="{A7F00FB4-B30A-29B9-565C-B4C1F71B2FC2}"/>
              </a:ext>
            </a:extLst>
          </p:cNvPr>
          <p:cNvSpPr txBox="1"/>
          <p:nvPr/>
        </p:nvSpPr>
        <p:spPr>
          <a:xfrm>
            <a:off x="4453251" y="290318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7" name="矩形 96">
            <a:extLst>
              <a:ext uri="{FF2B5EF4-FFF2-40B4-BE49-F238E27FC236}">
                <a16:creationId xmlns:a16="http://schemas.microsoft.com/office/drawing/2014/main" id="{C567480A-5A39-FE54-7522-F872BC070B39}"/>
              </a:ext>
            </a:extLst>
          </p:cNvPr>
          <p:cNvSpPr/>
          <p:nvPr/>
        </p:nvSpPr>
        <p:spPr>
          <a:xfrm>
            <a:off x="4877931" y="3135301"/>
            <a:ext cx="274320" cy="274320"/>
          </a:xfrm>
          <a:prstGeom prst="rect">
            <a:avLst/>
          </a:prstGeom>
          <a:solidFill>
            <a:schemeClr val="accent5">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G</a:t>
            </a:r>
          </a:p>
        </p:txBody>
      </p:sp>
      <p:sp>
        <p:nvSpPr>
          <p:cNvPr id="99" name="文字方塊 98">
            <a:extLst>
              <a:ext uri="{FF2B5EF4-FFF2-40B4-BE49-F238E27FC236}">
                <a16:creationId xmlns:a16="http://schemas.microsoft.com/office/drawing/2014/main" id="{B71EA900-5279-3AB7-59E5-E006FFE4273D}"/>
              </a:ext>
            </a:extLst>
          </p:cNvPr>
          <p:cNvSpPr txBox="1"/>
          <p:nvPr/>
        </p:nvSpPr>
        <p:spPr>
          <a:xfrm>
            <a:off x="4887456" y="2982984"/>
            <a:ext cx="274320" cy="118033"/>
          </a:xfrm>
          <a:prstGeom prst="rect">
            <a:avLst/>
          </a:prstGeom>
          <a:noFill/>
        </p:spPr>
        <p:txBody>
          <a:bodyPr wrap="none" lIns="0" tIns="0" rIns="0" bIns="0" rtlCol="0" anchor="ctr" anchorCtr="1">
            <a:noAutofit/>
          </a:bodyPr>
          <a:lstStyle/>
          <a:p>
            <a:pPr algn="ctr"/>
            <a:r>
              <a:rPr lang="en-US" altLang="zh-TW" sz="1200" b="1" dirty="0"/>
              <a:t>d*16</a:t>
            </a:r>
            <a:endParaRPr lang="zh-TW" altLang="en-US" sz="1200" b="1" dirty="0"/>
          </a:p>
        </p:txBody>
      </p:sp>
      <p:grpSp>
        <p:nvGrpSpPr>
          <p:cNvPr id="145" name="群組 144">
            <a:extLst>
              <a:ext uri="{FF2B5EF4-FFF2-40B4-BE49-F238E27FC236}">
                <a16:creationId xmlns:a16="http://schemas.microsoft.com/office/drawing/2014/main" id="{CA67B1F5-D787-89FC-61EC-186D9F19145B}"/>
              </a:ext>
            </a:extLst>
          </p:cNvPr>
          <p:cNvGrpSpPr/>
          <p:nvPr/>
        </p:nvGrpSpPr>
        <p:grpSpPr>
          <a:xfrm>
            <a:off x="4989863" y="3897752"/>
            <a:ext cx="603961" cy="343638"/>
            <a:chOff x="5070690" y="3751735"/>
            <a:chExt cx="574464" cy="406636"/>
          </a:xfrm>
        </p:grpSpPr>
        <p:sp>
          <p:nvSpPr>
            <p:cNvPr id="106" name="文字方塊 105">
              <a:extLst>
                <a:ext uri="{FF2B5EF4-FFF2-40B4-BE49-F238E27FC236}">
                  <a16:creationId xmlns:a16="http://schemas.microsoft.com/office/drawing/2014/main" id="{DAB2CD08-A78E-7641-5656-EB434A63650B}"/>
                </a:ext>
              </a:extLst>
            </p:cNvPr>
            <p:cNvSpPr txBox="1"/>
            <p:nvPr/>
          </p:nvSpPr>
          <p:spPr>
            <a:xfrm>
              <a:off x="5344654"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08" name="文字方塊 107">
              <a:extLst>
                <a:ext uri="{FF2B5EF4-FFF2-40B4-BE49-F238E27FC236}">
                  <a16:creationId xmlns:a16="http://schemas.microsoft.com/office/drawing/2014/main" id="{A571EEBD-BE15-6CCF-9553-767CAF2B78FA}"/>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Softmax</a:t>
              </a:r>
              <a:endParaRPr lang="zh-TW" altLang="en-US" sz="1200" b="1" dirty="0">
                <a:cs typeface="ADLaM Display" panose="02010000000000000000" pitchFamily="2" charset="0"/>
              </a:endParaRPr>
            </a:p>
          </p:txBody>
        </p:sp>
      </p:grpSp>
      <p:graphicFrame>
        <p:nvGraphicFramePr>
          <p:cNvPr id="110" name="表格 109">
            <a:extLst>
              <a:ext uri="{FF2B5EF4-FFF2-40B4-BE49-F238E27FC236}">
                <a16:creationId xmlns:a16="http://schemas.microsoft.com/office/drawing/2014/main" id="{D037CF37-D0FE-BC04-5158-941C8C2041E1}"/>
              </a:ext>
            </a:extLst>
          </p:cNvPr>
          <p:cNvGraphicFramePr>
            <a:graphicFrameLocks noGrp="1"/>
          </p:cNvGraphicFramePr>
          <p:nvPr>
            <p:extLst>
              <p:ext uri="{D42A27DB-BD31-4B8C-83A1-F6EECF244321}">
                <p14:modId xmlns:p14="http://schemas.microsoft.com/office/powerpoint/2010/main" val="2124336932"/>
              </p:ext>
            </p:extLst>
          </p:nvPr>
        </p:nvGraphicFramePr>
        <p:xfrm>
          <a:off x="5634574" y="3843360"/>
          <a:ext cx="2440637" cy="47003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235018">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0.25</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0.17</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4524538"/>
                  </a:ext>
                </a:extLst>
              </a:tr>
              <a:tr h="235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24%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grpSp>
        <p:nvGrpSpPr>
          <p:cNvPr id="144" name="群組 143">
            <a:extLst>
              <a:ext uri="{FF2B5EF4-FFF2-40B4-BE49-F238E27FC236}">
                <a16:creationId xmlns:a16="http://schemas.microsoft.com/office/drawing/2014/main" id="{5EDBC784-1940-6644-28F4-382EDC2FC879}"/>
              </a:ext>
            </a:extLst>
          </p:cNvPr>
          <p:cNvGrpSpPr/>
          <p:nvPr/>
        </p:nvGrpSpPr>
        <p:grpSpPr>
          <a:xfrm>
            <a:off x="5665832" y="4601428"/>
            <a:ext cx="2359224" cy="611916"/>
            <a:chOff x="6045118" y="4561680"/>
            <a:chExt cx="2359224" cy="611916"/>
          </a:xfrm>
        </p:grpSpPr>
        <p:sp>
          <p:nvSpPr>
            <p:cNvPr id="112" name="矩形: 圓角 111">
              <a:extLst>
                <a:ext uri="{FF2B5EF4-FFF2-40B4-BE49-F238E27FC236}">
                  <a16:creationId xmlns:a16="http://schemas.microsoft.com/office/drawing/2014/main" id="{7A7970CB-DECC-0CFB-8A52-05F105BE6D1C}"/>
                </a:ext>
              </a:extLst>
            </p:cNvPr>
            <p:cNvSpPr/>
            <p:nvPr/>
          </p:nvSpPr>
          <p:spPr>
            <a:xfrm>
              <a:off x="6045118"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4" name="矩形: 圓角 113">
              <a:extLst>
                <a:ext uri="{FF2B5EF4-FFF2-40B4-BE49-F238E27FC236}">
                  <a16:creationId xmlns:a16="http://schemas.microsoft.com/office/drawing/2014/main" id="{C44FF93E-C18C-2F88-D0BE-48E4DE95E8BC}"/>
                </a:ext>
              </a:extLst>
            </p:cNvPr>
            <p:cNvSpPr/>
            <p:nvPr/>
          </p:nvSpPr>
          <p:spPr>
            <a:xfrm>
              <a:off x="6345407" y="4561680"/>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cs typeface="ADLaM Display" panose="02010000000000000000" pitchFamily="2" charset="0"/>
                </a:rPr>
                <a:t>2</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16" name="矩形: 圓角 115">
              <a:extLst>
                <a:ext uri="{FF2B5EF4-FFF2-40B4-BE49-F238E27FC236}">
                  <a16:creationId xmlns:a16="http://schemas.microsoft.com/office/drawing/2014/main" id="{860E7781-D2D4-CF2E-8EC9-E3C95C3F85B4}"/>
                </a:ext>
              </a:extLst>
            </p:cNvPr>
            <p:cNvSpPr/>
            <p:nvPr/>
          </p:nvSpPr>
          <p:spPr>
            <a:xfrm>
              <a:off x="6647953"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8" name="矩形: 圓角 117">
              <a:extLst>
                <a:ext uri="{FF2B5EF4-FFF2-40B4-BE49-F238E27FC236}">
                  <a16:creationId xmlns:a16="http://schemas.microsoft.com/office/drawing/2014/main" id="{651A4350-FF5D-2EDD-9F94-4A5C2303C24C}"/>
                </a:ext>
              </a:extLst>
            </p:cNvPr>
            <p:cNvSpPr/>
            <p:nvPr/>
          </p:nvSpPr>
          <p:spPr>
            <a:xfrm>
              <a:off x="694824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1" name="矩形: 圓角 120">
              <a:extLst>
                <a:ext uri="{FF2B5EF4-FFF2-40B4-BE49-F238E27FC236}">
                  <a16:creationId xmlns:a16="http://schemas.microsoft.com/office/drawing/2014/main" id="{EAA39E58-6494-90E5-D779-AE9061BBD24B}"/>
                </a:ext>
              </a:extLst>
            </p:cNvPr>
            <p:cNvSpPr/>
            <p:nvPr/>
          </p:nvSpPr>
          <p:spPr>
            <a:xfrm>
              <a:off x="725058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3" name="矩形: 圓角 122">
              <a:extLst>
                <a:ext uri="{FF2B5EF4-FFF2-40B4-BE49-F238E27FC236}">
                  <a16:creationId xmlns:a16="http://schemas.microsoft.com/office/drawing/2014/main" id="{5137AFA9-62AF-E641-9112-E55653311E7D}"/>
                </a:ext>
              </a:extLst>
            </p:cNvPr>
            <p:cNvSpPr/>
            <p:nvPr/>
          </p:nvSpPr>
          <p:spPr>
            <a:xfrm>
              <a:off x="7550871"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5" name="矩形: 圓角 124">
              <a:extLst>
                <a:ext uri="{FF2B5EF4-FFF2-40B4-BE49-F238E27FC236}">
                  <a16:creationId xmlns:a16="http://schemas.microsoft.com/office/drawing/2014/main" id="{E7F25576-EA8F-77BC-2EE1-6D195FAFC3E5}"/>
                </a:ext>
              </a:extLst>
            </p:cNvPr>
            <p:cNvSpPr/>
            <p:nvPr/>
          </p:nvSpPr>
          <p:spPr>
            <a:xfrm>
              <a:off x="7853417"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7" name="矩形: 圓角 126">
              <a:extLst>
                <a:ext uri="{FF2B5EF4-FFF2-40B4-BE49-F238E27FC236}">
                  <a16:creationId xmlns:a16="http://schemas.microsoft.com/office/drawing/2014/main" id="{74F280B7-8BEF-072F-9416-067203993C49}"/>
                </a:ext>
              </a:extLst>
            </p:cNvPr>
            <p:cNvSpPr/>
            <p:nvPr/>
          </p:nvSpPr>
          <p:spPr>
            <a:xfrm>
              <a:off x="8153706"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9" name="矩形: 圓角 128">
              <a:extLst>
                <a:ext uri="{FF2B5EF4-FFF2-40B4-BE49-F238E27FC236}">
                  <a16:creationId xmlns:a16="http://schemas.microsoft.com/office/drawing/2014/main" id="{D8EF51B2-F172-4958-24ED-8B2181BD8949}"/>
                </a:ext>
              </a:extLst>
            </p:cNvPr>
            <p:cNvSpPr/>
            <p:nvPr/>
          </p:nvSpPr>
          <p:spPr>
            <a:xfrm>
              <a:off x="6045118"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1" name="矩形: 圓角 130">
              <a:extLst>
                <a:ext uri="{FF2B5EF4-FFF2-40B4-BE49-F238E27FC236}">
                  <a16:creationId xmlns:a16="http://schemas.microsoft.com/office/drawing/2014/main" id="{D94A0000-5D9B-3BBF-2115-A42B56B77788}"/>
                </a:ext>
              </a:extLst>
            </p:cNvPr>
            <p:cNvSpPr/>
            <p:nvPr/>
          </p:nvSpPr>
          <p:spPr>
            <a:xfrm>
              <a:off x="634540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3" name="矩形: 圓角 132">
              <a:extLst>
                <a:ext uri="{FF2B5EF4-FFF2-40B4-BE49-F238E27FC236}">
                  <a16:creationId xmlns:a16="http://schemas.microsoft.com/office/drawing/2014/main" id="{6BB678BB-D5ED-98DA-6A82-7701A8D8C294}"/>
                </a:ext>
              </a:extLst>
            </p:cNvPr>
            <p:cNvSpPr/>
            <p:nvPr/>
          </p:nvSpPr>
          <p:spPr>
            <a:xfrm>
              <a:off x="6647953"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5" name="矩形: 圓角 134">
              <a:extLst>
                <a:ext uri="{FF2B5EF4-FFF2-40B4-BE49-F238E27FC236}">
                  <a16:creationId xmlns:a16="http://schemas.microsoft.com/office/drawing/2014/main" id="{379DE69A-4C47-208D-4D10-C6FAD1307FE6}"/>
                </a:ext>
              </a:extLst>
            </p:cNvPr>
            <p:cNvSpPr/>
            <p:nvPr/>
          </p:nvSpPr>
          <p:spPr>
            <a:xfrm>
              <a:off x="694824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7" name="矩形: 圓角 136">
              <a:extLst>
                <a:ext uri="{FF2B5EF4-FFF2-40B4-BE49-F238E27FC236}">
                  <a16:creationId xmlns:a16="http://schemas.microsoft.com/office/drawing/2014/main" id="{28311E0D-257B-89E4-03BE-7B2FF2172057}"/>
                </a:ext>
              </a:extLst>
            </p:cNvPr>
            <p:cNvSpPr/>
            <p:nvPr/>
          </p:nvSpPr>
          <p:spPr>
            <a:xfrm>
              <a:off x="725058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9" name="矩形: 圓角 138">
              <a:extLst>
                <a:ext uri="{FF2B5EF4-FFF2-40B4-BE49-F238E27FC236}">
                  <a16:creationId xmlns:a16="http://schemas.microsoft.com/office/drawing/2014/main" id="{B0E16842-EA4E-5AA7-27CB-2AB4B327D4AF}"/>
                </a:ext>
              </a:extLst>
            </p:cNvPr>
            <p:cNvSpPr/>
            <p:nvPr/>
          </p:nvSpPr>
          <p:spPr>
            <a:xfrm>
              <a:off x="7550871" y="4889698"/>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14</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41" name="矩形: 圓角 140">
              <a:extLst>
                <a:ext uri="{FF2B5EF4-FFF2-40B4-BE49-F238E27FC236}">
                  <a16:creationId xmlns:a16="http://schemas.microsoft.com/office/drawing/2014/main" id="{1911891A-462C-825D-A31D-996B30F24073}"/>
                </a:ext>
              </a:extLst>
            </p:cNvPr>
            <p:cNvSpPr/>
            <p:nvPr/>
          </p:nvSpPr>
          <p:spPr>
            <a:xfrm>
              <a:off x="785341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43" name="矩形: 圓角 142">
              <a:extLst>
                <a:ext uri="{FF2B5EF4-FFF2-40B4-BE49-F238E27FC236}">
                  <a16:creationId xmlns:a16="http://schemas.microsoft.com/office/drawing/2014/main" id="{927C8366-3D47-34BC-19D7-A1A2DD445983}"/>
                </a:ext>
              </a:extLst>
            </p:cNvPr>
            <p:cNvSpPr/>
            <p:nvPr/>
          </p:nvSpPr>
          <p:spPr>
            <a:xfrm>
              <a:off x="8153706"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grpSp>
      <p:grpSp>
        <p:nvGrpSpPr>
          <p:cNvPr id="146" name="群組 145">
            <a:extLst>
              <a:ext uri="{FF2B5EF4-FFF2-40B4-BE49-F238E27FC236}">
                <a16:creationId xmlns:a16="http://schemas.microsoft.com/office/drawing/2014/main" id="{F5F54983-5154-7116-6423-AD2F47D14812}"/>
              </a:ext>
            </a:extLst>
          </p:cNvPr>
          <p:cNvGrpSpPr/>
          <p:nvPr/>
        </p:nvGrpSpPr>
        <p:grpSpPr>
          <a:xfrm>
            <a:off x="5084180" y="4725690"/>
            <a:ext cx="581652" cy="343638"/>
            <a:chOff x="5070690" y="3751735"/>
            <a:chExt cx="553245" cy="406636"/>
          </a:xfrm>
        </p:grpSpPr>
        <p:sp>
          <p:nvSpPr>
            <p:cNvPr id="147" name="文字方塊 146">
              <a:extLst>
                <a:ext uri="{FF2B5EF4-FFF2-40B4-BE49-F238E27FC236}">
                  <a16:creationId xmlns:a16="http://schemas.microsoft.com/office/drawing/2014/main" id="{447F90E6-A5B6-0D7B-83F0-6D12012D612E}"/>
                </a:ext>
              </a:extLst>
            </p:cNvPr>
            <p:cNvSpPr txBox="1"/>
            <p:nvPr/>
          </p:nvSpPr>
          <p:spPr>
            <a:xfrm>
              <a:off x="5254943"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48" name="文字方塊 147">
              <a:extLst>
                <a:ext uri="{FF2B5EF4-FFF2-40B4-BE49-F238E27FC236}">
                  <a16:creationId xmlns:a16="http://schemas.microsoft.com/office/drawing/2014/main" id="{7FC22F64-BC76-256C-601C-9DD6325C50F2}"/>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Top 2</a:t>
              </a:r>
              <a:endParaRPr lang="zh-TW" altLang="en-US" sz="1200" b="1" dirty="0">
                <a:cs typeface="ADLaM Display" panose="02010000000000000000" pitchFamily="2" charset="0"/>
              </a:endParaRPr>
            </a:p>
          </p:txBody>
        </p:sp>
      </p:grpSp>
      <p:sp>
        <p:nvSpPr>
          <p:cNvPr id="150" name="矩形 149">
            <a:extLst>
              <a:ext uri="{FF2B5EF4-FFF2-40B4-BE49-F238E27FC236}">
                <a16:creationId xmlns:a16="http://schemas.microsoft.com/office/drawing/2014/main" id="{6F8B8E3B-127F-3858-5E18-E6213E17A33A}"/>
              </a:ext>
            </a:extLst>
          </p:cNvPr>
          <p:cNvSpPr/>
          <p:nvPr/>
        </p:nvSpPr>
        <p:spPr>
          <a:xfrm>
            <a:off x="5953864"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2</a:t>
            </a:r>
          </a:p>
        </p:txBody>
      </p:sp>
      <p:sp>
        <p:nvSpPr>
          <p:cNvPr id="152" name="矩形 151">
            <a:extLst>
              <a:ext uri="{FF2B5EF4-FFF2-40B4-BE49-F238E27FC236}">
                <a16:creationId xmlns:a16="http://schemas.microsoft.com/office/drawing/2014/main" id="{F4E04034-27F9-2CF0-00BD-30BC393C4216}"/>
              </a:ext>
            </a:extLst>
          </p:cNvPr>
          <p:cNvSpPr/>
          <p:nvPr/>
        </p:nvSpPr>
        <p:spPr>
          <a:xfrm>
            <a:off x="7176426"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14</a:t>
            </a:r>
          </a:p>
        </p:txBody>
      </p:sp>
      <p:sp>
        <p:nvSpPr>
          <p:cNvPr id="154" name="文字方塊 153">
            <a:extLst>
              <a:ext uri="{FF2B5EF4-FFF2-40B4-BE49-F238E27FC236}">
                <a16:creationId xmlns:a16="http://schemas.microsoft.com/office/drawing/2014/main" id="{718D2704-6A0E-929E-0DE6-18A0AA6CD4DE}"/>
              </a:ext>
            </a:extLst>
          </p:cNvPr>
          <p:cNvSpPr txBox="1"/>
          <p:nvPr/>
        </p:nvSpPr>
        <p:spPr>
          <a:xfrm>
            <a:off x="6273172" y="5480406"/>
            <a:ext cx="410297" cy="235664"/>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0.8</a:t>
            </a:r>
            <a:endParaRPr lang="zh-TW" altLang="en-US" sz="1200" dirty="0"/>
          </a:p>
        </p:txBody>
      </p:sp>
      <p:sp>
        <p:nvSpPr>
          <p:cNvPr id="158" name="文字方塊 157">
            <a:extLst>
              <a:ext uri="{FF2B5EF4-FFF2-40B4-BE49-F238E27FC236}">
                <a16:creationId xmlns:a16="http://schemas.microsoft.com/office/drawing/2014/main" id="{95CE442C-0D3B-4DD6-A724-5A0B96AAC1CE}"/>
              </a:ext>
            </a:extLst>
          </p:cNvPr>
          <p:cNvSpPr txBox="1"/>
          <p:nvPr/>
        </p:nvSpPr>
        <p:spPr>
          <a:xfrm>
            <a:off x="6817960" y="5479132"/>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0" name="文字方塊 159">
            <a:extLst>
              <a:ext uri="{FF2B5EF4-FFF2-40B4-BE49-F238E27FC236}">
                <a16:creationId xmlns:a16="http://schemas.microsoft.com/office/drawing/2014/main" id="{B8E4C61E-A02E-D31B-9635-533F47D2150C}"/>
              </a:ext>
            </a:extLst>
          </p:cNvPr>
          <p:cNvSpPr txBox="1"/>
          <p:nvPr/>
        </p:nvSpPr>
        <p:spPr>
          <a:xfrm>
            <a:off x="7487783" y="5479132"/>
            <a:ext cx="410297" cy="241106"/>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0.2</a:t>
            </a:r>
            <a:endParaRPr lang="zh-TW" altLang="en-US" sz="1200" dirty="0"/>
          </a:p>
        </p:txBody>
      </p:sp>
      <p:sp>
        <p:nvSpPr>
          <p:cNvPr id="162" name="左右中括弧 161">
            <a:extLst>
              <a:ext uri="{FF2B5EF4-FFF2-40B4-BE49-F238E27FC236}">
                <a16:creationId xmlns:a16="http://schemas.microsoft.com/office/drawing/2014/main" id="{3A32DA56-1316-ACC1-EC6A-39F7D26CE015}"/>
              </a:ext>
            </a:extLst>
          </p:cNvPr>
          <p:cNvSpPr/>
          <p:nvPr/>
        </p:nvSpPr>
        <p:spPr>
          <a:xfrm>
            <a:off x="5791150" y="5368364"/>
            <a:ext cx="2233906"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166" name="箭號: 向下 165">
            <a:extLst>
              <a:ext uri="{FF2B5EF4-FFF2-40B4-BE49-F238E27FC236}">
                <a16:creationId xmlns:a16="http://schemas.microsoft.com/office/drawing/2014/main" id="{2861CAF5-7232-B863-1D06-3D83C11F4414}"/>
              </a:ext>
            </a:extLst>
          </p:cNvPr>
          <p:cNvSpPr/>
          <p:nvPr/>
        </p:nvSpPr>
        <p:spPr>
          <a:xfrm rot="16200000">
            <a:off x="8109591" y="548443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8" name="文字方塊 167">
            <a:extLst>
              <a:ext uri="{FF2B5EF4-FFF2-40B4-BE49-F238E27FC236}">
                <a16:creationId xmlns:a16="http://schemas.microsoft.com/office/drawing/2014/main" id="{D3B63B98-28BF-C867-5D74-40CFBAE9BDD6}"/>
              </a:ext>
            </a:extLst>
          </p:cNvPr>
          <p:cNvSpPr txBox="1"/>
          <p:nvPr/>
        </p:nvSpPr>
        <p:spPr>
          <a:xfrm>
            <a:off x="4741283" y="3082579"/>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0" name="左中括弧 169">
            <a:extLst>
              <a:ext uri="{FF2B5EF4-FFF2-40B4-BE49-F238E27FC236}">
                <a16:creationId xmlns:a16="http://schemas.microsoft.com/office/drawing/2014/main" id="{8EE08A25-904D-5191-BEB8-A8014E3568F6}"/>
              </a:ext>
            </a:extLst>
          </p:cNvPr>
          <p:cNvSpPr/>
          <p:nvPr/>
        </p:nvSpPr>
        <p:spPr>
          <a:xfrm rot="16200000" flipH="1">
            <a:off x="6124536" y="914548"/>
            <a:ext cx="51180" cy="3207876"/>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71" name="群組 170">
            <a:extLst>
              <a:ext uri="{FF2B5EF4-FFF2-40B4-BE49-F238E27FC236}">
                <a16:creationId xmlns:a16="http://schemas.microsoft.com/office/drawing/2014/main" id="{6C35A820-7B6D-B0AF-3B36-85BC34C7DDDB}"/>
              </a:ext>
            </a:extLst>
          </p:cNvPr>
          <p:cNvGrpSpPr/>
          <p:nvPr/>
        </p:nvGrpSpPr>
        <p:grpSpPr>
          <a:xfrm>
            <a:off x="5252834" y="2960396"/>
            <a:ext cx="351092" cy="343638"/>
            <a:chOff x="5007514" y="3751735"/>
            <a:chExt cx="553245" cy="406636"/>
          </a:xfrm>
        </p:grpSpPr>
        <p:sp>
          <p:nvSpPr>
            <p:cNvPr id="172" name="文字方塊 171">
              <a:extLst>
                <a:ext uri="{FF2B5EF4-FFF2-40B4-BE49-F238E27FC236}">
                  <a16:creationId xmlns:a16="http://schemas.microsoft.com/office/drawing/2014/main" id="{BD8A91C7-A1C3-D7E6-1AD9-C2D54B929143}"/>
                </a:ext>
              </a:extLst>
            </p:cNvPr>
            <p:cNvSpPr txBox="1"/>
            <p:nvPr/>
          </p:nvSpPr>
          <p:spPr>
            <a:xfrm>
              <a:off x="5106883" y="3974732"/>
              <a:ext cx="300499"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73" name="文字方塊 172">
              <a:extLst>
                <a:ext uri="{FF2B5EF4-FFF2-40B4-BE49-F238E27FC236}">
                  <a16:creationId xmlns:a16="http://schemas.microsoft.com/office/drawing/2014/main" id="{1BC4F546-B69F-9226-3682-1B82306347FF}"/>
                </a:ext>
              </a:extLst>
            </p:cNvPr>
            <p:cNvSpPr txBox="1"/>
            <p:nvPr/>
          </p:nvSpPr>
          <p:spPr>
            <a:xfrm>
              <a:off x="5007514"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N*16</a:t>
              </a:r>
              <a:endParaRPr lang="zh-TW" altLang="en-US" sz="1200" b="1" dirty="0">
                <a:cs typeface="ADLaM Display" panose="02010000000000000000" pitchFamily="2" charset="0"/>
              </a:endParaRPr>
            </a:p>
          </p:txBody>
        </p:sp>
      </p:grpSp>
      <p:sp>
        <p:nvSpPr>
          <p:cNvPr id="177" name="文字方塊 176">
            <a:extLst>
              <a:ext uri="{FF2B5EF4-FFF2-40B4-BE49-F238E27FC236}">
                <a16:creationId xmlns:a16="http://schemas.microsoft.com/office/drawing/2014/main" id="{EC5BAD59-6969-5888-36F6-2A8479EA17D0}"/>
              </a:ext>
            </a:extLst>
          </p:cNvPr>
          <p:cNvSpPr txBox="1"/>
          <p:nvPr/>
        </p:nvSpPr>
        <p:spPr>
          <a:xfrm>
            <a:off x="5233784" y="2215897"/>
            <a:ext cx="1985336" cy="276999"/>
          </a:xfrm>
          <a:prstGeom prst="rect">
            <a:avLst/>
          </a:prstGeom>
          <a:noFill/>
        </p:spPr>
        <p:txBody>
          <a:bodyPr wrap="none" anchor="ctr" anchorCtr="1">
            <a:noAutofit/>
          </a:bodyPr>
          <a:lstStyle/>
          <a:p>
            <a:r>
              <a:rPr lang="en-US" altLang="zh-TW" sz="1200" b="1" dirty="0">
                <a:solidFill>
                  <a:schemeClr val="accent5">
                    <a:lumMod val="50000"/>
                  </a:schemeClr>
                </a:solidFill>
              </a:rPr>
              <a:t>Mixture Of Exports</a:t>
            </a:r>
          </a:p>
        </p:txBody>
      </p:sp>
      <p:sp>
        <p:nvSpPr>
          <p:cNvPr id="3" name="文字方塊 2">
            <a:extLst>
              <a:ext uri="{FF2B5EF4-FFF2-40B4-BE49-F238E27FC236}">
                <a16:creationId xmlns:a16="http://schemas.microsoft.com/office/drawing/2014/main" id="{6DD06DF5-E92E-E902-A256-2C08E045551A}"/>
              </a:ext>
            </a:extLst>
          </p:cNvPr>
          <p:cNvSpPr txBox="1"/>
          <p:nvPr/>
        </p:nvSpPr>
        <p:spPr>
          <a:xfrm>
            <a:off x="179512" y="3191057"/>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13267608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A220-D674-0845-75E2-0EDBA5B26B49}"/>
            </a:ext>
          </a:extLst>
        </p:cNvPr>
        <p:cNvGrpSpPr/>
        <p:nvPr/>
      </p:nvGrpSpPr>
      <p:grpSpPr>
        <a:xfrm>
          <a:off x="0" y="0"/>
          <a:ext cx="0" cy="0"/>
          <a:chOff x="0" y="0"/>
          <a:chExt cx="0" cy="0"/>
        </a:xfrm>
      </p:grpSpPr>
      <p:sp>
        <p:nvSpPr>
          <p:cNvPr id="119" name="矩形: 圓角 118">
            <a:extLst>
              <a:ext uri="{FF2B5EF4-FFF2-40B4-BE49-F238E27FC236}">
                <a16:creationId xmlns:a16="http://schemas.microsoft.com/office/drawing/2014/main" id="{04C37466-04DA-E6AF-B8D1-85F86E147E41}"/>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59" name="表格 58">
            <a:extLst>
              <a:ext uri="{FF2B5EF4-FFF2-40B4-BE49-F238E27FC236}">
                <a16:creationId xmlns:a16="http://schemas.microsoft.com/office/drawing/2014/main" id="{004C7245-4CF4-A980-8014-E6085B80EE29}"/>
              </a:ext>
            </a:extLst>
          </p:cNvPr>
          <p:cNvGraphicFramePr>
            <a:graphicFrameLocks noGrp="1"/>
          </p:cNvGraphicFramePr>
          <p:nvPr>
            <p:extLst>
              <p:ext uri="{D42A27DB-BD31-4B8C-83A1-F6EECF244321}">
                <p14:modId xmlns:p14="http://schemas.microsoft.com/office/powerpoint/2010/main" val="3548796616"/>
              </p:ext>
            </p:extLst>
          </p:nvPr>
        </p:nvGraphicFramePr>
        <p:xfrm>
          <a:off x="5427293" y="4231512"/>
          <a:ext cx="329690" cy="642609"/>
        </p:xfrm>
        <a:graphic>
          <a:graphicData uri="http://schemas.openxmlformats.org/drawingml/2006/table">
            <a:tbl>
              <a:tblPr firstRow="1" bandRow="1">
                <a:tableStyleId>{5C22544A-7EE6-4342-B048-85BDC9FD1C3A}</a:tableStyleId>
              </a:tblPr>
              <a:tblGrid>
                <a:gridCol w="329690">
                  <a:extLst>
                    <a:ext uri="{9D8B030D-6E8A-4147-A177-3AD203B41FA5}">
                      <a16:colId xmlns:a16="http://schemas.microsoft.com/office/drawing/2014/main" val="871242339"/>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bl>
          </a:graphicData>
        </a:graphic>
      </p:graphicFrame>
      <p:sp>
        <p:nvSpPr>
          <p:cNvPr id="71" name="文字方塊 70">
            <a:extLst>
              <a:ext uri="{FF2B5EF4-FFF2-40B4-BE49-F238E27FC236}">
                <a16:creationId xmlns:a16="http://schemas.microsoft.com/office/drawing/2014/main" id="{A9409AB7-AD7E-6304-69A6-D422C0B3B45D}"/>
              </a:ext>
            </a:extLst>
          </p:cNvPr>
          <p:cNvSpPr txBox="1"/>
          <p:nvPr/>
        </p:nvSpPr>
        <p:spPr>
          <a:xfrm>
            <a:off x="5861262" y="4452934"/>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7" name="標題 1">
            <a:extLst>
              <a:ext uri="{FF2B5EF4-FFF2-40B4-BE49-F238E27FC236}">
                <a16:creationId xmlns:a16="http://schemas.microsoft.com/office/drawing/2014/main" id="{316C7A2F-4EA3-D959-806A-D568D6A40693}"/>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Liner Projection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Converts continuous vectors from the semantic space back into human-readable words.</a:t>
            </a:r>
          </a:p>
        </p:txBody>
      </p:sp>
      <p:graphicFrame>
        <p:nvGraphicFramePr>
          <p:cNvPr id="16" name="表格 15">
            <a:extLst>
              <a:ext uri="{FF2B5EF4-FFF2-40B4-BE49-F238E27FC236}">
                <a16:creationId xmlns:a16="http://schemas.microsoft.com/office/drawing/2014/main" id="{CDB54C7F-6BC2-E8A6-2F84-7F6624ABA247}"/>
              </a:ext>
            </a:extLst>
          </p:cNvPr>
          <p:cNvGraphicFramePr>
            <a:graphicFrameLocks noGrp="1"/>
          </p:cNvGraphicFramePr>
          <p:nvPr>
            <p:extLst>
              <p:ext uri="{D42A27DB-BD31-4B8C-83A1-F6EECF244321}">
                <p14:modId xmlns:p14="http://schemas.microsoft.com/office/powerpoint/2010/main" val="131157956"/>
              </p:ext>
            </p:extLst>
          </p:nvPr>
        </p:nvGraphicFramePr>
        <p:xfrm>
          <a:off x="4716324" y="3521039"/>
          <a:ext cx="653931" cy="2356233"/>
        </p:xfrm>
        <a:graphic>
          <a:graphicData uri="http://schemas.openxmlformats.org/drawingml/2006/table">
            <a:tbl>
              <a:tblPr firstRow="1" bandRow="1">
                <a:tableStyleId>{5C22544A-7EE6-4342-B048-85BDC9FD1C3A}</a:tableStyleId>
              </a:tblPr>
              <a:tblGrid>
                <a:gridCol w="223729">
                  <a:extLst>
                    <a:ext uri="{9D8B030D-6E8A-4147-A177-3AD203B41FA5}">
                      <a16:colId xmlns:a16="http://schemas.microsoft.com/office/drawing/2014/main" val="871242339"/>
                    </a:ext>
                  </a:extLst>
                </a:gridCol>
                <a:gridCol w="215101">
                  <a:extLst>
                    <a:ext uri="{9D8B030D-6E8A-4147-A177-3AD203B41FA5}">
                      <a16:colId xmlns:a16="http://schemas.microsoft.com/office/drawing/2014/main" val="1823401774"/>
                    </a:ext>
                  </a:extLst>
                </a:gridCol>
                <a:gridCol w="215101">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D9CA7174-5DCE-717E-8631-0A0929E65FD9}"/>
                  </a:ext>
                </a:extLst>
              </p:cNvPr>
              <p:cNvSpPr txBox="1"/>
              <p:nvPr/>
            </p:nvSpPr>
            <p:spPr>
              <a:xfrm>
                <a:off x="6077429" y="2530360"/>
                <a:ext cx="887935" cy="529697"/>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400" b="0" i="0" smtClean="0">
                          <a:latin typeface="Cambria Math" panose="02040503050406030204" pitchFamily="18" charset="0"/>
                        </a:rPr>
                        <m:t>Pi</m:t>
                      </m:r>
                      <m:r>
                        <a:rPr lang="en-US" altLang="zh-TW" sz="1400" b="0" i="0" smtClean="0">
                          <a:latin typeface="Cambria Math" panose="02040503050406030204" pitchFamily="18" charset="0"/>
                        </a:rPr>
                        <m:t>=</m:t>
                      </m:r>
                      <m:f>
                        <m:fPr>
                          <m:ctrlPr>
                            <a:rPr lang="en-US" altLang="zh-TW" sz="1400" b="0" i="1" smtClean="0">
                              <a:latin typeface="Cambria Math" panose="02040503050406030204" pitchFamily="18" charset="0"/>
                            </a:rPr>
                          </m:ctrlPr>
                        </m:fPr>
                        <m:num>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Zi</m:t>
                              </m:r>
                            </m:sup>
                          </m:sSup>
                        </m:num>
                        <m:den>
                          <m:nary>
                            <m:naryPr>
                              <m:chr m:val="∑"/>
                              <m:ctrlPr>
                                <a:rPr lang="en-US" altLang="zh-TW" sz="1400" b="0" i="0" smtClean="0">
                                  <a:latin typeface="Cambria Math" panose="02040503050406030204" pitchFamily="18" charset="0"/>
                                </a:rPr>
                              </m:ctrlPr>
                            </m:naryPr>
                            <m:sub>
                              <m:r>
                                <m:rPr>
                                  <m:sty m:val="p"/>
                                  <m:brk m:alnAt="23"/>
                                </m:rPr>
                                <a:rPr lang="en-US" altLang="zh-TW" sz="1400" b="0" i="0" smtClean="0">
                                  <a:latin typeface="Cambria Math" panose="02040503050406030204" pitchFamily="18" charset="0"/>
                                </a:rPr>
                                <m:t>j</m:t>
                              </m:r>
                            </m:sub>
                            <m:sup>
                              <m:r>
                                <m:rPr>
                                  <m:sty m:val="p"/>
                                </m:rPr>
                                <a:rPr lang="en-US" altLang="zh-TW" sz="1400" b="0" i="0" smtClean="0">
                                  <a:latin typeface="Cambria Math" panose="02040503050406030204" pitchFamily="18" charset="0"/>
                                </a:rPr>
                                <m:t>V</m:t>
                              </m:r>
                            </m:sup>
                            <m:e>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Zj</m:t>
                                  </m:r>
                                </m:sup>
                              </m:sSup>
                            </m:e>
                          </m:nary>
                        </m:den>
                      </m:f>
                    </m:oMath>
                  </m:oMathPara>
                </a14:m>
                <a:endParaRPr lang="zh-TW" altLang="en-US" sz="1400" dirty="0"/>
              </a:p>
            </p:txBody>
          </p:sp>
        </mc:Choice>
        <mc:Fallback xmlns="">
          <p:sp>
            <p:nvSpPr>
              <p:cNvPr id="17" name="文字方塊 16">
                <a:extLst>
                  <a:ext uri="{FF2B5EF4-FFF2-40B4-BE49-F238E27FC236}">
                    <a16:creationId xmlns:a16="http://schemas.microsoft.com/office/drawing/2014/main" id="{D9CA7174-5DCE-717E-8631-0A0929E65FD9}"/>
                  </a:ext>
                </a:extLst>
              </p:cNvPr>
              <p:cNvSpPr txBox="1">
                <a:spLocks noRot="1" noChangeAspect="1" noMove="1" noResize="1" noEditPoints="1" noAdjustHandles="1" noChangeArrowheads="1" noChangeShapeType="1" noTextEdit="1"/>
              </p:cNvSpPr>
              <p:nvPr/>
            </p:nvSpPr>
            <p:spPr>
              <a:xfrm>
                <a:off x="6077429" y="2530360"/>
                <a:ext cx="887935" cy="529697"/>
              </a:xfrm>
              <a:prstGeom prst="rect">
                <a:avLst/>
              </a:prstGeom>
              <a:blipFill>
                <a:blip r:embed="rId3"/>
                <a:stretch>
                  <a:fillRect b="-1149"/>
                </a:stretch>
              </a:blipFill>
            </p:spPr>
            <p:txBody>
              <a:bodyPr/>
              <a:lstStyle/>
              <a:p>
                <a:r>
                  <a:rPr lang="zh-TW" altLang="en-US">
                    <a:noFill/>
                  </a:rPr>
                  <a:t> </a:t>
                </a:r>
              </a:p>
            </p:txBody>
          </p:sp>
        </mc:Fallback>
      </mc:AlternateContent>
      <p:cxnSp>
        <p:nvCxnSpPr>
          <p:cNvPr id="29" name="接點: 弧形 28">
            <a:extLst>
              <a:ext uri="{FF2B5EF4-FFF2-40B4-BE49-F238E27FC236}">
                <a16:creationId xmlns:a16="http://schemas.microsoft.com/office/drawing/2014/main" id="{7D7E1976-1F2C-2A7B-3013-1D1813EB39CB}"/>
              </a:ext>
            </a:extLst>
          </p:cNvPr>
          <p:cNvCxnSpPr>
            <a:cxnSpLocks/>
            <a:stCxn id="21" idx="3"/>
            <a:endCxn id="59" idx="2"/>
          </p:cNvCxnSpPr>
          <p:nvPr/>
        </p:nvCxnSpPr>
        <p:spPr>
          <a:xfrm flipV="1">
            <a:off x="4344906" y="4874121"/>
            <a:ext cx="1247232" cy="126279"/>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7" name="表格 36">
            <a:extLst>
              <a:ext uri="{FF2B5EF4-FFF2-40B4-BE49-F238E27FC236}">
                <a16:creationId xmlns:a16="http://schemas.microsoft.com/office/drawing/2014/main" id="{07E99AC8-247B-A4E7-58B6-175022D8A184}"/>
              </a:ext>
            </a:extLst>
          </p:cNvPr>
          <p:cNvGraphicFramePr>
            <a:graphicFrameLocks noGrp="1"/>
          </p:cNvGraphicFramePr>
          <p:nvPr>
            <p:extLst>
              <p:ext uri="{D42A27DB-BD31-4B8C-83A1-F6EECF244321}">
                <p14:modId xmlns:p14="http://schemas.microsoft.com/office/powerpoint/2010/main" val="2171440800"/>
              </p:ext>
            </p:extLst>
          </p:nvPr>
        </p:nvGraphicFramePr>
        <p:xfrm>
          <a:off x="6224726" y="3521039"/>
          <a:ext cx="593344" cy="2356233"/>
        </p:xfrm>
        <a:graphic>
          <a:graphicData uri="http://schemas.openxmlformats.org/drawingml/2006/table">
            <a:tbl>
              <a:tblPr firstRow="1" bandRow="1">
                <a:tableStyleId>{5C22544A-7EE6-4342-B048-85BDC9FD1C3A}</a:tableStyleId>
              </a:tblPr>
              <a:tblGrid>
                <a:gridCol w="296672">
                  <a:extLst>
                    <a:ext uri="{9D8B030D-6E8A-4147-A177-3AD203B41FA5}">
                      <a16:colId xmlns:a16="http://schemas.microsoft.com/office/drawing/2014/main" val="1424301285"/>
                    </a:ext>
                  </a:extLst>
                </a:gridCol>
                <a:gridCol w="296672">
                  <a:extLst>
                    <a:ext uri="{9D8B030D-6E8A-4147-A177-3AD203B41FA5}">
                      <a16:colId xmlns:a16="http://schemas.microsoft.com/office/drawing/2014/main" val="390976553"/>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2.58</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3.82</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4.05</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3.13</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9904019"/>
                  </a:ext>
                </a:extLst>
              </a:tr>
            </a:tbl>
          </a:graphicData>
        </a:graphic>
      </p:graphicFrame>
      <p:graphicFrame>
        <p:nvGraphicFramePr>
          <p:cNvPr id="45" name="表格 44">
            <a:extLst>
              <a:ext uri="{FF2B5EF4-FFF2-40B4-BE49-F238E27FC236}">
                <a16:creationId xmlns:a16="http://schemas.microsoft.com/office/drawing/2014/main" id="{E766FA3A-794A-171A-9E07-F82827C8A6BB}"/>
              </a:ext>
            </a:extLst>
          </p:cNvPr>
          <p:cNvGraphicFramePr>
            <a:graphicFrameLocks noGrp="1"/>
          </p:cNvGraphicFramePr>
          <p:nvPr>
            <p:extLst>
              <p:ext uri="{D42A27DB-BD31-4B8C-83A1-F6EECF244321}">
                <p14:modId xmlns:p14="http://schemas.microsoft.com/office/powerpoint/2010/main" val="348714402"/>
              </p:ext>
            </p:extLst>
          </p:nvPr>
        </p:nvGraphicFramePr>
        <p:xfrm>
          <a:off x="7114799" y="3521039"/>
          <a:ext cx="593345" cy="2356233"/>
        </p:xfrm>
        <a:graphic>
          <a:graphicData uri="http://schemas.openxmlformats.org/drawingml/2006/table">
            <a:tbl>
              <a:tblPr firstRow="1" bandRow="1">
                <a:tableStyleId>{5C22544A-7EE6-4342-B048-85BDC9FD1C3A}</a:tableStyleId>
              </a:tblPr>
              <a:tblGrid>
                <a:gridCol w="593345">
                  <a:extLst>
                    <a:ext uri="{9D8B030D-6E8A-4147-A177-3AD203B41FA5}">
                      <a16:colId xmlns:a16="http://schemas.microsoft.com/office/drawing/2014/main" val="1424301285"/>
                    </a:ext>
                  </a:extLst>
                </a:gridCol>
              </a:tblGrid>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7225911"/>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Pangram</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136641310"/>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9904019"/>
                  </a:ext>
                </a:extLst>
              </a:tr>
            </a:tbl>
          </a:graphicData>
        </a:graphic>
      </p:graphicFrame>
      <p:graphicFrame>
        <p:nvGraphicFramePr>
          <p:cNvPr id="48" name="表格 47">
            <a:extLst>
              <a:ext uri="{FF2B5EF4-FFF2-40B4-BE49-F238E27FC236}">
                <a16:creationId xmlns:a16="http://schemas.microsoft.com/office/drawing/2014/main" id="{C4CB5144-9E6A-A78A-28A1-11B5AEEF1451}"/>
              </a:ext>
            </a:extLst>
          </p:cNvPr>
          <p:cNvGraphicFramePr>
            <a:graphicFrameLocks noGrp="1"/>
          </p:cNvGraphicFramePr>
          <p:nvPr>
            <p:extLst>
              <p:ext uri="{D42A27DB-BD31-4B8C-83A1-F6EECF244321}">
                <p14:modId xmlns:p14="http://schemas.microsoft.com/office/powerpoint/2010/main" val="3400013005"/>
              </p:ext>
            </p:extLst>
          </p:nvPr>
        </p:nvGraphicFramePr>
        <p:xfrm>
          <a:off x="3571929" y="3610586"/>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21" name="矩形 20">
            <a:extLst>
              <a:ext uri="{FF2B5EF4-FFF2-40B4-BE49-F238E27FC236}">
                <a16:creationId xmlns:a16="http://schemas.microsoft.com/office/drawing/2014/main" id="{7F14CD4B-AF5E-BD8F-3EFC-A1025EBD01C8}"/>
              </a:ext>
            </a:extLst>
          </p:cNvPr>
          <p:cNvSpPr/>
          <p:nvPr/>
        </p:nvSpPr>
        <p:spPr>
          <a:xfrm>
            <a:off x="3493291" y="4854511"/>
            <a:ext cx="851615"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4" name="矩形 53">
            <a:extLst>
              <a:ext uri="{FF2B5EF4-FFF2-40B4-BE49-F238E27FC236}">
                <a16:creationId xmlns:a16="http://schemas.microsoft.com/office/drawing/2014/main" id="{71397E8F-C433-C4B3-A35C-AF3C0AE21D66}"/>
              </a:ext>
            </a:extLst>
          </p:cNvPr>
          <p:cNvSpPr/>
          <p:nvPr/>
        </p:nvSpPr>
        <p:spPr>
          <a:xfrm>
            <a:off x="7062830" y="5193369"/>
            <a:ext cx="692447"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60" name="矩形 59">
            <a:extLst>
              <a:ext uri="{FF2B5EF4-FFF2-40B4-BE49-F238E27FC236}">
                <a16:creationId xmlns:a16="http://schemas.microsoft.com/office/drawing/2014/main" id="{FB8070AC-1AF7-6EC9-CF72-771626A3F4BE}"/>
              </a:ext>
            </a:extLst>
          </p:cNvPr>
          <p:cNvSpPr/>
          <p:nvPr/>
        </p:nvSpPr>
        <p:spPr>
          <a:xfrm>
            <a:off x="1485026" y="4131696"/>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sp>
        <p:nvSpPr>
          <p:cNvPr id="65" name="矩形 64">
            <a:extLst>
              <a:ext uri="{FF2B5EF4-FFF2-40B4-BE49-F238E27FC236}">
                <a16:creationId xmlns:a16="http://schemas.microsoft.com/office/drawing/2014/main" id="{F1F9DC47-045E-21F6-CD89-AA9A7B79DD98}"/>
              </a:ext>
            </a:extLst>
          </p:cNvPr>
          <p:cNvSpPr/>
          <p:nvPr/>
        </p:nvSpPr>
        <p:spPr>
          <a:xfrm>
            <a:off x="1475656" y="4529151"/>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new</a:t>
            </a:r>
          </a:p>
        </p:txBody>
      </p:sp>
      <p:sp>
        <p:nvSpPr>
          <p:cNvPr id="74" name="文字方塊 73">
            <a:extLst>
              <a:ext uri="{FF2B5EF4-FFF2-40B4-BE49-F238E27FC236}">
                <a16:creationId xmlns:a16="http://schemas.microsoft.com/office/drawing/2014/main" id="{269A41B6-9085-A715-E14B-EB9361B7E6AC}"/>
              </a:ext>
            </a:extLst>
          </p:cNvPr>
          <p:cNvSpPr txBox="1"/>
          <p:nvPr/>
        </p:nvSpPr>
        <p:spPr>
          <a:xfrm>
            <a:off x="6853966" y="524781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cxnSp>
        <p:nvCxnSpPr>
          <p:cNvPr id="79" name="接點: 肘形 78">
            <a:extLst>
              <a:ext uri="{FF2B5EF4-FFF2-40B4-BE49-F238E27FC236}">
                <a16:creationId xmlns:a16="http://schemas.microsoft.com/office/drawing/2014/main" id="{6EEED89E-FB74-A4B7-C7FC-62751F06F991}"/>
              </a:ext>
            </a:extLst>
          </p:cNvPr>
          <p:cNvCxnSpPr>
            <a:cxnSpLocks/>
            <a:stCxn id="54" idx="2"/>
            <a:endCxn id="65" idx="2"/>
          </p:cNvCxnSpPr>
          <p:nvPr/>
        </p:nvCxnSpPr>
        <p:spPr>
          <a:xfrm rot="5400000" flipH="1">
            <a:off x="4116382" y="2192475"/>
            <a:ext cx="798476" cy="5786868"/>
          </a:xfrm>
          <a:prstGeom prst="bentConnector3">
            <a:avLst>
              <a:gd name="adj1" fmla="val -6203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E84E440B-3B37-4C61-027B-C40CE1DDC966}"/>
              </a:ext>
            </a:extLst>
          </p:cNvPr>
          <p:cNvSpPr/>
          <p:nvPr/>
        </p:nvSpPr>
        <p:spPr>
          <a:xfrm>
            <a:off x="1962697" y="3737063"/>
            <a:ext cx="463988" cy="1263338"/>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600" b="1" dirty="0">
                <a:solidFill>
                  <a:srgbClr val="FF0000"/>
                </a:solidFill>
                <a:ea typeface="微軟正黑體" panose="020B0604030504040204" pitchFamily="34" charset="-120"/>
              </a:rPr>
              <a:t>…</a:t>
            </a:r>
          </a:p>
        </p:txBody>
      </p:sp>
      <p:sp>
        <p:nvSpPr>
          <p:cNvPr id="56" name="矩形: 圓角 55">
            <a:extLst>
              <a:ext uri="{FF2B5EF4-FFF2-40B4-BE49-F238E27FC236}">
                <a16:creationId xmlns:a16="http://schemas.microsoft.com/office/drawing/2014/main" id="{58430F90-8B83-79EE-756C-5D92AA85DAC8}"/>
              </a:ext>
            </a:extLst>
          </p:cNvPr>
          <p:cNvSpPr/>
          <p:nvPr/>
        </p:nvSpPr>
        <p:spPr>
          <a:xfrm flipH="1">
            <a:off x="2512406" y="4143959"/>
            <a:ext cx="274319" cy="457200"/>
          </a:xfrm>
          <a:prstGeom prst="roundRect">
            <a:avLst/>
          </a:prstGeom>
          <a:solidFill>
            <a:schemeClr val="accent6">
              <a:lumMod val="20000"/>
              <a:lumOff val="80000"/>
            </a:schemeClr>
          </a:solid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6">
                    <a:lumMod val="75000"/>
                  </a:schemeClr>
                </a:solidFill>
                <a:latin typeface="ADLaM Display" panose="02010000000000000000" pitchFamily="2" charset="0"/>
                <a:cs typeface="ADLaM Display" panose="02010000000000000000" pitchFamily="2" charset="0"/>
              </a:rPr>
              <a:t>X</a:t>
            </a:r>
            <a:r>
              <a:rPr lang="en-US" altLang="zh-TW" sz="1400" baseline="-25000" dirty="0">
                <a:solidFill>
                  <a:schemeClr val="accent6">
                    <a:lumMod val="75000"/>
                  </a:schemeClr>
                </a:solidFill>
                <a:latin typeface="ADLaM Display" panose="02010000000000000000" pitchFamily="2" charset="0"/>
                <a:cs typeface="ADLaM Display" panose="02010000000000000000" pitchFamily="2" charset="0"/>
              </a:rPr>
              <a:t>L</a:t>
            </a:r>
            <a:endParaRPr lang="zh-TW" altLang="en-US" sz="1400" baseline="-250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85" name="文字方塊 84">
            <a:extLst>
              <a:ext uri="{FF2B5EF4-FFF2-40B4-BE49-F238E27FC236}">
                <a16:creationId xmlns:a16="http://schemas.microsoft.com/office/drawing/2014/main" id="{6EC46F66-CBDA-2F0A-91D4-5129A7201517}"/>
              </a:ext>
            </a:extLst>
          </p:cNvPr>
          <p:cNvSpPr txBox="1"/>
          <p:nvPr/>
        </p:nvSpPr>
        <p:spPr>
          <a:xfrm>
            <a:off x="2498693" y="395855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7" name="文字方塊 86">
            <a:extLst>
              <a:ext uri="{FF2B5EF4-FFF2-40B4-BE49-F238E27FC236}">
                <a16:creationId xmlns:a16="http://schemas.microsoft.com/office/drawing/2014/main" id="{86B99801-562D-5257-FAD2-710CF1C17BD9}"/>
              </a:ext>
            </a:extLst>
          </p:cNvPr>
          <p:cNvSpPr txBox="1"/>
          <p:nvPr/>
        </p:nvSpPr>
        <p:spPr>
          <a:xfrm>
            <a:off x="7262522" y="5024043"/>
            <a:ext cx="293061" cy="144971"/>
          </a:xfrm>
          <a:prstGeom prst="rect">
            <a:avLst/>
          </a:prstGeom>
          <a:noFill/>
        </p:spPr>
        <p:txBody>
          <a:bodyPr wrap="none" lIns="0" tIns="0" rIns="0" bIns="0" rtlCol="0" anchor="ctr" anchorCtr="1">
            <a:noAutofit/>
          </a:bodyPr>
          <a:lstStyle/>
          <a:p>
            <a:pPr algn="ctr"/>
            <a:r>
              <a:rPr lang="en-US" altLang="zh-TW" sz="1200" b="1" dirty="0"/>
              <a:t>1*d</a:t>
            </a:r>
            <a:endParaRPr lang="zh-TW" altLang="en-US" sz="1200" b="1" dirty="0"/>
          </a:p>
        </p:txBody>
      </p:sp>
      <p:sp>
        <p:nvSpPr>
          <p:cNvPr id="89" name="文字方塊 88">
            <a:extLst>
              <a:ext uri="{FF2B5EF4-FFF2-40B4-BE49-F238E27FC236}">
                <a16:creationId xmlns:a16="http://schemas.microsoft.com/office/drawing/2014/main" id="{6C7414D9-AFED-F622-8E44-652E7F655FE8}"/>
              </a:ext>
            </a:extLst>
          </p:cNvPr>
          <p:cNvSpPr txBox="1"/>
          <p:nvPr/>
        </p:nvSpPr>
        <p:spPr>
          <a:xfrm>
            <a:off x="4896758" y="3351713"/>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91" name="文字方塊 90">
            <a:extLst>
              <a:ext uri="{FF2B5EF4-FFF2-40B4-BE49-F238E27FC236}">
                <a16:creationId xmlns:a16="http://schemas.microsoft.com/office/drawing/2014/main" id="{F1777611-7A8F-7844-B1A9-BA6DBA484F5C}"/>
              </a:ext>
            </a:extLst>
          </p:cNvPr>
          <p:cNvSpPr txBox="1"/>
          <p:nvPr/>
        </p:nvSpPr>
        <p:spPr>
          <a:xfrm>
            <a:off x="5442056" y="4024140"/>
            <a:ext cx="293061" cy="144971"/>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93" name="文字方塊 92">
            <a:extLst>
              <a:ext uri="{FF2B5EF4-FFF2-40B4-BE49-F238E27FC236}">
                <a16:creationId xmlns:a16="http://schemas.microsoft.com/office/drawing/2014/main" id="{ED318108-B6F5-9A25-8AA9-E3F0F5141359}"/>
              </a:ext>
            </a:extLst>
          </p:cNvPr>
          <p:cNvSpPr txBox="1"/>
          <p:nvPr/>
        </p:nvSpPr>
        <p:spPr>
          <a:xfrm>
            <a:off x="7262522" y="3351711"/>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3" name="文字方塊 2">
            <a:extLst>
              <a:ext uri="{FF2B5EF4-FFF2-40B4-BE49-F238E27FC236}">
                <a16:creationId xmlns:a16="http://schemas.microsoft.com/office/drawing/2014/main" id="{4EB56F21-2F29-4203-DC5F-7022D192163F}"/>
              </a:ext>
            </a:extLst>
          </p:cNvPr>
          <p:cNvSpPr txBox="1"/>
          <p:nvPr/>
        </p:nvSpPr>
        <p:spPr>
          <a:xfrm rot="5400000">
            <a:off x="2281774" y="4073163"/>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BC023A85-B9A2-08A0-CD89-1AFE2292339A}"/>
              </a:ext>
            </a:extLst>
          </p:cNvPr>
          <p:cNvSpPr txBox="1"/>
          <p:nvPr/>
        </p:nvSpPr>
        <p:spPr>
          <a:xfrm>
            <a:off x="6216733" y="3351710"/>
            <a:ext cx="591098" cy="144971"/>
          </a:xfrm>
          <a:prstGeom prst="rect">
            <a:avLst/>
          </a:prstGeom>
          <a:noFill/>
        </p:spPr>
        <p:txBody>
          <a:bodyPr wrap="none" lIns="0" tIns="0" rIns="0" bIns="0" rtlCol="0" anchor="ctr" anchorCtr="1">
            <a:noAutofit/>
          </a:bodyPr>
          <a:lstStyle/>
          <a:p>
            <a:pPr algn="ctr"/>
            <a:r>
              <a:rPr lang="en-US" altLang="zh-TW" sz="1200" b="1" dirty="0"/>
              <a:t>V</a:t>
            </a:r>
            <a:r>
              <a:rPr lang="zh-TW" altLang="en-US" sz="1200" b="1" dirty="0"/>
              <a:t>*</a:t>
            </a:r>
            <a:r>
              <a:rPr lang="en-US" altLang="zh-TW" sz="1200" b="1" dirty="0"/>
              <a:t>2</a:t>
            </a:r>
            <a:endParaRPr lang="zh-TW" altLang="en-US" sz="1200" b="1" dirty="0"/>
          </a:p>
        </p:txBody>
      </p:sp>
      <p:sp>
        <p:nvSpPr>
          <p:cNvPr id="9" name="文字方塊 8">
            <a:extLst>
              <a:ext uri="{FF2B5EF4-FFF2-40B4-BE49-F238E27FC236}">
                <a16:creationId xmlns:a16="http://schemas.microsoft.com/office/drawing/2014/main" id="{EE278255-EEC8-5438-442D-BC130E147683}"/>
              </a:ext>
            </a:extLst>
          </p:cNvPr>
          <p:cNvSpPr txBox="1"/>
          <p:nvPr/>
        </p:nvSpPr>
        <p:spPr>
          <a:xfrm>
            <a:off x="6177416" y="3127979"/>
            <a:ext cx="687963" cy="14497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Softmax</a:t>
            </a:r>
            <a:endParaRPr lang="zh-TW" altLang="en-US" sz="1200" b="1" dirty="0">
              <a:solidFill>
                <a:schemeClr val="accent6">
                  <a:lumMod val="75000"/>
                </a:schemeClr>
              </a:solidFill>
            </a:endParaRPr>
          </a:p>
        </p:txBody>
      </p:sp>
      <p:sp>
        <p:nvSpPr>
          <p:cNvPr id="13" name="文字方塊 12">
            <a:extLst>
              <a:ext uri="{FF2B5EF4-FFF2-40B4-BE49-F238E27FC236}">
                <a16:creationId xmlns:a16="http://schemas.microsoft.com/office/drawing/2014/main" id="{DEA15AC2-8309-6506-905B-864049D3352F}"/>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Semantics Space</a:t>
            </a:r>
            <a:r>
              <a:rPr lang="en-US" altLang="zh-TW" sz="1600" dirty="0"/>
              <a:t>: LLM use Embedding Matrix to sketch and shape by attention.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 Token</a:t>
            </a:r>
            <a:r>
              <a:rPr lang="en-US" altLang="zh-TW" sz="1600" u="none" strike="noStrike" dirty="0">
                <a:effectLst/>
              </a:rPr>
              <a:t>: First word of the following response. </a:t>
            </a:r>
            <a:endParaRPr lang="en-US" altLang="zh-TW" sz="1600" dirty="0"/>
          </a:p>
        </p:txBody>
      </p:sp>
    </p:spTree>
    <p:extLst>
      <p:ext uri="{BB962C8B-B14F-4D97-AF65-F5344CB8AC3E}">
        <p14:creationId xmlns:p14="http://schemas.microsoft.com/office/powerpoint/2010/main" val="28598052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𝑙</m:t>
                                        </m:r>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33" name="局部圓 32">
            <a:extLst>
              <a:ext uri="{FF2B5EF4-FFF2-40B4-BE49-F238E27FC236}">
                <a16:creationId xmlns:a16="http://schemas.microsoft.com/office/drawing/2014/main" id="{90FEF55D-352E-7939-49E0-A9B88A43848E}"/>
              </a:ext>
            </a:extLst>
          </p:cNvPr>
          <p:cNvSpPr/>
          <p:nvPr/>
        </p:nvSpPr>
        <p:spPr>
          <a:xfrm>
            <a:off x="3779912" y="2859805"/>
            <a:ext cx="1409161" cy="134417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4473744" y="2472114"/>
            <a:ext cx="0" cy="12664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4226176" y="3520962"/>
            <a:ext cx="10344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4483269" y="2882415"/>
            <a:ext cx="572263" cy="627738"/>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4473744" y="2722234"/>
            <a:ext cx="302150" cy="797832"/>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4483266" y="3076644"/>
            <a:ext cx="786864" cy="45524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4808446" y="3068960"/>
                <a:ext cx="699728" cy="338554"/>
              </a:xfrm>
              <a:prstGeom prst="rect">
                <a:avLst/>
              </a:prstGeom>
              <a:noFill/>
            </p:spPr>
            <p:txBody>
              <a:bodyPr wrap="square">
                <a:spAutoFit/>
              </a:bodyPr>
              <a:lstStyle/>
              <a:p>
                <a:pPr/>
                <a14:m>
                  <m:oMathPara xmlns:m="http://schemas.openxmlformats.org/officeDocument/2006/math">
                    <m:oMath>
                      <m:r>
                        <a:rPr lang="en-US" altLang="zh-TW" sz="1600" i="1">
                          <a:solidFill>
                            <a:srgbClr val="FF0000"/>
                          </a:solidFill>
                          <a:latin typeface="Cambria Math" panose="02040503050406030204" pitchFamily="18" charset="0"/>
                          <a:ea typeface="Cambria Math" panose="02040503050406030204" pitchFamily="18" charset="0"/>
                        </a:rPr>
                        <m:t>𝑙</m:t>
                      </m:r>
                      <m:r>
                        <a:rPr lang="zh-TW" altLang="en-US" sz="1600" i="1" smtClean="0">
                          <a:solidFill>
                            <a:srgbClr val="FF0000"/>
                          </a:solidFill>
                          <a:latin typeface="Cambria Math" panose="02040503050406030204" pitchFamily="18" charset="0"/>
                          <a:ea typeface="Cambria Math" panose="02040503050406030204" pitchFamily="18" charset="0"/>
                        </a:rPr>
                        <m:t>∗</m:t>
                      </m:r>
                      <m:sSub>
                        <m:sSubPr>
                          <m:ctrlPr>
                            <a:rPr lang="zh-TW" altLang="en-US" sz="1600" i="1">
                              <a:solidFill>
                                <a:srgbClr val="FF0000"/>
                              </a:solidFill>
                              <a:latin typeface="Cambria Math" panose="02040503050406030204" pitchFamily="18" charset="0"/>
                              <a:ea typeface="Cambria Math" panose="02040503050406030204" pitchFamily="18" charset="0"/>
                            </a:rPr>
                          </m:ctrlPr>
                        </m:sSubPr>
                        <m:e>
                          <m:r>
                            <a:rPr lang="zh-TW" altLang="en-US" sz="1600" i="1">
                              <a:solidFill>
                                <a:srgbClr val="FF0000"/>
                              </a:solidFill>
                              <a:latin typeface="Cambria Math" panose="02040503050406030204" pitchFamily="18" charset="0"/>
                              <a:ea typeface="Cambria Math" panose="02040503050406030204" pitchFamily="18" charset="0"/>
                            </a:rPr>
                            <m:t>𝜃</m:t>
                          </m:r>
                        </m:e>
                        <m:sub>
                          <m:r>
                            <a:rPr lang="en-US" altLang="zh-TW" sz="1600"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sz="1600"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4808446" y="3068960"/>
                <a:ext cx="699728" cy="338554"/>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4948800" y="2555612"/>
                <a:ext cx="271272" cy="369332"/>
              </a:xfrm>
              <a:prstGeom prst="rect">
                <a:avLst/>
              </a:prstGeom>
              <a:noFill/>
            </p:spPr>
            <p:txBody>
              <a:bodyPr wrap="none" anchor="ctr" anchorCtr="1">
                <a:noAutofit/>
              </a:bodyPr>
              <a:lstStyle/>
              <a:p>
                <a:pPr/>
                <a14:m>
                  <m:oMathPara xmlns:m="http://schemas.openxmlformats.org/officeDocument/2006/math">
                    <m:oMath>
                      <m:acc>
                        <m:accPr>
                          <m:chr m:val="⃑"/>
                          <m:ctrlPr>
                            <a:rPr lang="en-US" altLang="zh-TW" i="1">
                              <a:solidFill>
                                <a:srgbClr val="FF0000"/>
                              </a:solidFill>
                              <a:latin typeface="Cambria Math" panose="02040503050406030204" pitchFamily="18" charset="0"/>
                              <a:ea typeface="Cambria Math" panose="02040503050406030204" pitchFamily="18" charset="0"/>
                            </a:rPr>
                          </m:ctrlPr>
                        </m:accPr>
                        <m:e>
                          <m:r>
                            <a:rPr lang="en-US" altLang="zh-TW" i="1">
                              <a:solidFill>
                                <a:srgbClr val="FF0000"/>
                              </a:solidFill>
                              <a:latin typeface="Cambria Math" panose="02040503050406030204" pitchFamily="18" charset="0"/>
                              <a:ea typeface="Cambria Math" panose="02040503050406030204" pitchFamily="18" charset="0"/>
                            </a:rPr>
                            <m:t>𝑣</m:t>
                          </m:r>
                        </m:e>
                      </m:acc>
                    </m:oMath>
                  </m:oMathPara>
                </a14:m>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4948800" y="2555612"/>
                <a:ext cx="271272" cy="369332"/>
              </a:xfrm>
              <a:prstGeom prst="rect">
                <a:avLst/>
              </a:prstGeom>
              <a:blipFill>
                <a:blip r:embed="rId22"/>
                <a:stretch>
                  <a:fillRect l="-6818" t="-4918"/>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4556444"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p:cNvCxnSpPr>
          <p:nvPr/>
        </p:nvCxnSpPr>
        <p:spPr>
          <a:xfrm flipV="1">
            <a:off x="4472586"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grpSp>
        <p:nvGrpSpPr>
          <p:cNvPr id="53" name="群組 52">
            <a:extLst>
              <a:ext uri="{FF2B5EF4-FFF2-40B4-BE49-F238E27FC236}">
                <a16:creationId xmlns:a16="http://schemas.microsoft.com/office/drawing/2014/main" id="{067D946C-45F7-9696-4CF1-20648FBBE237}"/>
              </a:ext>
            </a:extLst>
          </p:cNvPr>
          <p:cNvGrpSpPr/>
          <p:nvPr/>
        </p:nvGrpSpPr>
        <p:grpSpPr>
          <a:xfrm>
            <a:off x="6300192" y="1124743"/>
            <a:ext cx="2699792" cy="2304257"/>
            <a:chOff x="6444208" y="1124743"/>
            <a:chExt cx="2699792" cy="2304257"/>
          </a:xfrm>
        </p:grpSpPr>
        <p:sp>
          <p:nvSpPr>
            <p:cNvPr id="22" name="矩形 21">
              <a:extLst>
                <a:ext uri="{FF2B5EF4-FFF2-40B4-BE49-F238E27FC236}">
                  <a16:creationId xmlns:a16="http://schemas.microsoft.com/office/drawing/2014/main" id="{F05BA417-8DA3-2AA4-008E-96D95026C2B3}"/>
                </a:ext>
              </a:extLst>
            </p:cNvPr>
            <p:cNvSpPr/>
            <p:nvPr/>
          </p:nvSpPr>
          <p:spPr>
            <a:xfrm>
              <a:off x="6444208" y="1124743"/>
              <a:ext cx="2334722" cy="2304257"/>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dirty="0">
                  <a:solidFill>
                    <a:schemeClr val="tx1"/>
                  </a:solidFill>
                  <a:ea typeface="微軟正黑體" panose="020B0604030504040204" pitchFamily="34" charset="-120"/>
                </a:rPr>
                <a:t>Sinusoidal Position Encoding</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Rotary PE</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dirty="0">
                  <a:solidFill>
                    <a:schemeClr val="tx1"/>
                  </a:solidFill>
                  <a:ea typeface="微軟正黑體" panose="020B0604030504040204" pitchFamily="34" charset="-120"/>
                </a:rPr>
                <a:t>No PE</a:t>
              </a:r>
            </a:p>
            <a:p>
              <a:pPr marL="171450" indent="-171450">
                <a:lnSpc>
                  <a:spcPts val="1600"/>
                </a:lnSpc>
                <a:buFont typeface="Wingdings" panose="05000000000000000000" pitchFamily="2" charset="2"/>
                <a:buChar char="l"/>
              </a:pPr>
              <a:r>
                <a:rPr lang="en-US" altLang="zh-TW" sz="1200" dirty="0">
                  <a:solidFill>
                    <a:schemeClr val="tx1">
                      <a:lumMod val="50000"/>
                      <a:lumOff val="50000"/>
                    </a:schemeClr>
                  </a:solidFill>
                  <a:ea typeface="微軟正黑體" panose="020B0604030504040204" pitchFamily="34" charset="-120"/>
                </a:rPr>
                <a:t>Decoupling</a:t>
              </a:r>
            </a:p>
            <a:p>
              <a:pPr marL="171450" indent="-171450">
                <a:lnSpc>
                  <a:spcPts val="1600"/>
                </a:lnSpc>
                <a:buFont typeface="Wingdings" panose="05000000000000000000" pitchFamily="2" charset="2"/>
                <a:buChar char="l"/>
              </a:pPr>
              <a:r>
                <a:rPr lang="en-US" altLang="zh-TW" sz="1200" dirty="0">
                  <a:solidFill>
                    <a:schemeClr val="tx1">
                      <a:lumMod val="50000"/>
                      <a:lumOff val="50000"/>
                    </a:schemeClr>
                  </a:solidFill>
                  <a:ea typeface="微軟正黑體" panose="020B0604030504040204" pitchFamily="34" charset="-120"/>
                </a:rPr>
                <a:t>PE Every where</a:t>
              </a:r>
            </a:p>
          </p:txBody>
        </p:sp>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EA5E06DF-7B56-C8A4-8A7E-D9DAD3435FBE}"/>
                    </a:ext>
                  </a:extLst>
                </p:cNvPr>
                <p:cNvSpPr txBox="1"/>
                <p:nvPr/>
              </p:nvSpPr>
              <p:spPr>
                <a:xfrm>
                  <a:off x="6588224" y="1305267"/>
                  <a:ext cx="2190706" cy="611565"/>
                </a:xfrm>
                <a:prstGeom prst="rect">
                  <a:avLst/>
                </a:prstGeom>
                <a:noFill/>
              </p:spPr>
              <p:txBody>
                <a:bodyPr wrap="none" lIns="0" tIns="0" rIns="0" bIns="0" rtlCol="0" anchor="ctr" anchorCtr="0">
                  <a:noAutofit/>
                </a:bodyPr>
                <a:lstStyle/>
                <a:p>
                  <a:r>
                    <a:rPr lang="en-US" altLang="zh-TW" sz="1200" dirty="0">
                      <a:solidFill>
                        <a:schemeClr val="tx1"/>
                      </a:solidFill>
                      <a:ea typeface="Cambria Math" panose="02040503050406030204" pitchFamily="18" charset="0"/>
                    </a:rPr>
                    <a:t> </a:t>
                  </a:r>
                  <a14:m>
                    <m:oMath xmlns:m="http://schemas.openxmlformats.org/officeDocument/2006/math">
                      <m:r>
                        <m:rPr>
                          <m:sty m:val="p"/>
                        </m:rPr>
                        <a:rPr lang="en-US" altLang="zh-TW" sz="1200" b="0" i="0" smtClean="0">
                          <a:solidFill>
                            <a:schemeClr val="tx1"/>
                          </a:solidFill>
                          <a:latin typeface="Cambria Math" panose="02040503050406030204" pitchFamily="18" charset="0"/>
                          <a:ea typeface="Cambria Math" panose="02040503050406030204" pitchFamily="18" charset="0"/>
                        </a:rPr>
                        <m:t>PE</m:t>
                      </m:r>
                      <m:d>
                        <m:dPr>
                          <m:ctrlPr>
                            <a:rPr lang="en-US" altLang="zh-TW" sz="1200" i="1">
                              <a:latin typeface="Cambria Math" panose="02040503050406030204" pitchFamily="18" charset="0"/>
                              <a:ea typeface="Cambria Math" panose="02040503050406030204" pitchFamily="18" charset="0"/>
                            </a:rPr>
                          </m:ctrlPr>
                        </m:dPr>
                        <m:e>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r>
                                        <a:rPr lang="en-US" altLang="zh-TW" sz="1200" i="1">
                                          <a:latin typeface="Cambria Math" panose="02040503050406030204" pitchFamily="18" charset="0"/>
                                          <a:ea typeface="Cambria Math" panose="02040503050406030204" pitchFamily="18" charset="0"/>
                                        </a:rPr>
                                        <m:t>+1</m:t>
                                      </m:r>
                                    </m:sub>
                                  </m:sSub>
                                </m:e>
                              </m:eqArr>
                            </m:e>
                          </m:d>
                        </m:e>
                      </m:d>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m:t>
                                  </m:r>
                                  <m:r>
                                    <m:rPr>
                                      <m:sty m:val="p"/>
                                    </m:rPr>
                                    <a:rPr lang="en-US" altLang="zh-TW" sz="1200" b="0" i="0" smtClean="0">
                                      <a:solidFill>
                                        <a:schemeClr val="tx1"/>
                                      </a:solidFill>
                                      <a:latin typeface="Cambria Math" panose="02040503050406030204" pitchFamily="18" charset="0"/>
                                      <a:ea typeface="Cambria Math" panose="02040503050406030204" pitchFamily="18" charset="0"/>
                                    </a:rPr>
                                    <m:t>in</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sub>
                                          </m:sSub>
                                        </m:num>
                                        <m:den>
                                          <m:sSup>
                                            <m:sSupPr>
                                              <m:ctrlPr>
                                                <a:rPr lang="en-US" altLang="zh-TW" sz="1200" i="1">
                                                  <a:solidFill>
                                                    <a:schemeClr val="tx1"/>
                                                  </a:solidFill>
                                                  <a:latin typeface="Cambria Math" panose="02040503050406030204" pitchFamily="18" charset="0"/>
                                                  <a:ea typeface="Cambria Math" panose="02040503050406030204" pitchFamily="18" charset="0"/>
                                                </a:rPr>
                                              </m:ctrlPr>
                                            </m:sSupPr>
                                            <m:e>
                                              <m:r>
                                                <a:rPr lang="en-US" altLang="zh-TW" sz="1200" i="1">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r>
                                                <a:rPr lang="en-US" altLang="zh-TW" sz="1200" i="1">
                                                  <a:solidFill>
                                                    <a:schemeClr val="tx1"/>
                                                  </a:solidFill>
                                                  <a:latin typeface="Cambria Math" panose="02040503050406030204" pitchFamily="18" charset="0"/>
                                                  <a:ea typeface="Cambria Math" panose="02040503050406030204" pitchFamily="18" charset="0"/>
                                                </a:rPr>
                                                <m:t>+1</m:t>
                                              </m:r>
                                            </m:sub>
                                          </m:sSub>
                                        </m:num>
                                        <m:den>
                                          <m:sSup>
                                            <m:sSupPr>
                                              <m:ctrlPr>
                                                <a:rPr lang="en-US" altLang="zh-TW" sz="1200" b="0" i="1" smtClean="0">
                                                  <a:solidFill>
                                                    <a:schemeClr val="tx1"/>
                                                  </a:solidFill>
                                                  <a:latin typeface="Cambria Math" panose="02040503050406030204" pitchFamily="18" charset="0"/>
                                                  <a:ea typeface="Cambria Math" panose="02040503050406030204" pitchFamily="18" charset="0"/>
                                                </a:rPr>
                                              </m:ctrlPr>
                                            </m:sSupPr>
                                            <m:e>
                                              <m:r>
                                                <a:rPr lang="en-US" altLang="zh-TW" sz="1200" b="0" i="1" smtClean="0">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qArr>
                        </m:e>
                      </m:d>
                    </m:oMath>
                  </a14:m>
                  <a:endParaRPr lang="en-US" altLang="zh-TW" sz="1200" dirty="0">
                    <a:solidFill>
                      <a:schemeClr val="tx1"/>
                    </a:solidFill>
                    <a:ea typeface="Cambria Math" panose="02040503050406030204" pitchFamily="18" charset="0"/>
                  </a:endParaRPr>
                </a:p>
              </p:txBody>
            </p:sp>
          </mc:Choice>
          <mc:Fallback xmlns="">
            <p:sp>
              <p:nvSpPr>
                <p:cNvPr id="8" name="文字方塊 7">
                  <a:extLst>
                    <a:ext uri="{FF2B5EF4-FFF2-40B4-BE49-F238E27FC236}">
                      <a16:creationId xmlns:a16="http://schemas.microsoft.com/office/drawing/2014/main" id="{EA5E06DF-7B56-C8A4-8A7E-D9DAD3435FBE}"/>
                    </a:ext>
                  </a:extLst>
                </p:cNvPr>
                <p:cNvSpPr txBox="1">
                  <a:spLocks noRot="1" noChangeAspect="1" noMove="1" noResize="1" noEditPoints="1" noAdjustHandles="1" noChangeArrowheads="1" noChangeShapeType="1" noTextEdit="1"/>
                </p:cNvSpPr>
                <p:nvPr/>
              </p:nvSpPr>
              <p:spPr>
                <a:xfrm>
                  <a:off x="6588224" y="1305267"/>
                  <a:ext cx="2190706" cy="611565"/>
                </a:xfrm>
                <a:prstGeom prst="rect">
                  <a:avLst/>
                </a:prstGeom>
                <a:blipFill>
                  <a:blip r:embed="rId2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2" name="文字方塊 31">
                  <a:extLst>
                    <a:ext uri="{FF2B5EF4-FFF2-40B4-BE49-F238E27FC236}">
                      <a16:creationId xmlns:a16="http://schemas.microsoft.com/office/drawing/2014/main" id="{F76735C5-C7F2-BDA9-C619-1E520344AADC}"/>
                    </a:ext>
                  </a:extLst>
                </p:cNvPr>
                <p:cNvSpPr txBox="1"/>
                <p:nvPr/>
              </p:nvSpPr>
              <p:spPr>
                <a:xfrm>
                  <a:off x="7700236" y="2771636"/>
                  <a:ext cx="1078694" cy="369332"/>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m:rPr>
                            <m:sty m:val="p"/>
                          </m:rPr>
                          <a:rPr lang="en-US" altLang="zh-TW" sz="1200" b="0" i="1" smtClean="0">
                            <a:solidFill>
                              <a:schemeClr val="tx1"/>
                            </a:solidFill>
                            <a:latin typeface="Cambria Math" panose="02040503050406030204" pitchFamily="18" charset="0"/>
                            <a:ea typeface="Cambria Math" panose="02040503050406030204" pitchFamily="18" charset="0"/>
                          </a:rPr>
                          <m:t>No</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oMath>
                    </m:oMathPara>
                  </a14:m>
                  <a:endParaRPr lang="en-US" altLang="zh-TW" sz="1200" dirty="0">
                    <a:solidFill>
                      <a:schemeClr val="tx1"/>
                    </a:solidFill>
                    <a:ea typeface="Cambria Math" panose="02040503050406030204" pitchFamily="18" charset="0"/>
                  </a:endParaRPr>
                </a:p>
                <a:p>
                  <a:pPr/>
                  <a14:m>
                    <m:oMathPara xmlns:m="http://schemas.openxmlformats.org/officeDocument/2006/math">
                      <m:oMathParaPr>
                        <m:jc m:val="left"/>
                      </m:oMathParaPr>
                      <m:oMath>
                        <m:r>
                          <m:rPr>
                            <m:sty m:val="p"/>
                          </m:rPr>
                          <a:rPr lang="en-US" altLang="zh-TW" sz="1200" i="1">
                            <a:solidFill>
                              <a:schemeClr val="tx1"/>
                            </a:solidFill>
                            <a:latin typeface="Cambria Math" panose="02040503050406030204" pitchFamily="18" charset="0"/>
                            <a:ea typeface="Cambria Math" panose="02040503050406030204" pitchFamily="18" charset="0"/>
                          </a:rPr>
                          <m:t>No</m:t>
                        </m:r>
                        <m:r>
                          <a:rPr lang="en-US" altLang="zh-TW" sz="1200" i="1">
                            <a:solidFill>
                              <a:schemeClr val="tx1"/>
                            </a:solidFill>
                            <a:latin typeface="Cambria Math" panose="02040503050406030204" pitchFamily="18" charset="0"/>
                            <a:ea typeface="Cambria Math" panose="02040503050406030204" pitchFamily="18" charset="0"/>
                          </a:rPr>
                          <m:t> </m:t>
                        </m:r>
                        <m:r>
                          <m:rPr>
                            <m:sty m:val="p"/>
                          </m:rPr>
                          <a:rPr lang="en-US" altLang="zh-TW" sz="1200" i="1">
                            <a:solidFill>
                              <a:schemeClr val="tx1"/>
                            </a:solidFill>
                            <a:latin typeface="Cambria Math" panose="02040503050406030204" pitchFamily="18" charset="0"/>
                            <a:ea typeface="Cambria Math" panose="02040503050406030204" pitchFamily="18" charset="0"/>
                          </a:rPr>
                          <m:t>PE</m:t>
                        </m:r>
                      </m:oMath>
                    </m:oMathPara>
                  </a14:m>
                  <a:endParaRPr lang="en-US" altLang="zh-TW" sz="1200" dirty="0">
                    <a:solidFill>
                      <a:schemeClr val="tx1"/>
                    </a:solidFill>
                    <a:ea typeface="Cambria Math" panose="02040503050406030204" pitchFamily="18" charset="0"/>
                  </a:endParaRPr>
                </a:p>
              </p:txBody>
            </p:sp>
          </mc:Choice>
          <mc:Fallback xmlns="">
            <p:sp>
              <p:nvSpPr>
                <p:cNvPr id="32" name="文字方塊 31">
                  <a:extLst>
                    <a:ext uri="{FF2B5EF4-FFF2-40B4-BE49-F238E27FC236}">
                      <a16:creationId xmlns:a16="http://schemas.microsoft.com/office/drawing/2014/main" id="{F76735C5-C7F2-BDA9-C619-1E520344AADC}"/>
                    </a:ext>
                  </a:extLst>
                </p:cNvPr>
                <p:cNvSpPr txBox="1">
                  <a:spLocks noRot="1" noChangeAspect="1" noMove="1" noResize="1" noEditPoints="1" noAdjustHandles="1" noChangeArrowheads="1" noChangeShapeType="1" noTextEdit="1"/>
                </p:cNvSpPr>
                <p:nvPr/>
              </p:nvSpPr>
              <p:spPr>
                <a:xfrm>
                  <a:off x="7700236" y="2771636"/>
                  <a:ext cx="1078694" cy="369332"/>
                </a:xfrm>
                <a:prstGeom prst="rect">
                  <a:avLst/>
                </a:prstGeom>
                <a:blipFill>
                  <a:blip r:embed="rId24"/>
                  <a:stretch>
                    <a:fillRect l="-5114" b="-3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C1C771D8-0274-E3FC-AD2E-C5636BF074B2}"/>
                    </a:ext>
                  </a:extLst>
                </p:cNvPr>
                <p:cNvSpPr txBox="1"/>
                <p:nvPr/>
              </p:nvSpPr>
              <p:spPr>
                <a:xfrm>
                  <a:off x="6588224" y="2060848"/>
                  <a:ext cx="2555776" cy="455247"/>
                </a:xfrm>
                <a:prstGeom prst="rect">
                  <a:avLst/>
                </a:prstGeom>
                <a:noFill/>
              </p:spPr>
              <p:txBody>
                <a:bodyPr wrap="none" lIns="0" tIns="0" rIns="0" bIns="0" anchor="ctr" anchorCtr="1">
                  <a:noAutofit/>
                </a:bodyPr>
                <a:lstStyle/>
                <a:p>
                  <a14:m>
                    <m:oMath xmlns:m="http://schemas.openxmlformats.org/officeDocument/2006/math">
                      <m:r>
                        <m:rPr>
                          <m:sty m:val="p"/>
                        </m:rPr>
                        <a:rPr lang="en-US" altLang="zh-TW" sz="1200" b="0" i="1" smtClean="0">
                          <a:solidFill>
                            <a:schemeClr val="tx1"/>
                          </a:solidFill>
                          <a:latin typeface="Cambria Math" panose="02040503050406030204" pitchFamily="18" charset="0"/>
                          <a:ea typeface="Cambria Math" panose="02040503050406030204" pitchFamily="18" charset="0"/>
                        </a:rPr>
                        <m:t>RoPE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r>
                        <a:rPr lang="en-US" altLang="zh-TW" sz="1200" b="0" i="1" smtClean="0">
                          <a:solidFill>
                            <a:schemeClr val="tx1"/>
                          </a:solidFill>
                          <a:latin typeface="Cambria Math" panose="02040503050406030204" pitchFamily="18" charset="0"/>
                          <a:ea typeface="Cambria Math" panose="02040503050406030204" pitchFamily="18" charset="0"/>
                        </a:rPr>
                        <m:t> =</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b="0" i="1" smtClean="0">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r>
                                    <a:rPr lang="en-US" altLang="zh-TW" sz="1200" b="0" i="1" smtClean="0">
                                      <a:solidFill>
                                        <a:schemeClr val="tx1"/>
                                      </a:solidFill>
                                      <a:latin typeface="Cambria Math" panose="02040503050406030204" pitchFamily="18" charset="0"/>
                                      <a:ea typeface="Cambria Math" panose="02040503050406030204" pitchFamily="18" charset="0"/>
                                    </a:rPr>
                                    <m:t>+1</m:t>
                                  </m:r>
                                </m:sub>
                              </m:sSub>
                            </m:e>
                          </m:eqArr>
                        </m:e>
                      </m:d>
                    </m:oMath>
                  </a14:m>
                  <a:r>
                    <a:rPr lang="az-Cyrl-AZ" altLang="zh-TW" sz="1200" dirty="0">
                      <a:solidFill>
                        <a:schemeClr val="tx1"/>
                      </a:solidFill>
                      <a:ea typeface="Cambria Math" panose="02040503050406030204" pitchFamily="18" charset="0"/>
                    </a:rPr>
                    <a:t> </a:t>
                  </a:r>
                  <a:endParaRPr lang="zh-TW" altLang="en-US" dirty="0">
                    <a:solidFill>
                      <a:schemeClr val="tx1"/>
                    </a:solidFill>
                  </a:endParaRPr>
                </a:p>
              </p:txBody>
            </p:sp>
          </mc:Choice>
          <mc:Fallback xmlns="">
            <p:sp>
              <p:nvSpPr>
                <p:cNvPr id="14" name="文字方塊 13">
                  <a:extLst>
                    <a:ext uri="{FF2B5EF4-FFF2-40B4-BE49-F238E27FC236}">
                      <a16:creationId xmlns:a16="http://schemas.microsoft.com/office/drawing/2014/main" id="{C1C771D8-0274-E3FC-AD2E-C5636BF074B2}"/>
                    </a:ext>
                  </a:extLst>
                </p:cNvPr>
                <p:cNvSpPr txBox="1">
                  <a:spLocks noRot="1" noChangeAspect="1" noMove="1" noResize="1" noEditPoints="1" noAdjustHandles="1" noChangeArrowheads="1" noChangeShapeType="1" noTextEdit="1"/>
                </p:cNvSpPr>
                <p:nvPr/>
              </p:nvSpPr>
              <p:spPr>
                <a:xfrm>
                  <a:off x="6588224" y="2060848"/>
                  <a:ext cx="2555776" cy="455247"/>
                </a:xfrm>
                <a:prstGeom prst="rect">
                  <a:avLst/>
                </a:prstGeom>
                <a:blipFill>
                  <a:blip r:embed="rId25"/>
                  <a:stretch>
                    <a:fillRect l="-1193"/>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523844" y="1146853"/>
            <a:ext cx="3067282" cy="161220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1907704" y="5812536"/>
                <a:ext cx="3068084" cy="501482"/>
              </a:xfrm>
              <a:prstGeom prst="rect">
                <a:avLst/>
              </a:prstGeom>
              <a:solidFill>
                <a:schemeClr val="bg1">
                  <a:lumMod val="95000"/>
                </a:schemeClr>
              </a:solid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1907704" y="5812536"/>
                <a:ext cx="3068084" cy="501482"/>
              </a:xfrm>
              <a:prstGeom prst="rect">
                <a:avLst/>
              </a:prstGeom>
              <a:blipFill>
                <a:blip r:embed="rId5"/>
                <a:stretch>
                  <a:fillRect b="-1341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
        <p:nvSpPr>
          <p:cNvPr id="7" name="矩形 6">
            <a:extLst>
              <a:ext uri="{FF2B5EF4-FFF2-40B4-BE49-F238E27FC236}">
                <a16:creationId xmlns:a16="http://schemas.microsoft.com/office/drawing/2014/main" id="{23B91EF4-F06B-892E-2B46-747AA73BD25E}"/>
              </a:ext>
            </a:extLst>
          </p:cNvPr>
          <p:cNvSpPr/>
          <p:nvPr/>
        </p:nvSpPr>
        <p:spPr>
          <a:xfrm>
            <a:off x="82680" y="98979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grpSp>
        <p:nvGrpSpPr>
          <p:cNvPr id="9" name="群組 8">
            <a:extLst>
              <a:ext uri="{FF2B5EF4-FFF2-40B4-BE49-F238E27FC236}">
                <a16:creationId xmlns:a16="http://schemas.microsoft.com/office/drawing/2014/main" id="{ACE055E3-20CB-208B-7111-6E288157CB1C}"/>
              </a:ext>
            </a:extLst>
          </p:cNvPr>
          <p:cNvGrpSpPr/>
          <p:nvPr/>
        </p:nvGrpSpPr>
        <p:grpSpPr>
          <a:xfrm>
            <a:off x="6264694" y="4149080"/>
            <a:ext cx="2699792" cy="2304257"/>
            <a:chOff x="6444208" y="1124743"/>
            <a:chExt cx="2699792" cy="2304257"/>
          </a:xfrm>
        </p:grpSpPr>
        <p:sp>
          <p:nvSpPr>
            <p:cNvPr id="12" name="矩形 11">
              <a:extLst>
                <a:ext uri="{FF2B5EF4-FFF2-40B4-BE49-F238E27FC236}">
                  <a16:creationId xmlns:a16="http://schemas.microsoft.com/office/drawing/2014/main" id="{63EBB46D-BD3E-9377-9BE6-F61BC5DE09DA}"/>
                </a:ext>
              </a:extLst>
            </p:cNvPr>
            <p:cNvSpPr/>
            <p:nvPr/>
          </p:nvSpPr>
          <p:spPr>
            <a:xfrm>
              <a:off x="6444208" y="1124743"/>
              <a:ext cx="2334722" cy="2304257"/>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dirty="0">
                  <a:solidFill>
                    <a:schemeClr val="tx1"/>
                  </a:solidFill>
                  <a:ea typeface="微軟正黑體" panose="020B0604030504040204" pitchFamily="34" charset="-120"/>
                </a:rPr>
                <a:t>Sinusoidal Position Encoding</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Rotary PE</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dirty="0">
                  <a:solidFill>
                    <a:schemeClr val="tx1"/>
                  </a:solidFill>
                  <a:ea typeface="微軟正黑體" panose="020B0604030504040204" pitchFamily="34" charset="-120"/>
                </a:rPr>
                <a:t>No PE</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Decoupling</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PE Every where</a:t>
              </a:r>
            </a:p>
          </p:txBody>
        </p:sp>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03740B3-4B05-83D5-5C0C-B157F945BEC3}"/>
                    </a:ext>
                  </a:extLst>
                </p:cNvPr>
                <p:cNvSpPr txBox="1"/>
                <p:nvPr/>
              </p:nvSpPr>
              <p:spPr>
                <a:xfrm>
                  <a:off x="6588224" y="1305267"/>
                  <a:ext cx="2190706" cy="611565"/>
                </a:xfrm>
                <a:prstGeom prst="rect">
                  <a:avLst/>
                </a:prstGeom>
                <a:noFill/>
              </p:spPr>
              <p:txBody>
                <a:bodyPr wrap="none" lIns="0" tIns="0" rIns="0" bIns="0" rtlCol="0" anchor="ctr" anchorCtr="0">
                  <a:noAutofit/>
                </a:bodyPr>
                <a:lstStyle/>
                <a:p>
                  <a:r>
                    <a:rPr lang="en-US" altLang="zh-TW" sz="1200" dirty="0">
                      <a:solidFill>
                        <a:schemeClr val="tx1"/>
                      </a:solidFill>
                      <a:ea typeface="Cambria Math" panose="02040503050406030204" pitchFamily="18" charset="0"/>
                    </a:rPr>
                    <a:t> </a:t>
                  </a:r>
                  <a14:m>
                    <m:oMath xmlns:m="http://schemas.openxmlformats.org/officeDocument/2006/math">
                      <m:r>
                        <m:rPr>
                          <m:sty m:val="p"/>
                        </m:rPr>
                        <a:rPr lang="en-US" altLang="zh-TW" sz="1200" b="0" i="0" smtClean="0">
                          <a:solidFill>
                            <a:schemeClr val="tx1"/>
                          </a:solidFill>
                          <a:latin typeface="Cambria Math" panose="02040503050406030204" pitchFamily="18" charset="0"/>
                          <a:ea typeface="Cambria Math" panose="02040503050406030204" pitchFamily="18" charset="0"/>
                        </a:rPr>
                        <m:t>PE</m:t>
                      </m:r>
                      <m:d>
                        <m:dPr>
                          <m:ctrlPr>
                            <a:rPr lang="en-US" altLang="zh-TW" sz="1200" i="1">
                              <a:latin typeface="Cambria Math" panose="02040503050406030204" pitchFamily="18" charset="0"/>
                              <a:ea typeface="Cambria Math" panose="02040503050406030204" pitchFamily="18" charset="0"/>
                            </a:rPr>
                          </m:ctrlPr>
                        </m:dPr>
                        <m:e>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r>
                                        <a:rPr lang="en-US" altLang="zh-TW" sz="1200" i="1">
                                          <a:latin typeface="Cambria Math" panose="02040503050406030204" pitchFamily="18" charset="0"/>
                                          <a:ea typeface="Cambria Math" panose="02040503050406030204" pitchFamily="18" charset="0"/>
                                        </a:rPr>
                                        <m:t>+1</m:t>
                                      </m:r>
                                    </m:sub>
                                  </m:sSub>
                                </m:e>
                              </m:eqArr>
                            </m:e>
                          </m:d>
                        </m:e>
                      </m:d>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m:t>
                                  </m:r>
                                  <m:r>
                                    <m:rPr>
                                      <m:sty m:val="p"/>
                                    </m:rPr>
                                    <a:rPr lang="en-US" altLang="zh-TW" sz="1200" b="0" i="0" smtClean="0">
                                      <a:solidFill>
                                        <a:schemeClr val="tx1"/>
                                      </a:solidFill>
                                      <a:latin typeface="Cambria Math" panose="02040503050406030204" pitchFamily="18" charset="0"/>
                                      <a:ea typeface="Cambria Math" panose="02040503050406030204" pitchFamily="18" charset="0"/>
                                    </a:rPr>
                                    <m:t>in</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sub>
                                          </m:sSub>
                                        </m:num>
                                        <m:den>
                                          <m:sSup>
                                            <m:sSupPr>
                                              <m:ctrlPr>
                                                <a:rPr lang="en-US" altLang="zh-TW" sz="1200" i="1">
                                                  <a:solidFill>
                                                    <a:schemeClr val="tx1"/>
                                                  </a:solidFill>
                                                  <a:latin typeface="Cambria Math" panose="02040503050406030204" pitchFamily="18" charset="0"/>
                                                  <a:ea typeface="Cambria Math" panose="02040503050406030204" pitchFamily="18" charset="0"/>
                                                </a:rPr>
                                              </m:ctrlPr>
                                            </m:sSupPr>
                                            <m:e>
                                              <m:r>
                                                <a:rPr lang="en-US" altLang="zh-TW" sz="1200" i="1">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r>
                                                <a:rPr lang="en-US" altLang="zh-TW" sz="1200" i="1">
                                                  <a:solidFill>
                                                    <a:schemeClr val="tx1"/>
                                                  </a:solidFill>
                                                  <a:latin typeface="Cambria Math" panose="02040503050406030204" pitchFamily="18" charset="0"/>
                                                  <a:ea typeface="Cambria Math" panose="02040503050406030204" pitchFamily="18" charset="0"/>
                                                </a:rPr>
                                                <m:t>+1</m:t>
                                              </m:r>
                                            </m:sub>
                                          </m:sSub>
                                        </m:num>
                                        <m:den>
                                          <m:sSup>
                                            <m:sSupPr>
                                              <m:ctrlPr>
                                                <a:rPr lang="en-US" altLang="zh-TW" sz="1200" b="0" i="1" smtClean="0">
                                                  <a:solidFill>
                                                    <a:schemeClr val="tx1"/>
                                                  </a:solidFill>
                                                  <a:latin typeface="Cambria Math" panose="02040503050406030204" pitchFamily="18" charset="0"/>
                                                  <a:ea typeface="Cambria Math" panose="02040503050406030204" pitchFamily="18" charset="0"/>
                                                </a:rPr>
                                              </m:ctrlPr>
                                            </m:sSupPr>
                                            <m:e>
                                              <m:r>
                                                <a:rPr lang="en-US" altLang="zh-TW" sz="1200" b="0" i="1" smtClean="0">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qArr>
                        </m:e>
                      </m:d>
                    </m:oMath>
                  </a14:m>
                  <a:endParaRPr lang="en-US" altLang="zh-TW" sz="1200" dirty="0">
                    <a:solidFill>
                      <a:schemeClr val="tx1"/>
                    </a:solidFill>
                    <a:ea typeface="Cambria Math" panose="02040503050406030204" pitchFamily="18" charset="0"/>
                  </a:endParaRPr>
                </a:p>
              </p:txBody>
            </p:sp>
          </mc:Choice>
          <mc:Fallback xmlns="">
            <p:sp>
              <p:nvSpPr>
                <p:cNvPr id="14" name="文字方塊 13">
                  <a:extLst>
                    <a:ext uri="{FF2B5EF4-FFF2-40B4-BE49-F238E27FC236}">
                      <a16:creationId xmlns:a16="http://schemas.microsoft.com/office/drawing/2014/main" id="{203740B3-4B05-83D5-5C0C-B157F945BEC3}"/>
                    </a:ext>
                  </a:extLst>
                </p:cNvPr>
                <p:cNvSpPr txBox="1">
                  <a:spLocks noRot="1" noChangeAspect="1" noMove="1" noResize="1" noEditPoints="1" noAdjustHandles="1" noChangeArrowheads="1" noChangeShapeType="1" noTextEdit="1"/>
                </p:cNvSpPr>
                <p:nvPr/>
              </p:nvSpPr>
              <p:spPr>
                <a:xfrm>
                  <a:off x="6588224" y="1305267"/>
                  <a:ext cx="2190706" cy="611565"/>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9D82930F-0234-77E2-D32F-85E5AACF1DCA}"/>
                    </a:ext>
                  </a:extLst>
                </p:cNvPr>
                <p:cNvSpPr txBox="1"/>
                <p:nvPr/>
              </p:nvSpPr>
              <p:spPr>
                <a:xfrm>
                  <a:off x="7700236" y="2771636"/>
                  <a:ext cx="1078694" cy="369332"/>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m:rPr>
                            <m:sty m:val="p"/>
                          </m:rPr>
                          <a:rPr lang="en-US" altLang="zh-TW" sz="1200" b="0" i="1" smtClean="0">
                            <a:solidFill>
                              <a:schemeClr val="tx1"/>
                            </a:solidFill>
                            <a:latin typeface="Cambria Math" panose="02040503050406030204" pitchFamily="18" charset="0"/>
                            <a:ea typeface="Cambria Math" panose="02040503050406030204" pitchFamily="18" charset="0"/>
                          </a:rPr>
                          <m:t>No</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oMath>
                    </m:oMathPara>
                  </a14:m>
                  <a:endParaRPr lang="en-US" altLang="zh-TW" sz="1200" dirty="0">
                    <a:solidFill>
                      <a:schemeClr val="tx1"/>
                    </a:solidFill>
                    <a:ea typeface="Cambria Math" panose="02040503050406030204" pitchFamily="18" charset="0"/>
                  </a:endParaRPr>
                </a:p>
                <a:p>
                  <a:pPr/>
                  <a14:m>
                    <m:oMathPara xmlns:m="http://schemas.openxmlformats.org/officeDocument/2006/math">
                      <m:oMathParaPr>
                        <m:jc m:val="left"/>
                      </m:oMathParaPr>
                      <m:oMath>
                        <m:r>
                          <m:rPr>
                            <m:sty m:val="p"/>
                          </m:rPr>
                          <a:rPr lang="en-US" altLang="zh-TW" sz="1200" i="1">
                            <a:solidFill>
                              <a:schemeClr val="tx1"/>
                            </a:solidFill>
                            <a:latin typeface="Cambria Math" panose="02040503050406030204" pitchFamily="18" charset="0"/>
                            <a:ea typeface="Cambria Math" panose="02040503050406030204" pitchFamily="18" charset="0"/>
                          </a:rPr>
                          <m:t>No</m:t>
                        </m:r>
                        <m:r>
                          <a:rPr lang="en-US" altLang="zh-TW" sz="1200" i="1">
                            <a:solidFill>
                              <a:schemeClr val="tx1"/>
                            </a:solidFill>
                            <a:latin typeface="Cambria Math" panose="02040503050406030204" pitchFamily="18" charset="0"/>
                            <a:ea typeface="Cambria Math" panose="02040503050406030204" pitchFamily="18" charset="0"/>
                          </a:rPr>
                          <m:t> </m:t>
                        </m:r>
                        <m:r>
                          <m:rPr>
                            <m:sty m:val="p"/>
                          </m:rPr>
                          <a:rPr lang="en-US" altLang="zh-TW" sz="1200" i="1">
                            <a:solidFill>
                              <a:schemeClr val="tx1"/>
                            </a:solidFill>
                            <a:latin typeface="Cambria Math" panose="02040503050406030204" pitchFamily="18" charset="0"/>
                            <a:ea typeface="Cambria Math" panose="02040503050406030204" pitchFamily="18" charset="0"/>
                          </a:rPr>
                          <m:t>PE</m:t>
                        </m:r>
                      </m:oMath>
                    </m:oMathPara>
                  </a14:m>
                  <a:endParaRPr lang="en-US" altLang="zh-TW" sz="1200" dirty="0">
                    <a:solidFill>
                      <a:schemeClr val="tx1"/>
                    </a:solidFill>
                    <a:ea typeface="Cambria Math" panose="02040503050406030204" pitchFamily="18" charset="0"/>
                  </a:endParaRPr>
                </a:p>
              </p:txBody>
            </p:sp>
          </mc:Choice>
          <mc:Fallback xmlns="">
            <p:sp>
              <p:nvSpPr>
                <p:cNvPr id="16" name="文字方塊 15">
                  <a:extLst>
                    <a:ext uri="{FF2B5EF4-FFF2-40B4-BE49-F238E27FC236}">
                      <a16:creationId xmlns:a16="http://schemas.microsoft.com/office/drawing/2014/main" id="{9D82930F-0234-77E2-D32F-85E5AACF1DCA}"/>
                    </a:ext>
                  </a:extLst>
                </p:cNvPr>
                <p:cNvSpPr txBox="1">
                  <a:spLocks noRot="1" noChangeAspect="1" noMove="1" noResize="1" noEditPoints="1" noAdjustHandles="1" noChangeArrowheads="1" noChangeShapeType="1" noTextEdit="1"/>
                </p:cNvSpPr>
                <p:nvPr/>
              </p:nvSpPr>
              <p:spPr>
                <a:xfrm>
                  <a:off x="7700236" y="2771636"/>
                  <a:ext cx="1078694" cy="369332"/>
                </a:xfrm>
                <a:prstGeom prst="rect">
                  <a:avLst/>
                </a:prstGeom>
                <a:blipFill>
                  <a:blip r:embed="rId9"/>
                  <a:stretch>
                    <a:fillRect l="-5085" b="-3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1787CFAB-11BF-D57F-32EE-FE77C0DFD8B3}"/>
                    </a:ext>
                  </a:extLst>
                </p:cNvPr>
                <p:cNvSpPr txBox="1"/>
                <p:nvPr/>
              </p:nvSpPr>
              <p:spPr>
                <a:xfrm>
                  <a:off x="6588224" y="2060848"/>
                  <a:ext cx="2555776" cy="455247"/>
                </a:xfrm>
                <a:prstGeom prst="rect">
                  <a:avLst/>
                </a:prstGeom>
                <a:noFill/>
              </p:spPr>
              <p:txBody>
                <a:bodyPr wrap="none" lIns="0" tIns="0" rIns="0" bIns="0" anchor="ctr" anchorCtr="1">
                  <a:noAutofit/>
                </a:bodyPr>
                <a:lstStyle/>
                <a:p>
                  <a14:m>
                    <m:oMath xmlns:m="http://schemas.openxmlformats.org/officeDocument/2006/math">
                      <m:r>
                        <m:rPr>
                          <m:sty m:val="p"/>
                        </m:rPr>
                        <a:rPr lang="en-US" altLang="zh-TW" sz="1200" b="0" i="1" smtClean="0">
                          <a:solidFill>
                            <a:schemeClr val="tx1"/>
                          </a:solidFill>
                          <a:latin typeface="Cambria Math" panose="02040503050406030204" pitchFamily="18" charset="0"/>
                          <a:ea typeface="Cambria Math" panose="02040503050406030204" pitchFamily="18" charset="0"/>
                        </a:rPr>
                        <m:t>RoPE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r>
                        <a:rPr lang="en-US" altLang="zh-TW" sz="1200" b="0" i="1" smtClean="0">
                          <a:solidFill>
                            <a:schemeClr val="tx1"/>
                          </a:solidFill>
                          <a:latin typeface="Cambria Math" panose="02040503050406030204" pitchFamily="18" charset="0"/>
                          <a:ea typeface="Cambria Math" panose="02040503050406030204" pitchFamily="18" charset="0"/>
                        </a:rPr>
                        <m:t> =</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b="0" i="1" smtClean="0">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r>
                                    <a:rPr lang="en-US" altLang="zh-TW" sz="1200" b="0" i="1" smtClean="0">
                                      <a:solidFill>
                                        <a:schemeClr val="tx1"/>
                                      </a:solidFill>
                                      <a:latin typeface="Cambria Math" panose="02040503050406030204" pitchFamily="18" charset="0"/>
                                      <a:ea typeface="Cambria Math" panose="02040503050406030204" pitchFamily="18" charset="0"/>
                                    </a:rPr>
                                    <m:t>+1</m:t>
                                  </m:r>
                                </m:sub>
                              </m:sSub>
                            </m:e>
                          </m:eqArr>
                        </m:e>
                      </m:d>
                    </m:oMath>
                  </a14:m>
                  <a:r>
                    <a:rPr lang="az-Cyrl-AZ" altLang="zh-TW" sz="1200" dirty="0">
                      <a:solidFill>
                        <a:schemeClr val="tx1"/>
                      </a:solidFill>
                      <a:ea typeface="Cambria Math" panose="02040503050406030204" pitchFamily="18" charset="0"/>
                    </a:rPr>
                    <a:t> </a:t>
                  </a:r>
                  <a:endParaRPr lang="zh-TW" altLang="en-US" dirty="0">
                    <a:solidFill>
                      <a:schemeClr val="tx1"/>
                    </a:solidFill>
                  </a:endParaRPr>
                </a:p>
              </p:txBody>
            </p:sp>
          </mc:Choice>
          <mc:Fallback xmlns="">
            <p:sp>
              <p:nvSpPr>
                <p:cNvPr id="17" name="文字方塊 16">
                  <a:extLst>
                    <a:ext uri="{FF2B5EF4-FFF2-40B4-BE49-F238E27FC236}">
                      <a16:creationId xmlns:a16="http://schemas.microsoft.com/office/drawing/2014/main" id="{1787CFAB-11BF-D57F-32EE-FE77C0DFD8B3}"/>
                    </a:ext>
                  </a:extLst>
                </p:cNvPr>
                <p:cNvSpPr txBox="1">
                  <a:spLocks noRot="1" noChangeAspect="1" noMove="1" noResize="1" noEditPoints="1" noAdjustHandles="1" noChangeArrowheads="1" noChangeShapeType="1" noTextEdit="1"/>
                </p:cNvSpPr>
                <p:nvPr/>
              </p:nvSpPr>
              <p:spPr>
                <a:xfrm>
                  <a:off x="6588224" y="2060848"/>
                  <a:ext cx="2555776" cy="455247"/>
                </a:xfrm>
                <a:prstGeom prst="rect">
                  <a:avLst/>
                </a:prstGeom>
                <a:blipFill>
                  <a:blip r:embed="rId10"/>
                  <a:stretch>
                    <a:fillRect l="-952"/>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2153762" y="3223386"/>
                <a:ext cx="2024523" cy="770384"/>
              </a:xfrm>
              <a:prstGeom prst="rect">
                <a:avLst/>
              </a:prstGeom>
              <a:solidFill>
                <a:schemeClr val="bg1">
                  <a:lumMod val="95000"/>
                </a:schemeClr>
              </a:solidFill>
            </p:spPr>
            <p:txBody>
              <a:bodyPr wrap="none" lIns="0" tIns="0" rIns="0" bIns="0" rtlCol="0" anchor="ctr" anchorCtr="1">
                <a:noAutofit/>
              </a:bodyPr>
              <a:lstStyle/>
              <a:p>
                <a:pPr/>
                <a14:m>
                  <m:oMathPara xmlns:m="http://schemas.openxmlformats.org/officeDocument/2006/math">
                    <m:oMathParaPr>
                      <m:jc m:val="left"/>
                    </m:oMathParaPr>
                    <m:oMath>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𝑚</m:t>
                          </m:r>
                          <m:sSub>
                            <m:sSubPr>
                              <m:ctrlPr>
                                <a:rPr lang="zh-TW" altLang="en-US" sz="1200" b="0" i="1" smtClean="0">
                                  <a:solidFill>
                                    <a:schemeClr val="tx1"/>
                                  </a:solidFill>
                                  <a:latin typeface="Cambria Math" panose="02040503050406030204" pitchFamily="18" charset="0"/>
                                  <a:ea typeface="Cambria Math" panose="02040503050406030204" pitchFamily="18" charset="0"/>
                                </a:rPr>
                              </m:ctrlPr>
                            </m:sSubPr>
                            <m:e>
                              <m:r>
                                <a:rPr lang="zh-TW" altLang="en-US" sz="1200" b="0" i="1" smtClean="0">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solidFill>
                    <a:schemeClr val="tx1"/>
                  </a:solidFill>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zh-TW" altLang="en-US" sz="1200" i="1">
                          <a:latin typeface="Cambria Math" panose="02040503050406030204" pitchFamily="18" charset="0"/>
                          <a:ea typeface="Cambria Math" panose="02040503050406030204" pitchFamily="18" charset="0"/>
                        </a:rPr>
                        <m:t> </m:t>
                      </m:r>
                      <m:r>
                        <a:rPr lang="en-US" altLang="zh-TW" sz="1200" i="1">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func>
                                  <m:funcPr>
                                    <m:ctrlPr>
                                      <a:rPr lang="zh-TW" altLang="en-US" sz="1200" i="1">
                                        <a:latin typeface="Cambria Math" panose="02040503050406030204" pitchFamily="18" charset="0"/>
                                        <a:ea typeface="Cambria Math" panose="02040503050406030204" pitchFamily="18" charset="0"/>
                                      </a:rPr>
                                    </m:ctrlPr>
                                  </m:funcPr>
                                  <m:fName>
                                    <m:r>
                                      <a:rPr lang="zh-TW" altLang="en-US" sz="1200" i="1">
                                        <a:latin typeface="Cambria Math" panose="02040503050406030204" pitchFamily="18" charset="0"/>
                                        <a:ea typeface="Cambria Math" panose="02040503050406030204" pitchFamily="18" charset="0"/>
                                      </a:rPr>
                                      <m:t> </m:t>
                                    </m:r>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r>
                                  <a:rPr lang="zh-TW" altLang="en-US" sz="1200" i="1">
                                    <a:latin typeface="Cambria Math" panose="02040503050406030204" pitchFamily="18" charset="0"/>
                                    <a:ea typeface="Cambria Math" panose="02040503050406030204" pitchFamily="18" charset="0"/>
                                  </a:rPr>
                                  <m:t> </m:t>
                                </m:r>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zh-TW" altLang="en-US" sz="1200" dirty="0">
                  <a:solidFill>
                    <a:schemeClr val="tx1"/>
                  </a:solidFill>
                </a:endParaRPr>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2153762" y="3223386"/>
                <a:ext cx="2024523" cy="770384"/>
              </a:xfrm>
              <a:prstGeom prst="rect">
                <a:avLst/>
              </a:prstGeom>
              <a:blipFill>
                <a:blip r:embed="rId11"/>
                <a:stretch>
                  <a:fillRect b="-79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Summary: 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809825" y="2767240"/>
            <a:ext cx="54557" cy="1522095"/>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6" y="1844824"/>
            <a:ext cx="2600671" cy="1886806"/>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41366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074471"/>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99592"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58714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193895"/>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2684303"/>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2396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23961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273002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057185"/>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587144"/>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049879"/>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1917418"/>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190586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2329243"/>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4"/>
                </a:solidFill>
                <a:latin typeface="ADLaM Display" panose="02010000000000000000" pitchFamily="2" charset="0"/>
                <a:cs typeface="ADLaM Display" panose="02010000000000000000" pitchFamily="2" charset="0"/>
              </a:rPr>
              <a:t>QK</a:t>
            </a:r>
            <a:r>
              <a:rPr lang="en-US" altLang="zh-TW" sz="1600" baseline="30000" dirty="0">
                <a:solidFill>
                  <a:schemeClr val="accent4">
                    <a:lumMod val="75000"/>
                  </a:schemeClr>
                </a:solidFill>
                <a:latin typeface="ADLaM Display" panose="02010000000000000000" pitchFamily="2" charset="0"/>
                <a:cs typeface="ADLaM Display" panose="02010000000000000000" pitchFamily="2" charset="0"/>
              </a:rPr>
              <a:t>T</a:t>
            </a:r>
            <a:endParaRPr lang="zh-TW" altLang="en-US" sz="16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2380361"/>
            <a:ext cx="320040" cy="320040"/>
          </a:xfrm>
          <a:prstGeom prst="rtTriangle">
            <a:avLst/>
          </a:prstGeom>
          <a:solidFill>
            <a:schemeClr val="bg1">
              <a:alpha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Attention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MoE</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33" name="矩形: 圓角 32">
            <a:extLst>
              <a:ext uri="{FF2B5EF4-FFF2-40B4-BE49-F238E27FC236}">
                <a16:creationId xmlns:a16="http://schemas.microsoft.com/office/drawing/2014/main" id="{A921377A-40EF-78AB-6BEA-E608C1F5801B}"/>
              </a:ext>
            </a:extLst>
          </p:cNvPr>
          <p:cNvSpPr/>
          <p:nvPr/>
        </p:nvSpPr>
        <p:spPr>
          <a:xfrm>
            <a:off x="5138137" y="2276900"/>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6">
                    <a:lumMod val="75000"/>
                  </a:schemeClr>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882772" y="2583683"/>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2329242"/>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720531" y="2689809"/>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163578"/>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166177"/>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714202" y="2276900"/>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576414" y="2583684"/>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512619" y="2693436"/>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6080470" y="2286962"/>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381228" y="2583683"/>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241727" y="269343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436192" y="3737709"/>
            <a:ext cx="864000" cy="432000"/>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L</a:t>
            </a:r>
            <a:r>
              <a:rPr kumimoji="0" lang="zh-TW" altLang="en-US"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 </a:t>
            </a: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x Layers</a:t>
            </a:r>
            <a:b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b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381228" y="2977599"/>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159259" y="2409919"/>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87251" y="2716633"/>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727211" y="2079502"/>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87641" y="2758923"/>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761974" y="1915940"/>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endCxn id="56" idx="3"/>
          </p:cNvCxnSpPr>
          <p:nvPr/>
        </p:nvCxnSpPr>
        <p:spPr>
          <a:xfrm flipV="1">
            <a:off x="6674409" y="2937819"/>
            <a:ext cx="627607"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071010"/>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7092280"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074471"/>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1905863"/>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1905863"/>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071010"/>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89" name="矩形 88">
            <a:extLst>
              <a:ext uri="{FF2B5EF4-FFF2-40B4-BE49-F238E27FC236}">
                <a16:creationId xmlns:a16="http://schemas.microsoft.com/office/drawing/2014/main" id="{5357FF38-719F-1678-8C73-C2830F15A809}"/>
              </a:ext>
            </a:extLst>
          </p:cNvPr>
          <p:cNvSpPr/>
          <p:nvPr/>
        </p:nvSpPr>
        <p:spPr>
          <a:xfrm>
            <a:off x="3779912"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7" name="文字方塊 96">
            <a:extLst>
              <a:ext uri="{FF2B5EF4-FFF2-40B4-BE49-F238E27FC236}">
                <a16:creationId xmlns:a16="http://schemas.microsoft.com/office/drawing/2014/main" id="{70710644-6C73-9DC4-2ED5-22CF3065CF2C}"/>
              </a:ext>
            </a:extLst>
          </p:cNvPr>
          <p:cNvSpPr txBox="1"/>
          <p:nvPr/>
        </p:nvSpPr>
        <p:spPr>
          <a:xfrm>
            <a:off x="3923928"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a:t>
            </a:r>
          </a:p>
          <a:p>
            <a:pPr algn="ctr"/>
            <a:r>
              <a:rPr lang="en-US" altLang="zh-TW" sz="1000" dirty="0">
                <a:ln w="0"/>
                <a:solidFill>
                  <a:prstClr val="black"/>
                </a:solidFill>
                <a:latin typeface="Calibri"/>
                <a:ea typeface="新細明體" panose="02020500000000000000" pitchFamily="18" charset="-120"/>
              </a:rPr>
              <a:t>Add</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000" dirty="0">
                <a:sym typeface="Wingdings" panose="05000000000000000000" pitchFamily="2" charset="2"/>
              </a:rPr>
              <a:t>X</a:t>
            </a:r>
            <a:r>
              <a:rPr lang="en-US" altLang="zh-TW" sz="1000" baseline="-25000" dirty="0">
                <a:sym typeface="Wingdings" panose="05000000000000000000" pitchFamily="2" charset="2"/>
              </a:rPr>
              <a:t>n</a:t>
            </a:r>
            <a:r>
              <a:rPr lang="en-US" altLang="zh-TW" sz="10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000" dirty="0">
                <a:sym typeface="Wingdings" panose="05000000000000000000" pitchFamily="2" charset="2"/>
              </a:rPr>
              <a:t> X</a:t>
            </a:r>
            <a:r>
              <a:rPr lang="en-US" altLang="zh-TW" sz="1000" baseline="-25000" dirty="0">
                <a:sym typeface="Wingdings" panose="05000000000000000000" pitchFamily="2" charset="2"/>
              </a:rPr>
              <a:t>n+1</a:t>
            </a:r>
            <a:endParaRPr lang="zh-TW" altLang="en-US" sz="1000" dirty="0"/>
          </a:p>
        </p:txBody>
      </p:sp>
      <p:sp>
        <p:nvSpPr>
          <p:cNvPr id="115" name="文字方塊 114">
            <a:extLst>
              <a:ext uri="{FF2B5EF4-FFF2-40B4-BE49-F238E27FC236}">
                <a16:creationId xmlns:a16="http://schemas.microsoft.com/office/drawing/2014/main" id="{0990FE57-347B-07DA-EAEC-0A1F50529771}"/>
              </a:ext>
            </a:extLst>
          </p:cNvPr>
          <p:cNvSpPr txBox="1"/>
          <p:nvPr/>
        </p:nvSpPr>
        <p:spPr>
          <a:xfrm>
            <a:off x="7445840"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238946"/>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123840"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384044"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1115616" y="1196816"/>
            <a:ext cx="648072" cy="328918"/>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78804" y="1196816"/>
            <a:ext cx="1008000" cy="42734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
        <p:nvSpPr>
          <p:cNvPr id="39" name="文字方塊 38">
            <a:extLst>
              <a:ext uri="{FF2B5EF4-FFF2-40B4-BE49-F238E27FC236}">
                <a16:creationId xmlns:a16="http://schemas.microsoft.com/office/drawing/2014/main" id="{DD237284-F921-8EC2-15F0-53F9DC85BDFD}"/>
              </a:ext>
            </a:extLst>
          </p:cNvPr>
          <p:cNvSpPr txBox="1"/>
          <p:nvPr/>
        </p:nvSpPr>
        <p:spPr>
          <a:xfrm>
            <a:off x="4079149" y="2132856"/>
            <a:ext cx="605603" cy="159764"/>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d</a:t>
            </a:r>
            <a:endParaRPr kumimoji="0" lang="zh-TW" altLang="en-US" sz="1200" b="1" i="0" u="none" strike="noStrike" kern="1200" cap="none" spc="0" normalizeH="0" baseline="0" noProof="0" dirty="0">
              <a:ln>
                <a:noFill/>
              </a:ln>
              <a:solidFill>
                <a:prstClr val="black"/>
              </a:solidFill>
              <a:effectLst/>
              <a:uLnTx/>
              <a:uFillTx/>
              <a:ea typeface="新細明體" panose="02020500000000000000" pitchFamily="18" charset="-120"/>
              <a:cs typeface="+mn-cs"/>
            </a:endParaRPr>
          </a:p>
        </p:txBody>
      </p:sp>
      <p:sp>
        <p:nvSpPr>
          <p:cNvPr id="52" name="矩形 51">
            <a:extLst>
              <a:ext uri="{FF2B5EF4-FFF2-40B4-BE49-F238E27FC236}">
                <a16:creationId xmlns:a16="http://schemas.microsoft.com/office/drawing/2014/main" id="{EBD0682A-F808-25C6-D9B9-4980D0572498}"/>
              </a:ext>
            </a:extLst>
          </p:cNvPr>
          <p:cNvSpPr/>
          <p:nvPr/>
        </p:nvSpPr>
        <p:spPr>
          <a:xfrm>
            <a:off x="4248108" y="3187824"/>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67" name="文字方塊 66">
            <a:extLst>
              <a:ext uri="{FF2B5EF4-FFF2-40B4-BE49-F238E27FC236}">
                <a16:creationId xmlns:a16="http://schemas.microsoft.com/office/drawing/2014/main" id="{CCC2D414-852F-3FE7-9DC0-89A69FD395F0}"/>
              </a:ext>
            </a:extLst>
          </p:cNvPr>
          <p:cNvSpPr txBox="1"/>
          <p:nvPr/>
        </p:nvSpPr>
        <p:spPr>
          <a:xfrm rot="5400000">
            <a:off x="4290217" y="288608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68" name="十字形 67">
            <a:extLst>
              <a:ext uri="{FF2B5EF4-FFF2-40B4-BE49-F238E27FC236}">
                <a16:creationId xmlns:a16="http://schemas.microsoft.com/office/drawing/2014/main" id="{145DEE16-EB6F-4035-961B-D9CA4DA12F6A}"/>
              </a:ext>
            </a:extLst>
          </p:cNvPr>
          <p:cNvSpPr/>
          <p:nvPr/>
        </p:nvSpPr>
        <p:spPr>
          <a:xfrm>
            <a:off x="4093330" y="3296532"/>
            <a:ext cx="132956" cy="125317"/>
          </a:xfrm>
          <a:prstGeom prst="plus">
            <a:avLst>
              <a:gd name="adj" fmla="val 36556"/>
            </a:avLst>
          </a:prstGeom>
          <a:solidFill>
            <a:schemeClr val="tx1">
              <a:lumMod val="50000"/>
              <a:lumOff val="50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0" name="接點: 肘形 69">
            <a:extLst>
              <a:ext uri="{FF2B5EF4-FFF2-40B4-BE49-F238E27FC236}">
                <a16:creationId xmlns:a16="http://schemas.microsoft.com/office/drawing/2014/main" id="{E05A9245-E13F-CE4C-E982-2F199766CF39}"/>
              </a:ext>
            </a:extLst>
          </p:cNvPr>
          <p:cNvCxnSpPr>
            <a:stCxn id="13" idx="2"/>
            <a:endCxn id="89" idx="1"/>
          </p:cNvCxnSpPr>
          <p:nvPr/>
        </p:nvCxnSpPr>
        <p:spPr>
          <a:xfrm rot="16200000" flipH="1">
            <a:off x="2696474" y="2332986"/>
            <a:ext cx="372080" cy="1794795"/>
          </a:xfrm>
          <a:prstGeom prst="bentConnector2">
            <a:avLst/>
          </a:prstGeom>
          <a:ln w="222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C674EB33-6561-8356-79AD-1532190CD138}"/>
              </a:ext>
            </a:extLst>
          </p:cNvPr>
          <p:cNvSpPr/>
          <p:nvPr/>
        </p:nvSpPr>
        <p:spPr>
          <a:xfrm>
            <a:off x="2261264" y="3202071"/>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247791"/>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247791"/>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116352"/>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1F872557-5661-EA42-4B4C-63AFF79C9102}"/>
              </a:ext>
            </a:extLst>
          </p:cNvPr>
          <p:cNvSpPr txBox="1"/>
          <p:nvPr/>
        </p:nvSpPr>
        <p:spPr>
          <a:xfrm>
            <a:off x="287524" y="4869160"/>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Linear Combination</a:t>
            </a:r>
            <a:r>
              <a:rPr lang="en-US" altLang="zh-TW" sz="1600" dirty="0"/>
              <a:t>: Feature extraction, semantic fusion.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Non-linear Activation</a:t>
            </a:r>
            <a:r>
              <a:rPr lang="en-US" altLang="zh-TW" sz="1600" dirty="0"/>
              <a:t>: Noise filtering, modeling capabilities, collapse prevention. </a:t>
            </a:r>
          </a:p>
        </p:txBody>
      </p:sp>
      <p:sp>
        <p:nvSpPr>
          <p:cNvPr id="38" name="矩形: 圓角 37">
            <a:extLst>
              <a:ext uri="{FF2B5EF4-FFF2-40B4-BE49-F238E27FC236}">
                <a16:creationId xmlns:a16="http://schemas.microsoft.com/office/drawing/2014/main" id="{D27EB96D-FE85-B4FB-4DD0-66E8245F8C40}"/>
              </a:ext>
            </a:extLst>
          </p:cNvPr>
          <p:cNvSpPr/>
          <p:nvPr/>
        </p:nvSpPr>
        <p:spPr>
          <a:xfrm>
            <a:off x="4179437" y="2316941"/>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450</TotalTime>
  <Words>17170</Words>
  <Application>Microsoft Office PowerPoint</Application>
  <PresentationFormat>如螢幕大小 (4:3)</PresentationFormat>
  <Paragraphs>2889</Paragraphs>
  <Slides>43</Slides>
  <Notes>37</Notes>
  <HiddenSlides>3</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43</vt:i4>
      </vt:variant>
    </vt:vector>
  </HeadingPairs>
  <TitlesOfParts>
    <vt:vector size="61" baseType="lpstr">
      <vt:lpstr>Google Sans</vt:lpstr>
      <vt:lpstr>Meiryo</vt:lpstr>
      <vt:lpstr>Microsoft GothicNeo</vt:lpstr>
      <vt:lpstr>Microsoft YaHei Mono</vt:lpstr>
      <vt:lpstr>Noto Sans HK</vt:lpstr>
      <vt:lpstr>STXingkai</vt:lpstr>
      <vt:lpstr>微軟正黑體</vt:lpstr>
      <vt:lpstr>微軟正黑體 Light</vt:lpstr>
      <vt:lpstr>新細明體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1934</cp:revision>
  <cp:lastPrinted>2024-07-30T01:44:15Z</cp:lastPrinted>
  <dcterms:created xsi:type="dcterms:W3CDTF">2019-11-08T03:01:47Z</dcterms:created>
  <dcterms:modified xsi:type="dcterms:W3CDTF">2026-09-14T07:23:44Z</dcterms:modified>
</cp:coreProperties>
</file>