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9"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9"/>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875"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sv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14435"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FFNN</a:t>
            </a:r>
          </a:p>
          <a:p>
            <a:pPr marL="111125" lvl="2">
              <a:lnSpc>
                <a:spcPts val="1000"/>
              </a:lnSpc>
              <a:buFont typeface="Arial" panose="020B0604020202020204" pitchFamily="34" charset="0"/>
              <a:buChar char="•"/>
            </a:pPr>
            <a:r>
              <a:rPr lang="en-US" altLang="zh-TW" sz="1000" dirty="0"/>
              <a:t> Token Embedding</a:t>
            </a:r>
          </a:p>
          <a:p>
            <a:pPr marL="111125" lvl="2">
              <a:lnSpc>
                <a:spcPts val="1000"/>
              </a:lnSpc>
              <a:buFont typeface="Arial" panose="020B0604020202020204" pitchFamily="34" charset="0"/>
              <a:buChar char="•"/>
            </a:pPr>
            <a:r>
              <a:rPr lang="en-US" altLang="zh-TW" sz="1000" dirty="0"/>
              <a:t> Rotary of PE</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LLM</a:t>
            </a:r>
          </a:p>
          <a:p>
            <a:pPr marL="111125" lvl="2">
              <a:lnSpc>
                <a:spcPts val="10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000"/>
              </a:lnSpc>
              <a:buFont typeface="Wingdings" panose="05000000000000000000" pitchFamily="2" charset="2"/>
              <a:buChar char="Ø"/>
            </a:pPr>
            <a:r>
              <a:rPr lang="en-US" altLang="zh-TW" sz="1000" b="1" dirty="0"/>
              <a:t> Gemma 3</a:t>
            </a:r>
          </a:p>
          <a:p>
            <a:pPr marL="111125" lvl="2">
              <a:lnSpc>
                <a:spcPts val="1000"/>
              </a:lnSpc>
              <a:buFont typeface="Arial" panose="020B0604020202020204" pitchFamily="34" charset="0"/>
              <a:buChar char="•"/>
              <a:defRPr/>
            </a:pPr>
            <a:r>
              <a:rPr lang="en-US" altLang="zh-TW" sz="1000" dirty="0">
                <a:solidFill>
                  <a:prstClr val="black"/>
                </a:solidFill>
              </a:rPr>
              <a:t> Supervised FT</a:t>
            </a:r>
          </a:p>
          <a:p>
            <a:pPr marL="111125" lvl="2">
              <a:lnSpc>
                <a:spcPts val="10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000"/>
              </a:lnSpc>
              <a:buFont typeface="Wingdings" panose="05000000000000000000" pitchFamily="2" charset="2"/>
              <a:buChar char="Ø"/>
            </a:pPr>
            <a:r>
              <a:rPr lang="en-US" altLang="zh-TW" sz="1000" b="1" dirty="0"/>
              <a:t> Gemma 4</a:t>
            </a:r>
          </a:p>
          <a:p>
            <a:pPr marL="111125" lvl="2">
              <a:lnSpc>
                <a:spcPts val="1000"/>
              </a:lnSpc>
              <a:buFont typeface="Arial" panose="020B0604020202020204" pitchFamily="34" charset="0"/>
              <a:buChar char="•"/>
              <a:defRPr/>
            </a:pPr>
            <a:r>
              <a:rPr lang="en-US" altLang="zh-TW" sz="1000" dirty="0"/>
              <a:t> PLE </a:t>
            </a:r>
          </a:p>
          <a:p>
            <a:pPr marL="111125" lvl="2">
              <a:lnSpc>
                <a:spcPts val="1000"/>
              </a:lnSpc>
              <a:buFont typeface="Arial" panose="020B0604020202020204" pitchFamily="34" charset="0"/>
              <a:buChar char="•"/>
              <a:defRPr/>
            </a:pPr>
            <a:r>
              <a:rPr lang="en-US" altLang="zh-TW" sz="1000" dirty="0">
                <a:solidFill>
                  <a:prstClr val="black"/>
                </a:solidFill>
              </a:rPr>
              <a:t> Comparison</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childTnLst>
                          </p:cTn>
                        </p:par>
                      </p:childTnLst>
                    </p:cTn>
                  </p:par>
                  <p:par>
                    <p:cTn id="77" fill="hold">
                      <p:stCondLst>
                        <p:cond delay="indefinite"/>
                      </p:stCondLst>
                      <p:childTnLst>
                        <p:par>
                          <p:cTn id="78" fill="hold">
                            <p:stCondLst>
                              <p:cond delay="0"/>
                            </p:stCondLst>
                            <p:childTnLst>
                              <p:par>
                                <p:cTn id="79" presetID="1" presetClass="exit" presetSubtype="0" fill="hold" grpId="2" nodeType="clickEffect">
                                  <p:stCondLst>
                                    <p:cond delay="0"/>
                                  </p:stCondLst>
                                  <p:childTnLst>
                                    <p:set>
                                      <p:cBhvr>
                                        <p:cTn id="80" dur="1" fill="hold">
                                          <p:stCondLst>
                                            <p:cond delay="0"/>
                                          </p:stCondLst>
                                        </p:cTn>
                                        <p:tgtEl>
                                          <p:spTgt spid="2">
                                            <p:bg/>
                                          </p:spTgt>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3" presetClass="emph" presetSubtype="2" fill="hold" grpId="0" nodeType="clickEffect">
                                  <p:stCondLst>
                                    <p:cond delay="0"/>
                                  </p:stCondLst>
                                  <p:childTnLst>
                                    <p:animClr clrSpc="rgb" dir="cw">
                                      <p:cBhvr override="childStyle">
                                        <p:cTn id="84"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3"/>
                                            </p:cond>
                                          </p:stCondLst>
                                          <p:endCondLst>
                                            <p:cond evt="onStopAudio" delay="0">
                                              <p:tgtEl>
                                                <p:sldTgt/>
                                              </p:tgtEl>
                                            </p:cond>
                                          </p:endCondLst>
                                        </p:cTn>
                                        <p:tgtEl>
                                          <p:sndTgt r:embed="rId3" name="type.wav"/>
                                        </p:tgtEl>
                                      </p:cMediaNode>
                                    </p:audio>
                                  </p:sub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0" nodeType="withEffect">
                                  <p:stCondLst>
                                    <p:cond delay="0"/>
                                  </p:stCondLst>
                                  <p:childTnLst>
                                    <p:animClr clrSpc="rgb" dir="cw">
                                      <p:cBhvr override="childStyle">
                                        <p:cTn id="9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7" end="7"/>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9" end="9"/>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10" end="10"/>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1" end="11"/>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2" end="12"/>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2BA49FA9-47A4-8514-A5A1-20E1A6BF6218}"/>
              </a:ext>
            </a:extLst>
          </p:cNvPr>
          <p:cNvSpPr txBox="1"/>
          <p:nvPr/>
        </p:nvSpPr>
        <p:spPr>
          <a:xfrm>
            <a:off x="845586" y="1120676"/>
            <a:ext cx="7452828" cy="4524315"/>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Edge AI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a:t>
            </a:r>
            <a:r>
              <a:rPr lang="zh-TW" altLang="zh-TW" sz="1200" dirty="0">
                <a:solidFill>
                  <a:schemeClr val="bg1">
                    <a:lumMod val="75000"/>
                  </a:schemeClr>
                </a:solidFill>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Gemma 4 Family was born for Edge AI!)</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QAD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(Quantization-Aware Distillation)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(Quantized Low-Rank Adaptation)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3">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3">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3">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3">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3">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3">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3">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3">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3">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3">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3">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3">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3">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3">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3">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3">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3">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3">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3">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3">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3">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3">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3">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3">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3">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3">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0" nodeType="withEffect">
                                  <p:stCondLst>
                                    <p:cond delay="0"/>
                                  </p:stCondLst>
                                  <p:childTnLst>
                                    <p:animClr clrSpc="rgb" dir="cw">
                                      <p:cBhvr override="childStyle">
                                        <p:cTn id="66" dur="500" fill="hold"/>
                                        <p:tgtEl>
                                          <p:spTgt spid="3">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3">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3">
                                            <p:txEl>
                                              <p:pRg st="13" end="13"/>
                                            </p:txEl>
                                          </p:spTgt>
                                        </p:tgtEl>
                                        <p:attrNameLst>
                                          <p:attrName>style.color</p:attrName>
                                        </p:attrNameLst>
                                      </p:cBhvr>
                                      <p:to>
                                        <a:srgbClr val="D8A09C"/>
                                      </p:to>
                                    </p:animClr>
                                  </p:childTnLst>
                                </p:cTn>
                              </p:par>
                              <p:par>
                                <p:cTn id="71" presetID="3" presetClass="emph" presetSubtype="2" fill="hold" grpId="1" nodeType="withEffect">
                                  <p:stCondLst>
                                    <p:cond delay="0"/>
                                  </p:stCondLst>
                                  <p:childTnLst>
                                    <p:animClr clrSpc="rgb" dir="cw">
                                      <p:cBhvr override="childStyle">
                                        <p:cTn id="72" dur="2000" fill="hold"/>
                                        <p:tgtEl>
                                          <p:spTgt spid="3">
                                            <p:txEl>
                                              <p:pRg st="14" end="14"/>
                                            </p:txEl>
                                          </p:spTgt>
                                        </p:tgtEl>
                                        <p:attrNameLst>
                                          <p:attrName>style.color</p:attrName>
                                        </p:attrNameLst>
                                      </p:cBhvr>
                                      <p:to>
                                        <a:srgbClr val="D8A09C"/>
                                      </p:to>
                                    </p:animClr>
                                  </p:childTnLst>
                                </p:cTn>
                              </p:par>
                            </p:childTnLst>
                          </p:cTn>
                        </p:par>
                      </p:childTnLst>
                    </p:cTn>
                  </p:par>
                  <p:par>
                    <p:cTn id="73" fill="hold">
                      <p:stCondLst>
                        <p:cond delay="indefinite"/>
                      </p:stCondLst>
                      <p:childTnLst>
                        <p:par>
                          <p:cTn id="74" fill="hold">
                            <p:stCondLst>
                              <p:cond delay="0"/>
                            </p:stCondLst>
                            <p:childTnLst>
                              <p:par>
                                <p:cTn id="75" presetID="1" presetClass="exit" presetSubtype="0" fill="hold" grpId="2" nodeType="clickEffect">
                                  <p:stCondLst>
                                    <p:cond delay="0"/>
                                  </p:stCondLst>
                                  <p:childTnLst>
                                    <p:set>
                                      <p:cBhvr>
                                        <p:cTn id="76" dur="1" fill="hold">
                                          <p:stCondLst>
                                            <p:cond delay="0"/>
                                          </p:stCondLst>
                                        </p:cTn>
                                        <p:tgtEl>
                                          <p:spTgt spid="3">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p:bldP spid="3" grpId="1" uiExpand="1" build="allAtOnce"/>
      <p:bldP spid="3"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77662" y="1484784"/>
            <a:ext cx="3314818" cy="1144511"/>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184614" y="1520904"/>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184614" y="1507436"/>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184614" y="1920387"/>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184614" y="2160412"/>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184614" y="2529995"/>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065588" y="1520696"/>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971600" y="186115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53432" y="11247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676658" y="852162"/>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6254186" y="2992549"/>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767425"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767425"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767425"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7463593" y="2997698"/>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p>
        </p:txBody>
      </p:sp>
      <p:sp>
        <p:nvSpPr>
          <p:cNvPr id="60" name="矩形 59">
            <a:extLst>
              <a:ext uri="{FF2B5EF4-FFF2-40B4-BE49-F238E27FC236}">
                <a16:creationId xmlns:a16="http://schemas.microsoft.com/office/drawing/2014/main" id="{B2A8793D-39DB-E18A-FF85-993DB10D0200}"/>
              </a:ext>
            </a:extLst>
          </p:cNvPr>
          <p:cNvSpPr/>
          <p:nvPr/>
        </p:nvSpPr>
        <p:spPr>
          <a:xfrm>
            <a:off x="7463593" y="3362113"/>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6541340" y="3079897"/>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6260249" y="3360283"/>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18726"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847766"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91937"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012959"/>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008857"/>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127417"/>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007143"/>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12570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675320" y="1701554"/>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81370" y="1317977"/>
            <a:ext cx="122807"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23928" y="1296072"/>
            <a:ext cx="45719"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3732306"/>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684600"/>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3751084"/>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3745199"/>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017640"/>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017640"/>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112645"/>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394299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4890678"/>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122170"/>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04295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046384"/>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099344"/>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034468"/>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717032"/>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3929665"/>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964903" y="2992549"/>
            <a:ext cx="277055" cy="25786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7803102" y="3135289"/>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495110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4951103"/>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495110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961951" y="2217924"/>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454863" y="2709666"/>
            <a:ext cx="636399" cy="217858"/>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2780928"/>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079757"/>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7182970" y="2572222"/>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6840793" y="3573016"/>
            <a:ext cx="867263" cy="21438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21" name="文字方塊 20">
            <a:extLst>
              <a:ext uri="{FF2B5EF4-FFF2-40B4-BE49-F238E27FC236}">
                <a16:creationId xmlns:a16="http://schemas.microsoft.com/office/drawing/2014/main" id="{152136DB-F885-C7DA-41DE-CF20449C90B8}"/>
              </a:ext>
            </a:extLst>
          </p:cNvPr>
          <p:cNvSpPr txBox="1"/>
          <p:nvPr/>
        </p:nvSpPr>
        <p:spPr>
          <a:xfrm>
            <a:off x="8395460" y="3015050"/>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25" name="右中括弧 24">
            <a:extLst>
              <a:ext uri="{FF2B5EF4-FFF2-40B4-BE49-F238E27FC236}">
                <a16:creationId xmlns:a16="http://schemas.microsoft.com/office/drawing/2014/main" id="{64DDA0C8-05FF-6CB8-A79B-DB082E7FCCCC}"/>
              </a:ext>
            </a:extLst>
          </p:cNvPr>
          <p:cNvSpPr/>
          <p:nvPr/>
        </p:nvSpPr>
        <p:spPr>
          <a:xfrm>
            <a:off x="8319433" y="2993145"/>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150BC86B-8DCF-00B8-5574-918588F2BF8D}"/>
              </a:ext>
            </a:extLst>
          </p:cNvPr>
          <p:cNvSpPr/>
          <p:nvPr/>
        </p:nvSpPr>
        <p:spPr>
          <a:xfrm>
            <a:off x="394747" y="1191466"/>
            <a:ext cx="362588" cy="2007790"/>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391383" y="2889919"/>
            <a:ext cx="365952" cy="235664"/>
          </a:xfrm>
          <a:prstGeom prst="rect">
            <a:avLst/>
          </a:prstGeom>
          <a:noFill/>
        </p:spPr>
        <p:txBody>
          <a:bodyPr wrap="none" lIns="0" tIns="0" rIns="0" bIns="0" rtlCol="0" anchor="ctr" anchorCtr="1">
            <a:noAutofit/>
          </a:bodyPr>
          <a:lstStyle/>
          <a:p>
            <a:pPr algn="ctr"/>
            <a:r>
              <a:rPr lang="en-US" altLang="zh-TW" sz="1200" dirty="0"/>
              <a:t>Tokenize</a:t>
            </a:r>
            <a:endParaRPr lang="zh-TW" altLang="en-US" sz="1200" dirty="0"/>
          </a:p>
        </p:txBody>
      </p:sp>
      <p:sp>
        <p:nvSpPr>
          <p:cNvPr id="38" name="右中括弧 37">
            <a:extLst>
              <a:ext uri="{FF2B5EF4-FFF2-40B4-BE49-F238E27FC236}">
                <a16:creationId xmlns:a16="http://schemas.microsoft.com/office/drawing/2014/main" id="{891781AF-914A-DAF6-7406-66DA160CDB02}"/>
              </a:ext>
            </a:extLst>
          </p:cNvPr>
          <p:cNvSpPr/>
          <p:nvPr/>
        </p:nvSpPr>
        <p:spPr>
          <a:xfrm rot="16200000">
            <a:off x="3361274" y="1111335"/>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1" name="文字方塊 50">
            <a:extLst>
              <a:ext uri="{FF2B5EF4-FFF2-40B4-BE49-F238E27FC236}">
                <a16:creationId xmlns:a16="http://schemas.microsoft.com/office/drawing/2014/main" id="{91B20F2C-A572-5C45-EDEB-F2034E150789}"/>
              </a:ext>
            </a:extLst>
          </p:cNvPr>
          <p:cNvSpPr txBox="1"/>
          <p:nvPr/>
        </p:nvSpPr>
        <p:spPr>
          <a:xfrm>
            <a:off x="3305445" y="980728"/>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59" idx="1"/>
          </p:cNvCxnSpPr>
          <p:nvPr/>
        </p:nvCxnSpPr>
        <p:spPr>
          <a:xfrm rot="16200000" flipH="1">
            <a:off x="7052607" y="2811759"/>
            <a:ext cx="593450" cy="228522"/>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367613" y="194588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文字方塊 8">
            <a:extLst>
              <a:ext uri="{FF2B5EF4-FFF2-40B4-BE49-F238E27FC236}">
                <a16:creationId xmlns:a16="http://schemas.microsoft.com/office/drawing/2014/main" id="{4AABC208-517A-7F50-8E9C-EC83B7F63654}"/>
              </a:ext>
            </a:extLst>
          </p:cNvPr>
          <p:cNvSpPr txBox="1"/>
          <p:nvPr/>
        </p:nvSpPr>
        <p:spPr>
          <a:xfrm>
            <a:off x="4189305" y="134028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18" idx="1"/>
          </p:cNvCxnSpPr>
          <p:nvPr/>
        </p:nvCxnSpPr>
        <p:spPr>
          <a:xfrm flipV="1">
            <a:off x="2868843" y="1494179"/>
            <a:ext cx="416312" cy="60448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41" idx="1"/>
          </p:cNvCxnSpPr>
          <p:nvPr/>
        </p:nvCxnSpPr>
        <p:spPr>
          <a:xfrm flipV="1">
            <a:off x="2868843" y="1998235"/>
            <a:ext cx="410249" cy="10043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47" idx="1"/>
          </p:cNvCxnSpPr>
          <p:nvPr/>
        </p:nvCxnSpPr>
        <p:spPr>
          <a:xfrm>
            <a:off x="2868843" y="2098665"/>
            <a:ext cx="416312" cy="40362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4" name="文字方塊 53">
            <a:extLst>
              <a:ext uri="{FF2B5EF4-FFF2-40B4-BE49-F238E27FC236}">
                <a16:creationId xmlns:a16="http://schemas.microsoft.com/office/drawing/2014/main" id="{1BEBBCF5-F52E-55FC-4237-0BB9A7FDA9A1}"/>
              </a:ext>
            </a:extLst>
          </p:cNvPr>
          <p:cNvSpPr txBox="1"/>
          <p:nvPr/>
        </p:nvSpPr>
        <p:spPr>
          <a:xfrm>
            <a:off x="4189305" y="182507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8" name="文字方塊 57">
            <a:extLst>
              <a:ext uri="{FF2B5EF4-FFF2-40B4-BE49-F238E27FC236}">
                <a16:creationId xmlns:a16="http://schemas.microsoft.com/office/drawing/2014/main" id="{E1D54585-A378-2064-FA49-987370456462}"/>
              </a:ext>
            </a:extLst>
          </p:cNvPr>
          <p:cNvSpPr txBox="1"/>
          <p:nvPr/>
        </p:nvSpPr>
        <p:spPr>
          <a:xfrm>
            <a:off x="4189305" y="2329135"/>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63" name="文字方塊 62">
            <a:extLst>
              <a:ext uri="{FF2B5EF4-FFF2-40B4-BE49-F238E27FC236}">
                <a16:creationId xmlns:a16="http://schemas.microsoft.com/office/drawing/2014/main" id="{0320D246-4C34-4B3E-01DD-2B4CDC3DF751}"/>
              </a:ext>
            </a:extLst>
          </p:cNvPr>
          <p:cNvSpPr txBox="1"/>
          <p:nvPr/>
        </p:nvSpPr>
        <p:spPr>
          <a:xfrm>
            <a:off x="3588004" y="1340768"/>
            <a:ext cx="119900" cy="307777"/>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69" name="文字方塊 68">
            <a:extLst>
              <a:ext uri="{FF2B5EF4-FFF2-40B4-BE49-F238E27FC236}">
                <a16:creationId xmlns:a16="http://schemas.microsoft.com/office/drawing/2014/main" id="{ACE9F96D-8B96-2C5A-AD15-380EE7F9DFC9}"/>
              </a:ext>
            </a:extLst>
          </p:cNvPr>
          <p:cNvSpPr txBox="1"/>
          <p:nvPr/>
        </p:nvSpPr>
        <p:spPr>
          <a:xfrm>
            <a:off x="3588004" y="1825558"/>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74" name="文字方塊 73">
            <a:extLst>
              <a:ext uri="{FF2B5EF4-FFF2-40B4-BE49-F238E27FC236}">
                <a16:creationId xmlns:a16="http://schemas.microsoft.com/office/drawing/2014/main" id="{F4A90F89-5047-1056-E6BF-C7EB0926F5CB}"/>
              </a:ext>
            </a:extLst>
          </p:cNvPr>
          <p:cNvSpPr txBox="1"/>
          <p:nvPr/>
        </p:nvSpPr>
        <p:spPr>
          <a:xfrm>
            <a:off x="3588004" y="2329614"/>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42951" y="3531036"/>
            <a:ext cx="406093" cy="1324723"/>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50155"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89065"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7998227"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92034" y="2728820"/>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8956" y="3343652"/>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397126"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283968"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78417" y="3681192"/>
            <a:ext cx="618656" cy="17310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21820" y="3124595"/>
            <a:ext cx="618656" cy="128629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777148" y="4869160"/>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07904" y="4797152"/>
            <a:ext cx="502689" cy="167859"/>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endParaRPr lang="zh-TW" altLang="en-US" sz="1200" dirty="0"/>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37137"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48264" y="2728820"/>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71297" y="2708920"/>
            <a:ext cx="135693" cy="317969"/>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G</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157336"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60000"/>
                    <a:lumOff val="40000"/>
                  </a:schemeClr>
                </a:solidFill>
                <a:effectLst/>
                <a:uLnTx/>
                <a:uFillTx/>
                <a:latin typeface="Calibri"/>
                <a:ea typeface="微軟正黑體" panose="020B0604030504040204" pitchFamily="34" charset="-120"/>
                <a:cs typeface="+mn-cs"/>
              </a:rPr>
              <a:t>… other Exports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177698494"/>
              </p:ext>
            </p:extLst>
          </p:nvPr>
        </p:nvGraphicFramePr>
        <p:xfrm>
          <a:off x="539552" y="134076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3537441129"/>
              </p:ext>
            </p:extLst>
          </p:nvPr>
        </p:nvGraphicFramePr>
        <p:xfrm>
          <a:off x="467544"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319985866"/>
              </p:ext>
            </p:extLst>
          </p:nvPr>
        </p:nvGraphicFramePr>
        <p:xfrm>
          <a:off x="3635896"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1427700734"/>
              </p:ext>
            </p:extLst>
          </p:nvPr>
        </p:nvGraphicFramePr>
        <p:xfrm>
          <a:off x="6804248" y="1340768"/>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318281310"/>
              </p:ext>
            </p:extLst>
          </p:nvPr>
        </p:nvGraphicFramePr>
        <p:xfrm>
          <a:off x="5580112" y="4824184"/>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372232" y="1268760"/>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1620854424"/>
              </p:ext>
            </p:extLst>
          </p:nvPr>
        </p:nvGraphicFramePr>
        <p:xfrm>
          <a:off x="395536" y="4359384"/>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Specification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MCP,</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
        <p:nvSpPr>
          <p:cNvPr id="7" name="圖說文字: 直線 6">
            <a:extLst>
              <a:ext uri="{FF2B5EF4-FFF2-40B4-BE49-F238E27FC236}">
                <a16:creationId xmlns:a16="http://schemas.microsoft.com/office/drawing/2014/main" id="{936D2D76-DCFF-575E-7363-34677C3510CB}"/>
              </a:ext>
            </a:extLst>
          </p:cNvPr>
          <p:cNvSpPr/>
          <p:nvPr/>
        </p:nvSpPr>
        <p:spPr>
          <a:xfrm flipH="1">
            <a:off x="5508104" y="4725144"/>
            <a:ext cx="3168352" cy="1492366"/>
          </a:xfrm>
          <a:prstGeom prst="borderCallout1">
            <a:avLst>
              <a:gd name="adj1" fmla="val 11649"/>
              <a:gd name="adj2" fmla="val 96516"/>
              <a:gd name="adj3" fmla="val 11782"/>
              <a:gd name="adj4" fmla="val 118948"/>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822</TotalTime>
  <Words>5795</Words>
  <Application>Microsoft Office PowerPoint</Application>
  <PresentationFormat>如螢幕大小 (4:3)</PresentationFormat>
  <Paragraphs>1160</Paragraphs>
  <Slides>21</Slides>
  <Notes>18</Notes>
  <HiddenSlides>1</HiddenSlides>
  <MMClips>0</MMClips>
  <ScaleCrop>false</ScaleCrop>
  <HeadingPairs>
    <vt:vector size="6" baseType="variant">
      <vt:variant>
        <vt:lpstr>使用字型</vt:lpstr>
      </vt:variant>
      <vt:variant>
        <vt:i4>14</vt:i4>
      </vt:variant>
      <vt:variant>
        <vt:lpstr>佈景主題</vt:lpstr>
      </vt:variant>
      <vt:variant>
        <vt:i4>1</vt:i4>
      </vt:variant>
      <vt:variant>
        <vt:lpstr>投影片標題</vt:lpstr>
      </vt:variant>
      <vt:variant>
        <vt:i4>21</vt:i4>
      </vt:variant>
    </vt:vector>
  </HeadingPairs>
  <TitlesOfParts>
    <vt:vector size="36"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1734</cp:revision>
  <cp:lastPrinted>2024-07-30T01:44:15Z</cp:lastPrinted>
  <dcterms:created xsi:type="dcterms:W3CDTF">2019-11-08T03:01:47Z</dcterms:created>
  <dcterms:modified xsi:type="dcterms:W3CDTF">2026-07-14T09:41:04Z</dcterms:modified>
</cp:coreProperties>
</file>