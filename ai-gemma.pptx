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3459" r:id="rId2"/>
    <p:sldId id="3472" r:id="rId3"/>
    <p:sldId id="3502" r:id="rId4"/>
    <p:sldId id="3499" r:id="rId5"/>
    <p:sldId id="3444" r:id="rId6"/>
    <p:sldId id="3493" r:id="rId7"/>
    <p:sldId id="3475" r:id="rId8"/>
    <p:sldId id="3470" r:id="rId9"/>
    <p:sldId id="3496" r:id="rId10"/>
    <p:sldId id="3506" r:id="rId11"/>
    <p:sldId id="3505" r:id="rId12"/>
    <p:sldId id="3465" r:id="rId13"/>
    <p:sldId id="3482" r:id="rId14"/>
    <p:sldId id="3489" r:id="rId15"/>
    <p:sldId id="3495" r:id="rId16"/>
    <p:sldId id="3503" r:id="rId17"/>
    <p:sldId id="3460" r:id="rId18"/>
    <p:sldId id="3504" r:id="rId19"/>
    <p:sldId id="257" r:id="rId20"/>
    <p:sldId id="265" r:id="rId21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Background Knowledge" id="{C5ADF914-F8F1-4215-8A34-A521DDB15BBF}">
          <p14:sldIdLst>
            <p14:sldId id="3502"/>
            <p14:sldId id="3499"/>
            <p14:sldId id="3444"/>
            <p14:sldId id="3493"/>
            <p14:sldId id="3475"/>
          </p14:sldIdLst>
        </p14:section>
        <p14:section name="Gemma 3" id="{91BFD2B5-A843-4933-9519-5889D1D7895D}">
          <p14:sldIdLst>
            <p14:sldId id="3470"/>
            <p14:sldId id="3496"/>
            <p14:sldId id="3506"/>
            <p14:sldId id="3505"/>
          </p14:sldIdLst>
        </p14:section>
        <p14:section name="Gemma 4" id="{5A048767-0D58-44AF-B962-12C29493294F}">
          <p14:sldIdLst>
            <p14:sldId id="3465"/>
            <p14:sldId id="3482"/>
            <p14:sldId id="3489"/>
          </p14:sldIdLst>
        </p14:section>
        <p14:section name="Conclusion" id="{69C35067-BEF2-4B7C-9B54-B6977EB05C72}">
          <p14:sldIdLst>
            <p14:sldId id="3495"/>
            <p14:sldId id="3503"/>
            <p14:sldId id="3460"/>
            <p14:sldId id="3504"/>
            <p14:sldId id="257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DCA8"/>
    <a:srgbClr val="C5D8A0"/>
    <a:srgbClr val="CCFF66"/>
    <a:srgbClr val="DBFF94"/>
    <a:srgbClr val="DCE6F2"/>
    <a:srgbClr val="FF0000"/>
    <a:srgbClr val="FFCCCC"/>
    <a:srgbClr val="FFDDDD"/>
    <a:srgbClr val="F2DCD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541" autoAdjust="0"/>
    <p:restoredTop sz="72487" autoAdjust="0"/>
  </p:normalViewPr>
  <p:slideViewPr>
    <p:cSldViewPr>
      <p:cViewPr>
        <p:scale>
          <a:sx n="130" d="100"/>
          <a:sy n="130" d="100"/>
        </p:scale>
        <p:origin x="588" y="-36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28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2026/7/8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cloud.tencent.com/developer/article/2245094" TargetMode="External"/><Relationship Id="rId3" Type="http://schemas.openxmlformats.org/officeDocument/2006/relationships/hyperlink" Target="https://aistudio.baidu.com/blog/detail/731024175967365" TargetMode="External"/><Relationship Id="rId7" Type="http://schemas.openxmlformats.org/officeDocument/2006/relationships/hyperlink" Target="https://hackmd.io/@MtkMWTAMStiGb_5Gc8900Q/BJoVM2VCkg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medium.com/@lmpo/an-overview-instruction-tuning-for-llms-440228e7edab" TargetMode="External"/><Relationship Id="rId5" Type="http://schemas.openxmlformats.org/officeDocument/2006/relationships/hyperlink" Target="https://blog.csdn.net/qq_39388410/article/details/128265846" TargetMode="External"/><Relationship Id="rId4" Type="http://schemas.openxmlformats.org/officeDocument/2006/relationships/hyperlink" Target="https://arxiv.org/pdf/2109.01652" TargetMode="Externa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C824-8DE8-9B3A-D261-5FDDDFD8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2F10EC9-6D84-2594-7CA2-B70B0D265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C2F833-7937-96D1-DC9C-B8C71BD9A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52A64DC-EC93-A8FC-41B2-21495D710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2250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ACB4D-EB0C-6F94-5AFB-171B565F6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EF19517-2DEC-FC89-C498-25449BA60B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FEDAB6F-6B6E-9ECF-4575-0F2CB14623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的演進可以歸納為四大里程碑節點：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2018 - 2020：前身探索（Task-specific Fine-Tuning）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特點：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在 BERT 或 GPT-2 時代，微調是針對「單一任務」（如：專門微調一個只會判斷情感的模型）。此時模型還沒有具備統一的通用對話能力。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2021.09：指令微調的誕生（Google FLAN）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特點：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Google 發表里程碑論文 </a:t>
            </a:r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FLAN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，首次提出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Instruction Tuning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。他們將數十個標準 NLP 任務全部轉為指令格式來微調模型，證明了「任務微調得越多，模型沒見過的新任務就解得越好」。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2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3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4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2022.03：走向人類偏好（OpenAI InstructGPT）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特點：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OpenAI 發表論文，利用真實使用者的 Playground 輸入來標註 Q&amp;A。這宣告了 SFT 從「學術任務」走向「模仿真實人類助理的日常對話」。這也是同年底 ChatGPT 震撼世界的底座技術。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2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2023 - 2024：開源大爆發（Alpaca &amp; LoRA 普及化）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特點：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史丹佛大學提出 </a:t>
            </a:r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Alpaca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，展示了如何用 GPT-4 自動生成 SFT 資料（Self-Instruct 蒸餾技術），搭配 LoRA 讓一般人在幾小時內就能微調出自己的 ChatGPT。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dirty="0"/>
          </a:p>
          <a:p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D0520A4-0224-B3B2-056D-6DA174DF55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439835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</a:t>
            </a:r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ONNX（Open Neural Network Exchange，開放神經網路交換）是由微軟與 Meta（Facebook）等科技巨頭主導的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開源機器學習模型通用格式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它允許開發者將在 PyTorch、TensorFlow 或 Scikit-learn 等不同框架中訓練出的模型，轉換為統一的結構，以便在各種硬體和平台上進行高效能部署。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跨平台互通性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簡化部署流程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硬體加速效能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將機器學習模型具象化為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計算圖（Computation Graph）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儲存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網路的架構、權重與資料流向。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 5 大核心模型能力維度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邏輯與推理能力 (Reasoning &amp; Math)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這是區分「頂級模型」與「一般模型」的關鍵試金石。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：數學多步驟計算、程式碼編寫與 Debug、邏輯悖論破解。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GSM8K / MATH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：評估小學到高中程度的數學應用題解答能力。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HumanEval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：測試模型編寫 Python 程式碼的正確率。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語言理解與知識儲存 (Knowledge &amp; Language)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評估模型在文史、科學、醫學等各領域知識的廣度，以及對複雜語意的理解。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：多選題測試、長文字摘要、隱喻與幽默感理解。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：跨越人文、社科、硬科學等幾十個學科的綜合測試（目前最指標性的綜合評測）。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指令遵循與結構化輸出 (Instruction Following)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在將模型導入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Flow 工作流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時，這項能力最為關鍵。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：能否嚴格遵守字數限制、格式限制（例如：只輸出 JSON，不要講廢話）、多重條件過濾。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：嚴格測試模型對於「第 1 段必須以 A 開頭、總字數小於 400 字」這類格式指令的遵循率。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長文本處理與上下文檢索 (Long-Context &amp; Retrieval)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測試模型在處理數萬字甚至百萬字資料時，是否會「忘東忘西」。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：長篇合約審查、長書摘要、大海撈針測試。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Needle In A Haystack (NIAH)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：將一句無關緊要的話（針）藏在數十萬字的文本（大海）中，測試模型能否精準抓出。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對齊與安全性 (Alignment &amp; Safety)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評估模型是否符合人類價值觀，以及對惡意引導（Jailbreak）的防禦力。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：拒絕回答有害問題（如炸彈製作）、不產生偏見、降低幻覺機率。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TruthfulQA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：測試模型回答是否真實，而非順著人類的迷思或謠言瞎編。</a:t>
            </a:r>
          </a:p>
          <a:p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二、 2 大實務工程指標（落地必看）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除了上述大腦能力的測試，實務上部署時還必須評估以下兩點：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吞吐量與延遲 (Throughput &amp; Latency)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TTFT (Time to First Token)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：模型吐出第一個字的速度（越快用戶體驗越好）。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TPS (Tokens Per Second)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：每秒能生成多少個字（攸關整體流程執行的速度）。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成本與性價比 (Cost Efficiency)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每百萬 Token 的輸入/輸出費用。例如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R1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各家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Flash 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常以極低的成本提供逼近旗艦模型的效能。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49000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</a:t>
            </a:r>
            <a:r>
              <a:rPr lang="en-US" altLang="zh-TW" sz="1200" dirty="0" err="1">
                <a:solidFill>
                  <a:prstClr val="black"/>
                </a:solidFill>
              </a:rPr>
              <a:t>eXchange</a:t>
            </a:r>
            <a:r>
              <a:rPr lang="en-US" altLang="zh-TW" sz="1200" dirty="0">
                <a:solidFill>
                  <a:prstClr val="black"/>
                </a:solidFill>
              </a:rPr>
              <a:t>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 err="1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 err="1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 err="1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</a:t>
            </a:r>
            <a:r>
              <a:rPr lang="en-US" altLang="zh-TW" dirty="0" err="1"/>
              <a:t>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</a:t>
            </a:r>
            <a:r>
              <a:rPr lang="en-US" altLang="zh-TW" dirty="0" err="1"/>
              <a:t>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</a:t>
            </a:r>
            <a:r>
              <a:rPr lang="en-US" altLang="zh-TW" dirty="0" err="1"/>
              <a:t>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</a:t>
            </a:r>
            <a:r>
              <a:rPr lang="en-US" altLang="zh-TW" dirty="0" err="1"/>
              <a:t>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EB8F32-D6CA-1096-5F7F-634DD383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FB77DC-1F1A-EDE3-202F-AD35BA111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AA7D4-40C2-30FA-EF1C-009BF0978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5AE9D-E316-4C75-862D-9EBD6D1B334B}" type="datetimeFigureOut">
              <a:rPr lang="zh-TW" altLang="en-US" smtClean="0"/>
              <a:t>2026/7/8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79E40CA-DAB8-F94E-65BD-7E947BD07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E982315-D0D5-22A2-3A7C-183FFB19C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4967A-F914-4D6D-AEDD-D79048CFF0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4269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6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3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2025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120676"/>
            <a:ext cx="7452828" cy="433965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(AI Agent, LLM, RAG,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(AI Stack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 Server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(Agent + Framework + Infrastructure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(Stack)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Trend</a:t>
            </a:r>
            <a:r>
              <a: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Analysis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(SLM, Edge, Algorithm, 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3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(Multi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m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odal,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Multilingual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Low-Rank Adaptation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(Efficient LLM Fine-Tuning)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Gemma4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Comparison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(Llama 4, Deep Seek)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Leading Frameworks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to evaluate the performance of model?)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A1C639E3-E511-933C-E6C6-4C289F817DDD}"/>
              </a:ext>
            </a:extLst>
          </p:cNvPr>
          <p:cNvSpPr txBox="1"/>
          <p:nvPr/>
        </p:nvSpPr>
        <p:spPr>
          <a:xfrm>
            <a:off x="7848364" y="44624"/>
            <a:ext cx="1214435" cy="4555093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solidFill>
                  <a:schemeClr val="bg1">
                    <a:lumMod val="65000"/>
                  </a:schemeClr>
                </a:solidFill>
                <a:effectLst/>
              </a:rPr>
              <a:t> Overview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 marL="111125" lvl="3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ML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Training Stages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Transformer</a:t>
            </a:r>
            <a:endParaRPr lang="en-US" altLang="zh-TW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Program Flow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Self-Attention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FFNN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Token Embedding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Rotary of PE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Basic Model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Inference 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AI Runtime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MCP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RAG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LLM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Trend Analysis 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Gemma 3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LoRA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Gemma 4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PLE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Comparison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Frameworks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1AC5596-EE09-9809-F3EF-BFD1A1950756}"/>
              </a:ext>
            </a:extLst>
          </p:cNvPr>
          <p:cNvSpPr txBox="1"/>
          <p:nvPr/>
        </p:nvSpPr>
        <p:spPr>
          <a:xfrm>
            <a:off x="2915816" y="3284985"/>
            <a:ext cx="3575442" cy="200735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72000" tIns="7200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An AI agent completes tasks using an LLM brain, RAG knowledge, and MCP tools.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393876"/>
              </p:ext>
            </p:extLst>
          </p:nvPr>
        </p:nvGraphicFramePr>
        <p:xfrm>
          <a:off x="1372495" y="3645024"/>
          <a:ext cx="1356495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49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Executing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E0A41338-6FF6-3FD5-520C-C25BBAECA635}"/>
              </a:ext>
            </a:extLst>
          </p:cNvPr>
          <p:cNvSpPr txBox="1"/>
          <p:nvPr/>
        </p:nvSpPr>
        <p:spPr>
          <a:xfrm>
            <a:off x="3707905" y="1936783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35867F2-C1D1-B5A8-4A34-A85DFFA9F207}"/>
              </a:ext>
            </a:extLst>
          </p:cNvPr>
          <p:cNvSpPr txBox="1"/>
          <p:nvPr/>
        </p:nvSpPr>
        <p:spPr>
          <a:xfrm>
            <a:off x="5058733" y="1936783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7651556-23BC-0DDD-07E7-364BC774FADB}"/>
              </a:ext>
            </a:extLst>
          </p:cNvPr>
          <p:cNvSpPr txBox="1"/>
          <p:nvPr/>
        </p:nvSpPr>
        <p:spPr>
          <a:xfrm>
            <a:off x="6426885" y="1936783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978899A1-FBD5-7632-C399-E1601597C0C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589324" y="2314941"/>
            <a:ext cx="469409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D56C6C98-33E6-85B9-402F-84C3D75B4803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5940152" y="2314941"/>
            <a:ext cx="48673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27C079F-0143-0F0C-F3B8-220CDDAD12FF}"/>
              </a:ext>
            </a:extLst>
          </p:cNvPr>
          <p:cNvSpPr txBox="1"/>
          <p:nvPr/>
        </p:nvSpPr>
        <p:spPr>
          <a:xfrm>
            <a:off x="2989497" y="3351879"/>
            <a:ext cx="764323" cy="29314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AI Agent</a:t>
            </a:r>
            <a:endParaRPr lang="en-US" altLang="zh-TW" sz="1200" dirty="0">
              <a:solidFill>
                <a:schemeClr val="tx2"/>
              </a:solidFill>
            </a:endParaRPr>
          </a:p>
        </p:txBody>
      </p:sp>
      <p:sp>
        <p:nvSpPr>
          <p:cNvPr id="33" name="右大括弧 32">
            <a:extLst>
              <a:ext uri="{FF2B5EF4-FFF2-40B4-BE49-F238E27FC236}">
                <a16:creationId xmlns:a16="http://schemas.microsoft.com/office/drawing/2014/main" id="{85617580-DE52-B14E-49D6-B4987ACE2E74}"/>
              </a:ext>
            </a:extLst>
          </p:cNvPr>
          <p:cNvSpPr/>
          <p:nvPr/>
        </p:nvSpPr>
        <p:spPr>
          <a:xfrm rot="16200000">
            <a:off x="5443688" y="360344"/>
            <a:ext cx="161581" cy="27976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712111BD-605F-4F9A-B096-4D0A2B62113E}"/>
              </a:ext>
            </a:extLst>
          </p:cNvPr>
          <p:cNvSpPr txBox="1">
            <a:spLocks/>
          </p:cNvSpPr>
          <p:nvPr/>
        </p:nvSpPr>
        <p:spPr>
          <a:xfrm>
            <a:off x="4774068" y="1196752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6C4189AF-8414-40CC-60A0-54BF0A6CA583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C3EE967-B2E4-1D42-F11F-68E5F269497C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975BBE30-A6EE-B2AC-1910-5B401203FF00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D20F47B1-9D0B-3FB0-F3F1-472019ABA4C9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6DAD7B2C-ECBC-5409-ACCF-C57D6A2A82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727229"/>
              </p:ext>
            </p:extLst>
          </p:nvPr>
        </p:nvGraphicFramePr>
        <p:xfrm>
          <a:off x="6887389" y="4395160"/>
          <a:ext cx="1645051" cy="133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0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6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Functions 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Parsing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Capability Matching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Dispatching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Execution Monitoring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Update Skill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791173"/>
                  </a:ext>
                </a:extLst>
              </a:tr>
            </a:tbl>
          </a:graphicData>
        </a:graphic>
      </p:graphicFrame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59363631-C7E6-801B-5C06-7DF922EC9AD0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1831082" y="2314941"/>
            <a:ext cx="187682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DB8FA6F-7F2A-81B9-BC87-5C6254408307}"/>
              </a:ext>
            </a:extLst>
          </p:cNvPr>
          <p:cNvSpPr txBox="1"/>
          <p:nvPr/>
        </p:nvSpPr>
        <p:spPr>
          <a:xfrm>
            <a:off x="3905988" y="3654966"/>
            <a:ext cx="1602116" cy="748224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7200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38D2852-0E50-B26A-DDD1-646A07E30642}"/>
              </a:ext>
            </a:extLst>
          </p:cNvPr>
          <p:cNvSpPr txBox="1"/>
          <p:nvPr/>
        </p:nvSpPr>
        <p:spPr>
          <a:xfrm>
            <a:off x="4395325" y="5670112"/>
            <a:ext cx="616423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E8BB46F6-04C0-304D-97C7-1C448761087C}"/>
              </a:ext>
            </a:extLst>
          </p:cNvPr>
          <p:cNvCxnSpPr>
            <a:cxnSpLocks/>
            <a:stCxn id="41" idx="0"/>
            <a:endCxn id="4" idx="2"/>
          </p:cNvCxnSpPr>
          <p:nvPr/>
        </p:nvCxnSpPr>
        <p:spPr>
          <a:xfrm flipV="1">
            <a:off x="4703537" y="5292341"/>
            <a:ext cx="0" cy="37777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96A1C980-1A1E-0E55-BF8E-AC7D7F8FA548}"/>
              </a:ext>
            </a:extLst>
          </p:cNvPr>
          <p:cNvCxnSpPr>
            <a:cxnSpLocks/>
            <a:stCxn id="4" idx="0"/>
            <a:endCxn id="70" idx="3"/>
          </p:cNvCxnSpPr>
          <p:nvPr/>
        </p:nvCxnSpPr>
        <p:spPr>
          <a:xfrm rot="16200000" flipH="1">
            <a:off x="4730848" y="3257673"/>
            <a:ext cx="1521033" cy="1575656"/>
          </a:xfrm>
          <a:prstGeom prst="bentConnector4">
            <a:avLst>
              <a:gd name="adj1" fmla="val -15029"/>
              <a:gd name="adj2" fmla="val 127967"/>
            </a:avLst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菱形 69">
            <a:extLst>
              <a:ext uri="{FF2B5EF4-FFF2-40B4-BE49-F238E27FC236}">
                <a16:creationId xmlns:a16="http://schemas.microsoft.com/office/drawing/2014/main" id="{C103C3EA-9A2B-56B2-71C8-2DC4B5A44B88}"/>
              </a:ext>
            </a:extLst>
          </p:cNvPr>
          <p:cNvSpPr/>
          <p:nvPr/>
        </p:nvSpPr>
        <p:spPr>
          <a:xfrm>
            <a:off x="5868144" y="4598859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Execution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Monitoring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F48C7747-863B-73B4-1013-B33EDF23A7A2}"/>
              </a:ext>
            </a:extLst>
          </p:cNvPr>
          <p:cNvSpPr/>
          <p:nvPr/>
        </p:nvSpPr>
        <p:spPr>
          <a:xfrm rot="10800000">
            <a:off x="5004049" y="3361821"/>
            <a:ext cx="325849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F947BFCB-E126-A288-3F5F-5B82F85DC58F}"/>
              </a:ext>
            </a:extLst>
          </p:cNvPr>
          <p:cNvSpPr/>
          <p:nvPr/>
        </p:nvSpPr>
        <p:spPr>
          <a:xfrm rot="10800000">
            <a:off x="4030127" y="3361825"/>
            <a:ext cx="325849" cy="356786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0" name="接點: 肘形 89">
            <a:extLst>
              <a:ext uri="{FF2B5EF4-FFF2-40B4-BE49-F238E27FC236}">
                <a16:creationId xmlns:a16="http://schemas.microsoft.com/office/drawing/2014/main" id="{860BF17A-3A43-8200-7E8F-A0E51B403159}"/>
              </a:ext>
            </a:extLst>
          </p:cNvPr>
          <p:cNvCxnSpPr>
            <a:cxnSpLocks/>
            <a:stCxn id="70" idx="1"/>
            <a:endCxn id="128" idx="2"/>
          </p:cNvCxnSpPr>
          <p:nvPr/>
        </p:nvCxnSpPr>
        <p:spPr>
          <a:xfrm rot="10800000">
            <a:off x="4691460" y="4581128"/>
            <a:ext cx="1176685" cy="22489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箭號: 向下 100">
            <a:extLst>
              <a:ext uri="{FF2B5EF4-FFF2-40B4-BE49-F238E27FC236}">
                <a16:creationId xmlns:a16="http://schemas.microsoft.com/office/drawing/2014/main" id="{740A28A5-004A-1140-2753-AD03B5752A44}"/>
              </a:ext>
            </a:extLst>
          </p:cNvPr>
          <p:cNvSpPr/>
          <p:nvPr/>
        </p:nvSpPr>
        <p:spPr>
          <a:xfrm rot="10800000">
            <a:off x="4534183" y="3382098"/>
            <a:ext cx="325849" cy="35678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8" name="菱形 127">
            <a:extLst>
              <a:ext uri="{FF2B5EF4-FFF2-40B4-BE49-F238E27FC236}">
                <a16:creationId xmlns:a16="http://schemas.microsoft.com/office/drawing/2014/main" id="{056CEF72-D817-DA77-D783-EA6E90469BE3}"/>
              </a:ext>
            </a:extLst>
          </p:cNvPr>
          <p:cNvSpPr/>
          <p:nvPr/>
        </p:nvSpPr>
        <p:spPr>
          <a:xfrm>
            <a:off x="4485934" y="4166811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Intent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Parsing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DBC00A6-140D-02C8-ACC8-59862488BAFA}"/>
              </a:ext>
            </a:extLst>
          </p:cNvPr>
          <p:cNvSpPr txBox="1"/>
          <p:nvPr/>
        </p:nvSpPr>
        <p:spPr>
          <a:xfrm>
            <a:off x="4355976" y="3789040"/>
            <a:ext cx="706147" cy="4539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Router</a:t>
            </a: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CD0DEFC5-0B24-936F-DA7E-42881C2850C2}"/>
              </a:ext>
            </a:extLst>
          </p:cNvPr>
          <p:cNvCxnSpPr>
            <a:cxnSpLocks/>
            <a:stCxn id="31" idx="1"/>
            <a:endCxn id="10" idx="0"/>
          </p:cNvCxnSpPr>
          <p:nvPr/>
        </p:nvCxnSpPr>
        <p:spPr>
          <a:xfrm rot="10800000" flipV="1">
            <a:off x="2050743" y="3498452"/>
            <a:ext cx="938755" cy="14657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6170D0D7-839B-02D8-7BA7-59D19B314486}"/>
              </a:ext>
            </a:extLst>
          </p:cNvPr>
          <p:cNvCxnSpPr>
            <a:cxnSpLocks/>
            <a:stCxn id="19" idx="3"/>
            <a:endCxn id="12" idx="0"/>
          </p:cNvCxnSpPr>
          <p:nvPr/>
        </p:nvCxnSpPr>
        <p:spPr>
          <a:xfrm>
            <a:off x="5508104" y="4029078"/>
            <a:ext cx="2201810" cy="36608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7DEA0D74-EF3B-9C8A-F84C-2F323131741D}"/>
              </a:ext>
            </a:extLst>
          </p:cNvPr>
          <p:cNvSpPr txBox="1"/>
          <p:nvPr/>
        </p:nvSpPr>
        <p:spPr>
          <a:xfrm>
            <a:off x="2989497" y="3645024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LLM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(Inference)</a:t>
            </a: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905E2150-432D-233C-0E0E-6B9259F5B0F8}"/>
              </a:ext>
            </a:extLst>
          </p:cNvPr>
          <p:cNvSpPr/>
          <p:nvPr/>
        </p:nvSpPr>
        <p:spPr>
          <a:xfrm>
            <a:off x="3203848" y="4742039"/>
            <a:ext cx="1149254" cy="703185"/>
          </a:xfrm>
          <a:prstGeom prst="wedgeRoundRectCallout">
            <a:avLst>
              <a:gd name="adj1" fmla="val 37486"/>
              <a:gd name="adj2" fmla="val 7986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Anything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interesting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today?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BE1A47-340D-F018-875C-126691CF8304}"/>
              </a:ext>
            </a:extLst>
          </p:cNvPr>
          <p:cNvSpPr txBox="1"/>
          <p:nvPr/>
        </p:nvSpPr>
        <p:spPr>
          <a:xfrm>
            <a:off x="2989497" y="4060993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Skill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(Tools)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3408F49E-2660-ED9C-C17D-77DCF9AAA22F}"/>
              </a:ext>
            </a:extLst>
          </p:cNvPr>
          <p:cNvSpPr txBox="1"/>
          <p:nvPr/>
        </p:nvSpPr>
        <p:spPr>
          <a:xfrm>
            <a:off x="7848364" y="44624"/>
            <a:ext cx="1214435" cy="4555093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solidFill>
                  <a:schemeClr val="bg1">
                    <a:lumMod val="65000"/>
                  </a:schemeClr>
                </a:solidFill>
                <a:effectLst/>
              </a:rPr>
              <a:t> Overview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 marL="111125" lvl="3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ML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Training Stages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Transformer</a:t>
            </a:r>
            <a:endParaRPr lang="en-US" altLang="zh-TW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Program Flow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Self-Attention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FFNN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Token Embedding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Rotary of PE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Basic Model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Inference 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rgbClr val="FF0000"/>
                </a:solidFill>
              </a:rPr>
              <a:t> AI Runtime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MCP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RAG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LLM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Trend Analysis 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3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Supervised FT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LoRA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4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PLE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Comparison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Conclusion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Frameworks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“The share price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is $300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[350]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04A1D9BB-D006-4486-9C4F-2B7ACF469AE1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Trading at?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[50]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5255536" y="2667958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77576" y="2656674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  <p:sp>
        <p:nvSpPr>
          <p:cNvPr id="33" name="文字方塊 32">
            <a:extLst>
              <a:ext uri="{FF2B5EF4-FFF2-40B4-BE49-F238E27FC236}">
                <a16:creationId xmlns:a16="http://schemas.microsoft.com/office/drawing/2014/main" id="{A8D36140-84C1-5298-9B8F-805E9887A308}"/>
              </a:ext>
            </a:extLst>
          </p:cNvPr>
          <p:cNvSpPr txBox="1"/>
          <p:nvPr/>
        </p:nvSpPr>
        <p:spPr>
          <a:xfrm>
            <a:off x="2524583" y="3003260"/>
            <a:ext cx="633503" cy="1954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“$50“</a:t>
            </a: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DA50BB60-897A-3903-6631-883B14DA4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084239"/>
              </p:ext>
            </p:extLst>
          </p:nvPr>
        </p:nvGraphicFramePr>
        <p:xfrm>
          <a:off x="6403176" y="385586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Native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Advanced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Query rewriting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8" name="語音泡泡: 圓角矩形 37">
            <a:extLst>
              <a:ext uri="{FF2B5EF4-FFF2-40B4-BE49-F238E27FC236}">
                <a16:creationId xmlns:a16="http://schemas.microsoft.com/office/drawing/2014/main" id="{4F6A7D48-72EC-C32D-C277-18BB4F94051E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 money left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 the account?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27" name="語音泡泡: 圓角矩形 26">
            <a:extLst>
              <a:ext uri="{FF2B5EF4-FFF2-40B4-BE49-F238E27FC236}">
                <a16:creationId xmlns:a16="http://schemas.microsoft.com/office/drawing/2014/main" id="{6792054B-7EBC-6463-8733-4439C8EEAA86}"/>
              </a:ext>
            </a:extLst>
          </p:cNvPr>
          <p:cNvSpPr/>
          <p:nvPr/>
        </p:nvSpPr>
        <p:spPr>
          <a:xfrm>
            <a:off x="2051720" y="3284984"/>
            <a:ext cx="1155493" cy="568803"/>
          </a:xfrm>
          <a:prstGeom prst="wedgeRoundRectCallout">
            <a:avLst>
              <a:gd name="adj1" fmla="val -62522"/>
              <a:gd name="adj2" fmla="val -5228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Almost nothing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- </a:t>
            </a:r>
            <a:r>
              <a:rPr lang="en-US" altLang="zh-TW" sz="1200" dirty="0">
                <a:ln w="0"/>
                <a:solidFill>
                  <a:srgbClr val="FF0000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Calm down!</a:t>
            </a:r>
          </a:p>
        </p:txBody>
      </p:sp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Large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Tools in Ecosystem growing fast … 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9515540"/>
              </p:ext>
            </p:extLst>
          </p:nvPr>
        </p:nvGraphicFramePr>
        <p:xfrm>
          <a:off x="3234163" y="3284984"/>
          <a:ext cx="2675673" cy="2860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189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91891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891891">
                  <a:extLst>
                    <a:ext uri="{9D8B030D-6E8A-4147-A177-3AD203B41FA5}">
                      <a16:colId xmlns:a16="http://schemas.microsoft.com/office/drawing/2014/main" val="1431172380"/>
                    </a:ext>
                  </a:extLst>
                </a:gridCol>
              </a:tblGrid>
              <a:tr h="1462308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</a:txBody>
                  <a:tcPr marL="0" marR="0" marT="91440" marB="0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855259384"/>
                  </a:ext>
                </a:extLst>
              </a:tr>
              <a:tr h="1972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SLM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SLM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SLM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97257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446942068"/>
                  </a:ext>
                </a:extLst>
              </a:tr>
              <a:tr h="100368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grpSp>
        <p:nvGrpSpPr>
          <p:cNvPr id="22" name="群組 21">
            <a:extLst>
              <a:ext uri="{FF2B5EF4-FFF2-40B4-BE49-F238E27FC236}">
                <a16:creationId xmlns:a16="http://schemas.microsoft.com/office/drawing/2014/main" id="{4CAC32F8-5374-6392-FEA9-BFECB1906D74}"/>
              </a:ext>
            </a:extLst>
          </p:cNvPr>
          <p:cNvGrpSpPr/>
          <p:nvPr/>
        </p:nvGrpSpPr>
        <p:grpSpPr>
          <a:xfrm>
            <a:off x="3245714" y="3861048"/>
            <a:ext cx="1614318" cy="720080"/>
            <a:chOff x="5985884" y="3911212"/>
            <a:chExt cx="1738969" cy="720080"/>
          </a:xfrm>
        </p:grpSpPr>
        <p:sp>
          <p:nvSpPr>
            <p:cNvPr id="6" name="語音泡泡: 圓角矩形 5">
              <a:extLst>
                <a:ext uri="{FF2B5EF4-FFF2-40B4-BE49-F238E27FC236}">
                  <a16:creationId xmlns:a16="http://schemas.microsoft.com/office/drawing/2014/main" id="{F91AC911-0D1C-DF7D-DA5F-71B189376E62}"/>
                </a:ext>
              </a:extLst>
            </p:cNvPr>
            <p:cNvSpPr/>
            <p:nvPr/>
          </p:nvSpPr>
          <p:spPr>
            <a:xfrm>
              <a:off x="5985884" y="3911212"/>
              <a:ext cx="1738969" cy="720080"/>
            </a:xfrm>
            <a:prstGeom prst="wedgeRoundRectCallout">
              <a:avLst>
                <a:gd name="adj1" fmla="val 21301"/>
                <a:gd name="adj2" fmla="val 80445"/>
                <a:gd name="adj3" fmla="val 16667"/>
              </a:avLst>
            </a:prstGeom>
            <a:solidFill>
              <a:schemeClr val="bg1">
                <a:alpha val="70000"/>
              </a:schemeClr>
            </a:solidFill>
            <a:ln w="38100"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Model Engine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TW" dirty="0">
                  <a:ln w="0"/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     </a:t>
              </a:r>
              <a:r>
                <a:rPr lang="en-US" altLang="zh-TW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92A0724E-A38F-5195-50B0-C98F2CF9C9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73490" y="4132527"/>
              <a:ext cx="434378" cy="426757"/>
            </a:xfrm>
            <a:prstGeom prst="rect">
              <a:avLst/>
            </a:prstGeom>
          </p:spPr>
        </p:pic>
      </p:grp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CC15565B-23FB-5E59-4F90-9D5D878FE1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4469572"/>
              </p:ext>
            </p:extLst>
          </p:nvPr>
        </p:nvGraphicFramePr>
        <p:xfrm>
          <a:off x="812083" y="3181276"/>
          <a:ext cx="1590622" cy="1071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06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003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 Tool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2477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Deployment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21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17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Customization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57EFCE37-831A-9DEC-F096-56CA8F008C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9341486"/>
              </p:ext>
            </p:extLst>
          </p:nvPr>
        </p:nvGraphicFramePr>
        <p:xfrm>
          <a:off x="812083" y="4653136"/>
          <a:ext cx="2088232" cy="1015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</a:t>
                      </a: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Full Tunning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(Open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50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Axolotol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FDEC58D-CCB1-A42B-F522-40050B01CA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0595420"/>
              </p:ext>
            </p:extLst>
          </p:nvPr>
        </p:nvGraphicFramePr>
        <p:xfrm>
          <a:off x="6327392" y="4996020"/>
          <a:ext cx="1944216" cy="918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421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30783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Infrastructure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4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TensorFlow/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/JAX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4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 /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881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CUDA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1F029804-8A4D-A1F0-D8D0-ECDF117CAE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9842345"/>
              </p:ext>
            </p:extLst>
          </p:nvPr>
        </p:nvGraphicFramePr>
        <p:xfrm>
          <a:off x="3234163" y="1856742"/>
          <a:ext cx="2675674" cy="803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16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259164">
                  <a:extLst>
                    <a:ext uri="{9D8B030D-6E8A-4147-A177-3AD203B41FA5}">
                      <a16:colId xmlns:a16="http://schemas.microsoft.com/office/drawing/2014/main" val="1426263881"/>
                    </a:ext>
                  </a:extLst>
                </a:gridCol>
                <a:gridCol w="557969">
                  <a:extLst>
                    <a:ext uri="{9D8B030D-6E8A-4147-A177-3AD203B41FA5}">
                      <a16:colId xmlns:a16="http://schemas.microsoft.com/office/drawing/2014/main" val="1549907192"/>
                    </a:ext>
                  </a:extLst>
                </a:gridCol>
                <a:gridCol w="557969">
                  <a:extLst>
                    <a:ext uri="{9D8B030D-6E8A-4147-A177-3AD203B41FA5}">
                      <a16:colId xmlns:a16="http://schemas.microsoft.com/office/drawing/2014/main" val="2139872543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636054194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1872490353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68804775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3091919611"/>
                    </a:ext>
                  </a:extLst>
                </a:gridCol>
              </a:tblGrid>
              <a:tr h="432047"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7143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Claw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55FA761B-B1C0-6E26-1F64-397B42813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4693302"/>
              </p:ext>
            </p:extLst>
          </p:nvPr>
        </p:nvGraphicFramePr>
        <p:xfrm>
          <a:off x="6740869" y="1229251"/>
          <a:ext cx="1933441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344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Orchestrator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Multi-Agent Routing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State &amp; Context Management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Workflow Execution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Resource Optimization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16" name="圖說文字: 直線 15">
            <a:extLst>
              <a:ext uri="{FF2B5EF4-FFF2-40B4-BE49-F238E27FC236}">
                <a16:creationId xmlns:a16="http://schemas.microsoft.com/office/drawing/2014/main" id="{004256FF-859E-CCD1-81EC-075CA72A316C}"/>
              </a:ext>
            </a:extLst>
          </p:cNvPr>
          <p:cNvSpPr/>
          <p:nvPr/>
        </p:nvSpPr>
        <p:spPr>
          <a:xfrm flipH="1">
            <a:off x="6660232" y="1229252"/>
            <a:ext cx="2086085" cy="1206064"/>
          </a:xfrm>
          <a:prstGeom prst="borderCallout1">
            <a:avLst>
              <a:gd name="adj1" fmla="val 83379"/>
              <a:gd name="adj2" fmla="val 96707"/>
              <a:gd name="adj3" fmla="val 109956"/>
              <a:gd name="adj4" fmla="val 124063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A9399B61-E00C-FA21-7965-FEFD7381A6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2724" y="135794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F4258470-55CC-CEEB-1BAA-592F11ADCF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9869" y="135794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73E7E98-C231-18BC-581C-CBCCC80F73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0232" y="836712"/>
            <a:ext cx="634319" cy="334586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1C2A8E9-389D-2F9D-3C7D-8D935635C3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1575" y="886369"/>
            <a:ext cx="781627" cy="235272"/>
          </a:xfrm>
          <a:prstGeom prst="rect">
            <a:avLst/>
          </a:prstGeom>
        </p:spPr>
      </p:pic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210FCA04-BC42-C146-9ED5-553692E1CEB3}"/>
              </a:ext>
            </a:extLst>
          </p:cNvPr>
          <p:cNvGraphicFramePr>
            <a:graphicFrameLocks noGrp="1"/>
          </p:cNvGraphicFramePr>
          <p:nvPr/>
        </p:nvGraphicFramePr>
        <p:xfrm>
          <a:off x="-1076325" y="4810125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32732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3175" cmpd="sng">
                      <a:solidFill>
                        <a:schemeClr val="bg1"/>
                      </a:solidFill>
                      <a:prstDash val="solid"/>
                    </a:lnL>
                    <a:lnR w="3175" cmpd="sng">
                      <a:solidFill>
                        <a:schemeClr val="bg1"/>
                      </a:solidFill>
                      <a:prstDash val="solid"/>
                    </a:lnR>
                    <a:lnT w="3175" cmpd="sng">
                      <a:solidFill>
                        <a:schemeClr val="bg1"/>
                      </a:solidFill>
                      <a:prstDash val="solid"/>
                    </a:lnT>
                    <a:lnB w="3175" cmpd="sng">
                      <a:solidFill>
                        <a:schemeClr val="bg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80650"/>
                  </a:ext>
                </a:extLst>
              </a:tr>
            </a:tbl>
          </a:graphicData>
        </a:graphic>
      </p:graphicFrame>
      <p:pic>
        <p:nvPicPr>
          <p:cNvPr id="15" name="圖片 14">
            <a:extLst>
              <a:ext uri="{FF2B5EF4-FFF2-40B4-BE49-F238E27FC236}">
                <a16:creationId xmlns:a16="http://schemas.microsoft.com/office/drawing/2014/main" id="{439D466C-08F0-8E9C-AC89-EAFD529E20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14228" y="836712"/>
            <a:ext cx="360260" cy="334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</a:t>
            </a:r>
            <a:r>
              <a:rPr lang="en-US" altLang="zh-TW" sz="1600" b="1" dirty="0" err="1"/>
              <a:t>MoE</a:t>
            </a:r>
            <a:r>
              <a:rPr lang="en-US" altLang="zh-TW" sz="1600" b="1" dirty="0"/>
              <a:t>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209216" y="1263958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 Trend Analysis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to Quality-Centric Innovation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3945062"/>
              </p:ext>
            </p:extLst>
          </p:nvPr>
        </p:nvGraphicFramePr>
        <p:xfrm>
          <a:off x="2016630" y="3166080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3408085"/>
              </p:ext>
            </p:extLst>
          </p:nvPr>
        </p:nvGraphicFramePr>
        <p:xfrm>
          <a:off x="906443" y="2109980"/>
          <a:ext cx="1059168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1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AWS, MS Azure,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Cloud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 72">
            <a:extLst>
              <a:ext uri="{FF2B5EF4-FFF2-40B4-BE49-F238E27FC236}">
                <a16:creationId xmlns:a16="http://schemas.microsoft.com/office/drawing/2014/main" id="{F81FE75E-9127-9681-590D-9061B2910228}"/>
              </a:ext>
            </a:extLst>
          </p:cNvPr>
          <p:cNvSpPr/>
          <p:nvPr/>
        </p:nvSpPr>
        <p:spPr>
          <a:xfrm>
            <a:off x="6012161" y="3387544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5466488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99ED30C9-7FBC-5372-F2D1-F80EA7C865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5697390"/>
              </p:ext>
            </p:extLst>
          </p:nvPr>
        </p:nvGraphicFramePr>
        <p:xfrm>
          <a:off x="351199" y="4521818"/>
          <a:ext cx="8225578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標題 1">
            <a:extLst>
              <a:ext uri="{FF2B5EF4-FFF2-40B4-BE49-F238E27FC236}">
                <a16:creationId xmlns:a16="http://schemas.microsoft.com/office/drawing/2014/main" id="{3C9AD4A7-CE39-6D13-9A34-F4154B36620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Light, Fast, Multi-modal, and Multi-lingual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F0C5F1F-8BA5-7023-CB2C-07E845026D34}"/>
              </a:ext>
            </a:extLst>
          </p:cNvPr>
          <p:cNvSpPr/>
          <p:nvPr/>
        </p:nvSpPr>
        <p:spPr>
          <a:xfrm>
            <a:off x="6221748" y="1412776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05B6047-2833-C1AD-81A4-9E94756336FA}"/>
              </a:ext>
            </a:extLst>
          </p:cNvPr>
          <p:cNvSpPr txBox="1"/>
          <p:nvPr/>
        </p:nvSpPr>
        <p:spPr>
          <a:xfrm>
            <a:off x="6365764" y="1571086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lang="zh-TW" altLang="en-US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615B3A5-3FD2-4005-BC2E-69EC29B5B341}"/>
              </a:ext>
            </a:extLst>
          </p:cNvPr>
          <p:cNvSpPr txBox="1"/>
          <p:nvPr/>
        </p:nvSpPr>
        <p:spPr>
          <a:xfrm>
            <a:off x="6365764" y="1940154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AAD5BE6-CA01-DBC6-1993-208FB9ACBD36}"/>
              </a:ext>
            </a:extLst>
          </p:cNvPr>
          <p:cNvSpPr txBox="1"/>
          <p:nvPr/>
        </p:nvSpPr>
        <p:spPr>
          <a:xfrm>
            <a:off x="6507429" y="2708920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71A4FAC-3FA4-7F32-0DE0-90701BE854FB}"/>
              </a:ext>
            </a:extLst>
          </p:cNvPr>
          <p:cNvSpPr txBox="1"/>
          <p:nvPr/>
        </p:nvSpPr>
        <p:spPr>
          <a:xfrm>
            <a:off x="6507429" y="4398530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(Next Token)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BE8163C-E658-EC9A-A3D6-4483843DC234}"/>
              </a:ext>
            </a:extLst>
          </p:cNvPr>
          <p:cNvSpPr txBox="1"/>
          <p:nvPr/>
        </p:nvSpPr>
        <p:spPr>
          <a:xfrm>
            <a:off x="6365764" y="98071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9EA56A65-2A30-6FE7-1987-749C004F9F0B}"/>
              </a:ext>
            </a:extLst>
          </p:cNvPr>
          <p:cNvSpPr txBox="1"/>
          <p:nvPr/>
        </p:nvSpPr>
        <p:spPr>
          <a:xfrm>
            <a:off x="6365764" y="47667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B82F44C6-607E-773F-9287-A4B04BF4B85F}"/>
              </a:ext>
            </a:extLst>
          </p:cNvPr>
          <p:cNvCxnSpPr>
            <a:cxnSpLocks/>
            <a:stCxn id="14" idx="0"/>
            <a:endCxn id="17" idx="2"/>
          </p:cNvCxnSpPr>
          <p:nvPr/>
        </p:nvCxnSpPr>
        <p:spPr>
          <a:xfrm flipV="1">
            <a:off x="6941828" y="836712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A5ADA3C9-51C2-3237-133D-BBEFBF739687}"/>
              </a:ext>
            </a:extLst>
          </p:cNvPr>
          <p:cNvCxnSpPr>
            <a:cxnSpLocks/>
            <a:stCxn id="7" idx="0"/>
            <a:endCxn id="14" idx="2"/>
          </p:cNvCxnSpPr>
          <p:nvPr/>
        </p:nvCxnSpPr>
        <p:spPr>
          <a:xfrm flipV="1">
            <a:off x="6941828" y="1205765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1DBA7485-E4D3-633A-C8FD-B13CD069630A}"/>
              </a:ext>
            </a:extLst>
          </p:cNvPr>
          <p:cNvCxnSpPr>
            <a:cxnSpLocks/>
            <a:stCxn id="11" idx="0"/>
            <a:endCxn id="10" idx="2"/>
          </p:cNvCxnSpPr>
          <p:nvPr/>
        </p:nvCxnSpPr>
        <p:spPr>
          <a:xfrm flipH="1" flipV="1">
            <a:off x="6941828" y="2463376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B0520ED-01AE-68FB-5B5E-0DAE72BFC9B6}"/>
              </a:ext>
            </a:extLst>
          </p:cNvPr>
          <p:cNvCxnSpPr>
            <a:cxnSpLocks/>
            <a:stCxn id="10" idx="0"/>
            <a:endCxn id="7" idx="2"/>
          </p:cNvCxnSpPr>
          <p:nvPr/>
        </p:nvCxnSpPr>
        <p:spPr>
          <a:xfrm flipV="1">
            <a:off x="6941828" y="1796138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AD612F0A-91C3-056E-BCE2-B3E95520AE28}"/>
              </a:ext>
            </a:extLst>
          </p:cNvPr>
          <p:cNvSpPr txBox="1"/>
          <p:nvPr/>
        </p:nvSpPr>
        <p:spPr>
          <a:xfrm>
            <a:off x="5508104" y="4398530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(User)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cxnSp>
        <p:nvCxnSpPr>
          <p:cNvPr id="31" name="接點: 肘形 30">
            <a:extLst>
              <a:ext uri="{FF2B5EF4-FFF2-40B4-BE49-F238E27FC236}">
                <a16:creationId xmlns:a16="http://schemas.microsoft.com/office/drawing/2014/main" id="{88FCB6D8-BB47-90D6-7438-7C3CA5BB1ABB}"/>
              </a:ext>
            </a:extLst>
          </p:cNvPr>
          <p:cNvCxnSpPr>
            <a:cxnSpLocks/>
            <a:stCxn id="17" idx="3"/>
            <a:endCxn id="11" idx="3"/>
          </p:cNvCxnSpPr>
          <p:nvPr/>
        </p:nvCxnSpPr>
        <p:spPr>
          <a:xfrm flipH="1">
            <a:off x="7379909" y="656692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45BD80B-F195-173E-C31C-1D8057144F3F}"/>
              </a:ext>
            </a:extLst>
          </p:cNvPr>
          <p:cNvSpPr txBox="1"/>
          <p:nvPr/>
        </p:nvSpPr>
        <p:spPr>
          <a:xfrm>
            <a:off x="6056570" y="2152607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19526939-E9C0-4A2C-0511-0D5DE4384B47}"/>
              </a:ext>
            </a:extLst>
          </p:cNvPr>
          <p:cNvSpPr/>
          <p:nvPr/>
        </p:nvSpPr>
        <p:spPr>
          <a:xfrm>
            <a:off x="6084168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A1305DF5-9242-38FA-74E0-8B4262602807}"/>
              </a:ext>
            </a:extLst>
          </p:cNvPr>
          <p:cNvSpPr/>
          <p:nvPr/>
        </p:nvSpPr>
        <p:spPr>
          <a:xfrm>
            <a:off x="6689800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357C1A51-F19F-0863-D7B0-2DC91CF29B6B}"/>
              </a:ext>
            </a:extLst>
          </p:cNvPr>
          <p:cNvSpPr/>
          <p:nvPr/>
        </p:nvSpPr>
        <p:spPr>
          <a:xfrm>
            <a:off x="7291750" y="3578347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E72048D-2524-1E61-5076-ED59FF0E3E44}"/>
              </a:ext>
            </a:extLst>
          </p:cNvPr>
          <p:cNvSpPr/>
          <p:nvPr/>
        </p:nvSpPr>
        <p:spPr>
          <a:xfrm>
            <a:off x="6689800" y="3264256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直線單箭頭接點 69">
            <a:extLst>
              <a:ext uri="{FF2B5EF4-FFF2-40B4-BE49-F238E27FC236}">
                <a16:creationId xmlns:a16="http://schemas.microsoft.com/office/drawing/2014/main" id="{B7100B46-3DD7-60AF-91CE-0B46B2EC6D09}"/>
              </a:ext>
            </a:extLst>
          </p:cNvPr>
          <p:cNvCxnSpPr>
            <a:cxnSpLocks/>
            <a:stCxn id="69" idx="0"/>
            <a:endCxn id="11" idx="2"/>
          </p:cNvCxnSpPr>
          <p:nvPr/>
        </p:nvCxnSpPr>
        <p:spPr>
          <a:xfrm flipV="1">
            <a:off x="6941828" y="3068960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右中括弧 1">
            <a:extLst>
              <a:ext uri="{FF2B5EF4-FFF2-40B4-BE49-F238E27FC236}">
                <a16:creationId xmlns:a16="http://schemas.microsoft.com/office/drawing/2014/main" id="{7F2CD794-D235-521D-97A5-56398293D55C}"/>
              </a:ext>
            </a:extLst>
          </p:cNvPr>
          <p:cNvSpPr/>
          <p:nvPr/>
        </p:nvSpPr>
        <p:spPr>
          <a:xfrm>
            <a:off x="7956376" y="3429000"/>
            <a:ext cx="45719" cy="46032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D2697D1-2609-B729-0E6A-3C9C323849AD}"/>
              </a:ext>
            </a:extLst>
          </p:cNvPr>
          <p:cNvSpPr txBox="1"/>
          <p:nvPr/>
        </p:nvSpPr>
        <p:spPr>
          <a:xfrm>
            <a:off x="8100392" y="3529169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Encoder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18D97-612A-D280-211E-AB193E653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DEE41D5-A80F-7EBF-F31B-6B31BBBD445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Fast …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Optimizes base model parameters via self-supervised learning.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96995FE-97C3-6F08-57D9-74404BECD9A4}"/>
              </a:ext>
            </a:extLst>
          </p:cNvPr>
          <p:cNvSpPr txBox="1"/>
          <p:nvPr/>
        </p:nvSpPr>
        <p:spPr>
          <a:xfrm>
            <a:off x="213023" y="980728"/>
            <a:ext cx="8568952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Parameter Efficient Fine Tunning (PEFT)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LoRA</a:t>
            </a:r>
            <a:r>
              <a:rPr lang="en-US" altLang="zh-TW" sz="1600" b="0" u="none" strike="noStrike" dirty="0">
                <a:effectLst/>
              </a:rPr>
              <a:t>: The fuel for ML, consisting of Features (inputs) and Labels (correct answers).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QLoRA</a:t>
            </a:r>
            <a:r>
              <a:rPr lang="en-US" altLang="zh-TW" sz="1600" b="0" u="none" strike="noStrike" dirty="0">
                <a:effectLst/>
              </a:rPr>
              <a:t>: An optimized mathematical formula capable of making decisions.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Adapter Tuning:</a:t>
            </a:r>
            <a:r>
              <a:rPr lang="en-US" altLang="zh-TW" sz="1600" dirty="0"/>
              <a:t> Learning tool (e.g., like loss function and optimizer).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Prompt Tuning:</a:t>
            </a:r>
            <a:r>
              <a:rPr lang="en-US" altLang="zh-TW" sz="1600" dirty="0"/>
              <a:t> Learning tool (e.g., like loss function and optimizer).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9A9EF1A9-2994-2037-52D0-3B7B603D72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9594157"/>
              </p:ext>
            </p:extLst>
          </p:nvPr>
        </p:nvGraphicFramePr>
        <p:xfrm>
          <a:off x="166935" y="3429000"/>
          <a:ext cx="2866653" cy="17510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41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057241">
                  <a:extLst>
                    <a:ext uri="{9D8B030D-6E8A-4147-A177-3AD203B41FA5}">
                      <a16:colId xmlns:a16="http://schemas.microsoft.com/office/drawing/2014/main" val="2539720991"/>
                    </a:ext>
                  </a:extLst>
                </a:gridCol>
              </a:tblGrid>
              <a:tr h="196486">
                <a:tc gridSpan="2"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 Adjust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9648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Full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30408">
                <a:tc row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QLoRA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56588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DoRA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3041651"/>
                  </a:ext>
                </a:extLst>
              </a:tr>
              <a:tr h="260816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Prefix Tuning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897546"/>
                  </a:ext>
                </a:extLst>
              </a:tr>
              <a:tr h="130408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Prompt Tuning,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434728"/>
                  </a:ext>
                </a:extLst>
              </a:tr>
              <a:tr h="586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Preference Alignment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ORPO,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9072172"/>
                  </a:ext>
                </a:extLst>
              </a:tr>
              <a:tr h="17701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1695270"/>
                  </a:ext>
                </a:extLst>
              </a:tr>
            </a:tbl>
          </a:graphicData>
        </a:graphic>
      </p:graphicFrame>
      <p:sp>
        <p:nvSpPr>
          <p:cNvPr id="4" name="文字方塊 3">
            <a:extLst>
              <a:ext uri="{FF2B5EF4-FFF2-40B4-BE49-F238E27FC236}">
                <a16:creationId xmlns:a16="http://schemas.microsoft.com/office/drawing/2014/main" id="{3C07F0B0-AB65-462E-40F1-001FD403F3DD}"/>
              </a:ext>
            </a:extLst>
          </p:cNvPr>
          <p:cNvSpPr txBox="1"/>
          <p:nvPr/>
        </p:nvSpPr>
        <p:spPr>
          <a:xfrm>
            <a:off x="4716016" y="4077072"/>
            <a:ext cx="20441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1.</a:t>
            </a:r>
            <a:r>
              <a:rPr lang="zh-TW" altLang="en-US" dirty="0"/>
              <a:t> 主流技術</a:t>
            </a:r>
            <a:r>
              <a:rPr lang="en-US" altLang="zh-TW" dirty="0"/>
              <a:t>PEFT</a:t>
            </a:r>
            <a:br>
              <a:rPr lang="en-US" altLang="zh-TW" dirty="0"/>
            </a:br>
            <a:r>
              <a:rPr lang="en-US" altLang="zh-TW" dirty="0"/>
              <a:t>2.</a:t>
            </a:r>
            <a:r>
              <a:rPr lang="zh-TW" altLang="en-US" dirty="0"/>
              <a:t> 僅針對</a:t>
            </a:r>
            <a:r>
              <a:rPr lang="en-US" altLang="zh-TW" dirty="0" err="1"/>
              <a:t>LoRA</a:t>
            </a:r>
            <a:r>
              <a:rPr lang="zh-TW" altLang="en-US" dirty="0"/>
              <a:t>解說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8551EB79-99C8-CA75-9C05-D5ABDF089A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3123077"/>
              </p:ext>
            </p:extLst>
          </p:nvPr>
        </p:nvGraphicFramePr>
        <p:xfrm>
          <a:off x="3923928" y="4837127"/>
          <a:ext cx="3456384" cy="11270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10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057580889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337991183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60511082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910252365"/>
                    </a:ext>
                  </a:extLst>
                </a:gridCol>
              </a:tblGrid>
              <a:tr h="212621">
                <a:tc>
                  <a:txBody>
                    <a:bodyPr/>
                    <a:lstStyle/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LoRA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Parameters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99%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0.1%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912659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Memory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30528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6582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6930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E6E43-CC03-2DCD-18D3-87ED0D04D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5B447E22-5A1E-EF0E-F809-322E50BF5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1845" y="1124744"/>
            <a:ext cx="2367698" cy="1299459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sp>
        <p:nvSpPr>
          <p:cNvPr id="7" name="標題 1">
            <a:extLst>
              <a:ext uri="{FF2B5EF4-FFF2-40B4-BE49-F238E27FC236}">
                <a16:creationId xmlns:a16="http://schemas.microsoft.com/office/drawing/2014/main" id="{ACF18A52-8D6D-846D-45B8-1A03D18B2B5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Basic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Establish a model to predict unknown outcomes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1AEB47B-29BC-2902-23BF-A4AE3E97C795}"/>
              </a:ext>
            </a:extLst>
          </p:cNvPr>
          <p:cNvSpPr txBox="1"/>
          <p:nvPr/>
        </p:nvSpPr>
        <p:spPr>
          <a:xfrm>
            <a:off x="7848364" y="44624"/>
            <a:ext cx="1214435" cy="4555093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solidFill>
                  <a:schemeClr val="bg1">
                    <a:lumMod val="65000"/>
                  </a:schemeClr>
                </a:solidFill>
                <a:effectLst/>
              </a:rPr>
              <a:t> Overview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 marL="111125" lvl="3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ML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Training Stages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Transformer</a:t>
            </a:r>
            <a:endParaRPr lang="en-US" altLang="zh-TW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Program Flow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Self-Attention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FFNN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Token Embedding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Rotary of PE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rgbClr val="FF0000"/>
                </a:solidFill>
                <a:latin typeface="Calibri"/>
                <a:ea typeface="新細明體" panose="02020500000000000000" pitchFamily="18" charset="-120"/>
              </a:rPr>
              <a:t> Basic Model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Inference 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AI Runtime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MCP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RAG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LLM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Trend Analysis 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3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Supervised FT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LoRA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4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PLE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Comparison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Conclusion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Frameworks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Practices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CE4A6892-55CB-4C86-5E95-D9CB630DD7A7}"/>
              </a:ext>
            </a:extLst>
          </p:cNvPr>
          <p:cNvSpPr txBox="1"/>
          <p:nvPr/>
        </p:nvSpPr>
        <p:spPr>
          <a:xfrm>
            <a:off x="1570425" y="5762224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Distillation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Student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Model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792581F-C1FE-2FEB-D695-B3EE7FDACE26}"/>
              </a:ext>
            </a:extLst>
          </p:cNvPr>
          <p:cNvSpPr txBox="1"/>
          <p:nvPr/>
        </p:nvSpPr>
        <p:spPr>
          <a:xfrm>
            <a:off x="689005" y="4077072"/>
            <a:ext cx="881420" cy="756316"/>
          </a:xfrm>
          <a:prstGeom prst="rect">
            <a:avLst/>
          </a:prstGeom>
          <a:solidFill>
            <a:schemeClr val="bg1">
              <a:lumMod val="95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Input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[x0, x1, …, </a:t>
            </a:r>
            <a:r>
              <a:rPr lang="en-US" altLang="zh-TW" sz="1200" dirty="0" err="1"/>
              <a:t>xn</a:t>
            </a:r>
            <a:r>
              <a:rPr lang="en-US" altLang="zh-TW" sz="1200" dirty="0"/>
              <a:t> ]</a:t>
            </a: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A00EF93E-F122-2C6B-1031-232B6AB9EB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03767"/>
              </p:ext>
            </p:extLst>
          </p:nvPr>
        </p:nvGraphicFramePr>
        <p:xfrm>
          <a:off x="2195736" y="4516191"/>
          <a:ext cx="2437328" cy="10723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966311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512799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0.08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9486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46EDBCD4-7EAC-421B-66FB-3388FFFF2900}"/>
              </a:ext>
            </a:extLst>
          </p:cNvPr>
          <p:cNvSpPr txBox="1"/>
          <p:nvPr/>
        </p:nvSpPr>
        <p:spPr>
          <a:xfrm>
            <a:off x="1691680" y="26118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Low-Rank Adaptation</a:t>
            </a:r>
          </a:p>
          <a:p>
            <a:r>
              <a:rPr lang="en-US" altLang="zh-TW" sz="1400" dirty="0" err="1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LoRA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freezes the base model, squeezing updates through a narrow parameter bottleneck (r).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30C510-B223-AB07-63E6-5CA7DC527E06}"/>
              </a:ext>
            </a:extLst>
          </p:cNvPr>
          <p:cNvSpPr txBox="1"/>
          <p:nvPr/>
        </p:nvSpPr>
        <p:spPr>
          <a:xfrm>
            <a:off x="4355977" y="1395501"/>
            <a:ext cx="1368152" cy="107232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1950E-8F49-2745-2EDD-097C758F04BA}"/>
              </a:ext>
            </a:extLst>
          </p:cNvPr>
          <p:cNvSpPr txBox="1"/>
          <p:nvPr/>
        </p:nvSpPr>
        <p:spPr>
          <a:xfrm>
            <a:off x="4644009" y="2691645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74A7689-58E1-25E4-CAB8-C95092422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7952975"/>
              </p:ext>
            </p:extLst>
          </p:nvPr>
        </p:nvGraphicFramePr>
        <p:xfrm>
          <a:off x="1770459" y="2899875"/>
          <a:ext cx="54506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6F6C15-94A2-C0C5-36A9-0DAC9AAC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0567835"/>
              </p:ext>
            </p:extLst>
          </p:nvPr>
        </p:nvGraphicFramePr>
        <p:xfrm>
          <a:off x="4433457" y="1688729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FDAA76A0-7CB4-DA0D-EDD9-6D1BAA982226}"/>
              </a:ext>
            </a:extLst>
          </p:cNvPr>
          <p:cNvSpPr txBox="1"/>
          <p:nvPr/>
        </p:nvSpPr>
        <p:spPr>
          <a:xfrm>
            <a:off x="2940050" y="2827867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0FEFC2-8AF0-B494-88D8-630F4FEC9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9181518"/>
              </p:ext>
            </p:extLst>
          </p:nvPr>
        </p:nvGraphicFramePr>
        <p:xfrm>
          <a:off x="2562549" y="3121095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DFCECAB-DFF2-9A96-42C1-C1A92C90C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8050651"/>
              </p:ext>
            </p:extLst>
          </p:nvPr>
        </p:nvGraphicFramePr>
        <p:xfrm>
          <a:off x="4430267" y="2960293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418A53-024F-5256-DFDC-38C367C98546}"/>
              </a:ext>
            </a:extLst>
          </p:cNvPr>
          <p:cNvSpPr txBox="1"/>
          <p:nvPr/>
        </p:nvSpPr>
        <p:spPr>
          <a:xfrm>
            <a:off x="3148812" y="166030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345E229-AD34-1F98-A1EE-ED0FCB968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8978535"/>
              </p:ext>
            </p:extLst>
          </p:nvPr>
        </p:nvGraphicFramePr>
        <p:xfrm>
          <a:off x="2855703" y="1960668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12B550F6-AAF7-C19A-A92E-CF87D9C54EF1}"/>
              </a:ext>
            </a:extLst>
          </p:cNvPr>
          <p:cNvSpPr txBox="1"/>
          <p:nvPr/>
        </p:nvSpPr>
        <p:spPr>
          <a:xfrm>
            <a:off x="6169043" y="1660300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996B90EC-11CB-52EE-8E93-6793DBEB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9358539"/>
              </p:ext>
            </p:extLst>
          </p:nvPr>
        </p:nvGraphicFramePr>
        <p:xfrm>
          <a:off x="5868145" y="1950969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AC4206E9-412D-FD84-36F9-9F12F7A65F2F}"/>
              </a:ext>
            </a:extLst>
          </p:cNvPr>
          <p:cNvSpPr txBox="1"/>
          <p:nvPr/>
        </p:nvSpPr>
        <p:spPr>
          <a:xfrm>
            <a:off x="4932041" y="242048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EBCB8E-14AD-6B5D-4F80-0544704FC54A}"/>
              </a:ext>
            </a:extLst>
          </p:cNvPr>
          <p:cNvSpPr txBox="1"/>
          <p:nvPr/>
        </p:nvSpPr>
        <p:spPr>
          <a:xfrm>
            <a:off x="4169967" y="190206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C2A484D-460F-1A04-04CA-5C1908284B6D}"/>
              </a:ext>
            </a:extLst>
          </p:cNvPr>
          <p:cNvSpPr txBox="1"/>
          <p:nvPr/>
        </p:nvSpPr>
        <p:spPr>
          <a:xfrm>
            <a:off x="5648931" y="1902063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7AEACB-00C0-87CF-71EE-829E83706821}"/>
              </a:ext>
            </a:extLst>
          </p:cNvPr>
          <p:cNvSpPr txBox="1"/>
          <p:nvPr/>
        </p:nvSpPr>
        <p:spPr>
          <a:xfrm>
            <a:off x="2361482" y="316683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93FF47D-66F2-8021-8537-0B49581A514D}"/>
              </a:ext>
            </a:extLst>
          </p:cNvPr>
          <p:cNvSpPr txBox="1"/>
          <p:nvPr/>
        </p:nvSpPr>
        <p:spPr>
          <a:xfrm>
            <a:off x="4169967" y="3200239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C89C2-E685-02E9-C209-61874A3350C9}"/>
              </a:ext>
            </a:extLst>
          </p:cNvPr>
          <p:cNvSpPr txBox="1"/>
          <p:nvPr/>
        </p:nvSpPr>
        <p:spPr>
          <a:xfrm>
            <a:off x="1715914" y="5211925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1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3A408C77-9AA7-C9E5-0EEA-D090525596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9683307"/>
              </p:ext>
            </p:extLst>
          </p:nvPr>
        </p:nvGraphicFramePr>
        <p:xfrm>
          <a:off x="1932110" y="5517232"/>
          <a:ext cx="27253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26" name="文字方塊 25">
            <a:extLst>
              <a:ext uri="{FF2B5EF4-FFF2-40B4-BE49-F238E27FC236}">
                <a16:creationId xmlns:a16="http://schemas.microsoft.com/office/drawing/2014/main" id="{46547153-3887-39D1-68AC-E63C5A9D08BB}"/>
              </a:ext>
            </a:extLst>
          </p:cNvPr>
          <p:cNvSpPr txBox="1"/>
          <p:nvPr/>
        </p:nvSpPr>
        <p:spPr>
          <a:xfrm>
            <a:off x="2940049" y="5488909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D856DEEC-0920-37CD-984E-6387928C9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7588344"/>
              </p:ext>
            </p:extLst>
          </p:nvPr>
        </p:nvGraphicFramePr>
        <p:xfrm>
          <a:off x="2562549" y="5832246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8" name="文字方塊 27">
            <a:extLst>
              <a:ext uri="{FF2B5EF4-FFF2-40B4-BE49-F238E27FC236}">
                <a16:creationId xmlns:a16="http://schemas.microsoft.com/office/drawing/2014/main" id="{8012E381-AA45-3D1A-CAEC-4D2813F6AB34}"/>
              </a:ext>
            </a:extLst>
          </p:cNvPr>
          <p:cNvSpPr txBox="1"/>
          <p:nvPr/>
        </p:nvSpPr>
        <p:spPr>
          <a:xfrm>
            <a:off x="2339753" y="578927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9E880617-74A7-3F1D-19E7-1C6CE624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5542779"/>
              </p:ext>
            </p:extLst>
          </p:nvPr>
        </p:nvGraphicFramePr>
        <p:xfrm>
          <a:off x="611560" y="4782788"/>
          <a:ext cx="4253728" cy="26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85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9E930552-FE47-29BE-877E-18BE859F7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8166402"/>
              </p:ext>
            </p:extLst>
          </p:nvPr>
        </p:nvGraphicFramePr>
        <p:xfrm>
          <a:off x="1389570" y="4203813"/>
          <a:ext cx="2437328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3D69D28E-D3BB-E57F-0654-C588ED181323}"/>
              </a:ext>
            </a:extLst>
          </p:cNvPr>
          <p:cNvCxnSpPr>
            <a:cxnSpLocks/>
          </p:cNvCxnSpPr>
          <p:nvPr/>
        </p:nvCxnSpPr>
        <p:spPr>
          <a:xfrm>
            <a:off x="1695126" y="4382534"/>
            <a:ext cx="0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F9A3051A-7393-2108-A65E-E17A5BDFC742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1994782" y="4382534"/>
            <a:ext cx="743642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1FD903-5CA4-5DF9-C34F-F10FB97C112B}"/>
              </a:ext>
            </a:extLst>
          </p:cNvPr>
          <p:cNvSpPr txBox="1"/>
          <p:nvPr/>
        </p:nvSpPr>
        <p:spPr>
          <a:xfrm>
            <a:off x="1852611" y="4537583"/>
            <a:ext cx="42245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33890C5-0A88-D645-14E5-9AA7C51DF87A}"/>
              </a:ext>
            </a:extLst>
          </p:cNvPr>
          <p:cNvSpPr txBox="1"/>
          <p:nvPr/>
        </p:nvSpPr>
        <p:spPr>
          <a:xfrm>
            <a:off x="1641385" y="3850356"/>
            <a:ext cx="422451" cy="35345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16</a:t>
            </a:r>
          </a:p>
          <a:p>
            <a:pPr>
              <a:lnSpc>
                <a:spcPts val="14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bits</a:t>
            </a:r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213023" y="980728"/>
            <a:ext cx="8568952" cy="224676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256K tokens.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Native Unified / Encoder-Free</a:t>
            </a:r>
            <a:r>
              <a:rPr lang="en-US" altLang="zh-TW" sz="1600" u="none" strike="noStrike" dirty="0">
                <a:effectLst/>
              </a:rPr>
              <a:t>: Remove the image encoder (SigLIP).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Structured Thinking</a:t>
            </a:r>
            <a:r>
              <a:rPr lang="en-US" altLang="zh-TW" sz="1600" dirty="0"/>
              <a:t>: M?.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Per-Layer Embeddings (PLE):</a:t>
            </a:r>
            <a:r>
              <a:rPr lang="en-US" altLang="zh-TW" sz="1600" dirty="0"/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Multi-Token Prediction (MTP):</a:t>
            </a:r>
            <a:r>
              <a:rPr lang="en-US" altLang="zh-TW" sz="1600" dirty="0"/>
              <a:t>: .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270DC3E0-A9BD-E0C6-9AF7-57F236AC3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723837"/>
              </p:ext>
            </p:extLst>
          </p:nvPr>
        </p:nvGraphicFramePr>
        <p:xfrm>
          <a:off x="351199" y="4221088"/>
          <a:ext cx="8225579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  <a:gridCol w="620402">
                  <a:extLst>
                    <a:ext uri="{9D8B030D-6E8A-4147-A177-3AD203B41FA5}">
                      <a16:colId xmlns:a16="http://schemas.microsoft.com/office/drawing/2014/main" val="3929653818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Text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Only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11.4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1.1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0.84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A4B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57.7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28.8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69.9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34.9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Next-Gen Architecture &amp; Open Freedom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649EA95-8FB6-78DA-707B-076CC68FA7AD}"/>
              </a:ext>
            </a:extLst>
          </p:cNvPr>
          <p:cNvSpPr txBox="1"/>
          <p:nvPr/>
        </p:nvSpPr>
        <p:spPr>
          <a:xfrm>
            <a:off x="4209975" y="2166636"/>
            <a:ext cx="4572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Gemma 3</a:t>
            </a:r>
            <a:r>
              <a:rPr lang="en-US" altLang="zh-TW" sz="1200" dirty="0"/>
              <a:t>: Google DeepMind's single-GPU powerhouses offering 128K context windows and cross-cultural communication in over 140 languages.</a:t>
            </a:r>
          </a:p>
          <a:p>
            <a:r>
              <a:rPr lang="en-US" altLang="zh-TW" dirty="0"/>
              <a:t>Gemma 4</a:t>
            </a:r>
            <a:r>
              <a:rPr lang="en-US" altLang="zh-TW" sz="1200" dirty="0"/>
              <a:t>: Unlocking true commercial flexibility with an Apache 2.0 license, 256K context expansions, and high-efficiency Mixture-of-Experts (</a:t>
            </a:r>
            <a:r>
              <a:rPr lang="en-US" altLang="zh-TW" sz="1200" dirty="0" err="1"/>
              <a:t>MoE</a:t>
            </a:r>
            <a:r>
              <a:rPr lang="en-US" altLang="zh-TW" sz="1200" dirty="0"/>
              <a:t>) scaling.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621033B1-FD4B-EB3F-A072-643EF25F1EB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Per Layer Embeddings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pSp>
        <p:nvGrpSpPr>
          <p:cNvPr id="152" name="群組 151">
            <a:extLst>
              <a:ext uri="{FF2B5EF4-FFF2-40B4-BE49-F238E27FC236}">
                <a16:creationId xmlns:a16="http://schemas.microsoft.com/office/drawing/2014/main" id="{65EBA2E8-16EC-3A46-D66A-987C3901716B}"/>
              </a:ext>
            </a:extLst>
          </p:cNvPr>
          <p:cNvGrpSpPr/>
          <p:nvPr/>
        </p:nvGrpSpPr>
        <p:grpSpPr>
          <a:xfrm>
            <a:off x="2829812" y="1201393"/>
            <a:ext cx="1310140" cy="4405650"/>
            <a:chOff x="3849298" y="1201393"/>
            <a:chExt cx="1310140" cy="4405650"/>
          </a:xfrm>
        </p:grpSpPr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3F52AA91-A73D-ADB6-95F2-020FAF6419D5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31B</a:t>
              </a:r>
              <a:endParaRPr lang="zh-TW" altLang="en-US" dirty="0"/>
            </a:p>
          </p:txBody>
        </p:sp>
        <p:sp>
          <p:nvSpPr>
            <p:cNvPr id="103" name="矩形: 圓角 102">
              <a:extLst>
                <a:ext uri="{FF2B5EF4-FFF2-40B4-BE49-F238E27FC236}">
                  <a16:creationId xmlns:a16="http://schemas.microsoft.com/office/drawing/2014/main" id="{75B6E067-45CE-B85B-0CAA-A43833E04B97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48" name="群組 147">
              <a:extLst>
                <a:ext uri="{FF2B5EF4-FFF2-40B4-BE49-F238E27FC236}">
                  <a16:creationId xmlns:a16="http://schemas.microsoft.com/office/drawing/2014/main" id="{543C449C-D430-6EC4-6652-1406BB5D40CD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09" name="矩形: 圓角 108">
                <a:extLst>
                  <a:ext uri="{FF2B5EF4-FFF2-40B4-BE49-F238E27FC236}">
                    <a16:creationId xmlns:a16="http://schemas.microsoft.com/office/drawing/2014/main" id="{B1A0C47A-43B4-48C9-5DDE-799140A31BBB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0" name="矩形: 圓角 109">
                <a:extLst>
                  <a:ext uri="{FF2B5EF4-FFF2-40B4-BE49-F238E27FC236}">
                    <a16:creationId xmlns:a16="http://schemas.microsoft.com/office/drawing/2014/main" id="{8786C929-30C5-9F6A-57FF-D524059DA39C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50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1" name="矩形: 圓角 110">
                <a:extLst>
                  <a:ext uri="{FF2B5EF4-FFF2-40B4-BE49-F238E27FC236}">
                    <a16:creationId xmlns:a16="http://schemas.microsoft.com/office/drawing/2014/main" id="{FA5DE809-863D-1BD6-5A79-6527343088E6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954CA58C-ECA8-D0E6-96F1-F93BBFB1B144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13" name="接點: 肘形 112">
                <a:extLst>
                  <a:ext uri="{FF2B5EF4-FFF2-40B4-BE49-F238E27FC236}">
                    <a16:creationId xmlns:a16="http://schemas.microsoft.com/office/drawing/2014/main" id="{EEAA8209-2A30-345D-A2F2-A445B86656F8}"/>
                  </a:ext>
                </a:extLst>
              </p:cNvPr>
              <p:cNvCxnSpPr>
                <a:cxnSpLocks/>
                <a:stCxn id="110" idx="2"/>
                <a:endCxn id="112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線單箭頭接點 113">
                <a:extLst>
                  <a:ext uri="{FF2B5EF4-FFF2-40B4-BE49-F238E27FC236}">
                    <a16:creationId xmlns:a16="http://schemas.microsoft.com/office/drawing/2014/main" id="{8364B025-C4C5-AB69-EE31-E3027A430931}"/>
                  </a:ext>
                </a:extLst>
              </p:cNvPr>
              <p:cNvCxnSpPr>
                <a:cxnSpLocks/>
                <a:stCxn id="109" idx="2"/>
                <a:endCxn id="111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線單箭頭接點 114">
                <a:extLst>
                  <a:ext uri="{FF2B5EF4-FFF2-40B4-BE49-F238E27FC236}">
                    <a16:creationId xmlns:a16="http://schemas.microsoft.com/office/drawing/2014/main" id="{ADE31BC4-90E6-6D3F-59D3-813D286D61C0}"/>
                  </a:ext>
                </a:extLst>
              </p:cNvPr>
              <p:cNvCxnSpPr>
                <a:cxnSpLocks/>
                <a:stCxn id="112" idx="0"/>
                <a:endCxn id="109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矩形: 圓角 115">
                <a:extLst>
                  <a:ext uri="{FF2B5EF4-FFF2-40B4-BE49-F238E27FC236}">
                    <a16:creationId xmlns:a16="http://schemas.microsoft.com/office/drawing/2014/main" id="{30DF811A-5FC0-52F5-F149-597ED05963C1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7" name="矩形: 圓角 116">
                <a:extLst>
                  <a:ext uri="{FF2B5EF4-FFF2-40B4-BE49-F238E27FC236}">
                    <a16:creationId xmlns:a16="http://schemas.microsoft.com/office/drawing/2014/main" id="{88C2B72B-1941-C2E9-CCDE-0E6EBA4C6A0E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08" name="矩形: 圓角 107">
                <a:extLst>
                  <a:ext uri="{FF2B5EF4-FFF2-40B4-BE49-F238E27FC236}">
                    <a16:creationId xmlns:a16="http://schemas.microsoft.com/office/drawing/2014/main" id="{81D65B75-1C95-0AA1-A90B-F98320248AB8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2" name="矩形: 圓角 131">
              <a:extLst>
                <a:ext uri="{FF2B5EF4-FFF2-40B4-BE49-F238E27FC236}">
                  <a16:creationId xmlns:a16="http://schemas.microsoft.com/office/drawing/2014/main" id="{BFD9E345-B80A-8E21-A3EB-86BEEE7EA026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44A0B88C-90C5-45C8-77ED-D51E0DC93E47}"/>
              </a:ext>
            </a:extLst>
          </p:cNvPr>
          <p:cNvGrpSpPr/>
          <p:nvPr/>
        </p:nvGrpSpPr>
        <p:grpSpPr>
          <a:xfrm>
            <a:off x="6719590" y="1196752"/>
            <a:ext cx="1308794" cy="4410291"/>
            <a:chOff x="6802972" y="1196752"/>
            <a:chExt cx="1308794" cy="4410291"/>
          </a:xfrm>
        </p:grpSpPr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BDFCCEC8-F9EA-2CE2-81B4-209FFFA8A01A}"/>
                </a:ext>
              </a:extLst>
            </p:cNvPr>
            <p:cNvSpPr txBox="1"/>
            <p:nvPr/>
          </p:nvSpPr>
          <p:spPr>
            <a:xfrm>
              <a:off x="6962972" y="1196752"/>
              <a:ext cx="971741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26B</a:t>
              </a:r>
              <a:r>
                <a:rPr lang="zh-TW" altLang="en-US" dirty="0"/>
                <a:t> </a:t>
              </a:r>
              <a:r>
                <a:rPr lang="en-US" altLang="zh-TW" dirty="0"/>
                <a:t>A4B</a:t>
              </a:r>
              <a:endParaRPr lang="zh-TW" altLang="en-US" dirty="0"/>
            </a:p>
          </p:txBody>
        </p:sp>
        <p:grpSp>
          <p:nvGrpSpPr>
            <p:cNvPr id="149" name="群組 148">
              <a:extLst>
                <a:ext uri="{FF2B5EF4-FFF2-40B4-BE49-F238E27FC236}">
                  <a16:creationId xmlns:a16="http://schemas.microsoft.com/office/drawing/2014/main" id="{914518BF-4D90-6E22-6D1D-F6151E3C3E6B}"/>
                </a:ext>
              </a:extLst>
            </p:cNvPr>
            <p:cNvGrpSpPr/>
            <p:nvPr/>
          </p:nvGrpSpPr>
          <p:grpSpPr>
            <a:xfrm>
              <a:off x="6802972" y="2060848"/>
              <a:ext cx="1308794" cy="3245081"/>
              <a:chOff x="6802972" y="2060848"/>
              <a:chExt cx="1308794" cy="3245081"/>
            </a:xfrm>
          </p:grpSpPr>
          <p:sp>
            <p:nvSpPr>
              <p:cNvPr id="120" name="矩形: 圓角 119">
                <a:extLst>
                  <a:ext uri="{FF2B5EF4-FFF2-40B4-BE49-F238E27FC236}">
                    <a16:creationId xmlns:a16="http://schemas.microsoft.com/office/drawing/2014/main" id="{09CB361F-5F83-C5B1-3CD2-BC96CAAE3787}"/>
                  </a:ext>
                </a:extLst>
              </p:cNvPr>
              <p:cNvSpPr/>
              <p:nvPr/>
            </p:nvSpPr>
            <p:spPr>
              <a:xfrm>
                <a:off x="693554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1" name="矩形: 圓角 120">
                <a:extLst>
                  <a:ext uri="{FF2B5EF4-FFF2-40B4-BE49-F238E27FC236}">
                    <a16:creationId xmlns:a16="http://schemas.microsoft.com/office/drawing/2014/main" id="{C059B1DF-F859-05CF-02DD-BCF6FFE6EAC8}"/>
                  </a:ext>
                </a:extLst>
              </p:cNvPr>
              <p:cNvSpPr/>
              <p:nvPr/>
            </p:nvSpPr>
            <p:spPr>
              <a:xfrm>
                <a:off x="6935547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 err="1">
                    <a:solidFill>
                      <a:schemeClr val="accent2">
                        <a:lumMod val="50000"/>
                      </a:schemeClr>
                    </a:solidFill>
                  </a:rPr>
                  <a:t>MoE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2" name="矩形: 圓角 121">
                <a:extLst>
                  <a:ext uri="{FF2B5EF4-FFF2-40B4-BE49-F238E27FC236}">
                    <a16:creationId xmlns:a16="http://schemas.microsoft.com/office/drawing/2014/main" id="{28F14AED-9A2A-B96B-438E-CAB09C6EC09E}"/>
                  </a:ext>
                </a:extLst>
              </p:cNvPr>
              <p:cNvSpPr/>
              <p:nvPr/>
            </p:nvSpPr>
            <p:spPr>
              <a:xfrm>
                <a:off x="693554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C6649A89-BF96-006A-59D0-EA5169552E28}"/>
                  </a:ext>
                </a:extLst>
              </p:cNvPr>
              <p:cNvSpPr/>
              <p:nvPr/>
            </p:nvSpPr>
            <p:spPr>
              <a:xfrm>
                <a:off x="6802972" y="2614483"/>
                <a:ext cx="1308794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24" name="接點: 肘形 123">
                <a:extLst>
                  <a:ext uri="{FF2B5EF4-FFF2-40B4-BE49-F238E27FC236}">
                    <a16:creationId xmlns:a16="http://schemas.microsoft.com/office/drawing/2014/main" id="{54BBA61F-933C-E302-2722-155492A374CD}"/>
                  </a:ext>
                </a:extLst>
              </p:cNvPr>
              <p:cNvCxnSpPr>
                <a:cxnSpLocks/>
                <a:stCxn id="121" idx="2"/>
                <a:endCxn id="123" idx="0"/>
              </p:cNvCxnSpPr>
              <p:nvPr/>
            </p:nvCxnSpPr>
            <p:spPr>
              <a:xfrm rot="5400000" flipH="1" flipV="1">
                <a:off x="6625442" y="3438740"/>
                <a:ext cx="1656184" cy="7670"/>
              </a:xfrm>
              <a:prstGeom prst="bentConnector5">
                <a:avLst>
                  <a:gd name="adj1" fmla="val -13803"/>
                  <a:gd name="adj2" fmla="val 11612347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線單箭頭接點 124">
                <a:extLst>
                  <a:ext uri="{FF2B5EF4-FFF2-40B4-BE49-F238E27FC236}">
                    <a16:creationId xmlns:a16="http://schemas.microsoft.com/office/drawing/2014/main" id="{2BD9A8CA-9389-393E-9448-914EF057A994}"/>
                  </a:ext>
                </a:extLst>
              </p:cNvPr>
              <p:cNvCxnSpPr>
                <a:cxnSpLocks/>
                <a:stCxn id="120" idx="2"/>
                <a:endCxn id="122" idx="0"/>
              </p:cNvCxnSpPr>
              <p:nvPr/>
            </p:nvCxnSpPr>
            <p:spPr>
              <a:xfrm>
                <a:off x="744969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線單箭頭接點 125">
                <a:extLst>
                  <a:ext uri="{FF2B5EF4-FFF2-40B4-BE49-F238E27FC236}">
                    <a16:creationId xmlns:a16="http://schemas.microsoft.com/office/drawing/2014/main" id="{678ADA3E-F566-DF55-2F67-868077547768}"/>
                  </a:ext>
                </a:extLst>
              </p:cNvPr>
              <p:cNvCxnSpPr>
                <a:cxnSpLocks/>
                <a:stCxn id="123" idx="0"/>
                <a:endCxn id="120" idx="0"/>
              </p:cNvCxnSpPr>
              <p:nvPr/>
            </p:nvCxnSpPr>
            <p:spPr>
              <a:xfrm flipH="1">
                <a:off x="7449699" y="2614483"/>
                <a:ext cx="7670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7" name="矩形: 圓角 126">
                <a:extLst>
                  <a:ext uri="{FF2B5EF4-FFF2-40B4-BE49-F238E27FC236}">
                    <a16:creationId xmlns:a16="http://schemas.microsoft.com/office/drawing/2014/main" id="{53C549A5-999E-64E3-9B66-C549447A4807}"/>
                  </a:ext>
                </a:extLst>
              </p:cNvPr>
              <p:cNvSpPr/>
              <p:nvPr/>
            </p:nvSpPr>
            <p:spPr>
              <a:xfrm>
                <a:off x="6948264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8" name="矩形: 圓角 127">
                <a:extLst>
                  <a:ext uri="{FF2B5EF4-FFF2-40B4-BE49-F238E27FC236}">
                    <a16:creationId xmlns:a16="http://schemas.microsoft.com/office/drawing/2014/main" id="{798E2173-9DB8-9E98-4E1B-543E6352D905}"/>
                  </a:ext>
                </a:extLst>
              </p:cNvPr>
              <p:cNvSpPr/>
              <p:nvPr/>
            </p:nvSpPr>
            <p:spPr>
              <a:xfrm>
                <a:off x="6943217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Linear/SM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9" name="矩形: 圓角 118">
                <a:extLst>
                  <a:ext uri="{FF2B5EF4-FFF2-40B4-BE49-F238E27FC236}">
                    <a16:creationId xmlns:a16="http://schemas.microsoft.com/office/drawing/2014/main" id="{68D4254A-F22C-4427-B75E-6C46E56E92BA}"/>
                  </a:ext>
                </a:extLst>
              </p:cNvPr>
              <p:cNvSpPr/>
              <p:nvPr/>
            </p:nvSpPr>
            <p:spPr>
              <a:xfrm>
                <a:off x="6935547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3" name="矩形: 圓角 132">
              <a:extLst>
                <a:ext uri="{FF2B5EF4-FFF2-40B4-BE49-F238E27FC236}">
                  <a16:creationId xmlns:a16="http://schemas.microsoft.com/office/drawing/2014/main" id="{4D690126-61CA-F258-22BB-2E940F65C604}"/>
                </a:ext>
              </a:extLst>
            </p:cNvPr>
            <p:cNvSpPr/>
            <p:nvPr/>
          </p:nvSpPr>
          <p:spPr>
            <a:xfrm>
              <a:off x="6802972" y="1630144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50" name="矩形: 圓角 149">
              <a:extLst>
                <a:ext uri="{FF2B5EF4-FFF2-40B4-BE49-F238E27FC236}">
                  <a16:creationId xmlns:a16="http://schemas.microsoft.com/office/drawing/2014/main" id="{21AD1A59-C006-E11E-9DBF-E1BF5F701EE1}"/>
                </a:ext>
              </a:extLst>
            </p:cNvPr>
            <p:cNvSpPr/>
            <p:nvPr/>
          </p:nvSpPr>
          <p:spPr>
            <a:xfrm>
              <a:off x="6991754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incredible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799DB70C-EBA6-1AAB-5610-9E44A9B19D1E}"/>
              </a:ext>
            </a:extLst>
          </p:cNvPr>
          <p:cNvGrpSpPr/>
          <p:nvPr/>
        </p:nvGrpSpPr>
        <p:grpSpPr>
          <a:xfrm>
            <a:off x="899592" y="1196752"/>
            <a:ext cx="1310140" cy="4410291"/>
            <a:chOff x="1835696" y="1196752"/>
            <a:chExt cx="1310140" cy="4410291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8FE5E1F0-4507-2709-72C4-FBC1F3D5EE4F}"/>
                </a:ext>
              </a:extLst>
            </p:cNvPr>
            <p:cNvSpPr txBox="1"/>
            <p:nvPr/>
          </p:nvSpPr>
          <p:spPr>
            <a:xfrm>
              <a:off x="1941876" y="1196752"/>
              <a:ext cx="1104790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zh-TW" altLang="zh-TW" dirty="0"/>
                <a:t>E</a:t>
              </a:r>
              <a:r>
                <a:rPr lang="en-US" altLang="zh-TW" dirty="0"/>
                <a:t>2B</a:t>
              </a:r>
              <a:r>
                <a:rPr lang="zh-TW" altLang="en-US" dirty="0"/>
                <a:t> </a:t>
              </a:r>
              <a:r>
                <a:rPr lang="en-US" altLang="zh-TW" dirty="0"/>
                <a:t>|</a:t>
              </a:r>
              <a:r>
                <a:rPr lang="zh-TW" altLang="en-US" dirty="0"/>
                <a:t> </a:t>
              </a:r>
              <a:r>
                <a:rPr lang="en-US" altLang="zh-TW" dirty="0"/>
                <a:t>E4B</a:t>
              </a:r>
              <a:endParaRPr lang="zh-TW" altLang="en-US" dirty="0"/>
            </a:p>
          </p:txBody>
        </p:sp>
        <p:sp>
          <p:nvSpPr>
            <p:cNvPr id="100" name="矩形: 圓角 99">
              <a:extLst>
                <a:ext uri="{FF2B5EF4-FFF2-40B4-BE49-F238E27FC236}">
                  <a16:creationId xmlns:a16="http://schemas.microsoft.com/office/drawing/2014/main" id="{7FDED451-8F6A-446D-1B14-B4E0156FD4D3}"/>
                </a:ext>
              </a:extLst>
            </p:cNvPr>
            <p:cNvSpPr/>
            <p:nvPr/>
          </p:nvSpPr>
          <p:spPr>
            <a:xfrm>
              <a:off x="1837042" y="1628800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9" name="矩形: 圓角 98">
              <a:extLst>
                <a:ext uri="{FF2B5EF4-FFF2-40B4-BE49-F238E27FC236}">
                  <a16:creationId xmlns:a16="http://schemas.microsoft.com/office/drawing/2014/main" id="{881310D7-8296-869F-341C-281D4F2B10A5}"/>
                </a:ext>
              </a:extLst>
            </p:cNvPr>
            <p:cNvSpPr/>
            <p:nvPr/>
          </p:nvSpPr>
          <p:spPr>
            <a:xfrm>
              <a:off x="1982334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2" name="矩形: 圓角 101">
              <a:extLst>
                <a:ext uri="{FF2B5EF4-FFF2-40B4-BE49-F238E27FC236}">
                  <a16:creationId xmlns:a16="http://schemas.microsoft.com/office/drawing/2014/main" id="{DC949A37-E7DC-E21F-C0D1-12CF26477043}"/>
                </a:ext>
              </a:extLst>
            </p:cNvPr>
            <p:cNvSpPr/>
            <p:nvPr/>
          </p:nvSpPr>
          <p:spPr>
            <a:xfrm>
              <a:off x="1977287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FF1A4766-120F-EEDC-A210-B9D7EE35980C}"/>
                </a:ext>
              </a:extLst>
            </p:cNvPr>
            <p:cNvSpPr/>
            <p:nvPr/>
          </p:nvSpPr>
          <p:spPr>
            <a:xfrm>
              <a:off x="2026681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efficient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8D6DCFFB-C0BB-FCC4-011F-2270F791AC7D}"/>
                </a:ext>
              </a:extLst>
            </p:cNvPr>
            <p:cNvGrpSpPr/>
            <p:nvPr/>
          </p:nvGrpSpPr>
          <p:grpSpPr>
            <a:xfrm>
              <a:off x="1835696" y="2614483"/>
              <a:ext cx="1310140" cy="2115382"/>
              <a:chOff x="1835696" y="2614483"/>
              <a:chExt cx="1310140" cy="2115382"/>
            </a:xfrm>
          </p:grpSpPr>
          <p:sp>
            <p:nvSpPr>
              <p:cNvPr id="55" name="矩形: 圓角 54">
                <a:extLst>
                  <a:ext uri="{FF2B5EF4-FFF2-40B4-BE49-F238E27FC236}">
                    <a16:creationId xmlns:a16="http://schemas.microsoft.com/office/drawing/2014/main" id="{61356441-B1DA-3ADB-EAD9-6303F990BAB9}"/>
                  </a:ext>
                </a:extLst>
              </p:cNvPr>
              <p:cNvSpPr/>
              <p:nvPr/>
            </p:nvSpPr>
            <p:spPr>
              <a:xfrm>
                <a:off x="1982334" y="4486691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7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b="1" dirty="0">
                    <a:solidFill>
                      <a:schemeClr val="accent2">
                        <a:lumMod val="50000"/>
                      </a:schemeClr>
                    </a:solidFill>
                  </a:rPr>
                  <a:t>PLE</a:t>
                </a:r>
                <a:endParaRPr lang="zh-TW" altLang="en-US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1" name="矩形: 圓角 60">
                <a:extLst>
                  <a:ext uri="{FF2B5EF4-FFF2-40B4-BE49-F238E27FC236}">
                    <a16:creationId xmlns:a16="http://schemas.microsoft.com/office/drawing/2014/main" id="{EAAF1AF3-F61B-22E1-64D4-AB6882B54946}"/>
                  </a:ext>
                </a:extLst>
              </p:cNvPr>
              <p:cNvSpPr/>
              <p:nvPr/>
            </p:nvSpPr>
            <p:spPr>
              <a:xfrm>
                <a:off x="196961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2" name="矩形: 圓角 61">
                <a:extLst>
                  <a:ext uri="{FF2B5EF4-FFF2-40B4-BE49-F238E27FC236}">
                    <a16:creationId xmlns:a16="http://schemas.microsoft.com/office/drawing/2014/main" id="{F27226A8-618A-460B-F7B0-9A91FD798FE0}"/>
                  </a:ext>
                </a:extLst>
              </p:cNvPr>
              <p:cNvSpPr/>
              <p:nvPr/>
            </p:nvSpPr>
            <p:spPr>
              <a:xfrm>
                <a:off x="1969617" y="402749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Dense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7" name="矩形: 圓角 66">
                <a:extLst>
                  <a:ext uri="{FF2B5EF4-FFF2-40B4-BE49-F238E27FC236}">
                    <a16:creationId xmlns:a16="http://schemas.microsoft.com/office/drawing/2014/main" id="{446D0A23-CFB0-77CF-6681-193B02CD4BC2}"/>
                  </a:ext>
                </a:extLst>
              </p:cNvPr>
              <p:cNvSpPr/>
              <p:nvPr/>
            </p:nvSpPr>
            <p:spPr>
              <a:xfrm>
                <a:off x="196961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EDC9D96B-FA70-8B28-F060-321A9F715380}"/>
                  </a:ext>
                </a:extLst>
              </p:cNvPr>
              <p:cNvSpPr/>
              <p:nvPr/>
            </p:nvSpPr>
            <p:spPr>
              <a:xfrm>
                <a:off x="1835696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73" name="接點: 肘形 72">
                <a:extLst>
                  <a:ext uri="{FF2B5EF4-FFF2-40B4-BE49-F238E27FC236}">
                    <a16:creationId xmlns:a16="http://schemas.microsoft.com/office/drawing/2014/main" id="{BB3A8C32-3EB2-F686-CAC5-BB82165F1204}"/>
                  </a:ext>
                </a:extLst>
              </p:cNvPr>
              <p:cNvCxnSpPr>
                <a:cxnSpLocks/>
                <a:stCxn id="55" idx="2"/>
                <a:endCxn id="68" idx="0"/>
              </p:cNvCxnSpPr>
              <p:nvPr/>
            </p:nvCxnSpPr>
            <p:spPr>
              <a:xfrm rot="5400000" flipH="1">
                <a:off x="1435935" y="3669314"/>
                <a:ext cx="2115382" cy="5720"/>
              </a:xfrm>
              <a:prstGeom prst="bentConnector5">
                <a:avLst>
                  <a:gd name="adj1" fmla="val -10807"/>
                  <a:gd name="adj2" fmla="val 15548776"/>
                  <a:gd name="adj3" fmla="val 110807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線單箭頭接點 86">
                <a:extLst>
                  <a:ext uri="{FF2B5EF4-FFF2-40B4-BE49-F238E27FC236}">
                    <a16:creationId xmlns:a16="http://schemas.microsoft.com/office/drawing/2014/main" id="{63FC822F-BBDF-C96A-17A9-7AD6F755BD97}"/>
                  </a:ext>
                </a:extLst>
              </p:cNvPr>
              <p:cNvCxnSpPr>
                <a:cxnSpLocks/>
                <a:stCxn id="61" idx="2"/>
                <a:endCxn id="67" idx="0"/>
              </p:cNvCxnSpPr>
              <p:nvPr/>
            </p:nvCxnSpPr>
            <p:spPr>
              <a:xfrm>
                <a:off x="248376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線單箭頭接點 87">
                <a:extLst>
                  <a:ext uri="{FF2B5EF4-FFF2-40B4-BE49-F238E27FC236}">
                    <a16:creationId xmlns:a16="http://schemas.microsoft.com/office/drawing/2014/main" id="{3D72D62E-80EC-57FB-06BC-90D556BA0ECA}"/>
                  </a:ext>
                </a:extLst>
              </p:cNvPr>
              <p:cNvCxnSpPr>
                <a:cxnSpLocks/>
                <a:stCxn id="68" idx="0"/>
                <a:endCxn id="61" idx="0"/>
              </p:cNvCxnSpPr>
              <p:nvPr/>
            </p:nvCxnSpPr>
            <p:spPr>
              <a:xfrm flipH="1">
                <a:off x="2483769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矩形: 圓角 1">
                <a:extLst>
                  <a:ext uri="{FF2B5EF4-FFF2-40B4-BE49-F238E27FC236}">
                    <a16:creationId xmlns:a16="http://schemas.microsoft.com/office/drawing/2014/main" id="{67C984C6-AE48-5B4C-8B8F-BCE826BB52F8}"/>
                  </a:ext>
                </a:extLst>
              </p:cNvPr>
              <p:cNvSpPr/>
              <p:nvPr/>
            </p:nvSpPr>
            <p:spPr>
              <a:xfrm>
                <a:off x="2589697" y="3146727"/>
                <a:ext cx="410174" cy="473363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Static</a:t>
                </a:r>
              </a:p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Lookup</a:t>
                </a:r>
                <a:endParaRPr lang="zh-TW" altLang="en-US" sz="10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0" name="矩形: 圓角 59">
                <a:extLst>
                  <a:ext uri="{FF2B5EF4-FFF2-40B4-BE49-F238E27FC236}">
                    <a16:creationId xmlns:a16="http://schemas.microsoft.com/office/drawing/2014/main" id="{5016B45E-114D-E8BD-9EE1-4B3C5A0D4B8C}"/>
                  </a:ext>
                </a:extLst>
              </p:cNvPr>
              <p:cNvSpPr/>
              <p:nvPr/>
            </p:nvSpPr>
            <p:spPr>
              <a:xfrm>
                <a:off x="1969617" y="3169369"/>
                <a:ext cx="487505" cy="235949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QKV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</p:grpSp>
      <p:grpSp>
        <p:nvGrpSpPr>
          <p:cNvPr id="5" name="群組 4">
            <a:extLst>
              <a:ext uri="{FF2B5EF4-FFF2-40B4-BE49-F238E27FC236}">
                <a16:creationId xmlns:a16="http://schemas.microsoft.com/office/drawing/2014/main" id="{0F530714-EF5B-2630-007A-ABFDBA3A4E70}"/>
              </a:ext>
            </a:extLst>
          </p:cNvPr>
          <p:cNvGrpSpPr/>
          <p:nvPr/>
        </p:nvGrpSpPr>
        <p:grpSpPr>
          <a:xfrm>
            <a:off x="4536583" y="1202493"/>
            <a:ext cx="1310140" cy="4405650"/>
            <a:chOff x="3849298" y="1201393"/>
            <a:chExt cx="1310140" cy="4405650"/>
          </a:xfrm>
        </p:grpSpPr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58B6B9FF-7B9F-2491-3FC2-CF8C7AD3DBC1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-</a:t>
              </a:r>
              <a:endParaRPr lang="zh-TW" altLang="en-US" dirty="0"/>
            </a:p>
          </p:txBody>
        </p:sp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D054E660-EF42-CBD8-2FA6-2E3298DC2C2D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E0AFB556-52A6-E2AB-18CD-3ADA72D0E04B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5113E01A-30B8-BA91-6D84-593ABFD3736D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6AA99DBC-4A93-596D-730B-1CC8507C53A0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75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247504F2-BFF7-EA0D-04C9-B86B5B3A52E0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2226900-3C29-08A8-EAD2-7664F85C95AE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9" name="接點: 肘形 18">
                <a:extLst>
                  <a:ext uri="{FF2B5EF4-FFF2-40B4-BE49-F238E27FC236}">
                    <a16:creationId xmlns:a16="http://schemas.microsoft.com/office/drawing/2014/main" id="{777694FA-BA48-0FF7-8034-2CD9926E19F6}"/>
                  </a:ext>
                </a:extLst>
              </p:cNvPr>
              <p:cNvCxnSpPr>
                <a:cxnSpLocks/>
                <a:stCxn id="13" idx="2"/>
                <a:endCxn id="18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線單箭頭接點 19">
                <a:extLst>
                  <a:ext uri="{FF2B5EF4-FFF2-40B4-BE49-F238E27FC236}">
                    <a16:creationId xmlns:a16="http://schemas.microsoft.com/office/drawing/2014/main" id="{7B6BA61C-9084-7884-5020-CEFFC7798120}"/>
                  </a:ext>
                </a:extLst>
              </p:cNvPr>
              <p:cNvCxnSpPr>
                <a:cxnSpLocks/>
                <a:stCxn id="12" idx="2"/>
                <a:endCxn id="14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線單箭頭接點 20">
                <a:extLst>
                  <a:ext uri="{FF2B5EF4-FFF2-40B4-BE49-F238E27FC236}">
                    <a16:creationId xmlns:a16="http://schemas.microsoft.com/office/drawing/2014/main" id="{01FBAED6-2D73-EBDC-830A-9878D0105A6B}"/>
                  </a:ext>
                </a:extLst>
              </p:cNvPr>
              <p:cNvCxnSpPr>
                <a:cxnSpLocks/>
                <a:stCxn id="18" idx="0"/>
                <a:endCxn id="12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矩形: 圓角 21">
                <a:extLst>
                  <a:ext uri="{FF2B5EF4-FFF2-40B4-BE49-F238E27FC236}">
                    <a16:creationId xmlns:a16="http://schemas.microsoft.com/office/drawing/2014/main" id="{CB537D79-E32D-F0DE-65D0-E7A6483C7552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23" name="矩形: 圓角 22">
                <a:extLst>
                  <a:ext uri="{FF2B5EF4-FFF2-40B4-BE49-F238E27FC236}">
                    <a16:creationId xmlns:a16="http://schemas.microsoft.com/office/drawing/2014/main" id="{0D7E242E-1815-7182-58FA-019B7787C553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0DD3497E-0FD2-388D-087A-F837807E9DBD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1" name="矩形: 圓角 10">
              <a:extLst>
                <a:ext uri="{FF2B5EF4-FFF2-40B4-BE49-F238E27FC236}">
                  <a16:creationId xmlns:a16="http://schemas.microsoft.com/office/drawing/2014/main" id="{D807B372-9E93-7CCA-D200-CCCF76E64231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0AD46D94-09CD-F9AA-F2B7-BEACFE4A0E73}"/>
              </a:ext>
            </a:extLst>
          </p:cNvPr>
          <p:cNvSpPr/>
          <p:nvPr/>
        </p:nvSpPr>
        <p:spPr>
          <a:xfrm>
            <a:off x="5724128" y="4027493"/>
            <a:ext cx="547318" cy="243174"/>
          </a:xfrm>
          <a:prstGeom prst="roundRect">
            <a:avLst/>
          </a:prstGeom>
          <a:solidFill>
            <a:schemeClr val="accent2">
              <a:lumMod val="20000"/>
              <a:lumOff val="80000"/>
              <a:alpha val="4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 err="1">
                <a:solidFill>
                  <a:schemeClr val="accent2">
                    <a:lumMod val="50000"/>
                  </a:schemeClr>
                </a:solidFill>
              </a:rPr>
              <a:t>RoLA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0CB7A355-21C0-3E1F-35BD-27A7F03ADA4C}"/>
              </a:ext>
            </a:extLst>
          </p:cNvPr>
          <p:cNvSpPr txBox="1"/>
          <p:nvPr/>
        </p:nvSpPr>
        <p:spPr>
          <a:xfrm>
            <a:off x="513010" y="971049"/>
            <a:ext cx="792088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2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E</a:t>
            </a:r>
            <a:r>
              <a:rPr lang="en-US" altLang="zh-TW" sz="120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fficient/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E</a:t>
            </a:r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dge</a:t>
            </a:r>
            <a:endParaRPr lang="en-US" altLang="zh-TW" sz="12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Comparison of Language Models</a:t>
            </a:r>
          </a:p>
          <a:p>
            <a:pPr marL="285750" indent="-285750">
              <a:buFontTx/>
              <a:buChar char="-"/>
            </a:pPr>
            <a:r>
              <a:rPr lang="en-US" altLang="zh-TW" sz="1400" dirty="0" err="1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Cx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3D3B2A-2DEC-1253-A1E1-B3380B49BA63}"/>
              </a:ext>
            </a:extLst>
          </p:cNvPr>
          <p:cNvSpPr txBox="1"/>
          <p:nvPr/>
        </p:nvSpPr>
        <p:spPr>
          <a:xfrm>
            <a:off x="683568" y="5229200"/>
            <a:ext cx="5217715" cy="1075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, for example YOLO.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altLang="zh-TW" sz="12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Leading Frameworks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Deploying and fine-tuning your own LLM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is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now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easier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than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ever. (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框架可以做的事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3998326"/>
              </p:ext>
            </p:extLst>
          </p:nvPr>
        </p:nvGraphicFramePr>
        <p:xfrm>
          <a:off x="323528" y="1484784"/>
          <a:ext cx="8496944" cy="3028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17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936818418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en-US" altLang="zh-TW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Axolotl +</a:t>
                      </a:r>
                    </a:p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Llama3/Mistral</a:t>
                      </a: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Llama3, Mistral, 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Mistral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LLMA-Factory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Continued PT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PEFT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Library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/FSDP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F99B597-7909-D1DA-8454-006A2FB29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D35E8E5C-914A-198C-6F71-81C8CF8D75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529344"/>
              </p:ext>
            </p:extLst>
          </p:nvPr>
        </p:nvGraphicFramePr>
        <p:xfrm>
          <a:off x="459210" y="4077072"/>
          <a:ext cx="8225582" cy="2111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54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30775468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3248398504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668600716"/>
                    </a:ext>
                  </a:extLst>
                </a:gridCol>
              </a:tblGrid>
              <a:tr h="232026">
                <a:tc rowSpan="2"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b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32026">
                <a:tc vMerge="1"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Routing/PLE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Prompt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Reasoning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(Math)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(Language)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Instruction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(Following)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Long-Context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(Retrieval)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134548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Alignment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(Safety)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149316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8726591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09D16506-3A81-A8F0-9750-304184876E06}"/>
              </a:ext>
            </a:extLst>
          </p:cNvPr>
          <p:cNvSpPr txBox="1"/>
          <p:nvPr/>
        </p:nvSpPr>
        <p:spPr>
          <a:xfrm>
            <a:off x="495400" y="1509949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Engineering Index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Latency</a:t>
            </a:r>
            <a:r>
              <a:rPr lang="en-US" altLang="zh-TW" sz="1600" dirty="0">
                <a:solidFill>
                  <a:prstClr val="black"/>
                </a:solidFill>
              </a:rPr>
              <a:t>: Time to first token (TTFT)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Throughput: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Tokens per second (TPS)</a:t>
            </a:r>
          </a:p>
          <a:p>
            <a:pPr marL="285750" lvl="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Cost Efficiency: </a:t>
            </a:r>
            <a:r>
              <a:rPr lang="en-US" altLang="zh-TW" sz="1600" dirty="0">
                <a:solidFill>
                  <a:prstClr val="black"/>
                </a:solidFill>
              </a:rPr>
              <a:t>Cost per token 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0FDB6D11-60C8-5A2F-2DF3-BC903F9F91EF}"/>
              </a:ext>
            </a:extLst>
          </p:cNvPr>
          <p:cNvSpPr txBox="1"/>
          <p:nvPr/>
        </p:nvSpPr>
        <p:spPr>
          <a:xfrm>
            <a:off x="3030926" y="3640242"/>
            <a:ext cx="4104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每個階段的成本分析</a:t>
            </a:r>
            <a:r>
              <a:rPr lang="en-US" altLang="zh-TW" dirty="0"/>
              <a:t>(</a:t>
            </a:r>
            <a:r>
              <a:rPr lang="zh-TW" altLang="en-US" dirty="0"/>
              <a:t>時間</a:t>
            </a:r>
            <a:r>
              <a:rPr lang="en-US" altLang="zh-TW" dirty="0"/>
              <a:t>, </a:t>
            </a:r>
            <a:r>
              <a:rPr lang="zh-TW" altLang="en-US" dirty="0"/>
              <a:t>金錢</a:t>
            </a:r>
            <a:r>
              <a:rPr lang="en-US" altLang="zh-TW" dirty="0"/>
              <a:t>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07935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>
                <a:solidFill>
                  <a:prstClr val="black"/>
                </a:solidFill>
              </a:rPr>
              <a:t>Ollama,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Ollama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</a:t>
            </a:r>
            <a:r>
              <a:rPr lang="en-US" altLang="zh-CN" sz="1350" b="1" dirty="0" err="1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ReAct</a:t>
            </a:r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</m:t>
                      </m:r>
                      <m:r>
                        <m:rPr>
                          <m:nor/>
                        </m:rPr>
                        <a:rPr lang="zh-TW" altLang="en-US" sz="90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(</m:t>
                      </m:r>
                      <m:r>
                        <m:rPr>
                          <m:nor/>
                        </m:rPr>
                        <a:rPr lang="zh-TW" altLang="en-US" sz="90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Block</m:t>
                      </m:r>
                      <m:r>
                        <m:rPr>
                          <m:nor/>
                        </m:rPr>
                        <a:rPr lang="zh-TW" altLang="en-US" sz="90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</m:t>
                      </m:r>
                      <m:r>
                        <m:rPr>
                          <m:nor/>
                        </m:rPr>
                        <a:rPr lang="zh-TW" altLang="en-US" sz="90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256</m:t>
                      </m:r>
                      <m:d>
                        <m:dPr>
                          <m:ctrlPr>
                            <a:rPr lang="zh-TW" altLang="en-US" sz="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</m:t>
                          </m:r>
                          <m:r>
                            <m:rPr>
                              <m:nor/>
                            </m:rPr>
                            <a:rPr lang="zh-TW" altLang="en-US" sz="90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zh-TW" altLang="en-US" sz="90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1 的內容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 err="1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en-US" altLang="zh-TW" sz="600" dirty="0" err="1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en-US" altLang="zh-TW" sz="600" dirty="0" err="1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 err="1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en-US" altLang="zh-TW" sz="600" dirty="0" err="1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 err="1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en-US" altLang="zh-TW" sz="600" dirty="0" err="1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</a:t>
            </a:r>
            <a:r>
              <a:rPr lang="en-US" altLang="zh-CN" sz="600" dirty="0" err="1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Ollama</a:t>
            </a:r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</a:t>
            </a:r>
            <a:r>
              <a:rPr lang="en-US" altLang="zh-CN" sz="600" dirty="0" err="1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lm</a:t>
            </a:r>
            <a:endParaRPr lang="en-US" altLang="zh-CN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282</TotalTime>
  <Words>9788</Words>
  <Application>Microsoft Office PowerPoint</Application>
  <PresentationFormat>如螢幕大小 (4:3)</PresentationFormat>
  <Paragraphs>1174</Paragraphs>
  <Slides>20</Slides>
  <Notes>19</Notes>
  <HiddenSlides>1</HiddenSlides>
  <MMClips>0</MMClips>
  <ScaleCrop>false</ScaleCrop>
  <HeadingPairs>
    <vt:vector size="6" baseType="variant">
      <vt:variant>
        <vt:lpstr>使用字型</vt:lpstr>
      </vt:variant>
      <vt:variant>
        <vt:i4>13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</vt:i4>
      </vt:variant>
    </vt:vector>
  </HeadingPairs>
  <TitlesOfParts>
    <vt:vector size="34" baseType="lpstr">
      <vt:lpstr>Meiryo</vt:lpstr>
      <vt:lpstr>Noto Sans HK</vt:lpstr>
      <vt:lpstr>Noto Sans TC</vt:lpstr>
      <vt:lpstr>微軟正黑體</vt:lpstr>
      <vt:lpstr>微軟正黑體 Light</vt:lpstr>
      <vt:lpstr>ADLaM Display</vt:lpstr>
      <vt:lpstr>Arial</vt:lpstr>
      <vt:lpstr>Calibri</vt:lpstr>
      <vt:lpstr>Cambria Math</vt:lpstr>
      <vt:lpstr>Comic Sans MS</vt:lpstr>
      <vt:lpstr>Consolas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1684</cp:revision>
  <cp:lastPrinted>2024-07-30T01:44:15Z</cp:lastPrinted>
  <dcterms:created xsi:type="dcterms:W3CDTF">2019-11-08T03:01:47Z</dcterms:created>
  <dcterms:modified xsi:type="dcterms:W3CDTF">2026-07-08T09:32:00Z</dcterms:modified>
</cp:coreProperties>
</file>