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7"/>
  </p:notesMasterIdLst>
  <p:handoutMasterIdLst>
    <p:handoutMasterId r:id="rId8"/>
  </p:handoutMasterIdLst>
  <p:sldIdLst>
    <p:sldId id="3557" r:id="rId2"/>
    <p:sldId id="3558" r:id="rId3"/>
    <p:sldId id="3508" r:id="rId4"/>
    <p:sldId id="3559" r:id="rId5"/>
    <p:sldId id="3550" r:id="rId6"/>
  </p:sldIdLst>
  <p:sldSz cx="9144000" cy="6858000" type="screen4x3"/>
  <p:notesSz cx="6797675" cy="992505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Models" id="{5A048767-0D58-44AF-B962-12C29493294F}">
          <p14:sldIdLst>
            <p14:sldId id="3557"/>
            <p14:sldId id="3558"/>
            <p14:sldId id="3508"/>
            <p14:sldId id="3559"/>
          </p14:sldIdLst>
        </p14:section>
        <p14:section name="Conclusion" id="{D9E6914C-A73F-4176-B0F8-3F87EAC09119}">
          <p14:sldIdLst>
            <p14:sldId id="3550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1474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DEF1DDEA-D49D-B2A5-9D83-8BDFFC6C721F}" name="Allen Ni(倪士凱)" initials="AN" userId="S::ani@centrilliontech.com.tw::64a9ee61-01eb-41d1-8925-9f522fa76fb2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DF3DB"/>
    <a:srgbClr val="2260DC"/>
    <a:srgbClr val="F0F0F0"/>
    <a:srgbClr val="F8D462"/>
    <a:srgbClr val="4C6BFF"/>
    <a:srgbClr val="FF9900"/>
    <a:srgbClr val="FEC203"/>
    <a:srgbClr val="3079EF"/>
    <a:srgbClr val="B8EACA"/>
    <a:srgbClr val="FF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等深淺樣式 2 - 輔色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無樣式、表格格線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69CF1AB2-1976-4502-BF36-3FF5EA218861}" styleName="中等深淺樣式 4 - 輔色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  <a:tblStyle styleId="{2D5ABB26-0587-4C30-8999-92F81FD0307C}" styleName="無樣式、無格線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0010" autoAdjust="0"/>
    <p:restoredTop sz="75806" autoAdjust="0"/>
  </p:normalViewPr>
  <p:slideViewPr>
    <p:cSldViewPr>
      <p:cViewPr>
        <p:scale>
          <a:sx n="100" d="100"/>
          <a:sy n="100" d="100"/>
        </p:scale>
        <p:origin x="1584" y="738"/>
      </p:cViewPr>
      <p:guideLst>
        <p:guide orient="horz" pos="2160"/>
        <p:guide pos="1474"/>
      </p:guideLst>
    </p:cSldViewPr>
  </p:slideViewPr>
  <p:outlineViewPr>
    <p:cViewPr>
      <p:scale>
        <a:sx n="33" d="100"/>
        <a:sy n="33" d="100"/>
      </p:scale>
      <p:origin x="0" y="-1075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>
      <p:cViewPr varScale="1">
        <p:scale>
          <a:sx n="96" d="100"/>
          <a:sy n="96" d="100"/>
        </p:scale>
        <p:origin x="2784" y="96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handoutMaster" Target="handoutMasters/handoutMaster1.xml"/><Relationship Id="rId13" Type="http://schemas.microsoft.com/office/2018/10/relationships/authors" Target="authors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>
            <a:extLst>
              <a:ext uri="{FF2B5EF4-FFF2-40B4-BE49-F238E27FC236}">
                <a16:creationId xmlns:a16="http://schemas.microsoft.com/office/drawing/2014/main" id="{8509AA70-DCA8-F2B3-665C-D289623E1626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2" y="0"/>
            <a:ext cx="2945659" cy="497976"/>
          </a:xfrm>
          <a:prstGeom prst="rect">
            <a:avLst/>
          </a:prstGeom>
        </p:spPr>
        <p:txBody>
          <a:bodyPr vert="horz" lIns="91430" tIns="45714" rIns="91430" bIns="45714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日期版面配置區 2">
            <a:extLst>
              <a:ext uri="{FF2B5EF4-FFF2-40B4-BE49-F238E27FC236}">
                <a16:creationId xmlns:a16="http://schemas.microsoft.com/office/drawing/2014/main" id="{260D9017-2A20-36CB-3124-1CE24A164FFA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50445" y="0"/>
            <a:ext cx="2945659" cy="497976"/>
          </a:xfrm>
          <a:prstGeom prst="rect">
            <a:avLst/>
          </a:prstGeom>
        </p:spPr>
        <p:txBody>
          <a:bodyPr vert="horz" lIns="91430" tIns="45714" rIns="91430" bIns="45714" rtlCol="0"/>
          <a:lstStyle>
            <a:lvl1pPr algn="r">
              <a:defRPr sz="1200"/>
            </a:lvl1pPr>
          </a:lstStyle>
          <a:p>
            <a:fld id="{982F7CBC-87DD-4F69-8F50-7ED68F7FF790}" type="datetimeFigureOut">
              <a:rPr lang="zh-TW" altLang="en-US" smtClean="0"/>
              <a:t>2026/10/30</a:t>
            </a:fld>
            <a:endParaRPr lang="zh-TW" altLang="en-US"/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72E2BC4B-E97F-2930-F9D4-22EF7E0E14E0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2" y="9427077"/>
            <a:ext cx="2945659" cy="497975"/>
          </a:xfrm>
          <a:prstGeom prst="rect">
            <a:avLst/>
          </a:prstGeom>
        </p:spPr>
        <p:txBody>
          <a:bodyPr vert="horz" lIns="91430" tIns="45714" rIns="91430" bIns="45714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F9105500-21C2-E70A-A08C-9E9E3094A4E0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50445" y="9427077"/>
            <a:ext cx="2945659" cy="497975"/>
          </a:xfrm>
          <a:prstGeom prst="rect">
            <a:avLst/>
          </a:prstGeom>
        </p:spPr>
        <p:txBody>
          <a:bodyPr vert="horz" lIns="91430" tIns="45714" rIns="91430" bIns="45714" rtlCol="0" anchor="b"/>
          <a:lstStyle>
            <a:lvl1pPr algn="r">
              <a:defRPr sz="1200"/>
            </a:lvl1pPr>
          </a:lstStyle>
          <a:p>
            <a:fld id="{30EF305C-901E-49EC-B839-B172F9488209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9519013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2" y="1"/>
            <a:ext cx="2945659" cy="496253"/>
          </a:xfrm>
          <a:prstGeom prst="rect">
            <a:avLst/>
          </a:prstGeom>
        </p:spPr>
        <p:txBody>
          <a:bodyPr vert="horz" lIns="91430" tIns="45714" rIns="91430" bIns="45714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idx="1"/>
          </p:nvPr>
        </p:nvSpPr>
        <p:spPr>
          <a:xfrm>
            <a:off x="3850445" y="1"/>
            <a:ext cx="2945659" cy="496253"/>
          </a:xfrm>
          <a:prstGeom prst="rect">
            <a:avLst/>
          </a:prstGeom>
        </p:spPr>
        <p:txBody>
          <a:bodyPr vert="horz" lIns="91430" tIns="45714" rIns="91430" bIns="45714" rtlCol="0"/>
          <a:lstStyle>
            <a:lvl1pPr algn="r">
              <a:defRPr sz="1200"/>
            </a:lvl1pPr>
          </a:lstStyle>
          <a:p>
            <a:fld id="{863167AA-796B-4B6A-95ED-1C0BCB3E5802}" type="datetimeFigureOut">
              <a:rPr lang="zh-TW" altLang="en-US" smtClean="0"/>
              <a:t>2026/10/30</a:t>
            </a:fld>
            <a:endParaRPr lang="zh-TW" altLang="en-US"/>
          </a:p>
        </p:txBody>
      </p:sp>
      <p:sp>
        <p:nvSpPr>
          <p:cNvPr id="4" name="投影片圖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917575" y="744538"/>
            <a:ext cx="4962525" cy="37226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30" tIns="45714" rIns="91430" bIns="45714" rtlCol="0" anchor="ctr"/>
          <a:lstStyle/>
          <a:p>
            <a:endParaRPr lang="zh-TW" altLang="en-US"/>
          </a:p>
        </p:txBody>
      </p:sp>
      <p:sp>
        <p:nvSpPr>
          <p:cNvPr id="5" name="備忘稿版面配置區 4"/>
          <p:cNvSpPr>
            <a:spLocks noGrp="1"/>
          </p:cNvSpPr>
          <p:nvPr>
            <p:ph type="body" sz="quarter" idx="3"/>
          </p:nvPr>
        </p:nvSpPr>
        <p:spPr>
          <a:xfrm>
            <a:off x="679768" y="4714400"/>
            <a:ext cx="5438140" cy="4466272"/>
          </a:xfrm>
          <a:prstGeom prst="rect">
            <a:avLst/>
          </a:prstGeom>
        </p:spPr>
        <p:txBody>
          <a:bodyPr vert="horz" lIns="91430" tIns="45714" rIns="91430" bIns="45714" rtlCol="0"/>
          <a:lstStyle/>
          <a:p>
            <a:pPr lvl="0"/>
            <a:r>
              <a:rPr lang="zh-TW" altLang="en-US" dirty="0"/>
              <a:t>按一下以編輯母片文字樣式</a:t>
            </a:r>
          </a:p>
          <a:p>
            <a:pPr lvl="1"/>
            <a:r>
              <a:rPr lang="zh-TW" altLang="en-US" dirty="0"/>
              <a:t>第二層</a:t>
            </a:r>
          </a:p>
          <a:p>
            <a:pPr lvl="2"/>
            <a:r>
              <a:rPr lang="zh-TW" altLang="en-US" dirty="0"/>
              <a:t>第三層</a:t>
            </a:r>
          </a:p>
          <a:p>
            <a:pPr lvl="3"/>
            <a:r>
              <a:rPr lang="zh-TW" altLang="en-US" dirty="0"/>
              <a:t>第四層</a:t>
            </a:r>
          </a:p>
          <a:p>
            <a:pPr lvl="4"/>
            <a:r>
              <a:rPr lang="zh-TW" altLang="en-US" dirty="0"/>
              <a:t>第五層</a:t>
            </a:r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4"/>
          </p:nvPr>
        </p:nvSpPr>
        <p:spPr>
          <a:xfrm>
            <a:off x="2" y="9427075"/>
            <a:ext cx="2945659" cy="496253"/>
          </a:xfrm>
          <a:prstGeom prst="rect">
            <a:avLst/>
          </a:prstGeom>
        </p:spPr>
        <p:txBody>
          <a:bodyPr vert="horz" lIns="91430" tIns="45714" rIns="91430" bIns="45714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5"/>
          </p:nvPr>
        </p:nvSpPr>
        <p:spPr>
          <a:xfrm>
            <a:off x="3850445" y="9427075"/>
            <a:ext cx="2945659" cy="496253"/>
          </a:xfrm>
          <a:prstGeom prst="rect">
            <a:avLst/>
          </a:prstGeom>
        </p:spPr>
        <p:txBody>
          <a:bodyPr vert="horz" lIns="91430" tIns="45714" rIns="91430" bIns="45714" rtlCol="0" anchor="b"/>
          <a:lstStyle>
            <a:lvl1pPr algn="r">
              <a:defRPr sz="1200"/>
            </a:lvl1pPr>
          </a:lstStyle>
          <a:p>
            <a:fld id="{E3A6CE5E-F349-486D-8749-82EF2AD71FA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33600953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huggingface.co/taide" TargetMode="External"/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Relationship Id="rId5" Type="http://schemas.openxmlformats.org/officeDocument/2006/relationships/hyperlink" Target="https://huggingface.co/collections/MediaTek-Research/breeze-2-family" TargetMode="External"/><Relationship Id="rId4" Type="http://schemas.openxmlformats.org/officeDocument/2006/relationships/hyperlink" Target="https://huggingface.co/UOfficeForceX/Tame-Llama3" TargetMode="Externa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RD:</a:t>
            </a:r>
            <a:r>
              <a:rPr lang="zh-TW" altLang="en-US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Deduc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e(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演繹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):</a:t>
            </a:r>
            <a:r>
              <a:rPr lang="zh-TW" altLang="en-US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上而下 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原理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</a:t>
            </a:r>
            <a:r>
              <a:rPr lang="zh-TW" altLang="en-US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想法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→ 結論）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AI:</a:t>
            </a:r>
            <a:r>
              <a:rPr lang="zh-TW" altLang="en-US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Induction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歸納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):</a:t>
            </a:r>
            <a:r>
              <a:rPr lang="zh-TW" altLang="en-US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下而上 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en-US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數據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觀察</a:t>
            </a:r>
            <a:r>
              <a:rPr lang="zh-TW" altLang="en-US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→ 結論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b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b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en-US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結論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</a:t>
            </a:r>
            <a:b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1.</a:t>
            </a:r>
            <a:r>
              <a:rPr lang="zh-TW" altLang="en-US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科技發展終究要回到經濟面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en-US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可行性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2.</a:t>
            </a:r>
            <a:r>
              <a:rPr lang="zh-TW" altLang="en-US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諾貝爾物理獎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2024:</a:t>
            </a:r>
            <a:r>
              <a:rPr lang="zh-TW" altLang="en-US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因為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Hinton</a:t>
            </a:r>
            <a:r>
              <a:rPr lang="zh-TW" altLang="en-US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等人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</a:t>
            </a:r>
            <a:r>
              <a:rPr lang="zh-TW" altLang="en-US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將物理界的技術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”</a:t>
            </a:r>
            <a:r>
              <a:rPr lang="zh-TW" altLang="en-US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發揚光大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”</a:t>
            </a:r>
            <a:r>
              <a:rPr lang="zh-TW" altLang="en-US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到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AI</a:t>
            </a:r>
            <a:r>
              <a:rPr lang="zh-TW" altLang="en-US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界。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13746518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A82386-8862-3D84-2954-F944F4A03F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D405C2CD-BE5F-5B70-E908-0C9EDC011BC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211BFC0D-60CE-CC7B-0CB5-6565247F04B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RD:</a:t>
            </a:r>
            <a:r>
              <a:rPr lang="zh-TW" altLang="en-US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Deduc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e(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演繹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):</a:t>
            </a:r>
            <a:r>
              <a:rPr lang="zh-TW" altLang="en-US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上而下 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原理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</a:t>
            </a:r>
            <a:r>
              <a:rPr lang="zh-TW" altLang="en-US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想法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→ 結論）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AI:</a:t>
            </a:r>
            <a:r>
              <a:rPr lang="zh-TW" altLang="en-US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Induction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歸納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):</a:t>
            </a:r>
            <a:r>
              <a:rPr lang="zh-TW" altLang="en-US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下而上 </a:t>
            </a:r>
            <a:r>
              <a:rPr lang="en-US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en-US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數據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觀察</a:t>
            </a:r>
            <a:r>
              <a:rPr lang="zh-TW" altLang="en-US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→ 結論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b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b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zh-TW" altLang="en-US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結論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</a:t>
            </a:r>
            <a:b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1.</a:t>
            </a:r>
            <a:r>
              <a:rPr lang="zh-TW" altLang="en-US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科技發展終究要回到經濟面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(</a:t>
            </a:r>
            <a:r>
              <a:rPr lang="zh-TW" altLang="en-US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可行性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2.</a:t>
            </a:r>
            <a:r>
              <a:rPr lang="zh-TW" altLang="en-US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諾貝爾物理獎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2024:</a:t>
            </a:r>
            <a:r>
              <a:rPr lang="zh-TW" altLang="en-US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因為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Hinton</a:t>
            </a:r>
            <a:r>
              <a:rPr lang="zh-TW" altLang="en-US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等人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</a:t>
            </a:r>
            <a:r>
              <a:rPr lang="zh-TW" altLang="en-US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將物理界的技術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”</a:t>
            </a:r>
            <a:r>
              <a:rPr lang="zh-TW" altLang="en-US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發揚光大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”</a:t>
            </a:r>
            <a:r>
              <a:rPr lang="zh-TW" altLang="en-US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到</a:t>
            </a:r>
            <a:r>
              <a:rPr lang="en-US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AI</a:t>
            </a:r>
            <a:r>
              <a:rPr lang="zh-TW" altLang="en-US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界。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82490BEF-42B9-9F5B-A764-5B49328F813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03484620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ACE063-A9C3-2560-BC55-ACC769FCB3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EE20942C-B5F8-D9E2-69EB-E38D83E308E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E37B8BE8-9756-A873-B485-216A919B27C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551000B0-C76B-5CB5-0E01-DCEAF9B2D28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3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10327652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BAC273-7701-059D-CA5B-9915FD9ABE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4F258703-666C-945F-1D8B-8631A2A8168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72E3EDA9-DC83-A368-F430-96146D254BE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42FC81C7-7142-4DD4-03A7-698F97D97E3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4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28974980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台灣目前的主權 AI 發展策略，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全數以「開放權重（Open Weights/Open Source）」為核心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這些模型的模型權重與代碼，基本上都已經在主流的 AI 社群 Hugging Face 上開源，任何人都可以免費下載、進行地端部署，甚至提供給企業商業使用。 </a:t>
            </a: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以下是這些台灣開源模型的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具體釋出版版本與下載資源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</a:t>
            </a: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1. TAIDE 系列（官方國家隊）</a:t>
            </a: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TAIDE 計畫秉持「還財於民、推動在地產業」的精神，發布的版本皆為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可商用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的開源授權。</a:t>
            </a:r>
          </a:p>
          <a:p>
            <a:pPr lvl="0"/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旗艦推理版本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3"/>
              </a:rPr>
              <a:t>taide/Gemma-3-TAIDE-12b-Chat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（結合 Google Gemma 3 的多模態與長文本能力微調）。</a:t>
            </a:r>
          </a:p>
          <a:p>
            <a:pPr lvl="0"/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經典地端商用版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：TAIDE-LX-7B、TAIDE-LX-13B（基於 Llama 底座訓練）。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社群量化版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：有熱心網友製作了 GGUF 格式（如 Gemma-3-TAIDE-12b-Chat-Q4_K_M.gguf），讓使用者能用一般家用筆電的 CPU 直接跑地端。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vl="0"/>
            <a:endParaRPr lang="zh-TW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2. Project TAME 與 Taiwan-LLaMA 系列（學術與產業結盟）</a:t>
            </a: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台大陳縕儂教授團隊將模型成果完全回饋給開源社群，其衍生出的 Taiwan-LLaMA 更是台灣下載量最高的繁中開源系列之一。</a:t>
            </a:r>
          </a:p>
          <a:p>
            <a:pPr lvl="0"/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Project TAME 產業專家版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4"/>
              </a:rPr>
              <a:t>UOfficeForceX/Tame-Llama3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</a:p>
          <a:p>
            <a:pPr lvl="0"/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台灣通用對話版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：由林彥廷博士發布的 yentinglin/Llama-3-Taiwan-8B-Instruct 與 70B-Instruct（涵蓋 80 億與 700 億參數等級）。</a:t>
            </a:r>
          </a:p>
          <a:p>
            <a:pPr lvl="0"/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長文本外推版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：Llama-3-Taiwan-8B-Instruct-128k（支援 12.8 萬字上下文）。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最新底座升級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：社群也已跟進釋出 Llama-3.1-Taiwan-8B 及微型化的 Llama-3.2-Taiwan-3B 系列。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vl="0"/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vl="0"/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3. MediaTek Research (聯發科) Breeze 系列</a:t>
            </a:r>
          </a:p>
          <a:p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聯發科創新基地不僅開源了模型，還特別針對繁體中文優化了詞表，使中文推理速度比原生 Llama 快上許多。 </a:t>
            </a:r>
          </a:p>
          <a:p>
            <a:pPr lvl="0"/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Breeze 2 最新系列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  <a:hlinkClick r:id="rId5"/>
              </a:rPr>
              <a:t>MediaTek-Research/Llama-Breeze2-8B-Instruct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與 Llama-Breeze2-3B-Instruct。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混合專家 MoE 版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：Breexe-8x7B-Instruct-v0_1（適合需要更強大推理邏輯的場景）。</a:t>
            </a:r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vl="0"/>
            <a:endParaRPr lang="en-US" altLang="zh-TW" sz="1200" b="0" u="none" strike="noStrike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vl="0"/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4. 預告開源新勢力：FoxBrain（鴻海研究院）</a:t>
            </a:r>
          </a:p>
          <a:p>
            <a:pPr lvl="0"/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未來趨勢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：鴻海（Foxconn）也宣布研發首款以 Llama 3.1 70B 為基礎的繁中大型語言模型 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FoxBrain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，主打合成資料訓練與超強的數學、邏輯推理能力，並已規劃在後續完全</a:t>
            </a:r>
            <a:r>
              <a:rPr lang="zh-TW" altLang="zh-TW" sz="1200" b="1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開源</a:t>
            </a:r>
            <a:r>
              <a:rPr lang="zh-TW" altLang="zh-TW" sz="1200" b="0" u="none" strike="noStrike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。</a:t>
            </a:r>
          </a:p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5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16243138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9870950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Click="0">
        <p159:morph option="byObject"/>
      </p:transition>
    </mc:Choice>
    <mc:Fallback xmlns="">
      <p:transition spd="slow" advClick="0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7321017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Click="0">
        <p159:morph option="byObject"/>
      </p:transition>
    </mc:Choice>
    <mc:Fallback xmlns="">
      <p:transition spd="slow" advClick="0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87838240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Click="0">
        <p159:morph option="byObject"/>
      </p:transition>
    </mc:Choice>
    <mc:Fallback xmlns="">
      <p:transition spd="slow" advClick="0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頁尾版面配置區 4">
            <a:extLst>
              <a:ext uri="{FF2B5EF4-FFF2-40B4-BE49-F238E27FC236}">
                <a16:creationId xmlns:a16="http://schemas.microsoft.com/office/drawing/2014/main" id="{F852660B-5776-4457-897C-22F48580809B}"/>
              </a:ext>
            </a:extLst>
          </p:cNvPr>
          <p:cNvSpPr txBox="1">
            <a:spLocks/>
          </p:cNvSpPr>
          <p:nvPr userDrawn="1"/>
        </p:nvSpPr>
        <p:spPr>
          <a:xfrm>
            <a:off x="0" y="6628025"/>
            <a:ext cx="9144000" cy="235219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vert="horz" lIns="91440" tIns="45720" rIns="91440" bIns="45720" rtlCol="0" anchor="ctr"/>
          <a:lstStyle>
            <a:defPPr>
              <a:defRPr lang="zh-TW"/>
            </a:defPPr>
            <a:lvl1pPr marL="0" algn="ctr" defTabSz="914400" rtl="0" eaLnBrk="1" latinLnBrk="0" hangingPunct="1">
              <a:defRPr sz="1200" b="1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zh-TW" alt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9" r:id="rId1"/>
    <p:sldLayoutId id="2147483662" r:id="rId2"/>
    <p:sldLayoutId id="2147483663" r:id="rId3"/>
  </p:sldLayoutIdLst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Click="0">
        <p159:morph option="byObject"/>
      </p:transition>
    </mc:Choice>
    <mc:Fallback xmlns="">
      <p:transition spd="slow" advClick="0">
        <p:fade/>
      </p:transition>
    </mc:Fallback>
  </mc:AlternateContent>
  <p:hf hdr="0"/>
  <p:txStyles>
    <p:titleStyle>
      <a:lvl1pPr algn="l" defTabSz="914400" rtl="0" eaLnBrk="1" latinLnBrk="0" hangingPunct="1">
        <a:spcBef>
          <a:spcPct val="0"/>
        </a:spcBef>
        <a:buNone/>
        <a:defRPr sz="2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60000" indent="-360000" algn="l" defTabSz="914400" rtl="0" eaLnBrk="1" latinLnBrk="0" hangingPunct="1">
        <a:spcBef>
          <a:spcPct val="20000"/>
        </a:spcBef>
        <a:buClr>
          <a:schemeClr val="tx1"/>
        </a:buClr>
        <a:buFont typeface="Calibri" pitchFamily="34" charset="0"/>
        <a:buChar char="●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720000" indent="-360000" algn="l" defTabSz="914400" rtl="0" eaLnBrk="1" latinLnBrk="0" hangingPunct="1">
        <a:spcBef>
          <a:spcPct val="20000"/>
        </a:spcBef>
        <a:buClr>
          <a:schemeClr val="tx1"/>
        </a:buClr>
        <a:buFont typeface="Calibri" pitchFamily="34" charset="0"/>
        <a:buChar char="○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080000" indent="-360000" algn="l" defTabSz="914400" rtl="0" eaLnBrk="1" latinLnBrk="0" hangingPunct="1">
        <a:spcBef>
          <a:spcPct val="20000"/>
        </a:spcBef>
        <a:buClr>
          <a:schemeClr val="tx1"/>
        </a:buClr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440000" indent="-360000" algn="l" defTabSz="914400" rtl="0" eaLnBrk="1" latinLnBrk="0" hangingPunct="1">
        <a:spcBef>
          <a:spcPct val="20000"/>
        </a:spcBef>
        <a:buClr>
          <a:schemeClr val="tx1"/>
        </a:buClr>
        <a:buFont typeface="Arial" pitchFamily="34" charset="0"/>
        <a:buChar char="‒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1800000" indent="-360000" algn="l" defTabSz="914400" rtl="0" eaLnBrk="1" latinLnBrk="0" hangingPunct="1">
        <a:spcBef>
          <a:spcPct val="20000"/>
        </a:spcBef>
        <a:buClr>
          <a:schemeClr val="tx1"/>
        </a:buClr>
        <a:buFont typeface="Arial" pitchFamily="34" charset="0"/>
        <a:buChar char="‒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medium.com/@simon3458/project-tame-llama-3-taiwan-%E6%A8%A1%E5%9E%8B-taiwan-llm-%E6%A8%A1%E5%9E%8B%E7%B3%BB%E5%88%97%E5%86%8D%E6%9B%B4%E6%96%B0-1b249b88ab67" TargetMode="Externa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deep-learning-101.github.io/Blog/TW-LLM-Benchmark" TargetMode="External"/><Relationship Id="rId4" Type="http://schemas.openxmlformats.org/officeDocument/2006/relationships/hyperlink" Target="https://www.reddit.com/r/taiwan/comments/1t48c98/%E5%8F%B0%E7%81%A3%E7%9A%84%E4%B8%BB%E6%AC%8Allm/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9" name="直線接點 98">
            <a:extLst>
              <a:ext uri="{FF2B5EF4-FFF2-40B4-BE49-F238E27FC236}">
                <a16:creationId xmlns:a16="http://schemas.microsoft.com/office/drawing/2014/main" id="{9A64CC9E-E2C9-F44F-B438-82C166DD3AD6}"/>
              </a:ext>
            </a:extLst>
          </p:cNvPr>
          <p:cNvCxnSpPr/>
          <p:nvPr/>
        </p:nvCxnSpPr>
        <p:spPr>
          <a:xfrm>
            <a:off x="4572000" y="3770641"/>
            <a:ext cx="3600400" cy="0"/>
          </a:xfrm>
          <a:prstGeom prst="line">
            <a:avLst/>
          </a:prstGeom>
          <a:ln w="28575">
            <a:solidFill>
              <a:schemeClr val="accent4">
                <a:lumMod val="20000"/>
                <a:lumOff val="80000"/>
              </a:schemeClr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橢圓 13">
            <a:extLst>
              <a:ext uri="{FF2B5EF4-FFF2-40B4-BE49-F238E27FC236}">
                <a16:creationId xmlns:a16="http://schemas.microsoft.com/office/drawing/2014/main" id="{004290F5-281E-93FC-60A1-A2E3666349C4}"/>
              </a:ext>
            </a:extLst>
          </p:cNvPr>
          <p:cNvSpPr/>
          <p:nvPr/>
        </p:nvSpPr>
        <p:spPr>
          <a:xfrm>
            <a:off x="5918567" y="3709343"/>
            <a:ext cx="598913" cy="655761"/>
          </a:xfrm>
          <a:prstGeom prst="ellipse">
            <a:avLst/>
          </a:prstGeom>
          <a:solidFill>
            <a:schemeClr val="accent4">
              <a:lumMod val="20000"/>
              <a:lumOff val="80000"/>
              <a:alpha val="70000"/>
            </a:schemeClr>
          </a:solidFill>
          <a:ln w="3175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Ins="0" bIns="0" rtlCol="0" anchor="ctr" anchorCtr="1"/>
          <a:lstStyle/>
          <a:p>
            <a:pPr algn="ctr">
              <a:lnSpc>
                <a:spcPts val="1000"/>
              </a:lnSpc>
            </a:pPr>
            <a:r>
              <a:rPr lang="en-US" altLang="zh-TW" sz="1200" dirty="0">
                <a:solidFill>
                  <a:schemeClr val="tx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Transformer</a:t>
            </a:r>
          </a:p>
          <a:p>
            <a:pPr algn="ctr">
              <a:lnSpc>
                <a:spcPts val="1200"/>
              </a:lnSpc>
            </a:pPr>
            <a:r>
              <a:rPr lang="en-US" altLang="zh-TW" sz="1000" dirty="0">
                <a:solidFill>
                  <a:schemeClr val="tx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Attention</a:t>
            </a:r>
          </a:p>
          <a:p>
            <a:pPr algn="ctr"/>
            <a:r>
              <a:rPr lang="en-US" altLang="zh-TW" sz="800" dirty="0">
                <a:solidFill>
                  <a:schemeClr val="tx1"/>
                </a:solidFill>
                <a:ea typeface="ADLaM Display" panose="02010000000000000000" pitchFamily="2" charset="0"/>
                <a:cs typeface="ADLaM Display" panose="02010000000000000000" pitchFamily="2" charset="0"/>
              </a:rPr>
              <a:t>2017</a:t>
            </a:r>
          </a:p>
        </p:txBody>
      </p:sp>
      <p:sp>
        <p:nvSpPr>
          <p:cNvPr id="3" name="橢圓 2">
            <a:extLst>
              <a:ext uri="{FF2B5EF4-FFF2-40B4-BE49-F238E27FC236}">
                <a16:creationId xmlns:a16="http://schemas.microsoft.com/office/drawing/2014/main" id="{AEA0B1E4-3CC1-CAFE-7ACD-0B0E606CD5A2}"/>
              </a:ext>
            </a:extLst>
          </p:cNvPr>
          <p:cNvSpPr/>
          <p:nvPr/>
        </p:nvSpPr>
        <p:spPr>
          <a:xfrm>
            <a:off x="5628200" y="1738098"/>
            <a:ext cx="1440160" cy="1518689"/>
          </a:xfrm>
          <a:prstGeom prst="ellipse">
            <a:avLst/>
          </a:prstGeom>
          <a:solidFill>
            <a:schemeClr val="accent4">
              <a:lumMod val="20000"/>
              <a:lumOff val="80000"/>
              <a:alpha val="40000"/>
            </a:schemeClr>
          </a:solidFill>
          <a:ln w="38100">
            <a:solidFill>
              <a:schemeClr val="bg1">
                <a:lumMod val="75000"/>
                <a:alpha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144000" rIns="0" bIns="0" rtlCol="0" anchor="ctr" anchorCtr="1"/>
          <a:lstStyle/>
          <a:p>
            <a:pPr algn="ctr">
              <a:lnSpc>
                <a:spcPts val="1200"/>
              </a:lnSpc>
            </a:pPr>
            <a:r>
              <a:rPr lang="en-US" altLang="zh-TW" sz="1400" dirty="0">
                <a:solidFill>
                  <a:schemeClr val="tx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FFNN</a:t>
            </a:r>
          </a:p>
          <a:p>
            <a:pPr algn="ctr">
              <a:lnSpc>
                <a:spcPts val="1000"/>
              </a:lnSpc>
            </a:pPr>
            <a:r>
              <a:rPr lang="en-US" altLang="zh-TW" sz="1000" dirty="0">
                <a:solidFill>
                  <a:schemeClr val="tx1"/>
                </a:solidFill>
                <a:ea typeface="ADLaM Display" panose="02010000000000000000" pitchFamily="2" charset="0"/>
                <a:cs typeface="ADLaM Display" panose="02010000000000000000" pitchFamily="2" charset="0"/>
              </a:rPr>
              <a:t>(Backpropagation)</a:t>
            </a:r>
          </a:p>
          <a:p>
            <a:pPr algn="ctr"/>
            <a:endParaRPr lang="en-US" altLang="zh-TW" sz="1400" dirty="0">
              <a:solidFill>
                <a:schemeClr val="tx1"/>
              </a:solidFill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  <a:p>
            <a:pPr algn="ctr"/>
            <a:endParaRPr lang="en-US" altLang="zh-TW" sz="1400" dirty="0">
              <a:solidFill>
                <a:schemeClr val="tx1"/>
              </a:solidFill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  <a:p>
            <a:pPr algn="ctr"/>
            <a:endParaRPr lang="en-US" altLang="zh-TW" sz="1400" dirty="0">
              <a:solidFill>
                <a:schemeClr val="tx1"/>
              </a:solidFill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  <a:p>
            <a:pPr algn="ctr"/>
            <a:endParaRPr lang="zh-TW" altLang="en-US" sz="1400" dirty="0">
              <a:solidFill>
                <a:schemeClr val="tx1"/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35" name="文字方塊 34">
            <a:extLst>
              <a:ext uri="{FF2B5EF4-FFF2-40B4-BE49-F238E27FC236}">
                <a16:creationId xmlns:a16="http://schemas.microsoft.com/office/drawing/2014/main" id="{C6B62A5F-256A-3016-F50D-A57E32061080}"/>
              </a:ext>
            </a:extLst>
          </p:cNvPr>
          <p:cNvSpPr txBox="1"/>
          <p:nvPr/>
        </p:nvSpPr>
        <p:spPr>
          <a:xfrm>
            <a:off x="539552" y="4412600"/>
            <a:ext cx="829073" cy="240536"/>
          </a:xfrm>
          <a:prstGeom prst="rect">
            <a:avLst/>
          </a:prstGeom>
          <a:solidFill>
            <a:schemeClr val="accent3">
              <a:lumMod val="20000"/>
              <a:lumOff val="80000"/>
              <a:alpha val="60000"/>
            </a:schemeClr>
          </a:solidFill>
        </p:spPr>
        <p:txBody>
          <a:bodyPr wrap="none" lIns="0" tIns="0" rIns="0" bIns="0" anchor="ctr" anchorCtr="1">
            <a:noAutofit/>
          </a:bodyPr>
          <a:lstStyle/>
          <a:p>
            <a:pPr algn="ctr"/>
            <a:r>
              <a:rPr lang="en-US" altLang="zh-TW" sz="1000" dirty="0">
                <a:effectLst/>
              </a:rPr>
              <a:t>Scaling Law</a:t>
            </a:r>
          </a:p>
        </p:txBody>
      </p:sp>
      <p:pic>
        <p:nvPicPr>
          <p:cNvPr id="17" name="圖片 16">
            <a:extLst>
              <a:ext uri="{FF2B5EF4-FFF2-40B4-BE49-F238E27FC236}">
                <a16:creationId xmlns:a16="http://schemas.microsoft.com/office/drawing/2014/main" id="{DA873DEB-8EF1-D03C-A893-DA181A2AF90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0739" y="2150311"/>
            <a:ext cx="708323" cy="630617"/>
          </a:xfrm>
          <a:prstGeom prst="rect">
            <a:avLst/>
          </a:prstGeom>
        </p:spPr>
      </p:pic>
      <p:sp>
        <p:nvSpPr>
          <p:cNvPr id="5" name="橢圓 4">
            <a:extLst>
              <a:ext uri="{FF2B5EF4-FFF2-40B4-BE49-F238E27FC236}">
                <a16:creationId xmlns:a16="http://schemas.microsoft.com/office/drawing/2014/main" id="{881E42A9-3C14-33A5-57A8-6E87E4934D33}"/>
              </a:ext>
            </a:extLst>
          </p:cNvPr>
          <p:cNvSpPr/>
          <p:nvPr/>
        </p:nvSpPr>
        <p:spPr>
          <a:xfrm>
            <a:off x="6788566" y="1916832"/>
            <a:ext cx="495818" cy="447885"/>
          </a:xfrm>
          <a:prstGeom prst="ellipse">
            <a:avLst/>
          </a:prstGeom>
          <a:solidFill>
            <a:schemeClr val="accent4">
              <a:lumMod val="20000"/>
              <a:lumOff val="80000"/>
              <a:alpha val="70000"/>
            </a:schemeClr>
          </a:solidFill>
          <a:ln w="3175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200" dirty="0">
                <a:solidFill>
                  <a:schemeClr val="tx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CNN</a:t>
            </a:r>
          </a:p>
        </p:txBody>
      </p:sp>
      <p:sp>
        <p:nvSpPr>
          <p:cNvPr id="10" name="橢圓 9">
            <a:extLst>
              <a:ext uri="{FF2B5EF4-FFF2-40B4-BE49-F238E27FC236}">
                <a16:creationId xmlns:a16="http://schemas.microsoft.com/office/drawing/2014/main" id="{E0141726-C312-30FF-5F17-291C4EB11CB6}"/>
              </a:ext>
            </a:extLst>
          </p:cNvPr>
          <p:cNvSpPr/>
          <p:nvPr/>
        </p:nvSpPr>
        <p:spPr>
          <a:xfrm>
            <a:off x="5412176" y="2374917"/>
            <a:ext cx="495818" cy="447885"/>
          </a:xfrm>
          <a:prstGeom prst="ellipse">
            <a:avLst/>
          </a:prstGeom>
          <a:solidFill>
            <a:schemeClr val="accent4">
              <a:lumMod val="20000"/>
              <a:lumOff val="80000"/>
              <a:alpha val="70000"/>
            </a:schemeClr>
          </a:solidFill>
          <a:ln w="3175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200" dirty="0">
                <a:solidFill>
                  <a:schemeClr val="tx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RNN</a:t>
            </a:r>
          </a:p>
        </p:txBody>
      </p:sp>
      <p:sp>
        <p:nvSpPr>
          <p:cNvPr id="12" name="橢圓 11">
            <a:extLst>
              <a:ext uri="{FF2B5EF4-FFF2-40B4-BE49-F238E27FC236}">
                <a16:creationId xmlns:a16="http://schemas.microsoft.com/office/drawing/2014/main" id="{0DB21296-B2AC-876B-8C54-9C8E250C834F}"/>
              </a:ext>
            </a:extLst>
          </p:cNvPr>
          <p:cNvSpPr/>
          <p:nvPr/>
        </p:nvSpPr>
        <p:spPr>
          <a:xfrm>
            <a:off x="5412176" y="2697263"/>
            <a:ext cx="495818" cy="447885"/>
          </a:xfrm>
          <a:prstGeom prst="ellipse">
            <a:avLst/>
          </a:prstGeom>
          <a:solidFill>
            <a:schemeClr val="accent4">
              <a:lumMod val="20000"/>
              <a:lumOff val="80000"/>
              <a:alpha val="70000"/>
            </a:schemeClr>
          </a:solidFill>
          <a:ln w="3175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200" dirty="0">
                <a:solidFill>
                  <a:schemeClr val="tx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LSTM</a:t>
            </a:r>
          </a:p>
        </p:txBody>
      </p:sp>
      <p:sp>
        <p:nvSpPr>
          <p:cNvPr id="16" name="橢圓 15">
            <a:extLst>
              <a:ext uri="{FF2B5EF4-FFF2-40B4-BE49-F238E27FC236}">
                <a16:creationId xmlns:a16="http://schemas.microsoft.com/office/drawing/2014/main" id="{52295574-F9E8-1BB0-0D3E-4D88512B5343}"/>
              </a:ext>
            </a:extLst>
          </p:cNvPr>
          <p:cNvSpPr/>
          <p:nvPr/>
        </p:nvSpPr>
        <p:spPr>
          <a:xfrm>
            <a:off x="5995871" y="4277259"/>
            <a:ext cx="495818" cy="447885"/>
          </a:xfrm>
          <a:prstGeom prst="ellipse">
            <a:avLst/>
          </a:prstGeom>
          <a:solidFill>
            <a:schemeClr val="accent4">
              <a:lumMod val="20000"/>
              <a:lumOff val="80000"/>
              <a:alpha val="70000"/>
            </a:schemeClr>
          </a:solidFill>
          <a:ln w="3175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Ins="0" bIns="0" rtlCol="0" anchor="ctr" anchorCtr="1"/>
          <a:lstStyle/>
          <a:p>
            <a:pPr algn="ctr">
              <a:lnSpc>
                <a:spcPts val="1000"/>
              </a:lnSpc>
            </a:pPr>
            <a:r>
              <a:rPr lang="en-US" altLang="zh-TW" sz="1200" dirty="0">
                <a:solidFill>
                  <a:schemeClr val="tx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GTP</a:t>
            </a:r>
          </a:p>
          <a:p>
            <a:pPr algn="ctr">
              <a:lnSpc>
                <a:spcPts val="1000"/>
              </a:lnSpc>
            </a:pPr>
            <a:r>
              <a:rPr lang="en-US" altLang="zh-TW" sz="1000" dirty="0">
                <a:solidFill>
                  <a:schemeClr val="tx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Attn + FNN</a:t>
            </a:r>
          </a:p>
        </p:txBody>
      </p:sp>
      <p:sp>
        <p:nvSpPr>
          <p:cNvPr id="20" name="橢圓 19">
            <a:extLst>
              <a:ext uri="{FF2B5EF4-FFF2-40B4-BE49-F238E27FC236}">
                <a16:creationId xmlns:a16="http://schemas.microsoft.com/office/drawing/2014/main" id="{78A2F39E-B570-C98D-37E5-754D1391B769}"/>
              </a:ext>
            </a:extLst>
          </p:cNvPr>
          <p:cNvSpPr/>
          <p:nvPr/>
        </p:nvSpPr>
        <p:spPr>
          <a:xfrm>
            <a:off x="6716558" y="2693083"/>
            <a:ext cx="495818" cy="447885"/>
          </a:xfrm>
          <a:prstGeom prst="ellipse">
            <a:avLst/>
          </a:prstGeom>
          <a:solidFill>
            <a:schemeClr val="accent4">
              <a:lumMod val="20000"/>
              <a:lumOff val="80000"/>
              <a:alpha val="70000"/>
            </a:schemeClr>
          </a:solidFill>
          <a:ln w="3175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200" dirty="0">
                <a:solidFill>
                  <a:schemeClr val="tx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Deep CNN</a:t>
            </a:r>
          </a:p>
        </p:txBody>
      </p:sp>
      <p:sp>
        <p:nvSpPr>
          <p:cNvPr id="22" name="橢圓 21">
            <a:extLst>
              <a:ext uri="{FF2B5EF4-FFF2-40B4-BE49-F238E27FC236}">
                <a16:creationId xmlns:a16="http://schemas.microsoft.com/office/drawing/2014/main" id="{6EA6E73F-53FC-FCE3-3FE0-22F933B86A25}"/>
              </a:ext>
            </a:extLst>
          </p:cNvPr>
          <p:cNvSpPr/>
          <p:nvPr/>
        </p:nvSpPr>
        <p:spPr>
          <a:xfrm>
            <a:off x="7210075" y="3063964"/>
            <a:ext cx="546416" cy="540099"/>
          </a:xfrm>
          <a:prstGeom prst="ellipse">
            <a:avLst/>
          </a:prstGeom>
          <a:solidFill>
            <a:schemeClr val="accent4">
              <a:lumMod val="20000"/>
              <a:lumOff val="80000"/>
              <a:alpha val="70000"/>
            </a:schemeClr>
          </a:solidFill>
          <a:ln w="3175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200"/>
              </a:lnSpc>
            </a:pPr>
            <a:r>
              <a:rPr lang="en-US" altLang="zh-TW" sz="1200" dirty="0">
                <a:solidFill>
                  <a:schemeClr val="tx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Residual</a:t>
            </a:r>
          </a:p>
          <a:p>
            <a:pPr algn="ctr">
              <a:lnSpc>
                <a:spcPts val="1200"/>
              </a:lnSpc>
            </a:pPr>
            <a:r>
              <a:rPr lang="en-US" altLang="zh-TW" sz="1200" dirty="0">
                <a:solidFill>
                  <a:schemeClr val="tx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/Skip</a:t>
            </a:r>
          </a:p>
        </p:txBody>
      </p:sp>
      <p:cxnSp>
        <p:nvCxnSpPr>
          <p:cNvPr id="33" name="直線單箭頭接點 32">
            <a:extLst>
              <a:ext uri="{FF2B5EF4-FFF2-40B4-BE49-F238E27FC236}">
                <a16:creationId xmlns:a16="http://schemas.microsoft.com/office/drawing/2014/main" id="{618BFC6C-263A-5C9E-AE66-E90562B0DA8A}"/>
              </a:ext>
            </a:extLst>
          </p:cNvPr>
          <p:cNvCxnSpPr>
            <a:cxnSpLocks/>
            <a:stCxn id="34" idx="2"/>
            <a:endCxn id="36" idx="0"/>
          </p:cNvCxnSpPr>
          <p:nvPr/>
        </p:nvCxnSpPr>
        <p:spPr>
          <a:xfrm flipH="1">
            <a:off x="8173030" y="4424879"/>
            <a:ext cx="2" cy="318651"/>
          </a:xfrm>
          <a:prstGeom prst="straightConnector1">
            <a:avLst/>
          </a:prstGeom>
          <a:ln w="22225">
            <a:solidFill>
              <a:schemeClr val="accent3">
                <a:lumMod val="75000"/>
              </a:schemeClr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矩形 35">
            <a:extLst>
              <a:ext uri="{FF2B5EF4-FFF2-40B4-BE49-F238E27FC236}">
                <a16:creationId xmlns:a16="http://schemas.microsoft.com/office/drawing/2014/main" id="{E7568AED-D187-BF2E-B093-C9BD3DBBAEDD}"/>
              </a:ext>
            </a:extLst>
          </p:cNvPr>
          <p:cNvSpPr/>
          <p:nvPr/>
        </p:nvSpPr>
        <p:spPr>
          <a:xfrm>
            <a:off x="7957637" y="4743530"/>
            <a:ext cx="430785" cy="241576"/>
          </a:xfrm>
          <a:prstGeom prst="rect">
            <a:avLst/>
          </a:prstGeom>
          <a:solidFill>
            <a:schemeClr val="accent3">
              <a:lumMod val="20000"/>
              <a:lumOff val="80000"/>
              <a:alpha val="90000"/>
            </a:schemeClr>
          </a:solidFill>
          <a:ln w="3175"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120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mHC</a:t>
            </a:r>
          </a:p>
        </p:txBody>
      </p:sp>
      <p:cxnSp>
        <p:nvCxnSpPr>
          <p:cNvPr id="39" name="直線單箭頭接點 38">
            <a:extLst>
              <a:ext uri="{FF2B5EF4-FFF2-40B4-BE49-F238E27FC236}">
                <a16:creationId xmlns:a16="http://schemas.microsoft.com/office/drawing/2014/main" id="{89B964A2-FE21-47BF-C892-9DCE0393D14E}"/>
              </a:ext>
            </a:extLst>
          </p:cNvPr>
          <p:cNvCxnSpPr>
            <a:cxnSpLocks/>
            <a:stCxn id="43" idx="2"/>
            <a:endCxn id="44" idx="0"/>
          </p:cNvCxnSpPr>
          <p:nvPr/>
        </p:nvCxnSpPr>
        <p:spPr>
          <a:xfrm flipH="1">
            <a:off x="954901" y="2846232"/>
            <a:ext cx="1" cy="1469012"/>
          </a:xfrm>
          <a:prstGeom prst="straightConnector1">
            <a:avLst/>
          </a:prstGeom>
          <a:ln w="22225">
            <a:solidFill>
              <a:schemeClr val="accent3">
                <a:lumMod val="75000"/>
              </a:schemeClr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矩形 42">
            <a:extLst>
              <a:ext uri="{FF2B5EF4-FFF2-40B4-BE49-F238E27FC236}">
                <a16:creationId xmlns:a16="http://schemas.microsoft.com/office/drawing/2014/main" id="{0A1996EB-D42C-740B-85D1-30E38FB4CF93}"/>
              </a:ext>
            </a:extLst>
          </p:cNvPr>
          <p:cNvSpPr/>
          <p:nvPr/>
        </p:nvSpPr>
        <p:spPr>
          <a:xfrm>
            <a:off x="600740" y="2673316"/>
            <a:ext cx="708323" cy="172916"/>
          </a:xfrm>
          <a:prstGeom prst="rect">
            <a:avLst/>
          </a:prstGeom>
          <a:solidFill>
            <a:schemeClr val="accent3">
              <a:lumMod val="20000"/>
              <a:lumOff val="80000"/>
              <a:alpha val="90000"/>
            </a:schemeClr>
          </a:solidFill>
          <a:ln w="3175"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200" b="1" dirty="0">
                <a:ln w="0"/>
                <a:solidFill>
                  <a:prstClr val="black"/>
                </a:solidFill>
                <a:latin typeface="Calibri"/>
                <a:ea typeface="新細明體" panose="02020500000000000000" pitchFamily="18" charset="-120"/>
              </a:rPr>
              <a:t>Gopher</a:t>
            </a:r>
            <a:endParaRPr kumimoji="0" lang="en-US" altLang="zh-TW" sz="1200" b="1" i="0" u="none" strike="noStrike" kern="1200" cap="none" spc="0" normalizeH="0" baseline="0" noProof="0" dirty="0">
              <a:ln w="0"/>
              <a:solidFill>
                <a:prstClr val="black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44" name="矩形 43">
            <a:extLst>
              <a:ext uri="{FF2B5EF4-FFF2-40B4-BE49-F238E27FC236}">
                <a16:creationId xmlns:a16="http://schemas.microsoft.com/office/drawing/2014/main" id="{7E85ABA7-84D4-642D-6CF5-1F0E4E10A25E}"/>
              </a:ext>
            </a:extLst>
          </p:cNvPr>
          <p:cNvSpPr/>
          <p:nvPr/>
        </p:nvSpPr>
        <p:spPr>
          <a:xfrm>
            <a:off x="600739" y="4315244"/>
            <a:ext cx="708323" cy="150314"/>
          </a:xfrm>
          <a:prstGeom prst="rect">
            <a:avLst/>
          </a:prstGeom>
          <a:solidFill>
            <a:schemeClr val="accent3">
              <a:lumMod val="20000"/>
              <a:lumOff val="80000"/>
              <a:alpha val="90000"/>
            </a:schemeClr>
          </a:solidFill>
          <a:ln w="3175"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120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Chinchilla</a:t>
            </a:r>
          </a:p>
        </p:txBody>
      </p:sp>
      <p:pic>
        <p:nvPicPr>
          <p:cNvPr id="13" name="圖片 12">
            <a:extLst>
              <a:ext uri="{FF2B5EF4-FFF2-40B4-BE49-F238E27FC236}">
                <a16:creationId xmlns:a16="http://schemas.microsoft.com/office/drawing/2014/main" id="{ECDE642D-68D6-0AEB-A994-C8203492E08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3119" y="3924394"/>
            <a:ext cx="303563" cy="397148"/>
          </a:xfrm>
          <a:prstGeom prst="rect">
            <a:avLst/>
          </a:prstGeom>
        </p:spPr>
      </p:pic>
      <p:sp>
        <p:nvSpPr>
          <p:cNvPr id="34" name="矩形 33">
            <a:extLst>
              <a:ext uri="{FF2B5EF4-FFF2-40B4-BE49-F238E27FC236}">
                <a16:creationId xmlns:a16="http://schemas.microsoft.com/office/drawing/2014/main" id="{925A013C-BF7E-1854-1013-89582555D429}"/>
              </a:ext>
            </a:extLst>
          </p:cNvPr>
          <p:cNvSpPr/>
          <p:nvPr/>
        </p:nvSpPr>
        <p:spPr>
          <a:xfrm>
            <a:off x="7957640" y="4183303"/>
            <a:ext cx="430784" cy="241576"/>
          </a:xfrm>
          <a:prstGeom prst="rect">
            <a:avLst/>
          </a:prstGeom>
          <a:solidFill>
            <a:schemeClr val="accent3">
              <a:lumMod val="20000"/>
              <a:lumOff val="80000"/>
              <a:alpha val="90000"/>
            </a:schemeClr>
          </a:solidFill>
          <a:ln w="3175"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200" b="1" dirty="0">
                <a:ln w="0"/>
                <a:solidFill>
                  <a:prstClr val="black"/>
                </a:solidFill>
                <a:latin typeface="Calibri"/>
                <a:ea typeface="新細明體" panose="02020500000000000000" pitchFamily="18" charset="-120"/>
              </a:rPr>
              <a:t>HC</a:t>
            </a:r>
            <a:endParaRPr kumimoji="0" lang="en-US" altLang="zh-TW" sz="1200" b="1" i="0" u="none" strike="noStrike" kern="1200" cap="none" spc="0" normalizeH="0" baseline="0" noProof="0" dirty="0">
              <a:ln w="0"/>
              <a:solidFill>
                <a:prstClr val="black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21" name="橢圓 20">
            <a:extLst>
              <a:ext uri="{FF2B5EF4-FFF2-40B4-BE49-F238E27FC236}">
                <a16:creationId xmlns:a16="http://schemas.microsoft.com/office/drawing/2014/main" id="{2F0DFBC6-3A66-B6F7-00EF-312D32966A21}"/>
              </a:ext>
            </a:extLst>
          </p:cNvPr>
          <p:cNvSpPr/>
          <p:nvPr/>
        </p:nvSpPr>
        <p:spPr>
          <a:xfrm>
            <a:off x="6476967" y="3063596"/>
            <a:ext cx="619114" cy="562565"/>
          </a:xfrm>
          <a:prstGeom prst="ellipse">
            <a:avLst/>
          </a:prstGeom>
          <a:solidFill>
            <a:schemeClr val="accent4">
              <a:lumMod val="20000"/>
              <a:lumOff val="80000"/>
              <a:alpha val="70000"/>
            </a:schemeClr>
          </a:solidFill>
          <a:ln w="3175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200"/>
              </a:lnSpc>
            </a:pPr>
            <a:r>
              <a:rPr lang="en-US" altLang="zh-TW" sz="1200" dirty="0">
                <a:solidFill>
                  <a:schemeClr val="tx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Dense</a:t>
            </a:r>
          </a:p>
          <a:p>
            <a:pPr algn="ctr">
              <a:lnSpc>
                <a:spcPts val="1200"/>
              </a:lnSpc>
            </a:pPr>
            <a:r>
              <a:rPr lang="en-US" altLang="zh-TW" sz="1200" dirty="0">
                <a:solidFill>
                  <a:schemeClr val="tx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Net</a:t>
            </a:r>
          </a:p>
        </p:txBody>
      </p:sp>
      <p:sp>
        <p:nvSpPr>
          <p:cNvPr id="40" name="橢圓 39">
            <a:extLst>
              <a:ext uri="{FF2B5EF4-FFF2-40B4-BE49-F238E27FC236}">
                <a16:creationId xmlns:a16="http://schemas.microsoft.com/office/drawing/2014/main" id="{C26C33D0-E4B4-743E-50E7-154C9AAEFFEE}"/>
              </a:ext>
            </a:extLst>
          </p:cNvPr>
          <p:cNvSpPr/>
          <p:nvPr/>
        </p:nvSpPr>
        <p:spPr>
          <a:xfrm>
            <a:off x="6661496" y="4017679"/>
            <a:ext cx="430784" cy="419433"/>
          </a:xfrm>
          <a:prstGeom prst="ellipse">
            <a:avLst/>
          </a:prstGeom>
          <a:solidFill>
            <a:schemeClr val="accent4">
              <a:lumMod val="20000"/>
              <a:lumOff val="80000"/>
              <a:alpha val="70000"/>
            </a:schemeClr>
          </a:solidFill>
          <a:ln w="3175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200"/>
              </a:lnSpc>
            </a:pPr>
            <a:r>
              <a:rPr lang="en-US" altLang="zh-TW" sz="1200" dirty="0">
                <a:solidFill>
                  <a:schemeClr val="tx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MUDD</a:t>
            </a:r>
          </a:p>
          <a:p>
            <a:pPr algn="ctr">
              <a:lnSpc>
                <a:spcPts val="1200"/>
              </a:lnSpc>
            </a:pPr>
            <a:r>
              <a:rPr lang="en-US" altLang="zh-TW" sz="1200" dirty="0">
                <a:solidFill>
                  <a:schemeClr val="tx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Former</a:t>
            </a:r>
          </a:p>
        </p:txBody>
      </p:sp>
      <p:sp>
        <p:nvSpPr>
          <p:cNvPr id="11" name="橢圓 10">
            <a:extLst>
              <a:ext uri="{FF2B5EF4-FFF2-40B4-BE49-F238E27FC236}">
                <a16:creationId xmlns:a16="http://schemas.microsoft.com/office/drawing/2014/main" id="{5808B52B-D2E3-7FA8-BB8C-7A2EA8293243}"/>
              </a:ext>
            </a:extLst>
          </p:cNvPr>
          <p:cNvSpPr/>
          <p:nvPr/>
        </p:nvSpPr>
        <p:spPr>
          <a:xfrm>
            <a:off x="6913510" y="2276872"/>
            <a:ext cx="245929" cy="271333"/>
          </a:xfrm>
          <a:prstGeom prst="ellipse">
            <a:avLst/>
          </a:prstGeom>
          <a:solidFill>
            <a:schemeClr val="accent4">
              <a:lumMod val="20000"/>
              <a:lumOff val="80000"/>
              <a:alpha val="70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000" dirty="0">
                <a:solidFill>
                  <a:schemeClr val="tx1">
                    <a:lumMod val="65000"/>
                    <a:lumOff val="3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AlexNet</a:t>
            </a:r>
          </a:p>
          <a:p>
            <a:pPr algn="ctr"/>
            <a:r>
              <a:rPr lang="en-US" altLang="zh-TW" sz="800" dirty="0">
                <a:solidFill>
                  <a:schemeClr val="tx1"/>
                </a:solidFill>
                <a:ea typeface="ADLaM Display" panose="02010000000000000000" pitchFamily="2" charset="0"/>
                <a:cs typeface="ADLaM Display" panose="02010000000000000000" pitchFamily="2" charset="0"/>
              </a:rPr>
              <a:t>2012</a:t>
            </a:r>
          </a:p>
        </p:txBody>
      </p:sp>
      <p:sp>
        <p:nvSpPr>
          <p:cNvPr id="8" name="標題 1">
            <a:extLst>
              <a:ext uri="{FF2B5EF4-FFF2-40B4-BE49-F238E27FC236}">
                <a16:creationId xmlns:a16="http://schemas.microsoft.com/office/drawing/2014/main" id="{B36748D0-C94C-1474-C83D-0587CD10BB8F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AI Models</a:t>
            </a:r>
          </a:p>
          <a:p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From rules to reasoning.</a:t>
            </a:r>
          </a:p>
          <a:p>
            <a:pPr marL="285750" indent="-285750">
              <a:buFontTx/>
              <a:buChar char="-"/>
            </a:pPr>
            <a:endParaRPr lang="en-US" altLang="zh-TW" sz="1400" dirty="0"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  <p:sp>
        <p:nvSpPr>
          <p:cNvPr id="19" name="橢圓 18">
            <a:extLst>
              <a:ext uri="{FF2B5EF4-FFF2-40B4-BE49-F238E27FC236}">
                <a16:creationId xmlns:a16="http://schemas.microsoft.com/office/drawing/2014/main" id="{B60FF1D0-43BC-6603-EF59-36C96BEB0E9A}"/>
              </a:ext>
            </a:extLst>
          </p:cNvPr>
          <p:cNvSpPr/>
          <p:nvPr/>
        </p:nvSpPr>
        <p:spPr>
          <a:xfrm>
            <a:off x="4908120" y="2378695"/>
            <a:ext cx="389945" cy="330225"/>
          </a:xfrm>
          <a:prstGeom prst="ellipse">
            <a:avLst/>
          </a:prstGeom>
          <a:solidFill>
            <a:schemeClr val="accent4">
              <a:lumMod val="20000"/>
              <a:lumOff val="80000"/>
              <a:alpha val="70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000" dirty="0">
                <a:solidFill>
                  <a:schemeClr val="tx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W2V</a:t>
            </a:r>
          </a:p>
          <a:p>
            <a:pPr algn="ctr"/>
            <a:r>
              <a:rPr lang="en-US" altLang="zh-TW" sz="800" dirty="0">
                <a:solidFill>
                  <a:schemeClr val="tx1"/>
                </a:solidFill>
                <a:ea typeface="ADLaM Display" panose="02010000000000000000" pitchFamily="2" charset="0"/>
                <a:cs typeface="ADLaM Display" panose="02010000000000000000" pitchFamily="2" charset="0"/>
              </a:rPr>
              <a:t>2013</a:t>
            </a:r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6FC940B0-BA05-3A55-2B42-8CE29FCE2163}"/>
              </a:ext>
            </a:extLst>
          </p:cNvPr>
          <p:cNvSpPr txBox="1"/>
          <p:nvPr/>
        </p:nvSpPr>
        <p:spPr>
          <a:xfrm>
            <a:off x="545604" y="2812866"/>
            <a:ext cx="829073" cy="400110"/>
          </a:xfrm>
          <a:prstGeom prst="rect">
            <a:avLst/>
          </a:prstGeom>
          <a:solidFill>
            <a:schemeClr val="accent3">
              <a:lumMod val="20000"/>
              <a:lumOff val="80000"/>
              <a:alpha val="60000"/>
            </a:schemeClr>
          </a:solidFill>
        </p:spPr>
        <p:txBody>
          <a:bodyPr wrap="none" lIns="0" tIns="0" rIns="0" bIns="0" anchor="ctr" anchorCtr="1">
            <a:noAutofit/>
          </a:bodyPr>
          <a:lstStyle/>
          <a:p>
            <a:pPr algn="ctr"/>
            <a:r>
              <a:rPr lang="en-US" altLang="zh-TW" sz="1000" dirty="0">
                <a:effectLst/>
              </a:rPr>
              <a:t>Scaling Law</a:t>
            </a:r>
          </a:p>
          <a:p>
            <a:pPr algn="ctr"/>
            <a:r>
              <a:rPr lang="en-US" altLang="zh-TW" sz="1000" dirty="0"/>
              <a:t>Kaplan 2020</a:t>
            </a:r>
            <a:endParaRPr lang="zh-TW" altLang="en-US" sz="1000" dirty="0"/>
          </a:p>
        </p:txBody>
      </p:sp>
      <p:sp>
        <p:nvSpPr>
          <p:cNvPr id="15" name="文字方塊 14">
            <a:extLst>
              <a:ext uri="{FF2B5EF4-FFF2-40B4-BE49-F238E27FC236}">
                <a16:creationId xmlns:a16="http://schemas.microsoft.com/office/drawing/2014/main" id="{EA49A373-21E4-A90C-02DB-AB01014518DF}"/>
              </a:ext>
            </a:extLst>
          </p:cNvPr>
          <p:cNvSpPr txBox="1"/>
          <p:nvPr/>
        </p:nvSpPr>
        <p:spPr>
          <a:xfrm>
            <a:off x="181131" y="920914"/>
            <a:ext cx="5868652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 defTabSz="19431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Traditional programming</a:t>
            </a:r>
            <a:r>
              <a:rPr lang="en-US" altLang="zh-TW" sz="1600" dirty="0"/>
              <a:t>: RDs deduce the rules based on logic.</a:t>
            </a:r>
            <a:endParaRPr lang="zh-TW" altLang="en-US" sz="1400" dirty="0"/>
          </a:p>
          <a:p>
            <a:pPr marL="285750" indent="-285750" defTabSz="194310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AI coding</a:t>
            </a:r>
            <a:r>
              <a:rPr lang="en-US" altLang="zh-TW" sz="1600" dirty="0"/>
              <a:t>: GPUs train the model through inductive learning.</a:t>
            </a:r>
            <a:endParaRPr lang="en-US" altLang="zh-TW" sz="1400" dirty="0"/>
          </a:p>
        </p:txBody>
      </p:sp>
      <p:cxnSp>
        <p:nvCxnSpPr>
          <p:cNvPr id="2" name="直線單箭頭接點 1">
            <a:extLst>
              <a:ext uri="{FF2B5EF4-FFF2-40B4-BE49-F238E27FC236}">
                <a16:creationId xmlns:a16="http://schemas.microsoft.com/office/drawing/2014/main" id="{6D182263-D83E-2C91-D3B5-E7BCC3B3EB72}"/>
              </a:ext>
            </a:extLst>
          </p:cNvPr>
          <p:cNvCxnSpPr>
            <a:cxnSpLocks/>
            <a:stCxn id="41" idx="2"/>
            <a:endCxn id="76" idx="0"/>
          </p:cNvCxnSpPr>
          <p:nvPr/>
        </p:nvCxnSpPr>
        <p:spPr>
          <a:xfrm>
            <a:off x="2430787" y="2132856"/>
            <a:ext cx="572" cy="1058403"/>
          </a:xfrm>
          <a:prstGeom prst="straightConnector1">
            <a:avLst/>
          </a:prstGeom>
          <a:ln w="22225">
            <a:solidFill>
              <a:schemeClr val="accent3">
                <a:lumMod val="75000"/>
              </a:schemeClr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矩形 40">
            <a:extLst>
              <a:ext uri="{FF2B5EF4-FFF2-40B4-BE49-F238E27FC236}">
                <a16:creationId xmlns:a16="http://schemas.microsoft.com/office/drawing/2014/main" id="{45A4C6DD-99AA-7F54-0F2F-F073F84A5039}"/>
              </a:ext>
            </a:extLst>
          </p:cNvPr>
          <p:cNvSpPr/>
          <p:nvPr/>
        </p:nvSpPr>
        <p:spPr>
          <a:xfrm>
            <a:off x="2065027" y="1802631"/>
            <a:ext cx="731520" cy="330225"/>
          </a:xfrm>
          <a:prstGeom prst="rect">
            <a:avLst/>
          </a:prstGeom>
          <a:solidFill>
            <a:schemeClr val="accent3">
              <a:lumMod val="20000"/>
              <a:lumOff val="80000"/>
              <a:alpha val="90000"/>
            </a:schemeClr>
          </a:solidFill>
          <a:ln w="3175"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120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Embedding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800" dirty="0">
                <a:ln w="0"/>
                <a:solidFill>
                  <a:prstClr val="black"/>
                </a:solidFill>
                <a:latin typeface="Calibri"/>
                <a:ea typeface="新細明體" panose="02020500000000000000" pitchFamily="18" charset="-120"/>
              </a:rPr>
              <a:t>2003</a:t>
            </a:r>
            <a:endParaRPr kumimoji="0" lang="en-US" altLang="zh-TW" sz="800" i="0" u="none" strike="noStrike" kern="1200" cap="none" spc="0" normalizeH="0" baseline="0" noProof="0" dirty="0">
              <a:ln w="0"/>
              <a:solidFill>
                <a:prstClr val="black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54" name="橢圓 53">
            <a:extLst>
              <a:ext uri="{FF2B5EF4-FFF2-40B4-BE49-F238E27FC236}">
                <a16:creationId xmlns:a16="http://schemas.microsoft.com/office/drawing/2014/main" id="{E7B058A0-B589-2000-4E7B-1EBAD99DA44A}"/>
              </a:ext>
            </a:extLst>
          </p:cNvPr>
          <p:cNvSpPr/>
          <p:nvPr/>
        </p:nvSpPr>
        <p:spPr>
          <a:xfrm>
            <a:off x="6231594" y="1124744"/>
            <a:ext cx="245929" cy="236211"/>
          </a:xfrm>
          <a:prstGeom prst="ellipse">
            <a:avLst/>
          </a:prstGeom>
          <a:solidFill>
            <a:schemeClr val="accent4">
              <a:lumMod val="20000"/>
              <a:lumOff val="80000"/>
              <a:alpha val="70000"/>
            </a:schemeClr>
          </a:solidFill>
          <a:ln w="2540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000" dirty="0">
                <a:solidFill>
                  <a:schemeClr val="tx1">
                    <a:lumMod val="65000"/>
                    <a:lumOff val="3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Biological</a:t>
            </a:r>
          </a:p>
          <a:p>
            <a:pPr algn="ctr"/>
            <a:r>
              <a:rPr lang="en-US" altLang="zh-TW" sz="1000" dirty="0">
                <a:solidFill>
                  <a:schemeClr val="tx1">
                    <a:lumMod val="65000"/>
                    <a:lumOff val="3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Neuron</a:t>
            </a:r>
          </a:p>
          <a:p>
            <a:pPr algn="ctr"/>
            <a:r>
              <a:rPr lang="en-US" altLang="zh-TW" sz="800" dirty="0">
                <a:solidFill>
                  <a:schemeClr val="tx1">
                    <a:lumMod val="65000"/>
                    <a:lumOff val="35000"/>
                  </a:schemeClr>
                </a:solidFill>
                <a:ea typeface="ADLaM Display" panose="02010000000000000000" pitchFamily="2" charset="0"/>
                <a:cs typeface="ADLaM Display" panose="02010000000000000000" pitchFamily="2" charset="0"/>
              </a:rPr>
              <a:t>1943</a:t>
            </a:r>
          </a:p>
        </p:txBody>
      </p:sp>
      <p:sp>
        <p:nvSpPr>
          <p:cNvPr id="66" name="文字方塊 65">
            <a:extLst>
              <a:ext uri="{FF2B5EF4-FFF2-40B4-BE49-F238E27FC236}">
                <a16:creationId xmlns:a16="http://schemas.microsoft.com/office/drawing/2014/main" id="{8977116D-6C92-C727-0748-BB8161DDD895}"/>
              </a:ext>
            </a:extLst>
          </p:cNvPr>
          <p:cNvSpPr txBox="1"/>
          <p:nvPr/>
        </p:nvSpPr>
        <p:spPr>
          <a:xfrm>
            <a:off x="7306081" y="1559595"/>
            <a:ext cx="938327" cy="400110"/>
          </a:xfrm>
          <a:prstGeom prst="rect">
            <a:avLst/>
          </a:prstGeom>
          <a:solidFill>
            <a:schemeClr val="accent2">
              <a:lumMod val="20000"/>
              <a:lumOff val="80000"/>
              <a:alpha val="60000"/>
            </a:schemeClr>
          </a:solidFill>
        </p:spPr>
        <p:txBody>
          <a:bodyPr wrap="none" lIns="0" tIns="0" rIns="0" bIns="0" anchor="ctr" anchorCtr="1">
            <a:noAutofit/>
          </a:bodyPr>
          <a:lstStyle/>
          <a:p>
            <a:pPr algn="ctr"/>
            <a:r>
              <a:rPr lang="en-US" altLang="zh-TW" sz="1000" b="1" dirty="0">
                <a:effectLst/>
              </a:rPr>
              <a:t>Backpropagation</a:t>
            </a:r>
          </a:p>
          <a:p>
            <a:pPr algn="ctr"/>
            <a:r>
              <a:rPr lang="en-US" altLang="zh-TW" sz="1000" dirty="0"/>
              <a:t>Hopfield, Hinton</a:t>
            </a:r>
            <a:endParaRPr lang="zh-TW" altLang="en-US" sz="800" dirty="0"/>
          </a:p>
        </p:txBody>
      </p:sp>
      <p:sp>
        <p:nvSpPr>
          <p:cNvPr id="7" name="橢圓 6">
            <a:extLst>
              <a:ext uri="{FF2B5EF4-FFF2-40B4-BE49-F238E27FC236}">
                <a16:creationId xmlns:a16="http://schemas.microsoft.com/office/drawing/2014/main" id="{AA368A15-3EB1-B632-32F7-35E0E54C152A}"/>
              </a:ext>
            </a:extLst>
          </p:cNvPr>
          <p:cNvSpPr/>
          <p:nvPr/>
        </p:nvSpPr>
        <p:spPr>
          <a:xfrm>
            <a:off x="6187722" y="1610374"/>
            <a:ext cx="321115" cy="304864"/>
          </a:xfrm>
          <a:prstGeom prst="ellipse">
            <a:avLst/>
          </a:prstGeom>
          <a:solidFill>
            <a:schemeClr val="accent2">
              <a:lumMod val="20000"/>
              <a:lumOff val="80000"/>
              <a:alpha val="70000"/>
            </a:schemeClr>
          </a:solidFill>
          <a:ln w="25400">
            <a:solidFill>
              <a:schemeClr val="accent2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000" dirty="0">
                <a:solidFill>
                  <a:schemeClr val="tx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MLP</a:t>
            </a:r>
          </a:p>
          <a:p>
            <a:pPr algn="ctr"/>
            <a:r>
              <a:rPr lang="en-US" altLang="zh-TW" sz="800" dirty="0">
                <a:solidFill>
                  <a:schemeClr val="tx1"/>
                </a:solidFill>
                <a:ea typeface="ADLaM Display" panose="02010000000000000000" pitchFamily="2" charset="0"/>
                <a:cs typeface="ADLaM Display" panose="02010000000000000000" pitchFamily="2" charset="0"/>
              </a:rPr>
              <a:t>2006</a:t>
            </a:r>
          </a:p>
        </p:txBody>
      </p:sp>
      <p:sp>
        <p:nvSpPr>
          <p:cNvPr id="72" name="文字方塊 71">
            <a:extLst>
              <a:ext uri="{FF2B5EF4-FFF2-40B4-BE49-F238E27FC236}">
                <a16:creationId xmlns:a16="http://schemas.microsoft.com/office/drawing/2014/main" id="{E065BC21-42C4-3C79-53D2-AC6017D335B8}"/>
              </a:ext>
            </a:extLst>
          </p:cNvPr>
          <p:cNvSpPr txBox="1"/>
          <p:nvPr/>
        </p:nvSpPr>
        <p:spPr>
          <a:xfrm>
            <a:off x="192112" y="5517232"/>
            <a:ext cx="6252096" cy="1092607"/>
          </a:xfrm>
          <a:prstGeom prst="rect">
            <a:avLst/>
          </a:prstGeom>
          <a:solidFill>
            <a:schemeClr val="bg1">
              <a:alpha val="90000"/>
            </a:schemeClr>
          </a:solidFill>
        </p:spPr>
        <p:txBody>
          <a:bodyPr wrap="none">
            <a:sp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2000" b="1" u="none" strike="noStrike" dirty="0">
                <a:effectLst/>
              </a:rPr>
              <a:t>Conclusion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Model Converge:</a:t>
            </a:r>
            <a:r>
              <a:rPr lang="en-US" altLang="zh-TW" sz="1600" dirty="0"/>
              <a:t> Parameters, cost, power.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Nobel Physics 2024:</a:t>
            </a:r>
            <a:r>
              <a:rPr lang="en-US" altLang="zh-TW" sz="1600" dirty="0"/>
              <a:t> MLP= BM(physics) + Backpropagation(Hinton).</a:t>
            </a:r>
          </a:p>
        </p:txBody>
      </p:sp>
      <p:sp>
        <p:nvSpPr>
          <p:cNvPr id="74" name="矩形 73">
            <a:extLst>
              <a:ext uri="{FF2B5EF4-FFF2-40B4-BE49-F238E27FC236}">
                <a16:creationId xmlns:a16="http://schemas.microsoft.com/office/drawing/2014/main" id="{580E5C8E-A371-21A6-CE7A-D0B2B7C94393}"/>
              </a:ext>
            </a:extLst>
          </p:cNvPr>
          <p:cNvSpPr/>
          <p:nvPr/>
        </p:nvSpPr>
        <p:spPr>
          <a:xfrm>
            <a:off x="2065599" y="2276872"/>
            <a:ext cx="731520" cy="309749"/>
          </a:xfrm>
          <a:prstGeom prst="rect">
            <a:avLst/>
          </a:prstGeom>
          <a:solidFill>
            <a:schemeClr val="accent3">
              <a:lumMod val="20000"/>
              <a:lumOff val="80000"/>
              <a:alpha val="90000"/>
            </a:schemeClr>
          </a:solidFill>
          <a:ln w="3175"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120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RNN-LM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800" dirty="0">
                <a:ln w="0"/>
                <a:solidFill>
                  <a:prstClr val="black"/>
                </a:solidFill>
                <a:latin typeface="Calibri"/>
                <a:ea typeface="新細明體" panose="02020500000000000000" pitchFamily="18" charset="-120"/>
              </a:rPr>
              <a:t>2010</a:t>
            </a:r>
            <a:endParaRPr kumimoji="0" lang="en-US" altLang="zh-TW" sz="800" i="0" u="none" strike="noStrike" kern="1200" cap="none" spc="0" normalizeH="0" baseline="0" noProof="0" dirty="0">
              <a:ln w="0"/>
              <a:solidFill>
                <a:prstClr val="black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76" name="矩形 75">
            <a:extLst>
              <a:ext uri="{FF2B5EF4-FFF2-40B4-BE49-F238E27FC236}">
                <a16:creationId xmlns:a16="http://schemas.microsoft.com/office/drawing/2014/main" id="{9F6D1A35-0C99-C511-862F-D46810142715}"/>
              </a:ext>
            </a:extLst>
          </p:cNvPr>
          <p:cNvSpPr/>
          <p:nvPr/>
        </p:nvSpPr>
        <p:spPr>
          <a:xfrm>
            <a:off x="2065599" y="3191259"/>
            <a:ext cx="731520" cy="309749"/>
          </a:xfrm>
          <a:prstGeom prst="rect">
            <a:avLst/>
          </a:prstGeom>
          <a:solidFill>
            <a:schemeClr val="accent3">
              <a:lumMod val="20000"/>
              <a:lumOff val="80000"/>
              <a:alpha val="90000"/>
            </a:schemeClr>
          </a:solidFill>
          <a:ln w="3175"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120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Seq2Seq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800" dirty="0">
                <a:ln w="0"/>
                <a:solidFill>
                  <a:prstClr val="black"/>
                </a:solidFill>
                <a:latin typeface="Calibri"/>
                <a:ea typeface="新細明體" panose="02020500000000000000" pitchFamily="18" charset="-120"/>
              </a:rPr>
              <a:t>2014</a:t>
            </a:r>
            <a:endParaRPr kumimoji="0" lang="en-US" altLang="zh-TW" sz="800" i="0" u="none" strike="noStrike" kern="1200" cap="none" spc="0" normalizeH="0" baseline="0" noProof="0" dirty="0">
              <a:ln w="0"/>
              <a:solidFill>
                <a:prstClr val="black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65" name="橢圓 64">
            <a:extLst>
              <a:ext uri="{FF2B5EF4-FFF2-40B4-BE49-F238E27FC236}">
                <a16:creationId xmlns:a16="http://schemas.microsoft.com/office/drawing/2014/main" id="{AF2ADE06-0373-BCFA-7358-2B78588727A0}"/>
              </a:ext>
            </a:extLst>
          </p:cNvPr>
          <p:cNvSpPr/>
          <p:nvPr/>
        </p:nvSpPr>
        <p:spPr>
          <a:xfrm>
            <a:off x="5052136" y="3033074"/>
            <a:ext cx="678792" cy="663703"/>
          </a:xfrm>
          <a:prstGeom prst="ellipse">
            <a:avLst/>
          </a:prstGeom>
          <a:solidFill>
            <a:schemeClr val="accent4">
              <a:lumMod val="20000"/>
              <a:lumOff val="80000"/>
              <a:alpha val="70000"/>
            </a:schemeClr>
          </a:solidFill>
          <a:ln w="3175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200" dirty="0">
                <a:solidFill>
                  <a:schemeClr val="tx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Encoder</a:t>
            </a:r>
          </a:p>
          <a:p>
            <a:pPr algn="ctr"/>
            <a:r>
              <a:rPr lang="en-US" altLang="zh-TW" sz="1200" dirty="0">
                <a:solidFill>
                  <a:schemeClr val="tx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Decoder</a:t>
            </a:r>
          </a:p>
          <a:p>
            <a:pPr algn="ctr"/>
            <a:r>
              <a:rPr lang="en-US" altLang="zh-TW" sz="800" dirty="0">
                <a:solidFill>
                  <a:schemeClr val="tx1"/>
                </a:solidFill>
                <a:ea typeface="ADLaM Display" panose="02010000000000000000" pitchFamily="2" charset="0"/>
                <a:cs typeface="ADLaM Display" panose="02010000000000000000" pitchFamily="2" charset="0"/>
              </a:rPr>
              <a:t>2014</a:t>
            </a:r>
          </a:p>
        </p:txBody>
      </p:sp>
      <p:sp>
        <p:nvSpPr>
          <p:cNvPr id="24" name="橢圓 23">
            <a:extLst>
              <a:ext uri="{FF2B5EF4-FFF2-40B4-BE49-F238E27FC236}">
                <a16:creationId xmlns:a16="http://schemas.microsoft.com/office/drawing/2014/main" id="{5AD84FAD-CD1C-1567-2DA1-5D10317355DF}"/>
              </a:ext>
            </a:extLst>
          </p:cNvPr>
          <p:cNvSpPr/>
          <p:nvPr/>
        </p:nvSpPr>
        <p:spPr>
          <a:xfrm>
            <a:off x="5995871" y="4653136"/>
            <a:ext cx="495818" cy="447885"/>
          </a:xfrm>
          <a:prstGeom prst="ellipse">
            <a:avLst/>
          </a:prstGeom>
          <a:solidFill>
            <a:schemeClr val="accent4">
              <a:lumMod val="20000"/>
              <a:lumOff val="80000"/>
              <a:alpha val="70000"/>
            </a:schemeClr>
          </a:solidFill>
          <a:ln w="3175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Ins="0" bIns="0" rtlCol="0" anchor="ctr" anchorCtr="1"/>
          <a:lstStyle/>
          <a:p>
            <a:pPr algn="ctr">
              <a:lnSpc>
                <a:spcPts val="1000"/>
              </a:lnSpc>
            </a:pPr>
            <a:r>
              <a:rPr lang="en-US" altLang="zh-TW" sz="1200" dirty="0">
                <a:solidFill>
                  <a:schemeClr val="tx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GPT</a:t>
            </a:r>
          </a:p>
          <a:p>
            <a:pPr algn="ctr">
              <a:lnSpc>
                <a:spcPts val="1000"/>
              </a:lnSpc>
            </a:pPr>
            <a:r>
              <a:rPr lang="en-US" altLang="zh-TW" sz="1000" dirty="0">
                <a:solidFill>
                  <a:schemeClr val="tx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Attn + MoE</a:t>
            </a:r>
          </a:p>
        </p:txBody>
      </p:sp>
      <p:cxnSp>
        <p:nvCxnSpPr>
          <p:cNvPr id="27" name="直線單箭頭接點 26">
            <a:extLst>
              <a:ext uri="{FF2B5EF4-FFF2-40B4-BE49-F238E27FC236}">
                <a16:creationId xmlns:a16="http://schemas.microsoft.com/office/drawing/2014/main" id="{0CC5A7DD-41A0-7EEC-23DC-D93DBA4C6ABD}"/>
              </a:ext>
            </a:extLst>
          </p:cNvPr>
          <p:cNvCxnSpPr>
            <a:cxnSpLocks/>
            <a:endCxn id="30" idx="0"/>
          </p:cNvCxnSpPr>
          <p:nvPr/>
        </p:nvCxnSpPr>
        <p:spPr>
          <a:xfrm>
            <a:off x="3247623" y="3697255"/>
            <a:ext cx="15409" cy="955881"/>
          </a:xfrm>
          <a:prstGeom prst="straightConnector1">
            <a:avLst/>
          </a:prstGeom>
          <a:ln w="22225">
            <a:solidFill>
              <a:schemeClr val="accent3">
                <a:lumMod val="75000"/>
              </a:schemeClr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矩形 27">
            <a:extLst>
              <a:ext uri="{FF2B5EF4-FFF2-40B4-BE49-F238E27FC236}">
                <a16:creationId xmlns:a16="http://schemas.microsoft.com/office/drawing/2014/main" id="{D4B11118-85CB-E3B3-3B58-A81E7240DFBE}"/>
              </a:ext>
            </a:extLst>
          </p:cNvPr>
          <p:cNvSpPr/>
          <p:nvPr/>
        </p:nvSpPr>
        <p:spPr>
          <a:xfrm>
            <a:off x="2897272" y="4005064"/>
            <a:ext cx="731520" cy="172916"/>
          </a:xfrm>
          <a:prstGeom prst="rect">
            <a:avLst/>
          </a:prstGeom>
          <a:solidFill>
            <a:schemeClr val="accent3">
              <a:lumMod val="20000"/>
              <a:lumOff val="80000"/>
              <a:alpha val="90000"/>
            </a:schemeClr>
          </a:solidFill>
          <a:ln w="3175"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200" b="1" dirty="0">
                <a:ln w="0"/>
                <a:solidFill>
                  <a:prstClr val="black"/>
                </a:solidFill>
                <a:latin typeface="Calibri"/>
                <a:ea typeface="新細明體" panose="02020500000000000000" pitchFamily="18" charset="-120"/>
              </a:rPr>
              <a:t>M</a:t>
            </a:r>
            <a:r>
              <a:rPr kumimoji="0" lang="en-US" altLang="zh-TW" sz="1200" b="1" i="0" u="none" strike="noStrike" kern="120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QA</a:t>
            </a:r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019896D7-A914-F596-8731-06D7273EE94D}"/>
              </a:ext>
            </a:extLst>
          </p:cNvPr>
          <p:cNvSpPr/>
          <p:nvPr/>
        </p:nvSpPr>
        <p:spPr>
          <a:xfrm>
            <a:off x="2897272" y="4293096"/>
            <a:ext cx="731520" cy="165687"/>
          </a:xfrm>
          <a:prstGeom prst="rect">
            <a:avLst/>
          </a:prstGeom>
          <a:solidFill>
            <a:schemeClr val="accent3">
              <a:lumMod val="20000"/>
              <a:lumOff val="80000"/>
              <a:alpha val="90000"/>
            </a:schemeClr>
          </a:solidFill>
          <a:ln w="3175"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200" b="1" dirty="0">
                <a:ln w="0"/>
                <a:solidFill>
                  <a:prstClr val="black"/>
                </a:solidFill>
                <a:latin typeface="Calibri"/>
                <a:ea typeface="新細明體" panose="02020500000000000000" pitchFamily="18" charset="-120"/>
              </a:rPr>
              <a:t>G</a:t>
            </a:r>
            <a:r>
              <a:rPr kumimoji="0" lang="en-US" altLang="zh-TW" sz="1200" b="1" i="0" u="none" strike="noStrike" kern="120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QA</a:t>
            </a:r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8E97BE1F-4641-F50D-115E-0BA3293DC4A9}"/>
              </a:ext>
            </a:extLst>
          </p:cNvPr>
          <p:cNvSpPr/>
          <p:nvPr/>
        </p:nvSpPr>
        <p:spPr>
          <a:xfrm>
            <a:off x="2897272" y="4653136"/>
            <a:ext cx="731519" cy="447885"/>
          </a:xfrm>
          <a:prstGeom prst="rect">
            <a:avLst/>
          </a:prstGeom>
          <a:solidFill>
            <a:schemeClr val="accent3">
              <a:lumMod val="20000"/>
              <a:lumOff val="80000"/>
              <a:alpha val="90000"/>
            </a:schemeClr>
          </a:solidFill>
          <a:ln w="3175"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ts val="1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120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Multi </a:t>
            </a:r>
            <a:r>
              <a:rPr lang="en-US" altLang="zh-TW" sz="1200" b="1" dirty="0">
                <a:ln w="0"/>
                <a:solidFill>
                  <a:prstClr val="black"/>
                </a:solidFill>
                <a:latin typeface="Calibri"/>
                <a:ea typeface="新細明體" panose="02020500000000000000" pitchFamily="18" charset="-120"/>
              </a:rPr>
              <a:t>Latent</a:t>
            </a:r>
          </a:p>
          <a:p>
            <a:pPr marL="0" marR="0" lvl="0" indent="0" algn="ctr" defTabSz="914400" rtl="0" eaLnBrk="1" fontAlgn="auto" latinLnBrk="0" hangingPunct="1">
              <a:lnSpc>
                <a:spcPts val="1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120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Attention</a:t>
            </a:r>
          </a:p>
          <a:p>
            <a:pPr marL="0" marR="0" lvl="0" indent="0" algn="ctr" defTabSz="914400" rtl="0" eaLnBrk="1" fontAlgn="auto" latinLnBrk="0" hangingPunct="1">
              <a:lnSpc>
                <a:spcPts val="1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800" dirty="0">
                <a:ln w="0"/>
                <a:solidFill>
                  <a:prstClr val="black"/>
                </a:solidFill>
                <a:latin typeface="Calibri"/>
                <a:ea typeface="新細明體" panose="02020500000000000000" pitchFamily="18" charset="-120"/>
              </a:rPr>
              <a:t>2024</a:t>
            </a:r>
            <a:endParaRPr kumimoji="0" lang="en-US" altLang="zh-TW" sz="800" i="0" u="none" strike="noStrike" kern="1200" cap="none" spc="0" normalizeH="0" baseline="0" noProof="0" dirty="0">
              <a:ln w="0"/>
              <a:solidFill>
                <a:prstClr val="black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E9F6D5AD-9561-8B3B-9EE9-975ADF9B9104}"/>
              </a:ext>
            </a:extLst>
          </p:cNvPr>
          <p:cNvSpPr/>
          <p:nvPr/>
        </p:nvSpPr>
        <p:spPr>
          <a:xfrm>
            <a:off x="2889653" y="3717032"/>
            <a:ext cx="731520" cy="172665"/>
          </a:xfrm>
          <a:prstGeom prst="rect">
            <a:avLst/>
          </a:prstGeom>
          <a:solidFill>
            <a:schemeClr val="accent3">
              <a:lumMod val="20000"/>
              <a:lumOff val="80000"/>
              <a:alpha val="90000"/>
            </a:schemeClr>
          </a:solidFill>
          <a:ln w="3175"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200" b="1" dirty="0">
                <a:ln w="0"/>
                <a:solidFill>
                  <a:prstClr val="black"/>
                </a:solidFill>
                <a:latin typeface="Calibri"/>
                <a:ea typeface="新細明體" panose="02020500000000000000" pitchFamily="18" charset="-120"/>
              </a:rPr>
              <a:t>MH</a:t>
            </a:r>
            <a:r>
              <a:rPr kumimoji="0" lang="en-US" altLang="zh-TW" sz="1200" b="1" i="0" u="none" strike="noStrike" kern="120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A</a:t>
            </a:r>
          </a:p>
        </p:txBody>
      </p:sp>
      <p:sp>
        <p:nvSpPr>
          <p:cNvPr id="38" name="矩形 37">
            <a:extLst>
              <a:ext uri="{FF2B5EF4-FFF2-40B4-BE49-F238E27FC236}">
                <a16:creationId xmlns:a16="http://schemas.microsoft.com/office/drawing/2014/main" id="{C3BBF09B-E535-6D8F-9D33-2BF80A6AE597}"/>
              </a:ext>
            </a:extLst>
          </p:cNvPr>
          <p:cNvSpPr/>
          <p:nvPr/>
        </p:nvSpPr>
        <p:spPr>
          <a:xfrm>
            <a:off x="6175790" y="5589240"/>
            <a:ext cx="628458" cy="361919"/>
          </a:xfrm>
          <a:prstGeom prst="rect">
            <a:avLst/>
          </a:prstGeom>
          <a:solidFill>
            <a:schemeClr val="accent1">
              <a:lumMod val="20000"/>
              <a:lumOff val="80000"/>
              <a:alpha val="90000"/>
            </a:schemeClr>
          </a:solidFill>
          <a:ln w="3175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120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KDA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120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AttnRes</a:t>
            </a:r>
          </a:p>
        </p:txBody>
      </p:sp>
      <p:cxnSp>
        <p:nvCxnSpPr>
          <p:cNvPr id="45" name="直線單箭頭接點 44">
            <a:extLst>
              <a:ext uri="{FF2B5EF4-FFF2-40B4-BE49-F238E27FC236}">
                <a16:creationId xmlns:a16="http://schemas.microsoft.com/office/drawing/2014/main" id="{4ED559E8-20A7-6144-F4C3-CB32FB2CB002}"/>
              </a:ext>
            </a:extLst>
          </p:cNvPr>
          <p:cNvCxnSpPr>
            <a:cxnSpLocks/>
            <a:stCxn id="92" idx="2"/>
            <a:endCxn id="50" idx="0"/>
          </p:cNvCxnSpPr>
          <p:nvPr/>
        </p:nvCxnSpPr>
        <p:spPr>
          <a:xfrm>
            <a:off x="2417480" y="3889697"/>
            <a:ext cx="893" cy="1339503"/>
          </a:xfrm>
          <a:prstGeom prst="straightConnector1">
            <a:avLst/>
          </a:prstGeom>
          <a:ln w="22225">
            <a:solidFill>
              <a:schemeClr val="accent3">
                <a:lumMod val="75000"/>
              </a:schemeClr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矩形 46">
            <a:extLst>
              <a:ext uri="{FF2B5EF4-FFF2-40B4-BE49-F238E27FC236}">
                <a16:creationId xmlns:a16="http://schemas.microsoft.com/office/drawing/2014/main" id="{D70EE51F-11F3-E227-6416-3EF6D0A0EF82}"/>
              </a:ext>
            </a:extLst>
          </p:cNvPr>
          <p:cNvSpPr/>
          <p:nvPr/>
        </p:nvSpPr>
        <p:spPr>
          <a:xfrm>
            <a:off x="2052613" y="4415441"/>
            <a:ext cx="731520" cy="165687"/>
          </a:xfrm>
          <a:prstGeom prst="rect">
            <a:avLst/>
          </a:prstGeom>
          <a:solidFill>
            <a:schemeClr val="accent3">
              <a:lumMod val="20000"/>
              <a:lumOff val="80000"/>
              <a:alpha val="90000"/>
            </a:schemeClr>
          </a:solidFill>
          <a:ln w="3175"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200" b="1" dirty="0">
                <a:ln w="0"/>
                <a:solidFill>
                  <a:prstClr val="black"/>
                </a:solidFill>
                <a:latin typeface="Calibri"/>
                <a:ea typeface="新細明體" panose="02020500000000000000" pitchFamily="18" charset="-120"/>
              </a:rPr>
              <a:t>NoPE</a:t>
            </a:r>
            <a:endParaRPr kumimoji="0" lang="en-US" altLang="zh-TW" sz="1200" b="1" i="0" u="none" strike="noStrike" kern="1200" cap="none" spc="0" normalizeH="0" baseline="0" noProof="0" dirty="0">
              <a:ln w="0"/>
              <a:solidFill>
                <a:prstClr val="black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48" name="矩形 47">
            <a:extLst>
              <a:ext uri="{FF2B5EF4-FFF2-40B4-BE49-F238E27FC236}">
                <a16:creationId xmlns:a16="http://schemas.microsoft.com/office/drawing/2014/main" id="{8C481EE5-03DA-1F5B-927C-966083F6C882}"/>
              </a:ext>
            </a:extLst>
          </p:cNvPr>
          <p:cNvSpPr/>
          <p:nvPr/>
        </p:nvSpPr>
        <p:spPr>
          <a:xfrm>
            <a:off x="2051720" y="4653054"/>
            <a:ext cx="731520" cy="447885"/>
          </a:xfrm>
          <a:prstGeom prst="rect">
            <a:avLst/>
          </a:prstGeom>
          <a:solidFill>
            <a:schemeClr val="accent3">
              <a:lumMod val="20000"/>
              <a:lumOff val="80000"/>
              <a:alpha val="90000"/>
            </a:schemeClr>
          </a:solidFill>
          <a:ln w="3175"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ts val="1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120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PE</a:t>
            </a:r>
          </a:p>
          <a:p>
            <a:pPr marL="0" marR="0" lvl="0" indent="0" algn="ctr" defTabSz="914400" rtl="0" eaLnBrk="1" fontAlgn="auto" latinLnBrk="0" hangingPunct="1">
              <a:lnSpc>
                <a:spcPts val="1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120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Decouple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800" dirty="0">
                <a:ln w="0"/>
                <a:solidFill>
                  <a:prstClr val="black"/>
                </a:solidFill>
                <a:latin typeface="Calibri"/>
                <a:ea typeface="新細明體" panose="02020500000000000000" pitchFamily="18" charset="-120"/>
              </a:rPr>
              <a:t>2024</a:t>
            </a:r>
            <a:endParaRPr kumimoji="0" lang="en-US" altLang="zh-TW" sz="800" i="0" u="none" strike="noStrike" kern="1200" cap="none" spc="0" normalizeH="0" baseline="0" noProof="0" dirty="0">
              <a:ln w="0"/>
              <a:solidFill>
                <a:prstClr val="black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50" name="矩形 49">
            <a:extLst>
              <a:ext uri="{FF2B5EF4-FFF2-40B4-BE49-F238E27FC236}">
                <a16:creationId xmlns:a16="http://schemas.microsoft.com/office/drawing/2014/main" id="{E58CE629-9C97-E6A5-73B1-3258C20DCA38}"/>
              </a:ext>
            </a:extLst>
          </p:cNvPr>
          <p:cNvSpPr/>
          <p:nvPr/>
        </p:nvSpPr>
        <p:spPr>
          <a:xfrm>
            <a:off x="2052613" y="5229200"/>
            <a:ext cx="731520" cy="397324"/>
          </a:xfrm>
          <a:prstGeom prst="rect">
            <a:avLst/>
          </a:prstGeom>
          <a:solidFill>
            <a:schemeClr val="accent3">
              <a:lumMod val="20000"/>
              <a:lumOff val="80000"/>
              <a:alpha val="90000"/>
            </a:schemeClr>
          </a:solidFill>
          <a:ln w="3175"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ts val="1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120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NoPE</a:t>
            </a:r>
          </a:p>
          <a:p>
            <a:pPr marL="0" marR="0" lvl="0" indent="0" algn="ctr" defTabSz="914400" rtl="0" eaLnBrk="1" fontAlgn="auto" latinLnBrk="0" hangingPunct="1">
              <a:lnSpc>
                <a:spcPts val="1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200" b="1" dirty="0">
                <a:ln w="0"/>
                <a:solidFill>
                  <a:prstClr val="black"/>
                </a:solidFill>
                <a:latin typeface="Calibri"/>
                <a:ea typeface="新細明體" panose="02020500000000000000" pitchFamily="18" charset="-120"/>
              </a:rPr>
              <a:t>Everywhere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800" i="0" u="none" strike="noStrike" kern="120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2026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0AF6AAD9-A49B-4E37-921F-F55608D4D506}"/>
              </a:ext>
            </a:extLst>
          </p:cNvPr>
          <p:cNvSpPr/>
          <p:nvPr/>
        </p:nvSpPr>
        <p:spPr>
          <a:xfrm>
            <a:off x="7615951" y="5595497"/>
            <a:ext cx="628457" cy="361918"/>
          </a:xfrm>
          <a:prstGeom prst="rect">
            <a:avLst/>
          </a:prstGeom>
          <a:solidFill>
            <a:schemeClr val="accent1">
              <a:lumMod val="20000"/>
              <a:lumOff val="80000"/>
              <a:alpha val="90000"/>
            </a:schemeClr>
          </a:solidFill>
          <a:ln w="3175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120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PLE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200" b="1" dirty="0">
                <a:ln w="0"/>
                <a:solidFill>
                  <a:prstClr val="black"/>
                </a:solidFill>
                <a:latin typeface="Calibri"/>
                <a:ea typeface="新細明體" panose="02020500000000000000" pitchFamily="18" charset="-120"/>
              </a:rPr>
              <a:t>Diffusion</a:t>
            </a:r>
            <a:endParaRPr kumimoji="0" lang="en-US" altLang="zh-TW" sz="1200" b="1" i="0" u="none" strike="noStrike" kern="1200" cap="none" spc="0" normalizeH="0" baseline="0" noProof="0" dirty="0">
              <a:ln w="0"/>
              <a:solidFill>
                <a:prstClr val="black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52" name="矩形 51">
            <a:extLst>
              <a:ext uri="{FF2B5EF4-FFF2-40B4-BE49-F238E27FC236}">
                <a16:creationId xmlns:a16="http://schemas.microsoft.com/office/drawing/2014/main" id="{4609C4BF-B1FF-333B-73AC-273E88619C09}"/>
              </a:ext>
            </a:extLst>
          </p:cNvPr>
          <p:cNvSpPr/>
          <p:nvPr/>
        </p:nvSpPr>
        <p:spPr>
          <a:xfrm>
            <a:off x="6895870" y="5589240"/>
            <a:ext cx="628458" cy="361919"/>
          </a:xfrm>
          <a:prstGeom prst="rect">
            <a:avLst/>
          </a:prstGeom>
          <a:solidFill>
            <a:schemeClr val="accent1">
              <a:lumMod val="20000"/>
              <a:lumOff val="80000"/>
              <a:alpha val="90000"/>
            </a:schemeClr>
          </a:solidFill>
          <a:ln w="3175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120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Decouple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200" b="1" dirty="0">
                <a:ln w="0"/>
                <a:solidFill>
                  <a:prstClr val="black"/>
                </a:solidFill>
                <a:latin typeface="Calibri"/>
                <a:ea typeface="新細明體" panose="02020500000000000000" pitchFamily="18" charset="-120"/>
              </a:rPr>
              <a:t>Hybrid</a:t>
            </a:r>
            <a:endParaRPr kumimoji="0" lang="en-US" altLang="zh-TW" sz="1200" b="1" i="0" u="none" strike="noStrike" kern="1200" cap="none" spc="0" normalizeH="0" baseline="0" noProof="0" dirty="0">
              <a:ln w="0"/>
              <a:solidFill>
                <a:prstClr val="black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57" name="矩形 56">
            <a:extLst>
              <a:ext uri="{FF2B5EF4-FFF2-40B4-BE49-F238E27FC236}">
                <a16:creationId xmlns:a16="http://schemas.microsoft.com/office/drawing/2014/main" id="{66E621F8-672B-F270-FE57-8799408045B4}"/>
              </a:ext>
            </a:extLst>
          </p:cNvPr>
          <p:cNvSpPr/>
          <p:nvPr/>
        </p:nvSpPr>
        <p:spPr>
          <a:xfrm>
            <a:off x="7495484" y="4849406"/>
            <a:ext cx="346781" cy="442907"/>
          </a:xfrm>
          <a:prstGeom prst="rect">
            <a:avLst/>
          </a:prstGeom>
          <a:solidFill>
            <a:schemeClr val="accent3">
              <a:lumMod val="20000"/>
              <a:lumOff val="80000"/>
              <a:alpha val="90000"/>
            </a:schemeClr>
          </a:solidFill>
          <a:ln w="3175"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120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MTP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800" i="0" u="none" strike="noStrike" kern="120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2024</a:t>
            </a:r>
          </a:p>
        </p:txBody>
      </p:sp>
      <p:sp>
        <p:nvSpPr>
          <p:cNvPr id="84" name="橢圓 83">
            <a:extLst>
              <a:ext uri="{FF2B5EF4-FFF2-40B4-BE49-F238E27FC236}">
                <a16:creationId xmlns:a16="http://schemas.microsoft.com/office/drawing/2014/main" id="{AF7A3337-28B9-DDBC-87D2-674B746533AD}"/>
              </a:ext>
            </a:extLst>
          </p:cNvPr>
          <p:cNvSpPr/>
          <p:nvPr/>
        </p:nvSpPr>
        <p:spPr>
          <a:xfrm>
            <a:off x="4908120" y="1802631"/>
            <a:ext cx="389945" cy="330225"/>
          </a:xfrm>
          <a:prstGeom prst="ellipse">
            <a:avLst/>
          </a:prstGeom>
          <a:solidFill>
            <a:schemeClr val="accent4">
              <a:lumMod val="20000"/>
              <a:lumOff val="80000"/>
              <a:alpha val="70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000" dirty="0">
                <a:solidFill>
                  <a:schemeClr val="tx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Auto-regressive</a:t>
            </a:r>
          </a:p>
          <a:p>
            <a:pPr algn="ctr"/>
            <a:r>
              <a:rPr lang="en-US" altLang="zh-TW" sz="1000" dirty="0">
                <a:solidFill>
                  <a:schemeClr val="tx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Generation</a:t>
            </a:r>
          </a:p>
        </p:txBody>
      </p:sp>
      <p:sp>
        <p:nvSpPr>
          <p:cNvPr id="92" name="矩形 91">
            <a:extLst>
              <a:ext uri="{FF2B5EF4-FFF2-40B4-BE49-F238E27FC236}">
                <a16:creationId xmlns:a16="http://schemas.microsoft.com/office/drawing/2014/main" id="{E30846E2-7D0C-A968-E2C8-57E4511568DE}"/>
              </a:ext>
            </a:extLst>
          </p:cNvPr>
          <p:cNvSpPr/>
          <p:nvPr/>
        </p:nvSpPr>
        <p:spPr>
          <a:xfrm>
            <a:off x="2051720" y="3717032"/>
            <a:ext cx="731520" cy="172665"/>
          </a:xfrm>
          <a:prstGeom prst="rect">
            <a:avLst/>
          </a:prstGeom>
          <a:solidFill>
            <a:schemeClr val="accent3">
              <a:lumMod val="20000"/>
              <a:lumOff val="80000"/>
              <a:alpha val="90000"/>
            </a:schemeClr>
          </a:solidFill>
          <a:ln w="3175"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120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PE</a:t>
            </a:r>
          </a:p>
        </p:txBody>
      </p:sp>
      <p:sp>
        <p:nvSpPr>
          <p:cNvPr id="94" name="矩形 93">
            <a:extLst>
              <a:ext uri="{FF2B5EF4-FFF2-40B4-BE49-F238E27FC236}">
                <a16:creationId xmlns:a16="http://schemas.microsoft.com/office/drawing/2014/main" id="{9350837F-8A50-118D-ECBB-8C3F197DFE12}"/>
              </a:ext>
            </a:extLst>
          </p:cNvPr>
          <p:cNvSpPr/>
          <p:nvPr/>
        </p:nvSpPr>
        <p:spPr>
          <a:xfrm>
            <a:off x="2059149" y="3996241"/>
            <a:ext cx="731520" cy="309749"/>
          </a:xfrm>
          <a:prstGeom prst="rect">
            <a:avLst/>
          </a:prstGeom>
          <a:solidFill>
            <a:schemeClr val="accent3">
              <a:lumMod val="20000"/>
              <a:lumOff val="80000"/>
              <a:alpha val="90000"/>
            </a:schemeClr>
          </a:solidFill>
          <a:ln w="3175"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120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RoPE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800" dirty="0">
                <a:ln w="0"/>
                <a:solidFill>
                  <a:prstClr val="black"/>
                </a:solidFill>
                <a:latin typeface="Calibri"/>
                <a:ea typeface="新細明體" panose="02020500000000000000" pitchFamily="18" charset="-120"/>
              </a:rPr>
              <a:t>2021</a:t>
            </a:r>
            <a:endParaRPr kumimoji="0" lang="en-US" altLang="zh-TW" sz="800" i="0" u="none" strike="noStrike" kern="1200" cap="none" spc="0" normalizeH="0" baseline="0" noProof="0" dirty="0">
              <a:ln w="0"/>
              <a:solidFill>
                <a:prstClr val="black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103" name="橢圓 102">
            <a:extLst>
              <a:ext uri="{FF2B5EF4-FFF2-40B4-BE49-F238E27FC236}">
                <a16:creationId xmlns:a16="http://schemas.microsoft.com/office/drawing/2014/main" id="{300B59D4-4F15-FC15-E853-6467F781666B}"/>
              </a:ext>
            </a:extLst>
          </p:cNvPr>
          <p:cNvSpPr/>
          <p:nvPr/>
        </p:nvSpPr>
        <p:spPr>
          <a:xfrm>
            <a:off x="5838239" y="1412776"/>
            <a:ext cx="245929" cy="236211"/>
          </a:xfrm>
          <a:prstGeom prst="ellipse">
            <a:avLst/>
          </a:prstGeom>
          <a:solidFill>
            <a:schemeClr val="accent4">
              <a:lumMod val="20000"/>
              <a:lumOff val="80000"/>
              <a:alpha val="70000"/>
            </a:schemeClr>
          </a:solidFill>
          <a:ln w="2540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000" dirty="0">
                <a:solidFill>
                  <a:schemeClr val="tx1">
                    <a:lumMod val="65000"/>
                    <a:lumOff val="3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LSA</a:t>
            </a:r>
          </a:p>
          <a:p>
            <a:pPr algn="ctr"/>
            <a:r>
              <a:rPr lang="en-US" altLang="zh-TW" sz="800" dirty="0">
                <a:solidFill>
                  <a:schemeClr val="tx1">
                    <a:lumMod val="65000"/>
                    <a:lumOff val="35000"/>
                  </a:schemeClr>
                </a:solidFill>
                <a:ea typeface="ADLaM Display" panose="02010000000000000000" pitchFamily="2" charset="0"/>
                <a:cs typeface="ADLaM Display" panose="02010000000000000000" pitchFamily="2" charset="0"/>
              </a:rPr>
              <a:t>1990</a:t>
            </a:r>
          </a:p>
        </p:txBody>
      </p:sp>
      <p:sp>
        <p:nvSpPr>
          <p:cNvPr id="107" name="橢圓 106">
            <a:extLst>
              <a:ext uri="{FF2B5EF4-FFF2-40B4-BE49-F238E27FC236}">
                <a16:creationId xmlns:a16="http://schemas.microsoft.com/office/drawing/2014/main" id="{D84F15D3-B706-CBB6-BF7E-8B7ED20FC4A3}"/>
              </a:ext>
            </a:extLst>
          </p:cNvPr>
          <p:cNvSpPr/>
          <p:nvPr/>
        </p:nvSpPr>
        <p:spPr>
          <a:xfrm>
            <a:off x="6588224" y="1320581"/>
            <a:ext cx="245929" cy="236211"/>
          </a:xfrm>
          <a:prstGeom prst="ellipse">
            <a:avLst/>
          </a:prstGeom>
          <a:solidFill>
            <a:schemeClr val="accent4">
              <a:lumMod val="20000"/>
              <a:lumOff val="80000"/>
              <a:alpha val="70000"/>
            </a:schemeClr>
          </a:solidFill>
          <a:ln w="2540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000" dirty="0">
                <a:solidFill>
                  <a:schemeClr val="tx1">
                    <a:lumMod val="65000"/>
                    <a:lumOff val="3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RBM</a:t>
            </a:r>
          </a:p>
          <a:p>
            <a:pPr algn="ctr"/>
            <a:r>
              <a:rPr lang="en-US" altLang="zh-TW" sz="800" dirty="0">
                <a:solidFill>
                  <a:schemeClr val="tx1">
                    <a:lumMod val="65000"/>
                    <a:lumOff val="35000"/>
                  </a:schemeClr>
                </a:solidFill>
                <a:ea typeface="ADLaM Display" panose="02010000000000000000" pitchFamily="2" charset="0"/>
                <a:cs typeface="ADLaM Display" panose="02010000000000000000" pitchFamily="2" charset="0"/>
              </a:rPr>
              <a:t>1986</a:t>
            </a:r>
          </a:p>
        </p:txBody>
      </p:sp>
      <p:sp>
        <p:nvSpPr>
          <p:cNvPr id="109" name="橢圓 108">
            <a:extLst>
              <a:ext uri="{FF2B5EF4-FFF2-40B4-BE49-F238E27FC236}">
                <a16:creationId xmlns:a16="http://schemas.microsoft.com/office/drawing/2014/main" id="{9FED7859-0BE9-D907-297A-26D7162B823D}"/>
              </a:ext>
            </a:extLst>
          </p:cNvPr>
          <p:cNvSpPr/>
          <p:nvPr/>
        </p:nvSpPr>
        <p:spPr>
          <a:xfrm>
            <a:off x="6897904" y="1484784"/>
            <a:ext cx="245929" cy="236211"/>
          </a:xfrm>
          <a:prstGeom prst="ellipse">
            <a:avLst/>
          </a:prstGeom>
          <a:solidFill>
            <a:schemeClr val="accent4">
              <a:lumMod val="20000"/>
              <a:lumOff val="80000"/>
              <a:alpha val="70000"/>
            </a:schemeClr>
          </a:solidFill>
          <a:ln w="2540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000" dirty="0">
                <a:solidFill>
                  <a:schemeClr val="tx1">
                    <a:lumMod val="65000"/>
                    <a:lumOff val="3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LeNet</a:t>
            </a:r>
          </a:p>
          <a:p>
            <a:pPr algn="ctr"/>
            <a:r>
              <a:rPr lang="en-US" altLang="zh-TW" sz="800" dirty="0">
                <a:solidFill>
                  <a:schemeClr val="tx1">
                    <a:lumMod val="65000"/>
                    <a:lumOff val="35000"/>
                  </a:schemeClr>
                </a:solidFill>
                <a:ea typeface="ADLaM Display" panose="02010000000000000000" pitchFamily="2" charset="0"/>
                <a:cs typeface="ADLaM Display" panose="02010000000000000000" pitchFamily="2" charset="0"/>
              </a:rPr>
              <a:t>1998</a:t>
            </a:r>
          </a:p>
        </p:txBody>
      </p:sp>
      <p:cxnSp>
        <p:nvCxnSpPr>
          <p:cNvPr id="110" name="直線接點 109">
            <a:extLst>
              <a:ext uri="{FF2B5EF4-FFF2-40B4-BE49-F238E27FC236}">
                <a16:creationId xmlns:a16="http://schemas.microsoft.com/office/drawing/2014/main" id="{B25A918D-DB22-47B3-573E-D7BF1110848B}"/>
              </a:ext>
            </a:extLst>
          </p:cNvPr>
          <p:cNvCxnSpPr>
            <a:cxnSpLocks/>
            <a:stCxn id="7" idx="6"/>
            <a:endCxn id="66" idx="1"/>
          </p:cNvCxnSpPr>
          <p:nvPr/>
        </p:nvCxnSpPr>
        <p:spPr>
          <a:xfrm flipV="1">
            <a:off x="6508837" y="1759650"/>
            <a:ext cx="797244" cy="3156"/>
          </a:xfrm>
          <a:prstGeom prst="line">
            <a:avLst/>
          </a:prstGeom>
          <a:ln w="9525">
            <a:solidFill>
              <a:schemeClr val="accent2">
                <a:lumMod val="60000"/>
                <a:lumOff val="40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橢圓 36">
            <a:extLst>
              <a:ext uri="{FF2B5EF4-FFF2-40B4-BE49-F238E27FC236}">
                <a16:creationId xmlns:a16="http://schemas.microsoft.com/office/drawing/2014/main" id="{41245B26-A988-2E9B-EB09-1D273839086C}"/>
              </a:ext>
            </a:extLst>
          </p:cNvPr>
          <p:cNvSpPr/>
          <p:nvPr/>
        </p:nvSpPr>
        <p:spPr>
          <a:xfrm>
            <a:off x="7596336" y="1268760"/>
            <a:ext cx="245929" cy="236211"/>
          </a:xfrm>
          <a:prstGeom prst="ellipse">
            <a:avLst/>
          </a:prstGeom>
          <a:solidFill>
            <a:schemeClr val="accent4">
              <a:lumMod val="20000"/>
              <a:lumOff val="80000"/>
              <a:alpha val="70000"/>
            </a:schemeClr>
          </a:solidFill>
          <a:ln w="2540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000" dirty="0">
                <a:solidFill>
                  <a:schemeClr val="tx1">
                    <a:lumMod val="65000"/>
                    <a:lumOff val="35000"/>
                  </a:schemeClr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Delta Rule</a:t>
            </a:r>
          </a:p>
          <a:p>
            <a:pPr algn="ctr"/>
            <a:r>
              <a:rPr lang="en-US" altLang="zh-TW" sz="800" dirty="0">
                <a:solidFill>
                  <a:schemeClr val="tx1">
                    <a:lumMod val="65000"/>
                    <a:lumOff val="35000"/>
                  </a:schemeClr>
                </a:solidFill>
                <a:ea typeface="ADLaM Display" panose="02010000000000000000" pitchFamily="2" charset="0"/>
                <a:cs typeface="ADLaM Display" panose="02010000000000000000" pitchFamily="2" charset="0"/>
              </a:rPr>
              <a:t>1960</a:t>
            </a:r>
          </a:p>
        </p:txBody>
      </p:sp>
      <p:sp>
        <p:nvSpPr>
          <p:cNvPr id="46" name="橢圓 45">
            <a:extLst>
              <a:ext uri="{FF2B5EF4-FFF2-40B4-BE49-F238E27FC236}">
                <a16:creationId xmlns:a16="http://schemas.microsoft.com/office/drawing/2014/main" id="{794F9DF3-4CFC-D6B9-C8DC-C52FC20C3B27}"/>
              </a:ext>
            </a:extLst>
          </p:cNvPr>
          <p:cNvSpPr/>
          <p:nvPr/>
        </p:nvSpPr>
        <p:spPr>
          <a:xfrm>
            <a:off x="4974143" y="4178895"/>
            <a:ext cx="389945" cy="330225"/>
          </a:xfrm>
          <a:prstGeom prst="ellipse">
            <a:avLst/>
          </a:prstGeom>
          <a:solidFill>
            <a:schemeClr val="accent4">
              <a:lumMod val="20000"/>
              <a:lumOff val="80000"/>
              <a:alpha val="70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200"/>
              </a:lnSpc>
            </a:pPr>
            <a:r>
              <a:rPr lang="en-US" altLang="zh-TW" sz="1000" dirty="0">
                <a:solidFill>
                  <a:schemeClr val="tx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Vanilla</a:t>
            </a:r>
          </a:p>
          <a:p>
            <a:pPr algn="ctr">
              <a:lnSpc>
                <a:spcPts val="1200"/>
              </a:lnSpc>
            </a:pPr>
            <a:r>
              <a:rPr lang="en-US" altLang="zh-TW" sz="1000" dirty="0">
                <a:solidFill>
                  <a:schemeClr val="tx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Linear </a:t>
            </a:r>
          </a:p>
          <a:p>
            <a:pPr algn="ctr">
              <a:lnSpc>
                <a:spcPts val="1200"/>
              </a:lnSpc>
            </a:pPr>
            <a:r>
              <a:rPr lang="en-US" altLang="zh-TW" sz="1000" dirty="0">
                <a:solidFill>
                  <a:schemeClr val="tx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Attention</a:t>
            </a:r>
          </a:p>
          <a:p>
            <a:pPr algn="ctr"/>
            <a:r>
              <a:rPr lang="en-US" altLang="zh-TW" sz="800" dirty="0">
                <a:solidFill>
                  <a:schemeClr val="tx1"/>
                </a:solidFill>
                <a:ea typeface="ADLaM Display" panose="02010000000000000000" pitchFamily="2" charset="0"/>
                <a:cs typeface="ADLaM Display" panose="02010000000000000000" pitchFamily="2" charset="0"/>
              </a:rPr>
              <a:t>2020</a:t>
            </a:r>
          </a:p>
        </p:txBody>
      </p:sp>
      <p:sp>
        <p:nvSpPr>
          <p:cNvPr id="51" name="橢圓 50">
            <a:extLst>
              <a:ext uri="{FF2B5EF4-FFF2-40B4-BE49-F238E27FC236}">
                <a16:creationId xmlns:a16="http://schemas.microsoft.com/office/drawing/2014/main" id="{63980A83-16E9-7791-B663-19C6A32C1EE1}"/>
              </a:ext>
            </a:extLst>
          </p:cNvPr>
          <p:cNvSpPr/>
          <p:nvPr/>
        </p:nvSpPr>
        <p:spPr>
          <a:xfrm>
            <a:off x="4974143" y="5199385"/>
            <a:ext cx="389945" cy="330225"/>
          </a:xfrm>
          <a:prstGeom prst="ellipse">
            <a:avLst/>
          </a:prstGeom>
          <a:solidFill>
            <a:schemeClr val="accent4">
              <a:lumMod val="20000"/>
              <a:lumOff val="80000"/>
              <a:alpha val="70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000" dirty="0">
                <a:solidFill>
                  <a:schemeClr val="tx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Gated DN</a:t>
            </a:r>
          </a:p>
          <a:p>
            <a:pPr algn="ctr"/>
            <a:r>
              <a:rPr lang="en-US" altLang="zh-TW" sz="800" dirty="0">
                <a:solidFill>
                  <a:schemeClr val="tx1"/>
                </a:solidFill>
                <a:ea typeface="ADLaM Display" panose="02010000000000000000" pitchFamily="2" charset="0"/>
                <a:cs typeface="ADLaM Display" panose="02010000000000000000" pitchFamily="2" charset="0"/>
              </a:rPr>
              <a:t>2025</a:t>
            </a:r>
          </a:p>
        </p:txBody>
      </p:sp>
      <p:sp>
        <p:nvSpPr>
          <p:cNvPr id="32" name="橢圓 31">
            <a:extLst>
              <a:ext uri="{FF2B5EF4-FFF2-40B4-BE49-F238E27FC236}">
                <a16:creationId xmlns:a16="http://schemas.microsoft.com/office/drawing/2014/main" id="{321BF9B8-3FD9-8BFC-9C27-8D0594D79603}"/>
              </a:ext>
            </a:extLst>
          </p:cNvPr>
          <p:cNvSpPr/>
          <p:nvPr/>
        </p:nvSpPr>
        <p:spPr>
          <a:xfrm>
            <a:off x="4964162" y="4797152"/>
            <a:ext cx="389945" cy="330225"/>
          </a:xfrm>
          <a:prstGeom prst="ellipse">
            <a:avLst/>
          </a:prstGeom>
          <a:solidFill>
            <a:schemeClr val="accent4">
              <a:lumMod val="20000"/>
              <a:lumOff val="80000"/>
              <a:alpha val="70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000" dirty="0">
                <a:solidFill>
                  <a:schemeClr val="tx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Delta Net</a:t>
            </a:r>
          </a:p>
          <a:p>
            <a:pPr algn="ctr"/>
            <a:r>
              <a:rPr lang="en-US" altLang="zh-TW" sz="1000" dirty="0">
                <a:solidFill>
                  <a:schemeClr val="tx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Chunk-wise</a:t>
            </a:r>
          </a:p>
          <a:p>
            <a:pPr algn="ctr"/>
            <a:r>
              <a:rPr lang="en-US" altLang="zh-TW" sz="800" dirty="0">
                <a:solidFill>
                  <a:schemeClr val="tx1"/>
                </a:solidFill>
                <a:ea typeface="ADLaM Display" panose="02010000000000000000" pitchFamily="2" charset="0"/>
                <a:cs typeface="ADLaM Display" panose="02010000000000000000" pitchFamily="2" charset="0"/>
              </a:rPr>
              <a:t>2024</a:t>
            </a:r>
          </a:p>
        </p:txBody>
      </p:sp>
      <p:sp>
        <p:nvSpPr>
          <p:cNvPr id="42" name="橢圓 41">
            <a:extLst>
              <a:ext uri="{FF2B5EF4-FFF2-40B4-BE49-F238E27FC236}">
                <a16:creationId xmlns:a16="http://schemas.microsoft.com/office/drawing/2014/main" id="{93296DC5-B434-3F69-60FA-EC1EB49C8739}"/>
              </a:ext>
            </a:extLst>
          </p:cNvPr>
          <p:cNvSpPr/>
          <p:nvPr/>
        </p:nvSpPr>
        <p:spPr>
          <a:xfrm>
            <a:off x="4974143" y="5589240"/>
            <a:ext cx="389945" cy="330225"/>
          </a:xfrm>
          <a:prstGeom prst="ellipse">
            <a:avLst/>
          </a:prstGeom>
          <a:solidFill>
            <a:schemeClr val="accent4">
              <a:lumMod val="20000"/>
              <a:lumOff val="80000"/>
              <a:alpha val="70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000" dirty="0">
                <a:solidFill>
                  <a:schemeClr val="tx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GDN2</a:t>
            </a:r>
          </a:p>
          <a:p>
            <a:pPr algn="ctr"/>
            <a:r>
              <a:rPr lang="en-US" altLang="zh-TW" sz="800" dirty="0">
                <a:solidFill>
                  <a:schemeClr val="tx1"/>
                </a:solidFill>
                <a:ea typeface="ADLaM Display" panose="02010000000000000000" pitchFamily="2" charset="0"/>
                <a:cs typeface="ADLaM Display" panose="02010000000000000000" pitchFamily="2" charset="0"/>
              </a:rPr>
              <a:t>2026</a:t>
            </a:r>
          </a:p>
        </p:txBody>
      </p:sp>
      <p:sp>
        <p:nvSpPr>
          <p:cNvPr id="53" name="橢圓 52">
            <a:extLst>
              <a:ext uri="{FF2B5EF4-FFF2-40B4-BE49-F238E27FC236}">
                <a16:creationId xmlns:a16="http://schemas.microsoft.com/office/drawing/2014/main" id="{F9F4F47A-CDC7-0B38-E5A5-088D4B80FB49}"/>
              </a:ext>
            </a:extLst>
          </p:cNvPr>
          <p:cNvSpPr/>
          <p:nvPr/>
        </p:nvSpPr>
        <p:spPr>
          <a:xfrm>
            <a:off x="5783258" y="3212976"/>
            <a:ext cx="355890" cy="360656"/>
          </a:xfrm>
          <a:prstGeom prst="ellipse">
            <a:avLst/>
          </a:prstGeom>
          <a:solidFill>
            <a:schemeClr val="accent4">
              <a:lumMod val="20000"/>
              <a:lumOff val="80000"/>
              <a:alpha val="70000"/>
            </a:schemeClr>
          </a:solidFill>
          <a:ln w="3175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200" dirty="0">
                <a:solidFill>
                  <a:schemeClr val="tx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GRU</a:t>
            </a:r>
          </a:p>
          <a:p>
            <a:pPr algn="ctr"/>
            <a:r>
              <a:rPr lang="en-US" altLang="zh-TW" sz="800" dirty="0">
                <a:solidFill>
                  <a:schemeClr val="tx1"/>
                </a:solidFill>
                <a:ea typeface="ADLaM Display" panose="02010000000000000000" pitchFamily="2" charset="0"/>
                <a:cs typeface="ADLaM Display" panose="02010000000000000000" pitchFamily="2" charset="0"/>
              </a:rPr>
              <a:t>2014</a:t>
            </a:r>
          </a:p>
        </p:txBody>
      </p:sp>
      <p:sp>
        <p:nvSpPr>
          <p:cNvPr id="56" name="橢圓 55">
            <a:extLst>
              <a:ext uri="{FF2B5EF4-FFF2-40B4-BE49-F238E27FC236}">
                <a16:creationId xmlns:a16="http://schemas.microsoft.com/office/drawing/2014/main" id="{D2FEA80B-EB56-2F71-D6B0-DBD3709510D9}"/>
              </a:ext>
            </a:extLst>
          </p:cNvPr>
          <p:cNvSpPr/>
          <p:nvPr/>
        </p:nvSpPr>
        <p:spPr>
          <a:xfrm>
            <a:off x="3973087" y="3714854"/>
            <a:ext cx="598913" cy="655761"/>
          </a:xfrm>
          <a:prstGeom prst="ellipse">
            <a:avLst/>
          </a:prstGeom>
          <a:solidFill>
            <a:schemeClr val="accent4">
              <a:lumMod val="20000"/>
              <a:lumOff val="80000"/>
              <a:alpha val="70000"/>
            </a:schemeClr>
          </a:solidFill>
          <a:ln w="3175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Ins="0" bIns="0" rtlCol="0" anchor="ctr" anchorCtr="1"/>
          <a:lstStyle/>
          <a:p>
            <a:pPr algn="ctr">
              <a:lnSpc>
                <a:spcPts val="1000"/>
              </a:lnSpc>
            </a:pPr>
            <a:r>
              <a:rPr lang="en-US" altLang="zh-TW" sz="1000" dirty="0">
                <a:solidFill>
                  <a:schemeClr val="tx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Mamba</a:t>
            </a:r>
          </a:p>
          <a:p>
            <a:pPr algn="ctr"/>
            <a:r>
              <a:rPr lang="en-US" altLang="zh-TW" sz="800" dirty="0">
                <a:solidFill>
                  <a:schemeClr val="tx1"/>
                </a:solidFill>
                <a:ea typeface="ADLaM Display" panose="02010000000000000000" pitchFamily="2" charset="0"/>
                <a:cs typeface="ADLaM Display" panose="02010000000000000000" pitchFamily="2" charset="0"/>
              </a:rPr>
              <a:t>2017</a:t>
            </a:r>
          </a:p>
        </p:txBody>
      </p:sp>
    </p:spTree>
    <p:extLst>
      <p:ext uri="{BB962C8B-B14F-4D97-AF65-F5344CB8AC3E}">
        <p14:creationId xmlns:p14="http://schemas.microsoft.com/office/powerpoint/2010/main" val="182896722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Click="0">
        <p159:morph option="byObject"/>
      </p:transition>
    </mc:Choice>
    <mc:Fallback xmlns="">
      <p:transition spd="slow" advClick="0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A7897C64-E497-212A-0DAA-218F6BE73C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9" name="直線接點 98">
            <a:extLst>
              <a:ext uri="{FF2B5EF4-FFF2-40B4-BE49-F238E27FC236}">
                <a16:creationId xmlns:a16="http://schemas.microsoft.com/office/drawing/2014/main" id="{F16CE4D4-3B68-DCEC-4608-D09EC9628A7F}"/>
              </a:ext>
            </a:extLst>
          </p:cNvPr>
          <p:cNvCxnSpPr/>
          <p:nvPr/>
        </p:nvCxnSpPr>
        <p:spPr>
          <a:xfrm>
            <a:off x="2843808" y="1412776"/>
            <a:ext cx="3600400" cy="0"/>
          </a:xfrm>
          <a:prstGeom prst="line">
            <a:avLst/>
          </a:prstGeom>
          <a:ln w="28575">
            <a:solidFill>
              <a:schemeClr val="accent4">
                <a:lumMod val="20000"/>
                <a:lumOff val="80000"/>
              </a:schemeClr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橢圓 13">
            <a:extLst>
              <a:ext uri="{FF2B5EF4-FFF2-40B4-BE49-F238E27FC236}">
                <a16:creationId xmlns:a16="http://schemas.microsoft.com/office/drawing/2014/main" id="{15967FD7-DD09-5EF9-FE63-C02BD5FED6D0}"/>
              </a:ext>
            </a:extLst>
          </p:cNvPr>
          <p:cNvSpPr/>
          <p:nvPr/>
        </p:nvSpPr>
        <p:spPr>
          <a:xfrm>
            <a:off x="4190375" y="980728"/>
            <a:ext cx="598913" cy="612186"/>
          </a:xfrm>
          <a:prstGeom prst="ellipse">
            <a:avLst/>
          </a:prstGeom>
          <a:solidFill>
            <a:schemeClr val="accent4">
              <a:lumMod val="20000"/>
              <a:lumOff val="80000"/>
              <a:alpha val="70000"/>
            </a:schemeClr>
          </a:solidFill>
          <a:ln w="3175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Ins="0" bIns="0" rtlCol="0" anchor="ctr" anchorCtr="1"/>
          <a:lstStyle/>
          <a:p>
            <a:pPr algn="ctr">
              <a:lnSpc>
                <a:spcPts val="1000"/>
              </a:lnSpc>
            </a:pPr>
            <a:r>
              <a:rPr lang="en-US" altLang="zh-TW" sz="1200" dirty="0">
                <a:solidFill>
                  <a:schemeClr val="tx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Transformer</a:t>
            </a:r>
          </a:p>
          <a:p>
            <a:pPr algn="ctr">
              <a:lnSpc>
                <a:spcPts val="1200"/>
              </a:lnSpc>
            </a:pPr>
            <a:r>
              <a:rPr lang="en-US" altLang="zh-TW" sz="1000" dirty="0">
                <a:solidFill>
                  <a:schemeClr val="tx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Attention</a:t>
            </a:r>
          </a:p>
          <a:p>
            <a:pPr algn="ctr"/>
            <a:r>
              <a:rPr lang="en-US" altLang="zh-TW" sz="800" dirty="0">
                <a:solidFill>
                  <a:schemeClr val="tx1"/>
                </a:solidFill>
                <a:ea typeface="ADLaM Display" panose="02010000000000000000" pitchFamily="2" charset="0"/>
                <a:cs typeface="ADLaM Display" panose="02010000000000000000" pitchFamily="2" charset="0"/>
              </a:rPr>
              <a:t>2017</a:t>
            </a:r>
          </a:p>
        </p:txBody>
      </p:sp>
      <p:sp>
        <p:nvSpPr>
          <p:cNvPr id="16" name="橢圓 15">
            <a:extLst>
              <a:ext uri="{FF2B5EF4-FFF2-40B4-BE49-F238E27FC236}">
                <a16:creationId xmlns:a16="http://schemas.microsoft.com/office/drawing/2014/main" id="{7AC0C46A-3789-FA52-1434-C240D3BC000F}"/>
              </a:ext>
            </a:extLst>
          </p:cNvPr>
          <p:cNvSpPr/>
          <p:nvPr/>
        </p:nvSpPr>
        <p:spPr>
          <a:xfrm>
            <a:off x="4267679" y="1684971"/>
            <a:ext cx="495818" cy="447885"/>
          </a:xfrm>
          <a:prstGeom prst="ellipse">
            <a:avLst/>
          </a:prstGeom>
          <a:solidFill>
            <a:schemeClr val="accent4">
              <a:lumMod val="20000"/>
              <a:lumOff val="80000"/>
              <a:alpha val="70000"/>
            </a:schemeClr>
          </a:solidFill>
          <a:ln w="3175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Ins="0" bIns="0" rtlCol="0" anchor="ctr" anchorCtr="1"/>
          <a:lstStyle/>
          <a:p>
            <a:pPr algn="ctr">
              <a:lnSpc>
                <a:spcPts val="1000"/>
              </a:lnSpc>
            </a:pPr>
            <a:r>
              <a:rPr lang="en-US" altLang="zh-TW" sz="1200" dirty="0">
                <a:solidFill>
                  <a:schemeClr val="tx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GTP</a:t>
            </a:r>
          </a:p>
          <a:p>
            <a:pPr algn="ctr">
              <a:lnSpc>
                <a:spcPts val="1000"/>
              </a:lnSpc>
            </a:pPr>
            <a:r>
              <a:rPr lang="en-US" altLang="zh-TW" sz="800" dirty="0">
                <a:solidFill>
                  <a:schemeClr val="tx1"/>
                </a:solidFill>
                <a:ea typeface="ADLaM Display" panose="02010000000000000000" pitchFamily="2" charset="0"/>
                <a:cs typeface="ADLaM Display" panose="02010000000000000000" pitchFamily="2" charset="0"/>
              </a:rPr>
              <a:t>2018</a:t>
            </a:r>
          </a:p>
        </p:txBody>
      </p:sp>
      <p:cxnSp>
        <p:nvCxnSpPr>
          <p:cNvPr id="33" name="直線單箭頭接點 32">
            <a:extLst>
              <a:ext uri="{FF2B5EF4-FFF2-40B4-BE49-F238E27FC236}">
                <a16:creationId xmlns:a16="http://schemas.microsoft.com/office/drawing/2014/main" id="{3F064F87-CCBE-3BFF-CBD8-5EE02B3EB53E}"/>
              </a:ext>
            </a:extLst>
          </p:cNvPr>
          <p:cNvCxnSpPr>
            <a:cxnSpLocks/>
            <a:stCxn id="34" idx="2"/>
            <a:endCxn id="36" idx="0"/>
          </p:cNvCxnSpPr>
          <p:nvPr/>
        </p:nvCxnSpPr>
        <p:spPr>
          <a:xfrm flipH="1">
            <a:off x="7788756" y="3398381"/>
            <a:ext cx="2" cy="318651"/>
          </a:xfrm>
          <a:prstGeom prst="straightConnector1">
            <a:avLst/>
          </a:prstGeom>
          <a:ln w="22225">
            <a:solidFill>
              <a:schemeClr val="accent3">
                <a:lumMod val="75000"/>
              </a:schemeClr>
            </a:solidFill>
            <a:prstDash val="solid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矩形 35">
            <a:extLst>
              <a:ext uri="{FF2B5EF4-FFF2-40B4-BE49-F238E27FC236}">
                <a16:creationId xmlns:a16="http://schemas.microsoft.com/office/drawing/2014/main" id="{2A781AF4-8E61-1106-C389-D0483CFF274D}"/>
              </a:ext>
            </a:extLst>
          </p:cNvPr>
          <p:cNvSpPr/>
          <p:nvPr/>
        </p:nvSpPr>
        <p:spPr>
          <a:xfrm>
            <a:off x="7573363" y="3717032"/>
            <a:ext cx="430785" cy="241576"/>
          </a:xfrm>
          <a:prstGeom prst="rect">
            <a:avLst/>
          </a:prstGeom>
          <a:solidFill>
            <a:schemeClr val="accent3">
              <a:lumMod val="20000"/>
              <a:lumOff val="80000"/>
              <a:alpha val="90000"/>
            </a:schemeClr>
          </a:solidFill>
          <a:ln w="3175"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120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mHC</a:t>
            </a:r>
          </a:p>
        </p:txBody>
      </p:sp>
      <p:sp>
        <p:nvSpPr>
          <p:cNvPr id="34" name="矩形 33">
            <a:extLst>
              <a:ext uri="{FF2B5EF4-FFF2-40B4-BE49-F238E27FC236}">
                <a16:creationId xmlns:a16="http://schemas.microsoft.com/office/drawing/2014/main" id="{AAC6C902-D95B-24E2-7D43-1FA35FA2D842}"/>
              </a:ext>
            </a:extLst>
          </p:cNvPr>
          <p:cNvSpPr/>
          <p:nvPr/>
        </p:nvSpPr>
        <p:spPr>
          <a:xfrm>
            <a:off x="7573366" y="3156805"/>
            <a:ext cx="430784" cy="241576"/>
          </a:xfrm>
          <a:prstGeom prst="rect">
            <a:avLst/>
          </a:prstGeom>
          <a:solidFill>
            <a:schemeClr val="accent3">
              <a:lumMod val="20000"/>
              <a:lumOff val="80000"/>
              <a:alpha val="90000"/>
            </a:schemeClr>
          </a:solidFill>
          <a:ln w="3175"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200" b="1" dirty="0">
                <a:ln w="0"/>
                <a:solidFill>
                  <a:prstClr val="black"/>
                </a:solidFill>
                <a:latin typeface="Calibri"/>
                <a:ea typeface="新細明體" panose="02020500000000000000" pitchFamily="18" charset="-120"/>
              </a:rPr>
              <a:t>HC</a:t>
            </a:r>
            <a:endParaRPr kumimoji="0" lang="en-US" altLang="zh-TW" sz="1200" b="1" i="0" u="none" strike="noStrike" kern="1200" cap="none" spc="0" normalizeH="0" baseline="0" noProof="0" dirty="0">
              <a:ln w="0"/>
              <a:solidFill>
                <a:prstClr val="black"/>
              </a:solidFill>
              <a:effectLst/>
              <a:uLnTx/>
              <a:uFillTx/>
              <a:latin typeface="Calibri"/>
              <a:ea typeface="新細明體" panose="02020500000000000000" pitchFamily="18" charset="-120"/>
              <a:cs typeface="+mn-cs"/>
            </a:endParaRPr>
          </a:p>
        </p:txBody>
      </p:sp>
      <p:sp>
        <p:nvSpPr>
          <p:cNvPr id="8" name="標題 1">
            <a:extLst>
              <a:ext uri="{FF2B5EF4-FFF2-40B4-BE49-F238E27FC236}">
                <a16:creationId xmlns:a16="http://schemas.microsoft.com/office/drawing/2014/main" id="{B302838B-3520-CB01-4E29-719098A7D96B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AI Models</a:t>
            </a:r>
          </a:p>
          <a:p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From rules to reasoning.</a:t>
            </a:r>
          </a:p>
          <a:p>
            <a:pPr marL="285750" indent="-285750">
              <a:buFontTx/>
              <a:buChar char="-"/>
            </a:pPr>
            <a:endParaRPr lang="en-US" altLang="zh-TW" sz="1400" dirty="0"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  <p:sp>
        <p:nvSpPr>
          <p:cNvPr id="72" name="文字方塊 71">
            <a:extLst>
              <a:ext uri="{FF2B5EF4-FFF2-40B4-BE49-F238E27FC236}">
                <a16:creationId xmlns:a16="http://schemas.microsoft.com/office/drawing/2014/main" id="{6AF52C16-2168-4130-50A1-C3D3D63B4197}"/>
              </a:ext>
            </a:extLst>
          </p:cNvPr>
          <p:cNvSpPr txBox="1"/>
          <p:nvPr/>
        </p:nvSpPr>
        <p:spPr>
          <a:xfrm>
            <a:off x="192112" y="5517232"/>
            <a:ext cx="6252096" cy="1092607"/>
          </a:xfrm>
          <a:prstGeom prst="rect">
            <a:avLst/>
          </a:prstGeom>
          <a:solidFill>
            <a:schemeClr val="bg1">
              <a:alpha val="90000"/>
            </a:schemeClr>
          </a:solidFill>
        </p:spPr>
        <p:txBody>
          <a:bodyPr wrap="none">
            <a:sp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2000" b="1" u="none" strike="noStrike" dirty="0">
                <a:effectLst/>
              </a:rPr>
              <a:t>Conclusion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Model Converge:</a:t>
            </a:r>
            <a:r>
              <a:rPr lang="en-US" altLang="zh-TW" sz="1600" dirty="0"/>
              <a:t> Parameters, cost, power.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Nobel Physics 2024:</a:t>
            </a:r>
            <a:r>
              <a:rPr lang="en-US" altLang="zh-TW" sz="1600" dirty="0"/>
              <a:t> MLP= BM(physics) + Backpropagation(Hinton).</a:t>
            </a:r>
          </a:p>
        </p:txBody>
      </p:sp>
      <p:sp>
        <p:nvSpPr>
          <p:cNvPr id="24" name="橢圓 23">
            <a:extLst>
              <a:ext uri="{FF2B5EF4-FFF2-40B4-BE49-F238E27FC236}">
                <a16:creationId xmlns:a16="http://schemas.microsoft.com/office/drawing/2014/main" id="{4BDB1BF6-24B0-CB6A-0B45-5907FF877D9F}"/>
              </a:ext>
            </a:extLst>
          </p:cNvPr>
          <p:cNvSpPr/>
          <p:nvPr/>
        </p:nvSpPr>
        <p:spPr>
          <a:xfrm>
            <a:off x="4267679" y="2276872"/>
            <a:ext cx="495818" cy="447885"/>
          </a:xfrm>
          <a:prstGeom prst="ellipse">
            <a:avLst/>
          </a:prstGeom>
          <a:solidFill>
            <a:schemeClr val="accent4">
              <a:lumMod val="20000"/>
              <a:lumOff val="80000"/>
              <a:alpha val="70000"/>
            </a:schemeClr>
          </a:solidFill>
          <a:ln w="3175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Ins="0" bIns="0" rtlCol="0" anchor="ctr" anchorCtr="1"/>
          <a:lstStyle/>
          <a:p>
            <a:pPr algn="ctr">
              <a:lnSpc>
                <a:spcPts val="1000"/>
              </a:lnSpc>
            </a:pPr>
            <a:r>
              <a:rPr lang="en-US" altLang="zh-TW" sz="1200" dirty="0">
                <a:solidFill>
                  <a:schemeClr val="tx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GPT</a:t>
            </a:r>
          </a:p>
          <a:p>
            <a:pPr algn="ctr">
              <a:lnSpc>
                <a:spcPts val="1000"/>
              </a:lnSpc>
            </a:pPr>
            <a:r>
              <a:rPr lang="en-US" altLang="zh-TW" sz="1000" dirty="0">
                <a:solidFill>
                  <a:schemeClr val="tx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Attn + MoE</a:t>
            </a:r>
          </a:p>
        </p:txBody>
      </p:sp>
      <p:sp>
        <p:nvSpPr>
          <p:cNvPr id="18" name="橢圓 17">
            <a:extLst>
              <a:ext uri="{FF2B5EF4-FFF2-40B4-BE49-F238E27FC236}">
                <a16:creationId xmlns:a16="http://schemas.microsoft.com/office/drawing/2014/main" id="{0D9E50EB-7031-DD4C-B0D6-576897B391B0}"/>
              </a:ext>
            </a:extLst>
          </p:cNvPr>
          <p:cNvSpPr/>
          <p:nvPr/>
        </p:nvSpPr>
        <p:spPr>
          <a:xfrm>
            <a:off x="5169345" y="4781313"/>
            <a:ext cx="495818" cy="447885"/>
          </a:xfrm>
          <a:prstGeom prst="ellipse">
            <a:avLst/>
          </a:prstGeom>
          <a:solidFill>
            <a:schemeClr val="accent1">
              <a:lumMod val="20000"/>
              <a:lumOff val="80000"/>
              <a:alpha val="70000"/>
            </a:schemeClr>
          </a:solidFill>
          <a:ln w="3175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000" dirty="0">
                <a:solidFill>
                  <a:schemeClr val="tx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Gemma</a:t>
            </a:r>
          </a:p>
          <a:p>
            <a:pPr algn="ctr"/>
            <a:r>
              <a:rPr lang="en-US" altLang="zh-TW" sz="1000" dirty="0">
                <a:solidFill>
                  <a:schemeClr val="tx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4</a:t>
            </a:r>
          </a:p>
        </p:txBody>
      </p:sp>
      <p:sp>
        <p:nvSpPr>
          <p:cNvPr id="23" name="橢圓 22">
            <a:extLst>
              <a:ext uri="{FF2B5EF4-FFF2-40B4-BE49-F238E27FC236}">
                <a16:creationId xmlns:a16="http://schemas.microsoft.com/office/drawing/2014/main" id="{991CDBA6-9E41-3841-E585-55EA172911FE}"/>
              </a:ext>
            </a:extLst>
          </p:cNvPr>
          <p:cNvSpPr/>
          <p:nvPr/>
        </p:nvSpPr>
        <p:spPr>
          <a:xfrm>
            <a:off x="3644134" y="4781314"/>
            <a:ext cx="495818" cy="447885"/>
          </a:xfrm>
          <a:prstGeom prst="ellipse">
            <a:avLst/>
          </a:prstGeom>
          <a:solidFill>
            <a:schemeClr val="accent1">
              <a:lumMod val="20000"/>
              <a:lumOff val="80000"/>
              <a:alpha val="70000"/>
            </a:schemeClr>
          </a:solidFill>
          <a:ln w="3175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000" dirty="0">
                <a:solidFill>
                  <a:schemeClr val="tx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DeepSeek</a:t>
            </a:r>
          </a:p>
          <a:p>
            <a:pPr algn="ctr"/>
            <a:r>
              <a:rPr lang="en-US" altLang="zh-TW" sz="1000" dirty="0">
                <a:solidFill>
                  <a:schemeClr val="tx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V4</a:t>
            </a:r>
          </a:p>
        </p:txBody>
      </p:sp>
      <p:sp>
        <p:nvSpPr>
          <p:cNvPr id="26" name="橢圓 25">
            <a:extLst>
              <a:ext uri="{FF2B5EF4-FFF2-40B4-BE49-F238E27FC236}">
                <a16:creationId xmlns:a16="http://schemas.microsoft.com/office/drawing/2014/main" id="{7AC47DAB-57D8-78F8-57CA-6F50B371B065}"/>
              </a:ext>
            </a:extLst>
          </p:cNvPr>
          <p:cNvSpPr/>
          <p:nvPr/>
        </p:nvSpPr>
        <p:spPr>
          <a:xfrm>
            <a:off x="2267744" y="4781313"/>
            <a:ext cx="495818" cy="447885"/>
          </a:xfrm>
          <a:prstGeom prst="ellipse">
            <a:avLst/>
          </a:prstGeom>
          <a:solidFill>
            <a:schemeClr val="accent1">
              <a:lumMod val="20000"/>
              <a:lumOff val="80000"/>
              <a:alpha val="70000"/>
            </a:schemeClr>
          </a:solidFill>
          <a:ln w="3175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000" dirty="0">
                <a:solidFill>
                  <a:schemeClr val="tx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Kimi</a:t>
            </a:r>
          </a:p>
          <a:p>
            <a:pPr algn="ctr"/>
            <a:r>
              <a:rPr lang="en-US" altLang="zh-TW" sz="1000" dirty="0">
                <a:solidFill>
                  <a:schemeClr val="tx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k3</a:t>
            </a:r>
          </a:p>
        </p:txBody>
      </p:sp>
      <p:sp>
        <p:nvSpPr>
          <p:cNvPr id="57" name="矩形 56">
            <a:extLst>
              <a:ext uri="{FF2B5EF4-FFF2-40B4-BE49-F238E27FC236}">
                <a16:creationId xmlns:a16="http://schemas.microsoft.com/office/drawing/2014/main" id="{8DEAD8F7-92A3-8B2C-F0B0-25BE7676FF37}"/>
              </a:ext>
            </a:extLst>
          </p:cNvPr>
          <p:cNvSpPr/>
          <p:nvPr/>
        </p:nvSpPr>
        <p:spPr>
          <a:xfrm>
            <a:off x="7111210" y="3822908"/>
            <a:ext cx="346781" cy="442907"/>
          </a:xfrm>
          <a:prstGeom prst="rect">
            <a:avLst/>
          </a:prstGeom>
          <a:solidFill>
            <a:schemeClr val="accent3">
              <a:lumMod val="20000"/>
              <a:lumOff val="80000"/>
              <a:alpha val="90000"/>
            </a:schemeClr>
          </a:solidFill>
          <a:ln w="3175"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120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MTP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800" i="0" u="none" strike="noStrike" kern="120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+mn-cs"/>
              </a:rPr>
              <a:t>2024</a:t>
            </a:r>
          </a:p>
        </p:txBody>
      </p:sp>
      <p:sp>
        <p:nvSpPr>
          <p:cNvPr id="25" name="橢圓 24">
            <a:extLst>
              <a:ext uri="{FF2B5EF4-FFF2-40B4-BE49-F238E27FC236}">
                <a16:creationId xmlns:a16="http://schemas.microsoft.com/office/drawing/2014/main" id="{9DC722B1-7EF2-5910-6ACF-AA91B85DEB41}"/>
              </a:ext>
            </a:extLst>
          </p:cNvPr>
          <p:cNvSpPr/>
          <p:nvPr/>
        </p:nvSpPr>
        <p:spPr>
          <a:xfrm>
            <a:off x="2924054" y="4781315"/>
            <a:ext cx="495818" cy="447885"/>
          </a:xfrm>
          <a:prstGeom prst="ellipse">
            <a:avLst/>
          </a:prstGeom>
          <a:solidFill>
            <a:schemeClr val="accent1">
              <a:lumMod val="20000"/>
              <a:lumOff val="80000"/>
              <a:alpha val="70000"/>
            </a:schemeClr>
          </a:solidFill>
          <a:ln w="3175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000" dirty="0">
                <a:solidFill>
                  <a:schemeClr val="tx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Qwen</a:t>
            </a:r>
          </a:p>
          <a:p>
            <a:pPr algn="ctr"/>
            <a:r>
              <a:rPr lang="en-US" altLang="zh-TW" sz="1000" dirty="0">
                <a:solidFill>
                  <a:schemeClr val="tx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3.8</a:t>
            </a:r>
          </a:p>
        </p:txBody>
      </p:sp>
      <p:sp>
        <p:nvSpPr>
          <p:cNvPr id="46" name="橢圓 45">
            <a:extLst>
              <a:ext uri="{FF2B5EF4-FFF2-40B4-BE49-F238E27FC236}">
                <a16:creationId xmlns:a16="http://schemas.microsoft.com/office/drawing/2014/main" id="{140EB4E5-AB38-DCDD-4601-092026526603}"/>
              </a:ext>
            </a:extLst>
          </p:cNvPr>
          <p:cNvSpPr/>
          <p:nvPr/>
        </p:nvSpPr>
        <p:spPr>
          <a:xfrm>
            <a:off x="2924054" y="2076685"/>
            <a:ext cx="495818" cy="488218"/>
          </a:xfrm>
          <a:prstGeom prst="ellipse">
            <a:avLst/>
          </a:prstGeom>
          <a:solidFill>
            <a:schemeClr val="accent4">
              <a:lumMod val="20000"/>
              <a:lumOff val="80000"/>
              <a:alpha val="70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200"/>
              </a:lnSpc>
            </a:pPr>
            <a:r>
              <a:rPr lang="en-US" altLang="zh-TW" sz="1000" dirty="0">
                <a:solidFill>
                  <a:schemeClr val="tx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Vanilla</a:t>
            </a:r>
          </a:p>
          <a:p>
            <a:pPr algn="ctr">
              <a:lnSpc>
                <a:spcPts val="1200"/>
              </a:lnSpc>
            </a:pPr>
            <a:r>
              <a:rPr lang="en-US" altLang="zh-TW" sz="1000" dirty="0">
                <a:solidFill>
                  <a:schemeClr val="tx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Linear </a:t>
            </a:r>
          </a:p>
          <a:p>
            <a:pPr algn="ctr">
              <a:lnSpc>
                <a:spcPts val="1200"/>
              </a:lnSpc>
            </a:pPr>
            <a:r>
              <a:rPr lang="en-US" altLang="zh-TW" sz="1000" dirty="0">
                <a:solidFill>
                  <a:schemeClr val="tx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Attention</a:t>
            </a:r>
          </a:p>
          <a:p>
            <a:pPr algn="ctr"/>
            <a:r>
              <a:rPr lang="en-US" altLang="zh-TW" sz="800" dirty="0">
                <a:solidFill>
                  <a:schemeClr val="tx1"/>
                </a:solidFill>
                <a:ea typeface="ADLaM Display" panose="02010000000000000000" pitchFamily="2" charset="0"/>
                <a:cs typeface="ADLaM Display" panose="02010000000000000000" pitchFamily="2" charset="0"/>
              </a:rPr>
              <a:t>2020</a:t>
            </a:r>
          </a:p>
        </p:txBody>
      </p:sp>
      <p:sp>
        <p:nvSpPr>
          <p:cNvPr id="51" name="橢圓 50">
            <a:extLst>
              <a:ext uri="{FF2B5EF4-FFF2-40B4-BE49-F238E27FC236}">
                <a16:creationId xmlns:a16="http://schemas.microsoft.com/office/drawing/2014/main" id="{A24D9A64-7951-F444-90E3-B3DBF5C2B7C2}"/>
              </a:ext>
            </a:extLst>
          </p:cNvPr>
          <p:cNvSpPr/>
          <p:nvPr/>
        </p:nvSpPr>
        <p:spPr>
          <a:xfrm>
            <a:off x="3090079" y="3284984"/>
            <a:ext cx="389945" cy="330225"/>
          </a:xfrm>
          <a:prstGeom prst="ellipse">
            <a:avLst/>
          </a:prstGeom>
          <a:solidFill>
            <a:schemeClr val="accent4">
              <a:lumMod val="20000"/>
              <a:lumOff val="80000"/>
              <a:alpha val="70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000" dirty="0">
                <a:solidFill>
                  <a:schemeClr val="tx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Gated DN</a:t>
            </a:r>
          </a:p>
          <a:p>
            <a:pPr algn="ctr"/>
            <a:r>
              <a:rPr lang="en-US" altLang="zh-TW" sz="800" dirty="0">
                <a:solidFill>
                  <a:schemeClr val="tx1"/>
                </a:solidFill>
                <a:ea typeface="ADLaM Display" panose="02010000000000000000" pitchFamily="2" charset="0"/>
                <a:cs typeface="ADLaM Display" panose="02010000000000000000" pitchFamily="2" charset="0"/>
              </a:rPr>
              <a:t>2025.03</a:t>
            </a:r>
          </a:p>
        </p:txBody>
      </p:sp>
      <p:sp>
        <p:nvSpPr>
          <p:cNvPr id="32" name="橢圓 31">
            <a:extLst>
              <a:ext uri="{FF2B5EF4-FFF2-40B4-BE49-F238E27FC236}">
                <a16:creationId xmlns:a16="http://schemas.microsoft.com/office/drawing/2014/main" id="{CABC683C-D4EE-CE9D-3171-8CA226B75346}"/>
              </a:ext>
            </a:extLst>
          </p:cNvPr>
          <p:cNvSpPr/>
          <p:nvPr/>
        </p:nvSpPr>
        <p:spPr>
          <a:xfrm>
            <a:off x="3105332" y="2852936"/>
            <a:ext cx="346781" cy="330225"/>
          </a:xfrm>
          <a:prstGeom prst="ellipse">
            <a:avLst/>
          </a:prstGeom>
          <a:solidFill>
            <a:schemeClr val="accent4">
              <a:lumMod val="20000"/>
              <a:lumOff val="80000"/>
              <a:alpha val="70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000" dirty="0">
                <a:solidFill>
                  <a:schemeClr val="tx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Delta Net</a:t>
            </a:r>
          </a:p>
          <a:p>
            <a:pPr algn="ctr"/>
            <a:r>
              <a:rPr lang="en-US" altLang="zh-TW" sz="1000" dirty="0">
                <a:solidFill>
                  <a:schemeClr val="tx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Chunk-wise</a:t>
            </a:r>
          </a:p>
          <a:p>
            <a:pPr algn="ctr"/>
            <a:r>
              <a:rPr lang="en-US" altLang="zh-TW" sz="800" dirty="0">
                <a:solidFill>
                  <a:schemeClr val="tx1"/>
                </a:solidFill>
                <a:ea typeface="ADLaM Display" panose="02010000000000000000" pitchFamily="2" charset="0"/>
                <a:cs typeface="ADLaM Display" panose="02010000000000000000" pitchFamily="2" charset="0"/>
              </a:rPr>
              <a:t>2024</a:t>
            </a:r>
          </a:p>
        </p:txBody>
      </p:sp>
      <p:sp>
        <p:nvSpPr>
          <p:cNvPr id="42" name="橢圓 41">
            <a:extLst>
              <a:ext uri="{FF2B5EF4-FFF2-40B4-BE49-F238E27FC236}">
                <a16:creationId xmlns:a16="http://schemas.microsoft.com/office/drawing/2014/main" id="{72DF3FD3-E88D-2E86-3E26-9DAD1EE10F48}"/>
              </a:ext>
            </a:extLst>
          </p:cNvPr>
          <p:cNvSpPr/>
          <p:nvPr/>
        </p:nvSpPr>
        <p:spPr>
          <a:xfrm>
            <a:off x="3245951" y="3933056"/>
            <a:ext cx="389945" cy="360040"/>
          </a:xfrm>
          <a:prstGeom prst="ellipse">
            <a:avLst/>
          </a:prstGeom>
          <a:solidFill>
            <a:schemeClr val="accent4">
              <a:lumMod val="20000"/>
              <a:lumOff val="80000"/>
              <a:alpha val="70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000" dirty="0">
                <a:solidFill>
                  <a:schemeClr val="tx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FG</a:t>
            </a:r>
            <a:r>
              <a:rPr lang="en-US" altLang="zh-TW" sz="1000" baseline="30000" dirty="0">
                <a:solidFill>
                  <a:schemeClr val="tx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2</a:t>
            </a:r>
            <a:r>
              <a:rPr lang="en-US" altLang="zh-TW" sz="1000" dirty="0">
                <a:solidFill>
                  <a:schemeClr val="tx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-GDN</a:t>
            </a:r>
          </a:p>
          <a:p>
            <a:pPr algn="ctr"/>
            <a:r>
              <a:rPr lang="en-US" altLang="zh-TW" sz="800" dirty="0">
                <a:solidFill>
                  <a:schemeClr val="tx1"/>
                </a:solidFill>
                <a:ea typeface="ADLaM Display" panose="02010000000000000000" pitchFamily="2" charset="0"/>
                <a:cs typeface="ADLaM Display" panose="02010000000000000000" pitchFamily="2" charset="0"/>
              </a:rPr>
              <a:t>2026</a:t>
            </a:r>
          </a:p>
        </p:txBody>
      </p:sp>
      <p:sp>
        <p:nvSpPr>
          <p:cNvPr id="56" name="橢圓 55">
            <a:extLst>
              <a:ext uri="{FF2B5EF4-FFF2-40B4-BE49-F238E27FC236}">
                <a16:creationId xmlns:a16="http://schemas.microsoft.com/office/drawing/2014/main" id="{E9B2C012-79D4-DC2E-8136-FB25168D99C2}"/>
              </a:ext>
            </a:extLst>
          </p:cNvPr>
          <p:cNvSpPr/>
          <p:nvPr/>
        </p:nvSpPr>
        <p:spPr>
          <a:xfrm>
            <a:off x="1148091" y="2564904"/>
            <a:ext cx="389945" cy="414562"/>
          </a:xfrm>
          <a:prstGeom prst="ellipse">
            <a:avLst/>
          </a:prstGeom>
          <a:solidFill>
            <a:schemeClr val="accent4">
              <a:lumMod val="20000"/>
              <a:lumOff val="80000"/>
              <a:alpha val="70000"/>
            </a:schemeClr>
          </a:solidFill>
          <a:ln w="3175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Ins="0" bIns="0" rtlCol="0" anchor="ctr" anchorCtr="1"/>
          <a:lstStyle/>
          <a:p>
            <a:pPr algn="ctr">
              <a:lnSpc>
                <a:spcPts val="1000"/>
              </a:lnSpc>
            </a:pPr>
            <a:r>
              <a:rPr lang="en-US" altLang="zh-TW" sz="1000" dirty="0">
                <a:solidFill>
                  <a:schemeClr val="tx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Mamba</a:t>
            </a:r>
          </a:p>
          <a:p>
            <a:pPr algn="ctr"/>
            <a:r>
              <a:rPr lang="en-US" altLang="zh-TW" sz="800" dirty="0">
                <a:solidFill>
                  <a:schemeClr val="tx1"/>
                </a:solidFill>
                <a:ea typeface="ADLaM Display" panose="02010000000000000000" pitchFamily="2" charset="0"/>
                <a:cs typeface="ADLaM Display" panose="02010000000000000000" pitchFamily="2" charset="0"/>
              </a:rPr>
              <a:t>2023</a:t>
            </a:r>
          </a:p>
        </p:txBody>
      </p:sp>
      <p:sp>
        <p:nvSpPr>
          <p:cNvPr id="49" name="橢圓 48">
            <a:extLst>
              <a:ext uri="{FF2B5EF4-FFF2-40B4-BE49-F238E27FC236}">
                <a16:creationId xmlns:a16="http://schemas.microsoft.com/office/drawing/2014/main" id="{0F6EB330-E419-47E7-E5BC-5B2C9F1905D7}"/>
              </a:ext>
            </a:extLst>
          </p:cNvPr>
          <p:cNvSpPr/>
          <p:nvPr/>
        </p:nvSpPr>
        <p:spPr>
          <a:xfrm>
            <a:off x="5516342" y="1684971"/>
            <a:ext cx="495818" cy="442166"/>
          </a:xfrm>
          <a:prstGeom prst="ellipse">
            <a:avLst/>
          </a:prstGeom>
          <a:solidFill>
            <a:schemeClr val="accent4">
              <a:lumMod val="20000"/>
              <a:lumOff val="80000"/>
              <a:alpha val="70000"/>
            </a:schemeClr>
          </a:solidFill>
          <a:ln w="3175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Ins="0" bIns="0" rtlCol="0" anchor="ctr" anchorCtr="1"/>
          <a:lstStyle/>
          <a:p>
            <a:pPr algn="ctr">
              <a:lnSpc>
                <a:spcPts val="1000"/>
              </a:lnSpc>
            </a:pPr>
            <a:r>
              <a:rPr lang="en-US" altLang="zh-TW" sz="1200" dirty="0">
                <a:solidFill>
                  <a:schemeClr val="tx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BERT</a:t>
            </a:r>
            <a:endParaRPr lang="en-US" altLang="zh-TW" sz="1000" dirty="0">
              <a:solidFill>
                <a:schemeClr val="tx1"/>
              </a:solidFill>
              <a:latin typeface="ADLaM Display" panose="02010000000000000000" pitchFamily="2" charset="0"/>
              <a:ea typeface="ADLaM Display" panose="02010000000000000000" pitchFamily="2" charset="0"/>
              <a:cs typeface="ADLaM Display" panose="02010000000000000000" pitchFamily="2" charset="0"/>
            </a:endParaRPr>
          </a:p>
          <a:p>
            <a:pPr algn="ctr"/>
            <a:r>
              <a:rPr lang="en-US" altLang="zh-TW" sz="800" dirty="0">
                <a:solidFill>
                  <a:schemeClr val="tx1"/>
                </a:solidFill>
                <a:ea typeface="ADLaM Display" panose="02010000000000000000" pitchFamily="2" charset="0"/>
                <a:cs typeface="ADLaM Display" panose="02010000000000000000" pitchFamily="2" charset="0"/>
              </a:rPr>
              <a:t>2018</a:t>
            </a:r>
          </a:p>
        </p:txBody>
      </p:sp>
      <p:sp>
        <p:nvSpPr>
          <p:cNvPr id="58" name="橢圓 57">
            <a:extLst>
              <a:ext uri="{FF2B5EF4-FFF2-40B4-BE49-F238E27FC236}">
                <a16:creationId xmlns:a16="http://schemas.microsoft.com/office/drawing/2014/main" id="{FD1502A9-4E79-6669-67B1-033C2082F9CC}"/>
              </a:ext>
            </a:extLst>
          </p:cNvPr>
          <p:cNvSpPr/>
          <p:nvPr/>
        </p:nvSpPr>
        <p:spPr>
          <a:xfrm>
            <a:off x="1043608" y="3159034"/>
            <a:ext cx="598913" cy="557998"/>
          </a:xfrm>
          <a:prstGeom prst="ellipse">
            <a:avLst/>
          </a:prstGeom>
          <a:solidFill>
            <a:schemeClr val="accent4">
              <a:lumMod val="20000"/>
              <a:lumOff val="80000"/>
              <a:alpha val="70000"/>
            </a:schemeClr>
          </a:solidFill>
          <a:ln w="3175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Ins="0" bIns="0" rtlCol="0" anchor="ctr" anchorCtr="1"/>
          <a:lstStyle/>
          <a:p>
            <a:pPr algn="ctr">
              <a:lnSpc>
                <a:spcPts val="1000"/>
              </a:lnSpc>
            </a:pPr>
            <a:r>
              <a:rPr lang="en-US" altLang="zh-TW" sz="1000" dirty="0">
                <a:solidFill>
                  <a:schemeClr val="tx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Mamba 2</a:t>
            </a:r>
          </a:p>
          <a:p>
            <a:pPr algn="ctr">
              <a:lnSpc>
                <a:spcPts val="1000"/>
              </a:lnSpc>
            </a:pPr>
            <a:r>
              <a:rPr lang="en-US" altLang="zh-TW" sz="1000" dirty="0">
                <a:solidFill>
                  <a:schemeClr val="tx1"/>
                </a:solidFill>
                <a:ea typeface="ADLaM Display" panose="02010000000000000000" pitchFamily="2" charset="0"/>
                <a:cs typeface="ADLaM Display" panose="02010000000000000000" pitchFamily="2" charset="0"/>
              </a:rPr>
              <a:t>Membrane</a:t>
            </a:r>
          </a:p>
          <a:p>
            <a:pPr algn="ctr">
              <a:lnSpc>
                <a:spcPts val="1000"/>
              </a:lnSpc>
            </a:pPr>
            <a:r>
              <a:rPr lang="en-US" altLang="zh-TW" sz="1000" dirty="0">
                <a:solidFill>
                  <a:schemeClr val="tx1"/>
                </a:solidFill>
                <a:ea typeface="ADLaM Display" panose="02010000000000000000" pitchFamily="2" charset="0"/>
                <a:cs typeface="ADLaM Display" panose="02010000000000000000" pitchFamily="2" charset="0"/>
              </a:rPr>
              <a:t>-driven</a:t>
            </a:r>
            <a:r>
              <a:rPr lang="zh-TW" altLang="en-US" sz="1000" dirty="0">
                <a:solidFill>
                  <a:schemeClr val="tx1"/>
                </a:solidFill>
                <a:ea typeface="ADLaM Display" panose="02010000000000000000" pitchFamily="2" charset="0"/>
                <a:cs typeface="ADLaM Display" panose="02010000000000000000" pitchFamily="2" charset="0"/>
              </a:rPr>
              <a:t> </a:t>
            </a:r>
            <a:r>
              <a:rPr lang="en-US" altLang="zh-TW" sz="1000" dirty="0">
                <a:solidFill>
                  <a:schemeClr val="tx1"/>
                </a:solidFill>
                <a:ea typeface="ADLaM Display" panose="02010000000000000000" pitchFamily="2" charset="0"/>
                <a:cs typeface="ADLaM Display" panose="02010000000000000000" pitchFamily="2" charset="0"/>
              </a:rPr>
              <a:t>PEFT</a:t>
            </a:r>
          </a:p>
          <a:p>
            <a:pPr algn="ctr"/>
            <a:r>
              <a:rPr lang="en-US" altLang="zh-TW" sz="800" dirty="0">
                <a:solidFill>
                  <a:schemeClr val="tx1"/>
                </a:solidFill>
                <a:ea typeface="ADLaM Display" panose="02010000000000000000" pitchFamily="2" charset="0"/>
                <a:cs typeface="ADLaM Display" panose="02010000000000000000" pitchFamily="2" charset="0"/>
              </a:rPr>
              <a:t>2025</a:t>
            </a:r>
          </a:p>
        </p:txBody>
      </p:sp>
      <p:sp>
        <p:nvSpPr>
          <p:cNvPr id="60" name="橢圓 59">
            <a:extLst>
              <a:ext uri="{FF2B5EF4-FFF2-40B4-BE49-F238E27FC236}">
                <a16:creationId xmlns:a16="http://schemas.microsoft.com/office/drawing/2014/main" id="{8CEAF70D-C216-C6BA-AE72-D652D1764CC8}"/>
              </a:ext>
            </a:extLst>
          </p:cNvPr>
          <p:cNvSpPr/>
          <p:nvPr/>
        </p:nvSpPr>
        <p:spPr>
          <a:xfrm>
            <a:off x="1043609" y="3861048"/>
            <a:ext cx="598912" cy="557997"/>
          </a:xfrm>
          <a:prstGeom prst="ellipse">
            <a:avLst/>
          </a:prstGeom>
          <a:solidFill>
            <a:schemeClr val="accent4">
              <a:lumMod val="20000"/>
              <a:lumOff val="80000"/>
              <a:alpha val="70000"/>
            </a:schemeClr>
          </a:solidFill>
          <a:ln w="3175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Ins="0" bIns="0" rtlCol="0" anchor="ctr" anchorCtr="1"/>
          <a:lstStyle/>
          <a:p>
            <a:pPr algn="ctr">
              <a:lnSpc>
                <a:spcPts val="1000"/>
              </a:lnSpc>
            </a:pPr>
            <a:r>
              <a:rPr lang="en-US" altLang="zh-TW" sz="1000" dirty="0">
                <a:solidFill>
                  <a:schemeClr val="tx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Mamba 3</a:t>
            </a:r>
          </a:p>
          <a:p>
            <a:pPr algn="ctr"/>
            <a:r>
              <a:rPr lang="en-US" altLang="zh-TW" sz="800" dirty="0">
                <a:solidFill>
                  <a:schemeClr val="tx1"/>
                </a:solidFill>
                <a:ea typeface="ADLaM Display" panose="02010000000000000000" pitchFamily="2" charset="0"/>
                <a:cs typeface="ADLaM Display" panose="02010000000000000000" pitchFamily="2" charset="0"/>
              </a:rPr>
              <a:t>2026</a:t>
            </a:r>
          </a:p>
        </p:txBody>
      </p:sp>
      <p:sp>
        <p:nvSpPr>
          <p:cNvPr id="62" name="橢圓 61">
            <a:extLst>
              <a:ext uri="{FF2B5EF4-FFF2-40B4-BE49-F238E27FC236}">
                <a16:creationId xmlns:a16="http://schemas.microsoft.com/office/drawing/2014/main" id="{9B8E7921-46EA-190E-BF0A-95EA01373290}"/>
              </a:ext>
            </a:extLst>
          </p:cNvPr>
          <p:cNvSpPr/>
          <p:nvPr/>
        </p:nvSpPr>
        <p:spPr>
          <a:xfrm>
            <a:off x="4222118" y="3501008"/>
            <a:ext cx="598912" cy="557997"/>
          </a:xfrm>
          <a:prstGeom prst="ellipse">
            <a:avLst/>
          </a:prstGeom>
          <a:solidFill>
            <a:schemeClr val="accent4">
              <a:lumMod val="20000"/>
              <a:lumOff val="80000"/>
              <a:alpha val="70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000" dirty="0">
                <a:solidFill>
                  <a:schemeClr val="tx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Sparse MoE</a:t>
            </a:r>
          </a:p>
          <a:p>
            <a:pPr algn="ctr"/>
            <a:r>
              <a:rPr lang="en-US" altLang="zh-TW" sz="1000" dirty="0">
                <a:solidFill>
                  <a:schemeClr val="tx1"/>
                </a:solidFill>
                <a:ea typeface="ADLaM Display" panose="02010000000000000000" pitchFamily="2" charset="0"/>
                <a:cs typeface="ADLaM Display" panose="02010000000000000000" pitchFamily="2" charset="0"/>
              </a:rPr>
              <a:t>MLA / Fine-Grained</a:t>
            </a:r>
          </a:p>
          <a:p>
            <a:pPr algn="ctr"/>
            <a:r>
              <a:rPr lang="en-US" altLang="zh-TW" sz="800" dirty="0">
                <a:solidFill>
                  <a:schemeClr val="tx1"/>
                </a:solidFill>
                <a:ea typeface="ADLaM Display" panose="02010000000000000000" pitchFamily="2" charset="0"/>
                <a:cs typeface="ADLaM Display" panose="02010000000000000000" pitchFamily="2" charset="0"/>
              </a:rPr>
              <a:t>2026</a:t>
            </a:r>
          </a:p>
        </p:txBody>
      </p:sp>
      <p:sp>
        <p:nvSpPr>
          <p:cNvPr id="64" name="橢圓 63">
            <a:extLst>
              <a:ext uri="{FF2B5EF4-FFF2-40B4-BE49-F238E27FC236}">
                <a16:creationId xmlns:a16="http://schemas.microsoft.com/office/drawing/2014/main" id="{48A4F24D-0DEA-C809-8043-80321469F71D}"/>
              </a:ext>
            </a:extLst>
          </p:cNvPr>
          <p:cNvSpPr/>
          <p:nvPr/>
        </p:nvSpPr>
        <p:spPr>
          <a:xfrm>
            <a:off x="1148090" y="1205495"/>
            <a:ext cx="389945" cy="414562"/>
          </a:xfrm>
          <a:prstGeom prst="ellipse">
            <a:avLst/>
          </a:prstGeom>
          <a:solidFill>
            <a:schemeClr val="accent4">
              <a:lumMod val="20000"/>
              <a:lumOff val="80000"/>
              <a:alpha val="70000"/>
            </a:schemeClr>
          </a:solidFill>
          <a:ln w="3175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Ins="0" bIns="0" rtlCol="0" anchor="ctr" anchorCtr="1"/>
          <a:lstStyle/>
          <a:p>
            <a:pPr algn="ctr">
              <a:lnSpc>
                <a:spcPts val="1000"/>
              </a:lnSpc>
            </a:pPr>
            <a:r>
              <a:rPr lang="en-US" altLang="zh-TW" sz="1000" dirty="0">
                <a:solidFill>
                  <a:schemeClr val="tx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SSM</a:t>
            </a:r>
          </a:p>
          <a:p>
            <a:pPr algn="ctr"/>
            <a:r>
              <a:rPr lang="en-US" altLang="zh-TW" sz="800" dirty="0">
                <a:solidFill>
                  <a:schemeClr val="tx1"/>
                </a:solidFill>
                <a:ea typeface="ADLaM Display" panose="02010000000000000000" pitchFamily="2" charset="0"/>
                <a:cs typeface="ADLaM Display" panose="02010000000000000000" pitchFamily="2" charset="0"/>
              </a:rPr>
              <a:t>1970</a:t>
            </a:r>
          </a:p>
        </p:txBody>
      </p:sp>
      <p:sp>
        <p:nvSpPr>
          <p:cNvPr id="68" name="橢圓 67">
            <a:extLst>
              <a:ext uri="{FF2B5EF4-FFF2-40B4-BE49-F238E27FC236}">
                <a16:creationId xmlns:a16="http://schemas.microsoft.com/office/drawing/2014/main" id="{4EBEB091-6791-B45A-BF04-3D5EF38066A7}"/>
              </a:ext>
            </a:extLst>
          </p:cNvPr>
          <p:cNvSpPr/>
          <p:nvPr/>
        </p:nvSpPr>
        <p:spPr>
          <a:xfrm>
            <a:off x="4292206" y="4781313"/>
            <a:ext cx="495818" cy="447885"/>
          </a:xfrm>
          <a:prstGeom prst="ellipse">
            <a:avLst/>
          </a:prstGeom>
          <a:solidFill>
            <a:schemeClr val="accent1">
              <a:lumMod val="20000"/>
              <a:lumOff val="80000"/>
              <a:alpha val="70000"/>
            </a:schemeClr>
          </a:solidFill>
          <a:ln w="3175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000" dirty="0">
                <a:solidFill>
                  <a:schemeClr val="tx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Z.AI GLM</a:t>
            </a:r>
          </a:p>
          <a:p>
            <a:pPr algn="ctr"/>
            <a:r>
              <a:rPr lang="en-US" altLang="zh-TW" sz="1000" dirty="0">
                <a:solidFill>
                  <a:schemeClr val="tx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5</a:t>
            </a:r>
          </a:p>
        </p:txBody>
      </p:sp>
      <p:sp>
        <p:nvSpPr>
          <p:cNvPr id="70" name="橢圓 69">
            <a:extLst>
              <a:ext uri="{FF2B5EF4-FFF2-40B4-BE49-F238E27FC236}">
                <a16:creationId xmlns:a16="http://schemas.microsoft.com/office/drawing/2014/main" id="{3EF1AC3F-5BB5-F2E6-4097-C06077F08E0A}"/>
              </a:ext>
            </a:extLst>
          </p:cNvPr>
          <p:cNvSpPr/>
          <p:nvPr/>
        </p:nvSpPr>
        <p:spPr>
          <a:xfrm>
            <a:off x="5004048" y="2076686"/>
            <a:ext cx="495818" cy="452332"/>
          </a:xfrm>
          <a:prstGeom prst="ellipse">
            <a:avLst/>
          </a:prstGeom>
          <a:solidFill>
            <a:schemeClr val="accent4">
              <a:lumMod val="20000"/>
              <a:lumOff val="80000"/>
              <a:alpha val="70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000" dirty="0">
                <a:solidFill>
                  <a:schemeClr val="tx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Dense</a:t>
            </a:r>
          </a:p>
          <a:p>
            <a:pPr algn="ctr"/>
            <a:r>
              <a:rPr lang="en-US" altLang="zh-TW" sz="1000" dirty="0">
                <a:solidFill>
                  <a:schemeClr val="tx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Transformer</a:t>
            </a:r>
          </a:p>
          <a:p>
            <a:pPr algn="ctr"/>
            <a:r>
              <a:rPr lang="en-US" altLang="zh-TW" sz="1000" dirty="0">
                <a:solidFill>
                  <a:schemeClr val="tx1"/>
                </a:solidFill>
                <a:ea typeface="ADLaM Display" panose="02010000000000000000" pitchFamily="2" charset="0"/>
                <a:cs typeface="ADLaM Display" panose="02010000000000000000" pitchFamily="2" charset="0"/>
              </a:rPr>
              <a:t>GQA</a:t>
            </a:r>
          </a:p>
          <a:p>
            <a:pPr algn="ctr"/>
            <a:r>
              <a:rPr lang="en-US" altLang="zh-TW" sz="800" dirty="0">
                <a:solidFill>
                  <a:schemeClr val="tx1"/>
                </a:solidFill>
                <a:ea typeface="ADLaM Display" panose="02010000000000000000" pitchFamily="2" charset="0"/>
                <a:cs typeface="ADLaM Display" panose="02010000000000000000" pitchFamily="2" charset="0"/>
              </a:rPr>
              <a:t>2020</a:t>
            </a:r>
          </a:p>
        </p:txBody>
      </p:sp>
      <p:sp>
        <p:nvSpPr>
          <p:cNvPr id="75" name="橢圓 74">
            <a:extLst>
              <a:ext uri="{FF2B5EF4-FFF2-40B4-BE49-F238E27FC236}">
                <a16:creationId xmlns:a16="http://schemas.microsoft.com/office/drawing/2014/main" id="{54620C3C-C2B0-CF97-9598-3A329A535343}"/>
              </a:ext>
            </a:extLst>
          </p:cNvPr>
          <p:cNvSpPr/>
          <p:nvPr/>
        </p:nvSpPr>
        <p:spPr>
          <a:xfrm>
            <a:off x="5820242" y="4784938"/>
            <a:ext cx="495818" cy="447885"/>
          </a:xfrm>
          <a:prstGeom prst="ellipse">
            <a:avLst/>
          </a:prstGeom>
          <a:solidFill>
            <a:schemeClr val="accent1">
              <a:lumMod val="20000"/>
              <a:lumOff val="80000"/>
              <a:alpha val="70000"/>
            </a:schemeClr>
          </a:solidFill>
          <a:ln w="3175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000" dirty="0">
                <a:solidFill>
                  <a:schemeClr val="tx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MS Phi</a:t>
            </a:r>
          </a:p>
          <a:p>
            <a:pPr algn="ctr"/>
            <a:r>
              <a:rPr lang="en-US" altLang="zh-TW" sz="1000" dirty="0">
                <a:solidFill>
                  <a:schemeClr val="tx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4-mini</a:t>
            </a:r>
          </a:p>
        </p:txBody>
      </p:sp>
      <p:sp>
        <p:nvSpPr>
          <p:cNvPr id="78" name="橢圓 77">
            <a:extLst>
              <a:ext uri="{FF2B5EF4-FFF2-40B4-BE49-F238E27FC236}">
                <a16:creationId xmlns:a16="http://schemas.microsoft.com/office/drawing/2014/main" id="{EED1C818-C6C1-6299-20AD-EB0482E640D3}"/>
              </a:ext>
            </a:extLst>
          </p:cNvPr>
          <p:cNvSpPr/>
          <p:nvPr/>
        </p:nvSpPr>
        <p:spPr>
          <a:xfrm>
            <a:off x="6452446" y="4777688"/>
            <a:ext cx="495818" cy="447885"/>
          </a:xfrm>
          <a:prstGeom prst="ellipse">
            <a:avLst/>
          </a:prstGeom>
          <a:solidFill>
            <a:schemeClr val="accent1">
              <a:lumMod val="20000"/>
              <a:lumOff val="80000"/>
              <a:alpha val="70000"/>
            </a:schemeClr>
          </a:solidFill>
          <a:ln w="3175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000" dirty="0">
                <a:solidFill>
                  <a:schemeClr val="tx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Llama</a:t>
            </a:r>
          </a:p>
          <a:p>
            <a:pPr algn="ctr"/>
            <a:r>
              <a:rPr lang="en-US" altLang="zh-TW" sz="1000" dirty="0">
                <a:solidFill>
                  <a:schemeClr val="tx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4</a:t>
            </a:r>
          </a:p>
        </p:txBody>
      </p:sp>
      <p:sp>
        <p:nvSpPr>
          <p:cNvPr id="82" name="橢圓 81">
            <a:extLst>
              <a:ext uri="{FF2B5EF4-FFF2-40B4-BE49-F238E27FC236}">
                <a16:creationId xmlns:a16="http://schemas.microsoft.com/office/drawing/2014/main" id="{9AC75EC1-AEAB-94F1-3A21-9BE297B1FCC1}"/>
              </a:ext>
            </a:extLst>
          </p:cNvPr>
          <p:cNvSpPr/>
          <p:nvPr/>
        </p:nvSpPr>
        <p:spPr>
          <a:xfrm>
            <a:off x="5557264" y="3800301"/>
            <a:ext cx="598912" cy="557997"/>
          </a:xfrm>
          <a:prstGeom prst="ellipse">
            <a:avLst/>
          </a:prstGeom>
          <a:solidFill>
            <a:schemeClr val="accent4">
              <a:lumMod val="20000"/>
              <a:lumOff val="80000"/>
              <a:alpha val="70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000" dirty="0">
                <a:solidFill>
                  <a:schemeClr val="tx1"/>
                </a:solidFill>
                <a:ea typeface="ADLaM Display" panose="02010000000000000000" pitchFamily="2" charset="0"/>
                <a:cs typeface="ADLaM Display" panose="02010000000000000000" pitchFamily="2" charset="0"/>
              </a:rPr>
              <a:t>Early</a:t>
            </a:r>
          </a:p>
          <a:p>
            <a:pPr algn="ctr"/>
            <a:r>
              <a:rPr lang="en-US" altLang="zh-TW" sz="1000" dirty="0">
                <a:solidFill>
                  <a:schemeClr val="tx1"/>
                </a:solidFill>
                <a:ea typeface="ADLaM Display" panose="02010000000000000000" pitchFamily="2" charset="0"/>
                <a:cs typeface="ADLaM Display" panose="02010000000000000000" pitchFamily="2" charset="0"/>
              </a:rPr>
              <a:t>Fusion</a:t>
            </a:r>
          </a:p>
          <a:p>
            <a:pPr algn="ctr"/>
            <a:r>
              <a:rPr lang="en-US" altLang="zh-TW" sz="800" dirty="0">
                <a:solidFill>
                  <a:schemeClr val="tx1"/>
                </a:solidFill>
                <a:ea typeface="ADLaM Display" panose="02010000000000000000" pitchFamily="2" charset="0"/>
                <a:cs typeface="ADLaM Display" panose="02010000000000000000" pitchFamily="2" charset="0"/>
              </a:rPr>
              <a:t>2026</a:t>
            </a:r>
          </a:p>
        </p:txBody>
      </p:sp>
      <p:sp>
        <p:nvSpPr>
          <p:cNvPr id="3" name="橢圓 2">
            <a:extLst>
              <a:ext uri="{FF2B5EF4-FFF2-40B4-BE49-F238E27FC236}">
                <a16:creationId xmlns:a16="http://schemas.microsoft.com/office/drawing/2014/main" id="{71F8658A-6E2C-450A-08C2-DC9754E12BD1}"/>
              </a:ext>
            </a:extLst>
          </p:cNvPr>
          <p:cNvSpPr/>
          <p:nvPr/>
        </p:nvSpPr>
        <p:spPr>
          <a:xfrm>
            <a:off x="2667797" y="3933056"/>
            <a:ext cx="389945" cy="360040"/>
          </a:xfrm>
          <a:prstGeom prst="ellipse">
            <a:avLst/>
          </a:prstGeom>
          <a:solidFill>
            <a:schemeClr val="accent4">
              <a:lumMod val="20000"/>
              <a:lumOff val="80000"/>
              <a:alpha val="70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000" dirty="0">
                <a:solidFill>
                  <a:schemeClr val="tx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GDN2</a:t>
            </a:r>
          </a:p>
          <a:p>
            <a:pPr algn="ctr"/>
            <a:r>
              <a:rPr lang="en-US" altLang="zh-TW" sz="800" dirty="0">
                <a:solidFill>
                  <a:schemeClr val="tx1"/>
                </a:solidFill>
                <a:ea typeface="ADLaM Display" panose="02010000000000000000" pitchFamily="2" charset="0"/>
                <a:cs typeface="ADLaM Display" panose="02010000000000000000" pitchFamily="2" charset="0"/>
              </a:rPr>
              <a:t>2026</a:t>
            </a:r>
          </a:p>
        </p:txBody>
      </p:sp>
      <p:sp>
        <p:nvSpPr>
          <p:cNvPr id="4" name="橢圓 3">
            <a:extLst>
              <a:ext uri="{FF2B5EF4-FFF2-40B4-BE49-F238E27FC236}">
                <a16:creationId xmlns:a16="http://schemas.microsoft.com/office/drawing/2014/main" id="{C3EEC88D-333A-91ED-F25A-F8F26491C4BF}"/>
              </a:ext>
            </a:extLst>
          </p:cNvPr>
          <p:cNvSpPr/>
          <p:nvPr/>
        </p:nvSpPr>
        <p:spPr>
          <a:xfrm>
            <a:off x="2915816" y="3530823"/>
            <a:ext cx="389945" cy="330225"/>
          </a:xfrm>
          <a:prstGeom prst="ellipse">
            <a:avLst/>
          </a:prstGeom>
          <a:solidFill>
            <a:schemeClr val="accent4">
              <a:lumMod val="20000"/>
              <a:lumOff val="80000"/>
              <a:alpha val="70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000" dirty="0">
                <a:solidFill>
                  <a:schemeClr val="tx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KDA</a:t>
            </a:r>
          </a:p>
          <a:p>
            <a:pPr algn="ctr"/>
            <a:r>
              <a:rPr lang="en-US" altLang="zh-TW" sz="800" dirty="0">
                <a:solidFill>
                  <a:schemeClr val="tx1"/>
                </a:solidFill>
                <a:ea typeface="ADLaM Display" panose="02010000000000000000" pitchFamily="2" charset="0"/>
                <a:cs typeface="ADLaM Display" panose="02010000000000000000" pitchFamily="2" charset="0"/>
              </a:rPr>
              <a:t>2025.10</a:t>
            </a:r>
          </a:p>
        </p:txBody>
      </p:sp>
    </p:spTree>
    <p:extLst>
      <p:ext uri="{BB962C8B-B14F-4D97-AF65-F5344CB8AC3E}">
        <p14:creationId xmlns:p14="http://schemas.microsoft.com/office/powerpoint/2010/main" val="406432468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Click="0">
        <p159:morph option="byObject"/>
      </p:transition>
    </mc:Choice>
    <mc:Fallback xmlns="">
      <p:transition spd="slow" advClick="0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611ED2-FA76-B368-57A6-A5DD61C10C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標題 1">
            <a:extLst>
              <a:ext uri="{FF2B5EF4-FFF2-40B4-BE49-F238E27FC236}">
                <a16:creationId xmlns:a16="http://schemas.microsoft.com/office/drawing/2014/main" id="{1B035E0B-32D5-59ED-6997-9338A230FFFA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6120680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Weight Matrix</a:t>
            </a:r>
            <a:endParaRPr lang="en-US" altLang="zh-TW" sz="2800" dirty="0">
              <a:latin typeface="Noto Sans HK" panose="020B0200000000000000" pitchFamily="34" charset="-120"/>
              <a:ea typeface="Noto Sans HK" panose="020B0200000000000000" pitchFamily="34" charset="-120"/>
              <a:cs typeface="Aharoni" panose="020F0502020204030204" pitchFamily="2" charset="-79"/>
              <a:sym typeface="Wingdings" panose="05000000000000000000" pitchFamily="2" charset="2"/>
            </a:endParaRPr>
          </a:p>
          <a:p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MLP applies backpropagation to resolve intricate, non-linear problems.</a:t>
            </a:r>
          </a:p>
        </p:txBody>
      </p:sp>
      <p:sp>
        <p:nvSpPr>
          <p:cNvPr id="2" name="梯形 1">
            <a:extLst>
              <a:ext uri="{FF2B5EF4-FFF2-40B4-BE49-F238E27FC236}">
                <a16:creationId xmlns:a16="http://schemas.microsoft.com/office/drawing/2014/main" id="{3BA676CE-3C04-A7FC-C7CD-6611895BCFA2}"/>
              </a:ext>
            </a:extLst>
          </p:cNvPr>
          <p:cNvSpPr/>
          <p:nvPr/>
        </p:nvSpPr>
        <p:spPr>
          <a:xfrm>
            <a:off x="1547664" y="5337094"/>
            <a:ext cx="4113457" cy="612186"/>
          </a:xfrm>
          <a:prstGeom prst="trapezoid">
            <a:avLst>
              <a:gd name="adj" fmla="val 46863"/>
            </a:avLst>
          </a:prstGeom>
          <a:solidFill>
            <a:schemeClr val="bg1">
              <a:lumMod val="95000"/>
              <a:alpha val="70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400" dirty="0">
                <a:solidFill>
                  <a:schemeClr val="accent1">
                    <a:lumMod val="50000"/>
                  </a:scheme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MLP</a:t>
            </a:r>
            <a:br>
              <a:rPr lang="en-US" altLang="zh-TW" sz="1400" dirty="0">
                <a:solidFill>
                  <a:schemeClr val="accent1">
                    <a:lumMod val="50000"/>
                  </a:scheme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</a:br>
            <a:r>
              <a:rPr lang="en-US" altLang="zh-TW" sz="1200" dirty="0">
                <a:solidFill>
                  <a:schemeClr val="accent1">
                    <a:lumMod val="50000"/>
                  </a:schemeClr>
                </a:solidFill>
                <a:cs typeface="ADLaM Display" panose="02010000000000000000" pitchFamily="2" charset="0"/>
              </a:rPr>
              <a:t>(Backpropagation)</a:t>
            </a:r>
            <a:endParaRPr lang="zh-TW" altLang="en-US" sz="1400" dirty="0">
              <a:solidFill>
                <a:schemeClr val="accent1">
                  <a:lumMod val="50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20" name="梯形 19">
            <a:extLst>
              <a:ext uri="{FF2B5EF4-FFF2-40B4-BE49-F238E27FC236}">
                <a16:creationId xmlns:a16="http://schemas.microsoft.com/office/drawing/2014/main" id="{C890D060-F45A-C0A6-3BB9-C487157D605C}"/>
              </a:ext>
            </a:extLst>
          </p:cNvPr>
          <p:cNvSpPr/>
          <p:nvPr/>
        </p:nvSpPr>
        <p:spPr>
          <a:xfrm>
            <a:off x="1822195" y="4365104"/>
            <a:ext cx="3528392" cy="864096"/>
          </a:xfrm>
          <a:prstGeom prst="trapezoid">
            <a:avLst>
              <a:gd name="adj" fmla="val 46863"/>
            </a:avLst>
          </a:prstGeom>
          <a:solidFill>
            <a:schemeClr val="bg1">
              <a:lumMod val="95000"/>
              <a:alpha val="70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0" i="0" u="none" strike="noStrike" kern="1200" cap="none" spc="0" normalizeH="0" baseline="0" noProof="0" dirty="0">
                <a:ln>
                  <a:noFill/>
                </a:ln>
                <a:solidFill>
                  <a:srgbClr val="4F81BD">
                    <a:lumMod val="50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rPr>
              <a:t>RNN, CNN, RC</a:t>
            </a:r>
            <a:br>
              <a:rPr kumimoji="0" lang="en-US" altLang="zh-TW" sz="1400" b="0" i="0" u="none" strike="noStrike" kern="1200" cap="none" spc="0" normalizeH="0" baseline="0" noProof="0" dirty="0">
                <a:ln>
                  <a:noFill/>
                </a:ln>
                <a:solidFill>
                  <a:srgbClr val="4F81BD">
                    <a:lumMod val="50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rPr>
            </a:b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srgbClr val="4F81BD">
                    <a:lumMod val="50000"/>
                  </a:srgb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ADLaM Display" panose="02010000000000000000" pitchFamily="2" charset="0"/>
              </a:rPr>
              <a:t>Gradient vanish</a:t>
            </a:r>
            <a:b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srgbClr val="4F81BD">
                    <a:lumMod val="50000"/>
                  </a:srgb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ADLaM Display" panose="02010000000000000000" pitchFamily="2" charset="0"/>
              </a:rPr>
            </a:b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srgbClr val="4F81BD">
                    <a:lumMod val="50000"/>
                  </a:srgb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ADLaM Display" panose="02010000000000000000" pitchFamily="2" charset="0"/>
              </a:rPr>
              <a:t>Gradient exploded</a:t>
            </a:r>
            <a:endParaRPr lang="zh-TW" altLang="en-US" sz="1400" dirty="0">
              <a:solidFill>
                <a:schemeClr val="accent1">
                  <a:lumMod val="50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22" name="梯形 21">
            <a:extLst>
              <a:ext uri="{FF2B5EF4-FFF2-40B4-BE49-F238E27FC236}">
                <a16:creationId xmlns:a16="http://schemas.microsoft.com/office/drawing/2014/main" id="{0E90B16C-984F-38DA-9C1C-77B194A2CC6F}"/>
              </a:ext>
            </a:extLst>
          </p:cNvPr>
          <p:cNvSpPr/>
          <p:nvPr/>
        </p:nvSpPr>
        <p:spPr>
          <a:xfrm>
            <a:off x="2254243" y="3824146"/>
            <a:ext cx="2664296" cy="482141"/>
          </a:xfrm>
          <a:prstGeom prst="trapezoid">
            <a:avLst>
              <a:gd name="adj" fmla="val 46863"/>
            </a:avLst>
          </a:prstGeom>
          <a:solidFill>
            <a:schemeClr val="bg1">
              <a:lumMod val="95000"/>
              <a:alpha val="70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0" i="0" u="none" strike="noStrike" kern="1200" cap="none" spc="0" normalizeH="0" baseline="0" noProof="0" dirty="0">
                <a:ln>
                  <a:noFill/>
                </a:ln>
                <a:solidFill>
                  <a:srgbClr val="4F81BD">
                    <a:lumMod val="50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rPr>
              <a:t>Transformer</a:t>
            </a:r>
            <a:br>
              <a:rPr kumimoji="0" lang="en-US" altLang="zh-TW" sz="1400" b="0" i="0" u="none" strike="noStrike" kern="1200" cap="none" spc="0" normalizeH="0" baseline="0" noProof="0" dirty="0">
                <a:ln>
                  <a:noFill/>
                </a:ln>
                <a:solidFill>
                  <a:srgbClr val="4F81BD">
                    <a:lumMod val="50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rPr>
            </a:b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srgbClr val="4F81BD">
                    <a:lumMod val="50000"/>
                  </a:srgb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ADLaM Display" panose="02010000000000000000" pitchFamily="2" charset="0"/>
              </a:rPr>
              <a:t>(Attention)</a:t>
            </a:r>
            <a:endParaRPr lang="zh-TW" altLang="en-US" sz="1400" dirty="0">
              <a:solidFill>
                <a:schemeClr val="accent1">
                  <a:lumMod val="50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24" name="梯形 23">
            <a:extLst>
              <a:ext uri="{FF2B5EF4-FFF2-40B4-BE49-F238E27FC236}">
                <a16:creationId xmlns:a16="http://schemas.microsoft.com/office/drawing/2014/main" id="{3F3532FB-9CE6-957C-A6C2-F4313A04B057}"/>
              </a:ext>
            </a:extLst>
          </p:cNvPr>
          <p:cNvSpPr/>
          <p:nvPr/>
        </p:nvSpPr>
        <p:spPr>
          <a:xfrm>
            <a:off x="2506271" y="2924944"/>
            <a:ext cx="2196244" cy="792336"/>
          </a:xfrm>
          <a:prstGeom prst="trapezoid">
            <a:avLst>
              <a:gd name="adj" fmla="val 46863"/>
            </a:avLst>
          </a:prstGeom>
          <a:solidFill>
            <a:schemeClr val="bg1">
              <a:lumMod val="95000"/>
              <a:alpha val="70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0" i="0" u="none" strike="noStrike" kern="1200" cap="none" spc="0" normalizeH="0" baseline="0" noProof="0" dirty="0">
                <a:ln>
                  <a:noFill/>
                </a:ln>
                <a:solidFill>
                  <a:srgbClr val="4F81BD">
                    <a:lumMod val="50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rPr>
              <a:t>Frontier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400" dirty="0">
                <a:solidFill>
                  <a:srgbClr val="4F81BD">
                    <a:lumMod val="50000"/>
                  </a:srgbClr>
                </a:solidFill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rPr>
              <a:t>Model</a:t>
            </a:r>
            <a:br>
              <a:rPr kumimoji="0" lang="en-US" altLang="zh-TW" sz="1400" b="0" i="0" u="none" strike="noStrike" kern="1200" cap="none" spc="0" normalizeH="0" baseline="0" noProof="0" dirty="0">
                <a:ln>
                  <a:noFill/>
                </a:ln>
                <a:solidFill>
                  <a:srgbClr val="4F81BD">
                    <a:lumMod val="50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rPr>
            </a:b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srgbClr val="4F81BD">
                    <a:lumMod val="50000"/>
                  </a:srgb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ADLaM Display" panose="02010000000000000000" pitchFamily="2" charset="0"/>
              </a:rPr>
              <a:t>(</a:t>
            </a:r>
            <a:r>
              <a:rPr kumimoji="0" lang="en-US" altLang="zh-TW" sz="1200" b="0" i="0" u="none" strike="noStrike" kern="1200" cap="none" spc="0" normalizeH="0" baseline="0" noProof="0" dirty="0" err="1">
                <a:ln>
                  <a:noFill/>
                </a:ln>
                <a:solidFill>
                  <a:srgbClr val="4F81BD">
                    <a:lumMod val="50000"/>
                  </a:srgb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ADLaM Display" panose="02010000000000000000" pitchFamily="2" charset="0"/>
              </a:rPr>
              <a:t>Attn+MoE</a:t>
            </a: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srgbClr val="4F81BD">
                    <a:lumMod val="50000"/>
                  </a:srgb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ADLaM Display" panose="02010000000000000000" pitchFamily="2" charset="0"/>
              </a:rPr>
              <a:t>)</a:t>
            </a:r>
            <a:endParaRPr lang="zh-TW" altLang="en-US" sz="1400" dirty="0">
              <a:solidFill>
                <a:schemeClr val="accent1">
                  <a:lumMod val="50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28" name="梯形 27">
            <a:extLst>
              <a:ext uri="{FF2B5EF4-FFF2-40B4-BE49-F238E27FC236}">
                <a16:creationId xmlns:a16="http://schemas.microsoft.com/office/drawing/2014/main" id="{E14E45B9-570E-A7C9-9EC8-B9D40618EB1E}"/>
              </a:ext>
            </a:extLst>
          </p:cNvPr>
          <p:cNvSpPr/>
          <p:nvPr/>
        </p:nvSpPr>
        <p:spPr>
          <a:xfrm>
            <a:off x="6588224" y="5337094"/>
            <a:ext cx="1645920" cy="548640"/>
          </a:xfrm>
          <a:prstGeom prst="trapezoid">
            <a:avLst>
              <a:gd name="adj" fmla="val 46863"/>
            </a:avLst>
          </a:prstGeom>
          <a:solidFill>
            <a:schemeClr val="bg1">
              <a:lumMod val="95000"/>
              <a:alpha val="70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400" dirty="0">
                <a:solidFill>
                  <a:schemeClr val="accent1">
                    <a:lumMod val="50000"/>
                  </a:scheme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  <a:t>Perception</a:t>
            </a:r>
            <a:br>
              <a:rPr lang="en-US" altLang="zh-TW" sz="1400" dirty="0">
                <a:solidFill>
                  <a:schemeClr val="accent1">
                    <a:lumMod val="50000"/>
                  </a:schemeClr>
                </a:solidFill>
                <a:latin typeface="ADLaM Display" panose="02010000000000000000" pitchFamily="2" charset="0"/>
                <a:cs typeface="ADLaM Display" panose="02010000000000000000" pitchFamily="2" charset="0"/>
              </a:rPr>
            </a:br>
            <a:r>
              <a:rPr lang="en-US" altLang="zh-TW" sz="1200" dirty="0">
                <a:solidFill>
                  <a:schemeClr val="accent1">
                    <a:lumMod val="50000"/>
                  </a:schemeClr>
                </a:solidFill>
                <a:cs typeface="ADLaM Display" panose="02010000000000000000" pitchFamily="2" charset="0"/>
              </a:rPr>
              <a:t>(Pretraining, Distillation)</a:t>
            </a:r>
            <a:endParaRPr lang="zh-TW" altLang="en-US" sz="1400" dirty="0">
              <a:solidFill>
                <a:schemeClr val="accent1">
                  <a:lumMod val="50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30" name="梯形 29">
            <a:extLst>
              <a:ext uri="{FF2B5EF4-FFF2-40B4-BE49-F238E27FC236}">
                <a16:creationId xmlns:a16="http://schemas.microsoft.com/office/drawing/2014/main" id="{C7C3C531-420B-375B-7C6C-D7369F458E70}"/>
              </a:ext>
            </a:extLst>
          </p:cNvPr>
          <p:cNvSpPr/>
          <p:nvPr/>
        </p:nvSpPr>
        <p:spPr>
          <a:xfrm>
            <a:off x="6588224" y="4653136"/>
            <a:ext cx="1645920" cy="548640"/>
          </a:xfrm>
          <a:prstGeom prst="trapezoid">
            <a:avLst>
              <a:gd name="adj" fmla="val 46863"/>
            </a:avLst>
          </a:prstGeom>
          <a:solidFill>
            <a:schemeClr val="bg1">
              <a:lumMod val="95000"/>
              <a:alpha val="70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0" i="0" u="none" strike="noStrike" kern="1200" cap="none" spc="0" normalizeH="0" baseline="0" noProof="0" dirty="0">
                <a:ln>
                  <a:noFill/>
                </a:ln>
                <a:solidFill>
                  <a:srgbClr val="4F81BD">
                    <a:lumMod val="50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rPr>
              <a:t>Expertise</a:t>
            </a:r>
            <a:br>
              <a:rPr kumimoji="0" lang="en-US" altLang="zh-TW" sz="1400" b="0" i="0" u="none" strike="noStrike" kern="1200" cap="none" spc="0" normalizeH="0" baseline="0" noProof="0" dirty="0">
                <a:ln>
                  <a:noFill/>
                </a:ln>
                <a:solidFill>
                  <a:srgbClr val="4F81BD">
                    <a:lumMod val="50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rPr>
            </a:b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srgbClr val="4F81BD">
                    <a:lumMod val="50000"/>
                  </a:srgb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ADLaM Display" panose="02010000000000000000" pitchFamily="2" charset="0"/>
              </a:rPr>
              <a:t>Supervised FT</a:t>
            </a:r>
            <a:endParaRPr lang="zh-TW" altLang="en-US" sz="1400" dirty="0">
              <a:solidFill>
                <a:schemeClr val="accent1">
                  <a:lumMod val="50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32" name="梯形 31">
            <a:extLst>
              <a:ext uri="{FF2B5EF4-FFF2-40B4-BE49-F238E27FC236}">
                <a16:creationId xmlns:a16="http://schemas.microsoft.com/office/drawing/2014/main" id="{6CC0B344-4F6D-CADD-968D-A0729652C1B5}"/>
              </a:ext>
            </a:extLst>
          </p:cNvPr>
          <p:cNvSpPr/>
          <p:nvPr/>
        </p:nvSpPr>
        <p:spPr>
          <a:xfrm>
            <a:off x="6588224" y="3212976"/>
            <a:ext cx="1645920" cy="548640"/>
          </a:xfrm>
          <a:prstGeom prst="trapezoid">
            <a:avLst>
              <a:gd name="adj" fmla="val 46863"/>
            </a:avLst>
          </a:prstGeom>
          <a:solidFill>
            <a:schemeClr val="bg1">
              <a:lumMod val="95000"/>
              <a:alpha val="70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0" i="0" u="none" strike="noStrike" kern="1200" cap="none" spc="0" normalizeH="0" baseline="0" noProof="0" dirty="0">
                <a:ln>
                  <a:noFill/>
                </a:ln>
                <a:solidFill>
                  <a:srgbClr val="4F81BD">
                    <a:lumMod val="50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rPr>
              <a:t>Agent</a:t>
            </a:r>
            <a:br>
              <a:rPr kumimoji="0" lang="en-US" altLang="zh-TW" sz="1400" b="0" i="0" u="none" strike="noStrike" kern="1200" cap="none" spc="0" normalizeH="0" baseline="0" noProof="0" dirty="0">
                <a:ln>
                  <a:noFill/>
                </a:ln>
                <a:solidFill>
                  <a:srgbClr val="4F81BD">
                    <a:lumMod val="50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rPr>
            </a:b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srgbClr val="4F81BD">
                    <a:lumMod val="50000"/>
                  </a:srgb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ADLaM Display" panose="02010000000000000000" pitchFamily="2" charset="0"/>
              </a:rPr>
              <a:t>(MCP)</a:t>
            </a:r>
            <a:endParaRPr lang="zh-TW" altLang="en-US" sz="1400" dirty="0">
              <a:solidFill>
                <a:schemeClr val="accent1">
                  <a:lumMod val="50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36" name="梯形 35">
            <a:extLst>
              <a:ext uri="{FF2B5EF4-FFF2-40B4-BE49-F238E27FC236}">
                <a16:creationId xmlns:a16="http://schemas.microsoft.com/office/drawing/2014/main" id="{BE216D4A-61ED-BA56-59EB-B33DF1238DE8}"/>
              </a:ext>
            </a:extLst>
          </p:cNvPr>
          <p:cNvSpPr/>
          <p:nvPr/>
        </p:nvSpPr>
        <p:spPr>
          <a:xfrm>
            <a:off x="6588224" y="3933056"/>
            <a:ext cx="1645920" cy="548640"/>
          </a:xfrm>
          <a:prstGeom prst="trapezoid">
            <a:avLst>
              <a:gd name="adj" fmla="val 46863"/>
            </a:avLst>
          </a:prstGeom>
          <a:solidFill>
            <a:schemeClr val="bg1">
              <a:lumMod val="95000"/>
              <a:alpha val="70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400" b="0" i="0" u="none" strike="noStrike" kern="1200" cap="none" spc="0" normalizeH="0" baseline="0" noProof="0" dirty="0">
                <a:ln>
                  <a:noFill/>
                </a:ln>
                <a:solidFill>
                  <a:srgbClr val="4F81BD">
                    <a:lumMod val="50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rPr>
              <a:t>Reasoning</a:t>
            </a:r>
            <a:br>
              <a:rPr kumimoji="0" lang="en-US" altLang="zh-TW" sz="1400" b="0" i="0" u="none" strike="noStrike" kern="1200" cap="none" spc="0" normalizeH="0" baseline="0" noProof="0" dirty="0">
                <a:ln>
                  <a:noFill/>
                </a:ln>
                <a:solidFill>
                  <a:srgbClr val="4F81BD">
                    <a:lumMod val="50000"/>
                  </a:srgbClr>
                </a:solidFill>
                <a:effectLst/>
                <a:uLnTx/>
                <a:uFillTx/>
                <a:latin typeface="ADLaM Display" panose="02010000000000000000" pitchFamily="2" charset="0"/>
                <a:ea typeface="新細明體" panose="02020500000000000000" pitchFamily="18" charset="-120"/>
                <a:cs typeface="ADLaM Display" panose="02010000000000000000" pitchFamily="2" charset="0"/>
              </a:rPr>
            </a:b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srgbClr val="4F81BD">
                    <a:lumMod val="50000"/>
                  </a:srgbClr>
                </a:solidFill>
                <a:effectLst/>
                <a:uLnTx/>
                <a:uFillTx/>
                <a:latin typeface="Calibri"/>
                <a:ea typeface="新細明體" panose="02020500000000000000" pitchFamily="18" charset="-120"/>
                <a:cs typeface="ADLaM Display" panose="02010000000000000000" pitchFamily="2" charset="0"/>
              </a:rPr>
              <a:t>(RL, CoT)</a:t>
            </a:r>
            <a:endParaRPr lang="zh-TW" altLang="en-US" sz="1400" dirty="0">
              <a:solidFill>
                <a:schemeClr val="accent1">
                  <a:lumMod val="50000"/>
                </a:schemeClr>
              </a:solidFill>
              <a:latin typeface="ADLaM Display" panose="02010000000000000000" pitchFamily="2" charset="0"/>
              <a:cs typeface="ADLaM Display" panose="02010000000000000000" pitchFamily="2" charset="0"/>
            </a:endParaRP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8759ACDC-DED9-0DB1-D903-FC622CEC7694}"/>
              </a:ext>
            </a:extLst>
          </p:cNvPr>
          <p:cNvSpPr/>
          <p:nvPr/>
        </p:nvSpPr>
        <p:spPr>
          <a:xfrm>
            <a:off x="4427984" y="1692987"/>
            <a:ext cx="3987977" cy="432048"/>
          </a:xfrm>
          <a:prstGeom prst="rect">
            <a:avLst/>
          </a:prstGeom>
          <a:solidFill>
            <a:schemeClr val="accent3">
              <a:lumMod val="20000"/>
              <a:lumOff val="80000"/>
              <a:alpha val="90000"/>
            </a:schemeClr>
          </a:solidFill>
          <a:ln w="3175"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TW" altLang="en-US" sz="1200" i="0" u="none" strike="noStrike" kern="120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微軟正黑體" panose="020B0604030504040204" pitchFamily="34" charset="-120"/>
                <a:ea typeface="微軟正黑體" panose="020B0604030504040204" pitchFamily="34" charset="-120"/>
              </a:rPr>
              <a:t>諾貝爾</a:t>
            </a:r>
            <a:r>
              <a:rPr kumimoji="0" lang="en-US" altLang="zh-TW" sz="1200" i="0" u="none" strike="noStrike" kern="120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微軟正黑體" panose="020B0604030504040204" pitchFamily="34" charset="-120"/>
                <a:ea typeface="微軟正黑體" panose="020B0604030504040204" pitchFamily="34" charset="-120"/>
              </a:rPr>
              <a:t>.2024</a:t>
            </a:r>
            <a:r>
              <a:rPr kumimoji="0" lang="zh-TW" altLang="en-US" sz="1200" i="0" u="none" strike="noStrike" kern="120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微軟正黑體" panose="020B0604030504040204" pitchFamily="34" charset="-120"/>
                <a:ea typeface="微軟正黑體" panose="020B0604030504040204" pitchFamily="34" charset="-120"/>
              </a:rPr>
              <a:t>物理獎</a:t>
            </a:r>
            <a:endParaRPr kumimoji="0" lang="en-US" altLang="zh-TW" sz="1200" i="0" u="none" strike="noStrike" kern="1200" cap="none" spc="0" normalizeH="0" baseline="0" noProof="0" dirty="0">
              <a:ln w="0"/>
              <a:solidFill>
                <a:prstClr val="black"/>
              </a:solidFill>
              <a:effectLst/>
              <a:uLnTx/>
              <a:uFillTx/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TW" altLang="en-US" sz="1200" i="0" u="none" strike="noStrike" kern="120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微軟正黑體" panose="020B0604030504040204" pitchFamily="34" charset="-120"/>
                <a:ea typeface="微軟正黑體" panose="020B0604030504040204" pitchFamily="34" charset="-120"/>
              </a:rPr>
              <a:t>推廣物理技術到</a:t>
            </a:r>
            <a:r>
              <a:rPr kumimoji="0" lang="en-US" altLang="zh-TW" sz="1200" i="0" u="none" strike="noStrike" kern="120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微軟正黑體" panose="020B0604030504040204" pitchFamily="34" charset="-120"/>
                <a:ea typeface="微軟正黑體" panose="020B0604030504040204" pitchFamily="34" charset="-120"/>
              </a:rPr>
              <a:t>AI</a:t>
            </a:r>
            <a:r>
              <a:rPr lang="en-US" altLang="zh-TW" sz="1200" dirty="0">
                <a:ln w="0"/>
                <a:solidFill>
                  <a:prstClr val="black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sym typeface="Wingdings" panose="05000000000000000000" pitchFamily="2" charset="2"/>
              </a:rPr>
              <a:t>,</a:t>
            </a:r>
            <a:r>
              <a:rPr lang="zh-TW" altLang="en-US" sz="1200" dirty="0">
                <a:ln w="0"/>
                <a:solidFill>
                  <a:prstClr val="black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sym typeface="Wingdings" panose="05000000000000000000" pitchFamily="2" charset="2"/>
              </a:rPr>
              <a:t> </a:t>
            </a:r>
            <a:r>
              <a:rPr kumimoji="0" lang="zh-TW" altLang="en-US" sz="1200" i="0" u="none" strike="noStrike" kern="120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微軟正黑體" panose="020B0604030504040204" pitchFamily="34" charset="-120"/>
                <a:ea typeface="微軟正黑體" panose="020B0604030504040204" pitchFamily="34" charset="-120"/>
                <a:sym typeface="Wingdings" panose="05000000000000000000" pitchFamily="2" charset="2"/>
              </a:rPr>
              <a:t>讓</a:t>
            </a:r>
            <a:r>
              <a:rPr kumimoji="0" lang="en-US" altLang="zh-TW" sz="1200" i="0" u="none" strike="noStrike" kern="120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微軟正黑體" panose="020B0604030504040204" pitchFamily="34" charset="-120"/>
                <a:ea typeface="微軟正黑體" panose="020B0604030504040204" pitchFamily="34" charset="-120"/>
                <a:sym typeface="Wingdings" panose="05000000000000000000" pitchFamily="2" charset="2"/>
              </a:rPr>
              <a:t>MLP(BP)</a:t>
            </a:r>
            <a:r>
              <a:rPr kumimoji="0" lang="zh-TW" altLang="en-US" sz="1200" i="0" u="none" strike="noStrike" kern="120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微軟正黑體" panose="020B0604030504040204" pitchFamily="34" charset="-120"/>
                <a:ea typeface="微軟正黑體" panose="020B0604030504040204" pitchFamily="34" charset="-120"/>
                <a:sym typeface="Wingdings" panose="05000000000000000000" pitchFamily="2" charset="2"/>
              </a:rPr>
              <a:t>進一步推升</a:t>
            </a:r>
            <a:r>
              <a:rPr kumimoji="0" lang="en-US" altLang="zh-TW" sz="1200" i="0" u="none" strike="noStrike" kern="120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微軟正黑體" panose="020B0604030504040204" pitchFamily="34" charset="-120"/>
                <a:ea typeface="微軟正黑體" panose="020B0604030504040204" pitchFamily="34" charset="-120"/>
                <a:sym typeface="Wingdings" panose="05000000000000000000" pitchFamily="2" charset="2"/>
              </a:rPr>
              <a:t>AI</a:t>
            </a:r>
            <a:endParaRPr kumimoji="0" lang="en-US" altLang="zh-TW" sz="1200" i="0" u="none" strike="noStrike" kern="1200" cap="none" spc="0" normalizeH="0" baseline="0" noProof="0" dirty="0">
              <a:ln w="0"/>
              <a:solidFill>
                <a:prstClr val="black"/>
              </a:solidFill>
              <a:effectLst/>
              <a:uLnTx/>
              <a:uFillTx/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128EFDC7-98D9-B2A8-5D90-15A0EC1E068B}"/>
              </a:ext>
            </a:extLst>
          </p:cNvPr>
          <p:cNvSpPr/>
          <p:nvPr/>
        </p:nvSpPr>
        <p:spPr>
          <a:xfrm>
            <a:off x="4427984" y="2169113"/>
            <a:ext cx="3987977" cy="432048"/>
          </a:xfrm>
          <a:prstGeom prst="rect">
            <a:avLst/>
          </a:prstGeom>
          <a:solidFill>
            <a:schemeClr val="accent3">
              <a:lumMod val="20000"/>
              <a:lumOff val="80000"/>
              <a:alpha val="90000"/>
            </a:schemeClr>
          </a:solidFill>
          <a:ln w="3175"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zh-TW" altLang="en-US" sz="1200" i="0" u="none" strike="noStrike" kern="120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微軟正黑體" panose="020B0604030504040204" pitchFamily="34" charset="-120"/>
                <a:ea typeface="微軟正黑體" panose="020B0604030504040204" pitchFamily="34" charset="-120"/>
              </a:rPr>
              <a:t>諾貝爾</a:t>
            </a:r>
            <a:r>
              <a:rPr kumimoji="0" lang="en-US" altLang="zh-TW" sz="1200" i="0" u="none" strike="noStrike" kern="120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微軟正黑體" panose="020B0604030504040204" pitchFamily="34" charset="-120"/>
                <a:ea typeface="微軟正黑體" panose="020B0604030504040204" pitchFamily="34" charset="-120"/>
              </a:rPr>
              <a:t>.2024</a:t>
            </a:r>
            <a:r>
              <a:rPr lang="zh-TW" altLang="en-US" sz="1200" dirty="0">
                <a:ln w="0"/>
                <a:solidFill>
                  <a:prstClr val="black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化學</a:t>
            </a:r>
            <a:r>
              <a:rPr kumimoji="0" lang="zh-TW" altLang="en-US" sz="1200" i="0" u="none" strike="noStrike" kern="120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微軟正黑體" panose="020B0604030504040204" pitchFamily="34" charset="-120"/>
                <a:ea typeface="微軟正黑體" panose="020B0604030504040204" pitchFamily="34" charset="-120"/>
              </a:rPr>
              <a:t>獎</a:t>
            </a:r>
            <a:endParaRPr kumimoji="0" lang="en-US" altLang="zh-TW" sz="1200" i="0" u="none" strike="noStrike" kern="1200" cap="none" spc="0" normalizeH="0" baseline="0" noProof="0" dirty="0">
              <a:ln w="0"/>
              <a:solidFill>
                <a:prstClr val="black"/>
              </a:solidFill>
              <a:effectLst/>
              <a:uLnTx/>
              <a:uFillTx/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TW" altLang="en-US" sz="1200" dirty="0">
                <a:ln w="0"/>
                <a:solidFill>
                  <a:prstClr val="black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引用</a:t>
            </a:r>
            <a:r>
              <a:rPr lang="en-US" altLang="zh-TW" sz="1200" dirty="0">
                <a:ln w="0"/>
                <a:solidFill>
                  <a:prstClr val="black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AI</a:t>
            </a:r>
            <a:r>
              <a:rPr lang="zh-TW" altLang="en-US" sz="1200" dirty="0">
                <a:ln w="0"/>
                <a:solidFill>
                  <a:prstClr val="black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看清蛋白質結構</a:t>
            </a:r>
            <a:r>
              <a:rPr lang="en-US" altLang="zh-TW" sz="1200" dirty="0">
                <a:ln w="0"/>
                <a:solidFill>
                  <a:prstClr val="black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,</a:t>
            </a:r>
            <a:r>
              <a:rPr lang="zh-TW" altLang="en-US" sz="1200" dirty="0">
                <a:ln w="0"/>
                <a:solidFill>
                  <a:prstClr val="black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 並設計</a:t>
            </a:r>
            <a:r>
              <a:rPr kumimoji="0" lang="zh-TW" altLang="en-US" sz="1200" i="0" u="none" strike="noStrike" kern="1200" cap="none" spc="0" normalizeH="0" baseline="0" noProof="0" dirty="0">
                <a:ln w="0"/>
                <a:solidFill>
                  <a:prstClr val="black"/>
                </a:solidFill>
                <a:effectLst/>
                <a:uLnTx/>
                <a:uFillTx/>
                <a:latin typeface="微軟正黑體" panose="020B0604030504040204" pitchFamily="34" charset="-120"/>
                <a:ea typeface="微軟正黑體" panose="020B0604030504040204" pitchFamily="34" charset="-120"/>
              </a:rPr>
              <a:t>全新的藥物與疫苗</a:t>
            </a:r>
            <a:endParaRPr kumimoji="0" lang="en-US" altLang="zh-TW" sz="1200" i="0" u="none" strike="noStrike" kern="1200" cap="none" spc="0" normalizeH="0" baseline="0" noProof="0" dirty="0">
              <a:ln w="0"/>
              <a:solidFill>
                <a:prstClr val="black"/>
              </a:solidFill>
              <a:effectLst/>
              <a:uLnTx/>
              <a:uFillTx/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5" name="文字方塊 14">
            <a:extLst>
              <a:ext uri="{FF2B5EF4-FFF2-40B4-BE49-F238E27FC236}">
                <a16:creationId xmlns:a16="http://schemas.microsoft.com/office/drawing/2014/main" id="{B7FC2076-425F-21C3-31C0-60F6DADEFAD6}"/>
              </a:ext>
            </a:extLst>
          </p:cNvPr>
          <p:cNvSpPr txBox="1"/>
          <p:nvPr/>
        </p:nvSpPr>
        <p:spPr>
          <a:xfrm>
            <a:off x="323528" y="1163213"/>
            <a:ext cx="3528392" cy="12464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marR="0" lvl="0" indent="-342900">
              <a:spcBef>
                <a:spcPts val="900"/>
              </a:spcBef>
              <a:spcAft>
                <a:spcPts val="900"/>
              </a:spcAft>
              <a:buFont typeface="Arial" panose="020B0604020202020204" pitchFamily="34" charset="0"/>
              <a:buChar char="•"/>
            </a:pPr>
            <a:r>
              <a:rPr lang="zh-TW" altLang="zh-TW" sz="1000" b="1" u="none" strike="noStrike" dirty="0">
                <a:effectLst/>
                <a:latin typeface="+mn-lt"/>
              </a:rPr>
              <a:t>1985 年</a:t>
            </a:r>
            <a:r>
              <a:rPr lang="zh-TW" altLang="zh-TW" sz="1000" b="0" u="none" strike="noStrike" dirty="0">
                <a:effectLst/>
                <a:latin typeface="+mn-lt"/>
              </a:rPr>
              <a:t>：辛頓（Hinton）受到物理模型啟發，在霍普菲爾德網路的基礎上發明了</a:t>
            </a:r>
            <a:r>
              <a:rPr lang="zh-TW" altLang="zh-TW" sz="1000" b="1" u="none" strike="noStrike" dirty="0">
                <a:effectLst/>
                <a:latin typeface="+mn-lt"/>
              </a:rPr>
              <a:t>「玻爾茲曼機」（Boltzmann Machine）</a:t>
            </a:r>
            <a:r>
              <a:rPr lang="zh-TW" altLang="zh-TW" sz="1000" b="0" u="none" strike="noStrike" dirty="0">
                <a:effectLst/>
                <a:latin typeface="+mn-lt"/>
              </a:rPr>
              <a:t>。</a:t>
            </a:r>
          </a:p>
          <a:p>
            <a:pPr marL="342900" marR="0" lvl="0" indent="-342900">
              <a:spcBef>
                <a:spcPts val="900"/>
              </a:spcBef>
              <a:spcAft>
                <a:spcPts val="900"/>
              </a:spcAft>
              <a:buFont typeface="Arial" panose="020B0604020202020204" pitchFamily="34" charset="0"/>
              <a:buChar char="•"/>
            </a:pPr>
            <a:r>
              <a:rPr lang="zh-TW" altLang="zh-TW" sz="1000" b="1" u="none" strike="noStrike" dirty="0">
                <a:effectLst/>
                <a:latin typeface="+mn-lt"/>
              </a:rPr>
              <a:t>1986 年</a:t>
            </a:r>
            <a:r>
              <a:rPr lang="zh-TW" altLang="zh-TW" sz="1000" b="0" u="none" strike="noStrike" dirty="0">
                <a:effectLst/>
                <a:latin typeface="+mn-lt"/>
              </a:rPr>
              <a:t>：辛頓等人推廣了</a:t>
            </a:r>
            <a:r>
              <a:rPr lang="zh-TW" altLang="zh-TW" sz="1000" b="1" u="none" strike="noStrike" dirty="0">
                <a:effectLst/>
                <a:latin typeface="+mn-lt"/>
              </a:rPr>
              <a:t>反向傳播演算法（Backpropagation）</a:t>
            </a:r>
            <a:r>
              <a:rPr lang="zh-TW" altLang="zh-TW" sz="1000" b="0" u="none" strike="noStrike" dirty="0">
                <a:effectLst/>
                <a:latin typeface="+mn-lt"/>
              </a:rPr>
              <a:t>，正式讓</a:t>
            </a:r>
            <a:r>
              <a:rPr lang="zh-TW" altLang="zh-TW" sz="1000" b="1" u="none" strike="noStrike" dirty="0">
                <a:effectLst/>
                <a:latin typeface="+mn-lt"/>
              </a:rPr>
              <a:t>多層感知機（MLP）</a:t>
            </a:r>
            <a:r>
              <a:rPr lang="zh-TW" altLang="zh-TW" sz="1000" b="0" u="none" strike="noStrike" dirty="0">
                <a:effectLst/>
                <a:latin typeface="+mn-lt"/>
              </a:rPr>
              <a:t>具備了訓練多層網路的能力。AI 迎來短暫復興。</a:t>
            </a:r>
            <a:endParaRPr lang="zh-TW" altLang="zh-TW" sz="1000" b="0" u="none" strike="noStrike" dirty="0">
              <a:effectLst/>
              <a:latin typeface="Google Sans"/>
            </a:endParaRPr>
          </a:p>
        </p:txBody>
      </p:sp>
    </p:spTree>
    <p:extLst>
      <p:ext uri="{BB962C8B-B14F-4D97-AF65-F5344CB8AC3E}">
        <p14:creationId xmlns:p14="http://schemas.microsoft.com/office/powerpoint/2010/main" val="150382875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706302FC-D0BC-02CC-8785-7DCA47DA67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9" name="直線接點 98">
            <a:extLst>
              <a:ext uri="{FF2B5EF4-FFF2-40B4-BE49-F238E27FC236}">
                <a16:creationId xmlns:a16="http://schemas.microsoft.com/office/drawing/2014/main" id="{EE80DDFA-3CE7-B459-F0CC-D3E55E2CF5DD}"/>
              </a:ext>
            </a:extLst>
          </p:cNvPr>
          <p:cNvCxnSpPr/>
          <p:nvPr/>
        </p:nvCxnSpPr>
        <p:spPr>
          <a:xfrm>
            <a:off x="2843808" y="1412776"/>
            <a:ext cx="3600400" cy="0"/>
          </a:xfrm>
          <a:prstGeom prst="line">
            <a:avLst/>
          </a:prstGeom>
          <a:ln w="28575">
            <a:solidFill>
              <a:schemeClr val="accent4">
                <a:lumMod val="20000"/>
                <a:lumOff val="80000"/>
              </a:schemeClr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標題 1">
            <a:extLst>
              <a:ext uri="{FF2B5EF4-FFF2-40B4-BE49-F238E27FC236}">
                <a16:creationId xmlns:a16="http://schemas.microsoft.com/office/drawing/2014/main" id="{3A44A353-E013-F042-6E3F-2889A8BF1DFC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AI Infrastructure</a:t>
            </a:r>
          </a:p>
          <a:p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.</a:t>
            </a:r>
          </a:p>
          <a:p>
            <a:pPr marL="285750" indent="-285750">
              <a:buFontTx/>
              <a:buChar char="-"/>
            </a:pPr>
            <a:endParaRPr lang="en-US" altLang="zh-TW" sz="1400" dirty="0"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  <p:sp>
        <p:nvSpPr>
          <p:cNvPr id="72" name="文字方塊 71">
            <a:extLst>
              <a:ext uri="{FF2B5EF4-FFF2-40B4-BE49-F238E27FC236}">
                <a16:creationId xmlns:a16="http://schemas.microsoft.com/office/drawing/2014/main" id="{6849A154-5F50-AB30-77D7-F15DFDD5B115}"/>
              </a:ext>
            </a:extLst>
          </p:cNvPr>
          <p:cNvSpPr txBox="1"/>
          <p:nvPr/>
        </p:nvSpPr>
        <p:spPr>
          <a:xfrm>
            <a:off x="192112" y="5517232"/>
            <a:ext cx="6252096" cy="1092607"/>
          </a:xfrm>
          <a:prstGeom prst="rect">
            <a:avLst/>
          </a:prstGeom>
          <a:solidFill>
            <a:schemeClr val="bg1">
              <a:alpha val="90000"/>
            </a:schemeClr>
          </a:solidFill>
        </p:spPr>
        <p:txBody>
          <a:bodyPr wrap="none">
            <a:spAutoFit/>
          </a:bodyPr>
          <a:lstStyle/>
          <a:p>
            <a:pPr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None/>
            </a:pPr>
            <a:r>
              <a:rPr lang="en-US" altLang="zh-TW" sz="2000" b="1" u="none" strike="noStrike" dirty="0">
                <a:effectLst/>
              </a:rPr>
              <a:t>Conclusion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Model Converge:</a:t>
            </a:r>
            <a:r>
              <a:rPr lang="en-US" altLang="zh-TW" sz="1600" dirty="0"/>
              <a:t> Parameters, cost, power.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</a:pPr>
            <a:r>
              <a:rPr lang="en-US" altLang="zh-TW" sz="1600" b="1" dirty="0"/>
              <a:t>Nobel Physics 2024:</a:t>
            </a:r>
            <a:r>
              <a:rPr lang="en-US" altLang="zh-TW" sz="1600" dirty="0"/>
              <a:t> MLP= BM(physics) + Backpropagation(Hinton).</a:t>
            </a:r>
          </a:p>
        </p:txBody>
      </p:sp>
      <p:sp>
        <p:nvSpPr>
          <p:cNvPr id="18" name="橢圓 17">
            <a:extLst>
              <a:ext uri="{FF2B5EF4-FFF2-40B4-BE49-F238E27FC236}">
                <a16:creationId xmlns:a16="http://schemas.microsoft.com/office/drawing/2014/main" id="{E1B9C56C-DF0C-41F5-B2F3-B6B130762027}"/>
              </a:ext>
            </a:extLst>
          </p:cNvPr>
          <p:cNvSpPr/>
          <p:nvPr/>
        </p:nvSpPr>
        <p:spPr>
          <a:xfrm>
            <a:off x="5169345" y="5641786"/>
            <a:ext cx="495818" cy="447885"/>
          </a:xfrm>
          <a:prstGeom prst="ellipse">
            <a:avLst/>
          </a:prstGeom>
          <a:solidFill>
            <a:schemeClr val="accent1">
              <a:lumMod val="20000"/>
              <a:lumOff val="80000"/>
              <a:alpha val="70000"/>
            </a:schemeClr>
          </a:solidFill>
          <a:ln w="3175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000" dirty="0">
                <a:solidFill>
                  <a:schemeClr val="tx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Gemma</a:t>
            </a:r>
          </a:p>
          <a:p>
            <a:pPr algn="ctr"/>
            <a:r>
              <a:rPr lang="en-US" altLang="zh-TW" sz="1000" dirty="0">
                <a:solidFill>
                  <a:schemeClr val="tx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4</a:t>
            </a:r>
          </a:p>
        </p:txBody>
      </p:sp>
      <p:sp>
        <p:nvSpPr>
          <p:cNvPr id="56" name="橢圓 55">
            <a:extLst>
              <a:ext uri="{FF2B5EF4-FFF2-40B4-BE49-F238E27FC236}">
                <a16:creationId xmlns:a16="http://schemas.microsoft.com/office/drawing/2014/main" id="{58CC6E29-095F-1EFA-8B3D-30C3984AD0C4}"/>
              </a:ext>
            </a:extLst>
          </p:cNvPr>
          <p:cNvSpPr/>
          <p:nvPr/>
        </p:nvSpPr>
        <p:spPr>
          <a:xfrm>
            <a:off x="1148091" y="2564904"/>
            <a:ext cx="389945" cy="414562"/>
          </a:xfrm>
          <a:prstGeom prst="ellipse">
            <a:avLst/>
          </a:prstGeom>
          <a:solidFill>
            <a:schemeClr val="accent4">
              <a:lumMod val="20000"/>
              <a:lumOff val="80000"/>
              <a:alpha val="70000"/>
            </a:schemeClr>
          </a:solidFill>
          <a:ln w="3175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Ins="0" bIns="0" rtlCol="0" anchor="ctr" anchorCtr="1"/>
          <a:lstStyle/>
          <a:p>
            <a:pPr algn="ctr">
              <a:lnSpc>
                <a:spcPts val="1000"/>
              </a:lnSpc>
            </a:pPr>
            <a:r>
              <a:rPr lang="en-US" altLang="zh-TW" sz="1000" dirty="0">
                <a:solidFill>
                  <a:schemeClr val="tx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Mamba</a:t>
            </a:r>
          </a:p>
          <a:p>
            <a:pPr algn="ctr"/>
            <a:r>
              <a:rPr lang="en-US" altLang="zh-TW" sz="800" dirty="0">
                <a:solidFill>
                  <a:schemeClr val="tx1"/>
                </a:solidFill>
                <a:ea typeface="ADLaM Display" panose="02010000000000000000" pitchFamily="2" charset="0"/>
                <a:cs typeface="ADLaM Display" panose="02010000000000000000" pitchFamily="2" charset="0"/>
              </a:rPr>
              <a:t>2023</a:t>
            </a:r>
          </a:p>
        </p:txBody>
      </p:sp>
      <p:sp>
        <p:nvSpPr>
          <p:cNvPr id="58" name="橢圓 57">
            <a:extLst>
              <a:ext uri="{FF2B5EF4-FFF2-40B4-BE49-F238E27FC236}">
                <a16:creationId xmlns:a16="http://schemas.microsoft.com/office/drawing/2014/main" id="{892E27DD-A637-F4D4-06F1-72E8D624F2BE}"/>
              </a:ext>
            </a:extLst>
          </p:cNvPr>
          <p:cNvSpPr/>
          <p:nvPr/>
        </p:nvSpPr>
        <p:spPr>
          <a:xfrm>
            <a:off x="1043608" y="3159034"/>
            <a:ext cx="598913" cy="557998"/>
          </a:xfrm>
          <a:prstGeom prst="ellipse">
            <a:avLst/>
          </a:prstGeom>
          <a:solidFill>
            <a:schemeClr val="accent4">
              <a:lumMod val="20000"/>
              <a:lumOff val="80000"/>
              <a:alpha val="70000"/>
            </a:schemeClr>
          </a:solidFill>
          <a:ln w="3175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Ins="0" bIns="0" rtlCol="0" anchor="ctr" anchorCtr="1"/>
          <a:lstStyle/>
          <a:p>
            <a:pPr algn="ctr">
              <a:lnSpc>
                <a:spcPts val="1000"/>
              </a:lnSpc>
            </a:pPr>
            <a:r>
              <a:rPr lang="en-US" altLang="zh-TW" sz="1000" dirty="0">
                <a:solidFill>
                  <a:schemeClr val="tx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Flash Attention</a:t>
            </a:r>
          </a:p>
          <a:p>
            <a:pPr algn="ctr">
              <a:lnSpc>
                <a:spcPts val="1000"/>
              </a:lnSpc>
            </a:pPr>
            <a:r>
              <a:rPr lang="en-US" altLang="zh-TW" sz="1000" dirty="0">
                <a:solidFill>
                  <a:schemeClr val="tx1"/>
                </a:solidFill>
                <a:ea typeface="ADLaM Display" panose="02010000000000000000" pitchFamily="2" charset="0"/>
                <a:cs typeface="ADLaM Display" panose="02010000000000000000" pitchFamily="2" charset="0"/>
              </a:rPr>
              <a:t>FA1 ~ FA4</a:t>
            </a:r>
          </a:p>
          <a:p>
            <a:pPr algn="ctr">
              <a:lnSpc>
                <a:spcPts val="1000"/>
              </a:lnSpc>
            </a:pPr>
            <a:r>
              <a:rPr lang="en-US" altLang="zh-TW" sz="1000" dirty="0">
                <a:solidFill>
                  <a:schemeClr val="tx1"/>
                </a:solidFill>
                <a:ea typeface="ADLaM Display" panose="02010000000000000000" pitchFamily="2" charset="0"/>
                <a:cs typeface="ADLaM Display" panose="02010000000000000000" pitchFamily="2" charset="0"/>
              </a:rPr>
              <a:t>Dao-AILab</a:t>
            </a:r>
          </a:p>
        </p:txBody>
      </p:sp>
      <p:sp>
        <p:nvSpPr>
          <p:cNvPr id="60" name="橢圓 59">
            <a:extLst>
              <a:ext uri="{FF2B5EF4-FFF2-40B4-BE49-F238E27FC236}">
                <a16:creationId xmlns:a16="http://schemas.microsoft.com/office/drawing/2014/main" id="{78B9C38D-C5AF-B68A-9F1C-2CD3CE556C07}"/>
              </a:ext>
            </a:extLst>
          </p:cNvPr>
          <p:cNvSpPr/>
          <p:nvPr/>
        </p:nvSpPr>
        <p:spPr>
          <a:xfrm>
            <a:off x="1043609" y="3861048"/>
            <a:ext cx="598912" cy="557997"/>
          </a:xfrm>
          <a:prstGeom prst="ellipse">
            <a:avLst/>
          </a:prstGeom>
          <a:solidFill>
            <a:schemeClr val="accent4">
              <a:lumMod val="20000"/>
              <a:lumOff val="80000"/>
              <a:alpha val="70000"/>
            </a:schemeClr>
          </a:solidFill>
          <a:ln w="3175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Ins="0" bIns="0" rtlCol="0" anchor="ctr" anchorCtr="1"/>
          <a:lstStyle/>
          <a:p>
            <a:pPr algn="ctr">
              <a:lnSpc>
                <a:spcPts val="1000"/>
              </a:lnSpc>
            </a:pPr>
            <a:r>
              <a:rPr lang="en-US" altLang="zh-TW" sz="1000" dirty="0">
                <a:solidFill>
                  <a:schemeClr val="tx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NB</a:t>
            </a:r>
          </a:p>
          <a:p>
            <a:pPr algn="ctr"/>
            <a:r>
              <a:rPr lang="en-US" altLang="zh-TW" sz="800" dirty="0">
                <a:solidFill>
                  <a:schemeClr val="tx1"/>
                </a:solidFill>
                <a:ea typeface="ADLaM Display" panose="02010000000000000000" pitchFamily="2" charset="0"/>
                <a:cs typeface="ADLaM Display" panose="02010000000000000000" pitchFamily="2" charset="0"/>
              </a:rPr>
              <a:t>2026</a:t>
            </a:r>
          </a:p>
        </p:txBody>
      </p:sp>
      <p:sp>
        <p:nvSpPr>
          <p:cNvPr id="64" name="橢圓 63">
            <a:extLst>
              <a:ext uri="{FF2B5EF4-FFF2-40B4-BE49-F238E27FC236}">
                <a16:creationId xmlns:a16="http://schemas.microsoft.com/office/drawing/2014/main" id="{2DDFA83B-C4FD-D720-6D2F-11F9E59F4A16}"/>
              </a:ext>
            </a:extLst>
          </p:cNvPr>
          <p:cNvSpPr/>
          <p:nvPr/>
        </p:nvSpPr>
        <p:spPr>
          <a:xfrm>
            <a:off x="1148090" y="1205495"/>
            <a:ext cx="389945" cy="414562"/>
          </a:xfrm>
          <a:prstGeom prst="ellipse">
            <a:avLst/>
          </a:prstGeom>
          <a:solidFill>
            <a:schemeClr val="accent4">
              <a:lumMod val="20000"/>
              <a:lumOff val="80000"/>
              <a:alpha val="70000"/>
            </a:schemeClr>
          </a:solidFill>
          <a:ln w="3175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36000" rIns="0" bIns="0" rtlCol="0" anchor="ctr" anchorCtr="1"/>
          <a:lstStyle/>
          <a:p>
            <a:pPr algn="ctr">
              <a:lnSpc>
                <a:spcPts val="1000"/>
              </a:lnSpc>
            </a:pPr>
            <a:r>
              <a:rPr lang="en-US" altLang="zh-TW" sz="1000" dirty="0">
                <a:solidFill>
                  <a:schemeClr val="tx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SSM</a:t>
            </a:r>
          </a:p>
          <a:p>
            <a:pPr algn="ctr"/>
            <a:r>
              <a:rPr lang="en-US" altLang="zh-TW" sz="800" dirty="0">
                <a:solidFill>
                  <a:schemeClr val="tx1"/>
                </a:solidFill>
                <a:ea typeface="ADLaM Display" panose="02010000000000000000" pitchFamily="2" charset="0"/>
                <a:cs typeface="ADLaM Display" panose="02010000000000000000" pitchFamily="2" charset="0"/>
              </a:rPr>
              <a:t>1970</a:t>
            </a:r>
          </a:p>
        </p:txBody>
      </p:sp>
      <p:sp>
        <p:nvSpPr>
          <p:cNvPr id="75" name="橢圓 74">
            <a:extLst>
              <a:ext uri="{FF2B5EF4-FFF2-40B4-BE49-F238E27FC236}">
                <a16:creationId xmlns:a16="http://schemas.microsoft.com/office/drawing/2014/main" id="{16932FEF-28BF-7A85-5710-D3B5672D7B52}"/>
              </a:ext>
            </a:extLst>
          </p:cNvPr>
          <p:cNvSpPr/>
          <p:nvPr/>
        </p:nvSpPr>
        <p:spPr>
          <a:xfrm>
            <a:off x="5820242" y="5645411"/>
            <a:ext cx="495818" cy="447885"/>
          </a:xfrm>
          <a:prstGeom prst="ellipse">
            <a:avLst/>
          </a:prstGeom>
          <a:solidFill>
            <a:schemeClr val="accent1">
              <a:lumMod val="20000"/>
              <a:lumOff val="80000"/>
              <a:alpha val="70000"/>
            </a:schemeClr>
          </a:solidFill>
          <a:ln w="3175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000" dirty="0">
                <a:solidFill>
                  <a:schemeClr val="tx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MS Phi</a:t>
            </a:r>
          </a:p>
          <a:p>
            <a:pPr algn="ctr"/>
            <a:r>
              <a:rPr lang="en-US" altLang="zh-TW" sz="1000" dirty="0">
                <a:solidFill>
                  <a:schemeClr val="tx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4-mini</a:t>
            </a:r>
          </a:p>
        </p:txBody>
      </p:sp>
      <p:sp>
        <p:nvSpPr>
          <p:cNvPr id="78" name="橢圓 77">
            <a:extLst>
              <a:ext uri="{FF2B5EF4-FFF2-40B4-BE49-F238E27FC236}">
                <a16:creationId xmlns:a16="http://schemas.microsoft.com/office/drawing/2014/main" id="{78989110-2484-E2BA-99F9-A343277288E5}"/>
              </a:ext>
            </a:extLst>
          </p:cNvPr>
          <p:cNvSpPr/>
          <p:nvPr/>
        </p:nvSpPr>
        <p:spPr>
          <a:xfrm>
            <a:off x="6452446" y="5638161"/>
            <a:ext cx="495818" cy="447885"/>
          </a:xfrm>
          <a:prstGeom prst="ellipse">
            <a:avLst/>
          </a:prstGeom>
          <a:solidFill>
            <a:schemeClr val="accent1">
              <a:lumMod val="20000"/>
              <a:lumOff val="80000"/>
              <a:alpha val="70000"/>
            </a:schemeClr>
          </a:solidFill>
          <a:ln w="3175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000" dirty="0">
                <a:solidFill>
                  <a:schemeClr val="tx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Llama</a:t>
            </a:r>
          </a:p>
          <a:p>
            <a:pPr algn="ctr"/>
            <a:r>
              <a:rPr lang="en-US" altLang="zh-TW" sz="1000" dirty="0">
                <a:solidFill>
                  <a:schemeClr val="tx1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4</a:t>
            </a:r>
          </a:p>
        </p:txBody>
      </p:sp>
      <p:sp>
        <p:nvSpPr>
          <p:cNvPr id="5" name="梯形 4">
            <a:extLst>
              <a:ext uri="{FF2B5EF4-FFF2-40B4-BE49-F238E27FC236}">
                <a16:creationId xmlns:a16="http://schemas.microsoft.com/office/drawing/2014/main" id="{5417A936-FD4D-D4E4-E859-B0375CDA41B9}"/>
              </a:ext>
            </a:extLst>
          </p:cNvPr>
          <p:cNvSpPr/>
          <p:nvPr/>
        </p:nvSpPr>
        <p:spPr>
          <a:xfrm>
            <a:off x="2951496" y="3586728"/>
            <a:ext cx="1044440" cy="442126"/>
          </a:xfrm>
          <a:prstGeom prst="trapezoid">
            <a:avLst>
              <a:gd name="adj" fmla="val 0"/>
            </a:avLst>
          </a:prstGeom>
          <a:solidFill>
            <a:schemeClr val="bg1">
              <a:lumMod val="95000"/>
              <a:alpha val="70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200" b="1" dirty="0">
                <a:solidFill>
                  <a:schemeClr val="accent1">
                    <a:lumMod val="50000"/>
                  </a:schemeClr>
                </a:solidFill>
                <a:cs typeface="ADLaM Display" panose="02010000000000000000" pitchFamily="2" charset="0"/>
              </a:rPr>
              <a:t>Tensor RT-LLM</a:t>
            </a:r>
            <a:br>
              <a:rPr lang="en-US" altLang="zh-TW" sz="1200" dirty="0">
                <a:solidFill>
                  <a:schemeClr val="accent1">
                    <a:lumMod val="50000"/>
                  </a:schemeClr>
                </a:solidFill>
                <a:cs typeface="ADLaM Display" panose="02010000000000000000" pitchFamily="2" charset="0"/>
              </a:rPr>
            </a:br>
            <a:r>
              <a:rPr lang="en-US" altLang="zh-TW" sz="1200" dirty="0">
                <a:solidFill>
                  <a:schemeClr val="accent1">
                    <a:lumMod val="50000"/>
                  </a:schemeClr>
                </a:solidFill>
                <a:cs typeface="ADLaM Display" panose="02010000000000000000" pitchFamily="2" charset="0"/>
              </a:rPr>
              <a:t>NVIDIA</a:t>
            </a:r>
            <a:endParaRPr lang="zh-TW" altLang="en-US" sz="1200" dirty="0">
              <a:solidFill>
                <a:schemeClr val="accent1">
                  <a:lumMod val="50000"/>
                </a:schemeClr>
              </a:solidFill>
              <a:cs typeface="ADLaM Display" panose="02010000000000000000" pitchFamily="2" charset="0"/>
            </a:endParaRPr>
          </a:p>
        </p:txBody>
      </p:sp>
      <p:sp>
        <p:nvSpPr>
          <p:cNvPr id="7" name="梯形 6">
            <a:extLst>
              <a:ext uri="{FF2B5EF4-FFF2-40B4-BE49-F238E27FC236}">
                <a16:creationId xmlns:a16="http://schemas.microsoft.com/office/drawing/2014/main" id="{7CDD6906-A69D-911C-BABA-CF739FAA9D17}"/>
              </a:ext>
            </a:extLst>
          </p:cNvPr>
          <p:cNvSpPr/>
          <p:nvPr/>
        </p:nvSpPr>
        <p:spPr>
          <a:xfrm>
            <a:off x="2951496" y="2902770"/>
            <a:ext cx="1044440" cy="442126"/>
          </a:xfrm>
          <a:prstGeom prst="trapezoid">
            <a:avLst>
              <a:gd name="adj" fmla="val 0"/>
            </a:avLst>
          </a:prstGeom>
          <a:solidFill>
            <a:schemeClr val="bg1">
              <a:lumMod val="95000"/>
              <a:alpha val="70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1200" cap="none" spc="0" normalizeH="0" baseline="0" noProof="0" dirty="0">
                <a:ln>
                  <a:noFill/>
                </a:ln>
                <a:solidFill>
                  <a:srgbClr val="4F81BD">
                    <a:lumMod val="50000"/>
                  </a:srgbClr>
                </a:solidFill>
                <a:effectLst/>
                <a:uLnTx/>
                <a:uFillTx/>
                <a:ea typeface="新細明體" panose="02020500000000000000" pitchFamily="18" charset="-120"/>
                <a:cs typeface="ADLaM Display" panose="02010000000000000000" pitchFamily="2" charset="0"/>
              </a:rPr>
              <a:t>Triton</a:t>
            </a:r>
            <a:b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srgbClr val="4F81BD">
                    <a:lumMod val="50000"/>
                  </a:srgbClr>
                </a:solidFill>
                <a:effectLst/>
                <a:uLnTx/>
                <a:uFillTx/>
                <a:ea typeface="新細明體" panose="02020500000000000000" pitchFamily="18" charset="-120"/>
                <a:cs typeface="ADLaM Display" panose="02010000000000000000" pitchFamily="2" charset="0"/>
              </a:rPr>
            </a:b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srgbClr val="4F81BD">
                    <a:lumMod val="50000"/>
                  </a:srgbClr>
                </a:solidFill>
                <a:effectLst/>
                <a:uLnTx/>
                <a:uFillTx/>
                <a:ea typeface="新細明體" panose="02020500000000000000" pitchFamily="18" charset="-120"/>
                <a:cs typeface="ADLaM Display" panose="02010000000000000000" pitchFamily="2" charset="0"/>
              </a:rPr>
              <a:t>OpenAI</a:t>
            </a:r>
            <a:endParaRPr lang="zh-TW" altLang="en-US" sz="1200" dirty="0">
              <a:solidFill>
                <a:schemeClr val="accent1">
                  <a:lumMod val="50000"/>
                </a:schemeClr>
              </a:solidFill>
              <a:cs typeface="ADLaM Display" panose="02010000000000000000" pitchFamily="2" charset="0"/>
            </a:endParaRPr>
          </a:p>
        </p:txBody>
      </p:sp>
      <p:sp>
        <p:nvSpPr>
          <p:cNvPr id="10" name="梯形 9">
            <a:extLst>
              <a:ext uri="{FF2B5EF4-FFF2-40B4-BE49-F238E27FC236}">
                <a16:creationId xmlns:a16="http://schemas.microsoft.com/office/drawing/2014/main" id="{66A385D4-DAB3-A27A-0E2F-D40085FAC61A}"/>
              </a:ext>
            </a:extLst>
          </p:cNvPr>
          <p:cNvSpPr/>
          <p:nvPr/>
        </p:nvSpPr>
        <p:spPr>
          <a:xfrm>
            <a:off x="2951496" y="2159726"/>
            <a:ext cx="1044440" cy="442126"/>
          </a:xfrm>
          <a:prstGeom prst="trapezoid">
            <a:avLst>
              <a:gd name="adj" fmla="val 0"/>
            </a:avLst>
          </a:prstGeom>
          <a:solidFill>
            <a:schemeClr val="bg1">
              <a:lumMod val="95000"/>
              <a:alpha val="70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1200" b="1" i="0" u="none" strike="noStrike" kern="1200" cap="none" spc="0" normalizeH="0" baseline="0" noProof="0" dirty="0">
                <a:ln>
                  <a:noFill/>
                </a:ln>
                <a:solidFill>
                  <a:srgbClr val="4F81BD">
                    <a:lumMod val="50000"/>
                  </a:srgbClr>
                </a:solidFill>
                <a:effectLst/>
                <a:uLnTx/>
                <a:uFillTx/>
                <a:ea typeface="新細明體" panose="02020500000000000000" pitchFamily="18" charset="-120"/>
                <a:cs typeface="ADLaM Display" panose="02010000000000000000" pitchFamily="2" charset="0"/>
              </a:rPr>
              <a:t>Flash Attention</a:t>
            </a:r>
            <a:b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srgbClr val="4F81BD">
                    <a:lumMod val="50000"/>
                  </a:srgbClr>
                </a:solidFill>
                <a:effectLst/>
                <a:uLnTx/>
                <a:uFillTx/>
                <a:ea typeface="新細明體" panose="02020500000000000000" pitchFamily="18" charset="-120"/>
                <a:cs typeface="ADLaM Display" panose="02010000000000000000" pitchFamily="2" charset="0"/>
              </a:rPr>
            </a:br>
            <a:r>
              <a:rPr kumimoji="0" lang="en-US" altLang="zh-TW" sz="1200" b="0" i="0" u="none" strike="noStrike" kern="1200" cap="none" spc="0" normalizeH="0" baseline="0" noProof="0" dirty="0">
                <a:ln>
                  <a:noFill/>
                </a:ln>
                <a:solidFill>
                  <a:srgbClr val="4F81BD">
                    <a:lumMod val="50000"/>
                  </a:srgbClr>
                </a:solidFill>
                <a:effectLst/>
                <a:uLnTx/>
                <a:uFillTx/>
                <a:ea typeface="新細明體" panose="02020500000000000000" pitchFamily="18" charset="-120"/>
                <a:cs typeface="ADLaM Display" panose="02010000000000000000" pitchFamily="2" charset="0"/>
              </a:rPr>
              <a:t>FA1 ~ FA4</a:t>
            </a:r>
            <a:endParaRPr lang="zh-TW" altLang="en-US" sz="1200" dirty="0">
              <a:solidFill>
                <a:schemeClr val="accent1">
                  <a:lumMod val="50000"/>
                </a:schemeClr>
              </a:solidFill>
              <a:cs typeface="ADLaM Display" panose="02010000000000000000" pitchFamily="2" charset="0"/>
            </a:endParaRPr>
          </a:p>
        </p:txBody>
      </p:sp>
      <p:sp>
        <p:nvSpPr>
          <p:cNvPr id="12" name="梯形 11">
            <a:extLst>
              <a:ext uri="{FF2B5EF4-FFF2-40B4-BE49-F238E27FC236}">
                <a16:creationId xmlns:a16="http://schemas.microsoft.com/office/drawing/2014/main" id="{E8FE181C-DBAB-DA64-1BBA-263BDD97FE5B}"/>
              </a:ext>
            </a:extLst>
          </p:cNvPr>
          <p:cNvSpPr/>
          <p:nvPr/>
        </p:nvSpPr>
        <p:spPr>
          <a:xfrm>
            <a:off x="2951496" y="4342812"/>
            <a:ext cx="1044440" cy="442126"/>
          </a:xfrm>
          <a:prstGeom prst="trapezoid">
            <a:avLst>
              <a:gd name="adj" fmla="val 0"/>
            </a:avLst>
          </a:prstGeom>
          <a:solidFill>
            <a:schemeClr val="bg1">
              <a:lumMod val="95000"/>
              <a:alpha val="70000"/>
            </a:schemeClr>
          </a:solidFill>
          <a:ln w="25400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200" b="1" dirty="0">
                <a:solidFill>
                  <a:schemeClr val="accent1">
                    <a:lumMod val="50000"/>
                  </a:schemeClr>
                </a:solidFill>
                <a:cs typeface="ADLaM Display" panose="02010000000000000000" pitchFamily="2" charset="0"/>
              </a:rPr>
              <a:t>GPU</a:t>
            </a:r>
            <a:br>
              <a:rPr lang="en-US" altLang="zh-TW" sz="1200" dirty="0">
                <a:solidFill>
                  <a:schemeClr val="accent1">
                    <a:lumMod val="50000"/>
                  </a:schemeClr>
                </a:solidFill>
                <a:cs typeface="ADLaM Display" panose="02010000000000000000" pitchFamily="2" charset="0"/>
              </a:rPr>
            </a:br>
            <a:r>
              <a:rPr lang="en-US" altLang="zh-TW" sz="1200" dirty="0">
                <a:solidFill>
                  <a:schemeClr val="accent1">
                    <a:lumMod val="50000"/>
                  </a:schemeClr>
                </a:solidFill>
                <a:cs typeface="ADLaM Display" panose="02010000000000000000" pitchFamily="2" charset="0"/>
              </a:rPr>
              <a:t>NVIDIA</a:t>
            </a:r>
            <a:endParaRPr lang="zh-TW" altLang="en-US" sz="1200" dirty="0">
              <a:solidFill>
                <a:schemeClr val="accent1">
                  <a:lumMod val="50000"/>
                </a:schemeClr>
              </a:solidFill>
              <a:cs typeface="ADLaM Display" panose="02010000000000000000" pitchFamily="2" charset="0"/>
            </a:endParaRPr>
          </a:p>
        </p:txBody>
      </p:sp>
      <p:sp>
        <p:nvSpPr>
          <p:cNvPr id="19" name="文字方塊 18">
            <a:extLst>
              <a:ext uri="{FF2B5EF4-FFF2-40B4-BE49-F238E27FC236}">
                <a16:creationId xmlns:a16="http://schemas.microsoft.com/office/drawing/2014/main" id="{E3A1A78E-82D5-DD2A-6C5A-0ADA54CE07CC}"/>
              </a:ext>
            </a:extLst>
          </p:cNvPr>
          <p:cNvSpPr txBox="1"/>
          <p:nvPr/>
        </p:nvSpPr>
        <p:spPr>
          <a:xfrm>
            <a:off x="4279947" y="789963"/>
            <a:ext cx="2420408" cy="127727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zh-TW" sz="1100" b="1" u="none" strike="noStrike" kern="1200" dirty="0">
                <a:solidFill>
                  <a:schemeClr val="tx1"/>
                </a:solidFill>
                <a:effectLst/>
                <a:ea typeface="微軟正黑體" panose="020B0604030504040204" pitchFamily="34" charset="-120"/>
              </a:rPr>
              <a:t>FlashAttention (FA 系列)</a:t>
            </a:r>
            <a:r>
              <a:rPr lang="en-US" altLang="zh-TW" sz="1100" b="1" u="none" strike="noStrike" kern="1200" dirty="0">
                <a:solidFill>
                  <a:schemeClr val="tx1"/>
                </a:solidFill>
                <a:effectLst/>
                <a:ea typeface="微軟正黑體" panose="020B0604030504040204" pitchFamily="34" charset="-120"/>
              </a:rPr>
              <a:t> </a:t>
            </a:r>
          </a:p>
          <a:p>
            <a:r>
              <a:rPr lang="zh-TW" altLang="zh-TW" sz="1100" b="1" u="none" strike="noStrike" kern="1200" dirty="0">
                <a:solidFill>
                  <a:schemeClr val="tx1"/>
                </a:solidFill>
                <a:effectLst/>
                <a:ea typeface="微軟正黑體" panose="020B0604030504040204" pitchFamily="34" charset="-120"/>
              </a:rPr>
              <a:t>維護者</a:t>
            </a:r>
            <a:r>
              <a:rPr lang="en-US" altLang="zh-TW" sz="1100" b="1" u="none" strike="noStrike" kern="1200" dirty="0">
                <a:solidFill>
                  <a:schemeClr val="tx1"/>
                </a:solidFill>
                <a:effectLst/>
                <a:ea typeface="微軟正黑體" panose="020B0604030504040204" pitchFamily="34" charset="-120"/>
              </a:rPr>
              <a:t>: </a:t>
            </a:r>
            <a:r>
              <a:rPr lang="zh-TW" altLang="zh-TW" sz="1100" b="0" u="none" strike="noStrike" kern="1200" dirty="0">
                <a:solidFill>
                  <a:schemeClr val="tx1"/>
                </a:solidFill>
                <a:effectLst/>
                <a:ea typeface="微軟正黑體" panose="020B0604030504040204" pitchFamily="34" charset="-120"/>
              </a:rPr>
              <a:t>Tri Dao 教授團隊</a:t>
            </a:r>
            <a:r>
              <a:rPr lang="en-US" altLang="zh-TW" sz="1100" b="0" u="none" strike="noStrike" kern="1200" dirty="0">
                <a:solidFill>
                  <a:schemeClr val="tx1"/>
                </a:solidFill>
                <a:effectLst/>
                <a:ea typeface="微軟正黑體" panose="020B0604030504040204" pitchFamily="34" charset="-120"/>
              </a:rPr>
              <a:t> (</a:t>
            </a:r>
            <a:r>
              <a:rPr lang="zh-TW" altLang="zh-TW" sz="1100" b="0" u="none" strike="noStrike" kern="1200" dirty="0">
                <a:solidFill>
                  <a:schemeClr val="tx1"/>
                </a:solidFill>
                <a:effectLst/>
                <a:ea typeface="微軟正黑體" panose="020B0604030504040204" pitchFamily="34" charset="-120"/>
              </a:rPr>
              <a:t>Dao-AILab</a:t>
            </a:r>
            <a:r>
              <a:rPr lang="en-US" altLang="zh-TW" sz="1100" dirty="0">
                <a:ea typeface="微軟正黑體" panose="020B0604030504040204" pitchFamily="34" charset="-120"/>
              </a:rPr>
              <a:t>)</a:t>
            </a:r>
          </a:p>
          <a:p>
            <a:endParaRPr lang="zh-TW" altLang="zh-TW" sz="1100" b="0" u="none" strike="noStrike" kern="1200" dirty="0">
              <a:solidFill>
                <a:schemeClr val="tx1"/>
              </a:solidFill>
              <a:effectLst/>
              <a:ea typeface="微軟正黑體" panose="020B0604030504040204" pitchFamily="34" charset="-120"/>
            </a:endParaRPr>
          </a:p>
          <a:p>
            <a:r>
              <a:rPr lang="zh-TW" altLang="zh-TW" sz="1100" b="0" u="none" strike="noStrike" kern="1200" dirty="0">
                <a:solidFill>
                  <a:schemeClr val="tx1"/>
                </a:solidFill>
                <a:effectLst/>
                <a:ea typeface="微軟正黑體" panose="020B0604030504040204" pitchFamily="34" charset="-120"/>
              </a:rPr>
              <a:t> </a:t>
            </a:r>
            <a:r>
              <a:rPr lang="en-US" altLang="zh-TW" sz="1100" b="0" u="none" strike="noStrike" kern="1200" dirty="0">
                <a:solidFill>
                  <a:schemeClr val="tx1"/>
                </a:solidFill>
                <a:effectLst/>
                <a:ea typeface="微軟正黑體" panose="020B0604030504040204" pitchFamily="34" charset="-120"/>
                <a:sym typeface="Wingdings" panose="05000000000000000000" pitchFamily="2" charset="2"/>
              </a:rPr>
              <a:t></a:t>
            </a:r>
            <a:r>
              <a:rPr lang="zh-TW" altLang="en-US" sz="1100" b="0" u="none" strike="noStrike" kern="1200" dirty="0">
                <a:solidFill>
                  <a:schemeClr val="tx1"/>
                </a:solidFill>
                <a:effectLst/>
                <a:ea typeface="微軟正黑體" panose="020B0604030504040204" pitchFamily="34" charset="-120"/>
                <a:sym typeface="Wingdings" panose="05000000000000000000" pitchFamily="2" charset="2"/>
              </a:rPr>
              <a:t> </a:t>
            </a:r>
            <a:r>
              <a:rPr lang="zh-TW" altLang="zh-TW" sz="1100" b="0" u="none" strike="noStrike" kern="1200" dirty="0">
                <a:solidFill>
                  <a:schemeClr val="tx1"/>
                </a:solidFill>
                <a:effectLst/>
                <a:ea typeface="微軟正黑體" panose="020B0604030504040204" pitchFamily="34" charset="-120"/>
              </a:rPr>
              <a:t>Softmax </a:t>
            </a:r>
            <a:r>
              <a:rPr lang="en-US" altLang="zh-TW" sz="1100" dirty="0">
                <a:ea typeface="微軟正黑體" panose="020B0604030504040204" pitchFamily="34" charset="-120"/>
              </a:rPr>
              <a:t>(QK^T)V</a:t>
            </a:r>
            <a:endParaRPr lang="zh-TW" altLang="zh-TW" sz="1100" b="0" u="none" strike="noStrike" kern="1200" dirty="0">
              <a:solidFill>
                <a:schemeClr val="tx1"/>
              </a:solidFill>
              <a:effectLst/>
              <a:ea typeface="微軟正黑體" panose="020B0604030504040204" pitchFamily="34" charset="-120"/>
            </a:endParaRPr>
          </a:p>
          <a:p>
            <a:r>
              <a:rPr lang="en-US" altLang="zh-TW" sz="1100" b="1" u="none" strike="noStrike" kern="1200" dirty="0">
                <a:solidFill>
                  <a:schemeClr val="tx1"/>
                </a:solidFill>
                <a:effectLst/>
                <a:ea typeface="微軟正黑體" panose="020B0604030504040204" pitchFamily="34" charset="-120"/>
                <a:sym typeface="Wingdings" panose="05000000000000000000" pitchFamily="2" charset="2"/>
              </a:rPr>
              <a:t></a:t>
            </a:r>
            <a:r>
              <a:rPr lang="en-US" altLang="zh-TW" sz="1100" b="1" u="none" strike="noStrike" kern="1200" dirty="0">
                <a:solidFill>
                  <a:schemeClr val="tx1"/>
                </a:solidFill>
                <a:effectLst/>
                <a:ea typeface="微軟正黑體" panose="020B0604030504040204" pitchFamily="34" charset="-120"/>
              </a:rPr>
              <a:t> </a:t>
            </a:r>
            <a:r>
              <a:rPr lang="zh-TW" altLang="zh-TW" sz="1100" b="0" u="none" strike="noStrike" kern="1200" dirty="0">
                <a:solidFill>
                  <a:schemeClr val="tx1"/>
                </a:solidFill>
                <a:effectLst/>
                <a:ea typeface="微軟正黑體" panose="020B0604030504040204" pitchFamily="34" charset="-120"/>
              </a:rPr>
              <a:t>O(N</a:t>
            </a:r>
            <a:r>
              <a:rPr lang="zh-TW" altLang="zh-TW" sz="1100" b="0" u="none" strike="noStrike" kern="1200" baseline="30000" dirty="0">
                <a:solidFill>
                  <a:schemeClr val="tx1"/>
                </a:solidFill>
                <a:effectLst/>
                <a:ea typeface="微軟正黑體" panose="020B0604030504040204" pitchFamily="34" charset="-120"/>
              </a:rPr>
              <a:t>2</a:t>
            </a:r>
            <a:r>
              <a:rPr lang="en-US" altLang="zh-TW" sz="1100" b="0" u="none" strike="noStrike" kern="1200" baseline="30000" dirty="0">
                <a:solidFill>
                  <a:schemeClr val="tx1"/>
                </a:solidFill>
                <a:effectLst/>
                <a:ea typeface="微軟正黑體" panose="020B0604030504040204" pitchFamily="34" charset="-120"/>
              </a:rPr>
              <a:t> </a:t>
            </a:r>
            <a:r>
              <a:rPr lang="en-US" altLang="zh-TW" sz="1100" b="0" u="none" strike="noStrike" kern="1200" dirty="0">
                <a:solidFill>
                  <a:schemeClr val="tx1"/>
                </a:solidFill>
                <a:effectLst/>
                <a:ea typeface="微軟正黑體" panose="020B0604030504040204" pitchFamily="34" charset="-120"/>
              </a:rPr>
              <a:t>x d</a:t>
            </a:r>
            <a:r>
              <a:rPr lang="zh-TW" altLang="zh-TW" sz="1100" b="0" u="none" strike="noStrike" kern="1200" dirty="0">
                <a:solidFill>
                  <a:schemeClr val="tx1"/>
                </a:solidFill>
                <a:effectLst/>
                <a:ea typeface="微軟正黑體" panose="020B0604030504040204" pitchFamily="34" charset="-120"/>
              </a:rPr>
              <a:t>) </a:t>
            </a:r>
            <a:r>
              <a:rPr lang="en-US" altLang="zh-TW" sz="1100" dirty="0">
                <a:ea typeface="微軟正黑體" panose="020B0604030504040204" pitchFamily="34" charset="-120"/>
              </a:rPr>
              <a:t>(</a:t>
            </a:r>
            <a:r>
              <a:rPr lang="zh-TW" altLang="zh-TW" sz="1100" b="0" u="none" strike="noStrike" kern="1200" dirty="0">
                <a:solidFill>
                  <a:schemeClr val="tx1"/>
                </a:solidFill>
                <a:effectLst/>
                <a:ea typeface="微軟正黑體" panose="020B0604030504040204" pitchFamily="34" charset="-120"/>
              </a:rPr>
              <a:t>平方成長</a:t>
            </a:r>
            <a:r>
              <a:rPr lang="en-US" altLang="zh-TW" sz="1100" dirty="0">
                <a:ea typeface="微軟正黑體" panose="020B0604030504040204" pitchFamily="34" charset="-120"/>
              </a:rPr>
              <a:t>)</a:t>
            </a:r>
            <a:br>
              <a:rPr lang="en-US" altLang="zh-TW" sz="1100" b="0" u="none" strike="noStrike" kern="1200" dirty="0">
                <a:solidFill>
                  <a:schemeClr val="tx1"/>
                </a:solidFill>
                <a:effectLst/>
                <a:ea typeface="微軟正黑體" panose="020B0604030504040204" pitchFamily="34" charset="-120"/>
              </a:rPr>
            </a:br>
            <a:r>
              <a:rPr lang="zh-TW" altLang="zh-TW" sz="1100" b="1" u="none" strike="noStrike" kern="1200" dirty="0">
                <a:solidFill>
                  <a:schemeClr val="tx1"/>
                </a:solidFill>
                <a:effectLst/>
                <a:ea typeface="微軟正黑體" panose="020B0604030504040204" pitchFamily="34" charset="-120"/>
              </a:rPr>
              <a:t>目標</a:t>
            </a:r>
            <a:r>
              <a:rPr lang="en-US" altLang="zh-TW" sz="1100" b="1" u="none" strike="noStrike" kern="1200" dirty="0">
                <a:solidFill>
                  <a:schemeClr val="tx1"/>
                </a:solidFill>
                <a:effectLst/>
                <a:ea typeface="微軟正黑體" panose="020B0604030504040204" pitchFamily="34" charset="-120"/>
              </a:rPr>
              <a:t>: </a:t>
            </a:r>
            <a:r>
              <a:rPr lang="zh-TW" altLang="zh-TW" sz="1100" b="0" u="none" strike="noStrike" kern="1200" dirty="0">
                <a:solidFill>
                  <a:schemeClr val="tx1"/>
                </a:solidFill>
                <a:effectLst/>
                <a:ea typeface="微軟正黑體" panose="020B0604030504040204" pitchFamily="34" charset="-120"/>
              </a:rPr>
              <a:t>在數學不妥協的前提下，把現有 Transformer 的效能榨到極致。</a:t>
            </a:r>
          </a:p>
        </p:txBody>
      </p:sp>
      <p:sp>
        <p:nvSpPr>
          <p:cNvPr id="21" name="文字方塊 20">
            <a:extLst>
              <a:ext uri="{FF2B5EF4-FFF2-40B4-BE49-F238E27FC236}">
                <a16:creationId xmlns:a16="http://schemas.microsoft.com/office/drawing/2014/main" id="{82D5963F-DB45-C383-C525-86E8163B3506}"/>
              </a:ext>
            </a:extLst>
          </p:cNvPr>
          <p:cNvSpPr txBox="1"/>
          <p:nvPr/>
        </p:nvSpPr>
        <p:spPr>
          <a:xfrm>
            <a:off x="6704376" y="620687"/>
            <a:ext cx="2260112" cy="16158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zh-TW" sz="1100" b="1" u="none" strike="noStrike" kern="1200" dirty="0">
                <a:solidFill>
                  <a:schemeClr val="tx1"/>
                </a:solidFill>
                <a:effectLst/>
                <a:ea typeface="微軟正黑體" panose="020B0604030504040204" pitchFamily="34" charset="-120"/>
              </a:rPr>
              <a:t>Flash Linear Attention (FLA 庫)</a:t>
            </a:r>
          </a:p>
          <a:p>
            <a:r>
              <a:rPr lang="zh-TW" altLang="zh-TW" sz="1100" b="1" u="none" strike="noStrike" kern="1200" dirty="0">
                <a:solidFill>
                  <a:schemeClr val="tx1"/>
                </a:solidFill>
                <a:effectLst/>
                <a:ea typeface="微軟正黑體" panose="020B0604030504040204" pitchFamily="34" charset="-120"/>
              </a:rPr>
              <a:t>維護者</a:t>
            </a:r>
            <a:r>
              <a:rPr lang="en-US" altLang="zh-TW" sz="1100" b="0" u="none" strike="noStrike" kern="1200" dirty="0">
                <a:solidFill>
                  <a:schemeClr val="tx1"/>
                </a:solidFill>
                <a:effectLst/>
                <a:ea typeface="微軟正黑體" panose="020B0604030504040204" pitchFamily="34" charset="-120"/>
              </a:rPr>
              <a:t>: </a:t>
            </a:r>
            <a:r>
              <a:rPr lang="zh-TW" altLang="zh-TW" sz="1100" b="0" u="none" strike="noStrike" kern="1200" dirty="0">
                <a:solidFill>
                  <a:schemeClr val="tx1"/>
                </a:solidFill>
                <a:effectLst/>
                <a:ea typeface="微軟正黑體" panose="020B0604030504040204" pitchFamily="34" charset="-120"/>
              </a:rPr>
              <a:t>Songlin Yang &amp; Yu Zhang (FLA 開源團隊)</a:t>
            </a:r>
          </a:p>
          <a:p>
            <a:endParaRPr lang="en-US" altLang="zh-TW" sz="1100" b="1" u="none" strike="noStrike" kern="1200" dirty="0">
              <a:solidFill>
                <a:schemeClr val="tx1"/>
              </a:solidFill>
              <a:effectLst/>
              <a:ea typeface="微軟正黑體" panose="020B0604030504040204" pitchFamily="34" charset="-120"/>
            </a:endParaRPr>
          </a:p>
          <a:p>
            <a:r>
              <a:rPr lang="en-US" altLang="zh-TW" sz="1100" dirty="0">
                <a:ea typeface="微軟正黑體" panose="020B0604030504040204" pitchFamily="34" charset="-120"/>
                <a:sym typeface="Wingdings" panose="05000000000000000000" pitchFamily="2" charset="2"/>
              </a:rPr>
              <a:t></a:t>
            </a:r>
            <a:r>
              <a:rPr lang="zh-TW" altLang="en-US" sz="1100" dirty="0">
                <a:ea typeface="微軟正黑體" panose="020B0604030504040204" pitchFamily="34" charset="-120"/>
              </a:rPr>
              <a:t> </a:t>
            </a:r>
            <a:r>
              <a:rPr lang="en-US" altLang="zh-TW" sz="1100" dirty="0">
                <a:ea typeface="微軟正黑體" panose="020B0604030504040204" pitchFamily="34" charset="-120"/>
              </a:rPr>
              <a:t>φ(Q)( φ(K)</a:t>
            </a:r>
            <a:r>
              <a:rPr lang="en-US" altLang="zh-TW" sz="1100" baseline="30000" dirty="0">
                <a:ea typeface="微軟正黑體" panose="020B0604030504040204" pitchFamily="34" charset="-120"/>
              </a:rPr>
              <a:t>T</a:t>
            </a:r>
            <a:r>
              <a:rPr lang="zh-TW" altLang="en-US" sz="1100" baseline="30000" dirty="0">
                <a:ea typeface="微軟正黑體" panose="020B0604030504040204" pitchFamily="34" charset="-120"/>
              </a:rPr>
              <a:t> </a:t>
            </a:r>
            <a:r>
              <a:rPr lang="en-US" altLang="zh-TW" sz="1100" dirty="0">
                <a:ea typeface="微軟正黑體" panose="020B0604030504040204" pitchFamily="34" charset="-120"/>
              </a:rPr>
              <a:t>V )</a:t>
            </a:r>
            <a:endParaRPr lang="en-US" altLang="zh-TW" sz="1100" b="1" u="none" strike="noStrike" kern="1200" dirty="0">
              <a:solidFill>
                <a:schemeClr val="tx1"/>
              </a:solidFill>
              <a:effectLst/>
              <a:ea typeface="微軟正黑體" panose="020B0604030504040204" pitchFamily="34" charset="-120"/>
            </a:endParaRPr>
          </a:p>
          <a:p>
            <a:r>
              <a:rPr lang="en-US" altLang="zh-TW" sz="1100" b="0" u="none" strike="noStrike" kern="1200" dirty="0">
                <a:solidFill>
                  <a:schemeClr val="tx1"/>
                </a:solidFill>
                <a:effectLst/>
                <a:ea typeface="微軟正黑體" panose="020B0604030504040204" pitchFamily="34" charset="-120"/>
                <a:sym typeface="Wingdings" panose="05000000000000000000" pitchFamily="2" charset="2"/>
              </a:rPr>
              <a:t></a:t>
            </a:r>
            <a:r>
              <a:rPr lang="zh-TW" altLang="en-US" sz="1100" b="0" u="none" strike="noStrike" kern="1200" dirty="0">
                <a:solidFill>
                  <a:schemeClr val="tx1"/>
                </a:solidFill>
                <a:effectLst/>
                <a:ea typeface="微軟正黑體" panose="020B0604030504040204" pitchFamily="34" charset="-120"/>
                <a:sym typeface="Wingdings" panose="05000000000000000000" pitchFamily="2" charset="2"/>
              </a:rPr>
              <a:t> </a:t>
            </a:r>
            <a:r>
              <a:rPr lang="zh-TW" altLang="zh-TW" sz="1100" b="0" u="none" strike="noStrike" kern="1200" dirty="0">
                <a:solidFill>
                  <a:schemeClr val="tx1"/>
                </a:solidFill>
                <a:effectLst/>
                <a:ea typeface="微軟正黑體" panose="020B0604030504040204" pitchFamily="34" charset="-120"/>
              </a:rPr>
              <a:t>O(N</a:t>
            </a:r>
            <a:r>
              <a:rPr lang="en-US" altLang="zh-TW" sz="1100" b="0" u="none" strike="noStrike" kern="1200" dirty="0">
                <a:solidFill>
                  <a:schemeClr val="tx1"/>
                </a:solidFill>
                <a:effectLst/>
                <a:ea typeface="微軟正黑體" panose="020B0604030504040204" pitchFamily="34" charset="-120"/>
              </a:rPr>
              <a:t>*</a:t>
            </a:r>
            <a:r>
              <a:rPr lang="zh-TW" altLang="zh-TW" sz="1100" b="0" u="none" strike="noStrike" kern="1200" dirty="0">
                <a:solidFill>
                  <a:schemeClr val="tx1"/>
                </a:solidFill>
                <a:effectLst/>
                <a:ea typeface="微軟正黑體" panose="020B0604030504040204" pitchFamily="34" charset="-120"/>
              </a:rPr>
              <a:t>d</a:t>
            </a:r>
            <a:r>
              <a:rPr lang="zh-TW" altLang="zh-TW" sz="1100" b="0" u="none" strike="noStrike" kern="1200" baseline="30000" dirty="0">
                <a:solidFill>
                  <a:schemeClr val="tx1"/>
                </a:solidFill>
                <a:effectLst/>
                <a:ea typeface="微軟正黑體" panose="020B0604030504040204" pitchFamily="34" charset="-120"/>
              </a:rPr>
              <a:t>2</a:t>
            </a:r>
            <a:r>
              <a:rPr lang="zh-TW" altLang="zh-TW" sz="1100" b="0" u="none" strike="noStrike" kern="1200" dirty="0">
                <a:solidFill>
                  <a:schemeClr val="tx1"/>
                </a:solidFill>
                <a:effectLst/>
                <a:ea typeface="微軟正黑體" panose="020B0604030504040204" pitchFamily="34" charset="-120"/>
              </a:rPr>
              <a:t>) </a:t>
            </a:r>
            <a:r>
              <a:rPr lang="en-US" altLang="zh-TW" sz="1100" dirty="0">
                <a:ea typeface="微軟正黑體" panose="020B0604030504040204" pitchFamily="34" charset="-120"/>
              </a:rPr>
              <a:t>(</a:t>
            </a:r>
            <a:r>
              <a:rPr lang="zh-TW" altLang="zh-TW" sz="1100" b="0" u="none" strike="noStrike" kern="1200" dirty="0">
                <a:solidFill>
                  <a:schemeClr val="tx1"/>
                </a:solidFill>
                <a:effectLst/>
                <a:ea typeface="微軟正黑體" panose="020B0604030504040204" pitchFamily="34" charset="-120"/>
              </a:rPr>
              <a:t>線性成長</a:t>
            </a:r>
            <a:r>
              <a:rPr lang="en-US" altLang="zh-TW" sz="1100" b="0" u="none" strike="noStrike" kern="1200" dirty="0">
                <a:solidFill>
                  <a:schemeClr val="tx1"/>
                </a:solidFill>
                <a:effectLst/>
                <a:ea typeface="微軟正黑體" panose="020B0604030504040204" pitchFamily="34" charset="-120"/>
              </a:rPr>
              <a:t>)</a:t>
            </a:r>
            <a:endParaRPr lang="zh-TW" altLang="zh-TW" sz="1100" b="0" u="none" strike="noStrike" kern="1200" dirty="0">
              <a:solidFill>
                <a:schemeClr val="tx1"/>
              </a:solidFill>
              <a:effectLst/>
              <a:ea typeface="微軟正黑體" panose="020B0604030504040204" pitchFamily="34" charset="-120"/>
            </a:endParaRPr>
          </a:p>
          <a:p>
            <a:r>
              <a:rPr lang="zh-TW" altLang="zh-TW" sz="1100" b="1" u="none" strike="noStrike" kern="1200" dirty="0">
                <a:solidFill>
                  <a:schemeClr val="tx1"/>
                </a:solidFill>
                <a:effectLst/>
                <a:ea typeface="微軟正黑體" panose="020B0604030504040204" pitchFamily="34" charset="-120"/>
              </a:rPr>
              <a:t>目標</a:t>
            </a:r>
            <a:r>
              <a:rPr lang="en-US" altLang="zh-TW" sz="1100" b="1" u="none" strike="noStrike" kern="1200" dirty="0">
                <a:solidFill>
                  <a:schemeClr val="tx1"/>
                </a:solidFill>
                <a:effectLst/>
                <a:ea typeface="微軟正黑體" panose="020B0604030504040204" pitchFamily="34" charset="-120"/>
              </a:rPr>
              <a:t>: </a:t>
            </a:r>
            <a:r>
              <a:rPr lang="zh-TW" altLang="zh-TW" sz="1100" b="0" u="none" strike="noStrike" kern="1200" dirty="0">
                <a:solidFill>
                  <a:schemeClr val="tx1"/>
                </a:solidFill>
                <a:effectLst/>
                <a:ea typeface="微軟正黑體" panose="020B0604030504040204" pitchFamily="34" charset="-120"/>
              </a:rPr>
              <a:t>幫新架構鋪路，克服線性注意力在 GPU 上難以並行化的工程難題。</a:t>
            </a:r>
          </a:p>
        </p:txBody>
      </p:sp>
    </p:spTree>
    <p:extLst>
      <p:ext uri="{BB962C8B-B14F-4D97-AF65-F5344CB8AC3E}">
        <p14:creationId xmlns:p14="http://schemas.microsoft.com/office/powerpoint/2010/main" val="100847934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Click="0">
        <p159:morph option="byObject"/>
      </p:transition>
    </mc:Choice>
    <mc:Fallback xmlns="">
      <p:transition spd="slow" advClick="0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字方塊 4">
            <a:extLst>
              <a:ext uri="{FF2B5EF4-FFF2-40B4-BE49-F238E27FC236}">
                <a16:creationId xmlns:a16="http://schemas.microsoft.com/office/drawing/2014/main" id="{F945F798-81D1-C7E5-5F9F-1939E963131A}"/>
              </a:ext>
            </a:extLst>
          </p:cNvPr>
          <p:cNvSpPr txBox="1"/>
          <p:nvPr/>
        </p:nvSpPr>
        <p:spPr>
          <a:xfrm>
            <a:off x="356839" y="3037597"/>
            <a:ext cx="8496944" cy="36317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lnSpc>
                <a:spcPts val="1200"/>
              </a:lnSpc>
              <a:buNone/>
            </a:pPr>
            <a:r>
              <a:rPr lang="zh-TW" altLang="zh-TW" sz="10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目前台灣本土的大型語言模型（LLM）發展非常蓬勃，主要聚焦於</a:t>
            </a:r>
            <a:r>
              <a:rPr lang="zh-TW" altLang="zh-TW" sz="1000" b="1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「主權 AI（Sovereign AI）」</a:t>
            </a:r>
            <a:r>
              <a:rPr lang="zh-TW" altLang="zh-TW" sz="10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的建立。為了防止台灣繁體中文、歷史文化與在地價值觀在國際大模型中被簡體或外國語料邊緣化，產、官、學、研各界推出了多款具有「台灣味」的專屬大模型。</a:t>
            </a:r>
          </a:p>
          <a:p>
            <a:pPr marL="0" marR="0">
              <a:lnSpc>
                <a:spcPts val="1200"/>
              </a:lnSpc>
              <a:buNone/>
            </a:pPr>
            <a:r>
              <a:rPr lang="zh-TW" altLang="zh-TW" sz="10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以下是目前台灣最具代表性的本土模型系列：</a:t>
            </a:r>
          </a:p>
          <a:p>
            <a:pPr marL="0" marR="0">
              <a:lnSpc>
                <a:spcPts val="1200"/>
              </a:lnSpc>
              <a:buNone/>
            </a:pPr>
            <a:r>
              <a:rPr lang="zh-TW" altLang="zh-TW" sz="1000" b="1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1. 官方國家隊：TAIDE </a:t>
            </a:r>
            <a:r>
              <a:rPr lang="en-US" altLang="zh-TW" sz="1000" b="1" u="none" strike="noStrike" dirty="0">
                <a:solidFill>
                  <a:srgbClr val="FF0000"/>
                </a:solidFill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(</a:t>
            </a:r>
            <a:r>
              <a:rPr lang="zh-TW" altLang="en-US" sz="1000" b="1" u="none" strike="noStrike" dirty="0">
                <a:solidFill>
                  <a:srgbClr val="FF0000"/>
                </a:solidFill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台弟</a:t>
            </a:r>
            <a:r>
              <a:rPr lang="en-US" altLang="zh-TW" sz="1000" b="1" u="none" strike="noStrike" dirty="0">
                <a:solidFill>
                  <a:srgbClr val="FF0000"/>
                </a:solidFill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)</a:t>
            </a:r>
            <a:r>
              <a:rPr lang="zh-TW" altLang="zh-TW" sz="1000" b="1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系列</a:t>
            </a:r>
            <a:r>
              <a:rPr lang="en-US" altLang="zh-TW" sz="1000" b="1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:</a:t>
            </a:r>
            <a:r>
              <a:rPr lang="zh-TW" altLang="en-US" sz="1000" b="1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 </a:t>
            </a:r>
            <a:endParaRPr lang="zh-TW" altLang="zh-TW" sz="1000" b="1" u="none" strike="noStrike" dirty="0">
              <a:effectLst/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0" marR="0">
              <a:lnSpc>
                <a:spcPts val="1200"/>
              </a:lnSpc>
              <a:buNone/>
            </a:pPr>
            <a:r>
              <a:rPr lang="zh-TW" altLang="zh-TW" sz="10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由中華民國</a:t>
            </a:r>
            <a:r>
              <a:rPr lang="zh-TW" altLang="zh-TW" sz="1000" b="1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國科會</a:t>
            </a:r>
            <a:r>
              <a:rPr lang="zh-TW" altLang="zh-TW" sz="10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主導開發的「可信任生成式AI對話引擎」。這是台灣最核心的主權 AI 專案，採用大量台灣在地的高質量文本（如中央社、政府公文、法規資料庫等）進行訓練。</a:t>
            </a:r>
          </a:p>
          <a:p>
            <a:pPr marL="342900" marR="0" lvl="0" indent="-342900">
              <a:lnSpc>
                <a:spcPts val="1200"/>
              </a:lnSpc>
              <a:buFont typeface="Arial" panose="020B0604020202020204" pitchFamily="34" charset="0"/>
              <a:buChar char="•"/>
            </a:pPr>
            <a:r>
              <a:rPr lang="zh-TW" altLang="zh-TW" sz="1000" b="1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代表版本</a:t>
            </a:r>
            <a:r>
              <a:rPr lang="zh-TW" altLang="zh-TW" sz="10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：已從早期的 Llama 衍生版，演進到結合國際最新底座的 </a:t>
            </a:r>
            <a:r>
              <a:rPr lang="zh-TW" altLang="zh-TW" sz="1000" b="1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Gemma-3-TAIDE-12b-Chat</a:t>
            </a:r>
            <a:r>
              <a:rPr lang="zh-TW" altLang="zh-TW" sz="10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，以及可地端商用的 </a:t>
            </a:r>
            <a:r>
              <a:rPr lang="zh-TW" altLang="zh-TW" sz="1000" b="1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TAIDE LX-7B / 13B</a:t>
            </a:r>
            <a:r>
              <a:rPr lang="zh-TW" altLang="zh-TW" sz="10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 等。</a:t>
            </a:r>
          </a:p>
          <a:p>
            <a:pPr marL="342900" marR="0" lvl="0" indent="-342900">
              <a:lnSpc>
                <a:spcPts val="1200"/>
              </a:lnSpc>
              <a:buFont typeface="Arial" panose="020B0604020202020204" pitchFamily="34" charset="0"/>
              <a:buChar char="•"/>
            </a:pPr>
            <a:r>
              <a:rPr lang="zh-TW" altLang="zh-TW" sz="1000" b="1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特色</a:t>
            </a:r>
            <a:r>
              <a:rPr lang="zh-TW" altLang="zh-TW" sz="10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：公文寫作、繁中翻譯（修正中國翻譯腔）、台客語多聲調支援能力極強。</a:t>
            </a:r>
          </a:p>
          <a:p>
            <a:pPr>
              <a:lnSpc>
                <a:spcPts val="1200"/>
              </a:lnSpc>
            </a:pPr>
            <a:r>
              <a:rPr lang="zh-TW" altLang="zh-TW" sz="1000" b="1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2. 跨產業重磅專家：Project TAME</a:t>
            </a:r>
            <a:r>
              <a:rPr lang="zh-TW" altLang="en-US" sz="1000" b="1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 </a:t>
            </a:r>
            <a:r>
              <a:rPr lang="en-US" altLang="zh-TW" sz="1000" b="1" dirty="0">
                <a:solidFill>
                  <a:srgbClr val="FF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(</a:t>
            </a:r>
            <a:r>
              <a:rPr lang="zh-TW" altLang="en-US" sz="1000" b="1" dirty="0">
                <a:solidFill>
                  <a:srgbClr val="FF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塔妹</a:t>
            </a:r>
            <a:r>
              <a:rPr lang="en-US" altLang="zh-TW" sz="1000" b="1" dirty="0">
                <a:solidFill>
                  <a:srgbClr val="FF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)</a:t>
            </a:r>
            <a:r>
              <a:rPr lang="zh-TW" altLang="en-US" sz="1000" b="1" dirty="0">
                <a:solidFill>
                  <a:srgbClr val="FF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 </a:t>
            </a:r>
            <a:r>
              <a:rPr lang="en-US" altLang="zh-TW" sz="1000" b="1" dirty="0">
                <a:solidFill>
                  <a:srgbClr val="FF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–</a:t>
            </a:r>
            <a:r>
              <a:rPr lang="zh-TW" altLang="en-US" sz="1000" b="1" dirty="0">
                <a:solidFill>
                  <a:srgbClr val="FF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 </a:t>
            </a:r>
            <a:endParaRPr lang="zh-TW" altLang="zh-TW" sz="1000" b="1" u="none" strike="noStrike" dirty="0">
              <a:effectLst/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0" marR="0">
              <a:lnSpc>
                <a:spcPts val="1200"/>
              </a:lnSpc>
              <a:buNone/>
            </a:pPr>
            <a:r>
              <a:rPr lang="zh-TW" altLang="zh-TW" sz="10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由台大資工系（陳縕儂教授團隊）與長春集團、和碩聯合科技、長庚醫院、欣興電子、科技報橘等民間企業結盟，並獲得 NVIDIA 算力支援所訓練出的繁體中文混合專家模型（Mixture of Experts）。</a:t>
            </a:r>
          </a:p>
          <a:p>
            <a:pPr marL="342900" marR="0" lvl="0" indent="-342900">
              <a:lnSpc>
                <a:spcPts val="1200"/>
              </a:lnSpc>
              <a:buFont typeface="Arial" panose="020B0604020202020204" pitchFamily="34" charset="0"/>
              <a:buChar char="•"/>
            </a:pPr>
            <a:r>
              <a:rPr lang="zh-TW" altLang="zh-TW" sz="1000" b="1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代表版本</a:t>
            </a:r>
            <a:r>
              <a:rPr lang="zh-TW" altLang="zh-TW" sz="10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：</a:t>
            </a:r>
            <a:r>
              <a:rPr lang="zh-TW" altLang="zh-TW" sz="1000" b="1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Project TAME（基於 Llama 3 擴充，達 700億參數等級）</a:t>
            </a:r>
            <a:r>
              <a:rPr lang="zh-TW" altLang="zh-TW" sz="10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。</a:t>
            </a:r>
          </a:p>
          <a:p>
            <a:pPr marL="342900" marR="0" lvl="0" indent="-342900">
              <a:lnSpc>
                <a:spcPts val="1200"/>
              </a:lnSpc>
              <a:buFont typeface="Arial" panose="020B0604020202020204" pitchFamily="34" charset="0"/>
              <a:buChar char="•"/>
            </a:pPr>
            <a:r>
              <a:rPr lang="zh-TW" altLang="zh-TW" sz="1000" b="1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特色</a:t>
            </a:r>
            <a:r>
              <a:rPr lang="zh-TW" altLang="zh-TW" sz="10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：專為台灣產業量身打造，涵蓋台灣本地的</a:t>
            </a:r>
            <a:r>
              <a:rPr lang="zh-TW" altLang="zh-TW" sz="1000" b="1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電子製造、醫療問診、石化化工、台灣法律（如律師特考題）</a:t>
            </a:r>
            <a:r>
              <a:rPr lang="zh-TW" altLang="zh-TW" sz="10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等領域知識，並能精準聽懂台灣在地流行語</a:t>
            </a:r>
            <a:r>
              <a:rPr lang="en-US" altLang="zh-TW" sz="10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(</a:t>
            </a:r>
            <a:r>
              <a:rPr lang="zh-TW" altLang="zh-TW" sz="10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如「很盤」</a:t>
            </a:r>
            <a:r>
              <a:rPr lang="en-US" altLang="zh-TW" sz="10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)</a:t>
            </a:r>
            <a:r>
              <a:rPr lang="zh-TW" altLang="zh-TW" sz="10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。</a:t>
            </a:r>
          </a:p>
          <a:p>
            <a:pPr marL="0" marR="0">
              <a:lnSpc>
                <a:spcPts val="1200"/>
              </a:lnSpc>
              <a:buNone/>
            </a:pPr>
            <a:r>
              <a:rPr lang="zh-TW" altLang="zh-TW" sz="1000" b="1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3. 開源社群與學術先驅：Taiwan-LLaMA 系列</a:t>
            </a:r>
          </a:p>
          <a:p>
            <a:pPr marL="0" marR="0">
              <a:lnSpc>
                <a:spcPts val="1200"/>
              </a:lnSpc>
              <a:buNone/>
            </a:pPr>
            <a:r>
              <a:rPr lang="zh-TW" altLang="zh-TW" sz="10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由台大林彥廷博士與開源社群團隊開發，是</a:t>
            </a:r>
            <a:r>
              <a:rPr lang="zh-TW" altLang="zh-TW" sz="1000" b="1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台灣第一個成功釋出的繁體中文開源大模型系列</a:t>
            </a:r>
            <a:r>
              <a:rPr lang="zh-TW" altLang="zh-TW" sz="10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。 [</a:t>
            </a:r>
            <a:r>
              <a:rPr lang="zh-TW" altLang="zh-TW" sz="10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  <a:hlinkClick r:id="rId3"/>
              </a:rPr>
              <a:t>1</a:t>
            </a:r>
            <a:r>
              <a:rPr lang="zh-TW" altLang="zh-TW" sz="10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]</a:t>
            </a:r>
          </a:p>
          <a:p>
            <a:pPr marL="342900" marR="0" lvl="0" indent="-342900">
              <a:lnSpc>
                <a:spcPts val="1200"/>
              </a:lnSpc>
              <a:buFont typeface="Arial" panose="020B0604020202020204" pitchFamily="34" charset="0"/>
              <a:buChar char="•"/>
            </a:pPr>
            <a:r>
              <a:rPr lang="zh-TW" altLang="zh-TW" sz="1000" b="1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代表版本</a:t>
            </a:r>
            <a:r>
              <a:rPr lang="zh-TW" altLang="zh-TW" sz="10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：Llama-3-Taiwan 系列（包含 8B、70B 等不同參數大小）。</a:t>
            </a:r>
          </a:p>
          <a:p>
            <a:pPr marL="342900" marR="0" lvl="0" indent="-342900">
              <a:lnSpc>
                <a:spcPts val="1200"/>
              </a:lnSpc>
              <a:buFont typeface="Arial" panose="020B0604020202020204" pitchFamily="34" charset="0"/>
              <a:buChar char="•"/>
            </a:pPr>
            <a:r>
              <a:rPr lang="zh-TW" altLang="zh-TW" sz="1000" b="1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特色</a:t>
            </a:r>
            <a:r>
              <a:rPr lang="zh-TW" altLang="zh-TW" sz="10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：對開源社群極為友好，在地化評測表現優異，是許多台灣獨立開發者和在地 AI Agent（智慧代理）最常部署的地端模型。 [</a:t>
            </a:r>
            <a:r>
              <a:rPr lang="zh-TW" altLang="zh-TW" sz="10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  <a:hlinkClick r:id="rId3"/>
              </a:rPr>
              <a:t>1</a:t>
            </a:r>
            <a:r>
              <a:rPr lang="zh-TW" altLang="zh-TW" sz="10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, </a:t>
            </a:r>
            <a:r>
              <a:rPr lang="zh-TW" altLang="zh-TW" sz="10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  <a:hlinkClick r:id="rId4"/>
              </a:rPr>
              <a:t>2</a:t>
            </a:r>
            <a:r>
              <a:rPr lang="zh-TW" altLang="zh-TW" sz="10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, </a:t>
            </a:r>
            <a:r>
              <a:rPr lang="zh-TW" altLang="zh-TW" sz="10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  <a:hlinkClick r:id="rId5"/>
              </a:rPr>
              <a:t>3</a:t>
            </a:r>
            <a:r>
              <a:rPr lang="zh-TW" altLang="zh-TW" sz="10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]</a:t>
            </a:r>
          </a:p>
          <a:p>
            <a:pPr marL="0" marR="0">
              <a:lnSpc>
                <a:spcPts val="1200"/>
              </a:lnSpc>
              <a:buNone/>
            </a:pPr>
            <a:r>
              <a:rPr lang="zh-TW" altLang="zh-TW" sz="1000" b="1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4. 企業與晶片大廠自研：MR Breeze 系列</a:t>
            </a:r>
          </a:p>
          <a:p>
            <a:pPr marL="0" marR="0">
              <a:lnSpc>
                <a:spcPts val="1200"/>
              </a:lnSpc>
              <a:buNone/>
            </a:pPr>
            <a:r>
              <a:rPr lang="zh-TW" altLang="zh-TW" sz="10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由晶片設計大廠</a:t>
            </a:r>
            <a:r>
              <a:rPr lang="zh-TW" altLang="zh-TW" sz="1000" b="1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聯發科技（MediaTek Research）</a:t>
            </a:r>
            <a:r>
              <a:rPr lang="zh-TW" altLang="zh-TW" sz="10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所推出的繁體中文大模型系列。 [</a:t>
            </a:r>
            <a:r>
              <a:rPr lang="zh-TW" altLang="zh-TW" sz="10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  <a:hlinkClick r:id="rId4"/>
              </a:rPr>
              <a:t>1</a:t>
            </a:r>
            <a:r>
              <a:rPr lang="zh-TW" altLang="zh-TW" sz="10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]</a:t>
            </a:r>
          </a:p>
          <a:p>
            <a:pPr marL="342900" marR="0" lvl="0" indent="-342900">
              <a:lnSpc>
                <a:spcPts val="1200"/>
              </a:lnSpc>
              <a:buFont typeface="Arial" panose="020B0604020202020204" pitchFamily="34" charset="0"/>
              <a:buChar char="•"/>
            </a:pPr>
            <a:r>
              <a:rPr lang="zh-TW" altLang="zh-TW" sz="1000" b="1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代表版本</a:t>
            </a:r>
            <a:r>
              <a:rPr lang="zh-TW" altLang="zh-TW" sz="10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：Breeze-7B、Breeze-8B 等輕量化模型。</a:t>
            </a:r>
          </a:p>
          <a:p>
            <a:pPr marL="342900" marR="0" lvl="0" indent="-342900">
              <a:lnSpc>
                <a:spcPts val="1200"/>
              </a:lnSpc>
              <a:buFont typeface="Arial" panose="020B0604020202020204" pitchFamily="34" charset="0"/>
              <a:buChar char="•"/>
            </a:pPr>
            <a:r>
              <a:rPr lang="zh-TW" altLang="zh-TW" sz="1000" b="1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特色</a:t>
            </a:r>
            <a:r>
              <a:rPr lang="zh-TW" altLang="zh-TW" sz="10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：極度優化繁體中文的 Tokenizer（標記法），推理速度飛快且記憶體佔用小，非常適合整合至手機、邊緣運算（Edge AI）或地端企業系統中。</a:t>
            </a:r>
          </a:p>
        </p:txBody>
      </p:sp>
      <p:sp>
        <p:nvSpPr>
          <p:cNvPr id="4" name="標題 1">
            <a:extLst>
              <a:ext uri="{FF2B5EF4-FFF2-40B4-BE49-F238E27FC236}">
                <a16:creationId xmlns:a16="http://schemas.microsoft.com/office/drawing/2014/main" id="{960B250F-691D-AA2C-1E07-81244107C175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Taiwan</a:t>
            </a:r>
            <a:r>
              <a:rPr lang="en-US" altLang="zh-TW" sz="2800" dirty="0">
                <a:latin typeface="+mn-lt"/>
                <a:ea typeface="Noto Sans HK" panose="020B0200000000000000" pitchFamily="34" charset="-120"/>
                <a:cs typeface="Aharoni" panose="020F0502020204030204" pitchFamily="2" charset="-79"/>
              </a:rPr>
              <a:t>’</a:t>
            </a:r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</a:rPr>
              <a:t>s AI Landscape </a:t>
            </a:r>
          </a:p>
          <a:p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Securing Sovereignty and Innovation through local open-source forces.</a:t>
            </a:r>
          </a:p>
          <a:p>
            <a:pPr marL="285750" indent="-285750">
              <a:buFontTx/>
              <a:buChar char="-"/>
            </a:pPr>
            <a:endParaRPr lang="en-US" altLang="zh-TW" sz="1400" dirty="0"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37EAF38C-7900-B82F-FF5E-D6FE3E5AE3A6}"/>
              </a:ext>
            </a:extLst>
          </p:cNvPr>
          <p:cNvSpPr txBox="1"/>
          <p:nvPr/>
        </p:nvSpPr>
        <p:spPr>
          <a:xfrm>
            <a:off x="179510" y="980728"/>
            <a:ext cx="8136906" cy="1862048"/>
          </a:xfrm>
          <a:prstGeom prst="rect">
            <a:avLst/>
          </a:prstGeom>
          <a:solidFill>
            <a:sysClr val="window" lastClr="FFFFFF">
              <a:alpha val="90000"/>
            </a:sysClr>
          </a:solidFill>
        </p:spPr>
        <p:txBody>
          <a:bodyPr wrap="square">
            <a:spAutoFit/>
          </a:bodyPr>
          <a:lstStyle/>
          <a:p>
            <a:pPr marL="0" marR="0" lvl="0" indent="0" defTabSz="914400" eaLnBrk="1" fontAlgn="auto" latinLnBrk="0" hangingPunct="1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zh-TW" sz="20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Features</a:t>
            </a:r>
          </a:p>
          <a:p>
            <a:pPr marL="285750" marR="0" lvl="0" indent="-285750" defTabSz="914400" eaLnBrk="1" fontAlgn="auto" latinLnBrk="0" hangingPunct="1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r>
              <a:rPr kumimoji="0" lang="en-US" altLang="zh-TW" sz="16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TAIDE</a:t>
            </a:r>
            <a:r>
              <a:rPr kumimoji="0" lang="en-US" altLang="zh-TW" sz="160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: Taiwan </a:t>
            </a:r>
            <a:r>
              <a:rPr kumimoji="0" lang="en-US" altLang="zh-TW" sz="1600" i="0" u="none" strike="noStrike" kern="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goverment</a:t>
            </a:r>
            <a:r>
              <a:rPr kumimoji="0" lang="en-US" altLang="zh-TW" sz="16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.</a:t>
            </a:r>
            <a:endParaRPr kumimoji="0" lang="en-US" altLang="zh-TW" sz="1600" b="1" i="0" u="none" strike="noStrike" kern="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</a:endParaRPr>
          </a:p>
          <a:p>
            <a:pPr marL="285750" marR="0" lvl="0" indent="-285750" defTabSz="914400" eaLnBrk="1" fontAlgn="auto" latinLnBrk="0" hangingPunct="1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ClrTx/>
              <a:buSzTx/>
              <a:buFont typeface="Wingdings" panose="05000000000000000000" pitchFamily="2" charset="2"/>
              <a:buChar char="Ø"/>
              <a:tabLst/>
              <a:defRPr/>
            </a:pPr>
            <a:r>
              <a:rPr kumimoji="0" lang="en-US" altLang="zh-TW" sz="1600" b="1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Project TAME</a:t>
            </a:r>
            <a:r>
              <a:rPr kumimoji="0" lang="en-US" altLang="zh-TW" sz="160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: NTU, </a:t>
            </a:r>
            <a:r>
              <a:rPr kumimoji="0" lang="en-US" altLang="zh-TW" sz="1600" b="0" i="0" u="none" strike="noStrike" kern="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</a:rPr>
              <a:t>.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  <a:defRPr/>
            </a:pPr>
            <a:r>
              <a:rPr lang="en-US" altLang="zh-TW" sz="1600" b="1" kern="0" dirty="0">
                <a:solidFill>
                  <a:prstClr val="black"/>
                </a:solidFill>
              </a:rPr>
              <a:t>Taiwan-</a:t>
            </a:r>
            <a:r>
              <a:rPr lang="en-US" altLang="zh-TW" sz="1600" b="1" kern="0" dirty="0" err="1">
                <a:solidFill>
                  <a:prstClr val="black"/>
                </a:solidFill>
              </a:rPr>
              <a:t>LLaMA</a:t>
            </a:r>
            <a:r>
              <a:rPr lang="en-US" altLang="zh-TW" sz="1600" kern="0" dirty="0">
                <a:solidFill>
                  <a:prstClr val="black"/>
                </a:solidFill>
              </a:rPr>
              <a:t>: NTU,</a:t>
            </a:r>
            <a:r>
              <a:rPr lang="zh-TW" altLang="en-US" sz="1600" kern="0" dirty="0">
                <a:solidFill>
                  <a:prstClr val="black"/>
                </a:solidFill>
              </a:rPr>
              <a:t> </a:t>
            </a:r>
            <a:r>
              <a:rPr lang="en-US" altLang="zh-TW" sz="1600" kern="0" dirty="0">
                <a:solidFill>
                  <a:prstClr val="black"/>
                </a:solidFill>
              </a:rPr>
              <a:t>Community Friendly.</a:t>
            </a:r>
          </a:p>
          <a:p>
            <a:pPr marL="285750" indent="-285750">
              <a:lnSpc>
                <a:spcPts val="1800"/>
              </a:lnSpc>
              <a:spcBef>
                <a:spcPts val="600"/>
              </a:spcBef>
              <a:spcAft>
                <a:spcPts val="600"/>
              </a:spcAft>
              <a:buFont typeface="Wingdings" panose="05000000000000000000" pitchFamily="2" charset="2"/>
              <a:buChar char="Ø"/>
              <a:defRPr/>
            </a:pPr>
            <a:r>
              <a:rPr lang="en-US" altLang="zh-TW" sz="1600" b="1" kern="0" dirty="0">
                <a:solidFill>
                  <a:prstClr val="black"/>
                </a:solidFill>
              </a:rPr>
              <a:t>MR Breeze</a:t>
            </a:r>
            <a:r>
              <a:rPr lang="en-US" altLang="zh-TW" sz="1600" kern="0" dirty="0">
                <a:solidFill>
                  <a:prstClr val="black"/>
                </a:solidFill>
              </a:rPr>
              <a:t>: Media Tech Research, fast, edge AI.</a:t>
            </a:r>
          </a:p>
        </p:txBody>
      </p:sp>
    </p:spTree>
    <p:extLst>
      <p:ext uri="{BB962C8B-B14F-4D97-AF65-F5344CB8AC3E}">
        <p14:creationId xmlns:p14="http://schemas.microsoft.com/office/powerpoint/2010/main" val="335963025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Click="0">
        <p159:morph option="byObject"/>
      </p:transition>
    </mc:Choice>
    <mc:Fallback xmlns="">
      <p:transition spd="slow" advClick="0">
        <p:fade/>
      </p:transition>
    </mc:Fallback>
  </mc:AlternateContent>
</p:sld>
</file>

<file path=ppt/theme/theme1.xml><?xml version="1.0" encoding="utf-8"?>
<a:theme xmlns:a="http://schemas.openxmlformats.org/drawingml/2006/main" name="Default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tx1">
            <a:alpha val="70000"/>
          </a:schemeClr>
        </a:solidFill>
        <a:ln w="12700">
          <a:solidFill>
            <a:schemeClr val="bg1">
              <a:lumMod val="75000"/>
            </a:schemeClr>
          </a:solidFill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簡報1" id="{3349570C-DE3B-48BB-8671-1853FC12C45D}" vid="{424F00FA-23EC-402E-8D8B-A6A8EB048657}"/>
    </a:ext>
  </a:extLst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TM02900688[[fn=多面向]]</Template>
  <TotalTime>1564</TotalTime>
  <Words>2276</Words>
  <Application>Microsoft Office PowerPoint</Application>
  <PresentationFormat>如螢幕大小 (4:3)</PresentationFormat>
  <Paragraphs>279</Paragraphs>
  <Slides>5</Slides>
  <Notes>5</Notes>
  <HiddenSlides>3</HiddenSlides>
  <MMClips>0</MMClips>
  <ScaleCrop>false</ScaleCrop>
  <HeadingPairs>
    <vt:vector size="6" baseType="variant">
      <vt:variant>
        <vt:lpstr>使用字型</vt:lpstr>
      </vt:variant>
      <vt:variant>
        <vt:i4>8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5</vt:i4>
      </vt:variant>
    </vt:vector>
  </HeadingPairs>
  <TitlesOfParts>
    <vt:vector size="14" baseType="lpstr">
      <vt:lpstr>Google Sans</vt:lpstr>
      <vt:lpstr>Noto Sans HK</vt:lpstr>
      <vt:lpstr>微軟正黑體</vt:lpstr>
      <vt:lpstr>新細明體</vt:lpstr>
      <vt:lpstr>ADLaM Display</vt:lpstr>
      <vt:lpstr>Arial</vt:lpstr>
      <vt:lpstr>Calibri</vt:lpstr>
      <vt:lpstr>Wingdings</vt:lpstr>
      <vt:lpstr>Default</vt:lpstr>
      <vt:lpstr>PowerPoint 簡報</vt:lpstr>
      <vt:lpstr>PowerPoint 簡報</vt:lpstr>
      <vt:lpstr>PowerPoint 簡報</vt:lpstr>
      <vt:lpstr>PowerPoint 簡報</vt:lpstr>
      <vt:lpstr>PowerPoint 簡報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Progress Report</dc:title>
  <dc:creator>Felix Tien(田慶豐)</dc:creator>
  <cp:lastModifiedBy>Allen Ni(倪士凱)</cp:lastModifiedBy>
  <cp:revision>1896</cp:revision>
  <cp:lastPrinted>2024-07-30T01:44:15Z</cp:lastPrinted>
  <dcterms:created xsi:type="dcterms:W3CDTF">2019-11-08T03:01:47Z</dcterms:created>
  <dcterms:modified xsi:type="dcterms:W3CDTF">2026-10-30T09:28:41Z</dcterms:modified>
</cp:coreProperties>
</file>