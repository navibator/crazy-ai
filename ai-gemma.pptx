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1"/>
  </p:notesMasterIdLst>
  <p:handoutMasterIdLst>
    <p:handoutMasterId r:id="rId22"/>
  </p:handoutMasterIdLst>
  <p:sldIdLst>
    <p:sldId id="3459" r:id="rId2"/>
    <p:sldId id="3472" r:id="rId3"/>
    <p:sldId id="3502" r:id="rId4"/>
    <p:sldId id="3499" r:id="rId5"/>
    <p:sldId id="3444" r:id="rId6"/>
    <p:sldId id="3493" r:id="rId7"/>
    <p:sldId id="3475" r:id="rId8"/>
    <p:sldId id="3477" r:id="rId9"/>
    <p:sldId id="3470" r:id="rId10"/>
    <p:sldId id="3471" r:id="rId11"/>
    <p:sldId id="3496" r:id="rId12"/>
    <p:sldId id="3505" r:id="rId13"/>
    <p:sldId id="3465" r:id="rId14"/>
    <p:sldId id="3482" r:id="rId15"/>
    <p:sldId id="3489" r:id="rId16"/>
    <p:sldId id="3495" r:id="rId17"/>
    <p:sldId id="3503" r:id="rId18"/>
    <p:sldId id="3460" r:id="rId19"/>
    <p:sldId id="3504" r:id="rId20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mm 3 Technical Report" id="{30F6892D-1922-4A88-A82D-8CD0653C5411}">
          <p14:sldIdLst>
            <p14:sldId id="3459"/>
            <p14:sldId id="3472"/>
          </p14:sldIdLst>
        </p14:section>
        <p14:section name="Background Knowledge" id="{C5ADF914-F8F1-4215-8A34-A521DDB15BBF}">
          <p14:sldIdLst>
            <p14:sldId id="3502"/>
            <p14:sldId id="3499"/>
            <p14:sldId id="3444"/>
            <p14:sldId id="3493"/>
            <p14:sldId id="3475"/>
            <p14:sldId id="3477"/>
          </p14:sldIdLst>
        </p14:section>
        <p14:section name="Gemma 3" id="{91BFD2B5-A843-4933-9519-5889D1D7895D}">
          <p14:sldIdLst>
            <p14:sldId id="3470"/>
            <p14:sldId id="3471"/>
            <p14:sldId id="3496"/>
            <p14:sldId id="3505"/>
          </p14:sldIdLst>
        </p14:section>
        <p14:section name="Gemma 4" id="{5A048767-0D58-44AF-B962-12C29493294F}">
          <p14:sldIdLst>
            <p14:sldId id="3465"/>
            <p14:sldId id="3482"/>
            <p14:sldId id="3489"/>
          </p14:sldIdLst>
        </p14:section>
        <p14:section name="Conclusion" id="{69C35067-BEF2-4B7C-9B54-B6977EB05C72}">
          <p14:sldIdLst>
            <p14:sldId id="3495"/>
            <p14:sldId id="3503"/>
            <p14:sldId id="3460"/>
            <p14:sldId id="350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BDCA8"/>
    <a:srgbClr val="C5D8A0"/>
    <a:srgbClr val="CCFF66"/>
    <a:srgbClr val="DBFF94"/>
    <a:srgbClr val="DCE6F2"/>
    <a:srgbClr val="FF0000"/>
    <a:srgbClr val="FFCCCC"/>
    <a:srgbClr val="FFDDDD"/>
    <a:srgbClr val="F2DCDB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3541" autoAdjust="0"/>
    <p:restoredTop sz="41818" autoAdjust="0"/>
  </p:normalViewPr>
  <p:slideViewPr>
    <p:cSldViewPr>
      <p:cViewPr>
        <p:scale>
          <a:sx n="100" d="100"/>
          <a:sy n="100" d="100"/>
        </p:scale>
        <p:origin x="726" y="594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Relationship Id="rId27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2026/7/6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2026/7/6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2cm.com.tw/2cm/zh-tw/market/0B0A1A53F59840AA83761E4A97E37E6B" TargetMode="External"/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9742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4B811-902A-94AB-AABB-4CC1382C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32B768C-5222-29ED-3563-1AFFE32A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1FC8048-7B6E-7E1E-EC2B-CCC4CC9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endParaRPr kumimoji="0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A622D0-F740-070B-33AA-93A0D57A4D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43567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GPT </a:t>
            </a:r>
            <a:r>
              <a:rPr lang="zh-TW" altLang="en-US" dirty="0"/>
              <a:t>是「生成式預先訓練變壓器」（</a:t>
            </a:r>
            <a:r>
              <a:rPr lang="en-US" altLang="zh-TW" dirty="0"/>
              <a:t>Generative Pre-trained Transformer</a:t>
            </a:r>
            <a:r>
              <a:rPr lang="zh-TW" altLang="en-US" dirty="0"/>
              <a:t>）的縮寫。它是由 </a:t>
            </a:r>
            <a:r>
              <a:rPr lang="en-US" altLang="zh-TW" dirty="0"/>
              <a:t>OpenAI </a:t>
            </a:r>
            <a:r>
              <a:rPr lang="zh-TW" altLang="en-US" dirty="0"/>
              <a:t>開發的一種深度學習神經網路模型架構，也是目前全球最知名的 </a:t>
            </a:r>
            <a:r>
              <a:rPr lang="en-US" altLang="zh-TW" dirty="0"/>
              <a:t>AI </a:t>
            </a:r>
            <a:r>
              <a:rPr lang="zh-TW" altLang="en-US" dirty="0"/>
              <a:t>聊天機器人 </a:t>
            </a:r>
            <a:r>
              <a:rPr lang="en-US" altLang="zh-TW" dirty="0"/>
              <a:t>ChatGPT </a:t>
            </a:r>
            <a:r>
              <a:rPr lang="zh-TW" altLang="en-US" dirty="0"/>
              <a:t>的底層核心技術。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17027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協定的運作核心在於三大架構的合作：主機（Host）、客戶端（Client） 與伺服器（Server）。這三者就如同 AI 任務中的指揮官、聯絡人與執行單位，讓 AI 助理（AI agent）得以安全、即時地連接外部資訊。</a:t>
            </a:r>
          </a:p>
          <a:p>
            <a:pPr fontAlgn="base"/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主機（MCP Host）：指揮中心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主機通常是 AI 應用本身，例如 Claude Desktop, IDEs, 或是其他需要透過 MCP 存取資料的 AI 工具。它負責發出請求、定義任務，可以把它想像為一名總指揮，指派 AI 查詢資料、存取文件或啟用工具。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客戶端（MCP Client）：溝通橋梁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客戶端扮演主機與伺服器之間的溝通媒介，負責將主機的指令準確的轉交給伺服器處理，並將伺服器回傳的結果送回主機，MCP 主機會執行一個或多個 MCP 客戶端，並與 MCP 伺服器進行一對一連結。同時有身份驗證的功能，維持系統通訊的安全性與穩定性。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伺服器（MCP Server）：任務執行者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伺服器的任務是將電腦內的功能（像是資料庫查詢、檔案讀寫、網頁操作）透過一組標準化的指令對外公開。當主機透過 MCP 發出指令時，伺服器就會依據這些指令執行操作，並將結果回傳。</a:t>
            </a:r>
          </a:p>
          <a:p>
            <a:endParaRPr lang="en-US" altLang="zh-TW" dirty="0"/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600" b="1" u="none" strike="noStrike" dirty="0">
                <a:effectLst/>
              </a:rPr>
              <a:t>AI Model Format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-</a:t>
            </a:r>
            <a:r>
              <a:rPr lang="zh-TW" altLang="en-US" sz="1200" b="1" dirty="0">
                <a:solidFill>
                  <a:prstClr val="black"/>
                </a:solidFill>
                <a:latin typeface="+mn-lt"/>
                <a:ea typeface="+mn-ea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LLM file format.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</a:t>
            </a:r>
            <a:r>
              <a:rPr kumimoji="0" lang="zh-TW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+mn-lt"/>
                <a:ea typeface="+mn-ea"/>
              </a:rPr>
              <a:t>, for example YOLO.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75464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確觀念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：Graph RAG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直接貼入Context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一口氣讀完並生成最終答案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在簡報上，您可以強調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"Direct Context Injection"（直接上下文注入）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，這代表資料是以最快、最無損（Lossless）的方式直接賦予 AI 大腦。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47083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三大雲端巨頭 (Hyper-scalers)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AWS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：提供 Amazon EC2 UltraClusters，部署數萬顆 NVIDIA H100/B200 GPU。同時提供性價比更高的自研 AI 晶片 Trainium（訓練）與 Inferentia（推論）實例。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 Cloud Platform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：除了NV GPU 外，其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自研 TPU (Tensor Processing Unit)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 TPU v5p）。大規模 Transformer 模型與大語言模型（LLM）訓練的算力效率極高。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MS Azure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：與 OpenAI 深度綁定的算力平台，提供超大規模 NDv5/NDv6 系列 NVIDIA GPU 叢集與微軟自研的 Maia AI 晶片，非常適合大規模分散式訓練。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專屬 AI 算力雲 (AI-First Cloud Providers)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altLang="zh-TW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CloreWeave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Lambda Labs: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專注 AI 的新興雲服務商，直接與 NVIDIA 緊密合作，專門提供高效能、低延遲的 GPU 裸金屬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Bare Metal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租賃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價格通常比三大雲巨頭更具競爭力。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indent="-228600">
              <a:buAutoNum type="arabicPeriod"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9951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（從「規模驅動」走向「品質核心」的創新）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近幾年最核心的技術典範轉移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Paradigm Shift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dirty="0"/>
              <a:t>四個趨勢（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數據品質、MoE架構、原生多模態、端側輕量化</a:t>
            </a:r>
            <a:r>
              <a:rPr lang="zh-TW" altLang="zh-TW" dirty="0"/>
              <a:t>）</a:t>
            </a:r>
            <a:endParaRPr lang="en-US" altLang="zh-TW" dirty="0"/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數據面的轉變（Data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：信奉「暴力美學」與對稱擴展定律（Scaling Laws）。當時的思維是：只要把網路上能爬到的資料（無論好壞）通通餵給模型，模型越大、資料越多，實力就越強。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：網路上高質量的人類原生數據快要被吃光了（數據荒危機）。現在的創新在於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數據工程（Data Engineering）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。大家不再比誰的資料量大，而是比誰的資料洗得乾淨、去重做得到位、或是誰能用強大模型生成出更高品質的「合成數據（Synthetic Data）」來餵養新模型 [?]。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模型架構與算力的轉變（Architecture &amp; Compute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：盲目追求參數模型的體積（例如從 175B 飆升到萬億參數）。這導致訓練和推理（Inference）成本高上天，只有極少數科技巨頭玩得起。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架構的精巧與高效率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。例如轉向「專家混合模型（MoE）」，雖然總參數很大，但每次處理文字時只啟動其中一小部分專家網路；或者專注於優化 3B、8B 的「小語言模型（SLM）」，讓它在極小的體積下，透過高質量的訓練達到逼近大模型的智商。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商業與應用落地面的轉變（Business &amp; Deployment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：大家在實驗室裡刷榜（Benchmark），比拼誰的理論分數高、誰能回答各種刁鑽的常識問題。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：業界更看重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應用的精準度與ROI（投資回報率）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。模型必須能夠精準對齊（Alignment）人類意圖、減少幻覺（Hallucination）、並且能低延遲、低成本地部署在企業內部或使用者的手機、筆電端（On-device AI）。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55857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「Data gravity」（數據引力 / 資料引力）</a:t>
            </a:r>
            <a:r>
              <a:rPr lang="zh-TW" altLang="zh-TW" dirty="0"/>
              <a:t> 是一個著名的科技與雲端運算架構術語，核心意思為：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「隨著資料的體積（規模）越來越大，它會像物理學中的質量一樣產生引力，吸引周圍的應用程式（Applications）、軟體服務與算力（Compute）向資料靠攏。」</a:t>
            </a:r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延遲（Latency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頻寬（Bandwidth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Cost / Cloud Egress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(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例如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雲端服務商（如 AWS、Azure）通常實施「資料移入免費，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資料移出（Egress）大幅收費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」的策略。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這加劇了引力效應，讓資料一旦落地就形同被「鎖定（Lock-in）」。</a:t>
            </a:r>
          </a:p>
          <a:p>
            <a:endParaRPr lang="zh-TW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SLM 容器（小型語言模型，如 3B 到 14B 參數）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SLM 容器的核心目標是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「輕量化、去中心化、邊緣運算（Edge）」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常見內容物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：通常會將模型推理引擎（如 Ollama、vLLM、Llama.cpp）與模型權重檔（如 GGUF 格式）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直接打包在同一個 Container 镜像（Image）中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硬體依賴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：對硬體極度友善。可以用 Docker 部署在一般的 Mac mini、邊緣裝置（如 NVIDIA Jetson）、或一般內建消費級顯示卡（如 RTX 4060）的個人電腦上。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架構特性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：啟動速度極快。在 AI Agent Container 架構中，SLM 容器通常被當作「微服務（Microservices）」。例如：你可以同時開 5 個不同的 Docker Container，裡面各跑一個 8B 的小模型，分別擔任客服、翻譯、程式審查等不同角色的 Agent，彼此互不干擾。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LLM 容器（大型語言模型，如 70B 到 405B 以上參數）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容器的核心目標是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「高併發、極致吞吐量、企業級叢集（Cluster）」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常見內容物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：Container 內通常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只裝推理框架的程式碼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 vLLM、TensorRT-LLM、TGI），而高達幾百 GB 的模型權重檔（Weights）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絕對不會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打包進 Image，而是透過網路掛載（如雲端儲存、NFS、或高速快取磁碟）的方式動態載入。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硬體依賴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：極度依賴重型基礎設施。需要透過 NVIDIA Container Toolkit 將多張企業級 GPU（如 H100、A100）對應進 Container 內。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架構特性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：通常部署在 Kubernetes (K8s) 叢集或大廠的雲端環境中（如 AWS, Google Cloud）。在 Agent 架構中，這類 LLM 容器通常被當作「中央大腦 API」，多個 Agent 容器會同時發送請求給這個大型 LLM 容器來索取高難度的推理結果。</a:t>
            </a:r>
          </a:p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94920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1. 長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上下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文窗口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128k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遠超 G2的8k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algn="just" latinLnBrk="0">
              <a:spcAft>
                <a:spcPts val="1875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2.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多模態能力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支援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文字處理與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內建 SigLIP 視覺編碼器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 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能夠處理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高清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圖片分析、OCR、圖像問答等應用。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3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跨語言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能力：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全新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分詞器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Tokenizer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與多語言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(35~140)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支持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。Google 強調，這將幫助開發者打造更國際化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翻譯能力。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4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單加速器運行優化，適用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GPU(NV&amp;AMD),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TPU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Google 強調 Gemma 3 是「世界上最好的單加速器模型」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特化在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單一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晶片發揮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高效能的 AI 應用。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875"/>
              </a:spcBef>
              <a:spcAft>
                <a:spcPts val="150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5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可調式框架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支援多種邊緣平台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手機平板筆電桌機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1B,4B,12B,27B).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6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 支援函數呼叫與結構化輸出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提升AI Agent 智能化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Gemma 3 內建函數呼叫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Function Calling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與結構化輸出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Structured Output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使 AI 能夠更準確地與應用程式互動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適用於自動化工作流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AI Agent 開發。</a:t>
            </a:r>
          </a:p>
          <a:p>
            <a:br>
              <a:rPr lang="en-US" altLang="zh-TW" dirty="0"/>
            </a:br>
            <a:r>
              <a:rPr lang="zh-TW" altLang="en-US" dirty="0"/>
              <a:t>量化壓縮技術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位元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35706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4069986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DC824-8DE8-9B3A-D261-5FDDDFD8C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2F10EC9-6D84-2594-7CA2-B70B0D265D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9C2F833-7937-96D1-DC9C-B8C71BD9A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52A64DC-EC93-A8FC-41B2-21495D710D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622250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391CA-EAA5-61AA-976B-D0A473DBC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BB17E1F-7486-345D-4CF1-A610F24F04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5FB8F9B-73BE-4DBC-4418-A5E115133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27E670B-4E94-5D0F-9125-795575CD83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18617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常見的輕量化技術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知識蒸餾（Knowledge Distillation）：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讓參數量較少的小型模型（學生）模仿大型模型（老師）的行為，從中學習複雜的語言推理能力。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模型量化（Quantization）：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將模型權重（Weights）從高精度（如 16-bit 浮點數）降低到低精度（如 8-bit 或 4-bit 整數），大幅減少記憶體佔用。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參數剪枝（Pruning）：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移除模型中對預測結果影響較小、冗餘的神經元與連接。</a:t>
            </a:r>
          </a:p>
          <a:p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層級嵌入 (Per-Layer Embeddings, PLE)</a:t>
            </a:r>
            <a:r>
              <a:rPr lang="zh-TW" altLang="zh-TW" dirty="0"/>
              <a:t> 是 AI 模型（如 Google 的 Gemma 4 等語言模型）中的一種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記憶體優化技術</a:t>
            </a:r>
            <a:r>
              <a:rPr lang="zh-TW" altLang="zh-TW" dirty="0"/>
              <a:t>。它為模型的每一層提供獨立的低維度特徵訊號，讓小尺寸模型能以更少參數獲得更精準的特化能力，從而提升邊緣裝置（如手機、筆電）上的執行效率。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19495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795CE-C2D6-9D16-6D14-69ACBE531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3352CE7-F871-B339-F340-2B51478FA4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6C8E757-4B05-165E-1607-0BCD6DE544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altLang="zh-TW" dirty="0"/>
            </a:b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12B</a:t>
            </a:r>
            <a:r>
              <a:rPr lang="zh-TW" altLang="en-US" dirty="0"/>
              <a:t> 統一架構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zh-TW" altLang="zh-TW" dirty="0"/>
              <a:t>層級嵌入 PLE</a:t>
            </a:r>
            <a:endParaRPr lang="zh-TW" altLang="en-US" dirty="0"/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多模態 AI 的架構簡介（從傳統到現代）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要在同一個 AI 模型裡同時塞入「文字、圖片、聲音」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技術架構經歷了兩個世代演變：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傳統架構：橋接法 (Encoder-based Architecture)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以往的 LLaVA 或舊型多模態模型，就像是「拼裝車」：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外掛多個編編碼器 (Encoders)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：文字有文字的處理器、圖片有專屬的視覺編碼器（如 CLIP）、聲音有語音編碼器。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對齊層 (Projection Layer)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：中間用一個轉換層，把圖片和聲音的訊號「強行翻譯」成文字看得懂的向量。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丟入 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：最後才餵給主要的大型語言模型。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：編碼器體積龐大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數億參數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、會卡死微調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Fine-tuning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的彈性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且在轉換過程中容易漏掉細節。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現代/未來架構：原生統一法 (Native Unified / Encoder-Free Architecture)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這也是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Gemma 4 的核心突破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！科學家發現，不需要外掛這麼多編碼器，主要的大腦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本質上就夠聰明了。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直接線性投影 (Linear Projection)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：圖片或聲音不經過外部編碼器加工，直接切碎並透過一個極輕量的線性模組轉成標記（Tokens）。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一體化推論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：多種模態的資料直接在同一個核心架構（Backbone）裡混合、計算。 </a:t>
            </a: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：推論速度極快、模型體積大幅縮小，而且文字、圖片、音訊可以完美融合在同一個資料流中，大幅降低硬體門檻。</a:t>
            </a:r>
          </a:p>
          <a:p>
            <a:endParaRPr lang="en-US" altLang="zh-TW" dirty="0"/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memory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用量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計算用電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如何知道級距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用雲端服務建立準線。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86E7571-A4C4-1EDD-1D49-0CFA2F6F94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64009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近年來「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總參數量</a:t>
            </a:r>
            <a:r>
              <a:rPr lang="zh-TW" altLang="zh-TW" dirty="0"/>
              <a:t>」已不等於「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實際運算量</a:t>
            </a:r>
            <a:r>
              <a:rPr lang="zh-TW" altLang="zh-TW" dirty="0"/>
              <a:t>」，因為許多模型採用了 MoE 技術，讓模型雖然體積龐大，但每次處理一個字（Token）時只需要啟動一小部分參數。</a:t>
            </a:r>
            <a:endParaRPr lang="en-US" altLang="zh-TW" dirty="0"/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極致的硬體成本效益（Cost-Effective）與演算法魔改</a:t>
            </a:r>
            <a:r>
              <a:rPr lang="zh-TW" altLang="zh-TW" dirty="0"/>
              <a:t>；</a:t>
            </a:r>
            <a:br>
              <a:rPr lang="en-US" altLang="zh-TW" dirty="0"/>
            </a:br>
            <a:r>
              <a:rPr lang="zh-TW" altLang="zh-TW" dirty="0"/>
              <a:t>Meta Llama 則追求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標準化、極致的架構穩定性（Scalability）與對開源生態的絕對相容</a:t>
            </a:r>
            <a:r>
              <a:rPr lang="zh-TW" altLang="zh-TW" dirty="0"/>
              <a:t>。</a:t>
            </a: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AWS </a:t>
            </a:r>
            <a:r>
              <a:rPr lang="en-US" altLang="zh-TW" dirty="0" err="1"/>
              <a:t>Trainium</a:t>
            </a:r>
            <a:r>
              <a:rPr lang="en-US" altLang="zh-TW" dirty="0"/>
              <a:t> </a:t>
            </a:r>
            <a:r>
              <a:rPr lang="zh-TW" altLang="en-US" dirty="0"/>
              <a:t>與 </a:t>
            </a:r>
            <a:r>
              <a:rPr lang="en-US" altLang="zh-TW" dirty="0"/>
              <a:t>AWS Graviton </a:t>
            </a:r>
            <a:r>
              <a:rPr lang="zh-TW" altLang="en-US" dirty="0"/>
              <a:t>是亞馬遜自研晶片體系中的兩大核心。</a:t>
            </a:r>
            <a:endParaRPr lang="en-US" altLang="zh-TW" dirty="0"/>
          </a:p>
          <a:p>
            <a:r>
              <a:rPr lang="en-US" altLang="zh-TW" dirty="0"/>
              <a:t>Graviton </a:t>
            </a:r>
            <a:r>
              <a:rPr lang="zh-TW" altLang="en-US" dirty="0"/>
              <a:t>是通用型 </a:t>
            </a:r>
            <a:r>
              <a:rPr lang="en-US" altLang="zh-TW" dirty="0"/>
              <a:t>CPU,</a:t>
            </a:r>
            <a:r>
              <a:rPr lang="zh-TW" altLang="en-US" dirty="0"/>
              <a:t> 負責處理日常雲端運算與後台任務；</a:t>
            </a:r>
            <a:endParaRPr lang="en-US" altLang="zh-TW" dirty="0"/>
          </a:p>
          <a:p>
            <a:r>
              <a:rPr lang="en-US" altLang="zh-TW" dirty="0" err="1"/>
              <a:t>Trainium</a:t>
            </a:r>
            <a:r>
              <a:rPr lang="en-US" altLang="zh-TW" dirty="0"/>
              <a:t> </a:t>
            </a:r>
            <a:r>
              <a:rPr lang="zh-TW" altLang="en-US" dirty="0"/>
              <a:t>是專門的 </a:t>
            </a:r>
            <a:r>
              <a:rPr lang="en-US" altLang="zh-TW" dirty="0"/>
              <a:t>AI </a:t>
            </a:r>
            <a:r>
              <a:rPr lang="zh-TW" altLang="en-US" dirty="0"/>
              <a:t>加速晶片</a:t>
            </a:r>
            <a:r>
              <a:rPr lang="en-US" altLang="zh-TW" dirty="0"/>
              <a:t>, </a:t>
            </a:r>
            <a:r>
              <a:rPr lang="zh-TW" altLang="en-US" dirty="0"/>
              <a:t>專為大型 </a:t>
            </a:r>
            <a:r>
              <a:rPr lang="en-US" altLang="zh-TW" dirty="0"/>
              <a:t>AI </a:t>
            </a:r>
            <a:r>
              <a:rPr lang="zh-TW" altLang="en-US" dirty="0"/>
              <a:t>模型的訓練與密集運算而生。</a:t>
            </a:r>
          </a:p>
          <a:p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513366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ONNX（Open Neural Network Exchange，開放神經網路交換）是由微軟與 Meta（Facebook）等科技巨頭主導的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開源機器學習模型通用格式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它允許開發者將在 PyTorch、TensorFlow 或 Scikit-learn 等不同框架中訓練出的模型，轉換為統一的結構，以便在各種硬體和平台上進行高效能部署。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跨平台互通性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簡化部署流程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硬體加速效能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將機器學習模型具象化為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計算圖（Computation Graph）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儲存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網路的架構、權重與資料流向。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662324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一、 5 大核心模型能力維度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邏輯與推理能力 (Reasoning &amp; Math)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這是區分「頂級模型」與「一般模型」的關鍵試金石。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：數學多步驟計算、程式碼編寫與 Debug、邏輯悖論破解。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GSM8K / MATH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：評估小學到高中程度的數學應用題解答能力。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HumanEval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：測試模型編寫 Python 程式碼的正確率。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語言理解與知識儲存 (Knowledge &amp; Language)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評估模型在文史、科學、醫學等各領域知識的廣度，以及對複雜語意的理解。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：多選題測試、長文字摘要、隱喻與幽默感理解。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MMLU (Massive Multitask Language Understanding)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：跨越人文、社科、硬科學等幾十個學科的綜合測試（目前最指標性的綜合評測）。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指令遵循與結構化輸出 (Instruction Following)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在將模型導入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Flow 工作流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時，這項能力最為關鍵。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：能否嚴格遵守字數限制、格式限制（例如：只輸出 JSON，不要講廢話）、多重條件過濾。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IFEval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：嚴格測試模型對於「第 1 段必須以 A 開頭、總字數小於 400 字」這類格式指令的遵循率。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長文本處理與上下文檢索 (Long-Context &amp; Retrieval)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測試模型在處理數萬字甚至百萬字資料時，是否會「忘東忘西」。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：長篇合約審查、長書摘要、大海撈針測試。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Needle In A Haystack (NIAH)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：將一句無關緊要的話（針）藏在數十萬字的文本（大海）中，測試模型能否精準抓出。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對齊與安全性 (Alignment &amp; Safety)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評估模型是否符合人類價值觀，以及對惡意引導（Jailbreak）的防禦力。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：拒絕回答有害問題（如炸彈製作）、不產生偏見、降低幻覺機率。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TruthfulQA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：測試模型回答是否真實，而非順著人類的迷思或謠言瞎編。</a:t>
            </a:r>
          </a:p>
          <a:p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二、 2 大實務工程指標（落地必看）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除了上述大腦能力的測試，實務上部署時還必須評估以下兩點：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吞吐量與延遲 (Throughput &amp; Latency)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TTFT (Time to First Token)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：模型吐出第一個字的速度（越快用戶體驗越好）。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TPS (Tokens Per Second)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：每秒能生成多少個字（攸關整體流程執行的速度）。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成本與性價比 (Cost Efficiency)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每百萬 Token 的輸入/輸出費用。例如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R1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或 各家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Flash 模型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常以極低的成本提供逼近旗艦模型的效能。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9490002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ONNX?</a:t>
            </a:r>
            <a:r>
              <a:rPr lang="zh-TW" altLang="en-US" dirty="0"/>
              <a:t> 有誰支持</a:t>
            </a:r>
            <a:r>
              <a:rPr lang="en-US" altLang="zh-TW" dirty="0"/>
              <a:t>, </a:t>
            </a:r>
            <a:r>
              <a:rPr lang="zh-TW" altLang="en-US" dirty="0"/>
              <a:t>影響為何</a:t>
            </a:r>
            <a:r>
              <a:rPr lang="en-US" altLang="zh-TW" dirty="0"/>
              <a:t>?</a:t>
            </a:r>
            <a:r>
              <a:rPr lang="zh-TW" altLang="en-US" dirty="0"/>
              <a:t> 架構如何</a:t>
            </a:r>
            <a:r>
              <a:rPr lang="en-US" altLang="zh-TW" dirty="0"/>
              <a:t>?</a:t>
            </a:r>
            <a:r>
              <a:rPr lang="zh-TW" altLang="en-US" dirty="0"/>
              <a:t> 目前發展</a:t>
            </a:r>
            <a:r>
              <a:rPr lang="en-US" altLang="zh-TW" dirty="0"/>
              <a:t>(</a:t>
            </a:r>
            <a:r>
              <a:rPr lang="zh-TW" altLang="en-US" dirty="0"/>
              <a:t>世界大廠</a:t>
            </a:r>
            <a:r>
              <a:rPr lang="en-US" altLang="zh-TW" dirty="0"/>
              <a:t>,</a:t>
            </a:r>
            <a:r>
              <a:rPr lang="zh-TW" altLang="en-US" dirty="0"/>
              <a:t> 台灣的機會</a:t>
            </a:r>
            <a:r>
              <a:rPr lang="en-US" altLang="zh-TW" dirty="0"/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名稱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比喻負責任務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檔案格式規格通用外語定義模型的標準結構與算子，讓不同框架可以互相轉換。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Runtime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軟體推論引擎同聲傳譯員偏向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軟體層面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，在常見的 CPU/GPU 上直接載入並即時執行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推論模型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br>
              <a:rPr lang="en-US" altLang="zh-TW" sz="1600" b="1" dirty="0"/>
            </a:br>
            <a:r>
              <a:rPr lang="en-US" altLang="zh-TW" sz="1600" b="1" dirty="0"/>
              <a:t>Environment (What you will get and see?)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200" b="1" dirty="0">
                <a:solidFill>
                  <a:prstClr val="black"/>
                </a:solidFill>
              </a:rPr>
              <a:t>File Format</a:t>
            </a:r>
            <a:r>
              <a:rPr lang="en-US" altLang="zh-TW" sz="1200" dirty="0">
                <a:solidFill>
                  <a:prstClr val="black"/>
                </a:solidFill>
              </a:rPr>
              <a:t>: GGUF and ONNX(Open Neural Network </a:t>
            </a:r>
            <a:r>
              <a:rPr lang="en-US" altLang="zh-TW" sz="1200" dirty="0" err="1">
                <a:solidFill>
                  <a:prstClr val="black"/>
                </a:solidFill>
              </a:rPr>
              <a:t>eXchange</a:t>
            </a:r>
            <a:r>
              <a:rPr lang="en-US" altLang="zh-TW" sz="1200" dirty="0">
                <a:solidFill>
                  <a:prstClr val="black"/>
                </a:solidFill>
              </a:rPr>
              <a:t>).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Directory: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Model and  … 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965317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25E997-4179-402B-B045-C290473E86F3}" type="datetimeFigureOut">
              <a:rPr lang="zh-TW" altLang="en-US" smtClean="0"/>
              <a:t>2026/7/6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4A4CC-0142-4D0E-B207-47A74A717B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  <p:sldLayoutId id="2147483662" r:id="rId3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Relationship Id="rId9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6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6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svg"/><Relationship Id="rId5" Type="http://schemas.openxmlformats.org/officeDocument/2006/relationships/image" Target="../media/image18.svg"/><Relationship Id="rId4" Type="http://schemas.openxmlformats.org/officeDocument/2006/relationships/image" Target="../media/image17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41754-1A01-9656-056C-4B624E45A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96A5153E-BD84-CB21-D566-B888A2F168CC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Centrillion Technology </a:t>
            </a:r>
          </a:p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Bioinformation Dept. </a:t>
            </a:r>
          </a:p>
          <a:p>
            <a:pPr algn="ctr"/>
            <a:r>
              <a:rPr lang="en-US" altLang="zh-TW" sz="1400" dirty="0">
                <a:solidFill>
                  <a:schemeClr val="accent1"/>
                </a:solidFill>
              </a:rPr>
              <a:t>Allen &amp; Felix</a:t>
            </a:r>
          </a:p>
          <a:p>
            <a:pPr algn="ctr"/>
            <a:r>
              <a:rPr lang="en-US" altLang="zh-TW" sz="1000" dirty="0">
                <a:solidFill>
                  <a:schemeClr val="accent1"/>
                </a:solidFill>
              </a:rPr>
              <a:t>2026/05/21</a:t>
            </a:r>
            <a:endParaRPr lang="zh-TW" altLang="en-US" sz="1000" dirty="0">
              <a:solidFill>
                <a:schemeClr val="accent1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8C77BE7-A2CA-16B9-32EC-F267B3A21EBE}"/>
              </a:ext>
            </a:extLst>
          </p:cNvPr>
          <p:cNvSpPr txBox="1"/>
          <p:nvPr/>
        </p:nvSpPr>
        <p:spPr>
          <a:xfrm>
            <a:off x="809581" y="1500267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b="1" dirty="0"/>
              <a:t>Gemma</a:t>
            </a:r>
            <a:r>
              <a:rPr lang="zh-TW" altLang="en-US" sz="4000" b="1" dirty="0"/>
              <a:t> </a:t>
            </a:r>
            <a:r>
              <a:rPr lang="en-US" altLang="zh-TW" sz="4000" b="1" dirty="0"/>
              <a:t>3 Technical Report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	2025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/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chemeClr val="accent1">
                  <a:lumMod val="75000"/>
                </a:schemeClr>
              </a:solidFill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/>
              <a:t>	</a:t>
            </a:r>
            <a:r>
              <a:rPr lang="en-US" altLang="zh-TW" sz="1200" b="1" dirty="0">
                <a:sym typeface="Wingdings" panose="05000000000000000000" pitchFamily="2" charset="2"/>
              </a:rPr>
              <a:t>Google DeepMind	</a:t>
            </a:r>
            <a:r>
              <a:rPr lang="en-US" altLang="zh-TW" sz="1000" dirty="0">
                <a:sym typeface="Wingdings" panose="05000000000000000000" pitchFamily="2" charset="2"/>
              </a:rPr>
              <a:t>	Gemma Team</a:t>
            </a:r>
            <a:endParaRPr lang="zh-TW" alt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7609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20B80-B722-2523-9202-3F21EBB14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5B9CD27E-9C1A-3219-6A05-1CA47876AE20}"/>
              </a:ext>
            </a:extLst>
          </p:cNvPr>
          <p:cNvSpPr txBox="1"/>
          <p:nvPr/>
        </p:nvSpPr>
        <p:spPr>
          <a:xfrm>
            <a:off x="845586" y="1120676"/>
            <a:ext cx="7452828" cy="433965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AI Runtime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(AI Agent, LLM, RAG, MCP)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MCP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(AI Stack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 Server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RAG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(Agent + Framework + Infrastructure )</a:t>
            </a:r>
            <a:r>
              <a:rPr lang="en-US" altLang="zh-TW" sz="1400" dirty="0">
                <a:solidFill>
                  <a:schemeClr val="bg1">
                    <a:lumMod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LLM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(Stack)</a:t>
            </a:r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Trend</a:t>
            </a:r>
            <a:r>
              <a:rPr lang="zh-TW" altLang="en-US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Analysis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(SLM, Edge, Algorithm, 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3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(Multi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m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odal,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Multilingual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Supervised Fine-Tuning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(Parameter Efficient Fine-Tuning)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Low-Rank Adaptation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(Efficient LLM Fine-Tuning)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Gemma4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PLE</a:t>
            </a:r>
            <a:r>
              <a:rPr lang="en-US" altLang="zh-TW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(Per Layer Embedding)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kumimoji="0" lang="en-US" altLang="zh-TW" sz="1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Comparison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(Llama 4, Deep Seek)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Conclusion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(A Holistic Perspective on GPT and AI Technology)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Leading Frameworks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(How to evaluate the performance of model?)</a:t>
            </a:r>
            <a:endParaRPr lang="en-US" altLang="zh-TW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Practice Example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(O! llama)</a:t>
            </a:r>
            <a:endParaRPr kumimoji="0" lang="en-US" altLang="zh-TW" sz="14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64" name="標題 1">
            <a:extLst>
              <a:ext uri="{FF2B5EF4-FFF2-40B4-BE49-F238E27FC236}">
                <a16:creationId xmlns:a16="http://schemas.microsoft.com/office/drawing/2014/main" id="{94909093-0BFB-B658-A42D-64D3192A24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Agenda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0D22EBD9-E3FC-5E44-CA96-0F576D5899F6}"/>
              </a:ext>
            </a:extLst>
          </p:cNvPr>
          <p:cNvSpPr txBox="1"/>
          <p:nvPr/>
        </p:nvSpPr>
        <p:spPr>
          <a:xfrm>
            <a:off x="7380312" y="116632"/>
            <a:ext cx="1694681" cy="15311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 Unsupervised</a:t>
            </a:r>
            <a:endParaRPr lang="en-US" altLang="zh-TW" sz="1400" u="none" strike="noStrike" dirty="0">
              <a:effectLst/>
            </a:endParaRPr>
          </a:p>
          <a:p>
            <a:pPr marL="285750" lvl="2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zh-TW" altLang="en-US" sz="1200" dirty="0"/>
              <a:t> </a:t>
            </a:r>
            <a:r>
              <a:rPr lang="en-US" altLang="zh-TW" sz="1200" dirty="0"/>
              <a:t>Reduction</a:t>
            </a:r>
          </a:p>
          <a:p>
            <a:pPr marL="285750" lvl="2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en-US" altLang="zh-TW" sz="1200" dirty="0"/>
              <a:t> Clustering</a:t>
            </a:r>
            <a:endParaRPr lang="en-US" altLang="zh-TW" sz="1200" u="none" strike="noStrike" dirty="0">
              <a:effectLst/>
            </a:endParaRP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 Supervised</a:t>
            </a:r>
            <a:endParaRPr lang="en-US" altLang="zh-TW" sz="1400" dirty="0"/>
          </a:p>
          <a:p>
            <a:pPr marL="285750" lvl="2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en-US" altLang="zh-TW" sz="1200" dirty="0"/>
              <a:t> Semi-Supervised</a:t>
            </a:r>
          </a:p>
          <a:p>
            <a:pPr marL="285750" lvl="2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en-US" altLang="zh-TW" sz="1200" dirty="0"/>
              <a:t> Self-Supervised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 Reinforcement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 Summary</a:t>
            </a:r>
            <a:endParaRPr lang="en-US" altLang="zh-TW" sz="1400" u="none" strike="noStrike" dirty="0"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450648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2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2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2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4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5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2" dur="2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2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2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8" dur="2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0" dur="2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2" dur="2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4" dur="2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8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2" dur="5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4" dur="2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8" dur="5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0" dur="5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2" dur="5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4" dur="2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6" dur="20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8" dur="20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0" dur="20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allAtOnce"/>
      <p:bldP spid="2" grpId="1" uiExpand="1" build="allAtOnce"/>
      <p:bldP spid="2" grpId="2" uiExpand="1" build="allAtOnce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71AC5596-EE09-9809-F3EF-BFD1A1950756}"/>
              </a:ext>
            </a:extLst>
          </p:cNvPr>
          <p:cNvSpPr txBox="1"/>
          <p:nvPr/>
        </p:nvSpPr>
        <p:spPr>
          <a:xfrm>
            <a:off x="2915816" y="3284985"/>
            <a:ext cx="3575442" cy="2007356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olid"/>
          </a:ln>
        </p:spPr>
        <p:txBody>
          <a:bodyPr wrap="none" lIns="72000" tIns="72000" rIns="0" bIns="0" anchor="t" anchorCtr="0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1" name="標題 1">
            <a:extLst>
              <a:ext uri="{FF2B5EF4-FFF2-40B4-BE49-F238E27FC236}">
                <a16:creationId xmlns:a16="http://schemas.microsoft.com/office/drawing/2014/main" id="{4545CAD2-DED1-687D-F927-CC8160C4A86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Runtime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lvl="0">
              <a:spcBef>
                <a:spcPts val="0"/>
              </a:spcBef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An AI agent completes tasks using an LLM brain, RAG knowledge, and MCP tools. </a:t>
            </a:r>
            <a:r>
              <a:rPr lang="zh-TW" altLang="zh-TW" sz="1400" dirty="0"/>
              <a:t>➔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A23F70E7-2AF0-CCC8-DB8C-D9CFEB8FE8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1393876"/>
              </p:ext>
            </p:extLst>
          </p:nvPr>
        </p:nvGraphicFramePr>
        <p:xfrm>
          <a:off x="1372495" y="3645024"/>
          <a:ext cx="1356495" cy="1148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649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Workflow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Input Processing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Executing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 Calling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Output Parsing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23" name="文字方塊 22">
            <a:extLst>
              <a:ext uri="{FF2B5EF4-FFF2-40B4-BE49-F238E27FC236}">
                <a16:creationId xmlns:a16="http://schemas.microsoft.com/office/drawing/2014/main" id="{E0A41338-6FF6-3FD5-520C-C25BBAECA635}"/>
              </a:ext>
            </a:extLst>
          </p:cNvPr>
          <p:cNvSpPr txBox="1"/>
          <p:nvPr/>
        </p:nvSpPr>
        <p:spPr>
          <a:xfrm>
            <a:off x="3707905" y="1936783"/>
            <a:ext cx="881419" cy="756316"/>
          </a:xfrm>
          <a:prstGeom prst="rect">
            <a:avLst/>
          </a:prstGeom>
          <a:solidFill>
            <a:schemeClr val="accent1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LLM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Foundation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(Reasoning)</a:t>
            </a: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A35867F2-C1D1-B5A8-4A34-A85DFFA9F207}"/>
              </a:ext>
            </a:extLst>
          </p:cNvPr>
          <p:cNvSpPr txBox="1"/>
          <p:nvPr/>
        </p:nvSpPr>
        <p:spPr>
          <a:xfrm>
            <a:off x="5058733" y="1936783"/>
            <a:ext cx="881419" cy="756316"/>
          </a:xfrm>
          <a:prstGeom prst="rect">
            <a:avLst/>
          </a:prstGeom>
          <a:solidFill>
            <a:schemeClr val="accent3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</a:rPr>
              <a:t>RAG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Knowledge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(Anti-hallucination)</a:t>
            </a: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17651556-23BC-0DDD-07E7-364BC774FADB}"/>
              </a:ext>
            </a:extLst>
          </p:cNvPr>
          <p:cNvSpPr txBox="1"/>
          <p:nvPr/>
        </p:nvSpPr>
        <p:spPr>
          <a:xfrm>
            <a:off x="6426885" y="1936783"/>
            <a:ext cx="881419" cy="756316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4">
                    <a:lumMod val="75000"/>
                  </a:schemeClr>
                </a:solidFill>
                <a:effectLst/>
              </a:rPr>
              <a:t>MCP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Action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(External tools)</a:t>
            </a:r>
          </a:p>
        </p:txBody>
      </p:sp>
      <p:cxnSp>
        <p:nvCxnSpPr>
          <p:cNvPr id="27" name="直線單箭頭接點 26">
            <a:extLst>
              <a:ext uri="{FF2B5EF4-FFF2-40B4-BE49-F238E27FC236}">
                <a16:creationId xmlns:a16="http://schemas.microsoft.com/office/drawing/2014/main" id="{978899A1-FBD5-7632-C399-E1601597C0CA}"/>
              </a:ext>
            </a:extLst>
          </p:cNvPr>
          <p:cNvCxnSpPr>
            <a:cxnSpLocks/>
            <a:stCxn id="23" idx="3"/>
            <a:endCxn id="25" idx="1"/>
          </p:cNvCxnSpPr>
          <p:nvPr/>
        </p:nvCxnSpPr>
        <p:spPr>
          <a:xfrm>
            <a:off x="4589324" y="2314941"/>
            <a:ext cx="469409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D56C6C98-33E6-85B9-402F-84C3D75B4803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>
            <a:off x="5940152" y="2314941"/>
            <a:ext cx="48673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27C079F-0143-0F0C-F3B8-220CDDAD12FF}"/>
              </a:ext>
            </a:extLst>
          </p:cNvPr>
          <p:cNvSpPr txBox="1"/>
          <p:nvPr/>
        </p:nvSpPr>
        <p:spPr>
          <a:xfrm>
            <a:off x="2989497" y="3351879"/>
            <a:ext cx="764323" cy="293145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2"/>
                </a:solidFill>
                <a:effectLst/>
              </a:rPr>
              <a:t>AI Agent</a:t>
            </a:r>
            <a:endParaRPr lang="en-US" altLang="zh-TW" sz="1200" dirty="0">
              <a:solidFill>
                <a:schemeClr val="tx2"/>
              </a:solidFill>
            </a:endParaRPr>
          </a:p>
        </p:txBody>
      </p:sp>
      <p:sp>
        <p:nvSpPr>
          <p:cNvPr id="33" name="右大括弧 32">
            <a:extLst>
              <a:ext uri="{FF2B5EF4-FFF2-40B4-BE49-F238E27FC236}">
                <a16:creationId xmlns:a16="http://schemas.microsoft.com/office/drawing/2014/main" id="{85617580-DE52-B14E-49D6-B4987ACE2E74}"/>
              </a:ext>
            </a:extLst>
          </p:cNvPr>
          <p:cNvSpPr/>
          <p:nvPr/>
        </p:nvSpPr>
        <p:spPr>
          <a:xfrm rot="16200000">
            <a:off x="5443688" y="360344"/>
            <a:ext cx="161581" cy="279765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標題 1">
            <a:extLst>
              <a:ext uri="{FF2B5EF4-FFF2-40B4-BE49-F238E27FC236}">
                <a16:creationId xmlns:a16="http://schemas.microsoft.com/office/drawing/2014/main" id="{712111BD-605F-4F9A-B096-4D0A2B62113E}"/>
              </a:ext>
            </a:extLst>
          </p:cNvPr>
          <p:cNvSpPr txBox="1">
            <a:spLocks/>
          </p:cNvSpPr>
          <p:nvPr/>
        </p:nvSpPr>
        <p:spPr>
          <a:xfrm>
            <a:off x="4774068" y="1196752"/>
            <a:ext cx="1479398" cy="433217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Runtime</a:t>
            </a:r>
          </a:p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Smarter AI Agent)</a:t>
            </a:r>
          </a:p>
        </p:txBody>
      </p: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6C4189AF-8414-40CC-60A0-54BF0A6CA583}"/>
              </a:ext>
            </a:extLst>
          </p:cNvPr>
          <p:cNvGrpSpPr/>
          <p:nvPr/>
        </p:nvGrpSpPr>
        <p:grpSpPr>
          <a:xfrm>
            <a:off x="611560" y="1273176"/>
            <a:ext cx="1219522" cy="1756213"/>
            <a:chOff x="1331640" y="2203695"/>
            <a:chExt cx="1219522" cy="1756213"/>
          </a:xfrm>
        </p:grpSpPr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FC3EE967-B2E4-1D42-F11F-68E5F269497C}"/>
                </a:ext>
              </a:extLst>
            </p:cNvPr>
            <p:cNvSpPr txBox="1"/>
            <p:nvPr/>
          </p:nvSpPr>
          <p:spPr>
            <a:xfrm>
              <a:off x="1331640" y="2867302"/>
              <a:ext cx="1219522" cy="1092606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8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Pre-Training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&amp; SFT</a:t>
              </a:r>
            </a:p>
          </p:txBody>
        </p:sp>
        <p:sp>
          <p:nvSpPr>
            <p:cNvPr id="36" name="標題 1">
              <a:extLst>
                <a:ext uri="{FF2B5EF4-FFF2-40B4-BE49-F238E27FC236}">
                  <a16:creationId xmlns:a16="http://schemas.microsoft.com/office/drawing/2014/main" id="{975BBE30-A6EE-B2AC-1910-5B401203FF00}"/>
                </a:ext>
              </a:extLst>
            </p:cNvPr>
            <p:cNvSpPr txBox="1">
              <a:spLocks/>
            </p:cNvSpPr>
            <p:nvPr/>
          </p:nvSpPr>
          <p:spPr>
            <a:xfrm>
              <a:off x="1383399" y="2203695"/>
              <a:ext cx="1100369" cy="433217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Training Stages </a:t>
              </a:r>
            </a:p>
            <a:p>
              <a:pPr algn="ctr"/>
              <a:r>
                <a:rPr lang="en-US" altLang="zh-TW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(Goal: Alignment)</a:t>
              </a:r>
            </a:p>
          </p:txBody>
        </p:sp>
        <p:sp>
          <p:nvSpPr>
            <p:cNvPr id="37" name="右大括弧 36">
              <a:extLst>
                <a:ext uri="{FF2B5EF4-FFF2-40B4-BE49-F238E27FC236}">
                  <a16:creationId xmlns:a16="http://schemas.microsoft.com/office/drawing/2014/main" id="{D20F47B1-9D0B-3FB0-F3F1-472019ABA4C9}"/>
                </a:ext>
              </a:extLst>
            </p:cNvPr>
            <p:cNvSpPr/>
            <p:nvPr/>
          </p:nvSpPr>
          <p:spPr>
            <a:xfrm rot="16200000">
              <a:off x="1855526" y="2139505"/>
              <a:ext cx="153043" cy="1100372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6DAD7B2C-ECBC-5409-ACCF-C57D6A2A82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6727229"/>
              </p:ext>
            </p:extLst>
          </p:nvPr>
        </p:nvGraphicFramePr>
        <p:xfrm>
          <a:off x="6887389" y="4395160"/>
          <a:ext cx="1645051" cy="133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05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164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Functions 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Intent Parsing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Capability Matching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Dynamic Dispatching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Execution Monitoring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Update Skill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7791173"/>
                  </a:ext>
                </a:extLst>
              </a:tr>
            </a:tbl>
          </a:graphicData>
        </a:graphic>
      </p:graphicFrame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59363631-C7E6-801B-5C06-7DF922EC9AD0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1831082" y="2314941"/>
            <a:ext cx="187682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6DB8FA6F-7F2A-81B9-BC87-5C6254408307}"/>
              </a:ext>
            </a:extLst>
          </p:cNvPr>
          <p:cNvSpPr txBox="1"/>
          <p:nvPr/>
        </p:nvSpPr>
        <p:spPr>
          <a:xfrm>
            <a:off x="3905988" y="3654966"/>
            <a:ext cx="1602116" cy="748224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7200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1">
                  <a:lumMod val="75000"/>
                </a:schemeClr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E38D2852-0E50-B26A-DDD1-646A07E30642}"/>
              </a:ext>
            </a:extLst>
          </p:cNvPr>
          <p:cNvSpPr txBox="1"/>
          <p:nvPr/>
        </p:nvSpPr>
        <p:spPr>
          <a:xfrm>
            <a:off x="4395325" y="5670112"/>
            <a:ext cx="616423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E8BB46F6-04C0-304D-97C7-1C448761087C}"/>
              </a:ext>
            </a:extLst>
          </p:cNvPr>
          <p:cNvCxnSpPr>
            <a:cxnSpLocks/>
            <a:stCxn id="41" idx="0"/>
            <a:endCxn id="4" idx="2"/>
          </p:cNvCxnSpPr>
          <p:nvPr/>
        </p:nvCxnSpPr>
        <p:spPr>
          <a:xfrm flipV="1">
            <a:off x="4703537" y="5292341"/>
            <a:ext cx="0" cy="37777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96A1C980-1A1E-0E55-BF8E-AC7D7F8FA548}"/>
              </a:ext>
            </a:extLst>
          </p:cNvPr>
          <p:cNvCxnSpPr>
            <a:cxnSpLocks/>
            <a:stCxn id="4" idx="0"/>
            <a:endCxn id="70" idx="3"/>
          </p:cNvCxnSpPr>
          <p:nvPr/>
        </p:nvCxnSpPr>
        <p:spPr>
          <a:xfrm rot="16200000" flipH="1">
            <a:off x="4730848" y="3257673"/>
            <a:ext cx="1521033" cy="1575656"/>
          </a:xfrm>
          <a:prstGeom prst="bentConnector4">
            <a:avLst>
              <a:gd name="adj1" fmla="val -15029"/>
              <a:gd name="adj2" fmla="val 127967"/>
            </a:avLst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菱形 69">
            <a:extLst>
              <a:ext uri="{FF2B5EF4-FFF2-40B4-BE49-F238E27FC236}">
                <a16:creationId xmlns:a16="http://schemas.microsoft.com/office/drawing/2014/main" id="{C103C3EA-9A2B-56B2-71C8-2DC4B5A44B88}"/>
              </a:ext>
            </a:extLst>
          </p:cNvPr>
          <p:cNvSpPr/>
          <p:nvPr/>
        </p:nvSpPr>
        <p:spPr>
          <a:xfrm>
            <a:off x="5868144" y="4598859"/>
            <a:ext cx="411049" cy="414317"/>
          </a:xfrm>
          <a:prstGeom prst="diamond">
            <a:avLst/>
          </a:prstGeom>
          <a:solidFill>
            <a:schemeClr val="bg1">
              <a:lumMod val="95000"/>
              <a:alpha val="9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Execution</a:t>
            </a:r>
          </a:p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Monitoring</a:t>
            </a:r>
            <a:endParaRPr lang="zh-TW" altLang="en-US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3" name="箭號: 向下 62">
            <a:extLst>
              <a:ext uri="{FF2B5EF4-FFF2-40B4-BE49-F238E27FC236}">
                <a16:creationId xmlns:a16="http://schemas.microsoft.com/office/drawing/2014/main" id="{F48C7747-863B-73B4-1013-B33EDF23A7A2}"/>
              </a:ext>
            </a:extLst>
          </p:cNvPr>
          <p:cNvSpPr/>
          <p:nvPr/>
        </p:nvSpPr>
        <p:spPr>
          <a:xfrm rot="10800000">
            <a:off x="5004049" y="3361821"/>
            <a:ext cx="325849" cy="356790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9" name="箭號: 向下 58">
            <a:extLst>
              <a:ext uri="{FF2B5EF4-FFF2-40B4-BE49-F238E27FC236}">
                <a16:creationId xmlns:a16="http://schemas.microsoft.com/office/drawing/2014/main" id="{F947BFCB-E126-A288-3F5F-5B82F85DC58F}"/>
              </a:ext>
            </a:extLst>
          </p:cNvPr>
          <p:cNvSpPr/>
          <p:nvPr/>
        </p:nvSpPr>
        <p:spPr>
          <a:xfrm rot="10800000">
            <a:off x="4030127" y="3361825"/>
            <a:ext cx="325849" cy="356786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90" name="接點: 肘形 89">
            <a:extLst>
              <a:ext uri="{FF2B5EF4-FFF2-40B4-BE49-F238E27FC236}">
                <a16:creationId xmlns:a16="http://schemas.microsoft.com/office/drawing/2014/main" id="{860BF17A-3A43-8200-7E8F-A0E51B403159}"/>
              </a:ext>
            </a:extLst>
          </p:cNvPr>
          <p:cNvCxnSpPr>
            <a:cxnSpLocks/>
            <a:stCxn id="70" idx="1"/>
            <a:endCxn id="128" idx="2"/>
          </p:cNvCxnSpPr>
          <p:nvPr/>
        </p:nvCxnSpPr>
        <p:spPr>
          <a:xfrm rot="10800000">
            <a:off x="4691460" y="4581128"/>
            <a:ext cx="1176685" cy="224890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箭號: 向下 100">
            <a:extLst>
              <a:ext uri="{FF2B5EF4-FFF2-40B4-BE49-F238E27FC236}">
                <a16:creationId xmlns:a16="http://schemas.microsoft.com/office/drawing/2014/main" id="{740A28A5-004A-1140-2753-AD03B5752A44}"/>
              </a:ext>
            </a:extLst>
          </p:cNvPr>
          <p:cNvSpPr/>
          <p:nvPr/>
        </p:nvSpPr>
        <p:spPr>
          <a:xfrm rot="10800000">
            <a:off x="4534183" y="3382098"/>
            <a:ext cx="325849" cy="356789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28" name="菱形 127">
            <a:extLst>
              <a:ext uri="{FF2B5EF4-FFF2-40B4-BE49-F238E27FC236}">
                <a16:creationId xmlns:a16="http://schemas.microsoft.com/office/drawing/2014/main" id="{056CEF72-D817-DA77-D783-EA6E90469BE3}"/>
              </a:ext>
            </a:extLst>
          </p:cNvPr>
          <p:cNvSpPr/>
          <p:nvPr/>
        </p:nvSpPr>
        <p:spPr>
          <a:xfrm>
            <a:off x="4485934" y="4166811"/>
            <a:ext cx="411049" cy="414317"/>
          </a:xfrm>
          <a:prstGeom prst="diamond">
            <a:avLst/>
          </a:prstGeom>
          <a:solidFill>
            <a:schemeClr val="bg1">
              <a:lumMod val="95000"/>
              <a:alpha val="9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Intent</a:t>
            </a:r>
          </a:p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Parsing</a:t>
            </a:r>
            <a:endParaRPr lang="zh-TW" altLang="en-US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4DBC00A6-140D-02C8-ACC8-59862488BAFA}"/>
              </a:ext>
            </a:extLst>
          </p:cNvPr>
          <p:cNvSpPr txBox="1"/>
          <p:nvPr/>
        </p:nvSpPr>
        <p:spPr>
          <a:xfrm>
            <a:off x="4355976" y="3789040"/>
            <a:ext cx="706147" cy="4539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</a:p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Router</a:t>
            </a:r>
          </a:p>
        </p:txBody>
      </p:sp>
      <p:cxnSp>
        <p:nvCxnSpPr>
          <p:cNvPr id="169" name="接點: 肘形 168">
            <a:extLst>
              <a:ext uri="{FF2B5EF4-FFF2-40B4-BE49-F238E27FC236}">
                <a16:creationId xmlns:a16="http://schemas.microsoft.com/office/drawing/2014/main" id="{CD0DEFC5-0B24-936F-DA7E-42881C2850C2}"/>
              </a:ext>
            </a:extLst>
          </p:cNvPr>
          <p:cNvCxnSpPr>
            <a:cxnSpLocks/>
            <a:stCxn id="31" idx="1"/>
            <a:endCxn id="10" idx="0"/>
          </p:cNvCxnSpPr>
          <p:nvPr/>
        </p:nvCxnSpPr>
        <p:spPr>
          <a:xfrm rot="10800000" flipV="1">
            <a:off x="2050743" y="3498452"/>
            <a:ext cx="938755" cy="146572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接點: 肘形 170">
            <a:extLst>
              <a:ext uri="{FF2B5EF4-FFF2-40B4-BE49-F238E27FC236}">
                <a16:creationId xmlns:a16="http://schemas.microsoft.com/office/drawing/2014/main" id="{6170D0D7-839B-02D8-7BA7-59D19B314486}"/>
              </a:ext>
            </a:extLst>
          </p:cNvPr>
          <p:cNvCxnSpPr>
            <a:cxnSpLocks/>
            <a:stCxn id="19" idx="3"/>
            <a:endCxn id="12" idx="0"/>
          </p:cNvCxnSpPr>
          <p:nvPr/>
        </p:nvCxnSpPr>
        <p:spPr>
          <a:xfrm>
            <a:off x="5508104" y="4029078"/>
            <a:ext cx="2201810" cy="366082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文字方塊 175">
            <a:extLst>
              <a:ext uri="{FF2B5EF4-FFF2-40B4-BE49-F238E27FC236}">
                <a16:creationId xmlns:a16="http://schemas.microsoft.com/office/drawing/2014/main" id="{7DEA0D74-EF3B-9C8A-F84C-2F323131741D}"/>
              </a:ext>
            </a:extLst>
          </p:cNvPr>
          <p:cNvSpPr txBox="1"/>
          <p:nvPr/>
        </p:nvSpPr>
        <p:spPr>
          <a:xfrm>
            <a:off x="2989497" y="3645024"/>
            <a:ext cx="764323" cy="368208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LLM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(Inference)</a:t>
            </a:r>
          </a:p>
        </p:txBody>
      </p:sp>
      <p:sp>
        <p:nvSpPr>
          <p:cNvPr id="6" name="語音泡泡: 圓角矩形 5">
            <a:extLst>
              <a:ext uri="{FF2B5EF4-FFF2-40B4-BE49-F238E27FC236}">
                <a16:creationId xmlns:a16="http://schemas.microsoft.com/office/drawing/2014/main" id="{905E2150-432D-233C-0E0E-6B9259F5B0F8}"/>
              </a:ext>
            </a:extLst>
          </p:cNvPr>
          <p:cNvSpPr/>
          <p:nvPr/>
        </p:nvSpPr>
        <p:spPr>
          <a:xfrm>
            <a:off x="3203848" y="4742039"/>
            <a:ext cx="1149254" cy="703185"/>
          </a:xfrm>
          <a:prstGeom prst="wedgeRoundRectCallout">
            <a:avLst>
              <a:gd name="adj1" fmla="val 37486"/>
              <a:gd name="adj2" fmla="val 79865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Anything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interesting</a:t>
            </a:r>
            <a:endParaRPr kumimoji="0" lang="en-US" altLang="zh-TW" sz="12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today?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ABBE1A47-340D-F018-875C-126691CF8304}"/>
              </a:ext>
            </a:extLst>
          </p:cNvPr>
          <p:cNvSpPr txBox="1"/>
          <p:nvPr/>
        </p:nvSpPr>
        <p:spPr>
          <a:xfrm>
            <a:off x="2989497" y="4060993"/>
            <a:ext cx="764323" cy="368208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Skill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(Tools)</a:t>
            </a:r>
          </a:p>
        </p:txBody>
      </p:sp>
    </p:spTree>
    <p:extLst>
      <p:ext uri="{BB962C8B-B14F-4D97-AF65-F5344CB8AC3E}">
        <p14:creationId xmlns:p14="http://schemas.microsoft.com/office/powerpoint/2010/main" val="509152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B8E9871D-CD28-29D2-C3B9-17959FEDFB46}"/>
              </a:ext>
            </a:extLst>
          </p:cNvPr>
          <p:cNvSpPr/>
          <p:nvPr/>
        </p:nvSpPr>
        <p:spPr>
          <a:xfrm>
            <a:off x="6403176" y="1978558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A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E4FB350E-E1A8-F9B4-5833-A320C32EEA10}"/>
              </a:ext>
            </a:extLst>
          </p:cNvPr>
          <p:cNvSpPr/>
          <p:nvPr/>
        </p:nvSpPr>
        <p:spPr>
          <a:xfrm>
            <a:off x="6403176" y="2630471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B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7" name="矩形: 圓角 66">
            <a:extLst>
              <a:ext uri="{FF2B5EF4-FFF2-40B4-BE49-F238E27FC236}">
                <a16:creationId xmlns:a16="http://schemas.microsoft.com/office/drawing/2014/main" id="{EFC7C74A-E190-637E-58B5-5EAE6F819354}"/>
              </a:ext>
            </a:extLst>
          </p:cNvPr>
          <p:cNvSpPr/>
          <p:nvPr/>
        </p:nvSpPr>
        <p:spPr>
          <a:xfrm>
            <a:off x="6403176" y="3276045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C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6B6C4F2-3F1E-6AE2-7DFF-8F6FA04D2EDF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134" name="矩形: 圓角 133">
            <a:extLst>
              <a:ext uri="{FF2B5EF4-FFF2-40B4-BE49-F238E27FC236}">
                <a16:creationId xmlns:a16="http://schemas.microsoft.com/office/drawing/2014/main" id="{202C397C-75BA-F777-FD3B-5046214DE27F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AAD28DF-6498-6387-F96E-656B98F80A89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5C031ACB-F901-E82F-EC14-CA1BE0422B34}"/>
              </a:ext>
            </a:extLst>
          </p:cNvPr>
          <p:cNvCxnSpPr>
            <a:cxnSpLocks/>
            <a:stCxn id="9" idx="0"/>
            <a:endCxn id="16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圖形 23" descr="資料庫 外框">
            <a:extLst>
              <a:ext uri="{FF2B5EF4-FFF2-40B4-BE49-F238E27FC236}">
                <a16:creationId xmlns:a16="http://schemas.microsoft.com/office/drawing/2014/main" id="{D596727D-E562-6026-F9B1-9D1D9C425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07341" y="3329203"/>
            <a:ext cx="339828" cy="379784"/>
          </a:xfrm>
          <a:prstGeom prst="rect">
            <a:avLst/>
          </a:prstGeom>
        </p:spPr>
      </p:pic>
      <p:pic>
        <p:nvPicPr>
          <p:cNvPr id="38" name="圖形 37" descr="雲層雷雨交加 外框">
            <a:extLst>
              <a:ext uri="{FF2B5EF4-FFF2-40B4-BE49-F238E27FC236}">
                <a16:creationId xmlns:a16="http://schemas.microsoft.com/office/drawing/2014/main" id="{346A6EC7-751C-4D36-7261-2A593AC177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8668" y="2032433"/>
            <a:ext cx="361764" cy="379783"/>
          </a:xfrm>
          <a:prstGeom prst="rect">
            <a:avLst/>
          </a:prstGeom>
          <a:effectLst>
            <a:glow rad="127000">
              <a:schemeClr val="accent5">
                <a:lumMod val="40000"/>
                <a:lumOff val="60000"/>
              </a:schemeClr>
            </a:glow>
          </a:effectLst>
        </p:spPr>
      </p:pic>
      <p:pic>
        <p:nvPicPr>
          <p:cNvPr id="52" name="圖形 51" descr="卷軸 以實心填滿">
            <a:extLst>
              <a:ext uri="{FF2B5EF4-FFF2-40B4-BE49-F238E27FC236}">
                <a16:creationId xmlns:a16="http://schemas.microsoft.com/office/drawing/2014/main" id="{F6CA5A40-9982-0F14-63E4-B4D6B3029F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80650" y="2682175"/>
            <a:ext cx="379782" cy="354089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48EC587F-29DE-2F04-46FF-CEDC728BDC5D}"/>
              </a:ext>
            </a:extLst>
          </p:cNvPr>
          <p:cNvSpPr txBox="1"/>
          <p:nvPr/>
        </p:nvSpPr>
        <p:spPr>
          <a:xfrm>
            <a:off x="7983304" y="3654286"/>
            <a:ext cx="549136" cy="39682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Remote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service</a:t>
            </a: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F325E1DC-6674-E4D2-2281-E8E06C60DAD2}"/>
              </a:ext>
            </a:extLst>
          </p:cNvPr>
          <p:cNvCxnSpPr>
            <a:cxnSpLocks/>
            <a:stCxn id="38" idx="1"/>
            <a:endCxn id="34" idx="3"/>
          </p:cNvCxnSpPr>
          <p:nvPr/>
        </p:nvCxnSpPr>
        <p:spPr>
          <a:xfrm flipH="1" flipV="1">
            <a:off x="7416633" y="2219159"/>
            <a:ext cx="682035" cy="316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5CBD3571-7A57-2216-0FE5-E2ABCD70BF10}"/>
              </a:ext>
            </a:extLst>
          </p:cNvPr>
          <p:cNvSpPr txBox="1"/>
          <p:nvPr/>
        </p:nvSpPr>
        <p:spPr>
          <a:xfrm>
            <a:off x="7524324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Open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Data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ECB804E9-3D17-8FB5-E2A2-F10ADE974A47}"/>
              </a:ext>
            </a:extLst>
          </p:cNvPr>
          <p:cNvCxnSpPr>
            <a:cxnSpLocks/>
            <a:stCxn id="52" idx="1"/>
            <a:endCxn id="63" idx="3"/>
          </p:cNvCxnSpPr>
          <p:nvPr/>
        </p:nvCxnSpPr>
        <p:spPr>
          <a:xfrm flipH="1">
            <a:off x="7416633" y="2859220"/>
            <a:ext cx="664017" cy="1185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1565FD56-B192-9E72-AC7B-EF7FFEEA267B}"/>
              </a:ext>
            </a:extLst>
          </p:cNvPr>
          <p:cNvSpPr txBox="1"/>
          <p:nvPr/>
        </p:nvSpPr>
        <p:spPr>
          <a:xfrm>
            <a:off x="7547182" y="2689285"/>
            <a:ext cx="481202" cy="3447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GitHub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Projects</a:t>
            </a: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F7C38374-13EF-8444-DFEB-5FD1DE9489CF}"/>
              </a:ext>
            </a:extLst>
          </p:cNvPr>
          <p:cNvCxnSpPr>
            <a:cxnSpLocks/>
            <a:stCxn id="24" idx="1"/>
            <a:endCxn id="67" idx="3"/>
          </p:cNvCxnSpPr>
          <p:nvPr/>
        </p:nvCxnSpPr>
        <p:spPr>
          <a:xfrm flipH="1" flipV="1">
            <a:off x="7416633" y="3516646"/>
            <a:ext cx="690708" cy="244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732D365C-E0C0-4480-5F30-50A8AB418212}"/>
              </a:ext>
            </a:extLst>
          </p:cNvPr>
          <p:cNvSpPr txBox="1"/>
          <p:nvPr/>
        </p:nvSpPr>
        <p:spPr>
          <a:xfrm>
            <a:off x="7547182" y="3284984"/>
            <a:ext cx="481202" cy="26024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Database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C35C377F-104F-EB33-BFCB-9776ED9FED54}"/>
              </a:ext>
            </a:extLst>
          </p:cNvPr>
          <p:cNvSpPr/>
          <p:nvPr/>
        </p:nvSpPr>
        <p:spPr>
          <a:xfrm>
            <a:off x="4896241" y="2625546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2" name="矩形: 圓角 91">
            <a:extLst>
              <a:ext uri="{FF2B5EF4-FFF2-40B4-BE49-F238E27FC236}">
                <a16:creationId xmlns:a16="http://schemas.microsoft.com/office/drawing/2014/main" id="{0F1F2219-D782-334F-44BA-F7E58D8E34C3}"/>
              </a:ext>
            </a:extLst>
          </p:cNvPr>
          <p:cNvSpPr/>
          <p:nvPr/>
        </p:nvSpPr>
        <p:spPr>
          <a:xfrm>
            <a:off x="4896241" y="3271120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2" name="直線單箭頭接點 101">
            <a:extLst>
              <a:ext uri="{FF2B5EF4-FFF2-40B4-BE49-F238E27FC236}">
                <a16:creationId xmlns:a16="http://schemas.microsoft.com/office/drawing/2014/main" id="{B5FECA90-B6A6-D5DE-34B7-0D2458B6B40E}"/>
              </a:ext>
            </a:extLst>
          </p:cNvPr>
          <p:cNvCxnSpPr>
            <a:cxnSpLocks/>
            <a:stCxn id="34" idx="1"/>
            <a:endCxn id="36" idx="3"/>
          </p:cNvCxnSpPr>
          <p:nvPr/>
        </p:nvCxnSpPr>
        <p:spPr>
          <a:xfrm flipH="1">
            <a:off x="5400930" y="2219159"/>
            <a:ext cx="1002246" cy="358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4B3B2844-3ED2-2107-9FA2-DDE0A38496FF}"/>
              </a:ext>
            </a:extLst>
          </p:cNvPr>
          <p:cNvCxnSpPr>
            <a:cxnSpLocks/>
            <a:stCxn id="63" idx="1"/>
            <a:endCxn id="89" idx="3"/>
          </p:cNvCxnSpPr>
          <p:nvPr/>
        </p:nvCxnSpPr>
        <p:spPr>
          <a:xfrm flipH="1" flipV="1">
            <a:off x="5400930" y="2869728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線單箭頭接點 107">
            <a:extLst>
              <a:ext uri="{FF2B5EF4-FFF2-40B4-BE49-F238E27FC236}">
                <a16:creationId xmlns:a16="http://schemas.microsoft.com/office/drawing/2014/main" id="{DF5897A3-59AB-2800-B47B-61BAA4BE06CA}"/>
              </a:ext>
            </a:extLst>
          </p:cNvPr>
          <p:cNvCxnSpPr>
            <a:cxnSpLocks/>
            <a:stCxn id="67" idx="1"/>
            <a:endCxn id="92" idx="3"/>
          </p:cNvCxnSpPr>
          <p:nvPr/>
        </p:nvCxnSpPr>
        <p:spPr>
          <a:xfrm flipH="1" flipV="1">
            <a:off x="5400930" y="3515302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CA7D7BF-DBE4-058F-367A-8356FF5D7ACD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DCAF35C5-5518-CDF2-1AC5-4528F8B47E2A}"/>
              </a:ext>
            </a:extLst>
          </p:cNvPr>
          <p:cNvSpPr txBox="1"/>
          <p:nvPr/>
        </p:nvSpPr>
        <p:spPr>
          <a:xfrm>
            <a:off x="5651487" y="2708711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B27DB76A-51FC-8DE5-1DF8-7871A37C702C}"/>
              </a:ext>
            </a:extLst>
          </p:cNvPr>
          <p:cNvSpPr txBox="1"/>
          <p:nvPr/>
        </p:nvSpPr>
        <p:spPr>
          <a:xfrm>
            <a:off x="5651487" y="3367958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27" name="標題 1">
            <a:extLst>
              <a:ext uri="{FF2B5EF4-FFF2-40B4-BE49-F238E27FC236}">
                <a16:creationId xmlns:a16="http://schemas.microsoft.com/office/drawing/2014/main" id="{714FED49-EBEA-804C-277F-87FC8CCB523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 Context Protocol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MCP enables AI Agents to connect with external tools and data sources.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22" name="圖形 121" descr="科學思想 以實心填滿">
            <a:extLst>
              <a:ext uri="{FF2B5EF4-FFF2-40B4-BE49-F238E27FC236}">
                <a16:creationId xmlns:a16="http://schemas.microsoft.com/office/drawing/2014/main" id="{53EAAAE7-6160-7CCC-5A4B-4BE4A3A490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1A54FABB-C12D-2671-5993-08851B7C76B4}"/>
              </a:ext>
            </a:extLst>
          </p:cNvPr>
          <p:cNvCxnSpPr>
            <a:cxnSpLocks/>
            <a:stCxn id="36" idx="1"/>
            <a:endCxn id="51" idx="0"/>
          </p:cNvCxnSpPr>
          <p:nvPr/>
        </p:nvCxnSpPr>
        <p:spPr>
          <a:xfrm rot="10800000">
            <a:off x="2253519" y="2108845"/>
            <a:ext cx="2642722" cy="11389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圖形 32" descr="伺服器 外框">
            <a:extLst>
              <a:ext uri="{FF2B5EF4-FFF2-40B4-BE49-F238E27FC236}">
                <a16:creationId xmlns:a16="http://schemas.microsoft.com/office/drawing/2014/main" id="{B7443F36-B2FC-CB85-E4F0-451C548355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pic>
        <p:nvPicPr>
          <p:cNvPr id="64" name="圖形 63" descr="伺服器 外框">
            <a:extLst>
              <a:ext uri="{FF2B5EF4-FFF2-40B4-BE49-F238E27FC236}">
                <a16:creationId xmlns:a16="http://schemas.microsoft.com/office/drawing/2014/main" id="{806998D7-3658-0790-4F9D-0B45384B40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673936"/>
            <a:ext cx="379782" cy="379782"/>
          </a:xfrm>
          <a:prstGeom prst="rect">
            <a:avLst/>
          </a:prstGeom>
        </p:spPr>
      </p:pic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1D96CDB2-5F83-291C-71A2-055C73A7E0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19510"/>
            <a:ext cx="379782" cy="379782"/>
          </a:xfrm>
          <a:prstGeom prst="rect">
            <a:avLst/>
          </a:prstGeom>
        </p:spPr>
      </p:pic>
      <p:cxnSp>
        <p:nvCxnSpPr>
          <p:cNvPr id="129" name="直線單箭頭接點 128">
            <a:extLst>
              <a:ext uri="{FF2B5EF4-FFF2-40B4-BE49-F238E27FC236}">
                <a16:creationId xmlns:a16="http://schemas.microsoft.com/office/drawing/2014/main" id="{827A2D18-C4EC-8149-F151-65A9F46CB2F8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文字方塊 140">
            <a:extLst>
              <a:ext uri="{FF2B5EF4-FFF2-40B4-BE49-F238E27FC236}">
                <a16:creationId xmlns:a16="http://schemas.microsoft.com/office/drawing/2014/main" id="{0F66A28B-877E-790B-E5AB-98F5C06EAAA8}"/>
              </a:ext>
            </a:extLst>
          </p:cNvPr>
          <p:cNvSpPr txBox="1"/>
          <p:nvPr/>
        </p:nvSpPr>
        <p:spPr>
          <a:xfrm>
            <a:off x="2222968" y="3003255"/>
            <a:ext cx="1224935" cy="42574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“The share price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is $300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BEE30526-718C-1AFB-A5C7-9709765E6B51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51" name="雲朵形 50">
              <a:extLst>
                <a:ext uri="{FF2B5EF4-FFF2-40B4-BE49-F238E27FC236}">
                  <a16:creationId xmlns:a16="http://schemas.microsoft.com/office/drawing/2014/main" id="{068ED43E-E3BC-FB12-2DE6-452E2E4EDCB0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A73A3A98-EF76-CBC8-28B7-D5216CD68F70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166" name="矩形: 圓角 165">
              <a:extLst>
                <a:ext uri="{FF2B5EF4-FFF2-40B4-BE49-F238E27FC236}">
                  <a16:creationId xmlns:a16="http://schemas.microsoft.com/office/drawing/2014/main" id="{4C2F2724-9C95-61E4-4E18-182C73598EEB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D82BC7A5-7FA1-4BBA-BF68-A20F3FC56D5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151" name="圖形 150" descr="原子 以實心填滿">
              <a:extLst>
                <a:ext uri="{FF2B5EF4-FFF2-40B4-BE49-F238E27FC236}">
                  <a16:creationId xmlns:a16="http://schemas.microsoft.com/office/drawing/2014/main" id="{B4A2124C-0737-AE16-69D0-A17BAB9128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5501C6B9-6DCD-10E9-0C12-453A6A83823F}"/>
              </a:ext>
            </a:extLst>
          </p:cNvPr>
          <p:cNvSpPr txBox="1"/>
          <p:nvPr/>
        </p:nvSpPr>
        <p:spPr>
          <a:xfrm>
            <a:off x="213023" y="5048016"/>
            <a:ext cx="702327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Steps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Initialization &amp; Discovery</a:t>
            </a:r>
            <a:r>
              <a:rPr lang="en-US" altLang="zh-TW" sz="1600" b="0" u="none" strike="noStrike" dirty="0">
                <a:effectLst/>
              </a:rPr>
              <a:t>: MCP server provides tool schemas to the host.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Reasoning &amp; Tool Call</a:t>
            </a:r>
            <a:r>
              <a:rPr lang="en-US" altLang="zh-TW" sz="1600" b="0" u="none" strike="noStrike" dirty="0">
                <a:effectLst/>
              </a:rPr>
              <a:t>: LLM sends request to MCP server.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Execution &amp; Injection</a:t>
            </a:r>
            <a:r>
              <a:rPr lang="en-US" altLang="zh-TW" sz="1600" dirty="0"/>
              <a:t>: Server returns data to host for LLM context injection.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44BE3D63-325C-6AE3-8931-2C86EFB41E5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A]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[350]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5">
                  <a:lumMod val="75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D840E78-A210-D6AF-34FA-E25B15F7C188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BCBF1B2A-C695-3EF2-5516-914B7DA9FBC2}"/>
              </a:ext>
            </a:extLst>
          </p:cNvPr>
          <p:cNvSpPr/>
          <p:nvPr/>
        </p:nvSpPr>
        <p:spPr>
          <a:xfrm>
            <a:off x="4896241" y="19785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FC1A4AD5-EB90-7718-C060-348E600A7CF2}"/>
              </a:ext>
            </a:extLst>
          </p:cNvPr>
          <p:cNvCxnSpPr>
            <a:cxnSpLocks/>
            <a:stCxn id="122" idx="1"/>
            <a:endCxn id="166" idx="2"/>
          </p:cNvCxnSpPr>
          <p:nvPr/>
        </p:nvCxnSpPr>
        <p:spPr>
          <a:xfrm rot="10800000">
            <a:off x="1460467" y="2506646"/>
            <a:ext cx="2644361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語音泡泡: 圓角矩形 11">
            <a:extLst>
              <a:ext uri="{FF2B5EF4-FFF2-40B4-BE49-F238E27FC236}">
                <a16:creationId xmlns:a16="http://schemas.microsoft.com/office/drawing/2014/main" id="{04A1D9BB-D006-4486-9C4F-2B7ACF469AE1}"/>
              </a:ext>
            </a:extLst>
          </p:cNvPr>
          <p:cNvSpPr/>
          <p:nvPr/>
        </p:nvSpPr>
        <p:spPr>
          <a:xfrm>
            <a:off x="2987824" y="3733927"/>
            <a:ext cx="1149254" cy="703185"/>
          </a:xfrm>
          <a:prstGeom prst="wedgeRoundRectCallout">
            <a:avLst>
              <a:gd name="adj1" fmla="val 64836"/>
              <a:gd name="adj2" fmla="val 3922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What is TSMC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Trading at?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9278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18276-D0C6-01E6-A681-1240666C0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B6A8BEEF-A7AC-4877-7FC2-EFF0EC3A6A55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BAC03CC8-25FD-DD77-EFCD-8368C75E36C3}"/>
              </a:ext>
            </a:extLst>
          </p:cNvPr>
          <p:cNvSpPr txBox="1"/>
          <p:nvPr/>
        </p:nvSpPr>
        <p:spPr>
          <a:xfrm>
            <a:off x="213023" y="5048016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AI Agent Skills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Autonomous Task Execution:</a:t>
            </a:r>
            <a:r>
              <a:rPr lang="en-US" altLang="zh-TW" sz="1600" dirty="0"/>
              <a:t> Empowers AI to move beyond text and directly trigger actions.</a:t>
            </a:r>
            <a:endParaRPr lang="en-US" altLang="zh-TW" sz="1600" b="0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Secure Guardrail Enforcement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en-US" altLang="zh-TW" sz="1600" dirty="0"/>
              <a:t>Restricts AI behavior within save boundaries</a:t>
            </a:r>
            <a:r>
              <a:rPr lang="en-US" altLang="zh-TW" sz="1600" b="0" u="none" strike="noStrike" dirty="0">
                <a:effectLst/>
              </a:rPr>
              <a:t>.</a:t>
            </a:r>
          </a:p>
        </p:txBody>
      </p:sp>
      <p:cxnSp>
        <p:nvCxnSpPr>
          <p:cNvPr id="14" name="接點: 肘形 13">
            <a:extLst>
              <a:ext uri="{FF2B5EF4-FFF2-40B4-BE49-F238E27FC236}">
                <a16:creationId xmlns:a16="http://schemas.microsoft.com/office/drawing/2014/main" id="{FCBB867C-B370-A696-60AA-155EDB4A15BB}"/>
              </a:ext>
            </a:extLst>
          </p:cNvPr>
          <p:cNvCxnSpPr>
            <a:cxnSpLocks/>
            <a:stCxn id="44" idx="1"/>
            <a:endCxn id="20" idx="0"/>
          </p:cNvCxnSpPr>
          <p:nvPr/>
        </p:nvCxnSpPr>
        <p:spPr>
          <a:xfrm rot="10800000">
            <a:off x="2253519" y="2108845"/>
            <a:ext cx="2642722" cy="11031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55238258-F5F8-B671-A8F4-1A0EFAA5AD94}"/>
              </a:ext>
            </a:extLst>
          </p:cNvPr>
          <p:cNvCxnSpPr>
            <a:cxnSpLocks/>
            <a:endCxn id="22" idx="2"/>
          </p:cNvCxnSpPr>
          <p:nvPr/>
        </p:nvCxnSpPr>
        <p:spPr>
          <a:xfrm rot="10800000">
            <a:off x="1460467" y="2506646"/>
            <a:ext cx="2607519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8E0D88E3-76C4-35F7-8D64-BB0751387405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A240268A-08D1-72C5-DEDE-862B010C1800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20" name="雲朵形 19">
              <a:extLst>
                <a:ext uri="{FF2B5EF4-FFF2-40B4-BE49-F238E27FC236}">
                  <a16:creationId xmlns:a16="http://schemas.microsoft.com/office/drawing/2014/main" id="{B443BC11-6CD8-93A3-9CAD-ED23FA535DD1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CDC53BB1-745C-28C9-2C0E-D684A1D58F55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EDF613AB-BC81-FE68-9EB4-CB6A8217F91D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1E5A1D11-8016-FA22-5DDF-98EDEFD49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24" name="圖形 23" descr="原子 以實心填滿">
              <a:extLst>
                <a:ext uri="{FF2B5EF4-FFF2-40B4-BE49-F238E27FC236}">
                  <a16:creationId xmlns:a16="http://schemas.microsoft.com/office/drawing/2014/main" id="{45DF5554-C31D-8B87-5ED6-038581B276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8" name="標題 1">
            <a:extLst>
              <a:ext uri="{FF2B5EF4-FFF2-40B4-BE49-F238E27FC236}">
                <a16:creationId xmlns:a16="http://schemas.microsoft.com/office/drawing/2014/main" id="{D3E7AE70-36F7-0237-B3F5-AF84E381DE6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Retrieval Augmented Generation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Leverages local knowledge to minimize hallucinations and deliver up-to-date, accurate responses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6C34D94-78AE-3E9A-A03A-2EAA9BA28BBD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DCF40326-B2CE-D08E-6915-55182B1D1102}"/>
              </a:ext>
            </a:extLst>
          </p:cNvPr>
          <p:cNvCxnSpPr>
            <a:cxnSpLocks/>
            <a:stCxn id="31" idx="0"/>
            <a:endCxn id="29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圖形 35" descr="科學思想 以實心填滿">
            <a:extLst>
              <a:ext uri="{FF2B5EF4-FFF2-40B4-BE49-F238E27FC236}">
                <a16:creationId xmlns:a16="http://schemas.microsoft.com/office/drawing/2014/main" id="{B10E28A7-5412-D77E-9E72-7F85025582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96AE5189-1D58-2977-92E3-469181F4EBF7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pic>
        <p:nvPicPr>
          <p:cNvPr id="61" name="圖形 60" descr="夾紙板 (徽章) 以實心填滿">
            <a:extLst>
              <a:ext uri="{FF2B5EF4-FFF2-40B4-BE49-F238E27FC236}">
                <a16:creationId xmlns:a16="http://schemas.microsoft.com/office/drawing/2014/main" id="{F0D1E6B5-1FFE-B5E9-19AE-C43372F1C0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82472" y="2023366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64" name="矩形: 圓角 63">
            <a:extLst>
              <a:ext uri="{FF2B5EF4-FFF2-40B4-BE49-F238E27FC236}">
                <a16:creationId xmlns:a16="http://schemas.microsoft.com/office/drawing/2014/main" id="{E02B4FDE-B67A-A175-1B5A-E695E67035FD}"/>
              </a:ext>
            </a:extLst>
          </p:cNvPr>
          <p:cNvSpPr/>
          <p:nvPr/>
        </p:nvSpPr>
        <p:spPr>
          <a:xfrm>
            <a:off x="6403176" y="1979901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V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8D48FECB-9789-4CFA-A699-CBD35DC82CE6}"/>
              </a:ext>
            </a:extLst>
          </p:cNvPr>
          <p:cNvCxnSpPr>
            <a:cxnSpLocks/>
            <a:stCxn id="61" idx="1"/>
            <a:endCxn id="64" idx="3"/>
          </p:cNvCxnSpPr>
          <p:nvPr/>
        </p:nvCxnSpPr>
        <p:spPr>
          <a:xfrm flipH="1">
            <a:off x="7416633" y="2220320"/>
            <a:ext cx="665839" cy="18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: 圓角 67">
            <a:extLst>
              <a:ext uri="{FF2B5EF4-FFF2-40B4-BE49-F238E27FC236}">
                <a16:creationId xmlns:a16="http://schemas.microsoft.com/office/drawing/2014/main" id="{1274870D-ED0F-57B5-50E7-8CF0BCE4633D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9" name="直線單箭頭接點 68">
            <a:extLst>
              <a:ext uri="{FF2B5EF4-FFF2-40B4-BE49-F238E27FC236}">
                <a16:creationId xmlns:a16="http://schemas.microsoft.com/office/drawing/2014/main" id="{1B131FB0-7734-66F3-A446-5F58EF4CC2FD}"/>
              </a:ext>
            </a:extLst>
          </p:cNvPr>
          <p:cNvCxnSpPr>
            <a:cxnSpLocks/>
            <a:stCxn id="64" idx="1"/>
            <a:endCxn id="68" idx="3"/>
          </p:cNvCxnSpPr>
          <p:nvPr/>
        </p:nvCxnSpPr>
        <p:spPr>
          <a:xfrm flipH="1" flipV="1">
            <a:off x="5400930" y="2219159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F6046C92-3712-82D8-0ECA-E8E22AC4717F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4CF3848B-7662-CE06-F590-C873A38CF0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sp>
        <p:nvSpPr>
          <p:cNvPr id="77" name="文字方塊 76">
            <a:extLst>
              <a:ext uri="{FF2B5EF4-FFF2-40B4-BE49-F238E27FC236}">
                <a16:creationId xmlns:a16="http://schemas.microsoft.com/office/drawing/2014/main" id="{64601706-CC3D-6433-8954-5A08DEFB2082}"/>
              </a:ext>
            </a:extLst>
          </p:cNvPr>
          <p:cNvSpPr txBox="1"/>
          <p:nvPr/>
        </p:nvSpPr>
        <p:spPr>
          <a:xfrm>
            <a:off x="7569153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Search</a:t>
            </a:r>
            <a:br>
              <a:rPr lang="en-US" altLang="zh-TW" sz="1000" dirty="0">
                <a:ea typeface="Meiryo" panose="020B0604030504040204" pitchFamily="34" charset="-128"/>
              </a:rPr>
            </a:br>
            <a:r>
              <a:rPr lang="en-US" altLang="zh-TW" sz="1000" dirty="0">
                <a:ea typeface="Meiryo" panose="020B0604030504040204" pitchFamily="34" charset="-128"/>
              </a:rPr>
              <a:t>Enterprise</a:t>
            </a:r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07ABF40E-5394-A71C-4FFA-70753EF57586}"/>
              </a:ext>
            </a:extLst>
          </p:cNvPr>
          <p:cNvSpPr txBox="1"/>
          <p:nvPr/>
        </p:nvSpPr>
        <p:spPr>
          <a:xfrm>
            <a:off x="8055312" y="2435667"/>
            <a:ext cx="909176" cy="57692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Base VDB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Pinecone, </a:t>
            </a:r>
            <a:r>
              <a:rPr lang="en-US" altLang="zh-TW" sz="1000" u="none" strike="noStrike" dirty="0">
                <a:effectLst/>
              </a:rPr>
              <a:t>Milvus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o</a:t>
            </a:r>
            <a:r>
              <a:rPr lang="en-US" altLang="zh-TW" sz="1000" u="none" strike="noStrike" dirty="0">
                <a:effectLst/>
              </a:rPr>
              <a:t>r </a:t>
            </a:r>
            <a:r>
              <a:rPr lang="en-US" altLang="zh-TW" sz="1000" dirty="0"/>
              <a:t>Chroma</a:t>
            </a:r>
            <a:endParaRPr lang="en-US" altLang="zh-TW" sz="1000" u="none" strike="noStrike" dirty="0">
              <a:effectLst/>
            </a:endParaRPr>
          </a:p>
        </p:txBody>
      </p:sp>
      <p:sp>
        <p:nvSpPr>
          <p:cNvPr id="85" name="矩形: 圓角 84">
            <a:extLst>
              <a:ext uri="{FF2B5EF4-FFF2-40B4-BE49-F238E27FC236}">
                <a16:creationId xmlns:a16="http://schemas.microsoft.com/office/drawing/2014/main" id="{DABC191B-BB7F-306F-F52E-1008BDFB1F67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87" name="右大括弧 86">
            <a:extLst>
              <a:ext uri="{FF2B5EF4-FFF2-40B4-BE49-F238E27FC236}">
                <a16:creationId xmlns:a16="http://schemas.microsoft.com/office/drawing/2014/main" id="{8C8F3851-7089-F31E-32F3-53943C489D62}"/>
              </a:ext>
            </a:extLst>
          </p:cNvPr>
          <p:cNvSpPr/>
          <p:nvPr/>
        </p:nvSpPr>
        <p:spPr>
          <a:xfrm rot="5400000">
            <a:off x="6589056" y="1284486"/>
            <a:ext cx="155951" cy="2600274"/>
          </a:xfrm>
          <a:prstGeom prst="rightBrace">
            <a:avLst/>
          </a:prstGeom>
          <a:ln w="1270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BE717CBE-C730-BD84-3DD5-94676538066C}"/>
              </a:ext>
            </a:extLst>
          </p:cNvPr>
          <p:cNvSpPr txBox="1"/>
          <p:nvPr/>
        </p:nvSpPr>
        <p:spPr>
          <a:xfrm>
            <a:off x="6424454" y="2667960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ea typeface="Meiryo" panose="020B0604030504040204" pitchFamily="34" charset="-128"/>
              </a:rPr>
              <a:t>RAG</a:t>
            </a:r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AA152E9F-16DB-B89F-097B-B78A8648612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V]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3">
                  <a:lumMod val="50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[$50]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3">
                  <a:lumMod val="50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D38BE440-ABD8-7315-849A-ACCD53C42F3A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7B770F63-ED9B-A215-5A54-41A9BE18C861}"/>
              </a:ext>
            </a:extLst>
          </p:cNvPr>
          <p:cNvSpPr txBox="1"/>
          <p:nvPr/>
        </p:nvSpPr>
        <p:spPr>
          <a:xfrm>
            <a:off x="5255536" y="2667958"/>
            <a:ext cx="358640" cy="37133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Naive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RAG</a:t>
            </a:r>
          </a:p>
        </p:txBody>
      </p:sp>
      <p:pic>
        <p:nvPicPr>
          <p:cNvPr id="102" name="圖形 101" descr="夾紙板 (徽章) 以實心填滿">
            <a:extLst>
              <a:ext uri="{FF2B5EF4-FFF2-40B4-BE49-F238E27FC236}">
                <a16:creationId xmlns:a16="http://schemas.microsoft.com/office/drawing/2014/main" id="{5D513E2A-9747-3CF5-89B6-FE6821CEFC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77576" y="2656674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86C1EA06-118A-24F8-41AF-8AD48189289E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04" name="矩形: 圓角 103">
            <a:extLst>
              <a:ext uri="{FF2B5EF4-FFF2-40B4-BE49-F238E27FC236}">
                <a16:creationId xmlns:a16="http://schemas.microsoft.com/office/drawing/2014/main" id="{80734412-65B8-67C4-7DBF-92DD40DD8949}"/>
              </a:ext>
            </a:extLst>
          </p:cNvPr>
          <p:cNvSpPr/>
          <p:nvPr/>
        </p:nvSpPr>
        <p:spPr>
          <a:xfrm>
            <a:off x="6403176" y="3281883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Tool-Based</a:t>
            </a:r>
          </a:p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RAG Server</a:t>
            </a:r>
            <a:endParaRPr lang="zh-TW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6A401393-F59E-2187-4B82-2640D4FEB776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6" name="直線單箭頭接點 105">
            <a:extLst>
              <a:ext uri="{FF2B5EF4-FFF2-40B4-BE49-F238E27FC236}">
                <a16:creationId xmlns:a16="http://schemas.microsoft.com/office/drawing/2014/main" id="{A08049F4-F820-212A-4F92-FA8926031A74}"/>
              </a:ext>
            </a:extLst>
          </p:cNvPr>
          <p:cNvCxnSpPr>
            <a:cxnSpLocks/>
            <a:stCxn id="104" idx="1"/>
            <a:endCxn id="105" idx="3"/>
          </p:cNvCxnSpPr>
          <p:nvPr/>
        </p:nvCxnSpPr>
        <p:spPr>
          <a:xfrm flipH="1" flipV="1">
            <a:off x="5400930" y="3521141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1C9D6A22-5EDD-E6B8-8849-0FC406938CD9}"/>
              </a:ext>
            </a:extLst>
          </p:cNvPr>
          <p:cNvSpPr txBox="1"/>
          <p:nvPr/>
        </p:nvSpPr>
        <p:spPr>
          <a:xfrm>
            <a:off x="5651487" y="3373796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108" name="圖形 107" descr="伺服器 外框">
            <a:extLst>
              <a:ext uri="{FF2B5EF4-FFF2-40B4-BE49-F238E27FC236}">
                <a16:creationId xmlns:a16="http://schemas.microsoft.com/office/drawing/2014/main" id="{0AC1D560-71AD-50F5-B095-EE49B84459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25348"/>
            <a:ext cx="379782" cy="379782"/>
          </a:xfrm>
          <a:prstGeom prst="rect">
            <a:avLst/>
          </a:prstGeom>
        </p:spPr>
      </p:pic>
      <p:pic>
        <p:nvPicPr>
          <p:cNvPr id="113" name="圖形 112" descr="放大鏡 以實心填滿">
            <a:extLst>
              <a:ext uri="{FF2B5EF4-FFF2-40B4-BE49-F238E27FC236}">
                <a16:creationId xmlns:a16="http://schemas.microsoft.com/office/drawing/2014/main" id="{1A4AB714-5ECE-1DEE-08CC-F4B5870CCC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flipH="1">
            <a:off x="7255389" y="3357850"/>
            <a:ext cx="429694" cy="421999"/>
          </a:xfrm>
          <a:prstGeom prst="rect">
            <a:avLst/>
          </a:prstGeom>
          <a:effectLst>
            <a:glow rad="127000">
              <a:schemeClr val="accent3">
                <a:lumMod val="20000"/>
                <a:lumOff val="80000"/>
                <a:alpha val="40000"/>
              </a:schemeClr>
            </a:glow>
          </a:effectLst>
        </p:spPr>
      </p:pic>
      <p:sp>
        <p:nvSpPr>
          <p:cNvPr id="33" name="文字方塊 32">
            <a:extLst>
              <a:ext uri="{FF2B5EF4-FFF2-40B4-BE49-F238E27FC236}">
                <a16:creationId xmlns:a16="http://schemas.microsoft.com/office/drawing/2014/main" id="{A8D36140-84C1-5298-9B8F-805E9887A308}"/>
              </a:ext>
            </a:extLst>
          </p:cNvPr>
          <p:cNvSpPr txBox="1"/>
          <p:nvPr/>
        </p:nvSpPr>
        <p:spPr>
          <a:xfrm>
            <a:off x="2222968" y="3003255"/>
            <a:ext cx="1224935" cy="42574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“10 shares“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graphicFrame>
        <p:nvGraphicFramePr>
          <p:cNvPr id="35" name="表格 34">
            <a:extLst>
              <a:ext uri="{FF2B5EF4-FFF2-40B4-BE49-F238E27FC236}">
                <a16:creationId xmlns:a16="http://schemas.microsoft.com/office/drawing/2014/main" id="{DA50BB60-897A-3903-6631-883B14DA4B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9084239"/>
              </p:ext>
            </p:extLst>
          </p:nvPr>
        </p:nvGraphicFramePr>
        <p:xfrm>
          <a:off x="6403176" y="3855864"/>
          <a:ext cx="2540034" cy="8640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184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3031015462"/>
                    </a:ext>
                  </a:extLst>
                </a:gridCol>
              </a:tblGrid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Native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Rapid context retrieval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Advanced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Query rewriting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Graph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Global document insights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sp>
        <p:nvSpPr>
          <p:cNvPr id="38" name="語音泡泡: 圓角矩形 37">
            <a:extLst>
              <a:ext uri="{FF2B5EF4-FFF2-40B4-BE49-F238E27FC236}">
                <a16:creationId xmlns:a16="http://schemas.microsoft.com/office/drawing/2014/main" id="{4F6A7D48-72EC-C32D-C277-18BB4F94051E}"/>
              </a:ext>
            </a:extLst>
          </p:cNvPr>
          <p:cNvSpPr/>
          <p:nvPr/>
        </p:nvSpPr>
        <p:spPr>
          <a:xfrm>
            <a:off x="2987824" y="3733927"/>
            <a:ext cx="1149254" cy="703185"/>
          </a:xfrm>
          <a:prstGeom prst="wedgeRoundRectCallout">
            <a:avLst>
              <a:gd name="adj1" fmla="val 64836"/>
              <a:gd name="adj2" fmla="val 3922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Any money left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in the account?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27" name="語音泡泡: 圓角矩形 26">
            <a:extLst>
              <a:ext uri="{FF2B5EF4-FFF2-40B4-BE49-F238E27FC236}">
                <a16:creationId xmlns:a16="http://schemas.microsoft.com/office/drawing/2014/main" id="{6792054B-7EBC-6463-8733-4439C8EEAA86}"/>
              </a:ext>
            </a:extLst>
          </p:cNvPr>
          <p:cNvSpPr/>
          <p:nvPr/>
        </p:nvSpPr>
        <p:spPr>
          <a:xfrm>
            <a:off x="2051720" y="3284984"/>
            <a:ext cx="1155493" cy="568803"/>
          </a:xfrm>
          <a:prstGeom prst="wedgeRoundRectCallout">
            <a:avLst>
              <a:gd name="adj1" fmla="val -62522"/>
              <a:gd name="adj2" fmla="val -52287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Almost nothing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- </a:t>
            </a:r>
            <a:r>
              <a:rPr lang="en-US" altLang="zh-TW" sz="1200" dirty="0">
                <a:ln w="0"/>
                <a:solidFill>
                  <a:srgbClr val="FF0000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Calm down!</a:t>
            </a:r>
          </a:p>
        </p:txBody>
      </p:sp>
    </p:spTree>
    <p:extLst>
      <p:ext uri="{BB962C8B-B14F-4D97-AF65-F5344CB8AC3E}">
        <p14:creationId xmlns:p14="http://schemas.microsoft.com/office/powerpoint/2010/main" val="592815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030CBCA-E06F-157F-31ED-053E755AD007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Large Language Model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Tools in Ecosystem growing fast … 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3727E64D-5853-3D6E-FFA3-DE78C931C7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9515540"/>
              </p:ext>
            </p:extLst>
          </p:nvPr>
        </p:nvGraphicFramePr>
        <p:xfrm>
          <a:off x="3234163" y="3284984"/>
          <a:ext cx="2675673" cy="28605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1891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891891">
                  <a:extLst>
                    <a:ext uri="{9D8B030D-6E8A-4147-A177-3AD203B41FA5}">
                      <a16:colId xmlns:a16="http://schemas.microsoft.com/office/drawing/2014/main" val="270114478"/>
                    </a:ext>
                  </a:extLst>
                </a:gridCol>
                <a:gridCol w="891891">
                  <a:extLst>
                    <a:ext uri="{9D8B030D-6E8A-4147-A177-3AD203B41FA5}">
                      <a16:colId xmlns:a16="http://schemas.microsoft.com/office/drawing/2014/main" val="1431172380"/>
                    </a:ext>
                  </a:extLst>
                </a:gridCol>
              </a:tblGrid>
              <a:tr h="1462308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Layer</a:t>
                      </a:r>
                    </a:p>
                  </a:txBody>
                  <a:tcPr marL="0" marR="0" marT="91440" marB="0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855259384"/>
                  </a:ext>
                </a:extLst>
              </a:tr>
              <a:tr h="19725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SLM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SLM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SLM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197257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446942068"/>
                  </a:ext>
                </a:extLst>
              </a:tr>
              <a:tr h="100368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Software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Infrastructure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</a:tbl>
          </a:graphicData>
        </a:graphic>
      </p:graphicFrame>
      <p:grpSp>
        <p:nvGrpSpPr>
          <p:cNvPr id="22" name="群組 21">
            <a:extLst>
              <a:ext uri="{FF2B5EF4-FFF2-40B4-BE49-F238E27FC236}">
                <a16:creationId xmlns:a16="http://schemas.microsoft.com/office/drawing/2014/main" id="{4CAC32F8-5374-6392-FEA9-BFECB1906D74}"/>
              </a:ext>
            </a:extLst>
          </p:cNvPr>
          <p:cNvGrpSpPr/>
          <p:nvPr/>
        </p:nvGrpSpPr>
        <p:grpSpPr>
          <a:xfrm>
            <a:off x="3245714" y="3861048"/>
            <a:ext cx="1614318" cy="720080"/>
            <a:chOff x="5985884" y="3911212"/>
            <a:chExt cx="1738969" cy="720080"/>
          </a:xfrm>
        </p:grpSpPr>
        <p:sp>
          <p:nvSpPr>
            <p:cNvPr id="6" name="語音泡泡: 圓角矩形 5">
              <a:extLst>
                <a:ext uri="{FF2B5EF4-FFF2-40B4-BE49-F238E27FC236}">
                  <a16:creationId xmlns:a16="http://schemas.microsoft.com/office/drawing/2014/main" id="{F91AC911-0D1C-DF7D-DA5F-71B189376E62}"/>
                </a:ext>
              </a:extLst>
            </p:cNvPr>
            <p:cNvSpPr/>
            <p:nvPr/>
          </p:nvSpPr>
          <p:spPr>
            <a:xfrm>
              <a:off x="5985884" y="3911212"/>
              <a:ext cx="1738969" cy="720080"/>
            </a:xfrm>
            <a:prstGeom prst="wedgeRoundRectCallout">
              <a:avLst>
                <a:gd name="adj1" fmla="val 21301"/>
                <a:gd name="adj2" fmla="val 80445"/>
                <a:gd name="adj3" fmla="val 16667"/>
              </a:avLst>
            </a:prstGeom>
            <a:solidFill>
              <a:schemeClr val="bg1">
                <a:alpha val="70000"/>
              </a:schemeClr>
            </a:solidFill>
            <a:ln w="38100">
              <a:solidFill>
                <a:schemeClr val="accent6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120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Model Engine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zh-TW" dirty="0">
                  <a:ln w="0"/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     </a:t>
              </a:r>
              <a:r>
                <a:rPr lang="en-US" altLang="zh-TW" dirty="0">
                  <a:ln w="0"/>
                  <a:solidFill>
                    <a:schemeClr val="accent1">
                      <a:lumMod val="7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O</a:t>
              </a:r>
              <a:r>
                <a:rPr lang="en-US" altLang="zh-TW" dirty="0">
                  <a:ln w="0"/>
                  <a:solidFill>
                    <a:schemeClr val="tx1">
                      <a:lumMod val="95000"/>
                      <a:lumOff val="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llama</a:t>
              </a:r>
            </a:p>
          </p:txBody>
        </p:sp>
        <p:pic>
          <p:nvPicPr>
            <p:cNvPr id="27" name="圖片 26">
              <a:extLst>
                <a:ext uri="{FF2B5EF4-FFF2-40B4-BE49-F238E27FC236}">
                  <a16:creationId xmlns:a16="http://schemas.microsoft.com/office/drawing/2014/main" id="{92A0724E-A38F-5195-50B0-C98F2CF9C9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73490" y="4132527"/>
              <a:ext cx="434378" cy="426757"/>
            </a:xfrm>
            <a:prstGeom prst="rect">
              <a:avLst/>
            </a:prstGeom>
          </p:spPr>
        </p:pic>
      </p:grp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CC15565B-23FB-5E59-4F90-9D5D878FE1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4469572"/>
              </p:ext>
            </p:extLst>
          </p:nvPr>
        </p:nvGraphicFramePr>
        <p:xfrm>
          <a:off x="812083" y="3181276"/>
          <a:ext cx="1590622" cy="1071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062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40034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 Engine Tool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2477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Deployment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216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017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Customization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57EFCE37-831A-9DEC-F096-56CA8F008C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9341486"/>
              </p:ext>
            </p:extLst>
          </p:nvPr>
        </p:nvGraphicFramePr>
        <p:xfrm>
          <a:off x="812083" y="4653136"/>
          <a:ext cx="2088232" cy="10151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823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776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Tools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 err="1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LoRA</a:t>
                      </a: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, </a:t>
                      </a:r>
                      <a:r>
                        <a:rPr lang="en-US" altLang="zh-TW" sz="1000" b="0" cap="none" spc="0" dirty="0" err="1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QLoRA</a:t>
                      </a: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, Full Tunning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005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(Open WebUI)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225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-factory (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WebUI)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50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Axolotol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FFDEC58D-CCB1-A42B-F522-40050B01CA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0595420"/>
              </p:ext>
            </p:extLst>
          </p:nvPr>
        </p:nvGraphicFramePr>
        <p:xfrm>
          <a:off x="6327392" y="4996020"/>
          <a:ext cx="1944216" cy="918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421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30783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Infrastructure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42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TensorFlow/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/JAX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42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Megatron-LM /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881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CUDA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1F029804-8A4D-A1F0-D8D0-ECDF117CAE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9842345"/>
              </p:ext>
            </p:extLst>
          </p:nvPr>
        </p:nvGraphicFramePr>
        <p:xfrm>
          <a:off x="3234163" y="1856742"/>
          <a:ext cx="2675674" cy="8034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164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259164">
                  <a:extLst>
                    <a:ext uri="{9D8B030D-6E8A-4147-A177-3AD203B41FA5}">
                      <a16:colId xmlns:a16="http://schemas.microsoft.com/office/drawing/2014/main" val="1426263881"/>
                    </a:ext>
                  </a:extLst>
                </a:gridCol>
                <a:gridCol w="557969">
                  <a:extLst>
                    <a:ext uri="{9D8B030D-6E8A-4147-A177-3AD203B41FA5}">
                      <a16:colId xmlns:a16="http://schemas.microsoft.com/office/drawing/2014/main" val="1549907192"/>
                    </a:ext>
                  </a:extLst>
                </a:gridCol>
                <a:gridCol w="557969">
                  <a:extLst>
                    <a:ext uri="{9D8B030D-6E8A-4147-A177-3AD203B41FA5}">
                      <a16:colId xmlns:a16="http://schemas.microsoft.com/office/drawing/2014/main" val="2139872543"/>
                    </a:ext>
                  </a:extLst>
                </a:gridCol>
                <a:gridCol w="260352">
                  <a:extLst>
                    <a:ext uri="{9D8B030D-6E8A-4147-A177-3AD203B41FA5}">
                      <a16:colId xmlns:a16="http://schemas.microsoft.com/office/drawing/2014/main" val="636054194"/>
                    </a:ext>
                  </a:extLst>
                </a:gridCol>
                <a:gridCol w="260352">
                  <a:extLst>
                    <a:ext uri="{9D8B030D-6E8A-4147-A177-3AD203B41FA5}">
                      <a16:colId xmlns:a16="http://schemas.microsoft.com/office/drawing/2014/main" val="1872490353"/>
                    </a:ext>
                  </a:extLst>
                </a:gridCol>
                <a:gridCol w="260352">
                  <a:extLst>
                    <a:ext uri="{9D8B030D-6E8A-4147-A177-3AD203B41FA5}">
                      <a16:colId xmlns:a16="http://schemas.microsoft.com/office/drawing/2014/main" val="68804775"/>
                    </a:ext>
                  </a:extLst>
                </a:gridCol>
                <a:gridCol w="260352">
                  <a:extLst>
                    <a:ext uri="{9D8B030D-6E8A-4147-A177-3AD203B41FA5}">
                      <a16:colId xmlns:a16="http://schemas.microsoft.com/office/drawing/2014/main" val="3091919611"/>
                    </a:ext>
                  </a:extLst>
                </a:gridCol>
              </a:tblGrid>
              <a:tr h="432047">
                <a:tc gridSpan="8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</a:t>
                      </a:r>
                      <a:r>
                        <a:rPr kumimoji="0" lang="zh-TW" alt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Agents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7143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Claw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Hermes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55FA761B-B1C0-6E26-1F64-397B428139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4693302"/>
              </p:ext>
            </p:extLst>
          </p:nvPr>
        </p:nvGraphicFramePr>
        <p:xfrm>
          <a:off x="6740869" y="1229251"/>
          <a:ext cx="1933441" cy="1148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344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 Orchestrator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Multi-Agent Routing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State &amp; Context Management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Dynamic Workflow Execution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Resource Optimization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16" name="圖說文字: 直線 15">
            <a:extLst>
              <a:ext uri="{FF2B5EF4-FFF2-40B4-BE49-F238E27FC236}">
                <a16:creationId xmlns:a16="http://schemas.microsoft.com/office/drawing/2014/main" id="{004256FF-859E-CCD1-81EC-075CA72A316C}"/>
              </a:ext>
            </a:extLst>
          </p:cNvPr>
          <p:cNvSpPr/>
          <p:nvPr/>
        </p:nvSpPr>
        <p:spPr>
          <a:xfrm flipH="1">
            <a:off x="6660232" y="1229252"/>
            <a:ext cx="2086085" cy="1206064"/>
          </a:xfrm>
          <a:prstGeom prst="borderCallout1">
            <a:avLst>
              <a:gd name="adj1" fmla="val 83379"/>
              <a:gd name="adj2" fmla="val 96707"/>
              <a:gd name="adj3" fmla="val 109956"/>
              <a:gd name="adj4" fmla="val 124063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rIns="0" rtlCol="0" anchor="ctr"/>
          <a:lstStyle/>
          <a:p>
            <a:endParaRPr lang="zh-TW" altLang="en-US" sz="1200" dirty="0">
              <a:solidFill>
                <a:schemeClr val="tx1"/>
              </a:solidFill>
            </a:endParaRPr>
          </a:p>
        </p:txBody>
      </p:sp>
      <p:pic>
        <p:nvPicPr>
          <p:cNvPr id="31" name="圖片 30">
            <a:extLst>
              <a:ext uri="{FF2B5EF4-FFF2-40B4-BE49-F238E27FC236}">
                <a16:creationId xmlns:a16="http://schemas.microsoft.com/office/drawing/2014/main" id="{A9399B61-E00C-FA21-7965-FEFD7381A6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2724" y="1357945"/>
            <a:ext cx="47006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pic>
        <p:nvPicPr>
          <p:cNvPr id="33" name="圖片 32">
            <a:extLst>
              <a:ext uri="{FF2B5EF4-FFF2-40B4-BE49-F238E27FC236}">
                <a16:creationId xmlns:a16="http://schemas.microsoft.com/office/drawing/2014/main" id="{F4258470-55CC-CEEB-1BAA-592F11ADCF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9869" y="1357945"/>
            <a:ext cx="47006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B73E7E98-C231-18BC-581C-CBCCC80F73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0232" y="836712"/>
            <a:ext cx="634319" cy="334586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E1C2A8E9-389D-2F9D-3C7D-8D935635C37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1575" y="886369"/>
            <a:ext cx="781627" cy="235272"/>
          </a:xfrm>
          <a:prstGeom prst="rect">
            <a:avLst/>
          </a:prstGeom>
        </p:spPr>
      </p:pic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210FCA04-BC42-C146-9ED5-553692E1CEB3}"/>
              </a:ext>
            </a:extLst>
          </p:cNvPr>
          <p:cNvGraphicFramePr>
            <a:graphicFrameLocks noGrp="1"/>
          </p:cNvGraphicFramePr>
          <p:nvPr/>
        </p:nvGraphicFramePr>
        <p:xfrm>
          <a:off x="-1076325" y="4810125"/>
          <a:ext cx="208280" cy="365760"/>
        </p:xfrm>
        <a:graphic>
          <a:graphicData uri="http://schemas.openxmlformats.org/drawingml/2006/table">
            <a:tbl>
              <a:tblPr/>
              <a:tblGrid>
                <a:gridCol w="208280">
                  <a:extLst>
                    <a:ext uri="{9D8B030D-6E8A-4147-A177-3AD203B41FA5}">
                      <a16:colId xmlns:a16="http://schemas.microsoft.com/office/drawing/2014/main" val="5327328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>
                    <a:lnL w="3175" cmpd="sng">
                      <a:solidFill>
                        <a:schemeClr val="bg1"/>
                      </a:solidFill>
                      <a:prstDash val="solid"/>
                    </a:lnL>
                    <a:lnR w="3175" cmpd="sng">
                      <a:solidFill>
                        <a:schemeClr val="bg1"/>
                      </a:solidFill>
                      <a:prstDash val="solid"/>
                    </a:lnR>
                    <a:lnT w="3175" cmpd="sng">
                      <a:solidFill>
                        <a:schemeClr val="bg1"/>
                      </a:solidFill>
                      <a:prstDash val="solid"/>
                    </a:lnT>
                    <a:lnB w="3175" cmpd="sng">
                      <a:solidFill>
                        <a:schemeClr val="bg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5380650"/>
                  </a:ext>
                </a:extLst>
              </a:tr>
            </a:tbl>
          </a:graphicData>
        </a:graphic>
      </p:graphicFrame>
      <p:pic>
        <p:nvPicPr>
          <p:cNvPr id="15" name="圖片 14">
            <a:extLst>
              <a:ext uri="{FF2B5EF4-FFF2-40B4-BE49-F238E27FC236}">
                <a16:creationId xmlns:a16="http://schemas.microsoft.com/office/drawing/2014/main" id="{439D466C-08F0-8E9C-AC89-EAFD529E20B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14228" y="836712"/>
            <a:ext cx="360260" cy="334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3272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DE853544-DBA0-E3DB-54BF-4BDC27EE2E9F}"/>
              </a:ext>
            </a:extLst>
          </p:cNvPr>
          <p:cNvSpPr txBox="1"/>
          <p:nvPr/>
        </p:nvSpPr>
        <p:spPr>
          <a:xfrm>
            <a:off x="287524" y="4375264"/>
            <a:ext cx="8568952" cy="186204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/>
              <a:t>Key Trends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Data Transition</a:t>
            </a:r>
            <a:r>
              <a:rPr lang="en-US" altLang="zh-TW" sz="1600" b="0" u="none" strike="noStrike" dirty="0">
                <a:effectLst/>
              </a:rPr>
              <a:t>: Shifting from Quantity (raw web) to </a:t>
            </a:r>
            <a:r>
              <a:rPr lang="en-US" altLang="zh-TW" sz="1600" b="0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Quality</a:t>
            </a:r>
            <a:r>
              <a:rPr lang="en-US" altLang="zh-TW" sz="1600" b="0" u="none" strike="noStrike" dirty="0">
                <a:effectLst/>
              </a:rPr>
              <a:t> (curated c</a:t>
            </a:r>
            <a:r>
              <a:rPr lang="en-US" altLang="zh-TW" sz="1600" dirty="0"/>
              <a:t>orpora)</a:t>
            </a:r>
            <a:r>
              <a:rPr lang="en-US" altLang="zh-TW" sz="1600" b="0" u="none" strike="noStrike" dirty="0">
                <a:effectLst/>
              </a:rPr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Architecture (</a:t>
            </a:r>
            <a:r>
              <a:rPr lang="en-US" altLang="zh-TW" sz="1600" b="1" dirty="0" err="1"/>
              <a:t>MoE</a:t>
            </a:r>
            <a:r>
              <a:rPr lang="en-US" altLang="zh-TW" sz="1600" b="1" dirty="0"/>
              <a:t>)</a:t>
            </a:r>
            <a:r>
              <a:rPr lang="en-US" altLang="zh-TW" sz="1600" dirty="0"/>
              <a:t>: Activating only relevant sub-networks to drastically lower inference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costs</a:t>
            </a:r>
            <a:r>
              <a:rPr lang="en-US" altLang="zh-TW" sz="1600" dirty="0"/>
              <a:t>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Native Modality</a:t>
            </a:r>
            <a:r>
              <a:rPr lang="en-US" altLang="zh-TW" sz="1600" dirty="0"/>
              <a:t>: Integrating real-time voice and video natively for next-gen AI Agents.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Efficient Deployment</a:t>
            </a:r>
            <a:r>
              <a:rPr lang="en-US" altLang="zh-TW" sz="1600" dirty="0"/>
              <a:t>: Embracing Smaller Language Models (SLMs) for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secure</a:t>
            </a:r>
            <a:r>
              <a:rPr lang="en-US" altLang="zh-TW" sz="1600" dirty="0"/>
              <a:t>, on-device AI.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5E04EBFC-4EB4-0EDE-A780-590452CD0E38}"/>
              </a:ext>
            </a:extLst>
          </p:cNvPr>
          <p:cNvGrpSpPr/>
          <p:nvPr/>
        </p:nvGrpSpPr>
        <p:grpSpPr>
          <a:xfrm>
            <a:off x="1209216" y="1263958"/>
            <a:ext cx="2094003" cy="2114742"/>
            <a:chOff x="1011755" y="2851680"/>
            <a:chExt cx="2094003" cy="2114742"/>
          </a:xfrm>
        </p:grpSpPr>
        <p:sp>
          <p:nvSpPr>
            <p:cNvPr id="7" name="弧形 6">
              <a:extLst>
                <a:ext uri="{FF2B5EF4-FFF2-40B4-BE49-F238E27FC236}">
                  <a16:creationId xmlns:a16="http://schemas.microsoft.com/office/drawing/2014/main" id="{ADE78692-DD87-A403-B53B-072E2A6E9BC6}"/>
                </a:ext>
              </a:extLst>
            </p:cNvPr>
            <p:cNvSpPr/>
            <p:nvPr/>
          </p:nvSpPr>
          <p:spPr>
            <a:xfrm>
              <a:off x="1050655" y="2869831"/>
              <a:ext cx="2055103" cy="2096591"/>
            </a:xfrm>
            <a:prstGeom prst="arc">
              <a:avLst>
                <a:gd name="adj1" fmla="val 16400852"/>
                <a:gd name="adj2" fmla="val 12348078"/>
              </a:avLst>
            </a:prstGeom>
            <a:solidFill>
              <a:schemeClr val="accent1">
                <a:lumMod val="20000"/>
                <a:lumOff val="80000"/>
                <a:alpha val="40000"/>
              </a:schemeClr>
            </a:solidFill>
            <a:ln w="25400">
              <a:solidFill>
                <a:schemeClr val="accent1">
                  <a:lumMod val="40000"/>
                  <a:lumOff val="60000"/>
                  <a:alpha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none" lIns="1097280" tIns="0" rIns="0" bIns="91440" rtlCol="0" anchor="b" anchorCtr="1"/>
            <a:lstStyle/>
            <a:p>
              <a:pPr algn="ctr"/>
              <a:endParaRPr lang="zh-TW" altLang="en-US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" name="雲朵形 8">
              <a:extLst>
                <a:ext uri="{FF2B5EF4-FFF2-40B4-BE49-F238E27FC236}">
                  <a16:creationId xmlns:a16="http://schemas.microsoft.com/office/drawing/2014/main" id="{0D4D7F0B-3B8A-40C4-3859-2BE266019CFB}"/>
                </a:ext>
              </a:extLst>
            </p:cNvPr>
            <p:cNvSpPr/>
            <p:nvPr/>
          </p:nvSpPr>
          <p:spPr>
            <a:xfrm>
              <a:off x="1011755" y="2851680"/>
              <a:ext cx="1400005" cy="818598"/>
            </a:xfrm>
            <a:prstGeom prst="cloud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0933DF4D-AD42-441A-13FF-5E50431F984F}"/>
                </a:ext>
              </a:extLst>
            </p:cNvPr>
            <p:cNvSpPr txBox="1"/>
            <p:nvPr/>
          </p:nvSpPr>
          <p:spPr>
            <a:xfrm>
              <a:off x="1909740" y="4318350"/>
              <a:ext cx="1024639" cy="323239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Edge AI</a:t>
              </a:r>
            </a:p>
          </p:txBody>
        </p:sp>
        <p:cxnSp>
          <p:nvCxnSpPr>
            <p:cNvPr id="11" name="直線單箭頭接點 10">
              <a:extLst>
                <a:ext uri="{FF2B5EF4-FFF2-40B4-BE49-F238E27FC236}">
                  <a16:creationId xmlns:a16="http://schemas.microsoft.com/office/drawing/2014/main" id="{61D0780E-0D93-AC04-23AC-5BC70DB675D1}"/>
                </a:ext>
              </a:extLst>
            </p:cNvPr>
            <p:cNvCxnSpPr>
              <a:cxnSpLocks/>
              <a:stCxn id="13" idx="2"/>
              <a:endCxn id="10" idx="0"/>
            </p:cNvCxnSpPr>
            <p:nvPr/>
          </p:nvCxnSpPr>
          <p:spPr>
            <a:xfrm>
              <a:off x="1620496" y="3434549"/>
              <a:ext cx="801564" cy="883801"/>
            </a:xfrm>
            <a:prstGeom prst="straightConnector1">
              <a:avLst/>
            </a:prstGeom>
            <a:ln w="25400">
              <a:solidFill>
                <a:schemeClr val="accent6">
                  <a:alpha val="80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1E98D504-3706-7625-D7D4-1EF4B42EEE93}"/>
                </a:ext>
              </a:extLst>
            </p:cNvPr>
            <p:cNvSpPr txBox="1"/>
            <p:nvPr/>
          </p:nvSpPr>
          <p:spPr>
            <a:xfrm>
              <a:off x="1108176" y="3065217"/>
              <a:ext cx="1024639" cy="369332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Cloud AI</a:t>
              </a:r>
            </a:p>
          </p:txBody>
        </p:sp>
      </p:grpSp>
      <p:sp>
        <p:nvSpPr>
          <p:cNvPr id="8" name="標題 1">
            <a:extLst>
              <a:ext uri="{FF2B5EF4-FFF2-40B4-BE49-F238E27FC236}">
                <a16:creationId xmlns:a16="http://schemas.microsoft.com/office/drawing/2014/main" id="{173EE053-1FAE-538C-ABFD-598B0D03DD4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LLM Trend Analysis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From Scale-Driven to Quality-Centric Innovation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BD64A5D-812A-71D3-28E3-739F618DBF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0290827"/>
              </p:ext>
            </p:extLst>
          </p:nvPr>
        </p:nvGraphicFramePr>
        <p:xfrm>
          <a:off x="6012160" y="2204863"/>
          <a:ext cx="2736304" cy="15841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6104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88809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912102">
                  <a:extLst>
                    <a:ext uri="{9D8B030D-6E8A-4147-A177-3AD203B41FA5}">
                      <a16:colId xmlns:a16="http://schemas.microsoft.com/office/drawing/2014/main" val="2975023522"/>
                    </a:ext>
                  </a:extLst>
                </a:gridCol>
              </a:tblGrid>
              <a:tr h="307254">
                <a:tc>
                  <a:txBody>
                    <a:bodyPr/>
                    <a:lstStyle/>
                    <a:p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3~8B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H/W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NPU/SoC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4745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4~16GB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367670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Power</a:t>
                      </a:r>
                    </a:p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Consumption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MW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(Cooling)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(FAN)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787730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6749B70F-5258-6FA9-79B1-4335864F07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3945062"/>
              </p:ext>
            </p:extLst>
          </p:nvPr>
        </p:nvGraphicFramePr>
        <p:xfrm>
          <a:off x="2016630" y="3166080"/>
          <a:ext cx="2195330" cy="6218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5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577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 and 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Enabling secure, low-latency, and privacy-first on-device AI.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D203658-CE58-BAA2-6096-1412F79207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3408085"/>
              </p:ext>
            </p:extLst>
          </p:nvPr>
        </p:nvGraphicFramePr>
        <p:xfrm>
          <a:off x="906443" y="2109980"/>
          <a:ext cx="1059168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916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1416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AWS, MS Azure,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 Cloud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pic>
        <p:nvPicPr>
          <p:cNvPr id="16" name="圖形 15" descr="上升趨勢的橫條圖 以實心填滿">
            <a:extLst>
              <a:ext uri="{FF2B5EF4-FFF2-40B4-BE49-F238E27FC236}">
                <a16:creationId xmlns:a16="http://schemas.microsoft.com/office/drawing/2014/main" id="{00E2A0E3-F313-B0E4-4656-A3E57C0C81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64288" y="1772814"/>
            <a:ext cx="432049" cy="432049"/>
          </a:xfrm>
          <a:prstGeom prst="rect">
            <a:avLst/>
          </a:prstGeom>
        </p:spPr>
      </p:pic>
      <p:pic>
        <p:nvPicPr>
          <p:cNvPr id="26" name="圖形 25" descr="細菌 以實心填滿">
            <a:extLst>
              <a:ext uri="{FF2B5EF4-FFF2-40B4-BE49-F238E27FC236}">
                <a16:creationId xmlns:a16="http://schemas.microsoft.com/office/drawing/2014/main" id="{7FB8FBF8-1C70-5BC8-E2E1-86A8F4DD36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42428" y="1365419"/>
            <a:ext cx="431917" cy="413783"/>
          </a:xfrm>
          <a:prstGeom prst="rect">
            <a:avLst/>
          </a:prstGeom>
        </p:spPr>
      </p:pic>
      <p:pic>
        <p:nvPicPr>
          <p:cNvPr id="30" name="圖形 29" descr="聊天 外框">
            <a:extLst>
              <a:ext uri="{FF2B5EF4-FFF2-40B4-BE49-F238E27FC236}">
                <a16:creationId xmlns:a16="http://schemas.microsoft.com/office/drawing/2014/main" id="{420F4A24-C4A0-7481-631F-F979E20E42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00392" y="1767553"/>
            <a:ext cx="432048" cy="437310"/>
          </a:xfrm>
          <a:prstGeom prst="rect">
            <a:avLst/>
          </a:prstGeom>
        </p:spPr>
      </p:pic>
      <p:pic>
        <p:nvPicPr>
          <p:cNvPr id="36" name="圖形 35" descr="火箭 以實心填滿">
            <a:extLst>
              <a:ext uri="{FF2B5EF4-FFF2-40B4-BE49-F238E27FC236}">
                <a16:creationId xmlns:a16="http://schemas.microsoft.com/office/drawing/2014/main" id="{6F139867-337F-D82D-3EDB-17ACEAD4CB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6951680" y="1212288"/>
            <a:ext cx="432049" cy="412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173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文字方塊 21">
            <a:extLst>
              <a:ext uri="{FF2B5EF4-FFF2-40B4-BE49-F238E27FC236}">
                <a16:creationId xmlns:a16="http://schemas.microsoft.com/office/drawing/2014/main" id="{F2D1C961-4E28-F296-9539-2C5F5E7AC30E}"/>
              </a:ext>
            </a:extLst>
          </p:cNvPr>
          <p:cNvSpPr txBox="1"/>
          <p:nvPr/>
        </p:nvSpPr>
        <p:spPr>
          <a:xfrm>
            <a:off x="218381" y="1124744"/>
            <a:ext cx="665787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Considerations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Ultra-Low Latency: </a:t>
            </a:r>
            <a:r>
              <a:rPr lang="en-US" altLang="zh-TW" sz="1600" dirty="0">
                <a:solidFill>
                  <a:prstClr val="black"/>
                </a:solidFill>
              </a:rPr>
              <a:t>Real-time decision-making.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Enhanced Data Privacy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Business security or regulations.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Data Gravity: </a:t>
            </a:r>
            <a:r>
              <a:rPr lang="en-US" altLang="zh-TW" sz="1600" dirty="0">
                <a:solidFill>
                  <a:prstClr val="black"/>
                </a:solidFill>
              </a:rPr>
              <a:t>Applications move forward to data makes lower cost. </a:t>
            </a: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0E3F7584-0AE7-4BD1-9075-F3E554300E9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Trends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From cloud service to edge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F381DA9F-7B36-5F29-C52E-28C317E290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014647"/>
              </p:ext>
            </p:extLst>
          </p:nvPr>
        </p:nvGraphicFramePr>
        <p:xfrm>
          <a:off x="1800606" y="4723565"/>
          <a:ext cx="2195330" cy="12910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5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614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81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Enterprise private server for data processing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614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45191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PC/NB, cellphone, wearables, car could inference by offline AI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</a:tbl>
          </a:graphicData>
        </a:graphic>
      </p:graphicFrame>
      <p:graphicFrame>
        <p:nvGraphicFramePr>
          <p:cNvPr id="19" name="表格 18">
            <a:extLst>
              <a:ext uri="{FF2B5EF4-FFF2-40B4-BE49-F238E27FC236}">
                <a16:creationId xmlns:a16="http://schemas.microsoft.com/office/drawing/2014/main" id="{7F35C6A6-D95D-574A-7D2E-26A43FD04C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1416023"/>
              </p:ext>
            </p:extLst>
          </p:nvPr>
        </p:nvGraphicFramePr>
        <p:xfrm>
          <a:off x="690419" y="3568034"/>
          <a:ext cx="1059168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916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AWS/MS Azure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 Cloud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grpSp>
        <p:nvGrpSpPr>
          <p:cNvPr id="9" name="群組 8">
            <a:extLst>
              <a:ext uri="{FF2B5EF4-FFF2-40B4-BE49-F238E27FC236}">
                <a16:creationId xmlns:a16="http://schemas.microsoft.com/office/drawing/2014/main" id="{EEC83D32-71A6-F0B6-848A-F221442B99BC}"/>
              </a:ext>
            </a:extLst>
          </p:cNvPr>
          <p:cNvGrpSpPr/>
          <p:nvPr/>
        </p:nvGrpSpPr>
        <p:grpSpPr>
          <a:xfrm>
            <a:off x="873775" y="2755997"/>
            <a:ext cx="3137887" cy="2210425"/>
            <a:chOff x="873775" y="2755997"/>
            <a:chExt cx="3137887" cy="2210425"/>
          </a:xfrm>
        </p:grpSpPr>
        <p:sp>
          <p:nvSpPr>
            <p:cNvPr id="4" name="弧形 3">
              <a:extLst>
                <a:ext uri="{FF2B5EF4-FFF2-40B4-BE49-F238E27FC236}">
                  <a16:creationId xmlns:a16="http://schemas.microsoft.com/office/drawing/2014/main" id="{93287DC2-DA04-D695-F422-FDB7BB72DE67}"/>
                </a:ext>
              </a:extLst>
            </p:cNvPr>
            <p:cNvSpPr/>
            <p:nvPr/>
          </p:nvSpPr>
          <p:spPr>
            <a:xfrm>
              <a:off x="1050655" y="2869831"/>
              <a:ext cx="2055103" cy="2096591"/>
            </a:xfrm>
            <a:prstGeom prst="arc">
              <a:avLst>
                <a:gd name="adj1" fmla="val 16400852"/>
                <a:gd name="adj2" fmla="val 12348078"/>
              </a:avLst>
            </a:prstGeom>
            <a:solidFill>
              <a:schemeClr val="accent1">
                <a:lumMod val="20000"/>
                <a:lumOff val="80000"/>
                <a:alpha val="40000"/>
              </a:schemeClr>
            </a:solidFill>
            <a:ln w="25400">
              <a:solidFill>
                <a:schemeClr val="accent1">
                  <a:lumMod val="40000"/>
                  <a:lumOff val="60000"/>
                  <a:alpha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none" lIns="1097280" tIns="0" rIns="0" bIns="91440" rtlCol="0" anchor="b" anchorCtr="1"/>
            <a:lstStyle/>
            <a:p>
              <a:pPr algn="ctr"/>
              <a:endParaRPr lang="zh-TW" altLang="en-US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24" name="雲朵形 23">
              <a:extLst>
                <a:ext uri="{FF2B5EF4-FFF2-40B4-BE49-F238E27FC236}">
                  <a16:creationId xmlns:a16="http://schemas.microsoft.com/office/drawing/2014/main" id="{A2450BE4-C96A-0E60-C30C-CAC65E95D7BE}"/>
                </a:ext>
              </a:extLst>
            </p:cNvPr>
            <p:cNvSpPr/>
            <p:nvPr/>
          </p:nvSpPr>
          <p:spPr>
            <a:xfrm>
              <a:off x="873775" y="2755997"/>
              <a:ext cx="1400005" cy="818598"/>
            </a:xfrm>
            <a:prstGeom prst="cloud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85751DDB-B860-1672-0DF1-16AB4FF404FC}"/>
                </a:ext>
              </a:extLst>
            </p:cNvPr>
            <p:cNvSpPr txBox="1"/>
            <p:nvPr/>
          </p:nvSpPr>
          <p:spPr>
            <a:xfrm>
              <a:off x="1799741" y="4291517"/>
              <a:ext cx="1024639" cy="323239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Edge AI</a:t>
              </a:r>
            </a:p>
          </p:txBody>
        </p:sp>
        <p:cxnSp>
          <p:nvCxnSpPr>
            <p:cNvPr id="6" name="直線單箭頭接點 5">
              <a:extLst>
                <a:ext uri="{FF2B5EF4-FFF2-40B4-BE49-F238E27FC236}">
                  <a16:creationId xmlns:a16="http://schemas.microsoft.com/office/drawing/2014/main" id="{739BFD83-E302-63D0-BBF7-C1B75A1332F1}"/>
                </a:ext>
              </a:extLst>
            </p:cNvPr>
            <p:cNvCxnSpPr>
              <a:cxnSpLocks/>
              <a:stCxn id="36" idx="2"/>
              <a:endCxn id="8" idx="0"/>
            </p:cNvCxnSpPr>
            <p:nvPr/>
          </p:nvCxnSpPr>
          <p:spPr>
            <a:xfrm>
              <a:off x="1502483" y="3310240"/>
              <a:ext cx="809578" cy="981277"/>
            </a:xfrm>
            <a:prstGeom prst="straightConnector1">
              <a:avLst/>
            </a:prstGeom>
            <a:ln w="25400">
              <a:solidFill>
                <a:schemeClr val="accent6">
                  <a:alpha val="80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文字方塊 35">
              <a:extLst>
                <a:ext uri="{FF2B5EF4-FFF2-40B4-BE49-F238E27FC236}">
                  <a16:creationId xmlns:a16="http://schemas.microsoft.com/office/drawing/2014/main" id="{350B296D-38F2-A2B6-139A-924E0DFA5FDB}"/>
                </a:ext>
              </a:extLst>
            </p:cNvPr>
            <p:cNvSpPr txBox="1"/>
            <p:nvPr/>
          </p:nvSpPr>
          <p:spPr>
            <a:xfrm>
              <a:off x="990163" y="2940908"/>
              <a:ext cx="1024639" cy="369332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Cloud AI</a:t>
              </a: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B47FD78C-1D85-5ACB-D30D-99945D9AA03E}"/>
                </a:ext>
              </a:extLst>
            </p:cNvPr>
            <p:cNvSpPr txBox="1"/>
            <p:nvPr/>
          </p:nvSpPr>
          <p:spPr>
            <a:xfrm>
              <a:off x="2815971" y="3193648"/>
              <a:ext cx="1195691" cy="548640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sz="1200" dirty="0">
                  <a:solidFill>
                    <a:schemeClr val="accent1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Client AI</a:t>
              </a:r>
            </a:p>
            <a:p>
              <a:r>
                <a:rPr lang="en-US" altLang="zh-TW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Chat robots</a:t>
              </a:r>
            </a:p>
            <a:p>
              <a:r>
                <a:rPr lang="en-US" altLang="zh-TW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(</a:t>
              </a:r>
              <a:r>
                <a:rPr lang="en-US" altLang="zh-TW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LangGraph</a:t>
              </a:r>
              <a:r>
                <a:rPr lang="en-US" altLang="zh-TW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, </a:t>
              </a:r>
              <a:r>
                <a:rPr lang="en-US" altLang="zh-TW" sz="12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Dify</a:t>
              </a:r>
              <a:r>
                <a:rPr lang="en-US" altLang="zh-TW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)</a:t>
              </a:r>
            </a:p>
          </p:txBody>
        </p:sp>
      </p:grp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067D60A5-922D-DF00-5312-41C8696E12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1308195"/>
              </p:ext>
            </p:extLst>
          </p:nvPr>
        </p:nvGraphicFramePr>
        <p:xfrm>
          <a:off x="6372200" y="4199778"/>
          <a:ext cx="2380806" cy="22529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040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190403">
                  <a:extLst>
                    <a:ext uri="{9D8B030D-6E8A-4147-A177-3AD203B41FA5}">
                      <a16:colId xmlns:a16="http://schemas.microsoft.com/office/drawing/2014/main" val="88639405"/>
                    </a:ext>
                  </a:extLst>
                </a:gridCol>
              </a:tblGrid>
              <a:tr h="40713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</a:t>
                      </a:r>
                    </a:p>
                    <a:p>
                      <a:pPr algn="ctr"/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Service</a:t>
                      </a:r>
                      <a:endParaRPr lang="zh-TW" altLang="en-US" sz="14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</a:t>
                      </a:r>
                    </a:p>
                    <a:p>
                      <a:pPr algn="ctr"/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AI</a:t>
                      </a:r>
                      <a:endParaRPr lang="zh-TW" altLang="en-US" sz="14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644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</a:p>
                    <a:p>
                      <a:pPr algn="ctr"/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(70~400B)</a:t>
                      </a:r>
                      <a:endParaRPr lang="zh-TW" altLang="en-US" sz="10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</a:p>
                    <a:p>
                      <a:pPr algn="ctr"/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(3~14B)</a:t>
                      </a:r>
                      <a:endParaRPr lang="zh-TW" altLang="en-US" sz="10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644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Mentor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Local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644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Business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Weight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644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GPU/TPU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35624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24GB VRAM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RTX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4090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9D44ED96-F5BD-4DAB-62C8-7515297EF9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2897865"/>
              </p:ext>
            </p:extLst>
          </p:nvPr>
        </p:nvGraphicFramePr>
        <p:xfrm>
          <a:off x="5116269" y="1611516"/>
          <a:ext cx="3752749" cy="23066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811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51216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23246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Features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 AI, 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Agent(Inference)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Service, 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Mentor Model 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(Pretraining)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 Windows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Total Parameters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3~14B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Single Chip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Multi GPU or CPU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&lt; 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03510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0B116-CCAD-8F24-3B05-0C6DFC371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 72">
            <a:extLst>
              <a:ext uri="{FF2B5EF4-FFF2-40B4-BE49-F238E27FC236}">
                <a16:creationId xmlns:a16="http://schemas.microsoft.com/office/drawing/2014/main" id="{F81FE75E-9127-9681-590D-9061B2910228}"/>
              </a:ext>
            </a:extLst>
          </p:cNvPr>
          <p:cNvSpPr/>
          <p:nvPr/>
        </p:nvSpPr>
        <p:spPr>
          <a:xfrm>
            <a:off x="6012161" y="3387544"/>
            <a:ext cx="1871696" cy="549568"/>
          </a:xfrm>
          <a:prstGeom prst="rect">
            <a:avLst/>
          </a:prstGeom>
          <a:noFill/>
          <a:ln w="1905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endParaRPr lang="en-US" altLang="zh-TW" sz="1600" b="1" baseline="-250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14DA1361-4D8B-4FCC-584F-629F1294A318}"/>
              </a:ext>
            </a:extLst>
          </p:cNvPr>
          <p:cNvSpPr txBox="1"/>
          <p:nvPr/>
        </p:nvSpPr>
        <p:spPr>
          <a:xfrm>
            <a:off x="214908" y="980728"/>
            <a:ext cx="5466488" cy="2246769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Long Context Window</a:t>
            </a:r>
            <a:r>
              <a:rPr lang="en-US" altLang="zh-TW" sz="1600" dirty="0"/>
              <a:t>: More than 128K tokens.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Vision-Language</a:t>
            </a:r>
            <a:r>
              <a:rPr lang="en-US" altLang="zh-TW" sz="1600" dirty="0"/>
              <a:t>: Multi-Modal for text and vision input.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Multilingual </a:t>
            </a:r>
            <a:r>
              <a:rPr lang="en-US" altLang="zh-TW" sz="1600" dirty="0"/>
              <a:t>: Default support 35 languages, and 140+.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Single Chip</a:t>
            </a:r>
            <a:r>
              <a:rPr lang="en-US" altLang="zh-TW" sz="1600" dirty="0"/>
              <a:t>: Inference by only one GPU or TPU.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Model Quantization</a:t>
            </a:r>
            <a:r>
              <a:rPr lang="en-US" altLang="zh-TW" sz="1600" dirty="0"/>
              <a:t>: Q4 and FP16.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99ED30C9-7FBC-5372-F2D1-F80EA7C865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5697390"/>
              </p:ext>
            </p:extLst>
          </p:nvPr>
        </p:nvGraphicFramePr>
        <p:xfrm>
          <a:off x="351199" y="4521818"/>
          <a:ext cx="8225578" cy="20035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44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135393863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2276585">
                  <a:extLst>
                    <a:ext uri="{9D8B030D-6E8A-4147-A177-3AD203B41FA5}">
                      <a16:colId xmlns:a16="http://schemas.microsoft.com/office/drawing/2014/main" val="3854310234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Version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File Size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 VRAM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Platform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0.2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Cell phone, Raspberry, Wearables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3.5 ~ 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Tablet, Notebook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 ~ 28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Notebook 16G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15.1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 ~ 20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60 ~ 64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 RTX 3090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sp>
        <p:nvSpPr>
          <p:cNvPr id="8" name="標題 1">
            <a:extLst>
              <a:ext uri="{FF2B5EF4-FFF2-40B4-BE49-F238E27FC236}">
                <a16:creationId xmlns:a16="http://schemas.microsoft.com/office/drawing/2014/main" id="{3C9AD4A7-CE39-6D13-9A34-F4154B36620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3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Light, Fast, Multi-modal, and Multi-lingual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9F0C5F1F-8BA5-7023-CB2C-07E845026D34}"/>
              </a:ext>
            </a:extLst>
          </p:cNvPr>
          <p:cNvSpPr/>
          <p:nvPr/>
        </p:nvSpPr>
        <p:spPr>
          <a:xfrm>
            <a:off x="6221748" y="1412776"/>
            <a:ext cx="1440160" cy="1185341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05B6047-2833-C1AD-81A4-9E94756336FA}"/>
              </a:ext>
            </a:extLst>
          </p:cNvPr>
          <p:cNvSpPr txBox="1"/>
          <p:nvPr/>
        </p:nvSpPr>
        <p:spPr>
          <a:xfrm>
            <a:off x="6365764" y="1571086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Feed</a:t>
            </a:r>
            <a:r>
              <a:rPr lang="zh-TW" altLang="en-US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</a:t>
            </a: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Forward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615B3A5-3FD2-4005-BC2E-69EC29B5B341}"/>
              </a:ext>
            </a:extLst>
          </p:cNvPr>
          <p:cNvSpPr txBox="1"/>
          <p:nvPr/>
        </p:nvSpPr>
        <p:spPr>
          <a:xfrm>
            <a:off x="6365764" y="1940154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Masked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Multi-Head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Attention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8AAD5BE6-CA01-DBC6-1993-208FB9ACBD36}"/>
              </a:ext>
            </a:extLst>
          </p:cNvPr>
          <p:cNvSpPr txBox="1"/>
          <p:nvPr/>
        </p:nvSpPr>
        <p:spPr>
          <a:xfrm>
            <a:off x="6507429" y="2708920"/>
            <a:ext cx="872480" cy="36004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Embedding</a:t>
            </a:r>
            <a:endParaRPr lang="en-US" altLang="zh-TW" sz="10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271A4FAC-3FA4-7F32-0DE0-90701BE854FB}"/>
              </a:ext>
            </a:extLst>
          </p:cNvPr>
          <p:cNvSpPr txBox="1"/>
          <p:nvPr/>
        </p:nvSpPr>
        <p:spPr>
          <a:xfrm>
            <a:off x="6507429" y="4398530"/>
            <a:ext cx="872480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(Next Token)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5BE8163C-E658-EC9A-A3D6-4483843DC234}"/>
              </a:ext>
            </a:extLst>
          </p:cNvPr>
          <p:cNvSpPr txBox="1"/>
          <p:nvPr/>
        </p:nvSpPr>
        <p:spPr>
          <a:xfrm>
            <a:off x="6365764" y="980713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Linear</a:t>
            </a: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9EA56A65-2A30-6FE7-1987-749C004F9F0B}"/>
              </a:ext>
            </a:extLst>
          </p:cNvPr>
          <p:cNvSpPr txBox="1"/>
          <p:nvPr/>
        </p:nvSpPr>
        <p:spPr>
          <a:xfrm>
            <a:off x="6365764" y="476672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Probabilities</a:t>
            </a:r>
          </a:p>
        </p:txBody>
      </p:sp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B82F44C6-607E-773F-9287-A4B04BF4B85F}"/>
              </a:ext>
            </a:extLst>
          </p:cNvPr>
          <p:cNvCxnSpPr>
            <a:cxnSpLocks/>
            <a:stCxn id="14" idx="0"/>
            <a:endCxn id="17" idx="2"/>
          </p:cNvCxnSpPr>
          <p:nvPr/>
        </p:nvCxnSpPr>
        <p:spPr>
          <a:xfrm flipV="1">
            <a:off x="6941828" y="836712"/>
            <a:ext cx="0" cy="14400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單箭頭接點 19">
            <a:extLst>
              <a:ext uri="{FF2B5EF4-FFF2-40B4-BE49-F238E27FC236}">
                <a16:creationId xmlns:a16="http://schemas.microsoft.com/office/drawing/2014/main" id="{A5ADA3C9-51C2-3237-133D-BBEFBF739687}"/>
              </a:ext>
            </a:extLst>
          </p:cNvPr>
          <p:cNvCxnSpPr>
            <a:cxnSpLocks/>
            <a:stCxn id="7" idx="0"/>
            <a:endCxn id="14" idx="2"/>
          </p:cNvCxnSpPr>
          <p:nvPr/>
        </p:nvCxnSpPr>
        <p:spPr>
          <a:xfrm flipV="1">
            <a:off x="6941828" y="1205765"/>
            <a:ext cx="0" cy="36532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1DBA7485-E4D3-633A-C8FD-B13CD069630A}"/>
              </a:ext>
            </a:extLst>
          </p:cNvPr>
          <p:cNvCxnSpPr>
            <a:cxnSpLocks/>
            <a:stCxn id="11" idx="0"/>
            <a:endCxn id="10" idx="2"/>
          </p:cNvCxnSpPr>
          <p:nvPr/>
        </p:nvCxnSpPr>
        <p:spPr>
          <a:xfrm flipH="1" flipV="1">
            <a:off x="6941828" y="2463376"/>
            <a:ext cx="1841" cy="24554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2B0520ED-01AE-68FB-5B5E-0DAE72BFC9B6}"/>
              </a:ext>
            </a:extLst>
          </p:cNvPr>
          <p:cNvCxnSpPr>
            <a:cxnSpLocks/>
            <a:stCxn id="10" idx="0"/>
            <a:endCxn id="7" idx="2"/>
          </p:cNvCxnSpPr>
          <p:nvPr/>
        </p:nvCxnSpPr>
        <p:spPr>
          <a:xfrm flipV="1">
            <a:off x="6941828" y="1796138"/>
            <a:ext cx="0" cy="14401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AD612F0A-91C3-056E-BCE2-B3E95520AE28}"/>
              </a:ext>
            </a:extLst>
          </p:cNvPr>
          <p:cNvSpPr txBox="1"/>
          <p:nvPr/>
        </p:nvSpPr>
        <p:spPr>
          <a:xfrm>
            <a:off x="5508104" y="4398530"/>
            <a:ext cx="872480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(User)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cxnSp>
        <p:nvCxnSpPr>
          <p:cNvPr id="31" name="接點: 肘形 30">
            <a:extLst>
              <a:ext uri="{FF2B5EF4-FFF2-40B4-BE49-F238E27FC236}">
                <a16:creationId xmlns:a16="http://schemas.microsoft.com/office/drawing/2014/main" id="{88FCB6D8-BB47-90D6-7438-7C3CA5BB1ABB}"/>
              </a:ext>
            </a:extLst>
          </p:cNvPr>
          <p:cNvCxnSpPr>
            <a:cxnSpLocks/>
            <a:stCxn id="17" idx="3"/>
            <a:endCxn id="11" idx="3"/>
          </p:cNvCxnSpPr>
          <p:nvPr/>
        </p:nvCxnSpPr>
        <p:spPr>
          <a:xfrm flipH="1">
            <a:off x="7379909" y="656692"/>
            <a:ext cx="137983" cy="2232248"/>
          </a:xfrm>
          <a:prstGeom prst="bentConnector3">
            <a:avLst>
              <a:gd name="adj1" fmla="val -165673"/>
            </a:avLst>
          </a:prstGeom>
          <a:ln w="19050">
            <a:solidFill>
              <a:srgbClr val="9E7800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D45BD80B-F195-173E-C31C-1D8057144F3F}"/>
              </a:ext>
            </a:extLst>
          </p:cNvPr>
          <p:cNvSpPr txBox="1"/>
          <p:nvPr/>
        </p:nvSpPr>
        <p:spPr>
          <a:xfrm>
            <a:off x="6056570" y="2152607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19526939-E9C0-4A2C-0511-0D5DE4384B47}"/>
              </a:ext>
            </a:extLst>
          </p:cNvPr>
          <p:cNvSpPr/>
          <p:nvPr/>
        </p:nvSpPr>
        <p:spPr>
          <a:xfrm>
            <a:off x="6084168" y="3592824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Text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A1305DF5-9242-38FA-74E0-8B4262602807}"/>
              </a:ext>
            </a:extLst>
          </p:cNvPr>
          <p:cNvSpPr/>
          <p:nvPr/>
        </p:nvSpPr>
        <p:spPr>
          <a:xfrm>
            <a:off x="6689800" y="3592824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Image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357C1A51-F19F-0863-D7B0-2DC91CF29B6B}"/>
              </a:ext>
            </a:extLst>
          </p:cNvPr>
          <p:cNvSpPr/>
          <p:nvPr/>
        </p:nvSpPr>
        <p:spPr>
          <a:xfrm>
            <a:off x="7291750" y="3578347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Audio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0E72048D-2524-1E61-5076-ED59FF0E3E44}"/>
              </a:ext>
            </a:extLst>
          </p:cNvPr>
          <p:cNvSpPr/>
          <p:nvPr/>
        </p:nvSpPr>
        <p:spPr>
          <a:xfrm>
            <a:off x="6689800" y="3264256"/>
            <a:ext cx="504056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SigLIP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cxnSp>
        <p:nvCxnSpPr>
          <p:cNvPr id="70" name="直線單箭頭接點 69">
            <a:extLst>
              <a:ext uri="{FF2B5EF4-FFF2-40B4-BE49-F238E27FC236}">
                <a16:creationId xmlns:a16="http://schemas.microsoft.com/office/drawing/2014/main" id="{B7100B46-3DD7-60AF-91CE-0B46B2EC6D09}"/>
              </a:ext>
            </a:extLst>
          </p:cNvPr>
          <p:cNvCxnSpPr>
            <a:cxnSpLocks/>
            <a:stCxn id="69" idx="0"/>
            <a:endCxn id="11" idx="2"/>
          </p:cNvCxnSpPr>
          <p:nvPr/>
        </p:nvCxnSpPr>
        <p:spPr>
          <a:xfrm flipV="1">
            <a:off x="6941828" y="3068960"/>
            <a:ext cx="1841" cy="19529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46400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CB412F-F717-D1EC-5B0B-39785D3DA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B154D0B0-A012-FFE2-DEEF-581261754A22}"/>
              </a:ext>
            </a:extLst>
          </p:cNvPr>
          <p:cNvSpPr/>
          <p:nvPr/>
        </p:nvSpPr>
        <p:spPr>
          <a:xfrm>
            <a:off x="5236384" y="3015780"/>
            <a:ext cx="1826222" cy="612186"/>
          </a:xfrm>
          <a:prstGeom prst="rect">
            <a:avLst/>
          </a:prstGeom>
          <a:noFill/>
          <a:ln w="2540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endParaRPr lang="en-US" altLang="zh-TW" sz="1600" b="1" baseline="-250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B44238F-2DC9-5FA9-584F-4533B0CABD7E}"/>
              </a:ext>
            </a:extLst>
          </p:cNvPr>
          <p:cNvSpPr/>
          <p:nvPr/>
        </p:nvSpPr>
        <p:spPr>
          <a:xfrm>
            <a:off x="5236650" y="2024726"/>
            <a:ext cx="1826222" cy="612186"/>
          </a:xfrm>
          <a:prstGeom prst="rect">
            <a:avLst/>
          </a:prstGeom>
          <a:noFill/>
          <a:ln w="2540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endParaRPr lang="en-US" altLang="zh-TW" sz="1600" b="1" baseline="-250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52DF09C-7533-45DB-660C-A8780AFB42C0}"/>
              </a:ext>
            </a:extLst>
          </p:cNvPr>
          <p:cNvSpPr/>
          <p:nvPr/>
        </p:nvSpPr>
        <p:spPr>
          <a:xfrm>
            <a:off x="934674" y="5938621"/>
            <a:ext cx="1152128" cy="425944"/>
          </a:xfrm>
          <a:prstGeom prst="rect">
            <a:avLst/>
          </a:prstGeom>
          <a:solidFill>
            <a:schemeClr val="bg1">
              <a:alpha val="20000"/>
            </a:schemeClr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dirty="0">
                <a:solidFill>
                  <a:schemeClr val="accent1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Embedding</a:t>
            </a: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6F717D9E-49DD-2DF8-CCAA-FAC8D83212F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3 Architecture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xxx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6B4CF8F-ADD7-749F-F88E-30C143A060E6}"/>
              </a:ext>
            </a:extLst>
          </p:cNvPr>
          <p:cNvSpPr/>
          <p:nvPr/>
        </p:nvSpPr>
        <p:spPr>
          <a:xfrm>
            <a:off x="243254" y="1481908"/>
            <a:ext cx="2001785" cy="3419506"/>
          </a:xfrm>
          <a:prstGeom prst="rect">
            <a:avLst/>
          </a:prstGeom>
          <a:solidFill>
            <a:schemeClr val="bg1">
              <a:alpha val="20000"/>
            </a:schemeClr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91440" rIns="0" bIns="0" rtlCol="0" anchor="ctr" anchorCtr="0"/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Tokenizer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Token Embedding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Position Encoding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Transformer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Normalization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Multi-Head Attention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Residual Connection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Normalization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Feed Forward Network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Residual Connection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Linear Projection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Semantics Space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Vocabulary Space</a:t>
            </a:r>
            <a:endParaRPr lang="en-US" altLang="zh-TW" sz="1200" b="1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47506C56-61B8-5016-4607-0FD7296D2DCA}"/>
              </a:ext>
            </a:extLst>
          </p:cNvPr>
          <p:cNvSpPr/>
          <p:nvPr/>
        </p:nvSpPr>
        <p:spPr>
          <a:xfrm>
            <a:off x="4294261" y="5637736"/>
            <a:ext cx="205731" cy="882327"/>
          </a:xfrm>
          <a:prstGeom prst="rect">
            <a:avLst/>
          </a:prstGeom>
          <a:noFill/>
          <a:ln w="25400">
            <a:solidFill>
              <a:schemeClr val="accent5">
                <a:lumMod val="75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Z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Z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…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Z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0C08E9BC-5B6C-7908-7A50-E33D930F12DC}"/>
              </a:ext>
            </a:extLst>
          </p:cNvPr>
          <p:cNvSpPr/>
          <p:nvPr/>
        </p:nvSpPr>
        <p:spPr>
          <a:xfrm>
            <a:off x="4932040" y="5637737"/>
            <a:ext cx="205731" cy="882327"/>
          </a:xfrm>
          <a:prstGeom prst="rect">
            <a:avLst/>
          </a:prstGeom>
          <a:noFill/>
          <a:ln w="25400">
            <a:solidFill>
              <a:schemeClr val="accent5">
                <a:lumMod val="75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…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33" name="左右中括弧 32">
            <a:extLst>
              <a:ext uri="{FF2B5EF4-FFF2-40B4-BE49-F238E27FC236}">
                <a16:creationId xmlns:a16="http://schemas.microsoft.com/office/drawing/2014/main" id="{42E18961-4B5B-FC8A-9271-806682CB96B8}"/>
              </a:ext>
            </a:extLst>
          </p:cNvPr>
          <p:cNvSpPr/>
          <p:nvPr/>
        </p:nvSpPr>
        <p:spPr>
          <a:xfrm>
            <a:off x="4197966" y="5637737"/>
            <a:ext cx="411241" cy="882327"/>
          </a:xfrm>
          <a:prstGeom prst="bracketPair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左右中括弧 34">
            <a:extLst>
              <a:ext uri="{FF2B5EF4-FFF2-40B4-BE49-F238E27FC236}">
                <a16:creationId xmlns:a16="http://schemas.microsoft.com/office/drawing/2014/main" id="{7DB31623-6821-547C-AA7C-B0681736BBD2}"/>
              </a:ext>
            </a:extLst>
          </p:cNvPr>
          <p:cNvSpPr/>
          <p:nvPr/>
        </p:nvSpPr>
        <p:spPr>
          <a:xfrm>
            <a:off x="4837027" y="5643017"/>
            <a:ext cx="411241" cy="882327"/>
          </a:xfrm>
          <a:prstGeom prst="bracketPair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5504929F-03B8-06AA-32AF-AFCF77AE7069}"/>
              </a:ext>
            </a:extLst>
          </p:cNvPr>
          <p:cNvSpPr/>
          <p:nvPr/>
        </p:nvSpPr>
        <p:spPr>
          <a:xfrm>
            <a:off x="2354191" y="1481908"/>
            <a:ext cx="2001785" cy="3419506"/>
          </a:xfrm>
          <a:prstGeom prst="rect">
            <a:avLst/>
          </a:prstGeom>
          <a:solidFill>
            <a:schemeClr val="bg1">
              <a:alpha val="20000"/>
            </a:schemeClr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91440" rIns="0" bIns="0" rtlCol="0" anchor="ctr" anchorCtr="0"/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Multimodal Tokenizer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Token Embedding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Position Encoding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Transformer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Normalization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Multi-Head Attention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Residual Connection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Normalization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Feed Forward Network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Residual Connection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Linear Projection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Semantics Space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Vocabulary Space</a:t>
            </a:r>
            <a:endParaRPr lang="en-US" altLang="zh-TW" sz="1200" b="1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33BE6F5-3EED-E1FB-33FD-61B2D5004C98}"/>
              </a:ext>
            </a:extLst>
          </p:cNvPr>
          <p:cNvSpPr/>
          <p:nvPr/>
        </p:nvSpPr>
        <p:spPr>
          <a:xfrm>
            <a:off x="5334681" y="1844824"/>
            <a:ext cx="504056" cy="288032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Text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2DEAEBD-C019-403B-289D-A6622F3E7FFD}"/>
              </a:ext>
            </a:extLst>
          </p:cNvPr>
          <p:cNvSpPr/>
          <p:nvPr/>
        </p:nvSpPr>
        <p:spPr>
          <a:xfrm>
            <a:off x="5910745" y="1844824"/>
            <a:ext cx="504056" cy="288032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Image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29856AD-0FAE-A713-FA44-C50A6566D00C}"/>
              </a:ext>
            </a:extLst>
          </p:cNvPr>
          <p:cNvSpPr/>
          <p:nvPr/>
        </p:nvSpPr>
        <p:spPr>
          <a:xfrm>
            <a:off x="6486809" y="1844824"/>
            <a:ext cx="504056" cy="288032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Audio</a:t>
            </a:r>
          </a:p>
        </p:txBody>
      </p:sp>
      <p:sp>
        <p:nvSpPr>
          <p:cNvPr id="16" name="右中括弧 15">
            <a:extLst>
              <a:ext uri="{FF2B5EF4-FFF2-40B4-BE49-F238E27FC236}">
                <a16:creationId xmlns:a16="http://schemas.microsoft.com/office/drawing/2014/main" id="{95E6BF77-2E61-8EC4-CBD0-EC6D36CA4F66}"/>
              </a:ext>
            </a:extLst>
          </p:cNvPr>
          <p:cNvSpPr/>
          <p:nvPr/>
        </p:nvSpPr>
        <p:spPr>
          <a:xfrm>
            <a:off x="7088362" y="2024726"/>
            <a:ext cx="85903" cy="612186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67329472-7D7F-C2B8-2D65-200565BBFC38}"/>
              </a:ext>
            </a:extLst>
          </p:cNvPr>
          <p:cNvSpPr txBox="1"/>
          <p:nvPr/>
        </p:nvSpPr>
        <p:spPr>
          <a:xfrm>
            <a:off x="7133147" y="2276753"/>
            <a:ext cx="577798" cy="21602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/>
              <a:t>Encoder</a:t>
            </a:r>
            <a:endParaRPr lang="zh-TW" altLang="en-US" sz="1200" dirty="0"/>
          </a:p>
        </p:txBody>
      </p:sp>
      <p:sp>
        <p:nvSpPr>
          <p:cNvPr id="18" name="右中括弧 17">
            <a:extLst>
              <a:ext uri="{FF2B5EF4-FFF2-40B4-BE49-F238E27FC236}">
                <a16:creationId xmlns:a16="http://schemas.microsoft.com/office/drawing/2014/main" id="{7362D288-3BCB-CABC-83B0-3C13F34344AF}"/>
              </a:ext>
            </a:extLst>
          </p:cNvPr>
          <p:cNvSpPr/>
          <p:nvPr/>
        </p:nvSpPr>
        <p:spPr>
          <a:xfrm>
            <a:off x="7092280" y="3032957"/>
            <a:ext cx="81985" cy="1749902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6A26E87E-7C29-6F00-FBCD-E71644C90FAD}"/>
              </a:ext>
            </a:extLst>
          </p:cNvPr>
          <p:cNvSpPr txBox="1"/>
          <p:nvPr/>
        </p:nvSpPr>
        <p:spPr>
          <a:xfrm>
            <a:off x="7133147" y="4005064"/>
            <a:ext cx="577798" cy="21602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/>
              <a:t>Decoder</a:t>
            </a:r>
            <a:endParaRPr lang="zh-TW" altLang="en-US" sz="1200" dirty="0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3B90CFA3-C618-D7BB-6CC6-0F59509E57D2}"/>
              </a:ext>
            </a:extLst>
          </p:cNvPr>
          <p:cNvSpPr/>
          <p:nvPr/>
        </p:nvSpPr>
        <p:spPr>
          <a:xfrm>
            <a:off x="5236384" y="3761040"/>
            <a:ext cx="1826222" cy="1021818"/>
          </a:xfrm>
          <a:prstGeom prst="rect">
            <a:avLst/>
          </a:prstGeom>
          <a:noFill/>
          <a:ln w="2540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endParaRPr lang="en-US" altLang="zh-TW" sz="1600" b="1" baseline="-250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B2F468A7-1820-9A81-4393-E17EDDD2F8CC}"/>
              </a:ext>
            </a:extLst>
          </p:cNvPr>
          <p:cNvSpPr/>
          <p:nvPr/>
        </p:nvSpPr>
        <p:spPr>
          <a:xfrm>
            <a:off x="5622713" y="3879758"/>
            <a:ext cx="1152128" cy="50405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Multi-Head</a:t>
            </a:r>
          </a:p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Attention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4466C18A-8DBF-C0B5-D0AA-F4A8778DADD0}"/>
              </a:ext>
            </a:extLst>
          </p:cNvPr>
          <p:cNvSpPr/>
          <p:nvPr/>
        </p:nvSpPr>
        <p:spPr>
          <a:xfrm>
            <a:off x="5622713" y="4475470"/>
            <a:ext cx="1152128" cy="24967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FFN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1DE3C5BA-B285-945D-3883-425368E5B507}"/>
              </a:ext>
            </a:extLst>
          </p:cNvPr>
          <p:cNvSpPr/>
          <p:nvPr/>
        </p:nvSpPr>
        <p:spPr>
          <a:xfrm>
            <a:off x="5622713" y="5398873"/>
            <a:ext cx="1152128" cy="19036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Linear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F139155D-0E18-F31A-4BD0-2ACDA46C5655}"/>
              </a:ext>
            </a:extLst>
          </p:cNvPr>
          <p:cNvSpPr/>
          <p:nvPr/>
        </p:nvSpPr>
        <p:spPr>
          <a:xfrm>
            <a:off x="5619054" y="3236095"/>
            <a:ext cx="1152128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TE + PE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F9B0BC2E-8926-89A3-5C06-95AACD85563D}"/>
              </a:ext>
            </a:extLst>
          </p:cNvPr>
          <p:cNvSpPr/>
          <p:nvPr/>
        </p:nvSpPr>
        <p:spPr>
          <a:xfrm>
            <a:off x="5910478" y="2227983"/>
            <a:ext cx="504056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SigLIP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710313E0-E91F-DA74-7004-459B37469F28}"/>
              </a:ext>
            </a:extLst>
          </p:cNvPr>
          <p:cNvSpPr/>
          <p:nvPr/>
        </p:nvSpPr>
        <p:spPr>
          <a:xfrm>
            <a:off x="5330155" y="2779366"/>
            <a:ext cx="508582" cy="397370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Sub-word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token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65C46A5-FA75-B980-D193-F7FFDDFB7C08}"/>
              </a:ext>
            </a:extLst>
          </p:cNvPr>
          <p:cNvSpPr/>
          <p:nvPr/>
        </p:nvSpPr>
        <p:spPr>
          <a:xfrm>
            <a:off x="5910745" y="2779366"/>
            <a:ext cx="508582" cy="397370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Visual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token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660727C0-C806-4AD6-A445-AA466FB2249F}"/>
              </a:ext>
            </a:extLst>
          </p:cNvPr>
          <p:cNvSpPr/>
          <p:nvPr/>
        </p:nvSpPr>
        <p:spPr>
          <a:xfrm>
            <a:off x="6486809" y="2779366"/>
            <a:ext cx="508582" cy="397370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Audio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token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pic>
        <p:nvPicPr>
          <p:cNvPr id="42" name="圖片 41">
            <a:extLst>
              <a:ext uri="{FF2B5EF4-FFF2-40B4-BE49-F238E27FC236}">
                <a16:creationId xmlns:a16="http://schemas.microsoft.com/office/drawing/2014/main" id="{1728A9D2-9290-72CA-E53C-590A147233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2040" y="1083152"/>
            <a:ext cx="1290487" cy="645243"/>
          </a:xfrm>
          <a:prstGeom prst="rect">
            <a:avLst/>
          </a:prstGeom>
        </p:spPr>
      </p:pic>
      <p:pic>
        <p:nvPicPr>
          <p:cNvPr id="44" name="圖片 43">
            <a:extLst>
              <a:ext uri="{FF2B5EF4-FFF2-40B4-BE49-F238E27FC236}">
                <a16:creationId xmlns:a16="http://schemas.microsoft.com/office/drawing/2014/main" id="{7DDD8DD2-093E-6E40-6CD2-B34CA8E5CB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7427" y="1052752"/>
            <a:ext cx="2019582" cy="724001"/>
          </a:xfrm>
          <a:prstGeom prst="rect">
            <a:avLst/>
          </a:prstGeom>
        </p:spPr>
      </p:pic>
      <p:pic>
        <p:nvPicPr>
          <p:cNvPr id="2" name="圖片 1">
            <a:extLst>
              <a:ext uri="{FF2B5EF4-FFF2-40B4-BE49-F238E27FC236}">
                <a16:creationId xmlns:a16="http://schemas.microsoft.com/office/drawing/2014/main" id="{E6156A00-08E4-3398-D6D5-256EC780F9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2320" y="6055888"/>
            <a:ext cx="439296" cy="437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845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18D97-612A-D280-211E-AB193E653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8DEE41D5-A80F-7EBF-F31B-6B31BBBD445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Supervised Fine-Tuning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Fast …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Optimizes base model parameters via self-supervised learning.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F96995FE-97C3-6F08-57D9-74404BECD9A4}"/>
              </a:ext>
            </a:extLst>
          </p:cNvPr>
          <p:cNvSpPr txBox="1"/>
          <p:nvPr/>
        </p:nvSpPr>
        <p:spPr>
          <a:xfrm>
            <a:off x="213023" y="980728"/>
            <a:ext cx="8568952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Parameter Efficient Fine Tunning (PEFT)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 err="1">
                <a:effectLst/>
              </a:rPr>
              <a:t>LoRA</a:t>
            </a:r>
            <a:r>
              <a:rPr lang="en-US" altLang="zh-TW" sz="1600" b="0" u="none" strike="noStrike" dirty="0">
                <a:effectLst/>
              </a:rPr>
              <a:t>: The fuel for ML, consisting of Features (inputs) and Labels (correct answers).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 err="1">
                <a:effectLst/>
              </a:rPr>
              <a:t>QLoRA</a:t>
            </a:r>
            <a:r>
              <a:rPr lang="en-US" altLang="zh-TW" sz="1600" b="0" u="none" strike="noStrike" dirty="0">
                <a:effectLst/>
              </a:rPr>
              <a:t>: An optimized mathematical formula capable of making decisions.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Adapter Tuning:</a:t>
            </a:r>
            <a:r>
              <a:rPr lang="en-US" altLang="zh-TW" sz="1600" dirty="0"/>
              <a:t> Learning tool (e.g., like loss function and optimizer).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Prompt Tuning:</a:t>
            </a:r>
            <a:r>
              <a:rPr lang="en-US" altLang="zh-TW" sz="1600" dirty="0"/>
              <a:t> Learning tool (e.g., like loss function and optimizer).</a:t>
            </a: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9A9EF1A9-2994-2037-52D0-3B7B603D72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9594157"/>
              </p:ext>
            </p:extLst>
          </p:nvPr>
        </p:nvGraphicFramePr>
        <p:xfrm>
          <a:off x="166935" y="3429000"/>
          <a:ext cx="2866653" cy="17510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941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2057241">
                  <a:extLst>
                    <a:ext uri="{9D8B030D-6E8A-4147-A177-3AD203B41FA5}">
                      <a16:colId xmlns:a16="http://schemas.microsoft.com/office/drawing/2014/main" val="2539720991"/>
                    </a:ext>
                  </a:extLst>
                </a:gridCol>
              </a:tblGrid>
              <a:tr h="196486">
                <a:tc gridSpan="2">
                  <a:txBody>
                    <a:bodyPr/>
                    <a:lstStyle/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Parameter Adjust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96486">
                <a:tc>
                  <a:txBody>
                    <a:bodyPr/>
                    <a:lstStyle/>
                    <a:p>
                      <a:pPr algn="l"/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Full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30408">
                <a:tc row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PEFT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LoRA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QLoRA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56588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DoRA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3041651"/>
                  </a:ext>
                </a:extLst>
              </a:tr>
              <a:tr h="260816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Prefix Tuning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5897546"/>
                  </a:ext>
                </a:extLst>
              </a:tr>
              <a:tr h="130408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Prompt Tuning,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434728"/>
                  </a:ext>
                </a:extLst>
              </a:tr>
              <a:tr h="586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Preference Alignment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ORPO, 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9072172"/>
                  </a:ext>
                </a:extLst>
              </a:tr>
              <a:tr h="17701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1695270"/>
                  </a:ext>
                </a:extLst>
              </a:tr>
            </a:tbl>
          </a:graphicData>
        </a:graphic>
      </p:graphicFrame>
      <p:sp>
        <p:nvSpPr>
          <p:cNvPr id="4" name="文字方塊 3">
            <a:extLst>
              <a:ext uri="{FF2B5EF4-FFF2-40B4-BE49-F238E27FC236}">
                <a16:creationId xmlns:a16="http://schemas.microsoft.com/office/drawing/2014/main" id="{3C07F0B0-AB65-462E-40F1-001FD403F3DD}"/>
              </a:ext>
            </a:extLst>
          </p:cNvPr>
          <p:cNvSpPr txBox="1"/>
          <p:nvPr/>
        </p:nvSpPr>
        <p:spPr>
          <a:xfrm>
            <a:off x="4716016" y="4077072"/>
            <a:ext cx="20441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1.</a:t>
            </a:r>
            <a:r>
              <a:rPr lang="zh-TW" altLang="en-US" dirty="0"/>
              <a:t> 主流技術</a:t>
            </a:r>
            <a:r>
              <a:rPr lang="en-US" altLang="zh-TW" dirty="0"/>
              <a:t>PEFT</a:t>
            </a:r>
            <a:br>
              <a:rPr lang="en-US" altLang="zh-TW" dirty="0"/>
            </a:br>
            <a:r>
              <a:rPr lang="en-US" altLang="zh-TW" dirty="0"/>
              <a:t>2.</a:t>
            </a:r>
            <a:r>
              <a:rPr lang="zh-TW" altLang="en-US" dirty="0"/>
              <a:t> 僅針對</a:t>
            </a:r>
            <a:r>
              <a:rPr lang="en-US" altLang="zh-TW" dirty="0" err="1"/>
              <a:t>LoRA</a:t>
            </a:r>
            <a:r>
              <a:rPr lang="zh-TW" altLang="en-US" dirty="0"/>
              <a:t>解說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8551EB79-99C8-CA75-9C05-D5ABDF089A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3123077"/>
              </p:ext>
            </p:extLst>
          </p:nvPr>
        </p:nvGraphicFramePr>
        <p:xfrm>
          <a:off x="3923928" y="4837127"/>
          <a:ext cx="3456384" cy="11270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106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546329">
                  <a:extLst>
                    <a:ext uri="{9D8B030D-6E8A-4147-A177-3AD203B41FA5}">
                      <a16:colId xmlns:a16="http://schemas.microsoft.com/office/drawing/2014/main" val="1057580889"/>
                    </a:ext>
                  </a:extLst>
                </a:gridCol>
                <a:gridCol w="546329">
                  <a:extLst>
                    <a:ext uri="{9D8B030D-6E8A-4147-A177-3AD203B41FA5}">
                      <a16:colId xmlns:a16="http://schemas.microsoft.com/office/drawing/2014/main" val="1337991183"/>
                    </a:ext>
                  </a:extLst>
                </a:gridCol>
                <a:gridCol w="546329">
                  <a:extLst>
                    <a:ext uri="{9D8B030D-6E8A-4147-A177-3AD203B41FA5}">
                      <a16:colId xmlns:a16="http://schemas.microsoft.com/office/drawing/2014/main" val="160511082"/>
                    </a:ext>
                  </a:extLst>
                </a:gridCol>
                <a:gridCol w="546329">
                  <a:extLst>
                    <a:ext uri="{9D8B030D-6E8A-4147-A177-3AD203B41FA5}">
                      <a16:colId xmlns:a16="http://schemas.microsoft.com/office/drawing/2014/main" val="910252365"/>
                    </a:ext>
                  </a:extLst>
                </a:gridCol>
              </a:tblGrid>
              <a:tr h="212621">
                <a:tc>
                  <a:txBody>
                    <a:bodyPr/>
                    <a:lstStyle/>
                    <a:p>
                      <a:pPr algn="l"/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LoRA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QLoRA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Parameters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99%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0.9%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0.1%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7912659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Memory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2430528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Cost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56582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69306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7DFB4-612C-B0B9-4BE8-45819BE65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5B7B60AB-5109-7BAE-FA39-45AF0A7FD0F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Low-Rank Adaptation</a:t>
            </a:r>
          </a:p>
          <a:p>
            <a:r>
              <a:rPr lang="en-US" altLang="zh-TW" sz="1400" dirty="0" err="1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LoRA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freezes the base model, squeezing updates through a narrow parameter bottleneck (r). 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47501F1-9349-ECEE-5E67-16D82872340B}"/>
              </a:ext>
            </a:extLst>
          </p:cNvPr>
          <p:cNvSpPr txBox="1"/>
          <p:nvPr/>
        </p:nvSpPr>
        <p:spPr>
          <a:xfrm>
            <a:off x="213023" y="980728"/>
            <a:ext cx="8568952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 err="1"/>
              <a:t>LoRA</a:t>
            </a:r>
            <a:r>
              <a:rPr lang="en-US" altLang="zh-TW" sz="2000" b="1" dirty="0"/>
              <a:t> vs </a:t>
            </a:r>
            <a:r>
              <a:rPr lang="en-US" altLang="zh-TW" sz="2000" b="1" dirty="0" err="1"/>
              <a:t>QLoRA</a:t>
            </a:r>
            <a:r>
              <a:rPr lang="en-US" altLang="zh-TW" sz="2000" b="1" dirty="0"/>
              <a:t>)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 err="1">
                <a:effectLst/>
              </a:rPr>
              <a:t>LoRA</a:t>
            </a:r>
            <a:r>
              <a:rPr lang="en-US" altLang="zh-TW" sz="1600" b="0" u="none" strike="noStrike" dirty="0">
                <a:effectLst/>
              </a:rPr>
              <a:t>: The fuel for ML, consisting of Features (inputs) and Labels (correct answers).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 err="1">
                <a:effectLst/>
              </a:rPr>
              <a:t>QLoRA</a:t>
            </a:r>
            <a:r>
              <a:rPr lang="en-US" altLang="zh-TW" sz="1600" b="0" u="none" strike="noStrike" dirty="0">
                <a:effectLst/>
              </a:rPr>
              <a:t>: An optimized mathematical formula capable of making decisions.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AAC677D0-9257-9F5D-A538-4CFD54E530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600" y="2409599"/>
            <a:ext cx="5651668" cy="3467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498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字方塊 7">
            <a:extLst>
              <a:ext uri="{FF2B5EF4-FFF2-40B4-BE49-F238E27FC236}">
                <a16:creationId xmlns:a16="http://schemas.microsoft.com/office/drawing/2014/main" id="{AF135B2E-EEC6-E246-846A-1EF62279E421}"/>
              </a:ext>
            </a:extLst>
          </p:cNvPr>
          <p:cNvSpPr txBox="1"/>
          <p:nvPr/>
        </p:nvSpPr>
        <p:spPr>
          <a:xfrm>
            <a:off x="213023" y="980728"/>
            <a:ext cx="8568952" cy="2246769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Long Context Window</a:t>
            </a:r>
            <a:r>
              <a:rPr lang="en-US" altLang="zh-TW" sz="1600" dirty="0"/>
              <a:t>: More than 256K tokens.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Native Unified / Encoder-Free</a:t>
            </a:r>
            <a:r>
              <a:rPr lang="en-US" altLang="zh-TW" sz="1600" u="none" strike="noStrike" dirty="0">
                <a:effectLst/>
              </a:rPr>
              <a:t>: Remove the image encoder (SigLIP).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Structured Thinking</a:t>
            </a:r>
            <a:r>
              <a:rPr lang="en-US" altLang="zh-TW" sz="1600" dirty="0"/>
              <a:t>: M?.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Per-Layer Embeddings (PLE):</a:t>
            </a:r>
            <a:r>
              <a:rPr lang="en-US" altLang="zh-TW" sz="1600" dirty="0"/>
              <a:t>: 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Multi-Token Prediction (MTP):</a:t>
            </a:r>
            <a:r>
              <a:rPr lang="en-US" altLang="zh-TW" sz="1600" dirty="0"/>
              <a:t>: .</a:t>
            </a:r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270DC3E0-A9BD-E0C6-9AF7-57F236AC3B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2723837"/>
              </p:ext>
            </p:extLst>
          </p:nvPr>
        </p:nvGraphicFramePr>
        <p:xfrm>
          <a:off x="351199" y="4221088"/>
          <a:ext cx="8225579" cy="20035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44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135393863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3854310234"/>
                    </a:ext>
                  </a:extLst>
                </a:gridCol>
                <a:gridCol w="620402">
                  <a:extLst>
                    <a:ext uri="{9D8B030D-6E8A-4147-A177-3AD203B41FA5}">
                      <a16:colId xmlns:a16="http://schemas.microsoft.com/office/drawing/2014/main" val="3929653818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Version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SFP8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Q4_0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Mobile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Text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Only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11.4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1.1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0.84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2.2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 A4B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57.7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28.8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69.9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34.9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CBD65641-EFAA-0505-2571-9011F98494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8274053"/>
              </p:ext>
            </p:extLst>
          </p:nvPr>
        </p:nvGraphicFramePr>
        <p:xfrm>
          <a:off x="7380312" y="5375161"/>
          <a:ext cx="1304842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484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Microsoft Phi-3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 Gemma 4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Llama 3 (8B)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Mistral (7B)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15068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Qwen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15068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1315238"/>
                  </a:ext>
                </a:extLst>
              </a:tr>
              <a:tr h="150688"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9327643"/>
                  </a:ext>
                </a:extLst>
              </a:tr>
            </a:tbl>
          </a:graphicData>
        </a:graphic>
      </p:graphicFrame>
      <p:sp>
        <p:nvSpPr>
          <p:cNvPr id="5" name="標題 1">
            <a:extLst>
              <a:ext uri="{FF2B5EF4-FFF2-40B4-BE49-F238E27FC236}">
                <a16:creationId xmlns:a16="http://schemas.microsoft.com/office/drawing/2014/main" id="{5E6D0E09-6EF5-9848-658D-D41ED80B4BA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4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Next-Gen Architecture &amp; Open Freedom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649EA95-8FB6-78DA-707B-076CC68FA7AD}"/>
              </a:ext>
            </a:extLst>
          </p:cNvPr>
          <p:cNvSpPr txBox="1"/>
          <p:nvPr/>
        </p:nvSpPr>
        <p:spPr>
          <a:xfrm>
            <a:off x="4209975" y="2166636"/>
            <a:ext cx="4572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Gemma 3</a:t>
            </a:r>
            <a:r>
              <a:rPr lang="en-US" altLang="zh-TW" sz="1200" dirty="0"/>
              <a:t>: Google DeepMind's single-GPU powerhouses offering 128K context windows and cross-cultural communication in over 140 languages.</a:t>
            </a:r>
          </a:p>
          <a:p>
            <a:r>
              <a:rPr lang="en-US" altLang="zh-TW" dirty="0"/>
              <a:t>Gemma 4</a:t>
            </a:r>
            <a:r>
              <a:rPr lang="en-US" altLang="zh-TW" sz="1200" dirty="0"/>
              <a:t>: Unlocking true commercial flexibility with an Apache 2.0 license, 256K context expansions, and high-efficiency Mixture-of-Experts (</a:t>
            </a:r>
            <a:r>
              <a:rPr lang="en-US" altLang="zh-TW" sz="1200" dirty="0" err="1"/>
              <a:t>MoE</a:t>
            </a:r>
            <a:r>
              <a:rPr lang="en-US" altLang="zh-TW" sz="1200" dirty="0"/>
              <a:t>) scaling.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343714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1FE66-60E4-CAE7-B48E-D43A9C24A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621033B1-FD4B-EB3F-A072-643EF25F1EB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Per Layer Embeddings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pSp>
        <p:nvGrpSpPr>
          <p:cNvPr id="152" name="群組 151">
            <a:extLst>
              <a:ext uri="{FF2B5EF4-FFF2-40B4-BE49-F238E27FC236}">
                <a16:creationId xmlns:a16="http://schemas.microsoft.com/office/drawing/2014/main" id="{65EBA2E8-16EC-3A46-D66A-987C3901716B}"/>
              </a:ext>
            </a:extLst>
          </p:cNvPr>
          <p:cNvGrpSpPr/>
          <p:nvPr/>
        </p:nvGrpSpPr>
        <p:grpSpPr>
          <a:xfrm>
            <a:off x="2829812" y="1201393"/>
            <a:ext cx="1310140" cy="4405650"/>
            <a:chOff x="3849298" y="1201393"/>
            <a:chExt cx="1310140" cy="4405650"/>
          </a:xfrm>
        </p:grpSpPr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3F52AA91-A73D-ADB6-95F2-020FAF6419D5}"/>
                </a:ext>
              </a:extLst>
            </p:cNvPr>
            <p:cNvSpPr txBox="1"/>
            <p:nvPr/>
          </p:nvSpPr>
          <p:spPr>
            <a:xfrm>
              <a:off x="4233171" y="1201393"/>
              <a:ext cx="543739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en-US" altLang="zh-TW" dirty="0"/>
                <a:t>31B</a:t>
              </a:r>
              <a:endParaRPr lang="zh-TW" altLang="en-US" dirty="0"/>
            </a:p>
          </p:txBody>
        </p:sp>
        <p:sp>
          <p:nvSpPr>
            <p:cNvPr id="103" name="矩形: 圓角 102">
              <a:extLst>
                <a:ext uri="{FF2B5EF4-FFF2-40B4-BE49-F238E27FC236}">
                  <a16:creationId xmlns:a16="http://schemas.microsoft.com/office/drawing/2014/main" id="{75B6E067-45CE-B85B-0CAA-A43833E04B97}"/>
                </a:ext>
              </a:extLst>
            </p:cNvPr>
            <p:cNvSpPr/>
            <p:nvPr/>
          </p:nvSpPr>
          <p:spPr>
            <a:xfrm>
              <a:off x="4056480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strong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grpSp>
          <p:nvGrpSpPr>
            <p:cNvPr id="148" name="群組 147">
              <a:extLst>
                <a:ext uri="{FF2B5EF4-FFF2-40B4-BE49-F238E27FC236}">
                  <a16:creationId xmlns:a16="http://schemas.microsoft.com/office/drawing/2014/main" id="{543C449C-D430-6EC4-6652-1406BB5D40CD}"/>
                </a:ext>
              </a:extLst>
            </p:cNvPr>
            <p:cNvGrpSpPr/>
            <p:nvPr/>
          </p:nvGrpSpPr>
          <p:grpSpPr>
            <a:xfrm>
              <a:off x="3849298" y="2060848"/>
              <a:ext cx="1310140" cy="3245081"/>
              <a:chOff x="3849298" y="2060848"/>
              <a:chExt cx="1310140" cy="3245081"/>
            </a:xfrm>
          </p:grpSpPr>
          <p:sp>
            <p:nvSpPr>
              <p:cNvPr id="109" name="矩形: 圓角 108">
                <a:extLst>
                  <a:ext uri="{FF2B5EF4-FFF2-40B4-BE49-F238E27FC236}">
                    <a16:creationId xmlns:a16="http://schemas.microsoft.com/office/drawing/2014/main" id="{B1A0C47A-43B4-48C9-5DDE-799140A31BBB}"/>
                  </a:ext>
                </a:extLst>
              </p:cNvPr>
              <p:cNvSpPr/>
              <p:nvPr/>
            </p:nvSpPr>
            <p:spPr>
              <a:xfrm>
                <a:off x="3983219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0" name="矩形: 圓角 109">
                <a:extLst>
                  <a:ext uri="{FF2B5EF4-FFF2-40B4-BE49-F238E27FC236}">
                    <a16:creationId xmlns:a16="http://schemas.microsoft.com/office/drawing/2014/main" id="{8786C929-30C5-9F6A-57FF-D524059DA39C}"/>
                  </a:ext>
                </a:extLst>
              </p:cNvPr>
              <p:cNvSpPr/>
              <p:nvPr/>
            </p:nvSpPr>
            <p:spPr>
              <a:xfrm>
                <a:off x="3983219" y="4027493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2">
                        <a:lumMod val="50000"/>
                      </a:schemeClr>
                    </a:solidFill>
                  </a:rPr>
                  <a:t>Dense</a:t>
                </a:r>
                <a:endParaRPr lang="zh-TW" altLang="en-US" sz="14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1" name="矩形: 圓角 110">
                <a:extLst>
                  <a:ext uri="{FF2B5EF4-FFF2-40B4-BE49-F238E27FC236}">
                    <a16:creationId xmlns:a16="http://schemas.microsoft.com/office/drawing/2014/main" id="{FA5DE809-863D-1BD6-5A79-6527343088E6}"/>
                  </a:ext>
                </a:extLst>
              </p:cNvPr>
              <p:cNvSpPr/>
              <p:nvPr/>
            </p:nvSpPr>
            <p:spPr>
              <a:xfrm>
                <a:off x="3983219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2" name="矩形 111">
                <a:extLst>
                  <a:ext uri="{FF2B5EF4-FFF2-40B4-BE49-F238E27FC236}">
                    <a16:creationId xmlns:a16="http://schemas.microsoft.com/office/drawing/2014/main" id="{954CA58C-ECA8-D0E6-96F1-F93BBFB1B144}"/>
                  </a:ext>
                </a:extLst>
              </p:cNvPr>
              <p:cNvSpPr/>
              <p:nvPr/>
            </p:nvSpPr>
            <p:spPr>
              <a:xfrm>
                <a:off x="3849298" y="2614483"/>
                <a:ext cx="1310140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13" name="接點: 肘形 112">
                <a:extLst>
                  <a:ext uri="{FF2B5EF4-FFF2-40B4-BE49-F238E27FC236}">
                    <a16:creationId xmlns:a16="http://schemas.microsoft.com/office/drawing/2014/main" id="{EEAA8209-2A30-345D-A2F2-A445B86656F8}"/>
                  </a:ext>
                </a:extLst>
              </p:cNvPr>
              <p:cNvCxnSpPr>
                <a:cxnSpLocks/>
                <a:stCxn id="110" idx="2"/>
                <a:endCxn id="112" idx="0"/>
              </p:cNvCxnSpPr>
              <p:nvPr/>
            </p:nvCxnSpPr>
            <p:spPr>
              <a:xfrm rot="5400000" flipH="1" flipV="1">
                <a:off x="3672777" y="3439076"/>
                <a:ext cx="1656184" cy="6997"/>
              </a:xfrm>
              <a:prstGeom prst="bentConnector5">
                <a:avLst>
                  <a:gd name="adj1" fmla="val -13803"/>
                  <a:gd name="adj2" fmla="val 12729270"/>
                  <a:gd name="adj3" fmla="val 113803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直線單箭頭接點 113">
                <a:extLst>
                  <a:ext uri="{FF2B5EF4-FFF2-40B4-BE49-F238E27FC236}">
                    <a16:creationId xmlns:a16="http://schemas.microsoft.com/office/drawing/2014/main" id="{8364B025-C4C5-AB69-EE31-E3027A430931}"/>
                  </a:ext>
                </a:extLst>
              </p:cNvPr>
              <p:cNvCxnSpPr>
                <a:cxnSpLocks/>
                <a:stCxn id="109" idx="2"/>
                <a:endCxn id="111" idx="0"/>
              </p:cNvCxnSpPr>
              <p:nvPr/>
            </p:nvCxnSpPr>
            <p:spPr>
              <a:xfrm>
                <a:off x="4497371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直線單箭頭接點 114">
                <a:extLst>
                  <a:ext uri="{FF2B5EF4-FFF2-40B4-BE49-F238E27FC236}">
                    <a16:creationId xmlns:a16="http://schemas.microsoft.com/office/drawing/2014/main" id="{ADE31BC4-90E6-6D3F-59D3-813D286D61C0}"/>
                  </a:ext>
                </a:extLst>
              </p:cNvPr>
              <p:cNvCxnSpPr>
                <a:cxnSpLocks/>
                <a:stCxn id="112" idx="0"/>
                <a:endCxn id="109" idx="0"/>
              </p:cNvCxnSpPr>
              <p:nvPr/>
            </p:nvCxnSpPr>
            <p:spPr>
              <a:xfrm flipH="1">
                <a:off x="4497371" y="2614483"/>
                <a:ext cx="6997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6" name="矩形: 圓角 115">
                <a:extLst>
                  <a:ext uri="{FF2B5EF4-FFF2-40B4-BE49-F238E27FC236}">
                    <a16:creationId xmlns:a16="http://schemas.microsoft.com/office/drawing/2014/main" id="{30DF811A-5FC0-52F5-F149-597ED05963C1}"/>
                  </a:ext>
                </a:extLst>
              </p:cNvPr>
              <p:cNvSpPr/>
              <p:nvPr/>
            </p:nvSpPr>
            <p:spPr>
              <a:xfrm>
                <a:off x="3995936" y="2060848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Tokenizer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7" name="矩形: 圓角 116">
                <a:extLst>
                  <a:ext uri="{FF2B5EF4-FFF2-40B4-BE49-F238E27FC236}">
                    <a16:creationId xmlns:a16="http://schemas.microsoft.com/office/drawing/2014/main" id="{88C2B72B-1941-C2E9-CCDE-0E6EBA4C6A0E}"/>
                  </a:ext>
                </a:extLst>
              </p:cNvPr>
              <p:cNvSpPr/>
              <p:nvPr/>
            </p:nvSpPr>
            <p:spPr>
              <a:xfrm>
                <a:off x="3990889" y="5062755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Linear, SM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08" name="矩形: 圓角 107">
                <a:extLst>
                  <a:ext uri="{FF2B5EF4-FFF2-40B4-BE49-F238E27FC236}">
                    <a16:creationId xmlns:a16="http://schemas.microsoft.com/office/drawing/2014/main" id="{81D65B75-1C95-0AA1-A90B-F98320248AB8}"/>
                  </a:ext>
                </a:extLst>
              </p:cNvPr>
              <p:cNvSpPr/>
              <p:nvPr/>
            </p:nvSpPr>
            <p:spPr>
              <a:xfrm>
                <a:off x="3983219" y="3163397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Attention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  <p:sp>
          <p:nvSpPr>
            <p:cNvPr id="132" name="矩形: 圓角 131">
              <a:extLst>
                <a:ext uri="{FF2B5EF4-FFF2-40B4-BE49-F238E27FC236}">
                  <a16:creationId xmlns:a16="http://schemas.microsoft.com/office/drawing/2014/main" id="{BFD9E345-B80A-8E21-A3EB-86BEEE7EA026}"/>
                </a:ext>
              </a:extLst>
            </p:cNvPr>
            <p:cNvSpPr/>
            <p:nvPr/>
          </p:nvSpPr>
          <p:spPr>
            <a:xfrm>
              <a:off x="3850644" y="1628801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151" name="群組 150">
            <a:extLst>
              <a:ext uri="{FF2B5EF4-FFF2-40B4-BE49-F238E27FC236}">
                <a16:creationId xmlns:a16="http://schemas.microsoft.com/office/drawing/2014/main" id="{44A0B88C-90C5-45C8-77ED-D51E0DC93E47}"/>
              </a:ext>
            </a:extLst>
          </p:cNvPr>
          <p:cNvGrpSpPr/>
          <p:nvPr/>
        </p:nvGrpSpPr>
        <p:grpSpPr>
          <a:xfrm>
            <a:off x="6719590" y="1196752"/>
            <a:ext cx="1308794" cy="4410291"/>
            <a:chOff x="6802972" y="1196752"/>
            <a:chExt cx="1308794" cy="4410291"/>
          </a:xfrm>
        </p:grpSpPr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BDFCCEC8-F9EA-2CE2-81B4-209FFFA8A01A}"/>
                </a:ext>
              </a:extLst>
            </p:cNvPr>
            <p:cNvSpPr txBox="1"/>
            <p:nvPr/>
          </p:nvSpPr>
          <p:spPr>
            <a:xfrm>
              <a:off x="6962972" y="1196752"/>
              <a:ext cx="971741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en-US" altLang="zh-TW" dirty="0"/>
                <a:t>26B</a:t>
              </a:r>
              <a:r>
                <a:rPr lang="zh-TW" altLang="en-US" dirty="0"/>
                <a:t> </a:t>
              </a:r>
              <a:r>
                <a:rPr lang="en-US" altLang="zh-TW" dirty="0"/>
                <a:t>A4B</a:t>
              </a:r>
              <a:endParaRPr lang="zh-TW" altLang="en-US" dirty="0"/>
            </a:p>
          </p:txBody>
        </p:sp>
        <p:grpSp>
          <p:nvGrpSpPr>
            <p:cNvPr id="149" name="群組 148">
              <a:extLst>
                <a:ext uri="{FF2B5EF4-FFF2-40B4-BE49-F238E27FC236}">
                  <a16:creationId xmlns:a16="http://schemas.microsoft.com/office/drawing/2014/main" id="{914518BF-4D90-6E22-6D1D-F6151E3C3E6B}"/>
                </a:ext>
              </a:extLst>
            </p:cNvPr>
            <p:cNvGrpSpPr/>
            <p:nvPr/>
          </p:nvGrpSpPr>
          <p:grpSpPr>
            <a:xfrm>
              <a:off x="6802972" y="2060848"/>
              <a:ext cx="1308794" cy="3245081"/>
              <a:chOff x="6802972" y="2060848"/>
              <a:chExt cx="1308794" cy="3245081"/>
            </a:xfrm>
          </p:grpSpPr>
          <p:sp>
            <p:nvSpPr>
              <p:cNvPr id="120" name="矩形: 圓角 119">
                <a:extLst>
                  <a:ext uri="{FF2B5EF4-FFF2-40B4-BE49-F238E27FC236}">
                    <a16:creationId xmlns:a16="http://schemas.microsoft.com/office/drawing/2014/main" id="{09CB361F-5F83-C5B1-3CD2-BC96CAAE3787}"/>
                  </a:ext>
                </a:extLst>
              </p:cNvPr>
              <p:cNvSpPr/>
              <p:nvPr/>
            </p:nvSpPr>
            <p:spPr>
              <a:xfrm>
                <a:off x="6935547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1" name="矩形: 圓角 120">
                <a:extLst>
                  <a:ext uri="{FF2B5EF4-FFF2-40B4-BE49-F238E27FC236}">
                    <a16:creationId xmlns:a16="http://schemas.microsoft.com/office/drawing/2014/main" id="{C059B1DF-F859-05CF-02DD-BCF6FFE6EAC8}"/>
                  </a:ext>
                </a:extLst>
              </p:cNvPr>
              <p:cNvSpPr/>
              <p:nvPr/>
            </p:nvSpPr>
            <p:spPr>
              <a:xfrm>
                <a:off x="6935547" y="4027493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 err="1">
                    <a:solidFill>
                      <a:schemeClr val="accent2">
                        <a:lumMod val="50000"/>
                      </a:schemeClr>
                    </a:solidFill>
                  </a:rPr>
                  <a:t>MoE</a:t>
                </a:r>
                <a:endParaRPr lang="zh-TW" altLang="en-US" sz="14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2" name="矩形: 圓角 121">
                <a:extLst>
                  <a:ext uri="{FF2B5EF4-FFF2-40B4-BE49-F238E27FC236}">
                    <a16:creationId xmlns:a16="http://schemas.microsoft.com/office/drawing/2014/main" id="{28F14AED-9A2A-B96B-438E-CAB09C6EC09E}"/>
                  </a:ext>
                </a:extLst>
              </p:cNvPr>
              <p:cNvSpPr/>
              <p:nvPr/>
            </p:nvSpPr>
            <p:spPr>
              <a:xfrm>
                <a:off x="6935547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3" name="矩形 122">
                <a:extLst>
                  <a:ext uri="{FF2B5EF4-FFF2-40B4-BE49-F238E27FC236}">
                    <a16:creationId xmlns:a16="http://schemas.microsoft.com/office/drawing/2014/main" id="{C6649A89-BF96-006A-59D0-EA5169552E28}"/>
                  </a:ext>
                </a:extLst>
              </p:cNvPr>
              <p:cNvSpPr/>
              <p:nvPr/>
            </p:nvSpPr>
            <p:spPr>
              <a:xfrm>
                <a:off x="6802972" y="2614483"/>
                <a:ext cx="1308794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24" name="接點: 肘形 123">
                <a:extLst>
                  <a:ext uri="{FF2B5EF4-FFF2-40B4-BE49-F238E27FC236}">
                    <a16:creationId xmlns:a16="http://schemas.microsoft.com/office/drawing/2014/main" id="{54BBA61F-933C-E302-2722-155492A374CD}"/>
                  </a:ext>
                </a:extLst>
              </p:cNvPr>
              <p:cNvCxnSpPr>
                <a:cxnSpLocks/>
                <a:stCxn id="121" idx="2"/>
                <a:endCxn id="123" idx="0"/>
              </p:cNvCxnSpPr>
              <p:nvPr/>
            </p:nvCxnSpPr>
            <p:spPr>
              <a:xfrm rot="5400000" flipH="1" flipV="1">
                <a:off x="6625442" y="3438740"/>
                <a:ext cx="1656184" cy="7670"/>
              </a:xfrm>
              <a:prstGeom prst="bentConnector5">
                <a:avLst>
                  <a:gd name="adj1" fmla="val -13803"/>
                  <a:gd name="adj2" fmla="val 11612347"/>
                  <a:gd name="adj3" fmla="val 113803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直線單箭頭接點 124">
                <a:extLst>
                  <a:ext uri="{FF2B5EF4-FFF2-40B4-BE49-F238E27FC236}">
                    <a16:creationId xmlns:a16="http://schemas.microsoft.com/office/drawing/2014/main" id="{2BD9A8CA-9389-393E-9448-914EF057A994}"/>
                  </a:ext>
                </a:extLst>
              </p:cNvPr>
              <p:cNvCxnSpPr>
                <a:cxnSpLocks/>
                <a:stCxn id="120" idx="2"/>
                <a:endCxn id="122" idx="0"/>
              </p:cNvCxnSpPr>
              <p:nvPr/>
            </p:nvCxnSpPr>
            <p:spPr>
              <a:xfrm>
                <a:off x="7449699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直線單箭頭接點 125">
                <a:extLst>
                  <a:ext uri="{FF2B5EF4-FFF2-40B4-BE49-F238E27FC236}">
                    <a16:creationId xmlns:a16="http://schemas.microsoft.com/office/drawing/2014/main" id="{678ADA3E-F566-DF55-2F67-868077547768}"/>
                  </a:ext>
                </a:extLst>
              </p:cNvPr>
              <p:cNvCxnSpPr>
                <a:cxnSpLocks/>
                <a:stCxn id="123" idx="0"/>
                <a:endCxn id="120" idx="0"/>
              </p:cNvCxnSpPr>
              <p:nvPr/>
            </p:nvCxnSpPr>
            <p:spPr>
              <a:xfrm flipH="1">
                <a:off x="7449699" y="2614483"/>
                <a:ext cx="7670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7" name="矩形: 圓角 126">
                <a:extLst>
                  <a:ext uri="{FF2B5EF4-FFF2-40B4-BE49-F238E27FC236}">
                    <a16:creationId xmlns:a16="http://schemas.microsoft.com/office/drawing/2014/main" id="{53C549A5-999E-64E3-9B66-C549447A4807}"/>
                  </a:ext>
                </a:extLst>
              </p:cNvPr>
              <p:cNvSpPr/>
              <p:nvPr/>
            </p:nvSpPr>
            <p:spPr>
              <a:xfrm>
                <a:off x="6948264" y="2060848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Tokenizer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8" name="矩形: 圓角 127">
                <a:extLst>
                  <a:ext uri="{FF2B5EF4-FFF2-40B4-BE49-F238E27FC236}">
                    <a16:creationId xmlns:a16="http://schemas.microsoft.com/office/drawing/2014/main" id="{798E2173-9DB8-9E98-4E1B-543E6352D905}"/>
                  </a:ext>
                </a:extLst>
              </p:cNvPr>
              <p:cNvSpPr/>
              <p:nvPr/>
            </p:nvSpPr>
            <p:spPr>
              <a:xfrm>
                <a:off x="6943217" y="5062755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Linear/SM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9" name="矩形: 圓角 118">
                <a:extLst>
                  <a:ext uri="{FF2B5EF4-FFF2-40B4-BE49-F238E27FC236}">
                    <a16:creationId xmlns:a16="http://schemas.microsoft.com/office/drawing/2014/main" id="{68D4254A-F22C-4427-B75E-6C46E56E92BA}"/>
                  </a:ext>
                </a:extLst>
              </p:cNvPr>
              <p:cNvSpPr/>
              <p:nvPr/>
            </p:nvSpPr>
            <p:spPr>
              <a:xfrm>
                <a:off x="6935547" y="3163397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Attention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  <p:sp>
          <p:nvSpPr>
            <p:cNvPr id="133" name="矩形: 圓角 132">
              <a:extLst>
                <a:ext uri="{FF2B5EF4-FFF2-40B4-BE49-F238E27FC236}">
                  <a16:creationId xmlns:a16="http://schemas.microsoft.com/office/drawing/2014/main" id="{4D690126-61CA-F258-22BB-2E940F65C604}"/>
                </a:ext>
              </a:extLst>
            </p:cNvPr>
            <p:cNvSpPr/>
            <p:nvPr/>
          </p:nvSpPr>
          <p:spPr>
            <a:xfrm>
              <a:off x="6802972" y="1630144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150" name="矩形: 圓角 149">
              <a:extLst>
                <a:ext uri="{FF2B5EF4-FFF2-40B4-BE49-F238E27FC236}">
                  <a16:creationId xmlns:a16="http://schemas.microsoft.com/office/drawing/2014/main" id="{21AD1A59-C006-E11E-9DBF-E1BF5F701EE1}"/>
                </a:ext>
              </a:extLst>
            </p:cNvPr>
            <p:cNvSpPr/>
            <p:nvPr/>
          </p:nvSpPr>
          <p:spPr>
            <a:xfrm>
              <a:off x="6991754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incredible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9" name="群組 8">
            <a:extLst>
              <a:ext uri="{FF2B5EF4-FFF2-40B4-BE49-F238E27FC236}">
                <a16:creationId xmlns:a16="http://schemas.microsoft.com/office/drawing/2014/main" id="{799DB70C-EBA6-1AAB-5610-9E44A9B19D1E}"/>
              </a:ext>
            </a:extLst>
          </p:cNvPr>
          <p:cNvGrpSpPr/>
          <p:nvPr/>
        </p:nvGrpSpPr>
        <p:grpSpPr>
          <a:xfrm>
            <a:off x="899592" y="1196752"/>
            <a:ext cx="1310140" cy="4410291"/>
            <a:chOff x="1835696" y="1196752"/>
            <a:chExt cx="1310140" cy="4410291"/>
          </a:xfrm>
        </p:grpSpPr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8FE5E1F0-4507-2709-72C4-FBC1F3D5EE4F}"/>
                </a:ext>
              </a:extLst>
            </p:cNvPr>
            <p:cNvSpPr txBox="1"/>
            <p:nvPr/>
          </p:nvSpPr>
          <p:spPr>
            <a:xfrm>
              <a:off x="1941876" y="1196752"/>
              <a:ext cx="1104790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zh-TW" altLang="zh-TW" dirty="0"/>
                <a:t>E</a:t>
              </a:r>
              <a:r>
                <a:rPr lang="en-US" altLang="zh-TW" dirty="0"/>
                <a:t>2B</a:t>
              </a:r>
              <a:r>
                <a:rPr lang="zh-TW" altLang="en-US" dirty="0"/>
                <a:t> </a:t>
              </a:r>
              <a:r>
                <a:rPr lang="en-US" altLang="zh-TW" dirty="0"/>
                <a:t>|</a:t>
              </a:r>
              <a:r>
                <a:rPr lang="zh-TW" altLang="en-US" dirty="0"/>
                <a:t> </a:t>
              </a:r>
              <a:r>
                <a:rPr lang="en-US" altLang="zh-TW" dirty="0"/>
                <a:t>E4B</a:t>
              </a:r>
              <a:endParaRPr lang="zh-TW" altLang="en-US" dirty="0"/>
            </a:p>
          </p:txBody>
        </p:sp>
        <p:sp>
          <p:nvSpPr>
            <p:cNvPr id="100" name="矩形: 圓角 99">
              <a:extLst>
                <a:ext uri="{FF2B5EF4-FFF2-40B4-BE49-F238E27FC236}">
                  <a16:creationId xmlns:a16="http://schemas.microsoft.com/office/drawing/2014/main" id="{7FDED451-8F6A-446D-1B14-B4E0156FD4D3}"/>
                </a:ext>
              </a:extLst>
            </p:cNvPr>
            <p:cNvSpPr/>
            <p:nvPr/>
          </p:nvSpPr>
          <p:spPr>
            <a:xfrm>
              <a:off x="1837042" y="1628800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9" name="矩形: 圓角 98">
              <a:extLst>
                <a:ext uri="{FF2B5EF4-FFF2-40B4-BE49-F238E27FC236}">
                  <a16:creationId xmlns:a16="http://schemas.microsoft.com/office/drawing/2014/main" id="{881310D7-8296-869F-341C-281D4F2B10A5}"/>
                </a:ext>
              </a:extLst>
            </p:cNvPr>
            <p:cNvSpPr/>
            <p:nvPr/>
          </p:nvSpPr>
          <p:spPr>
            <a:xfrm>
              <a:off x="1982334" y="2060848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Tokenizer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02" name="矩形: 圓角 101">
              <a:extLst>
                <a:ext uri="{FF2B5EF4-FFF2-40B4-BE49-F238E27FC236}">
                  <a16:creationId xmlns:a16="http://schemas.microsoft.com/office/drawing/2014/main" id="{DC949A37-E7DC-E21F-C0D1-12CF26477043}"/>
                </a:ext>
              </a:extLst>
            </p:cNvPr>
            <p:cNvSpPr/>
            <p:nvPr/>
          </p:nvSpPr>
          <p:spPr>
            <a:xfrm>
              <a:off x="1977287" y="5062755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Linear, SM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06" name="矩形: 圓角 105">
              <a:extLst>
                <a:ext uri="{FF2B5EF4-FFF2-40B4-BE49-F238E27FC236}">
                  <a16:creationId xmlns:a16="http://schemas.microsoft.com/office/drawing/2014/main" id="{FF1A4766-120F-EEDC-A210-B9D7EE35980C}"/>
                </a:ext>
              </a:extLst>
            </p:cNvPr>
            <p:cNvSpPr/>
            <p:nvPr/>
          </p:nvSpPr>
          <p:spPr>
            <a:xfrm>
              <a:off x="2026681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efficient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grpSp>
          <p:nvGrpSpPr>
            <p:cNvPr id="8" name="群組 7">
              <a:extLst>
                <a:ext uri="{FF2B5EF4-FFF2-40B4-BE49-F238E27FC236}">
                  <a16:creationId xmlns:a16="http://schemas.microsoft.com/office/drawing/2014/main" id="{8D6DCFFB-C0BB-FCC4-011F-2270F791AC7D}"/>
                </a:ext>
              </a:extLst>
            </p:cNvPr>
            <p:cNvGrpSpPr/>
            <p:nvPr/>
          </p:nvGrpSpPr>
          <p:grpSpPr>
            <a:xfrm>
              <a:off x="1835696" y="2614483"/>
              <a:ext cx="1310140" cy="2115382"/>
              <a:chOff x="1835696" y="2614483"/>
              <a:chExt cx="1310140" cy="2115382"/>
            </a:xfrm>
          </p:grpSpPr>
          <p:sp>
            <p:nvSpPr>
              <p:cNvPr id="55" name="矩形: 圓角 54">
                <a:extLst>
                  <a:ext uri="{FF2B5EF4-FFF2-40B4-BE49-F238E27FC236}">
                    <a16:creationId xmlns:a16="http://schemas.microsoft.com/office/drawing/2014/main" id="{61356441-B1DA-3ADB-EAD9-6303F990BAB9}"/>
                  </a:ext>
                </a:extLst>
              </p:cNvPr>
              <p:cNvSpPr/>
              <p:nvPr/>
            </p:nvSpPr>
            <p:spPr>
              <a:xfrm>
                <a:off x="1982334" y="4486691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  <a:alpha val="7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b="1" dirty="0">
                    <a:solidFill>
                      <a:schemeClr val="accent2">
                        <a:lumMod val="50000"/>
                      </a:schemeClr>
                    </a:solidFill>
                  </a:rPr>
                  <a:t>PLE</a:t>
                </a:r>
                <a:endParaRPr lang="zh-TW" altLang="en-US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1" name="矩形: 圓角 60">
                <a:extLst>
                  <a:ext uri="{FF2B5EF4-FFF2-40B4-BE49-F238E27FC236}">
                    <a16:creationId xmlns:a16="http://schemas.microsoft.com/office/drawing/2014/main" id="{EAAF1AF3-F61B-22E1-64D4-AB6882B54946}"/>
                  </a:ext>
                </a:extLst>
              </p:cNvPr>
              <p:cNvSpPr/>
              <p:nvPr/>
            </p:nvSpPr>
            <p:spPr>
              <a:xfrm>
                <a:off x="1969617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2" name="矩形: 圓角 61">
                <a:extLst>
                  <a:ext uri="{FF2B5EF4-FFF2-40B4-BE49-F238E27FC236}">
                    <a16:creationId xmlns:a16="http://schemas.microsoft.com/office/drawing/2014/main" id="{F27226A8-618A-460B-F7B0-9A91FD798FE0}"/>
                  </a:ext>
                </a:extLst>
              </p:cNvPr>
              <p:cNvSpPr/>
              <p:nvPr/>
            </p:nvSpPr>
            <p:spPr>
              <a:xfrm>
                <a:off x="1969617" y="402749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Dense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7" name="矩形: 圓角 66">
                <a:extLst>
                  <a:ext uri="{FF2B5EF4-FFF2-40B4-BE49-F238E27FC236}">
                    <a16:creationId xmlns:a16="http://schemas.microsoft.com/office/drawing/2014/main" id="{446D0A23-CFB0-77CF-6681-193B02CD4BC2}"/>
                  </a:ext>
                </a:extLst>
              </p:cNvPr>
              <p:cNvSpPr/>
              <p:nvPr/>
            </p:nvSpPr>
            <p:spPr>
              <a:xfrm>
                <a:off x="1969617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EDC9D96B-FA70-8B28-F060-321A9F715380}"/>
                  </a:ext>
                </a:extLst>
              </p:cNvPr>
              <p:cNvSpPr/>
              <p:nvPr/>
            </p:nvSpPr>
            <p:spPr>
              <a:xfrm>
                <a:off x="1835696" y="2614483"/>
                <a:ext cx="1310140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73" name="接點: 肘形 72">
                <a:extLst>
                  <a:ext uri="{FF2B5EF4-FFF2-40B4-BE49-F238E27FC236}">
                    <a16:creationId xmlns:a16="http://schemas.microsoft.com/office/drawing/2014/main" id="{BB3A8C32-3EB2-F686-CAC5-BB82165F1204}"/>
                  </a:ext>
                </a:extLst>
              </p:cNvPr>
              <p:cNvCxnSpPr>
                <a:cxnSpLocks/>
                <a:stCxn id="55" idx="2"/>
                <a:endCxn id="68" idx="0"/>
              </p:cNvCxnSpPr>
              <p:nvPr/>
            </p:nvCxnSpPr>
            <p:spPr>
              <a:xfrm rot="5400000" flipH="1">
                <a:off x="1435935" y="3669314"/>
                <a:ext cx="2115382" cy="5720"/>
              </a:xfrm>
              <a:prstGeom prst="bentConnector5">
                <a:avLst>
                  <a:gd name="adj1" fmla="val -10807"/>
                  <a:gd name="adj2" fmla="val 15548776"/>
                  <a:gd name="adj3" fmla="val 110807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直線單箭頭接點 86">
                <a:extLst>
                  <a:ext uri="{FF2B5EF4-FFF2-40B4-BE49-F238E27FC236}">
                    <a16:creationId xmlns:a16="http://schemas.microsoft.com/office/drawing/2014/main" id="{63FC822F-BBDF-C96A-17A9-7AD6F755BD97}"/>
                  </a:ext>
                </a:extLst>
              </p:cNvPr>
              <p:cNvCxnSpPr>
                <a:cxnSpLocks/>
                <a:stCxn id="61" idx="2"/>
                <a:endCxn id="67" idx="0"/>
              </p:cNvCxnSpPr>
              <p:nvPr/>
            </p:nvCxnSpPr>
            <p:spPr>
              <a:xfrm>
                <a:off x="2483769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直線單箭頭接點 87">
                <a:extLst>
                  <a:ext uri="{FF2B5EF4-FFF2-40B4-BE49-F238E27FC236}">
                    <a16:creationId xmlns:a16="http://schemas.microsoft.com/office/drawing/2014/main" id="{3D72D62E-80EC-57FB-06BC-90D556BA0ECA}"/>
                  </a:ext>
                </a:extLst>
              </p:cNvPr>
              <p:cNvCxnSpPr>
                <a:cxnSpLocks/>
                <a:stCxn id="68" idx="0"/>
                <a:endCxn id="61" idx="0"/>
              </p:cNvCxnSpPr>
              <p:nvPr/>
            </p:nvCxnSpPr>
            <p:spPr>
              <a:xfrm flipH="1">
                <a:off x="2483769" y="2614483"/>
                <a:ext cx="6997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" name="矩形: 圓角 1">
                <a:extLst>
                  <a:ext uri="{FF2B5EF4-FFF2-40B4-BE49-F238E27FC236}">
                    <a16:creationId xmlns:a16="http://schemas.microsoft.com/office/drawing/2014/main" id="{67C984C6-AE48-5B4C-8B8F-BCE826BB52F8}"/>
                  </a:ext>
                </a:extLst>
              </p:cNvPr>
              <p:cNvSpPr/>
              <p:nvPr/>
            </p:nvSpPr>
            <p:spPr>
              <a:xfrm>
                <a:off x="2589697" y="3146727"/>
                <a:ext cx="410174" cy="473363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000" b="1" dirty="0">
                    <a:solidFill>
                      <a:schemeClr val="accent2">
                        <a:lumMod val="50000"/>
                      </a:schemeClr>
                    </a:solidFill>
                  </a:rPr>
                  <a:t>Static</a:t>
                </a:r>
              </a:p>
              <a:p>
                <a:pPr algn="ctr"/>
                <a:r>
                  <a:rPr lang="en-US" altLang="zh-TW" sz="1000" b="1" dirty="0">
                    <a:solidFill>
                      <a:schemeClr val="accent2">
                        <a:lumMod val="50000"/>
                      </a:schemeClr>
                    </a:solidFill>
                  </a:rPr>
                  <a:t>Lookup</a:t>
                </a:r>
                <a:endParaRPr lang="zh-TW" altLang="en-US" sz="10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0" name="矩形: 圓角 59">
                <a:extLst>
                  <a:ext uri="{FF2B5EF4-FFF2-40B4-BE49-F238E27FC236}">
                    <a16:creationId xmlns:a16="http://schemas.microsoft.com/office/drawing/2014/main" id="{5016B45E-114D-E8BD-9EE1-4B3C5A0D4B8C}"/>
                  </a:ext>
                </a:extLst>
              </p:cNvPr>
              <p:cNvSpPr/>
              <p:nvPr/>
            </p:nvSpPr>
            <p:spPr>
              <a:xfrm>
                <a:off x="1969617" y="3169369"/>
                <a:ext cx="487505" cy="235949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QKV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</p:grpSp>
      <p:grpSp>
        <p:nvGrpSpPr>
          <p:cNvPr id="5" name="群組 4">
            <a:extLst>
              <a:ext uri="{FF2B5EF4-FFF2-40B4-BE49-F238E27FC236}">
                <a16:creationId xmlns:a16="http://schemas.microsoft.com/office/drawing/2014/main" id="{0F530714-EF5B-2630-007A-ABFDBA3A4E70}"/>
              </a:ext>
            </a:extLst>
          </p:cNvPr>
          <p:cNvGrpSpPr/>
          <p:nvPr/>
        </p:nvGrpSpPr>
        <p:grpSpPr>
          <a:xfrm>
            <a:off x="4536583" y="1202493"/>
            <a:ext cx="1310140" cy="4405650"/>
            <a:chOff x="3849298" y="1201393"/>
            <a:chExt cx="1310140" cy="4405650"/>
          </a:xfrm>
        </p:grpSpPr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58B6B9FF-7B9F-2491-3FC2-CF8C7AD3DBC1}"/>
                </a:ext>
              </a:extLst>
            </p:cNvPr>
            <p:cNvSpPr txBox="1"/>
            <p:nvPr/>
          </p:nvSpPr>
          <p:spPr>
            <a:xfrm>
              <a:off x="4233171" y="1201393"/>
              <a:ext cx="543739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en-US" altLang="zh-TW" dirty="0"/>
                <a:t>-</a:t>
              </a:r>
              <a:endParaRPr lang="zh-TW" altLang="en-US" dirty="0"/>
            </a:p>
          </p:txBody>
        </p:sp>
        <p:sp>
          <p:nvSpPr>
            <p:cNvPr id="7" name="矩形: 圓角 6">
              <a:extLst>
                <a:ext uri="{FF2B5EF4-FFF2-40B4-BE49-F238E27FC236}">
                  <a16:creationId xmlns:a16="http://schemas.microsoft.com/office/drawing/2014/main" id="{D054E660-EF42-CBD8-2FA6-2E3298DC2C2D}"/>
                </a:ext>
              </a:extLst>
            </p:cNvPr>
            <p:cNvSpPr/>
            <p:nvPr/>
          </p:nvSpPr>
          <p:spPr>
            <a:xfrm>
              <a:off x="4056480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strong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grpSp>
          <p:nvGrpSpPr>
            <p:cNvPr id="10" name="群組 9">
              <a:extLst>
                <a:ext uri="{FF2B5EF4-FFF2-40B4-BE49-F238E27FC236}">
                  <a16:creationId xmlns:a16="http://schemas.microsoft.com/office/drawing/2014/main" id="{E0AFB556-52A6-E2AB-18CD-3ADA72D0E04B}"/>
                </a:ext>
              </a:extLst>
            </p:cNvPr>
            <p:cNvGrpSpPr/>
            <p:nvPr/>
          </p:nvGrpSpPr>
          <p:grpSpPr>
            <a:xfrm>
              <a:off x="3849298" y="2060848"/>
              <a:ext cx="1310140" cy="3245081"/>
              <a:chOff x="3849298" y="2060848"/>
              <a:chExt cx="1310140" cy="3245081"/>
            </a:xfrm>
          </p:grpSpPr>
          <p:sp>
            <p:nvSpPr>
              <p:cNvPr id="12" name="矩形: 圓角 11">
                <a:extLst>
                  <a:ext uri="{FF2B5EF4-FFF2-40B4-BE49-F238E27FC236}">
                    <a16:creationId xmlns:a16="http://schemas.microsoft.com/office/drawing/2014/main" id="{5113E01A-30B8-BA91-6D84-593ABFD3736D}"/>
                  </a:ext>
                </a:extLst>
              </p:cNvPr>
              <p:cNvSpPr/>
              <p:nvPr/>
            </p:nvSpPr>
            <p:spPr>
              <a:xfrm>
                <a:off x="3983219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3" name="矩形: 圓角 12">
                <a:extLst>
                  <a:ext uri="{FF2B5EF4-FFF2-40B4-BE49-F238E27FC236}">
                    <a16:creationId xmlns:a16="http://schemas.microsoft.com/office/drawing/2014/main" id="{6AA99DBC-4A93-596D-730B-1CC8507C53A0}"/>
                  </a:ext>
                </a:extLst>
              </p:cNvPr>
              <p:cNvSpPr/>
              <p:nvPr/>
            </p:nvSpPr>
            <p:spPr>
              <a:xfrm>
                <a:off x="3983219" y="4027493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  <a:alpha val="8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2">
                        <a:lumMod val="75000"/>
                      </a:schemeClr>
                    </a:solidFill>
                  </a:rPr>
                  <a:t>Dense</a:t>
                </a:r>
                <a:endParaRPr lang="zh-TW" altLang="en-US" sz="1400" b="1" dirty="0">
                  <a:solidFill>
                    <a:schemeClr val="accent2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247504F2-BFF7-EA0D-04C9-B86B5B3A52E0}"/>
                  </a:ext>
                </a:extLst>
              </p:cNvPr>
              <p:cNvSpPr/>
              <p:nvPr/>
            </p:nvSpPr>
            <p:spPr>
              <a:xfrm>
                <a:off x="3983219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E2226900-3C29-08A8-EAD2-7664F85C95AE}"/>
                  </a:ext>
                </a:extLst>
              </p:cNvPr>
              <p:cNvSpPr/>
              <p:nvPr/>
            </p:nvSpPr>
            <p:spPr>
              <a:xfrm>
                <a:off x="3849298" y="2614483"/>
                <a:ext cx="1310140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9" name="接點: 肘形 18">
                <a:extLst>
                  <a:ext uri="{FF2B5EF4-FFF2-40B4-BE49-F238E27FC236}">
                    <a16:creationId xmlns:a16="http://schemas.microsoft.com/office/drawing/2014/main" id="{777694FA-BA48-0FF7-8034-2CD9926E19F6}"/>
                  </a:ext>
                </a:extLst>
              </p:cNvPr>
              <p:cNvCxnSpPr>
                <a:cxnSpLocks/>
                <a:stCxn id="13" idx="2"/>
                <a:endCxn id="18" idx="0"/>
              </p:cNvCxnSpPr>
              <p:nvPr/>
            </p:nvCxnSpPr>
            <p:spPr>
              <a:xfrm rot="5400000" flipH="1" flipV="1">
                <a:off x="3672777" y="3439076"/>
                <a:ext cx="1656184" cy="6997"/>
              </a:xfrm>
              <a:prstGeom prst="bentConnector5">
                <a:avLst>
                  <a:gd name="adj1" fmla="val -13803"/>
                  <a:gd name="adj2" fmla="val 12729270"/>
                  <a:gd name="adj3" fmla="val 113803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直線單箭頭接點 19">
                <a:extLst>
                  <a:ext uri="{FF2B5EF4-FFF2-40B4-BE49-F238E27FC236}">
                    <a16:creationId xmlns:a16="http://schemas.microsoft.com/office/drawing/2014/main" id="{7B6BA61C-9084-7884-5020-CEFFC7798120}"/>
                  </a:ext>
                </a:extLst>
              </p:cNvPr>
              <p:cNvCxnSpPr>
                <a:cxnSpLocks/>
                <a:stCxn id="12" idx="2"/>
                <a:endCxn id="14" idx="0"/>
              </p:cNvCxnSpPr>
              <p:nvPr/>
            </p:nvCxnSpPr>
            <p:spPr>
              <a:xfrm>
                <a:off x="4497371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直線單箭頭接點 20">
                <a:extLst>
                  <a:ext uri="{FF2B5EF4-FFF2-40B4-BE49-F238E27FC236}">
                    <a16:creationId xmlns:a16="http://schemas.microsoft.com/office/drawing/2014/main" id="{01FBAED6-2D73-EBDC-830A-9878D0105A6B}"/>
                  </a:ext>
                </a:extLst>
              </p:cNvPr>
              <p:cNvCxnSpPr>
                <a:cxnSpLocks/>
                <a:stCxn id="18" idx="0"/>
                <a:endCxn id="12" idx="0"/>
              </p:cNvCxnSpPr>
              <p:nvPr/>
            </p:nvCxnSpPr>
            <p:spPr>
              <a:xfrm flipH="1">
                <a:off x="4497371" y="2614483"/>
                <a:ext cx="6997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矩形: 圓角 21">
                <a:extLst>
                  <a:ext uri="{FF2B5EF4-FFF2-40B4-BE49-F238E27FC236}">
                    <a16:creationId xmlns:a16="http://schemas.microsoft.com/office/drawing/2014/main" id="{CB537D79-E32D-F0DE-65D0-E7A6483C7552}"/>
                  </a:ext>
                </a:extLst>
              </p:cNvPr>
              <p:cNvSpPr/>
              <p:nvPr/>
            </p:nvSpPr>
            <p:spPr>
              <a:xfrm>
                <a:off x="3995936" y="2060848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Tokenizer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23" name="矩形: 圓角 22">
                <a:extLst>
                  <a:ext uri="{FF2B5EF4-FFF2-40B4-BE49-F238E27FC236}">
                    <a16:creationId xmlns:a16="http://schemas.microsoft.com/office/drawing/2014/main" id="{0D7E242E-1815-7182-58FA-019B7787C553}"/>
                  </a:ext>
                </a:extLst>
              </p:cNvPr>
              <p:cNvSpPr/>
              <p:nvPr/>
            </p:nvSpPr>
            <p:spPr>
              <a:xfrm>
                <a:off x="3990889" y="5062755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Linear, SM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24" name="矩形: 圓角 23">
                <a:extLst>
                  <a:ext uri="{FF2B5EF4-FFF2-40B4-BE49-F238E27FC236}">
                    <a16:creationId xmlns:a16="http://schemas.microsoft.com/office/drawing/2014/main" id="{0DD3497E-0FD2-388D-087A-F837807E9DBD}"/>
                  </a:ext>
                </a:extLst>
              </p:cNvPr>
              <p:cNvSpPr/>
              <p:nvPr/>
            </p:nvSpPr>
            <p:spPr>
              <a:xfrm>
                <a:off x="3983219" y="3163397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Attention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  <p:sp>
          <p:nvSpPr>
            <p:cNvPr id="11" name="矩形: 圓角 10">
              <a:extLst>
                <a:ext uri="{FF2B5EF4-FFF2-40B4-BE49-F238E27FC236}">
                  <a16:creationId xmlns:a16="http://schemas.microsoft.com/office/drawing/2014/main" id="{D807B372-9E93-7CCA-D200-CCCF76E64231}"/>
                </a:ext>
              </a:extLst>
            </p:cNvPr>
            <p:cNvSpPr/>
            <p:nvPr/>
          </p:nvSpPr>
          <p:spPr>
            <a:xfrm>
              <a:off x="3850644" y="1628801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0AD46D94-09CD-F9AA-F2B7-BEACFE4A0E73}"/>
              </a:ext>
            </a:extLst>
          </p:cNvPr>
          <p:cNvSpPr/>
          <p:nvPr/>
        </p:nvSpPr>
        <p:spPr>
          <a:xfrm>
            <a:off x="5724128" y="4027493"/>
            <a:ext cx="547318" cy="243174"/>
          </a:xfrm>
          <a:prstGeom prst="roundRect">
            <a:avLst/>
          </a:prstGeom>
          <a:solidFill>
            <a:schemeClr val="accent2">
              <a:lumMod val="20000"/>
              <a:lumOff val="80000"/>
              <a:alpha val="40000"/>
            </a:schemeClr>
          </a:solidFill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 err="1">
                <a:solidFill>
                  <a:schemeClr val="accent2">
                    <a:lumMod val="50000"/>
                  </a:schemeClr>
                </a:solidFill>
              </a:rPr>
              <a:t>RoLA</a:t>
            </a:r>
            <a:endParaRPr lang="zh-TW" altLang="en-US" sz="14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0CB7A355-21C0-3E1F-35BD-27A7F03ADA4C}"/>
              </a:ext>
            </a:extLst>
          </p:cNvPr>
          <p:cNvSpPr txBox="1"/>
          <p:nvPr/>
        </p:nvSpPr>
        <p:spPr>
          <a:xfrm>
            <a:off x="513010" y="971049"/>
            <a:ext cx="792088" cy="451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2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E</a:t>
            </a:r>
            <a:r>
              <a:rPr lang="en-US" altLang="zh-TW" sz="1200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fficient/</a:t>
            </a:r>
            <a:r>
              <a:rPr lang="en-US" altLang="zh-TW" sz="1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E</a:t>
            </a:r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dge</a:t>
            </a:r>
            <a:endParaRPr lang="en-US" altLang="zh-TW" sz="1200" u="none" strike="noStrike" dirty="0">
              <a:solidFill>
                <a:schemeClr val="tx1">
                  <a:lumMod val="65000"/>
                  <a:lumOff val="35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930727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7115C8-56FB-C1E8-48CB-42F4B251C3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Comparison of Language Models</a:t>
            </a:r>
          </a:p>
          <a:p>
            <a:pPr marL="285750" indent="-285750">
              <a:buFontTx/>
              <a:buChar char="-"/>
            </a:pPr>
            <a:r>
              <a:rPr lang="en-US" altLang="zh-TW" sz="1400" dirty="0" err="1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Cx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A44451E-FF02-AF4A-2290-C616F7E88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098217"/>
              </p:ext>
            </p:extLst>
          </p:nvPr>
        </p:nvGraphicFramePr>
        <p:xfrm>
          <a:off x="683568" y="1317641"/>
          <a:ext cx="7560839" cy="49684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757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14443">
                  <a:extLst>
                    <a:ext uri="{9D8B030D-6E8A-4147-A177-3AD203B41FA5}">
                      <a16:colId xmlns:a16="http://schemas.microsoft.com/office/drawing/2014/main" val="401334077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3431692166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768901619"/>
                    </a:ext>
                  </a:extLst>
                </a:gridCol>
                <a:gridCol w="132118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242323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0084">
                <a:tc>
                  <a:txBody>
                    <a:bodyPr/>
                    <a:lstStyle/>
                    <a:p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Models</a:t>
                      </a:r>
                    </a:p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Name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(active/total)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  <a:b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(tokens)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LiveCodeBench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(Pass@1)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(Requirement)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2008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 Pro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Preview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Cloud-based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Closed source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96.2%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目前最強的雲端閉源模型之一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3.5 Flash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95.5%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高速推理的頂級代表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26B A4B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3.8B/25.2B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94.8%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開源模型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極省電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(24GB 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GPT-5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93.5%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OpenAI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的主力旗艦模型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91.9%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具備深度思考推理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(Reasoning)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能力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o4-mini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90.7%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輕量化推理模型的代表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13170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V3.2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51B/685B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89.6%~73%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 Local open source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96671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31B/31B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88.9%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8975361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Fable 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Anthropic premium Agent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20517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o1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：本地無硬體要求，經典初代大文本思考模型。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407724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Opus 4.5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深度邏輯強悍但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成本較高。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38396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3.5 Sonnet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83.3%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：本地無硬體要求，企業最愛用的長青高性價比模型。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43267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V3.1 Terminus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37B/671B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79.8%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超大</a:t>
                      </a:r>
                      <a:r>
                        <a:rPr lang="en-US" altLang="zh-TW" sz="11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(160GB+VRAM)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905601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3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Nemotron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49B/49B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73.7%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457476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4 Maverick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~70B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~72.0%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 x 2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0355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470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FE3D3B2A-2DEC-1253-A1E1-B3380B49BA63}"/>
              </a:ext>
            </a:extLst>
          </p:cNvPr>
          <p:cNvSpPr txBox="1"/>
          <p:nvPr/>
        </p:nvSpPr>
        <p:spPr>
          <a:xfrm>
            <a:off x="683568" y="5229200"/>
            <a:ext cx="5217715" cy="1075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LLM file format.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, for example YOLO.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altLang="zh-TW" sz="1200" dirty="0">
              <a:solidFill>
                <a:prstClr val="black"/>
              </a:solidFill>
              <a:latin typeface="Calibri"/>
              <a:ea typeface="新細明體" panose="02020500000000000000" pitchFamily="18" charset="-120"/>
            </a:endParaRPr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39E0622-0F1A-61E6-0FAF-97C59BD780F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Leading Frameworks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Deploying and fine-tuning your own LLM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is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now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easier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than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ever. (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框架可以做的事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)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24603716-DFAF-375B-2830-553970E04F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420779"/>
              </p:ext>
            </p:extLst>
          </p:nvPr>
        </p:nvGraphicFramePr>
        <p:xfrm>
          <a:off x="323528" y="1484784"/>
          <a:ext cx="6957105" cy="30883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1421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2936818418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3756297982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Training</a:t>
                      </a:r>
                    </a:p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Framework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-Factory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endParaRPr lang="en-US" altLang="zh-TW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Axolotl +</a:t>
                      </a:r>
                    </a:p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WebUI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 Face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 WebUI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Ollama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Llama3/Mistral</a:t>
                      </a:r>
                    </a:p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Dif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/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AnythingLLM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Llama3, Mistral, Qwen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Llama3, Mistral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612504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LLMA-Factory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Continued PT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PEFT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QLoRA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(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x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GGUP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5482051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Library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Improved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MS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/FSDP</a:t>
                      </a:r>
                    </a:p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23365"/>
                  </a:ext>
                </a:extLst>
              </a:tr>
            </a:tbl>
          </a:graphicData>
        </a:graphic>
      </p:graphicFrame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6A01DD0A-FF07-D2B0-AF18-5858432ADB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8371532"/>
              </p:ext>
            </p:extLst>
          </p:nvPr>
        </p:nvGraphicFramePr>
        <p:xfrm>
          <a:off x="7714270" y="4149080"/>
          <a:ext cx="1106202" cy="10291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620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39047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Anti-hallucination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Real-time retrieval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8774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VDB Content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708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Temperature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708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3991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F99B597-7909-D1DA-8454-006A2FB29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D35E8E5C-914A-198C-6F71-81C8CF8D75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0529344"/>
              </p:ext>
            </p:extLst>
          </p:nvPr>
        </p:nvGraphicFramePr>
        <p:xfrm>
          <a:off x="459210" y="4077072"/>
          <a:ext cx="8225582" cy="21118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054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130775468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3248398504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1668600716"/>
                    </a:ext>
                  </a:extLst>
                </a:gridCol>
              </a:tblGrid>
              <a:tr h="232026">
                <a:tc rowSpan="2"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  <a:b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Features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Datasets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32026">
                <a:tc vMerge="1"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Routing/PLE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Prompt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Reasoning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(Math)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(Language)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Instruction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(Following)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Long-Context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(Retrieval)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0134548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Alignment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(Safety)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9149316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8726591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09D16506-3A81-A8F0-9750-304184876E06}"/>
              </a:ext>
            </a:extLst>
          </p:cNvPr>
          <p:cNvSpPr txBox="1"/>
          <p:nvPr/>
        </p:nvSpPr>
        <p:spPr>
          <a:xfrm>
            <a:off x="495400" y="1509949"/>
            <a:ext cx="665787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Engineering Index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Latency</a:t>
            </a:r>
            <a:r>
              <a:rPr lang="en-US" altLang="zh-TW" sz="1600" dirty="0">
                <a:solidFill>
                  <a:prstClr val="black"/>
                </a:solidFill>
              </a:rPr>
              <a:t>: Time to first token (TTFT)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Throughput: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Tokens per second (TPS)</a:t>
            </a:r>
          </a:p>
          <a:p>
            <a:pPr marL="285750" lvl="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Cost Efficiency: </a:t>
            </a:r>
            <a:r>
              <a:rPr lang="en-US" altLang="zh-TW" sz="1600" dirty="0">
                <a:solidFill>
                  <a:prstClr val="black"/>
                </a:solidFill>
              </a:rPr>
              <a:t>Cost per token </a:t>
            </a:r>
            <a:endParaRPr kumimoji="0" lang="en-US" altLang="zh-TW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0FDB6D11-60C8-5A2F-2DF3-BC903F9F91EF}"/>
              </a:ext>
            </a:extLst>
          </p:cNvPr>
          <p:cNvSpPr txBox="1"/>
          <p:nvPr/>
        </p:nvSpPr>
        <p:spPr>
          <a:xfrm>
            <a:off x="3030926" y="3640242"/>
            <a:ext cx="4104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每個階段的成本分析</a:t>
            </a:r>
            <a:r>
              <a:rPr lang="en-US" altLang="zh-TW" dirty="0"/>
              <a:t>(</a:t>
            </a:r>
            <a:r>
              <a:rPr lang="zh-TW" altLang="en-US" dirty="0"/>
              <a:t>時間</a:t>
            </a:r>
            <a:r>
              <a:rPr lang="en-US" altLang="zh-TW" dirty="0"/>
              <a:t>, </a:t>
            </a:r>
            <a:r>
              <a:rPr lang="zh-TW" altLang="en-US" dirty="0"/>
              <a:t>金錢</a:t>
            </a:r>
            <a:r>
              <a:rPr lang="en-US" altLang="zh-TW" dirty="0"/>
              <a:t>)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07935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5C940E0C-74B1-7C52-4534-491AC8EC37ED}"/>
              </a:ext>
            </a:extLst>
          </p:cNvPr>
          <p:cNvSpPr txBox="1"/>
          <p:nvPr/>
        </p:nvSpPr>
        <p:spPr>
          <a:xfrm>
            <a:off x="478689" y="135092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Tools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Model Engine: </a:t>
            </a:r>
            <a:r>
              <a:rPr lang="en-US" altLang="zh-TW" sz="1600" dirty="0">
                <a:solidFill>
                  <a:prstClr val="black"/>
                </a:solidFill>
              </a:rPr>
              <a:t>Ollama,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DeepSeek, LlaMA4, Gemma4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Fine-Tuning Tool</a:t>
            </a:r>
            <a:r>
              <a:rPr lang="en-US" altLang="zh-TW" sz="1600" dirty="0">
                <a:solidFill>
                  <a:prstClr val="black"/>
                </a:solidFill>
              </a:rPr>
              <a:t>: llama-factory (PEFT)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IDE</a:t>
            </a:r>
            <a:r>
              <a:rPr lang="en-US" altLang="zh-TW" sz="1600" dirty="0">
                <a:solidFill>
                  <a:prstClr val="black"/>
                </a:solidFill>
              </a:rPr>
              <a:t>: Anti-gravity …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4FCEE8A5-86EF-8FFC-09AD-B4AA7F4E600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Hugging Face 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  <a:sym typeface="Wingdings" panose="05000000000000000000" pitchFamily="2" charset="2"/>
              </a:rPr>
              <a:t> Ollama  Launch Model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F0F2C1A-AAEE-60EA-B4F3-7315978747FF}"/>
              </a:ext>
            </a:extLst>
          </p:cNvPr>
          <p:cNvSpPr txBox="1"/>
          <p:nvPr/>
        </p:nvSpPr>
        <p:spPr>
          <a:xfrm>
            <a:off x="478689" y="350100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Steps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Download and Setup</a:t>
            </a:r>
            <a:r>
              <a:rPr lang="en-US" altLang="zh-TW" sz="1600" dirty="0">
                <a:solidFill>
                  <a:prstClr val="black"/>
                </a:solidFill>
              </a:rPr>
              <a:t>: GGUF and ONNX.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Directory: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 and 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endParaRPr lang="en-US" altLang="zh-TW" sz="1600" dirty="0">
              <a:solidFill>
                <a:prstClr val="black"/>
              </a:solidFill>
              <a:latin typeface="Calibri"/>
              <a:ea typeface="新細明體" panose="02020500000000000000" pitchFamily="18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安裝完一切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該看到什麼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?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那些檔案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各有什麼功用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0180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2A78C-08E1-24C2-59AF-39BFBB385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BF41F877-BB16-7E15-C2E2-B063C3C0854C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Python Program in IDE 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2383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408</TotalTime>
  <Words>7599</Words>
  <Application>Microsoft Office PowerPoint</Application>
  <PresentationFormat>如螢幕大小 (4:3)</PresentationFormat>
  <Paragraphs>908</Paragraphs>
  <Slides>19</Slides>
  <Notes>18</Notes>
  <HiddenSlides>3</HiddenSlides>
  <MMClips>0</MMClips>
  <ScaleCrop>false</ScaleCrop>
  <HeadingPairs>
    <vt:vector size="6" baseType="variant">
      <vt:variant>
        <vt:lpstr>使用字型</vt:lpstr>
      </vt:variant>
      <vt:variant>
        <vt:i4>11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19</vt:i4>
      </vt:variant>
    </vt:vector>
  </HeadingPairs>
  <TitlesOfParts>
    <vt:vector size="31" baseType="lpstr">
      <vt:lpstr>Meiryo</vt:lpstr>
      <vt:lpstr>Noto Sans HK</vt:lpstr>
      <vt:lpstr>Noto Sans TC</vt:lpstr>
      <vt:lpstr>微軟正黑體</vt:lpstr>
      <vt:lpstr>ADLaM Display</vt:lpstr>
      <vt:lpstr>Arial</vt:lpstr>
      <vt:lpstr>Calibri</vt:lpstr>
      <vt:lpstr>Comic Sans MS</vt:lpstr>
      <vt:lpstr>Consolas</vt:lpstr>
      <vt:lpstr>Gadugi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1674</cp:revision>
  <cp:lastPrinted>2024-07-30T01:44:15Z</cp:lastPrinted>
  <dcterms:created xsi:type="dcterms:W3CDTF">2019-11-08T03:01:47Z</dcterms:created>
  <dcterms:modified xsi:type="dcterms:W3CDTF">2026-07-06T08:07:01Z</dcterms:modified>
</cp:coreProperties>
</file>