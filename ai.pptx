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4"/>
  </p:notesMasterIdLst>
  <p:handoutMasterIdLst>
    <p:handoutMasterId r:id="rId55"/>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37" r:id="rId36"/>
    <p:sldId id="3544" r:id="rId37"/>
    <p:sldId id="3540" r:id="rId38"/>
    <p:sldId id="3542" r:id="rId39"/>
    <p:sldId id="3545" r:id="rId40"/>
    <p:sldId id="3546" r:id="rId41"/>
    <p:sldId id="3543" r:id="rId42"/>
    <p:sldId id="3539" r:id="rId43"/>
    <p:sldId id="3538" r:id="rId44"/>
    <p:sldId id="3534" r:id="rId45"/>
    <p:sldId id="3536" r:id="rId46"/>
    <p:sldId id="3535" r:id="rId47"/>
    <p:sldId id="3519" r:id="rId48"/>
    <p:sldId id="3530" r:id="rId49"/>
    <p:sldId id="269" r:id="rId50"/>
    <p:sldId id="270" r:id="rId51"/>
    <p:sldId id="257" r:id="rId52"/>
    <p:sldId id="265" r:id="rId5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37"/>
            <p14:sldId id="3544"/>
            <p14:sldId id="3540"/>
            <p14:sldId id="3542"/>
            <p14:sldId id="3545"/>
            <p14:sldId id="3546"/>
            <p14:sldId id="3543"/>
            <p14:sldId id="3539"/>
            <p14:sldId id="3538"/>
          </p14:sldIdLst>
        </p14:section>
        <p14:section name="Moonshot-Kimi" id="{7C2BE5B2-C507-46C7-871E-C935EB653EC3}">
          <p14:sldIdLst>
            <p14:sldId id="3534"/>
            <p14:sldId id="3536"/>
            <p14:sldId id="3535"/>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6BFF"/>
    <a:srgbClr val="FF9900"/>
    <a:srgbClr val="FEC203"/>
    <a:srgbClr val="F8D462"/>
    <a:srgbClr val="3079EF"/>
    <a:srgbClr val="2260DC"/>
    <a:srgbClr val="B8EACA"/>
    <a:srgbClr val="FF0000"/>
    <a:srgbClr val="FEF1E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84550" autoAdjust="0"/>
  </p:normalViewPr>
  <p:slideViewPr>
    <p:cSldViewPr>
      <p:cViewPr>
        <p:scale>
          <a:sx n="100" d="100"/>
          <a:sy n="100" d="100"/>
        </p:scale>
        <p:origin x="900" y="27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51</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52</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2026/8/10</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6.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68.png"/><Relationship Id="rId2" Type="http://schemas.openxmlformats.org/officeDocument/2006/relationships/image" Target="../media/image91.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3.png"/></Relationships>
</file>

<file path=ppt/slides/_rels/slide4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5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4.xml"/><Relationship Id="rId5" Type="http://schemas.openxmlformats.org/officeDocument/2006/relationships/image" Target="../media/image101.png"/><Relationship Id="rId4" Type="http://schemas.openxmlformats.org/officeDocument/2006/relationships/image" Target="../media/image100.png"/></Relationships>
</file>

<file path=ppt/slides/_rels/slide51.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102.png"/><Relationship Id="rId7" Type="http://schemas.openxmlformats.org/officeDocument/2006/relationships/image" Target="../media/image10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04.png"/><Relationship Id="rId5" Type="http://schemas.openxmlformats.org/officeDocument/2006/relationships/image" Target="../media/image2300.png"/><Relationship Id="rId4" Type="http://schemas.openxmlformats.org/officeDocument/2006/relationships/image" Target="../media/image103.png"/></Relationships>
</file>

<file path=ppt/slides/_rels/slide52.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7.png"/><Relationship Id="rId7" Type="http://schemas.openxmlformats.org/officeDocument/2006/relationships/image" Target="../media/image11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 Id="rId9"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smtClean="0">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24676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V2: Multi-head Latent Attention (</a:t>
            </a:r>
            <a:r>
              <a:rPr lang="en-US" altLang="zh-TW" sz="1600" b="1" dirty="0">
                <a:solidFill>
                  <a:schemeClr val="accent6">
                    <a:lumMod val="75000"/>
                  </a:schemeClr>
                </a:solidFill>
              </a:rPr>
              <a:t>MLA</a:t>
            </a:r>
            <a:r>
              <a:rPr lang="en-US" altLang="zh-TW" sz="1600" dirty="0"/>
              <a:t>), DeepSeek </a:t>
            </a:r>
            <a:r>
              <a:rPr lang="en-US" altLang="zh-TW" sz="1600" dirty="0" err="1"/>
              <a:t>MoE</a:t>
            </a:r>
            <a:r>
              <a:rPr lang="en-US" altLang="zh-TW" sz="1600" dirty="0"/>
              <a:t>, FP8.</a:t>
            </a:r>
          </a:p>
          <a:p>
            <a:pPr marL="742950" lvl="1" indent="-285750">
              <a:lnSpc>
                <a:spcPts val="1800"/>
              </a:lnSpc>
              <a:spcBef>
                <a:spcPts val="600"/>
              </a:spcBef>
              <a:spcAft>
                <a:spcPts val="600"/>
              </a:spcAft>
              <a:buFont typeface="Arial" panose="020B0604020202020204" pitchFamily="34" charset="0"/>
              <a:buChar char="•"/>
            </a:pPr>
            <a:r>
              <a:rPr lang="en-US" altLang="zh-TW" sz="1600" dirty="0"/>
              <a:t>V3: Group Relative Policy Optimization (</a:t>
            </a:r>
            <a:r>
              <a:rPr lang="en-US" altLang="zh-TW" sz="1600" b="1" dirty="0">
                <a:solidFill>
                  <a:schemeClr val="accent6">
                    <a:lumMod val="75000"/>
                  </a:schemeClr>
                </a:solidFill>
              </a:rPr>
              <a:t>GPRO</a:t>
            </a:r>
            <a:r>
              <a:rPr lang="en-US" altLang="zh-TW" sz="1600" dirty="0"/>
              <a:t>): Deep reasoning and self-correction.</a:t>
            </a:r>
          </a:p>
          <a:p>
            <a:pPr marL="742950" lvl="1" indent="-285750">
              <a:lnSpc>
                <a:spcPts val="1800"/>
              </a:lnSpc>
              <a:spcBef>
                <a:spcPts val="600"/>
              </a:spcBef>
              <a:spcAft>
                <a:spcPts val="600"/>
              </a:spcAft>
              <a:buFont typeface="Arial" panose="020B0604020202020204" pitchFamily="34" charset="0"/>
              <a:buChar char="•"/>
            </a:pPr>
            <a:r>
              <a:rPr lang="en-US" altLang="zh-TW" sz="1600" dirty="0"/>
              <a:t>V4: The first 3 layers use hash routing, sqrt(</a:t>
            </a:r>
            <a:r>
              <a:rPr lang="en-US" altLang="zh-TW" sz="1600" dirty="0" err="1"/>
              <a:t>Softplus</a:t>
            </a:r>
            <a:r>
              <a:rPr lang="en-US" altLang="zh-TW" sz="1600" dirty="0"/>
              <a:t>(•)), anticipatory routing.</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4" name="表格 3">
            <a:extLst>
              <a:ext uri="{FF2B5EF4-FFF2-40B4-BE49-F238E27FC236}">
                <a16:creationId xmlns:a16="http://schemas.microsoft.com/office/drawing/2014/main" id="{5F4DDCA3-590A-2397-1FA3-9F00C50E3A4F}"/>
              </a:ext>
            </a:extLst>
          </p:cNvPr>
          <p:cNvGraphicFramePr>
            <a:graphicFrameLocks noGrp="1"/>
          </p:cNvGraphicFramePr>
          <p:nvPr>
            <p:extLst>
              <p:ext uri="{D42A27DB-BD31-4B8C-83A1-F6EECF244321}">
                <p14:modId xmlns:p14="http://schemas.microsoft.com/office/powerpoint/2010/main" val="3455974944"/>
              </p:ext>
            </p:extLst>
          </p:nvPr>
        </p:nvGraphicFramePr>
        <p:xfrm>
          <a:off x="719572" y="4149080"/>
          <a:ext cx="7704855" cy="2163680"/>
        </p:xfrm>
        <a:graphic>
          <a:graphicData uri="http://schemas.openxmlformats.org/drawingml/2006/table">
            <a:tbl>
              <a:tblPr firstRow="1" bandRow="1">
                <a:tableStyleId>{5C22544A-7EE6-4342-B048-85BDC9FD1C3A}</a:tableStyleId>
              </a:tblPr>
              <a:tblGrid>
                <a:gridCol w="396044">
                  <a:extLst>
                    <a:ext uri="{9D8B030D-6E8A-4147-A177-3AD203B41FA5}">
                      <a16:colId xmlns:a16="http://schemas.microsoft.com/office/drawing/2014/main" val="4198244561"/>
                    </a:ext>
                  </a:extLst>
                </a:gridCol>
                <a:gridCol w="792088">
                  <a:extLst>
                    <a:ext uri="{9D8B030D-6E8A-4147-A177-3AD203B41FA5}">
                      <a16:colId xmlns:a16="http://schemas.microsoft.com/office/drawing/2014/main" val="2211145501"/>
                    </a:ext>
                  </a:extLst>
                </a:gridCol>
                <a:gridCol w="2160240">
                  <a:extLst>
                    <a:ext uri="{9D8B030D-6E8A-4147-A177-3AD203B41FA5}">
                      <a16:colId xmlns:a16="http://schemas.microsoft.com/office/drawing/2014/main" val="767948712"/>
                    </a:ext>
                  </a:extLst>
                </a:gridCol>
                <a:gridCol w="1512168">
                  <a:extLst>
                    <a:ext uri="{9D8B030D-6E8A-4147-A177-3AD203B41FA5}">
                      <a16:colId xmlns:a16="http://schemas.microsoft.com/office/drawing/2014/main" val="3715013544"/>
                    </a:ext>
                  </a:extLst>
                </a:gridCol>
                <a:gridCol w="719207">
                  <a:extLst>
                    <a:ext uri="{9D8B030D-6E8A-4147-A177-3AD203B41FA5}">
                      <a16:colId xmlns:a16="http://schemas.microsoft.com/office/drawing/2014/main" val="3328686525"/>
                    </a:ext>
                  </a:extLst>
                </a:gridCol>
                <a:gridCol w="785945">
                  <a:extLst>
                    <a:ext uri="{9D8B030D-6E8A-4147-A177-3AD203B41FA5}">
                      <a16:colId xmlns:a16="http://schemas.microsoft.com/office/drawing/2014/main" val="3752581630"/>
                    </a:ext>
                  </a:extLst>
                </a:gridCol>
                <a:gridCol w="1339163">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Key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en-US" altLang="zh-TW" sz="1200" b="0" cap="none" spc="0" dirty="0">
                        <a:ln w="0"/>
                        <a:solidFill>
                          <a:schemeClr val="tx1"/>
                        </a:solidFill>
                        <a:effectLst/>
                      </a:endParaRPr>
                    </a:p>
                  </a:txBody>
                  <a:tcPr marL="0" marR="0" marT="0" marB="0" anchor="ct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47980">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Fine-Grained</a:t>
                      </a:r>
                    </a:p>
                    <a:p>
                      <a:pPr algn="ctr"/>
                      <a:r>
                        <a:rPr lang="en-US" altLang="zh-TW" sz="1200" b="0" cap="none" spc="0" dirty="0">
                          <a:ln w="0"/>
                          <a:solidFill>
                            <a:schemeClr val="tx1"/>
                          </a:solidFill>
                          <a:effectLst/>
                        </a:rPr>
                        <a:t>DeepSeek </a:t>
                      </a:r>
                      <a:r>
                        <a:rPr lang="en-US" altLang="zh-TW" sz="1200" b="0" cap="none" spc="0" dirty="0" err="1">
                          <a:ln w="0"/>
                          <a:solidFill>
                            <a:schemeClr val="tx1"/>
                          </a:solidFill>
                          <a:effectLst/>
                        </a:rPr>
                        <a:t>MoE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32K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21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A100 80G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541732">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GPRO,</a:t>
                      </a:r>
                      <a:r>
                        <a:rPr lang="zh-TW" altLang="en-US" sz="1200" b="0" cap="none" spc="0" dirty="0">
                          <a:ln w="0"/>
                          <a:solidFill>
                            <a:schemeClr val="tx1"/>
                          </a:solidFill>
                          <a:effectLst/>
                        </a:rPr>
                        <a:t> </a:t>
                      </a:r>
                      <a:r>
                        <a:rPr lang="en-US" altLang="zh-TW" sz="1200" b="0" cap="none" spc="0" dirty="0">
                          <a:ln w="0"/>
                          <a:solidFill>
                            <a:schemeClr val="tx1"/>
                          </a:solidFill>
                          <a:effectLst/>
                        </a:rPr>
                        <a:t>CoT, </a:t>
                      </a:r>
                    </a:p>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128K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37</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91160">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Compressed Attention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(HCA, CSA)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 Top-k</a:t>
                      </a:r>
                      <a:r>
                        <a:rPr kumimoji="0" lang="en-US" altLang="zh-TW" sz="1200" b="0" i="0" u="none" strike="noStrike" kern="1200" cap="none" spc="0" normalizeH="0" baseline="0" noProof="0">
                          <a:ln w="0"/>
                          <a:solidFill>
                            <a:prstClr val="black"/>
                          </a:solidFill>
                          <a:effectLst/>
                          <a:uLnTx/>
                          <a:uFillTx/>
                          <a:latin typeface="+mn-lt"/>
                          <a:ea typeface="+mn-ea"/>
                          <a:cs typeface="+mn-cs"/>
                        </a:rPr>
                        <a:t>, HW Parallel </a:t>
                      </a:r>
                      <a:r>
                        <a:rPr kumimoji="0" lang="en-US" altLang="zh-TW" sz="1200" b="0" i="0" u="none" strike="noStrike" kern="1200" cap="none" spc="0" normalizeH="0" baseline="0" noProof="0" dirty="0">
                          <a:ln w="0"/>
                          <a:solidFill>
                            <a:prstClr val="black"/>
                          </a:solidFill>
                          <a:effectLst/>
                          <a:uLnTx/>
                          <a:uFillTx/>
                          <a:latin typeface="+mn-lt"/>
                          <a:ea typeface="+mn-ea"/>
                          <a:cs typeface="+mn-cs"/>
                        </a:rPr>
                        <a:t>Execution,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mHC</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Muon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13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 with </a:t>
                      </a:r>
                    </a:p>
                    <a:p>
                      <a:pPr algn="ctr"/>
                      <a:r>
                        <a:rPr lang="en-US" altLang="zh-TW" sz="1200" b="0" cap="none" spc="0" dirty="0">
                          <a:ln w="0"/>
                          <a:solidFill>
                            <a:schemeClr val="tx1"/>
                          </a:solidFill>
                          <a:effectLst/>
                        </a:rPr>
                        <a:t>8 x H200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50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C2CD658E-47E1-5042-5EB9-137612D3ABF0}"/>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1427A214-A8F6-9F9E-E730-9E0005F5024F}"/>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EAD244C7-785F-4109-04F6-1AF16AB81040}"/>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74B215B5-D7AE-C67F-E334-F68F81553A28}"/>
              </a:ext>
            </a:extLst>
          </p:cNvPr>
          <p:cNvSpPr txBox="1"/>
          <p:nvPr/>
        </p:nvSpPr>
        <p:spPr>
          <a:xfrm>
            <a:off x="179510" y="1377042"/>
            <a:ext cx="8280922" cy="2631490"/>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spcAft>
                <a:spcPts val="600"/>
              </a:spcAft>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GPRO</a:t>
            </a:r>
            <a:r>
              <a:rPr lang="en-US" altLang="zh-TW" sz="1600" dirty="0"/>
              <a:t>): Deep reasoning and self-correction.</a:t>
            </a:r>
          </a:p>
          <a:p>
            <a:pPr marL="742950" lvl="1" indent="-285750">
              <a:lnSpc>
                <a:spcPts val="1800"/>
              </a:lnSpc>
              <a:spcBef>
                <a:spcPts val="600"/>
              </a:spcBef>
              <a:spcAft>
                <a:spcPts val="600"/>
              </a:spcAft>
              <a:buFont typeface="Arial" panose="020B0604020202020204" pitchFamily="34" charset="0"/>
              <a:buChar char="•"/>
            </a:pPr>
            <a:r>
              <a:rPr lang="en-US" altLang="zh-TW" sz="1600" dirty="0"/>
              <a:t>DeepSeek </a:t>
            </a:r>
            <a:r>
              <a:rPr lang="en-US" altLang="zh-TW" sz="1600" dirty="0" err="1"/>
              <a:t>MoE</a:t>
            </a:r>
            <a:r>
              <a:rPr lang="en-US" altLang="zh-TW" sz="1600" dirty="0"/>
              <a:t>: The first 3 layers use hash routing, sqrt(</a:t>
            </a:r>
            <a:r>
              <a:rPr lang="en-US" altLang="zh-TW" sz="1600" dirty="0" err="1"/>
              <a:t>Softplus</a:t>
            </a:r>
            <a:r>
              <a:rPr lang="en-US" altLang="zh-TW" sz="1600" dirty="0"/>
              <a:t>(•)), anticipatory routing.</a:t>
            </a:r>
          </a:p>
          <a:p>
            <a:pPr marL="742950" lvl="1" indent="-285750">
              <a:lnSpc>
                <a:spcPts val="1800"/>
              </a:lnSpc>
              <a:spcBef>
                <a:spcPts val="600"/>
              </a:spcBef>
              <a:spcAft>
                <a:spcPts val="600"/>
              </a:spcAft>
              <a:buFont typeface="Arial" panose="020B0604020202020204" pitchFamily="34" charset="0"/>
              <a:buChar char="•"/>
            </a:pPr>
            <a:r>
              <a:rPr lang="en-US" altLang="zh-TW" sz="1600" dirty="0"/>
              <a:t>Dual Pipe</a:t>
            </a:r>
            <a:r>
              <a:rPr lang="zh-TW" altLang="en-US" sz="1600" dirty="0"/>
              <a:t> </a:t>
            </a:r>
            <a:r>
              <a:rPr lang="en-US" altLang="zh-TW" sz="1600" dirty="0"/>
              <a:t>/</a:t>
            </a:r>
            <a:r>
              <a:rPr lang="zh-TW" altLang="en-US" sz="1600" dirty="0"/>
              <a:t> </a:t>
            </a:r>
            <a:endParaRPr lang="en-US" altLang="zh-TW" sz="1600" dirty="0"/>
          </a:p>
        </p:txBody>
      </p:sp>
      <p:sp>
        <p:nvSpPr>
          <p:cNvPr id="24" name="標題 1">
            <a:extLst>
              <a:ext uri="{FF2B5EF4-FFF2-40B4-BE49-F238E27FC236}">
                <a16:creationId xmlns:a16="http://schemas.microsoft.com/office/drawing/2014/main" id="{D2F8DEE5-E3E1-6BCF-A3E0-7673A86B07A0}"/>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CD21D50D-67FF-1AAF-E234-697279D51DD8}"/>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7EF4FC27-0BF9-6E26-60E7-7D67E7774B50}"/>
              </a:ext>
            </a:extLst>
          </p:cNvPr>
          <p:cNvPicPr>
            <a:picLocks noChangeAspect="1"/>
          </p:cNvPicPr>
          <p:nvPr/>
        </p:nvPicPr>
        <p:blipFill>
          <a:blip r:embed="rId2"/>
          <a:stretch>
            <a:fillRect/>
          </a:stretch>
        </p:blipFill>
        <p:spPr>
          <a:xfrm>
            <a:off x="1691680" y="856984"/>
            <a:ext cx="5931288" cy="5719747"/>
          </a:xfrm>
          <a:prstGeom prst="rect">
            <a:avLst/>
          </a:prstGeom>
        </p:spPr>
      </p:pic>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B6CF422A-86AC-5076-1068-C85ACFF4EE65}"/>
              </a:ext>
            </a:extLst>
          </p:cNvPr>
          <p:cNvSpPr txBox="1">
            <a:spLocks/>
          </p:cNvSpPr>
          <p:nvPr/>
        </p:nvSpPr>
        <p:spPr>
          <a:xfrm>
            <a:off x="6277087" y="116632"/>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矩形: 圓角 2">
            <a:extLst>
              <a:ext uri="{FF2B5EF4-FFF2-40B4-BE49-F238E27FC236}">
                <a16:creationId xmlns:a16="http://schemas.microsoft.com/office/drawing/2014/main" id="{AB4273AF-A4C6-DD3C-DF7B-6600921A4991}"/>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sp>
        <p:nvSpPr>
          <p:cNvPr id="5" name="矩形: 圓角 4">
            <a:extLst>
              <a:ext uri="{FF2B5EF4-FFF2-40B4-BE49-F238E27FC236}">
                <a16:creationId xmlns:a16="http://schemas.microsoft.com/office/drawing/2014/main" id="{9D3946E5-6619-B00B-6F2B-318E4FFDDBFF}"/>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10" name="直線單箭頭接點 9">
            <a:extLst>
              <a:ext uri="{FF2B5EF4-FFF2-40B4-BE49-F238E27FC236}">
                <a16:creationId xmlns:a16="http://schemas.microsoft.com/office/drawing/2014/main" id="{66CD6BA5-C714-3982-95C5-9F54EB190B25}"/>
              </a:ext>
            </a:extLst>
          </p:cNvPr>
          <p:cNvCxnSpPr>
            <a:cxnSpLocks/>
            <a:stCxn id="3" idx="0"/>
            <a:endCxn id="5" idx="2"/>
          </p:cNvCxnSpPr>
          <p:nvPr/>
        </p:nvCxnSpPr>
        <p:spPr>
          <a:xfrm flipV="1">
            <a:off x="1077305" y="4717672"/>
            <a:ext cx="282" cy="374834"/>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矩形: 圓角 15">
            <a:extLst>
              <a:ext uri="{FF2B5EF4-FFF2-40B4-BE49-F238E27FC236}">
                <a16:creationId xmlns:a16="http://schemas.microsoft.com/office/drawing/2014/main" id="{03AF971C-A9FC-598A-0B06-5CF72E8CE55C}"/>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Layer</a:t>
            </a:r>
          </a:p>
        </p:txBody>
      </p:sp>
      <p:cxnSp>
        <p:nvCxnSpPr>
          <p:cNvPr id="17" name="直線單箭頭接點 16">
            <a:extLst>
              <a:ext uri="{FF2B5EF4-FFF2-40B4-BE49-F238E27FC236}">
                <a16:creationId xmlns:a16="http://schemas.microsoft.com/office/drawing/2014/main" id="{ECA6FA32-B08E-0AC6-BB60-7F13E024D8E7}"/>
              </a:ext>
            </a:extLst>
          </p:cNvPr>
          <p:cNvCxnSpPr>
            <a:cxnSpLocks/>
            <a:stCxn id="5" idx="0"/>
            <a:endCxn id="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39FACF2C-0169-0192-DCE3-698E839EEE88}"/>
              </a:ext>
            </a:extLst>
          </p:cNvPr>
          <p:cNvSpPr/>
          <p:nvPr/>
        </p:nvSpPr>
        <p:spPr>
          <a:xfrm>
            <a:off x="1419387" y="5671009"/>
            <a:ext cx="362588" cy="283154"/>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p:txBody>
      </p:sp>
      <p:sp>
        <p:nvSpPr>
          <p:cNvPr id="38" name="矩形: 圓角 37">
            <a:extLst>
              <a:ext uri="{FF2B5EF4-FFF2-40B4-BE49-F238E27FC236}">
                <a16:creationId xmlns:a16="http://schemas.microsoft.com/office/drawing/2014/main" id="{495965DC-D140-10E5-C8BE-EFB795525B2C}"/>
              </a:ext>
            </a:extLst>
          </p:cNvPr>
          <p:cNvSpPr/>
          <p:nvPr/>
        </p:nvSpPr>
        <p:spPr>
          <a:xfrm>
            <a:off x="5326018" y="256717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0" name="矩形 39">
            <a:extLst>
              <a:ext uri="{FF2B5EF4-FFF2-40B4-BE49-F238E27FC236}">
                <a16:creationId xmlns:a16="http://schemas.microsoft.com/office/drawing/2014/main" id="{9C145AB5-B694-BD39-7472-655FD31D71DE}"/>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2" name="矩形: 圓角 41">
            <a:extLst>
              <a:ext uri="{FF2B5EF4-FFF2-40B4-BE49-F238E27FC236}">
                <a16:creationId xmlns:a16="http://schemas.microsoft.com/office/drawing/2014/main" id="{1D2D53B4-109A-6360-1CB3-E4BF23E21A13}"/>
              </a:ext>
            </a:extLst>
          </p:cNvPr>
          <p:cNvSpPr/>
          <p:nvPr/>
        </p:nvSpPr>
        <p:spPr>
          <a:xfrm>
            <a:off x="592569" y="2094702"/>
            <a:ext cx="1008112" cy="1142915"/>
          </a:xfrm>
          <a:prstGeom prst="roundRect">
            <a:avLst>
              <a:gd name="adj" fmla="val 3585"/>
            </a:avLst>
          </a:prstGeom>
          <a:solidFill>
            <a:schemeClr val="accent1">
              <a:lumMod val="40000"/>
              <a:lumOff val="60000"/>
              <a:alpha val="60000"/>
            </a:schemeClr>
          </a:solidFill>
          <a:ln w="127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DS</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Engram</a:t>
            </a:r>
          </a:p>
          <a:p>
            <a:pPr marL="0" marR="0" lvl="0" indent="0" algn="l"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lumMod val="50000"/>
                    <a:lumOff val="50000"/>
                  </a:prstClr>
                </a:solidFill>
                <a:latin typeface="Gadugi" panose="020B0502040204020203" pitchFamily="34" charset="0"/>
                <a:ea typeface="Gadugi" panose="020B0502040204020203" pitchFamily="34" charset="0"/>
                <a:cs typeface="ADLaM Display" panose="02010000000000000000" pitchFamily="2" charset="0"/>
              </a:rPr>
              <a:t>Memory</a:t>
            </a:r>
            <a:endPar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endParaRPr>
          </a:p>
        </p:txBody>
      </p:sp>
      <p:sp>
        <p:nvSpPr>
          <p:cNvPr id="44" name="矩形: 圓角 43">
            <a:extLst>
              <a:ext uri="{FF2B5EF4-FFF2-40B4-BE49-F238E27FC236}">
                <a16:creationId xmlns:a16="http://schemas.microsoft.com/office/drawing/2014/main" id="{229ED7FB-E018-28E8-1D53-38224D99611A}"/>
              </a:ext>
            </a:extLst>
          </p:cNvPr>
          <p:cNvSpPr/>
          <p:nvPr/>
        </p:nvSpPr>
        <p:spPr>
          <a:xfrm>
            <a:off x="572714" y="3434430"/>
            <a:ext cx="1008112" cy="1142915"/>
          </a:xfrm>
          <a:prstGeom prst="roundRect">
            <a:avLst>
              <a:gd name="adj" fmla="val 3585"/>
            </a:avLst>
          </a:prstGeom>
          <a:solidFill>
            <a:schemeClr val="bg1">
              <a:lumMod val="85000"/>
              <a:alpha val="6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576" tIns="36576" rIns="0" bIns="0" rtlCol="0" anchor="t" anchorCtr="0"/>
          <a:lstStyle/>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Hybrid</a:t>
            </a:r>
          </a:p>
          <a:p>
            <a:pPr marL="0" marR="0" lvl="0" indent="0" algn="l"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lumMod val="50000"/>
                    <a:lumOff val="50000"/>
                  </a:prstClr>
                </a:solidFill>
                <a:effectLst/>
                <a:uLnTx/>
                <a:uFillTx/>
                <a:latin typeface="Gadugi" panose="020B0502040204020203" pitchFamily="34" charset="0"/>
                <a:ea typeface="Gadugi" panose="020B0502040204020203" pitchFamily="34" charset="0"/>
                <a:cs typeface="ADLaM Display" panose="02010000000000000000" pitchFamily="2" charset="0"/>
              </a:rPr>
              <a:t>Attention</a:t>
            </a:r>
          </a:p>
        </p:txBody>
      </p:sp>
      <p:sp>
        <p:nvSpPr>
          <p:cNvPr id="53" name="標題 1">
            <a:extLst>
              <a:ext uri="{FF2B5EF4-FFF2-40B4-BE49-F238E27FC236}">
                <a16:creationId xmlns:a16="http://schemas.microsoft.com/office/drawing/2014/main" id="{249C3675-6FDA-4190-33DD-98459B3A7FD6}"/>
              </a:ext>
            </a:extLst>
          </p:cNvPr>
          <p:cNvSpPr txBox="1">
            <a:spLocks/>
          </p:cNvSpPr>
          <p:nvPr/>
        </p:nvSpPr>
        <p:spPr>
          <a:xfrm>
            <a:off x="2247243" y="1511237"/>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2190304" y="3779409"/>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2190305" y="4221088"/>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2190305" y="4662767"/>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4388573" y="4425343"/>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7" name="矩形: 圓角 66">
            <a:extLst>
              <a:ext uri="{FF2B5EF4-FFF2-40B4-BE49-F238E27FC236}">
                <a16:creationId xmlns:a16="http://schemas.microsoft.com/office/drawing/2014/main" id="{0062D4B4-5B11-01B8-0A56-9256045910D7}"/>
              </a:ext>
            </a:extLst>
          </p:cNvPr>
          <p:cNvSpPr/>
          <p:nvPr/>
        </p:nvSpPr>
        <p:spPr>
          <a:xfrm>
            <a:off x="4388574" y="4867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 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9" name="矩形: 圓角 68">
            <a:extLst>
              <a:ext uri="{FF2B5EF4-FFF2-40B4-BE49-F238E27FC236}">
                <a16:creationId xmlns:a16="http://schemas.microsoft.com/office/drawing/2014/main" id="{9FC8BB49-1875-29AD-E3DB-F0F13915E38B}"/>
              </a:ext>
            </a:extLst>
          </p:cNvPr>
          <p:cNvSpPr/>
          <p:nvPr/>
        </p:nvSpPr>
        <p:spPr>
          <a:xfrm>
            <a:off x="4388574" y="5308701"/>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DF853-DB2B-5B17-A093-7D0B8373E064}"/>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45D53A9B-2F81-BD18-DE7A-5618A974C2CD}"/>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2464F40A-BAFE-8E5C-ADF0-7EAFD5EE0814}"/>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38A7722-0794-7FA9-CFAF-64E2F5903E1C}"/>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4584C735-F07E-0C10-9C74-60EC566FC90F}"/>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09B471F0-758D-4548-7242-A3522397F1F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5F5B08CF-6155-F999-C5E4-DBD926DEF60E}"/>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89A2545-27B3-1E1F-1147-D9D90BC0555A}"/>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E07FF1A-431A-9369-6B33-80C2279ECDCB}"/>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8136AA92-38DB-B14E-610D-6B0311B14B75}"/>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851BC44B-5B04-22ED-D95A-92C63F87E116}"/>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EE14F6B4-37D1-56E2-EDEA-0A56D3D436FE}"/>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3092C76B-AE0E-5F35-E0AB-4DE43B75B6A4}"/>
              </a:ext>
            </a:extLst>
          </p:cNvPr>
          <p:cNvGraphicFramePr>
            <a:graphicFrameLocks noGrp="1"/>
          </p:cNvGraphicFramePr>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5268C3CC-7821-69F7-635F-54B5528FCE7E}"/>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3BE4B16-6269-1702-9839-1FA09735ABE2}"/>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C12C4E81-5985-0483-1E63-E3549532D5EE}"/>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33EB7CC2-65D3-4FEB-FC8C-906D7019B8C1}"/>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A4A603C2-7EA6-7AEB-AC6C-83740E3A0F81}"/>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FB07F28E-A783-481E-49AD-D365F5C0C5AC}"/>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BCD1F126-DFFA-5505-4214-2CC3645F292B}"/>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304744C6-9FCE-7DEE-0005-F9E85A4E03A7}"/>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E08DC8D-1253-515F-8AD1-58783BAFB8BD}"/>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953AA1D0-848B-B40E-FC9C-06F9CB93939B}"/>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57EA1995-601A-AC94-9EA3-83099240AD28}"/>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870E5590-7DAE-FEAA-4DCD-67FDECF3091B}"/>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5F8D0222-496B-9128-04B9-DCAA7DFFE87D}"/>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840C7B71-CA5F-0107-8DA0-46FDC02C0CDF}"/>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6290B839-CD73-AE88-00EB-4629D45A2B93}"/>
              </a:ext>
            </a:extLst>
          </p:cNvPr>
          <p:cNvSpPr/>
          <p:nvPr/>
        </p:nvSpPr>
        <p:spPr>
          <a:xfrm>
            <a:off x="543989" y="122740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314D8826-4484-01FF-2A0D-D48318A7979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E105222-3558-A979-68BE-0F8663644430}"/>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FA473417-8579-E747-647D-E9033859E2A6}"/>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6227CC91-F425-F1ED-6D15-902DF28A946D}"/>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81ACC1E8-F6EB-0682-34B7-64749B8FAE0A}"/>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54999BC6-6CBC-BF3A-61A4-7F9AEA982C6A}"/>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4D760224-B654-005F-D37E-E6C3F74B43EC}"/>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7EFA2289-514B-7941-1FB4-8FC22B0398F6}"/>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1AC2EFC2-609D-1B7B-A47E-2291B3F1FD61}"/>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19972B4E-3297-FAEB-DE1E-58D2F01566E1}"/>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6DE59694-6065-0FD0-C16E-CC82ACDCC00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D6C95A3-33B5-6AEA-B38F-32AAB5C8409A}"/>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E94B98F1-C1C6-F637-11DA-A84BBBEEB668}"/>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EF0A8B0D-8EA5-E85E-E27F-1DE1EFF42654}"/>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29" name="矩形 28">
            <a:extLst>
              <a:ext uri="{FF2B5EF4-FFF2-40B4-BE49-F238E27FC236}">
                <a16:creationId xmlns:a16="http://schemas.microsoft.com/office/drawing/2014/main" id="{10B3AFCA-C91B-4ACE-3022-6FA421653A8A}"/>
              </a:ext>
            </a:extLst>
          </p:cNvPr>
          <p:cNvSpPr/>
          <p:nvPr/>
        </p:nvSpPr>
        <p:spPr>
          <a:xfrm>
            <a:off x="543988" y="2183059"/>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Tree>
    <p:extLst>
      <p:ext uri="{BB962C8B-B14F-4D97-AF65-F5344CB8AC3E}">
        <p14:creationId xmlns:p14="http://schemas.microsoft.com/office/powerpoint/2010/main" val="2489565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2364760" y="634520"/>
            <a:ext cx="4310375" cy="5962832"/>
          </a:xfrm>
          <a:prstGeom prst="rect">
            <a:avLst/>
          </a:prstGeom>
        </p:spPr>
      </p:pic>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934CCFB2-3555-3DD4-A6B0-3DDAD38C8B93}"/>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3347864" y="6683052"/>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err="1"/>
              <a:t>AttnRes</a:t>
            </a:r>
            <a:r>
              <a:rPr lang="en-US" altLang="zh-TW" sz="1600" dirty="0"/>
              <a:t> reduces layers (</a:t>
            </a:r>
            <a:r>
              <a:rPr lang="en-US" altLang="zh-TW" sz="1600" b="1" dirty="0" err="1">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a:t>
            </a:r>
            <a:r>
              <a:rPr lang="en-US" altLang="zh-TW" sz="1600" dirty="0" err="1"/>
              <a:t>MoE</a:t>
            </a:r>
            <a:r>
              <a:rPr lang="en-US" altLang="zh-TW" sz="1600" dirty="0"/>
              <a:t>: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2757</TotalTime>
  <Words>20467</Words>
  <Application>Microsoft Office PowerPoint</Application>
  <PresentationFormat>如螢幕大小 (4:3)</PresentationFormat>
  <Paragraphs>3112</Paragraphs>
  <Slides>52</Slides>
  <Notes>40</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52</vt:i4>
      </vt:variant>
    </vt:vector>
  </HeadingPairs>
  <TitlesOfParts>
    <vt:vector size="70"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1825</cp:revision>
  <cp:lastPrinted>2024-07-30T01:44:15Z</cp:lastPrinted>
  <dcterms:created xsi:type="dcterms:W3CDTF">2019-11-08T03:01:47Z</dcterms:created>
  <dcterms:modified xsi:type="dcterms:W3CDTF">2026-08-10T09:16:24Z</dcterms:modified>
</cp:coreProperties>
</file>