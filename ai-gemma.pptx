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26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22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26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22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AEA"/>
    <a:srgbClr val="DFD8E8"/>
    <a:srgbClr val="FF99FF"/>
    <a:srgbClr val="EBE6F0"/>
    <a:srgbClr val="CCFF66"/>
    <a:srgbClr val="CBDCA8"/>
    <a:srgbClr val="FF0000"/>
    <a:srgbClr val="008000"/>
    <a:srgbClr val="DDDDDD"/>
    <a:srgbClr val="DCE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843808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Environment</a:t>
            </a:r>
            <a:endParaRPr lang="en-US" altLang="zh-TW" sz="1400" u="none" strike="noStrike" dirty="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3208771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619752" y="3839980"/>
            <a:ext cx="882008" cy="168240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Agents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use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 brains, RAG  knowledge, and  MCP skills to work.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414470"/>
              </p:ext>
            </p:extLst>
          </p:nvPr>
        </p:nvGraphicFramePr>
        <p:xfrm>
          <a:off x="1403648" y="5017192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856955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733357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1025873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987824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E7D64985-4BBD-322E-CC35-E45F82B3CE7E}"/>
              </a:ext>
            </a:extLst>
          </p:cNvPr>
          <p:cNvCxnSpPr>
            <a:cxnSpLocks/>
            <a:stCxn id="111" idx="1"/>
            <a:endCxn id="10" idx="0"/>
          </p:cNvCxnSpPr>
          <p:nvPr/>
        </p:nvCxnSpPr>
        <p:spPr>
          <a:xfrm rot="10800000" flipV="1">
            <a:off x="1939111" y="4740776"/>
            <a:ext cx="1269660" cy="27641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5169812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2460188" y="3475428"/>
            <a:ext cx="825087" cy="882539"/>
          </a:xfrm>
          <a:prstGeom prst="wedgeRoundRectCallout">
            <a:avLst>
              <a:gd name="adj1" fmla="val 45167"/>
              <a:gd name="adj2" fmla="val 7165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ED4096-EC87-5FA0-C284-9B53560B41FE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885328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706295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396534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3658327" y="5671171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343834" y="5669254"/>
            <a:ext cx="588206" cy="37601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5148064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2987824" y="5669254"/>
            <a:ext cx="588206" cy="376017"/>
          </a:xfrm>
          <a:prstGeom prst="rect">
            <a:avLst/>
          </a:prstGeom>
          <a:solidFill>
            <a:schemeClr val="accent5">
              <a:lumMod val="20000"/>
              <a:lumOff val="80000"/>
              <a:alpha val="6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472971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tx2">
              <a:lumMod val="20000"/>
              <a:lumOff val="80000"/>
              <a:alpha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4005784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3577435" y="2987668"/>
            <a:ext cx="274485" cy="495428"/>
          </a:xfrm>
          <a:prstGeom prst="upArrow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292080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3193552" y="3843978"/>
            <a:ext cx="882008" cy="160244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642670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957533" y="4988411"/>
            <a:ext cx="862" cy="28788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671849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436972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984716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255216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Skill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365824" y="2996952"/>
            <a:ext cx="278184" cy="495428"/>
          </a:xfrm>
          <a:prstGeom prst="upArrow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Done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71" idx="0"/>
          </p:cNvCxnSpPr>
          <p:nvPr/>
        </p:nvCxnSpPr>
        <p:spPr>
          <a:xfrm rot="16200000" flipH="1">
            <a:off x="2621929" y="3075809"/>
            <a:ext cx="1461323" cy="403686"/>
          </a:xfrm>
          <a:prstGeom prst="bentConnector3">
            <a:avLst>
              <a:gd name="adj1" fmla="val -15643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4012812" y="4554404"/>
            <a:ext cx="1103669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EC23AE7C-B5C8-B4F7-9E86-055D60AEFBC7}"/>
              </a:ext>
            </a:extLst>
          </p:cNvPr>
          <p:cNvGrpSpPr/>
          <p:nvPr/>
        </p:nvGrpSpPr>
        <p:grpSpPr>
          <a:xfrm>
            <a:off x="6516216" y="4813260"/>
            <a:ext cx="1512168" cy="1273320"/>
            <a:chOff x="5292080" y="1036415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5378796" y="1036415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bg1">
                <a:lumMod val="95000"/>
                <a:alpha val="70000"/>
              </a:schemeClr>
            </a:solidFill>
            <a:ln w="25400">
              <a:solidFill>
                <a:schemeClr val="bg1">
                  <a:lumMod val="50000"/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5359936" y="1077213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6139924" y="1628800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5292080" y="1916832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5393262" y="1082969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5437150" y="1225751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323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Skill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246EBEC3-E2E8-7F76-E461-DF6BA0142B33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MCP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BA05BA6-682F-E714-C62E-DEB3A66638F1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Real-Time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external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16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B55E57A6-6BCE-F3CC-1266-7E54981EF350}"/>
              </a:ext>
            </a:extLst>
          </p:cNvPr>
          <p:cNvCxnSpPr>
            <a:cxnSpLocks/>
            <a:stCxn id="70" idx="1"/>
            <a:endCxn id="74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形 29" descr="統計 以實心填滿">
            <a:extLst>
              <a:ext uri="{FF2B5EF4-FFF2-40B4-BE49-F238E27FC236}">
                <a16:creationId xmlns:a16="http://schemas.microsoft.com/office/drawing/2014/main" id="{2F417CFC-C08D-8AC7-FE07-C2FDB3383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chemeClr val="accent4">
                <a:lumMod val="60000"/>
                <a:lumOff val="40000"/>
              </a:schemeClr>
            </a:glow>
          </a:effectLst>
        </p:spPr>
      </p:pic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F35FAE4-219A-F7C6-6930-F22BA619A0E6}"/>
              </a:ext>
            </a:extLst>
          </p:cNvPr>
          <p:cNvCxnSpPr>
            <a:cxnSpLocks/>
            <a:stCxn id="74" idx="3"/>
            <a:endCxn id="89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AA224E60-31D4-446D-E4BA-7E52EEE0F947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u="none" strike="noStrike" dirty="0">
                <a:effectLst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3C9627-CD4E-2780-7259-9B95B68D7DF5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Accurate Data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A9F366E9-4DE1-405D-D23C-15394384EFC8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8DA46341-076C-9538-5F65-7772C9BF8E97}"/>
              </a:ext>
            </a:extLst>
          </p:cNvPr>
          <p:cNvCxnSpPr>
            <a:cxnSpLocks/>
            <a:stCxn id="94" idx="1"/>
            <a:endCxn id="95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5ECE1A84-39B0-E184-406D-098D2F900FB8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98" name="圖形 97" descr="放大鏡 以實心填滿">
            <a:extLst>
              <a:ext uri="{FF2B5EF4-FFF2-40B4-BE49-F238E27FC236}">
                <a16:creationId xmlns:a16="http://schemas.microsoft.com/office/drawing/2014/main" id="{ED47DEB0-7937-1899-CCAB-0CF8E52A4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  <a:alpha val="40000"/>
              </a:schemeClr>
            </a:glow>
          </a:effectLst>
        </p:spPr>
      </p:pic>
      <p:pic>
        <p:nvPicPr>
          <p:cNvPr id="103" name="圖形 102" descr="卷軸 以實心填滿">
            <a:extLst>
              <a:ext uri="{FF2B5EF4-FFF2-40B4-BE49-F238E27FC236}">
                <a16:creationId xmlns:a16="http://schemas.microsoft.com/office/drawing/2014/main" id="{667ED03B-A7F7-ACC2-A2B1-E2AFC9861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pic>
        <p:nvPicPr>
          <p:cNvPr id="119" name="圖形 118" descr="伺服器 以實心填滿">
            <a:extLst>
              <a:ext uri="{FF2B5EF4-FFF2-40B4-BE49-F238E27FC236}">
                <a16:creationId xmlns:a16="http://schemas.microsoft.com/office/drawing/2014/main" id="{71DF6DD6-7BC1-EF37-79EB-6ED391AC9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sp>
        <p:nvSpPr>
          <p:cNvPr id="121" name="語音泡泡: 圓角矩形 120">
            <a:extLst>
              <a:ext uri="{FF2B5EF4-FFF2-40B4-BE49-F238E27FC236}">
                <a16:creationId xmlns:a16="http://schemas.microsoft.com/office/drawing/2014/main" id="{E66BF7E8-3B44-838D-11B4-D798918A32E3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125" name="接點: 肘形 124">
            <a:extLst>
              <a:ext uri="{FF2B5EF4-FFF2-40B4-BE49-F238E27FC236}">
                <a16:creationId xmlns:a16="http://schemas.microsoft.com/office/drawing/2014/main" id="{6F975437-D854-70DF-C9D6-44997A400587}"/>
              </a:ext>
            </a:extLst>
          </p:cNvPr>
          <p:cNvCxnSpPr>
            <a:cxnSpLocks/>
            <a:stCxn id="150" idx="1"/>
            <a:endCxn id="181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617B5F58-14B7-E470-F4D6-CDD08C65DB3F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u="none" strike="noStrike" dirty="0">
              <a:effectLst/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FF75223B-70F5-227D-C836-1DBEC01BE14B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D008D54-BFC3-D132-9E53-A6D533AE9D5C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01584511-5D98-1263-73AB-4BA7623B0CF5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229" name="直線單箭頭接點 228">
            <a:extLst>
              <a:ext uri="{FF2B5EF4-FFF2-40B4-BE49-F238E27FC236}">
                <a16:creationId xmlns:a16="http://schemas.microsoft.com/office/drawing/2014/main" id="{7DCFF79B-1787-2F84-3993-6BF66E06D367}"/>
              </a:ext>
            </a:extLst>
          </p:cNvPr>
          <p:cNvCxnSpPr>
            <a:cxnSpLocks/>
            <a:stCxn id="181" idx="3"/>
            <a:endCxn id="92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2E096F5F-5E59-24B9-A111-67D2FA2A0304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Call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39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tx1">
                <a:lumMod val="50000"/>
                <a:lumOff val="50000"/>
                <a:alpha val="4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Skill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sp>
        <p:nvSpPr>
          <p:cNvPr id="14" name="語音泡泡: 圓角矩形 13">
            <a:extLst>
              <a:ext uri="{FF2B5EF4-FFF2-40B4-BE49-F238E27FC236}">
                <a16:creationId xmlns:a16="http://schemas.microsoft.com/office/drawing/2014/main" id="{CB345992-DE5F-A7FB-7DF7-6DACD25830F6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C58512F8-827C-6573-B915-D87B2B70F5B7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177492D-9542-526B-840B-EC616526CF71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39" name="語音泡泡: 圓角矩形 38">
              <a:extLst>
                <a:ext uri="{FF2B5EF4-FFF2-40B4-BE49-F238E27FC236}">
                  <a16:creationId xmlns:a16="http://schemas.microsoft.com/office/drawing/2014/main" id="{2804A24D-B98B-EC9F-CB2F-3D51D45D538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chemeClr val="bg1">
                <a:alpha val="8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</a:t>
              </a:r>
              <a:r>
                <a:rPr lang="en-US" altLang="zh-TW" sz="1200" dirty="0">
                  <a:ln w="0"/>
                  <a:solidFill>
                    <a:prstClr val="black"/>
                  </a:solidFill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are.</a:t>
              </a:r>
            </a:p>
          </p:txBody>
        </p:sp>
        <p:pic>
          <p:nvPicPr>
            <p:cNvPr id="41" name="圖形 40" descr="夾紙板 (徽章) 以實心填滿">
              <a:extLst>
                <a:ext uri="{FF2B5EF4-FFF2-40B4-BE49-F238E27FC236}">
                  <a16:creationId xmlns:a16="http://schemas.microsoft.com/office/drawing/2014/main" id="{A2807007-7BAB-C046-ECEA-75F84A520C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chemeClr val="accent4">
                  <a:lumMod val="20000"/>
                  <a:lumOff val="80000"/>
                </a:schemeClr>
              </a:glow>
            </a:effectLst>
          </p:spPr>
        </p:pic>
      </p:grpSp>
      <p:sp>
        <p:nvSpPr>
          <p:cNvPr id="59" name="語音泡泡: 圓角矩形 58">
            <a:extLst>
              <a:ext uri="{FF2B5EF4-FFF2-40B4-BE49-F238E27FC236}">
                <a16:creationId xmlns:a16="http://schemas.microsoft.com/office/drawing/2014/main" id="{D09692F8-BE29-99AB-B0D5-3772513753A3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62" name="語音泡泡: 圓角矩形 61">
            <a:extLst>
              <a:ext uri="{FF2B5EF4-FFF2-40B4-BE49-F238E27FC236}">
                <a16:creationId xmlns:a16="http://schemas.microsoft.com/office/drawing/2014/main" id="{D93367F2-3AAC-6546-5F9A-45AA23F38EBD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cxnSp>
        <p:nvCxnSpPr>
          <p:cNvPr id="63" name="接點: 弧形 62">
            <a:extLst>
              <a:ext uri="{FF2B5EF4-FFF2-40B4-BE49-F238E27FC236}">
                <a16:creationId xmlns:a16="http://schemas.microsoft.com/office/drawing/2014/main" id="{DBE7CEED-496C-7C7F-E2E1-F8C58EFE3043}"/>
              </a:ext>
            </a:extLst>
          </p:cNvPr>
          <p:cNvCxnSpPr>
            <a:cxnSpLocks/>
            <a:stCxn id="41" idx="2"/>
            <a:endCxn id="3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EEB10B3-3F35-4FBA-B436-06CC04D539A1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cxnSp>
        <p:nvCxnSpPr>
          <p:cNvPr id="69" name="接點: 肘形 68">
            <a:extLst>
              <a:ext uri="{FF2B5EF4-FFF2-40B4-BE49-F238E27FC236}">
                <a16:creationId xmlns:a16="http://schemas.microsoft.com/office/drawing/2014/main" id="{5110B8D3-3930-64CF-F95F-B0C3AE80881B}"/>
              </a:ext>
            </a:extLst>
          </p:cNvPr>
          <p:cNvCxnSpPr>
            <a:cxnSpLocks/>
            <a:stCxn id="62" idx="3"/>
            <a:endCxn id="43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ln w="15875">
            <a:solidFill>
              <a:schemeClr val="accent4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圖形 75" descr="科學思想 以實心填滿">
            <a:extLst>
              <a:ext uri="{FF2B5EF4-FFF2-40B4-BE49-F238E27FC236}">
                <a16:creationId xmlns:a16="http://schemas.microsoft.com/office/drawing/2014/main" id="{174E6B0F-BB8A-784D-193F-AA6DE0CFE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862094"/>
              </p:ext>
            </p:extLst>
          </p:nvPr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0CC1A86-0C18-AB72-F5A9-4306189B0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392842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95762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Hugging Face TRL)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Engine</a:t>
            </a:r>
            <a:r>
              <a:rPr lang="en-US" altLang="zh-TW" sz="1600" dirty="0"/>
              <a:t>: Freeze base weight. ( llama, Gemma 4)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5702545-0EF5-72BF-9149-DBDB7D627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2102" y="4811708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E7C0B290-8E6D-44B1-6DE3-7FBB5A30523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D23E4A2-AF80-DE45-79B6-3B8FB1C1571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SFT and Quantization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7DE70DD2-16BF-ECEA-19B3-80072208A0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179145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3131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9266</Words>
  <Application>Microsoft Office PowerPoint</Application>
  <PresentationFormat>如螢幕大小 (4:3)</PresentationFormat>
  <Paragraphs>1286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2" baseType="lpstr"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1824</cp:revision>
  <cp:lastPrinted>2024-07-30T01:44:15Z</cp:lastPrinted>
  <dcterms:created xsi:type="dcterms:W3CDTF">2019-11-08T03:01:47Z</dcterms:created>
  <dcterms:modified xsi:type="dcterms:W3CDTF">2026-07-25T08:15:02Z</dcterms:modified>
</cp:coreProperties>
</file>