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4"/>
  </p:notesMasterIdLst>
  <p:handoutMasterIdLst>
    <p:handoutMasterId r:id="rId25"/>
  </p:handoutMasterIdLst>
  <p:sldIdLst>
    <p:sldId id="3459" r:id="rId2"/>
    <p:sldId id="3472" r:id="rId3"/>
    <p:sldId id="3465" r:id="rId4"/>
    <p:sldId id="3566" r:id="rId5"/>
    <p:sldId id="3555" r:id="rId6"/>
    <p:sldId id="3559" r:id="rId7"/>
    <p:sldId id="3563" r:id="rId8"/>
    <p:sldId id="3562" r:id="rId9"/>
    <p:sldId id="3556" r:id="rId10"/>
    <p:sldId id="3551" r:id="rId11"/>
    <p:sldId id="3567" r:id="rId12"/>
    <p:sldId id="3568" r:id="rId13"/>
    <p:sldId id="3561" r:id="rId14"/>
    <p:sldId id="3534" r:id="rId15"/>
    <p:sldId id="3565" r:id="rId16"/>
    <p:sldId id="3451" r:id="rId17"/>
    <p:sldId id="3560" r:id="rId18"/>
    <p:sldId id="3564" r:id="rId19"/>
    <p:sldId id="3536" r:id="rId20"/>
    <p:sldId id="3569" r:id="rId21"/>
    <p:sldId id="3535" r:id="rId22"/>
    <p:sldId id="3549" r:id="rId23"/>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Background" id="{EE40A592-26E0-44D5-B20C-08484E6740F4}">
          <p14:sldIdLst>
            <p14:sldId id="3465"/>
            <p14:sldId id="3566"/>
            <p14:sldId id="3555"/>
            <p14:sldId id="3559"/>
          </p14:sldIdLst>
        </p14:section>
        <p14:section name="Optimizer" id="{D96295E3-C59A-456D-AE59-C3D5699A4263}">
          <p14:sldIdLst>
            <p14:sldId id="3563"/>
            <p14:sldId id="3562"/>
            <p14:sldId id="3556"/>
            <p14:sldId id="3551"/>
          </p14:sldIdLst>
        </p14:section>
        <p14:section name="Moonshot-Kimi" id="{7C2BE5B2-C507-46C7-871E-C935EB653EC3}">
          <p14:sldIdLst>
            <p14:sldId id="3567"/>
            <p14:sldId id="3568"/>
            <p14:sldId id="3561"/>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59738" autoAdjust="0"/>
  </p:normalViewPr>
  <p:slideViewPr>
    <p:cSldViewPr>
      <p:cViewPr>
        <p:scale>
          <a:sx n="80" d="100"/>
          <a:sy n="80" d="100"/>
        </p:scale>
        <p:origin x="1248" y="3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2026/8/22</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2026/8/22</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4.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LSTM（長短期記憶網路）</a:t>
            </a:r>
            <a:r>
              <a:rPr lang="zh-TW" altLang="zh-TW" sz="1200" b="0" u="none" strike="noStrike" kern="1200" dirty="0">
                <a:solidFill>
                  <a:schemeClr val="tx1"/>
                </a:solidFill>
                <a:effectLst/>
                <a:latin typeface="+mn-lt"/>
                <a:ea typeface="+mn-ea"/>
                <a:cs typeface="+mn-cs"/>
              </a:rPr>
              <a:t> 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團隊在近年</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Kimi Linear 與 KDA 等新架構研究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對底層技術進行突破時，借鑒並延伸了 LSTM 的核心精神</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pPr lvl="0"/>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vocus.cc/article/6693787dfd89780001ac301a" TargetMode="Externa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4.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4.png"/><Relationship Id="rId16"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6.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8.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7.png"/><Relationship Id="rId5" Type="http://schemas.openxmlformats.org/officeDocument/2006/relationships/image" Target="../media/image42.png"/><Relationship Id="rId10" Type="http://schemas.openxmlformats.org/officeDocument/2006/relationships/image" Target="../media/image46.png"/><Relationship Id="rId4" Type="http://schemas.openxmlformats.org/officeDocument/2006/relationships/image" Target="../media/image41.png"/><Relationship Id="rId9"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2082621"/>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	</a:t>
            </a:r>
            <a:r>
              <a:rPr lang="en-US" altLang="zh-TW" sz="1000" dirty="0">
                <a:sym typeface="Wingdings" panose="05000000000000000000" pitchFamily="2" charset="2"/>
              </a:rPr>
              <a:t>	Kimi Team</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LSTM networks operate similarly to RNNs but include specialized mechanisms called gates.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These gates regulate how information flows through the network, allowing it to retain important information over extended periods.</a:t>
            </a:r>
          </a:p>
        </p:txBody>
      </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0A251C17-D9A1-5FBF-8E07-DD7E1122850A}"/>
              </a:ext>
            </a:extLst>
          </p:cNvPr>
          <p:cNvPicPr>
            <a:picLocks noChangeAspect="1"/>
          </p:cNvPicPr>
          <p:nvPr/>
        </p:nvPicPr>
        <p:blipFill>
          <a:blip r:embed="rId4"/>
          <a:stretch>
            <a:fillRect/>
          </a:stretch>
        </p:blipFill>
        <p:spPr>
          <a:xfrm>
            <a:off x="127453" y="3591374"/>
            <a:ext cx="5198703" cy="3077986"/>
          </a:xfrm>
          <a:prstGeom prst="rect">
            <a:avLst/>
          </a:prstGeom>
        </p:spPr>
      </p:pic>
      <p:sp>
        <p:nvSpPr>
          <p:cNvPr id="6" name="文字方塊 5">
            <a:hlinkClick r:id="rId5"/>
            <a:extLst>
              <a:ext uri="{FF2B5EF4-FFF2-40B4-BE49-F238E27FC236}">
                <a16:creationId xmlns:a16="http://schemas.microsoft.com/office/drawing/2014/main" id="{70855807-1161-E559-F5A2-B53DEF61F327}"/>
              </a:ext>
            </a:extLst>
          </p:cNvPr>
          <p:cNvSpPr txBox="1"/>
          <p:nvPr/>
        </p:nvSpPr>
        <p:spPr>
          <a:xfrm>
            <a:off x="179512" y="3192617"/>
            <a:ext cx="1195013" cy="369332"/>
          </a:xfrm>
          <a:prstGeom prst="rect">
            <a:avLst/>
          </a:prstGeom>
          <a:noFill/>
        </p:spPr>
        <p:txBody>
          <a:bodyPr wrap="square">
            <a:spAutoFit/>
          </a:bodyPr>
          <a:lstStyle/>
          <a:p>
            <a:r>
              <a:rPr lang="en-US" altLang="zh-TW" dirty="0">
                <a:hlinkClick r:id="rId5"/>
              </a:rPr>
              <a:t>LSTM</a:t>
            </a:r>
            <a:r>
              <a:rPr lang="zh-TW" altLang="en-US" dirty="0">
                <a:hlinkClick r:id="rId5"/>
              </a:rPr>
              <a:t>教學</a:t>
            </a:r>
            <a:endParaRPr lang="zh-TW" altLang="en-US" dirty="0"/>
          </a:p>
        </p:txBody>
      </p:sp>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6382641" cy="3829584"/>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179512" y="3933056"/>
            <a:ext cx="5496692" cy="1276528"/>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184845" y="5313056"/>
            <a:ext cx="5944430" cy="1343212"/>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2904254" y="201757"/>
            <a:ext cx="6239746" cy="1571844"/>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3762900" y="1877073"/>
            <a:ext cx="5239481" cy="1352739"/>
          </a:xfrm>
          <a:prstGeom prst="rect">
            <a:avLst/>
          </a:prstGeom>
        </p:spPr>
      </p:pic>
      <p:sp>
        <p:nvSpPr>
          <p:cNvPr id="15" name="文字方塊 14">
            <a:extLst>
              <a:ext uri="{FF2B5EF4-FFF2-40B4-BE49-F238E27FC236}">
                <a16:creationId xmlns:a16="http://schemas.microsoft.com/office/drawing/2014/main" id="{08DA9942-5A75-91F2-0080-CBB4DCE111B0}"/>
              </a:ext>
            </a:extLst>
          </p:cNvPr>
          <p:cNvSpPr txBox="1"/>
          <p:nvPr/>
        </p:nvSpPr>
        <p:spPr>
          <a:xfrm>
            <a:off x="6684565" y="4101698"/>
            <a:ext cx="2342149" cy="2554545"/>
          </a:xfrm>
          <a:prstGeom prst="rect">
            <a:avLst/>
          </a:prstGeom>
          <a:noFill/>
        </p:spPr>
        <p:txBody>
          <a:bodyPr wrap="square">
            <a:spAutoFit/>
          </a:bodyPr>
          <a:lstStyle/>
          <a:p>
            <a:pPr>
              <a:lnSpc>
                <a:spcPts val="1200"/>
              </a:lnSpc>
            </a:pPr>
            <a:r>
              <a:rPr lang="zh-TW" altLang="en-US" sz="10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000" dirty="0">
                <a:latin typeface="微軟正黑體" panose="020B0604030504040204" pitchFamily="34" charset="-120"/>
                <a:ea typeface="微軟正黑體" panose="020B0604030504040204" pitchFamily="34" charset="-120"/>
              </a:rPr>
              <a:t>從上述的「作法」中你可以發現，計算第 </a:t>
            </a:r>
            <a:r>
              <a:rPr lang="en-US" altLang="zh-TW" sz="1000" dirty="0">
                <a:latin typeface="微軟正黑體" panose="020B0604030504040204" pitchFamily="34" charset="-120"/>
                <a:ea typeface="微軟正黑體" panose="020B0604030504040204" pitchFamily="34" charset="-120"/>
              </a:rPr>
              <a:t>2 </a:t>
            </a:r>
            <a:r>
              <a:rPr lang="zh-TW" altLang="en-US" sz="1000" dirty="0">
                <a:latin typeface="微軟正黑體" panose="020B0604030504040204" pitchFamily="34" charset="-120"/>
                <a:ea typeface="微軟正黑體" panose="020B0604030504040204" pitchFamily="34" charset="-120"/>
              </a:rPr>
              <a:t>個字時，公式裡必須代入上一步的 </a:t>
            </a:r>
            <a:r>
              <a:rPr lang="en-US" altLang="zh-TW" sz="1000" dirty="0">
                <a:latin typeface="微軟正黑體" panose="020B0604030504040204" pitchFamily="34" charset="-120"/>
                <a:ea typeface="微軟正黑體" panose="020B0604030504040204" pitchFamily="34" charset="-120"/>
              </a:rPr>
              <a:t>h{t-1} </a:t>
            </a:r>
            <a:r>
              <a:rPr lang="zh-TW" altLang="en-US" sz="1000" dirty="0">
                <a:latin typeface="微軟正黑體" panose="020B0604030504040204" pitchFamily="34" charset="-120"/>
                <a:ea typeface="微軟正黑體" panose="020B0604030504040204" pitchFamily="34" charset="-120"/>
              </a:rPr>
              <a:t>和 </a:t>
            </a:r>
            <a:r>
              <a:rPr lang="en-US" altLang="zh-TW" sz="1000" dirty="0">
                <a:latin typeface="微軟正黑體" panose="020B0604030504040204" pitchFamily="34" charset="-120"/>
                <a:ea typeface="微軟正黑體" panose="020B0604030504040204" pitchFamily="34" charset="-120"/>
              </a:rPr>
              <a:t>C_{t-1}</a:t>
            </a:r>
            <a:r>
              <a:rPr lang="zh-TW" altLang="en-US" sz="1000" dirty="0">
                <a:latin typeface="微軟正黑體" panose="020B0604030504040204" pitchFamily="34" charset="-120"/>
                <a:ea typeface="微軟正黑體" panose="020B0604030504040204" pitchFamily="34" charset="-120"/>
              </a:rPr>
              <a:t>。</a:t>
            </a:r>
            <a:br>
              <a:rPr lang="zh-TW" altLang="en-US" sz="1000" dirty="0">
                <a:latin typeface="微軟正黑體" panose="020B0604030504040204" pitchFamily="34" charset="-120"/>
                <a:ea typeface="微軟正黑體" panose="020B0604030504040204" pitchFamily="34" charset="-120"/>
              </a:rPr>
            </a:br>
            <a:r>
              <a:rPr lang="zh-TW" altLang="en-US" sz="1000" dirty="0">
                <a:latin typeface="微軟正黑體" panose="020B0604030504040204" pitchFamily="34" charset="-120"/>
                <a:ea typeface="微軟正黑體" panose="020B0604030504040204" pitchFamily="34" charset="-120"/>
              </a:rPr>
              <a:t>這意味著：</a:t>
            </a:r>
          </a:p>
          <a:p>
            <a:pPr>
              <a:lnSpc>
                <a:spcPts val="1200"/>
              </a:lnSpc>
            </a:pPr>
            <a:r>
              <a:rPr lang="zh-TW" altLang="en-US" sz="1000" dirty="0">
                <a:latin typeface="微軟正黑體" panose="020B0604030504040204" pitchFamily="34" charset="-120"/>
                <a:ea typeface="微軟正黑體" panose="020B0604030504040204" pitchFamily="34" charset="-120"/>
              </a:rPr>
              <a:t>你無法同時計算第 </a:t>
            </a:r>
            <a:r>
              <a:rPr lang="en-US" altLang="zh-TW" sz="1000" dirty="0">
                <a:latin typeface="微軟正黑體" panose="020B0604030504040204" pitchFamily="34" charset="-120"/>
                <a:ea typeface="微軟正黑體" panose="020B0604030504040204" pitchFamily="34" charset="-120"/>
              </a:rPr>
              <a:t>1 </a:t>
            </a:r>
            <a:r>
              <a:rPr lang="zh-TW" altLang="en-US" sz="1000" dirty="0">
                <a:latin typeface="微軟正黑體" panose="020B0604030504040204" pitchFamily="34" charset="-120"/>
                <a:ea typeface="微軟正黑體" panose="020B0604030504040204" pitchFamily="34" charset="-120"/>
              </a:rPr>
              <a:t>個字和第 </a:t>
            </a:r>
            <a:r>
              <a:rPr lang="en-US" altLang="zh-TW" sz="1000" dirty="0">
                <a:latin typeface="微軟正黑體" panose="020B0604030504040204" pitchFamily="34" charset="-120"/>
                <a:ea typeface="微軟正黑體" panose="020B0604030504040204" pitchFamily="34" charset="-120"/>
              </a:rPr>
              <a:t>100 </a:t>
            </a:r>
            <a:r>
              <a:rPr lang="zh-TW" altLang="en-US" sz="1000" dirty="0">
                <a:latin typeface="微軟正黑體" panose="020B0604030504040204" pitchFamily="34" charset="-120"/>
                <a:ea typeface="微軟正黑體" panose="020B0604030504040204" pitchFamily="34" charset="-120"/>
              </a:rPr>
              <a:t>個字。</a:t>
            </a:r>
          </a:p>
          <a:p>
            <a:pPr>
              <a:lnSpc>
                <a:spcPts val="1200"/>
              </a:lnSpc>
            </a:pPr>
            <a:r>
              <a:rPr lang="zh-TW" altLang="en-US" sz="1000" dirty="0">
                <a:latin typeface="微軟正黑體" panose="020B0604030504040204" pitchFamily="34" charset="-120"/>
                <a:ea typeface="微軟正黑體" panose="020B0604030504040204" pitchFamily="34" charset="-120"/>
              </a:rPr>
              <a:t>顯示卡（</a:t>
            </a:r>
            <a:r>
              <a:rPr lang="en-US" altLang="zh-TW" sz="1000" dirty="0">
                <a:latin typeface="微軟正黑體" panose="020B0604030504040204" pitchFamily="34" charset="-120"/>
                <a:ea typeface="微軟正黑體" panose="020B0604030504040204" pitchFamily="34" charset="-120"/>
              </a:rPr>
              <a:t>GPU</a:t>
            </a:r>
            <a:r>
              <a:rPr lang="zh-TW" altLang="en-US" sz="1000" dirty="0">
                <a:latin typeface="微軟正黑體" panose="020B0604030504040204" pitchFamily="34" charset="-120"/>
                <a:ea typeface="微軟正黑體" panose="020B0604030504040204" pitchFamily="34" charset="-120"/>
              </a:rPr>
              <a:t>）有幾千個核心可以並行運算，但在跑 </a:t>
            </a:r>
            <a:r>
              <a:rPr lang="en-US" altLang="zh-TW" sz="1000" dirty="0">
                <a:latin typeface="微軟正黑體" panose="020B0604030504040204" pitchFamily="34" charset="-120"/>
                <a:ea typeface="微軟正黑體" panose="020B0604030504040204" pitchFamily="34" charset="-120"/>
              </a:rPr>
              <a:t>LSTM </a:t>
            </a:r>
            <a:r>
              <a:rPr lang="zh-TW" altLang="en-US" sz="10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000" dirty="0">
                <a:latin typeface="微軟正黑體" panose="020B0604030504040204" pitchFamily="34" charset="-120"/>
                <a:ea typeface="微軟正黑體" panose="020B0604030504040204" pitchFamily="34" charset="-120"/>
              </a:rPr>
              <a:t>這也是為什麼當前 </a:t>
            </a:r>
            <a:r>
              <a:rPr lang="en-US" altLang="zh-TW" sz="1000" dirty="0">
                <a:latin typeface="微軟正黑體" panose="020B0604030504040204" pitchFamily="34" charset="-120"/>
                <a:ea typeface="微軟正黑體" panose="020B0604030504040204" pitchFamily="34" charset="-120"/>
              </a:rPr>
              <a:t>AI </a:t>
            </a:r>
            <a:r>
              <a:rPr lang="zh-TW" altLang="en-US" sz="1000" dirty="0">
                <a:latin typeface="微軟正黑體" panose="020B0604030504040204" pitchFamily="34" charset="-120"/>
                <a:ea typeface="微軟正黑體" panose="020B0604030504040204" pitchFamily="34" charset="-120"/>
              </a:rPr>
              <a:t>業界全面轉向 </a:t>
            </a:r>
            <a:r>
              <a:rPr lang="en-US" altLang="zh-TW" sz="1000" dirty="0">
                <a:latin typeface="微軟正黑體" panose="020B0604030504040204" pitchFamily="34" charset="-120"/>
                <a:ea typeface="微軟正黑體" panose="020B0604030504040204" pitchFamily="34" charset="-120"/>
              </a:rPr>
              <a:t>Transformer</a:t>
            </a:r>
            <a:r>
              <a:rPr lang="zh-TW" altLang="en-US" sz="1000" dirty="0">
                <a:latin typeface="微軟正黑體" panose="020B0604030504040204" pitchFamily="34" charset="-120"/>
                <a:ea typeface="微軟正黑體" panose="020B0604030504040204" pitchFamily="34" charset="-120"/>
              </a:rPr>
              <a:t>，因為 </a:t>
            </a:r>
            <a:r>
              <a:rPr lang="en-US" altLang="zh-TW" sz="1000" dirty="0">
                <a:latin typeface="微軟正黑體" panose="020B0604030504040204" pitchFamily="34" charset="-120"/>
                <a:ea typeface="微軟正黑體" panose="020B0604030504040204" pitchFamily="34" charset="-120"/>
              </a:rPr>
              <a:t>Transformer </a:t>
            </a:r>
            <a:r>
              <a:rPr lang="zh-TW" altLang="en-US" sz="1000" dirty="0">
                <a:latin typeface="微軟正黑體" panose="020B0604030504040204" pitchFamily="34" charset="-120"/>
                <a:ea typeface="微軟正黑體" panose="020B0604030504040204" pitchFamily="34" charset="-120"/>
              </a:rPr>
              <a:t>的作法是把所有字一次全部丟進去算（</a:t>
            </a:r>
            <a:r>
              <a:rPr lang="en-US" altLang="zh-TW" sz="1000" dirty="0">
                <a:latin typeface="微軟正黑體" panose="020B0604030504040204" pitchFamily="34" charset="-120"/>
                <a:ea typeface="微軟正黑體" panose="020B0604030504040204" pitchFamily="34" charset="-120"/>
              </a:rPr>
              <a:t>Self-Attention</a:t>
            </a:r>
            <a:r>
              <a:rPr lang="zh-TW" altLang="en-US" sz="1000" dirty="0">
                <a:latin typeface="微軟正黑體" panose="020B0604030504040204" pitchFamily="34" charset="-120"/>
                <a:ea typeface="微軟正黑體" panose="020B0604030504040204" pitchFamily="34" charset="-120"/>
              </a:rPr>
              <a:t>），徹底解放了 </a:t>
            </a:r>
            <a:r>
              <a:rPr lang="en-US" altLang="zh-TW" sz="1000" dirty="0">
                <a:latin typeface="微軟正黑體" panose="020B0604030504040204" pitchFamily="34" charset="-120"/>
                <a:ea typeface="微軟正黑體" panose="020B0604030504040204" pitchFamily="34" charset="-120"/>
              </a:rPr>
              <a:t>GPU </a:t>
            </a:r>
            <a:r>
              <a:rPr lang="zh-TW" altLang="en-US" sz="1000" dirty="0">
                <a:latin typeface="微軟正黑體" panose="020B0604030504040204" pitchFamily="34" charset="-120"/>
                <a:ea typeface="微軟正黑體" panose="020B0604030504040204" pitchFamily="34" charset="-120"/>
              </a:rPr>
              <a:t>的並行算力。</a:t>
            </a:r>
          </a:p>
        </p:txBody>
      </p:sp>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3"/>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4"/>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5"/>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6"/>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7"/>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8"/>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4554</Words>
  <Application>Microsoft Office PowerPoint</Application>
  <PresentationFormat>如螢幕大小 (4:3)</PresentationFormat>
  <Paragraphs>613</Paragraphs>
  <Slides>22</Slides>
  <Notes>14</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22</vt:i4>
      </vt:variant>
    </vt:vector>
  </HeadingPairs>
  <TitlesOfParts>
    <vt:vector size="32"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1874</cp:revision>
  <cp:lastPrinted>2024-07-30T01:44:15Z</cp:lastPrinted>
  <dcterms:created xsi:type="dcterms:W3CDTF">2019-11-08T03:01:47Z</dcterms:created>
  <dcterms:modified xsi:type="dcterms:W3CDTF">2026-08-22T02:28:17Z</dcterms:modified>
</cp:coreProperties>
</file>