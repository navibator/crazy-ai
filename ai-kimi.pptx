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handoutMasterIdLst>
    <p:handoutMasterId r:id="rId33"/>
  </p:handoutMasterIdLst>
  <p:sldIdLst>
    <p:sldId id="3459" r:id="rId2"/>
    <p:sldId id="3472" r:id="rId3"/>
    <p:sldId id="3573" r:id="rId4"/>
    <p:sldId id="3465" r:id="rId5"/>
    <p:sldId id="3574" r:id="rId6"/>
    <p:sldId id="3566" r:id="rId7"/>
    <p:sldId id="3575" r:id="rId8"/>
    <p:sldId id="3563" r:id="rId9"/>
    <p:sldId id="3562" r:id="rId10"/>
    <p:sldId id="3556" r:id="rId11"/>
    <p:sldId id="3551" r:id="rId12"/>
    <p:sldId id="3561" r:id="rId13"/>
    <p:sldId id="3577" r:id="rId14"/>
    <p:sldId id="3559" r:id="rId15"/>
    <p:sldId id="3578" r:id="rId16"/>
    <p:sldId id="3570" r:id="rId17"/>
    <p:sldId id="3571" r:id="rId18"/>
    <p:sldId id="3579" r:id="rId19"/>
    <p:sldId id="3572" r:id="rId20"/>
    <p:sldId id="3567" r:id="rId21"/>
    <p:sldId id="3568" r:id="rId22"/>
    <p:sldId id="3534" r:id="rId23"/>
    <p:sldId id="3565" r:id="rId24"/>
    <p:sldId id="3451" r:id="rId25"/>
    <p:sldId id="3560" r:id="rId26"/>
    <p:sldId id="3564" r:id="rId27"/>
    <p:sldId id="3536" r:id="rId28"/>
    <p:sldId id="3569" r:id="rId29"/>
    <p:sldId id="3535" r:id="rId30"/>
    <p:sldId id="3549" r:id="rId3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Context Memory" id="{EE40A592-26E0-44D5-B20C-08484E6740F4}">
          <p14:sldIdLst>
            <p14:sldId id="3573"/>
            <p14:sldId id="3465"/>
            <p14:sldId id="3574"/>
            <p14:sldId id="3566"/>
          </p14:sldIdLst>
        </p14:section>
        <p14:section name="Residual and Skip" id="{9BECC90A-F116-468A-AB32-1AF6F0FAE763}">
          <p14:sldIdLst>
            <p14:sldId id="3575"/>
          </p14:sldIdLst>
        </p14:section>
        <p14:section name="Optimizer-MuON" id="{D96295E3-C59A-456D-AE59-C3D5699A4263}">
          <p14:sldIdLst>
            <p14:sldId id="3563"/>
            <p14:sldId id="3562"/>
            <p14:sldId id="3556"/>
            <p14:sldId id="3551"/>
          </p14:sldIdLst>
        </p14:section>
        <p14:section name="Scaling Laws" id="{D8A0A845-B83A-4610-8E4F-071F07C07C23}">
          <p14:sldIdLst>
            <p14:sldId id="3561"/>
            <p14:sldId id="3577"/>
            <p14:sldId id="3559"/>
          </p14:sldIdLst>
        </p14:section>
        <p14:section name="Moonshot-Kimi" id="{7C2BE5B2-C507-46C7-871E-C935EB653EC3}">
          <p14:sldIdLst>
            <p14:sldId id="3578"/>
            <p14:sldId id="3570"/>
            <p14:sldId id="3571"/>
            <p14:sldId id="3579"/>
            <p14:sldId id="3572"/>
            <p14:sldId id="3567"/>
            <p14:sldId id="3568"/>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100" d="100"/>
          <a:sy n="100" d="100"/>
        </p:scale>
        <p:origin x="1584"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2026/9/22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2026/9/22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en.wikipedia.org/wiki/Chinchilla_(language_model)" TargetMode="External"/><Relationship Id="rId2" Type="http://schemas.openxmlformats.org/officeDocument/2006/relationships/slide" Target="../slides/slide13.xml"/><Relationship Id="rId1" Type="http://schemas.openxmlformats.org/officeDocument/2006/relationships/notesMaster" Target="../notesMasters/notesMaster1.xml"/><Relationship Id="rId5" Type="http://schemas.openxmlformats.org/officeDocument/2006/relationships/hyperlink" Target="https://ai.meta.com/blog/large-language-model-llama-meta-ai/" TargetMode="External"/><Relationship Id="rId4" Type="http://schemas.openxmlformats.org/officeDocument/2006/relationships/hyperlink" Target="https://arxiv.org/abs/2203.15556"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en-US" altLang="zh-TW" sz="1200" dirty="0">
                <a:ea typeface="ADLaM Display" panose="02010000000000000000" pitchFamily="2" charset="0"/>
                <a:cs typeface="ADLaM Display" panose="02010000000000000000" pitchFamily="2" charset="0"/>
              </a:rPr>
              <a:t>LSA(laten semantic analysis) based on “Bag of Words” and SVD,</a:t>
            </a:r>
            <a:br>
              <a:rPr lang="en-US" altLang="zh-TW" sz="1200" dirty="0">
                <a:ea typeface="ADLaM Display" panose="02010000000000000000" pitchFamily="2" charset="0"/>
                <a:cs typeface="ADLaM Display" panose="02010000000000000000" pitchFamily="2" charset="0"/>
              </a:rPr>
            </a:br>
            <a:br>
              <a:rPr lang="en-US" altLang="zh-TW" sz="1200" dirty="0">
                <a:ea typeface="ADLaM Display" panose="02010000000000000000" pitchFamily="2" charset="0"/>
                <a:cs typeface="ADLaM Display" panose="02010000000000000000" pitchFamily="2" charset="0"/>
              </a:rPr>
            </a:br>
            <a:r>
              <a:rPr lang="en-US" altLang="zh-TW" sz="1200" dirty="0">
                <a:ea typeface="ADLaM Display" panose="02010000000000000000" pitchFamily="2" charset="0"/>
                <a:cs typeface="ADLaM Display" panose="02010000000000000000" pitchFamily="2" charset="0"/>
              </a:rPr>
              <a:t>Document-Term Matrix can’t distinguish 2 backs below:</a:t>
            </a:r>
            <a:br>
              <a:rPr lang="en-US" altLang="zh-TW" sz="1200" dirty="0">
                <a:ea typeface="ADLaM Display" panose="02010000000000000000" pitchFamily="2" charset="0"/>
                <a:cs typeface="ADLaM Display" panose="02010000000000000000" pitchFamily="2" charset="0"/>
              </a:rPr>
            </a:br>
            <a:br>
              <a:rPr lang="en-US" altLang="zh-TW" sz="1200" dirty="0">
                <a:ea typeface="ADLaM Display" panose="02010000000000000000" pitchFamily="2" charset="0"/>
                <a:cs typeface="ADLaM Display" panose="02010000000000000000" pitchFamily="2" charset="0"/>
              </a:rPr>
            </a:br>
            <a:r>
              <a:rPr lang="en-US" altLang="zh-TW" sz="1200" dirty="0">
                <a:ea typeface="ADLaM Display" panose="02010000000000000000" pitchFamily="2" charset="0"/>
                <a:cs typeface="ADLaM Display" panose="02010000000000000000" pitchFamily="2" charset="0"/>
              </a:rPr>
              <a:t>The </a:t>
            </a:r>
            <a:r>
              <a:rPr lang="en-US" altLang="zh-TW" sz="1200" b="1" dirty="0">
                <a:solidFill>
                  <a:schemeClr val="accent6">
                    <a:lumMod val="75000"/>
                  </a:schemeClr>
                </a:solidFill>
                <a:ea typeface="ADLaM Display" panose="02010000000000000000" pitchFamily="2" charset="0"/>
                <a:cs typeface="ADLaM Display" panose="02010000000000000000" pitchFamily="2" charset="0"/>
              </a:rPr>
              <a:t>back</a:t>
            </a:r>
            <a:r>
              <a:rPr lang="en-US" altLang="zh-TW" sz="1200" dirty="0">
                <a:ea typeface="ADLaM Display" panose="02010000000000000000" pitchFamily="2" charset="0"/>
                <a:cs typeface="ADLaM Display" panose="02010000000000000000" pitchFamily="2" charset="0"/>
              </a:rPr>
              <a:t> of the river was wet.</a:t>
            </a:r>
          </a:p>
          <a:p>
            <a:r>
              <a:rPr lang="en-US" altLang="zh-TW" sz="1200" dirty="0">
                <a:ea typeface="ADLaM Display" panose="02010000000000000000" pitchFamily="2" charset="0"/>
                <a:cs typeface="ADLaM Display" panose="02010000000000000000" pitchFamily="2" charset="0"/>
              </a:rPr>
              <a:t>The river of the </a:t>
            </a:r>
            <a:r>
              <a:rPr lang="en-US" altLang="zh-TW" sz="1200" b="1" dirty="0">
                <a:solidFill>
                  <a:schemeClr val="accent6">
                    <a:lumMod val="75000"/>
                  </a:schemeClr>
                </a:solidFill>
                <a:ea typeface="ADLaM Display" panose="02010000000000000000" pitchFamily="2" charset="0"/>
                <a:cs typeface="ADLaM Display" panose="02010000000000000000" pitchFamily="2" charset="0"/>
              </a:rPr>
              <a:t>back</a:t>
            </a:r>
            <a:r>
              <a:rPr lang="en-US" altLang="zh-TW" sz="1200" dirty="0">
                <a:ea typeface="ADLaM Display" panose="02010000000000000000" pitchFamily="2" charset="0"/>
                <a:cs typeface="ADLaM Display" panose="02010000000000000000" pitchFamily="2" charset="0"/>
              </a:rPr>
              <a:t> was dry.</a:t>
            </a:r>
            <a:endParaRPr lang="zh-TW" altLang="en-US" sz="1200" dirty="0">
              <a:cs typeface="ADLaM Display" panose="0201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lnSpc>
                <a:spcPts val="1200"/>
              </a:lnSpc>
            </a:pPr>
            <a:r>
              <a:rPr lang="zh-TW" altLang="en-US" sz="12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200" dirty="0">
                <a:latin typeface="微軟正黑體" panose="020B0604030504040204" pitchFamily="34" charset="-120"/>
                <a:ea typeface="微軟正黑體" panose="020B0604030504040204" pitchFamily="34" charset="-120"/>
              </a:rPr>
              <a:t>從上述的「作法」中你可以發現，計算第 </a:t>
            </a:r>
            <a:r>
              <a:rPr lang="en-US" altLang="zh-TW" sz="1200" dirty="0">
                <a:latin typeface="微軟正黑體" panose="020B0604030504040204" pitchFamily="34" charset="-120"/>
                <a:ea typeface="微軟正黑體" panose="020B0604030504040204" pitchFamily="34" charset="-120"/>
              </a:rPr>
              <a:t>2 </a:t>
            </a:r>
            <a:r>
              <a:rPr lang="zh-TW" altLang="en-US" sz="1200" dirty="0">
                <a:latin typeface="微軟正黑體" panose="020B0604030504040204" pitchFamily="34" charset="-120"/>
                <a:ea typeface="微軟正黑體" panose="020B0604030504040204" pitchFamily="34" charset="-120"/>
              </a:rPr>
              <a:t>個字時，公式裡必須代入上一步的 </a:t>
            </a:r>
            <a:r>
              <a:rPr lang="en-US" altLang="zh-TW" sz="1200" dirty="0">
                <a:latin typeface="微軟正黑體" panose="020B0604030504040204" pitchFamily="34" charset="-120"/>
                <a:ea typeface="微軟正黑體" panose="020B0604030504040204" pitchFamily="34" charset="-120"/>
              </a:rPr>
              <a:t>h{t-1} </a:t>
            </a:r>
            <a:r>
              <a:rPr lang="zh-TW" altLang="en-US" sz="1200" dirty="0">
                <a:latin typeface="微軟正黑體" panose="020B0604030504040204" pitchFamily="34" charset="-120"/>
                <a:ea typeface="微軟正黑體" panose="020B0604030504040204" pitchFamily="34" charset="-120"/>
              </a:rPr>
              <a:t>和 </a:t>
            </a:r>
            <a:r>
              <a:rPr lang="en-US" altLang="zh-TW" sz="1200" dirty="0">
                <a:latin typeface="微軟正黑體" panose="020B0604030504040204" pitchFamily="34" charset="-120"/>
                <a:ea typeface="微軟正黑體" panose="020B0604030504040204" pitchFamily="34" charset="-120"/>
              </a:rPr>
              <a:t>C_{t-1}</a:t>
            </a:r>
            <a:r>
              <a:rPr lang="zh-TW" altLang="en-US" sz="1200" dirty="0">
                <a:latin typeface="微軟正黑體" panose="020B0604030504040204" pitchFamily="34" charset="-120"/>
                <a:ea typeface="微軟正黑體" panose="020B0604030504040204" pitchFamily="34" charset="-120"/>
              </a:rPr>
              <a:t>。</a:t>
            </a:r>
            <a:br>
              <a:rPr lang="zh-TW" altLang="en-US" sz="1200" dirty="0">
                <a:latin typeface="微軟正黑體" panose="020B0604030504040204" pitchFamily="34" charset="-120"/>
                <a:ea typeface="微軟正黑體" panose="020B0604030504040204" pitchFamily="34" charset="-120"/>
              </a:rPr>
            </a:br>
            <a:r>
              <a:rPr lang="zh-TW" altLang="en-US" sz="1200" dirty="0">
                <a:latin typeface="微軟正黑體" panose="020B0604030504040204" pitchFamily="34" charset="-120"/>
                <a:ea typeface="微軟正黑體" panose="020B0604030504040204" pitchFamily="34" charset="-120"/>
              </a:rPr>
              <a:t>這意味著：</a:t>
            </a:r>
          </a:p>
          <a:p>
            <a:pPr>
              <a:lnSpc>
                <a:spcPts val="1200"/>
              </a:lnSpc>
            </a:pPr>
            <a:r>
              <a:rPr lang="zh-TW" altLang="en-US" sz="1200" dirty="0">
                <a:latin typeface="微軟正黑體" panose="020B0604030504040204" pitchFamily="34" charset="-120"/>
                <a:ea typeface="微軟正黑體" panose="020B0604030504040204" pitchFamily="34" charset="-120"/>
              </a:rPr>
              <a:t>你無法同時計算第 </a:t>
            </a: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個字和第 </a:t>
            </a:r>
            <a:r>
              <a:rPr lang="en-US" altLang="zh-TW" sz="1200" dirty="0">
                <a:latin typeface="微軟正黑體" panose="020B0604030504040204" pitchFamily="34" charset="-120"/>
                <a:ea typeface="微軟正黑體" panose="020B0604030504040204" pitchFamily="34" charset="-120"/>
              </a:rPr>
              <a:t>100 </a:t>
            </a:r>
            <a:r>
              <a:rPr lang="zh-TW" altLang="en-US" sz="1200" dirty="0">
                <a:latin typeface="微軟正黑體" panose="020B0604030504040204" pitchFamily="34" charset="-120"/>
                <a:ea typeface="微軟正黑體" panose="020B0604030504040204" pitchFamily="34" charset="-120"/>
              </a:rPr>
              <a:t>個字。</a:t>
            </a:r>
          </a:p>
          <a:p>
            <a:pPr>
              <a:lnSpc>
                <a:spcPts val="1200"/>
              </a:lnSpc>
            </a:pPr>
            <a:r>
              <a:rPr lang="zh-TW" altLang="en-US" sz="1200" dirty="0">
                <a:latin typeface="微軟正黑體" panose="020B0604030504040204" pitchFamily="34" charset="-120"/>
                <a:ea typeface="微軟正黑體" panose="020B0604030504040204" pitchFamily="34" charset="-120"/>
              </a:rPr>
              <a:t>顯示卡（</a:t>
            </a:r>
            <a:r>
              <a:rPr lang="en-US" altLang="zh-TW" sz="1200" dirty="0">
                <a:latin typeface="微軟正黑體" panose="020B0604030504040204" pitchFamily="34" charset="-120"/>
                <a:ea typeface="微軟正黑體" panose="020B0604030504040204" pitchFamily="34" charset="-120"/>
              </a:rPr>
              <a:t>GPU</a:t>
            </a:r>
            <a:r>
              <a:rPr lang="zh-TW" altLang="en-US" sz="1200" dirty="0">
                <a:latin typeface="微軟正黑體" panose="020B0604030504040204" pitchFamily="34" charset="-120"/>
                <a:ea typeface="微軟正黑體" panose="020B0604030504040204" pitchFamily="34" charset="-120"/>
              </a:rPr>
              <a:t>）有幾千個核心可以並行運算，但在跑 </a:t>
            </a:r>
            <a:r>
              <a:rPr lang="en-US" altLang="zh-TW" sz="1200" dirty="0">
                <a:latin typeface="微軟正黑體" panose="020B0604030504040204" pitchFamily="34" charset="-120"/>
                <a:ea typeface="微軟正黑體" panose="020B0604030504040204" pitchFamily="34" charset="-120"/>
              </a:rPr>
              <a:t>LSTM </a:t>
            </a:r>
            <a:r>
              <a:rPr lang="zh-TW" altLang="en-US" sz="12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200" dirty="0">
                <a:latin typeface="微軟正黑體" panose="020B0604030504040204" pitchFamily="34" charset="-120"/>
                <a:ea typeface="微軟正黑體" panose="020B0604030504040204" pitchFamily="34" charset="-120"/>
              </a:rPr>
              <a:t>這也是為什麼當前 </a:t>
            </a:r>
            <a:r>
              <a:rPr lang="en-US" altLang="zh-TW" sz="1200" dirty="0">
                <a:latin typeface="微軟正黑體" panose="020B0604030504040204" pitchFamily="34" charset="-120"/>
                <a:ea typeface="微軟正黑體" panose="020B0604030504040204" pitchFamily="34" charset="-120"/>
              </a:rPr>
              <a:t>AI </a:t>
            </a:r>
            <a:r>
              <a:rPr lang="zh-TW" altLang="en-US" sz="1200" dirty="0">
                <a:latin typeface="微軟正黑體" panose="020B0604030504040204" pitchFamily="34" charset="-120"/>
                <a:ea typeface="微軟正黑體" panose="020B0604030504040204" pitchFamily="34" charset="-120"/>
              </a:rPr>
              <a:t>業界全面轉向 </a:t>
            </a:r>
            <a:r>
              <a:rPr lang="en-US" altLang="zh-TW" sz="1200" dirty="0">
                <a:latin typeface="微軟正黑體" panose="020B0604030504040204" pitchFamily="34" charset="-120"/>
                <a:ea typeface="微軟正黑體" panose="020B0604030504040204" pitchFamily="34" charset="-120"/>
              </a:rPr>
              <a:t>Transformer</a:t>
            </a:r>
            <a:r>
              <a:rPr lang="zh-TW" altLang="en-US" sz="1200" dirty="0">
                <a:latin typeface="微軟正黑體" panose="020B0604030504040204" pitchFamily="34" charset="-120"/>
                <a:ea typeface="微軟正黑體" panose="020B0604030504040204" pitchFamily="34" charset="-120"/>
              </a:rPr>
              <a:t>，因為 </a:t>
            </a:r>
            <a:r>
              <a:rPr lang="en-US" altLang="zh-TW" sz="1200" dirty="0">
                <a:latin typeface="微軟正黑體" panose="020B0604030504040204" pitchFamily="34" charset="-120"/>
                <a:ea typeface="微軟正黑體" panose="020B0604030504040204" pitchFamily="34" charset="-120"/>
              </a:rPr>
              <a:t>Transformer </a:t>
            </a:r>
            <a:r>
              <a:rPr lang="zh-TW" altLang="en-US" sz="1200" dirty="0">
                <a:latin typeface="微軟正黑體" panose="020B0604030504040204" pitchFamily="34" charset="-120"/>
                <a:ea typeface="微軟正黑體" panose="020B0604030504040204" pitchFamily="34" charset="-120"/>
              </a:rPr>
              <a:t>的作法是把所有字一次全部丟進去算（</a:t>
            </a:r>
            <a:r>
              <a:rPr lang="en-US" altLang="zh-TW" sz="1200" dirty="0">
                <a:latin typeface="微軟正黑體" panose="020B0604030504040204" pitchFamily="34" charset="-120"/>
                <a:ea typeface="微軟正黑體" panose="020B0604030504040204" pitchFamily="34" charset="-120"/>
              </a:rPr>
              <a:t>Self-Attention</a:t>
            </a:r>
            <a:r>
              <a:rPr lang="zh-TW" altLang="en-US" sz="1200" dirty="0">
                <a:latin typeface="微軟正黑體" panose="020B0604030504040204" pitchFamily="34" charset="-120"/>
                <a:ea typeface="微軟正黑體" panose="020B0604030504040204" pitchFamily="34" charset="-120"/>
              </a:rPr>
              <a:t>），徹底解放了 </a:t>
            </a:r>
            <a:r>
              <a:rPr lang="en-US" altLang="zh-TW" sz="1200" dirty="0">
                <a:latin typeface="微軟正黑體" panose="020B0604030504040204" pitchFamily="34" charset="-120"/>
                <a:ea typeface="微軟正黑體" panose="020B0604030504040204" pitchFamily="34" charset="-120"/>
              </a:rPr>
              <a:t>GPU </a:t>
            </a:r>
            <a:r>
              <a:rPr lang="zh-TW" altLang="en-US" sz="1200" dirty="0">
                <a:latin typeface="微軟正黑體" panose="020B0604030504040204" pitchFamily="34" charset="-120"/>
                <a:ea typeface="微軟正黑體" panose="020B0604030504040204" pitchFamily="34" charset="-120"/>
              </a:rPr>
              <a:t>的並行算力。</a:t>
            </a: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a:t>
            </a:r>
            <a:r>
              <a:rPr lang="zh-TW" altLang="zh-TW" sz="1200" b="0" u="none" strike="noStrike" kern="1200" dirty="0">
                <a:solidFill>
                  <a:schemeClr val="tx1"/>
                </a:solidFill>
                <a:effectLst/>
                <a:latin typeface="+mn-lt"/>
                <a:ea typeface="+mn-ea"/>
                <a:cs typeface="+mn-cs"/>
              </a:rPr>
              <a:t>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a:t>
            </a:r>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2</a:t>
            </a:r>
            <a:r>
              <a:rPr lang="zh-TW" altLang="zh-TW" sz="1200" b="1" u="none" strike="noStrike" kern="1200" dirty="0">
                <a:solidFill>
                  <a:schemeClr val="tx1"/>
                </a:solidFill>
                <a:effectLst/>
                <a:latin typeface="+mn-lt"/>
                <a:ea typeface="+mn-ea"/>
                <a:cs typeface="+mn-cs"/>
              </a:rPr>
              <a:t>015年 12月ResNet微軟亞洲研究院 (MSRA)</a:t>
            </a:r>
            <a:r>
              <a:rPr lang="zh-TW" altLang="zh-TW" sz="1200" b="0" u="none" strike="noStrike" kern="1200" dirty="0">
                <a:solidFill>
                  <a:schemeClr val="tx1"/>
                </a:solidFill>
                <a:effectLst/>
                <a:latin typeface="+mn-lt"/>
                <a:ea typeface="+mn-ea"/>
                <a:cs typeface="+mn-cs"/>
              </a:rPr>
              <a:t>何愷明、張祥雨、任少卿、孫劍</a:t>
            </a:r>
            <a:r>
              <a:rPr lang="zh-TW" altLang="zh-TW" sz="1200" b="1" u="none" strike="noStrike" kern="1200" dirty="0">
                <a:solidFill>
                  <a:schemeClr val="tx1"/>
                </a:solidFill>
                <a:effectLst/>
                <a:latin typeface="+mn-lt"/>
                <a:ea typeface="+mn-ea"/>
                <a:cs typeface="+mn-cs"/>
              </a:rPr>
              <a:t>奠定基石</a:t>
            </a:r>
            <a:r>
              <a:rPr lang="zh-TW" altLang="zh-TW" sz="1200" b="0" u="none" strike="noStrike" kern="1200" dirty="0">
                <a:solidFill>
                  <a:schemeClr val="tx1"/>
                </a:solidFill>
                <a:effectLst/>
                <a:latin typeface="+mn-lt"/>
                <a:ea typeface="+mn-ea"/>
                <a:cs typeface="+mn-cs"/>
              </a:rPr>
              <a:t>：首次提出標準殘差連接（H(x) = F(x) + x），透過捷徑連接解決深層網路退化與梯度消失問題，沿用至今成為 Transformer 的默認配置。</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2024年 12月HC</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(Hyper-Connections)</a:t>
            </a:r>
            <a:r>
              <a:rPr lang="zh-TW" altLang="zh-TW" sz="1200" b="1" u="none" strike="noStrike" kern="1200" dirty="0">
                <a:solidFill>
                  <a:schemeClr val="tx1"/>
                </a:solidFill>
                <a:effectLst/>
                <a:latin typeface="+mn-lt"/>
                <a:ea typeface="+mn-ea"/>
                <a:cs typeface="+mn-cs"/>
              </a:rPr>
              <a:t>字節跳動 (ByteDance)</a:t>
            </a:r>
            <a:r>
              <a:rPr lang="zh-TW" altLang="zh-TW" sz="1200" b="0" u="none" strike="noStrike" kern="1200" dirty="0">
                <a:solidFill>
                  <a:schemeClr val="tx1"/>
                </a:solidFill>
                <a:effectLst/>
                <a:latin typeface="+mn-lt"/>
                <a:ea typeface="+mn-ea"/>
                <a:cs typeface="+mn-cs"/>
              </a:rPr>
              <a:t>朱等 (Zhu et al.)</a:t>
            </a:r>
            <a:r>
              <a:rPr lang="zh-TW" altLang="zh-TW" sz="1200" b="1" u="none" strike="noStrike" kern="1200" dirty="0">
                <a:solidFill>
                  <a:schemeClr val="tx1"/>
                </a:solidFill>
                <a:effectLst/>
                <a:latin typeface="+mn-lt"/>
                <a:ea typeface="+mn-ea"/>
                <a:cs typeface="+mn-cs"/>
              </a:rPr>
              <a:t>拓寬架構</a:t>
            </a:r>
            <a:r>
              <a:rPr lang="zh-TW" altLang="zh-TW" sz="1200" b="0" u="none" strike="noStrike" kern="1200" dirty="0">
                <a:solidFill>
                  <a:schemeClr val="tx1"/>
                </a:solidFill>
                <a:effectLst/>
                <a:latin typeface="+mn-lt"/>
                <a:ea typeface="+mn-ea"/>
                <a:cs typeface="+mn-cs"/>
              </a:rPr>
              <a:t>：打破單一殘差流限制，提出「多流並行（多通道）混合」，但多通道隨意混合容易破壞恆等映射，導致超深大模型訓練不穩定。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2025年 2月MUDDformer</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北京郵電大學 &amp; 彩雲科技</a:t>
            </a:r>
            <a:r>
              <a:rPr lang="zh-TW" altLang="zh-TW" sz="1200" b="0" u="none" strike="noStrike" kern="1200" dirty="0">
                <a:solidFill>
                  <a:schemeClr val="tx1"/>
                </a:solidFill>
                <a:effectLst/>
                <a:latin typeface="+mn-lt"/>
                <a:ea typeface="+mn-ea"/>
                <a:cs typeface="+mn-cs"/>
              </a:rPr>
              <a:t>肖達 (Da Xiao)、孟慶業、李省平、袁行遠</a:t>
            </a:r>
            <a:r>
              <a:rPr lang="zh-TW" altLang="zh-TW" sz="1200" b="1" u="none" strike="noStrike" kern="1200" dirty="0">
                <a:solidFill>
                  <a:schemeClr val="tx1"/>
                </a:solidFill>
                <a:effectLst/>
                <a:latin typeface="+mn-lt"/>
                <a:ea typeface="+mn-ea"/>
                <a:cs typeface="+mn-cs"/>
              </a:rPr>
              <a:t>引入動態稠密</a:t>
            </a:r>
            <a:r>
              <a:rPr lang="zh-TW" altLang="zh-TW" sz="1200" b="0" u="none" strike="noStrike" kern="1200" dirty="0">
                <a:solidFill>
                  <a:schemeClr val="tx1"/>
                </a:solidFill>
                <a:effectLst/>
                <a:latin typeface="+mn-lt"/>
                <a:ea typeface="+mn-ea"/>
                <a:cs typeface="+mn-cs"/>
              </a:rPr>
              <a:t>：將 Transformer 的輸入切分為 4 個獨立流</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Q</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R</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並利用輕量化 MLP 依據 token 位置</a:t>
            </a:r>
            <a:r>
              <a:rPr lang="zh-TW" altLang="zh-TW" sz="1200" b="1" u="none" strike="noStrike" kern="1200" dirty="0">
                <a:solidFill>
                  <a:schemeClr val="tx1"/>
                </a:solidFill>
                <a:effectLst/>
                <a:latin typeface="+mn-lt"/>
                <a:ea typeface="+mn-ea"/>
                <a:cs typeface="+mn-cs"/>
              </a:rPr>
              <a:t>動態生成跨層稠密連接權重</a:t>
            </a:r>
            <a:r>
              <a:rPr lang="zh-TW" altLang="zh-TW" sz="1200" b="0" u="none" strike="noStrike" kern="1200" dirty="0">
                <a:solidFill>
                  <a:schemeClr val="tx1"/>
                </a:solidFill>
                <a:effectLst/>
                <a:latin typeface="+mn-lt"/>
                <a:ea typeface="+mn-ea"/>
                <a:cs typeface="+mn-cs"/>
              </a:rPr>
              <a:t>。</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1月mHC</a:t>
            </a:r>
            <a:r>
              <a:rPr lang="zh-TW" altLang="zh-TW" sz="1200" b="0" u="none" strike="noStrike" kern="1200" dirty="0">
                <a:solidFill>
                  <a:schemeClr val="tx1"/>
                </a:solidFill>
                <a:effectLst/>
                <a:latin typeface="+mn-lt"/>
                <a:ea typeface="+mn-ea"/>
                <a:cs typeface="+mn-cs"/>
              </a:rPr>
              <a:t> </a:t>
            </a:r>
            <a:r>
              <a:rPr lang="en-US"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(Manifold-Constrained HC)</a:t>
            </a:r>
            <a:r>
              <a:rPr lang="zh-TW" altLang="zh-TW" sz="1200" b="1" u="none" strike="noStrike" kern="1200" dirty="0">
                <a:solidFill>
                  <a:schemeClr val="tx1"/>
                </a:solidFill>
                <a:effectLst/>
                <a:latin typeface="+mn-lt"/>
                <a:ea typeface="+mn-ea"/>
                <a:cs typeface="+mn-cs"/>
              </a:rPr>
              <a:t>深度求索 (DeepSeek)</a:t>
            </a:r>
            <a:r>
              <a:rPr lang="zh-TW" altLang="zh-TW" sz="1200" b="0" u="none" strike="noStrike" kern="1200" dirty="0">
                <a:solidFill>
                  <a:schemeClr val="tx1"/>
                </a:solidFill>
                <a:effectLst/>
                <a:latin typeface="+mn-lt"/>
                <a:ea typeface="+mn-ea"/>
                <a:cs typeface="+mn-cs"/>
              </a:rPr>
              <a:t>謝振達、梁文峰等 (Xie et al.)</a:t>
            </a:r>
            <a:r>
              <a:rPr lang="zh-TW" altLang="zh-TW" sz="1200" b="1" u="none" strike="noStrike" kern="1200" dirty="0">
                <a:solidFill>
                  <a:schemeClr val="tx1"/>
                </a:solidFill>
                <a:effectLst/>
                <a:latin typeface="+mn-lt"/>
                <a:ea typeface="+mn-ea"/>
                <a:cs typeface="+mn-cs"/>
              </a:rPr>
              <a:t>加入數學約束</a:t>
            </a:r>
            <a:r>
              <a:rPr lang="zh-TW" altLang="zh-TW" sz="1200" b="0" u="none" strike="noStrike" kern="1200" dirty="0">
                <a:solidFill>
                  <a:schemeClr val="tx1"/>
                </a:solidFill>
                <a:effectLst/>
                <a:latin typeface="+mn-lt"/>
                <a:ea typeface="+mn-ea"/>
                <a:cs typeface="+mn-cs"/>
              </a:rPr>
              <a:t>：回歸數學本質，利用 Sinkhorn-Knopp 演算法將多流混合矩陣強制約束在一個「雙隨機流形」上，既保留多通道的表達力，又找回了 ResNet 訓練的穩定性。</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3月AttnRes</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(Attention Residuals)</a:t>
            </a:r>
            <a:r>
              <a:rPr lang="zh-TW" altLang="zh-TW" sz="1200" b="1" u="none" strike="noStrike" kern="1200" dirty="0">
                <a:solidFill>
                  <a:schemeClr val="tx1"/>
                </a:solidFill>
                <a:effectLst/>
                <a:latin typeface="+mn-lt"/>
                <a:ea typeface="+mn-ea"/>
                <a:cs typeface="+mn-cs"/>
              </a:rPr>
              <a:t>月之暗面 (Moonshot AI)</a:t>
            </a:r>
            <a:r>
              <a:rPr lang="zh-TW" altLang="zh-TW" sz="1200" b="0" u="none" strike="noStrike" kern="1200" dirty="0">
                <a:solidFill>
                  <a:schemeClr val="tx1"/>
                </a:solidFill>
                <a:effectLst/>
                <a:latin typeface="+mn-lt"/>
                <a:ea typeface="+mn-ea"/>
                <a:cs typeface="+mn-cs"/>
              </a:rPr>
              <a:t>陳廣宇、張宇、蘇劍林 (Kimi 團隊)</a:t>
            </a:r>
            <a:r>
              <a:rPr lang="zh-TW" altLang="zh-TW" sz="1200" b="1" u="none" strike="noStrike" kern="1200" dirty="0">
                <a:solidFill>
                  <a:schemeClr val="tx1"/>
                </a:solidFill>
                <a:effectLst/>
                <a:latin typeface="+mn-lt"/>
                <a:ea typeface="+mn-ea"/>
                <a:cs typeface="+mn-cs"/>
              </a:rPr>
              <a:t>終極注意力重構</a:t>
            </a:r>
            <a:r>
              <a:rPr lang="zh-TW" altLang="zh-TW" sz="1200" b="0" u="none" strike="noStrike" kern="1200" dirty="0">
                <a:solidFill>
                  <a:schemeClr val="tx1"/>
                </a:solidFill>
                <a:effectLst/>
                <a:latin typeface="+mn-lt"/>
                <a:ea typeface="+mn-ea"/>
                <a:cs typeface="+mn-cs"/>
              </a:rPr>
              <a:t>：提出深度與時間的對偶性，徹底拋棄硬相加，改用 </a:t>
            </a:r>
            <a:r>
              <a:rPr lang="zh-TW" altLang="zh-TW" sz="1200" b="1" u="none" strike="noStrike" kern="1200" dirty="0">
                <a:solidFill>
                  <a:schemeClr val="tx1"/>
                </a:solidFill>
                <a:effectLst/>
                <a:latin typeface="+mn-lt"/>
                <a:ea typeface="+mn-ea"/>
                <a:cs typeface="+mn-cs"/>
              </a:rPr>
              <a:t>Softmax Attention</a:t>
            </a:r>
            <a:r>
              <a:rPr lang="zh-TW" altLang="zh-TW" sz="1200" b="0" u="none" strike="noStrike" kern="1200" dirty="0">
                <a:solidFill>
                  <a:schemeClr val="tx1"/>
                </a:solidFill>
                <a:effectLst/>
                <a:latin typeface="+mn-lt"/>
                <a:ea typeface="+mn-ea"/>
                <a:cs typeface="+mn-cs"/>
              </a:rPr>
              <a:t> 機制，讓深層網路能像翻書查資料一樣，主動且具選擇性地撈取前面任意層的特徵，並以 Block AttnRes 成功商用落地。</a:t>
            </a: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這十年的技術演進，本質上是將殘差連線從</a:t>
            </a:r>
            <a:r>
              <a:rPr lang="zh-TW" altLang="zh-TW" sz="1200" b="1" u="none" strike="noStrike" kern="1200" dirty="0">
                <a:solidFill>
                  <a:schemeClr val="tx1"/>
                </a:solidFill>
                <a:effectLst/>
                <a:latin typeface="+mn-lt"/>
                <a:ea typeface="+mn-ea"/>
                <a:cs typeface="+mn-cs"/>
              </a:rPr>
              <a:t>「靜態、死板的等權重相加」</a:t>
            </a:r>
            <a:r>
              <a:rPr lang="zh-TW" altLang="zh-TW" sz="1200" b="0" u="none" strike="noStrike" kern="1200" dirty="0">
                <a:solidFill>
                  <a:schemeClr val="tx1"/>
                </a:solidFill>
                <a:effectLst/>
                <a:latin typeface="+mn-lt"/>
                <a:ea typeface="+mn-ea"/>
                <a:cs typeface="+mn-cs"/>
              </a:rPr>
              <a:t>逐步轉化為</a:t>
            </a:r>
            <a:r>
              <a:rPr lang="zh-TW" altLang="zh-TW" sz="1200" b="1" u="none" strike="noStrike" kern="1200" dirty="0">
                <a:solidFill>
                  <a:schemeClr val="tx1"/>
                </a:solidFill>
                <a:effectLst/>
                <a:latin typeface="+mn-lt"/>
                <a:ea typeface="+mn-ea"/>
                <a:cs typeface="+mn-cs"/>
              </a:rPr>
              <a:t>「動態、可學習的條件聚合」</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微軟</a:t>
            </a:r>
            <a:r>
              <a:rPr lang="zh-TW" altLang="zh-TW" sz="1200" b="0" u="none" strike="noStrike" kern="1200" dirty="0">
                <a:solidFill>
                  <a:schemeClr val="tx1"/>
                </a:solidFill>
                <a:effectLst/>
                <a:latin typeface="+mn-lt"/>
                <a:ea typeface="+mn-ea"/>
                <a:cs typeface="+mn-cs"/>
              </a:rPr>
              <a:t>給了世界一條不會斷的梯度導線；</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字節跳動</a:t>
            </a:r>
            <a:r>
              <a:rPr lang="zh-TW" altLang="zh-TW" sz="1200" b="0" u="none" strike="noStrike" kern="1200" dirty="0">
                <a:solidFill>
                  <a:schemeClr val="tx1"/>
                </a:solidFill>
                <a:effectLst/>
                <a:latin typeface="+mn-lt"/>
                <a:ea typeface="+mn-ea"/>
                <a:cs typeface="+mn-cs"/>
              </a:rPr>
              <a:t>與</a:t>
            </a:r>
            <a:r>
              <a:rPr lang="zh-TW" altLang="zh-TW" sz="1200" b="1" u="none" strike="noStrike" kern="1200" dirty="0">
                <a:solidFill>
                  <a:schemeClr val="tx1"/>
                </a:solidFill>
                <a:effectLst/>
                <a:latin typeface="+mn-lt"/>
                <a:ea typeface="+mn-ea"/>
                <a:cs typeface="+mn-cs"/>
              </a:rPr>
              <a:t>北郵/彩雲科技</a:t>
            </a:r>
            <a:r>
              <a:rPr lang="zh-TW" altLang="zh-TW" sz="1200" b="0" u="none" strike="noStrike" kern="1200" dirty="0">
                <a:solidFill>
                  <a:schemeClr val="tx1"/>
                </a:solidFill>
                <a:effectLst/>
                <a:latin typeface="+mn-lt"/>
                <a:ea typeface="+mn-ea"/>
                <a:cs typeface="+mn-cs"/>
              </a:rPr>
              <a:t>嘗試把導線變成多條、並加入權重預測；</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DeepSeek</a:t>
            </a:r>
            <a:r>
              <a:rPr lang="zh-TW" altLang="zh-TW" sz="1200" b="0" u="none" strike="noStrike" kern="1200" dirty="0">
                <a:solidFill>
                  <a:schemeClr val="tx1"/>
                </a:solidFill>
                <a:effectLst/>
                <a:latin typeface="+mn-lt"/>
                <a:ea typeface="+mn-ea"/>
                <a:cs typeface="+mn-cs"/>
              </a:rPr>
              <a:t> 透過精妙的數學流形約束確保了這套多線路權重的穩定運作；</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Kimi 團隊</a:t>
            </a:r>
            <a:r>
              <a:rPr lang="zh-TW" altLang="zh-TW" sz="1200" b="0" u="none" strike="noStrike" kern="1200" dirty="0">
                <a:solidFill>
                  <a:schemeClr val="tx1"/>
                </a:solidFill>
                <a:effectLst/>
                <a:latin typeface="+mn-lt"/>
                <a:ea typeface="+mn-ea"/>
                <a:cs typeface="+mn-cs"/>
              </a:rPr>
              <a:t>則巧妙地用 Attention 機制一統江山，完成了殘差架構這十年來最激進也最優雅的一次底層重構。</a:t>
            </a:r>
          </a:p>
          <a:p>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6523510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a:t>
            </a:r>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zh-TW" sz="1200" b="1" u="none" strike="noStrike" kern="1200" dirty="0">
                <a:solidFill>
                  <a:schemeClr val="tx1"/>
                </a:solidFill>
                <a:effectLst/>
                <a:latin typeface="+mn-lt"/>
                <a:ea typeface="+mn-ea"/>
                <a:cs typeface="+mn-cs"/>
              </a:rPr>
              <a:t>Chinchilla 定律</a:t>
            </a:r>
            <a:r>
              <a:rPr lang="zh-TW" altLang="zh-TW" sz="1200" b="0" u="none" strike="noStrike" kern="1200" dirty="0">
                <a:solidFill>
                  <a:schemeClr val="tx1"/>
                </a:solidFill>
                <a:effectLst/>
                <a:latin typeface="+mn-lt"/>
                <a:ea typeface="+mn-ea"/>
                <a:cs typeface="+mn-cs"/>
              </a:rPr>
              <a:t>：在最優化配置下，</a:t>
            </a:r>
            <a:r>
              <a:rPr lang="zh-TW" altLang="zh-TW" sz="1200" b="1" u="none" strike="noStrike" kern="1200" dirty="0">
                <a:solidFill>
                  <a:schemeClr val="tx1"/>
                </a:solidFill>
                <a:effectLst/>
                <a:latin typeface="+mn-lt"/>
                <a:ea typeface="+mn-ea"/>
                <a:cs typeface="+mn-cs"/>
              </a:rPr>
              <a:t>模型參數量（N）和訓練數據量（D）應該要以 1:1 的比例均等增長</a:t>
            </a:r>
            <a:r>
              <a:rPr lang="zh-TW" altLang="zh-TW" sz="1200" b="0" u="none" strike="noStrike" kern="1200" dirty="0">
                <a:solidFill>
                  <a:schemeClr val="tx1"/>
                </a:solidFill>
                <a:effectLst/>
                <a:latin typeface="+mn-lt"/>
                <a:ea typeface="+mn-ea"/>
                <a:cs typeface="+mn-cs"/>
              </a:rPr>
              <a:t>。粗略換算下來，</a:t>
            </a:r>
            <a:r>
              <a:rPr lang="zh-TW" altLang="zh-TW" sz="1200" b="1" u="none" strike="noStrike" kern="1200" dirty="0">
                <a:solidFill>
                  <a:schemeClr val="tx1"/>
                </a:solidFill>
                <a:effectLst/>
                <a:latin typeface="+mn-lt"/>
                <a:ea typeface="+mn-ea"/>
                <a:cs typeface="+mn-cs"/>
              </a:rPr>
              <a:t>每增加 1 個參數，大約就需要配上 20 個 Token 的數據量。</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對後來的 AI 發展有什麼驚人影響？</a:t>
            </a:r>
          </a:p>
          <a:p>
            <a:r>
              <a:rPr lang="zh-TW" altLang="zh-TW" sz="1200" b="0" u="none" strike="noStrike" kern="1200" dirty="0">
                <a:solidFill>
                  <a:schemeClr val="tx1"/>
                </a:solidFill>
                <a:effectLst/>
                <a:latin typeface="+mn-lt"/>
                <a:ea typeface="+mn-ea"/>
                <a:cs typeface="+mn-cs"/>
              </a:rPr>
              <a:t>自從 Chinchilla 縮放定律被驗證後，整個 AI 工業界的風向徹底改變了：</a:t>
            </a:r>
          </a:p>
          <a:p>
            <a:pPr lvl="0"/>
            <a:r>
              <a:rPr lang="zh-TW" altLang="zh-TW" sz="1200" b="1" u="none" strike="noStrike" kern="1200" dirty="0">
                <a:solidFill>
                  <a:schemeClr val="tx1"/>
                </a:solidFill>
                <a:effectLst/>
                <a:latin typeface="+mn-lt"/>
                <a:ea typeface="+mn-ea"/>
                <a:cs typeface="+mn-cs"/>
              </a:rPr>
              <a:t>精簡高效模型的誕生</a:t>
            </a:r>
            <a:r>
              <a:rPr lang="zh-TW" altLang="zh-TW" sz="1200" b="0" u="none" strike="noStrike" kern="1200" dirty="0">
                <a:solidFill>
                  <a:schemeClr val="tx1"/>
                </a:solidFill>
                <a:effectLst/>
                <a:latin typeface="+mn-lt"/>
                <a:ea typeface="+mn-ea"/>
                <a:cs typeface="+mn-cs"/>
              </a:rPr>
              <a:t>：Meta 後來推出的 </a:t>
            </a:r>
            <a:r>
              <a:rPr lang="zh-TW" altLang="zh-TW" sz="1200" b="1" u="none" strike="noStrike" kern="1200" dirty="0">
                <a:solidFill>
                  <a:schemeClr val="tx1"/>
                </a:solidFill>
                <a:effectLst/>
                <a:latin typeface="+mn-lt"/>
                <a:ea typeface="+mn-ea"/>
                <a:cs typeface="+mn-cs"/>
              </a:rPr>
              <a:t>LLaMA</a:t>
            </a:r>
            <a:r>
              <a:rPr lang="zh-TW" altLang="zh-TW" sz="1200" b="0" u="none" strike="noStrike" kern="1200" dirty="0">
                <a:solidFill>
                  <a:schemeClr val="tx1"/>
                </a:solidFill>
                <a:effectLst/>
                <a:latin typeface="+mn-lt"/>
                <a:ea typeface="+mn-ea"/>
                <a:cs typeface="+mn-cs"/>
              </a:rPr>
              <a:t> 系列、法國的 </a:t>
            </a:r>
            <a:r>
              <a:rPr lang="zh-TW" altLang="zh-TW" sz="1200" b="1" u="none" strike="noStrike" kern="1200" dirty="0">
                <a:solidFill>
                  <a:schemeClr val="tx1"/>
                </a:solidFill>
                <a:effectLst/>
                <a:latin typeface="+mn-lt"/>
                <a:ea typeface="+mn-ea"/>
                <a:cs typeface="+mn-cs"/>
              </a:rPr>
              <a:t>Mistral</a:t>
            </a:r>
            <a:r>
              <a:rPr lang="zh-TW" altLang="zh-TW" sz="1200" b="0" u="none" strike="noStrike" kern="1200" dirty="0">
                <a:solidFill>
                  <a:schemeClr val="tx1"/>
                </a:solidFill>
                <a:effectLst/>
                <a:latin typeface="+mn-lt"/>
                <a:ea typeface="+mn-ea"/>
                <a:cs typeface="+mn-cs"/>
              </a:rPr>
              <a:t>、甚至是 Google 的 </a:t>
            </a:r>
            <a:r>
              <a:rPr lang="zh-TW" altLang="zh-TW" sz="1200" b="1" u="none" strike="noStrike" kern="1200" dirty="0">
                <a:solidFill>
                  <a:schemeClr val="tx1"/>
                </a:solidFill>
                <a:effectLst/>
                <a:latin typeface="+mn-lt"/>
                <a:ea typeface="+mn-ea"/>
                <a:cs typeface="+mn-cs"/>
              </a:rPr>
              <a:t>Gemma</a:t>
            </a:r>
            <a:r>
              <a:rPr lang="zh-TW" altLang="zh-TW" sz="1200" b="0" u="none" strike="noStrike" kern="1200" dirty="0">
                <a:solidFill>
                  <a:schemeClr val="tx1"/>
                </a:solidFill>
                <a:effectLst/>
                <a:latin typeface="+mn-lt"/>
                <a:ea typeface="+mn-ea"/>
                <a:cs typeface="+mn-cs"/>
              </a:rPr>
              <a:t>，全都繼承了 Chinchilla 的精神——</a:t>
            </a:r>
            <a:r>
              <a:rPr lang="zh-TW" altLang="zh-TW" sz="1200" b="1" u="none" strike="noStrike" kern="1200" dirty="0">
                <a:solidFill>
                  <a:schemeClr val="tx1"/>
                </a:solidFill>
                <a:effectLst/>
                <a:latin typeface="+mn-lt"/>
                <a:ea typeface="+mn-ea"/>
                <a:cs typeface="+mn-cs"/>
              </a:rPr>
              <a:t>寧可把模型參數控制在 7B、8B、70B，也要瘋狂餵入 2 兆、3 兆甚至 15 兆的 Token 來把模型「訓練到極致」（Overtrained）</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推理成本大幅降低</a:t>
            </a:r>
            <a:r>
              <a:rPr lang="zh-TW" altLang="zh-TW" sz="1200" b="0" u="none" strike="noStrike" kern="1200" dirty="0">
                <a:solidFill>
                  <a:schemeClr val="tx1"/>
                </a:solidFill>
                <a:effectLst/>
                <a:latin typeface="+mn-lt"/>
                <a:ea typeface="+mn-ea"/>
                <a:cs typeface="+mn-cs"/>
              </a:rPr>
              <a:t>：對我們使用者和企業來說，模型體積小，意味著部署在顯示卡上的成本極低、速度極快，這才真正開啟了開源 AI 大爆發的時代。</a:t>
            </a:r>
          </a:p>
          <a:p>
            <a:endParaRPr lang="en-US" altLang="zh-TW" dirty="0"/>
          </a:p>
          <a:p>
            <a:r>
              <a:rPr lang="zh-TW" altLang="zh-TW" sz="1200" b="0" u="none" strike="noStrike" kern="1200" dirty="0">
                <a:solidFill>
                  <a:schemeClr val="tx1"/>
                </a:solidFill>
                <a:effectLst/>
                <a:latin typeface="+mn-lt"/>
                <a:ea typeface="+mn-ea"/>
                <a:cs typeface="+mn-cs"/>
              </a:rPr>
              <a:t>1. 生物領域：絨鼠（俗稱「龍貓」）</a:t>
            </a:r>
          </a:p>
          <a:p>
            <a:r>
              <a:rPr lang="zh-TW" altLang="zh-TW" sz="1200" b="0" u="none" strike="noStrike" kern="1200" dirty="0">
                <a:solidFill>
                  <a:schemeClr val="tx1"/>
                </a:solidFill>
                <a:effectLst/>
                <a:latin typeface="+mn-lt"/>
                <a:ea typeface="+mn-ea"/>
                <a:cs typeface="+mn-cs"/>
              </a:rPr>
              <a:t>在生物學上，Chinchilla 是原產於南美洲安地斯山脈的小型齧齒目哺乳動物，中文正式名稱為</a:t>
            </a:r>
            <a:r>
              <a:rPr lang="zh-TW" altLang="zh-TW" sz="1200" b="1" u="none" strike="noStrike" kern="1200" dirty="0">
                <a:solidFill>
                  <a:schemeClr val="tx1"/>
                </a:solidFill>
                <a:effectLst/>
                <a:latin typeface="+mn-lt"/>
                <a:ea typeface="+mn-ea"/>
                <a:cs typeface="+mn-cs"/>
              </a:rPr>
              <a:t>絨鼠</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毛絲鼠</a:t>
            </a:r>
            <a:r>
              <a:rPr lang="zh-TW" altLang="zh-TW" sz="1200" b="0" u="none" strike="noStrike" kern="1200" dirty="0">
                <a:solidFill>
                  <a:schemeClr val="tx1"/>
                </a:solidFill>
                <a:effectLst/>
                <a:latin typeface="+mn-lt"/>
                <a:ea typeface="+mn-ea"/>
                <a:cs typeface="+mn-cs"/>
              </a:rPr>
              <a:t>或</a:t>
            </a:r>
            <a:r>
              <a:rPr lang="zh-TW" altLang="zh-TW" sz="1200" b="1" u="none" strike="noStrike" kern="1200" dirty="0">
                <a:solidFill>
                  <a:schemeClr val="tx1"/>
                </a:solidFill>
                <a:effectLst/>
                <a:latin typeface="+mn-lt"/>
                <a:ea typeface="+mn-ea"/>
                <a:cs typeface="+mn-cs"/>
              </a:rPr>
              <a:t>栗鼠</a:t>
            </a:r>
            <a:r>
              <a:rPr lang="zh-TW" altLang="zh-TW" sz="1200" b="0" u="none" strike="noStrike" kern="1200" dirty="0">
                <a:solidFill>
                  <a:schemeClr val="tx1"/>
                </a:solidFill>
                <a:effectLst/>
                <a:latin typeface="+mn-lt"/>
                <a:ea typeface="+mn-ea"/>
                <a:cs typeface="+mn-cs"/>
              </a:rPr>
              <a:t>，在華語圈因為外型酷似宮崎駿動畫角色，常被俗稱為「</a:t>
            </a:r>
            <a:r>
              <a:rPr lang="zh-TW" altLang="zh-TW" sz="1200" b="1" u="none" strike="noStrike" kern="1200" dirty="0">
                <a:solidFill>
                  <a:schemeClr val="tx1"/>
                </a:solidFill>
                <a:effectLst/>
                <a:latin typeface="+mn-lt"/>
                <a:ea typeface="+mn-ea"/>
                <a:cs typeface="+mn-cs"/>
              </a:rPr>
              <a:t>龍貓</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陸地上最濃密的毛皮</a:t>
            </a:r>
            <a:r>
              <a:rPr lang="zh-TW" altLang="zh-TW" sz="1200" b="0" u="none" strike="noStrike" kern="1200" dirty="0">
                <a:solidFill>
                  <a:schemeClr val="tx1"/>
                </a:solidFill>
                <a:effectLst/>
                <a:latin typeface="+mn-lt"/>
                <a:ea typeface="+mn-ea"/>
                <a:cs typeface="+mn-cs"/>
              </a:rPr>
              <a:t>：牠們為了在寒冷的高山生存，演化出極其細軟綿密的毛髮，一個毛囊可以長出 60～80 根細毛（人類只有 1 根）。</a:t>
            </a:r>
          </a:p>
          <a:p>
            <a:pPr lvl="0"/>
            <a:r>
              <a:rPr lang="zh-TW" altLang="zh-TW" sz="1200" b="1" u="none" strike="noStrike" kern="1200" dirty="0">
                <a:solidFill>
                  <a:schemeClr val="tx1"/>
                </a:solidFill>
                <a:effectLst/>
                <a:latin typeface="+mn-lt"/>
                <a:ea typeface="+mn-ea"/>
                <a:cs typeface="+mn-cs"/>
              </a:rPr>
              <a:t>不能用水洗澡</a:t>
            </a:r>
            <a:r>
              <a:rPr lang="zh-TW" altLang="zh-TW" sz="1200" b="0" u="none" strike="noStrike" kern="1200" dirty="0">
                <a:solidFill>
                  <a:schemeClr val="tx1"/>
                </a:solidFill>
                <a:effectLst/>
                <a:latin typeface="+mn-lt"/>
                <a:ea typeface="+mn-ea"/>
                <a:cs typeface="+mn-cs"/>
              </a:rPr>
              <a:t>：因為毛髮太密，碰水極難乾且容易發霉感染，牠們必須使用專用的火山灰或細砂進行「砂浴（火山灰洗澡）」來去除皮脂。</a:t>
            </a:r>
          </a:p>
          <a:p>
            <a:pPr lvl="0"/>
            <a:r>
              <a:rPr lang="zh-TW" altLang="zh-TW" sz="1200" b="1" u="none" strike="noStrike" kern="1200" dirty="0">
                <a:solidFill>
                  <a:schemeClr val="tx1"/>
                </a:solidFill>
                <a:effectLst/>
                <a:latin typeface="+mn-lt"/>
                <a:ea typeface="+mn-ea"/>
                <a:cs typeface="+mn-cs"/>
              </a:rPr>
              <a:t>高壽與跳躍力</a:t>
            </a:r>
            <a:r>
              <a:rPr lang="zh-TW" altLang="zh-TW" sz="1200" b="0" u="none" strike="noStrike" kern="1200" dirty="0">
                <a:solidFill>
                  <a:schemeClr val="tx1"/>
                </a:solidFill>
                <a:effectLst/>
                <a:latin typeface="+mn-lt"/>
                <a:ea typeface="+mn-ea"/>
                <a:cs typeface="+mn-cs"/>
              </a:rPr>
              <a:t>：牠們身手極其敏捷，最高可跳躍超過 1.8 公尺，且在人工悉心飼養下壽命可長達 15～20 年。</a:t>
            </a:r>
          </a:p>
          <a:p>
            <a:endParaRPr lang="en-US" altLang="zh-TW" dirty="0"/>
          </a:p>
          <a:p>
            <a:r>
              <a:rPr lang="zh-TW" altLang="zh-TW" sz="1200" b="0" u="none" strike="noStrike" kern="1200" dirty="0">
                <a:solidFill>
                  <a:schemeClr val="tx1"/>
                </a:solidFill>
                <a:effectLst/>
                <a:latin typeface="+mn-lt"/>
                <a:ea typeface="+mn-ea"/>
                <a:cs typeface="+mn-cs"/>
              </a:rPr>
              <a:t>1. 2021 年 12 月：前身 Gopher 發表</a:t>
            </a:r>
          </a:p>
          <a:p>
            <a:r>
              <a:rPr lang="zh-TW" altLang="zh-TW" sz="1200" b="0" u="none" strike="noStrike" kern="1200" dirty="0">
                <a:solidFill>
                  <a:schemeClr val="tx1"/>
                </a:solidFill>
                <a:effectLst/>
                <a:latin typeface="+mn-lt"/>
                <a:ea typeface="+mn-ea"/>
                <a:cs typeface="+mn-cs"/>
              </a:rPr>
              <a:t>Google DeepMind 發表了擁有 2800 億參數的巨型模型 </a:t>
            </a:r>
            <a:r>
              <a:rPr lang="zh-TW" altLang="zh-TW" sz="1200" b="0" u="none" strike="noStrike" kern="1200" dirty="0">
                <a:solidFill>
                  <a:schemeClr val="tx1"/>
                </a:solidFill>
                <a:effectLst/>
                <a:latin typeface="+mn-lt"/>
                <a:ea typeface="+mn-ea"/>
                <a:cs typeface="+mn-cs"/>
                <a:hlinkClick r:id="rId3"/>
              </a:rPr>
              <a:t>Gopher</a:t>
            </a:r>
            <a:r>
              <a:rPr lang="zh-TW" altLang="zh-TW" sz="1200" b="0" u="none" strike="noStrike" kern="1200" dirty="0">
                <a:solidFill>
                  <a:schemeClr val="tx1"/>
                </a:solidFill>
                <a:effectLst/>
                <a:latin typeface="+mn-lt"/>
                <a:ea typeface="+mn-ea"/>
                <a:cs typeface="+mn-cs"/>
              </a:rPr>
              <a:t>。雖然表現優異，但科學家在後續幾個月的成本效益與矩陣分析中，發現了嚴重的「訓練不足」盲點。 </a:t>
            </a:r>
          </a:p>
          <a:p>
            <a:r>
              <a:rPr lang="zh-TW" altLang="zh-TW" sz="1200" b="0" u="none" strike="noStrike" kern="1200" dirty="0">
                <a:solidFill>
                  <a:schemeClr val="tx1"/>
                </a:solidFill>
                <a:effectLst/>
                <a:latin typeface="+mn-lt"/>
                <a:ea typeface="+mn-ea"/>
                <a:cs typeface="+mn-cs"/>
              </a:rPr>
              <a:t>2. 2022 年 3 月 29 日：Chinchilla 正式發表（劃時代的分水嶺）</a:t>
            </a:r>
          </a:p>
          <a:p>
            <a:r>
              <a:rPr lang="zh-TW" altLang="zh-TW" sz="1200" b="0" u="none" strike="noStrike" kern="1200" dirty="0">
                <a:solidFill>
                  <a:schemeClr val="tx1"/>
                </a:solidFill>
                <a:effectLst/>
                <a:latin typeface="+mn-lt"/>
                <a:ea typeface="+mn-ea"/>
                <a:cs typeface="+mn-cs"/>
              </a:rPr>
              <a:t>DeepMind 正式發布了名為《</a:t>
            </a:r>
            <a:r>
              <a:rPr lang="zh-TW" altLang="zh-TW" sz="1200" b="0" u="none" strike="noStrike" kern="1200" dirty="0">
                <a:solidFill>
                  <a:schemeClr val="tx1"/>
                </a:solidFill>
                <a:effectLst/>
                <a:latin typeface="+mn-lt"/>
                <a:ea typeface="+mn-ea"/>
                <a:cs typeface="+mn-cs"/>
                <a:hlinkClick r:id="rId4"/>
              </a:rPr>
              <a:t>Training Compute-Optimal Large Language Models</a:t>
            </a:r>
            <a:r>
              <a:rPr lang="zh-TW" altLang="zh-TW" sz="1200" b="0" u="none" strike="noStrike" kern="1200" dirty="0">
                <a:solidFill>
                  <a:schemeClr val="tx1"/>
                </a:solidFill>
                <a:effectLst/>
                <a:latin typeface="+mn-lt"/>
                <a:ea typeface="+mn-ea"/>
                <a:cs typeface="+mn-cs"/>
              </a:rPr>
              <a:t>》的里程碑論文，正式推出 </a:t>
            </a:r>
            <a:r>
              <a:rPr lang="zh-TW" altLang="zh-TW" sz="1200" b="1" u="none" strike="noStrike" kern="1200" dirty="0">
                <a:solidFill>
                  <a:schemeClr val="tx1"/>
                </a:solidFill>
                <a:effectLst/>
                <a:latin typeface="+mn-lt"/>
                <a:ea typeface="+mn-ea"/>
                <a:cs typeface="+mn-cs"/>
              </a:rPr>
              <a:t>Chinchilla（70B）模型</a:t>
            </a:r>
            <a:r>
              <a:rPr lang="zh-TW" altLang="zh-TW" sz="1200" b="0" u="none" strike="noStrike" kern="1200" dirty="0">
                <a:solidFill>
                  <a:schemeClr val="tx1"/>
                </a:solidFill>
                <a:effectLst/>
                <a:latin typeface="+mn-lt"/>
                <a:ea typeface="+mn-ea"/>
                <a:cs typeface="+mn-cs"/>
              </a:rPr>
              <a:t>並確立了 </a:t>
            </a:r>
            <a:r>
              <a:rPr lang="zh-TW" altLang="zh-TW" sz="1200" b="1" u="none" strike="noStrike" kern="1200" dirty="0">
                <a:solidFill>
                  <a:schemeClr val="tx1"/>
                </a:solidFill>
                <a:effectLst/>
                <a:latin typeface="+mn-lt"/>
                <a:ea typeface="+mn-ea"/>
                <a:cs typeface="+mn-cs"/>
              </a:rPr>
              <a:t>Chinchilla 縮放定律</a:t>
            </a:r>
            <a:r>
              <a:rPr lang="zh-TW" altLang="zh-TW" sz="1200" b="0" u="none" strike="noStrike" kern="1200" dirty="0">
                <a:solidFill>
                  <a:schemeClr val="tx1"/>
                </a:solidFill>
                <a:effectLst/>
                <a:latin typeface="+mn-lt"/>
                <a:ea typeface="+mn-ea"/>
                <a:cs typeface="+mn-cs"/>
              </a:rPr>
              <a:t>。 </a:t>
            </a:r>
          </a:p>
          <a:p>
            <a:r>
              <a:rPr lang="zh-TW" altLang="zh-TW" sz="1200" b="0" u="none" strike="noStrike" kern="1200" dirty="0">
                <a:solidFill>
                  <a:schemeClr val="tx1"/>
                </a:solidFill>
                <a:effectLst/>
                <a:latin typeface="+mn-lt"/>
                <a:ea typeface="+mn-ea"/>
                <a:cs typeface="+mn-cs"/>
              </a:rPr>
              <a:t>3. 2023 年至今：定律的全面實踐與「過度訓練」時代</a:t>
            </a:r>
          </a:p>
          <a:p>
            <a:pPr lvl="0"/>
            <a:r>
              <a:rPr lang="zh-TW" altLang="zh-TW" sz="1200" b="1" u="none" strike="noStrike" kern="1200" dirty="0">
                <a:solidFill>
                  <a:schemeClr val="tx1"/>
                </a:solidFill>
                <a:effectLst/>
                <a:latin typeface="+mn-lt"/>
                <a:ea typeface="+mn-ea"/>
                <a:cs typeface="+mn-cs"/>
              </a:rPr>
              <a:t>2023 年</a:t>
            </a:r>
            <a:r>
              <a:rPr lang="zh-TW" altLang="zh-TW" sz="1200" b="0" u="none" strike="noStrike" kern="1200" dirty="0">
                <a:solidFill>
                  <a:schemeClr val="tx1"/>
                </a:solidFill>
                <a:effectLst/>
                <a:latin typeface="+mn-lt"/>
                <a:ea typeface="+mn-ea"/>
                <a:cs typeface="+mn-cs"/>
              </a:rPr>
              <a:t>：Meta 推出 </a:t>
            </a:r>
            <a:r>
              <a:rPr lang="zh-TW" altLang="zh-TW" sz="1200" b="0" u="none" strike="noStrike" kern="1200" dirty="0">
                <a:solidFill>
                  <a:schemeClr val="tx1"/>
                </a:solidFill>
                <a:effectLst/>
                <a:latin typeface="+mn-lt"/>
                <a:ea typeface="+mn-ea"/>
                <a:cs typeface="+mn-cs"/>
                <a:hlinkClick r:id="rId5"/>
              </a:rPr>
              <a:t>LLaMA 1</a:t>
            </a:r>
            <a:r>
              <a:rPr lang="zh-TW" altLang="zh-TW" sz="1200" b="0" u="none" strike="noStrike" kern="1200" dirty="0">
                <a:solidFill>
                  <a:schemeClr val="tx1"/>
                </a:solidFill>
                <a:effectLst/>
                <a:latin typeface="+mn-lt"/>
                <a:ea typeface="+mn-ea"/>
                <a:cs typeface="+mn-cs"/>
              </a:rPr>
              <a:t> 與 LLaMA 2，正式將 Chinchilla 的精簡高效概念導入開源社群。</a:t>
            </a:r>
          </a:p>
          <a:p>
            <a:pPr lvl="0"/>
            <a:r>
              <a:rPr lang="zh-TW" altLang="zh-TW" sz="1200" b="1" u="none" strike="noStrike" kern="1200" dirty="0">
                <a:solidFill>
                  <a:schemeClr val="tx1"/>
                </a:solidFill>
                <a:effectLst/>
                <a:latin typeface="+mn-lt"/>
                <a:ea typeface="+mn-ea"/>
                <a:cs typeface="+mn-cs"/>
              </a:rPr>
              <a:t>2024 年至 2026 年（現在）</a:t>
            </a:r>
            <a:r>
              <a:rPr lang="zh-TW" altLang="zh-TW" sz="1200" b="0" u="none" strike="noStrike" kern="1200" dirty="0">
                <a:solidFill>
                  <a:schemeClr val="tx1"/>
                </a:solidFill>
                <a:effectLst/>
                <a:latin typeface="+mn-lt"/>
                <a:ea typeface="+mn-ea"/>
                <a:cs typeface="+mn-cs"/>
              </a:rPr>
              <a:t>：工業界更進一步跨越 Chinchilla 的 1:20 天花板。例如 LLaMA 3（8B 參數配 15 兆 Token）將比例推到了接近 </a:t>
            </a:r>
            <a:r>
              <a:rPr lang="zh-TW" altLang="zh-TW" sz="1200" b="1" u="none" strike="noStrike" kern="1200" dirty="0">
                <a:solidFill>
                  <a:schemeClr val="tx1"/>
                </a:solidFill>
                <a:effectLst/>
                <a:latin typeface="+mn-lt"/>
                <a:ea typeface="+mn-ea"/>
                <a:cs typeface="+mn-cs"/>
              </a:rPr>
              <a:t>1:1875</a:t>
            </a:r>
            <a:r>
              <a:rPr lang="zh-TW" altLang="zh-TW" sz="1200" b="0" u="none" strike="noStrike" kern="1200" dirty="0">
                <a:solidFill>
                  <a:schemeClr val="tx1"/>
                </a:solidFill>
                <a:effectLst/>
                <a:latin typeface="+mn-lt"/>
                <a:ea typeface="+mn-ea"/>
                <a:cs typeface="+mn-cs"/>
              </a:rPr>
              <a:t>，開啟了為了極致降低推理成本而瘋狂「過度訓練（Overtraining）」的新技術浪潮。陳章博士在 </a:t>
            </a:r>
            <a:r>
              <a:rPr lang="zh-TW" altLang="zh-TW" sz="1200" b="1" u="none" strike="noStrike" kern="1200" dirty="0">
                <a:solidFill>
                  <a:schemeClr val="tx1"/>
                </a:solidFill>
                <a:effectLst/>
                <a:latin typeface="+mn-lt"/>
                <a:ea typeface="+mn-ea"/>
                <a:cs typeface="+mn-cs"/>
              </a:rPr>
              <a:t>EZ.Encoder Academy</a:t>
            </a:r>
            <a:r>
              <a:rPr lang="zh-TW" altLang="zh-TW" sz="1200" b="0" u="none" strike="noStrike" kern="1200" dirty="0">
                <a:solidFill>
                  <a:schemeClr val="tx1"/>
                </a:solidFill>
                <a:effectLst/>
                <a:latin typeface="+mn-lt"/>
                <a:ea typeface="+mn-ea"/>
                <a:cs typeface="+mn-cs"/>
              </a:rPr>
              <a:t> 的影片中，通常就是以 </a:t>
            </a:r>
            <a:r>
              <a:rPr lang="zh-TW" altLang="zh-TW" sz="1200" b="1" u="none" strike="noStrike" kern="1200" dirty="0">
                <a:solidFill>
                  <a:schemeClr val="tx1"/>
                </a:solidFill>
                <a:effectLst/>
                <a:latin typeface="+mn-lt"/>
                <a:ea typeface="+mn-ea"/>
                <a:cs typeface="+mn-cs"/>
              </a:rPr>
              <a:t>2022 年</a:t>
            </a:r>
            <a:r>
              <a:rPr lang="zh-TW" altLang="zh-TW" sz="1200" b="0" u="none" strike="noStrike" kern="1200" dirty="0">
                <a:solidFill>
                  <a:schemeClr val="tx1"/>
                </a:solidFill>
                <a:effectLst/>
                <a:latin typeface="+mn-lt"/>
                <a:ea typeface="+mn-ea"/>
                <a:cs typeface="+mn-cs"/>
              </a:rPr>
              <a:t> 的這篇 Chinchilla 論文作為分界線，來對比「2022 年前盲目做大」與「2022 年後追求數據高密度」的 AI 發展大轉折。</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23257010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77D7E-2791-E92D-99B3-29331390237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1A7B221-803D-EBD0-89EE-BEEF13A615B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762DE49-57CA-6A5A-E457-83C76388DC4F}"/>
              </a:ext>
            </a:extLst>
          </p:cNvPr>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a:extLst>
              <a:ext uri="{FF2B5EF4-FFF2-40B4-BE49-F238E27FC236}">
                <a16:creationId xmlns:a16="http://schemas.microsoft.com/office/drawing/2014/main" id="{91F674A9-7C3F-B629-B0F0-CE5822E8B7D6}"/>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8812922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2</a:t>
            </a:r>
            <a:r>
              <a:rPr lang="zh-TW" altLang="zh-TW" sz="1200" b="1" u="none" strike="noStrike" kern="1200" dirty="0">
                <a:solidFill>
                  <a:schemeClr val="tx1"/>
                </a:solidFill>
                <a:effectLst/>
                <a:latin typeface="+mn-lt"/>
                <a:ea typeface="+mn-ea"/>
                <a:cs typeface="+mn-cs"/>
              </a:rPr>
              <a:t>015年 12月ResNet微軟亞洲研究院 (MSRA)</a:t>
            </a:r>
            <a:r>
              <a:rPr lang="zh-TW" altLang="zh-TW" sz="1200" b="0" u="none" strike="noStrike" kern="1200" dirty="0">
                <a:solidFill>
                  <a:schemeClr val="tx1"/>
                </a:solidFill>
                <a:effectLst/>
                <a:latin typeface="+mn-lt"/>
                <a:ea typeface="+mn-ea"/>
                <a:cs typeface="+mn-cs"/>
              </a:rPr>
              <a:t>何愷明、張祥雨、任少卿、孫劍</a:t>
            </a:r>
            <a:r>
              <a:rPr lang="zh-TW" altLang="zh-TW" sz="1200" b="1" u="none" strike="noStrike" kern="1200" dirty="0">
                <a:solidFill>
                  <a:schemeClr val="tx1"/>
                </a:solidFill>
                <a:effectLst/>
                <a:latin typeface="+mn-lt"/>
                <a:ea typeface="+mn-ea"/>
                <a:cs typeface="+mn-cs"/>
              </a:rPr>
              <a:t>奠定基石</a:t>
            </a:r>
            <a:r>
              <a:rPr lang="zh-TW" altLang="zh-TW" sz="1200" b="0" u="none" strike="noStrike" kern="1200" dirty="0">
                <a:solidFill>
                  <a:schemeClr val="tx1"/>
                </a:solidFill>
                <a:effectLst/>
                <a:latin typeface="+mn-lt"/>
                <a:ea typeface="+mn-ea"/>
                <a:cs typeface="+mn-cs"/>
              </a:rPr>
              <a:t>：首次提出標準殘差連接（H(x) = F(x) + x），透過捷徑連接解決深層網路退化與梯度消失問題，沿用至今成為 Transformer 的默認配置。</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2024年 12月HC</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(Hyper-Connections)</a:t>
            </a:r>
            <a:r>
              <a:rPr lang="zh-TW" altLang="zh-TW" sz="1200" b="1" u="none" strike="noStrike" kern="1200" dirty="0">
                <a:solidFill>
                  <a:schemeClr val="tx1"/>
                </a:solidFill>
                <a:effectLst/>
                <a:latin typeface="+mn-lt"/>
                <a:ea typeface="+mn-ea"/>
                <a:cs typeface="+mn-cs"/>
              </a:rPr>
              <a:t>字節跳動 (ByteDance)</a:t>
            </a:r>
            <a:r>
              <a:rPr lang="zh-TW" altLang="zh-TW" sz="1200" b="0" u="none" strike="noStrike" kern="1200" dirty="0">
                <a:solidFill>
                  <a:schemeClr val="tx1"/>
                </a:solidFill>
                <a:effectLst/>
                <a:latin typeface="+mn-lt"/>
                <a:ea typeface="+mn-ea"/>
                <a:cs typeface="+mn-cs"/>
              </a:rPr>
              <a:t>朱等 (Zhu et al.)</a:t>
            </a:r>
            <a:r>
              <a:rPr lang="zh-TW" altLang="zh-TW" sz="1200" b="1" u="none" strike="noStrike" kern="1200" dirty="0">
                <a:solidFill>
                  <a:schemeClr val="tx1"/>
                </a:solidFill>
                <a:effectLst/>
                <a:latin typeface="+mn-lt"/>
                <a:ea typeface="+mn-ea"/>
                <a:cs typeface="+mn-cs"/>
              </a:rPr>
              <a:t>拓寬架構</a:t>
            </a:r>
            <a:r>
              <a:rPr lang="zh-TW" altLang="zh-TW" sz="1200" b="0" u="none" strike="noStrike" kern="1200" dirty="0">
                <a:solidFill>
                  <a:schemeClr val="tx1"/>
                </a:solidFill>
                <a:effectLst/>
                <a:latin typeface="+mn-lt"/>
                <a:ea typeface="+mn-ea"/>
                <a:cs typeface="+mn-cs"/>
              </a:rPr>
              <a:t>：打破單一殘差流限制，提出「多流並行（多通道）混合」，但多通道隨意混合容易破壞恆等映射，導致超深大模型訓練不穩定。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2025年 2月MUDDformer</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北京郵電大學 &amp; 彩雲科技</a:t>
            </a:r>
            <a:r>
              <a:rPr lang="zh-TW" altLang="zh-TW" sz="1200" b="0" u="none" strike="noStrike" kern="1200" dirty="0">
                <a:solidFill>
                  <a:schemeClr val="tx1"/>
                </a:solidFill>
                <a:effectLst/>
                <a:latin typeface="+mn-lt"/>
                <a:ea typeface="+mn-ea"/>
                <a:cs typeface="+mn-cs"/>
              </a:rPr>
              <a:t>肖達 (Da Xiao)、孟慶業、李省平、袁行遠</a:t>
            </a:r>
            <a:r>
              <a:rPr lang="zh-TW" altLang="zh-TW" sz="1200" b="1" u="none" strike="noStrike" kern="1200" dirty="0">
                <a:solidFill>
                  <a:schemeClr val="tx1"/>
                </a:solidFill>
                <a:effectLst/>
                <a:latin typeface="+mn-lt"/>
                <a:ea typeface="+mn-ea"/>
                <a:cs typeface="+mn-cs"/>
              </a:rPr>
              <a:t>引入動態稠密</a:t>
            </a:r>
            <a:r>
              <a:rPr lang="zh-TW" altLang="zh-TW" sz="1200" b="0" u="none" strike="noStrike" kern="1200" dirty="0">
                <a:solidFill>
                  <a:schemeClr val="tx1"/>
                </a:solidFill>
                <a:effectLst/>
                <a:latin typeface="+mn-lt"/>
                <a:ea typeface="+mn-ea"/>
                <a:cs typeface="+mn-cs"/>
              </a:rPr>
              <a:t>：將 Transformer 的輸入切分為 4 個獨立流</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Q</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R</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並利用輕量化 MLP 依據 token 位置</a:t>
            </a:r>
            <a:r>
              <a:rPr lang="zh-TW" altLang="zh-TW" sz="1200" b="1" u="none" strike="noStrike" kern="1200" dirty="0">
                <a:solidFill>
                  <a:schemeClr val="tx1"/>
                </a:solidFill>
                <a:effectLst/>
                <a:latin typeface="+mn-lt"/>
                <a:ea typeface="+mn-ea"/>
                <a:cs typeface="+mn-cs"/>
              </a:rPr>
              <a:t>動態生成跨層稠密連接權重</a:t>
            </a:r>
            <a:r>
              <a:rPr lang="zh-TW" altLang="zh-TW" sz="1200" b="0" u="none" strike="noStrike" kern="1200" dirty="0">
                <a:solidFill>
                  <a:schemeClr val="tx1"/>
                </a:solidFill>
                <a:effectLst/>
                <a:latin typeface="+mn-lt"/>
                <a:ea typeface="+mn-ea"/>
                <a:cs typeface="+mn-cs"/>
              </a:rPr>
              <a:t>。</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1月mHC</a:t>
            </a:r>
            <a:r>
              <a:rPr lang="zh-TW" altLang="zh-TW" sz="1200" b="0" u="none" strike="noStrike" kern="1200" dirty="0">
                <a:solidFill>
                  <a:schemeClr val="tx1"/>
                </a:solidFill>
                <a:effectLst/>
                <a:latin typeface="+mn-lt"/>
                <a:ea typeface="+mn-ea"/>
                <a:cs typeface="+mn-cs"/>
              </a:rPr>
              <a:t> </a:t>
            </a:r>
            <a:r>
              <a:rPr lang="en-US"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(Manifold-Constrained HC)</a:t>
            </a:r>
            <a:r>
              <a:rPr lang="zh-TW" altLang="zh-TW" sz="1200" b="1" u="none" strike="noStrike" kern="1200" dirty="0">
                <a:solidFill>
                  <a:schemeClr val="tx1"/>
                </a:solidFill>
                <a:effectLst/>
                <a:latin typeface="+mn-lt"/>
                <a:ea typeface="+mn-ea"/>
                <a:cs typeface="+mn-cs"/>
              </a:rPr>
              <a:t>深度求索 (DeepSeek)</a:t>
            </a:r>
            <a:r>
              <a:rPr lang="zh-TW" altLang="zh-TW" sz="1200" b="0" u="none" strike="noStrike" kern="1200" dirty="0">
                <a:solidFill>
                  <a:schemeClr val="tx1"/>
                </a:solidFill>
                <a:effectLst/>
                <a:latin typeface="+mn-lt"/>
                <a:ea typeface="+mn-ea"/>
                <a:cs typeface="+mn-cs"/>
              </a:rPr>
              <a:t>謝振達、梁文峰等 (Xie et al.)</a:t>
            </a:r>
            <a:r>
              <a:rPr lang="zh-TW" altLang="zh-TW" sz="1200" b="1" u="none" strike="noStrike" kern="1200" dirty="0">
                <a:solidFill>
                  <a:schemeClr val="tx1"/>
                </a:solidFill>
                <a:effectLst/>
                <a:latin typeface="+mn-lt"/>
                <a:ea typeface="+mn-ea"/>
                <a:cs typeface="+mn-cs"/>
              </a:rPr>
              <a:t>加入數學約束</a:t>
            </a:r>
            <a:r>
              <a:rPr lang="zh-TW" altLang="zh-TW" sz="1200" b="0" u="none" strike="noStrike" kern="1200" dirty="0">
                <a:solidFill>
                  <a:schemeClr val="tx1"/>
                </a:solidFill>
                <a:effectLst/>
                <a:latin typeface="+mn-lt"/>
                <a:ea typeface="+mn-ea"/>
                <a:cs typeface="+mn-cs"/>
              </a:rPr>
              <a:t>：回歸數學本質，利用 Sinkhorn-Knopp 演算法將多流混合矩陣強制約束在一個「雙隨機流形」上，既保留多通道的表達力，又找回了 ResNet 訓練的穩定性。</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3月AttnRes</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(Attention Residuals)</a:t>
            </a:r>
            <a:r>
              <a:rPr lang="zh-TW" altLang="zh-TW" sz="1200" b="1" u="none" strike="noStrike" kern="1200" dirty="0">
                <a:solidFill>
                  <a:schemeClr val="tx1"/>
                </a:solidFill>
                <a:effectLst/>
                <a:latin typeface="+mn-lt"/>
                <a:ea typeface="+mn-ea"/>
                <a:cs typeface="+mn-cs"/>
              </a:rPr>
              <a:t>月之暗面 (Moonshot AI)</a:t>
            </a:r>
            <a:r>
              <a:rPr lang="zh-TW" altLang="zh-TW" sz="1200" b="0" u="none" strike="noStrike" kern="1200" dirty="0">
                <a:solidFill>
                  <a:schemeClr val="tx1"/>
                </a:solidFill>
                <a:effectLst/>
                <a:latin typeface="+mn-lt"/>
                <a:ea typeface="+mn-ea"/>
                <a:cs typeface="+mn-cs"/>
              </a:rPr>
              <a:t>陳廣宇、張宇、蘇劍林 (Kimi 團隊)</a:t>
            </a:r>
            <a:r>
              <a:rPr lang="zh-TW" altLang="zh-TW" sz="1200" b="1" u="none" strike="noStrike" kern="1200" dirty="0">
                <a:solidFill>
                  <a:schemeClr val="tx1"/>
                </a:solidFill>
                <a:effectLst/>
                <a:latin typeface="+mn-lt"/>
                <a:ea typeface="+mn-ea"/>
                <a:cs typeface="+mn-cs"/>
              </a:rPr>
              <a:t>終極注意力重構</a:t>
            </a:r>
            <a:r>
              <a:rPr lang="zh-TW" altLang="zh-TW" sz="1200" b="0" u="none" strike="noStrike" kern="1200" dirty="0">
                <a:solidFill>
                  <a:schemeClr val="tx1"/>
                </a:solidFill>
                <a:effectLst/>
                <a:latin typeface="+mn-lt"/>
                <a:ea typeface="+mn-ea"/>
                <a:cs typeface="+mn-cs"/>
              </a:rPr>
              <a:t>：提出深度與時間的對偶性，徹底拋棄硬相加，改用 </a:t>
            </a:r>
            <a:r>
              <a:rPr lang="zh-TW" altLang="zh-TW" sz="1200" b="1" u="none" strike="noStrike" kern="1200" dirty="0">
                <a:solidFill>
                  <a:schemeClr val="tx1"/>
                </a:solidFill>
                <a:effectLst/>
                <a:latin typeface="+mn-lt"/>
                <a:ea typeface="+mn-ea"/>
                <a:cs typeface="+mn-cs"/>
              </a:rPr>
              <a:t>Softmax Attention</a:t>
            </a:r>
            <a:r>
              <a:rPr lang="zh-TW" altLang="zh-TW" sz="1200" b="0" u="none" strike="noStrike" kern="1200" dirty="0">
                <a:solidFill>
                  <a:schemeClr val="tx1"/>
                </a:solidFill>
                <a:effectLst/>
                <a:latin typeface="+mn-lt"/>
                <a:ea typeface="+mn-ea"/>
                <a:cs typeface="+mn-cs"/>
              </a:rPr>
              <a:t> 機制，讓深層網路能像翻書查資料一樣，主動且具選擇性地撈取前面任意層的特徵，並以 Block AttnRes 成功商用落地。</a:t>
            </a: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這十年的技術演進，本質上是將殘差連線從</a:t>
            </a:r>
            <a:r>
              <a:rPr lang="zh-TW" altLang="zh-TW" sz="1200" b="1" u="none" strike="noStrike" kern="1200" dirty="0">
                <a:solidFill>
                  <a:schemeClr val="tx1"/>
                </a:solidFill>
                <a:effectLst/>
                <a:latin typeface="+mn-lt"/>
                <a:ea typeface="+mn-ea"/>
                <a:cs typeface="+mn-cs"/>
              </a:rPr>
              <a:t>「靜態、死板的等權重相加」</a:t>
            </a:r>
            <a:r>
              <a:rPr lang="zh-TW" altLang="zh-TW" sz="1200" b="0" u="none" strike="noStrike" kern="1200" dirty="0">
                <a:solidFill>
                  <a:schemeClr val="tx1"/>
                </a:solidFill>
                <a:effectLst/>
                <a:latin typeface="+mn-lt"/>
                <a:ea typeface="+mn-ea"/>
                <a:cs typeface="+mn-cs"/>
              </a:rPr>
              <a:t>逐步轉化為</a:t>
            </a:r>
            <a:r>
              <a:rPr lang="zh-TW" altLang="zh-TW" sz="1200" b="1" u="none" strike="noStrike" kern="1200" dirty="0">
                <a:solidFill>
                  <a:schemeClr val="tx1"/>
                </a:solidFill>
                <a:effectLst/>
                <a:latin typeface="+mn-lt"/>
                <a:ea typeface="+mn-ea"/>
                <a:cs typeface="+mn-cs"/>
              </a:rPr>
              <a:t>「動態、可學習的條件聚合」</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微軟</a:t>
            </a:r>
            <a:r>
              <a:rPr lang="zh-TW" altLang="zh-TW" sz="1200" b="0" u="none" strike="noStrike" kern="1200" dirty="0">
                <a:solidFill>
                  <a:schemeClr val="tx1"/>
                </a:solidFill>
                <a:effectLst/>
                <a:latin typeface="+mn-lt"/>
                <a:ea typeface="+mn-ea"/>
                <a:cs typeface="+mn-cs"/>
              </a:rPr>
              <a:t>給了世界一條不會斷的梯度導線；</a:t>
            </a:r>
          </a:p>
          <a:p>
            <a:pPr lvl="0"/>
            <a:r>
              <a:rPr lang="zh-TW" altLang="zh-TW" sz="1200" b="1" u="none" strike="noStrike" kern="1200" dirty="0">
                <a:solidFill>
                  <a:schemeClr val="tx1"/>
                </a:solidFill>
                <a:effectLst/>
                <a:latin typeface="+mn-lt"/>
                <a:ea typeface="+mn-ea"/>
                <a:cs typeface="+mn-cs"/>
              </a:rPr>
              <a:t>字節跳動</a:t>
            </a:r>
            <a:r>
              <a:rPr lang="zh-TW" altLang="zh-TW" sz="1200" b="0" u="none" strike="noStrike" kern="1200" dirty="0">
                <a:solidFill>
                  <a:schemeClr val="tx1"/>
                </a:solidFill>
                <a:effectLst/>
                <a:latin typeface="+mn-lt"/>
                <a:ea typeface="+mn-ea"/>
                <a:cs typeface="+mn-cs"/>
              </a:rPr>
              <a:t>與</a:t>
            </a:r>
            <a:r>
              <a:rPr lang="zh-TW" altLang="zh-TW" sz="1200" b="1" u="none" strike="noStrike" kern="1200" dirty="0">
                <a:solidFill>
                  <a:schemeClr val="tx1"/>
                </a:solidFill>
                <a:effectLst/>
                <a:latin typeface="+mn-lt"/>
                <a:ea typeface="+mn-ea"/>
                <a:cs typeface="+mn-cs"/>
              </a:rPr>
              <a:t>北郵/彩雲科技</a:t>
            </a:r>
            <a:r>
              <a:rPr lang="zh-TW" altLang="zh-TW" sz="1200" b="0" u="none" strike="noStrike" kern="1200" dirty="0">
                <a:solidFill>
                  <a:schemeClr val="tx1"/>
                </a:solidFill>
                <a:effectLst/>
                <a:latin typeface="+mn-lt"/>
                <a:ea typeface="+mn-ea"/>
                <a:cs typeface="+mn-cs"/>
              </a:rPr>
              <a:t>嘗試把導線變成多條、並加入權重預測；</a:t>
            </a:r>
          </a:p>
          <a:p>
            <a:pPr lvl="0"/>
            <a:r>
              <a:rPr lang="zh-TW" altLang="zh-TW" sz="1200" b="1" u="none" strike="noStrike" kern="1200" dirty="0">
                <a:solidFill>
                  <a:schemeClr val="tx1"/>
                </a:solidFill>
                <a:effectLst/>
                <a:latin typeface="+mn-lt"/>
                <a:ea typeface="+mn-ea"/>
                <a:cs typeface="+mn-cs"/>
              </a:rPr>
              <a:t>DeepSeek</a:t>
            </a:r>
            <a:r>
              <a:rPr lang="zh-TW" altLang="zh-TW" sz="1200" b="0" u="none" strike="noStrike" kern="1200" dirty="0">
                <a:solidFill>
                  <a:schemeClr val="tx1"/>
                </a:solidFill>
                <a:effectLst/>
                <a:latin typeface="+mn-lt"/>
                <a:ea typeface="+mn-ea"/>
                <a:cs typeface="+mn-cs"/>
              </a:rPr>
              <a:t> 透過精妙的數學流形約束確保了這套多線路權重的穩定運作；</a:t>
            </a:r>
          </a:p>
          <a:p>
            <a:pPr lvl="0"/>
            <a:r>
              <a:rPr lang="zh-TW" altLang="zh-TW" sz="1200" b="1" u="none" strike="noStrike" kern="1200" dirty="0">
                <a:solidFill>
                  <a:schemeClr val="tx1"/>
                </a:solidFill>
                <a:effectLst/>
                <a:latin typeface="+mn-lt"/>
                <a:ea typeface="+mn-ea"/>
                <a:cs typeface="+mn-cs"/>
              </a:rPr>
              <a:t>Kimi 團隊</a:t>
            </a:r>
            <a:r>
              <a:rPr lang="zh-TW" altLang="zh-TW" sz="1200" b="0" u="none" strike="noStrike" kern="1200" dirty="0">
                <a:solidFill>
                  <a:schemeClr val="tx1"/>
                </a:solidFill>
                <a:effectLst/>
                <a:latin typeface="+mn-lt"/>
                <a:ea typeface="+mn-ea"/>
                <a:cs typeface="+mn-cs"/>
              </a:rPr>
              <a:t>則巧妙地用 Attention 機制一統江山，完成了殘差架構這十年來最激進也最優雅的一次底層重構。</a:t>
            </a:r>
          </a:p>
          <a:p>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666967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2026/9/22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35672754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3"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3.pn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3.png"/><Relationship Id="rId16"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5.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0.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33.png"/><Relationship Id="rId7" Type="http://schemas.openxmlformats.org/officeDocument/2006/relationships/image" Target="../media/image39.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5.png"/><Relationship Id="rId5" Type="http://schemas.openxmlformats.org/officeDocument/2006/relationships/image" Target="../media/image60.png"/><Relationship Id="rId10" Type="http://schemas.openxmlformats.org/officeDocument/2006/relationships/image" Target="../media/image64.png"/><Relationship Id="rId4" Type="http://schemas.openxmlformats.org/officeDocument/2006/relationships/image" Target="../media/image59.png"/><Relationship Id="rId9"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a:t>
            </a:r>
          </a:p>
          <a:p>
            <a:pPr algn="ctr"/>
            <a:r>
              <a:rPr lang="en-US" altLang="zh-TW" sz="1000" dirty="0">
                <a:solidFill>
                  <a:schemeClr val="accent1"/>
                </a:solidFill>
              </a:rPr>
              <a:t>2026/09/24</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323439"/>
          </a:xfrm>
          <a:prstGeom prst="rect">
            <a:avLst/>
          </a:prstGeom>
          <a:noFill/>
        </p:spPr>
        <p:txBody>
          <a:bodyPr wrap="square">
            <a:spAutoFit/>
          </a:bodyPr>
          <a:lstStyle/>
          <a:p>
            <a:pPr>
              <a:lnSpc>
                <a:spcPts val="1800"/>
              </a:lnSpc>
              <a:spcBef>
                <a:spcPts val="600"/>
              </a:spcBef>
              <a:spcAft>
                <a:spcPts val="600"/>
              </a:spcAft>
            </a:pPr>
            <a:r>
              <a:rPr lang="en-US" altLang="zh-TW" sz="2000" b="1" dirty="0"/>
              <a:t>Vanilla RNN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Weight Sharing Across Time</a:t>
            </a:r>
            <a:r>
              <a:rPr lang="en-US" altLang="zh-TW" sz="1600" dirty="0"/>
              <a:t>: Process sequences of arbitrary length.</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Short-Term Memory</a:t>
            </a:r>
            <a:r>
              <a:rPr lang="en-US" altLang="zh-TW" sz="1600" u="none" strike="noStrike" dirty="0">
                <a:effectLst/>
              </a:rPr>
              <a:t>: Backpropagation over long sequences triggers vanishing or exploding gradients.</a:t>
            </a:r>
            <a:endParaRPr lang="en-US" altLang="zh-TW" sz="1600" dirty="0"/>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8" name="文字方塊 7">
            <a:extLst>
              <a:ext uri="{FF2B5EF4-FFF2-40B4-BE49-F238E27FC236}">
                <a16:creationId xmlns:a16="http://schemas.microsoft.com/office/drawing/2014/main" id="{99BBD11D-7E3B-48DD-DF53-6501A8604960}"/>
              </a:ext>
            </a:extLst>
          </p:cNvPr>
          <p:cNvSpPr txBox="1"/>
          <p:nvPr/>
        </p:nvSpPr>
        <p:spPr>
          <a:xfrm>
            <a:off x="4317435" y="4188799"/>
            <a:ext cx="1305142" cy="248314"/>
          </a:xfrm>
          <a:prstGeom prst="rect">
            <a:avLst/>
          </a:prstGeom>
          <a:solidFill>
            <a:srgbClr val="FEC203">
              <a:alpha val="60000"/>
            </a:srgbClr>
          </a:solidFill>
          <a:ln w="15875">
            <a:solidFill>
              <a:schemeClr val="bg1">
                <a:lumMod val="65000"/>
              </a:schemeClr>
            </a:solidFill>
          </a:ln>
        </p:spPr>
        <p:txBody>
          <a:bodyPr wrap="none" lIns="91440" tIns="0" rIns="0" bIns="0" anchor="ctr"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X</a:t>
            </a:r>
            <a:r>
              <a:rPr lang="en-US" altLang="zh-TW" sz="1200" b="1" u="none" strike="noStrike" baseline="-25000" dirty="0">
                <a:effectLst/>
                <a:latin typeface="Gadugi" panose="020B0502040204020203" pitchFamily="34" charset="0"/>
                <a:ea typeface="Gadugi" panose="020B0502040204020203" pitchFamily="34" charset="0"/>
                <a:cs typeface="ADLaM Display" panose="02010000000000000000" pitchFamily="2" charset="0"/>
              </a:rPr>
              <a:t>t</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7607883" y="0"/>
            <a:ext cx="1536117" cy="884490"/>
          </a:xfrm>
          <a:prstGeom prst="rect">
            <a:avLst/>
          </a:prstGeom>
        </p:spPr>
      </p:pic>
      <p:sp>
        <p:nvSpPr>
          <p:cNvPr id="10" name="文字方塊 9">
            <a:extLst>
              <a:ext uri="{FF2B5EF4-FFF2-40B4-BE49-F238E27FC236}">
                <a16:creationId xmlns:a16="http://schemas.microsoft.com/office/drawing/2014/main" id="{E22969E3-BC50-A43C-1D22-6E0CDFD148BF}"/>
              </a:ext>
            </a:extLst>
          </p:cNvPr>
          <p:cNvSpPr txBox="1"/>
          <p:nvPr/>
        </p:nvSpPr>
        <p:spPr>
          <a:xfrm>
            <a:off x="6291300" y="3356992"/>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3" name="文字方塊 12">
            <a:extLst>
              <a:ext uri="{FF2B5EF4-FFF2-40B4-BE49-F238E27FC236}">
                <a16:creationId xmlns:a16="http://schemas.microsoft.com/office/drawing/2014/main" id="{90420F50-31C2-3801-F012-BA495FB67751}"/>
              </a:ext>
            </a:extLst>
          </p:cNvPr>
          <p:cNvSpPr txBox="1"/>
          <p:nvPr/>
        </p:nvSpPr>
        <p:spPr>
          <a:xfrm>
            <a:off x="6288637" y="5410384"/>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0CEDE517-4295-B81B-7ABA-627D4A84487D}"/>
              </a:ext>
            </a:extLst>
          </p:cNvPr>
          <p:cNvSpPr txBox="1"/>
          <p:nvPr/>
        </p:nvSpPr>
        <p:spPr>
          <a:xfrm>
            <a:off x="174424" y="4535676"/>
            <a:ext cx="22322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The fox jumps over the dog.</a:t>
            </a:r>
            <a:endParaRPr lang="zh-TW" altLang="en-US" sz="1200" dirty="0">
              <a:latin typeface="ADLaM Display" panose="02010000000000000000" pitchFamily="2" charset="0"/>
              <a:cs typeface="ADLaM Display" panose="02010000000000000000" pitchFamily="2" charset="0"/>
            </a:endParaRPr>
          </a:p>
        </p:txBody>
      </p:sp>
      <p:graphicFrame>
        <p:nvGraphicFramePr>
          <p:cNvPr id="4" name="表格 3">
            <a:extLst>
              <a:ext uri="{FF2B5EF4-FFF2-40B4-BE49-F238E27FC236}">
                <a16:creationId xmlns:a16="http://schemas.microsoft.com/office/drawing/2014/main" id="{EF335AFD-B9B3-BB8A-4751-B8A246560B65}"/>
              </a:ext>
            </a:extLst>
          </p:cNvPr>
          <p:cNvGraphicFramePr>
            <a:graphicFrameLocks noGrp="1"/>
          </p:cNvGraphicFramePr>
          <p:nvPr>
            <p:extLst>
              <p:ext uri="{D42A27DB-BD31-4B8C-83A1-F6EECF244321}">
                <p14:modId xmlns:p14="http://schemas.microsoft.com/office/powerpoint/2010/main" val="368244717"/>
              </p:ext>
            </p:extLst>
          </p:nvPr>
        </p:nvGraphicFramePr>
        <p:xfrm>
          <a:off x="1741417" y="5020713"/>
          <a:ext cx="482931" cy="1499421"/>
        </p:xfrm>
        <a:graphic>
          <a:graphicData uri="http://schemas.openxmlformats.org/drawingml/2006/table">
            <a:tbl>
              <a:tblPr firstRow="1" bandRow="1">
                <a:tableStyleId>{5C22544A-7EE6-4342-B048-85BDC9FD1C3A}</a:tableStyleId>
              </a:tblPr>
              <a:tblGrid>
                <a:gridCol w="48293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55C63892-029D-F9E4-04BA-101895981765}"/>
                  </a:ext>
                </a:extLst>
              </p:cNvPr>
              <p:cNvSpPr txBox="1"/>
              <p:nvPr/>
            </p:nvSpPr>
            <p:spPr>
              <a:xfrm>
                <a:off x="1215532" y="3429000"/>
                <a:ext cx="319062" cy="427675"/>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16" name="文字方塊 15">
                <a:extLst>
                  <a:ext uri="{FF2B5EF4-FFF2-40B4-BE49-F238E27FC236}">
                    <a16:creationId xmlns:a16="http://schemas.microsoft.com/office/drawing/2014/main" id="{55C63892-029D-F9E4-04BA-101895981765}"/>
                  </a:ext>
                </a:extLst>
              </p:cNvPr>
              <p:cNvSpPr txBox="1">
                <a:spLocks noRot="1" noChangeAspect="1" noMove="1" noResize="1" noEditPoints="1" noAdjustHandles="1" noChangeArrowheads="1" noChangeShapeType="1" noTextEdit="1"/>
              </p:cNvSpPr>
              <p:nvPr/>
            </p:nvSpPr>
            <p:spPr>
              <a:xfrm>
                <a:off x="1215532" y="3429000"/>
                <a:ext cx="319062" cy="427675"/>
              </a:xfrm>
              <a:prstGeom prst="rect">
                <a:avLst/>
              </a:prstGeom>
              <a:blipFill>
                <a:blip r:embed="rId4"/>
                <a:stretch>
                  <a:fillRect t="-2857" r="-1887" b="-2857"/>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AFE25F8A-B035-2EAD-7FD6-C63076F52AE8}"/>
              </a:ext>
            </a:extLst>
          </p:cNvPr>
          <p:cNvGraphicFramePr>
            <a:graphicFrameLocks noGrp="1"/>
          </p:cNvGraphicFramePr>
          <p:nvPr>
            <p:extLst>
              <p:ext uri="{D42A27DB-BD31-4B8C-83A1-F6EECF244321}">
                <p14:modId xmlns:p14="http://schemas.microsoft.com/office/powerpoint/2010/main" val="1372128920"/>
              </p:ext>
            </p:extLst>
          </p:nvPr>
        </p:nvGraphicFramePr>
        <p:xfrm>
          <a:off x="2245679" y="3337235"/>
          <a:ext cx="728545" cy="856812"/>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9" name="表格 8">
            <a:extLst>
              <a:ext uri="{FF2B5EF4-FFF2-40B4-BE49-F238E27FC236}">
                <a16:creationId xmlns:a16="http://schemas.microsoft.com/office/drawing/2014/main" id="{307DDF5C-824B-C91A-32DC-6C73FDB9265A}"/>
              </a:ext>
            </a:extLst>
          </p:cNvPr>
          <p:cNvGraphicFramePr>
            <a:graphicFrameLocks noGrp="1"/>
          </p:cNvGraphicFramePr>
          <p:nvPr>
            <p:extLst>
              <p:ext uri="{D42A27DB-BD31-4B8C-83A1-F6EECF244321}">
                <p14:modId xmlns:p14="http://schemas.microsoft.com/office/powerpoint/2010/main" val="604473301"/>
              </p:ext>
            </p:extLst>
          </p:nvPr>
        </p:nvGraphicFramePr>
        <p:xfrm>
          <a:off x="2320294" y="5020712"/>
          <a:ext cx="653930" cy="1499421"/>
        </p:xfrm>
        <a:graphic>
          <a:graphicData uri="http://schemas.openxmlformats.org/drawingml/2006/table">
            <a:tbl>
              <a:tblPr firstRow="1" bandRow="1"/>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1375496678"/>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787225911"/>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3529971003"/>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370384225"/>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3975019256"/>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136641310"/>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2789904019"/>
                  </a:ext>
                </a:extLst>
              </a:tr>
            </a:tbl>
          </a:graphicData>
        </a:graphic>
      </p:graphicFrame>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Cell state allows critical information to travel across long sequences without dilution.</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3"/>
          <a:stretch>
            <a:fillRect/>
          </a:stretch>
        </p:blipFill>
        <p:spPr>
          <a:xfrm>
            <a:off x="3131840" y="161046"/>
            <a:ext cx="5609131" cy="2935507"/>
          </a:xfrm>
          <a:prstGeom prst="rect">
            <a:avLst/>
          </a:prstGeom>
        </p:spPr>
      </p:pic>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4"/>
          <a:stretch>
            <a:fillRect/>
          </a:stretch>
        </p:blipFill>
        <p:spPr>
          <a:xfrm>
            <a:off x="27396" y="2924944"/>
            <a:ext cx="3256561" cy="3888432"/>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6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2675012"/>
            <a:ext cx="6280974" cy="3718765"/>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843808"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0354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5594988" cy="3356992"/>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251520" y="3593246"/>
            <a:ext cx="4680520" cy="1086984"/>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337548" y="4869160"/>
            <a:ext cx="4819203" cy="1088954"/>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3933484" y="541567"/>
            <a:ext cx="5093230" cy="1283027"/>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4499992" y="2060848"/>
            <a:ext cx="4070341" cy="1050888"/>
          </a:xfrm>
          <a:prstGeom prst="rect">
            <a:avLst/>
          </a:prstGeom>
        </p:spPr>
      </p:pic>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29C7219-C4CF-C21F-F08B-3CA6B0AE6462}"/>
              </a:ext>
            </a:extLst>
          </p:cNvPr>
          <p:cNvPicPr>
            <a:picLocks noChangeAspect="1"/>
          </p:cNvPicPr>
          <p:nvPr/>
        </p:nvPicPr>
        <p:blipFill>
          <a:blip r:embed="rId3"/>
          <a:stretch>
            <a:fillRect/>
          </a:stretch>
        </p:blipFill>
        <p:spPr>
          <a:xfrm>
            <a:off x="395536" y="1373370"/>
            <a:ext cx="4737153" cy="5052963"/>
          </a:xfrm>
          <a:prstGeom prst="rect">
            <a:avLst/>
          </a:prstGeom>
        </p:spPr>
      </p:pic>
      <p:sp>
        <p:nvSpPr>
          <p:cNvPr id="4" name="文字方塊 3">
            <a:extLst>
              <a:ext uri="{FF2B5EF4-FFF2-40B4-BE49-F238E27FC236}">
                <a16:creationId xmlns:a16="http://schemas.microsoft.com/office/drawing/2014/main" id="{2B998B20-26E1-AAA0-704F-5584BC87DCD5}"/>
              </a:ext>
            </a:extLst>
          </p:cNvPr>
          <p:cNvSpPr txBox="1"/>
          <p:nvPr/>
        </p:nvSpPr>
        <p:spPr>
          <a:xfrm>
            <a:off x="5580109" y="1988840"/>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ResNet</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MSRA</a:t>
            </a:r>
            <a:r>
              <a:rPr lang="zh-TW" altLang="en-US" sz="1000" dirty="0">
                <a:latin typeface="Gadugi" panose="020B0502040204020203" pitchFamily="34" charset="0"/>
                <a:ea typeface="Gadugi" panose="020B0502040204020203" pitchFamily="34" charset="0"/>
                <a:cs typeface="ADLaM Display" panose="02010000000000000000" pitchFamily="2" charset="0"/>
              </a:rPr>
              <a:t> 何愷明</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2015</a:t>
            </a:r>
          </a:p>
        </p:txBody>
      </p:sp>
      <p:sp>
        <p:nvSpPr>
          <p:cNvPr id="6" name="文字方塊 5">
            <a:extLst>
              <a:ext uri="{FF2B5EF4-FFF2-40B4-BE49-F238E27FC236}">
                <a16:creationId xmlns:a16="http://schemas.microsoft.com/office/drawing/2014/main" id="{C5260EB1-A8A4-BAF7-42D7-F5CFE711E907}"/>
              </a:ext>
            </a:extLst>
          </p:cNvPr>
          <p:cNvSpPr txBox="1"/>
          <p:nvPr/>
        </p:nvSpPr>
        <p:spPr>
          <a:xfrm>
            <a:off x="5580109" y="285678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H</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yper-</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onnections</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ByteDance </a:t>
            </a:r>
            <a:r>
              <a:rPr lang="zh-TW" altLang="en-US" sz="1000" dirty="0">
                <a:latin typeface="Gadugi" panose="020B0502040204020203" pitchFamily="34" charset="0"/>
                <a:ea typeface="Gadugi" panose="020B0502040204020203" pitchFamily="34" charset="0"/>
                <a:cs typeface="ADLaM Display" panose="02010000000000000000" pitchFamily="2" charset="0"/>
              </a:rPr>
              <a:t>朱等</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2024</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D77D799B-6CE8-CF1C-CE89-401E4DBDB6EE}"/>
              </a:ext>
            </a:extLst>
          </p:cNvPr>
          <p:cNvSpPr txBox="1"/>
          <p:nvPr/>
        </p:nvSpPr>
        <p:spPr>
          <a:xfrm>
            <a:off x="5580109" y="3719600"/>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MUDDformer</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肖達 </a:t>
            </a:r>
            <a:r>
              <a:rPr lang="en-US" altLang="zh-TW" sz="1000" dirty="0">
                <a:latin typeface="Gadugi" panose="020B0502040204020203" pitchFamily="34" charset="0"/>
                <a:ea typeface="Gadugi" panose="020B0502040204020203" pitchFamily="34" charset="0"/>
                <a:cs typeface="ADLaM Display" panose="02010000000000000000" pitchFamily="2" charset="0"/>
              </a:rPr>
              <a:t>2025</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0" name="文字方塊 9">
            <a:extLst>
              <a:ext uri="{FF2B5EF4-FFF2-40B4-BE49-F238E27FC236}">
                <a16:creationId xmlns:a16="http://schemas.microsoft.com/office/drawing/2014/main" id="{DC7B0787-5A80-DF72-C374-61C01F849B65}"/>
              </a:ext>
            </a:extLst>
          </p:cNvPr>
          <p:cNvSpPr txBox="1"/>
          <p:nvPr/>
        </p:nvSpPr>
        <p:spPr>
          <a:xfrm>
            <a:off x="5580109" y="462358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M</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anifold-</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onstrained </a:t>
            </a:r>
            <a:r>
              <a:rPr lang="en-US" altLang="zh-TW" sz="1000" dirty="0">
                <a:latin typeface="Gadugi" panose="020B0502040204020203" pitchFamily="34" charset="0"/>
                <a:ea typeface="Gadugi" panose="020B0502040204020203" pitchFamily="34" charset="0"/>
                <a:cs typeface="ADLaM Display" panose="02010000000000000000" pitchFamily="2" charset="0"/>
              </a:rPr>
              <a:t>HC</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DeepSeek</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12" name="文字方塊 11">
            <a:extLst>
              <a:ext uri="{FF2B5EF4-FFF2-40B4-BE49-F238E27FC236}">
                <a16:creationId xmlns:a16="http://schemas.microsoft.com/office/drawing/2014/main" id="{D67CC2A5-538F-5E4F-2707-6987523CE7EA}"/>
              </a:ext>
            </a:extLst>
          </p:cNvPr>
          <p:cNvSpPr txBox="1"/>
          <p:nvPr/>
        </p:nvSpPr>
        <p:spPr>
          <a:xfrm>
            <a:off x="5580109" y="552756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AttnRes</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Moonshot</a:t>
            </a: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陳廣宇</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14" name="標題 1">
            <a:extLst>
              <a:ext uri="{FF2B5EF4-FFF2-40B4-BE49-F238E27FC236}">
                <a16:creationId xmlns:a16="http://schemas.microsoft.com/office/drawing/2014/main" id="{68F7834C-1B08-250A-B00C-3306B1340E9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Residual Connection Summary</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7449065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pic>
        <p:nvPicPr>
          <p:cNvPr id="3" name="圖片 2">
            <a:extLst>
              <a:ext uri="{FF2B5EF4-FFF2-40B4-BE49-F238E27FC236}">
                <a16:creationId xmlns:a16="http://schemas.microsoft.com/office/drawing/2014/main" id="{2F35AD2E-ABB4-9F25-94C4-94B8A15A67CE}"/>
              </a:ext>
            </a:extLst>
          </p:cNvPr>
          <p:cNvPicPr>
            <a:picLocks noChangeAspect="1"/>
          </p:cNvPicPr>
          <p:nvPr/>
        </p:nvPicPr>
        <p:blipFill>
          <a:blip r:embed="rId5"/>
          <a:stretch>
            <a:fillRect/>
          </a:stretch>
        </p:blipFill>
        <p:spPr>
          <a:xfrm>
            <a:off x="1793042" y="116632"/>
            <a:ext cx="7308304" cy="2682172"/>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Model performance scales predictably with computing power, parameters, and data size.</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E0FC2-98C8-DE7F-80C7-6FE956573D8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CD152267-BEB6-4217-23CE-D0B8CA573F29}"/>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 achieve optimal performance, the ratio of model parameters to training tokens must be maintained at a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1:20</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balance.</a:t>
            </a:r>
          </a:p>
        </p:txBody>
      </p:sp>
      <p:sp>
        <p:nvSpPr>
          <p:cNvPr id="3" name="文字方塊 2">
            <a:extLst>
              <a:ext uri="{FF2B5EF4-FFF2-40B4-BE49-F238E27FC236}">
                <a16:creationId xmlns:a16="http://schemas.microsoft.com/office/drawing/2014/main" id="{FA3440C9-814C-1D07-72DD-59A3180D0919}"/>
              </a:ext>
            </a:extLst>
          </p:cNvPr>
          <p:cNvSpPr txBox="1"/>
          <p:nvPr/>
        </p:nvSpPr>
        <p:spPr>
          <a:xfrm>
            <a:off x="2286000" y="1997839"/>
            <a:ext cx="4572000" cy="2862322"/>
          </a:xfrm>
          <a:prstGeom prst="rect">
            <a:avLst/>
          </a:prstGeom>
          <a:noFill/>
        </p:spPr>
        <p:txBody>
          <a:bodyPr wrap="square">
            <a:spAutoFit/>
          </a:bodyPr>
          <a:lstStyle/>
          <a:p>
            <a:r>
              <a:rPr lang="zh-TW" altLang="zh-TW" sz="1200" b="0" u="none" strike="noStrike" kern="1200" dirty="0">
                <a:solidFill>
                  <a:schemeClr val="tx1"/>
                </a:solidFill>
                <a:effectLst/>
                <a:latin typeface="+mn-lt"/>
                <a:ea typeface="+mn-ea"/>
                <a:cs typeface="+mn-cs"/>
              </a:rPr>
              <a:t>2. Chinchilla 戳破的「盲目大模型迷思」</a:t>
            </a:r>
          </a:p>
          <a:p>
            <a:r>
              <a:rPr lang="zh-TW" altLang="zh-TW" sz="1200" b="0" u="none" strike="noStrike" kern="1200" dirty="0">
                <a:solidFill>
                  <a:schemeClr val="tx1"/>
                </a:solidFill>
                <a:effectLst/>
                <a:latin typeface="+mn-lt"/>
                <a:ea typeface="+mn-ea"/>
                <a:cs typeface="+mn-cs"/>
              </a:rPr>
              <a:t>在 Chinchilla 出現之前（2020~2021年），以 OpenAI 的 </a:t>
            </a:r>
            <a:r>
              <a:rPr lang="zh-TW" altLang="zh-TW" sz="1200" b="1" u="none" strike="noStrike" kern="1200" dirty="0">
                <a:solidFill>
                  <a:schemeClr val="tx1"/>
                </a:solidFill>
                <a:effectLst/>
                <a:latin typeface="+mn-lt"/>
                <a:ea typeface="+mn-ea"/>
                <a:cs typeface="+mn-cs"/>
              </a:rPr>
              <a:t>GPT-3（1750億參數）</a:t>
            </a:r>
            <a:r>
              <a:rPr lang="zh-TW" altLang="zh-TW" sz="1200" b="0" u="none" strike="noStrike" kern="1200" dirty="0">
                <a:solidFill>
                  <a:schemeClr val="tx1"/>
                </a:solidFill>
                <a:effectLst/>
                <a:latin typeface="+mn-lt"/>
                <a:ea typeface="+mn-ea"/>
                <a:cs typeface="+mn-cs"/>
              </a:rPr>
              <a:t> 為首，全世界的科技巨頭都陷入了「參數軍備競賽」，認為參數越多模型越強。</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但 DeepMind 團隊做了一個實驗：他們做了一個只有 </a:t>
            </a:r>
            <a:r>
              <a:rPr lang="zh-TW" altLang="zh-TW" sz="1200" b="1" u="none" strike="noStrike" kern="1200" dirty="0">
                <a:solidFill>
                  <a:schemeClr val="tx1"/>
                </a:solidFill>
                <a:effectLst/>
                <a:latin typeface="+mn-lt"/>
                <a:ea typeface="+mn-ea"/>
                <a:cs typeface="+mn-cs"/>
              </a:rPr>
              <a:t>700 億參數（70B）</a:t>
            </a:r>
            <a:r>
              <a:rPr lang="zh-TW" altLang="zh-TW" sz="1200" b="0" u="none" strike="noStrike" kern="1200" dirty="0">
                <a:solidFill>
                  <a:schemeClr val="tx1"/>
                </a:solidFill>
                <a:effectLst/>
                <a:latin typeface="+mn-lt"/>
                <a:ea typeface="+mn-ea"/>
                <a:cs typeface="+mn-cs"/>
              </a:rPr>
              <a:t> 的模型，命名為 </a:t>
            </a:r>
            <a:r>
              <a:rPr lang="zh-TW" altLang="zh-TW" sz="1200" b="1" u="none" strike="noStrike" kern="1200" dirty="0">
                <a:solidFill>
                  <a:schemeClr val="tx1"/>
                </a:solidFill>
                <a:effectLst/>
                <a:latin typeface="+mn-lt"/>
                <a:ea typeface="+mn-ea"/>
                <a:cs typeface="+mn-cs"/>
              </a:rPr>
              <a:t>Chinchilla</a:t>
            </a:r>
            <a:r>
              <a:rPr lang="zh-TW" altLang="zh-TW" sz="1200" b="0" u="none" strike="noStrike" kern="1200" dirty="0">
                <a:solidFill>
                  <a:schemeClr val="tx1"/>
                </a:solidFill>
                <a:effectLst/>
                <a:latin typeface="+mn-lt"/>
                <a:ea typeface="+mn-ea"/>
                <a:cs typeface="+mn-cs"/>
              </a:rPr>
              <a:t>，卻餵給它高達 </a:t>
            </a:r>
            <a:r>
              <a:rPr lang="zh-TW" altLang="zh-TW" sz="1200" b="1" u="none" strike="noStrike" kern="1200" dirty="0">
                <a:solidFill>
                  <a:schemeClr val="tx1"/>
                </a:solidFill>
                <a:effectLst/>
                <a:latin typeface="+mn-lt"/>
                <a:ea typeface="+mn-ea"/>
                <a:cs typeface="+mn-cs"/>
              </a:rPr>
              <a:t>1.4 兆（1.4T）個 Token</a:t>
            </a:r>
            <a:r>
              <a:rPr lang="zh-TW" altLang="zh-TW" sz="1200" b="0" u="none" strike="noStrike" kern="1200" dirty="0">
                <a:solidFill>
                  <a:schemeClr val="tx1"/>
                </a:solidFill>
                <a:effectLst/>
                <a:latin typeface="+mn-lt"/>
                <a:ea typeface="+mn-ea"/>
                <a:cs typeface="+mn-cs"/>
              </a:rPr>
              <a:t> 的數據。</a:t>
            </a:r>
          </a:p>
          <a:p>
            <a:r>
              <a:rPr lang="zh-TW" altLang="zh-TW" sz="1200" b="0" u="none" strike="noStrike" kern="1200" dirty="0">
                <a:solidFill>
                  <a:schemeClr val="tx1"/>
                </a:solidFill>
                <a:effectLst/>
                <a:latin typeface="+mn-lt"/>
                <a:ea typeface="+mn-ea"/>
                <a:cs typeface="+mn-cs"/>
              </a:rPr>
              <a:t>結果震驚了整個 AI 界：</a:t>
            </a:r>
            <a:r>
              <a:rPr lang="zh-TW" altLang="zh-TW" sz="1200" b="1" u="none" strike="noStrike" kern="1200" dirty="0">
                <a:solidFill>
                  <a:schemeClr val="tx1"/>
                </a:solidFill>
                <a:effectLst/>
                <a:latin typeface="+mn-lt"/>
                <a:ea typeface="+mn-ea"/>
                <a:cs typeface="+mn-cs"/>
              </a:rPr>
              <a:t>只有 GPT-3 不到一半體積的 Chinchilla，在各項下游任務的表現上，完爆了 GPT-3。</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3. 陳章博士必講的 Chinchilla 核心技術結論</a:t>
            </a:r>
          </a:p>
          <a:p>
            <a:r>
              <a:rPr lang="zh-TW" altLang="zh-TW" sz="1200" b="0" u="none" strike="noStrike" kern="1200" dirty="0">
                <a:solidFill>
                  <a:schemeClr val="tx1"/>
                </a:solidFill>
                <a:effectLst/>
                <a:latin typeface="+mn-lt"/>
                <a:ea typeface="+mn-ea"/>
                <a:cs typeface="+mn-cs"/>
              </a:rPr>
              <a:t>這篇論文推導出了大模型訓練的</a:t>
            </a:r>
            <a:r>
              <a:rPr lang="zh-TW" altLang="zh-TW" sz="1200" b="1" u="none" strike="noStrike" kern="1200" dirty="0">
                <a:solidFill>
                  <a:schemeClr val="tx1"/>
                </a:solidFill>
                <a:effectLst/>
                <a:latin typeface="+mn-lt"/>
                <a:ea typeface="+mn-ea"/>
                <a:cs typeface="+mn-cs"/>
              </a:rPr>
              <a:t>「黃金比例」</a:t>
            </a:r>
            <a:r>
              <a:rPr lang="zh-TW" altLang="zh-TW" sz="1200" b="0" u="none" strike="noStrike" kern="1200" dirty="0">
                <a:solidFill>
                  <a:schemeClr val="tx1"/>
                </a:solidFill>
                <a:effectLst/>
                <a:latin typeface="+mn-lt"/>
                <a:ea typeface="+mn-ea"/>
                <a:cs typeface="+mn-cs"/>
              </a:rPr>
              <a:t>（也就是所謂的 Chinchilla Optimal）：</a:t>
            </a:r>
          </a:p>
          <a:p>
            <a:pPr lvl="0"/>
            <a:r>
              <a:rPr lang="zh-TW" altLang="zh-TW" sz="1200" b="1" u="none" strike="noStrike" kern="1200" dirty="0">
                <a:solidFill>
                  <a:schemeClr val="tx1"/>
                </a:solidFill>
                <a:effectLst/>
                <a:latin typeface="+mn-lt"/>
                <a:ea typeface="+mn-ea"/>
                <a:cs typeface="+mn-cs"/>
              </a:rPr>
              <a:t>以前的錯誤</a:t>
            </a:r>
            <a:r>
              <a:rPr lang="zh-TW" altLang="zh-TW" sz="1200" b="0" u="none" strike="noStrike" kern="1200" dirty="0">
                <a:solidFill>
                  <a:schemeClr val="tx1"/>
                </a:solidFill>
                <a:effectLst/>
                <a:latin typeface="+mn-lt"/>
                <a:ea typeface="+mn-ea"/>
                <a:cs typeface="+mn-cs"/>
              </a:rPr>
              <a:t>：大家把預算（計算資源）都拿去加大模型參數，結果數據沒給夠，導致模型就像「一個空有極高智商，卻沒讀過幾本書的神童」，嚴重</a:t>
            </a:r>
            <a:r>
              <a:rPr lang="zh-TW" altLang="zh-TW" sz="1200" b="1" u="none" strike="noStrike" kern="1200" dirty="0">
                <a:solidFill>
                  <a:schemeClr val="tx1"/>
                </a:solidFill>
                <a:effectLst/>
                <a:latin typeface="+mn-lt"/>
                <a:ea typeface="+mn-ea"/>
                <a:cs typeface="+mn-cs"/>
              </a:rPr>
              <a:t>訓練不足（Undertrained）</a:t>
            </a:r>
            <a:r>
              <a:rPr lang="zh-TW" altLang="zh-TW"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3734215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79481" y="183631"/>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vs Gopher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15" name="文字方塊 14">
            <a:extLst>
              <a:ext uri="{FF2B5EF4-FFF2-40B4-BE49-F238E27FC236}">
                <a16:creationId xmlns:a16="http://schemas.microsoft.com/office/drawing/2014/main" id="{1B588763-430B-C125-9DA4-C1F7BDB448EC}"/>
              </a:ext>
            </a:extLst>
          </p:cNvPr>
          <p:cNvSpPr txBox="1"/>
          <p:nvPr/>
        </p:nvSpPr>
        <p:spPr>
          <a:xfrm>
            <a:off x="970249"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3995936"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48234"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970249"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26627"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6968930" y="580536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 name="圖片 2">
            <a:extLst>
              <a:ext uri="{FF2B5EF4-FFF2-40B4-BE49-F238E27FC236}">
                <a16:creationId xmlns:a16="http://schemas.microsoft.com/office/drawing/2014/main" id="{354338D5-7A2C-DB90-BF1A-5592822F49A7}"/>
              </a:ext>
            </a:extLst>
          </p:cNvPr>
          <p:cNvPicPr>
            <a:picLocks noChangeAspect="1"/>
          </p:cNvPicPr>
          <p:nvPr/>
        </p:nvPicPr>
        <p:blipFill>
          <a:blip r:embed="rId3"/>
          <a:stretch>
            <a:fillRect/>
          </a:stretch>
        </p:blipFill>
        <p:spPr>
          <a:xfrm>
            <a:off x="1187624" y="3406899"/>
            <a:ext cx="1003708" cy="512735"/>
          </a:xfrm>
          <a:prstGeom prst="rect">
            <a:avLst/>
          </a:prstGeom>
        </p:spPr>
      </p:pic>
      <p:pic>
        <p:nvPicPr>
          <p:cNvPr id="6" name="圖片 5">
            <a:extLst>
              <a:ext uri="{FF2B5EF4-FFF2-40B4-BE49-F238E27FC236}">
                <a16:creationId xmlns:a16="http://schemas.microsoft.com/office/drawing/2014/main" id="{11F0CC11-3AED-41A3-2C0A-ADDCDBD6FF36}"/>
              </a:ext>
            </a:extLst>
          </p:cNvPr>
          <p:cNvPicPr>
            <a:picLocks noChangeAspect="1"/>
          </p:cNvPicPr>
          <p:nvPr/>
        </p:nvPicPr>
        <p:blipFill>
          <a:blip r:embed="rId4"/>
          <a:stretch>
            <a:fillRect/>
          </a:stretch>
        </p:blipFill>
        <p:spPr>
          <a:xfrm>
            <a:off x="2770918" y="1890194"/>
            <a:ext cx="1729074" cy="2673890"/>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5CB22-1859-5418-A024-B02613379408}"/>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1DBFEE4A-2DE6-B44F-2D6F-381571861501}"/>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23" name="文字方塊 22">
            <a:extLst>
              <a:ext uri="{FF2B5EF4-FFF2-40B4-BE49-F238E27FC236}">
                <a16:creationId xmlns:a16="http://schemas.microsoft.com/office/drawing/2014/main" id="{72FA3108-675D-2B5E-78A6-661E33360DBA}"/>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1E33A60B-24AD-C70E-A334-5AD54554A99B}"/>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355F8500-ABAB-4083-9344-481DEFE29259}"/>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F73B008-214A-9210-717A-17191E92BF0B}"/>
              </a:ext>
            </a:extLst>
          </p:cNvPr>
          <p:cNvPicPr>
            <a:picLocks noChangeAspect="1"/>
          </p:cNvPicPr>
          <p:nvPr/>
        </p:nvPicPr>
        <p:blipFill>
          <a:blip r:embed="rId3"/>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AB332303-82CC-F2E4-674C-BD6C78AD0185}"/>
              </a:ext>
            </a:extLst>
          </p:cNvPr>
          <p:cNvPicPr>
            <a:picLocks noChangeAspect="1"/>
          </p:cNvPicPr>
          <p:nvPr/>
        </p:nvPicPr>
        <p:blipFill>
          <a:blip r:embed="rId4"/>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7FA6E037-8645-449A-D7DC-C190F56339DD}"/>
              </a:ext>
            </a:extLst>
          </p:cNvPr>
          <p:cNvPicPr>
            <a:picLocks noChangeAspect="1"/>
          </p:cNvPicPr>
          <p:nvPr/>
        </p:nvPicPr>
        <p:blipFill>
          <a:blip r:embed="rId5"/>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B49743B1-6170-FB2D-4D5A-8ABA5C7C5D5E}"/>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6AECD8F4-A129-EF89-8F70-4B3FAD464901}"/>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5E32688D-D67D-4B09-234C-FBF5ACCD7665}"/>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9867171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KDA: PE everywhere</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Gx</a:t>
            </a:r>
          </a:p>
        </p:txBody>
      </p:sp>
      <p:pic>
        <p:nvPicPr>
          <p:cNvPr id="8" name="圖片 7">
            <a:extLst>
              <a:ext uri="{FF2B5EF4-FFF2-40B4-BE49-F238E27FC236}">
                <a16:creationId xmlns:a16="http://schemas.microsoft.com/office/drawing/2014/main" id="{E01A32C3-51B0-68CA-8C1D-742AFF97C741}"/>
              </a:ext>
            </a:extLst>
          </p:cNvPr>
          <p:cNvPicPr>
            <a:picLocks noChangeAspect="1"/>
          </p:cNvPicPr>
          <p:nvPr/>
        </p:nvPicPr>
        <p:blipFill>
          <a:blip r:embed="rId3"/>
          <a:stretch>
            <a:fillRect/>
          </a:stretch>
        </p:blipFill>
        <p:spPr>
          <a:xfrm>
            <a:off x="6482503" y="1701374"/>
            <a:ext cx="2652796" cy="3167786"/>
          </a:xfrm>
          <a:prstGeom prst="rect">
            <a:avLst/>
          </a:prstGeom>
        </p:spPr>
      </p:pic>
      <p:pic>
        <p:nvPicPr>
          <p:cNvPr id="10" name="圖片 9">
            <a:extLst>
              <a:ext uri="{FF2B5EF4-FFF2-40B4-BE49-F238E27FC236}">
                <a16:creationId xmlns:a16="http://schemas.microsoft.com/office/drawing/2014/main" id="{FE11B9E4-9AE4-C3C3-CA43-9D130416298A}"/>
              </a:ext>
            </a:extLst>
          </p:cNvPr>
          <p:cNvPicPr>
            <a:picLocks noChangeAspect="1"/>
          </p:cNvPicPr>
          <p:nvPr/>
        </p:nvPicPr>
        <p:blipFill>
          <a:blip r:embed="rId4"/>
          <a:stretch>
            <a:fillRect/>
          </a:stretch>
        </p:blipFill>
        <p:spPr>
          <a:xfrm>
            <a:off x="541097" y="1484784"/>
            <a:ext cx="5182086" cy="2027773"/>
          </a:xfrm>
          <a:prstGeom prst="rect">
            <a:avLst/>
          </a:prstGeom>
        </p:spPr>
      </p:pic>
      <p:pic>
        <p:nvPicPr>
          <p:cNvPr id="12" name="圖片 11">
            <a:extLst>
              <a:ext uri="{FF2B5EF4-FFF2-40B4-BE49-F238E27FC236}">
                <a16:creationId xmlns:a16="http://schemas.microsoft.com/office/drawing/2014/main" id="{AB393DCE-CE40-69D1-E1E0-265CF92EAA9D}"/>
              </a:ext>
            </a:extLst>
          </p:cNvPr>
          <p:cNvPicPr>
            <a:picLocks noChangeAspect="1"/>
          </p:cNvPicPr>
          <p:nvPr/>
        </p:nvPicPr>
        <p:blipFill>
          <a:blip r:embed="rId5"/>
          <a:stretch>
            <a:fillRect/>
          </a:stretch>
        </p:blipFill>
        <p:spPr>
          <a:xfrm>
            <a:off x="325072" y="4902930"/>
            <a:ext cx="4608512" cy="735631"/>
          </a:xfrm>
          <a:prstGeom prst="rect">
            <a:avLst/>
          </a:prstGeom>
        </p:spPr>
      </p:pic>
      <p:pic>
        <p:nvPicPr>
          <p:cNvPr id="15" name="圖片 14">
            <a:extLst>
              <a:ext uri="{FF2B5EF4-FFF2-40B4-BE49-F238E27FC236}">
                <a16:creationId xmlns:a16="http://schemas.microsoft.com/office/drawing/2014/main" id="{63143830-0B85-764F-B7FB-D4B0FC20A8B5}"/>
              </a:ext>
            </a:extLst>
          </p:cNvPr>
          <p:cNvPicPr>
            <a:picLocks noChangeAspect="1"/>
          </p:cNvPicPr>
          <p:nvPr/>
        </p:nvPicPr>
        <p:blipFill>
          <a:blip r:embed="rId6"/>
          <a:stretch>
            <a:fillRect/>
          </a:stretch>
        </p:blipFill>
        <p:spPr>
          <a:xfrm>
            <a:off x="1117160" y="4153541"/>
            <a:ext cx="1936839" cy="715619"/>
          </a:xfrm>
          <a:prstGeom prst="rect">
            <a:avLst/>
          </a:prstGeom>
        </p:spPr>
      </p:pic>
    </p:spTree>
    <p:extLst>
      <p:ext uri="{BB962C8B-B14F-4D97-AF65-F5344CB8AC3E}">
        <p14:creationId xmlns:p14="http://schemas.microsoft.com/office/powerpoint/2010/main" val="34522675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pic>
        <p:nvPicPr>
          <p:cNvPr id="3" name="圖片 2">
            <a:extLst>
              <a:ext uri="{FF2B5EF4-FFF2-40B4-BE49-F238E27FC236}">
                <a16:creationId xmlns:a16="http://schemas.microsoft.com/office/drawing/2014/main" id="{6DD31490-34C9-88AB-BC5D-2B5A1DAE6804}"/>
              </a:ext>
            </a:extLst>
          </p:cNvPr>
          <p:cNvPicPr>
            <a:picLocks noChangeAspect="1"/>
          </p:cNvPicPr>
          <p:nvPr/>
        </p:nvPicPr>
        <p:blipFill>
          <a:blip r:embed="rId2"/>
          <a:stretch>
            <a:fillRect/>
          </a:stretch>
        </p:blipFill>
        <p:spPr>
          <a:xfrm>
            <a:off x="0" y="1124744"/>
            <a:ext cx="3920761" cy="2167605"/>
          </a:xfrm>
          <a:prstGeom prst="rect">
            <a:avLst/>
          </a:prstGeom>
        </p:spPr>
      </p:pic>
      <p:pic>
        <p:nvPicPr>
          <p:cNvPr id="6" name="圖片 5">
            <a:extLst>
              <a:ext uri="{FF2B5EF4-FFF2-40B4-BE49-F238E27FC236}">
                <a16:creationId xmlns:a16="http://schemas.microsoft.com/office/drawing/2014/main" id="{27B08812-6FDF-E638-B897-C816AAA52387}"/>
              </a:ext>
            </a:extLst>
          </p:cNvPr>
          <p:cNvPicPr>
            <a:picLocks noChangeAspect="1"/>
          </p:cNvPicPr>
          <p:nvPr/>
        </p:nvPicPr>
        <p:blipFill>
          <a:blip r:embed="rId3"/>
          <a:stretch>
            <a:fillRect/>
          </a:stretch>
        </p:blipFill>
        <p:spPr>
          <a:xfrm>
            <a:off x="827584" y="3269397"/>
            <a:ext cx="2453030" cy="938344"/>
          </a:xfrm>
          <a:prstGeom prst="rect">
            <a:avLst/>
          </a:prstGeom>
        </p:spPr>
      </p:pic>
      <p:pic>
        <p:nvPicPr>
          <p:cNvPr id="8" name="圖片 7">
            <a:extLst>
              <a:ext uri="{FF2B5EF4-FFF2-40B4-BE49-F238E27FC236}">
                <a16:creationId xmlns:a16="http://schemas.microsoft.com/office/drawing/2014/main" id="{0FDF98A3-572D-416F-04D9-7F22D1E922F7}"/>
              </a:ext>
            </a:extLst>
          </p:cNvPr>
          <p:cNvPicPr>
            <a:picLocks noChangeAspect="1"/>
          </p:cNvPicPr>
          <p:nvPr/>
        </p:nvPicPr>
        <p:blipFill>
          <a:blip r:embed="rId4"/>
          <a:stretch>
            <a:fillRect/>
          </a:stretch>
        </p:blipFill>
        <p:spPr>
          <a:xfrm>
            <a:off x="1384874" y="4207741"/>
            <a:ext cx="1895740" cy="381053"/>
          </a:xfrm>
          <a:prstGeom prst="rect">
            <a:avLst/>
          </a:prstGeom>
        </p:spPr>
      </p:pic>
      <p:pic>
        <p:nvPicPr>
          <p:cNvPr id="10" name="圖片 9">
            <a:extLst>
              <a:ext uri="{FF2B5EF4-FFF2-40B4-BE49-F238E27FC236}">
                <a16:creationId xmlns:a16="http://schemas.microsoft.com/office/drawing/2014/main" id="{8D122126-F323-96A2-2B0F-862455C74E2D}"/>
              </a:ext>
            </a:extLst>
          </p:cNvPr>
          <p:cNvPicPr>
            <a:picLocks noChangeAspect="1"/>
          </p:cNvPicPr>
          <p:nvPr/>
        </p:nvPicPr>
        <p:blipFill>
          <a:blip r:embed="rId5"/>
          <a:stretch>
            <a:fillRect/>
          </a:stretch>
        </p:blipFill>
        <p:spPr>
          <a:xfrm>
            <a:off x="7090929" y="1085523"/>
            <a:ext cx="2053071" cy="3279581"/>
          </a:xfrm>
          <a:prstGeom prst="rect">
            <a:avLst/>
          </a:prstGeom>
        </p:spPr>
      </p:pic>
      <p:pic>
        <p:nvPicPr>
          <p:cNvPr id="12" name="圖片 11">
            <a:extLst>
              <a:ext uri="{FF2B5EF4-FFF2-40B4-BE49-F238E27FC236}">
                <a16:creationId xmlns:a16="http://schemas.microsoft.com/office/drawing/2014/main" id="{07003AB1-8B39-6ADC-7F03-DDF41CC54083}"/>
              </a:ext>
            </a:extLst>
          </p:cNvPr>
          <p:cNvPicPr>
            <a:picLocks noChangeAspect="1"/>
          </p:cNvPicPr>
          <p:nvPr/>
        </p:nvPicPr>
        <p:blipFill>
          <a:blip r:embed="rId6"/>
          <a:stretch>
            <a:fillRect/>
          </a:stretch>
        </p:blipFill>
        <p:spPr>
          <a:xfrm>
            <a:off x="4959630" y="1085522"/>
            <a:ext cx="2017149" cy="3279582"/>
          </a:xfrm>
          <a:prstGeom prst="rect">
            <a:avLst/>
          </a:prstGeom>
        </p:spPr>
      </p:pic>
      <p:pic>
        <p:nvPicPr>
          <p:cNvPr id="14" name="圖片 13">
            <a:extLst>
              <a:ext uri="{FF2B5EF4-FFF2-40B4-BE49-F238E27FC236}">
                <a16:creationId xmlns:a16="http://schemas.microsoft.com/office/drawing/2014/main" id="{584326FD-949B-C14B-9D60-AC6A38703B7B}"/>
              </a:ext>
            </a:extLst>
          </p:cNvPr>
          <p:cNvPicPr>
            <a:picLocks noChangeAspect="1"/>
          </p:cNvPicPr>
          <p:nvPr/>
        </p:nvPicPr>
        <p:blipFill>
          <a:blip r:embed="rId7"/>
          <a:stretch>
            <a:fillRect/>
          </a:stretch>
        </p:blipFill>
        <p:spPr>
          <a:xfrm>
            <a:off x="4499993" y="4478486"/>
            <a:ext cx="3672408" cy="2322131"/>
          </a:xfrm>
          <a:prstGeom prst="rect">
            <a:avLst/>
          </a:prstGeom>
        </p:spPr>
      </p:pic>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1831</TotalTime>
  <Words>7302</Words>
  <Application>Microsoft Office PowerPoint</Application>
  <PresentationFormat>如螢幕大小 (4:3)</PresentationFormat>
  <Paragraphs>773</Paragraphs>
  <Slides>30</Slides>
  <Notes>20</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30</vt:i4>
      </vt:variant>
    </vt:vector>
  </HeadingPairs>
  <TitlesOfParts>
    <vt:vector size="40"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1898</cp:revision>
  <cp:lastPrinted>2024-07-30T01:44:15Z</cp:lastPrinted>
  <dcterms:created xsi:type="dcterms:W3CDTF">2019-11-08T03:01:47Z</dcterms:created>
  <dcterms:modified xsi:type="dcterms:W3CDTF">2026-09-23T09:24:14Z</dcterms:modified>
</cp:coreProperties>
</file>