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8"/>
  </p:notesMasterIdLst>
  <p:handoutMasterIdLst>
    <p:handoutMasterId r:id="rId29"/>
  </p:handoutMasterIdLst>
  <p:sldIdLst>
    <p:sldId id="3459" r:id="rId2"/>
    <p:sldId id="3472" r:id="rId3"/>
    <p:sldId id="3502" r:id="rId4"/>
    <p:sldId id="3499" r:id="rId5"/>
    <p:sldId id="3444" r:id="rId6"/>
    <p:sldId id="3493" r:id="rId7"/>
    <p:sldId id="3509" r:id="rId8"/>
    <p:sldId id="3475" r:id="rId9"/>
    <p:sldId id="3470" r:id="rId10"/>
    <p:sldId id="3465" r:id="rId11"/>
    <p:sldId id="3511" r:id="rId12"/>
    <p:sldId id="3512" r:id="rId13"/>
    <p:sldId id="3513" r:id="rId14"/>
    <p:sldId id="3496" r:id="rId15"/>
    <p:sldId id="3508" r:id="rId16"/>
    <p:sldId id="3505" r:id="rId17"/>
    <p:sldId id="3482" r:id="rId18"/>
    <p:sldId id="3507" r:id="rId19"/>
    <p:sldId id="3510" r:id="rId20"/>
    <p:sldId id="3489" r:id="rId21"/>
    <p:sldId id="3495" r:id="rId22"/>
    <p:sldId id="3503" r:id="rId23"/>
    <p:sldId id="3460" r:id="rId24"/>
    <p:sldId id="3504" r:id="rId25"/>
    <p:sldId id="257" r:id="rId26"/>
    <p:sldId id="265" r:id="rId27"/>
  </p:sldIdLst>
  <p:sldSz cx="9144000" cy="6858000" type="screen4x3"/>
  <p:notesSz cx="6797675" cy="992505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Gemm 3 Technical Report" id="{30F6892D-1922-4A88-A82D-8CD0653C5411}">
          <p14:sldIdLst>
            <p14:sldId id="3459"/>
            <p14:sldId id="3472"/>
          </p14:sldIdLst>
        </p14:section>
        <p14:section name="Background Knowledge" id="{C5ADF914-F8F1-4215-8A34-A521DDB15BBF}">
          <p14:sldIdLst>
            <p14:sldId id="3502"/>
            <p14:sldId id="3499"/>
            <p14:sldId id="3444"/>
            <p14:sldId id="3493"/>
            <p14:sldId id="3509"/>
            <p14:sldId id="3475"/>
          </p14:sldIdLst>
        </p14:section>
        <p14:section name="Gemma" id="{5A048767-0D58-44AF-B962-12C29493294F}">
          <p14:sldIdLst>
            <p14:sldId id="3470"/>
            <p14:sldId id="3465"/>
            <p14:sldId id="3511"/>
            <p14:sldId id="3512"/>
            <p14:sldId id="3513"/>
            <p14:sldId id="3496"/>
            <p14:sldId id="3508"/>
            <p14:sldId id="3505"/>
            <p14:sldId id="3482"/>
            <p14:sldId id="3507"/>
            <p14:sldId id="3510"/>
            <p14:sldId id="3489"/>
          </p14:sldIdLst>
        </p14:section>
        <p14:section name="Conclusion" id="{69C35067-BEF2-4B7C-9B54-B6977EB05C72}">
          <p14:sldIdLst>
            <p14:sldId id="3495"/>
            <p14:sldId id="3503"/>
            <p14:sldId id="3460"/>
            <p14:sldId id="3504"/>
            <p14:sldId id="257"/>
            <p14:sldId id="26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147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EF1DDEA-D49D-B2A5-9D83-8BDFFC6C721F}" name="Allen Ni(倪士凱)" initials="AN" userId="S::ani@centrilliontech.com.tw::64a9ee61-01eb-41d1-8925-9f522fa76fb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CBDCA8"/>
    <a:srgbClr val="C5D8A0"/>
    <a:srgbClr val="CCFF66"/>
    <a:srgbClr val="DBFF94"/>
    <a:srgbClr val="DCE6F2"/>
    <a:srgbClr val="FFCCCC"/>
    <a:srgbClr val="FFDDDD"/>
    <a:srgbClr val="F2DCDB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2727" autoAdjust="0"/>
    <p:restoredTop sz="72485" autoAdjust="0"/>
  </p:normalViewPr>
  <p:slideViewPr>
    <p:cSldViewPr>
      <p:cViewPr>
        <p:scale>
          <a:sx n="100" d="100"/>
          <a:sy n="100" d="100"/>
        </p:scale>
        <p:origin x="768" y="594"/>
      </p:cViewPr>
      <p:guideLst>
        <p:guide orient="horz" pos="2160"/>
        <p:guide pos="1474"/>
      </p:guideLst>
    </p:cSldViewPr>
  </p:slideViewPr>
  <p:outlineViewPr>
    <p:cViewPr>
      <p:scale>
        <a:sx n="33" d="100"/>
        <a:sy n="33" d="100"/>
      </p:scale>
      <p:origin x="0" y="-1075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96" d="100"/>
          <a:sy n="96" d="100"/>
        </p:scale>
        <p:origin x="278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8/10/relationships/authors" Target="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8509AA70-DCA8-F2B3-665C-D289623E162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260D9017-2A20-36CB-3124-1CE24A164FF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5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982F7CBC-87DD-4F69-8F50-7ED68F7FF790}" type="datetimeFigureOut">
              <a:rPr lang="zh-TW" altLang="en-US" smtClean="0"/>
              <a:t>2026/7/13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2E2BC4B-E97F-2930-F9D4-22EF7E0E14E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9105500-21C2-E70A-A08C-9E9E3094A4E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5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30EF305C-901E-49EC-B839-B172F948820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1901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50445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863167AA-796B-4B6A-95ED-1C0BCB3E5802}" type="datetimeFigureOut">
              <a:rPr lang="zh-TW" altLang="en-US" smtClean="0"/>
              <a:t>2026/7/13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0" tIns="45714" rIns="91430" bIns="45714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79768" y="4714400"/>
            <a:ext cx="5438140" cy="4466272"/>
          </a:xfrm>
          <a:prstGeom prst="rect">
            <a:avLst/>
          </a:prstGeom>
        </p:spPr>
        <p:txBody>
          <a:bodyPr vert="horz" lIns="91430" tIns="45714" rIns="91430" bIns="45714" rtlCol="0"/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2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50445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E3A6CE5E-F349-486D-8749-82EF2AD71FA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60095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2cm.com.tw/2cm/zh-tw/market/0B0A1A53F59840AA83761E4A97E37E6B" TargetMode="External"/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197421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4B811-902A-94AB-AABB-4CC1382C7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32B768C-5222-29ED-3563-1AFFE32A7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1FC8048-7B6E-7E1E-EC2B-CCC4CC9FF3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endParaRPr kumimoji="0" lang="en-US" altLang="zh-TW" sz="2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4A622D0-F740-070B-33AA-93A0D57A4D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943567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GPT </a:t>
            </a:r>
            <a:r>
              <a:rPr lang="zh-TW" altLang="en-US" dirty="0"/>
              <a:t>是「生成式預先訓練變壓器」（</a:t>
            </a:r>
            <a:r>
              <a:rPr lang="en-US" altLang="zh-TW" dirty="0"/>
              <a:t>Generative Pre-trained Transformer</a:t>
            </a:r>
            <a:r>
              <a:rPr lang="zh-TW" altLang="en-US" dirty="0"/>
              <a:t>）的縮寫。它是由 </a:t>
            </a:r>
            <a:r>
              <a:rPr lang="en-US" altLang="zh-TW" dirty="0"/>
              <a:t>OpenAI </a:t>
            </a:r>
            <a:r>
              <a:rPr lang="zh-TW" altLang="en-US" dirty="0"/>
              <a:t>開發的一種深度學習神經網路模型架構，也是目前全球最知名的 </a:t>
            </a:r>
            <a:r>
              <a:rPr lang="en-US" altLang="zh-TW" dirty="0"/>
              <a:t>AI </a:t>
            </a:r>
            <a:r>
              <a:rPr lang="zh-TW" altLang="en-US" dirty="0"/>
              <a:t>聊天機器人 </a:t>
            </a:r>
            <a:r>
              <a:rPr lang="en-US" altLang="zh-TW" dirty="0"/>
              <a:t>ChatGPT </a:t>
            </a:r>
            <a:r>
              <a:rPr lang="zh-TW" altLang="en-US" dirty="0"/>
              <a:t>的底層核心技術。</a:t>
            </a:r>
            <a:br>
              <a:rPr lang="en-US" altLang="zh-TW" dirty="0"/>
            </a:br>
            <a:br>
              <a:rPr lang="en-US" altLang="zh-TW" dirty="0"/>
            </a:b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在大型語言模型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SFT（監督式微調）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的 6 個步驟。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資料收集與清洗（最關鍵的一步）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 圈內有一句名言：「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Quality is all you need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（品質就是一切）」。少量、高質量的資料，效果遠好於大量、有雜訊的資料。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格式標準化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：將資料轉換為 {"instruction": "...", "input": "...", "output": "..."} 或常見的 Chat 格式（如 OpenAI 的 messages 格式）。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高質量篩選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：剔除語意不通、回答過短、重複度高、或含有錯誤事實的資料。通常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1,000 到 10,000 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高質量對話，就能讓模型有很好的指令遵循能力。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資料 Tokenization（標記化與遮罩）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將文字轉換為模型看得懂的數字（Tokens），並設定訓練遮罩（Mask）。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長度截斷（Truncation）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：根據顯存大小與需求，設定最大序列長度（如 2048 或 4096 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計算遮罩（Data Collator）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：這是 SFT 的特殊之處。在將 Prompt 與 Response 拼接成一條序列時，必須將 Prompt 部分的標籤設為 -100。如此一來，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模型在計算損失（Loss）時只會對「回答」負責，而不會去預測「問題」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微調策略選擇（全參數 vs. PEFT）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根據預算與算力（GPU）選擇微調方式：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全參數微調（Full Fine-Tuning）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：更新模型的所有權重。效果最好、最穩定，但極度消耗顯存，且容易造成模型「災難性遺忘（Catastrophic Forgetting）」。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高效參數微調（PEFT / LoRA / QLoRA）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：凍結原模型所有參數，只在旁邊外掛小矩陣進行訓練。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這是目前企業最常用的主流作法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，能節省 70% 以上的顯存，且單張消費級顯卡（如 RTX 4090）即可執行。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超參數配置與模型訓練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啟動訓練腳本（通常使用 Hugging Face TRL 庫中的 SFTTrainer 或 LLaMA-Factory 框架）。常見的基礎超參數配置如下：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學習率（Learning Rate）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：通常設得很小，全參數約 1e-5 到 2e-5；LoRA 則可設為 1e-4 到 2e-4。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Epochs（訓練輪數）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：一般只需要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到 3 個 Epochs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。過多的輪數會導致模型過擬合（Overfitting），死記硬背訓練集，失去泛化能力。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Batch Size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：透過 Gradient Accumulation Steps（梯度累積）來變相放大 Batch Size，確保訓練穩定。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訓練監控（Loss 觀察）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看指標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：密切注意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Training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與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Validation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黃金曲線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：理想的 SFT Loss 曲線應該是平滑下降，最後收斂在一個合理區間（通常在 1.0 上下，取決於資料集）。如果 Validation Loss 開始反彈上升，說明模型已經過擬合，必須提前終止訓練（Early Stopping）。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6. 模型評估與部署（Evaluation）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自動化評估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：使用測試集（模型沒看過的資料）讓模型回答，並利用大模型（如 GPT-4）進行打分（LLM-as-a-Judge），或使用常識能力基準（如 MMLU、GSM8K）確保模型沒有變笨。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人工盲測（Side-by-Side）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：由人類專家直接對比「微調前」與「微調後」的回答，確認語氣、格式、業務邏輯是否完全對齊目標。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權重合併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：如果使用 LoRA，評估通過後需要將 LoRA 的小矩陣權重與原始 Base 模型合併（Merge），並導出為通用格式（如 Hugging Face 或 GGUF 格式）以便下游部署。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417027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協定的運作核心在於三大架構的合作：主機（Host）、客戶端（Client） 與伺服器（Server）。這三者就如同 AI 任務中的指揮官、聯絡人與執行單位，讓 AI 助理（AI agent）得以安全、即時地連接外部資訊。</a:t>
            </a:r>
          </a:p>
          <a:p>
            <a:pPr fontAlgn="base"/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主機（MCP Host）：指揮中心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主機通常是 AI 應用本身，例如 Claude Desktop, IDEs, 或是其他需要透過 MCP 存取資料的 AI 工具。它負責發出請求、定義任務，可以把它想像為一名總指揮，指派 AI 查詢資料、存取文件或啟用工具。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客戶端（MCP Client）：溝通橋梁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客戶端扮演主機與伺服器之間的溝通媒介，負責將主機的指令準確的轉交給伺服器處理，並將伺服器回傳的結果送回主機，MCP 主機會執行一個或多個 MCP 客戶端，並與 MCP 伺服器進行一對一連結。同時有身份驗證的功能，維持系統通訊的安全性與穩定性。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伺服器（MCP Server）：任務執行者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伺服器的任務是將電腦內的功能（像是資料庫查詢、檔案讀寫、網頁操作）透過一組標準化的指令對外公開。當主機透過 MCP 發出指令時，伺服器就會依據這些指令執行操作，並將結果回傳。</a:t>
            </a:r>
          </a:p>
          <a:p>
            <a:endParaRPr lang="en-US" altLang="zh-TW" dirty="0"/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1600" b="1" u="none" strike="noStrike" dirty="0">
                <a:effectLst/>
              </a:rPr>
              <a:t>AI Model Format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-</a:t>
            </a:r>
            <a:r>
              <a:rPr lang="zh-TW" altLang="en-US" sz="1200" b="1" dirty="0">
                <a:solidFill>
                  <a:prstClr val="black"/>
                </a:solidFill>
                <a:latin typeface="+mn-lt"/>
                <a:ea typeface="+mn-ea"/>
              </a:rPr>
              <a:t> </a:t>
            </a: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GPT Generated Unify Format (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GGUF)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: LLM file format.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</a:t>
            </a:r>
            <a:r>
              <a:rPr kumimoji="0" lang="zh-TW" alt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Open Neuro Network eXchange (ONNX):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AI model file format</a:t>
            </a:r>
            <a:r>
              <a:rPr lang="en-US" altLang="zh-TW" sz="1200" dirty="0">
                <a:solidFill>
                  <a:prstClr val="black"/>
                </a:solidFill>
                <a:latin typeface="+mn-lt"/>
                <a:ea typeface="+mn-ea"/>
              </a:rPr>
              <a:t>, for example YOLO.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375464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正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確觀念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：Graph RAG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直接貼入Context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 一口氣讀完並生成最終答案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在簡報上，您可以強調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"Direct Context Injection"（直接上下文注入）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，這代表資料是以最快、最無損（Lossless）的方式直接賦予 AI 大腦。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2470832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三大雲端巨頭 (Hyper-scalers)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AWS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：提供 Amazon EC2 UltraClusters，部署數萬顆 NVIDIA H100/B200 GPU。同時提供性價比更高的自研 AI 晶片 Trainium（訓練）與 Inferentia（推論）實例。</a:t>
            </a: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 Cloud Platform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：除了NV GPU 外，其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自研 TPU (Tensor Processing Unit)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（如 TPU v5p）。大規模 Transformer 模型與大語言模型（LLM）訓練的算力效率極高。</a:t>
            </a: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MS Azure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：與 OpenAI 深度綁定的算力平台，提供超大規模 NDv5/NDv6 系列 NVIDIA GPU 叢集與微軟自研的 Maia AI 晶片，非常適合大規模分散式訓練。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專屬 AI 算力雲 (AI-First Cloud Providers)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CloreWeave / Lambda Labs: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專注 AI 的新興雲服務商，直接與 NVIDIA 緊密合作，專門提供高效能、低延遲的 GPU 裸金屬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Bare Metal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租賃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價格通常比三大雲巨頭更具競爭力。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228600" indent="-228600">
              <a:buAutoNum type="arabicPeriod"/>
            </a:pP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79951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5B9EE7-D198-3E86-7261-1EC23BEE68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AE37E5C-0304-42CA-3A77-EACC25DBD1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E296902-1C32-C9C1-23F9-AA0A460A70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br>
              <a:rPr lang="zh-TW" altLang="zh-TW" dirty="0"/>
            </a:br>
            <a:endParaRPr lang="zh-TW" altLang="zh-TW" dirty="0"/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228600" indent="-228600">
              <a:buAutoNum type="arabicPeriod"/>
            </a:pP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4FAAD4B-36D3-89B7-CA5D-20CDFA5076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3722610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（從「規模驅動」走向「品質核心」的創新）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近幾年最核心的技術典範轉移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Paradigm Shift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dirty="0"/>
              <a:t>四個趨勢（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數據品質、MoE架構、原生多模態、端側輕量化</a:t>
            </a:r>
            <a:r>
              <a:rPr lang="zh-TW" altLang="zh-TW" dirty="0"/>
              <a:t>）</a:t>
            </a:r>
            <a:endParaRPr lang="en-US" altLang="zh-TW" dirty="0"/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數據面的轉變（Data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：信奉「暴力美學」與對稱擴展定律（Scaling Laws）。當時的思維是：只要把網路上能爬到的資料（無論好壞）通通餵給模型，模型越大、資料越多，實力就越強。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：網路上高質量的人類原生數據快要被吃光了（數據荒危機）。現在的創新在於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數據工程（Data Engineering）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。大家不再比誰的資料量大，而是比誰的資料洗得乾淨、去重做得到位、或是誰能用強大模型生成出更高品質的「合成數據（Synthetic Data）」來餵養新模型 [?]。</a:t>
            </a: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模型架構與算力的轉變（Architecture &amp; Compute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：盲目追求參數模型的體積（例如從 175B 飆升到萬億參數）。這導致訓練和推理（Inference）成本高上天，只有極少數科技巨頭玩得起。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架構的精巧與高效率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。例如轉向「專家混合模型（MoE）」，雖然總參數很大，但每次處理文字時只啟動其中一小部分專家網路；或者專注於優化 3B、8B 的「小語言模型（SLM）」，讓它在極小的體積下，透過高質量的訓練達到逼近大模型的智商。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商業與應用落地面的轉變（Business &amp; Deployment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：大家在實驗室裡刷榜（Benchmark），比拼誰的理論分數高、誰能回答各種刁鑽的常識問題。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：業界更看重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應用的精準度與ROI（投資回報率）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。模型必須能夠精準對齊（Alignment）人類意圖、減少幻覺（Hallucination）、並且能低延遲、低成本地部署在企業內部或使用者的手機、筆電端（On-device AI）。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558571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1. 長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上下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文窗口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128k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遠超 G2的8k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</a:t>
            </a:r>
            <a:endParaRPr lang="en-US" altLang="zh-TW" sz="1200" b="0" i="0" dirty="0">
              <a:solidFill>
                <a:srgbClr val="525151"/>
              </a:solidFill>
              <a:effectLst/>
              <a:latin typeface="Noto Sans TC" panose="020B0200000000000000" pitchFamily="34" charset="-120"/>
              <a:ea typeface="Noto Sans TC" panose="020B0200000000000000" pitchFamily="34" charset="-120"/>
            </a:endParaRPr>
          </a:p>
          <a:p>
            <a:pPr algn="just" latinLnBrk="0">
              <a:spcAft>
                <a:spcPts val="1875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2.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多模態能力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支援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文字處理與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圖像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內建 SigLIP 視覺編碼器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 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能夠處理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高清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圖像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圖片分析、OCR、圖像問答等應用。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3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跨語言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能力：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全新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分詞器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Tokenizer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與多語言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(35~140)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支持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。Google 強調，這將幫助開發者打造更國際化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翻譯能力。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4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 單加速器運行優化，適用 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GPU(NV&amp;AMD),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TPU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Google 強調 Gemma 3 是「世界上最好的單加速器模型」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特化在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單一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晶片發揮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高效能的 AI 應用。</a:t>
            </a:r>
            <a:endParaRPr lang="en-US" altLang="zh-TW" sz="1200" b="0" i="0" dirty="0">
              <a:solidFill>
                <a:srgbClr val="525151"/>
              </a:solidFill>
              <a:effectLst/>
              <a:latin typeface="Noto Sans TC" panose="020B0200000000000000" pitchFamily="34" charset="-120"/>
              <a:ea typeface="Noto Sans TC" panose="020B0200000000000000" pitchFamily="34" charset="-12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875"/>
              </a:spcBef>
              <a:spcAft>
                <a:spcPts val="150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5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 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可調式框架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支援多種邊緣平台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手機平板筆電桌機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1B,4B,12B,27B).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6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 支援函數呼叫與結構化輸出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提升AI Agent 智能化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Gemma 3 內建函數呼叫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Function Calling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與結構化輸出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Structured Output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使 AI 能夠更準確地與應用程式互動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適用於自動化工作流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AI Agent 開發。</a:t>
            </a:r>
          </a:p>
          <a:p>
            <a:br>
              <a:rPr lang="en-US" altLang="zh-TW" dirty="0"/>
            </a:br>
            <a:r>
              <a:rPr lang="zh-TW" altLang="en-US" dirty="0"/>
              <a:t>量化壓縮技術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位元</a:t>
            </a:r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1357069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/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常見的輕量化技術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知識蒸餾（Knowledge Distillation）：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讓參數量較少的小型模型（學生）模仿大型模型（老師）的行為，從中學習複雜的語言推理能力。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模型量化（Quantization）：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將模型權重（Weights）從高精度（如 16-bit 浮點數）降低到低精度（如 8-bit 或 4-bit 整數），大幅減少記憶體佔用。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參數剪枝（Pruning）：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移除模型中對預測結果影響較小、冗餘的神經元與連接。</a:t>
            </a:r>
          </a:p>
          <a:p>
            <a:br>
              <a:rPr lang="en-US" altLang="zh-TW" dirty="0"/>
            </a:br>
            <a:br>
              <a:rPr lang="en-US" altLang="zh-TW" dirty="0"/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層級嵌入 (Per-Layer Embeddings, PLE)</a:t>
            </a:r>
            <a:r>
              <a:rPr lang="zh-TW" altLang="zh-TW" dirty="0"/>
              <a:t> 是 AI 模型（如 Google 的 Gemma 4 等語言模型）中的一種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記憶體優化技術</a:t>
            </a:r>
            <a:r>
              <a:rPr lang="zh-TW" altLang="zh-TW" dirty="0"/>
              <a:t>。它為模型的每一層提供獨立的低維度特徵訊號，讓小尺寸模型能以更少參數獲得更精準的特化能力，從而提升邊緣裝置（如手機、筆電）上的執行效率。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194957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135A63-1F05-BE35-5E13-B3A3999C63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46AC000-B44B-7302-0955-04C9F17651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1B94F7D-E714-7BBA-99A5-DED233F44A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SGD (Stochastic Gradient Descent)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：記憶體佔用極低。除了模型參數本身，只需要額外儲存 1 份動量（Momentum）數據。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：如果各參數的梯度尺度差異很大（例如 LLM 這種巨型網絡），固定學習率很難收斂，調參非常痛苦。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Standard Adam (Adaptive Moment Estimation)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：為每個參數精準調整步長，收斂速度極快。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：在加入 L2 正規化（Weight Decay）時，其數學公式會把權重衰減與梯度放在一起計算，導致權重並未如預期般衰減，容易過擬合。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AdamW (Adam with Weight Decoupled)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：完美解決了 Adam 的 L2 正規化問題。它將權重衰減的步驟獨立出來，既保留了 Adam 快速收斂的特性，又大幅提升了模型的泛化能力（Generalization）。目前 95% 以上的 LLM（如 LLaMA, GPT 系列）預訓練預設都用它。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：非常吃顯存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VRAM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。除了模型參數，它還必須在顯存中常駐一階矩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FP32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和二階矩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FP32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這往往是顯存爆炸的主因。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Paged AdamW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：數學邏輯與 AdamW 完全相同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但它允許 GPU 在顯存不夠時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把 AdamW 的優化器狀態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一、二階矩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暫時換出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Page-out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到電腦的系統記憶體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中。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：因為資料需要透過 PCIe 總線在 GPU 和 CPU 之間來回搬運，訓練速度會比原生 AdamW 慢 10% ~ 30% 不等。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12914AF-2576-0CFB-E0DF-B86101C5A9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817818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B6FAF2-1A46-CEF0-E2BB-D0CC27EB02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CCB1260-8FF3-487B-6D1C-E2CD8DFC30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4ACC8F22-6BDB-E906-4576-3211F0FB76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5DA66C0-B0B0-3065-045C-6253851892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7602973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9DC824-8DE8-9B3A-D261-5FDDDFD8C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82F10EC9-6D84-2594-7CA2-B70B0D265D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9C2F833-7937-96D1-DC9C-B8C71BD9A1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Pre-Training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是為了學語言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是為了懂目的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人類意圖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</a:p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在大型語言模型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SFT（監督式微調）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的 6 個步驟。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資料收集與清洗（最關鍵的一步）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 圈內有一句名言：「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Quality is all you need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（品質就是一切）」。少量、高質量的資料，效果遠好於大量、有雜訊的資料。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格式標準化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：將資料轉換為 {"instruction": "...", "input": "...", "output": "..."} 或常見的 Chat 格式（如 OpenAI 的 messages 格式）。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高質量篩選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：剔除語意不通、回答過短、重複度高、或含有錯誤事實的資料。通常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1,000 到 10,000 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高質量對話，就能讓模型有很好的指令遵循能力。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資料 Tokenization（標記化與遮罩）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將文字轉換為模型看得懂的數字（Tokens），並設定訓練遮罩（Mask）。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長度截斷（Truncation）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：根據顯存大小與需求，設定最大序列長度（如 2048 或 4096 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計算遮罩（Data Collator）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：這是 SFT 的特殊之處。在將 Prompt 與 Response 拼接成一條序列時，必須將 Prompt 部分的標籤設為 -100。如此一來，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模型在計算損失（Loss）時只會對「回答」負責，而不會去預測「問題」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微調策略選擇（全參數 vs. PEFT）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根據預算與算力（GPU）選擇微調方式：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全參數微調（Full Fine-Tuning）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：更新模型的所有權重。效果最好、最穩定，但極度消耗顯存，且容易造成模型「災難性遺忘（Catastrophic Forgetting）」。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高效參數微調（PEFT / LoRA / QLoRA）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：凍結原模型所有參數，只在旁邊外掛小矩陣進行訓練。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這是目前企業最常用的主流作法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，能節省 70% 以上的顯存，且單張消費級顯卡（如 RTX 4090）即可執行。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超參數配置與模型訓練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啟動訓練腳本（通常使用 Hugging Face TRL 庫中的 SFTTrainer 或 LLaMA-Factory 框架）。常見的基礎超參數配置如下：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學習率（Learning Rate）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：通常設得很小，全參數約 1e-5 到 2e-5；LoRA 則可設為 1e-4 到 2e-4。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Epochs（訓練輪數）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：一般只需要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到 3 個 Epochs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。過多的輪數會導致模型過擬合（Overfitting），死記硬背訓練集，失去泛化能力。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Batch Size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：透過 Gradient Accumulation Steps（梯度累積）來變相放大 Batch Size，確保訓練穩定。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訓練監控（Loss 觀察）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看指標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：密切注意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Training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與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Validation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黃金曲線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：理想的 SFT Loss 曲線應該是平滑下降，最後收斂在一個合理區間（通常在 1.0 上下，取決於資料集）。如果 Validation Loss 開始反彈上升，說明模型已經過擬合，必須提前終止訓練（Early Stopping）。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6. 模型評估與部署（Evaluation）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自動化評估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：使用測試集（模型沒看過的資料）讓模型回答，並利用大模型（如 GPT-4）進行打分（LLM-as-a-Judge），或使用常識能力基準（如 MMLU、GSM8K）確保模型沒有變笨。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人工盲測（Side-by-Side）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：由人類專家直接對比「微調前」與「微調後」的回答，確認語氣、格式、業務邏輯是否完全對齊目標。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權重合併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：如果使用 LoRA，評估通過後需要將 LoRA 的小矩陣權重與原始 Base 模型合併（Merge），並導出為通用格式（如 Hugging Face 或 GGUF 格式）以便下游部署。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52A64DC-EC93-A8FC-41B2-21495D710D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6222506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D54F47-EB16-CF9A-FCFF-DF2AD4D511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CC17BE60-1458-7CB6-6A3B-0C2306A6A3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23776AC-C5C8-7B6F-7DF3-8766D0147A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1. 長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上下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文窗口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128k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遠超 G2的8k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</a:t>
            </a:r>
            <a:endParaRPr lang="en-US" altLang="zh-TW" sz="1200" b="0" i="0" dirty="0">
              <a:solidFill>
                <a:srgbClr val="525151"/>
              </a:solidFill>
              <a:effectLst/>
              <a:latin typeface="Noto Sans TC" panose="020B0200000000000000" pitchFamily="34" charset="-120"/>
              <a:ea typeface="Noto Sans TC" panose="020B0200000000000000" pitchFamily="34" charset="-120"/>
            </a:endParaRPr>
          </a:p>
          <a:p>
            <a:pPr algn="just" latinLnBrk="0">
              <a:spcAft>
                <a:spcPts val="1875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2.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多模態能力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支援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文字處理與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圖像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內建 SigLIP 視覺編碼器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 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能夠處理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高清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圖像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圖片分析、OCR、圖像問答等應用。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3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跨語言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能力：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全新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分詞器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Tokenizer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與多語言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(35~140)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支持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。Google 強調，這將幫助開發者打造更國際化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翻譯能力。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4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 單加速器運行優化，適用 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GPU(NV&amp;AMD),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TPU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Google 強調 Gemma 3 是「世界上最好的單加速器模型」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特化在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單一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晶片發揮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高效能的 AI 應用。</a:t>
            </a:r>
            <a:endParaRPr lang="en-US" altLang="zh-TW" sz="1200" b="0" i="0" dirty="0">
              <a:solidFill>
                <a:srgbClr val="525151"/>
              </a:solidFill>
              <a:effectLst/>
              <a:latin typeface="Noto Sans TC" panose="020B0200000000000000" pitchFamily="34" charset="-120"/>
              <a:ea typeface="Noto Sans TC" panose="020B0200000000000000" pitchFamily="34" charset="-12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875"/>
              </a:spcBef>
              <a:spcAft>
                <a:spcPts val="150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5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 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可調式框架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支援多種邊緣平台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手機平板筆電桌機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1B,4B,12B,27B).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6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 支援函數呼叫與結構化輸出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提升AI Agent 智能化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Gemma 3 內建函數呼叫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Function Calling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與結構化輸出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Structured Output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使 AI 能夠更準確地與應用程式互動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適用於自動化工作流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AI Agent 開發。</a:t>
            </a:r>
          </a:p>
          <a:p>
            <a:br>
              <a:rPr lang="en-US" altLang="zh-TW" dirty="0"/>
            </a:br>
            <a:r>
              <a:rPr lang="zh-TW" altLang="en-US" dirty="0"/>
              <a:t>量化壓縮技術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位元</a:t>
            </a:r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0F1D1C7-02E8-655A-2FFA-6E583B237D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0399558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C391CA-EAA5-61AA-976B-D0A473DBC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2BB17E1F-7486-345D-4CF1-A610F24F04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5FB8F9B-73BE-4DBC-4418-A5E1151339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27E670B-4E94-5D0F-9125-795575CD83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2186179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795CE-C2D6-9D16-6D14-69ACBE531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3352CE7-F871-B339-F340-2B51478FA4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6C8E757-4B05-165E-1607-0BCD6DE544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en-US" altLang="zh-TW" dirty="0"/>
            </a:br>
            <a:r>
              <a:rPr lang="en-US" altLang="zh-TW" dirty="0"/>
              <a:t>Gemma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 </a:t>
            </a:r>
            <a:r>
              <a:rPr lang="en-US" altLang="zh-TW" dirty="0"/>
              <a:t>12B</a:t>
            </a:r>
            <a:r>
              <a:rPr lang="zh-TW" altLang="en-US" dirty="0"/>
              <a:t> 統一架構</a:t>
            </a:r>
            <a:r>
              <a:rPr lang="en-US" altLang="zh-TW" dirty="0"/>
              <a:t>,</a:t>
            </a:r>
            <a:r>
              <a:rPr lang="zh-TW" altLang="en-US" dirty="0"/>
              <a:t> </a:t>
            </a:r>
            <a:r>
              <a:rPr lang="zh-TW" altLang="zh-TW" dirty="0"/>
              <a:t>層級嵌入 PLE</a:t>
            </a:r>
            <a:endParaRPr lang="zh-TW" altLang="en-US" dirty="0"/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多模態 AI 的架構簡介（從傳統到現代）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要在同一個 AI 模型裡同時塞入「文字、圖片、聲音」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技術架構經歷了兩個世代演變：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傳統架構：橋接法 (Encoder-based Architecture)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以往的 LLaVA 或舊型多模態模型，就像是「拼裝車」：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外掛多個編編碼器 (Encoders)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：文字有文字的處理器、圖片有專屬的視覺編碼器（如 CLIP）、聲音有語音編碼器。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對齊層 (Projection Layer)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：中間用一個轉換層，把圖片和聲音的訊號「強行翻譯」成文字看得懂的向量。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丟入 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：最後才餵給主要的大型語言模型。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：編碼器體積龐大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數億參數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、會卡死微調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Fine-tuning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的彈性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且在轉換過程中容易漏掉細節。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現代/未來架構：原生統一法 (Native Unified / Encoder-Free Architecture)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這也是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Gemma 4 的核心突破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！科學家發現，不需要外掛這麼多編碼器，主要的大腦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本質上就夠聰明了。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直接線性投影 (Linear Projection)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：圖片或聲音不經過外部編碼器加工，直接切碎並透過一個極輕量的線性模組轉成標記（Tokens）。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一體化推論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：多種模態的資料直接在同一個核心架構（Backbone）裡混合、計算。 </a:t>
            </a: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：推論速度極快、模型體積大幅縮小，而且文字、圖片、音訊可以完美融合在同一個資料流中，大幅降低硬體門檻。</a:t>
            </a:r>
          </a:p>
          <a:p>
            <a:endParaRPr lang="en-US" altLang="zh-TW" dirty="0"/>
          </a:p>
          <a:p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memory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用量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計算用電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如何知道級距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用雲端服務建立準線。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86E7571-A4C4-1EDD-1D49-0CFA2F6F94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640092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828A26-A7E8-D5C0-AE42-858A1A4AC3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75C3146-6C14-ADE0-D10D-F395043FF0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1829DC5B-9C1C-7C3E-50C5-CB12EFDA45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en-US" altLang="zh-TW" dirty="0"/>
            </a:br>
            <a:r>
              <a:rPr lang="en-US" altLang="zh-TW" dirty="0"/>
              <a:t>Gemma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 </a:t>
            </a:r>
            <a:r>
              <a:rPr lang="en-US" altLang="zh-TW" dirty="0"/>
              <a:t>12B</a:t>
            </a:r>
            <a:r>
              <a:rPr lang="zh-TW" altLang="en-US" dirty="0"/>
              <a:t> 統一架構</a:t>
            </a:r>
            <a:r>
              <a:rPr lang="en-US" altLang="zh-TW" dirty="0"/>
              <a:t>,</a:t>
            </a:r>
            <a:r>
              <a:rPr lang="zh-TW" altLang="en-US" dirty="0"/>
              <a:t> </a:t>
            </a:r>
            <a:r>
              <a:rPr lang="zh-TW" altLang="zh-TW" dirty="0"/>
              <a:t>層級嵌入 PLE</a:t>
            </a:r>
            <a:endParaRPr lang="zh-TW" altLang="en-US" dirty="0"/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多模態 AI 的架構簡介（從傳統到現代）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要在同一個 AI 模型裡同時塞入「文字、圖片、聲音」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技術架構經歷了兩個世代演變：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傳統架構：橋接法 (Encoder-based Architecture)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以往的 LLaVA 或舊型多模態模型，就像是「拼裝車」：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外掛多個編編碼器 (Encoders)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：文字有文字的處理器、圖片有專屬的視覺編碼器（如 CLIP）、聲音有語音編碼器。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對齊層 (Projection Layer)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：中間用一個轉換層，把圖片和聲音的訊號「強行翻譯」成文字看得懂的向量。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丟入 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：最後才餵給主要的大型語言模型。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：編碼器體積龐大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數億參數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、會卡死微調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Fine-tuning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的彈性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且在轉換過程中容易漏掉細節。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現代/未來架構：原生統一法 (Native Unified / Encoder-Free Architecture)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這也是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Gemma 4 的核心突破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！科學家發現，不需要外掛這麼多編碼器，主要的大腦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本質上就夠聰明了。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直接線性投影 (Linear Projection)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：圖片或聲音不經過外部編碼器加工，直接切碎並透過一個極輕量的線性模組轉成標記（Tokens）。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一體化推論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：多種模態的資料直接在同一個核心架構（Backbone）裡混合、計算。 </a:t>
            </a: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：推論速度極快、模型體積大幅縮小，而且文字、圖片、音訊可以完美融合在同一個資料流中，大幅降低硬體門檻。</a:t>
            </a:r>
          </a:p>
          <a:p>
            <a:endParaRPr lang="en-US" altLang="zh-TW" dirty="0"/>
          </a:p>
          <a:p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memory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用量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計算用電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如何知道級距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用雲端服務建立準線。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87DDA03-C392-EE78-26FB-6162975848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714404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dirty="0"/>
              <a:t>近年來「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總參數量</a:t>
            </a:r>
            <a:r>
              <a:rPr lang="zh-TW" altLang="zh-TW" dirty="0"/>
              <a:t>」已不等於「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實際運算量</a:t>
            </a:r>
            <a:r>
              <a:rPr lang="zh-TW" altLang="zh-TW" dirty="0"/>
              <a:t>」，因為許多模型採用了 MoE 技術，讓模型雖然體積龐大，但每次處理一個字（Token）時只需要啟動一小部分參數。</a:t>
            </a:r>
            <a:endParaRPr lang="en-US" altLang="zh-TW" dirty="0"/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DeepSeek 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極致的硬體成本效益（Cost-Effective）與演算法魔改</a:t>
            </a:r>
            <a:r>
              <a:rPr lang="zh-TW" altLang="zh-TW" dirty="0"/>
              <a:t>；</a:t>
            </a:r>
            <a:br>
              <a:rPr lang="en-US" altLang="zh-TW" dirty="0"/>
            </a:br>
            <a:r>
              <a:rPr lang="zh-TW" altLang="zh-TW" dirty="0"/>
              <a:t>Meta Llama 則追求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標準化、極致的架構穩定性（Scalability）與對開源生態的絕對相容</a:t>
            </a:r>
            <a:r>
              <a:rPr lang="zh-TW" altLang="zh-TW" dirty="0"/>
              <a:t>。</a:t>
            </a:r>
            <a:br>
              <a:rPr lang="en-US" altLang="zh-TW" dirty="0"/>
            </a:br>
            <a:br>
              <a:rPr lang="en-US" altLang="zh-TW" dirty="0"/>
            </a:br>
            <a:r>
              <a:rPr lang="en-US" altLang="zh-TW" dirty="0"/>
              <a:t>AWS Trainium </a:t>
            </a:r>
            <a:r>
              <a:rPr lang="zh-TW" altLang="en-US" dirty="0"/>
              <a:t>與 </a:t>
            </a:r>
            <a:r>
              <a:rPr lang="en-US" altLang="zh-TW" dirty="0"/>
              <a:t>AWS Graviton </a:t>
            </a:r>
            <a:r>
              <a:rPr lang="zh-TW" altLang="en-US" dirty="0"/>
              <a:t>是亞馬遜自研晶片體系中的兩大核心。</a:t>
            </a:r>
            <a:endParaRPr lang="en-US" altLang="zh-TW" dirty="0"/>
          </a:p>
          <a:p>
            <a:r>
              <a:rPr lang="en-US" altLang="zh-TW" dirty="0"/>
              <a:t>Graviton </a:t>
            </a:r>
            <a:r>
              <a:rPr lang="zh-TW" altLang="en-US" dirty="0"/>
              <a:t>是通用型 </a:t>
            </a:r>
            <a:r>
              <a:rPr lang="en-US" altLang="zh-TW" dirty="0"/>
              <a:t>CPU,</a:t>
            </a:r>
            <a:r>
              <a:rPr lang="zh-TW" altLang="en-US" dirty="0"/>
              <a:t> 負責處理日常雲端運算與後台任務；</a:t>
            </a:r>
            <a:endParaRPr lang="en-US" altLang="zh-TW" dirty="0"/>
          </a:p>
          <a:p>
            <a:r>
              <a:rPr lang="en-US" altLang="zh-TW" dirty="0"/>
              <a:t>Trainium </a:t>
            </a:r>
            <a:r>
              <a:rPr lang="zh-TW" altLang="en-US" dirty="0"/>
              <a:t>是專門的 </a:t>
            </a:r>
            <a:r>
              <a:rPr lang="en-US" altLang="zh-TW" dirty="0"/>
              <a:t>AI </a:t>
            </a:r>
            <a:r>
              <a:rPr lang="zh-TW" altLang="en-US" dirty="0"/>
              <a:t>加速晶片</a:t>
            </a:r>
            <a:r>
              <a:rPr lang="en-US" altLang="zh-TW" dirty="0"/>
              <a:t>, </a:t>
            </a:r>
            <a:r>
              <a:rPr lang="zh-TW" altLang="en-US" dirty="0"/>
              <a:t>專為大型 </a:t>
            </a:r>
            <a:r>
              <a:rPr lang="en-US" altLang="zh-TW" dirty="0"/>
              <a:t>AI </a:t>
            </a:r>
            <a:r>
              <a:rPr lang="zh-TW" altLang="en-US" dirty="0"/>
              <a:t>模型的訓練與密集運算而生。</a:t>
            </a:r>
          </a:p>
          <a:p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3513366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ONNX（Open Neural Network Exchange，開放神經網路交換）是由微軟與 Meta（Facebook）等科技巨頭主導的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開源機器學習模型通用格式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它允許開發者將在 PyTorch、TensorFlow 或 Scikit-learn 等不同框架中訓練出的模型，轉換為統一的結構，以便在各種硬體和平台上進行高效能部署。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跨平台互通性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簡化部署流程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硬體加速效能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 將機器學習模型具象化為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計算圖（Computation Graph）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儲存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網路的架構、權重與資料流向。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7662324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一、 5 大核心模型能力維度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邏輯與推理能力 (Reasoning &amp; Math)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這是區分「頂級模型」與「一般模型」的關鍵試金石。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：數學多步驟計算、程式碼編寫與 Debug、邏輯悖論破解。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GSM8K / MATH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：評估小學到高中程度的數學應用題解答能力。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HumanEval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：測試模型編寫 Python 程式碼的正確率。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語言理解與知識儲存 (Knowledge &amp; Language)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評估模型在文史、科學、醫學等各領域知識的廣度，以及對複雜語意的理解。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：多選題測試、長文字摘要、隱喻與幽默感理解。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MMLU (Massive Multitask Language Understanding)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：跨越人文、社科、硬科學等幾十個學科的綜合測試（目前最指標性的綜合評測）。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指令遵循與結構化輸出 (Instruction Following)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在將模型導入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 Flow 工作流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時，這項能力最為關鍵。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：能否嚴格遵守字數限制、格式限制（例如：只輸出 JSON，不要講廢話）、多重條件過濾。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IFEval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：嚴格測試模型對於「第 1 段必須以 A 開頭、總字數小於 400 字」這類格式指令的遵循率。</a:t>
            </a: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長文本處理與上下文檢索 (Long-Context &amp; Retrieval)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測試模型在處理數萬字甚至百萬字資料時，是否會「忘東忘西」。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：長篇合約審查、長書摘要、大海撈針測試。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Needle In A Haystack (NIAH)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：將一句無關緊要的話（針）藏在數十萬字的文本（大海）中，測試模型能否精準抓出。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對齊與安全性 (Alignment &amp; Safety)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評估模型是否符合人類價值觀，以及對惡意引導（Jailbreak）的防禦力。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：拒絕回答有害問題（如炸彈製作）、不產生偏見、降低幻覺機率。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TruthfulQA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：測試模型回答是否真實，而非順著人類的迷思或謠言瞎編。</a:t>
            </a:r>
          </a:p>
          <a:p>
            <a:br>
              <a:rPr lang="en-US" altLang="zh-TW" dirty="0"/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二、 2 大實務工程指標（落地必看）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除了上述大腦能力的測試，實務上部署時還必須評估以下兩點：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吞吐量與延遲 (Throughput &amp; Latency)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TTFT (Time to First Token)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：模型吐出第一個字的速度（越快用戶體驗越好）。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TPS (Tokens Per Second)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：每秒能生成多少個字（攸關整體流程執行的速度）。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成本與性價比 (Cost Efficiency)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</a:p>
          <a:p>
            <a:pPr lvl="1"/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每百萬 Token 的輸入/輸出費用。例如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DeepSeek R1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或 各家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Flash 模型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常以極低的成本提供逼近旗艦模型的效能。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9490002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ONNX?</a:t>
            </a:r>
            <a:r>
              <a:rPr lang="zh-TW" altLang="en-US" dirty="0"/>
              <a:t> 有誰支持</a:t>
            </a:r>
            <a:r>
              <a:rPr lang="en-US" altLang="zh-TW" dirty="0"/>
              <a:t>, </a:t>
            </a:r>
            <a:r>
              <a:rPr lang="zh-TW" altLang="en-US" dirty="0"/>
              <a:t>影響為何</a:t>
            </a:r>
            <a:r>
              <a:rPr lang="en-US" altLang="zh-TW" dirty="0"/>
              <a:t>?</a:t>
            </a:r>
            <a:r>
              <a:rPr lang="zh-TW" altLang="en-US" dirty="0"/>
              <a:t> 架構如何</a:t>
            </a:r>
            <a:r>
              <a:rPr lang="en-US" altLang="zh-TW" dirty="0"/>
              <a:t>?</a:t>
            </a:r>
            <a:r>
              <a:rPr lang="zh-TW" altLang="en-US" dirty="0"/>
              <a:t> 目前發展</a:t>
            </a:r>
            <a:r>
              <a:rPr lang="en-US" altLang="zh-TW" dirty="0"/>
              <a:t>(</a:t>
            </a:r>
            <a:r>
              <a:rPr lang="zh-TW" altLang="en-US" dirty="0"/>
              <a:t>世界大廠</a:t>
            </a:r>
            <a:r>
              <a:rPr lang="en-US" altLang="zh-TW" dirty="0"/>
              <a:t>,</a:t>
            </a:r>
            <a:r>
              <a:rPr lang="zh-TW" altLang="en-US" dirty="0"/>
              <a:t> 台灣的機會</a:t>
            </a:r>
            <a:r>
              <a:rPr lang="en-US" altLang="zh-TW" dirty="0"/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名稱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本質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比喻負責任務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檔案格式規格通用外語定義模型的標準結構與算子，讓不同框架可以互相轉換。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 Runtime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軟體推論引擎同聲傳譯員偏向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軟體層面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，在常見的 CPU/GPU 上直接載入並即時執行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推論模型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br>
              <a:rPr lang="en-US" altLang="zh-TW" sz="1600" b="1" dirty="0"/>
            </a:br>
            <a:r>
              <a:rPr lang="en-US" altLang="zh-TW" sz="1600" b="1" dirty="0"/>
              <a:t>Environment (What you will get and see?)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200" b="1" dirty="0">
                <a:solidFill>
                  <a:prstClr val="black"/>
                </a:solidFill>
              </a:rPr>
              <a:t>File Format</a:t>
            </a:r>
            <a:r>
              <a:rPr lang="en-US" altLang="zh-TW" sz="1200" dirty="0">
                <a:solidFill>
                  <a:prstClr val="black"/>
                </a:solidFill>
              </a:rPr>
              <a:t>: GGUF and ONNX(Open Neural Network eXchange).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Directory: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Model and  … 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9653179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dirty="0"/>
              <a:t>以下為你將所有與 AI Agent 相關的專有名詞，由原本的表格形式全部改為</a:t>
            </a:r>
            <a:r>
              <a:rPr lang="zh-TW" altLang="zh-TW" b="1" dirty="0"/>
              <a:t>純文字列表</a:t>
            </a:r>
            <a:r>
              <a:rPr lang="zh-TW" altLang="zh-TW" dirty="0"/>
              <a:t>呈現。</a:t>
            </a:r>
          </a:p>
          <a:p>
            <a:r>
              <a:rPr lang="zh-TW" altLang="zh-TW" dirty="0"/>
              <a:t>每個項目均嚴格包含：</a:t>
            </a:r>
            <a:r>
              <a:rPr lang="zh-TW" altLang="zh-TW" b="1" dirty="0"/>
              <a:t>縮寫 / 名詞、英文全稱、繁體中文、中文說明</a:t>
            </a:r>
            <a:r>
              <a:rPr lang="zh-TW" altLang="zh-TW" dirty="0"/>
              <a:t>，並透過區塊與粗體維持極佳的 scannability（可讀性），方便你直接複製使用。</a:t>
            </a:r>
          </a:p>
          <a:p>
            <a:r>
              <a:rPr lang="zh-TW" altLang="zh-TW" b="1" dirty="0"/>
              <a:t>一、 核心架構與模型層 (Core Architecture &amp; Models)</a:t>
            </a:r>
          </a:p>
          <a:p>
            <a:r>
              <a:rPr lang="zh-TW" altLang="zh-TW" b="1" dirty="0"/>
              <a:t>Agent</a:t>
            </a:r>
            <a:r>
              <a:rPr lang="zh-TW" altLang="zh-TW" dirty="0"/>
              <a:t> (AI Agent / Autonomous Agent) —— 人工智慧代理 / 自主代理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具備感知、思考、自主規劃並能調用工具操作現實的 AI 實體。</a:t>
            </a:r>
          </a:p>
          <a:p>
            <a:r>
              <a:rPr lang="zh-TW" altLang="zh-TW" b="1" dirty="0"/>
              <a:t>LLM</a:t>
            </a:r>
            <a:r>
              <a:rPr lang="zh-TW" altLang="zh-TW" dirty="0"/>
              <a:t> (Large Language Model) —— 大型語言模型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的核心大腦，負責語言理解、常識推理與決策。</a:t>
            </a:r>
          </a:p>
          <a:p>
            <a:r>
              <a:rPr lang="zh-TW" altLang="zh-TW" b="1" dirty="0"/>
              <a:t>VLM / MLLM</a:t>
            </a:r>
            <a:r>
              <a:rPr lang="zh-TW" altLang="zh-TW" dirty="0"/>
              <a:t> (Vision-Language Model / Multi-modal LLM) —— 視覺語言模型 / 多模態大模型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賦予 Agent 眼睛（看懂螢幕截圖、網頁 UI 或真實世界影像）的大腦。</a:t>
            </a:r>
          </a:p>
          <a:p>
            <a:r>
              <a:rPr lang="zh-TW" altLang="zh-TW" b="1" dirty="0"/>
              <a:t>SLM</a:t>
            </a:r>
            <a:r>
              <a:rPr lang="zh-TW" altLang="zh-TW" dirty="0"/>
              <a:t> (Small Language Model) —— 小型語言模型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輕量化模型，常用於端點設備（Edge）或專職執行單一工具的邊緣 Agent。</a:t>
            </a:r>
          </a:p>
          <a:p>
            <a:r>
              <a:rPr lang="zh-TW" altLang="zh-TW" b="1" dirty="0"/>
              <a:t>HITL</a:t>
            </a:r>
            <a:r>
              <a:rPr lang="zh-TW" altLang="zh-TW" dirty="0"/>
              <a:t> (Human-in-the-Loop) —— 人類在環 / 人機協同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在 Agent 循環中加入人工作為審查、確認或中斷的防禦機制。</a:t>
            </a:r>
          </a:p>
          <a:p>
            <a:r>
              <a:rPr lang="zh-TW" altLang="zh-TW" b="1" dirty="0"/>
              <a:t>Embodied AI</a:t>
            </a:r>
            <a:r>
              <a:rPr lang="zh-TW" altLang="zh-TW" dirty="0"/>
              <a:t> (Embodied Artificial Intelligence) —— 具身智能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 Agent 大腦注入到物理實體（如機器人、無人機）中，使其具備操作物理世界的能力。</a:t>
            </a:r>
          </a:p>
          <a:p>
            <a:r>
              <a:rPr lang="zh-TW" altLang="zh-TW" b="1" dirty="0"/>
              <a:t>Substrate</a:t>
            </a:r>
            <a:r>
              <a:rPr lang="zh-TW" altLang="zh-TW" dirty="0"/>
              <a:t> (Substrate) —— 底層載體 / 介質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指 AI 運行的環境基礎（如「碳基」代表人類肉身、「矽基」代表數位電腦晶片）。</a:t>
            </a:r>
          </a:p>
          <a:p>
            <a:r>
              <a:rPr lang="zh-TW" altLang="zh-TW" b="1" dirty="0"/>
              <a:t>二、 自主規劃與推理框架 (Planning &amp; Reasoning)</a:t>
            </a:r>
          </a:p>
          <a:p>
            <a:r>
              <a:rPr lang="zh-TW" altLang="zh-TW" b="1" dirty="0"/>
              <a:t>ReAct</a:t>
            </a:r>
            <a:r>
              <a:rPr lang="zh-TW" altLang="zh-TW" dirty="0"/>
              <a:t> (Reasoning and Acting) —— 推理與行動框架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最經典的底層邏輯——交替進行「思考（Thought）」➔「行動（Action）」➔「觀察反饋（Observation）」。</a:t>
            </a:r>
          </a:p>
          <a:p>
            <a:r>
              <a:rPr lang="zh-TW" altLang="zh-TW" b="1" dirty="0"/>
              <a:t>CoT</a:t>
            </a:r>
            <a:r>
              <a:rPr lang="zh-TW" altLang="zh-TW" dirty="0"/>
              <a:t> (Chain of Thought) —— 思維鏈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引導大腦將複雜問題拆解，一步步寫出推理過程（"Let's think step by step"）。</a:t>
            </a:r>
          </a:p>
          <a:p>
            <a:r>
              <a:rPr lang="zh-TW" altLang="zh-TW" b="1" dirty="0"/>
              <a:t>ToT</a:t>
            </a:r>
            <a:r>
              <a:rPr lang="zh-TW" altLang="zh-TW" dirty="0"/>
              <a:t> (Tree of Thoughts) —— 思維樹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大腦在規劃時探索多條可能的決策路徑，並具備回溯（Backtracking）與評估能力。</a:t>
            </a:r>
          </a:p>
          <a:p>
            <a:r>
              <a:rPr lang="zh-TW" altLang="zh-TW" b="1" dirty="0"/>
              <a:t>GoT</a:t>
            </a:r>
            <a:r>
              <a:rPr lang="zh-TW" altLang="zh-TW" dirty="0"/>
              <a:t> (Graph of Thoughts) —— 思維圖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允許不同的思維網絡互相交織、結合或分岔，模擬人類大腦更複雜的非線性思考。</a:t>
            </a:r>
          </a:p>
          <a:p>
            <a:r>
              <a:rPr lang="zh-TW" altLang="zh-TW" b="1" dirty="0"/>
              <a:t>Reflexion</a:t>
            </a:r>
            <a:r>
              <a:rPr lang="zh-TW" altLang="zh-TW" dirty="0"/>
              <a:t> (Reflexion Framework) —— 自我反思架構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執行失敗時，透過評估模塊自我批判（Self-Criticism），將失敗轉化為記憶以修正下一次的規劃。</a:t>
            </a:r>
          </a:p>
          <a:p>
            <a:r>
              <a:rPr lang="zh-TW" altLang="zh-TW" b="1" dirty="0"/>
              <a:t>Task Decomposition</a:t>
            </a:r>
            <a:r>
              <a:rPr lang="zh-TW" altLang="zh-TW" dirty="0"/>
              <a:t> (Task Decomposition) —— 任務拆解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大腦將一個宏大的終極目標（Goal），細分為多個可執行的子任務（Sub-tasks）。</a:t>
            </a:r>
          </a:p>
          <a:p>
            <a:r>
              <a:rPr lang="zh-TW" altLang="zh-TW" b="1" dirty="0"/>
              <a:t>Plan-and-Solve</a:t>
            </a:r>
            <a:r>
              <a:rPr lang="zh-TW" altLang="zh-TW" dirty="0"/>
              <a:t> (Plan-and-Solve Prompting) —— 計畫與解決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先宏觀制定完整計畫，再依序執行，用以減少 CoT 過程中因走一步算一步而產生的計算偏差。</a:t>
            </a:r>
          </a:p>
          <a:p>
            <a:r>
              <a:rPr lang="zh-TW" altLang="zh-TW" b="1" dirty="0"/>
              <a:t>三、 記憶與脈絡工程 (Memory &amp; Context)</a:t>
            </a:r>
          </a:p>
          <a:p>
            <a:r>
              <a:rPr lang="zh-TW" altLang="zh-TW" b="1" dirty="0"/>
              <a:t>RAG</a:t>
            </a:r>
            <a:r>
              <a:rPr lang="zh-TW" altLang="zh-TW" dirty="0"/>
              <a:t> (Retrieval-Augmented Generation) —— 檢索增強生成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從外部知識庫動態撈取資料注入 Context，解決幻覺與長時記憶不足的問題。</a:t>
            </a:r>
          </a:p>
          <a:p>
            <a:r>
              <a:rPr lang="zh-TW" altLang="zh-TW" b="1" dirty="0"/>
              <a:t>Vector DB</a:t>
            </a:r>
            <a:r>
              <a:rPr lang="zh-TW" altLang="zh-TW" dirty="0"/>
              <a:t> (Vector Database) —— 向量資料庫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將文字轉為高維度向量，用於 Agent 的長期記憶（Long-term Memory）檢索。</a:t>
            </a:r>
          </a:p>
          <a:p>
            <a:r>
              <a:rPr lang="zh-TW" altLang="zh-TW" b="1" dirty="0"/>
              <a:t>Embedding</a:t>
            </a:r>
            <a:r>
              <a:rPr lang="zh-TW" altLang="zh-TW" dirty="0"/>
              <a:t> (Semantic Embedding) —— 語意嵌入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將文字、圖片轉化為數學向量的技術，是 Agent 進行「相似度查找」的底層基礎。</a:t>
            </a:r>
          </a:p>
          <a:p>
            <a:r>
              <a:rPr lang="zh-TW" altLang="zh-TW" b="1" dirty="0"/>
              <a:t>Short-term Memory</a:t>
            </a:r>
            <a:r>
              <a:rPr lang="zh-TW" altLang="zh-TW" dirty="0"/>
              <a:t> (Short-term Memory) —— 短期記憶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當前會話（Session）的對話歷史與中途狀態，隨著 Context 視窗滿載會被丟棄。</a:t>
            </a:r>
          </a:p>
          <a:p>
            <a:r>
              <a:rPr lang="zh-TW" altLang="zh-TW" b="1" dirty="0"/>
              <a:t>Long-term Memory</a:t>
            </a:r>
            <a:r>
              <a:rPr lang="zh-TW" altLang="zh-TW" dirty="0"/>
              <a:t> (Long-term Memory) —— 長期記憶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跨越不同對話、長久保存的用戶偏好、公司規章與過去的成功 SOP。</a:t>
            </a:r>
          </a:p>
          <a:p>
            <a:r>
              <a:rPr lang="zh-TW" altLang="zh-TW" b="1" dirty="0"/>
              <a:t>Context Window</a:t>
            </a:r>
            <a:r>
              <a:rPr lang="zh-TW" altLang="zh-TW" dirty="0"/>
              <a:t> (Context Window) —— 上下文視窗 / 脈絡空間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模型單次運算能讀取的最大 Token 限制（大腦的 RAM 限制）。</a:t>
            </a:r>
          </a:p>
          <a:p>
            <a:r>
              <a:rPr lang="zh-TW" altLang="zh-TW" b="1" dirty="0"/>
              <a:t>Prompt Caching</a:t>
            </a:r>
            <a:r>
              <a:rPr lang="zh-TW" altLang="zh-TW" dirty="0"/>
              <a:t> (Prompt Caching) —— 提示詞快取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將重複的系統提示或長期記憶鎖在伺服器記憶體中，降低 Agent 頻繁刷新的費用與延遲。</a:t>
            </a:r>
          </a:p>
          <a:p>
            <a:r>
              <a:rPr lang="zh-TW" altLang="zh-TW" b="1" dirty="0"/>
              <a:t>Lost in the Middle</a:t>
            </a:r>
            <a:r>
              <a:rPr lang="zh-TW" altLang="zh-TW" dirty="0"/>
              <a:t> (Lost in the Middle Effect) —— 迷失在中央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長文本模型的通病——AI 容易注意到開頭和結尾，卻忽略埋在 Context 正中間的記憶資訊。</a:t>
            </a:r>
          </a:p>
          <a:p>
            <a:r>
              <a:rPr lang="zh-TW" altLang="zh-TW" b="1" dirty="0"/>
              <a:t>四、 工具呼叫與環境執行 (Tools &amp; Action)</a:t>
            </a:r>
          </a:p>
          <a:p>
            <a:r>
              <a:rPr lang="zh-TW" altLang="zh-TW" b="1" dirty="0"/>
              <a:t>Function Calling</a:t>
            </a:r>
            <a:r>
              <a:rPr lang="zh-TW" altLang="zh-TW" dirty="0"/>
              <a:t> (Function Calling / Tool Calling) —— 函數呼叫 / 工具調用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模型識別意圖後，不輸出聊天文字，而是輸出標準結構化 JSON 參數的能力。</a:t>
            </a:r>
          </a:p>
          <a:p>
            <a:r>
              <a:rPr lang="zh-TW" altLang="zh-TW" b="1" dirty="0"/>
              <a:t>MCP</a:t>
            </a:r>
            <a:r>
              <a:rPr lang="zh-TW" altLang="zh-TW" dirty="0"/>
              <a:t> (Model Context Protocol) —— 模型上下文協議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Anthropic 倡導的開源標準，充當 AI 的統一 USB 接口，無縫連接各種資料與工具。</a:t>
            </a:r>
          </a:p>
          <a:p>
            <a:r>
              <a:rPr lang="zh-TW" altLang="zh-TW" b="1" dirty="0"/>
              <a:t>REPL</a:t>
            </a:r>
            <a:r>
              <a:rPr lang="zh-TW" altLang="zh-TW" dirty="0"/>
              <a:t> (Read-Eval-Print Loop) —— 互動式程式碼解譯器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自我撰寫 Python/JS 代碼後，直接在系統中執行、看結果並 debug 的工具。</a:t>
            </a:r>
          </a:p>
          <a:p>
            <a:r>
              <a:rPr lang="zh-TW" altLang="zh-TW" b="1" dirty="0"/>
              <a:t>Sandbox</a:t>
            </a:r>
            <a:r>
              <a:rPr lang="zh-TW" altLang="zh-TW" dirty="0"/>
              <a:t> (Secure Sandbox) —— 安全沙盒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與核心系統物理隔離的虛擬環境（如 E2B），防止 Agent 執行的程式碼帶有病毒或寫入敏感檔案。</a:t>
            </a:r>
          </a:p>
          <a:p>
            <a:r>
              <a:rPr lang="zh-TW" altLang="zh-TW" b="1" dirty="0"/>
              <a:t>RPA</a:t>
            </a:r>
            <a:r>
              <a:rPr lang="zh-TW" altLang="zh-TW" dirty="0"/>
              <a:t> (Robotic Process Automation) —— 機器人流程自動化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傳統寫死路徑的自動化腳本，現常作為 Agent 操作網頁、滑鼠與鍵盤的「手腳」。</a:t>
            </a:r>
          </a:p>
          <a:p>
            <a:r>
              <a:rPr lang="zh-TW" altLang="zh-TW" b="1" dirty="0"/>
              <a:t>BaaS</a:t>
            </a:r>
            <a:r>
              <a:rPr lang="zh-TW" altLang="zh-TW" dirty="0"/>
              <a:t> (Browser as a Service) —— 瀏覽器即服務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雲端群控的無頭瀏覽器技術（如 Browserbase），提供 Agent 防封鎖、過驗證碼的上網環境。</a:t>
            </a:r>
          </a:p>
          <a:p>
            <a:r>
              <a:rPr lang="zh-TW" altLang="zh-TW" b="1" dirty="0"/>
              <a:t>Grounding</a:t>
            </a:r>
            <a:r>
              <a:rPr lang="zh-TW" altLang="zh-TW" dirty="0"/>
              <a:t> (UI Grounding / Semantic Grounding) —— 介面定位 / 語意落地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多模態 Agent 將大腦理解的按鈕（如「購物車」），精確對齊到網頁上真實座標（X, Y）的技術。</a:t>
            </a:r>
          </a:p>
          <a:p>
            <a:r>
              <a:rPr lang="zh-TW" altLang="zh-TW" b="1" dirty="0"/>
              <a:t>Computer Use</a:t>
            </a:r>
            <a:r>
              <a:rPr lang="zh-TW" altLang="zh-TW" dirty="0"/>
              <a:t> (Computer Use API) —— 電腦操作 API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AI 直接看著作業系統的截圖，主動移動滑鼠、點擊與輸入，像真人一樣操作整台電腦。</a:t>
            </a:r>
          </a:p>
          <a:p>
            <a:r>
              <a:rPr lang="zh-TW" altLang="zh-TW" b="1" dirty="0"/>
              <a:t>五、 多代理協同與生態層 (Multi-Agent &amp; Ecosystem)</a:t>
            </a:r>
          </a:p>
          <a:p>
            <a:r>
              <a:rPr lang="zh-TW" altLang="zh-TW" b="1" dirty="0"/>
              <a:t>MAS</a:t>
            </a:r>
            <a:r>
              <a:rPr lang="zh-TW" altLang="zh-TW" dirty="0"/>
              <a:t> (Multi-Agent System) —— 多代理人系統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由多個專職、不同分工的 Agent（如：經理、工程師、測試員）共同協同完成複雜任務的系統。</a:t>
            </a:r>
          </a:p>
          <a:p>
            <a:r>
              <a:rPr lang="zh-TW" altLang="zh-TW" b="1" dirty="0"/>
              <a:t>Orchestrator</a:t>
            </a:r>
            <a:r>
              <a:rPr lang="zh-TW" altLang="zh-TW" dirty="0"/>
              <a:t> (Orchestrator Pattern) —— 編排器模式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由一個核心的主 Agent 負責統籌、分派任務給多個底層的子 Agent（Workers）。</a:t>
            </a:r>
          </a:p>
          <a:p>
            <a:r>
              <a:rPr lang="zh-TW" altLang="zh-TW" b="1" dirty="0"/>
              <a:t>Choreography</a:t>
            </a:r>
            <a:r>
              <a:rPr lang="zh-TW" altLang="zh-TW" dirty="0"/>
              <a:t> (Choreography Pattern) —— 編排舞蹈模式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之間沒有絕對的主導者，而是各自遵循 SOP 協議，自發性地互相傳遞接棒工作。</a:t>
            </a:r>
          </a:p>
          <a:p>
            <a:r>
              <a:rPr lang="zh-TW" altLang="zh-TW" b="1" dirty="0"/>
              <a:t>Router</a:t>
            </a:r>
            <a:r>
              <a:rPr lang="zh-TW" altLang="zh-TW" dirty="0"/>
              <a:t> (Agentic Router) —— 智慧型路由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大腦根據用戶的輸入輸入，自動將任務導向最適合處理該問題的專用 Agent 或工具。</a:t>
            </a:r>
          </a:p>
          <a:p>
            <a:r>
              <a:rPr lang="zh-TW" altLang="zh-TW" b="1" dirty="0"/>
              <a:t>SOP</a:t>
            </a:r>
            <a:r>
              <a:rPr lang="zh-TW" altLang="zh-TW" dirty="0"/>
              <a:t> (Standard Operating Procedure) —— 標準作業程序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寫在 Agent 框架中、硬性限制 Agents 之間溝通與執行順序的商務邏輯規則。</a:t>
            </a:r>
          </a:p>
          <a:p>
            <a:r>
              <a:rPr lang="zh-TW" altLang="zh-TW" b="1" dirty="0"/>
              <a:t>Swarm</a:t>
            </a:r>
            <a:r>
              <a:rPr lang="zh-TW" altLang="zh-TW" dirty="0"/>
              <a:t> (Swarm Intelligence) —— 群體智能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大量微型、輕量化的 Agent 透過簡單的群體溝通協議，集體湧現出解決龐大問題的能力。</a:t>
            </a:r>
          </a:p>
          <a:p>
            <a:r>
              <a:rPr lang="zh-TW" altLang="zh-TW" b="1" dirty="0"/>
              <a:t>六、 資安、評估與對齊層 (Safety, Evaluation &amp; Alignment)</a:t>
            </a:r>
          </a:p>
          <a:p>
            <a:r>
              <a:rPr lang="zh-TW" altLang="zh-TW" b="1" dirty="0"/>
              <a:t>Guardrails</a:t>
            </a:r>
            <a:r>
              <a:rPr lang="zh-TW" altLang="zh-TW" dirty="0"/>
              <a:t> (LLM Guardrails) —— 護欄機制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在 Agent 的輸入端與輸出端架設的安全過濾網（如 Llama Guard），硬性攔截不合規言論。</a:t>
            </a:r>
          </a:p>
          <a:p>
            <a:r>
              <a:rPr lang="zh-TW" altLang="zh-TW" b="1" dirty="0"/>
              <a:t>Prompt Injection</a:t>
            </a:r>
            <a:r>
              <a:rPr lang="zh-TW" altLang="zh-TW" dirty="0"/>
              <a:t> (Prompt Injection Attack) —— 提示詞注入攻擊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黑客透過惡意文字欺騙 Agent 大腦，使其忽視原本的 System Prompt 規範，進而執行越權操作。</a:t>
            </a:r>
          </a:p>
          <a:p>
            <a:r>
              <a:rPr lang="zh-TW" altLang="zh-TW" b="1" dirty="0"/>
              <a:t>Jailbreaking</a:t>
            </a:r>
            <a:r>
              <a:rPr lang="zh-TW" altLang="zh-TW" dirty="0"/>
              <a:t> (Jailbreaking) —— 越獄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利用特定話術或繞過技巧，解開模型原本內建的安全道德限制，使其產出有害或不合規的內容。</a:t>
            </a:r>
          </a:p>
          <a:p>
            <a:r>
              <a:rPr lang="zh-TW" altLang="zh-TW" b="1" dirty="0"/>
              <a:t>Alignment</a:t>
            </a:r>
            <a:r>
              <a:rPr lang="zh-TW" altLang="zh-TW" dirty="0"/>
              <a:t> (AI Alignment) —— 人工智慧對齊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確保 Agent 的價值觀、決策意圖、行為結果，完全符合人類的利益、道德與安全規範。</a:t>
            </a:r>
          </a:p>
          <a:p>
            <a:r>
              <a:rPr lang="zh-TW" altLang="zh-TW" b="1" dirty="0"/>
              <a:t>Alignment Tax</a:t>
            </a:r>
            <a:r>
              <a:rPr lang="zh-TW" altLang="zh-TW" dirty="0"/>
              <a:t> (Alignment Tax) —— 對齊稅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為了讓 AI 更安全、更聽話而進行的安全對齊微調，往往會導致模型失去部分原始推理能力或創造力的代價。</a:t>
            </a:r>
          </a:p>
          <a:p>
            <a:r>
              <a:rPr lang="zh-TW" altLang="zh-TW" b="1" dirty="0"/>
              <a:t>SWE-bench</a:t>
            </a:r>
            <a:r>
              <a:rPr lang="zh-TW" altLang="zh-TW" dirty="0"/>
              <a:t> (Software Engineering Benchmark) —— 軟體工程基準測試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目前業界評估「代碼研發 Agent（如 Devin）」自主解決真實 GitHub Issue 能力的權威標準。</a:t>
            </a:r>
          </a:p>
          <a:p>
            <a:r>
              <a:rPr lang="zh-TW" altLang="zh-TW" b="1" dirty="0"/>
              <a:t>GAIA</a:t>
            </a:r>
            <a:r>
              <a:rPr lang="zh-TW" altLang="zh-TW" dirty="0"/>
              <a:t> (General AI Assistants Benchmark) —— 通用 AI 助手基準測試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用來評估 Agent 在面對需要跨工具、多模態、長程規劃等複雜現實任務時的綜合得分。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AE597D-D1E7-4522-AA27-1BB111861251}" type="slidenum">
              <a:rPr lang="zh-TW" altLang="en-US" smtClean="0"/>
              <a:t>25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1587392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分詞器組件（</a:t>
            </a:r>
            <a:r>
              <a:rPr lang="en-US" altLang="zh-TW" dirty="0"/>
              <a:t>Tokenizer Files</a:t>
            </a:r>
            <a:r>
              <a:rPr lang="zh-TW" altLang="en-US" dirty="0"/>
              <a:t>）：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tokenizer_config.json</a:t>
            </a:r>
            <a:r>
              <a:rPr lang="zh-TW" altLang="en-US" dirty="0"/>
              <a:t>：記錄分詞器的控制面板參數與 </a:t>
            </a:r>
            <a:r>
              <a:rPr lang="en-US" altLang="zh-TW" dirty="0"/>
              <a:t>Jinja </a:t>
            </a:r>
            <a:r>
              <a:rPr lang="zh-TW" altLang="en-US" dirty="0"/>
              <a:t>對話模板，用來決定文字如何套用原廠角色格式。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vocab.json</a:t>
            </a:r>
            <a:r>
              <a:rPr lang="zh-TW" altLang="en-US" dirty="0"/>
              <a:t>：字詞與數位識別代號（</a:t>
            </a:r>
            <a:r>
              <a:rPr lang="en-US" altLang="zh-TW" dirty="0"/>
              <a:t>ID</a:t>
            </a:r>
            <a:r>
              <a:rPr lang="zh-TW" altLang="en-US" dirty="0"/>
              <a:t>）的對照字典，負責將切碎的字母字串翻譯成模型認得的密碼。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merges.txt</a:t>
            </a:r>
            <a:r>
              <a:rPr lang="zh-TW" altLang="en-US" dirty="0"/>
              <a:t>：記錄 </a:t>
            </a:r>
            <a:r>
              <a:rPr lang="en-US" altLang="zh-TW" dirty="0"/>
              <a:t>BPE </a:t>
            </a:r>
            <a:r>
              <a:rPr lang="zh-TW" altLang="en-US" dirty="0"/>
              <a:t>演算法的字詞合併規則表，引導分詞器如何有邏輯地將基礎字元組合成高階詞彙。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tokenizer.json</a:t>
            </a:r>
            <a:r>
              <a:rPr lang="zh-TW" altLang="en-US" dirty="0"/>
              <a:t>：現代內建 </a:t>
            </a:r>
            <a:r>
              <a:rPr lang="en-US" altLang="zh-TW" dirty="0"/>
              <a:t>Rust </a:t>
            </a:r>
            <a:r>
              <a:rPr lang="zh-TW" altLang="en-US" dirty="0"/>
              <a:t>高速核心的完全體分詞本體，將上述所有分詞與合併規則打包以達成高效編碼。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special_tokens_map.json</a:t>
            </a:r>
            <a:r>
              <a:rPr lang="zh-TW" altLang="en-US" dirty="0"/>
              <a:t>：特殊符號對照表，用來定義與強制規範哪些數位代號代表文章開頭、結束或填補空白。</a:t>
            </a:r>
            <a:endParaRPr lang="en-US" altLang="zh-TW" dirty="0"/>
          </a:p>
          <a:p>
            <a:r>
              <a:rPr lang="zh-TW" altLang="en-US" dirty="0"/>
              <a:t>模型大腦組件（</a:t>
            </a:r>
            <a:r>
              <a:rPr lang="en-US" altLang="zh-TW" dirty="0"/>
              <a:t>Model Files</a:t>
            </a:r>
            <a:r>
              <a:rPr lang="zh-TW" altLang="en-US" dirty="0"/>
              <a:t>）：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config.json</a:t>
            </a:r>
            <a:r>
              <a:rPr lang="zh-TW" altLang="en-US" dirty="0"/>
              <a:t>：大模型的神經網路結構藍圖，用來指引系統記憶體在開機時精準搭建出大腦的幾何骨架。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model.safetensors</a:t>
            </a:r>
            <a:r>
              <a:rPr lang="zh-TW" altLang="en-US" dirty="0"/>
              <a:t>：大模型的實體大腦數字權重矩陣，負責在微調時被寫入與修改，永久保存所有的私有知識記憶。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generation_config.json</a:t>
            </a:r>
            <a:r>
              <a:rPr lang="zh-TW" altLang="en-US" dirty="0"/>
              <a:t>：文本生成控制台，用來決定模型在正式上線聊天接龍時的預設隨機度與說話語氣。</a:t>
            </a:r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AE597D-D1E7-4522-AA27-1BB111861251}" type="slidenum">
              <a:rPr lang="zh-TW" altLang="en-US" smtClean="0"/>
              <a:t>26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510694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87095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25E997-4179-402B-B045-C290473E86F3}" type="datetimeFigureOut">
              <a:rPr lang="zh-TW" altLang="en-US" smtClean="0"/>
              <a:t>2026/7/13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04A4CC-0142-4D0E-B207-47A74A717B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662284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732101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EEB8F32-D6CA-1096-5F7F-634DD38312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4FB77DC-1F1A-EDE3-202F-AD35BA1113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BBAA7D4-40C2-30FA-EF1C-009BF0978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D5AE9D-E316-4C75-862D-9EBD6D1B334B}" type="datetimeFigureOut">
              <a:rPr lang="zh-TW" altLang="en-US" smtClean="0"/>
              <a:t>2026/7/13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79E40CA-DAB8-F94E-65BD-7E947BD07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E982315-D0D5-22A2-3A7C-183FFB19C7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C4967A-F914-4D6D-AEDD-D79048CFF0C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642697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頁尾版面配置區 4">
            <a:extLst>
              <a:ext uri="{FF2B5EF4-FFF2-40B4-BE49-F238E27FC236}">
                <a16:creationId xmlns:a16="http://schemas.microsoft.com/office/drawing/2014/main" id="{F852660B-5776-4457-897C-22F48580809B}"/>
              </a:ext>
            </a:extLst>
          </p:cNvPr>
          <p:cNvSpPr txBox="1">
            <a:spLocks/>
          </p:cNvSpPr>
          <p:nvPr userDrawn="1"/>
        </p:nvSpPr>
        <p:spPr>
          <a:xfrm>
            <a:off x="0" y="6628025"/>
            <a:ext cx="9144000" cy="2352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vert="horz" lIns="91440" tIns="45720" rIns="91440" bIns="45720" rtlCol="0" anchor="ctr"/>
          <a:lstStyle>
            <a:defPPr>
              <a:defRPr lang="zh-TW"/>
            </a:defPPr>
            <a:lvl1pPr marL="0" algn="ctr" defTabSz="914400" rtl="0" eaLnBrk="1" latinLnBrk="0" hangingPunct="1">
              <a:defRPr sz="1200" b="1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TW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1" r:id="rId2"/>
    <p:sldLayoutId id="2147483662" r:id="rId3"/>
    <p:sldLayoutId id="2147483663" r:id="rId4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  <p:hf hdr="0"/>
  <p:txStyles>
    <p:titleStyle>
      <a:lvl1pPr algn="l" defTabSz="914400" rtl="0" eaLnBrk="1" latinLnBrk="0" hangingPunct="1"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●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2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○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8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4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80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audio" Target="../media/audio1.wav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sv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svg"/><Relationship Id="rId5" Type="http://schemas.openxmlformats.org/officeDocument/2006/relationships/image" Target="../media/image3.svg"/><Relationship Id="rId4" Type="http://schemas.openxmlformats.org/officeDocument/2006/relationships/image" Target="../media/image2.svg"/><Relationship Id="rId9" Type="http://schemas.openxmlformats.org/officeDocument/2006/relationships/image" Target="../media/image7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6.pn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svg"/><Relationship Id="rId5" Type="http://schemas.openxmlformats.org/officeDocument/2006/relationships/image" Target="../media/image8.svg"/><Relationship Id="rId4" Type="http://schemas.openxmlformats.org/officeDocument/2006/relationships/image" Target="../media/image7.svg"/><Relationship Id="rId9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9" Type="http://schemas.openxmlformats.org/officeDocument/2006/relationships/image" Target="../media/image17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svg"/><Relationship Id="rId5" Type="http://schemas.openxmlformats.org/officeDocument/2006/relationships/image" Target="../media/image21.svg"/><Relationship Id="rId4" Type="http://schemas.openxmlformats.org/officeDocument/2006/relationships/image" Target="../media/image20.sv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7" Type="http://schemas.openxmlformats.org/officeDocument/2006/relationships/image" Target="../media/image27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6.svg"/><Relationship Id="rId5" Type="http://schemas.openxmlformats.org/officeDocument/2006/relationships/image" Target="../media/image25.svg"/><Relationship Id="rId4" Type="http://schemas.openxmlformats.org/officeDocument/2006/relationships/image" Target="../media/image24.sv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7" Type="http://schemas.openxmlformats.org/officeDocument/2006/relationships/image" Target="../media/image32.sv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svg"/><Relationship Id="rId5" Type="http://schemas.openxmlformats.org/officeDocument/2006/relationships/image" Target="../media/image30.svg"/><Relationship Id="rId4" Type="http://schemas.openxmlformats.org/officeDocument/2006/relationships/image" Target="../media/image29.sv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35.pn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7.png"/><Relationship Id="rId5" Type="http://schemas.openxmlformats.org/officeDocument/2006/relationships/image" Target="../media/image23.png"/><Relationship Id="rId4" Type="http://schemas.openxmlformats.org/officeDocument/2006/relationships/image" Target="../media/image36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image" Target="../media/image40.pn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Relationship Id="rId9" Type="http://schemas.openxmlformats.org/officeDocument/2006/relationships/image" Target="../media/image4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41754-1A01-9656-056C-4B624E45A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96A5153E-BD84-CB21-D566-B888A2F168CC}"/>
              </a:ext>
            </a:extLst>
          </p:cNvPr>
          <p:cNvSpPr txBox="1"/>
          <p:nvPr/>
        </p:nvSpPr>
        <p:spPr>
          <a:xfrm>
            <a:off x="3748825" y="5118283"/>
            <a:ext cx="16463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Centrillion Technology </a:t>
            </a:r>
          </a:p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Bioinformation Dept. </a:t>
            </a:r>
          </a:p>
          <a:p>
            <a:pPr algn="ctr"/>
            <a:r>
              <a:rPr lang="en-US" altLang="zh-TW" sz="1400" dirty="0">
                <a:solidFill>
                  <a:schemeClr val="accent1"/>
                </a:solidFill>
              </a:rPr>
              <a:t>Allen &amp; Felix</a:t>
            </a:r>
          </a:p>
          <a:p>
            <a:pPr algn="ctr"/>
            <a:r>
              <a:rPr lang="en-US" altLang="zh-TW" sz="1000" dirty="0">
                <a:solidFill>
                  <a:schemeClr val="accent1"/>
                </a:solidFill>
              </a:rPr>
              <a:t>2026/05/21</a:t>
            </a:r>
            <a:endParaRPr lang="zh-TW" altLang="en-US" sz="1000" dirty="0">
              <a:solidFill>
                <a:schemeClr val="accent1"/>
              </a:solidFill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18C77BE7-A2CA-16B9-32EC-F267B3A21EBE}"/>
              </a:ext>
            </a:extLst>
          </p:cNvPr>
          <p:cNvSpPr txBox="1"/>
          <p:nvPr/>
        </p:nvSpPr>
        <p:spPr>
          <a:xfrm>
            <a:off x="809581" y="1500267"/>
            <a:ext cx="7524837" cy="1467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b="1" dirty="0"/>
              <a:t>Gemma</a:t>
            </a:r>
            <a:r>
              <a:rPr lang="zh-TW" altLang="en-US" sz="4000" b="1" dirty="0"/>
              <a:t> </a:t>
            </a:r>
            <a:r>
              <a:rPr lang="en-US" altLang="zh-TW" sz="4000" b="1" dirty="0"/>
              <a:t>4 Technical Report</a:t>
            </a:r>
          </a:p>
          <a:p>
            <a:pPr defTabSz="4857750">
              <a:lnSpc>
                <a:spcPts val="400"/>
              </a:lnSpc>
            </a:pPr>
            <a:r>
              <a:rPr lang="zh-TW" altLang="en-US" sz="1000" b="1" dirty="0"/>
              <a:t> </a:t>
            </a:r>
            <a:r>
              <a:rPr lang="en-US" altLang="zh-TW" sz="1000" b="1" dirty="0"/>
              <a:t>	2026</a:t>
            </a:r>
          </a:p>
          <a:p>
            <a:pPr defTabSz="6727825">
              <a:tabLst>
                <a:tab pos="2332038" algn="l"/>
              </a:tabLst>
            </a:pPr>
            <a:endParaRPr lang="en-US" altLang="zh-TW" sz="1200" b="1" dirty="0"/>
          </a:p>
          <a:p>
            <a:pPr defTabSz="6727825">
              <a:tabLst>
                <a:tab pos="2332038" algn="l"/>
              </a:tabLst>
            </a:pPr>
            <a:endParaRPr lang="en-US" altLang="zh-TW" sz="1200" b="1" dirty="0">
              <a:solidFill>
                <a:schemeClr val="accent1">
                  <a:lumMod val="75000"/>
                </a:schemeClr>
              </a:solidFill>
            </a:endParaRP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200" b="1" dirty="0"/>
              <a:t>	</a:t>
            </a:r>
            <a:r>
              <a:rPr lang="en-US" altLang="zh-TW" sz="1200" b="1" dirty="0">
                <a:sym typeface="Wingdings" panose="05000000000000000000" pitchFamily="2" charset="2"/>
              </a:rPr>
              <a:t>Google DeepMind	</a:t>
            </a:r>
            <a:r>
              <a:rPr lang="en-US" altLang="zh-TW" sz="1000" dirty="0">
                <a:sym typeface="Wingdings" panose="05000000000000000000" pitchFamily="2" charset="2"/>
              </a:rPr>
              <a:t>	Gemma Team</a:t>
            </a:r>
            <a:endParaRPr lang="zh-TW" altLang="en-US" sz="1000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676095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C20B80-B722-2523-9202-3F21EBB14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5B9CD27E-9C1A-3219-6A05-1CA47876AE20}"/>
              </a:ext>
            </a:extLst>
          </p:cNvPr>
          <p:cNvSpPr txBox="1"/>
          <p:nvPr/>
        </p:nvSpPr>
        <p:spPr>
          <a:xfrm>
            <a:off x="845586" y="1120676"/>
            <a:ext cx="7452828" cy="452431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  <a:defRPr/>
            </a:pPr>
            <a:r>
              <a:rPr lang="en-US" altLang="zh-TW" sz="2400" dirty="0">
                <a:latin typeface="Noto Sans HK" panose="020B0200000000000000" pitchFamily="34" charset="-120"/>
                <a:ea typeface="Noto Sans HK" panose="020B0200000000000000" pitchFamily="34" charset="-120"/>
              </a:rPr>
              <a:t>AI Runtime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(Environment of AI Agent, SLM, LLM, RAG and MCP)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MCP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(Model Context Protocol)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RAG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(Retrieval Augmented Generation )</a:t>
            </a:r>
            <a:r>
              <a:rPr lang="en-US" altLang="zh-TW" sz="1400" dirty="0">
                <a:solidFill>
                  <a:schemeClr val="bg1">
                    <a:lumMod val="5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SLM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(Small Language Model)</a:t>
            </a:r>
            <a:endParaRPr kumimoji="0" lang="en-US" altLang="zh-TW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Trend</a:t>
            </a:r>
            <a:r>
              <a:rPr lang="zh-TW" altLang="en-US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Analysis 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(Edge AI)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TW" sz="2400" dirty="0">
                <a:latin typeface="Noto Sans HK" panose="020B0200000000000000" pitchFamily="34" charset="-120"/>
                <a:ea typeface="Noto Sans HK" panose="020B0200000000000000" pitchFamily="34" charset="-120"/>
              </a:rPr>
              <a:t>Gemma 4</a:t>
            </a:r>
            <a:r>
              <a:rPr kumimoji="0" lang="zh-TW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Cloud: Gemini </a:t>
            </a:r>
            <a:r>
              <a:rPr lang="zh-TW" altLang="zh-TW" sz="1200" dirty="0">
                <a:solidFill>
                  <a:schemeClr val="bg1">
                    <a:lumMod val="75000"/>
                  </a:schemeClr>
                </a:solidFill>
              </a:rPr>
              <a:t>➔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Agent: Gemma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  <a:endParaRPr lang="en-US" altLang="zh-TW" sz="1200" dirty="0">
              <a:solidFill>
                <a:schemeClr val="bg1">
                  <a:lumMod val="75000"/>
                </a:schemeClr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Edge AI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</a:t>
            </a:r>
            <a:r>
              <a:rPr lang="zh-TW" altLang="zh-TW" sz="1200" dirty="0">
                <a:solidFill>
                  <a:schemeClr val="bg1">
                    <a:lumMod val="75000"/>
                  </a:schemeClr>
                </a:solidFill>
              </a:rPr>
              <a:t>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Gemma 4 Family was born for Edge AI!)</a:t>
            </a:r>
            <a:endParaRPr lang="en-US" altLang="zh-TW" dirty="0"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Supervised Fine-Tuning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(Parameter Efficient Fine-Tuning)</a:t>
            </a:r>
            <a:endParaRPr lang="en-US" altLang="zh-TW" dirty="0"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QAD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(Quantization-Aware Distillation)</a:t>
            </a:r>
            <a:endParaRPr lang="en-US" altLang="zh-TW" dirty="0"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QLoRA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(Quantized Low-Rank Adaptation)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PLE</a:t>
            </a:r>
            <a:r>
              <a:rPr lang="en-US" altLang="zh-TW" dirty="0">
                <a:solidFill>
                  <a:prstClr val="white">
                    <a:lumMod val="50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(Per Layer Embedding)</a:t>
            </a:r>
            <a:r>
              <a:rPr lang="en-US" altLang="zh-TW" sz="12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endParaRPr kumimoji="0" lang="en-US" altLang="zh-TW" sz="12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Comparison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(Llama 4, Deep Seek)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Conclusion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(A Holistic Perspective on GPT and AI Technology)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Leading Frameworks 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(How to evaluate the performance of model?)</a:t>
            </a:r>
            <a:endParaRPr lang="en-US" altLang="zh-TW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Practice Example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(O! llama)</a:t>
            </a:r>
            <a:endParaRPr kumimoji="0" lang="en-US" altLang="zh-TW" sz="14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sp>
        <p:nvSpPr>
          <p:cNvPr id="64" name="標題 1">
            <a:extLst>
              <a:ext uri="{FF2B5EF4-FFF2-40B4-BE49-F238E27FC236}">
                <a16:creationId xmlns:a16="http://schemas.microsoft.com/office/drawing/2014/main" id="{94909093-0BFB-B658-A42D-64D3192A242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Agenda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A1C639E3-E511-933C-E6C6-4C289F817DDD}"/>
              </a:ext>
            </a:extLst>
          </p:cNvPr>
          <p:cNvSpPr txBox="1"/>
          <p:nvPr/>
        </p:nvSpPr>
        <p:spPr>
          <a:xfrm>
            <a:off x="7848364" y="44624"/>
            <a:ext cx="1214435" cy="4555093"/>
          </a:xfrm>
          <a:prstGeom prst="rect">
            <a:avLst/>
          </a:prstGeom>
          <a:noFill/>
        </p:spPr>
        <p:txBody>
          <a:bodyPr wrap="none" lIns="91440" tIns="91440" rIns="0" bIns="0">
            <a:spAutoFit/>
          </a:bodyPr>
          <a:lstStyle/>
          <a:p>
            <a:pPr defTabSz="1546225"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u="none" strike="noStrike" dirty="0">
                <a:solidFill>
                  <a:schemeClr val="bg1">
                    <a:lumMod val="65000"/>
                  </a:schemeClr>
                </a:solidFill>
                <a:effectLst/>
              </a:rPr>
              <a:t> Overview</a:t>
            </a:r>
            <a:endParaRPr lang="en-US" altLang="zh-TW" sz="1000" u="none" strike="noStrike" dirty="0">
              <a:solidFill>
                <a:schemeClr val="bg1">
                  <a:lumMod val="65000"/>
                </a:schemeClr>
              </a:solidFill>
              <a:effectLst/>
            </a:endParaRPr>
          </a:p>
          <a:p>
            <a:pPr marL="111125" lvl="3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zh-TW" altLang="en-US" sz="10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ML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Training Stages</a:t>
            </a:r>
            <a:endParaRPr lang="en-US" altLang="zh-TW" sz="1000" u="none" strike="noStrike" dirty="0">
              <a:solidFill>
                <a:schemeClr val="bg1">
                  <a:lumMod val="65000"/>
                </a:schemeClr>
              </a:solidFill>
              <a:effectLst/>
            </a:endParaRP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Transformer</a:t>
            </a:r>
            <a:endParaRPr lang="en-US" altLang="zh-TW" sz="1000" dirty="0">
              <a:solidFill>
                <a:schemeClr val="bg1">
                  <a:lumMod val="65000"/>
                </a:schemeClr>
              </a:solidFill>
            </a:endParaRP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Program Flow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Self-Attention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FFNN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Token Embedding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Rotary of PE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GPT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  <a:latin typeface="Calibri"/>
                <a:ea typeface="新細明體" panose="02020500000000000000" pitchFamily="18" charset="-120"/>
              </a:rPr>
              <a:t> Pre-Training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  <a:latin typeface="Calibri"/>
                <a:ea typeface="新細明體" panose="02020500000000000000" pitchFamily="18" charset="-120"/>
              </a:rPr>
              <a:t> Basic Model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  <a:latin typeface="Calibri"/>
                <a:ea typeface="新細明體" panose="02020500000000000000" pitchFamily="18" charset="-120"/>
              </a:rPr>
              <a:t> Backpropagation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Inference 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Training Cluster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AI Runtime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MCP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RAG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LLM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Trend Analysis 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Gemma 3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Supervised FT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LoRA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Gemma 4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PLE 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Comparison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Conclusion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Frameworks 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Practices</a:t>
            </a:r>
          </a:p>
        </p:txBody>
      </p:sp>
      <p:sp>
        <p:nvSpPr>
          <p:cNvPr id="5" name="標題 1">
            <a:extLst>
              <a:ext uri="{FF2B5EF4-FFF2-40B4-BE49-F238E27FC236}">
                <a16:creationId xmlns:a16="http://schemas.microsoft.com/office/drawing/2014/main" id="{98EEB6DF-D293-889C-F982-3D3F650CB3BC}"/>
              </a:ext>
            </a:extLst>
          </p:cNvPr>
          <p:cNvSpPr txBox="1">
            <a:spLocks/>
          </p:cNvSpPr>
          <p:nvPr/>
        </p:nvSpPr>
        <p:spPr>
          <a:xfrm>
            <a:off x="1835696" y="389386"/>
            <a:ext cx="3654406" cy="36004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Retrieval Augmented Generation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06484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" dur="2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" dur="2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6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8" dur="5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9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0" dur="5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1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2" dur="5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3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4" dur="5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5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6" dur="5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8" dur="5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9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0" dur="5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1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2" dur="5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4" dur="2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6" dur="2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8" dur="2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0" dur="2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2" dur="20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4" dur="20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6" dur="20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8" dur="20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0" dur="20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4" dur="5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8" dur="500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5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0" dur="20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4" dur="500" fill="hold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5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6" dur="500" fill="hold"/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8" dur="2000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0" dur="2000" fill="hold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2" dur="2000" fill="hold"/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allAtOnce"/>
      <p:bldP spid="2" grpId="1" uiExpand="1" build="allAtOnce"/>
      <p:bldP spid="2" grpId="2" uiExpand="1" build="allAtOnce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>
            <a:extLst>
              <a:ext uri="{FF2B5EF4-FFF2-40B4-BE49-F238E27FC236}">
                <a16:creationId xmlns:a16="http://schemas.microsoft.com/office/drawing/2014/main" id="{71AC5596-EE09-9809-F3EF-BFD1A1950756}"/>
              </a:ext>
            </a:extLst>
          </p:cNvPr>
          <p:cNvSpPr txBox="1"/>
          <p:nvPr/>
        </p:nvSpPr>
        <p:spPr>
          <a:xfrm>
            <a:off x="2915816" y="3284985"/>
            <a:ext cx="3575442" cy="2007356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olid"/>
          </a:ln>
        </p:spPr>
        <p:txBody>
          <a:bodyPr wrap="none" lIns="72000" tIns="72000" rIns="0" bIns="0" anchor="t" anchorCtr="0">
            <a:noAutofit/>
          </a:bodyPr>
          <a:lstStyle/>
          <a:p>
            <a:pPr marL="0" marR="0" lvl="0" indent="0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1" name="標題 1">
            <a:extLst>
              <a:ext uri="{FF2B5EF4-FFF2-40B4-BE49-F238E27FC236}">
                <a16:creationId xmlns:a16="http://schemas.microsoft.com/office/drawing/2014/main" id="{4545CAD2-DED1-687D-F927-CC8160C4A86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AI Runtime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lvl="0">
              <a:spcBef>
                <a:spcPts val="0"/>
              </a:spcBef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An AI agent completes tasks using an LLM brain, RAG knowledge, and MCP tools. </a:t>
            </a:r>
            <a:r>
              <a:rPr lang="zh-TW" altLang="zh-TW" sz="1400" dirty="0"/>
              <a:t>➔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A23F70E7-2AF0-CCC8-DB8C-D9CFEB8FE8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1393876"/>
              </p:ext>
            </p:extLst>
          </p:nvPr>
        </p:nvGraphicFramePr>
        <p:xfrm>
          <a:off x="1372495" y="3645024"/>
          <a:ext cx="1356495" cy="1148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6495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567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Workflow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Input Processing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Executing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Tool Calling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Output Parsing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</a:tbl>
          </a:graphicData>
        </a:graphic>
      </p:graphicFrame>
      <p:sp>
        <p:nvSpPr>
          <p:cNvPr id="23" name="文字方塊 22">
            <a:extLst>
              <a:ext uri="{FF2B5EF4-FFF2-40B4-BE49-F238E27FC236}">
                <a16:creationId xmlns:a16="http://schemas.microsoft.com/office/drawing/2014/main" id="{E0A41338-6FF6-3FD5-520C-C25BBAECA635}"/>
              </a:ext>
            </a:extLst>
          </p:cNvPr>
          <p:cNvSpPr txBox="1"/>
          <p:nvPr/>
        </p:nvSpPr>
        <p:spPr>
          <a:xfrm>
            <a:off x="3707905" y="1936783"/>
            <a:ext cx="881419" cy="756316"/>
          </a:xfrm>
          <a:prstGeom prst="rect">
            <a:avLst/>
          </a:prstGeom>
          <a:solidFill>
            <a:schemeClr val="accent1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5">
                    <a:lumMod val="75000"/>
                  </a:schemeClr>
                </a:solidFill>
                <a:effectLst/>
              </a:rPr>
              <a:t>LLM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Foundation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(Reasoning)</a:t>
            </a: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A35867F2-C1D1-B5A8-4A34-A85DFFA9F207}"/>
              </a:ext>
            </a:extLst>
          </p:cNvPr>
          <p:cNvSpPr txBox="1"/>
          <p:nvPr/>
        </p:nvSpPr>
        <p:spPr>
          <a:xfrm>
            <a:off x="5058733" y="1936783"/>
            <a:ext cx="881419" cy="756316"/>
          </a:xfrm>
          <a:prstGeom prst="rect">
            <a:avLst/>
          </a:prstGeom>
          <a:solidFill>
            <a:schemeClr val="accent3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3">
                    <a:lumMod val="50000"/>
                  </a:schemeClr>
                </a:solidFill>
                <a:effectLst/>
              </a:rPr>
              <a:t>RAG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Knowledge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(Anti-hallucination)</a:t>
            </a: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17651556-23BC-0DDD-07E7-364BC774FADB}"/>
              </a:ext>
            </a:extLst>
          </p:cNvPr>
          <p:cNvSpPr txBox="1"/>
          <p:nvPr/>
        </p:nvSpPr>
        <p:spPr>
          <a:xfrm>
            <a:off x="6426885" y="1936783"/>
            <a:ext cx="881419" cy="756316"/>
          </a:xfrm>
          <a:prstGeom prst="rect">
            <a:avLst/>
          </a:prstGeom>
          <a:solidFill>
            <a:schemeClr val="accent4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4">
                    <a:lumMod val="75000"/>
                  </a:schemeClr>
                </a:solidFill>
                <a:effectLst/>
              </a:rPr>
              <a:t>MCP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Action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(External tools)</a:t>
            </a:r>
          </a:p>
        </p:txBody>
      </p:sp>
      <p:cxnSp>
        <p:nvCxnSpPr>
          <p:cNvPr id="27" name="直線單箭頭接點 26">
            <a:extLst>
              <a:ext uri="{FF2B5EF4-FFF2-40B4-BE49-F238E27FC236}">
                <a16:creationId xmlns:a16="http://schemas.microsoft.com/office/drawing/2014/main" id="{978899A1-FBD5-7632-C399-E1601597C0CA}"/>
              </a:ext>
            </a:extLst>
          </p:cNvPr>
          <p:cNvCxnSpPr>
            <a:cxnSpLocks/>
            <a:stCxn id="23" idx="3"/>
            <a:endCxn id="25" idx="1"/>
          </p:cNvCxnSpPr>
          <p:nvPr/>
        </p:nvCxnSpPr>
        <p:spPr>
          <a:xfrm>
            <a:off x="4589324" y="2314941"/>
            <a:ext cx="469409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單箭頭接點 29">
            <a:extLst>
              <a:ext uri="{FF2B5EF4-FFF2-40B4-BE49-F238E27FC236}">
                <a16:creationId xmlns:a16="http://schemas.microsoft.com/office/drawing/2014/main" id="{D56C6C98-33E6-85B9-402F-84C3D75B4803}"/>
              </a:ext>
            </a:extLst>
          </p:cNvPr>
          <p:cNvCxnSpPr>
            <a:cxnSpLocks/>
            <a:stCxn id="25" idx="3"/>
            <a:endCxn id="26" idx="1"/>
          </p:cNvCxnSpPr>
          <p:nvPr/>
        </p:nvCxnSpPr>
        <p:spPr>
          <a:xfrm>
            <a:off x="5940152" y="2314941"/>
            <a:ext cx="486733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727C079F-0143-0F0C-F3B8-220CDDAD12FF}"/>
              </a:ext>
            </a:extLst>
          </p:cNvPr>
          <p:cNvSpPr txBox="1"/>
          <p:nvPr/>
        </p:nvSpPr>
        <p:spPr>
          <a:xfrm>
            <a:off x="2989497" y="3351879"/>
            <a:ext cx="764323" cy="293145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2"/>
                </a:solidFill>
                <a:effectLst/>
              </a:rPr>
              <a:t>AI Agent</a:t>
            </a:r>
            <a:endParaRPr lang="en-US" altLang="zh-TW" sz="1200" dirty="0">
              <a:solidFill>
                <a:schemeClr val="tx2"/>
              </a:solidFill>
            </a:endParaRPr>
          </a:p>
        </p:txBody>
      </p:sp>
      <p:sp>
        <p:nvSpPr>
          <p:cNvPr id="33" name="右大括弧 32">
            <a:extLst>
              <a:ext uri="{FF2B5EF4-FFF2-40B4-BE49-F238E27FC236}">
                <a16:creationId xmlns:a16="http://schemas.microsoft.com/office/drawing/2014/main" id="{85617580-DE52-B14E-49D6-B4987ACE2E74}"/>
              </a:ext>
            </a:extLst>
          </p:cNvPr>
          <p:cNvSpPr/>
          <p:nvPr/>
        </p:nvSpPr>
        <p:spPr>
          <a:xfrm rot="16200000">
            <a:off x="5443688" y="360344"/>
            <a:ext cx="161581" cy="2797654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" name="標題 1">
            <a:extLst>
              <a:ext uri="{FF2B5EF4-FFF2-40B4-BE49-F238E27FC236}">
                <a16:creationId xmlns:a16="http://schemas.microsoft.com/office/drawing/2014/main" id="{712111BD-605F-4F9A-B096-4D0A2B62113E}"/>
              </a:ext>
            </a:extLst>
          </p:cNvPr>
          <p:cNvSpPr txBox="1">
            <a:spLocks/>
          </p:cNvSpPr>
          <p:nvPr/>
        </p:nvSpPr>
        <p:spPr>
          <a:xfrm>
            <a:off x="4774068" y="1196752"/>
            <a:ext cx="1479398" cy="433217"/>
          </a:xfrm>
          <a:prstGeom prst="rect">
            <a:avLst/>
          </a:prstGeom>
        </p:spPr>
        <p:txBody>
          <a:bodyPr wrap="none" lIns="9144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Runtime</a:t>
            </a:r>
          </a:p>
          <a:p>
            <a:pPr algn="ctr"/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(Goal: Smarter AI Agent)</a:t>
            </a:r>
          </a:p>
        </p:txBody>
      </p:sp>
      <p:grpSp>
        <p:nvGrpSpPr>
          <p:cNvPr id="38" name="群組 37">
            <a:extLst>
              <a:ext uri="{FF2B5EF4-FFF2-40B4-BE49-F238E27FC236}">
                <a16:creationId xmlns:a16="http://schemas.microsoft.com/office/drawing/2014/main" id="{6C4189AF-8414-40CC-60A0-54BF0A6CA583}"/>
              </a:ext>
            </a:extLst>
          </p:cNvPr>
          <p:cNvGrpSpPr/>
          <p:nvPr/>
        </p:nvGrpSpPr>
        <p:grpSpPr>
          <a:xfrm>
            <a:off x="611560" y="1273176"/>
            <a:ext cx="1219522" cy="1756213"/>
            <a:chOff x="1331640" y="2203695"/>
            <a:chExt cx="1219522" cy="1756213"/>
          </a:xfrm>
        </p:grpSpPr>
        <p:sp>
          <p:nvSpPr>
            <p:cNvPr id="32" name="文字方塊 31">
              <a:extLst>
                <a:ext uri="{FF2B5EF4-FFF2-40B4-BE49-F238E27FC236}">
                  <a16:creationId xmlns:a16="http://schemas.microsoft.com/office/drawing/2014/main" id="{FC3EE967-B2E4-1D42-F11F-68E5F269497C}"/>
                </a:ext>
              </a:extLst>
            </p:cNvPr>
            <p:cNvSpPr txBox="1"/>
            <p:nvPr/>
          </p:nvSpPr>
          <p:spPr>
            <a:xfrm>
              <a:off x="1331640" y="2867302"/>
              <a:ext cx="1219522" cy="1092606"/>
            </a:xfrm>
            <a:prstGeom prst="rect">
              <a:avLst/>
            </a:prstGeom>
            <a:solidFill>
              <a:schemeClr val="accent2">
                <a:lumMod val="20000"/>
                <a:lumOff val="80000"/>
                <a:alpha val="80000"/>
              </a:schemeClr>
            </a:solidFill>
            <a:ln w="25400">
              <a:solidFill>
                <a:schemeClr val="bg1">
                  <a:lumMod val="85000"/>
                </a:schemeClr>
              </a:solidFill>
            </a:ln>
          </p:spPr>
          <p:txBody>
            <a:bodyPr wrap="none" lIns="0" tIns="72000" rIns="0" bIns="3600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2">
                      <a:lumMod val="60000"/>
                      <a:lumOff val="40000"/>
                    </a:schemeClr>
                  </a:solidFill>
                  <a:effectLst/>
                </a:rPr>
                <a:t>Pre-Training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2">
                      <a:lumMod val="60000"/>
                      <a:lumOff val="40000"/>
                    </a:schemeClr>
                  </a:solidFill>
                  <a:effectLst/>
                </a:rPr>
                <a:t>&amp; SFT</a:t>
              </a:r>
            </a:p>
          </p:txBody>
        </p:sp>
        <p:sp>
          <p:nvSpPr>
            <p:cNvPr id="36" name="標題 1">
              <a:extLst>
                <a:ext uri="{FF2B5EF4-FFF2-40B4-BE49-F238E27FC236}">
                  <a16:creationId xmlns:a16="http://schemas.microsoft.com/office/drawing/2014/main" id="{975BBE30-A6EE-B2AC-1910-5B401203FF00}"/>
                </a:ext>
              </a:extLst>
            </p:cNvPr>
            <p:cNvSpPr txBox="1">
              <a:spLocks/>
            </p:cNvSpPr>
            <p:nvPr/>
          </p:nvSpPr>
          <p:spPr>
            <a:xfrm>
              <a:off x="1383399" y="2203695"/>
              <a:ext cx="1100369" cy="433217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Training Stages </a:t>
              </a:r>
            </a:p>
            <a:p>
              <a:pPr algn="ctr"/>
              <a:r>
                <a:rPr lang="en-US" altLang="zh-TW" sz="1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(Goal: Alignment)</a:t>
              </a:r>
            </a:p>
          </p:txBody>
        </p:sp>
        <p:sp>
          <p:nvSpPr>
            <p:cNvPr id="37" name="右大括弧 36">
              <a:extLst>
                <a:ext uri="{FF2B5EF4-FFF2-40B4-BE49-F238E27FC236}">
                  <a16:creationId xmlns:a16="http://schemas.microsoft.com/office/drawing/2014/main" id="{D20F47B1-9D0B-3FB0-F3F1-472019ABA4C9}"/>
                </a:ext>
              </a:extLst>
            </p:cNvPr>
            <p:cNvSpPr/>
            <p:nvPr/>
          </p:nvSpPr>
          <p:spPr>
            <a:xfrm rot="16200000">
              <a:off x="1855526" y="2139505"/>
              <a:ext cx="153043" cy="1100372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6DAD7B2C-ECBC-5409-ACCF-C57D6A2A82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6727229"/>
              </p:ext>
            </p:extLst>
          </p:nvPr>
        </p:nvGraphicFramePr>
        <p:xfrm>
          <a:off x="6887389" y="4395160"/>
          <a:ext cx="1645051" cy="1338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05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164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Functions 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Intent Parsing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Capability Matching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Dynamic Dispatching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Execution Monitoring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Update Skill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7791173"/>
                  </a:ext>
                </a:extLst>
              </a:tr>
            </a:tbl>
          </a:graphicData>
        </a:graphic>
      </p:graphicFrame>
      <p:cxnSp>
        <p:nvCxnSpPr>
          <p:cNvPr id="13" name="直線單箭頭接點 12">
            <a:extLst>
              <a:ext uri="{FF2B5EF4-FFF2-40B4-BE49-F238E27FC236}">
                <a16:creationId xmlns:a16="http://schemas.microsoft.com/office/drawing/2014/main" id="{59363631-C7E6-801B-5C06-7DF922EC9AD0}"/>
              </a:ext>
            </a:extLst>
          </p:cNvPr>
          <p:cNvCxnSpPr>
            <a:cxnSpLocks/>
            <a:endCxn id="23" idx="1"/>
          </p:cNvCxnSpPr>
          <p:nvPr/>
        </p:nvCxnSpPr>
        <p:spPr>
          <a:xfrm>
            <a:off x="1831082" y="2314941"/>
            <a:ext cx="1876823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6DB8FA6F-7F2A-81B9-BC87-5C6254408307}"/>
              </a:ext>
            </a:extLst>
          </p:cNvPr>
          <p:cNvSpPr txBox="1"/>
          <p:nvPr/>
        </p:nvSpPr>
        <p:spPr>
          <a:xfrm>
            <a:off x="3905988" y="3654966"/>
            <a:ext cx="1602116" cy="748224"/>
          </a:xfrm>
          <a:prstGeom prst="rect">
            <a:avLst/>
          </a:prstGeom>
          <a:solidFill>
            <a:schemeClr val="bg1">
              <a:alpha val="60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ysDot"/>
          </a:ln>
        </p:spPr>
        <p:txBody>
          <a:bodyPr wrap="none" lIns="0" tIns="7200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1">
                  <a:lumMod val="75000"/>
                </a:schemeClr>
              </a:solidFill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E38D2852-0E50-B26A-DDD1-646A07E30642}"/>
              </a:ext>
            </a:extLst>
          </p:cNvPr>
          <p:cNvSpPr txBox="1"/>
          <p:nvPr/>
        </p:nvSpPr>
        <p:spPr>
          <a:xfrm>
            <a:off x="4395325" y="5670112"/>
            <a:ext cx="616423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42" name="直線單箭頭接點 41">
            <a:extLst>
              <a:ext uri="{FF2B5EF4-FFF2-40B4-BE49-F238E27FC236}">
                <a16:creationId xmlns:a16="http://schemas.microsoft.com/office/drawing/2014/main" id="{E8BB46F6-04C0-304D-97C7-1C448761087C}"/>
              </a:ext>
            </a:extLst>
          </p:cNvPr>
          <p:cNvCxnSpPr>
            <a:cxnSpLocks/>
            <a:stCxn id="41" idx="0"/>
            <a:endCxn id="4" idx="2"/>
          </p:cNvCxnSpPr>
          <p:nvPr/>
        </p:nvCxnSpPr>
        <p:spPr>
          <a:xfrm flipV="1">
            <a:off x="4703537" y="5292341"/>
            <a:ext cx="0" cy="37777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接點: 肘形 64">
            <a:extLst>
              <a:ext uri="{FF2B5EF4-FFF2-40B4-BE49-F238E27FC236}">
                <a16:creationId xmlns:a16="http://schemas.microsoft.com/office/drawing/2014/main" id="{96A1C980-1A1E-0E55-BF8E-AC7D7F8FA548}"/>
              </a:ext>
            </a:extLst>
          </p:cNvPr>
          <p:cNvCxnSpPr>
            <a:cxnSpLocks/>
            <a:stCxn id="4" idx="0"/>
            <a:endCxn id="70" idx="3"/>
          </p:cNvCxnSpPr>
          <p:nvPr/>
        </p:nvCxnSpPr>
        <p:spPr>
          <a:xfrm rot="16200000" flipH="1">
            <a:off x="4730848" y="3257673"/>
            <a:ext cx="1521033" cy="1575656"/>
          </a:xfrm>
          <a:prstGeom prst="bentConnector4">
            <a:avLst>
              <a:gd name="adj1" fmla="val -15029"/>
              <a:gd name="adj2" fmla="val 127967"/>
            </a:avLst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菱形 69">
            <a:extLst>
              <a:ext uri="{FF2B5EF4-FFF2-40B4-BE49-F238E27FC236}">
                <a16:creationId xmlns:a16="http://schemas.microsoft.com/office/drawing/2014/main" id="{C103C3EA-9A2B-56B2-71C8-2DC4B5A44B88}"/>
              </a:ext>
            </a:extLst>
          </p:cNvPr>
          <p:cNvSpPr/>
          <p:nvPr/>
        </p:nvSpPr>
        <p:spPr>
          <a:xfrm>
            <a:off x="5868144" y="4598859"/>
            <a:ext cx="411049" cy="414317"/>
          </a:xfrm>
          <a:prstGeom prst="diamond">
            <a:avLst/>
          </a:prstGeom>
          <a:solidFill>
            <a:schemeClr val="bg1">
              <a:lumMod val="95000"/>
              <a:alpha val="9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Execution</a:t>
            </a:r>
          </a:p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Monitoring</a:t>
            </a:r>
            <a:endParaRPr lang="zh-TW" altLang="en-US" sz="10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63" name="箭號: 向下 62">
            <a:extLst>
              <a:ext uri="{FF2B5EF4-FFF2-40B4-BE49-F238E27FC236}">
                <a16:creationId xmlns:a16="http://schemas.microsoft.com/office/drawing/2014/main" id="{F48C7747-863B-73B4-1013-B33EDF23A7A2}"/>
              </a:ext>
            </a:extLst>
          </p:cNvPr>
          <p:cNvSpPr/>
          <p:nvPr/>
        </p:nvSpPr>
        <p:spPr>
          <a:xfrm rot="10800000">
            <a:off x="5004049" y="3361821"/>
            <a:ext cx="325849" cy="356790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9" name="箭號: 向下 58">
            <a:extLst>
              <a:ext uri="{FF2B5EF4-FFF2-40B4-BE49-F238E27FC236}">
                <a16:creationId xmlns:a16="http://schemas.microsoft.com/office/drawing/2014/main" id="{F947BFCB-E126-A288-3F5F-5B82F85DC58F}"/>
              </a:ext>
            </a:extLst>
          </p:cNvPr>
          <p:cNvSpPr/>
          <p:nvPr/>
        </p:nvSpPr>
        <p:spPr>
          <a:xfrm rot="10800000">
            <a:off x="4030127" y="3361825"/>
            <a:ext cx="325849" cy="356786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90" name="接點: 肘形 89">
            <a:extLst>
              <a:ext uri="{FF2B5EF4-FFF2-40B4-BE49-F238E27FC236}">
                <a16:creationId xmlns:a16="http://schemas.microsoft.com/office/drawing/2014/main" id="{860BF17A-3A43-8200-7E8F-A0E51B403159}"/>
              </a:ext>
            </a:extLst>
          </p:cNvPr>
          <p:cNvCxnSpPr>
            <a:cxnSpLocks/>
            <a:stCxn id="70" idx="1"/>
            <a:endCxn id="128" idx="2"/>
          </p:cNvCxnSpPr>
          <p:nvPr/>
        </p:nvCxnSpPr>
        <p:spPr>
          <a:xfrm rot="10800000">
            <a:off x="4691460" y="4581128"/>
            <a:ext cx="1176685" cy="224890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箭號: 向下 100">
            <a:extLst>
              <a:ext uri="{FF2B5EF4-FFF2-40B4-BE49-F238E27FC236}">
                <a16:creationId xmlns:a16="http://schemas.microsoft.com/office/drawing/2014/main" id="{740A28A5-004A-1140-2753-AD03B5752A44}"/>
              </a:ext>
            </a:extLst>
          </p:cNvPr>
          <p:cNvSpPr/>
          <p:nvPr/>
        </p:nvSpPr>
        <p:spPr>
          <a:xfrm rot="10800000">
            <a:off x="4534183" y="3382098"/>
            <a:ext cx="325849" cy="356789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endParaRPr lang="zh-TW" altLang="en-US" sz="10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28" name="菱形 127">
            <a:extLst>
              <a:ext uri="{FF2B5EF4-FFF2-40B4-BE49-F238E27FC236}">
                <a16:creationId xmlns:a16="http://schemas.microsoft.com/office/drawing/2014/main" id="{056CEF72-D817-DA77-D783-EA6E90469BE3}"/>
              </a:ext>
            </a:extLst>
          </p:cNvPr>
          <p:cNvSpPr/>
          <p:nvPr/>
        </p:nvSpPr>
        <p:spPr>
          <a:xfrm>
            <a:off x="4485934" y="4166811"/>
            <a:ext cx="411049" cy="414317"/>
          </a:xfrm>
          <a:prstGeom prst="diamond">
            <a:avLst/>
          </a:prstGeom>
          <a:solidFill>
            <a:schemeClr val="bg1">
              <a:lumMod val="95000"/>
              <a:alpha val="9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Intent</a:t>
            </a:r>
          </a:p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Parsing</a:t>
            </a:r>
            <a:endParaRPr lang="zh-TW" altLang="en-US" sz="10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50" name="文字方塊 149">
            <a:extLst>
              <a:ext uri="{FF2B5EF4-FFF2-40B4-BE49-F238E27FC236}">
                <a16:creationId xmlns:a16="http://schemas.microsoft.com/office/drawing/2014/main" id="{4DBC00A6-140D-02C8-ACC8-59862488BAFA}"/>
              </a:ext>
            </a:extLst>
          </p:cNvPr>
          <p:cNvSpPr txBox="1"/>
          <p:nvPr/>
        </p:nvSpPr>
        <p:spPr>
          <a:xfrm>
            <a:off x="4355976" y="3789040"/>
            <a:ext cx="706147" cy="4539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</a:t>
            </a:r>
          </a:p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Router</a:t>
            </a:r>
          </a:p>
        </p:txBody>
      </p:sp>
      <p:cxnSp>
        <p:nvCxnSpPr>
          <p:cNvPr id="169" name="接點: 肘形 168">
            <a:extLst>
              <a:ext uri="{FF2B5EF4-FFF2-40B4-BE49-F238E27FC236}">
                <a16:creationId xmlns:a16="http://schemas.microsoft.com/office/drawing/2014/main" id="{CD0DEFC5-0B24-936F-DA7E-42881C2850C2}"/>
              </a:ext>
            </a:extLst>
          </p:cNvPr>
          <p:cNvCxnSpPr>
            <a:cxnSpLocks/>
            <a:stCxn id="31" idx="1"/>
            <a:endCxn id="10" idx="0"/>
          </p:cNvCxnSpPr>
          <p:nvPr/>
        </p:nvCxnSpPr>
        <p:spPr>
          <a:xfrm rot="10800000" flipV="1">
            <a:off x="2050743" y="3498452"/>
            <a:ext cx="938755" cy="146572"/>
          </a:xfrm>
          <a:prstGeom prst="bentConnector2">
            <a:avLst/>
          </a:prstGeom>
          <a:ln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接點: 肘形 170">
            <a:extLst>
              <a:ext uri="{FF2B5EF4-FFF2-40B4-BE49-F238E27FC236}">
                <a16:creationId xmlns:a16="http://schemas.microsoft.com/office/drawing/2014/main" id="{6170D0D7-839B-02D8-7BA7-59D19B314486}"/>
              </a:ext>
            </a:extLst>
          </p:cNvPr>
          <p:cNvCxnSpPr>
            <a:cxnSpLocks/>
            <a:stCxn id="19" idx="3"/>
            <a:endCxn id="12" idx="0"/>
          </p:cNvCxnSpPr>
          <p:nvPr/>
        </p:nvCxnSpPr>
        <p:spPr>
          <a:xfrm>
            <a:off x="5508104" y="4029078"/>
            <a:ext cx="2201810" cy="366082"/>
          </a:xfrm>
          <a:prstGeom prst="bentConnector2">
            <a:avLst/>
          </a:prstGeom>
          <a:ln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6" name="文字方塊 175">
            <a:extLst>
              <a:ext uri="{FF2B5EF4-FFF2-40B4-BE49-F238E27FC236}">
                <a16:creationId xmlns:a16="http://schemas.microsoft.com/office/drawing/2014/main" id="{7DEA0D74-EF3B-9C8A-F84C-2F323131741D}"/>
              </a:ext>
            </a:extLst>
          </p:cNvPr>
          <p:cNvSpPr txBox="1"/>
          <p:nvPr/>
        </p:nvSpPr>
        <p:spPr>
          <a:xfrm>
            <a:off x="2989497" y="3645024"/>
            <a:ext cx="764323" cy="368208"/>
          </a:xfrm>
          <a:prstGeom prst="rect">
            <a:avLst/>
          </a:prstGeom>
          <a:solidFill>
            <a:schemeClr val="bg1">
              <a:alpha val="60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ysDot"/>
          </a:ln>
        </p:spPr>
        <p:txBody>
          <a:bodyPr wrap="none" lIns="0" tIns="0" rIns="0" bIns="0" anchor="b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SLM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(Inference)</a:t>
            </a:r>
          </a:p>
        </p:txBody>
      </p:sp>
      <p:sp>
        <p:nvSpPr>
          <p:cNvPr id="6" name="語音泡泡: 圓角矩形 5">
            <a:extLst>
              <a:ext uri="{FF2B5EF4-FFF2-40B4-BE49-F238E27FC236}">
                <a16:creationId xmlns:a16="http://schemas.microsoft.com/office/drawing/2014/main" id="{905E2150-432D-233C-0E0E-6B9259F5B0F8}"/>
              </a:ext>
            </a:extLst>
          </p:cNvPr>
          <p:cNvSpPr/>
          <p:nvPr/>
        </p:nvSpPr>
        <p:spPr>
          <a:xfrm>
            <a:off x="3203848" y="4742039"/>
            <a:ext cx="1149254" cy="703185"/>
          </a:xfrm>
          <a:prstGeom prst="wedgeRoundRectCallout">
            <a:avLst>
              <a:gd name="adj1" fmla="val 37486"/>
              <a:gd name="adj2" fmla="val 79865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Anything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interesting</a:t>
            </a:r>
            <a:endParaRPr kumimoji="0" lang="en-US" altLang="zh-TW" sz="1200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today?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ABBE1A47-340D-F018-875C-126691CF8304}"/>
              </a:ext>
            </a:extLst>
          </p:cNvPr>
          <p:cNvSpPr txBox="1"/>
          <p:nvPr/>
        </p:nvSpPr>
        <p:spPr>
          <a:xfrm>
            <a:off x="2989497" y="4060993"/>
            <a:ext cx="764323" cy="368208"/>
          </a:xfrm>
          <a:prstGeom prst="rect">
            <a:avLst/>
          </a:prstGeom>
          <a:solidFill>
            <a:schemeClr val="bg1">
              <a:alpha val="60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ysDot"/>
          </a:ln>
        </p:spPr>
        <p:txBody>
          <a:bodyPr wrap="none" lIns="0" tIns="0" rIns="0" bIns="0" anchor="b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Skill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(Tools)</a:t>
            </a: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3408F49E-2660-ED9C-C17D-77DCF9AAA22F}"/>
              </a:ext>
            </a:extLst>
          </p:cNvPr>
          <p:cNvSpPr txBox="1"/>
          <p:nvPr/>
        </p:nvSpPr>
        <p:spPr>
          <a:xfrm>
            <a:off x="7848364" y="44624"/>
            <a:ext cx="1214435" cy="4555093"/>
          </a:xfrm>
          <a:prstGeom prst="rect">
            <a:avLst/>
          </a:prstGeom>
          <a:noFill/>
        </p:spPr>
        <p:txBody>
          <a:bodyPr wrap="none" lIns="91440" tIns="91440" rIns="0" bIns="0">
            <a:spAutoFit/>
          </a:bodyPr>
          <a:lstStyle/>
          <a:p>
            <a:pPr defTabSz="1546225"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u="none" strike="noStrike" dirty="0">
                <a:solidFill>
                  <a:schemeClr val="bg1">
                    <a:lumMod val="65000"/>
                  </a:schemeClr>
                </a:solidFill>
                <a:effectLst/>
              </a:rPr>
              <a:t> Overview</a:t>
            </a:r>
            <a:endParaRPr lang="en-US" altLang="zh-TW" sz="1000" u="none" strike="noStrike" dirty="0">
              <a:solidFill>
                <a:schemeClr val="bg1">
                  <a:lumMod val="65000"/>
                </a:schemeClr>
              </a:solidFill>
              <a:effectLst/>
            </a:endParaRPr>
          </a:p>
          <a:p>
            <a:pPr marL="111125" lvl="3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zh-TW" altLang="en-US" sz="10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ML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Training Stages</a:t>
            </a:r>
            <a:endParaRPr lang="en-US" altLang="zh-TW" sz="1000" u="none" strike="noStrike" dirty="0">
              <a:solidFill>
                <a:schemeClr val="bg1">
                  <a:lumMod val="65000"/>
                </a:schemeClr>
              </a:solidFill>
              <a:effectLst/>
            </a:endParaRP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Transformer</a:t>
            </a:r>
            <a:endParaRPr lang="en-US" altLang="zh-TW" sz="1000" dirty="0">
              <a:solidFill>
                <a:schemeClr val="bg1">
                  <a:lumMod val="65000"/>
                </a:schemeClr>
              </a:solidFill>
            </a:endParaRP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Program Flow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Self-Attention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FFNN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Token Embedding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Rotary of PE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GPT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  <a:latin typeface="Calibri"/>
                <a:ea typeface="新細明體" panose="02020500000000000000" pitchFamily="18" charset="-120"/>
              </a:rPr>
              <a:t> Pre-Training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  <a:latin typeface="Calibri"/>
                <a:ea typeface="新細明體" panose="02020500000000000000" pitchFamily="18" charset="-120"/>
              </a:rPr>
              <a:t> Basic Model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  <a:latin typeface="Calibri"/>
                <a:ea typeface="新細明體" panose="02020500000000000000" pitchFamily="18" charset="-120"/>
              </a:rPr>
              <a:t> Backpropagation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Inference 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Training Cluster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rgbClr val="FF0000"/>
                </a:solidFill>
              </a:rPr>
              <a:t> AI Runtime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MCP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RAG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LLM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Trend Analysis 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Gemma 3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Supervised FT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LoRA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Gemma 4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PLE 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Comparison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Conclusion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Frameworks 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Practices</a:t>
            </a:r>
          </a:p>
        </p:txBody>
      </p:sp>
    </p:spTree>
    <p:extLst>
      <p:ext uri="{BB962C8B-B14F-4D97-AF65-F5344CB8AC3E}">
        <p14:creationId xmlns:p14="http://schemas.microsoft.com/office/powerpoint/2010/main" val="5091521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矩形: 圓角 33">
            <a:extLst>
              <a:ext uri="{FF2B5EF4-FFF2-40B4-BE49-F238E27FC236}">
                <a16:creationId xmlns:a16="http://schemas.microsoft.com/office/drawing/2014/main" id="{B8E9871D-CD28-29D2-C3B9-17959FEDFB46}"/>
              </a:ext>
            </a:extLst>
          </p:cNvPr>
          <p:cNvSpPr/>
          <p:nvPr/>
        </p:nvSpPr>
        <p:spPr>
          <a:xfrm>
            <a:off x="6403176" y="1978558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5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A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3" name="矩形: 圓角 62">
            <a:extLst>
              <a:ext uri="{FF2B5EF4-FFF2-40B4-BE49-F238E27FC236}">
                <a16:creationId xmlns:a16="http://schemas.microsoft.com/office/drawing/2014/main" id="{E4FB350E-E1A8-F9B4-5833-A320C32EEA10}"/>
              </a:ext>
            </a:extLst>
          </p:cNvPr>
          <p:cNvSpPr/>
          <p:nvPr/>
        </p:nvSpPr>
        <p:spPr>
          <a:xfrm>
            <a:off x="6403176" y="2630471"/>
            <a:ext cx="1013457" cy="481201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  <a:alpha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B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7" name="矩形: 圓角 66">
            <a:extLst>
              <a:ext uri="{FF2B5EF4-FFF2-40B4-BE49-F238E27FC236}">
                <a16:creationId xmlns:a16="http://schemas.microsoft.com/office/drawing/2014/main" id="{EFC7C74A-E190-637E-58B5-5EAE6F819354}"/>
              </a:ext>
            </a:extLst>
          </p:cNvPr>
          <p:cNvSpPr/>
          <p:nvPr/>
        </p:nvSpPr>
        <p:spPr>
          <a:xfrm>
            <a:off x="6403176" y="3276045"/>
            <a:ext cx="1013457" cy="481201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  <a:alpha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C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E6B6C4F2-3F1E-6AE2-7DFF-8F6FA04D2EDF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AI Agent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(PC/NB)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134" name="矩形: 圓角 133">
            <a:extLst>
              <a:ext uri="{FF2B5EF4-FFF2-40B4-BE49-F238E27FC236}">
                <a16:creationId xmlns:a16="http://schemas.microsoft.com/office/drawing/2014/main" id="{202C397C-75BA-F777-FD3B-5046214DE27F}"/>
              </a:ext>
            </a:extLst>
          </p:cNvPr>
          <p:cNvSpPr/>
          <p:nvPr/>
        </p:nvSpPr>
        <p:spPr>
          <a:xfrm>
            <a:off x="4027099" y="1531881"/>
            <a:ext cx="797767" cy="240935"/>
          </a:xfrm>
          <a:prstGeom prst="roundRect">
            <a:avLst>
              <a:gd name="adj" fmla="val 8706"/>
            </a:avLst>
          </a:prstGeom>
          <a:solidFill>
            <a:schemeClr val="accent4">
              <a:lumMod val="7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MCP Host</a:t>
            </a:r>
            <a:endParaRPr lang="zh-TW" altLang="en-US" sz="1200" b="1" dirty="0">
              <a:solidFill>
                <a:schemeClr val="bg1"/>
              </a:solidFill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7AAD28DF-6498-6387-F96E-656B98F80A89}"/>
              </a:ext>
            </a:extLst>
          </p:cNvPr>
          <p:cNvSpPr txBox="1"/>
          <p:nvPr/>
        </p:nvSpPr>
        <p:spPr>
          <a:xfrm>
            <a:off x="3983838" y="448420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42" name="直線單箭頭接點 41">
            <a:extLst>
              <a:ext uri="{FF2B5EF4-FFF2-40B4-BE49-F238E27FC236}">
                <a16:creationId xmlns:a16="http://schemas.microsoft.com/office/drawing/2014/main" id="{5C031ACB-F901-E82F-EC14-CA1BE0422B34}"/>
              </a:ext>
            </a:extLst>
          </p:cNvPr>
          <p:cNvCxnSpPr>
            <a:cxnSpLocks/>
            <a:stCxn id="9" idx="0"/>
            <a:endCxn id="16" idx="2"/>
          </p:cNvCxnSpPr>
          <p:nvPr/>
        </p:nvCxnSpPr>
        <p:spPr>
          <a:xfrm flipH="1" flipV="1">
            <a:off x="4392379" y="3501008"/>
            <a:ext cx="2358" cy="98320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圖形 23" descr="資料庫 外框">
            <a:extLst>
              <a:ext uri="{FF2B5EF4-FFF2-40B4-BE49-F238E27FC236}">
                <a16:creationId xmlns:a16="http://schemas.microsoft.com/office/drawing/2014/main" id="{D596727D-E562-6026-F9B1-9D1D9C4256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07341" y="3329203"/>
            <a:ext cx="339828" cy="379784"/>
          </a:xfrm>
          <a:prstGeom prst="rect">
            <a:avLst/>
          </a:prstGeom>
        </p:spPr>
      </p:pic>
      <p:pic>
        <p:nvPicPr>
          <p:cNvPr id="38" name="圖形 37" descr="雲層雷雨交加 外框">
            <a:extLst>
              <a:ext uri="{FF2B5EF4-FFF2-40B4-BE49-F238E27FC236}">
                <a16:creationId xmlns:a16="http://schemas.microsoft.com/office/drawing/2014/main" id="{346A6EC7-751C-4D36-7261-2A593AC177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98668" y="2032433"/>
            <a:ext cx="361764" cy="379783"/>
          </a:xfrm>
          <a:prstGeom prst="rect">
            <a:avLst/>
          </a:prstGeom>
          <a:effectLst>
            <a:glow rad="127000">
              <a:schemeClr val="accent5">
                <a:lumMod val="40000"/>
                <a:lumOff val="60000"/>
              </a:schemeClr>
            </a:glow>
          </a:effectLst>
        </p:spPr>
      </p:pic>
      <p:pic>
        <p:nvPicPr>
          <p:cNvPr id="52" name="圖形 51" descr="卷軸 以實心填滿">
            <a:extLst>
              <a:ext uri="{FF2B5EF4-FFF2-40B4-BE49-F238E27FC236}">
                <a16:creationId xmlns:a16="http://schemas.microsoft.com/office/drawing/2014/main" id="{F6CA5A40-9982-0F14-63E4-B4D6B3029F9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80650" y="2682175"/>
            <a:ext cx="379782" cy="354089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48EC587F-29DE-2F04-46FF-CEDC728BDC5D}"/>
              </a:ext>
            </a:extLst>
          </p:cNvPr>
          <p:cNvSpPr txBox="1"/>
          <p:nvPr/>
        </p:nvSpPr>
        <p:spPr>
          <a:xfrm>
            <a:off x="7983304" y="3654286"/>
            <a:ext cx="549136" cy="39682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</a:rPr>
              <a:t>Remote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</a:rPr>
              <a:t>service</a:t>
            </a:r>
          </a:p>
        </p:txBody>
      </p: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F325E1DC-6674-E4D2-2281-E8E06C60DAD2}"/>
              </a:ext>
            </a:extLst>
          </p:cNvPr>
          <p:cNvCxnSpPr>
            <a:cxnSpLocks/>
            <a:stCxn id="38" idx="1"/>
            <a:endCxn id="34" idx="3"/>
          </p:cNvCxnSpPr>
          <p:nvPr/>
        </p:nvCxnSpPr>
        <p:spPr>
          <a:xfrm flipH="1" flipV="1">
            <a:off x="7416633" y="2219159"/>
            <a:ext cx="682035" cy="316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5CBD3571-7A57-2216-0FE5-E2ABCD70BF10}"/>
              </a:ext>
            </a:extLst>
          </p:cNvPr>
          <p:cNvSpPr txBox="1"/>
          <p:nvPr/>
        </p:nvSpPr>
        <p:spPr>
          <a:xfrm>
            <a:off x="7524324" y="2065927"/>
            <a:ext cx="432052" cy="28295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Open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Data</a:t>
            </a:r>
          </a:p>
        </p:txBody>
      </p:sp>
      <p:cxnSp>
        <p:nvCxnSpPr>
          <p:cNvPr id="62" name="直線單箭頭接點 61">
            <a:extLst>
              <a:ext uri="{FF2B5EF4-FFF2-40B4-BE49-F238E27FC236}">
                <a16:creationId xmlns:a16="http://schemas.microsoft.com/office/drawing/2014/main" id="{ECB804E9-3D17-8FB5-E2A2-F10ADE974A47}"/>
              </a:ext>
            </a:extLst>
          </p:cNvPr>
          <p:cNvCxnSpPr>
            <a:cxnSpLocks/>
            <a:stCxn id="52" idx="1"/>
            <a:endCxn id="63" idx="3"/>
          </p:cNvCxnSpPr>
          <p:nvPr/>
        </p:nvCxnSpPr>
        <p:spPr>
          <a:xfrm flipH="1">
            <a:off x="7416633" y="2859220"/>
            <a:ext cx="664017" cy="1185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文字方塊 64">
            <a:extLst>
              <a:ext uri="{FF2B5EF4-FFF2-40B4-BE49-F238E27FC236}">
                <a16:creationId xmlns:a16="http://schemas.microsoft.com/office/drawing/2014/main" id="{1565FD56-B192-9E72-AC7B-EF7FFEEA267B}"/>
              </a:ext>
            </a:extLst>
          </p:cNvPr>
          <p:cNvSpPr txBox="1"/>
          <p:nvPr/>
        </p:nvSpPr>
        <p:spPr>
          <a:xfrm>
            <a:off x="7547182" y="2689285"/>
            <a:ext cx="481202" cy="34479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GitHub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Projects</a:t>
            </a:r>
          </a:p>
        </p:txBody>
      </p:sp>
      <p:cxnSp>
        <p:nvCxnSpPr>
          <p:cNvPr id="66" name="直線單箭頭接點 65">
            <a:extLst>
              <a:ext uri="{FF2B5EF4-FFF2-40B4-BE49-F238E27FC236}">
                <a16:creationId xmlns:a16="http://schemas.microsoft.com/office/drawing/2014/main" id="{F7C38374-13EF-8444-DFEB-5FD1DE9489CF}"/>
              </a:ext>
            </a:extLst>
          </p:cNvPr>
          <p:cNvCxnSpPr>
            <a:cxnSpLocks/>
            <a:stCxn id="24" idx="1"/>
            <a:endCxn id="67" idx="3"/>
          </p:cNvCxnSpPr>
          <p:nvPr/>
        </p:nvCxnSpPr>
        <p:spPr>
          <a:xfrm flipH="1" flipV="1">
            <a:off x="7416633" y="3516646"/>
            <a:ext cx="690708" cy="2449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732D365C-E0C0-4480-5F30-50A8AB418212}"/>
              </a:ext>
            </a:extLst>
          </p:cNvPr>
          <p:cNvSpPr txBox="1"/>
          <p:nvPr/>
        </p:nvSpPr>
        <p:spPr>
          <a:xfrm>
            <a:off x="7547182" y="3284984"/>
            <a:ext cx="481202" cy="26024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Database</a:t>
            </a:r>
          </a:p>
        </p:txBody>
      </p:sp>
      <p:sp>
        <p:nvSpPr>
          <p:cNvPr id="89" name="矩形: 圓角 88">
            <a:extLst>
              <a:ext uri="{FF2B5EF4-FFF2-40B4-BE49-F238E27FC236}">
                <a16:creationId xmlns:a16="http://schemas.microsoft.com/office/drawing/2014/main" id="{C35C377F-104F-EB33-BFCB-9776ED9FED54}"/>
              </a:ext>
            </a:extLst>
          </p:cNvPr>
          <p:cNvSpPr/>
          <p:nvPr/>
        </p:nvSpPr>
        <p:spPr>
          <a:xfrm>
            <a:off x="4896241" y="2625546"/>
            <a:ext cx="504689" cy="488364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92" name="矩形: 圓角 91">
            <a:extLst>
              <a:ext uri="{FF2B5EF4-FFF2-40B4-BE49-F238E27FC236}">
                <a16:creationId xmlns:a16="http://schemas.microsoft.com/office/drawing/2014/main" id="{0F1F2219-D782-334F-44BA-F7E58D8E34C3}"/>
              </a:ext>
            </a:extLst>
          </p:cNvPr>
          <p:cNvSpPr/>
          <p:nvPr/>
        </p:nvSpPr>
        <p:spPr>
          <a:xfrm>
            <a:off x="4896241" y="3271120"/>
            <a:ext cx="504689" cy="488364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02" name="直線單箭頭接點 101">
            <a:extLst>
              <a:ext uri="{FF2B5EF4-FFF2-40B4-BE49-F238E27FC236}">
                <a16:creationId xmlns:a16="http://schemas.microsoft.com/office/drawing/2014/main" id="{B5FECA90-B6A6-D5DE-34B7-0D2458B6B40E}"/>
              </a:ext>
            </a:extLst>
          </p:cNvPr>
          <p:cNvCxnSpPr>
            <a:cxnSpLocks/>
            <a:stCxn id="34" idx="1"/>
            <a:endCxn id="36" idx="3"/>
          </p:cNvCxnSpPr>
          <p:nvPr/>
        </p:nvCxnSpPr>
        <p:spPr>
          <a:xfrm flipH="1">
            <a:off x="5400930" y="2219159"/>
            <a:ext cx="1002246" cy="3582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線單箭頭接點 106">
            <a:extLst>
              <a:ext uri="{FF2B5EF4-FFF2-40B4-BE49-F238E27FC236}">
                <a16:creationId xmlns:a16="http://schemas.microsoft.com/office/drawing/2014/main" id="{4B3B2844-3ED2-2107-9FA2-DDE0A38496FF}"/>
              </a:ext>
            </a:extLst>
          </p:cNvPr>
          <p:cNvCxnSpPr>
            <a:cxnSpLocks/>
            <a:stCxn id="63" idx="1"/>
            <a:endCxn id="89" idx="3"/>
          </p:cNvCxnSpPr>
          <p:nvPr/>
        </p:nvCxnSpPr>
        <p:spPr>
          <a:xfrm flipH="1" flipV="1">
            <a:off x="5400930" y="2869728"/>
            <a:ext cx="1002246" cy="1344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線單箭頭接點 107">
            <a:extLst>
              <a:ext uri="{FF2B5EF4-FFF2-40B4-BE49-F238E27FC236}">
                <a16:creationId xmlns:a16="http://schemas.microsoft.com/office/drawing/2014/main" id="{DF5897A3-59AB-2800-B47B-61BAA4BE06CA}"/>
              </a:ext>
            </a:extLst>
          </p:cNvPr>
          <p:cNvCxnSpPr>
            <a:cxnSpLocks/>
            <a:stCxn id="67" idx="1"/>
            <a:endCxn id="92" idx="3"/>
          </p:cNvCxnSpPr>
          <p:nvPr/>
        </p:nvCxnSpPr>
        <p:spPr>
          <a:xfrm flipH="1" flipV="1">
            <a:off x="5400930" y="3515302"/>
            <a:ext cx="1002246" cy="1344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ACA7D7BF-DBE4-058F-367A-8356FF5D7ACD}"/>
              </a:ext>
            </a:extLst>
          </p:cNvPr>
          <p:cNvSpPr txBox="1"/>
          <p:nvPr/>
        </p:nvSpPr>
        <p:spPr>
          <a:xfrm>
            <a:off x="5651487" y="2071814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130" name="文字方塊 129">
            <a:extLst>
              <a:ext uri="{FF2B5EF4-FFF2-40B4-BE49-F238E27FC236}">
                <a16:creationId xmlns:a16="http://schemas.microsoft.com/office/drawing/2014/main" id="{DCAF35C5-5518-CDF2-1AC5-4528F8B47E2A}"/>
              </a:ext>
            </a:extLst>
          </p:cNvPr>
          <p:cNvSpPr txBox="1"/>
          <p:nvPr/>
        </p:nvSpPr>
        <p:spPr>
          <a:xfrm>
            <a:off x="5651487" y="2708711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132" name="文字方塊 131">
            <a:extLst>
              <a:ext uri="{FF2B5EF4-FFF2-40B4-BE49-F238E27FC236}">
                <a16:creationId xmlns:a16="http://schemas.microsoft.com/office/drawing/2014/main" id="{B27DB76A-51FC-8DE5-1DF8-7871A37C702C}"/>
              </a:ext>
            </a:extLst>
          </p:cNvPr>
          <p:cNvSpPr txBox="1"/>
          <p:nvPr/>
        </p:nvSpPr>
        <p:spPr>
          <a:xfrm>
            <a:off x="5651487" y="3367958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27" name="標題 1">
            <a:extLst>
              <a:ext uri="{FF2B5EF4-FFF2-40B4-BE49-F238E27FC236}">
                <a16:creationId xmlns:a16="http://schemas.microsoft.com/office/drawing/2014/main" id="{714FED49-EBEA-804C-277F-87FC8CCB523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Model Context Protocol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MCP enables AI Agents to connect with external tools and data sources.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pic>
        <p:nvPicPr>
          <p:cNvPr id="122" name="圖形 121" descr="科學思想 以實心填滿">
            <a:extLst>
              <a:ext uri="{FF2B5EF4-FFF2-40B4-BE49-F238E27FC236}">
                <a16:creationId xmlns:a16="http://schemas.microsoft.com/office/drawing/2014/main" id="{53EAAAE7-6160-7CCC-5A4B-4BE4A3A490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chemeClr val="accent4">
                <a:lumMod val="20000"/>
                <a:lumOff val="80000"/>
                <a:alpha val="40000"/>
              </a:schemeClr>
            </a:glow>
            <a:softEdge rad="0"/>
          </a:effectLst>
        </p:spPr>
      </p:pic>
      <p:cxnSp>
        <p:nvCxnSpPr>
          <p:cNvPr id="46" name="接點: 肘形 45">
            <a:extLst>
              <a:ext uri="{FF2B5EF4-FFF2-40B4-BE49-F238E27FC236}">
                <a16:creationId xmlns:a16="http://schemas.microsoft.com/office/drawing/2014/main" id="{1A54FABB-C12D-2671-5993-08851B7C76B4}"/>
              </a:ext>
            </a:extLst>
          </p:cNvPr>
          <p:cNvCxnSpPr>
            <a:cxnSpLocks/>
            <a:stCxn id="36" idx="1"/>
            <a:endCxn id="51" idx="0"/>
          </p:cNvCxnSpPr>
          <p:nvPr/>
        </p:nvCxnSpPr>
        <p:spPr>
          <a:xfrm rot="10800000">
            <a:off x="2253519" y="2108845"/>
            <a:ext cx="2642722" cy="113896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3" name="圖形 32" descr="伺服器 外框">
            <a:extLst>
              <a:ext uri="{FF2B5EF4-FFF2-40B4-BE49-F238E27FC236}">
                <a16:creationId xmlns:a16="http://schemas.microsoft.com/office/drawing/2014/main" id="{B7443F36-B2FC-CB85-E4F0-451C548355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023366"/>
            <a:ext cx="379782" cy="379782"/>
          </a:xfrm>
          <a:prstGeom prst="rect">
            <a:avLst/>
          </a:prstGeom>
        </p:spPr>
      </p:pic>
      <p:pic>
        <p:nvPicPr>
          <p:cNvPr id="64" name="圖形 63" descr="伺服器 外框">
            <a:extLst>
              <a:ext uri="{FF2B5EF4-FFF2-40B4-BE49-F238E27FC236}">
                <a16:creationId xmlns:a16="http://schemas.microsoft.com/office/drawing/2014/main" id="{806998D7-3658-0790-4F9D-0B45384B40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673936"/>
            <a:ext cx="379782" cy="379782"/>
          </a:xfrm>
          <a:prstGeom prst="rect">
            <a:avLst/>
          </a:prstGeom>
        </p:spPr>
      </p:pic>
      <p:pic>
        <p:nvPicPr>
          <p:cNvPr id="71" name="圖形 70" descr="伺服器 外框">
            <a:extLst>
              <a:ext uri="{FF2B5EF4-FFF2-40B4-BE49-F238E27FC236}">
                <a16:creationId xmlns:a16="http://schemas.microsoft.com/office/drawing/2014/main" id="{1D96CDB2-5F83-291C-71A2-055C73A7E0C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3319510"/>
            <a:ext cx="379782" cy="379782"/>
          </a:xfrm>
          <a:prstGeom prst="rect">
            <a:avLst/>
          </a:prstGeom>
        </p:spPr>
      </p:pic>
      <p:cxnSp>
        <p:nvCxnSpPr>
          <p:cNvPr id="129" name="直線單箭頭接點 128">
            <a:extLst>
              <a:ext uri="{FF2B5EF4-FFF2-40B4-BE49-F238E27FC236}">
                <a16:creationId xmlns:a16="http://schemas.microsoft.com/office/drawing/2014/main" id="{827A2D18-C4EC-8149-F151-65A9F46CB2F8}"/>
              </a:ext>
            </a:extLst>
          </p:cNvPr>
          <p:cNvCxnSpPr>
            <a:cxnSpLocks/>
          </p:cNvCxnSpPr>
          <p:nvPr/>
        </p:nvCxnSpPr>
        <p:spPr>
          <a:xfrm>
            <a:off x="2339711" y="2929508"/>
            <a:ext cx="973953" cy="0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文字方塊 140">
            <a:extLst>
              <a:ext uri="{FF2B5EF4-FFF2-40B4-BE49-F238E27FC236}">
                <a16:creationId xmlns:a16="http://schemas.microsoft.com/office/drawing/2014/main" id="{0F66A28B-877E-790B-E5AB-98F5C06EAAA8}"/>
              </a:ext>
            </a:extLst>
          </p:cNvPr>
          <p:cNvSpPr txBox="1"/>
          <p:nvPr/>
        </p:nvSpPr>
        <p:spPr>
          <a:xfrm>
            <a:off x="2222968" y="3003255"/>
            <a:ext cx="1224935" cy="42574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“The share price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is $300</a:t>
            </a: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</a:t>
            </a:r>
            <a:endParaRPr lang="en-US" altLang="zh-TW" sz="1200" u="none" strike="noStrike" dirty="0">
              <a:solidFill>
                <a:schemeClr val="tx2">
                  <a:lumMod val="75000"/>
                </a:schemeClr>
              </a:solidFill>
              <a:effectLst/>
              <a:latin typeface="Comic Sans MS" panose="030F0702030302020204" pitchFamily="66" charset="0"/>
              <a:ea typeface="微軟正黑體" panose="020B0604030504040204" pitchFamily="34" charset="-120"/>
            </a:endParaRPr>
          </a:p>
        </p:txBody>
      </p:sp>
      <p:grpSp>
        <p:nvGrpSpPr>
          <p:cNvPr id="174" name="群組 173">
            <a:extLst>
              <a:ext uri="{FF2B5EF4-FFF2-40B4-BE49-F238E27FC236}">
                <a16:creationId xmlns:a16="http://schemas.microsoft.com/office/drawing/2014/main" id="{BEE30526-718C-1AFB-A5C7-9709765E6B51}"/>
              </a:ext>
            </a:extLst>
          </p:cNvPr>
          <p:cNvGrpSpPr/>
          <p:nvPr/>
        </p:nvGrpSpPr>
        <p:grpSpPr>
          <a:xfrm>
            <a:off x="611561" y="1611402"/>
            <a:ext cx="1643158" cy="994885"/>
            <a:chOff x="611560" y="1474120"/>
            <a:chExt cx="1764115" cy="1132167"/>
          </a:xfrm>
        </p:grpSpPr>
        <p:sp>
          <p:nvSpPr>
            <p:cNvPr id="51" name="雲朵形 50">
              <a:extLst>
                <a:ext uri="{FF2B5EF4-FFF2-40B4-BE49-F238E27FC236}">
                  <a16:creationId xmlns:a16="http://schemas.microsoft.com/office/drawing/2014/main" id="{068ED43E-E3BC-FB12-2DE6-452E2E4EDCB0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chemeClr val="accent1">
                <a:lumMod val="20000"/>
                <a:lumOff val="80000"/>
                <a:alpha val="70000"/>
              </a:schemeClr>
            </a:solidFill>
            <a:ln w="508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dirty="0">
                <a:solidFill>
                  <a:schemeClr val="tx2"/>
                </a:solidFill>
              </a:endParaRPr>
            </a:p>
          </p:txBody>
        </p:sp>
        <p:sp>
          <p:nvSpPr>
            <p:cNvPr id="159" name="文字方塊 158">
              <a:extLst>
                <a:ext uri="{FF2B5EF4-FFF2-40B4-BE49-F238E27FC236}">
                  <a16:creationId xmlns:a16="http://schemas.microsoft.com/office/drawing/2014/main" id="{A73A3A98-EF76-CBC8-28B7-D5216CD68F70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400" b="1" dirty="0"/>
                <a:t>DLL</a:t>
              </a:r>
              <a:r>
                <a:rPr lang="en-US" altLang="zh-TW" sz="1200" b="1" dirty="0"/>
                <a:t> </a:t>
              </a:r>
            </a:p>
            <a:p>
              <a:pPr>
                <a:lnSpc>
                  <a:spcPts val="1400"/>
                </a:lnSpc>
                <a:buNone/>
              </a:pPr>
              <a:r>
                <a:rPr lang="en-US" altLang="zh-TW" sz="1200" b="1" dirty="0"/>
                <a:t>Model</a:t>
              </a:r>
              <a:endParaRPr lang="en-US" altLang="zh-TW" sz="1400" b="1" dirty="0"/>
            </a:p>
          </p:txBody>
        </p:sp>
        <p:sp>
          <p:nvSpPr>
            <p:cNvPr id="166" name="矩形: 圓角 165">
              <a:extLst>
                <a:ext uri="{FF2B5EF4-FFF2-40B4-BE49-F238E27FC236}">
                  <a16:creationId xmlns:a16="http://schemas.microsoft.com/office/drawing/2014/main" id="{4C2F2724-9C95-61E4-4E18-182C73598EEB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en-US" altLang="zh-TW" sz="1200" b="1" dirty="0">
                  <a:solidFill>
                    <a:schemeClr val="bg1"/>
                  </a:solidFill>
                </a:rPr>
                <a:t>Model Engine</a:t>
              </a:r>
              <a:endParaRPr lang="zh-TW" altLang="en-US" sz="1200" b="1" dirty="0">
                <a:solidFill>
                  <a:schemeClr val="bg1"/>
                </a:solidFill>
              </a:endParaRPr>
            </a:p>
          </p:txBody>
        </p:sp>
        <p:pic>
          <p:nvPicPr>
            <p:cNvPr id="7" name="圖片 6">
              <a:extLst>
                <a:ext uri="{FF2B5EF4-FFF2-40B4-BE49-F238E27FC236}">
                  <a16:creationId xmlns:a16="http://schemas.microsoft.com/office/drawing/2014/main" id="{D82BC7A5-7FA1-4BBA-BF68-A20F3FC56D5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chemeClr val="accent5">
                  <a:lumMod val="20000"/>
                  <a:lumOff val="80000"/>
                  <a:alpha val="40000"/>
                </a:schemeClr>
              </a:glow>
              <a:softEdge rad="50800"/>
            </a:effectLst>
          </p:spPr>
        </p:pic>
        <p:pic>
          <p:nvPicPr>
            <p:cNvPr id="151" name="圖形 150" descr="原子 以實心填滿">
              <a:extLst>
                <a:ext uri="{FF2B5EF4-FFF2-40B4-BE49-F238E27FC236}">
                  <a16:creationId xmlns:a16="http://schemas.microsoft.com/office/drawing/2014/main" id="{B4A2124C-0737-AE16-69D0-A17BAB91282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5501C6B9-6DCD-10E9-0C12-453A6A83823F}"/>
              </a:ext>
            </a:extLst>
          </p:cNvPr>
          <p:cNvSpPr txBox="1"/>
          <p:nvPr/>
        </p:nvSpPr>
        <p:spPr>
          <a:xfrm>
            <a:off x="213023" y="5048016"/>
            <a:ext cx="7023273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Steps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Initialization &amp; Discovery</a:t>
            </a:r>
            <a:r>
              <a:rPr lang="en-US" altLang="zh-TW" sz="1600" b="0" u="none" strike="noStrike" dirty="0">
                <a:effectLst/>
              </a:rPr>
              <a:t>: MCP server provides tool schemas to the host.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Reasoning &amp; Tool Call</a:t>
            </a:r>
            <a:r>
              <a:rPr lang="en-US" altLang="zh-TW" sz="1600" b="0" u="none" strike="noStrike" dirty="0">
                <a:effectLst/>
              </a:rPr>
              <a:t>: LLM sends request to MCP server.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Execution &amp; Injection</a:t>
            </a:r>
            <a:r>
              <a:rPr lang="en-US" altLang="zh-TW" sz="1600" dirty="0"/>
              <a:t>: Server returns data to host for LLM context injection.</a:t>
            </a: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44BE3D63-325C-6AE3-8931-2C86EFB41E5F}"/>
              </a:ext>
            </a:extLst>
          </p:cNvPr>
          <p:cNvSpPr txBox="1"/>
          <p:nvPr/>
        </p:nvSpPr>
        <p:spPr>
          <a:xfrm>
            <a:off x="2605522" y="1879416"/>
            <a:ext cx="1000841" cy="41736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highlight>
                  <a:srgbClr val="DCE6F2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[Server A]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</a:t>
            </a:r>
            <a:endParaRPr lang="en-US" altLang="zh-TW" sz="1000" b="1" dirty="0">
              <a:solidFill>
                <a:schemeClr val="accent5">
                  <a:lumMod val="75000"/>
                </a:schemeClr>
              </a:solidFill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highlight>
                  <a:srgbClr val="DCE6F2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[350]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u="none" strike="noStrike" dirty="0">
                <a:solidFill>
                  <a:schemeClr val="accent5">
                    <a:lumMod val="75000"/>
                  </a:schemeClr>
                </a:solidFill>
                <a:effectLst/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</a:t>
            </a:r>
            <a:endParaRPr lang="en-US" altLang="zh-TW" sz="1200" b="1" u="none" strike="noStrike" dirty="0">
              <a:solidFill>
                <a:schemeClr val="accent5">
                  <a:lumMod val="75000"/>
                </a:schemeClr>
              </a:solidFill>
              <a:effectLst/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7D840E78-A210-D6AF-34FA-E25B15F7C188}"/>
              </a:ext>
            </a:extLst>
          </p:cNvPr>
          <p:cNvSpPr txBox="1"/>
          <p:nvPr/>
        </p:nvSpPr>
        <p:spPr>
          <a:xfrm>
            <a:off x="2300408" y="1673394"/>
            <a:ext cx="1306951" cy="24036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 Reasoning</a:t>
            </a:r>
          </a:p>
        </p:txBody>
      </p:sp>
      <p:sp>
        <p:nvSpPr>
          <p:cNvPr id="36" name="矩形: 圓角 35">
            <a:extLst>
              <a:ext uri="{FF2B5EF4-FFF2-40B4-BE49-F238E27FC236}">
                <a16:creationId xmlns:a16="http://schemas.microsoft.com/office/drawing/2014/main" id="{BCBF1B2A-C695-3EF2-5516-914B7DA9FBC2}"/>
              </a:ext>
            </a:extLst>
          </p:cNvPr>
          <p:cNvSpPr/>
          <p:nvPr/>
        </p:nvSpPr>
        <p:spPr>
          <a:xfrm>
            <a:off x="4896241" y="1978558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5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98" name="接點: 肘形 97">
            <a:extLst>
              <a:ext uri="{FF2B5EF4-FFF2-40B4-BE49-F238E27FC236}">
                <a16:creationId xmlns:a16="http://schemas.microsoft.com/office/drawing/2014/main" id="{FC1A4AD5-EB90-7718-C060-348E600A7CF2}"/>
              </a:ext>
            </a:extLst>
          </p:cNvPr>
          <p:cNvCxnSpPr>
            <a:cxnSpLocks/>
            <a:stCxn id="122" idx="1"/>
            <a:endCxn id="166" idx="2"/>
          </p:cNvCxnSpPr>
          <p:nvPr/>
        </p:nvCxnSpPr>
        <p:spPr>
          <a:xfrm rot="10800000">
            <a:off x="1460467" y="2506646"/>
            <a:ext cx="2644361" cy="322628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語音泡泡: 圓角矩形 11">
            <a:extLst>
              <a:ext uri="{FF2B5EF4-FFF2-40B4-BE49-F238E27FC236}">
                <a16:creationId xmlns:a16="http://schemas.microsoft.com/office/drawing/2014/main" id="{04A1D9BB-D006-4486-9C4F-2B7ACF469AE1}"/>
              </a:ext>
            </a:extLst>
          </p:cNvPr>
          <p:cNvSpPr/>
          <p:nvPr/>
        </p:nvSpPr>
        <p:spPr>
          <a:xfrm>
            <a:off x="2987824" y="3733927"/>
            <a:ext cx="1149254" cy="703185"/>
          </a:xfrm>
          <a:prstGeom prst="wedgeRoundRectCallout">
            <a:avLst>
              <a:gd name="adj1" fmla="val 64836"/>
              <a:gd name="adj2" fmla="val 39228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What is TSMC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Trading at?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92789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918276-D0C6-01E6-A681-1240666C02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字方塊 28">
            <a:extLst>
              <a:ext uri="{FF2B5EF4-FFF2-40B4-BE49-F238E27FC236}">
                <a16:creationId xmlns:a16="http://schemas.microsoft.com/office/drawing/2014/main" id="{B6A8BEEF-A7AC-4877-7FC2-EFF0EC3A6A55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AI Agent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(PC/NB)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BAC03CC8-25FD-DD77-EFCD-8368C75E36C3}"/>
              </a:ext>
            </a:extLst>
          </p:cNvPr>
          <p:cNvSpPr txBox="1"/>
          <p:nvPr/>
        </p:nvSpPr>
        <p:spPr>
          <a:xfrm>
            <a:off x="213023" y="5048016"/>
            <a:ext cx="8751465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AI Agent Skills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Autonomous Task Execution:</a:t>
            </a:r>
            <a:r>
              <a:rPr lang="en-US" altLang="zh-TW" sz="1600" dirty="0"/>
              <a:t> Empowers AI to move beyond text and directly trigger actions.</a:t>
            </a:r>
            <a:endParaRPr lang="en-US" altLang="zh-TW" sz="1600" b="0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Secure Guardrail Enforcement</a:t>
            </a:r>
            <a:r>
              <a:rPr lang="en-US" altLang="zh-TW" sz="1600" b="0" u="none" strike="noStrike" dirty="0">
                <a:effectLst/>
              </a:rPr>
              <a:t>:</a:t>
            </a:r>
            <a:r>
              <a:rPr lang="zh-TW" altLang="en-US" sz="1600" b="0" u="none" strike="noStrike" dirty="0">
                <a:effectLst/>
              </a:rPr>
              <a:t> </a:t>
            </a:r>
            <a:r>
              <a:rPr lang="en-US" altLang="zh-TW" sz="1600" dirty="0"/>
              <a:t>Restricts AI behavior within save boundaries</a:t>
            </a:r>
            <a:r>
              <a:rPr lang="en-US" altLang="zh-TW" sz="1600" b="0" u="none" strike="noStrike" dirty="0">
                <a:effectLst/>
              </a:rPr>
              <a:t>.</a:t>
            </a:r>
          </a:p>
        </p:txBody>
      </p:sp>
      <p:cxnSp>
        <p:nvCxnSpPr>
          <p:cNvPr id="14" name="接點: 肘形 13">
            <a:extLst>
              <a:ext uri="{FF2B5EF4-FFF2-40B4-BE49-F238E27FC236}">
                <a16:creationId xmlns:a16="http://schemas.microsoft.com/office/drawing/2014/main" id="{FCBB867C-B370-A696-60AA-155EDB4A15BB}"/>
              </a:ext>
            </a:extLst>
          </p:cNvPr>
          <p:cNvCxnSpPr>
            <a:cxnSpLocks/>
            <a:stCxn id="44" idx="1"/>
            <a:endCxn id="20" idx="0"/>
          </p:cNvCxnSpPr>
          <p:nvPr/>
        </p:nvCxnSpPr>
        <p:spPr>
          <a:xfrm rot="10800000">
            <a:off x="2253519" y="2108845"/>
            <a:ext cx="2642722" cy="110314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接點: 肘形 15">
            <a:extLst>
              <a:ext uri="{FF2B5EF4-FFF2-40B4-BE49-F238E27FC236}">
                <a16:creationId xmlns:a16="http://schemas.microsoft.com/office/drawing/2014/main" id="{55238258-F5F8-B671-A8F4-1A0EFAA5AD94}"/>
              </a:ext>
            </a:extLst>
          </p:cNvPr>
          <p:cNvCxnSpPr>
            <a:cxnSpLocks/>
            <a:endCxn id="22" idx="2"/>
          </p:cNvCxnSpPr>
          <p:nvPr/>
        </p:nvCxnSpPr>
        <p:spPr>
          <a:xfrm rot="10800000">
            <a:off x="1460467" y="2506646"/>
            <a:ext cx="2607519" cy="322628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8E0D88E3-76C4-35F7-8D64-BB0751387405}"/>
              </a:ext>
            </a:extLst>
          </p:cNvPr>
          <p:cNvCxnSpPr>
            <a:cxnSpLocks/>
          </p:cNvCxnSpPr>
          <p:nvPr/>
        </p:nvCxnSpPr>
        <p:spPr>
          <a:xfrm>
            <a:off x="2339711" y="2929508"/>
            <a:ext cx="973953" cy="0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" name="群組 18">
            <a:extLst>
              <a:ext uri="{FF2B5EF4-FFF2-40B4-BE49-F238E27FC236}">
                <a16:creationId xmlns:a16="http://schemas.microsoft.com/office/drawing/2014/main" id="{A240268A-08D1-72C5-DEDE-862B010C1800}"/>
              </a:ext>
            </a:extLst>
          </p:cNvPr>
          <p:cNvGrpSpPr/>
          <p:nvPr/>
        </p:nvGrpSpPr>
        <p:grpSpPr>
          <a:xfrm>
            <a:off x="611561" y="1611402"/>
            <a:ext cx="1643158" cy="994885"/>
            <a:chOff x="611560" y="1474120"/>
            <a:chExt cx="1764115" cy="1132167"/>
          </a:xfrm>
        </p:grpSpPr>
        <p:sp>
          <p:nvSpPr>
            <p:cNvPr id="20" name="雲朵形 19">
              <a:extLst>
                <a:ext uri="{FF2B5EF4-FFF2-40B4-BE49-F238E27FC236}">
                  <a16:creationId xmlns:a16="http://schemas.microsoft.com/office/drawing/2014/main" id="{B443BC11-6CD8-93A3-9CAD-ED23FA535DD1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chemeClr val="accent1">
                <a:lumMod val="20000"/>
                <a:lumOff val="80000"/>
                <a:alpha val="70000"/>
              </a:schemeClr>
            </a:solidFill>
            <a:ln w="508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dirty="0">
                <a:solidFill>
                  <a:schemeClr val="tx2"/>
                </a:solidFill>
              </a:endParaRPr>
            </a:p>
          </p:txBody>
        </p:sp>
        <p:sp>
          <p:nvSpPr>
            <p:cNvPr id="21" name="文字方塊 20">
              <a:extLst>
                <a:ext uri="{FF2B5EF4-FFF2-40B4-BE49-F238E27FC236}">
                  <a16:creationId xmlns:a16="http://schemas.microsoft.com/office/drawing/2014/main" id="{CDC53BB1-745C-28C9-2C0E-D684A1D58F55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400" b="1" dirty="0"/>
                <a:t>DLL</a:t>
              </a:r>
              <a:r>
                <a:rPr lang="en-US" altLang="zh-TW" sz="1200" b="1" dirty="0"/>
                <a:t> </a:t>
              </a:r>
            </a:p>
            <a:p>
              <a:pPr>
                <a:lnSpc>
                  <a:spcPts val="1400"/>
                </a:lnSpc>
                <a:buNone/>
              </a:pPr>
              <a:r>
                <a:rPr lang="en-US" altLang="zh-TW" sz="1200" b="1" dirty="0"/>
                <a:t>Model</a:t>
              </a:r>
              <a:endParaRPr lang="en-US" altLang="zh-TW" sz="1400" b="1" dirty="0"/>
            </a:p>
          </p:txBody>
        </p:sp>
        <p:sp>
          <p:nvSpPr>
            <p:cNvPr id="22" name="矩形: 圓角 21">
              <a:extLst>
                <a:ext uri="{FF2B5EF4-FFF2-40B4-BE49-F238E27FC236}">
                  <a16:creationId xmlns:a16="http://schemas.microsoft.com/office/drawing/2014/main" id="{EDF613AB-BC81-FE68-9EB4-CB6A8217F91D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en-US" altLang="zh-TW" sz="1200" b="1" dirty="0">
                  <a:solidFill>
                    <a:schemeClr val="bg1"/>
                  </a:solidFill>
                </a:rPr>
                <a:t>Model Engine</a:t>
              </a:r>
              <a:endParaRPr lang="zh-TW" altLang="en-US" sz="1200" b="1" dirty="0">
                <a:solidFill>
                  <a:schemeClr val="bg1"/>
                </a:solidFill>
              </a:endParaRPr>
            </a:p>
          </p:txBody>
        </p:sp>
        <p:pic>
          <p:nvPicPr>
            <p:cNvPr id="23" name="圖片 22">
              <a:extLst>
                <a:ext uri="{FF2B5EF4-FFF2-40B4-BE49-F238E27FC236}">
                  <a16:creationId xmlns:a16="http://schemas.microsoft.com/office/drawing/2014/main" id="{1E5A1D11-8016-FA22-5DDF-98EDEFD495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chemeClr val="accent5">
                  <a:lumMod val="20000"/>
                  <a:lumOff val="80000"/>
                  <a:alpha val="40000"/>
                </a:schemeClr>
              </a:glow>
              <a:softEdge rad="50800"/>
            </a:effectLst>
          </p:spPr>
        </p:pic>
        <p:pic>
          <p:nvPicPr>
            <p:cNvPr id="24" name="圖形 23" descr="原子 以實心填滿">
              <a:extLst>
                <a:ext uri="{FF2B5EF4-FFF2-40B4-BE49-F238E27FC236}">
                  <a16:creationId xmlns:a16="http://schemas.microsoft.com/office/drawing/2014/main" id="{45DF5554-C31D-8B87-5ED6-038581B2760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28" name="標題 1">
            <a:extLst>
              <a:ext uri="{FF2B5EF4-FFF2-40B4-BE49-F238E27FC236}">
                <a16:creationId xmlns:a16="http://schemas.microsoft.com/office/drawing/2014/main" id="{D3E7AE70-36F7-0237-B3F5-AF84E381DE6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Retrieval Augmented Generation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Leverages local knowledge to minimize hallucinations and deliver up-to-date, accurate responses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.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46C34D94-78AE-3E9A-A03A-2EAA9BA28BBD}"/>
              </a:ext>
            </a:extLst>
          </p:cNvPr>
          <p:cNvSpPr txBox="1"/>
          <p:nvPr/>
        </p:nvSpPr>
        <p:spPr>
          <a:xfrm>
            <a:off x="3983838" y="448420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DCF40326-B2CE-D08E-6915-55182B1D1102}"/>
              </a:ext>
            </a:extLst>
          </p:cNvPr>
          <p:cNvCxnSpPr>
            <a:cxnSpLocks/>
            <a:stCxn id="31" idx="0"/>
            <a:endCxn id="29" idx="2"/>
          </p:cNvCxnSpPr>
          <p:nvPr/>
        </p:nvCxnSpPr>
        <p:spPr>
          <a:xfrm flipH="1" flipV="1">
            <a:off x="4392379" y="3501008"/>
            <a:ext cx="2358" cy="98320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6" name="圖形 35" descr="科學思想 以實心填滿">
            <a:extLst>
              <a:ext uri="{FF2B5EF4-FFF2-40B4-BE49-F238E27FC236}">
                <a16:creationId xmlns:a16="http://schemas.microsoft.com/office/drawing/2014/main" id="{B10E28A7-5412-D77E-9E72-7F85025582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chemeClr val="accent4">
                <a:lumMod val="20000"/>
                <a:lumOff val="80000"/>
                <a:alpha val="40000"/>
              </a:schemeClr>
            </a:glow>
            <a:softEdge rad="0"/>
          </a:effectLst>
        </p:spPr>
      </p:pic>
      <p:sp>
        <p:nvSpPr>
          <p:cNvPr id="44" name="矩形: 圓角 43">
            <a:extLst>
              <a:ext uri="{FF2B5EF4-FFF2-40B4-BE49-F238E27FC236}">
                <a16:creationId xmlns:a16="http://schemas.microsoft.com/office/drawing/2014/main" id="{96AE5189-1D58-2977-92E3-469181F4EBF7}"/>
              </a:ext>
            </a:extLst>
          </p:cNvPr>
          <p:cNvSpPr/>
          <p:nvPr/>
        </p:nvSpPr>
        <p:spPr>
          <a:xfrm>
            <a:off x="4896241" y="1974976"/>
            <a:ext cx="504689" cy="488365"/>
          </a:xfrm>
          <a:prstGeom prst="roundRect">
            <a:avLst>
              <a:gd name="adj" fmla="val 8706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pic>
        <p:nvPicPr>
          <p:cNvPr id="61" name="圖形 60" descr="夾紙板 (徽章) 以實心填滿">
            <a:extLst>
              <a:ext uri="{FF2B5EF4-FFF2-40B4-BE49-F238E27FC236}">
                <a16:creationId xmlns:a16="http://schemas.microsoft.com/office/drawing/2014/main" id="{F0D1E6B5-1FFE-B5E9-19AE-C43372F1C0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082472" y="2023366"/>
            <a:ext cx="377960" cy="393907"/>
          </a:xfrm>
          <a:prstGeom prst="rect">
            <a:avLst/>
          </a:prstGeom>
          <a:effectLst>
            <a:glow rad="127000">
              <a:schemeClr val="accent3">
                <a:lumMod val="40000"/>
                <a:lumOff val="60000"/>
              </a:schemeClr>
            </a:glow>
          </a:effectLst>
        </p:spPr>
      </p:pic>
      <p:sp>
        <p:nvSpPr>
          <p:cNvPr id="64" name="矩形: 圓角 63">
            <a:extLst>
              <a:ext uri="{FF2B5EF4-FFF2-40B4-BE49-F238E27FC236}">
                <a16:creationId xmlns:a16="http://schemas.microsoft.com/office/drawing/2014/main" id="{E02B4FDE-B67A-A175-1B5A-E695E67035FD}"/>
              </a:ext>
            </a:extLst>
          </p:cNvPr>
          <p:cNvSpPr/>
          <p:nvPr/>
        </p:nvSpPr>
        <p:spPr>
          <a:xfrm>
            <a:off x="6403176" y="1979901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V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66" name="直線單箭頭接點 65">
            <a:extLst>
              <a:ext uri="{FF2B5EF4-FFF2-40B4-BE49-F238E27FC236}">
                <a16:creationId xmlns:a16="http://schemas.microsoft.com/office/drawing/2014/main" id="{8D48FECB-9789-4CFA-A699-CBD35DC82CE6}"/>
              </a:ext>
            </a:extLst>
          </p:cNvPr>
          <p:cNvCxnSpPr>
            <a:cxnSpLocks/>
            <a:stCxn id="61" idx="1"/>
            <a:endCxn id="64" idx="3"/>
          </p:cNvCxnSpPr>
          <p:nvPr/>
        </p:nvCxnSpPr>
        <p:spPr>
          <a:xfrm flipH="1">
            <a:off x="7416633" y="2220320"/>
            <a:ext cx="665839" cy="18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矩形: 圓角 67">
            <a:extLst>
              <a:ext uri="{FF2B5EF4-FFF2-40B4-BE49-F238E27FC236}">
                <a16:creationId xmlns:a16="http://schemas.microsoft.com/office/drawing/2014/main" id="{1274870D-ED0F-57B5-50E7-8CF0BCE4633D}"/>
              </a:ext>
            </a:extLst>
          </p:cNvPr>
          <p:cNvSpPr/>
          <p:nvPr/>
        </p:nvSpPr>
        <p:spPr>
          <a:xfrm>
            <a:off x="4896241" y="1974976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69" name="直線單箭頭接點 68">
            <a:extLst>
              <a:ext uri="{FF2B5EF4-FFF2-40B4-BE49-F238E27FC236}">
                <a16:creationId xmlns:a16="http://schemas.microsoft.com/office/drawing/2014/main" id="{1B131FB0-7734-66F3-A446-5F58EF4CC2FD}"/>
              </a:ext>
            </a:extLst>
          </p:cNvPr>
          <p:cNvCxnSpPr>
            <a:cxnSpLocks/>
            <a:stCxn id="64" idx="1"/>
            <a:endCxn id="68" idx="3"/>
          </p:cNvCxnSpPr>
          <p:nvPr/>
        </p:nvCxnSpPr>
        <p:spPr>
          <a:xfrm flipH="1" flipV="1">
            <a:off x="5400930" y="2219159"/>
            <a:ext cx="1002246" cy="134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文字方塊 69">
            <a:extLst>
              <a:ext uri="{FF2B5EF4-FFF2-40B4-BE49-F238E27FC236}">
                <a16:creationId xmlns:a16="http://schemas.microsoft.com/office/drawing/2014/main" id="{F6046C92-3712-82D8-0ECA-E8E22AC4717F}"/>
              </a:ext>
            </a:extLst>
          </p:cNvPr>
          <p:cNvSpPr txBox="1"/>
          <p:nvPr/>
        </p:nvSpPr>
        <p:spPr>
          <a:xfrm>
            <a:off x="5651487" y="2071814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pic>
        <p:nvPicPr>
          <p:cNvPr id="71" name="圖形 70" descr="伺服器 外框">
            <a:extLst>
              <a:ext uri="{FF2B5EF4-FFF2-40B4-BE49-F238E27FC236}">
                <a16:creationId xmlns:a16="http://schemas.microsoft.com/office/drawing/2014/main" id="{4CF3848B-7662-CE06-F590-C873A38CF0D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023366"/>
            <a:ext cx="379782" cy="379782"/>
          </a:xfrm>
          <a:prstGeom prst="rect">
            <a:avLst/>
          </a:prstGeom>
        </p:spPr>
      </p:pic>
      <p:sp>
        <p:nvSpPr>
          <p:cNvPr id="77" name="文字方塊 76">
            <a:extLst>
              <a:ext uri="{FF2B5EF4-FFF2-40B4-BE49-F238E27FC236}">
                <a16:creationId xmlns:a16="http://schemas.microsoft.com/office/drawing/2014/main" id="{64601706-CC3D-6433-8954-5A08DEFB2082}"/>
              </a:ext>
            </a:extLst>
          </p:cNvPr>
          <p:cNvSpPr txBox="1"/>
          <p:nvPr/>
        </p:nvSpPr>
        <p:spPr>
          <a:xfrm>
            <a:off x="7569153" y="2065927"/>
            <a:ext cx="432052" cy="28295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Search</a:t>
            </a:r>
            <a:br>
              <a:rPr lang="en-US" altLang="zh-TW" sz="1000" dirty="0">
                <a:ea typeface="Meiryo" panose="020B0604030504040204" pitchFamily="34" charset="-128"/>
              </a:rPr>
            </a:br>
            <a:r>
              <a:rPr lang="en-US" altLang="zh-TW" sz="1000" dirty="0">
                <a:ea typeface="Meiryo" panose="020B0604030504040204" pitchFamily="34" charset="-128"/>
              </a:rPr>
              <a:t>Enterprise</a:t>
            </a:r>
          </a:p>
        </p:txBody>
      </p:sp>
      <p:sp>
        <p:nvSpPr>
          <p:cNvPr id="79" name="文字方塊 78">
            <a:extLst>
              <a:ext uri="{FF2B5EF4-FFF2-40B4-BE49-F238E27FC236}">
                <a16:creationId xmlns:a16="http://schemas.microsoft.com/office/drawing/2014/main" id="{07ABF40E-5394-A71C-4FFA-70753EF57586}"/>
              </a:ext>
            </a:extLst>
          </p:cNvPr>
          <p:cNvSpPr txBox="1"/>
          <p:nvPr/>
        </p:nvSpPr>
        <p:spPr>
          <a:xfrm>
            <a:off x="8055312" y="2435667"/>
            <a:ext cx="909176" cy="57692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Base VDB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/>
              <a:t>Pinecone, </a:t>
            </a:r>
            <a:r>
              <a:rPr lang="en-US" altLang="zh-TW" sz="1000" u="none" strike="noStrike" dirty="0">
                <a:effectLst/>
              </a:rPr>
              <a:t>Milvus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/>
              <a:t>o</a:t>
            </a:r>
            <a:r>
              <a:rPr lang="en-US" altLang="zh-TW" sz="1000" u="none" strike="noStrike" dirty="0">
                <a:effectLst/>
              </a:rPr>
              <a:t>r </a:t>
            </a:r>
            <a:r>
              <a:rPr lang="en-US" altLang="zh-TW" sz="1000" dirty="0"/>
              <a:t>Chroma</a:t>
            </a:r>
            <a:endParaRPr lang="en-US" altLang="zh-TW" sz="1000" u="none" strike="noStrike" dirty="0">
              <a:effectLst/>
            </a:endParaRPr>
          </a:p>
        </p:txBody>
      </p:sp>
      <p:sp>
        <p:nvSpPr>
          <p:cNvPr id="85" name="矩形: 圓角 84">
            <a:extLst>
              <a:ext uri="{FF2B5EF4-FFF2-40B4-BE49-F238E27FC236}">
                <a16:creationId xmlns:a16="http://schemas.microsoft.com/office/drawing/2014/main" id="{DABC191B-BB7F-306F-F52E-1008BDFB1F67}"/>
              </a:ext>
            </a:extLst>
          </p:cNvPr>
          <p:cNvSpPr/>
          <p:nvPr/>
        </p:nvSpPr>
        <p:spPr>
          <a:xfrm>
            <a:off x="4027099" y="1531881"/>
            <a:ext cx="797767" cy="240935"/>
          </a:xfrm>
          <a:prstGeom prst="roundRect">
            <a:avLst>
              <a:gd name="adj" fmla="val 8706"/>
            </a:avLst>
          </a:prstGeom>
          <a:solidFill>
            <a:schemeClr val="accent4">
              <a:lumMod val="7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MCP Host</a:t>
            </a:r>
            <a:endParaRPr lang="zh-TW" altLang="en-US" sz="1200" b="1" dirty="0">
              <a:solidFill>
                <a:schemeClr val="bg1"/>
              </a:solidFill>
            </a:endParaRPr>
          </a:p>
        </p:txBody>
      </p:sp>
      <p:sp>
        <p:nvSpPr>
          <p:cNvPr id="87" name="右大括弧 86">
            <a:extLst>
              <a:ext uri="{FF2B5EF4-FFF2-40B4-BE49-F238E27FC236}">
                <a16:creationId xmlns:a16="http://schemas.microsoft.com/office/drawing/2014/main" id="{8C8F3851-7089-F31E-32F3-53943C489D62}"/>
              </a:ext>
            </a:extLst>
          </p:cNvPr>
          <p:cNvSpPr/>
          <p:nvPr/>
        </p:nvSpPr>
        <p:spPr>
          <a:xfrm rot="5400000">
            <a:off x="6589056" y="1284486"/>
            <a:ext cx="155951" cy="2600274"/>
          </a:xfrm>
          <a:prstGeom prst="rightBrace">
            <a:avLst/>
          </a:prstGeom>
          <a:ln w="1270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9" name="文字方塊 88">
            <a:extLst>
              <a:ext uri="{FF2B5EF4-FFF2-40B4-BE49-F238E27FC236}">
                <a16:creationId xmlns:a16="http://schemas.microsoft.com/office/drawing/2014/main" id="{BE717CBE-C730-BD84-3DD5-94676538066C}"/>
              </a:ext>
            </a:extLst>
          </p:cNvPr>
          <p:cNvSpPr txBox="1"/>
          <p:nvPr/>
        </p:nvSpPr>
        <p:spPr>
          <a:xfrm>
            <a:off x="6424454" y="2667960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3">
                    <a:lumMod val="50000"/>
                  </a:schemeClr>
                </a:solidFill>
                <a:effectLst/>
                <a:ea typeface="Meiryo" panose="020B0604030504040204" pitchFamily="34" charset="-128"/>
              </a:rPr>
              <a:t>RAG</a:t>
            </a:r>
          </a:p>
        </p:txBody>
      </p:sp>
      <p:sp>
        <p:nvSpPr>
          <p:cNvPr id="96" name="文字方塊 95">
            <a:extLst>
              <a:ext uri="{FF2B5EF4-FFF2-40B4-BE49-F238E27FC236}">
                <a16:creationId xmlns:a16="http://schemas.microsoft.com/office/drawing/2014/main" id="{AA152E9F-16DB-B89F-097B-B78A8648612F}"/>
              </a:ext>
            </a:extLst>
          </p:cNvPr>
          <p:cNvSpPr txBox="1"/>
          <p:nvPr/>
        </p:nvSpPr>
        <p:spPr>
          <a:xfrm>
            <a:off x="2605522" y="1879416"/>
            <a:ext cx="1000841" cy="41736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highlight>
                  <a:srgbClr val="CBDCA8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[Server V]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</a:t>
            </a:r>
            <a:endParaRPr lang="en-US" altLang="zh-TW" sz="1000" b="1" dirty="0">
              <a:solidFill>
                <a:schemeClr val="accent3">
                  <a:lumMod val="50000"/>
                </a:schemeClr>
              </a:solidFill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highlight>
                  <a:srgbClr val="CBDCA8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[50]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u="none" strike="noStrike" dirty="0">
                <a:solidFill>
                  <a:schemeClr val="accent3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</a:t>
            </a:r>
            <a:endParaRPr lang="en-US" altLang="zh-TW" sz="1200" b="1" u="none" strike="noStrike" dirty="0">
              <a:solidFill>
                <a:schemeClr val="accent3">
                  <a:lumMod val="50000"/>
                </a:schemeClr>
              </a:solidFill>
              <a:effectLst/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D38BE440-ABD8-7315-849A-ACCD53C42F3A}"/>
              </a:ext>
            </a:extLst>
          </p:cNvPr>
          <p:cNvSpPr txBox="1"/>
          <p:nvPr/>
        </p:nvSpPr>
        <p:spPr>
          <a:xfrm>
            <a:off x="2300408" y="1673394"/>
            <a:ext cx="1306951" cy="24036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 Reasoning</a:t>
            </a:r>
          </a:p>
        </p:txBody>
      </p: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7B770F63-ED9B-A215-5A54-41A9BE18C861}"/>
              </a:ext>
            </a:extLst>
          </p:cNvPr>
          <p:cNvSpPr txBox="1"/>
          <p:nvPr/>
        </p:nvSpPr>
        <p:spPr>
          <a:xfrm>
            <a:off x="5255536" y="2667958"/>
            <a:ext cx="358640" cy="37133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Naive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RAG</a:t>
            </a:r>
          </a:p>
        </p:txBody>
      </p:sp>
      <p:pic>
        <p:nvPicPr>
          <p:cNvPr id="102" name="圖形 101" descr="夾紙板 (徽章) 以實心填滿">
            <a:extLst>
              <a:ext uri="{FF2B5EF4-FFF2-40B4-BE49-F238E27FC236}">
                <a16:creationId xmlns:a16="http://schemas.microsoft.com/office/drawing/2014/main" id="{5D513E2A-9747-3CF5-89B6-FE6821CEFC6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877576" y="2656674"/>
            <a:ext cx="377960" cy="393907"/>
          </a:xfrm>
          <a:prstGeom prst="rect">
            <a:avLst/>
          </a:prstGeom>
          <a:effectLst>
            <a:glow rad="127000">
              <a:schemeClr val="accent3">
                <a:lumMod val="40000"/>
                <a:lumOff val="60000"/>
              </a:schemeClr>
            </a:glow>
          </a:effectLst>
        </p:spPr>
      </p:pic>
      <p:sp>
        <p:nvSpPr>
          <p:cNvPr id="103" name="矩形: 圓角 102">
            <a:extLst>
              <a:ext uri="{FF2B5EF4-FFF2-40B4-BE49-F238E27FC236}">
                <a16:creationId xmlns:a16="http://schemas.microsoft.com/office/drawing/2014/main" id="{86C1EA06-118A-24F8-41AF-8AD48189289E}"/>
              </a:ext>
            </a:extLst>
          </p:cNvPr>
          <p:cNvSpPr/>
          <p:nvPr/>
        </p:nvSpPr>
        <p:spPr>
          <a:xfrm>
            <a:off x="4896241" y="3276958"/>
            <a:ext cx="504689" cy="488365"/>
          </a:xfrm>
          <a:prstGeom prst="roundRect">
            <a:avLst>
              <a:gd name="adj" fmla="val 8706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104" name="矩形: 圓角 103">
            <a:extLst>
              <a:ext uri="{FF2B5EF4-FFF2-40B4-BE49-F238E27FC236}">
                <a16:creationId xmlns:a16="http://schemas.microsoft.com/office/drawing/2014/main" id="{80734412-65B8-67C4-7DBF-92DD40DD8949}"/>
              </a:ext>
            </a:extLst>
          </p:cNvPr>
          <p:cNvSpPr/>
          <p:nvPr/>
        </p:nvSpPr>
        <p:spPr>
          <a:xfrm>
            <a:off x="6403176" y="3281883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</a:rPr>
              <a:t>Tool-Based</a:t>
            </a:r>
          </a:p>
          <a:p>
            <a:pPr algn="ctr"/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</a:rPr>
              <a:t>RAG Server</a:t>
            </a:r>
            <a:endParaRPr lang="zh-TW" altLang="en-US" sz="10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05" name="矩形: 圓角 104">
            <a:extLst>
              <a:ext uri="{FF2B5EF4-FFF2-40B4-BE49-F238E27FC236}">
                <a16:creationId xmlns:a16="http://schemas.microsoft.com/office/drawing/2014/main" id="{6A401393-F59E-2187-4B82-2640D4FEB776}"/>
              </a:ext>
            </a:extLst>
          </p:cNvPr>
          <p:cNvSpPr/>
          <p:nvPr/>
        </p:nvSpPr>
        <p:spPr>
          <a:xfrm>
            <a:off x="4896241" y="3276958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06" name="直線單箭頭接點 105">
            <a:extLst>
              <a:ext uri="{FF2B5EF4-FFF2-40B4-BE49-F238E27FC236}">
                <a16:creationId xmlns:a16="http://schemas.microsoft.com/office/drawing/2014/main" id="{A08049F4-F820-212A-4F92-FA8926031A74}"/>
              </a:ext>
            </a:extLst>
          </p:cNvPr>
          <p:cNvCxnSpPr>
            <a:cxnSpLocks/>
            <a:stCxn id="104" idx="1"/>
            <a:endCxn id="105" idx="3"/>
          </p:cNvCxnSpPr>
          <p:nvPr/>
        </p:nvCxnSpPr>
        <p:spPr>
          <a:xfrm flipH="1" flipV="1">
            <a:off x="5400930" y="3521141"/>
            <a:ext cx="1002246" cy="134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文字方塊 106">
            <a:extLst>
              <a:ext uri="{FF2B5EF4-FFF2-40B4-BE49-F238E27FC236}">
                <a16:creationId xmlns:a16="http://schemas.microsoft.com/office/drawing/2014/main" id="{1C9D6A22-5EDD-E6B8-8849-0FC406938CD9}"/>
              </a:ext>
            </a:extLst>
          </p:cNvPr>
          <p:cNvSpPr txBox="1"/>
          <p:nvPr/>
        </p:nvSpPr>
        <p:spPr>
          <a:xfrm>
            <a:off x="5651487" y="3373796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pic>
        <p:nvPicPr>
          <p:cNvPr id="108" name="圖形 107" descr="伺服器 外框">
            <a:extLst>
              <a:ext uri="{FF2B5EF4-FFF2-40B4-BE49-F238E27FC236}">
                <a16:creationId xmlns:a16="http://schemas.microsoft.com/office/drawing/2014/main" id="{0AC1D560-71AD-50F5-B095-EE49B84459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3325348"/>
            <a:ext cx="379782" cy="379782"/>
          </a:xfrm>
          <a:prstGeom prst="rect">
            <a:avLst/>
          </a:prstGeom>
        </p:spPr>
      </p:pic>
      <p:pic>
        <p:nvPicPr>
          <p:cNvPr id="113" name="圖形 112" descr="放大鏡 以實心填滿">
            <a:extLst>
              <a:ext uri="{FF2B5EF4-FFF2-40B4-BE49-F238E27FC236}">
                <a16:creationId xmlns:a16="http://schemas.microsoft.com/office/drawing/2014/main" id="{1A4AB714-5ECE-1DEE-08CC-F4B5870CCC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flipH="1">
            <a:off x="7255389" y="3357850"/>
            <a:ext cx="429694" cy="421999"/>
          </a:xfrm>
          <a:prstGeom prst="rect">
            <a:avLst/>
          </a:prstGeom>
          <a:effectLst>
            <a:glow rad="127000">
              <a:schemeClr val="accent3">
                <a:lumMod val="20000"/>
                <a:lumOff val="80000"/>
                <a:alpha val="40000"/>
              </a:schemeClr>
            </a:glow>
          </a:effectLst>
        </p:spPr>
      </p:pic>
      <p:sp>
        <p:nvSpPr>
          <p:cNvPr id="33" name="文字方塊 32">
            <a:extLst>
              <a:ext uri="{FF2B5EF4-FFF2-40B4-BE49-F238E27FC236}">
                <a16:creationId xmlns:a16="http://schemas.microsoft.com/office/drawing/2014/main" id="{A8D36140-84C1-5298-9B8F-805E9887A308}"/>
              </a:ext>
            </a:extLst>
          </p:cNvPr>
          <p:cNvSpPr txBox="1"/>
          <p:nvPr/>
        </p:nvSpPr>
        <p:spPr>
          <a:xfrm>
            <a:off x="2524583" y="3003260"/>
            <a:ext cx="633503" cy="19542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“$50“</a:t>
            </a:r>
          </a:p>
        </p:txBody>
      </p:sp>
      <p:graphicFrame>
        <p:nvGraphicFramePr>
          <p:cNvPr id="35" name="表格 34">
            <a:extLst>
              <a:ext uri="{FF2B5EF4-FFF2-40B4-BE49-F238E27FC236}">
                <a16:creationId xmlns:a16="http://schemas.microsoft.com/office/drawing/2014/main" id="{DA50BB60-897A-3903-6631-883B14DA4B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9621121"/>
              </p:ext>
            </p:extLst>
          </p:nvPr>
        </p:nvGraphicFramePr>
        <p:xfrm>
          <a:off x="6444208" y="3855864"/>
          <a:ext cx="2540034" cy="8640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184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3031015462"/>
                    </a:ext>
                  </a:extLst>
                </a:gridCol>
              </a:tblGrid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1454161"/>
                  </a:ext>
                </a:extLst>
              </a:tr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Vanilla 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Rapid context retrieval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Graph 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Global document insights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1983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 Wiki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Knowledge Asset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sp>
        <p:nvSpPr>
          <p:cNvPr id="38" name="語音泡泡: 圓角矩形 37">
            <a:extLst>
              <a:ext uri="{FF2B5EF4-FFF2-40B4-BE49-F238E27FC236}">
                <a16:creationId xmlns:a16="http://schemas.microsoft.com/office/drawing/2014/main" id="{4F6A7D48-72EC-C32D-C277-18BB4F94051E}"/>
              </a:ext>
            </a:extLst>
          </p:cNvPr>
          <p:cNvSpPr/>
          <p:nvPr/>
        </p:nvSpPr>
        <p:spPr>
          <a:xfrm>
            <a:off x="2987824" y="3733927"/>
            <a:ext cx="1149254" cy="703185"/>
          </a:xfrm>
          <a:prstGeom prst="wedgeRoundRectCallout">
            <a:avLst>
              <a:gd name="adj1" fmla="val 64836"/>
              <a:gd name="adj2" fmla="val 39228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Any money left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in the account?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sp>
        <p:nvSpPr>
          <p:cNvPr id="27" name="語音泡泡: 圓角矩形 26">
            <a:extLst>
              <a:ext uri="{FF2B5EF4-FFF2-40B4-BE49-F238E27FC236}">
                <a16:creationId xmlns:a16="http://schemas.microsoft.com/office/drawing/2014/main" id="{6792054B-7EBC-6463-8733-4439C8EEAA86}"/>
              </a:ext>
            </a:extLst>
          </p:cNvPr>
          <p:cNvSpPr/>
          <p:nvPr/>
        </p:nvSpPr>
        <p:spPr>
          <a:xfrm>
            <a:off x="2051720" y="3284984"/>
            <a:ext cx="1155493" cy="568803"/>
          </a:xfrm>
          <a:prstGeom prst="wedgeRoundRectCallout">
            <a:avLst>
              <a:gd name="adj1" fmla="val -62522"/>
              <a:gd name="adj2" fmla="val -52287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Almost nothing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- </a:t>
            </a:r>
            <a:r>
              <a:rPr lang="en-US" altLang="zh-TW" sz="1200" dirty="0">
                <a:ln w="0"/>
                <a:solidFill>
                  <a:srgbClr val="FF0000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Calm down!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2B812E67-743B-F13D-2FC6-D1A10ED6204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flipH="1">
            <a:off x="6516216" y="4751084"/>
            <a:ext cx="406453" cy="382591"/>
          </a:xfrm>
          <a:prstGeom prst="rect">
            <a:avLst/>
          </a:prstGeom>
          <a:effectLst>
            <a:glow rad="25400">
              <a:schemeClr val="accent4">
                <a:lumMod val="60000"/>
                <a:lumOff val="40000"/>
                <a:alpha val="40000"/>
              </a:schemeClr>
            </a:glow>
            <a:softEdge rad="31750"/>
          </a:effectLst>
        </p:spPr>
      </p:pic>
    </p:spTree>
    <p:extLst>
      <p:ext uri="{BB962C8B-B14F-4D97-AF65-F5344CB8AC3E}">
        <p14:creationId xmlns:p14="http://schemas.microsoft.com/office/powerpoint/2010/main" val="5928157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030CBCA-E06F-157F-31ED-053E755AD007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Small Language Model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AI Environment is subject to SLM, SFT Framework, Agents and  AI Orchestrator. </a:t>
            </a:r>
          </a:p>
        </p:txBody>
      </p:sp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1F029804-8A4D-A1F0-D8D0-ECDF117CAE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601315"/>
              </p:ext>
            </p:extLst>
          </p:nvPr>
        </p:nvGraphicFramePr>
        <p:xfrm>
          <a:off x="4067942" y="1868362"/>
          <a:ext cx="2160242" cy="8034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503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2882">
                  <a:extLst>
                    <a:ext uri="{9D8B030D-6E8A-4147-A177-3AD203B41FA5}">
                      <a16:colId xmlns:a16="http://schemas.microsoft.com/office/drawing/2014/main" val="1426263881"/>
                    </a:ext>
                  </a:extLst>
                </a:gridCol>
                <a:gridCol w="438197">
                  <a:extLst>
                    <a:ext uri="{9D8B030D-6E8A-4147-A177-3AD203B41FA5}">
                      <a16:colId xmlns:a16="http://schemas.microsoft.com/office/drawing/2014/main" val="1549907192"/>
                    </a:ext>
                  </a:extLst>
                </a:gridCol>
                <a:gridCol w="619864">
                  <a:extLst>
                    <a:ext uri="{9D8B030D-6E8A-4147-A177-3AD203B41FA5}">
                      <a16:colId xmlns:a16="http://schemas.microsoft.com/office/drawing/2014/main" val="2139872543"/>
                    </a:ext>
                  </a:extLst>
                </a:gridCol>
                <a:gridCol w="210199">
                  <a:extLst>
                    <a:ext uri="{9D8B030D-6E8A-4147-A177-3AD203B41FA5}">
                      <a16:colId xmlns:a16="http://schemas.microsoft.com/office/drawing/2014/main" val="636054194"/>
                    </a:ext>
                  </a:extLst>
                </a:gridCol>
                <a:gridCol w="210199">
                  <a:extLst>
                    <a:ext uri="{9D8B030D-6E8A-4147-A177-3AD203B41FA5}">
                      <a16:colId xmlns:a16="http://schemas.microsoft.com/office/drawing/2014/main" val="1872490353"/>
                    </a:ext>
                  </a:extLst>
                </a:gridCol>
                <a:gridCol w="210199">
                  <a:extLst>
                    <a:ext uri="{9D8B030D-6E8A-4147-A177-3AD203B41FA5}">
                      <a16:colId xmlns:a16="http://schemas.microsoft.com/office/drawing/2014/main" val="68804775"/>
                    </a:ext>
                  </a:extLst>
                </a:gridCol>
                <a:gridCol w="210199">
                  <a:extLst>
                    <a:ext uri="{9D8B030D-6E8A-4147-A177-3AD203B41FA5}">
                      <a16:colId xmlns:a16="http://schemas.microsoft.com/office/drawing/2014/main" val="3091919611"/>
                    </a:ext>
                  </a:extLst>
                </a:gridCol>
              </a:tblGrid>
              <a:tr h="432047">
                <a:tc gridSpan="8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AI</a:t>
                      </a:r>
                      <a:r>
                        <a:rPr kumimoji="0" lang="zh-TW" altLang="en-US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Agents</a:t>
                      </a: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7143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Open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Claw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Hermes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graphicFrame>
        <p:nvGraphicFramePr>
          <p:cNvPr id="26" name="表格 25">
            <a:extLst>
              <a:ext uri="{FF2B5EF4-FFF2-40B4-BE49-F238E27FC236}">
                <a16:creationId xmlns:a16="http://schemas.microsoft.com/office/drawing/2014/main" id="{55FA761B-B1C0-6E26-1F64-397B428139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3258317"/>
              </p:ext>
            </p:extLst>
          </p:nvPr>
        </p:nvGraphicFramePr>
        <p:xfrm>
          <a:off x="6752510" y="1868362"/>
          <a:ext cx="1733619" cy="7524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361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567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AI Orchestrator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LangGraph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CrewAI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Dify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n8n, Zapier 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</a:tbl>
          </a:graphicData>
        </a:graphic>
      </p:graphicFrame>
      <p:pic>
        <p:nvPicPr>
          <p:cNvPr id="31" name="圖片 30">
            <a:extLst>
              <a:ext uri="{FF2B5EF4-FFF2-40B4-BE49-F238E27FC236}">
                <a16:creationId xmlns:a16="http://schemas.microsoft.com/office/drawing/2014/main" id="{A9399B61-E00C-FA21-7965-FEFD7381A6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6818" y="1369565"/>
            <a:ext cx="470068" cy="432048"/>
          </a:xfrm>
          <a:prstGeom prst="rect">
            <a:avLst/>
          </a:prstGeom>
          <a:effectLst>
            <a:glow rad="25400">
              <a:schemeClr val="accent1">
                <a:lumMod val="20000"/>
                <a:lumOff val="80000"/>
                <a:alpha val="40000"/>
              </a:schemeClr>
            </a:glow>
            <a:softEdge rad="50800"/>
          </a:effectLst>
        </p:spPr>
      </p:pic>
      <p:pic>
        <p:nvPicPr>
          <p:cNvPr id="33" name="圖片 32">
            <a:extLst>
              <a:ext uri="{FF2B5EF4-FFF2-40B4-BE49-F238E27FC236}">
                <a16:creationId xmlns:a16="http://schemas.microsoft.com/office/drawing/2014/main" id="{F4258470-55CC-CEEB-1BAA-592F11ADCF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3963" y="1369565"/>
            <a:ext cx="470068" cy="432048"/>
          </a:xfrm>
          <a:prstGeom prst="rect">
            <a:avLst/>
          </a:prstGeom>
          <a:effectLst>
            <a:glow rad="25400">
              <a:schemeClr val="accent1">
                <a:lumMod val="20000"/>
                <a:lumOff val="80000"/>
                <a:alpha val="40000"/>
              </a:schemeClr>
            </a:glow>
            <a:softEdge rad="50800"/>
          </a:effectLst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B73E7E98-C231-18BC-581C-CBCCC80F732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1873" y="1475823"/>
            <a:ext cx="634319" cy="334586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E1C2A8E9-389D-2F9D-3C7D-8D935635C37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3216" y="1525480"/>
            <a:ext cx="781627" cy="235272"/>
          </a:xfrm>
          <a:prstGeom prst="rect">
            <a:avLst/>
          </a:prstGeom>
        </p:spPr>
      </p:pic>
      <p:graphicFrame>
        <p:nvGraphicFramePr>
          <p:cNvPr id="13" name="表格 12">
            <a:extLst>
              <a:ext uri="{FF2B5EF4-FFF2-40B4-BE49-F238E27FC236}">
                <a16:creationId xmlns:a16="http://schemas.microsoft.com/office/drawing/2014/main" id="{210FCA04-BC42-C146-9ED5-553692E1CEB3}"/>
              </a:ext>
            </a:extLst>
          </p:cNvPr>
          <p:cNvGraphicFramePr>
            <a:graphicFrameLocks noGrp="1"/>
          </p:cNvGraphicFramePr>
          <p:nvPr/>
        </p:nvGraphicFramePr>
        <p:xfrm>
          <a:off x="-1076325" y="4810125"/>
          <a:ext cx="208280" cy="365760"/>
        </p:xfrm>
        <a:graphic>
          <a:graphicData uri="http://schemas.openxmlformats.org/drawingml/2006/table">
            <a:tbl>
              <a:tblPr/>
              <a:tblGrid>
                <a:gridCol w="208280">
                  <a:extLst>
                    <a:ext uri="{9D8B030D-6E8A-4147-A177-3AD203B41FA5}">
                      <a16:colId xmlns:a16="http://schemas.microsoft.com/office/drawing/2014/main" val="5327328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zh-TW" altLang="en-US" dirty="0"/>
                    </a:p>
                  </a:txBody>
                  <a:tcPr>
                    <a:lnL w="3175" cmpd="sng">
                      <a:solidFill>
                        <a:schemeClr val="bg1"/>
                      </a:solidFill>
                      <a:prstDash val="solid"/>
                    </a:lnL>
                    <a:lnR w="3175" cmpd="sng">
                      <a:solidFill>
                        <a:schemeClr val="bg1"/>
                      </a:solidFill>
                      <a:prstDash val="solid"/>
                    </a:lnR>
                    <a:lnT w="3175" cmpd="sng">
                      <a:solidFill>
                        <a:schemeClr val="bg1"/>
                      </a:solidFill>
                      <a:prstDash val="solid"/>
                    </a:lnT>
                    <a:lnB w="3175" cmpd="sng">
                      <a:solidFill>
                        <a:schemeClr val="bg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55380650"/>
                  </a:ext>
                </a:extLst>
              </a:tr>
            </a:tbl>
          </a:graphicData>
        </a:graphic>
      </p:graphicFrame>
      <p:pic>
        <p:nvPicPr>
          <p:cNvPr id="15" name="圖片 14">
            <a:extLst>
              <a:ext uri="{FF2B5EF4-FFF2-40B4-BE49-F238E27FC236}">
                <a16:creationId xmlns:a16="http://schemas.microsoft.com/office/drawing/2014/main" id="{439D466C-08F0-8E9C-AC89-EAFD529E20B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5869" y="1475823"/>
            <a:ext cx="360260" cy="334586"/>
          </a:xfrm>
          <a:prstGeom prst="rect">
            <a:avLst/>
          </a:prstGeom>
        </p:spPr>
      </p:pic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07582075-B8F6-F21C-A8E2-79D5FC4574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1351392"/>
              </p:ext>
            </p:extLst>
          </p:nvPr>
        </p:nvGraphicFramePr>
        <p:xfrm>
          <a:off x="971600" y="1944250"/>
          <a:ext cx="1261264" cy="280497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1264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1809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Models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4815099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 3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DeepSeek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Qwen 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704120"/>
                  </a:ext>
                </a:extLst>
              </a:tr>
              <a:tr h="16779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Mistral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4733770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810333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Training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Framework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5996678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Hugging Face TRL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5995690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-Factory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4630837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Unsloth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6415898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Axolotl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6478787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Torchtune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5311677"/>
                  </a:ext>
                </a:extLst>
              </a:tr>
            </a:tbl>
          </a:graphicData>
        </a:graphic>
      </p:graphicFrame>
      <p:sp>
        <p:nvSpPr>
          <p:cNvPr id="24" name="文字方塊 23">
            <a:extLst>
              <a:ext uri="{FF2B5EF4-FFF2-40B4-BE49-F238E27FC236}">
                <a16:creationId xmlns:a16="http://schemas.microsoft.com/office/drawing/2014/main" id="{69C780C3-624C-359F-C75B-6C9EAFC58A69}"/>
              </a:ext>
            </a:extLst>
          </p:cNvPr>
          <p:cNvSpPr txBox="1"/>
          <p:nvPr/>
        </p:nvSpPr>
        <p:spPr>
          <a:xfrm>
            <a:off x="213023" y="5048016"/>
            <a:ext cx="875146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Buildup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Infra</a:t>
            </a:r>
            <a:r>
              <a:rPr lang="en-US" altLang="zh-TW" sz="1600" b="1" dirty="0"/>
              <a:t>structure</a:t>
            </a:r>
            <a:r>
              <a:rPr lang="en-US" altLang="zh-TW" sz="1600" b="0" u="none" strike="noStrike" dirty="0">
                <a:effectLst/>
              </a:rPr>
              <a:t>:</a:t>
            </a:r>
            <a:r>
              <a:rPr lang="zh-TW" altLang="en-US" sz="1600" b="0" u="none" strike="noStrike" dirty="0">
                <a:effectLst/>
              </a:rPr>
              <a:t> </a:t>
            </a:r>
            <a:r>
              <a:rPr lang="en-US" altLang="zh-TW" sz="1600" b="0" u="none" strike="noStrike" dirty="0">
                <a:effectLst/>
              </a:rPr>
              <a:t>GPU, </a:t>
            </a:r>
            <a:r>
              <a:rPr lang="en-US" altLang="zh-TW" sz="1600" dirty="0"/>
              <a:t>Python, and 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base model </a:t>
            </a:r>
            <a:r>
              <a:rPr lang="en-US" altLang="zh-TW" sz="1600" dirty="0"/>
              <a:t>(GGUF) deployment by </a:t>
            </a:r>
            <a:r>
              <a:rPr lang="en-US" altLang="zh-TW" sz="1600" dirty="0" err="1"/>
              <a:t>Ollama</a:t>
            </a:r>
            <a:r>
              <a:rPr lang="en-US" altLang="zh-TW" sz="1600" dirty="0"/>
              <a:t>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Design Architecture</a:t>
            </a:r>
            <a:r>
              <a:rPr lang="en-US" altLang="zh-TW" sz="1600" dirty="0"/>
              <a:t>:</a:t>
            </a:r>
            <a:r>
              <a:rPr lang="zh-TW" altLang="en-US" sz="1600" dirty="0"/>
              <a:t> </a:t>
            </a:r>
            <a:r>
              <a:rPr lang="en-US" altLang="zh-TW" sz="1600" dirty="0"/>
              <a:t>Agent 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orchestrator</a:t>
            </a:r>
            <a:r>
              <a:rPr lang="en-US" altLang="zh-TW" sz="1600" dirty="0"/>
              <a:t> and some AI 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agents</a:t>
            </a:r>
            <a:r>
              <a:rPr lang="en-US" altLang="zh-TW" sz="1600" dirty="0"/>
              <a:t>. (Open Claw / Hermes) 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Fine-Tuning</a:t>
            </a:r>
            <a:r>
              <a:rPr lang="en-US" altLang="zh-TW" sz="1600" dirty="0"/>
              <a:t>:</a:t>
            </a:r>
            <a:r>
              <a:rPr lang="zh-TW" altLang="en-US" sz="1600" dirty="0"/>
              <a:t> </a:t>
            </a:r>
            <a:r>
              <a:rPr lang="en-US" altLang="zh-TW" sz="1600" dirty="0"/>
              <a:t>Run SFT.py to update 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QLoRA</a:t>
            </a:r>
            <a:r>
              <a:rPr lang="en-US" altLang="zh-TW" sz="1600" dirty="0"/>
              <a:t> adapter weights, then save merged model into GGUF. </a:t>
            </a:r>
          </a:p>
        </p:txBody>
      </p:sp>
      <p:sp>
        <p:nvSpPr>
          <p:cNvPr id="25" name="矩形: 圓角 24">
            <a:extLst>
              <a:ext uri="{FF2B5EF4-FFF2-40B4-BE49-F238E27FC236}">
                <a16:creationId xmlns:a16="http://schemas.microsoft.com/office/drawing/2014/main" id="{05AAAC09-6243-904E-B0BB-2CB1EB349C59}"/>
              </a:ext>
            </a:extLst>
          </p:cNvPr>
          <p:cNvSpPr/>
          <p:nvPr/>
        </p:nvSpPr>
        <p:spPr>
          <a:xfrm>
            <a:off x="2507393" y="3770564"/>
            <a:ext cx="815380" cy="400306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 w="2540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Training</a:t>
            </a:r>
          </a:p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Framework</a:t>
            </a:r>
            <a:endParaRPr lang="zh-TW" altLang="en-US" sz="1200" b="1" dirty="0">
              <a:solidFill>
                <a:schemeClr val="bg1"/>
              </a:solidFill>
            </a:endParaRP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C10B9AE8-D1E6-4B56-BE7C-1436B062E89F}"/>
              </a:ext>
            </a:extLst>
          </p:cNvPr>
          <p:cNvSpPr txBox="1"/>
          <p:nvPr/>
        </p:nvSpPr>
        <p:spPr>
          <a:xfrm>
            <a:off x="2507393" y="2996952"/>
            <a:ext cx="805937" cy="377045"/>
          </a:xfrm>
          <a:prstGeom prst="rect">
            <a:avLst/>
          </a:prstGeom>
          <a:solidFill>
            <a:schemeClr val="bg1">
              <a:alpha val="60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olid"/>
          </a:ln>
        </p:spPr>
        <p:txBody>
          <a:bodyPr wrap="none" lIns="0" tIns="0" rIns="0" bIns="0" anchor="b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SLM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(.GGUF)</a:t>
            </a:r>
          </a:p>
        </p:txBody>
      </p:sp>
      <p:sp>
        <p:nvSpPr>
          <p:cNvPr id="32" name="圖說文字: 直線 31">
            <a:extLst>
              <a:ext uri="{FF2B5EF4-FFF2-40B4-BE49-F238E27FC236}">
                <a16:creationId xmlns:a16="http://schemas.microsoft.com/office/drawing/2014/main" id="{C3636D81-AB12-A99A-6E5A-1F225035C3F1}"/>
              </a:ext>
            </a:extLst>
          </p:cNvPr>
          <p:cNvSpPr/>
          <p:nvPr/>
        </p:nvSpPr>
        <p:spPr>
          <a:xfrm flipH="1">
            <a:off x="6661889" y="1369566"/>
            <a:ext cx="1930538" cy="1355955"/>
          </a:xfrm>
          <a:prstGeom prst="borderCallout1">
            <a:avLst>
              <a:gd name="adj1" fmla="val 52923"/>
              <a:gd name="adj2" fmla="val 96722"/>
              <a:gd name="adj3" fmla="val 52799"/>
              <a:gd name="adj4" fmla="val 131288"/>
            </a:avLst>
          </a:prstGeom>
          <a:noFill/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rIns="0" rtlCol="0" anchor="ctr"/>
          <a:lstStyle/>
          <a:p>
            <a:endParaRPr lang="zh-TW" altLang="en-US" sz="1200" dirty="0">
              <a:solidFill>
                <a:schemeClr val="tx1"/>
              </a:solidFill>
            </a:endParaRPr>
          </a:p>
        </p:txBody>
      </p:sp>
      <p:cxnSp>
        <p:nvCxnSpPr>
          <p:cNvPr id="34" name="直線單箭頭接點 33">
            <a:extLst>
              <a:ext uri="{FF2B5EF4-FFF2-40B4-BE49-F238E27FC236}">
                <a16:creationId xmlns:a16="http://schemas.microsoft.com/office/drawing/2014/main" id="{65AA6843-DD4C-3853-E9EF-7E01BFE82BFB}"/>
              </a:ext>
            </a:extLst>
          </p:cNvPr>
          <p:cNvCxnSpPr>
            <a:cxnSpLocks/>
            <a:stCxn id="29" idx="3"/>
          </p:cNvCxnSpPr>
          <p:nvPr/>
        </p:nvCxnSpPr>
        <p:spPr>
          <a:xfrm flipV="1">
            <a:off x="3313330" y="3185474"/>
            <a:ext cx="753434" cy="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線單箭頭接點 40">
            <a:extLst>
              <a:ext uri="{FF2B5EF4-FFF2-40B4-BE49-F238E27FC236}">
                <a16:creationId xmlns:a16="http://schemas.microsoft.com/office/drawing/2014/main" id="{50D3B039-32B3-41BE-226C-8D772D82279A}"/>
              </a:ext>
            </a:extLst>
          </p:cNvPr>
          <p:cNvCxnSpPr>
            <a:cxnSpLocks/>
            <a:stCxn id="25" idx="0"/>
            <a:endCxn id="29" idx="2"/>
          </p:cNvCxnSpPr>
          <p:nvPr/>
        </p:nvCxnSpPr>
        <p:spPr>
          <a:xfrm flipH="1" flipV="1">
            <a:off x="2910362" y="3373997"/>
            <a:ext cx="4721" cy="396567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圖說文字: 直線 44">
            <a:extLst>
              <a:ext uri="{FF2B5EF4-FFF2-40B4-BE49-F238E27FC236}">
                <a16:creationId xmlns:a16="http://schemas.microsoft.com/office/drawing/2014/main" id="{65E28DCF-B83B-ACA4-72D7-450129FDDF62}"/>
              </a:ext>
            </a:extLst>
          </p:cNvPr>
          <p:cNvSpPr/>
          <p:nvPr/>
        </p:nvSpPr>
        <p:spPr>
          <a:xfrm flipH="1">
            <a:off x="899592" y="1873860"/>
            <a:ext cx="1381609" cy="2923292"/>
          </a:xfrm>
          <a:prstGeom prst="borderCallout1">
            <a:avLst>
              <a:gd name="adj1" fmla="val 57186"/>
              <a:gd name="adj2" fmla="val 19046"/>
              <a:gd name="adj3" fmla="val 57222"/>
              <a:gd name="adj4" fmla="val -15534"/>
            </a:avLst>
          </a:prstGeom>
          <a:noFill/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rIns="0" rtlCol="0" anchor="ctr"/>
          <a:lstStyle/>
          <a:p>
            <a:endParaRPr lang="zh-TW" altLang="en-US" sz="1200" dirty="0">
              <a:solidFill>
                <a:schemeClr val="tx1"/>
              </a:solidFill>
            </a:endParaRPr>
          </a:p>
        </p:txBody>
      </p:sp>
      <p:sp>
        <p:nvSpPr>
          <p:cNvPr id="47" name="文字方塊 46">
            <a:extLst>
              <a:ext uri="{FF2B5EF4-FFF2-40B4-BE49-F238E27FC236}">
                <a16:creationId xmlns:a16="http://schemas.microsoft.com/office/drawing/2014/main" id="{D4098A93-C42F-CCFC-ED41-D7918E93E7E9}"/>
              </a:ext>
            </a:extLst>
          </p:cNvPr>
          <p:cNvSpPr txBox="1"/>
          <p:nvPr/>
        </p:nvSpPr>
        <p:spPr>
          <a:xfrm>
            <a:off x="3422344" y="3212976"/>
            <a:ext cx="628698" cy="12521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ln w="0"/>
                <a:solidFill>
                  <a:schemeClr val="tx1">
                    <a:lumMod val="95000"/>
                    <a:lumOff val="5000"/>
                  </a:schemeClr>
                </a:solidFill>
                <a:latin typeface="Calibri"/>
                <a:ea typeface="新細明體" panose="02020500000000000000" pitchFamily="18" charset="-120"/>
              </a:rPr>
              <a:t>Deploy</a:t>
            </a:r>
            <a:endParaRPr lang="zh-TW" altLang="en-US" sz="1200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19DCEA1B-F211-4C67-8EC6-BC680482505C}"/>
              </a:ext>
            </a:extLst>
          </p:cNvPr>
          <p:cNvSpPr txBox="1"/>
          <p:nvPr/>
        </p:nvSpPr>
        <p:spPr>
          <a:xfrm>
            <a:off x="2492817" y="3541826"/>
            <a:ext cx="829956" cy="175206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ln w="0"/>
                <a:latin typeface="Calibri"/>
                <a:ea typeface="新細明體" panose="02020500000000000000" pitchFamily="18" charset="-120"/>
              </a:rPr>
              <a:t>Fine-Tuning</a:t>
            </a:r>
            <a:endParaRPr lang="zh-TW" altLang="en-US" sz="1200" dirty="0"/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3727E64D-5853-3D6E-FFA3-DE78C931C7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152788"/>
              </p:ext>
            </p:extLst>
          </p:nvPr>
        </p:nvGraphicFramePr>
        <p:xfrm>
          <a:off x="4066764" y="2678753"/>
          <a:ext cx="2160243" cy="21313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0081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720081">
                  <a:extLst>
                    <a:ext uri="{9D8B030D-6E8A-4147-A177-3AD203B41FA5}">
                      <a16:colId xmlns:a16="http://schemas.microsoft.com/office/drawing/2014/main" val="270114478"/>
                    </a:ext>
                  </a:extLst>
                </a:gridCol>
                <a:gridCol w="720081">
                  <a:extLst>
                    <a:ext uri="{9D8B030D-6E8A-4147-A177-3AD203B41FA5}">
                      <a16:colId xmlns:a16="http://schemas.microsoft.com/office/drawing/2014/main" val="1431172380"/>
                    </a:ext>
                  </a:extLst>
                </a:gridCol>
              </a:tblGrid>
              <a:tr h="344141"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507786"/>
                  </a:ext>
                </a:extLst>
              </a:tr>
              <a:tr h="31407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Qwen</a:t>
                      </a:r>
                    </a:p>
                  </a:txBody>
                  <a:tcPr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 3</a:t>
                      </a:r>
                    </a:p>
                  </a:txBody>
                  <a:tcPr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Mistral</a:t>
                      </a:r>
                    </a:p>
                  </a:txBody>
                  <a:tcPr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740306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Layer</a:t>
                      </a:r>
                    </a:p>
                  </a:txBody>
                  <a:tcPr marL="0" marR="0" marT="72000" marB="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8426438"/>
                  </a:ext>
                </a:extLst>
              </a:tr>
              <a:tr h="732847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Software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Infrastructure</a:t>
                      </a:r>
                    </a:p>
                  </a:txBody>
                  <a:tcPr marT="0" marB="0" anchor="ctr" anchorCtr="1">
                    <a:lnL w="28575" cap="flat" cmpd="sng" algn="ctr">
                      <a:solidFill>
                        <a:srgbClr val="DC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C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2830567"/>
                  </a:ext>
                </a:extLst>
              </a:tr>
            </a:tbl>
          </a:graphicData>
        </a:graphic>
      </p:graphicFrame>
      <p:sp>
        <p:nvSpPr>
          <p:cNvPr id="12" name="文字方塊 11">
            <a:extLst>
              <a:ext uri="{FF2B5EF4-FFF2-40B4-BE49-F238E27FC236}">
                <a16:creationId xmlns:a16="http://schemas.microsoft.com/office/drawing/2014/main" id="{7EAB9C57-35D1-B219-F12E-346B907EEA10}"/>
              </a:ext>
            </a:extLst>
          </p:cNvPr>
          <p:cNvSpPr txBox="1"/>
          <p:nvPr/>
        </p:nvSpPr>
        <p:spPr>
          <a:xfrm>
            <a:off x="3398520" y="2852936"/>
            <a:ext cx="628698" cy="247368"/>
          </a:xfrm>
          <a:prstGeom prst="rect">
            <a:avLst/>
          </a:prstGeom>
          <a:solidFill>
            <a:schemeClr val="bg1">
              <a:lumMod val="95000"/>
              <a:alpha val="40000"/>
            </a:schemeClr>
          </a:solidFill>
          <a:ln>
            <a:noFill/>
          </a:ln>
          <a:effectLst>
            <a:glow rad="25400">
              <a:schemeClr val="bg1">
                <a:lumMod val="95000"/>
                <a:alpha val="40000"/>
              </a:schemeClr>
            </a:glow>
            <a:softEdge rad="50800"/>
          </a:effectLst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 err="1">
                <a:ln w="0"/>
                <a:solidFill>
                  <a:schemeClr val="accent1">
                    <a:lumMod val="75000"/>
                  </a:schemeClr>
                </a:solidFill>
                <a:latin typeface="Calibri"/>
                <a:ea typeface="新細明體" panose="02020500000000000000" pitchFamily="18" charset="-120"/>
              </a:rPr>
              <a:t>O</a:t>
            </a:r>
            <a:r>
              <a:rPr lang="en-US" altLang="zh-TW" sz="1200" dirty="0" err="1">
                <a:ln w="0"/>
                <a:solidFill>
                  <a:schemeClr val="tx1">
                    <a:lumMod val="95000"/>
                    <a:lumOff val="5000"/>
                  </a:schemeClr>
                </a:solidFill>
                <a:latin typeface="Calibri"/>
                <a:ea typeface="新細明體" panose="02020500000000000000" pitchFamily="18" charset="-120"/>
              </a:rPr>
              <a:t>llama</a:t>
            </a:r>
            <a:endParaRPr lang="en-US" altLang="zh-TW" sz="1200" dirty="0">
              <a:ln w="0"/>
              <a:solidFill>
                <a:schemeClr val="tx1">
                  <a:lumMod val="95000"/>
                  <a:lumOff val="5000"/>
                </a:schemeClr>
              </a:solidFill>
              <a:latin typeface="Calibri"/>
              <a:ea typeface="新細明體" panose="02020500000000000000" pitchFamily="18" charset="-120"/>
            </a:endParaRPr>
          </a:p>
        </p:txBody>
      </p:sp>
      <p:pic>
        <p:nvPicPr>
          <p:cNvPr id="27" name="圖片 26">
            <a:extLst>
              <a:ext uri="{FF2B5EF4-FFF2-40B4-BE49-F238E27FC236}">
                <a16:creationId xmlns:a16="http://schemas.microsoft.com/office/drawing/2014/main" id="{92A0724E-A38F-5195-50B0-C98F2CF9C99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40115" y="2534275"/>
            <a:ext cx="337951" cy="390669"/>
          </a:xfrm>
          <a:prstGeom prst="rect">
            <a:avLst/>
          </a:prstGeom>
          <a:solidFill>
            <a:schemeClr val="bg1">
              <a:alpha val="60000"/>
            </a:schemeClr>
          </a:solidFill>
        </p:spPr>
      </p:pic>
      <p:pic>
        <p:nvPicPr>
          <p:cNvPr id="22" name="圖片 21">
            <a:extLst>
              <a:ext uri="{FF2B5EF4-FFF2-40B4-BE49-F238E27FC236}">
                <a16:creationId xmlns:a16="http://schemas.microsoft.com/office/drawing/2014/main" id="{147E5DF0-3960-36B0-9254-B5A63E01B497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512" y="4077072"/>
            <a:ext cx="457201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32720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B8B6F72-A549-B220-DCA7-DC1B7241B4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表格 16">
            <a:extLst>
              <a:ext uri="{FF2B5EF4-FFF2-40B4-BE49-F238E27FC236}">
                <a16:creationId xmlns:a16="http://schemas.microsoft.com/office/drawing/2014/main" id="{67FC8883-BB6F-5C4D-A5C4-A1F589A907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8286262"/>
              </p:ext>
            </p:extLst>
          </p:nvPr>
        </p:nvGraphicFramePr>
        <p:xfrm>
          <a:off x="455461" y="5182334"/>
          <a:ext cx="3890222" cy="9829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9022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5776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Fine-Tunning Tools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LoRA, QLoRA, Full Tunning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005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QLRA/DRA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| Unsloth, LLaMA-Factory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3225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Standard LoRA | Hugging Face TRL, Axolotl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Full FT + DeepSpeed | Megatron-LM, PyTorch FSDP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D28A7E10-EFB7-39EF-8E60-7B6E9EE835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6615885"/>
              </p:ext>
            </p:extLst>
          </p:nvPr>
        </p:nvGraphicFramePr>
        <p:xfrm>
          <a:off x="1187624" y="1491606"/>
          <a:ext cx="4578552" cy="34515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5393">
                  <a:extLst>
                    <a:ext uri="{9D8B030D-6E8A-4147-A177-3AD203B41FA5}">
                      <a16:colId xmlns:a16="http://schemas.microsoft.com/office/drawing/2014/main" val="1024334701"/>
                    </a:ext>
                  </a:extLst>
                </a:gridCol>
                <a:gridCol w="432048">
                  <a:extLst>
                    <a:ext uri="{9D8B030D-6E8A-4147-A177-3AD203B41FA5}">
                      <a16:colId xmlns:a16="http://schemas.microsoft.com/office/drawing/2014/main" val="1801316647"/>
                    </a:ext>
                  </a:extLst>
                </a:gridCol>
                <a:gridCol w="2304256">
                  <a:extLst>
                    <a:ext uri="{9D8B030D-6E8A-4147-A177-3AD203B41FA5}">
                      <a16:colId xmlns:a16="http://schemas.microsoft.com/office/drawing/2014/main" val="3014040376"/>
                    </a:ext>
                  </a:extLst>
                </a:gridCol>
                <a:gridCol w="1126855">
                  <a:extLst>
                    <a:ext uri="{9D8B030D-6E8A-4147-A177-3AD203B41FA5}">
                      <a16:colId xmlns:a16="http://schemas.microsoft.com/office/drawing/2014/main" val="2413039513"/>
                    </a:ext>
                  </a:extLst>
                </a:gridCol>
              </a:tblGrid>
              <a:tr h="418266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Edge AI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Home Server/PC</a:t>
                      </a:r>
                      <a:endParaRPr lang="zh-TW" altLang="en-US" dirty="0"/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Computer Vision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55569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Llama3, Gemma4, Mistral,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DeepSeek, Qwen3-4B-Instruct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YOLO11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693437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Training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Framework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-Factory,</a:t>
                      </a:r>
                    </a:p>
                    <a:p>
                      <a:pPr algn="ctr"/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Unsloth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, Axolotl, 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Hugging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Face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TRL,</a:t>
                      </a:r>
                    </a:p>
                    <a:p>
                      <a:pPr algn="ctr"/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Torchtune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zh-TW" sz="1200" dirty="0"/>
                        <a:t>Ultralytics </a:t>
                      </a:r>
                      <a:endParaRPr lang="en-US" altLang="zh-TW" sz="1200" dirty="0"/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35003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SFT Data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ShareGPT</a:t>
                      </a:r>
                      <a:endParaRPr kumimoji="0" lang="zh-TW" alt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0246566"/>
                  </a:ext>
                </a:extLst>
              </a:tr>
              <a:tr h="64807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Optimizer &amp;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Quantization</a:t>
                      </a:r>
                      <a:b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32-bit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oto Sans HK" panose="020B0200000000000000" pitchFamily="34" charset="-120"/>
                          <a:ea typeface="Noto Sans HK" panose="020B0200000000000000" pitchFamily="34" charset="-120"/>
                          <a:cs typeface="Aharoni" panose="020F0502020204030204" pitchFamily="2" charset="-79"/>
                          <a:sym typeface="Wingdings" panose="05000000000000000000" pitchFamily="2" charset="2"/>
                        </a:rPr>
                        <a:t>➔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sym typeface="Wingdings" panose="05000000000000000000" pitchFamily="2" charset="2"/>
                        </a:rPr>
                        <a:t> 8-bit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Llama.cpp (GGUF)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Ollama</a:t>
                      </a:r>
                      <a:endParaRPr lang="zh-TW" altLang="en-US" dirty="0"/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TensorRT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/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OpenVINO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Toolkit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ONNX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6895739"/>
                  </a:ext>
                </a:extLst>
              </a:tr>
              <a:tr h="373434"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Inference Engines</a:t>
                      </a:r>
                      <a:endParaRPr dirty="0"/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/>
                        <a:t>Runtime</a:t>
                      </a:r>
                      <a:endParaRPr lang="en-US" altLang="zh-TW" sz="1200" dirty="0"/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dirty="0"/>
                        <a:t>Megatron-LM / </a:t>
                      </a:r>
                      <a:r>
                        <a:rPr lang="en-US" altLang="zh-TW" sz="1200" dirty="0" err="1"/>
                        <a:t>DeepSpeed</a:t>
                      </a:r>
                      <a:endParaRPr lang="zh-TW" altLang="en-US" sz="1200" dirty="0"/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1705614"/>
                  </a:ext>
                </a:extLst>
              </a:tr>
              <a:tr h="366786"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/>
                        <a:t>Hardware</a:t>
                      </a:r>
                    </a:p>
                  </a:txBody>
                  <a:tcPr marL="0" marR="0" marT="0" marB="0" anchor="ctr" anchorCtr="1"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TW" sz="1200" dirty="0"/>
                        <a:t>NPU / Raspberry Pi 5 / ARM  </a:t>
                      </a:r>
                    </a:p>
                    <a:p>
                      <a:pPr algn="ctr"/>
                      <a:r>
                        <a:rPr lang="zh-TW" altLang="zh-TW" sz="1200" dirty="0"/>
                        <a:t>CUDA / </a:t>
                      </a:r>
                      <a:r>
                        <a:rPr lang="en-US" altLang="zh-TW" sz="1200" dirty="0"/>
                        <a:t>Mac / NPU / PC</a:t>
                      </a:r>
                      <a:endParaRPr lang="zh-TW" altLang="en-US" dirty="0"/>
                    </a:p>
                  </a:txBody>
                  <a:tcPr marL="0" marR="0" marT="0" marB="0" anchor="ctr" anchorCtr="1"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3800420"/>
                  </a:ext>
                </a:extLst>
              </a:tr>
            </a:tbl>
          </a:graphicData>
        </a:graphic>
      </p:graphicFrame>
      <p:graphicFrame>
        <p:nvGraphicFramePr>
          <p:cNvPr id="13" name="表格 12">
            <a:extLst>
              <a:ext uri="{FF2B5EF4-FFF2-40B4-BE49-F238E27FC236}">
                <a16:creationId xmlns:a16="http://schemas.microsoft.com/office/drawing/2014/main" id="{32BC9FF3-428B-38B9-3E4F-FE9C15D111C8}"/>
              </a:ext>
            </a:extLst>
          </p:cNvPr>
          <p:cNvGraphicFramePr>
            <a:graphicFrameLocks noGrp="1"/>
          </p:cNvGraphicFramePr>
          <p:nvPr/>
        </p:nvGraphicFramePr>
        <p:xfrm>
          <a:off x="-1076325" y="4810125"/>
          <a:ext cx="208280" cy="365760"/>
        </p:xfrm>
        <a:graphic>
          <a:graphicData uri="http://schemas.openxmlformats.org/drawingml/2006/table">
            <a:tbl>
              <a:tblPr/>
              <a:tblGrid>
                <a:gridCol w="208280">
                  <a:extLst>
                    <a:ext uri="{9D8B030D-6E8A-4147-A177-3AD203B41FA5}">
                      <a16:colId xmlns:a16="http://schemas.microsoft.com/office/drawing/2014/main" val="5327328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zh-TW" altLang="en-US" dirty="0"/>
                    </a:p>
                  </a:txBody>
                  <a:tcPr>
                    <a:lnL w="3175" cmpd="sng">
                      <a:solidFill>
                        <a:schemeClr val="bg1"/>
                      </a:solidFill>
                      <a:prstDash val="solid"/>
                    </a:lnL>
                    <a:lnR w="3175" cmpd="sng">
                      <a:solidFill>
                        <a:schemeClr val="bg1"/>
                      </a:solidFill>
                      <a:prstDash val="solid"/>
                    </a:lnR>
                    <a:lnT w="3175" cmpd="sng">
                      <a:solidFill>
                        <a:schemeClr val="bg1"/>
                      </a:solidFill>
                      <a:prstDash val="solid"/>
                    </a:lnT>
                    <a:lnB w="3175" cmpd="sng">
                      <a:solidFill>
                        <a:schemeClr val="bg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55380650"/>
                  </a:ext>
                </a:extLst>
              </a:tr>
            </a:tbl>
          </a:graphicData>
        </a:graphic>
      </p:graphicFrame>
      <p:pic>
        <p:nvPicPr>
          <p:cNvPr id="14" name="圖片 13">
            <a:extLst>
              <a:ext uri="{FF2B5EF4-FFF2-40B4-BE49-F238E27FC236}">
                <a16:creationId xmlns:a16="http://schemas.microsoft.com/office/drawing/2014/main" id="{146713C1-67D6-2E22-3902-942D138E8D5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2917" y="2540149"/>
            <a:ext cx="457201" cy="457200"/>
          </a:xfrm>
          <a:prstGeom prst="rect">
            <a:avLst/>
          </a:prstGeom>
        </p:spPr>
      </p:pic>
      <p:pic>
        <p:nvPicPr>
          <p:cNvPr id="19" name="圖片 18">
            <a:extLst>
              <a:ext uri="{FF2B5EF4-FFF2-40B4-BE49-F238E27FC236}">
                <a16:creationId xmlns:a16="http://schemas.microsoft.com/office/drawing/2014/main" id="{32BA665D-B867-F673-A622-0D7CB8CAB19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4914" y="2276872"/>
            <a:ext cx="457200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29826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DE853544-DBA0-E3DB-54BF-4BDC27EE2E9F}"/>
              </a:ext>
            </a:extLst>
          </p:cNvPr>
          <p:cNvSpPr txBox="1"/>
          <p:nvPr/>
        </p:nvSpPr>
        <p:spPr>
          <a:xfrm>
            <a:off x="287524" y="4375264"/>
            <a:ext cx="8568952" cy="1862048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/>
              <a:t>Key Trends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Data Transition</a:t>
            </a:r>
            <a:r>
              <a:rPr lang="en-US" altLang="zh-TW" sz="1600" b="0" u="none" strike="noStrike" dirty="0">
                <a:effectLst/>
              </a:rPr>
              <a:t>: Shifting from Quantity (raw web) to </a:t>
            </a:r>
            <a:r>
              <a:rPr lang="en-US" altLang="zh-TW" sz="1600" b="0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Quality</a:t>
            </a:r>
            <a:r>
              <a:rPr lang="en-US" altLang="zh-TW" sz="1600" b="0" u="none" strike="noStrike" dirty="0">
                <a:effectLst/>
              </a:rPr>
              <a:t> (curated c</a:t>
            </a:r>
            <a:r>
              <a:rPr lang="en-US" altLang="zh-TW" sz="1600" dirty="0"/>
              <a:t>orpora)</a:t>
            </a:r>
            <a:r>
              <a:rPr lang="en-US" altLang="zh-TW" sz="1600" b="0" u="none" strike="noStrike" dirty="0">
                <a:effectLst/>
              </a:rPr>
              <a:t>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Architecture (MoE)</a:t>
            </a:r>
            <a:r>
              <a:rPr lang="en-US" altLang="zh-TW" sz="1600" dirty="0"/>
              <a:t>: Activating only relevant sub-networks to drastically lower inference </a:t>
            </a:r>
            <a:r>
              <a:rPr lang="en-US" altLang="zh-TW" sz="1600" dirty="0">
                <a:solidFill>
                  <a:schemeClr val="accent6">
                    <a:lumMod val="75000"/>
                  </a:schemeClr>
                </a:solidFill>
              </a:rPr>
              <a:t>costs</a:t>
            </a:r>
            <a:r>
              <a:rPr lang="en-US" altLang="zh-TW" sz="1600" dirty="0"/>
              <a:t>.</a:t>
            </a:r>
            <a:endParaRPr lang="en-US" altLang="zh-TW" sz="1600" dirty="0">
              <a:solidFill>
                <a:schemeClr val="bg1">
                  <a:lumMod val="75000"/>
                </a:schemeClr>
              </a:solidFill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Native Modality</a:t>
            </a:r>
            <a:r>
              <a:rPr lang="en-US" altLang="zh-TW" sz="1600" dirty="0"/>
              <a:t>: Integrating real-time voice and video natively for next-gen AI Agents.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Efficient Deployment</a:t>
            </a:r>
            <a:r>
              <a:rPr lang="en-US" altLang="zh-TW" sz="1600" dirty="0"/>
              <a:t>: Embracing Smaller Language Models (SLMs) for </a:t>
            </a:r>
            <a:r>
              <a:rPr lang="en-US" altLang="zh-TW" sz="1600" dirty="0">
                <a:solidFill>
                  <a:schemeClr val="accent6">
                    <a:lumMod val="75000"/>
                  </a:schemeClr>
                </a:solidFill>
              </a:rPr>
              <a:t>secure</a:t>
            </a:r>
            <a:r>
              <a:rPr lang="en-US" altLang="zh-TW" sz="1600" dirty="0"/>
              <a:t>, on-device AI.</a:t>
            </a:r>
            <a:endParaRPr lang="en-US" altLang="zh-TW" sz="1600" dirty="0">
              <a:solidFill>
                <a:schemeClr val="bg1">
                  <a:lumMod val="75000"/>
                </a:schemeClr>
              </a:solidFill>
            </a:endParaRPr>
          </a:p>
        </p:txBody>
      </p:sp>
      <p:grpSp>
        <p:nvGrpSpPr>
          <p:cNvPr id="6" name="群組 5">
            <a:extLst>
              <a:ext uri="{FF2B5EF4-FFF2-40B4-BE49-F238E27FC236}">
                <a16:creationId xmlns:a16="http://schemas.microsoft.com/office/drawing/2014/main" id="{5E04EBFC-4EB4-0EDE-A780-590452CD0E38}"/>
              </a:ext>
            </a:extLst>
          </p:cNvPr>
          <p:cNvGrpSpPr/>
          <p:nvPr/>
        </p:nvGrpSpPr>
        <p:grpSpPr>
          <a:xfrm>
            <a:off x="1058349" y="1193012"/>
            <a:ext cx="2094003" cy="2114742"/>
            <a:chOff x="1011755" y="2851680"/>
            <a:chExt cx="2094003" cy="2114742"/>
          </a:xfrm>
        </p:grpSpPr>
        <p:sp>
          <p:nvSpPr>
            <p:cNvPr id="7" name="弧形 6">
              <a:extLst>
                <a:ext uri="{FF2B5EF4-FFF2-40B4-BE49-F238E27FC236}">
                  <a16:creationId xmlns:a16="http://schemas.microsoft.com/office/drawing/2014/main" id="{ADE78692-DD87-A403-B53B-072E2A6E9BC6}"/>
                </a:ext>
              </a:extLst>
            </p:cNvPr>
            <p:cNvSpPr/>
            <p:nvPr/>
          </p:nvSpPr>
          <p:spPr>
            <a:xfrm>
              <a:off x="1050655" y="2869831"/>
              <a:ext cx="2055103" cy="2096591"/>
            </a:xfrm>
            <a:prstGeom prst="arc">
              <a:avLst>
                <a:gd name="adj1" fmla="val 16400852"/>
                <a:gd name="adj2" fmla="val 12348078"/>
              </a:avLst>
            </a:prstGeom>
            <a:solidFill>
              <a:schemeClr val="accent1">
                <a:lumMod val="20000"/>
                <a:lumOff val="80000"/>
                <a:alpha val="40000"/>
              </a:schemeClr>
            </a:solidFill>
            <a:ln w="25400">
              <a:solidFill>
                <a:schemeClr val="accent1">
                  <a:lumMod val="40000"/>
                  <a:lumOff val="60000"/>
                  <a:alpha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wrap="none" lIns="1097280" tIns="0" rIns="0" bIns="91440" rtlCol="0" anchor="b" anchorCtr="1"/>
            <a:lstStyle/>
            <a:p>
              <a:pPr algn="ctr"/>
              <a:endParaRPr lang="zh-TW" altLang="en-US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9" name="雲朵形 8">
              <a:extLst>
                <a:ext uri="{FF2B5EF4-FFF2-40B4-BE49-F238E27FC236}">
                  <a16:creationId xmlns:a16="http://schemas.microsoft.com/office/drawing/2014/main" id="{0D4D7F0B-3B8A-40C4-3859-2BE266019CFB}"/>
                </a:ext>
              </a:extLst>
            </p:cNvPr>
            <p:cNvSpPr/>
            <p:nvPr/>
          </p:nvSpPr>
          <p:spPr>
            <a:xfrm>
              <a:off x="1011755" y="2851680"/>
              <a:ext cx="1400005" cy="818598"/>
            </a:xfrm>
            <a:prstGeom prst="cloud">
              <a:avLst/>
            </a:prstGeom>
            <a:solidFill>
              <a:schemeClr val="bg1">
                <a:alpha val="90000"/>
              </a:schemeClr>
            </a:solidFill>
            <a:ln w="38100"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sz="1600" dirty="0">
                <a:solidFill>
                  <a:schemeClr val="tx2"/>
                </a:solidFill>
              </a:endParaRPr>
            </a:p>
          </p:txBody>
        </p:sp>
        <p:sp>
          <p:nvSpPr>
            <p:cNvPr id="10" name="文字方塊 9">
              <a:extLst>
                <a:ext uri="{FF2B5EF4-FFF2-40B4-BE49-F238E27FC236}">
                  <a16:creationId xmlns:a16="http://schemas.microsoft.com/office/drawing/2014/main" id="{0933DF4D-AD42-441A-13FF-5E50431F984F}"/>
                </a:ext>
              </a:extLst>
            </p:cNvPr>
            <p:cNvSpPr txBox="1"/>
            <p:nvPr/>
          </p:nvSpPr>
          <p:spPr>
            <a:xfrm>
              <a:off x="1909740" y="4318350"/>
              <a:ext cx="1024639" cy="323239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dirty="0">
                  <a:solidFill>
                    <a:schemeClr val="accent1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Edge AI</a:t>
              </a:r>
            </a:p>
          </p:txBody>
        </p:sp>
        <p:cxnSp>
          <p:nvCxnSpPr>
            <p:cNvPr id="11" name="直線單箭頭接點 10">
              <a:extLst>
                <a:ext uri="{FF2B5EF4-FFF2-40B4-BE49-F238E27FC236}">
                  <a16:creationId xmlns:a16="http://schemas.microsoft.com/office/drawing/2014/main" id="{61D0780E-0D93-AC04-23AC-5BC70DB675D1}"/>
                </a:ext>
              </a:extLst>
            </p:cNvPr>
            <p:cNvCxnSpPr>
              <a:cxnSpLocks/>
              <a:stCxn id="13" idx="2"/>
              <a:endCxn id="10" idx="0"/>
            </p:cNvCxnSpPr>
            <p:nvPr/>
          </p:nvCxnSpPr>
          <p:spPr>
            <a:xfrm>
              <a:off x="1620496" y="3434549"/>
              <a:ext cx="801564" cy="883801"/>
            </a:xfrm>
            <a:prstGeom prst="straightConnector1">
              <a:avLst/>
            </a:prstGeom>
            <a:ln w="25400">
              <a:solidFill>
                <a:schemeClr val="accent6">
                  <a:alpha val="80000"/>
                </a:schemeClr>
              </a:solidFill>
              <a:headEnd w="med" len="lg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文字方塊 12">
              <a:extLst>
                <a:ext uri="{FF2B5EF4-FFF2-40B4-BE49-F238E27FC236}">
                  <a16:creationId xmlns:a16="http://schemas.microsoft.com/office/drawing/2014/main" id="{1E98D504-3706-7625-D7D4-1EF4B42EEE93}"/>
                </a:ext>
              </a:extLst>
            </p:cNvPr>
            <p:cNvSpPr txBox="1"/>
            <p:nvPr/>
          </p:nvSpPr>
          <p:spPr>
            <a:xfrm>
              <a:off x="1108176" y="3065217"/>
              <a:ext cx="1024639" cy="369332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dirty="0">
                  <a:solidFill>
                    <a:schemeClr val="accent1">
                      <a:lumMod val="60000"/>
                      <a:lumOff val="40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Cloud AI</a:t>
              </a:r>
            </a:p>
          </p:txBody>
        </p:sp>
      </p:grpSp>
      <p:sp>
        <p:nvSpPr>
          <p:cNvPr id="8" name="標題 1">
            <a:extLst>
              <a:ext uri="{FF2B5EF4-FFF2-40B4-BE49-F238E27FC236}">
                <a16:creationId xmlns:a16="http://schemas.microsoft.com/office/drawing/2014/main" id="{173EE053-1FAE-538C-ABFD-598B0D03DD4E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LM Trend Analysis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From Scale-Driven to Quality-Centric Innovation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EBD64A5D-812A-71D3-28E3-739F618DBF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0290827"/>
              </p:ext>
            </p:extLst>
          </p:nvPr>
        </p:nvGraphicFramePr>
        <p:xfrm>
          <a:off x="6012160" y="2204863"/>
          <a:ext cx="2736304" cy="158417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6104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888098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912102">
                  <a:extLst>
                    <a:ext uri="{9D8B030D-6E8A-4147-A177-3AD203B41FA5}">
                      <a16:colId xmlns:a16="http://schemas.microsoft.com/office/drawing/2014/main" val="2975023522"/>
                    </a:ext>
                  </a:extLst>
                </a:gridCol>
              </a:tblGrid>
              <a:tr h="307254">
                <a:tc>
                  <a:txBody>
                    <a:bodyPr/>
                    <a:lstStyle/>
                    <a:p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7254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70B~405B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3~8B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7254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H/W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NPU/SoC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4745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HBM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4~16GB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367670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Power</a:t>
                      </a:r>
                    </a:p>
                    <a:p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Consumption</a:t>
                      </a:r>
                      <a:endParaRPr lang="zh-TW" altLang="en-US" sz="1200" b="0" cap="none" spc="0" dirty="0">
                        <a:ln w="0">
                          <a:noFill/>
                        </a:ln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MW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(Cooling)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W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(FAN)</a:t>
                      </a:r>
                      <a:endParaRPr lang="zh-TW" altLang="en-US" sz="1200" b="0" cap="none" spc="0" dirty="0">
                        <a:ln w="0">
                          <a:noFill/>
                        </a:ln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1787730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6749B70F-5258-6FA9-79B1-4335864F07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9788904"/>
              </p:ext>
            </p:extLst>
          </p:nvPr>
        </p:nvGraphicFramePr>
        <p:xfrm>
          <a:off x="1865763" y="3095134"/>
          <a:ext cx="2195330" cy="6218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5330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21577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On-premise and Local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4061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Enabling secure, low-latency, and privacy-first on-device AI.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8D203658-CE58-BAA2-6096-1412F79207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5046559"/>
              </p:ext>
            </p:extLst>
          </p:nvPr>
        </p:nvGraphicFramePr>
        <p:xfrm>
          <a:off x="262039" y="2030859"/>
          <a:ext cx="1233671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367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 Center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1416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Azure, AWS, GPT, 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 Code, Grok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pic>
        <p:nvPicPr>
          <p:cNvPr id="16" name="圖形 15" descr="上升趨勢的橫條圖 以實心填滿">
            <a:extLst>
              <a:ext uri="{FF2B5EF4-FFF2-40B4-BE49-F238E27FC236}">
                <a16:creationId xmlns:a16="http://schemas.microsoft.com/office/drawing/2014/main" id="{00E2A0E3-F313-B0E4-4656-A3E57C0C81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64288" y="1772814"/>
            <a:ext cx="432049" cy="432049"/>
          </a:xfrm>
          <a:prstGeom prst="rect">
            <a:avLst/>
          </a:prstGeom>
        </p:spPr>
      </p:pic>
      <p:pic>
        <p:nvPicPr>
          <p:cNvPr id="26" name="圖形 25" descr="細菌 以實心填滿">
            <a:extLst>
              <a:ext uri="{FF2B5EF4-FFF2-40B4-BE49-F238E27FC236}">
                <a16:creationId xmlns:a16="http://schemas.microsoft.com/office/drawing/2014/main" id="{7FB8FBF8-1C70-5BC8-E2E1-86A8F4DD36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442428" y="1365419"/>
            <a:ext cx="431917" cy="413783"/>
          </a:xfrm>
          <a:prstGeom prst="rect">
            <a:avLst/>
          </a:prstGeom>
        </p:spPr>
      </p:pic>
      <p:pic>
        <p:nvPicPr>
          <p:cNvPr id="30" name="圖形 29" descr="聊天 外框">
            <a:extLst>
              <a:ext uri="{FF2B5EF4-FFF2-40B4-BE49-F238E27FC236}">
                <a16:creationId xmlns:a16="http://schemas.microsoft.com/office/drawing/2014/main" id="{420F4A24-C4A0-7481-631F-F979E20E429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100392" y="1767553"/>
            <a:ext cx="432048" cy="437310"/>
          </a:xfrm>
          <a:prstGeom prst="rect">
            <a:avLst/>
          </a:prstGeom>
        </p:spPr>
      </p:pic>
      <p:pic>
        <p:nvPicPr>
          <p:cNvPr id="36" name="圖形 35" descr="火箭 以實心填滿">
            <a:extLst>
              <a:ext uri="{FF2B5EF4-FFF2-40B4-BE49-F238E27FC236}">
                <a16:creationId xmlns:a16="http://schemas.microsoft.com/office/drawing/2014/main" id="{6F139867-337F-D82D-3EDB-17ACEAD4CB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flipH="1">
            <a:off x="6951680" y="1212288"/>
            <a:ext cx="432049" cy="412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21731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2B0B116-CCAD-8F24-3B05-0C6DFC371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矩形 72">
            <a:extLst>
              <a:ext uri="{FF2B5EF4-FFF2-40B4-BE49-F238E27FC236}">
                <a16:creationId xmlns:a16="http://schemas.microsoft.com/office/drawing/2014/main" id="{F81FE75E-9127-9681-590D-9061B2910228}"/>
              </a:ext>
            </a:extLst>
          </p:cNvPr>
          <p:cNvSpPr/>
          <p:nvPr/>
        </p:nvSpPr>
        <p:spPr>
          <a:xfrm>
            <a:off x="6012161" y="3387544"/>
            <a:ext cx="1871696" cy="549568"/>
          </a:xfrm>
          <a:prstGeom prst="rect">
            <a:avLst/>
          </a:prstGeom>
          <a:noFill/>
          <a:ln w="19050">
            <a:solidFill>
              <a:schemeClr val="accent5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Ins="36000" bIns="0" rtlCol="0" anchor="t" anchorCtr="0"/>
          <a:lstStyle/>
          <a:p>
            <a:pPr algn="r">
              <a:lnSpc>
                <a:spcPts val="1000"/>
              </a:lnSpc>
            </a:pPr>
            <a:r>
              <a:rPr lang="en-US" altLang="zh-TW" sz="1000" dirty="0">
                <a:solidFill>
                  <a:schemeClr val="tx1"/>
                </a:solidFill>
                <a:ea typeface="微軟正黑體" panose="020B0604030504040204" pitchFamily="34" charset="-120"/>
              </a:rPr>
              <a:t>Encoder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14DA1361-4D8B-4FCC-584F-629F1294A318}"/>
              </a:ext>
            </a:extLst>
          </p:cNvPr>
          <p:cNvSpPr txBox="1"/>
          <p:nvPr/>
        </p:nvSpPr>
        <p:spPr>
          <a:xfrm>
            <a:off x="214908" y="980728"/>
            <a:ext cx="5466488" cy="2246769"/>
          </a:xfrm>
          <a:prstGeom prst="rect">
            <a:avLst/>
          </a:prstGeom>
          <a:solidFill>
            <a:schemeClr val="bg1">
              <a:alpha val="8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Features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Long Context Window</a:t>
            </a:r>
            <a:r>
              <a:rPr lang="en-US" altLang="zh-TW" sz="1600" dirty="0"/>
              <a:t>: More than 128K tokens.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Vision-Language</a:t>
            </a:r>
            <a:r>
              <a:rPr lang="en-US" altLang="zh-TW" sz="1600" dirty="0"/>
              <a:t>: Multi-Modal for text and vision input.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Multilingual </a:t>
            </a:r>
            <a:r>
              <a:rPr lang="en-US" altLang="zh-TW" sz="1600" dirty="0"/>
              <a:t>: Default support 35 languages, and 140+.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Single Chip</a:t>
            </a:r>
            <a:r>
              <a:rPr lang="en-US" altLang="zh-TW" sz="1600" dirty="0"/>
              <a:t>: Inference by only one GPU or TPU.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Model Quantization</a:t>
            </a:r>
            <a:r>
              <a:rPr lang="en-US" altLang="zh-TW" sz="1600" dirty="0"/>
              <a:t>: Q4 and FP16.</a:t>
            </a: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3C9AD4A7-CE39-6D13-9A34-F4154B36620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3</a:t>
            </a:r>
            <a:b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</a:b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Light, Fast, Multi-modal, and Multi-lingual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9F0C5F1F-8BA5-7023-CB2C-07E845026D34}"/>
              </a:ext>
            </a:extLst>
          </p:cNvPr>
          <p:cNvSpPr/>
          <p:nvPr/>
        </p:nvSpPr>
        <p:spPr>
          <a:xfrm>
            <a:off x="6221748" y="1412776"/>
            <a:ext cx="1440160" cy="1185341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F05B6047-2833-C1AD-81A4-9E94756336FA}"/>
              </a:ext>
            </a:extLst>
          </p:cNvPr>
          <p:cNvSpPr txBox="1"/>
          <p:nvPr/>
        </p:nvSpPr>
        <p:spPr>
          <a:xfrm>
            <a:off x="6365764" y="1571086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Feed</a:t>
            </a:r>
            <a:r>
              <a:rPr lang="zh-TW" altLang="en-US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 </a:t>
            </a: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Forward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F615B3A5-3FD2-4005-BC2E-69EC29B5B341}"/>
              </a:ext>
            </a:extLst>
          </p:cNvPr>
          <p:cNvSpPr txBox="1"/>
          <p:nvPr/>
        </p:nvSpPr>
        <p:spPr>
          <a:xfrm>
            <a:off x="6365764" y="1940154"/>
            <a:ext cx="1152128" cy="523222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Masked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Multi-Head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Attention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8AAD5BE6-CA01-DBC6-1993-208FB9ACBD36}"/>
              </a:ext>
            </a:extLst>
          </p:cNvPr>
          <p:cNvSpPr txBox="1"/>
          <p:nvPr/>
        </p:nvSpPr>
        <p:spPr>
          <a:xfrm>
            <a:off x="6507429" y="2708920"/>
            <a:ext cx="872480" cy="360040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TE + PE</a:t>
            </a:r>
            <a:endParaRPr lang="en-US" altLang="zh-TW" sz="1000" b="1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5BE8163C-E658-EC9A-A3D6-4483843DC234}"/>
              </a:ext>
            </a:extLst>
          </p:cNvPr>
          <p:cNvSpPr txBox="1"/>
          <p:nvPr/>
        </p:nvSpPr>
        <p:spPr>
          <a:xfrm>
            <a:off x="6365764" y="980713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Linear</a:t>
            </a: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9EA56A65-2A30-6FE7-1987-749C004F9F0B}"/>
              </a:ext>
            </a:extLst>
          </p:cNvPr>
          <p:cNvSpPr txBox="1"/>
          <p:nvPr/>
        </p:nvSpPr>
        <p:spPr>
          <a:xfrm>
            <a:off x="6365764" y="476672"/>
            <a:ext cx="1152128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Output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Probabilities</a:t>
            </a:r>
          </a:p>
        </p:txBody>
      </p:sp>
      <p:cxnSp>
        <p:nvCxnSpPr>
          <p:cNvPr id="18" name="直線單箭頭接點 17">
            <a:extLst>
              <a:ext uri="{FF2B5EF4-FFF2-40B4-BE49-F238E27FC236}">
                <a16:creationId xmlns:a16="http://schemas.microsoft.com/office/drawing/2014/main" id="{B82F44C6-607E-773F-9287-A4B04BF4B85F}"/>
              </a:ext>
            </a:extLst>
          </p:cNvPr>
          <p:cNvCxnSpPr>
            <a:cxnSpLocks/>
            <a:stCxn id="14" idx="0"/>
            <a:endCxn id="17" idx="2"/>
          </p:cNvCxnSpPr>
          <p:nvPr/>
        </p:nvCxnSpPr>
        <p:spPr>
          <a:xfrm flipV="1">
            <a:off x="6941828" y="836712"/>
            <a:ext cx="0" cy="14400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單箭頭接點 19">
            <a:extLst>
              <a:ext uri="{FF2B5EF4-FFF2-40B4-BE49-F238E27FC236}">
                <a16:creationId xmlns:a16="http://schemas.microsoft.com/office/drawing/2014/main" id="{A5ADA3C9-51C2-3237-133D-BBEFBF739687}"/>
              </a:ext>
            </a:extLst>
          </p:cNvPr>
          <p:cNvCxnSpPr>
            <a:cxnSpLocks/>
            <a:stCxn id="7" idx="0"/>
            <a:endCxn id="14" idx="2"/>
          </p:cNvCxnSpPr>
          <p:nvPr/>
        </p:nvCxnSpPr>
        <p:spPr>
          <a:xfrm flipV="1">
            <a:off x="6941828" y="1205765"/>
            <a:ext cx="0" cy="36532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單箭頭接點 23">
            <a:extLst>
              <a:ext uri="{FF2B5EF4-FFF2-40B4-BE49-F238E27FC236}">
                <a16:creationId xmlns:a16="http://schemas.microsoft.com/office/drawing/2014/main" id="{1DBA7485-E4D3-633A-C8FD-B13CD069630A}"/>
              </a:ext>
            </a:extLst>
          </p:cNvPr>
          <p:cNvCxnSpPr>
            <a:cxnSpLocks/>
            <a:stCxn id="11" idx="0"/>
            <a:endCxn id="10" idx="2"/>
          </p:cNvCxnSpPr>
          <p:nvPr/>
        </p:nvCxnSpPr>
        <p:spPr>
          <a:xfrm flipH="1" flipV="1">
            <a:off x="6941828" y="2463376"/>
            <a:ext cx="1841" cy="24554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單箭頭接點 27">
            <a:extLst>
              <a:ext uri="{FF2B5EF4-FFF2-40B4-BE49-F238E27FC236}">
                <a16:creationId xmlns:a16="http://schemas.microsoft.com/office/drawing/2014/main" id="{2B0520ED-01AE-68FB-5B5E-0DAE72BFC9B6}"/>
              </a:ext>
            </a:extLst>
          </p:cNvPr>
          <p:cNvCxnSpPr>
            <a:cxnSpLocks/>
            <a:stCxn id="10" idx="0"/>
            <a:endCxn id="7" idx="2"/>
          </p:cNvCxnSpPr>
          <p:nvPr/>
        </p:nvCxnSpPr>
        <p:spPr>
          <a:xfrm flipV="1">
            <a:off x="6941828" y="1796138"/>
            <a:ext cx="0" cy="14401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接點: 肘形 30">
            <a:extLst>
              <a:ext uri="{FF2B5EF4-FFF2-40B4-BE49-F238E27FC236}">
                <a16:creationId xmlns:a16="http://schemas.microsoft.com/office/drawing/2014/main" id="{88FCB6D8-BB47-90D6-7438-7C3CA5BB1ABB}"/>
              </a:ext>
            </a:extLst>
          </p:cNvPr>
          <p:cNvCxnSpPr>
            <a:cxnSpLocks/>
            <a:stCxn id="17" idx="3"/>
            <a:endCxn id="11" idx="3"/>
          </p:cNvCxnSpPr>
          <p:nvPr/>
        </p:nvCxnSpPr>
        <p:spPr>
          <a:xfrm flipH="1">
            <a:off x="7379909" y="656692"/>
            <a:ext cx="137983" cy="2232248"/>
          </a:xfrm>
          <a:prstGeom prst="bentConnector3">
            <a:avLst>
              <a:gd name="adj1" fmla="val -165673"/>
            </a:avLst>
          </a:prstGeom>
          <a:ln w="19050">
            <a:solidFill>
              <a:srgbClr val="9E7800"/>
            </a:solidFill>
            <a:prstDash val="solid"/>
            <a:headEnd type="non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D45BD80B-F195-173E-C31C-1D8057144F3F}"/>
              </a:ext>
            </a:extLst>
          </p:cNvPr>
          <p:cNvSpPr txBox="1"/>
          <p:nvPr/>
        </p:nvSpPr>
        <p:spPr>
          <a:xfrm>
            <a:off x="6056570" y="2152607"/>
            <a:ext cx="294468" cy="20503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 </a:t>
            </a:r>
            <a:r>
              <a:rPr lang="en-US" altLang="zh-TW" sz="1000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x</a:t>
            </a:r>
            <a:endParaRPr lang="en-US" altLang="zh-TW" sz="1000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19526939-E9C0-4A2C-0511-0D5DE4384B47}"/>
              </a:ext>
            </a:extLst>
          </p:cNvPr>
          <p:cNvSpPr/>
          <p:nvPr/>
        </p:nvSpPr>
        <p:spPr>
          <a:xfrm>
            <a:off x="6084168" y="3592824"/>
            <a:ext cx="504056" cy="268224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Text</a:t>
            </a:r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A1305DF5-9242-38FA-74E0-8B4262602807}"/>
              </a:ext>
            </a:extLst>
          </p:cNvPr>
          <p:cNvSpPr/>
          <p:nvPr/>
        </p:nvSpPr>
        <p:spPr>
          <a:xfrm>
            <a:off x="6689800" y="3592824"/>
            <a:ext cx="504056" cy="268224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Image</a:t>
            </a: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357C1A51-F19F-0863-D7B0-2DC91CF29B6B}"/>
              </a:ext>
            </a:extLst>
          </p:cNvPr>
          <p:cNvSpPr/>
          <p:nvPr/>
        </p:nvSpPr>
        <p:spPr>
          <a:xfrm>
            <a:off x="7291750" y="3578347"/>
            <a:ext cx="504056" cy="268224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Audio</a:t>
            </a: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0E72048D-2524-1E61-5076-ED59FF0E3E44}"/>
              </a:ext>
            </a:extLst>
          </p:cNvPr>
          <p:cNvSpPr/>
          <p:nvPr/>
        </p:nvSpPr>
        <p:spPr>
          <a:xfrm>
            <a:off x="6689800" y="3264256"/>
            <a:ext cx="504056" cy="26491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SigLIP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cxnSp>
        <p:nvCxnSpPr>
          <p:cNvPr id="70" name="直線單箭頭接點 69">
            <a:extLst>
              <a:ext uri="{FF2B5EF4-FFF2-40B4-BE49-F238E27FC236}">
                <a16:creationId xmlns:a16="http://schemas.microsoft.com/office/drawing/2014/main" id="{B7100B46-3DD7-60AF-91CE-0B46B2EC6D09}"/>
              </a:ext>
            </a:extLst>
          </p:cNvPr>
          <p:cNvCxnSpPr>
            <a:cxnSpLocks/>
            <a:stCxn id="69" idx="0"/>
            <a:endCxn id="11" idx="2"/>
          </p:cNvCxnSpPr>
          <p:nvPr/>
        </p:nvCxnSpPr>
        <p:spPr>
          <a:xfrm flipV="1">
            <a:off x="6941828" y="3068960"/>
            <a:ext cx="1841" cy="19529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7103562D-0073-D14F-640B-21B57C017310}"/>
              </a:ext>
            </a:extLst>
          </p:cNvPr>
          <p:cNvSpPr txBox="1"/>
          <p:nvPr/>
        </p:nvSpPr>
        <p:spPr>
          <a:xfrm>
            <a:off x="179512" y="3351241"/>
            <a:ext cx="333637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Gemma 3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Gemma Terms of Use/</a:t>
            </a:r>
          </a:p>
          <a:p>
            <a:pPr lvl="0"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Multimodal, Context Window 128K, multilingual,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dirty="0"/>
          </a:p>
          <a:p>
            <a:r>
              <a:rPr lang="en-US" altLang="zh-TW" dirty="0"/>
              <a:t>Gemma 4</a:t>
            </a:r>
            <a:r>
              <a:rPr lang="en-US" altLang="zh-TW" sz="1200" dirty="0"/>
              <a:t>: apache 2.0</a:t>
            </a:r>
          </a:p>
          <a:p>
            <a:r>
              <a:rPr lang="en-US" altLang="zh-TW" sz="1200" dirty="0"/>
              <a:t>/ tag&lt;think&gt;/ </a:t>
            </a:r>
          </a:p>
          <a:p>
            <a:endParaRPr lang="en-US" altLang="zh-TW" sz="1200" dirty="0"/>
          </a:p>
          <a:p>
            <a:r>
              <a:rPr lang="en-US" altLang="zh-TW" sz="1200" dirty="0"/>
              <a:t>Native Multimodal: text, image, table, … AV(E2B)</a:t>
            </a:r>
          </a:p>
          <a:p>
            <a:endParaRPr lang="zh-TW" altLang="en-US" sz="1200" dirty="0"/>
          </a:p>
        </p:txBody>
      </p:sp>
      <p:graphicFrame>
        <p:nvGraphicFramePr>
          <p:cNvPr id="23" name="表格 22">
            <a:extLst>
              <a:ext uri="{FF2B5EF4-FFF2-40B4-BE49-F238E27FC236}">
                <a16:creationId xmlns:a16="http://schemas.microsoft.com/office/drawing/2014/main" id="{A803B05C-8DDD-E678-CEC2-9DA93E6186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8618313"/>
              </p:ext>
            </p:extLst>
          </p:nvPr>
        </p:nvGraphicFramePr>
        <p:xfrm>
          <a:off x="351199" y="4970863"/>
          <a:ext cx="8225578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2449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135393863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2276585">
                  <a:extLst>
                    <a:ext uri="{9D8B030D-6E8A-4147-A177-3AD203B41FA5}">
                      <a16:colId xmlns:a16="http://schemas.microsoft.com/office/drawing/2014/main" val="3854310234"/>
                    </a:ext>
                  </a:extLst>
                </a:gridCol>
              </a:tblGrid>
              <a:tr h="24161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Version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File Size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Q4</a:t>
                      </a:r>
                    </a:p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FP16</a:t>
                      </a:r>
                    </a:p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 VRAM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Hardware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Platform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5143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0.2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 0.5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 0.6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Cell phone, Raspberry, Wearables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5143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2.6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3.5 ~ 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 ~ 10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Tablet, Notebook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5143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6.7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 ~ 10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27 ~ 28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Notebook 16G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15143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27B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15.1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18 ~ 20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60 ~ 64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 RTX 3090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145267">
                <a:tc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464001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流程圖: 合併 49">
            <a:extLst>
              <a:ext uri="{FF2B5EF4-FFF2-40B4-BE49-F238E27FC236}">
                <a16:creationId xmlns:a16="http://schemas.microsoft.com/office/drawing/2014/main" id="{8447D011-EBCC-D1FB-0C69-2143A03943FE}"/>
              </a:ext>
            </a:extLst>
          </p:cNvPr>
          <p:cNvSpPr/>
          <p:nvPr/>
        </p:nvSpPr>
        <p:spPr>
          <a:xfrm>
            <a:off x="4716016" y="4437112"/>
            <a:ext cx="432048" cy="2139202"/>
          </a:xfrm>
          <a:prstGeom prst="flowChartMerge">
            <a:avLst/>
          </a:prstGeom>
          <a:solidFill>
            <a:srgbClr val="FFC000"/>
          </a:solidFill>
          <a:ln w="254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graphicFrame>
        <p:nvGraphicFramePr>
          <p:cNvPr id="13" name="表格 12">
            <a:extLst>
              <a:ext uri="{FF2B5EF4-FFF2-40B4-BE49-F238E27FC236}">
                <a16:creationId xmlns:a16="http://schemas.microsoft.com/office/drawing/2014/main" id="{94A6F720-5FB8-E782-4A1C-29BF54922B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7146515"/>
              </p:ext>
            </p:extLst>
          </p:nvPr>
        </p:nvGraphicFramePr>
        <p:xfrm>
          <a:off x="716896" y="4131303"/>
          <a:ext cx="7704856" cy="23220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0120">
                  <a:extLst>
                    <a:ext uri="{9D8B030D-6E8A-4147-A177-3AD203B41FA5}">
                      <a16:colId xmlns:a16="http://schemas.microsoft.com/office/drawing/2014/main" val="4198244561"/>
                    </a:ext>
                  </a:extLst>
                </a:gridCol>
                <a:gridCol w="857032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731974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060818">
                  <a:extLst>
                    <a:ext uri="{9D8B030D-6E8A-4147-A177-3AD203B41FA5}">
                      <a16:colId xmlns:a16="http://schemas.microsoft.com/office/drawing/2014/main" val="3328686525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3752581630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3948573510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2054525474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1920063261"/>
                    </a:ext>
                  </a:extLst>
                </a:gridCol>
              </a:tblGrid>
              <a:tr h="328084">
                <a:tc rowSpan="2">
                  <a:txBody>
                    <a:bodyPr/>
                    <a:lstStyle/>
                    <a:p>
                      <a:pPr algn="ctr"/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Number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Language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Window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 consumption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6024">
                <a:tc vMerge="1">
                  <a:txBody>
                    <a:bodyPr/>
                    <a:lstStyle/>
                    <a:p>
                      <a:pPr algn="ctr"/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/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FP16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SFP8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Q4_0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1155207"/>
                  </a:ext>
                </a:extLst>
              </a:tr>
              <a:tr h="280563">
                <a:tc rowSpan="2"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Server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58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17.5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82991">
                <a:tc vMerge="1"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26B 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MoE 128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Diffusion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26B(4B)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48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14.4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439318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PC/NB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26.7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6.7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327442"/>
                  </a:ext>
                </a:extLst>
              </a:tr>
              <a:tr h="354133">
                <a:tc rowSpan="2"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Mobile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E4B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PLE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128k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8B (4.5+3.5)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18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~4.5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320920">
                <a:tc vMerge="1">
                  <a:txBody>
                    <a:bodyPr/>
                    <a:lstStyle/>
                    <a:p>
                      <a:pPr algn="l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5B (2.3+2.8)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~2.9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  <p:sp>
        <p:nvSpPr>
          <p:cNvPr id="8" name="文字方塊 7">
            <a:extLst>
              <a:ext uri="{FF2B5EF4-FFF2-40B4-BE49-F238E27FC236}">
                <a16:creationId xmlns:a16="http://schemas.microsoft.com/office/drawing/2014/main" id="{AF135B2E-EEC6-E246-846A-1EF62279E421}"/>
              </a:ext>
            </a:extLst>
          </p:cNvPr>
          <p:cNvSpPr txBox="1"/>
          <p:nvPr/>
        </p:nvSpPr>
        <p:spPr>
          <a:xfrm>
            <a:off x="179511" y="1377042"/>
            <a:ext cx="6470846" cy="1323439"/>
          </a:xfrm>
          <a:prstGeom prst="rect">
            <a:avLst/>
          </a:prstGeom>
          <a:solidFill>
            <a:schemeClr val="bg1">
              <a:alpha val="9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Features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Gemma 3: </a:t>
            </a:r>
            <a:r>
              <a:rPr lang="en-US" altLang="zh-TW" sz="1600" dirty="0"/>
              <a:t>Multimodal, multilingual 140+ and single chip.</a:t>
            </a:r>
            <a:endParaRPr lang="en-US" altLang="zh-TW" sz="1600" b="1" dirty="0"/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Gemma 4: </a:t>
            </a:r>
            <a:r>
              <a:rPr lang="en-US" altLang="zh-TW" sz="1600" dirty="0"/>
              <a:t>Native Multimodal, CoT,  &lt;|think|&gt;, multi-token prediction and PLE (Per Layer Embedding).</a:t>
            </a:r>
          </a:p>
        </p:txBody>
      </p:sp>
      <p:sp>
        <p:nvSpPr>
          <p:cNvPr id="5" name="標題 1">
            <a:extLst>
              <a:ext uri="{FF2B5EF4-FFF2-40B4-BE49-F238E27FC236}">
                <a16:creationId xmlns:a16="http://schemas.microsoft.com/office/drawing/2014/main" id="{5E6D0E09-6EF5-9848-658D-D41ED80B4BAA}"/>
              </a:ext>
            </a:extLst>
          </p:cNvPr>
          <p:cNvSpPr txBox="1">
            <a:spLocks/>
          </p:cNvSpPr>
          <p:nvPr/>
        </p:nvSpPr>
        <p:spPr>
          <a:xfrm>
            <a:off x="179511" y="116632"/>
            <a:ext cx="8779627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Family</a:t>
            </a:r>
            <a:b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</a:b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Gemma 4 under Apache 2.0 empowers local devices with autonomous agency.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pic>
        <p:nvPicPr>
          <p:cNvPr id="15" name="圖形 14" descr="伺服器 以實心填滿">
            <a:extLst>
              <a:ext uri="{FF2B5EF4-FFF2-40B4-BE49-F238E27FC236}">
                <a16:creationId xmlns:a16="http://schemas.microsoft.com/office/drawing/2014/main" id="{629E4120-1637-0AAB-6A3B-AB7FEACB71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32025" y="4797152"/>
            <a:ext cx="254275" cy="254275"/>
          </a:xfrm>
          <a:prstGeom prst="rect">
            <a:avLst/>
          </a:prstGeom>
        </p:spPr>
      </p:pic>
      <p:pic>
        <p:nvPicPr>
          <p:cNvPr id="17" name="圖形 16" descr="筆記型電腦 以實心填滿">
            <a:extLst>
              <a:ext uri="{FF2B5EF4-FFF2-40B4-BE49-F238E27FC236}">
                <a16:creationId xmlns:a16="http://schemas.microsoft.com/office/drawing/2014/main" id="{E0B85A7F-5C8E-F628-BF10-ADC5F47E11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38047" y="5517232"/>
            <a:ext cx="245454" cy="245454"/>
          </a:xfrm>
          <a:prstGeom prst="rect">
            <a:avLst/>
          </a:prstGeom>
        </p:spPr>
      </p:pic>
      <p:pic>
        <p:nvPicPr>
          <p:cNvPr id="19" name="圖形 18" descr="電腦 以實心填滿">
            <a:extLst>
              <a:ext uri="{FF2B5EF4-FFF2-40B4-BE49-F238E27FC236}">
                <a16:creationId xmlns:a16="http://schemas.microsoft.com/office/drawing/2014/main" id="{94FDF6EB-1889-FE73-1996-CB12F1E1426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01441" y="5129780"/>
            <a:ext cx="315444" cy="315444"/>
          </a:xfrm>
          <a:prstGeom prst="rect">
            <a:avLst/>
          </a:prstGeom>
        </p:spPr>
      </p:pic>
      <p:pic>
        <p:nvPicPr>
          <p:cNvPr id="21" name="圖形 20" descr="智慧型手機 以實心填滿">
            <a:extLst>
              <a:ext uri="{FF2B5EF4-FFF2-40B4-BE49-F238E27FC236}">
                <a16:creationId xmlns:a16="http://schemas.microsoft.com/office/drawing/2014/main" id="{174E9551-9AA7-A945-F67E-E80B80582E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44043" y="5805264"/>
            <a:ext cx="245454" cy="245454"/>
          </a:xfrm>
          <a:prstGeom prst="rect">
            <a:avLst/>
          </a:prstGeom>
        </p:spPr>
      </p:pic>
      <p:pic>
        <p:nvPicPr>
          <p:cNvPr id="23" name="圖形 22" descr="頭戴式耳機 以實心填滿">
            <a:extLst>
              <a:ext uri="{FF2B5EF4-FFF2-40B4-BE49-F238E27FC236}">
                <a16:creationId xmlns:a16="http://schemas.microsoft.com/office/drawing/2014/main" id="{92BA1BF4-2981-0AD1-D22C-7372851B62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6436" y="6093296"/>
            <a:ext cx="245454" cy="245454"/>
          </a:xfrm>
          <a:prstGeom prst="rect">
            <a:avLst/>
          </a:prstGeom>
        </p:spPr>
      </p:pic>
      <p:sp>
        <p:nvSpPr>
          <p:cNvPr id="26" name="雲朵形 25">
            <a:extLst>
              <a:ext uri="{FF2B5EF4-FFF2-40B4-BE49-F238E27FC236}">
                <a16:creationId xmlns:a16="http://schemas.microsoft.com/office/drawing/2014/main" id="{509766CE-DFB7-2679-00B7-E99E3812B74C}"/>
              </a:ext>
            </a:extLst>
          </p:cNvPr>
          <p:cNvSpPr/>
          <p:nvPr/>
        </p:nvSpPr>
        <p:spPr>
          <a:xfrm>
            <a:off x="291675" y="3212976"/>
            <a:ext cx="1400005" cy="654398"/>
          </a:xfrm>
          <a:prstGeom prst="cloud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endParaRPr lang="zh-TW" altLang="en-US" sz="1600" dirty="0">
              <a:solidFill>
                <a:schemeClr val="tx2"/>
              </a:solidFill>
            </a:endParaRPr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28016021-6586-F018-2D1F-235DAF68DE53}"/>
              </a:ext>
            </a:extLst>
          </p:cNvPr>
          <p:cNvSpPr txBox="1"/>
          <p:nvPr/>
        </p:nvSpPr>
        <p:spPr>
          <a:xfrm>
            <a:off x="683568" y="4291005"/>
            <a:ext cx="1193834" cy="32323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dirty="0">
                <a:solidFill>
                  <a:schemeClr val="accent1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Gemma 4</a:t>
            </a:r>
          </a:p>
        </p:txBody>
      </p:sp>
      <p:cxnSp>
        <p:nvCxnSpPr>
          <p:cNvPr id="28" name="直線單箭頭接點 27">
            <a:extLst>
              <a:ext uri="{FF2B5EF4-FFF2-40B4-BE49-F238E27FC236}">
                <a16:creationId xmlns:a16="http://schemas.microsoft.com/office/drawing/2014/main" id="{2CE94DF6-B418-F3D9-7106-9607209A20C4}"/>
              </a:ext>
            </a:extLst>
          </p:cNvPr>
          <p:cNvCxnSpPr>
            <a:cxnSpLocks/>
            <a:stCxn id="29" idx="2"/>
            <a:endCxn id="27" idx="0"/>
          </p:cNvCxnSpPr>
          <p:nvPr/>
        </p:nvCxnSpPr>
        <p:spPr>
          <a:xfrm>
            <a:off x="981887" y="3726324"/>
            <a:ext cx="298598" cy="564681"/>
          </a:xfrm>
          <a:prstGeom prst="straightConnector1">
            <a:avLst/>
          </a:prstGeom>
          <a:ln w="25400">
            <a:solidFill>
              <a:schemeClr val="accent6">
                <a:alpha val="80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2AE78E0C-913E-773C-0B33-35D2814AA505}"/>
              </a:ext>
            </a:extLst>
          </p:cNvPr>
          <p:cNvSpPr txBox="1"/>
          <p:nvPr/>
        </p:nvSpPr>
        <p:spPr>
          <a:xfrm>
            <a:off x="469567" y="3356992"/>
            <a:ext cx="1024639" cy="36933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dirty="0">
                <a:solidFill>
                  <a:schemeClr val="accent1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Gemini 3</a:t>
            </a:r>
          </a:p>
        </p:txBody>
      </p:sp>
      <p:grpSp>
        <p:nvGrpSpPr>
          <p:cNvPr id="3" name="群組 2">
            <a:extLst>
              <a:ext uri="{FF2B5EF4-FFF2-40B4-BE49-F238E27FC236}">
                <a16:creationId xmlns:a16="http://schemas.microsoft.com/office/drawing/2014/main" id="{8160DF6B-6461-AA6F-E2BC-B9036A02165F}"/>
              </a:ext>
            </a:extLst>
          </p:cNvPr>
          <p:cNvGrpSpPr/>
          <p:nvPr/>
        </p:nvGrpSpPr>
        <p:grpSpPr>
          <a:xfrm>
            <a:off x="6804248" y="476672"/>
            <a:ext cx="1871696" cy="3240360"/>
            <a:chOff x="6804248" y="476672"/>
            <a:chExt cx="1871696" cy="3240360"/>
          </a:xfrm>
        </p:grpSpPr>
        <p:sp>
          <p:nvSpPr>
            <p:cNvPr id="58" name="文字方塊 57">
              <a:extLst>
                <a:ext uri="{FF2B5EF4-FFF2-40B4-BE49-F238E27FC236}">
                  <a16:creationId xmlns:a16="http://schemas.microsoft.com/office/drawing/2014/main" id="{2FA5271A-6251-9F6D-E4BF-8C7BBF6BE8DB}"/>
                </a:ext>
              </a:extLst>
            </p:cNvPr>
            <p:cNvSpPr txBox="1"/>
            <p:nvPr/>
          </p:nvSpPr>
          <p:spPr>
            <a:xfrm>
              <a:off x="7299516" y="2702530"/>
              <a:ext cx="872480" cy="222414"/>
            </a:xfrm>
            <a:prstGeom prst="rect">
              <a:avLst/>
            </a:prstGeom>
            <a:solidFill>
              <a:srgbClr val="FDE7DA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000" b="1" dirty="0"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TE + PE</a:t>
              </a:r>
              <a:endParaRPr lang="en-US" altLang="zh-TW" sz="10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endParaRPr>
            </a:p>
          </p:txBody>
        </p:sp>
        <p:sp>
          <p:nvSpPr>
            <p:cNvPr id="55" name="矩形: 圓角 54">
              <a:extLst>
                <a:ext uri="{FF2B5EF4-FFF2-40B4-BE49-F238E27FC236}">
                  <a16:creationId xmlns:a16="http://schemas.microsoft.com/office/drawing/2014/main" id="{F544B70C-E4B4-1CCF-D188-78F665C0D6F8}"/>
                </a:ext>
              </a:extLst>
            </p:cNvPr>
            <p:cNvSpPr/>
            <p:nvPr/>
          </p:nvSpPr>
          <p:spPr>
            <a:xfrm>
              <a:off x="7013835" y="1412776"/>
              <a:ext cx="1440160" cy="1185341"/>
            </a:xfrm>
            <a:prstGeom prst="roundRect">
              <a:avLst>
                <a:gd name="adj" fmla="val 10053"/>
              </a:avLst>
            </a:prstGeom>
            <a:solidFill>
              <a:srgbClr val="DDDDDD">
                <a:alpha val="4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00"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56" name="文字方塊 55">
              <a:extLst>
                <a:ext uri="{FF2B5EF4-FFF2-40B4-BE49-F238E27FC236}">
                  <a16:creationId xmlns:a16="http://schemas.microsoft.com/office/drawing/2014/main" id="{4C6653E2-E464-B67F-542C-626C1C49F7FF}"/>
                </a:ext>
              </a:extLst>
            </p:cNvPr>
            <p:cNvSpPr txBox="1"/>
            <p:nvPr/>
          </p:nvSpPr>
          <p:spPr>
            <a:xfrm>
              <a:off x="7157851" y="1571086"/>
              <a:ext cx="1152128" cy="225052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Feed</a:t>
              </a:r>
              <a:r>
                <a:rPr lang="zh-TW" altLang="en-US" sz="11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 </a:t>
              </a:r>
              <a:r>
                <a:rPr lang="en-US" altLang="zh-TW" sz="11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Forward</a:t>
              </a:r>
            </a:p>
          </p:txBody>
        </p:sp>
        <p:sp>
          <p:nvSpPr>
            <p:cNvPr id="57" name="文字方塊 56">
              <a:extLst>
                <a:ext uri="{FF2B5EF4-FFF2-40B4-BE49-F238E27FC236}">
                  <a16:creationId xmlns:a16="http://schemas.microsoft.com/office/drawing/2014/main" id="{A4DA872E-47D3-7A6D-BE96-70A23B1006A7}"/>
                </a:ext>
              </a:extLst>
            </p:cNvPr>
            <p:cNvSpPr txBox="1"/>
            <p:nvPr/>
          </p:nvSpPr>
          <p:spPr>
            <a:xfrm>
              <a:off x="7157851" y="1940154"/>
              <a:ext cx="1152128" cy="523222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Masked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dirty="0"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Multi-Head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Attention</a:t>
              </a:r>
            </a:p>
          </p:txBody>
        </p:sp>
        <p:sp>
          <p:nvSpPr>
            <p:cNvPr id="59" name="文字方塊 58">
              <a:extLst>
                <a:ext uri="{FF2B5EF4-FFF2-40B4-BE49-F238E27FC236}">
                  <a16:creationId xmlns:a16="http://schemas.microsoft.com/office/drawing/2014/main" id="{1FE51C67-71A2-A3A5-E1FA-B717129CA894}"/>
                </a:ext>
              </a:extLst>
            </p:cNvPr>
            <p:cNvSpPr txBox="1"/>
            <p:nvPr/>
          </p:nvSpPr>
          <p:spPr>
            <a:xfrm>
              <a:off x="7157851" y="980713"/>
              <a:ext cx="1152128" cy="225052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Linear</a:t>
              </a:r>
            </a:p>
          </p:txBody>
        </p:sp>
        <p:sp>
          <p:nvSpPr>
            <p:cNvPr id="60" name="文字方塊 59">
              <a:extLst>
                <a:ext uri="{FF2B5EF4-FFF2-40B4-BE49-F238E27FC236}">
                  <a16:creationId xmlns:a16="http://schemas.microsoft.com/office/drawing/2014/main" id="{F5D3F3E7-E4F3-965F-8F04-7A64D5D57113}"/>
                </a:ext>
              </a:extLst>
            </p:cNvPr>
            <p:cNvSpPr txBox="1"/>
            <p:nvPr/>
          </p:nvSpPr>
          <p:spPr>
            <a:xfrm>
              <a:off x="7157851" y="476672"/>
              <a:ext cx="1152128" cy="360040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Output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Probabilities</a:t>
              </a:r>
            </a:p>
          </p:txBody>
        </p:sp>
        <p:cxnSp>
          <p:nvCxnSpPr>
            <p:cNvPr id="61" name="直線單箭頭接點 60">
              <a:extLst>
                <a:ext uri="{FF2B5EF4-FFF2-40B4-BE49-F238E27FC236}">
                  <a16:creationId xmlns:a16="http://schemas.microsoft.com/office/drawing/2014/main" id="{329C200D-76D7-0142-2C84-0D0C4C97F4FA}"/>
                </a:ext>
              </a:extLst>
            </p:cNvPr>
            <p:cNvCxnSpPr>
              <a:cxnSpLocks/>
              <a:stCxn id="59" idx="0"/>
              <a:endCxn id="60" idx="2"/>
            </p:cNvCxnSpPr>
            <p:nvPr/>
          </p:nvCxnSpPr>
          <p:spPr>
            <a:xfrm flipV="1">
              <a:off x="7733915" y="836712"/>
              <a:ext cx="0" cy="14400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直線單箭頭接點 61">
              <a:extLst>
                <a:ext uri="{FF2B5EF4-FFF2-40B4-BE49-F238E27FC236}">
                  <a16:creationId xmlns:a16="http://schemas.microsoft.com/office/drawing/2014/main" id="{C5B3142A-D863-64FB-0BC8-59567C7436B5}"/>
                </a:ext>
              </a:extLst>
            </p:cNvPr>
            <p:cNvCxnSpPr>
              <a:cxnSpLocks/>
              <a:stCxn id="56" idx="0"/>
              <a:endCxn id="59" idx="2"/>
            </p:cNvCxnSpPr>
            <p:nvPr/>
          </p:nvCxnSpPr>
          <p:spPr>
            <a:xfrm flipV="1">
              <a:off x="7733915" y="1205765"/>
              <a:ext cx="0" cy="36532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直線單箭頭接點 62">
              <a:extLst>
                <a:ext uri="{FF2B5EF4-FFF2-40B4-BE49-F238E27FC236}">
                  <a16:creationId xmlns:a16="http://schemas.microsoft.com/office/drawing/2014/main" id="{BB7C1B6D-A99F-B1F2-96FB-F86F15FE3897}"/>
                </a:ext>
              </a:extLst>
            </p:cNvPr>
            <p:cNvCxnSpPr>
              <a:cxnSpLocks/>
              <a:stCxn id="58" idx="0"/>
              <a:endCxn id="57" idx="2"/>
            </p:cNvCxnSpPr>
            <p:nvPr/>
          </p:nvCxnSpPr>
          <p:spPr>
            <a:xfrm flipH="1" flipV="1">
              <a:off x="7733915" y="2463376"/>
              <a:ext cx="1841" cy="23915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直線單箭頭接點 63">
              <a:extLst>
                <a:ext uri="{FF2B5EF4-FFF2-40B4-BE49-F238E27FC236}">
                  <a16:creationId xmlns:a16="http://schemas.microsoft.com/office/drawing/2014/main" id="{8AE4B4AE-55F0-3C44-8DE4-E9D5AECED94B}"/>
                </a:ext>
              </a:extLst>
            </p:cNvPr>
            <p:cNvCxnSpPr>
              <a:cxnSpLocks/>
              <a:stCxn id="57" idx="0"/>
              <a:endCxn id="56" idx="2"/>
            </p:cNvCxnSpPr>
            <p:nvPr/>
          </p:nvCxnSpPr>
          <p:spPr>
            <a:xfrm flipV="1">
              <a:off x="7733915" y="1796138"/>
              <a:ext cx="0" cy="14401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接點: 肘形 64">
              <a:extLst>
                <a:ext uri="{FF2B5EF4-FFF2-40B4-BE49-F238E27FC236}">
                  <a16:creationId xmlns:a16="http://schemas.microsoft.com/office/drawing/2014/main" id="{2BCF499F-4098-D851-5556-9E6FCE276555}"/>
                </a:ext>
              </a:extLst>
            </p:cNvPr>
            <p:cNvCxnSpPr>
              <a:cxnSpLocks/>
              <a:stCxn id="60" idx="3"/>
              <a:endCxn id="58" idx="3"/>
            </p:cNvCxnSpPr>
            <p:nvPr/>
          </p:nvCxnSpPr>
          <p:spPr>
            <a:xfrm flipH="1">
              <a:off x="8171996" y="656692"/>
              <a:ext cx="137983" cy="2157045"/>
            </a:xfrm>
            <a:prstGeom prst="bentConnector3">
              <a:avLst>
                <a:gd name="adj1" fmla="val -165673"/>
              </a:avLst>
            </a:prstGeom>
            <a:ln w="19050">
              <a:solidFill>
                <a:srgbClr val="9E7800"/>
              </a:solidFill>
              <a:prstDash val="solid"/>
              <a:headEnd type="none"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6" name="文字方塊 65">
              <a:extLst>
                <a:ext uri="{FF2B5EF4-FFF2-40B4-BE49-F238E27FC236}">
                  <a16:creationId xmlns:a16="http://schemas.microsoft.com/office/drawing/2014/main" id="{7C584174-AADE-F778-38AE-FBDA33DA3A7B}"/>
                </a:ext>
              </a:extLst>
            </p:cNvPr>
            <p:cNvSpPr txBox="1"/>
            <p:nvPr/>
          </p:nvSpPr>
          <p:spPr>
            <a:xfrm>
              <a:off x="6848657" y="2152607"/>
              <a:ext cx="294468" cy="205036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N </a:t>
              </a:r>
              <a:r>
                <a:rPr lang="en-US" altLang="zh-TW" sz="1000" dirty="0"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x</a:t>
              </a:r>
              <a:endParaRPr lang="en-US" altLang="zh-TW" sz="1000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endParaRPr>
            </a:p>
          </p:txBody>
        </p:sp>
        <p:grpSp>
          <p:nvGrpSpPr>
            <p:cNvPr id="74" name="群組 73">
              <a:extLst>
                <a:ext uri="{FF2B5EF4-FFF2-40B4-BE49-F238E27FC236}">
                  <a16:creationId xmlns:a16="http://schemas.microsoft.com/office/drawing/2014/main" id="{31EED9A3-C9D5-7E2A-5423-072BCC118A22}"/>
                </a:ext>
              </a:extLst>
            </p:cNvPr>
            <p:cNvGrpSpPr/>
            <p:nvPr/>
          </p:nvGrpSpPr>
          <p:grpSpPr>
            <a:xfrm>
              <a:off x="6804248" y="3167464"/>
              <a:ext cx="1871696" cy="549568"/>
              <a:chOff x="6804248" y="2996952"/>
              <a:chExt cx="1871696" cy="549568"/>
            </a:xfrm>
          </p:grpSpPr>
          <p:sp>
            <p:nvSpPr>
              <p:cNvPr id="54" name="矩形 53">
                <a:extLst>
                  <a:ext uri="{FF2B5EF4-FFF2-40B4-BE49-F238E27FC236}">
                    <a16:creationId xmlns:a16="http://schemas.microsoft.com/office/drawing/2014/main" id="{AE893425-E4F6-96F7-4CC3-98302DF5C655}"/>
                  </a:ext>
                </a:extLst>
              </p:cNvPr>
              <p:cNvSpPr/>
              <p:nvPr/>
            </p:nvSpPr>
            <p:spPr>
              <a:xfrm>
                <a:off x="6804248" y="2996952"/>
                <a:ext cx="1871696" cy="549568"/>
              </a:xfrm>
              <a:prstGeom prst="rect">
                <a:avLst/>
              </a:prstGeom>
              <a:solidFill>
                <a:schemeClr val="bg1">
                  <a:alpha val="60000"/>
                </a:schemeClr>
              </a:solidFill>
              <a:ln w="19050">
                <a:solidFill>
                  <a:schemeClr val="accent5">
                    <a:lumMod val="75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36000" rIns="36000" bIns="0" rtlCol="0" anchor="t" anchorCtr="0"/>
              <a:lstStyle/>
              <a:p>
                <a:pPr algn="r">
                  <a:lnSpc>
                    <a:spcPts val="1000"/>
                  </a:lnSpc>
                </a:pPr>
                <a:r>
                  <a:rPr lang="en-US" altLang="zh-TW" sz="1000" dirty="0">
                    <a:solidFill>
                      <a:schemeClr val="tx1"/>
                    </a:solidFill>
                    <a:ea typeface="微軟正黑體" panose="020B0604030504040204" pitchFamily="34" charset="-120"/>
                  </a:rPr>
                  <a:t>Native Multimodal</a:t>
                </a:r>
              </a:p>
            </p:txBody>
          </p:sp>
          <p:sp>
            <p:nvSpPr>
              <p:cNvPr id="67" name="矩形 66">
                <a:extLst>
                  <a:ext uri="{FF2B5EF4-FFF2-40B4-BE49-F238E27FC236}">
                    <a16:creationId xmlns:a16="http://schemas.microsoft.com/office/drawing/2014/main" id="{E82C9A1B-ACF3-0F81-4569-541E1B66A86C}"/>
                  </a:ext>
                </a:extLst>
              </p:cNvPr>
              <p:cNvSpPr/>
              <p:nvPr/>
            </p:nvSpPr>
            <p:spPr>
              <a:xfrm>
                <a:off x="6876255" y="3202232"/>
                <a:ext cx="504056" cy="268224"/>
              </a:xfrm>
              <a:prstGeom prst="rect">
                <a:avLst/>
              </a:prstGeom>
              <a:solidFill>
                <a:schemeClr val="bg1">
                  <a:alpha val="90000"/>
                </a:schemeClr>
              </a:solidFill>
              <a:ln w="38100">
                <a:solidFill>
                  <a:schemeClr val="accent5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>
                  <a:lnSpc>
                    <a:spcPts val="1000"/>
                  </a:lnSpc>
                </a:pPr>
                <a:r>
                  <a:rPr lang="en-US" altLang="zh-TW" sz="1400" b="1" baseline="-25000" dirty="0">
                    <a:solidFill>
                      <a:schemeClr val="tx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Text</a:t>
                </a:r>
              </a:p>
            </p:txBody>
          </p:sp>
          <p:sp>
            <p:nvSpPr>
              <p:cNvPr id="68" name="矩形 67">
                <a:extLst>
                  <a:ext uri="{FF2B5EF4-FFF2-40B4-BE49-F238E27FC236}">
                    <a16:creationId xmlns:a16="http://schemas.microsoft.com/office/drawing/2014/main" id="{9168C702-BEE1-C784-FD87-4E5F14C79BC3}"/>
                  </a:ext>
                </a:extLst>
              </p:cNvPr>
              <p:cNvSpPr/>
              <p:nvPr/>
            </p:nvSpPr>
            <p:spPr>
              <a:xfrm>
                <a:off x="7481887" y="3202232"/>
                <a:ext cx="504056" cy="268224"/>
              </a:xfrm>
              <a:prstGeom prst="rect">
                <a:avLst/>
              </a:prstGeom>
              <a:solidFill>
                <a:schemeClr val="bg1">
                  <a:alpha val="90000"/>
                </a:schemeClr>
              </a:solidFill>
              <a:ln w="38100">
                <a:solidFill>
                  <a:schemeClr val="accent5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>
                  <a:lnSpc>
                    <a:spcPts val="1000"/>
                  </a:lnSpc>
                </a:pPr>
                <a:r>
                  <a:rPr lang="en-US" altLang="zh-TW" sz="1400" b="1" baseline="-25000" dirty="0">
                    <a:solidFill>
                      <a:schemeClr val="tx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Image</a:t>
                </a:r>
              </a:p>
            </p:txBody>
          </p:sp>
          <p:sp>
            <p:nvSpPr>
              <p:cNvPr id="69" name="矩形 68">
                <a:extLst>
                  <a:ext uri="{FF2B5EF4-FFF2-40B4-BE49-F238E27FC236}">
                    <a16:creationId xmlns:a16="http://schemas.microsoft.com/office/drawing/2014/main" id="{2B1AA674-C134-9D92-4758-2D986FC6D4ED}"/>
                  </a:ext>
                </a:extLst>
              </p:cNvPr>
              <p:cNvSpPr/>
              <p:nvPr/>
            </p:nvSpPr>
            <p:spPr>
              <a:xfrm>
                <a:off x="8083837" y="3187755"/>
                <a:ext cx="504056" cy="268224"/>
              </a:xfrm>
              <a:prstGeom prst="rect">
                <a:avLst/>
              </a:prstGeom>
              <a:solidFill>
                <a:schemeClr val="bg1">
                  <a:alpha val="90000"/>
                </a:schemeClr>
              </a:solidFill>
              <a:ln w="38100">
                <a:solidFill>
                  <a:schemeClr val="accent5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>
                  <a:lnSpc>
                    <a:spcPts val="1000"/>
                  </a:lnSpc>
                </a:pPr>
                <a:r>
                  <a:rPr lang="en-US" altLang="zh-TW" sz="1400" b="1" baseline="-25000" dirty="0">
                    <a:solidFill>
                      <a:schemeClr val="tx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Audio</a:t>
                </a:r>
              </a:p>
            </p:txBody>
          </p:sp>
        </p:grpSp>
        <p:cxnSp>
          <p:nvCxnSpPr>
            <p:cNvPr id="71" name="直線單箭頭接點 70">
              <a:extLst>
                <a:ext uri="{FF2B5EF4-FFF2-40B4-BE49-F238E27FC236}">
                  <a16:creationId xmlns:a16="http://schemas.microsoft.com/office/drawing/2014/main" id="{FCC31C36-5B68-C944-0E8A-4FECFFB9EB3D}"/>
                </a:ext>
              </a:extLst>
            </p:cNvPr>
            <p:cNvCxnSpPr>
              <a:cxnSpLocks/>
              <a:stCxn id="54" idx="0"/>
              <a:endCxn id="58" idx="2"/>
            </p:cNvCxnSpPr>
            <p:nvPr/>
          </p:nvCxnSpPr>
          <p:spPr>
            <a:xfrm flipH="1" flipV="1">
              <a:off x="7735756" y="2924944"/>
              <a:ext cx="4340" cy="24252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437141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標題 1">
            <a:extLst>
              <a:ext uri="{FF2B5EF4-FFF2-40B4-BE49-F238E27FC236}">
                <a16:creationId xmlns:a16="http://schemas.microsoft.com/office/drawing/2014/main" id="{DB2403C2-8AB7-1C2F-B66B-4630703C634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Supervised Fine-Tuning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Shifts output from raw completion to following human intent and formats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.</a:t>
            </a: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01E0DA05-D7C8-8917-0DD7-EBA3DF6E580E}"/>
              </a:ext>
            </a:extLst>
          </p:cNvPr>
          <p:cNvSpPr txBox="1"/>
          <p:nvPr/>
        </p:nvSpPr>
        <p:spPr>
          <a:xfrm>
            <a:off x="213023" y="980728"/>
            <a:ext cx="5583113" cy="45550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SFT Focuses on Alignment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Training Data</a:t>
            </a:r>
            <a:r>
              <a:rPr lang="en-US" altLang="zh-TW" sz="1600" dirty="0"/>
              <a:t>: Structured, high-quality QA pairs.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Loss</a:t>
            </a:r>
            <a:r>
              <a:rPr lang="en-US" altLang="zh-TW" sz="1600" dirty="0"/>
              <a:t>: Model calculates loss on the response tokens.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endParaRPr lang="en-US" altLang="zh-TW" sz="1600" dirty="0"/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Quantization-Aware Distillation (QAD)</a:t>
            </a:r>
            <a:endParaRPr kumimoji="0" lang="en-US" altLang="zh-TW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A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.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endParaRPr kumimoji="0" lang="en-US" altLang="zh-TW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Parameter Efficient FT</a:t>
            </a:r>
            <a:endParaRPr kumimoji="0" lang="en-US" altLang="zh-TW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Adaptor: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LoRA, QLoRA, </a:t>
            </a:r>
            <a:r>
              <a:rPr kumimoji="0" lang="en-US" altLang="zh-TW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DoRA</a:t>
            </a:r>
            <a:endParaRPr kumimoji="0" lang="en-US" altLang="zh-TW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endParaRPr lang="en-US" altLang="zh-TW" sz="1600" dirty="0"/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Optimizer</a:t>
            </a:r>
            <a:endParaRPr kumimoji="0" lang="en-US" altLang="zh-TW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xx: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LoRA, QLoRA, </a:t>
            </a:r>
            <a:r>
              <a:rPr kumimoji="0" lang="en-US" altLang="zh-TW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DoRA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.</a:t>
            </a: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D0B1351F-8EA5-066A-FAEC-8EB4AC2DE28D}"/>
              </a:ext>
            </a:extLst>
          </p:cNvPr>
          <p:cNvSpPr txBox="1"/>
          <p:nvPr/>
        </p:nvSpPr>
        <p:spPr>
          <a:xfrm>
            <a:off x="7011484" y="2702530"/>
            <a:ext cx="872480" cy="222414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TE + PE</a:t>
            </a:r>
            <a:endParaRPr lang="en-US" altLang="zh-TW" sz="1000" b="1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E88BF026-A293-65F8-A86C-7C3F0D9A5C90}"/>
              </a:ext>
            </a:extLst>
          </p:cNvPr>
          <p:cNvSpPr/>
          <p:nvPr/>
        </p:nvSpPr>
        <p:spPr>
          <a:xfrm>
            <a:off x="6725803" y="1412776"/>
            <a:ext cx="1440160" cy="1185341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D414CA2E-A806-B858-9462-9212AFC24974}"/>
              </a:ext>
            </a:extLst>
          </p:cNvPr>
          <p:cNvSpPr txBox="1"/>
          <p:nvPr/>
        </p:nvSpPr>
        <p:spPr>
          <a:xfrm>
            <a:off x="6869819" y="1571086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0" rIns="0" bIns="0" anchor="ctr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386D8B02-3645-01FE-0A98-943E453527CD}"/>
              </a:ext>
            </a:extLst>
          </p:cNvPr>
          <p:cNvSpPr txBox="1"/>
          <p:nvPr/>
        </p:nvSpPr>
        <p:spPr>
          <a:xfrm>
            <a:off x="6869819" y="1940154"/>
            <a:ext cx="1152128" cy="523222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0" rIns="0" bIns="0" anchor="ctr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F8F3D7DD-281C-03DE-C320-6B5D5BAC1FFC}"/>
              </a:ext>
            </a:extLst>
          </p:cNvPr>
          <p:cNvSpPr txBox="1"/>
          <p:nvPr/>
        </p:nvSpPr>
        <p:spPr>
          <a:xfrm>
            <a:off x="6869819" y="980713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Linear</a:t>
            </a: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0FAEF7DA-B651-1DC1-6911-00B866288297}"/>
              </a:ext>
            </a:extLst>
          </p:cNvPr>
          <p:cNvSpPr txBox="1"/>
          <p:nvPr/>
        </p:nvSpPr>
        <p:spPr>
          <a:xfrm>
            <a:off x="6869819" y="476672"/>
            <a:ext cx="1152128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Output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Probabilities</a:t>
            </a:r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DF4C463F-DDB3-71AA-781D-C5CED941D4EA}"/>
              </a:ext>
            </a:extLst>
          </p:cNvPr>
          <p:cNvSpPr txBox="1"/>
          <p:nvPr/>
        </p:nvSpPr>
        <p:spPr>
          <a:xfrm>
            <a:off x="6560625" y="2152607"/>
            <a:ext cx="294468" cy="20503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 </a:t>
            </a:r>
            <a:r>
              <a:rPr lang="en-US" altLang="zh-TW" sz="1000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x</a:t>
            </a:r>
            <a:endParaRPr lang="en-US" altLang="zh-TW" sz="1000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grpSp>
        <p:nvGrpSpPr>
          <p:cNvPr id="28" name="群組 27">
            <a:extLst>
              <a:ext uri="{FF2B5EF4-FFF2-40B4-BE49-F238E27FC236}">
                <a16:creationId xmlns:a16="http://schemas.microsoft.com/office/drawing/2014/main" id="{2B034BED-F1B9-2490-2DE5-CDF1F21DAEDE}"/>
              </a:ext>
            </a:extLst>
          </p:cNvPr>
          <p:cNvGrpSpPr/>
          <p:nvPr/>
        </p:nvGrpSpPr>
        <p:grpSpPr>
          <a:xfrm>
            <a:off x="6516216" y="3167464"/>
            <a:ext cx="1871696" cy="549568"/>
            <a:chOff x="6804248" y="2996952"/>
            <a:chExt cx="1871696" cy="549568"/>
          </a:xfrm>
        </p:grpSpPr>
        <p:sp>
          <p:nvSpPr>
            <p:cNvPr id="29" name="矩形 28">
              <a:extLst>
                <a:ext uri="{FF2B5EF4-FFF2-40B4-BE49-F238E27FC236}">
                  <a16:creationId xmlns:a16="http://schemas.microsoft.com/office/drawing/2014/main" id="{03418876-0589-3D00-4087-B134D695BCDF}"/>
                </a:ext>
              </a:extLst>
            </p:cNvPr>
            <p:cNvSpPr/>
            <p:nvPr/>
          </p:nvSpPr>
          <p:spPr>
            <a:xfrm>
              <a:off x="6804248" y="2996952"/>
              <a:ext cx="1871696" cy="549568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19050">
              <a:solidFill>
                <a:schemeClr val="accent5">
                  <a:lumMod val="75000"/>
                </a:schemeClr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36000" rIns="36000" bIns="0" rtlCol="0" anchor="t" anchorCtr="0"/>
            <a:lstStyle/>
            <a:p>
              <a:pPr algn="r">
                <a:lnSpc>
                  <a:spcPts val="1000"/>
                </a:lnSpc>
              </a:pPr>
              <a:r>
                <a:rPr lang="en-US" altLang="zh-TW" sz="10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Native Multimodal</a:t>
              </a:r>
            </a:p>
          </p:txBody>
        </p:sp>
        <p:sp>
          <p:nvSpPr>
            <p:cNvPr id="30" name="矩形 29">
              <a:extLst>
                <a:ext uri="{FF2B5EF4-FFF2-40B4-BE49-F238E27FC236}">
                  <a16:creationId xmlns:a16="http://schemas.microsoft.com/office/drawing/2014/main" id="{B1C5FC9D-F2E3-561A-9741-583155335EB0}"/>
                </a:ext>
              </a:extLst>
            </p:cNvPr>
            <p:cNvSpPr/>
            <p:nvPr/>
          </p:nvSpPr>
          <p:spPr>
            <a:xfrm>
              <a:off x="6876255" y="3202232"/>
              <a:ext cx="504056" cy="268224"/>
            </a:xfrm>
            <a:prstGeom prst="rect">
              <a:avLst/>
            </a:prstGeom>
            <a:solidFill>
              <a:schemeClr val="bg1">
                <a:alpha val="90000"/>
              </a:schemeClr>
            </a:solidFill>
            <a:ln w="38100"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000"/>
                </a:lnSpc>
              </a:pPr>
              <a:r>
                <a:rPr lang="en-US" altLang="zh-TW" sz="1400" b="1" baseline="-25000" dirty="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Text</a:t>
              </a:r>
            </a:p>
          </p:txBody>
        </p:sp>
        <p:sp>
          <p:nvSpPr>
            <p:cNvPr id="31" name="矩形 30">
              <a:extLst>
                <a:ext uri="{FF2B5EF4-FFF2-40B4-BE49-F238E27FC236}">
                  <a16:creationId xmlns:a16="http://schemas.microsoft.com/office/drawing/2014/main" id="{6AA09506-5D35-3006-8D81-C9FAD3F74F82}"/>
                </a:ext>
              </a:extLst>
            </p:cNvPr>
            <p:cNvSpPr/>
            <p:nvPr/>
          </p:nvSpPr>
          <p:spPr>
            <a:xfrm>
              <a:off x="7481887" y="3202232"/>
              <a:ext cx="504056" cy="268224"/>
            </a:xfrm>
            <a:prstGeom prst="rect">
              <a:avLst/>
            </a:prstGeom>
            <a:solidFill>
              <a:schemeClr val="bg1">
                <a:alpha val="90000"/>
              </a:schemeClr>
            </a:solidFill>
            <a:ln w="38100"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000"/>
                </a:lnSpc>
              </a:pPr>
              <a:r>
                <a:rPr lang="en-US" altLang="zh-TW" sz="1400" b="1" baseline="-25000" dirty="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Image</a:t>
              </a:r>
            </a:p>
          </p:txBody>
        </p:sp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9B4358C9-994E-2A39-A5C9-7C67E7B2543E}"/>
                </a:ext>
              </a:extLst>
            </p:cNvPr>
            <p:cNvSpPr/>
            <p:nvPr/>
          </p:nvSpPr>
          <p:spPr>
            <a:xfrm>
              <a:off x="8083837" y="3187755"/>
              <a:ext cx="504056" cy="268224"/>
            </a:xfrm>
            <a:prstGeom prst="rect">
              <a:avLst/>
            </a:prstGeom>
            <a:solidFill>
              <a:schemeClr val="bg1">
                <a:alpha val="90000"/>
              </a:schemeClr>
            </a:solidFill>
            <a:ln w="38100"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000"/>
                </a:lnSpc>
              </a:pPr>
              <a:r>
                <a:rPr lang="en-US" altLang="zh-TW" sz="1400" b="1" baseline="-25000" dirty="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Audio</a:t>
              </a:r>
            </a:p>
          </p:txBody>
        </p:sp>
      </p:grpSp>
      <p:sp>
        <p:nvSpPr>
          <p:cNvPr id="35" name="箭號: 向下 34">
            <a:extLst>
              <a:ext uri="{FF2B5EF4-FFF2-40B4-BE49-F238E27FC236}">
                <a16:creationId xmlns:a16="http://schemas.microsoft.com/office/drawing/2014/main" id="{E2348ED6-9D82-70E0-F517-B98373AF949F}"/>
              </a:ext>
            </a:extLst>
          </p:cNvPr>
          <p:cNvSpPr/>
          <p:nvPr/>
        </p:nvSpPr>
        <p:spPr>
          <a:xfrm rot="10800000">
            <a:off x="8532440" y="332654"/>
            <a:ext cx="203915" cy="3790688"/>
          </a:xfrm>
          <a:prstGeom prst="downArrow">
            <a:avLst>
              <a:gd name="adj1" fmla="val 50000"/>
              <a:gd name="adj2" fmla="val 18262"/>
            </a:avLst>
          </a:prstGeom>
          <a:solidFill>
            <a:schemeClr val="accent2">
              <a:lumMod val="50000"/>
              <a:alpha val="60000"/>
            </a:schemeClr>
          </a:solidFill>
          <a:ln w="127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79523F54-C8CA-E9AB-1526-17D61B1F3099}"/>
              </a:ext>
            </a:extLst>
          </p:cNvPr>
          <p:cNvSpPr txBox="1"/>
          <p:nvPr/>
        </p:nvSpPr>
        <p:spPr>
          <a:xfrm>
            <a:off x="5643736" y="1075856"/>
            <a:ext cx="728464" cy="958025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endParaRPr lang="en-US" altLang="zh-TW" sz="1200" b="1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0768F3CB-34B6-2A62-76F0-04D3471D2B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0969552"/>
              </p:ext>
            </p:extLst>
          </p:nvPr>
        </p:nvGraphicFramePr>
        <p:xfrm>
          <a:off x="5706950" y="1097982"/>
          <a:ext cx="610509" cy="8385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1050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5164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Q&amp;A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5164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…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376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100" b="1" cap="none" spc="0" dirty="0">
                          <a:ln w="0"/>
                          <a:solidFill>
                            <a:srgbClr val="FF0000"/>
                          </a:solidFill>
                          <a:effectLst/>
                        </a:rPr>
                        <a:t>…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376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100" b="1" i="0" u="none" strike="noStrike" kern="1200" cap="none" spc="0" normalizeH="0" baseline="0" noProof="0" dirty="0">
                          <a:ln w="0"/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…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68480023"/>
                  </a:ext>
                </a:extLst>
              </a:tr>
            </a:tbl>
          </a:graphicData>
        </a:graphic>
      </p:graphicFrame>
      <p:sp>
        <p:nvSpPr>
          <p:cNvPr id="9" name="箭號: 向下 8">
            <a:extLst>
              <a:ext uri="{FF2B5EF4-FFF2-40B4-BE49-F238E27FC236}">
                <a16:creationId xmlns:a16="http://schemas.microsoft.com/office/drawing/2014/main" id="{BCEA4E71-1DE0-67B3-C732-86109E09CC85}"/>
              </a:ext>
            </a:extLst>
          </p:cNvPr>
          <p:cNvSpPr/>
          <p:nvPr/>
        </p:nvSpPr>
        <p:spPr>
          <a:xfrm>
            <a:off x="5892548" y="2060848"/>
            <a:ext cx="216022" cy="225052"/>
          </a:xfrm>
          <a:prstGeom prst="downArrow">
            <a:avLst/>
          </a:prstGeom>
          <a:solidFill>
            <a:schemeClr val="accent2">
              <a:alpha val="70000"/>
            </a:schemeClr>
          </a:solidFill>
          <a:ln w="127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10" name="接點: 肘形 9">
            <a:extLst>
              <a:ext uri="{FF2B5EF4-FFF2-40B4-BE49-F238E27FC236}">
                <a16:creationId xmlns:a16="http://schemas.microsoft.com/office/drawing/2014/main" id="{4EF2130B-9794-DCAE-5B95-9865923D1E31}"/>
              </a:ext>
            </a:extLst>
          </p:cNvPr>
          <p:cNvCxnSpPr>
            <a:cxnSpLocks/>
            <a:stCxn id="9" idx="2"/>
            <a:endCxn id="34" idx="0"/>
          </p:cNvCxnSpPr>
          <p:nvPr/>
        </p:nvCxnSpPr>
        <p:spPr>
          <a:xfrm rot="16200000" flipH="1">
            <a:off x="5962829" y="2323630"/>
            <a:ext cx="1837444" cy="1761984"/>
          </a:xfrm>
          <a:prstGeom prst="bentConnector3">
            <a:avLst>
              <a:gd name="adj1" fmla="val 112441"/>
            </a:avLst>
          </a:prstGeom>
          <a:ln w="50800">
            <a:solidFill>
              <a:schemeClr val="bg1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單箭頭接點 21">
            <a:extLst>
              <a:ext uri="{FF2B5EF4-FFF2-40B4-BE49-F238E27FC236}">
                <a16:creationId xmlns:a16="http://schemas.microsoft.com/office/drawing/2014/main" id="{CF4EAEAB-B986-8AD9-CB48-1A13A5849CB9}"/>
              </a:ext>
            </a:extLst>
          </p:cNvPr>
          <p:cNvCxnSpPr>
            <a:cxnSpLocks/>
            <a:stCxn id="20" idx="0"/>
            <a:endCxn id="21" idx="2"/>
          </p:cNvCxnSpPr>
          <p:nvPr/>
        </p:nvCxnSpPr>
        <p:spPr>
          <a:xfrm flipV="1">
            <a:off x="7445883" y="836712"/>
            <a:ext cx="0" cy="14400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線單箭頭接點 22">
            <a:extLst>
              <a:ext uri="{FF2B5EF4-FFF2-40B4-BE49-F238E27FC236}">
                <a16:creationId xmlns:a16="http://schemas.microsoft.com/office/drawing/2014/main" id="{5EE3CCEB-C693-DD56-6D52-D6F5C9026029}"/>
              </a:ext>
            </a:extLst>
          </p:cNvPr>
          <p:cNvCxnSpPr>
            <a:cxnSpLocks/>
            <a:stCxn id="18" idx="0"/>
            <a:endCxn id="20" idx="2"/>
          </p:cNvCxnSpPr>
          <p:nvPr/>
        </p:nvCxnSpPr>
        <p:spPr>
          <a:xfrm flipV="1">
            <a:off x="7445883" y="1205765"/>
            <a:ext cx="0" cy="36532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單箭頭接點 23">
            <a:extLst>
              <a:ext uri="{FF2B5EF4-FFF2-40B4-BE49-F238E27FC236}">
                <a16:creationId xmlns:a16="http://schemas.microsoft.com/office/drawing/2014/main" id="{6B8EAE95-E205-E1A8-8A59-DC125880E945}"/>
              </a:ext>
            </a:extLst>
          </p:cNvPr>
          <p:cNvCxnSpPr>
            <a:cxnSpLocks/>
            <a:stCxn id="16" idx="0"/>
            <a:endCxn id="19" idx="2"/>
          </p:cNvCxnSpPr>
          <p:nvPr/>
        </p:nvCxnSpPr>
        <p:spPr>
          <a:xfrm flipH="1" flipV="1">
            <a:off x="7445883" y="2463376"/>
            <a:ext cx="1841" cy="23915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單箭頭接點 24">
            <a:extLst>
              <a:ext uri="{FF2B5EF4-FFF2-40B4-BE49-F238E27FC236}">
                <a16:creationId xmlns:a16="http://schemas.microsoft.com/office/drawing/2014/main" id="{D8F9D123-E5B7-3393-9616-885B3CD60B37}"/>
              </a:ext>
            </a:extLst>
          </p:cNvPr>
          <p:cNvCxnSpPr>
            <a:cxnSpLocks/>
            <a:stCxn id="19" idx="0"/>
            <a:endCxn id="18" idx="2"/>
          </p:cNvCxnSpPr>
          <p:nvPr/>
        </p:nvCxnSpPr>
        <p:spPr>
          <a:xfrm flipV="1">
            <a:off x="7445883" y="1796138"/>
            <a:ext cx="0" cy="14401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接點: 肘形 25">
            <a:extLst>
              <a:ext uri="{FF2B5EF4-FFF2-40B4-BE49-F238E27FC236}">
                <a16:creationId xmlns:a16="http://schemas.microsoft.com/office/drawing/2014/main" id="{13875869-5766-182A-2277-731C47CADBEC}"/>
              </a:ext>
            </a:extLst>
          </p:cNvPr>
          <p:cNvCxnSpPr>
            <a:cxnSpLocks/>
            <a:stCxn id="21" idx="3"/>
            <a:endCxn id="16" idx="3"/>
          </p:cNvCxnSpPr>
          <p:nvPr/>
        </p:nvCxnSpPr>
        <p:spPr>
          <a:xfrm flipH="1">
            <a:off x="7883964" y="656692"/>
            <a:ext cx="137983" cy="2157045"/>
          </a:xfrm>
          <a:prstGeom prst="bentConnector3">
            <a:avLst>
              <a:gd name="adj1" fmla="val -165673"/>
            </a:avLst>
          </a:prstGeom>
          <a:ln w="19050">
            <a:solidFill>
              <a:srgbClr val="9E7800"/>
            </a:solidFill>
            <a:prstDash val="solid"/>
            <a:headEnd type="non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線單箭頭接點 32">
            <a:extLst>
              <a:ext uri="{FF2B5EF4-FFF2-40B4-BE49-F238E27FC236}">
                <a16:creationId xmlns:a16="http://schemas.microsoft.com/office/drawing/2014/main" id="{1EB1596F-8089-5794-EF74-D672411B993B}"/>
              </a:ext>
            </a:extLst>
          </p:cNvPr>
          <p:cNvCxnSpPr>
            <a:cxnSpLocks/>
            <a:stCxn id="29" idx="0"/>
            <a:endCxn id="16" idx="2"/>
          </p:cNvCxnSpPr>
          <p:nvPr/>
        </p:nvCxnSpPr>
        <p:spPr>
          <a:xfrm flipH="1" flipV="1">
            <a:off x="7447724" y="2924944"/>
            <a:ext cx="4340" cy="24252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箭號: 向下 33">
            <a:extLst>
              <a:ext uri="{FF2B5EF4-FFF2-40B4-BE49-F238E27FC236}">
                <a16:creationId xmlns:a16="http://schemas.microsoft.com/office/drawing/2014/main" id="{FAC33CB5-CD76-B631-4DED-0A3D08E26402}"/>
              </a:ext>
            </a:extLst>
          </p:cNvPr>
          <p:cNvSpPr/>
          <p:nvPr/>
        </p:nvSpPr>
        <p:spPr>
          <a:xfrm rot="10800000">
            <a:off x="7452320" y="332655"/>
            <a:ext cx="620447" cy="3790689"/>
          </a:xfrm>
          <a:prstGeom prst="downArrow">
            <a:avLst>
              <a:gd name="adj1" fmla="val 73212"/>
              <a:gd name="adj2" fmla="val 18262"/>
            </a:avLst>
          </a:prstGeom>
          <a:solidFill>
            <a:schemeClr val="accent2">
              <a:lumMod val="50000"/>
              <a:alpha val="60000"/>
            </a:schemeClr>
          </a:solidFill>
          <a:ln w="127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8" name="箭號: 向下 37">
            <a:extLst>
              <a:ext uri="{FF2B5EF4-FFF2-40B4-BE49-F238E27FC236}">
                <a16:creationId xmlns:a16="http://schemas.microsoft.com/office/drawing/2014/main" id="{2FB6DBE9-646E-21F1-07E8-F0EBDF5EC3EF}"/>
              </a:ext>
            </a:extLst>
          </p:cNvPr>
          <p:cNvSpPr/>
          <p:nvPr/>
        </p:nvSpPr>
        <p:spPr>
          <a:xfrm rot="10800000">
            <a:off x="6732240" y="214374"/>
            <a:ext cx="1433722" cy="3908967"/>
          </a:xfrm>
          <a:prstGeom prst="downArrow">
            <a:avLst>
              <a:gd name="adj1" fmla="val 73212"/>
              <a:gd name="adj2" fmla="val 18262"/>
            </a:avLst>
          </a:prstGeom>
          <a:solidFill>
            <a:schemeClr val="accent2">
              <a:lumMod val="50000"/>
              <a:alpha val="60000"/>
            </a:schemeClr>
          </a:solidFill>
          <a:ln w="127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0" name="文字方塊 39">
            <a:extLst>
              <a:ext uri="{FF2B5EF4-FFF2-40B4-BE49-F238E27FC236}">
                <a16:creationId xmlns:a16="http://schemas.microsoft.com/office/drawing/2014/main" id="{DB0FE409-202E-6C6D-C8AC-991D45D9AAAB}"/>
              </a:ext>
            </a:extLst>
          </p:cNvPr>
          <p:cNvSpPr txBox="1"/>
          <p:nvPr/>
        </p:nvSpPr>
        <p:spPr>
          <a:xfrm>
            <a:off x="4410660" y="2861623"/>
            <a:ext cx="881420" cy="756316"/>
          </a:xfrm>
          <a:prstGeom prst="rect">
            <a:avLst/>
          </a:prstGeom>
          <a:solidFill>
            <a:schemeClr val="accent6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SFT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Quality is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all you need.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u="none" strike="noStrike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0214158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A73F4B-F6D5-D6A8-3D63-B5B2B052D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矩形: 圓角 92">
            <a:extLst>
              <a:ext uri="{FF2B5EF4-FFF2-40B4-BE49-F238E27FC236}">
                <a16:creationId xmlns:a16="http://schemas.microsoft.com/office/drawing/2014/main" id="{4928086E-C57B-CFD8-E24B-4BEE16E549AE}"/>
              </a:ext>
            </a:extLst>
          </p:cNvPr>
          <p:cNvSpPr/>
          <p:nvPr/>
        </p:nvSpPr>
        <p:spPr>
          <a:xfrm>
            <a:off x="423624" y="1714074"/>
            <a:ext cx="1219522" cy="1720987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8D1C7F93-BED0-BD63-3058-B9779172DA67}"/>
              </a:ext>
            </a:extLst>
          </p:cNvPr>
          <p:cNvSpPr txBox="1"/>
          <p:nvPr/>
        </p:nvSpPr>
        <p:spPr>
          <a:xfrm>
            <a:off x="491018" y="1793758"/>
            <a:ext cx="1086557" cy="70110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2FE2DAF5-F4B3-4E3C-D9A4-186F750E2771}"/>
              </a:ext>
            </a:extLst>
          </p:cNvPr>
          <p:cNvSpPr txBox="1"/>
          <p:nvPr/>
        </p:nvSpPr>
        <p:spPr>
          <a:xfrm>
            <a:off x="491018" y="2657854"/>
            <a:ext cx="1086557" cy="701102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31" name="直線單箭頭接點 30">
            <a:extLst>
              <a:ext uri="{FF2B5EF4-FFF2-40B4-BE49-F238E27FC236}">
                <a16:creationId xmlns:a16="http://schemas.microsoft.com/office/drawing/2014/main" id="{7CB97D8A-008F-A17E-ABCD-A5F03CC103EE}"/>
              </a:ext>
            </a:extLst>
          </p:cNvPr>
          <p:cNvCxnSpPr>
            <a:cxnSpLocks/>
            <a:stCxn id="8" idx="0"/>
            <a:endCxn id="137" idx="2"/>
          </p:cNvCxnSpPr>
          <p:nvPr/>
        </p:nvCxnSpPr>
        <p:spPr>
          <a:xfrm flipH="1" flipV="1">
            <a:off x="1033104" y="1513424"/>
            <a:ext cx="1193" cy="28033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2168BB19-0CE7-C14B-A0E9-DE6B080FA38F}"/>
              </a:ext>
            </a:extLst>
          </p:cNvPr>
          <p:cNvCxnSpPr>
            <a:cxnSpLocks/>
            <a:stCxn id="73" idx="0"/>
            <a:endCxn id="29" idx="2"/>
          </p:cNvCxnSpPr>
          <p:nvPr/>
        </p:nvCxnSpPr>
        <p:spPr>
          <a:xfrm flipV="1">
            <a:off x="1033386" y="3358956"/>
            <a:ext cx="911" cy="27479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線單箭頭接點 32">
            <a:extLst>
              <a:ext uri="{FF2B5EF4-FFF2-40B4-BE49-F238E27FC236}">
                <a16:creationId xmlns:a16="http://schemas.microsoft.com/office/drawing/2014/main" id="{976AB3B6-6FB0-A420-1C88-B1C5B9652D4A}"/>
              </a:ext>
            </a:extLst>
          </p:cNvPr>
          <p:cNvCxnSpPr>
            <a:cxnSpLocks/>
            <a:stCxn id="29" idx="0"/>
            <a:endCxn id="8" idx="2"/>
          </p:cNvCxnSpPr>
          <p:nvPr/>
        </p:nvCxnSpPr>
        <p:spPr>
          <a:xfrm flipV="1">
            <a:off x="1034297" y="2494860"/>
            <a:ext cx="0" cy="16299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文字方塊 72">
            <a:extLst>
              <a:ext uri="{FF2B5EF4-FFF2-40B4-BE49-F238E27FC236}">
                <a16:creationId xmlns:a16="http://schemas.microsoft.com/office/drawing/2014/main" id="{F55F07FA-0178-637C-C21A-E7E010B31F8C}"/>
              </a:ext>
            </a:extLst>
          </p:cNvPr>
          <p:cNvSpPr txBox="1"/>
          <p:nvPr/>
        </p:nvSpPr>
        <p:spPr>
          <a:xfrm>
            <a:off x="423625" y="3633747"/>
            <a:ext cx="1219522" cy="587341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t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200" u="sng" strike="noStrike" kern="1200" spc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</a:t>
            </a:r>
            <a:r>
              <a:rPr lang="en-US" altLang="zh-TW" sz="1200" b="1" u="sng" strike="noStrike" kern="1200" spc="0" dirty="0">
                <a:ln>
                  <a:noFill/>
                </a:ln>
                <a:effectLst/>
                <a:latin typeface="Consolas" panose="020B0609020204030204" pitchFamily="49" charset="0"/>
              </a:rPr>
              <a:t>Dataset   </a:t>
            </a:r>
            <a:endParaRPr lang="en-US" altLang="zh-TW" sz="1200" u="sng" strike="noStrike" kern="1200" spc="0" dirty="0">
              <a:ln>
                <a:noFill/>
              </a:ln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u="sng" strike="noStrike" kern="1200" cap="none" spc="0" normalizeH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</a:t>
            </a:r>
            <a:r>
              <a:rPr kumimoji="0" lang="zh-TW" altLang="en-US" sz="1200" u="sng" strike="noStrike" kern="1200" cap="none" spc="0" normalizeH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</a:t>
            </a:r>
            <a:r>
              <a:rPr lang="en-US" altLang="zh-TW" sz="1200" u="sng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ea typeface="新細明體" panose="02020500000000000000" pitchFamily="18" charset="-120"/>
              </a:rPr>
              <a:t>…</a:t>
            </a:r>
            <a:r>
              <a:rPr kumimoji="0" lang="en-US" altLang="zh-TW" sz="1200" u="sng" strike="noStrike" kern="1200" cap="none" spc="0" normalizeH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 </a:t>
            </a:r>
            <a:endParaRPr kumimoji="0" lang="zh-TW" altLang="zh-TW" sz="1200" u="sng" strike="noStrike" kern="1200" cap="none" spc="0" normalizeH="0" noProof="0" dirty="0">
              <a:ln>
                <a:noFill/>
              </a:ln>
              <a:solidFill>
                <a:schemeClr val="bg1">
                  <a:lumMod val="50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u="sng" strike="noStrike" kern="1200" cap="none" spc="0" normalizeH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 … </a:t>
            </a:r>
            <a:r>
              <a:rPr kumimoji="0" lang="zh-TW" altLang="en-US" sz="1200" u="sng" strike="noStrike" kern="1200" cap="none" spc="0" normalizeH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</a:t>
            </a:r>
            <a:endParaRPr kumimoji="0" lang="en-US" altLang="zh-TW" sz="1200" u="sng" strike="noStrike" kern="1200" cap="none" spc="0" normalizeH="0" noProof="0" dirty="0">
              <a:ln>
                <a:noFill/>
              </a:ln>
              <a:solidFill>
                <a:schemeClr val="bg1">
                  <a:lumMod val="50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83" name="右大括弧 82">
            <a:extLst>
              <a:ext uri="{FF2B5EF4-FFF2-40B4-BE49-F238E27FC236}">
                <a16:creationId xmlns:a16="http://schemas.microsoft.com/office/drawing/2014/main" id="{78E195F4-AC8C-9656-0261-19089CDFC37A}"/>
              </a:ext>
            </a:extLst>
          </p:cNvPr>
          <p:cNvSpPr/>
          <p:nvPr/>
        </p:nvSpPr>
        <p:spPr>
          <a:xfrm rot="5400000">
            <a:off x="4777851" y="3377865"/>
            <a:ext cx="124228" cy="1378626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85" name="標題 1">
            <a:extLst>
              <a:ext uri="{FF2B5EF4-FFF2-40B4-BE49-F238E27FC236}">
                <a16:creationId xmlns:a16="http://schemas.microsoft.com/office/drawing/2014/main" id="{E9A03960-058B-2CB8-2C60-45E910202458}"/>
              </a:ext>
            </a:extLst>
          </p:cNvPr>
          <p:cNvSpPr txBox="1">
            <a:spLocks/>
          </p:cNvSpPr>
          <p:nvPr/>
        </p:nvSpPr>
        <p:spPr>
          <a:xfrm>
            <a:off x="3902585" y="3790010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Full-FT</a:t>
            </a:r>
          </a:p>
        </p:txBody>
      </p:sp>
      <p:sp>
        <p:nvSpPr>
          <p:cNvPr id="117" name="矩形: 圓角 116">
            <a:extLst>
              <a:ext uri="{FF2B5EF4-FFF2-40B4-BE49-F238E27FC236}">
                <a16:creationId xmlns:a16="http://schemas.microsoft.com/office/drawing/2014/main" id="{4B59C877-B523-3595-7DC8-BF6CE185AA2E}"/>
              </a:ext>
            </a:extLst>
          </p:cNvPr>
          <p:cNvSpPr/>
          <p:nvPr/>
        </p:nvSpPr>
        <p:spPr>
          <a:xfrm>
            <a:off x="2327708" y="2171798"/>
            <a:ext cx="1064550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8" name="文字方塊 117">
            <a:extLst>
              <a:ext uri="{FF2B5EF4-FFF2-40B4-BE49-F238E27FC236}">
                <a16:creationId xmlns:a16="http://schemas.microsoft.com/office/drawing/2014/main" id="{6893B6E1-7D78-7FC0-5CF9-80CE7CCC3F9D}"/>
              </a:ext>
            </a:extLst>
          </p:cNvPr>
          <p:cNvSpPr txBox="1"/>
          <p:nvPr/>
        </p:nvSpPr>
        <p:spPr>
          <a:xfrm>
            <a:off x="2395102" y="2235522"/>
            <a:ext cx="931588" cy="37085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119" name="文字方塊 118">
            <a:extLst>
              <a:ext uri="{FF2B5EF4-FFF2-40B4-BE49-F238E27FC236}">
                <a16:creationId xmlns:a16="http://schemas.microsoft.com/office/drawing/2014/main" id="{2AEDE1F3-B28E-D40E-7AAE-184448BD5887}"/>
              </a:ext>
            </a:extLst>
          </p:cNvPr>
          <p:cNvSpPr txBox="1"/>
          <p:nvPr/>
        </p:nvSpPr>
        <p:spPr>
          <a:xfrm>
            <a:off x="2395102" y="2706964"/>
            <a:ext cx="931587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121" name="直線單箭頭接點 120">
            <a:extLst>
              <a:ext uri="{FF2B5EF4-FFF2-40B4-BE49-F238E27FC236}">
                <a16:creationId xmlns:a16="http://schemas.microsoft.com/office/drawing/2014/main" id="{33D1A3B3-6E0C-56F1-303D-64C258B2A34D}"/>
              </a:ext>
            </a:extLst>
          </p:cNvPr>
          <p:cNvCxnSpPr>
            <a:cxnSpLocks/>
            <a:stCxn id="118" idx="0"/>
            <a:endCxn id="139" idx="2"/>
          </p:cNvCxnSpPr>
          <p:nvPr/>
        </p:nvCxnSpPr>
        <p:spPr>
          <a:xfrm flipH="1" flipV="1">
            <a:off x="2860894" y="1864664"/>
            <a:ext cx="2" cy="370858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直線單箭頭接點 121">
            <a:extLst>
              <a:ext uri="{FF2B5EF4-FFF2-40B4-BE49-F238E27FC236}">
                <a16:creationId xmlns:a16="http://schemas.microsoft.com/office/drawing/2014/main" id="{9D3BDDE6-9F86-9B08-A3E0-E1B6FEF50B9B}"/>
              </a:ext>
            </a:extLst>
          </p:cNvPr>
          <p:cNvCxnSpPr>
            <a:cxnSpLocks/>
            <a:stCxn id="125" idx="0"/>
            <a:endCxn id="119" idx="2"/>
          </p:cNvCxnSpPr>
          <p:nvPr/>
        </p:nvCxnSpPr>
        <p:spPr>
          <a:xfrm flipH="1" flipV="1">
            <a:off x="2860896" y="3077822"/>
            <a:ext cx="4083" cy="220905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直線單箭頭接點 122">
            <a:extLst>
              <a:ext uri="{FF2B5EF4-FFF2-40B4-BE49-F238E27FC236}">
                <a16:creationId xmlns:a16="http://schemas.microsoft.com/office/drawing/2014/main" id="{08F38121-E97B-5C72-59F8-584A1DACE066}"/>
              </a:ext>
            </a:extLst>
          </p:cNvPr>
          <p:cNvCxnSpPr>
            <a:cxnSpLocks/>
            <a:stCxn id="119" idx="0"/>
            <a:endCxn id="118" idx="2"/>
          </p:cNvCxnSpPr>
          <p:nvPr/>
        </p:nvCxnSpPr>
        <p:spPr>
          <a:xfrm flipV="1">
            <a:off x="2860896" y="2606380"/>
            <a:ext cx="0" cy="10058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文字方塊 124">
            <a:extLst>
              <a:ext uri="{FF2B5EF4-FFF2-40B4-BE49-F238E27FC236}">
                <a16:creationId xmlns:a16="http://schemas.microsoft.com/office/drawing/2014/main" id="{8AC6F89D-9DDE-C6B1-B8D4-091FD6E91DE4}"/>
              </a:ext>
            </a:extLst>
          </p:cNvPr>
          <p:cNvSpPr txBox="1"/>
          <p:nvPr/>
        </p:nvSpPr>
        <p:spPr>
          <a:xfrm>
            <a:off x="2507243" y="3298727"/>
            <a:ext cx="715471" cy="460130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t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200" b="1" dirty="0">
                <a:solidFill>
                  <a:srgbClr val="000000"/>
                </a:solidFill>
                <a:latin typeface="Consolas" panose="020B0609020204030204" pitchFamily="49" charset="0"/>
              </a:rPr>
              <a:t>Mentor</a:t>
            </a:r>
          </a:p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200" b="1" dirty="0">
                <a:solidFill>
                  <a:srgbClr val="000000"/>
                </a:solidFill>
                <a:latin typeface="Consolas" panose="020B0609020204030204" pitchFamily="49" charset="0"/>
              </a:rPr>
              <a:t>Model</a:t>
            </a:r>
          </a:p>
        </p:txBody>
      </p:sp>
      <p:sp>
        <p:nvSpPr>
          <p:cNvPr id="137" name="文字方塊 136">
            <a:extLst>
              <a:ext uri="{FF2B5EF4-FFF2-40B4-BE49-F238E27FC236}">
                <a16:creationId xmlns:a16="http://schemas.microsoft.com/office/drawing/2014/main" id="{DCAA15A2-2C82-7EC5-D818-A6325C0C4EB8}"/>
              </a:ext>
            </a:extLst>
          </p:cNvPr>
          <p:cNvSpPr txBox="1"/>
          <p:nvPr/>
        </p:nvSpPr>
        <p:spPr>
          <a:xfrm>
            <a:off x="603736" y="1126708"/>
            <a:ext cx="858736" cy="38671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 of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Token</a:t>
            </a:r>
          </a:p>
        </p:txBody>
      </p:sp>
      <p:sp>
        <p:nvSpPr>
          <p:cNvPr id="139" name="文字方塊 138">
            <a:extLst>
              <a:ext uri="{FF2B5EF4-FFF2-40B4-BE49-F238E27FC236}">
                <a16:creationId xmlns:a16="http://schemas.microsoft.com/office/drawing/2014/main" id="{4EEBD5D0-F0A5-4D13-81E1-6F52D5F64607}"/>
              </a:ext>
            </a:extLst>
          </p:cNvPr>
          <p:cNvSpPr txBox="1"/>
          <p:nvPr/>
        </p:nvSpPr>
        <p:spPr>
          <a:xfrm>
            <a:off x="2395102" y="1486748"/>
            <a:ext cx="931583" cy="37791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 of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Token</a:t>
            </a:r>
          </a:p>
        </p:txBody>
      </p:sp>
      <p:cxnSp>
        <p:nvCxnSpPr>
          <p:cNvPr id="144" name="接點: 肘形 143">
            <a:extLst>
              <a:ext uri="{FF2B5EF4-FFF2-40B4-BE49-F238E27FC236}">
                <a16:creationId xmlns:a16="http://schemas.microsoft.com/office/drawing/2014/main" id="{93F4892F-BD86-06A2-4D59-865B71745F2D}"/>
              </a:ext>
            </a:extLst>
          </p:cNvPr>
          <p:cNvCxnSpPr>
            <a:cxnSpLocks/>
            <a:stCxn id="139" idx="3"/>
            <a:endCxn id="135" idx="3"/>
          </p:cNvCxnSpPr>
          <p:nvPr/>
        </p:nvCxnSpPr>
        <p:spPr>
          <a:xfrm>
            <a:off x="3326685" y="1675706"/>
            <a:ext cx="108652" cy="950562"/>
          </a:xfrm>
          <a:prstGeom prst="bentConnector3">
            <a:avLst>
              <a:gd name="adj1" fmla="val 310396"/>
            </a:avLst>
          </a:prstGeom>
          <a:ln w="19050">
            <a:solidFill>
              <a:schemeClr val="accent2"/>
            </a:solidFill>
            <a:prstDash val="solid"/>
            <a:headEnd type="non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接點: 肘形 146">
            <a:extLst>
              <a:ext uri="{FF2B5EF4-FFF2-40B4-BE49-F238E27FC236}">
                <a16:creationId xmlns:a16="http://schemas.microsoft.com/office/drawing/2014/main" id="{418D1EB1-3D02-619E-CCD1-EFA2AFDEA83D}"/>
              </a:ext>
            </a:extLst>
          </p:cNvPr>
          <p:cNvCxnSpPr>
            <a:cxnSpLocks/>
            <a:stCxn id="137" idx="3"/>
            <a:endCxn id="379" idx="3"/>
          </p:cNvCxnSpPr>
          <p:nvPr/>
        </p:nvCxnSpPr>
        <p:spPr>
          <a:xfrm>
            <a:off x="1462472" y="1320066"/>
            <a:ext cx="272973" cy="1246657"/>
          </a:xfrm>
          <a:prstGeom prst="bentConnector3">
            <a:avLst>
              <a:gd name="adj1" fmla="val 148652"/>
            </a:avLst>
          </a:prstGeom>
          <a:ln w="19050">
            <a:solidFill>
              <a:schemeClr val="accent2"/>
            </a:solidFill>
            <a:prstDash val="solid"/>
            <a:headEnd type="non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1" name="矩形: 圓角 230">
            <a:extLst>
              <a:ext uri="{FF2B5EF4-FFF2-40B4-BE49-F238E27FC236}">
                <a16:creationId xmlns:a16="http://schemas.microsoft.com/office/drawing/2014/main" id="{A2518113-6553-AA3F-2F21-6672C01DB5A5}"/>
              </a:ext>
            </a:extLst>
          </p:cNvPr>
          <p:cNvSpPr/>
          <p:nvPr/>
        </p:nvSpPr>
        <p:spPr>
          <a:xfrm>
            <a:off x="3823571" y="2171798"/>
            <a:ext cx="88141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32" name="文字方塊 231">
            <a:extLst>
              <a:ext uri="{FF2B5EF4-FFF2-40B4-BE49-F238E27FC236}">
                <a16:creationId xmlns:a16="http://schemas.microsoft.com/office/drawing/2014/main" id="{8238E81A-BF63-7018-BB35-37510B2097A2}"/>
              </a:ext>
            </a:extLst>
          </p:cNvPr>
          <p:cNvSpPr txBox="1"/>
          <p:nvPr/>
        </p:nvSpPr>
        <p:spPr>
          <a:xfrm>
            <a:off x="3890965" y="2235522"/>
            <a:ext cx="523087" cy="37085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233" name="文字方塊 232">
            <a:extLst>
              <a:ext uri="{FF2B5EF4-FFF2-40B4-BE49-F238E27FC236}">
                <a16:creationId xmlns:a16="http://schemas.microsoft.com/office/drawing/2014/main" id="{D8AA9854-6650-14F6-7194-1F2BA46C15AA}"/>
              </a:ext>
            </a:extLst>
          </p:cNvPr>
          <p:cNvSpPr txBox="1"/>
          <p:nvPr/>
        </p:nvSpPr>
        <p:spPr>
          <a:xfrm>
            <a:off x="3890965" y="2706964"/>
            <a:ext cx="523087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234" name="直線單箭頭接點 233">
            <a:extLst>
              <a:ext uri="{FF2B5EF4-FFF2-40B4-BE49-F238E27FC236}">
                <a16:creationId xmlns:a16="http://schemas.microsoft.com/office/drawing/2014/main" id="{1CE1F568-9AF0-FDD0-8BDC-B0404C25ABFD}"/>
              </a:ext>
            </a:extLst>
          </p:cNvPr>
          <p:cNvCxnSpPr>
            <a:cxnSpLocks/>
            <a:stCxn id="232" idx="0"/>
            <a:endCxn id="238" idx="2"/>
          </p:cNvCxnSpPr>
          <p:nvPr/>
        </p:nvCxnSpPr>
        <p:spPr>
          <a:xfrm flipH="1" flipV="1">
            <a:off x="4152508" y="1874865"/>
            <a:ext cx="1" cy="360657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直線單箭頭接點 234">
            <a:extLst>
              <a:ext uri="{FF2B5EF4-FFF2-40B4-BE49-F238E27FC236}">
                <a16:creationId xmlns:a16="http://schemas.microsoft.com/office/drawing/2014/main" id="{78555B27-050E-6D09-9209-95456926B4E8}"/>
              </a:ext>
            </a:extLst>
          </p:cNvPr>
          <p:cNvCxnSpPr>
            <a:cxnSpLocks/>
            <a:stCxn id="237" idx="0"/>
            <a:endCxn id="233" idx="2"/>
          </p:cNvCxnSpPr>
          <p:nvPr/>
        </p:nvCxnSpPr>
        <p:spPr>
          <a:xfrm flipV="1">
            <a:off x="4150652" y="3077822"/>
            <a:ext cx="1857" cy="220905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6" name="直線單箭頭接點 235">
            <a:extLst>
              <a:ext uri="{FF2B5EF4-FFF2-40B4-BE49-F238E27FC236}">
                <a16:creationId xmlns:a16="http://schemas.microsoft.com/office/drawing/2014/main" id="{F52FCB81-009B-A3DE-6E4C-EA1C22CED224}"/>
              </a:ext>
            </a:extLst>
          </p:cNvPr>
          <p:cNvCxnSpPr>
            <a:cxnSpLocks/>
            <a:stCxn id="233" idx="0"/>
            <a:endCxn id="232" idx="2"/>
          </p:cNvCxnSpPr>
          <p:nvPr/>
        </p:nvCxnSpPr>
        <p:spPr>
          <a:xfrm flipV="1">
            <a:off x="4152509" y="2606380"/>
            <a:ext cx="0" cy="10058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7" name="文字方塊 236">
            <a:extLst>
              <a:ext uri="{FF2B5EF4-FFF2-40B4-BE49-F238E27FC236}">
                <a16:creationId xmlns:a16="http://schemas.microsoft.com/office/drawing/2014/main" id="{447FA1F8-2B57-5506-DA2A-EA056337303C}"/>
              </a:ext>
            </a:extLst>
          </p:cNvPr>
          <p:cNvSpPr txBox="1"/>
          <p:nvPr/>
        </p:nvSpPr>
        <p:spPr>
          <a:xfrm>
            <a:off x="3934628" y="3298727"/>
            <a:ext cx="432048" cy="460130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t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200" u="sng" strike="noStrike" kern="1200" spc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sz="1200" b="1" u="sng" dirty="0">
                <a:solidFill>
                  <a:srgbClr val="000000"/>
                </a:solidFill>
                <a:latin typeface="Consolas" panose="020B0609020204030204" pitchFamily="49" charset="0"/>
              </a:rPr>
              <a:t>Q&amp;A</a:t>
            </a:r>
            <a:r>
              <a:rPr lang="en-US" altLang="zh-TW" sz="1200" b="1" u="sng" strike="noStrike" kern="1200" spc="0" dirty="0">
                <a:ln>
                  <a:noFill/>
                </a:ln>
                <a:effectLst/>
                <a:latin typeface="Consolas" panose="020B0609020204030204" pitchFamily="49" charset="0"/>
              </a:rPr>
              <a:t> </a:t>
            </a:r>
            <a:endParaRPr lang="en-US" altLang="zh-TW" sz="1200" u="sng" strike="noStrike" kern="1200" spc="0" dirty="0">
              <a:ln>
                <a:noFill/>
              </a:ln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u="sng" strike="noStrike" kern="1200" cap="none" spc="0" normalizeH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zh-TW" altLang="en-US" sz="1200" u="sng" strike="noStrike" kern="1200" cap="none" spc="0" normalizeH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</a:t>
            </a:r>
            <a:r>
              <a:rPr lang="en-US" altLang="zh-TW" sz="1200" u="sng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ea typeface="新細明體" panose="02020500000000000000" pitchFamily="18" charset="-120"/>
              </a:rPr>
              <a:t>…</a:t>
            </a:r>
            <a:r>
              <a:rPr kumimoji="0" lang="en-US" altLang="zh-TW" sz="1200" u="sng" strike="noStrike" kern="1200" cap="none" spc="0" normalizeH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</a:t>
            </a:r>
            <a:endParaRPr kumimoji="0" lang="zh-TW" altLang="zh-TW" sz="1200" u="sng" strike="noStrike" kern="1200" cap="none" spc="0" normalizeH="0" noProof="0" dirty="0">
              <a:ln>
                <a:noFill/>
              </a:ln>
              <a:solidFill>
                <a:schemeClr val="bg1">
                  <a:lumMod val="50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238" name="文字方塊 237">
            <a:extLst>
              <a:ext uri="{FF2B5EF4-FFF2-40B4-BE49-F238E27FC236}">
                <a16:creationId xmlns:a16="http://schemas.microsoft.com/office/drawing/2014/main" id="{09077A5C-56B1-48A7-B132-39266F22E51F}"/>
              </a:ext>
            </a:extLst>
          </p:cNvPr>
          <p:cNvSpPr txBox="1"/>
          <p:nvPr/>
        </p:nvSpPr>
        <p:spPr>
          <a:xfrm>
            <a:off x="3755024" y="1496949"/>
            <a:ext cx="794968" cy="37791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 of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Answer</a:t>
            </a:r>
          </a:p>
        </p:txBody>
      </p:sp>
      <p:cxnSp>
        <p:nvCxnSpPr>
          <p:cNvPr id="239" name="接點: 肘形 238">
            <a:extLst>
              <a:ext uri="{FF2B5EF4-FFF2-40B4-BE49-F238E27FC236}">
                <a16:creationId xmlns:a16="http://schemas.microsoft.com/office/drawing/2014/main" id="{5E43A6DC-032E-5EDA-92AE-19A6DC7665B4}"/>
              </a:ext>
            </a:extLst>
          </p:cNvPr>
          <p:cNvCxnSpPr>
            <a:cxnSpLocks/>
            <a:stCxn id="238" idx="3"/>
            <a:endCxn id="300" idx="3"/>
          </p:cNvCxnSpPr>
          <p:nvPr/>
        </p:nvCxnSpPr>
        <p:spPr>
          <a:xfrm flipH="1">
            <a:off x="4507270" y="1685907"/>
            <a:ext cx="42722" cy="943870"/>
          </a:xfrm>
          <a:prstGeom prst="bentConnector3">
            <a:avLst>
              <a:gd name="adj1" fmla="val -535087"/>
            </a:avLst>
          </a:prstGeom>
          <a:ln w="19050">
            <a:solidFill>
              <a:schemeClr val="accent2"/>
            </a:solidFill>
            <a:prstDash val="solid"/>
            <a:headEnd type="non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0" name="矩形: 圓角 299">
            <a:extLst>
              <a:ext uri="{FF2B5EF4-FFF2-40B4-BE49-F238E27FC236}">
                <a16:creationId xmlns:a16="http://schemas.microsoft.com/office/drawing/2014/main" id="{71E57E49-05C6-FC3D-E7B0-E01D33C9B182}"/>
              </a:ext>
            </a:extLst>
          </p:cNvPr>
          <p:cNvSpPr/>
          <p:nvPr/>
        </p:nvSpPr>
        <p:spPr>
          <a:xfrm>
            <a:off x="3760862" y="2062812"/>
            <a:ext cx="746408" cy="1133929"/>
          </a:xfrm>
          <a:prstGeom prst="roundRect">
            <a:avLst>
              <a:gd name="adj" fmla="val 1682"/>
            </a:avLst>
          </a:prstGeom>
          <a:solidFill>
            <a:schemeClr val="accent2">
              <a:lumMod val="50000"/>
              <a:alpha val="60000"/>
            </a:schemeClr>
          </a:solidFill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03" name="矩形: 圓角 302">
            <a:extLst>
              <a:ext uri="{FF2B5EF4-FFF2-40B4-BE49-F238E27FC236}">
                <a16:creationId xmlns:a16="http://schemas.microsoft.com/office/drawing/2014/main" id="{E56FF762-98A6-05A5-C664-098F47F03575}"/>
              </a:ext>
            </a:extLst>
          </p:cNvPr>
          <p:cNvSpPr/>
          <p:nvPr/>
        </p:nvSpPr>
        <p:spPr>
          <a:xfrm>
            <a:off x="5202197" y="2170828"/>
            <a:ext cx="88141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04" name="文字方塊 303">
            <a:extLst>
              <a:ext uri="{FF2B5EF4-FFF2-40B4-BE49-F238E27FC236}">
                <a16:creationId xmlns:a16="http://schemas.microsoft.com/office/drawing/2014/main" id="{03C040A2-8548-6161-7FA9-A766B9DB7A7B}"/>
              </a:ext>
            </a:extLst>
          </p:cNvPr>
          <p:cNvSpPr txBox="1"/>
          <p:nvPr/>
        </p:nvSpPr>
        <p:spPr>
          <a:xfrm>
            <a:off x="5269591" y="2234552"/>
            <a:ext cx="523087" cy="37085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305" name="文字方塊 304">
            <a:extLst>
              <a:ext uri="{FF2B5EF4-FFF2-40B4-BE49-F238E27FC236}">
                <a16:creationId xmlns:a16="http://schemas.microsoft.com/office/drawing/2014/main" id="{C44D0204-C2D8-698D-5A2F-359E1DBFD495}"/>
              </a:ext>
            </a:extLst>
          </p:cNvPr>
          <p:cNvSpPr txBox="1"/>
          <p:nvPr/>
        </p:nvSpPr>
        <p:spPr>
          <a:xfrm>
            <a:off x="5269591" y="2705994"/>
            <a:ext cx="523087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306" name="直線單箭頭接點 305">
            <a:extLst>
              <a:ext uri="{FF2B5EF4-FFF2-40B4-BE49-F238E27FC236}">
                <a16:creationId xmlns:a16="http://schemas.microsoft.com/office/drawing/2014/main" id="{BBB80449-19F8-1466-7D83-E56ADE739BB9}"/>
              </a:ext>
            </a:extLst>
          </p:cNvPr>
          <p:cNvCxnSpPr>
            <a:cxnSpLocks/>
            <a:stCxn id="304" idx="0"/>
            <a:endCxn id="310" idx="2"/>
          </p:cNvCxnSpPr>
          <p:nvPr/>
        </p:nvCxnSpPr>
        <p:spPr>
          <a:xfrm flipH="1" flipV="1">
            <a:off x="5531134" y="2134820"/>
            <a:ext cx="1" cy="99732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7" name="直線單箭頭接點 306">
            <a:extLst>
              <a:ext uri="{FF2B5EF4-FFF2-40B4-BE49-F238E27FC236}">
                <a16:creationId xmlns:a16="http://schemas.microsoft.com/office/drawing/2014/main" id="{8891154A-4E2A-C42E-E97C-6967CF03D0C2}"/>
              </a:ext>
            </a:extLst>
          </p:cNvPr>
          <p:cNvCxnSpPr>
            <a:cxnSpLocks/>
            <a:stCxn id="309" idx="0"/>
            <a:endCxn id="305" idx="2"/>
          </p:cNvCxnSpPr>
          <p:nvPr/>
        </p:nvCxnSpPr>
        <p:spPr>
          <a:xfrm flipV="1">
            <a:off x="5529278" y="3076852"/>
            <a:ext cx="1857" cy="220905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8" name="直線單箭頭接點 307">
            <a:extLst>
              <a:ext uri="{FF2B5EF4-FFF2-40B4-BE49-F238E27FC236}">
                <a16:creationId xmlns:a16="http://schemas.microsoft.com/office/drawing/2014/main" id="{664FE641-7A4B-43C0-571D-60C3357A6F56}"/>
              </a:ext>
            </a:extLst>
          </p:cNvPr>
          <p:cNvCxnSpPr>
            <a:cxnSpLocks/>
            <a:stCxn id="305" idx="0"/>
            <a:endCxn id="304" idx="2"/>
          </p:cNvCxnSpPr>
          <p:nvPr/>
        </p:nvCxnSpPr>
        <p:spPr>
          <a:xfrm flipV="1">
            <a:off x="5531135" y="2605410"/>
            <a:ext cx="0" cy="10058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9" name="文字方塊 308">
            <a:extLst>
              <a:ext uri="{FF2B5EF4-FFF2-40B4-BE49-F238E27FC236}">
                <a16:creationId xmlns:a16="http://schemas.microsoft.com/office/drawing/2014/main" id="{1B7EEA07-5236-B0CB-DF53-EBDAD1352252}"/>
              </a:ext>
            </a:extLst>
          </p:cNvPr>
          <p:cNvSpPr txBox="1"/>
          <p:nvPr/>
        </p:nvSpPr>
        <p:spPr>
          <a:xfrm>
            <a:off x="5313254" y="3297757"/>
            <a:ext cx="432048" cy="460130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t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200" u="sng" strike="noStrike" kern="1200" spc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sz="1200" b="1" u="sng" dirty="0">
                <a:solidFill>
                  <a:srgbClr val="000000"/>
                </a:solidFill>
                <a:latin typeface="Consolas" panose="020B0609020204030204" pitchFamily="49" charset="0"/>
              </a:rPr>
              <a:t>Q&amp;A</a:t>
            </a:r>
            <a:r>
              <a:rPr lang="en-US" altLang="zh-TW" sz="1200" b="1" u="sng" strike="noStrike" kern="1200" spc="0" dirty="0">
                <a:ln>
                  <a:noFill/>
                </a:ln>
                <a:effectLst/>
                <a:latin typeface="Consolas" panose="020B0609020204030204" pitchFamily="49" charset="0"/>
              </a:rPr>
              <a:t> </a:t>
            </a:r>
            <a:endParaRPr lang="en-US" altLang="zh-TW" sz="1200" u="sng" strike="noStrike" kern="1200" spc="0" dirty="0">
              <a:ln>
                <a:noFill/>
              </a:ln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u="sng" strike="noStrike" kern="1200" cap="none" spc="0" normalizeH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zh-TW" altLang="en-US" sz="1200" u="sng" strike="noStrike" kern="1200" cap="none" spc="0" normalizeH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</a:t>
            </a:r>
            <a:r>
              <a:rPr lang="en-US" altLang="zh-TW" sz="1200" u="sng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ea typeface="新細明體" panose="02020500000000000000" pitchFamily="18" charset="-120"/>
              </a:rPr>
              <a:t>…</a:t>
            </a:r>
            <a:r>
              <a:rPr kumimoji="0" lang="en-US" altLang="zh-TW" sz="1200" u="sng" strike="noStrike" kern="1200" cap="none" spc="0" normalizeH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</a:t>
            </a:r>
            <a:endParaRPr kumimoji="0" lang="zh-TW" altLang="zh-TW" sz="1200" u="sng" strike="noStrike" kern="1200" cap="none" spc="0" normalizeH="0" noProof="0" dirty="0">
              <a:ln>
                <a:noFill/>
              </a:ln>
              <a:solidFill>
                <a:schemeClr val="bg1">
                  <a:lumMod val="50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10" name="文字方塊 309">
            <a:extLst>
              <a:ext uri="{FF2B5EF4-FFF2-40B4-BE49-F238E27FC236}">
                <a16:creationId xmlns:a16="http://schemas.microsoft.com/office/drawing/2014/main" id="{86FD164C-4839-ECC6-D3B2-828B5EC3E5DA}"/>
              </a:ext>
            </a:extLst>
          </p:cNvPr>
          <p:cNvSpPr txBox="1"/>
          <p:nvPr/>
        </p:nvSpPr>
        <p:spPr>
          <a:xfrm>
            <a:off x="5133650" y="1756904"/>
            <a:ext cx="794968" cy="37791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 of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Answer</a:t>
            </a:r>
          </a:p>
        </p:txBody>
      </p:sp>
      <p:cxnSp>
        <p:nvCxnSpPr>
          <p:cNvPr id="311" name="接點: 肘形 310">
            <a:extLst>
              <a:ext uri="{FF2B5EF4-FFF2-40B4-BE49-F238E27FC236}">
                <a16:creationId xmlns:a16="http://schemas.microsoft.com/office/drawing/2014/main" id="{ED60DC25-DDD7-2411-38C4-366D7CBDFF4B}"/>
              </a:ext>
            </a:extLst>
          </p:cNvPr>
          <p:cNvCxnSpPr>
            <a:cxnSpLocks/>
            <a:stCxn id="310" idx="3"/>
            <a:endCxn id="314" idx="3"/>
          </p:cNvCxnSpPr>
          <p:nvPr/>
        </p:nvCxnSpPr>
        <p:spPr>
          <a:xfrm>
            <a:off x="5928618" y="1945862"/>
            <a:ext cx="155550" cy="719434"/>
          </a:xfrm>
          <a:prstGeom prst="bentConnector3">
            <a:avLst>
              <a:gd name="adj1" fmla="val 246962"/>
            </a:avLst>
          </a:prstGeom>
          <a:ln w="19050">
            <a:solidFill>
              <a:schemeClr val="accent2"/>
            </a:solidFill>
            <a:prstDash val="solid"/>
            <a:headEnd type="non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2" name="文字方塊 311">
            <a:extLst>
              <a:ext uri="{FF2B5EF4-FFF2-40B4-BE49-F238E27FC236}">
                <a16:creationId xmlns:a16="http://schemas.microsoft.com/office/drawing/2014/main" id="{A8B9269E-7FBF-3E42-97B2-335290142724}"/>
              </a:ext>
            </a:extLst>
          </p:cNvPr>
          <p:cNvSpPr txBox="1"/>
          <p:nvPr/>
        </p:nvSpPr>
        <p:spPr>
          <a:xfrm>
            <a:off x="5851956" y="2234552"/>
            <a:ext cx="189751" cy="37085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Adapter</a:t>
            </a:r>
          </a:p>
        </p:txBody>
      </p:sp>
      <p:sp>
        <p:nvSpPr>
          <p:cNvPr id="313" name="文字方塊 312">
            <a:extLst>
              <a:ext uri="{FF2B5EF4-FFF2-40B4-BE49-F238E27FC236}">
                <a16:creationId xmlns:a16="http://schemas.microsoft.com/office/drawing/2014/main" id="{1085CC75-5575-6210-66EA-84D9B0F6D001}"/>
              </a:ext>
            </a:extLst>
          </p:cNvPr>
          <p:cNvSpPr txBox="1"/>
          <p:nvPr/>
        </p:nvSpPr>
        <p:spPr>
          <a:xfrm>
            <a:off x="5851956" y="2705994"/>
            <a:ext cx="198767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Adapter</a:t>
            </a:r>
          </a:p>
        </p:txBody>
      </p:sp>
      <p:sp>
        <p:nvSpPr>
          <p:cNvPr id="314" name="矩形: 圓角 313">
            <a:extLst>
              <a:ext uri="{FF2B5EF4-FFF2-40B4-BE49-F238E27FC236}">
                <a16:creationId xmlns:a16="http://schemas.microsoft.com/office/drawing/2014/main" id="{802CC4AE-7A3A-BB48-2FEE-0B3EF73F2D66}"/>
              </a:ext>
            </a:extLst>
          </p:cNvPr>
          <p:cNvSpPr/>
          <p:nvPr/>
        </p:nvSpPr>
        <p:spPr>
          <a:xfrm>
            <a:off x="5790821" y="2134820"/>
            <a:ext cx="293347" cy="1060951"/>
          </a:xfrm>
          <a:prstGeom prst="roundRect">
            <a:avLst>
              <a:gd name="adj" fmla="val 1682"/>
            </a:avLst>
          </a:prstGeom>
          <a:solidFill>
            <a:schemeClr val="accent2">
              <a:lumMod val="50000"/>
              <a:alpha val="60000"/>
            </a:schemeClr>
          </a:solidFill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35" name="矩形: 圓角 134">
            <a:extLst>
              <a:ext uri="{FF2B5EF4-FFF2-40B4-BE49-F238E27FC236}">
                <a16:creationId xmlns:a16="http://schemas.microsoft.com/office/drawing/2014/main" id="{2B7827D6-EC5A-7D11-B6E2-F17E4B871D68}"/>
              </a:ext>
            </a:extLst>
          </p:cNvPr>
          <p:cNvSpPr/>
          <p:nvPr/>
        </p:nvSpPr>
        <p:spPr>
          <a:xfrm>
            <a:off x="2277989" y="2056764"/>
            <a:ext cx="1157348" cy="1139007"/>
          </a:xfrm>
          <a:prstGeom prst="roundRect">
            <a:avLst>
              <a:gd name="adj" fmla="val 4292"/>
            </a:avLst>
          </a:prstGeom>
          <a:solidFill>
            <a:schemeClr val="accent2">
              <a:lumMod val="50000"/>
              <a:alpha val="60000"/>
            </a:schemeClr>
          </a:solidFill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15" name="矩形: 圓角 314">
            <a:extLst>
              <a:ext uri="{FF2B5EF4-FFF2-40B4-BE49-F238E27FC236}">
                <a16:creationId xmlns:a16="http://schemas.microsoft.com/office/drawing/2014/main" id="{AB38B9BB-4AC4-B112-A435-4F9A60610A38}"/>
              </a:ext>
            </a:extLst>
          </p:cNvPr>
          <p:cNvSpPr/>
          <p:nvPr/>
        </p:nvSpPr>
        <p:spPr>
          <a:xfrm>
            <a:off x="6585344" y="2170828"/>
            <a:ext cx="79496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solidFill>
                <a:schemeClr val="tx2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16" name="文字方塊 315">
            <a:extLst>
              <a:ext uri="{FF2B5EF4-FFF2-40B4-BE49-F238E27FC236}">
                <a16:creationId xmlns:a16="http://schemas.microsoft.com/office/drawing/2014/main" id="{ECA351F7-1427-FEFB-C8AA-E5FBD7A4090F}"/>
              </a:ext>
            </a:extLst>
          </p:cNvPr>
          <p:cNvSpPr txBox="1"/>
          <p:nvPr/>
        </p:nvSpPr>
        <p:spPr>
          <a:xfrm>
            <a:off x="6662442" y="2234552"/>
            <a:ext cx="416433" cy="433924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317" name="文字方塊 316">
            <a:extLst>
              <a:ext uri="{FF2B5EF4-FFF2-40B4-BE49-F238E27FC236}">
                <a16:creationId xmlns:a16="http://schemas.microsoft.com/office/drawing/2014/main" id="{1CD1F429-5C8E-E739-47FB-816E10B6C5DC}"/>
              </a:ext>
            </a:extLst>
          </p:cNvPr>
          <p:cNvSpPr txBox="1"/>
          <p:nvPr/>
        </p:nvSpPr>
        <p:spPr>
          <a:xfrm>
            <a:off x="6662442" y="2705994"/>
            <a:ext cx="416433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318" name="直線單箭頭接點 317">
            <a:extLst>
              <a:ext uri="{FF2B5EF4-FFF2-40B4-BE49-F238E27FC236}">
                <a16:creationId xmlns:a16="http://schemas.microsoft.com/office/drawing/2014/main" id="{04C496F6-ABD8-EFF6-C621-DDF60E6942DF}"/>
              </a:ext>
            </a:extLst>
          </p:cNvPr>
          <p:cNvCxnSpPr>
            <a:cxnSpLocks/>
            <a:stCxn id="316" idx="0"/>
            <a:endCxn id="322" idx="2"/>
          </p:cNvCxnSpPr>
          <p:nvPr/>
        </p:nvCxnSpPr>
        <p:spPr>
          <a:xfrm flipH="1" flipV="1">
            <a:off x="6870658" y="2134820"/>
            <a:ext cx="1" cy="99732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9" name="直線單箭頭接點 318">
            <a:extLst>
              <a:ext uri="{FF2B5EF4-FFF2-40B4-BE49-F238E27FC236}">
                <a16:creationId xmlns:a16="http://schemas.microsoft.com/office/drawing/2014/main" id="{EA38E3ED-AE34-7105-5ED2-00698176F1A4}"/>
              </a:ext>
            </a:extLst>
          </p:cNvPr>
          <p:cNvCxnSpPr>
            <a:cxnSpLocks/>
            <a:stCxn id="321" idx="0"/>
            <a:endCxn id="317" idx="2"/>
          </p:cNvCxnSpPr>
          <p:nvPr/>
        </p:nvCxnSpPr>
        <p:spPr>
          <a:xfrm flipV="1">
            <a:off x="6870658" y="3076852"/>
            <a:ext cx="1" cy="138088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1" name="文字方塊 320">
            <a:extLst>
              <a:ext uri="{FF2B5EF4-FFF2-40B4-BE49-F238E27FC236}">
                <a16:creationId xmlns:a16="http://schemas.microsoft.com/office/drawing/2014/main" id="{9CA200CA-E02A-A925-2198-43CACB2AC030}"/>
              </a:ext>
            </a:extLst>
          </p:cNvPr>
          <p:cNvSpPr txBox="1"/>
          <p:nvPr/>
        </p:nvSpPr>
        <p:spPr>
          <a:xfrm>
            <a:off x="6654634" y="3214940"/>
            <a:ext cx="432048" cy="352634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000" b="1" u="sng" dirty="0">
                <a:solidFill>
                  <a:srgbClr val="000000"/>
                </a:solidFill>
                <a:latin typeface="Consolas" panose="020B0609020204030204" pitchFamily="49" charset="0"/>
              </a:rPr>
              <a:t>Q&amp;A</a:t>
            </a:r>
            <a:endParaRPr lang="en-US" altLang="zh-TW" sz="1000" u="sng" strike="noStrike" kern="1200" spc="0" dirty="0">
              <a:ln>
                <a:noFill/>
              </a:ln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lang="en-US" altLang="zh-TW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Consolas" panose="020B0609020204030204" pitchFamily="49" charset="0"/>
                <a:ea typeface="新細明體" panose="02020500000000000000" pitchFamily="18" charset="-120"/>
              </a:rPr>
              <a:t>(MCQ)</a:t>
            </a:r>
            <a:endParaRPr kumimoji="0" lang="zh-TW" altLang="zh-TW" sz="1000" strike="noStrike" kern="1200" cap="none" spc="0" normalizeH="0" noProof="0" dirty="0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22" name="文字方塊 321">
            <a:extLst>
              <a:ext uri="{FF2B5EF4-FFF2-40B4-BE49-F238E27FC236}">
                <a16:creationId xmlns:a16="http://schemas.microsoft.com/office/drawing/2014/main" id="{1FECA35E-3096-BFA2-1F7E-A7FFCE7DDE3A}"/>
              </a:ext>
            </a:extLst>
          </p:cNvPr>
          <p:cNvSpPr txBox="1"/>
          <p:nvPr/>
        </p:nvSpPr>
        <p:spPr>
          <a:xfrm>
            <a:off x="6473174" y="1756904"/>
            <a:ext cx="794968" cy="37791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 of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Answer</a:t>
            </a:r>
          </a:p>
        </p:txBody>
      </p:sp>
      <p:sp>
        <p:nvSpPr>
          <p:cNvPr id="324" name="文字方塊 323">
            <a:extLst>
              <a:ext uri="{FF2B5EF4-FFF2-40B4-BE49-F238E27FC236}">
                <a16:creationId xmlns:a16="http://schemas.microsoft.com/office/drawing/2014/main" id="{988D470B-5B31-AF94-45D7-CB5C8933B818}"/>
              </a:ext>
            </a:extLst>
          </p:cNvPr>
          <p:cNvSpPr txBox="1"/>
          <p:nvPr/>
        </p:nvSpPr>
        <p:spPr>
          <a:xfrm>
            <a:off x="7112482" y="2234552"/>
            <a:ext cx="190225" cy="433924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tx2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25" name="文字方塊 324">
            <a:extLst>
              <a:ext uri="{FF2B5EF4-FFF2-40B4-BE49-F238E27FC236}">
                <a16:creationId xmlns:a16="http://schemas.microsoft.com/office/drawing/2014/main" id="{71813641-9200-346F-AD71-EED07E9F1993}"/>
              </a:ext>
            </a:extLst>
          </p:cNvPr>
          <p:cNvSpPr txBox="1"/>
          <p:nvPr/>
        </p:nvSpPr>
        <p:spPr>
          <a:xfrm>
            <a:off x="7112482" y="2705994"/>
            <a:ext cx="190225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32" name="流程圖: 合併 331">
            <a:extLst>
              <a:ext uri="{FF2B5EF4-FFF2-40B4-BE49-F238E27FC236}">
                <a16:creationId xmlns:a16="http://schemas.microsoft.com/office/drawing/2014/main" id="{C04A9F6E-8A3F-0D84-60DF-6A02C063D7AB}"/>
              </a:ext>
            </a:extLst>
          </p:cNvPr>
          <p:cNvSpPr/>
          <p:nvPr/>
        </p:nvSpPr>
        <p:spPr>
          <a:xfrm>
            <a:off x="4932040" y="1303606"/>
            <a:ext cx="189225" cy="942348"/>
          </a:xfrm>
          <a:prstGeom prst="flowChartMerge">
            <a:avLst/>
          </a:prstGeom>
          <a:solidFill>
            <a:srgbClr val="FFC000"/>
          </a:solidFill>
          <a:ln w="254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91440" rIns="0" bIns="0" rtlCol="0" anchor="t" anchorCtr="1"/>
          <a:lstStyle/>
          <a:p>
            <a:pPr algn="r"/>
            <a:r>
              <a:rPr lang="en-US" altLang="zh-TW" sz="1200" b="1" dirty="0">
                <a:solidFill>
                  <a:srgbClr val="FF0000"/>
                </a:solidFill>
              </a:rPr>
              <a:t>VRAM</a:t>
            </a:r>
            <a:endParaRPr lang="zh-TW" altLang="en-US" sz="1200" b="1" dirty="0">
              <a:solidFill>
                <a:srgbClr val="FF0000"/>
              </a:solidFill>
            </a:endParaRPr>
          </a:p>
        </p:txBody>
      </p:sp>
      <p:sp>
        <p:nvSpPr>
          <p:cNvPr id="368" name="矩形: 圓角 367">
            <a:extLst>
              <a:ext uri="{FF2B5EF4-FFF2-40B4-BE49-F238E27FC236}">
                <a16:creationId xmlns:a16="http://schemas.microsoft.com/office/drawing/2014/main" id="{278B883E-9F6A-A28A-B853-98CA5AE0DE0D}"/>
              </a:ext>
            </a:extLst>
          </p:cNvPr>
          <p:cNvSpPr/>
          <p:nvPr/>
        </p:nvSpPr>
        <p:spPr>
          <a:xfrm>
            <a:off x="7737472" y="2170744"/>
            <a:ext cx="79496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solidFill>
                <a:schemeClr val="tx2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69" name="文字方塊 368">
            <a:extLst>
              <a:ext uri="{FF2B5EF4-FFF2-40B4-BE49-F238E27FC236}">
                <a16:creationId xmlns:a16="http://schemas.microsoft.com/office/drawing/2014/main" id="{1728371D-45C5-71FE-1F03-2EDCD1376F78}"/>
              </a:ext>
            </a:extLst>
          </p:cNvPr>
          <p:cNvSpPr txBox="1"/>
          <p:nvPr/>
        </p:nvSpPr>
        <p:spPr>
          <a:xfrm>
            <a:off x="7814570" y="2234468"/>
            <a:ext cx="416433" cy="433924"/>
          </a:xfrm>
          <a:prstGeom prst="rect">
            <a:avLst/>
          </a:prstGeom>
          <a:solidFill>
            <a:srgbClr val="B7C9E7">
              <a:alpha val="1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370" name="文字方塊 369">
            <a:extLst>
              <a:ext uri="{FF2B5EF4-FFF2-40B4-BE49-F238E27FC236}">
                <a16:creationId xmlns:a16="http://schemas.microsoft.com/office/drawing/2014/main" id="{E9CF4E00-6200-A5E8-4AE1-660018F85101}"/>
              </a:ext>
            </a:extLst>
          </p:cNvPr>
          <p:cNvSpPr txBox="1"/>
          <p:nvPr/>
        </p:nvSpPr>
        <p:spPr>
          <a:xfrm>
            <a:off x="7814570" y="2705910"/>
            <a:ext cx="416433" cy="370858"/>
          </a:xfrm>
          <a:prstGeom prst="rect">
            <a:avLst/>
          </a:prstGeom>
          <a:solidFill>
            <a:srgbClr val="FEC203">
              <a:alpha val="1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371" name="直線單箭頭接點 370">
            <a:extLst>
              <a:ext uri="{FF2B5EF4-FFF2-40B4-BE49-F238E27FC236}">
                <a16:creationId xmlns:a16="http://schemas.microsoft.com/office/drawing/2014/main" id="{90F8056D-85C2-E8CB-6386-B2EADCC38127}"/>
              </a:ext>
            </a:extLst>
          </p:cNvPr>
          <p:cNvCxnSpPr>
            <a:cxnSpLocks/>
            <a:stCxn id="369" idx="0"/>
          </p:cNvCxnSpPr>
          <p:nvPr/>
        </p:nvCxnSpPr>
        <p:spPr>
          <a:xfrm flipH="1" flipV="1">
            <a:off x="8022786" y="2134736"/>
            <a:ext cx="1" cy="99732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2" name="直線單箭頭接點 371">
            <a:extLst>
              <a:ext uri="{FF2B5EF4-FFF2-40B4-BE49-F238E27FC236}">
                <a16:creationId xmlns:a16="http://schemas.microsoft.com/office/drawing/2014/main" id="{65FE4540-4158-04B3-E5DA-5E74A5863289}"/>
              </a:ext>
            </a:extLst>
          </p:cNvPr>
          <p:cNvCxnSpPr>
            <a:cxnSpLocks/>
            <a:stCxn id="373" idx="0"/>
            <a:endCxn id="370" idx="2"/>
          </p:cNvCxnSpPr>
          <p:nvPr/>
        </p:nvCxnSpPr>
        <p:spPr>
          <a:xfrm flipV="1">
            <a:off x="8022786" y="3076768"/>
            <a:ext cx="1" cy="138172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3" name="文字方塊 372">
            <a:extLst>
              <a:ext uri="{FF2B5EF4-FFF2-40B4-BE49-F238E27FC236}">
                <a16:creationId xmlns:a16="http://schemas.microsoft.com/office/drawing/2014/main" id="{6FE43CFD-FA01-02F3-77F5-A953F48DE1FE}"/>
              </a:ext>
            </a:extLst>
          </p:cNvPr>
          <p:cNvSpPr txBox="1"/>
          <p:nvPr/>
        </p:nvSpPr>
        <p:spPr>
          <a:xfrm>
            <a:off x="7806762" y="3214940"/>
            <a:ext cx="432048" cy="352634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000" b="1" u="sng" dirty="0">
                <a:solidFill>
                  <a:srgbClr val="000000"/>
                </a:solidFill>
                <a:latin typeface="Consolas" panose="020B0609020204030204" pitchFamily="49" charset="0"/>
              </a:rPr>
              <a:t>Q&amp;A</a:t>
            </a:r>
            <a:endParaRPr lang="en-US" altLang="zh-TW" sz="1000" u="sng" strike="noStrike" kern="1200" spc="0" dirty="0">
              <a:ln>
                <a:noFill/>
              </a:ln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lang="en-US" altLang="zh-TW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Consolas" panose="020B0609020204030204" pitchFamily="49" charset="0"/>
                <a:ea typeface="新細明體" panose="02020500000000000000" pitchFamily="18" charset="-120"/>
              </a:rPr>
              <a:t>(MCQ)</a:t>
            </a:r>
            <a:endParaRPr kumimoji="0" lang="zh-TW" altLang="zh-TW" sz="1000" strike="noStrike" kern="1200" cap="none" spc="0" normalizeH="0" noProof="0" dirty="0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74" name="文字方塊 373">
            <a:extLst>
              <a:ext uri="{FF2B5EF4-FFF2-40B4-BE49-F238E27FC236}">
                <a16:creationId xmlns:a16="http://schemas.microsoft.com/office/drawing/2014/main" id="{1C8A42CB-D046-0296-42A8-42A3D7B76D47}"/>
              </a:ext>
            </a:extLst>
          </p:cNvPr>
          <p:cNvSpPr txBox="1"/>
          <p:nvPr/>
        </p:nvSpPr>
        <p:spPr>
          <a:xfrm>
            <a:off x="7625302" y="1774780"/>
            <a:ext cx="794968" cy="37791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 of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Answer</a:t>
            </a:r>
          </a:p>
        </p:txBody>
      </p:sp>
      <p:sp>
        <p:nvSpPr>
          <p:cNvPr id="376" name="文字方塊 375">
            <a:extLst>
              <a:ext uri="{FF2B5EF4-FFF2-40B4-BE49-F238E27FC236}">
                <a16:creationId xmlns:a16="http://schemas.microsoft.com/office/drawing/2014/main" id="{BC219423-8993-03DA-30F1-AFCD25DA716A}"/>
              </a:ext>
            </a:extLst>
          </p:cNvPr>
          <p:cNvSpPr txBox="1"/>
          <p:nvPr/>
        </p:nvSpPr>
        <p:spPr>
          <a:xfrm>
            <a:off x="8264610" y="2234468"/>
            <a:ext cx="190225" cy="433924"/>
          </a:xfrm>
          <a:prstGeom prst="rect">
            <a:avLst/>
          </a:prstGeom>
          <a:solidFill>
            <a:srgbClr val="B7C9E7">
              <a:alpha val="3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tx2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77" name="文字方塊 376">
            <a:extLst>
              <a:ext uri="{FF2B5EF4-FFF2-40B4-BE49-F238E27FC236}">
                <a16:creationId xmlns:a16="http://schemas.microsoft.com/office/drawing/2014/main" id="{A57E7F44-94F8-2AC6-C74C-6FA17FD3EDD8}"/>
              </a:ext>
            </a:extLst>
          </p:cNvPr>
          <p:cNvSpPr txBox="1"/>
          <p:nvPr/>
        </p:nvSpPr>
        <p:spPr>
          <a:xfrm>
            <a:off x="8264610" y="2705910"/>
            <a:ext cx="190225" cy="370858"/>
          </a:xfrm>
          <a:prstGeom prst="rect">
            <a:avLst/>
          </a:prstGeom>
          <a:solidFill>
            <a:srgbClr val="FEC203">
              <a:alpha val="3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79" name="矩形: 圓角 378">
            <a:extLst>
              <a:ext uri="{FF2B5EF4-FFF2-40B4-BE49-F238E27FC236}">
                <a16:creationId xmlns:a16="http://schemas.microsoft.com/office/drawing/2014/main" id="{B8DFDE55-4F92-32C8-8BE9-BB08A270C399}"/>
              </a:ext>
            </a:extLst>
          </p:cNvPr>
          <p:cNvSpPr/>
          <p:nvPr/>
        </p:nvSpPr>
        <p:spPr>
          <a:xfrm>
            <a:off x="340948" y="1607424"/>
            <a:ext cx="1394497" cy="1918598"/>
          </a:xfrm>
          <a:prstGeom prst="roundRect">
            <a:avLst>
              <a:gd name="adj" fmla="val 4292"/>
            </a:avLst>
          </a:prstGeom>
          <a:solidFill>
            <a:schemeClr val="accent2">
              <a:lumMod val="50000"/>
              <a:alpha val="60000"/>
            </a:schemeClr>
          </a:solidFill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 anchorCtr="1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" name="標題 1">
            <a:extLst>
              <a:ext uri="{FF2B5EF4-FFF2-40B4-BE49-F238E27FC236}">
                <a16:creationId xmlns:a16="http://schemas.microsoft.com/office/drawing/2014/main" id="{13CF70F3-662A-79C3-8AC5-B09E43682D38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Supervised Fine-Tuning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Shifts output from raw completion to following human intent and formats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.</a:t>
            </a: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684B1396-ACFF-7810-6884-BD9293CF749F}"/>
              </a:ext>
            </a:extLst>
          </p:cNvPr>
          <p:cNvSpPr txBox="1"/>
          <p:nvPr/>
        </p:nvSpPr>
        <p:spPr>
          <a:xfrm>
            <a:off x="603736" y="1756903"/>
            <a:ext cx="872480" cy="1438867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Optimizer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SGD,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Adam,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6">
                    <a:lumMod val="75000"/>
                  </a:schemeClr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*</a:t>
            </a:r>
            <a:r>
              <a:rPr lang="en-US" altLang="zh-TW" sz="1000" dirty="0" err="1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AdamW</a:t>
            </a: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,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Paged </a:t>
            </a:r>
            <a:r>
              <a:rPr lang="en-US" altLang="zh-TW" sz="1000" dirty="0" err="1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AdamW</a:t>
            </a:r>
            <a:endParaRPr lang="en-US" altLang="zh-TW" sz="1000" dirty="0">
              <a:effectLst>
                <a:glow rad="127000">
                  <a:srgbClr val="FFFF00"/>
                </a:glow>
              </a:effectLst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 …</a:t>
            </a:r>
            <a:endParaRPr lang="en-US" altLang="zh-TW" sz="1000" u="none" strike="noStrike" dirty="0">
              <a:effectLst>
                <a:glow rad="127000">
                  <a:srgbClr val="FFFF00"/>
                </a:glow>
              </a:effectLst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20" name="標題 1">
            <a:extLst>
              <a:ext uri="{FF2B5EF4-FFF2-40B4-BE49-F238E27FC236}">
                <a16:creationId xmlns:a16="http://schemas.microsoft.com/office/drawing/2014/main" id="{1A01C226-30E3-018E-C8CC-4202EA4D94F7}"/>
              </a:ext>
            </a:extLst>
          </p:cNvPr>
          <p:cNvSpPr txBox="1">
            <a:spLocks/>
          </p:cNvSpPr>
          <p:nvPr/>
        </p:nvSpPr>
        <p:spPr>
          <a:xfrm>
            <a:off x="5334541" y="3789040"/>
            <a:ext cx="389587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PEFT</a:t>
            </a:r>
          </a:p>
        </p:txBody>
      </p:sp>
      <p:sp>
        <p:nvSpPr>
          <p:cNvPr id="22" name="標題 1">
            <a:extLst>
              <a:ext uri="{FF2B5EF4-FFF2-40B4-BE49-F238E27FC236}">
                <a16:creationId xmlns:a16="http://schemas.microsoft.com/office/drawing/2014/main" id="{9C4CA2D4-51D6-F7AB-131D-BD5F323A0571}"/>
              </a:ext>
            </a:extLst>
          </p:cNvPr>
          <p:cNvSpPr txBox="1">
            <a:spLocks/>
          </p:cNvSpPr>
          <p:nvPr/>
        </p:nvSpPr>
        <p:spPr>
          <a:xfrm>
            <a:off x="2616403" y="3793722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Distillation</a:t>
            </a:r>
          </a:p>
        </p:txBody>
      </p:sp>
      <p:sp>
        <p:nvSpPr>
          <p:cNvPr id="24" name="流程圖: 合併 23">
            <a:extLst>
              <a:ext uri="{FF2B5EF4-FFF2-40B4-BE49-F238E27FC236}">
                <a16:creationId xmlns:a16="http://schemas.microsoft.com/office/drawing/2014/main" id="{B6D84648-9566-293F-B46D-98BCB889FD4D}"/>
              </a:ext>
            </a:extLst>
          </p:cNvPr>
          <p:cNvSpPr/>
          <p:nvPr/>
        </p:nvSpPr>
        <p:spPr>
          <a:xfrm>
            <a:off x="1979712" y="1317518"/>
            <a:ext cx="189225" cy="942348"/>
          </a:xfrm>
          <a:prstGeom prst="flowChartMerge">
            <a:avLst/>
          </a:prstGeom>
          <a:solidFill>
            <a:srgbClr val="FFC000"/>
          </a:solidFill>
          <a:ln w="254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91440" rIns="0" bIns="0" rtlCol="0" anchor="t" anchorCtr="1"/>
          <a:lstStyle/>
          <a:p>
            <a:pPr algn="r"/>
            <a:r>
              <a:rPr lang="en-US" altLang="zh-TW" sz="1200" b="1" dirty="0">
                <a:solidFill>
                  <a:srgbClr val="FF0000"/>
                </a:solidFill>
              </a:rPr>
              <a:t>99%</a:t>
            </a:r>
            <a:endParaRPr lang="zh-TW" altLang="en-US" sz="1200" b="1" dirty="0">
              <a:solidFill>
                <a:srgbClr val="FF0000"/>
              </a:solidFill>
            </a:endParaRPr>
          </a:p>
        </p:txBody>
      </p:sp>
      <p:sp>
        <p:nvSpPr>
          <p:cNvPr id="55" name="標題 1">
            <a:extLst>
              <a:ext uri="{FF2B5EF4-FFF2-40B4-BE49-F238E27FC236}">
                <a16:creationId xmlns:a16="http://schemas.microsoft.com/office/drawing/2014/main" id="{A485BE6F-329C-9384-5DFC-A9C360AA78B5}"/>
              </a:ext>
            </a:extLst>
          </p:cNvPr>
          <p:cNvSpPr txBox="1">
            <a:spLocks/>
          </p:cNvSpPr>
          <p:nvPr/>
        </p:nvSpPr>
        <p:spPr>
          <a:xfrm>
            <a:off x="7747937" y="3717032"/>
            <a:ext cx="640487" cy="200481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algn="ctr">
              <a:lnSpc>
                <a:spcPts val="1400"/>
              </a:lnSpc>
              <a:spcBef>
                <a:spcPts val="0"/>
              </a:spcBef>
              <a:defRPr/>
            </a:pPr>
            <a:r>
              <a:rPr lang="en-US" altLang="zh-TW" sz="1200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PTQ</a:t>
            </a:r>
            <a:br>
              <a:rPr lang="en-US" altLang="zh-TW" sz="1000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</a:br>
            <a:r>
              <a:rPr lang="en-US" altLang="zh-TW" sz="1000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(</a:t>
            </a:r>
            <a:r>
              <a:rPr kumimoji="0" lang="en-US" altLang="zh-TW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新細明體" panose="02020500000000000000" pitchFamily="18" charset="-120"/>
                <a:cs typeface="+mn-cs"/>
              </a:rPr>
              <a:t>Precision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Calibri" panose="020F0502020204030204" pitchFamily="34" charset="0"/>
              </a:rPr>
              <a:t> ↓</a:t>
            </a:r>
            <a:r>
              <a:rPr kumimoji="0" lang="en-US" altLang="zh-TW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新細明體" panose="02020500000000000000" pitchFamily="18" charset="-120"/>
                <a:cs typeface="+mn-cs"/>
              </a:rPr>
              <a:t>)</a:t>
            </a:r>
          </a:p>
        </p:txBody>
      </p:sp>
      <p:sp>
        <p:nvSpPr>
          <p:cNvPr id="58" name="標題 1">
            <a:extLst>
              <a:ext uri="{FF2B5EF4-FFF2-40B4-BE49-F238E27FC236}">
                <a16:creationId xmlns:a16="http://schemas.microsoft.com/office/drawing/2014/main" id="{2E64644B-E722-5EEA-225D-1B538ADCA096}"/>
              </a:ext>
            </a:extLst>
          </p:cNvPr>
          <p:cNvSpPr txBox="1">
            <a:spLocks/>
          </p:cNvSpPr>
          <p:nvPr/>
        </p:nvSpPr>
        <p:spPr>
          <a:xfrm>
            <a:off x="6595809" y="3717032"/>
            <a:ext cx="640487" cy="200481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PRUNING</a:t>
            </a:r>
          </a:p>
          <a:p>
            <a:pPr lvl="0" algn="ctr">
              <a:lnSpc>
                <a:spcPts val="1400"/>
              </a:lnSpc>
              <a:spcBef>
                <a:spcPts val="0"/>
              </a:spcBef>
              <a:defRPr/>
            </a:pPr>
            <a:r>
              <a:rPr kumimoji="0" lang="en-US" altLang="zh-TW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新細明體" panose="02020500000000000000" pitchFamily="18" charset="-120"/>
                <a:cs typeface="+mn-cs"/>
              </a:rPr>
              <a:t>(Dimension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Calibri" panose="020F0502020204030204" pitchFamily="34" charset="0"/>
              </a:rPr>
              <a:t> ↓</a:t>
            </a:r>
            <a:r>
              <a:rPr kumimoji="0" lang="en-US" altLang="zh-TW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新細明體" panose="02020500000000000000" pitchFamily="18" charset="-120"/>
                <a:cs typeface="+mn-cs"/>
              </a:rPr>
              <a:t>)</a:t>
            </a:r>
          </a:p>
        </p:txBody>
      </p:sp>
      <p:graphicFrame>
        <p:nvGraphicFramePr>
          <p:cNvPr id="60" name="表格 59">
            <a:extLst>
              <a:ext uri="{FF2B5EF4-FFF2-40B4-BE49-F238E27FC236}">
                <a16:creationId xmlns:a16="http://schemas.microsoft.com/office/drawing/2014/main" id="{CE7A4260-687D-3055-15F3-960ABFFF22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1009995"/>
              </p:ext>
            </p:extLst>
          </p:nvPr>
        </p:nvGraphicFramePr>
        <p:xfrm>
          <a:off x="4303824" y="5230984"/>
          <a:ext cx="2061433" cy="120262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1433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94633">
                <a:tc>
                  <a:txBody>
                    <a:bodyPr/>
                    <a:lstStyle/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QAT</a:t>
                      </a:r>
                    </a:p>
                    <a:p>
                      <a:pPr algn="l"/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Quantization-Aware</a:t>
                      </a:r>
                      <a:r>
                        <a:rPr kumimoji="0" lang="zh-TW" altLang="en-US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Training</a:t>
                      </a:r>
                      <a:endParaRPr lang="en-US" altLang="zh-TW" sz="1000" b="0" cap="none" spc="0" dirty="0">
                        <a:ln w="0"/>
                        <a:solidFill>
                          <a:schemeClr val="tx2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7252825"/>
                  </a:ext>
                </a:extLst>
              </a:tr>
              <a:tr h="201999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FP16/32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Noto Sans HK" panose="020B0200000000000000" pitchFamily="34" charset="-120"/>
                          <a:ea typeface="Noto Sans HK" panose="020B0200000000000000" pitchFamily="34" charset="-120"/>
                          <a:sym typeface="Wingdings" panose="05000000000000000000" pitchFamily="2" charset="2"/>
                        </a:rPr>
                        <a:t> </a:t>
                      </a:r>
                      <a:r>
                        <a:rPr lang="zh-TW" altLang="zh-TW" sz="1200" dirty="0"/>
                        <a:t>➔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Noto Sans HK" panose="020B0200000000000000" pitchFamily="34" charset="-120"/>
                          <a:ea typeface="Noto Sans HK" panose="020B0200000000000000" pitchFamily="34" charset="-120"/>
                          <a:sym typeface="Wingdings" panose="05000000000000000000" pitchFamily="2" charset="2"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INT4/INT8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0199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FP: Quantization Nose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0199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BP: Straight-Through Estimator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9197690"/>
                  </a:ext>
                </a:extLst>
              </a:tr>
              <a:tr h="20199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6899233"/>
                  </a:ext>
                </a:extLst>
              </a:tr>
            </a:tbl>
          </a:graphicData>
        </a:graphic>
      </p:graphicFrame>
      <p:graphicFrame>
        <p:nvGraphicFramePr>
          <p:cNvPr id="62" name="表格 61">
            <a:extLst>
              <a:ext uri="{FF2B5EF4-FFF2-40B4-BE49-F238E27FC236}">
                <a16:creationId xmlns:a16="http://schemas.microsoft.com/office/drawing/2014/main" id="{9A8E5CA9-B8F4-994E-2BC7-96B0DEC46F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0763495"/>
              </p:ext>
            </p:extLst>
          </p:nvPr>
        </p:nvGraphicFramePr>
        <p:xfrm>
          <a:off x="6228185" y="4221088"/>
          <a:ext cx="1794602" cy="6456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460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43204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PTQ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algn="l"/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Post-Training Quantization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7252825"/>
                  </a:ext>
                </a:extLst>
              </a:tr>
              <a:tr h="213637">
                <a:tc>
                  <a:txBody>
                    <a:bodyPr/>
                    <a:lstStyle/>
                    <a:p>
                      <a:pPr algn="l"/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AWQ, GPTQ, GGUF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</a:tbl>
          </a:graphicData>
        </a:graphic>
      </p:graphicFrame>
      <p:graphicFrame>
        <p:nvGraphicFramePr>
          <p:cNvPr id="68" name="表格 67">
            <a:extLst>
              <a:ext uri="{FF2B5EF4-FFF2-40B4-BE49-F238E27FC236}">
                <a16:creationId xmlns:a16="http://schemas.microsoft.com/office/drawing/2014/main" id="{589C8638-EB55-C0E8-1CE8-0F9A8805BC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6554223"/>
              </p:ext>
            </p:extLst>
          </p:nvPr>
        </p:nvGraphicFramePr>
        <p:xfrm>
          <a:off x="6602133" y="5283876"/>
          <a:ext cx="1794602" cy="5213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460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37369">
                <a:tc>
                  <a:txBody>
                    <a:bodyPr/>
                    <a:lstStyle/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QAD</a:t>
                      </a:r>
                    </a:p>
                    <a:p>
                      <a:pPr algn="l"/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Quantization-Aware</a:t>
                      </a:r>
                      <a:r>
                        <a:rPr kumimoji="0" lang="zh-TW" altLang="en-US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Distillation</a:t>
                      </a:r>
                      <a:endParaRPr lang="en-US" altLang="zh-TW" sz="1000" b="0" cap="none" spc="0" dirty="0">
                        <a:ln w="0"/>
                        <a:solidFill>
                          <a:schemeClr val="tx2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7252825"/>
                  </a:ext>
                </a:extLst>
              </a:tr>
              <a:tr h="184019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Fake Quantization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764406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BDDD2C-50AB-5904-75A0-BC05B1D65C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4F6203B7-0088-4F6C-0087-F04A78125CFC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Quantization-Aware Distillation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LoRA freezes the base model, squeezing updates through a narrow parameter bottleneck (r). 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450F5F82-EACE-E75E-D74A-047E1933201D}"/>
              </a:ext>
            </a:extLst>
          </p:cNvPr>
          <p:cNvSpPr txBox="1"/>
          <p:nvPr/>
        </p:nvSpPr>
        <p:spPr>
          <a:xfrm>
            <a:off x="7299516" y="3026390"/>
            <a:ext cx="872480" cy="330602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0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Token</a:t>
            </a:r>
          </a:p>
          <a:p>
            <a:pPr algn="ctr">
              <a:lnSpc>
                <a:spcPts val="1200"/>
              </a:lnSpc>
              <a:buNone/>
            </a:pPr>
            <a:r>
              <a:rPr lang="en-US" altLang="zh-TW" sz="10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Embedding</a:t>
            </a:r>
            <a:endParaRPr lang="en-US" altLang="zh-TW" sz="1000" b="1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F51F6370-D566-4225-366F-783F4558FBA2}"/>
              </a:ext>
            </a:extLst>
          </p:cNvPr>
          <p:cNvSpPr txBox="1"/>
          <p:nvPr/>
        </p:nvSpPr>
        <p:spPr>
          <a:xfrm>
            <a:off x="7157851" y="1628054"/>
            <a:ext cx="1152128" cy="445510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3B74934E-7E4E-1496-C1C5-0733B4801BB6}"/>
              </a:ext>
            </a:extLst>
          </p:cNvPr>
          <p:cNvSpPr txBox="1"/>
          <p:nvPr/>
        </p:nvSpPr>
        <p:spPr>
          <a:xfrm>
            <a:off x="7157851" y="2185616"/>
            <a:ext cx="1152128" cy="389743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FB0E4A46-163C-977D-0FC0-85620C0D06C0}"/>
              </a:ext>
            </a:extLst>
          </p:cNvPr>
          <p:cNvSpPr txBox="1"/>
          <p:nvPr/>
        </p:nvSpPr>
        <p:spPr>
          <a:xfrm>
            <a:off x="7157851" y="938158"/>
            <a:ext cx="1152128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Output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Probability</a:t>
            </a:r>
            <a:endParaRPr lang="en-US" altLang="zh-TW" sz="1000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cxnSp>
        <p:nvCxnSpPr>
          <p:cNvPr id="31" name="直線單箭頭接點 30">
            <a:extLst>
              <a:ext uri="{FF2B5EF4-FFF2-40B4-BE49-F238E27FC236}">
                <a16:creationId xmlns:a16="http://schemas.microsoft.com/office/drawing/2014/main" id="{EF66B95E-7632-FAED-127D-CB6C34F34FE7}"/>
              </a:ext>
            </a:extLst>
          </p:cNvPr>
          <p:cNvCxnSpPr>
            <a:cxnSpLocks/>
            <a:stCxn id="8" idx="0"/>
            <a:endCxn id="30" idx="2"/>
          </p:cNvCxnSpPr>
          <p:nvPr/>
        </p:nvCxnSpPr>
        <p:spPr>
          <a:xfrm flipV="1">
            <a:off x="7733915" y="1298198"/>
            <a:ext cx="0" cy="32985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B2FCB28A-47B3-B5AC-FD9B-46D8030E5395}"/>
              </a:ext>
            </a:extLst>
          </p:cNvPr>
          <p:cNvCxnSpPr>
            <a:cxnSpLocks/>
            <a:stCxn id="4" idx="0"/>
            <a:endCxn id="29" idx="2"/>
          </p:cNvCxnSpPr>
          <p:nvPr/>
        </p:nvCxnSpPr>
        <p:spPr>
          <a:xfrm flipH="1" flipV="1">
            <a:off x="7733915" y="2575359"/>
            <a:ext cx="1841" cy="45103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線單箭頭接點 32">
            <a:extLst>
              <a:ext uri="{FF2B5EF4-FFF2-40B4-BE49-F238E27FC236}">
                <a16:creationId xmlns:a16="http://schemas.microsoft.com/office/drawing/2014/main" id="{CC7C2651-EA21-18D5-A6D0-9611585DE9BB}"/>
              </a:ext>
            </a:extLst>
          </p:cNvPr>
          <p:cNvCxnSpPr>
            <a:cxnSpLocks/>
            <a:stCxn id="29" idx="0"/>
            <a:endCxn id="8" idx="2"/>
          </p:cNvCxnSpPr>
          <p:nvPr/>
        </p:nvCxnSpPr>
        <p:spPr>
          <a:xfrm flipV="1">
            <a:off x="7733915" y="2073564"/>
            <a:ext cx="0" cy="112052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接點: 肘形 33">
            <a:extLst>
              <a:ext uri="{FF2B5EF4-FFF2-40B4-BE49-F238E27FC236}">
                <a16:creationId xmlns:a16="http://schemas.microsoft.com/office/drawing/2014/main" id="{A9E7A18F-A593-5DBF-58D9-886FF075724C}"/>
              </a:ext>
            </a:extLst>
          </p:cNvPr>
          <p:cNvCxnSpPr>
            <a:cxnSpLocks/>
            <a:stCxn id="30" idx="3"/>
            <a:endCxn id="4" idx="3"/>
          </p:cNvCxnSpPr>
          <p:nvPr/>
        </p:nvCxnSpPr>
        <p:spPr>
          <a:xfrm flipH="1">
            <a:off x="8171996" y="1118178"/>
            <a:ext cx="137983" cy="2073513"/>
          </a:xfrm>
          <a:prstGeom prst="bentConnector3">
            <a:avLst>
              <a:gd name="adj1" fmla="val -165673"/>
            </a:avLst>
          </a:prstGeom>
          <a:ln w="19050">
            <a:solidFill>
              <a:srgbClr val="9E7800"/>
            </a:solidFill>
            <a:prstDash val="solid"/>
            <a:headEnd type="non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BA486105-65F1-F450-FD8D-1B77AF672DAD}"/>
              </a:ext>
            </a:extLst>
          </p:cNvPr>
          <p:cNvSpPr txBox="1"/>
          <p:nvPr/>
        </p:nvSpPr>
        <p:spPr>
          <a:xfrm>
            <a:off x="6848657" y="2398069"/>
            <a:ext cx="294468" cy="20503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 </a:t>
            </a:r>
            <a:r>
              <a:rPr lang="en-US" altLang="zh-TW" sz="1000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x</a:t>
            </a:r>
            <a:endParaRPr lang="en-US" altLang="zh-TW" sz="1000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36" name="矩形: 圓角 35">
            <a:extLst>
              <a:ext uri="{FF2B5EF4-FFF2-40B4-BE49-F238E27FC236}">
                <a16:creationId xmlns:a16="http://schemas.microsoft.com/office/drawing/2014/main" id="{179D428D-5A69-63DD-174E-5FBD8BB1EB46}"/>
              </a:ext>
            </a:extLst>
          </p:cNvPr>
          <p:cNvSpPr/>
          <p:nvPr/>
        </p:nvSpPr>
        <p:spPr>
          <a:xfrm>
            <a:off x="7013835" y="1478218"/>
            <a:ext cx="1440160" cy="1365361"/>
          </a:xfrm>
          <a:prstGeom prst="roundRect">
            <a:avLst>
              <a:gd name="adj" fmla="val 10053"/>
            </a:avLst>
          </a:prstGeom>
          <a:noFill/>
          <a:ln w="158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8" name="箭號: 向下 37">
            <a:extLst>
              <a:ext uri="{FF2B5EF4-FFF2-40B4-BE49-F238E27FC236}">
                <a16:creationId xmlns:a16="http://schemas.microsoft.com/office/drawing/2014/main" id="{058DF8D1-B5C0-8023-855B-8C95E84BA84D}"/>
              </a:ext>
            </a:extLst>
          </p:cNvPr>
          <p:cNvSpPr/>
          <p:nvPr/>
        </p:nvSpPr>
        <p:spPr>
          <a:xfrm rot="10800000">
            <a:off x="7810771" y="1418255"/>
            <a:ext cx="241331" cy="1365359"/>
          </a:xfrm>
          <a:prstGeom prst="downArrow">
            <a:avLst/>
          </a:prstGeom>
          <a:solidFill>
            <a:schemeClr val="accent2">
              <a:alpha val="70000"/>
            </a:schemeClr>
          </a:solidFill>
          <a:ln w="127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28E302A9-56AE-BB4C-D019-E23C03D9D14A}"/>
              </a:ext>
            </a:extLst>
          </p:cNvPr>
          <p:cNvSpPr txBox="1"/>
          <p:nvPr/>
        </p:nvSpPr>
        <p:spPr>
          <a:xfrm>
            <a:off x="3563888" y="3143405"/>
            <a:ext cx="881420" cy="756316"/>
          </a:xfrm>
          <a:prstGeom prst="rect">
            <a:avLst/>
          </a:prstGeom>
          <a:solidFill>
            <a:schemeClr val="accent6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Pruning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Dimension</a:t>
            </a:r>
            <a:r>
              <a:rPr lang="en-US" altLang="zh-TW" sz="1200" b="1" dirty="0">
                <a:latin typeface="Noto Sans HK" panose="020B0200000000000000" pitchFamily="34" charset="-120"/>
                <a:ea typeface="Noto Sans HK" panose="020B0200000000000000" pitchFamily="34" charset="-120"/>
                <a:cs typeface="Calibri" panose="020F0502020204030204" pitchFamily="34" charset="0"/>
              </a:rPr>
              <a:t>↓</a:t>
            </a:r>
            <a:endParaRPr lang="en-US" altLang="zh-TW" sz="1200" dirty="0"/>
          </a:p>
          <a:p>
            <a:pPr algn="ctr">
              <a:lnSpc>
                <a:spcPts val="1400"/>
              </a:lnSpc>
              <a:buNone/>
            </a:pPr>
            <a:endParaRPr lang="en-US" altLang="zh-TW" sz="1200" u="none" strike="noStrike" dirty="0">
              <a:effectLst/>
            </a:endParaRPr>
          </a:p>
        </p:txBody>
      </p:sp>
      <p:sp>
        <p:nvSpPr>
          <p:cNvPr id="47" name="文字方塊 46">
            <a:extLst>
              <a:ext uri="{FF2B5EF4-FFF2-40B4-BE49-F238E27FC236}">
                <a16:creationId xmlns:a16="http://schemas.microsoft.com/office/drawing/2014/main" id="{2D609865-B19F-36F5-124C-5B8ED6139E22}"/>
              </a:ext>
            </a:extLst>
          </p:cNvPr>
          <p:cNvSpPr txBox="1"/>
          <p:nvPr/>
        </p:nvSpPr>
        <p:spPr>
          <a:xfrm>
            <a:off x="1331640" y="3143405"/>
            <a:ext cx="881420" cy="756316"/>
          </a:xfrm>
          <a:prstGeom prst="rect">
            <a:avLst/>
          </a:prstGeom>
          <a:gradFill flip="none" rotWithShape="1">
            <a:gsLst>
              <a:gs pos="20000">
                <a:schemeClr val="accent6">
                  <a:lumMod val="20000"/>
                  <a:lumOff val="80000"/>
                </a:schemeClr>
              </a:gs>
              <a:gs pos="0">
                <a:schemeClr val="accent2">
                  <a:lumMod val="20000"/>
                  <a:lumOff val="80000"/>
                </a:schemeClr>
              </a:gs>
              <a:gs pos="0">
                <a:schemeClr val="accent2">
                  <a:lumMod val="40000"/>
                  <a:lumOff val="60000"/>
                </a:schemeClr>
              </a:gs>
              <a:gs pos="100000">
                <a:schemeClr val="accent6">
                  <a:lumMod val="20000"/>
                  <a:lumOff val="80000"/>
                </a:schemeClr>
              </a:gs>
            </a:gsLst>
            <a:lin ang="0" scaled="0"/>
            <a:tileRect/>
          </a:gra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Distillation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Architecture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Compression</a:t>
            </a:r>
          </a:p>
        </p:txBody>
      </p:sp>
      <p:sp>
        <p:nvSpPr>
          <p:cNvPr id="49" name="文字方塊 48">
            <a:extLst>
              <a:ext uri="{FF2B5EF4-FFF2-40B4-BE49-F238E27FC236}">
                <a16:creationId xmlns:a16="http://schemas.microsoft.com/office/drawing/2014/main" id="{ABF9FEE4-2A80-24B9-D8F1-5E4312BCBA03}"/>
              </a:ext>
            </a:extLst>
          </p:cNvPr>
          <p:cNvSpPr txBox="1"/>
          <p:nvPr/>
        </p:nvSpPr>
        <p:spPr>
          <a:xfrm>
            <a:off x="4698692" y="3146059"/>
            <a:ext cx="881420" cy="756316"/>
          </a:xfrm>
          <a:prstGeom prst="rect">
            <a:avLst/>
          </a:prstGeom>
          <a:gradFill>
            <a:gsLst>
              <a:gs pos="80000">
                <a:schemeClr val="accent6">
                  <a:lumMod val="20000"/>
                  <a:lumOff val="80000"/>
                </a:schemeClr>
              </a:gs>
              <a:gs pos="100000">
                <a:schemeClr val="accent5">
                  <a:lumMod val="40000"/>
                  <a:lumOff val="60000"/>
                </a:schemeClr>
              </a:gs>
              <a:gs pos="0">
                <a:schemeClr val="accent6">
                  <a:lumMod val="20000"/>
                  <a:lumOff val="80000"/>
                </a:schemeClr>
              </a:gs>
            </a:gsLst>
            <a:lin ang="0" scaled="0"/>
          </a:gra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Quantization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Precision</a:t>
            </a:r>
            <a:r>
              <a:rPr lang="en-US" altLang="zh-TW" sz="1200" b="1" dirty="0">
                <a:latin typeface="Noto Sans HK" panose="020B0200000000000000" pitchFamily="34" charset="-120"/>
                <a:ea typeface="Noto Sans HK" panose="020B0200000000000000" pitchFamily="34" charset="-120"/>
                <a:cs typeface="Calibri" panose="020F0502020204030204" pitchFamily="34" charset="0"/>
              </a:rPr>
              <a:t>↓</a:t>
            </a:r>
            <a:endParaRPr lang="en-US" altLang="zh-TW" sz="1200" dirty="0"/>
          </a:p>
          <a:p>
            <a:pPr algn="ctr">
              <a:lnSpc>
                <a:spcPts val="1400"/>
              </a:lnSpc>
              <a:buNone/>
            </a:pPr>
            <a:endParaRPr lang="en-US" altLang="zh-TW" sz="1200" u="none" strike="noStrike" dirty="0">
              <a:effectLst/>
            </a:endParaRPr>
          </a:p>
        </p:txBody>
      </p:sp>
      <p:sp>
        <p:nvSpPr>
          <p:cNvPr id="53" name="文字方塊 52">
            <a:extLst>
              <a:ext uri="{FF2B5EF4-FFF2-40B4-BE49-F238E27FC236}">
                <a16:creationId xmlns:a16="http://schemas.microsoft.com/office/drawing/2014/main" id="{FC808547-142C-07BE-33AC-8274A46E1610}"/>
              </a:ext>
            </a:extLst>
          </p:cNvPr>
          <p:cNvSpPr txBox="1"/>
          <p:nvPr/>
        </p:nvSpPr>
        <p:spPr>
          <a:xfrm>
            <a:off x="2438607" y="3143405"/>
            <a:ext cx="881420" cy="756316"/>
          </a:xfrm>
          <a:prstGeom prst="rect">
            <a:avLst/>
          </a:prstGeom>
          <a:solidFill>
            <a:schemeClr val="accent6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</a:rPr>
              <a:t>S</a:t>
            </a: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FT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Alignment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u="none" strike="noStrike" dirty="0">
              <a:effectLst/>
            </a:endParaRPr>
          </a:p>
        </p:txBody>
      </p:sp>
      <p:graphicFrame>
        <p:nvGraphicFramePr>
          <p:cNvPr id="55" name="表格 54">
            <a:extLst>
              <a:ext uri="{FF2B5EF4-FFF2-40B4-BE49-F238E27FC236}">
                <a16:creationId xmlns:a16="http://schemas.microsoft.com/office/drawing/2014/main" id="{A9813FC4-037E-CA39-7E03-BD4C639F9FD9}"/>
              </a:ext>
            </a:extLst>
          </p:cNvPr>
          <p:cNvGraphicFramePr>
            <a:graphicFrameLocks noGrp="1"/>
          </p:cNvGraphicFramePr>
          <p:nvPr/>
        </p:nvGraphicFramePr>
        <p:xfrm>
          <a:off x="4475768" y="4509296"/>
          <a:ext cx="1575643" cy="806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5643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09096">
                <a:tc>
                  <a:txBody>
                    <a:bodyPr/>
                    <a:lstStyle/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Pruning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7252825"/>
                  </a:ext>
                </a:extLst>
              </a:tr>
              <a:tr h="209096">
                <a:tc>
                  <a:txBody>
                    <a:bodyPr/>
                    <a:lstStyle/>
                    <a:p>
                      <a:pPr algn="l"/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Structured Pruning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399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Sparse Pruning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399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zh-TW" sz="1200" dirty="0"/>
                        <a:t>➔</a:t>
                      </a:r>
                      <a:r>
                        <a:rPr lang="en-US" altLang="zh-TW" sz="1200" dirty="0"/>
                        <a:t> 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17970525"/>
                  </a:ext>
                </a:extLst>
              </a:tr>
            </a:tbl>
          </a:graphicData>
        </a:graphic>
      </p:graphicFrame>
      <p:graphicFrame>
        <p:nvGraphicFramePr>
          <p:cNvPr id="57" name="表格 56">
            <a:extLst>
              <a:ext uri="{FF2B5EF4-FFF2-40B4-BE49-F238E27FC236}">
                <a16:creationId xmlns:a16="http://schemas.microsoft.com/office/drawing/2014/main" id="{7D569E3B-62B5-6018-C81E-7027D6451B1A}"/>
              </a:ext>
            </a:extLst>
          </p:cNvPr>
          <p:cNvGraphicFramePr>
            <a:graphicFrameLocks noGrp="1"/>
          </p:cNvGraphicFramePr>
          <p:nvPr/>
        </p:nvGraphicFramePr>
        <p:xfrm>
          <a:off x="1853020" y="4511557"/>
          <a:ext cx="2249569" cy="7563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56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89079">
                <a:tc>
                  <a:txBody>
                    <a:bodyPr/>
                    <a:lstStyle/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Quantization-Aware Training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7252825"/>
                  </a:ext>
                </a:extLst>
              </a:tr>
              <a:tr h="189079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FP16/32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Noto Sans HK" panose="020B0200000000000000" pitchFamily="34" charset="-120"/>
                          <a:ea typeface="Noto Sans HK" panose="020B0200000000000000" pitchFamily="34" charset="-120"/>
                          <a:sym typeface="Wingdings" panose="05000000000000000000" pitchFamily="2" charset="2"/>
                        </a:rPr>
                        <a:t> </a:t>
                      </a:r>
                      <a:r>
                        <a:rPr lang="zh-TW" altLang="zh-TW" sz="1200" dirty="0"/>
                        <a:t>➔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Noto Sans HK" panose="020B0200000000000000" pitchFamily="34" charset="-120"/>
                          <a:ea typeface="Noto Sans HK" panose="020B0200000000000000" pitchFamily="34" charset="-120"/>
                          <a:sym typeface="Wingdings" panose="05000000000000000000" pitchFamily="2" charset="2"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INT4/INT8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8907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FP: Quantization Nose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8907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BP: Straight-Through Estimator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9197690"/>
                  </a:ext>
                </a:extLst>
              </a:tr>
            </a:tbl>
          </a:graphicData>
        </a:graphic>
      </p:graphicFrame>
      <p:graphicFrame>
        <p:nvGraphicFramePr>
          <p:cNvPr id="59" name="表格 58">
            <a:extLst>
              <a:ext uri="{FF2B5EF4-FFF2-40B4-BE49-F238E27FC236}">
                <a16:creationId xmlns:a16="http://schemas.microsoft.com/office/drawing/2014/main" id="{4613FB0A-B9C2-D786-6076-4A0A7FA569EA}"/>
              </a:ext>
            </a:extLst>
          </p:cNvPr>
          <p:cNvGraphicFramePr>
            <a:graphicFrameLocks noGrp="1"/>
          </p:cNvGraphicFramePr>
          <p:nvPr/>
        </p:nvGraphicFramePr>
        <p:xfrm>
          <a:off x="1940965" y="5375653"/>
          <a:ext cx="2360327" cy="94414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0327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1262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QLoRA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6394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Freeze backbone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80136309"/>
                  </a:ext>
                </a:extLst>
              </a:tr>
              <a:tr h="16394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Adapter: Just 1% of total parameters.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394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QAD</a:t>
                      </a:r>
                      <a:endParaRPr kumimoji="0" lang="zh-TW" altLang="en-US" sz="1200" b="1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394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Use QAT when Distillation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57912659"/>
                  </a:ext>
                </a:extLst>
              </a:tr>
            </a:tbl>
          </a:graphicData>
        </a:graphic>
      </p:graphicFrame>
      <p:graphicFrame>
        <p:nvGraphicFramePr>
          <p:cNvPr id="61" name="表格 60">
            <a:extLst>
              <a:ext uri="{FF2B5EF4-FFF2-40B4-BE49-F238E27FC236}">
                <a16:creationId xmlns:a16="http://schemas.microsoft.com/office/drawing/2014/main" id="{57E559F4-AD93-FD48-874F-C5C4B76B03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4309203"/>
              </p:ext>
            </p:extLst>
          </p:nvPr>
        </p:nvGraphicFramePr>
        <p:xfrm>
          <a:off x="223539" y="4889715"/>
          <a:ext cx="1575643" cy="6121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5643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09096">
                <a:tc>
                  <a:txBody>
                    <a:bodyPr/>
                    <a:lstStyle/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Optimization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7252825"/>
                  </a:ext>
                </a:extLst>
              </a:tr>
              <a:tr h="209096">
                <a:tc>
                  <a:txBody>
                    <a:bodyPr/>
                    <a:lstStyle/>
                    <a:p>
                      <a:pPr algn="l"/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Paged </a:t>
                      </a: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AdamW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399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Sparse Pruning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</a:tbl>
          </a:graphicData>
        </a:graphic>
      </p:graphicFrame>
      <p:sp>
        <p:nvSpPr>
          <p:cNvPr id="63" name="右大括弧 62">
            <a:extLst>
              <a:ext uri="{FF2B5EF4-FFF2-40B4-BE49-F238E27FC236}">
                <a16:creationId xmlns:a16="http://schemas.microsoft.com/office/drawing/2014/main" id="{01E9E84E-2C79-2783-E3FB-C45EA23D0908}"/>
              </a:ext>
            </a:extLst>
          </p:cNvPr>
          <p:cNvSpPr/>
          <p:nvPr/>
        </p:nvSpPr>
        <p:spPr>
          <a:xfrm rot="5400000">
            <a:off x="2249314" y="3017820"/>
            <a:ext cx="153040" cy="198838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graphicFrame>
        <p:nvGraphicFramePr>
          <p:cNvPr id="65" name="表格 64">
            <a:extLst>
              <a:ext uri="{FF2B5EF4-FFF2-40B4-BE49-F238E27FC236}">
                <a16:creationId xmlns:a16="http://schemas.microsoft.com/office/drawing/2014/main" id="{400E42BB-6FC5-4FBD-FB52-43757EC4A1E5}"/>
              </a:ext>
            </a:extLst>
          </p:cNvPr>
          <p:cNvGraphicFramePr>
            <a:graphicFrameLocks noGrp="1"/>
          </p:cNvGraphicFramePr>
          <p:nvPr/>
        </p:nvGraphicFramePr>
        <p:xfrm>
          <a:off x="4572000" y="5562500"/>
          <a:ext cx="1575643" cy="9628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5643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09096">
                <a:tc>
                  <a:txBody>
                    <a:bodyPr/>
                    <a:lstStyle/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Post-Training</a:t>
                      </a:r>
                    </a:p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Quantization (PTQ)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7252825"/>
                  </a:ext>
                </a:extLst>
              </a:tr>
              <a:tr h="209096">
                <a:tc>
                  <a:txBody>
                    <a:bodyPr/>
                    <a:lstStyle/>
                    <a:p>
                      <a:pPr algn="l"/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AWQ, 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399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GPTQ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58872838"/>
                  </a:ext>
                </a:extLst>
              </a:tr>
              <a:tr h="19399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GGUF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</a:tbl>
          </a:graphicData>
        </a:graphic>
      </p:graphicFrame>
      <p:sp>
        <p:nvSpPr>
          <p:cNvPr id="67" name="標題 1">
            <a:extLst>
              <a:ext uri="{FF2B5EF4-FFF2-40B4-BE49-F238E27FC236}">
                <a16:creationId xmlns:a16="http://schemas.microsoft.com/office/drawing/2014/main" id="{C4FF9F22-CF14-D9AD-E183-3242304E6B29}"/>
              </a:ext>
            </a:extLst>
          </p:cNvPr>
          <p:cNvSpPr txBox="1">
            <a:spLocks/>
          </p:cNvSpPr>
          <p:nvPr/>
        </p:nvSpPr>
        <p:spPr>
          <a:xfrm>
            <a:off x="1716073" y="4088534"/>
            <a:ext cx="1219522" cy="252260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Backpropagation</a:t>
            </a:r>
          </a:p>
        </p:txBody>
      </p:sp>
      <p:sp>
        <p:nvSpPr>
          <p:cNvPr id="73" name="文字方塊 72">
            <a:extLst>
              <a:ext uri="{FF2B5EF4-FFF2-40B4-BE49-F238E27FC236}">
                <a16:creationId xmlns:a16="http://schemas.microsoft.com/office/drawing/2014/main" id="{73E146EC-462D-2039-B36D-4FC6F33E63E3}"/>
              </a:ext>
            </a:extLst>
          </p:cNvPr>
          <p:cNvSpPr txBox="1"/>
          <p:nvPr/>
        </p:nvSpPr>
        <p:spPr>
          <a:xfrm>
            <a:off x="6071253" y="1475258"/>
            <a:ext cx="728464" cy="958025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endParaRPr lang="en-US" altLang="zh-TW" sz="1200" b="1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graphicFrame>
        <p:nvGraphicFramePr>
          <p:cNvPr id="75" name="表格 74">
            <a:extLst>
              <a:ext uri="{FF2B5EF4-FFF2-40B4-BE49-F238E27FC236}">
                <a16:creationId xmlns:a16="http://schemas.microsoft.com/office/drawing/2014/main" id="{68755521-9450-A8BB-460E-BC297EB0F5FB}"/>
              </a:ext>
            </a:extLst>
          </p:cNvPr>
          <p:cNvGraphicFramePr>
            <a:graphicFrameLocks noGrp="1"/>
          </p:cNvGraphicFramePr>
          <p:nvPr/>
        </p:nvGraphicFramePr>
        <p:xfrm>
          <a:off x="6134467" y="1497384"/>
          <a:ext cx="610509" cy="8385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1050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5164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Q&amp;A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5164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…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376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100" b="1" cap="none" spc="0" dirty="0">
                          <a:ln w="0"/>
                          <a:solidFill>
                            <a:srgbClr val="FF0000"/>
                          </a:solidFill>
                          <a:effectLst/>
                        </a:rPr>
                        <a:t>…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376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100" b="1" i="0" u="none" strike="noStrike" kern="1200" cap="none" spc="0" normalizeH="0" baseline="0" noProof="0" dirty="0">
                          <a:ln w="0"/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…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68480023"/>
                  </a:ext>
                </a:extLst>
              </a:tr>
            </a:tbl>
          </a:graphicData>
        </a:graphic>
      </p:graphicFrame>
      <p:cxnSp>
        <p:nvCxnSpPr>
          <p:cNvPr id="76" name="接點: 肘形 75">
            <a:extLst>
              <a:ext uri="{FF2B5EF4-FFF2-40B4-BE49-F238E27FC236}">
                <a16:creationId xmlns:a16="http://schemas.microsoft.com/office/drawing/2014/main" id="{D79F101B-AE50-F29E-5BAE-E56FB30B07FE}"/>
              </a:ext>
            </a:extLst>
          </p:cNvPr>
          <p:cNvCxnSpPr>
            <a:cxnSpLocks/>
          </p:cNvCxnSpPr>
          <p:nvPr/>
        </p:nvCxnSpPr>
        <p:spPr>
          <a:xfrm>
            <a:off x="7143125" y="5705328"/>
            <a:ext cx="1754344" cy="339015"/>
          </a:xfrm>
          <a:prstGeom prst="bentConnector3">
            <a:avLst>
              <a:gd name="adj1" fmla="val 50000"/>
            </a:avLst>
          </a:prstGeom>
          <a:ln w="50800">
            <a:solidFill>
              <a:schemeClr val="bg1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右大括弧 78">
            <a:extLst>
              <a:ext uri="{FF2B5EF4-FFF2-40B4-BE49-F238E27FC236}">
                <a16:creationId xmlns:a16="http://schemas.microsoft.com/office/drawing/2014/main" id="{8008D76B-CDB3-47F8-FCF5-503FCBF76AB0}"/>
              </a:ext>
            </a:extLst>
          </p:cNvPr>
          <p:cNvSpPr/>
          <p:nvPr/>
        </p:nvSpPr>
        <p:spPr>
          <a:xfrm rot="5400000">
            <a:off x="4496413" y="3024422"/>
            <a:ext cx="153040" cy="198838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81" name="標題 1">
            <a:extLst>
              <a:ext uri="{FF2B5EF4-FFF2-40B4-BE49-F238E27FC236}">
                <a16:creationId xmlns:a16="http://schemas.microsoft.com/office/drawing/2014/main" id="{B21A7645-09A7-E234-A534-3C3246109F0E}"/>
              </a:ext>
            </a:extLst>
          </p:cNvPr>
          <p:cNvSpPr txBox="1">
            <a:spLocks/>
          </p:cNvSpPr>
          <p:nvPr/>
        </p:nvSpPr>
        <p:spPr>
          <a:xfrm>
            <a:off x="3963172" y="4095136"/>
            <a:ext cx="1219522" cy="252260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Reduction</a:t>
            </a:r>
          </a:p>
        </p:txBody>
      </p:sp>
      <p:sp>
        <p:nvSpPr>
          <p:cNvPr id="83" name="右大括弧 82">
            <a:extLst>
              <a:ext uri="{FF2B5EF4-FFF2-40B4-BE49-F238E27FC236}">
                <a16:creationId xmlns:a16="http://schemas.microsoft.com/office/drawing/2014/main" id="{7C027CA7-A0B6-E8E3-3E2C-BAFE9EF44575}"/>
              </a:ext>
            </a:extLst>
          </p:cNvPr>
          <p:cNvSpPr/>
          <p:nvPr/>
        </p:nvSpPr>
        <p:spPr>
          <a:xfrm rot="5400000">
            <a:off x="7623698" y="3184182"/>
            <a:ext cx="153040" cy="198838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85" name="標題 1">
            <a:extLst>
              <a:ext uri="{FF2B5EF4-FFF2-40B4-BE49-F238E27FC236}">
                <a16:creationId xmlns:a16="http://schemas.microsoft.com/office/drawing/2014/main" id="{A8E1FB0C-0D45-B6B0-586A-360C8FE713CA}"/>
              </a:ext>
            </a:extLst>
          </p:cNvPr>
          <p:cNvSpPr txBox="1">
            <a:spLocks/>
          </p:cNvSpPr>
          <p:nvPr/>
        </p:nvSpPr>
        <p:spPr>
          <a:xfrm>
            <a:off x="7090457" y="4254896"/>
            <a:ext cx="1219522" cy="252260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Backpropagation</a:t>
            </a:r>
          </a:p>
        </p:txBody>
      </p:sp>
    </p:spTree>
    <p:extLst>
      <p:ext uri="{BB962C8B-B14F-4D97-AF65-F5344CB8AC3E}">
        <p14:creationId xmlns:p14="http://schemas.microsoft.com/office/powerpoint/2010/main" val="14362665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2618D97-612A-D280-211E-AB193E653C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8DEE41D5-A80F-7EBF-F31B-6B31BBBD445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---</a:t>
            </a:r>
            <a:r>
              <a:rPr lang="zh-TW" altLang="en-US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Supervised Fine-Tuning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Shifts output from raw completion to following human intent and formats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.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F96995FE-97C3-6F08-57D9-74404BECD9A4}"/>
              </a:ext>
            </a:extLst>
          </p:cNvPr>
          <p:cNvSpPr txBox="1"/>
          <p:nvPr/>
        </p:nvSpPr>
        <p:spPr>
          <a:xfrm>
            <a:off x="213023" y="980728"/>
            <a:ext cx="5583113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SFT Focuses on Alignment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Training Data</a:t>
            </a:r>
            <a:r>
              <a:rPr lang="en-US" altLang="zh-TW" sz="1600" dirty="0"/>
              <a:t>: Structured, high-quality QA pairs.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Loss</a:t>
            </a:r>
            <a:r>
              <a:rPr lang="en-US" altLang="zh-TW" sz="1600" dirty="0"/>
              <a:t>: Model calculates loss on the response tokens.</a:t>
            </a:r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8551EB79-99C8-CA75-9C05-D5ABDF089A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7719832"/>
              </p:ext>
            </p:extLst>
          </p:nvPr>
        </p:nvGraphicFramePr>
        <p:xfrm>
          <a:off x="247794" y="5266243"/>
          <a:ext cx="3456384" cy="11270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106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546329">
                  <a:extLst>
                    <a:ext uri="{9D8B030D-6E8A-4147-A177-3AD203B41FA5}">
                      <a16:colId xmlns:a16="http://schemas.microsoft.com/office/drawing/2014/main" val="1057580889"/>
                    </a:ext>
                  </a:extLst>
                </a:gridCol>
                <a:gridCol w="546329">
                  <a:extLst>
                    <a:ext uri="{9D8B030D-6E8A-4147-A177-3AD203B41FA5}">
                      <a16:colId xmlns:a16="http://schemas.microsoft.com/office/drawing/2014/main" val="1337991183"/>
                    </a:ext>
                  </a:extLst>
                </a:gridCol>
                <a:gridCol w="546329">
                  <a:extLst>
                    <a:ext uri="{9D8B030D-6E8A-4147-A177-3AD203B41FA5}">
                      <a16:colId xmlns:a16="http://schemas.microsoft.com/office/drawing/2014/main" val="160511082"/>
                    </a:ext>
                  </a:extLst>
                </a:gridCol>
                <a:gridCol w="546329">
                  <a:extLst>
                    <a:ext uri="{9D8B030D-6E8A-4147-A177-3AD203B41FA5}">
                      <a16:colId xmlns:a16="http://schemas.microsoft.com/office/drawing/2014/main" val="910252365"/>
                    </a:ext>
                  </a:extLst>
                </a:gridCol>
              </a:tblGrid>
              <a:tr h="212621">
                <a:tc>
                  <a:txBody>
                    <a:bodyPr/>
                    <a:lstStyle/>
                    <a:p>
                      <a:pPr algn="l"/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PT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SFT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LoRA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QLoRA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6394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Parameters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99%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1%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0.1%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0.01%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394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394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GPU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7912659"/>
                  </a:ext>
                </a:extLst>
              </a:tr>
              <a:tr h="16394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Memory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2430528"/>
                  </a:ext>
                </a:extLst>
              </a:tr>
              <a:tr h="16394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Cost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5658225"/>
                  </a:ext>
                </a:extLst>
              </a:tr>
            </a:tbl>
          </a:graphicData>
        </a:graphic>
      </p:graphicFrame>
      <p:sp>
        <p:nvSpPr>
          <p:cNvPr id="7" name="文字方塊 6">
            <a:extLst>
              <a:ext uri="{FF2B5EF4-FFF2-40B4-BE49-F238E27FC236}">
                <a16:creationId xmlns:a16="http://schemas.microsoft.com/office/drawing/2014/main" id="{19875080-20D6-683B-AD13-714D3996B7F0}"/>
              </a:ext>
            </a:extLst>
          </p:cNvPr>
          <p:cNvSpPr txBox="1"/>
          <p:nvPr/>
        </p:nvSpPr>
        <p:spPr>
          <a:xfrm>
            <a:off x="226393" y="2325245"/>
            <a:ext cx="5583113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Parameter Efficient FT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:</a:t>
            </a:r>
            <a:r>
              <a:rPr lang="en-US" altLang="zh-TW" sz="1600" dirty="0"/>
              <a:t> LoRA, QLoRA, DoRA</a:t>
            </a:r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B36617E0-4A67-83DD-FEE4-BE38F33F526E}"/>
              </a:ext>
            </a:extLst>
          </p:cNvPr>
          <p:cNvSpPr txBox="1"/>
          <p:nvPr/>
        </p:nvSpPr>
        <p:spPr>
          <a:xfrm>
            <a:off x="3987552" y="4123346"/>
            <a:ext cx="872480" cy="330602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0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Token</a:t>
            </a:r>
          </a:p>
          <a:p>
            <a:pPr algn="ctr">
              <a:lnSpc>
                <a:spcPts val="1200"/>
              </a:lnSpc>
              <a:buNone/>
            </a:pPr>
            <a:r>
              <a:rPr lang="en-US" altLang="zh-TW" sz="10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Embedding</a:t>
            </a:r>
            <a:endParaRPr lang="en-US" altLang="zh-TW" sz="1000" b="1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7B56030E-188C-DD71-70D4-C19589965500}"/>
              </a:ext>
            </a:extLst>
          </p:cNvPr>
          <p:cNvSpPr txBox="1"/>
          <p:nvPr/>
        </p:nvSpPr>
        <p:spPr>
          <a:xfrm>
            <a:off x="3845887" y="2725010"/>
            <a:ext cx="1152128" cy="445510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681EEC4E-0BBA-CF4F-69B4-1DB6E6B60456}"/>
              </a:ext>
            </a:extLst>
          </p:cNvPr>
          <p:cNvSpPr txBox="1"/>
          <p:nvPr/>
        </p:nvSpPr>
        <p:spPr>
          <a:xfrm>
            <a:off x="3845887" y="3282572"/>
            <a:ext cx="1152128" cy="523222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sp>
        <p:nvSpPr>
          <p:cNvPr id="53" name="文字方塊 52">
            <a:extLst>
              <a:ext uri="{FF2B5EF4-FFF2-40B4-BE49-F238E27FC236}">
                <a16:creationId xmlns:a16="http://schemas.microsoft.com/office/drawing/2014/main" id="{EF87BC20-FC0D-C9B6-3573-94620F5A2D37}"/>
              </a:ext>
            </a:extLst>
          </p:cNvPr>
          <p:cNvSpPr txBox="1"/>
          <p:nvPr/>
        </p:nvSpPr>
        <p:spPr>
          <a:xfrm>
            <a:off x="3845887" y="2035114"/>
            <a:ext cx="1152128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Output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Probability</a:t>
            </a:r>
            <a:endParaRPr lang="en-US" altLang="zh-TW" sz="1000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cxnSp>
        <p:nvCxnSpPr>
          <p:cNvPr id="55" name="直線單箭頭接點 54">
            <a:extLst>
              <a:ext uri="{FF2B5EF4-FFF2-40B4-BE49-F238E27FC236}">
                <a16:creationId xmlns:a16="http://schemas.microsoft.com/office/drawing/2014/main" id="{A12C24F6-823E-4624-BFBB-27668484B3EC}"/>
              </a:ext>
            </a:extLst>
          </p:cNvPr>
          <p:cNvCxnSpPr>
            <a:cxnSpLocks/>
            <a:stCxn id="50" idx="0"/>
            <a:endCxn id="53" idx="2"/>
          </p:cNvCxnSpPr>
          <p:nvPr/>
        </p:nvCxnSpPr>
        <p:spPr>
          <a:xfrm flipV="1">
            <a:off x="4421951" y="2395154"/>
            <a:ext cx="0" cy="32985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直線單箭頭接點 55">
            <a:extLst>
              <a:ext uri="{FF2B5EF4-FFF2-40B4-BE49-F238E27FC236}">
                <a16:creationId xmlns:a16="http://schemas.microsoft.com/office/drawing/2014/main" id="{43292677-53C3-A391-7FAF-584C00F71527}"/>
              </a:ext>
            </a:extLst>
          </p:cNvPr>
          <p:cNvCxnSpPr>
            <a:cxnSpLocks/>
            <a:stCxn id="48" idx="0"/>
            <a:endCxn id="51" idx="2"/>
          </p:cNvCxnSpPr>
          <p:nvPr/>
        </p:nvCxnSpPr>
        <p:spPr>
          <a:xfrm flipH="1" flipV="1">
            <a:off x="4421951" y="3805794"/>
            <a:ext cx="1841" cy="317552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直線單箭頭接點 56">
            <a:extLst>
              <a:ext uri="{FF2B5EF4-FFF2-40B4-BE49-F238E27FC236}">
                <a16:creationId xmlns:a16="http://schemas.microsoft.com/office/drawing/2014/main" id="{40AB2EEA-8250-A822-E1DB-F5469F5C921E}"/>
              </a:ext>
            </a:extLst>
          </p:cNvPr>
          <p:cNvCxnSpPr>
            <a:cxnSpLocks/>
            <a:stCxn id="51" idx="0"/>
            <a:endCxn id="50" idx="2"/>
          </p:cNvCxnSpPr>
          <p:nvPr/>
        </p:nvCxnSpPr>
        <p:spPr>
          <a:xfrm flipV="1">
            <a:off x="4421951" y="3170520"/>
            <a:ext cx="0" cy="112052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接點: 肘形 57">
            <a:extLst>
              <a:ext uri="{FF2B5EF4-FFF2-40B4-BE49-F238E27FC236}">
                <a16:creationId xmlns:a16="http://schemas.microsoft.com/office/drawing/2014/main" id="{2FB4D62A-61B8-C63B-BB55-9CA89DFCE7D6}"/>
              </a:ext>
            </a:extLst>
          </p:cNvPr>
          <p:cNvCxnSpPr>
            <a:cxnSpLocks/>
            <a:stCxn id="53" idx="3"/>
            <a:endCxn id="48" idx="3"/>
          </p:cNvCxnSpPr>
          <p:nvPr/>
        </p:nvCxnSpPr>
        <p:spPr>
          <a:xfrm flipH="1">
            <a:off x="4860032" y="2215134"/>
            <a:ext cx="137983" cy="2073513"/>
          </a:xfrm>
          <a:prstGeom prst="bentConnector3">
            <a:avLst>
              <a:gd name="adj1" fmla="val -165673"/>
            </a:avLst>
          </a:prstGeom>
          <a:ln w="19050">
            <a:solidFill>
              <a:srgbClr val="9E7800"/>
            </a:solidFill>
            <a:prstDash val="solid"/>
            <a:headEnd type="non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文字方塊 58">
            <a:extLst>
              <a:ext uri="{FF2B5EF4-FFF2-40B4-BE49-F238E27FC236}">
                <a16:creationId xmlns:a16="http://schemas.microsoft.com/office/drawing/2014/main" id="{03BF5193-2B39-BE10-E247-BBEC3F812208}"/>
              </a:ext>
            </a:extLst>
          </p:cNvPr>
          <p:cNvSpPr txBox="1"/>
          <p:nvPr/>
        </p:nvSpPr>
        <p:spPr>
          <a:xfrm>
            <a:off x="3536693" y="3495025"/>
            <a:ext cx="294468" cy="20503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 </a:t>
            </a:r>
            <a:r>
              <a:rPr lang="en-US" altLang="zh-TW" sz="1000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x</a:t>
            </a:r>
            <a:endParaRPr lang="en-US" altLang="zh-TW" sz="1000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76" name="矩形: 圓角 75">
            <a:extLst>
              <a:ext uri="{FF2B5EF4-FFF2-40B4-BE49-F238E27FC236}">
                <a16:creationId xmlns:a16="http://schemas.microsoft.com/office/drawing/2014/main" id="{533F08BF-9748-A1E4-6F1C-CFF916DB1525}"/>
              </a:ext>
            </a:extLst>
          </p:cNvPr>
          <p:cNvSpPr/>
          <p:nvPr/>
        </p:nvSpPr>
        <p:spPr>
          <a:xfrm>
            <a:off x="2574523" y="3194970"/>
            <a:ext cx="1464538" cy="1512168"/>
          </a:xfrm>
          <a:prstGeom prst="roundRect">
            <a:avLst>
              <a:gd name="adj" fmla="val 10053"/>
            </a:avLst>
          </a:prstGeom>
          <a:solidFill>
            <a:schemeClr val="accent2">
              <a:lumMod val="50000"/>
              <a:alpha val="60000"/>
            </a:schemeClr>
          </a:solidFill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8" name="矩形: 圓角 77">
            <a:extLst>
              <a:ext uri="{FF2B5EF4-FFF2-40B4-BE49-F238E27FC236}">
                <a16:creationId xmlns:a16="http://schemas.microsoft.com/office/drawing/2014/main" id="{F2706C8A-B99C-81CE-5063-6DA30E370359}"/>
              </a:ext>
            </a:extLst>
          </p:cNvPr>
          <p:cNvSpPr/>
          <p:nvPr/>
        </p:nvSpPr>
        <p:spPr>
          <a:xfrm>
            <a:off x="3701871" y="2575174"/>
            <a:ext cx="1440160" cy="1365361"/>
          </a:xfrm>
          <a:prstGeom prst="roundRect">
            <a:avLst>
              <a:gd name="adj" fmla="val 10053"/>
            </a:avLst>
          </a:prstGeom>
          <a:noFill/>
          <a:ln w="158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5" name="文字方塊 104">
            <a:extLst>
              <a:ext uri="{FF2B5EF4-FFF2-40B4-BE49-F238E27FC236}">
                <a16:creationId xmlns:a16="http://schemas.microsoft.com/office/drawing/2014/main" id="{06C9076E-FB3C-0041-7435-E4C4115B85A9}"/>
              </a:ext>
            </a:extLst>
          </p:cNvPr>
          <p:cNvSpPr txBox="1"/>
          <p:nvPr/>
        </p:nvSpPr>
        <p:spPr>
          <a:xfrm>
            <a:off x="7299516" y="2702530"/>
            <a:ext cx="872480" cy="222414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TE + PE</a:t>
            </a:r>
            <a:endParaRPr lang="en-US" altLang="zh-TW" sz="1000" b="1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106" name="矩形: 圓角 105">
            <a:extLst>
              <a:ext uri="{FF2B5EF4-FFF2-40B4-BE49-F238E27FC236}">
                <a16:creationId xmlns:a16="http://schemas.microsoft.com/office/drawing/2014/main" id="{2E7C3A3A-A52A-EC27-A4C2-637E989567BC}"/>
              </a:ext>
            </a:extLst>
          </p:cNvPr>
          <p:cNvSpPr/>
          <p:nvPr/>
        </p:nvSpPr>
        <p:spPr>
          <a:xfrm>
            <a:off x="7013835" y="1412776"/>
            <a:ext cx="1440160" cy="1185341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7" name="文字方塊 106">
            <a:extLst>
              <a:ext uri="{FF2B5EF4-FFF2-40B4-BE49-F238E27FC236}">
                <a16:creationId xmlns:a16="http://schemas.microsoft.com/office/drawing/2014/main" id="{8341FC4B-B783-8B62-FD71-09F4FA2505D0}"/>
              </a:ext>
            </a:extLst>
          </p:cNvPr>
          <p:cNvSpPr txBox="1"/>
          <p:nvPr/>
        </p:nvSpPr>
        <p:spPr>
          <a:xfrm>
            <a:off x="7157851" y="1571086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0" rIns="0" bIns="0" anchor="ctr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108" name="文字方塊 107">
            <a:extLst>
              <a:ext uri="{FF2B5EF4-FFF2-40B4-BE49-F238E27FC236}">
                <a16:creationId xmlns:a16="http://schemas.microsoft.com/office/drawing/2014/main" id="{7AA1420A-F6FA-6FBA-AB42-174928F69B88}"/>
              </a:ext>
            </a:extLst>
          </p:cNvPr>
          <p:cNvSpPr txBox="1"/>
          <p:nvPr/>
        </p:nvSpPr>
        <p:spPr>
          <a:xfrm>
            <a:off x="7157851" y="1940154"/>
            <a:ext cx="1152128" cy="523222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0" rIns="0" bIns="0" anchor="ctr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sp>
        <p:nvSpPr>
          <p:cNvPr id="109" name="文字方塊 108">
            <a:extLst>
              <a:ext uri="{FF2B5EF4-FFF2-40B4-BE49-F238E27FC236}">
                <a16:creationId xmlns:a16="http://schemas.microsoft.com/office/drawing/2014/main" id="{D10AF3BD-969F-012C-B59E-DDAFB2A053FC}"/>
              </a:ext>
            </a:extLst>
          </p:cNvPr>
          <p:cNvSpPr txBox="1"/>
          <p:nvPr/>
        </p:nvSpPr>
        <p:spPr>
          <a:xfrm>
            <a:off x="7157851" y="980713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Linear</a:t>
            </a:r>
          </a:p>
        </p:txBody>
      </p:sp>
      <p:sp>
        <p:nvSpPr>
          <p:cNvPr id="110" name="文字方塊 109">
            <a:extLst>
              <a:ext uri="{FF2B5EF4-FFF2-40B4-BE49-F238E27FC236}">
                <a16:creationId xmlns:a16="http://schemas.microsoft.com/office/drawing/2014/main" id="{263251D2-D298-2201-A842-83D1BFD46044}"/>
              </a:ext>
            </a:extLst>
          </p:cNvPr>
          <p:cNvSpPr txBox="1"/>
          <p:nvPr/>
        </p:nvSpPr>
        <p:spPr>
          <a:xfrm>
            <a:off x="7157851" y="476672"/>
            <a:ext cx="1152128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Output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Probabilities</a:t>
            </a:r>
          </a:p>
        </p:txBody>
      </p:sp>
      <p:cxnSp>
        <p:nvCxnSpPr>
          <p:cNvPr id="111" name="直線單箭頭接點 110">
            <a:extLst>
              <a:ext uri="{FF2B5EF4-FFF2-40B4-BE49-F238E27FC236}">
                <a16:creationId xmlns:a16="http://schemas.microsoft.com/office/drawing/2014/main" id="{4ABECF00-0C44-36BF-DB3C-AB8198355FC6}"/>
              </a:ext>
            </a:extLst>
          </p:cNvPr>
          <p:cNvCxnSpPr>
            <a:cxnSpLocks/>
            <a:stCxn id="109" idx="0"/>
            <a:endCxn id="110" idx="2"/>
          </p:cNvCxnSpPr>
          <p:nvPr/>
        </p:nvCxnSpPr>
        <p:spPr>
          <a:xfrm flipV="1">
            <a:off x="7733915" y="836712"/>
            <a:ext cx="0" cy="14400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直線單箭頭接點 111">
            <a:extLst>
              <a:ext uri="{FF2B5EF4-FFF2-40B4-BE49-F238E27FC236}">
                <a16:creationId xmlns:a16="http://schemas.microsoft.com/office/drawing/2014/main" id="{143A0A9C-C633-50EA-CD22-AA6B770B59B6}"/>
              </a:ext>
            </a:extLst>
          </p:cNvPr>
          <p:cNvCxnSpPr>
            <a:cxnSpLocks/>
            <a:stCxn id="107" idx="0"/>
            <a:endCxn id="109" idx="2"/>
          </p:cNvCxnSpPr>
          <p:nvPr/>
        </p:nvCxnSpPr>
        <p:spPr>
          <a:xfrm flipV="1">
            <a:off x="7733915" y="1205765"/>
            <a:ext cx="0" cy="36532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直線單箭頭接點 112">
            <a:extLst>
              <a:ext uri="{FF2B5EF4-FFF2-40B4-BE49-F238E27FC236}">
                <a16:creationId xmlns:a16="http://schemas.microsoft.com/office/drawing/2014/main" id="{B5C3E654-7C4E-9345-F47D-31CBD3E2AD04}"/>
              </a:ext>
            </a:extLst>
          </p:cNvPr>
          <p:cNvCxnSpPr>
            <a:cxnSpLocks/>
            <a:stCxn id="105" idx="0"/>
            <a:endCxn id="108" idx="2"/>
          </p:cNvCxnSpPr>
          <p:nvPr/>
        </p:nvCxnSpPr>
        <p:spPr>
          <a:xfrm flipH="1" flipV="1">
            <a:off x="7733915" y="2463376"/>
            <a:ext cx="1841" cy="23915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直線單箭頭接點 113">
            <a:extLst>
              <a:ext uri="{FF2B5EF4-FFF2-40B4-BE49-F238E27FC236}">
                <a16:creationId xmlns:a16="http://schemas.microsoft.com/office/drawing/2014/main" id="{16A1D77D-1ECA-ADC7-27B2-8B4FF84E7CDA}"/>
              </a:ext>
            </a:extLst>
          </p:cNvPr>
          <p:cNvCxnSpPr>
            <a:cxnSpLocks/>
            <a:stCxn id="108" idx="0"/>
            <a:endCxn id="107" idx="2"/>
          </p:cNvCxnSpPr>
          <p:nvPr/>
        </p:nvCxnSpPr>
        <p:spPr>
          <a:xfrm flipV="1">
            <a:off x="7733915" y="1796138"/>
            <a:ext cx="0" cy="14401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接點: 肘形 114">
            <a:extLst>
              <a:ext uri="{FF2B5EF4-FFF2-40B4-BE49-F238E27FC236}">
                <a16:creationId xmlns:a16="http://schemas.microsoft.com/office/drawing/2014/main" id="{7776C5A4-4B6A-12FB-8259-75B9AD6EE2D4}"/>
              </a:ext>
            </a:extLst>
          </p:cNvPr>
          <p:cNvCxnSpPr>
            <a:cxnSpLocks/>
            <a:stCxn id="110" idx="3"/>
            <a:endCxn id="105" idx="3"/>
          </p:cNvCxnSpPr>
          <p:nvPr/>
        </p:nvCxnSpPr>
        <p:spPr>
          <a:xfrm flipH="1">
            <a:off x="8171996" y="656692"/>
            <a:ext cx="137983" cy="2157045"/>
          </a:xfrm>
          <a:prstGeom prst="bentConnector3">
            <a:avLst>
              <a:gd name="adj1" fmla="val -165673"/>
            </a:avLst>
          </a:prstGeom>
          <a:ln w="19050">
            <a:solidFill>
              <a:srgbClr val="9E7800"/>
            </a:solidFill>
            <a:prstDash val="solid"/>
            <a:headEnd type="non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文字方塊 115">
            <a:extLst>
              <a:ext uri="{FF2B5EF4-FFF2-40B4-BE49-F238E27FC236}">
                <a16:creationId xmlns:a16="http://schemas.microsoft.com/office/drawing/2014/main" id="{AFC95E08-84BB-29F4-74F1-37AFDF69A1D8}"/>
              </a:ext>
            </a:extLst>
          </p:cNvPr>
          <p:cNvSpPr txBox="1"/>
          <p:nvPr/>
        </p:nvSpPr>
        <p:spPr>
          <a:xfrm>
            <a:off x="6848657" y="2152607"/>
            <a:ext cx="294468" cy="20503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 </a:t>
            </a:r>
            <a:r>
              <a:rPr lang="en-US" altLang="zh-TW" sz="1000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x</a:t>
            </a:r>
            <a:endParaRPr lang="en-US" altLang="zh-TW" sz="1000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grpSp>
        <p:nvGrpSpPr>
          <p:cNvPr id="117" name="群組 116">
            <a:extLst>
              <a:ext uri="{FF2B5EF4-FFF2-40B4-BE49-F238E27FC236}">
                <a16:creationId xmlns:a16="http://schemas.microsoft.com/office/drawing/2014/main" id="{695CC539-B00C-996D-C817-E1CCB0E8B44C}"/>
              </a:ext>
            </a:extLst>
          </p:cNvPr>
          <p:cNvGrpSpPr/>
          <p:nvPr/>
        </p:nvGrpSpPr>
        <p:grpSpPr>
          <a:xfrm>
            <a:off x="6804248" y="3167464"/>
            <a:ext cx="1871696" cy="549568"/>
            <a:chOff x="6804248" y="2996952"/>
            <a:chExt cx="1871696" cy="549568"/>
          </a:xfrm>
        </p:grpSpPr>
        <p:sp>
          <p:nvSpPr>
            <p:cNvPr id="119" name="矩形 118">
              <a:extLst>
                <a:ext uri="{FF2B5EF4-FFF2-40B4-BE49-F238E27FC236}">
                  <a16:creationId xmlns:a16="http://schemas.microsoft.com/office/drawing/2014/main" id="{A8F57A45-9C5F-E502-A914-ADCEA87876FD}"/>
                </a:ext>
              </a:extLst>
            </p:cNvPr>
            <p:cNvSpPr/>
            <p:nvPr/>
          </p:nvSpPr>
          <p:spPr>
            <a:xfrm>
              <a:off x="6804248" y="2996952"/>
              <a:ext cx="1871696" cy="549568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19050">
              <a:solidFill>
                <a:schemeClr val="accent5">
                  <a:lumMod val="75000"/>
                </a:schemeClr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36000" rIns="36000" bIns="0" rtlCol="0" anchor="t" anchorCtr="0"/>
            <a:lstStyle/>
            <a:p>
              <a:pPr algn="r">
                <a:lnSpc>
                  <a:spcPts val="1000"/>
                </a:lnSpc>
              </a:pPr>
              <a:r>
                <a:rPr lang="en-US" altLang="zh-TW" sz="10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Native Multimodal</a:t>
              </a:r>
            </a:p>
          </p:txBody>
        </p:sp>
        <p:sp>
          <p:nvSpPr>
            <p:cNvPr id="120" name="矩形 119">
              <a:extLst>
                <a:ext uri="{FF2B5EF4-FFF2-40B4-BE49-F238E27FC236}">
                  <a16:creationId xmlns:a16="http://schemas.microsoft.com/office/drawing/2014/main" id="{23562B40-47BA-9A31-61BE-87AF074D3171}"/>
                </a:ext>
              </a:extLst>
            </p:cNvPr>
            <p:cNvSpPr/>
            <p:nvPr/>
          </p:nvSpPr>
          <p:spPr>
            <a:xfrm>
              <a:off x="6876255" y="3202232"/>
              <a:ext cx="504056" cy="268224"/>
            </a:xfrm>
            <a:prstGeom prst="rect">
              <a:avLst/>
            </a:prstGeom>
            <a:solidFill>
              <a:schemeClr val="bg1">
                <a:alpha val="90000"/>
              </a:schemeClr>
            </a:solidFill>
            <a:ln w="38100"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000"/>
                </a:lnSpc>
              </a:pPr>
              <a:r>
                <a:rPr lang="en-US" altLang="zh-TW" sz="1400" b="1" baseline="-25000" dirty="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Text</a:t>
              </a:r>
            </a:p>
          </p:txBody>
        </p:sp>
        <p:sp>
          <p:nvSpPr>
            <p:cNvPr id="121" name="矩形 120">
              <a:extLst>
                <a:ext uri="{FF2B5EF4-FFF2-40B4-BE49-F238E27FC236}">
                  <a16:creationId xmlns:a16="http://schemas.microsoft.com/office/drawing/2014/main" id="{4097F1C0-C540-BBED-14F3-7C1A71B69672}"/>
                </a:ext>
              </a:extLst>
            </p:cNvPr>
            <p:cNvSpPr/>
            <p:nvPr/>
          </p:nvSpPr>
          <p:spPr>
            <a:xfrm>
              <a:off x="7481887" y="3202232"/>
              <a:ext cx="504056" cy="268224"/>
            </a:xfrm>
            <a:prstGeom prst="rect">
              <a:avLst/>
            </a:prstGeom>
            <a:solidFill>
              <a:schemeClr val="bg1">
                <a:alpha val="90000"/>
              </a:schemeClr>
            </a:solidFill>
            <a:ln w="38100"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000"/>
                </a:lnSpc>
              </a:pPr>
              <a:r>
                <a:rPr lang="en-US" altLang="zh-TW" sz="1400" b="1" baseline="-25000" dirty="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Image</a:t>
              </a:r>
            </a:p>
          </p:txBody>
        </p:sp>
        <p:sp>
          <p:nvSpPr>
            <p:cNvPr id="122" name="矩形 121">
              <a:extLst>
                <a:ext uri="{FF2B5EF4-FFF2-40B4-BE49-F238E27FC236}">
                  <a16:creationId xmlns:a16="http://schemas.microsoft.com/office/drawing/2014/main" id="{0515ED81-7E3E-98B4-D8D9-14B110FAFC23}"/>
                </a:ext>
              </a:extLst>
            </p:cNvPr>
            <p:cNvSpPr/>
            <p:nvPr/>
          </p:nvSpPr>
          <p:spPr>
            <a:xfrm>
              <a:off x="8083837" y="3187755"/>
              <a:ext cx="504056" cy="268224"/>
            </a:xfrm>
            <a:prstGeom prst="rect">
              <a:avLst/>
            </a:prstGeom>
            <a:solidFill>
              <a:schemeClr val="bg1">
                <a:alpha val="90000"/>
              </a:schemeClr>
            </a:solidFill>
            <a:ln w="38100"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000"/>
                </a:lnSpc>
              </a:pPr>
              <a:r>
                <a:rPr lang="en-US" altLang="zh-TW" sz="1400" b="1" baseline="-25000" dirty="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Audio</a:t>
              </a:r>
            </a:p>
          </p:txBody>
        </p:sp>
      </p:grpSp>
      <p:cxnSp>
        <p:nvCxnSpPr>
          <p:cNvPr id="118" name="直線單箭頭接點 117">
            <a:extLst>
              <a:ext uri="{FF2B5EF4-FFF2-40B4-BE49-F238E27FC236}">
                <a16:creationId xmlns:a16="http://schemas.microsoft.com/office/drawing/2014/main" id="{8BADC09C-D0ED-8C40-E254-FDB2B658198E}"/>
              </a:ext>
            </a:extLst>
          </p:cNvPr>
          <p:cNvCxnSpPr>
            <a:cxnSpLocks/>
            <a:stCxn id="119" idx="0"/>
            <a:endCxn id="105" idx="2"/>
          </p:cNvCxnSpPr>
          <p:nvPr/>
        </p:nvCxnSpPr>
        <p:spPr>
          <a:xfrm flipH="1" flipV="1">
            <a:off x="7735756" y="2924944"/>
            <a:ext cx="4340" cy="24252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箭號: 向下 123">
            <a:extLst>
              <a:ext uri="{FF2B5EF4-FFF2-40B4-BE49-F238E27FC236}">
                <a16:creationId xmlns:a16="http://schemas.microsoft.com/office/drawing/2014/main" id="{461C5070-2FA5-BBB8-6FD8-1326CA8E0764}"/>
              </a:ext>
            </a:extLst>
          </p:cNvPr>
          <p:cNvSpPr/>
          <p:nvPr/>
        </p:nvSpPr>
        <p:spPr>
          <a:xfrm rot="10800000">
            <a:off x="7733911" y="332655"/>
            <a:ext cx="620447" cy="3790689"/>
          </a:xfrm>
          <a:prstGeom prst="downArrow">
            <a:avLst>
              <a:gd name="adj1" fmla="val 73212"/>
              <a:gd name="adj2" fmla="val 18262"/>
            </a:avLst>
          </a:prstGeom>
          <a:solidFill>
            <a:schemeClr val="accent2">
              <a:lumMod val="50000"/>
              <a:alpha val="60000"/>
            </a:schemeClr>
          </a:solidFill>
          <a:ln w="127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6" name="箭號: 向下 125">
            <a:extLst>
              <a:ext uri="{FF2B5EF4-FFF2-40B4-BE49-F238E27FC236}">
                <a16:creationId xmlns:a16="http://schemas.microsoft.com/office/drawing/2014/main" id="{E0C06F27-0D34-95D9-C9E3-99A1C278D9A0}"/>
              </a:ext>
            </a:extLst>
          </p:cNvPr>
          <p:cNvSpPr/>
          <p:nvPr/>
        </p:nvSpPr>
        <p:spPr>
          <a:xfrm rot="10800000">
            <a:off x="6516217" y="332654"/>
            <a:ext cx="203915" cy="3790688"/>
          </a:xfrm>
          <a:prstGeom prst="downArrow">
            <a:avLst>
              <a:gd name="adj1" fmla="val 50000"/>
              <a:gd name="adj2" fmla="val 18262"/>
            </a:avLst>
          </a:prstGeom>
          <a:solidFill>
            <a:schemeClr val="accent2">
              <a:lumMod val="50000"/>
              <a:alpha val="60000"/>
            </a:schemeClr>
          </a:solidFill>
          <a:ln w="127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CE811FF5-84F4-15CE-BC55-CD103BF82807}"/>
              </a:ext>
            </a:extLst>
          </p:cNvPr>
          <p:cNvSpPr txBox="1"/>
          <p:nvPr/>
        </p:nvSpPr>
        <p:spPr>
          <a:xfrm>
            <a:off x="3897446" y="5652235"/>
            <a:ext cx="511492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200" b="1" u="none" strike="noStrike" dirty="0">
                <a:effectLst/>
                <a:latin typeface="Google Sans"/>
              </a:rPr>
              <a:t>Technical Substrate</a:t>
            </a:r>
            <a:r>
              <a:rPr lang="zh-TW" altLang="zh-TW" dirty="0"/>
              <a:t>: All 4 frameworks natively support advanced </a:t>
            </a:r>
            <a:r>
              <a:rPr lang="zh-TW" altLang="zh-TW" sz="1200" b="1" u="none" strike="noStrike" dirty="0">
                <a:effectLst/>
                <a:latin typeface="Google Sans"/>
              </a:rPr>
              <a:t>8-bit Optimizers</a:t>
            </a:r>
            <a:r>
              <a:rPr lang="zh-TW" altLang="zh-TW" dirty="0"/>
              <a:t> (e.g., PagedAdamW) and </a:t>
            </a:r>
            <a:r>
              <a:rPr lang="zh-TW" altLang="zh-TW" sz="1200" b="1" u="none" strike="noStrike" dirty="0">
                <a:effectLst/>
                <a:latin typeface="Google Sans"/>
              </a:rPr>
              <a:t>4-bit/8-bit Quantization (QLoRA)</a:t>
            </a:r>
            <a:r>
              <a:rPr lang="zh-TW" altLang="zh-TW" dirty="0"/>
              <a:t> to minimize VRAM footprints.</a:t>
            </a:r>
            <a:endParaRPr lang="zh-TW" altLang="en-US" dirty="0"/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7D8B23D8-7D4E-D23F-6184-63C20203A191}"/>
              </a:ext>
            </a:extLst>
          </p:cNvPr>
          <p:cNvSpPr txBox="1"/>
          <p:nvPr/>
        </p:nvSpPr>
        <p:spPr>
          <a:xfrm>
            <a:off x="4711114" y="4506426"/>
            <a:ext cx="2009018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b="1" u="none" strike="noStrike" dirty="0">
                <a:effectLst/>
                <a:latin typeface="Google Sans"/>
              </a:rPr>
              <a:t>Attention</a:t>
            </a:r>
            <a:br>
              <a:rPr lang="en-US" altLang="zh-TW" sz="1200" b="1" u="none" strike="noStrike" dirty="0">
                <a:effectLst/>
                <a:latin typeface="Google Sans"/>
              </a:rPr>
            </a:br>
            <a:r>
              <a:rPr lang="en-US" altLang="zh-TW" sz="1200" b="1" u="none" strike="noStrike" dirty="0">
                <a:effectLst/>
                <a:latin typeface="Google Sans"/>
              </a:rPr>
              <a:t>Model Weights</a:t>
            </a:r>
            <a:br>
              <a:rPr lang="en-US" altLang="zh-TW" sz="1200" b="1" u="none" strike="noStrike" dirty="0">
                <a:effectLst/>
                <a:latin typeface="Google Sans"/>
              </a:rPr>
            </a:br>
            <a:r>
              <a:rPr lang="en-US" altLang="zh-TW" sz="1200" b="1" u="none" strike="noStrike" dirty="0">
                <a:effectLst/>
                <a:latin typeface="Google Sans"/>
              </a:rPr>
              <a:t>8K * 32 bit </a:t>
            </a:r>
            <a:r>
              <a:rPr lang="en-US" altLang="zh-TW" sz="1200" b="1" u="none" strike="noStrike" dirty="0">
                <a:effectLst/>
                <a:latin typeface="Google Sans"/>
                <a:sym typeface="Wingdings" panose="05000000000000000000" pitchFamily="2" charset="2"/>
              </a:rPr>
              <a:t> 2K * 8 bit</a:t>
            </a:r>
            <a:br>
              <a:rPr lang="en-US" altLang="zh-TW" sz="1200" b="1" u="none" strike="noStrike" dirty="0">
                <a:effectLst/>
                <a:latin typeface="Google Sans"/>
                <a:sym typeface="Wingdings" panose="05000000000000000000" pitchFamily="2" charset="2"/>
              </a:rPr>
            </a:br>
            <a:r>
              <a:rPr lang="en-US" altLang="zh-TW" sz="1200" b="1" u="none" strike="noStrike" dirty="0">
                <a:effectLst/>
                <a:latin typeface="Google Sans"/>
                <a:sym typeface="Wingdings" panose="05000000000000000000" pitchFamily="2" charset="2"/>
              </a:rPr>
              <a:t>Freeze</a:t>
            </a:r>
            <a:br>
              <a:rPr lang="en-US" altLang="zh-TW" sz="1200" b="1" u="none" strike="noStrike" dirty="0">
                <a:effectLst/>
                <a:latin typeface="Google Sans"/>
                <a:sym typeface="Wingdings" panose="05000000000000000000" pitchFamily="2" charset="2"/>
              </a:rPr>
            </a:br>
            <a:r>
              <a:rPr lang="en-US" altLang="zh-TW" sz="1200" b="1" u="none" strike="noStrike" dirty="0">
                <a:effectLst/>
                <a:latin typeface="Google Sans"/>
                <a:sym typeface="Wingdings" panose="05000000000000000000" pitchFamily="2" charset="2"/>
              </a:rPr>
              <a:t>+ Adapter (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0169306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6C411E7-B83B-AA93-CDBD-221DCB5EF1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手繪多邊形: 圖案 75">
            <a:extLst>
              <a:ext uri="{FF2B5EF4-FFF2-40B4-BE49-F238E27FC236}">
                <a16:creationId xmlns:a16="http://schemas.microsoft.com/office/drawing/2014/main" id="{DB142420-44DD-614C-6C4A-F91FF53DC750}"/>
              </a:ext>
            </a:extLst>
          </p:cNvPr>
          <p:cNvSpPr/>
          <p:nvPr/>
        </p:nvSpPr>
        <p:spPr>
          <a:xfrm>
            <a:off x="2246735" y="3191153"/>
            <a:ext cx="5128892" cy="1496852"/>
          </a:xfrm>
          <a:custGeom>
            <a:avLst/>
            <a:gdLst>
              <a:gd name="csX0" fmla="*/ 0 w 5086350"/>
              <a:gd name="csY0" fmla="*/ 0 h 1476375"/>
              <a:gd name="csX1" fmla="*/ 1238250 w 5086350"/>
              <a:gd name="csY1" fmla="*/ 1028700 h 1476375"/>
              <a:gd name="csX2" fmla="*/ 5086350 w 5086350"/>
              <a:gd name="csY2" fmla="*/ 1476375 h 1476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86350" h="1476375">
                <a:moveTo>
                  <a:pt x="0" y="0"/>
                </a:moveTo>
                <a:cubicBezTo>
                  <a:pt x="195262" y="391319"/>
                  <a:pt x="390525" y="782638"/>
                  <a:pt x="1238250" y="1028700"/>
                </a:cubicBezTo>
                <a:cubicBezTo>
                  <a:pt x="2085975" y="1274762"/>
                  <a:pt x="3586162" y="1375568"/>
                  <a:pt x="5086350" y="1476375"/>
                </a:cubicBezTo>
              </a:path>
            </a:pathLst>
          </a:custGeom>
          <a:noFill/>
          <a:ln w="38100">
            <a:solidFill>
              <a:schemeClr val="tx2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83469DEE-4DD1-FF18-FCEF-304AF6090484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Family</a:t>
            </a:r>
            <a:b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</a:b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What Google want to do?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pSp>
        <p:nvGrpSpPr>
          <p:cNvPr id="27" name="群組 26">
            <a:extLst>
              <a:ext uri="{FF2B5EF4-FFF2-40B4-BE49-F238E27FC236}">
                <a16:creationId xmlns:a16="http://schemas.microsoft.com/office/drawing/2014/main" id="{4F5097B7-39E3-97CA-28D8-B0E83482DCB4}"/>
              </a:ext>
            </a:extLst>
          </p:cNvPr>
          <p:cNvGrpSpPr/>
          <p:nvPr/>
        </p:nvGrpSpPr>
        <p:grpSpPr>
          <a:xfrm>
            <a:off x="1058349" y="1124744"/>
            <a:ext cx="2094003" cy="2114742"/>
            <a:chOff x="1011755" y="2851680"/>
            <a:chExt cx="2094003" cy="2114742"/>
          </a:xfrm>
        </p:grpSpPr>
        <p:sp>
          <p:nvSpPr>
            <p:cNvPr id="29" name="弧形 28">
              <a:extLst>
                <a:ext uri="{FF2B5EF4-FFF2-40B4-BE49-F238E27FC236}">
                  <a16:creationId xmlns:a16="http://schemas.microsoft.com/office/drawing/2014/main" id="{49EF012B-3245-8F87-241B-8358826C1259}"/>
                </a:ext>
              </a:extLst>
            </p:cNvPr>
            <p:cNvSpPr/>
            <p:nvPr/>
          </p:nvSpPr>
          <p:spPr>
            <a:xfrm>
              <a:off x="1050655" y="2869831"/>
              <a:ext cx="2055103" cy="2096591"/>
            </a:xfrm>
            <a:prstGeom prst="arc">
              <a:avLst>
                <a:gd name="adj1" fmla="val 16400852"/>
                <a:gd name="adj2" fmla="val 12348078"/>
              </a:avLst>
            </a:prstGeom>
            <a:solidFill>
              <a:schemeClr val="accent1">
                <a:lumMod val="20000"/>
                <a:lumOff val="80000"/>
                <a:alpha val="40000"/>
              </a:schemeClr>
            </a:solidFill>
            <a:ln w="25400">
              <a:solidFill>
                <a:schemeClr val="accent1">
                  <a:lumMod val="40000"/>
                  <a:lumOff val="60000"/>
                  <a:alpha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wrap="none" lIns="1097280" tIns="0" rIns="0" bIns="91440" rtlCol="0" anchor="b" anchorCtr="1"/>
            <a:lstStyle/>
            <a:p>
              <a:pPr algn="ctr"/>
              <a:endParaRPr lang="zh-TW" altLang="en-US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33" name="雲朵形 32">
              <a:extLst>
                <a:ext uri="{FF2B5EF4-FFF2-40B4-BE49-F238E27FC236}">
                  <a16:creationId xmlns:a16="http://schemas.microsoft.com/office/drawing/2014/main" id="{258F741E-A400-B1A1-C0E1-E40141FB3D6B}"/>
                </a:ext>
              </a:extLst>
            </p:cNvPr>
            <p:cNvSpPr/>
            <p:nvPr/>
          </p:nvSpPr>
          <p:spPr>
            <a:xfrm>
              <a:off x="1011755" y="2851680"/>
              <a:ext cx="1400005" cy="818598"/>
            </a:xfrm>
            <a:prstGeom prst="cloud">
              <a:avLst/>
            </a:prstGeom>
            <a:solidFill>
              <a:schemeClr val="accent1">
                <a:lumMod val="20000"/>
                <a:lumOff val="80000"/>
                <a:alpha val="90000"/>
              </a:schemeClr>
            </a:solidFill>
            <a:ln w="38100"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sz="1600" dirty="0">
                <a:solidFill>
                  <a:schemeClr val="tx2"/>
                </a:solidFill>
              </a:endParaRPr>
            </a:p>
          </p:txBody>
        </p:sp>
        <p:sp>
          <p:nvSpPr>
            <p:cNvPr id="34" name="文字方塊 33">
              <a:extLst>
                <a:ext uri="{FF2B5EF4-FFF2-40B4-BE49-F238E27FC236}">
                  <a16:creationId xmlns:a16="http://schemas.microsoft.com/office/drawing/2014/main" id="{05798D8D-12C9-BD74-7833-15AA3D8351CD}"/>
                </a:ext>
              </a:extLst>
            </p:cNvPr>
            <p:cNvSpPr txBox="1"/>
            <p:nvPr/>
          </p:nvSpPr>
          <p:spPr>
            <a:xfrm>
              <a:off x="1909740" y="4318350"/>
              <a:ext cx="1024639" cy="323239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dirty="0">
                  <a:solidFill>
                    <a:schemeClr val="accent1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Gemma 4</a:t>
              </a:r>
            </a:p>
          </p:txBody>
        </p:sp>
        <p:cxnSp>
          <p:nvCxnSpPr>
            <p:cNvPr id="35" name="直線單箭頭接點 34">
              <a:extLst>
                <a:ext uri="{FF2B5EF4-FFF2-40B4-BE49-F238E27FC236}">
                  <a16:creationId xmlns:a16="http://schemas.microsoft.com/office/drawing/2014/main" id="{6692E3A9-BA79-89AF-BC80-BAD6C797C311}"/>
                </a:ext>
              </a:extLst>
            </p:cNvPr>
            <p:cNvCxnSpPr>
              <a:cxnSpLocks/>
              <a:stCxn id="36" idx="2"/>
              <a:endCxn id="34" idx="0"/>
            </p:cNvCxnSpPr>
            <p:nvPr/>
          </p:nvCxnSpPr>
          <p:spPr>
            <a:xfrm>
              <a:off x="1620496" y="3434549"/>
              <a:ext cx="801564" cy="883801"/>
            </a:xfrm>
            <a:prstGeom prst="straightConnector1">
              <a:avLst/>
            </a:prstGeom>
            <a:ln w="25400">
              <a:solidFill>
                <a:schemeClr val="accent6">
                  <a:alpha val="80000"/>
                </a:schemeClr>
              </a:solidFill>
              <a:headEnd w="med" len="lg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文字方塊 35">
              <a:extLst>
                <a:ext uri="{FF2B5EF4-FFF2-40B4-BE49-F238E27FC236}">
                  <a16:creationId xmlns:a16="http://schemas.microsoft.com/office/drawing/2014/main" id="{BDEF055A-79F3-3A97-FAEC-090DB3769A9E}"/>
                </a:ext>
              </a:extLst>
            </p:cNvPr>
            <p:cNvSpPr txBox="1"/>
            <p:nvPr/>
          </p:nvSpPr>
          <p:spPr>
            <a:xfrm>
              <a:off x="1108176" y="3065217"/>
              <a:ext cx="1024639" cy="369332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dirty="0">
                  <a:solidFill>
                    <a:schemeClr val="accent1">
                      <a:lumMod val="60000"/>
                      <a:lumOff val="40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Gemini 3</a:t>
              </a:r>
            </a:p>
          </p:txBody>
        </p:sp>
      </p:grpSp>
      <p:cxnSp>
        <p:nvCxnSpPr>
          <p:cNvPr id="40" name="直線單箭頭接點 39">
            <a:extLst>
              <a:ext uri="{FF2B5EF4-FFF2-40B4-BE49-F238E27FC236}">
                <a16:creationId xmlns:a16="http://schemas.microsoft.com/office/drawing/2014/main" id="{BA66FC74-B5BA-659F-37FA-5E1165A34614}"/>
              </a:ext>
            </a:extLst>
          </p:cNvPr>
          <p:cNvCxnSpPr>
            <a:cxnSpLocks/>
          </p:cNvCxnSpPr>
          <p:nvPr/>
        </p:nvCxnSpPr>
        <p:spPr>
          <a:xfrm>
            <a:off x="827584" y="6237312"/>
            <a:ext cx="6120680" cy="0"/>
          </a:xfrm>
          <a:prstGeom prst="straightConnector1">
            <a:avLst/>
          </a:prstGeom>
          <a:ln w="2540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線單箭頭接點 41">
            <a:extLst>
              <a:ext uri="{FF2B5EF4-FFF2-40B4-BE49-F238E27FC236}">
                <a16:creationId xmlns:a16="http://schemas.microsoft.com/office/drawing/2014/main" id="{413BE016-3CE1-4054-E1EB-B017E354E072}"/>
              </a:ext>
            </a:extLst>
          </p:cNvPr>
          <p:cNvCxnSpPr>
            <a:cxnSpLocks/>
          </p:cNvCxnSpPr>
          <p:nvPr/>
        </p:nvCxnSpPr>
        <p:spPr>
          <a:xfrm flipV="1">
            <a:off x="1043608" y="4448937"/>
            <a:ext cx="0" cy="2076407"/>
          </a:xfrm>
          <a:prstGeom prst="straightConnector1">
            <a:avLst/>
          </a:prstGeom>
          <a:ln w="2540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5" name="圖形 44" descr="伺服器 以實心填滿">
            <a:extLst>
              <a:ext uri="{FF2B5EF4-FFF2-40B4-BE49-F238E27FC236}">
                <a16:creationId xmlns:a16="http://schemas.microsoft.com/office/drawing/2014/main" id="{1761E6E9-6064-2BD8-5AB2-BDE406B6BC2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59438" y="3318741"/>
            <a:ext cx="412362" cy="412362"/>
          </a:xfrm>
          <a:prstGeom prst="rect">
            <a:avLst/>
          </a:prstGeom>
        </p:spPr>
      </p:pic>
      <p:pic>
        <p:nvPicPr>
          <p:cNvPr id="50" name="圖形 49" descr="筆記型電腦 以實心填滿">
            <a:extLst>
              <a:ext uri="{FF2B5EF4-FFF2-40B4-BE49-F238E27FC236}">
                <a16:creationId xmlns:a16="http://schemas.microsoft.com/office/drawing/2014/main" id="{FC8941A7-B999-BD19-CBDF-074195E5E0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879721" y="4240777"/>
            <a:ext cx="412359" cy="412359"/>
          </a:xfrm>
          <a:prstGeom prst="rect">
            <a:avLst/>
          </a:prstGeom>
        </p:spPr>
      </p:pic>
      <p:pic>
        <p:nvPicPr>
          <p:cNvPr id="56" name="圖形 55" descr="電腦 以實心填滿">
            <a:extLst>
              <a:ext uri="{FF2B5EF4-FFF2-40B4-BE49-F238E27FC236}">
                <a16:creationId xmlns:a16="http://schemas.microsoft.com/office/drawing/2014/main" id="{B20B6238-EF3A-CC7E-1B8B-6CF785CB175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303655" y="4149080"/>
            <a:ext cx="412361" cy="412361"/>
          </a:xfrm>
          <a:prstGeom prst="rect">
            <a:avLst/>
          </a:prstGeom>
        </p:spPr>
      </p:pic>
      <p:pic>
        <p:nvPicPr>
          <p:cNvPr id="58" name="圖形 57" descr="智慧型手機 以實心填滿">
            <a:extLst>
              <a:ext uri="{FF2B5EF4-FFF2-40B4-BE49-F238E27FC236}">
                <a16:creationId xmlns:a16="http://schemas.microsoft.com/office/drawing/2014/main" id="{EB3ADAE3-7512-56C4-A2A2-2A0EFEB9D1F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128526" y="4496127"/>
            <a:ext cx="320867" cy="320867"/>
          </a:xfrm>
          <a:prstGeom prst="rect">
            <a:avLst/>
          </a:prstGeom>
        </p:spPr>
      </p:pic>
      <p:pic>
        <p:nvPicPr>
          <p:cNvPr id="71" name="圖形 70" descr="頭戴式耳機 以實心填滿">
            <a:extLst>
              <a:ext uri="{FF2B5EF4-FFF2-40B4-BE49-F238E27FC236}">
                <a16:creationId xmlns:a16="http://schemas.microsoft.com/office/drawing/2014/main" id="{364AD835-DAD7-5A21-2ADD-7A073E6586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78698" y="4548293"/>
            <a:ext cx="320867" cy="320867"/>
          </a:xfrm>
          <a:prstGeom prst="rect">
            <a:avLst/>
          </a:prstGeom>
        </p:spPr>
      </p:pic>
      <p:graphicFrame>
        <p:nvGraphicFramePr>
          <p:cNvPr id="74" name="表格 73">
            <a:extLst>
              <a:ext uri="{FF2B5EF4-FFF2-40B4-BE49-F238E27FC236}">
                <a16:creationId xmlns:a16="http://schemas.microsoft.com/office/drawing/2014/main" id="{5A4DA4C2-8EC2-84D7-9604-8A29C48520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3617566"/>
              </p:ext>
            </p:extLst>
          </p:nvPr>
        </p:nvGraphicFramePr>
        <p:xfrm>
          <a:off x="2051720" y="3754450"/>
          <a:ext cx="864096" cy="6356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4096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36164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Server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31B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6991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Dense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graphicFrame>
        <p:nvGraphicFramePr>
          <p:cNvPr id="79" name="表格 78">
            <a:extLst>
              <a:ext uri="{FF2B5EF4-FFF2-40B4-BE49-F238E27FC236}">
                <a16:creationId xmlns:a16="http://schemas.microsoft.com/office/drawing/2014/main" id="{4AB55D63-30D9-29E2-2723-1288B1F5D4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0234528"/>
              </p:ext>
            </p:extLst>
          </p:nvPr>
        </p:nvGraphicFramePr>
        <p:xfrm>
          <a:off x="6199498" y="4927838"/>
          <a:ext cx="864096" cy="7692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4096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32994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Mobile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E2B/E4B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0173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Dense PLE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0173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Voice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7846459"/>
                  </a:ext>
                </a:extLst>
              </a:tr>
            </a:tbl>
          </a:graphicData>
        </a:graphic>
      </p:graphicFrame>
      <p:graphicFrame>
        <p:nvGraphicFramePr>
          <p:cNvPr id="81" name="表格 80">
            <a:extLst>
              <a:ext uri="{FF2B5EF4-FFF2-40B4-BE49-F238E27FC236}">
                <a16:creationId xmlns:a16="http://schemas.microsoft.com/office/drawing/2014/main" id="{83E82528-E38F-18DE-857D-8461D99B5C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3969370"/>
              </p:ext>
            </p:extLst>
          </p:nvPr>
        </p:nvGraphicFramePr>
        <p:xfrm>
          <a:off x="2983972" y="3754450"/>
          <a:ext cx="1081330" cy="6397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1330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35755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Server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26B</a:t>
                      </a: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7401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MoE, Diffusion</a:t>
                      </a: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graphicFrame>
        <p:nvGraphicFramePr>
          <p:cNvPr id="83" name="表格 82">
            <a:extLst>
              <a:ext uri="{FF2B5EF4-FFF2-40B4-BE49-F238E27FC236}">
                <a16:creationId xmlns:a16="http://schemas.microsoft.com/office/drawing/2014/main" id="{6AFA87CF-9971-8AF2-D97F-3BA29264E3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6454588"/>
              </p:ext>
            </p:extLst>
          </p:nvPr>
        </p:nvGraphicFramePr>
        <p:xfrm>
          <a:off x="4283969" y="4562300"/>
          <a:ext cx="1008111" cy="8150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8111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37475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PC/NB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12B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2014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Dense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2014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3925369"/>
                  </a:ext>
                </a:extLst>
              </a:tr>
            </a:tbl>
          </a:graphicData>
        </a:graphic>
      </p:graphicFrame>
      <p:sp>
        <p:nvSpPr>
          <p:cNvPr id="85" name="文字方塊 84">
            <a:extLst>
              <a:ext uri="{FF2B5EF4-FFF2-40B4-BE49-F238E27FC236}">
                <a16:creationId xmlns:a16="http://schemas.microsoft.com/office/drawing/2014/main" id="{80F6C765-5847-BC8F-B37A-A0795E539CB8}"/>
              </a:ext>
            </a:extLst>
          </p:cNvPr>
          <p:cNvSpPr txBox="1"/>
          <p:nvPr/>
        </p:nvSpPr>
        <p:spPr>
          <a:xfrm>
            <a:off x="6053350" y="6006479"/>
            <a:ext cx="577970" cy="442035"/>
          </a:xfrm>
          <a:prstGeom prst="rect">
            <a:avLst/>
          </a:prstGeom>
          <a:noFill/>
        </p:spPr>
        <p:txBody>
          <a:bodyPr wrap="none" lIns="36000" tIns="36000" rIns="36000" bIns="36000" anchor="ctr" anchorCtr="1">
            <a:spAutoFit/>
          </a:bodyPr>
          <a:lstStyle/>
          <a:p>
            <a:r>
              <a:rPr lang="en-US" altLang="zh-TW" sz="1200" dirty="0"/>
              <a:t>Efficient</a:t>
            </a:r>
          </a:p>
          <a:p>
            <a:r>
              <a:rPr lang="en-US" altLang="zh-TW" sz="1200" dirty="0"/>
              <a:t>Index</a:t>
            </a:r>
            <a:endParaRPr lang="zh-TW" altLang="en-US" sz="1200" dirty="0"/>
          </a:p>
        </p:txBody>
      </p:sp>
      <p:sp>
        <p:nvSpPr>
          <p:cNvPr id="87" name="文字方塊 86">
            <a:extLst>
              <a:ext uri="{FF2B5EF4-FFF2-40B4-BE49-F238E27FC236}">
                <a16:creationId xmlns:a16="http://schemas.microsoft.com/office/drawing/2014/main" id="{58CF1356-865F-6B6D-1590-5D8CDEBDE812}"/>
              </a:ext>
            </a:extLst>
          </p:cNvPr>
          <p:cNvSpPr txBox="1"/>
          <p:nvPr/>
        </p:nvSpPr>
        <p:spPr>
          <a:xfrm>
            <a:off x="230251" y="4638728"/>
            <a:ext cx="784052" cy="442035"/>
          </a:xfrm>
          <a:prstGeom prst="rect">
            <a:avLst/>
          </a:prstGeom>
          <a:noFill/>
        </p:spPr>
        <p:txBody>
          <a:bodyPr wrap="none" lIns="36000" tIns="36000" rIns="36000" bIns="36000" anchor="ctr" anchorCtr="1">
            <a:spAutoFit/>
          </a:bodyPr>
          <a:lstStyle/>
          <a:p>
            <a:pPr algn="r"/>
            <a:r>
              <a:rPr lang="en-US" altLang="zh-TW" sz="1200" dirty="0"/>
              <a:t>Total</a:t>
            </a:r>
          </a:p>
          <a:p>
            <a:pPr algn="r"/>
            <a:r>
              <a:rPr lang="en-US" altLang="zh-TW" sz="1200" dirty="0"/>
              <a:t>Parameters</a:t>
            </a:r>
            <a:endParaRPr lang="zh-TW" altLang="en-US" sz="1200" dirty="0"/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66D44867-B104-0903-3C45-F2EE647DC6BB}"/>
              </a:ext>
            </a:extLst>
          </p:cNvPr>
          <p:cNvSpPr/>
          <p:nvPr/>
        </p:nvSpPr>
        <p:spPr>
          <a:xfrm>
            <a:off x="4932040" y="3171520"/>
            <a:ext cx="1871696" cy="549568"/>
          </a:xfrm>
          <a:prstGeom prst="rect">
            <a:avLst/>
          </a:prstGeom>
          <a:noFill/>
          <a:ln w="19050">
            <a:solidFill>
              <a:schemeClr val="accent5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Ins="36000" bIns="0" rtlCol="0" anchor="t" anchorCtr="0"/>
          <a:lstStyle/>
          <a:p>
            <a:pPr algn="r">
              <a:lnSpc>
                <a:spcPts val="1000"/>
              </a:lnSpc>
            </a:pPr>
            <a:r>
              <a:rPr lang="en-US" altLang="zh-TW" sz="1000" dirty="0">
                <a:solidFill>
                  <a:schemeClr val="tx1"/>
                </a:solidFill>
                <a:ea typeface="微軟正黑體" panose="020B0604030504040204" pitchFamily="34" charset="-120"/>
              </a:rPr>
              <a:t>Encoder</a:t>
            </a:r>
          </a:p>
        </p:txBody>
      </p:sp>
      <p:sp>
        <p:nvSpPr>
          <p:cNvPr id="89" name="矩形: 圓角 88">
            <a:extLst>
              <a:ext uri="{FF2B5EF4-FFF2-40B4-BE49-F238E27FC236}">
                <a16:creationId xmlns:a16="http://schemas.microsoft.com/office/drawing/2014/main" id="{A67646C1-DFD8-BA2A-CC5C-10161CA7ED57}"/>
              </a:ext>
            </a:extLst>
          </p:cNvPr>
          <p:cNvSpPr/>
          <p:nvPr/>
        </p:nvSpPr>
        <p:spPr>
          <a:xfrm>
            <a:off x="5141627" y="1196752"/>
            <a:ext cx="1440160" cy="1185341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0" name="文字方塊 89">
            <a:extLst>
              <a:ext uri="{FF2B5EF4-FFF2-40B4-BE49-F238E27FC236}">
                <a16:creationId xmlns:a16="http://schemas.microsoft.com/office/drawing/2014/main" id="{7B06E165-4491-05E6-B78B-ADFDDA1CA64B}"/>
              </a:ext>
            </a:extLst>
          </p:cNvPr>
          <p:cNvSpPr txBox="1"/>
          <p:nvPr/>
        </p:nvSpPr>
        <p:spPr>
          <a:xfrm>
            <a:off x="5285643" y="1355062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Feed</a:t>
            </a:r>
            <a:r>
              <a:rPr lang="zh-TW" altLang="en-US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 </a:t>
            </a: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Forward</a:t>
            </a:r>
          </a:p>
        </p:txBody>
      </p:sp>
      <p:sp>
        <p:nvSpPr>
          <p:cNvPr id="91" name="文字方塊 90">
            <a:extLst>
              <a:ext uri="{FF2B5EF4-FFF2-40B4-BE49-F238E27FC236}">
                <a16:creationId xmlns:a16="http://schemas.microsoft.com/office/drawing/2014/main" id="{531DF2AD-7FF2-0714-6E36-CC446DC962D7}"/>
              </a:ext>
            </a:extLst>
          </p:cNvPr>
          <p:cNvSpPr txBox="1"/>
          <p:nvPr/>
        </p:nvSpPr>
        <p:spPr>
          <a:xfrm>
            <a:off x="5285643" y="1724130"/>
            <a:ext cx="1152128" cy="523222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Masked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Multi-Head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Attention</a:t>
            </a:r>
          </a:p>
        </p:txBody>
      </p:sp>
      <p:sp>
        <p:nvSpPr>
          <p:cNvPr id="92" name="文字方塊 91">
            <a:extLst>
              <a:ext uri="{FF2B5EF4-FFF2-40B4-BE49-F238E27FC236}">
                <a16:creationId xmlns:a16="http://schemas.microsoft.com/office/drawing/2014/main" id="{53636687-8688-A018-4D23-3B2298645024}"/>
              </a:ext>
            </a:extLst>
          </p:cNvPr>
          <p:cNvSpPr txBox="1"/>
          <p:nvPr/>
        </p:nvSpPr>
        <p:spPr>
          <a:xfrm>
            <a:off x="5427308" y="2492896"/>
            <a:ext cx="872480" cy="360040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TE + PE</a:t>
            </a:r>
            <a:endParaRPr lang="en-US" altLang="zh-TW" sz="1000" b="1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93" name="文字方塊 92">
            <a:extLst>
              <a:ext uri="{FF2B5EF4-FFF2-40B4-BE49-F238E27FC236}">
                <a16:creationId xmlns:a16="http://schemas.microsoft.com/office/drawing/2014/main" id="{B2FA206B-CCA6-5B6B-0DDA-4A5DA5DD2D31}"/>
              </a:ext>
            </a:extLst>
          </p:cNvPr>
          <p:cNvSpPr txBox="1"/>
          <p:nvPr/>
        </p:nvSpPr>
        <p:spPr>
          <a:xfrm>
            <a:off x="5285643" y="764689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Linear</a:t>
            </a:r>
          </a:p>
        </p:txBody>
      </p:sp>
      <p:sp>
        <p:nvSpPr>
          <p:cNvPr id="94" name="文字方塊 93">
            <a:extLst>
              <a:ext uri="{FF2B5EF4-FFF2-40B4-BE49-F238E27FC236}">
                <a16:creationId xmlns:a16="http://schemas.microsoft.com/office/drawing/2014/main" id="{0A80255E-6A51-A36C-13DA-748ABF412402}"/>
              </a:ext>
            </a:extLst>
          </p:cNvPr>
          <p:cNvSpPr txBox="1"/>
          <p:nvPr/>
        </p:nvSpPr>
        <p:spPr>
          <a:xfrm>
            <a:off x="5285643" y="260648"/>
            <a:ext cx="1152128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Output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Probabilities</a:t>
            </a:r>
          </a:p>
        </p:txBody>
      </p:sp>
      <p:cxnSp>
        <p:nvCxnSpPr>
          <p:cNvPr id="95" name="直線單箭頭接點 94">
            <a:extLst>
              <a:ext uri="{FF2B5EF4-FFF2-40B4-BE49-F238E27FC236}">
                <a16:creationId xmlns:a16="http://schemas.microsoft.com/office/drawing/2014/main" id="{91D7B9D4-C75D-7168-5B92-3A5D3B7E8968}"/>
              </a:ext>
            </a:extLst>
          </p:cNvPr>
          <p:cNvCxnSpPr>
            <a:cxnSpLocks/>
            <a:stCxn id="93" idx="0"/>
            <a:endCxn id="94" idx="2"/>
          </p:cNvCxnSpPr>
          <p:nvPr/>
        </p:nvCxnSpPr>
        <p:spPr>
          <a:xfrm flipV="1">
            <a:off x="5861707" y="620688"/>
            <a:ext cx="0" cy="14400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直線單箭頭接點 95">
            <a:extLst>
              <a:ext uri="{FF2B5EF4-FFF2-40B4-BE49-F238E27FC236}">
                <a16:creationId xmlns:a16="http://schemas.microsoft.com/office/drawing/2014/main" id="{366C12DE-A733-013A-DA7F-FBA2F3F240AD}"/>
              </a:ext>
            </a:extLst>
          </p:cNvPr>
          <p:cNvCxnSpPr>
            <a:cxnSpLocks/>
            <a:stCxn id="90" idx="0"/>
            <a:endCxn id="93" idx="2"/>
          </p:cNvCxnSpPr>
          <p:nvPr/>
        </p:nvCxnSpPr>
        <p:spPr>
          <a:xfrm flipV="1">
            <a:off x="5861707" y="989741"/>
            <a:ext cx="0" cy="36532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直線單箭頭接點 96">
            <a:extLst>
              <a:ext uri="{FF2B5EF4-FFF2-40B4-BE49-F238E27FC236}">
                <a16:creationId xmlns:a16="http://schemas.microsoft.com/office/drawing/2014/main" id="{E1B614CD-EAA5-A65F-1486-35B7067BAAB1}"/>
              </a:ext>
            </a:extLst>
          </p:cNvPr>
          <p:cNvCxnSpPr>
            <a:cxnSpLocks/>
            <a:stCxn id="92" idx="0"/>
            <a:endCxn id="91" idx="2"/>
          </p:cNvCxnSpPr>
          <p:nvPr/>
        </p:nvCxnSpPr>
        <p:spPr>
          <a:xfrm flipH="1" flipV="1">
            <a:off x="5861707" y="2247352"/>
            <a:ext cx="1841" cy="24554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直線單箭頭接點 97">
            <a:extLst>
              <a:ext uri="{FF2B5EF4-FFF2-40B4-BE49-F238E27FC236}">
                <a16:creationId xmlns:a16="http://schemas.microsoft.com/office/drawing/2014/main" id="{AEC67D09-AD6D-62E5-FCA1-0F6CF3D46809}"/>
              </a:ext>
            </a:extLst>
          </p:cNvPr>
          <p:cNvCxnSpPr>
            <a:cxnSpLocks/>
            <a:stCxn id="91" idx="0"/>
            <a:endCxn id="90" idx="2"/>
          </p:cNvCxnSpPr>
          <p:nvPr/>
        </p:nvCxnSpPr>
        <p:spPr>
          <a:xfrm flipV="1">
            <a:off x="5861707" y="1580114"/>
            <a:ext cx="0" cy="14401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接點: 肘形 98">
            <a:extLst>
              <a:ext uri="{FF2B5EF4-FFF2-40B4-BE49-F238E27FC236}">
                <a16:creationId xmlns:a16="http://schemas.microsoft.com/office/drawing/2014/main" id="{9B08A6DE-A377-77D1-5DD4-7409B52E3897}"/>
              </a:ext>
            </a:extLst>
          </p:cNvPr>
          <p:cNvCxnSpPr>
            <a:cxnSpLocks/>
            <a:stCxn id="94" idx="3"/>
            <a:endCxn id="92" idx="3"/>
          </p:cNvCxnSpPr>
          <p:nvPr/>
        </p:nvCxnSpPr>
        <p:spPr>
          <a:xfrm flipH="1">
            <a:off x="6299788" y="440668"/>
            <a:ext cx="137983" cy="2232248"/>
          </a:xfrm>
          <a:prstGeom prst="bentConnector3">
            <a:avLst>
              <a:gd name="adj1" fmla="val -165673"/>
            </a:avLst>
          </a:prstGeom>
          <a:ln w="19050">
            <a:solidFill>
              <a:srgbClr val="9E7800"/>
            </a:solidFill>
            <a:prstDash val="solid"/>
            <a:headEnd type="non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1E0A4E05-E325-2637-A47F-1D8FF2CC0FA5}"/>
              </a:ext>
            </a:extLst>
          </p:cNvPr>
          <p:cNvSpPr txBox="1"/>
          <p:nvPr/>
        </p:nvSpPr>
        <p:spPr>
          <a:xfrm>
            <a:off x="4976449" y="1936583"/>
            <a:ext cx="294468" cy="20503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 </a:t>
            </a:r>
            <a:r>
              <a:rPr lang="en-US" altLang="zh-TW" sz="1000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x</a:t>
            </a:r>
            <a:endParaRPr lang="en-US" altLang="zh-TW" sz="1000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101" name="矩形 100">
            <a:extLst>
              <a:ext uri="{FF2B5EF4-FFF2-40B4-BE49-F238E27FC236}">
                <a16:creationId xmlns:a16="http://schemas.microsoft.com/office/drawing/2014/main" id="{8ABC1401-1DE3-C764-AF4D-A2BF9B2F7228}"/>
              </a:ext>
            </a:extLst>
          </p:cNvPr>
          <p:cNvSpPr/>
          <p:nvPr/>
        </p:nvSpPr>
        <p:spPr>
          <a:xfrm>
            <a:off x="5004047" y="3376800"/>
            <a:ext cx="504056" cy="268224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Text</a:t>
            </a:r>
          </a:p>
        </p:txBody>
      </p:sp>
      <p:sp>
        <p:nvSpPr>
          <p:cNvPr id="102" name="矩形 101">
            <a:extLst>
              <a:ext uri="{FF2B5EF4-FFF2-40B4-BE49-F238E27FC236}">
                <a16:creationId xmlns:a16="http://schemas.microsoft.com/office/drawing/2014/main" id="{9071FAD8-0CEC-725C-9676-098EBAC796B3}"/>
              </a:ext>
            </a:extLst>
          </p:cNvPr>
          <p:cNvSpPr/>
          <p:nvPr/>
        </p:nvSpPr>
        <p:spPr>
          <a:xfrm>
            <a:off x="5609679" y="3376800"/>
            <a:ext cx="504056" cy="268224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Image</a:t>
            </a:r>
          </a:p>
        </p:txBody>
      </p:sp>
      <p:sp>
        <p:nvSpPr>
          <p:cNvPr id="103" name="矩形 102">
            <a:extLst>
              <a:ext uri="{FF2B5EF4-FFF2-40B4-BE49-F238E27FC236}">
                <a16:creationId xmlns:a16="http://schemas.microsoft.com/office/drawing/2014/main" id="{FC9067F6-B2B5-670E-AABD-C5ABC823BB6F}"/>
              </a:ext>
            </a:extLst>
          </p:cNvPr>
          <p:cNvSpPr/>
          <p:nvPr/>
        </p:nvSpPr>
        <p:spPr>
          <a:xfrm>
            <a:off x="6211629" y="3362323"/>
            <a:ext cx="504056" cy="268224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Audio</a:t>
            </a:r>
          </a:p>
        </p:txBody>
      </p:sp>
      <p:sp>
        <p:nvSpPr>
          <p:cNvPr id="104" name="矩形 103">
            <a:extLst>
              <a:ext uri="{FF2B5EF4-FFF2-40B4-BE49-F238E27FC236}">
                <a16:creationId xmlns:a16="http://schemas.microsoft.com/office/drawing/2014/main" id="{6ABC4AA5-E4C2-CEC2-EEF7-C105FE51C7E7}"/>
              </a:ext>
            </a:extLst>
          </p:cNvPr>
          <p:cNvSpPr/>
          <p:nvPr/>
        </p:nvSpPr>
        <p:spPr>
          <a:xfrm>
            <a:off x="5609679" y="3048232"/>
            <a:ext cx="504056" cy="26491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SigLIP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cxnSp>
        <p:nvCxnSpPr>
          <p:cNvPr id="105" name="直線單箭頭接點 104">
            <a:extLst>
              <a:ext uri="{FF2B5EF4-FFF2-40B4-BE49-F238E27FC236}">
                <a16:creationId xmlns:a16="http://schemas.microsoft.com/office/drawing/2014/main" id="{F898A930-BFD8-4B17-CFB1-BA5A7A05B59F}"/>
              </a:ext>
            </a:extLst>
          </p:cNvPr>
          <p:cNvCxnSpPr>
            <a:cxnSpLocks/>
            <a:stCxn id="104" idx="0"/>
            <a:endCxn id="92" idx="2"/>
          </p:cNvCxnSpPr>
          <p:nvPr/>
        </p:nvCxnSpPr>
        <p:spPr>
          <a:xfrm flipV="1">
            <a:off x="5861707" y="2852936"/>
            <a:ext cx="1841" cy="19529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文字方塊 105">
            <a:extLst>
              <a:ext uri="{FF2B5EF4-FFF2-40B4-BE49-F238E27FC236}">
                <a16:creationId xmlns:a16="http://schemas.microsoft.com/office/drawing/2014/main" id="{4074C773-32EF-2149-BF9B-C163F6A3AC92}"/>
              </a:ext>
            </a:extLst>
          </p:cNvPr>
          <p:cNvSpPr txBox="1"/>
          <p:nvPr/>
        </p:nvSpPr>
        <p:spPr>
          <a:xfrm>
            <a:off x="7516052" y="2706586"/>
            <a:ext cx="872480" cy="222414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TE + PE</a:t>
            </a:r>
            <a:endParaRPr lang="en-US" altLang="zh-TW" sz="1000" b="1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107" name="矩形: 圓角 106">
            <a:extLst>
              <a:ext uri="{FF2B5EF4-FFF2-40B4-BE49-F238E27FC236}">
                <a16:creationId xmlns:a16="http://schemas.microsoft.com/office/drawing/2014/main" id="{7D5A19BA-5BDB-D5B5-B349-9B3613AFAB39}"/>
              </a:ext>
            </a:extLst>
          </p:cNvPr>
          <p:cNvSpPr/>
          <p:nvPr/>
        </p:nvSpPr>
        <p:spPr>
          <a:xfrm>
            <a:off x="7230371" y="1416832"/>
            <a:ext cx="1440160" cy="1185341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8" name="文字方塊 107">
            <a:extLst>
              <a:ext uri="{FF2B5EF4-FFF2-40B4-BE49-F238E27FC236}">
                <a16:creationId xmlns:a16="http://schemas.microsoft.com/office/drawing/2014/main" id="{848F292F-5DE9-0670-9B75-D483B8039D26}"/>
              </a:ext>
            </a:extLst>
          </p:cNvPr>
          <p:cNvSpPr txBox="1"/>
          <p:nvPr/>
        </p:nvSpPr>
        <p:spPr>
          <a:xfrm>
            <a:off x="7374387" y="1575142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109" name="文字方塊 108">
            <a:extLst>
              <a:ext uri="{FF2B5EF4-FFF2-40B4-BE49-F238E27FC236}">
                <a16:creationId xmlns:a16="http://schemas.microsoft.com/office/drawing/2014/main" id="{99DA5433-5392-AE5B-C267-5D6301EE6FE0}"/>
              </a:ext>
            </a:extLst>
          </p:cNvPr>
          <p:cNvSpPr txBox="1"/>
          <p:nvPr/>
        </p:nvSpPr>
        <p:spPr>
          <a:xfrm>
            <a:off x="7374387" y="1944210"/>
            <a:ext cx="1152128" cy="523222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Masked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  <a:endParaRPr lang="en-US" altLang="zh-TW" sz="1100" b="1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110" name="文字方塊 109">
            <a:extLst>
              <a:ext uri="{FF2B5EF4-FFF2-40B4-BE49-F238E27FC236}">
                <a16:creationId xmlns:a16="http://schemas.microsoft.com/office/drawing/2014/main" id="{D08B7E08-92EC-A514-8EB6-C323D312A077}"/>
              </a:ext>
            </a:extLst>
          </p:cNvPr>
          <p:cNvSpPr txBox="1"/>
          <p:nvPr/>
        </p:nvSpPr>
        <p:spPr>
          <a:xfrm>
            <a:off x="7374387" y="984769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Linear</a:t>
            </a:r>
          </a:p>
        </p:txBody>
      </p:sp>
      <p:sp>
        <p:nvSpPr>
          <p:cNvPr id="111" name="文字方塊 110">
            <a:extLst>
              <a:ext uri="{FF2B5EF4-FFF2-40B4-BE49-F238E27FC236}">
                <a16:creationId xmlns:a16="http://schemas.microsoft.com/office/drawing/2014/main" id="{BB6D8FC1-B38B-518A-B858-E57AE7E9B3D8}"/>
              </a:ext>
            </a:extLst>
          </p:cNvPr>
          <p:cNvSpPr txBox="1"/>
          <p:nvPr/>
        </p:nvSpPr>
        <p:spPr>
          <a:xfrm>
            <a:off x="7374387" y="480728"/>
            <a:ext cx="1152128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Output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Probabilities</a:t>
            </a:r>
          </a:p>
        </p:txBody>
      </p:sp>
      <p:cxnSp>
        <p:nvCxnSpPr>
          <p:cNvPr id="112" name="直線單箭頭接點 111">
            <a:extLst>
              <a:ext uri="{FF2B5EF4-FFF2-40B4-BE49-F238E27FC236}">
                <a16:creationId xmlns:a16="http://schemas.microsoft.com/office/drawing/2014/main" id="{9948E076-CE45-13AB-F630-C00E9453FC83}"/>
              </a:ext>
            </a:extLst>
          </p:cNvPr>
          <p:cNvCxnSpPr>
            <a:cxnSpLocks/>
            <a:stCxn id="110" idx="0"/>
            <a:endCxn id="111" idx="2"/>
          </p:cNvCxnSpPr>
          <p:nvPr/>
        </p:nvCxnSpPr>
        <p:spPr>
          <a:xfrm flipV="1">
            <a:off x="7950451" y="840768"/>
            <a:ext cx="0" cy="14400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直線單箭頭接點 112">
            <a:extLst>
              <a:ext uri="{FF2B5EF4-FFF2-40B4-BE49-F238E27FC236}">
                <a16:creationId xmlns:a16="http://schemas.microsoft.com/office/drawing/2014/main" id="{68200668-477E-79B5-4960-6FB63CC9CF14}"/>
              </a:ext>
            </a:extLst>
          </p:cNvPr>
          <p:cNvCxnSpPr>
            <a:cxnSpLocks/>
            <a:stCxn id="108" idx="0"/>
            <a:endCxn id="110" idx="2"/>
          </p:cNvCxnSpPr>
          <p:nvPr/>
        </p:nvCxnSpPr>
        <p:spPr>
          <a:xfrm flipV="1">
            <a:off x="7950451" y="1209821"/>
            <a:ext cx="0" cy="36532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直線單箭頭接點 113">
            <a:extLst>
              <a:ext uri="{FF2B5EF4-FFF2-40B4-BE49-F238E27FC236}">
                <a16:creationId xmlns:a16="http://schemas.microsoft.com/office/drawing/2014/main" id="{C2191D50-F93F-130E-2197-A22449C979C2}"/>
              </a:ext>
            </a:extLst>
          </p:cNvPr>
          <p:cNvCxnSpPr>
            <a:cxnSpLocks/>
            <a:stCxn id="106" idx="0"/>
            <a:endCxn id="109" idx="2"/>
          </p:cNvCxnSpPr>
          <p:nvPr/>
        </p:nvCxnSpPr>
        <p:spPr>
          <a:xfrm flipH="1" flipV="1">
            <a:off x="7950451" y="2467432"/>
            <a:ext cx="1841" cy="23915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直線單箭頭接點 114">
            <a:extLst>
              <a:ext uri="{FF2B5EF4-FFF2-40B4-BE49-F238E27FC236}">
                <a16:creationId xmlns:a16="http://schemas.microsoft.com/office/drawing/2014/main" id="{9BD8B6B8-D7D3-B30D-EEC1-C99BC1D28A55}"/>
              </a:ext>
            </a:extLst>
          </p:cNvPr>
          <p:cNvCxnSpPr>
            <a:cxnSpLocks/>
            <a:stCxn id="109" idx="0"/>
            <a:endCxn id="108" idx="2"/>
          </p:cNvCxnSpPr>
          <p:nvPr/>
        </p:nvCxnSpPr>
        <p:spPr>
          <a:xfrm flipV="1">
            <a:off x="7950451" y="1800194"/>
            <a:ext cx="0" cy="14401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接點: 肘形 115">
            <a:extLst>
              <a:ext uri="{FF2B5EF4-FFF2-40B4-BE49-F238E27FC236}">
                <a16:creationId xmlns:a16="http://schemas.microsoft.com/office/drawing/2014/main" id="{CD88E199-E3E9-5C4D-5C8C-14F862F8B467}"/>
              </a:ext>
            </a:extLst>
          </p:cNvPr>
          <p:cNvCxnSpPr>
            <a:cxnSpLocks/>
            <a:stCxn id="111" idx="3"/>
            <a:endCxn id="106" idx="3"/>
          </p:cNvCxnSpPr>
          <p:nvPr/>
        </p:nvCxnSpPr>
        <p:spPr>
          <a:xfrm flipH="1">
            <a:off x="8388532" y="660748"/>
            <a:ext cx="137983" cy="2157045"/>
          </a:xfrm>
          <a:prstGeom prst="bentConnector3">
            <a:avLst>
              <a:gd name="adj1" fmla="val -165673"/>
            </a:avLst>
          </a:prstGeom>
          <a:ln w="19050">
            <a:solidFill>
              <a:srgbClr val="9E7800"/>
            </a:solidFill>
            <a:prstDash val="solid"/>
            <a:headEnd type="non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文字方塊 116">
            <a:extLst>
              <a:ext uri="{FF2B5EF4-FFF2-40B4-BE49-F238E27FC236}">
                <a16:creationId xmlns:a16="http://schemas.microsoft.com/office/drawing/2014/main" id="{A9BCC390-1CB4-B606-50BE-F1082AFEB90E}"/>
              </a:ext>
            </a:extLst>
          </p:cNvPr>
          <p:cNvSpPr txBox="1"/>
          <p:nvPr/>
        </p:nvSpPr>
        <p:spPr>
          <a:xfrm>
            <a:off x="7065193" y="2156663"/>
            <a:ext cx="294468" cy="20503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 </a:t>
            </a:r>
            <a:r>
              <a:rPr lang="en-US" altLang="zh-TW" sz="1000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x</a:t>
            </a:r>
            <a:endParaRPr lang="en-US" altLang="zh-TW" sz="1000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grpSp>
        <p:nvGrpSpPr>
          <p:cNvPr id="118" name="群組 117">
            <a:extLst>
              <a:ext uri="{FF2B5EF4-FFF2-40B4-BE49-F238E27FC236}">
                <a16:creationId xmlns:a16="http://schemas.microsoft.com/office/drawing/2014/main" id="{3D3235DB-D7A3-AF21-6256-5ED75BE4F067}"/>
              </a:ext>
            </a:extLst>
          </p:cNvPr>
          <p:cNvGrpSpPr/>
          <p:nvPr/>
        </p:nvGrpSpPr>
        <p:grpSpPr>
          <a:xfrm>
            <a:off x="7020784" y="3171520"/>
            <a:ext cx="1871696" cy="549568"/>
            <a:chOff x="6804248" y="2996952"/>
            <a:chExt cx="1871696" cy="549568"/>
          </a:xfrm>
        </p:grpSpPr>
        <p:sp>
          <p:nvSpPr>
            <p:cNvPr id="119" name="矩形 118">
              <a:extLst>
                <a:ext uri="{FF2B5EF4-FFF2-40B4-BE49-F238E27FC236}">
                  <a16:creationId xmlns:a16="http://schemas.microsoft.com/office/drawing/2014/main" id="{DC4E76C3-7063-2B12-39ED-1D88633D9EDA}"/>
                </a:ext>
              </a:extLst>
            </p:cNvPr>
            <p:cNvSpPr/>
            <p:nvPr/>
          </p:nvSpPr>
          <p:spPr>
            <a:xfrm>
              <a:off x="6804248" y="2996952"/>
              <a:ext cx="1871696" cy="549568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19050">
              <a:solidFill>
                <a:schemeClr val="accent5">
                  <a:lumMod val="75000"/>
                </a:schemeClr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36000" rIns="36000" bIns="0" rtlCol="0" anchor="t" anchorCtr="0"/>
            <a:lstStyle/>
            <a:p>
              <a:pPr algn="r">
                <a:lnSpc>
                  <a:spcPts val="1000"/>
                </a:lnSpc>
              </a:pPr>
              <a:r>
                <a:rPr lang="en-US" altLang="zh-TW" sz="10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Native Multimodal</a:t>
              </a:r>
            </a:p>
          </p:txBody>
        </p:sp>
        <p:sp>
          <p:nvSpPr>
            <p:cNvPr id="120" name="矩形 119">
              <a:extLst>
                <a:ext uri="{FF2B5EF4-FFF2-40B4-BE49-F238E27FC236}">
                  <a16:creationId xmlns:a16="http://schemas.microsoft.com/office/drawing/2014/main" id="{C4108C46-E728-18A2-5F4E-11E4C1ED8E31}"/>
                </a:ext>
              </a:extLst>
            </p:cNvPr>
            <p:cNvSpPr/>
            <p:nvPr/>
          </p:nvSpPr>
          <p:spPr>
            <a:xfrm>
              <a:off x="6876255" y="3202232"/>
              <a:ext cx="504056" cy="268224"/>
            </a:xfrm>
            <a:prstGeom prst="rect">
              <a:avLst/>
            </a:prstGeom>
            <a:solidFill>
              <a:schemeClr val="bg1">
                <a:alpha val="90000"/>
              </a:schemeClr>
            </a:solidFill>
            <a:ln w="38100"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000"/>
                </a:lnSpc>
              </a:pPr>
              <a:r>
                <a:rPr lang="en-US" altLang="zh-TW" sz="1400" b="1" baseline="-25000" dirty="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Text</a:t>
              </a:r>
            </a:p>
          </p:txBody>
        </p:sp>
        <p:sp>
          <p:nvSpPr>
            <p:cNvPr id="121" name="矩形 120">
              <a:extLst>
                <a:ext uri="{FF2B5EF4-FFF2-40B4-BE49-F238E27FC236}">
                  <a16:creationId xmlns:a16="http://schemas.microsoft.com/office/drawing/2014/main" id="{55E58BF6-7C3A-F867-D229-D8757DB3DF93}"/>
                </a:ext>
              </a:extLst>
            </p:cNvPr>
            <p:cNvSpPr/>
            <p:nvPr/>
          </p:nvSpPr>
          <p:spPr>
            <a:xfrm>
              <a:off x="7481887" y="3202232"/>
              <a:ext cx="504056" cy="268224"/>
            </a:xfrm>
            <a:prstGeom prst="rect">
              <a:avLst/>
            </a:prstGeom>
            <a:solidFill>
              <a:schemeClr val="bg1">
                <a:alpha val="90000"/>
              </a:schemeClr>
            </a:solidFill>
            <a:ln w="38100"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000"/>
                </a:lnSpc>
              </a:pPr>
              <a:r>
                <a:rPr lang="en-US" altLang="zh-TW" sz="1400" b="1" baseline="-25000" dirty="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Image</a:t>
              </a:r>
            </a:p>
          </p:txBody>
        </p:sp>
        <p:sp>
          <p:nvSpPr>
            <p:cNvPr id="122" name="矩形 121">
              <a:extLst>
                <a:ext uri="{FF2B5EF4-FFF2-40B4-BE49-F238E27FC236}">
                  <a16:creationId xmlns:a16="http://schemas.microsoft.com/office/drawing/2014/main" id="{6BDFC74E-E570-27D4-6725-51B5DBD17852}"/>
                </a:ext>
              </a:extLst>
            </p:cNvPr>
            <p:cNvSpPr/>
            <p:nvPr/>
          </p:nvSpPr>
          <p:spPr>
            <a:xfrm>
              <a:off x="8083837" y="3187755"/>
              <a:ext cx="504056" cy="268224"/>
            </a:xfrm>
            <a:prstGeom prst="rect">
              <a:avLst/>
            </a:prstGeom>
            <a:solidFill>
              <a:schemeClr val="bg1">
                <a:alpha val="90000"/>
              </a:schemeClr>
            </a:solidFill>
            <a:ln w="38100"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000"/>
                </a:lnSpc>
              </a:pPr>
              <a:r>
                <a:rPr lang="en-US" altLang="zh-TW" sz="1400" b="1" baseline="-25000" dirty="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Audio</a:t>
              </a:r>
            </a:p>
          </p:txBody>
        </p:sp>
      </p:grpSp>
      <p:cxnSp>
        <p:nvCxnSpPr>
          <p:cNvPr id="123" name="直線單箭頭接點 122">
            <a:extLst>
              <a:ext uri="{FF2B5EF4-FFF2-40B4-BE49-F238E27FC236}">
                <a16:creationId xmlns:a16="http://schemas.microsoft.com/office/drawing/2014/main" id="{A08988D8-C571-8AE8-6E9F-78F5E5F4E179}"/>
              </a:ext>
            </a:extLst>
          </p:cNvPr>
          <p:cNvCxnSpPr>
            <a:cxnSpLocks/>
            <a:stCxn id="119" idx="0"/>
            <a:endCxn id="106" idx="2"/>
          </p:cNvCxnSpPr>
          <p:nvPr/>
        </p:nvCxnSpPr>
        <p:spPr>
          <a:xfrm flipH="1" flipV="1">
            <a:off x="7952292" y="2929000"/>
            <a:ext cx="4340" cy="24252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33064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87DFB4-612C-B0B9-4BE8-45819BE65B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字方塊 8">
            <a:extLst>
              <a:ext uri="{FF2B5EF4-FFF2-40B4-BE49-F238E27FC236}">
                <a16:creationId xmlns:a16="http://schemas.microsoft.com/office/drawing/2014/main" id="{46EDBCD4-7EAC-421B-66FB-3388FFFF2900}"/>
              </a:ext>
            </a:extLst>
          </p:cNvPr>
          <p:cNvSpPr txBox="1"/>
          <p:nvPr/>
        </p:nvSpPr>
        <p:spPr>
          <a:xfrm>
            <a:off x="1331640" y="2611843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8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3" name="標題 1">
            <a:extLst>
              <a:ext uri="{FF2B5EF4-FFF2-40B4-BE49-F238E27FC236}">
                <a16:creationId xmlns:a16="http://schemas.microsoft.com/office/drawing/2014/main" id="{5B7B60AB-5109-7BAE-FA39-45AF0A7FD0F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Low-Rank Adaptation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LoRA freezes the base model, squeezing updates through a narrow parameter bottleneck (r). 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6230C510-B223-AB07-63E6-5CA7DC527E06}"/>
              </a:ext>
            </a:extLst>
          </p:cNvPr>
          <p:cNvSpPr txBox="1"/>
          <p:nvPr/>
        </p:nvSpPr>
        <p:spPr>
          <a:xfrm>
            <a:off x="3995937" y="1395501"/>
            <a:ext cx="1368152" cy="1072326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100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2"/>
              </a:solidFill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7E11950E-8F49-2745-2EDD-097C758F04BA}"/>
              </a:ext>
            </a:extLst>
          </p:cNvPr>
          <p:cNvSpPr txBox="1"/>
          <p:nvPr/>
        </p:nvSpPr>
        <p:spPr>
          <a:xfrm>
            <a:off x="4283969" y="2691645"/>
            <a:ext cx="792088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174A7689-58E1-25E4-CAB8-C95092422A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67246873"/>
              </p:ext>
            </p:extLst>
          </p:nvPr>
        </p:nvGraphicFramePr>
        <p:xfrm>
          <a:off x="1410419" y="2899875"/>
          <a:ext cx="545060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53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7253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...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4F6F6C15-94A2-C0C5-36A9-0DAC9AAC37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3894271"/>
              </p:ext>
            </p:extLst>
          </p:nvPr>
        </p:nvGraphicFramePr>
        <p:xfrm>
          <a:off x="4073417" y="1688729"/>
          <a:ext cx="1218664" cy="7148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10" name="文字方塊 9">
            <a:extLst>
              <a:ext uri="{FF2B5EF4-FFF2-40B4-BE49-F238E27FC236}">
                <a16:creationId xmlns:a16="http://schemas.microsoft.com/office/drawing/2014/main" id="{FDAA76A0-7CB4-DA0D-EDD9-6D1BAA982226}"/>
              </a:ext>
            </a:extLst>
          </p:cNvPr>
          <p:cNvSpPr txBox="1"/>
          <p:nvPr/>
        </p:nvSpPr>
        <p:spPr>
          <a:xfrm>
            <a:off x="2580010" y="2827867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</a:rPr>
              <a:t>8</a:t>
            </a: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970FEFC2-8AF0-B494-88D8-630F4FEC97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8274150"/>
              </p:ext>
            </p:extLst>
          </p:nvPr>
        </p:nvGraphicFramePr>
        <p:xfrm>
          <a:off x="2202509" y="3121095"/>
          <a:ext cx="1577404" cy="3548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FDFCECAB-DFF2-9A96-42C1-C1A92C90C6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4009156"/>
              </p:ext>
            </p:extLst>
          </p:nvPr>
        </p:nvGraphicFramePr>
        <p:xfrm>
          <a:off x="4070227" y="2960293"/>
          <a:ext cx="1218664" cy="7148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13" name="文字方塊 12">
            <a:extLst>
              <a:ext uri="{FF2B5EF4-FFF2-40B4-BE49-F238E27FC236}">
                <a16:creationId xmlns:a16="http://schemas.microsoft.com/office/drawing/2014/main" id="{CA418A53-024F-5256-DFDC-38C367C98546}"/>
              </a:ext>
            </a:extLst>
          </p:cNvPr>
          <p:cNvSpPr txBox="1"/>
          <p:nvPr/>
        </p:nvSpPr>
        <p:spPr>
          <a:xfrm>
            <a:off x="2788772" y="1660300"/>
            <a:ext cx="678086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1 x 100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3345E229-AD34-1F98-A1EE-ED0FCB9682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3584666"/>
              </p:ext>
            </p:extLst>
          </p:nvPr>
        </p:nvGraphicFramePr>
        <p:xfrm>
          <a:off x="2495663" y="1960668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5" name="文字方塊 14">
            <a:extLst>
              <a:ext uri="{FF2B5EF4-FFF2-40B4-BE49-F238E27FC236}">
                <a16:creationId xmlns:a16="http://schemas.microsoft.com/office/drawing/2014/main" id="{12B550F6-AAF7-C19A-A92E-CF87D9C54EF1}"/>
              </a:ext>
            </a:extLst>
          </p:cNvPr>
          <p:cNvSpPr txBox="1"/>
          <p:nvPr/>
        </p:nvSpPr>
        <p:spPr>
          <a:xfrm>
            <a:off x="5809003" y="1660300"/>
            <a:ext cx="648072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1">
                    <a:lumMod val="75000"/>
                  </a:schemeClr>
                </a:solidFill>
                <a:effectLst/>
              </a:rPr>
              <a:t>1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996B90EC-11CB-52EE-8E93-6793DBEBCC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69882247"/>
              </p:ext>
            </p:extLst>
          </p:nvPr>
        </p:nvGraphicFramePr>
        <p:xfrm>
          <a:off x="5508105" y="1950969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7" name="文字方塊 16">
            <a:extLst>
              <a:ext uri="{FF2B5EF4-FFF2-40B4-BE49-F238E27FC236}">
                <a16:creationId xmlns:a16="http://schemas.microsoft.com/office/drawing/2014/main" id="{AC4206E9-412D-FD84-36F9-9F12F7A65F2F}"/>
              </a:ext>
            </a:extLst>
          </p:cNvPr>
          <p:cNvSpPr txBox="1"/>
          <p:nvPr/>
        </p:nvSpPr>
        <p:spPr>
          <a:xfrm>
            <a:off x="4572001" y="2420483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+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4EEBCB8E-14AD-6B5D-4F80-0544704FC54A}"/>
              </a:ext>
            </a:extLst>
          </p:cNvPr>
          <p:cNvSpPr txBox="1"/>
          <p:nvPr/>
        </p:nvSpPr>
        <p:spPr>
          <a:xfrm>
            <a:off x="3809927" y="1902063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7C2A484D-460F-1A04-04CA-5C1908284B6D}"/>
              </a:ext>
            </a:extLst>
          </p:cNvPr>
          <p:cNvSpPr txBox="1"/>
          <p:nvPr/>
        </p:nvSpPr>
        <p:spPr>
          <a:xfrm>
            <a:off x="5288891" y="1902063"/>
            <a:ext cx="219214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=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B37AEACB-00C0-87CF-71EE-829E83706821}"/>
              </a:ext>
            </a:extLst>
          </p:cNvPr>
          <p:cNvSpPr txBox="1"/>
          <p:nvPr/>
        </p:nvSpPr>
        <p:spPr>
          <a:xfrm>
            <a:off x="2001442" y="3166833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493FF47D-66F2-8021-8537-0B49581A514D}"/>
              </a:ext>
            </a:extLst>
          </p:cNvPr>
          <p:cNvSpPr txBox="1"/>
          <p:nvPr/>
        </p:nvSpPr>
        <p:spPr>
          <a:xfrm>
            <a:off x="3809927" y="3200239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=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166C89C2-E685-02E9-C209-61874A3350C9}"/>
              </a:ext>
            </a:extLst>
          </p:cNvPr>
          <p:cNvSpPr txBox="1"/>
          <p:nvPr/>
        </p:nvSpPr>
        <p:spPr>
          <a:xfrm>
            <a:off x="1355874" y="5211925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1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25" name="表格 24">
            <a:extLst>
              <a:ext uri="{FF2B5EF4-FFF2-40B4-BE49-F238E27FC236}">
                <a16:creationId xmlns:a16="http://schemas.microsoft.com/office/drawing/2014/main" id="{3A408C77-9AA7-C9E5-0EEA-D090525596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5120430"/>
              </p:ext>
            </p:extLst>
          </p:nvPr>
        </p:nvGraphicFramePr>
        <p:xfrm>
          <a:off x="1572070" y="5517232"/>
          <a:ext cx="272530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53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sp>
        <p:nvSpPr>
          <p:cNvPr id="26" name="文字方塊 25">
            <a:extLst>
              <a:ext uri="{FF2B5EF4-FFF2-40B4-BE49-F238E27FC236}">
                <a16:creationId xmlns:a16="http://schemas.microsoft.com/office/drawing/2014/main" id="{46547153-3887-39D1-68AC-E63C5A9D08BB}"/>
              </a:ext>
            </a:extLst>
          </p:cNvPr>
          <p:cNvSpPr txBox="1"/>
          <p:nvPr/>
        </p:nvSpPr>
        <p:spPr>
          <a:xfrm>
            <a:off x="2580009" y="5488909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27" name="表格 26">
            <a:extLst>
              <a:ext uri="{FF2B5EF4-FFF2-40B4-BE49-F238E27FC236}">
                <a16:creationId xmlns:a16="http://schemas.microsoft.com/office/drawing/2014/main" id="{D856DEEC-0920-37CD-984E-6387928C97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6622841"/>
              </p:ext>
            </p:extLst>
          </p:nvPr>
        </p:nvGraphicFramePr>
        <p:xfrm>
          <a:off x="2202509" y="5832246"/>
          <a:ext cx="1577404" cy="1774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28" name="文字方塊 27">
            <a:extLst>
              <a:ext uri="{FF2B5EF4-FFF2-40B4-BE49-F238E27FC236}">
                <a16:creationId xmlns:a16="http://schemas.microsoft.com/office/drawing/2014/main" id="{8012E381-AA45-3D1A-CAEC-4D2813F6AB34}"/>
              </a:ext>
            </a:extLst>
          </p:cNvPr>
          <p:cNvSpPr txBox="1"/>
          <p:nvPr/>
        </p:nvSpPr>
        <p:spPr>
          <a:xfrm>
            <a:off x="1979713" y="5789273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graphicFrame>
        <p:nvGraphicFramePr>
          <p:cNvPr id="40" name="表格 39">
            <a:extLst>
              <a:ext uri="{FF2B5EF4-FFF2-40B4-BE49-F238E27FC236}">
                <a16:creationId xmlns:a16="http://schemas.microsoft.com/office/drawing/2014/main" id="{9E880617-74A7-3F1D-19E7-1C6CE624CC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7684713"/>
              </p:ext>
            </p:extLst>
          </p:nvPr>
        </p:nvGraphicFramePr>
        <p:xfrm>
          <a:off x="251520" y="4782788"/>
          <a:ext cx="4253728" cy="263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858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1056063242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569222339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2844237105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312702483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1426537453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521542109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1942328799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3241487124"/>
                    </a:ext>
                  </a:extLst>
                </a:gridCol>
              </a:tblGrid>
              <a:tr h="26336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41" name="表格 40">
            <a:extLst>
              <a:ext uri="{FF2B5EF4-FFF2-40B4-BE49-F238E27FC236}">
                <a16:creationId xmlns:a16="http://schemas.microsoft.com/office/drawing/2014/main" id="{9E930552-FE47-29BE-877E-18BE859F76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7530113"/>
              </p:ext>
            </p:extLst>
          </p:nvPr>
        </p:nvGraphicFramePr>
        <p:xfrm>
          <a:off x="1029530" y="4203813"/>
          <a:ext cx="2437328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cxnSp>
        <p:nvCxnSpPr>
          <p:cNvPr id="43" name="直線單箭頭接點 42">
            <a:extLst>
              <a:ext uri="{FF2B5EF4-FFF2-40B4-BE49-F238E27FC236}">
                <a16:creationId xmlns:a16="http://schemas.microsoft.com/office/drawing/2014/main" id="{3D69D28E-D3BB-E57F-0654-C588ED181323}"/>
              </a:ext>
            </a:extLst>
          </p:cNvPr>
          <p:cNvCxnSpPr>
            <a:cxnSpLocks/>
          </p:cNvCxnSpPr>
          <p:nvPr/>
        </p:nvCxnSpPr>
        <p:spPr>
          <a:xfrm>
            <a:off x="1335086" y="4382534"/>
            <a:ext cx="0" cy="400254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線單箭頭接點 45">
            <a:extLst>
              <a:ext uri="{FF2B5EF4-FFF2-40B4-BE49-F238E27FC236}">
                <a16:creationId xmlns:a16="http://schemas.microsoft.com/office/drawing/2014/main" id="{F9A3051A-7393-2108-A65E-E17A5BDFC742}"/>
              </a:ext>
            </a:extLst>
          </p:cNvPr>
          <p:cNvCxnSpPr>
            <a:cxnSpLocks/>
            <a:endCxn id="40" idx="0"/>
          </p:cNvCxnSpPr>
          <p:nvPr/>
        </p:nvCxnSpPr>
        <p:spPr>
          <a:xfrm>
            <a:off x="1634742" y="4382534"/>
            <a:ext cx="743642" cy="400254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D91FD903-5CA4-5DF9-C34F-F10FB97C112B}"/>
              </a:ext>
            </a:extLst>
          </p:cNvPr>
          <p:cNvSpPr txBox="1"/>
          <p:nvPr/>
        </p:nvSpPr>
        <p:spPr>
          <a:xfrm>
            <a:off x="1492571" y="4537583"/>
            <a:ext cx="422451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4 bits</a:t>
            </a: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233890C5-0A88-D645-14E5-9AA7C51DF87A}"/>
              </a:ext>
            </a:extLst>
          </p:cNvPr>
          <p:cNvSpPr txBox="1"/>
          <p:nvPr/>
        </p:nvSpPr>
        <p:spPr>
          <a:xfrm>
            <a:off x="1281345" y="3850356"/>
            <a:ext cx="422451" cy="35345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</a:pPr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16</a:t>
            </a:r>
          </a:p>
          <a:p>
            <a:pPr>
              <a:lnSpc>
                <a:spcPts val="1400"/>
              </a:lnSpc>
            </a:pPr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bits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606556BE-6C77-8C64-CA3B-47626D0D68AA}"/>
              </a:ext>
            </a:extLst>
          </p:cNvPr>
          <p:cNvSpPr txBox="1"/>
          <p:nvPr/>
        </p:nvSpPr>
        <p:spPr>
          <a:xfrm>
            <a:off x="7299516" y="2780928"/>
            <a:ext cx="872480" cy="330602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0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Token</a:t>
            </a:r>
          </a:p>
          <a:p>
            <a:pPr algn="ctr">
              <a:lnSpc>
                <a:spcPts val="1200"/>
              </a:lnSpc>
              <a:buNone/>
            </a:pPr>
            <a:r>
              <a:rPr lang="en-US" altLang="zh-TW" sz="10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Embedding</a:t>
            </a:r>
            <a:endParaRPr lang="en-US" altLang="zh-TW" sz="1000" b="1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09F2A9BE-A453-8694-6FB6-FA663B38DCF1}"/>
              </a:ext>
            </a:extLst>
          </p:cNvPr>
          <p:cNvSpPr txBox="1"/>
          <p:nvPr/>
        </p:nvSpPr>
        <p:spPr>
          <a:xfrm>
            <a:off x="7157851" y="1382592"/>
            <a:ext cx="1152128" cy="445510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CA75A894-317F-F418-C66B-25E99094EC7C}"/>
              </a:ext>
            </a:extLst>
          </p:cNvPr>
          <p:cNvSpPr txBox="1"/>
          <p:nvPr/>
        </p:nvSpPr>
        <p:spPr>
          <a:xfrm>
            <a:off x="7157851" y="1940154"/>
            <a:ext cx="1152128" cy="523222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2218A202-D8A9-E81D-D989-7EA0A7693460}"/>
              </a:ext>
            </a:extLst>
          </p:cNvPr>
          <p:cNvSpPr txBox="1"/>
          <p:nvPr/>
        </p:nvSpPr>
        <p:spPr>
          <a:xfrm>
            <a:off x="7157851" y="692696"/>
            <a:ext cx="1152128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Output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Probability</a:t>
            </a:r>
            <a:endParaRPr lang="en-US" altLang="zh-TW" sz="1000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cxnSp>
        <p:nvCxnSpPr>
          <p:cNvPr id="31" name="直線單箭頭接點 30">
            <a:extLst>
              <a:ext uri="{FF2B5EF4-FFF2-40B4-BE49-F238E27FC236}">
                <a16:creationId xmlns:a16="http://schemas.microsoft.com/office/drawing/2014/main" id="{4C81268E-6D02-2E21-2099-2D9284747145}"/>
              </a:ext>
            </a:extLst>
          </p:cNvPr>
          <p:cNvCxnSpPr>
            <a:cxnSpLocks/>
            <a:stCxn id="8" idx="0"/>
            <a:endCxn id="30" idx="2"/>
          </p:cNvCxnSpPr>
          <p:nvPr/>
        </p:nvCxnSpPr>
        <p:spPr>
          <a:xfrm flipV="1">
            <a:off x="7733915" y="1052736"/>
            <a:ext cx="0" cy="32985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628AED58-A894-F9EE-4ADD-7A8CD059F12E}"/>
              </a:ext>
            </a:extLst>
          </p:cNvPr>
          <p:cNvCxnSpPr>
            <a:cxnSpLocks/>
            <a:stCxn id="4" idx="0"/>
            <a:endCxn id="29" idx="2"/>
          </p:cNvCxnSpPr>
          <p:nvPr/>
        </p:nvCxnSpPr>
        <p:spPr>
          <a:xfrm flipH="1" flipV="1">
            <a:off x="7733915" y="2463376"/>
            <a:ext cx="1841" cy="317552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線單箭頭接點 32">
            <a:extLst>
              <a:ext uri="{FF2B5EF4-FFF2-40B4-BE49-F238E27FC236}">
                <a16:creationId xmlns:a16="http://schemas.microsoft.com/office/drawing/2014/main" id="{0296C0FB-7FBD-436A-F516-A708FFF9A4D3}"/>
              </a:ext>
            </a:extLst>
          </p:cNvPr>
          <p:cNvCxnSpPr>
            <a:cxnSpLocks/>
            <a:stCxn id="29" idx="0"/>
            <a:endCxn id="8" idx="2"/>
          </p:cNvCxnSpPr>
          <p:nvPr/>
        </p:nvCxnSpPr>
        <p:spPr>
          <a:xfrm flipV="1">
            <a:off x="7733915" y="1828102"/>
            <a:ext cx="0" cy="112052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接點: 肘形 33">
            <a:extLst>
              <a:ext uri="{FF2B5EF4-FFF2-40B4-BE49-F238E27FC236}">
                <a16:creationId xmlns:a16="http://schemas.microsoft.com/office/drawing/2014/main" id="{6B7CFA7A-FA55-912B-F440-4C225065F64C}"/>
              </a:ext>
            </a:extLst>
          </p:cNvPr>
          <p:cNvCxnSpPr>
            <a:cxnSpLocks/>
            <a:stCxn id="30" idx="3"/>
            <a:endCxn id="4" idx="3"/>
          </p:cNvCxnSpPr>
          <p:nvPr/>
        </p:nvCxnSpPr>
        <p:spPr>
          <a:xfrm flipH="1">
            <a:off x="8171996" y="872716"/>
            <a:ext cx="137983" cy="2073513"/>
          </a:xfrm>
          <a:prstGeom prst="bentConnector3">
            <a:avLst>
              <a:gd name="adj1" fmla="val -165673"/>
            </a:avLst>
          </a:prstGeom>
          <a:ln w="19050">
            <a:solidFill>
              <a:srgbClr val="9E7800"/>
            </a:solidFill>
            <a:prstDash val="solid"/>
            <a:headEnd type="non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337CCDC4-6B01-916C-B04F-8DE18F9395AD}"/>
              </a:ext>
            </a:extLst>
          </p:cNvPr>
          <p:cNvSpPr txBox="1"/>
          <p:nvPr/>
        </p:nvSpPr>
        <p:spPr>
          <a:xfrm>
            <a:off x="6848657" y="2152607"/>
            <a:ext cx="294468" cy="20503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 </a:t>
            </a:r>
            <a:r>
              <a:rPr lang="en-US" altLang="zh-TW" sz="1000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x</a:t>
            </a:r>
            <a:endParaRPr lang="en-US" altLang="zh-TW" sz="1000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36" name="矩形: 圓角 35">
            <a:extLst>
              <a:ext uri="{FF2B5EF4-FFF2-40B4-BE49-F238E27FC236}">
                <a16:creationId xmlns:a16="http://schemas.microsoft.com/office/drawing/2014/main" id="{3B48FC1C-1FEA-BEEB-5CDB-15C096C56975}"/>
              </a:ext>
            </a:extLst>
          </p:cNvPr>
          <p:cNvSpPr/>
          <p:nvPr/>
        </p:nvSpPr>
        <p:spPr>
          <a:xfrm>
            <a:off x="7013835" y="1232756"/>
            <a:ext cx="1440160" cy="1365361"/>
          </a:xfrm>
          <a:prstGeom prst="roundRect">
            <a:avLst>
              <a:gd name="adj" fmla="val 10053"/>
            </a:avLst>
          </a:prstGeom>
          <a:noFill/>
          <a:ln w="158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8" name="箭號: 向下 37">
            <a:extLst>
              <a:ext uri="{FF2B5EF4-FFF2-40B4-BE49-F238E27FC236}">
                <a16:creationId xmlns:a16="http://schemas.microsoft.com/office/drawing/2014/main" id="{1CE27FA2-16E2-7291-793C-CE1CBFB5CB2F}"/>
              </a:ext>
            </a:extLst>
          </p:cNvPr>
          <p:cNvSpPr/>
          <p:nvPr/>
        </p:nvSpPr>
        <p:spPr>
          <a:xfrm rot="10800000">
            <a:off x="7810771" y="1172793"/>
            <a:ext cx="241331" cy="1365359"/>
          </a:xfrm>
          <a:prstGeom prst="downArrow">
            <a:avLst/>
          </a:prstGeom>
          <a:solidFill>
            <a:schemeClr val="accent2">
              <a:alpha val="70000"/>
            </a:schemeClr>
          </a:solidFill>
          <a:ln w="127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814980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91FE66-60E4-CAE7-B48E-D43A9C24A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621033B1-FD4B-EB3F-A072-643EF25F1EB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Per Layer Embeddings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BFAA4945-2C8E-774A-F078-6625D4682F88}"/>
              </a:ext>
            </a:extLst>
          </p:cNvPr>
          <p:cNvSpPr/>
          <p:nvPr/>
        </p:nvSpPr>
        <p:spPr>
          <a:xfrm>
            <a:off x="897399" y="4551232"/>
            <a:ext cx="1871696" cy="549568"/>
          </a:xfrm>
          <a:prstGeom prst="rect">
            <a:avLst/>
          </a:prstGeom>
          <a:noFill/>
          <a:ln w="19050">
            <a:solidFill>
              <a:schemeClr val="accent5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Ins="36000" bIns="0" rtlCol="0" anchor="t" anchorCtr="0"/>
          <a:lstStyle/>
          <a:p>
            <a:pPr algn="r">
              <a:lnSpc>
                <a:spcPts val="1000"/>
              </a:lnSpc>
            </a:pPr>
            <a:r>
              <a:rPr lang="en-US" altLang="zh-TW" sz="1000" dirty="0">
                <a:solidFill>
                  <a:schemeClr val="tx1"/>
                </a:solidFill>
                <a:ea typeface="微軟正黑體" panose="020B0604030504040204" pitchFamily="34" charset="-120"/>
              </a:rPr>
              <a:t>Encoder</a:t>
            </a:r>
          </a:p>
        </p:txBody>
      </p:sp>
      <p:sp>
        <p:nvSpPr>
          <p:cNvPr id="43" name="矩形: 圓角 42">
            <a:extLst>
              <a:ext uri="{FF2B5EF4-FFF2-40B4-BE49-F238E27FC236}">
                <a16:creationId xmlns:a16="http://schemas.microsoft.com/office/drawing/2014/main" id="{1378B491-B328-13C1-1642-B3B7C2E1D06F}"/>
              </a:ext>
            </a:extLst>
          </p:cNvPr>
          <p:cNvSpPr/>
          <p:nvPr/>
        </p:nvSpPr>
        <p:spPr>
          <a:xfrm>
            <a:off x="1106986" y="2576464"/>
            <a:ext cx="1440160" cy="1185341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4CA5A69E-CA91-C5FB-67FF-CA0D2D0DBB79}"/>
              </a:ext>
            </a:extLst>
          </p:cNvPr>
          <p:cNvSpPr txBox="1"/>
          <p:nvPr/>
        </p:nvSpPr>
        <p:spPr>
          <a:xfrm>
            <a:off x="1251002" y="2734774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45" name="文字方塊 44">
            <a:extLst>
              <a:ext uri="{FF2B5EF4-FFF2-40B4-BE49-F238E27FC236}">
                <a16:creationId xmlns:a16="http://schemas.microsoft.com/office/drawing/2014/main" id="{CFEBF70A-413B-B804-E4B9-502872F48CD8}"/>
              </a:ext>
            </a:extLst>
          </p:cNvPr>
          <p:cNvSpPr txBox="1"/>
          <p:nvPr/>
        </p:nvSpPr>
        <p:spPr>
          <a:xfrm>
            <a:off x="1251002" y="3103842"/>
            <a:ext cx="1152128" cy="523222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  <a:endParaRPr lang="en-US" altLang="zh-TW" sz="1100" b="1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80B9D44E-3A43-1104-5410-DFA0A526E05D}"/>
              </a:ext>
            </a:extLst>
          </p:cNvPr>
          <p:cNvSpPr txBox="1"/>
          <p:nvPr/>
        </p:nvSpPr>
        <p:spPr>
          <a:xfrm>
            <a:off x="1392667" y="3872608"/>
            <a:ext cx="872480" cy="360040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TE + PE</a:t>
            </a:r>
            <a:endParaRPr lang="en-US" altLang="zh-TW" sz="1000" b="1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A8DE3FC8-7817-619D-FDEB-06030E5F4381}"/>
              </a:ext>
            </a:extLst>
          </p:cNvPr>
          <p:cNvSpPr txBox="1"/>
          <p:nvPr/>
        </p:nvSpPr>
        <p:spPr>
          <a:xfrm>
            <a:off x="1251002" y="1640360"/>
            <a:ext cx="1152128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Output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Probabilities</a:t>
            </a:r>
          </a:p>
        </p:txBody>
      </p:sp>
      <p:cxnSp>
        <p:nvCxnSpPr>
          <p:cNvPr id="50" name="直線單箭頭接點 49">
            <a:extLst>
              <a:ext uri="{FF2B5EF4-FFF2-40B4-BE49-F238E27FC236}">
                <a16:creationId xmlns:a16="http://schemas.microsoft.com/office/drawing/2014/main" id="{229010F8-5327-3448-8549-E76CFAA4D5C0}"/>
              </a:ext>
            </a:extLst>
          </p:cNvPr>
          <p:cNvCxnSpPr>
            <a:cxnSpLocks/>
            <a:stCxn id="44" idx="0"/>
            <a:endCxn id="48" idx="2"/>
          </p:cNvCxnSpPr>
          <p:nvPr/>
        </p:nvCxnSpPr>
        <p:spPr>
          <a:xfrm flipV="1">
            <a:off x="1827066" y="2000400"/>
            <a:ext cx="0" cy="73437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線單箭頭接點 50">
            <a:extLst>
              <a:ext uri="{FF2B5EF4-FFF2-40B4-BE49-F238E27FC236}">
                <a16:creationId xmlns:a16="http://schemas.microsoft.com/office/drawing/2014/main" id="{211F78E1-8A23-5A54-4595-2F4D992764BE}"/>
              </a:ext>
            </a:extLst>
          </p:cNvPr>
          <p:cNvCxnSpPr>
            <a:cxnSpLocks/>
            <a:stCxn id="46" idx="0"/>
            <a:endCxn id="45" idx="2"/>
          </p:cNvCxnSpPr>
          <p:nvPr/>
        </p:nvCxnSpPr>
        <p:spPr>
          <a:xfrm flipH="1" flipV="1">
            <a:off x="1827066" y="3627064"/>
            <a:ext cx="1841" cy="24554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線單箭頭接點 51">
            <a:extLst>
              <a:ext uri="{FF2B5EF4-FFF2-40B4-BE49-F238E27FC236}">
                <a16:creationId xmlns:a16="http://schemas.microsoft.com/office/drawing/2014/main" id="{CE2F5296-A0E4-FF11-A7B9-A5D5F7C1203F}"/>
              </a:ext>
            </a:extLst>
          </p:cNvPr>
          <p:cNvCxnSpPr>
            <a:cxnSpLocks/>
            <a:stCxn id="45" idx="0"/>
            <a:endCxn id="44" idx="2"/>
          </p:cNvCxnSpPr>
          <p:nvPr/>
        </p:nvCxnSpPr>
        <p:spPr>
          <a:xfrm flipV="1">
            <a:off x="1827066" y="2959826"/>
            <a:ext cx="0" cy="14401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接點: 肘形 52">
            <a:extLst>
              <a:ext uri="{FF2B5EF4-FFF2-40B4-BE49-F238E27FC236}">
                <a16:creationId xmlns:a16="http://schemas.microsoft.com/office/drawing/2014/main" id="{62F66B81-F252-937F-AB6E-078A1672D168}"/>
              </a:ext>
            </a:extLst>
          </p:cNvPr>
          <p:cNvCxnSpPr>
            <a:cxnSpLocks/>
            <a:stCxn id="48" idx="3"/>
            <a:endCxn id="46" idx="3"/>
          </p:cNvCxnSpPr>
          <p:nvPr/>
        </p:nvCxnSpPr>
        <p:spPr>
          <a:xfrm flipH="1">
            <a:off x="2265147" y="1820380"/>
            <a:ext cx="137983" cy="2232248"/>
          </a:xfrm>
          <a:prstGeom prst="bentConnector3">
            <a:avLst>
              <a:gd name="adj1" fmla="val -165673"/>
            </a:avLst>
          </a:prstGeom>
          <a:ln w="19050">
            <a:solidFill>
              <a:srgbClr val="9E7800"/>
            </a:solidFill>
            <a:prstDash val="solid"/>
            <a:headEnd type="non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1DAB17A7-CEC1-42C1-B9A6-C33B9D111C6C}"/>
              </a:ext>
            </a:extLst>
          </p:cNvPr>
          <p:cNvSpPr txBox="1"/>
          <p:nvPr/>
        </p:nvSpPr>
        <p:spPr>
          <a:xfrm>
            <a:off x="941808" y="3316295"/>
            <a:ext cx="294468" cy="20503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 </a:t>
            </a:r>
            <a:r>
              <a:rPr lang="en-US" altLang="zh-TW" sz="1000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x</a:t>
            </a:r>
            <a:endParaRPr lang="en-US" altLang="zh-TW" sz="1000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B26C0AAB-D17C-4A7B-87E8-AC15F85B7C79}"/>
              </a:ext>
            </a:extLst>
          </p:cNvPr>
          <p:cNvSpPr/>
          <p:nvPr/>
        </p:nvSpPr>
        <p:spPr>
          <a:xfrm>
            <a:off x="969406" y="4756512"/>
            <a:ext cx="504056" cy="268224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Text</a:t>
            </a: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6E13554E-E43E-1888-820B-E303E4149CDF}"/>
              </a:ext>
            </a:extLst>
          </p:cNvPr>
          <p:cNvSpPr/>
          <p:nvPr/>
        </p:nvSpPr>
        <p:spPr>
          <a:xfrm>
            <a:off x="1575038" y="4756512"/>
            <a:ext cx="504056" cy="268224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Image</a:t>
            </a: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70629A8E-D1FA-995B-C7BE-C53ECF5DACD3}"/>
              </a:ext>
            </a:extLst>
          </p:cNvPr>
          <p:cNvSpPr/>
          <p:nvPr/>
        </p:nvSpPr>
        <p:spPr>
          <a:xfrm>
            <a:off x="2176988" y="4742035"/>
            <a:ext cx="504056" cy="268224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Audio</a:t>
            </a: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F0BF80CF-6201-D1A4-16BD-1A5443CE3F85}"/>
              </a:ext>
            </a:extLst>
          </p:cNvPr>
          <p:cNvSpPr/>
          <p:nvPr/>
        </p:nvSpPr>
        <p:spPr>
          <a:xfrm>
            <a:off x="1575038" y="4427944"/>
            <a:ext cx="504056" cy="26491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SigLIP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cxnSp>
        <p:nvCxnSpPr>
          <p:cNvPr id="63" name="直線單箭頭接點 62">
            <a:extLst>
              <a:ext uri="{FF2B5EF4-FFF2-40B4-BE49-F238E27FC236}">
                <a16:creationId xmlns:a16="http://schemas.microsoft.com/office/drawing/2014/main" id="{35FD393D-DCD5-647B-B17E-3F99EED73466}"/>
              </a:ext>
            </a:extLst>
          </p:cNvPr>
          <p:cNvCxnSpPr>
            <a:cxnSpLocks/>
            <a:stCxn id="59" idx="0"/>
            <a:endCxn id="46" idx="2"/>
          </p:cNvCxnSpPr>
          <p:nvPr/>
        </p:nvCxnSpPr>
        <p:spPr>
          <a:xfrm flipV="1">
            <a:off x="1827066" y="4232648"/>
            <a:ext cx="1841" cy="19529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30727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C23B966-DAD7-D6A0-A67D-B7E01C0537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文字方塊 15">
            <a:extLst>
              <a:ext uri="{FF2B5EF4-FFF2-40B4-BE49-F238E27FC236}">
                <a16:creationId xmlns:a16="http://schemas.microsoft.com/office/drawing/2014/main" id="{7848F0AA-C765-223A-D17B-03AD40C1A72B}"/>
              </a:ext>
            </a:extLst>
          </p:cNvPr>
          <p:cNvSpPr txBox="1"/>
          <p:nvPr/>
        </p:nvSpPr>
        <p:spPr>
          <a:xfrm>
            <a:off x="3213685" y="1201393"/>
            <a:ext cx="543739" cy="28088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>
            <a:noAutofit/>
          </a:bodyPr>
          <a:lstStyle/>
          <a:p>
            <a:pPr algn="ctr"/>
            <a:r>
              <a:rPr lang="en-US" altLang="zh-TW" dirty="0"/>
              <a:t>-</a:t>
            </a:r>
            <a:endParaRPr lang="zh-TW" altLang="en-US" dirty="0"/>
          </a:p>
        </p:txBody>
      </p:sp>
      <p:sp>
        <p:nvSpPr>
          <p:cNvPr id="103" name="矩形: 圓角 102">
            <a:extLst>
              <a:ext uri="{FF2B5EF4-FFF2-40B4-BE49-F238E27FC236}">
                <a16:creationId xmlns:a16="http://schemas.microsoft.com/office/drawing/2014/main" id="{985A520D-1AF7-D8E5-3EBE-B1B8FBD2B96E}"/>
              </a:ext>
            </a:extLst>
          </p:cNvPr>
          <p:cNvSpPr/>
          <p:nvPr/>
        </p:nvSpPr>
        <p:spPr>
          <a:xfrm>
            <a:off x="3036994" y="5401299"/>
            <a:ext cx="914176" cy="205744"/>
          </a:xfrm>
          <a:prstGeom prst="roundRect">
            <a:avLst>
              <a:gd name="adj" fmla="val 29689"/>
            </a:avLst>
          </a:prstGeom>
          <a:solidFill>
            <a:srgbClr val="FFFF00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rPr>
              <a:t>strong</a:t>
            </a:r>
            <a:endParaRPr lang="zh-TW" altLang="en-US" sz="1400" dirty="0">
              <a:solidFill>
                <a:schemeClr val="bg1"/>
              </a:solidFill>
              <a:highlight>
                <a:srgbClr val="000000"/>
              </a:highlight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pSp>
        <p:nvGrpSpPr>
          <p:cNvPr id="148" name="群組 147">
            <a:extLst>
              <a:ext uri="{FF2B5EF4-FFF2-40B4-BE49-F238E27FC236}">
                <a16:creationId xmlns:a16="http://schemas.microsoft.com/office/drawing/2014/main" id="{F0F10065-7F6A-5FBA-E0D3-BF81B7BEEE60}"/>
              </a:ext>
            </a:extLst>
          </p:cNvPr>
          <p:cNvGrpSpPr/>
          <p:nvPr/>
        </p:nvGrpSpPr>
        <p:grpSpPr>
          <a:xfrm>
            <a:off x="2829812" y="2060848"/>
            <a:ext cx="1310140" cy="3245081"/>
            <a:chOff x="3849298" y="2060848"/>
            <a:chExt cx="1310140" cy="3245081"/>
          </a:xfrm>
        </p:grpSpPr>
        <p:sp>
          <p:nvSpPr>
            <p:cNvPr id="109" name="矩形: 圓角 108">
              <a:extLst>
                <a:ext uri="{FF2B5EF4-FFF2-40B4-BE49-F238E27FC236}">
                  <a16:creationId xmlns:a16="http://schemas.microsoft.com/office/drawing/2014/main" id="{D643863D-085A-066E-8198-08703870C38B}"/>
                </a:ext>
              </a:extLst>
            </p:cNvPr>
            <p:cNvSpPr/>
            <p:nvPr/>
          </p:nvSpPr>
          <p:spPr>
            <a:xfrm>
              <a:off x="3983219" y="2851682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accent1">
                      <a:lumMod val="75000"/>
                    </a:schemeClr>
                  </a:solidFill>
                </a:rPr>
                <a:t>RMS Norm</a:t>
              </a:r>
              <a:endParaRPr lang="zh-TW" altLang="en-US" sz="1400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10" name="矩形: 圓角 109">
              <a:extLst>
                <a:ext uri="{FF2B5EF4-FFF2-40B4-BE49-F238E27FC236}">
                  <a16:creationId xmlns:a16="http://schemas.microsoft.com/office/drawing/2014/main" id="{4E862151-984A-C3BE-EC5B-2248E9CECF59}"/>
                </a:ext>
              </a:extLst>
            </p:cNvPr>
            <p:cNvSpPr/>
            <p:nvPr/>
          </p:nvSpPr>
          <p:spPr>
            <a:xfrm>
              <a:off x="3983219" y="4027493"/>
              <a:ext cx="1028304" cy="24317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accent2">
                      <a:lumMod val="50000"/>
                    </a:schemeClr>
                  </a:solidFill>
                </a:rPr>
                <a:t>Dense</a:t>
              </a:r>
              <a:endParaRPr lang="zh-TW" altLang="en-US" sz="1400" b="1" dirty="0">
                <a:solidFill>
                  <a:schemeClr val="accent2">
                    <a:lumMod val="50000"/>
                  </a:schemeClr>
                </a:solidFill>
              </a:endParaRPr>
            </a:p>
          </p:txBody>
        </p:sp>
        <p:sp>
          <p:nvSpPr>
            <p:cNvPr id="111" name="矩形: 圓角 110">
              <a:extLst>
                <a:ext uri="{FF2B5EF4-FFF2-40B4-BE49-F238E27FC236}">
                  <a16:creationId xmlns:a16="http://schemas.microsoft.com/office/drawing/2014/main" id="{69B682F6-3C5D-383C-B8DC-520CF6FA4FB2}"/>
                </a:ext>
              </a:extLst>
            </p:cNvPr>
            <p:cNvSpPr/>
            <p:nvPr/>
          </p:nvSpPr>
          <p:spPr>
            <a:xfrm>
              <a:off x="3983219" y="3694603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accent1">
                      <a:lumMod val="75000"/>
                    </a:schemeClr>
                  </a:solidFill>
                </a:rPr>
                <a:t>RMS Norm</a:t>
              </a:r>
              <a:endParaRPr lang="zh-TW" altLang="en-US" sz="1400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12" name="矩形 111">
              <a:extLst>
                <a:ext uri="{FF2B5EF4-FFF2-40B4-BE49-F238E27FC236}">
                  <a16:creationId xmlns:a16="http://schemas.microsoft.com/office/drawing/2014/main" id="{84B9CC40-C29D-2BCE-EBA4-BBE4925DD80A}"/>
                </a:ext>
              </a:extLst>
            </p:cNvPr>
            <p:cNvSpPr/>
            <p:nvPr/>
          </p:nvSpPr>
          <p:spPr>
            <a:xfrm>
              <a:off x="3849298" y="2614483"/>
              <a:ext cx="1310140" cy="1797695"/>
            </a:xfrm>
            <a:prstGeom prst="rect">
              <a:avLst/>
            </a:prstGeom>
            <a:noFill/>
            <a:ln w="19050">
              <a:solidFill>
                <a:schemeClr val="accent5">
                  <a:lumMod val="50000"/>
                </a:schemeClr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91440" bIns="0" rtlCol="0" anchor="t" anchorCtr="0"/>
            <a:lstStyle/>
            <a:p>
              <a:pPr algn="r"/>
              <a:r>
                <a:rPr lang="en-US" altLang="zh-TW" sz="1200" b="1" dirty="0">
                  <a:solidFill>
                    <a:schemeClr val="tx1"/>
                  </a:solidFill>
                </a:rPr>
                <a:t>Decoder</a:t>
              </a:r>
              <a:endParaRPr lang="zh-TW" altLang="en-US" sz="1200" b="1" dirty="0">
                <a:solidFill>
                  <a:schemeClr val="tx1"/>
                </a:solidFill>
              </a:endParaRPr>
            </a:p>
          </p:txBody>
        </p:sp>
        <p:cxnSp>
          <p:nvCxnSpPr>
            <p:cNvPr id="113" name="接點: 肘形 112">
              <a:extLst>
                <a:ext uri="{FF2B5EF4-FFF2-40B4-BE49-F238E27FC236}">
                  <a16:creationId xmlns:a16="http://schemas.microsoft.com/office/drawing/2014/main" id="{7B52A5C3-5576-DC05-9419-E40D36779C02}"/>
                </a:ext>
              </a:extLst>
            </p:cNvPr>
            <p:cNvCxnSpPr>
              <a:cxnSpLocks/>
              <a:stCxn id="110" idx="2"/>
              <a:endCxn id="112" idx="0"/>
            </p:cNvCxnSpPr>
            <p:nvPr/>
          </p:nvCxnSpPr>
          <p:spPr>
            <a:xfrm rot="5400000" flipH="1" flipV="1">
              <a:off x="3672777" y="3439076"/>
              <a:ext cx="1656184" cy="6997"/>
            </a:xfrm>
            <a:prstGeom prst="bentConnector5">
              <a:avLst>
                <a:gd name="adj1" fmla="val -13803"/>
                <a:gd name="adj2" fmla="val 12729270"/>
                <a:gd name="adj3" fmla="val 113803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直線單箭頭接點 113">
              <a:extLst>
                <a:ext uri="{FF2B5EF4-FFF2-40B4-BE49-F238E27FC236}">
                  <a16:creationId xmlns:a16="http://schemas.microsoft.com/office/drawing/2014/main" id="{3E4763E1-156B-EAB3-1482-BB26BC82972F}"/>
                </a:ext>
              </a:extLst>
            </p:cNvPr>
            <p:cNvCxnSpPr>
              <a:cxnSpLocks/>
              <a:stCxn id="109" idx="2"/>
              <a:endCxn id="111" idx="0"/>
            </p:cNvCxnSpPr>
            <p:nvPr/>
          </p:nvCxnSpPr>
          <p:spPr>
            <a:xfrm>
              <a:off x="4497371" y="3094856"/>
              <a:ext cx="0" cy="59974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直線單箭頭接點 114">
              <a:extLst>
                <a:ext uri="{FF2B5EF4-FFF2-40B4-BE49-F238E27FC236}">
                  <a16:creationId xmlns:a16="http://schemas.microsoft.com/office/drawing/2014/main" id="{12235F2D-CEE7-296E-755A-F5D4ABF441D6}"/>
                </a:ext>
              </a:extLst>
            </p:cNvPr>
            <p:cNvCxnSpPr>
              <a:cxnSpLocks/>
              <a:stCxn id="112" idx="0"/>
              <a:endCxn id="109" idx="0"/>
            </p:cNvCxnSpPr>
            <p:nvPr/>
          </p:nvCxnSpPr>
          <p:spPr>
            <a:xfrm flipH="1">
              <a:off x="4497371" y="2614483"/>
              <a:ext cx="6997" cy="23719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6" name="矩形: 圓角 115">
              <a:extLst>
                <a:ext uri="{FF2B5EF4-FFF2-40B4-BE49-F238E27FC236}">
                  <a16:creationId xmlns:a16="http://schemas.microsoft.com/office/drawing/2014/main" id="{D4BC95E7-25DF-7E07-A536-0CD77848BD43}"/>
                </a:ext>
              </a:extLst>
            </p:cNvPr>
            <p:cNvSpPr/>
            <p:nvPr/>
          </p:nvSpPr>
          <p:spPr>
            <a:xfrm>
              <a:off x="3995936" y="2060848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accent1">
                      <a:lumMod val="75000"/>
                    </a:schemeClr>
                  </a:solidFill>
                </a:rPr>
                <a:t>Tokenizer</a:t>
              </a:r>
              <a:endParaRPr lang="zh-TW" altLang="en-US" sz="1400" b="1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17" name="矩形: 圓角 116">
              <a:extLst>
                <a:ext uri="{FF2B5EF4-FFF2-40B4-BE49-F238E27FC236}">
                  <a16:creationId xmlns:a16="http://schemas.microsoft.com/office/drawing/2014/main" id="{8A5DE2C4-9779-763F-DA77-D4BF53E10E2C}"/>
                </a:ext>
              </a:extLst>
            </p:cNvPr>
            <p:cNvSpPr/>
            <p:nvPr/>
          </p:nvSpPr>
          <p:spPr>
            <a:xfrm>
              <a:off x="3990889" y="5062755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accent1">
                      <a:lumMod val="75000"/>
                    </a:schemeClr>
                  </a:solidFill>
                </a:rPr>
                <a:t>Linear, SM</a:t>
              </a:r>
              <a:endParaRPr lang="zh-TW" altLang="en-US" sz="1400" b="1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08" name="矩形: 圓角 107">
              <a:extLst>
                <a:ext uri="{FF2B5EF4-FFF2-40B4-BE49-F238E27FC236}">
                  <a16:creationId xmlns:a16="http://schemas.microsoft.com/office/drawing/2014/main" id="{64A7F151-25BB-C919-1E94-322290C66BA7}"/>
                </a:ext>
              </a:extLst>
            </p:cNvPr>
            <p:cNvSpPr/>
            <p:nvPr/>
          </p:nvSpPr>
          <p:spPr>
            <a:xfrm>
              <a:off x="3983219" y="3163397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accent1">
                      <a:lumMod val="75000"/>
                    </a:schemeClr>
                  </a:solidFill>
                </a:rPr>
                <a:t>Attention</a:t>
              </a:r>
              <a:endParaRPr lang="zh-TW" altLang="en-US" sz="1400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</p:grpSp>
      <p:sp>
        <p:nvSpPr>
          <p:cNvPr id="132" name="矩形: 圓角 131">
            <a:extLst>
              <a:ext uri="{FF2B5EF4-FFF2-40B4-BE49-F238E27FC236}">
                <a16:creationId xmlns:a16="http://schemas.microsoft.com/office/drawing/2014/main" id="{E3FBFF97-BA32-5455-8C0B-EC5A4A4EB5EE}"/>
              </a:ext>
            </a:extLst>
          </p:cNvPr>
          <p:cNvSpPr/>
          <p:nvPr/>
        </p:nvSpPr>
        <p:spPr>
          <a:xfrm>
            <a:off x="2831158" y="1628801"/>
            <a:ext cx="1308794" cy="205743"/>
          </a:xfrm>
          <a:prstGeom prst="roundRect">
            <a:avLst/>
          </a:prstGeom>
          <a:solidFill>
            <a:srgbClr val="FFFF00"/>
          </a:solidFill>
          <a:ln w="31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Tiny</a:t>
            </a:r>
            <a:r>
              <a:rPr lang="en-US" altLang="zh-TW" sz="1400" dirty="0">
                <a:solidFill>
                  <a:schemeClr val="bg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 </a:t>
            </a:r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models</a:t>
            </a:r>
            <a:r>
              <a:rPr lang="en-US" altLang="zh-TW" sz="1400" dirty="0">
                <a:solidFill>
                  <a:schemeClr val="bg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 </a:t>
            </a:r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are</a:t>
            </a:r>
            <a:endParaRPr lang="zh-TW" altLang="en-US" sz="1400" dirty="0">
              <a:solidFill>
                <a:schemeClr val="bg1"/>
              </a:solidFill>
              <a:highlight>
                <a:srgbClr val="000000"/>
              </a:highlight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1911F230-2352-C760-C7B8-EB21486E2995}"/>
              </a:ext>
            </a:extLst>
          </p:cNvPr>
          <p:cNvSpPr txBox="1"/>
          <p:nvPr/>
        </p:nvSpPr>
        <p:spPr>
          <a:xfrm>
            <a:off x="6879590" y="1196752"/>
            <a:ext cx="971741" cy="28088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>
            <a:noAutofit/>
          </a:bodyPr>
          <a:lstStyle/>
          <a:p>
            <a:pPr algn="ctr"/>
            <a:r>
              <a:rPr lang="en-US" altLang="zh-TW" dirty="0"/>
              <a:t>31B</a:t>
            </a:r>
            <a:endParaRPr lang="zh-TW" altLang="en-US" dirty="0"/>
          </a:p>
        </p:txBody>
      </p:sp>
      <p:grpSp>
        <p:nvGrpSpPr>
          <p:cNvPr id="149" name="群組 148">
            <a:extLst>
              <a:ext uri="{FF2B5EF4-FFF2-40B4-BE49-F238E27FC236}">
                <a16:creationId xmlns:a16="http://schemas.microsoft.com/office/drawing/2014/main" id="{492045BB-025A-DBF5-021F-09A185662DA5}"/>
              </a:ext>
            </a:extLst>
          </p:cNvPr>
          <p:cNvGrpSpPr/>
          <p:nvPr/>
        </p:nvGrpSpPr>
        <p:grpSpPr>
          <a:xfrm>
            <a:off x="6719590" y="2060848"/>
            <a:ext cx="1308794" cy="3245081"/>
            <a:chOff x="6802972" y="2060848"/>
            <a:chExt cx="1308794" cy="3245081"/>
          </a:xfrm>
        </p:grpSpPr>
        <p:sp>
          <p:nvSpPr>
            <p:cNvPr id="120" name="矩形: 圓角 119">
              <a:extLst>
                <a:ext uri="{FF2B5EF4-FFF2-40B4-BE49-F238E27FC236}">
                  <a16:creationId xmlns:a16="http://schemas.microsoft.com/office/drawing/2014/main" id="{9BB6CEB6-EC7D-8920-62F1-3E8C5BFC0D19}"/>
                </a:ext>
              </a:extLst>
            </p:cNvPr>
            <p:cNvSpPr/>
            <p:nvPr/>
          </p:nvSpPr>
          <p:spPr>
            <a:xfrm>
              <a:off x="6935547" y="2851682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accent1">
                      <a:lumMod val="75000"/>
                    </a:schemeClr>
                  </a:solidFill>
                </a:rPr>
                <a:t>RMS Norm</a:t>
              </a:r>
              <a:endParaRPr lang="zh-TW" altLang="en-US" sz="1400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21" name="矩形: 圓角 120">
              <a:extLst>
                <a:ext uri="{FF2B5EF4-FFF2-40B4-BE49-F238E27FC236}">
                  <a16:creationId xmlns:a16="http://schemas.microsoft.com/office/drawing/2014/main" id="{8A063924-3EA4-657A-3B56-20C06C7F0EAC}"/>
                </a:ext>
              </a:extLst>
            </p:cNvPr>
            <p:cNvSpPr/>
            <p:nvPr/>
          </p:nvSpPr>
          <p:spPr>
            <a:xfrm>
              <a:off x="6935547" y="4027493"/>
              <a:ext cx="1028304" cy="24317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accent2">
                      <a:lumMod val="50000"/>
                    </a:schemeClr>
                  </a:solidFill>
                </a:rPr>
                <a:t>Dense</a:t>
              </a:r>
              <a:endParaRPr lang="zh-TW" altLang="en-US" sz="1400" b="1" dirty="0">
                <a:solidFill>
                  <a:schemeClr val="accent2">
                    <a:lumMod val="50000"/>
                  </a:schemeClr>
                </a:solidFill>
              </a:endParaRPr>
            </a:p>
          </p:txBody>
        </p:sp>
        <p:sp>
          <p:nvSpPr>
            <p:cNvPr id="122" name="矩形: 圓角 121">
              <a:extLst>
                <a:ext uri="{FF2B5EF4-FFF2-40B4-BE49-F238E27FC236}">
                  <a16:creationId xmlns:a16="http://schemas.microsoft.com/office/drawing/2014/main" id="{8CA98DBE-9624-B211-9684-3542C8EC83D3}"/>
                </a:ext>
              </a:extLst>
            </p:cNvPr>
            <p:cNvSpPr/>
            <p:nvPr/>
          </p:nvSpPr>
          <p:spPr>
            <a:xfrm>
              <a:off x="6935547" y="3694603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accent1">
                      <a:lumMod val="75000"/>
                    </a:schemeClr>
                  </a:solidFill>
                </a:rPr>
                <a:t>RMS Norm</a:t>
              </a:r>
              <a:endParaRPr lang="zh-TW" altLang="en-US" sz="1400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23" name="矩形 122">
              <a:extLst>
                <a:ext uri="{FF2B5EF4-FFF2-40B4-BE49-F238E27FC236}">
                  <a16:creationId xmlns:a16="http://schemas.microsoft.com/office/drawing/2014/main" id="{395E25C7-B234-15C9-9564-594466778E51}"/>
                </a:ext>
              </a:extLst>
            </p:cNvPr>
            <p:cNvSpPr/>
            <p:nvPr/>
          </p:nvSpPr>
          <p:spPr>
            <a:xfrm>
              <a:off x="6802972" y="2614483"/>
              <a:ext cx="1308794" cy="1797695"/>
            </a:xfrm>
            <a:prstGeom prst="rect">
              <a:avLst/>
            </a:prstGeom>
            <a:noFill/>
            <a:ln w="19050">
              <a:solidFill>
                <a:schemeClr val="accent5">
                  <a:lumMod val="50000"/>
                </a:schemeClr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91440" bIns="0" rtlCol="0" anchor="t" anchorCtr="0"/>
            <a:lstStyle/>
            <a:p>
              <a:pPr algn="r"/>
              <a:r>
                <a:rPr lang="en-US" altLang="zh-TW" sz="1200" b="1" dirty="0">
                  <a:solidFill>
                    <a:schemeClr val="tx1"/>
                  </a:solidFill>
                </a:rPr>
                <a:t>Decoder</a:t>
              </a:r>
              <a:endParaRPr lang="zh-TW" altLang="en-US" sz="1200" b="1" dirty="0">
                <a:solidFill>
                  <a:schemeClr val="tx1"/>
                </a:solidFill>
              </a:endParaRPr>
            </a:p>
          </p:txBody>
        </p:sp>
        <p:cxnSp>
          <p:nvCxnSpPr>
            <p:cNvPr id="124" name="接點: 肘形 123">
              <a:extLst>
                <a:ext uri="{FF2B5EF4-FFF2-40B4-BE49-F238E27FC236}">
                  <a16:creationId xmlns:a16="http://schemas.microsoft.com/office/drawing/2014/main" id="{467F7384-4627-CCB5-B01A-E21DD3DC2F6D}"/>
                </a:ext>
              </a:extLst>
            </p:cNvPr>
            <p:cNvCxnSpPr>
              <a:cxnSpLocks/>
              <a:stCxn id="121" idx="2"/>
              <a:endCxn id="123" idx="0"/>
            </p:cNvCxnSpPr>
            <p:nvPr/>
          </p:nvCxnSpPr>
          <p:spPr>
            <a:xfrm rot="5400000" flipH="1" flipV="1">
              <a:off x="6625442" y="3438740"/>
              <a:ext cx="1656184" cy="7670"/>
            </a:xfrm>
            <a:prstGeom prst="bentConnector5">
              <a:avLst>
                <a:gd name="adj1" fmla="val -13803"/>
                <a:gd name="adj2" fmla="val 11612347"/>
                <a:gd name="adj3" fmla="val 113803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直線單箭頭接點 124">
              <a:extLst>
                <a:ext uri="{FF2B5EF4-FFF2-40B4-BE49-F238E27FC236}">
                  <a16:creationId xmlns:a16="http://schemas.microsoft.com/office/drawing/2014/main" id="{2BD2BC9A-2875-A636-B0C9-45E38F5B3E1D}"/>
                </a:ext>
              </a:extLst>
            </p:cNvPr>
            <p:cNvCxnSpPr>
              <a:cxnSpLocks/>
              <a:stCxn id="120" idx="2"/>
              <a:endCxn id="122" idx="0"/>
            </p:cNvCxnSpPr>
            <p:nvPr/>
          </p:nvCxnSpPr>
          <p:spPr>
            <a:xfrm>
              <a:off x="7449699" y="3094856"/>
              <a:ext cx="0" cy="59974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直線單箭頭接點 125">
              <a:extLst>
                <a:ext uri="{FF2B5EF4-FFF2-40B4-BE49-F238E27FC236}">
                  <a16:creationId xmlns:a16="http://schemas.microsoft.com/office/drawing/2014/main" id="{D80856AF-CFBA-835A-690A-F2C50D2D6158}"/>
                </a:ext>
              </a:extLst>
            </p:cNvPr>
            <p:cNvCxnSpPr>
              <a:cxnSpLocks/>
              <a:stCxn id="123" idx="0"/>
              <a:endCxn id="120" idx="0"/>
            </p:cNvCxnSpPr>
            <p:nvPr/>
          </p:nvCxnSpPr>
          <p:spPr>
            <a:xfrm flipH="1">
              <a:off x="7449699" y="2614483"/>
              <a:ext cx="7670" cy="23719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7" name="矩形: 圓角 126">
              <a:extLst>
                <a:ext uri="{FF2B5EF4-FFF2-40B4-BE49-F238E27FC236}">
                  <a16:creationId xmlns:a16="http://schemas.microsoft.com/office/drawing/2014/main" id="{0B2DBBD7-B36E-8BBC-E735-E8890E35910E}"/>
                </a:ext>
              </a:extLst>
            </p:cNvPr>
            <p:cNvSpPr/>
            <p:nvPr/>
          </p:nvSpPr>
          <p:spPr>
            <a:xfrm>
              <a:off x="6948264" y="2060848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accent1">
                      <a:lumMod val="75000"/>
                    </a:schemeClr>
                  </a:solidFill>
                </a:rPr>
                <a:t>Tokenizer</a:t>
              </a:r>
              <a:endParaRPr lang="zh-TW" altLang="en-US" sz="1400" b="1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28" name="矩形: 圓角 127">
              <a:extLst>
                <a:ext uri="{FF2B5EF4-FFF2-40B4-BE49-F238E27FC236}">
                  <a16:creationId xmlns:a16="http://schemas.microsoft.com/office/drawing/2014/main" id="{8FDC4DB7-CE2F-1ECE-223F-7865F36AA0BF}"/>
                </a:ext>
              </a:extLst>
            </p:cNvPr>
            <p:cNvSpPr/>
            <p:nvPr/>
          </p:nvSpPr>
          <p:spPr>
            <a:xfrm>
              <a:off x="6943217" y="5062755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accent1">
                      <a:lumMod val="75000"/>
                    </a:schemeClr>
                  </a:solidFill>
                </a:rPr>
                <a:t>Linear/SM</a:t>
              </a:r>
              <a:endParaRPr lang="zh-TW" altLang="en-US" sz="1400" b="1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19" name="矩形: 圓角 118">
              <a:extLst>
                <a:ext uri="{FF2B5EF4-FFF2-40B4-BE49-F238E27FC236}">
                  <a16:creationId xmlns:a16="http://schemas.microsoft.com/office/drawing/2014/main" id="{94298CA8-2710-91AD-8843-EA502879EDD9}"/>
                </a:ext>
              </a:extLst>
            </p:cNvPr>
            <p:cNvSpPr/>
            <p:nvPr/>
          </p:nvSpPr>
          <p:spPr>
            <a:xfrm>
              <a:off x="6935547" y="3163397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accent1">
                      <a:lumMod val="75000"/>
                    </a:schemeClr>
                  </a:solidFill>
                </a:rPr>
                <a:t>Attention</a:t>
              </a:r>
              <a:endParaRPr lang="zh-TW" altLang="en-US" sz="1400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</p:grpSp>
      <p:sp>
        <p:nvSpPr>
          <p:cNvPr id="133" name="矩形: 圓角 132">
            <a:extLst>
              <a:ext uri="{FF2B5EF4-FFF2-40B4-BE49-F238E27FC236}">
                <a16:creationId xmlns:a16="http://schemas.microsoft.com/office/drawing/2014/main" id="{9092F2FC-C1F2-242D-5C89-5D336FE7F22D}"/>
              </a:ext>
            </a:extLst>
          </p:cNvPr>
          <p:cNvSpPr/>
          <p:nvPr/>
        </p:nvSpPr>
        <p:spPr>
          <a:xfrm>
            <a:off x="6719590" y="1630144"/>
            <a:ext cx="1308794" cy="205743"/>
          </a:xfrm>
          <a:prstGeom prst="roundRect">
            <a:avLst/>
          </a:prstGeom>
          <a:solidFill>
            <a:srgbClr val="FFFF00"/>
          </a:solidFill>
          <a:ln w="31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Tiny</a:t>
            </a:r>
            <a:r>
              <a:rPr lang="en-US" altLang="zh-TW" sz="1400" dirty="0">
                <a:solidFill>
                  <a:schemeClr val="bg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 </a:t>
            </a:r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models</a:t>
            </a:r>
            <a:r>
              <a:rPr lang="en-US" altLang="zh-TW" sz="1400" dirty="0">
                <a:solidFill>
                  <a:schemeClr val="bg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 </a:t>
            </a:r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are</a:t>
            </a:r>
            <a:endParaRPr lang="zh-TW" altLang="en-US" sz="1400" dirty="0">
              <a:solidFill>
                <a:schemeClr val="bg1"/>
              </a:solidFill>
              <a:highlight>
                <a:srgbClr val="000000"/>
              </a:highlight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50" name="矩形: 圓角 149">
            <a:extLst>
              <a:ext uri="{FF2B5EF4-FFF2-40B4-BE49-F238E27FC236}">
                <a16:creationId xmlns:a16="http://schemas.microsoft.com/office/drawing/2014/main" id="{D3DE2044-614E-2FC4-5C0E-BB995E43E930}"/>
              </a:ext>
            </a:extLst>
          </p:cNvPr>
          <p:cNvSpPr/>
          <p:nvPr/>
        </p:nvSpPr>
        <p:spPr>
          <a:xfrm>
            <a:off x="6908372" y="5401299"/>
            <a:ext cx="914176" cy="205744"/>
          </a:xfrm>
          <a:prstGeom prst="roundRect">
            <a:avLst>
              <a:gd name="adj" fmla="val 29689"/>
            </a:avLst>
          </a:prstGeom>
          <a:solidFill>
            <a:srgbClr val="FFFF00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rPr>
              <a:t>incredible</a:t>
            </a:r>
            <a:endParaRPr lang="zh-TW" altLang="en-US" sz="1400" dirty="0">
              <a:solidFill>
                <a:schemeClr val="bg1"/>
              </a:solidFill>
              <a:highlight>
                <a:srgbClr val="000000"/>
              </a:highlight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B9641B5A-6D76-20E0-5E2F-A2BBBC1E5DDF}"/>
              </a:ext>
            </a:extLst>
          </p:cNvPr>
          <p:cNvSpPr txBox="1"/>
          <p:nvPr/>
        </p:nvSpPr>
        <p:spPr>
          <a:xfrm>
            <a:off x="1005772" y="1196752"/>
            <a:ext cx="1104790" cy="28088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>
            <a:noAutofit/>
          </a:bodyPr>
          <a:lstStyle/>
          <a:p>
            <a:pPr algn="ctr"/>
            <a:r>
              <a:rPr lang="zh-TW" altLang="zh-TW" dirty="0"/>
              <a:t>E</a:t>
            </a:r>
            <a:r>
              <a:rPr lang="en-US" altLang="zh-TW" dirty="0"/>
              <a:t>2B</a:t>
            </a:r>
            <a:r>
              <a:rPr lang="zh-TW" altLang="en-US" dirty="0"/>
              <a:t> </a:t>
            </a:r>
            <a:r>
              <a:rPr lang="en-US" altLang="zh-TW" dirty="0"/>
              <a:t>|</a:t>
            </a:r>
            <a:r>
              <a:rPr lang="zh-TW" altLang="en-US" dirty="0"/>
              <a:t> </a:t>
            </a:r>
            <a:r>
              <a:rPr lang="en-US" altLang="zh-TW" dirty="0"/>
              <a:t>E4B</a:t>
            </a:r>
            <a:endParaRPr lang="zh-TW" altLang="en-US" dirty="0"/>
          </a:p>
        </p:txBody>
      </p:sp>
      <p:sp>
        <p:nvSpPr>
          <p:cNvPr id="100" name="矩形: 圓角 99">
            <a:extLst>
              <a:ext uri="{FF2B5EF4-FFF2-40B4-BE49-F238E27FC236}">
                <a16:creationId xmlns:a16="http://schemas.microsoft.com/office/drawing/2014/main" id="{7A4B6551-DFE9-5AFB-73A0-96CBDFE6F370}"/>
              </a:ext>
            </a:extLst>
          </p:cNvPr>
          <p:cNvSpPr/>
          <p:nvPr/>
        </p:nvSpPr>
        <p:spPr>
          <a:xfrm>
            <a:off x="900938" y="1628800"/>
            <a:ext cx="1308794" cy="205743"/>
          </a:xfrm>
          <a:prstGeom prst="roundRect">
            <a:avLst/>
          </a:prstGeom>
          <a:solidFill>
            <a:srgbClr val="FFFF00"/>
          </a:solidFill>
          <a:ln w="31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Tiny</a:t>
            </a:r>
            <a:r>
              <a:rPr lang="en-US" altLang="zh-TW" sz="1400" dirty="0">
                <a:solidFill>
                  <a:schemeClr val="bg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 </a:t>
            </a:r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models</a:t>
            </a:r>
            <a:r>
              <a:rPr lang="en-US" altLang="zh-TW" sz="1400" dirty="0">
                <a:solidFill>
                  <a:schemeClr val="bg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 </a:t>
            </a:r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are</a:t>
            </a:r>
            <a:endParaRPr lang="zh-TW" altLang="en-US" sz="1400" dirty="0">
              <a:solidFill>
                <a:schemeClr val="bg1"/>
              </a:solidFill>
              <a:highlight>
                <a:srgbClr val="000000"/>
              </a:highlight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9" name="矩形: 圓角 98">
            <a:extLst>
              <a:ext uri="{FF2B5EF4-FFF2-40B4-BE49-F238E27FC236}">
                <a16:creationId xmlns:a16="http://schemas.microsoft.com/office/drawing/2014/main" id="{69F2BA7C-EC26-AE4B-266C-E1FFCF3F56BB}"/>
              </a:ext>
            </a:extLst>
          </p:cNvPr>
          <p:cNvSpPr/>
          <p:nvPr/>
        </p:nvSpPr>
        <p:spPr>
          <a:xfrm>
            <a:off x="1046230" y="2060848"/>
            <a:ext cx="1028304" cy="243174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Tokenizer</a:t>
            </a:r>
            <a:endParaRPr lang="zh-TW" altLang="en-US" sz="14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02" name="矩形: 圓角 101">
            <a:extLst>
              <a:ext uri="{FF2B5EF4-FFF2-40B4-BE49-F238E27FC236}">
                <a16:creationId xmlns:a16="http://schemas.microsoft.com/office/drawing/2014/main" id="{D6F902D6-7962-950C-CA01-D0444021D2AE}"/>
              </a:ext>
            </a:extLst>
          </p:cNvPr>
          <p:cNvSpPr/>
          <p:nvPr/>
        </p:nvSpPr>
        <p:spPr>
          <a:xfrm>
            <a:off x="1041183" y="5062755"/>
            <a:ext cx="1028304" cy="243174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Linear, SM</a:t>
            </a:r>
            <a:endParaRPr lang="zh-TW" altLang="en-US" sz="14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06" name="矩形: 圓角 105">
            <a:extLst>
              <a:ext uri="{FF2B5EF4-FFF2-40B4-BE49-F238E27FC236}">
                <a16:creationId xmlns:a16="http://schemas.microsoft.com/office/drawing/2014/main" id="{F40A9B2A-A730-C0E4-28DA-C0D300705B20}"/>
              </a:ext>
            </a:extLst>
          </p:cNvPr>
          <p:cNvSpPr/>
          <p:nvPr/>
        </p:nvSpPr>
        <p:spPr>
          <a:xfrm>
            <a:off x="1090577" y="5401299"/>
            <a:ext cx="914176" cy="205744"/>
          </a:xfrm>
          <a:prstGeom prst="roundRect">
            <a:avLst>
              <a:gd name="adj" fmla="val 29689"/>
            </a:avLst>
          </a:prstGeom>
          <a:solidFill>
            <a:srgbClr val="FFFF00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rPr>
              <a:t>efficient</a:t>
            </a:r>
            <a:endParaRPr lang="zh-TW" altLang="en-US" sz="1400" dirty="0">
              <a:solidFill>
                <a:schemeClr val="bg1"/>
              </a:solidFill>
              <a:highlight>
                <a:srgbClr val="000000"/>
              </a:highlight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1" name="矩形: 圓角 60">
            <a:extLst>
              <a:ext uri="{FF2B5EF4-FFF2-40B4-BE49-F238E27FC236}">
                <a16:creationId xmlns:a16="http://schemas.microsoft.com/office/drawing/2014/main" id="{03C6B755-D05C-27BD-79B2-55678CBEAC6F}"/>
              </a:ext>
            </a:extLst>
          </p:cNvPr>
          <p:cNvSpPr/>
          <p:nvPr/>
        </p:nvSpPr>
        <p:spPr>
          <a:xfrm>
            <a:off x="1033513" y="2851682"/>
            <a:ext cx="1028304" cy="243174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accent1">
                    <a:lumMod val="75000"/>
                  </a:schemeClr>
                </a:solidFill>
              </a:rPr>
              <a:t>RMS Norm</a:t>
            </a:r>
            <a:endParaRPr lang="zh-TW" altLang="en-US" sz="14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67" name="矩形: 圓角 66">
            <a:extLst>
              <a:ext uri="{FF2B5EF4-FFF2-40B4-BE49-F238E27FC236}">
                <a16:creationId xmlns:a16="http://schemas.microsoft.com/office/drawing/2014/main" id="{8FCA1082-371A-761C-F724-53E92C3F12F2}"/>
              </a:ext>
            </a:extLst>
          </p:cNvPr>
          <p:cNvSpPr/>
          <p:nvPr/>
        </p:nvSpPr>
        <p:spPr>
          <a:xfrm>
            <a:off x="1033513" y="3694603"/>
            <a:ext cx="1028304" cy="243174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accent1">
                    <a:lumMod val="75000"/>
                  </a:schemeClr>
                </a:solidFill>
              </a:rPr>
              <a:t>RMS Norm</a:t>
            </a:r>
            <a:endParaRPr lang="zh-TW" altLang="en-US" sz="14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E60D6D68-B2C2-5EB2-AC78-92CE09C22B85}"/>
              </a:ext>
            </a:extLst>
          </p:cNvPr>
          <p:cNvSpPr/>
          <p:nvPr/>
        </p:nvSpPr>
        <p:spPr>
          <a:xfrm>
            <a:off x="899592" y="2614483"/>
            <a:ext cx="1310140" cy="1797695"/>
          </a:xfrm>
          <a:prstGeom prst="rect">
            <a:avLst/>
          </a:prstGeom>
          <a:noFill/>
          <a:ln w="19050">
            <a:solidFill>
              <a:schemeClr val="accent5">
                <a:lumMod val="50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91440" bIns="0" rtlCol="0" anchor="t" anchorCtr="0"/>
          <a:lstStyle/>
          <a:p>
            <a:pPr algn="r"/>
            <a:r>
              <a:rPr lang="en-US" altLang="zh-TW" sz="1200" b="1" dirty="0">
                <a:solidFill>
                  <a:schemeClr val="tx1"/>
                </a:solidFill>
              </a:rPr>
              <a:t>Decoder</a:t>
            </a:r>
            <a:endParaRPr lang="zh-TW" altLang="en-US" sz="1200" b="1" dirty="0">
              <a:solidFill>
                <a:schemeClr val="tx1"/>
              </a:solidFill>
            </a:endParaRPr>
          </a:p>
        </p:txBody>
      </p:sp>
      <p:cxnSp>
        <p:nvCxnSpPr>
          <p:cNvPr id="73" name="接點: 肘形 72">
            <a:extLst>
              <a:ext uri="{FF2B5EF4-FFF2-40B4-BE49-F238E27FC236}">
                <a16:creationId xmlns:a16="http://schemas.microsoft.com/office/drawing/2014/main" id="{D5EBFD55-44DF-2BD0-FF01-1E7CDAED5AAE}"/>
              </a:ext>
            </a:extLst>
          </p:cNvPr>
          <p:cNvCxnSpPr>
            <a:cxnSpLocks/>
            <a:stCxn id="31" idx="2"/>
            <a:endCxn id="68" idx="0"/>
          </p:cNvCxnSpPr>
          <p:nvPr/>
        </p:nvCxnSpPr>
        <p:spPr>
          <a:xfrm rot="5400000" flipH="1" flipV="1">
            <a:off x="693062" y="3431497"/>
            <a:ext cx="1678613" cy="44585"/>
          </a:xfrm>
          <a:prstGeom prst="bentConnector5">
            <a:avLst>
              <a:gd name="adj1" fmla="val -13618"/>
              <a:gd name="adj2" fmla="val 2081989"/>
              <a:gd name="adj3" fmla="val 113618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直線單箭頭接點 86">
            <a:extLst>
              <a:ext uri="{FF2B5EF4-FFF2-40B4-BE49-F238E27FC236}">
                <a16:creationId xmlns:a16="http://schemas.microsoft.com/office/drawing/2014/main" id="{02F4D24C-78DB-E2F4-0758-81A1AEC7219B}"/>
              </a:ext>
            </a:extLst>
          </p:cNvPr>
          <p:cNvCxnSpPr>
            <a:cxnSpLocks/>
            <a:stCxn id="61" idx="2"/>
            <a:endCxn id="67" idx="0"/>
          </p:cNvCxnSpPr>
          <p:nvPr/>
        </p:nvCxnSpPr>
        <p:spPr>
          <a:xfrm>
            <a:off x="1547665" y="3094856"/>
            <a:ext cx="0" cy="5997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直線單箭頭接點 87">
            <a:extLst>
              <a:ext uri="{FF2B5EF4-FFF2-40B4-BE49-F238E27FC236}">
                <a16:creationId xmlns:a16="http://schemas.microsoft.com/office/drawing/2014/main" id="{21B7025B-C134-F076-4EE5-931D6E6ECD32}"/>
              </a:ext>
            </a:extLst>
          </p:cNvPr>
          <p:cNvCxnSpPr>
            <a:cxnSpLocks/>
            <a:stCxn id="68" idx="0"/>
            <a:endCxn id="61" idx="0"/>
          </p:cNvCxnSpPr>
          <p:nvPr/>
        </p:nvCxnSpPr>
        <p:spPr>
          <a:xfrm flipH="1">
            <a:off x="1547665" y="2614483"/>
            <a:ext cx="6997" cy="23719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矩形: 圓角 1">
            <a:extLst>
              <a:ext uri="{FF2B5EF4-FFF2-40B4-BE49-F238E27FC236}">
                <a16:creationId xmlns:a16="http://schemas.microsoft.com/office/drawing/2014/main" id="{9A25F266-A98D-3C03-5F01-207FF628D10E}"/>
              </a:ext>
            </a:extLst>
          </p:cNvPr>
          <p:cNvSpPr/>
          <p:nvPr/>
        </p:nvSpPr>
        <p:spPr>
          <a:xfrm>
            <a:off x="1653593" y="3146727"/>
            <a:ext cx="410174" cy="473363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b="1" dirty="0">
                <a:solidFill>
                  <a:schemeClr val="accent2">
                    <a:lumMod val="50000"/>
                  </a:schemeClr>
                </a:solidFill>
              </a:rPr>
              <a:t>Static</a:t>
            </a:r>
          </a:p>
          <a:p>
            <a:pPr algn="ctr"/>
            <a:r>
              <a:rPr lang="en-US" altLang="zh-TW" sz="1000" b="1" dirty="0">
                <a:solidFill>
                  <a:schemeClr val="accent2">
                    <a:lumMod val="50000"/>
                  </a:schemeClr>
                </a:solidFill>
              </a:rPr>
              <a:t>Lookup</a:t>
            </a:r>
            <a:endParaRPr lang="zh-TW" altLang="en-US" sz="10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60" name="矩形: 圓角 59">
            <a:extLst>
              <a:ext uri="{FF2B5EF4-FFF2-40B4-BE49-F238E27FC236}">
                <a16:creationId xmlns:a16="http://schemas.microsoft.com/office/drawing/2014/main" id="{A9B62857-6CDE-ED55-4D34-58DBE864A80C}"/>
              </a:ext>
            </a:extLst>
          </p:cNvPr>
          <p:cNvSpPr/>
          <p:nvPr/>
        </p:nvSpPr>
        <p:spPr>
          <a:xfrm>
            <a:off x="1033513" y="3169369"/>
            <a:ext cx="487505" cy="235949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accent1">
                    <a:lumMod val="75000"/>
                  </a:schemeClr>
                </a:solidFill>
              </a:rPr>
              <a:t>QKV</a:t>
            </a:r>
            <a:endParaRPr lang="zh-TW" altLang="en-US" sz="14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C6261674-D437-3D2E-A642-52CEA22B9E02}"/>
              </a:ext>
            </a:extLst>
          </p:cNvPr>
          <p:cNvSpPr txBox="1"/>
          <p:nvPr/>
        </p:nvSpPr>
        <p:spPr>
          <a:xfrm>
            <a:off x="4920456" y="1202493"/>
            <a:ext cx="543739" cy="28088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>
            <a:noAutofit/>
          </a:bodyPr>
          <a:lstStyle/>
          <a:p>
            <a:pPr algn="ctr"/>
            <a:r>
              <a:rPr lang="en-US" altLang="zh-TW" dirty="0"/>
              <a:t>26B</a:t>
            </a:r>
            <a:r>
              <a:rPr lang="zh-TW" altLang="en-US" dirty="0"/>
              <a:t> </a:t>
            </a:r>
            <a:r>
              <a:rPr lang="en-US" altLang="zh-TW" dirty="0"/>
              <a:t>A4B</a:t>
            </a:r>
            <a:endParaRPr lang="zh-TW" altLang="en-US" dirty="0"/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CC1ABE0A-F445-EDD2-303C-73794F7E75E0}"/>
              </a:ext>
            </a:extLst>
          </p:cNvPr>
          <p:cNvSpPr/>
          <p:nvPr/>
        </p:nvSpPr>
        <p:spPr>
          <a:xfrm>
            <a:off x="4743765" y="5402399"/>
            <a:ext cx="914176" cy="205744"/>
          </a:xfrm>
          <a:prstGeom prst="roundRect">
            <a:avLst>
              <a:gd name="adj" fmla="val 29689"/>
            </a:avLst>
          </a:prstGeom>
          <a:solidFill>
            <a:srgbClr val="FFFF00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rPr>
              <a:t>strong</a:t>
            </a:r>
            <a:endParaRPr lang="zh-TW" altLang="en-US" sz="1400" dirty="0">
              <a:solidFill>
                <a:schemeClr val="bg1"/>
              </a:solidFill>
              <a:highlight>
                <a:srgbClr val="000000"/>
              </a:highlight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pSp>
        <p:nvGrpSpPr>
          <p:cNvPr id="10" name="群組 9">
            <a:extLst>
              <a:ext uri="{FF2B5EF4-FFF2-40B4-BE49-F238E27FC236}">
                <a16:creationId xmlns:a16="http://schemas.microsoft.com/office/drawing/2014/main" id="{F7321815-2BBC-4AE3-793C-5D03DBC3953A}"/>
              </a:ext>
            </a:extLst>
          </p:cNvPr>
          <p:cNvGrpSpPr/>
          <p:nvPr/>
        </p:nvGrpSpPr>
        <p:grpSpPr>
          <a:xfrm>
            <a:off x="4536583" y="2061948"/>
            <a:ext cx="1310140" cy="3245081"/>
            <a:chOff x="3849298" y="2060848"/>
            <a:chExt cx="1310140" cy="3245081"/>
          </a:xfrm>
        </p:grpSpPr>
        <p:sp>
          <p:nvSpPr>
            <p:cNvPr id="12" name="矩形: 圓角 11">
              <a:extLst>
                <a:ext uri="{FF2B5EF4-FFF2-40B4-BE49-F238E27FC236}">
                  <a16:creationId xmlns:a16="http://schemas.microsoft.com/office/drawing/2014/main" id="{D454C187-244C-4D88-2AAD-41E84C47FCC0}"/>
                </a:ext>
              </a:extLst>
            </p:cNvPr>
            <p:cNvSpPr/>
            <p:nvPr/>
          </p:nvSpPr>
          <p:spPr>
            <a:xfrm>
              <a:off x="3983219" y="2851682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accent1">
                      <a:lumMod val="75000"/>
                    </a:schemeClr>
                  </a:solidFill>
                </a:rPr>
                <a:t>RMS Norm</a:t>
              </a:r>
              <a:endParaRPr lang="zh-TW" altLang="en-US" sz="1400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3" name="矩形: 圓角 12">
              <a:extLst>
                <a:ext uri="{FF2B5EF4-FFF2-40B4-BE49-F238E27FC236}">
                  <a16:creationId xmlns:a16="http://schemas.microsoft.com/office/drawing/2014/main" id="{78C3F4AC-2CFC-3CCA-5032-F0F2E1A55FBE}"/>
                </a:ext>
              </a:extLst>
            </p:cNvPr>
            <p:cNvSpPr/>
            <p:nvPr/>
          </p:nvSpPr>
          <p:spPr>
            <a:xfrm>
              <a:off x="3983219" y="4027493"/>
              <a:ext cx="1028304" cy="24317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  <a:alpha val="80000"/>
              </a:schemeClr>
            </a:solidFill>
            <a:ln w="12700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accent2">
                      <a:lumMod val="75000"/>
                    </a:schemeClr>
                  </a:solidFill>
                </a:rPr>
                <a:t>MoE 128</a:t>
              </a:r>
              <a:endParaRPr lang="zh-TW" altLang="en-US" sz="1400" b="1" dirty="0">
                <a:solidFill>
                  <a:schemeClr val="accent2">
                    <a:lumMod val="75000"/>
                  </a:schemeClr>
                </a:solidFill>
              </a:endParaRPr>
            </a:p>
          </p:txBody>
        </p:sp>
        <p:sp>
          <p:nvSpPr>
            <p:cNvPr id="14" name="矩形: 圓角 13">
              <a:extLst>
                <a:ext uri="{FF2B5EF4-FFF2-40B4-BE49-F238E27FC236}">
                  <a16:creationId xmlns:a16="http://schemas.microsoft.com/office/drawing/2014/main" id="{DB5D64DD-ACA9-5A13-082A-755DD5163747}"/>
                </a:ext>
              </a:extLst>
            </p:cNvPr>
            <p:cNvSpPr/>
            <p:nvPr/>
          </p:nvSpPr>
          <p:spPr>
            <a:xfrm>
              <a:off x="3983219" y="3694603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accent1">
                      <a:lumMod val="75000"/>
                    </a:schemeClr>
                  </a:solidFill>
                </a:rPr>
                <a:t>RMS Norm</a:t>
              </a:r>
              <a:endParaRPr lang="zh-TW" altLang="en-US" sz="1400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8" name="矩形 17">
              <a:extLst>
                <a:ext uri="{FF2B5EF4-FFF2-40B4-BE49-F238E27FC236}">
                  <a16:creationId xmlns:a16="http://schemas.microsoft.com/office/drawing/2014/main" id="{CC360D91-74C6-D362-A60C-2792997F5353}"/>
                </a:ext>
              </a:extLst>
            </p:cNvPr>
            <p:cNvSpPr/>
            <p:nvPr/>
          </p:nvSpPr>
          <p:spPr>
            <a:xfrm>
              <a:off x="3849298" y="2614483"/>
              <a:ext cx="1310140" cy="1797695"/>
            </a:xfrm>
            <a:prstGeom prst="rect">
              <a:avLst/>
            </a:prstGeom>
            <a:noFill/>
            <a:ln w="19050">
              <a:solidFill>
                <a:schemeClr val="accent5">
                  <a:lumMod val="50000"/>
                </a:schemeClr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91440" bIns="0" rtlCol="0" anchor="t" anchorCtr="0"/>
            <a:lstStyle/>
            <a:p>
              <a:pPr algn="r"/>
              <a:r>
                <a:rPr lang="en-US" altLang="zh-TW" sz="1200" b="1" dirty="0">
                  <a:solidFill>
                    <a:schemeClr val="tx1"/>
                  </a:solidFill>
                </a:rPr>
                <a:t>Decoder</a:t>
              </a:r>
              <a:endParaRPr lang="zh-TW" altLang="en-US" sz="1200" b="1" dirty="0">
                <a:solidFill>
                  <a:schemeClr val="tx1"/>
                </a:solidFill>
              </a:endParaRPr>
            </a:p>
          </p:txBody>
        </p:sp>
        <p:cxnSp>
          <p:nvCxnSpPr>
            <p:cNvPr id="19" name="接點: 肘形 18">
              <a:extLst>
                <a:ext uri="{FF2B5EF4-FFF2-40B4-BE49-F238E27FC236}">
                  <a16:creationId xmlns:a16="http://schemas.microsoft.com/office/drawing/2014/main" id="{A6880EE1-7A75-B6A1-BD2E-6EA6A9E540AD}"/>
                </a:ext>
              </a:extLst>
            </p:cNvPr>
            <p:cNvCxnSpPr>
              <a:cxnSpLocks/>
              <a:stCxn id="13" idx="2"/>
              <a:endCxn id="18" idx="0"/>
            </p:cNvCxnSpPr>
            <p:nvPr/>
          </p:nvCxnSpPr>
          <p:spPr>
            <a:xfrm rot="5400000" flipH="1" flipV="1">
              <a:off x="3672777" y="3439076"/>
              <a:ext cx="1656184" cy="6997"/>
            </a:xfrm>
            <a:prstGeom prst="bentConnector5">
              <a:avLst>
                <a:gd name="adj1" fmla="val -13803"/>
                <a:gd name="adj2" fmla="val 12729270"/>
                <a:gd name="adj3" fmla="val 113803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直線單箭頭接點 19">
              <a:extLst>
                <a:ext uri="{FF2B5EF4-FFF2-40B4-BE49-F238E27FC236}">
                  <a16:creationId xmlns:a16="http://schemas.microsoft.com/office/drawing/2014/main" id="{FBFF6502-70E1-6BBD-2AC8-EAA5D38815D6}"/>
                </a:ext>
              </a:extLst>
            </p:cNvPr>
            <p:cNvCxnSpPr>
              <a:cxnSpLocks/>
              <a:stCxn id="12" idx="2"/>
              <a:endCxn id="14" idx="0"/>
            </p:cNvCxnSpPr>
            <p:nvPr/>
          </p:nvCxnSpPr>
          <p:spPr>
            <a:xfrm>
              <a:off x="4497371" y="3094856"/>
              <a:ext cx="0" cy="59974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線單箭頭接點 20">
              <a:extLst>
                <a:ext uri="{FF2B5EF4-FFF2-40B4-BE49-F238E27FC236}">
                  <a16:creationId xmlns:a16="http://schemas.microsoft.com/office/drawing/2014/main" id="{43AD69EE-5BCF-B82E-5B77-00541605CF4E}"/>
                </a:ext>
              </a:extLst>
            </p:cNvPr>
            <p:cNvCxnSpPr>
              <a:cxnSpLocks/>
              <a:stCxn id="18" idx="0"/>
              <a:endCxn id="12" idx="0"/>
            </p:cNvCxnSpPr>
            <p:nvPr/>
          </p:nvCxnSpPr>
          <p:spPr>
            <a:xfrm flipH="1">
              <a:off x="4497371" y="2614483"/>
              <a:ext cx="6997" cy="23719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矩形: 圓角 21">
              <a:extLst>
                <a:ext uri="{FF2B5EF4-FFF2-40B4-BE49-F238E27FC236}">
                  <a16:creationId xmlns:a16="http://schemas.microsoft.com/office/drawing/2014/main" id="{994AB774-6412-AD8D-A060-1FF0717D4A11}"/>
                </a:ext>
              </a:extLst>
            </p:cNvPr>
            <p:cNvSpPr/>
            <p:nvPr/>
          </p:nvSpPr>
          <p:spPr>
            <a:xfrm>
              <a:off x="3995936" y="2060848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accent1">
                      <a:lumMod val="75000"/>
                    </a:schemeClr>
                  </a:solidFill>
                </a:rPr>
                <a:t>Tokenizer</a:t>
              </a:r>
              <a:endParaRPr lang="zh-TW" altLang="en-US" sz="1400" b="1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23" name="矩形: 圓角 22">
              <a:extLst>
                <a:ext uri="{FF2B5EF4-FFF2-40B4-BE49-F238E27FC236}">
                  <a16:creationId xmlns:a16="http://schemas.microsoft.com/office/drawing/2014/main" id="{89C79542-04A7-9209-8AB1-05F980A6215F}"/>
                </a:ext>
              </a:extLst>
            </p:cNvPr>
            <p:cNvSpPr/>
            <p:nvPr/>
          </p:nvSpPr>
          <p:spPr>
            <a:xfrm>
              <a:off x="3990889" y="5062755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accent1">
                      <a:lumMod val="75000"/>
                    </a:schemeClr>
                  </a:solidFill>
                </a:rPr>
                <a:t>Linear, SM</a:t>
              </a:r>
              <a:endParaRPr lang="zh-TW" altLang="en-US" sz="1400" b="1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24" name="矩形: 圓角 23">
              <a:extLst>
                <a:ext uri="{FF2B5EF4-FFF2-40B4-BE49-F238E27FC236}">
                  <a16:creationId xmlns:a16="http://schemas.microsoft.com/office/drawing/2014/main" id="{B9589719-EB9F-F081-329F-6A3ABC557418}"/>
                </a:ext>
              </a:extLst>
            </p:cNvPr>
            <p:cNvSpPr/>
            <p:nvPr/>
          </p:nvSpPr>
          <p:spPr>
            <a:xfrm>
              <a:off x="3983219" y="3163397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accent1">
                      <a:lumMod val="75000"/>
                    </a:schemeClr>
                  </a:solidFill>
                </a:rPr>
                <a:t>Attention</a:t>
              </a:r>
              <a:endParaRPr lang="zh-TW" altLang="en-US" sz="1400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</p:grp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BE36C2DC-F629-157A-34F2-03A63B2290DC}"/>
              </a:ext>
            </a:extLst>
          </p:cNvPr>
          <p:cNvSpPr/>
          <p:nvPr/>
        </p:nvSpPr>
        <p:spPr>
          <a:xfrm>
            <a:off x="4537929" y="1629901"/>
            <a:ext cx="1308794" cy="205743"/>
          </a:xfrm>
          <a:prstGeom prst="roundRect">
            <a:avLst/>
          </a:prstGeom>
          <a:solidFill>
            <a:srgbClr val="FFFF00"/>
          </a:solidFill>
          <a:ln w="31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Tiny</a:t>
            </a:r>
            <a:r>
              <a:rPr lang="en-US" altLang="zh-TW" sz="1400" dirty="0">
                <a:solidFill>
                  <a:schemeClr val="bg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 </a:t>
            </a:r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models</a:t>
            </a:r>
            <a:r>
              <a:rPr lang="en-US" altLang="zh-TW" sz="1400" dirty="0">
                <a:solidFill>
                  <a:schemeClr val="bg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 </a:t>
            </a:r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are</a:t>
            </a:r>
            <a:endParaRPr lang="zh-TW" altLang="en-US" sz="1400" dirty="0">
              <a:solidFill>
                <a:schemeClr val="bg1"/>
              </a:solidFill>
              <a:highlight>
                <a:srgbClr val="000000"/>
              </a:highlight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340547C6-8256-A648-ACDB-FEEEC1125790}"/>
              </a:ext>
            </a:extLst>
          </p:cNvPr>
          <p:cNvSpPr/>
          <p:nvPr/>
        </p:nvSpPr>
        <p:spPr>
          <a:xfrm>
            <a:off x="3036994" y="154246"/>
            <a:ext cx="547318" cy="267208"/>
          </a:xfrm>
          <a:prstGeom prst="roundRect">
            <a:avLst/>
          </a:prstGeom>
          <a:solidFill>
            <a:schemeClr val="accent2">
              <a:lumMod val="20000"/>
              <a:lumOff val="80000"/>
              <a:alpha val="40000"/>
            </a:schemeClr>
          </a:solidFill>
          <a:ln w="127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accent2">
                    <a:lumMod val="50000"/>
                  </a:schemeClr>
                </a:solidFill>
              </a:rPr>
              <a:t>RoLA</a:t>
            </a:r>
            <a:endParaRPr lang="zh-TW" altLang="en-US" sz="14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B6DFF5E6-3953-CA90-E2B9-5BA098DA0891}"/>
              </a:ext>
            </a:extLst>
          </p:cNvPr>
          <p:cNvSpPr txBox="1"/>
          <p:nvPr/>
        </p:nvSpPr>
        <p:spPr>
          <a:xfrm>
            <a:off x="513010" y="971049"/>
            <a:ext cx="792088" cy="4514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00"/>
              </a:lnSpc>
              <a:tabLst>
                <a:tab pos="285750" algn="l"/>
              </a:tabLst>
            </a:pPr>
            <a:r>
              <a:rPr lang="en-US" altLang="zh-TW" sz="12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E</a:t>
            </a:r>
            <a:r>
              <a:rPr lang="en-US" altLang="zh-TW" sz="1200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fficient/</a:t>
            </a:r>
            <a:r>
              <a:rPr lang="en-US" altLang="zh-TW" sz="12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E</a:t>
            </a:r>
            <a:r>
              <a:rPr lang="en-US" altLang="zh-TW" sz="1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dge</a:t>
            </a:r>
            <a:endParaRPr lang="en-US" altLang="zh-TW" sz="1200" u="none" strike="noStrike" dirty="0">
              <a:solidFill>
                <a:schemeClr val="tx1">
                  <a:lumMod val="65000"/>
                  <a:lumOff val="35000"/>
                </a:schemeClr>
              </a:solidFill>
              <a:effectLst/>
            </a:endParaRPr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647CF019-CA5A-4262-E603-F0DD19E4210E}"/>
              </a:ext>
            </a:extLst>
          </p:cNvPr>
          <p:cNvSpPr txBox="1"/>
          <p:nvPr/>
        </p:nvSpPr>
        <p:spPr>
          <a:xfrm>
            <a:off x="4678173" y="398556"/>
            <a:ext cx="1168549" cy="2718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00"/>
              </a:lnSpc>
              <a:tabLst>
                <a:tab pos="285750" algn="l"/>
              </a:tabLst>
            </a:pPr>
            <a:r>
              <a:rPr lang="en-US" altLang="zh-TW" sz="12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RoLA for all</a:t>
            </a:r>
            <a:endParaRPr lang="en-US" altLang="zh-TW" sz="1200" u="none" strike="noStrike" dirty="0">
              <a:solidFill>
                <a:schemeClr val="tx1">
                  <a:lumMod val="65000"/>
                  <a:lumOff val="35000"/>
                </a:schemeClr>
              </a:solidFill>
              <a:effectLst/>
            </a:endParaRPr>
          </a:p>
        </p:txBody>
      </p:sp>
      <p:sp>
        <p:nvSpPr>
          <p:cNvPr id="31" name="矩形: 圓角 30">
            <a:extLst>
              <a:ext uri="{FF2B5EF4-FFF2-40B4-BE49-F238E27FC236}">
                <a16:creationId xmlns:a16="http://schemas.microsoft.com/office/drawing/2014/main" id="{F96FF19D-1DBD-E165-FA63-703753A558E6}"/>
              </a:ext>
            </a:extLst>
          </p:cNvPr>
          <p:cNvSpPr/>
          <p:nvPr/>
        </p:nvSpPr>
        <p:spPr>
          <a:xfrm>
            <a:off x="1250141" y="4049922"/>
            <a:ext cx="519872" cy="243174"/>
          </a:xfrm>
          <a:prstGeom prst="roundRect">
            <a:avLst/>
          </a:prstGeom>
          <a:solidFill>
            <a:schemeClr val="accent2">
              <a:lumMod val="20000"/>
              <a:lumOff val="80000"/>
              <a:alpha val="70000"/>
            </a:schemeClr>
          </a:solidFill>
          <a:ln w="127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accent2">
                    <a:lumMod val="50000"/>
                  </a:schemeClr>
                </a:solidFill>
              </a:rPr>
              <a:t>D+PLE</a:t>
            </a:r>
            <a:endParaRPr lang="zh-TW" altLang="en-US" sz="1400" b="1" dirty="0">
              <a:solidFill>
                <a:schemeClr val="accent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23446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4086AF1C-9AF9-050B-5F63-E4F091EB7C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560" y="476672"/>
            <a:ext cx="4596152" cy="4307251"/>
          </a:xfrm>
          <a:prstGeom prst="rect">
            <a:avLst/>
          </a:prstGeom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E6066CE6-2A4A-B14D-B71E-0B7D1DF8B5A6}"/>
              </a:ext>
            </a:extLst>
          </p:cNvPr>
          <p:cNvSpPr txBox="1"/>
          <p:nvPr/>
        </p:nvSpPr>
        <p:spPr>
          <a:xfrm>
            <a:off x="3347864" y="27459"/>
            <a:ext cx="49083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200" dirty="0"/>
              <a:t>https://ai.google.dev/gemma/docs/diffusiongemma/explained?hl=zh-tw</a:t>
            </a: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A01D6A66-814C-907F-51F0-047ABE8E28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95936" y="2132856"/>
            <a:ext cx="5057095" cy="3979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61857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A7115C8-56FB-C1E8-48CB-42F4B251C3E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Comparison of Language Models</a:t>
            </a:r>
          </a:p>
          <a:p>
            <a:pPr marL="285750" indent="-285750">
              <a:buFontTx/>
              <a:buChar char="-"/>
            </a:pP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Cx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8A44451E-FF02-AF4A-2290-C616F7E886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6098217"/>
              </p:ext>
            </p:extLst>
          </p:nvPr>
        </p:nvGraphicFramePr>
        <p:xfrm>
          <a:off x="683568" y="1317641"/>
          <a:ext cx="7560839" cy="49684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5757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14443">
                  <a:extLst>
                    <a:ext uri="{9D8B030D-6E8A-4147-A177-3AD203B41FA5}">
                      <a16:colId xmlns:a16="http://schemas.microsoft.com/office/drawing/2014/main" val="401334077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3431692166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768901619"/>
                    </a:ext>
                  </a:extLst>
                </a:gridCol>
                <a:gridCol w="1321184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242323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20084">
                <a:tc>
                  <a:txBody>
                    <a:bodyPr/>
                    <a:lstStyle/>
                    <a:p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Models</a:t>
                      </a:r>
                    </a:p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Name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(active/total)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</a:t>
                      </a:r>
                      <a:b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(tokens)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LiveCodeBench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(Pass@1)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(Requirement)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20084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Gemini 3 Pro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Preview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Cloud-based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Closed source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96.2%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zh-TW" sz="1100" b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目前最強的雲端閉源模型之一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Gemini 3.5 Flash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95.5%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zh-TW" sz="1100" b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高速推理的頂級代表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 26B A4B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3.8B/25.2B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94.8%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開源模型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,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極省電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(24GB VRAM)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GPT-5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93.5%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OpenAI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的主力旗艦模型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o3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91.9%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具備深度思考推理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(Reasoning)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能力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o4-mini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90.7%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輕量化推理模型的代表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013170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V3.2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51B/685B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89.6%~73%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MoE, Local open source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8966719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 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31B/31B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88.9%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旗艦模型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8975361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Fable 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89.7%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Anthropic premium Agent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6205179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10*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o1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87.1%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雲端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：本地無硬體要求，經典初代大文本思考模型。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3407724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11*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Opus 4.5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87.1%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深度邏輯強悍但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成本較高。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138396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3.5 Sonnet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83.3%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雲端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：本地無硬體要求，企業最愛用的長青高性價比模型。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2432676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13_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V3.1 Terminus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37B/671B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79.8%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超大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MoE (160GB+VRAM)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905601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 3 Nemotron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49B/49B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73.7%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Dense, 48GB VRAM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4574766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15_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 4 Maverick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~70B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10M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~72.0%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Dense, 48GB VRAM x 2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50355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8470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FE3D3B2A-2DEC-1253-A1E1-B3380B49BA63}"/>
              </a:ext>
            </a:extLst>
          </p:cNvPr>
          <p:cNvSpPr txBox="1"/>
          <p:nvPr/>
        </p:nvSpPr>
        <p:spPr>
          <a:xfrm>
            <a:off x="683568" y="5229200"/>
            <a:ext cx="5217715" cy="1075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GPT Generated Unify Format (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GGUF)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LLM file format.</a:t>
            </a:r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Open Neuro Network eXchange (ONNX):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AI model file format</a:t>
            </a:r>
            <a:r>
              <a:rPr lang="en-US" altLang="zh-TW" sz="12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, for example YOLO.</a:t>
            </a:r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endParaRPr lang="en-US" altLang="zh-TW" sz="1200" dirty="0">
              <a:solidFill>
                <a:prstClr val="black"/>
              </a:solidFill>
              <a:latin typeface="Calibri"/>
              <a:ea typeface="新細明體" panose="02020500000000000000" pitchFamily="18" charset="-120"/>
            </a:endParaRPr>
          </a:p>
        </p:txBody>
      </p:sp>
      <p:sp>
        <p:nvSpPr>
          <p:cNvPr id="3" name="標題 1">
            <a:extLst>
              <a:ext uri="{FF2B5EF4-FFF2-40B4-BE49-F238E27FC236}">
                <a16:creationId xmlns:a16="http://schemas.microsoft.com/office/drawing/2014/main" id="{539E0622-0F1A-61E6-0FAF-97C59BD780F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Leading Frameworks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Deploying and fine-tuning your own LLM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is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now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easier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than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ever. (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框架可以做的事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)</a:t>
            </a: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24603716-DFAF-375B-2830-553970E04F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6764906"/>
              </p:ext>
            </p:extLst>
          </p:nvPr>
        </p:nvGraphicFramePr>
        <p:xfrm>
          <a:off x="323528" y="1484784"/>
          <a:ext cx="8496944" cy="30282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4176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2304256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2304256">
                  <a:extLst>
                    <a:ext uri="{9D8B030D-6E8A-4147-A177-3AD203B41FA5}">
                      <a16:colId xmlns:a16="http://schemas.microsoft.com/office/drawing/2014/main" val="2936818418"/>
                    </a:ext>
                  </a:extLst>
                </a:gridCol>
                <a:gridCol w="2304256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Training</a:t>
                      </a:r>
                    </a:p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Framework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LLaMA-Factory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Unsloth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Axolotl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Gradio WebUI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Hugging Face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 WebUI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Ollama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Llama3/Mistral</a:t>
                      </a:r>
                    </a:p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Meta Llama3, Mistral, Qwen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Llama3, Mistral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8612504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Pre-Training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LLMA-Factory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TRL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Unsloth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Continued PT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Fine-tunning 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PEFT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QLoRA (py)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x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GGUP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5482051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Library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Improved PyTorch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MS DeepSpeed/FSDP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PyTorch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5233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53991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F99B597-7909-D1DA-8454-006A2FB29C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D35E8E5C-914A-198C-6F71-81C8CF8D75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0529344"/>
              </p:ext>
            </p:extLst>
          </p:nvPr>
        </p:nvGraphicFramePr>
        <p:xfrm>
          <a:off x="459210" y="4077072"/>
          <a:ext cx="8225582" cy="21118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0542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130775468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3248398504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1668600716"/>
                    </a:ext>
                  </a:extLst>
                </a:gridCol>
              </a:tblGrid>
              <a:tr h="232026">
                <a:tc rowSpan="2">
                  <a:txBody>
                    <a:bodyPr/>
                    <a:lstStyle/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  <a:b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Features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Datasets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Pre-Training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Fine-Tunning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RAG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32026">
                <a:tc vMerge="1"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weight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weight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weight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Routing/PLE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Prompt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Reasoning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(Math)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Knowledge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(Language)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Instruction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(Following)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Long-Context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(Retrieval)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0134548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Alignment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(Safety)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9149316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8726591"/>
                  </a:ext>
                </a:extLst>
              </a:tr>
            </a:tbl>
          </a:graphicData>
        </a:graphic>
      </p:graphicFrame>
      <p:sp>
        <p:nvSpPr>
          <p:cNvPr id="8" name="文字方塊 7">
            <a:extLst>
              <a:ext uri="{FF2B5EF4-FFF2-40B4-BE49-F238E27FC236}">
                <a16:creationId xmlns:a16="http://schemas.microsoft.com/office/drawing/2014/main" id="{09D16506-3A81-A8F0-9750-304184876E06}"/>
              </a:ext>
            </a:extLst>
          </p:cNvPr>
          <p:cNvSpPr txBox="1"/>
          <p:nvPr/>
        </p:nvSpPr>
        <p:spPr>
          <a:xfrm>
            <a:off x="495400" y="1509949"/>
            <a:ext cx="665787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Engineering Index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Latency</a:t>
            </a:r>
            <a:r>
              <a:rPr lang="en-US" altLang="zh-TW" sz="1600" dirty="0">
                <a:solidFill>
                  <a:prstClr val="black"/>
                </a:solidFill>
              </a:rPr>
              <a:t>: Time to first token (TTFT)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Throughput: 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Tokens per second (TPS)</a:t>
            </a:r>
          </a:p>
          <a:p>
            <a:pPr marL="285750" lvl="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Cost Efficiency: </a:t>
            </a:r>
            <a:r>
              <a:rPr lang="en-US" altLang="zh-TW" sz="1600" dirty="0">
                <a:solidFill>
                  <a:prstClr val="black"/>
                </a:solidFill>
              </a:rPr>
              <a:t>Cost per token </a:t>
            </a:r>
            <a:endParaRPr kumimoji="0" lang="en-US" altLang="zh-TW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0FDB6D11-60C8-5A2F-2DF3-BC903F9F91EF}"/>
              </a:ext>
            </a:extLst>
          </p:cNvPr>
          <p:cNvSpPr txBox="1"/>
          <p:nvPr/>
        </p:nvSpPr>
        <p:spPr>
          <a:xfrm>
            <a:off x="3030926" y="3640242"/>
            <a:ext cx="4104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每個階段的成本分析</a:t>
            </a:r>
            <a:r>
              <a:rPr lang="en-US" altLang="zh-TW" dirty="0"/>
              <a:t>(</a:t>
            </a:r>
            <a:r>
              <a:rPr lang="zh-TW" altLang="en-US" dirty="0"/>
              <a:t>時間</a:t>
            </a:r>
            <a:r>
              <a:rPr lang="en-US" altLang="zh-TW" dirty="0"/>
              <a:t>, </a:t>
            </a:r>
            <a:r>
              <a:rPr lang="zh-TW" altLang="en-US" dirty="0"/>
              <a:t>金錢</a:t>
            </a:r>
            <a:r>
              <a:rPr lang="en-US" altLang="zh-TW" dirty="0"/>
              <a:t>)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079359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5C940E0C-74B1-7C52-4534-491AC8EC37ED}"/>
              </a:ext>
            </a:extLst>
          </p:cNvPr>
          <p:cNvSpPr txBox="1"/>
          <p:nvPr/>
        </p:nvSpPr>
        <p:spPr>
          <a:xfrm>
            <a:off x="478689" y="1350928"/>
            <a:ext cx="6657875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Tools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Model Engine: </a:t>
            </a:r>
            <a:r>
              <a:rPr lang="en-US" altLang="zh-TW" sz="1600" dirty="0">
                <a:solidFill>
                  <a:prstClr val="black"/>
                </a:solidFill>
              </a:rPr>
              <a:t>Ollama, … 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DeepSeek, LlaMA4, Gemma4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Fine-Tuning Tool</a:t>
            </a:r>
            <a:r>
              <a:rPr lang="en-US" altLang="zh-TW" sz="1600" dirty="0">
                <a:solidFill>
                  <a:prstClr val="black"/>
                </a:solidFill>
              </a:rPr>
              <a:t>: llama-factory (PEFT)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IDE</a:t>
            </a:r>
            <a:r>
              <a:rPr lang="en-US" altLang="zh-TW" sz="1600" dirty="0">
                <a:solidFill>
                  <a:prstClr val="black"/>
                </a:solidFill>
              </a:rPr>
              <a:t>: Anti-gravity …</a:t>
            </a: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4FCEE8A5-86EF-8FFC-09AD-B4AA7F4E6006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Practical Example: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Hugging Face 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  <a:sym typeface="Wingdings" panose="05000000000000000000" pitchFamily="2" charset="2"/>
              </a:rPr>
              <a:t> Ollama  Launch Model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CF0F2C1A-AAEE-60EA-B4F3-7315978747FF}"/>
              </a:ext>
            </a:extLst>
          </p:cNvPr>
          <p:cNvSpPr txBox="1"/>
          <p:nvPr/>
        </p:nvSpPr>
        <p:spPr>
          <a:xfrm>
            <a:off x="478689" y="3501008"/>
            <a:ext cx="6657875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Steps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Download and Setup</a:t>
            </a:r>
            <a:r>
              <a:rPr lang="en-US" altLang="zh-TW" sz="1600" dirty="0">
                <a:solidFill>
                  <a:prstClr val="black"/>
                </a:solidFill>
              </a:rPr>
              <a:t>: GGUF and ONNX.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Directory: 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 and  … 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endParaRPr lang="en-US" altLang="zh-TW" sz="1600" dirty="0">
              <a:solidFill>
                <a:prstClr val="black"/>
              </a:solidFill>
              <a:latin typeface="Calibri"/>
              <a:ea typeface="新細明體" panose="02020500000000000000" pitchFamily="18" charset="-120"/>
            </a:endParaRP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安裝完一切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, </a:t>
            </a: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該看到什麼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?</a:t>
            </a: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那些檔案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, </a:t>
            </a: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各有什麼功用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101809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72A78C-08E1-24C2-59AF-39BFBB385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BF41F877-BB16-7E15-C2E2-B063C3C0854C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Practical Example: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Python Program in IDE 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160C3417-DCE7-01E2-CCA3-357A9BF7E8E5}"/>
              </a:ext>
            </a:extLst>
          </p:cNvPr>
          <p:cNvSpPr txBox="1"/>
          <p:nvPr/>
        </p:nvSpPr>
        <p:spPr>
          <a:xfrm>
            <a:off x="2286000" y="1556792"/>
            <a:ext cx="4662264" cy="33259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lnSpc>
                <a:spcPts val="1200"/>
              </a:lnSpc>
              <a:buNone/>
            </a:pPr>
            <a:r>
              <a:rPr lang="zh-TW" altLang="zh-TW" sz="1500" b="0" u="none" strike="noStrike" dirty="0">
                <a:effectLst/>
                <a:latin typeface="Google Sans"/>
              </a:rPr>
              <a:t>python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# 1. 配置量化與 LoRA 參數 (呼叫現成工具，不改底層)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peft_config = LoraConfig(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r=16,           # 決定旁路矩陣的大小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lora_alpha=32,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target_modules=["q_proj", "v_proj"], # 指定要外掛在哪些權重矩陣旁邊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)</a:t>
            </a:r>
          </a:p>
          <a:p>
            <a:pPr marL="0" marR="0" rtl="0">
              <a:lnSpc>
                <a:spcPts val="1200"/>
              </a:lnSpc>
              <a:buNone/>
            </a:pPr>
            <a:endParaRPr lang="zh-TW" altLang="zh-TW" sz="1050" b="0" u="none" strike="noStrike" dirty="0">
              <a:effectLst/>
              <a:latin typeface="Courier New" panose="020703090202050204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# 2. 指定優化器與訓練超參數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training_args = TrainingArguments(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per_device_train_batch_size=4,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gradient_accumulation_steps=4,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learning_rate=2e-4,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optim="paged_adamw_8bit", # 直接調用封裝好的 8-bit 優化器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fp16=True,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)</a:t>
            </a:r>
          </a:p>
          <a:p>
            <a:pPr marL="0" marR="0" rtl="0">
              <a:lnSpc>
                <a:spcPts val="1200"/>
              </a:lnSpc>
              <a:buNone/>
            </a:pPr>
            <a:endParaRPr lang="zh-TW" altLang="zh-TW" sz="1050" b="0" u="none" strike="noStrike" dirty="0">
              <a:effectLst/>
              <a:latin typeface="Courier New" panose="020703090202050204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# 3. 執行訓練 ➔ 此時系統會自動去更新 LoRA 的權重矩陣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trainer.train()</a:t>
            </a:r>
          </a:p>
        </p:txBody>
      </p:sp>
    </p:spTree>
    <p:extLst>
      <p:ext uri="{BB962C8B-B14F-4D97-AF65-F5344CB8AC3E}">
        <p14:creationId xmlns:p14="http://schemas.microsoft.com/office/powerpoint/2010/main" val="33023834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7D88264F-8D27-8E9F-CBF6-F61243BD5B41}"/>
              </a:ext>
            </a:extLst>
          </p:cNvPr>
          <p:cNvSpPr/>
          <p:nvPr/>
        </p:nvSpPr>
        <p:spPr>
          <a:xfrm>
            <a:off x="5918111" y="1933659"/>
            <a:ext cx="2764248" cy="333300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/>
          <a:lstStyle/>
          <a:p>
            <a:r>
              <a:rPr lang="zh-TW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Thought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70AF1FB-ED05-70F0-4DB3-6127255BC839}"/>
              </a:ext>
            </a:extLst>
          </p:cNvPr>
          <p:cNvSpPr/>
          <p:nvPr/>
        </p:nvSpPr>
        <p:spPr>
          <a:xfrm>
            <a:off x="6228599" y="2908192"/>
            <a:ext cx="2138553" cy="23506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System Prompt 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C07BA97E-C56E-E7DA-9BCB-13829BFBAF71}"/>
              </a:ext>
            </a:extLst>
          </p:cNvPr>
          <p:cNvSpPr/>
          <p:nvPr/>
        </p:nvSpPr>
        <p:spPr>
          <a:xfrm>
            <a:off x="6228599" y="2354902"/>
            <a:ext cx="2138553" cy="45396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User Prompt</a:t>
            </a:r>
            <a:endParaRPr lang="en-US" altLang="zh-TW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 algn="ctr"/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問話、檔案、圖片、聲音、影片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EFB6727-F3BA-A57C-3144-6772B21B5D15}"/>
              </a:ext>
            </a:extLst>
          </p:cNvPr>
          <p:cNvSpPr/>
          <p:nvPr/>
        </p:nvSpPr>
        <p:spPr>
          <a:xfrm>
            <a:off x="6211295" y="4334356"/>
            <a:ext cx="2138553" cy="55690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Block Hashing</a:t>
            </a:r>
            <a:br>
              <a:rPr lang="en-US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KV Cache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E032344B-9D17-C577-54A3-35184C84F7A8}"/>
              </a:ext>
            </a:extLst>
          </p:cNvPr>
          <p:cNvSpPr/>
          <p:nvPr/>
        </p:nvSpPr>
        <p:spPr>
          <a:xfrm>
            <a:off x="6225468" y="3644907"/>
            <a:ext cx="2138553" cy="24957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Prompt Templating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2AD862E8-6E61-CCD5-92B1-19DF3C04E057}"/>
              </a:ext>
            </a:extLst>
          </p:cNvPr>
          <p:cNvSpPr/>
          <p:nvPr/>
        </p:nvSpPr>
        <p:spPr>
          <a:xfrm>
            <a:off x="6211295" y="3995768"/>
            <a:ext cx="2138553" cy="24957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Tokenization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DFCD5701-21B1-1F5E-2482-B310571D001E}"/>
              </a:ext>
            </a:extLst>
          </p:cNvPr>
          <p:cNvSpPr txBox="1"/>
          <p:nvPr/>
        </p:nvSpPr>
        <p:spPr>
          <a:xfrm>
            <a:off x="3932018" y="1840642"/>
            <a:ext cx="1652125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350" b="1" dirty="0">
                <a:solidFill>
                  <a:schemeClr val="accent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Agent (ReAct)</a:t>
            </a:r>
            <a:endParaRPr lang="zh-TW" altLang="en-US" sz="1350" b="1" dirty="0">
              <a:solidFill>
                <a:schemeClr val="accent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0CD72146-64C0-38AB-C94D-DB29869A769A}"/>
              </a:ext>
            </a:extLst>
          </p:cNvPr>
          <p:cNvSpPr/>
          <p:nvPr/>
        </p:nvSpPr>
        <p:spPr>
          <a:xfrm>
            <a:off x="5020175" y="3385045"/>
            <a:ext cx="803152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Action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397712A-50F4-F6E5-E88D-87EF4557CA99}"/>
              </a:ext>
            </a:extLst>
          </p:cNvPr>
          <p:cNvSpPr/>
          <p:nvPr/>
        </p:nvSpPr>
        <p:spPr>
          <a:xfrm>
            <a:off x="6063577" y="3415248"/>
            <a:ext cx="2462339" cy="1568706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大模型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B79AF00-F49A-7AF2-43C3-191C63509881}"/>
              </a:ext>
            </a:extLst>
          </p:cNvPr>
          <p:cNvSpPr/>
          <p:nvPr/>
        </p:nvSpPr>
        <p:spPr>
          <a:xfrm>
            <a:off x="6063576" y="2124619"/>
            <a:ext cx="2462339" cy="1078430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上下文管理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71E3A592-835A-8275-6406-486816C11202}"/>
              </a:ext>
            </a:extLst>
          </p:cNvPr>
          <p:cNvSpPr/>
          <p:nvPr/>
        </p:nvSpPr>
        <p:spPr>
          <a:xfrm>
            <a:off x="5020175" y="2708017"/>
            <a:ext cx="803151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Observation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45" name="接點: 肘形 44">
            <a:extLst>
              <a:ext uri="{FF2B5EF4-FFF2-40B4-BE49-F238E27FC236}">
                <a16:creationId xmlns:a16="http://schemas.microsoft.com/office/drawing/2014/main" id="{FCF97746-0406-AF7D-A163-C26DD130A6D2}"/>
              </a:ext>
            </a:extLst>
          </p:cNvPr>
          <p:cNvCxnSpPr>
            <a:cxnSpLocks/>
            <a:stCxn id="11" idx="2"/>
            <a:endCxn id="41" idx="2"/>
          </p:cNvCxnSpPr>
          <p:nvPr/>
        </p:nvCxnSpPr>
        <p:spPr>
          <a:xfrm rot="5400000" flipH="1">
            <a:off x="5535601" y="3502028"/>
            <a:ext cx="1650785" cy="1878485"/>
          </a:xfrm>
          <a:prstGeom prst="bentConnector3">
            <a:avLst>
              <a:gd name="adj1" fmla="val -593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接點: 肘形 45">
            <a:extLst>
              <a:ext uri="{FF2B5EF4-FFF2-40B4-BE49-F238E27FC236}">
                <a16:creationId xmlns:a16="http://schemas.microsoft.com/office/drawing/2014/main" id="{2766C5AD-18D5-9375-0DD2-00BA9204801A}"/>
              </a:ext>
            </a:extLst>
          </p:cNvPr>
          <p:cNvCxnSpPr>
            <a:cxnSpLocks/>
            <a:stCxn id="43" idx="0"/>
            <a:endCxn id="15" idx="0"/>
          </p:cNvCxnSpPr>
          <p:nvPr/>
        </p:nvCxnSpPr>
        <p:spPr>
          <a:xfrm rot="5400000" flipH="1" flipV="1">
            <a:off x="6183255" y="1593397"/>
            <a:ext cx="353115" cy="1876125"/>
          </a:xfrm>
          <a:prstGeom prst="bentConnector3">
            <a:avLst>
              <a:gd name="adj1" fmla="val 19017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接點: 肘形 49">
            <a:extLst>
              <a:ext uri="{FF2B5EF4-FFF2-40B4-BE49-F238E27FC236}">
                <a16:creationId xmlns:a16="http://schemas.microsoft.com/office/drawing/2014/main" id="{49FD5CB2-9F5D-592A-DAEE-72750F2C19A6}"/>
              </a:ext>
            </a:extLst>
          </p:cNvPr>
          <p:cNvCxnSpPr>
            <a:cxnSpLocks/>
            <a:stCxn id="41" idx="0"/>
            <a:endCxn id="43" idx="2"/>
          </p:cNvCxnSpPr>
          <p:nvPr/>
        </p:nvCxnSpPr>
        <p:spPr>
          <a:xfrm rot="16200000" flipV="1">
            <a:off x="5198653" y="3161947"/>
            <a:ext cx="446195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C4933434-E99C-ACA0-C643-C8FD37F2A477}"/>
              </a:ext>
            </a:extLst>
          </p:cNvPr>
          <p:cNvSpPr txBox="1"/>
          <p:nvPr/>
        </p:nvSpPr>
        <p:spPr>
          <a:xfrm>
            <a:off x="3974512" y="3377636"/>
            <a:ext cx="77709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工具執行</a:t>
            </a:r>
            <a:endParaRPr lang="zh-TW" altLang="en-US" sz="10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64" name="文字方塊 63">
            <a:extLst>
              <a:ext uri="{FF2B5EF4-FFF2-40B4-BE49-F238E27FC236}">
                <a16:creationId xmlns:a16="http://schemas.microsoft.com/office/drawing/2014/main" id="{9D8D8E31-9F9C-C709-59F8-96561CA4DFD3}"/>
              </a:ext>
            </a:extLst>
          </p:cNvPr>
          <p:cNvSpPr txBox="1"/>
          <p:nvPr/>
        </p:nvSpPr>
        <p:spPr>
          <a:xfrm>
            <a:off x="3958684" y="2686622"/>
            <a:ext cx="97898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執行</a:t>
            </a:r>
            <a:r>
              <a:rPr lang="zh-CN" altLang="en-US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結果反饋</a:t>
            </a:r>
            <a:endParaRPr lang="zh-TW" altLang="en-US" sz="10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E4E60699-5A1E-65BD-C11D-3D1653332DA6}"/>
              </a:ext>
            </a:extLst>
          </p:cNvPr>
          <p:cNvSpPr/>
          <p:nvPr/>
        </p:nvSpPr>
        <p:spPr>
          <a:xfrm>
            <a:off x="6939459" y="5709871"/>
            <a:ext cx="721552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Answer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A0FB29B3-449C-CA85-0143-4D39CE832474}"/>
              </a:ext>
            </a:extLst>
          </p:cNvPr>
          <p:cNvSpPr/>
          <p:nvPr/>
        </p:nvSpPr>
        <p:spPr>
          <a:xfrm>
            <a:off x="6937100" y="1426796"/>
            <a:ext cx="721552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Question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81" name="接點: 肘形 80">
            <a:extLst>
              <a:ext uri="{FF2B5EF4-FFF2-40B4-BE49-F238E27FC236}">
                <a16:creationId xmlns:a16="http://schemas.microsoft.com/office/drawing/2014/main" id="{B4677D52-B7BF-A2F3-BD7C-A3CE3D5BC62F}"/>
              </a:ext>
            </a:extLst>
          </p:cNvPr>
          <p:cNvCxnSpPr>
            <a:cxnSpLocks/>
            <a:stCxn id="78" idx="2"/>
            <a:endCxn id="15" idx="0"/>
          </p:cNvCxnSpPr>
          <p:nvPr/>
        </p:nvCxnSpPr>
        <p:spPr>
          <a:xfrm rot="5400000">
            <a:off x="6949240" y="2006266"/>
            <a:ext cx="697272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接點: 肘形 84">
            <a:extLst>
              <a:ext uri="{FF2B5EF4-FFF2-40B4-BE49-F238E27FC236}">
                <a16:creationId xmlns:a16="http://schemas.microsoft.com/office/drawing/2014/main" id="{14C197BB-FF95-3F9F-2CF1-D8A0F38FABC2}"/>
              </a:ext>
            </a:extLst>
          </p:cNvPr>
          <p:cNvCxnSpPr>
            <a:cxnSpLocks/>
            <a:stCxn id="11" idx="2"/>
            <a:endCxn id="70" idx="0"/>
          </p:cNvCxnSpPr>
          <p:nvPr/>
        </p:nvCxnSpPr>
        <p:spPr>
          <a:xfrm rot="5400000">
            <a:off x="7078632" y="5488267"/>
            <a:ext cx="443209" cy="952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E3159AEA-8130-A12D-8992-26D88711C085}"/>
              </a:ext>
            </a:extLst>
          </p:cNvPr>
          <p:cNvSpPr txBox="1"/>
          <p:nvPr/>
        </p:nvSpPr>
        <p:spPr>
          <a:xfrm>
            <a:off x="7340751" y="5288079"/>
            <a:ext cx="77709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規劃回應</a:t>
            </a:r>
            <a:endParaRPr lang="zh-TW" altLang="en-US" sz="10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14" name="矩形 113">
            <a:extLst>
              <a:ext uri="{FF2B5EF4-FFF2-40B4-BE49-F238E27FC236}">
                <a16:creationId xmlns:a16="http://schemas.microsoft.com/office/drawing/2014/main" id="{D0BC473B-D15A-A468-6E2B-BBDD3F162373}"/>
              </a:ext>
            </a:extLst>
          </p:cNvPr>
          <p:cNvSpPr/>
          <p:nvPr/>
        </p:nvSpPr>
        <p:spPr>
          <a:xfrm>
            <a:off x="3927022" y="1748523"/>
            <a:ext cx="4911308" cy="3770389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/>
          <a:lstStyle/>
          <a:p>
            <a:r>
              <a:rPr lang="zh-TW" altLang="zh-TW" sz="900" b="1" dirty="0">
                <a:noFill/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Thought</a:t>
            </a:r>
            <a:endParaRPr lang="zh-TW" altLang="en-US" sz="900" b="1" dirty="0">
              <a:noFill/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17" name="文字方塊 116">
            <a:extLst>
              <a:ext uri="{FF2B5EF4-FFF2-40B4-BE49-F238E27FC236}">
                <a16:creationId xmlns:a16="http://schemas.microsoft.com/office/drawing/2014/main" id="{30CFBF44-512D-8D83-A5D7-53A882A9823F}"/>
              </a:ext>
            </a:extLst>
          </p:cNvPr>
          <p:cNvSpPr txBox="1"/>
          <p:nvPr/>
        </p:nvSpPr>
        <p:spPr>
          <a:xfrm>
            <a:off x="4049780" y="980045"/>
            <a:ext cx="4632579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TW" altLang="zh-TW" sz="1350" dirty="0"/>
              <a:t>Agent 的上限由大模型決定，但下限由上下文管理決定。</a:t>
            </a:r>
          </a:p>
        </p:txBody>
      </p:sp>
      <p:sp>
        <p:nvSpPr>
          <p:cNvPr id="119" name="文字方塊 118">
            <a:extLst>
              <a:ext uri="{FF2B5EF4-FFF2-40B4-BE49-F238E27FC236}">
                <a16:creationId xmlns:a16="http://schemas.microsoft.com/office/drawing/2014/main" id="{DD4EBD5C-159C-4264-4591-18EC61B9DBA4}"/>
              </a:ext>
            </a:extLst>
          </p:cNvPr>
          <p:cNvSpPr txBox="1"/>
          <p:nvPr/>
        </p:nvSpPr>
        <p:spPr>
          <a:xfrm>
            <a:off x="3998628" y="3663028"/>
            <a:ext cx="1757590" cy="18928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Function Calling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MCP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skill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A2A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ACP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Ephemeral Agent</a:t>
            </a:r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（</a:t>
            </a: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Sub-agent</a:t>
            </a:r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）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HITL</a:t>
            </a:r>
          </a:p>
          <a:p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REPL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Sandbox</a:t>
            </a:r>
          </a:p>
          <a:p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Vision-Based Operation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Computer Use</a:t>
            </a:r>
          </a:p>
          <a:p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pic>
        <p:nvPicPr>
          <p:cNvPr id="163" name="圖片 162">
            <a:extLst>
              <a:ext uri="{FF2B5EF4-FFF2-40B4-BE49-F238E27FC236}">
                <a16:creationId xmlns:a16="http://schemas.microsoft.com/office/drawing/2014/main" id="{B441A2AC-9804-55D0-23BA-CBE712AD29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989" y="1565392"/>
            <a:ext cx="3340335" cy="2687707"/>
          </a:xfrm>
          <a:prstGeom prst="rect">
            <a:avLst/>
          </a:prstGeom>
        </p:spPr>
      </p:pic>
      <p:pic>
        <p:nvPicPr>
          <p:cNvPr id="165" name="圖片 164">
            <a:extLst>
              <a:ext uri="{FF2B5EF4-FFF2-40B4-BE49-F238E27FC236}">
                <a16:creationId xmlns:a16="http://schemas.microsoft.com/office/drawing/2014/main" id="{5753F105-B0A1-0CA7-1F31-A462F5FFDF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237" y="4313131"/>
            <a:ext cx="3018275" cy="104092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7" name="文字方塊 166">
                <a:extLst>
                  <a:ext uri="{FF2B5EF4-FFF2-40B4-BE49-F238E27FC236}">
                    <a16:creationId xmlns:a16="http://schemas.microsoft.com/office/drawing/2014/main" id="{68428BF5-E137-79A2-9A22-6D73F9A159E5}"/>
                  </a:ext>
                </a:extLst>
              </p:cNvPr>
              <p:cNvSpPr txBox="1"/>
              <p:nvPr/>
            </p:nvSpPr>
            <p:spPr>
              <a:xfrm>
                <a:off x="214080" y="5403495"/>
                <a:ext cx="3332021" cy="3694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Hash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(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Block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 1)</m:t>
                      </m:r>
                      <m:r>
                        <a:rPr lang="zh-TW" altLang="en-US" sz="9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SHA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256</m:t>
                      </m:r>
                      <m:d>
                        <m:dPr>
                          <m:ctrlPr>
                            <a:rPr lang="zh-TW" altLang="en-US" sz="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Hash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(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Block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 0)</m:t>
                          </m:r>
                          <m:r>
                            <a:rPr lang="zh-TW" altLang="en-US" sz="9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Block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 1 的內容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靜態在頂，動態在底；由穩入變，線性追加</m:t>
                      </m:r>
                    </m:oMath>
                  </m:oMathPara>
                </a14:m>
                <a:endParaRPr lang="zh-TW" altLang="en-US" sz="900" dirty="0">
                  <a:latin typeface="微軟正黑體 Light" panose="020B0304030504040204" pitchFamily="34" charset="-120"/>
                  <a:ea typeface="微軟正黑體 Light" panose="020B0304030504040204" pitchFamily="34" charset="-120"/>
                </a:endParaRPr>
              </a:p>
            </p:txBody>
          </p:sp>
        </mc:Choice>
        <mc:Fallback xmlns="">
          <p:sp>
            <p:nvSpPr>
              <p:cNvPr id="167" name="文字方塊 166">
                <a:extLst>
                  <a:ext uri="{FF2B5EF4-FFF2-40B4-BE49-F238E27FC236}">
                    <a16:creationId xmlns:a16="http://schemas.microsoft.com/office/drawing/2014/main" id="{68428BF5-E137-79A2-9A22-6D73F9A159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080" y="5403495"/>
                <a:ext cx="3332021" cy="369460"/>
              </a:xfrm>
              <a:prstGeom prst="rect">
                <a:avLst/>
              </a:prstGeom>
              <a:blipFill>
                <a:blip r:embed="rId5"/>
                <a:stretch>
                  <a:fillRect b="-163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1" name="直線單箭頭接點 170">
            <a:extLst>
              <a:ext uri="{FF2B5EF4-FFF2-40B4-BE49-F238E27FC236}">
                <a16:creationId xmlns:a16="http://schemas.microsoft.com/office/drawing/2014/main" id="{441632E2-FB6B-F197-DF26-1CCC2A6D969E}"/>
              </a:ext>
            </a:extLst>
          </p:cNvPr>
          <p:cNvCxnSpPr>
            <a:cxnSpLocks/>
            <a:stCxn id="161" idx="3"/>
          </p:cNvCxnSpPr>
          <p:nvPr/>
        </p:nvCxnSpPr>
        <p:spPr>
          <a:xfrm>
            <a:off x="3303820" y="1614323"/>
            <a:ext cx="4001179" cy="1756863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2" name="直線單箭頭接點 171">
            <a:extLst>
              <a:ext uri="{FF2B5EF4-FFF2-40B4-BE49-F238E27FC236}">
                <a16:creationId xmlns:a16="http://schemas.microsoft.com/office/drawing/2014/main" id="{4F8379A8-E312-AAAB-0305-5F21D7A48075}"/>
              </a:ext>
            </a:extLst>
          </p:cNvPr>
          <p:cNvCxnSpPr>
            <a:cxnSpLocks/>
            <a:endCxn id="23" idx="1"/>
          </p:cNvCxnSpPr>
          <p:nvPr/>
        </p:nvCxnSpPr>
        <p:spPr>
          <a:xfrm>
            <a:off x="3080424" y="2908191"/>
            <a:ext cx="3145044" cy="861506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9" name="直線單箭頭接點 178">
            <a:extLst>
              <a:ext uri="{FF2B5EF4-FFF2-40B4-BE49-F238E27FC236}">
                <a16:creationId xmlns:a16="http://schemas.microsoft.com/office/drawing/2014/main" id="{CB0339C0-FB3B-E9D5-6168-023B9B26187C}"/>
              </a:ext>
            </a:extLst>
          </p:cNvPr>
          <p:cNvCxnSpPr>
            <a:cxnSpLocks/>
            <a:stCxn id="165" idx="3"/>
            <a:endCxn id="31" idx="1"/>
          </p:cNvCxnSpPr>
          <p:nvPr/>
        </p:nvCxnSpPr>
        <p:spPr>
          <a:xfrm flipV="1">
            <a:off x="3418511" y="4120558"/>
            <a:ext cx="2792784" cy="713036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2" name="直線單箭頭接點 181">
            <a:extLst>
              <a:ext uri="{FF2B5EF4-FFF2-40B4-BE49-F238E27FC236}">
                <a16:creationId xmlns:a16="http://schemas.microsoft.com/office/drawing/2014/main" id="{C2C124A4-03BF-CCAC-C4D6-0AB57500B2E6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3563977" y="4612810"/>
            <a:ext cx="2647319" cy="973959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88" name="圖片 187">
            <a:extLst>
              <a:ext uri="{FF2B5EF4-FFF2-40B4-BE49-F238E27FC236}">
                <a16:creationId xmlns:a16="http://schemas.microsoft.com/office/drawing/2014/main" id="{A3436026-A169-47CF-A377-C870212F41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85283" y="1426112"/>
            <a:ext cx="1697483" cy="139280"/>
          </a:xfrm>
          <a:prstGeom prst="rect">
            <a:avLst/>
          </a:prstGeom>
        </p:spPr>
      </p:pic>
      <p:pic>
        <p:nvPicPr>
          <p:cNvPr id="192" name="圖片 191">
            <a:extLst>
              <a:ext uri="{FF2B5EF4-FFF2-40B4-BE49-F238E27FC236}">
                <a16:creationId xmlns:a16="http://schemas.microsoft.com/office/drawing/2014/main" id="{DD6667E5-60F6-0869-8A1E-E007756D8E4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16478" y="2819990"/>
            <a:ext cx="1677644" cy="153246"/>
          </a:xfrm>
          <a:prstGeom prst="rect">
            <a:avLst/>
          </a:prstGeom>
        </p:spPr>
      </p:pic>
      <p:pic>
        <p:nvPicPr>
          <p:cNvPr id="161" name="圖片 160">
            <a:extLst>
              <a:ext uri="{FF2B5EF4-FFF2-40B4-BE49-F238E27FC236}">
                <a16:creationId xmlns:a16="http://schemas.microsoft.com/office/drawing/2014/main" id="{846CFD46-7FB4-E8C7-BCB8-ACCB38DC590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5545" y="1138729"/>
            <a:ext cx="3018275" cy="951188"/>
          </a:xfrm>
          <a:prstGeom prst="rect">
            <a:avLst/>
          </a:prstGeom>
        </p:spPr>
      </p:pic>
      <p:cxnSp>
        <p:nvCxnSpPr>
          <p:cNvPr id="4" name="接點: 肘形 3">
            <a:extLst>
              <a:ext uri="{FF2B5EF4-FFF2-40B4-BE49-F238E27FC236}">
                <a16:creationId xmlns:a16="http://schemas.microsoft.com/office/drawing/2014/main" id="{4EA7BBDC-7B61-EC8B-3736-ACD5249C1E37}"/>
              </a:ext>
            </a:extLst>
          </p:cNvPr>
          <p:cNvCxnSpPr>
            <a:cxnSpLocks/>
            <a:stCxn id="9" idx="2"/>
          </p:cNvCxnSpPr>
          <p:nvPr/>
        </p:nvCxnSpPr>
        <p:spPr>
          <a:xfrm rot="5400000">
            <a:off x="7099096" y="3398699"/>
            <a:ext cx="391299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A500A213-6C42-2B9F-F559-C623686766CC}"/>
              </a:ext>
            </a:extLst>
          </p:cNvPr>
          <p:cNvSpPr txBox="1"/>
          <p:nvPr/>
        </p:nvSpPr>
        <p:spPr>
          <a:xfrm>
            <a:off x="932451" y="1129909"/>
            <a:ext cx="4570821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TW" altLang="zh-TW" sz="900" dirty="0">
                <a:solidFill>
                  <a:schemeClr val="bg1"/>
                </a:solidFill>
              </a:rPr>
              <a:t>OpenAI Chat Completions API 格式</a:t>
            </a:r>
          </a:p>
        </p:txBody>
      </p:sp>
    </p:spTree>
    <p:extLst>
      <p:ext uri="{BB962C8B-B14F-4D97-AF65-F5344CB8AC3E}">
        <p14:creationId xmlns:p14="http://schemas.microsoft.com/office/powerpoint/2010/main" val="257057684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字方塊 6">
            <a:extLst>
              <a:ext uri="{FF2B5EF4-FFF2-40B4-BE49-F238E27FC236}">
                <a16:creationId xmlns:a16="http://schemas.microsoft.com/office/drawing/2014/main" id="{D871E9EB-038B-1CAB-C8C1-9B3E44316CC7}"/>
              </a:ext>
            </a:extLst>
          </p:cNvPr>
          <p:cNvSpPr txBox="1"/>
          <p:nvPr/>
        </p:nvSpPr>
        <p:spPr>
          <a:xfrm>
            <a:off x="3406032" y="926707"/>
            <a:ext cx="852563" cy="646331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[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下載來源</a:t>
            </a: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]</a:t>
            </a:r>
            <a:b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Hugging Face Hub</a:t>
            </a:r>
            <a:b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Civitai </a:t>
            </a:r>
            <a:b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Kaggle Models</a:t>
            </a:r>
            <a:b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ModelScope </a:t>
            </a:r>
            <a:endParaRPr lang="en-US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WiseModel </a:t>
            </a:r>
            <a:endParaRPr lang="zh-TW" altLang="en-US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81F8168-4847-CF7D-8F9D-2111C391C931}"/>
              </a:ext>
            </a:extLst>
          </p:cNvPr>
          <p:cNvSpPr/>
          <p:nvPr/>
        </p:nvSpPr>
        <p:spPr>
          <a:xfrm>
            <a:off x="4533243" y="933330"/>
            <a:ext cx="852563" cy="17541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下載模型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D29966B9-F7E5-0499-6A5C-D6A8D2DE7588}"/>
              </a:ext>
            </a:extLst>
          </p:cNvPr>
          <p:cNvSpPr txBox="1"/>
          <p:nvPr/>
        </p:nvSpPr>
        <p:spPr>
          <a:xfrm>
            <a:off x="4937155" y="1193886"/>
            <a:ext cx="924021" cy="55399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b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config.json</a:t>
            </a:r>
          </a:p>
          <a:p>
            <a: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model.safetensors</a:t>
            </a:r>
          </a:p>
          <a:p>
            <a:r>
              <a:rPr lang="en-US" altLang="zh-TW" sz="600" dirty="0" err="1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generation_config.json</a:t>
            </a:r>
            <a:endParaRPr lang="zh-TW" altLang="en-US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520C49D-79FC-6920-1D5C-7808103E61EB}"/>
              </a:ext>
            </a:extLst>
          </p:cNvPr>
          <p:cNvSpPr/>
          <p:nvPr/>
        </p:nvSpPr>
        <p:spPr>
          <a:xfrm>
            <a:off x="7288922" y="934573"/>
            <a:ext cx="1032487" cy="17541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下載或自定訓練資料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3B7527AD-8CB3-9AE3-62DC-06B905D9F352}"/>
              </a:ext>
            </a:extLst>
          </p:cNvPr>
          <p:cNvSpPr/>
          <p:nvPr/>
        </p:nvSpPr>
        <p:spPr>
          <a:xfrm>
            <a:off x="7109102" y="2284877"/>
            <a:ext cx="1392126" cy="29391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訓練資料物件</a:t>
            </a:r>
            <a:br>
              <a:rPr lang="en-US" altLang="zh-CN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（</a:t>
            </a:r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Apache Arrow 二進位矩陣</a:t>
            </a: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）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19C03F95-903A-6223-6AFC-6B304CCF2901}"/>
              </a:ext>
            </a:extLst>
          </p:cNvPr>
          <p:cNvSpPr/>
          <p:nvPr/>
        </p:nvSpPr>
        <p:spPr>
          <a:xfrm>
            <a:off x="1289137" y="1942016"/>
            <a:ext cx="7319657" cy="969428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t"/>
          <a:lstStyle/>
          <a:p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訓練物件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894B8F03-7160-0260-331E-43923BD264A3}"/>
              </a:ext>
            </a:extLst>
          </p:cNvPr>
          <p:cNvSpPr/>
          <p:nvPr/>
        </p:nvSpPr>
        <p:spPr>
          <a:xfrm>
            <a:off x="4572000" y="4155133"/>
            <a:ext cx="777946" cy="160634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模型測試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2AFD015C-1F9D-2D95-AEDC-C02433CEBE33}"/>
              </a:ext>
            </a:extLst>
          </p:cNvPr>
          <p:cNvSpPr/>
          <p:nvPr/>
        </p:nvSpPr>
        <p:spPr>
          <a:xfrm>
            <a:off x="4572000" y="4449047"/>
            <a:ext cx="777946" cy="173672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模型產出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pic>
        <p:nvPicPr>
          <p:cNvPr id="28" name="圖片 27">
            <a:extLst>
              <a:ext uri="{FF2B5EF4-FFF2-40B4-BE49-F238E27FC236}">
                <a16:creationId xmlns:a16="http://schemas.microsoft.com/office/drawing/2014/main" id="{CA67325C-624F-32CA-327A-EC0F558153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0453" y="2152343"/>
            <a:ext cx="1879627" cy="719795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30" name="圖片 29">
            <a:extLst>
              <a:ext uri="{FF2B5EF4-FFF2-40B4-BE49-F238E27FC236}">
                <a16:creationId xmlns:a16="http://schemas.microsoft.com/office/drawing/2014/main" id="{16BF6715-9287-EC26-3307-4DDCD97FDC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3425" y="2204471"/>
            <a:ext cx="983534" cy="476558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32" name="圖片 31">
            <a:extLst>
              <a:ext uri="{FF2B5EF4-FFF2-40B4-BE49-F238E27FC236}">
                <a16:creationId xmlns:a16="http://schemas.microsoft.com/office/drawing/2014/main" id="{83457B68-7A59-7497-577E-E94876509A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18268" y="3015979"/>
            <a:ext cx="2786069" cy="753353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34" name="矩形 33">
            <a:extLst>
              <a:ext uri="{FF2B5EF4-FFF2-40B4-BE49-F238E27FC236}">
                <a16:creationId xmlns:a16="http://schemas.microsoft.com/office/drawing/2014/main" id="{7E6842AC-5B91-0E0F-E4A9-D56BD2012DA0}"/>
              </a:ext>
            </a:extLst>
          </p:cNvPr>
          <p:cNvSpPr/>
          <p:nvPr/>
        </p:nvSpPr>
        <p:spPr>
          <a:xfrm>
            <a:off x="4240630" y="2041934"/>
            <a:ext cx="1429394" cy="78412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t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模型物件（</a:t>
            </a:r>
            <a:r>
              <a:rPr lang="en-US" altLang="zh-CN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PyTorch</a:t>
            </a: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）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F252C65C-D672-5C68-794F-E0925F999210}"/>
              </a:ext>
            </a:extLst>
          </p:cNvPr>
          <p:cNvSpPr/>
          <p:nvPr/>
        </p:nvSpPr>
        <p:spPr>
          <a:xfrm>
            <a:off x="3333734" y="2351430"/>
            <a:ext cx="808909" cy="160811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訓練的參數物件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D9A29691-5DC4-2523-0848-4376079D4EEA}"/>
              </a:ext>
            </a:extLst>
          </p:cNvPr>
          <p:cNvSpPr/>
          <p:nvPr/>
        </p:nvSpPr>
        <p:spPr>
          <a:xfrm>
            <a:off x="5936391" y="941546"/>
            <a:ext cx="852562" cy="17541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下載分詞 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BA7E9471-E2FD-7314-ED18-B23A9B912B1C}"/>
              </a:ext>
            </a:extLst>
          </p:cNvPr>
          <p:cNvSpPr/>
          <p:nvPr/>
        </p:nvSpPr>
        <p:spPr>
          <a:xfrm>
            <a:off x="5943002" y="1761251"/>
            <a:ext cx="852562" cy="122673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分詞物件 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1AF69022-FE0D-1F1B-3379-9209ADAC26DA}"/>
              </a:ext>
            </a:extLst>
          </p:cNvPr>
          <p:cNvSpPr/>
          <p:nvPr/>
        </p:nvSpPr>
        <p:spPr>
          <a:xfrm>
            <a:off x="5777589" y="2284877"/>
            <a:ext cx="852563" cy="29391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資料核排物件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48" name="接點: 肘形 47">
            <a:extLst>
              <a:ext uri="{FF2B5EF4-FFF2-40B4-BE49-F238E27FC236}">
                <a16:creationId xmlns:a16="http://schemas.microsoft.com/office/drawing/2014/main" id="{42A5639D-869E-B09B-00DF-F40598C0B66F}"/>
              </a:ext>
            </a:extLst>
          </p:cNvPr>
          <p:cNvCxnSpPr>
            <a:cxnSpLocks/>
            <a:stCxn id="40" idx="2"/>
            <a:endCxn id="20" idx="0"/>
          </p:cNvCxnSpPr>
          <p:nvPr/>
        </p:nvCxnSpPr>
        <p:spPr>
          <a:xfrm rot="16200000" flipH="1">
            <a:off x="6886748" y="1366459"/>
            <a:ext cx="400953" cy="1435883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接點: 肘形 50">
            <a:extLst>
              <a:ext uri="{FF2B5EF4-FFF2-40B4-BE49-F238E27FC236}">
                <a16:creationId xmlns:a16="http://schemas.microsoft.com/office/drawing/2014/main" id="{E8184D6F-1194-89A9-2EBE-106D9054DF3D}"/>
              </a:ext>
            </a:extLst>
          </p:cNvPr>
          <p:cNvCxnSpPr>
            <a:cxnSpLocks/>
            <a:stCxn id="40" idx="2"/>
            <a:endCxn id="42" idx="0"/>
          </p:cNvCxnSpPr>
          <p:nvPr/>
        </p:nvCxnSpPr>
        <p:spPr>
          <a:xfrm rot="5400000">
            <a:off x="6086100" y="2001694"/>
            <a:ext cx="400953" cy="165413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E6C627EB-BF7F-9B14-B1F3-37E0A9AA5181}"/>
              </a:ext>
            </a:extLst>
          </p:cNvPr>
          <p:cNvSpPr/>
          <p:nvPr/>
        </p:nvSpPr>
        <p:spPr>
          <a:xfrm>
            <a:off x="4572000" y="3289905"/>
            <a:ext cx="772150" cy="29391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啓動模型訓練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3EC90861-398C-5499-A9B4-38CA12520ACD}"/>
              </a:ext>
            </a:extLst>
          </p:cNvPr>
          <p:cNvSpPr/>
          <p:nvPr/>
        </p:nvSpPr>
        <p:spPr>
          <a:xfrm>
            <a:off x="185739" y="4999033"/>
            <a:ext cx="8815387" cy="704741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模型執行環境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10" name="矩形 109">
            <a:extLst>
              <a:ext uri="{FF2B5EF4-FFF2-40B4-BE49-F238E27FC236}">
                <a16:creationId xmlns:a16="http://schemas.microsoft.com/office/drawing/2014/main" id="{85109683-EDE3-2485-97C7-7F230C99D909}"/>
              </a:ext>
            </a:extLst>
          </p:cNvPr>
          <p:cNvSpPr/>
          <p:nvPr/>
        </p:nvSpPr>
        <p:spPr>
          <a:xfrm>
            <a:off x="185739" y="1679168"/>
            <a:ext cx="8815387" cy="2285241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t"/>
          <a:lstStyle/>
          <a:p>
            <a:r>
              <a:rPr lang="zh-TW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用 </a:t>
            </a:r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PyTorch </a:t>
            </a:r>
            <a:r>
              <a:rPr lang="zh-TW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從頭寫 </a:t>
            </a:r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code </a:t>
            </a:r>
            <a:r>
              <a:rPr lang="zh-TW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微調</a:t>
            </a:r>
          </a:p>
        </p:txBody>
      </p:sp>
      <p:cxnSp>
        <p:nvCxnSpPr>
          <p:cNvPr id="114" name="直線單箭頭接點 113">
            <a:extLst>
              <a:ext uri="{FF2B5EF4-FFF2-40B4-BE49-F238E27FC236}">
                <a16:creationId xmlns:a16="http://schemas.microsoft.com/office/drawing/2014/main" id="{E4ADABD1-954E-F32A-757A-287F2D9844C5}"/>
              </a:ext>
            </a:extLst>
          </p:cNvPr>
          <p:cNvCxnSpPr>
            <a:cxnSpLocks/>
            <a:stCxn id="10" idx="2"/>
            <a:endCxn id="34" idx="0"/>
          </p:cNvCxnSpPr>
          <p:nvPr/>
        </p:nvCxnSpPr>
        <p:spPr>
          <a:xfrm flipH="1">
            <a:off x="4955327" y="1108749"/>
            <a:ext cx="4198" cy="933185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直線單箭頭接點 117">
            <a:extLst>
              <a:ext uri="{FF2B5EF4-FFF2-40B4-BE49-F238E27FC236}">
                <a16:creationId xmlns:a16="http://schemas.microsoft.com/office/drawing/2014/main" id="{785C6C88-C610-04FC-BF45-F4DAD511E4BD}"/>
              </a:ext>
            </a:extLst>
          </p:cNvPr>
          <p:cNvCxnSpPr>
            <a:cxnSpLocks/>
            <a:stCxn id="38" idx="2"/>
            <a:endCxn id="40" idx="0"/>
          </p:cNvCxnSpPr>
          <p:nvPr/>
        </p:nvCxnSpPr>
        <p:spPr>
          <a:xfrm>
            <a:off x="6362672" y="1116965"/>
            <a:ext cx="6611" cy="644287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直線單箭頭接點 120">
            <a:extLst>
              <a:ext uri="{FF2B5EF4-FFF2-40B4-BE49-F238E27FC236}">
                <a16:creationId xmlns:a16="http://schemas.microsoft.com/office/drawing/2014/main" id="{7C0638DC-7015-38BE-4FEE-43D8B83328C7}"/>
              </a:ext>
            </a:extLst>
          </p:cNvPr>
          <p:cNvCxnSpPr>
            <a:cxnSpLocks/>
            <a:stCxn id="14" idx="2"/>
            <a:endCxn id="20" idx="0"/>
          </p:cNvCxnSpPr>
          <p:nvPr/>
        </p:nvCxnSpPr>
        <p:spPr>
          <a:xfrm>
            <a:off x="7805165" y="1109992"/>
            <a:ext cx="0" cy="1174886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直線單箭頭接點 127">
            <a:extLst>
              <a:ext uri="{FF2B5EF4-FFF2-40B4-BE49-F238E27FC236}">
                <a16:creationId xmlns:a16="http://schemas.microsoft.com/office/drawing/2014/main" id="{72A1A04D-60AD-D17B-5905-3D7A6E87482F}"/>
              </a:ext>
            </a:extLst>
          </p:cNvPr>
          <p:cNvCxnSpPr>
            <a:cxnSpLocks/>
            <a:stCxn id="20" idx="1"/>
            <a:endCxn id="42" idx="3"/>
          </p:cNvCxnSpPr>
          <p:nvPr/>
        </p:nvCxnSpPr>
        <p:spPr>
          <a:xfrm flipH="1">
            <a:off x="6630152" y="2431835"/>
            <a:ext cx="478951" cy="0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直線單箭頭接點 132">
            <a:extLst>
              <a:ext uri="{FF2B5EF4-FFF2-40B4-BE49-F238E27FC236}">
                <a16:creationId xmlns:a16="http://schemas.microsoft.com/office/drawing/2014/main" id="{F8859C5C-E641-D46A-0DB8-C5E6FAD38385}"/>
              </a:ext>
            </a:extLst>
          </p:cNvPr>
          <p:cNvCxnSpPr>
            <a:cxnSpLocks/>
            <a:stCxn id="42" idx="1"/>
            <a:endCxn id="34" idx="3"/>
          </p:cNvCxnSpPr>
          <p:nvPr/>
        </p:nvCxnSpPr>
        <p:spPr>
          <a:xfrm flipH="1">
            <a:off x="5670023" y="2431834"/>
            <a:ext cx="107565" cy="2162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直線單箭頭接點 136">
            <a:extLst>
              <a:ext uri="{FF2B5EF4-FFF2-40B4-BE49-F238E27FC236}">
                <a16:creationId xmlns:a16="http://schemas.microsoft.com/office/drawing/2014/main" id="{0F9F68E0-7684-F86B-A00C-A00298B706D2}"/>
              </a:ext>
            </a:extLst>
          </p:cNvPr>
          <p:cNvCxnSpPr>
            <a:cxnSpLocks/>
            <a:stCxn id="36" idx="3"/>
            <a:endCxn id="34" idx="1"/>
          </p:cNvCxnSpPr>
          <p:nvPr/>
        </p:nvCxnSpPr>
        <p:spPr>
          <a:xfrm>
            <a:off x="4142642" y="2431836"/>
            <a:ext cx="97988" cy="2161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矩形 145">
            <a:extLst>
              <a:ext uri="{FF2B5EF4-FFF2-40B4-BE49-F238E27FC236}">
                <a16:creationId xmlns:a16="http://schemas.microsoft.com/office/drawing/2014/main" id="{7CC0C207-7DCD-90A4-3CEE-B5686A84904A}"/>
              </a:ext>
            </a:extLst>
          </p:cNvPr>
          <p:cNvSpPr/>
          <p:nvPr/>
        </p:nvSpPr>
        <p:spPr>
          <a:xfrm>
            <a:off x="4461654" y="2240520"/>
            <a:ext cx="852563" cy="1483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微調</a:t>
            </a: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手段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163" name="直線單箭頭接點 162">
            <a:extLst>
              <a:ext uri="{FF2B5EF4-FFF2-40B4-BE49-F238E27FC236}">
                <a16:creationId xmlns:a16="http://schemas.microsoft.com/office/drawing/2014/main" id="{5A8FECF0-ECFE-CF5E-6405-F2FB24E48054}"/>
              </a:ext>
            </a:extLst>
          </p:cNvPr>
          <p:cNvCxnSpPr>
            <a:cxnSpLocks/>
            <a:stCxn id="34" idx="2"/>
            <a:endCxn id="78" idx="0"/>
          </p:cNvCxnSpPr>
          <p:nvPr/>
        </p:nvCxnSpPr>
        <p:spPr>
          <a:xfrm>
            <a:off x="4955327" y="2826058"/>
            <a:ext cx="2749" cy="463847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直線單箭頭接點 165">
            <a:extLst>
              <a:ext uri="{FF2B5EF4-FFF2-40B4-BE49-F238E27FC236}">
                <a16:creationId xmlns:a16="http://schemas.microsoft.com/office/drawing/2014/main" id="{3B95A4BC-289B-F123-E3F9-4A3D68D3C9D9}"/>
              </a:ext>
            </a:extLst>
          </p:cNvPr>
          <p:cNvCxnSpPr>
            <a:cxnSpLocks/>
            <a:stCxn id="78" idx="2"/>
            <a:endCxn id="24" idx="0"/>
          </p:cNvCxnSpPr>
          <p:nvPr/>
        </p:nvCxnSpPr>
        <p:spPr>
          <a:xfrm>
            <a:off x="4958075" y="3583819"/>
            <a:ext cx="2898" cy="571313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直線單箭頭接點 170">
            <a:extLst>
              <a:ext uri="{FF2B5EF4-FFF2-40B4-BE49-F238E27FC236}">
                <a16:creationId xmlns:a16="http://schemas.microsoft.com/office/drawing/2014/main" id="{2EB35435-5FF8-4324-BF98-F63774C09651}"/>
              </a:ext>
            </a:extLst>
          </p:cNvPr>
          <p:cNvCxnSpPr>
            <a:cxnSpLocks/>
            <a:stCxn id="24" idx="2"/>
            <a:endCxn id="26" idx="0"/>
          </p:cNvCxnSpPr>
          <p:nvPr/>
        </p:nvCxnSpPr>
        <p:spPr>
          <a:xfrm>
            <a:off x="4960973" y="4315767"/>
            <a:ext cx="0" cy="133280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5" name="文字方塊 174">
            <a:extLst>
              <a:ext uri="{FF2B5EF4-FFF2-40B4-BE49-F238E27FC236}">
                <a16:creationId xmlns:a16="http://schemas.microsoft.com/office/drawing/2014/main" id="{DC63F816-AC5B-9D01-4FA4-51AFBA0D6F6E}"/>
              </a:ext>
            </a:extLst>
          </p:cNvPr>
          <p:cNvSpPr txBox="1"/>
          <p:nvPr/>
        </p:nvSpPr>
        <p:spPr>
          <a:xfrm>
            <a:off x="4266801" y="2370255"/>
            <a:ext cx="1382548" cy="55399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開旁支：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LoRA / QLoRA / DoRA</a:t>
            </a:r>
          </a:p>
          <a:p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層凍結：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Freeze</a:t>
            </a:r>
            <a:b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虛擬 </a:t>
            </a:r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Prefix / Prompt Tuning</a:t>
            </a:r>
          </a:p>
          <a:p>
            <a:r>
              <a:rPr lang="zh-TW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微調 </a:t>
            </a:r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Bias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BitFit</a:t>
            </a:r>
          </a:p>
        </p:txBody>
      </p:sp>
      <p:sp>
        <p:nvSpPr>
          <p:cNvPr id="191" name="文字方塊 190">
            <a:extLst>
              <a:ext uri="{FF2B5EF4-FFF2-40B4-BE49-F238E27FC236}">
                <a16:creationId xmlns:a16="http://schemas.microsoft.com/office/drawing/2014/main" id="{5D76B831-1B92-6132-F84C-703420D62D33}"/>
              </a:ext>
            </a:extLst>
          </p:cNvPr>
          <p:cNvSpPr txBox="1"/>
          <p:nvPr/>
        </p:nvSpPr>
        <p:spPr>
          <a:xfrm>
            <a:off x="6369282" y="1116147"/>
            <a:ext cx="1274688" cy="55399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tokenizer_config.json</a:t>
            </a:r>
          </a:p>
          <a:p>
            <a: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vocab.json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merges.txt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tokenizer.json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special_tokens_map.json</a:t>
            </a:r>
          </a:p>
        </p:txBody>
      </p:sp>
      <p:sp>
        <p:nvSpPr>
          <p:cNvPr id="202" name="文字方塊 201">
            <a:extLst>
              <a:ext uri="{FF2B5EF4-FFF2-40B4-BE49-F238E27FC236}">
                <a16:creationId xmlns:a16="http://schemas.microsoft.com/office/drawing/2014/main" id="{86C78B19-240D-1AE5-CE33-34433538B3A6}"/>
              </a:ext>
            </a:extLst>
          </p:cNvPr>
          <p:cNvSpPr txBox="1"/>
          <p:nvPr/>
        </p:nvSpPr>
        <p:spPr>
          <a:xfrm>
            <a:off x="7788181" y="1164677"/>
            <a:ext cx="1212944" cy="369332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README.md</a:t>
            </a:r>
            <a:endParaRPr lang="en-US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r>
              <a:rPr lang="zh-TW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train-00000-of-00001.parquet</a:t>
            </a:r>
            <a:b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test-00000-of-00001.parquet</a:t>
            </a:r>
            <a:endParaRPr lang="en-US" altLang="zh-TW" sz="600" dirty="0">
              <a:solidFill>
                <a:srgbClr val="FF0000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47" name="文字方塊 246">
            <a:extLst>
              <a:ext uri="{FF2B5EF4-FFF2-40B4-BE49-F238E27FC236}">
                <a16:creationId xmlns:a16="http://schemas.microsoft.com/office/drawing/2014/main" id="{A5C640EF-71D1-9954-00E7-1DCD265E0930}"/>
              </a:ext>
            </a:extLst>
          </p:cNvPr>
          <p:cNvSpPr txBox="1"/>
          <p:nvPr/>
        </p:nvSpPr>
        <p:spPr>
          <a:xfrm>
            <a:off x="253425" y="926707"/>
            <a:ext cx="1081211" cy="646331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[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直接可使用得微調工具</a:t>
            </a: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]</a:t>
            </a:r>
            <a:r>
              <a:rPr lang="zh-TW" altLang="zh-TW" sz="600" dirty="0"/>
              <a:t> </a:t>
            </a:r>
            <a:br>
              <a:rPr lang="en-US" altLang="zh-TW" sz="600" dirty="0"/>
            </a:br>
            <a:r>
              <a:rPr lang="zh-TW" altLang="zh-TW" sz="600" dirty="0"/>
              <a:t>Axolotl </a:t>
            </a:r>
            <a:endParaRPr lang="en-US" altLang="zh-TW" sz="600" dirty="0"/>
          </a:p>
          <a:p>
            <a:r>
              <a:rPr lang="zh-TW" altLang="zh-TW" sz="600" dirty="0">
                <a:solidFill>
                  <a:srgbClr val="FF0000"/>
                </a:solidFill>
              </a:rPr>
              <a:t>LLaMA Factory</a:t>
            </a:r>
            <a:endParaRPr lang="en-US" altLang="zh-TW" sz="600" dirty="0">
              <a:solidFill>
                <a:srgbClr val="FF0000"/>
              </a:solidFill>
            </a:endParaRPr>
          </a:p>
          <a:p>
            <a:r>
              <a:rPr lang="zh-TW" altLang="zh-TW" sz="600" dirty="0"/>
              <a:t>Unsloth </a:t>
            </a:r>
            <a:endParaRPr lang="en-US" altLang="zh-TW" sz="600" dirty="0"/>
          </a:p>
          <a:p>
            <a:r>
              <a:rPr lang="zh-TW" altLang="zh-TW" sz="600" dirty="0"/>
              <a:t>Torchtune </a:t>
            </a:r>
            <a:endParaRPr lang="en-US" altLang="zh-TW" sz="600" dirty="0"/>
          </a:p>
          <a:p>
            <a:r>
              <a:rPr lang="zh-TW" altLang="zh-TW" sz="600" dirty="0"/>
              <a:t>ModelScope SWIFT</a:t>
            </a:r>
          </a:p>
        </p:txBody>
      </p:sp>
      <p:sp>
        <p:nvSpPr>
          <p:cNvPr id="252" name="矩形 251">
            <a:extLst>
              <a:ext uri="{FF2B5EF4-FFF2-40B4-BE49-F238E27FC236}">
                <a16:creationId xmlns:a16="http://schemas.microsoft.com/office/drawing/2014/main" id="{9A6FC049-1187-D7E5-0630-C64F63C4816F}"/>
              </a:ext>
            </a:extLst>
          </p:cNvPr>
          <p:cNvSpPr/>
          <p:nvPr/>
        </p:nvSpPr>
        <p:spPr>
          <a:xfrm>
            <a:off x="1990764" y="5143054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</a:t>
            </a:r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afetensors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58" name="矩形 257">
            <a:extLst>
              <a:ext uri="{FF2B5EF4-FFF2-40B4-BE49-F238E27FC236}">
                <a16:creationId xmlns:a16="http://schemas.microsoft.com/office/drawing/2014/main" id="{1ADAF727-5FDF-2842-C7DB-D8C277D46F95}"/>
              </a:ext>
            </a:extLst>
          </p:cNvPr>
          <p:cNvSpPr/>
          <p:nvPr/>
        </p:nvSpPr>
        <p:spPr>
          <a:xfrm>
            <a:off x="6935619" y="5139160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GGUF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60" name="矩形 259">
            <a:extLst>
              <a:ext uri="{FF2B5EF4-FFF2-40B4-BE49-F238E27FC236}">
                <a16:creationId xmlns:a16="http://schemas.microsoft.com/office/drawing/2014/main" id="{231D6C02-3483-2589-2E13-924E757F37B9}"/>
              </a:ext>
            </a:extLst>
          </p:cNvPr>
          <p:cNvSpPr/>
          <p:nvPr/>
        </p:nvSpPr>
        <p:spPr>
          <a:xfrm>
            <a:off x="5155490" y="5134564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MLX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62" name="矩形 261">
            <a:extLst>
              <a:ext uri="{FF2B5EF4-FFF2-40B4-BE49-F238E27FC236}">
                <a16:creationId xmlns:a16="http://schemas.microsoft.com/office/drawing/2014/main" id="{B2B955B9-2D46-C93F-B50E-EFFFE9188B34}"/>
              </a:ext>
            </a:extLst>
          </p:cNvPr>
          <p:cNvSpPr/>
          <p:nvPr/>
        </p:nvSpPr>
        <p:spPr>
          <a:xfrm>
            <a:off x="3395131" y="5141774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ONNX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265" name="接點: 肘形 264">
            <a:extLst>
              <a:ext uri="{FF2B5EF4-FFF2-40B4-BE49-F238E27FC236}">
                <a16:creationId xmlns:a16="http://schemas.microsoft.com/office/drawing/2014/main" id="{42D552B2-437C-65F9-520E-189C69CC693A}"/>
              </a:ext>
            </a:extLst>
          </p:cNvPr>
          <p:cNvCxnSpPr>
            <a:cxnSpLocks/>
            <a:stCxn id="26" idx="2"/>
            <a:endCxn id="252" idx="0"/>
          </p:cNvCxnSpPr>
          <p:nvPr/>
        </p:nvCxnSpPr>
        <p:spPr>
          <a:xfrm rot="5400000">
            <a:off x="3428842" y="3610922"/>
            <a:ext cx="520336" cy="2543928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接點: 肘形 267">
            <a:extLst>
              <a:ext uri="{FF2B5EF4-FFF2-40B4-BE49-F238E27FC236}">
                <a16:creationId xmlns:a16="http://schemas.microsoft.com/office/drawing/2014/main" id="{0D4B1183-3F84-40E9-3BF3-22D2AECBA622}"/>
              </a:ext>
            </a:extLst>
          </p:cNvPr>
          <p:cNvCxnSpPr>
            <a:cxnSpLocks/>
            <a:stCxn id="26" idx="2"/>
            <a:endCxn id="258" idx="0"/>
          </p:cNvCxnSpPr>
          <p:nvPr/>
        </p:nvCxnSpPr>
        <p:spPr>
          <a:xfrm rot="16200000" flipH="1">
            <a:off x="5903217" y="3680476"/>
            <a:ext cx="516442" cy="2400927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接點: 肘形 271">
            <a:extLst>
              <a:ext uri="{FF2B5EF4-FFF2-40B4-BE49-F238E27FC236}">
                <a16:creationId xmlns:a16="http://schemas.microsoft.com/office/drawing/2014/main" id="{68D0530A-C47E-1270-2FAA-27D23EC81278}"/>
              </a:ext>
            </a:extLst>
          </p:cNvPr>
          <p:cNvCxnSpPr>
            <a:cxnSpLocks/>
            <a:stCxn id="26" idx="2"/>
            <a:endCxn id="260" idx="0"/>
          </p:cNvCxnSpPr>
          <p:nvPr/>
        </p:nvCxnSpPr>
        <p:spPr>
          <a:xfrm rot="16200000" flipH="1">
            <a:off x="5015450" y="4568242"/>
            <a:ext cx="511846" cy="620798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接點: 肘形 274">
            <a:extLst>
              <a:ext uri="{FF2B5EF4-FFF2-40B4-BE49-F238E27FC236}">
                <a16:creationId xmlns:a16="http://schemas.microsoft.com/office/drawing/2014/main" id="{19DE8891-6873-FDD2-E2BA-E7D41F288E63}"/>
              </a:ext>
            </a:extLst>
          </p:cNvPr>
          <p:cNvCxnSpPr>
            <a:cxnSpLocks/>
            <a:stCxn id="26" idx="2"/>
            <a:endCxn id="262" idx="0"/>
          </p:cNvCxnSpPr>
          <p:nvPr/>
        </p:nvCxnSpPr>
        <p:spPr>
          <a:xfrm rot="5400000">
            <a:off x="4131665" y="4312467"/>
            <a:ext cx="519056" cy="1139561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3" name="文字方塊 282">
            <a:extLst>
              <a:ext uri="{FF2B5EF4-FFF2-40B4-BE49-F238E27FC236}">
                <a16:creationId xmlns:a16="http://schemas.microsoft.com/office/drawing/2014/main" id="{E73DAF14-0EDE-066F-1C03-22F3F7D00913}"/>
              </a:ext>
            </a:extLst>
          </p:cNvPr>
          <p:cNvSpPr txBox="1"/>
          <p:nvPr/>
        </p:nvSpPr>
        <p:spPr>
          <a:xfrm>
            <a:off x="1942286" y="5279398"/>
            <a:ext cx="852563" cy="276999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vLLM</a:t>
            </a:r>
            <a:b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TGI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85" name="文字方塊 284">
            <a:extLst>
              <a:ext uri="{FF2B5EF4-FFF2-40B4-BE49-F238E27FC236}">
                <a16:creationId xmlns:a16="http://schemas.microsoft.com/office/drawing/2014/main" id="{FD0685BF-B94F-4A9B-9E8A-4034E88D406B}"/>
              </a:ext>
            </a:extLst>
          </p:cNvPr>
          <p:cNvSpPr txBox="1"/>
          <p:nvPr/>
        </p:nvSpPr>
        <p:spPr>
          <a:xfrm>
            <a:off x="6952602" y="5249248"/>
            <a:ext cx="852563" cy="276999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Ollama </a:t>
            </a:r>
            <a:b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TGI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87" name="文字方塊 286">
            <a:extLst>
              <a:ext uri="{FF2B5EF4-FFF2-40B4-BE49-F238E27FC236}">
                <a16:creationId xmlns:a16="http://schemas.microsoft.com/office/drawing/2014/main" id="{4B269E56-C728-6787-8E81-1981A87157F9}"/>
              </a:ext>
            </a:extLst>
          </p:cNvPr>
          <p:cNvSpPr txBox="1"/>
          <p:nvPr/>
        </p:nvSpPr>
        <p:spPr>
          <a:xfrm>
            <a:off x="5137010" y="5300545"/>
            <a:ext cx="852563" cy="276999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mlx-lm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LLM Farm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89" name="文字方塊 288">
            <a:extLst>
              <a:ext uri="{FF2B5EF4-FFF2-40B4-BE49-F238E27FC236}">
                <a16:creationId xmlns:a16="http://schemas.microsoft.com/office/drawing/2014/main" id="{2941C4EB-ADCA-39E4-0A07-CA423DBA4878}"/>
              </a:ext>
            </a:extLst>
          </p:cNvPr>
          <p:cNvSpPr txBox="1"/>
          <p:nvPr/>
        </p:nvSpPr>
        <p:spPr>
          <a:xfrm>
            <a:off x="3495632" y="5270701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ONNX Runtime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1" name="文字方塊 290">
            <a:extLst>
              <a:ext uri="{FF2B5EF4-FFF2-40B4-BE49-F238E27FC236}">
                <a16:creationId xmlns:a16="http://schemas.microsoft.com/office/drawing/2014/main" id="{38A2098C-65B1-BAEA-F313-AF7DEA58FB71}"/>
              </a:ext>
            </a:extLst>
          </p:cNvPr>
          <p:cNvSpPr txBox="1"/>
          <p:nvPr/>
        </p:nvSpPr>
        <p:spPr>
          <a:xfrm>
            <a:off x="1980422" y="5506129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雲端、開發階段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3" name="文字方塊 292">
            <a:extLst>
              <a:ext uri="{FF2B5EF4-FFF2-40B4-BE49-F238E27FC236}">
                <a16:creationId xmlns:a16="http://schemas.microsoft.com/office/drawing/2014/main" id="{F156262B-FBDE-F4B9-3888-D43495A0DCCB}"/>
              </a:ext>
            </a:extLst>
          </p:cNvPr>
          <p:cNvSpPr txBox="1"/>
          <p:nvPr/>
        </p:nvSpPr>
        <p:spPr>
          <a:xfrm>
            <a:off x="7056293" y="5489959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pc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邊緣端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5" name="文字方塊 294">
            <a:extLst>
              <a:ext uri="{FF2B5EF4-FFF2-40B4-BE49-F238E27FC236}">
                <a16:creationId xmlns:a16="http://schemas.microsoft.com/office/drawing/2014/main" id="{43DD308C-3610-EE5B-A0AC-865CAC18D067}"/>
              </a:ext>
            </a:extLst>
          </p:cNvPr>
          <p:cNvSpPr txBox="1"/>
          <p:nvPr/>
        </p:nvSpPr>
        <p:spPr>
          <a:xfrm>
            <a:off x="5213282" y="5533312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mac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邊緣端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7" name="文字方塊 296">
            <a:extLst>
              <a:ext uri="{FF2B5EF4-FFF2-40B4-BE49-F238E27FC236}">
                <a16:creationId xmlns:a16="http://schemas.microsoft.com/office/drawing/2014/main" id="{8AB96CAE-778C-04C3-758E-EA80F7D02DEC}"/>
              </a:ext>
            </a:extLst>
          </p:cNvPr>
          <p:cNvSpPr txBox="1"/>
          <p:nvPr/>
        </p:nvSpPr>
        <p:spPr>
          <a:xfrm>
            <a:off x="3648084" y="5510651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TW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跨平台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pic>
        <p:nvPicPr>
          <p:cNvPr id="299" name="圖片 298">
            <a:extLst>
              <a:ext uri="{FF2B5EF4-FFF2-40B4-BE49-F238E27FC236}">
                <a16:creationId xmlns:a16="http://schemas.microsoft.com/office/drawing/2014/main" id="{3068F5DA-67C4-16D0-25EA-B8EC477900A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68385" y="3408287"/>
            <a:ext cx="619157" cy="90492"/>
          </a:xfrm>
          <a:prstGeom prst="rect">
            <a:avLst/>
          </a:prstGeom>
        </p:spPr>
      </p:pic>
      <p:pic>
        <p:nvPicPr>
          <p:cNvPr id="301" name="圖片 300">
            <a:extLst>
              <a:ext uri="{FF2B5EF4-FFF2-40B4-BE49-F238E27FC236}">
                <a16:creationId xmlns:a16="http://schemas.microsoft.com/office/drawing/2014/main" id="{10C7C000-FE46-F822-B7E7-CAB6A732467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47853" y="4182410"/>
            <a:ext cx="519140" cy="133357"/>
          </a:xfrm>
          <a:prstGeom prst="rect">
            <a:avLst/>
          </a:prstGeom>
        </p:spPr>
      </p:pic>
      <p:pic>
        <p:nvPicPr>
          <p:cNvPr id="303" name="圖片 302">
            <a:extLst>
              <a:ext uri="{FF2B5EF4-FFF2-40B4-BE49-F238E27FC236}">
                <a16:creationId xmlns:a16="http://schemas.microsoft.com/office/drawing/2014/main" id="{92A525C8-3860-AAFC-0292-5954D4D603D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4584" y="4582336"/>
            <a:ext cx="1519316" cy="190510"/>
          </a:xfrm>
          <a:prstGeom prst="rect">
            <a:avLst/>
          </a:prstGeom>
        </p:spPr>
      </p:pic>
      <p:pic>
        <p:nvPicPr>
          <p:cNvPr id="309" name="圖片 308">
            <a:extLst>
              <a:ext uri="{FF2B5EF4-FFF2-40B4-BE49-F238E27FC236}">
                <a16:creationId xmlns:a16="http://schemas.microsoft.com/office/drawing/2014/main" id="{53B8548D-F084-A213-2F4D-C298EC54CB4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47244" y="4345355"/>
            <a:ext cx="1761549" cy="463336"/>
          </a:xfrm>
          <a:prstGeom prst="rect">
            <a:avLst/>
          </a:prstGeom>
        </p:spPr>
      </p:pic>
      <p:sp>
        <p:nvSpPr>
          <p:cNvPr id="350" name="文字方塊 349">
            <a:extLst>
              <a:ext uri="{FF2B5EF4-FFF2-40B4-BE49-F238E27FC236}">
                <a16:creationId xmlns:a16="http://schemas.microsoft.com/office/drawing/2014/main" id="{39FF7848-8229-04D6-551E-93C8BD91D235}"/>
              </a:ext>
            </a:extLst>
          </p:cNvPr>
          <p:cNvSpPr txBox="1"/>
          <p:nvPr/>
        </p:nvSpPr>
        <p:spPr>
          <a:xfrm>
            <a:off x="4937155" y="1108277"/>
            <a:ext cx="1217945" cy="363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069"/>
              </a:lnSpc>
            </a:pPr>
            <a:r>
              <a:rPr lang="zh-TW" altLang="zh-TW" sz="750" dirty="0">
                <a:solidFill>
                  <a:srgbClr val="CE9178"/>
                </a:solidFill>
                <a:latin typeface="Consolas" panose="020B0609020204030204" pitchFamily="49" charset="0"/>
              </a:rPr>
              <a:t>gemma-4-E2B-it</a:t>
            </a:r>
            <a:r>
              <a:rPr lang="en-US" altLang="zh-TW" sz="750" dirty="0">
                <a:solidFill>
                  <a:srgbClr val="CE9178"/>
                </a:solidFill>
                <a:latin typeface="Consolas" panose="020B0609020204030204" pitchFamily="49" charset="0"/>
              </a:rPr>
              <a:t> 10.2</a:t>
            </a:r>
            <a:r>
              <a:rPr lang="en-US" altLang="zh-CN" sz="750" dirty="0">
                <a:solidFill>
                  <a:srgbClr val="CE9178"/>
                </a:solidFill>
                <a:latin typeface="Consolas" panose="020B0609020204030204" pitchFamily="49" charset="0"/>
              </a:rPr>
              <a:t>G</a:t>
            </a:r>
            <a:endParaRPr lang="zh-TW" altLang="zh-TW" sz="750" dirty="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0605963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1">
            <a:alpha val="70000"/>
          </a:schemeClr>
        </a:solidFill>
        <a:ln w="12700">
          <a:solidFill>
            <a:schemeClr val="bg1">
              <a:lumMod val="75000"/>
            </a:schemeClr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簡報1" id="{3349570C-DE3B-48BB-8671-1853FC12C45D}" vid="{424F00FA-23EC-402E-8D8B-A6A8EB048657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TM02900688[[fn=多面向]]</Template>
  <TotalTime>544</TotalTime>
  <Words>11185</Words>
  <Application>Microsoft Office PowerPoint</Application>
  <PresentationFormat>如螢幕大小 (4:3)</PresentationFormat>
  <Paragraphs>1449</Paragraphs>
  <Slides>26</Slides>
  <Notes>23</Notes>
  <HiddenSlides>6</HiddenSlides>
  <MMClips>0</MMClips>
  <ScaleCrop>false</ScaleCrop>
  <HeadingPairs>
    <vt:vector size="6" baseType="variant">
      <vt:variant>
        <vt:lpstr>使用字型</vt:lpstr>
      </vt:variant>
      <vt:variant>
        <vt:i4>15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26</vt:i4>
      </vt:variant>
    </vt:vector>
  </HeadingPairs>
  <TitlesOfParts>
    <vt:vector size="42" baseType="lpstr">
      <vt:lpstr>Google Sans</vt:lpstr>
      <vt:lpstr>Meiryo</vt:lpstr>
      <vt:lpstr>Noto Sans HK</vt:lpstr>
      <vt:lpstr>Noto Sans TC</vt:lpstr>
      <vt:lpstr>微軟正黑體</vt:lpstr>
      <vt:lpstr>微軟正黑體 Light</vt:lpstr>
      <vt:lpstr>ADLaM Display</vt:lpstr>
      <vt:lpstr>Arial</vt:lpstr>
      <vt:lpstr>Calibri</vt:lpstr>
      <vt:lpstr>Cambria Math</vt:lpstr>
      <vt:lpstr>Comic Sans MS</vt:lpstr>
      <vt:lpstr>Consolas</vt:lpstr>
      <vt:lpstr>Courier New</vt:lpstr>
      <vt:lpstr>Gadugi</vt:lpstr>
      <vt:lpstr>Wingdings</vt:lpstr>
      <vt:lpstr>Default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Progress Report</dc:title>
  <dc:creator>Felix Tien(田慶豐)</dc:creator>
  <cp:lastModifiedBy>Allen Ni(倪士凱)</cp:lastModifiedBy>
  <cp:revision>1727</cp:revision>
  <cp:lastPrinted>2024-07-30T01:44:15Z</cp:lastPrinted>
  <dcterms:created xsi:type="dcterms:W3CDTF">2019-11-08T03:01:47Z</dcterms:created>
  <dcterms:modified xsi:type="dcterms:W3CDTF">2026-07-13T13:26:13Z</dcterms:modified>
</cp:coreProperties>
</file>