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557" r:id="rId2"/>
    <p:sldId id="3558" r:id="rId3"/>
    <p:sldId id="3508" r:id="rId4"/>
    <p:sldId id="3550" r:id="rId5"/>
  </p:sldIdLst>
  <p:sldSz cx="9144000" cy="6858000" type="screen4x3"/>
  <p:notesSz cx="6797675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ls" id="{5A048767-0D58-44AF-B962-12C29493294F}">
          <p14:sldIdLst>
            <p14:sldId id="3557"/>
            <p14:sldId id="3558"/>
            <p14:sldId id="3508"/>
          </p14:sldIdLst>
        </p14:section>
        <p14:section name="Conclusion" id="{D9E6914C-A73F-4176-B0F8-3F87EAC09119}">
          <p14:sldIdLst>
            <p14:sldId id="35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F1DDEA-D49D-B2A5-9D83-8BDFFC6C721F}" name="Allen Ni(倪士凱)" initials="AN" userId="S::ani@centrilliontech.com.tw::64a9ee61-01eb-41d1-8925-9f522fa76f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B"/>
    <a:srgbClr val="2260DC"/>
    <a:srgbClr val="F0F0F0"/>
    <a:srgbClr val="F8D462"/>
    <a:srgbClr val="4C6BFF"/>
    <a:srgbClr val="FF9900"/>
    <a:srgbClr val="FEC203"/>
    <a:srgbClr val="3079EF"/>
    <a:srgbClr val="B8EACA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75806" autoAdjust="0"/>
  </p:normalViewPr>
  <p:slideViewPr>
    <p:cSldViewPr>
      <p:cViewPr varScale="1">
        <p:scale>
          <a:sx n="123" d="100"/>
          <a:sy n="123" d="100"/>
        </p:scale>
        <p:origin x="924" y="102"/>
      </p:cViewPr>
      <p:guideLst>
        <p:guide orient="horz" pos="2160"/>
        <p:guide pos="1474"/>
      </p:guideLst>
    </p:cSldViewPr>
  </p:slideViewPr>
  <p:outlineViewPr>
    <p:cViewPr>
      <p:scale>
        <a:sx n="33" d="100"/>
        <a:sy n="33" d="100"/>
      </p:scale>
      <p:origin x="0" y="-10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27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509AA70-DCA8-F2B3-665C-D289623E1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60D9017-2A20-36CB-3124-1CE24A164F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982F7CBC-87DD-4F69-8F50-7ED68F7FF790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E2BC4B-E97F-2930-F9D4-22EF7E0E14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105500-21C2-E70A-A08C-9E9E3094A4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5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30EF305C-901E-49EC-B839-B172F94882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0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863167AA-796B-4B6A-95ED-1C0BCB3E5802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4" rIns="91430" bIns="4571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4400"/>
            <a:ext cx="5438140" cy="4466272"/>
          </a:xfrm>
          <a:prstGeom prst="rect">
            <a:avLst/>
          </a:prstGeom>
        </p:spPr>
        <p:txBody>
          <a:bodyPr vert="horz" lIns="91430" tIns="45714" rIns="91430" bIns="45714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5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E3A6CE5E-F349-486D-8749-82EF2AD71F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00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taide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huggingface.co/collections/MediaTek-Research/breeze-2-family" TargetMode="External"/><Relationship Id="rId4" Type="http://schemas.openxmlformats.org/officeDocument/2006/relationships/hyperlink" Target="https://huggingface.co/UOfficeForceX/Tame-Llama3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Deduc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演繹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上而下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原理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想法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結論）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Induction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歸納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下而上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數據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觀察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科技發展終究要回到經濟面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可行性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諾貝爾物理獎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因為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Hinton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將物理界的技術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發揚光大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界。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465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2386-8862-3D84-2954-F944F4A0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05C2CD-BE5F-5B70-E908-0C9EDC011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11BFC0D-60CE-CC7B-0CB5-6565247F0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Deduc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演繹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上而下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原理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想法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結論）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Induction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歸納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下而上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數據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觀察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科技發展終究要回到經濟面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可行性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諾貝爾物理獎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因為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Hinton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將物理界的技術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發揚光大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界。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490BEF-42B9-9F5B-A764-5B49328F8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846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E063-A9C3-2560-BC55-ACC769FC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E20942C-B5F8-D9E2-69EB-E38D83E30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B8BE8-9756-A873-B485-216A919B2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1000B0-C76B-5CB5-0E01-DCEAF9B2D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27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台灣目前的主權 AI 發展策略，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全數以「開放權重（Open Weights/Open Source）」為核心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這些模型的模型權重與代碼，基本上都已經在主流的 AI 社群 Hugging Face 上開源，任何人都可以免費下載、進行地端部署，甚至提供給企業商業使用。 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以下是這些台灣開源模型的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具體釋出版版本與下載資源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TAIDE 系列（官方國家隊）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TAIDE 計畫秉持「還財於民、推動在地產業」的精神，發布的版本皆為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可商用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的開源授權。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旗艦推理版本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taide/Gemma-3-TAIDE-12b-Chat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（結合 Google Gemma 3 的多模態與長文本能力微調）。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經典地端商用版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：TAIDE-LX-7B、TAIDE-LX-13B（基於 Llama 底座訓練）。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社群量化版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：有熱心網友製作了 GGUF 格式（如 Gemma-3-TAIDE-12b-Chat-Q4_K_M.gguf），讓使用者能用一般家用筆電的 CPU 直接跑地端。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Project TAME 與 Taiwan-LLaMA 系列（學術與產業結盟）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台大陳縕儂教授團隊將模型成果完全回饋給開源社群，其衍生出的 Taiwan-LLaMA 更是台灣下載量最高的繁中開源系列之一。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TAME 產業專家版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UOfficeForceX/Tame-Llama3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台灣通用對話版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：由林彥廷博士發布的 yentinglin/Llama-3-Taiwan-8B-Instruct 與 70B-Instruct（涵蓋 80 億與 700 億參數等級）。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長文本外推版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：Llama-3-Taiwan-8B-Instruct-128k（支援 12.8 萬字上下文）。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最新底座升級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：社群也已跟進釋出 Llama-3.1-Taiwan-8B 及微型化的 Llama-3.2-Taiwan-3B 系列。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MediaTek Research (聯發科) Breeze 系列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聯發科創新基地不僅開源了模型，還特別針對繁體中文優化了詞表，使中文推理速度比原生 Llama 快上許多。 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Breeze 2 最新系列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MediaTek-Research/Llama-Breeze2-8B-Instruct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與 Llama-Breeze2-3B-Instruct。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混合專家 MoE 版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：Breexe-8x7B-Instruct-v0_1（適合需要更強大推理邏輯的場景）。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預告開源新勢力：FoxBrain（鴻海研究院）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未來趨勢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：鴻海（Foxconn）也宣布研發首款以 Llama 3.1 70B 為基礎的繁中大型語言模型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FoxBrain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，主打合成資料訓練與超強的數學、邏輯推理能力，並已規劃在後續完全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43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21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382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F852660B-5776-4457-897C-22F48580809B}"/>
              </a:ext>
            </a:extLst>
          </p:cNvPr>
          <p:cNvSpPr txBox="1">
            <a:spLocks/>
          </p:cNvSpPr>
          <p:nvPr userDrawn="1"/>
        </p:nvSpPr>
        <p:spPr>
          <a:xfrm>
            <a:off x="0" y="6628025"/>
            <a:ext cx="9144000" cy="2352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2" r:id="rId2"/>
    <p:sldLayoutId id="2147483663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●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imon3458/project-tame-llama-3-taiwan-%E6%A8%A1%E5%9E%8B-taiwan-llm-%E6%A8%A1%E5%9E%8B%E7%B3%BB%E5%88%97%E5%86%8D%E6%9B%B4%E6%96%B0-1b249b88ab6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ep-learning-101.github.io/Blog/TW-LLM-Benchmark" TargetMode="External"/><Relationship Id="rId4" Type="http://schemas.openxmlformats.org/officeDocument/2006/relationships/hyperlink" Target="https://www.reddit.com/r/taiwan/comments/1t48c98/%E5%8F%B0%E7%81%A3%E7%9A%84%E4%B8%BB%E6%AC%8All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9A64CC9E-E2C9-F44F-B438-82C166DD3AD6}"/>
              </a:ext>
            </a:extLst>
          </p:cNvPr>
          <p:cNvCxnSpPr/>
          <p:nvPr/>
        </p:nvCxnSpPr>
        <p:spPr>
          <a:xfrm>
            <a:off x="4572000" y="3770641"/>
            <a:ext cx="3600400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004290F5-281E-93FC-60A1-A2E3666349C4}"/>
              </a:ext>
            </a:extLst>
          </p:cNvPr>
          <p:cNvSpPr/>
          <p:nvPr/>
        </p:nvSpPr>
        <p:spPr>
          <a:xfrm>
            <a:off x="5918567" y="3709343"/>
            <a:ext cx="598913" cy="65576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Attention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2017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EA0B1E4-3CC1-CAFE-7ACD-0B0E606CD5A2}"/>
              </a:ext>
            </a:extLst>
          </p:cNvPr>
          <p:cNvSpPr/>
          <p:nvPr/>
        </p:nvSpPr>
        <p:spPr>
          <a:xfrm>
            <a:off x="5628200" y="1738098"/>
            <a:ext cx="1440160" cy="1518689"/>
          </a:xfrm>
          <a:prstGeom prst="ellips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4400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FFNN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(Backpropagation)</a:t>
            </a:r>
          </a:p>
          <a:p>
            <a:pPr algn="ctr"/>
            <a:endParaRPr lang="en-US" altLang="zh-TW" sz="14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en-US" altLang="zh-TW" sz="14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en-US" altLang="zh-TW" sz="14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zh-TW" altLang="en-US" sz="1400" dirty="0">
              <a:solidFill>
                <a:schemeClr val="tx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6B62A5F-256A-3016-F50D-A57E32061080}"/>
              </a:ext>
            </a:extLst>
          </p:cNvPr>
          <p:cNvSpPr txBox="1"/>
          <p:nvPr/>
        </p:nvSpPr>
        <p:spPr>
          <a:xfrm>
            <a:off x="539552" y="4412600"/>
            <a:ext cx="829073" cy="240536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TW" sz="1000" dirty="0">
                <a:effectLst/>
              </a:rPr>
              <a:t>Scaling Law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A873DEB-8EF1-D03C-A893-DA181A2AF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39" y="2150311"/>
            <a:ext cx="708323" cy="630617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881E42A9-3C14-33A5-57A8-6E87E4934D33}"/>
              </a:ext>
            </a:extLst>
          </p:cNvPr>
          <p:cNvSpPr/>
          <p:nvPr/>
        </p:nvSpPr>
        <p:spPr>
          <a:xfrm>
            <a:off x="6788566" y="1916832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CNN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0141726-C312-30FF-5F17-291C4EB11CB6}"/>
              </a:ext>
            </a:extLst>
          </p:cNvPr>
          <p:cNvSpPr/>
          <p:nvPr/>
        </p:nvSpPr>
        <p:spPr>
          <a:xfrm>
            <a:off x="5412176" y="2374917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RNN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DB21296-B2AC-876B-8C54-9C8E250C834F}"/>
              </a:ext>
            </a:extLst>
          </p:cNvPr>
          <p:cNvSpPr/>
          <p:nvPr/>
        </p:nvSpPr>
        <p:spPr>
          <a:xfrm>
            <a:off x="5412176" y="2697263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LSTM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52295574-F9E8-1BB0-0D3E-4D88512B5343}"/>
              </a:ext>
            </a:extLst>
          </p:cNvPr>
          <p:cNvSpPr/>
          <p:nvPr/>
        </p:nvSpPr>
        <p:spPr>
          <a:xfrm>
            <a:off x="5995871" y="4277259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GTP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Attn + FNN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78A2F39E-B570-C98D-37E5-754D1391B769}"/>
              </a:ext>
            </a:extLst>
          </p:cNvPr>
          <p:cNvSpPr/>
          <p:nvPr/>
        </p:nvSpPr>
        <p:spPr>
          <a:xfrm>
            <a:off x="6716558" y="2693083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CNN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6EA6E73F-53FC-FCE3-3FE0-22F933B86A25}"/>
              </a:ext>
            </a:extLst>
          </p:cNvPr>
          <p:cNvSpPr/>
          <p:nvPr/>
        </p:nvSpPr>
        <p:spPr>
          <a:xfrm>
            <a:off x="7210075" y="3063964"/>
            <a:ext cx="546416" cy="540099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Residual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/Skip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18BFC6C-263A-5C9E-AE66-E90562B0DA8A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8173030" y="4424879"/>
            <a:ext cx="2" cy="318651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E7568AED-D187-BF2E-B093-C9BD3DBBAEDD}"/>
              </a:ext>
            </a:extLst>
          </p:cNvPr>
          <p:cNvSpPr/>
          <p:nvPr/>
        </p:nvSpPr>
        <p:spPr>
          <a:xfrm>
            <a:off x="7957637" y="4743530"/>
            <a:ext cx="430785" cy="24157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mHC</a:t>
            </a: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89B964A2-FE21-47BF-C892-9DCE0393D14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flipH="1">
            <a:off x="954901" y="2846232"/>
            <a:ext cx="1" cy="1469012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0A1996EB-D42C-740B-85D1-30E38FB4CF93}"/>
              </a:ext>
            </a:extLst>
          </p:cNvPr>
          <p:cNvSpPr/>
          <p:nvPr/>
        </p:nvSpPr>
        <p:spPr>
          <a:xfrm>
            <a:off x="600740" y="2673316"/>
            <a:ext cx="708323" cy="17291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Gopher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E85ABA7-84D4-642D-6CF5-1F0E4E10A25E}"/>
              </a:ext>
            </a:extLst>
          </p:cNvPr>
          <p:cNvSpPr/>
          <p:nvPr/>
        </p:nvSpPr>
        <p:spPr>
          <a:xfrm>
            <a:off x="600739" y="4315244"/>
            <a:ext cx="708323" cy="150314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Chinchilla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CDE642D-68D6-0AEB-A994-C8203492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19" y="3924394"/>
            <a:ext cx="303563" cy="3971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925A013C-BF7E-1854-1013-89582555D429}"/>
              </a:ext>
            </a:extLst>
          </p:cNvPr>
          <p:cNvSpPr/>
          <p:nvPr/>
        </p:nvSpPr>
        <p:spPr>
          <a:xfrm>
            <a:off x="7957640" y="4183303"/>
            <a:ext cx="430784" cy="24157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HC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F0DFBC6-3A66-B6F7-00EF-312D32966A21}"/>
              </a:ext>
            </a:extLst>
          </p:cNvPr>
          <p:cNvSpPr/>
          <p:nvPr/>
        </p:nvSpPr>
        <p:spPr>
          <a:xfrm>
            <a:off x="6476967" y="3063596"/>
            <a:ext cx="619114" cy="56256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Dense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Net</a:t>
            </a: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C26C33D0-E4B4-743E-50E7-154C9AAEFFEE}"/>
              </a:ext>
            </a:extLst>
          </p:cNvPr>
          <p:cNvSpPr/>
          <p:nvPr/>
        </p:nvSpPr>
        <p:spPr>
          <a:xfrm>
            <a:off x="6661496" y="4017679"/>
            <a:ext cx="430784" cy="419433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MUDD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Former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808B52B-D2E3-7FA8-BB8C-7A2EA8293243}"/>
              </a:ext>
            </a:extLst>
          </p:cNvPr>
          <p:cNvSpPr/>
          <p:nvPr/>
        </p:nvSpPr>
        <p:spPr>
          <a:xfrm>
            <a:off x="6913510" y="2276872"/>
            <a:ext cx="245929" cy="271333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AlexNet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2012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36748D0-C94C-1474-C83D-0587CD10BB8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Models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rules to reasoning.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B60FF1D0-43BC-6603-EF59-36C96BEB0E9A}"/>
              </a:ext>
            </a:extLst>
          </p:cNvPr>
          <p:cNvSpPr/>
          <p:nvPr/>
        </p:nvSpPr>
        <p:spPr>
          <a:xfrm>
            <a:off x="4908120" y="2378695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W2V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2013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C940B0-BA05-3A55-2B42-8CE29FCE2163}"/>
              </a:ext>
            </a:extLst>
          </p:cNvPr>
          <p:cNvSpPr txBox="1"/>
          <p:nvPr/>
        </p:nvSpPr>
        <p:spPr>
          <a:xfrm>
            <a:off x="545604" y="2812866"/>
            <a:ext cx="82907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TW" sz="1000" dirty="0">
                <a:effectLst/>
              </a:rPr>
              <a:t>Scaling Law</a:t>
            </a:r>
          </a:p>
          <a:p>
            <a:pPr algn="ctr"/>
            <a:r>
              <a:rPr lang="en-US" altLang="zh-TW" sz="1000" dirty="0"/>
              <a:t>Kaplan 2020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49A373-21E4-A90C-02DB-AB01014518DF}"/>
              </a:ext>
            </a:extLst>
          </p:cNvPr>
          <p:cNvSpPr txBox="1"/>
          <p:nvPr/>
        </p:nvSpPr>
        <p:spPr>
          <a:xfrm>
            <a:off x="181131" y="920914"/>
            <a:ext cx="58686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Traditional programming</a:t>
            </a:r>
            <a:r>
              <a:rPr lang="en-US" altLang="zh-TW" sz="1600" dirty="0"/>
              <a:t>: RDs deduce the rules based on logic.</a:t>
            </a:r>
            <a:endParaRPr lang="zh-TW" altLang="en-US" sz="1400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AI coding</a:t>
            </a:r>
            <a:r>
              <a:rPr lang="en-US" altLang="zh-TW" sz="1600" dirty="0"/>
              <a:t>: GPUs train the model through inductive learning.</a:t>
            </a:r>
            <a:endParaRPr lang="en-US" altLang="zh-TW" sz="1400" dirty="0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6D182263-D83E-2C91-D3B5-E7BCC3B3EB72}"/>
              </a:ext>
            </a:extLst>
          </p:cNvPr>
          <p:cNvCxnSpPr>
            <a:cxnSpLocks/>
            <a:stCxn id="41" idx="2"/>
            <a:endCxn id="76" idx="0"/>
          </p:cNvCxnSpPr>
          <p:nvPr/>
        </p:nvCxnSpPr>
        <p:spPr>
          <a:xfrm>
            <a:off x="2430787" y="2132856"/>
            <a:ext cx="572" cy="1058403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5A4C6DD-99AA-7F54-0F2F-F073F84A5039}"/>
              </a:ext>
            </a:extLst>
          </p:cNvPr>
          <p:cNvSpPr/>
          <p:nvPr/>
        </p:nvSpPr>
        <p:spPr>
          <a:xfrm>
            <a:off x="2065027" y="1802631"/>
            <a:ext cx="731520" cy="330225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Embedding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2003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E7B058A0-B589-2000-4E7B-1EBAD99DA44A}"/>
              </a:ext>
            </a:extLst>
          </p:cNvPr>
          <p:cNvSpPr/>
          <p:nvPr/>
        </p:nvSpPr>
        <p:spPr>
          <a:xfrm>
            <a:off x="6231594" y="1124744"/>
            <a:ext cx="245929" cy="23621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Biological</a:t>
            </a:r>
          </a:p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Neuron</a:t>
            </a:r>
          </a:p>
          <a:p>
            <a:pPr algn="ctr"/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1943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977116D-6C92-C727-0748-BB8161DDD895}"/>
              </a:ext>
            </a:extLst>
          </p:cNvPr>
          <p:cNvSpPr txBox="1"/>
          <p:nvPr/>
        </p:nvSpPr>
        <p:spPr>
          <a:xfrm>
            <a:off x="7306081" y="1559595"/>
            <a:ext cx="938327" cy="400110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TW" sz="1000" b="1" dirty="0">
                <a:effectLst/>
              </a:rPr>
              <a:t>Backpropagation</a:t>
            </a:r>
          </a:p>
          <a:p>
            <a:pPr algn="ctr"/>
            <a:r>
              <a:rPr lang="en-US" altLang="zh-TW" sz="1000" dirty="0"/>
              <a:t>Hopfield, Hinton</a:t>
            </a:r>
            <a:endParaRPr lang="zh-TW" altLang="en-US" sz="8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A368A15-3EB1-B632-32F7-35E0E54C152A}"/>
              </a:ext>
            </a:extLst>
          </p:cNvPr>
          <p:cNvSpPr/>
          <p:nvPr/>
        </p:nvSpPr>
        <p:spPr>
          <a:xfrm>
            <a:off x="6187722" y="1610374"/>
            <a:ext cx="321115" cy="304864"/>
          </a:xfrm>
          <a:prstGeom prst="ellipse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MLP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2006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E065BC21-42C4-3C79-53D2-AC6017D335B8}"/>
              </a:ext>
            </a:extLst>
          </p:cNvPr>
          <p:cNvSpPr txBox="1"/>
          <p:nvPr/>
        </p:nvSpPr>
        <p:spPr>
          <a:xfrm>
            <a:off x="192112" y="5517232"/>
            <a:ext cx="6252096" cy="1092607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Conclusion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Model Converge:</a:t>
            </a:r>
            <a:r>
              <a:rPr lang="en-US" altLang="zh-TW" sz="1600" dirty="0"/>
              <a:t> Parameters, cost, power.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Nobel Physics 2024:</a:t>
            </a:r>
            <a:r>
              <a:rPr lang="en-US" altLang="zh-TW" sz="1600" dirty="0"/>
              <a:t> MLP= BM(physics) + Backpropagation(Hinton).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80E5C8E-A371-21A6-CE7A-D0B2B7C94393}"/>
              </a:ext>
            </a:extLst>
          </p:cNvPr>
          <p:cNvSpPr/>
          <p:nvPr/>
        </p:nvSpPr>
        <p:spPr>
          <a:xfrm>
            <a:off x="2065599" y="2276872"/>
            <a:ext cx="731520" cy="309749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RNN-LM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2010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F6D1A35-0C99-C511-862F-D46810142715}"/>
              </a:ext>
            </a:extLst>
          </p:cNvPr>
          <p:cNvSpPr/>
          <p:nvPr/>
        </p:nvSpPr>
        <p:spPr>
          <a:xfrm>
            <a:off x="2065599" y="3191259"/>
            <a:ext cx="731520" cy="309749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Seq2Seq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2014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AF2ADE06-0373-BCFA-7358-2B78588727A0}"/>
              </a:ext>
            </a:extLst>
          </p:cNvPr>
          <p:cNvSpPr/>
          <p:nvPr/>
        </p:nvSpPr>
        <p:spPr>
          <a:xfrm>
            <a:off x="5052136" y="3033074"/>
            <a:ext cx="678792" cy="663703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Encoder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Decoder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2014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5AD84FAD-CD1C-1567-2DA1-5D10317355DF}"/>
              </a:ext>
            </a:extLst>
          </p:cNvPr>
          <p:cNvSpPr/>
          <p:nvPr/>
        </p:nvSpPr>
        <p:spPr>
          <a:xfrm>
            <a:off x="5995871" y="4653136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GPT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Attn + MoE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CC5A7DD-41A0-7EEC-23DC-D93DBA4C6ABD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3247623" y="3697255"/>
            <a:ext cx="15409" cy="955881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D4B11118-85CB-E3B3-3B58-A81E7240DFBE}"/>
              </a:ext>
            </a:extLst>
          </p:cNvPr>
          <p:cNvSpPr/>
          <p:nvPr/>
        </p:nvSpPr>
        <p:spPr>
          <a:xfrm>
            <a:off x="2897272" y="4005064"/>
            <a:ext cx="731520" cy="17291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M</a:t>
            </a: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QA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9896D7-A914-F596-8731-06D7273EE94D}"/>
              </a:ext>
            </a:extLst>
          </p:cNvPr>
          <p:cNvSpPr/>
          <p:nvPr/>
        </p:nvSpPr>
        <p:spPr>
          <a:xfrm>
            <a:off x="2897272" y="4293096"/>
            <a:ext cx="731520" cy="165687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G</a:t>
            </a: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QA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97BE1F-4641-F50D-115E-0BA3293DC4A9}"/>
              </a:ext>
            </a:extLst>
          </p:cNvPr>
          <p:cNvSpPr/>
          <p:nvPr/>
        </p:nvSpPr>
        <p:spPr>
          <a:xfrm>
            <a:off x="2897272" y="4653136"/>
            <a:ext cx="731519" cy="447885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Multi </a:t>
            </a: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Latent</a:t>
            </a:r>
          </a:p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Attention</a:t>
            </a:r>
          </a:p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2024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F6D5AD-9561-8B3B-9EE9-975ADF9B9104}"/>
              </a:ext>
            </a:extLst>
          </p:cNvPr>
          <p:cNvSpPr/>
          <p:nvPr/>
        </p:nvSpPr>
        <p:spPr>
          <a:xfrm>
            <a:off x="2889653" y="3717032"/>
            <a:ext cx="731520" cy="172665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MH</a:t>
            </a: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3BBF09B-E535-6D8F-9D33-2BF80A6AE597}"/>
              </a:ext>
            </a:extLst>
          </p:cNvPr>
          <p:cNvSpPr/>
          <p:nvPr/>
        </p:nvSpPr>
        <p:spPr>
          <a:xfrm>
            <a:off x="6175790" y="5589240"/>
            <a:ext cx="628458" cy="361919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KDA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AttnRes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ED559E8-20A7-6144-F4C3-CB32FB2CB002}"/>
              </a:ext>
            </a:extLst>
          </p:cNvPr>
          <p:cNvCxnSpPr>
            <a:cxnSpLocks/>
            <a:stCxn id="92" idx="2"/>
            <a:endCxn id="50" idx="0"/>
          </p:cNvCxnSpPr>
          <p:nvPr/>
        </p:nvCxnSpPr>
        <p:spPr>
          <a:xfrm>
            <a:off x="2417480" y="3889697"/>
            <a:ext cx="893" cy="1339503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D70EE51F-11F3-E227-6416-3EF6D0A0EF82}"/>
              </a:ext>
            </a:extLst>
          </p:cNvPr>
          <p:cNvSpPr/>
          <p:nvPr/>
        </p:nvSpPr>
        <p:spPr>
          <a:xfrm>
            <a:off x="2052613" y="4415441"/>
            <a:ext cx="731520" cy="165687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NoPE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C481EE5-03DA-1F5B-927C-966083F6C882}"/>
              </a:ext>
            </a:extLst>
          </p:cNvPr>
          <p:cNvSpPr/>
          <p:nvPr/>
        </p:nvSpPr>
        <p:spPr>
          <a:xfrm>
            <a:off x="2051720" y="4653054"/>
            <a:ext cx="731520" cy="447885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PE</a:t>
            </a:r>
          </a:p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Decouple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2024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58CE629-9C97-E6A5-73B1-3258C20DCA38}"/>
              </a:ext>
            </a:extLst>
          </p:cNvPr>
          <p:cNvSpPr/>
          <p:nvPr/>
        </p:nvSpPr>
        <p:spPr>
          <a:xfrm>
            <a:off x="2052613" y="5229200"/>
            <a:ext cx="731520" cy="397324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NoPE</a:t>
            </a:r>
          </a:p>
          <a:p>
            <a:pPr marL="0" marR="0" lvl="0" indent="0" algn="ct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Everywhere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2026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F6AAD9-A49B-4E37-921F-F55608D4D506}"/>
              </a:ext>
            </a:extLst>
          </p:cNvPr>
          <p:cNvSpPr/>
          <p:nvPr/>
        </p:nvSpPr>
        <p:spPr>
          <a:xfrm>
            <a:off x="7615951" y="5595497"/>
            <a:ext cx="628457" cy="361918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Diffusion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609C4BF-B1FF-333B-73AC-273E88619C09}"/>
              </a:ext>
            </a:extLst>
          </p:cNvPr>
          <p:cNvSpPr/>
          <p:nvPr/>
        </p:nvSpPr>
        <p:spPr>
          <a:xfrm>
            <a:off x="6895870" y="5589240"/>
            <a:ext cx="628458" cy="361919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Decouple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Hybrid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6E621F8-672B-F270-FE57-8799408045B4}"/>
              </a:ext>
            </a:extLst>
          </p:cNvPr>
          <p:cNvSpPr/>
          <p:nvPr/>
        </p:nvSpPr>
        <p:spPr>
          <a:xfrm>
            <a:off x="7495484" y="4849406"/>
            <a:ext cx="346781" cy="442907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MTP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2024</a:t>
            </a: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AF7A3337-28B9-DDBC-87D2-674B746533AD}"/>
              </a:ext>
            </a:extLst>
          </p:cNvPr>
          <p:cNvSpPr/>
          <p:nvPr/>
        </p:nvSpPr>
        <p:spPr>
          <a:xfrm>
            <a:off x="4908120" y="1802631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Auto-regressive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Generation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30846E2-7D0C-A968-E2C8-57E4511568DE}"/>
              </a:ext>
            </a:extLst>
          </p:cNvPr>
          <p:cNvSpPr/>
          <p:nvPr/>
        </p:nvSpPr>
        <p:spPr>
          <a:xfrm>
            <a:off x="2051720" y="3717032"/>
            <a:ext cx="731520" cy="172665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PE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350837F-8A50-118D-ECBB-8C3F197DFE12}"/>
              </a:ext>
            </a:extLst>
          </p:cNvPr>
          <p:cNvSpPr/>
          <p:nvPr/>
        </p:nvSpPr>
        <p:spPr>
          <a:xfrm>
            <a:off x="2059149" y="3996241"/>
            <a:ext cx="731520" cy="309749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RoPE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2021</a:t>
            </a:r>
            <a:endParaRPr kumimoji="0" lang="en-US" altLang="zh-TW" sz="8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300B59D4-4F15-FC15-E853-6467F781666B}"/>
              </a:ext>
            </a:extLst>
          </p:cNvPr>
          <p:cNvSpPr/>
          <p:nvPr/>
        </p:nvSpPr>
        <p:spPr>
          <a:xfrm>
            <a:off x="5838239" y="1412776"/>
            <a:ext cx="245929" cy="23621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LSA</a:t>
            </a:r>
          </a:p>
          <a:p>
            <a:pPr algn="ctr"/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1990</a:t>
            </a: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D84F15D3-B706-CBB6-BF7E-8B7ED20FC4A3}"/>
              </a:ext>
            </a:extLst>
          </p:cNvPr>
          <p:cNvSpPr/>
          <p:nvPr/>
        </p:nvSpPr>
        <p:spPr>
          <a:xfrm>
            <a:off x="6588224" y="1320581"/>
            <a:ext cx="245929" cy="23621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RBM</a:t>
            </a:r>
          </a:p>
          <a:p>
            <a:pPr algn="ctr"/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1986</a:t>
            </a:r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9FED7859-0BE9-D907-297A-26D7162B823D}"/>
              </a:ext>
            </a:extLst>
          </p:cNvPr>
          <p:cNvSpPr/>
          <p:nvPr/>
        </p:nvSpPr>
        <p:spPr>
          <a:xfrm>
            <a:off x="6897904" y="1484784"/>
            <a:ext cx="245929" cy="23621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LeNet</a:t>
            </a:r>
          </a:p>
          <a:p>
            <a:pPr algn="ctr"/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1998</a:t>
            </a:r>
          </a:p>
        </p:txBody>
      </p: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B25A918D-DB22-47B3-573E-D7BF1110848B}"/>
              </a:ext>
            </a:extLst>
          </p:cNvPr>
          <p:cNvCxnSpPr>
            <a:cxnSpLocks/>
            <a:stCxn id="7" idx="6"/>
            <a:endCxn id="66" idx="1"/>
          </p:cNvCxnSpPr>
          <p:nvPr/>
        </p:nvCxnSpPr>
        <p:spPr>
          <a:xfrm flipV="1">
            <a:off x="6508837" y="1759650"/>
            <a:ext cx="797244" cy="3156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41245B26-A988-2E9B-EB09-1D273839086C}"/>
              </a:ext>
            </a:extLst>
          </p:cNvPr>
          <p:cNvSpPr/>
          <p:nvPr/>
        </p:nvSpPr>
        <p:spPr>
          <a:xfrm>
            <a:off x="7596336" y="1268760"/>
            <a:ext cx="245929" cy="23621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Delta Rule</a:t>
            </a:r>
          </a:p>
          <a:p>
            <a:pPr algn="ctr"/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1960</a:t>
            </a: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794F9DF3-4CFC-D6B9-C8DC-C52FC20C3B27}"/>
              </a:ext>
            </a:extLst>
          </p:cNvPr>
          <p:cNvSpPr/>
          <p:nvPr/>
        </p:nvSpPr>
        <p:spPr>
          <a:xfrm>
            <a:off x="4974143" y="4178895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Vanilla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Linear 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Attention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2020</a:t>
            </a: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63980A83-16E9-7791-B663-19C6A32C1EE1}"/>
              </a:ext>
            </a:extLst>
          </p:cNvPr>
          <p:cNvSpPr/>
          <p:nvPr/>
        </p:nvSpPr>
        <p:spPr>
          <a:xfrm>
            <a:off x="4974143" y="5199385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Gated DN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2025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321BF9B8-3FD9-8BFC-9C27-8D0594D79603}"/>
              </a:ext>
            </a:extLst>
          </p:cNvPr>
          <p:cNvSpPr/>
          <p:nvPr/>
        </p:nvSpPr>
        <p:spPr>
          <a:xfrm>
            <a:off x="4964162" y="4797152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Delta Net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Chunk-wise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2024</a:t>
            </a: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93296DC5-B434-3F69-60FA-EC1EB49C8739}"/>
              </a:ext>
            </a:extLst>
          </p:cNvPr>
          <p:cNvSpPr/>
          <p:nvPr/>
        </p:nvSpPr>
        <p:spPr>
          <a:xfrm>
            <a:off x="4974143" y="5589240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GDN2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F9F4F47A-CDC7-0B38-E5A5-088D4B80FB49}"/>
              </a:ext>
            </a:extLst>
          </p:cNvPr>
          <p:cNvSpPr/>
          <p:nvPr/>
        </p:nvSpPr>
        <p:spPr>
          <a:xfrm>
            <a:off x="5783258" y="3212976"/>
            <a:ext cx="355890" cy="360656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GRU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2014</a:t>
            </a: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D2FEA80B-EB56-2F71-D6B0-DBD3709510D9}"/>
              </a:ext>
            </a:extLst>
          </p:cNvPr>
          <p:cNvSpPr/>
          <p:nvPr/>
        </p:nvSpPr>
        <p:spPr>
          <a:xfrm>
            <a:off x="3973087" y="3714854"/>
            <a:ext cx="598913" cy="655761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Mamba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1828967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897C64-E497-212A-0DAA-218F6BE7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F16CE4D4-3B68-DCEC-4608-D09EC9628A7F}"/>
              </a:ext>
            </a:extLst>
          </p:cNvPr>
          <p:cNvCxnSpPr/>
          <p:nvPr/>
        </p:nvCxnSpPr>
        <p:spPr>
          <a:xfrm>
            <a:off x="2843808" y="1412776"/>
            <a:ext cx="3600400" cy="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15967FD7-DD09-5EF9-FE63-C02BD5FED6D0}"/>
              </a:ext>
            </a:extLst>
          </p:cNvPr>
          <p:cNvSpPr/>
          <p:nvPr/>
        </p:nvSpPr>
        <p:spPr>
          <a:xfrm>
            <a:off x="4190375" y="980728"/>
            <a:ext cx="598913" cy="612186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Attention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2017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AC0C46A-3789-FA52-1434-C240D3BC000F}"/>
              </a:ext>
            </a:extLst>
          </p:cNvPr>
          <p:cNvSpPr/>
          <p:nvPr/>
        </p:nvSpPr>
        <p:spPr>
          <a:xfrm>
            <a:off x="4267679" y="1684971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GTP</a:t>
            </a:r>
          </a:p>
          <a:p>
            <a:pPr algn="ctr">
              <a:lnSpc>
                <a:spcPts val="1000"/>
              </a:lnSpc>
            </a:pPr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2018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F064F87-CCBE-3BFF-CBD8-5EE02B3EB53E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7788756" y="3398381"/>
            <a:ext cx="2" cy="318651"/>
          </a:xfrm>
          <a:prstGeom prst="straightConnector1">
            <a:avLst/>
          </a:prstGeom>
          <a:ln w="22225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A781AF4-8E61-1106-C389-D0483CFF274D}"/>
              </a:ext>
            </a:extLst>
          </p:cNvPr>
          <p:cNvSpPr/>
          <p:nvPr/>
        </p:nvSpPr>
        <p:spPr>
          <a:xfrm>
            <a:off x="7573363" y="3717032"/>
            <a:ext cx="430785" cy="24157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mHC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C6C902-D95B-24E2-7D43-1FA35FA2D842}"/>
              </a:ext>
            </a:extLst>
          </p:cNvPr>
          <p:cNvSpPr/>
          <p:nvPr/>
        </p:nvSpPr>
        <p:spPr>
          <a:xfrm>
            <a:off x="7573366" y="3156805"/>
            <a:ext cx="430784" cy="241576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HC</a:t>
            </a:r>
            <a:endParaRPr kumimoji="0" lang="en-US" altLang="zh-TW" sz="12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302838B-3520-CB01-4E29-719098A7D96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Models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rules to reasoning.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AF52C16-2168-4130-50A1-C3D3D63B4197}"/>
              </a:ext>
            </a:extLst>
          </p:cNvPr>
          <p:cNvSpPr txBox="1"/>
          <p:nvPr/>
        </p:nvSpPr>
        <p:spPr>
          <a:xfrm>
            <a:off x="192112" y="5517232"/>
            <a:ext cx="6252096" cy="1092607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Conclusion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Model Converge:</a:t>
            </a:r>
            <a:r>
              <a:rPr lang="en-US" altLang="zh-TW" sz="1600" dirty="0"/>
              <a:t> Parameters, cost, power.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Nobel Physics 2024:</a:t>
            </a:r>
            <a:r>
              <a:rPr lang="en-US" altLang="zh-TW" sz="1600" dirty="0"/>
              <a:t> MLP= BM(physics) + Backpropagation(Hinton).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BDB1BF6-24B0-CB6A-0B45-5907FF877D9F}"/>
              </a:ext>
            </a:extLst>
          </p:cNvPr>
          <p:cNvSpPr/>
          <p:nvPr/>
        </p:nvSpPr>
        <p:spPr>
          <a:xfrm>
            <a:off x="4267679" y="2276872"/>
            <a:ext cx="495818" cy="44788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GPT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Attn + MoE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D9E50EB-7031-DD4C-B0D6-576897B391B0}"/>
              </a:ext>
            </a:extLst>
          </p:cNvPr>
          <p:cNvSpPr/>
          <p:nvPr/>
        </p:nvSpPr>
        <p:spPr>
          <a:xfrm>
            <a:off x="5169345" y="4781313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Gemma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991CDBA6-9E41-3841-E585-55EA172911FE}"/>
              </a:ext>
            </a:extLst>
          </p:cNvPr>
          <p:cNvSpPr/>
          <p:nvPr/>
        </p:nvSpPr>
        <p:spPr>
          <a:xfrm>
            <a:off x="3644134" y="4781314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DeepSeek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V4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AC47DAB-57D8-78F8-57CA-6F50B371B065}"/>
              </a:ext>
            </a:extLst>
          </p:cNvPr>
          <p:cNvSpPr/>
          <p:nvPr/>
        </p:nvSpPr>
        <p:spPr>
          <a:xfrm>
            <a:off x="2267744" y="4781313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Kimi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DEAD8F7-92A3-8B2C-F0B0-25BE7676FF37}"/>
              </a:ext>
            </a:extLst>
          </p:cNvPr>
          <p:cNvSpPr/>
          <p:nvPr/>
        </p:nvSpPr>
        <p:spPr>
          <a:xfrm>
            <a:off x="7111210" y="3822908"/>
            <a:ext cx="346781" cy="442907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MTP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2024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9DC722B1-7EF2-5910-6ACF-AA91B85DEB41}"/>
              </a:ext>
            </a:extLst>
          </p:cNvPr>
          <p:cNvSpPr/>
          <p:nvPr/>
        </p:nvSpPr>
        <p:spPr>
          <a:xfrm>
            <a:off x="2924054" y="4781315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Qwen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3.8</a:t>
            </a: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140EB4E5-AB38-DCDD-4601-092026526603}"/>
              </a:ext>
            </a:extLst>
          </p:cNvPr>
          <p:cNvSpPr/>
          <p:nvPr/>
        </p:nvSpPr>
        <p:spPr>
          <a:xfrm>
            <a:off x="2924054" y="2076685"/>
            <a:ext cx="495818" cy="488218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Vanilla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Linear </a:t>
            </a:r>
          </a:p>
          <a:p>
            <a:pPr algn="ctr">
              <a:lnSpc>
                <a:spcPts val="12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Attention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2020</a:t>
            </a: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A24D9A64-7951-F444-90E3-B3DBF5C2B7C2}"/>
              </a:ext>
            </a:extLst>
          </p:cNvPr>
          <p:cNvSpPr/>
          <p:nvPr/>
        </p:nvSpPr>
        <p:spPr>
          <a:xfrm>
            <a:off x="3090079" y="3284984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Gated DN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2025.03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ABC683C-D4EE-CE9D-3171-8CA226B75346}"/>
              </a:ext>
            </a:extLst>
          </p:cNvPr>
          <p:cNvSpPr/>
          <p:nvPr/>
        </p:nvSpPr>
        <p:spPr>
          <a:xfrm>
            <a:off x="3105332" y="2852936"/>
            <a:ext cx="346781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Delta Net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Chunk-wise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2024</a:t>
            </a: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72DF3FD3-E88D-2E86-3E26-9DAD1EE10F48}"/>
              </a:ext>
            </a:extLst>
          </p:cNvPr>
          <p:cNvSpPr/>
          <p:nvPr/>
        </p:nvSpPr>
        <p:spPr>
          <a:xfrm>
            <a:off x="3245951" y="3933056"/>
            <a:ext cx="389945" cy="360040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FG</a:t>
            </a:r>
            <a:r>
              <a:rPr lang="en-US" altLang="zh-TW" sz="1000" baseline="30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-GDN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9B2C012-79D4-DC2E-8136-FB25168D99C2}"/>
              </a:ext>
            </a:extLst>
          </p:cNvPr>
          <p:cNvSpPr/>
          <p:nvPr/>
        </p:nvSpPr>
        <p:spPr>
          <a:xfrm>
            <a:off x="1148091" y="2564904"/>
            <a:ext cx="389945" cy="414562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Mamba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2023</a:t>
            </a: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0F6EB330-E419-47E7-E5BC-5B2C9F1905D7}"/>
              </a:ext>
            </a:extLst>
          </p:cNvPr>
          <p:cNvSpPr/>
          <p:nvPr/>
        </p:nvSpPr>
        <p:spPr>
          <a:xfrm>
            <a:off x="5516342" y="1684971"/>
            <a:ext cx="495818" cy="442166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BERT</a:t>
            </a:r>
            <a:endParaRPr lang="en-US" altLang="zh-TW" sz="1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2018</a:t>
            </a: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D1502A9-4E79-6669-67B1-033C2082F9CC}"/>
              </a:ext>
            </a:extLst>
          </p:cNvPr>
          <p:cNvSpPr/>
          <p:nvPr/>
        </p:nvSpPr>
        <p:spPr>
          <a:xfrm>
            <a:off x="1043608" y="3159034"/>
            <a:ext cx="598913" cy="557998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Mamba 2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Membrane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-driven</a:t>
            </a:r>
            <a:r>
              <a:rPr lang="zh-TW" altLang="en-US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PEFT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2025</a:t>
            </a: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8CEAF70D-C216-C6BA-AE72-D652D1764CC8}"/>
              </a:ext>
            </a:extLst>
          </p:cNvPr>
          <p:cNvSpPr/>
          <p:nvPr/>
        </p:nvSpPr>
        <p:spPr>
          <a:xfrm>
            <a:off x="1043609" y="3861048"/>
            <a:ext cx="598912" cy="557997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Mamba 3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B8E7921-46EA-190E-BF0A-95EA01373290}"/>
              </a:ext>
            </a:extLst>
          </p:cNvPr>
          <p:cNvSpPr/>
          <p:nvPr/>
        </p:nvSpPr>
        <p:spPr>
          <a:xfrm>
            <a:off x="4222118" y="3501008"/>
            <a:ext cx="598912" cy="557997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Sparse MoE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MLA / Fine-Grained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48A4F24D-0DEA-C809-8043-80321469F71D}"/>
              </a:ext>
            </a:extLst>
          </p:cNvPr>
          <p:cNvSpPr/>
          <p:nvPr/>
        </p:nvSpPr>
        <p:spPr>
          <a:xfrm>
            <a:off x="1148090" y="1205495"/>
            <a:ext cx="389945" cy="414562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SSM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1970</a:t>
            </a:r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4EBEB091-6791-B45A-BF04-3D5EF38066A7}"/>
              </a:ext>
            </a:extLst>
          </p:cNvPr>
          <p:cNvSpPr/>
          <p:nvPr/>
        </p:nvSpPr>
        <p:spPr>
          <a:xfrm>
            <a:off x="4292206" y="4781313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Z.AI GLM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3EF1AC3F-5BB5-F2E6-4097-C06077F08E0A}"/>
              </a:ext>
            </a:extLst>
          </p:cNvPr>
          <p:cNvSpPr/>
          <p:nvPr/>
        </p:nvSpPr>
        <p:spPr>
          <a:xfrm>
            <a:off x="5004048" y="2076686"/>
            <a:ext cx="495818" cy="452332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Dense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GQA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2020</a:t>
            </a: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4620C3C-C2B0-CF97-9598-3A329A535343}"/>
              </a:ext>
            </a:extLst>
          </p:cNvPr>
          <p:cNvSpPr/>
          <p:nvPr/>
        </p:nvSpPr>
        <p:spPr>
          <a:xfrm>
            <a:off x="5820242" y="4784938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MS Phi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4-mini</a:t>
            </a: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EED1C818-C6C1-6299-20AD-EB0482E640D3}"/>
              </a:ext>
            </a:extLst>
          </p:cNvPr>
          <p:cNvSpPr/>
          <p:nvPr/>
        </p:nvSpPr>
        <p:spPr>
          <a:xfrm>
            <a:off x="6452446" y="4777688"/>
            <a:ext cx="495818" cy="447885"/>
          </a:xfrm>
          <a:prstGeom prst="ellipse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Llama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9AC75EC1-AEAB-94F1-3A21-9BE297B1FCC1}"/>
              </a:ext>
            </a:extLst>
          </p:cNvPr>
          <p:cNvSpPr/>
          <p:nvPr/>
        </p:nvSpPr>
        <p:spPr>
          <a:xfrm>
            <a:off x="5557264" y="3800301"/>
            <a:ext cx="598912" cy="557997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Early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Fusion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71F8658A-6E2C-450A-08C2-DC9754E12BD1}"/>
              </a:ext>
            </a:extLst>
          </p:cNvPr>
          <p:cNvSpPr/>
          <p:nvPr/>
        </p:nvSpPr>
        <p:spPr>
          <a:xfrm>
            <a:off x="2667797" y="3933056"/>
            <a:ext cx="389945" cy="360040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GDN2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2026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3EEC88D-333A-91ED-F25A-F8F26491C4BF}"/>
              </a:ext>
            </a:extLst>
          </p:cNvPr>
          <p:cNvSpPr/>
          <p:nvPr/>
        </p:nvSpPr>
        <p:spPr>
          <a:xfrm>
            <a:off x="2915816" y="3530823"/>
            <a:ext cx="389945" cy="330225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KDA</a:t>
            </a:r>
          </a:p>
          <a:p>
            <a:pPr algn="ctr"/>
            <a:r>
              <a:rPr lang="en-US" altLang="zh-TW" sz="800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2025.10</a:t>
            </a:r>
          </a:p>
        </p:txBody>
      </p:sp>
    </p:spTree>
    <p:extLst>
      <p:ext uri="{BB962C8B-B14F-4D97-AF65-F5344CB8AC3E}">
        <p14:creationId xmlns:p14="http://schemas.microsoft.com/office/powerpoint/2010/main" val="4064324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1ED2-FA76-B368-57A6-A5DD61C1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B035E0B-32D5-59ED-6997-9338A230FFFA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6120680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Weight Matrix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MLP applies backpropagation to resolve intricate, non-linear problems.</a:t>
            </a:r>
          </a:p>
        </p:txBody>
      </p:sp>
      <p:sp>
        <p:nvSpPr>
          <p:cNvPr id="2" name="梯形 1">
            <a:extLst>
              <a:ext uri="{FF2B5EF4-FFF2-40B4-BE49-F238E27FC236}">
                <a16:creationId xmlns:a16="http://schemas.microsoft.com/office/drawing/2014/main" id="{3BA676CE-3C04-A7FC-C7CD-6611895BCFA2}"/>
              </a:ext>
            </a:extLst>
          </p:cNvPr>
          <p:cNvSpPr/>
          <p:nvPr/>
        </p:nvSpPr>
        <p:spPr>
          <a:xfrm>
            <a:off x="1547664" y="5337094"/>
            <a:ext cx="4113457" cy="612186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MLP</a:t>
            </a:r>
            <a:b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cs typeface="ADLaM Display" panose="02010000000000000000" pitchFamily="2" charset="0"/>
              </a:rPr>
              <a:t>(Backpropagation)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梯形 19">
            <a:extLst>
              <a:ext uri="{FF2B5EF4-FFF2-40B4-BE49-F238E27FC236}">
                <a16:creationId xmlns:a16="http://schemas.microsoft.com/office/drawing/2014/main" id="{C890D060-F45A-C0A6-3BB9-C487157D605C}"/>
              </a:ext>
            </a:extLst>
          </p:cNvPr>
          <p:cNvSpPr/>
          <p:nvPr/>
        </p:nvSpPr>
        <p:spPr>
          <a:xfrm>
            <a:off x="1822195" y="4365104"/>
            <a:ext cx="3528392" cy="864096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RNN, CNN, RC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Gradient vanish</a:t>
            </a:r>
            <a:b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Gradient exploded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2" name="梯形 21">
            <a:extLst>
              <a:ext uri="{FF2B5EF4-FFF2-40B4-BE49-F238E27FC236}">
                <a16:creationId xmlns:a16="http://schemas.microsoft.com/office/drawing/2014/main" id="{0E90B16C-984F-38DA-9C1C-77B194A2CC6F}"/>
              </a:ext>
            </a:extLst>
          </p:cNvPr>
          <p:cNvSpPr/>
          <p:nvPr/>
        </p:nvSpPr>
        <p:spPr>
          <a:xfrm>
            <a:off x="2254243" y="3824146"/>
            <a:ext cx="2664296" cy="482141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Transformer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(Attention)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4" name="梯形 23">
            <a:extLst>
              <a:ext uri="{FF2B5EF4-FFF2-40B4-BE49-F238E27FC236}">
                <a16:creationId xmlns:a16="http://schemas.microsoft.com/office/drawing/2014/main" id="{3F3532FB-9CE6-957C-A6C2-F4313A04B057}"/>
              </a:ext>
            </a:extLst>
          </p:cNvPr>
          <p:cNvSpPr/>
          <p:nvPr/>
        </p:nvSpPr>
        <p:spPr>
          <a:xfrm>
            <a:off x="2506271" y="2924944"/>
            <a:ext cx="2196244" cy="792336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Frontier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srgbClr val="4F81BD">
                    <a:lumMod val="50000"/>
                  </a:srgbClr>
                </a:solidFill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</a:t>
            </a:r>
            <a:r>
              <a:rPr kumimoji="0" lang="en-US" altLang="zh-TW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Attn+MoE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8" name="梯形 27">
            <a:extLst>
              <a:ext uri="{FF2B5EF4-FFF2-40B4-BE49-F238E27FC236}">
                <a16:creationId xmlns:a16="http://schemas.microsoft.com/office/drawing/2014/main" id="{E14E45B9-570E-A7C9-9EC8-B9D40618EB1E}"/>
              </a:ext>
            </a:extLst>
          </p:cNvPr>
          <p:cNvSpPr/>
          <p:nvPr/>
        </p:nvSpPr>
        <p:spPr>
          <a:xfrm>
            <a:off x="6588224" y="5337094"/>
            <a:ext cx="1645920" cy="548640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Perception</a:t>
            </a:r>
            <a:b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cs typeface="ADLaM Display" panose="02010000000000000000" pitchFamily="2" charset="0"/>
              </a:rPr>
              <a:t>(Pretraining, Distillation)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" name="梯形 29">
            <a:extLst>
              <a:ext uri="{FF2B5EF4-FFF2-40B4-BE49-F238E27FC236}">
                <a16:creationId xmlns:a16="http://schemas.microsoft.com/office/drawing/2014/main" id="{C7C3C531-420B-375B-7C6C-D7369F458E70}"/>
              </a:ext>
            </a:extLst>
          </p:cNvPr>
          <p:cNvSpPr/>
          <p:nvPr/>
        </p:nvSpPr>
        <p:spPr>
          <a:xfrm>
            <a:off x="6588224" y="4653136"/>
            <a:ext cx="1645920" cy="548640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Expertise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Supervised FT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2" name="梯形 31">
            <a:extLst>
              <a:ext uri="{FF2B5EF4-FFF2-40B4-BE49-F238E27FC236}">
                <a16:creationId xmlns:a16="http://schemas.microsoft.com/office/drawing/2014/main" id="{6CC0B344-4F6D-CADD-968D-A0729652C1B5}"/>
              </a:ext>
            </a:extLst>
          </p:cNvPr>
          <p:cNvSpPr/>
          <p:nvPr/>
        </p:nvSpPr>
        <p:spPr>
          <a:xfrm>
            <a:off x="6588224" y="3212976"/>
            <a:ext cx="1645920" cy="548640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Agent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(MCP)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6" name="梯形 35">
            <a:extLst>
              <a:ext uri="{FF2B5EF4-FFF2-40B4-BE49-F238E27FC236}">
                <a16:creationId xmlns:a16="http://schemas.microsoft.com/office/drawing/2014/main" id="{BE216D4A-61ED-BA56-59EB-B33DF1238DE8}"/>
              </a:ext>
            </a:extLst>
          </p:cNvPr>
          <p:cNvSpPr/>
          <p:nvPr/>
        </p:nvSpPr>
        <p:spPr>
          <a:xfrm>
            <a:off x="6588224" y="3933056"/>
            <a:ext cx="1645920" cy="548640"/>
          </a:xfrm>
          <a:prstGeom prst="trapezoid">
            <a:avLst>
              <a:gd name="adj" fmla="val 46863"/>
            </a:avLst>
          </a:prstGeom>
          <a:solidFill>
            <a:schemeClr val="bg1">
              <a:lumMod val="95000"/>
              <a:alpha val="7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Reasoning</a:t>
            </a:r>
            <a:b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(RL, CoT)</a:t>
            </a:r>
            <a:endParaRPr lang="zh-TW" altLang="en-US" sz="14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59ACDC-DED9-0DB1-D903-FC622CEC7694}"/>
              </a:ext>
            </a:extLst>
          </p:cNvPr>
          <p:cNvSpPr/>
          <p:nvPr/>
        </p:nvSpPr>
        <p:spPr>
          <a:xfrm>
            <a:off x="4427984" y="1692987"/>
            <a:ext cx="3987977" cy="432048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諾貝爾</a:t>
            </a:r>
            <a:r>
              <a:rPr kumimoji="0" lang="en-US" altLang="zh-TW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.2024</a:t>
            </a: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物理獎</a:t>
            </a:r>
            <a:endParaRPr kumimoji="0" lang="en-US" altLang="zh-TW" sz="12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推廣物理技術到</a:t>
            </a:r>
            <a:r>
              <a:rPr kumimoji="0" lang="en-US" altLang="zh-TW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en-US" altLang="zh-TW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,</a:t>
            </a:r>
            <a:r>
              <a:rPr lang="zh-TW" altLang="en-US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讓</a:t>
            </a:r>
            <a:r>
              <a:rPr kumimoji="0" lang="en-US" altLang="zh-TW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MLP(BP)</a:t>
            </a: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進一步推升</a:t>
            </a:r>
            <a:r>
              <a:rPr kumimoji="0" lang="en-US" altLang="zh-TW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AI</a:t>
            </a:r>
            <a:endParaRPr kumimoji="0" lang="en-US" altLang="zh-TW" sz="12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8EFDC7-98D9-B2A8-5D90-15A0EC1E068B}"/>
              </a:ext>
            </a:extLst>
          </p:cNvPr>
          <p:cNvSpPr/>
          <p:nvPr/>
        </p:nvSpPr>
        <p:spPr>
          <a:xfrm>
            <a:off x="4427984" y="2169113"/>
            <a:ext cx="3987977" cy="432048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諾貝爾</a:t>
            </a:r>
            <a:r>
              <a:rPr kumimoji="0" lang="en-US" altLang="zh-TW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.2024</a:t>
            </a:r>
            <a:r>
              <a:rPr lang="zh-TW" altLang="en-US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化學</a:t>
            </a: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獎</a:t>
            </a:r>
            <a:endParaRPr kumimoji="0" lang="en-US" altLang="zh-TW" sz="12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引用</a:t>
            </a:r>
            <a:r>
              <a:rPr lang="en-US" altLang="zh-TW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看清蛋白質結構</a:t>
            </a:r>
            <a:r>
              <a:rPr lang="en-US" altLang="zh-TW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200" dirty="0">
                <a:ln w="0"/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並設計</a:t>
            </a:r>
            <a:r>
              <a:rPr kumimoji="0" lang="zh-TW" alt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全新的藥物與疫苗</a:t>
            </a:r>
            <a:endParaRPr kumimoji="0" lang="en-US" altLang="zh-TW" sz="1200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7FC2076-425F-21C3-31C0-60F6DADEFAD6}"/>
              </a:ext>
            </a:extLst>
          </p:cNvPr>
          <p:cNvSpPr txBox="1"/>
          <p:nvPr/>
        </p:nvSpPr>
        <p:spPr>
          <a:xfrm>
            <a:off x="323528" y="1163213"/>
            <a:ext cx="352839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+mn-lt"/>
              </a:rPr>
              <a:t>1985 年</a:t>
            </a:r>
            <a:r>
              <a:rPr lang="zh-TW" altLang="zh-TW" sz="1000" b="0" u="none" strike="noStrike" dirty="0">
                <a:effectLst/>
                <a:latin typeface="+mn-lt"/>
              </a:rPr>
              <a:t>：辛頓（Hinton）受到物理模型啟發，在霍普菲爾德網路的基礎上發明了</a:t>
            </a:r>
            <a:r>
              <a:rPr lang="zh-TW" altLang="zh-TW" sz="1000" b="1" u="none" strike="noStrike" dirty="0">
                <a:effectLst/>
                <a:latin typeface="+mn-lt"/>
              </a:rPr>
              <a:t>「玻爾茲曼機」（Boltzmann Machine）</a:t>
            </a:r>
            <a:r>
              <a:rPr lang="zh-TW" altLang="zh-TW" sz="1000" b="0" u="none" strike="noStrike" dirty="0">
                <a:effectLst/>
                <a:latin typeface="+mn-lt"/>
              </a:rPr>
              <a:t>。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+mn-lt"/>
              </a:rPr>
              <a:t>1986 年</a:t>
            </a:r>
            <a:r>
              <a:rPr lang="zh-TW" altLang="zh-TW" sz="1000" b="0" u="none" strike="noStrike" dirty="0">
                <a:effectLst/>
                <a:latin typeface="+mn-lt"/>
              </a:rPr>
              <a:t>：辛頓等人推廣了</a:t>
            </a:r>
            <a:r>
              <a:rPr lang="zh-TW" altLang="zh-TW" sz="1000" b="1" u="none" strike="noStrike" dirty="0">
                <a:effectLst/>
                <a:latin typeface="+mn-lt"/>
              </a:rPr>
              <a:t>反向傳播演算法（Backpropagation）</a:t>
            </a:r>
            <a:r>
              <a:rPr lang="zh-TW" altLang="zh-TW" sz="1000" b="0" u="none" strike="noStrike" dirty="0">
                <a:effectLst/>
                <a:latin typeface="+mn-lt"/>
              </a:rPr>
              <a:t>，正式讓</a:t>
            </a:r>
            <a:r>
              <a:rPr lang="zh-TW" altLang="zh-TW" sz="1000" b="1" u="none" strike="noStrike" dirty="0">
                <a:effectLst/>
                <a:latin typeface="+mn-lt"/>
              </a:rPr>
              <a:t>多層感知機（MLP）</a:t>
            </a:r>
            <a:r>
              <a:rPr lang="zh-TW" altLang="zh-TW" sz="1000" b="0" u="none" strike="noStrike" dirty="0">
                <a:effectLst/>
                <a:latin typeface="+mn-lt"/>
              </a:rPr>
              <a:t>具備了訓練多層網路的能力。AI 迎來短暫復興。</a:t>
            </a:r>
            <a:endParaRPr lang="zh-TW" altLang="zh-TW" sz="10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503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945F798-81D1-C7E5-5F9F-1939E963131A}"/>
              </a:ext>
            </a:extLst>
          </p:cNvPr>
          <p:cNvSpPr txBox="1"/>
          <p:nvPr/>
        </p:nvSpPr>
        <p:spPr>
          <a:xfrm>
            <a:off x="356839" y="3037597"/>
            <a:ext cx="849694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目前台灣本土的大型語言模型（LLM）發展非常蓬勃，主要聚焦於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「主權 AI（Sovereign AI）」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的建立。為了防止台灣繁體中文、歷史文化與在地價值觀在國際大模型中被簡體或外國語料邊緣化，產、官、學、研各界推出了多款具有「台灣味」的專屬大模型。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以下是目前台灣最具代表性的本土模型系列：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1. 官方國家隊：TAIDE </a:t>
            </a:r>
            <a:r>
              <a:rPr lang="en-US" altLang="zh-TW" sz="1000" b="1" u="none" strike="noStrike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000" b="1" u="none" strike="noStrike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台弟</a:t>
            </a:r>
            <a:r>
              <a:rPr lang="en-US" altLang="zh-TW" sz="1000" b="1" u="none" strike="noStrike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系列</a:t>
            </a:r>
            <a:r>
              <a:rPr lang="en-US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zh-TW" sz="10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由中華民國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國科會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主導開發的「可信任生成式AI對話引擎」。這是台灣最核心的主權 AI 專案，採用大量台灣在地的高質量文本（如中央社、政府公文、法規資料庫等）進行訓練。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代表版本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：已從早期的 Llama 衍生版，演進到結合國際最新底座的 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Gemma-3-TAIDE-12b-Chat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，以及可地端商用的 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TAIDE LX-7B / 13B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等。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：公文寫作、繁中翻譯（修正中國翻譯腔）、台客語多聲調支援能力極強。</a:t>
            </a:r>
          </a:p>
          <a:p>
            <a:pPr>
              <a:lnSpc>
                <a:spcPts val="1200"/>
              </a:lnSpc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2. 跨產業重磅專家：Project TAME</a:t>
            </a:r>
            <a:r>
              <a:rPr lang="zh-TW" altLang="en-US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塔妹</a:t>
            </a:r>
            <a:r>
              <a:rPr lang="en-US" altLang="zh-TW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1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zh-TW" sz="10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由台大資工系（陳縕儂教授團隊）與長春集團、和碩聯合科技、長庚醫院、欣興電子、科技報橘等民間企業結盟，並獲得 NVIDIA 算力支援所訓練出的繁體中文混合專家模型（Mixture of Experts）。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代表版本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 TAME（基於 Llama 3 擴充，達 700億參數等級）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：專為台灣產業量身打造，涵蓋台灣本地的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電子製造、醫療問診、石化化工、台灣法律（如律師特考題）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等領域知識，並能精準聽懂台灣在地流行語</a:t>
            </a:r>
            <a:r>
              <a:rPr lang="en-US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如「很盤」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3. 開源社群與學術先驅：Taiwan-LLaMA 系列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由台大林彥廷博士與開源社群團隊開發，是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台灣第一個成功釋出的繁體中文開源大模型系列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 [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1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代表版本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：Llama-3-Taiwan 系列（包含 8B、70B 等不同參數大小）。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：對開源社群極為友好，在地化評測表現優異，是許多台灣獨立開發者和在地 AI Agent（智慧代理）最常部署的地端模型。 [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1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2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3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4. 企業與晶片大廠自研：MR Breeze 系列</a:t>
            </a:r>
          </a:p>
          <a:p>
            <a:pPr marL="0" marR="0">
              <a:lnSpc>
                <a:spcPts val="1200"/>
              </a:lnSpc>
              <a:buNone/>
            </a:pP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由晶片設計大廠</a:t>
            </a: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聯發科技（MediaTek Research）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所推出的繁體中文大模型系列。 [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1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代表版本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：Breeze-7B、Breeze-8B 等輕量化模型。</a:t>
            </a:r>
          </a:p>
          <a:p>
            <a:pPr marL="342900" marR="0" lvl="0" indent="-34290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zh-TW" altLang="zh-TW" sz="10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r>
              <a:rPr lang="zh-TW" altLang="zh-TW" sz="10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：極度優化繁體中文的 Tokenizer（標記法），推理速度飛快且記憶體佔用小，非常適合整合至手機、邊緣運算（Edge AI）或地端企業系統中。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60B250F-691D-AA2C-1E07-81244107C17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Taiwan</a:t>
            </a:r>
            <a:r>
              <a:rPr lang="en-US" altLang="zh-TW" sz="2800" dirty="0">
                <a:latin typeface="+mn-lt"/>
                <a:ea typeface="Noto Sans HK" panose="020B0200000000000000" pitchFamily="34" charset="-120"/>
                <a:cs typeface="Aharoni" panose="020F0502020204030204" pitchFamily="2" charset="-79"/>
              </a:rPr>
              <a:t>’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 AI Landscape 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Securing Sovereignty and Innovation through local open-source forces.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7EAF38C-7900-B82F-FF5E-D6FE3E5AE3A6}"/>
              </a:ext>
            </a:extLst>
          </p:cNvPr>
          <p:cNvSpPr txBox="1"/>
          <p:nvPr/>
        </p:nvSpPr>
        <p:spPr>
          <a:xfrm>
            <a:off x="179510" y="980728"/>
            <a:ext cx="8136906" cy="1862048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TAIDE</a:t>
            </a:r>
            <a:r>
              <a:rPr kumimoji="0" lang="en-US" altLang="zh-TW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Taiwan </a:t>
            </a:r>
            <a:r>
              <a:rPr kumimoji="0" lang="en-US" altLang="zh-TW" sz="16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goverment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Project TAME</a:t>
            </a:r>
            <a:r>
              <a:rPr kumimoji="0" lang="en-US" altLang="zh-TW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NTU,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600" b="1" kern="0" dirty="0">
                <a:solidFill>
                  <a:prstClr val="black"/>
                </a:solidFill>
              </a:rPr>
              <a:t>Taiwan-</a:t>
            </a:r>
            <a:r>
              <a:rPr lang="en-US" altLang="zh-TW" sz="1600" b="1" kern="0" dirty="0" err="1">
                <a:solidFill>
                  <a:prstClr val="black"/>
                </a:solidFill>
              </a:rPr>
              <a:t>LLaMA</a:t>
            </a:r>
            <a:r>
              <a:rPr lang="en-US" altLang="zh-TW" sz="1600" kern="0" dirty="0">
                <a:solidFill>
                  <a:prstClr val="black"/>
                </a:solidFill>
              </a:rPr>
              <a:t>: NTU,</a:t>
            </a:r>
            <a:r>
              <a:rPr lang="zh-TW" altLang="en-US" sz="1600" kern="0" dirty="0">
                <a:solidFill>
                  <a:prstClr val="black"/>
                </a:solidFill>
              </a:rPr>
              <a:t> </a:t>
            </a:r>
            <a:r>
              <a:rPr lang="en-US" altLang="zh-TW" sz="1600" kern="0" dirty="0">
                <a:solidFill>
                  <a:prstClr val="black"/>
                </a:solidFill>
              </a:rPr>
              <a:t>Community Friendly.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600" b="1" kern="0" dirty="0">
                <a:solidFill>
                  <a:prstClr val="black"/>
                </a:solidFill>
              </a:rPr>
              <a:t>MR Breeze</a:t>
            </a:r>
            <a:r>
              <a:rPr lang="en-US" altLang="zh-TW" sz="1600" kern="0" dirty="0">
                <a:solidFill>
                  <a:prstClr val="black"/>
                </a:solidFill>
              </a:rPr>
              <a:t>: Media Tech Research, fast, edge AI.</a:t>
            </a:r>
          </a:p>
        </p:txBody>
      </p:sp>
    </p:spTree>
    <p:extLst>
      <p:ext uri="{BB962C8B-B14F-4D97-AF65-F5344CB8AC3E}">
        <p14:creationId xmlns:p14="http://schemas.microsoft.com/office/powerpoint/2010/main" val="3359630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70000"/>
          </a:schemeClr>
        </a:solidFill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簡報1" id="{3349570C-DE3B-48BB-8671-1853FC12C45D}" vid="{424F00FA-23EC-402E-8D8B-A6A8EB04865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TM02900688[[fn=多面向]]</Template>
  <TotalTime>1283</TotalTime>
  <Words>2088</Words>
  <Application>Microsoft Office PowerPoint</Application>
  <PresentationFormat>如螢幕大小 (4:3)</PresentationFormat>
  <Paragraphs>243</Paragraphs>
  <Slides>4</Slides>
  <Notes>4</Notes>
  <HiddenSlides>2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Google Sans</vt:lpstr>
      <vt:lpstr>Noto Sans HK</vt:lpstr>
      <vt:lpstr>微軟正黑體</vt:lpstr>
      <vt:lpstr>ADLaM Display</vt:lpstr>
      <vt:lpstr>Arial</vt:lpstr>
      <vt:lpstr>Calibri</vt:lpstr>
      <vt:lpstr>Wingdings</vt:lpstr>
      <vt:lpstr>Default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Felix Tien(田慶豐)</dc:creator>
  <cp:lastModifiedBy>Allen Ni(倪士凱)</cp:lastModifiedBy>
  <cp:revision>1895</cp:revision>
  <cp:lastPrinted>2024-07-30T01:44:15Z</cp:lastPrinted>
  <dcterms:created xsi:type="dcterms:W3CDTF">2019-11-08T03:01:47Z</dcterms:created>
  <dcterms:modified xsi:type="dcterms:W3CDTF">2026-10-15T09:30:33Z</dcterms:modified>
</cp:coreProperties>
</file>