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3459" r:id="rId2"/>
    <p:sldId id="3472" r:id="rId3"/>
    <p:sldId id="3502" r:id="rId4"/>
    <p:sldId id="3499" r:id="rId5"/>
    <p:sldId id="3444" r:id="rId6"/>
    <p:sldId id="3520" r:id="rId7"/>
    <p:sldId id="3518" r:id="rId8"/>
    <p:sldId id="3475" r:id="rId9"/>
    <p:sldId id="3465" r:id="rId10"/>
    <p:sldId id="3515" r:id="rId11"/>
    <p:sldId id="3505" r:id="rId12"/>
    <p:sldId id="3514" r:id="rId13"/>
    <p:sldId id="3482" r:id="rId14"/>
    <p:sldId id="3489" r:id="rId15"/>
    <p:sldId id="3519" r:id="rId16"/>
    <p:sldId id="3460" r:id="rId17"/>
    <p:sldId id="3504" r:id="rId18"/>
    <p:sldId id="257" r:id="rId19"/>
    <p:sldId id="265" r:id="rId2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02"/>
            <p14:sldId id="3499"/>
            <p14:sldId id="3444"/>
            <p14:sldId id="3520"/>
            <p14:sldId id="3518"/>
            <p14:sldId id="3475"/>
          </p14:sldIdLst>
        </p14:section>
        <p14:section name="Gemma" id="{5A048767-0D58-44AF-B962-12C29493294F}">
          <p14:sldIdLst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519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66"/>
    <a:srgbClr val="DCE6F2"/>
    <a:srgbClr val="FF0000"/>
    <a:srgbClr val="FFFF99"/>
    <a:srgbClr val="E3C0AB"/>
    <a:srgbClr val="F3E4DB"/>
    <a:srgbClr val="FFCC99"/>
    <a:srgbClr val="CBDCA8"/>
    <a:srgbClr val="C5D8A0"/>
    <a:srgbClr val="DBFF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406" autoAdjust="0"/>
    <p:restoredTop sz="38667" autoAdjust="0"/>
  </p:normalViewPr>
  <p:slideViewPr>
    <p:cSldViewPr>
      <p:cViewPr>
        <p:scale>
          <a:sx n="100" d="100"/>
          <a:sy n="100" d="100"/>
        </p:scale>
        <p:origin x="780" y="23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FA828-BB81-20B9-F8FF-D51EE5A55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EB7EF0-23BF-7613-C8F0-A77854388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1DE388F-6C85-7B21-1F63-CC5157628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我們可以從以下四個最關鍵的維度，來看各個推理引擎的本質差異：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速度與吞吐量（Throughput）的巨大落差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SGLang（API 伺服器之王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內建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PagedAttention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專為「多人同時使用」設計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單機之王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它沒有高併發優化，如果 100 個人同時連進來，它會排隊排到天荒地老。但如果是「你一個人」在電腦前用，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Time-to-First-Token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非常快。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硬體支援度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底層優化對象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TensorRT-LLM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Nvidia 官方的硬體作弊外掛。它會把 Llama 的矩陣乘法，直接編譯成特定 GPU（如 A100 或 RTX 4090）的最底層硬體指令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是所有引擎中最快的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 / 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：主打「什麼硬體都能跑」。它的底層是用 C++ 寫的，對 Apple Silicon的神經網路引擎和記憶體頻寬做了神級優化。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OpenVINO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Intel 的專屬引擎，專門把 Llama 優化在 Intel Xeon 處理器、Intel Ultra 筆電晶片或 Arc 顯卡上執行。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動態外掛（Multi-LoRA）的支援能力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如果你微調了好多個不同功能的 LoRA 外掛（例如一個負責寫信、一個負責寫程式、一個負責客服）：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：支援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「動態熱插拔 Multi-LoRA」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。伺服器記憶體裡只需要載入一個 Llama 基底模型，當 A 請求需要客服、B 請求需要寫程式時，引擎可以在微秒等級內動態切換計算圖分支。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 / 傳統引擎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：通常不支援或支援得很差。你可能必須為了客服開一個 15GB 的模型服務，為了寫程式又開另一個 15GB 的模型服務，極度浪費顯存（VRAM）。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功能性與生態系（開發便利度）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：主打「零設定」。它把複雜的編譯、權重載入、硬體分配全部包裝起來。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：主打「複雜 Prompt 與 Agent 加速」。SGLang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技術會把那些重複的系統提示詞（System Prompt）永遠快取在顯存裡。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C79EC1-ECFE-2D05-74F8-6C0BB1DEFB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2078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 Decay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又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泛化能力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Generalization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。目前 95% 以上的 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LLaMA, GPT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endParaRPr lang="zh-TW" altLang="zh-TW" dirty="0"/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QAT（Quantization-Aware Training，量化感知訓練）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TW" altLang="zh-TW" dirty="0"/>
              <a:t>是一種 AI 模型優化技術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。它在訓練過程中模擬低精度（如 INT8）的誤差，讓神經網路提前「適應」量化損失。相較於直接量化，這能大幅減少精準度下降，常用於邊緣設備。</a:t>
            </a:r>
            <a:b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核心原理與運作方式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偽量化（Fake Quantization）：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在訓練階段，將高精度（通常為 FP32）的權重與激活值壓縮為低精度（如 INT8），計算完後再解壓縮回高精度。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模擬誤差：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讓模型在訓練時就能察覺到量化所產生的噪聲（Noise），並學會自我調整去彌補這些誤差。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權重更新：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為了在不可微分的量化函數下進行反向傳播（Backpropagation），QAT 使用直通估計器（Straight-Through Estimator, STE）來順利更新權重。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STE（Straight-Through Estimator，直通估計器）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是深度學習中用於解決「不可微分函數」反向傳播問題的一種特殊技巧。在模型量化（如 QAT）或二值化神經網路（BNN）中，它是不可或缺的核心機制。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數學困境：</a:t>
            </a:r>
            <a:r>
              <a:rPr lang="zh-TW" altLang="zh-TW" dirty="0"/>
              <a:t> 階梯函數的導數（梯度）在絕大多數地方都是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TW" altLang="zh-TW" dirty="0"/>
              <a:t>，而在跳躍的邊界點則是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無限大（不存在）</a:t>
            </a:r>
            <a:r>
              <a:rPr lang="zh-TW" altLang="zh-TW" dirty="0"/>
              <a:t>。</a:t>
            </a:r>
            <a:br>
              <a:rPr lang="zh-TW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STE 的運作原理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 的核心思想非常直接且「粗暴」：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在正向傳播時使用量化函數，但在反向傳播時，直接假裝量化函數不存在。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正向傳播（Forward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正常執行量化運算（例如將 2.7 四捨五入變成 3），讓模型體驗低精度帶來的誤差與噪聲。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反向傳播（Backward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當梯度傳回來到這個量化節點時，STE 直接將梯度「原封不動」地傳遞過去（相當於假設該節點的導數為 1）。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簡單來說，它就像是在反向傳播時，在不可微分的階梯函數上架了一座「直通橋梁」，讓梯度順利通過並更新前一層的 FP32 權重。</a:t>
            </a:r>
          </a:p>
          <a:p>
            <a:endParaRPr lang="zh-TW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optimizer, 作法</a:t>
            </a:r>
          </a:p>
          <a:p>
            <a:pPr rt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Adam（Adaptive Moment Estimation，自適應動態矩量估計）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結合了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Momentum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動態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RMSprop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均方根傳播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的優點，既能像動態法一樣衝過局部最小值，又能為每個參數獨立調整學習率。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2026/7/19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3.jpe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11" Type="http://schemas.openxmlformats.org/officeDocument/2006/relationships/image" Target="../media/image20.png"/><Relationship Id="rId5" Type="http://schemas.openxmlformats.org/officeDocument/2006/relationships/image" Target="../media/image15.png"/><Relationship Id="rId10" Type="http://schemas.openxmlformats.org/officeDocument/2006/relationships/image" Target="../media/image19.png"/><Relationship Id="rId4" Type="http://schemas.openxmlformats.org/officeDocument/2006/relationships/image" Target="../media/image14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2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svg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230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340768"/>
            <a:ext cx="745282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DoRA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(LiveCodeBench)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Building a Bio-IT AI Agent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(Select model and FT framework)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955689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987802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of MR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5FBE2F2-1040-BE2C-2C2E-7066E339EACC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BEB54-E13D-0276-16FE-3B8439DAE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49B7A46-0ED9-7ED9-7510-EE78F29FE5F5}"/>
              </a:ext>
            </a:extLst>
          </p:cNvPr>
          <p:cNvCxnSpPr>
            <a:cxnSpLocks/>
            <a:stCxn id="15" idx="3"/>
            <a:endCxn id="11" idx="1"/>
          </p:cNvCxnSpPr>
          <p:nvPr/>
        </p:nvCxnSpPr>
        <p:spPr>
          <a:xfrm flipV="1">
            <a:off x="3203848" y="1800885"/>
            <a:ext cx="2790988" cy="477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A4DB92DA-78BD-3302-8B24-83FB829FB96B}"/>
              </a:ext>
            </a:extLst>
          </p:cNvPr>
          <p:cNvSpPr txBox="1"/>
          <p:nvPr/>
        </p:nvSpPr>
        <p:spPr>
          <a:xfrm>
            <a:off x="2322428" y="3846670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SFT &amp;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Quantization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(Edge AI)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32786DE-BC20-A5F8-DB31-949D81B2F497}"/>
              </a:ext>
            </a:extLst>
          </p:cNvPr>
          <p:cNvSpPr txBox="1"/>
          <p:nvPr/>
        </p:nvSpPr>
        <p:spPr>
          <a:xfrm>
            <a:off x="5994836" y="1422727"/>
            <a:ext cx="881420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Cloud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74BD80B-9201-734C-6443-E9C6EDE515F5}"/>
              </a:ext>
            </a:extLst>
          </p:cNvPr>
          <p:cNvSpPr txBox="1"/>
          <p:nvPr/>
        </p:nvSpPr>
        <p:spPr>
          <a:xfrm>
            <a:off x="5924713" y="3846670"/>
            <a:ext cx="879535" cy="75631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85000"/>
              </a:scheme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lvl="0" algn="ctr">
              <a:lnSpc>
                <a:spcPts val="1400"/>
              </a:lnSpc>
              <a:defRPr/>
            </a:pP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AI</a:t>
            </a:r>
            <a:r>
              <a:rPr lang="zh-TW" altLang="en-US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 </a:t>
            </a: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PC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09120A9-3216-3A4D-C130-3BB79B2385CA}"/>
              </a:ext>
            </a:extLst>
          </p:cNvPr>
          <p:cNvSpPr txBox="1"/>
          <p:nvPr/>
        </p:nvSpPr>
        <p:spPr>
          <a:xfrm>
            <a:off x="2322428" y="1427497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Stage</a:t>
            </a:r>
          </a:p>
          <a:p>
            <a:pPr algn="ctr">
              <a:lnSpc>
                <a:spcPts val="1400"/>
              </a:lnSpc>
              <a:buNone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(Cloud)</a:t>
            </a:r>
            <a:endParaRPr lang="en-US" altLang="zh-TW" sz="1400" b="1" u="none" strike="noStrike" dirty="0">
              <a:solidFill>
                <a:schemeClr val="accent2"/>
              </a:solidFill>
              <a:effectLst/>
            </a:endParaRPr>
          </a:p>
        </p:txBody>
      </p: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4AE56786-651D-C27D-09E3-06BEEA207A2D}"/>
              </a:ext>
            </a:extLst>
          </p:cNvPr>
          <p:cNvCxnSpPr>
            <a:cxnSpLocks/>
            <a:stCxn id="3" idx="3"/>
            <a:endCxn id="13" idx="1"/>
          </p:cNvCxnSpPr>
          <p:nvPr/>
        </p:nvCxnSpPr>
        <p:spPr>
          <a:xfrm>
            <a:off x="3203848" y="4224828"/>
            <a:ext cx="2720865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6F64EC40-CADB-9706-8377-12F521D9BF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526066"/>
              </p:ext>
            </p:extLst>
          </p:nvPr>
        </p:nvGraphicFramePr>
        <p:xfrm>
          <a:off x="434861" y="1196752"/>
          <a:ext cx="1760875" cy="1180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087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600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Pre-Training Stack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rgbClr val="4F81BD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(Alignment, Instruct)</a:t>
                      </a:r>
                      <a:endParaRPr kumimoji="0" lang="en-US" altLang="zh-TW" sz="14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359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Megatron-LM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359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 DeepSpeed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359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PyTorch FSDP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20359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Google JAX AI Stack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0334442"/>
                  </a:ext>
                </a:extLst>
              </a:tr>
            </a:tbl>
          </a:graphicData>
        </a:graphic>
      </p:graphicFrame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A1EF5383-5464-5C40-CD95-1BC634B8A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406177"/>
              </p:ext>
            </p:extLst>
          </p:nvPr>
        </p:nvGraphicFramePr>
        <p:xfrm>
          <a:off x="433437" y="3675693"/>
          <a:ext cx="1762299" cy="16236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29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05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Fine-Tuning Solution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1" i="0" u="none" strike="noStrike" kern="1200" cap="none" spc="0" normalizeH="0" baseline="0" noProof="0" dirty="0">
                          <a:ln w="0"/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r>
                        <a:rPr kumimoji="0" lang="en-US" altLang="zh-TW" sz="1000" b="1" i="0" u="none" strike="noStrike" kern="1200" cap="none" spc="0" normalizeH="0" baseline="0" noProof="0" dirty="0">
                          <a:ln w="0"/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2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2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202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2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 (Triton/CUDA)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202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  <a:tr h="202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 (YOLO)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1357884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C51F32BB-AF5D-9A70-D14E-236B9B03370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Environment is subject to SLM, SFT Framework, Agents and  AI Orchestrator. </a:t>
            </a:r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38880985-D1A7-DD39-CD32-651A180B2A78}"/>
              </a:ext>
            </a:extLst>
          </p:cNvPr>
          <p:cNvGrpSpPr/>
          <p:nvPr/>
        </p:nvGrpSpPr>
        <p:grpSpPr>
          <a:xfrm>
            <a:off x="434861" y="5373216"/>
            <a:ext cx="1760875" cy="1079202"/>
            <a:chOff x="218837" y="4785218"/>
            <a:chExt cx="1760875" cy="1079202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A1EF1CBC-7928-C687-AF64-C878A7D51D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5716" y="4785218"/>
              <a:ext cx="406713" cy="531059"/>
            </a:xfrm>
            <a:prstGeom prst="rect">
              <a:avLst/>
            </a:prstGeom>
          </p:spPr>
        </p:pic>
        <p:pic>
          <p:nvPicPr>
            <p:cNvPr id="14" name="圖片 13">
              <a:extLst>
                <a:ext uri="{FF2B5EF4-FFF2-40B4-BE49-F238E27FC236}">
                  <a16:creationId xmlns:a16="http://schemas.microsoft.com/office/drawing/2014/main" id="{6A19A26D-0595-B833-26F8-539F4EB87F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9668" y="5389487"/>
              <a:ext cx="418810" cy="418808"/>
            </a:xfrm>
            <a:prstGeom prst="rect">
              <a:avLst/>
            </a:prstGeom>
          </p:spPr>
        </p:pic>
        <p:pic>
          <p:nvPicPr>
            <p:cNvPr id="18" name="圖片 17">
              <a:extLst>
                <a:ext uri="{FF2B5EF4-FFF2-40B4-BE49-F238E27FC236}">
                  <a16:creationId xmlns:a16="http://schemas.microsoft.com/office/drawing/2014/main" id="{37A35EE0-4AB1-65D6-1F4E-CCFC3C854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8837" y="4847392"/>
              <a:ext cx="606864" cy="406714"/>
            </a:xfrm>
            <a:prstGeom prst="rect">
              <a:avLst/>
            </a:prstGeom>
          </p:spPr>
        </p:pic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2F7EBB90-8987-086C-536B-692876DA90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10456" y="5395164"/>
              <a:ext cx="469256" cy="469256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B45280CE-1068-65E7-E82A-842A01823B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33255" y="4847392"/>
              <a:ext cx="423657" cy="406711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135EA092-B215-BD47-7043-C4AF5B4B4F1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06087" y="5395534"/>
              <a:ext cx="432363" cy="406714"/>
            </a:xfrm>
            <a:prstGeom prst="rect">
              <a:avLst/>
            </a:prstGeom>
          </p:spPr>
        </p:pic>
      </p:grp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C394580-5E90-19EE-7301-97A6ADE4AF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6370517"/>
              </p:ext>
            </p:extLst>
          </p:nvPr>
        </p:nvGraphicFramePr>
        <p:xfrm>
          <a:off x="6946674" y="1196752"/>
          <a:ext cx="1657774" cy="2205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774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766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Frontier Models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/>
                          </a:solidFill>
                          <a:effectLst/>
                        </a:rPr>
                        <a:t>(MMLU, TTFT)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Anthropic – Fable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– GPT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– Gemini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– 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SpaceXAI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–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Grok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– V4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109267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Zhipu AI – GLM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373323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Moonshot AI – Kimi K3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884864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AI – Pixtral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269145"/>
                  </a:ext>
                </a:extLst>
              </a:tr>
              <a:tr h="1354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Amazon – Nova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604265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DD8956EC-8C58-4EE6-3794-15E7D4F27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4752103"/>
              </p:ext>
            </p:extLst>
          </p:nvPr>
        </p:nvGraphicFramePr>
        <p:xfrm>
          <a:off x="6946674" y="3675693"/>
          <a:ext cx="165777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774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64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Model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rgbClr val="4F81BD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(TTFT)</a:t>
                      </a:r>
                      <a:endParaRPr lang="en-US" altLang="zh-TW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DA9E03FF-6EA8-1D0C-3B28-3847293E00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008129"/>
              </p:ext>
            </p:extLst>
          </p:nvPr>
        </p:nvGraphicFramePr>
        <p:xfrm>
          <a:off x="4430779" y="1196752"/>
          <a:ext cx="1362562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256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860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(Algorithm, Memory)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14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UC Berkeley: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vLLM, SGLang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14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TensorRT-LLM (NV)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514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MaxText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377364"/>
                  </a:ext>
                </a:extLst>
              </a:tr>
              <a:tr h="1514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TGI (Hugging Face)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851002"/>
                  </a:ext>
                </a:extLst>
              </a:tr>
            </a:tbl>
          </a:graphicData>
        </a:graphic>
      </p:graphicFrame>
      <p:grpSp>
        <p:nvGrpSpPr>
          <p:cNvPr id="28" name="群組 27">
            <a:extLst>
              <a:ext uri="{FF2B5EF4-FFF2-40B4-BE49-F238E27FC236}">
                <a16:creationId xmlns:a16="http://schemas.microsoft.com/office/drawing/2014/main" id="{366576AD-F6EB-3050-5407-ED208CD42D0D}"/>
              </a:ext>
            </a:extLst>
          </p:cNvPr>
          <p:cNvGrpSpPr/>
          <p:nvPr/>
        </p:nvGrpSpPr>
        <p:grpSpPr>
          <a:xfrm>
            <a:off x="4375131" y="5167227"/>
            <a:ext cx="487696" cy="566029"/>
            <a:chOff x="307725" y="1194723"/>
            <a:chExt cx="487696" cy="566029"/>
          </a:xfrm>
        </p:grpSpPr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6D16B355-0A0F-9292-70B0-0936A4FE78BD}"/>
                </a:ext>
              </a:extLst>
            </p:cNvPr>
            <p:cNvSpPr txBox="1"/>
            <p:nvPr/>
          </p:nvSpPr>
          <p:spPr>
            <a:xfrm>
              <a:off x="307725" y="1513384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20DBAEDD-C1F2-2405-DE74-D94FB68D5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</p:pic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0FF66D22-8BF0-079C-5AB9-046907E7637E}"/>
              </a:ext>
            </a:extLst>
          </p:cNvPr>
          <p:cNvGrpSpPr/>
          <p:nvPr/>
        </p:nvGrpSpPr>
        <p:grpSpPr>
          <a:xfrm>
            <a:off x="4502787" y="2606687"/>
            <a:ext cx="1236028" cy="174241"/>
            <a:chOff x="4025994" y="2562276"/>
            <a:chExt cx="1236028" cy="174241"/>
          </a:xfrm>
        </p:grpSpPr>
        <p:pic>
          <p:nvPicPr>
            <p:cNvPr id="32" name="圖片 31">
              <a:extLst>
                <a:ext uri="{FF2B5EF4-FFF2-40B4-BE49-F238E27FC236}">
                  <a16:creationId xmlns:a16="http://schemas.microsoft.com/office/drawing/2014/main" id="{8C62BBFD-8273-15BC-5B46-3F8341010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025994" y="2566852"/>
              <a:ext cx="546006" cy="169665"/>
            </a:xfrm>
            <a:prstGeom prst="rect">
              <a:avLst/>
            </a:prstGeom>
          </p:spPr>
        </p:pic>
        <p:pic>
          <p:nvPicPr>
            <p:cNvPr id="36" name="圖片 35">
              <a:extLst>
                <a:ext uri="{FF2B5EF4-FFF2-40B4-BE49-F238E27FC236}">
                  <a16:creationId xmlns:a16="http://schemas.microsoft.com/office/drawing/2014/main" id="{068D2865-8412-4356-E470-3B73901DC7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16016" y="2562276"/>
              <a:ext cx="546006" cy="163694"/>
            </a:xfrm>
            <a:prstGeom prst="rect">
              <a:avLst/>
            </a:prstGeom>
          </p:spPr>
        </p:pic>
      </p:grpSp>
      <p:pic>
        <p:nvPicPr>
          <p:cNvPr id="45" name="圖片 44">
            <a:extLst>
              <a:ext uri="{FF2B5EF4-FFF2-40B4-BE49-F238E27FC236}">
                <a16:creationId xmlns:a16="http://schemas.microsoft.com/office/drawing/2014/main" id="{6742BC3E-304D-32A0-D7F5-29BD42D1A09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54036" y="5322990"/>
            <a:ext cx="1014108" cy="186197"/>
          </a:xfrm>
          <a:prstGeom prst="rect">
            <a:avLst/>
          </a:prstGeom>
        </p:spPr>
      </p:pic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78C81D66-7DBF-D198-FAB7-3DFAAD6B2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486807"/>
              </p:ext>
            </p:extLst>
          </p:nvPr>
        </p:nvGraphicFramePr>
        <p:xfrm>
          <a:off x="4430779" y="3675693"/>
          <a:ext cx="1362562" cy="14379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256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51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rgbClr val="4F81BD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(Algorithm, Memory)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25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25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25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2025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  <a:tr h="2025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MediaPipe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711821"/>
                  </a:ext>
                </a:extLst>
              </a:tr>
            </a:tbl>
          </a:graphicData>
        </a:graphic>
      </p:graphicFrame>
      <p:sp>
        <p:nvSpPr>
          <p:cNvPr id="48" name="文字方塊 47">
            <a:extLst>
              <a:ext uri="{FF2B5EF4-FFF2-40B4-BE49-F238E27FC236}">
                <a16:creationId xmlns:a16="http://schemas.microsoft.com/office/drawing/2014/main" id="{35403551-DAB2-FCE5-3C8B-42759B349F13}"/>
              </a:ext>
            </a:extLst>
          </p:cNvPr>
          <p:cNvSpPr txBox="1"/>
          <p:nvPr/>
        </p:nvSpPr>
        <p:spPr>
          <a:xfrm>
            <a:off x="3237988" y="1597893"/>
            <a:ext cx="829956" cy="17520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/>
              <a:t>Deployment</a:t>
            </a:r>
            <a:endParaRPr lang="zh-TW" altLang="en-US" sz="12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2E577CD6-3127-5A5B-2A85-7BBA6975F7B9}"/>
              </a:ext>
            </a:extLst>
          </p:cNvPr>
          <p:cNvSpPr txBox="1"/>
          <p:nvPr/>
        </p:nvSpPr>
        <p:spPr>
          <a:xfrm>
            <a:off x="3237988" y="4005064"/>
            <a:ext cx="829956" cy="17520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/>
              <a:t>Deployment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79498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97A6AF-A59A-D8E8-D402-8B80C8509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C0694D5-25AF-678F-4839-D5482C605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464103"/>
              </p:ext>
            </p:extLst>
          </p:nvPr>
        </p:nvGraphicFramePr>
        <p:xfrm>
          <a:off x="827584" y="2132856"/>
          <a:ext cx="7694238" cy="2851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2373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5124889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20499132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795597008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04260209"/>
                    </a:ext>
                  </a:extLst>
                </a:gridCol>
              </a:tblGrid>
              <a:tr h="62836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LLaMA-Factory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/ˈlɑː.mə/</a:t>
                      </a:r>
                      <a:r>
                        <a:rPr lang="zh-TW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小羊駝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Axolotl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/ˈæk.sə.lɑ.təl/</a:t>
                      </a:r>
                      <a:r>
                        <a:rPr lang="zh-TW" altLang="zh-TW" sz="1000" b="1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美西螈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Unsloth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/ʌn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slɑːθ/</a:t>
                      </a:r>
                      <a:r>
                        <a:rPr lang="zh-TW" altLang="zh-TW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樹懶</a:t>
                      </a:r>
                      <a:endParaRPr lang="en-US" altLang="zh-TW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</a:t>
                      </a: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/ˈʌl.trə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ˈlɪt.ɪks/</a:t>
                      </a:r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WebUI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HF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YAML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Disruptive Tech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Offline Dominator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 11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Easy-to-use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(Low-code)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Flexible,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config-driven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Ultra-fast,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Low-memory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High-performance,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real-time object detection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PyTorch FSDP2,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 TRL,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lashAttention-3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Multipack, xFormers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Triton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Megatron-LM, CUDA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3E4BF44D-72A8-155F-5FEF-FF52AE983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173" y="1571103"/>
            <a:ext cx="468845" cy="61218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5AB2B3A-E1D8-12EC-C70D-F1D3314C8D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324" y="1630331"/>
            <a:ext cx="511322" cy="51132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8FE807A9-33DB-3107-644A-5FA5F14046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00" y="1609550"/>
            <a:ext cx="798718" cy="53529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5C6322F9-E94E-0EA9-1F00-B7B8D7619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1292" y="1642124"/>
            <a:ext cx="511320" cy="51132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17769C83-A1FB-75F4-4253-A03E2A898C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8578" y="1621837"/>
            <a:ext cx="584846" cy="56145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9192D10-9C29-66BC-B2D1-87AFD7FFA8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8171" y="1608689"/>
            <a:ext cx="610836" cy="57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682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643606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D26C871-0A6F-156B-6741-2D1BCEF1AF39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6" name="右大括弧 5">
            <a:extLst>
              <a:ext uri="{FF2B5EF4-FFF2-40B4-BE49-F238E27FC236}">
                <a16:creationId xmlns:a16="http://schemas.microsoft.com/office/drawing/2014/main" id="{9E7BBFE7-8CE2-0E13-D1DA-41B96806AD58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EBDAFB9-FF64-AF0E-65A2-88DBF5A1232D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21D0682F-D0D5-3FEB-FA02-4B5EAE7E36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445383"/>
              </p:ext>
            </p:extLst>
          </p:nvPr>
        </p:nvGraphicFramePr>
        <p:xfrm>
          <a:off x="3078168" y="3762048"/>
          <a:ext cx="1354882" cy="205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88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(GPU)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F014465A-7992-6D2B-0ED2-2EFC285D37EC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 Tools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Support QLoRA</a:t>
            </a:r>
            <a:r>
              <a:rPr lang="en-US" altLang="zh-TW" sz="1600" dirty="0"/>
              <a:t>. (LLaMA-Factory)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and Engine</a:t>
            </a:r>
            <a:r>
              <a:rPr lang="en-US" altLang="zh-TW" sz="1600" dirty="0"/>
              <a:t>: Gemma 4, Ollama.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Agent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OpenClaw and bio-python library.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A6861017-B894-8BC1-F162-75F3B0AC580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Designing an agent capable of interpreting genomic data and tissue images.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45B540ED-60EE-58A7-8070-E5C33AF10E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982876"/>
              </p:ext>
            </p:extLst>
          </p:nvPr>
        </p:nvGraphicFramePr>
        <p:xfrm>
          <a:off x="5364088" y="3746905"/>
          <a:ext cx="1217339" cy="20500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Agents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(PC)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" name="圖片 3">
            <a:extLst>
              <a:ext uri="{FF2B5EF4-FFF2-40B4-BE49-F238E27FC236}">
                <a16:creationId xmlns:a16="http://schemas.microsoft.com/office/drawing/2014/main" id="{F9EE3A7A-38B4-D1E9-5799-C8A7D35B9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754" y="3645024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496C5099-8168-E4D5-17E1-8C8E2306D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4860" y="3986360"/>
            <a:ext cx="606864" cy="406714"/>
          </a:xfrm>
          <a:prstGeom prst="rect">
            <a:avLst/>
          </a:prstGeom>
          <a:effectLst>
            <a:glow rad="50800">
              <a:schemeClr val="accent6">
                <a:lumMod val="20000"/>
                <a:lumOff val="80000"/>
                <a:alpha val="40000"/>
              </a:schemeClr>
            </a:glow>
          </a:effectLst>
        </p:spPr>
      </p:pic>
      <p:cxnSp>
        <p:nvCxnSpPr>
          <p:cNvPr id="42" name="接點: 肘形 41">
            <a:extLst>
              <a:ext uri="{FF2B5EF4-FFF2-40B4-BE49-F238E27FC236}">
                <a16:creationId xmlns:a16="http://schemas.microsoft.com/office/drawing/2014/main" id="{FC7173A3-FD52-3361-7E1C-CBD7A5EB8814}"/>
              </a:ext>
            </a:extLst>
          </p:cNvPr>
          <p:cNvCxnSpPr>
            <a:cxnSpLocks/>
            <a:stCxn id="33" idx="2"/>
            <a:endCxn id="46" idx="1"/>
          </p:cNvCxnSpPr>
          <p:nvPr/>
        </p:nvCxnSpPr>
        <p:spPr>
          <a:xfrm rot="16200000" flipH="1">
            <a:off x="4179003" y="4032363"/>
            <a:ext cx="153992" cy="875414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>
            <a:extLst>
              <a:ext uri="{FF2B5EF4-FFF2-40B4-BE49-F238E27FC236}">
                <a16:creationId xmlns:a16="http://schemas.microsoft.com/office/drawing/2014/main" id="{063E6162-D5C9-01FE-BA92-C6CBDE280172}"/>
              </a:ext>
            </a:extLst>
          </p:cNvPr>
          <p:cNvSpPr/>
          <p:nvPr/>
        </p:nvSpPr>
        <p:spPr>
          <a:xfrm>
            <a:off x="4693706" y="4393074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AD71FA00-73CF-96E2-DB9D-29D266518612}"/>
              </a:ext>
            </a:extLst>
          </p:cNvPr>
          <p:cNvGrpSpPr/>
          <p:nvPr/>
        </p:nvGrpSpPr>
        <p:grpSpPr>
          <a:xfrm>
            <a:off x="4910455" y="4684264"/>
            <a:ext cx="396274" cy="467989"/>
            <a:chOff x="281087" y="1194723"/>
            <a:chExt cx="487696" cy="630277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DBE13760-C824-72A8-0F6C-52D418E9F327}"/>
                </a:ext>
              </a:extLst>
            </p:cNvPr>
            <p:cNvSpPr txBox="1"/>
            <p:nvPr/>
          </p:nvSpPr>
          <p:spPr>
            <a:xfrm>
              <a:off x="281087" y="1577632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BDD586E3-E3B0-BBF3-6C2C-F304D5C0D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51" name="矩形 50">
            <a:extLst>
              <a:ext uri="{FF2B5EF4-FFF2-40B4-BE49-F238E27FC236}">
                <a16:creationId xmlns:a16="http://schemas.microsoft.com/office/drawing/2014/main" id="{BD9F5FA8-DF10-F8FD-719D-E220A101592C}"/>
              </a:ext>
            </a:extLst>
          </p:cNvPr>
          <p:cNvSpPr/>
          <p:nvPr/>
        </p:nvSpPr>
        <p:spPr>
          <a:xfrm>
            <a:off x="6888377" y="3662444"/>
            <a:ext cx="534601" cy="39720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38100">
            <a:solidFill>
              <a:schemeClr val="accent3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Bio-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Python</a:t>
            </a:r>
            <a:endParaRPr lang="zh-TW" altLang="en-US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7F5AA83-B63F-1EB5-698E-7FFF4D222A30}"/>
              </a:ext>
            </a:extLst>
          </p:cNvPr>
          <p:cNvSpPr txBox="1"/>
          <p:nvPr/>
        </p:nvSpPr>
        <p:spPr>
          <a:xfrm>
            <a:off x="5415697" y="3084785"/>
            <a:ext cx="646161" cy="33957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496B558-57D1-8B0F-DD92-B32AFC3E6647}"/>
              </a:ext>
            </a:extLst>
          </p:cNvPr>
          <p:cNvCxnSpPr>
            <a:cxnSpLocks/>
            <a:stCxn id="61" idx="2"/>
            <a:endCxn id="4" idx="0"/>
          </p:cNvCxnSpPr>
          <p:nvPr/>
        </p:nvCxnSpPr>
        <p:spPr>
          <a:xfrm>
            <a:off x="5738778" y="3424356"/>
            <a:ext cx="0" cy="220668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DA424801-F801-7754-6900-FA56043A9135}"/>
              </a:ext>
            </a:extLst>
          </p:cNvPr>
          <p:cNvCxnSpPr>
            <a:cxnSpLocks/>
            <a:stCxn id="4" idx="3"/>
            <a:endCxn id="122" idx="0"/>
          </p:cNvCxnSpPr>
          <p:nvPr/>
        </p:nvCxnSpPr>
        <p:spPr>
          <a:xfrm>
            <a:off x="5954802" y="3861048"/>
            <a:ext cx="501527" cy="2466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157AB89-C11C-9FF7-93B3-94697A292BC9}"/>
              </a:ext>
            </a:extLst>
          </p:cNvPr>
          <p:cNvSpPr txBox="1"/>
          <p:nvPr/>
        </p:nvSpPr>
        <p:spPr>
          <a:xfrm>
            <a:off x="3261566" y="3762049"/>
            <a:ext cx="1113452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LLa</a:t>
            </a:r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MA-Factory</a:t>
            </a:r>
          </a:p>
        </p:txBody>
      </p:sp>
      <p:sp>
        <p:nvSpPr>
          <p:cNvPr id="122" name="箭號: 向下 121">
            <a:extLst>
              <a:ext uri="{FF2B5EF4-FFF2-40B4-BE49-F238E27FC236}">
                <a16:creationId xmlns:a16="http://schemas.microsoft.com/office/drawing/2014/main" id="{33B733D2-7161-33F4-79FD-E649F748C48C}"/>
              </a:ext>
            </a:extLst>
          </p:cNvPr>
          <p:cNvSpPr/>
          <p:nvPr/>
        </p:nvSpPr>
        <p:spPr>
          <a:xfrm rot="16200000">
            <a:off x="6523341" y="3633577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23" name="接點: 肘形 122">
            <a:extLst>
              <a:ext uri="{FF2B5EF4-FFF2-40B4-BE49-F238E27FC236}">
                <a16:creationId xmlns:a16="http://schemas.microsoft.com/office/drawing/2014/main" id="{86FF8C34-7087-86E9-F333-164B1E3A395E}"/>
              </a:ext>
            </a:extLst>
          </p:cNvPr>
          <p:cNvCxnSpPr>
            <a:cxnSpLocks/>
            <a:stCxn id="4" idx="2"/>
            <a:endCxn id="46" idx="3"/>
          </p:cNvCxnSpPr>
          <p:nvPr/>
        </p:nvCxnSpPr>
        <p:spPr>
          <a:xfrm rot="5400000">
            <a:off x="5411205" y="4219493"/>
            <a:ext cx="469994" cy="185153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55514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9127</Words>
  <Application>Microsoft Office PowerPoint</Application>
  <PresentationFormat>如螢幕大小 (4:3)</PresentationFormat>
  <Paragraphs>1273</Paragraphs>
  <Slides>19</Slides>
  <Notes>16</Notes>
  <HiddenSlides>1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34" baseType="lpstr">
      <vt:lpstr>Google Sans</vt:lpstr>
      <vt:lpstr>Meiryo</vt:lpstr>
      <vt:lpstr>Noto Sans HK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1786</cp:revision>
  <cp:lastPrinted>2024-07-30T01:44:15Z</cp:lastPrinted>
  <dcterms:created xsi:type="dcterms:W3CDTF">2019-11-08T03:01:47Z</dcterms:created>
  <dcterms:modified xsi:type="dcterms:W3CDTF">2026-07-19T13:17:18Z</dcterms:modified>
</cp:coreProperties>
</file>