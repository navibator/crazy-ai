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"/>
  </p:notesMasterIdLst>
  <p:handoutMasterIdLst>
    <p:handoutMasterId r:id="rId23"/>
  </p:handoutMasterIdLst>
  <p:sldIdLst>
    <p:sldId id="3459" r:id="rId2"/>
    <p:sldId id="3472" r:id="rId3"/>
    <p:sldId id="3502" r:id="rId4"/>
    <p:sldId id="3499" r:id="rId5"/>
    <p:sldId id="3444" r:id="rId6"/>
    <p:sldId id="3493" r:id="rId7"/>
    <p:sldId id="3475" r:id="rId8"/>
    <p:sldId id="3465" r:id="rId9"/>
    <p:sldId id="3515" r:id="rId10"/>
    <p:sldId id="3505" r:id="rId11"/>
    <p:sldId id="3514" r:id="rId12"/>
    <p:sldId id="3482" r:id="rId13"/>
    <p:sldId id="3489" r:id="rId14"/>
    <p:sldId id="3516" r:id="rId15"/>
    <p:sldId id="3495" r:id="rId16"/>
    <p:sldId id="3517" r:id="rId17"/>
    <p:sldId id="3460" r:id="rId18"/>
    <p:sldId id="3504" r:id="rId19"/>
    <p:sldId id="257" r:id="rId20"/>
    <p:sldId id="265" r:id="rId21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mm 3 Technical Report" id="{30F6892D-1922-4A88-A82D-8CD0653C5411}">
          <p14:sldIdLst>
            <p14:sldId id="3459"/>
            <p14:sldId id="3472"/>
          </p14:sldIdLst>
        </p14:section>
        <p14:section name="Edge AI" id="{C5ADF914-F8F1-4215-8A34-A521DDB15BBF}">
          <p14:sldIdLst>
            <p14:sldId id="3502"/>
            <p14:sldId id="3499"/>
            <p14:sldId id="3444"/>
            <p14:sldId id="3493"/>
            <p14:sldId id="3475"/>
          </p14:sldIdLst>
        </p14:section>
        <p14:section name="Gemma" id="{5A048767-0D58-44AF-B962-12C29493294F}">
          <p14:sldIdLst>
            <p14:sldId id="3465"/>
            <p14:sldId id="3515"/>
            <p14:sldId id="3505"/>
            <p14:sldId id="3514"/>
            <p14:sldId id="3482"/>
            <p14:sldId id="3489"/>
          </p14:sldIdLst>
        </p14:section>
        <p14:section name="Conclusion" id="{69C35067-BEF2-4B7C-9B54-B6977EB05C72}">
          <p14:sldIdLst>
            <p14:sldId id="3516"/>
            <p14:sldId id="3495"/>
            <p14:sldId id="3517"/>
            <p14:sldId id="3460"/>
            <p14:sldId id="3504"/>
            <p14:sldId id="257"/>
            <p14:sldId id="26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E6F2"/>
    <a:srgbClr val="FF0000"/>
    <a:srgbClr val="FFFF99"/>
    <a:srgbClr val="E3C0AB"/>
    <a:srgbClr val="F3E4DB"/>
    <a:srgbClr val="FFCC99"/>
    <a:srgbClr val="CBDCA8"/>
    <a:srgbClr val="C5D8A0"/>
    <a:srgbClr val="CCFF66"/>
    <a:srgbClr val="DBFF9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727" autoAdjust="0"/>
    <p:restoredTop sz="38667" autoAdjust="0"/>
  </p:normalViewPr>
  <p:slideViewPr>
    <p:cSldViewPr>
      <p:cViewPr>
        <p:scale>
          <a:sx n="100" d="100"/>
          <a:sy n="100" d="100"/>
        </p:scale>
        <p:origin x="726" y="228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handoutMaster" Target="handoutMasters/handoutMaster1.xml"/><Relationship Id="rId28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2026/7/18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2026/7/18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2cm.com.tw/2cm/zh-tw/market/0B0A1A53F59840AA83761E4A97E37E6B" TargetMode="External"/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9742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4B811-902A-94AB-AABB-4CC1382C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32B768C-5222-29ED-3563-1AFFE32A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FC8048-7B6E-7E1E-EC2B-CCC4CC9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A622D0-F740-070B-33AA-93A0D57A4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43567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GPT </a:t>
            </a:r>
            <a:r>
              <a:rPr lang="zh-TW" altLang="en-US" dirty="0"/>
              <a:t>是「生成式預先訓練變壓器」（</a:t>
            </a:r>
            <a:r>
              <a:rPr lang="en-US" altLang="zh-TW" dirty="0"/>
              <a:t>Generative Pre-trained Transformer</a:t>
            </a:r>
            <a:r>
              <a:rPr lang="zh-TW" altLang="en-US" dirty="0"/>
              <a:t>）的縮寫。它是由 </a:t>
            </a:r>
            <a:r>
              <a:rPr lang="en-US" altLang="zh-TW" dirty="0"/>
              <a:t>OpenAI </a:t>
            </a:r>
            <a:r>
              <a:rPr lang="zh-TW" altLang="en-US" dirty="0"/>
              <a:t>開發的一種深度學習神經網路模型架構，也是目前全球最知名的 </a:t>
            </a:r>
            <a:r>
              <a:rPr lang="en-US" altLang="zh-TW" dirty="0"/>
              <a:t>AI </a:t>
            </a:r>
            <a:r>
              <a:rPr lang="zh-TW" altLang="en-US" dirty="0"/>
              <a:t>聊天機器人 </a:t>
            </a:r>
            <a:r>
              <a:rPr lang="en-US" altLang="zh-TW" dirty="0"/>
              <a:t>ChatGPT </a:t>
            </a:r>
            <a:r>
              <a:rPr lang="zh-TW" altLang="en-US" dirty="0"/>
              <a:t>的底層核心技術。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17027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協定的運作核心在於三大架構的合作：主機（Host）、客戶端（Client） 與伺服器（Server）。這三者就如同 AI 任務中的指揮官、聯絡人與執行單位，讓 AI 助理（AI agent）得以安全、即時地連接外部資訊。</a:t>
            </a:r>
          </a:p>
          <a:p>
            <a:pPr fontAlgn="base"/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主機（MCP Host）：指揮中心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主機通常是 AI 應用本身，例如 Claude Desktop, IDEs, 或是其他需要透過 MCP 存取資料的 AI 工具。它負責發出請求、定義任務，可以把它想像為一名總指揮，指派 AI 查詢資料、存取文件或啟用工具。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客戶端（MCP Client）：溝通橋梁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客戶端扮演主機與伺服器之間的溝通媒介，負責將主機的指令準確的轉交給伺服器處理，並將伺服器回傳的結果送回主機，MCP 主機會執行一個或多個 MCP 客戶端，並與 MCP 伺服器進行一對一連結。同時有身份驗證的功能，維持系統通訊的安全性與穩定性。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伺服器（MCP Server）：任務執行者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伺服器的任務是將電腦內的功能（像是資料庫查詢、檔案讀寫、網頁操作）透過一組標準化的指令對外公開。當主機透過 MCP 發出指令時，伺服器就會依據這些指令執行操作，並將結果回傳。</a:t>
            </a:r>
          </a:p>
          <a:p>
            <a:endParaRPr lang="en-US" altLang="zh-TW" dirty="0"/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600" b="1" u="none" strike="noStrike" dirty="0">
                <a:effectLst/>
              </a:rPr>
              <a:t>AI Model Format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-</a:t>
            </a:r>
            <a:r>
              <a:rPr lang="zh-TW" altLang="en-US" sz="1200" b="1" dirty="0">
                <a:solidFill>
                  <a:prstClr val="black"/>
                </a:solidFill>
                <a:latin typeface="+mn-lt"/>
                <a:ea typeface="+mn-ea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LLM file format.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</a:t>
            </a:r>
            <a:r>
              <a:rPr kumimoji="0" lang="zh-TW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+mn-lt"/>
                <a:ea typeface="+mn-ea"/>
              </a:rPr>
              <a:t>, for example YOLO.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5464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確觀念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：Graph RAG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直接貼入Context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一口氣讀完並生成最終答案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在簡報上，您可以強調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"Direct Context Injection"（直接上下文注入）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，這代表資料是以最快、最無損（Lossless）的方式直接賦予 AI 大腦。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47083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三大雲端巨頭 (Hyper-scalers)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AWS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：提供 Amazon EC2 UltraClusters，部署數萬顆 NVIDIA H100/B200 GPU。同時提供性價比更高的自研 AI 晶片 Trainium（訓練）與 Inferentia（推論）實例。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 Cloud Platform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：除了NV GPU 外，其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自研 TPU (Tensor Processing Unit)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 TPU v5p）。大規模 Transformer 模型與大語言模型（LLM）訓練的算力效率極高。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MS Azure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：與 OpenAI 深度綁定的算力平台，提供超大規模 NDv5/NDv6 系列 NVIDIA GPU 叢集與微軟自研的 Maia AI 晶片，非常適合大規模分散式訓練。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專屬 AI 算力雲 (AI-First Cloud Providers)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CloreWeave / Lambda Labs: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專注 AI 的新興雲服務商，直接與 NVIDIA 緊密合作，專門提供高效能、低延遲的 GPU 裸金屬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Bare Metal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租賃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價格通常比三大雲巨頭更具競爭力。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dirty="0">
                <a:solidFill>
                  <a:schemeClr val="tx1"/>
                </a:solidFill>
              </a:rPr>
              <a:t>1. 雲端伺服器與高併發陣營（適合後端 API 開發）</a:t>
            </a:r>
          </a:p>
          <a:p>
            <a:r>
              <a:rPr lang="zh-TW" altLang="zh-TW" sz="1200" b="1" dirty="0">
                <a:solidFill>
                  <a:schemeClr val="tx1"/>
                </a:solidFill>
              </a:rPr>
              <a:t>vLLM</a:t>
            </a:r>
            <a:r>
              <a:rPr lang="zh-TW" altLang="zh-TW" sz="1200" dirty="0">
                <a:solidFill>
                  <a:schemeClr val="tx1"/>
                </a:solidFill>
              </a:rPr>
              <a:t> (開源</a:t>
            </a:r>
            <a:r>
              <a:rPr lang="en-US" altLang="zh-TW" sz="1200" dirty="0">
                <a:solidFill>
                  <a:schemeClr val="tx1"/>
                </a:solidFill>
              </a:rPr>
              <a:t>),</a:t>
            </a:r>
            <a:r>
              <a:rPr lang="zh-TW" altLang="en-US" sz="1200" dirty="0">
                <a:solidFill>
                  <a:schemeClr val="tx1"/>
                </a:solidFill>
              </a:rPr>
              <a:t> </a:t>
            </a:r>
            <a:r>
              <a:rPr lang="zh-TW" altLang="zh-TW" sz="1200" b="1" dirty="0">
                <a:solidFill>
                  <a:schemeClr val="tx1"/>
                </a:solidFill>
              </a:rPr>
              <a:t>TensorRT-LLM</a:t>
            </a:r>
            <a:r>
              <a:rPr lang="zh-TW" altLang="zh-TW" sz="1200" dirty="0">
                <a:solidFill>
                  <a:schemeClr val="tx1"/>
                </a:solidFill>
              </a:rPr>
              <a:t> (N</a:t>
            </a:r>
            <a:r>
              <a:rPr lang="en-US" altLang="zh-TW" sz="1200" dirty="0">
                <a:solidFill>
                  <a:schemeClr val="tx1"/>
                </a:solidFill>
              </a:rPr>
              <a:t>V</a:t>
            </a:r>
            <a:r>
              <a:rPr lang="zh-TW" altLang="zh-TW" sz="1200" dirty="0">
                <a:solidFill>
                  <a:schemeClr val="tx1"/>
                </a:solidFill>
              </a:rPr>
              <a:t>)</a:t>
            </a:r>
            <a:r>
              <a:rPr lang="en-US" altLang="zh-TW" sz="1200" dirty="0">
                <a:solidFill>
                  <a:schemeClr val="tx1"/>
                </a:solidFill>
              </a:rPr>
              <a:t>,</a:t>
            </a:r>
            <a:r>
              <a:rPr lang="zh-TW" altLang="en-US" sz="1200" dirty="0">
                <a:solidFill>
                  <a:schemeClr val="tx1"/>
                </a:solidFill>
              </a:rPr>
              <a:t> </a:t>
            </a:r>
            <a:r>
              <a:rPr lang="zh-TW" altLang="zh-TW" sz="1200" b="1" dirty="0">
                <a:solidFill>
                  <a:schemeClr val="tx1"/>
                </a:solidFill>
              </a:rPr>
              <a:t>TGI </a:t>
            </a:r>
            <a:r>
              <a:rPr lang="zh-TW" altLang="zh-TW" sz="1200" dirty="0">
                <a:solidFill>
                  <a:schemeClr val="tx1"/>
                </a:solidFill>
              </a:rPr>
              <a:t>(Hugging Face)</a:t>
            </a:r>
          </a:p>
          <a:p>
            <a:r>
              <a:rPr lang="en-US" altLang="zh-TW" sz="1200" dirty="0">
                <a:solidFill>
                  <a:schemeClr val="tx1"/>
                </a:solidFill>
              </a:rPr>
              <a:t>2.</a:t>
            </a:r>
            <a:r>
              <a:rPr lang="zh-TW" altLang="en-US" sz="1200" dirty="0">
                <a:solidFill>
                  <a:schemeClr val="tx1"/>
                </a:solidFill>
              </a:rPr>
              <a:t> </a:t>
            </a:r>
            <a:r>
              <a:rPr lang="zh-TW" altLang="zh-TW" sz="1200" dirty="0">
                <a:solidFill>
                  <a:schemeClr val="tx1"/>
                </a:solidFill>
              </a:rPr>
              <a:t>本機與邊緣裝置陣營</a:t>
            </a:r>
            <a:r>
              <a:rPr lang="en-US" altLang="zh-TW" sz="1200" dirty="0">
                <a:solidFill>
                  <a:schemeClr val="tx1"/>
                </a:solidFill>
              </a:rPr>
              <a:t>(PC)</a:t>
            </a:r>
            <a:r>
              <a:rPr lang="zh-TW" altLang="en-US" sz="1200" dirty="0">
                <a:solidFill>
                  <a:schemeClr val="tx1"/>
                </a:solidFill>
              </a:rPr>
              <a:t> </a:t>
            </a:r>
            <a:r>
              <a:rPr lang="en-US" altLang="zh-TW" sz="1200" dirty="0">
                <a:solidFill>
                  <a:schemeClr val="tx1"/>
                </a:solidFill>
              </a:rPr>
              <a:t>llama.cpp</a:t>
            </a:r>
          </a:p>
          <a:p>
            <a:r>
              <a:rPr lang="en-US" altLang="zh-TW" sz="1200" dirty="0">
                <a:solidFill>
                  <a:schemeClr val="tx1"/>
                </a:solidFill>
              </a:rPr>
              <a:t>3. </a:t>
            </a:r>
            <a:r>
              <a:rPr lang="zh-TW" altLang="zh-TW" sz="1200" dirty="0">
                <a:solidFill>
                  <a:schemeClr val="tx1"/>
                </a:solidFill>
              </a:rPr>
              <a:t>通用深度學習陣營</a:t>
            </a:r>
            <a:r>
              <a:rPr lang="en-US" altLang="zh-TW" sz="1200" dirty="0">
                <a:solidFill>
                  <a:schemeClr val="tx1"/>
                </a:solidFill>
              </a:rPr>
              <a:t>ONNX Runtime (MS) , OpenVINO (Intel)</a:t>
            </a:r>
            <a:endParaRPr lang="zh-TW" altLang="zh-TW" sz="1200" dirty="0">
              <a:solidFill>
                <a:schemeClr val="tx1"/>
              </a:solidFill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indent="-228600">
              <a:buAutoNum type="arabicPeriod"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9951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（從「規模驅動」走向「品質核心」的創新）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近幾年最核心的技術典範轉移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Paradigm Shift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dirty="0"/>
              <a:t>四個趨勢（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數據品質、MoE架構、原生多模態、端側輕量化</a:t>
            </a:r>
            <a:r>
              <a:rPr lang="zh-TW" altLang="zh-TW" dirty="0"/>
              <a:t>）</a:t>
            </a:r>
            <a:endParaRPr lang="en-US" altLang="zh-TW" dirty="0"/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數據面的轉變（Data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：信奉「暴力美學」與對稱擴展定律（Scaling Laws）。當時的思維是：只要把網路上能爬到的資料（無論好壞）通通餵給模型，模型越大、資料越多，實力就越強。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：網路上高質量的人類原生數據快要被吃光了（數據荒危機）。現在的創新在於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數據工程（Data Engineering）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。大家不再比誰的資料量大，而是比誰的資料洗得乾淨、去重做得到位、或是誰能用強大模型生成出更高品質的「合成數據（Synthetic Data）」來餵養新模型 [?]。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模型架構與算力的轉變（Architecture &amp; Compute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：盲目追求參數模型的體積（例如從 175B 飆升到萬億參數）。這導致訓練和推理（Inference）成本高上天，只有極少數科技巨頭玩得起。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架構的精巧與高效率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。例如轉向「專家混合模型（MoE）」，雖然總參數很大，但每次處理文字時只啟動其中一小部分專家網路；或者專注於優化 3B、8B 的「小語言模型（SLM）」，讓它在極小的體積下，透過高質量的訓練達到逼近大模型的智商。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商業與應用落地面的轉變（Business &amp; Deployment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：大家在實驗室裡刷榜（Benchmark），比拼誰的理論分數高、誰能回答各種刁鑽的常識問題。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：業界更看重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應用的精準度與ROI（投資回報率）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。模型必須能夠精準對齊（Alignment）人類意圖、減少幻覺（Hallucination）、並且能低延遲、低成本地部署在企業內部或使用者的手機、筆電端（On-device AI）。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55857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常見的輕量化技術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知識蒸餾（Knowledge Distillation）：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讓參數量較少的小型模型（學生）模仿大型模型（老師）的行為，從中學習複雜的語言推理能力。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模型量化（Quantization）：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將模型權重（Weights）從高精度（如 16-bit 浮點數）降低到低精度（如 8-bit 或 4-bit 整數），大幅減少記憶體佔用。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參數剪枝（Pruning）：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移除模型中對預測結果影響較小、冗餘的神經元與連接。</a:t>
            </a:r>
          </a:p>
          <a:p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層級嵌入 (Per-Layer Embeddings, PLE)</a:t>
            </a:r>
            <a:r>
              <a:rPr lang="zh-TW" altLang="zh-TW" dirty="0"/>
              <a:t> 是 AI 模型（如 Google 的 Gemma 4 等語言模型）中的一種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記憶體優化技術</a:t>
            </a:r>
            <a:r>
              <a:rPr lang="zh-TW" altLang="zh-TW" dirty="0"/>
              <a:t>。它為模型的每一層提供獨立的低維度特徵訊號，讓小尺寸模型能以更少參數獲得更精準的特化能力，從而提升邊緣裝置（如手機、筆電）上的執行效率。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19495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7C430-FB32-5602-3DB0-5E8B5F79D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B763E16-AD96-B65B-01CE-46AB664453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75913C2-1FFD-6EC2-6E74-DAE194F03C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本頁亮點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Optimizer, Quantization-Aware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SGD (Stochastic Gradient Descent)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：記憶體佔用極低。除了模型參數本身，只需要額外儲存 1 份動量（Momentum）數據。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：固定學習率很難收斂，調參非常痛苦。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Standard Adam (Adaptive Moment Estimation)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：為每個參數精準調整步長，收斂速度極快。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：在加入 L2 正規化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Weight Decay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時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其數學公式會把權重衰減與梯度放在一起計算，導致權重並未如預期般衰減，容易過擬合。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AdamW (Adam with Weight Decoupled)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：完美解決了 Adam 的 L2 正規化問題。它將權重衰減的步驟獨立出來，既保留了 Adam 快速收斂的特性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又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提升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泛化能力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Generalization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。目前 95% 以上的 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 LLaMA, GPT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預訓練預設都用它。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：非常吃顯存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VRAM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。除了模型參數，它還必須在顯存中常駐一階矩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FP32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和二階矩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FP32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這往往是顯存爆炸的主因。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Paged AdamW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：數學邏輯與 AdamW 完全相同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但它允許 GPU 在顯存不夠時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把 AdamW 的優化器狀態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一、二階矩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暫時換出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Page-out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到電腦的系統記憶體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中。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：因為資料需要透過 PCIe 總線在 GPU 和 CPU 之間來回搬運，訓練速度會比原生 AdamW 慢 10% ~ 30% 不等。</a:t>
            </a:r>
          </a:p>
          <a:p>
            <a:endParaRPr lang="zh-TW" altLang="zh-TW" dirty="0"/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QAT（Quantization-Aware Training，量化感知訓練）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zh-TW" altLang="zh-TW" dirty="0"/>
              <a:t>是一種 AI 模型優化技術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。它在訓練過程中模擬低精度（如 INT8）的誤差，讓神經網路提前「適應」量化損失。相較於直接量化，這能大幅減少精準度下降，常用於邊緣設備。</a:t>
            </a:r>
            <a:br>
              <a:rPr lang="en-US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💡 核心原理與運作方式</a:t>
            </a: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偽量化（Fake Quantization）：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在訓練階段，將高精度（通常為 FP32）的權重與激活值壓縮為低精度（如 INT8），計算完後再解壓縮回高精度。 </a:t>
            </a: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模擬誤差：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讓模型在訓練時就能察覺到量化所產生的噪聲（Noise），並學會自我調整去彌補這些誤差。 </a:t>
            </a: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權重更新：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為了在不可微分的量化函數下進行反向傳播（Backpropagation），QAT 使用直通估計器（Straight-Through Estimator, STE）來順利更新權重。</a:t>
            </a: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STE（Straight-Through Estimator，直通估計器）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是深度學習中用於解決「不可微分函數」反向傳播問題的一種特殊技巧。在模型量化（如 QAT）或二值化神經網路（BNN）中，它是不可或缺的核心機制。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數學困境：</a:t>
            </a:r>
            <a:r>
              <a:rPr lang="zh-TW" altLang="zh-TW" dirty="0"/>
              <a:t> 階梯函數的導數（梯度）在絕大多數地方都是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</a:t>
            </a:r>
            <a:r>
              <a:rPr lang="zh-TW" altLang="zh-TW" dirty="0"/>
              <a:t>，而在跳躍的邊界點則是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無限大（不存在）</a:t>
            </a:r>
            <a:r>
              <a:rPr lang="zh-TW" altLang="zh-TW" dirty="0"/>
              <a:t>。</a:t>
            </a:r>
            <a:br>
              <a:rPr lang="zh-TW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💡 STE 的運作原理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 的核心思想非常直接且「粗暴」：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在正向傳播時使用量化函數，但在反向傳播時，直接假裝量化函數不存在。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正向傳播（Forward Pass）：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正常執行量化運算（例如將 2.7 四捨五入變成 3），讓模型體驗低精度帶來的誤差與噪聲。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反向傳播（Backward Pass）：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當梯度傳回來到這個量化節點時，STE 直接將梯度「原封不動」地傳遞過去（相當於假設該節點的導數為 1）。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簡單來說，它就像是在反向傳播時，在不可微分的階梯函數上架了一座「直通橋梁」，讓梯度順利通過並更新前一層的 FP32 權重。</a:t>
            </a:r>
          </a:p>
          <a:p>
            <a:endParaRPr lang="zh-TW" altLang="zh-TW" dirty="0"/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adam optimizer, 作法</a:t>
            </a:r>
          </a:p>
          <a:p>
            <a:pPr rt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Adam（Adaptive Moment Estimation，自適應動態矩量估計）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結合了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Momentum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動態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RMSprop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均方根傳播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的優點，既能像動態法一樣衝過局部最小值，又能為每個參數獨立調整學習率。</a:t>
            </a: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92FE20-B45B-F4FE-5FF4-77187FF080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9650328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391CA-EAA5-61AA-976B-D0A473DBC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BB17E1F-7486-345D-4CF1-A610F24F04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5FB8F9B-73BE-4DBC-4418-A5E115133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27E670B-4E94-5D0F-9125-795575CD83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18617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797C2-856D-7C78-822E-DA2B9845E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B01D36F-2A90-C039-12E9-94ACB21359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D287985-DD70-EAFB-BA76-359D9B2CA1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9B8C7DA-B5D4-A1F6-335B-4A2BE3F7BA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992126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795CE-C2D6-9D16-6D14-69ACBE531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3352CE7-F871-B339-F340-2B51478FA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6C8E757-4B05-165E-1607-0BCD6DE544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zh-TW" dirty="0"/>
            </a:b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12B</a:t>
            </a:r>
            <a:r>
              <a:rPr lang="zh-TW" altLang="en-US" dirty="0"/>
              <a:t> 統一架構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zh-TW" altLang="zh-TW" dirty="0"/>
              <a:t>層級嵌入 PLE</a:t>
            </a:r>
            <a:endParaRPr lang="zh-TW" altLang="en-US" dirty="0"/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多模態 AI 的架構簡介（從傳統到現代）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要在同一個 AI 模型裡同時塞入「文字、圖片、聲音」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技術架構經歷了兩個世代演變：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傳統架構：橋接法 (Encoder-based Architecture)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以往的 LLaVA 或舊型多模態模型，就像是「拼裝車」：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外掛多個編編碼器 (Encoders)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：文字有文字的處理器、圖片有專屬的視覺編碼器（如 CLIP）、聲音有語音編碼器。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對齊層 (Projection Layer)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：中間用一個轉換層，把圖片和聲音的訊號「強行翻譯」成文字看得懂的向量。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丟入 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：最後才餵給主要的大型語言模型。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：編碼器體積龐大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數億參數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、會卡死微調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的彈性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且在轉換過程中容易漏掉細節。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現代/未來架構：原生統一法 (Native Unified / Encoder-Free Architecture)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這也是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的核心突破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！科學家發現，不需要外掛這麼多編碼器，主要的大腦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本質上就夠聰明了。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直接線性投影 (Linear Projection)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：圖片或聲音不經過外部編碼器加工，直接切碎並透過一個極輕量的線性模組轉成標記（Tokens）。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一體化推論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：多種模態的資料直接在同一個核心架構（Backbone）裡混合、計算。 </a:t>
            </a: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：推論速度極快、模型體積大幅縮小，而且文字、圖片、音訊可以完美融合在同一個資料流中，大幅降低硬體門檻。</a:t>
            </a:r>
          </a:p>
          <a:p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memory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用量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計算用電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如何知道級距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用雲端服務建立準線。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6E7571-A4C4-1EDD-1D49-0CFA2F6F94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4009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近年來「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總參數量</a:t>
            </a:r>
            <a:r>
              <a:rPr lang="zh-TW" altLang="zh-TW" dirty="0"/>
              <a:t>」已不等於「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實際運算量</a:t>
            </a:r>
            <a:r>
              <a:rPr lang="zh-TW" altLang="zh-TW" dirty="0"/>
              <a:t>」，因為許多模型採用了 MoE 技術，讓模型雖然體積龐大，但每次處理一個字（Token）時只需要啟動一小部分參數。</a:t>
            </a:r>
            <a:endParaRPr lang="en-US" altLang="zh-TW" dirty="0"/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極致的硬體成本效益（Cost-Effective）與演算法魔改</a:t>
            </a:r>
            <a:r>
              <a:rPr lang="zh-TW" altLang="zh-TW" dirty="0"/>
              <a:t>；</a:t>
            </a:r>
            <a:br>
              <a:rPr lang="en-US" altLang="zh-TW" dirty="0"/>
            </a:br>
            <a:r>
              <a:rPr lang="zh-TW" altLang="zh-TW" dirty="0"/>
              <a:t>Meta Llama 則追求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標準化、極致的架構穩定性（Scalability）與對開源生態的絕對相容</a:t>
            </a:r>
            <a:r>
              <a:rPr lang="zh-TW" altLang="zh-TW" dirty="0"/>
              <a:t>。</a:t>
            </a: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AWS Trainium </a:t>
            </a:r>
            <a:r>
              <a:rPr lang="zh-TW" altLang="en-US" dirty="0"/>
              <a:t>與 </a:t>
            </a:r>
            <a:r>
              <a:rPr lang="en-US" altLang="zh-TW" dirty="0"/>
              <a:t>AWS Graviton </a:t>
            </a:r>
            <a:r>
              <a:rPr lang="zh-TW" altLang="en-US" dirty="0"/>
              <a:t>是亞馬遜自研晶片體系中的兩大核心。</a:t>
            </a:r>
            <a:endParaRPr lang="en-US" altLang="zh-TW" dirty="0"/>
          </a:p>
          <a:p>
            <a:r>
              <a:rPr lang="en-US" altLang="zh-TW" dirty="0"/>
              <a:t>Graviton </a:t>
            </a:r>
            <a:r>
              <a:rPr lang="zh-TW" altLang="en-US" dirty="0"/>
              <a:t>是通用型 </a:t>
            </a:r>
            <a:r>
              <a:rPr lang="en-US" altLang="zh-TW" dirty="0"/>
              <a:t>CPU,</a:t>
            </a:r>
            <a:r>
              <a:rPr lang="zh-TW" altLang="en-US" dirty="0"/>
              <a:t> 負責處理日常雲端運算與後台任務；</a:t>
            </a:r>
            <a:endParaRPr lang="en-US" altLang="zh-TW" dirty="0"/>
          </a:p>
          <a:p>
            <a:r>
              <a:rPr lang="en-US" altLang="zh-TW" dirty="0"/>
              <a:t>Trainium </a:t>
            </a:r>
            <a:r>
              <a:rPr lang="zh-TW" altLang="en-US" dirty="0"/>
              <a:t>是專門的 </a:t>
            </a:r>
            <a:r>
              <a:rPr lang="en-US" altLang="zh-TW" dirty="0"/>
              <a:t>AI </a:t>
            </a:r>
            <a:r>
              <a:rPr lang="zh-TW" altLang="en-US" dirty="0"/>
              <a:t>加速晶片</a:t>
            </a:r>
            <a:r>
              <a:rPr lang="en-US" altLang="zh-TW" dirty="0"/>
              <a:t>, </a:t>
            </a:r>
            <a:r>
              <a:rPr lang="zh-TW" altLang="en-US" dirty="0"/>
              <a:t>專為大型 </a:t>
            </a:r>
            <a:r>
              <a:rPr lang="en-US" altLang="zh-TW" dirty="0"/>
              <a:t>AI </a:t>
            </a:r>
            <a:r>
              <a:rPr lang="zh-TW" altLang="en-US" dirty="0"/>
              <a:t>模型的訓練與密集運算而生。</a:t>
            </a:r>
          </a:p>
          <a:p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51336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【次序 1】開發方式（優先度：⭐⭐⭐⭐⭐）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在生物資訊的決策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：你的 Agent 需要具備什麼樣的「超能力」？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場景 A：科學文獻萬事通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：專注於從數萬篇 PubMed 論文中提煉知識（高重度依賴 RAG、長上下文）。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場景 B：生物資訊工程師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：科學家下自然語言（例如：「幫我把這批 Fastq 檔案跑完質控並比對到參考基因組」），Agent 要能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自己寫出 Python/R 代碼、甚至自己調用 Linux 系統的生物資訊工具（Tool Calling）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為什麼最先選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：如果是場景 B，代表 Agent 必須具備「ReAct（推理-行動）」的閉環能力，甚至需要一個獨立的安全沙盒（Sandbox）來執行代碼。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【次序 2】搭配函式庫（優先度：⭐⭐⭐⭐）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💡 </a:t>
            </a:r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注意：在生物資訊中，函式庫的順位被大幅提前了！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在生物資訊的決策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Agent 骨架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：選擇 </a:t>
            </a:r>
            <a:r>
              <a:rPr lang="zh-TW" altLang="zh-TW" sz="105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LangGraph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</a:t>
            </a:r>
            <a:r>
              <a:rPr lang="zh-TW" altLang="zh-TW" sz="105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CrewAI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或 </a:t>
            </a:r>
            <a:r>
              <a:rPr lang="zh-TW" altLang="zh-TW" sz="105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AutoGen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。生物資訊的工作流通常很固定（例如：DNA 序列分析 -&gt; 統計過濾 -&gt; 繪圖），</a:t>
            </a:r>
            <a:r>
              <a:rPr lang="zh-TW" altLang="zh-TW" sz="105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LangGraph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的狀態機圖架構最適合用來規範 Agent 不會亂跑。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專業工具箱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 </a:t>
            </a:r>
            <a:r>
              <a:rPr lang="zh-TW" altLang="zh-TW" sz="105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Biopython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（處理序列、PDB 結構）、</a:t>
            </a:r>
            <a:r>
              <a:rPr lang="zh-TW" altLang="zh-TW" sz="105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Hugging Face Tokenizers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，或是 NCBI API、E-utilities、Ensembl API 等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生物醫學專用資料庫接口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，包裝成 Agent 可以自由調用的 Tools。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為什麼放第二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：如果沒有這些專業的函式庫與工具串接，大模型智商再高也只是一個會吹牛的文科生，無法處理真正的 FASTA/VCF 檔案。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【次序 3】模型 Model（優先度：⭐⭐⭐⭐）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在生物資訊的決策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：生物資訊需要極強的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邏輯推理、代碼生成（Coding）與長文本能力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開源首選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05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Llama 3.1 8B/70B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系列，或最新世代的 </a:t>
            </a:r>
            <a:r>
              <a:rPr lang="zh-TW" altLang="zh-TW" sz="105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Llama 3.3 70B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（代碼與推理能力大幅進化，且具備 128K 超長上下文，極度適合讀取整篇生物論文）。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特定衍生模型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：若有需要，也可以考慮社群基於 Llama 微調出來的科學或醫學專屬模型（如 </a:t>
            </a:r>
            <a:r>
              <a:rPr lang="zh-TW" altLang="zh-TW" sz="105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MedLlama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系列），但通常官方最新的大尺寸模型（如 70B）泛化能力最好。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為什麼放第三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：此時你已經知道 Agent 需要調用哪些工具（次序2），你可以直接拿 Llama 70B 來測試它「聽不聽得懂人話、能不能正確輸出調用工具的 JSON 指令」。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【次序 4】推理引擎（優先度：⭐⭐⭐）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在生物資訊的決策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6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首選</a:t>
            </a:r>
            <a:r>
              <a:rPr lang="zh-TW" altLang="zh-TW" sz="16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SGLang</a:t>
            </a:r>
            <a:r>
              <a:rPr lang="zh-TW" altLang="zh-TW" sz="16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或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vLLM</a:t>
            </a:r>
            <a:r>
              <a:rPr lang="zh-TW" altLang="zh-TW" sz="16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關鍵理由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：生物資訊 Agent 在反覆思考和調用工具時，會產生大量的、重複的 Prompt（例如每次都要把同一個系統提示詞和幾千字的工具說明傳給模型）。</a:t>
            </a:r>
            <a:r>
              <a:rPr lang="zh-TW" altLang="zh-TW" sz="105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SGLang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RadixAttention（Prompt Cache）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技術，能讓相同的提示詞永遠快取在顯存中。這樣 Agent 在執行多輪對話與代碼修正時，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速度會快數倍，且大幅節省顯存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【次序 5】微調 SFT 策略（優先度：⭐⭐）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在生物資訊的決策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高機率不需要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：生物資訊的大部分問題（例如：「請用 Python 寫一段解析 VCF 變異檔案並計算過濾後的過濾後總數」），Llama 3.1/3.3 靠著強大的原生 Code 能力和少樣本提示（Few-shot）就能做得近乎完美。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什麼時候才需要？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2"/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公司有完全私有、不對外公開的「次世代定序（NGS）分析管線（Pipeline）指令格式」。</a:t>
            </a:r>
          </a:p>
          <a:p>
            <a:pPr lvl="2"/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需要模型學會極度罕見的學術術語或公司內部特有的檔案標籤（Tagging）。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手法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：若有需要，建議使用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LoRA/QLoRA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來調整它的「輸出風格與格式約定」，而不是用全參數微調。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【次序 6】微調框架（優先度：⭐）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在生物資訊的決策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如果第 5 步評估後發現真的需要微調：</a:t>
            </a:r>
          </a:p>
          <a:p>
            <a:pPr lvl="2"/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多卡環境選 </a:t>
            </a:r>
            <a:r>
              <a:rPr lang="zh-TW" altLang="zh-TW" sz="105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LLaMA-Factory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（好上手，方便生物資訊團隊快速實驗）。</a:t>
            </a:r>
          </a:p>
          <a:p>
            <a:pPr lvl="2"/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單卡環境選 </a:t>
            </a:r>
            <a:r>
              <a:rPr lang="zh-TW" altLang="zh-TW" sz="105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Unsloth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（省時省力）。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2"/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當公司內部開會拍板定案時，這套架構最完美的運作閉環是：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團隊使用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LLaMA-Factory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（微調框架）對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31B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（模型）進行 4-bit QLoRA 微調（微調策略），內化公司的 Dataset。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訓練完成後，產出一個幾百 MB 的 LoRA 外掛權重。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將原始的 Gemma 4 31B 權重與這個 LoRA 外掛，一起掛載到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vLLM / SGLang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（推理引擎）上啟動 API 服務。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後端開發使用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LangGraph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（搭配函式庫）去呼叫這個 API，並對接 Biopython（生信工具）與產品文件向量庫。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最終在網頁上（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開發方式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），用戶將享受到一個「吐字極快（MTP）、說話先思考（Thinking）、格式極度精準、且具備公司專屬產品技術靈魂」的生物資訊萬事通 Agent。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6731322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我們可以從以下四個最關鍵的維度，來看各個推理引擎的本質差異：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速度與吞吐量（Throughput）的巨大落差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vLLM / SGLang（API 伺服器之王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內建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PagedAttention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技術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專為「多人同時使用」設計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llama.cpp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單機之王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它沒有高併發優化，如果 100 個人同時連進來，它會排隊排到天荒地老。但如果是「你一個人」在電腦前用，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Time-to-First-Token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非常快。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硬體支援度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底層優化對象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zh-TW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TensorRT-LLM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Nvidia 官方的硬體作弊外掛。它會把 Llama 的矩陣乘法，直接編譯成特定 GPU（如 A100 或 RTX 4090）的最底層硬體指令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是所有引擎中最快的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llama.cpp / Ollama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：主打「什麼硬體都能跑」。它的底層是用 C++ 寫的，對 Apple Silicon的神經網路引擎和記憶體頻寬做了神級優化。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OpenVINO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Intel 的專屬引擎，專門把 Llama 優化在 Intel Xeon 處理器、Intel Ultra 筆電晶片或 Arc 顯卡上執行。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動態外掛（Multi-LoRA）的支援能力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如果你微調了好多個不同功能的 LoRA 外掛（例如一個負責寫信、一個負責寫程式、一個負責客服）：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vLLM / SGLang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：支援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「動態熱插拔 Multi-LoRA」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。伺服器記憶體裡只需要載入一個 Llama 基底模型，當 A 請求需要客服、B 請求需要寫程式時，引擎可以在微秒等級內動態切換計算圖分支。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Ollama / 傳統引擎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：通常不支援或支援得很差。你可能必須為了客服開一個 15GB 的模型服務，為了寫程式又開另一個 15GB 的模型服務，極度浪費顯存（VRAM）。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功能性與生態系（開發便利度）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Ollama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：主打「零設定」。它把複雜的編譯、權重載入、硬體分配全部包裝起來。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SGLang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：主打「複雜 Prompt 與 Agent 加速」。SGLang 的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RadixAttention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技術會把那些重複的系統提示詞（System Prompt）永遠快取在顯存裡。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662324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ONNX?</a:t>
            </a:r>
            <a:r>
              <a:rPr lang="zh-TW" altLang="en-US" dirty="0"/>
              <a:t> 有誰支持</a:t>
            </a:r>
            <a:r>
              <a:rPr lang="en-US" altLang="zh-TW" dirty="0"/>
              <a:t>, </a:t>
            </a:r>
            <a:r>
              <a:rPr lang="zh-TW" altLang="en-US" dirty="0"/>
              <a:t>影響為何</a:t>
            </a:r>
            <a:r>
              <a:rPr lang="en-US" altLang="zh-TW" dirty="0"/>
              <a:t>?</a:t>
            </a:r>
            <a:r>
              <a:rPr lang="zh-TW" altLang="en-US" dirty="0"/>
              <a:t> 架構如何</a:t>
            </a:r>
            <a:r>
              <a:rPr lang="en-US" altLang="zh-TW" dirty="0"/>
              <a:t>?</a:t>
            </a:r>
            <a:r>
              <a:rPr lang="zh-TW" altLang="en-US" dirty="0"/>
              <a:t> 目前發展</a:t>
            </a:r>
            <a:r>
              <a:rPr lang="en-US" altLang="zh-TW" dirty="0"/>
              <a:t>(</a:t>
            </a:r>
            <a:r>
              <a:rPr lang="zh-TW" altLang="en-US" dirty="0"/>
              <a:t>世界大廠</a:t>
            </a:r>
            <a:r>
              <a:rPr lang="en-US" altLang="zh-TW" dirty="0"/>
              <a:t>,</a:t>
            </a:r>
            <a:r>
              <a:rPr lang="zh-TW" altLang="en-US" dirty="0"/>
              <a:t> 台灣的機會</a:t>
            </a:r>
            <a:r>
              <a:rPr lang="en-US" altLang="zh-TW" dirty="0"/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名稱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比喻負責任務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檔案格式規格通用外語定義模型的標準結構與算子，讓不同框架可以互相轉換。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Runtime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軟體推論引擎同聲傳譯員偏向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軟體層面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，在常見的 CPU/GPU 上直接載入並即時執行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推論模型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br>
              <a:rPr lang="en-US" altLang="zh-TW" sz="1600" b="1" dirty="0"/>
            </a:br>
            <a:r>
              <a:rPr lang="en-US" altLang="zh-TW" sz="1600" b="1" dirty="0"/>
              <a:t>Environment (What you will get and see?)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200" b="1" dirty="0">
                <a:solidFill>
                  <a:prstClr val="black"/>
                </a:solidFill>
              </a:rPr>
              <a:t>File Format</a:t>
            </a:r>
            <a:r>
              <a:rPr lang="en-US" altLang="zh-TW" sz="1200" dirty="0">
                <a:solidFill>
                  <a:prstClr val="black"/>
                </a:solidFill>
              </a:rPr>
              <a:t>: GGUF and ONNX(Open Neural Network eXchange).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Directory: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Model and  … 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9653179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以下為你將所有與 AI Agent 相關的專有名詞，由原本的表格形式全部改為</a:t>
            </a:r>
            <a:r>
              <a:rPr lang="zh-TW" altLang="zh-TW" b="1" dirty="0"/>
              <a:t>純文字列表</a:t>
            </a:r>
            <a:r>
              <a:rPr lang="zh-TW" altLang="zh-TW" dirty="0"/>
              <a:t>呈現。</a:t>
            </a:r>
          </a:p>
          <a:p>
            <a:r>
              <a:rPr lang="zh-TW" altLang="zh-TW" dirty="0"/>
              <a:t>每個項目均嚴格包含：</a:t>
            </a:r>
            <a:r>
              <a:rPr lang="zh-TW" altLang="zh-TW" b="1" dirty="0"/>
              <a:t>縮寫 / 名詞、英文全稱、繁體中文、中文說明</a:t>
            </a:r>
            <a:r>
              <a:rPr lang="zh-TW" altLang="zh-TW" dirty="0"/>
              <a:t>，並透過區塊與粗體維持極佳的 scannability（可讀性），方便你直接複製使用。</a:t>
            </a:r>
          </a:p>
          <a:p>
            <a:r>
              <a:rPr lang="zh-TW" altLang="zh-TW" b="1" dirty="0"/>
              <a:t>一、 核心架構與模型層 (Core Architecture &amp; Models)</a:t>
            </a:r>
          </a:p>
          <a:p>
            <a:r>
              <a:rPr lang="zh-TW" altLang="zh-TW" b="1" dirty="0"/>
              <a:t>Agent</a:t>
            </a:r>
            <a:r>
              <a:rPr lang="zh-TW" altLang="zh-TW" dirty="0"/>
              <a:t> (AI Agent / Autonomous Agent) —— 人工智慧代理 / 自主代理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具備感知、思考、自主規劃並能調用工具操作現實的 AI 實體。</a:t>
            </a:r>
          </a:p>
          <a:p>
            <a:r>
              <a:rPr lang="zh-TW" altLang="zh-TW" b="1" dirty="0"/>
              <a:t>LLM</a:t>
            </a:r>
            <a:r>
              <a:rPr lang="zh-TW" altLang="zh-TW" dirty="0"/>
              <a:t> (Large Language Model) —— 大型語言模型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的核心大腦，負責語言理解、常識推理與決策。</a:t>
            </a:r>
          </a:p>
          <a:p>
            <a:r>
              <a:rPr lang="zh-TW" altLang="zh-TW" b="1" dirty="0"/>
              <a:t>VLM / MLLM</a:t>
            </a:r>
            <a:r>
              <a:rPr lang="zh-TW" altLang="zh-TW" dirty="0"/>
              <a:t> (Vision-Language Model / Multi-modal LLM) —— 視覺語言模型 / 多模態大模型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賦予 Agent 眼睛（看懂螢幕截圖、網頁 UI 或真實世界影像）的大腦。</a:t>
            </a:r>
          </a:p>
          <a:p>
            <a:r>
              <a:rPr lang="zh-TW" altLang="zh-TW" b="1" dirty="0"/>
              <a:t>SLM</a:t>
            </a:r>
            <a:r>
              <a:rPr lang="zh-TW" altLang="zh-TW" dirty="0"/>
              <a:t> (Small Language Model) —— 小型語言模型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輕量化模型，常用於端點設備（Edge）或專職執行單一工具的邊緣 Agent。</a:t>
            </a:r>
          </a:p>
          <a:p>
            <a:r>
              <a:rPr lang="zh-TW" altLang="zh-TW" b="1" dirty="0"/>
              <a:t>HITL</a:t>
            </a:r>
            <a:r>
              <a:rPr lang="zh-TW" altLang="zh-TW" dirty="0"/>
              <a:t> (Human-in-the-Loop) —— 人類在環 / 人機協同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循環中加入人工作為審查、確認或中斷的防禦機制。</a:t>
            </a:r>
          </a:p>
          <a:p>
            <a:r>
              <a:rPr lang="zh-TW" altLang="zh-TW" b="1" dirty="0"/>
              <a:t>Embodied AI</a:t>
            </a:r>
            <a:r>
              <a:rPr lang="zh-TW" altLang="zh-TW" dirty="0"/>
              <a:t> (Embodied Artificial Intelligence) —— 具身智能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 Agent 大腦注入到物理實體（如機器人、無人機）中，使其具備操作物理世界的能力。</a:t>
            </a:r>
          </a:p>
          <a:p>
            <a:r>
              <a:rPr lang="zh-TW" altLang="zh-TW" b="1" dirty="0"/>
              <a:t>Substrate</a:t>
            </a:r>
            <a:r>
              <a:rPr lang="zh-TW" altLang="zh-TW" dirty="0"/>
              <a:t> (Substrate) —— 底層載體 / 介質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指 AI 運行的環境基礎（如「碳基」代表人類肉身、「矽基」代表數位電腦晶片）。</a:t>
            </a:r>
          </a:p>
          <a:p>
            <a:r>
              <a:rPr lang="zh-TW" altLang="zh-TW" b="1" dirty="0"/>
              <a:t>二、 自主規劃與推理框架 (Planning &amp; Reasoning)</a:t>
            </a:r>
          </a:p>
          <a:p>
            <a:r>
              <a:rPr lang="zh-TW" altLang="zh-TW" b="1" dirty="0"/>
              <a:t>ReAct</a:t>
            </a:r>
            <a:r>
              <a:rPr lang="zh-TW" altLang="zh-TW" dirty="0"/>
              <a:t> (Reasoning and Acting) —— 推理與行動框架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最經典的底層邏輯——交替進行「思考（Thought）」➔「行動（Action）」➔「觀察反饋（Observation）」。</a:t>
            </a:r>
          </a:p>
          <a:p>
            <a:r>
              <a:rPr lang="zh-TW" altLang="zh-TW" b="1" dirty="0"/>
              <a:t>CoT</a:t>
            </a:r>
            <a:r>
              <a:rPr lang="zh-TW" altLang="zh-TW" dirty="0"/>
              <a:t> (Chain of Thought) —— 思維鏈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引導大腦將複雜問題拆解，一步步寫出推理過程（"Let's think step by step"）。</a:t>
            </a:r>
          </a:p>
          <a:p>
            <a:r>
              <a:rPr lang="zh-TW" altLang="zh-TW" b="1" dirty="0"/>
              <a:t>ToT</a:t>
            </a:r>
            <a:r>
              <a:rPr lang="zh-TW" altLang="zh-TW" dirty="0"/>
              <a:t> (Tree of Thoughts) —— 思維樹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大腦在規劃時探索多條可能的決策路徑，並具備回溯（Backtracking）與評估能力。</a:t>
            </a:r>
          </a:p>
          <a:p>
            <a:r>
              <a:rPr lang="zh-TW" altLang="zh-TW" b="1" dirty="0"/>
              <a:t>GoT</a:t>
            </a:r>
            <a:r>
              <a:rPr lang="zh-TW" altLang="zh-TW" dirty="0"/>
              <a:t> (Graph of Thoughts) —— 思維圖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允許不同的思維網絡互相交織、結合或分岔，模擬人類大腦更複雜的非線性思考。</a:t>
            </a:r>
          </a:p>
          <a:p>
            <a:r>
              <a:rPr lang="zh-TW" altLang="zh-TW" b="1" dirty="0"/>
              <a:t>Reflexion</a:t>
            </a:r>
            <a:r>
              <a:rPr lang="zh-TW" altLang="zh-TW" dirty="0"/>
              <a:t> (Reflexion Framework) —— 自我反思架構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執行失敗時，透過評估模塊自我批判（Self-Criticism），將失敗轉化為記憶以修正下一次的規劃。</a:t>
            </a:r>
          </a:p>
          <a:p>
            <a:r>
              <a:rPr lang="zh-TW" altLang="zh-TW" b="1" dirty="0"/>
              <a:t>Task Decomposition</a:t>
            </a:r>
            <a:r>
              <a:rPr lang="zh-TW" altLang="zh-TW" dirty="0"/>
              <a:t> (Task Decomposition) —— 任務拆解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大腦將一個宏大的終極目標（Goal），細分為多個可執行的子任務（Sub-tasks）。</a:t>
            </a:r>
          </a:p>
          <a:p>
            <a:r>
              <a:rPr lang="zh-TW" altLang="zh-TW" b="1" dirty="0"/>
              <a:t>Plan-and-Solve</a:t>
            </a:r>
            <a:r>
              <a:rPr lang="zh-TW" altLang="zh-TW" dirty="0"/>
              <a:t> (Plan-and-Solve Prompting) —— 計畫與解決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先宏觀制定完整計畫，再依序執行，用以減少 CoT 過程中因走一步算一步而產生的計算偏差。</a:t>
            </a:r>
          </a:p>
          <a:p>
            <a:r>
              <a:rPr lang="zh-TW" altLang="zh-TW" b="1" dirty="0"/>
              <a:t>三、 記憶與脈絡工程 (Memory &amp; Context)</a:t>
            </a:r>
          </a:p>
          <a:p>
            <a:r>
              <a:rPr lang="zh-TW" altLang="zh-TW" b="1" dirty="0"/>
              <a:t>RAG</a:t>
            </a:r>
            <a:r>
              <a:rPr lang="zh-TW" altLang="zh-TW" dirty="0"/>
              <a:t> (Retrieval-Augmented Generation) —— 檢索增強生成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從外部知識庫動態撈取資料注入 Context，解決幻覺與長時記憶不足的問題。</a:t>
            </a:r>
          </a:p>
          <a:p>
            <a:r>
              <a:rPr lang="zh-TW" altLang="zh-TW" b="1" dirty="0"/>
              <a:t>Vector DB</a:t>
            </a:r>
            <a:r>
              <a:rPr lang="zh-TW" altLang="zh-TW" dirty="0"/>
              <a:t> (Vector Database) —— 向量資料庫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將文字轉為高維度向量，用於 Agent 的長期記憶（Long-term Memory）檢索。</a:t>
            </a:r>
          </a:p>
          <a:p>
            <a:r>
              <a:rPr lang="zh-TW" altLang="zh-TW" b="1" dirty="0"/>
              <a:t>Embedding</a:t>
            </a:r>
            <a:r>
              <a:rPr lang="zh-TW" altLang="zh-TW" dirty="0"/>
              <a:t> (Semantic Embedding) —— 語意嵌入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將文字、圖片轉化為數學向量的技術，是 Agent 進行「相似度查找」的底層基礎。</a:t>
            </a:r>
          </a:p>
          <a:p>
            <a:r>
              <a:rPr lang="zh-TW" altLang="zh-TW" b="1" dirty="0"/>
              <a:t>Short-term Memory</a:t>
            </a:r>
            <a:r>
              <a:rPr lang="zh-TW" altLang="zh-TW" dirty="0"/>
              <a:t> (Short-term Memory) —— 短期記憶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當前會話（Session）的對話歷史與中途狀態，隨著 Context 視窗滿載會被丟棄。</a:t>
            </a:r>
          </a:p>
          <a:p>
            <a:r>
              <a:rPr lang="zh-TW" altLang="zh-TW" b="1" dirty="0"/>
              <a:t>Long-term Memory</a:t>
            </a:r>
            <a:r>
              <a:rPr lang="zh-TW" altLang="zh-TW" dirty="0"/>
              <a:t> (Long-term Memory) —— 長期記憶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跨越不同對話、長久保存的用戶偏好、公司規章與過去的成功 SOP。</a:t>
            </a:r>
          </a:p>
          <a:p>
            <a:r>
              <a:rPr lang="zh-TW" altLang="zh-TW" b="1" dirty="0"/>
              <a:t>Context Window</a:t>
            </a:r>
            <a:r>
              <a:rPr lang="zh-TW" altLang="zh-TW" dirty="0"/>
              <a:t> (Context Window) —— 上下文視窗 / 脈絡空間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模型單次運算能讀取的最大 Token 限制（大腦的 RAM 限制）。</a:t>
            </a:r>
          </a:p>
          <a:p>
            <a:r>
              <a:rPr lang="zh-TW" altLang="zh-TW" b="1" dirty="0"/>
              <a:t>Prompt Caching</a:t>
            </a:r>
            <a:r>
              <a:rPr lang="zh-TW" altLang="zh-TW" dirty="0"/>
              <a:t> (Prompt Caching) —— 提示詞快取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將重複的系統提示或長期記憶鎖在伺服器記憶體中，降低 Agent 頻繁刷新的費用與延遲。</a:t>
            </a:r>
          </a:p>
          <a:p>
            <a:r>
              <a:rPr lang="zh-TW" altLang="zh-TW" b="1" dirty="0"/>
              <a:t>Lost in the Middle</a:t>
            </a:r>
            <a:r>
              <a:rPr lang="zh-TW" altLang="zh-TW" dirty="0"/>
              <a:t> (Lost in the Middle Effect) —— 迷失在中央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長文本模型的通病——AI 容易注意到開頭和結尾，卻忽略埋在 Context 正中間的記憶資訊。</a:t>
            </a:r>
          </a:p>
          <a:p>
            <a:r>
              <a:rPr lang="zh-TW" altLang="zh-TW" b="1" dirty="0"/>
              <a:t>四、 工具呼叫與環境執行 (Tools &amp; Action)</a:t>
            </a:r>
          </a:p>
          <a:p>
            <a:r>
              <a:rPr lang="zh-TW" altLang="zh-TW" b="1" dirty="0"/>
              <a:t>Function Calling</a:t>
            </a:r>
            <a:r>
              <a:rPr lang="zh-TW" altLang="zh-TW" dirty="0"/>
              <a:t> (Function Calling / Tool Calling) —— 函數呼叫 / 工具調用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模型識別意圖後，不輸出聊天文字，而是輸出標準結構化 JSON 參數的能力。</a:t>
            </a:r>
          </a:p>
          <a:p>
            <a:r>
              <a:rPr lang="zh-TW" altLang="zh-TW" b="1" dirty="0"/>
              <a:t>MCP</a:t>
            </a:r>
            <a:r>
              <a:rPr lang="zh-TW" altLang="zh-TW" dirty="0"/>
              <a:t> (Model Context Protocol) —— 模型上下文協議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Anthropic 倡導的開源標準，充當 AI 的統一 USB 接口，無縫連接各種資料與工具。</a:t>
            </a:r>
          </a:p>
          <a:p>
            <a:r>
              <a:rPr lang="zh-TW" altLang="zh-TW" b="1" dirty="0"/>
              <a:t>REPL</a:t>
            </a:r>
            <a:r>
              <a:rPr lang="zh-TW" altLang="zh-TW" dirty="0"/>
              <a:t> (Read-Eval-Print Loop) —— 互動式程式碼解譯器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自我撰寫 Python/JS 代碼後，直接在系統中執行、看結果並 debug 的工具。</a:t>
            </a:r>
          </a:p>
          <a:p>
            <a:r>
              <a:rPr lang="zh-TW" altLang="zh-TW" b="1" dirty="0"/>
              <a:t>Sandbox</a:t>
            </a:r>
            <a:r>
              <a:rPr lang="zh-TW" altLang="zh-TW" dirty="0"/>
              <a:t> (Secure Sandbox) —— 安全沙盒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與核心系統物理隔離的虛擬環境（如 E2B），防止 Agent 執行的程式碼帶有病毒或寫入敏感檔案。</a:t>
            </a:r>
          </a:p>
          <a:p>
            <a:r>
              <a:rPr lang="zh-TW" altLang="zh-TW" b="1" dirty="0"/>
              <a:t>RPA</a:t>
            </a:r>
            <a:r>
              <a:rPr lang="zh-TW" altLang="zh-TW" dirty="0"/>
              <a:t> (Robotic Process Automation) —— 機器人流程自動化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傳統寫死路徑的自動化腳本，現常作為 Agent 操作網頁、滑鼠與鍵盤的「手腳」。</a:t>
            </a:r>
          </a:p>
          <a:p>
            <a:r>
              <a:rPr lang="zh-TW" altLang="zh-TW" b="1" dirty="0"/>
              <a:t>BaaS</a:t>
            </a:r>
            <a:r>
              <a:rPr lang="zh-TW" altLang="zh-TW" dirty="0"/>
              <a:t> (Browser as a Service) —— 瀏覽器即服務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雲端群控的無頭瀏覽器技術（如 Browserbase），提供 Agent 防封鎖、過驗證碼的上網環境。</a:t>
            </a:r>
          </a:p>
          <a:p>
            <a:r>
              <a:rPr lang="zh-TW" altLang="zh-TW" b="1" dirty="0"/>
              <a:t>Grounding</a:t>
            </a:r>
            <a:r>
              <a:rPr lang="zh-TW" altLang="zh-TW" dirty="0"/>
              <a:t> (UI Grounding / Semantic Grounding) —— 介面定位 / 語意落地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多模態 Agent 將大腦理解的按鈕（如「購物車」），精確對齊到網頁上真實座標（X, Y）的技術。</a:t>
            </a:r>
          </a:p>
          <a:p>
            <a:r>
              <a:rPr lang="zh-TW" altLang="zh-TW" b="1" dirty="0"/>
              <a:t>Computer Use</a:t>
            </a:r>
            <a:r>
              <a:rPr lang="zh-TW" altLang="zh-TW" dirty="0"/>
              <a:t> (Computer Use API) —— 電腦操作 API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AI 直接看著作業系統的截圖，主動移動滑鼠、點擊與輸入，像真人一樣操作整台電腦。</a:t>
            </a:r>
          </a:p>
          <a:p>
            <a:r>
              <a:rPr lang="zh-TW" altLang="zh-TW" b="1" dirty="0"/>
              <a:t>五、 多代理協同與生態層 (Multi-Agent &amp; Ecosystem)</a:t>
            </a:r>
          </a:p>
          <a:p>
            <a:r>
              <a:rPr lang="zh-TW" altLang="zh-TW" b="1" dirty="0"/>
              <a:t>MAS</a:t>
            </a:r>
            <a:r>
              <a:rPr lang="zh-TW" altLang="zh-TW" dirty="0"/>
              <a:t> (Multi-Agent System) —— 多代理人系統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由多個專職、不同分工的 Agent（如：經理、工程師、測試員）共同協同完成複雜任務的系統。</a:t>
            </a:r>
          </a:p>
          <a:p>
            <a:r>
              <a:rPr lang="zh-TW" altLang="zh-TW" b="1" dirty="0"/>
              <a:t>Orchestrator</a:t>
            </a:r>
            <a:r>
              <a:rPr lang="zh-TW" altLang="zh-TW" dirty="0"/>
              <a:t> (Orchestrator Pattern) —— 編排器模式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由一個核心的主 Agent 負責統籌、分派任務給多個底層的子 Agent（Workers）。</a:t>
            </a:r>
          </a:p>
          <a:p>
            <a:r>
              <a:rPr lang="zh-TW" altLang="zh-TW" b="1" dirty="0"/>
              <a:t>Choreography</a:t>
            </a:r>
            <a:r>
              <a:rPr lang="zh-TW" altLang="zh-TW" dirty="0"/>
              <a:t> (Choreography Pattern) —— 編排舞蹈模式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之間沒有絕對的主導者，而是各自遵循 SOP 協議，自發性地互相傳遞接棒工作。</a:t>
            </a:r>
          </a:p>
          <a:p>
            <a:r>
              <a:rPr lang="zh-TW" altLang="zh-TW" b="1" dirty="0"/>
              <a:t>Router</a:t>
            </a:r>
            <a:r>
              <a:rPr lang="zh-TW" altLang="zh-TW" dirty="0"/>
              <a:t> (Agentic Router) —— 智慧型路由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大腦根據用戶的輸入輸入，自動將任務導向最適合處理該問題的專用 Agent 或工具。</a:t>
            </a:r>
          </a:p>
          <a:p>
            <a:r>
              <a:rPr lang="zh-TW" altLang="zh-TW" b="1" dirty="0"/>
              <a:t>SOP</a:t>
            </a:r>
            <a:r>
              <a:rPr lang="zh-TW" altLang="zh-TW" dirty="0"/>
              <a:t> (Standard Operating Procedure) —— 標準作業程序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寫在 Agent 框架中、硬性限制 Agents 之間溝通與執行順序的商務邏輯規則。</a:t>
            </a:r>
          </a:p>
          <a:p>
            <a:r>
              <a:rPr lang="zh-TW" altLang="zh-TW" b="1" dirty="0"/>
              <a:t>Swarm</a:t>
            </a:r>
            <a:r>
              <a:rPr lang="zh-TW" altLang="zh-TW" dirty="0"/>
              <a:t> (Swarm Intelligence) —— 群體智能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大量微型、輕量化的 Agent 透過簡單的群體溝通協議，集體湧現出解決龐大問題的能力。</a:t>
            </a:r>
          </a:p>
          <a:p>
            <a:r>
              <a:rPr lang="zh-TW" altLang="zh-TW" b="1" dirty="0"/>
              <a:t>六、 資安、評估與對齊層 (Safety, Evaluation &amp; Alignment)</a:t>
            </a:r>
          </a:p>
          <a:p>
            <a:r>
              <a:rPr lang="zh-TW" altLang="zh-TW" b="1" dirty="0"/>
              <a:t>Guardrails</a:t>
            </a:r>
            <a:r>
              <a:rPr lang="zh-TW" altLang="zh-TW" dirty="0"/>
              <a:t> (LLM Guardrails) —— 護欄機制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的輸入端與輸出端架設的安全過濾網（如 Llama Guard），硬性攔截不合規言論。</a:t>
            </a:r>
          </a:p>
          <a:p>
            <a:r>
              <a:rPr lang="zh-TW" altLang="zh-TW" b="1" dirty="0"/>
              <a:t>Prompt Injection</a:t>
            </a:r>
            <a:r>
              <a:rPr lang="zh-TW" altLang="zh-TW" dirty="0"/>
              <a:t> (Prompt Injection Attack) —— 提示詞注入攻擊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黑客透過惡意文字欺騙 Agent 大腦，使其忽視原本的 System Prompt 規範，進而執行越權操作。</a:t>
            </a:r>
          </a:p>
          <a:p>
            <a:r>
              <a:rPr lang="zh-TW" altLang="zh-TW" b="1" dirty="0"/>
              <a:t>Jailbreaking</a:t>
            </a:r>
            <a:r>
              <a:rPr lang="zh-TW" altLang="zh-TW" dirty="0"/>
              <a:t> (Jailbreaking) —— 越獄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利用特定話術或繞過技巧，解開模型原本內建的安全道德限制，使其產出有害或不合規的內容。</a:t>
            </a:r>
          </a:p>
          <a:p>
            <a:r>
              <a:rPr lang="zh-TW" altLang="zh-TW" b="1" dirty="0"/>
              <a:t>Alignment</a:t>
            </a:r>
            <a:r>
              <a:rPr lang="zh-TW" altLang="zh-TW" dirty="0"/>
              <a:t> (AI Alignment) —— 人工智慧對齊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確保 Agent 的價值觀、決策意圖、行為結果，完全符合人類的利益、道德與安全規範。</a:t>
            </a:r>
          </a:p>
          <a:p>
            <a:r>
              <a:rPr lang="zh-TW" altLang="zh-TW" b="1" dirty="0"/>
              <a:t>Alignment Tax</a:t>
            </a:r>
            <a:r>
              <a:rPr lang="zh-TW" altLang="zh-TW" dirty="0"/>
              <a:t> (Alignment Tax) —— 對齊稅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為了讓 AI 更安全、更聽話而進行的安全對齊微調，往往會導致模型失去部分原始推理能力或創造力的代價。</a:t>
            </a:r>
          </a:p>
          <a:p>
            <a:r>
              <a:rPr lang="zh-TW" altLang="zh-TW" b="1" dirty="0"/>
              <a:t>SWE-bench</a:t>
            </a:r>
            <a:r>
              <a:rPr lang="zh-TW" altLang="zh-TW" dirty="0"/>
              <a:t> (Software Engineering Benchmark) —— 軟體工程基準測試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目前業界評估「代碼研發 Agent（如 Devin）」自主解決真實 GitHub Issue 能力的權威標準。</a:t>
            </a:r>
          </a:p>
          <a:p>
            <a:r>
              <a:rPr lang="zh-TW" altLang="zh-TW" b="1" dirty="0"/>
              <a:t>GAIA</a:t>
            </a:r>
            <a:r>
              <a:rPr lang="zh-TW" altLang="zh-TW" dirty="0"/>
              <a:t> (General AI Assistants Benchmark) —— 通用 AI 助手基準測試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用來評估 Agent 在面對需要跨工具、多模態、長程規劃等複雜現實任務時的綜合得分。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587392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分詞器組件（</a:t>
            </a:r>
            <a:r>
              <a:rPr lang="en-US" altLang="zh-TW" dirty="0"/>
              <a:t>Tokenizer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tokenizer_config.json</a:t>
            </a:r>
            <a:r>
              <a:rPr lang="zh-TW" altLang="en-US" dirty="0"/>
              <a:t>：記錄分詞器的控制面板參數與 </a:t>
            </a:r>
            <a:r>
              <a:rPr lang="en-US" altLang="zh-TW" dirty="0"/>
              <a:t>Jinja </a:t>
            </a:r>
            <a:r>
              <a:rPr lang="zh-TW" altLang="en-US" dirty="0"/>
              <a:t>對話模板，用來決定文字如何套用原廠角色格式。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vocab.json</a:t>
            </a:r>
            <a:r>
              <a:rPr lang="zh-TW" altLang="en-US" dirty="0"/>
              <a:t>：字詞與數位識別代號（</a:t>
            </a:r>
            <a:r>
              <a:rPr lang="en-US" altLang="zh-TW" dirty="0"/>
              <a:t>ID</a:t>
            </a:r>
            <a:r>
              <a:rPr lang="zh-TW" altLang="en-US" dirty="0"/>
              <a:t>）的對照字典，負責將切碎的字母字串翻譯成模型認得的密碼。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merges.txt</a:t>
            </a:r>
            <a:r>
              <a:rPr lang="zh-TW" altLang="en-US" dirty="0"/>
              <a:t>：記錄 </a:t>
            </a:r>
            <a:r>
              <a:rPr lang="en-US" altLang="zh-TW" dirty="0"/>
              <a:t>BPE </a:t>
            </a:r>
            <a:r>
              <a:rPr lang="zh-TW" altLang="en-US" dirty="0"/>
              <a:t>演算法的字詞合併規則表，引導分詞器如何有邏輯地將基礎字元組合成高階詞彙。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tokenizer.json</a:t>
            </a:r>
            <a:r>
              <a:rPr lang="zh-TW" altLang="en-US" dirty="0"/>
              <a:t>：現代內建 </a:t>
            </a:r>
            <a:r>
              <a:rPr lang="en-US" altLang="zh-TW" dirty="0"/>
              <a:t>Rust </a:t>
            </a:r>
            <a:r>
              <a:rPr lang="zh-TW" altLang="en-US" dirty="0"/>
              <a:t>高速核心的完全體分詞本體，將上述所有分詞與合併規則打包以達成高效編碼。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special_tokens_map.json</a:t>
            </a:r>
            <a:r>
              <a:rPr lang="zh-TW" altLang="en-US" dirty="0"/>
              <a:t>：特殊符號對照表，用來定義與強制規範哪些數位代號代表文章開頭、結束或填補空白。</a:t>
            </a:r>
            <a:endParaRPr lang="en-US" altLang="zh-TW" dirty="0"/>
          </a:p>
          <a:p>
            <a:r>
              <a:rPr lang="zh-TW" altLang="en-US" dirty="0"/>
              <a:t>模型大腦組件（</a:t>
            </a:r>
            <a:r>
              <a:rPr lang="en-US" altLang="zh-TW" dirty="0"/>
              <a:t>Model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config.json</a:t>
            </a:r>
            <a:r>
              <a:rPr lang="zh-TW" altLang="en-US" dirty="0"/>
              <a:t>：大模型的神經網路結構藍圖，用來指引系統記憶體在開機時精準搭建出大腦的幾何骨架。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model.safetensors</a:t>
            </a:r>
            <a:r>
              <a:rPr lang="zh-TW" altLang="en-US" dirty="0"/>
              <a:t>：大模型的實體大腦數字權重矩陣，負責在微調時被寫入與修改，永久保存所有的私有知識記憶。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generation_config.json</a:t>
            </a:r>
            <a:r>
              <a:rPr lang="zh-TW" altLang="en-US" dirty="0"/>
              <a:t>：文本生成控制台，用來決定模型在正式上線聊天接龍時的預設隨機度與說話語氣。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1069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25E997-4179-402B-B045-C290473E86F3}" type="datetimeFigureOut">
              <a:rPr lang="zh-TW" altLang="en-US" smtClean="0"/>
              <a:t>2026/7/18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4A4CC-0142-4D0E-B207-47A74A717B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EEB8F32-D6CA-1096-5F7F-634DD3831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FB77DC-1F1A-EDE3-202F-AD35BA111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BBAA7D4-40C2-30FA-EF1C-009BF0978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D5AE9D-E316-4C75-862D-9EBD6D1B334B}" type="datetimeFigureOut">
              <a:rPr lang="zh-TW" altLang="en-US" smtClean="0"/>
              <a:t>2026/7/18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79E40CA-DAB8-F94E-65BD-7E947BD07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E982315-D0D5-22A2-3A7C-183FFB19C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4967A-F914-4D6D-AEDD-D79048CFF0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4269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  <p:sldLayoutId id="2147483662" r:id="rId3"/>
    <p:sldLayoutId id="2147483663" r:id="rId4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Relationship Id="rId9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6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svg"/><Relationship Id="rId5" Type="http://schemas.openxmlformats.org/officeDocument/2006/relationships/image" Target="../media/image20.svg"/><Relationship Id="rId4" Type="http://schemas.openxmlformats.org/officeDocument/2006/relationships/image" Target="../media/image19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6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5.svg"/><Relationship Id="rId5" Type="http://schemas.openxmlformats.org/officeDocument/2006/relationships/image" Target="../media/image24.svg"/><Relationship Id="rId4" Type="http://schemas.openxmlformats.org/officeDocument/2006/relationships/image" Target="../media/image23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jpe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3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5.png"/><Relationship Id="rId5" Type="http://schemas.openxmlformats.org/officeDocument/2006/relationships/image" Target="../media/image23.png"/><Relationship Id="rId4" Type="http://schemas.openxmlformats.org/officeDocument/2006/relationships/image" Target="../media/image34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Relationship Id="rId9" Type="http://schemas.openxmlformats.org/officeDocument/2006/relationships/image" Target="../media/image4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41754-1A01-9656-056C-4B624E45A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96A5153E-BD84-CB21-D566-B888A2F168CC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Centrillion Technology </a:t>
            </a:r>
          </a:p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Bioinformation Dept. </a:t>
            </a:r>
          </a:p>
          <a:p>
            <a:pPr algn="ctr"/>
            <a:r>
              <a:rPr lang="en-US" altLang="zh-TW" sz="1400" dirty="0">
                <a:solidFill>
                  <a:schemeClr val="accent1"/>
                </a:solidFill>
              </a:rPr>
              <a:t>Allen &amp; Felix</a:t>
            </a:r>
          </a:p>
          <a:p>
            <a:pPr algn="ctr"/>
            <a:r>
              <a:rPr lang="en-US" altLang="zh-TW" sz="1000" dirty="0">
                <a:solidFill>
                  <a:schemeClr val="accent1"/>
                </a:solidFill>
              </a:rPr>
              <a:t>2026/05/21</a:t>
            </a:r>
            <a:endParaRPr lang="zh-TW" altLang="en-US" sz="1000" dirty="0">
              <a:solidFill>
                <a:schemeClr val="accent1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C77BE7-A2CA-16B9-32EC-F267B3A21EBE}"/>
              </a:ext>
            </a:extLst>
          </p:cNvPr>
          <p:cNvSpPr txBox="1"/>
          <p:nvPr/>
        </p:nvSpPr>
        <p:spPr>
          <a:xfrm>
            <a:off x="809581" y="1500267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b="1" dirty="0"/>
              <a:t>Gemma</a:t>
            </a:r>
            <a:r>
              <a:rPr lang="zh-TW" altLang="en-US" sz="4000" b="1" dirty="0"/>
              <a:t> </a:t>
            </a:r>
            <a:r>
              <a:rPr lang="en-US" altLang="zh-TW" sz="4000" b="1" dirty="0"/>
              <a:t>4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	2026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/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chemeClr val="accent1">
                  <a:lumMod val="75000"/>
                </a:schemeClr>
              </a:solidFill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/>
              <a:t>	</a:t>
            </a:r>
            <a:r>
              <a:rPr lang="en-US" altLang="zh-TW" sz="1200" b="1" dirty="0"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760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20B80-B722-2523-9202-3F21EBB14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5B9CD27E-9C1A-3219-6A05-1CA47876AE20}"/>
              </a:ext>
            </a:extLst>
          </p:cNvPr>
          <p:cNvSpPr txBox="1"/>
          <p:nvPr/>
        </p:nvSpPr>
        <p:spPr>
          <a:xfrm>
            <a:off x="845586" y="1305341"/>
            <a:ext cx="7452828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AI Runtime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(Environment of AI Agent, SLM, LLM, RAG and MCP)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MCP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(Model Context Protocol)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RAG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(Retrieval Augmented Generation )</a:t>
            </a:r>
            <a:r>
              <a:rPr lang="en-US" altLang="zh-TW" sz="1400" dirty="0">
                <a:solidFill>
                  <a:schemeClr val="bg1">
                    <a:lumMod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SLM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(Small Language Model)</a:t>
            </a:r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Emerging Trends in AI Systems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(Edge AI)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Family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Cloud: Gemini </a:t>
            </a:r>
            <a:r>
              <a:rPr lang="zh-TW" altLang="zh-TW" sz="1200" dirty="0">
                <a:solidFill>
                  <a:schemeClr val="bg1">
                    <a:lumMod val="75000"/>
                  </a:schemeClr>
                </a:solidFill>
              </a:rPr>
              <a:t>➔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Agent: Gemma 4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Supervised Fine-Tuning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(Parameter Efficient Fine-Tuning: PEFT)</a:t>
            </a:r>
            <a:endParaRPr lang="en-US" altLang="zh-TW" dirty="0"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PEFT: QLoRA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(Memory-efficient tuning via 4-bit quantized base models)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PEFT: DoRA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(Decoupled weight learning matching full fine-tuning performance.)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4: PLE</a:t>
            </a:r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(Per Layer Embedding)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kumimoji="0" lang="en-US" altLang="zh-TW" sz="1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Code Intelligence Benchmarking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(LiveCodeBench)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Perspective)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Building a Bio-IT AI Agent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(Select model and FT framework)</a:t>
            </a:r>
            <a:endParaRPr lang="en-US" altLang="zh-TW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Practice Example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(O! llama)</a:t>
            </a:r>
            <a:endParaRPr kumimoji="0" lang="en-US" altLang="zh-TW" sz="14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94909093-0BFB-B658-A42D-64D3192A24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0648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2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8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2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2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8" dur="2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0" dur="2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2" dur="2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4" dur="2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6" dur="2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" dur="2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0" dur="2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4" dur="5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8" dur="5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0" dur="2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4" dur="5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6" dur="20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8" dur="20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allAtOnce"/>
      <p:bldP spid="2" grpId="1" uiExpand="1" build="allAtOnce"/>
      <p:bldP spid="2" grpId="2" uiExpand="1" build="allAtOnce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71AC5596-EE09-9809-F3EF-BFD1A1950756}"/>
              </a:ext>
            </a:extLst>
          </p:cNvPr>
          <p:cNvSpPr txBox="1"/>
          <p:nvPr/>
        </p:nvSpPr>
        <p:spPr>
          <a:xfrm>
            <a:off x="2915816" y="3284985"/>
            <a:ext cx="3575442" cy="2007356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olid"/>
          </a:ln>
        </p:spPr>
        <p:txBody>
          <a:bodyPr wrap="none" lIns="72000" tIns="72000" rIns="0" bIns="0" anchor="t" anchorCtr="0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1" name="標題 1">
            <a:extLst>
              <a:ext uri="{FF2B5EF4-FFF2-40B4-BE49-F238E27FC236}">
                <a16:creationId xmlns:a16="http://schemas.microsoft.com/office/drawing/2014/main" id="{4545CAD2-DED1-687D-F927-CC8160C4A86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Runtime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lvl="0">
              <a:spcBef>
                <a:spcPts val="0"/>
              </a:spcBef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An AI agent completes tasks using an LLM brain, RAG knowledge, and MCP tools. </a:t>
            </a:r>
            <a:r>
              <a:rPr lang="zh-TW" altLang="zh-TW" sz="1400" dirty="0"/>
              <a:t>➔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A23F70E7-2AF0-CCC8-DB8C-D9CFEB8FE8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7955689"/>
              </p:ext>
            </p:extLst>
          </p:nvPr>
        </p:nvGraphicFramePr>
        <p:xfrm>
          <a:off x="1372495" y="3645024"/>
          <a:ext cx="1356495" cy="1148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649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Workflow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Input Processing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Router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 Calling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Output Parsing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23" name="文字方塊 22">
            <a:extLst>
              <a:ext uri="{FF2B5EF4-FFF2-40B4-BE49-F238E27FC236}">
                <a16:creationId xmlns:a16="http://schemas.microsoft.com/office/drawing/2014/main" id="{E0A41338-6FF6-3FD5-520C-C25BBAECA635}"/>
              </a:ext>
            </a:extLst>
          </p:cNvPr>
          <p:cNvSpPr txBox="1"/>
          <p:nvPr/>
        </p:nvSpPr>
        <p:spPr>
          <a:xfrm>
            <a:off x="3707905" y="1936783"/>
            <a:ext cx="881419" cy="756316"/>
          </a:xfrm>
          <a:prstGeom prst="rect">
            <a:avLst/>
          </a:prstGeom>
          <a:solidFill>
            <a:schemeClr val="accent1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LLM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Foundation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(Reasoning)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A35867F2-C1D1-B5A8-4A34-A85DFFA9F207}"/>
              </a:ext>
            </a:extLst>
          </p:cNvPr>
          <p:cNvSpPr txBox="1"/>
          <p:nvPr/>
        </p:nvSpPr>
        <p:spPr>
          <a:xfrm>
            <a:off x="5058733" y="1936783"/>
            <a:ext cx="881419" cy="756316"/>
          </a:xfrm>
          <a:prstGeom prst="rect">
            <a:avLst/>
          </a:prstGeom>
          <a:solidFill>
            <a:schemeClr val="accent3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</a:rPr>
              <a:t>RAG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Knowledge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(Anti-hallucination)</a:t>
            </a: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17651556-23BC-0DDD-07E7-364BC774FADB}"/>
              </a:ext>
            </a:extLst>
          </p:cNvPr>
          <p:cNvSpPr txBox="1"/>
          <p:nvPr/>
        </p:nvSpPr>
        <p:spPr>
          <a:xfrm>
            <a:off x="6426885" y="1936783"/>
            <a:ext cx="881419" cy="756316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4">
                    <a:lumMod val="75000"/>
                  </a:schemeClr>
                </a:solidFill>
                <a:effectLst/>
              </a:rPr>
              <a:t>MCP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Action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(External tools)</a:t>
            </a:r>
          </a:p>
        </p:txBody>
      </p:sp>
      <p:cxnSp>
        <p:nvCxnSpPr>
          <p:cNvPr id="27" name="直線單箭頭接點 26">
            <a:extLst>
              <a:ext uri="{FF2B5EF4-FFF2-40B4-BE49-F238E27FC236}">
                <a16:creationId xmlns:a16="http://schemas.microsoft.com/office/drawing/2014/main" id="{978899A1-FBD5-7632-C399-E1601597C0CA}"/>
              </a:ext>
            </a:extLst>
          </p:cNvPr>
          <p:cNvCxnSpPr>
            <a:cxnSpLocks/>
            <a:stCxn id="23" idx="3"/>
            <a:endCxn id="25" idx="1"/>
          </p:cNvCxnSpPr>
          <p:nvPr/>
        </p:nvCxnSpPr>
        <p:spPr>
          <a:xfrm>
            <a:off x="4589324" y="2314941"/>
            <a:ext cx="469409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D56C6C98-33E6-85B9-402F-84C3D75B4803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>
            <a:off x="5940152" y="2314941"/>
            <a:ext cx="48673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27C079F-0143-0F0C-F3B8-220CDDAD12FF}"/>
              </a:ext>
            </a:extLst>
          </p:cNvPr>
          <p:cNvSpPr txBox="1"/>
          <p:nvPr/>
        </p:nvSpPr>
        <p:spPr>
          <a:xfrm>
            <a:off x="2989497" y="3351879"/>
            <a:ext cx="764323" cy="293145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2"/>
                </a:solidFill>
                <a:effectLst/>
              </a:rPr>
              <a:t>AI Agent</a:t>
            </a:r>
            <a:endParaRPr lang="en-US" altLang="zh-TW" sz="1200" dirty="0">
              <a:solidFill>
                <a:schemeClr val="tx2"/>
              </a:solidFill>
            </a:endParaRPr>
          </a:p>
        </p:txBody>
      </p:sp>
      <p:sp>
        <p:nvSpPr>
          <p:cNvPr id="33" name="右大括弧 32">
            <a:extLst>
              <a:ext uri="{FF2B5EF4-FFF2-40B4-BE49-F238E27FC236}">
                <a16:creationId xmlns:a16="http://schemas.microsoft.com/office/drawing/2014/main" id="{85617580-DE52-B14E-49D6-B4987ACE2E74}"/>
              </a:ext>
            </a:extLst>
          </p:cNvPr>
          <p:cNvSpPr/>
          <p:nvPr/>
        </p:nvSpPr>
        <p:spPr>
          <a:xfrm rot="16200000">
            <a:off x="5443688" y="360344"/>
            <a:ext cx="161581" cy="279765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標題 1">
            <a:extLst>
              <a:ext uri="{FF2B5EF4-FFF2-40B4-BE49-F238E27FC236}">
                <a16:creationId xmlns:a16="http://schemas.microsoft.com/office/drawing/2014/main" id="{712111BD-605F-4F9A-B096-4D0A2B62113E}"/>
              </a:ext>
            </a:extLst>
          </p:cNvPr>
          <p:cNvSpPr txBox="1">
            <a:spLocks/>
          </p:cNvSpPr>
          <p:nvPr/>
        </p:nvSpPr>
        <p:spPr>
          <a:xfrm>
            <a:off x="4774068" y="1196752"/>
            <a:ext cx="1479398" cy="433217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Runtime</a:t>
            </a:r>
          </a:p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Smarter AI Agent)</a:t>
            </a:r>
          </a:p>
        </p:txBody>
      </p: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6C4189AF-8414-40CC-60A0-54BF0A6CA583}"/>
              </a:ext>
            </a:extLst>
          </p:cNvPr>
          <p:cNvGrpSpPr/>
          <p:nvPr/>
        </p:nvGrpSpPr>
        <p:grpSpPr>
          <a:xfrm>
            <a:off x="611560" y="1273176"/>
            <a:ext cx="1219522" cy="1756213"/>
            <a:chOff x="1331640" y="2203695"/>
            <a:chExt cx="1219522" cy="1756213"/>
          </a:xfrm>
        </p:grpSpPr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FC3EE967-B2E4-1D42-F11F-68E5F269497C}"/>
                </a:ext>
              </a:extLst>
            </p:cNvPr>
            <p:cNvSpPr txBox="1"/>
            <p:nvPr/>
          </p:nvSpPr>
          <p:spPr>
            <a:xfrm>
              <a:off x="1331640" y="2867302"/>
              <a:ext cx="1219522" cy="1092606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8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Pre-Training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&amp; SFT</a:t>
              </a:r>
            </a:p>
          </p:txBody>
        </p:sp>
        <p:sp>
          <p:nvSpPr>
            <p:cNvPr id="36" name="標題 1">
              <a:extLst>
                <a:ext uri="{FF2B5EF4-FFF2-40B4-BE49-F238E27FC236}">
                  <a16:creationId xmlns:a16="http://schemas.microsoft.com/office/drawing/2014/main" id="{975BBE30-A6EE-B2AC-1910-5B401203FF00}"/>
                </a:ext>
              </a:extLst>
            </p:cNvPr>
            <p:cNvSpPr txBox="1">
              <a:spLocks/>
            </p:cNvSpPr>
            <p:nvPr/>
          </p:nvSpPr>
          <p:spPr>
            <a:xfrm>
              <a:off x="1383399" y="2203695"/>
              <a:ext cx="1100369" cy="433217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Training Stages </a:t>
              </a:r>
            </a:p>
            <a:p>
              <a:pPr algn="ctr"/>
              <a:r>
                <a:rPr lang="en-US" altLang="zh-TW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(Goal: Alignment)</a:t>
              </a:r>
            </a:p>
          </p:txBody>
        </p:sp>
        <p:sp>
          <p:nvSpPr>
            <p:cNvPr id="37" name="右大括弧 36">
              <a:extLst>
                <a:ext uri="{FF2B5EF4-FFF2-40B4-BE49-F238E27FC236}">
                  <a16:creationId xmlns:a16="http://schemas.microsoft.com/office/drawing/2014/main" id="{D20F47B1-9D0B-3FB0-F3F1-472019ABA4C9}"/>
                </a:ext>
              </a:extLst>
            </p:cNvPr>
            <p:cNvSpPr/>
            <p:nvPr/>
          </p:nvSpPr>
          <p:spPr>
            <a:xfrm rot="16200000">
              <a:off x="1855526" y="2139505"/>
              <a:ext cx="153043" cy="1100372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6DAD7B2C-ECBC-5409-ACCF-C57D6A2A82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2987802"/>
              </p:ext>
            </p:extLst>
          </p:nvPr>
        </p:nvGraphicFramePr>
        <p:xfrm>
          <a:off x="6887389" y="4395160"/>
          <a:ext cx="1645051" cy="133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05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164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Functions of MR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Intent Parsing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Capability Matching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Dynamic Dispatching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Execution Monitoring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Update Skill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7791173"/>
                  </a:ext>
                </a:extLst>
              </a:tr>
            </a:tbl>
          </a:graphicData>
        </a:graphic>
      </p:graphicFrame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59363631-C7E6-801B-5C06-7DF922EC9AD0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1831082" y="2314941"/>
            <a:ext cx="187682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6DB8FA6F-7F2A-81B9-BC87-5C6254408307}"/>
              </a:ext>
            </a:extLst>
          </p:cNvPr>
          <p:cNvSpPr txBox="1"/>
          <p:nvPr/>
        </p:nvSpPr>
        <p:spPr>
          <a:xfrm>
            <a:off x="3905988" y="3654966"/>
            <a:ext cx="1602116" cy="748224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7200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E38D2852-0E50-B26A-DDD1-646A07E30642}"/>
              </a:ext>
            </a:extLst>
          </p:cNvPr>
          <p:cNvSpPr txBox="1"/>
          <p:nvPr/>
        </p:nvSpPr>
        <p:spPr>
          <a:xfrm>
            <a:off x="4395325" y="5670112"/>
            <a:ext cx="616423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E8BB46F6-04C0-304D-97C7-1C448761087C}"/>
              </a:ext>
            </a:extLst>
          </p:cNvPr>
          <p:cNvCxnSpPr>
            <a:cxnSpLocks/>
            <a:stCxn id="41" idx="0"/>
            <a:endCxn id="4" idx="2"/>
          </p:cNvCxnSpPr>
          <p:nvPr/>
        </p:nvCxnSpPr>
        <p:spPr>
          <a:xfrm flipV="1">
            <a:off x="4703537" y="5292341"/>
            <a:ext cx="0" cy="37777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96A1C980-1A1E-0E55-BF8E-AC7D7F8FA548}"/>
              </a:ext>
            </a:extLst>
          </p:cNvPr>
          <p:cNvCxnSpPr>
            <a:cxnSpLocks/>
            <a:stCxn id="4" idx="0"/>
            <a:endCxn id="70" idx="3"/>
          </p:cNvCxnSpPr>
          <p:nvPr/>
        </p:nvCxnSpPr>
        <p:spPr>
          <a:xfrm rot="16200000" flipH="1">
            <a:off x="4730848" y="3257673"/>
            <a:ext cx="1521033" cy="1575656"/>
          </a:xfrm>
          <a:prstGeom prst="bentConnector4">
            <a:avLst>
              <a:gd name="adj1" fmla="val -15029"/>
              <a:gd name="adj2" fmla="val 127967"/>
            </a:avLst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菱形 69">
            <a:extLst>
              <a:ext uri="{FF2B5EF4-FFF2-40B4-BE49-F238E27FC236}">
                <a16:creationId xmlns:a16="http://schemas.microsoft.com/office/drawing/2014/main" id="{C103C3EA-9A2B-56B2-71C8-2DC4B5A44B88}"/>
              </a:ext>
            </a:extLst>
          </p:cNvPr>
          <p:cNvSpPr/>
          <p:nvPr/>
        </p:nvSpPr>
        <p:spPr>
          <a:xfrm>
            <a:off x="5868144" y="4598859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Execution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Monitoring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3" name="箭號: 向下 62">
            <a:extLst>
              <a:ext uri="{FF2B5EF4-FFF2-40B4-BE49-F238E27FC236}">
                <a16:creationId xmlns:a16="http://schemas.microsoft.com/office/drawing/2014/main" id="{F48C7747-863B-73B4-1013-B33EDF23A7A2}"/>
              </a:ext>
            </a:extLst>
          </p:cNvPr>
          <p:cNvSpPr/>
          <p:nvPr/>
        </p:nvSpPr>
        <p:spPr>
          <a:xfrm rot="10800000">
            <a:off x="5004049" y="3361821"/>
            <a:ext cx="325849" cy="35679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9" name="箭號: 向下 58">
            <a:extLst>
              <a:ext uri="{FF2B5EF4-FFF2-40B4-BE49-F238E27FC236}">
                <a16:creationId xmlns:a16="http://schemas.microsoft.com/office/drawing/2014/main" id="{F947BFCB-E126-A288-3F5F-5B82F85DC58F}"/>
              </a:ext>
            </a:extLst>
          </p:cNvPr>
          <p:cNvSpPr/>
          <p:nvPr/>
        </p:nvSpPr>
        <p:spPr>
          <a:xfrm rot="10800000">
            <a:off x="4030127" y="3361825"/>
            <a:ext cx="325849" cy="356786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90" name="接點: 肘形 89">
            <a:extLst>
              <a:ext uri="{FF2B5EF4-FFF2-40B4-BE49-F238E27FC236}">
                <a16:creationId xmlns:a16="http://schemas.microsoft.com/office/drawing/2014/main" id="{860BF17A-3A43-8200-7E8F-A0E51B403159}"/>
              </a:ext>
            </a:extLst>
          </p:cNvPr>
          <p:cNvCxnSpPr>
            <a:cxnSpLocks/>
            <a:stCxn id="70" idx="1"/>
            <a:endCxn id="128" idx="2"/>
          </p:cNvCxnSpPr>
          <p:nvPr/>
        </p:nvCxnSpPr>
        <p:spPr>
          <a:xfrm rot="10800000">
            <a:off x="4691460" y="4581128"/>
            <a:ext cx="1176685" cy="224890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箭號: 向下 100">
            <a:extLst>
              <a:ext uri="{FF2B5EF4-FFF2-40B4-BE49-F238E27FC236}">
                <a16:creationId xmlns:a16="http://schemas.microsoft.com/office/drawing/2014/main" id="{740A28A5-004A-1140-2753-AD03B5752A44}"/>
              </a:ext>
            </a:extLst>
          </p:cNvPr>
          <p:cNvSpPr/>
          <p:nvPr/>
        </p:nvSpPr>
        <p:spPr>
          <a:xfrm rot="10800000">
            <a:off x="4534183" y="3382098"/>
            <a:ext cx="325849" cy="356789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28" name="菱形 127">
            <a:extLst>
              <a:ext uri="{FF2B5EF4-FFF2-40B4-BE49-F238E27FC236}">
                <a16:creationId xmlns:a16="http://schemas.microsoft.com/office/drawing/2014/main" id="{056CEF72-D817-DA77-D783-EA6E90469BE3}"/>
              </a:ext>
            </a:extLst>
          </p:cNvPr>
          <p:cNvSpPr/>
          <p:nvPr/>
        </p:nvSpPr>
        <p:spPr>
          <a:xfrm>
            <a:off x="4485934" y="4166811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Intent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Parsing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4DBC00A6-140D-02C8-ACC8-59862488BAFA}"/>
              </a:ext>
            </a:extLst>
          </p:cNvPr>
          <p:cNvSpPr txBox="1"/>
          <p:nvPr/>
        </p:nvSpPr>
        <p:spPr>
          <a:xfrm>
            <a:off x="4355976" y="3789040"/>
            <a:ext cx="706147" cy="4539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</a:p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Router</a:t>
            </a:r>
          </a:p>
        </p:txBody>
      </p:sp>
      <p:cxnSp>
        <p:nvCxnSpPr>
          <p:cNvPr id="169" name="接點: 肘形 168">
            <a:extLst>
              <a:ext uri="{FF2B5EF4-FFF2-40B4-BE49-F238E27FC236}">
                <a16:creationId xmlns:a16="http://schemas.microsoft.com/office/drawing/2014/main" id="{CD0DEFC5-0B24-936F-DA7E-42881C2850C2}"/>
              </a:ext>
            </a:extLst>
          </p:cNvPr>
          <p:cNvCxnSpPr>
            <a:cxnSpLocks/>
            <a:stCxn id="31" idx="1"/>
            <a:endCxn id="10" idx="0"/>
          </p:cNvCxnSpPr>
          <p:nvPr/>
        </p:nvCxnSpPr>
        <p:spPr>
          <a:xfrm rot="10800000" flipV="1">
            <a:off x="2050743" y="3498452"/>
            <a:ext cx="938755" cy="14657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接點: 肘形 170">
            <a:extLst>
              <a:ext uri="{FF2B5EF4-FFF2-40B4-BE49-F238E27FC236}">
                <a16:creationId xmlns:a16="http://schemas.microsoft.com/office/drawing/2014/main" id="{6170D0D7-839B-02D8-7BA7-59D19B314486}"/>
              </a:ext>
            </a:extLst>
          </p:cNvPr>
          <p:cNvCxnSpPr>
            <a:cxnSpLocks/>
            <a:stCxn id="19" idx="3"/>
            <a:endCxn id="12" idx="0"/>
          </p:cNvCxnSpPr>
          <p:nvPr/>
        </p:nvCxnSpPr>
        <p:spPr>
          <a:xfrm>
            <a:off x="5508104" y="4029078"/>
            <a:ext cx="2201810" cy="36608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7DEA0D74-EF3B-9C8A-F84C-2F323131741D}"/>
              </a:ext>
            </a:extLst>
          </p:cNvPr>
          <p:cNvSpPr txBox="1"/>
          <p:nvPr/>
        </p:nvSpPr>
        <p:spPr>
          <a:xfrm>
            <a:off x="2989497" y="3645024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SLM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(Inference)</a:t>
            </a:r>
          </a:p>
        </p:txBody>
      </p:sp>
      <p:sp>
        <p:nvSpPr>
          <p:cNvPr id="6" name="語音泡泡: 圓角矩形 5">
            <a:extLst>
              <a:ext uri="{FF2B5EF4-FFF2-40B4-BE49-F238E27FC236}">
                <a16:creationId xmlns:a16="http://schemas.microsoft.com/office/drawing/2014/main" id="{905E2150-432D-233C-0E0E-6B9259F5B0F8}"/>
              </a:ext>
            </a:extLst>
          </p:cNvPr>
          <p:cNvSpPr/>
          <p:nvPr/>
        </p:nvSpPr>
        <p:spPr>
          <a:xfrm>
            <a:off x="3203848" y="4742039"/>
            <a:ext cx="1149254" cy="703185"/>
          </a:xfrm>
          <a:prstGeom prst="wedgeRoundRectCallout">
            <a:avLst>
              <a:gd name="adj1" fmla="val 37486"/>
              <a:gd name="adj2" fmla="val 79865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Anything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interesting</a:t>
            </a:r>
            <a:endParaRPr kumimoji="0" lang="en-US" altLang="zh-TW" sz="12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today?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ABBE1A47-340D-F018-875C-126691CF8304}"/>
              </a:ext>
            </a:extLst>
          </p:cNvPr>
          <p:cNvSpPr txBox="1"/>
          <p:nvPr/>
        </p:nvSpPr>
        <p:spPr>
          <a:xfrm>
            <a:off x="2989497" y="4060993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Skill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(Tools)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5FBE2F2-1040-BE2C-2C2E-7066E339EACC}"/>
              </a:ext>
            </a:extLst>
          </p:cNvPr>
          <p:cNvSpPr txBox="1"/>
          <p:nvPr/>
        </p:nvSpPr>
        <p:spPr>
          <a:xfrm>
            <a:off x="7848364" y="44624"/>
            <a:ext cx="1240083" cy="3813095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effectLst/>
              </a:rPr>
              <a:t> Overview</a:t>
            </a:r>
            <a:endParaRPr lang="en-US" altLang="zh-TW" sz="1000" u="none" strike="noStrike" dirty="0">
              <a:effectLst/>
            </a:endParaRPr>
          </a:p>
          <a:p>
            <a:pPr marL="111125" lvl="3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ML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Training Stages</a:t>
            </a:r>
            <a:endParaRPr lang="en-US" altLang="zh-TW" sz="1000" u="none" strike="noStrike" dirty="0">
              <a:effectLst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Transformer</a:t>
            </a:r>
            <a:endParaRPr lang="en-US" altLang="zh-TW" sz="1000" dirty="0"/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Program Flow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Self-Attention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FFN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Embeddings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Position Encoding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MLP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  <a:r>
              <a:rPr lang="en-US" altLang="zh-TW" sz="1000" dirty="0"/>
              <a:t> 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AI Ecosystem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</a:t>
            </a:r>
            <a:r>
              <a:rPr lang="en-US" altLang="zh-TW" sz="1000" b="1" dirty="0">
                <a:solidFill>
                  <a:srgbClr val="FF0000"/>
                </a:solidFill>
              </a:rPr>
              <a:t>AI Runtime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MCP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RAG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SLM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Emerging Trends </a:t>
            </a:r>
            <a:endParaRPr lang="en-US" altLang="zh-TW" sz="1000" dirty="0">
              <a:solidFill>
                <a:prstClr val="black"/>
              </a:solidFill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Gemma Family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Supervised FT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QLoRA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DoRA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Gemma4: PLE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Benchmarking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Conclusion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Building the Agent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Practices</a:t>
            </a:r>
          </a:p>
        </p:txBody>
      </p:sp>
    </p:spTree>
    <p:extLst>
      <p:ext uri="{BB962C8B-B14F-4D97-AF65-F5344CB8AC3E}">
        <p14:creationId xmlns:p14="http://schemas.microsoft.com/office/powerpoint/2010/main" val="509152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B8E9871D-CD28-29D2-C3B9-17959FEDFB46}"/>
              </a:ext>
            </a:extLst>
          </p:cNvPr>
          <p:cNvSpPr/>
          <p:nvPr/>
        </p:nvSpPr>
        <p:spPr>
          <a:xfrm>
            <a:off x="6403176" y="1978558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A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E4FB350E-E1A8-F9B4-5833-A320C32EEA10}"/>
              </a:ext>
            </a:extLst>
          </p:cNvPr>
          <p:cNvSpPr/>
          <p:nvPr/>
        </p:nvSpPr>
        <p:spPr>
          <a:xfrm>
            <a:off x="6403176" y="2630471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B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7" name="矩形: 圓角 66">
            <a:extLst>
              <a:ext uri="{FF2B5EF4-FFF2-40B4-BE49-F238E27FC236}">
                <a16:creationId xmlns:a16="http://schemas.microsoft.com/office/drawing/2014/main" id="{EFC7C74A-E190-637E-58B5-5EAE6F819354}"/>
              </a:ext>
            </a:extLst>
          </p:cNvPr>
          <p:cNvSpPr/>
          <p:nvPr/>
        </p:nvSpPr>
        <p:spPr>
          <a:xfrm>
            <a:off x="6403176" y="3276045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C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6B6C4F2-3F1E-6AE2-7DFF-8F6FA04D2EDF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34" name="矩形: 圓角 133">
            <a:extLst>
              <a:ext uri="{FF2B5EF4-FFF2-40B4-BE49-F238E27FC236}">
                <a16:creationId xmlns:a16="http://schemas.microsoft.com/office/drawing/2014/main" id="{202C397C-75BA-F777-FD3B-5046214DE27F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AAD28DF-6498-6387-F96E-656B98F80A89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5C031ACB-F901-E82F-EC14-CA1BE0422B34}"/>
              </a:ext>
            </a:extLst>
          </p:cNvPr>
          <p:cNvCxnSpPr>
            <a:cxnSpLocks/>
            <a:stCxn id="9" idx="0"/>
            <a:endCxn id="16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圖形 23" descr="資料庫 外框">
            <a:extLst>
              <a:ext uri="{FF2B5EF4-FFF2-40B4-BE49-F238E27FC236}">
                <a16:creationId xmlns:a16="http://schemas.microsoft.com/office/drawing/2014/main" id="{D596727D-E562-6026-F9B1-9D1D9C425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07341" y="3329203"/>
            <a:ext cx="339828" cy="379784"/>
          </a:xfrm>
          <a:prstGeom prst="rect">
            <a:avLst/>
          </a:prstGeom>
        </p:spPr>
      </p:pic>
      <p:pic>
        <p:nvPicPr>
          <p:cNvPr id="38" name="圖形 37" descr="雲層雷雨交加 外框">
            <a:extLst>
              <a:ext uri="{FF2B5EF4-FFF2-40B4-BE49-F238E27FC236}">
                <a16:creationId xmlns:a16="http://schemas.microsoft.com/office/drawing/2014/main" id="{346A6EC7-751C-4D36-7261-2A593AC177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8668" y="2032433"/>
            <a:ext cx="361764" cy="379783"/>
          </a:xfrm>
          <a:prstGeom prst="rect">
            <a:avLst/>
          </a:prstGeom>
          <a:effectLst>
            <a:glow rad="127000">
              <a:schemeClr val="accent5">
                <a:lumMod val="40000"/>
                <a:lumOff val="60000"/>
              </a:schemeClr>
            </a:glow>
          </a:effectLst>
        </p:spPr>
      </p:pic>
      <p:pic>
        <p:nvPicPr>
          <p:cNvPr id="52" name="圖形 51" descr="卷軸 以實心填滿">
            <a:extLst>
              <a:ext uri="{FF2B5EF4-FFF2-40B4-BE49-F238E27FC236}">
                <a16:creationId xmlns:a16="http://schemas.microsoft.com/office/drawing/2014/main" id="{F6CA5A40-9982-0F14-63E4-B4D6B3029F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80650" y="2682175"/>
            <a:ext cx="379782" cy="354089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48EC587F-29DE-2F04-46FF-CEDC728BDC5D}"/>
              </a:ext>
            </a:extLst>
          </p:cNvPr>
          <p:cNvSpPr txBox="1"/>
          <p:nvPr/>
        </p:nvSpPr>
        <p:spPr>
          <a:xfrm>
            <a:off x="7983304" y="3654286"/>
            <a:ext cx="549136" cy="39682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Remote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service</a:t>
            </a: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F325E1DC-6674-E4D2-2281-E8E06C60DAD2}"/>
              </a:ext>
            </a:extLst>
          </p:cNvPr>
          <p:cNvCxnSpPr>
            <a:cxnSpLocks/>
            <a:stCxn id="38" idx="1"/>
            <a:endCxn id="34" idx="3"/>
          </p:cNvCxnSpPr>
          <p:nvPr/>
        </p:nvCxnSpPr>
        <p:spPr>
          <a:xfrm flipH="1" flipV="1">
            <a:off x="7416633" y="2219159"/>
            <a:ext cx="682035" cy="316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5CBD3571-7A57-2216-0FE5-E2ABCD70BF10}"/>
              </a:ext>
            </a:extLst>
          </p:cNvPr>
          <p:cNvSpPr txBox="1"/>
          <p:nvPr/>
        </p:nvSpPr>
        <p:spPr>
          <a:xfrm>
            <a:off x="7524324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Open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Data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ECB804E9-3D17-8FB5-E2A2-F10ADE974A47}"/>
              </a:ext>
            </a:extLst>
          </p:cNvPr>
          <p:cNvCxnSpPr>
            <a:cxnSpLocks/>
            <a:stCxn id="52" idx="1"/>
            <a:endCxn id="63" idx="3"/>
          </p:cNvCxnSpPr>
          <p:nvPr/>
        </p:nvCxnSpPr>
        <p:spPr>
          <a:xfrm flipH="1">
            <a:off x="7416633" y="2859220"/>
            <a:ext cx="664017" cy="1185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1565FD56-B192-9E72-AC7B-EF7FFEEA267B}"/>
              </a:ext>
            </a:extLst>
          </p:cNvPr>
          <p:cNvSpPr txBox="1"/>
          <p:nvPr/>
        </p:nvSpPr>
        <p:spPr>
          <a:xfrm>
            <a:off x="7547182" y="2689285"/>
            <a:ext cx="481202" cy="3447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GitHub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Projects</a:t>
            </a: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F7C38374-13EF-8444-DFEB-5FD1DE9489CF}"/>
              </a:ext>
            </a:extLst>
          </p:cNvPr>
          <p:cNvCxnSpPr>
            <a:cxnSpLocks/>
            <a:stCxn id="24" idx="1"/>
            <a:endCxn id="67" idx="3"/>
          </p:cNvCxnSpPr>
          <p:nvPr/>
        </p:nvCxnSpPr>
        <p:spPr>
          <a:xfrm flipH="1" flipV="1">
            <a:off x="7416633" y="3516646"/>
            <a:ext cx="690708" cy="244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732D365C-E0C0-4480-5F30-50A8AB418212}"/>
              </a:ext>
            </a:extLst>
          </p:cNvPr>
          <p:cNvSpPr txBox="1"/>
          <p:nvPr/>
        </p:nvSpPr>
        <p:spPr>
          <a:xfrm>
            <a:off x="7547182" y="3284984"/>
            <a:ext cx="481202" cy="26024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Database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C35C377F-104F-EB33-BFCB-9776ED9FED54}"/>
              </a:ext>
            </a:extLst>
          </p:cNvPr>
          <p:cNvSpPr/>
          <p:nvPr/>
        </p:nvSpPr>
        <p:spPr>
          <a:xfrm>
            <a:off x="4896241" y="2625546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2" name="矩形: 圓角 91">
            <a:extLst>
              <a:ext uri="{FF2B5EF4-FFF2-40B4-BE49-F238E27FC236}">
                <a16:creationId xmlns:a16="http://schemas.microsoft.com/office/drawing/2014/main" id="{0F1F2219-D782-334F-44BA-F7E58D8E34C3}"/>
              </a:ext>
            </a:extLst>
          </p:cNvPr>
          <p:cNvSpPr/>
          <p:nvPr/>
        </p:nvSpPr>
        <p:spPr>
          <a:xfrm>
            <a:off x="4896241" y="3271120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B5FECA90-B6A6-D5DE-34B7-0D2458B6B40E}"/>
              </a:ext>
            </a:extLst>
          </p:cNvPr>
          <p:cNvCxnSpPr>
            <a:cxnSpLocks/>
            <a:stCxn id="34" idx="1"/>
            <a:endCxn id="36" idx="3"/>
          </p:cNvCxnSpPr>
          <p:nvPr/>
        </p:nvCxnSpPr>
        <p:spPr>
          <a:xfrm flipH="1">
            <a:off x="5400930" y="2219159"/>
            <a:ext cx="1002246" cy="358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4B3B2844-3ED2-2107-9FA2-DDE0A38496FF}"/>
              </a:ext>
            </a:extLst>
          </p:cNvPr>
          <p:cNvCxnSpPr>
            <a:cxnSpLocks/>
            <a:stCxn id="63" idx="1"/>
            <a:endCxn id="89" idx="3"/>
          </p:cNvCxnSpPr>
          <p:nvPr/>
        </p:nvCxnSpPr>
        <p:spPr>
          <a:xfrm flipH="1" flipV="1">
            <a:off x="5400930" y="2869728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DF5897A3-59AB-2800-B47B-61BAA4BE06CA}"/>
              </a:ext>
            </a:extLst>
          </p:cNvPr>
          <p:cNvCxnSpPr>
            <a:cxnSpLocks/>
            <a:stCxn id="67" idx="1"/>
            <a:endCxn id="92" idx="3"/>
          </p:cNvCxnSpPr>
          <p:nvPr/>
        </p:nvCxnSpPr>
        <p:spPr>
          <a:xfrm flipH="1" flipV="1">
            <a:off x="5400930" y="3515302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CA7D7BF-DBE4-058F-367A-8356FF5D7ACD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DCAF35C5-5518-CDF2-1AC5-4528F8B47E2A}"/>
              </a:ext>
            </a:extLst>
          </p:cNvPr>
          <p:cNvSpPr txBox="1"/>
          <p:nvPr/>
        </p:nvSpPr>
        <p:spPr>
          <a:xfrm>
            <a:off x="5651487" y="2708711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B27DB76A-51FC-8DE5-1DF8-7871A37C702C}"/>
              </a:ext>
            </a:extLst>
          </p:cNvPr>
          <p:cNvSpPr txBox="1"/>
          <p:nvPr/>
        </p:nvSpPr>
        <p:spPr>
          <a:xfrm>
            <a:off x="5651487" y="3367958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27" name="標題 1">
            <a:extLst>
              <a:ext uri="{FF2B5EF4-FFF2-40B4-BE49-F238E27FC236}">
                <a16:creationId xmlns:a16="http://schemas.microsoft.com/office/drawing/2014/main" id="{714FED49-EBEA-804C-277F-87FC8CCB523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enables AI Agents to connect with external tools and data sources.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22" name="圖形 121" descr="科學思想 以實心填滿">
            <a:extLst>
              <a:ext uri="{FF2B5EF4-FFF2-40B4-BE49-F238E27FC236}">
                <a16:creationId xmlns:a16="http://schemas.microsoft.com/office/drawing/2014/main" id="{53EAAAE7-6160-7CCC-5A4B-4BE4A3A490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1A54FABB-C12D-2671-5993-08851B7C76B4}"/>
              </a:ext>
            </a:extLst>
          </p:cNvPr>
          <p:cNvCxnSpPr>
            <a:cxnSpLocks/>
            <a:stCxn id="36" idx="1"/>
            <a:endCxn id="51" idx="0"/>
          </p:cNvCxnSpPr>
          <p:nvPr/>
        </p:nvCxnSpPr>
        <p:spPr>
          <a:xfrm rot="10800000">
            <a:off x="2253519" y="2108845"/>
            <a:ext cx="2642722" cy="11389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圖形 32" descr="伺服器 外框">
            <a:extLst>
              <a:ext uri="{FF2B5EF4-FFF2-40B4-BE49-F238E27FC236}">
                <a16:creationId xmlns:a16="http://schemas.microsoft.com/office/drawing/2014/main" id="{B7443F36-B2FC-CB85-E4F0-451C548355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pic>
        <p:nvPicPr>
          <p:cNvPr id="64" name="圖形 63" descr="伺服器 外框">
            <a:extLst>
              <a:ext uri="{FF2B5EF4-FFF2-40B4-BE49-F238E27FC236}">
                <a16:creationId xmlns:a16="http://schemas.microsoft.com/office/drawing/2014/main" id="{806998D7-3658-0790-4F9D-0B45384B40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673936"/>
            <a:ext cx="379782" cy="379782"/>
          </a:xfrm>
          <a:prstGeom prst="rect">
            <a:avLst/>
          </a:prstGeom>
        </p:spPr>
      </p:pic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1D96CDB2-5F83-291C-71A2-055C73A7E0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19510"/>
            <a:ext cx="379782" cy="379782"/>
          </a:xfrm>
          <a:prstGeom prst="rect">
            <a:avLst/>
          </a:prstGeom>
        </p:spPr>
      </p:pic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827A2D18-C4EC-8149-F151-65A9F46CB2F8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文字方塊 140">
            <a:extLst>
              <a:ext uri="{FF2B5EF4-FFF2-40B4-BE49-F238E27FC236}">
                <a16:creationId xmlns:a16="http://schemas.microsoft.com/office/drawing/2014/main" id="{0F66A28B-877E-790B-E5AB-98F5C06EAAA8}"/>
              </a:ext>
            </a:extLst>
          </p:cNvPr>
          <p:cNvSpPr txBox="1"/>
          <p:nvPr/>
        </p:nvSpPr>
        <p:spPr>
          <a:xfrm>
            <a:off x="2222968" y="3003255"/>
            <a:ext cx="1224935" cy="42574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“The share price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is $300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BEE30526-718C-1AFB-A5C7-9709765E6B51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51" name="雲朵形 50">
              <a:extLst>
                <a:ext uri="{FF2B5EF4-FFF2-40B4-BE49-F238E27FC236}">
                  <a16:creationId xmlns:a16="http://schemas.microsoft.com/office/drawing/2014/main" id="{068ED43E-E3BC-FB12-2DE6-452E2E4EDCB0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A73A3A98-EF76-CBC8-28B7-D5216CD68F70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4C2F2724-9C95-61E4-4E18-182C73598EEB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D82BC7A5-7FA1-4BBA-BF68-A20F3FC56D5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151" name="圖形 150" descr="原子 以實心填滿">
              <a:extLst>
                <a:ext uri="{FF2B5EF4-FFF2-40B4-BE49-F238E27FC236}">
                  <a16:creationId xmlns:a16="http://schemas.microsoft.com/office/drawing/2014/main" id="{B4A2124C-0737-AE16-69D0-A17BAB9128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5501C6B9-6DCD-10E9-0C12-453A6A83823F}"/>
              </a:ext>
            </a:extLst>
          </p:cNvPr>
          <p:cNvSpPr txBox="1"/>
          <p:nvPr/>
        </p:nvSpPr>
        <p:spPr>
          <a:xfrm>
            <a:off x="213023" y="5048016"/>
            <a:ext cx="70232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Steps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Initialization &amp; Discovery</a:t>
            </a:r>
            <a:r>
              <a:rPr lang="en-US" altLang="zh-TW" sz="1600" b="0" u="none" strike="noStrike" dirty="0">
                <a:effectLst/>
              </a:rPr>
              <a:t>: MCP server provides tool schemas to the host.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Reasoning &amp; Tool Call</a:t>
            </a:r>
            <a:r>
              <a:rPr lang="en-US" altLang="zh-TW" sz="1600" b="0" u="none" strike="noStrike" dirty="0">
                <a:effectLst/>
              </a:rPr>
              <a:t>: LLM sends request to MCP server.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Execution &amp; Injection</a:t>
            </a:r>
            <a:r>
              <a:rPr lang="en-US" altLang="zh-TW" sz="1600" dirty="0"/>
              <a:t>: Server returns data to host for LLM context injection.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44BE3D63-325C-6AE3-8931-2C86EFB41E5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A]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[350]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5">
                  <a:lumMod val="75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D840E78-A210-D6AF-34FA-E25B15F7C188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BCBF1B2A-C695-3EF2-5516-914B7DA9FBC2}"/>
              </a:ext>
            </a:extLst>
          </p:cNvPr>
          <p:cNvSpPr/>
          <p:nvPr/>
        </p:nvSpPr>
        <p:spPr>
          <a:xfrm>
            <a:off x="4896241" y="19785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FC1A4AD5-EB90-7718-C060-348E600A7CF2}"/>
              </a:ext>
            </a:extLst>
          </p:cNvPr>
          <p:cNvCxnSpPr>
            <a:cxnSpLocks/>
            <a:stCxn id="122" idx="1"/>
            <a:endCxn id="166" idx="2"/>
          </p:cNvCxnSpPr>
          <p:nvPr/>
        </p:nvCxnSpPr>
        <p:spPr>
          <a:xfrm rot="10800000">
            <a:off x="1460467" y="2506646"/>
            <a:ext cx="2644361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04A1D9BB-D006-4486-9C4F-2B7ACF469AE1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What is TSMC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Trading at?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9278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18276-D0C6-01E6-A681-1240666C0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B6A8BEEF-A7AC-4877-7FC2-EFF0EC3A6A55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BAC03CC8-25FD-DD77-EFCD-8368C75E36C3}"/>
              </a:ext>
            </a:extLst>
          </p:cNvPr>
          <p:cNvSpPr txBox="1"/>
          <p:nvPr/>
        </p:nvSpPr>
        <p:spPr>
          <a:xfrm>
            <a:off x="213023" y="5048016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AI Agent Skills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Autonomous Task Execution:</a:t>
            </a:r>
            <a:r>
              <a:rPr lang="en-US" altLang="zh-TW" sz="1600" dirty="0"/>
              <a:t> Empowers AI to move beyond text and directly trigger actions.</a:t>
            </a:r>
            <a:endParaRPr lang="en-US" altLang="zh-TW" sz="1600" b="0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Secure Guardrail Enforcement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dirty="0"/>
              <a:t>Restricts AI behavior within save boundaries</a:t>
            </a:r>
            <a:r>
              <a:rPr lang="en-US" altLang="zh-TW" sz="1600" b="0" u="none" strike="noStrike" dirty="0">
                <a:effectLst/>
              </a:rPr>
              <a:t>.</a:t>
            </a:r>
          </a:p>
        </p:txBody>
      </p:sp>
      <p:cxnSp>
        <p:nvCxnSpPr>
          <p:cNvPr id="14" name="接點: 肘形 13">
            <a:extLst>
              <a:ext uri="{FF2B5EF4-FFF2-40B4-BE49-F238E27FC236}">
                <a16:creationId xmlns:a16="http://schemas.microsoft.com/office/drawing/2014/main" id="{FCBB867C-B370-A696-60AA-155EDB4A15BB}"/>
              </a:ext>
            </a:extLst>
          </p:cNvPr>
          <p:cNvCxnSpPr>
            <a:cxnSpLocks/>
            <a:stCxn id="44" idx="1"/>
            <a:endCxn id="20" idx="0"/>
          </p:cNvCxnSpPr>
          <p:nvPr/>
        </p:nvCxnSpPr>
        <p:spPr>
          <a:xfrm rot="10800000">
            <a:off x="2253519" y="2108845"/>
            <a:ext cx="2642722" cy="1103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55238258-F5F8-B671-A8F4-1A0EFAA5AD94}"/>
              </a:ext>
            </a:extLst>
          </p:cNvPr>
          <p:cNvCxnSpPr>
            <a:cxnSpLocks/>
            <a:endCxn id="22" idx="2"/>
          </p:cNvCxnSpPr>
          <p:nvPr/>
        </p:nvCxnSpPr>
        <p:spPr>
          <a:xfrm rot="10800000">
            <a:off x="1460467" y="2506646"/>
            <a:ext cx="2607519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8E0D88E3-76C4-35F7-8D64-BB0751387405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A240268A-08D1-72C5-DEDE-862B010C1800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20" name="雲朵形 19">
              <a:extLst>
                <a:ext uri="{FF2B5EF4-FFF2-40B4-BE49-F238E27FC236}">
                  <a16:creationId xmlns:a16="http://schemas.microsoft.com/office/drawing/2014/main" id="{B443BC11-6CD8-93A3-9CAD-ED23FA535DD1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CDC53BB1-745C-28C9-2C0E-D684A1D58F55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EDF613AB-BC81-FE68-9EB4-CB6A8217F91D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1E5A1D11-8016-FA22-5DDF-98EDEFD49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24" name="圖形 23" descr="原子 以實心填滿">
              <a:extLst>
                <a:ext uri="{FF2B5EF4-FFF2-40B4-BE49-F238E27FC236}">
                  <a16:creationId xmlns:a16="http://schemas.microsoft.com/office/drawing/2014/main" id="{45DF5554-C31D-8B87-5ED6-038581B276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8" name="標題 1">
            <a:extLst>
              <a:ext uri="{FF2B5EF4-FFF2-40B4-BE49-F238E27FC236}">
                <a16:creationId xmlns:a16="http://schemas.microsoft.com/office/drawing/2014/main" id="{D3E7AE70-36F7-0237-B3F5-AF84E381DE6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Retrieval Augmented Generation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Leverages local knowledge to minimize hallucinations and deliver up-to-date, accurate responses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6C34D94-78AE-3E9A-A03A-2EAA9BA28BBD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DCF40326-B2CE-D08E-6915-55182B1D1102}"/>
              </a:ext>
            </a:extLst>
          </p:cNvPr>
          <p:cNvCxnSpPr>
            <a:cxnSpLocks/>
            <a:stCxn id="31" idx="0"/>
            <a:endCxn id="29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圖形 35" descr="科學思想 以實心填滿">
            <a:extLst>
              <a:ext uri="{FF2B5EF4-FFF2-40B4-BE49-F238E27FC236}">
                <a16:creationId xmlns:a16="http://schemas.microsoft.com/office/drawing/2014/main" id="{B10E28A7-5412-D77E-9E72-7F85025582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96AE5189-1D58-2977-92E3-469181F4EBF7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pic>
        <p:nvPicPr>
          <p:cNvPr id="61" name="圖形 60" descr="夾紙板 (徽章) 以實心填滿">
            <a:extLst>
              <a:ext uri="{FF2B5EF4-FFF2-40B4-BE49-F238E27FC236}">
                <a16:creationId xmlns:a16="http://schemas.microsoft.com/office/drawing/2014/main" id="{F0D1E6B5-1FFE-B5E9-19AE-C43372F1C0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82472" y="2023366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64" name="矩形: 圓角 63">
            <a:extLst>
              <a:ext uri="{FF2B5EF4-FFF2-40B4-BE49-F238E27FC236}">
                <a16:creationId xmlns:a16="http://schemas.microsoft.com/office/drawing/2014/main" id="{E02B4FDE-B67A-A175-1B5A-E695E67035FD}"/>
              </a:ext>
            </a:extLst>
          </p:cNvPr>
          <p:cNvSpPr/>
          <p:nvPr/>
        </p:nvSpPr>
        <p:spPr>
          <a:xfrm>
            <a:off x="6403176" y="1979901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V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8D48FECB-9789-4CFA-A699-CBD35DC82CE6}"/>
              </a:ext>
            </a:extLst>
          </p:cNvPr>
          <p:cNvCxnSpPr>
            <a:cxnSpLocks/>
            <a:stCxn id="61" idx="1"/>
            <a:endCxn id="64" idx="3"/>
          </p:cNvCxnSpPr>
          <p:nvPr/>
        </p:nvCxnSpPr>
        <p:spPr>
          <a:xfrm flipH="1">
            <a:off x="7416633" y="2220320"/>
            <a:ext cx="665839" cy="18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: 圓角 67">
            <a:extLst>
              <a:ext uri="{FF2B5EF4-FFF2-40B4-BE49-F238E27FC236}">
                <a16:creationId xmlns:a16="http://schemas.microsoft.com/office/drawing/2014/main" id="{1274870D-ED0F-57B5-50E7-8CF0BCE4633D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9" name="直線單箭頭接點 68">
            <a:extLst>
              <a:ext uri="{FF2B5EF4-FFF2-40B4-BE49-F238E27FC236}">
                <a16:creationId xmlns:a16="http://schemas.microsoft.com/office/drawing/2014/main" id="{1B131FB0-7734-66F3-A446-5F58EF4CC2FD}"/>
              </a:ext>
            </a:extLst>
          </p:cNvPr>
          <p:cNvCxnSpPr>
            <a:cxnSpLocks/>
            <a:stCxn id="64" idx="1"/>
            <a:endCxn id="68" idx="3"/>
          </p:cNvCxnSpPr>
          <p:nvPr/>
        </p:nvCxnSpPr>
        <p:spPr>
          <a:xfrm flipH="1" flipV="1">
            <a:off x="5400930" y="2219159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F6046C92-3712-82D8-0ECA-E8E22AC4717F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4CF3848B-7662-CE06-F590-C873A38CF0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sp>
        <p:nvSpPr>
          <p:cNvPr id="77" name="文字方塊 76">
            <a:extLst>
              <a:ext uri="{FF2B5EF4-FFF2-40B4-BE49-F238E27FC236}">
                <a16:creationId xmlns:a16="http://schemas.microsoft.com/office/drawing/2014/main" id="{64601706-CC3D-6433-8954-5A08DEFB2082}"/>
              </a:ext>
            </a:extLst>
          </p:cNvPr>
          <p:cNvSpPr txBox="1"/>
          <p:nvPr/>
        </p:nvSpPr>
        <p:spPr>
          <a:xfrm>
            <a:off x="7569153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Search</a:t>
            </a:r>
            <a:br>
              <a:rPr lang="en-US" altLang="zh-TW" sz="1000" dirty="0">
                <a:ea typeface="Meiryo" panose="020B0604030504040204" pitchFamily="34" charset="-128"/>
              </a:rPr>
            </a:br>
            <a:r>
              <a:rPr lang="en-US" altLang="zh-TW" sz="1000" dirty="0">
                <a:ea typeface="Meiryo" panose="020B0604030504040204" pitchFamily="34" charset="-128"/>
              </a:rPr>
              <a:t>Enterprise</a:t>
            </a: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07ABF40E-5394-A71C-4FFA-70753EF57586}"/>
              </a:ext>
            </a:extLst>
          </p:cNvPr>
          <p:cNvSpPr txBox="1"/>
          <p:nvPr/>
        </p:nvSpPr>
        <p:spPr>
          <a:xfrm>
            <a:off x="8055312" y="2435667"/>
            <a:ext cx="909176" cy="57692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Base VDB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Pinecone, </a:t>
            </a:r>
            <a:r>
              <a:rPr lang="en-US" altLang="zh-TW" sz="1000" u="none" strike="noStrike" dirty="0">
                <a:effectLst/>
              </a:rPr>
              <a:t>Milvus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o</a:t>
            </a:r>
            <a:r>
              <a:rPr lang="en-US" altLang="zh-TW" sz="1000" u="none" strike="noStrike" dirty="0">
                <a:effectLst/>
              </a:rPr>
              <a:t>r </a:t>
            </a:r>
            <a:r>
              <a:rPr lang="en-US" altLang="zh-TW" sz="1000" dirty="0"/>
              <a:t>Chroma</a:t>
            </a:r>
            <a:endParaRPr lang="en-US" altLang="zh-TW" sz="1000" u="none" strike="noStrike" dirty="0">
              <a:effectLst/>
            </a:endParaRPr>
          </a:p>
        </p:txBody>
      </p:sp>
      <p:sp>
        <p:nvSpPr>
          <p:cNvPr id="85" name="矩形: 圓角 84">
            <a:extLst>
              <a:ext uri="{FF2B5EF4-FFF2-40B4-BE49-F238E27FC236}">
                <a16:creationId xmlns:a16="http://schemas.microsoft.com/office/drawing/2014/main" id="{DABC191B-BB7F-306F-F52E-1008BDFB1F67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87" name="右大括弧 86">
            <a:extLst>
              <a:ext uri="{FF2B5EF4-FFF2-40B4-BE49-F238E27FC236}">
                <a16:creationId xmlns:a16="http://schemas.microsoft.com/office/drawing/2014/main" id="{8C8F3851-7089-F31E-32F3-53943C489D62}"/>
              </a:ext>
            </a:extLst>
          </p:cNvPr>
          <p:cNvSpPr/>
          <p:nvPr/>
        </p:nvSpPr>
        <p:spPr>
          <a:xfrm rot="5400000">
            <a:off x="6589056" y="1284486"/>
            <a:ext cx="155951" cy="2600274"/>
          </a:xfrm>
          <a:prstGeom prst="rightBrace">
            <a:avLst/>
          </a:prstGeom>
          <a:ln w="1270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BE717CBE-C730-BD84-3DD5-94676538066C}"/>
              </a:ext>
            </a:extLst>
          </p:cNvPr>
          <p:cNvSpPr txBox="1"/>
          <p:nvPr/>
        </p:nvSpPr>
        <p:spPr>
          <a:xfrm>
            <a:off x="6424454" y="2667960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ea typeface="Meiryo" panose="020B0604030504040204" pitchFamily="34" charset="-128"/>
              </a:rPr>
              <a:t>RAG</a:t>
            </a:r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AA152E9F-16DB-B89F-097B-B78A8648612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V]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3">
                  <a:lumMod val="50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[50]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3">
                  <a:lumMod val="50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D38BE440-ABD8-7315-849A-ACCD53C42F3A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7B770F63-ED9B-A215-5A54-41A9BE18C861}"/>
              </a:ext>
            </a:extLst>
          </p:cNvPr>
          <p:cNvSpPr txBox="1"/>
          <p:nvPr/>
        </p:nvSpPr>
        <p:spPr>
          <a:xfrm>
            <a:off x="5255536" y="2667958"/>
            <a:ext cx="358640" cy="37133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Naive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RAG</a:t>
            </a:r>
          </a:p>
        </p:txBody>
      </p:sp>
      <p:pic>
        <p:nvPicPr>
          <p:cNvPr id="102" name="圖形 101" descr="夾紙板 (徽章) 以實心填滿">
            <a:extLst>
              <a:ext uri="{FF2B5EF4-FFF2-40B4-BE49-F238E27FC236}">
                <a16:creationId xmlns:a16="http://schemas.microsoft.com/office/drawing/2014/main" id="{5D513E2A-9747-3CF5-89B6-FE6821CEFC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77576" y="2656674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86C1EA06-118A-24F8-41AF-8AD48189289E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04" name="矩形: 圓角 103">
            <a:extLst>
              <a:ext uri="{FF2B5EF4-FFF2-40B4-BE49-F238E27FC236}">
                <a16:creationId xmlns:a16="http://schemas.microsoft.com/office/drawing/2014/main" id="{80734412-65B8-67C4-7DBF-92DD40DD8949}"/>
              </a:ext>
            </a:extLst>
          </p:cNvPr>
          <p:cNvSpPr/>
          <p:nvPr/>
        </p:nvSpPr>
        <p:spPr>
          <a:xfrm>
            <a:off x="6403176" y="3281883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Tool-Based</a:t>
            </a:r>
          </a:p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RAG Server</a:t>
            </a:r>
            <a:endParaRPr lang="zh-TW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6A401393-F59E-2187-4B82-2640D4FEB776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6" name="直線單箭頭接點 105">
            <a:extLst>
              <a:ext uri="{FF2B5EF4-FFF2-40B4-BE49-F238E27FC236}">
                <a16:creationId xmlns:a16="http://schemas.microsoft.com/office/drawing/2014/main" id="{A08049F4-F820-212A-4F92-FA8926031A74}"/>
              </a:ext>
            </a:extLst>
          </p:cNvPr>
          <p:cNvCxnSpPr>
            <a:cxnSpLocks/>
            <a:stCxn id="104" idx="1"/>
            <a:endCxn id="105" idx="3"/>
          </p:cNvCxnSpPr>
          <p:nvPr/>
        </p:nvCxnSpPr>
        <p:spPr>
          <a:xfrm flipH="1" flipV="1">
            <a:off x="5400930" y="3521141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1C9D6A22-5EDD-E6B8-8849-0FC406938CD9}"/>
              </a:ext>
            </a:extLst>
          </p:cNvPr>
          <p:cNvSpPr txBox="1"/>
          <p:nvPr/>
        </p:nvSpPr>
        <p:spPr>
          <a:xfrm>
            <a:off x="5651487" y="3373796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108" name="圖形 107" descr="伺服器 外框">
            <a:extLst>
              <a:ext uri="{FF2B5EF4-FFF2-40B4-BE49-F238E27FC236}">
                <a16:creationId xmlns:a16="http://schemas.microsoft.com/office/drawing/2014/main" id="{0AC1D560-71AD-50F5-B095-EE49B84459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25348"/>
            <a:ext cx="379782" cy="379782"/>
          </a:xfrm>
          <a:prstGeom prst="rect">
            <a:avLst/>
          </a:prstGeom>
        </p:spPr>
      </p:pic>
      <p:pic>
        <p:nvPicPr>
          <p:cNvPr id="113" name="圖形 112" descr="放大鏡 以實心填滿">
            <a:extLst>
              <a:ext uri="{FF2B5EF4-FFF2-40B4-BE49-F238E27FC236}">
                <a16:creationId xmlns:a16="http://schemas.microsoft.com/office/drawing/2014/main" id="{1A4AB714-5ECE-1DEE-08CC-F4B5870CCC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flipH="1">
            <a:off x="7255389" y="3357850"/>
            <a:ext cx="429694" cy="421999"/>
          </a:xfrm>
          <a:prstGeom prst="rect">
            <a:avLst/>
          </a:prstGeom>
          <a:effectLst>
            <a:glow rad="127000">
              <a:schemeClr val="accent3">
                <a:lumMod val="20000"/>
                <a:lumOff val="80000"/>
                <a:alpha val="40000"/>
              </a:schemeClr>
            </a:glow>
          </a:effectLst>
        </p:spPr>
      </p:pic>
      <p:sp>
        <p:nvSpPr>
          <p:cNvPr id="33" name="文字方塊 32">
            <a:extLst>
              <a:ext uri="{FF2B5EF4-FFF2-40B4-BE49-F238E27FC236}">
                <a16:creationId xmlns:a16="http://schemas.microsoft.com/office/drawing/2014/main" id="{A8D36140-84C1-5298-9B8F-805E9887A308}"/>
              </a:ext>
            </a:extLst>
          </p:cNvPr>
          <p:cNvSpPr txBox="1"/>
          <p:nvPr/>
        </p:nvSpPr>
        <p:spPr>
          <a:xfrm>
            <a:off x="2524583" y="3003260"/>
            <a:ext cx="633503" cy="19542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“$50“</a:t>
            </a:r>
          </a:p>
        </p:txBody>
      </p:sp>
      <p:graphicFrame>
        <p:nvGraphicFramePr>
          <p:cNvPr id="35" name="表格 34">
            <a:extLst>
              <a:ext uri="{FF2B5EF4-FFF2-40B4-BE49-F238E27FC236}">
                <a16:creationId xmlns:a16="http://schemas.microsoft.com/office/drawing/2014/main" id="{DA50BB60-897A-3903-6631-883B14DA4B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9621121"/>
              </p:ext>
            </p:extLst>
          </p:nvPr>
        </p:nvGraphicFramePr>
        <p:xfrm>
          <a:off x="6444208" y="3855864"/>
          <a:ext cx="2540034" cy="8640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1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3031015462"/>
                    </a:ext>
                  </a:extLst>
                </a:gridCol>
              </a:tblGrid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Vanilla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Rapid context retrieval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Graph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Global document insights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 Wiki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 Asset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sp>
        <p:nvSpPr>
          <p:cNvPr id="38" name="語音泡泡: 圓角矩形 37">
            <a:extLst>
              <a:ext uri="{FF2B5EF4-FFF2-40B4-BE49-F238E27FC236}">
                <a16:creationId xmlns:a16="http://schemas.microsoft.com/office/drawing/2014/main" id="{4F6A7D48-72EC-C32D-C277-18BB4F94051E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 money left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 the account?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27" name="語音泡泡: 圓角矩形 26">
            <a:extLst>
              <a:ext uri="{FF2B5EF4-FFF2-40B4-BE49-F238E27FC236}">
                <a16:creationId xmlns:a16="http://schemas.microsoft.com/office/drawing/2014/main" id="{6792054B-7EBC-6463-8733-4439C8EEAA86}"/>
              </a:ext>
            </a:extLst>
          </p:cNvPr>
          <p:cNvSpPr/>
          <p:nvPr/>
        </p:nvSpPr>
        <p:spPr>
          <a:xfrm>
            <a:off x="2051720" y="3284984"/>
            <a:ext cx="1155493" cy="568803"/>
          </a:xfrm>
          <a:prstGeom prst="wedgeRoundRectCallout">
            <a:avLst>
              <a:gd name="adj1" fmla="val -62522"/>
              <a:gd name="adj2" fmla="val -52287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Almost nothing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- </a:t>
            </a:r>
            <a:r>
              <a:rPr lang="en-US" altLang="zh-TW" sz="1200" dirty="0">
                <a:ln w="0"/>
                <a:solidFill>
                  <a:srgbClr val="FF0000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Calm down!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2B812E67-743B-F13D-2FC6-D1A10ED6204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flipH="1">
            <a:off x="6516216" y="4751084"/>
            <a:ext cx="406453" cy="382591"/>
          </a:xfrm>
          <a:prstGeom prst="rect">
            <a:avLst/>
          </a:prstGeom>
          <a:effectLst>
            <a:glow rad="25400">
              <a:schemeClr val="accent4">
                <a:lumMod val="60000"/>
                <a:lumOff val="40000"/>
                <a:alpha val="40000"/>
              </a:schemeClr>
            </a:glow>
            <a:softEdge rad="31750"/>
          </a:effectLst>
        </p:spPr>
      </p:pic>
    </p:spTree>
    <p:extLst>
      <p:ext uri="{BB962C8B-B14F-4D97-AF65-F5344CB8AC3E}">
        <p14:creationId xmlns:p14="http://schemas.microsoft.com/office/powerpoint/2010/main" val="592815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030CBCA-E06F-157F-31ED-053E755AD007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Small Language Model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AI Environment is subject to SLM, SFT Framework, Agents and  AI Orchestrator. </a:t>
            </a:r>
          </a:p>
        </p:txBody>
      </p:sp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1F029804-8A4D-A1F0-D8D0-ECDF117CAE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601315"/>
              </p:ext>
            </p:extLst>
          </p:nvPr>
        </p:nvGraphicFramePr>
        <p:xfrm>
          <a:off x="4067942" y="1868362"/>
          <a:ext cx="2160242" cy="8034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503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2882">
                  <a:extLst>
                    <a:ext uri="{9D8B030D-6E8A-4147-A177-3AD203B41FA5}">
                      <a16:colId xmlns:a16="http://schemas.microsoft.com/office/drawing/2014/main" val="1426263881"/>
                    </a:ext>
                  </a:extLst>
                </a:gridCol>
                <a:gridCol w="438197">
                  <a:extLst>
                    <a:ext uri="{9D8B030D-6E8A-4147-A177-3AD203B41FA5}">
                      <a16:colId xmlns:a16="http://schemas.microsoft.com/office/drawing/2014/main" val="1549907192"/>
                    </a:ext>
                  </a:extLst>
                </a:gridCol>
                <a:gridCol w="619864">
                  <a:extLst>
                    <a:ext uri="{9D8B030D-6E8A-4147-A177-3AD203B41FA5}">
                      <a16:colId xmlns:a16="http://schemas.microsoft.com/office/drawing/2014/main" val="2139872543"/>
                    </a:ext>
                  </a:extLst>
                </a:gridCol>
                <a:gridCol w="210199">
                  <a:extLst>
                    <a:ext uri="{9D8B030D-6E8A-4147-A177-3AD203B41FA5}">
                      <a16:colId xmlns:a16="http://schemas.microsoft.com/office/drawing/2014/main" val="636054194"/>
                    </a:ext>
                  </a:extLst>
                </a:gridCol>
                <a:gridCol w="210199">
                  <a:extLst>
                    <a:ext uri="{9D8B030D-6E8A-4147-A177-3AD203B41FA5}">
                      <a16:colId xmlns:a16="http://schemas.microsoft.com/office/drawing/2014/main" val="1872490353"/>
                    </a:ext>
                  </a:extLst>
                </a:gridCol>
                <a:gridCol w="210199">
                  <a:extLst>
                    <a:ext uri="{9D8B030D-6E8A-4147-A177-3AD203B41FA5}">
                      <a16:colId xmlns:a16="http://schemas.microsoft.com/office/drawing/2014/main" val="68804775"/>
                    </a:ext>
                  </a:extLst>
                </a:gridCol>
                <a:gridCol w="210199">
                  <a:extLst>
                    <a:ext uri="{9D8B030D-6E8A-4147-A177-3AD203B41FA5}">
                      <a16:colId xmlns:a16="http://schemas.microsoft.com/office/drawing/2014/main" val="3091919611"/>
                    </a:ext>
                  </a:extLst>
                </a:gridCol>
              </a:tblGrid>
              <a:tr h="432047">
                <a:tc gridSpan="8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</a:t>
                      </a:r>
                      <a:r>
                        <a:rPr kumimoji="0" lang="zh-TW" alt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Agents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7143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Claw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Hermes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55FA761B-B1C0-6E26-1F64-397B428139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8531327"/>
              </p:ext>
            </p:extLst>
          </p:nvPr>
        </p:nvGraphicFramePr>
        <p:xfrm>
          <a:off x="6752510" y="1966322"/>
          <a:ext cx="1733619" cy="6526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361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868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 Orchestrator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907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LangChain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CrewAI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907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Dify, n8n, Zapier 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pic>
        <p:nvPicPr>
          <p:cNvPr id="31" name="圖片 30">
            <a:extLst>
              <a:ext uri="{FF2B5EF4-FFF2-40B4-BE49-F238E27FC236}">
                <a16:creationId xmlns:a16="http://schemas.microsoft.com/office/drawing/2014/main" id="{A9399B61-E00C-FA21-7965-FEFD7381A6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6818" y="1369565"/>
            <a:ext cx="47006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pic>
        <p:nvPicPr>
          <p:cNvPr id="33" name="圖片 32">
            <a:extLst>
              <a:ext uri="{FF2B5EF4-FFF2-40B4-BE49-F238E27FC236}">
                <a16:creationId xmlns:a16="http://schemas.microsoft.com/office/drawing/2014/main" id="{F4258470-55CC-CEEB-1BAA-592F11ADCF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3963" y="1369565"/>
            <a:ext cx="47006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B73E7E98-C231-18BC-581C-CBCCC80F73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8184" y="1654254"/>
            <a:ext cx="634319" cy="334586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E1C2A8E9-389D-2F9D-3C7D-8D935635C3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59527" y="1703911"/>
            <a:ext cx="781627" cy="235272"/>
          </a:xfrm>
          <a:prstGeom prst="rect">
            <a:avLst/>
          </a:prstGeom>
        </p:spPr>
      </p:pic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210FCA04-BC42-C146-9ED5-553692E1CEB3}"/>
              </a:ext>
            </a:extLst>
          </p:cNvPr>
          <p:cNvGraphicFramePr>
            <a:graphicFrameLocks noGrp="1"/>
          </p:cNvGraphicFramePr>
          <p:nvPr/>
        </p:nvGraphicFramePr>
        <p:xfrm>
          <a:off x="-1076325" y="4810125"/>
          <a:ext cx="208280" cy="365760"/>
        </p:xfrm>
        <a:graphic>
          <a:graphicData uri="http://schemas.openxmlformats.org/drawingml/2006/table">
            <a:tbl>
              <a:tblPr/>
              <a:tblGrid>
                <a:gridCol w="208280">
                  <a:extLst>
                    <a:ext uri="{9D8B030D-6E8A-4147-A177-3AD203B41FA5}">
                      <a16:colId xmlns:a16="http://schemas.microsoft.com/office/drawing/2014/main" val="532732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>
                    <a:lnL w="3175" cmpd="sng">
                      <a:solidFill>
                        <a:schemeClr val="bg1"/>
                      </a:solidFill>
                      <a:prstDash val="solid"/>
                    </a:lnL>
                    <a:lnR w="3175" cmpd="sng">
                      <a:solidFill>
                        <a:schemeClr val="bg1"/>
                      </a:solidFill>
                      <a:prstDash val="solid"/>
                    </a:lnR>
                    <a:lnT w="3175" cmpd="sng">
                      <a:solidFill>
                        <a:schemeClr val="bg1"/>
                      </a:solidFill>
                      <a:prstDash val="solid"/>
                    </a:lnT>
                    <a:lnB w="3175" cmpd="sng">
                      <a:solidFill>
                        <a:schemeClr val="bg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5380650"/>
                  </a:ext>
                </a:extLst>
              </a:tr>
            </a:tbl>
          </a:graphicData>
        </a:graphic>
      </p:graphicFrame>
      <p:pic>
        <p:nvPicPr>
          <p:cNvPr id="15" name="圖片 14">
            <a:extLst>
              <a:ext uri="{FF2B5EF4-FFF2-40B4-BE49-F238E27FC236}">
                <a16:creationId xmlns:a16="http://schemas.microsoft.com/office/drawing/2014/main" id="{439D466C-08F0-8E9C-AC89-EAFD529E20B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72180" y="1654254"/>
            <a:ext cx="360260" cy="334586"/>
          </a:xfrm>
          <a:prstGeom prst="rect">
            <a:avLst/>
          </a:prstGeom>
        </p:spPr>
      </p:pic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07582075-B8F6-F21C-A8E2-79D5FC4574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1608265"/>
              </p:ext>
            </p:extLst>
          </p:nvPr>
        </p:nvGraphicFramePr>
        <p:xfrm>
          <a:off x="966048" y="2253325"/>
          <a:ext cx="1061061" cy="21550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106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4643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7656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7656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rgbClr val="FF0000"/>
                          </a:solidFill>
                          <a:effectLst/>
                        </a:rPr>
                        <a:t>Gemma 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7656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7656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704120"/>
                  </a:ext>
                </a:extLst>
              </a:tr>
              <a:tr h="17656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4733770"/>
                  </a:ext>
                </a:extLst>
              </a:tr>
              <a:tr h="17492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810333"/>
                  </a:ext>
                </a:extLst>
              </a:tr>
              <a:tr h="26264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5996678"/>
                  </a:ext>
                </a:extLst>
              </a:tr>
              <a:tr h="18164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LLaMA-Factory</a:t>
                      </a:r>
                      <a:endParaRPr kumimoji="0" lang="zh-TW" altLang="en-US" sz="1200" b="1" i="0" u="none" strike="noStrike" kern="1200" cap="none" spc="0" normalizeH="0" baseline="0" noProof="0" dirty="0">
                        <a:ln w="0"/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5995690"/>
                  </a:ext>
                </a:extLst>
              </a:tr>
              <a:tr h="18164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Axolotl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4630837"/>
                  </a:ext>
                </a:extLst>
              </a:tr>
              <a:tr h="18164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Unsloth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6415898"/>
                  </a:ext>
                </a:extLst>
              </a:tr>
            </a:tbl>
          </a:graphicData>
        </a:graphic>
      </p:graphicFrame>
      <p:sp>
        <p:nvSpPr>
          <p:cNvPr id="24" name="文字方塊 23">
            <a:extLst>
              <a:ext uri="{FF2B5EF4-FFF2-40B4-BE49-F238E27FC236}">
                <a16:creationId xmlns:a16="http://schemas.microsoft.com/office/drawing/2014/main" id="{69C780C3-624C-359F-C75B-6C9EAFC58A69}"/>
              </a:ext>
            </a:extLst>
          </p:cNvPr>
          <p:cNvSpPr txBox="1"/>
          <p:nvPr/>
        </p:nvSpPr>
        <p:spPr>
          <a:xfrm>
            <a:off x="213023" y="5048016"/>
            <a:ext cx="87514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Buildup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Infra</a:t>
            </a:r>
            <a:r>
              <a:rPr lang="en-US" altLang="zh-TW" sz="1600" b="1" dirty="0"/>
              <a:t>structure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b="0" u="none" strike="noStrike" dirty="0">
                <a:effectLst/>
              </a:rPr>
              <a:t>GPU, </a:t>
            </a:r>
            <a:r>
              <a:rPr lang="en-US" altLang="zh-TW" sz="1600" dirty="0"/>
              <a:t>Python, and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base model </a:t>
            </a:r>
            <a:r>
              <a:rPr lang="en-US" altLang="zh-TW" sz="1600" dirty="0"/>
              <a:t>(GGUF) deployment by Ollama.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Design Architecture</a:t>
            </a:r>
            <a:r>
              <a:rPr lang="en-US" altLang="zh-TW" sz="1600" dirty="0"/>
              <a:t>:</a:t>
            </a:r>
            <a:r>
              <a:rPr lang="zh-TW" altLang="en-US" sz="1600" dirty="0"/>
              <a:t> </a:t>
            </a:r>
            <a:r>
              <a:rPr lang="en-US" altLang="zh-TW" sz="1600" dirty="0"/>
              <a:t>Agent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orchestrator</a:t>
            </a:r>
            <a:r>
              <a:rPr lang="en-US" altLang="zh-TW" sz="1600" dirty="0"/>
              <a:t> and some AI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agents</a:t>
            </a:r>
            <a:r>
              <a:rPr lang="en-US" altLang="zh-TW" sz="1600" dirty="0"/>
              <a:t>. (Open Claw / Hermes) 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Fine-Tuning</a:t>
            </a:r>
            <a:r>
              <a:rPr lang="en-US" altLang="zh-TW" sz="1600" dirty="0"/>
              <a:t>:</a:t>
            </a:r>
            <a:r>
              <a:rPr lang="zh-TW" altLang="en-US" sz="1600" dirty="0"/>
              <a:t> </a:t>
            </a:r>
            <a:r>
              <a:rPr lang="en-US" altLang="zh-TW" sz="1600" dirty="0"/>
              <a:t>Run SFT.py to update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QLoRA</a:t>
            </a:r>
            <a:r>
              <a:rPr lang="en-US" altLang="zh-TW" sz="1600" dirty="0"/>
              <a:t> adapter weights, then save merged model into GGUF. </a:t>
            </a:r>
          </a:p>
        </p:txBody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05AAAC09-6243-904E-B0BB-2CB1EB349C59}"/>
              </a:ext>
            </a:extLst>
          </p:cNvPr>
          <p:cNvSpPr/>
          <p:nvPr/>
        </p:nvSpPr>
        <p:spPr>
          <a:xfrm>
            <a:off x="2507393" y="3770564"/>
            <a:ext cx="815380" cy="400306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 w="2540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Framework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C10B9AE8-D1E6-4B56-BE7C-1436B062E89F}"/>
              </a:ext>
            </a:extLst>
          </p:cNvPr>
          <p:cNvSpPr txBox="1"/>
          <p:nvPr/>
        </p:nvSpPr>
        <p:spPr>
          <a:xfrm>
            <a:off x="2507393" y="2996952"/>
            <a:ext cx="805937" cy="377045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olid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SLM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(.GGUF)</a:t>
            </a:r>
          </a:p>
        </p:txBody>
      </p:sp>
      <p:sp>
        <p:nvSpPr>
          <p:cNvPr id="32" name="圖說文字: 直線 31">
            <a:extLst>
              <a:ext uri="{FF2B5EF4-FFF2-40B4-BE49-F238E27FC236}">
                <a16:creationId xmlns:a16="http://schemas.microsoft.com/office/drawing/2014/main" id="{C3636D81-AB12-A99A-6E5A-1F225035C3F1}"/>
              </a:ext>
            </a:extLst>
          </p:cNvPr>
          <p:cNvSpPr/>
          <p:nvPr/>
        </p:nvSpPr>
        <p:spPr>
          <a:xfrm flipH="1">
            <a:off x="6661889" y="1605964"/>
            <a:ext cx="1930538" cy="1065884"/>
          </a:xfrm>
          <a:prstGeom prst="borderCallout1">
            <a:avLst>
              <a:gd name="adj1" fmla="val 52923"/>
              <a:gd name="adj2" fmla="val 96722"/>
              <a:gd name="adj3" fmla="val 52799"/>
              <a:gd name="adj4" fmla="val 131288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rIns="0" rtlCol="0" anchor="ctr"/>
          <a:lstStyle/>
          <a:p>
            <a:endParaRPr lang="zh-TW" altLang="en-US" sz="1200" dirty="0">
              <a:solidFill>
                <a:schemeClr val="tx1"/>
              </a:solidFill>
            </a:endParaRPr>
          </a:p>
        </p:txBody>
      </p:sp>
      <p:cxnSp>
        <p:nvCxnSpPr>
          <p:cNvPr id="34" name="直線單箭頭接點 33">
            <a:extLst>
              <a:ext uri="{FF2B5EF4-FFF2-40B4-BE49-F238E27FC236}">
                <a16:creationId xmlns:a16="http://schemas.microsoft.com/office/drawing/2014/main" id="{65AA6843-DD4C-3853-E9EF-7E01BFE82BFB}"/>
              </a:ext>
            </a:extLst>
          </p:cNvPr>
          <p:cNvCxnSpPr>
            <a:cxnSpLocks/>
            <a:stCxn id="29" idx="3"/>
          </p:cNvCxnSpPr>
          <p:nvPr/>
        </p:nvCxnSpPr>
        <p:spPr>
          <a:xfrm flipV="1">
            <a:off x="3313330" y="3185474"/>
            <a:ext cx="753434" cy="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單箭頭接點 40">
            <a:extLst>
              <a:ext uri="{FF2B5EF4-FFF2-40B4-BE49-F238E27FC236}">
                <a16:creationId xmlns:a16="http://schemas.microsoft.com/office/drawing/2014/main" id="{50D3B039-32B3-41BE-226C-8D772D82279A}"/>
              </a:ext>
            </a:extLst>
          </p:cNvPr>
          <p:cNvCxnSpPr>
            <a:cxnSpLocks/>
            <a:stCxn id="25" idx="0"/>
            <a:endCxn id="29" idx="2"/>
          </p:cNvCxnSpPr>
          <p:nvPr/>
        </p:nvCxnSpPr>
        <p:spPr>
          <a:xfrm flipH="1" flipV="1">
            <a:off x="2910362" y="3373997"/>
            <a:ext cx="4721" cy="396567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圖說文字: 直線 44">
            <a:extLst>
              <a:ext uri="{FF2B5EF4-FFF2-40B4-BE49-F238E27FC236}">
                <a16:creationId xmlns:a16="http://schemas.microsoft.com/office/drawing/2014/main" id="{65E28DCF-B83B-ACA4-72D7-450129FDDF62}"/>
              </a:ext>
            </a:extLst>
          </p:cNvPr>
          <p:cNvSpPr/>
          <p:nvPr/>
        </p:nvSpPr>
        <p:spPr>
          <a:xfrm flipH="1">
            <a:off x="933450" y="2189508"/>
            <a:ext cx="1125662" cy="2266401"/>
          </a:xfrm>
          <a:prstGeom prst="borderCallout1">
            <a:avLst>
              <a:gd name="adj1" fmla="val 57186"/>
              <a:gd name="adj2" fmla="val 19046"/>
              <a:gd name="adj3" fmla="val 57222"/>
              <a:gd name="adj4" fmla="val -15534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rIns="0" rtlCol="0" anchor="ctr"/>
          <a:lstStyle/>
          <a:p>
            <a:endParaRPr lang="zh-TW" altLang="en-US" sz="1200" dirty="0">
              <a:solidFill>
                <a:schemeClr val="tx1"/>
              </a:solidFill>
            </a:endParaRP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D4098A93-C42F-CCFC-ED41-D7918E93E7E9}"/>
              </a:ext>
            </a:extLst>
          </p:cNvPr>
          <p:cNvSpPr txBox="1"/>
          <p:nvPr/>
        </p:nvSpPr>
        <p:spPr>
          <a:xfrm>
            <a:off x="3367238" y="2996952"/>
            <a:ext cx="628698" cy="12521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ln w="0"/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ea typeface="新細明體" panose="02020500000000000000" pitchFamily="18" charset="-120"/>
              </a:rPr>
              <a:t>Deploy</a:t>
            </a:r>
            <a:endParaRPr lang="zh-TW" altLang="en-US" sz="12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9DCEA1B-F211-4C67-8EC6-BC680482505C}"/>
              </a:ext>
            </a:extLst>
          </p:cNvPr>
          <p:cNvSpPr txBox="1"/>
          <p:nvPr/>
        </p:nvSpPr>
        <p:spPr>
          <a:xfrm>
            <a:off x="2492817" y="3541826"/>
            <a:ext cx="829956" cy="175206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ln w="0"/>
                <a:latin typeface="Calibri"/>
                <a:ea typeface="新細明體" panose="02020500000000000000" pitchFamily="18" charset="-120"/>
              </a:rPr>
              <a:t>Fine-Tuning</a:t>
            </a:r>
            <a:endParaRPr lang="zh-TW" altLang="en-US" sz="1200" dirty="0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3727E64D-5853-3D6E-FFA3-DE78C931C7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9418315"/>
              </p:ext>
            </p:extLst>
          </p:nvPr>
        </p:nvGraphicFramePr>
        <p:xfrm>
          <a:off x="4066764" y="2678753"/>
          <a:ext cx="2160243" cy="21313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81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720081">
                  <a:extLst>
                    <a:ext uri="{9D8B030D-6E8A-4147-A177-3AD203B41FA5}">
                      <a16:colId xmlns:a16="http://schemas.microsoft.com/office/drawing/2014/main" val="270114478"/>
                    </a:ext>
                  </a:extLst>
                </a:gridCol>
                <a:gridCol w="720081">
                  <a:extLst>
                    <a:ext uri="{9D8B030D-6E8A-4147-A177-3AD203B41FA5}">
                      <a16:colId xmlns:a16="http://schemas.microsoft.com/office/drawing/2014/main" val="1431172380"/>
                    </a:ext>
                  </a:extLst>
                </a:gridCol>
              </a:tblGrid>
              <a:tr h="344141"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31407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740306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Layer</a:t>
                      </a:r>
                    </a:p>
                  </a:txBody>
                  <a:tcPr marL="0" marR="0" marT="72000" marB="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8426438"/>
                  </a:ext>
                </a:extLst>
              </a:tr>
              <a:tr h="732847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Software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Infrastructure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(PyTorch, TensorFlow, CUDA)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</a:tbl>
          </a:graphicData>
        </a:graphic>
      </p:graphicFrame>
      <p:grpSp>
        <p:nvGrpSpPr>
          <p:cNvPr id="4" name="群組 3">
            <a:extLst>
              <a:ext uri="{FF2B5EF4-FFF2-40B4-BE49-F238E27FC236}">
                <a16:creationId xmlns:a16="http://schemas.microsoft.com/office/drawing/2014/main" id="{7B55AA8B-8D7B-3316-D8FF-6D3E2D8B9785}"/>
              </a:ext>
            </a:extLst>
          </p:cNvPr>
          <p:cNvGrpSpPr/>
          <p:nvPr/>
        </p:nvGrpSpPr>
        <p:grpSpPr>
          <a:xfrm>
            <a:off x="251520" y="2430923"/>
            <a:ext cx="487696" cy="566029"/>
            <a:chOff x="307725" y="1194723"/>
            <a:chExt cx="487696" cy="566029"/>
          </a:xfrm>
        </p:grpSpPr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7EAB9C57-35D1-B219-F12E-346B907EEA10}"/>
                </a:ext>
              </a:extLst>
            </p:cNvPr>
            <p:cNvSpPr txBox="1"/>
            <p:nvPr/>
          </p:nvSpPr>
          <p:spPr>
            <a:xfrm>
              <a:off x="307725" y="1513384"/>
              <a:ext cx="487696" cy="247368"/>
            </a:xfrm>
            <a:prstGeom prst="rect">
              <a:avLst/>
            </a:prstGeom>
            <a:solidFill>
              <a:schemeClr val="bg1">
                <a:lumMod val="95000"/>
                <a:alpha val="40000"/>
              </a:schemeClr>
            </a:solidFill>
            <a:ln>
              <a:noFill/>
            </a:ln>
            <a:effectLst>
              <a:glow rad="25400">
                <a:schemeClr val="bg1">
                  <a:lumMod val="95000"/>
                  <a:alpha val="40000"/>
                </a:schemeClr>
              </a:glow>
              <a:softEdge rad="50800"/>
            </a:effectLst>
          </p:spPr>
          <p:txBody>
            <a:bodyPr wrap="none" lIns="0" tIns="0" rIns="0" bIns="0" anchor="ctr" anchorCtr="1">
              <a:noAutofit/>
            </a:bodyPr>
            <a:lstStyle/>
            <a:p>
              <a:r>
                <a:rPr lang="en-US" altLang="zh-TW" sz="1200" dirty="0">
                  <a:ln w="0"/>
                  <a:solidFill>
                    <a:schemeClr val="accent1">
                      <a:lumMod val="7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O</a:t>
              </a:r>
              <a:r>
                <a:rPr lang="en-US" altLang="zh-TW" sz="1200" dirty="0">
                  <a:ln w="0"/>
                  <a:solidFill>
                    <a:schemeClr val="tx1">
                      <a:lumMod val="95000"/>
                      <a:lumOff val="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llama</a:t>
              </a:r>
            </a:p>
          </p:txBody>
        </p:sp>
        <p:pic>
          <p:nvPicPr>
            <p:cNvPr id="27" name="圖片 26">
              <a:extLst>
                <a:ext uri="{FF2B5EF4-FFF2-40B4-BE49-F238E27FC236}">
                  <a16:creationId xmlns:a16="http://schemas.microsoft.com/office/drawing/2014/main" id="{92A0724E-A38F-5195-50B0-C98F2CF9C99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55960" y="1194723"/>
              <a:ext cx="337951" cy="390669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</p:spPr>
        </p:pic>
      </p:grpSp>
      <p:sp>
        <p:nvSpPr>
          <p:cNvPr id="19" name="圖說文字: 直線 18">
            <a:extLst>
              <a:ext uri="{FF2B5EF4-FFF2-40B4-BE49-F238E27FC236}">
                <a16:creationId xmlns:a16="http://schemas.microsoft.com/office/drawing/2014/main" id="{F3DDBCBC-136D-4723-04A0-639E5AB661EC}"/>
              </a:ext>
            </a:extLst>
          </p:cNvPr>
          <p:cNvSpPr/>
          <p:nvPr/>
        </p:nvSpPr>
        <p:spPr>
          <a:xfrm flipH="1">
            <a:off x="899592" y="985412"/>
            <a:ext cx="1800200" cy="843275"/>
          </a:xfrm>
          <a:prstGeom prst="borderCallout1">
            <a:avLst>
              <a:gd name="adj1" fmla="val 70741"/>
              <a:gd name="adj2" fmla="val 1456"/>
              <a:gd name="adj3" fmla="val 221002"/>
              <a:gd name="adj4" fmla="val -44550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rIns="0" rtlCol="0" anchor="ctr"/>
          <a:lstStyle/>
          <a:p>
            <a:endParaRPr lang="zh-TW" altLang="en-US" sz="1200" dirty="0">
              <a:solidFill>
                <a:schemeClr val="tx1"/>
              </a:solidFill>
            </a:endParaRPr>
          </a:p>
        </p:txBody>
      </p:sp>
      <p:graphicFrame>
        <p:nvGraphicFramePr>
          <p:cNvPr id="30" name="表格 29">
            <a:extLst>
              <a:ext uri="{FF2B5EF4-FFF2-40B4-BE49-F238E27FC236}">
                <a16:creationId xmlns:a16="http://schemas.microsoft.com/office/drawing/2014/main" id="{E4151A9C-D3A1-CB45-1B62-CD407A16AA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7634205"/>
              </p:ext>
            </p:extLst>
          </p:nvPr>
        </p:nvGraphicFramePr>
        <p:xfrm>
          <a:off x="927340" y="1030784"/>
          <a:ext cx="1730136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013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3112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Engine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Deploy and inference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473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TensorRT-LLM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473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vLLM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473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llama.cpp / Ollama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</a:tbl>
          </a:graphicData>
        </a:graphic>
      </p:graphicFrame>
      <p:pic>
        <p:nvPicPr>
          <p:cNvPr id="9" name="圖片 8">
            <a:extLst>
              <a:ext uri="{FF2B5EF4-FFF2-40B4-BE49-F238E27FC236}">
                <a16:creationId xmlns:a16="http://schemas.microsoft.com/office/drawing/2014/main" id="{2F6B1389-F01F-C6B3-F829-CB8686614C6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4257" y="1581896"/>
            <a:ext cx="546006" cy="169665"/>
          </a:xfrm>
          <a:prstGeom prst="rect">
            <a:avLst/>
          </a:prstGeom>
        </p:spPr>
      </p:pic>
      <p:sp>
        <p:nvSpPr>
          <p:cNvPr id="16" name="箭號: 向下 15">
            <a:extLst>
              <a:ext uri="{FF2B5EF4-FFF2-40B4-BE49-F238E27FC236}">
                <a16:creationId xmlns:a16="http://schemas.microsoft.com/office/drawing/2014/main" id="{84F8CDE4-0A0D-64C2-77A6-943482019C0F}"/>
              </a:ext>
            </a:extLst>
          </p:cNvPr>
          <p:cNvSpPr/>
          <p:nvPr/>
        </p:nvSpPr>
        <p:spPr>
          <a:xfrm>
            <a:off x="3635896" y="1337604"/>
            <a:ext cx="216022" cy="225052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7" name="接點: 肘形 16">
            <a:extLst>
              <a:ext uri="{FF2B5EF4-FFF2-40B4-BE49-F238E27FC236}">
                <a16:creationId xmlns:a16="http://schemas.microsoft.com/office/drawing/2014/main" id="{14689F3D-DBE4-DF5F-5EB8-33F06DA2FA7C}"/>
              </a:ext>
            </a:extLst>
          </p:cNvPr>
          <p:cNvCxnSpPr>
            <a:cxnSpLocks/>
            <a:stCxn id="16" idx="2"/>
            <a:endCxn id="18" idx="0"/>
          </p:cNvCxnSpPr>
          <p:nvPr/>
        </p:nvCxnSpPr>
        <p:spPr>
          <a:xfrm rot="16200000" flipH="1">
            <a:off x="2700261" y="2606302"/>
            <a:ext cx="3611179" cy="1523886"/>
          </a:xfrm>
          <a:prstGeom prst="bentConnector2">
            <a:avLst/>
          </a:prstGeom>
          <a:ln w="50800">
            <a:solidFill>
              <a:schemeClr val="bg1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箭號: 向下 17">
            <a:extLst>
              <a:ext uri="{FF2B5EF4-FFF2-40B4-BE49-F238E27FC236}">
                <a16:creationId xmlns:a16="http://schemas.microsoft.com/office/drawing/2014/main" id="{6C9FD44F-04D9-3F95-F813-51D04416E86B}"/>
              </a:ext>
            </a:extLst>
          </p:cNvPr>
          <p:cNvSpPr/>
          <p:nvPr/>
        </p:nvSpPr>
        <p:spPr>
          <a:xfrm rot="16200000">
            <a:off x="5272308" y="5061309"/>
            <a:ext cx="216022" cy="225052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21" name="接點: 肘形 20">
            <a:extLst>
              <a:ext uri="{FF2B5EF4-FFF2-40B4-BE49-F238E27FC236}">
                <a16:creationId xmlns:a16="http://schemas.microsoft.com/office/drawing/2014/main" id="{C50F36AF-7F16-7D49-8AC2-602C7B15C956}"/>
              </a:ext>
            </a:extLst>
          </p:cNvPr>
          <p:cNvCxnSpPr>
            <a:cxnSpLocks/>
            <a:stCxn id="18" idx="2"/>
            <a:endCxn id="23" idx="0"/>
          </p:cNvCxnSpPr>
          <p:nvPr/>
        </p:nvCxnSpPr>
        <p:spPr>
          <a:xfrm flipV="1">
            <a:off x="5492845" y="1628538"/>
            <a:ext cx="987368" cy="3545297"/>
          </a:xfrm>
          <a:prstGeom prst="bentConnector2">
            <a:avLst/>
          </a:prstGeom>
          <a:ln w="50800">
            <a:solidFill>
              <a:schemeClr val="bg1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箭號: 向下 22">
            <a:extLst>
              <a:ext uri="{FF2B5EF4-FFF2-40B4-BE49-F238E27FC236}">
                <a16:creationId xmlns:a16="http://schemas.microsoft.com/office/drawing/2014/main" id="{1848B437-317D-DA70-291B-8C1361004598}"/>
              </a:ext>
            </a:extLst>
          </p:cNvPr>
          <p:cNvSpPr/>
          <p:nvPr/>
        </p:nvSpPr>
        <p:spPr>
          <a:xfrm rot="10800000">
            <a:off x="6372202" y="1403486"/>
            <a:ext cx="216022" cy="225052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33272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DE853544-DBA0-E3DB-54BF-4BDC27EE2E9F}"/>
              </a:ext>
            </a:extLst>
          </p:cNvPr>
          <p:cNvSpPr txBox="1"/>
          <p:nvPr/>
        </p:nvSpPr>
        <p:spPr>
          <a:xfrm>
            <a:off x="287524" y="4375264"/>
            <a:ext cx="8568952" cy="186204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/>
              <a:t>Key Trends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Data Transition</a:t>
            </a:r>
            <a:r>
              <a:rPr lang="en-US" altLang="zh-TW" sz="1600" b="0" u="none" strike="noStrike" dirty="0">
                <a:effectLst/>
              </a:rPr>
              <a:t>: Shifting from Quantity (raw web) to </a:t>
            </a:r>
            <a:r>
              <a:rPr lang="en-US" altLang="zh-TW" sz="1600" b="0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Quality</a:t>
            </a:r>
            <a:r>
              <a:rPr lang="en-US" altLang="zh-TW" sz="1600" b="0" u="none" strike="noStrike" dirty="0">
                <a:effectLst/>
              </a:rPr>
              <a:t> (curated c</a:t>
            </a:r>
            <a:r>
              <a:rPr lang="en-US" altLang="zh-TW" sz="1600" dirty="0"/>
              <a:t>orpora)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Architecture (MoE)</a:t>
            </a:r>
            <a:r>
              <a:rPr lang="en-US" altLang="zh-TW" sz="1600" dirty="0"/>
              <a:t>: Activating only relevant sub-networks to drastically lower inference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costs</a:t>
            </a:r>
            <a:r>
              <a:rPr lang="en-US" altLang="zh-TW" sz="1600" dirty="0"/>
              <a:t>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Native Modality</a:t>
            </a:r>
            <a:r>
              <a:rPr lang="en-US" altLang="zh-TW" sz="1600" dirty="0"/>
              <a:t>: Integrating real-time voice and video natively for next-gen AI Agents.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Efficient Deployment</a:t>
            </a:r>
            <a:r>
              <a:rPr lang="en-US" altLang="zh-TW" sz="1600" dirty="0"/>
              <a:t>: Embracing Smaller Language Models (SLMs) for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secure</a:t>
            </a:r>
            <a:r>
              <a:rPr lang="en-US" altLang="zh-TW" sz="1600" dirty="0"/>
              <a:t>, on-device AI.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5E04EBFC-4EB4-0EDE-A780-590452CD0E38}"/>
              </a:ext>
            </a:extLst>
          </p:cNvPr>
          <p:cNvGrpSpPr/>
          <p:nvPr/>
        </p:nvGrpSpPr>
        <p:grpSpPr>
          <a:xfrm>
            <a:off x="1058349" y="1193012"/>
            <a:ext cx="2094003" cy="2114742"/>
            <a:chOff x="1011755" y="2851680"/>
            <a:chExt cx="2094003" cy="2114742"/>
          </a:xfrm>
        </p:grpSpPr>
        <p:sp>
          <p:nvSpPr>
            <p:cNvPr id="7" name="弧形 6">
              <a:extLst>
                <a:ext uri="{FF2B5EF4-FFF2-40B4-BE49-F238E27FC236}">
                  <a16:creationId xmlns:a16="http://schemas.microsoft.com/office/drawing/2014/main" id="{ADE78692-DD87-A403-B53B-072E2A6E9BC6}"/>
                </a:ext>
              </a:extLst>
            </p:cNvPr>
            <p:cNvSpPr/>
            <p:nvPr/>
          </p:nvSpPr>
          <p:spPr>
            <a:xfrm>
              <a:off x="1050655" y="2869831"/>
              <a:ext cx="2055103" cy="2096591"/>
            </a:xfrm>
            <a:prstGeom prst="arc">
              <a:avLst>
                <a:gd name="adj1" fmla="val 16400852"/>
                <a:gd name="adj2" fmla="val 12348078"/>
              </a:avLst>
            </a:prstGeom>
            <a:solidFill>
              <a:schemeClr val="accent1">
                <a:lumMod val="20000"/>
                <a:lumOff val="80000"/>
                <a:alpha val="40000"/>
              </a:schemeClr>
            </a:solidFill>
            <a:ln w="25400">
              <a:solidFill>
                <a:schemeClr val="accent1">
                  <a:lumMod val="40000"/>
                  <a:lumOff val="60000"/>
                  <a:alpha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lIns="1097280" tIns="0" rIns="0" bIns="91440" rtlCol="0" anchor="b" anchorCtr="1"/>
            <a:lstStyle/>
            <a:p>
              <a:pPr algn="ctr"/>
              <a:endParaRPr lang="zh-TW" altLang="en-US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" name="雲朵形 8">
              <a:extLst>
                <a:ext uri="{FF2B5EF4-FFF2-40B4-BE49-F238E27FC236}">
                  <a16:creationId xmlns:a16="http://schemas.microsoft.com/office/drawing/2014/main" id="{0D4D7F0B-3B8A-40C4-3859-2BE266019CFB}"/>
                </a:ext>
              </a:extLst>
            </p:cNvPr>
            <p:cNvSpPr/>
            <p:nvPr/>
          </p:nvSpPr>
          <p:spPr>
            <a:xfrm>
              <a:off x="1011755" y="2851680"/>
              <a:ext cx="1400005" cy="818598"/>
            </a:xfrm>
            <a:prstGeom prst="cloud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0933DF4D-AD42-441A-13FF-5E50431F984F}"/>
                </a:ext>
              </a:extLst>
            </p:cNvPr>
            <p:cNvSpPr txBox="1"/>
            <p:nvPr/>
          </p:nvSpPr>
          <p:spPr>
            <a:xfrm>
              <a:off x="1909740" y="4318350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Edge AI</a:t>
              </a:r>
            </a:p>
          </p:txBody>
        </p:sp>
        <p:cxnSp>
          <p:nvCxnSpPr>
            <p:cNvPr id="11" name="直線單箭頭接點 10">
              <a:extLst>
                <a:ext uri="{FF2B5EF4-FFF2-40B4-BE49-F238E27FC236}">
                  <a16:creationId xmlns:a16="http://schemas.microsoft.com/office/drawing/2014/main" id="{61D0780E-0D93-AC04-23AC-5BC70DB675D1}"/>
                </a:ext>
              </a:extLst>
            </p:cNvPr>
            <p:cNvCxnSpPr>
              <a:cxnSpLocks/>
              <a:stCxn id="13" idx="2"/>
              <a:endCxn id="10" idx="0"/>
            </p:cNvCxnSpPr>
            <p:nvPr/>
          </p:nvCxnSpPr>
          <p:spPr>
            <a:xfrm>
              <a:off x="1620496" y="3434549"/>
              <a:ext cx="801564" cy="883801"/>
            </a:xfrm>
            <a:prstGeom prst="straightConnector1">
              <a:avLst/>
            </a:prstGeom>
            <a:ln w="25400">
              <a:solidFill>
                <a:schemeClr val="accent6">
                  <a:alpha val="80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1E98D504-3706-7625-D7D4-1EF4B42EEE93}"/>
                </a:ext>
              </a:extLst>
            </p:cNvPr>
            <p:cNvSpPr txBox="1"/>
            <p:nvPr/>
          </p:nvSpPr>
          <p:spPr>
            <a:xfrm>
              <a:off x="1108176" y="3065217"/>
              <a:ext cx="1024639" cy="369332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Cloud AI</a:t>
              </a:r>
            </a:p>
          </p:txBody>
        </p:sp>
      </p:grpSp>
      <p:sp>
        <p:nvSpPr>
          <p:cNvPr id="8" name="標題 1">
            <a:extLst>
              <a:ext uri="{FF2B5EF4-FFF2-40B4-BE49-F238E27FC236}">
                <a16:creationId xmlns:a16="http://schemas.microsoft.com/office/drawing/2014/main" id="{173EE053-1FAE-538C-ABFD-598B0D03DD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Emerging Trends in AI Systems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From Scale-Driven infrastructure to intelligence at the edge.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BD64A5D-812A-71D3-28E3-739F618DBF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0290827"/>
              </p:ext>
            </p:extLst>
          </p:nvPr>
        </p:nvGraphicFramePr>
        <p:xfrm>
          <a:off x="6012160" y="2204863"/>
          <a:ext cx="2736304" cy="15841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6104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88809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912102">
                  <a:extLst>
                    <a:ext uri="{9D8B030D-6E8A-4147-A177-3AD203B41FA5}">
                      <a16:colId xmlns:a16="http://schemas.microsoft.com/office/drawing/2014/main" val="2975023522"/>
                    </a:ext>
                  </a:extLst>
                </a:gridCol>
              </a:tblGrid>
              <a:tr h="307254">
                <a:tc>
                  <a:txBody>
                    <a:bodyPr/>
                    <a:lstStyle/>
                    <a:p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H/W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NPU/SoC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4745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4~16GB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367670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Power</a:t>
                      </a:r>
                    </a:p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Consumption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MW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(Cooling)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(FAN)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787730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6749B70F-5258-6FA9-79B1-4335864F07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9788904"/>
              </p:ext>
            </p:extLst>
          </p:nvPr>
        </p:nvGraphicFramePr>
        <p:xfrm>
          <a:off x="1865763" y="3095134"/>
          <a:ext cx="2195330" cy="6218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57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 and 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Enabling secure, low-latency, and privacy-first on-device AI.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D203658-CE58-BAA2-6096-1412F79207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5046559"/>
              </p:ext>
            </p:extLst>
          </p:nvPr>
        </p:nvGraphicFramePr>
        <p:xfrm>
          <a:off x="262039" y="2030859"/>
          <a:ext cx="1233671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367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1416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Azure, AWS, GPT,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Code, Grok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pic>
        <p:nvPicPr>
          <p:cNvPr id="16" name="圖形 15" descr="上升趨勢的橫條圖 以實心填滿">
            <a:extLst>
              <a:ext uri="{FF2B5EF4-FFF2-40B4-BE49-F238E27FC236}">
                <a16:creationId xmlns:a16="http://schemas.microsoft.com/office/drawing/2014/main" id="{00E2A0E3-F313-B0E4-4656-A3E57C0C81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64288" y="1772814"/>
            <a:ext cx="432049" cy="432049"/>
          </a:xfrm>
          <a:prstGeom prst="rect">
            <a:avLst/>
          </a:prstGeom>
        </p:spPr>
      </p:pic>
      <p:pic>
        <p:nvPicPr>
          <p:cNvPr id="26" name="圖形 25" descr="細菌 以實心填滿">
            <a:extLst>
              <a:ext uri="{FF2B5EF4-FFF2-40B4-BE49-F238E27FC236}">
                <a16:creationId xmlns:a16="http://schemas.microsoft.com/office/drawing/2014/main" id="{7FB8FBF8-1C70-5BC8-E2E1-86A8F4DD36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42428" y="1365419"/>
            <a:ext cx="431917" cy="413783"/>
          </a:xfrm>
          <a:prstGeom prst="rect">
            <a:avLst/>
          </a:prstGeom>
        </p:spPr>
      </p:pic>
      <p:pic>
        <p:nvPicPr>
          <p:cNvPr id="30" name="圖形 29" descr="聊天 外框">
            <a:extLst>
              <a:ext uri="{FF2B5EF4-FFF2-40B4-BE49-F238E27FC236}">
                <a16:creationId xmlns:a16="http://schemas.microsoft.com/office/drawing/2014/main" id="{420F4A24-C4A0-7481-631F-F979E20E42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00392" y="1767553"/>
            <a:ext cx="432048" cy="437310"/>
          </a:xfrm>
          <a:prstGeom prst="rect">
            <a:avLst/>
          </a:prstGeom>
        </p:spPr>
      </p:pic>
      <p:pic>
        <p:nvPicPr>
          <p:cNvPr id="36" name="圖形 35" descr="火箭 以實心填滿">
            <a:extLst>
              <a:ext uri="{FF2B5EF4-FFF2-40B4-BE49-F238E27FC236}">
                <a16:creationId xmlns:a16="http://schemas.microsoft.com/office/drawing/2014/main" id="{6F139867-337F-D82D-3EDB-17ACEAD4CB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6951680" y="1212288"/>
            <a:ext cx="432049" cy="412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173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流程圖: 合併 49">
            <a:extLst>
              <a:ext uri="{FF2B5EF4-FFF2-40B4-BE49-F238E27FC236}">
                <a16:creationId xmlns:a16="http://schemas.microsoft.com/office/drawing/2014/main" id="{8447D011-EBCC-D1FB-0C69-2143A03943FE}"/>
              </a:ext>
            </a:extLst>
          </p:cNvPr>
          <p:cNvSpPr/>
          <p:nvPr/>
        </p:nvSpPr>
        <p:spPr>
          <a:xfrm>
            <a:off x="4716016" y="4437112"/>
            <a:ext cx="432048" cy="2139202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94A6F720-5FB8-E782-4A1C-29BF54922B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3643606"/>
              </p:ext>
            </p:extLst>
          </p:nvPr>
        </p:nvGraphicFramePr>
        <p:xfrm>
          <a:off x="716896" y="4131303"/>
          <a:ext cx="7704856" cy="23220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120">
                  <a:extLst>
                    <a:ext uri="{9D8B030D-6E8A-4147-A177-3AD203B41FA5}">
                      <a16:colId xmlns:a16="http://schemas.microsoft.com/office/drawing/2014/main" val="4198244561"/>
                    </a:ext>
                  </a:extLst>
                </a:gridCol>
                <a:gridCol w="85703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73197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060818">
                  <a:extLst>
                    <a:ext uri="{9D8B030D-6E8A-4147-A177-3AD203B41FA5}">
                      <a16:colId xmlns:a16="http://schemas.microsoft.com/office/drawing/2014/main" val="3328686525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75258163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94857351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2054525474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1920063261"/>
                    </a:ext>
                  </a:extLst>
                </a:gridCol>
              </a:tblGrid>
              <a:tr h="328084">
                <a:tc rowSpan="2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Number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Language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Window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 consumption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6024">
                <a:tc vMerge="1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1155207"/>
                  </a:ext>
                </a:extLst>
              </a:tr>
              <a:tr h="280563">
                <a:tc rowSpan="2"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Server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82991">
                <a:tc v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MoE,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Diffusion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26B(4B)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439318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327442"/>
                  </a:ext>
                </a:extLst>
              </a:tr>
              <a:tr h="354133">
                <a:tc rowSpan="2"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128k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8B (4.5+3.5)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320920">
                <a:tc vMerge="1">
                  <a:txBody>
                    <a:bodyPr/>
                    <a:lstStyle/>
                    <a:p>
                      <a:pPr algn="l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5B (2.3+2.8)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~2.9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AF135B2E-EEC6-E246-846A-1EF62279E421}"/>
              </a:ext>
            </a:extLst>
          </p:cNvPr>
          <p:cNvSpPr txBox="1"/>
          <p:nvPr/>
        </p:nvSpPr>
        <p:spPr>
          <a:xfrm>
            <a:off x="179511" y="1377042"/>
            <a:ext cx="6470846" cy="1323439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Gemma 3: </a:t>
            </a:r>
            <a:r>
              <a:rPr lang="en-US" altLang="zh-TW" sz="1600" dirty="0"/>
              <a:t>Multimodal, multilingual 140+ and single chip.</a:t>
            </a:r>
            <a:endParaRPr lang="en-US" altLang="zh-TW" sz="1600" b="1" dirty="0"/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Gemma 4: </a:t>
            </a:r>
            <a:r>
              <a:rPr lang="en-US" altLang="zh-TW" sz="1600" dirty="0"/>
              <a:t>Native Multimodal, Apache 2.0, CoT,  &lt;|think|&gt;, multi-token prediction</a:t>
            </a:r>
            <a:r>
              <a:rPr lang="zh-TW" altLang="en-US" sz="1600" dirty="0"/>
              <a:t> </a:t>
            </a:r>
            <a:r>
              <a:rPr lang="en-US" altLang="zh-TW" sz="1600" dirty="0"/>
              <a:t>(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MTP</a:t>
            </a:r>
            <a:r>
              <a:rPr lang="en-US" altLang="zh-TW" sz="1600" dirty="0"/>
              <a:t>) and Per Layer Embedding (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PLE</a:t>
            </a:r>
            <a:r>
              <a:rPr lang="en-US" altLang="zh-TW" sz="1600" dirty="0"/>
              <a:t>).</a:t>
            </a:r>
          </a:p>
        </p:txBody>
      </p:sp>
      <p:sp>
        <p:nvSpPr>
          <p:cNvPr id="5" name="標題 1">
            <a:extLst>
              <a:ext uri="{FF2B5EF4-FFF2-40B4-BE49-F238E27FC236}">
                <a16:creationId xmlns:a16="http://schemas.microsoft.com/office/drawing/2014/main" id="{5E6D0E09-6EF5-9848-658D-D41ED80B4BAA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779627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Family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Gemma 4 empowers local devices with autonomous agency.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5" name="圖形 14" descr="伺服器 以實心填滿">
            <a:extLst>
              <a:ext uri="{FF2B5EF4-FFF2-40B4-BE49-F238E27FC236}">
                <a16:creationId xmlns:a16="http://schemas.microsoft.com/office/drawing/2014/main" id="{629E4120-1637-0AAB-6A3B-AB7FEACB71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32025" y="4830909"/>
            <a:ext cx="254275" cy="254275"/>
          </a:xfrm>
          <a:prstGeom prst="rect">
            <a:avLst/>
          </a:prstGeom>
        </p:spPr>
      </p:pic>
      <p:pic>
        <p:nvPicPr>
          <p:cNvPr id="17" name="圖形 16" descr="筆記型電腦 以實心填滿">
            <a:extLst>
              <a:ext uri="{FF2B5EF4-FFF2-40B4-BE49-F238E27FC236}">
                <a16:creationId xmlns:a16="http://schemas.microsoft.com/office/drawing/2014/main" id="{E0B85A7F-5C8E-F628-BF10-ADC5F47E11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38047" y="5517232"/>
            <a:ext cx="245454" cy="245454"/>
          </a:xfrm>
          <a:prstGeom prst="rect">
            <a:avLst/>
          </a:prstGeom>
        </p:spPr>
      </p:pic>
      <p:pic>
        <p:nvPicPr>
          <p:cNvPr id="19" name="圖形 18" descr="電腦 以實心填滿">
            <a:extLst>
              <a:ext uri="{FF2B5EF4-FFF2-40B4-BE49-F238E27FC236}">
                <a16:creationId xmlns:a16="http://schemas.microsoft.com/office/drawing/2014/main" id="{94FDF6EB-1889-FE73-1996-CB12F1E142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01440" y="5208870"/>
            <a:ext cx="315444" cy="315444"/>
          </a:xfrm>
          <a:prstGeom prst="rect">
            <a:avLst/>
          </a:prstGeom>
        </p:spPr>
      </p:pic>
      <p:pic>
        <p:nvPicPr>
          <p:cNvPr id="21" name="圖形 20" descr="智慧型手機 以實心填滿">
            <a:extLst>
              <a:ext uri="{FF2B5EF4-FFF2-40B4-BE49-F238E27FC236}">
                <a16:creationId xmlns:a16="http://schemas.microsoft.com/office/drawing/2014/main" id="{174E9551-9AA7-A945-F67E-E80B80582E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44043" y="5805264"/>
            <a:ext cx="245454" cy="245454"/>
          </a:xfrm>
          <a:prstGeom prst="rect">
            <a:avLst/>
          </a:prstGeom>
        </p:spPr>
      </p:pic>
      <p:pic>
        <p:nvPicPr>
          <p:cNvPr id="23" name="圖形 22" descr="頭戴式耳機 以實心填滿">
            <a:extLst>
              <a:ext uri="{FF2B5EF4-FFF2-40B4-BE49-F238E27FC236}">
                <a16:creationId xmlns:a16="http://schemas.microsoft.com/office/drawing/2014/main" id="{92BA1BF4-2981-0AD1-D22C-7372851B62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6436" y="6093296"/>
            <a:ext cx="245454" cy="245454"/>
          </a:xfrm>
          <a:prstGeom prst="rect">
            <a:avLst/>
          </a:prstGeom>
        </p:spPr>
      </p:pic>
      <p:sp>
        <p:nvSpPr>
          <p:cNvPr id="26" name="雲朵形 25">
            <a:extLst>
              <a:ext uri="{FF2B5EF4-FFF2-40B4-BE49-F238E27FC236}">
                <a16:creationId xmlns:a16="http://schemas.microsoft.com/office/drawing/2014/main" id="{509766CE-DFB7-2679-00B7-E99E3812B74C}"/>
              </a:ext>
            </a:extLst>
          </p:cNvPr>
          <p:cNvSpPr/>
          <p:nvPr/>
        </p:nvSpPr>
        <p:spPr>
          <a:xfrm>
            <a:off x="291675" y="3212976"/>
            <a:ext cx="1400005" cy="654398"/>
          </a:xfrm>
          <a:prstGeom prst="cloud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600" dirty="0">
              <a:solidFill>
                <a:schemeClr val="tx2"/>
              </a:solidFill>
            </a:endParaRP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28016021-6586-F018-2D1F-235DAF68DE53}"/>
              </a:ext>
            </a:extLst>
          </p:cNvPr>
          <p:cNvSpPr txBox="1"/>
          <p:nvPr/>
        </p:nvSpPr>
        <p:spPr>
          <a:xfrm>
            <a:off x="683568" y="4291005"/>
            <a:ext cx="1193834" cy="32323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Gemma 4</a:t>
            </a:r>
          </a:p>
        </p:txBody>
      </p: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2CE94DF6-B418-F3D9-7106-9607209A20C4}"/>
              </a:ext>
            </a:extLst>
          </p:cNvPr>
          <p:cNvCxnSpPr>
            <a:cxnSpLocks/>
            <a:stCxn id="29" idx="2"/>
            <a:endCxn id="27" idx="0"/>
          </p:cNvCxnSpPr>
          <p:nvPr/>
        </p:nvCxnSpPr>
        <p:spPr>
          <a:xfrm>
            <a:off x="981887" y="3726324"/>
            <a:ext cx="298598" cy="564681"/>
          </a:xfrm>
          <a:prstGeom prst="straightConnector1">
            <a:avLst/>
          </a:prstGeom>
          <a:ln w="25400">
            <a:solidFill>
              <a:schemeClr val="accent6">
                <a:alpha val="80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2AE78E0C-913E-773C-0B33-35D2814AA505}"/>
              </a:ext>
            </a:extLst>
          </p:cNvPr>
          <p:cNvSpPr txBox="1"/>
          <p:nvPr/>
        </p:nvSpPr>
        <p:spPr>
          <a:xfrm>
            <a:off x="469567" y="3356992"/>
            <a:ext cx="1024639" cy="3693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Gemini 3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24B0F035-97FD-79C3-C3A0-2E744AC34D19}"/>
              </a:ext>
            </a:extLst>
          </p:cNvPr>
          <p:cNvSpPr/>
          <p:nvPr/>
        </p:nvSpPr>
        <p:spPr>
          <a:xfrm>
            <a:off x="6670406" y="5838875"/>
            <a:ext cx="487445" cy="562041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FD26C871-0A6F-156B-6741-2D1BCEF1AF39}"/>
              </a:ext>
            </a:extLst>
          </p:cNvPr>
          <p:cNvSpPr txBox="1"/>
          <p:nvPr/>
        </p:nvSpPr>
        <p:spPr>
          <a:xfrm>
            <a:off x="7848364" y="44624"/>
            <a:ext cx="1240083" cy="3813095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effectLst/>
              </a:rPr>
              <a:t> Overview</a:t>
            </a:r>
            <a:endParaRPr lang="en-US" altLang="zh-TW" sz="1000" u="none" strike="noStrike" dirty="0">
              <a:effectLst/>
            </a:endParaRPr>
          </a:p>
          <a:p>
            <a:pPr marL="111125" lvl="3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ML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Training Stages</a:t>
            </a:r>
            <a:endParaRPr lang="en-US" altLang="zh-TW" sz="1000" u="none" strike="noStrike" dirty="0">
              <a:effectLst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Transformer</a:t>
            </a:r>
            <a:endParaRPr lang="en-US" altLang="zh-TW" sz="1000" dirty="0"/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Program Flow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Self-Attention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FFN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Embeddings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Position Encoding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MLP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  <a:r>
              <a:rPr lang="en-US" altLang="zh-TW" sz="1000" dirty="0"/>
              <a:t> 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AI Ecosystem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AI Runtime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MCP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RAG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SLM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Emerging Trends </a:t>
            </a:r>
            <a:endParaRPr lang="en-US" altLang="zh-TW" sz="1000" dirty="0">
              <a:solidFill>
                <a:prstClr val="black"/>
              </a:solidFill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zh-TW" altLang="en-US" sz="1000" b="1" dirty="0"/>
              <a:t> </a:t>
            </a:r>
            <a:r>
              <a:rPr lang="en-US" altLang="zh-TW" sz="1000" b="1" dirty="0">
                <a:solidFill>
                  <a:srgbClr val="FF0000"/>
                </a:solidFill>
              </a:rPr>
              <a:t>Gemma Family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Supervised FT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QLoRA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DoRA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Gemma4: PLE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Benchmarking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Conclusion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Building the Agent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Practices</a:t>
            </a:r>
          </a:p>
        </p:txBody>
      </p:sp>
    </p:spTree>
    <p:extLst>
      <p:ext uri="{BB962C8B-B14F-4D97-AF65-F5344CB8AC3E}">
        <p14:creationId xmlns:p14="http://schemas.microsoft.com/office/powerpoint/2010/main" val="3343714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86993-55F6-655D-6F3A-DCF41E0E7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矩形: 圓角 92">
            <a:extLst>
              <a:ext uri="{FF2B5EF4-FFF2-40B4-BE49-F238E27FC236}">
                <a16:creationId xmlns:a16="http://schemas.microsoft.com/office/drawing/2014/main" id="{9BC5D209-CD0F-8B4F-B117-FFBA97F7BB22}"/>
              </a:ext>
            </a:extLst>
          </p:cNvPr>
          <p:cNvSpPr/>
          <p:nvPr/>
        </p:nvSpPr>
        <p:spPr>
          <a:xfrm>
            <a:off x="567640" y="1714074"/>
            <a:ext cx="1219522" cy="1720987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7688924-6F43-FE20-F39C-E0229359FB31}"/>
              </a:ext>
            </a:extLst>
          </p:cNvPr>
          <p:cNvSpPr txBox="1"/>
          <p:nvPr/>
        </p:nvSpPr>
        <p:spPr>
          <a:xfrm>
            <a:off x="635034" y="1793757"/>
            <a:ext cx="1086557" cy="936151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CA709BE2-1656-D0B4-AAC6-15D6C3575E40}"/>
              </a:ext>
            </a:extLst>
          </p:cNvPr>
          <p:cNvSpPr txBox="1"/>
          <p:nvPr/>
        </p:nvSpPr>
        <p:spPr>
          <a:xfrm>
            <a:off x="635034" y="2870996"/>
            <a:ext cx="1086557" cy="487960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1" name="直線單箭頭接點 30">
            <a:extLst>
              <a:ext uri="{FF2B5EF4-FFF2-40B4-BE49-F238E27FC236}">
                <a16:creationId xmlns:a16="http://schemas.microsoft.com/office/drawing/2014/main" id="{942C8466-D1D5-4EF3-2363-E4C21E214E95}"/>
              </a:ext>
            </a:extLst>
          </p:cNvPr>
          <p:cNvCxnSpPr>
            <a:cxnSpLocks/>
            <a:stCxn id="8" idx="0"/>
            <a:endCxn id="137" idx="2"/>
          </p:cNvCxnSpPr>
          <p:nvPr/>
        </p:nvCxnSpPr>
        <p:spPr>
          <a:xfrm flipH="1" flipV="1">
            <a:off x="1177120" y="1513424"/>
            <a:ext cx="1193" cy="28033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C78A0572-1A63-5E70-B09A-4C3D3A0EC38F}"/>
              </a:ext>
            </a:extLst>
          </p:cNvPr>
          <p:cNvCxnSpPr>
            <a:cxnSpLocks/>
            <a:stCxn id="73" idx="0"/>
            <a:endCxn id="29" idx="2"/>
          </p:cNvCxnSpPr>
          <p:nvPr/>
        </p:nvCxnSpPr>
        <p:spPr>
          <a:xfrm flipV="1">
            <a:off x="1177402" y="3358956"/>
            <a:ext cx="911" cy="27479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單箭頭接點 32">
            <a:extLst>
              <a:ext uri="{FF2B5EF4-FFF2-40B4-BE49-F238E27FC236}">
                <a16:creationId xmlns:a16="http://schemas.microsoft.com/office/drawing/2014/main" id="{BED8C8EA-0B18-FE3A-ACAC-8ED247CD33DA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V="1">
            <a:off x="1178313" y="2729908"/>
            <a:ext cx="0" cy="14108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89DFAE5F-76DE-A380-A8BC-634A17D2929C}"/>
              </a:ext>
            </a:extLst>
          </p:cNvPr>
          <p:cNvSpPr txBox="1"/>
          <p:nvPr/>
        </p:nvSpPr>
        <p:spPr>
          <a:xfrm>
            <a:off x="567641" y="3633747"/>
            <a:ext cx="1219522" cy="587341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u="sng" strike="noStrike" kern="1200" spc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altLang="zh-TW" sz="1200" b="1" u="sng" strike="noStrike" kern="1200" spc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Dataset   </a:t>
            </a:r>
            <a:endParaRPr lang="en-US" altLang="zh-TW" sz="1200" u="sng" strike="noStrike" kern="1200" spc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</a:t>
            </a:r>
            <a:r>
              <a:rPr lang="en-US" altLang="zh-TW" sz="1200" u="sng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…</a:t>
            </a: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 </a:t>
            </a:r>
            <a:endParaRPr kumimoji="0" lang="zh-TW" altLang="zh-TW" sz="1200" u="sng" strike="noStrike" kern="1200" cap="none" spc="0" normalizeH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 …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</a:t>
            </a:r>
            <a:endParaRPr kumimoji="0" lang="en-US" altLang="zh-TW" sz="1200" u="sng" strike="noStrike" kern="1200" cap="none" spc="0" normalizeH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17" name="矩形: 圓角 116">
            <a:extLst>
              <a:ext uri="{FF2B5EF4-FFF2-40B4-BE49-F238E27FC236}">
                <a16:creationId xmlns:a16="http://schemas.microsoft.com/office/drawing/2014/main" id="{CBBF751A-4841-643D-D672-6495988B1BA0}"/>
              </a:ext>
            </a:extLst>
          </p:cNvPr>
          <p:cNvSpPr/>
          <p:nvPr/>
        </p:nvSpPr>
        <p:spPr>
          <a:xfrm>
            <a:off x="2471724" y="1704468"/>
            <a:ext cx="1064550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0F5AF795-3B3C-801B-75CE-99F18D920572}"/>
              </a:ext>
            </a:extLst>
          </p:cNvPr>
          <p:cNvSpPr txBox="1"/>
          <p:nvPr/>
        </p:nvSpPr>
        <p:spPr>
          <a:xfrm>
            <a:off x="2539118" y="1768192"/>
            <a:ext cx="931588" cy="37085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4F679991-33F8-2BC7-D7D4-C417EBD90EEA}"/>
              </a:ext>
            </a:extLst>
          </p:cNvPr>
          <p:cNvSpPr txBox="1"/>
          <p:nvPr/>
        </p:nvSpPr>
        <p:spPr>
          <a:xfrm>
            <a:off x="2539118" y="2239634"/>
            <a:ext cx="931587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22" name="直線單箭頭接點 121">
            <a:extLst>
              <a:ext uri="{FF2B5EF4-FFF2-40B4-BE49-F238E27FC236}">
                <a16:creationId xmlns:a16="http://schemas.microsoft.com/office/drawing/2014/main" id="{BBCCED22-9B60-A6F6-30FE-BEE684D117D3}"/>
              </a:ext>
            </a:extLst>
          </p:cNvPr>
          <p:cNvCxnSpPr>
            <a:cxnSpLocks/>
            <a:stCxn id="125" idx="0"/>
            <a:endCxn id="119" idx="2"/>
          </p:cNvCxnSpPr>
          <p:nvPr/>
        </p:nvCxnSpPr>
        <p:spPr>
          <a:xfrm flipH="1" flipV="1">
            <a:off x="3004912" y="2610492"/>
            <a:ext cx="4083" cy="220905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線單箭頭接點 122">
            <a:extLst>
              <a:ext uri="{FF2B5EF4-FFF2-40B4-BE49-F238E27FC236}">
                <a16:creationId xmlns:a16="http://schemas.microsoft.com/office/drawing/2014/main" id="{76B940A6-6BCF-781A-CE7D-374C0654CC82}"/>
              </a:ext>
            </a:extLst>
          </p:cNvPr>
          <p:cNvCxnSpPr>
            <a:cxnSpLocks/>
            <a:stCxn id="119" idx="0"/>
            <a:endCxn id="118" idx="2"/>
          </p:cNvCxnSpPr>
          <p:nvPr/>
        </p:nvCxnSpPr>
        <p:spPr>
          <a:xfrm flipV="1">
            <a:off x="3004912" y="2139050"/>
            <a:ext cx="0" cy="10058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252A4D11-98C1-E2CE-76F9-54E64CE32887}"/>
              </a:ext>
            </a:extLst>
          </p:cNvPr>
          <p:cNvSpPr txBox="1"/>
          <p:nvPr/>
        </p:nvSpPr>
        <p:spPr>
          <a:xfrm>
            <a:off x="2651259" y="2831397"/>
            <a:ext cx="715471" cy="46013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Mentor</a:t>
            </a:r>
          </a:p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Model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3B21D428-399E-48DA-FA3B-F4D2934EFEFE}"/>
              </a:ext>
            </a:extLst>
          </p:cNvPr>
          <p:cNvSpPr txBox="1"/>
          <p:nvPr/>
        </p:nvSpPr>
        <p:spPr>
          <a:xfrm>
            <a:off x="747752" y="1126708"/>
            <a:ext cx="858736" cy="3867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139" name="文字方塊 138">
            <a:extLst>
              <a:ext uri="{FF2B5EF4-FFF2-40B4-BE49-F238E27FC236}">
                <a16:creationId xmlns:a16="http://schemas.microsoft.com/office/drawing/2014/main" id="{D5B44D3B-4241-2BF9-F500-31CADFD0B569}"/>
              </a:ext>
            </a:extLst>
          </p:cNvPr>
          <p:cNvSpPr txBox="1"/>
          <p:nvPr/>
        </p:nvSpPr>
        <p:spPr>
          <a:xfrm>
            <a:off x="2539118" y="1143594"/>
            <a:ext cx="931583" cy="3779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315" name="矩形: 圓角 314">
            <a:extLst>
              <a:ext uri="{FF2B5EF4-FFF2-40B4-BE49-F238E27FC236}">
                <a16:creationId xmlns:a16="http://schemas.microsoft.com/office/drawing/2014/main" id="{FAAA9A43-CE4C-B3F6-E773-87ECFC273B53}"/>
              </a:ext>
            </a:extLst>
          </p:cNvPr>
          <p:cNvSpPr/>
          <p:nvPr/>
        </p:nvSpPr>
        <p:spPr>
          <a:xfrm>
            <a:off x="5793256" y="2470586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6" name="文字方塊 315">
            <a:extLst>
              <a:ext uri="{FF2B5EF4-FFF2-40B4-BE49-F238E27FC236}">
                <a16:creationId xmlns:a16="http://schemas.microsoft.com/office/drawing/2014/main" id="{777D1806-1AC5-A090-0E2F-7F659A74A141}"/>
              </a:ext>
            </a:extLst>
          </p:cNvPr>
          <p:cNvSpPr txBox="1"/>
          <p:nvPr/>
        </p:nvSpPr>
        <p:spPr>
          <a:xfrm>
            <a:off x="5870354" y="2534310"/>
            <a:ext cx="416433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317" name="文字方塊 316">
            <a:extLst>
              <a:ext uri="{FF2B5EF4-FFF2-40B4-BE49-F238E27FC236}">
                <a16:creationId xmlns:a16="http://schemas.microsoft.com/office/drawing/2014/main" id="{B636CD72-4E44-11EE-89CB-634CD940FF09}"/>
              </a:ext>
            </a:extLst>
          </p:cNvPr>
          <p:cNvSpPr txBox="1"/>
          <p:nvPr/>
        </p:nvSpPr>
        <p:spPr>
          <a:xfrm>
            <a:off x="5870354" y="3005752"/>
            <a:ext cx="416433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18" name="直線單箭頭接點 317">
            <a:extLst>
              <a:ext uri="{FF2B5EF4-FFF2-40B4-BE49-F238E27FC236}">
                <a16:creationId xmlns:a16="http://schemas.microsoft.com/office/drawing/2014/main" id="{47BCA9D0-43E0-3E34-1EAB-DAC8C02BE71F}"/>
              </a:ext>
            </a:extLst>
          </p:cNvPr>
          <p:cNvCxnSpPr>
            <a:cxnSpLocks/>
            <a:stCxn id="316" idx="0"/>
            <a:endCxn id="322" idx="2"/>
          </p:cNvCxnSpPr>
          <p:nvPr/>
        </p:nvCxnSpPr>
        <p:spPr>
          <a:xfrm flipH="1" flipV="1">
            <a:off x="6076721" y="2372434"/>
            <a:ext cx="1850" cy="1618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直線單箭頭接點 318">
            <a:extLst>
              <a:ext uri="{FF2B5EF4-FFF2-40B4-BE49-F238E27FC236}">
                <a16:creationId xmlns:a16="http://schemas.microsoft.com/office/drawing/2014/main" id="{5085AE20-60EC-AD40-341B-68DC9CFF1AA3}"/>
              </a:ext>
            </a:extLst>
          </p:cNvPr>
          <p:cNvCxnSpPr>
            <a:cxnSpLocks/>
            <a:stCxn id="321" idx="0"/>
            <a:endCxn id="317" idx="2"/>
          </p:cNvCxnSpPr>
          <p:nvPr/>
        </p:nvCxnSpPr>
        <p:spPr>
          <a:xfrm flipV="1">
            <a:off x="6078570" y="3376610"/>
            <a:ext cx="1" cy="13808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1" name="文字方塊 320">
            <a:extLst>
              <a:ext uri="{FF2B5EF4-FFF2-40B4-BE49-F238E27FC236}">
                <a16:creationId xmlns:a16="http://schemas.microsoft.com/office/drawing/2014/main" id="{6050EABD-57B0-7FFB-D65A-5E5C8A88B497}"/>
              </a:ext>
            </a:extLst>
          </p:cNvPr>
          <p:cNvSpPr txBox="1"/>
          <p:nvPr/>
        </p:nvSpPr>
        <p:spPr>
          <a:xfrm>
            <a:off x="5862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000" b="1" u="sng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Q&amp;A</a:t>
            </a:r>
            <a:endParaRPr lang="en-US" altLang="zh-TW" sz="1000" u="sng" strike="noStrike" kern="1200" spc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(MCQ)</a:t>
            </a:r>
            <a:endParaRPr kumimoji="0" lang="zh-TW" altLang="zh-TW" sz="1000" strike="noStrike" kern="1200" cap="none" spc="0" normalizeH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22" name="文字方塊 321">
            <a:extLst>
              <a:ext uri="{FF2B5EF4-FFF2-40B4-BE49-F238E27FC236}">
                <a16:creationId xmlns:a16="http://schemas.microsoft.com/office/drawing/2014/main" id="{BBB5E49F-166C-829A-96D9-BC04ED271FAF}"/>
              </a:ext>
            </a:extLst>
          </p:cNvPr>
          <p:cNvSpPr txBox="1"/>
          <p:nvPr/>
        </p:nvSpPr>
        <p:spPr>
          <a:xfrm>
            <a:off x="5853249" y="2181676"/>
            <a:ext cx="446943" cy="190758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</p:txBody>
      </p:sp>
      <p:sp>
        <p:nvSpPr>
          <p:cNvPr id="324" name="文字方塊 323">
            <a:extLst>
              <a:ext uri="{FF2B5EF4-FFF2-40B4-BE49-F238E27FC236}">
                <a16:creationId xmlns:a16="http://schemas.microsoft.com/office/drawing/2014/main" id="{D8AF711C-01F8-2383-A166-72304A75F5CF}"/>
              </a:ext>
            </a:extLst>
          </p:cNvPr>
          <p:cNvSpPr txBox="1"/>
          <p:nvPr/>
        </p:nvSpPr>
        <p:spPr>
          <a:xfrm>
            <a:off x="6320394" y="2534310"/>
            <a:ext cx="190225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25" name="文字方塊 324">
            <a:extLst>
              <a:ext uri="{FF2B5EF4-FFF2-40B4-BE49-F238E27FC236}">
                <a16:creationId xmlns:a16="http://schemas.microsoft.com/office/drawing/2014/main" id="{4C6AA02B-3311-B121-FEAD-3A83EEDD19D0}"/>
              </a:ext>
            </a:extLst>
          </p:cNvPr>
          <p:cNvSpPr txBox="1"/>
          <p:nvPr/>
        </p:nvSpPr>
        <p:spPr>
          <a:xfrm>
            <a:off x="6320394" y="3005752"/>
            <a:ext cx="190225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32" name="流程圖: 合併 331">
            <a:extLst>
              <a:ext uri="{FF2B5EF4-FFF2-40B4-BE49-F238E27FC236}">
                <a16:creationId xmlns:a16="http://schemas.microsoft.com/office/drawing/2014/main" id="{BCEAC993-7B03-4603-7D4F-16080ED42D99}"/>
              </a:ext>
            </a:extLst>
          </p:cNvPr>
          <p:cNvSpPr/>
          <p:nvPr/>
        </p:nvSpPr>
        <p:spPr>
          <a:xfrm>
            <a:off x="5174863" y="1303606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VRAM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68" name="矩形: 圓角 367">
            <a:extLst>
              <a:ext uri="{FF2B5EF4-FFF2-40B4-BE49-F238E27FC236}">
                <a16:creationId xmlns:a16="http://schemas.microsoft.com/office/drawing/2014/main" id="{9EA0A467-5651-59AE-9729-2BEAA8CBE8A7}"/>
              </a:ext>
            </a:extLst>
          </p:cNvPr>
          <p:cNvSpPr/>
          <p:nvPr/>
        </p:nvSpPr>
        <p:spPr>
          <a:xfrm>
            <a:off x="6876256" y="2470502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69" name="文字方塊 368">
            <a:extLst>
              <a:ext uri="{FF2B5EF4-FFF2-40B4-BE49-F238E27FC236}">
                <a16:creationId xmlns:a16="http://schemas.microsoft.com/office/drawing/2014/main" id="{C0659B23-491F-B9F4-046F-3D6F8970265F}"/>
              </a:ext>
            </a:extLst>
          </p:cNvPr>
          <p:cNvSpPr txBox="1"/>
          <p:nvPr/>
        </p:nvSpPr>
        <p:spPr>
          <a:xfrm>
            <a:off x="6953354" y="2534226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370" name="文字方塊 369">
            <a:extLst>
              <a:ext uri="{FF2B5EF4-FFF2-40B4-BE49-F238E27FC236}">
                <a16:creationId xmlns:a16="http://schemas.microsoft.com/office/drawing/2014/main" id="{EF22FC26-3919-51CE-75E8-79C3F3E93FDE}"/>
              </a:ext>
            </a:extLst>
          </p:cNvPr>
          <p:cNvSpPr txBox="1"/>
          <p:nvPr/>
        </p:nvSpPr>
        <p:spPr>
          <a:xfrm>
            <a:off x="6953354" y="3005668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71" name="直線單箭頭接點 370">
            <a:extLst>
              <a:ext uri="{FF2B5EF4-FFF2-40B4-BE49-F238E27FC236}">
                <a16:creationId xmlns:a16="http://schemas.microsoft.com/office/drawing/2014/main" id="{DB65FBC4-B58B-615F-380B-357BFECFF890}"/>
              </a:ext>
            </a:extLst>
          </p:cNvPr>
          <p:cNvCxnSpPr>
            <a:cxnSpLocks/>
            <a:stCxn id="369" idx="0"/>
            <a:endCxn id="54" idx="2"/>
          </p:cNvCxnSpPr>
          <p:nvPr/>
        </p:nvCxnSpPr>
        <p:spPr>
          <a:xfrm flipH="1" flipV="1">
            <a:off x="7159721" y="2372434"/>
            <a:ext cx="1850" cy="16179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2" name="直線單箭頭接點 371">
            <a:extLst>
              <a:ext uri="{FF2B5EF4-FFF2-40B4-BE49-F238E27FC236}">
                <a16:creationId xmlns:a16="http://schemas.microsoft.com/office/drawing/2014/main" id="{80417F5D-C68B-59D2-FCA6-5DDA7D38F16F}"/>
              </a:ext>
            </a:extLst>
          </p:cNvPr>
          <p:cNvCxnSpPr>
            <a:cxnSpLocks/>
            <a:stCxn id="373" idx="0"/>
            <a:endCxn id="370" idx="2"/>
          </p:cNvCxnSpPr>
          <p:nvPr/>
        </p:nvCxnSpPr>
        <p:spPr>
          <a:xfrm flipV="1">
            <a:off x="7161570" y="3376526"/>
            <a:ext cx="1" cy="13817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文字方塊 372">
            <a:extLst>
              <a:ext uri="{FF2B5EF4-FFF2-40B4-BE49-F238E27FC236}">
                <a16:creationId xmlns:a16="http://schemas.microsoft.com/office/drawing/2014/main" id="{719E8EC6-A31B-D42A-C145-2ADBE0C744F6}"/>
              </a:ext>
            </a:extLst>
          </p:cNvPr>
          <p:cNvSpPr txBox="1"/>
          <p:nvPr/>
        </p:nvSpPr>
        <p:spPr>
          <a:xfrm>
            <a:off x="6945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000" b="1" u="sng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Q&amp;A</a:t>
            </a:r>
            <a:endParaRPr lang="en-US" altLang="zh-TW" sz="1000" u="sng" strike="noStrike" kern="1200" spc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(MCQ)</a:t>
            </a:r>
            <a:endParaRPr kumimoji="0" lang="zh-TW" altLang="zh-TW" sz="1000" strike="noStrike" kern="1200" cap="none" spc="0" normalizeH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76" name="文字方塊 375">
            <a:extLst>
              <a:ext uri="{FF2B5EF4-FFF2-40B4-BE49-F238E27FC236}">
                <a16:creationId xmlns:a16="http://schemas.microsoft.com/office/drawing/2014/main" id="{26919418-A789-EDA6-86D0-96CC2155BFCB}"/>
              </a:ext>
            </a:extLst>
          </p:cNvPr>
          <p:cNvSpPr txBox="1"/>
          <p:nvPr/>
        </p:nvSpPr>
        <p:spPr>
          <a:xfrm>
            <a:off x="7403394" y="2534226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77" name="文字方塊 376">
            <a:extLst>
              <a:ext uri="{FF2B5EF4-FFF2-40B4-BE49-F238E27FC236}">
                <a16:creationId xmlns:a16="http://schemas.microsoft.com/office/drawing/2014/main" id="{385AF1C9-D14F-F596-B42A-EACBA5A9AD44}"/>
              </a:ext>
            </a:extLst>
          </p:cNvPr>
          <p:cNvSpPr txBox="1"/>
          <p:nvPr/>
        </p:nvSpPr>
        <p:spPr>
          <a:xfrm>
            <a:off x="7403394" y="3005668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79" name="矩形: 圓角 378">
            <a:extLst>
              <a:ext uri="{FF2B5EF4-FFF2-40B4-BE49-F238E27FC236}">
                <a16:creationId xmlns:a16="http://schemas.microsoft.com/office/drawing/2014/main" id="{BCA1F0A1-C78B-4C44-6484-9B782920E7FF}"/>
              </a:ext>
            </a:extLst>
          </p:cNvPr>
          <p:cNvSpPr/>
          <p:nvPr/>
        </p:nvSpPr>
        <p:spPr>
          <a:xfrm>
            <a:off x="484964" y="1607424"/>
            <a:ext cx="1394497" cy="1918598"/>
          </a:xfrm>
          <a:prstGeom prst="roundRect">
            <a:avLst>
              <a:gd name="adj" fmla="val 429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 anchorCtr="1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66B49238-60F6-67AA-9BF6-00D4A655770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Supervised Fine-Tuning</a:t>
            </a:r>
          </a:p>
          <a:p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SFT shapes behavior via structured, high-quality QA pairs, not knowledge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618F6AD0-83FA-9357-73ED-4F671D392F32}"/>
              </a:ext>
            </a:extLst>
          </p:cNvPr>
          <p:cNvSpPr txBox="1"/>
          <p:nvPr/>
        </p:nvSpPr>
        <p:spPr>
          <a:xfrm>
            <a:off x="747752" y="1756903"/>
            <a:ext cx="872480" cy="143886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Optimizer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SGD,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Adam,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*</a:t>
            </a: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AdamW,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Paged AdamW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…</a:t>
            </a:r>
            <a:endParaRPr lang="en-US" altLang="zh-TW" sz="1000" u="none" strike="noStrike" dirty="0"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22" name="標題 1">
            <a:extLst>
              <a:ext uri="{FF2B5EF4-FFF2-40B4-BE49-F238E27FC236}">
                <a16:creationId xmlns:a16="http://schemas.microsoft.com/office/drawing/2014/main" id="{7A53AD3C-F2BB-4EE2-24CD-86C8D28B9CA8}"/>
              </a:ext>
            </a:extLst>
          </p:cNvPr>
          <p:cNvSpPr txBox="1">
            <a:spLocks/>
          </p:cNvSpPr>
          <p:nvPr/>
        </p:nvSpPr>
        <p:spPr>
          <a:xfrm>
            <a:off x="2760419" y="3326392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Distillation</a:t>
            </a:r>
          </a:p>
        </p:txBody>
      </p:sp>
      <p:sp>
        <p:nvSpPr>
          <p:cNvPr id="24" name="流程圖: 合併 23">
            <a:extLst>
              <a:ext uri="{FF2B5EF4-FFF2-40B4-BE49-F238E27FC236}">
                <a16:creationId xmlns:a16="http://schemas.microsoft.com/office/drawing/2014/main" id="{CF8E78C1-A247-3230-83FA-CB76161D9B1F}"/>
              </a:ext>
            </a:extLst>
          </p:cNvPr>
          <p:cNvSpPr/>
          <p:nvPr/>
        </p:nvSpPr>
        <p:spPr>
          <a:xfrm>
            <a:off x="2123728" y="1317518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Time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5" name="標題 1">
            <a:extLst>
              <a:ext uri="{FF2B5EF4-FFF2-40B4-BE49-F238E27FC236}">
                <a16:creationId xmlns:a16="http://schemas.microsoft.com/office/drawing/2014/main" id="{B37A615F-552C-F797-9035-FB5C2D0F26EE}"/>
              </a:ext>
            </a:extLst>
          </p:cNvPr>
          <p:cNvSpPr txBox="1">
            <a:spLocks/>
          </p:cNvSpPr>
          <p:nvPr/>
        </p:nvSpPr>
        <p:spPr>
          <a:xfrm>
            <a:off x="6827284" y="3935370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algn="ctr">
              <a:lnSpc>
                <a:spcPts val="1000"/>
              </a:lnSpc>
              <a:spcBef>
                <a:spcPts val="0"/>
              </a:spcBef>
              <a:defRPr/>
            </a:pPr>
            <a:r>
              <a:rPr lang="en-US" altLang="zh-TW" sz="1200" b="1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PTQ</a:t>
            </a:r>
            <a:br>
              <a:rPr lang="en-US" altLang="zh-TW" sz="10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</a:br>
            <a:r>
              <a:rPr lang="en-US" altLang="zh-TW" sz="10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(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Precision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sp>
        <p:nvSpPr>
          <p:cNvPr id="58" name="標題 1">
            <a:extLst>
              <a:ext uri="{FF2B5EF4-FFF2-40B4-BE49-F238E27FC236}">
                <a16:creationId xmlns:a16="http://schemas.microsoft.com/office/drawing/2014/main" id="{0090CFC2-B2C3-795C-E73F-AE2C84936473}"/>
              </a:ext>
            </a:extLst>
          </p:cNvPr>
          <p:cNvSpPr txBox="1">
            <a:spLocks/>
          </p:cNvSpPr>
          <p:nvPr/>
        </p:nvSpPr>
        <p:spPr>
          <a:xfrm>
            <a:off x="5803721" y="3944782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1000"/>
              </a:lnSpc>
            </a:pPr>
            <a:r>
              <a:rPr lang="en-US" altLang="zh-TW" sz="1200" b="1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PRUNING</a:t>
            </a:r>
          </a:p>
          <a:p>
            <a:pPr lvl="0" algn="ctr">
              <a:lnSpc>
                <a:spcPts val="1000"/>
              </a:lnSpc>
              <a:spcBef>
                <a:spcPts val="0"/>
              </a:spcBef>
              <a:defRPr/>
            </a:pP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(Dimension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sp>
        <p:nvSpPr>
          <p:cNvPr id="16" name="標題 1">
            <a:extLst>
              <a:ext uri="{FF2B5EF4-FFF2-40B4-BE49-F238E27FC236}">
                <a16:creationId xmlns:a16="http://schemas.microsoft.com/office/drawing/2014/main" id="{D7904C49-4BB8-1FF5-995D-DC1BDC65925E}"/>
              </a:ext>
            </a:extLst>
          </p:cNvPr>
          <p:cNvSpPr txBox="1">
            <a:spLocks/>
          </p:cNvSpPr>
          <p:nvPr/>
        </p:nvSpPr>
        <p:spPr>
          <a:xfrm>
            <a:off x="929053" y="4262496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Pre-Training</a:t>
            </a:r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9E691904-0820-18B0-4CA4-0C81702D74D5}"/>
              </a:ext>
            </a:extLst>
          </p:cNvPr>
          <p:cNvSpPr txBox="1"/>
          <p:nvPr/>
        </p:nvSpPr>
        <p:spPr>
          <a:xfrm>
            <a:off x="6936249" y="2181592"/>
            <a:ext cx="446943" cy="190842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</p:txBody>
      </p:sp>
      <p:sp>
        <p:nvSpPr>
          <p:cNvPr id="10" name="標題 1">
            <a:extLst>
              <a:ext uri="{FF2B5EF4-FFF2-40B4-BE49-F238E27FC236}">
                <a16:creationId xmlns:a16="http://schemas.microsoft.com/office/drawing/2014/main" id="{6D8F9B5A-AD42-7F5E-59D3-5A2BC7763CF0}"/>
              </a:ext>
            </a:extLst>
          </p:cNvPr>
          <p:cNvSpPr txBox="1">
            <a:spLocks/>
          </p:cNvSpPr>
          <p:nvPr/>
        </p:nvSpPr>
        <p:spPr>
          <a:xfrm>
            <a:off x="6899462" y="4376830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b="1" dirty="0">
                <a:solidFill>
                  <a:schemeClr val="tx2">
                    <a:lumMod val="50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QAD</a:t>
            </a:r>
          </a:p>
        </p:txBody>
      </p: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958C702D-720A-4007-6D16-2D4BCAC13B6B}"/>
              </a:ext>
            </a:extLst>
          </p:cNvPr>
          <p:cNvCxnSpPr>
            <a:cxnSpLocks/>
            <a:stCxn id="118" idx="0"/>
            <a:endCxn id="139" idx="2"/>
          </p:cNvCxnSpPr>
          <p:nvPr/>
        </p:nvCxnSpPr>
        <p:spPr>
          <a:xfrm flipH="1" flipV="1">
            <a:off x="3004910" y="1521510"/>
            <a:ext cx="2" cy="24668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矩形: 圓角 134">
            <a:extLst>
              <a:ext uri="{FF2B5EF4-FFF2-40B4-BE49-F238E27FC236}">
                <a16:creationId xmlns:a16="http://schemas.microsoft.com/office/drawing/2014/main" id="{EFEB4379-478B-ED90-928C-8ABA214FEFAD}"/>
              </a:ext>
            </a:extLst>
          </p:cNvPr>
          <p:cNvSpPr/>
          <p:nvPr/>
        </p:nvSpPr>
        <p:spPr>
          <a:xfrm>
            <a:off x="2422005" y="1607424"/>
            <a:ext cx="1157348" cy="1121017"/>
          </a:xfrm>
          <a:prstGeom prst="roundRect">
            <a:avLst>
              <a:gd name="adj" fmla="val 429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56AA90C8-F0F4-60D7-CC2D-4ACFC9D0DB57}"/>
              </a:ext>
            </a:extLst>
          </p:cNvPr>
          <p:cNvSpPr txBox="1"/>
          <p:nvPr/>
        </p:nvSpPr>
        <p:spPr>
          <a:xfrm>
            <a:off x="2619400" y="1855569"/>
            <a:ext cx="872480" cy="54809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Layer</a:t>
            </a:r>
            <a:r>
              <a:rPr lang="en-US" altLang="zh-TW" sz="1000" b="1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</a:p>
          <a:p>
            <a:pPr algn="ctr">
              <a:lnSpc>
                <a:spcPts val="1400"/>
              </a:lnSpc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Dimension</a:t>
            </a:r>
            <a:r>
              <a:rPr lang="en-US" altLang="zh-TW" sz="1000" b="1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endParaRPr lang="en-US" altLang="zh-TW" sz="1000" b="1" dirty="0"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038139EC-2911-D766-E9F4-9EC4A47613F0}"/>
              </a:ext>
            </a:extLst>
          </p:cNvPr>
          <p:cNvSpPr/>
          <p:nvPr/>
        </p:nvSpPr>
        <p:spPr>
          <a:xfrm>
            <a:off x="6871636" y="4882671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888D032C-2C1E-12FF-C88A-C93002A64CFF}"/>
              </a:ext>
            </a:extLst>
          </p:cNvPr>
          <p:cNvSpPr txBox="1"/>
          <p:nvPr/>
        </p:nvSpPr>
        <p:spPr>
          <a:xfrm>
            <a:off x="6948734" y="4946395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44886D9A-736F-C281-2F59-B52D321C5207}"/>
              </a:ext>
            </a:extLst>
          </p:cNvPr>
          <p:cNvSpPr txBox="1"/>
          <p:nvPr/>
        </p:nvSpPr>
        <p:spPr>
          <a:xfrm>
            <a:off x="6948734" y="5417837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7858E5B8-E8AC-C548-9D59-288F9AD872C0}"/>
              </a:ext>
            </a:extLst>
          </p:cNvPr>
          <p:cNvCxnSpPr>
            <a:cxnSpLocks/>
            <a:stCxn id="34" idx="0"/>
            <a:endCxn id="27" idx="2"/>
          </p:cNvCxnSpPr>
          <p:nvPr/>
        </p:nvCxnSpPr>
        <p:spPr>
          <a:xfrm flipV="1">
            <a:off x="7155100" y="5788695"/>
            <a:ext cx="1851" cy="20277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BDF147AB-9484-60B6-4538-414E0D6275A5}"/>
              </a:ext>
            </a:extLst>
          </p:cNvPr>
          <p:cNvSpPr txBox="1"/>
          <p:nvPr/>
        </p:nvSpPr>
        <p:spPr>
          <a:xfrm>
            <a:off x="6899462" y="5991469"/>
            <a:ext cx="511276" cy="288032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200"/>
              </a:lnSpc>
              <a:buNone/>
            </a:pPr>
            <a:r>
              <a:rPr kumimoji="0" lang="en-US" altLang="zh-TW" sz="1000" b="1" strike="noStrike" kern="1200" cap="none" spc="0" normalizeH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Mentor</a:t>
            </a:r>
          </a:p>
          <a:p>
            <a:pPr marL="0" algn="ctr" rtl="0" eaLnBrk="1" fontAlgn="ctr" latinLnBrk="0" hangingPunct="1">
              <a:lnSpc>
                <a:spcPts val="1200"/>
              </a:lnSpc>
              <a:buNone/>
            </a:pPr>
            <a:r>
              <a:rPr lang="en-US" altLang="zh-TW" sz="1000" b="1" dirty="0">
                <a:latin typeface="Consolas" panose="020B0609020204030204" pitchFamily="49" charset="0"/>
                <a:ea typeface="新細明體" panose="02020500000000000000" pitchFamily="18" charset="-120"/>
              </a:rPr>
              <a:t>Model</a:t>
            </a:r>
            <a:endParaRPr kumimoji="0" lang="zh-TW" altLang="zh-TW" sz="1000" strike="noStrike" kern="1200" cap="none" spc="0" normalizeH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B4E66B93-719D-CBB5-EF4B-34F3D4D5E385}"/>
              </a:ext>
            </a:extLst>
          </p:cNvPr>
          <p:cNvSpPr txBox="1"/>
          <p:nvPr/>
        </p:nvSpPr>
        <p:spPr>
          <a:xfrm>
            <a:off x="7398774" y="4946395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778BE287-ABAE-8938-B37C-19FD2B4B229E}"/>
              </a:ext>
            </a:extLst>
          </p:cNvPr>
          <p:cNvSpPr txBox="1"/>
          <p:nvPr/>
        </p:nvSpPr>
        <p:spPr>
          <a:xfrm>
            <a:off x="7398774" y="5417837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5DE4A9B2-62EF-A9B5-5ECE-ED795AB7D94A}"/>
              </a:ext>
            </a:extLst>
          </p:cNvPr>
          <p:cNvSpPr/>
          <p:nvPr/>
        </p:nvSpPr>
        <p:spPr>
          <a:xfrm>
            <a:off x="6802561" y="4820861"/>
            <a:ext cx="862185" cy="1098601"/>
          </a:xfrm>
          <a:prstGeom prst="roundRect">
            <a:avLst>
              <a:gd name="adj" fmla="val 168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60" name="直線單箭頭接點 59">
            <a:extLst>
              <a:ext uri="{FF2B5EF4-FFF2-40B4-BE49-F238E27FC236}">
                <a16:creationId xmlns:a16="http://schemas.microsoft.com/office/drawing/2014/main" id="{2C954AD7-E402-6AFC-8B91-CBAD6E53D57E}"/>
              </a:ext>
            </a:extLst>
          </p:cNvPr>
          <p:cNvCxnSpPr>
            <a:cxnSpLocks/>
            <a:stCxn id="26" idx="0"/>
            <a:endCxn id="62" idx="2"/>
          </p:cNvCxnSpPr>
          <p:nvPr/>
        </p:nvCxnSpPr>
        <p:spPr>
          <a:xfrm flipH="1" flipV="1">
            <a:off x="7155101" y="4747761"/>
            <a:ext cx="1850" cy="19863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D36BF304-77E9-0856-4BC0-AEEE5DDEDB92}"/>
              </a:ext>
            </a:extLst>
          </p:cNvPr>
          <p:cNvSpPr txBox="1"/>
          <p:nvPr/>
        </p:nvSpPr>
        <p:spPr>
          <a:xfrm>
            <a:off x="6931629" y="4592854"/>
            <a:ext cx="446943" cy="154907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Logit</a:t>
            </a:r>
          </a:p>
        </p:txBody>
      </p: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2AB2E4CD-81A2-C891-8A8A-C932E820910C}"/>
              </a:ext>
            </a:extLst>
          </p:cNvPr>
          <p:cNvSpPr txBox="1"/>
          <p:nvPr/>
        </p:nvSpPr>
        <p:spPr>
          <a:xfrm>
            <a:off x="8100392" y="2492896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u="none" strike="noStrike" dirty="0">
                <a:effectLst/>
              </a:rPr>
              <a:t>Full-FT</a:t>
            </a:r>
            <a:br>
              <a:rPr lang="en-US" altLang="zh-TW" sz="1400" b="1" u="none" strike="noStrike" dirty="0">
                <a:effectLst/>
              </a:rPr>
            </a:br>
            <a:r>
              <a:rPr lang="en-US" altLang="zh-TW" sz="1200" u="none" strike="noStrike" dirty="0">
                <a:effectLst/>
              </a:rPr>
              <a:t>mobile</a:t>
            </a:r>
            <a:r>
              <a:rPr lang="zh-TW" altLang="en-US" sz="1200" u="none" strike="noStrike" dirty="0">
                <a:effectLst/>
              </a:rPr>
              <a:t> </a:t>
            </a:r>
            <a:r>
              <a:rPr lang="en-US" altLang="zh-TW" sz="1200" u="none" strike="noStrike" dirty="0">
                <a:effectLst/>
              </a:rPr>
              <a:t>phone</a:t>
            </a:r>
          </a:p>
        </p:txBody>
      </p: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8E46294F-E8D5-8000-D7A7-61B2407B3F27}"/>
              </a:ext>
            </a:extLst>
          </p:cNvPr>
          <p:cNvSpPr txBox="1"/>
          <p:nvPr/>
        </p:nvSpPr>
        <p:spPr>
          <a:xfrm>
            <a:off x="8100392" y="4221088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 </a:t>
            </a:r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INT4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NV, Qualcomm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088F6325-C28A-4157-F3A9-7C1C0E7C8669}"/>
              </a:ext>
            </a:extLst>
          </p:cNvPr>
          <p:cNvSpPr txBox="1"/>
          <p:nvPr/>
        </p:nvSpPr>
        <p:spPr>
          <a:xfrm>
            <a:off x="8100392" y="3068960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PEFT + Q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4-bit / 8-bit</a:t>
            </a:r>
          </a:p>
        </p:txBody>
      </p:sp>
      <p:graphicFrame>
        <p:nvGraphicFramePr>
          <p:cNvPr id="101" name="表格 100">
            <a:extLst>
              <a:ext uri="{FF2B5EF4-FFF2-40B4-BE49-F238E27FC236}">
                <a16:creationId xmlns:a16="http://schemas.microsoft.com/office/drawing/2014/main" id="{62234615-AD4E-B363-8156-95B96ED52A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4184708"/>
              </p:ext>
            </p:extLst>
          </p:nvPr>
        </p:nvGraphicFramePr>
        <p:xfrm>
          <a:off x="446679" y="5483659"/>
          <a:ext cx="2061433" cy="8716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143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2966">
                <a:tc>
                  <a:txBody>
                    <a:bodyPr/>
                    <a:lstStyle/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Quantization-Aware (QA)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Fake Quantization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FP: Quantization Noise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9197690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BP: Straight-Through Estimator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899233"/>
                  </a:ext>
                </a:extLst>
              </a:tr>
            </a:tbl>
          </a:graphicData>
        </a:graphic>
      </p:graphicFrame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7C945779-99C8-E510-B0CC-B3511BDE59A2}"/>
              </a:ext>
            </a:extLst>
          </p:cNvPr>
          <p:cNvSpPr/>
          <p:nvPr/>
        </p:nvSpPr>
        <p:spPr>
          <a:xfrm>
            <a:off x="5604492" y="1916832"/>
            <a:ext cx="2204154" cy="4404214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r>
              <a:rPr lang="en-US" altLang="zh-TW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Quantization</a:t>
            </a:r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149" name="群組 148">
            <a:extLst>
              <a:ext uri="{FF2B5EF4-FFF2-40B4-BE49-F238E27FC236}">
                <a16:creationId xmlns:a16="http://schemas.microsoft.com/office/drawing/2014/main" id="{325668A4-D446-9102-28ED-F52E943FA4E6}"/>
              </a:ext>
            </a:extLst>
          </p:cNvPr>
          <p:cNvGrpSpPr/>
          <p:nvPr/>
        </p:nvGrpSpPr>
        <p:grpSpPr>
          <a:xfrm>
            <a:off x="3971048" y="1140776"/>
            <a:ext cx="1105008" cy="2271474"/>
            <a:chOff x="3971048" y="1140776"/>
            <a:chExt cx="1105008" cy="2271474"/>
          </a:xfrm>
        </p:grpSpPr>
        <p:sp>
          <p:nvSpPr>
            <p:cNvPr id="231" name="矩形: 圓角 230">
              <a:extLst>
                <a:ext uri="{FF2B5EF4-FFF2-40B4-BE49-F238E27FC236}">
                  <a16:creationId xmlns:a16="http://schemas.microsoft.com/office/drawing/2014/main" id="{45D54DA9-81FE-C438-046A-1A46ED3096E4}"/>
                </a:ext>
              </a:extLst>
            </p:cNvPr>
            <p:cNvSpPr/>
            <p:nvPr/>
          </p:nvSpPr>
          <p:spPr>
            <a:xfrm>
              <a:off x="4039595" y="1701650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232" name="文字方塊 231">
              <a:extLst>
                <a:ext uri="{FF2B5EF4-FFF2-40B4-BE49-F238E27FC236}">
                  <a16:creationId xmlns:a16="http://schemas.microsoft.com/office/drawing/2014/main" id="{2915F053-5BA3-91A3-F3A0-E318E31CF1D9}"/>
                </a:ext>
              </a:extLst>
            </p:cNvPr>
            <p:cNvSpPr txBox="1"/>
            <p:nvPr/>
          </p:nvSpPr>
          <p:spPr>
            <a:xfrm>
              <a:off x="4106989" y="1765374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233" name="文字方塊 232">
              <a:extLst>
                <a:ext uri="{FF2B5EF4-FFF2-40B4-BE49-F238E27FC236}">
                  <a16:creationId xmlns:a16="http://schemas.microsoft.com/office/drawing/2014/main" id="{26EFE7DA-DC3D-61EF-CA7F-CDB6E8A8BB1F}"/>
                </a:ext>
              </a:extLst>
            </p:cNvPr>
            <p:cNvSpPr txBox="1"/>
            <p:nvPr/>
          </p:nvSpPr>
          <p:spPr>
            <a:xfrm>
              <a:off x="4106989" y="2236816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235" name="直線單箭頭接點 234">
              <a:extLst>
                <a:ext uri="{FF2B5EF4-FFF2-40B4-BE49-F238E27FC236}">
                  <a16:creationId xmlns:a16="http://schemas.microsoft.com/office/drawing/2014/main" id="{280F35D4-BAD6-1EA4-8951-F083A9B10714}"/>
                </a:ext>
              </a:extLst>
            </p:cNvPr>
            <p:cNvCxnSpPr>
              <a:cxnSpLocks/>
              <a:stCxn id="237" idx="0"/>
              <a:endCxn id="233" idx="2"/>
            </p:cNvCxnSpPr>
            <p:nvPr/>
          </p:nvCxnSpPr>
          <p:spPr>
            <a:xfrm flipV="1">
              <a:off x="4366676" y="2607674"/>
              <a:ext cx="1857" cy="23811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直線單箭頭接點 235">
              <a:extLst>
                <a:ext uri="{FF2B5EF4-FFF2-40B4-BE49-F238E27FC236}">
                  <a16:creationId xmlns:a16="http://schemas.microsoft.com/office/drawing/2014/main" id="{FFBF7D4D-75E4-EAF1-B65E-C8CB1B654F37}"/>
                </a:ext>
              </a:extLst>
            </p:cNvPr>
            <p:cNvCxnSpPr>
              <a:cxnSpLocks/>
              <a:stCxn id="233" idx="0"/>
              <a:endCxn id="232" idx="2"/>
            </p:cNvCxnSpPr>
            <p:nvPr/>
          </p:nvCxnSpPr>
          <p:spPr>
            <a:xfrm flipV="1">
              <a:off x="4368533" y="2136232"/>
              <a:ext cx="0" cy="1005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7" name="文字方塊 236">
              <a:extLst>
                <a:ext uri="{FF2B5EF4-FFF2-40B4-BE49-F238E27FC236}">
                  <a16:creationId xmlns:a16="http://schemas.microsoft.com/office/drawing/2014/main" id="{E79CA7A2-37EC-63CC-FF32-801B15CF6DFD}"/>
                </a:ext>
              </a:extLst>
            </p:cNvPr>
            <p:cNvSpPr txBox="1"/>
            <p:nvPr/>
          </p:nvSpPr>
          <p:spPr>
            <a:xfrm>
              <a:off x="4150652" y="2845785"/>
              <a:ext cx="432048" cy="367191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algn="ctr" rtl="0" eaLnBrk="1" fontAlgn="ctr" latinLnBrk="0" hangingPunct="1">
                <a:lnSpc>
                  <a:spcPts val="1600"/>
                </a:lnSpc>
                <a:buNone/>
              </a:pPr>
              <a:r>
                <a:rPr lang="en-US" altLang="zh-TW" sz="1200" u="sng" strike="noStrike" kern="1200" spc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zh-TW" sz="1200" b="1" u="sng" dirty="0">
                  <a:solidFill>
                    <a:srgbClr val="000000"/>
                  </a:solidFill>
                  <a:latin typeface="Consolas" panose="020B0609020204030204" pitchFamily="49" charset="0"/>
                </a:rPr>
                <a:t>Q&amp;A</a:t>
              </a:r>
              <a:r>
                <a:rPr lang="en-US" altLang="zh-TW" sz="1200" b="1" u="sng" strike="noStrike" kern="1200" spc="0" dirty="0">
                  <a:ln>
                    <a:noFill/>
                  </a:ln>
                  <a:effectLst/>
                  <a:latin typeface="Consolas" panose="020B0609020204030204" pitchFamily="49" charset="0"/>
                </a:rPr>
                <a:t> </a:t>
              </a:r>
              <a:endParaRPr lang="en-US" altLang="zh-TW" sz="1200" u="sng" strike="noStrike" kern="1200" spc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endParaRPr>
            </a:p>
            <a:p>
              <a:pPr marL="0" marR="0" lvl="0" algn="ctr" defTabSz="914400" rtl="0" eaLnBrk="1" fontAlgn="ctr" latinLnBrk="0" hangingPunct="1">
                <a:lnSpc>
                  <a:spcPts val="1200"/>
                </a:lnSpc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kumimoji="0" lang="zh-TW" altLang="en-US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lang="en-US" altLang="zh-TW" sz="12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新細明體" panose="02020500000000000000" pitchFamily="18" charset="-120"/>
                </a:rPr>
                <a:t>…</a:t>
              </a: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 </a:t>
              </a:r>
              <a:endParaRPr kumimoji="0" lang="zh-TW" altLang="zh-TW" sz="1200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238" name="文字方塊 237">
              <a:extLst>
                <a:ext uri="{FF2B5EF4-FFF2-40B4-BE49-F238E27FC236}">
                  <a16:creationId xmlns:a16="http://schemas.microsoft.com/office/drawing/2014/main" id="{E4CBB606-3145-C366-F2CA-61F748F8E672}"/>
                </a:ext>
              </a:extLst>
            </p:cNvPr>
            <p:cNvSpPr txBox="1"/>
            <p:nvPr/>
          </p:nvSpPr>
          <p:spPr>
            <a:xfrm>
              <a:off x="3971048" y="1140776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000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5" name="標題 1">
              <a:extLst>
                <a:ext uri="{FF2B5EF4-FFF2-40B4-BE49-F238E27FC236}">
                  <a16:creationId xmlns:a16="http://schemas.microsoft.com/office/drawing/2014/main" id="{6F6F6AAC-AA6F-4EE2-07D9-BB9A5FBD34B2}"/>
                </a:ext>
              </a:extLst>
            </p:cNvPr>
            <p:cNvSpPr txBox="1">
              <a:spLocks/>
            </p:cNvSpPr>
            <p:nvPr/>
          </p:nvSpPr>
          <p:spPr>
            <a:xfrm>
              <a:off x="4094886" y="3212976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Full-FT +</a:t>
              </a:r>
              <a:r>
                <a:rPr lang="zh-TW" altLang="en-US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cxnSp>
          <p:nvCxnSpPr>
            <p:cNvPr id="234" name="直線單箭頭接點 233">
              <a:extLst>
                <a:ext uri="{FF2B5EF4-FFF2-40B4-BE49-F238E27FC236}">
                  <a16:creationId xmlns:a16="http://schemas.microsoft.com/office/drawing/2014/main" id="{AFADEF92-C88A-CA53-FDE0-5F7892DC5CFD}"/>
                </a:ext>
              </a:extLst>
            </p:cNvPr>
            <p:cNvCxnSpPr>
              <a:cxnSpLocks/>
              <a:stCxn id="232" idx="0"/>
              <a:endCxn id="238" idx="2"/>
            </p:cNvCxnSpPr>
            <p:nvPr/>
          </p:nvCxnSpPr>
          <p:spPr>
            <a:xfrm flipH="1" flipV="1">
              <a:off x="4368532" y="1518692"/>
              <a:ext cx="1" cy="24668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0" name="矩形: 圓角 299">
              <a:extLst>
                <a:ext uri="{FF2B5EF4-FFF2-40B4-BE49-F238E27FC236}">
                  <a16:creationId xmlns:a16="http://schemas.microsoft.com/office/drawing/2014/main" id="{72283385-EF65-D064-44F7-ED7DF89F2AE4}"/>
                </a:ext>
              </a:extLst>
            </p:cNvPr>
            <p:cNvSpPr/>
            <p:nvPr/>
          </p:nvSpPr>
          <p:spPr>
            <a:xfrm>
              <a:off x="3976886" y="1605576"/>
              <a:ext cx="746408" cy="1121017"/>
            </a:xfrm>
            <a:prstGeom prst="roundRect">
              <a:avLst>
                <a:gd name="adj" fmla="val 1682"/>
              </a:avLst>
            </a:prstGeom>
            <a:solidFill>
              <a:schemeClr val="accent2">
                <a:lumMod val="50000"/>
                <a:alpha val="60000"/>
              </a:schemeClr>
            </a:solidFill>
            <a:ln w="15875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07" name="矩形: 圓角 106">
              <a:extLst>
                <a:ext uri="{FF2B5EF4-FFF2-40B4-BE49-F238E27FC236}">
                  <a16:creationId xmlns:a16="http://schemas.microsoft.com/office/drawing/2014/main" id="{B9D231FB-B9CF-9880-E698-8380D24C64B4}"/>
                </a:ext>
              </a:extLst>
            </p:cNvPr>
            <p:cNvSpPr/>
            <p:nvPr/>
          </p:nvSpPr>
          <p:spPr>
            <a:xfrm>
              <a:off x="4716016" y="3222501"/>
              <a:ext cx="345765" cy="174616"/>
            </a:xfrm>
            <a:prstGeom prst="roundRect">
              <a:avLst>
                <a:gd name="adj" fmla="val 1682"/>
              </a:avLst>
            </a:prstGeom>
            <a:noFill/>
            <a:ln w="15875">
              <a:solidFill>
                <a:schemeClr val="accent2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1"/>
            <a:lstStyle/>
            <a:p>
              <a:pPr algn="ctr"/>
              <a:endParaRPr lang="zh-TW" altLang="en-US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128" name="群組 127">
            <a:extLst>
              <a:ext uri="{FF2B5EF4-FFF2-40B4-BE49-F238E27FC236}">
                <a16:creationId xmlns:a16="http://schemas.microsoft.com/office/drawing/2014/main" id="{54D06E2C-3FA0-3B42-0585-4F52CCF2DA87}"/>
              </a:ext>
            </a:extLst>
          </p:cNvPr>
          <p:cNvGrpSpPr/>
          <p:nvPr/>
        </p:nvGrpSpPr>
        <p:grpSpPr>
          <a:xfrm>
            <a:off x="3923928" y="3645024"/>
            <a:ext cx="1125186" cy="2088232"/>
            <a:chOff x="3923928" y="3645024"/>
            <a:chExt cx="1125186" cy="2088232"/>
          </a:xfrm>
        </p:grpSpPr>
        <p:sp>
          <p:nvSpPr>
            <p:cNvPr id="303" name="矩形: 圓角 302">
              <a:extLst>
                <a:ext uri="{FF2B5EF4-FFF2-40B4-BE49-F238E27FC236}">
                  <a16:creationId xmlns:a16="http://schemas.microsoft.com/office/drawing/2014/main" id="{E979668C-1675-047A-AB0A-72961AD64DC2}"/>
                </a:ext>
              </a:extLst>
            </p:cNvPr>
            <p:cNvSpPr/>
            <p:nvPr/>
          </p:nvSpPr>
          <p:spPr>
            <a:xfrm>
              <a:off x="3992475" y="4058948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304" name="文字方塊 303">
              <a:extLst>
                <a:ext uri="{FF2B5EF4-FFF2-40B4-BE49-F238E27FC236}">
                  <a16:creationId xmlns:a16="http://schemas.microsoft.com/office/drawing/2014/main" id="{1BE78960-095F-03AA-5CF1-43CA262380D5}"/>
                </a:ext>
              </a:extLst>
            </p:cNvPr>
            <p:cNvSpPr txBox="1"/>
            <p:nvPr/>
          </p:nvSpPr>
          <p:spPr>
            <a:xfrm>
              <a:off x="4059869" y="4122672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305" name="文字方塊 304">
              <a:extLst>
                <a:ext uri="{FF2B5EF4-FFF2-40B4-BE49-F238E27FC236}">
                  <a16:creationId xmlns:a16="http://schemas.microsoft.com/office/drawing/2014/main" id="{BE3E2506-D931-6DDB-E8E2-4F6D4B155C8E}"/>
                </a:ext>
              </a:extLst>
            </p:cNvPr>
            <p:cNvSpPr txBox="1"/>
            <p:nvPr/>
          </p:nvSpPr>
          <p:spPr>
            <a:xfrm>
              <a:off x="4059869" y="4594114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306" name="直線單箭頭接點 305">
              <a:extLst>
                <a:ext uri="{FF2B5EF4-FFF2-40B4-BE49-F238E27FC236}">
                  <a16:creationId xmlns:a16="http://schemas.microsoft.com/office/drawing/2014/main" id="{CED5AFD8-7F9E-115D-A10B-D6EB519C0C2C}"/>
                </a:ext>
              </a:extLst>
            </p:cNvPr>
            <p:cNvCxnSpPr>
              <a:cxnSpLocks/>
              <a:stCxn id="304" idx="0"/>
              <a:endCxn id="310" idx="2"/>
            </p:cNvCxnSpPr>
            <p:nvPr/>
          </p:nvCxnSpPr>
          <p:spPr>
            <a:xfrm flipH="1" flipV="1">
              <a:off x="4321412" y="4022940"/>
              <a:ext cx="1" cy="997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直線單箭頭接點 306">
              <a:extLst>
                <a:ext uri="{FF2B5EF4-FFF2-40B4-BE49-F238E27FC236}">
                  <a16:creationId xmlns:a16="http://schemas.microsoft.com/office/drawing/2014/main" id="{E4C3FB2A-315E-23D6-2838-943D77BE79D1}"/>
                </a:ext>
              </a:extLst>
            </p:cNvPr>
            <p:cNvCxnSpPr>
              <a:cxnSpLocks/>
              <a:stCxn id="309" idx="0"/>
              <a:endCxn id="305" idx="2"/>
            </p:cNvCxnSpPr>
            <p:nvPr/>
          </p:nvCxnSpPr>
          <p:spPr>
            <a:xfrm flipV="1">
              <a:off x="4319556" y="4964972"/>
              <a:ext cx="1857" cy="1790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直線單箭頭接點 307">
              <a:extLst>
                <a:ext uri="{FF2B5EF4-FFF2-40B4-BE49-F238E27FC236}">
                  <a16:creationId xmlns:a16="http://schemas.microsoft.com/office/drawing/2014/main" id="{8AD3E93F-3282-D2F8-28FA-263D53C0A3D6}"/>
                </a:ext>
              </a:extLst>
            </p:cNvPr>
            <p:cNvCxnSpPr>
              <a:cxnSpLocks/>
              <a:stCxn id="305" idx="0"/>
              <a:endCxn id="304" idx="2"/>
            </p:cNvCxnSpPr>
            <p:nvPr/>
          </p:nvCxnSpPr>
          <p:spPr>
            <a:xfrm flipV="1">
              <a:off x="4321413" y="4493530"/>
              <a:ext cx="0" cy="1005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9" name="文字方塊 308">
              <a:extLst>
                <a:ext uri="{FF2B5EF4-FFF2-40B4-BE49-F238E27FC236}">
                  <a16:creationId xmlns:a16="http://schemas.microsoft.com/office/drawing/2014/main" id="{C07C3214-A890-341F-2ABA-EC9F5BDE38A4}"/>
                </a:ext>
              </a:extLst>
            </p:cNvPr>
            <p:cNvSpPr txBox="1"/>
            <p:nvPr/>
          </p:nvSpPr>
          <p:spPr>
            <a:xfrm>
              <a:off x="4103532" y="5144030"/>
              <a:ext cx="432048" cy="373202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algn="ctr" rtl="0" eaLnBrk="1" fontAlgn="ctr" latinLnBrk="0" hangingPunct="1">
                <a:lnSpc>
                  <a:spcPts val="1600"/>
                </a:lnSpc>
                <a:buNone/>
              </a:pPr>
              <a:r>
                <a:rPr lang="en-US" altLang="zh-TW" sz="1200" u="sng" strike="noStrike" kern="1200" spc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zh-TW" sz="1200" b="1" u="sng" dirty="0">
                  <a:solidFill>
                    <a:srgbClr val="000000"/>
                  </a:solidFill>
                  <a:latin typeface="Consolas" panose="020B0609020204030204" pitchFamily="49" charset="0"/>
                </a:rPr>
                <a:t>Q&amp;A</a:t>
              </a:r>
              <a:r>
                <a:rPr lang="en-US" altLang="zh-TW" sz="1200" b="1" u="sng" strike="noStrike" kern="1200" spc="0" dirty="0">
                  <a:ln>
                    <a:noFill/>
                  </a:ln>
                  <a:effectLst/>
                  <a:latin typeface="Consolas" panose="020B0609020204030204" pitchFamily="49" charset="0"/>
                </a:rPr>
                <a:t> </a:t>
              </a:r>
              <a:endParaRPr lang="en-US" altLang="zh-TW" sz="1200" u="sng" strike="noStrike" kern="1200" spc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endParaRPr>
            </a:p>
            <a:p>
              <a:pPr marL="0" marR="0" lvl="0" algn="ctr" defTabSz="914400" rtl="0" eaLnBrk="1" fontAlgn="ctr" latinLnBrk="0" hangingPunct="1">
                <a:lnSpc>
                  <a:spcPts val="1200"/>
                </a:lnSpc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kumimoji="0" lang="zh-TW" altLang="en-US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lang="en-US" altLang="zh-TW" sz="12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新細明體" panose="02020500000000000000" pitchFamily="18" charset="-120"/>
                </a:rPr>
                <a:t>…</a:t>
              </a: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 </a:t>
              </a:r>
              <a:endParaRPr kumimoji="0" lang="zh-TW" altLang="zh-TW" sz="1200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310" name="文字方塊 309">
              <a:extLst>
                <a:ext uri="{FF2B5EF4-FFF2-40B4-BE49-F238E27FC236}">
                  <a16:creationId xmlns:a16="http://schemas.microsoft.com/office/drawing/2014/main" id="{3EEE3D60-9DDA-59EF-9DF3-94A1CC72A610}"/>
                </a:ext>
              </a:extLst>
            </p:cNvPr>
            <p:cNvSpPr txBox="1"/>
            <p:nvPr/>
          </p:nvSpPr>
          <p:spPr>
            <a:xfrm>
              <a:off x="3923928" y="3645024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000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312" name="文字方塊 311">
              <a:extLst>
                <a:ext uri="{FF2B5EF4-FFF2-40B4-BE49-F238E27FC236}">
                  <a16:creationId xmlns:a16="http://schemas.microsoft.com/office/drawing/2014/main" id="{8A5A3840-A3F7-2154-33FB-3424CAF267FE}"/>
                </a:ext>
              </a:extLst>
            </p:cNvPr>
            <p:cNvSpPr txBox="1"/>
            <p:nvPr/>
          </p:nvSpPr>
          <p:spPr>
            <a:xfrm>
              <a:off x="4642234" y="4122672"/>
              <a:ext cx="189751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000" b="1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313" name="文字方塊 312">
              <a:extLst>
                <a:ext uri="{FF2B5EF4-FFF2-40B4-BE49-F238E27FC236}">
                  <a16:creationId xmlns:a16="http://schemas.microsoft.com/office/drawing/2014/main" id="{4C70843D-8C4D-B7FB-568A-374C7DC85E55}"/>
                </a:ext>
              </a:extLst>
            </p:cNvPr>
            <p:cNvSpPr txBox="1"/>
            <p:nvPr/>
          </p:nvSpPr>
          <p:spPr>
            <a:xfrm>
              <a:off x="4642234" y="4594114"/>
              <a:ext cx="19876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0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314" name="矩形: 圓角 313">
              <a:extLst>
                <a:ext uri="{FF2B5EF4-FFF2-40B4-BE49-F238E27FC236}">
                  <a16:creationId xmlns:a16="http://schemas.microsoft.com/office/drawing/2014/main" id="{0A3FD1D8-8B24-8160-A2DC-EA4E3F89C00E}"/>
                </a:ext>
              </a:extLst>
            </p:cNvPr>
            <p:cNvSpPr/>
            <p:nvPr/>
          </p:nvSpPr>
          <p:spPr>
            <a:xfrm>
              <a:off x="4581099" y="4013415"/>
              <a:ext cx="293347" cy="1060951"/>
            </a:xfrm>
            <a:prstGeom prst="roundRect">
              <a:avLst>
                <a:gd name="adj" fmla="val 1682"/>
              </a:avLst>
            </a:prstGeom>
            <a:solidFill>
              <a:schemeClr val="accent2">
                <a:lumMod val="50000"/>
                <a:alpha val="60000"/>
              </a:schemeClr>
            </a:solidFill>
            <a:ln w="15875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3" name="標題 1">
              <a:extLst>
                <a:ext uri="{FF2B5EF4-FFF2-40B4-BE49-F238E27FC236}">
                  <a16:creationId xmlns:a16="http://schemas.microsoft.com/office/drawing/2014/main" id="{C54505D7-E619-DAEA-2B54-9E119C3FCDE0}"/>
                </a:ext>
              </a:extLst>
            </p:cNvPr>
            <p:cNvSpPr txBox="1">
              <a:spLocks/>
            </p:cNvSpPr>
            <p:nvPr/>
          </p:nvSpPr>
          <p:spPr>
            <a:xfrm>
              <a:off x="4067944" y="5533982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PEFT +</a:t>
              </a:r>
              <a:r>
                <a:rPr lang="zh-TW" altLang="en-US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sp>
          <p:nvSpPr>
            <p:cNvPr id="21" name="標題 1">
              <a:extLst>
                <a:ext uri="{FF2B5EF4-FFF2-40B4-BE49-F238E27FC236}">
                  <a16:creationId xmlns:a16="http://schemas.microsoft.com/office/drawing/2014/main" id="{38029C74-2663-CD68-BD22-D629C819599D}"/>
                </a:ext>
              </a:extLst>
            </p:cNvPr>
            <p:cNvSpPr txBox="1">
              <a:spLocks/>
            </p:cNvSpPr>
            <p:nvPr/>
          </p:nvSpPr>
          <p:spPr>
            <a:xfrm>
              <a:off x="4630988" y="5097167"/>
              <a:ext cx="180410" cy="174616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000" b="1" dirty="0">
                  <a:solidFill>
                    <a:srgbClr val="FF0000"/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1%</a:t>
              </a:r>
            </a:p>
          </p:txBody>
        </p:sp>
        <p:sp>
          <p:nvSpPr>
            <p:cNvPr id="109" name="矩形: 圓角 108">
              <a:extLst>
                <a:ext uri="{FF2B5EF4-FFF2-40B4-BE49-F238E27FC236}">
                  <a16:creationId xmlns:a16="http://schemas.microsoft.com/office/drawing/2014/main" id="{60F6AB3F-3534-E587-A360-D1486A2D7322}"/>
                </a:ext>
              </a:extLst>
            </p:cNvPr>
            <p:cNvSpPr/>
            <p:nvPr/>
          </p:nvSpPr>
          <p:spPr>
            <a:xfrm>
              <a:off x="4635144" y="5540621"/>
              <a:ext cx="340696" cy="186128"/>
            </a:xfrm>
            <a:prstGeom prst="roundRect">
              <a:avLst>
                <a:gd name="adj" fmla="val 1682"/>
              </a:avLst>
            </a:prstGeom>
            <a:noFill/>
            <a:ln w="15875">
              <a:solidFill>
                <a:schemeClr val="accent2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1"/>
            <a:lstStyle/>
            <a:p>
              <a:pPr algn="ctr"/>
              <a:endParaRPr lang="zh-TW" altLang="en-US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3BEFA795-6B5D-D44D-7961-3C9B06DB3A44}"/>
              </a:ext>
            </a:extLst>
          </p:cNvPr>
          <p:cNvSpPr txBox="1"/>
          <p:nvPr/>
        </p:nvSpPr>
        <p:spPr>
          <a:xfrm>
            <a:off x="8097490" y="3645024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P </a:t>
            </a:r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INT4</a:t>
            </a:r>
            <a:endParaRPr kumimoji="0" lang="en-US" altLang="zh-TW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Quantization</a:t>
            </a:r>
          </a:p>
        </p:txBody>
      </p:sp>
      <p:sp>
        <p:nvSpPr>
          <p:cNvPr id="132" name="流程圖: 合併 131">
            <a:extLst>
              <a:ext uri="{FF2B5EF4-FFF2-40B4-BE49-F238E27FC236}">
                <a16:creationId xmlns:a16="http://schemas.microsoft.com/office/drawing/2014/main" id="{B318699F-9485-4652-8519-8E7321EEE6C1}"/>
              </a:ext>
            </a:extLst>
          </p:cNvPr>
          <p:cNvSpPr/>
          <p:nvPr/>
        </p:nvSpPr>
        <p:spPr>
          <a:xfrm>
            <a:off x="8388424" y="1327726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Cost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33" name="接點: 肘形 132">
            <a:extLst>
              <a:ext uri="{FF2B5EF4-FFF2-40B4-BE49-F238E27FC236}">
                <a16:creationId xmlns:a16="http://schemas.microsoft.com/office/drawing/2014/main" id="{25E3FDBC-A31D-8588-0E05-C4418761BDBC}"/>
              </a:ext>
            </a:extLst>
          </p:cNvPr>
          <p:cNvCxnSpPr>
            <a:cxnSpLocks/>
            <a:stCxn id="109" idx="3"/>
            <a:endCxn id="105" idx="1"/>
          </p:cNvCxnSpPr>
          <p:nvPr/>
        </p:nvCxnSpPr>
        <p:spPr>
          <a:xfrm flipV="1">
            <a:off x="4975840" y="4118939"/>
            <a:ext cx="628652" cy="1514746"/>
          </a:xfrm>
          <a:prstGeom prst="bentConnector3">
            <a:avLst>
              <a:gd name="adj1" fmla="val 56061"/>
            </a:avLst>
          </a:prstGeom>
          <a:ln w="19050">
            <a:solidFill>
              <a:schemeClr val="accent2"/>
            </a:solidFill>
            <a:prstDash val="sysDot"/>
            <a:headEnd type="none"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接點: 肘形 137">
            <a:extLst>
              <a:ext uri="{FF2B5EF4-FFF2-40B4-BE49-F238E27FC236}">
                <a16:creationId xmlns:a16="http://schemas.microsoft.com/office/drawing/2014/main" id="{98D0DC95-1A97-D891-3726-7D42B7DA65C9}"/>
              </a:ext>
            </a:extLst>
          </p:cNvPr>
          <p:cNvCxnSpPr>
            <a:cxnSpLocks/>
            <a:stCxn id="107" idx="3"/>
            <a:endCxn id="105" idx="1"/>
          </p:cNvCxnSpPr>
          <p:nvPr/>
        </p:nvCxnSpPr>
        <p:spPr>
          <a:xfrm>
            <a:off x="5061781" y="3309809"/>
            <a:ext cx="542711" cy="809130"/>
          </a:xfrm>
          <a:prstGeom prst="bentConnector3">
            <a:avLst>
              <a:gd name="adj1" fmla="val 50000"/>
            </a:avLst>
          </a:prstGeom>
          <a:ln w="19050">
            <a:solidFill>
              <a:schemeClr val="accent2"/>
            </a:solidFill>
            <a:prstDash val="sysDot"/>
            <a:headEnd type="none"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6192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7DFB4-612C-B0B9-4BE8-45819BE65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字方塊 8">
            <a:extLst>
              <a:ext uri="{FF2B5EF4-FFF2-40B4-BE49-F238E27FC236}">
                <a16:creationId xmlns:a16="http://schemas.microsoft.com/office/drawing/2014/main" id="{46EDBCD4-7EAC-421B-66FB-3388FFFF2900}"/>
              </a:ext>
            </a:extLst>
          </p:cNvPr>
          <p:cNvSpPr txBox="1"/>
          <p:nvPr/>
        </p:nvSpPr>
        <p:spPr>
          <a:xfrm>
            <a:off x="2456679" y="2515143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8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B7B60AB-5109-7BAE-FA39-45AF0A7FD0F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uantization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w-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ank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daptation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QLoRA freezes the base model, squeezing updates through a narrow parameter bottleneck (r).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230C510-B223-AB07-63E6-5CA7DC527E06}"/>
              </a:ext>
            </a:extLst>
          </p:cNvPr>
          <p:cNvSpPr txBox="1"/>
          <p:nvPr/>
        </p:nvSpPr>
        <p:spPr>
          <a:xfrm>
            <a:off x="5546170" y="1432160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E11950E-8F49-2745-2EDD-097C758F04BA}"/>
              </a:ext>
            </a:extLst>
          </p:cNvPr>
          <p:cNvSpPr txBox="1"/>
          <p:nvPr/>
        </p:nvSpPr>
        <p:spPr>
          <a:xfrm>
            <a:off x="5505822" y="2644706"/>
            <a:ext cx="79208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174A7689-58E1-25E4-CAB8-C95092422A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5533721"/>
              </p:ext>
            </p:extLst>
          </p:nvPr>
        </p:nvGraphicFramePr>
        <p:xfrm>
          <a:off x="2408514" y="2852936"/>
          <a:ext cx="768819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2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3366401909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4F6F6C15-94A2-C0C5-36A9-0DAC9AAC37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0860446"/>
              </p:ext>
            </p:extLst>
          </p:nvPr>
        </p:nvGraphicFramePr>
        <p:xfrm>
          <a:off x="5295270" y="1725388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FDAA76A0-7CB4-DA0D-EDD9-6D1BAA982226}"/>
              </a:ext>
            </a:extLst>
          </p:cNvPr>
          <p:cNvSpPr txBox="1"/>
          <p:nvPr/>
        </p:nvSpPr>
        <p:spPr>
          <a:xfrm>
            <a:off x="3801863" y="2780928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8</a:t>
            </a: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970FEFC2-8AF0-B494-88D8-630F4FEC97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6315104"/>
              </p:ext>
            </p:extLst>
          </p:nvPr>
        </p:nvGraphicFramePr>
        <p:xfrm>
          <a:off x="3426644" y="3074156"/>
          <a:ext cx="1577404" cy="354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DFCECAB-DFF2-9A96-42C1-C1A92C90C6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1471018"/>
              </p:ext>
            </p:extLst>
          </p:nvPr>
        </p:nvGraphicFramePr>
        <p:xfrm>
          <a:off x="5292080" y="2913354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3" name="文字方塊 12">
            <a:extLst>
              <a:ext uri="{FF2B5EF4-FFF2-40B4-BE49-F238E27FC236}">
                <a16:creationId xmlns:a16="http://schemas.microsoft.com/office/drawing/2014/main" id="{CA418A53-024F-5256-DFDC-38C367C98546}"/>
              </a:ext>
            </a:extLst>
          </p:cNvPr>
          <p:cNvSpPr txBox="1"/>
          <p:nvPr/>
        </p:nvSpPr>
        <p:spPr>
          <a:xfrm>
            <a:off x="4010625" y="1721623"/>
            <a:ext cx="678086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3345E229-AD34-1F98-A1EE-ED0FCB9682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1442973"/>
              </p:ext>
            </p:extLst>
          </p:nvPr>
        </p:nvGraphicFramePr>
        <p:xfrm>
          <a:off x="3717516" y="1997327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5" name="文字方塊 14">
            <a:extLst>
              <a:ext uri="{FF2B5EF4-FFF2-40B4-BE49-F238E27FC236}">
                <a16:creationId xmlns:a16="http://schemas.microsoft.com/office/drawing/2014/main" id="{12B550F6-AAF7-C19A-A92E-CF87D9C54EF1}"/>
              </a:ext>
            </a:extLst>
          </p:cNvPr>
          <p:cNvSpPr txBox="1"/>
          <p:nvPr/>
        </p:nvSpPr>
        <p:spPr>
          <a:xfrm>
            <a:off x="7030856" y="1721623"/>
            <a:ext cx="648072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996B90EC-11CB-52EE-8E93-6793DBEBCC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4188969"/>
              </p:ext>
            </p:extLst>
          </p:nvPr>
        </p:nvGraphicFramePr>
        <p:xfrm>
          <a:off x="6729958" y="1987628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7" name="文字方塊 16">
            <a:extLst>
              <a:ext uri="{FF2B5EF4-FFF2-40B4-BE49-F238E27FC236}">
                <a16:creationId xmlns:a16="http://schemas.microsoft.com/office/drawing/2014/main" id="{AC4206E9-412D-FD84-36F9-9F12F7A65F2F}"/>
              </a:ext>
            </a:extLst>
          </p:cNvPr>
          <p:cNvSpPr txBox="1"/>
          <p:nvPr/>
        </p:nvSpPr>
        <p:spPr>
          <a:xfrm>
            <a:off x="5793854" y="245714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+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4EEBCB8E-14AD-6B5D-4F80-0544704FC54A}"/>
              </a:ext>
            </a:extLst>
          </p:cNvPr>
          <p:cNvSpPr txBox="1"/>
          <p:nvPr/>
        </p:nvSpPr>
        <p:spPr>
          <a:xfrm>
            <a:off x="5031780" y="193872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7C2A484D-460F-1A04-04CA-5C1908284B6D}"/>
              </a:ext>
            </a:extLst>
          </p:cNvPr>
          <p:cNvSpPr txBox="1"/>
          <p:nvPr/>
        </p:nvSpPr>
        <p:spPr>
          <a:xfrm>
            <a:off x="6510744" y="1938722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B37AEACB-00C0-87CF-71EE-829E83706821}"/>
              </a:ext>
            </a:extLst>
          </p:cNvPr>
          <p:cNvSpPr txBox="1"/>
          <p:nvPr/>
        </p:nvSpPr>
        <p:spPr>
          <a:xfrm>
            <a:off x="3223295" y="3119894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93FF47D-66F2-8021-8537-0B49581A514D}"/>
              </a:ext>
            </a:extLst>
          </p:cNvPr>
          <p:cNvSpPr txBox="1"/>
          <p:nvPr/>
        </p:nvSpPr>
        <p:spPr>
          <a:xfrm>
            <a:off x="5031780" y="315330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166C89C2-E685-02E9-C209-61874A3350C9}"/>
              </a:ext>
            </a:extLst>
          </p:cNvPr>
          <p:cNvSpPr txBox="1"/>
          <p:nvPr/>
        </p:nvSpPr>
        <p:spPr>
          <a:xfrm>
            <a:off x="2577725" y="5199131"/>
            <a:ext cx="695847" cy="231316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1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3A408C77-9AA7-C9E5-0EEA-D090525596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0038720"/>
              </p:ext>
            </p:extLst>
          </p:nvPr>
        </p:nvGraphicFramePr>
        <p:xfrm>
          <a:off x="2793923" y="5462499"/>
          <a:ext cx="27253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26" name="文字方塊 25">
            <a:extLst>
              <a:ext uri="{FF2B5EF4-FFF2-40B4-BE49-F238E27FC236}">
                <a16:creationId xmlns:a16="http://schemas.microsoft.com/office/drawing/2014/main" id="{46547153-3887-39D1-68AC-E63C5A9D08BB}"/>
              </a:ext>
            </a:extLst>
          </p:cNvPr>
          <p:cNvSpPr txBox="1"/>
          <p:nvPr/>
        </p:nvSpPr>
        <p:spPr>
          <a:xfrm>
            <a:off x="3801862" y="5517232"/>
            <a:ext cx="695847" cy="27699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D856DEEC-0920-37CD-984E-6387928C97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4179731"/>
              </p:ext>
            </p:extLst>
          </p:nvPr>
        </p:nvGraphicFramePr>
        <p:xfrm>
          <a:off x="3424362" y="5777513"/>
          <a:ext cx="1577404" cy="177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28" name="文字方塊 27">
            <a:extLst>
              <a:ext uri="{FF2B5EF4-FFF2-40B4-BE49-F238E27FC236}">
                <a16:creationId xmlns:a16="http://schemas.microsoft.com/office/drawing/2014/main" id="{8012E381-AA45-3D1A-CAEC-4D2813F6AB34}"/>
              </a:ext>
            </a:extLst>
          </p:cNvPr>
          <p:cNvSpPr txBox="1"/>
          <p:nvPr/>
        </p:nvSpPr>
        <p:spPr>
          <a:xfrm>
            <a:off x="3201566" y="573454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40" name="表格 39">
            <a:extLst>
              <a:ext uri="{FF2B5EF4-FFF2-40B4-BE49-F238E27FC236}">
                <a16:creationId xmlns:a16="http://schemas.microsoft.com/office/drawing/2014/main" id="{9E880617-74A7-3F1D-19E7-1C6CE624CC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9814430"/>
              </p:ext>
            </p:extLst>
          </p:nvPr>
        </p:nvGraphicFramePr>
        <p:xfrm>
          <a:off x="1835696" y="4819447"/>
          <a:ext cx="2823168" cy="263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44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05606324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6922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284423710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1270248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653745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2154210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232879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241487124"/>
                    </a:ext>
                  </a:extLst>
                </a:gridCol>
              </a:tblGrid>
              <a:tr h="26336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41" name="表格 40">
            <a:extLst>
              <a:ext uri="{FF2B5EF4-FFF2-40B4-BE49-F238E27FC236}">
                <a16:creationId xmlns:a16="http://schemas.microsoft.com/office/drawing/2014/main" id="{9E930552-FE47-29BE-877E-18BE859F76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9484635"/>
              </p:ext>
            </p:extLst>
          </p:nvPr>
        </p:nvGraphicFramePr>
        <p:xfrm>
          <a:off x="2251383" y="4330399"/>
          <a:ext cx="2437328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43" name="直線單箭頭接點 42">
            <a:extLst>
              <a:ext uri="{FF2B5EF4-FFF2-40B4-BE49-F238E27FC236}">
                <a16:creationId xmlns:a16="http://schemas.microsoft.com/office/drawing/2014/main" id="{3D69D28E-D3BB-E57F-0654-C588ED181323}"/>
              </a:ext>
            </a:extLst>
          </p:cNvPr>
          <p:cNvCxnSpPr>
            <a:cxnSpLocks/>
          </p:cNvCxnSpPr>
          <p:nvPr/>
        </p:nvCxnSpPr>
        <p:spPr>
          <a:xfrm>
            <a:off x="2556939" y="4419193"/>
            <a:ext cx="0" cy="400254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單箭頭接點 45">
            <a:extLst>
              <a:ext uri="{FF2B5EF4-FFF2-40B4-BE49-F238E27FC236}">
                <a16:creationId xmlns:a16="http://schemas.microsoft.com/office/drawing/2014/main" id="{F9A3051A-7393-2108-A65E-E17A5BDFC742}"/>
              </a:ext>
            </a:extLst>
          </p:cNvPr>
          <p:cNvCxnSpPr>
            <a:cxnSpLocks/>
            <a:endCxn id="40" idx="0"/>
          </p:cNvCxnSpPr>
          <p:nvPr/>
        </p:nvCxnSpPr>
        <p:spPr>
          <a:xfrm>
            <a:off x="2824829" y="4496168"/>
            <a:ext cx="422451" cy="323279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D91FD903-5CA4-5DF9-C34F-F10FB97C112B}"/>
              </a:ext>
            </a:extLst>
          </p:cNvPr>
          <p:cNvSpPr txBox="1"/>
          <p:nvPr/>
        </p:nvSpPr>
        <p:spPr>
          <a:xfrm>
            <a:off x="2627784" y="4640726"/>
            <a:ext cx="422451" cy="1839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4 bits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33890C5-0A88-D645-14E5-9AA7C51DF87A}"/>
              </a:ext>
            </a:extLst>
          </p:cNvPr>
          <p:cNvSpPr txBox="1"/>
          <p:nvPr/>
        </p:nvSpPr>
        <p:spPr>
          <a:xfrm>
            <a:off x="2503198" y="3966964"/>
            <a:ext cx="422451" cy="2880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16</a:t>
            </a:r>
          </a:p>
          <a:p>
            <a:pPr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bits</a:t>
            </a:r>
          </a:p>
        </p:txBody>
      </p:sp>
      <p:sp>
        <p:nvSpPr>
          <p:cNvPr id="39" name="右大括弧 38">
            <a:extLst>
              <a:ext uri="{FF2B5EF4-FFF2-40B4-BE49-F238E27FC236}">
                <a16:creationId xmlns:a16="http://schemas.microsoft.com/office/drawing/2014/main" id="{43AD7CAA-9919-2BDC-C547-ADA2F3ADF7DF}"/>
              </a:ext>
            </a:extLst>
          </p:cNvPr>
          <p:cNvSpPr/>
          <p:nvPr/>
        </p:nvSpPr>
        <p:spPr>
          <a:xfrm rot="10800000">
            <a:off x="2043852" y="2728274"/>
            <a:ext cx="108700" cy="988757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8C236E84-CA66-55C6-A353-D96F41563DD1}"/>
              </a:ext>
            </a:extLst>
          </p:cNvPr>
          <p:cNvSpPr txBox="1"/>
          <p:nvPr/>
        </p:nvSpPr>
        <p:spPr>
          <a:xfrm>
            <a:off x="1547664" y="3079993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/>
              <a:t>LoRA</a:t>
            </a:r>
            <a:endParaRPr lang="zh-TW" altLang="en-US" sz="1400" b="1" dirty="0"/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99A5FBEF-DD1B-027F-7308-223EF51BE499}"/>
              </a:ext>
            </a:extLst>
          </p:cNvPr>
          <p:cNvSpPr txBox="1"/>
          <p:nvPr/>
        </p:nvSpPr>
        <p:spPr>
          <a:xfrm>
            <a:off x="971600" y="5517232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/>
              <a:t>QLoRA</a:t>
            </a:r>
            <a:endParaRPr lang="zh-TW" altLang="en-US" sz="1400" b="1" dirty="0"/>
          </a:p>
        </p:txBody>
      </p:sp>
      <p:sp>
        <p:nvSpPr>
          <p:cNvPr id="55" name="右大括弧 54">
            <a:extLst>
              <a:ext uri="{FF2B5EF4-FFF2-40B4-BE49-F238E27FC236}">
                <a16:creationId xmlns:a16="http://schemas.microsoft.com/office/drawing/2014/main" id="{FDC02000-3510-2BFF-9245-7620E6943787}"/>
              </a:ext>
            </a:extLst>
          </p:cNvPr>
          <p:cNvSpPr/>
          <p:nvPr/>
        </p:nvSpPr>
        <p:spPr>
          <a:xfrm rot="10800000">
            <a:off x="1475656" y="4951131"/>
            <a:ext cx="138303" cy="1378626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9" name="矩形: 圓角 58">
            <a:extLst>
              <a:ext uri="{FF2B5EF4-FFF2-40B4-BE49-F238E27FC236}">
                <a16:creationId xmlns:a16="http://schemas.microsoft.com/office/drawing/2014/main" id="{0B7BD835-FD81-3F02-5FD1-3F2F8343A2F6}"/>
              </a:ext>
            </a:extLst>
          </p:cNvPr>
          <p:cNvSpPr/>
          <p:nvPr/>
        </p:nvSpPr>
        <p:spPr>
          <a:xfrm>
            <a:off x="2324300" y="2814836"/>
            <a:ext cx="922980" cy="288032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79368FC2-23FC-8AFF-A6B0-B3063BDB7FC4}"/>
              </a:ext>
            </a:extLst>
          </p:cNvPr>
          <p:cNvSpPr/>
          <p:nvPr/>
        </p:nvSpPr>
        <p:spPr>
          <a:xfrm>
            <a:off x="2166294" y="4278319"/>
            <a:ext cx="2621730" cy="288032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1498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3889C-D10C-B36A-2721-EFF1DC298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D35E2BF1-6FE3-3015-8276-1481380950D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Weight-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ecomposed L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oRA</a:t>
            </a:r>
          </a:p>
          <a:p>
            <a:r>
              <a:rPr lang="en-US" altLang="zh-TW" sz="1400" b="1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DoRA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fundamentally improves LoRA by decomposing weights into </a:t>
            </a: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magnitude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and </a:t>
            </a: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direction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 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EBEBCF88-3560-5ABF-5D6D-C099FC517E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7680322"/>
              </p:ext>
            </p:extLst>
          </p:nvPr>
        </p:nvGraphicFramePr>
        <p:xfrm>
          <a:off x="2938059" y="2204864"/>
          <a:ext cx="54506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7253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F5969713-48F1-14D8-0B44-BBB25E2E66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5836973"/>
              </p:ext>
            </p:extLst>
          </p:nvPr>
        </p:nvGraphicFramePr>
        <p:xfrm>
          <a:off x="5585584" y="1381276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69F885FB-F8DB-3366-45FC-8F10E81744B6}"/>
              </a:ext>
            </a:extLst>
          </p:cNvPr>
          <p:cNvSpPr txBox="1"/>
          <p:nvPr/>
        </p:nvSpPr>
        <p:spPr>
          <a:xfrm>
            <a:off x="3320587" y="3597835"/>
            <a:ext cx="40357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0.1 x </a:t>
            </a:r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A0B7BCF8-5297-D373-E95B-1D2A0407EE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4240659"/>
              </p:ext>
            </p:extLst>
          </p:nvPr>
        </p:nvGraphicFramePr>
        <p:xfrm>
          <a:off x="3658140" y="2430190"/>
          <a:ext cx="1577404" cy="354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13" name="文字方塊 12">
            <a:extLst>
              <a:ext uri="{FF2B5EF4-FFF2-40B4-BE49-F238E27FC236}">
                <a16:creationId xmlns:a16="http://schemas.microsoft.com/office/drawing/2014/main" id="{A82BA1F2-8B0F-F56C-5C78-D715BD5F2455}"/>
              </a:ext>
            </a:extLst>
          </p:cNvPr>
          <p:cNvSpPr txBox="1"/>
          <p:nvPr/>
        </p:nvSpPr>
        <p:spPr>
          <a:xfrm>
            <a:off x="1048685" y="1340768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5EA5B1A1-E8FE-FFA5-DD35-8926472EC6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8188330"/>
              </p:ext>
            </p:extLst>
          </p:nvPr>
        </p:nvGraphicFramePr>
        <p:xfrm>
          <a:off x="755576" y="1641136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5" name="文字方塊 14">
            <a:extLst>
              <a:ext uri="{FF2B5EF4-FFF2-40B4-BE49-F238E27FC236}">
                <a16:creationId xmlns:a16="http://schemas.microsoft.com/office/drawing/2014/main" id="{7A5A42F4-7CBD-9D47-F69F-2489A0F2911A}"/>
              </a:ext>
            </a:extLst>
          </p:cNvPr>
          <p:cNvSpPr txBox="1"/>
          <p:nvPr/>
        </p:nvSpPr>
        <p:spPr>
          <a:xfrm>
            <a:off x="7398650" y="1340768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A4887E64-451C-2A98-2140-B60E4788F5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3612413"/>
              </p:ext>
            </p:extLst>
          </p:nvPr>
        </p:nvGraphicFramePr>
        <p:xfrm>
          <a:off x="7169760" y="1631437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20" name="文字方塊 19">
            <a:extLst>
              <a:ext uri="{FF2B5EF4-FFF2-40B4-BE49-F238E27FC236}">
                <a16:creationId xmlns:a16="http://schemas.microsoft.com/office/drawing/2014/main" id="{E5328391-F130-91DE-E826-96E58451F388}"/>
              </a:ext>
            </a:extLst>
          </p:cNvPr>
          <p:cNvSpPr txBox="1"/>
          <p:nvPr/>
        </p:nvSpPr>
        <p:spPr>
          <a:xfrm>
            <a:off x="2051720" y="1582531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CBE4D3F9-BE11-216C-0F65-9F89C76CEE67}"/>
              </a:ext>
            </a:extLst>
          </p:cNvPr>
          <p:cNvSpPr txBox="1"/>
          <p:nvPr/>
        </p:nvSpPr>
        <p:spPr>
          <a:xfrm>
            <a:off x="6878538" y="1582531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06666021-CE75-49AD-E5F2-0C852C147D4F}"/>
              </a:ext>
            </a:extLst>
          </p:cNvPr>
          <p:cNvSpPr txBox="1"/>
          <p:nvPr/>
        </p:nvSpPr>
        <p:spPr>
          <a:xfrm>
            <a:off x="3480182" y="247592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30" name="表格 29">
            <a:extLst>
              <a:ext uri="{FF2B5EF4-FFF2-40B4-BE49-F238E27FC236}">
                <a16:creationId xmlns:a16="http://schemas.microsoft.com/office/drawing/2014/main" id="{B73339CD-B5DB-548D-81FC-776E1139B3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5626006"/>
              </p:ext>
            </p:extLst>
          </p:nvPr>
        </p:nvGraphicFramePr>
        <p:xfrm>
          <a:off x="1043608" y="4043666"/>
          <a:ext cx="1577404" cy="177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38" name="文字方塊 37">
            <a:extLst>
              <a:ext uri="{FF2B5EF4-FFF2-40B4-BE49-F238E27FC236}">
                <a16:creationId xmlns:a16="http://schemas.microsoft.com/office/drawing/2014/main" id="{CBFA29BC-16EA-8E29-DAF3-456E58026E7D}"/>
              </a:ext>
            </a:extLst>
          </p:cNvPr>
          <p:cNvSpPr txBox="1"/>
          <p:nvPr/>
        </p:nvSpPr>
        <p:spPr>
          <a:xfrm>
            <a:off x="5474120" y="401090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)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58" name="表格 57">
            <a:extLst>
              <a:ext uri="{FF2B5EF4-FFF2-40B4-BE49-F238E27FC236}">
                <a16:creationId xmlns:a16="http://schemas.microsoft.com/office/drawing/2014/main" id="{3C496CFB-6BBB-3BA0-2E6D-8F5F1098A9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75233"/>
              </p:ext>
            </p:extLst>
          </p:nvPr>
        </p:nvGraphicFramePr>
        <p:xfrm>
          <a:off x="4139953" y="4221088"/>
          <a:ext cx="444549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1227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1896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03417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03417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03417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</a:tbl>
          </a:graphicData>
        </a:graphic>
      </p:graphicFrame>
      <p:cxnSp>
        <p:nvCxnSpPr>
          <p:cNvPr id="60" name="直線接點 59">
            <a:extLst>
              <a:ext uri="{FF2B5EF4-FFF2-40B4-BE49-F238E27FC236}">
                <a16:creationId xmlns:a16="http://schemas.microsoft.com/office/drawing/2014/main" id="{EB1EA629-4209-A850-F1A1-D8BA04D9C9CC}"/>
              </a:ext>
            </a:extLst>
          </p:cNvPr>
          <p:cNvCxnSpPr>
            <a:cxnSpLocks/>
          </p:cNvCxnSpPr>
          <p:nvPr/>
        </p:nvCxnSpPr>
        <p:spPr>
          <a:xfrm>
            <a:off x="3310495" y="4135391"/>
            <a:ext cx="2163625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479E246E-2FCC-8FE5-B733-A981CCE1C6B4}"/>
              </a:ext>
            </a:extLst>
          </p:cNvPr>
          <p:cNvSpPr txBox="1"/>
          <p:nvPr/>
        </p:nvSpPr>
        <p:spPr>
          <a:xfrm>
            <a:off x="4138467" y="4359499"/>
            <a:ext cx="444549" cy="19941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effectLst/>
              </a:rPr>
              <a:t>Norm</a:t>
            </a:r>
          </a:p>
        </p:txBody>
      </p:sp>
      <p:graphicFrame>
        <p:nvGraphicFramePr>
          <p:cNvPr id="68" name="表格 67">
            <a:extLst>
              <a:ext uri="{FF2B5EF4-FFF2-40B4-BE49-F238E27FC236}">
                <a16:creationId xmlns:a16="http://schemas.microsoft.com/office/drawing/2014/main" id="{9EFD464C-B4A7-F135-02DA-626DD5A572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3936189"/>
              </p:ext>
            </p:extLst>
          </p:nvPr>
        </p:nvGraphicFramePr>
        <p:xfrm>
          <a:off x="3745928" y="3429000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70" name="表格 69">
            <a:extLst>
              <a:ext uri="{FF2B5EF4-FFF2-40B4-BE49-F238E27FC236}">
                <a16:creationId xmlns:a16="http://schemas.microsoft.com/office/drawing/2014/main" id="{81CA69A3-B5CC-02BB-7359-C1BA5E6B65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1733383"/>
              </p:ext>
            </p:extLst>
          </p:nvPr>
        </p:nvGraphicFramePr>
        <p:xfrm>
          <a:off x="4901041" y="3429000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72" name="文字方塊 71">
            <a:extLst>
              <a:ext uri="{FF2B5EF4-FFF2-40B4-BE49-F238E27FC236}">
                <a16:creationId xmlns:a16="http://schemas.microsoft.com/office/drawing/2014/main" id="{947E49BB-0A02-34B7-7B44-573B60119A2B}"/>
              </a:ext>
            </a:extLst>
          </p:cNvPr>
          <p:cNvSpPr txBox="1"/>
          <p:nvPr/>
        </p:nvSpPr>
        <p:spPr>
          <a:xfrm>
            <a:off x="4394000" y="3595681"/>
            <a:ext cx="378033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</a:t>
            </a:r>
            <a:r>
              <a:rPr lang="en-US" altLang="zh-TW" sz="1400" b="1" dirty="0"/>
              <a:t> </a:t>
            </a:r>
            <a:r>
              <a:rPr lang="en-US" altLang="zh-TW" sz="1400" b="1" u="none" strike="noStrike" dirty="0">
                <a:effectLst/>
              </a:rPr>
              <a:t>+ 0.9</a:t>
            </a:r>
            <a:r>
              <a:rPr lang="zh-TW" altLang="en-US" sz="1400" b="1" u="none" strike="noStrike" dirty="0">
                <a:effectLst/>
              </a:rPr>
              <a:t> </a:t>
            </a:r>
            <a:r>
              <a:rPr lang="en-US" altLang="zh-TW" sz="1400" b="1" u="none" strike="noStrike" dirty="0">
                <a:effectLst/>
              </a:rPr>
              <a:t>x</a:t>
            </a:r>
            <a:r>
              <a:rPr lang="zh-TW" altLang="en-US" sz="1400" b="1" u="none" strike="noStrike" dirty="0">
                <a:effectLst/>
              </a:rPr>
              <a:t> </a:t>
            </a:r>
            <a:endParaRPr lang="en-US" altLang="zh-TW" sz="1400" b="1" u="none" strike="noStrike" dirty="0">
              <a:effectLst/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/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92780C9C-6CB0-EE4E-3624-E9C83BEC065A}"/>
              </a:ext>
            </a:extLst>
          </p:cNvPr>
          <p:cNvSpPr txBox="1"/>
          <p:nvPr/>
        </p:nvSpPr>
        <p:spPr>
          <a:xfrm>
            <a:off x="2987824" y="4012575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</a:t>
            </a:r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 (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C4461DE9-71CF-6217-CB5B-A3A0EE539051}"/>
              </a:ext>
            </a:extLst>
          </p:cNvPr>
          <p:cNvSpPr txBox="1"/>
          <p:nvPr/>
        </p:nvSpPr>
        <p:spPr>
          <a:xfrm>
            <a:off x="4932961" y="36063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0</a:t>
            </a:r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01F0EDB0-BF85-DC0D-9878-3554C87FB711}"/>
              </a:ext>
            </a:extLst>
          </p:cNvPr>
          <p:cNvSpPr txBox="1"/>
          <p:nvPr/>
        </p:nvSpPr>
        <p:spPr>
          <a:xfrm>
            <a:off x="3779912" y="36063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1</a:t>
            </a:r>
          </a:p>
        </p:txBody>
      </p:sp>
      <p:sp>
        <p:nvSpPr>
          <p:cNvPr id="84" name="右大括弧 83">
            <a:extLst>
              <a:ext uri="{FF2B5EF4-FFF2-40B4-BE49-F238E27FC236}">
                <a16:creationId xmlns:a16="http://schemas.microsoft.com/office/drawing/2014/main" id="{DE720BE9-4C36-0318-5B45-E24D7860CFCE}"/>
              </a:ext>
            </a:extLst>
          </p:cNvPr>
          <p:cNvSpPr/>
          <p:nvPr/>
        </p:nvSpPr>
        <p:spPr>
          <a:xfrm rot="5400000">
            <a:off x="4019893" y="2059133"/>
            <a:ext cx="133813" cy="2297484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6" name="右大括弧 85">
            <a:extLst>
              <a:ext uri="{FF2B5EF4-FFF2-40B4-BE49-F238E27FC236}">
                <a16:creationId xmlns:a16="http://schemas.microsoft.com/office/drawing/2014/main" id="{CF43AA5F-9211-1098-2460-3701EE3A76BD}"/>
              </a:ext>
            </a:extLst>
          </p:cNvPr>
          <p:cNvSpPr/>
          <p:nvPr/>
        </p:nvSpPr>
        <p:spPr>
          <a:xfrm rot="5400000">
            <a:off x="6109823" y="1697396"/>
            <a:ext cx="137191" cy="1008112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graphicFrame>
        <p:nvGraphicFramePr>
          <p:cNvPr id="88" name="表格 87">
            <a:extLst>
              <a:ext uri="{FF2B5EF4-FFF2-40B4-BE49-F238E27FC236}">
                <a16:creationId xmlns:a16="http://schemas.microsoft.com/office/drawing/2014/main" id="{E393108B-6E78-7538-15D5-25B450E877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5725624"/>
              </p:ext>
            </p:extLst>
          </p:nvPr>
        </p:nvGraphicFramePr>
        <p:xfrm>
          <a:off x="5893372" y="2315344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90" name="文字方塊 89">
            <a:extLst>
              <a:ext uri="{FF2B5EF4-FFF2-40B4-BE49-F238E27FC236}">
                <a16:creationId xmlns:a16="http://schemas.microsoft.com/office/drawing/2014/main" id="{1CA08461-6A73-1D89-9315-A1074039A04F}"/>
              </a:ext>
            </a:extLst>
          </p:cNvPr>
          <p:cNvSpPr txBox="1"/>
          <p:nvPr/>
        </p:nvSpPr>
        <p:spPr>
          <a:xfrm>
            <a:off x="5925292" y="2492694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0</a:t>
            </a:r>
          </a:p>
        </p:txBody>
      </p:sp>
      <p:sp>
        <p:nvSpPr>
          <p:cNvPr id="92" name="文字方塊 91">
            <a:extLst>
              <a:ext uri="{FF2B5EF4-FFF2-40B4-BE49-F238E27FC236}">
                <a16:creationId xmlns:a16="http://schemas.microsoft.com/office/drawing/2014/main" id="{DBF2618B-7ED8-C2C2-19D7-3BA9775AF4CF}"/>
              </a:ext>
            </a:extLst>
          </p:cNvPr>
          <p:cNvSpPr txBox="1"/>
          <p:nvPr/>
        </p:nvSpPr>
        <p:spPr>
          <a:xfrm>
            <a:off x="5366373" y="2451264"/>
            <a:ext cx="378033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</a:t>
            </a:r>
            <a:r>
              <a:rPr lang="en-US" altLang="zh-TW" sz="1400" b="1" dirty="0"/>
              <a:t> </a:t>
            </a:r>
            <a:r>
              <a:rPr lang="en-US" altLang="zh-TW" sz="1400" b="1" u="none" strike="noStrike" dirty="0">
                <a:effectLst/>
              </a:rPr>
              <a:t>+ 0.9</a:t>
            </a:r>
            <a:r>
              <a:rPr lang="zh-TW" altLang="en-US" sz="1400" b="1" u="none" strike="noStrike" dirty="0">
                <a:effectLst/>
              </a:rPr>
              <a:t> </a:t>
            </a:r>
            <a:r>
              <a:rPr lang="en-US" altLang="zh-TW" sz="1400" b="1" u="none" strike="noStrike" dirty="0">
                <a:effectLst/>
              </a:rPr>
              <a:t>x</a:t>
            </a:r>
            <a:r>
              <a:rPr lang="zh-TW" altLang="en-US" sz="1400" b="1" u="none" strike="noStrike" dirty="0">
                <a:effectLst/>
              </a:rPr>
              <a:t> </a:t>
            </a:r>
            <a:endParaRPr lang="en-US" altLang="zh-TW" sz="1400" b="1" u="none" strike="noStrike" dirty="0">
              <a:effectLst/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/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32F7E401-3DF7-E006-A589-EECCFB9095AE}"/>
              </a:ext>
            </a:extLst>
          </p:cNvPr>
          <p:cNvSpPr txBox="1"/>
          <p:nvPr/>
        </p:nvSpPr>
        <p:spPr>
          <a:xfrm>
            <a:off x="2434003" y="2463423"/>
            <a:ext cx="40357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0.1 x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0173DE3-5F00-B4F7-46E1-11CEA7497299}"/>
              </a:ext>
            </a:extLst>
          </p:cNvPr>
          <p:cNvSpPr txBox="1"/>
          <p:nvPr/>
        </p:nvSpPr>
        <p:spPr>
          <a:xfrm>
            <a:off x="2862665" y="1921964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8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DAE5345-4FEF-8806-2B9A-F6EFAE99D6B2}"/>
              </a:ext>
            </a:extLst>
          </p:cNvPr>
          <p:cNvSpPr txBox="1"/>
          <p:nvPr/>
        </p:nvSpPr>
        <p:spPr>
          <a:xfrm>
            <a:off x="4115099" y="2142158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8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79D5D804-4AE3-B471-BED8-5AE258E2B811}"/>
              </a:ext>
            </a:extLst>
          </p:cNvPr>
          <p:cNvSpPr txBox="1"/>
          <p:nvPr/>
        </p:nvSpPr>
        <p:spPr>
          <a:xfrm>
            <a:off x="1499889" y="3752028"/>
            <a:ext cx="695847" cy="26336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M: 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C5BB9756-EA36-B027-E7A2-71CE086E3B6A}"/>
              </a:ext>
            </a:extLst>
          </p:cNvPr>
          <p:cNvSpPr txBox="1"/>
          <p:nvPr/>
        </p:nvSpPr>
        <p:spPr>
          <a:xfrm>
            <a:off x="5796094" y="1106603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7827DFC-85FE-6F70-3512-7A29995ED83A}"/>
              </a:ext>
            </a:extLst>
          </p:cNvPr>
          <p:cNvSpPr txBox="1"/>
          <p:nvPr/>
        </p:nvSpPr>
        <p:spPr>
          <a:xfrm>
            <a:off x="2339752" y="4296921"/>
            <a:ext cx="1362776" cy="59189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b="1" dirty="0">
                <a:solidFill>
                  <a:prstClr val="black"/>
                </a:solidFill>
                <a:ea typeface="Cambria Math" panose="02040503050406030204" pitchFamily="18" charset="0"/>
              </a:rPr>
              <a:t>Hadamard Product</a:t>
            </a:r>
            <a:br>
              <a:rPr lang="en-US" altLang="zh-TW" sz="1000" dirty="0">
                <a:solidFill>
                  <a:prstClr val="black"/>
                </a:solidFill>
                <a:ea typeface="Cambria Math" panose="02040503050406030204" pitchFamily="18" charset="0"/>
              </a:rPr>
            </a:br>
            <a:r>
              <a:rPr lang="en-US" altLang="zh-TW" sz="1000" dirty="0">
                <a:solidFill>
                  <a:prstClr val="black"/>
                </a:solidFill>
                <a:ea typeface="Cambria Math" panose="02040503050406030204" pitchFamily="18" charset="0"/>
              </a:rPr>
              <a:t>Element-wise</a:t>
            </a:r>
          </a:p>
          <a:p>
            <a:r>
              <a:rPr lang="en-US" altLang="zh-TW" sz="1000" dirty="0">
                <a:solidFill>
                  <a:prstClr val="black"/>
                </a:solidFill>
                <a:ea typeface="Cambria Math" panose="02040503050406030204" pitchFamily="18" charset="0"/>
              </a:rPr>
              <a:t>Multiplication</a:t>
            </a:r>
            <a:endParaRPr kumimoji="0" lang="en-US" altLang="zh-TW" sz="10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D1F00872-DD77-6591-7CF4-63B351B612B9}"/>
              </a:ext>
            </a:extLst>
          </p:cNvPr>
          <p:cNvSpPr txBox="1"/>
          <p:nvPr/>
        </p:nvSpPr>
        <p:spPr>
          <a:xfrm>
            <a:off x="4025388" y="4797152"/>
            <a:ext cx="754022" cy="22144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9" name="表格 28">
            <a:extLst>
              <a:ext uri="{FF2B5EF4-FFF2-40B4-BE49-F238E27FC236}">
                <a16:creationId xmlns:a16="http://schemas.microsoft.com/office/drawing/2014/main" id="{742C410A-5519-9D60-F89D-F24FCB8B62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4410213"/>
              </p:ext>
            </p:extLst>
          </p:nvPr>
        </p:nvGraphicFramePr>
        <p:xfrm>
          <a:off x="4139952" y="5483696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32" name="文字方塊 31">
            <a:extLst>
              <a:ext uri="{FF2B5EF4-FFF2-40B4-BE49-F238E27FC236}">
                <a16:creationId xmlns:a16="http://schemas.microsoft.com/office/drawing/2014/main" id="{8F638586-DD0F-7B38-ADEB-148121242354}"/>
              </a:ext>
            </a:extLst>
          </p:cNvPr>
          <p:cNvSpPr txBox="1"/>
          <p:nvPr/>
        </p:nvSpPr>
        <p:spPr>
          <a:xfrm>
            <a:off x="4171872" y="564448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Final</a:t>
            </a: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EE495000-44A7-A1D6-AFDB-A89929F61919}"/>
              </a:ext>
            </a:extLst>
          </p:cNvPr>
          <p:cNvSpPr txBox="1"/>
          <p:nvPr/>
        </p:nvSpPr>
        <p:spPr>
          <a:xfrm>
            <a:off x="2981052" y="5481110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36" name="表格 35">
            <a:extLst>
              <a:ext uri="{FF2B5EF4-FFF2-40B4-BE49-F238E27FC236}">
                <a16:creationId xmlns:a16="http://schemas.microsoft.com/office/drawing/2014/main" id="{D82F859B-7C9B-D910-AF09-635336C66F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218863"/>
              </p:ext>
            </p:extLst>
          </p:nvPr>
        </p:nvGraphicFramePr>
        <p:xfrm>
          <a:off x="2693565" y="5727685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39" name="文字方塊 38">
            <a:extLst>
              <a:ext uri="{FF2B5EF4-FFF2-40B4-BE49-F238E27FC236}">
                <a16:creationId xmlns:a16="http://schemas.microsoft.com/office/drawing/2014/main" id="{AE3E24DD-8382-131D-AED4-CD0C90FD0F59}"/>
              </a:ext>
            </a:extLst>
          </p:cNvPr>
          <p:cNvSpPr txBox="1"/>
          <p:nvPr/>
        </p:nvSpPr>
        <p:spPr>
          <a:xfrm>
            <a:off x="3989709" y="566908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38235047-EB09-64DA-E23A-B7F18CD8C13D}"/>
              </a:ext>
            </a:extLst>
          </p:cNvPr>
          <p:cNvSpPr txBox="1"/>
          <p:nvPr/>
        </p:nvSpPr>
        <p:spPr>
          <a:xfrm>
            <a:off x="5219948" y="5405912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911C3EE7-A426-ADFD-A68E-92DF32F50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0970887"/>
              </p:ext>
            </p:extLst>
          </p:nvPr>
        </p:nvGraphicFramePr>
        <p:xfrm>
          <a:off x="4991058" y="5696581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45" name="文字方塊 44">
            <a:extLst>
              <a:ext uri="{FF2B5EF4-FFF2-40B4-BE49-F238E27FC236}">
                <a16:creationId xmlns:a16="http://schemas.microsoft.com/office/drawing/2014/main" id="{DCA76E16-589B-9769-DD1E-F10E8D3A2835}"/>
              </a:ext>
            </a:extLst>
          </p:cNvPr>
          <p:cNvSpPr txBox="1"/>
          <p:nvPr/>
        </p:nvSpPr>
        <p:spPr>
          <a:xfrm>
            <a:off x="4699836" y="5647675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7" name="矩形: 圓角 46">
            <a:extLst>
              <a:ext uri="{FF2B5EF4-FFF2-40B4-BE49-F238E27FC236}">
                <a16:creationId xmlns:a16="http://schemas.microsoft.com/office/drawing/2014/main" id="{60CCA852-9376-3C28-913E-AAC8857E093D}"/>
              </a:ext>
            </a:extLst>
          </p:cNvPr>
          <p:cNvSpPr/>
          <p:nvPr/>
        </p:nvSpPr>
        <p:spPr>
          <a:xfrm>
            <a:off x="971600" y="4010908"/>
            <a:ext cx="1726706" cy="263368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9" name="矩形: 圓角 48">
            <a:extLst>
              <a:ext uri="{FF2B5EF4-FFF2-40B4-BE49-F238E27FC236}">
                <a16:creationId xmlns:a16="http://schemas.microsoft.com/office/drawing/2014/main" id="{7A2721A8-CA55-88EE-ED72-26D429AD1942}"/>
              </a:ext>
            </a:extLst>
          </p:cNvPr>
          <p:cNvSpPr/>
          <p:nvPr/>
        </p:nvSpPr>
        <p:spPr>
          <a:xfrm>
            <a:off x="3710889" y="3379160"/>
            <a:ext cx="652867" cy="704664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AC6279B-7C82-7076-50F0-8DCC108C2EF4}"/>
              </a:ext>
            </a:extLst>
          </p:cNvPr>
          <p:cNvSpPr txBox="1"/>
          <p:nvPr/>
        </p:nvSpPr>
        <p:spPr>
          <a:xfrm>
            <a:off x="2954502" y="2473024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</a:t>
            </a:r>
            <a:endParaRPr lang="en-US" altLang="zh-TW" sz="1400" b="1" u="none" strike="noStrike" baseline="-25000" dirty="0">
              <a:effectLst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7D5FD221-D39C-00C4-4B77-1B45AF5D91EC}"/>
              </a:ext>
            </a:extLst>
          </p:cNvPr>
          <p:cNvSpPr txBox="1"/>
          <p:nvPr/>
        </p:nvSpPr>
        <p:spPr>
          <a:xfrm>
            <a:off x="4192223" y="2454603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B</a:t>
            </a:r>
            <a:endParaRPr lang="en-US" altLang="zh-TW" sz="1400" b="1" u="none" strike="noStrike" baseline="-25000" dirty="0">
              <a:effectLst/>
            </a:endParaRPr>
          </a:p>
        </p:txBody>
      </p:sp>
      <p:sp>
        <p:nvSpPr>
          <p:cNvPr id="96" name="右大括弧 95">
            <a:extLst>
              <a:ext uri="{FF2B5EF4-FFF2-40B4-BE49-F238E27FC236}">
                <a16:creationId xmlns:a16="http://schemas.microsoft.com/office/drawing/2014/main" id="{09FEF152-97B2-87C8-447A-FE52110300CB}"/>
              </a:ext>
            </a:extLst>
          </p:cNvPr>
          <p:cNvSpPr/>
          <p:nvPr/>
        </p:nvSpPr>
        <p:spPr>
          <a:xfrm rot="5400000">
            <a:off x="4216932" y="4321960"/>
            <a:ext cx="370934" cy="2163625"/>
          </a:xfrm>
          <a:prstGeom prst="rightBrace">
            <a:avLst>
              <a:gd name="adj1" fmla="val 19145"/>
              <a:gd name="adj2" fmla="val 5044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475845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1FE66-60E4-CAE7-B48E-D43A9C24A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矩形: 圓角 209">
            <a:extLst>
              <a:ext uri="{FF2B5EF4-FFF2-40B4-BE49-F238E27FC236}">
                <a16:creationId xmlns:a16="http://schemas.microsoft.com/office/drawing/2014/main" id="{8152BEA7-2384-6EDC-C5EE-8FA83875660D}"/>
              </a:ext>
            </a:extLst>
          </p:cNvPr>
          <p:cNvSpPr/>
          <p:nvPr/>
        </p:nvSpPr>
        <p:spPr>
          <a:xfrm>
            <a:off x="3780194" y="1910381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54" name="矩形 453">
            <a:extLst>
              <a:ext uri="{FF2B5EF4-FFF2-40B4-BE49-F238E27FC236}">
                <a16:creationId xmlns:a16="http://schemas.microsoft.com/office/drawing/2014/main" id="{05AFD648-1F4F-AE9D-EF01-0F282686B55C}"/>
              </a:ext>
            </a:extLst>
          </p:cNvPr>
          <p:cNvSpPr/>
          <p:nvPr/>
        </p:nvSpPr>
        <p:spPr>
          <a:xfrm>
            <a:off x="8244408" y="2883915"/>
            <a:ext cx="648072" cy="104166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bg2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algn="ctr">
              <a:lnSpc>
                <a:spcPts val="1600"/>
              </a:lnSpc>
            </a:pPr>
            <a:endParaRPr lang="en-US" altLang="zh-TW" sz="1600" dirty="0">
              <a:solidFill>
                <a:schemeClr val="bg2">
                  <a:lumMod val="50000"/>
                </a:schemeClr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>
              <a:lnSpc>
                <a:spcPts val="1600"/>
              </a:lnSpc>
            </a:pPr>
            <a:endParaRPr lang="en-US" altLang="zh-TW" sz="1600" dirty="0">
              <a:solidFill>
                <a:schemeClr val="bg2">
                  <a:lumMod val="50000"/>
                </a:schemeClr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>
              <a:lnSpc>
                <a:spcPts val="1600"/>
              </a:lnSpc>
            </a:pPr>
            <a:endParaRPr lang="en-US" altLang="zh-TW" sz="16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5" name="矩形 444">
            <a:extLst>
              <a:ext uri="{FF2B5EF4-FFF2-40B4-BE49-F238E27FC236}">
                <a16:creationId xmlns:a16="http://schemas.microsoft.com/office/drawing/2014/main" id="{F4F43444-68EC-669F-9DC6-881E853A6805}"/>
              </a:ext>
            </a:extLst>
          </p:cNvPr>
          <p:cNvSpPr/>
          <p:nvPr/>
        </p:nvSpPr>
        <p:spPr>
          <a:xfrm>
            <a:off x="8367367" y="2883915"/>
            <a:ext cx="241412" cy="1041669"/>
          </a:xfrm>
          <a:prstGeom prst="rect">
            <a:avLst/>
          </a:prstGeom>
          <a:solidFill>
            <a:schemeClr val="bg2">
              <a:lumMod val="90000"/>
              <a:alpha val="60000"/>
            </a:schemeClr>
          </a:solidFill>
          <a:ln w="19050">
            <a:solidFill>
              <a:schemeClr val="bg2">
                <a:lumMod val="50000"/>
                <a:alpha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b="1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PLE</a:t>
            </a:r>
          </a:p>
          <a:p>
            <a:pPr algn="ctr">
              <a:lnSpc>
                <a:spcPts val="1000"/>
              </a:lnSpc>
            </a:pPr>
            <a:endParaRPr lang="en-US" altLang="zh-TW" sz="1000" dirty="0">
              <a:solidFill>
                <a:schemeClr val="tx1"/>
              </a:solidFill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0" name="矩形: 圓角 169">
            <a:extLst>
              <a:ext uri="{FF2B5EF4-FFF2-40B4-BE49-F238E27FC236}">
                <a16:creationId xmlns:a16="http://schemas.microsoft.com/office/drawing/2014/main" id="{BE19256F-39DD-757C-6459-C5C27369D12B}"/>
              </a:ext>
            </a:extLst>
          </p:cNvPr>
          <p:cNvSpPr/>
          <p:nvPr/>
        </p:nvSpPr>
        <p:spPr>
          <a:xfrm>
            <a:off x="2123728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172" name="矩形: 圓角 171">
            <a:extLst>
              <a:ext uri="{FF2B5EF4-FFF2-40B4-BE49-F238E27FC236}">
                <a16:creationId xmlns:a16="http://schemas.microsoft.com/office/drawing/2014/main" id="{E4FBE54E-BF70-627C-7E2E-725B760BEB6D}"/>
              </a:ext>
            </a:extLst>
          </p:cNvPr>
          <p:cNvSpPr/>
          <p:nvPr/>
        </p:nvSpPr>
        <p:spPr>
          <a:xfrm>
            <a:off x="467544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229" name="矩形: 圓角 228">
            <a:extLst>
              <a:ext uri="{FF2B5EF4-FFF2-40B4-BE49-F238E27FC236}">
                <a16:creationId xmlns:a16="http://schemas.microsoft.com/office/drawing/2014/main" id="{8F1B5488-7BCE-8EA6-44BE-77F3FE5C352E}"/>
              </a:ext>
            </a:extLst>
          </p:cNvPr>
          <p:cNvSpPr/>
          <p:nvPr/>
        </p:nvSpPr>
        <p:spPr>
          <a:xfrm>
            <a:off x="3779912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2" name="矩形: 圓角 1">
            <a:extLst>
              <a:ext uri="{FF2B5EF4-FFF2-40B4-BE49-F238E27FC236}">
                <a16:creationId xmlns:a16="http://schemas.microsoft.com/office/drawing/2014/main" id="{63207710-985C-7A28-4056-2FA6713D85CB}"/>
              </a:ext>
            </a:extLst>
          </p:cNvPr>
          <p:cNvSpPr/>
          <p:nvPr/>
        </p:nvSpPr>
        <p:spPr>
          <a:xfrm>
            <a:off x="467826" y="1922626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F70EDC75-7385-5F95-B4BA-97F9859B8A9F}"/>
              </a:ext>
            </a:extLst>
          </p:cNvPr>
          <p:cNvSpPr txBox="1"/>
          <p:nvPr/>
        </p:nvSpPr>
        <p:spPr>
          <a:xfrm>
            <a:off x="535220" y="2002309"/>
            <a:ext cx="1086557" cy="1635243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587727A-BDEF-F32C-B3C5-7C3AB14BD1E5}"/>
              </a:ext>
            </a:extLst>
          </p:cNvPr>
          <p:cNvSpPr txBox="1"/>
          <p:nvPr/>
        </p:nvSpPr>
        <p:spPr>
          <a:xfrm>
            <a:off x="535220" y="3781568"/>
            <a:ext cx="1086557" cy="824652"/>
          </a:xfrm>
          <a:prstGeom prst="rect">
            <a:avLst/>
          </a:prstGeom>
          <a:solidFill>
            <a:schemeClr val="accent1">
              <a:lumMod val="20000"/>
              <a:lumOff val="80000"/>
              <a:alpha val="20000"/>
            </a:scheme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EB078010-CFFF-9CD7-52C0-BC77FCB4C98B}"/>
              </a:ext>
            </a:extLst>
          </p:cNvPr>
          <p:cNvCxnSpPr>
            <a:cxnSpLocks/>
            <a:endCxn id="179" idx="2"/>
          </p:cNvCxnSpPr>
          <p:nvPr/>
        </p:nvCxnSpPr>
        <p:spPr>
          <a:xfrm flipH="1" flipV="1">
            <a:off x="1075281" y="4501648"/>
            <a:ext cx="2307" cy="43506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標題 1">
            <a:extLst>
              <a:ext uri="{FF2B5EF4-FFF2-40B4-BE49-F238E27FC236}">
                <a16:creationId xmlns:a16="http://schemas.microsoft.com/office/drawing/2014/main" id="{6437C88A-0580-6462-84EA-7D74708B04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4: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P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ayer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mbeddings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PLE is a soft-gated, lightweight MoE variant that dynamically activates layer-wise token embeddings.</a:t>
            </a:r>
          </a:p>
        </p:txBody>
      </p:sp>
      <p:sp>
        <p:nvSpPr>
          <p:cNvPr id="19" name="矩形: 圓角 18">
            <a:extLst>
              <a:ext uri="{FF2B5EF4-FFF2-40B4-BE49-F238E27FC236}">
                <a16:creationId xmlns:a16="http://schemas.microsoft.com/office/drawing/2014/main" id="{7D10604D-7C92-2E3B-35EC-F4C7CB2B62D2}"/>
              </a:ext>
            </a:extLst>
          </p:cNvPr>
          <p:cNvSpPr/>
          <p:nvPr/>
        </p:nvSpPr>
        <p:spPr>
          <a:xfrm>
            <a:off x="2123728" y="1922626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E6E0CA71-1BC7-E4CA-433F-7736D51728A0}"/>
              </a:ext>
            </a:extLst>
          </p:cNvPr>
          <p:cNvSpPr txBox="1"/>
          <p:nvPr/>
        </p:nvSpPr>
        <p:spPr>
          <a:xfrm>
            <a:off x="2200023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869BCEB1-E0B0-B90E-2045-1A27BA4B3F18}"/>
              </a:ext>
            </a:extLst>
          </p:cNvPr>
          <p:cNvSpPr txBox="1"/>
          <p:nvPr/>
        </p:nvSpPr>
        <p:spPr>
          <a:xfrm>
            <a:off x="2195735" y="3781568"/>
            <a:ext cx="1086557" cy="824652"/>
          </a:xfrm>
          <a:prstGeom prst="rect">
            <a:avLst/>
          </a:prstGeom>
          <a:solidFill>
            <a:srgbClr val="DCE6F2">
              <a:alpha val="2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23" name="直線單箭頭接點 22">
            <a:extLst>
              <a:ext uri="{FF2B5EF4-FFF2-40B4-BE49-F238E27FC236}">
                <a16:creationId xmlns:a16="http://schemas.microsoft.com/office/drawing/2014/main" id="{A6DD51A0-4E9D-53D5-774B-7FB0D7B40776}"/>
              </a:ext>
            </a:extLst>
          </p:cNvPr>
          <p:cNvCxnSpPr>
            <a:cxnSpLocks/>
            <a:stCxn id="176" idx="0"/>
            <a:endCxn id="177" idx="2"/>
          </p:cNvCxnSpPr>
          <p:nvPr/>
        </p:nvCxnSpPr>
        <p:spPr>
          <a:xfrm flipH="1" flipV="1">
            <a:off x="2726271" y="4501648"/>
            <a:ext cx="2070" cy="25505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矩形: 圓角 113">
            <a:extLst>
              <a:ext uri="{FF2B5EF4-FFF2-40B4-BE49-F238E27FC236}">
                <a16:creationId xmlns:a16="http://schemas.microsoft.com/office/drawing/2014/main" id="{EEB91617-C124-5DE4-BE19-2CEB48DC1241}"/>
              </a:ext>
            </a:extLst>
          </p:cNvPr>
          <p:cNvSpPr/>
          <p:nvPr/>
        </p:nvSpPr>
        <p:spPr>
          <a:xfrm>
            <a:off x="2123728" y="1405304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sp>
        <p:nvSpPr>
          <p:cNvPr id="116" name="矩形: 圓角 115">
            <a:extLst>
              <a:ext uri="{FF2B5EF4-FFF2-40B4-BE49-F238E27FC236}">
                <a16:creationId xmlns:a16="http://schemas.microsoft.com/office/drawing/2014/main" id="{880A86E0-5A57-1AAC-19B8-36E088E57F41}"/>
              </a:ext>
            </a:extLst>
          </p:cNvPr>
          <p:cNvSpPr/>
          <p:nvPr/>
        </p:nvSpPr>
        <p:spPr>
          <a:xfrm>
            <a:off x="467544" y="1405304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cxnSp>
        <p:nvCxnSpPr>
          <p:cNvPr id="117" name="直線單箭頭接點 116">
            <a:extLst>
              <a:ext uri="{FF2B5EF4-FFF2-40B4-BE49-F238E27FC236}">
                <a16:creationId xmlns:a16="http://schemas.microsoft.com/office/drawing/2014/main" id="{85BE5E5C-28BB-97A1-01B2-6768AAA67AEF}"/>
              </a:ext>
            </a:extLst>
          </p:cNvPr>
          <p:cNvCxnSpPr>
            <a:cxnSpLocks/>
            <a:stCxn id="2" idx="0"/>
            <a:endCxn id="116" idx="2"/>
          </p:cNvCxnSpPr>
          <p:nvPr/>
        </p:nvCxnSpPr>
        <p:spPr>
          <a:xfrm flipH="1" flipV="1">
            <a:off x="1077305" y="1750550"/>
            <a:ext cx="282" cy="1720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直線單箭頭接點 119">
            <a:extLst>
              <a:ext uri="{FF2B5EF4-FFF2-40B4-BE49-F238E27FC236}">
                <a16:creationId xmlns:a16="http://schemas.microsoft.com/office/drawing/2014/main" id="{B696DE89-8A26-544F-3D66-7094163C735B}"/>
              </a:ext>
            </a:extLst>
          </p:cNvPr>
          <p:cNvCxnSpPr>
            <a:cxnSpLocks/>
            <a:stCxn id="19" idx="0"/>
            <a:endCxn id="114" idx="2"/>
          </p:cNvCxnSpPr>
          <p:nvPr/>
        </p:nvCxnSpPr>
        <p:spPr>
          <a:xfrm flipV="1">
            <a:off x="2733489" y="1750550"/>
            <a:ext cx="0" cy="1720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5E0CAF59-BBBF-C06E-BFAB-579759835897}"/>
              </a:ext>
            </a:extLst>
          </p:cNvPr>
          <p:cNvSpPr txBox="1"/>
          <p:nvPr/>
        </p:nvSpPr>
        <p:spPr>
          <a:xfrm>
            <a:off x="2488055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38" name="文字方塊 137">
            <a:extLst>
              <a:ext uri="{FF2B5EF4-FFF2-40B4-BE49-F238E27FC236}">
                <a16:creationId xmlns:a16="http://schemas.microsoft.com/office/drawing/2014/main" id="{8F514093-6F77-65BB-A2D2-6043D3519CE7}"/>
              </a:ext>
            </a:extLst>
          </p:cNvPr>
          <p:cNvSpPr txBox="1"/>
          <p:nvPr/>
        </p:nvSpPr>
        <p:spPr>
          <a:xfrm>
            <a:off x="2787962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0" name="文字方塊 139">
            <a:extLst>
              <a:ext uri="{FF2B5EF4-FFF2-40B4-BE49-F238E27FC236}">
                <a16:creationId xmlns:a16="http://schemas.microsoft.com/office/drawing/2014/main" id="{ECA51B2A-2ABF-6E33-0457-6751CBACF99B}"/>
              </a:ext>
            </a:extLst>
          </p:cNvPr>
          <p:cNvSpPr txBox="1"/>
          <p:nvPr/>
        </p:nvSpPr>
        <p:spPr>
          <a:xfrm>
            <a:off x="3074595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2" name="文字方塊 141">
            <a:extLst>
              <a:ext uri="{FF2B5EF4-FFF2-40B4-BE49-F238E27FC236}">
                <a16:creationId xmlns:a16="http://schemas.microsoft.com/office/drawing/2014/main" id="{744B4012-ACB2-0F3C-758F-4D04EBA7F1FE}"/>
              </a:ext>
            </a:extLst>
          </p:cNvPr>
          <p:cNvSpPr txBox="1"/>
          <p:nvPr/>
        </p:nvSpPr>
        <p:spPr>
          <a:xfrm>
            <a:off x="2195736" y="2350933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4" name="文字方塊 143">
            <a:extLst>
              <a:ext uri="{FF2B5EF4-FFF2-40B4-BE49-F238E27FC236}">
                <a16:creationId xmlns:a16="http://schemas.microsoft.com/office/drawing/2014/main" id="{6AE005A0-05D7-773E-285E-3FCA95F33F2D}"/>
              </a:ext>
            </a:extLst>
          </p:cNvPr>
          <p:cNvSpPr txBox="1"/>
          <p:nvPr/>
        </p:nvSpPr>
        <p:spPr>
          <a:xfrm>
            <a:off x="2483768" y="2350933"/>
            <a:ext cx="201168" cy="20116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6" name="文字方塊 145">
            <a:extLst>
              <a:ext uri="{FF2B5EF4-FFF2-40B4-BE49-F238E27FC236}">
                <a16:creationId xmlns:a16="http://schemas.microsoft.com/office/drawing/2014/main" id="{4051D90B-7D0B-401F-7F76-104C3902FCE5}"/>
              </a:ext>
            </a:extLst>
          </p:cNvPr>
          <p:cNvSpPr txBox="1"/>
          <p:nvPr/>
        </p:nvSpPr>
        <p:spPr>
          <a:xfrm>
            <a:off x="2783675" y="2350933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8" name="文字方塊 147">
            <a:extLst>
              <a:ext uri="{FF2B5EF4-FFF2-40B4-BE49-F238E27FC236}">
                <a16:creationId xmlns:a16="http://schemas.microsoft.com/office/drawing/2014/main" id="{BF64FCE1-31A2-A9B7-C357-917B8D840233}"/>
              </a:ext>
            </a:extLst>
          </p:cNvPr>
          <p:cNvSpPr txBox="1"/>
          <p:nvPr/>
        </p:nvSpPr>
        <p:spPr>
          <a:xfrm>
            <a:off x="3074595" y="2350933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414B2865-C3D6-34B0-B1AB-48FB701BAEE5}"/>
              </a:ext>
            </a:extLst>
          </p:cNvPr>
          <p:cNvSpPr txBox="1"/>
          <p:nvPr/>
        </p:nvSpPr>
        <p:spPr>
          <a:xfrm>
            <a:off x="2199071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2" name="文字方塊 151">
            <a:extLst>
              <a:ext uri="{FF2B5EF4-FFF2-40B4-BE49-F238E27FC236}">
                <a16:creationId xmlns:a16="http://schemas.microsoft.com/office/drawing/2014/main" id="{C36BF9ED-BB06-85E2-9031-050919357D81}"/>
              </a:ext>
            </a:extLst>
          </p:cNvPr>
          <p:cNvSpPr txBox="1"/>
          <p:nvPr/>
        </p:nvSpPr>
        <p:spPr>
          <a:xfrm>
            <a:off x="2487103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4" name="文字方塊 153">
            <a:extLst>
              <a:ext uri="{FF2B5EF4-FFF2-40B4-BE49-F238E27FC236}">
                <a16:creationId xmlns:a16="http://schemas.microsoft.com/office/drawing/2014/main" id="{689A7308-C46C-A590-0867-D7C276AD8556}"/>
              </a:ext>
            </a:extLst>
          </p:cNvPr>
          <p:cNvSpPr txBox="1"/>
          <p:nvPr/>
        </p:nvSpPr>
        <p:spPr>
          <a:xfrm>
            <a:off x="2787010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6" name="文字方塊 155">
            <a:extLst>
              <a:ext uri="{FF2B5EF4-FFF2-40B4-BE49-F238E27FC236}">
                <a16:creationId xmlns:a16="http://schemas.microsoft.com/office/drawing/2014/main" id="{439DE49D-B3C9-076B-1306-62B820CCC6AA}"/>
              </a:ext>
            </a:extLst>
          </p:cNvPr>
          <p:cNvSpPr txBox="1"/>
          <p:nvPr/>
        </p:nvSpPr>
        <p:spPr>
          <a:xfrm>
            <a:off x="3073643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8" name="文字方塊 157">
            <a:extLst>
              <a:ext uri="{FF2B5EF4-FFF2-40B4-BE49-F238E27FC236}">
                <a16:creationId xmlns:a16="http://schemas.microsoft.com/office/drawing/2014/main" id="{3F814F05-AF87-78FB-274A-CB46919FC54B}"/>
              </a:ext>
            </a:extLst>
          </p:cNvPr>
          <p:cNvSpPr txBox="1"/>
          <p:nvPr/>
        </p:nvSpPr>
        <p:spPr>
          <a:xfrm>
            <a:off x="2194784" y="2917472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0" name="文字方塊 159">
            <a:extLst>
              <a:ext uri="{FF2B5EF4-FFF2-40B4-BE49-F238E27FC236}">
                <a16:creationId xmlns:a16="http://schemas.microsoft.com/office/drawing/2014/main" id="{86604D7E-3B80-431C-B51D-7F28A1DC59B6}"/>
              </a:ext>
            </a:extLst>
          </p:cNvPr>
          <p:cNvSpPr txBox="1"/>
          <p:nvPr/>
        </p:nvSpPr>
        <p:spPr>
          <a:xfrm>
            <a:off x="2482816" y="2917472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2" name="文字方塊 161">
            <a:extLst>
              <a:ext uri="{FF2B5EF4-FFF2-40B4-BE49-F238E27FC236}">
                <a16:creationId xmlns:a16="http://schemas.microsoft.com/office/drawing/2014/main" id="{99CA2173-A9DE-DD28-3E1F-D8D274448690}"/>
              </a:ext>
            </a:extLst>
          </p:cNvPr>
          <p:cNvSpPr txBox="1"/>
          <p:nvPr/>
        </p:nvSpPr>
        <p:spPr>
          <a:xfrm>
            <a:off x="2782723" y="2917472"/>
            <a:ext cx="201168" cy="20116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4" name="文字方塊 163">
            <a:extLst>
              <a:ext uri="{FF2B5EF4-FFF2-40B4-BE49-F238E27FC236}">
                <a16:creationId xmlns:a16="http://schemas.microsoft.com/office/drawing/2014/main" id="{DD71B362-A01D-EBB9-D617-94917BA6CDEC}"/>
              </a:ext>
            </a:extLst>
          </p:cNvPr>
          <p:cNvSpPr txBox="1"/>
          <p:nvPr/>
        </p:nvSpPr>
        <p:spPr>
          <a:xfrm>
            <a:off x="3073643" y="2917472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8" name="矩形 167">
            <a:extLst>
              <a:ext uri="{FF2B5EF4-FFF2-40B4-BE49-F238E27FC236}">
                <a16:creationId xmlns:a16="http://schemas.microsoft.com/office/drawing/2014/main" id="{4984473E-2D74-7C5F-7523-1066200E0569}"/>
              </a:ext>
            </a:extLst>
          </p:cNvPr>
          <p:cNvSpPr/>
          <p:nvPr/>
        </p:nvSpPr>
        <p:spPr>
          <a:xfrm>
            <a:off x="607229" y="4756564"/>
            <a:ext cx="933795" cy="393156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176" name="矩形 175">
            <a:extLst>
              <a:ext uri="{FF2B5EF4-FFF2-40B4-BE49-F238E27FC236}">
                <a16:creationId xmlns:a16="http://schemas.microsoft.com/office/drawing/2014/main" id="{ACB06678-7FB7-4292-ABE6-B489A21D9B47}"/>
              </a:ext>
            </a:extLst>
          </p:cNvPr>
          <p:cNvSpPr/>
          <p:nvPr/>
        </p:nvSpPr>
        <p:spPr>
          <a:xfrm>
            <a:off x="2476313" y="4756705"/>
            <a:ext cx="504056" cy="393015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177" name="矩形: 圓角 176">
            <a:extLst>
              <a:ext uri="{FF2B5EF4-FFF2-40B4-BE49-F238E27FC236}">
                <a16:creationId xmlns:a16="http://schemas.microsoft.com/office/drawing/2014/main" id="{DA06AFCC-47AC-D0E2-83E9-2D3F7A51BC37}"/>
              </a:ext>
            </a:extLst>
          </p:cNvPr>
          <p:cNvSpPr/>
          <p:nvPr/>
        </p:nvSpPr>
        <p:spPr>
          <a:xfrm>
            <a:off x="2474243" y="4069600"/>
            <a:ext cx="504056" cy="432048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 x 2048</a:t>
            </a:r>
          </a:p>
        </p:txBody>
      </p:sp>
      <p:sp>
        <p:nvSpPr>
          <p:cNvPr id="179" name="矩形: 圓角 178">
            <a:extLst>
              <a:ext uri="{FF2B5EF4-FFF2-40B4-BE49-F238E27FC236}">
                <a16:creationId xmlns:a16="http://schemas.microsoft.com/office/drawing/2014/main" id="{EC117753-EFAC-91F3-0AE6-4EB0623CBA38}"/>
              </a:ext>
            </a:extLst>
          </p:cNvPr>
          <p:cNvSpPr/>
          <p:nvPr/>
        </p:nvSpPr>
        <p:spPr>
          <a:xfrm>
            <a:off x="607229" y="4069600"/>
            <a:ext cx="936104" cy="432048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 x 8192</a:t>
            </a:r>
          </a:p>
        </p:txBody>
      </p:sp>
      <p:sp>
        <p:nvSpPr>
          <p:cNvPr id="181" name="矩形: 圓角 180">
            <a:extLst>
              <a:ext uri="{FF2B5EF4-FFF2-40B4-BE49-F238E27FC236}">
                <a16:creationId xmlns:a16="http://schemas.microsoft.com/office/drawing/2014/main" id="{1C7D8B6E-9018-D3B0-9050-78C4C703439B}"/>
              </a:ext>
            </a:extLst>
          </p:cNvPr>
          <p:cNvSpPr/>
          <p:nvPr/>
        </p:nvSpPr>
        <p:spPr>
          <a:xfrm>
            <a:off x="607229" y="2472158"/>
            <a:ext cx="936104" cy="1093386"/>
          </a:xfrm>
          <a:prstGeom prst="roundRect">
            <a:avLst>
              <a:gd name="adj" fmla="val 8860"/>
            </a:avLst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FFN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211" name="文字方塊 210">
            <a:extLst>
              <a:ext uri="{FF2B5EF4-FFF2-40B4-BE49-F238E27FC236}">
                <a16:creationId xmlns:a16="http://schemas.microsoft.com/office/drawing/2014/main" id="{E8BBC1BD-B857-3E87-A92C-9AD7F8FD3FDD}"/>
              </a:ext>
            </a:extLst>
          </p:cNvPr>
          <p:cNvSpPr txBox="1"/>
          <p:nvPr/>
        </p:nvSpPr>
        <p:spPr>
          <a:xfrm>
            <a:off x="3851920" y="1990064"/>
            <a:ext cx="754719" cy="1635243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12" name="文字方塊 211">
            <a:extLst>
              <a:ext uri="{FF2B5EF4-FFF2-40B4-BE49-F238E27FC236}">
                <a16:creationId xmlns:a16="http://schemas.microsoft.com/office/drawing/2014/main" id="{8BCA93BD-0565-5A58-CC44-CB484CF1AC63}"/>
              </a:ext>
            </a:extLst>
          </p:cNvPr>
          <p:cNvSpPr txBox="1"/>
          <p:nvPr/>
        </p:nvSpPr>
        <p:spPr>
          <a:xfrm>
            <a:off x="3851921" y="3769323"/>
            <a:ext cx="755000" cy="824652"/>
          </a:xfrm>
          <a:prstGeom prst="rect">
            <a:avLst/>
          </a:prstGeom>
          <a:solidFill>
            <a:srgbClr val="DCE6F2">
              <a:alpha val="2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sp>
        <p:nvSpPr>
          <p:cNvPr id="214" name="矩形: 圓角 213">
            <a:extLst>
              <a:ext uri="{FF2B5EF4-FFF2-40B4-BE49-F238E27FC236}">
                <a16:creationId xmlns:a16="http://schemas.microsoft.com/office/drawing/2014/main" id="{B8497F08-95D0-F2C5-894C-7C8B7701641F}"/>
              </a:ext>
            </a:extLst>
          </p:cNvPr>
          <p:cNvSpPr/>
          <p:nvPr/>
        </p:nvSpPr>
        <p:spPr>
          <a:xfrm>
            <a:off x="3779912" y="1393059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cxnSp>
        <p:nvCxnSpPr>
          <p:cNvPr id="215" name="直線單箭頭接點 214">
            <a:extLst>
              <a:ext uri="{FF2B5EF4-FFF2-40B4-BE49-F238E27FC236}">
                <a16:creationId xmlns:a16="http://schemas.microsoft.com/office/drawing/2014/main" id="{28BE8337-43EE-0003-F107-E86F662BD722}"/>
              </a:ext>
            </a:extLst>
          </p:cNvPr>
          <p:cNvCxnSpPr>
            <a:cxnSpLocks/>
            <a:stCxn id="210" idx="0"/>
            <a:endCxn id="214" idx="2"/>
          </p:cNvCxnSpPr>
          <p:nvPr/>
        </p:nvCxnSpPr>
        <p:spPr>
          <a:xfrm flipH="1" flipV="1">
            <a:off x="4389673" y="1738305"/>
            <a:ext cx="282" cy="1720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8" name="矩形: 圓角 217">
            <a:extLst>
              <a:ext uri="{FF2B5EF4-FFF2-40B4-BE49-F238E27FC236}">
                <a16:creationId xmlns:a16="http://schemas.microsoft.com/office/drawing/2014/main" id="{B1EC08CE-E011-D4FD-3B57-E460890E997B}"/>
              </a:ext>
            </a:extLst>
          </p:cNvPr>
          <p:cNvSpPr/>
          <p:nvPr/>
        </p:nvSpPr>
        <p:spPr>
          <a:xfrm>
            <a:off x="3995936" y="2468760"/>
            <a:ext cx="485573" cy="1096784"/>
          </a:xfrm>
          <a:prstGeom prst="roundRect">
            <a:avLst>
              <a:gd name="adj" fmla="val 13748"/>
            </a:avLst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FFN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Nxd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cxnSp>
        <p:nvCxnSpPr>
          <p:cNvPr id="232" name="直線單箭頭接點 231">
            <a:extLst>
              <a:ext uri="{FF2B5EF4-FFF2-40B4-BE49-F238E27FC236}">
                <a16:creationId xmlns:a16="http://schemas.microsoft.com/office/drawing/2014/main" id="{F26B60A0-8C3B-AFEC-E949-85B592C35EA9}"/>
              </a:ext>
            </a:extLst>
          </p:cNvPr>
          <p:cNvCxnSpPr>
            <a:cxnSpLocks/>
            <a:stCxn id="233" idx="0"/>
            <a:endCxn id="234" idx="2"/>
          </p:cNvCxnSpPr>
          <p:nvPr/>
        </p:nvCxnSpPr>
        <p:spPr>
          <a:xfrm flipH="1" flipV="1">
            <a:off x="4226493" y="4508771"/>
            <a:ext cx="3979" cy="23328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矩形 232">
            <a:extLst>
              <a:ext uri="{FF2B5EF4-FFF2-40B4-BE49-F238E27FC236}">
                <a16:creationId xmlns:a16="http://schemas.microsoft.com/office/drawing/2014/main" id="{EE8233CC-685F-7D13-2602-C521F75A2832}"/>
              </a:ext>
            </a:extLst>
          </p:cNvPr>
          <p:cNvSpPr/>
          <p:nvPr/>
        </p:nvSpPr>
        <p:spPr>
          <a:xfrm>
            <a:off x="4032960" y="4742058"/>
            <a:ext cx="395024" cy="407662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234" name="矩形: 圓角 233">
            <a:extLst>
              <a:ext uri="{FF2B5EF4-FFF2-40B4-BE49-F238E27FC236}">
                <a16:creationId xmlns:a16="http://schemas.microsoft.com/office/drawing/2014/main" id="{ECD326D8-B7FF-4E8B-8C79-96380FFA8CB5}"/>
              </a:ext>
            </a:extLst>
          </p:cNvPr>
          <p:cNvSpPr/>
          <p:nvPr/>
        </p:nvSpPr>
        <p:spPr>
          <a:xfrm>
            <a:off x="4025003" y="4069600"/>
            <a:ext cx="402980" cy="439171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Nx1536</a:t>
            </a:r>
          </a:p>
        </p:txBody>
      </p:sp>
      <p:sp>
        <p:nvSpPr>
          <p:cNvPr id="243" name="矩形: 圓角 242">
            <a:extLst>
              <a:ext uri="{FF2B5EF4-FFF2-40B4-BE49-F238E27FC236}">
                <a16:creationId xmlns:a16="http://schemas.microsoft.com/office/drawing/2014/main" id="{D2F0EB87-8852-A70A-3723-552C9C22DAC4}"/>
              </a:ext>
            </a:extLst>
          </p:cNvPr>
          <p:cNvSpPr/>
          <p:nvPr/>
        </p:nvSpPr>
        <p:spPr>
          <a:xfrm>
            <a:off x="2467914" y="3224554"/>
            <a:ext cx="516929" cy="436010"/>
          </a:xfrm>
          <a:prstGeom prst="roundRect">
            <a:avLst>
              <a:gd name="adj" fmla="val 8860"/>
            </a:avLst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MoE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Router</a:t>
            </a:r>
          </a:p>
        </p:txBody>
      </p:sp>
      <p:graphicFrame>
        <p:nvGraphicFramePr>
          <p:cNvPr id="247" name="表格 246">
            <a:extLst>
              <a:ext uri="{FF2B5EF4-FFF2-40B4-BE49-F238E27FC236}">
                <a16:creationId xmlns:a16="http://schemas.microsoft.com/office/drawing/2014/main" id="{61885D46-3697-0E37-AEE5-5620963F4D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9438005"/>
              </p:ext>
            </p:extLst>
          </p:nvPr>
        </p:nvGraphicFramePr>
        <p:xfrm>
          <a:off x="5652400" y="1777144"/>
          <a:ext cx="2520000" cy="2618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6185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D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253" name="表格 252">
            <a:extLst>
              <a:ext uri="{FF2B5EF4-FFF2-40B4-BE49-F238E27FC236}">
                <a16:creationId xmlns:a16="http://schemas.microsoft.com/office/drawing/2014/main" id="{DC5B4798-CEC6-AFB5-C676-A6C5088940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3125562"/>
              </p:ext>
            </p:extLst>
          </p:nvPr>
        </p:nvGraphicFramePr>
        <p:xfrm>
          <a:off x="6823274" y="3400354"/>
          <a:ext cx="1264220" cy="273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84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45648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</a:tblGrid>
              <a:tr h="27365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259" name="表格 258">
            <a:extLst>
              <a:ext uri="{FF2B5EF4-FFF2-40B4-BE49-F238E27FC236}">
                <a16:creationId xmlns:a16="http://schemas.microsoft.com/office/drawing/2014/main" id="{BB345011-E72A-4B57-7623-0F079D3A82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2851739"/>
              </p:ext>
            </p:extLst>
          </p:nvPr>
        </p:nvGraphicFramePr>
        <p:xfrm>
          <a:off x="6823274" y="4066479"/>
          <a:ext cx="1264220" cy="276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84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4565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360038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</a:tblGrid>
              <a:tr h="27677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261" name="表格 260">
            <a:extLst>
              <a:ext uri="{FF2B5EF4-FFF2-40B4-BE49-F238E27FC236}">
                <a16:creationId xmlns:a16="http://schemas.microsoft.com/office/drawing/2014/main" id="{FFB275EB-4E36-DB50-7280-FD028F5641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0050720"/>
              </p:ext>
            </p:extLst>
          </p:nvPr>
        </p:nvGraphicFramePr>
        <p:xfrm>
          <a:off x="5652120" y="5265132"/>
          <a:ext cx="2520000" cy="3022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3022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277" name="接點: 肘形 276">
            <a:extLst>
              <a:ext uri="{FF2B5EF4-FFF2-40B4-BE49-F238E27FC236}">
                <a16:creationId xmlns:a16="http://schemas.microsoft.com/office/drawing/2014/main" id="{928978F1-37A7-0A94-71DE-2F6FA9EC1494}"/>
              </a:ext>
            </a:extLst>
          </p:cNvPr>
          <p:cNvCxnSpPr>
            <a:cxnSpLocks/>
            <a:stCxn id="247" idx="1"/>
            <a:endCxn id="353" idx="3"/>
          </p:cNvCxnSpPr>
          <p:nvPr/>
        </p:nvCxnSpPr>
        <p:spPr>
          <a:xfrm rot="10800000" flipV="1">
            <a:off x="5148064" y="1908071"/>
            <a:ext cx="504336" cy="1757498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8" name="接點: 肘形 277">
            <a:extLst>
              <a:ext uri="{FF2B5EF4-FFF2-40B4-BE49-F238E27FC236}">
                <a16:creationId xmlns:a16="http://schemas.microsoft.com/office/drawing/2014/main" id="{717C5D64-7B86-5E45-0548-0FDD29BF909A}"/>
              </a:ext>
            </a:extLst>
          </p:cNvPr>
          <p:cNvCxnSpPr>
            <a:cxnSpLocks/>
            <a:stCxn id="355" idx="3"/>
            <a:endCxn id="261" idx="1"/>
          </p:cNvCxnSpPr>
          <p:nvPr/>
        </p:nvCxnSpPr>
        <p:spPr>
          <a:xfrm>
            <a:off x="5148064" y="3789373"/>
            <a:ext cx="504056" cy="1626888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直線接點 292">
            <a:extLst>
              <a:ext uri="{FF2B5EF4-FFF2-40B4-BE49-F238E27FC236}">
                <a16:creationId xmlns:a16="http://schemas.microsoft.com/office/drawing/2014/main" id="{A2D0A9B0-FA90-7699-CF4F-9C904905E5EC}"/>
              </a:ext>
            </a:extLst>
          </p:cNvPr>
          <p:cNvCxnSpPr>
            <a:cxnSpLocks/>
            <a:stCxn id="447" idx="1"/>
            <a:endCxn id="253" idx="3"/>
          </p:cNvCxnSpPr>
          <p:nvPr/>
        </p:nvCxnSpPr>
        <p:spPr>
          <a:xfrm flipH="1">
            <a:off x="8087494" y="3537181"/>
            <a:ext cx="275854" cy="0"/>
          </a:xfrm>
          <a:prstGeom prst="line">
            <a:avLst/>
          </a:prstGeom>
          <a:ln>
            <a:solidFill>
              <a:schemeClr val="accent6">
                <a:lumMod val="5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3" name="文字方塊 322">
            <a:extLst>
              <a:ext uri="{FF2B5EF4-FFF2-40B4-BE49-F238E27FC236}">
                <a16:creationId xmlns:a16="http://schemas.microsoft.com/office/drawing/2014/main" id="{28DFD3BC-A87F-A5C7-534C-3F0D49144805}"/>
              </a:ext>
            </a:extLst>
          </p:cNvPr>
          <p:cNvSpPr txBox="1"/>
          <p:nvPr/>
        </p:nvSpPr>
        <p:spPr>
          <a:xfrm>
            <a:off x="5652120" y="5069655"/>
            <a:ext cx="899391" cy="20970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Gating </a:t>
            </a:r>
            <a:r>
              <a:rPr kumimoji="0" lang="en-US" altLang="zh-TW" sz="12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Router</a:t>
            </a:r>
          </a:p>
        </p:txBody>
      </p:sp>
      <p:sp>
        <p:nvSpPr>
          <p:cNvPr id="238" name="矩形: 圓角 237">
            <a:extLst>
              <a:ext uri="{FF2B5EF4-FFF2-40B4-BE49-F238E27FC236}">
                <a16:creationId xmlns:a16="http://schemas.microsoft.com/office/drawing/2014/main" id="{4B06301D-1BE8-1326-B4FC-7F4CF91E61AE}"/>
              </a:ext>
            </a:extLst>
          </p:cNvPr>
          <p:cNvSpPr/>
          <p:nvPr/>
        </p:nvSpPr>
        <p:spPr>
          <a:xfrm>
            <a:off x="4755291" y="2941403"/>
            <a:ext cx="72008" cy="1093386"/>
          </a:xfrm>
          <a:prstGeom prst="roundRect">
            <a:avLst>
              <a:gd name="adj" fmla="val 13748"/>
            </a:avLst>
          </a:prstGeom>
          <a:solidFill>
            <a:schemeClr val="accent6">
              <a:lumMod val="60000"/>
              <a:lumOff val="40000"/>
              <a:alpha val="40000"/>
            </a:schemeClr>
          </a:solidFill>
          <a:ln w="15875">
            <a:solidFill>
              <a:schemeClr val="accent6">
                <a:lumMod val="75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363" name="文字方塊 362">
            <a:extLst>
              <a:ext uri="{FF2B5EF4-FFF2-40B4-BE49-F238E27FC236}">
                <a16:creationId xmlns:a16="http://schemas.microsoft.com/office/drawing/2014/main" id="{525FB032-A4CB-7C4D-2D54-F9DD83D1962B}"/>
              </a:ext>
            </a:extLst>
          </p:cNvPr>
          <p:cNvSpPr txBox="1"/>
          <p:nvPr/>
        </p:nvSpPr>
        <p:spPr>
          <a:xfrm>
            <a:off x="6823274" y="3839199"/>
            <a:ext cx="963697" cy="26450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Token Indexing</a:t>
            </a:r>
            <a:endParaRPr kumimoji="0" lang="en-US" altLang="zh-TW" sz="12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cxnSp>
        <p:nvCxnSpPr>
          <p:cNvPr id="365" name="接點: 肘形 364">
            <a:extLst>
              <a:ext uri="{FF2B5EF4-FFF2-40B4-BE49-F238E27FC236}">
                <a16:creationId xmlns:a16="http://schemas.microsoft.com/office/drawing/2014/main" id="{DD415140-B33D-1548-4B58-7C4C4747B9D4}"/>
              </a:ext>
            </a:extLst>
          </p:cNvPr>
          <p:cNvCxnSpPr>
            <a:cxnSpLocks/>
            <a:stCxn id="233" idx="3"/>
            <a:endCxn id="369" idx="2"/>
          </p:cNvCxnSpPr>
          <p:nvPr/>
        </p:nvCxnSpPr>
        <p:spPr>
          <a:xfrm flipV="1">
            <a:off x="4427984" y="4501648"/>
            <a:ext cx="357953" cy="444241"/>
          </a:xfrm>
          <a:prstGeom prst="bentConnector2">
            <a:avLst/>
          </a:prstGeom>
          <a:ln w="19050">
            <a:solidFill>
              <a:schemeClr val="tx1"/>
            </a:solidFill>
            <a:headEnd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9" name="矩形: 圓角 368">
            <a:extLst>
              <a:ext uri="{FF2B5EF4-FFF2-40B4-BE49-F238E27FC236}">
                <a16:creationId xmlns:a16="http://schemas.microsoft.com/office/drawing/2014/main" id="{DE9F4776-897F-EF38-755B-22FC78B99362}"/>
              </a:ext>
            </a:extLst>
          </p:cNvPr>
          <p:cNvSpPr/>
          <p:nvPr/>
        </p:nvSpPr>
        <p:spPr>
          <a:xfrm>
            <a:off x="4644008" y="4069600"/>
            <a:ext cx="283858" cy="432048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PLE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256</a:t>
            </a:r>
          </a:p>
        </p:txBody>
      </p:sp>
      <p:sp>
        <p:nvSpPr>
          <p:cNvPr id="379" name="矩形: 圓角 378">
            <a:extLst>
              <a:ext uri="{FF2B5EF4-FFF2-40B4-BE49-F238E27FC236}">
                <a16:creationId xmlns:a16="http://schemas.microsoft.com/office/drawing/2014/main" id="{C319F167-CD75-A554-5FB6-13D7673C674F}"/>
              </a:ext>
            </a:extLst>
          </p:cNvPr>
          <p:cNvSpPr/>
          <p:nvPr/>
        </p:nvSpPr>
        <p:spPr>
          <a:xfrm>
            <a:off x="8355366" y="5135343"/>
            <a:ext cx="287468" cy="302259"/>
          </a:xfrm>
          <a:prstGeom prst="roundRect">
            <a:avLst>
              <a:gd name="adj" fmla="val 13748"/>
            </a:avLst>
          </a:prstGeom>
          <a:solidFill>
            <a:srgbClr val="DCE6F2">
              <a:alpha val="40000"/>
            </a:srgbClr>
          </a:solidFill>
          <a:ln w="19050">
            <a:solidFill>
              <a:schemeClr val="bg1">
                <a:lumMod val="5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W</a:t>
            </a:r>
            <a:b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</a:br>
            <a:r>
              <a:rPr lang="en-US" altLang="zh-TW" sz="1000" dirty="0" err="1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Dxd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402" name="文字方塊 401">
            <a:extLst>
              <a:ext uri="{FF2B5EF4-FFF2-40B4-BE49-F238E27FC236}">
                <a16:creationId xmlns:a16="http://schemas.microsoft.com/office/drawing/2014/main" id="{72FAC1CD-FDAF-2C4E-5F25-3580BA933392}"/>
              </a:ext>
            </a:extLst>
          </p:cNvPr>
          <p:cNvSpPr txBox="1"/>
          <p:nvPr/>
        </p:nvSpPr>
        <p:spPr>
          <a:xfrm>
            <a:off x="8172400" y="5135343"/>
            <a:ext cx="182966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cxnSp>
        <p:nvCxnSpPr>
          <p:cNvPr id="407" name="接點: 弧形 406">
            <a:extLst>
              <a:ext uri="{FF2B5EF4-FFF2-40B4-BE49-F238E27FC236}">
                <a16:creationId xmlns:a16="http://schemas.microsoft.com/office/drawing/2014/main" id="{6B75EBEC-48B3-25A0-46E3-2D8C9256BCD5}"/>
              </a:ext>
            </a:extLst>
          </p:cNvPr>
          <p:cNvCxnSpPr>
            <a:cxnSpLocks/>
            <a:stCxn id="406" idx="0"/>
            <a:endCxn id="259" idx="3"/>
          </p:cNvCxnSpPr>
          <p:nvPr/>
        </p:nvCxnSpPr>
        <p:spPr>
          <a:xfrm rot="16200000" flipV="1">
            <a:off x="8118153" y="4174208"/>
            <a:ext cx="354412" cy="415730"/>
          </a:xfrm>
          <a:prstGeom prst="curvedConnector2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接點: 弧形 413">
            <a:extLst>
              <a:ext uri="{FF2B5EF4-FFF2-40B4-BE49-F238E27FC236}">
                <a16:creationId xmlns:a16="http://schemas.microsoft.com/office/drawing/2014/main" id="{6A8855D9-5D93-9B03-FA67-8CB796C3379A}"/>
              </a:ext>
            </a:extLst>
          </p:cNvPr>
          <p:cNvCxnSpPr>
            <a:cxnSpLocks/>
            <a:stCxn id="379" idx="0"/>
            <a:endCxn id="404" idx="3"/>
          </p:cNvCxnSpPr>
          <p:nvPr/>
        </p:nvCxnSpPr>
        <p:spPr>
          <a:xfrm rot="16200000" flipV="1">
            <a:off x="8139011" y="4775254"/>
            <a:ext cx="321471" cy="398708"/>
          </a:xfrm>
          <a:prstGeom prst="curvedConnector2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0" name="文字方塊 399">
            <a:extLst>
              <a:ext uri="{FF2B5EF4-FFF2-40B4-BE49-F238E27FC236}">
                <a16:creationId xmlns:a16="http://schemas.microsoft.com/office/drawing/2014/main" id="{C2D0AA9D-2CF4-2067-F683-7B9B3215C81A}"/>
              </a:ext>
            </a:extLst>
          </p:cNvPr>
          <p:cNvSpPr txBox="1"/>
          <p:nvPr/>
        </p:nvSpPr>
        <p:spPr>
          <a:xfrm>
            <a:off x="8100392" y="4559279"/>
            <a:ext cx="252367" cy="276776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06" name="矩形: 圓角 405">
            <a:extLst>
              <a:ext uri="{FF2B5EF4-FFF2-40B4-BE49-F238E27FC236}">
                <a16:creationId xmlns:a16="http://schemas.microsoft.com/office/drawing/2014/main" id="{67454EB2-CB74-516D-45F4-16E55A222BF8}"/>
              </a:ext>
            </a:extLst>
          </p:cNvPr>
          <p:cNvSpPr/>
          <p:nvPr/>
        </p:nvSpPr>
        <p:spPr>
          <a:xfrm>
            <a:off x="8365657" y="4559279"/>
            <a:ext cx="275134" cy="276776"/>
          </a:xfrm>
          <a:prstGeom prst="roundRect">
            <a:avLst>
              <a:gd name="adj" fmla="val 13748"/>
            </a:avLst>
          </a:prstGeom>
          <a:solidFill>
            <a:schemeClr val="bg1">
              <a:alpha val="60000"/>
            </a:schemeClr>
          </a:solidFill>
          <a:ln w="19050">
            <a:solidFill>
              <a:schemeClr val="bg1">
                <a:lumMod val="5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l-GR" altLang="zh-TW" sz="1400" b="1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σ</a:t>
            </a:r>
            <a:endParaRPr lang="en-US" altLang="zh-TW" sz="1400" b="1" dirty="0">
              <a:solidFill>
                <a:prstClr val="black"/>
              </a:solidFill>
              <a:latin typeface="Calibri"/>
              <a:ea typeface="微軟正黑體" panose="020B0604030504040204" pitchFamily="34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ts val="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1xd</a:t>
            </a:r>
          </a:p>
        </p:txBody>
      </p:sp>
      <p:graphicFrame>
        <p:nvGraphicFramePr>
          <p:cNvPr id="404" name="表格 403">
            <a:extLst>
              <a:ext uri="{FF2B5EF4-FFF2-40B4-BE49-F238E27FC236}">
                <a16:creationId xmlns:a16="http://schemas.microsoft.com/office/drawing/2014/main" id="{EC50C037-BABC-90C0-4103-A8A24C9457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7970535"/>
              </p:ext>
            </p:extLst>
          </p:nvPr>
        </p:nvGraphicFramePr>
        <p:xfrm>
          <a:off x="6836172" y="4662743"/>
          <a:ext cx="1264220" cy="3022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60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9521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141685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180603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180603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361205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3022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427" name="文字方塊 426">
            <a:extLst>
              <a:ext uri="{FF2B5EF4-FFF2-40B4-BE49-F238E27FC236}">
                <a16:creationId xmlns:a16="http://schemas.microsoft.com/office/drawing/2014/main" id="{CA43E46A-4463-4F26-3FD5-3A646BC83E23}"/>
              </a:ext>
            </a:extLst>
          </p:cNvPr>
          <p:cNvSpPr txBox="1"/>
          <p:nvPr/>
        </p:nvSpPr>
        <p:spPr>
          <a:xfrm>
            <a:off x="6836172" y="4475026"/>
            <a:ext cx="646847" cy="20330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Sigmoid</a:t>
            </a:r>
            <a:endParaRPr kumimoji="0" lang="en-US" altLang="zh-TW" sz="12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35" name="矩形 434">
            <a:extLst>
              <a:ext uri="{FF2B5EF4-FFF2-40B4-BE49-F238E27FC236}">
                <a16:creationId xmlns:a16="http://schemas.microsoft.com/office/drawing/2014/main" id="{5197D484-ABC8-13C5-E5F6-FB749CE8FAC9}"/>
              </a:ext>
            </a:extLst>
          </p:cNvPr>
          <p:cNvSpPr/>
          <p:nvPr/>
        </p:nvSpPr>
        <p:spPr>
          <a:xfrm>
            <a:off x="282880" y="5308701"/>
            <a:ext cx="362588" cy="424555"/>
          </a:xfrm>
          <a:prstGeom prst="rect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6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37" name="矩形 436">
            <a:extLst>
              <a:ext uri="{FF2B5EF4-FFF2-40B4-BE49-F238E27FC236}">
                <a16:creationId xmlns:a16="http://schemas.microsoft.com/office/drawing/2014/main" id="{69BE9F70-005C-830C-0F84-3A9F03A44EB7}"/>
              </a:ext>
            </a:extLst>
          </p:cNvPr>
          <p:cNvSpPr/>
          <p:nvPr/>
        </p:nvSpPr>
        <p:spPr>
          <a:xfrm>
            <a:off x="1939064" y="5308701"/>
            <a:ext cx="362588" cy="424555"/>
          </a:xfrm>
          <a:prstGeom prst="rect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6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39" name="矩形 438">
            <a:extLst>
              <a:ext uri="{FF2B5EF4-FFF2-40B4-BE49-F238E27FC236}">
                <a16:creationId xmlns:a16="http://schemas.microsoft.com/office/drawing/2014/main" id="{5140CBF9-9A18-5C52-07CB-4AD7B2111DA5}"/>
              </a:ext>
            </a:extLst>
          </p:cNvPr>
          <p:cNvSpPr/>
          <p:nvPr/>
        </p:nvSpPr>
        <p:spPr>
          <a:xfrm>
            <a:off x="3595248" y="5300108"/>
            <a:ext cx="362588" cy="424555"/>
          </a:xfrm>
          <a:prstGeom prst="rect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6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3" name="矩形 442">
            <a:extLst>
              <a:ext uri="{FF2B5EF4-FFF2-40B4-BE49-F238E27FC236}">
                <a16:creationId xmlns:a16="http://schemas.microsoft.com/office/drawing/2014/main" id="{6FDA76AC-3819-6910-C4B2-7A5CE3BC76C1}"/>
              </a:ext>
            </a:extLst>
          </p:cNvPr>
          <p:cNvSpPr/>
          <p:nvPr/>
        </p:nvSpPr>
        <p:spPr>
          <a:xfrm>
            <a:off x="4870424" y="2942439"/>
            <a:ext cx="104230" cy="479089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0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7" name="矩形: 圓角 446">
            <a:extLst>
              <a:ext uri="{FF2B5EF4-FFF2-40B4-BE49-F238E27FC236}">
                <a16:creationId xmlns:a16="http://schemas.microsoft.com/office/drawing/2014/main" id="{C0B6E053-FF58-D53D-1860-D25BEA29989C}"/>
              </a:ext>
            </a:extLst>
          </p:cNvPr>
          <p:cNvSpPr/>
          <p:nvPr/>
        </p:nvSpPr>
        <p:spPr>
          <a:xfrm>
            <a:off x="8363348" y="3501266"/>
            <a:ext cx="257333" cy="71829"/>
          </a:xfrm>
          <a:prstGeom prst="roundRect">
            <a:avLst>
              <a:gd name="adj" fmla="val 13748"/>
            </a:avLst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cxnSp>
        <p:nvCxnSpPr>
          <p:cNvPr id="448" name="接點: 肘形 447">
            <a:extLst>
              <a:ext uri="{FF2B5EF4-FFF2-40B4-BE49-F238E27FC236}">
                <a16:creationId xmlns:a16="http://schemas.microsoft.com/office/drawing/2014/main" id="{7E15CB88-84AE-BF15-F851-06F42158E725}"/>
              </a:ext>
            </a:extLst>
          </p:cNvPr>
          <p:cNvCxnSpPr>
            <a:cxnSpLocks/>
            <a:stCxn id="363" idx="3"/>
            <a:endCxn id="447" idx="2"/>
          </p:cNvCxnSpPr>
          <p:nvPr/>
        </p:nvCxnSpPr>
        <p:spPr>
          <a:xfrm flipV="1">
            <a:off x="7786971" y="3573095"/>
            <a:ext cx="705044" cy="398354"/>
          </a:xfrm>
          <a:prstGeom prst="bentConnector2">
            <a:avLst/>
          </a:prstGeom>
          <a:ln>
            <a:solidFill>
              <a:schemeClr val="accent6">
                <a:lumMod val="5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6" name="文字方塊 465">
            <a:extLst>
              <a:ext uri="{FF2B5EF4-FFF2-40B4-BE49-F238E27FC236}">
                <a16:creationId xmlns:a16="http://schemas.microsoft.com/office/drawing/2014/main" id="{9EDE28DD-20E0-22B3-9112-F36B0AF38090}"/>
              </a:ext>
            </a:extLst>
          </p:cNvPr>
          <p:cNvSpPr txBox="1"/>
          <p:nvPr/>
        </p:nvSpPr>
        <p:spPr>
          <a:xfrm>
            <a:off x="6823274" y="3191127"/>
            <a:ext cx="1135886" cy="20922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Layer</a:t>
            </a:r>
            <a:r>
              <a:rPr lang="zh-TW" altLang="en-US" sz="1200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en-US" altLang="zh-TW" sz="12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Embedding</a:t>
            </a:r>
          </a:p>
        </p:txBody>
      </p:sp>
      <p:sp>
        <p:nvSpPr>
          <p:cNvPr id="479" name="矩形: 圓角 478">
            <a:extLst>
              <a:ext uri="{FF2B5EF4-FFF2-40B4-BE49-F238E27FC236}">
                <a16:creationId xmlns:a16="http://schemas.microsoft.com/office/drawing/2014/main" id="{D1FB5A6B-242D-349D-5C43-049DCFA823B7}"/>
              </a:ext>
            </a:extLst>
          </p:cNvPr>
          <p:cNvSpPr/>
          <p:nvPr/>
        </p:nvSpPr>
        <p:spPr>
          <a:xfrm>
            <a:off x="7365587" y="2787416"/>
            <a:ext cx="287468" cy="302259"/>
          </a:xfrm>
          <a:prstGeom prst="roundRect">
            <a:avLst>
              <a:gd name="adj" fmla="val 13748"/>
            </a:avLst>
          </a:prstGeom>
          <a:solidFill>
            <a:srgbClr val="DCE6F2">
              <a:alpha val="40000"/>
            </a:srgbClr>
          </a:solidFill>
          <a:ln w="19050">
            <a:solidFill>
              <a:schemeClr val="bg1">
                <a:lumMod val="5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U</a:t>
            </a:r>
            <a:b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</a:br>
            <a: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dxD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graphicFrame>
        <p:nvGraphicFramePr>
          <p:cNvPr id="481" name="表格 480">
            <a:extLst>
              <a:ext uri="{FF2B5EF4-FFF2-40B4-BE49-F238E27FC236}">
                <a16:creationId xmlns:a16="http://schemas.microsoft.com/office/drawing/2014/main" id="{8198FD95-2130-DE8C-2894-D9D277FFDE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8412873"/>
              </p:ext>
            </p:extLst>
          </p:nvPr>
        </p:nvGraphicFramePr>
        <p:xfrm>
          <a:off x="5652400" y="2209192"/>
          <a:ext cx="2520000" cy="2618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6185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a1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a2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483" name="表格 482">
            <a:extLst>
              <a:ext uri="{FF2B5EF4-FFF2-40B4-BE49-F238E27FC236}">
                <a16:creationId xmlns:a16="http://schemas.microsoft.com/office/drawing/2014/main" id="{ACBE89B7-C0CF-4307-100A-AE10558D9E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0568234"/>
              </p:ext>
            </p:extLst>
          </p:nvPr>
        </p:nvGraphicFramePr>
        <p:xfrm>
          <a:off x="6823274" y="2787342"/>
          <a:ext cx="375653" cy="2935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65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+mn-lt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1xd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485" name="文字方塊 484">
            <a:extLst>
              <a:ext uri="{FF2B5EF4-FFF2-40B4-BE49-F238E27FC236}">
                <a16:creationId xmlns:a16="http://schemas.microsoft.com/office/drawing/2014/main" id="{CFCE0F9D-ED6F-C81A-D59B-0D98F8DCA129}"/>
              </a:ext>
            </a:extLst>
          </p:cNvPr>
          <p:cNvSpPr txBox="1"/>
          <p:nvPr/>
        </p:nvSpPr>
        <p:spPr>
          <a:xfrm>
            <a:off x="7211082" y="2831087"/>
            <a:ext cx="131861" cy="19951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57" name="文字方塊 256">
            <a:extLst>
              <a:ext uri="{FF2B5EF4-FFF2-40B4-BE49-F238E27FC236}">
                <a16:creationId xmlns:a16="http://schemas.microsoft.com/office/drawing/2014/main" id="{C7691DC9-6984-0D23-A0E0-6E7D19059F8F}"/>
              </a:ext>
            </a:extLst>
          </p:cNvPr>
          <p:cNvSpPr txBox="1"/>
          <p:nvPr/>
        </p:nvSpPr>
        <p:spPr>
          <a:xfrm>
            <a:off x="7936010" y="3839925"/>
            <a:ext cx="313421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87" name="文字方塊 486">
            <a:extLst>
              <a:ext uri="{FF2B5EF4-FFF2-40B4-BE49-F238E27FC236}">
                <a16:creationId xmlns:a16="http://schemas.microsoft.com/office/drawing/2014/main" id="{8B4A16DF-DE69-01D3-C03A-0A8EAB36D537}"/>
              </a:ext>
            </a:extLst>
          </p:cNvPr>
          <p:cNvSpPr txBox="1"/>
          <p:nvPr/>
        </p:nvSpPr>
        <p:spPr>
          <a:xfrm>
            <a:off x="6588779" y="1981367"/>
            <a:ext cx="313421" cy="27365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lang="en-US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93" name="文字方塊 492">
            <a:extLst>
              <a:ext uri="{FF2B5EF4-FFF2-40B4-BE49-F238E27FC236}">
                <a16:creationId xmlns:a16="http://schemas.microsoft.com/office/drawing/2014/main" id="{0ADB9979-292B-C90A-3C7E-205F7E7CC282}"/>
              </a:ext>
            </a:extLst>
          </p:cNvPr>
          <p:cNvSpPr txBox="1"/>
          <p:nvPr/>
        </p:nvSpPr>
        <p:spPr>
          <a:xfrm>
            <a:off x="5652120" y="1549320"/>
            <a:ext cx="1321377" cy="27365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Residual Connection</a:t>
            </a:r>
            <a:endParaRPr kumimoji="0" lang="en-US" altLang="zh-TW" sz="12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cxnSp>
        <p:nvCxnSpPr>
          <p:cNvPr id="494" name="接點: 弧形 493">
            <a:extLst>
              <a:ext uri="{FF2B5EF4-FFF2-40B4-BE49-F238E27FC236}">
                <a16:creationId xmlns:a16="http://schemas.microsoft.com/office/drawing/2014/main" id="{903D6AF1-D490-6992-844B-1553A488E0AA}"/>
              </a:ext>
            </a:extLst>
          </p:cNvPr>
          <p:cNvCxnSpPr>
            <a:cxnSpLocks/>
            <a:stCxn id="479" idx="3"/>
            <a:endCxn id="481" idx="3"/>
          </p:cNvCxnSpPr>
          <p:nvPr/>
        </p:nvCxnSpPr>
        <p:spPr>
          <a:xfrm flipV="1">
            <a:off x="7653055" y="2340119"/>
            <a:ext cx="519345" cy="598427"/>
          </a:xfrm>
          <a:prstGeom prst="curvedConnector3">
            <a:avLst>
              <a:gd name="adj1" fmla="val 144017"/>
            </a:avLst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16" name="群組 515">
            <a:extLst>
              <a:ext uri="{FF2B5EF4-FFF2-40B4-BE49-F238E27FC236}">
                <a16:creationId xmlns:a16="http://schemas.microsoft.com/office/drawing/2014/main" id="{82F115A4-A0A4-7463-9E32-D2D6620DD405}"/>
              </a:ext>
            </a:extLst>
          </p:cNvPr>
          <p:cNvGrpSpPr/>
          <p:nvPr/>
        </p:nvGrpSpPr>
        <p:grpSpPr>
          <a:xfrm>
            <a:off x="4648622" y="3605968"/>
            <a:ext cx="499442" cy="247608"/>
            <a:chOff x="4648622" y="3181392"/>
            <a:chExt cx="499442" cy="247608"/>
          </a:xfrm>
        </p:grpSpPr>
        <p:sp>
          <p:nvSpPr>
            <p:cNvPr id="355" name="矩形 354">
              <a:extLst>
                <a:ext uri="{FF2B5EF4-FFF2-40B4-BE49-F238E27FC236}">
                  <a16:creationId xmlns:a16="http://schemas.microsoft.com/office/drawing/2014/main" id="{D1BE1B28-A0DE-7CDB-7938-F60BA3CC21F8}"/>
                </a:ext>
              </a:extLst>
            </p:cNvPr>
            <p:cNvSpPr/>
            <p:nvPr/>
          </p:nvSpPr>
          <p:spPr>
            <a:xfrm>
              <a:off x="4788024" y="3300594"/>
              <a:ext cx="360040" cy="128406"/>
            </a:xfrm>
            <a:prstGeom prst="rect">
              <a:avLst/>
            </a:prstGeom>
            <a:noFill/>
            <a:ln w="3175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200"/>
                </a:lnSpc>
              </a:pPr>
              <a:endPara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353" name="矩形 352">
              <a:extLst>
                <a:ext uri="{FF2B5EF4-FFF2-40B4-BE49-F238E27FC236}">
                  <a16:creationId xmlns:a16="http://schemas.microsoft.com/office/drawing/2014/main" id="{05F2B42F-45F0-D38D-1A71-B66F6E61569D}"/>
                </a:ext>
              </a:extLst>
            </p:cNvPr>
            <p:cNvSpPr/>
            <p:nvPr/>
          </p:nvSpPr>
          <p:spPr>
            <a:xfrm>
              <a:off x="4789926" y="3181392"/>
              <a:ext cx="358138" cy="119202"/>
            </a:xfrm>
            <a:prstGeom prst="rect">
              <a:avLst/>
            </a:prstGeom>
            <a:noFill/>
            <a:ln w="3175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200"/>
                </a:lnSpc>
              </a:pPr>
              <a:endPara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513" name="矩形 512">
              <a:extLst>
                <a:ext uri="{FF2B5EF4-FFF2-40B4-BE49-F238E27FC236}">
                  <a16:creationId xmlns:a16="http://schemas.microsoft.com/office/drawing/2014/main" id="{65F2EBF5-7322-0EF5-533C-66A32F123AD3}"/>
                </a:ext>
              </a:extLst>
            </p:cNvPr>
            <p:cNvSpPr/>
            <p:nvPr/>
          </p:nvSpPr>
          <p:spPr>
            <a:xfrm>
              <a:off x="4648622" y="3240992"/>
              <a:ext cx="427434" cy="123805"/>
            </a:xfrm>
            <a:prstGeom prst="rect">
              <a:avLst/>
            </a:prstGeom>
            <a:noFill/>
            <a:ln w="3175">
              <a:solidFill>
                <a:schemeClr val="tx1">
                  <a:lumMod val="85000"/>
                  <a:lumOff val="1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200"/>
                </a:lnSpc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token</a:t>
              </a:r>
            </a:p>
          </p:txBody>
        </p:sp>
      </p:grpSp>
      <p:sp>
        <p:nvSpPr>
          <p:cNvPr id="6" name="右大括弧 5">
            <a:extLst>
              <a:ext uri="{FF2B5EF4-FFF2-40B4-BE49-F238E27FC236}">
                <a16:creationId xmlns:a16="http://schemas.microsoft.com/office/drawing/2014/main" id="{9E7BBFE7-8CE2-0E13-D1DA-41B96806AD58}"/>
              </a:ext>
            </a:extLst>
          </p:cNvPr>
          <p:cNvSpPr/>
          <p:nvPr/>
        </p:nvSpPr>
        <p:spPr>
          <a:xfrm rot="5400000">
            <a:off x="6865727" y="4375632"/>
            <a:ext cx="92783" cy="2519999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EBDAFB9-FF64-AF0E-65A2-88DBF5A1232D}"/>
              </a:ext>
            </a:extLst>
          </p:cNvPr>
          <p:cNvSpPr txBox="1"/>
          <p:nvPr/>
        </p:nvSpPr>
        <p:spPr>
          <a:xfrm>
            <a:off x="6712434" y="5620158"/>
            <a:ext cx="247476" cy="22619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2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2930727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7115C8-56FB-C1E8-48CB-42F4B251C3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56895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Code Intelligence Benchmarking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Gemma 4 sets a new efficiency standard by delivering flagship-level intelligence on edge devices.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A44451E-FF02-AF4A-2290-C616F7E88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098217"/>
              </p:ext>
            </p:extLst>
          </p:nvPr>
        </p:nvGraphicFramePr>
        <p:xfrm>
          <a:off x="683568" y="1317641"/>
          <a:ext cx="7560839" cy="49684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75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14443">
                  <a:extLst>
                    <a:ext uri="{9D8B030D-6E8A-4147-A177-3AD203B41FA5}">
                      <a16:colId xmlns:a16="http://schemas.microsoft.com/office/drawing/2014/main" val="401334077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3431692166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768901619"/>
                    </a:ext>
                  </a:extLst>
                </a:gridCol>
                <a:gridCol w="132118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42323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0084">
                <a:tc>
                  <a:txBody>
                    <a:bodyPr/>
                    <a:lstStyle/>
                    <a:p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Name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(active/total)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  <a:b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(tokens)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LiveCodeBench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(Pass@1)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(Requirement)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2008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 Pro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Preview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Cloud-based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Closed source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96.2%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目前最強的雲端閉源模型之一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3.5 Flash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95.5%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高速推理的頂級代表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26B A4B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3.8B/25.2B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94.8%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開源模型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極省電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(24GB 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GPT-5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93.5%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OpenAI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的主力旗艦模型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91.9%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具備深度思考推理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(Reasoning)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能力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o4-mini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90.7%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輕量化推理模型的代表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13170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V3.2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51B/685B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89.6%~73%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MoE, Local open source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6671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31B/31B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88.9%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975361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Fable 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Anthropic premium Agent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20517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o1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：本地無硬體要求，經典初代大文本思考模型。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407724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Opus 4.5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深度邏輯強悍但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成本較高。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38396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3.5 Sonnet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83.3%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：本地無硬體要求，企業最愛用的長青高性價比模型。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43267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V3.1 Terminus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37B/671B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79.8%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超大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 (160GB+VRAM)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905601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3 Nemotron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49B/49B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73.7%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57476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4 Maverick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~70B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~72.0%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 x 2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0355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470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2AEE130C-AFF6-D42A-9EF6-648715D42FBF}"/>
              </a:ext>
            </a:extLst>
          </p:cNvPr>
          <p:cNvSpPr/>
          <p:nvPr/>
        </p:nvSpPr>
        <p:spPr>
          <a:xfrm>
            <a:off x="395536" y="1197809"/>
            <a:ext cx="3312367" cy="863039"/>
          </a:xfrm>
          <a:prstGeom prst="rect">
            <a:avLst/>
          </a:prstGeom>
          <a:solidFill>
            <a:schemeClr val="bg1">
              <a:alpha val="70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r>
              <a:rPr lang="zh-TW" altLang="zh-TW" sz="1000" b="1" dirty="0">
                <a:solidFill>
                  <a:schemeClr val="tx1"/>
                </a:solidFill>
              </a:rPr>
              <a:t>1. 雲端伺服器與高併發陣營（適合後端 API 開發）</a:t>
            </a:r>
          </a:p>
          <a:p>
            <a:r>
              <a:rPr lang="zh-TW" altLang="zh-TW" sz="1000" b="1" dirty="0">
                <a:solidFill>
                  <a:schemeClr val="tx1"/>
                </a:solidFill>
              </a:rPr>
              <a:t>vLLM</a:t>
            </a:r>
            <a:r>
              <a:rPr lang="zh-TW" altLang="zh-TW" sz="1000" dirty="0">
                <a:solidFill>
                  <a:schemeClr val="tx1"/>
                </a:solidFill>
              </a:rPr>
              <a:t> (開源</a:t>
            </a:r>
            <a:r>
              <a:rPr lang="en-US" altLang="zh-TW" sz="1000" dirty="0">
                <a:solidFill>
                  <a:schemeClr val="tx1"/>
                </a:solidFill>
              </a:rPr>
              <a:t>),</a:t>
            </a:r>
            <a:r>
              <a:rPr lang="zh-TW" altLang="en-US" sz="1000" dirty="0">
                <a:solidFill>
                  <a:schemeClr val="tx1"/>
                </a:solidFill>
              </a:rPr>
              <a:t> </a:t>
            </a:r>
            <a:r>
              <a:rPr lang="zh-TW" altLang="zh-TW" sz="1000" b="1" dirty="0">
                <a:solidFill>
                  <a:schemeClr val="tx1"/>
                </a:solidFill>
              </a:rPr>
              <a:t>TensorRT-LLM</a:t>
            </a:r>
            <a:r>
              <a:rPr lang="zh-TW" altLang="zh-TW" sz="1000" dirty="0">
                <a:solidFill>
                  <a:schemeClr val="tx1"/>
                </a:solidFill>
              </a:rPr>
              <a:t> (N</a:t>
            </a:r>
            <a:r>
              <a:rPr lang="en-US" altLang="zh-TW" sz="1000" dirty="0">
                <a:solidFill>
                  <a:schemeClr val="tx1"/>
                </a:solidFill>
              </a:rPr>
              <a:t>V</a:t>
            </a:r>
            <a:r>
              <a:rPr lang="zh-TW" altLang="zh-TW" sz="1000" dirty="0">
                <a:solidFill>
                  <a:schemeClr val="tx1"/>
                </a:solidFill>
              </a:rPr>
              <a:t>)</a:t>
            </a:r>
            <a:r>
              <a:rPr lang="en-US" altLang="zh-TW" sz="1000" dirty="0">
                <a:solidFill>
                  <a:schemeClr val="tx1"/>
                </a:solidFill>
              </a:rPr>
              <a:t>,</a:t>
            </a:r>
            <a:r>
              <a:rPr lang="zh-TW" altLang="en-US" sz="1000" dirty="0">
                <a:solidFill>
                  <a:schemeClr val="tx1"/>
                </a:solidFill>
              </a:rPr>
              <a:t> </a:t>
            </a:r>
            <a:r>
              <a:rPr lang="zh-TW" altLang="zh-TW" sz="1000" b="1" dirty="0">
                <a:solidFill>
                  <a:schemeClr val="tx1"/>
                </a:solidFill>
              </a:rPr>
              <a:t>TGI </a:t>
            </a:r>
            <a:r>
              <a:rPr lang="zh-TW" altLang="zh-TW" sz="1000" dirty="0">
                <a:solidFill>
                  <a:schemeClr val="tx1"/>
                </a:solidFill>
              </a:rPr>
              <a:t>(Hugging Face)</a:t>
            </a:r>
          </a:p>
          <a:p>
            <a:r>
              <a:rPr lang="en-US" altLang="zh-TW" sz="1000" dirty="0">
                <a:solidFill>
                  <a:schemeClr val="tx1"/>
                </a:solidFill>
              </a:rPr>
              <a:t>2.</a:t>
            </a:r>
            <a:r>
              <a:rPr lang="zh-TW" altLang="en-US" sz="1000" dirty="0">
                <a:solidFill>
                  <a:schemeClr val="tx1"/>
                </a:solidFill>
              </a:rPr>
              <a:t> </a:t>
            </a:r>
            <a:r>
              <a:rPr lang="zh-TW" altLang="zh-TW" sz="1000" dirty="0">
                <a:solidFill>
                  <a:schemeClr val="tx1"/>
                </a:solidFill>
              </a:rPr>
              <a:t>本機與邊緣裝置陣營</a:t>
            </a:r>
            <a:r>
              <a:rPr lang="en-US" altLang="zh-TW" sz="1000" dirty="0">
                <a:solidFill>
                  <a:schemeClr val="tx1"/>
                </a:solidFill>
              </a:rPr>
              <a:t>(PC)</a:t>
            </a:r>
            <a:r>
              <a:rPr lang="zh-TW" altLang="en-US" sz="1000" dirty="0">
                <a:solidFill>
                  <a:schemeClr val="tx1"/>
                </a:solidFill>
              </a:rPr>
              <a:t> </a:t>
            </a:r>
            <a:r>
              <a:rPr lang="en-US" altLang="zh-TW" sz="1000" dirty="0">
                <a:solidFill>
                  <a:schemeClr val="tx1"/>
                </a:solidFill>
              </a:rPr>
              <a:t>llama.cpp</a:t>
            </a:r>
          </a:p>
          <a:p>
            <a:r>
              <a:rPr lang="en-US" altLang="zh-TW" sz="1000" dirty="0">
                <a:solidFill>
                  <a:schemeClr val="tx1"/>
                </a:solidFill>
              </a:rPr>
              <a:t>3. </a:t>
            </a:r>
            <a:r>
              <a:rPr lang="zh-TW" altLang="zh-TW" sz="1000" dirty="0">
                <a:solidFill>
                  <a:schemeClr val="tx1"/>
                </a:solidFill>
              </a:rPr>
              <a:t>通用深度學習陣營</a:t>
            </a:r>
            <a:r>
              <a:rPr lang="en-US" altLang="zh-TW" sz="1000" dirty="0">
                <a:solidFill>
                  <a:schemeClr val="tx1"/>
                </a:solidFill>
              </a:rPr>
              <a:t>ONNX Runtime (MS) , OpenVINO (Intel)</a:t>
            </a:r>
            <a:endParaRPr lang="zh-TW" altLang="zh-TW" sz="1000" dirty="0">
              <a:solidFill>
                <a:schemeClr val="tx1"/>
              </a:solidFill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882E731-FB46-26EA-7B36-1B586112E91F}"/>
              </a:ext>
            </a:extLst>
          </p:cNvPr>
          <p:cNvSpPr txBox="1"/>
          <p:nvPr/>
        </p:nvSpPr>
        <p:spPr>
          <a:xfrm>
            <a:off x="2699792" y="1019538"/>
            <a:ext cx="4572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900"/>
              </a:spcBef>
              <a:spcAft>
                <a:spcPts val="1200"/>
              </a:spcAft>
              <a:buNone/>
            </a:pPr>
            <a:r>
              <a:rPr lang="zh-TW" altLang="zh-TW" sz="1200" b="0" u="none" strike="noStrike" dirty="0">
                <a:effectLst/>
                <a:latin typeface="Google Sans"/>
              </a:rPr>
              <a:t>在生物資訊領域中，技術選定的次序思維會與一般聊天機器人有些許不同。因為生物資訊涉及</a:t>
            </a:r>
            <a:r>
              <a:rPr lang="zh-TW" altLang="zh-TW" sz="1200" b="1" u="none" strike="noStrike" dirty="0">
                <a:effectLst/>
                <a:latin typeface="Google Sans"/>
              </a:rPr>
              <a:t>大量的代碼生成（如跑 R-script 或 Python 處理基因矩陣）、海量的論文檢索（文獻探勘），以及與 Linux 伺服器指令列（如使用 BLAST、Samtools）的直接互動</a:t>
            </a:r>
            <a:r>
              <a:rPr lang="zh-TW" altLang="zh-TW" sz="1200" b="0" u="none" strike="noStrike" dirty="0">
                <a:effectLst/>
                <a:latin typeface="Google Sans"/>
              </a:rPr>
              <a:t>。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F0E6585A-CAD1-54C8-1CD9-38D5FFEF3FC0}"/>
              </a:ext>
            </a:extLst>
          </p:cNvPr>
          <p:cNvSpPr txBox="1"/>
          <p:nvPr/>
        </p:nvSpPr>
        <p:spPr>
          <a:xfrm>
            <a:off x="2108920" y="2164281"/>
            <a:ext cx="45720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900"/>
              </a:spcBef>
              <a:spcAft>
                <a:spcPts val="1200"/>
              </a:spcAft>
              <a:buNone/>
            </a:pPr>
            <a:r>
              <a:rPr lang="zh-TW" altLang="zh-TW" sz="1200" b="0" u="none" strike="noStrike" dirty="0">
                <a:effectLst/>
                <a:latin typeface="Google Sans"/>
              </a:rPr>
              <a:t>針對您明確指定使用 </a:t>
            </a:r>
            <a:r>
              <a:rPr lang="zh-TW" altLang="zh-TW" sz="1200" b="1" u="none" strike="noStrike" dirty="0">
                <a:effectLst/>
                <a:latin typeface="Google Sans"/>
              </a:rPr>
              <a:t>Gemma 4</a:t>
            </a:r>
            <a:r>
              <a:rPr lang="zh-TW" altLang="zh-TW" sz="1200" b="0" u="none" strike="noStrike" dirty="0">
                <a:effectLst/>
                <a:latin typeface="Google Sans"/>
              </a:rPr>
              <a:t> 與 </a:t>
            </a:r>
            <a:r>
              <a:rPr lang="zh-TW" altLang="zh-TW" sz="1200" b="1" u="none" strike="noStrike" dirty="0">
                <a:effectLst/>
                <a:latin typeface="Google Sans"/>
              </a:rPr>
              <a:t>LLaMA-Factory</a:t>
            </a:r>
            <a:r>
              <a:rPr lang="zh-TW" altLang="zh-TW" sz="1200" b="0" u="none" strike="noStrike" dirty="0">
                <a:effectLst/>
                <a:latin typeface="Google Sans"/>
              </a:rPr>
              <a:t> 來打造公司的「生物資訊萬事通」Agent，由於 Gemma 4 模型具備獨特的</a:t>
            </a:r>
            <a:r>
              <a:rPr lang="zh-TW" altLang="zh-TW" sz="1200" b="1" u="none" strike="noStrike" dirty="0">
                <a:effectLst/>
                <a:latin typeface="Google Sans"/>
              </a:rPr>
              <a:t>「內建思考模式（Thinking Mode）」</a:t>
            </a:r>
            <a:r>
              <a:rPr lang="zh-TW" altLang="zh-TW" sz="1200" b="0" u="none" strike="noStrike" dirty="0">
                <a:effectLst/>
                <a:latin typeface="Google Sans"/>
              </a:rPr>
              <a:t>、</a:t>
            </a:r>
            <a:r>
              <a:rPr lang="zh-TW" altLang="zh-TW" sz="1200" b="1" u="none" strike="noStrike" dirty="0">
                <a:effectLst/>
                <a:latin typeface="Google Sans"/>
              </a:rPr>
              <a:t>「超長 256K 上下文」</a:t>
            </a:r>
            <a:r>
              <a:rPr lang="zh-TW" altLang="zh-TW" sz="1200" b="0" u="none" strike="noStrike" dirty="0">
                <a:effectLst/>
                <a:latin typeface="Google Sans"/>
              </a:rPr>
              <a:t>以及對</a:t>
            </a:r>
            <a:r>
              <a:rPr lang="zh-TW" altLang="zh-TW" sz="1200" b="1" u="none" strike="noStrike" dirty="0">
                <a:effectLst/>
                <a:latin typeface="Google Sans"/>
              </a:rPr>
              <a:t>「原生函式呼叫（Function Calling）」</a:t>
            </a:r>
            <a:r>
              <a:rPr lang="zh-TW" altLang="zh-TW" sz="1200" b="0" u="none" strike="noStrike" dirty="0">
                <a:effectLst/>
                <a:latin typeface="Google Sans"/>
              </a:rPr>
              <a:t>的深度優化，整個技術選定與落地實施的次序將會進行最科學的對齊。</a:t>
            </a:r>
          </a:p>
        </p:txBody>
      </p:sp>
      <p:sp>
        <p:nvSpPr>
          <p:cNvPr id="19" name="標題 1">
            <a:extLst>
              <a:ext uri="{FF2B5EF4-FFF2-40B4-BE49-F238E27FC236}">
                <a16:creationId xmlns:a16="http://schemas.microsoft.com/office/drawing/2014/main" id="{24C0BC59-79EC-B132-1A86-FCE506F6165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Building the Bio-IT AI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Agent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Driving an autonomous operational closed-loop through Gemma 4, LLaMA-Factory, and MCP.</a:t>
            </a: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E17C4D8-1D27-67E3-0E1C-207C07FCFA42}"/>
              </a:ext>
            </a:extLst>
          </p:cNvPr>
          <p:cNvSpPr txBox="1"/>
          <p:nvPr/>
        </p:nvSpPr>
        <p:spPr>
          <a:xfrm>
            <a:off x="4394920" y="3626726"/>
            <a:ext cx="4643436" cy="242630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0" marR="0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zh-TW" altLang="zh-TW" sz="1200" b="1" u="none" strike="noStrike" dirty="0">
                <a:effectLst/>
              </a:rPr>
              <a:t>Left Column (左側：核心任務設定)Data Analysis:</a:t>
            </a:r>
            <a:r>
              <a:rPr lang="zh-TW" altLang="zh-TW" sz="1200" b="0" u="none" strike="noStrike" dirty="0">
                <a:effectLst/>
              </a:rPr>
              <a:t> Autonomously process client genetic files (VCF/FASTQ) via Biopython.</a:t>
            </a:r>
            <a:endParaRPr lang="en-US" altLang="zh-TW" sz="1200" b="0" u="none" strike="noStrike" dirty="0">
              <a:effectLst/>
            </a:endParaRPr>
          </a:p>
          <a:p>
            <a:pPr marL="0" marR="0">
              <a:lnSpc>
                <a:spcPts val="1400"/>
              </a:lnSpc>
              <a:buFont typeface="Arial" panose="020B0604020202020204" pitchFamily="34" charset="0"/>
              <a:buChar char="•"/>
            </a:pPr>
            <a:endParaRPr lang="zh-TW" altLang="zh-TW" sz="1200" b="0" u="none" strike="noStrike" dirty="0">
              <a:effectLst/>
            </a:endParaRPr>
          </a:p>
          <a:p>
            <a:pPr marL="0" marR="0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zh-TW" altLang="zh-TW" sz="1200" b="1" u="none" strike="noStrike" dirty="0">
                <a:effectLst/>
              </a:rPr>
              <a:t>Tech Support:</a:t>
            </a:r>
            <a:r>
              <a:rPr lang="zh-TW" altLang="zh-TW" sz="1200" b="0" u="none" strike="noStrike" dirty="0">
                <a:effectLst/>
              </a:rPr>
              <a:t> Instant, zero-hallucination troubleshooting of internal product manuals.</a:t>
            </a:r>
            <a:endParaRPr lang="en-US" altLang="zh-TW" sz="1200" b="0" u="none" strike="noStrike" dirty="0">
              <a:effectLst/>
            </a:endParaRPr>
          </a:p>
          <a:p>
            <a:pPr marL="0" marR="0">
              <a:lnSpc>
                <a:spcPts val="1400"/>
              </a:lnSpc>
              <a:buFont typeface="Arial" panose="020B0604020202020204" pitchFamily="34" charset="0"/>
              <a:buChar char="•"/>
            </a:pPr>
            <a:endParaRPr lang="zh-TW" altLang="zh-TW" sz="1200" b="0" u="none" strike="noStrike" dirty="0">
              <a:effectLst/>
            </a:endParaRPr>
          </a:p>
          <a:p>
            <a:pPr marL="0" marR="0">
              <a:lnSpc>
                <a:spcPts val="1400"/>
              </a:lnSpc>
              <a:buFont typeface="+mj-lt"/>
              <a:buAutoNum type="arabicPeriod"/>
            </a:pPr>
            <a:r>
              <a:rPr lang="zh-TW" altLang="zh-TW" sz="1200" b="1" u="none" strike="noStrike" dirty="0">
                <a:effectLst/>
              </a:rPr>
              <a:t>Center Matrix (中間：黃金 6 大選定次序)Development Mode:</a:t>
            </a:r>
            <a:r>
              <a:rPr lang="zh-TW" altLang="zh-TW" sz="1200" b="0" u="none" strike="noStrike" dirty="0">
                <a:effectLst/>
              </a:rPr>
              <a:t> Thinking-Agent (Native Chain-of-Thought)</a:t>
            </a:r>
          </a:p>
          <a:p>
            <a:pPr marL="0" marR="0">
              <a:lnSpc>
                <a:spcPts val="1400"/>
              </a:lnSpc>
              <a:buFont typeface="+mj-lt"/>
              <a:buAutoNum type="arabicPeriod"/>
            </a:pPr>
            <a:r>
              <a:rPr lang="zh-TW" altLang="zh-TW" sz="1200" b="1" u="none" strike="noStrike" dirty="0">
                <a:effectLst/>
              </a:rPr>
              <a:t>Libraries:</a:t>
            </a:r>
            <a:r>
              <a:rPr lang="zh-TW" altLang="zh-TW" sz="1200" b="0" u="none" strike="noStrike" dirty="0">
                <a:effectLst/>
              </a:rPr>
              <a:t> LangGraph + Vector DB (Qdrant)</a:t>
            </a:r>
          </a:p>
          <a:p>
            <a:pPr marL="0" marR="0">
              <a:lnSpc>
                <a:spcPts val="1400"/>
              </a:lnSpc>
              <a:buFont typeface="+mj-lt"/>
              <a:buAutoNum type="arabicPeriod"/>
            </a:pPr>
            <a:r>
              <a:rPr lang="zh-TW" altLang="zh-TW" sz="1200" b="1" u="none" strike="noStrike" dirty="0">
                <a:effectLst/>
              </a:rPr>
              <a:t>Model:</a:t>
            </a:r>
            <a:r>
              <a:rPr lang="zh-TW" altLang="zh-TW" sz="1200" b="0" u="none" strike="noStrike" dirty="0">
                <a:effectLst/>
              </a:rPr>
              <a:t> Gemma 4 (31B / 26B MoE)</a:t>
            </a:r>
          </a:p>
          <a:p>
            <a:pPr marL="0" marR="0">
              <a:lnSpc>
                <a:spcPts val="1400"/>
              </a:lnSpc>
              <a:buFont typeface="+mj-lt"/>
              <a:buAutoNum type="arabicPeriod"/>
            </a:pPr>
            <a:r>
              <a:rPr lang="zh-TW" altLang="zh-TW" sz="1200" b="1" u="none" strike="noStrike" dirty="0">
                <a:effectLst/>
              </a:rPr>
              <a:t>Inference Engine:</a:t>
            </a:r>
            <a:r>
              <a:rPr lang="zh-TW" altLang="zh-TW" sz="1200" b="0" u="none" strike="noStrike" dirty="0">
                <a:effectLst/>
              </a:rPr>
              <a:t> vLLM (Multi-Token Prediction enabled)</a:t>
            </a:r>
          </a:p>
          <a:p>
            <a:pPr marL="0" marR="0">
              <a:lnSpc>
                <a:spcPts val="1400"/>
              </a:lnSpc>
              <a:buFont typeface="+mj-lt"/>
              <a:buAutoNum type="arabicPeriod"/>
            </a:pPr>
            <a:r>
              <a:rPr lang="zh-TW" altLang="zh-TW" sz="1200" b="1" u="none" strike="noStrike" dirty="0">
                <a:effectLst/>
              </a:rPr>
              <a:t>SFT Strategy:</a:t>
            </a:r>
            <a:r>
              <a:rPr lang="zh-TW" altLang="zh-TW" sz="1200" b="0" u="none" strike="noStrike" dirty="0">
                <a:effectLst/>
              </a:rPr>
              <a:t> 4-bit QLoRA Alignment</a:t>
            </a:r>
          </a:p>
          <a:p>
            <a:pPr marL="0" marR="0">
              <a:lnSpc>
                <a:spcPts val="1400"/>
              </a:lnSpc>
              <a:buFont typeface="+mj-lt"/>
              <a:buAutoNum type="arabicPeriod"/>
            </a:pPr>
            <a:r>
              <a:rPr lang="zh-TW" altLang="zh-TW" sz="1200" b="1" u="none" strike="noStrike" dirty="0">
                <a:effectLst/>
              </a:rPr>
              <a:t>Fine-tuning Framework:</a:t>
            </a:r>
            <a:r>
              <a:rPr lang="zh-TW" altLang="zh-TW" sz="1200" b="0" u="none" strike="noStrike" dirty="0">
                <a:effectLst/>
              </a:rPr>
              <a:t> LLaMA-Factory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EE5C158-D89C-3922-1D56-779207D77810}"/>
              </a:ext>
            </a:extLst>
          </p:cNvPr>
          <p:cNvSpPr txBox="1"/>
          <p:nvPr/>
        </p:nvSpPr>
        <p:spPr>
          <a:xfrm>
            <a:off x="7848364" y="44624"/>
            <a:ext cx="1240083" cy="3813095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effectLst/>
              </a:rPr>
              <a:t> Overview</a:t>
            </a:r>
            <a:endParaRPr lang="en-US" altLang="zh-TW" sz="1000" u="none" strike="noStrike" dirty="0">
              <a:effectLst/>
            </a:endParaRPr>
          </a:p>
          <a:p>
            <a:pPr marL="111125" lvl="3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ML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Training Stages</a:t>
            </a:r>
            <a:endParaRPr lang="en-US" altLang="zh-TW" sz="1000" u="none" strike="noStrike" dirty="0">
              <a:effectLst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Transformer</a:t>
            </a:r>
            <a:endParaRPr lang="en-US" altLang="zh-TW" sz="1000" dirty="0"/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Program Flow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Self-Attention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FFN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Embeddings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Position Encoding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MLP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  <a:r>
              <a:rPr lang="en-US" altLang="zh-TW" sz="1000" dirty="0"/>
              <a:t> 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AI Ecosystem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AI Runtime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MCP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RAG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SLM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Emerging Trends </a:t>
            </a:r>
            <a:endParaRPr lang="en-US" altLang="zh-TW" sz="1000" dirty="0">
              <a:solidFill>
                <a:prstClr val="black"/>
              </a:solidFill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Gemma Family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Supervised FT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QLoRA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DoRA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Gemma4: PLE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Benchmarking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</a:t>
            </a:r>
            <a:r>
              <a:rPr lang="en-US" altLang="zh-TW" sz="1000" b="1" dirty="0">
                <a:solidFill>
                  <a:srgbClr val="FF0000"/>
                </a:solidFill>
              </a:rPr>
              <a:t>Conclusion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Building the Agent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Practices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A6BC6765-6ADF-FF93-FDCA-E5D79E3FC1AE}"/>
              </a:ext>
            </a:extLst>
          </p:cNvPr>
          <p:cNvSpPr/>
          <p:nvPr/>
        </p:nvSpPr>
        <p:spPr>
          <a:xfrm>
            <a:off x="467826" y="1922626"/>
            <a:ext cx="1219522" cy="1015663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401DE02E-311D-22E5-F7AF-88D8FA5683E5}"/>
              </a:ext>
            </a:extLst>
          </p:cNvPr>
          <p:cNvSpPr txBox="1"/>
          <p:nvPr/>
        </p:nvSpPr>
        <p:spPr>
          <a:xfrm>
            <a:off x="534308" y="2018131"/>
            <a:ext cx="1086557" cy="824652"/>
          </a:xfrm>
          <a:prstGeom prst="rect">
            <a:avLst/>
          </a:prstGeom>
          <a:solidFill>
            <a:schemeClr val="accent1">
              <a:lumMod val="20000"/>
              <a:lumOff val="80000"/>
              <a:alpha val="20000"/>
            </a:scheme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pic>
        <p:nvPicPr>
          <p:cNvPr id="27" name="圖片 26">
            <a:extLst>
              <a:ext uri="{FF2B5EF4-FFF2-40B4-BE49-F238E27FC236}">
                <a16:creationId xmlns:a16="http://schemas.microsoft.com/office/drawing/2014/main" id="{F378D4D2-3E2E-4505-C14C-B0BF302FC0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474" y="2946216"/>
            <a:ext cx="5509737" cy="3406435"/>
          </a:xfrm>
          <a:prstGeom prst="rect">
            <a:avLst/>
          </a:prstGeom>
        </p:spPr>
      </p:pic>
      <p:pic>
        <p:nvPicPr>
          <p:cNvPr id="29" name="圖片 28">
            <a:extLst>
              <a:ext uri="{FF2B5EF4-FFF2-40B4-BE49-F238E27FC236}">
                <a16:creationId xmlns:a16="http://schemas.microsoft.com/office/drawing/2014/main" id="{2A823E9B-CD04-8DC8-F18D-C37F9E54FD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536" y="6036425"/>
            <a:ext cx="5210150" cy="302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91029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539E0622-0F1A-61E6-0FAF-97C59BD780FB}"/>
              </a:ext>
            </a:extLst>
          </p:cNvPr>
          <p:cNvSpPr txBox="1">
            <a:spLocks/>
          </p:cNvSpPr>
          <p:nvPr/>
        </p:nvSpPr>
        <p:spPr>
          <a:xfrm>
            <a:off x="3779912" y="116632"/>
            <a:ext cx="41131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Leading Frameworks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Deploying and fine-tuning your own LLM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is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now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easier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than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ever. (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框架可以做的事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)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24603716-DFAF-375B-2830-553970E04F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0086423"/>
              </p:ext>
            </p:extLst>
          </p:nvPr>
        </p:nvGraphicFramePr>
        <p:xfrm>
          <a:off x="359532" y="1864569"/>
          <a:ext cx="7158797" cy="30347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809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266141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26614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266141">
                  <a:extLst>
                    <a:ext uri="{9D8B030D-6E8A-4147-A177-3AD203B41FA5}">
                      <a16:colId xmlns:a16="http://schemas.microsoft.com/office/drawing/2014/main" val="204991320"/>
                    </a:ext>
                  </a:extLst>
                </a:gridCol>
                <a:gridCol w="1266141">
                  <a:extLst>
                    <a:ext uri="{9D8B030D-6E8A-4147-A177-3AD203B41FA5}">
                      <a16:colId xmlns:a16="http://schemas.microsoft.com/office/drawing/2014/main" val="795597008"/>
                    </a:ext>
                  </a:extLst>
                </a:gridCol>
                <a:gridCol w="1266141">
                  <a:extLst>
                    <a:ext uri="{9D8B030D-6E8A-4147-A177-3AD203B41FA5}">
                      <a16:colId xmlns:a16="http://schemas.microsoft.com/office/drawing/2014/main" val="3504260209"/>
                    </a:ext>
                  </a:extLst>
                </a:gridCol>
              </a:tblGrid>
              <a:tr h="628369"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LLaMA-Factory</a:t>
                      </a: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/ˈlɑː.mə/</a:t>
                      </a:r>
                      <a:r>
                        <a:rPr lang="zh-TW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小羊駝</a:t>
                      </a:r>
                      <a:endParaRPr lang="zh-TW" altLang="en-US" sz="10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altLang="zh-TW" sz="10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Axolotl</a:t>
                      </a: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/ˈæk.sə.lɑ.təl/</a:t>
                      </a:r>
                      <a:r>
                        <a:rPr lang="zh-TW" altLang="zh-TW" sz="1000" b="1" i="0" kern="1200" dirty="0"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美西螈</a:t>
                      </a:r>
                      <a:endParaRPr lang="zh-TW" altLang="en-US" sz="10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Unsloth</a:t>
                      </a: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/ʌn</a:t>
                      </a:r>
                      <a:r>
                        <a:rPr lang="en-US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slɑːθ/</a:t>
                      </a:r>
                      <a:r>
                        <a:rPr lang="zh-TW" altLang="zh-TW" sz="1000" b="0" i="0" kern="1200" dirty="0"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樹懶</a:t>
                      </a:r>
                      <a:endParaRPr lang="en-US" altLang="zh-TW" sz="10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zh-TW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Ultralytics</a:t>
                      </a:r>
                      <a:endParaRPr kumimoji="0" lang="en-US" altLang="zh-TW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/ˈʌl.trə</a:t>
                      </a:r>
                      <a:r>
                        <a:rPr lang="en-US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ˈlɪt.ɪks/</a:t>
                      </a:r>
                      <a:r>
                        <a:rPr kumimoji="0" lang="zh-TW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35245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WebUI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YAML</a:t>
                      </a:r>
                      <a:b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Disruptive Tech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 WebUI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Offline Dominator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YOLO 11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ONNX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35245"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Easy-to-use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(Low-code)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Flexible,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config-driven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Ultra-fast,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Low-memory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High-performance,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real-time object detection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612504"/>
                  </a:ext>
                </a:extLst>
              </a:tr>
              <a:tr h="288810">
                <a:tc>
                  <a:txBody>
                    <a:bodyPr/>
                    <a:lstStyle/>
                    <a:p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35245"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PyTorch FSDP2,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 Face TRL,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lashAttention-3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Multipack, xFormers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Improved PyTorch,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Triton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TensorRT,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OpenVINO Toolkit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88810"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 DeepSpeed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Megatron-DeepSpeed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NV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Megatron-LM, CUDA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NV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482051"/>
                  </a:ext>
                </a:extLst>
              </a:tr>
              <a:tr h="288810"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23365"/>
                  </a:ext>
                </a:extLst>
              </a:tr>
            </a:tbl>
          </a:graphicData>
        </a:graphic>
      </p:graphicFrame>
      <p:pic>
        <p:nvPicPr>
          <p:cNvPr id="8" name="圖片 7">
            <a:extLst>
              <a:ext uri="{FF2B5EF4-FFF2-40B4-BE49-F238E27FC236}">
                <a16:creationId xmlns:a16="http://schemas.microsoft.com/office/drawing/2014/main" id="{5DA60AD3-16AE-CCF3-52BA-1A9C949201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1803" y="1321890"/>
            <a:ext cx="527241" cy="688436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23447A84-E355-EC97-AF00-4FDAD78F1FF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5167" y="1410448"/>
            <a:ext cx="511322" cy="511320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CF5D874E-EB12-A59A-1A43-49A1BB3EB7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33601" y="1305720"/>
            <a:ext cx="798718" cy="535293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A0883931-73B8-52D1-8178-BC7F9823CD3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956" y="1352753"/>
            <a:ext cx="511320" cy="511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3991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DBD40BD6-851C-4766-E67C-E9D03D0461B0}"/>
              </a:ext>
            </a:extLst>
          </p:cNvPr>
          <p:cNvSpPr txBox="1"/>
          <p:nvPr/>
        </p:nvSpPr>
        <p:spPr>
          <a:xfrm>
            <a:off x="2897065" y="3120064"/>
            <a:ext cx="881420" cy="756316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SFT &amp;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Quantization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(Edge AI)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224470F2-2423-3459-5A5B-FA6ABF300F0D}"/>
              </a:ext>
            </a:extLst>
          </p:cNvPr>
          <p:cNvSpPr txBox="1"/>
          <p:nvPr/>
        </p:nvSpPr>
        <p:spPr>
          <a:xfrm>
            <a:off x="5468666" y="1743240"/>
            <a:ext cx="881420" cy="756316"/>
          </a:xfrm>
          <a:prstGeom prst="rect">
            <a:avLst/>
          </a:prstGeom>
          <a:solidFill>
            <a:schemeClr val="accent1">
              <a:lumMod val="20000"/>
              <a:lumOff val="80000"/>
              <a:alpha val="9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Cloud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3606F590-892C-95E3-5575-F663D941DB89}"/>
              </a:ext>
            </a:extLst>
          </p:cNvPr>
          <p:cNvSpPr txBox="1"/>
          <p:nvPr/>
        </p:nvSpPr>
        <p:spPr>
          <a:xfrm>
            <a:off x="5434669" y="3120064"/>
            <a:ext cx="879535" cy="756316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85000"/>
              </a:scheme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lvl="0" algn="ctr">
              <a:lnSpc>
                <a:spcPts val="1400"/>
              </a:lnSpc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Agent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54D7399D-DFB3-C59F-148A-10E6F8239BF3}"/>
              </a:ext>
            </a:extLst>
          </p:cNvPr>
          <p:cNvSpPr txBox="1"/>
          <p:nvPr/>
        </p:nvSpPr>
        <p:spPr>
          <a:xfrm>
            <a:off x="2898008" y="1748010"/>
            <a:ext cx="881420" cy="756316"/>
          </a:xfrm>
          <a:prstGeom prst="rect">
            <a:avLst/>
          </a:prstGeom>
          <a:solidFill>
            <a:schemeClr val="accent2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Training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Stage</a:t>
            </a:r>
          </a:p>
          <a:p>
            <a:pPr algn="ctr">
              <a:lnSpc>
                <a:spcPts val="1400"/>
              </a:lnSpc>
              <a:buNone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(Cloud)</a:t>
            </a:r>
            <a:endParaRPr lang="en-US" altLang="zh-TW" sz="1400" b="1" u="none" strike="noStrike" dirty="0">
              <a:solidFill>
                <a:schemeClr val="accent2"/>
              </a:solidFill>
              <a:effectLst/>
            </a:endParaRPr>
          </a:p>
        </p:txBody>
      </p: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DAAA0EDF-B9D8-20B0-B463-20B58CAF0056}"/>
              </a:ext>
            </a:extLst>
          </p:cNvPr>
          <p:cNvCxnSpPr>
            <a:cxnSpLocks/>
            <a:stCxn id="15" idx="3"/>
            <a:endCxn id="11" idx="1"/>
          </p:cNvCxnSpPr>
          <p:nvPr/>
        </p:nvCxnSpPr>
        <p:spPr>
          <a:xfrm flipV="1">
            <a:off x="3779428" y="2121398"/>
            <a:ext cx="1689238" cy="477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59B5E62B-9C09-6330-132B-D84B61AD56F1}"/>
              </a:ext>
            </a:extLst>
          </p:cNvPr>
          <p:cNvCxnSpPr>
            <a:cxnSpLocks/>
            <a:stCxn id="3" idx="3"/>
            <a:endCxn id="13" idx="1"/>
          </p:cNvCxnSpPr>
          <p:nvPr/>
        </p:nvCxnSpPr>
        <p:spPr>
          <a:xfrm>
            <a:off x="3778485" y="3498222"/>
            <a:ext cx="1656184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F68D743B-AA35-C853-3A71-3BB2B5B5EF01}"/>
              </a:ext>
            </a:extLst>
          </p:cNvPr>
          <p:cNvSpPr txBox="1"/>
          <p:nvPr/>
        </p:nvSpPr>
        <p:spPr>
          <a:xfrm>
            <a:off x="4165867" y="1988840"/>
            <a:ext cx="881420" cy="254215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Deployment</a:t>
            </a:r>
            <a:endParaRPr lang="en-US" altLang="zh-TW" sz="1000" b="1" u="none" strike="noStrike" dirty="0">
              <a:solidFill>
                <a:schemeClr val="accent2"/>
              </a:solidFill>
              <a:effectLst/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AE485558-47EC-740F-B895-83C1C762CCA4}"/>
              </a:ext>
            </a:extLst>
          </p:cNvPr>
          <p:cNvSpPr txBox="1"/>
          <p:nvPr/>
        </p:nvSpPr>
        <p:spPr>
          <a:xfrm>
            <a:off x="4165867" y="3356992"/>
            <a:ext cx="881420" cy="254215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Deployment</a:t>
            </a:r>
            <a:endParaRPr lang="en-US" altLang="zh-TW" sz="1000" b="1" u="none" strike="noStrike" dirty="0">
              <a:solidFill>
                <a:schemeClr val="accent2"/>
              </a:solidFill>
              <a:effectLst/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graphicFrame>
        <p:nvGraphicFramePr>
          <p:cNvPr id="31" name="表格 30">
            <a:extLst>
              <a:ext uri="{FF2B5EF4-FFF2-40B4-BE49-F238E27FC236}">
                <a16:creationId xmlns:a16="http://schemas.microsoft.com/office/drawing/2014/main" id="{94F29968-63E9-2006-872B-FA98D7514E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948490"/>
              </p:ext>
            </p:extLst>
          </p:nvPr>
        </p:nvGraphicFramePr>
        <p:xfrm>
          <a:off x="179493" y="487416"/>
          <a:ext cx="2088252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825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3112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Training Solution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Solution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473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LLM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SGLang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473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vLLM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473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473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0334442"/>
                  </a:ext>
                </a:extLst>
              </a:tr>
            </a:tbl>
          </a:graphicData>
        </a:graphic>
      </p:graphicFrame>
      <p:graphicFrame>
        <p:nvGraphicFramePr>
          <p:cNvPr id="33" name="表格 32">
            <a:extLst>
              <a:ext uri="{FF2B5EF4-FFF2-40B4-BE49-F238E27FC236}">
                <a16:creationId xmlns:a16="http://schemas.microsoft.com/office/drawing/2014/main" id="{B12ED078-BBFE-D9F8-A4E9-4692A4DDBD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2875651"/>
              </p:ext>
            </p:extLst>
          </p:nvPr>
        </p:nvGraphicFramePr>
        <p:xfrm>
          <a:off x="6441995" y="899738"/>
          <a:ext cx="2547618" cy="14401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761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9277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Cloud Infrastructure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Training and Inference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638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NV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Blackwell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TensorRT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9638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AMD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Instinct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ROCm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2610432"/>
                  </a:ext>
                </a:extLst>
              </a:tr>
              <a:tr h="22911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Google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Trillium(v6e)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|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5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TPU 8i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-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4411595"/>
                  </a:ext>
                </a:extLst>
              </a:tr>
              <a:tr h="22911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AWS ASIC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|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2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5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Inferentia2(Inf2)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-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schemeClr val="accent5">
                            <a:lumMod val="75000"/>
                          </a:scheme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2740898"/>
                  </a:ext>
                </a:extLst>
              </a:tr>
              <a:tr h="19638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4331556"/>
                  </a:ext>
                </a:extLst>
              </a:tr>
            </a:tbl>
          </a:graphicData>
        </a:graphic>
      </p:graphicFrame>
      <p:graphicFrame>
        <p:nvGraphicFramePr>
          <p:cNvPr id="35" name="表格 34">
            <a:extLst>
              <a:ext uri="{FF2B5EF4-FFF2-40B4-BE49-F238E27FC236}">
                <a16:creationId xmlns:a16="http://schemas.microsoft.com/office/drawing/2014/main" id="{78B430D0-88B7-FBF5-7F40-B9C9E9C66F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9011851"/>
              </p:ext>
            </p:extLst>
          </p:nvPr>
        </p:nvGraphicFramePr>
        <p:xfrm>
          <a:off x="6416890" y="2771489"/>
          <a:ext cx="2547618" cy="18516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761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41147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 (PC/NB)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Inference</a:t>
                      </a:r>
                      <a:endParaRPr kumimoji="0" lang="en-US" altLang="zh-TW" sz="1000" b="1" i="0" u="none" strike="noStrike" kern="1200" cap="none" spc="0" normalizeH="0" baseline="0" noProof="0" dirty="0">
                        <a:ln w="0"/>
                        <a:solidFill>
                          <a:schemeClr val="tx2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057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NV GeForce, CUDA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2057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AMD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Ryzen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AI,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XDNA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2610432"/>
                  </a:ext>
                </a:extLst>
              </a:tr>
              <a:tr h="2057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Intel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Core Ultra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OpenVINO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085204"/>
                  </a:ext>
                </a:extLst>
              </a:tr>
              <a:tr h="2057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Apple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M4/M3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Core ML + MLX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5826721"/>
                  </a:ext>
                </a:extLst>
              </a:tr>
              <a:tr h="2057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Qualcomm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Hexagon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QNN SDK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686885"/>
                  </a:ext>
                </a:extLst>
              </a:tr>
              <a:tr h="2057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MS, - , </a:t>
                      </a: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chemeClr val="tx2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ONNX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Runtime (ORT)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0332360"/>
                  </a:ext>
                </a:extLst>
              </a:tr>
              <a:tr h="2057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Ollama, - , </a:t>
                      </a: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chemeClr val="tx2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GGUF 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4957636"/>
                  </a:ext>
                </a:extLst>
              </a:tr>
            </a:tbl>
          </a:graphicData>
        </a:graphic>
      </p:graphicFrame>
      <p:graphicFrame>
        <p:nvGraphicFramePr>
          <p:cNvPr id="37" name="表格 36">
            <a:extLst>
              <a:ext uri="{FF2B5EF4-FFF2-40B4-BE49-F238E27FC236}">
                <a16:creationId xmlns:a16="http://schemas.microsoft.com/office/drawing/2014/main" id="{04BBD4B6-7EF5-AA1E-11F7-5A880BAE54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8675932"/>
              </p:ext>
            </p:extLst>
          </p:nvPr>
        </p:nvGraphicFramePr>
        <p:xfrm>
          <a:off x="179492" y="1785948"/>
          <a:ext cx="2088252" cy="1630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825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40772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Fine-Tuning Framework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Framework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0386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-Factory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+ Ollama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0386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Hugging Face TRL + 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CrewAI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0973834"/>
                  </a:ext>
                </a:extLst>
              </a:tr>
              <a:tr h="20386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Axolotl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0386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Unsloth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20386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llama.cpp / Ollama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8602166"/>
                  </a:ext>
                </a:extLst>
              </a:tr>
              <a:tr h="20386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5456934"/>
                  </a:ext>
                </a:extLst>
              </a:tr>
            </a:tbl>
          </a:graphicData>
        </a:graphic>
      </p:graphicFrame>
      <p:sp>
        <p:nvSpPr>
          <p:cNvPr id="47" name="箭號: 向下 46">
            <a:extLst>
              <a:ext uri="{FF2B5EF4-FFF2-40B4-BE49-F238E27FC236}">
                <a16:creationId xmlns:a16="http://schemas.microsoft.com/office/drawing/2014/main" id="{37B67530-BE26-2D63-DC2D-93A74B0E6CE6}"/>
              </a:ext>
            </a:extLst>
          </p:cNvPr>
          <p:cNvSpPr/>
          <p:nvPr/>
        </p:nvSpPr>
        <p:spPr>
          <a:xfrm rot="5400000">
            <a:off x="2788300" y="2718115"/>
            <a:ext cx="216022" cy="225052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48" name="接點: 肘形 47">
            <a:extLst>
              <a:ext uri="{FF2B5EF4-FFF2-40B4-BE49-F238E27FC236}">
                <a16:creationId xmlns:a16="http://schemas.microsoft.com/office/drawing/2014/main" id="{62711700-300C-3983-8D04-F7981E15C145}"/>
              </a:ext>
            </a:extLst>
          </p:cNvPr>
          <p:cNvCxnSpPr>
            <a:cxnSpLocks/>
            <a:stCxn id="47" idx="2"/>
            <a:endCxn id="49" idx="0"/>
          </p:cNvCxnSpPr>
          <p:nvPr/>
        </p:nvCxnSpPr>
        <p:spPr>
          <a:xfrm rot="10800000" flipV="1">
            <a:off x="2591779" y="2830640"/>
            <a:ext cx="192006" cy="805355"/>
          </a:xfrm>
          <a:prstGeom prst="bentConnector2">
            <a:avLst/>
          </a:prstGeom>
          <a:ln w="50800">
            <a:solidFill>
              <a:schemeClr val="bg1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箭號: 向下 48">
            <a:extLst>
              <a:ext uri="{FF2B5EF4-FFF2-40B4-BE49-F238E27FC236}">
                <a16:creationId xmlns:a16="http://schemas.microsoft.com/office/drawing/2014/main" id="{BCF52EE4-6D2D-B0B6-6B73-94AF7B178F47}"/>
              </a:ext>
            </a:extLst>
          </p:cNvPr>
          <p:cNvSpPr/>
          <p:nvPr/>
        </p:nvSpPr>
        <p:spPr>
          <a:xfrm>
            <a:off x="2483768" y="3635996"/>
            <a:ext cx="216022" cy="225052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50" name="接點: 肘形 49">
            <a:extLst>
              <a:ext uri="{FF2B5EF4-FFF2-40B4-BE49-F238E27FC236}">
                <a16:creationId xmlns:a16="http://schemas.microsoft.com/office/drawing/2014/main" id="{767D04DB-F936-139B-E91E-C73A022C4F7B}"/>
              </a:ext>
            </a:extLst>
          </p:cNvPr>
          <p:cNvCxnSpPr>
            <a:cxnSpLocks/>
            <a:stCxn id="49" idx="2"/>
            <a:endCxn id="51" idx="0"/>
          </p:cNvCxnSpPr>
          <p:nvPr/>
        </p:nvCxnSpPr>
        <p:spPr>
          <a:xfrm rot="16200000" flipH="1">
            <a:off x="3983625" y="2469202"/>
            <a:ext cx="324037" cy="3107728"/>
          </a:xfrm>
          <a:prstGeom prst="bentConnector2">
            <a:avLst/>
          </a:prstGeom>
          <a:ln w="50800">
            <a:solidFill>
              <a:schemeClr val="bg1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箭號: 向下 50">
            <a:extLst>
              <a:ext uri="{FF2B5EF4-FFF2-40B4-BE49-F238E27FC236}">
                <a16:creationId xmlns:a16="http://schemas.microsoft.com/office/drawing/2014/main" id="{886D245C-C2FA-AED6-CBF0-7D507F077068}"/>
              </a:ext>
            </a:extLst>
          </p:cNvPr>
          <p:cNvSpPr/>
          <p:nvPr/>
        </p:nvSpPr>
        <p:spPr>
          <a:xfrm rot="16200000">
            <a:off x="5704022" y="4072559"/>
            <a:ext cx="216022" cy="225052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2" name="橢圓 41">
            <a:extLst>
              <a:ext uri="{FF2B5EF4-FFF2-40B4-BE49-F238E27FC236}">
                <a16:creationId xmlns:a16="http://schemas.microsoft.com/office/drawing/2014/main" id="{534416A0-7811-DC34-5284-BAFABFD7C47F}"/>
              </a:ext>
            </a:extLst>
          </p:cNvPr>
          <p:cNvSpPr/>
          <p:nvPr/>
        </p:nvSpPr>
        <p:spPr>
          <a:xfrm>
            <a:off x="4059031" y="3921629"/>
            <a:ext cx="502171" cy="504056"/>
          </a:xfrm>
          <a:prstGeom prst="ellipse">
            <a:avLst/>
          </a:prstGeom>
          <a:solidFill>
            <a:schemeClr val="tx1">
              <a:alpha val="70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rgbClr val="FFC000"/>
                </a:solidFill>
              </a:rPr>
              <a:t>Select</a:t>
            </a:r>
          </a:p>
          <a:p>
            <a:pPr algn="ctr"/>
            <a:r>
              <a:rPr lang="en-US" altLang="zh-TW" sz="1200" b="1" dirty="0">
                <a:solidFill>
                  <a:srgbClr val="FFC000"/>
                </a:solidFill>
              </a:rPr>
              <a:t>Model</a:t>
            </a:r>
            <a:endParaRPr lang="zh-TW" altLang="en-US" sz="1200" b="1" dirty="0">
              <a:solidFill>
                <a:srgbClr val="FFC000"/>
              </a:solidFill>
            </a:endParaRPr>
          </a:p>
        </p:txBody>
      </p:sp>
      <p:sp>
        <p:nvSpPr>
          <p:cNvPr id="40" name="橢圓 39">
            <a:extLst>
              <a:ext uri="{FF2B5EF4-FFF2-40B4-BE49-F238E27FC236}">
                <a16:creationId xmlns:a16="http://schemas.microsoft.com/office/drawing/2014/main" id="{CC4127FD-111B-9B23-A000-57E1293D34E8}"/>
              </a:ext>
            </a:extLst>
          </p:cNvPr>
          <p:cNvSpPr/>
          <p:nvPr/>
        </p:nvSpPr>
        <p:spPr>
          <a:xfrm>
            <a:off x="4977533" y="3921629"/>
            <a:ext cx="502171" cy="504056"/>
          </a:xfrm>
          <a:prstGeom prst="ellipse">
            <a:avLst/>
          </a:prstGeom>
          <a:solidFill>
            <a:schemeClr val="tx1">
              <a:alpha val="70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rgbClr val="FFC000"/>
                </a:solidFill>
              </a:rPr>
              <a:t>Assign</a:t>
            </a:r>
          </a:p>
          <a:p>
            <a:pPr algn="ctr"/>
            <a:r>
              <a:rPr lang="en-US" altLang="zh-TW" sz="1200" b="1" dirty="0">
                <a:solidFill>
                  <a:srgbClr val="FFC000"/>
                </a:solidFill>
              </a:rPr>
              <a:t>Jobs</a:t>
            </a:r>
            <a:endParaRPr lang="zh-TW" altLang="en-US" sz="1200" b="1" dirty="0">
              <a:solidFill>
                <a:srgbClr val="FFC000"/>
              </a:solidFill>
            </a:endParaRPr>
          </a:p>
        </p:txBody>
      </p:sp>
      <p:sp>
        <p:nvSpPr>
          <p:cNvPr id="66" name="橢圓 65">
            <a:extLst>
              <a:ext uri="{FF2B5EF4-FFF2-40B4-BE49-F238E27FC236}">
                <a16:creationId xmlns:a16="http://schemas.microsoft.com/office/drawing/2014/main" id="{464A1DFB-EB26-B4E0-0E6B-B24C54A21E52}"/>
              </a:ext>
            </a:extLst>
          </p:cNvPr>
          <p:cNvSpPr/>
          <p:nvPr/>
        </p:nvSpPr>
        <p:spPr>
          <a:xfrm>
            <a:off x="3135937" y="3925424"/>
            <a:ext cx="502171" cy="504056"/>
          </a:xfrm>
          <a:prstGeom prst="ellipse">
            <a:avLst/>
          </a:prstGeom>
          <a:solidFill>
            <a:schemeClr val="tx1">
              <a:alpha val="70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rgbClr val="FFC000"/>
                </a:solidFill>
              </a:rPr>
              <a:t>Select</a:t>
            </a:r>
          </a:p>
          <a:p>
            <a:pPr algn="ctr"/>
            <a:r>
              <a:rPr lang="en-US" altLang="zh-TW" sz="1200" b="1" dirty="0">
                <a:solidFill>
                  <a:srgbClr val="FFC000"/>
                </a:solidFill>
              </a:rPr>
              <a:t>Framework</a:t>
            </a:r>
            <a:endParaRPr lang="zh-TW" altLang="en-US" sz="1200" b="1" dirty="0">
              <a:solidFill>
                <a:srgbClr val="FFC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86660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5C940E0C-74B1-7C52-4534-491AC8EC37ED}"/>
              </a:ext>
            </a:extLst>
          </p:cNvPr>
          <p:cNvSpPr txBox="1"/>
          <p:nvPr/>
        </p:nvSpPr>
        <p:spPr>
          <a:xfrm>
            <a:off x="478689" y="135092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Tools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Model Engine: </a:t>
            </a:r>
            <a:r>
              <a:rPr lang="en-US" altLang="zh-TW" sz="1600" dirty="0">
                <a:solidFill>
                  <a:prstClr val="black"/>
                </a:solidFill>
              </a:rPr>
              <a:t>Ollama,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DeepSeek, LlaMA4, Gemma4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Fine-Tuning Tool</a:t>
            </a:r>
            <a:r>
              <a:rPr lang="en-US" altLang="zh-TW" sz="1600" dirty="0">
                <a:solidFill>
                  <a:prstClr val="black"/>
                </a:solidFill>
              </a:rPr>
              <a:t>: llama-factory (PEFT)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IDE</a:t>
            </a:r>
            <a:r>
              <a:rPr lang="en-US" altLang="zh-TW" sz="1600" dirty="0">
                <a:solidFill>
                  <a:prstClr val="black"/>
                </a:solidFill>
              </a:rPr>
              <a:t>: Anti-gravity …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4FCEE8A5-86EF-8FFC-09AD-B4AA7F4E600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Hugging Face 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  <a:sym typeface="Wingdings" panose="05000000000000000000" pitchFamily="2" charset="2"/>
              </a:rPr>
              <a:t> Ollama  Launch Model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F0F2C1A-AAEE-60EA-B4F3-7315978747FF}"/>
              </a:ext>
            </a:extLst>
          </p:cNvPr>
          <p:cNvSpPr txBox="1"/>
          <p:nvPr/>
        </p:nvSpPr>
        <p:spPr>
          <a:xfrm>
            <a:off x="478689" y="350100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Steps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Download and Setup</a:t>
            </a:r>
            <a:r>
              <a:rPr lang="en-US" altLang="zh-TW" sz="1600" dirty="0">
                <a:solidFill>
                  <a:prstClr val="black"/>
                </a:solidFill>
              </a:rPr>
              <a:t>: GGUF and ONNX.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Directory: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and 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endParaRPr lang="en-US" altLang="zh-TW" sz="1600" dirty="0">
              <a:solidFill>
                <a:prstClr val="black"/>
              </a:solidFill>
              <a:latin typeface="Calibri"/>
              <a:ea typeface="新細明體" panose="02020500000000000000" pitchFamily="18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安裝完一切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該看到什麼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?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那些檔案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各有什麼功用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0180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2A78C-08E1-24C2-59AF-39BFBB385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BF41F877-BB16-7E15-C2E2-B063C3C0854C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Python Program in IDE 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60C3417-DCE7-01E2-CCA3-357A9BF7E8E5}"/>
              </a:ext>
            </a:extLst>
          </p:cNvPr>
          <p:cNvSpPr txBox="1"/>
          <p:nvPr/>
        </p:nvSpPr>
        <p:spPr>
          <a:xfrm>
            <a:off x="2286000" y="1556792"/>
            <a:ext cx="4662264" cy="33259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ts val="1200"/>
              </a:lnSpc>
              <a:buNone/>
            </a:pPr>
            <a:r>
              <a:rPr lang="zh-TW" altLang="zh-TW" sz="1500" b="0" u="none" strike="noStrike" dirty="0">
                <a:effectLst/>
                <a:latin typeface="Google Sans"/>
              </a:rPr>
              <a:t>python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# 1. 配置量化與 LoRA 參數 (呼叫現成工具，不改底層)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peft_config = LoraConfig(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r=16,           # 決定旁路矩陣的大小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lora_alpha=32,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target_modules=["q_proj", "v_proj"], # 指定要外掛在哪些權重矩陣旁邊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endParaRPr lang="zh-TW" altLang="zh-TW" sz="1050" b="0" u="none" strike="noStrike" dirty="0">
              <a:effectLst/>
              <a:latin typeface="Courier New" panose="020703090202050204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# 2. 指定優化器與訓練超參數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training_args = TrainingArguments(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per_device_train_batch_size=4,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gradient_accumulation_steps=4,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learning_rate=2e-4,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optim="paged_adamw_8bit", # 直接調用封裝好的 8-bit 優化器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fp16=True,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endParaRPr lang="zh-TW" altLang="zh-TW" sz="1050" b="0" u="none" strike="noStrike" dirty="0">
              <a:effectLst/>
              <a:latin typeface="Courier New" panose="020703090202050204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# 3. 執行訓練 ➔ 此時系統會自動去更新 LoRA 的權重矩陣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trainer.train()</a:t>
            </a:r>
          </a:p>
        </p:txBody>
      </p:sp>
    </p:spTree>
    <p:extLst>
      <p:ext uri="{BB962C8B-B14F-4D97-AF65-F5344CB8AC3E}">
        <p14:creationId xmlns:p14="http://schemas.microsoft.com/office/powerpoint/2010/main" val="3302383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7D88264F-8D27-8E9F-CBF6-F61243BD5B41}"/>
              </a:ext>
            </a:extLst>
          </p:cNvPr>
          <p:cNvSpPr/>
          <p:nvPr/>
        </p:nvSpPr>
        <p:spPr>
          <a:xfrm>
            <a:off x="5918111" y="1933659"/>
            <a:ext cx="2764248" cy="333300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70AF1FB-ED05-70F0-4DB3-6127255BC839}"/>
              </a:ext>
            </a:extLst>
          </p:cNvPr>
          <p:cNvSpPr/>
          <p:nvPr/>
        </p:nvSpPr>
        <p:spPr>
          <a:xfrm>
            <a:off x="6228599" y="2908192"/>
            <a:ext cx="2138553" cy="23506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System Prompt 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07BA97E-C56E-E7DA-9BCB-13829BFBAF71}"/>
              </a:ext>
            </a:extLst>
          </p:cNvPr>
          <p:cNvSpPr/>
          <p:nvPr/>
        </p:nvSpPr>
        <p:spPr>
          <a:xfrm>
            <a:off x="6228599" y="2354902"/>
            <a:ext cx="2138553" cy="45396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User Prompt</a:t>
            </a:r>
            <a:endParaRPr lang="en-US" altLang="zh-TW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algn="ctr"/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問話、檔案、圖片、聲音、影片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EFB6727-F3BA-A57C-3144-6772B21B5D15}"/>
              </a:ext>
            </a:extLst>
          </p:cNvPr>
          <p:cNvSpPr/>
          <p:nvPr/>
        </p:nvSpPr>
        <p:spPr>
          <a:xfrm>
            <a:off x="6211295" y="4334356"/>
            <a:ext cx="2138553" cy="55690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Block Hashing</a:t>
            </a:r>
            <a:b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KV Cache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032344B-9D17-C577-54A3-35184C84F7A8}"/>
              </a:ext>
            </a:extLst>
          </p:cNvPr>
          <p:cNvSpPr/>
          <p:nvPr/>
        </p:nvSpPr>
        <p:spPr>
          <a:xfrm>
            <a:off x="6225468" y="3644907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Prompt Templating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2AD862E8-6E61-CCD5-92B1-19DF3C04E057}"/>
              </a:ext>
            </a:extLst>
          </p:cNvPr>
          <p:cNvSpPr/>
          <p:nvPr/>
        </p:nvSpPr>
        <p:spPr>
          <a:xfrm>
            <a:off x="6211295" y="3995768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Tokenization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DFCD5701-21B1-1F5E-2482-B310571D001E}"/>
              </a:ext>
            </a:extLst>
          </p:cNvPr>
          <p:cNvSpPr txBox="1"/>
          <p:nvPr/>
        </p:nvSpPr>
        <p:spPr>
          <a:xfrm>
            <a:off x="3932018" y="1840642"/>
            <a:ext cx="1652125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350" b="1" dirty="0">
                <a:solidFill>
                  <a:schemeClr val="accent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Agent (ReAct)</a:t>
            </a:r>
            <a:endParaRPr lang="zh-TW" altLang="en-US" sz="1350" b="1" dirty="0">
              <a:solidFill>
                <a:schemeClr val="accent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0CD72146-64C0-38AB-C94D-DB29869A769A}"/>
              </a:ext>
            </a:extLst>
          </p:cNvPr>
          <p:cNvSpPr/>
          <p:nvPr/>
        </p:nvSpPr>
        <p:spPr>
          <a:xfrm>
            <a:off x="5020175" y="3385045"/>
            <a:ext cx="8031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397712A-50F4-F6E5-E88D-87EF4557CA99}"/>
              </a:ext>
            </a:extLst>
          </p:cNvPr>
          <p:cNvSpPr/>
          <p:nvPr/>
        </p:nvSpPr>
        <p:spPr>
          <a:xfrm>
            <a:off x="6063577" y="3415248"/>
            <a:ext cx="2462339" cy="1568706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大模型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B79AF00-F49A-7AF2-43C3-191C63509881}"/>
              </a:ext>
            </a:extLst>
          </p:cNvPr>
          <p:cNvSpPr/>
          <p:nvPr/>
        </p:nvSpPr>
        <p:spPr>
          <a:xfrm>
            <a:off x="6063576" y="2124619"/>
            <a:ext cx="2462339" cy="107843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上下文管理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1E3A592-835A-8275-6406-486816C11202}"/>
              </a:ext>
            </a:extLst>
          </p:cNvPr>
          <p:cNvSpPr/>
          <p:nvPr/>
        </p:nvSpPr>
        <p:spPr>
          <a:xfrm>
            <a:off x="5020175" y="2708017"/>
            <a:ext cx="803151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Observation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5" name="接點: 肘形 44">
            <a:extLst>
              <a:ext uri="{FF2B5EF4-FFF2-40B4-BE49-F238E27FC236}">
                <a16:creationId xmlns:a16="http://schemas.microsoft.com/office/drawing/2014/main" id="{FCF97746-0406-AF7D-A163-C26DD130A6D2}"/>
              </a:ext>
            </a:extLst>
          </p:cNvPr>
          <p:cNvCxnSpPr>
            <a:cxnSpLocks/>
            <a:stCxn id="11" idx="2"/>
            <a:endCxn id="41" idx="2"/>
          </p:cNvCxnSpPr>
          <p:nvPr/>
        </p:nvCxnSpPr>
        <p:spPr>
          <a:xfrm rot="5400000" flipH="1">
            <a:off x="5535601" y="3502028"/>
            <a:ext cx="1650785" cy="1878485"/>
          </a:xfrm>
          <a:prstGeom prst="bentConnector3">
            <a:avLst>
              <a:gd name="adj1" fmla="val -59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2766C5AD-18D5-9375-0DD2-00BA9204801A}"/>
              </a:ext>
            </a:extLst>
          </p:cNvPr>
          <p:cNvCxnSpPr>
            <a:cxnSpLocks/>
            <a:stCxn id="43" idx="0"/>
            <a:endCxn id="15" idx="0"/>
          </p:cNvCxnSpPr>
          <p:nvPr/>
        </p:nvCxnSpPr>
        <p:spPr>
          <a:xfrm rot="5400000" flipH="1" flipV="1">
            <a:off x="6183255" y="1593397"/>
            <a:ext cx="353115" cy="1876125"/>
          </a:xfrm>
          <a:prstGeom prst="bentConnector3">
            <a:avLst>
              <a:gd name="adj1" fmla="val 19017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接點: 肘形 49">
            <a:extLst>
              <a:ext uri="{FF2B5EF4-FFF2-40B4-BE49-F238E27FC236}">
                <a16:creationId xmlns:a16="http://schemas.microsoft.com/office/drawing/2014/main" id="{49FD5CB2-9F5D-592A-DAEE-72750F2C19A6}"/>
              </a:ext>
            </a:extLst>
          </p:cNvPr>
          <p:cNvCxnSpPr>
            <a:cxnSpLocks/>
            <a:stCxn id="41" idx="0"/>
            <a:endCxn id="43" idx="2"/>
          </p:cNvCxnSpPr>
          <p:nvPr/>
        </p:nvCxnSpPr>
        <p:spPr>
          <a:xfrm rot="16200000" flipV="1">
            <a:off x="5198653" y="3161947"/>
            <a:ext cx="446195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C4933434-E99C-ACA0-C643-C8FD37F2A477}"/>
              </a:ext>
            </a:extLst>
          </p:cNvPr>
          <p:cNvSpPr txBox="1"/>
          <p:nvPr/>
        </p:nvSpPr>
        <p:spPr>
          <a:xfrm>
            <a:off x="3974512" y="3377636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工具執行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9D8D8E31-9F9C-C709-59F8-96561CA4DFD3}"/>
              </a:ext>
            </a:extLst>
          </p:cNvPr>
          <p:cNvSpPr txBox="1"/>
          <p:nvPr/>
        </p:nvSpPr>
        <p:spPr>
          <a:xfrm>
            <a:off x="3958684" y="2686622"/>
            <a:ext cx="97898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執行</a:t>
            </a:r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結果反饋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E4E60699-5A1E-65BD-C11D-3D1653332DA6}"/>
              </a:ext>
            </a:extLst>
          </p:cNvPr>
          <p:cNvSpPr/>
          <p:nvPr/>
        </p:nvSpPr>
        <p:spPr>
          <a:xfrm>
            <a:off x="6939459" y="5709871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Answer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A0FB29B3-449C-CA85-0143-4D39CE832474}"/>
              </a:ext>
            </a:extLst>
          </p:cNvPr>
          <p:cNvSpPr/>
          <p:nvPr/>
        </p:nvSpPr>
        <p:spPr>
          <a:xfrm>
            <a:off x="6937100" y="1426796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Question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81" name="接點: 肘形 80">
            <a:extLst>
              <a:ext uri="{FF2B5EF4-FFF2-40B4-BE49-F238E27FC236}">
                <a16:creationId xmlns:a16="http://schemas.microsoft.com/office/drawing/2014/main" id="{B4677D52-B7BF-A2F3-BD7C-A3CE3D5BC62F}"/>
              </a:ext>
            </a:extLst>
          </p:cNvPr>
          <p:cNvCxnSpPr>
            <a:cxnSpLocks/>
            <a:stCxn id="78" idx="2"/>
            <a:endCxn id="15" idx="0"/>
          </p:cNvCxnSpPr>
          <p:nvPr/>
        </p:nvCxnSpPr>
        <p:spPr>
          <a:xfrm rot="5400000">
            <a:off x="6949240" y="2006266"/>
            <a:ext cx="697272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14C197BB-FF95-3F9F-2CF1-D8A0F38FABC2}"/>
              </a:ext>
            </a:extLst>
          </p:cNvPr>
          <p:cNvCxnSpPr>
            <a:cxnSpLocks/>
            <a:stCxn id="11" idx="2"/>
            <a:endCxn id="70" idx="0"/>
          </p:cNvCxnSpPr>
          <p:nvPr/>
        </p:nvCxnSpPr>
        <p:spPr>
          <a:xfrm rot="5400000">
            <a:off x="7078632" y="5488267"/>
            <a:ext cx="443209" cy="952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E3159AEA-8130-A12D-8992-26D88711C085}"/>
              </a:ext>
            </a:extLst>
          </p:cNvPr>
          <p:cNvSpPr txBox="1"/>
          <p:nvPr/>
        </p:nvSpPr>
        <p:spPr>
          <a:xfrm>
            <a:off x="7340751" y="5288079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規劃回應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D0BC473B-D15A-A468-6E2B-BBDD3F162373}"/>
              </a:ext>
            </a:extLst>
          </p:cNvPr>
          <p:cNvSpPr/>
          <p:nvPr/>
        </p:nvSpPr>
        <p:spPr>
          <a:xfrm>
            <a:off x="3927022" y="1748523"/>
            <a:ext cx="4911308" cy="377038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noFill/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noFill/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30CFBF44-512D-8D83-A5D7-53A882A9823F}"/>
              </a:ext>
            </a:extLst>
          </p:cNvPr>
          <p:cNvSpPr txBox="1"/>
          <p:nvPr/>
        </p:nvSpPr>
        <p:spPr>
          <a:xfrm>
            <a:off x="4049780" y="980045"/>
            <a:ext cx="4632579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1350" dirty="0"/>
              <a:t>Agent 的上限由大模型決定，但下限由上下文管理決定。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DD4EBD5C-159C-4264-4591-18EC61B9DBA4}"/>
              </a:ext>
            </a:extLst>
          </p:cNvPr>
          <p:cNvSpPr txBox="1"/>
          <p:nvPr/>
        </p:nvSpPr>
        <p:spPr>
          <a:xfrm>
            <a:off x="3998628" y="3663028"/>
            <a:ext cx="1757590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Function Calling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skill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A2A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Ephemeral 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Sub-agent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HITL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REPL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Sandbox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Vision-Based Operation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Computer Use</a:t>
            </a:r>
          </a:p>
          <a:p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163" name="圖片 162">
            <a:extLst>
              <a:ext uri="{FF2B5EF4-FFF2-40B4-BE49-F238E27FC236}">
                <a16:creationId xmlns:a16="http://schemas.microsoft.com/office/drawing/2014/main" id="{B441A2AC-9804-55D0-23BA-CBE712AD29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89" y="1565392"/>
            <a:ext cx="3340335" cy="2687707"/>
          </a:xfrm>
          <a:prstGeom prst="rect">
            <a:avLst/>
          </a:prstGeom>
        </p:spPr>
      </p:pic>
      <p:pic>
        <p:nvPicPr>
          <p:cNvPr id="165" name="圖片 164">
            <a:extLst>
              <a:ext uri="{FF2B5EF4-FFF2-40B4-BE49-F238E27FC236}">
                <a16:creationId xmlns:a16="http://schemas.microsoft.com/office/drawing/2014/main" id="{5753F105-B0A1-0CA7-1F31-A462F5FFD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237" y="4313131"/>
            <a:ext cx="3018275" cy="10409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/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Hash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(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Block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 1)</m:t>
                      </m:r>
                      <m:r>
                        <a:rPr lang="zh-TW" altLang="en-US" sz="9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SHA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256</m:t>
                      </m:r>
                      <m:d>
                        <m:dPr>
                          <m:ctrlPr>
                            <a:rPr lang="zh-TW" altLang="en-US" sz="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Hash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 0)</m:t>
                          </m:r>
                          <m:r>
                            <a:rPr lang="zh-TW" altLang="en-US" sz="9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 1 的內容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靜態在頂，動態在底；由穩入變，線性追加</m:t>
                      </m:r>
                    </m:oMath>
                  </m:oMathPara>
                </a14:m>
                <a:endParaRPr lang="zh-TW" altLang="en-US" sz="900" dirty="0">
                  <a:latin typeface="微軟正黑體 Light" panose="020B0304030504040204" pitchFamily="34" charset="-120"/>
                  <a:ea typeface="微軟正黑體 Light" panose="020B0304030504040204" pitchFamily="34" charset="-120"/>
                </a:endParaRPr>
              </a:p>
            </p:txBody>
          </p:sp>
        </mc:Choice>
        <mc:Fallback xmlns="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blipFill>
                <a:blip r:embed="rId5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441632E2-FB6B-F197-DF26-1CCC2A6D969E}"/>
              </a:ext>
            </a:extLst>
          </p:cNvPr>
          <p:cNvCxnSpPr>
            <a:cxnSpLocks/>
            <a:stCxn id="161" idx="3"/>
          </p:cNvCxnSpPr>
          <p:nvPr/>
        </p:nvCxnSpPr>
        <p:spPr>
          <a:xfrm>
            <a:off x="3303820" y="1614323"/>
            <a:ext cx="4001179" cy="1756863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2" name="直線單箭頭接點 171">
            <a:extLst>
              <a:ext uri="{FF2B5EF4-FFF2-40B4-BE49-F238E27FC236}">
                <a16:creationId xmlns:a16="http://schemas.microsoft.com/office/drawing/2014/main" id="{4F8379A8-E312-AAAB-0305-5F21D7A48075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3080424" y="2908191"/>
            <a:ext cx="3145044" cy="86150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9" name="直線單箭頭接點 178">
            <a:extLst>
              <a:ext uri="{FF2B5EF4-FFF2-40B4-BE49-F238E27FC236}">
                <a16:creationId xmlns:a16="http://schemas.microsoft.com/office/drawing/2014/main" id="{CB0339C0-FB3B-E9D5-6168-023B9B26187C}"/>
              </a:ext>
            </a:extLst>
          </p:cNvPr>
          <p:cNvCxnSpPr>
            <a:cxnSpLocks/>
            <a:stCxn id="165" idx="3"/>
            <a:endCxn id="31" idx="1"/>
          </p:cNvCxnSpPr>
          <p:nvPr/>
        </p:nvCxnSpPr>
        <p:spPr>
          <a:xfrm flipV="1">
            <a:off x="3418511" y="4120558"/>
            <a:ext cx="2792784" cy="71303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2" name="直線單箭頭接點 181">
            <a:extLst>
              <a:ext uri="{FF2B5EF4-FFF2-40B4-BE49-F238E27FC236}">
                <a16:creationId xmlns:a16="http://schemas.microsoft.com/office/drawing/2014/main" id="{C2C124A4-03BF-CCAC-C4D6-0AB57500B2E6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563977" y="4612810"/>
            <a:ext cx="2647319" cy="973959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88" name="圖片 187">
            <a:extLst>
              <a:ext uri="{FF2B5EF4-FFF2-40B4-BE49-F238E27FC236}">
                <a16:creationId xmlns:a16="http://schemas.microsoft.com/office/drawing/2014/main" id="{A3436026-A169-47CF-A377-C870212F41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5283" y="1426112"/>
            <a:ext cx="1697483" cy="139280"/>
          </a:xfrm>
          <a:prstGeom prst="rect">
            <a:avLst/>
          </a:prstGeom>
        </p:spPr>
      </p:pic>
      <p:pic>
        <p:nvPicPr>
          <p:cNvPr id="192" name="圖片 191">
            <a:extLst>
              <a:ext uri="{FF2B5EF4-FFF2-40B4-BE49-F238E27FC236}">
                <a16:creationId xmlns:a16="http://schemas.microsoft.com/office/drawing/2014/main" id="{DD6667E5-60F6-0869-8A1E-E007756D8E4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16478" y="2819990"/>
            <a:ext cx="1677644" cy="153246"/>
          </a:xfrm>
          <a:prstGeom prst="rect">
            <a:avLst/>
          </a:prstGeom>
        </p:spPr>
      </p:pic>
      <p:pic>
        <p:nvPicPr>
          <p:cNvPr id="161" name="圖片 160">
            <a:extLst>
              <a:ext uri="{FF2B5EF4-FFF2-40B4-BE49-F238E27FC236}">
                <a16:creationId xmlns:a16="http://schemas.microsoft.com/office/drawing/2014/main" id="{846CFD46-7FB4-E8C7-BCB8-ACCB38DC590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5545" y="1138729"/>
            <a:ext cx="3018275" cy="951188"/>
          </a:xfrm>
          <a:prstGeom prst="rect">
            <a:avLst/>
          </a:prstGeom>
        </p:spPr>
      </p:pic>
      <p:cxnSp>
        <p:nvCxnSpPr>
          <p:cNvPr id="4" name="接點: 肘形 3">
            <a:extLst>
              <a:ext uri="{FF2B5EF4-FFF2-40B4-BE49-F238E27FC236}">
                <a16:creationId xmlns:a16="http://schemas.microsoft.com/office/drawing/2014/main" id="{4EA7BBDC-7B61-EC8B-3736-ACD5249C1E37}"/>
              </a:ext>
            </a:extLst>
          </p:cNvPr>
          <p:cNvCxnSpPr>
            <a:cxnSpLocks/>
            <a:stCxn id="9" idx="2"/>
          </p:cNvCxnSpPr>
          <p:nvPr/>
        </p:nvCxnSpPr>
        <p:spPr>
          <a:xfrm rot="5400000">
            <a:off x="7099096" y="3398699"/>
            <a:ext cx="391299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500A213-6C42-2B9F-F559-C623686766CC}"/>
              </a:ext>
            </a:extLst>
          </p:cNvPr>
          <p:cNvSpPr txBox="1"/>
          <p:nvPr/>
        </p:nvSpPr>
        <p:spPr>
          <a:xfrm>
            <a:off x="932451" y="1129909"/>
            <a:ext cx="457082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900" dirty="0">
                <a:solidFill>
                  <a:schemeClr val="bg1"/>
                </a:solidFill>
              </a:rPr>
              <a:t>OpenAI Chat Completions API 格式</a:t>
            </a:r>
          </a:p>
        </p:txBody>
      </p:sp>
    </p:spTree>
    <p:extLst>
      <p:ext uri="{BB962C8B-B14F-4D97-AF65-F5344CB8AC3E}">
        <p14:creationId xmlns:p14="http://schemas.microsoft.com/office/powerpoint/2010/main" val="25705768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方塊 6">
            <a:extLst>
              <a:ext uri="{FF2B5EF4-FFF2-40B4-BE49-F238E27FC236}">
                <a16:creationId xmlns:a16="http://schemas.microsoft.com/office/drawing/2014/main" id="{D871E9EB-038B-1CAB-C8C1-9B3E44316CC7}"/>
              </a:ext>
            </a:extLst>
          </p:cNvPr>
          <p:cNvSpPr txBox="1"/>
          <p:nvPr/>
        </p:nvSpPr>
        <p:spPr>
          <a:xfrm>
            <a:off x="3406032" y="926707"/>
            <a:ext cx="852563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下載來源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Hugging Face Hub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Civitai 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Kaggle Models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ModelScope 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WiseModel 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81F8168-4847-CF7D-8F9D-2111C391C931}"/>
              </a:ext>
            </a:extLst>
          </p:cNvPr>
          <p:cNvSpPr/>
          <p:nvPr/>
        </p:nvSpPr>
        <p:spPr>
          <a:xfrm>
            <a:off x="4533243" y="933330"/>
            <a:ext cx="852563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下載模型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D29966B9-F7E5-0499-6A5C-D6A8D2DE7588}"/>
              </a:ext>
            </a:extLst>
          </p:cNvPr>
          <p:cNvSpPr txBox="1"/>
          <p:nvPr/>
        </p:nvSpPr>
        <p:spPr>
          <a:xfrm>
            <a:off x="4937155" y="1193886"/>
            <a:ext cx="924021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model.safetensors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generation_config.json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520C49D-79FC-6920-1D5C-7808103E61EB}"/>
              </a:ext>
            </a:extLst>
          </p:cNvPr>
          <p:cNvSpPr/>
          <p:nvPr/>
        </p:nvSpPr>
        <p:spPr>
          <a:xfrm>
            <a:off x="7288922" y="934573"/>
            <a:ext cx="1032487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下載或自定訓練資料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B7527AD-8CB3-9AE3-62DC-06B905D9F352}"/>
              </a:ext>
            </a:extLst>
          </p:cNvPr>
          <p:cNvSpPr/>
          <p:nvPr/>
        </p:nvSpPr>
        <p:spPr>
          <a:xfrm>
            <a:off x="7109102" y="2284877"/>
            <a:ext cx="1392126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訓練資料物件</a:t>
            </a:r>
            <a:b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Apache Arrow 二進位矩陣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9C03F95-903A-6223-6AFC-6B304CCF2901}"/>
              </a:ext>
            </a:extLst>
          </p:cNvPr>
          <p:cNvSpPr/>
          <p:nvPr/>
        </p:nvSpPr>
        <p:spPr>
          <a:xfrm>
            <a:off x="1289137" y="1942016"/>
            <a:ext cx="7319657" cy="969428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94B8F03-7160-0260-331E-43923BD264A3}"/>
              </a:ext>
            </a:extLst>
          </p:cNvPr>
          <p:cNvSpPr/>
          <p:nvPr/>
        </p:nvSpPr>
        <p:spPr>
          <a:xfrm>
            <a:off x="4572000" y="4155133"/>
            <a:ext cx="777946" cy="160634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模型測試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AFD015C-1F9D-2D95-AEDC-C02433CEBE33}"/>
              </a:ext>
            </a:extLst>
          </p:cNvPr>
          <p:cNvSpPr/>
          <p:nvPr/>
        </p:nvSpPr>
        <p:spPr>
          <a:xfrm>
            <a:off x="4572000" y="4449047"/>
            <a:ext cx="777946" cy="173672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模型產出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CA67325C-624F-32CA-327A-EC0F558153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0453" y="2152343"/>
            <a:ext cx="1879627" cy="71979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16BF6715-9287-EC26-3307-4DDCD97FDC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425" y="2204471"/>
            <a:ext cx="983534" cy="47655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83457B68-7A59-7497-577E-E94876509A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8268" y="3015979"/>
            <a:ext cx="2786069" cy="75335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7E6842AC-5B91-0E0F-E4A9-D56BD2012DA0}"/>
              </a:ext>
            </a:extLst>
          </p:cNvPr>
          <p:cNvSpPr/>
          <p:nvPr/>
        </p:nvSpPr>
        <p:spPr>
          <a:xfrm>
            <a:off x="4240630" y="2041934"/>
            <a:ext cx="1429394" cy="78412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模型物件（</a:t>
            </a:r>
            <a: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252C65C-D672-5C68-794F-E0925F999210}"/>
              </a:ext>
            </a:extLst>
          </p:cNvPr>
          <p:cNvSpPr/>
          <p:nvPr/>
        </p:nvSpPr>
        <p:spPr>
          <a:xfrm>
            <a:off x="3333734" y="2351430"/>
            <a:ext cx="808909" cy="16081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訓練的參數物件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9A29691-5DC4-2523-0848-4376079D4EEA}"/>
              </a:ext>
            </a:extLst>
          </p:cNvPr>
          <p:cNvSpPr/>
          <p:nvPr/>
        </p:nvSpPr>
        <p:spPr>
          <a:xfrm>
            <a:off x="5936391" y="941546"/>
            <a:ext cx="852562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下載分詞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A7E9471-E2FD-7314-ED18-B23A9B912B1C}"/>
              </a:ext>
            </a:extLst>
          </p:cNvPr>
          <p:cNvSpPr/>
          <p:nvPr/>
        </p:nvSpPr>
        <p:spPr>
          <a:xfrm>
            <a:off x="5943002" y="1761251"/>
            <a:ext cx="852562" cy="122673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分詞物件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1AF69022-FE0D-1F1B-3379-9209ADAC26DA}"/>
              </a:ext>
            </a:extLst>
          </p:cNvPr>
          <p:cNvSpPr/>
          <p:nvPr/>
        </p:nvSpPr>
        <p:spPr>
          <a:xfrm>
            <a:off x="5777589" y="2284877"/>
            <a:ext cx="852563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資料核排物件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8" name="接點: 肘形 47">
            <a:extLst>
              <a:ext uri="{FF2B5EF4-FFF2-40B4-BE49-F238E27FC236}">
                <a16:creationId xmlns:a16="http://schemas.microsoft.com/office/drawing/2014/main" id="{42A5639D-869E-B09B-00DF-F40598C0B66F}"/>
              </a:ext>
            </a:extLst>
          </p:cNvPr>
          <p:cNvCxnSpPr>
            <a:cxnSpLocks/>
            <a:stCxn id="40" idx="2"/>
            <a:endCxn id="20" idx="0"/>
          </p:cNvCxnSpPr>
          <p:nvPr/>
        </p:nvCxnSpPr>
        <p:spPr>
          <a:xfrm rot="16200000" flipH="1">
            <a:off x="6886748" y="1366459"/>
            <a:ext cx="400953" cy="143588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接點: 肘形 50">
            <a:extLst>
              <a:ext uri="{FF2B5EF4-FFF2-40B4-BE49-F238E27FC236}">
                <a16:creationId xmlns:a16="http://schemas.microsoft.com/office/drawing/2014/main" id="{E8184D6F-1194-89A9-2EBE-106D9054DF3D}"/>
              </a:ext>
            </a:extLst>
          </p:cNvPr>
          <p:cNvCxnSpPr>
            <a:cxnSpLocks/>
            <a:stCxn id="40" idx="2"/>
            <a:endCxn id="42" idx="0"/>
          </p:cNvCxnSpPr>
          <p:nvPr/>
        </p:nvCxnSpPr>
        <p:spPr>
          <a:xfrm rot="5400000">
            <a:off x="6086100" y="2001694"/>
            <a:ext cx="400953" cy="16541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E6C627EB-BF7F-9B14-B1F3-37E0A9AA5181}"/>
              </a:ext>
            </a:extLst>
          </p:cNvPr>
          <p:cNvSpPr/>
          <p:nvPr/>
        </p:nvSpPr>
        <p:spPr>
          <a:xfrm>
            <a:off x="4572000" y="3289905"/>
            <a:ext cx="772150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啓動模型訓練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3EC90861-398C-5499-A9B4-38CA12520ACD}"/>
              </a:ext>
            </a:extLst>
          </p:cNvPr>
          <p:cNvSpPr/>
          <p:nvPr/>
        </p:nvSpPr>
        <p:spPr>
          <a:xfrm>
            <a:off x="185739" y="4999033"/>
            <a:ext cx="8815387" cy="7047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模型執行環境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85109683-EDE3-2485-97C7-7F230C99D909}"/>
              </a:ext>
            </a:extLst>
          </p:cNvPr>
          <p:cNvSpPr/>
          <p:nvPr/>
        </p:nvSpPr>
        <p:spPr>
          <a:xfrm>
            <a:off x="185739" y="1679168"/>
            <a:ext cx="8815387" cy="22852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用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從頭寫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code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</a:p>
        </p:txBody>
      </p:sp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E4ADABD1-954E-F32A-757A-287F2D9844C5}"/>
              </a:ext>
            </a:extLst>
          </p:cNvPr>
          <p:cNvCxnSpPr>
            <a:cxnSpLocks/>
            <a:stCxn id="10" idx="2"/>
            <a:endCxn id="34" idx="0"/>
          </p:cNvCxnSpPr>
          <p:nvPr/>
        </p:nvCxnSpPr>
        <p:spPr>
          <a:xfrm flipH="1">
            <a:off x="4955327" y="1108749"/>
            <a:ext cx="4198" cy="933185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直線單箭頭接點 117">
            <a:extLst>
              <a:ext uri="{FF2B5EF4-FFF2-40B4-BE49-F238E27FC236}">
                <a16:creationId xmlns:a16="http://schemas.microsoft.com/office/drawing/2014/main" id="{785C6C88-C610-04FC-BF45-F4DAD511E4BD}"/>
              </a:ext>
            </a:extLst>
          </p:cNvPr>
          <p:cNvCxnSpPr>
            <a:cxnSpLocks/>
            <a:stCxn id="38" idx="2"/>
            <a:endCxn id="40" idx="0"/>
          </p:cNvCxnSpPr>
          <p:nvPr/>
        </p:nvCxnSpPr>
        <p:spPr>
          <a:xfrm>
            <a:off x="6362672" y="1116965"/>
            <a:ext cx="6611" cy="64428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7C0638DC-7015-38BE-4FEE-43D8B83328C7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7805165" y="1109992"/>
            <a:ext cx="0" cy="1174886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直線單箭頭接點 127">
            <a:extLst>
              <a:ext uri="{FF2B5EF4-FFF2-40B4-BE49-F238E27FC236}">
                <a16:creationId xmlns:a16="http://schemas.microsoft.com/office/drawing/2014/main" id="{72A1A04D-60AD-D17B-5905-3D7A6E87482F}"/>
              </a:ext>
            </a:extLst>
          </p:cNvPr>
          <p:cNvCxnSpPr>
            <a:cxnSpLocks/>
            <a:stCxn id="20" idx="1"/>
            <a:endCxn id="42" idx="3"/>
          </p:cNvCxnSpPr>
          <p:nvPr/>
        </p:nvCxnSpPr>
        <p:spPr>
          <a:xfrm flipH="1">
            <a:off x="6630152" y="2431835"/>
            <a:ext cx="478951" cy="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直線單箭頭接點 132">
            <a:extLst>
              <a:ext uri="{FF2B5EF4-FFF2-40B4-BE49-F238E27FC236}">
                <a16:creationId xmlns:a16="http://schemas.microsoft.com/office/drawing/2014/main" id="{F8859C5C-E641-D46A-0DB8-C5E6FAD38385}"/>
              </a:ext>
            </a:extLst>
          </p:cNvPr>
          <p:cNvCxnSpPr>
            <a:cxnSpLocks/>
            <a:stCxn id="42" idx="1"/>
            <a:endCxn id="34" idx="3"/>
          </p:cNvCxnSpPr>
          <p:nvPr/>
        </p:nvCxnSpPr>
        <p:spPr>
          <a:xfrm flipH="1">
            <a:off x="5670023" y="2431834"/>
            <a:ext cx="107565" cy="2162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直線單箭頭接點 136">
            <a:extLst>
              <a:ext uri="{FF2B5EF4-FFF2-40B4-BE49-F238E27FC236}">
                <a16:creationId xmlns:a16="http://schemas.microsoft.com/office/drawing/2014/main" id="{0F9F68E0-7684-F86B-A00C-A00298B706D2}"/>
              </a:ext>
            </a:extLst>
          </p:cNvPr>
          <p:cNvCxnSpPr>
            <a:cxnSpLocks/>
            <a:stCxn id="36" idx="3"/>
            <a:endCxn id="34" idx="1"/>
          </p:cNvCxnSpPr>
          <p:nvPr/>
        </p:nvCxnSpPr>
        <p:spPr>
          <a:xfrm>
            <a:off x="4142642" y="2431836"/>
            <a:ext cx="97988" cy="2161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矩形 145">
            <a:extLst>
              <a:ext uri="{FF2B5EF4-FFF2-40B4-BE49-F238E27FC236}">
                <a16:creationId xmlns:a16="http://schemas.microsoft.com/office/drawing/2014/main" id="{7CC0C207-7DCD-90A4-3CEE-B5686A84904A}"/>
              </a:ext>
            </a:extLst>
          </p:cNvPr>
          <p:cNvSpPr/>
          <p:nvPr/>
        </p:nvSpPr>
        <p:spPr>
          <a:xfrm>
            <a:off x="4461654" y="2240520"/>
            <a:ext cx="852563" cy="1483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手段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163" name="直線單箭頭接點 162">
            <a:extLst>
              <a:ext uri="{FF2B5EF4-FFF2-40B4-BE49-F238E27FC236}">
                <a16:creationId xmlns:a16="http://schemas.microsoft.com/office/drawing/2014/main" id="{5A8FECF0-ECFE-CF5E-6405-F2FB24E48054}"/>
              </a:ext>
            </a:extLst>
          </p:cNvPr>
          <p:cNvCxnSpPr>
            <a:cxnSpLocks/>
            <a:stCxn id="34" idx="2"/>
            <a:endCxn id="78" idx="0"/>
          </p:cNvCxnSpPr>
          <p:nvPr/>
        </p:nvCxnSpPr>
        <p:spPr>
          <a:xfrm>
            <a:off x="4955327" y="2826058"/>
            <a:ext cx="2749" cy="46384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直線單箭頭接點 165">
            <a:extLst>
              <a:ext uri="{FF2B5EF4-FFF2-40B4-BE49-F238E27FC236}">
                <a16:creationId xmlns:a16="http://schemas.microsoft.com/office/drawing/2014/main" id="{3B95A4BC-289B-F123-E3F9-4A3D68D3C9D9}"/>
              </a:ext>
            </a:extLst>
          </p:cNvPr>
          <p:cNvCxnSpPr>
            <a:cxnSpLocks/>
            <a:stCxn id="78" idx="2"/>
            <a:endCxn id="24" idx="0"/>
          </p:cNvCxnSpPr>
          <p:nvPr/>
        </p:nvCxnSpPr>
        <p:spPr>
          <a:xfrm>
            <a:off x="4958075" y="3583819"/>
            <a:ext cx="2898" cy="571313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2EB35435-5FF8-4324-BF98-F63774C09651}"/>
              </a:ext>
            </a:extLst>
          </p:cNvPr>
          <p:cNvCxnSpPr>
            <a:cxnSpLocks/>
            <a:stCxn id="24" idx="2"/>
            <a:endCxn id="26" idx="0"/>
          </p:cNvCxnSpPr>
          <p:nvPr/>
        </p:nvCxnSpPr>
        <p:spPr>
          <a:xfrm>
            <a:off x="4960973" y="4315767"/>
            <a:ext cx="0" cy="13328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DC63F816-AC5B-9D01-4FA4-51AFBA0D6F6E}"/>
              </a:ext>
            </a:extLst>
          </p:cNvPr>
          <p:cNvSpPr txBox="1"/>
          <p:nvPr/>
        </p:nvSpPr>
        <p:spPr>
          <a:xfrm>
            <a:off x="4266801" y="2370255"/>
            <a:ext cx="138254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開旁支：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LoRA / QLoRA / DoRA</a:t>
            </a:r>
          </a:p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層凍結：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Freeze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虛擬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Prefix / Prompt Tuning</a:t>
            </a:r>
          </a:p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Bias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BitFit</a:t>
            </a:r>
          </a:p>
        </p:txBody>
      </p:sp>
      <p:sp>
        <p:nvSpPr>
          <p:cNvPr id="191" name="文字方塊 190">
            <a:extLst>
              <a:ext uri="{FF2B5EF4-FFF2-40B4-BE49-F238E27FC236}">
                <a16:creationId xmlns:a16="http://schemas.microsoft.com/office/drawing/2014/main" id="{5D76B831-1B92-6132-F84C-703420D62D33}"/>
              </a:ext>
            </a:extLst>
          </p:cNvPr>
          <p:cNvSpPr txBox="1"/>
          <p:nvPr/>
        </p:nvSpPr>
        <p:spPr>
          <a:xfrm>
            <a:off x="6369282" y="1116147"/>
            <a:ext cx="127468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tokenizer_config.json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vocab.json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merges.txt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special_tokens_map.json</a:t>
            </a:r>
          </a:p>
        </p:txBody>
      </p:sp>
      <p:sp>
        <p:nvSpPr>
          <p:cNvPr id="202" name="文字方塊 201">
            <a:extLst>
              <a:ext uri="{FF2B5EF4-FFF2-40B4-BE49-F238E27FC236}">
                <a16:creationId xmlns:a16="http://schemas.microsoft.com/office/drawing/2014/main" id="{86C78B19-240D-1AE5-CE33-34433538B3A6}"/>
              </a:ext>
            </a:extLst>
          </p:cNvPr>
          <p:cNvSpPr txBox="1"/>
          <p:nvPr/>
        </p:nvSpPr>
        <p:spPr>
          <a:xfrm>
            <a:off x="7788181" y="1164677"/>
            <a:ext cx="1212944" cy="369332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README.md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train-00000-of-00001.parquet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test-00000-of-00001.parquet</a:t>
            </a:r>
            <a:endParaRPr lang="en-US" altLang="zh-TW" sz="600" dirty="0">
              <a:solidFill>
                <a:srgbClr val="FF0000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7" name="文字方塊 246">
            <a:extLst>
              <a:ext uri="{FF2B5EF4-FFF2-40B4-BE49-F238E27FC236}">
                <a16:creationId xmlns:a16="http://schemas.microsoft.com/office/drawing/2014/main" id="{A5C640EF-71D1-9954-00E7-1DCD265E0930}"/>
              </a:ext>
            </a:extLst>
          </p:cNvPr>
          <p:cNvSpPr txBox="1"/>
          <p:nvPr/>
        </p:nvSpPr>
        <p:spPr>
          <a:xfrm>
            <a:off x="253425" y="926707"/>
            <a:ext cx="1081211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直接可使用得微調工具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r>
              <a:rPr lang="zh-TW" altLang="zh-TW" sz="600" dirty="0"/>
              <a:t> </a:t>
            </a:r>
            <a:br>
              <a:rPr lang="en-US" altLang="zh-TW" sz="600" dirty="0"/>
            </a:br>
            <a:r>
              <a:rPr lang="zh-TW" altLang="zh-TW" sz="600" dirty="0"/>
              <a:t>Axolotl </a:t>
            </a:r>
            <a:endParaRPr lang="en-US" altLang="zh-TW" sz="600" dirty="0"/>
          </a:p>
          <a:p>
            <a:r>
              <a:rPr lang="zh-TW" altLang="zh-TW" sz="600" dirty="0">
                <a:solidFill>
                  <a:srgbClr val="FF0000"/>
                </a:solidFill>
              </a:rPr>
              <a:t>LLaMA Factory</a:t>
            </a:r>
            <a:endParaRPr lang="en-US" altLang="zh-TW" sz="600" dirty="0">
              <a:solidFill>
                <a:srgbClr val="FF0000"/>
              </a:solidFill>
            </a:endParaRPr>
          </a:p>
          <a:p>
            <a:r>
              <a:rPr lang="zh-TW" altLang="zh-TW" sz="600" dirty="0"/>
              <a:t>Unsloth </a:t>
            </a:r>
            <a:endParaRPr lang="en-US" altLang="zh-TW" sz="600" dirty="0"/>
          </a:p>
          <a:p>
            <a:r>
              <a:rPr lang="zh-TW" altLang="zh-TW" sz="600" dirty="0"/>
              <a:t>Torchtune </a:t>
            </a:r>
            <a:endParaRPr lang="en-US" altLang="zh-TW" sz="600" dirty="0"/>
          </a:p>
          <a:p>
            <a:r>
              <a:rPr lang="zh-TW" altLang="zh-TW" sz="600" dirty="0"/>
              <a:t>ModelScope SWIFT</a:t>
            </a:r>
          </a:p>
        </p:txBody>
      </p:sp>
      <p:sp>
        <p:nvSpPr>
          <p:cNvPr id="252" name="矩形 251">
            <a:extLst>
              <a:ext uri="{FF2B5EF4-FFF2-40B4-BE49-F238E27FC236}">
                <a16:creationId xmlns:a16="http://schemas.microsoft.com/office/drawing/2014/main" id="{9A6FC049-1187-D7E5-0630-C64F63C4816F}"/>
              </a:ext>
            </a:extLst>
          </p:cNvPr>
          <p:cNvSpPr/>
          <p:nvPr/>
        </p:nvSpPr>
        <p:spPr>
          <a:xfrm>
            <a:off x="1990764" y="514305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afetensors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58" name="矩形 257">
            <a:extLst>
              <a:ext uri="{FF2B5EF4-FFF2-40B4-BE49-F238E27FC236}">
                <a16:creationId xmlns:a16="http://schemas.microsoft.com/office/drawing/2014/main" id="{1ADAF727-5FDF-2842-C7DB-D8C277D46F95}"/>
              </a:ext>
            </a:extLst>
          </p:cNvPr>
          <p:cNvSpPr/>
          <p:nvPr/>
        </p:nvSpPr>
        <p:spPr>
          <a:xfrm>
            <a:off x="6935619" y="5139160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GGUF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0" name="矩形 259">
            <a:extLst>
              <a:ext uri="{FF2B5EF4-FFF2-40B4-BE49-F238E27FC236}">
                <a16:creationId xmlns:a16="http://schemas.microsoft.com/office/drawing/2014/main" id="{231D6C02-3483-2589-2E13-924E757F37B9}"/>
              </a:ext>
            </a:extLst>
          </p:cNvPr>
          <p:cNvSpPr/>
          <p:nvPr/>
        </p:nvSpPr>
        <p:spPr>
          <a:xfrm>
            <a:off x="5155490" y="513456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2" name="矩形 261">
            <a:extLst>
              <a:ext uri="{FF2B5EF4-FFF2-40B4-BE49-F238E27FC236}">
                <a16:creationId xmlns:a16="http://schemas.microsoft.com/office/drawing/2014/main" id="{B2B955B9-2D46-C93F-B50E-EFFFE9188B34}"/>
              </a:ext>
            </a:extLst>
          </p:cNvPr>
          <p:cNvSpPr/>
          <p:nvPr/>
        </p:nvSpPr>
        <p:spPr>
          <a:xfrm>
            <a:off x="3395131" y="514177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265" name="接點: 肘形 264">
            <a:extLst>
              <a:ext uri="{FF2B5EF4-FFF2-40B4-BE49-F238E27FC236}">
                <a16:creationId xmlns:a16="http://schemas.microsoft.com/office/drawing/2014/main" id="{42D552B2-437C-65F9-520E-189C69CC693A}"/>
              </a:ext>
            </a:extLst>
          </p:cNvPr>
          <p:cNvCxnSpPr>
            <a:cxnSpLocks/>
            <a:stCxn id="26" idx="2"/>
            <a:endCxn id="252" idx="0"/>
          </p:cNvCxnSpPr>
          <p:nvPr/>
        </p:nvCxnSpPr>
        <p:spPr>
          <a:xfrm rot="5400000">
            <a:off x="3428842" y="3610922"/>
            <a:ext cx="520336" cy="254392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接點: 肘形 267">
            <a:extLst>
              <a:ext uri="{FF2B5EF4-FFF2-40B4-BE49-F238E27FC236}">
                <a16:creationId xmlns:a16="http://schemas.microsoft.com/office/drawing/2014/main" id="{0D4B1183-3F84-40E9-3BF3-22D2AECBA622}"/>
              </a:ext>
            </a:extLst>
          </p:cNvPr>
          <p:cNvCxnSpPr>
            <a:cxnSpLocks/>
            <a:stCxn id="26" idx="2"/>
            <a:endCxn id="258" idx="0"/>
          </p:cNvCxnSpPr>
          <p:nvPr/>
        </p:nvCxnSpPr>
        <p:spPr>
          <a:xfrm rot="16200000" flipH="1">
            <a:off x="5903217" y="3680476"/>
            <a:ext cx="516442" cy="2400927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接點: 肘形 271">
            <a:extLst>
              <a:ext uri="{FF2B5EF4-FFF2-40B4-BE49-F238E27FC236}">
                <a16:creationId xmlns:a16="http://schemas.microsoft.com/office/drawing/2014/main" id="{68D0530A-C47E-1270-2FAA-27D23EC81278}"/>
              </a:ext>
            </a:extLst>
          </p:cNvPr>
          <p:cNvCxnSpPr>
            <a:cxnSpLocks/>
            <a:stCxn id="26" idx="2"/>
            <a:endCxn id="260" idx="0"/>
          </p:cNvCxnSpPr>
          <p:nvPr/>
        </p:nvCxnSpPr>
        <p:spPr>
          <a:xfrm rot="16200000" flipH="1">
            <a:off x="5015450" y="4568242"/>
            <a:ext cx="511846" cy="62079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接點: 肘形 274">
            <a:extLst>
              <a:ext uri="{FF2B5EF4-FFF2-40B4-BE49-F238E27FC236}">
                <a16:creationId xmlns:a16="http://schemas.microsoft.com/office/drawing/2014/main" id="{19DE8891-6873-FDD2-E2BA-E7D41F288E63}"/>
              </a:ext>
            </a:extLst>
          </p:cNvPr>
          <p:cNvCxnSpPr>
            <a:cxnSpLocks/>
            <a:stCxn id="26" idx="2"/>
            <a:endCxn id="262" idx="0"/>
          </p:cNvCxnSpPr>
          <p:nvPr/>
        </p:nvCxnSpPr>
        <p:spPr>
          <a:xfrm rot="5400000">
            <a:off x="4131665" y="4312467"/>
            <a:ext cx="519056" cy="1139561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3" name="文字方塊 282">
            <a:extLst>
              <a:ext uri="{FF2B5EF4-FFF2-40B4-BE49-F238E27FC236}">
                <a16:creationId xmlns:a16="http://schemas.microsoft.com/office/drawing/2014/main" id="{E73DAF14-0EDE-066F-1C03-22F3F7D00913}"/>
              </a:ext>
            </a:extLst>
          </p:cNvPr>
          <p:cNvSpPr txBox="1"/>
          <p:nvPr/>
        </p:nvSpPr>
        <p:spPr>
          <a:xfrm>
            <a:off x="1942286" y="527939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vLLM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5" name="文字方塊 284">
            <a:extLst>
              <a:ext uri="{FF2B5EF4-FFF2-40B4-BE49-F238E27FC236}">
                <a16:creationId xmlns:a16="http://schemas.microsoft.com/office/drawing/2014/main" id="{FD0685BF-B94F-4A9B-9E8A-4034E88D406B}"/>
              </a:ext>
            </a:extLst>
          </p:cNvPr>
          <p:cNvSpPr txBox="1"/>
          <p:nvPr/>
        </p:nvSpPr>
        <p:spPr>
          <a:xfrm>
            <a:off x="6952602" y="524924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Ollama 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7" name="文字方塊 286">
            <a:extLst>
              <a:ext uri="{FF2B5EF4-FFF2-40B4-BE49-F238E27FC236}">
                <a16:creationId xmlns:a16="http://schemas.microsoft.com/office/drawing/2014/main" id="{4B269E56-C728-6787-8E81-1981A87157F9}"/>
              </a:ext>
            </a:extLst>
          </p:cNvPr>
          <p:cNvSpPr txBox="1"/>
          <p:nvPr/>
        </p:nvSpPr>
        <p:spPr>
          <a:xfrm>
            <a:off x="5137010" y="5300545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mlx-lm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LLM Farm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9" name="文字方塊 288">
            <a:extLst>
              <a:ext uri="{FF2B5EF4-FFF2-40B4-BE49-F238E27FC236}">
                <a16:creationId xmlns:a16="http://schemas.microsoft.com/office/drawing/2014/main" id="{2941C4EB-ADCA-39E4-0A07-CA423DBA4878}"/>
              </a:ext>
            </a:extLst>
          </p:cNvPr>
          <p:cNvSpPr txBox="1"/>
          <p:nvPr/>
        </p:nvSpPr>
        <p:spPr>
          <a:xfrm>
            <a:off x="3495632" y="527070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 Runtime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1" name="文字方塊 290">
            <a:extLst>
              <a:ext uri="{FF2B5EF4-FFF2-40B4-BE49-F238E27FC236}">
                <a16:creationId xmlns:a16="http://schemas.microsoft.com/office/drawing/2014/main" id="{38A2098C-65B1-BAEA-F313-AF7DEA58FB71}"/>
              </a:ext>
            </a:extLst>
          </p:cNvPr>
          <p:cNvSpPr txBox="1"/>
          <p:nvPr/>
        </p:nvSpPr>
        <p:spPr>
          <a:xfrm>
            <a:off x="1980422" y="550612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雲端、開發階段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3" name="文字方塊 292">
            <a:extLst>
              <a:ext uri="{FF2B5EF4-FFF2-40B4-BE49-F238E27FC236}">
                <a16:creationId xmlns:a16="http://schemas.microsoft.com/office/drawing/2014/main" id="{F156262B-FBDE-F4B9-3888-D43495A0DCCB}"/>
              </a:ext>
            </a:extLst>
          </p:cNvPr>
          <p:cNvSpPr txBox="1"/>
          <p:nvPr/>
        </p:nvSpPr>
        <p:spPr>
          <a:xfrm>
            <a:off x="7056293" y="548995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5" name="文字方塊 294">
            <a:extLst>
              <a:ext uri="{FF2B5EF4-FFF2-40B4-BE49-F238E27FC236}">
                <a16:creationId xmlns:a16="http://schemas.microsoft.com/office/drawing/2014/main" id="{43DD308C-3610-EE5B-A0AC-865CAC18D067}"/>
              </a:ext>
            </a:extLst>
          </p:cNvPr>
          <p:cNvSpPr txBox="1"/>
          <p:nvPr/>
        </p:nvSpPr>
        <p:spPr>
          <a:xfrm>
            <a:off x="5213282" y="5533312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mac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7" name="文字方塊 296">
            <a:extLst>
              <a:ext uri="{FF2B5EF4-FFF2-40B4-BE49-F238E27FC236}">
                <a16:creationId xmlns:a16="http://schemas.microsoft.com/office/drawing/2014/main" id="{8AB96CAE-778C-04C3-758E-EA80F7D02DEC}"/>
              </a:ext>
            </a:extLst>
          </p:cNvPr>
          <p:cNvSpPr txBox="1"/>
          <p:nvPr/>
        </p:nvSpPr>
        <p:spPr>
          <a:xfrm>
            <a:off x="3648084" y="551065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跨平台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99" name="圖片 298">
            <a:extLst>
              <a:ext uri="{FF2B5EF4-FFF2-40B4-BE49-F238E27FC236}">
                <a16:creationId xmlns:a16="http://schemas.microsoft.com/office/drawing/2014/main" id="{3068F5DA-67C4-16D0-25EA-B8EC477900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8385" y="3408287"/>
            <a:ext cx="619157" cy="90492"/>
          </a:xfrm>
          <a:prstGeom prst="rect">
            <a:avLst/>
          </a:prstGeom>
        </p:spPr>
      </p:pic>
      <p:pic>
        <p:nvPicPr>
          <p:cNvPr id="301" name="圖片 300">
            <a:extLst>
              <a:ext uri="{FF2B5EF4-FFF2-40B4-BE49-F238E27FC236}">
                <a16:creationId xmlns:a16="http://schemas.microsoft.com/office/drawing/2014/main" id="{10C7C000-FE46-F822-B7E7-CAB6A73246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7853" y="4182410"/>
            <a:ext cx="519140" cy="133357"/>
          </a:xfrm>
          <a:prstGeom prst="rect">
            <a:avLst/>
          </a:prstGeom>
        </p:spPr>
      </p:pic>
      <p:pic>
        <p:nvPicPr>
          <p:cNvPr id="303" name="圖片 302">
            <a:extLst>
              <a:ext uri="{FF2B5EF4-FFF2-40B4-BE49-F238E27FC236}">
                <a16:creationId xmlns:a16="http://schemas.microsoft.com/office/drawing/2014/main" id="{92A525C8-3860-AAFC-0292-5954D4D603D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4584" y="4582336"/>
            <a:ext cx="1519316" cy="190510"/>
          </a:xfrm>
          <a:prstGeom prst="rect">
            <a:avLst/>
          </a:prstGeom>
        </p:spPr>
      </p:pic>
      <p:pic>
        <p:nvPicPr>
          <p:cNvPr id="309" name="圖片 308">
            <a:extLst>
              <a:ext uri="{FF2B5EF4-FFF2-40B4-BE49-F238E27FC236}">
                <a16:creationId xmlns:a16="http://schemas.microsoft.com/office/drawing/2014/main" id="{53B8548D-F084-A213-2F4D-C298EC54CB4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47244" y="4345355"/>
            <a:ext cx="1761549" cy="463336"/>
          </a:xfrm>
          <a:prstGeom prst="rect">
            <a:avLst/>
          </a:prstGeom>
        </p:spPr>
      </p:pic>
      <p:sp>
        <p:nvSpPr>
          <p:cNvPr id="350" name="文字方塊 349">
            <a:extLst>
              <a:ext uri="{FF2B5EF4-FFF2-40B4-BE49-F238E27FC236}">
                <a16:creationId xmlns:a16="http://schemas.microsoft.com/office/drawing/2014/main" id="{39FF7848-8229-04D6-551E-93C8BD91D235}"/>
              </a:ext>
            </a:extLst>
          </p:cNvPr>
          <p:cNvSpPr txBox="1"/>
          <p:nvPr/>
        </p:nvSpPr>
        <p:spPr>
          <a:xfrm>
            <a:off x="4937155" y="1108277"/>
            <a:ext cx="1217945" cy="363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069"/>
              </a:lnSpc>
            </a:pPr>
            <a:r>
              <a:rPr lang="zh-TW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gemma-4-E2B-it</a:t>
            </a:r>
            <a:r>
              <a:rPr lang="en-US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 10.2</a:t>
            </a:r>
            <a:r>
              <a:rPr lang="en-US" altLang="zh-CN" sz="750" dirty="0">
                <a:solidFill>
                  <a:srgbClr val="CE9178"/>
                </a:solidFill>
                <a:latin typeface="Consolas" panose="020B0609020204030204" pitchFamily="49" charset="0"/>
              </a:rPr>
              <a:t>G</a:t>
            </a:r>
            <a:endParaRPr lang="zh-TW" altLang="zh-TW" sz="75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0605963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0</TotalTime>
  <Words>11077</Words>
  <Application>Microsoft Office PowerPoint</Application>
  <PresentationFormat>如螢幕大小 (4:3)</PresentationFormat>
  <Paragraphs>1371</Paragraphs>
  <Slides>20</Slides>
  <Notes>18</Notes>
  <HiddenSlides>1</HiddenSlides>
  <MMClips>0</MMClips>
  <ScaleCrop>false</ScaleCrop>
  <HeadingPairs>
    <vt:vector size="6" baseType="variant">
      <vt:variant>
        <vt:lpstr>使用字型</vt:lpstr>
      </vt:variant>
      <vt:variant>
        <vt:i4>14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20</vt:i4>
      </vt:variant>
    </vt:vector>
  </HeadingPairs>
  <TitlesOfParts>
    <vt:vector size="35" baseType="lpstr">
      <vt:lpstr>Google Sans</vt:lpstr>
      <vt:lpstr>Meiryo</vt:lpstr>
      <vt:lpstr>Noto Sans HK</vt:lpstr>
      <vt:lpstr>微軟正黑體</vt:lpstr>
      <vt:lpstr>微軟正黑體 Light</vt:lpstr>
      <vt:lpstr>ADLaM Display</vt:lpstr>
      <vt:lpstr>Arial</vt:lpstr>
      <vt:lpstr>Calibri</vt:lpstr>
      <vt:lpstr>Cambria Math</vt:lpstr>
      <vt:lpstr>Comic Sans MS</vt:lpstr>
      <vt:lpstr>Consolas</vt:lpstr>
      <vt:lpstr>Courier New</vt:lpstr>
      <vt:lpstr>Gadugi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1780</cp:revision>
  <cp:lastPrinted>2024-07-30T01:44:15Z</cp:lastPrinted>
  <dcterms:created xsi:type="dcterms:W3CDTF">2019-11-08T03:01:47Z</dcterms:created>
  <dcterms:modified xsi:type="dcterms:W3CDTF">2026-07-18T10:27:18Z</dcterms:modified>
</cp:coreProperties>
</file>