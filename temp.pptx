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3561" r:id="rId2"/>
    <p:sldId id="3560" r:id="rId3"/>
    <p:sldId id="3563" r:id="rId4"/>
    <p:sldId id="3565" r:id="rId5"/>
    <p:sldId id="3575" r:id="rId6"/>
    <p:sldId id="3576" r:id="rId7"/>
    <p:sldId id="3574" r:id="rId8"/>
    <p:sldId id="3572" r:id="rId9"/>
    <p:sldId id="3566" r:id="rId10"/>
    <p:sldId id="3571" r:id="rId11"/>
    <p:sldId id="3573" r:id="rId12"/>
    <p:sldId id="3564" r:id="rId13"/>
    <p:sldId id="3570" r:id="rId14"/>
    <p:sldId id="3569" r:id="rId15"/>
    <p:sldId id="3568" r:id="rId16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00"/>
    <a:srgbClr val="CC9900"/>
    <a:srgbClr val="FFFF99"/>
    <a:srgbClr val="DBD600"/>
    <a:srgbClr val="FFFFCC"/>
    <a:srgbClr val="F3E5E5"/>
    <a:srgbClr val="EBD1D1"/>
    <a:srgbClr val="FCF8F8"/>
    <a:srgbClr val="996600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1584" y="540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2026/10/26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5E8F6-51C7-EA3A-C0DD-1D354C324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239BC9A-1E9E-371D-EDE5-1EE9FE190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1847A86-A282-6B98-BB9E-B3433CEC1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000" b="0" u="none" strike="noStrike" kern="1200" dirty="0"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Householder 變換（在 GDN 中表現為 Delta Rule 的記憶擦除）</a:t>
            </a:r>
            <a:r>
              <a:rPr lang="en-US" altLang="zh-TW" sz="1000" b="0" u="none" strike="noStrike" kern="1200" dirty="0"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:</a:t>
            </a:r>
            <a:endParaRPr lang="zh-TW" altLang="zh-TW" sz="1200" b="0" i="0" u="none" strike="noStrike" kern="1200" baseline="0" dirty="0">
              <a:solidFill>
                <a:schemeClr val="tx1"/>
              </a:solidFill>
              <a:effectLst/>
              <a:latin typeface="+mj-ea"/>
              <a:ea typeface="+mj-ea"/>
              <a:cs typeface="+mn-cs"/>
            </a:endParaRP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1. 「低秩更新（Low-rank Update）」的數學特例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這是一般 RNN（如形如 \(S_t = S_{t-1}W_h + x_t\) 的全連接層）做不到的。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一般的 RNN 每次更新記憶都需要讓一個 \(d \times d\) 的巨大權重矩陣去乘以舊記憶，這個操作的複雜度是 \(\mathcal{O}(d^3)\) 或 \(\mathcal{O}(d^2)\)。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變換 的公式是 \((I - k_t \bar{k}_t^T)\)。數學上，這是由一個向量（秩為 1 的矩陣 \(k_t \bar{k}_t^T\)） 去和單位矩陣相加減。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這意味著，它在數學上允許模型僅僅用一個 \(d\) 維的向量（Key），就能對一個 \(d \times d\) 的龐大記憶空間進行精確的、全域的聯想式擦除。它用最小的參數代價（秩為 1），換取了全域記憶的操控能力。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2. 「正交性（Orthogonality）」帶來的數值穩定性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變換在數值線性代數中，最著名的特性就是它是正交變換（Orthogonal Transformation）。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在傳統的線性注意力（Linear Attention）中，記憶更新是純加法：\(S_t = S_{t-1} + v_t k_t^T\)。隨著序列變長，矩陣內部的數值會無限累加，導致梯度爆炸，或者數值太大失去精細度。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矩陣 \(H = I - 2uu^T\) 具有一個完美的數學性質：\(H^T H = I\)（它是正交的）。正交意味著它在相乘時會保持向量的長度（範數）不變，不會放大或縮小數值。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GDN 引入這個機制後，雖然加入了門控使其不完全等同於標準正交，但它在數學上承襲了 Householder 的基因：透過「旋轉/反射」空間而非單純的「縮放」空間來更新記憶。這在數學上天然抑制了長序列訓練時的梯度消失與梯度爆炸。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3. 三角求逆（Triangular Solve）的對數級時間複雜度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這點最直擊本質。當我們把 \(n\) 個 Householder 變換串聯展開時，我們得到的是：</a:t>
            </a:r>
            <a:b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</a:br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\(A = (I - \text{tril}(M, -1))^{-1}\)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在數學上，求解單位下三角方程組（Triangular Solve）有一個非常厲害的演算法叫做 平行掃描（Parallel Scan / Recursive Doubling）。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序列迴圈（RNN）：必須一步一步算，時間複雜度是 \(\mathcal{O}(n)\)。</a:t>
            </a:r>
          </a:p>
          <a:p>
            <a:pPr lvl="0"/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串聯 + 平行掃描：在數學上可以像二元樹一樣，兩兩合併、四四合併。這使得它在 GPU 上的理論時間複雜度直接從 \(\mathcal{O}(n)\) 降到了 \(\mathcal{O}(\log n)\)（對數級時間）。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總結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Householder 的數學美感在於：它用秩為 1 的向量實現了全域記憶的修改；用正交反射解決了長序列的數值死穴；並利用其結構特性，將數學求解難度從線性時間 \(\mathcal{O}(n)\) 降到了對數時間 \(\mathcal{O}(\log n)\)。</a:t>
            </a:r>
          </a:p>
          <a:p>
            <a:r>
              <a:rPr lang="zh-TW" altLang="zh-TW" sz="1200" b="0" i="0" u="none" strike="noStrike" kern="1200" baseline="0" dirty="0">
                <a:solidFill>
                  <a:schemeClr val="tx1"/>
                </a:solidFill>
                <a:effectLst/>
                <a:latin typeface="+mj-ea"/>
                <a:ea typeface="+mj-ea"/>
                <a:cs typeface="+mn-cs"/>
              </a:rPr>
              <a:t>這才是為什麼 GDN、Mamba-2（SSD）等新一代架構一定要大費周章在數學上套用這套變換的根本原因——它在硬體之外，從資訊容量與穩定性上就已經贏了。</a:t>
            </a:r>
          </a:p>
          <a:p>
            <a:endParaRPr lang="zh-TW" altLang="en-US" sz="1200" b="0" i="0" baseline="0" dirty="0">
              <a:latin typeface="+mj-ea"/>
              <a:ea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631844-1039-9346-826F-A69A5EBA0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40565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2A674-5330-C649-E6CE-BC8F9D00C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88BBDE0-482A-AD59-C60C-8383FEAD9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9B4C2C5-23A7-7165-4C83-3FE24F592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FA9D50-6317-DE41-6D09-96FC002A5C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088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7363-197C-7B45-FA55-45B9238D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9CEA96C-8D1D-7C80-76B8-FC279CEAF4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5491E57-7AA1-6217-1528-27FAD567A3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C0B9E17-8A5B-7323-A004-9838D9EEC3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70711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346DD-3495-D146-7FF7-F3389329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E3875CB-58BA-075C-55BB-5FA9A35E9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513316A-3D7F-E97A-D122-E1ACB60E6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9223C-1F05-4634-F98B-5887B80B0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67090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AAAE-5853-E855-D26E-097677AD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295FC2-5C6D-5267-F6CD-000B94FBA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868EA4-188D-1C46-852C-B9BAB6751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1D34A-083C-0AF6-A112-8E99BDCC0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886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56FB-322B-36BC-0638-44F8E8DA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F9DA01F-1167-ED2C-D7A9-871372758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A8EB89-B341-773E-2E3C-8ED8F938A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AC4C7F-8220-2109-8D1B-872C435E9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2413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DvHnY0VGtdI?si=R0z43GqpVwUeu6v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1.png"/><Relationship Id="rId5" Type="http://schemas.openxmlformats.org/officeDocument/2006/relationships/image" Target="../media/image230.png"/><Relationship Id="rId4" Type="http://schemas.openxmlformats.org/officeDocument/2006/relationships/image" Target="../media/image221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8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260.png"/><Relationship Id="rId9" Type="http://schemas.openxmlformats.org/officeDocument/2006/relationships/image" Target="../media/image240.png"/><Relationship Id="rId1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0.png"/><Relationship Id="rId18" Type="http://schemas.openxmlformats.org/officeDocument/2006/relationships/image" Target="../media/image301.png"/><Relationship Id="rId17" Type="http://schemas.openxmlformats.org/officeDocument/2006/relationships/image" Target="../media/image291.png"/><Relationship Id="rId2" Type="http://schemas.openxmlformats.org/officeDocument/2006/relationships/notesSlide" Target="../notesSlides/notesSlide9.xml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31.png"/><Relationship Id="rId19" Type="http://schemas.openxmlformats.org/officeDocument/2006/relationships/image" Target="../media/image310.png"/><Relationship Id="rId1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GDN%E8%88%87EDA%2C+%E8%AA%B0%E6%8F%90%E5%87%BA%E7%9A%84%3F&amp;sca_esv=ff747ee1c8df38fc&amp;rlz=1C1KNTJ_zh-TWTW1073TW1073&amp;sxsrf=APpeQnsN9efzRGuJ9OiPcwrgCmELj7BtSQ%3A1792310514629&amp;ei=wXvUauOpFfDQ2roPmKfusQY&amp;biw=1920&amp;bih=945&amp;uact=5&amp;sclient=gws-wiz-serp&amp;fbs=ABfTbFVyMZGZf1hfvX9uKjN_-G8cxpBkeIeqYwoCbfNVc4vKEzfJsZm6euHh2bPtNTAJBYD8HI5K-4_bUf9wsDMuQjv_7v17u85a9_mhuoivOS3lJjYQdwryKQmWssk3Jx4oB_xB3o8hZ4Zcq7a0DP4PBYIT3hoTUUQh4vqswNlUUmqqw8N3uHGGoAVi-dqcUFMTkZA7evE0Aku_K1wTnxr-Qpeza8qFUw&amp;aep=10&amp;ntc=1&amp;mstk=AUtExfC0wt-io3zoro_1-_uiMnkmtMi9-Ut7UbEWV1Q-oYKvvJpHHZ0XxClwltyxY6iC4XAEgDcMjX1sIkcLjdrA20gexSF0-GK-fw1KkuHYR61meP7lIJrkLonaY3a-5kphqorPPOJhLQBC3e7loXDoTqo5fNlH3hMWmlHzKM8-uXCjrpHck7PjazJ3nyt3MoapCnYIFijfP_1W9plfsN98KsVQKwEHq9EqPiuMrkGFWWBv48fwzOZeXuj6M2TU0dta09A38mEdASRVJ7e9-fBw-0Kb-huvFwV2Mq0ivzFkN9eRzysTg9X7RtO-EdyFM0LyBQf3o99R6md1hg&amp;aioh=3&amp;csuir=1&amp;cs=0&amp;mtid=83zUavr3C_jZ1e8PzLmn0QY&amp;udm=50" TargetMode="External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340773"/>
              </p:ext>
            </p:extLst>
          </p:nvPr>
        </p:nvGraphicFramePr>
        <p:xfrm>
          <a:off x="4810962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136741"/>
              </p:ext>
            </p:extLst>
          </p:nvPr>
        </p:nvGraphicFramePr>
        <p:xfrm>
          <a:off x="6983362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957996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766828"/>
              </p:ext>
            </p:extLst>
          </p:nvPr>
        </p:nvGraphicFramePr>
        <p:xfrm>
          <a:off x="4810961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6211319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773891"/>
              </p:ext>
            </p:extLst>
          </p:nvPr>
        </p:nvGraphicFramePr>
        <p:xfrm>
          <a:off x="2898951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674208"/>
              </p:ext>
            </p:extLst>
          </p:nvPr>
        </p:nvGraphicFramePr>
        <p:xfrm>
          <a:off x="6983362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572540"/>
              </p:ext>
            </p:extLst>
          </p:nvPr>
        </p:nvGraphicFramePr>
        <p:xfrm>
          <a:off x="1009511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2073493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5178905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47287"/>
              </p:ext>
            </p:extLst>
          </p:nvPr>
        </p:nvGraphicFramePr>
        <p:xfrm>
          <a:off x="2898951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892048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73442"/>
              </p:ext>
            </p:extLst>
          </p:nvPr>
        </p:nvGraphicFramePr>
        <p:xfrm>
          <a:off x="572126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950696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4195095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4017709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6105941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516051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330999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327741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334082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633488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2179320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870376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985651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741794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2178871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344413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332951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736329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491205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909985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865367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286249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15375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499351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380312" y="3170873"/>
            <a:ext cx="1428597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275215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72200" y="1277727"/>
            <a:ext cx="2472612" cy="446292"/>
            <a:chOff x="6147994" y="1223009"/>
            <a:chExt cx="2563670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173277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3277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239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147994" y="1223009"/>
              <a:ext cx="983227" cy="212140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790209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1121170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7026873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930755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20C391BD-B042-A3D6-E9C6-14E7B1BBF657}"/>
              </a:ext>
            </a:extLst>
          </p:cNvPr>
          <p:cNvSpPr/>
          <p:nvPr/>
        </p:nvSpPr>
        <p:spPr>
          <a:xfrm>
            <a:off x="1191825" y="2708920"/>
            <a:ext cx="223136" cy="520840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15000">
                <a:schemeClr val="bg1"/>
              </a:gs>
              <a:gs pos="83000">
                <a:schemeClr val="accent2"/>
              </a:gs>
              <a:gs pos="100000">
                <a:schemeClr val="accent2"/>
              </a:gs>
            </a:gsLst>
            <a:lin ang="5400000" scaled="1"/>
            <a:tileRect/>
          </a:gradFill>
          <a:ln w="12700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0">
                  <a:schemeClr val="bg1"/>
                </a:gs>
                <a:gs pos="83000">
                  <a:schemeClr val="accent2"/>
                </a:gs>
                <a:gs pos="100000">
                  <a:srgbClr val="FF0000"/>
                </a:gs>
              </a:gsLst>
              <a:lin ang="5400000" scaled="1"/>
            </a:gra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左大括弧 14">
            <a:extLst>
              <a:ext uri="{FF2B5EF4-FFF2-40B4-BE49-F238E27FC236}">
                <a16:creationId xmlns:a16="http://schemas.microsoft.com/office/drawing/2014/main" id="{7A315810-3856-A224-CA50-2F38BA1CEF2F}"/>
              </a:ext>
            </a:extLst>
          </p:cNvPr>
          <p:cNvSpPr/>
          <p:nvPr/>
        </p:nvSpPr>
        <p:spPr>
          <a:xfrm>
            <a:off x="395536" y="2565323"/>
            <a:ext cx="120537" cy="129572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16627BA-4A11-1540-31DE-089B2A982A8C}"/>
              </a:ext>
            </a:extLst>
          </p:cNvPr>
          <p:cNvSpPr txBox="1"/>
          <p:nvPr/>
        </p:nvSpPr>
        <p:spPr>
          <a:xfrm>
            <a:off x="71481" y="3135840"/>
            <a:ext cx="29548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T = 4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832544"/>
              </p:ext>
            </p:extLst>
          </p:nvPr>
        </p:nvGraphicFramePr>
        <p:xfrm>
          <a:off x="1028346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367153"/>
              </p:ext>
            </p:extLst>
          </p:nvPr>
        </p:nvGraphicFramePr>
        <p:xfrm>
          <a:off x="590961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672259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2130871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352917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43389"/>
              </p:ext>
            </p:extLst>
          </p:nvPr>
        </p:nvGraphicFramePr>
        <p:xfrm>
          <a:off x="5157340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866438"/>
              </p:ext>
            </p:extLst>
          </p:nvPr>
        </p:nvGraphicFramePr>
        <p:xfrm>
          <a:off x="5157341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5078026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2125698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2125698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2125698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352917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352917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352917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676405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676405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676408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7085489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89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3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7125001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676405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7134526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636762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636762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636762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672259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3197959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672259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409388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400018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400018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660086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493850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672259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405191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4069914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995456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3133810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636762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910883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5146318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361477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586222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663142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633946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988604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983095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924529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643298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5078026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5890721"/>
              </p:ext>
            </p:extLst>
          </p:nvPr>
        </p:nvGraphicFramePr>
        <p:xfrm>
          <a:off x="5812181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947291"/>
              </p:ext>
            </p:extLst>
          </p:nvPr>
        </p:nvGraphicFramePr>
        <p:xfrm>
          <a:off x="5812182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801159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733137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732867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2133462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557746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81023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3205818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</p:cNvCxnSpPr>
          <p:nvPr/>
        </p:nvCxnSpPr>
        <p:spPr>
          <a:xfrm rot="5400000">
            <a:off x="3156340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1144797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521632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864394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F7694204-971E-60AA-6EA4-970D11771CB6}"/>
              </a:ext>
            </a:extLst>
          </p:cNvPr>
          <p:cNvSpPr/>
          <p:nvPr/>
        </p:nvSpPr>
        <p:spPr>
          <a:xfrm>
            <a:off x="1206865" y="2937683"/>
            <a:ext cx="223136" cy="520840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15000">
                <a:schemeClr val="bg1"/>
              </a:gs>
              <a:gs pos="83000">
                <a:schemeClr val="accent2"/>
              </a:gs>
              <a:gs pos="100000">
                <a:schemeClr val="accent2"/>
              </a:gs>
            </a:gsLst>
            <a:lin ang="5400000" scaled="1"/>
            <a:tileRect/>
          </a:gradFill>
          <a:ln w="12700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0">
                  <a:schemeClr val="bg1"/>
                </a:gs>
                <a:gs pos="83000">
                  <a:schemeClr val="accent2"/>
                </a:gs>
                <a:gs pos="100000">
                  <a:srgbClr val="FF0000"/>
                </a:gs>
              </a:gsLst>
              <a:lin ang="5400000" scaled="1"/>
            </a:gra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" name="左大括弧 11">
            <a:extLst>
              <a:ext uri="{FF2B5EF4-FFF2-40B4-BE49-F238E27FC236}">
                <a16:creationId xmlns:a16="http://schemas.microsoft.com/office/drawing/2014/main" id="{607750DE-1431-85EB-AC83-0DAA792F1DFA}"/>
              </a:ext>
            </a:extLst>
          </p:cNvPr>
          <p:cNvSpPr/>
          <p:nvPr/>
        </p:nvSpPr>
        <p:spPr>
          <a:xfrm>
            <a:off x="395536" y="2323949"/>
            <a:ext cx="120537" cy="129572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726659F-FED3-5403-42FC-48EAAF8C58A9}"/>
              </a:ext>
            </a:extLst>
          </p:cNvPr>
          <p:cNvSpPr txBox="1"/>
          <p:nvPr/>
        </p:nvSpPr>
        <p:spPr>
          <a:xfrm>
            <a:off x="71481" y="2894466"/>
            <a:ext cx="29548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T = 4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428299" y="4149080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62610" y="2628037"/>
            <a:ext cx="887712" cy="1338375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B532574-8CED-E976-9B16-86AEF8A21C82}"/>
              </a:ext>
            </a:extLst>
          </p:cNvPr>
          <p:cNvSpPr/>
          <p:nvPr/>
        </p:nvSpPr>
        <p:spPr>
          <a:xfrm>
            <a:off x="5679875" y="4800388"/>
            <a:ext cx="547276" cy="194173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dirty="0">
                <a:solidFill>
                  <a:schemeClr val="accent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aseline="-25000" dirty="0">
                <a:solidFill>
                  <a:schemeClr val="accent2">
                    <a:lumMod val="50000"/>
                  </a:schemeClr>
                </a:solidFill>
                <a:ea typeface="微軟正黑體" panose="020B0604030504040204" pitchFamily="34" charset="-120"/>
              </a:rPr>
              <a:t>t=4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/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6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200" b="0" dirty="0">
                    <a:solidFill>
                      <a:prstClr val="black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eqArr>
                      </m:e>
                    </m:d>
                    <m:r>
                      <a:rPr lang="en-US" altLang="zh-TW" sz="1200" b="0" i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altLang="zh-TW" sz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m:rPr>
                                <m:nor/>
                              </m:rPr>
                              <a:rPr lang="en-US" altLang="zh-TW" sz="120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  <m:r>
                              <a:rPr lang="en-US" altLang="zh-TW" sz="1200" b="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⋯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eqArr>
                      </m:e>
                    </m:d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altLang="zh-TW" sz="1200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altLang="zh-TW" sz="1200" baseline="-25000" dirty="0">
                  <a:solidFill>
                    <a:schemeClr val="tx1"/>
                  </a:solidFill>
                  <a:ea typeface="微軟正黑體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D0D644A-4AE2-53D9-93B8-0578641692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75" y="5074936"/>
                <a:ext cx="2826864" cy="477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540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/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zh-TW" altLang="en-US" sz="1200" dirty="0"/>
                  <a:t> </a:t>
                </a:r>
                <a14:m>
                  <m:oMath xmlns:m="http://schemas.openxmlformats.org/officeDocument/2006/math">
                    <m:r>
                      <a:rPr lang="zh-TW" altLang="en-US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borderBox>
                      <m:borderBox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borderBox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  <m:brk m:alnAt="25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p>
                          <m:e>
                            <m:r>
                              <a:rPr lang="zh-TW" altLang="en-US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[</m:t>
                            </m:r>
                            <m: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⋅</m:t>
                            </m:r>
                            <m:sSubSup>
                              <m:sSubSupPr>
                                <m:ctrl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nary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zh-TW" altLang="en-US" sz="1200" i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e>
                    </m:borderBox>
                  </m:oMath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17F0A3EF-803B-A445-7AEA-19E56F5C4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140" y="5598911"/>
                <a:ext cx="1658916" cy="309444"/>
              </a:xfrm>
              <a:prstGeom prst="rect">
                <a:avLst/>
              </a:prstGeom>
              <a:blipFill>
                <a:blip r:embed="rId7"/>
                <a:stretch>
                  <a:fillRect t="-82353" r="-2206" b="-1352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文字方塊 69">
            <a:extLst>
              <a:ext uri="{FF2B5EF4-FFF2-40B4-BE49-F238E27FC236}">
                <a16:creationId xmlns:a16="http://schemas.microsoft.com/office/drawing/2014/main" id="{C0651763-3797-26C8-2EFA-16D41A2C5FBD}"/>
              </a:ext>
            </a:extLst>
          </p:cNvPr>
          <p:cNvSpPr txBox="1"/>
          <p:nvPr/>
        </p:nvSpPr>
        <p:spPr>
          <a:xfrm>
            <a:off x="6746819" y="1992661"/>
            <a:ext cx="348940" cy="653834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dash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endParaRPr lang="zh-TW" altLang="en-US" sz="1200" baseline="-25000" dirty="0">
              <a:solidFill>
                <a:schemeClr val="tx1">
                  <a:lumMod val="50000"/>
                  <a:lumOff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62DACEC4-ACF7-D407-4126-BD8D6409AAEA}"/>
              </a:ext>
            </a:extLst>
          </p:cNvPr>
          <p:cNvSpPr/>
          <p:nvPr/>
        </p:nvSpPr>
        <p:spPr>
          <a:xfrm>
            <a:off x="7312447" y="1992661"/>
            <a:ext cx="329432" cy="6601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History</a:t>
            </a:r>
            <a:br>
              <a:rPr lang="en-US" altLang="zh-TW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Prompt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507197" y="2270626"/>
            <a:ext cx="2928899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RNN Form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52C71AD2-F34A-155E-DCB3-D6AA561DB6C0}"/>
              </a:ext>
            </a:extLst>
          </p:cNvPr>
          <p:cNvSpPr txBox="1"/>
          <p:nvPr/>
        </p:nvSpPr>
        <p:spPr>
          <a:xfrm>
            <a:off x="3938654" y="2344634"/>
            <a:ext cx="169036" cy="1070619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1466310"/>
              </p:ext>
            </p:extLst>
          </p:nvPr>
        </p:nvGraphicFramePr>
        <p:xfrm>
          <a:off x="893080" y="2429887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inear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Eliminates growing KV cache by compressing pass context into a fixed-size state matrix.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9906266"/>
              </p:ext>
            </p:extLst>
          </p:nvPr>
        </p:nvGraphicFramePr>
        <p:xfrm>
          <a:off x="583467" y="2429887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708228"/>
              </p:ext>
            </p:extLst>
          </p:nvPr>
        </p:nvGraphicFramePr>
        <p:xfrm>
          <a:off x="4264534" y="2349693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465845" y="2574055"/>
            <a:ext cx="585875" cy="25852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2051720" y="2348880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465845" y="1946614"/>
            <a:ext cx="585875" cy="88596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25" idx="1"/>
          </p:cNvCxnSpPr>
          <p:nvPr/>
        </p:nvCxnSpPr>
        <p:spPr>
          <a:xfrm>
            <a:off x="1465845" y="2832577"/>
            <a:ext cx="585875" cy="50267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2051720" y="1694586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1028768" y="231874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625433" y="1841024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625433" y="3192791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625433" y="242088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633384" y="169456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305393" y="2349693"/>
            <a:ext cx="166215" cy="106352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>
              <a:lnSpc>
                <a:spcPts val="8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64534" y="2038553"/>
            <a:ext cx="1065052" cy="17272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1 .  .  . </a:t>
            </a: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8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. . . d</a:t>
            </a:r>
            <a:endParaRPr lang="zh-TW" altLang="en-US" sz="8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139855"/>
              </p:ext>
            </p:extLst>
          </p:nvPr>
        </p:nvGraphicFramePr>
        <p:xfrm>
          <a:off x="2623433" y="2348453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27670" y="2714541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22630" y="274368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45414" y="182252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78814" y="274429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66646" y="24136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42910" y="242239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57658" y="274368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94838" y="2620099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44467" y="2714539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313637" y="2652850"/>
            <a:ext cx="328242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8288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r>
              <a:rPr lang="en-US" altLang="zh-TW" sz="1400" baseline="-25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107006" y="279051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7740352" y="2651771"/>
            <a:ext cx="419992" cy="457200"/>
          </a:xfrm>
          <a:prstGeom prst="roundRect">
            <a:avLst>
              <a:gd name="adj" fmla="val 4619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529892" y="2162479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316416" y="1710391"/>
            <a:ext cx="644018" cy="343991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579112" y="208542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38854" y="2413687"/>
            <a:ext cx="293061" cy="15459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308476" y="3131304"/>
            <a:ext cx="293061" cy="14497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T*d</a:t>
            </a:r>
            <a:endParaRPr lang="zh-TW" altLang="en-US" sz="1200" b="1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3" idx="3"/>
            <a:endCxn id="35" idx="1"/>
          </p:cNvCxnSpPr>
          <p:nvPr/>
        </p:nvCxnSpPr>
        <p:spPr>
          <a:xfrm flipV="1">
            <a:off x="6471608" y="2808833"/>
            <a:ext cx="233656" cy="7262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68B8CCC0-27E7-7A72-C64A-A4D2C75F7EE0}"/>
              </a:ext>
            </a:extLst>
          </p:cNvPr>
          <p:cNvCxnSpPr>
            <a:cxnSpLocks/>
            <a:stCxn id="25" idx="2"/>
            <a:endCxn id="3" idx="2"/>
          </p:cNvCxnSpPr>
          <p:nvPr/>
        </p:nvCxnSpPr>
        <p:spPr>
          <a:xfrm rot="5400000" flipH="1" flipV="1">
            <a:off x="4171415" y="1384458"/>
            <a:ext cx="188330" cy="4245841"/>
          </a:xfrm>
          <a:prstGeom prst="curvedConnector3">
            <a:avLst>
              <a:gd name="adj1" fmla="val -121383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CAA3A5E-3B1F-7DFF-3961-201D69AFEF96}"/>
              </a:ext>
            </a:extLst>
          </p:cNvPr>
          <p:cNvSpPr txBox="1"/>
          <p:nvPr/>
        </p:nvSpPr>
        <p:spPr>
          <a:xfrm>
            <a:off x="3016425" y="205460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9881FD1-E89A-69B3-F9B4-C70476E930ED}"/>
              </a:ext>
            </a:extLst>
          </p:cNvPr>
          <p:cNvSpPr txBox="1"/>
          <p:nvPr/>
        </p:nvSpPr>
        <p:spPr>
          <a:xfrm>
            <a:off x="2051720" y="3068960"/>
            <a:ext cx="181879" cy="532584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</a:p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  <a:p>
            <a:pPr algn="ctr">
              <a:lnSpc>
                <a:spcPts val="1400"/>
              </a:lnSpc>
            </a:pPr>
            <a:r>
              <a:rPr lang="en-US" altLang="zh-TW" sz="800" dirty="0">
                <a:solidFill>
                  <a:schemeClr val="accent2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</a:t>
            </a:r>
            <a:endParaRPr lang="zh-TW" altLang="en-US" sz="800" dirty="0">
              <a:solidFill>
                <a:schemeClr val="accent2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FA76EF11-4673-3706-F320-6369BAA9D5CE}"/>
              </a:ext>
            </a:extLst>
          </p:cNvPr>
          <p:cNvSpPr txBox="1"/>
          <p:nvPr/>
        </p:nvSpPr>
        <p:spPr>
          <a:xfrm>
            <a:off x="2123728" y="5047715"/>
            <a:ext cx="563960" cy="467611"/>
          </a:xfrm>
          <a:prstGeom prst="rect">
            <a:avLst/>
          </a:prstGeom>
          <a:solidFill>
            <a:schemeClr val="bg1">
              <a:alpha val="60000"/>
            </a:schemeClr>
          </a:solidFill>
          <a:ln w="6350">
            <a:solidFill>
              <a:schemeClr val="accent4"/>
            </a:solidFill>
            <a:prstDash val="sysDash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7A3C9C8B-6856-ECA8-57F9-7952B30D100C}"/>
              </a:ext>
            </a:extLst>
          </p:cNvPr>
          <p:cNvSpPr txBox="1"/>
          <p:nvPr/>
        </p:nvSpPr>
        <p:spPr>
          <a:xfrm>
            <a:off x="1494477" y="5685364"/>
            <a:ext cx="557244" cy="487105"/>
          </a:xfrm>
          <a:prstGeom prst="rect">
            <a:avLst/>
          </a:prstGeom>
          <a:noFill/>
          <a:ln w="6350">
            <a:solidFill>
              <a:schemeClr val="accent4"/>
            </a:solidFill>
            <a:prstDash val="sysDash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A0F8FDBD-F57F-A85D-E887-212C105A5BEE}"/>
              </a:ext>
            </a:extLst>
          </p:cNvPr>
          <p:cNvSpPr txBox="1"/>
          <p:nvPr/>
        </p:nvSpPr>
        <p:spPr>
          <a:xfrm>
            <a:off x="2123729" y="5053826"/>
            <a:ext cx="563960" cy="18575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50ED34C-CD37-4726-B581-98340B559A15}"/>
              </a:ext>
            </a:extLst>
          </p:cNvPr>
          <p:cNvSpPr txBox="1"/>
          <p:nvPr/>
        </p:nvSpPr>
        <p:spPr>
          <a:xfrm>
            <a:off x="2123729" y="4831419"/>
            <a:ext cx="563960" cy="18575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A1CB3067-926E-43EE-A7D2-0AAF1FE29619}"/>
              </a:ext>
            </a:extLst>
          </p:cNvPr>
          <p:cNvSpPr txBox="1"/>
          <p:nvPr/>
        </p:nvSpPr>
        <p:spPr>
          <a:xfrm>
            <a:off x="2123729" y="4221088"/>
            <a:ext cx="563960" cy="185756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936C4F10-1350-71AF-E355-A3194B83A5A5}"/>
              </a:ext>
            </a:extLst>
          </p:cNvPr>
          <p:cNvSpPr txBox="1"/>
          <p:nvPr/>
        </p:nvSpPr>
        <p:spPr>
          <a:xfrm>
            <a:off x="2123729" y="4508873"/>
            <a:ext cx="563960" cy="290927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C929511A-9EEF-4E59-FC85-21E1E8FFD538}"/>
              </a:ext>
            </a:extLst>
          </p:cNvPr>
          <p:cNvSpPr/>
          <p:nvPr/>
        </p:nvSpPr>
        <p:spPr>
          <a:xfrm>
            <a:off x="780033" y="4221088"/>
            <a:ext cx="538795" cy="483796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1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95BCDCC0-1EC4-EC48-7E06-12F7ABA306ED}"/>
              </a:ext>
            </a:extLst>
          </p:cNvPr>
          <p:cNvSpPr txBox="1"/>
          <p:nvPr/>
        </p:nvSpPr>
        <p:spPr>
          <a:xfrm>
            <a:off x="3528562" y="5688450"/>
            <a:ext cx="140374" cy="487105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06946514-7903-83FC-A8FA-A378C60078E9}"/>
              </a:ext>
            </a:extLst>
          </p:cNvPr>
          <p:cNvSpPr txBox="1"/>
          <p:nvPr/>
        </p:nvSpPr>
        <p:spPr>
          <a:xfrm>
            <a:off x="2783919" y="5689176"/>
            <a:ext cx="140374" cy="487105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EA98BAB-419A-D12B-443B-3EB91CDBB4C7}"/>
              </a:ext>
            </a:extLst>
          </p:cNvPr>
          <p:cNvSpPr txBox="1"/>
          <p:nvPr/>
        </p:nvSpPr>
        <p:spPr>
          <a:xfrm>
            <a:off x="3319905" y="5688450"/>
            <a:ext cx="140374" cy="487105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E306870E-E58D-441E-4790-80588ADAC3EC}"/>
              </a:ext>
            </a:extLst>
          </p:cNvPr>
          <p:cNvSpPr txBox="1"/>
          <p:nvPr/>
        </p:nvSpPr>
        <p:spPr>
          <a:xfrm>
            <a:off x="2960659" y="5689176"/>
            <a:ext cx="293061" cy="487105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2AAEC48-A8AA-BD3F-42CA-F2D7F66955D9}"/>
              </a:ext>
            </a:extLst>
          </p:cNvPr>
          <p:cNvSpPr txBox="1"/>
          <p:nvPr/>
        </p:nvSpPr>
        <p:spPr>
          <a:xfrm>
            <a:off x="1498118" y="5691126"/>
            <a:ext cx="140374" cy="487105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3F53D7D-C928-788A-5689-52502A87547D}"/>
              </a:ext>
            </a:extLst>
          </p:cNvPr>
          <p:cNvSpPr txBox="1"/>
          <p:nvPr/>
        </p:nvSpPr>
        <p:spPr>
          <a:xfrm>
            <a:off x="738297" y="5685364"/>
            <a:ext cx="140374" cy="487105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7D25203-FF07-FCEA-FCEA-6EA0D7A6F874}"/>
              </a:ext>
            </a:extLst>
          </p:cNvPr>
          <p:cNvSpPr txBox="1"/>
          <p:nvPr/>
        </p:nvSpPr>
        <p:spPr>
          <a:xfrm>
            <a:off x="1291619" y="5691126"/>
            <a:ext cx="140374" cy="487105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970B9120-8E23-F7E8-9975-39A719DFDAB7}"/>
              </a:ext>
            </a:extLst>
          </p:cNvPr>
          <p:cNvSpPr txBox="1"/>
          <p:nvPr/>
        </p:nvSpPr>
        <p:spPr>
          <a:xfrm>
            <a:off x="936075" y="5685364"/>
            <a:ext cx="293061" cy="487105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左大括弧 17">
            <a:extLst>
              <a:ext uri="{FF2B5EF4-FFF2-40B4-BE49-F238E27FC236}">
                <a16:creationId xmlns:a16="http://schemas.microsoft.com/office/drawing/2014/main" id="{BD2D487F-8694-12BA-6A0F-CE48B2D9B58F}"/>
              </a:ext>
            </a:extLst>
          </p:cNvPr>
          <p:cNvSpPr/>
          <p:nvPr/>
        </p:nvSpPr>
        <p:spPr>
          <a:xfrm rot="5400000">
            <a:off x="1113244" y="5157911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左大括弧 26">
            <a:extLst>
              <a:ext uri="{FF2B5EF4-FFF2-40B4-BE49-F238E27FC236}">
                <a16:creationId xmlns:a16="http://schemas.microsoft.com/office/drawing/2014/main" id="{7070120A-63D2-CE04-2ABF-CACAFD3E2566}"/>
              </a:ext>
            </a:extLst>
          </p:cNvPr>
          <p:cNvSpPr/>
          <p:nvPr/>
        </p:nvSpPr>
        <p:spPr>
          <a:xfrm rot="5400000">
            <a:off x="3149352" y="5155625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左大括弧 30">
            <a:extLst>
              <a:ext uri="{FF2B5EF4-FFF2-40B4-BE49-F238E27FC236}">
                <a16:creationId xmlns:a16="http://schemas.microsoft.com/office/drawing/2014/main" id="{4696DE85-35DA-91CB-C34C-6B704A325891}"/>
              </a:ext>
            </a:extLst>
          </p:cNvPr>
          <p:cNvSpPr/>
          <p:nvPr/>
        </p:nvSpPr>
        <p:spPr>
          <a:xfrm rot="10800000">
            <a:off x="2732730" y="4261738"/>
            <a:ext cx="109871" cy="931181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A4C3D2F-6006-C780-5829-C4650EA12BE4}"/>
              </a:ext>
            </a:extLst>
          </p:cNvPr>
          <p:cNvSpPr txBox="1"/>
          <p:nvPr/>
        </p:nvSpPr>
        <p:spPr>
          <a:xfrm>
            <a:off x="2861279" y="463647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</a:t>
            </a:r>
            <a:r>
              <a:rPr lang="en-US" altLang="zh-TW" sz="1200" b="1" dirty="0">
                <a:solidFill>
                  <a:schemeClr val="bg1">
                    <a:lumMod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85D614CC-C572-DAD0-9E53-4E132793B495}"/>
              </a:ext>
            </a:extLst>
          </p:cNvPr>
          <p:cNvSpPr txBox="1"/>
          <p:nvPr/>
        </p:nvSpPr>
        <p:spPr>
          <a:xfrm>
            <a:off x="3054803" y="537321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</a:t>
            </a:r>
            <a:r>
              <a:rPr lang="en-US" altLang="zh-TW" sz="1200" b="1" dirty="0">
                <a:solidFill>
                  <a:schemeClr val="bg1">
                    <a:lumMod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1A30A3FF-0319-21ED-4919-8A1BB2258875}"/>
              </a:ext>
            </a:extLst>
          </p:cNvPr>
          <p:cNvSpPr txBox="1"/>
          <p:nvPr/>
        </p:nvSpPr>
        <p:spPr>
          <a:xfrm>
            <a:off x="1030638" y="537321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50000"/>
                  </a:schemeClr>
                </a:solidFill>
              </a:rPr>
              <a:t>d*</a:t>
            </a:r>
            <a:r>
              <a:rPr lang="en-US" altLang="zh-TW" sz="1200" b="1" dirty="0"/>
              <a:t>T</a:t>
            </a:r>
            <a:endParaRPr lang="zh-TW" altLang="en-US" sz="1200" b="1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8378D43-7DE9-1F85-DC5D-24C423F9689F}"/>
              </a:ext>
            </a:extLst>
          </p:cNvPr>
          <p:cNvSpPr/>
          <p:nvPr/>
        </p:nvSpPr>
        <p:spPr>
          <a:xfrm>
            <a:off x="949110" y="4365104"/>
            <a:ext cx="598554" cy="483796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2</a:t>
            </a:r>
            <a:r>
              <a:rPr lang="en-US" altLang="zh-TW" sz="1200" b="1" baseline="30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. . .</a:t>
            </a:r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endParaRPr lang="zh-TW" altLang="en-US" sz="1200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E6E6AA3-812C-66BB-3832-E798F359FAD5}"/>
              </a:ext>
            </a:extLst>
          </p:cNvPr>
          <p:cNvSpPr/>
          <p:nvPr/>
        </p:nvSpPr>
        <p:spPr>
          <a:xfrm>
            <a:off x="1259632" y="4725144"/>
            <a:ext cx="532663" cy="559878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 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t-1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77D4486-0911-BBB9-DD84-082FB2A0B81D}"/>
              </a:ext>
            </a:extLst>
          </p:cNvPr>
          <p:cNvSpPr/>
          <p:nvPr/>
        </p:nvSpPr>
        <p:spPr>
          <a:xfrm>
            <a:off x="1519057" y="5049621"/>
            <a:ext cx="532663" cy="467611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t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05D1DE29-1680-FF9F-0407-2F913C5C6C7D}"/>
              </a:ext>
            </a:extLst>
          </p:cNvPr>
          <p:cNvSpPr txBox="1"/>
          <p:nvPr/>
        </p:nvSpPr>
        <p:spPr>
          <a:xfrm>
            <a:off x="766107" y="4005064"/>
            <a:ext cx="2046394" cy="184666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en-US" altLang="zh-TW" sz="12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Remove vk</a:t>
            </a:r>
            <a:r>
              <a:rPr lang="en-US" altLang="zh-TW" sz="1200" baseline="300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T</a:t>
            </a:r>
            <a:r>
              <a:rPr lang="en-US" altLang="zh-TW" sz="12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 loop by </a:t>
            </a:r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“</a:t>
            </a:r>
            <a:r>
              <a:rPr lang="en-US" altLang="zh-TW" sz="12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qk</a:t>
            </a:r>
            <a:r>
              <a:rPr lang="en-US" altLang="zh-TW" sz="1200" baseline="300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T </a:t>
            </a:r>
            <a:r>
              <a:rPr lang="en-US" altLang="zh-TW" sz="1200" dirty="0">
                <a:ea typeface="HGGothicE" panose="020B0400000000000000" pitchFamily="49" charset="-128"/>
                <a:cs typeface="ADLaM Display" panose="02010000000000000000" pitchFamily="2" charset="0"/>
                <a:sym typeface="Wingdings" panose="05000000000000000000" pitchFamily="2" charset="2"/>
              </a:rPr>
              <a:t>matrix</a:t>
            </a:r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”</a:t>
            </a:r>
            <a:endParaRPr lang="zh-TW" altLang="en-US" sz="1200" b="1" dirty="0">
              <a:latin typeface="ADLaM Display" panose="02010000000000000000" pitchFamily="2" charset="0"/>
              <a:ea typeface="HGGothicE" panose="020B0909000000000000" pitchFamily="49" charset="-128"/>
              <a:cs typeface="ADLaM Display" panose="02010000000000000000" pitchFamily="2" charset="0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898230F-694A-FF83-FE08-E8FBA332359B}"/>
              </a:ext>
            </a:extLst>
          </p:cNvPr>
          <p:cNvGrpSpPr/>
          <p:nvPr/>
        </p:nvGrpSpPr>
        <p:grpSpPr>
          <a:xfrm>
            <a:off x="4964257" y="4221088"/>
            <a:ext cx="4072239" cy="2160240"/>
            <a:chOff x="4860032" y="3861048"/>
            <a:chExt cx="4164554" cy="21602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FB4C9D0F-A566-8346-FFDA-82BBFE2D7B42}"/>
                    </a:ext>
                  </a:extLst>
                </p:cNvPr>
                <p:cNvSpPr txBox="1"/>
                <p:nvPr/>
              </p:nvSpPr>
              <p:spPr>
                <a:xfrm>
                  <a:off x="4860033" y="4473558"/>
                  <a:ext cx="3996505" cy="4676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noAutofit/>
                </a:bodyPr>
                <a:lstStyle/>
                <a:p>
                  <a:pPr>
                    <a:lnSpc>
                      <a:spcPts val="18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a14:m>
                  <a:r>
                    <a:rPr lang="en-US" altLang="zh-TW" sz="12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a14:m>
                  <a:endParaRPr lang="en-US" altLang="zh-TW" sz="1200" dirty="0">
                    <a:ea typeface="Cambria Math" panose="02040503050406030204" pitchFamily="18" charset="0"/>
                  </a:endParaRPr>
                </a:p>
                <a:p>
                  <a:pPr>
                    <a:lnSpc>
                      <a:spcPts val="18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·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FB4C9D0F-A566-8346-FFDA-82BBFE2D7B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3" y="4473558"/>
                  <a:ext cx="3996505" cy="467610"/>
                </a:xfrm>
                <a:prstGeom prst="rect">
                  <a:avLst/>
                </a:prstGeom>
                <a:blipFill>
                  <a:blip r:embed="rId3"/>
                  <a:stretch>
                    <a:fillRect l="-1404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B2BC8C01-F33E-DDF5-F2EA-8EAA6C0D6CCB}"/>
                </a:ext>
              </a:extLst>
            </p:cNvPr>
            <p:cNvSpPr/>
            <p:nvPr/>
          </p:nvSpPr>
          <p:spPr>
            <a:xfrm>
              <a:off x="4860034" y="5044533"/>
              <a:ext cx="482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Prefill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71EB7653-2802-CB01-45D4-682F88321E1A}"/>
                </a:ext>
              </a:extLst>
            </p:cNvPr>
            <p:cNvSpPr/>
            <p:nvPr/>
          </p:nvSpPr>
          <p:spPr>
            <a:xfrm>
              <a:off x="4860033" y="3861048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State Memory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/>
                <p:nvPr/>
              </p:nvSpPr>
              <p:spPr>
                <a:xfrm>
                  <a:off x="4860033" y="4028150"/>
                  <a:ext cx="1707968" cy="19293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dxd</m:t>
                          </m:r>
                        </m:sup>
                      </m:sSup>
                    </m:oMath>
                  </a14:m>
                  <a:endParaRPr lang="en-US" altLang="zh-TW" sz="12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F558DE43-A67C-BA0B-4D6D-A93A999737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3" y="4028150"/>
                  <a:ext cx="1707968" cy="192938"/>
                </a:xfrm>
                <a:prstGeom prst="rect">
                  <a:avLst/>
                </a:prstGeom>
                <a:blipFill>
                  <a:blip r:embed="rId4"/>
                  <a:stretch>
                    <a:fillRect l="-3285" b="-225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010B6A77-3EC5-711B-B6F8-E07A5B216265}"/>
                </a:ext>
              </a:extLst>
            </p:cNvPr>
            <p:cNvSpPr/>
            <p:nvPr/>
          </p:nvSpPr>
          <p:spPr>
            <a:xfrm>
              <a:off x="4860033" y="4293096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/>
                <p:nvPr/>
              </p:nvSpPr>
              <p:spPr>
                <a:xfrm>
                  <a:off x="4860032" y="5241115"/>
                  <a:ext cx="4164554" cy="7801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</m:oMath>
                  </a14:m>
                  <a:r>
                    <a:rPr lang="en-US" altLang="zh-TW" sz="1200" dirty="0">
                      <a:latin typeface="Cambria Math" panose="02040503050406030204" pitchFamily="18" charset="0"/>
                    </a:rPr>
                    <a:t> </a:t>
                  </a:r>
                  <a:endParaRPr lang="en-US" altLang="zh-TW" sz="1200" b="0" dirty="0"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= </a:t>
                  </a:r>
                  <a14:m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1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2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Ο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⨀ 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 ⨁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p>
                        </m:sSup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4" name="文字方塊 93">
                  <a:extLst>
                    <a:ext uri="{FF2B5EF4-FFF2-40B4-BE49-F238E27FC236}">
                      <a16:creationId xmlns:a16="http://schemas.microsoft.com/office/drawing/2014/main" id="{27216D4D-35AA-F822-CA46-08EB02F6C0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60032" y="5241115"/>
                  <a:ext cx="4164554" cy="780173"/>
                </a:xfrm>
                <a:prstGeom prst="rect">
                  <a:avLst/>
                </a:prstGeom>
                <a:blipFill>
                  <a:blip r:embed="rId5"/>
                  <a:stretch>
                    <a:fillRect l="-1347" t="-35938" b="-2343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6746819" y="2652850"/>
            <a:ext cx="348939" cy="456120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20000"/>
                  <a:lumOff val="80000"/>
                </a:schemeClr>
              </a:gs>
              <a:gs pos="50000">
                <a:schemeClr val="accent4">
                  <a:lumMod val="20000"/>
                  <a:lumOff val="80000"/>
                  <a:alpha val="80000"/>
                </a:schemeClr>
              </a:gs>
              <a:gs pos="79000">
                <a:schemeClr val="accent2">
                  <a:lumMod val="20000"/>
                  <a:lumOff val="80000"/>
                  <a:alpha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0" scaled="1"/>
            <a:tileRect/>
          </a:gra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18288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774758" y="3131304"/>
            <a:ext cx="293061" cy="1536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T*d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6705264" y="2740289"/>
            <a:ext cx="432048" cy="137088"/>
          </a:xfrm>
          <a:prstGeom prst="rect">
            <a:avLst/>
          </a:prstGeom>
          <a:solidFill>
            <a:srgbClr val="F3E5E5">
              <a:alpha val="70000"/>
            </a:srgb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36576" rtlCol="0" anchor="ctr" anchorCtr="1"/>
          <a:lstStyle/>
          <a:p>
            <a:pPr algn="ctr">
              <a:lnSpc>
                <a:spcPts val="18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O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F151290-8E67-D7B6-3544-346E0BF624FA}"/>
              </a:ext>
            </a:extLst>
          </p:cNvPr>
          <p:cNvSpPr txBox="1"/>
          <p:nvPr/>
        </p:nvSpPr>
        <p:spPr>
          <a:xfrm>
            <a:off x="6774758" y="2646495"/>
            <a:ext cx="293061" cy="14668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1*d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D134CEE8-15EF-28A2-B9E7-FD5CBE969D3D}"/>
              </a:ext>
            </a:extLst>
          </p:cNvPr>
          <p:cNvSpPr txBox="1"/>
          <p:nvPr/>
        </p:nvSpPr>
        <p:spPr>
          <a:xfrm>
            <a:off x="6890982" y="1412776"/>
            <a:ext cx="644018" cy="318228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Connection</a:t>
            </a:r>
            <a:endParaRPr lang="zh-TW" altLang="en-US" sz="1200" dirty="0"/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8100392" y="2778388"/>
            <a:ext cx="405619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……</a:t>
            </a:r>
            <a:r>
              <a:rPr lang="zh-TW" altLang="en-US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 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453D59A5-38CD-56A3-223D-11B5DCDE6A9C}"/>
              </a:ext>
            </a:extLst>
          </p:cNvPr>
          <p:cNvSpPr/>
          <p:nvPr/>
        </p:nvSpPr>
        <p:spPr>
          <a:xfrm>
            <a:off x="1048751" y="2916012"/>
            <a:ext cx="223136" cy="520840"/>
          </a:xfrm>
          <a:prstGeom prst="down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  <a:alpha val="40000"/>
                </a:schemeClr>
              </a:gs>
              <a:gs pos="15000">
                <a:schemeClr val="bg1"/>
              </a:gs>
              <a:gs pos="83000">
                <a:schemeClr val="accent2"/>
              </a:gs>
              <a:gs pos="100000">
                <a:schemeClr val="accent2"/>
              </a:gs>
            </a:gsLst>
            <a:lin ang="5400000" scaled="1"/>
            <a:tileRect/>
          </a:gradFill>
          <a:ln w="12700" cap="flat" cmpd="sng" algn="ctr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0">
                  <a:schemeClr val="bg1"/>
                </a:gs>
                <a:gs pos="83000">
                  <a:schemeClr val="accent2"/>
                </a:gs>
                <a:gs pos="100000">
                  <a:srgbClr val="FF0000"/>
                </a:gs>
              </a:gsLst>
              <a:lin ang="5400000" scaled="1"/>
            </a:gra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DA5081B-FA2C-EF0F-B752-96ABCDF8CB4C}"/>
              </a:ext>
            </a:extLst>
          </p:cNvPr>
          <p:cNvSpPr/>
          <p:nvPr/>
        </p:nvSpPr>
        <p:spPr>
          <a:xfrm>
            <a:off x="975311" y="1589465"/>
            <a:ext cx="377561" cy="6057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History</a:t>
            </a:r>
            <a:b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Prompt</a:t>
            </a:r>
          </a:p>
          <a:p>
            <a:pPr algn="ctr">
              <a:lnSpc>
                <a:spcPts val="1000"/>
              </a:lnSpc>
            </a:pPr>
            <a:br>
              <a:rPr lang="en-US" altLang="zh-TW" sz="8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r>
              <a:rPr lang="en-US" altLang="zh-TW" sz="1000" baseline="-25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458E4130-0B39-CC8D-4227-AAE3E1A121B7}"/>
              </a:ext>
            </a:extLst>
          </p:cNvPr>
          <p:cNvSpPr txBox="1"/>
          <p:nvPr/>
        </p:nvSpPr>
        <p:spPr>
          <a:xfrm>
            <a:off x="1025767" y="141729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46" name="左大括弧 45">
            <a:extLst>
              <a:ext uri="{FF2B5EF4-FFF2-40B4-BE49-F238E27FC236}">
                <a16:creationId xmlns:a16="http://schemas.microsoft.com/office/drawing/2014/main" id="{B39747E0-D0DE-BEE6-C02F-9316E09AE22F}"/>
              </a:ext>
            </a:extLst>
          </p:cNvPr>
          <p:cNvSpPr/>
          <p:nvPr/>
        </p:nvSpPr>
        <p:spPr>
          <a:xfrm>
            <a:off x="787036" y="2038552"/>
            <a:ext cx="83728" cy="166311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9E686714-69E2-E04C-ABAA-5FD70C0122EE}"/>
              </a:ext>
            </a:extLst>
          </p:cNvPr>
          <p:cNvSpPr txBox="1"/>
          <p:nvPr/>
        </p:nvSpPr>
        <p:spPr>
          <a:xfrm>
            <a:off x="674063" y="2020159"/>
            <a:ext cx="142126" cy="24014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T </a:t>
            </a:r>
            <a:endParaRPr lang="zh-TW" altLang="en-US" sz="1200" b="1" dirty="0"/>
          </a:p>
        </p:txBody>
      </p:sp>
      <p:sp>
        <p:nvSpPr>
          <p:cNvPr id="85" name="左大括弧 84">
            <a:extLst>
              <a:ext uri="{FF2B5EF4-FFF2-40B4-BE49-F238E27FC236}">
                <a16:creationId xmlns:a16="http://schemas.microsoft.com/office/drawing/2014/main" id="{8EAE8D10-AD5A-FC28-433B-EF384BEDAB54}"/>
              </a:ext>
            </a:extLst>
          </p:cNvPr>
          <p:cNvSpPr/>
          <p:nvPr/>
        </p:nvSpPr>
        <p:spPr>
          <a:xfrm rot="5400000">
            <a:off x="7133900" y="1341137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14717E2-776F-9F29-0AA0-C80D8ABE7B12}"/>
              </a:ext>
            </a:extLst>
          </p:cNvPr>
          <p:cNvSpPr txBox="1"/>
          <p:nvPr/>
        </p:nvSpPr>
        <p:spPr>
          <a:xfrm>
            <a:off x="7328805" y="1874605"/>
            <a:ext cx="293061" cy="919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213FE673-F8C7-00A7-7042-711CAEB11A8E}"/>
              </a:ext>
            </a:extLst>
          </p:cNvPr>
          <p:cNvSpPr txBox="1"/>
          <p:nvPr/>
        </p:nvSpPr>
        <p:spPr>
          <a:xfrm>
            <a:off x="6780229" y="1835160"/>
            <a:ext cx="293061" cy="1536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9" name="左大括弧 78">
            <a:extLst>
              <a:ext uri="{FF2B5EF4-FFF2-40B4-BE49-F238E27FC236}">
                <a16:creationId xmlns:a16="http://schemas.microsoft.com/office/drawing/2014/main" id="{12118E3A-3DCA-9ABF-1FEC-C061F7494D60}"/>
              </a:ext>
            </a:extLst>
          </p:cNvPr>
          <p:cNvSpPr/>
          <p:nvPr/>
        </p:nvSpPr>
        <p:spPr>
          <a:xfrm>
            <a:off x="513367" y="1594831"/>
            <a:ext cx="98193" cy="605777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7A985FA0-D19A-5189-47C7-3070B63C0559}"/>
              </a:ext>
            </a:extLst>
          </p:cNvPr>
          <p:cNvSpPr txBox="1"/>
          <p:nvPr/>
        </p:nvSpPr>
        <p:spPr>
          <a:xfrm>
            <a:off x="369351" y="1791405"/>
            <a:ext cx="162246" cy="24014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N </a:t>
            </a:r>
            <a:endParaRPr lang="zh-TW" altLang="en-US" sz="1200" b="1" dirty="0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849706" y="2720566"/>
            <a:ext cx="616139" cy="22402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 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1010233" y="2633503"/>
            <a:ext cx="293061" cy="129042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1*d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41887A7-DA65-B5EC-64F4-B17ED6B2AC7F}"/>
              </a:ext>
            </a:extLst>
          </p:cNvPr>
          <p:cNvSpPr txBox="1"/>
          <p:nvPr/>
        </p:nvSpPr>
        <p:spPr>
          <a:xfrm>
            <a:off x="4213987" y="1002676"/>
            <a:ext cx="644018" cy="213431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Layer </a:t>
            </a:r>
            <a:r>
              <a:rPr lang="en-US" altLang="zh-TW" sz="1200" b="1" dirty="0"/>
              <a:t>n</a:t>
            </a:r>
            <a:endParaRPr lang="zh-TW" altLang="en-US" sz="1200" b="1" dirty="0"/>
          </a:p>
        </p:txBody>
      </p:sp>
      <p:sp>
        <p:nvSpPr>
          <p:cNvPr id="99" name="左大括弧 98">
            <a:extLst>
              <a:ext uri="{FF2B5EF4-FFF2-40B4-BE49-F238E27FC236}">
                <a16:creationId xmlns:a16="http://schemas.microsoft.com/office/drawing/2014/main" id="{A916CD93-CCC8-FD60-5049-5693564D32E3}"/>
              </a:ext>
            </a:extLst>
          </p:cNvPr>
          <p:cNvSpPr/>
          <p:nvPr/>
        </p:nvSpPr>
        <p:spPr>
          <a:xfrm rot="5400000">
            <a:off x="4473666" y="-2069934"/>
            <a:ext cx="124660" cy="6696744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8BBDF5F1-CC31-C29A-376C-290B3D0E9D51}"/>
              </a:ext>
            </a:extLst>
          </p:cNvPr>
          <p:cNvCxnSpPr>
            <a:cxnSpLocks/>
          </p:cNvCxnSpPr>
          <p:nvPr/>
        </p:nvCxnSpPr>
        <p:spPr>
          <a:xfrm>
            <a:off x="960599" y="2020159"/>
            <a:ext cx="392273" cy="0"/>
          </a:xfrm>
          <a:prstGeom prst="line">
            <a:avLst/>
          </a:prstGeom>
          <a:ln w="63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1" name="矩形 110">
            <a:extLst>
              <a:ext uri="{FF2B5EF4-FFF2-40B4-BE49-F238E27FC236}">
                <a16:creationId xmlns:a16="http://schemas.microsoft.com/office/drawing/2014/main" id="{0B84D7D3-90C5-91E4-C95F-4D75CDBCB1F3}"/>
              </a:ext>
            </a:extLst>
          </p:cNvPr>
          <p:cNvSpPr/>
          <p:nvPr/>
        </p:nvSpPr>
        <p:spPr>
          <a:xfrm>
            <a:off x="193651" y="4869160"/>
            <a:ext cx="377561" cy="6057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000"/>
              </a:lnSpc>
            </a:pP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5EB8586C-1D7F-A115-CC38-DDCC1B93E823}"/>
              </a:ext>
            </a:extLst>
          </p:cNvPr>
          <p:cNvSpPr/>
          <p:nvPr/>
        </p:nvSpPr>
        <p:spPr>
          <a:xfrm>
            <a:off x="189037" y="5282158"/>
            <a:ext cx="387946" cy="196974"/>
          </a:xfrm>
          <a:prstGeom prst="rect">
            <a:avLst/>
          </a:prstGeom>
          <a:noFill/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18A0BA1A-FF43-E1FF-1C1A-8C2CD33A85D5}"/>
              </a:ext>
            </a:extLst>
          </p:cNvPr>
          <p:cNvSpPr/>
          <p:nvPr/>
        </p:nvSpPr>
        <p:spPr>
          <a:xfrm>
            <a:off x="3612604" y="4874734"/>
            <a:ext cx="377561" cy="6057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000"/>
              </a:lnSpc>
            </a:pP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D9BF962C-8753-9F21-36F9-A0DCF1452E05}"/>
              </a:ext>
            </a:extLst>
          </p:cNvPr>
          <p:cNvSpPr/>
          <p:nvPr/>
        </p:nvSpPr>
        <p:spPr>
          <a:xfrm>
            <a:off x="3607990" y="5287732"/>
            <a:ext cx="387946" cy="196974"/>
          </a:xfrm>
          <a:prstGeom prst="rect">
            <a:avLst/>
          </a:prstGeom>
          <a:solidFill>
            <a:srgbClr val="F3E5E5">
              <a:alpha val="70000"/>
            </a:srgb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n+1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88D1E2C-3F5C-422A-E446-7AF1DCE569E9}"/>
              </a:ext>
            </a:extLst>
          </p:cNvPr>
          <p:cNvSpPr txBox="1"/>
          <p:nvPr/>
        </p:nvSpPr>
        <p:spPr>
          <a:xfrm>
            <a:off x="6619343" y="3413213"/>
            <a:ext cx="684705" cy="28416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Iteration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from 1 to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dirty="0">
                <a:solidFill>
                  <a:schemeClr val="accent2"/>
                </a:solidFill>
              </a:rPr>
              <a:t> </a:t>
            </a:r>
            <a:endParaRPr lang="zh-TW" altLang="en-US" sz="12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106A-F1E3-AC99-A113-0283DE256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51244240-0662-D924-5A9D-FA37D7E32150}"/>
              </a:ext>
            </a:extLst>
          </p:cNvPr>
          <p:cNvSpPr/>
          <p:nvPr/>
        </p:nvSpPr>
        <p:spPr>
          <a:xfrm>
            <a:off x="251520" y="2450894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89FDBEAE-372E-9C05-BFB5-A4B70C63FFE8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 flipV="1">
            <a:off x="899592" y="3024232"/>
            <a:ext cx="595507" cy="2389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8AEB1A1-A44A-5F01-112D-094B8B614B30}"/>
              </a:ext>
            </a:extLst>
          </p:cNvPr>
          <p:cNvSpPr txBox="1"/>
          <p:nvPr/>
        </p:nvSpPr>
        <p:spPr>
          <a:xfrm>
            <a:off x="1495099" y="2885865"/>
            <a:ext cx="183798" cy="276733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C6EE5DFF-7A56-3737-ACA0-BCA33132F1BD}"/>
              </a:ext>
            </a:extLst>
          </p:cNvPr>
          <p:cNvCxnSpPr>
            <a:cxnSpLocks/>
            <a:stCxn id="18" idx="3"/>
            <a:endCxn id="17" idx="1"/>
          </p:cNvCxnSpPr>
          <p:nvPr/>
        </p:nvCxnSpPr>
        <p:spPr>
          <a:xfrm flipV="1">
            <a:off x="899592" y="2485397"/>
            <a:ext cx="595507" cy="77773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156E9569-3B11-F6AE-E7D4-F9F9F96708DF}"/>
              </a:ext>
            </a:extLst>
          </p:cNvPr>
          <p:cNvCxnSpPr>
            <a:cxnSpLocks/>
            <a:stCxn id="18" idx="3"/>
            <a:endCxn id="81" idx="1"/>
          </p:cNvCxnSpPr>
          <p:nvPr/>
        </p:nvCxnSpPr>
        <p:spPr>
          <a:xfrm>
            <a:off x="899592" y="3263133"/>
            <a:ext cx="595507" cy="29571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B672876-2EA1-B604-5589-9F928979B83B}"/>
              </a:ext>
            </a:extLst>
          </p:cNvPr>
          <p:cNvSpPr txBox="1"/>
          <p:nvPr/>
        </p:nvSpPr>
        <p:spPr>
          <a:xfrm>
            <a:off x="1495099" y="2330529"/>
            <a:ext cx="183798" cy="309735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4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C8EDE4B-5A06-48FD-B9CB-1852997BF6DF}"/>
              </a:ext>
            </a:extLst>
          </p:cNvPr>
          <p:cNvSpPr/>
          <p:nvPr/>
        </p:nvSpPr>
        <p:spPr>
          <a:xfrm>
            <a:off x="251520" y="3092758"/>
            <a:ext cx="648072" cy="34075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50000"/>
                <a:alpha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EF1A48B-ACF7-BE2D-3C13-02359824CC7A}"/>
              </a:ext>
            </a:extLst>
          </p:cNvPr>
          <p:cNvSpPr txBox="1"/>
          <p:nvPr/>
        </p:nvSpPr>
        <p:spPr>
          <a:xfrm>
            <a:off x="432169" y="237250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0FA4A8A-D3DE-72AC-1044-C52990EE4A35}"/>
              </a:ext>
            </a:extLst>
          </p:cNvPr>
          <p:cNvSpPr/>
          <p:nvPr/>
        </p:nvSpPr>
        <p:spPr>
          <a:xfrm>
            <a:off x="1063051" y="2328116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3856E1B-926B-E579-1B47-3A50150D8019}"/>
              </a:ext>
            </a:extLst>
          </p:cNvPr>
          <p:cNvSpPr/>
          <p:nvPr/>
        </p:nvSpPr>
        <p:spPr>
          <a:xfrm>
            <a:off x="1063051" y="3393095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CA6DD80-80E4-BABD-A03E-BD7296941CD8}"/>
              </a:ext>
            </a:extLst>
          </p:cNvPr>
          <p:cNvSpPr/>
          <p:nvPr/>
        </p:nvSpPr>
        <p:spPr>
          <a:xfrm>
            <a:off x="1063051" y="2825368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37" name="文字方塊 36">
            <a:hlinkClick r:id="rId3"/>
            <a:extLst>
              <a:ext uri="{FF2B5EF4-FFF2-40B4-BE49-F238E27FC236}">
                <a16:creationId xmlns:a16="http://schemas.microsoft.com/office/drawing/2014/main" id="{3D1BD18D-7231-435B-CD0E-964C35EF3431}"/>
              </a:ext>
            </a:extLst>
          </p:cNvPr>
          <p:cNvSpPr txBox="1"/>
          <p:nvPr/>
        </p:nvSpPr>
        <p:spPr>
          <a:xfrm>
            <a:off x="5218379" y="4838963"/>
            <a:ext cx="274320" cy="15169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GDN2</a:t>
            </a:r>
            <a:endParaRPr lang="zh-TW" altLang="en-US" sz="1200" b="1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530EBE-FB31-20B1-E6DC-DD3CC4148A94}"/>
              </a:ext>
            </a:extLst>
          </p:cNvPr>
          <p:cNvSpPr txBox="1"/>
          <p:nvPr/>
        </p:nvSpPr>
        <p:spPr>
          <a:xfrm>
            <a:off x="3814834" y="126876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E40260A2-9B0C-C51B-9919-5CF176B3D6D3}"/>
              </a:ext>
            </a:extLst>
          </p:cNvPr>
          <p:cNvSpPr txBox="1"/>
          <p:nvPr/>
        </p:nvSpPr>
        <p:spPr>
          <a:xfrm>
            <a:off x="5225799" y="1571227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cs typeface="ADLaM Display" panose="02010000000000000000" pitchFamily="2" charset="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5330573D-5BBB-D42A-F70D-5B5E065C783C}"/>
              </a:ext>
            </a:extLst>
          </p:cNvPr>
          <p:cNvSpPr txBox="1"/>
          <p:nvPr/>
        </p:nvSpPr>
        <p:spPr>
          <a:xfrm>
            <a:off x="3486684" y="153053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4D5EE7C5-39B6-0B21-E3B7-C0F2FE8093DD}"/>
              </a:ext>
            </a:extLst>
          </p:cNvPr>
          <p:cNvSpPr txBox="1"/>
          <p:nvPr/>
        </p:nvSpPr>
        <p:spPr>
          <a:xfrm>
            <a:off x="2411760" y="1546870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C80ED1B-2C28-C4BD-7BFE-6C97A9F8ABF9}"/>
              </a:ext>
            </a:extLst>
          </p:cNvPr>
          <p:cNvSpPr txBox="1"/>
          <p:nvPr/>
        </p:nvSpPr>
        <p:spPr>
          <a:xfrm>
            <a:off x="1495099" y="3395216"/>
            <a:ext cx="177555" cy="327265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4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76A3D578-7CE1-A276-EA48-195C48E65744}"/>
              </a:ext>
            </a:extLst>
          </p:cNvPr>
          <p:cNvSpPr txBox="1"/>
          <p:nvPr/>
        </p:nvSpPr>
        <p:spPr>
          <a:xfrm>
            <a:off x="1927147" y="1736911"/>
            <a:ext cx="344205" cy="332274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B2F9E27-BF45-A209-49E1-E83A979A57CD}"/>
              </a:ext>
            </a:extLst>
          </p:cNvPr>
          <p:cNvSpPr txBox="1"/>
          <p:nvPr/>
        </p:nvSpPr>
        <p:spPr>
          <a:xfrm>
            <a:off x="3537296" y="1738662"/>
            <a:ext cx="185072" cy="33227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5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14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120A9CFF-70A6-CE0C-70CE-675EBB2C1549}"/>
              </a:ext>
            </a:extLst>
          </p:cNvPr>
          <p:cNvSpPr txBox="1"/>
          <p:nvPr/>
        </p:nvSpPr>
        <p:spPr>
          <a:xfrm>
            <a:off x="3782930" y="1725017"/>
            <a:ext cx="357022" cy="345920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A7A3C778-6829-7E77-F0BD-65A02014B160}"/>
              </a:ext>
            </a:extLst>
          </p:cNvPr>
          <p:cNvSpPr txBox="1"/>
          <p:nvPr/>
        </p:nvSpPr>
        <p:spPr>
          <a:xfrm>
            <a:off x="4422956" y="1749655"/>
            <a:ext cx="185072" cy="332275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4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14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8E9D06E5-8610-58D4-1CFA-EB8CE4C2B012}"/>
              </a:ext>
            </a:extLst>
          </p:cNvPr>
          <p:cNvSpPr txBox="1"/>
          <p:nvPr/>
        </p:nvSpPr>
        <p:spPr>
          <a:xfrm>
            <a:off x="4681523" y="1483024"/>
            <a:ext cx="357022" cy="181879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14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2FD35D8F-C341-BED7-96CC-EB7146C5B76A}"/>
              </a:ext>
            </a:extLst>
          </p:cNvPr>
          <p:cNvSpPr txBox="1"/>
          <p:nvPr/>
        </p:nvSpPr>
        <p:spPr>
          <a:xfrm>
            <a:off x="4681523" y="1725017"/>
            <a:ext cx="357022" cy="356913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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3A5784DB-7D0B-EEF7-CA36-54CD711E0728}"/>
              </a:ext>
            </a:extLst>
          </p:cNvPr>
          <p:cNvSpPr txBox="1"/>
          <p:nvPr/>
        </p:nvSpPr>
        <p:spPr>
          <a:xfrm>
            <a:off x="4211960" y="1750153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F958BFBA-1BE6-0818-BEB9-1D115F5848CF}"/>
              </a:ext>
            </a:extLst>
          </p:cNvPr>
          <p:cNvSpPr txBox="1"/>
          <p:nvPr/>
        </p:nvSpPr>
        <p:spPr>
          <a:xfrm>
            <a:off x="3334620" y="17678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4F0334F-CB50-622F-154C-64187E8D9FE6}"/>
              </a:ext>
            </a:extLst>
          </p:cNvPr>
          <p:cNvSpPr txBox="1"/>
          <p:nvPr/>
        </p:nvSpPr>
        <p:spPr>
          <a:xfrm>
            <a:off x="2777073" y="1729533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5EAB789E-BBF8-5A20-5E0A-9BDB4B8BB9AE}"/>
              </a:ext>
            </a:extLst>
          </p:cNvPr>
          <p:cNvSpPr txBox="1"/>
          <p:nvPr/>
        </p:nvSpPr>
        <p:spPr>
          <a:xfrm>
            <a:off x="2731929" y="1750623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1" name="文字方塊 160">
            <a:extLst>
              <a:ext uri="{FF2B5EF4-FFF2-40B4-BE49-F238E27FC236}">
                <a16:creationId xmlns:a16="http://schemas.microsoft.com/office/drawing/2014/main" id="{3B738A96-A3FC-9FB6-2BD9-44BE4C8E3913}"/>
              </a:ext>
            </a:extLst>
          </p:cNvPr>
          <p:cNvSpPr txBox="1"/>
          <p:nvPr/>
        </p:nvSpPr>
        <p:spPr>
          <a:xfrm>
            <a:off x="2267744" y="1751228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DA08D483-D678-CBAA-7D90-5DF49BFC6CF4}"/>
              </a:ext>
            </a:extLst>
          </p:cNvPr>
          <p:cNvSpPr txBox="1"/>
          <p:nvPr/>
        </p:nvSpPr>
        <p:spPr>
          <a:xfrm>
            <a:off x="4681523" y="126876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14A5B950-23DF-F616-73A0-056A39CFAA4E}"/>
              </a:ext>
            </a:extLst>
          </p:cNvPr>
          <p:cNvSpPr txBox="1"/>
          <p:nvPr/>
        </p:nvSpPr>
        <p:spPr>
          <a:xfrm>
            <a:off x="4360472" y="151544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760C603C-9EF4-3DF2-09ED-B4AAE73F90A6}"/>
              </a:ext>
            </a:extLst>
          </p:cNvPr>
          <p:cNvSpPr txBox="1"/>
          <p:nvPr/>
        </p:nvSpPr>
        <p:spPr>
          <a:xfrm>
            <a:off x="1948945" y="4547663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1A4668FC-039D-CF3F-4B69-A30031BCDCD1}"/>
              </a:ext>
            </a:extLst>
          </p:cNvPr>
          <p:cNvSpPr txBox="1"/>
          <p:nvPr/>
        </p:nvSpPr>
        <p:spPr>
          <a:xfrm>
            <a:off x="1927146" y="4737704"/>
            <a:ext cx="344205" cy="33227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g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E66C301D-491E-0D39-7F63-201B72C6BCA9}"/>
              </a:ext>
            </a:extLst>
          </p:cNvPr>
          <p:cNvSpPr txBox="1"/>
          <p:nvPr/>
        </p:nvSpPr>
        <p:spPr>
          <a:xfrm>
            <a:off x="3290776" y="4734339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3C8404C8-49E0-B6E3-8AB3-8FF4ECD0C561}"/>
              </a:ext>
            </a:extLst>
          </p:cNvPr>
          <p:cNvSpPr txBox="1"/>
          <p:nvPr/>
        </p:nvSpPr>
        <p:spPr>
          <a:xfrm>
            <a:off x="2742881" y="4762670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31FE1024-DB29-F7BB-8BA8-97498285C0ED}"/>
              </a:ext>
            </a:extLst>
          </p:cNvPr>
          <p:cNvSpPr txBox="1"/>
          <p:nvPr/>
        </p:nvSpPr>
        <p:spPr>
          <a:xfrm>
            <a:off x="2262675" y="4762670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FC0D4B7A-98E2-C9AE-323E-886DDB0FFBB4}"/>
              </a:ext>
            </a:extLst>
          </p:cNvPr>
          <p:cNvSpPr/>
          <p:nvPr/>
        </p:nvSpPr>
        <p:spPr>
          <a:xfrm>
            <a:off x="5220072" y="2453102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EF24C43A-8060-1E9E-CCB4-9FBC38569302}"/>
              </a:ext>
            </a:extLst>
          </p:cNvPr>
          <p:cNvSpPr txBox="1"/>
          <p:nvPr/>
        </p:nvSpPr>
        <p:spPr>
          <a:xfrm>
            <a:off x="5400721" y="237470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7A162CC-3D99-3D11-5E39-C2F741CD8F63}"/>
              </a:ext>
            </a:extLst>
          </p:cNvPr>
          <p:cNvSpPr/>
          <p:nvPr/>
        </p:nvSpPr>
        <p:spPr>
          <a:xfrm>
            <a:off x="251520" y="3236596"/>
            <a:ext cx="648072" cy="134460"/>
          </a:xfrm>
          <a:prstGeom prst="rect">
            <a:avLst/>
          </a:prstGeom>
          <a:noFill/>
          <a:ln w="15875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BB54BF8-5EBC-AEED-0FBC-9A607A3C26C1}"/>
              </a:ext>
            </a:extLst>
          </p:cNvPr>
          <p:cNvSpPr/>
          <p:nvPr/>
        </p:nvSpPr>
        <p:spPr>
          <a:xfrm>
            <a:off x="5218379" y="3094966"/>
            <a:ext cx="648072" cy="34075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50000"/>
                <a:alpha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458462E4-AD4C-1243-8B1C-C2B6BC4F4F78}"/>
              </a:ext>
            </a:extLst>
          </p:cNvPr>
          <p:cNvSpPr txBox="1"/>
          <p:nvPr/>
        </p:nvSpPr>
        <p:spPr>
          <a:xfrm rot="10800000" flipV="1">
            <a:off x="5399028" y="2968804"/>
            <a:ext cx="293061" cy="19799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57DF7B2D-20D9-F704-4BED-469E6E04C435}"/>
              </a:ext>
            </a:extLst>
          </p:cNvPr>
          <p:cNvSpPr/>
          <p:nvPr/>
        </p:nvSpPr>
        <p:spPr>
          <a:xfrm>
            <a:off x="5218379" y="3238804"/>
            <a:ext cx="648072" cy="134460"/>
          </a:xfrm>
          <a:prstGeom prst="rect">
            <a:avLst/>
          </a:prstGeom>
          <a:noFill/>
          <a:ln w="15875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O</a:t>
            </a: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FCB97090-4256-89C5-CDC6-AE0DDB5159CC}"/>
              </a:ext>
            </a:extLst>
          </p:cNvPr>
          <p:cNvSpPr txBox="1"/>
          <p:nvPr/>
        </p:nvSpPr>
        <p:spPr>
          <a:xfrm>
            <a:off x="1942930" y="1546870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176562F-8809-C3CB-F39A-04D2832C0A6B}"/>
              </a:ext>
            </a:extLst>
          </p:cNvPr>
          <p:cNvSpPr/>
          <p:nvPr/>
        </p:nvSpPr>
        <p:spPr>
          <a:xfrm>
            <a:off x="2367768" y="1736911"/>
            <a:ext cx="344205" cy="34632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A3D926B-72AF-E922-A717-E070DACF298A}"/>
              </a:ext>
            </a:extLst>
          </p:cNvPr>
          <p:cNvSpPr txBox="1"/>
          <p:nvPr/>
        </p:nvSpPr>
        <p:spPr>
          <a:xfrm>
            <a:off x="2843808" y="4742714"/>
            <a:ext cx="183798" cy="341319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4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BBEBA6CC-C45A-3290-6129-03F12B0EB66B}"/>
              </a:ext>
            </a:extLst>
          </p:cNvPr>
          <p:cNvSpPr txBox="1"/>
          <p:nvPr/>
        </p:nvSpPr>
        <p:spPr>
          <a:xfrm>
            <a:off x="2931651" y="1736911"/>
            <a:ext cx="344205" cy="332274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3D2B078-9984-A378-F28C-F687F61B553C}"/>
              </a:ext>
            </a:extLst>
          </p:cNvPr>
          <p:cNvSpPr txBox="1"/>
          <p:nvPr/>
        </p:nvSpPr>
        <p:spPr>
          <a:xfrm>
            <a:off x="4126708" y="173943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1891671F-9962-B9E2-F13A-F07DA9AF82EB}"/>
              </a:ext>
            </a:extLst>
          </p:cNvPr>
          <p:cNvSpPr/>
          <p:nvPr/>
        </p:nvSpPr>
        <p:spPr>
          <a:xfrm>
            <a:off x="3325869" y="2261648"/>
            <a:ext cx="344205" cy="34632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634CE783-AA8C-0CDE-9F65-33B69D28C348}"/>
              </a:ext>
            </a:extLst>
          </p:cNvPr>
          <p:cNvSpPr/>
          <p:nvPr/>
        </p:nvSpPr>
        <p:spPr>
          <a:xfrm>
            <a:off x="2375585" y="4737704"/>
            <a:ext cx="344205" cy="34131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3EDB7C2B-015E-B22A-8545-ECDC5D805275}"/>
              </a:ext>
            </a:extLst>
          </p:cNvPr>
          <p:cNvSpPr/>
          <p:nvPr/>
        </p:nvSpPr>
        <p:spPr>
          <a:xfrm>
            <a:off x="3347864" y="4744434"/>
            <a:ext cx="177555" cy="34075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O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315B7282-026A-E0F1-29B4-4BAB4730032C}"/>
              </a:ext>
            </a:extLst>
          </p:cNvPr>
          <p:cNvSpPr txBox="1"/>
          <p:nvPr/>
        </p:nvSpPr>
        <p:spPr>
          <a:xfrm>
            <a:off x="3131840" y="4729455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cs typeface="ADLaM Display" panose="02010000000000000000" pitchFamily="2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0A9D61-D9A5-4154-99FC-17A84659E9C1}"/>
              </a:ext>
            </a:extLst>
          </p:cNvPr>
          <p:cNvSpPr/>
          <p:nvPr/>
        </p:nvSpPr>
        <p:spPr>
          <a:xfrm>
            <a:off x="6372201" y="1628800"/>
            <a:ext cx="2306396" cy="22995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 Network (GDN) 2024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B0667C4-B395-A19F-DE10-F39F5DAD2633}"/>
                  </a:ext>
                </a:extLst>
              </p:cNvPr>
              <p:cNvSpPr txBox="1"/>
              <p:nvPr/>
            </p:nvSpPr>
            <p:spPr>
              <a:xfrm>
                <a:off x="6372200" y="2291404"/>
                <a:ext cx="2394033" cy="192968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] </m:t>
                      </m:r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] +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:endPara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] +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kumimoji="0" lang="el-GR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Ο</m:t>
                      </m:r>
                      <m:r>
                        <a:rPr kumimoji="0" lang="en-US" altLang="zh-TW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ctrl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Q</m:t>
                          </m:r>
                          <m:sSup>
                            <m:sSupPr>
                              <m:ctrlPr>
                                <a:rPr kumimoji="0" lang="en-US" altLang="zh-TW" sz="1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sz="1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kumimoji="0" lang="en-US" altLang="zh-TW" sz="12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T</m:t>
                              </m:r>
                            </m:sup>
                          </m:sSup>
                          <m: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⨀ </m:t>
                          </m:r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M</m:t>
                          </m:r>
                        </m:e>
                      </m:d>
                      <m:r>
                        <m:rPr>
                          <m:sty m:val="p"/>
                        </m:rPr>
                        <a:rPr kumimoji="0" lang="en-US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V</m:t>
                      </m:r>
                      <m:r>
                        <a:rPr kumimoji="0" lang="en-US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⨁ </m:t>
                      </m:r>
                      <m:r>
                        <m:rPr>
                          <m:sty m:val="p"/>
                        </m:rPr>
                        <a:rPr kumimoji="0" lang="en-US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X</m:t>
                      </m:r>
                      <m:r>
                        <a:rPr kumimoji="0" lang="en-US" altLang="zh-TW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∈</m:t>
                      </m:r>
                      <m:sSup>
                        <m:sSupPr>
                          <m:ctrl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R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x</m:t>
                          </m:r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d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2B0667C4-B395-A19F-DE10-F39F5DAD2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2200" y="2291404"/>
                <a:ext cx="2394033" cy="1929684"/>
              </a:xfrm>
              <a:prstGeom prst="rect">
                <a:avLst/>
              </a:prstGeom>
              <a:blipFill>
                <a:blip r:embed="rId4"/>
                <a:stretch>
                  <a:fillRect l="-2290" r="-15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14929A8E-71FA-204A-2190-A5E891BBE2A7}"/>
              </a:ext>
            </a:extLst>
          </p:cNvPr>
          <p:cNvSpPr txBox="1"/>
          <p:nvPr/>
        </p:nvSpPr>
        <p:spPr>
          <a:xfrm>
            <a:off x="6662372" y="2148181"/>
            <a:ext cx="644018" cy="14594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Mamba-2 Gating</a:t>
            </a:r>
          </a:p>
        </p:txBody>
      </p:sp>
      <p:sp>
        <p:nvSpPr>
          <p:cNvPr id="9" name="左大括弧 8">
            <a:extLst>
              <a:ext uri="{FF2B5EF4-FFF2-40B4-BE49-F238E27FC236}">
                <a16:creationId xmlns:a16="http://schemas.microsoft.com/office/drawing/2014/main" id="{0E318985-B2FB-8DD4-600F-6D0D2491768B}"/>
              </a:ext>
            </a:extLst>
          </p:cNvPr>
          <p:cNvSpPr/>
          <p:nvPr/>
        </p:nvSpPr>
        <p:spPr>
          <a:xfrm rot="5400000">
            <a:off x="6910262" y="2095852"/>
            <a:ext cx="61233" cy="432047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C526084-5D35-38D7-6BE2-55E2F95E19F4}"/>
              </a:ext>
            </a:extLst>
          </p:cNvPr>
          <p:cNvSpPr txBox="1"/>
          <p:nvPr/>
        </p:nvSpPr>
        <p:spPr>
          <a:xfrm>
            <a:off x="7924470" y="2148180"/>
            <a:ext cx="355986" cy="145948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Delta Rule</a:t>
            </a:r>
          </a:p>
        </p:txBody>
      </p:sp>
      <p:sp>
        <p:nvSpPr>
          <p:cNvPr id="19" name="左大括弧 18">
            <a:extLst>
              <a:ext uri="{FF2B5EF4-FFF2-40B4-BE49-F238E27FC236}">
                <a16:creationId xmlns:a16="http://schemas.microsoft.com/office/drawing/2014/main" id="{A04E9CFC-B75B-0638-A065-A5C62C98F768}"/>
              </a:ext>
            </a:extLst>
          </p:cNvPr>
          <p:cNvSpPr/>
          <p:nvPr/>
        </p:nvSpPr>
        <p:spPr>
          <a:xfrm rot="5400000">
            <a:off x="8059468" y="1873768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標題 1">
            <a:extLst>
              <a:ext uri="{FF2B5EF4-FFF2-40B4-BE49-F238E27FC236}">
                <a16:creationId xmlns:a16="http://schemas.microsoft.com/office/drawing/2014/main" id="{E44A56F2-4621-44C5-B87F-C5B1BB5C2CB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Gated DeltaNet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GDN model that evolves blind accumulation into precise erasing and overwriting.</a:t>
            </a:r>
          </a:p>
        </p:txBody>
      </p:sp>
      <p:sp>
        <p:nvSpPr>
          <p:cNvPr id="24" name="左大括弧 23">
            <a:extLst>
              <a:ext uri="{FF2B5EF4-FFF2-40B4-BE49-F238E27FC236}">
                <a16:creationId xmlns:a16="http://schemas.microsoft.com/office/drawing/2014/main" id="{C40C1839-10E0-B57B-7D79-290D52C243EF}"/>
              </a:ext>
            </a:extLst>
          </p:cNvPr>
          <p:cNvSpPr/>
          <p:nvPr/>
        </p:nvSpPr>
        <p:spPr>
          <a:xfrm rot="16200000">
            <a:off x="3445757" y="632547"/>
            <a:ext cx="80707" cy="3104872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19306C3-6BB5-DBF5-1326-B34EF922D0DB}"/>
              </a:ext>
            </a:extLst>
          </p:cNvPr>
          <p:cNvSpPr txBox="1"/>
          <p:nvPr/>
        </p:nvSpPr>
        <p:spPr>
          <a:xfrm>
            <a:off x="2483768" y="2292731"/>
            <a:ext cx="684705" cy="28416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memory state</a:t>
            </a:r>
            <a:endParaRPr lang="zh-TW" altLang="en-US" sz="1200" dirty="0">
              <a:solidFill>
                <a:schemeClr val="accent2"/>
              </a:solidFill>
            </a:endParaRP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323EE6A-B763-E944-F9BA-8508F40BD4C0}"/>
              </a:ext>
            </a:extLst>
          </p:cNvPr>
          <p:cNvSpPr txBox="1"/>
          <p:nvPr/>
        </p:nvSpPr>
        <p:spPr>
          <a:xfrm rot="10800000" flipV="1">
            <a:off x="395536" y="2977731"/>
            <a:ext cx="293061" cy="19799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7F903391-9E9C-4311-F1AD-EEE7CFF358DD}"/>
              </a:ext>
            </a:extLst>
          </p:cNvPr>
          <p:cNvSpPr txBox="1"/>
          <p:nvPr/>
        </p:nvSpPr>
        <p:spPr>
          <a:xfrm>
            <a:off x="3779912" y="1477164"/>
            <a:ext cx="357022" cy="181879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14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544B3DA4-4525-77DB-DA32-4EBB38B691EC}"/>
              </a:ext>
            </a:extLst>
          </p:cNvPr>
          <p:cNvSpPr txBox="1"/>
          <p:nvPr/>
        </p:nvSpPr>
        <p:spPr>
          <a:xfrm>
            <a:off x="7306390" y="2555997"/>
            <a:ext cx="355986" cy="16054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Housholder: Erasing</a:t>
            </a:r>
          </a:p>
        </p:txBody>
      </p:sp>
      <p:sp>
        <p:nvSpPr>
          <p:cNvPr id="44" name="左大括弧 43">
            <a:extLst>
              <a:ext uri="{FF2B5EF4-FFF2-40B4-BE49-F238E27FC236}">
                <a16:creationId xmlns:a16="http://schemas.microsoft.com/office/drawing/2014/main" id="{994D4495-9F38-FC19-37A5-C35086E13037}"/>
              </a:ext>
            </a:extLst>
          </p:cNvPr>
          <p:cNvSpPr/>
          <p:nvPr/>
        </p:nvSpPr>
        <p:spPr>
          <a:xfrm rot="5400000">
            <a:off x="7441388" y="2301773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2665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8054A-4B48-C8B9-3602-F69B1DBB5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2CDD730-64F7-8D0B-386F-1C735C2607D3}"/>
                  </a:ext>
                </a:extLst>
              </p:cNvPr>
              <p:cNvSpPr txBox="1"/>
              <p:nvPr/>
            </p:nvSpPr>
            <p:spPr>
              <a:xfrm>
                <a:off x="74390" y="260648"/>
                <a:ext cx="2016224" cy="316835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2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j-ea"/>
                            </a:rPr>
                            <m:t>0</m:t>
                          </m:r>
                        </m:sub>
                      </m:sSub>
                      <m:r>
                        <a:rPr kumimoji="0" lang="en-US" altLang="zh-TW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r>
                        <a:rPr kumimoji="0" lang="en-US" altLang="zh-TW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j-ea"/>
                        </a:rPr>
                        <m:t>0</m:t>
                      </m:r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</m:oMath>
                </a14:m>
                <a:r>
                  <a:rPr lang="en-US" altLang="zh-TW" sz="1200" dirty="0">
                    <a:solidFill>
                      <a:schemeClr val="tx1"/>
                    </a:solidFill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3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</m:oMath>
                </a14:m>
                <a:r>
                  <a:rPr lang="en-US" altLang="zh-TW" sz="1200" dirty="0"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v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k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T</m:t>
                        </m:r>
                      </m:sup>
                    </m:sSubSup>
                  </m:oMath>
                </a14:m>
                <a:endParaRPr kumimoji="0" lang="en-US" altLang="zh-TW" sz="1200" b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4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3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+</m:t>
                    </m:r>
                  </m:oMath>
                </a14:m>
                <a:r>
                  <a:rPr lang="en-US" altLang="zh-TW" sz="1200" dirty="0"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v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4</m:t>
                        </m:r>
                      </m:sub>
                    </m:sSub>
                    <m:sSubSup>
                      <m:sSub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k</m:t>
                        </m:r>
                      </m:e>
                      <m: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+mj-ea"/>
                          </a:rPr>
                          <m:t>4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:r>
                  <a:rPr kumimoji="0" lang="en-US" altLang="zh-TW" sz="1200" b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ea typeface="+mj-ea"/>
                  </a:rPr>
                  <a:t>… </a:t>
                </a:r>
                <a:r>
                  <a:rPr lang="zh-TW" altLang="en-US" sz="1200" dirty="0">
                    <a:solidFill>
                      <a:schemeClr val="tx1"/>
                    </a:solidFill>
                    <a:ea typeface="+mj-ea"/>
                    <a:sym typeface="Wingdings" panose="05000000000000000000" pitchFamily="2" charset="2"/>
                  </a:rPr>
                  <a:t> </a:t>
                </a:r>
                <a:r>
                  <a:rPr lang="en-US" altLang="zh-TW" sz="1200" dirty="0">
                    <a:solidFill>
                      <a:schemeClr val="tx1"/>
                    </a:solidFill>
                    <a:ea typeface="+mj-ea"/>
                  </a:rPr>
                  <a:t>  </a:t>
                </a: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−2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+mj-ea"/>
                        </a:rPr>
                        <m:t>+</m:t>
                      </m:r>
                      <m:r>
                        <a:rPr lang="zh-TW" altLang="en-US" sz="1200" i="0">
                          <a:latin typeface="Cambria Math" panose="02040503050406030204" pitchFamily="18" charset="0"/>
                          <a:ea typeface="+mj-ea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+mj-ea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−</m:t>
                          </m:r>
                          <m:r>
                            <a:rPr lang="en-US" altLang="zh-TW" sz="120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+mj-ea"/>
                        </a:rPr>
                        <m:t>+</m:t>
                      </m:r>
                      <m:r>
                        <a:rPr lang="zh-TW" altLang="en-US" sz="1200" i="0">
                          <a:latin typeface="Cambria Math" panose="02040503050406030204" pitchFamily="18" charset="0"/>
                          <a:ea typeface="+mj-ea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−</m:t>
                          </m:r>
                          <m: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</p:txBody>
          </p:sp>
        </mc:Choice>
        <mc:Fallback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2CDD730-64F7-8D0B-386F-1C735C2607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90" y="260648"/>
                <a:ext cx="2016224" cy="3168352"/>
              </a:xfrm>
              <a:prstGeom prst="rect">
                <a:avLst/>
              </a:prstGeom>
              <a:blipFill>
                <a:blip r:embed="rId3"/>
                <a:stretch>
                  <a:fillRect l="-4532" r="-906" b="-298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17B271A-5C68-2249-2008-E8DA5B500A24}"/>
                  </a:ext>
                </a:extLst>
              </p:cNvPr>
              <p:cNvSpPr txBox="1"/>
              <p:nvPr/>
            </p:nvSpPr>
            <p:spPr>
              <a:xfrm>
                <a:off x="2843808" y="397"/>
                <a:ext cx="5256584" cy="353034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2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+mj-ea"/>
                            </a:rPr>
                            <m:t>O</m:t>
                          </m:r>
                        </m:e>
                        <m:sub>
                          <m:r>
                            <a:rPr kumimoji="0" lang="en-US" altLang="zh-TW" sz="12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j-ea"/>
                            </a:rPr>
                            <m:t>0</m:t>
                          </m:r>
                        </m:sub>
                      </m:sSub>
                      <m:r>
                        <a:rPr kumimoji="0" lang="en-US" altLang="zh-TW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r>
                        <a:rPr kumimoji="0" lang="en-US" altLang="zh-TW" sz="12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j-ea"/>
                        </a:rPr>
                        <m:t>0</m:t>
                      </m:r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  <m:t>O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12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1200" dirty="0"/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zh-TW" sz="1200" b="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  <m:t>O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S</m:t>
                        </m:r>
                      </m:e>
                      <m: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+mj-ea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12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1200" dirty="0"/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TW" sz="120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  <m:sub>
                                <m: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altLang="zh-TW" sz="120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+</m:t>
                    </m:r>
                    <m:r>
                      <a:rPr lang="zh-TW" altLang="en-US" sz="12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1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TW" sz="1200" dirty="0"/>
                  <a:t> 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((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altLang="zh-TW" sz="120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altLang="zh-TW" sz="120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en-US" altLang="zh-TW" sz="1200" dirty="0"/>
              </a:p>
              <a:p>
                <a:pPr>
                  <a:lnSpc>
                    <a:spcPts val="22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zh-TW" altLang="en-US" sz="120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kumimoji="0" lang="en-US" altLang="zh-TW" sz="1200" b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ea typeface="+mj-ea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(((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altLang="zh-TW" sz="120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en-US" altLang="zh-TW" sz="1200" dirty="0"/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zh-TW" altLang="en-US" sz="120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kumimoji="0" lang="en-US" altLang="zh-TW" sz="1200" b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j-ea"/>
                </a:endParaRPr>
              </a:p>
              <a:p>
                <a:pPr>
                  <a:lnSpc>
                    <a:spcPts val="2200"/>
                  </a:lnSpc>
                </a:pPr>
                <a:r>
                  <a:rPr kumimoji="0" lang="en-US" altLang="zh-TW" sz="1200" b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ea typeface="+mj-ea"/>
                  </a:rPr>
                  <a:t>… </a:t>
                </a:r>
                <a:r>
                  <a:rPr lang="zh-TW" altLang="en-US" sz="1200" dirty="0">
                    <a:solidFill>
                      <a:schemeClr val="tx1"/>
                    </a:solidFill>
                    <a:ea typeface="+mj-ea"/>
                    <a:sym typeface="Wingdings" panose="05000000000000000000" pitchFamily="2" charset="2"/>
                  </a:rPr>
                  <a:t> </a:t>
                </a:r>
                <a:r>
                  <a:rPr lang="en-US" altLang="zh-TW" sz="1200" dirty="0">
                    <a:solidFill>
                      <a:schemeClr val="tx1"/>
                    </a:solidFill>
                    <a:ea typeface="+mj-ea"/>
                  </a:rPr>
                  <a:t>  </a:t>
                </a: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+mj-ea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+mj-ea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+mj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+mj-ea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  <a:ea typeface="+mj-ea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+…</m:t>
                                  </m:r>
                                </m:e>
                              </m:d>
                            </m:e>
                          </m:d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+mj-ea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+mj-ea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+mj-ea"/>
                      </a:rPr>
                      <m:t>=</m:t>
                    </m:r>
                  </m:oMath>
                </a14:m>
                <a:r>
                  <a:rPr lang="en-US" altLang="zh-TW" sz="1200" dirty="0">
                    <a:solidFill>
                      <a:prstClr val="black"/>
                    </a:solidFill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ctrlPr>
                          <a:rPr lang="en-US" altLang="zh-TW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altLang="zh-TW" sz="1200" dirty="0">
                  <a:solidFill>
                    <a:prstClr val="black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  <a:p>
                <a:pPr lvl="0">
                  <a:lnSpc>
                    <a:spcPts val="2200"/>
                  </a:lnSpc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  <a:ea typeface="+mj-ea"/>
                </a:endParaRPr>
              </a:p>
            </p:txBody>
          </p:sp>
        </mc:Choice>
        <mc:Fallback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717B271A-5C68-2249-2008-E8DA5B500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3808" y="397"/>
                <a:ext cx="5256584" cy="3530343"/>
              </a:xfrm>
              <a:prstGeom prst="rect">
                <a:avLst/>
              </a:prstGeom>
              <a:blipFill>
                <a:blip r:embed="rId4"/>
                <a:stretch>
                  <a:fillRect l="-1856" b="-217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4853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397A0-28F3-C545-90BC-B9066CC0E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FC6BB0AA-E243-AB5E-7020-6022AB0E0C78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64EECA0-4B2C-B328-327A-D6C4E66DC950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CAC7AF0-6430-FA05-50C0-393AAA34F4F6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94E3A0B-B187-41A3-C357-27FDCED9F1B5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19368FA4-FF3F-3CBB-2B90-9559B1A45B1E}"/>
              </a:ext>
            </a:extLst>
          </p:cNvPr>
          <p:cNvSpPr/>
          <p:nvPr/>
        </p:nvSpPr>
        <p:spPr>
          <a:xfrm>
            <a:off x="2966056" y="4228215"/>
            <a:ext cx="460592" cy="481166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25400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LA</a:t>
            </a: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219E3951-A155-82A0-EF3F-87F7523243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Gated DeltaNet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GDN model that evolves blind accumulation into precise erasing and overwriting.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852B7B4-971C-41B3-0CFF-B456A7A76F17}"/>
              </a:ext>
            </a:extLst>
          </p:cNvPr>
          <p:cNvSpPr txBox="1"/>
          <p:nvPr/>
        </p:nvSpPr>
        <p:spPr>
          <a:xfrm>
            <a:off x="287524" y="980728"/>
            <a:ext cx="3996444" cy="1082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 Mamba2/GLA.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Chunk-wise</a:t>
            </a:r>
            <a:r>
              <a:rPr lang="en-US" altLang="zh-TW" sz="1400" dirty="0"/>
              <a:t>: boosts hardware efficiency.</a:t>
            </a:r>
            <a:endParaRPr lang="zh-TW" altLang="en-US" sz="12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4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68CA0E81-DA85-7B38-2DB1-4D83E5BC1980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直角三角形 19">
            <a:extLst>
              <a:ext uri="{FF2B5EF4-FFF2-40B4-BE49-F238E27FC236}">
                <a16:creationId xmlns:a16="http://schemas.microsoft.com/office/drawing/2014/main" id="{8E9E5F58-0691-8D79-433B-90A504486B95}"/>
              </a:ext>
            </a:extLst>
          </p:cNvPr>
          <p:cNvSpPr/>
          <p:nvPr/>
        </p:nvSpPr>
        <p:spPr>
          <a:xfrm rot="10800000">
            <a:off x="7858031" y="1502705"/>
            <a:ext cx="493177" cy="758314"/>
          </a:xfrm>
          <a:prstGeom prst="rtTriangle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4A6DBCD8-60B7-8013-79F3-352440183DC2}"/>
                  </a:ext>
                </a:extLst>
              </p:cNvPr>
              <p:cNvSpPr txBox="1"/>
              <p:nvPr/>
            </p:nvSpPr>
            <p:spPr>
              <a:xfrm>
                <a:off x="8029574" y="1574713"/>
                <a:ext cx="293061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zh-TW" sz="1400" b="1" i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r>
                        <a:rPr lang="el-GR" altLang="zh-TW" sz="1400" b="1" i="0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</m:oMath>
                  </m:oMathPara>
                </a14:m>
                <a:endParaRPr lang="zh-TW" altLang="en-US" sz="1400" b="1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Symbol" panose="05050102010706020507" pitchFamily="18" charset="2"/>
                  <a:ea typeface="Dotum" panose="020B0600000101010101" pitchFamily="34" charset="-127"/>
                  <a:cs typeface="ADLaM Display" panose="02010000000000000000" pitchFamily="2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4A6DBCD8-60B7-8013-79F3-352440183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9574" y="1574713"/>
                <a:ext cx="293061" cy="215444"/>
              </a:xfrm>
              <a:prstGeom prst="rect">
                <a:avLst/>
              </a:prstGeom>
              <a:blipFill>
                <a:blip r:embed="rId3"/>
                <a:stretch>
                  <a:fillRect l="-14583" r="-18750"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文字方塊 30">
            <a:extLst>
              <a:ext uri="{FF2B5EF4-FFF2-40B4-BE49-F238E27FC236}">
                <a16:creationId xmlns:a16="http://schemas.microsoft.com/office/drawing/2014/main" id="{50C87664-0831-93CA-935E-0571475991DF}"/>
              </a:ext>
            </a:extLst>
          </p:cNvPr>
          <p:cNvSpPr txBox="1"/>
          <p:nvPr/>
        </p:nvSpPr>
        <p:spPr>
          <a:xfrm>
            <a:off x="7608987" y="1131737"/>
            <a:ext cx="1018303" cy="400585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rtlCol="0" anchor="ctr" anchorCtr="0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/>
              <a:t>Deprioritize</a:t>
            </a:r>
          </a:p>
          <a:p>
            <a:pPr>
              <a:lnSpc>
                <a:spcPts val="1200"/>
              </a:lnSpc>
            </a:pPr>
            <a:r>
              <a:rPr lang="en-US" altLang="zh-TW" sz="1200" dirty="0"/>
              <a:t>Outdated data</a:t>
            </a:r>
            <a:endParaRPr lang="zh-TW" altLang="en-US" sz="1200" dirty="0"/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CA9DAA0E-0A6F-D3D9-30C9-3878A6ADA34D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2DA41433-A20B-AE1B-1507-12E8FCE8E319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1A075305-1E21-300E-6DCB-BB2FE8FF52B7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54F198EF-F40E-C333-6AD5-174194E34BE1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B3BFFB55-3254-6308-00AA-2F8798156457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9BB9107-A959-BB7F-1CD4-B3050CA28531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A84A4C7E-FA12-B61E-CEC2-024F6174FB26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8322BB64-1B5E-24A8-1D4A-5BCC52DAD338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78B84A22-2361-294B-DB09-260698E785BE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1BAC99-A13E-2428-D208-AE05560EBAA2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848A4B4B-8541-5AF9-C0F6-8FBDFE2A5A7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A5BA3CF-EC4B-72B3-5728-B967654A1F2E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EBD249-DE12-7C54-F392-47773F9A7F6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A78D349-60C7-C110-9DBF-FD4000232F1C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4AD385F-9221-902C-6456-A135E9642BF2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74D9BA7D-49D4-2A04-7317-7CBF7491A3E9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1023FA07-069A-1AA6-F3EC-6D438F165700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B66D1CEC-58C4-02CE-7815-5EB3B69FAE53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EFE78BF0-EE6B-7548-B58D-C48CA2DF738B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AE5131CD-2300-CBA9-CD43-679F9EBB7FB3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B44D23D8-C4DA-27DE-16C9-6FA9510AECF0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42893BF3-61D7-4986-9F62-F3EB4C1F15E1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D4FF48C3-6600-5624-3370-E3B242159EB6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ECECF0D-0EBA-ECCD-71EA-F1DA5D9D4124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A60B9B31-89AE-8198-75D2-2C8AE96D4CEE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15AA0210-756F-9586-38A2-CD4B0BB41304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8C53DB90-EFA7-F026-DF01-F94A8CD56E2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491318D1-A0C3-13AF-AD25-F7EC4B4AEEC5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958B989-83EF-5819-5017-26F792DB1E0A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90FE43EB-5A25-C18C-A5B5-76880D82E86F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F06C0042-9FF6-2F6D-3F04-831C1A30668E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4377FE-F6FF-3028-5495-493062971939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17B68AC-F0E9-832F-905F-C62938F8743E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A5C47415-1EAD-0E24-94AD-96655881A90D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82FC4F2-E56E-767A-855B-745E97DDDBA0}"/>
              </a:ext>
            </a:extLst>
          </p:cNvPr>
          <p:cNvSpPr/>
          <p:nvPr/>
        </p:nvSpPr>
        <p:spPr>
          <a:xfrm>
            <a:off x="4479923" y="1135391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BE528675-2C5D-4657-4A72-DC232343535E}"/>
                  </a:ext>
                </a:extLst>
              </p:cNvPr>
              <p:cNvSpPr txBox="1"/>
              <p:nvPr/>
            </p:nvSpPr>
            <p:spPr>
              <a:xfrm>
                <a:off x="4498947" y="1410825"/>
                <a:ext cx="3795296" cy="120545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b="0" i="0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solidFill>
                    <a:schemeClr val="bg1">
                      <a:lumMod val="65000"/>
                    </a:schemeClr>
                  </a:solidFill>
                </a:endParaRPr>
              </a:p>
              <a:p>
                <a:pPr>
                  <a:lnSpc>
                    <a:spcPts val="2000"/>
                  </a:lnSpc>
                </a:pPr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200" i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b="0" i="1" dirty="0">
                  <a:solidFill>
                    <a:schemeClr val="bg1">
                      <a:lumMod val="6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zh-TW" altLang="en-US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120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1200" b="0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120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</a:t>
                </a:r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endParaRPr lang="en-US" altLang="zh-TW" sz="1200" dirty="0">
                  <a:solidFill>
                    <a:schemeClr val="bg1">
                      <a:lumMod val="65000"/>
                    </a:schemeClr>
                  </a:solidFill>
                </a:endParaRPr>
              </a:p>
              <a:p>
                <a:pPr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TW" sz="1200" b="0" i="1" smtClean="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b="0" i="1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zh-TW" altLang="en-US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TW" sz="1200" i="1">
                        <a:solidFill>
                          <a:schemeClr val="bg1">
                            <a:lumMod val="6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a:rPr lang="en-US" altLang="zh-TW" sz="1200" b="0" i="0" smtClean="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ts val="10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1">
                        <a:lumMod val="65000"/>
                      </a:schemeClr>
                    </a:solidFill>
                    <a:effectLst/>
                    <a:uLnTx/>
                    <a:uFillTx/>
                    <a:latin typeface="Calibri"/>
                    <a:ea typeface="新細明體" panose="02020500000000000000" pitchFamily="18" charset="-120"/>
                    <a:cs typeface="+mn-cs"/>
                  </a:rPr>
                  <a:t> … </a:t>
                </a:r>
                <a:r>
                  <a:rPr lang="zh-TW" altLang="en-US" sz="1200" dirty="0">
                    <a:solidFill>
                      <a:schemeClr val="bg1">
                        <a:lumMod val="65000"/>
                      </a:schemeClr>
                    </a:solidFill>
                    <a:sym typeface="Wingdings" panose="05000000000000000000" pitchFamily="2" charset="2"/>
                  </a:rPr>
                  <a:t> </a:t>
                </a:r>
                <a:r>
                  <a:rPr lang="en-US" altLang="zh-TW" sz="1200" dirty="0">
                    <a:solidFill>
                      <a:schemeClr val="bg1">
                        <a:lumMod val="65000"/>
                      </a:schemeClr>
                    </a:solidFill>
                  </a:rPr>
                  <a:t>  </a:t>
                </a: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BE528675-2C5D-4657-4A72-DC2323435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947" y="1410825"/>
                <a:ext cx="3795296" cy="1205458"/>
              </a:xfrm>
              <a:prstGeom prst="rect">
                <a:avLst/>
              </a:prstGeom>
              <a:blipFill>
                <a:blip r:embed="rId4"/>
                <a:stretch>
                  <a:fillRect l="-1445" t="-7071" b="-35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D3ADD8C-D269-DDAF-D8F2-8EA8B7B0475F}"/>
                  </a:ext>
                </a:extLst>
              </p:cNvPr>
              <p:cNvSpPr txBox="1"/>
              <p:nvPr/>
            </p:nvSpPr>
            <p:spPr>
              <a:xfrm>
                <a:off x="4529434" y="2575551"/>
                <a:ext cx="4120007" cy="2221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𝛂</m:t>
                        </m:r>
                      </m:e>
                      <m:sub>
                        <m:r>
                          <a:rPr lang="en-US" altLang="zh-TW" sz="1200" b="1" i="0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𝐭</m:t>
                        </m:r>
                      </m:sub>
                    </m:sSub>
                    <m:r>
                      <a:rPr lang="en-US" altLang="zh-TW" sz="12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m:rPr>
                        <m:nor/>
                      </m:rPr>
                      <a:rPr lang="en-US" altLang="zh-TW" sz="1200" i="0" dirty="0" smtClean="0"/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∏"/>
                            <m:limLoc m:val="subSup"/>
                            <m:ctrlPr>
                              <a:rPr lang="zh-TW" altLang="en-US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zh-TW" altLang="en-US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𝛕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𝐣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brk m:alnAt="25"/>
                              </m:rP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  <m:sup>
                            <m:r>
                              <a:rPr lang="en-US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p>
                          <m:e>
                            <m:sSub>
                              <m:sSubPr>
                                <m:ctrlPr>
                                  <a:rPr lang="zh-TW" altLang="en-US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𝛂</m:t>
                                </m:r>
                              </m:e>
                              <m:sub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𝛕</m:t>
                                </m:r>
                              </m:sub>
                            </m:sSub>
                          </m:e>
                        </m:nary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zh-TW" altLang="en-US" sz="120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zh-TW" altLang="en-US" sz="120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TW" altLang="en-US" sz="1200" i="0" smtClean="0">
                            <a:latin typeface="Cambria Math" panose="02040503050406030204" pitchFamily="18" charset="0"/>
                          </a:rPr>
                          <m:t>α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zh-TW" altLang="en-US" sz="1200" i="0" smtClean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D3ADD8C-D269-DDAF-D8F2-8EA8B7B04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9434" y="2575551"/>
                <a:ext cx="4120007" cy="222177"/>
              </a:xfrm>
              <a:prstGeom prst="rect">
                <a:avLst/>
              </a:prstGeom>
              <a:blipFill>
                <a:blip r:embed="rId5"/>
                <a:stretch>
                  <a:fillRect l="-1331" t="-132432" b="-20540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DB18F16-BB4A-5318-6F11-8C5CEBBD902A}"/>
                  </a:ext>
                </a:extLst>
              </p:cNvPr>
              <p:cNvSpPr txBox="1"/>
              <p:nvPr/>
            </p:nvSpPr>
            <p:spPr>
              <a:xfrm>
                <a:off x="5547717" y="3436569"/>
                <a:ext cx="1858570" cy="2084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≅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en-US" altLang="zh-TW" sz="12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QK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en-US" altLang="zh-TW" sz="120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el-GR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𝚪</m:t>
                          </m:r>
                        </m:e>
                      </m:d>
                      <m: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altLang="zh-TW" sz="1200" b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DB18F16-BB4A-5318-6F11-8C5CEBBD9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717" y="3436569"/>
                <a:ext cx="1858570" cy="208455"/>
              </a:xfrm>
              <a:prstGeom prst="rect">
                <a:avLst/>
              </a:prstGeom>
              <a:blipFill>
                <a:blip r:embed="rId6"/>
                <a:stretch>
                  <a:fillRect l="-2623" b="-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BEA5792F-AAB0-D921-9067-BF9A4CD5A979}"/>
                  </a:ext>
                </a:extLst>
              </p:cNvPr>
              <p:cNvSpPr txBox="1"/>
              <p:nvPr/>
            </p:nvSpPr>
            <p:spPr>
              <a:xfrm>
                <a:off x="4519461" y="2930257"/>
                <a:ext cx="4198865" cy="5063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2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=</m:t>
                      </m:r>
                      <m:borderBox>
                        <m:borderBox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5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  <m:e>
                              <m:r>
                                <a:rPr lang="el-GR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𝚪</m:t>
                              </m:r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q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T</m:t>
                                      </m:r>
                                    </m:sup>
                                  </m:sSubSup>
                                  <m:sSub>
                                    <m:sSubPr>
                                      <m:ctrl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k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 i="0">
                                          <a:latin typeface="Cambria Math" panose="02040503050406030204" pitchFamily="18" charset="0"/>
                                        </a:rPr>
                                        <m:t>j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altLang="zh-TW" sz="1200" i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i="0">
                                      <a:latin typeface="Cambria Math" panose="02040503050406030204" pitchFamily="18" charset="0"/>
                                    </a:rPr>
                                    <m:t>v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200" i="0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e>
                      </m:borderBox>
                      <m:r>
                        <a:rPr lang="en-US" altLang="zh-TW" sz="12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l-GR" altLang="zh-TW" sz="1200" b="1" i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𝚪</m:t>
                      </m:r>
                      <m:r>
                        <a:rPr lang="en-US" altLang="zh-TW" sz="120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1200" b="1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𝛄</m:t>
                              </m:r>
                            </m:e>
                            <m:sub>
                              <m:r>
                                <a:rPr lang="en-US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𝛄</m:t>
                              </m:r>
                            </m:e>
                            <m:sub>
                              <m:r>
                                <a:rPr lang="en-US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</m:sub>
                          </m:sSub>
                        </m:den>
                      </m:f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zh-TW" altLang="en-US" sz="1200" i="1" strike="sngStrike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en-US" altLang="zh-TW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en-US" altLang="zh-TW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0" strike="sngStrike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..</m:t>
                          </m:r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trike="sngStrike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𝛂</m:t>
                              </m:r>
                            </m:e>
                            <m:sub>
                              <m:r>
                                <a:rPr lang="en-US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r>
                            <a:rPr lang="en-US" altLang="zh-TW" sz="1200" b="1" i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..</m:t>
                          </m:r>
                          <m:sSub>
                            <m:sSubPr>
                              <m:ctrlP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𝛂</m:t>
                              </m:r>
                            </m:e>
                            <m:sub>
                              <m:r>
                                <a:rPr lang="en-US" altLang="zh-TW" sz="1200" b="1" i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en-US" altLang="zh-TW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lang="en-US" altLang="zh-TW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0" strike="sngStrike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..</m:t>
                          </m:r>
                          <m:sSub>
                            <m:sSubPr>
                              <m:ctrl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1200" i="0" strike="sngStrike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trike="sngStrike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r>
                            <a:rPr lang="en-US" altLang="zh-TW" sz="1200" b="0" i="0" strike="sngStrike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               </m:t>
                          </m:r>
                        </m:den>
                      </m:f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BEA5792F-AAB0-D921-9067-BF9A4CD5A9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9461" y="2930257"/>
                <a:ext cx="4198865" cy="506309"/>
              </a:xfrm>
              <a:prstGeom prst="rect">
                <a:avLst/>
              </a:prstGeom>
              <a:blipFill>
                <a:blip r:embed="rId7"/>
                <a:stretch>
                  <a:fillRect l="-1306" t="-134940" b="-17108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矩形 10">
            <a:extLst>
              <a:ext uri="{FF2B5EF4-FFF2-40B4-BE49-F238E27FC236}">
                <a16:creationId xmlns:a16="http://schemas.microsoft.com/office/drawing/2014/main" id="{45E309C3-74F9-6432-3B3D-98386741E4DE}"/>
              </a:ext>
            </a:extLst>
          </p:cNvPr>
          <p:cNvSpPr/>
          <p:nvPr/>
        </p:nvSpPr>
        <p:spPr>
          <a:xfrm>
            <a:off x="342961" y="3197978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08D7B9-895B-E2B0-0EE3-E189A7D16CA9}"/>
                  </a:ext>
                </a:extLst>
              </p:cNvPr>
              <p:cNvSpPr txBox="1"/>
              <p:nvPr/>
            </p:nvSpPr>
            <p:spPr>
              <a:xfrm>
                <a:off x="397254" y="3376492"/>
                <a:ext cx="2615496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D908D7B9-895B-E2B0-0EE3-E189A7D16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254" y="3376492"/>
                <a:ext cx="2615496" cy="276422"/>
              </a:xfrm>
              <a:prstGeom prst="rect">
                <a:avLst/>
              </a:prstGeom>
              <a:blipFill>
                <a:blip r:embed="rId8"/>
                <a:stretch>
                  <a:fillRect l="-2098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602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00502-3DFC-76C8-A27F-69B9B049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AEA4271A-A72C-2E4E-C5B6-4DBF7492B6A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Chunk-wise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3E69C0E3-FBFD-1737-3B98-1709BE220234}"/>
              </a:ext>
            </a:extLst>
          </p:cNvPr>
          <p:cNvSpPr txBox="1"/>
          <p:nvPr/>
        </p:nvSpPr>
        <p:spPr>
          <a:xfrm>
            <a:off x="4527952" y="4174650"/>
            <a:ext cx="2651033" cy="543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943100">
              <a:lnSpc>
                <a:spcPts val="1800"/>
              </a:lnSpc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defTabSz="1943100">
              <a:lnSpc>
                <a:spcPts val="1800"/>
              </a:lnSpc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DCE2929A-897D-C3D6-B2C2-1F4F80A78D78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930CF9C-144B-DB12-807B-F6CBA739BBBA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51B0C24-3919-2826-A76F-0BF22E377F92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B07C54D-A621-67C6-795C-D473B0B2891A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7CB98988-07A9-45F4-0CD8-38B00EFF1E03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6C32B8F0-B153-841A-C510-8909313A9A32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E9B5BDB-9057-0CE5-11D2-F0F8765C5D4E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8A6E0C-6F2E-C039-77CA-8E4F083ADDD3}"/>
              </a:ext>
            </a:extLst>
          </p:cNvPr>
          <p:cNvSpPr txBox="1"/>
          <p:nvPr/>
        </p:nvSpPr>
        <p:spPr>
          <a:xfrm>
            <a:off x="5679008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C28BB96A-E1CD-5A75-8DBC-5CF184AD12F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50C9228-FA7E-E532-D2C1-5BBD82FB946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2F4EB874-6783-9814-4BF8-9ED50298F19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F1976F8F-589A-C3CF-FC65-EF3F5D57D6DB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316DDAC5-D58F-2060-E584-02D7F56FFF4C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2D134FB-B8F6-8458-3291-6A88AFFCD8B9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2B06660B-7125-B656-4DC7-BEABA3843DC9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DF5D6B57-C618-257C-3F86-EA2B9EE9F7A0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D80986B-97EA-E875-925F-981EF8730858}"/>
              </a:ext>
            </a:extLst>
          </p:cNvPr>
          <p:cNvCxnSpPr/>
          <p:nvPr/>
        </p:nvCxnSpPr>
        <p:spPr>
          <a:xfrm>
            <a:off x="196439" y="6741368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0F8AC103-62CE-19F9-C7F2-A5616E34FE80}"/>
              </a:ext>
            </a:extLst>
          </p:cNvPr>
          <p:cNvSpPr txBox="1"/>
          <p:nvPr/>
        </p:nvSpPr>
        <p:spPr>
          <a:xfrm>
            <a:off x="5534359" y="2267764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3A055BD-0CF7-9CEB-3436-625131266067}"/>
              </a:ext>
            </a:extLst>
          </p:cNvPr>
          <p:cNvSpPr txBox="1"/>
          <p:nvPr/>
        </p:nvSpPr>
        <p:spPr>
          <a:xfrm>
            <a:off x="5531093" y="3001886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</a:t>
            </a:r>
            <a:r>
              <a:rPr lang="en-US" altLang="zh-TW" sz="1200" dirty="0" err="1"/>
              <a:t>q</a:t>
            </a:r>
            <a:r>
              <a:rPr lang="en-US" altLang="zh-TW" sz="1200" baseline="-25000" dirty="0" err="1"/>
              <a:t>i</a:t>
            </a:r>
            <a:r>
              <a:rPr lang="en-US" altLang="zh-TW" sz="1200" dirty="0" err="1">
                <a:sym typeface="Wingdings" panose="05000000000000000000" pitchFamily="2" charset="2"/>
              </a:rPr>
              <a:t>·</a:t>
            </a:r>
            <a:r>
              <a:rPr lang="en-US" altLang="zh-TW" sz="1200" dirty="0" err="1"/>
              <a:t>k</a:t>
            </a:r>
            <a:r>
              <a:rPr lang="en-US" altLang="zh-TW" sz="1200" baseline="30000" dirty="0" err="1"/>
              <a:t>T</a:t>
            </a:r>
            <a:r>
              <a:rPr lang="en-US" altLang="zh-TW" sz="1200" baseline="-25000" dirty="0" err="1">
                <a:sym typeface="Wingdings" panose="05000000000000000000" pitchFamily="2" charset="2"/>
              </a:rPr>
              <a:t>i</a:t>
            </a:r>
            <a:r>
              <a:rPr lang="en-US" altLang="zh-TW" sz="1200" dirty="0" err="1"/>
              <a:t>v</a:t>
            </a:r>
            <a:r>
              <a:rPr lang="en-US" altLang="zh-TW" sz="1200" baseline="-25000" dirty="0" err="1"/>
              <a:t>i</a:t>
            </a:r>
            <a:r>
              <a:rPr lang="en-US" altLang="zh-TW" sz="1200" baseline="-25000" dirty="0"/>
              <a:t> </a:t>
            </a:r>
          </a:p>
          <a:p>
            <a:endParaRPr lang="en-US" altLang="zh-TW" sz="1200" baseline="-250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9A17F-C8FA-144C-9746-5C544BFA7C47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C659C00-F108-9AFF-93AA-64D303674647}"/>
              </a:ext>
            </a:extLst>
          </p:cNvPr>
          <p:cNvSpPr txBox="1"/>
          <p:nvPr/>
        </p:nvSpPr>
        <p:spPr>
          <a:xfrm>
            <a:off x="4670896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919357-781A-4363-AEE4-4A142848CFFD}"/>
              </a:ext>
            </a:extLst>
          </p:cNvPr>
          <p:cNvSpPr txBox="1"/>
          <p:nvPr/>
        </p:nvSpPr>
        <p:spPr>
          <a:xfrm>
            <a:off x="4886920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CCD530-EE31-4059-40A4-64FF6A8BA373}"/>
              </a:ext>
            </a:extLst>
          </p:cNvPr>
          <p:cNvSpPr txBox="1"/>
          <p:nvPr/>
        </p:nvSpPr>
        <p:spPr>
          <a:xfrm>
            <a:off x="5462984" y="5065700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6695D2-14C9-BD74-576C-191B351E01E4}"/>
              </a:ext>
            </a:extLst>
          </p:cNvPr>
          <p:cNvSpPr txBox="1"/>
          <p:nvPr/>
        </p:nvSpPr>
        <p:spPr>
          <a:xfrm>
            <a:off x="5102944" y="5065700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D844FCB-6A4C-BB81-B39F-153A9A9DFC8E}"/>
              </a:ext>
            </a:extLst>
          </p:cNvPr>
          <p:cNvSpPr txBox="1"/>
          <p:nvPr/>
        </p:nvSpPr>
        <p:spPr>
          <a:xfrm>
            <a:off x="6327309" y="4366615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18F84F-6A9D-10A9-2342-7913D9335F86}"/>
              </a:ext>
            </a:extLst>
          </p:cNvPr>
          <p:cNvSpPr/>
          <p:nvPr/>
        </p:nvSpPr>
        <p:spPr>
          <a:xfrm>
            <a:off x="1366214" y="538806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FFF3627-5BF4-5688-C389-6C75579C4BF9}"/>
              </a:ext>
            </a:extLst>
          </p:cNvPr>
          <p:cNvSpPr/>
          <p:nvPr/>
        </p:nvSpPr>
        <p:spPr>
          <a:xfrm>
            <a:off x="1447081" y="546959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CA43EF8-ECB5-B5C0-09B8-280B541B2CDC}"/>
              </a:ext>
            </a:extLst>
          </p:cNvPr>
          <p:cNvSpPr/>
          <p:nvPr/>
        </p:nvSpPr>
        <p:spPr>
          <a:xfrm>
            <a:off x="1547664" y="558922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4B90B7F-4E7C-40A9-68BF-658D47030760}"/>
              </a:ext>
            </a:extLst>
          </p:cNvPr>
          <p:cNvSpPr/>
          <p:nvPr/>
        </p:nvSpPr>
        <p:spPr>
          <a:xfrm>
            <a:off x="3635896" y="554273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0EBC2C99-051D-1A8C-FA89-789E91051686}"/>
              </a:ext>
            </a:extLst>
          </p:cNvPr>
          <p:cNvGrpSpPr/>
          <p:nvPr/>
        </p:nvGrpSpPr>
        <p:grpSpPr>
          <a:xfrm>
            <a:off x="208087" y="5369426"/>
            <a:ext cx="981422" cy="1155918"/>
            <a:chOff x="1223839" y="4497831"/>
            <a:chExt cx="981422" cy="1155918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53F2F20-3538-8EF5-E325-625A87CFF3B1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A755035E-797B-724F-F97D-1AA44912DFE5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469E8D9-6E60-D809-5379-6EF9DC8A0FBC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0BCF83CC-C0FC-A6D4-4327-CD423B0FB698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43" name="左大括弧 42">
              <a:extLst>
                <a:ext uri="{FF2B5EF4-FFF2-40B4-BE49-F238E27FC236}">
                  <a16:creationId xmlns:a16="http://schemas.microsoft.com/office/drawing/2014/main" id="{5B3F2960-F063-1E79-30D7-2D331DC30912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14600A7-895C-4B9E-2086-6C164134CC75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1F2D5E6-BB46-8AE0-20A8-7D731FE881BA}"/>
              </a:ext>
            </a:extLst>
          </p:cNvPr>
          <p:cNvSpPr txBox="1"/>
          <p:nvPr/>
        </p:nvSpPr>
        <p:spPr>
          <a:xfrm>
            <a:off x="510028" y="612250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67716BF-F2E0-7A2B-46C8-97B004720FBB}"/>
              </a:ext>
            </a:extLst>
          </p:cNvPr>
          <p:cNvSpPr/>
          <p:nvPr/>
        </p:nvSpPr>
        <p:spPr>
          <a:xfrm>
            <a:off x="1889320" y="572216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E3C29B2-04B4-6AF9-33D5-2FBCD439807A}"/>
              </a:ext>
            </a:extLst>
          </p:cNvPr>
          <p:cNvSpPr txBox="1"/>
          <p:nvPr/>
        </p:nvSpPr>
        <p:spPr>
          <a:xfrm>
            <a:off x="1662274" y="573169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43B6497-6F2C-5FF6-9544-41D9076E4A82}"/>
              </a:ext>
            </a:extLst>
          </p:cNvPr>
          <p:cNvSpPr/>
          <p:nvPr/>
        </p:nvSpPr>
        <p:spPr>
          <a:xfrm>
            <a:off x="2478048" y="572216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1E3D73A-E6E9-6CD7-24FB-B00AF9BA3832}"/>
              </a:ext>
            </a:extLst>
          </p:cNvPr>
          <p:cNvSpPr txBox="1"/>
          <p:nvPr/>
        </p:nvSpPr>
        <p:spPr>
          <a:xfrm>
            <a:off x="3131840" y="575377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CDE3740-12D7-09A6-BC28-5ED6F1768D24}"/>
              </a:ext>
            </a:extLst>
          </p:cNvPr>
          <p:cNvSpPr txBox="1"/>
          <p:nvPr/>
        </p:nvSpPr>
        <p:spPr>
          <a:xfrm>
            <a:off x="2514397" y="551616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BA056B1-20F1-344F-9FE5-8636BF9D8326}"/>
              </a:ext>
            </a:extLst>
          </p:cNvPr>
          <p:cNvSpPr txBox="1"/>
          <p:nvPr/>
        </p:nvSpPr>
        <p:spPr>
          <a:xfrm>
            <a:off x="2909659" y="572216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C16A4CB-87D0-3861-6C7C-634471DF07E0}"/>
              </a:ext>
            </a:extLst>
          </p:cNvPr>
          <p:cNvSpPr txBox="1"/>
          <p:nvPr/>
        </p:nvSpPr>
        <p:spPr>
          <a:xfrm>
            <a:off x="2838779" y="551684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2E72AB-F1E4-FCF8-1C57-6D61AB29F17B}"/>
              </a:ext>
            </a:extLst>
          </p:cNvPr>
          <p:cNvSpPr/>
          <p:nvPr/>
        </p:nvSpPr>
        <p:spPr>
          <a:xfrm>
            <a:off x="3635896" y="573043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3B49A473-C327-E2A0-84CF-6F37B6507BF1}"/>
              </a:ext>
            </a:extLst>
          </p:cNvPr>
          <p:cNvSpPr txBox="1"/>
          <p:nvPr/>
        </p:nvSpPr>
        <p:spPr>
          <a:xfrm>
            <a:off x="3818316" y="537226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9EA3860-1F69-2D79-602B-BA8D9B745B75}"/>
              </a:ext>
            </a:extLst>
          </p:cNvPr>
          <p:cNvSpPr txBox="1"/>
          <p:nvPr/>
        </p:nvSpPr>
        <p:spPr>
          <a:xfrm>
            <a:off x="3433425" y="549418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7001742-9F31-1689-2B00-3009AFD6C1BB}"/>
              </a:ext>
            </a:extLst>
          </p:cNvPr>
          <p:cNvSpPr txBox="1"/>
          <p:nvPr/>
        </p:nvSpPr>
        <p:spPr>
          <a:xfrm>
            <a:off x="3056969" y="621045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44F5A235-A599-CEE0-F402-1F6833A02B0B}"/>
              </a:ext>
            </a:extLst>
          </p:cNvPr>
          <p:cNvSpPr/>
          <p:nvPr/>
        </p:nvSpPr>
        <p:spPr>
          <a:xfrm rot="16200000">
            <a:off x="2100226" y="581234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1EB94B7-A142-4A8C-82A9-669902EDF512}"/>
              </a:ext>
            </a:extLst>
          </p:cNvPr>
          <p:cNvSpPr txBox="1"/>
          <p:nvPr/>
        </p:nvSpPr>
        <p:spPr>
          <a:xfrm>
            <a:off x="1916398" y="535486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94392B3-EA04-CA6F-4077-045635A3D3A2}"/>
              </a:ext>
            </a:extLst>
          </p:cNvPr>
          <p:cNvSpPr txBox="1"/>
          <p:nvPr/>
        </p:nvSpPr>
        <p:spPr>
          <a:xfrm>
            <a:off x="1890357" y="550840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95FF8EC-88B3-E494-CEBF-56740BDE2C50}"/>
              </a:ext>
            </a:extLst>
          </p:cNvPr>
          <p:cNvSpPr txBox="1"/>
          <p:nvPr/>
        </p:nvSpPr>
        <p:spPr>
          <a:xfrm>
            <a:off x="1595289" y="557719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0A4BFDC0-1ADB-EB3B-BD74-A58FB3732FAE}"/>
              </a:ext>
            </a:extLst>
          </p:cNvPr>
          <p:cNvSpPr txBox="1"/>
          <p:nvPr/>
        </p:nvSpPr>
        <p:spPr>
          <a:xfrm>
            <a:off x="287524" y="980728"/>
            <a:ext cx="586865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653178E-3BCA-AF78-3E30-E31323A389C1}"/>
              </a:ext>
            </a:extLst>
          </p:cNvPr>
          <p:cNvSpPr/>
          <p:nvPr/>
        </p:nvSpPr>
        <p:spPr>
          <a:xfrm>
            <a:off x="4572000" y="108620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875CBFC2-A30E-BF42-6B23-413C3CC24513}"/>
              </a:ext>
            </a:extLst>
          </p:cNvPr>
          <p:cNvGrpSpPr/>
          <p:nvPr/>
        </p:nvGrpSpPr>
        <p:grpSpPr>
          <a:xfrm>
            <a:off x="4572000" y="1342878"/>
            <a:ext cx="4198865" cy="762971"/>
            <a:chOff x="111742" y="2772698"/>
            <a:chExt cx="3904317" cy="7629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11A67DC1-1773-F546-E1CA-8F94F33727FD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6D73826-FBFB-FFE3-2BBD-A92E1B6B5521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340F186B-9E4D-BE79-C999-9A65F263A205}"/>
              </a:ext>
            </a:extLst>
          </p:cNvPr>
          <p:cNvSpPr/>
          <p:nvPr/>
        </p:nvSpPr>
        <p:spPr>
          <a:xfrm>
            <a:off x="1620015" y="3670727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74D3723-E729-D438-2D39-ED0E1F9C39A9}"/>
                  </a:ext>
                </a:extLst>
              </p:cNvPr>
              <p:cNvSpPr txBox="1"/>
              <p:nvPr/>
            </p:nvSpPr>
            <p:spPr>
              <a:xfrm>
                <a:off x="1674309" y="3849241"/>
                <a:ext cx="192714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74D3723-E729-D438-2D39-ED0E1F9C39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4309" y="3849241"/>
                <a:ext cx="1927140" cy="184666"/>
              </a:xfrm>
              <a:prstGeom prst="rect">
                <a:avLst/>
              </a:prstGeom>
              <a:blipFill>
                <a:blip r:embed="rId12"/>
                <a:stretch>
                  <a:fillRect l="-2848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>
            <a:extLst>
              <a:ext uri="{FF2B5EF4-FFF2-40B4-BE49-F238E27FC236}">
                <a16:creationId xmlns:a16="http://schemas.microsoft.com/office/drawing/2014/main" id="{793BCD74-46BE-B48E-C90D-02671C0599FB}"/>
              </a:ext>
            </a:extLst>
          </p:cNvPr>
          <p:cNvSpPr/>
          <p:nvPr/>
        </p:nvSpPr>
        <p:spPr>
          <a:xfrm>
            <a:off x="1620015" y="3065017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A1B9959-DD16-6B8A-82B5-7481B2A7A26B}"/>
                  </a:ext>
                </a:extLst>
              </p:cNvPr>
              <p:cNvSpPr txBox="1"/>
              <p:nvPr/>
            </p:nvSpPr>
            <p:spPr>
              <a:xfrm>
                <a:off x="1674309" y="3243531"/>
                <a:ext cx="1927140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9A1B9959-DD16-6B8A-82B5-7481B2A7A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4309" y="3243531"/>
                <a:ext cx="1927140" cy="372666"/>
              </a:xfrm>
              <a:prstGeom prst="rect">
                <a:avLst/>
              </a:prstGeom>
              <a:blipFill>
                <a:blip r:embed="rId13"/>
                <a:stretch>
                  <a:fillRect l="-5063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圖片 24">
            <a:extLst>
              <a:ext uri="{FF2B5EF4-FFF2-40B4-BE49-F238E27FC236}">
                <a16:creationId xmlns:a16="http://schemas.microsoft.com/office/drawing/2014/main" id="{C068B517-4E1E-3B02-A12F-0C365AD470D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47529" y="628407"/>
            <a:ext cx="6248942" cy="5601185"/>
          </a:xfrm>
          <a:prstGeom prst="rect">
            <a:avLst/>
          </a:prstGeom>
        </p:spPr>
      </p:pic>
      <p:sp>
        <p:nvSpPr>
          <p:cNvPr id="29" name="矩形 28">
            <a:extLst>
              <a:ext uri="{FF2B5EF4-FFF2-40B4-BE49-F238E27FC236}">
                <a16:creationId xmlns:a16="http://schemas.microsoft.com/office/drawing/2014/main" id="{03BE8F25-4FF5-F1B1-8E7E-812ABC50D073}"/>
              </a:ext>
            </a:extLst>
          </p:cNvPr>
          <p:cNvSpPr/>
          <p:nvPr/>
        </p:nvSpPr>
        <p:spPr>
          <a:xfrm>
            <a:off x="721906" y="2704028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93733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4459523" y="4804660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513817" y="4983174"/>
                <a:ext cx="192714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817" y="4983174"/>
                <a:ext cx="1927140" cy="184666"/>
              </a:xfrm>
              <a:prstGeom prst="rect">
                <a:avLst/>
              </a:prstGeom>
              <a:blipFill>
                <a:blip r:embed="rId14"/>
                <a:stretch>
                  <a:fillRect l="-2839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4459523" y="4198950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513817" y="4377464"/>
                <a:ext cx="1927140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3817" y="4377464"/>
                <a:ext cx="1927140" cy="372666"/>
              </a:xfrm>
              <a:prstGeom prst="rect">
                <a:avLst/>
              </a:prstGeom>
              <a:blipFill>
                <a:blip r:embed="rId15"/>
                <a:stretch>
                  <a:fillRect l="-4732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E540E66-F12A-AA34-4077-41CABE6478B1}"/>
                  </a:ext>
                </a:extLst>
              </p:cNvPr>
              <p:cNvSpPr txBox="1"/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3E540E66-F12A-AA34-4077-41CABE647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68" y="5772618"/>
                <a:ext cx="1734864" cy="504056"/>
              </a:xfrm>
              <a:prstGeom prst="rect">
                <a:avLst/>
              </a:prstGeom>
              <a:blipFill>
                <a:blip r:embed="rId17"/>
                <a:stretch>
                  <a:fillRect l="-2807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矩形 19">
            <a:extLst>
              <a:ext uri="{FF2B5EF4-FFF2-40B4-BE49-F238E27FC236}">
                <a16:creationId xmlns:a16="http://schemas.microsoft.com/office/drawing/2014/main" id="{622BADDF-AAA6-6A13-8D1E-1DE1361F879D}"/>
              </a:ext>
            </a:extLst>
          </p:cNvPr>
          <p:cNvSpPr/>
          <p:nvPr/>
        </p:nvSpPr>
        <p:spPr>
          <a:xfrm>
            <a:off x="445476" y="551678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8EFEC0D8-9EA6-78A9-1A4F-47DF2C933841}"/>
                  </a:ext>
                </a:extLst>
              </p:cNvPr>
              <p:cNvSpPr txBox="1"/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8EFEC0D8-9EA6-78A9-1A4F-47DF2C933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69" y="5229443"/>
                <a:ext cx="1285241" cy="184666"/>
              </a:xfrm>
              <a:prstGeom prst="rect">
                <a:avLst/>
              </a:prstGeom>
              <a:blipFill>
                <a:blip r:embed="rId18"/>
                <a:stretch>
                  <a:fillRect l="-4265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文字方塊 24">
            <a:extLst>
              <a:ext uri="{FF2B5EF4-FFF2-40B4-BE49-F238E27FC236}">
                <a16:creationId xmlns:a16="http://schemas.microsoft.com/office/drawing/2014/main" id="{CBBB3F0A-3876-2F81-9C7F-5AD7A5F88D97}"/>
              </a:ext>
            </a:extLst>
          </p:cNvPr>
          <p:cNvSpPr txBox="1"/>
          <p:nvPr/>
        </p:nvSpPr>
        <p:spPr>
          <a:xfrm>
            <a:off x="509648" y="6016175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CC735DC-4876-D6D3-13DD-9B59420B84DE}"/>
                  </a:ext>
                </a:extLst>
              </p:cNvPr>
              <p:cNvSpPr txBox="1"/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DCC735DC-4876-D6D3-13DD-9B59420B84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4589133"/>
                <a:ext cx="2016224" cy="568059"/>
              </a:xfrm>
              <a:prstGeom prst="rect">
                <a:avLst/>
              </a:prstGeom>
              <a:blipFill>
                <a:blip r:embed="rId19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BC4DBC68-A6E0-49F2-FD7B-AD50F3261BF1}"/>
                  </a:ext>
                </a:extLst>
              </p:cNvPr>
              <p:cNvSpPr txBox="1"/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zh-TW" alt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TW" altLang="en-US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BC4DBC68-A6E0-49F2-FD7B-AD50F3261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937308"/>
                <a:ext cx="2119426" cy="618696"/>
              </a:xfrm>
              <a:prstGeom prst="rect">
                <a:avLst/>
              </a:prstGeom>
              <a:blipFill>
                <a:blip r:embed="rId20"/>
                <a:stretch>
                  <a:fillRect l="-3746" t="-1980" b="-742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矩形 30">
            <a:extLst>
              <a:ext uri="{FF2B5EF4-FFF2-40B4-BE49-F238E27FC236}">
                <a16:creationId xmlns:a16="http://schemas.microsoft.com/office/drawing/2014/main" id="{FF3BA4FC-488D-8DD6-DDA4-CA3DA86E4943}"/>
              </a:ext>
            </a:extLst>
          </p:cNvPr>
          <p:cNvSpPr/>
          <p:nvPr/>
        </p:nvSpPr>
        <p:spPr>
          <a:xfrm>
            <a:off x="361536" y="378904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DeltaNet (Delta Rule + WY)</a:t>
            </a:r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8D61-2B6F-C5C7-F5AE-29A4CB22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標題 1">
            <a:extLst>
              <a:ext uri="{FF2B5EF4-FFF2-40B4-BE49-F238E27FC236}">
                <a16:creationId xmlns:a16="http://schemas.microsoft.com/office/drawing/2014/main" id="{F2D8A0F2-D716-5D6D-E75A-E82694D082B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GDN(Delta Rule) KDA(Channel-wise) GND2(Decoupled Intensity) EDA(Decoupled Addresses)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7F3C27E-59F6-DEE3-6C91-C32B992F19B7}"/>
              </a:ext>
            </a:extLst>
          </p:cNvPr>
          <p:cNvSpPr/>
          <p:nvPr/>
        </p:nvSpPr>
        <p:spPr>
          <a:xfrm>
            <a:off x="5292081" y="3875007"/>
            <a:ext cx="2594428" cy="231682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Kimi Delta Attention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(KDA) 2025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1B5BCC7-AA46-CF82-1E3F-2D3458745856}"/>
              </a:ext>
            </a:extLst>
          </p:cNvPr>
          <p:cNvSpPr/>
          <p:nvPr/>
        </p:nvSpPr>
        <p:spPr>
          <a:xfrm>
            <a:off x="5292080" y="4911551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NV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DeltaNet-2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(GDN2) 2026</a:t>
            </a:r>
          </a:p>
        </p:txBody>
      </p:sp>
      <p:sp>
        <p:nvSpPr>
          <p:cNvPr id="6" name="文字方塊 5">
            <a:hlinkClick r:id="rId3"/>
            <a:extLst>
              <a:ext uri="{FF2B5EF4-FFF2-40B4-BE49-F238E27FC236}">
                <a16:creationId xmlns:a16="http://schemas.microsoft.com/office/drawing/2014/main" id="{4084258E-8A70-76CB-0D86-91C8E30521EB}"/>
              </a:ext>
            </a:extLst>
          </p:cNvPr>
          <p:cNvSpPr txBox="1"/>
          <p:nvPr/>
        </p:nvSpPr>
        <p:spPr>
          <a:xfrm>
            <a:off x="184498" y="6456766"/>
            <a:ext cx="1111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/>
              <p:nvPr/>
            </p:nvSpPr>
            <p:spPr>
              <a:xfrm>
                <a:off x="5292080" y="6135687"/>
                <a:ext cx="3674547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] +</m:t>
                      </m:r>
                      <m:r>
                        <m:rPr>
                          <m:sty m:val="p"/>
                        </m:rPr>
                        <a:rPr lang="en-US" altLang="zh-TW" sz="1200" i="0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l-GR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Diag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8715D945-CBFD-FA35-248C-92FB537211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080" y="6135687"/>
                <a:ext cx="3674547" cy="461665"/>
              </a:xfrm>
              <a:prstGeom prst="rect">
                <a:avLst/>
              </a:prstGeom>
              <a:blipFill>
                <a:blip r:embed="rId4"/>
                <a:stretch>
                  <a:fillRect l="-1493" r="-829" b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A7C35DB0-DB57-E601-5A1C-7A79A28A9D91}"/>
              </a:ext>
            </a:extLst>
          </p:cNvPr>
          <p:cNvSpPr/>
          <p:nvPr/>
        </p:nvSpPr>
        <p:spPr>
          <a:xfrm>
            <a:off x="5292080" y="5917931"/>
            <a:ext cx="3674547" cy="217756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NV Erase-then-Delta Attention (EDA)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2026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EB624C9-5FA3-5259-A6BC-4F33F7F653B7}"/>
                  </a:ext>
                </a:extLst>
              </p:cNvPr>
              <p:cNvSpPr txBox="1"/>
              <p:nvPr/>
            </p:nvSpPr>
            <p:spPr>
              <a:xfrm>
                <a:off x="5292080" y="5127575"/>
                <a:ext cx="3674547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l-GR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Diag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4EB624C9-5FA3-5259-A6BC-4F33F7F65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080" y="5127575"/>
                <a:ext cx="3674547" cy="461665"/>
              </a:xfrm>
              <a:prstGeom prst="rect">
                <a:avLst/>
              </a:prstGeom>
              <a:blipFill>
                <a:blip r:embed="rId5"/>
                <a:stretch>
                  <a:fillRect l="-1493" r="-1327" b="-118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73D19A9-7CC0-DF24-4DA5-98E3E8D43421}"/>
                  </a:ext>
                </a:extLst>
              </p:cNvPr>
              <p:cNvSpPr txBox="1"/>
              <p:nvPr/>
            </p:nvSpPr>
            <p:spPr>
              <a:xfrm>
                <a:off x="5292080" y="4119463"/>
                <a:ext cx="3024336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Diag</m:t>
                      </m:r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] </m:t>
                      </m:r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D73D19A9-7CC0-DF24-4DA5-98E3E8D43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080" y="4119463"/>
                <a:ext cx="3024336" cy="461665"/>
              </a:xfrm>
              <a:prstGeom prst="rect">
                <a:avLst/>
              </a:prstGeom>
              <a:blipFill>
                <a:blip r:embed="rId6"/>
                <a:stretch>
                  <a:fillRect l="-1815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矩形 19">
            <a:extLst>
              <a:ext uri="{FF2B5EF4-FFF2-40B4-BE49-F238E27FC236}">
                <a16:creationId xmlns:a16="http://schemas.microsoft.com/office/drawing/2014/main" id="{769AA3A1-F1B0-0A7D-B8D4-06E5AF6F4FE3}"/>
              </a:ext>
            </a:extLst>
          </p:cNvPr>
          <p:cNvSpPr/>
          <p:nvPr/>
        </p:nvSpPr>
        <p:spPr>
          <a:xfrm>
            <a:off x="5292081" y="2046923"/>
            <a:ext cx="2306396" cy="22995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</a:t>
            </a:r>
            <a:r>
              <a:rPr lang="zh-TW" altLang="en-US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 Network (GDN) 2024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DFBCC9B-F87E-B797-5C3A-539916E7C844}"/>
                  </a:ext>
                </a:extLst>
              </p:cNvPr>
              <p:cNvSpPr txBox="1"/>
              <p:nvPr/>
            </p:nvSpPr>
            <p:spPr>
              <a:xfrm>
                <a:off x="5292080" y="2709527"/>
                <a:ext cx="2898089" cy="8634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zh-TW" altLang="en-US" sz="12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] </m:t>
                      </m:r>
                      <m:sSubSup>
                        <m:sSubSup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] +</m:t>
                      </m:r>
                      <m:sSub>
                        <m:sSubPr>
                          <m:ctrl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β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6DFBCC9B-F87E-B797-5C3A-539916E7C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080" y="2709527"/>
                <a:ext cx="2898089" cy="863489"/>
              </a:xfrm>
              <a:prstGeom prst="rect">
                <a:avLst/>
              </a:prstGeom>
              <a:blipFill>
                <a:blip r:embed="rId7"/>
                <a:stretch>
                  <a:fillRect l="-1891" b="-63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AE6A647D-58C1-42C5-A745-D14C47882EE7}"/>
              </a:ext>
            </a:extLst>
          </p:cNvPr>
          <p:cNvSpPr txBox="1"/>
          <p:nvPr/>
        </p:nvSpPr>
        <p:spPr>
          <a:xfrm>
            <a:off x="5582252" y="2348912"/>
            <a:ext cx="644018" cy="288000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Mamba-2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/>
              <a:t>Gating</a:t>
            </a:r>
          </a:p>
        </p:txBody>
      </p:sp>
      <p:sp>
        <p:nvSpPr>
          <p:cNvPr id="26" name="左大括弧 25">
            <a:extLst>
              <a:ext uri="{FF2B5EF4-FFF2-40B4-BE49-F238E27FC236}">
                <a16:creationId xmlns:a16="http://schemas.microsoft.com/office/drawing/2014/main" id="{5A4458D2-C82D-775D-5A0C-2529CD8E71CE}"/>
              </a:ext>
            </a:extLst>
          </p:cNvPr>
          <p:cNvSpPr/>
          <p:nvPr/>
        </p:nvSpPr>
        <p:spPr>
          <a:xfrm rot="5400000">
            <a:off x="5830142" y="2455892"/>
            <a:ext cx="61233" cy="432047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F656949-0954-0FB7-F415-648C32418BEF}"/>
              </a:ext>
            </a:extLst>
          </p:cNvPr>
          <p:cNvSpPr txBox="1"/>
          <p:nvPr/>
        </p:nvSpPr>
        <p:spPr>
          <a:xfrm>
            <a:off x="6844350" y="2348912"/>
            <a:ext cx="355986" cy="288000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/>
              <a:t>Rule</a:t>
            </a:r>
          </a:p>
        </p:txBody>
      </p:sp>
      <p:sp>
        <p:nvSpPr>
          <p:cNvPr id="32" name="左大括弧 31">
            <a:extLst>
              <a:ext uri="{FF2B5EF4-FFF2-40B4-BE49-F238E27FC236}">
                <a16:creationId xmlns:a16="http://schemas.microsoft.com/office/drawing/2014/main" id="{572843F8-ED01-2BB2-4143-62A9C01144A6}"/>
              </a:ext>
            </a:extLst>
          </p:cNvPr>
          <p:cNvSpPr/>
          <p:nvPr/>
        </p:nvSpPr>
        <p:spPr>
          <a:xfrm rot="5400000">
            <a:off x="6979348" y="2233808"/>
            <a:ext cx="74008" cy="876215"/>
          </a:xfrm>
          <a:prstGeom prst="leftBrace">
            <a:avLst>
              <a:gd name="adj1" fmla="val 41469"/>
              <a:gd name="adj2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57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F2DED-E7D5-6A45-E442-1298FC8C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2C457B21-6908-77A8-7C2C-EF56545C552A}"/>
              </a:ext>
            </a:extLst>
          </p:cNvPr>
          <p:cNvSpPr/>
          <p:nvPr/>
        </p:nvSpPr>
        <p:spPr>
          <a:xfrm>
            <a:off x="251520" y="385495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26" name="接點: 肘形 125">
            <a:extLst>
              <a:ext uri="{FF2B5EF4-FFF2-40B4-BE49-F238E27FC236}">
                <a16:creationId xmlns:a16="http://schemas.microsoft.com/office/drawing/2014/main" id="{0BF212FC-598B-C951-078B-819B9E384B5C}"/>
              </a:ext>
            </a:extLst>
          </p:cNvPr>
          <p:cNvCxnSpPr>
            <a:cxnSpLocks/>
            <a:stCxn id="18" idx="3"/>
            <a:endCxn id="90" idx="1"/>
          </p:cNvCxnSpPr>
          <p:nvPr/>
        </p:nvCxnSpPr>
        <p:spPr>
          <a:xfrm flipV="1">
            <a:off x="899592" y="3304601"/>
            <a:ext cx="595507" cy="1362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D0348627-4307-A636-B60F-69734DFEA39E}"/>
              </a:ext>
            </a:extLst>
          </p:cNvPr>
          <p:cNvCxnSpPr>
            <a:cxnSpLocks/>
            <a:stCxn id="18" idx="3"/>
            <a:endCxn id="12" idx="1"/>
          </p:cNvCxnSpPr>
          <p:nvPr/>
        </p:nvCxnSpPr>
        <p:spPr>
          <a:xfrm flipV="1">
            <a:off x="899592" y="4428289"/>
            <a:ext cx="595507" cy="2389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1D9CD78-EE73-46AF-6908-D8F4F46DF679}"/>
              </a:ext>
            </a:extLst>
          </p:cNvPr>
          <p:cNvSpPr txBox="1"/>
          <p:nvPr/>
        </p:nvSpPr>
        <p:spPr>
          <a:xfrm>
            <a:off x="1495099" y="4289922"/>
            <a:ext cx="183798" cy="276733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5" name="接點: 肘形 14">
            <a:extLst>
              <a:ext uri="{FF2B5EF4-FFF2-40B4-BE49-F238E27FC236}">
                <a16:creationId xmlns:a16="http://schemas.microsoft.com/office/drawing/2014/main" id="{CF8D9346-56AA-BD6C-4379-5E8252E9E9DA}"/>
              </a:ext>
            </a:extLst>
          </p:cNvPr>
          <p:cNvCxnSpPr>
            <a:cxnSpLocks/>
            <a:stCxn id="18" idx="3"/>
            <a:endCxn id="17" idx="1"/>
          </p:cNvCxnSpPr>
          <p:nvPr/>
        </p:nvCxnSpPr>
        <p:spPr>
          <a:xfrm flipV="1">
            <a:off x="899592" y="3889454"/>
            <a:ext cx="595507" cy="77773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3CCC2715-2829-6866-40D6-432103206A30}"/>
              </a:ext>
            </a:extLst>
          </p:cNvPr>
          <p:cNvCxnSpPr>
            <a:cxnSpLocks/>
            <a:stCxn id="18" idx="3"/>
            <a:endCxn id="81" idx="1"/>
          </p:cNvCxnSpPr>
          <p:nvPr/>
        </p:nvCxnSpPr>
        <p:spPr>
          <a:xfrm>
            <a:off x="899592" y="4667190"/>
            <a:ext cx="595507" cy="29571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82EA213-7A3C-7047-EA09-9B009783B511}"/>
              </a:ext>
            </a:extLst>
          </p:cNvPr>
          <p:cNvSpPr txBox="1"/>
          <p:nvPr/>
        </p:nvSpPr>
        <p:spPr>
          <a:xfrm>
            <a:off x="1495099" y="3734586"/>
            <a:ext cx="183798" cy="309735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4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9A9A2D0-55E3-4EC5-97C4-B1DB9F9D6484}"/>
              </a:ext>
            </a:extLst>
          </p:cNvPr>
          <p:cNvSpPr/>
          <p:nvPr/>
        </p:nvSpPr>
        <p:spPr>
          <a:xfrm>
            <a:off x="251520" y="4496815"/>
            <a:ext cx="648072" cy="34075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50000"/>
                <a:alpha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9DDB6F1D-5746-95F4-644D-D1D2A064C93A}"/>
              </a:ext>
            </a:extLst>
          </p:cNvPr>
          <p:cNvSpPr txBox="1"/>
          <p:nvPr/>
        </p:nvSpPr>
        <p:spPr>
          <a:xfrm>
            <a:off x="432169" y="377655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802E419-7A3A-70A5-AC8C-F231714823C7}"/>
              </a:ext>
            </a:extLst>
          </p:cNvPr>
          <p:cNvSpPr/>
          <p:nvPr/>
        </p:nvSpPr>
        <p:spPr>
          <a:xfrm>
            <a:off x="1063051" y="3732173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267EB94-D267-6A2B-CC3E-C13D85C0BFAB}"/>
              </a:ext>
            </a:extLst>
          </p:cNvPr>
          <p:cNvSpPr/>
          <p:nvPr/>
        </p:nvSpPr>
        <p:spPr>
          <a:xfrm>
            <a:off x="1063051" y="4797152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9CA7A63-EC6C-9147-7DD8-56327354B235}"/>
              </a:ext>
            </a:extLst>
          </p:cNvPr>
          <p:cNvSpPr/>
          <p:nvPr/>
        </p:nvSpPr>
        <p:spPr>
          <a:xfrm>
            <a:off x="1063051" y="4229425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CB4A213-BDCD-A959-0A91-A6CDD8F77FE2}"/>
              </a:ext>
            </a:extLst>
          </p:cNvPr>
          <p:cNvSpPr txBox="1"/>
          <p:nvPr/>
        </p:nvSpPr>
        <p:spPr>
          <a:xfrm>
            <a:off x="1063051" y="2708852"/>
            <a:ext cx="274320" cy="15169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195A3BC-A722-B8D3-C198-53AE5D3E3565}"/>
              </a:ext>
            </a:extLst>
          </p:cNvPr>
          <p:cNvSpPr txBox="1"/>
          <p:nvPr/>
        </p:nvSpPr>
        <p:spPr>
          <a:xfrm>
            <a:off x="3814834" y="267281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76E99868-E317-C4AE-A1BF-BC307072B532}"/>
              </a:ext>
            </a:extLst>
          </p:cNvPr>
          <p:cNvSpPr txBox="1"/>
          <p:nvPr/>
        </p:nvSpPr>
        <p:spPr>
          <a:xfrm>
            <a:off x="5134820" y="3129074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cs typeface="ADLaM Display" panose="02010000000000000000" pitchFamily="2" charset="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B3CFE702-EDEE-D7A8-AFA6-FEA9FB0D8D6A}"/>
              </a:ext>
            </a:extLst>
          </p:cNvPr>
          <p:cNvSpPr txBox="1"/>
          <p:nvPr/>
        </p:nvSpPr>
        <p:spPr>
          <a:xfrm>
            <a:off x="3486684" y="293458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A1A9E3D8-FEFB-9502-8E4D-A6D614A086D0}"/>
              </a:ext>
            </a:extLst>
          </p:cNvPr>
          <p:cNvSpPr txBox="1"/>
          <p:nvPr/>
        </p:nvSpPr>
        <p:spPr>
          <a:xfrm>
            <a:off x="2411760" y="2950927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A9FA3D5-3297-7CAC-0890-A0F6C6F9DF4C}"/>
              </a:ext>
            </a:extLst>
          </p:cNvPr>
          <p:cNvSpPr txBox="1"/>
          <p:nvPr/>
        </p:nvSpPr>
        <p:spPr>
          <a:xfrm>
            <a:off x="1495099" y="4799273"/>
            <a:ext cx="177555" cy="327265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4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E12BE346-375E-10B1-22A8-83CF762B23EB}"/>
              </a:ext>
            </a:extLst>
          </p:cNvPr>
          <p:cNvSpPr txBox="1"/>
          <p:nvPr/>
        </p:nvSpPr>
        <p:spPr>
          <a:xfrm rot="10800000" flipV="1">
            <a:off x="432169" y="4370653"/>
            <a:ext cx="293061" cy="19799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2"/>
                </a:solidFill>
              </a:rPr>
              <a:t>T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1464EAC2-D478-CA92-3938-CEBF8264419A}"/>
              </a:ext>
            </a:extLst>
          </p:cNvPr>
          <p:cNvSpPr/>
          <p:nvPr/>
        </p:nvSpPr>
        <p:spPr>
          <a:xfrm>
            <a:off x="1071002" y="3115880"/>
            <a:ext cx="274320" cy="274320"/>
          </a:xfrm>
          <a:prstGeom prst="rect">
            <a:avLst/>
          </a:prstGeom>
          <a:solidFill>
            <a:srgbClr val="FFFF99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DD74189-366E-D52C-F1F4-B74D87F3A35F}"/>
              </a:ext>
            </a:extLst>
          </p:cNvPr>
          <p:cNvSpPr txBox="1"/>
          <p:nvPr/>
        </p:nvSpPr>
        <p:spPr>
          <a:xfrm>
            <a:off x="1495099" y="3140968"/>
            <a:ext cx="177555" cy="327265"/>
          </a:xfrm>
          <a:prstGeom prst="rect">
            <a:avLst/>
          </a:prstGeom>
          <a:noFill/>
          <a:ln w="15875">
            <a:solidFill>
              <a:srgbClr val="CCCC00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en-US" altLang="zh-TW" sz="1400" baseline="-250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B506782A-72B2-4533-0871-5F677CDAA0C2}"/>
              </a:ext>
            </a:extLst>
          </p:cNvPr>
          <p:cNvSpPr txBox="1"/>
          <p:nvPr/>
        </p:nvSpPr>
        <p:spPr>
          <a:xfrm>
            <a:off x="1927147" y="3140968"/>
            <a:ext cx="344205" cy="332274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FE4081CF-1D66-FBAB-46AB-5024F72C1814}"/>
              </a:ext>
            </a:extLst>
          </p:cNvPr>
          <p:cNvSpPr txBox="1"/>
          <p:nvPr/>
        </p:nvSpPr>
        <p:spPr>
          <a:xfrm>
            <a:off x="3537296" y="3142719"/>
            <a:ext cx="185072" cy="332275"/>
          </a:xfrm>
          <a:prstGeom prst="rect">
            <a:avLst/>
          </a:prstGeom>
          <a:solidFill>
            <a:srgbClr val="FFFF99">
              <a:alpha val="20000"/>
            </a:srgbClr>
          </a:solidFill>
          <a:ln w="15875">
            <a:solidFill>
              <a:srgbClr val="CCCC00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en-US" altLang="zh-TW" sz="1400" baseline="-250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1400" dirty="0">
              <a:solidFill>
                <a:srgbClr val="CC99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0FBF3738-40BA-F39F-7996-28CF65A119D0}"/>
              </a:ext>
            </a:extLst>
          </p:cNvPr>
          <p:cNvSpPr txBox="1"/>
          <p:nvPr/>
        </p:nvSpPr>
        <p:spPr>
          <a:xfrm>
            <a:off x="3782854" y="2867504"/>
            <a:ext cx="357022" cy="181879"/>
          </a:xfrm>
          <a:prstGeom prst="rect">
            <a:avLst/>
          </a:prstGeom>
          <a:solidFill>
            <a:srgbClr val="FFFF99">
              <a:alpha val="20000"/>
            </a:srgbClr>
          </a:solidFill>
          <a:ln w="15875">
            <a:solidFill>
              <a:srgbClr val="CCCC00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</a:t>
            </a:r>
            <a:r>
              <a:rPr lang="en-US" altLang="zh-TW" sz="1400" baseline="-250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rgbClr val="CC99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dirty="0">
                <a:solidFill>
                  <a:srgbClr val="CCCC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1400" dirty="0">
              <a:solidFill>
                <a:srgbClr val="CCCC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6DD1F5FD-F186-ED96-5355-8D3AE26590AD}"/>
              </a:ext>
            </a:extLst>
          </p:cNvPr>
          <p:cNvSpPr txBox="1"/>
          <p:nvPr/>
        </p:nvSpPr>
        <p:spPr>
          <a:xfrm>
            <a:off x="3782930" y="3129074"/>
            <a:ext cx="357022" cy="345920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C4CED358-97F1-D33E-C3D5-382F4329532D}"/>
              </a:ext>
            </a:extLst>
          </p:cNvPr>
          <p:cNvSpPr txBox="1"/>
          <p:nvPr/>
        </p:nvSpPr>
        <p:spPr>
          <a:xfrm>
            <a:off x="4422956" y="3153712"/>
            <a:ext cx="185072" cy="332275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4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en-US" altLang="zh-TW" sz="14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A59D5740-342D-F845-86F1-6C0184FC8447}"/>
              </a:ext>
            </a:extLst>
          </p:cNvPr>
          <p:cNvSpPr txBox="1"/>
          <p:nvPr/>
        </p:nvSpPr>
        <p:spPr>
          <a:xfrm>
            <a:off x="4681523" y="2887081"/>
            <a:ext cx="357022" cy="181879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4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zh-TW" altLang="en-US" sz="14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409DAFF2-53CF-64CB-68C4-7B27CBAADD4C}"/>
              </a:ext>
            </a:extLst>
          </p:cNvPr>
          <p:cNvSpPr txBox="1"/>
          <p:nvPr/>
        </p:nvSpPr>
        <p:spPr>
          <a:xfrm>
            <a:off x="4681523" y="3129074"/>
            <a:ext cx="357022" cy="356913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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F3075B2C-220A-D6F3-943F-2CB8142B4D0C}"/>
              </a:ext>
            </a:extLst>
          </p:cNvPr>
          <p:cNvSpPr txBox="1"/>
          <p:nvPr/>
        </p:nvSpPr>
        <p:spPr>
          <a:xfrm>
            <a:off x="4211960" y="315421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5E505ED6-0F0A-842B-CCAC-B855CE003B36}"/>
              </a:ext>
            </a:extLst>
          </p:cNvPr>
          <p:cNvSpPr txBox="1"/>
          <p:nvPr/>
        </p:nvSpPr>
        <p:spPr>
          <a:xfrm>
            <a:off x="3334620" y="3171929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FA68C0A8-9A0E-CB67-646E-672A56B9FD6E}"/>
              </a:ext>
            </a:extLst>
          </p:cNvPr>
          <p:cNvSpPr txBox="1"/>
          <p:nvPr/>
        </p:nvSpPr>
        <p:spPr>
          <a:xfrm>
            <a:off x="2777073" y="313359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9A25F905-5A07-8EB5-6506-57A0F73F9492}"/>
              </a:ext>
            </a:extLst>
          </p:cNvPr>
          <p:cNvSpPr txBox="1"/>
          <p:nvPr/>
        </p:nvSpPr>
        <p:spPr>
          <a:xfrm>
            <a:off x="2731929" y="3154680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1" name="文字方塊 160">
            <a:extLst>
              <a:ext uri="{FF2B5EF4-FFF2-40B4-BE49-F238E27FC236}">
                <a16:creationId xmlns:a16="http://schemas.microsoft.com/office/drawing/2014/main" id="{140C1FE9-75EA-32B8-CC95-4EF8F64B9D02}"/>
              </a:ext>
            </a:extLst>
          </p:cNvPr>
          <p:cNvSpPr txBox="1"/>
          <p:nvPr/>
        </p:nvSpPr>
        <p:spPr>
          <a:xfrm>
            <a:off x="2267744" y="3155285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E242CB8-C7A1-AEB3-2529-6D6259F86BEA}"/>
              </a:ext>
            </a:extLst>
          </p:cNvPr>
          <p:cNvSpPr txBox="1"/>
          <p:nvPr/>
        </p:nvSpPr>
        <p:spPr>
          <a:xfrm>
            <a:off x="4681523" y="267281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83DBD7C8-F32C-E5F0-3473-FE56B7E02041}"/>
              </a:ext>
            </a:extLst>
          </p:cNvPr>
          <p:cNvSpPr txBox="1"/>
          <p:nvPr/>
        </p:nvSpPr>
        <p:spPr>
          <a:xfrm>
            <a:off x="4360472" y="291949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67" name="文字方塊 166">
            <a:extLst>
              <a:ext uri="{FF2B5EF4-FFF2-40B4-BE49-F238E27FC236}">
                <a16:creationId xmlns:a16="http://schemas.microsoft.com/office/drawing/2014/main" id="{2B3E199E-882B-2130-A21F-BC7A7AAA4CED}"/>
              </a:ext>
            </a:extLst>
          </p:cNvPr>
          <p:cNvSpPr txBox="1"/>
          <p:nvPr/>
        </p:nvSpPr>
        <p:spPr>
          <a:xfrm>
            <a:off x="1948945" y="4103055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171" name="文字方塊 170">
            <a:extLst>
              <a:ext uri="{FF2B5EF4-FFF2-40B4-BE49-F238E27FC236}">
                <a16:creationId xmlns:a16="http://schemas.microsoft.com/office/drawing/2014/main" id="{5745419F-26A0-4A20-1E78-6A1C851E6A32}"/>
              </a:ext>
            </a:extLst>
          </p:cNvPr>
          <p:cNvSpPr txBox="1"/>
          <p:nvPr/>
        </p:nvSpPr>
        <p:spPr>
          <a:xfrm>
            <a:off x="1927146" y="4293096"/>
            <a:ext cx="344205" cy="332275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  <a:sym typeface="Symbol" panose="05050102010706020507" pitchFamily="18" charset="2"/>
              </a:rPr>
              <a:t>g</a:t>
            </a:r>
            <a:r>
              <a:rPr lang="en-US" altLang="zh-TW" sz="1400" baseline="-25000" dirty="0">
                <a:latin typeface="Cambria Math" panose="02040503050406030204" pitchFamily="18" charset="0"/>
                <a:ea typeface="Cambria Math" panose="02040503050406030204" pitchFamily="18" charset="0"/>
                <a:cs typeface="ADLaM Display" panose="02010000000000000000" pitchFamily="2" charset="0"/>
              </a:rPr>
              <a:t>t</a:t>
            </a:r>
            <a:endParaRPr lang="zh-TW" altLang="en-US" sz="1400" baseline="-25000" dirty="0">
              <a:latin typeface="Cambria Math" panose="02040503050406030204" pitchFamily="18" charset="0"/>
              <a:cs typeface="ADLaM Display" panose="02010000000000000000" pitchFamily="2" charset="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500BC3F6-3FE7-6DD0-5E82-338FC579C6C6}"/>
              </a:ext>
            </a:extLst>
          </p:cNvPr>
          <p:cNvSpPr txBox="1"/>
          <p:nvPr/>
        </p:nvSpPr>
        <p:spPr>
          <a:xfrm>
            <a:off x="3290776" y="4289731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4C89D327-370B-3D07-B40C-DC990840EC06}"/>
              </a:ext>
            </a:extLst>
          </p:cNvPr>
          <p:cNvSpPr txBox="1"/>
          <p:nvPr/>
        </p:nvSpPr>
        <p:spPr>
          <a:xfrm>
            <a:off x="2742881" y="4318062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7E5568F-BEAB-3160-1D7B-2033EC4341E0}"/>
              </a:ext>
            </a:extLst>
          </p:cNvPr>
          <p:cNvSpPr txBox="1"/>
          <p:nvPr/>
        </p:nvSpPr>
        <p:spPr>
          <a:xfrm>
            <a:off x="2262675" y="4318062"/>
            <a:ext cx="100927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·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FA25D72A-FB7A-9732-E39C-1F37EBB3D1EE}"/>
              </a:ext>
            </a:extLst>
          </p:cNvPr>
          <p:cNvSpPr/>
          <p:nvPr/>
        </p:nvSpPr>
        <p:spPr>
          <a:xfrm>
            <a:off x="5050319" y="3857159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HP</a:t>
            </a: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61D6CD9E-15D9-0CEE-0139-4AE30A8A2272}"/>
              </a:ext>
            </a:extLst>
          </p:cNvPr>
          <p:cNvSpPr txBox="1"/>
          <p:nvPr/>
        </p:nvSpPr>
        <p:spPr>
          <a:xfrm>
            <a:off x="5230968" y="377876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0F39EEE-F8C2-B804-764A-5CAFA7278530}"/>
              </a:ext>
            </a:extLst>
          </p:cNvPr>
          <p:cNvSpPr/>
          <p:nvPr/>
        </p:nvSpPr>
        <p:spPr>
          <a:xfrm>
            <a:off x="251520" y="4640653"/>
            <a:ext cx="648072" cy="1344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0ADCC58-1CBA-1F13-4E6E-3F625550B49D}"/>
              </a:ext>
            </a:extLst>
          </p:cNvPr>
          <p:cNvSpPr/>
          <p:nvPr/>
        </p:nvSpPr>
        <p:spPr>
          <a:xfrm>
            <a:off x="5048626" y="4499023"/>
            <a:ext cx="648072" cy="340750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50000"/>
                <a:alpha val="6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C078B58-75A3-191C-0650-C2BB9CA617E2}"/>
              </a:ext>
            </a:extLst>
          </p:cNvPr>
          <p:cNvSpPr txBox="1"/>
          <p:nvPr/>
        </p:nvSpPr>
        <p:spPr>
          <a:xfrm rot="10800000" flipV="1">
            <a:off x="5229275" y="4372861"/>
            <a:ext cx="293061" cy="19799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*d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3A064A5-4F43-62BE-ADAE-6E91CD4FF24F}"/>
              </a:ext>
            </a:extLst>
          </p:cNvPr>
          <p:cNvSpPr/>
          <p:nvPr/>
        </p:nvSpPr>
        <p:spPr>
          <a:xfrm>
            <a:off x="5048626" y="4642861"/>
            <a:ext cx="648072" cy="1344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O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EBE7E3C0-F172-28FD-6578-4251A98A232C}"/>
              </a:ext>
            </a:extLst>
          </p:cNvPr>
          <p:cNvSpPr txBox="1"/>
          <p:nvPr/>
        </p:nvSpPr>
        <p:spPr>
          <a:xfrm>
            <a:off x="1942930" y="2950927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31388495-61C9-1925-BAC1-A83CD04D69C9}"/>
              </a:ext>
            </a:extLst>
          </p:cNvPr>
          <p:cNvSpPr/>
          <p:nvPr/>
        </p:nvSpPr>
        <p:spPr>
          <a:xfrm>
            <a:off x="2367768" y="3140968"/>
            <a:ext cx="344205" cy="34632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D6C8BA79-999B-4A3D-39DF-70F5414F9A1A}"/>
              </a:ext>
            </a:extLst>
          </p:cNvPr>
          <p:cNvSpPr txBox="1"/>
          <p:nvPr/>
        </p:nvSpPr>
        <p:spPr>
          <a:xfrm>
            <a:off x="2843808" y="4298106"/>
            <a:ext cx="183798" cy="341319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4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7C104D98-C13F-8B05-7523-47E337C19877}"/>
              </a:ext>
            </a:extLst>
          </p:cNvPr>
          <p:cNvSpPr txBox="1"/>
          <p:nvPr/>
        </p:nvSpPr>
        <p:spPr>
          <a:xfrm>
            <a:off x="2931651" y="3140968"/>
            <a:ext cx="344205" cy="332274"/>
          </a:xfrm>
          <a:prstGeom prst="rect">
            <a:avLst/>
          </a:prstGeom>
          <a:noFill/>
          <a:ln w="19050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A1F5B19-8D60-6BCA-9A92-3907375C073C}"/>
              </a:ext>
            </a:extLst>
          </p:cNvPr>
          <p:cNvSpPr txBox="1"/>
          <p:nvPr/>
        </p:nvSpPr>
        <p:spPr>
          <a:xfrm>
            <a:off x="4126708" y="3143493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zh-TW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115773A8-77E5-9030-62CB-955E7EC01645}"/>
              </a:ext>
            </a:extLst>
          </p:cNvPr>
          <p:cNvSpPr/>
          <p:nvPr/>
        </p:nvSpPr>
        <p:spPr>
          <a:xfrm>
            <a:off x="5352493" y="3135691"/>
            <a:ext cx="344205" cy="34632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41CF782-57A3-C3EF-5F64-D2410664675E}"/>
              </a:ext>
            </a:extLst>
          </p:cNvPr>
          <p:cNvSpPr/>
          <p:nvPr/>
        </p:nvSpPr>
        <p:spPr>
          <a:xfrm>
            <a:off x="2375585" y="4293096"/>
            <a:ext cx="344205" cy="341319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905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kumimoji="0" lang="en-US" altLang="zh-TW" sz="1400" b="0" i="0" u="none" strike="noStrike" kern="1200" cap="none" spc="0" normalizeH="0" baseline="-25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kumimoji="0" lang="zh-TW" altLang="en-US" sz="1400" b="0" i="0" u="none" strike="noStrike" kern="1200" cap="none" spc="0" normalizeH="0" baseline="-25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AE0AD605-CA43-872A-F7F5-4F061682C657}"/>
              </a:ext>
            </a:extLst>
          </p:cNvPr>
          <p:cNvSpPr/>
          <p:nvPr/>
        </p:nvSpPr>
        <p:spPr>
          <a:xfrm>
            <a:off x="3347864" y="4299826"/>
            <a:ext cx="177555" cy="34075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O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B6539CD8-0DCD-8B9A-96AC-F5A628793B9E}"/>
              </a:ext>
            </a:extLst>
          </p:cNvPr>
          <p:cNvSpPr txBox="1"/>
          <p:nvPr/>
        </p:nvSpPr>
        <p:spPr>
          <a:xfrm>
            <a:off x="3131840" y="4284847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E3160559-E6C9-7D94-1060-C2D9B2128C64}"/>
              </a:ext>
            </a:extLst>
          </p:cNvPr>
          <p:cNvSpPr txBox="1"/>
          <p:nvPr/>
        </p:nvSpPr>
        <p:spPr>
          <a:xfrm>
            <a:off x="4311180" y="4383028"/>
            <a:ext cx="684705" cy="28416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Iteration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from 1 to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TW" sz="1200" b="1" dirty="0">
                <a:solidFill>
                  <a:srgbClr val="FF0000"/>
                </a:solidFill>
              </a:rPr>
              <a:t>T</a:t>
            </a:r>
            <a:r>
              <a:rPr lang="en-US" altLang="zh-TW" sz="1200" dirty="0">
                <a:solidFill>
                  <a:schemeClr val="accent2"/>
                </a:solidFill>
              </a:rPr>
              <a:t> </a:t>
            </a:r>
            <a:endParaRPr lang="zh-TW" altLang="en-US" sz="1200" dirty="0">
              <a:solidFill>
                <a:schemeClr val="accent2"/>
              </a:solidFill>
            </a:endParaRPr>
          </a:p>
        </p:txBody>
      </p:sp>
      <p:sp>
        <p:nvSpPr>
          <p:cNvPr id="104" name="標題 1">
            <a:extLst>
              <a:ext uri="{FF2B5EF4-FFF2-40B4-BE49-F238E27FC236}">
                <a16:creationId xmlns:a16="http://schemas.microsoft.com/office/drawing/2014/main" id="{32F65458-82D7-D013-A23F-0790FA75379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GDN(Delta Rule) KDA(Channel-wise) GND2(Decoupled Intensity) EDA(Decoupled Addresses)</a:t>
            </a:r>
          </a:p>
        </p:txBody>
      </p:sp>
    </p:spTree>
    <p:extLst>
      <p:ext uri="{BB962C8B-B14F-4D97-AF65-F5344CB8AC3E}">
        <p14:creationId xmlns:p14="http://schemas.microsoft.com/office/powerpoint/2010/main" val="230029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7BEDA60-6B1C-859C-DD10-ADC54BBDF626}"/>
              </a:ext>
            </a:extLst>
          </p:cNvPr>
          <p:cNvSpPr txBox="1"/>
          <p:nvPr/>
        </p:nvSpPr>
        <p:spPr>
          <a:xfrm>
            <a:off x="287523" y="980728"/>
            <a:ext cx="835168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KDA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(2025.10)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Gated MLA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CD9D972-0E87-11D8-6CCA-7E36C37F8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2171358"/>
            <a:ext cx="3928769" cy="100634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C8C8A99-36EA-6D05-C955-3C1042A67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33" y="3445371"/>
            <a:ext cx="4748778" cy="1501939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431161-30AA-2373-11F7-4229E8B4CC2B}"/>
              </a:ext>
            </a:extLst>
          </p:cNvPr>
          <p:cNvSpPr txBox="1"/>
          <p:nvPr/>
        </p:nvSpPr>
        <p:spPr>
          <a:xfrm>
            <a:off x="4067210" y="5085184"/>
            <a:ext cx="4572000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350" b="1" u="none" strike="noStrike" dirty="0">
                <a:effectLst/>
                <a:latin typeface="Google Sans"/>
              </a:rPr>
              <a:t>GDN 的痛點：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因為 \(\alpha _{t}\) 是一個純量，它與整個矩陣相乘時，</a:t>
            </a:r>
            <a:r>
              <a:rPr lang="zh-TW" altLang="zh-TW" sz="1200" b="1" u="none" strike="noStrike" dirty="0">
                <a:effectLst/>
                <a:latin typeface="Google Sans"/>
              </a:rPr>
              <a:t>等同於讓該注意力頭（Head）內的所有通道（Channels / 特徵維度）以完全相同的速度衰減</a:t>
            </a:r>
            <a:r>
              <a:rPr lang="zh-TW" altLang="zh-TW" sz="1200" b="0" u="none" strike="noStrike" dirty="0">
                <a:effectLst/>
                <a:latin typeface="Google Sans"/>
              </a:rPr>
              <a:t>。模型無法做到「有些特徵需要長久記憶、有些特徵可以快速忘記」的細粒度控制。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C4D344F2-CD82-F94C-5814-6D5BB9DC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244076"/>
            <a:ext cx="3999731" cy="1177309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1F9B6543-A053-ECFA-3FA4-1F2654C85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680297"/>
            <a:ext cx="4628962" cy="126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224B-D8AA-1D9C-BF65-B35BD87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7CCB39C-DFAD-9BC5-B593-19C3ECEDB7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4B2C0E-7F3C-155A-7876-071172E5D492}"/>
              </a:ext>
            </a:extLst>
          </p:cNvPr>
          <p:cNvSpPr txBox="1"/>
          <p:nvPr/>
        </p:nvSpPr>
        <p:spPr>
          <a:xfrm>
            <a:off x="287524" y="980728"/>
            <a:ext cx="58686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Remember</a:t>
            </a:r>
            <a:r>
              <a:rPr lang="en-US" altLang="zh-TW" sz="1600" dirty="0"/>
              <a:t>: ..M.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Memory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Prediction</a:t>
            </a:r>
            <a:r>
              <a:rPr lang="en-US" altLang="zh-TW" sz="1600" dirty="0"/>
              <a:t>: ...Combine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B583711-98AF-84F5-8544-F1F62F881A13}"/>
              </a:ext>
            </a:extLst>
          </p:cNvPr>
          <p:cNvSpPr txBox="1"/>
          <p:nvPr/>
        </p:nvSpPr>
        <p:spPr>
          <a:xfrm>
            <a:off x="4139952" y="1196752"/>
            <a:ext cx="1944216" cy="5040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State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Xt</a:t>
            </a:r>
            <a:r>
              <a:rPr lang="en-US" altLang="zh-TW" sz="1200" b="1" dirty="0"/>
              <a:t> = f(xt-1,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*Observation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= </a:t>
            </a:r>
            <a:r>
              <a:rPr lang="en-US" altLang="zh-TW" sz="1200" b="1" dirty="0" err="1"/>
              <a:t>cxt+Dut+Vt</a:t>
            </a: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 = g(xt-1,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668559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SSM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3430</Words>
  <Application>Microsoft Office PowerPoint</Application>
  <PresentationFormat>如螢幕大小 (4:3)</PresentationFormat>
  <Paragraphs>877</Paragraphs>
  <Slides>15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11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7" baseType="lpstr">
      <vt:lpstr>Google Sans</vt:lpstr>
      <vt:lpstr>HGGothicE</vt:lpstr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2071</cp:revision>
  <cp:lastPrinted>2024-07-30T01:44:15Z</cp:lastPrinted>
  <dcterms:created xsi:type="dcterms:W3CDTF">2019-11-08T03:01:47Z</dcterms:created>
  <dcterms:modified xsi:type="dcterms:W3CDTF">2026-10-26T11:43:41Z</dcterms:modified>
</cp:coreProperties>
</file>