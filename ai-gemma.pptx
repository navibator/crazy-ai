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509" r:id="rId8"/>
    <p:sldId id="3475" r:id="rId9"/>
    <p:sldId id="3470" r:id="rId10"/>
    <p:sldId id="3465" r:id="rId11"/>
    <p:sldId id="3515" r:id="rId12"/>
    <p:sldId id="3512" r:id="rId13"/>
    <p:sldId id="3508" r:id="rId14"/>
    <p:sldId id="3505" r:id="rId15"/>
    <p:sldId id="3514" r:id="rId16"/>
    <p:sldId id="3482" r:id="rId17"/>
    <p:sldId id="3510" r:id="rId18"/>
    <p:sldId id="3489" r:id="rId19"/>
    <p:sldId id="3495" r:id="rId20"/>
    <p:sldId id="3503" r:id="rId21"/>
    <p:sldId id="3460" r:id="rId22"/>
    <p:sldId id="3504" r:id="rId23"/>
    <p:sldId id="257" r:id="rId24"/>
    <p:sldId id="265" r:id="rId25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2"/>
            <p14:sldId id="3499"/>
            <p14:sldId id="3444"/>
            <p14:sldId id="3493"/>
            <p14:sldId id="3509"/>
            <p14:sldId id="3475"/>
          </p14:sldIdLst>
        </p14:section>
        <p14:section name="Gemma" id="{5A048767-0D58-44AF-B962-12C29493294F}">
          <p14:sldIdLst>
            <p14:sldId id="3470"/>
            <p14:sldId id="3465"/>
            <p14:sldId id="3515"/>
            <p14:sldId id="3512"/>
            <p14:sldId id="3508"/>
            <p14:sldId id="3505"/>
            <p14:sldId id="3514"/>
            <p14:sldId id="3482"/>
            <p14:sldId id="3510"/>
            <p14:sldId id="3489"/>
          </p14:sldIdLst>
        </p14:section>
        <p14:section name="Conclusion" id="{69C35067-BEF2-4B7C-9B54-B6977EB05C72}">
          <p14:sldIdLst>
            <p14:sldId id="3495"/>
            <p14:sldId id="3503"/>
            <p14:sldId id="3460"/>
            <p14:sldId id="3504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C0AB"/>
    <a:srgbClr val="F3E4DB"/>
    <a:srgbClr val="FFCC99"/>
    <a:srgbClr val="FF0000"/>
    <a:srgbClr val="CBDCA8"/>
    <a:srgbClr val="C5D8A0"/>
    <a:srgbClr val="CCFF66"/>
    <a:srgbClr val="DBFF94"/>
    <a:srgbClr val="DCE6F2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727" autoAdjust="0"/>
    <p:restoredTop sz="80529" autoAdjust="0"/>
  </p:normalViewPr>
  <p:slideViewPr>
    <p:cSldViewPr>
      <p:cViewPr>
        <p:scale>
          <a:sx n="100" d="100"/>
          <a:sy n="100" d="100"/>
        </p:scale>
        <p:origin x="768" y="59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2026/7/14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2026/7/14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B9EE7-D198-3E86-7261-1EC23BEE6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AE37E5C-0304-42CA-3A77-EACC25DBD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E296902-1C32-C9C1-23F9-AA0A460A7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FAAD4B-36D3-89B7-CA5D-20CDFA5076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72261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7C430-FB32-5602-3DB0-5E8B5F79D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B763E16-AD96-B65B-01CE-46AB664453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75913C2-1FFD-6EC2-6E74-DAE194F03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本頁亮點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Optimizer, Quantization-Aware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SGD (Stochastic Gradient Descent)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：記憶體佔用極低。除了模型參數本身，只需要額外儲存 1 份動量（Momentum）數據。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：如果各參數的梯度尺度差異很大（例如 LLM 這種巨型網絡），固定學習率很難收斂，調參非常痛苦。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Standard Adam (Adaptive Moment Estimation)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：為每個參數精準調整步長，收斂速度極快。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：在加入 L2 正規化（Weight Decay）時，其數學公式會把權重衰減與梯度放在一起計算，導致權重並未如預期般衰減，容易過擬合。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AdamW (Adam with Weight Decoupled)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：完美解決了 Adam 的 L2 正規化問題。它將權重衰減的步驟獨立出來，既保留了 Adam 快速收斂的特性，又大幅提升了模型的泛化能力（Generalization）。目前 95% 以上的 LLM（如 LLaMA, GPT 系列）預訓練預設都用它。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：非常吃顯存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。除了模型參數，它還必須在顯存中常駐一階矩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這往往是顯存爆炸的主因。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Paged AdamW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：數學邏輯與 AdamW 完全相同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但它允許 GPU 在顯存不夠時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把 AdamW 的優化器狀態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暫時換出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Page-out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到電腦的系統記憶體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：因為資料需要透過 PCIe 總線在 GPU 和 CPU 之間來回搬運，訓練速度會比原生 AdamW 慢 10% ~ 30% 不等。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92FE20-B45B-F4FE-5FF4-77187FF08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032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35A63-1F05-BE35-5E13-B3A3999C6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46AC000-B44B-7302-0955-04C9F17651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1B94F7D-E714-7BBA-99A5-DED233F44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SGD (Stochastic Gradient Descent)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：記憶體佔用極低。除了模型參數本身，只需要額外儲存 1 份動量（Momentum）數據。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：如果各參數的梯度尺度差異很大（例如 LLM 這種巨型網絡），固定學習率很難收斂，調參非常痛苦。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Standard Adam (Adaptive Moment Estimation)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：為每個參數精準調整步長，收斂速度極快。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：在加入 L2 正規化（Weight Decay）時，其數學公式會把權重衰減與梯度放在一起計算，導致權重並未如預期般衰減，容易過擬合。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AdamW (Adam with Weight Decoupled)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：完美解決了 Adam 的 L2 正規化問題。它將權重衰減的步驟獨立出來，既保留了 Adam 快速收斂的特性，又大幅提升了模型的泛化能力（Generalization）。目前 95% 以上的 LLM（如 LLaMA, GPT 系列）預訓練預設都用它。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：非常吃顯存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。除了模型參數，它還必須在顯存中常駐一階矩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這往往是顯存爆炸的主因。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Paged AdamW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：數學邏輯與 AdamW 完全相同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但它允許 GPU 在顯存不夠時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把 AdamW 的優化器狀態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暫時換出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Page-out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到電腦的系統記憶體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：因為資料需要透過 PCIe 總線在 GPU 和 CPU 之間來回搬運，訓練速度會比原生 AdamW 慢 10% ~ 30% 不等。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12914AF-2576-0CFB-E0DF-B86101C5A9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1781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54F47-EB16-CF9A-FCFF-DF2AD4D51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C17BE60-1458-7CB6-6A3B-0C2306A6A3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3776AC-C5C8-7B6F-7DF3-8766D0147A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F1D1C7-02E8-655A-2FFA-6E583B237D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39955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797C2-856D-7C78-822E-DA2B9845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01D36F-2A90-C039-12E9-94ACB21359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D287985-DD70-EAFB-BA76-359D9B2CA1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B8C7DA-B5D4-A1F6-335B-4A2BE3F7BA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92126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Trainium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/>
              <a:t>Trainium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 5 大核心模型能力維度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邏輯與推理能力 (Reasoning &amp; Math)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這是區分「頂級模型」與「一般模型」的關鍵試金石。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：數學多步驟計算、程式碼編寫與 Debug、邏輯悖論破解。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GSM8K / MATH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：評估小學到高中程度的數學應用題解答能力。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：測試模型編寫 Python 程式碼的正確率。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語言理解與知識儲存 (Knowledge &amp; Language)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評估模型在文史、科學、醫學等各領域知識的廣度，以及對複雜語意的理解。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：多選題測試、長文字摘要、隱喻與幽默感理解。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：跨越人文、社科、硬科學等幾十個學科的綜合測試（目前最指標性的綜合評測）。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指令遵循與結構化輸出 (Instruction Following)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在將模型導入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Flow 工作流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時，這項能力最為關鍵。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：能否嚴格遵守字數限制、格式限制（例如：只輸出 JSON，不要講廢話）、多重條件過濾。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：嚴格測試模型對於「第 1 段必須以 A 開頭、總字數小於 400 字」這類格式指令的遵循率。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長文本處理與上下文檢索 (Long-Context &amp; Retrieval)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測試模型在處理數萬字甚至百萬字資料時，是否會「忘東忘西」。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：長篇合約審查、長書摘要、大海撈針測試。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Needle In A Haystack (NIAH)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：將一句無關緊要的話（針）藏在數十萬字的文本（大海）中，測試模型能否精準抓出。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對齊與安全性 (Alignment &amp; Safety)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評估模型是否符合人類價值觀，以及對惡意引導（Jailbreak）的防禦力。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：拒絕回答有害問題（如炸彈製作）、不產生偏見、降低幻覺機率。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TruthfulQA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：測試模型回答是否真實，而非順著人類的迷思或謠言瞎編。</a:t>
            </a:r>
          </a:p>
          <a:p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二、 2 大實務工程指標（落地必看）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除了上述大腦能力的測試，實務上部署時還必須評估以下兩點：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吞吐量與延遲 (Throughput &amp; Latency)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TTFT (Time to First Token)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：模型吐出第一個字的速度（越快用戶體驗越好）。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TPS (Tokens Per Second)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：每秒能生成多少個字（攸關整體流程執行的速度）。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成本與性價比 (Cost Efficiency)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每百萬 Token 的輸入/輸出費用。例如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R1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各家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Flash 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常以極低的成本提供逼近旗艦模型的效能。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49000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eXchange).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svg"/><Relationship Id="rId5" Type="http://schemas.openxmlformats.org/officeDocument/2006/relationships/image" Target="../media/image25.svg"/><Relationship Id="rId4" Type="http://schemas.openxmlformats.org/officeDocument/2006/relationships/image" Target="../media/image24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7" Type="http://schemas.openxmlformats.org/officeDocument/2006/relationships/image" Target="../media/image32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svg"/><Relationship Id="rId5" Type="http://schemas.openxmlformats.org/officeDocument/2006/relationships/image" Target="../media/image30.svg"/><Relationship Id="rId4" Type="http://schemas.openxmlformats.org/officeDocument/2006/relationships/image" Target="../media/image29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5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png"/><Relationship Id="rId5" Type="http://schemas.openxmlformats.org/officeDocument/2006/relationships/image" Target="../media/image23.png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120676"/>
            <a:ext cx="7452828" cy="452431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(Environment of AI Agent, SLM, LLM, RAG and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Context Protocol)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(Retrieval Augmented Generation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SLM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(Small Language Model)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Trend</a:t>
            </a:r>
            <a:r>
              <a: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Analysis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(Edge AI)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Cloud: Gemini 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➔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Edge AI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Gemma 4 Family was born for Edge AI!)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Fine-Tuning: PEFT)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QAD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(Quantization-Aware Distillation)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PEFT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(LoRA, QLoRA, 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DoRA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Leading Frameworks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to evaluate the performance of model?)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5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2" dur="20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393876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Executing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727229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524583" y="3003260"/>
            <a:ext cx="633503" cy="1954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“$50“</a:t>
            </a: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621121"/>
              </p:ext>
            </p:extLst>
          </p:nvPr>
        </p:nvGraphicFramePr>
        <p:xfrm>
          <a:off x="6444208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2B812E67-743B-F13D-2FC6-D1A10ED6204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6516216" y="4751084"/>
            <a:ext cx="406453" cy="382591"/>
          </a:xfrm>
          <a:prstGeom prst="rect">
            <a:avLst/>
          </a:prstGeom>
          <a:effectLst>
            <a:glow rad="25400">
              <a:schemeClr val="accent4">
                <a:lumMod val="60000"/>
                <a:lumOff val="40000"/>
                <a:alpha val="40000"/>
              </a:schemeClr>
            </a:glow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Small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Environment is subject to SLM, SFT Framework, Agents and  AI Orchestrator. 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1F029804-8A4D-A1F0-D8D0-ECDF117CA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601315"/>
              </p:ext>
            </p:extLst>
          </p:nvPr>
        </p:nvGraphicFramePr>
        <p:xfrm>
          <a:off x="4067942" y="1868362"/>
          <a:ext cx="2160242" cy="803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503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2882">
                  <a:extLst>
                    <a:ext uri="{9D8B030D-6E8A-4147-A177-3AD203B41FA5}">
                      <a16:colId xmlns:a16="http://schemas.microsoft.com/office/drawing/2014/main" val="1426263881"/>
                    </a:ext>
                  </a:extLst>
                </a:gridCol>
                <a:gridCol w="438197">
                  <a:extLst>
                    <a:ext uri="{9D8B030D-6E8A-4147-A177-3AD203B41FA5}">
                      <a16:colId xmlns:a16="http://schemas.microsoft.com/office/drawing/2014/main" val="1549907192"/>
                    </a:ext>
                  </a:extLst>
                </a:gridCol>
                <a:gridCol w="619864">
                  <a:extLst>
                    <a:ext uri="{9D8B030D-6E8A-4147-A177-3AD203B41FA5}">
                      <a16:colId xmlns:a16="http://schemas.microsoft.com/office/drawing/2014/main" val="213987254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36054194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187249035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8804775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3091919611"/>
                    </a:ext>
                  </a:extLst>
                </a:gridCol>
              </a:tblGrid>
              <a:tr h="432047"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714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Claw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55FA761B-B1C0-6E26-1F64-397B4281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258317"/>
              </p:ext>
            </p:extLst>
          </p:nvPr>
        </p:nvGraphicFramePr>
        <p:xfrm>
          <a:off x="6752510" y="1868362"/>
          <a:ext cx="1733619" cy="752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361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Orchestrator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LangGraph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Dify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n8n, Zapier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pic>
        <p:nvPicPr>
          <p:cNvPr id="31" name="圖片 30">
            <a:extLst>
              <a:ext uri="{FF2B5EF4-FFF2-40B4-BE49-F238E27FC236}">
                <a16:creationId xmlns:a16="http://schemas.microsoft.com/office/drawing/2014/main" id="{A9399B61-E00C-FA21-7965-FEFD7381A6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6818" y="136956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F4258470-55CC-CEEB-1BAA-592F11ADCF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963" y="136956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73E7E98-C231-18BC-581C-CBCCC80F73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1873" y="1475823"/>
            <a:ext cx="634319" cy="334586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1C2A8E9-389D-2F9D-3C7D-8D935635C3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3216" y="1525480"/>
            <a:ext cx="781627" cy="235272"/>
          </a:xfrm>
          <a:prstGeom prst="rect">
            <a:avLst/>
          </a:prstGeom>
        </p:spPr>
      </p:pic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10FCA04-BC42-C146-9ED5-553692E1CEB3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439D466C-08F0-8E9C-AC89-EAFD529E20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5869" y="1475823"/>
            <a:ext cx="360260" cy="334586"/>
          </a:xfrm>
          <a:prstGeom prst="rect">
            <a:avLst/>
          </a:prstGeom>
        </p:spPr>
      </p:pic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07582075-B8F6-F21C-A8E2-79D5FC457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1351392"/>
              </p:ext>
            </p:extLst>
          </p:nvPr>
        </p:nvGraphicFramePr>
        <p:xfrm>
          <a:off x="971600" y="1944250"/>
          <a:ext cx="1261264" cy="28049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264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80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6779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810333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5996678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995690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4630837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6415898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478787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Torchtune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311677"/>
                  </a:ext>
                </a:extLst>
              </a:tr>
            </a:tbl>
          </a:graphicData>
        </a:graphic>
      </p:graphicFrame>
      <p:sp>
        <p:nvSpPr>
          <p:cNvPr id="24" name="文字方塊 23">
            <a:extLst>
              <a:ext uri="{FF2B5EF4-FFF2-40B4-BE49-F238E27FC236}">
                <a16:creationId xmlns:a16="http://schemas.microsoft.com/office/drawing/2014/main" id="{69C780C3-624C-359F-C75B-6C9EAFC58A69}"/>
              </a:ext>
            </a:extLst>
          </p:cNvPr>
          <p:cNvSpPr txBox="1"/>
          <p:nvPr/>
        </p:nvSpPr>
        <p:spPr>
          <a:xfrm>
            <a:off x="213023" y="504801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Buildup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Infra</a:t>
            </a:r>
            <a:r>
              <a:rPr lang="en-US" altLang="zh-TW" sz="1600" b="1" dirty="0"/>
              <a:t>structure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b="0" u="none" strike="noStrike" dirty="0">
                <a:effectLst/>
              </a:rPr>
              <a:t>GPU, </a:t>
            </a:r>
            <a:r>
              <a:rPr lang="en-US" altLang="zh-TW" sz="1600" dirty="0"/>
              <a:t>Python, and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base model </a:t>
            </a:r>
            <a:r>
              <a:rPr lang="en-US" altLang="zh-TW" sz="1600" dirty="0"/>
              <a:t>(GGUF) deployment by </a:t>
            </a:r>
            <a:r>
              <a:rPr lang="en-US" altLang="zh-TW" sz="1600" dirty="0" err="1"/>
              <a:t>Ollama</a:t>
            </a:r>
            <a:r>
              <a:rPr lang="en-US" altLang="zh-TW" sz="1600" dirty="0"/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Design Architecture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Agent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orchestrator</a:t>
            </a:r>
            <a:r>
              <a:rPr lang="en-US" altLang="zh-TW" sz="1600" dirty="0"/>
              <a:t> and some AI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agents</a:t>
            </a:r>
            <a:r>
              <a:rPr lang="en-US" altLang="zh-TW" sz="1600" dirty="0"/>
              <a:t>. (Open Claw / Hermes) 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Fine-Tuning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Run SFT.py to update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QLoRA</a:t>
            </a:r>
            <a:r>
              <a:rPr lang="en-US" altLang="zh-TW" sz="1600" dirty="0"/>
              <a:t> adapter weights, then save merged model into GGUF. </a:t>
            </a: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5AAAC09-6243-904E-B0BB-2CB1EB349C59}"/>
              </a:ext>
            </a:extLst>
          </p:cNvPr>
          <p:cNvSpPr/>
          <p:nvPr/>
        </p:nvSpPr>
        <p:spPr>
          <a:xfrm>
            <a:off x="2507393" y="3770564"/>
            <a:ext cx="815380" cy="400306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 w="254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Training</a:t>
            </a:r>
          </a:p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Framework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10B9AE8-D1E6-4B56-BE7C-1436B062E89F}"/>
              </a:ext>
            </a:extLst>
          </p:cNvPr>
          <p:cNvSpPr txBox="1"/>
          <p:nvPr/>
        </p:nvSpPr>
        <p:spPr>
          <a:xfrm>
            <a:off x="2507393" y="2996952"/>
            <a:ext cx="805937" cy="377045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(.GGUF)</a:t>
            </a:r>
          </a:p>
        </p:txBody>
      </p:sp>
      <p:sp>
        <p:nvSpPr>
          <p:cNvPr id="32" name="圖說文字: 直線 31">
            <a:extLst>
              <a:ext uri="{FF2B5EF4-FFF2-40B4-BE49-F238E27FC236}">
                <a16:creationId xmlns:a16="http://schemas.microsoft.com/office/drawing/2014/main" id="{C3636D81-AB12-A99A-6E5A-1F225035C3F1}"/>
              </a:ext>
            </a:extLst>
          </p:cNvPr>
          <p:cNvSpPr/>
          <p:nvPr/>
        </p:nvSpPr>
        <p:spPr>
          <a:xfrm flipH="1">
            <a:off x="6661889" y="1369566"/>
            <a:ext cx="1930538" cy="1355955"/>
          </a:xfrm>
          <a:prstGeom prst="borderCallout1">
            <a:avLst>
              <a:gd name="adj1" fmla="val 52923"/>
              <a:gd name="adj2" fmla="val 96722"/>
              <a:gd name="adj3" fmla="val 52799"/>
              <a:gd name="adj4" fmla="val 131288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cxnSp>
        <p:nvCxnSpPr>
          <p:cNvPr id="34" name="直線單箭頭接點 33">
            <a:extLst>
              <a:ext uri="{FF2B5EF4-FFF2-40B4-BE49-F238E27FC236}">
                <a16:creationId xmlns:a16="http://schemas.microsoft.com/office/drawing/2014/main" id="{65AA6843-DD4C-3853-E9EF-7E01BFE82BFB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3313330" y="3185474"/>
            <a:ext cx="753434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單箭頭接點 40">
            <a:extLst>
              <a:ext uri="{FF2B5EF4-FFF2-40B4-BE49-F238E27FC236}">
                <a16:creationId xmlns:a16="http://schemas.microsoft.com/office/drawing/2014/main" id="{50D3B039-32B3-41BE-226C-8D772D82279A}"/>
              </a:ext>
            </a:extLst>
          </p:cNvPr>
          <p:cNvCxnSpPr>
            <a:cxnSpLocks/>
            <a:stCxn id="25" idx="0"/>
            <a:endCxn id="29" idx="2"/>
          </p:cNvCxnSpPr>
          <p:nvPr/>
        </p:nvCxnSpPr>
        <p:spPr>
          <a:xfrm flipH="1" flipV="1">
            <a:off x="2910362" y="3373997"/>
            <a:ext cx="4721" cy="396567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圖說文字: 直線 44">
            <a:extLst>
              <a:ext uri="{FF2B5EF4-FFF2-40B4-BE49-F238E27FC236}">
                <a16:creationId xmlns:a16="http://schemas.microsoft.com/office/drawing/2014/main" id="{65E28DCF-B83B-ACA4-72D7-450129FDDF62}"/>
              </a:ext>
            </a:extLst>
          </p:cNvPr>
          <p:cNvSpPr/>
          <p:nvPr/>
        </p:nvSpPr>
        <p:spPr>
          <a:xfrm flipH="1">
            <a:off x="899592" y="1873860"/>
            <a:ext cx="1381609" cy="2923292"/>
          </a:xfrm>
          <a:prstGeom prst="borderCallout1">
            <a:avLst>
              <a:gd name="adj1" fmla="val 57186"/>
              <a:gd name="adj2" fmla="val 19046"/>
              <a:gd name="adj3" fmla="val 57222"/>
              <a:gd name="adj4" fmla="val -15534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D4098A93-C42F-CCFC-ED41-D7918E93E7E9}"/>
              </a:ext>
            </a:extLst>
          </p:cNvPr>
          <p:cNvSpPr txBox="1"/>
          <p:nvPr/>
        </p:nvSpPr>
        <p:spPr>
          <a:xfrm>
            <a:off x="3422344" y="3212976"/>
            <a:ext cx="628698" cy="12521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ea typeface="新細明體" panose="02020500000000000000" pitchFamily="18" charset="-120"/>
              </a:rPr>
              <a:t>Deploy</a:t>
            </a:r>
            <a:endParaRPr lang="zh-TW" altLang="en-US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9DCEA1B-F211-4C67-8EC6-BC680482505C}"/>
              </a:ext>
            </a:extLst>
          </p:cNvPr>
          <p:cNvSpPr txBox="1"/>
          <p:nvPr/>
        </p:nvSpPr>
        <p:spPr>
          <a:xfrm>
            <a:off x="2492817" y="3541826"/>
            <a:ext cx="829956" cy="17520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latin typeface="Calibri"/>
                <a:ea typeface="新細明體" panose="02020500000000000000" pitchFamily="18" charset="-120"/>
              </a:rPr>
              <a:t>Fine-Tuning</a:t>
            </a:r>
            <a:endParaRPr lang="zh-TW" altLang="en-US" sz="1200" dirty="0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152788"/>
              </p:ext>
            </p:extLst>
          </p:nvPr>
        </p:nvGraphicFramePr>
        <p:xfrm>
          <a:off x="4066764" y="2678753"/>
          <a:ext cx="2160243" cy="2131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8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20081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720081">
                  <a:extLst>
                    <a:ext uri="{9D8B030D-6E8A-4147-A177-3AD203B41FA5}">
                      <a16:colId xmlns:a16="http://schemas.microsoft.com/office/drawing/2014/main" val="1431172380"/>
                    </a:ext>
                  </a:extLst>
                </a:gridCol>
              </a:tblGrid>
              <a:tr h="344141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31407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740306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</a:txBody>
                  <a:tcPr marL="0" marR="0" marT="7200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732847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7EAB9C57-35D1-B219-F12E-346B907EEA10}"/>
              </a:ext>
            </a:extLst>
          </p:cNvPr>
          <p:cNvSpPr txBox="1"/>
          <p:nvPr/>
        </p:nvSpPr>
        <p:spPr>
          <a:xfrm>
            <a:off x="3398520" y="2852936"/>
            <a:ext cx="628698" cy="24736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  <a:effectLst>
            <a:glow rad="25400">
              <a:schemeClr val="bg1">
                <a:lumMod val="95000"/>
                <a:alpha val="40000"/>
              </a:schemeClr>
            </a:glow>
            <a:softEdge rad="50800"/>
          </a:effectLst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 err="1">
                <a:ln w="0"/>
                <a:solidFill>
                  <a:schemeClr val="accent1">
                    <a:lumMod val="75000"/>
                  </a:schemeClr>
                </a:solidFill>
                <a:latin typeface="Calibri"/>
                <a:ea typeface="新細明體" panose="02020500000000000000" pitchFamily="18" charset="-120"/>
              </a:rPr>
              <a:t>O</a:t>
            </a:r>
            <a:r>
              <a:rPr lang="en-US" altLang="zh-TW" sz="1200" dirty="0" err="1">
                <a:ln w="0"/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ea typeface="新細明體" panose="02020500000000000000" pitchFamily="18" charset="-120"/>
              </a:rPr>
              <a:t>llama</a:t>
            </a:r>
            <a:endParaRPr lang="en-US" altLang="zh-TW" sz="1200" dirty="0">
              <a:ln w="0"/>
              <a:solidFill>
                <a:schemeClr val="tx1">
                  <a:lumMod val="95000"/>
                  <a:lumOff val="5000"/>
                </a:schemeClr>
              </a:solidFill>
              <a:latin typeface="Calibri"/>
              <a:ea typeface="新細明體" panose="02020500000000000000" pitchFamily="18" charset="-120"/>
            </a:endParaRP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92A0724E-A38F-5195-50B0-C98F2CF9C99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40115" y="2534275"/>
            <a:ext cx="337951" cy="39066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147E5DF0-3960-36B0-9254-B5A63E01B497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4077072"/>
            <a:ext cx="457201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B8B6F72-A549-B220-DCA7-DC1B7241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67FC8883-BB6F-5C4D-A5C4-A1F589A907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8286262"/>
              </p:ext>
            </p:extLst>
          </p:nvPr>
        </p:nvGraphicFramePr>
        <p:xfrm>
          <a:off x="455461" y="5182334"/>
          <a:ext cx="3890222" cy="982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02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LoRA, QLoRA, Full Tunning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QLRA/DRA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| Unsloth, LLaMA-Factory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Standard LoRA | Hugging Face TRL, Axolotl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Full FT + DeepSpeed | Megatron-LM, PyTorch FSDP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D28A7E10-EFB7-39EF-8E60-7B6E9EE835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6615885"/>
              </p:ext>
            </p:extLst>
          </p:nvPr>
        </p:nvGraphicFramePr>
        <p:xfrm>
          <a:off x="1187624" y="1491606"/>
          <a:ext cx="4578552" cy="3451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5393">
                  <a:extLst>
                    <a:ext uri="{9D8B030D-6E8A-4147-A177-3AD203B41FA5}">
                      <a16:colId xmlns:a16="http://schemas.microsoft.com/office/drawing/2014/main" val="102433470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1801316647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3014040376"/>
                    </a:ext>
                  </a:extLst>
                </a:gridCol>
                <a:gridCol w="1126855">
                  <a:extLst>
                    <a:ext uri="{9D8B030D-6E8A-4147-A177-3AD203B41FA5}">
                      <a16:colId xmlns:a16="http://schemas.microsoft.com/office/drawing/2014/main" val="2413039513"/>
                    </a:ext>
                  </a:extLst>
                </a:gridCol>
              </a:tblGrid>
              <a:tr h="41826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Home Server/PC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Computer Vision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55569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Gemma4, Mistral,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DeepSeek, Qwen3-4B-Instruct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YOLO11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693437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-Factory,</a:t>
                      </a:r>
                    </a:p>
                    <a:p>
                      <a:pPr algn="ctr"/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, Axolotl,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Face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TRL,</a:t>
                      </a:r>
                    </a:p>
                    <a:p>
                      <a:pPr algn="ctr"/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Torchtune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200" dirty="0"/>
                        <a:t>Ultralytics </a:t>
                      </a:r>
                      <a:endParaRPr lang="en-US" altLang="zh-TW" sz="1200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500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SFT Data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ShareGPT</a:t>
                      </a:r>
                      <a:endParaRPr kumimoji="0" lang="zh-TW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0246566"/>
                  </a:ext>
                </a:extLst>
              </a:tr>
              <a:tr h="64807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Optimizer &amp;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Quantization</a:t>
                      </a:r>
                      <a:b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32-bit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 8-bit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Llama.cpp (GGUF)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TensorRT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/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OpenVINO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Toolkit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6895739"/>
                  </a:ext>
                </a:extLst>
              </a:tr>
              <a:tr h="373434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Inference Engines</a:t>
                      </a:r>
                      <a:endParaRPr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/>
                        <a:t>Runtime</a:t>
                      </a:r>
                      <a:endParaRPr lang="en-US" altLang="zh-TW" sz="1200" dirty="0"/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dirty="0"/>
                        <a:t>Megatron-LM / </a:t>
                      </a:r>
                      <a:r>
                        <a:rPr lang="en-US" altLang="zh-TW" sz="1200" dirty="0" err="1"/>
                        <a:t>DeepSpeed</a:t>
                      </a:r>
                      <a:endParaRPr lang="zh-TW" altLang="en-US" sz="1200" dirty="0"/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705614"/>
                  </a:ext>
                </a:extLst>
              </a:tr>
              <a:tr h="366786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/>
                        <a:t>Hardware</a:t>
                      </a:r>
                    </a:p>
                  </a:txBody>
                  <a:tcPr marL="0" marR="0" marT="0" marB="0" anchor="ctr" anchorCtr="1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TW" sz="1200" dirty="0"/>
                        <a:t>NPU / Raspberry Pi 5 / ARM  </a:t>
                      </a:r>
                    </a:p>
                    <a:p>
                      <a:pPr algn="ctr"/>
                      <a:r>
                        <a:rPr lang="zh-TW" altLang="zh-TW" sz="1200" dirty="0"/>
                        <a:t>CUDA / </a:t>
                      </a:r>
                      <a:r>
                        <a:rPr lang="en-US" altLang="zh-TW" sz="1200" dirty="0"/>
                        <a:t>Mac / NPU / PC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800420"/>
                  </a:ext>
                </a:extLst>
              </a:tr>
            </a:tbl>
          </a:graphicData>
        </a:graphic>
      </p:graphicFrame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32BC9FF3-428B-38B9-3E4F-FE9C15D111C8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4" name="圖片 13">
            <a:extLst>
              <a:ext uri="{FF2B5EF4-FFF2-40B4-BE49-F238E27FC236}">
                <a16:creationId xmlns:a16="http://schemas.microsoft.com/office/drawing/2014/main" id="{146713C1-67D6-2E22-3902-942D138E8D5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2917" y="2540149"/>
            <a:ext cx="457201" cy="457200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32BA665D-B867-F673-A622-0D7CB8CAB1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914" y="2276872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9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(MoE)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058349" y="1193012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LM Trend Analysis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to Quality-Centric Innovation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788904"/>
              </p:ext>
            </p:extLst>
          </p:nvPr>
        </p:nvGraphicFramePr>
        <p:xfrm>
          <a:off x="1865763" y="3095134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046559"/>
              </p:ext>
            </p:extLst>
          </p:nvPr>
        </p:nvGraphicFramePr>
        <p:xfrm>
          <a:off x="262039" y="2030859"/>
          <a:ext cx="1233671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 72">
            <a:extLst>
              <a:ext uri="{FF2B5EF4-FFF2-40B4-BE49-F238E27FC236}">
                <a16:creationId xmlns:a16="http://schemas.microsoft.com/office/drawing/2014/main" id="{F81FE75E-9127-9681-590D-9061B2910228}"/>
              </a:ext>
            </a:extLst>
          </p:cNvPr>
          <p:cNvSpPr/>
          <p:nvPr/>
        </p:nvSpPr>
        <p:spPr>
          <a:xfrm>
            <a:off x="6012161" y="3387544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36000" bIns="0" rtlCol="0" anchor="t" anchorCtr="0"/>
          <a:lstStyle/>
          <a:p>
            <a:pPr algn="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微軟正黑體" panose="020B0604030504040204" pitchFamily="34" charset="-120"/>
              </a:rPr>
              <a:t>Encoder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5466488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3C9AD4A7-CE39-6D13-9A34-F4154B3662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Light, Fast, Multi-modal, and Multi-lingual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F0C5F1F-8BA5-7023-CB2C-07E845026D34}"/>
              </a:ext>
            </a:extLst>
          </p:cNvPr>
          <p:cNvSpPr/>
          <p:nvPr/>
        </p:nvSpPr>
        <p:spPr>
          <a:xfrm>
            <a:off x="6221748" y="1412776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05B6047-2833-C1AD-81A4-9E94756336FA}"/>
              </a:ext>
            </a:extLst>
          </p:cNvPr>
          <p:cNvSpPr txBox="1"/>
          <p:nvPr/>
        </p:nvSpPr>
        <p:spPr>
          <a:xfrm>
            <a:off x="6365764" y="1571086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615B3A5-3FD2-4005-BC2E-69EC29B5B341}"/>
              </a:ext>
            </a:extLst>
          </p:cNvPr>
          <p:cNvSpPr txBox="1"/>
          <p:nvPr/>
        </p:nvSpPr>
        <p:spPr>
          <a:xfrm>
            <a:off x="6365764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AAD5BE6-CA01-DBC6-1993-208FB9ACBD36}"/>
              </a:ext>
            </a:extLst>
          </p:cNvPr>
          <p:cNvSpPr txBox="1"/>
          <p:nvPr/>
        </p:nvSpPr>
        <p:spPr>
          <a:xfrm>
            <a:off x="6507429" y="2708920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BE8163C-E658-EC9A-A3D6-4483843DC234}"/>
              </a:ext>
            </a:extLst>
          </p:cNvPr>
          <p:cNvSpPr txBox="1"/>
          <p:nvPr/>
        </p:nvSpPr>
        <p:spPr>
          <a:xfrm>
            <a:off x="6365764" y="98071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EA56A65-2A30-6FE7-1987-749C004F9F0B}"/>
              </a:ext>
            </a:extLst>
          </p:cNvPr>
          <p:cNvSpPr txBox="1"/>
          <p:nvPr/>
        </p:nvSpPr>
        <p:spPr>
          <a:xfrm>
            <a:off x="6365764" y="47667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82F44C6-607E-773F-9287-A4B04BF4B85F}"/>
              </a:ext>
            </a:extLst>
          </p:cNvPr>
          <p:cNvCxnSpPr>
            <a:cxnSpLocks/>
            <a:stCxn id="14" idx="0"/>
            <a:endCxn id="17" idx="2"/>
          </p:cNvCxnSpPr>
          <p:nvPr/>
        </p:nvCxnSpPr>
        <p:spPr>
          <a:xfrm flipV="1">
            <a:off x="6941828" y="836712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A5ADA3C9-51C2-3237-133D-BBEFBF739687}"/>
              </a:ext>
            </a:extLst>
          </p:cNvPr>
          <p:cNvCxnSpPr>
            <a:cxnSpLocks/>
            <a:stCxn id="7" idx="0"/>
            <a:endCxn id="14" idx="2"/>
          </p:cNvCxnSpPr>
          <p:nvPr/>
        </p:nvCxnSpPr>
        <p:spPr>
          <a:xfrm flipV="1">
            <a:off x="6941828" y="1205765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1DBA7485-E4D3-633A-C8FD-B13CD069630A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flipH="1" flipV="1">
            <a:off x="6941828" y="2463376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B0520ED-01AE-68FB-5B5E-0DAE72BFC9B6}"/>
              </a:ext>
            </a:extLst>
          </p:cNvPr>
          <p:cNvCxnSpPr>
            <a:cxnSpLocks/>
            <a:stCxn id="10" idx="0"/>
            <a:endCxn id="7" idx="2"/>
          </p:cNvCxnSpPr>
          <p:nvPr/>
        </p:nvCxnSpPr>
        <p:spPr>
          <a:xfrm flipV="1">
            <a:off x="6941828" y="1796138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接點: 肘形 30">
            <a:extLst>
              <a:ext uri="{FF2B5EF4-FFF2-40B4-BE49-F238E27FC236}">
                <a16:creationId xmlns:a16="http://schemas.microsoft.com/office/drawing/2014/main" id="{88FCB6D8-BB47-90D6-7438-7C3CA5BB1ABB}"/>
              </a:ext>
            </a:extLst>
          </p:cNvPr>
          <p:cNvCxnSpPr>
            <a:cxnSpLocks/>
            <a:stCxn id="17" idx="3"/>
            <a:endCxn id="11" idx="3"/>
          </p:cNvCxnSpPr>
          <p:nvPr/>
        </p:nvCxnSpPr>
        <p:spPr>
          <a:xfrm flipH="1">
            <a:off x="7379909" y="656692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45BD80B-F195-173E-C31C-1D8057144F3F}"/>
              </a:ext>
            </a:extLst>
          </p:cNvPr>
          <p:cNvSpPr txBox="1"/>
          <p:nvPr/>
        </p:nvSpPr>
        <p:spPr>
          <a:xfrm>
            <a:off x="6056570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9526939-E9C0-4A2C-0511-0D5DE4384B47}"/>
              </a:ext>
            </a:extLst>
          </p:cNvPr>
          <p:cNvSpPr/>
          <p:nvPr/>
        </p:nvSpPr>
        <p:spPr>
          <a:xfrm>
            <a:off x="6084168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A1305DF5-9242-38FA-74E0-8B4262602807}"/>
              </a:ext>
            </a:extLst>
          </p:cNvPr>
          <p:cNvSpPr/>
          <p:nvPr/>
        </p:nvSpPr>
        <p:spPr>
          <a:xfrm>
            <a:off x="6689800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357C1A51-F19F-0863-D7B0-2DC91CF29B6B}"/>
              </a:ext>
            </a:extLst>
          </p:cNvPr>
          <p:cNvSpPr/>
          <p:nvPr/>
        </p:nvSpPr>
        <p:spPr>
          <a:xfrm>
            <a:off x="7291750" y="3578347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E72048D-2524-1E61-5076-ED59FF0E3E44}"/>
              </a:ext>
            </a:extLst>
          </p:cNvPr>
          <p:cNvSpPr/>
          <p:nvPr/>
        </p:nvSpPr>
        <p:spPr>
          <a:xfrm>
            <a:off x="6689800" y="3264256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直線單箭頭接點 69">
            <a:extLst>
              <a:ext uri="{FF2B5EF4-FFF2-40B4-BE49-F238E27FC236}">
                <a16:creationId xmlns:a16="http://schemas.microsoft.com/office/drawing/2014/main" id="{B7100B46-3DD7-60AF-91CE-0B46B2EC6D09}"/>
              </a:ext>
            </a:extLst>
          </p:cNvPr>
          <p:cNvCxnSpPr>
            <a:cxnSpLocks/>
            <a:stCxn id="69" idx="0"/>
            <a:endCxn id="11" idx="2"/>
          </p:cNvCxnSpPr>
          <p:nvPr/>
        </p:nvCxnSpPr>
        <p:spPr>
          <a:xfrm flipV="1">
            <a:off x="6941828" y="3068960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103562D-0073-D14F-640B-21B57C017310}"/>
              </a:ext>
            </a:extLst>
          </p:cNvPr>
          <p:cNvSpPr txBox="1"/>
          <p:nvPr/>
        </p:nvSpPr>
        <p:spPr>
          <a:xfrm>
            <a:off x="179512" y="3351241"/>
            <a:ext cx="333637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Gemma 3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Gemma Terms of Use/</a:t>
            </a:r>
          </a:p>
          <a:p>
            <a:pPr lvl="0"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Multimodal, Context Window 128K, multilingual,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en-US" altLang="zh-TW" dirty="0"/>
              <a:t>Gemma 4</a:t>
            </a:r>
            <a:r>
              <a:rPr lang="en-US" altLang="zh-TW" sz="1200" dirty="0"/>
              <a:t>: apache 2.0</a:t>
            </a:r>
          </a:p>
          <a:p>
            <a:r>
              <a:rPr lang="en-US" altLang="zh-TW" sz="1200" dirty="0"/>
              <a:t>/ tag&lt;think&gt;/ </a:t>
            </a:r>
          </a:p>
          <a:p>
            <a:endParaRPr lang="en-US" altLang="zh-TW" sz="1200" dirty="0"/>
          </a:p>
          <a:p>
            <a:r>
              <a:rPr lang="en-US" altLang="zh-TW" sz="1200" dirty="0"/>
              <a:t>Native Multimodal: text, image, table, … AV(E2B)</a:t>
            </a:r>
          </a:p>
          <a:p>
            <a:endParaRPr lang="zh-TW" altLang="en-US" sz="1200" dirty="0"/>
          </a:p>
        </p:txBody>
      </p:sp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A803B05C-8DDD-E678-CEC2-9DA93E6186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618313"/>
              </p:ext>
            </p:extLst>
          </p:nvPr>
        </p:nvGraphicFramePr>
        <p:xfrm>
          <a:off x="351199" y="4970863"/>
          <a:ext cx="822557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24161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45267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流程圖: 合併 49">
            <a:extLst>
              <a:ext uri="{FF2B5EF4-FFF2-40B4-BE49-F238E27FC236}">
                <a16:creationId xmlns:a16="http://schemas.microsoft.com/office/drawing/2014/main" id="{8447D011-EBCC-D1FB-0C69-2143A03943FE}"/>
              </a:ext>
            </a:extLst>
          </p:cNvPr>
          <p:cNvSpPr/>
          <p:nvPr/>
        </p:nvSpPr>
        <p:spPr>
          <a:xfrm>
            <a:off x="4716016" y="4437112"/>
            <a:ext cx="432048" cy="2139202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94A6F720-5FB8-E782-4A1C-29BF54922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4522079"/>
              </p:ext>
            </p:extLst>
          </p:nvPr>
        </p:nvGraphicFramePr>
        <p:xfrm>
          <a:off x="716896" y="4131303"/>
          <a:ext cx="7704856" cy="2322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85703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3197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060818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26B(4B)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8B (4.5+3.5)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5B (2.3+2.8)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179511" y="1377042"/>
            <a:ext cx="6470846" cy="132343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3: </a:t>
            </a:r>
            <a:r>
              <a:rPr lang="en-US" altLang="zh-TW" sz="1600" dirty="0"/>
              <a:t>Multimodal, multilingual 140+ and single chip.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4: </a:t>
            </a:r>
            <a:r>
              <a:rPr lang="en-US" altLang="zh-TW" sz="1600" dirty="0"/>
              <a:t>Native Multimodal, Apache 2.0, CoT,  &lt;|think|&gt;, multi-token prediction</a:t>
            </a:r>
            <a:r>
              <a:rPr lang="zh-TW" altLang="en-US" sz="1600" dirty="0"/>
              <a:t> </a:t>
            </a:r>
            <a:r>
              <a:rPr lang="en-US" altLang="zh-TW" sz="1600" dirty="0"/>
              <a:t>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MTP</a:t>
            </a:r>
            <a:r>
              <a:rPr lang="en-US" altLang="zh-TW" sz="1600" dirty="0"/>
              <a:t>) and Per Layer Embedding 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PLE</a:t>
            </a:r>
            <a:r>
              <a:rPr lang="en-US" altLang="zh-TW" sz="1600" dirty="0"/>
              <a:t>).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5" name="圖形 14" descr="伺服器 以實心填滿">
            <a:extLst>
              <a:ext uri="{FF2B5EF4-FFF2-40B4-BE49-F238E27FC236}">
                <a16:creationId xmlns:a16="http://schemas.microsoft.com/office/drawing/2014/main" id="{629E4120-1637-0AAB-6A3B-AB7FEACB7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797152"/>
            <a:ext cx="254275" cy="254275"/>
          </a:xfrm>
          <a:prstGeom prst="rect">
            <a:avLst/>
          </a:prstGeom>
        </p:spPr>
      </p:pic>
      <p:pic>
        <p:nvPicPr>
          <p:cNvPr id="17" name="圖形 16" descr="筆記型電腦 以實心填滿">
            <a:extLst>
              <a:ext uri="{FF2B5EF4-FFF2-40B4-BE49-F238E27FC236}">
                <a16:creationId xmlns:a16="http://schemas.microsoft.com/office/drawing/2014/main" id="{E0B85A7F-5C8E-F628-BF10-ADC5F47E1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19" name="圖形 18" descr="電腦 以實心填滿">
            <a:extLst>
              <a:ext uri="{FF2B5EF4-FFF2-40B4-BE49-F238E27FC236}">
                <a16:creationId xmlns:a16="http://schemas.microsoft.com/office/drawing/2014/main" id="{94FDF6EB-1889-FE73-1996-CB12F1E14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1" y="5129780"/>
            <a:ext cx="315444" cy="315444"/>
          </a:xfrm>
          <a:prstGeom prst="rect">
            <a:avLst/>
          </a:prstGeom>
        </p:spPr>
      </p:pic>
      <p:pic>
        <p:nvPicPr>
          <p:cNvPr id="21" name="圖形 20" descr="智慧型手機 以實心填滿">
            <a:extLst>
              <a:ext uri="{FF2B5EF4-FFF2-40B4-BE49-F238E27FC236}">
                <a16:creationId xmlns:a16="http://schemas.microsoft.com/office/drawing/2014/main" id="{174E9551-9AA7-A945-F67E-E80B80582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23" name="圖形 22" descr="頭戴式耳機 以實心填滿">
            <a:extLst>
              <a:ext uri="{FF2B5EF4-FFF2-40B4-BE49-F238E27FC236}">
                <a16:creationId xmlns:a16="http://schemas.microsoft.com/office/drawing/2014/main" id="{92BA1BF4-2981-0AD1-D22C-7372851B6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26" name="雲朵形 25">
            <a:extLst>
              <a:ext uri="{FF2B5EF4-FFF2-40B4-BE49-F238E27FC236}">
                <a16:creationId xmlns:a16="http://schemas.microsoft.com/office/drawing/2014/main" id="{509766CE-DFB7-2679-00B7-E99E3812B74C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8016021-6586-F018-2D1F-235DAF68DE53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CE94DF6-B418-F3D9-7106-9607209A20C4}"/>
              </a:ext>
            </a:extLst>
          </p:cNvPr>
          <p:cNvCxnSpPr>
            <a:cxnSpLocks/>
            <a:stCxn id="29" idx="2"/>
            <a:endCxn id="27" idx="0"/>
          </p:cNvCxnSpPr>
          <p:nvPr/>
        </p:nvCxnSpPr>
        <p:spPr>
          <a:xfrm>
            <a:off x="981887" y="3726324"/>
            <a:ext cx="298598" cy="564681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AE78E0C-913E-773C-0B33-35D2814AA505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8160DF6B-6461-AA6F-E2BC-B9036A02165F}"/>
              </a:ext>
            </a:extLst>
          </p:cNvPr>
          <p:cNvGrpSpPr/>
          <p:nvPr/>
        </p:nvGrpSpPr>
        <p:grpSpPr>
          <a:xfrm>
            <a:off x="6804248" y="476672"/>
            <a:ext cx="1871696" cy="3240360"/>
            <a:chOff x="6804248" y="476672"/>
            <a:chExt cx="1871696" cy="3240360"/>
          </a:xfrm>
        </p:grpSpPr>
        <p:sp>
          <p:nvSpPr>
            <p:cNvPr id="58" name="文字方塊 57">
              <a:extLst>
                <a:ext uri="{FF2B5EF4-FFF2-40B4-BE49-F238E27FC236}">
                  <a16:creationId xmlns:a16="http://schemas.microsoft.com/office/drawing/2014/main" id="{2FA5271A-6251-9F6D-E4BF-8C7BBF6BE8DB}"/>
                </a:ext>
              </a:extLst>
            </p:cNvPr>
            <p:cNvSpPr txBox="1"/>
            <p:nvPr/>
          </p:nvSpPr>
          <p:spPr>
            <a:xfrm>
              <a:off x="7299516" y="2702530"/>
              <a:ext cx="872480" cy="222414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TE + PE</a:t>
              </a:r>
              <a:endParaRPr lang="en-US" altLang="zh-TW" sz="10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sp>
          <p:nvSpPr>
            <p:cNvPr id="55" name="矩形: 圓角 54">
              <a:extLst>
                <a:ext uri="{FF2B5EF4-FFF2-40B4-BE49-F238E27FC236}">
                  <a16:creationId xmlns:a16="http://schemas.microsoft.com/office/drawing/2014/main" id="{F544B70C-E4B4-1CCF-D188-78F665C0D6F8}"/>
                </a:ext>
              </a:extLst>
            </p:cNvPr>
            <p:cNvSpPr/>
            <p:nvPr/>
          </p:nvSpPr>
          <p:spPr>
            <a:xfrm>
              <a:off x="7013835" y="1412776"/>
              <a:ext cx="1440160" cy="1185341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4C6653E2-E464-B67F-542C-626C1C49F7FF}"/>
                </a:ext>
              </a:extLst>
            </p:cNvPr>
            <p:cNvSpPr txBox="1"/>
            <p:nvPr/>
          </p:nvSpPr>
          <p:spPr>
            <a:xfrm>
              <a:off x="7157851" y="1571086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Feed</a:t>
              </a:r>
              <a:r>
                <a:rPr lang="zh-TW" altLang="en-US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 </a:t>
              </a: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Forward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A4DA872E-47D3-7A6D-BE96-70A23B1006A7}"/>
                </a:ext>
              </a:extLst>
            </p:cNvPr>
            <p:cNvSpPr txBox="1"/>
            <p:nvPr/>
          </p:nvSpPr>
          <p:spPr>
            <a:xfrm>
              <a:off x="7157851" y="1940154"/>
              <a:ext cx="1152128" cy="523222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Masked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Multi-Head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Attention</a:t>
              </a:r>
            </a:p>
          </p:txBody>
        </p:sp>
        <p:sp>
          <p:nvSpPr>
            <p:cNvPr id="59" name="文字方塊 58">
              <a:extLst>
                <a:ext uri="{FF2B5EF4-FFF2-40B4-BE49-F238E27FC236}">
                  <a16:creationId xmlns:a16="http://schemas.microsoft.com/office/drawing/2014/main" id="{1FE51C67-71A2-A3A5-E1FA-B717129CA894}"/>
                </a:ext>
              </a:extLst>
            </p:cNvPr>
            <p:cNvSpPr txBox="1"/>
            <p:nvPr/>
          </p:nvSpPr>
          <p:spPr>
            <a:xfrm>
              <a:off x="7157851" y="980713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Linear</a:t>
              </a:r>
            </a:p>
          </p:txBody>
        </p:sp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F5D3F3E7-E4F3-965F-8F04-7A64D5D57113}"/>
                </a:ext>
              </a:extLst>
            </p:cNvPr>
            <p:cNvSpPr txBox="1"/>
            <p:nvPr/>
          </p:nvSpPr>
          <p:spPr>
            <a:xfrm>
              <a:off x="7157851" y="476672"/>
              <a:ext cx="1152128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Next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Token</a:t>
              </a:r>
              <a:endPara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cxnSp>
          <p:nvCxnSpPr>
            <p:cNvPr id="61" name="直線單箭頭接點 60">
              <a:extLst>
                <a:ext uri="{FF2B5EF4-FFF2-40B4-BE49-F238E27FC236}">
                  <a16:creationId xmlns:a16="http://schemas.microsoft.com/office/drawing/2014/main" id="{329C200D-76D7-0142-2C84-0D0C4C97F4FA}"/>
                </a:ext>
              </a:extLst>
            </p:cNvPr>
            <p:cNvCxnSpPr>
              <a:cxnSpLocks/>
              <a:stCxn id="59" idx="0"/>
              <a:endCxn id="60" idx="2"/>
            </p:cNvCxnSpPr>
            <p:nvPr/>
          </p:nvCxnSpPr>
          <p:spPr>
            <a:xfrm flipV="1">
              <a:off x="7733915" y="836712"/>
              <a:ext cx="0" cy="14400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單箭頭接點 61">
              <a:extLst>
                <a:ext uri="{FF2B5EF4-FFF2-40B4-BE49-F238E27FC236}">
                  <a16:creationId xmlns:a16="http://schemas.microsoft.com/office/drawing/2014/main" id="{C5B3142A-D863-64FB-0BC8-59567C7436B5}"/>
                </a:ext>
              </a:extLst>
            </p:cNvPr>
            <p:cNvCxnSpPr>
              <a:cxnSpLocks/>
              <a:stCxn id="56" idx="0"/>
              <a:endCxn id="59" idx="2"/>
            </p:cNvCxnSpPr>
            <p:nvPr/>
          </p:nvCxnSpPr>
          <p:spPr>
            <a:xfrm flipV="1">
              <a:off x="7733915" y="1205765"/>
              <a:ext cx="0" cy="36532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單箭頭接點 62">
              <a:extLst>
                <a:ext uri="{FF2B5EF4-FFF2-40B4-BE49-F238E27FC236}">
                  <a16:creationId xmlns:a16="http://schemas.microsoft.com/office/drawing/2014/main" id="{BB7C1B6D-A99F-B1F2-96FB-F86F15FE3897}"/>
                </a:ext>
              </a:extLst>
            </p:cNvPr>
            <p:cNvCxnSpPr>
              <a:cxnSpLocks/>
              <a:stCxn id="58" idx="0"/>
              <a:endCxn id="57" idx="2"/>
            </p:cNvCxnSpPr>
            <p:nvPr/>
          </p:nvCxnSpPr>
          <p:spPr>
            <a:xfrm flipH="1" flipV="1">
              <a:off x="7733915" y="2463376"/>
              <a:ext cx="1841" cy="2391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單箭頭接點 63">
              <a:extLst>
                <a:ext uri="{FF2B5EF4-FFF2-40B4-BE49-F238E27FC236}">
                  <a16:creationId xmlns:a16="http://schemas.microsoft.com/office/drawing/2014/main" id="{8AE4B4AE-55F0-3C44-8DE4-E9D5AECED94B}"/>
                </a:ext>
              </a:extLst>
            </p:cNvPr>
            <p:cNvCxnSpPr>
              <a:cxnSpLocks/>
              <a:stCxn id="57" idx="0"/>
              <a:endCxn id="56" idx="2"/>
            </p:cNvCxnSpPr>
            <p:nvPr/>
          </p:nvCxnSpPr>
          <p:spPr>
            <a:xfrm flipV="1">
              <a:off x="7733915" y="1796138"/>
              <a:ext cx="0" cy="1440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接點: 肘形 64">
              <a:extLst>
                <a:ext uri="{FF2B5EF4-FFF2-40B4-BE49-F238E27FC236}">
                  <a16:creationId xmlns:a16="http://schemas.microsoft.com/office/drawing/2014/main" id="{2BCF499F-4098-D851-5556-9E6FCE276555}"/>
                </a:ext>
              </a:extLst>
            </p:cNvPr>
            <p:cNvCxnSpPr>
              <a:cxnSpLocks/>
              <a:stCxn id="60" idx="3"/>
              <a:endCxn id="58" idx="3"/>
            </p:cNvCxnSpPr>
            <p:nvPr/>
          </p:nvCxnSpPr>
          <p:spPr>
            <a:xfrm flipH="1">
              <a:off x="8171996" y="656692"/>
              <a:ext cx="137983" cy="2157045"/>
            </a:xfrm>
            <a:prstGeom prst="bentConnector3">
              <a:avLst>
                <a:gd name="adj1" fmla="val -165673"/>
              </a:avLst>
            </a:prstGeom>
            <a:ln w="19050">
              <a:solidFill>
                <a:srgbClr val="9E7800"/>
              </a:solidFill>
              <a:prstDash val="solid"/>
              <a:headEnd type="non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7C584174-AADE-F778-38AE-FBDA33DA3A7B}"/>
                </a:ext>
              </a:extLst>
            </p:cNvPr>
            <p:cNvSpPr txBox="1"/>
            <p:nvPr/>
          </p:nvSpPr>
          <p:spPr>
            <a:xfrm>
              <a:off x="6848657" y="2152607"/>
              <a:ext cx="294468" cy="20503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 </a:t>
              </a:r>
              <a:r>
                <a:rPr lang="en-US" altLang="zh-TW" sz="1000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x</a:t>
              </a:r>
              <a:endParaRPr lang="en-US" altLang="zh-TW" sz="1000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grpSp>
          <p:nvGrpSpPr>
            <p:cNvPr id="74" name="群組 73">
              <a:extLst>
                <a:ext uri="{FF2B5EF4-FFF2-40B4-BE49-F238E27FC236}">
                  <a16:creationId xmlns:a16="http://schemas.microsoft.com/office/drawing/2014/main" id="{31EED9A3-C9D5-7E2A-5423-072BCC118A22}"/>
                </a:ext>
              </a:extLst>
            </p:cNvPr>
            <p:cNvGrpSpPr/>
            <p:nvPr/>
          </p:nvGrpSpPr>
          <p:grpSpPr>
            <a:xfrm>
              <a:off x="6804248" y="3167464"/>
              <a:ext cx="1871696" cy="549568"/>
              <a:chOff x="6804248" y="2996952"/>
              <a:chExt cx="1871696" cy="549568"/>
            </a:xfrm>
          </p:grpSpPr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AE893425-E4F6-96F7-4CC3-98302DF5C655}"/>
                  </a:ext>
                </a:extLst>
              </p:cNvPr>
              <p:cNvSpPr/>
              <p:nvPr/>
            </p:nvSpPr>
            <p:spPr>
              <a:xfrm>
                <a:off x="6804248" y="2996952"/>
                <a:ext cx="1871696" cy="549568"/>
              </a:xfrm>
              <a:prstGeom prst="rect">
                <a:avLst/>
              </a:prstGeom>
              <a:solidFill>
                <a:schemeClr val="bg1">
                  <a:alpha val="60000"/>
                </a:schemeClr>
              </a:solidFill>
              <a:ln w="19050">
                <a:solidFill>
                  <a:schemeClr val="accent5">
                    <a:lumMod val="75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36000" rIns="36000" bIns="0" rtlCol="0" anchor="t" anchorCtr="0"/>
              <a:lstStyle/>
              <a:p>
                <a:pPr algn="r">
                  <a:lnSpc>
                    <a:spcPts val="1000"/>
                  </a:lnSpc>
                </a:pPr>
                <a:r>
                  <a:rPr lang="en-US" altLang="zh-TW" sz="1000" dirty="0">
                    <a:solidFill>
                      <a:schemeClr val="tx1"/>
                    </a:solidFill>
                    <a:ea typeface="微軟正黑體" panose="020B0604030504040204" pitchFamily="34" charset="-120"/>
                  </a:rPr>
                  <a:t>Native Multimodal</a:t>
                </a:r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E82C9A1B-ACF3-0F81-4569-541E1B66A86C}"/>
                  </a:ext>
                </a:extLst>
              </p:cNvPr>
              <p:cNvSpPr/>
              <p:nvPr/>
            </p:nvSpPr>
            <p:spPr>
              <a:xfrm>
                <a:off x="6876255" y="3202232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Text</a:t>
                </a: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9168C702-BEE1-C784-FD87-4E5F14C79BC3}"/>
                  </a:ext>
                </a:extLst>
              </p:cNvPr>
              <p:cNvSpPr/>
              <p:nvPr/>
            </p:nvSpPr>
            <p:spPr>
              <a:xfrm>
                <a:off x="7481887" y="3202232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Image</a:t>
                </a: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2B1AA674-C134-9D92-4758-2D986FC6D4ED}"/>
                  </a:ext>
                </a:extLst>
              </p:cNvPr>
              <p:cNvSpPr/>
              <p:nvPr/>
            </p:nvSpPr>
            <p:spPr>
              <a:xfrm>
                <a:off x="8083837" y="3187755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Audio</a:t>
                </a:r>
              </a:p>
            </p:txBody>
          </p:sp>
        </p:grpSp>
        <p:cxnSp>
          <p:nvCxnSpPr>
            <p:cNvPr id="71" name="直線單箭頭接點 70">
              <a:extLst>
                <a:ext uri="{FF2B5EF4-FFF2-40B4-BE49-F238E27FC236}">
                  <a16:creationId xmlns:a16="http://schemas.microsoft.com/office/drawing/2014/main" id="{FCC31C36-5B68-C944-0E8A-4FECFFB9EB3D}"/>
                </a:ext>
              </a:extLst>
            </p:cNvPr>
            <p:cNvCxnSpPr>
              <a:cxnSpLocks/>
              <a:stCxn id="54" idx="0"/>
              <a:endCxn id="58" idx="2"/>
            </p:cNvCxnSpPr>
            <p:nvPr/>
          </p:nvCxnSpPr>
          <p:spPr>
            <a:xfrm flipH="1" flipV="1">
              <a:off x="7735756" y="2924944"/>
              <a:ext cx="4340" cy="2425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4B0F035-97FD-79C3-C3A0-2E744AC34D19}"/>
              </a:ext>
            </a:extLst>
          </p:cNvPr>
          <p:cNvSpPr/>
          <p:nvPr/>
        </p:nvSpPr>
        <p:spPr>
          <a:xfrm>
            <a:off x="6670406" y="5838875"/>
            <a:ext cx="487445" cy="562041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86993-55F6-655D-6F3A-DCF41E0E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: 圓角 92">
            <a:extLst>
              <a:ext uri="{FF2B5EF4-FFF2-40B4-BE49-F238E27FC236}">
                <a16:creationId xmlns:a16="http://schemas.microsoft.com/office/drawing/2014/main" id="{9BC5D209-CD0F-8B4F-B117-FFBA97F7BB22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7688924-6F43-FE20-F39C-E0229359FB31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A709BE2-1656-D0B4-AAC6-15D6C3575E40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942C8466-D1D5-4EF3-2363-E4C21E214E95}"/>
              </a:ext>
            </a:extLst>
          </p:cNvPr>
          <p:cNvCxnSpPr>
            <a:cxnSpLocks/>
            <a:stCxn id="8" idx="0"/>
            <a:endCxn id="137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C78A0572-1A63-5E70-B09A-4C3D3A0EC38F}"/>
              </a:ext>
            </a:extLst>
          </p:cNvPr>
          <p:cNvCxnSpPr>
            <a:cxnSpLocks/>
            <a:stCxn id="73" idx="0"/>
            <a:endCxn id="2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BED8C8EA-0B18-FE3A-ACAC-8ED247CD33DA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89DFAE5F-76DE-A380-A8BC-634A17D2929C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altLang="zh-TW" sz="1200" b="1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Dataset   </a:t>
            </a:r>
            <a:endParaRPr lang="en-US" altLang="zh-TW" sz="1200" u="sng" strike="noStrike" kern="1200" spc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…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endParaRPr kumimoji="0" lang="en-US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CBBF751A-4841-643D-D672-6495988B1BA0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F5AF795-3B3C-801B-75CE-99F18D920572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4F679991-33F8-2BC7-D7D4-C417EBD90EEA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2" name="直線單箭頭接點 121">
            <a:extLst>
              <a:ext uri="{FF2B5EF4-FFF2-40B4-BE49-F238E27FC236}">
                <a16:creationId xmlns:a16="http://schemas.microsoft.com/office/drawing/2014/main" id="{BBCCED22-9B60-A6F6-30FE-BEE684D117D3}"/>
              </a:ext>
            </a:extLst>
          </p:cNvPr>
          <p:cNvCxnSpPr>
            <a:cxnSpLocks/>
            <a:stCxn id="125" idx="0"/>
            <a:endCxn id="119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76B940A6-6BCF-781A-CE7D-374C0654CC82}"/>
              </a:ext>
            </a:extLst>
          </p:cNvPr>
          <p:cNvCxnSpPr>
            <a:cxnSpLocks/>
            <a:stCxn id="119" idx="0"/>
            <a:endCxn id="118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252A4D11-98C1-E2CE-76F9-54E64CE32887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Mentor</a:t>
            </a:r>
          </a:p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3B21D428-399E-48DA-FA3B-F4D2934EFEFE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D5B44D3B-4241-2BF9-F500-31CADFD0B569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315" name="矩形: 圓角 314">
            <a:extLst>
              <a:ext uri="{FF2B5EF4-FFF2-40B4-BE49-F238E27FC236}">
                <a16:creationId xmlns:a16="http://schemas.microsoft.com/office/drawing/2014/main" id="{FAAA9A43-CE4C-B3F6-E773-87ECFC273B53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6" name="文字方塊 315">
            <a:extLst>
              <a:ext uri="{FF2B5EF4-FFF2-40B4-BE49-F238E27FC236}">
                <a16:creationId xmlns:a16="http://schemas.microsoft.com/office/drawing/2014/main" id="{777D1806-1AC5-A090-0E2F-7F659A74A141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17" name="文字方塊 316">
            <a:extLst>
              <a:ext uri="{FF2B5EF4-FFF2-40B4-BE49-F238E27FC236}">
                <a16:creationId xmlns:a16="http://schemas.microsoft.com/office/drawing/2014/main" id="{B636CD72-4E44-11EE-89CB-634CD940FF09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8" name="直線單箭頭接點 317">
            <a:extLst>
              <a:ext uri="{FF2B5EF4-FFF2-40B4-BE49-F238E27FC236}">
                <a16:creationId xmlns:a16="http://schemas.microsoft.com/office/drawing/2014/main" id="{47BCA9D0-43E0-3E34-1EAB-DAC8C02BE71F}"/>
              </a:ext>
            </a:extLst>
          </p:cNvPr>
          <p:cNvCxnSpPr>
            <a:cxnSpLocks/>
            <a:stCxn id="316" idx="0"/>
            <a:endCxn id="322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線單箭頭接點 318">
            <a:extLst>
              <a:ext uri="{FF2B5EF4-FFF2-40B4-BE49-F238E27FC236}">
                <a16:creationId xmlns:a16="http://schemas.microsoft.com/office/drawing/2014/main" id="{5085AE20-60EC-AD40-341B-68DC9CFF1AA3}"/>
              </a:ext>
            </a:extLst>
          </p:cNvPr>
          <p:cNvCxnSpPr>
            <a:cxnSpLocks/>
            <a:stCxn id="321" idx="0"/>
            <a:endCxn id="317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文字方塊 320">
            <a:extLst>
              <a:ext uri="{FF2B5EF4-FFF2-40B4-BE49-F238E27FC236}">
                <a16:creationId xmlns:a16="http://schemas.microsoft.com/office/drawing/2014/main" id="{6050EABD-57B0-7FFB-D65A-5E5C8A88B497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BBB5E49F-166C-829A-96D9-BC04ED271FAF}"/>
              </a:ext>
            </a:extLst>
          </p:cNvPr>
          <p:cNvSpPr txBox="1"/>
          <p:nvPr/>
        </p:nvSpPr>
        <p:spPr>
          <a:xfrm>
            <a:off x="5853249" y="2072574"/>
            <a:ext cx="446943" cy="299860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  <a:p>
            <a:pPr algn="ctr">
              <a:lnSpc>
                <a:spcPts val="10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  <a:endParaRPr lang="en-US" altLang="zh-TW" sz="10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324" name="文字方塊 323">
            <a:extLst>
              <a:ext uri="{FF2B5EF4-FFF2-40B4-BE49-F238E27FC236}">
                <a16:creationId xmlns:a16="http://schemas.microsoft.com/office/drawing/2014/main" id="{D8AF711C-01F8-2383-A166-72304A75F5CF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25" name="文字方塊 324">
            <a:extLst>
              <a:ext uri="{FF2B5EF4-FFF2-40B4-BE49-F238E27FC236}">
                <a16:creationId xmlns:a16="http://schemas.microsoft.com/office/drawing/2014/main" id="{4C6AA02B-3311-B121-FEAD-3A83EEDD19D0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32" name="流程圖: 合併 331">
            <a:extLst>
              <a:ext uri="{FF2B5EF4-FFF2-40B4-BE49-F238E27FC236}">
                <a16:creationId xmlns:a16="http://schemas.microsoft.com/office/drawing/2014/main" id="{BCEAC993-7B03-4603-7D4F-16080ED42D99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VRAM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8" name="矩形: 圓角 367">
            <a:extLst>
              <a:ext uri="{FF2B5EF4-FFF2-40B4-BE49-F238E27FC236}">
                <a16:creationId xmlns:a16="http://schemas.microsoft.com/office/drawing/2014/main" id="{9EA0A467-5651-59AE-9729-2BEAA8CBE8A7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9" name="文字方塊 368">
            <a:extLst>
              <a:ext uri="{FF2B5EF4-FFF2-40B4-BE49-F238E27FC236}">
                <a16:creationId xmlns:a16="http://schemas.microsoft.com/office/drawing/2014/main" id="{C0659B23-491F-B9F4-046F-3D6F8970265F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70" name="文字方塊 369">
            <a:extLst>
              <a:ext uri="{FF2B5EF4-FFF2-40B4-BE49-F238E27FC236}">
                <a16:creationId xmlns:a16="http://schemas.microsoft.com/office/drawing/2014/main" id="{EF22FC26-3919-51CE-75E8-79C3F3E93FDE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71" name="直線單箭頭接點 370">
            <a:extLst>
              <a:ext uri="{FF2B5EF4-FFF2-40B4-BE49-F238E27FC236}">
                <a16:creationId xmlns:a16="http://schemas.microsoft.com/office/drawing/2014/main" id="{DB65FBC4-B58B-615F-380B-357BFECFF890}"/>
              </a:ext>
            </a:extLst>
          </p:cNvPr>
          <p:cNvCxnSpPr>
            <a:cxnSpLocks/>
            <a:stCxn id="369" idx="0"/>
            <a:endCxn id="54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線單箭頭接點 371">
            <a:extLst>
              <a:ext uri="{FF2B5EF4-FFF2-40B4-BE49-F238E27FC236}">
                <a16:creationId xmlns:a16="http://schemas.microsoft.com/office/drawing/2014/main" id="{80417F5D-C68B-59D2-FCA6-5DDA7D38F16F}"/>
              </a:ext>
            </a:extLst>
          </p:cNvPr>
          <p:cNvCxnSpPr>
            <a:cxnSpLocks/>
            <a:stCxn id="373" idx="0"/>
            <a:endCxn id="370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文字方塊 372">
            <a:extLst>
              <a:ext uri="{FF2B5EF4-FFF2-40B4-BE49-F238E27FC236}">
                <a16:creationId xmlns:a16="http://schemas.microsoft.com/office/drawing/2014/main" id="{719E8EC6-A31B-D42A-C145-2ADBE0C744F6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6" name="文字方塊 375">
            <a:extLst>
              <a:ext uri="{FF2B5EF4-FFF2-40B4-BE49-F238E27FC236}">
                <a16:creationId xmlns:a16="http://schemas.microsoft.com/office/drawing/2014/main" id="{26919418-A789-EDA6-86D0-96CC2155BFCB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7" name="文字方塊 376">
            <a:extLst>
              <a:ext uri="{FF2B5EF4-FFF2-40B4-BE49-F238E27FC236}">
                <a16:creationId xmlns:a16="http://schemas.microsoft.com/office/drawing/2014/main" id="{385AF1C9-D14F-F596-B42A-EACBA5A9AD44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BCA1F0A1-C78B-4C44-6484-9B782920E7FF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6B49238-60F6-67AA-9BF6-00D4A655770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18F6AD0-83FA-9357-73ED-4F671D392F32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 err="1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,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</a:t>
            </a:r>
            <a:r>
              <a:rPr lang="en-US" altLang="zh-TW" sz="1000" dirty="0" err="1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</a:t>
            </a:r>
            <a:endParaRPr lang="en-US" altLang="zh-TW" sz="1000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  <a:endParaRPr lang="en-US" altLang="zh-TW" sz="1000" u="none" strike="noStrike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7A53AD3C-F2BB-4EE2-24CD-86C8D28B9CA8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24" name="流程圖: 合併 23">
            <a:extLst>
              <a:ext uri="{FF2B5EF4-FFF2-40B4-BE49-F238E27FC236}">
                <a16:creationId xmlns:a16="http://schemas.microsoft.com/office/drawing/2014/main" id="{CF8E78C1-A247-3230-83FA-CB76161D9B1F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Time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標題 1">
            <a:extLst>
              <a:ext uri="{FF2B5EF4-FFF2-40B4-BE49-F238E27FC236}">
                <a16:creationId xmlns:a16="http://schemas.microsoft.com/office/drawing/2014/main" id="{B37A615F-552C-F797-9035-FB5C2D0F26EE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Precision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0090CFC2-B2C3-795C-E73F-AE2C84936473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(Dimension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D7904C49-4BB8-1FF5-995D-DC1BDC65925E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9E691904-0820-18B0-4CA4-0C81702D74D5}"/>
              </a:ext>
            </a:extLst>
          </p:cNvPr>
          <p:cNvSpPr txBox="1"/>
          <p:nvPr/>
        </p:nvSpPr>
        <p:spPr>
          <a:xfrm>
            <a:off x="6936249" y="2072574"/>
            <a:ext cx="446943" cy="299860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  <a:p>
            <a:pPr algn="ctr">
              <a:lnSpc>
                <a:spcPts val="10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  <a:endParaRPr lang="en-US" altLang="zh-TW" sz="10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6D8F9B5A-AD42-7F5E-59D3-5A2BC7763CF0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958C702D-720A-4007-6D16-2D4BCAC13B6B}"/>
              </a:ext>
            </a:extLst>
          </p:cNvPr>
          <p:cNvCxnSpPr>
            <a:cxnSpLocks/>
            <a:stCxn id="118" idx="0"/>
            <a:endCxn id="139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矩形: 圓角 134">
            <a:extLst>
              <a:ext uri="{FF2B5EF4-FFF2-40B4-BE49-F238E27FC236}">
                <a16:creationId xmlns:a16="http://schemas.microsoft.com/office/drawing/2014/main" id="{EFEB4379-478B-ED90-928C-8ABA214FEFAD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6AA90C8-F0F4-60D7-CC2D-4ACFC9D0DB57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38139EC-2911-D766-E9F4-9EC4A47613F0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88D032C-2C1E-12FF-C88A-C93002A64CFF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44886D9A-736F-C281-2F59-B52D321C5207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7858E5B8-E8AC-C548-9D59-288F9AD872C0}"/>
              </a:ext>
            </a:extLst>
          </p:cNvPr>
          <p:cNvCxnSpPr>
            <a:cxnSpLocks/>
            <a:stCxn id="34" idx="0"/>
            <a:endCxn id="27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DF147AB-9484-60B6-4538-414E0D6275A5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kumimoji="0" lang="en-US" altLang="zh-TW" sz="1000" b="1" strike="noStrike" kern="1200" cap="none" spc="0" normalizeH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Mentor</a:t>
            </a:r>
          </a:p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lang="en-US" altLang="zh-TW" sz="1000" b="1" dirty="0">
                <a:latin typeface="Consolas" panose="020B0609020204030204" pitchFamily="49" charset="0"/>
                <a:ea typeface="新細明體" panose="02020500000000000000" pitchFamily="18" charset="-120"/>
              </a:rPr>
              <a:t>Model</a:t>
            </a:r>
            <a:endParaRPr kumimoji="0" lang="zh-TW" altLang="zh-TW" sz="1000" strike="noStrike" kern="1200" cap="none" spc="0" normalizeH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B4E66B93-719D-CBB5-EF4B-34F3D4D5E385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78BE287-ABAE-8938-B37C-19FD2B4B229E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5DE4A9B2-62EF-A9B5-5ECE-ED795AB7D94A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60" name="直線單箭頭接點 59">
            <a:extLst>
              <a:ext uri="{FF2B5EF4-FFF2-40B4-BE49-F238E27FC236}">
                <a16:creationId xmlns:a16="http://schemas.microsoft.com/office/drawing/2014/main" id="{2C954AD7-E402-6AFC-8B91-CBAD6E53D57E}"/>
              </a:ext>
            </a:extLst>
          </p:cNvPr>
          <p:cNvCxnSpPr>
            <a:cxnSpLocks/>
            <a:stCxn id="26" idx="0"/>
            <a:endCxn id="6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D36BF304-77E9-0856-4BC0-AEEE5DDEDB92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2AB2E4CD-81A2-C891-8A8A-C932E820910C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effectLst/>
              </a:rPr>
              <a:t>Full-FT</a:t>
            </a:r>
            <a:br>
              <a:rPr lang="en-US" altLang="zh-TW" sz="1400" b="1" u="none" strike="noStrike" dirty="0">
                <a:effectLst/>
              </a:rPr>
            </a:br>
            <a:r>
              <a:rPr lang="en-US" altLang="zh-TW" sz="1200" u="none" strike="noStrike" dirty="0">
                <a:effectLst/>
              </a:rPr>
              <a:t>mobile</a:t>
            </a:r>
            <a:r>
              <a:rPr lang="zh-TW" altLang="en-US" sz="1200" u="none" strike="noStrike" dirty="0">
                <a:effectLst/>
              </a:rPr>
              <a:t> </a:t>
            </a:r>
            <a:r>
              <a:rPr lang="en-US" altLang="zh-TW" sz="1200" u="none" strike="noStrike" dirty="0">
                <a:effectLst/>
              </a:rPr>
              <a:t>phone</a:t>
            </a: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8E46294F-E8D5-8000-D7A7-61B2407B3F27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INT4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NV, Qualcomm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088F6325-C28A-4157-F3A9-7C1C0E7C8669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PEFT + Q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4-bit / 8-bit</a:t>
            </a:r>
          </a:p>
        </p:txBody>
      </p:sp>
      <p:graphicFrame>
        <p:nvGraphicFramePr>
          <p:cNvPr id="101" name="表格 100">
            <a:extLst>
              <a:ext uri="{FF2B5EF4-FFF2-40B4-BE49-F238E27FC236}">
                <a16:creationId xmlns:a16="http://schemas.microsoft.com/office/drawing/2014/main" id="{62234615-AD4E-B363-8156-95B96ED52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184708"/>
              </p:ext>
            </p:extLst>
          </p:nvPr>
        </p:nvGraphicFramePr>
        <p:xfrm>
          <a:off x="446679" y="5483659"/>
          <a:ext cx="2061433" cy="8716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296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7C945779-99C8-E510-B0CC-B3511BDE59A2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r>
              <a:rPr lang="en-US" altLang="zh-TW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Quantization</a:t>
            </a:r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325668A4-D446-9102-28ED-F52E943FA4E6}"/>
              </a:ext>
            </a:extLst>
          </p:cNvPr>
          <p:cNvGrpSpPr/>
          <p:nvPr/>
        </p:nvGrpSpPr>
        <p:grpSpPr>
          <a:xfrm>
            <a:off x="3971048" y="1140776"/>
            <a:ext cx="1105008" cy="2271474"/>
            <a:chOff x="3971048" y="1140776"/>
            <a:chExt cx="1105008" cy="2271474"/>
          </a:xfrm>
        </p:grpSpPr>
        <p:sp>
          <p:nvSpPr>
            <p:cNvPr id="231" name="矩形: 圓角 230">
              <a:extLst>
                <a:ext uri="{FF2B5EF4-FFF2-40B4-BE49-F238E27FC236}">
                  <a16:creationId xmlns:a16="http://schemas.microsoft.com/office/drawing/2014/main" id="{45D54DA9-81FE-C438-046A-1A46ED3096E4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232" name="文字方塊 231">
              <a:extLst>
                <a:ext uri="{FF2B5EF4-FFF2-40B4-BE49-F238E27FC236}">
                  <a16:creationId xmlns:a16="http://schemas.microsoft.com/office/drawing/2014/main" id="{2915F053-5BA3-91A3-F3A0-E318E31CF1D9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233" name="文字方塊 232">
              <a:extLst>
                <a:ext uri="{FF2B5EF4-FFF2-40B4-BE49-F238E27FC236}">
                  <a16:creationId xmlns:a16="http://schemas.microsoft.com/office/drawing/2014/main" id="{26EFE7DA-DC3D-61EF-CA7F-CDB6E8A8BB1F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235" name="直線單箭頭接點 234">
              <a:extLst>
                <a:ext uri="{FF2B5EF4-FFF2-40B4-BE49-F238E27FC236}">
                  <a16:creationId xmlns:a16="http://schemas.microsoft.com/office/drawing/2014/main" id="{280F35D4-BAD6-1EA4-8951-F083A9B10714}"/>
                </a:ext>
              </a:extLst>
            </p:cNvPr>
            <p:cNvCxnSpPr>
              <a:cxnSpLocks/>
              <a:stCxn id="237" idx="0"/>
              <a:endCxn id="233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線單箭頭接點 235">
              <a:extLst>
                <a:ext uri="{FF2B5EF4-FFF2-40B4-BE49-F238E27FC236}">
                  <a16:creationId xmlns:a16="http://schemas.microsoft.com/office/drawing/2014/main" id="{FFBF7D4D-75E4-EAF1-B65E-C8CB1B654F37}"/>
                </a:ext>
              </a:extLst>
            </p:cNvPr>
            <p:cNvCxnSpPr>
              <a:cxnSpLocks/>
              <a:stCxn id="233" idx="0"/>
              <a:endCxn id="232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7" name="文字方塊 236">
              <a:extLst>
                <a:ext uri="{FF2B5EF4-FFF2-40B4-BE49-F238E27FC236}">
                  <a16:creationId xmlns:a16="http://schemas.microsoft.com/office/drawing/2014/main" id="{E79CA7A2-37EC-63CC-FF32-801B15CF6DFD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238" name="文字方塊 237">
              <a:extLst>
                <a:ext uri="{FF2B5EF4-FFF2-40B4-BE49-F238E27FC236}">
                  <a16:creationId xmlns:a16="http://schemas.microsoft.com/office/drawing/2014/main" id="{E4CBB606-3145-C366-F2CA-61F748F8E672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6F6F6AAC-AA6F-4EE2-07D9-BB9A5FBD34B2}"/>
                </a:ext>
              </a:extLst>
            </p:cNvPr>
            <p:cNvSpPr txBox="1">
              <a:spLocks/>
            </p:cNvSpPr>
            <p:nvPr/>
          </p:nvSpPr>
          <p:spPr>
            <a:xfrm>
              <a:off x="4094886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234" name="直線單箭頭接點 233">
              <a:extLst>
                <a:ext uri="{FF2B5EF4-FFF2-40B4-BE49-F238E27FC236}">
                  <a16:creationId xmlns:a16="http://schemas.microsoft.com/office/drawing/2014/main" id="{AFADEF92-C88A-CA53-FDE0-5F7892DC5CFD}"/>
                </a:ext>
              </a:extLst>
            </p:cNvPr>
            <p:cNvCxnSpPr>
              <a:cxnSpLocks/>
              <a:stCxn id="232" idx="0"/>
              <a:endCxn id="238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矩形: 圓角 299">
              <a:extLst>
                <a:ext uri="{FF2B5EF4-FFF2-40B4-BE49-F238E27FC236}">
                  <a16:creationId xmlns:a16="http://schemas.microsoft.com/office/drawing/2014/main" id="{72283385-EF65-D064-44F7-ED7DF89F2AE4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B9D231FB-B9CF-9880-E698-8380D24C64B4}"/>
                </a:ext>
              </a:extLst>
            </p:cNvPr>
            <p:cNvSpPr/>
            <p:nvPr/>
          </p:nvSpPr>
          <p:spPr>
            <a:xfrm>
              <a:off x="4716016" y="3222501"/>
              <a:ext cx="345765" cy="174616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28" name="群組 127">
            <a:extLst>
              <a:ext uri="{FF2B5EF4-FFF2-40B4-BE49-F238E27FC236}">
                <a16:creationId xmlns:a16="http://schemas.microsoft.com/office/drawing/2014/main" id="{54D06E2C-3FA0-3B42-0585-4F52CCF2DA87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303" name="矩形: 圓角 302">
              <a:extLst>
                <a:ext uri="{FF2B5EF4-FFF2-40B4-BE49-F238E27FC236}">
                  <a16:creationId xmlns:a16="http://schemas.microsoft.com/office/drawing/2014/main" id="{E979668C-1675-047A-AB0A-72961AD64DC2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04" name="文字方塊 303">
              <a:extLst>
                <a:ext uri="{FF2B5EF4-FFF2-40B4-BE49-F238E27FC236}">
                  <a16:creationId xmlns:a16="http://schemas.microsoft.com/office/drawing/2014/main" id="{1BE78960-095F-03AA-5CF1-43CA262380D5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305" name="文字方塊 304">
              <a:extLst>
                <a:ext uri="{FF2B5EF4-FFF2-40B4-BE49-F238E27FC236}">
                  <a16:creationId xmlns:a16="http://schemas.microsoft.com/office/drawing/2014/main" id="{BE3E2506-D931-6DDB-E8E2-4F6D4B155C8E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306" name="直線單箭頭接點 305">
              <a:extLst>
                <a:ext uri="{FF2B5EF4-FFF2-40B4-BE49-F238E27FC236}">
                  <a16:creationId xmlns:a16="http://schemas.microsoft.com/office/drawing/2014/main" id="{CED5AFD8-7F9E-115D-A10B-D6EB519C0C2C}"/>
                </a:ext>
              </a:extLst>
            </p:cNvPr>
            <p:cNvCxnSpPr>
              <a:cxnSpLocks/>
              <a:stCxn id="304" idx="0"/>
              <a:endCxn id="310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直線單箭頭接點 306">
              <a:extLst>
                <a:ext uri="{FF2B5EF4-FFF2-40B4-BE49-F238E27FC236}">
                  <a16:creationId xmlns:a16="http://schemas.microsoft.com/office/drawing/2014/main" id="{E4C3FB2A-315E-23D6-2838-943D77BE79D1}"/>
                </a:ext>
              </a:extLst>
            </p:cNvPr>
            <p:cNvCxnSpPr>
              <a:cxnSpLocks/>
              <a:stCxn id="309" idx="0"/>
              <a:endCxn id="305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直線單箭頭接點 307">
              <a:extLst>
                <a:ext uri="{FF2B5EF4-FFF2-40B4-BE49-F238E27FC236}">
                  <a16:creationId xmlns:a16="http://schemas.microsoft.com/office/drawing/2014/main" id="{8AD3E93F-3282-D2F8-28FA-263D53C0A3D6}"/>
                </a:ext>
              </a:extLst>
            </p:cNvPr>
            <p:cNvCxnSpPr>
              <a:cxnSpLocks/>
              <a:stCxn id="305" idx="0"/>
              <a:endCxn id="304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文字方塊 308">
              <a:extLst>
                <a:ext uri="{FF2B5EF4-FFF2-40B4-BE49-F238E27FC236}">
                  <a16:creationId xmlns:a16="http://schemas.microsoft.com/office/drawing/2014/main" id="{C07C3214-A890-341F-2ABA-EC9F5BDE38A4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10" name="文字方塊 309">
              <a:extLst>
                <a:ext uri="{FF2B5EF4-FFF2-40B4-BE49-F238E27FC236}">
                  <a16:creationId xmlns:a16="http://schemas.microsoft.com/office/drawing/2014/main" id="{3EEE3D60-9DDA-59EF-9DF3-94A1CC72A610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312" name="文字方塊 311">
              <a:extLst>
                <a:ext uri="{FF2B5EF4-FFF2-40B4-BE49-F238E27FC236}">
                  <a16:creationId xmlns:a16="http://schemas.microsoft.com/office/drawing/2014/main" id="{8A5A3840-A3F7-2154-33FB-3424CAF267FE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3" name="文字方塊 312">
              <a:extLst>
                <a:ext uri="{FF2B5EF4-FFF2-40B4-BE49-F238E27FC236}">
                  <a16:creationId xmlns:a16="http://schemas.microsoft.com/office/drawing/2014/main" id="{4C70843D-8C4D-B7FB-568A-374C7DC85E55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4" name="矩形: 圓角 313">
              <a:extLst>
                <a:ext uri="{FF2B5EF4-FFF2-40B4-BE49-F238E27FC236}">
                  <a16:creationId xmlns:a16="http://schemas.microsoft.com/office/drawing/2014/main" id="{0A3FD1D8-8B24-8160-A2DC-EA4E3F89C00E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" name="標題 1">
              <a:extLst>
                <a:ext uri="{FF2B5EF4-FFF2-40B4-BE49-F238E27FC236}">
                  <a16:creationId xmlns:a16="http://schemas.microsoft.com/office/drawing/2014/main" id="{C54505D7-E619-DAEA-2B54-9E119C3FCDE0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21" name="標題 1">
              <a:extLst>
                <a:ext uri="{FF2B5EF4-FFF2-40B4-BE49-F238E27FC236}">
                  <a16:creationId xmlns:a16="http://schemas.microsoft.com/office/drawing/2014/main" id="{38029C74-2663-CD68-BD22-D629C819599D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rgbClr val="FF0000"/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60F6AB3F-3534-E587-A360-D1486A2D7322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3BEFA795-6B5D-D44D-7961-3C9B06DB3A44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INT4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Quantization</a:t>
            </a:r>
          </a:p>
        </p:txBody>
      </p:sp>
      <p:sp>
        <p:nvSpPr>
          <p:cNvPr id="132" name="流程圖: 合併 131">
            <a:extLst>
              <a:ext uri="{FF2B5EF4-FFF2-40B4-BE49-F238E27FC236}">
                <a16:creationId xmlns:a16="http://schemas.microsoft.com/office/drawing/2014/main" id="{B318699F-9485-4652-8519-8E7321EEE6C1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Cost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33" name="接點: 肘形 132">
            <a:extLst>
              <a:ext uri="{FF2B5EF4-FFF2-40B4-BE49-F238E27FC236}">
                <a16:creationId xmlns:a16="http://schemas.microsoft.com/office/drawing/2014/main" id="{25E3FDBC-A31D-8588-0E05-C4418761BDBC}"/>
              </a:ext>
            </a:extLst>
          </p:cNvPr>
          <p:cNvCxnSpPr>
            <a:cxnSpLocks/>
            <a:stCxn id="109" idx="3"/>
            <a:endCxn id="105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98D0DC95-1A97-D891-3726-7D42B7DA65C9}"/>
              </a:ext>
            </a:extLst>
          </p:cNvPr>
          <p:cNvCxnSpPr>
            <a:cxnSpLocks/>
            <a:stCxn id="107" idx="3"/>
            <a:endCxn id="105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19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A73F4B-F6D5-D6A8-3D63-B5B2B052D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: 圓角 92">
            <a:extLst>
              <a:ext uri="{FF2B5EF4-FFF2-40B4-BE49-F238E27FC236}">
                <a16:creationId xmlns:a16="http://schemas.microsoft.com/office/drawing/2014/main" id="{4928086E-C57B-CFD8-E24B-4BEE16E549AE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D1C7F93-BED0-BD63-3058-B9779172DA67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FE2DAF5-F4B3-4E3C-D9A4-186F750E2771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7CB97D8A-008F-A17E-ABCD-A5F03CC103EE}"/>
              </a:ext>
            </a:extLst>
          </p:cNvPr>
          <p:cNvCxnSpPr>
            <a:cxnSpLocks/>
            <a:stCxn id="8" idx="0"/>
            <a:endCxn id="137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2168BB19-0CE7-C14B-A0E9-DE6B080FA38F}"/>
              </a:ext>
            </a:extLst>
          </p:cNvPr>
          <p:cNvCxnSpPr>
            <a:cxnSpLocks/>
            <a:stCxn id="73" idx="0"/>
            <a:endCxn id="2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976AB3B6-6FB0-A420-1C88-B1C5B9652D4A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F55F07FA-0178-637C-C21A-E7E010B31F8C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altLang="zh-TW" sz="1200" b="1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Dataset   </a:t>
            </a:r>
            <a:endParaRPr lang="en-US" altLang="zh-TW" sz="1200" u="sng" strike="noStrike" kern="1200" spc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…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endParaRPr kumimoji="0" lang="en-US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3" name="右大括弧 82">
            <a:extLst>
              <a:ext uri="{FF2B5EF4-FFF2-40B4-BE49-F238E27FC236}">
                <a16:creationId xmlns:a16="http://schemas.microsoft.com/office/drawing/2014/main" id="{78E195F4-AC8C-9656-0261-19089CDFC37A}"/>
              </a:ext>
            </a:extLst>
          </p:cNvPr>
          <p:cNvSpPr/>
          <p:nvPr/>
        </p:nvSpPr>
        <p:spPr>
          <a:xfrm rot="5400000">
            <a:off x="4896673" y="3475067"/>
            <a:ext cx="174616" cy="1378626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5" name="標題 1">
            <a:extLst>
              <a:ext uri="{FF2B5EF4-FFF2-40B4-BE49-F238E27FC236}">
                <a16:creationId xmlns:a16="http://schemas.microsoft.com/office/drawing/2014/main" id="{E9A03960-058B-2CB8-2C60-45E910202458}"/>
              </a:ext>
            </a:extLst>
          </p:cNvPr>
          <p:cNvSpPr txBox="1">
            <a:spLocks/>
          </p:cNvSpPr>
          <p:nvPr/>
        </p:nvSpPr>
        <p:spPr>
          <a:xfrm>
            <a:off x="4046601" y="3790008"/>
            <a:ext cx="496133" cy="225143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Full-FT</a:t>
            </a: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4B59C877-B523-3595-7DC8-BF6CE185AA2E}"/>
              </a:ext>
            </a:extLst>
          </p:cNvPr>
          <p:cNvSpPr/>
          <p:nvPr/>
        </p:nvSpPr>
        <p:spPr>
          <a:xfrm>
            <a:off x="2471724" y="217179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6893B6E1-7D78-7FC0-5CF9-80CE7CCC3F9D}"/>
              </a:ext>
            </a:extLst>
          </p:cNvPr>
          <p:cNvSpPr txBox="1"/>
          <p:nvPr/>
        </p:nvSpPr>
        <p:spPr>
          <a:xfrm>
            <a:off x="2539118" y="223552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2AEDE1F3-B28E-D40E-7AAE-184448BD5887}"/>
              </a:ext>
            </a:extLst>
          </p:cNvPr>
          <p:cNvSpPr txBox="1"/>
          <p:nvPr/>
        </p:nvSpPr>
        <p:spPr>
          <a:xfrm>
            <a:off x="2539118" y="270696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33D1A3B3-6E0C-56F1-303D-64C258B2A34D}"/>
              </a:ext>
            </a:extLst>
          </p:cNvPr>
          <p:cNvCxnSpPr>
            <a:cxnSpLocks/>
            <a:stCxn id="118" idx="0"/>
            <a:endCxn id="139" idx="2"/>
          </p:cNvCxnSpPr>
          <p:nvPr/>
        </p:nvCxnSpPr>
        <p:spPr>
          <a:xfrm flipH="1" flipV="1">
            <a:off x="3004910" y="1864664"/>
            <a:ext cx="2" cy="37085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直線單箭頭接點 121">
            <a:extLst>
              <a:ext uri="{FF2B5EF4-FFF2-40B4-BE49-F238E27FC236}">
                <a16:creationId xmlns:a16="http://schemas.microsoft.com/office/drawing/2014/main" id="{9D3BDDE6-9F86-9B08-A3E0-E1B6FEF50B9B}"/>
              </a:ext>
            </a:extLst>
          </p:cNvPr>
          <p:cNvCxnSpPr>
            <a:cxnSpLocks/>
            <a:stCxn id="125" idx="0"/>
            <a:endCxn id="119" idx="2"/>
          </p:cNvCxnSpPr>
          <p:nvPr/>
        </p:nvCxnSpPr>
        <p:spPr>
          <a:xfrm flipH="1" flipV="1">
            <a:off x="3004912" y="3077822"/>
            <a:ext cx="4083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08F38121-E97B-5C72-59F8-584A1DACE066}"/>
              </a:ext>
            </a:extLst>
          </p:cNvPr>
          <p:cNvCxnSpPr>
            <a:cxnSpLocks/>
            <a:stCxn id="119" idx="0"/>
            <a:endCxn id="118" idx="2"/>
          </p:cNvCxnSpPr>
          <p:nvPr/>
        </p:nvCxnSpPr>
        <p:spPr>
          <a:xfrm flipV="1">
            <a:off x="3004912" y="260638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8AC6F89D-9DDE-C6B1-B8D4-091FD6E91DE4}"/>
              </a:ext>
            </a:extLst>
          </p:cNvPr>
          <p:cNvSpPr txBox="1"/>
          <p:nvPr/>
        </p:nvSpPr>
        <p:spPr>
          <a:xfrm>
            <a:off x="2651259" y="329872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Mentor</a:t>
            </a:r>
          </a:p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DCAA15A2-2C82-7EC5-D818-A6325C0C4EB8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4EEBD5D0-F0A5-4D13-81E1-6F52D5F64607}"/>
              </a:ext>
            </a:extLst>
          </p:cNvPr>
          <p:cNvSpPr txBox="1"/>
          <p:nvPr/>
        </p:nvSpPr>
        <p:spPr>
          <a:xfrm>
            <a:off x="2539118" y="1486748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cxnSp>
        <p:nvCxnSpPr>
          <p:cNvPr id="144" name="接點: 肘形 143">
            <a:extLst>
              <a:ext uri="{FF2B5EF4-FFF2-40B4-BE49-F238E27FC236}">
                <a16:creationId xmlns:a16="http://schemas.microsoft.com/office/drawing/2014/main" id="{93F4892F-BD86-06A2-4D59-865B71745F2D}"/>
              </a:ext>
            </a:extLst>
          </p:cNvPr>
          <p:cNvCxnSpPr>
            <a:cxnSpLocks/>
            <a:stCxn id="139" idx="3"/>
            <a:endCxn id="135" idx="3"/>
          </p:cNvCxnSpPr>
          <p:nvPr/>
        </p:nvCxnSpPr>
        <p:spPr>
          <a:xfrm>
            <a:off x="3470701" y="1675706"/>
            <a:ext cx="108652" cy="950562"/>
          </a:xfrm>
          <a:prstGeom prst="bentConnector3">
            <a:avLst>
              <a:gd name="adj1" fmla="val 310396"/>
            </a:avLst>
          </a:prstGeom>
          <a:ln w="19050">
            <a:solidFill>
              <a:schemeClr val="accent2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接點: 肘形 146">
            <a:extLst>
              <a:ext uri="{FF2B5EF4-FFF2-40B4-BE49-F238E27FC236}">
                <a16:creationId xmlns:a16="http://schemas.microsoft.com/office/drawing/2014/main" id="{418D1EB1-3D02-619E-CCD1-EFA2AFDEA83D}"/>
              </a:ext>
            </a:extLst>
          </p:cNvPr>
          <p:cNvCxnSpPr>
            <a:cxnSpLocks/>
            <a:stCxn id="137" idx="3"/>
            <a:endCxn id="379" idx="3"/>
          </p:cNvCxnSpPr>
          <p:nvPr/>
        </p:nvCxnSpPr>
        <p:spPr>
          <a:xfrm>
            <a:off x="1606488" y="1320066"/>
            <a:ext cx="272973" cy="1246657"/>
          </a:xfrm>
          <a:prstGeom prst="bentConnector3">
            <a:avLst>
              <a:gd name="adj1" fmla="val 148652"/>
            </a:avLst>
          </a:prstGeom>
          <a:ln w="19050">
            <a:solidFill>
              <a:schemeClr val="accent2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矩形: 圓角 230">
            <a:extLst>
              <a:ext uri="{FF2B5EF4-FFF2-40B4-BE49-F238E27FC236}">
                <a16:creationId xmlns:a16="http://schemas.microsoft.com/office/drawing/2014/main" id="{A2518113-6553-AA3F-2F21-6672C01DB5A5}"/>
              </a:ext>
            </a:extLst>
          </p:cNvPr>
          <p:cNvSpPr/>
          <p:nvPr/>
        </p:nvSpPr>
        <p:spPr>
          <a:xfrm>
            <a:off x="3967587" y="2171798"/>
            <a:ext cx="88141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2" name="文字方塊 231">
            <a:extLst>
              <a:ext uri="{FF2B5EF4-FFF2-40B4-BE49-F238E27FC236}">
                <a16:creationId xmlns:a16="http://schemas.microsoft.com/office/drawing/2014/main" id="{8238E81A-BF63-7018-BB35-37510B2097A2}"/>
              </a:ext>
            </a:extLst>
          </p:cNvPr>
          <p:cNvSpPr txBox="1"/>
          <p:nvPr/>
        </p:nvSpPr>
        <p:spPr>
          <a:xfrm>
            <a:off x="4034981" y="2235522"/>
            <a:ext cx="523087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D8AA9854-6650-14F6-7194-1F2BA46C15AA}"/>
              </a:ext>
            </a:extLst>
          </p:cNvPr>
          <p:cNvSpPr txBox="1"/>
          <p:nvPr/>
        </p:nvSpPr>
        <p:spPr>
          <a:xfrm>
            <a:off x="4034981" y="2706964"/>
            <a:ext cx="5230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234" name="直線單箭頭接點 233">
            <a:extLst>
              <a:ext uri="{FF2B5EF4-FFF2-40B4-BE49-F238E27FC236}">
                <a16:creationId xmlns:a16="http://schemas.microsoft.com/office/drawing/2014/main" id="{1CE1F568-9AF0-FDD0-8BDC-B0404C25ABFD}"/>
              </a:ext>
            </a:extLst>
          </p:cNvPr>
          <p:cNvCxnSpPr>
            <a:cxnSpLocks/>
            <a:stCxn id="232" idx="0"/>
            <a:endCxn id="238" idx="2"/>
          </p:cNvCxnSpPr>
          <p:nvPr/>
        </p:nvCxnSpPr>
        <p:spPr>
          <a:xfrm flipH="1" flipV="1">
            <a:off x="4296524" y="1874865"/>
            <a:ext cx="1" cy="36065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線單箭頭接點 234">
            <a:extLst>
              <a:ext uri="{FF2B5EF4-FFF2-40B4-BE49-F238E27FC236}">
                <a16:creationId xmlns:a16="http://schemas.microsoft.com/office/drawing/2014/main" id="{78555B27-050E-6D09-9209-95456926B4E8}"/>
              </a:ext>
            </a:extLst>
          </p:cNvPr>
          <p:cNvCxnSpPr>
            <a:cxnSpLocks/>
            <a:stCxn id="237" idx="0"/>
            <a:endCxn id="233" idx="2"/>
          </p:cNvCxnSpPr>
          <p:nvPr/>
        </p:nvCxnSpPr>
        <p:spPr>
          <a:xfrm flipV="1">
            <a:off x="4294668" y="3077822"/>
            <a:ext cx="1857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直線單箭頭接點 235">
            <a:extLst>
              <a:ext uri="{FF2B5EF4-FFF2-40B4-BE49-F238E27FC236}">
                <a16:creationId xmlns:a16="http://schemas.microsoft.com/office/drawing/2014/main" id="{F52FCB81-009B-A3DE-6E4C-EA1C22CED224}"/>
              </a:ext>
            </a:extLst>
          </p:cNvPr>
          <p:cNvCxnSpPr>
            <a:cxnSpLocks/>
            <a:stCxn id="233" idx="0"/>
            <a:endCxn id="232" idx="2"/>
          </p:cNvCxnSpPr>
          <p:nvPr/>
        </p:nvCxnSpPr>
        <p:spPr>
          <a:xfrm flipV="1">
            <a:off x="4296525" y="260638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文字方塊 236">
            <a:extLst>
              <a:ext uri="{FF2B5EF4-FFF2-40B4-BE49-F238E27FC236}">
                <a16:creationId xmlns:a16="http://schemas.microsoft.com/office/drawing/2014/main" id="{447FA1F8-2B57-5506-DA2A-EA056337303C}"/>
              </a:ext>
            </a:extLst>
          </p:cNvPr>
          <p:cNvSpPr txBox="1"/>
          <p:nvPr/>
        </p:nvSpPr>
        <p:spPr>
          <a:xfrm>
            <a:off x="4078644" y="3298727"/>
            <a:ext cx="432048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200" b="1" u="sng" dirty="0">
                <a:solidFill>
                  <a:srgbClr val="000000"/>
                </a:solidFill>
                <a:latin typeface="Consolas" panose="020B0609020204030204" pitchFamily="49" charset="0"/>
              </a:rPr>
              <a:t>Q&amp;A</a:t>
            </a:r>
            <a:r>
              <a:rPr lang="en-US" altLang="zh-TW" sz="1200" b="1" u="sng" strike="noStrike" kern="1200" spc="0" dirty="0">
                <a:ln>
                  <a:noFill/>
                </a:ln>
                <a:effectLst/>
                <a:latin typeface="Consolas" panose="020B0609020204030204" pitchFamily="49" charset="0"/>
              </a:rPr>
              <a:t> </a:t>
            </a:r>
            <a:endParaRPr lang="en-US" altLang="zh-TW" sz="1200" u="sng" strike="noStrike" kern="1200" spc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38" name="文字方塊 237">
            <a:extLst>
              <a:ext uri="{FF2B5EF4-FFF2-40B4-BE49-F238E27FC236}">
                <a16:creationId xmlns:a16="http://schemas.microsoft.com/office/drawing/2014/main" id="{09077A5C-56B1-48A7-B132-39266F22E51F}"/>
              </a:ext>
            </a:extLst>
          </p:cNvPr>
          <p:cNvSpPr txBox="1"/>
          <p:nvPr/>
        </p:nvSpPr>
        <p:spPr>
          <a:xfrm>
            <a:off x="3899040" y="1496949"/>
            <a:ext cx="794968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Answer</a:t>
            </a:r>
          </a:p>
        </p:txBody>
      </p:sp>
      <p:cxnSp>
        <p:nvCxnSpPr>
          <p:cNvPr id="239" name="接點: 肘形 238">
            <a:extLst>
              <a:ext uri="{FF2B5EF4-FFF2-40B4-BE49-F238E27FC236}">
                <a16:creationId xmlns:a16="http://schemas.microsoft.com/office/drawing/2014/main" id="{5E43A6DC-032E-5EDA-92AE-19A6DC7665B4}"/>
              </a:ext>
            </a:extLst>
          </p:cNvPr>
          <p:cNvCxnSpPr>
            <a:cxnSpLocks/>
            <a:stCxn id="238" idx="3"/>
            <a:endCxn id="300" idx="3"/>
          </p:cNvCxnSpPr>
          <p:nvPr/>
        </p:nvCxnSpPr>
        <p:spPr>
          <a:xfrm flipH="1">
            <a:off x="4651286" y="1685907"/>
            <a:ext cx="42722" cy="943870"/>
          </a:xfrm>
          <a:prstGeom prst="bentConnector3">
            <a:avLst>
              <a:gd name="adj1" fmla="val -535087"/>
            </a:avLst>
          </a:prstGeom>
          <a:ln w="19050">
            <a:solidFill>
              <a:schemeClr val="accent2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矩形: 圓角 299">
            <a:extLst>
              <a:ext uri="{FF2B5EF4-FFF2-40B4-BE49-F238E27FC236}">
                <a16:creationId xmlns:a16="http://schemas.microsoft.com/office/drawing/2014/main" id="{71E57E49-05C6-FC3D-E7B0-E01D33C9B182}"/>
              </a:ext>
            </a:extLst>
          </p:cNvPr>
          <p:cNvSpPr/>
          <p:nvPr/>
        </p:nvSpPr>
        <p:spPr>
          <a:xfrm>
            <a:off x="3904878" y="2062812"/>
            <a:ext cx="746408" cy="1133929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3" name="矩形: 圓角 302">
            <a:extLst>
              <a:ext uri="{FF2B5EF4-FFF2-40B4-BE49-F238E27FC236}">
                <a16:creationId xmlns:a16="http://schemas.microsoft.com/office/drawing/2014/main" id="{E56FF762-98A6-05A5-C664-098F47F03575}"/>
              </a:ext>
            </a:extLst>
          </p:cNvPr>
          <p:cNvSpPr/>
          <p:nvPr/>
        </p:nvSpPr>
        <p:spPr>
          <a:xfrm>
            <a:off x="5346213" y="2170828"/>
            <a:ext cx="88141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4" name="文字方塊 303">
            <a:extLst>
              <a:ext uri="{FF2B5EF4-FFF2-40B4-BE49-F238E27FC236}">
                <a16:creationId xmlns:a16="http://schemas.microsoft.com/office/drawing/2014/main" id="{03C040A2-8548-6161-7FA9-A766B9DB7A7B}"/>
              </a:ext>
            </a:extLst>
          </p:cNvPr>
          <p:cNvSpPr txBox="1"/>
          <p:nvPr/>
        </p:nvSpPr>
        <p:spPr>
          <a:xfrm>
            <a:off x="5413607" y="2234552"/>
            <a:ext cx="523087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05" name="文字方塊 304">
            <a:extLst>
              <a:ext uri="{FF2B5EF4-FFF2-40B4-BE49-F238E27FC236}">
                <a16:creationId xmlns:a16="http://schemas.microsoft.com/office/drawing/2014/main" id="{C44D0204-C2D8-698D-5A2F-359E1DBFD495}"/>
              </a:ext>
            </a:extLst>
          </p:cNvPr>
          <p:cNvSpPr txBox="1"/>
          <p:nvPr/>
        </p:nvSpPr>
        <p:spPr>
          <a:xfrm>
            <a:off x="5413607" y="2705994"/>
            <a:ext cx="5230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06" name="直線單箭頭接點 305">
            <a:extLst>
              <a:ext uri="{FF2B5EF4-FFF2-40B4-BE49-F238E27FC236}">
                <a16:creationId xmlns:a16="http://schemas.microsoft.com/office/drawing/2014/main" id="{BBB80449-19F8-1466-7D83-E56ADE739BB9}"/>
              </a:ext>
            </a:extLst>
          </p:cNvPr>
          <p:cNvCxnSpPr>
            <a:cxnSpLocks/>
            <a:stCxn id="304" idx="0"/>
            <a:endCxn id="310" idx="2"/>
          </p:cNvCxnSpPr>
          <p:nvPr/>
        </p:nvCxnSpPr>
        <p:spPr>
          <a:xfrm flipH="1" flipV="1">
            <a:off x="5675150" y="2134820"/>
            <a:ext cx="1" cy="9973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" name="直線單箭頭接點 306">
            <a:extLst>
              <a:ext uri="{FF2B5EF4-FFF2-40B4-BE49-F238E27FC236}">
                <a16:creationId xmlns:a16="http://schemas.microsoft.com/office/drawing/2014/main" id="{8891154A-4E2A-C42E-E97C-6967CF03D0C2}"/>
              </a:ext>
            </a:extLst>
          </p:cNvPr>
          <p:cNvCxnSpPr>
            <a:cxnSpLocks/>
            <a:stCxn id="309" idx="0"/>
            <a:endCxn id="305" idx="2"/>
          </p:cNvCxnSpPr>
          <p:nvPr/>
        </p:nvCxnSpPr>
        <p:spPr>
          <a:xfrm flipV="1">
            <a:off x="5673294" y="3076852"/>
            <a:ext cx="1857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直線單箭頭接點 307">
            <a:extLst>
              <a:ext uri="{FF2B5EF4-FFF2-40B4-BE49-F238E27FC236}">
                <a16:creationId xmlns:a16="http://schemas.microsoft.com/office/drawing/2014/main" id="{664FE641-7A4B-43C0-571D-60C3357A6F56}"/>
              </a:ext>
            </a:extLst>
          </p:cNvPr>
          <p:cNvCxnSpPr>
            <a:cxnSpLocks/>
            <a:stCxn id="305" idx="0"/>
            <a:endCxn id="304" idx="2"/>
          </p:cNvCxnSpPr>
          <p:nvPr/>
        </p:nvCxnSpPr>
        <p:spPr>
          <a:xfrm flipV="1">
            <a:off x="5675151" y="260541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9" name="文字方塊 308">
            <a:extLst>
              <a:ext uri="{FF2B5EF4-FFF2-40B4-BE49-F238E27FC236}">
                <a16:creationId xmlns:a16="http://schemas.microsoft.com/office/drawing/2014/main" id="{1B7EEA07-5236-B0CB-DF53-EBDAD1352252}"/>
              </a:ext>
            </a:extLst>
          </p:cNvPr>
          <p:cNvSpPr txBox="1"/>
          <p:nvPr/>
        </p:nvSpPr>
        <p:spPr>
          <a:xfrm>
            <a:off x="5457270" y="3297757"/>
            <a:ext cx="432048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200" b="1" u="sng" dirty="0">
                <a:solidFill>
                  <a:srgbClr val="000000"/>
                </a:solidFill>
                <a:latin typeface="Consolas" panose="020B0609020204030204" pitchFamily="49" charset="0"/>
              </a:rPr>
              <a:t>Q&amp;A</a:t>
            </a:r>
            <a:r>
              <a:rPr lang="en-US" altLang="zh-TW" sz="1200" b="1" u="sng" strike="noStrike" kern="1200" spc="0" dirty="0">
                <a:ln>
                  <a:noFill/>
                </a:ln>
                <a:effectLst/>
                <a:latin typeface="Consolas" panose="020B0609020204030204" pitchFamily="49" charset="0"/>
              </a:rPr>
              <a:t> </a:t>
            </a:r>
            <a:endParaRPr lang="en-US" altLang="zh-TW" sz="1200" u="sng" strike="noStrike" kern="1200" spc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10" name="文字方塊 309">
            <a:extLst>
              <a:ext uri="{FF2B5EF4-FFF2-40B4-BE49-F238E27FC236}">
                <a16:creationId xmlns:a16="http://schemas.microsoft.com/office/drawing/2014/main" id="{86FD164C-4839-ECC6-D3B2-828B5EC3E5DA}"/>
              </a:ext>
            </a:extLst>
          </p:cNvPr>
          <p:cNvSpPr txBox="1"/>
          <p:nvPr/>
        </p:nvSpPr>
        <p:spPr>
          <a:xfrm>
            <a:off x="5277666" y="1756904"/>
            <a:ext cx="794968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Answer</a:t>
            </a:r>
          </a:p>
        </p:txBody>
      </p:sp>
      <p:cxnSp>
        <p:nvCxnSpPr>
          <p:cNvPr id="311" name="接點: 肘形 310">
            <a:extLst>
              <a:ext uri="{FF2B5EF4-FFF2-40B4-BE49-F238E27FC236}">
                <a16:creationId xmlns:a16="http://schemas.microsoft.com/office/drawing/2014/main" id="{ED60DC25-DDD7-2411-38C4-366D7CBDFF4B}"/>
              </a:ext>
            </a:extLst>
          </p:cNvPr>
          <p:cNvCxnSpPr>
            <a:cxnSpLocks/>
            <a:stCxn id="310" idx="3"/>
            <a:endCxn id="314" idx="3"/>
          </p:cNvCxnSpPr>
          <p:nvPr/>
        </p:nvCxnSpPr>
        <p:spPr>
          <a:xfrm>
            <a:off x="6072634" y="1945862"/>
            <a:ext cx="155550" cy="719434"/>
          </a:xfrm>
          <a:prstGeom prst="bentConnector3">
            <a:avLst>
              <a:gd name="adj1" fmla="val 246962"/>
            </a:avLst>
          </a:prstGeom>
          <a:ln w="19050">
            <a:solidFill>
              <a:schemeClr val="accent2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文字方塊 311">
            <a:extLst>
              <a:ext uri="{FF2B5EF4-FFF2-40B4-BE49-F238E27FC236}">
                <a16:creationId xmlns:a16="http://schemas.microsoft.com/office/drawing/2014/main" id="{A8B9269E-7FBF-3E42-97B2-335290142724}"/>
              </a:ext>
            </a:extLst>
          </p:cNvPr>
          <p:cNvSpPr txBox="1"/>
          <p:nvPr/>
        </p:nvSpPr>
        <p:spPr>
          <a:xfrm>
            <a:off x="5995972" y="2234552"/>
            <a:ext cx="189751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Adapter</a:t>
            </a:r>
          </a:p>
        </p:txBody>
      </p:sp>
      <p:sp>
        <p:nvSpPr>
          <p:cNvPr id="313" name="文字方塊 312">
            <a:extLst>
              <a:ext uri="{FF2B5EF4-FFF2-40B4-BE49-F238E27FC236}">
                <a16:creationId xmlns:a16="http://schemas.microsoft.com/office/drawing/2014/main" id="{1085CC75-5575-6210-66EA-84D9B0F6D001}"/>
              </a:ext>
            </a:extLst>
          </p:cNvPr>
          <p:cNvSpPr txBox="1"/>
          <p:nvPr/>
        </p:nvSpPr>
        <p:spPr>
          <a:xfrm>
            <a:off x="5995972" y="2705994"/>
            <a:ext cx="19876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Adapter</a:t>
            </a:r>
          </a:p>
        </p:txBody>
      </p:sp>
      <p:sp>
        <p:nvSpPr>
          <p:cNvPr id="314" name="矩形: 圓角 313">
            <a:extLst>
              <a:ext uri="{FF2B5EF4-FFF2-40B4-BE49-F238E27FC236}">
                <a16:creationId xmlns:a16="http://schemas.microsoft.com/office/drawing/2014/main" id="{802CC4AE-7A3A-BB48-2FEE-0B3EF73F2D66}"/>
              </a:ext>
            </a:extLst>
          </p:cNvPr>
          <p:cNvSpPr/>
          <p:nvPr/>
        </p:nvSpPr>
        <p:spPr>
          <a:xfrm>
            <a:off x="5934837" y="2134820"/>
            <a:ext cx="293347" cy="1060951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5" name="矩形: 圓角 134">
            <a:extLst>
              <a:ext uri="{FF2B5EF4-FFF2-40B4-BE49-F238E27FC236}">
                <a16:creationId xmlns:a16="http://schemas.microsoft.com/office/drawing/2014/main" id="{2B7827D6-EC5A-7D11-B6E2-F17E4B871D68}"/>
              </a:ext>
            </a:extLst>
          </p:cNvPr>
          <p:cNvSpPr/>
          <p:nvPr/>
        </p:nvSpPr>
        <p:spPr>
          <a:xfrm>
            <a:off x="2422005" y="2056764"/>
            <a:ext cx="1157348" cy="1139007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5" name="矩形: 圓角 314">
            <a:extLst>
              <a:ext uri="{FF2B5EF4-FFF2-40B4-BE49-F238E27FC236}">
                <a16:creationId xmlns:a16="http://schemas.microsoft.com/office/drawing/2014/main" id="{AB38B9BB-4AC4-B112-A435-4F9A60610A38}"/>
              </a:ext>
            </a:extLst>
          </p:cNvPr>
          <p:cNvSpPr/>
          <p:nvPr/>
        </p:nvSpPr>
        <p:spPr>
          <a:xfrm>
            <a:off x="6729360" y="2170828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6" name="文字方塊 315">
            <a:extLst>
              <a:ext uri="{FF2B5EF4-FFF2-40B4-BE49-F238E27FC236}">
                <a16:creationId xmlns:a16="http://schemas.microsoft.com/office/drawing/2014/main" id="{ECA351F7-1427-FEFB-C8AA-E5FBD7A4090F}"/>
              </a:ext>
            </a:extLst>
          </p:cNvPr>
          <p:cNvSpPr txBox="1"/>
          <p:nvPr/>
        </p:nvSpPr>
        <p:spPr>
          <a:xfrm>
            <a:off x="6806458" y="2234552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17" name="文字方塊 316">
            <a:extLst>
              <a:ext uri="{FF2B5EF4-FFF2-40B4-BE49-F238E27FC236}">
                <a16:creationId xmlns:a16="http://schemas.microsoft.com/office/drawing/2014/main" id="{1CD1F429-5C8E-E739-47FB-816E10B6C5DC}"/>
              </a:ext>
            </a:extLst>
          </p:cNvPr>
          <p:cNvSpPr txBox="1"/>
          <p:nvPr/>
        </p:nvSpPr>
        <p:spPr>
          <a:xfrm>
            <a:off x="6806458" y="2705994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8" name="直線單箭頭接點 317">
            <a:extLst>
              <a:ext uri="{FF2B5EF4-FFF2-40B4-BE49-F238E27FC236}">
                <a16:creationId xmlns:a16="http://schemas.microsoft.com/office/drawing/2014/main" id="{04C496F6-ABD8-EFF6-C621-DDF60E6942DF}"/>
              </a:ext>
            </a:extLst>
          </p:cNvPr>
          <p:cNvCxnSpPr>
            <a:cxnSpLocks/>
            <a:stCxn id="316" idx="0"/>
            <a:endCxn id="322" idx="2"/>
          </p:cNvCxnSpPr>
          <p:nvPr/>
        </p:nvCxnSpPr>
        <p:spPr>
          <a:xfrm flipH="1" flipV="1">
            <a:off x="7012825" y="2072676"/>
            <a:ext cx="1850" cy="1618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線單箭頭接點 318">
            <a:extLst>
              <a:ext uri="{FF2B5EF4-FFF2-40B4-BE49-F238E27FC236}">
                <a16:creationId xmlns:a16="http://schemas.microsoft.com/office/drawing/2014/main" id="{EA38E3ED-AE34-7105-5ED2-00698176F1A4}"/>
              </a:ext>
            </a:extLst>
          </p:cNvPr>
          <p:cNvCxnSpPr>
            <a:cxnSpLocks/>
            <a:stCxn id="321" idx="0"/>
            <a:endCxn id="317" idx="2"/>
          </p:cNvCxnSpPr>
          <p:nvPr/>
        </p:nvCxnSpPr>
        <p:spPr>
          <a:xfrm flipV="1">
            <a:off x="7014674" y="3076852"/>
            <a:ext cx="1" cy="138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文字方塊 320">
            <a:extLst>
              <a:ext uri="{FF2B5EF4-FFF2-40B4-BE49-F238E27FC236}">
                <a16:creationId xmlns:a16="http://schemas.microsoft.com/office/drawing/2014/main" id="{9CA200CA-E02A-A925-2198-43CACB2AC030}"/>
              </a:ext>
            </a:extLst>
          </p:cNvPr>
          <p:cNvSpPr txBox="1"/>
          <p:nvPr/>
        </p:nvSpPr>
        <p:spPr>
          <a:xfrm>
            <a:off x="6798650" y="3214940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1FECA35E-3096-BFA2-1F7E-A7FFCE7DDE3A}"/>
              </a:ext>
            </a:extLst>
          </p:cNvPr>
          <p:cNvSpPr txBox="1"/>
          <p:nvPr/>
        </p:nvSpPr>
        <p:spPr>
          <a:xfrm>
            <a:off x="6789353" y="1772816"/>
            <a:ext cx="446943" cy="299860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  <a:p>
            <a:pPr algn="ctr">
              <a:lnSpc>
                <a:spcPts val="10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  <a:endParaRPr lang="en-US" altLang="zh-TW" sz="10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324" name="文字方塊 323">
            <a:extLst>
              <a:ext uri="{FF2B5EF4-FFF2-40B4-BE49-F238E27FC236}">
                <a16:creationId xmlns:a16="http://schemas.microsoft.com/office/drawing/2014/main" id="{988D470B-5B31-AF94-45D7-CB5C8933B818}"/>
              </a:ext>
            </a:extLst>
          </p:cNvPr>
          <p:cNvSpPr txBox="1"/>
          <p:nvPr/>
        </p:nvSpPr>
        <p:spPr>
          <a:xfrm>
            <a:off x="7256498" y="2234552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25" name="文字方塊 324">
            <a:extLst>
              <a:ext uri="{FF2B5EF4-FFF2-40B4-BE49-F238E27FC236}">
                <a16:creationId xmlns:a16="http://schemas.microsoft.com/office/drawing/2014/main" id="{71813641-9200-346F-AD71-EED07E9F1993}"/>
              </a:ext>
            </a:extLst>
          </p:cNvPr>
          <p:cNvSpPr txBox="1"/>
          <p:nvPr/>
        </p:nvSpPr>
        <p:spPr>
          <a:xfrm>
            <a:off x="7256498" y="2705994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32" name="流程圖: 合併 331">
            <a:extLst>
              <a:ext uri="{FF2B5EF4-FFF2-40B4-BE49-F238E27FC236}">
                <a16:creationId xmlns:a16="http://schemas.microsoft.com/office/drawing/2014/main" id="{C04A9F6E-8A3F-0D84-60DF-6A02C063D7AB}"/>
              </a:ext>
            </a:extLst>
          </p:cNvPr>
          <p:cNvSpPr/>
          <p:nvPr/>
        </p:nvSpPr>
        <p:spPr>
          <a:xfrm>
            <a:off x="5076056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rgbClr val="FF0000"/>
                </a:solidFill>
              </a:rPr>
              <a:t>VRAM</a:t>
            </a:r>
            <a:endParaRPr lang="zh-TW" altLang="en-US" sz="1200" b="1" dirty="0">
              <a:solidFill>
                <a:srgbClr val="FF0000"/>
              </a:solidFill>
            </a:endParaRPr>
          </a:p>
        </p:txBody>
      </p:sp>
      <p:sp>
        <p:nvSpPr>
          <p:cNvPr id="368" name="矩形: 圓角 367">
            <a:extLst>
              <a:ext uri="{FF2B5EF4-FFF2-40B4-BE49-F238E27FC236}">
                <a16:creationId xmlns:a16="http://schemas.microsoft.com/office/drawing/2014/main" id="{278B883E-9F6A-A28A-B853-98CA5AE0DE0D}"/>
              </a:ext>
            </a:extLst>
          </p:cNvPr>
          <p:cNvSpPr/>
          <p:nvPr/>
        </p:nvSpPr>
        <p:spPr>
          <a:xfrm>
            <a:off x="7881488" y="2170744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9" name="文字方塊 368">
            <a:extLst>
              <a:ext uri="{FF2B5EF4-FFF2-40B4-BE49-F238E27FC236}">
                <a16:creationId xmlns:a16="http://schemas.microsoft.com/office/drawing/2014/main" id="{1728371D-45C5-71FE-1F03-2EDCD1376F78}"/>
              </a:ext>
            </a:extLst>
          </p:cNvPr>
          <p:cNvSpPr txBox="1"/>
          <p:nvPr/>
        </p:nvSpPr>
        <p:spPr>
          <a:xfrm>
            <a:off x="7958586" y="2234468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70" name="文字方塊 369">
            <a:extLst>
              <a:ext uri="{FF2B5EF4-FFF2-40B4-BE49-F238E27FC236}">
                <a16:creationId xmlns:a16="http://schemas.microsoft.com/office/drawing/2014/main" id="{E9CF4E00-6200-A5E8-4AE1-660018F85101}"/>
              </a:ext>
            </a:extLst>
          </p:cNvPr>
          <p:cNvSpPr txBox="1"/>
          <p:nvPr/>
        </p:nvSpPr>
        <p:spPr>
          <a:xfrm>
            <a:off x="7958586" y="2705910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71" name="直線單箭頭接點 370">
            <a:extLst>
              <a:ext uri="{FF2B5EF4-FFF2-40B4-BE49-F238E27FC236}">
                <a16:creationId xmlns:a16="http://schemas.microsoft.com/office/drawing/2014/main" id="{90F8056D-85C2-E8CB-6386-B2EADCC38127}"/>
              </a:ext>
            </a:extLst>
          </p:cNvPr>
          <p:cNvCxnSpPr>
            <a:cxnSpLocks/>
            <a:stCxn id="369" idx="0"/>
            <a:endCxn id="54" idx="2"/>
          </p:cNvCxnSpPr>
          <p:nvPr/>
        </p:nvCxnSpPr>
        <p:spPr>
          <a:xfrm flipH="1" flipV="1">
            <a:off x="8164953" y="2072676"/>
            <a:ext cx="1850" cy="16179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線單箭頭接點 371">
            <a:extLst>
              <a:ext uri="{FF2B5EF4-FFF2-40B4-BE49-F238E27FC236}">
                <a16:creationId xmlns:a16="http://schemas.microsoft.com/office/drawing/2014/main" id="{65FE4540-4158-04B3-E5DA-5E74A5863289}"/>
              </a:ext>
            </a:extLst>
          </p:cNvPr>
          <p:cNvCxnSpPr>
            <a:cxnSpLocks/>
            <a:stCxn id="373" idx="0"/>
            <a:endCxn id="370" idx="2"/>
          </p:cNvCxnSpPr>
          <p:nvPr/>
        </p:nvCxnSpPr>
        <p:spPr>
          <a:xfrm flipV="1">
            <a:off x="8166802" y="3076768"/>
            <a:ext cx="1" cy="13817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文字方塊 372">
            <a:extLst>
              <a:ext uri="{FF2B5EF4-FFF2-40B4-BE49-F238E27FC236}">
                <a16:creationId xmlns:a16="http://schemas.microsoft.com/office/drawing/2014/main" id="{6FE43CFD-FA01-02F3-77F5-A953F48DE1FE}"/>
              </a:ext>
            </a:extLst>
          </p:cNvPr>
          <p:cNvSpPr txBox="1"/>
          <p:nvPr/>
        </p:nvSpPr>
        <p:spPr>
          <a:xfrm>
            <a:off x="7950778" y="3214940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6" name="文字方塊 375">
            <a:extLst>
              <a:ext uri="{FF2B5EF4-FFF2-40B4-BE49-F238E27FC236}">
                <a16:creationId xmlns:a16="http://schemas.microsoft.com/office/drawing/2014/main" id="{BC219423-8993-03DA-30F1-AFCD25DA716A}"/>
              </a:ext>
            </a:extLst>
          </p:cNvPr>
          <p:cNvSpPr txBox="1"/>
          <p:nvPr/>
        </p:nvSpPr>
        <p:spPr>
          <a:xfrm>
            <a:off x="8408626" y="2234468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7" name="文字方塊 376">
            <a:extLst>
              <a:ext uri="{FF2B5EF4-FFF2-40B4-BE49-F238E27FC236}">
                <a16:creationId xmlns:a16="http://schemas.microsoft.com/office/drawing/2014/main" id="{A57E7F44-94F8-2AC6-C74C-6FA17FD3EDD8}"/>
              </a:ext>
            </a:extLst>
          </p:cNvPr>
          <p:cNvSpPr txBox="1"/>
          <p:nvPr/>
        </p:nvSpPr>
        <p:spPr>
          <a:xfrm>
            <a:off x="8408626" y="2705910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B8DFDE55-4F92-32C8-8BE9-BB08A270C399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84B1396-ACFF-7810-6884-BD9293CF749F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 err="1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,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</a:t>
            </a:r>
            <a:r>
              <a:rPr lang="en-US" altLang="zh-TW" sz="1000" dirty="0" err="1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</a:t>
            </a:r>
            <a:endParaRPr lang="en-US" altLang="zh-TW" sz="1000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  <a:endParaRPr lang="en-US" altLang="zh-TW" sz="1000" u="none" strike="noStrike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0" name="標題 1">
            <a:extLst>
              <a:ext uri="{FF2B5EF4-FFF2-40B4-BE49-F238E27FC236}">
                <a16:creationId xmlns:a16="http://schemas.microsoft.com/office/drawing/2014/main" id="{1A01C226-30E3-018E-C8CC-4202EA4D94F7}"/>
              </a:ext>
            </a:extLst>
          </p:cNvPr>
          <p:cNvSpPr txBox="1">
            <a:spLocks/>
          </p:cNvSpPr>
          <p:nvPr/>
        </p:nvSpPr>
        <p:spPr>
          <a:xfrm>
            <a:off x="5423060" y="3798789"/>
            <a:ext cx="496134" cy="2251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PEFT</a:t>
            </a:r>
            <a:endParaRPr lang="en-US" altLang="zh-TW" sz="1000" dirty="0">
              <a:latin typeface="+mn-lt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9C4CA2D4-51D6-F7AB-131D-BD5F323A0571}"/>
              </a:ext>
            </a:extLst>
          </p:cNvPr>
          <p:cNvSpPr txBox="1">
            <a:spLocks/>
          </p:cNvSpPr>
          <p:nvPr/>
        </p:nvSpPr>
        <p:spPr>
          <a:xfrm>
            <a:off x="2760419" y="379372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24" name="流程圖: 合併 23">
            <a:extLst>
              <a:ext uri="{FF2B5EF4-FFF2-40B4-BE49-F238E27FC236}">
                <a16:creationId xmlns:a16="http://schemas.microsoft.com/office/drawing/2014/main" id="{B6D84648-9566-293F-B46D-98BCB889FD4D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rgbClr val="FF0000"/>
                </a:solidFill>
              </a:rPr>
              <a:t>Time</a:t>
            </a:r>
            <a:endParaRPr lang="zh-TW" altLang="en-US" sz="1200" b="1" dirty="0">
              <a:solidFill>
                <a:srgbClr val="FF0000"/>
              </a:solidFill>
            </a:endParaRPr>
          </a:p>
        </p:txBody>
      </p:sp>
      <p:sp>
        <p:nvSpPr>
          <p:cNvPr id="55" name="標題 1">
            <a:extLst>
              <a:ext uri="{FF2B5EF4-FFF2-40B4-BE49-F238E27FC236}">
                <a16:creationId xmlns:a16="http://schemas.microsoft.com/office/drawing/2014/main" id="{A485BE6F-329C-9384-5DFC-A9C360AA78B5}"/>
              </a:ext>
            </a:extLst>
          </p:cNvPr>
          <p:cNvSpPr txBox="1">
            <a:spLocks/>
          </p:cNvSpPr>
          <p:nvPr/>
        </p:nvSpPr>
        <p:spPr>
          <a:xfrm>
            <a:off x="7844708" y="3708378"/>
            <a:ext cx="640487" cy="200481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lnSpc>
                <a:spcPts val="1400"/>
              </a:lnSpc>
              <a:spcBef>
                <a:spcPts val="0"/>
              </a:spcBef>
              <a:defRPr/>
            </a:pPr>
            <a:r>
              <a:rPr lang="en-US" altLang="zh-TW" sz="12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Precision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2E64644B-E722-5EEA-225D-1B538ADCA096}"/>
              </a:ext>
            </a:extLst>
          </p:cNvPr>
          <p:cNvSpPr txBox="1">
            <a:spLocks/>
          </p:cNvSpPr>
          <p:nvPr/>
        </p:nvSpPr>
        <p:spPr>
          <a:xfrm>
            <a:off x="6739825" y="3717032"/>
            <a:ext cx="640487" cy="200481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lvl="0" algn="ctr">
              <a:lnSpc>
                <a:spcPts val="1400"/>
              </a:lnSpc>
              <a:spcBef>
                <a:spcPts val="0"/>
              </a:spcBef>
              <a:defRPr/>
            </a:pP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(Dimension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3E2284D3-25E4-981C-B0C6-3F85D5FB5BC8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3DCDD983-79AC-3654-B683-45C3C199BEB7}"/>
              </a:ext>
            </a:extLst>
          </p:cNvPr>
          <p:cNvSpPr txBox="1"/>
          <p:nvPr/>
        </p:nvSpPr>
        <p:spPr>
          <a:xfrm>
            <a:off x="2574130" y="232289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DFC49980-804A-63C3-404B-87AE1B38CDC9}"/>
              </a:ext>
            </a:extLst>
          </p:cNvPr>
          <p:cNvSpPr txBox="1"/>
          <p:nvPr/>
        </p:nvSpPr>
        <p:spPr>
          <a:xfrm>
            <a:off x="213023" y="5360729"/>
            <a:ext cx="5583113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SFT Focuses on Alignment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Training Data</a:t>
            </a:r>
            <a:r>
              <a:rPr lang="en-US" altLang="zh-TW" sz="1600" dirty="0"/>
              <a:t>: Structured, high-quality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QA pairs</a:t>
            </a:r>
            <a:r>
              <a:rPr lang="en-US" altLang="zh-TW" sz="1600" dirty="0"/>
              <a:t>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Loss</a:t>
            </a:r>
            <a:r>
              <a:rPr lang="en-US" altLang="zh-TW" sz="1600" dirty="0"/>
              <a:t>: Model calculates loss on the response tokens.</a:t>
            </a:r>
          </a:p>
        </p:txBody>
      </p:sp>
      <p:graphicFrame>
        <p:nvGraphicFramePr>
          <p:cNvPr id="38" name="表格 37">
            <a:extLst>
              <a:ext uri="{FF2B5EF4-FFF2-40B4-BE49-F238E27FC236}">
                <a16:creationId xmlns:a16="http://schemas.microsoft.com/office/drawing/2014/main" id="{ECEFD60B-3038-47B1-2353-8EFC9339CE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7197645"/>
              </p:ext>
            </p:extLst>
          </p:nvPr>
        </p:nvGraphicFramePr>
        <p:xfrm>
          <a:off x="4078644" y="4581128"/>
          <a:ext cx="1840550" cy="635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055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190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SFT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kumimoji="0" lang="zh-TW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algn="l"/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Parameter-Efficient FT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2163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LoRA, QLoRA,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DoRA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</a:tbl>
          </a:graphicData>
        </a:graphic>
      </p:graphicFrame>
      <p:graphicFrame>
        <p:nvGraphicFramePr>
          <p:cNvPr id="45" name="表格 44">
            <a:extLst>
              <a:ext uri="{FF2B5EF4-FFF2-40B4-BE49-F238E27FC236}">
                <a16:creationId xmlns:a16="http://schemas.microsoft.com/office/drawing/2014/main" id="{8E88D75E-F7F8-E7F3-278C-264172E60A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5242602"/>
              </p:ext>
            </p:extLst>
          </p:nvPr>
        </p:nvGraphicFramePr>
        <p:xfrm>
          <a:off x="6511866" y="4530602"/>
          <a:ext cx="2251422" cy="14906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14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3204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Score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algn="l"/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Apply LLM-as-a-Judge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2040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Factual Accuracy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637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Instruction Following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429548"/>
                  </a:ext>
                </a:extLst>
              </a:tr>
              <a:tr h="21363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 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&amp; Logic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3344986"/>
                  </a:ext>
                </a:extLst>
              </a:tr>
              <a:tr h="21363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Generation Integrity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4487830"/>
                  </a:ext>
                </a:extLst>
              </a:tr>
              <a:tr h="21363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Time to First Token &amp; Throughput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8054594"/>
                  </a:ext>
                </a:extLst>
              </a:tr>
            </a:tbl>
          </a:graphicData>
        </a:graphic>
      </p:graphicFrame>
      <p:sp>
        <p:nvSpPr>
          <p:cNvPr id="54" name="文字方塊 53">
            <a:extLst>
              <a:ext uri="{FF2B5EF4-FFF2-40B4-BE49-F238E27FC236}">
                <a16:creationId xmlns:a16="http://schemas.microsoft.com/office/drawing/2014/main" id="{59947BEA-C312-B208-A02B-BC8F4734E675}"/>
              </a:ext>
            </a:extLst>
          </p:cNvPr>
          <p:cNvSpPr txBox="1"/>
          <p:nvPr/>
        </p:nvSpPr>
        <p:spPr>
          <a:xfrm>
            <a:off x="7941481" y="1772816"/>
            <a:ext cx="446943" cy="299860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  <a:p>
            <a:pPr algn="ctr">
              <a:lnSpc>
                <a:spcPts val="10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  <a:endParaRPr lang="en-US" altLang="zh-TW" sz="10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59" name="右大括弧 58">
            <a:extLst>
              <a:ext uri="{FF2B5EF4-FFF2-40B4-BE49-F238E27FC236}">
                <a16:creationId xmlns:a16="http://schemas.microsoft.com/office/drawing/2014/main" id="{DCE153E2-99F5-F7AA-E66E-08077C5821D3}"/>
              </a:ext>
            </a:extLst>
          </p:cNvPr>
          <p:cNvSpPr/>
          <p:nvPr/>
        </p:nvSpPr>
        <p:spPr>
          <a:xfrm rot="5400000">
            <a:off x="7550269" y="3475067"/>
            <a:ext cx="174616" cy="1378626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25C2D031-3808-A9B4-B759-FAC748D08302}"/>
              </a:ext>
            </a:extLst>
          </p:cNvPr>
          <p:cNvCxnSpPr>
            <a:cxnSpLocks/>
            <a:stCxn id="59" idx="1"/>
            <a:endCxn id="45" idx="0"/>
          </p:cNvCxnSpPr>
          <p:nvPr/>
        </p:nvCxnSpPr>
        <p:spPr>
          <a:xfrm>
            <a:off x="7637577" y="4251688"/>
            <a:ext cx="0" cy="27891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線接點 69">
            <a:extLst>
              <a:ext uri="{FF2B5EF4-FFF2-40B4-BE49-F238E27FC236}">
                <a16:creationId xmlns:a16="http://schemas.microsoft.com/office/drawing/2014/main" id="{664A935E-3EA5-06E8-3816-E849988A8208}"/>
              </a:ext>
            </a:extLst>
          </p:cNvPr>
          <p:cNvCxnSpPr>
            <a:cxnSpLocks/>
            <a:stCxn id="83" idx="1"/>
            <a:endCxn id="38" idx="0"/>
          </p:cNvCxnSpPr>
          <p:nvPr/>
        </p:nvCxnSpPr>
        <p:spPr>
          <a:xfrm>
            <a:off x="4983981" y="4251688"/>
            <a:ext cx="14938" cy="32944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標題 1">
            <a:extLst>
              <a:ext uri="{FF2B5EF4-FFF2-40B4-BE49-F238E27FC236}">
                <a16:creationId xmlns:a16="http://schemas.microsoft.com/office/drawing/2014/main" id="{94EBD9FB-3543-897F-7263-CAB4CC68BB3B}"/>
              </a:ext>
            </a:extLst>
          </p:cNvPr>
          <p:cNvSpPr txBox="1">
            <a:spLocks/>
          </p:cNvSpPr>
          <p:nvPr/>
        </p:nvSpPr>
        <p:spPr>
          <a:xfrm>
            <a:off x="4456916" y="3800739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QAT</a:t>
            </a:r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AB187F0B-0805-7839-E2EA-75BABDF83900}"/>
              </a:ext>
            </a:extLst>
          </p:cNvPr>
          <p:cNvSpPr txBox="1">
            <a:spLocks/>
          </p:cNvSpPr>
          <p:nvPr/>
        </p:nvSpPr>
        <p:spPr>
          <a:xfrm>
            <a:off x="7748275" y="84036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008AA80C-E344-E737-03EC-CDDCD0F3D756}"/>
              </a:ext>
            </a:extLst>
          </p:cNvPr>
          <p:cNvSpPr txBox="1">
            <a:spLocks/>
          </p:cNvSpPr>
          <p:nvPr/>
        </p:nvSpPr>
        <p:spPr>
          <a:xfrm>
            <a:off x="7780317" y="120907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F0B5F486-99F4-C511-7B1B-9EA05638171F}"/>
              </a:ext>
            </a:extLst>
          </p:cNvPr>
          <p:cNvSpPr txBox="1">
            <a:spLocks/>
          </p:cNvSpPr>
          <p:nvPr/>
        </p:nvSpPr>
        <p:spPr>
          <a:xfrm>
            <a:off x="5673295" y="3717032"/>
            <a:ext cx="570744" cy="203670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QAT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E5CA7C4A-1A00-6AED-087B-457315B6ED81}"/>
              </a:ext>
            </a:extLst>
          </p:cNvPr>
          <p:cNvSpPr txBox="1"/>
          <p:nvPr/>
        </p:nvSpPr>
        <p:spPr>
          <a:xfrm>
            <a:off x="2548012" y="69217"/>
            <a:ext cx="881420" cy="756316"/>
          </a:xfrm>
          <a:prstGeom prst="rect">
            <a:avLst/>
          </a:prstGeom>
          <a:gradFill flip="none" rotWithShape="1">
            <a:gsLst>
              <a:gs pos="20000">
                <a:schemeClr val="accent6">
                  <a:lumMod val="20000"/>
                  <a:lumOff val="80000"/>
                </a:schemeClr>
              </a:gs>
              <a:gs pos="0">
                <a:schemeClr val="accent2">
                  <a:lumMod val="20000"/>
                  <a:lumOff val="80000"/>
                </a:schemeClr>
              </a:gs>
              <a:gs pos="0">
                <a:schemeClr val="accent2">
                  <a:lumMod val="40000"/>
                  <a:lumOff val="60000"/>
                </a:schemeClr>
              </a:gs>
              <a:gs pos="100000">
                <a:schemeClr val="accent6">
                  <a:lumMod val="20000"/>
                  <a:lumOff val="80000"/>
                </a:schemeClr>
              </a:gs>
            </a:gsLst>
            <a:lin ang="0" scaled="0"/>
            <a:tileRect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Distillation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Architecture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Compression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2073A2C-0639-E064-602A-B1D8D9B9B149}"/>
              </a:ext>
            </a:extLst>
          </p:cNvPr>
          <p:cNvSpPr txBox="1"/>
          <p:nvPr/>
        </p:nvSpPr>
        <p:spPr>
          <a:xfrm>
            <a:off x="4651286" y="82741"/>
            <a:ext cx="881420" cy="756316"/>
          </a:xfrm>
          <a:prstGeom prst="rect">
            <a:avLst/>
          </a:prstGeom>
          <a:gradFill>
            <a:gsLst>
              <a:gs pos="15000">
                <a:schemeClr val="accent6">
                  <a:lumMod val="20000"/>
                  <a:lumOff val="80000"/>
                </a:schemeClr>
              </a:gs>
              <a:gs pos="100000">
                <a:schemeClr val="accent5">
                  <a:lumMod val="40000"/>
                  <a:lumOff val="60000"/>
                </a:schemeClr>
              </a:gs>
              <a:gs pos="0">
                <a:schemeClr val="accent6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Deployment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78E3EF4B-FF1A-E455-1439-04B31734837C}"/>
              </a:ext>
            </a:extLst>
          </p:cNvPr>
          <p:cNvSpPr txBox="1"/>
          <p:nvPr/>
        </p:nvSpPr>
        <p:spPr>
          <a:xfrm>
            <a:off x="3654979" y="69217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S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FT</a:t>
            </a:r>
          </a:p>
          <a:p>
            <a:pPr algn="ctr">
              <a:lnSpc>
                <a:spcPts val="1400"/>
              </a:lnSpc>
            </a:pPr>
            <a:r>
              <a:rPr lang="en-US" altLang="zh-TW" sz="1200" dirty="0"/>
              <a:t>Alignment</a:t>
            </a:r>
            <a:br>
              <a:rPr lang="en-US" altLang="zh-TW" sz="1200" dirty="0"/>
            </a:br>
            <a:r>
              <a:rPr lang="en-US" altLang="zh-TW" sz="1200" dirty="0"/>
              <a:t>Dimension</a:t>
            </a:r>
            <a:r>
              <a:rPr lang="en-US" altLang="zh-TW" sz="12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↓</a:t>
            </a:r>
            <a:br>
              <a:rPr lang="en-US" altLang="zh-TW" sz="1200" dirty="0"/>
            </a:br>
            <a:r>
              <a:rPr lang="en-US" altLang="zh-TW" sz="1200" dirty="0"/>
              <a:t>Precision</a:t>
            </a:r>
            <a:r>
              <a:rPr lang="en-US" altLang="zh-TW" sz="12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↓</a:t>
            </a:r>
            <a:endParaRPr lang="en-US" altLang="zh-TW" sz="1200" dirty="0"/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476440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6C411E7-B83B-AA93-CDBD-221DCB5EF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手繪多邊形: 圖案 75">
            <a:extLst>
              <a:ext uri="{FF2B5EF4-FFF2-40B4-BE49-F238E27FC236}">
                <a16:creationId xmlns:a16="http://schemas.microsoft.com/office/drawing/2014/main" id="{DB142420-44DD-614C-6C4A-F91FF53DC750}"/>
              </a:ext>
            </a:extLst>
          </p:cNvPr>
          <p:cNvSpPr/>
          <p:nvPr/>
        </p:nvSpPr>
        <p:spPr>
          <a:xfrm>
            <a:off x="2246735" y="3191153"/>
            <a:ext cx="5128892" cy="1496852"/>
          </a:xfrm>
          <a:custGeom>
            <a:avLst/>
            <a:gdLst>
              <a:gd name="csX0" fmla="*/ 0 w 5086350"/>
              <a:gd name="csY0" fmla="*/ 0 h 1476375"/>
              <a:gd name="csX1" fmla="*/ 1238250 w 5086350"/>
              <a:gd name="csY1" fmla="*/ 1028700 h 1476375"/>
              <a:gd name="csX2" fmla="*/ 5086350 w 5086350"/>
              <a:gd name="csY2" fmla="*/ 1476375 h 147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86350" h="1476375">
                <a:moveTo>
                  <a:pt x="0" y="0"/>
                </a:moveTo>
                <a:cubicBezTo>
                  <a:pt x="195262" y="391319"/>
                  <a:pt x="390525" y="782638"/>
                  <a:pt x="1238250" y="1028700"/>
                </a:cubicBezTo>
                <a:cubicBezTo>
                  <a:pt x="2085975" y="1274762"/>
                  <a:pt x="3586162" y="1375568"/>
                  <a:pt x="5086350" y="1476375"/>
                </a:cubicBezTo>
              </a:path>
            </a:pathLst>
          </a:custGeom>
          <a:noFill/>
          <a:ln w="38100">
            <a:solidFill>
              <a:schemeClr val="tx2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83469DEE-4DD1-FF18-FCEF-304AF609048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What Google want to do?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4F5097B7-39E3-97CA-28D8-B0E83482DCB4}"/>
              </a:ext>
            </a:extLst>
          </p:cNvPr>
          <p:cNvGrpSpPr/>
          <p:nvPr/>
        </p:nvGrpSpPr>
        <p:grpSpPr>
          <a:xfrm>
            <a:off x="1058349" y="1124744"/>
            <a:ext cx="2094003" cy="2114742"/>
            <a:chOff x="1011755" y="2851680"/>
            <a:chExt cx="2094003" cy="2114742"/>
          </a:xfrm>
        </p:grpSpPr>
        <p:sp>
          <p:nvSpPr>
            <p:cNvPr id="29" name="弧形 28">
              <a:extLst>
                <a:ext uri="{FF2B5EF4-FFF2-40B4-BE49-F238E27FC236}">
                  <a16:creationId xmlns:a16="http://schemas.microsoft.com/office/drawing/2014/main" id="{49EF012B-3245-8F87-241B-8358826C1259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3" name="雲朵形 32">
              <a:extLst>
                <a:ext uri="{FF2B5EF4-FFF2-40B4-BE49-F238E27FC236}">
                  <a16:creationId xmlns:a16="http://schemas.microsoft.com/office/drawing/2014/main" id="{258F741E-A400-B1A1-C0E1-E40141FB3D6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05798D8D-12C9-BD74-7833-15AA3D8351CD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Gemma 4</a:t>
              </a:r>
            </a:p>
          </p:txBody>
        </p:sp>
        <p:cxnSp>
          <p:nvCxnSpPr>
            <p:cNvPr id="35" name="直線單箭頭接點 34">
              <a:extLst>
                <a:ext uri="{FF2B5EF4-FFF2-40B4-BE49-F238E27FC236}">
                  <a16:creationId xmlns:a16="http://schemas.microsoft.com/office/drawing/2014/main" id="{6692E3A9-BA79-89AF-BC80-BAD6C797C311}"/>
                </a:ext>
              </a:extLst>
            </p:cNvPr>
            <p:cNvCxnSpPr>
              <a:cxnSpLocks/>
              <a:stCxn id="36" idx="2"/>
              <a:endCxn id="34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BDEF055A-79F3-3A97-FAEC-090DB3769A9E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Gemini 3</a:t>
              </a:r>
            </a:p>
          </p:txBody>
        </p:sp>
      </p:grpSp>
      <p:cxnSp>
        <p:nvCxnSpPr>
          <p:cNvPr id="40" name="直線單箭頭接點 39">
            <a:extLst>
              <a:ext uri="{FF2B5EF4-FFF2-40B4-BE49-F238E27FC236}">
                <a16:creationId xmlns:a16="http://schemas.microsoft.com/office/drawing/2014/main" id="{BA66FC74-B5BA-659F-37FA-5E1165A34614}"/>
              </a:ext>
            </a:extLst>
          </p:cNvPr>
          <p:cNvCxnSpPr>
            <a:cxnSpLocks/>
          </p:cNvCxnSpPr>
          <p:nvPr/>
        </p:nvCxnSpPr>
        <p:spPr>
          <a:xfrm>
            <a:off x="827584" y="6237312"/>
            <a:ext cx="6120680" cy="0"/>
          </a:xfrm>
          <a:prstGeom prst="straightConnector1">
            <a:avLst/>
          </a:prstGeom>
          <a:ln w="254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413BE016-3CE1-4054-E1EB-B017E354E072}"/>
              </a:ext>
            </a:extLst>
          </p:cNvPr>
          <p:cNvCxnSpPr>
            <a:cxnSpLocks/>
          </p:cNvCxnSpPr>
          <p:nvPr/>
        </p:nvCxnSpPr>
        <p:spPr>
          <a:xfrm flipV="1">
            <a:off x="1043608" y="4448937"/>
            <a:ext cx="0" cy="2076407"/>
          </a:xfrm>
          <a:prstGeom prst="straightConnector1">
            <a:avLst/>
          </a:prstGeom>
          <a:ln w="254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圖形 44" descr="伺服器 以實心填滿">
            <a:extLst>
              <a:ext uri="{FF2B5EF4-FFF2-40B4-BE49-F238E27FC236}">
                <a16:creationId xmlns:a16="http://schemas.microsoft.com/office/drawing/2014/main" id="{1761E6E9-6064-2BD8-5AB2-BDE406B6BC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59438" y="3318741"/>
            <a:ext cx="412362" cy="412362"/>
          </a:xfrm>
          <a:prstGeom prst="rect">
            <a:avLst/>
          </a:prstGeom>
        </p:spPr>
      </p:pic>
      <p:pic>
        <p:nvPicPr>
          <p:cNvPr id="50" name="圖形 49" descr="筆記型電腦 以實心填滿">
            <a:extLst>
              <a:ext uri="{FF2B5EF4-FFF2-40B4-BE49-F238E27FC236}">
                <a16:creationId xmlns:a16="http://schemas.microsoft.com/office/drawing/2014/main" id="{FC8941A7-B999-BD19-CBDF-074195E5E0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79721" y="4240777"/>
            <a:ext cx="412359" cy="412359"/>
          </a:xfrm>
          <a:prstGeom prst="rect">
            <a:avLst/>
          </a:prstGeom>
        </p:spPr>
      </p:pic>
      <p:pic>
        <p:nvPicPr>
          <p:cNvPr id="56" name="圖形 55" descr="電腦 以實心填滿">
            <a:extLst>
              <a:ext uri="{FF2B5EF4-FFF2-40B4-BE49-F238E27FC236}">
                <a16:creationId xmlns:a16="http://schemas.microsoft.com/office/drawing/2014/main" id="{B20B6238-EF3A-CC7E-1B8B-6CF785CB17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03655" y="4149080"/>
            <a:ext cx="412361" cy="412361"/>
          </a:xfrm>
          <a:prstGeom prst="rect">
            <a:avLst/>
          </a:prstGeom>
        </p:spPr>
      </p:pic>
      <p:pic>
        <p:nvPicPr>
          <p:cNvPr id="58" name="圖形 57" descr="智慧型手機 以實心填滿">
            <a:extLst>
              <a:ext uri="{FF2B5EF4-FFF2-40B4-BE49-F238E27FC236}">
                <a16:creationId xmlns:a16="http://schemas.microsoft.com/office/drawing/2014/main" id="{EB3ADAE3-7512-56C4-A2A2-2A0EFEB9D1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28526" y="4496127"/>
            <a:ext cx="320867" cy="320867"/>
          </a:xfrm>
          <a:prstGeom prst="rect">
            <a:avLst/>
          </a:prstGeom>
        </p:spPr>
      </p:pic>
      <p:pic>
        <p:nvPicPr>
          <p:cNvPr id="71" name="圖形 70" descr="頭戴式耳機 以實心填滿">
            <a:extLst>
              <a:ext uri="{FF2B5EF4-FFF2-40B4-BE49-F238E27FC236}">
                <a16:creationId xmlns:a16="http://schemas.microsoft.com/office/drawing/2014/main" id="{364AD835-DAD7-5A21-2ADD-7A073E6586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78698" y="4548293"/>
            <a:ext cx="320867" cy="320867"/>
          </a:xfrm>
          <a:prstGeom prst="rect">
            <a:avLst/>
          </a:prstGeom>
        </p:spPr>
      </p:pic>
      <p:graphicFrame>
        <p:nvGraphicFramePr>
          <p:cNvPr id="74" name="表格 73">
            <a:extLst>
              <a:ext uri="{FF2B5EF4-FFF2-40B4-BE49-F238E27FC236}">
                <a16:creationId xmlns:a16="http://schemas.microsoft.com/office/drawing/2014/main" id="{5A4DA4C2-8EC2-84D7-9604-8A29C48520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617566"/>
              </p:ext>
            </p:extLst>
          </p:nvPr>
        </p:nvGraphicFramePr>
        <p:xfrm>
          <a:off x="2051720" y="3754450"/>
          <a:ext cx="864096" cy="6356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409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616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Server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31B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699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Dense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79" name="表格 78">
            <a:extLst>
              <a:ext uri="{FF2B5EF4-FFF2-40B4-BE49-F238E27FC236}">
                <a16:creationId xmlns:a16="http://schemas.microsoft.com/office/drawing/2014/main" id="{4AB55D63-30D9-29E2-2723-1288B1F5D4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234528"/>
              </p:ext>
            </p:extLst>
          </p:nvPr>
        </p:nvGraphicFramePr>
        <p:xfrm>
          <a:off x="6199498" y="4927838"/>
          <a:ext cx="864096" cy="7692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409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299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Mobile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E2B/E4B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17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Dense PLE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17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Voice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7846459"/>
                  </a:ext>
                </a:extLst>
              </a:tr>
            </a:tbl>
          </a:graphicData>
        </a:graphic>
      </p:graphicFrame>
      <p:graphicFrame>
        <p:nvGraphicFramePr>
          <p:cNvPr id="81" name="表格 80">
            <a:extLst>
              <a:ext uri="{FF2B5EF4-FFF2-40B4-BE49-F238E27FC236}">
                <a16:creationId xmlns:a16="http://schemas.microsoft.com/office/drawing/2014/main" id="{83E82528-E38F-18DE-857D-8461D99B5C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969370"/>
              </p:ext>
            </p:extLst>
          </p:nvPr>
        </p:nvGraphicFramePr>
        <p:xfrm>
          <a:off x="2983972" y="3754450"/>
          <a:ext cx="1081330" cy="639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575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Server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26B</a:t>
                      </a: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740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MoE, Diffusion</a:t>
                      </a: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83" name="表格 82">
            <a:extLst>
              <a:ext uri="{FF2B5EF4-FFF2-40B4-BE49-F238E27FC236}">
                <a16:creationId xmlns:a16="http://schemas.microsoft.com/office/drawing/2014/main" id="{6AFA87CF-9971-8AF2-D97F-3BA29264E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6454588"/>
              </p:ext>
            </p:extLst>
          </p:nvPr>
        </p:nvGraphicFramePr>
        <p:xfrm>
          <a:off x="4283969" y="4562300"/>
          <a:ext cx="1008111" cy="815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11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747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01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Dense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201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925369"/>
                  </a:ext>
                </a:extLst>
              </a:tr>
            </a:tbl>
          </a:graphicData>
        </a:graphic>
      </p:graphicFrame>
      <p:sp>
        <p:nvSpPr>
          <p:cNvPr id="85" name="文字方塊 84">
            <a:extLst>
              <a:ext uri="{FF2B5EF4-FFF2-40B4-BE49-F238E27FC236}">
                <a16:creationId xmlns:a16="http://schemas.microsoft.com/office/drawing/2014/main" id="{80F6C765-5847-BC8F-B37A-A0795E539CB8}"/>
              </a:ext>
            </a:extLst>
          </p:cNvPr>
          <p:cNvSpPr txBox="1"/>
          <p:nvPr/>
        </p:nvSpPr>
        <p:spPr>
          <a:xfrm>
            <a:off x="6053350" y="6006479"/>
            <a:ext cx="577970" cy="442035"/>
          </a:xfrm>
          <a:prstGeom prst="rect">
            <a:avLst/>
          </a:prstGeom>
          <a:noFill/>
        </p:spPr>
        <p:txBody>
          <a:bodyPr wrap="none" lIns="36000" tIns="36000" rIns="36000" bIns="36000" anchor="ctr" anchorCtr="1">
            <a:spAutoFit/>
          </a:bodyPr>
          <a:lstStyle/>
          <a:p>
            <a:r>
              <a:rPr lang="en-US" altLang="zh-TW" sz="1200" dirty="0"/>
              <a:t>Efficient</a:t>
            </a:r>
          </a:p>
          <a:p>
            <a:r>
              <a:rPr lang="en-US" altLang="zh-TW" sz="1200" dirty="0"/>
              <a:t>Index</a:t>
            </a:r>
            <a:endParaRPr lang="zh-TW" altLang="en-US" sz="1200" dirty="0"/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58CF1356-865F-6B6D-1590-5D8CDEBDE812}"/>
              </a:ext>
            </a:extLst>
          </p:cNvPr>
          <p:cNvSpPr txBox="1"/>
          <p:nvPr/>
        </p:nvSpPr>
        <p:spPr>
          <a:xfrm>
            <a:off x="230251" y="4638728"/>
            <a:ext cx="784052" cy="442035"/>
          </a:xfrm>
          <a:prstGeom prst="rect">
            <a:avLst/>
          </a:prstGeom>
          <a:noFill/>
        </p:spPr>
        <p:txBody>
          <a:bodyPr wrap="none" lIns="36000" tIns="36000" rIns="36000" bIns="36000" anchor="ctr" anchorCtr="1">
            <a:spAutoFit/>
          </a:bodyPr>
          <a:lstStyle/>
          <a:p>
            <a:pPr algn="r"/>
            <a:r>
              <a:rPr lang="en-US" altLang="zh-TW" sz="1200" dirty="0"/>
              <a:t>Total</a:t>
            </a:r>
          </a:p>
          <a:p>
            <a:pPr algn="r"/>
            <a:r>
              <a:rPr lang="en-US" altLang="zh-TW" sz="1200" dirty="0"/>
              <a:t>Parameters</a:t>
            </a:r>
            <a:endParaRPr lang="zh-TW" altLang="en-US" sz="1200" dirty="0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66D44867-B104-0903-3C45-F2EE647DC6BB}"/>
              </a:ext>
            </a:extLst>
          </p:cNvPr>
          <p:cNvSpPr/>
          <p:nvPr/>
        </p:nvSpPr>
        <p:spPr>
          <a:xfrm>
            <a:off x="4932040" y="3171520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36000" bIns="0" rtlCol="0" anchor="t" anchorCtr="0"/>
          <a:lstStyle/>
          <a:p>
            <a:pPr algn="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微軟正黑體" panose="020B0604030504040204" pitchFamily="34" charset="-120"/>
              </a:rPr>
              <a:t>Encoder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A67646C1-DFD8-BA2A-CC5C-10161CA7ED57}"/>
              </a:ext>
            </a:extLst>
          </p:cNvPr>
          <p:cNvSpPr/>
          <p:nvPr/>
        </p:nvSpPr>
        <p:spPr>
          <a:xfrm>
            <a:off x="5141627" y="1196752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7B06E165-4491-05E6-B78B-ADFDDA1CA64B}"/>
              </a:ext>
            </a:extLst>
          </p:cNvPr>
          <p:cNvSpPr txBox="1"/>
          <p:nvPr/>
        </p:nvSpPr>
        <p:spPr>
          <a:xfrm>
            <a:off x="5285643" y="1355062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531DF2AD-7FF2-0714-6E36-CC446DC962D7}"/>
              </a:ext>
            </a:extLst>
          </p:cNvPr>
          <p:cNvSpPr txBox="1"/>
          <p:nvPr/>
        </p:nvSpPr>
        <p:spPr>
          <a:xfrm>
            <a:off x="5285643" y="1724130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53636687-8688-A018-4D23-3B2298645024}"/>
              </a:ext>
            </a:extLst>
          </p:cNvPr>
          <p:cNvSpPr txBox="1"/>
          <p:nvPr/>
        </p:nvSpPr>
        <p:spPr>
          <a:xfrm>
            <a:off x="5427308" y="2492896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B2FA206B-CCA6-5B6B-0DDA-4A5DA5DD2D31}"/>
              </a:ext>
            </a:extLst>
          </p:cNvPr>
          <p:cNvSpPr txBox="1"/>
          <p:nvPr/>
        </p:nvSpPr>
        <p:spPr>
          <a:xfrm>
            <a:off x="5285643" y="764689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0A80255E-6A51-A36C-13DA-748ABF412402}"/>
              </a:ext>
            </a:extLst>
          </p:cNvPr>
          <p:cNvSpPr txBox="1"/>
          <p:nvPr/>
        </p:nvSpPr>
        <p:spPr>
          <a:xfrm>
            <a:off x="5285643" y="260648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95" name="直線單箭頭接點 94">
            <a:extLst>
              <a:ext uri="{FF2B5EF4-FFF2-40B4-BE49-F238E27FC236}">
                <a16:creationId xmlns:a16="http://schemas.microsoft.com/office/drawing/2014/main" id="{91D7B9D4-C75D-7168-5B92-3A5D3B7E8968}"/>
              </a:ext>
            </a:extLst>
          </p:cNvPr>
          <p:cNvCxnSpPr>
            <a:cxnSpLocks/>
            <a:stCxn id="93" idx="0"/>
            <a:endCxn id="94" idx="2"/>
          </p:cNvCxnSpPr>
          <p:nvPr/>
        </p:nvCxnSpPr>
        <p:spPr>
          <a:xfrm flipV="1">
            <a:off x="5861707" y="620688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線單箭頭接點 95">
            <a:extLst>
              <a:ext uri="{FF2B5EF4-FFF2-40B4-BE49-F238E27FC236}">
                <a16:creationId xmlns:a16="http://schemas.microsoft.com/office/drawing/2014/main" id="{366C12DE-A733-013A-DA7F-FBA2F3F240AD}"/>
              </a:ext>
            </a:extLst>
          </p:cNvPr>
          <p:cNvCxnSpPr>
            <a:cxnSpLocks/>
            <a:stCxn id="90" idx="0"/>
            <a:endCxn id="93" idx="2"/>
          </p:cNvCxnSpPr>
          <p:nvPr/>
        </p:nvCxnSpPr>
        <p:spPr>
          <a:xfrm flipV="1">
            <a:off x="5861707" y="989741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線單箭頭接點 96">
            <a:extLst>
              <a:ext uri="{FF2B5EF4-FFF2-40B4-BE49-F238E27FC236}">
                <a16:creationId xmlns:a16="http://schemas.microsoft.com/office/drawing/2014/main" id="{E1B614CD-EAA5-A65F-1486-35B7067BAAB1}"/>
              </a:ext>
            </a:extLst>
          </p:cNvPr>
          <p:cNvCxnSpPr>
            <a:cxnSpLocks/>
            <a:stCxn id="92" idx="0"/>
            <a:endCxn id="91" idx="2"/>
          </p:cNvCxnSpPr>
          <p:nvPr/>
        </p:nvCxnSpPr>
        <p:spPr>
          <a:xfrm flipH="1" flipV="1">
            <a:off x="5861707" y="2247352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線單箭頭接點 97">
            <a:extLst>
              <a:ext uri="{FF2B5EF4-FFF2-40B4-BE49-F238E27FC236}">
                <a16:creationId xmlns:a16="http://schemas.microsoft.com/office/drawing/2014/main" id="{AEC67D09-AD6D-62E5-FCA1-0F6CF3D46809}"/>
              </a:ext>
            </a:extLst>
          </p:cNvPr>
          <p:cNvCxnSpPr>
            <a:cxnSpLocks/>
            <a:stCxn id="91" idx="0"/>
            <a:endCxn id="90" idx="2"/>
          </p:cNvCxnSpPr>
          <p:nvPr/>
        </p:nvCxnSpPr>
        <p:spPr>
          <a:xfrm flipV="1">
            <a:off x="5861707" y="1580114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接點: 肘形 98">
            <a:extLst>
              <a:ext uri="{FF2B5EF4-FFF2-40B4-BE49-F238E27FC236}">
                <a16:creationId xmlns:a16="http://schemas.microsoft.com/office/drawing/2014/main" id="{9B08A6DE-A377-77D1-5DD4-7409B52E3897}"/>
              </a:ext>
            </a:extLst>
          </p:cNvPr>
          <p:cNvCxnSpPr>
            <a:cxnSpLocks/>
            <a:stCxn id="94" idx="3"/>
            <a:endCxn id="92" idx="3"/>
          </p:cNvCxnSpPr>
          <p:nvPr/>
        </p:nvCxnSpPr>
        <p:spPr>
          <a:xfrm flipH="1">
            <a:off x="6299788" y="440668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1E0A4E05-E325-2637-A47F-1D8FF2CC0FA5}"/>
              </a:ext>
            </a:extLst>
          </p:cNvPr>
          <p:cNvSpPr txBox="1"/>
          <p:nvPr/>
        </p:nvSpPr>
        <p:spPr>
          <a:xfrm>
            <a:off x="4976449" y="1936583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8ABC1401-1DE3-C764-AF4D-A2BF9B2F7228}"/>
              </a:ext>
            </a:extLst>
          </p:cNvPr>
          <p:cNvSpPr/>
          <p:nvPr/>
        </p:nvSpPr>
        <p:spPr>
          <a:xfrm>
            <a:off x="5004047" y="3376800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9071FAD8-0CEC-725C-9676-098EBAC796B3}"/>
              </a:ext>
            </a:extLst>
          </p:cNvPr>
          <p:cNvSpPr/>
          <p:nvPr/>
        </p:nvSpPr>
        <p:spPr>
          <a:xfrm>
            <a:off x="5609679" y="3376800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FC9067F6-B2B5-670E-AABD-C5ABC823BB6F}"/>
              </a:ext>
            </a:extLst>
          </p:cNvPr>
          <p:cNvSpPr/>
          <p:nvPr/>
        </p:nvSpPr>
        <p:spPr>
          <a:xfrm>
            <a:off x="6211629" y="3362323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6ABC4AA5-E4C2-CEC2-EEF7-C105FE51C7E7}"/>
              </a:ext>
            </a:extLst>
          </p:cNvPr>
          <p:cNvSpPr/>
          <p:nvPr/>
        </p:nvSpPr>
        <p:spPr>
          <a:xfrm>
            <a:off x="5609679" y="3048232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105" name="直線單箭頭接點 104">
            <a:extLst>
              <a:ext uri="{FF2B5EF4-FFF2-40B4-BE49-F238E27FC236}">
                <a16:creationId xmlns:a16="http://schemas.microsoft.com/office/drawing/2014/main" id="{F898A930-BFD8-4B17-CFB1-BA5A7A05B59F}"/>
              </a:ext>
            </a:extLst>
          </p:cNvPr>
          <p:cNvCxnSpPr>
            <a:cxnSpLocks/>
            <a:stCxn id="104" idx="0"/>
            <a:endCxn id="92" idx="2"/>
          </p:cNvCxnSpPr>
          <p:nvPr/>
        </p:nvCxnSpPr>
        <p:spPr>
          <a:xfrm flipV="1">
            <a:off x="5861707" y="2852936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4074C773-32EF-2149-BF9B-C163F6A3AC92}"/>
              </a:ext>
            </a:extLst>
          </p:cNvPr>
          <p:cNvSpPr txBox="1"/>
          <p:nvPr/>
        </p:nvSpPr>
        <p:spPr>
          <a:xfrm>
            <a:off x="7516052" y="2706586"/>
            <a:ext cx="872480" cy="22241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07" name="矩形: 圓角 106">
            <a:extLst>
              <a:ext uri="{FF2B5EF4-FFF2-40B4-BE49-F238E27FC236}">
                <a16:creationId xmlns:a16="http://schemas.microsoft.com/office/drawing/2014/main" id="{7D5A19BA-5BDB-D5B5-B349-9B3613AFAB39}"/>
              </a:ext>
            </a:extLst>
          </p:cNvPr>
          <p:cNvSpPr/>
          <p:nvPr/>
        </p:nvSpPr>
        <p:spPr>
          <a:xfrm>
            <a:off x="7230371" y="1416832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848F292F-5DE9-0670-9B75-D483B8039D26}"/>
              </a:ext>
            </a:extLst>
          </p:cNvPr>
          <p:cNvSpPr txBox="1"/>
          <p:nvPr/>
        </p:nvSpPr>
        <p:spPr>
          <a:xfrm>
            <a:off x="7374387" y="1575142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99DA5433-5392-AE5B-C267-5D6301EE6FE0}"/>
              </a:ext>
            </a:extLst>
          </p:cNvPr>
          <p:cNvSpPr txBox="1"/>
          <p:nvPr/>
        </p:nvSpPr>
        <p:spPr>
          <a:xfrm>
            <a:off x="7374387" y="1944210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  <a:endParaRPr lang="en-US" altLang="zh-TW" sz="11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D08B7E08-92EC-A514-8EB6-C323D312A077}"/>
              </a:ext>
            </a:extLst>
          </p:cNvPr>
          <p:cNvSpPr txBox="1"/>
          <p:nvPr/>
        </p:nvSpPr>
        <p:spPr>
          <a:xfrm>
            <a:off x="7374387" y="984769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BB6D8FC1-B38B-518A-B858-E57AE7E9B3D8}"/>
              </a:ext>
            </a:extLst>
          </p:cNvPr>
          <p:cNvSpPr txBox="1"/>
          <p:nvPr/>
        </p:nvSpPr>
        <p:spPr>
          <a:xfrm>
            <a:off x="7374387" y="480728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12" name="直線單箭頭接點 111">
            <a:extLst>
              <a:ext uri="{FF2B5EF4-FFF2-40B4-BE49-F238E27FC236}">
                <a16:creationId xmlns:a16="http://schemas.microsoft.com/office/drawing/2014/main" id="{9948E076-CE45-13AB-F630-C00E9453FC83}"/>
              </a:ext>
            </a:extLst>
          </p:cNvPr>
          <p:cNvCxnSpPr>
            <a:cxnSpLocks/>
            <a:stCxn id="110" idx="0"/>
            <a:endCxn id="111" idx="2"/>
          </p:cNvCxnSpPr>
          <p:nvPr/>
        </p:nvCxnSpPr>
        <p:spPr>
          <a:xfrm flipV="1">
            <a:off x="7950451" y="840768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線單箭頭接點 112">
            <a:extLst>
              <a:ext uri="{FF2B5EF4-FFF2-40B4-BE49-F238E27FC236}">
                <a16:creationId xmlns:a16="http://schemas.microsoft.com/office/drawing/2014/main" id="{68200668-477E-79B5-4960-6FB63CC9CF14}"/>
              </a:ext>
            </a:extLst>
          </p:cNvPr>
          <p:cNvCxnSpPr>
            <a:cxnSpLocks/>
            <a:stCxn id="108" idx="0"/>
            <a:endCxn id="110" idx="2"/>
          </p:cNvCxnSpPr>
          <p:nvPr/>
        </p:nvCxnSpPr>
        <p:spPr>
          <a:xfrm flipV="1">
            <a:off x="7950451" y="1209821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C2191D50-F93F-130E-2197-A22449C979C2}"/>
              </a:ext>
            </a:extLst>
          </p:cNvPr>
          <p:cNvCxnSpPr>
            <a:cxnSpLocks/>
            <a:stCxn id="106" idx="0"/>
            <a:endCxn id="109" idx="2"/>
          </p:cNvCxnSpPr>
          <p:nvPr/>
        </p:nvCxnSpPr>
        <p:spPr>
          <a:xfrm flipH="1" flipV="1">
            <a:off x="7950451" y="2467432"/>
            <a:ext cx="1841" cy="23915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線單箭頭接點 114">
            <a:extLst>
              <a:ext uri="{FF2B5EF4-FFF2-40B4-BE49-F238E27FC236}">
                <a16:creationId xmlns:a16="http://schemas.microsoft.com/office/drawing/2014/main" id="{9BD8B6B8-D7D3-B30D-EEC1-C99BC1D28A55}"/>
              </a:ext>
            </a:extLst>
          </p:cNvPr>
          <p:cNvCxnSpPr>
            <a:cxnSpLocks/>
            <a:stCxn id="109" idx="0"/>
            <a:endCxn id="108" idx="2"/>
          </p:cNvCxnSpPr>
          <p:nvPr/>
        </p:nvCxnSpPr>
        <p:spPr>
          <a:xfrm flipV="1">
            <a:off x="7950451" y="1800194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接點: 肘形 115">
            <a:extLst>
              <a:ext uri="{FF2B5EF4-FFF2-40B4-BE49-F238E27FC236}">
                <a16:creationId xmlns:a16="http://schemas.microsoft.com/office/drawing/2014/main" id="{CD88E199-E3E9-5C4D-5C8C-14F862F8B467}"/>
              </a:ext>
            </a:extLst>
          </p:cNvPr>
          <p:cNvCxnSpPr>
            <a:cxnSpLocks/>
            <a:stCxn id="111" idx="3"/>
            <a:endCxn id="106" idx="3"/>
          </p:cNvCxnSpPr>
          <p:nvPr/>
        </p:nvCxnSpPr>
        <p:spPr>
          <a:xfrm flipH="1">
            <a:off x="8388532" y="660748"/>
            <a:ext cx="137983" cy="2157045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A9BCC390-1CB4-B606-50BE-F1082AFEB90E}"/>
              </a:ext>
            </a:extLst>
          </p:cNvPr>
          <p:cNvSpPr txBox="1"/>
          <p:nvPr/>
        </p:nvSpPr>
        <p:spPr>
          <a:xfrm>
            <a:off x="7065193" y="2156663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3D3235DB-D7A3-AF21-6256-5ED75BE4F067}"/>
              </a:ext>
            </a:extLst>
          </p:cNvPr>
          <p:cNvGrpSpPr/>
          <p:nvPr/>
        </p:nvGrpSpPr>
        <p:grpSpPr>
          <a:xfrm>
            <a:off x="7020784" y="3171520"/>
            <a:ext cx="1871696" cy="549568"/>
            <a:chOff x="6804248" y="2996952"/>
            <a:chExt cx="1871696" cy="549568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DC4E76C3-7063-2B12-39ED-1D88633D9EDA}"/>
                </a:ext>
              </a:extLst>
            </p:cNvPr>
            <p:cNvSpPr/>
            <p:nvPr/>
          </p:nvSpPr>
          <p:spPr>
            <a:xfrm>
              <a:off x="6804248" y="2996952"/>
              <a:ext cx="1871696" cy="549568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19050">
              <a:solidFill>
                <a:schemeClr val="accent5">
                  <a:lumMod val="7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36000" rIns="36000" bIns="0" rtlCol="0" anchor="t" anchorCtr="0"/>
            <a:lstStyle/>
            <a:p>
              <a:pPr algn="r">
                <a:lnSpc>
                  <a:spcPts val="1000"/>
                </a:lnSpc>
              </a:pPr>
              <a:r>
                <a:rPr lang="en-US" altLang="zh-TW" sz="1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Native Multimodal</a:t>
              </a:r>
            </a:p>
          </p:txBody>
        </p:sp>
        <p:sp>
          <p:nvSpPr>
            <p:cNvPr id="120" name="矩形 119">
              <a:extLst>
                <a:ext uri="{FF2B5EF4-FFF2-40B4-BE49-F238E27FC236}">
                  <a16:creationId xmlns:a16="http://schemas.microsoft.com/office/drawing/2014/main" id="{C4108C46-E728-18A2-5F4E-11E4C1ED8E31}"/>
                </a:ext>
              </a:extLst>
            </p:cNvPr>
            <p:cNvSpPr/>
            <p:nvPr/>
          </p:nvSpPr>
          <p:spPr>
            <a:xfrm>
              <a:off x="6876255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Text</a:t>
              </a:r>
            </a:p>
          </p:txBody>
        </p:sp>
        <p:sp>
          <p:nvSpPr>
            <p:cNvPr id="121" name="矩形 120">
              <a:extLst>
                <a:ext uri="{FF2B5EF4-FFF2-40B4-BE49-F238E27FC236}">
                  <a16:creationId xmlns:a16="http://schemas.microsoft.com/office/drawing/2014/main" id="{55E58BF6-7C3A-F867-D229-D8757DB3DF93}"/>
                </a:ext>
              </a:extLst>
            </p:cNvPr>
            <p:cNvSpPr/>
            <p:nvPr/>
          </p:nvSpPr>
          <p:spPr>
            <a:xfrm>
              <a:off x="7481887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Image</a:t>
              </a: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6BDFC74E-E570-27D4-6725-51B5DBD17852}"/>
                </a:ext>
              </a:extLst>
            </p:cNvPr>
            <p:cNvSpPr/>
            <p:nvPr/>
          </p:nvSpPr>
          <p:spPr>
            <a:xfrm>
              <a:off x="8083837" y="3187755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Audio</a:t>
              </a:r>
            </a:p>
          </p:txBody>
        </p:sp>
      </p:grp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A08988D8-C571-8AE8-6E9F-78F5E5F4E179}"/>
              </a:ext>
            </a:extLst>
          </p:cNvPr>
          <p:cNvCxnSpPr>
            <a:cxnSpLocks/>
            <a:stCxn id="119" idx="0"/>
            <a:endCxn id="106" idx="2"/>
          </p:cNvCxnSpPr>
          <p:nvPr/>
        </p:nvCxnSpPr>
        <p:spPr>
          <a:xfrm flipH="1" flipV="1">
            <a:off x="7952292" y="2929000"/>
            <a:ext cx="4340" cy="24252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306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Quantization Low-Rank Adaptation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5533721"/>
              </p:ext>
            </p:extLst>
          </p:nvPr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860446"/>
              </p:ext>
            </p:extLst>
          </p:nvPr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315104"/>
              </p:ext>
            </p:extLst>
          </p:nvPr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1471018"/>
              </p:ext>
            </p:extLst>
          </p:nvPr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442973"/>
              </p:ext>
            </p:extLst>
          </p:nvPr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188969"/>
              </p:ext>
            </p:extLst>
          </p:nvPr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0038720"/>
              </p:ext>
            </p:extLst>
          </p:nvPr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179731"/>
              </p:ext>
            </p:extLst>
          </p:nvPr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9814430"/>
              </p:ext>
            </p:extLst>
          </p:nvPr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9484635"/>
              </p:ext>
            </p:extLst>
          </p:nvPr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39" name="右大括弧 38">
            <a:extLst>
              <a:ext uri="{FF2B5EF4-FFF2-40B4-BE49-F238E27FC236}">
                <a16:creationId xmlns:a16="http://schemas.microsoft.com/office/drawing/2014/main" id="{43AD7CAA-9919-2BDC-C547-ADA2F3ADF7DF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C236E84-CA66-55C6-A353-D96F41563DD1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LoRA</a:t>
            </a:r>
            <a:endParaRPr lang="zh-TW" altLang="en-US" sz="1400" b="1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99A5FBEF-DD1B-027F-7308-223EF51BE499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QLoRA</a:t>
            </a:r>
            <a:endParaRPr lang="zh-TW" altLang="en-US" sz="1400" b="1" dirty="0"/>
          </a:p>
        </p:txBody>
      </p:sp>
      <p:sp>
        <p:nvSpPr>
          <p:cNvPr id="55" name="右大括弧 54">
            <a:extLst>
              <a:ext uri="{FF2B5EF4-FFF2-40B4-BE49-F238E27FC236}">
                <a16:creationId xmlns:a16="http://schemas.microsoft.com/office/drawing/2014/main" id="{FDC02000-3510-2BFF-9245-7620E6943787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0B7BD835-FD81-3F02-5FD1-3F2F8343A2F6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79368FC2-23FC-8AFF-A6B0-B3063BDB7FC4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3889C-D10C-B36A-2721-EFF1DC298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D35E2BF1-6FE3-3015-8276-1481380950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 err="1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BEBCF88-3560-5ABF-5D6D-C099FC517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3316310"/>
              </p:ext>
            </p:extLst>
          </p:nvPr>
        </p:nvGraphicFramePr>
        <p:xfrm>
          <a:off x="2938059" y="2204864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F5969713-48F1-14D8-0B44-BBB25E2E6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5836973"/>
              </p:ext>
            </p:extLst>
          </p:nvPr>
        </p:nvGraphicFramePr>
        <p:xfrm>
          <a:off x="5585584" y="1381276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69F885FB-F8DB-3366-45FC-8F10E81744B6}"/>
              </a:ext>
            </a:extLst>
          </p:cNvPr>
          <p:cNvSpPr txBox="1"/>
          <p:nvPr/>
        </p:nvSpPr>
        <p:spPr>
          <a:xfrm>
            <a:off x="3464603" y="35978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A0B7BCF8-5297-D373-E95B-1D2A0407E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7477879"/>
              </p:ext>
            </p:extLst>
          </p:nvPr>
        </p:nvGraphicFramePr>
        <p:xfrm>
          <a:off x="3658140" y="2430190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A82BA1F2-8B0F-F56C-5C78-D715BD5F2455}"/>
              </a:ext>
            </a:extLst>
          </p:cNvPr>
          <p:cNvSpPr txBox="1"/>
          <p:nvPr/>
        </p:nvSpPr>
        <p:spPr>
          <a:xfrm>
            <a:off x="10486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EA5B1A1-E8FE-FFA5-DD35-8926472EC6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188330"/>
              </p:ext>
            </p:extLst>
          </p:nvPr>
        </p:nvGraphicFramePr>
        <p:xfrm>
          <a:off x="755576" y="1641136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7A5A42F4-7CBD-9D47-F69F-2489A0F2911A}"/>
              </a:ext>
            </a:extLst>
          </p:cNvPr>
          <p:cNvSpPr txBox="1"/>
          <p:nvPr/>
        </p:nvSpPr>
        <p:spPr>
          <a:xfrm>
            <a:off x="73986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A4887E64-451C-2A98-2140-B60E4788F5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612413"/>
              </p:ext>
            </p:extLst>
          </p:nvPr>
        </p:nvGraphicFramePr>
        <p:xfrm>
          <a:off x="7169760" y="163143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0" name="文字方塊 19">
            <a:extLst>
              <a:ext uri="{FF2B5EF4-FFF2-40B4-BE49-F238E27FC236}">
                <a16:creationId xmlns:a16="http://schemas.microsoft.com/office/drawing/2014/main" id="{E5328391-F130-91DE-E826-96E58451F388}"/>
              </a:ext>
            </a:extLst>
          </p:cNvPr>
          <p:cNvSpPr txBox="1"/>
          <p:nvPr/>
        </p:nvSpPr>
        <p:spPr>
          <a:xfrm>
            <a:off x="20517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CBE4D3F9-BE11-216C-0F65-9F89C76CEE67}"/>
              </a:ext>
            </a:extLst>
          </p:cNvPr>
          <p:cNvSpPr txBox="1"/>
          <p:nvPr/>
        </p:nvSpPr>
        <p:spPr>
          <a:xfrm>
            <a:off x="68785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6666021-CE75-49AD-E5F2-0C852C147D4F}"/>
              </a:ext>
            </a:extLst>
          </p:cNvPr>
          <p:cNvSpPr txBox="1"/>
          <p:nvPr/>
        </p:nvSpPr>
        <p:spPr>
          <a:xfrm>
            <a:off x="3480182" y="24759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B73339CD-B5DB-548D-81FC-776E1139B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8460338"/>
              </p:ext>
            </p:extLst>
          </p:nvPr>
        </p:nvGraphicFramePr>
        <p:xfrm>
          <a:off x="1547664" y="404366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8" name="文字方塊 37">
            <a:extLst>
              <a:ext uri="{FF2B5EF4-FFF2-40B4-BE49-F238E27FC236}">
                <a16:creationId xmlns:a16="http://schemas.microsoft.com/office/drawing/2014/main" id="{CBFA29BC-16EA-8E29-DAF3-456E58026E7D}"/>
              </a:ext>
            </a:extLst>
          </p:cNvPr>
          <p:cNvSpPr txBox="1"/>
          <p:nvPr/>
        </p:nvSpPr>
        <p:spPr>
          <a:xfrm>
            <a:off x="5618136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)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3C496CFB-6BBB-3BA0-2E6D-8F5F1098A9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1590118"/>
              </p:ext>
            </p:extLst>
          </p:nvPr>
        </p:nvGraphicFramePr>
        <p:xfrm>
          <a:off x="4283969" y="4221088"/>
          <a:ext cx="444549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EB1EA629-4209-A850-F1A1-D8BA04D9C9CC}"/>
              </a:ext>
            </a:extLst>
          </p:cNvPr>
          <p:cNvCxnSpPr>
            <a:cxnSpLocks/>
          </p:cNvCxnSpPr>
          <p:nvPr/>
        </p:nvCxnSpPr>
        <p:spPr>
          <a:xfrm>
            <a:off x="3454511" y="4135391"/>
            <a:ext cx="2163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479E246E-2FCC-8FE5-B733-A981CCE1C6B4}"/>
              </a:ext>
            </a:extLst>
          </p:cNvPr>
          <p:cNvSpPr txBox="1"/>
          <p:nvPr/>
        </p:nvSpPr>
        <p:spPr>
          <a:xfrm>
            <a:off x="4282483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/>
              </a:rPr>
              <a:t>Norm</a:t>
            </a:r>
          </a:p>
        </p:txBody>
      </p:sp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9EFD464C-B4A7-F135-02DA-626DD5A57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6491567"/>
              </p:ext>
            </p:extLst>
          </p:nvPr>
        </p:nvGraphicFramePr>
        <p:xfrm>
          <a:off x="3889944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81CA69A3-B5CC-02BB-7359-C1BA5E6B65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8649208"/>
              </p:ext>
            </p:extLst>
          </p:nvPr>
        </p:nvGraphicFramePr>
        <p:xfrm>
          <a:off x="5045057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47E49BB-0A02-34B7-7B44-573B60119A2B}"/>
              </a:ext>
            </a:extLst>
          </p:cNvPr>
          <p:cNvSpPr txBox="1"/>
          <p:nvPr/>
        </p:nvSpPr>
        <p:spPr>
          <a:xfrm>
            <a:off x="4538016" y="35956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92780C9C-6CB0-EE4E-3624-E9C83BEC065A}"/>
              </a:ext>
            </a:extLst>
          </p:cNvPr>
          <p:cNvSpPr txBox="1"/>
          <p:nvPr/>
        </p:nvSpPr>
        <p:spPr>
          <a:xfrm>
            <a:off x="3203848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 (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C4461DE9-71CF-6217-CB5B-A3A0EE539051}"/>
              </a:ext>
            </a:extLst>
          </p:cNvPr>
          <p:cNvSpPr txBox="1"/>
          <p:nvPr/>
        </p:nvSpPr>
        <p:spPr>
          <a:xfrm>
            <a:off x="5076977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1F0EDB0-BF85-DC0D-9878-3554C87FB711}"/>
              </a:ext>
            </a:extLst>
          </p:cNvPr>
          <p:cNvSpPr txBox="1"/>
          <p:nvPr/>
        </p:nvSpPr>
        <p:spPr>
          <a:xfrm>
            <a:off x="3923928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1</a:t>
            </a:r>
          </a:p>
        </p:txBody>
      </p:sp>
      <p:sp>
        <p:nvSpPr>
          <p:cNvPr id="84" name="右大括弧 83">
            <a:extLst>
              <a:ext uri="{FF2B5EF4-FFF2-40B4-BE49-F238E27FC236}">
                <a16:creationId xmlns:a16="http://schemas.microsoft.com/office/drawing/2014/main" id="{DE720BE9-4C36-0318-5B45-E24D7860CFCE}"/>
              </a:ext>
            </a:extLst>
          </p:cNvPr>
          <p:cNvSpPr/>
          <p:nvPr/>
        </p:nvSpPr>
        <p:spPr>
          <a:xfrm rot="5400000">
            <a:off x="4019893" y="2059133"/>
            <a:ext cx="133813" cy="2297484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6" name="右大括弧 85">
            <a:extLst>
              <a:ext uri="{FF2B5EF4-FFF2-40B4-BE49-F238E27FC236}">
                <a16:creationId xmlns:a16="http://schemas.microsoft.com/office/drawing/2014/main" id="{CF43AA5F-9211-1098-2460-3701EE3A76BD}"/>
              </a:ext>
            </a:extLst>
          </p:cNvPr>
          <p:cNvSpPr/>
          <p:nvPr/>
        </p:nvSpPr>
        <p:spPr>
          <a:xfrm rot="5400000">
            <a:off x="6109823" y="1697396"/>
            <a:ext cx="137191" cy="1008112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E393108B-6E78-7538-15D5-25B450E87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725624"/>
              </p:ext>
            </p:extLst>
          </p:nvPr>
        </p:nvGraphicFramePr>
        <p:xfrm>
          <a:off x="5893372" y="2315344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90" name="文字方塊 89">
            <a:extLst>
              <a:ext uri="{FF2B5EF4-FFF2-40B4-BE49-F238E27FC236}">
                <a16:creationId xmlns:a16="http://schemas.microsoft.com/office/drawing/2014/main" id="{1CA08461-6A73-1D89-9315-A1074039A04F}"/>
              </a:ext>
            </a:extLst>
          </p:cNvPr>
          <p:cNvSpPr txBox="1"/>
          <p:nvPr/>
        </p:nvSpPr>
        <p:spPr>
          <a:xfrm>
            <a:off x="59252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DBF2618B-7ED8-C2C2-19D7-3BA9775AF4CF}"/>
              </a:ext>
            </a:extLst>
          </p:cNvPr>
          <p:cNvSpPr txBox="1"/>
          <p:nvPr/>
        </p:nvSpPr>
        <p:spPr>
          <a:xfrm>
            <a:off x="5366373" y="2451264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2F7E401-3DF7-E006-A589-EECCFB9095AE}"/>
              </a:ext>
            </a:extLst>
          </p:cNvPr>
          <p:cNvSpPr txBox="1"/>
          <p:nvPr/>
        </p:nvSpPr>
        <p:spPr>
          <a:xfrm>
            <a:off x="2434003" y="2463423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sp>
        <p:nvSpPr>
          <p:cNvPr id="96" name="右大括弧 95">
            <a:extLst>
              <a:ext uri="{FF2B5EF4-FFF2-40B4-BE49-F238E27FC236}">
                <a16:creationId xmlns:a16="http://schemas.microsoft.com/office/drawing/2014/main" id="{09FEF152-97B2-87C8-447A-FE52110300CB}"/>
              </a:ext>
            </a:extLst>
          </p:cNvPr>
          <p:cNvSpPr/>
          <p:nvPr/>
        </p:nvSpPr>
        <p:spPr>
          <a:xfrm rot="5400000">
            <a:off x="4478705" y="3711042"/>
            <a:ext cx="135420" cy="2163625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0173DE3-5F00-B4F7-46E1-11CEA7497299}"/>
              </a:ext>
            </a:extLst>
          </p:cNvPr>
          <p:cNvSpPr txBox="1"/>
          <p:nvPr/>
        </p:nvSpPr>
        <p:spPr>
          <a:xfrm>
            <a:off x="2862665" y="1921964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A:</a:t>
            </a:r>
            <a:r>
              <a:rPr lang="zh-TW" altLang="en-US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DAE5345-4FEF-8806-2B9A-F6EFAE99D6B2}"/>
              </a:ext>
            </a:extLst>
          </p:cNvPr>
          <p:cNvSpPr txBox="1"/>
          <p:nvPr/>
        </p:nvSpPr>
        <p:spPr>
          <a:xfrm>
            <a:off x="4115099" y="214215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B:</a:t>
            </a:r>
            <a:r>
              <a:rPr lang="zh-TW" altLang="en-US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8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9D5D804-4AE3-B471-BED8-5AE258E2B811}"/>
              </a:ext>
            </a:extLst>
          </p:cNvPr>
          <p:cNvSpPr txBox="1"/>
          <p:nvPr/>
        </p:nvSpPr>
        <p:spPr>
          <a:xfrm>
            <a:off x="2003945" y="3752028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M: 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5BB9756-EA36-B027-E7A2-71CE086E3B6A}"/>
              </a:ext>
            </a:extLst>
          </p:cNvPr>
          <p:cNvSpPr txBox="1"/>
          <p:nvPr/>
        </p:nvSpPr>
        <p:spPr>
          <a:xfrm>
            <a:off x="57960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7827DFC-85FE-6F70-3512-7A29995ED83A}"/>
              </a:ext>
            </a:extLst>
          </p:cNvPr>
          <p:cNvSpPr txBox="1"/>
          <p:nvPr/>
        </p:nvSpPr>
        <p:spPr>
          <a:xfrm>
            <a:off x="2895976" y="4263818"/>
            <a:ext cx="746014" cy="37093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Element-wise </a:t>
            </a:r>
            <a:b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Multiplication</a:t>
            </a:r>
            <a:endParaRPr kumimoji="0" lang="en-US" altLang="zh-TW" sz="10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1F00872-DD77-6591-7CF4-63B351B612B9}"/>
              </a:ext>
            </a:extLst>
          </p:cNvPr>
          <p:cNvSpPr txBox="1"/>
          <p:nvPr/>
        </p:nvSpPr>
        <p:spPr>
          <a:xfrm>
            <a:off x="4169404" y="4797152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742C410A-5519-9D60-F89D-F24FCB8B6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3580142"/>
              </p:ext>
            </p:extLst>
          </p:nvPr>
        </p:nvGraphicFramePr>
        <p:xfrm>
          <a:off x="4283968" y="5411688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32" name="文字方塊 31">
            <a:extLst>
              <a:ext uri="{FF2B5EF4-FFF2-40B4-BE49-F238E27FC236}">
                <a16:creationId xmlns:a16="http://schemas.microsoft.com/office/drawing/2014/main" id="{8F638586-DD0F-7B38-ADEB-148121242354}"/>
              </a:ext>
            </a:extLst>
          </p:cNvPr>
          <p:cNvSpPr txBox="1"/>
          <p:nvPr/>
        </p:nvSpPr>
        <p:spPr>
          <a:xfrm>
            <a:off x="4315888" y="5572472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Final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EE495000-44A7-A1D6-AFDB-A89929F61919}"/>
              </a:ext>
            </a:extLst>
          </p:cNvPr>
          <p:cNvSpPr txBox="1"/>
          <p:nvPr/>
        </p:nvSpPr>
        <p:spPr>
          <a:xfrm>
            <a:off x="3125068" y="5409102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D82F859B-7C9B-D910-AF09-635336C66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046510"/>
              </p:ext>
            </p:extLst>
          </p:nvPr>
        </p:nvGraphicFramePr>
        <p:xfrm>
          <a:off x="2837581" y="565567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9" name="文字方塊 38">
            <a:extLst>
              <a:ext uri="{FF2B5EF4-FFF2-40B4-BE49-F238E27FC236}">
                <a16:creationId xmlns:a16="http://schemas.microsoft.com/office/drawing/2014/main" id="{AE3E24DD-8382-131D-AED4-CD0C90FD0F59}"/>
              </a:ext>
            </a:extLst>
          </p:cNvPr>
          <p:cNvSpPr txBox="1"/>
          <p:nvPr/>
        </p:nvSpPr>
        <p:spPr>
          <a:xfrm>
            <a:off x="4133725" y="559707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38235047-EB09-64DA-E23A-B7F18CD8C13D}"/>
              </a:ext>
            </a:extLst>
          </p:cNvPr>
          <p:cNvSpPr txBox="1"/>
          <p:nvPr/>
        </p:nvSpPr>
        <p:spPr>
          <a:xfrm>
            <a:off x="5363964" y="5333904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911C3EE7-A426-ADFD-A68E-92DF32F50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1869587"/>
              </p:ext>
            </p:extLst>
          </p:nvPr>
        </p:nvGraphicFramePr>
        <p:xfrm>
          <a:off x="5135074" y="5624573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5" name="文字方塊 44">
            <a:extLst>
              <a:ext uri="{FF2B5EF4-FFF2-40B4-BE49-F238E27FC236}">
                <a16:creationId xmlns:a16="http://schemas.microsoft.com/office/drawing/2014/main" id="{DCA76E16-589B-9769-DD1E-F10E8D3A2835}"/>
              </a:ext>
            </a:extLst>
          </p:cNvPr>
          <p:cNvSpPr txBox="1"/>
          <p:nvPr/>
        </p:nvSpPr>
        <p:spPr>
          <a:xfrm>
            <a:off x="4843852" y="5575667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60CCA852-9376-3C28-913E-AAC8857E093D}"/>
              </a:ext>
            </a:extLst>
          </p:cNvPr>
          <p:cNvSpPr/>
          <p:nvPr/>
        </p:nvSpPr>
        <p:spPr>
          <a:xfrm>
            <a:off x="1475656" y="4010908"/>
            <a:ext cx="1726706" cy="263368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7A2721A8-CA55-88EE-ED72-26D429AD1942}"/>
              </a:ext>
            </a:extLst>
          </p:cNvPr>
          <p:cNvSpPr/>
          <p:nvPr/>
        </p:nvSpPr>
        <p:spPr>
          <a:xfrm>
            <a:off x="3854905" y="3379160"/>
            <a:ext cx="652867" cy="70466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7584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圓角 1">
            <a:extLst>
              <a:ext uri="{FF2B5EF4-FFF2-40B4-BE49-F238E27FC236}">
                <a16:creationId xmlns:a16="http://schemas.microsoft.com/office/drawing/2014/main" id="{63207710-985C-7A28-4056-2FA6713D85CB}"/>
              </a:ext>
            </a:extLst>
          </p:cNvPr>
          <p:cNvSpPr/>
          <p:nvPr/>
        </p:nvSpPr>
        <p:spPr>
          <a:xfrm>
            <a:off x="832197" y="1714074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70EDC75-7385-5F95-B4BA-97F9859B8A9F}"/>
              </a:ext>
            </a:extLst>
          </p:cNvPr>
          <p:cNvSpPr txBox="1"/>
          <p:nvPr/>
        </p:nvSpPr>
        <p:spPr>
          <a:xfrm>
            <a:off x="899591" y="1793757"/>
            <a:ext cx="1086557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587727A-BDEF-F32C-B3C5-7C3AB14BD1E5}"/>
              </a:ext>
            </a:extLst>
          </p:cNvPr>
          <p:cNvSpPr txBox="1"/>
          <p:nvPr/>
        </p:nvSpPr>
        <p:spPr>
          <a:xfrm>
            <a:off x="899591" y="3573016"/>
            <a:ext cx="1086557" cy="82465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55DD5BF6-207B-493C-CCFD-2C1D36DEEC2B}"/>
              </a:ext>
            </a:extLst>
          </p:cNvPr>
          <p:cNvCxnSpPr>
            <a:cxnSpLocks/>
            <a:stCxn id="4" idx="0"/>
            <a:endCxn id="10" idx="2"/>
          </p:cNvCxnSpPr>
          <p:nvPr/>
        </p:nvCxnSpPr>
        <p:spPr>
          <a:xfrm flipH="1" flipV="1">
            <a:off x="1441677" y="1513424"/>
            <a:ext cx="1193" cy="2803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EB078010-CFFF-9CD7-52C0-BC77FCB4C98B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1441959" y="4397668"/>
            <a:ext cx="911" cy="316199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A02E8EC7-0A86-283A-6E78-46AE0686BF9A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1442870" y="3429000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2BB04445-D4DE-BD9B-8C29-1C152D22E97F}"/>
              </a:ext>
            </a:extLst>
          </p:cNvPr>
          <p:cNvSpPr txBox="1"/>
          <p:nvPr/>
        </p:nvSpPr>
        <p:spPr>
          <a:xfrm>
            <a:off x="832198" y="471386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altLang="zh-TW" sz="1200" b="1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Dataset   </a:t>
            </a:r>
            <a:endParaRPr lang="en-US" altLang="zh-TW" sz="1200" u="sng" strike="noStrike" kern="1200" spc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…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endParaRPr kumimoji="0" lang="en-US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7E129B3-E14F-1441-BAFA-0BA1FDE90FFE}"/>
              </a:ext>
            </a:extLst>
          </p:cNvPr>
          <p:cNvSpPr txBox="1"/>
          <p:nvPr/>
        </p:nvSpPr>
        <p:spPr>
          <a:xfrm>
            <a:off x="1012309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4" name="標題 1">
            <a:extLst>
              <a:ext uri="{FF2B5EF4-FFF2-40B4-BE49-F238E27FC236}">
                <a16:creationId xmlns:a16="http://schemas.microsoft.com/office/drawing/2014/main" id="{502FE421-311F-EFCB-01D3-F6E8CF4B1C2F}"/>
              </a:ext>
            </a:extLst>
          </p:cNvPr>
          <p:cNvSpPr txBox="1">
            <a:spLocks/>
          </p:cNvSpPr>
          <p:nvPr/>
        </p:nvSpPr>
        <p:spPr>
          <a:xfrm>
            <a:off x="1193610" y="534261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6437C88A-0580-6462-84EA-7D74708B04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Per Layer Embeddings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 E4B/E2B </a:t>
            </a: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7D10604D-7C92-2E3B-35EC-F4C7CB2B62D2}"/>
              </a:ext>
            </a:extLst>
          </p:cNvPr>
          <p:cNvSpPr/>
          <p:nvPr/>
        </p:nvSpPr>
        <p:spPr>
          <a:xfrm>
            <a:off x="3064445" y="1714074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6E0CA71-1BC7-E4CA-433F-7736D51728A0}"/>
              </a:ext>
            </a:extLst>
          </p:cNvPr>
          <p:cNvSpPr txBox="1"/>
          <p:nvPr/>
        </p:nvSpPr>
        <p:spPr>
          <a:xfrm>
            <a:off x="3131839" y="1793757"/>
            <a:ext cx="1086557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69BCEB1-E0B0-B90E-2045-1A27BA4B3F18}"/>
              </a:ext>
            </a:extLst>
          </p:cNvPr>
          <p:cNvSpPr txBox="1"/>
          <p:nvPr/>
        </p:nvSpPr>
        <p:spPr>
          <a:xfrm>
            <a:off x="3131839" y="3573016"/>
            <a:ext cx="1086557" cy="82465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36B78E81-B286-8285-8D84-ADECF701F097}"/>
              </a:ext>
            </a:extLst>
          </p:cNvPr>
          <p:cNvCxnSpPr>
            <a:cxnSpLocks/>
            <a:stCxn id="20" idx="0"/>
            <a:endCxn id="26" idx="2"/>
          </p:cNvCxnSpPr>
          <p:nvPr/>
        </p:nvCxnSpPr>
        <p:spPr>
          <a:xfrm flipH="1" flipV="1">
            <a:off x="3673925" y="1513424"/>
            <a:ext cx="1193" cy="2803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A6DD51A0-4E9D-53D5-774B-7FB0D7B40776}"/>
              </a:ext>
            </a:extLst>
          </p:cNvPr>
          <p:cNvCxnSpPr>
            <a:cxnSpLocks/>
            <a:stCxn id="25" idx="0"/>
            <a:endCxn id="21" idx="2"/>
          </p:cNvCxnSpPr>
          <p:nvPr/>
        </p:nvCxnSpPr>
        <p:spPr>
          <a:xfrm flipV="1">
            <a:off x="3674207" y="4397668"/>
            <a:ext cx="911" cy="316199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CABF9457-516F-D7D6-1895-7C3A3637E5F3}"/>
              </a:ext>
            </a:extLst>
          </p:cNvPr>
          <p:cNvCxnSpPr>
            <a:cxnSpLocks/>
            <a:stCxn id="21" idx="0"/>
            <a:endCxn id="20" idx="2"/>
          </p:cNvCxnSpPr>
          <p:nvPr/>
        </p:nvCxnSpPr>
        <p:spPr>
          <a:xfrm flipV="1">
            <a:off x="3675118" y="3429000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E4ED16BF-4EA8-4092-C1D4-83BD89A5A7F6}"/>
              </a:ext>
            </a:extLst>
          </p:cNvPr>
          <p:cNvSpPr txBox="1"/>
          <p:nvPr/>
        </p:nvSpPr>
        <p:spPr>
          <a:xfrm>
            <a:off x="3064446" y="471386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altLang="zh-TW" sz="1200" b="1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Dataset   </a:t>
            </a:r>
            <a:endParaRPr lang="en-US" altLang="zh-TW" sz="1200" u="sng" strike="noStrike" kern="1200" spc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…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endParaRPr kumimoji="0" lang="en-US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0A6036BD-770A-39AC-80BB-57EFCB5C9587}"/>
              </a:ext>
            </a:extLst>
          </p:cNvPr>
          <p:cNvSpPr txBox="1"/>
          <p:nvPr/>
        </p:nvSpPr>
        <p:spPr>
          <a:xfrm>
            <a:off x="3244557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B7219333-5E1F-2917-229F-E27ABBDFAEFA}"/>
              </a:ext>
            </a:extLst>
          </p:cNvPr>
          <p:cNvSpPr txBox="1">
            <a:spLocks/>
          </p:cNvSpPr>
          <p:nvPr/>
        </p:nvSpPr>
        <p:spPr>
          <a:xfrm>
            <a:off x="3425858" y="534261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4086AF1C-9AF9-050B-5F63-E4F091EB7C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476672"/>
            <a:ext cx="4596152" cy="4307251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E6066CE6-2A4A-B14D-B71E-0B7D1DF8B5A6}"/>
              </a:ext>
            </a:extLst>
          </p:cNvPr>
          <p:cNvSpPr txBox="1"/>
          <p:nvPr/>
        </p:nvSpPr>
        <p:spPr>
          <a:xfrm>
            <a:off x="3347864" y="27459"/>
            <a:ext cx="4908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dirty="0"/>
              <a:t>https://ai.google.dev/gemma/docs/diffusiongemma/explained?hl=zh-tw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01D6A66-814C-907F-51F0-047ABE8E28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5936" y="2132856"/>
            <a:ext cx="5057095" cy="3979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1857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683568" y="5229200"/>
            <a:ext cx="5217715" cy="1075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altLang="zh-TW" sz="12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Leading Frameworks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Deploying and fine-tuning your own LLM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is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now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easier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than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ever. (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框架可以做的事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6764906"/>
              </p:ext>
            </p:extLst>
          </p:nvPr>
        </p:nvGraphicFramePr>
        <p:xfrm>
          <a:off x="323528" y="1484784"/>
          <a:ext cx="8496944" cy="3028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17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 (py)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DeepSpeed/FSDP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99B597-7909-D1DA-8454-006A2FB2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35E8E5C-914A-198C-6F71-81C8CF8D75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529344"/>
              </p:ext>
            </p:extLst>
          </p:nvPr>
        </p:nvGraphicFramePr>
        <p:xfrm>
          <a:off x="459210" y="4077072"/>
          <a:ext cx="8225582" cy="2111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54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30775468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3248398504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668600716"/>
                    </a:ext>
                  </a:extLst>
                </a:gridCol>
              </a:tblGrid>
              <a:tr h="232026">
                <a:tc rowSpan="2"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b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32026">
                <a:tc vMerge="1"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Routing/PLE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(Math)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(Language)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Instruction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(Following)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Long-Context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(Retrieval)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134548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Alignment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(Safety)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149316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8726591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09D16506-3A81-A8F0-9750-304184876E06}"/>
              </a:ext>
            </a:extLst>
          </p:cNvPr>
          <p:cNvSpPr txBox="1"/>
          <p:nvPr/>
        </p:nvSpPr>
        <p:spPr>
          <a:xfrm>
            <a:off x="495400" y="1509949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Engineering Index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Latency</a:t>
            </a:r>
            <a:r>
              <a:rPr lang="en-US" altLang="zh-TW" sz="1600" dirty="0">
                <a:solidFill>
                  <a:prstClr val="black"/>
                </a:solidFill>
              </a:rPr>
              <a:t>: Time to first token (TTFT)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Throughput: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Tokens per second (TPS)</a:t>
            </a:r>
          </a:p>
          <a:p>
            <a:pPr marL="285750" lvl="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Cost Efficiency: </a:t>
            </a:r>
            <a:r>
              <a:rPr lang="en-US" altLang="zh-TW" sz="1600" dirty="0">
                <a:solidFill>
                  <a:prstClr val="black"/>
                </a:solidFill>
              </a:rPr>
              <a:t>Cost per token 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FDB6D11-60C8-5A2F-2DF3-BC903F9F91EF}"/>
              </a:ext>
            </a:extLst>
          </p:cNvPr>
          <p:cNvSpPr txBox="1"/>
          <p:nvPr/>
        </p:nvSpPr>
        <p:spPr>
          <a:xfrm>
            <a:off x="3030926" y="3640242"/>
            <a:ext cx="4104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每個階段的成本分析</a:t>
            </a:r>
            <a:r>
              <a:rPr lang="en-US" altLang="zh-TW" dirty="0"/>
              <a:t>(</a:t>
            </a:r>
            <a:r>
              <a:rPr lang="zh-TW" altLang="en-US" dirty="0"/>
              <a:t>時間</a:t>
            </a:r>
            <a:r>
              <a:rPr lang="en-US" altLang="zh-TW" dirty="0"/>
              <a:t>, </a:t>
            </a:r>
            <a:r>
              <a:rPr lang="zh-TW" altLang="en-US" dirty="0"/>
              <a:t>金錢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07935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60C3417-DCE7-01E2-CCA3-357A9BF7E8E5}"/>
              </a:ext>
            </a:extLst>
          </p:cNvPr>
          <p:cNvSpPr txBox="1"/>
          <p:nvPr/>
        </p:nvSpPr>
        <p:spPr>
          <a:xfrm>
            <a:off x="2286000" y="1556792"/>
            <a:ext cx="4662264" cy="3325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zh-TW" altLang="zh-TW" sz="1500" b="0" u="none" strike="noStrike" dirty="0">
                <a:effectLst/>
                <a:latin typeface="Google Sans"/>
              </a:rPr>
              <a:t>python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1. 配置量化與 LoRA 參數 (呼叫現成工具，不改底層)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peft_config = LoraConfig(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r=16,           # 決定旁路矩陣的大小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lora_alpha=32,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target_modules=["q_proj", "v_proj"], # 指定要外掛在哪些權重矩陣旁邊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2. 指定優化器與訓練超參數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training_args = TrainingArguments(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per_device_train_batch_size=4,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gradient_accumulation_steps=4,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learning_rate=2e-4,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optim="paged_adamw_8bit", # 直接調用封裝好的 8-bit 優化器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fp16=True,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3. 執行訓練 ➔ 此時系統會自動去更新 LoRA 的權重矩陣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trainer.train()</a:t>
            </a: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1101</TotalTime>
  <Words>10083</Words>
  <Application>Microsoft Office PowerPoint</Application>
  <PresentationFormat>如螢幕大小 (4:3)</PresentationFormat>
  <Paragraphs>1381</Paragraphs>
  <Slides>24</Slides>
  <Notes>22</Notes>
  <HiddenSlides>5</HiddenSlides>
  <MMClips>0</MMClips>
  <ScaleCrop>false</ScaleCrop>
  <HeadingPairs>
    <vt:vector size="6" baseType="variant">
      <vt:variant>
        <vt:lpstr>使用字型</vt:lpstr>
      </vt:variant>
      <vt:variant>
        <vt:i4>15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24</vt:i4>
      </vt:variant>
    </vt:vector>
  </HeadingPairs>
  <TitlesOfParts>
    <vt:vector size="40" baseType="lpstr">
      <vt:lpstr>Google Sans</vt:lpstr>
      <vt:lpstr>Meiryo</vt:lpstr>
      <vt:lpstr>Noto Sans HK</vt:lpstr>
      <vt:lpstr>Noto Sans TC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Courier New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1751</cp:revision>
  <cp:lastPrinted>2024-07-30T01:44:15Z</cp:lastPrinted>
  <dcterms:created xsi:type="dcterms:W3CDTF">2019-11-08T03:01:47Z</dcterms:created>
  <dcterms:modified xsi:type="dcterms:W3CDTF">2026-07-14T12:10:18Z</dcterms:modified>
</cp:coreProperties>
</file>