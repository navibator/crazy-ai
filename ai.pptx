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85" r:id="rId18"/>
    <p:sldId id="3460"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D462"/>
    <a:srgbClr val="FEF1E9"/>
    <a:srgbClr val="FFCCCC"/>
    <a:srgbClr val="FF0000"/>
    <a:srgbClr val="FEC203"/>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875" autoAdjust="0"/>
  </p:normalViewPr>
  <p:slideViewPr>
    <p:cSldViewPr>
      <p:cViewPr>
        <p:scale>
          <a:sx n="100" d="100"/>
          <a:sy n="100" d="100"/>
        </p:scale>
        <p:origin x="672" y="-66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90.pn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0.png"/><Relationship Id="rId5" Type="http://schemas.openxmlformats.org/officeDocument/2006/relationships/image" Target="../media/image170.png"/><Relationship Id="rId15" Type="http://schemas.openxmlformats.org/officeDocument/2006/relationships/image" Target="../media/image21.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159914258"/>
              </p:ext>
            </p:extLst>
          </p:nvPr>
        </p:nvGraphicFramePr>
        <p:xfrm>
          <a:off x="863588" y="1052736"/>
          <a:ext cx="7416824" cy="4536504"/>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386115">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45014">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83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728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2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240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610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33996">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933360"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746157"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561544"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356840"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5674488" y="2609120"/>
            <a:ext cx="182880" cy="182880"/>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5674488" y="2057184"/>
            <a:ext cx="182880" cy="182880"/>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836712"/>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1"/>
          <a:stretch>
            <a:fillRect/>
          </a:stretch>
        </p:blipFill>
        <p:spPr>
          <a:xfrm>
            <a:off x="5674488" y="4351962"/>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2"/>
          <a:stretch>
            <a:fillRect/>
          </a:stretch>
        </p:blipFill>
        <p:spPr>
          <a:xfrm>
            <a:off x="5674488" y="4653136"/>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3"/>
          <a:stretch>
            <a:fillRect/>
          </a:stretch>
        </p:blipFill>
        <p:spPr>
          <a:xfrm>
            <a:off x="5674488" y="4927243"/>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152135" y="5507074"/>
            <a:ext cx="1660225" cy="922374"/>
          </a:xfrm>
          <a:prstGeom prst="wedgeRoundRectCallout">
            <a:avLst>
              <a:gd name="adj1" fmla="val -65540"/>
              <a:gd name="adj2" fmla="val -3049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Deployment and FT,</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Open weight and source …</a:t>
            </a: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156975"/>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152873"/>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27143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151159"/>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26971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30837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260664"/>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327148"/>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321263"/>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593704"/>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593704"/>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688709"/>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51905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466742"/>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698234"/>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61901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622448"/>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675408"/>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61053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293096"/>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505729"/>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527166"/>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527167"/>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5271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9249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22377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99375"/>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658362"/>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6365443" y="5493869"/>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7551846" y="547596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83311" y="659283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225998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p:txBody>
      </p:sp>
      <p:sp>
        <p:nvSpPr>
          <p:cNvPr id="10" name="標題 1">
            <a:extLst>
              <a:ext uri="{FF2B5EF4-FFF2-40B4-BE49-F238E27FC236}">
                <a16:creationId xmlns:a16="http://schemas.microsoft.com/office/drawing/2014/main" id="{94123D48-2127-FE3C-251B-0C79B27BCB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pic>
        <p:nvPicPr>
          <p:cNvPr id="7" name="圖片 6">
            <a:extLst>
              <a:ext uri="{FF2B5EF4-FFF2-40B4-BE49-F238E27FC236}">
                <a16:creationId xmlns:a16="http://schemas.microsoft.com/office/drawing/2014/main" id="{921F85D1-0D1A-EDB4-B1C7-9EA313E43EFA}"/>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56349" y="728818"/>
            <a:ext cx="2880294" cy="1580786"/>
          </a:xfrm>
          <a:prstGeom prst="rect">
            <a:avLst/>
          </a:prstGeom>
          <a:effectLst>
            <a:glow rad="63500">
              <a:schemeClr val="accent1">
                <a:satMod val="175000"/>
                <a:alpha val="40000"/>
              </a:schemeClr>
            </a:glow>
          </a:effectLst>
        </p:spPr>
      </p:pic>
      <mc:AlternateContent xmlns:mc="http://schemas.openxmlformats.org/markup-compatibility/2006">
        <mc:Choice xmlns:a14="http://schemas.microsoft.com/office/drawing/2010/main"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3536012189"/>
                  </p:ext>
                </p:extLst>
              </p:nvPr>
            </p:nvGraphicFramePr>
            <p:xfrm>
              <a:off x="661886" y="2234021"/>
              <a:ext cx="8014568" cy="4240141"/>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8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217">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1006">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934860">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cy-GB" altLang="zh-TW" sz="1200" i="1" smtClean="0">
                                                    <a:latin typeface="Cambria Math" panose="02040503050406030204" pitchFamily="18" charset="0"/>
                                                    <a:ea typeface="Cambria Math" panose="02040503050406030204" pitchFamily="18" charset="0"/>
                                                  </a:rPr>
                                                  <m:t>ŷ</m:t>
                                                </m:r>
                                              </m:e>
                                              <m:sub>
                                                <m:r>
                                                  <m:rPr>
                                                    <m:sty m:val="p"/>
                                                  </m:rPr>
                                                  <a:rPr lang="en-US" altLang="zh-TW" sz="1200" b="0" i="1" smtClean="0">
                                                    <a:latin typeface="Cambria Math" panose="02040503050406030204" pitchFamily="18" charset="0"/>
                                                    <a:ea typeface="Cambria Math" panose="02040503050406030204" pitchFamily="18" charset="0"/>
                                                  </a:rPr>
                                                  <m:t>i</m:t>
                                                </m:r>
                                              </m:sub>
                                            </m:sSub>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0866">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r>
                                <m:rPr>
                                  <m:sty m:val="p"/>
                                </m:rPr>
                                <a:rPr lang="en-US" altLang="zh-TW" sz="1200" b="0" i="1" smtClean="0">
                                  <a:latin typeface="Cambria Math" panose="02040503050406030204" pitchFamily="18" charset="0"/>
                                </a:rPr>
                                <m:t>x</m:t>
                              </m:r>
                              <m:r>
                                <a:rPr lang="en-US" altLang="zh-TW" sz="1200" i="1">
                                  <a:latin typeface="Cambria Math" panose="02040503050406030204" pitchFamily="18" charset="0"/>
                                </a:rPr>
                                <m:t>(</m:t>
                              </m:r>
                              <m:r>
                                <m:rPr>
                                  <m:sty m:val="p"/>
                                </m:rPr>
                                <a:rPr lang="el-GR" altLang="zh-TW" sz="1200" b="0" i="1" smtClean="0">
                                  <a:latin typeface="Cambria Math" panose="02040503050406030204" pitchFamily="18" charset="0"/>
                                  <a:ea typeface="Cambria Math" panose="02040503050406030204" pitchFamily="18" charset="0"/>
                                </a:rPr>
                                <m:t>ω</m:t>
                              </m:r>
                              <m:r>
                                <a:rPr lang="en-US" altLang="zh-TW" sz="1200" i="1">
                                  <a:latin typeface="Cambria Math" panose="02040503050406030204" pitchFamily="18" charset="0"/>
                                </a:rPr>
                                <m:t>)</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r>
                                      <m:rPr>
                                        <m:sty m:val="p"/>
                                      </m:rPr>
                                      <a:rPr lang="el-GR" altLang="zh-TW" sz="1200" b="0" i="1" smtClean="0">
                                        <a:latin typeface="Cambria Math" panose="02040503050406030204" pitchFamily="18" charset="0"/>
                                        <a:ea typeface="Cambria Math" panose="02040503050406030204" pitchFamily="18" charset="0"/>
                                      </a:rPr>
                                      <m:t>ω</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r>
                                      <m:rPr>
                                        <m:sty m:val="p"/>
                                      </m:rPr>
                                      <a:rPr lang="el-GR" altLang="zh-TW" sz="1200" b="0" i="1" smtClean="0">
                                        <a:latin typeface="Cambria Math" panose="02040503050406030204" pitchFamily="18" charset="0"/>
                                        <a:ea typeface="Cambria Math" panose="02040503050406030204" pitchFamily="18" charset="0"/>
                                      </a:rPr>
                                      <m:t>ω</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9254">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80866">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3536012189"/>
                  </p:ext>
                </p:extLst>
              </p:nvPr>
            </p:nvGraphicFramePr>
            <p:xfrm>
              <a:off x="661886" y="2234021"/>
              <a:ext cx="8014568" cy="4240141"/>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8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26538" t="-86916" b="-563551"/>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217">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100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158824" r="-376812" b="-26601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158824" r="-141299" b="-26601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158824" r="-40972" b="-266013"/>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93486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257143" r="-376812" b="-164286"/>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257143" r="-141299" b="-164286"/>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257143" r="-40972" b="-164286"/>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086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887097" r="-376812" b="-30806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887097" r="-141299" b="-30806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887097" r="-40972" b="-308065"/>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9254">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532174" r="-376812" b="-6608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532174" r="-141299" b="-6608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532174" r="-40972" b="-66087"/>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3503" t="-532174" b="-66087"/>
                          </a:stretch>
                        </a:blipFill>
                      </a:tcPr>
                    </a:tc>
                    <a:extLst>
                      <a:ext uri="{0D108BD9-81ED-4DB2-BD59-A6C34878D82A}">
                        <a16:rowId xmlns:a16="http://schemas.microsoft.com/office/drawing/2014/main" val="1341340391"/>
                      </a:ext>
                    </a:extLst>
                  </a:tr>
                  <a:tr h="380866">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6EE7C401-C0E8-D9AC-42BE-0C2B07B62E70}"/>
                  </a:ext>
                </a:extLst>
              </p:cNvPr>
              <p:cNvSpPr txBox="1"/>
              <p:nvPr/>
            </p:nvSpPr>
            <p:spPr>
              <a:xfrm>
                <a:off x="2226284" y="1261920"/>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22" name="文字方塊 21">
                <a:extLst>
                  <a:ext uri="{FF2B5EF4-FFF2-40B4-BE49-F238E27FC236}">
                    <a16:creationId xmlns:a16="http://schemas.microsoft.com/office/drawing/2014/main" id="{6EE7C401-C0E8-D9AC-42BE-0C2B07B62E70}"/>
                  </a:ext>
                </a:extLst>
              </p:cNvPr>
              <p:cNvSpPr txBox="1">
                <a:spLocks noRot="1" noChangeAspect="1" noMove="1" noResize="1" noEditPoints="1" noAdjustHandles="1" noChangeArrowheads="1" noChangeShapeType="1" noTextEdit="1"/>
              </p:cNvSpPr>
              <p:nvPr/>
            </p:nvSpPr>
            <p:spPr>
              <a:xfrm>
                <a:off x="2226284" y="1261920"/>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B829B3B3-9ADB-FB00-FBB3-458F6E2BEB06}"/>
                  </a:ext>
                </a:extLst>
              </p:cNvPr>
              <p:cNvSpPr txBox="1"/>
              <p:nvPr/>
            </p:nvSpPr>
            <p:spPr>
              <a:xfrm>
                <a:off x="2226284" y="1751453"/>
                <a:ext cx="225998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24" name="文字方塊 23">
                <a:extLst>
                  <a:ext uri="{FF2B5EF4-FFF2-40B4-BE49-F238E27FC236}">
                    <a16:creationId xmlns:a16="http://schemas.microsoft.com/office/drawing/2014/main" id="{B829B3B3-9ADB-FB00-FBB3-458F6E2BEB06}"/>
                  </a:ext>
                </a:extLst>
              </p:cNvPr>
              <p:cNvSpPr txBox="1">
                <a:spLocks noRot="1" noChangeAspect="1" noMove="1" noResize="1" noEditPoints="1" noAdjustHandles="1" noChangeArrowheads="1" noChangeShapeType="1" noTextEdit="1"/>
              </p:cNvSpPr>
              <p:nvPr/>
            </p:nvSpPr>
            <p:spPr>
              <a:xfrm>
                <a:off x="2226284" y="1751453"/>
                <a:ext cx="2259982" cy="307777"/>
              </a:xfrm>
              <a:prstGeom prst="rect">
                <a:avLst/>
              </a:prstGeom>
              <a:blipFill>
                <a:blip r:embed="rId6"/>
                <a:stretch>
                  <a:fillRect b="-784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Basic 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
        <p:nvSpPr>
          <p:cNvPr id="4" name="文字方塊 3">
            <a:extLst>
              <a:ext uri="{FF2B5EF4-FFF2-40B4-BE49-F238E27FC236}">
                <a16:creationId xmlns:a16="http://schemas.microsoft.com/office/drawing/2014/main" id="{9C65FC41-9B81-BD6F-59CA-85E2583593AD}"/>
              </a:ext>
            </a:extLst>
          </p:cNvPr>
          <p:cNvSpPr txBox="1"/>
          <p:nvPr/>
        </p:nvSpPr>
        <p:spPr>
          <a:xfrm>
            <a:off x="3542120" y="1359745"/>
            <a:ext cx="432047"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2"/>
                </a:solidFill>
              </a:rPr>
              <a:t>2</a:t>
            </a:r>
            <a:r>
              <a:rPr lang="en-US" altLang="zh-TW" sz="1400" b="1" u="none" strike="noStrike" dirty="0">
                <a:solidFill>
                  <a:schemeClr val="accent2"/>
                </a:solidFill>
                <a:effectLst/>
              </a:rPr>
              <a:t> x 3</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10" name="表格 9">
            <a:extLst>
              <a:ext uri="{FF2B5EF4-FFF2-40B4-BE49-F238E27FC236}">
                <a16:creationId xmlns:a16="http://schemas.microsoft.com/office/drawing/2014/main" id="{AA56501A-A6C8-8032-3005-81BC6EE1173B}"/>
              </a:ext>
            </a:extLst>
          </p:cNvPr>
          <p:cNvGraphicFramePr>
            <a:graphicFrameLocks noGrp="1"/>
          </p:cNvGraphicFramePr>
          <p:nvPr>
            <p:extLst>
              <p:ext uri="{D42A27DB-BD31-4B8C-83A1-F6EECF244321}">
                <p14:modId xmlns:p14="http://schemas.microsoft.com/office/powerpoint/2010/main" val="280726626"/>
              </p:ext>
            </p:extLst>
          </p:nvPr>
        </p:nvGraphicFramePr>
        <p:xfrm>
          <a:off x="1906337" y="3097180"/>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4" name="文字方塊 13">
            <a:extLst>
              <a:ext uri="{FF2B5EF4-FFF2-40B4-BE49-F238E27FC236}">
                <a16:creationId xmlns:a16="http://schemas.microsoft.com/office/drawing/2014/main" id="{51308E05-3476-EB93-F12C-891ECFA2D15D}"/>
              </a:ext>
            </a:extLst>
          </p:cNvPr>
          <p:cNvSpPr txBox="1"/>
          <p:nvPr/>
        </p:nvSpPr>
        <p:spPr>
          <a:xfrm>
            <a:off x="2927770" y="1142852"/>
            <a:ext cx="404995"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a:t>
            </a:r>
            <a:r>
              <a:rPr lang="en-US" altLang="zh-TW" sz="1400" b="1" dirty="0">
                <a:solidFill>
                  <a:schemeClr val="tx1">
                    <a:lumMod val="65000"/>
                    <a:lumOff val="35000"/>
                  </a:schemeClr>
                </a:solidFill>
              </a:rPr>
              <a:t>2</a:t>
            </a:r>
            <a:endParaRPr lang="en-US" altLang="zh-TW" sz="1400" b="1" u="none" strike="noStrike" dirty="0">
              <a:solidFill>
                <a:schemeClr val="tx1">
                  <a:lumMod val="65000"/>
                  <a:lumOff val="35000"/>
                </a:schemeClr>
              </a:solidFill>
              <a:effectLst/>
            </a:endParaRPr>
          </a:p>
        </p:txBody>
      </p:sp>
      <p:sp>
        <p:nvSpPr>
          <p:cNvPr id="16" name="文字方塊 15">
            <a:extLst>
              <a:ext uri="{FF2B5EF4-FFF2-40B4-BE49-F238E27FC236}">
                <a16:creationId xmlns:a16="http://schemas.microsoft.com/office/drawing/2014/main" id="{AC421B7C-6175-8506-5560-288071F66DF2}"/>
              </a:ext>
            </a:extLst>
          </p:cNvPr>
          <p:cNvSpPr txBox="1"/>
          <p:nvPr/>
        </p:nvSpPr>
        <p:spPr>
          <a:xfrm>
            <a:off x="4938264" y="1467266"/>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3</a:t>
            </a:r>
          </a:p>
          <a:p>
            <a:pPr algn="ctr">
              <a:lnSpc>
                <a:spcPts val="1400"/>
              </a:lnSpc>
              <a:buNone/>
            </a:pPr>
            <a:endParaRPr lang="en-US" altLang="zh-TW" sz="1200" dirty="0">
              <a:solidFill>
                <a:schemeClr val="tx1">
                  <a:lumMod val="65000"/>
                  <a:lumOff val="35000"/>
                </a:schemeClr>
              </a:solidFill>
            </a:endParaRPr>
          </a:p>
        </p:txBody>
      </p:sp>
      <p:graphicFrame>
        <p:nvGraphicFramePr>
          <p:cNvPr id="53" name="表格 52">
            <a:extLst>
              <a:ext uri="{FF2B5EF4-FFF2-40B4-BE49-F238E27FC236}">
                <a16:creationId xmlns:a16="http://schemas.microsoft.com/office/drawing/2014/main" id="{FC13E15A-3A66-27E6-353E-9B02430E4C18}"/>
              </a:ext>
            </a:extLst>
          </p:cNvPr>
          <p:cNvGraphicFramePr>
            <a:graphicFrameLocks noGrp="1"/>
          </p:cNvGraphicFramePr>
          <p:nvPr>
            <p:extLst>
              <p:ext uri="{D42A27DB-BD31-4B8C-83A1-F6EECF244321}">
                <p14:modId xmlns:p14="http://schemas.microsoft.com/office/powerpoint/2010/main" val="2484745457"/>
              </p:ext>
            </p:extLst>
          </p:nvPr>
        </p:nvGraphicFramePr>
        <p:xfrm>
          <a:off x="3347864" y="3823745"/>
          <a:ext cx="1681136" cy="1072326"/>
        </p:xfrm>
        <a:graphic>
          <a:graphicData uri="http://schemas.openxmlformats.org/drawingml/2006/table">
            <a:tbl>
              <a:tblPr firstRow="1" bandRow="1">
                <a:tableStyleId>{5C22544A-7EE6-4342-B048-85BDC9FD1C3A}</a:tableStyleId>
              </a:tblPr>
              <a:tblGrid>
                <a:gridCol w="356709">
                  <a:extLst>
                    <a:ext uri="{9D8B030D-6E8A-4147-A177-3AD203B41FA5}">
                      <a16:colId xmlns:a16="http://schemas.microsoft.com/office/drawing/2014/main" val="871242339"/>
                    </a:ext>
                  </a:extLst>
                </a:gridCol>
                <a:gridCol w="356709">
                  <a:extLst>
                    <a:ext uri="{9D8B030D-6E8A-4147-A177-3AD203B41FA5}">
                      <a16:colId xmlns:a16="http://schemas.microsoft.com/office/drawing/2014/main" val="1424301285"/>
                    </a:ext>
                  </a:extLst>
                </a:gridCol>
                <a:gridCol w="356709">
                  <a:extLst>
                    <a:ext uri="{9D8B030D-6E8A-4147-A177-3AD203B41FA5}">
                      <a16:colId xmlns:a16="http://schemas.microsoft.com/office/drawing/2014/main" val="506512337"/>
                    </a:ext>
                  </a:extLst>
                </a:gridCol>
                <a:gridCol w="611009">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Apple</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Banana</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87%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Lemon</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52820575"/>
                  </a:ext>
                </a:extLst>
              </a:tr>
            </a:tbl>
          </a:graphicData>
        </a:graphic>
      </p:graphicFrame>
      <p:graphicFrame>
        <p:nvGraphicFramePr>
          <p:cNvPr id="55" name="表格 54">
            <a:extLst>
              <a:ext uri="{FF2B5EF4-FFF2-40B4-BE49-F238E27FC236}">
                <a16:creationId xmlns:a16="http://schemas.microsoft.com/office/drawing/2014/main" id="{254A2785-DAD7-C76A-BF5E-41695A23F401}"/>
              </a:ext>
            </a:extLst>
          </p:cNvPr>
          <p:cNvGraphicFramePr>
            <a:graphicFrameLocks noGrp="1"/>
          </p:cNvGraphicFramePr>
          <p:nvPr>
            <p:extLst>
              <p:ext uri="{D42A27DB-BD31-4B8C-83A1-F6EECF244321}">
                <p14:modId xmlns:p14="http://schemas.microsoft.com/office/powerpoint/2010/main" val="3709942542"/>
              </p:ext>
            </p:extLst>
          </p:nvPr>
        </p:nvGraphicFramePr>
        <p:xfrm>
          <a:off x="1906337" y="3645024"/>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57" name="文字方塊 56">
            <a:extLst>
              <a:ext uri="{FF2B5EF4-FFF2-40B4-BE49-F238E27FC236}">
                <a16:creationId xmlns:a16="http://schemas.microsoft.com/office/drawing/2014/main" id="{76F1893B-2857-5A3C-29CF-36CEF241DC81}"/>
              </a:ext>
            </a:extLst>
          </p:cNvPr>
          <p:cNvSpPr txBox="1"/>
          <p:nvPr/>
        </p:nvSpPr>
        <p:spPr>
          <a:xfrm>
            <a:off x="600644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Apple</a:t>
            </a:r>
          </a:p>
        </p:txBody>
      </p:sp>
      <p:graphicFrame>
        <p:nvGraphicFramePr>
          <p:cNvPr id="59" name="表格 58">
            <a:extLst>
              <a:ext uri="{FF2B5EF4-FFF2-40B4-BE49-F238E27FC236}">
                <a16:creationId xmlns:a16="http://schemas.microsoft.com/office/drawing/2014/main" id="{61227BEB-56F9-85B0-DE92-B8FCB05B8097}"/>
              </a:ext>
            </a:extLst>
          </p:cNvPr>
          <p:cNvGraphicFramePr>
            <a:graphicFrameLocks noGrp="1"/>
          </p:cNvGraphicFramePr>
          <p:nvPr>
            <p:extLst>
              <p:ext uri="{D42A27DB-BD31-4B8C-83A1-F6EECF244321}">
                <p14:modId xmlns:p14="http://schemas.microsoft.com/office/powerpoint/2010/main" val="1354981999"/>
              </p:ext>
            </p:extLst>
          </p:nvPr>
        </p:nvGraphicFramePr>
        <p:xfrm>
          <a:off x="6347249" y="42308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61" name="表格 60">
            <a:extLst>
              <a:ext uri="{FF2B5EF4-FFF2-40B4-BE49-F238E27FC236}">
                <a16:creationId xmlns:a16="http://schemas.microsoft.com/office/drawing/2014/main" id="{1D305162-75D6-F72B-6FE7-4F77A4C7812A}"/>
              </a:ext>
            </a:extLst>
          </p:cNvPr>
          <p:cNvGraphicFramePr>
            <a:graphicFrameLocks noGrp="1"/>
          </p:cNvGraphicFramePr>
          <p:nvPr>
            <p:extLst>
              <p:ext uri="{D42A27DB-BD31-4B8C-83A1-F6EECF244321}">
                <p14:modId xmlns:p14="http://schemas.microsoft.com/office/powerpoint/2010/main" val="1911513004"/>
              </p:ext>
            </p:extLst>
          </p:nvPr>
        </p:nvGraphicFramePr>
        <p:xfrm>
          <a:off x="6347249" y="78312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3" name="表格 72">
            <a:extLst>
              <a:ext uri="{FF2B5EF4-FFF2-40B4-BE49-F238E27FC236}">
                <a16:creationId xmlns:a16="http://schemas.microsoft.com/office/drawing/2014/main" id="{7F4552BB-18CF-94F2-FFF5-D913C9EEB74B}"/>
              </a:ext>
            </a:extLst>
          </p:cNvPr>
          <p:cNvGraphicFramePr>
            <a:graphicFrameLocks noGrp="1"/>
          </p:cNvGraphicFramePr>
          <p:nvPr>
            <p:extLst>
              <p:ext uri="{D42A27DB-BD31-4B8C-83A1-F6EECF244321}">
                <p14:modId xmlns:p14="http://schemas.microsoft.com/office/powerpoint/2010/main" val="3209971385"/>
              </p:ext>
            </p:extLst>
          </p:nvPr>
        </p:nvGraphicFramePr>
        <p:xfrm>
          <a:off x="553411" y="2502493"/>
          <a:ext cx="885943" cy="178721"/>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75" name="文字方塊 74">
            <a:extLst>
              <a:ext uri="{FF2B5EF4-FFF2-40B4-BE49-F238E27FC236}">
                <a16:creationId xmlns:a16="http://schemas.microsoft.com/office/drawing/2014/main" id="{82F42785-9099-5532-6B89-E0B8144F8E31}"/>
              </a:ext>
            </a:extLst>
          </p:cNvPr>
          <p:cNvSpPr txBox="1"/>
          <p:nvPr/>
        </p:nvSpPr>
        <p:spPr>
          <a:xfrm>
            <a:off x="1906337" y="89013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Sweet</a:t>
            </a:r>
          </a:p>
          <a:p>
            <a:r>
              <a:rPr lang="en-US" altLang="zh-TW" sz="1200" dirty="0">
                <a:solidFill>
                  <a:prstClr val="black"/>
                </a:solidFill>
                <a:ea typeface="Cambria Math" panose="02040503050406030204" pitchFamily="18" charset="0"/>
              </a:rPr>
              <a:t>Sour</a:t>
            </a:r>
          </a:p>
        </p:txBody>
      </p:sp>
      <p:graphicFrame>
        <p:nvGraphicFramePr>
          <p:cNvPr id="77" name="表格 76">
            <a:extLst>
              <a:ext uri="{FF2B5EF4-FFF2-40B4-BE49-F238E27FC236}">
                <a16:creationId xmlns:a16="http://schemas.microsoft.com/office/drawing/2014/main" id="{8041F74E-582E-8910-25EB-DC4B1A715A21}"/>
              </a:ext>
            </a:extLst>
          </p:cNvPr>
          <p:cNvGraphicFramePr>
            <a:graphicFrameLocks noGrp="1"/>
          </p:cNvGraphicFramePr>
          <p:nvPr>
            <p:extLst>
              <p:ext uri="{D42A27DB-BD31-4B8C-83A1-F6EECF244321}">
                <p14:modId xmlns:p14="http://schemas.microsoft.com/office/powerpoint/2010/main" val="51360300"/>
              </p:ext>
            </p:extLst>
          </p:nvPr>
        </p:nvGraphicFramePr>
        <p:xfrm>
          <a:off x="5890250" y="1304653"/>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9" name="表格 78">
            <a:extLst>
              <a:ext uri="{FF2B5EF4-FFF2-40B4-BE49-F238E27FC236}">
                <a16:creationId xmlns:a16="http://schemas.microsoft.com/office/drawing/2014/main" id="{199615BD-D74D-EA4F-9D13-B0782688E3DF}"/>
              </a:ext>
            </a:extLst>
          </p:cNvPr>
          <p:cNvGraphicFramePr>
            <a:graphicFrameLocks noGrp="1"/>
          </p:cNvGraphicFramePr>
          <p:nvPr>
            <p:extLst>
              <p:ext uri="{D42A27DB-BD31-4B8C-83A1-F6EECF244321}">
                <p14:modId xmlns:p14="http://schemas.microsoft.com/office/powerpoint/2010/main" val="2899964217"/>
              </p:ext>
            </p:extLst>
          </p:nvPr>
        </p:nvGraphicFramePr>
        <p:xfrm>
          <a:off x="5295749" y="1040202"/>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87" name="表格 86">
            <a:extLst>
              <a:ext uri="{FF2B5EF4-FFF2-40B4-BE49-F238E27FC236}">
                <a16:creationId xmlns:a16="http://schemas.microsoft.com/office/drawing/2014/main" id="{E9E36340-5251-D6A8-00C8-3451FD036BE3}"/>
              </a:ext>
            </a:extLst>
          </p:cNvPr>
          <p:cNvGraphicFramePr>
            <a:graphicFrameLocks noGrp="1"/>
          </p:cNvGraphicFramePr>
          <p:nvPr>
            <p:extLst>
              <p:ext uri="{D42A27DB-BD31-4B8C-83A1-F6EECF244321}">
                <p14:modId xmlns:p14="http://schemas.microsoft.com/office/powerpoint/2010/main" val="2996207192"/>
              </p:ext>
            </p:extLst>
          </p:nvPr>
        </p:nvGraphicFramePr>
        <p:xfrm>
          <a:off x="6084168" y="194138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554265839"/>
              </p:ext>
            </p:extLst>
          </p:nvPr>
        </p:nvGraphicFramePr>
        <p:xfrm>
          <a:off x="1176357" y="3265552"/>
          <a:ext cx="1019379" cy="1072326"/>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19546">
                  <a:extLst>
                    <a:ext uri="{9D8B030D-6E8A-4147-A177-3AD203B41FA5}">
                      <a16:colId xmlns:a16="http://schemas.microsoft.com/office/drawing/2014/main" val="506512337"/>
                    </a:ext>
                  </a:extLst>
                </a:gridCol>
                <a:gridCol w="360040">
                  <a:extLst>
                    <a:ext uri="{9D8B030D-6E8A-4147-A177-3AD203B41FA5}">
                      <a16:colId xmlns:a16="http://schemas.microsoft.com/office/drawing/2014/main" val="3047107006"/>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bl>
          </a:graphicData>
        </a:graphic>
      </p:graphicFrame>
      <p:sp>
        <p:nvSpPr>
          <p:cNvPr id="93" name="文字方塊 92">
            <a:extLst>
              <a:ext uri="{FF2B5EF4-FFF2-40B4-BE49-F238E27FC236}">
                <a16:creationId xmlns:a16="http://schemas.microsoft.com/office/drawing/2014/main" id="{3758CA8C-2551-9706-4990-8731E4FB83A2}"/>
              </a:ext>
            </a:extLst>
          </p:cNvPr>
          <p:cNvSpPr txBox="1"/>
          <p:nvPr/>
        </p:nvSpPr>
        <p:spPr>
          <a:xfrm>
            <a:off x="6406388" y="3174112"/>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Banana</a:t>
            </a:r>
          </a:p>
        </p:txBody>
      </p:sp>
      <p:sp>
        <p:nvSpPr>
          <p:cNvPr id="95" name="文字方塊 94">
            <a:extLst>
              <a:ext uri="{FF2B5EF4-FFF2-40B4-BE49-F238E27FC236}">
                <a16:creationId xmlns:a16="http://schemas.microsoft.com/office/drawing/2014/main" id="{422105BD-E26A-ED9B-28C8-2DF49E73FBFA}"/>
              </a:ext>
            </a:extLst>
          </p:cNvPr>
          <p:cNvSpPr txBox="1"/>
          <p:nvPr/>
        </p:nvSpPr>
        <p:spPr>
          <a:xfrm>
            <a:off x="672652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Lemon</a:t>
            </a:r>
          </a:p>
        </p:txBody>
      </p:sp>
      <p:sp>
        <p:nvSpPr>
          <p:cNvPr id="97" name="文字方塊 96">
            <a:extLst>
              <a:ext uri="{FF2B5EF4-FFF2-40B4-BE49-F238E27FC236}">
                <a16:creationId xmlns:a16="http://schemas.microsoft.com/office/drawing/2014/main" id="{D66AEB5B-76AA-0C2A-C7C5-2A9385A7535F}"/>
              </a:ext>
            </a:extLst>
          </p:cNvPr>
          <p:cNvSpPr txBox="1"/>
          <p:nvPr/>
        </p:nvSpPr>
        <p:spPr>
          <a:xfrm>
            <a:off x="467544"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99" name="文字方塊 98">
            <a:extLst>
              <a:ext uri="{FF2B5EF4-FFF2-40B4-BE49-F238E27FC236}">
                <a16:creationId xmlns:a16="http://schemas.microsoft.com/office/drawing/2014/main" id="{3CC8673E-7F3D-2520-EB7C-1BF6DA0DC1BF}"/>
              </a:ext>
            </a:extLst>
          </p:cNvPr>
          <p:cNvSpPr txBox="1"/>
          <p:nvPr/>
        </p:nvSpPr>
        <p:spPr>
          <a:xfrm>
            <a:off x="965880"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07" name="表格 106">
            <a:extLst>
              <a:ext uri="{FF2B5EF4-FFF2-40B4-BE49-F238E27FC236}">
                <a16:creationId xmlns:a16="http://schemas.microsoft.com/office/drawing/2014/main" id="{400F60B9-4805-117E-8F5C-C6A97F56410E}"/>
              </a:ext>
            </a:extLst>
          </p:cNvPr>
          <p:cNvGraphicFramePr>
            <a:graphicFrameLocks noGrp="1"/>
          </p:cNvGraphicFramePr>
          <p:nvPr>
            <p:extLst>
              <p:ext uri="{D42A27DB-BD31-4B8C-83A1-F6EECF244321}">
                <p14:modId xmlns:p14="http://schemas.microsoft.com/office/powerpoint/2010/main" val="2609177221"/>
              </p:ext>
            </p:extLst>
          </p:nvPr>
        </p:nvGraphicFramePr>
        <p:xfrm>
          <a:off x="5175050" y="5541308"/>
          <a:ext cx="1681137" cy="893605"/>
        </p:xfrm>
        <a:graphic>
          <a:graphicData uri="http://schemas.openxmlformats.org/drawingml/2006/table">
            <a:tbl>
              <a:tblPr firstRow="1" bandRow="1">
                <a:tableStyleId>{5C22544A-7EE6-4342-B048-85BDC9FD1C3A}</a:tableStyleId>
              </a:tblPr>
              <a:tblGrid>
                <a:gridCol w="313319">
                  <a:extLst>
                    <a:ext uri="{9D8B030D-6E8A-4147-A177-3AD203B41FA5}">
                      <a16:colId xmlns:a16="http://schemas.microsoft.com/office/drawing/2014/main" val="871242339"/>
                    </a:ext>
                  </a:extLst>
                </a:gridCol>
                <a:gridCol w="313319">
                  <a:extLst>
                    <a:ext uri="{9D8B030D-6E8A-4147-A177-3AD203B41FA5}">
                      <a16:colId xmlns:a16="http://schemas.microsoft.com/office/drawing/2014/main" val="1424301285"/>
                    </a:ext>
                  </a:extLst>
                </a:gridCol>
                <a:gridCol w="313319">
                  <a:extLst>
                    <a:ext uri="{9D8B030D-6E8A-4147-A177-3AD203B41FA5}">
                      <a16:colId xmlns:a16="http://schemas.microsoft.com/office/drawing/2014/main" val="506512337"/>
                    </a:ext>
                  </a:extLst>
                </a:gridCol>
                <a:gridCol w="741180">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Apple</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Banana</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Lemon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bl>
          </a:graphicData>
        </a:graphic>
      </p:graphicFrame>
      <p:graphicFrame>
        <p:nvGraphicFramePr>
          <p:cNvPr id="109" name="表格 108">
            <a:extLst>
              <a:ext uri="{FF2B5EF4-FFF2-40B4-BE49-F238E27FC236}">
                <a16:creationId xmlns:a16="http://schemas.microsoft.com/office/drawing/2014/main" id="{39E7CF29-6D6A-E696-EA70-AF876161D9FD}"/>
              </a:ext>
            </a:extLst>
          </p:cNvPr>
          <p:cNvGraphicFramePr>
            <a:graphicFrameLocks noGrp="1"/>
          </p:cNvGraphicFramePr>
          <p:nvPr>
            <p:extLst>
              <p:ext uri="{D42A27DB-BD31-4B8C-83A1-F6EECF244321}">
                <p14:modId xmlns:p14="http://schemas.microsoft.com/office/powerpoint/2010/main" val="854786824"/>
              </p:ext>
            </p:extLst>
          </p:nvPr>
        </p:nvGraphicFramePr>
        <p:xfrm>
          <a:off x="1261492" y="5544554"/>
          <a:ext cx="1019379" cy="357442"/>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11" name="文字方塊 110">
            <a:extLst>
              <a:ext uri="{FF2B5EF4-FFF2-40B4-BE49-F238E27FC236}">
                <a16:creationId xmlns:a16="http://schemas.microsoft.com/office/drawing/2014/main" id="{A808A3DC-9BFB-886F-1D04-841EA208706C}"/>
              </a:ext>
            </a:extLst>
          </p:cNvPr>
          <p:cNvSpPr txBox="1"/>
          <p:nvPr/>
        </p:nvSpPr>
        <p:spPr>
          <a:xfrm>
            <a:off x="2185904" y="5201908"/>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115" name="表格 114">
            <a:extLst>
              <a:ext uri="{FF2B5EF4-FFF2-40B4-BE49-F238E27FC236}">
                <a16:creationId xmlns:a16="http://schemas.microsoft.com/office/drawing/2014/main" id="{B1E00209-BE91-47EF-B03D-B722E91AC40E}"/>
              </a:ext>
            </a:extLst>
          </p:cNvPr>
          <p:cNvGraphicFramePr>
            <a:graphicFrameLocks noGrp="1"/>
          </p:cNvGraphicFramePr>
          <p:nvPr>
            <p:extLst>
              <p:ext uri="{D42A27DB-BD31-4B8C-83A1-F6EECF244321}">
                <p14:modId xmlns:p14="http://schemas.microsoft.com/office/powerpoint/2010/main" val="1111064934"/>
              </p:ext>
            </p:extLst>
          </p:nvPr>
        </p:nvGraphicFramePr>
        <p:xfrm>
          <a:off x="6996196" y="529441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117" name="表格 116">
            <a:extLst>
              <a:ext uri="{FF2B5EF4-FFF2-40B4-BE49-F238E27FC236}">
                <a16:creationId xmlns:a16="http://schemas.microsoft.com/office/drawing/2014/main" id="{A3873C07-A7C2-E8B4-5649-7316114DCC47}"/>
              </a:ext>
            </a:extLst>
          </p:cNvPr>
          <p:cNvGraphicFramePr>
            <a:graphicFrameLocks noGrp="1"/>
          </p:cNvGraphicFramePr>
          <p:nvPr>
            <p:extLst>
              <p:ext uri="{D42A27DB-BD31-4B8C-83A1-F6EECF244321}">
                <p14:modId xmlns:p14="http://schemas.microsoft.com/office/powerpoint/2010/main" val="177978498"/>
              </p:ext>
            </p:extLst>
          </p:nvPr>
        </p:nvGraphicFramePr>
        <p:xfrm>
          <a:off x="391108" y="5294417"/>
          <a:ext cx="609332"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621278001"/>
                  </a:ext>
                </a:extLst>
              </a:tr>
            </a:tbl>
          </a:graphicData>
        </a:graphic>
      </p:graphicFrame>
      <p:sp>
        <p:nvSpPr>
          <p:cNvPr id="119" name="文字方塊 118">
            <a:extLst>
              <a:ext uri="{FF2B5EF4-FFF2-40B4-BE49-F238E27FC236}">
                <a16:creationId xmlns:a16="http://schemas.microsoft.com/office/drawing/2014/main" id="{7F4B621D-1CF6-D61F-BDFE-2C4979B7F40F}"/>
              </a:ext>
            </a:extLst>
          </p:cNvPr>
          <p:cNvSpPr txBox="1"/>
          <p:nvPr/>
        </p:nvSpPr>
        <p:spPr>
          <a:xfrm>
            <a:off x="261045"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121" name="文字方塊 120">
            <a:extLst>
              <a:ext uri="{FF2B5EF4-FFF2-40B4-BE49-F238E27FC236}">
                <a16:creationId xmlns:a16="http://schemas.microsoft.com/office/drawing/2014/main" id="{DDB3C284-C1EC-17C3-FD24-378EADFCF15B}"/>
              </a:ext>
            </a:extLst>
          </p:cNvPr>
          <p:cNvSpPr txBox="1"/>
          <p:nvPr/>
        </p:nvSpPr>
        <p:spPr>
          <a:xfrm>
            <a:off x="759381"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23" name="表格 122">
            <a:extLst>
              <a:ext uri="{FF2B5EF4-FFF2-40B4-BE49-F238E27FC236}">
                <a16:creationId xmlns:a16="http://schemas.microsoft.com/office/drawing/2014/main" id="{F1F788C7-F3F8-7EEF-C2D6-D0E20F617D73}"/>
              </a:ext>
            </a:extLst>
          </p:cNvPr>
          <p:cNvGraphicFramePr>
            <a:graphicFrameLocks noGrp="1"/>
          </p:cNvGraphicFramePr>
          <p:nvPr>
            <p:extLst>
              <p:ext uri="{D42A27DB-BD31-4B8C-83A1-F6EECF244321}">
                <p14:modId xmlns:p14="http://schemas.microsoft.com/office/powerpoint/2010/main" val="2188268976"/>
              </p:ext>
            </p:extLst>
          </p:nvPr>
        </p:nvGraphicFramePr>
        <p:xfrm>
          <a:off x="2600892" y="6381827"/>
          <a:ext cx="1019379" cy="178721"/>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5" name="表格 124">
            <a:extLst>
              <a:ext uri="{FF2B5EF4-FFF2-40B4-BE49-F238E27FC236}">
                <a16:creationId xmlns:a16="http://schemas.microsoft.com/office/drawing/2014/main" id="{5B49D83B-CF04-DE6D-6CD3-60D9E52E715E}"/>
              </a:ext>
            </a:extLst>
          </p:cNvPr>
          <p:cNvGraphicFramePr>
            <a:graphicFrameLocks noGrp="1"/>
          </p:cNvGraphicFramePr>
          <p:nvPr>
            <p:extLst>
              <p:ext uri="{D42A27DB-BD31-4B8C-83A1-F6EECF244321}">
                <p14:modId xmlns:p14="http://schemas.microsoft.com/office/powerpoint/2010/main" val="1572838647"/>
              </p:ext>
            </p:extLst>
          </p:nvPr>
        </p:nvGraphicFramePr>
        <p:xfrm>
          <a:off x="1640437" y="2232869"/>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27" name="表格 126">
            <a:extLst>
              <a:ext uri="{FF2B5EF4-FFF2-40B4-BE49-F238E27FC236}">
                <a16:creationId xmlns:a16="http://schemas.microsoft.com/office/drawing/2014/main" id="{DCE3D0DD-03F2-017C-4204-8322F9EB279F}"/>
              </a:ext>
            </a:extLst>
          </p:cNvPr>
          <p:cNvGraphicFramePr>
            <a:graphicFrameLocks noGrp="1"/>
          </p:cNvGraphicFramePr>
          <p:nvPr>
            <p:extLst>
              <p:ext uri="{D42A27DB-BD31-4B8C-83A1-F6EECF244321}">
                <p14:modId xmlns:p14="http://schemas.microsoft.com/office/powerpoint/2010/main" val="3674291921"/>
              </p:ext>
            </p:extLst>
          </p:nvPr>
        </p:nvGraphicFramePr>
        <p:xfrm>
          <a:off x="2802316" y="2323772"/>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pic>
        <p:nvPicPr>
          <p:cNvPr id="3" name="圖片 2">
            <a:extLst>
              <a:ext uri="{FF2B5EF4-FFF2-40B4-BE49-F238E27FC236}">
                <a16:creationId xmlns:a16="http://schemas.microsoft.com/office/drawing/2014/main" id="{B096B54B-FDEF-3C3E-F1FB-9EAE0F662C4D}"/>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4664" y="259108"/>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C548BF71-4D01-8165-7351-86FF34B06B2E}"/>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4881357" y="135535"/>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r>
              <a:rPr lang="en-US" altLang="zh-TW" sz="1000" b="1" dirty="0">
                <a:solidFill>
                  <a:schemeClr val="bg1"/>
                </a:solidFill>
              </a:rPr>
              <a:t>(CCL)</a:t>
            </a: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p:nvPr/>
        </p:nvCxnSpPr>
        <p:spPr>
          <a:xfrm>
            <a:off x="2534072" y="980728"/>
            <a:ext cx="0" cy="1546484"/>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2437095941"/>
              </p:ext>
            </p:extLst>
          </p:nvPr>
        </p:nvGraphicFramePr>
        <p:xfrm>
          <a:off x="1115616" y="14902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GPU,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CPU,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Memory</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72" name="圖說文字: 直線 71">
            <a:extLst>
              <a:ext uri="{FF2B5EF4-FFF2-40B4-BE49-F238E27FC236}">
                <a16:creationId xmlns:a16="http://schemas.microsoft.com/office/drawing/2014/main" id="{585A9BF3-E7B2-7185-ED27-49F214F6148F}"/>
              </a:ext>
            </a:extLst>
          </p:cNvPr>
          <p:cNvSpPr/>
          <p:nvPr/>
        </p:nvSpPr>
        <p:spPr>
          <a:xfrm flipH="1">
            <a:off x="1939797" y="3020014"/>
            <a:ext cx="2776219" cy="1417098"/>
          </a:xfrm>
          <a:prstGeom prst="borderCallout1">
            <a:avLst>
              <a:gd name="adj1" fmla="val 17633"/>
              <a:gd name="adj2" fmla="val 8388"/>
              <a:gd name="adj3" fmla="val -32946"/>
              <a:gd name="adj4" fmla="val 3509"/>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873346343"/>
              </p:ext>
            </p:extLst>
          </p:nvPr>
        </p:nvGraphicFramePr>
        <p:xfrm>
          <a:off x="1995759" y="3088483"/>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2268202834"/>
              </p:ext>
            </p:extLst>
          </p:nvPr>
        </p:nvGraphicFramePr>
        <p:xfrm>
          <a:off x="2447764" y="4739462"/>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br>
                        <a:rPr lang="en-US" altLang="zh-TW" sz="1400" b="1" cap="none" spc="0" dirty="0">
                          <a:ln w="0"/>
                          <a:solidFill>
                            <a:schemeClr val="tx1"/>
                          </a:solidFill>
                          <a:effectLst/>
                        </a:rPr>
                      </a:br>
                      <a:r>
                        <a:rPr kumimoji="0" lang="en-US" altLang="zh-TW" sz="1000" b="0" i="0" u="none" strike="noStrike" kern="1200" cap="none" spc="0" normalizeH="0" baseline="0" noProof="0" dirty="0">
                          <a:ln w="0"/>
                          <a:solidFill>
                            <a:srgbClr val="4F81BD"/>
                          </a:solidFill>
                          <a:effectLst/>
                          <a:uLnTx/>
                          <a:uFillTx/>
                          <a:latin typeface="+mn-lt"/>
                          <a:ea typeface="+mn-ea"/>
                          <a:cs typeface="+mn-cs"/>
                        </a:rPr>
                        <a:t>CSP</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2930162266"/>
              </p:ext>
            </p:extLst>
          </p:nvPr>
        </p:nvGraphicFramePr>
        <p:xfrm>
          <a:off x="5374762" y="31614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178814869"/>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Vertical AI Applications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Apple Perplexity</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r>
                        <a:rPr lang="zh-TW" altLang="en-US" sz="1200" b="0" cap="none" spc="0" dirty="0">
                          <a:ln w="0"/>
                          <a:solidFill>
                            <a:schemeClr val="tx1"/>
                          </a:solidFill>
                          <a:effectLst/>
                        </a:rPr>
                        <a:t> </a:t>
                      </a:r>
                      <a:r>
                        <a:rPr lang="en-US" altLang="zh-TW" sz="1200" b="0" cap="none" spc="0" dirty="0">
                          <a:ln w="0"/>
                          <a:solidFill>
                            <a:schemeClr val="tx1"/>
                          </a:solidFill>
                          <a:effectLst/>
                        </a:rPr>
                        <a:t>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Cursor (Anysphere)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Tesla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Harvey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Adobe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Glean</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153156062"/>
              </p:ext>
            </p:extLst>
          </p:nvPr>
        </p:nvGraphicFramePr>
        <p:xfrm>
          <a:off x="6012160" y="5012192"/>
          <a:ext cx="2664296" cy="1280160"/>
        </p:xfrm>
        <a:graphic>
          <a:graphicData uri="http://schemas.openxmlformats.org/drawingml/2006/table">
            <a:tbl>
              <a:tblPr firstRow="1" bandRow="1">
                <a:tableStyleId>{5C22544A-7EE6-4342-B048-85BDC9FD1C3A}</a:tableStyleId>
              </a:tblPr>
              <a:tblGrid>
                <a:gridCol w="2664296">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Next-Gen Embodies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Multimodal and AI Robot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Figure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Runway</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ElevenLabs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Suno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Waymo</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4355976" y="1200701"/>
            <a:ext cx="3024336" cy="1420358"/>
          </a:xfrm>
          <a:prstGeom prst="rect">
            <a:avLst/>
          </a:prstGeom>
          <a:effectLst>
            <a:glow>
              <a:schemeClr val="accent6">
                <a:satMod val="175000"/>
                <a:alpha val="20000"/>
              </a:schemeClr>
            </a:glow>
            <a:softEdge rad="101600"/>
          </a:effectLst>
        </p:spPr>
      </p:pic>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6379</Words>
  <Application>Microsoft Office PowerPoint</Application>
  <PresentationFormat>如螢幕大小 (4:3)</PresentationFormat>
  <Paragraphs>1317</Paragraphs>
  <Slides>21</Slides>
  <Notes>19</Notes>
  <HiddenSlides>1</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21</vt:i4>
      </vt:variant>
    </vt:vector>
  </HeadingPairs>
  <TitlesOfParts>
    <vt:vector size="35"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1695</cp:revision>
  <cp:lastPrinted>2024-07-30T01:44:15Z</cp:lastPrinted>
  <dcterms:created xsi:type="dcterms:W3CDTF">2019-11-08T03:01:47Z</dcterms:created>
  <dcterms:modified xsi:type="dcterms:W3CDTF">2026-07-08T12:46:57Z</dcterms:modified>
</cp:coreProperties>
</file>