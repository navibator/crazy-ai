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563" r:id="rId3"/>
    <p:sldId id="3472" r:id="rId4"/>
    <p:sldId id="3511" r:id="rId5"/>
    <p:sldId id="3504" r:id="rId6"/>
    <p:sldId id="3557" r:id="rId7"/>
    <p:sldId id="3427" r:id="rId8"/>
    <p:sldId id="3503" r:id="rId9"/>
    <p:sldId id="3470" r:id="rId10"/>
    <p:sldId id="3471" r:id="rId11"/>
    <p:sldId id="3561" r:id="rId12"/>
    <p:sldId id="3482" r:id="rId13"/>
    <p:sldId id="3560" r:id="rId14"/>
    <p:sldId id="3562" r:id="rId15"/>
    <p:sldId id="3483" r:id="rId16"/>
    <p:sldId id="3428" r:id="rId17"/>
    <p:sldId id="3451" r:id="rId18"/>
    <p:sldId id="3552" r:id="rId19"/>
    <p:sldId id="3465" r:id="rId20"/>
    <p:sldId id="3558" r:id="rId21"/>
    <p:sldId id="3559" r:id="rId22"/>
    <p:sldId id="3505" r:id="rId23"/>
    <p:sldId id="3507" r:id="rId24"/>
    <p:sldId id="3460" r:id="rId25"/>
    <p:sldId id="3531" r:id="rId26"/>
    <p:sldId id="3499" r:id="rId27"/>
    <p:sldId id="3444" r:id="rId28"/>
    <p:sldId id="3532" r:id="rId29"/>
    <p:sldId id="3520" r:id="rId30"/>
    <p:sldId id="3518" r:id="rId31"/>
    <p:sldId id="3475" r:id="rId32"/>
    <p:sldId id="3527" r:id="rId33"/>
    <p:sldId id="3550"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563"/>
            <p14:sldId id="3472"/>
            <p14:sldId id="3511"/>
          </p14:sldIdLst>
        </p14:section>
        <p14:section name="Machine Learning" id="{B661AA10-C3FF-4E46-A114-E951FEA8A6DC}">
          <p14:sldIdLst>
            <p14:sldId id="3504"/>
            <p14:sldId id="3557"/>
            <p14:sldId id="3427"/>
            <p14:sldId id="3503"/>
          </p14:sldIdLst>
        </p14:section>
        <p14:section name="Transformer" id="{91BFD2B5-A843-4933-9519-5889D1D7895D}">
          <p14:sldIdLst>
            <p14:sldId id="3470"/>
            <p14:sldId id="3471"/>
            <p14:sldId id="3561"/>
            <p14:sldId id="3482"/>
            <p14:sldId id="3560"/>
            <p14:sldId id="3562"/>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varScale="1">
        <p:scale>
          <a:sx n="107" d="100"/>
          <a:sy n="107" d="100"/>
        </p:scale>
        <p:origin x="720"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7.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1899-0CB0-A1C7-3D09-B2C47673AA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9916FE-8099-B8F2-AF31-B9114F9DF8E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C674E06-F27B-42A7-0C8B-8EA4912CEF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rPr>
              <a:t>Overview:</a:t>
            </a:r>
          </a:p>
        </p:txBody>
      </p:sp>
      <p:sp>
        <p:nvSpPr>
          <p:cNvPr id="4" name="投影片編號版面配置區 3">
            <a:extLst>
              <a:ext uri="{FF2B5EF4-FFF2-40B4-BE49-F238E27FC236}">
                <a16:creationId xmlns:a16="http://schemas.microsoft.com/office/drawing/2014/main" id="{2BF3F087-F326-9085-BF72-55BAE20BDD1B}"/>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1929665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F364-EDE1-1C66-6068-75A8DCEC78A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CCAAD1B-CCCD-50EC-8F02-813862B11F1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F4F7BCC-F1E6-ECEC-2EF8-ED9E29725E6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6A9B1C25-2C43-7626-EE13-319BE46BB3F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31024305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2026/9/13</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1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160.png"/></Relationships>
</file>

<file path=ppt/slides/_rels/slide16.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 Type="http://schemas.openxmlformats.org/officeDocument/2006/relationships/notesSlide" Target="../notesSlides/notesSlide13.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0.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0.png"/><Relationship Id="rId14" Type="http://schemas.openxmlformats.org/officeDocument/2006/relationships/image" Target="../media/image27.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5.svg"/></Relationships>
</file>

<file path=ppt/slides/_rels/slide20.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30.png"/><Relationship Id="rId7"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0.png"/><Relationship Id="rId5" Type="http://schemas.openxmlformats.org/officeDocument/2006/relationships/image" Target="../media/image410.png"/><Relationship Id="rId4" Type="http://schemas.openxmlformats.org/officeDocument/2006/relationships/image" Target="../media/image400.png"/></Relationships>
</file>

<file path=ppt/slides/_rels/slide22.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0.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5.svg"/><Relationship Id="rId7" Type="http://schemas.openxmlformats.org/officeDocument/2006/relationships/image" Target="../media/image49.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47.svg"/><Relationship Id="rId4" Type="http://schemas.openxmlformats.org/officeDocument/2006/relationships/image" Target="../media/image46.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0.svg"/><Relationship Id="rId7" Type="http://schemas.openxmlformats.org/officeDocument/2006/relationships/image" Target="../media/image54.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53.svg"/><Relationship Id="rId5" Type="http://schemas.openxmlformats.org/officeDocument/2006/relationships/image" Target="../media/image52.png"/><Relationship Id="rId10" Type="http://schemas.openxmlformats.org/officeDocument/2006/relationships/image" Target="../media/image57.svg"/><Relationship Id="rId4" Type="http://schemas.openxmlformats.org/officeDocument/2006/relationships/image" Target="../media/image51.svg"/><Relationship Id="rId9" Type="http://schemas.openxmlformats.org/officeDocument/2006/relationships/image" Target="../media/image56.svg"/></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7" Type="http://schemas.openxmlformats.org/officeDocument/2006/relationships/image" Target="../media/image51.sv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3.sv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61.svg"/></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63.png"/><Relationship Id="rId1" Type="http://schemas.openxmlformats.org/officeDocument/2006/relationships/slideLayout" Target="../slideLayouts/slideLayout3.xml"/><Relationship Id="rId4" Type="http://schemas.openxmlformats.org/officeDocument/2006/relationships/image" Target="../media/image64.jpeg"/></Relationships>
</file>

<file path=ppt/slides/_rels/slide30.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jpeg"/></Relationships>
</file>

<file path=ppt/slides/_rels/slide31.xml.rels><?xml version="1.0" encoding="UTF-8" standalone="yes"?>
<Relationships xmlns="http://schemas.openxmlformats.org/package/2006/relationships"><Relationship Id="rId3" Type="http://schemas.openxmlformats.org/officeDocument/2006/relationships/image" Target="../media/image70.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71.svg"/></Relationships>
</file>

<file path=ppt/slides/_rels/slide32.xml.rels><?xml version="1.0" encoding="UTF-8" standalone="yes"?>
<Relationships xmlns="http://schemas.openxmlformats.org/package/2006/relationships"><Relationship Id="rId3" Type="http://schemas.openxmlformats.org/officeDocument/2006/relationships/image" Target="../media/image72.svg"/><Relationship Id="rId7" Type="http://schemas.openxmlformats.org/officeDocument/2006/relationships/image" Target="../media/image76.sv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75.svg"/><Relationship Id="rId5" Type="http://schemas.openxmlformats.org/officeDocument/2006/relationships/image" Target="../media/image74.svg"/><Relationship Id="rId4" Type="http://schemas.openxmlformats.org/officeDocument/2006/relationships/image" Target="../media/image73.svg"/></Relationships>
</file>

<file path=ppt/slides/_rels/slide33.xml.rels><?xml version="1.0" encoding="UTF-8" standalone="yes"?>
<Relationships xmlns="http://schemas.openxmlformats.org/package/2006/relationships"><Relationship Id="rId3" Type="http://schemas.openxmlformats.org/officeDocument/2006/relationships/image" Target="../media/image77.sv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78.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81.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6.xml"/><Relationship Id="rId1" Type="http://schemas.openxmlformats.org/officeDocument/2006/relationships/slideLayout" Target="../slideLayouts/slideLayout3.xml"/><Relationship Id="rId5" Type="http://schemas.openxmlformats.org/officeDocument/2006/relationships/image" Target="../media/image83.png"/><Relationship Id="rId4" Type="http://schemas.openxmlformats.org/officeDocument/2006/relationships/image" Target="../media/image82.png"/></Relationships>
</file>

<file path=ppt/slides/_rels/slide4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1.png"/><Relationship Id="rId2" Type="http://schemas.openxmlformats.org/officeDocument/2006/relationships/notesSlide" Target="../notesSlides/notesSlide38.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9.png"/><Relationship Id="rId5" Type="http://schemas.openxmlformats.org/officeDocument/2006/relationships/image" Target="../media/image3.png"/><Relationship Id="rId10" Type="http://schemas.openxmlformats.org/officeDocument/2006/relationships/image" Target="../media/image88.png"/><Relationship Id="rId4" Type="http://schemas.openxmlformats.org/officeDocument/2006/relationships/image" Target="../media/image2.png"/><Relationship Id="rId9" Type="http://schemas.openxmlformats.org/officeDocument/2006/relationships/image" Target="../media/image87.png"/></Relationships>
</file>

<file path=ppt/slides/_rels/slide43.xml.rels><?xml version="1.0" encoding="UTF-8" standalone="yes"?>
<Relationships xmlns="http://schemas.openxmlformats.org/package/2006/relationships"><Relationship Id="rId3" Type="http://schemas.openxmlformats.org/officeDocument/2006/relationships/image" Target="../media/image93.png"/><Relationship Id="rId7" Type="http://schemas.openxmlformats.org/officeDocument/2006/relationships/image" Target="../media/image63.png"/><Relationship Id="rId2" Type="http://schemas.openxmlformats.org/officeDocument/2006/relationships/image" Target="../media/image92.png"/><Relationship Id="rId1" Type="http://schemas.openxmlformats.org/officeDocument/2006/relationships/slideLayout" Target="../slideLayouts/slideLayout3.xml"/><Relationship Id="rId6" Type="http://schemas.openxmlformats.org/officeDocument/2006/relationships/image" Target="../media/image64.jpeg"/><Relationship Id="rId5" Type="http://schemas.openxmlformats.org/officeDocument/2006/relationships/image" Target="../media/image52.png"/><Relationship Id="rId4" Type="http://schemas.openxmlformats.org/officeDocument/2006/relationships/image" Target="../media/image94.png"/></Relationships>
</file>

<file path=ppt/slides/_rels/slide44.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4.xml"/><Relationship Id="rId5" Type="http://schemas.openxmlformats.org/officeDocument/2006/relationships/image" Target="../media/image98.png"/><Relationship Id="rId4" Type="http://schemas.openxmlformats.org/officeDocument/2006/relationships/image" Target="../media/image97.png"/></Relationships>
</file>

<file path=ppt/slides/_rels/slide4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4.xml"/><Relationship Id="rId5" Type="http://schemas.openxmlformats.org/officeDocument/2006/relationships/image" Target="../media/image102.png"/><Relationship Id="rId4" Type="http://schemas.openxmlformats.org/officeDocument/2006/relationships/image" Target="../media/image101.png"/></Relationships>
</file>

<file path=ppt/slides/_rels/slide47.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3.png"/><Relationship Id="rId7" Type="http://schemas.openxmlformats.org/officeDocument/2006/relationships/image" Target="../media/image106.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05.png"/><Relationship Id="rId5" Type="http://schemas.openxmlformats.org/officeDocument/2006/relationships/image" Target="../media/image2300.png"/><Relationship Id="rId4" Type="http://schemas.openxmlformats.org/officeDocument/2006/relationships/image" Target="../media/image104.png"/></Relationships>
</file>

<file path=ppt/slides/_rels/slide48.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8.png"/><Relationship Id="rId7" Type="http://schemas.openxmlformats.org/officeDocument/2006/relationships/image" Target="../media/image112.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 Id="rId9" Type="http://schemas.openxmlformats.org/officeDocument/2006/relationships/image" Target="../media/image1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FA8BA-E622-A1CC-404C-EB017E6BF95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C9739514-6554-72C8-3ED7-69B42C29B62B}"/>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6D48A04F-3EED-2752-2505-2887BD7E441F}"/>
              </a:ext>
            </a:extLst>
          </p:cNvPr>
          <p:cNvSpPr txBox="1"/>
          <p:nvPr/>
        </p:nvSpPr>
        <p:spPr>
          <a:xfrm>
            <a:off x="845586" y="1268760"/>
            <a:ext cx="6102678" cy="3339376"/>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600"/>
              </a:spcBef>
              <a:spcAft>
                <a:spcPts val="60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(Environment of AI Agent, SLM, LLM, RAG and MCP)</a:t>
            </a: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lang="zh-TW" altLang="en-US"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p>
          <a:p>
            <a:pPr marL="285750" lvl="0" indent="-285750">
              <a:spcBef>
                <a:spcPts val="600"/>
              </a:spcBef>
              <a:spcAft>
                <a:spcPts val="600"/>
              </a:spcAft>
              <a:buFont typeface="Wingdings" panose="05000000000000000000" pitchFamily="2" charset="2"/>
              <a:buChar char="Ø"/>
              <a:defRPr/>
            </a:pPr>
            <a:r>
              <a:rPr lang="en-US" altLang="zh-TW" sz="2400" dirty="0">
                <a:solidFill>
                  <a:prstClr val="black"/>
                </a:solidFill>
                <a:latin typeface="Noto Sans HK" panose="020B0200000000000000" pitchFamily="34" charset="-120"/>
                <a:ea typeface="Noto Sans HK" panose="020B0200000000000000" pitchFamily="34" charset="-120"/>
              </a:rPr>
              <a:t>Conclusion</a:t>
            </a:r>
            <a:r>
              <a:rPr lang="en-US" altLang="zh-TW"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 Holistic Perspective)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5" name="文字方塊 4">
            <a:extLst>
              <a:ext uri="{FF2B5EF4-FFF2-40B4-BE49-F238E27FC236}">
                <a16:creationId xmlns:a16="http://schemas.microsoft.com/office/drawing/2014/main" id="{FC291065-9D27-7A60-F942-B3D58357404F}"/>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39679383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MoE</a:t>
            </a: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6961559"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6746166"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mHC</a:t>
            </a: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AttnRes</a:t>
            </a: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43358" y="5809347"/>
            <a:ext cx="628457"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3"/>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6746169"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150790"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169886"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32040"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8" name="標題 1">
            <a:extLst>
              <a:ext uri="{FF2B5EF4-FFF2-40B4-BE49-F238E27FC236}">
                <a16:creationId xmlns:a16="http://schemas.microsoft.com/office/drawing/2014/main" id="{B36748D0-C94C-1474-C83D-0587CD10BB8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8353815" y="2803318"/>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996650" y="291843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8014891" y="3213695"/>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8014891" y="3494749"/>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999653" y="263040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8014891" y="3945002"/>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003070" y="3212032"/>
            <a:ext cx="1214323"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MHA</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248491"/>
            <a:ext cx="219591" cy="67561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187711" cy="61798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5809825" y="2767240"/>
            <a:ext cx="54557" cy="1522095"/>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2044376" y="1844824"/>
            <a:ext cx="2600671" cy="1835509"/>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829216" y="241366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1227362" y="2074471"/>
            <a:ext cx="331433"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899592"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847957" y="258714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2268973" y="2193895"/>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2269426" y="2684303"/>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585701" y="223961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2117248" y="223961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2117701" y="273002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586154"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779032" y="2057185"/>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779032" y="2587144"/>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2268973" y="2049879"/>
            <a:ext cx="274320" cy="118033"/>
          </a:xfrm>
          <a:prstGeom prst="rect">
            <a:avLst/>
          </a:prstGeom>
          <a:noFill/>
        </p:spPr>
        <p:txBody>
          <a:bodyPr wrap="none" lIns="0" tIns="0" rIns="0" bIns="0" rtlCol="0" anchor="ctr" anchorCtr="1">
            <a:noAutofit/>
          </a:bodyPr>
          <a:lstStyle/>
          <a:p>
            <a:pPr algn="ctr"/>
            <a:r>
              <a:rPr lang="en-US" altLang="zh-TW" sz="1200" b="1" dirty="0"/>
              <a:t>d *d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1230971" y="1917418"/>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765320" y="190586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3205986" y="2329243"/>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4"/>
                </a:solidFill>
                <a:latin typeface="ADLaM Display" panose="02010000000000000000" pitchFamily="2" charset="0"/>
                <a:cs typeface="ADLaM Display" panose="02010000000000000000" pitchFamily="2" charset="0"/>
              </a:rPr>
              <a:t>QK</a:t>
            </a:r>
            <a:r>
              <a:rPr lang="en-US" altLang="zh-TW" sz="1600" baseline="30000" dirty="0">
                <a:solidFill>
                  <a:schemeClr val="accent4">
                    <a:lumMod val="75000"/>
                  </a:schemeClr>
                </a:solidFill>
                <a:latin typeface="ADLaM Display" panose="02010000000000000000" pitchFamily="2" charset="0"/>
                <a:cs typeface="ADLaM Display" panose="02010000000000000000" pitchFamily="2" charset="0"/>
              </a:rPr>
              <a:t>T</a:t>
            </a:r>
            <a:endParaRPr lang="zh-TW" altLang="en-US" sz="16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300194" y="2380361"/>
            <a:ext cx="320040" cy="320040"/>
          </a:xfrm>
          <a:prstGeom prst="rtTriangle">
            <a:avLst/>
          </a:prstGeom>
          <a:solidFill>
            <a:schemeClr val="bg1">
              <a:alpha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727097"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Attention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FFN</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33" name="矩形: 圓角 32">
            <a:extLst>
              <a:ext uri="{FF2B5EF4-FFF2-40B4-BE49-F238E27FC236}">
                <a16:creationId xmlns:a16="http://schemas.microsoft.com/office/drawing/2014/main" id="{A921377A-40EF-78AB-6BEA-E608C1F5801B}"/>
              </a:ext>
            </a:extLst>
          </p:cNvPr>
          <p:cNvSpPr/>
          <p:nvPr/>
        </p:nvSpPr>
        <p:spPr>
          <a:xfrm>
            <a:off x="5138137" y="2276900"/>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6">
                    <a:lumMod val="75000"/>
                  </a:schemeClr>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4882772" y="2583683"/>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746381" y="2329242"/>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3">
                    <a:lumMod val="75000"/>
                  </a:schemeClr>
                </a:solidFill>
                <a:latin typeface="ADLaM Display" panose="02010000000000000000" pitchFamily="2" charset="0"/>
                <a:cs typeface="ADLaM Display" panose="02010000000000000000" pitchFamily="2" charset="0"/>
              </a:rPr>
              <a:t>v</a:t>
            </a:r>
            <a:endParaRPr lang="zh-TW" altLang="en-US" sz="16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4720531" y="2689809"/>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圓角 36">
            <a:extLst>
              <a:ext uri="{FF2B5EF4-FFF2-40B4-BE49-F238E27FC236}">
                <a16:creationId xmlns:a16="http://schemas.microsoft.com/office/drawing/2014/main" id="{7BBCCE7F-4FEF-31F9-29F3-F7D897C4FFCD}"/>
              </a:ext>
            </a:extLst>
          </p:cNvPr>
          <p:cNvSpPr/>
          <p:nvPr/>
        </p:nvSpPr>
        <p:spPr>
          <a:xfrm>
            <a:off x="4193177" y="2321567"/>
            <a:ext cx="378823" cy="457201"/>
          </a:xfrm>
          <a:prstGeom prst="roundRect">
            <a:avLst/>
          </a:prstGeom>
          <a:solidFill>
            <a:schemeClr val="accent4">
              <a:lumMod val="20000"/>
              <a:lumOff val="80000"/>
            </a:schemeClr>
          </a:solidFill>
          <a:ln w="25400">
            <a:solidFill>
              <a:schemeClr val="accent4">
                <a:lumMod val="60000"/>
                <a:lumOff val="4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288162" y="2163578"/>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701286" y="2166177"/>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5714202" y="2276900"/>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5576414" y="2583684"/>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5512619" y="2693436"/>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6080470" y="2286962"/>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6381228" y="2583683"/>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6241727" y="269343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5436192" y="3737709"/>
            <a:ext cx="864000" cy="432000"/>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L</a:t>
            </a:r>
            <a:r>
              <a:rPr kumimoji="0" lang="zh-TW" altLang="en-US"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 </a:t>
            </a: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x Layers</a:t>
            </a:r>
            <a:b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b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n+1</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51" name="矩形 50">
            <a:extLst>
              <a:ext uri="{FF2B5EF4-FFF2-40B4-BE49-F238E27FC236}">
                <a16:creationId xmlns:a16="http://schemas.microsoft.com/office/drawing/2014/main" id="{F7C1906D-E521-4C0B-5AA7-25BAB494DD96}"/>
              </a:ext>
            </a:extLst>
          </p:cNvPr>
          <p:cNvSpPr/>
          <p:nvPr/>
        </p:nvSpPr>
        <p:spPr>
          <a:xfrm>
            <a:off x="6381228" y="2977599"/>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7159259" y="2409919"/>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7087251" y="2716633"/>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6727211" y="2079502"/>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7187641" y="2758923"/>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6761974" y="1915940"/>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endCxn id="56" idx="3"/>
          </p:cNvCxnSpPr>
          <p:nvPr/>
        </p:nvCxnSpPr>
        <p:spPr>
          <a:xfrm flipV="1">
            <a:off x="6674409" y="2937819"/>
            <a:ext cx="627607"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814908" y="2071010"/>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Prob.</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7092280"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8244408" y="2074471"/>
            <a:ext cx="324184"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8275531" y="1905863"/>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7728346" y="1905863"/>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533072" y="2071010"/>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pSp>
        <p:nvGrpSpPr>
          <p:cNvPr id="100" name="群組 99">
            <a:extLst>
              <a:ext uri="{FF2B5EF4-FFF2-40B4-BE49-F238E27FC236}">
                <a16:creationId xmlns:a16="http://schemas.microsoft.com/office/drawing/2014/main" id="{045FE08E-D646-9986-0810-7C3B04D5C6D3}"/>
              </a:ext>
            </a:extLst>
          </p:cNvPr>
          <p:cNvGrpSpPr/>
          <p:nvPr/>
        </p:nvGrpSpPr>
        <p:grpSpPr>
          <a:xfrm>
            <a:off x="1065746" y="4895897"/>
            <a:ext cx="3014965" cy="819997"/>
            <a:chOff x="1187624" y="3953478"/>
            <a:chExt cx="3014965" cy="819997"/>
          </a:xfrm>
        </p:grpSpPr>
        <p:sp>
          <p:nvSpPr>
            <p:cNvPr id="10" name="矩形 9">
              <a:extLst>
                <a:ext uri="{FF2B5EF4-FFF2-40B4-BE49-F238E27FC236}">
                  <a16:creationId xmlns:a16="http://schemas.microsoft.com/office/drawing/2014/main" id="{9B5B79AC-70BA-5AB2-D796-742CFD5C6F5D}"/>
                </a:ext>
              </a:extLst>
            </p:cNvPr>
            <p:cNvSpPr/>
            <p:nvPr/>
          </p:nvSpPr>
          <p:spPr>
            <a:xfrm>
              <a:off x="1700818" y="4133282"/>
              <a:ext cx="631980" cy="274320"/>
            </a:xfrm>
            <a:prstGeom prst="rect">
              <a:avLst/>
            </a:prstGeom>
            <a:solidFill>
              <a:schemeClr val="accent4">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activate</a:t>
              </a:r>
            </a:p>
          </p:txBody>
        </p:sp>
        <p:sp>
          <p:nvSpPr>
            <p:cNvPr id="27" name="矩形 26">
              <a:extLst>
                <a:ext uri="{FF2B5EF4-FFF2-40B4-BE49-F238E27FC236}">
                  <a16:creationId xmlns:a16="http://schemas.microsoft.com/office/drawing/2014/main" id="{9EF73A95-666F-80A5-84A8-BA82C5FB2488}"/>
                </a:ext>
              </a:extLst>
            </p:cNvPr>
            <p:cNvSpPr/>
            <p:nvPr/>
          </p:nvSpPr>
          <p:spPr>
            <a:xfrm>
              <a:off x="1340024" y="412392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6" name="矩形 45">
              <a:extLst>
                <a:ext uri="{FF2B5EF4-FFF2-40B4-BE49-F238E27FC236}">
                  <a16:creationId xmlns:a16="http://schemas.microsoft.com/office/drawing/2014/main" id="{65834C0C-1CF5-4118-8BC0-C424B0A656B4}"/>
                </a:ext>
              </a:extLst>
            </p:cNvPr>
            <p:cNvSpPr/>
            <p:nvPr/>
          </p:nvSpPr>
          <p:spPr>
            <a:xfrm>
              <a:off x="2926879" y="4145821"/>
              <a:ext cx="631980" cy="274320"/>
            </a:xfrm>
            <a:prstGeom prst="rect">
              <a:avLst/>
            </a:prstGeom>
            <a:solidFill>
              <a:schemeClr val="accent4">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up</a:t>
              </a:r>
            </a:p>
          </p:txBody>
        </p:sp>
        <p:sp>
          <p:nvSpPr>
            <p:cNvPr id="64" name="矩形 63">
              <a:extLst>
                <a:ext uri="{FF2B5EF4-FFF2-40B4-BE49-F238E27FC236}">
                  <a16:creationId xmlns:a16="http://schemas.microsoft.com/office/drawing/2014/main" id="{A8BF3ABE-6F3C-9F9E-271F-1D6CA6F2CB08}"/>
                </a:ext>
              </a:extLst>
            </p:cNvPr>
            <p:cNvSpPr/>
            <p:nvPr/>
          </p:nvSpPr>
          <p:spPr>
            <a:xfrm>
              <a:off x="2566085" y="413646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1" name="文字方塊 70">
              <a:extLst>
                <a:ext uri="{FF2B5EF4-FFF2-40B4-BE49-F238E27FC236}">
                  <a16:creationId xmlns:a16="http://schemas.microsoft.com/office/drawing/2014/main" id="{A49BA1EE-722A-98C3-9944-60C0A009679B}"/>
                </a:ext>
              </a:extLst>
            </p:cNvPr>
            <p:cNvSpPr txBox="1"/>
            <p:nvPr/>
          </p:nvSpPr>
          <p:spPr>
            <a:xfrm>
              <a:off x="2415414" y="41702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75" name="矩形 74">
              <a:extLst>
                <a:ext uri="{FF2B5EF4-FFF2-40B4-BE49-F238E27FC236}">
                  <a16:creationId xmlns:a16="http://schemas.microsoft.com/office/drawing/2014/main" id="{F911C1AC-5D07-9F20-7384-BEA03CF750AA}"/>
                </a:ext>
              </a:extLst>
            </p:cNvPr>
            <p:cNvSpPr/>
            <p:nvPr/>
          </p:nvSpPr>
          <p:spPr>
            <a:xfrm rot="16200000">
              <a:off x="3721460" y="4320325"/>
              <a:ext cx="631980" cy="274320"/>
            </a:xfrm>
            <a:prstGeom prst="rect">
              <a:avLst/>
            </a:prstGeom>
            <a:solidFill>
              <a:schemeClr val="accent4">
                <a:lumMod val="20000"/>
                <a:lumOff val="80000"/>
              </a:schemeClr>
            </a:solidFill>
            <a:ln w="254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600"/>
                </a:lnSpc>
              </a:pPr>
              <a:r>
                <a:rPr lang="en-US" altLang="zh-TW" sz="1200" b="1" dirty="0">
                  <a:solidFill>
                    <a:schemeClr val="tx1"/>
                  </a:solidFill>
                  <a:ea typeface="微軟正黑體" panose="020B0604030504040204" pitchFamily="34" charset="-120"/>
                </a:rPr>
                <a:t>W</a:t>
              </a:r>
            </a:p>
            <a:p>
              <a:pPr algn="ctr">
                <a:lnSpc>
                  <a:spcPts val="600"/>
                </a:lnSpc>
              </a:pPr>
              <a:r>
                <a:rPr lang="en-US" altLang="zh-TW" sz="1200" b="1" baseline="-25000" dirty="0">
                  <a:solidFill>
                    <a:schemeClr val="tx1"/>
                  </a:solidFill>
                  <a:ea typeface="微軟正黑體" panose="020B0604030504040204" pitchFamily="34" charset="-120"/>
                </a:rPr>
                <a:t>down</a:t>
              </a:r>
            </a:p>
          </p:txBody>
        </p:sp>
        <p:sp>
          <p:nvSpPr>
            <p:cNvPr id="78" name="文字方塊 77">
              <a:extLst>
                <a:ext uri="{FF2B5EF4-FFF2-40B4-BE49-F238E27FC236}">
                  <a16:creationId xmlns:a16="http://schemas.microsoft.com/office/drawing/2014/main" id="{347A0880-F802-617C-F30E-3014334258D7}"/>
                </a:ext>
              </a:extLst>
            </p:cNvPr>
            <p:cNvSpPr txBox="1"/>
            <p:nvPr/>
          </p:nvSpPr>
          <p:spPr>
            <a:xfrm>
              <a:off x="3742113" y="4152610"/>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80" name="文字方塊 79">
              <a:extLst>
                <a:ext uri="{FF2B5EF4-FFF2-40B4-BE49-F238E27FC236}">
                  <a16:creationId xmlns:a16="http://schemas.microsoft.com/office/drawing/2014/main" id="{0CF9BF8D-4C5B-9DEF-A171-01A1992DB9B0}"/>
                </a:ext>
              </a:extLst>
            </p:cNvPr>
            <p:cNvSpPr txBox="1"/>
            <p:nvPr/>
          </p:nvSpPr>
          <p:spPr>
            <a:xfrm>
              <a:off x="1340024" y="395347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2" name="文字方塊 81">
              <a:extLst>
                <a:ext uri="{FF2B5EF4-FFF2-40B4-BE49-F238E27FC236}">
                  <a16:creationId xmlns:a16="http://schemas.microsoft.com/office/drawing/2014/main" id="{8621D580-9C16-E6F3-82B5-F3EDED20AD1F}"/>
                </a:ext>
              </a:extLst>
            </p:cNvPr>
            <p:cNvSpPr txBox="1"/>
            <p:nvPr/>
          </p:nvSpPr>
          <p:spPr>
            <a:xfrm>
              <a:off x="1883934" y="3953478"/>
              <a:ext cx="293061" cy="129042"/>
            </a:xfrm>
            <a:prstGeom prst="rect">
              <a:avLst/>
            </a:prstGeom>
            <a:noFill/>
          </p:spPr>
          <p:txBody>
            <a:bodyPr wrap="none" lIns="0" tIns="0" rIns="0" bIns="0" rtlCol="0" anchor="ctr" anchorCtr="1">
              <a:noAutofit/>
            </a:bodyPr>
            <a:lstStyle/>
            <a:p>
              <a:pPr algn="ctr"/>
              <a:r>
                <a:rPr lang="en-US" altLang="zh-TW" sz="1200" b="1" dirty="0"/>
                <a:t>d*S</a:t>
              </a:r>
              <a:endParaRPr lang="zh-TW" altLang="en-US" sz="1200" b="1" dirty="0"/>
            </a:p>
          </p:txBody>
        </p:sp>
        <p:sp>
          <p:nvSpPr>
            <p:cNvPr id="84" name="文字方塊 83">
              <a:extLst>
                <a:ext uri="{FF2B5EF4-FFF2-40B4-BE49-F238E27FC236}">
                  <a16:creationId xmlns:a16="http://schemas.microsoft.com/office/drawing/2014/main" id="{23ADB069-4ADC-DAAA-6E2F-5E1CE1F037A8}"/>
                </a:ext>
              </a:extLst>
            </p:cNvPr>
            <p:cNvSpPr txBox="1"/>
            <p:nvPr/>
          </p:nvSpPr>
          <p:spPr>
            <a:xfrm>
              <a:off x="3909528" y="3981387"/>
              <a:ext cx="293061" cy="129042"/>
            </a:xfrm>
            <a:prstGeom prst="rect">
              <a:avLst/>
            </a:prstGeom>
            <a:noFill/>
          </p:spPr>
          <p:txBody>
            <a:bodyPr wrap="none" lIns="0" tIns="0" rIns="0" bIns="0" rtlCol="0" anchor="ctr" anchorCtr="1">
              <a:noAutofit/>
            </a:bodyPr>
            <a:lstStyle/>
            <a:p>
              <a:pPr algn="ctr"/>
              <a:r>
                <a:rPr lang="en-US" altLang="zh-TW" sz="1200" b="1" dirty="0"/>
                <a:t>S*d</a:t>
              </a:r>
              <a:endParaRPr lang="zh-TW" altLang="en-US" sz="1200" b="1" dirty="0"/>
            </a:p>
          </p:txBody>
        </p:sp>
        <p:sp>
          <p:nvSpPr>
            <p:cNvPr id="87" name="左右中括弧 86">
              <a:extLst>
                <a:ext uri="{FF2B5EF4-FFF2-40B4-BE49-F238E27FC236}">
                  <a16:creationId xmlns:a16="http://schemas.microsoft.com/office/drawing/2014/main" id="{98021878-BF98-1AB1-B711-25D249D76793}"/>
                </a:ext>
              </a:extLst>
            </p:cNvPr>
            <p:cNvSpPr/>
            <p:nvPr/>
          </p:nvSpPr>
          <p:spPr>
            <a:xfrm>
              <a:off x="1187624" y="4111332"/>
              <a:ext cx="2508058"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grpSp>
      <p:sp>
        <p:nvSpPr>
          <p:cNvPr id="89" name="矩形 88">
            <a:extLst>
              <a:ext uri="{FF2B5EF4-FFF2-40B4-BE49-F238E27FC236}">
                <a16:creationId xmlns:a16="http://schemas.microsoft.com/office/drawing/2014/main" id="{5357FF38-719F-1678-8C73-C2830F15A809}"/>
              </a:ext>
            </a:extLst>
          </p:cNvPr>
          <p:cNvSpPr/>
          <p:nvPr/>
        </p:nvSpPr>
        <p:spPr>
          <a:xfrm>
            <a:off x="3779912"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1" name="文字方塊 90">
            <a:extLst>
              <a:ext uri="{FF2B5EF4-FFF2-40B4-BE49-F238E27FC236}">
                <a16:creationId xmlns:a16="http://schemas.microsoft.com/office/drawing/2014/main" id="{57CC9818-F010-C09C-DA1B-0CDF907F75B6}"/>
              </a:ext>
            </a:extLst>
          </p:cNvPr>
          <p:cNvSpPr txBox="1"/>
          <p:nvPr/>
        </p:nvSpPr>
        <p:spPr>
          <a:xfrm>
            <a:off x="4130484" y="513189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93" name="矩形 92">
            <a:extLst>
              <a:ext uri="{FF2B5EF4-FFF2-40B4-BE49-F238E27FC236}">
                <a16:creationId xmlns:a16="http://schemas.microsoft.com/office/drawing/2014/main" id="{E521E534-49F3-EC94-63D5-AD8B0C04ABD7}"/>
              </a:ext>
            </a:extLst>
          </p:cNvPr>
          <p:cNvSpPr/>
          <p:nvPr/>
        </p:nvSpPr>
        <p:spPr>
          <a:xfrm>
            <a:off x="4354476" y="5048531"/>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97" name="文字方塊 96">
            <a:extLst>
              <a:ext uri="{FF2B5EF4-FFF2-40B4-BE49-F238E27FC236}">
                <a16:creationId xmlns:a16="http://schemas.microsoft.com/office/drawing/2014/main" id="{70710644-6C73-9DC4-2ED5-22CF3065CF2C}"/>
              </a:ext>
            </a:extLst>
          </p:cNvPr>
          <p:cNvSpPr txBox="1"/>
          <p:nvPr/>
        </p:nvSpPr>
        <p:spPr>
          <a:xfrm>
            <a:off x="3923928"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2"/>
                </a:solidFill>
              </a:rPr>
              <a:t>Residual</a:t>
            </a:r>
          </a:p>
          <a:p>
            <a:pPr algn="ctr"/>
            <a:r>
              <a:rPr lang="en-US" altLang="zh-TW" sz="1000" dirty="0">
                <a:ln w="0"/>
                <a:solidFill>
                  <a:prstClr val="black"/>
                </a:solidFill>
                <a:latin typeface="Calibri"/>
                <a:ea typeface="新細明體" panose="02020500000000000000" pitchFamily="18" charset="-120"/>
              </a:rPr>
              <a:t>Add</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(R, </a:t>
            </a:r>
            <a:r>
              <a:rPr lang="en-US" altLang="zh-TW" sz="1000" dirty="0">
                <a:sym typeface="Wingdings" panose="05000000000000000000" pitchFamily="2" charset="2"/>
              </a:rPr>
              <a:t>X</a:t>
            </a:r>
            <a:r>
              <a:rPr lang="en-US" altLang="zh-TW" sz="1000" baseline="-25000" dirty="0">
                <a:sym typeface="Wingdings" panose="05000000000000000000" pitchFamily="2" charset="2"/>
              </a:rPr>
              <a:t>n</a:t>
            </a:r>
            <a:r>
              <a:rPr lang="en-US" altLang="zh-TW" sz="10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000" dirty="0">
                <a:sym typeface="Wingdings" panose="05000000000000000000" pitchFamily="2" charset="2"/>
              </a:rPr>
              <a:t> X</a:t>
            </a:r>
            <a:r>
              <a:rPr lang="en-US" altLang="zh-TW" sz="1000" baseline="-25000" dirty="0">
                <a:sym typeface="Wingdings" panose="05000000000000000000" pitchFamily="2" charset="2"/>
              </a:rPr>
              <a:t>n+1</a:t>
            </a:r>
            <a:endParaRPr lang="zh-TW" altLang="en-US" sz="1000" dirty="0"/>
          </a:p>
        </p:txBody>
      </p:sp>
      <p:sp>
        <p:nvSpPr>
          <p:cNvPr id="102" name="文字方塊 101">
            <a:extLst>
              <a:ext uri="{FF2B5EF4-FFF2-40B4-BE49-F238E27FC236}">
                <a16:creationId xmlns:a16="http://schemas.microsoft.com/office/drawing/2014/main" id="{707F4F77-B010-B97E-7179-9917A6ABFFAF}"/>
              </a:ext>
            </a:extLst>
          </p:cNvPr>
          <p:cNvSpPr txBox="1"/>
          <p:nvPr/>
        </p:nvSpPr>
        <p:spPr>
          <a:xfrm>
            <a:off x="4354476" y="4866772"/>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04" name="左中括弧 103">
            <a:extLst>
              <a:ext uri="{FF2B5EF4-FFF2-40B4-BE49-F238E27FC236}">
                <a16:creationId xmlns:a16="http://schemas.microsoft.com/office/drawing/2014/main" id="{172D341A-151A-7C2F-E4D1-FCDD760DF6D7}"/>
              </a:ext>
            </a:extLst>
          </p:cNvPr>
          <p:cNvSpPr/>
          <p:nvPr/>
        </p:nvSpPr>
        <p:spPr>
          <a:xfrm rot="16200000" flipH="1">
            <a:off x="2611156" y="3587009"/>
            <a:ext cx="45719" cy="250805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113" name="群組 112">
            <a:extLst>
              <a:ext uri="{FF2B5EF4-FFF2-40B4-BE49-F238E27FC236}">
                <a16:creationId xmlns:a16="http://schemas.microsoft.com/office/drawing/2014/main" id="{938060DB-6CD4-C2F0-2FDE-B762FB1DCC62}"/>
              </a:ext>
            </a:extLst>
          </p:cNvPr>
          <p:cNvGrpSpPr/>
          <p:nvPr/>
        </p:nvGrpSpPr>
        <p:grpSpPr>
          <a:xfrm>
            <a:off x="5514017" y="4874421"/>
            <a:ext cx="1595502" cy="1210625"/>
            <a:chOff x="1109821" y="5005729"/>
            <a:chExt cx="1595502" cy="1210625"/>
          </a:xfrm>
        </p:grpSpPr>
        <p:pic>
          <p:nvPicPr>
            <p:cNvPr id="8" name="圖片 7">
              <a:extLst>
                <a:ext uri="{FF2B5EF4-FFF2-40B4-BE49-F238E27FC236}">
                  <a16:creationId xmlns:a16="http://schemas.microsoft.com/office/drawing/2014/main" id="{BA472C21-C7F0-7F5F-BA8A-A3982575C3B1}"/>
                </a:ext>
              </a:extLst>
            </p:cNvPr>
            <p:cNvPicPr>
              <a:picLocks noChangeAspect="1"/>
            </p:cNvPicPr>
            <p:nvPr/>
          </p:nvPicPr>
          <p:blipFill>
            <a:blip r:embed="rId2"/>
            <a:stretch>
              <a:fillRect/>
            </a:stretch>
          </p:blipFill>
          <p:spPr>
            <a:xfrm>
              <a:off x="1109821" y="5005729"/>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xmlns:a14="http://schemas.microsoft.com/office/drawing/2010/main">
          <mc:Choice Requires="a14">
            <p:sp>
              <p:nvSpPr>
                <p:cNvPr id="106" name="文字方塊 105">
                  <a:extLst>
                    <a:ext uri="{FF2B5EF4-FFF2-40B4-BE49-F238E27FC236}">
                      <a16:creationId xmlns:a16="http://schemas.microsoft.com/office/drawing/2014/main" id="{E5FB5135-9DDC-266F-5225-B48F121EAE3C}"/>
                    </a:ext>
                  </a:extLst>
                </p:cNvPr>
                <p:cNvSpPr txBox="1"/>
                <p:nvPr/>
              </p:nvSpPr>
              <p:spPr>
                <a:xfrm>
                  <a:off x="1133610" y="5892739"/>
                  <a:ext cx="1547924" cy="323615"/>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𝑥</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𝑥</m:t>
                                </m:r>
                              </m:sup>
                            </m:sSup>
                          </m:den>
                        </m:f>
                      </m:oMath>
                    </m:oMathPara>
                  </a14:m>
                  <a:endParaRPr lang="zh-TW" altLang="en-US" sz="1200" dirty="0"/>
                </a:p>
              </p:txBody>
            </p:sp>
          </mc:Choice>
          <mc:Fallback xmlns="">
            <p:sp>
              <p:nvSpPr>
                <p:cNvPr id="106" name="文字方塊 105">
                  <a:extLst>
                    <a:ext uri="{FF2B5EF4-FFF2-40B4-BE49-F238E27FC236}">
                      <a16:creationId xmlns:a16="http://schemas.microsoft.com/office/drawing/2014/main" id="{E5FB5135-9DDC-266F-5225-B48F121EAE3C}"/>
                    </a:ext>
                  </a:extLst>
                </p:cNvPr>
                <p:cNvSpPr txBox="1">
                  <a:spLocks noRot="1" noChangeAspect="1" noMove="1" noResize="1" noEditPoints="1" noAdjustHandles="1" noChangeArrowheads="1" noChangeShapeType="1" noTextEdit="1"/>
                </p:cNvSpPr>
                <p:nvPr/>
              </p:nvSpPr>
              <p:spPr>
                <a:xfrm>
                  <a:off x="1133610" y="5892739"/>
                  <a:ext cx="1547924" cy="323615"/>
                </a:xfrm>
                <a:prstGeom prst="rect">
                  <a:avLst/>
                </a:prstGeom>
                <a:blipFill>
                  <a:blip r:embed="rId4"/>
                  <a:stretch>
                    <a:fillRect l="-2362" r="-394" b="-16981"/>
                  </a:stretch>
                </a:blipFill>
              </p:spPr>
              <p:txBody>
                <a:bodyPr/>
                <a:lstStyle/>
                <a:p>
                  <a:r>
                    <a:rPr lang="zh-TW" altLang="en-US">
                      <a:noFill/>
                    </a:rPr>
                    <a:t> </a:t>
                  </a:r>
                </a:p>
              </p:txBody>
            </p:sp>
          </mc:Fallback>
        </mc:AlternateContent>
      </p:grpSp>
      <p:sp>
        <p:nvSpPr>
          <p:cNvPr id="108" name="文字方塊 107">
            <a:extLst>
              <a:ext uri="{FF2B5EF4-FFF2-40B4-BE49-F238E27FC236}">
                <a16:creationId xmlns:a16="http://schemas.microsoft.com/office/drawing/2014/main" id="{2CBB42B8-2320-38C4-3678-256F1E153BF5}"/>
              </a:ext>
            </a:extLst>
          </p:cNvPr>
          <p:cNvSpPr txBox="1"/>
          <p:nvPr/>
        </p:nvSpPr>
        <p:spPr>
          <a:xfrm>
            <a:off x="1945645" y="4577354"/>
            <a:ext cx="1781944" cy="276999"/>
          </a:xfrm>
          <a:prstGeom prst="rect">
            <a:avLst/>
          </a:prstGeom>
          <a:noFill/>
        </p:spPr>
        <p:txBody>
          <a:bodyPr wrap="square">
            <a:spAutoFit/>
          </a:bodyPr>
          <a:lstStyle/>
          <a:p>
            <a:r>
              <a:rPr lang="en-US" altLang="zh-TW" sz="1200" b="1" dirty="0">
                <a:solidFill>
                  <a:schemeClr val="accent4"/>
                </a:solidFill>
              </a:rPr>
              <a:t>Feed Forward Network</a:t>
            </a:r>
          </a:p>
        </p:txBody>
      </p:sp>
      <p:sp>
        <p:nvSpPr>
          <p:cNvPr id="115" name="文字方塊 114">
            <a:extLst>
              <a:ext uri="{FF2B5EF4-FFF2-40B4-BE49-F238E27FC236}">
                <a16:creationId xmlns:a16="http://schemas.microsoft.com/office/drawing/2014/main" id="{0990FE57-347B-07DA-EAEC-0A1F50529771}"/>
              </a:ext>
            </a:extLst>
          </p:cNvPr>
          <p:cNvSpPr txBox="1"/>
          <p:nvPr/>
        </p:nvSpPr>
        <p:spPr>
          <a:xfrm>
            <a:off x="7445840"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17" name="矩形 116">
            <a:extLst>
              <a:ext uri="{FF2B5EF4-FFF2-40B4-BE49-F238E27FC236}">
                <a16:creationId xmlns:a16="http://schemas.microsoft.com/office/drawing/2014/main" id="{3E3AF772-A3C8-A98D-913B-FA18BE2364FC}"/>
              </a:ext>
            </a:extLst>
          </p:cNvPr>
          <p:cNvSpPr/>
          <p:nvPr/>
        </p:nvSpPr>
        <p:spPr>
          <a:xfrm>
            <a:off x="8259970" y="3238946"/>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微軟正黑體" panose="020B0604030504040204" pitchFamily="34" charset="-120"/>
              </a:rPr>
              <a:t>Max</a:t>
            </a:r>
          </a:p>
        </p:txBody>
      </p:sp>
      <p:sp>
        <p:nvSpPr>
          <p:cNvPr id="119" name="矩形 118">
            <a:extLst>
              <a:ext uri="{FF2B5EF4-FFF2-40B4-BE49-F238E27FC236}">
                <a16:creationId xmlns:a16="http://schemas.microsoft.com/office/drawing/2014/main" id="{649BE6FB-9583-6F23-7BA2-BBD937CFE47F}"/>
              </a:ext>
            </a:extLst>
          </p:cNvPr>
          <p:cNvSpPr/>
          <p:nvPr/>
        </p:nvSpPr>
        <p:spPr>
          <a:xfrm>
            <a:off x="2123840"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Attention</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 </a:t>
            </a:r>
          </a:p>
          <a:p>
            <a:pPr>
              <a:lnSpc>
                <a:spcPts val="1600"/>
              </a:lnSpc>
            </a:pPr>
            <a:r>
              <a:rPr lang="en-US" altLang="zh-TW" sz="1200" b="1" dirty="0">
                <a:solidFill>
                  <a:schemeClr val="tx2"/>
                </a:solidFill>
                <a:ea typeface="微軟正黑體" panose="020B0604030504040204" pitchFamily="34" charset="-120"/>
              </a:rPr>
              <a:t>X = X + A</a:t>
            </a:r>
          </a:p>
        </p:txBody>
      </p:sp>
      <p:sp>
        <p:nvSpPr>
          <p:cNvPr id="121" name="矩形 120">
            <a:extLst>
              <a:ext uri="{FF2B5EF4-FFF2-40B4-BE49-F238E27FC236}">
                <a16:creationId xmlns:a16="http://schemas.microsoft.com/office/drawing/2014/main" id="{6146B611-31D0-5910-CF55-828F50333C2C}"/>
              </a:ext>
            </a:extLst>
          </p:cNvPr>
          <p:cNvSpPr/>
          <p:nvPr/>
        </p:nvSpPr>
        <p:spPr>
          <a:xfrm>
            <a:off x="3384044"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 (X)</a:t>
            </a:r>
          </a:p>
          <a:p>
            <a:pPr>
              <a:lnSpc>
                <a:spcPts val="1600"/>
              </a:lnSpc>
            </a:pPr>
            <a:r>
              <a:rPr lang="en-US" altLang="zh-TW" sz="1200" b="1" dirty="0">
                <a:solidFill>
                  <a:schemeClr val="tx2"/>
                </a:solidFill>
                <a:ea typeface="微軟正黑體" panose="020B0604030504040204" pitchFamily="34" charset="-120"/>
              </a:rPr>
              <a:t>FFN(X, A, U, D)</a:t>
            </a:r>
          </a:p>
          <a:p>
            <a:pPr>
              <a:lnSpc>
                <a:spcPts val="1600"/>
              </a:lnSpc>
            </a:pPr>
            <a:r>
              <a:rPr lang="en-US" altLang="zh-TW" sz="1200" b="1" dirty="0">
                <a:solidFill>
                  <a:schemeClr val="tx2"/>
                </a:solidFill>
                <a:ea typeface="微軟正黑體" panose="020B0604030504040204" pitchFamily="34" charset="-120"/>
              </a:rPr>
              <a:t>X = R + X</a:t>
            </a:r>
          </a:p>
        </p:txBody>
      </p:sp>
      <p:sp>
        <p:nvSpPr>
          <p:cNvPr id="123" name="矩形 122">
            <a:extLst>
              <a:ext uri="{FF2B5EF4-FFF2-40B4-BE49-F238E27FC236}">
                <a16:creationId xmlns:a16="http://schemas.microsoft.com/office/drawing/2014/main" id="{3F186879-A995-4816-866A-FC32252746E7}"/>
              </a:ext>
            </a:extLst>
          </p:cNvPr>
          <p:cNvSpPr/>
          <p:nvPr/>
        </p:nvSpPr>
        <p:spPr>
          <a:xfrm>
            <a:off x="1115616" y="1196816"/>
            <a:ext cx="648072" cy="328918"/>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Position</a:t>
            </a:r>
          </a:p>
          <a:p>
            <a:pPr>
              <a:lnSpc>
                <a:spcPts val="1600"/>
              </a:lnSpc>
            </a:pPr>
            <a:r>
              <a:rPr lang="en-US" altLang="zh-TW" sz="1200" b="1" dirty="0">
                <a:solidFill>
                  <a:schemeClr val="tx2"/>
                </a:solidFill>
                <a:ea typeface="微軟正黑體" panose="020B0604030504040204" pitchFamily="34" charset="-120"/>
              </a:rPr>
              <a:t>Encoding</a:t>
            </a:r>
          </a:p>
        </p:txBody>
      </p:sp>
      <p:sp>
        <p:nvSpPr>
          <p:cNvPr id="125" name="矩形 124">
            <a:extLst>
              <a:ext uri="{FF2B5EF4-FFF2-40B4-BE49-F238E27FC236}">
                <a16:creationId xmlns:a16="http://schemas.microsoft.com/office/drawing/2014/main" id="{7A5F39D9-D768-3CCB-A2E0-168877F12823}"/>
              </a:ext>
            </a:extLst>
          </p:cNvPr>
          <p:cNvSpPr/>
          <p:nvPr/>
        </p:nvSpPr>
        <p:spPr>
          <a:xfrm>
            <a:off x="6878804" y="1196816"/>
            <a:ext cx="1008000" cy="42734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Softmax</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Max Prob.</a:t>
            </a:r>
          </a:p>
        </p:txBody>
      </p:sp>
      <p:sp>
        <p:nvSpPr>
          <p:cNvPr id="39" name="文字方塊 38">
            <a:extLst>
              <a:ext uri="{FF2B5EF4-FFF2-40B4-BE49-F238E27FC236}">
                <a16:creationId xmlns:a16="http://schemas.microsoft.com/office/drawing/2014/main" id="{DD237284-F921-8EC2-15F0-53F9DC85BDFD}"/>
              </a:ext>
            </a:extLst>
          </p:cNvPr>
          <p:cNvSpPr txBox="1"/>
          <p:nvPr/>
        </p:nvSpPr>
        <p:spPr>
          <a:xfrm>
            <a:off x="4079149" y="2132856"/>
            <a:ext cx="605603" cy="159764"/>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d</a:t>
            </a:r>
            <a:endParaRPr kumimoji="0" lang="zh-TW" altLang="en-US" sz="1200" b="1" i="0" u="none" strike="noStrike" kern="1200" cap="none" spc="0" normalizeH="0" baseline="0" noProof="0" dirty="0">
              <a:ln>
                <a:noFill/>
              </a:ln>
              <a:solidFill>
                <a:prstClr val="black"/>
              </a:solidFill>
              <a:effectLst/>
              <a:uLnTx/>
              <a:uFillTx/>
              <a:ea typeface="新細明體" panose="02020500000000000000" pitchFamily="18" charset="-120"/>
              <a:cs typeface="+mn-cs"/>
            </a:endParaRPr>
          </a:p>
        </p:txBody>
      </p:sp>
      <p:sp>
        <p:nvSpPr>
          <p:cNvPr id="52" name="矩形 51">
            <a:extLst>
              <a:ext uri="{FF2B5EF4-FFF2-40B4-BE49-F238E27FC236}">
                <a16:creationId xmlns:a16="http://schemas.microsoft.com/office/drawing/2014/main" id="{EBD0682A-F808-25C6-D9B9-4980D0572498}"/>
              </a:ext>
            </a:extLst>
          </p:cNvPr>
          <p:cNvSpPr/>
          <p:nvPr/>
        </p:nvSpPr>
        <p:spPr>
          <a:xfrm>
            <a:off x="4248108" y="3187824"/>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67" name="文字方塊 66">
            <a:extLst>
              <a:ext uri="{FF2B5EF4-FFF2-40B4-BE49-F238E27FC236}">
                <a16:creationId xmlns:a16="http://schemas.microsoft.com/office/drawing/2014/main" id="{CCC2D414-852F-3FE7-9DC0-89A69FD395F0}"/>
              </a:ext>
            </a:extLst>
          </p:cNvPr>
          <p:cNvSpPr txBox="1"/>
          <p:nvPr/>
        </p:nvSpPr>
        <p:spPr>
          <a:xfrm rot="5400000">
            <a:off x="4290217" y="288608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68" name="十字形 67">
            <a:extLst>
              <a:ext uri="{FF2B5EF4-FFF2-40B4-BE49-F238E27FC236}">
                <a16:creationId xmlns:a16="http://schemas.microsoft.com/office/drawing/2014/main" id="{145DEE16-EB6F-4035-961B-D9CA4DA12F6A}"/>
              </a:ext>
            </a:extLst>
          </p:cNvPr>
          <p:cNvSpPr/>
          <p:nvPr/>
        </p:nvSpPr>
        <p:spPr>
          <a:xfrm>
            <a:off x="4093330" y="3296532"/>
            <a:ext cx="132956" cy="125317"/>
          </a:xfrm>
          <a:prstGeom prst="plus">
            <a:avLst>
              <a:gd name="adj" fmla="val 36556"/>
            </a:avLst>
          </a:prstGeom>
          <a:solidFill>
            <a:schemeClr val="tx1">
              <a:lumMod val="50000"/>
              <a:lumOff val="50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0" name="接點: 肘形 69">
            <a:extLst>
              <a:ext uri="{FF2B5EF4-FFF2-40B4-BE49-F238E27FC236}">
                <a16:creationId xmlns:a16="http://schemas.microsoft.com/office/drawing/2014/main" id="{E05A9245-E13F-CE4C-E982-2F199766CF39}"/>
              </a:ext>
            </a:extLst>
          </p:cNvPr>
          <p:cNvCxnSpPr>
            <a:stCxn id="13" idx="2"/>
            <a:endCxn id="89" idx="1"/>
          </p:cNvCxnSpPr>
          <p:nvPr/>
        </p:nvCxnSpPr>
        <p:spPr>
          <a:xfrm rot="16200000" flipH="1">
            <a:off x="2696474" y="2332986"/>
            <a:ext cx="372080" cy="1794795"/>
          </a:xfrm>
          <a:prstGeom prst="bentConnector2">
            <a:avLst/>
          </a:prstGeom>
          <a:ln w="222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C674EB33-6561-8356-79AD-1532190CD138}"/>
              </a:ext>
            </a:extLst>
          </p:cNvPr>
          <p:cNvSpPr/>
          <p:nvPr/>
        </p:nvSpPr>
        <p:spPr>
          <a:xfrm>
            <a:off x="2261264" y="3202071"/>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20" name="文字方塊 19">
            <a:extLst>
              <a:ext uri="{FF2B5EF4-FFF2-40B4-BE49-F238E27FC236}">
                <a16:creationId xmlns:a16="http://schemas.microsoft.com/office/drawing/2014/main" id="{8821CD1F-7007-F075-AB29-57AF18B103CE}"/>
              </a:ext>
            </a:extLst>
          </p:cNvPr>
          <p:cNvSpPr txBox="1"/>
          <p:nvPr/>
        </p:nvSpPr>
        <p:spPr>
          <a:xfrm>
            <a:off x="2117701" y="3247791"/>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586154" y="3247791"/>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779032" y="3116352"/>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160109"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3995936"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sp>
        <p:nvSpPr>
          <p:cNvPr id="119" name="矩形: 圓角 118">
            <a:extLst>
              <a:ext uri="{FF2B5EF4-FFF2-40B4-BE49-F238E27FC236}">
                <a16:creationId xmlns:a16="http://schemas.microsoft.com/office/drawing/2014/main" id="{F7477F9B-D4A8-4756-1FCA-E84E000EF944}"/>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1075374799"/>
              </p:ext>
            </p:extLst>
          </p:nvPr>
        </p:nvGraphicFramePr>
        <p:xfrm>
          <a:off x="2101237" y="3301000"/>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742140094"/>
              </p:ext>
            </p:extLst>
          </p:nvPr>
        </p:nvGraphicFramePr>
        <p:xfrm>
          <a:off x="4321710" y="3301000"/>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155804326"/>
              </p:ext>
            </p:extLst>
          </p:nvPr>
        </p:nvGraphicFramePr>
        <p:xfrm>
          <a:off x="6200490" y="3301000"/>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2890530353"/>
              </p:ext>
            </p:extLst>
          </p:nvPr>
        </p:nvGraphicFramePr>
        <p:xfrm>
          <a:off x="1337676" y="3301000"/>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483689" y="2917598"/>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06643" y="2917598"/>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2807339423"/>
              </p:ext>
            </p:extLst>
          </p:nvPr>
        </p:nvGraphicFramePr>
        <p:xfrm>
          <a:off x="7217770" y="3301000"/>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154929" y="2917597"/>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6990491" y="3918085"/>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280160" y="2241979"/>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2766916741"/>
              </p:ext>
            </p:extLst>
          </p:nvPr>
        </p:nvGraphicFramePr>
        <p:xfrm>
          <a:off x="2101236" y="2496165"/>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475968" y="2919548"/>
            <a:ext cx="316238" cy="333823"/>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346737" y="2194838"/>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287750" y="2917597"/>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4236744202"/>
              </p:ext>
            </p:extLst>
          </p:nvPr>
        </p:nvGraphicFramePr>
        <p:xfrm>
          <a:off x="4065963" y="3288775"/>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6533E10E-209C-5074-10A7-4E4A830D6AF9}"/>
                  </a:ext>
                </a:extLst>
              </p:cNvPr>
              <p:cNvSpPr txBox="1"/>
              <p:nvPr/>
            </p:nvSpPr>
            <p:spPr>
              <a:xfrm>
                <a:off x="6406643" y="1182002"/>
                <a:ext cx="2065565" cy="1388906"/>
              </a:xfrm>
              <a:prstGeom prst="rect">
                <a:avLst/>
              </a:prstGeom>
              <a:noFill/>
            </p:spPr>
            <p:txBody>
              <a:bodyPr wrap="none" lIns="0" tIns="0" rIns="0" bIns="0" rtlCol="0">
                <a:spAutoFit/>
              </a:bodyPr>
              <a:lstStyle/>
              <a:p>
                <a:pPr>
                  <a:lnSpc>
                    <a:spcPct val="150000"/>
                  </a:lnSpc>
                </a:pPr>
                <a14:m>
                  <m:oMathPara xmlns:m="http://schemas.openxmlformats.org/officeDocument/2006/math">
                    <m:oMathParaPr>
                      <m:jc m:val="left"/>
                    </m:oMathParaPr>
                    <m:oMath>
                      <m:r>
                        <m:rPr>
                          <m:sty m:val="p"/>
                        </m:rPr>
                        <a:rPr lang="en-US" altLang="zh-TW" sz="1400" b="0" i="0" smtClean="0">
                          <a:latin typeface="Cambria Math" panose="02040503050406030204" pitchFamily="18" charset="0"/>
                        </a:rPr>
                        <m:t>Norm</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𝑥</m:t>
                          </m:r>
                        </m:e>
                      </m:d>
                      <m:r>
                        <a:rPr lang="en-US" altLang="zh-TW" sz="1400" b="0" i="0" smtClean="0">
                          <a:latin typeface="Cambria Math" panose="02040503050406030204" pitchFamily="18" charset="0"/>
                        </a:rPr>
                        <m:t>=</m:t>
                      </m:r>
                      <m:d>
                        <m:dPr>
                          <m:begChr m:val="{"/>
                          <m:endChr m:val="}"/>
                          <m:ctrlPr>
                            <a:rPr lang="en-US" altLang="zh-TW" sz="1400" i="1" dirty="0">
                              <a:latin typeface="Cambria Math" panose="02040503050406030204" pitchFamily="18" charset="0"/>
                            </a:rPr>
                          </m:ctrlPr>
                        </m:dPr>
                        <m:e>
                          <m:f>
                            <m:fPr>
                              <m:ctrlPr>
                                <a:rPr lang="en-US" altLang="zh-TW" sz="1400" i="0" dirty="0"/>
                              </m:ctrlPr>
                            </m:fPr>
                            <m:num>
                              <m:r>
                                <m:rPr>
                                  <m:nor/>
                                </m:rPr>
                                <a:rPr lang="en-US" altLang="zh-TW" sz="1400" i="0" dirty="0"/>
                                <m:t>x</m:t>
                              </m:r>
                              <m:r>
                                <m:rPr>
                                  <m:nor/>
                                </m:rPr>
                                <a:rPr lang="en-US" altLang="zh-TW" sz="1400" i="0" baseline="-25000" dirty="0"/>
                                <m:t>i</m:t>
                              </m:r>
                              <m:r>
                                <m:rPr>
                                  <m:nor/>
                                </m:rPr>
                                <a:rPr lang="en-US" altLang="zh-TW" sz="1400" i="0" dirty="0"/>
                                <m:t>∗γi</m:t>
                              </m:r>
                            </m:num>
                            <m:den>
                              <m:r>
                                <m:rPr>
                                  <m:nor/>
                                </m:rPr>
                                <a:rPr lang="en-US" altLang="zh-TW" sz="1400" i="0" dirty="0"/>
                                <m:t>RMS(x)</m:t>
                              </m:r>
                            </m:den>
                          </m:f>
                        </m:e>
                      </m:d>
                      <m:r>
                        <a:rPr lang="en-US" altLang="zh-TW" sz="1400" b="0" i="0" smtClean="0">
                          <a:latin typeface="Cambria Math" panose="02040503050406030204" pitchFamily="18" charset="0"/>
                        </a:rPr>
                        <m:t>; </m:t>
                      </m:r>
                    </m:oMath>
                  </m:oMathPara>
                </a14:m>
                <a:endParaRPr lang="en-US" altLang="zh-TW" sz="1400" b="0" i="0" dirty="0">
                  <a:latin typeface="Cambria Math" panose="02040503050406030204" pitchFamily="18" charset="0"/>
                </a:endParaRPr>
              </a:p>
              <a:p>
                <a:pPr>
                  <a:lnSpc>
                    <a:spcPct val="150000"/>
                  </a:lnSpc>
                </a:pPr>
                <a14:m>
                  <m:oMathPara xmlns:m="http://schemas.openxmlformats.org/officeDocument/2006/math">
                    <m:oMathParaPr>
                      <m:jc m:val="left"/>
                    </m:oMathParaPr>
                    <m:oMath>
                      <m:r>
                        <m:rPr>
                          <m:sty m:val="p"/>
                        </m:rPr>
                        <a:rPr lang="en-US" altLang="zh-TW" sz="1400" b="0" i="0" smtClean="0">
                          <a:latin typeface="Cambria Math" panose="02040503050406030204" pitchFamily="18" charset="0"/>
                        </a:rPr>
                        <m:t>RMS</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𝑥</m:t>
                          </m:r>
                        </m:e>
                      </m:d>
                      <m:r>
                        <a:rPr lang="en-US" altLang="zh-TW" sz="1400" b="0" i="1" smtClean="0">
                          <a:latin typeface="Cambria Math" panose="02040503050406030204" pitchFamily="18" charset="0"/>
                        </a:rPr>
                        <m:t>=</m:t>
                      </m:r>
                      <m:sSup>
                        <m:sSupPr>
                          <m:ctrlPr>
                            <a:rPr lang="en-US" altLang="zh-TW" sz="1400" i="1">
                              <a:latin typeface="Cambria Math" panose="02040503050406030204" pitchFamily="18" charset="0"/>
                            </a:rPr>
                          </m:ctrlPr>
                        </m:sSupPr>
                        <m:e>
                          <m:r>
                            <a:rPr lang="en-US" altLang="zh-TW" sz="1400" i="1">
                              <a:latin typeface="Cambria Math" panose="02040503050406030204" pitchFamily="18" charset="0"/>
                            </a:rPr>
                            <m:t>(</m:t>
                          </m:r>
                          <m:f>
                            <m:fPr>
                              <m:ctrlPr>
                                <a:rPr lang="en-US" altLang="zh-TW" sz="1400" i="1">
                                  <a:latin typeface="Cambria Math" panose="02040503050406030204" pitchFamily="18" charset="0"/>
                                </a:rPr>
                              </m:ctrlPr>
                            </m:fPr>
                            <m:num>
                              <m:r>
                                <a:rPr lang="en-US" altLang="zh-TW" sz="1400" i="1">
                                  <a:latin typeface="Cambria Math" panose="02040503050406030204" pitchFamily="18" charset="0"/>
                                </a:rPr>
                                <m:t>1</m:t>
                              </m:r>
                            </m:num>
                            <m:den>
                              <m:r>
                                <a:rPr lang="en-US" altLang="zh-TW" sz="1400" i="1">
                                  <a:latin typeface="Cambria Math" panose="02040503050406030204" pitchFamily="18" charset="0"/>
                                </a:rPr>
                                <m:t>𝑑</m:t>
                              </m:r>
                            </m:den>
                          </m:f>
                          <m:nary>
                            <m:naryPr>
                              <m:chr m:val="∑"/>
                              <m:limLoc m:val="subSup"/>
                              <m:ctrlPr>
                                <a:rPr lang="en-US" altLang="zh-TW" sz="1400" i="1">
                                  <a:latin typeface="Cambria Math" panose="02040503050406030204" pitchFamily="18" charset="0"/>
                                </a:rPr>
                              </m:ctrlPr>
                            </m:naryPr>
                            <m:sub>
                              <m:r>
                                <m:rPr>
                                  <m:brk m:alnAt="25"/>
                                </m:rPr>
                                <a:rPr lang="en-US" altLang="zh-TW" sz="1400" i="1">
                                  <a:latin typeface="Cambria Math" panose="02040503050406030204" pitchFamily="18" charset="0"/>
                                </a:rPr>
                                <m:t>𝑖</m:t>
                              </m:r>
                            </m:sub>
                            <m:sup>
                              <m:r>
                                <a:rPr lang="en-US" altLang="zh-TW" sz="1400" i="1">
                                  <a:latin typeface="Cambria Math" panose="02040503050406030204" pitchFamily="18" charset="0"/>
                                </a:rPr>
                                <m:t>𝑑</m:t>
                              </m:r>
                            </m:sup>
                            <m:e>
                              <m:sSubSup>
                                <m:sSubSupPr>
                                  <m:ctrlPr>
                                    <a:rPr lang="en-US" altLang="zh-TW" sz="1400" i="1">
                                      <a:latin typeface="Cambria Math" panose="02040503050406030204" pitchFamily="18" charset="0"/>
                                    </a:rPr>
                                  </m:ctrlPr>
                                </m:sSubSupPr>
                                <m:e>
                                  <m:r>
                                    <a:rPr lang="en-US" altLang="zh-TW" sz="1400" i="1">
                                      <a:latin typeface="Cambria Math" panose="02040503050406030204" pitchFamily="18" charset="0"/>
                                    </a:rPr>
                                    <m:t>𝑥</m:t>
                                  </m:r>
                                </m:e>
                                <m:sub>
                                  <m:r>
                                    <a:rPr lang="en-US" altLang="zh-TW" sz="1400" i="1">
                                      <a:latin typeface="Cambria Math" panose="02040503050406030204" pitchFamily="18" charset="0"/>
                                    </a:rPr>
                                    <m:t>𝑖</m:t>
                                  </m:r>
                                </m:sub>
                                <m:sup>
                                  <m:r>
                                    <a:rPr lang="en-US" altLang="zh-TW" sz="1400" i="1">
                                      <a:latin typeface="Cambria Math" panose="02040503050406030204" pitchFamily="18" charset="0"/>
                                    </a:rPr>
                                    <m:t>2</m:t>
                                  </m:r>
                                </m:sup>
                              </m:sSubSup>
                              <m:r>
                                <a:rPr lang="en-US" altLang="zh-TW" sz="1400" i="1">
                                  <a:latin typeface="Cambria Math" panose="02040503050406030204" pitchFamily="18" charset="0"/>
                                </a:rPr>
                                <m:t>+</m:t>
                              </m:r>
                              <m:r>
                                <a:rPr lang="en-US" altLang="zh-TW" sz="1400" i="1">
                                  <a:latin typeface="Cambria Math" panose="02040503050406030204" pitchFamily="18" charset="0"/>
                                </a:rPr>
                                <m:t>𝑒</m:t>
                              </m:r>
                            </m:e>
                          </m:nary>
                          <m:r>
                            <a:rPr lang="en-US" altLang="zh-TW" sz="1400" i="1">
                              <a:latin typeface="Cambria Math" panose="02040503050406030204" pitchFamily="18" charset="0"/>
                            </a:rPr>
                            <m:t>)</m:t>
                          </m:r>
                        </m:e>
                        <m:sup>
                          <m:f>
                            <m:fPr>
                              <m:ctrlPr>
                                <a:rPr lang="en-US" altLang="zh-TW" sz="1400" b="0" i="1" smtClean="0">
                                  <a:latin typeface="Cambria Math" panose="02040503050406030204" pitchFamily="18" charset="0"/>
                                </a:rPr>
                              </m:ctrlPr>
                            </m:fPr>
                            <m:num>
                              <m:r>
                                <a:rPr lang="en-US" altLang="zh-TW" sz="1400" b="0" i="1" smtClean="0">
                                  <a:latin typeface="Cambria Math" panose="02040503050406030204" pitchFamily="18" charset="0"/>
                                </a:rPr>
                                <m:t>1</m:t>
                              </m:r>
                            </m:num>
                            <m:den>
                              <m:r>
                                <a:rPr lang="en-US" altLang="zh-TW" sz="1400" b="0" i="1" smtClean="0">
                                  <a:latin typeface="Cambria Math" panose="02040503050406030204" pitchFamily="18" charset="0"/>
                                </a:rPr>
                                <m:t>2</m:t>
                              </m:r>
                            </m:den>
                          </m:f>
                        </m:sup>
                      </m:sSup>
                    </m:oMath>
                  </m:oMathPara>
                </a14:m>
                <a:endParaRPr lang="zh-TW" altLang="en-US" sz="1400" dirty="0"/>
              </a:p>
            </p:txBody>
          </p:sp>
        </mc:Choice>
        <mc:Fallback xmlns="">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406643" y="1182002"/>
                <a:ext cx="2065565" cy="1388906"/>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04C69D51-1D28-7D46-D4F3-7BE78FE1AE01}"/>
                  </a:ext>
                </a:extLst>
              </p:cNvPr>
              <p:cNvSpPr txBox="1"/>
              <p:nvPr/>
            </p:nvSpPr>
            <p:spPr>
              <a:xfrm>
                <a:off x="3285072" y="5182866"/>
                <a:ext cx="1984518" cy="556819"/>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400">
                              <a:latin typeface="Cambria Math" panose="02040503050406030204" pitchFamily="18" charset="0"/>
                            </a:rPr>
                          </m:ctrlPr>
                        </m:sSubPr>
                        <m:e>
                          <m:r>
                            <m:rPr>
                              <m:sty m:val="p"/>
                            </m:rPr>
                            <a:rPr lang="en-US" altLang="zh-TW" sz="1400">
                              <a:latin typeface="Cambria Math" panose="02040503050406030204" pitchFamily="18" charset="0"/>
                            </a:rPr>
                            <m:t>A</m:t>
                          </m:r>
                        </m:e>
                        <m:sub>
                          <m:r>
                            <a:rPr lang="en-US" altLang="zh-TW" sz="1400">
                              <a:latin typeface="Cambria Math" panose="02040503050406030204" pitchFamily="18" charset="0"/>
                            </a:rPr>
                            <m:t>0</m:t>
                          </m:r>
                        </m:sub>
                      </m:sSub>
                      <m:r>
                        <a:rPr lang="en-US" altLang="zh-TW" sz="1400">
                          <a:latin typeface="Cambria Math" panose="02040503050406030204" pitchFamily="18" charset="0"/>
                        </a:rPr>
                        <m:t>=</m:t>
                      </m:r>
                      <m:r>
                        <m:rPr>
                          <m:sty m:val="p"/>
                        </m:rPr>
                        <a:rPr lang="en-US" altLang="zh-TW" sz="1400">
                          <a:latin typeface="Cambria Math" panose="02040503050406030204" pitchFamily="18" charset="0"/>
                        </a:rPr>
                        <m:t>softmax</m:t>
                      </m:r>
                      <m:d>
                        <m:dPr>
                          <m:ctrlPr>
                            <a:rPr lang="en-US" altLang="zh-TW" sz="1400" i="1">
                              <a:latin typeface="Cambria Math" panose="02040503050406030204" pitchFamily="18" charset="0"/>
                            </a:rPr>
                          </m:ctrlPr>
                        </m:dPr>
                        <m:e>
                          <m:f>
                            <m:fPr>
                              <m:ctrlPr>
                                <a:rPr lang="en-US" altLang="zh-TW" sz="1400" i="1">
                                  <a:latin typeface="Cambria Math" panose="02040503050406030204" pitchFamily="18" charset="0"/>
                                </a:rPr>
                              </m:ctrlPr>
                            </m:fPr>
                            <m:num>
                              <m:sSup>
                                <m:sSupPr>
                                  <m:ctrlPr>
                                    <a:rPr lang="en-US" altLang="zh-TW" sz="1400">
                                      <a:latin typeface="Cambria Math" panose="02040503050406030204" pitchFamily="18" charset="0"/>
                                    </a:rPr>
                                  </m:ctrlPr>
                                </m:sSupPr>
                                <m:e>
                                  <m:r>
                                    <m:rPr>
                                      <m:sty m:val="p"/>
                                    </m:rPr>
                                    <a:rPr lang="en-US" altLang="zh-TW" sz="1400">
                                      <a:latin typeface="Cambria Math" panose="02040503050406030204" pitchFamily="18" charset="0"/>
                                    </a:rPr>
                                    <m:t>QK</m:t>
                                  </m:r>
                                </m:e>
                                <m:sup>
                                  <m:r>
                                    <m:rPr>
                                      <m:sty m:val="p"/>
                                    </m:rPr>
                                    <a:rPr lang="en-US" altLang="zh-TW" sz="1400">
                                      <a:latin typeface="Cambria Math" panose="02040503050406030204" pitchFamily="18" charset="0"/>
                                    </a:rPr>
                                    <m:t>T</m:t>
                                  </m:r>
                                </m:sup>
                              </m:sSup>
                            </m:num>
                            <m:den>
                              <m:rad>
                                <m:radPr>
                                  <m:degHide m:val="on"/>
                                  <m:ctrlPr>
                                    <a:rPr lang="en-US" altLang="zh-TW" sz="1400" i="1">
                                      <a:latin typeface="Cambria Math" panose="02040503050406030204" pitchFamily="18" charset="0"/>
                                    </a:rPr>
                                  </m:ctrlPr>
                                </m:radPr>
                                <m:deg/>
                                <m:e>
                                  <m:sSub>
                                    <m:sSubPr>
                                      <m:ctrlPr>
                                        <a:rPr lang="en-US" altLang="zh-TW" sz="1400">
                                          <a:latin typeface="Cambria Math" panose="02040503050406030204" pitchFamily="18" charset="0"/>
                                        </a:rPr>
                                      </m:ctrlPr>
                                    </m:sSubPr>
                                    <m:e>
                                      <m:r>
                                        <m:rPr>
                                          <m:sty m:val="p"/>
                                        </m:rPr>
                                        <a:rPr lang="en-US" altLang="zh-TW" sz="1400">
                                          <a:latin typeface="Cambria Math" panose="02040503050406030204" pitchFamily="18" charset="0"/>
                                        </a:rPr>
                                        <m:t>d</m:t>
                                      </m:r>
                                    </m:e>
                                    <m:sub>
                                      <m:r>
                                        <m:rPr>
                                          <m:sty m:val="p"/>
                                        </m:rPr>
                                        <a:rPr lang="en-US" altLang="zh-TW" sz="1400">
                                          <a:latin typeface="Cambria Math" panose="02040503050406030204" pitchFamily="18" charset="0"/>
                                        </a:rPr>
                                        <m:t>h</m:t>
                                      </m:r>
                                    </m:sub>
                                  </m:sSub>
                                </m:e>
                              </m:rad>
                            </m:den>
                          </m:f>
                        </m:e>
                      </m:d>
                      <m:r>
                        <a:rPr lang="en-US" altLang="zh-TW" sz="1400">
                          <a:latin typeface="Cambria Math" panose="02040503050406030204" pitchFamily="18" charset="0"/>
                        </a:rPr>
                        <m:t>∗</m:t>
                      </m:r>
                      <m:r>
                        <m:rPr>
                          <m:sty m:val="p"/>
                        </m:rPr>
                        <a:rPr lang="en-US" altLang="zh-TW" sz="1400">
                          <a:latin typeface="Cambria Math" panose="02040503050406030204" pitchFamily="18" charset="0"/>
                        </a:rPr>
                        <m:t>V</m:t>
                      </m:r>
                      <m:r>
                        <a:rPr lang="en-US" altLang="zh-TW" sz="1400" b="0" i="0" smtClean="0">
                          <a:latin typeface="Cambria Math" panose="02040503050406030204" pitchFamily="18" charset="0"/>
                        </a:rPr>
                        <m:t>;</m:t>
                      </m:r>
                    </m:oMath>
                  </m:oMathPara>
                </a14:m>
                <a:endParaRPr lang="en-US" altLang="zh-TW" sz="1400" b="0" dirty="0">
                  <a:latin typeface="Cambria Math" panose="02040503050406030204" pitchFamily="18" charset="0"/>
                </a:endParaRPr>
              </a:p>
            </p:txBody>
          </p:sp>
        </mc:Choice>
        <mc:Fallback xmlns="">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285072" y="5182866"/>
                <a:ext cx="1984518" cy="556819"/>
              </a:xfrm>
              <a:prstGeom prst="rect">
                <a:avLst/>
              </a:prstGeom>
              <a:blipFill>
                <a:blip r:embed="rId4"/>
                <a:stretch>
                  <a:fillRect l="-308"/>
                </a:stretch>
              </a:blipFill>
            </p:spPr>
            <p:txBody>
              <a:bodyPr/>
              <a:lstStyle/>
              <a:p>
                <a:r>
                  <a:rPr lang="zh-TW" altLang="en-US">
                    <a:noFill/>
                  </a:rPr>
                  <a:t> </a:t>
                </a:r>
              </a:p>
            </p:txBody>
          </p:sp>
        </mc:Fallback>
      </mc:AlternateContent>
      <p:sp>
        <p:nvSpPr>
          <p:cNvPr id="47" name="文字方塊 46">
            <a:extLst>
              <a:ext uri="{FF2B5EF4-FFF2-40B4-BE49-F238E27FC236}">
                <a16:creationId xmlns:a16="http://schemas.microsoft.com/office/drawing/2014/main" id="{33060B8A-A437-EC33-27D1-26D6696C9A74}"/>
              </a:ext>
            </a:extLst>
          </p:cNvPr>
          <p:cNvSpPr txBox="1"/>
          <p:nvPr/>
        </p:nvSpPr>
        <p:spPr>
          <a:xfrm rot="5400000">
            <a:off x="15249" y="3653381"/>
            <a:ext cx="1803468" cy="490618"/>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rgbClr val="FF0000"/>
                </a:solidFill>
                <a:latin typeface="ADLaM Display" panose="02010000000000000000" pitchFamily="2" charset="0"/>
                <a:cs typeface="ADLaM Display" panose="02010000000000000000" pitchFamily="2" charset="0"/>
              </a:rPr>
              <a:t>T</a:t>
            </a:r>
            <a:r>
              <a:rPr lang="en-US" altLang="zh-TW" sz="1200" dirty="0">
                <a:solidFill>
                  <a:schemeClr val="bg1">
                    <a:lumMod val="50000"/>
                  </a:schemeClr>
                </a:solidFill>
                <a:latin typeface="ADLaM Display" panose="02010000000000000000" pitchFamily="2" charset="0"/>
                <a:cs typeface="ADLaM Display" panose="02010000000000000000" pitchFamily="2" charset="0"/>
              </a:rPr>
              <a: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3" name="文字方塊 52">
            <a:extLst>
              <a:ext uri="{FF2B5EF4-FFF2-40B4-BE49-F238E27FC236}">
                <a16:creationId xmlns:a16="http://schemas.microsoft.com/office/drawing/2014/main" id="{6630B396-C42E-3017-9F89-D6D467930840}"/>
              </a:ext>
            </a:extLst>
          </p:cNvPr>
          <p:cNvSpPr txBox="1"/>
          <p:nvPr/>
        </p:nvSpPr>
        <p:spPr>
          <a:xfrm rot="5400000">
            <a:off x="7440777" y="3645921"/>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7" name="文字方塊 56">
            <a:extLst>
              <a:ext uri="{FF2B5EF4-FFF2-40B4-BE49-F238E27FC236}">
                <a16:creationId xmlns:a16="http://schemas.microsoft.com/office/drawing/2014/main" id="{3663AB4D-BDC1-4C93-2AEB-041AF8B095A9}"/>
              </a:ext>
            </a:extLst>
          </p:cNvPr>
          <p:cNvSpPr txBox="1"/>
          <p:nvPr/>
        </p:nvSpPr>
        <p:spPr>
          <a:xfrm rot="10800000">
            <a:off x="1800176" y="1685164"/>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FF0000"/>
                </a:solidFill>
                <a:effectLst/>
                <a:uLnTx/>
                <a:uFillTx/>
                <a:latin typeface="ADLaM Display" panose="02010000000000000000" pitchFamily="2" charset="0"/>
                <a:ea typeface="ADLaM Display" panose="02010000000000000000" pitchFamily="2" charset="0"/>
                <a:cs typeface="ADLaM Display" panose="02010000000000000000" pitchFamily="2" charset="0"/>
              </a:rPr>
              <a:t>T</a:t>
            </a: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he</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BA220-D674-0845-75E2-0EDBA5B26B49}"/>
            </a:ext>
          </a:extLst>
        </p:cNvPr>
        <p:cNvGrpSpPr/>
        <p:nvPr/>
      </p:nvGrpSpPr>
      <p:grpSpPr>
        <a:xfrm>
          <a:off x="0" y="0"/>
          <a:ext cx="0" cy="0"/>
          <a:chOff x="0" y="0"/>
          <a:chExt cx="0" cy="0"/>
        </a:xfrm>
      </p:grpSpPr>
      <p:sp>
        <p:nvSpPr>
          <p:cNvPr id="119" name="矩形: 圓角 118">
            <a:extLst>
              <a:ext uri="{FF2B5EF4-FFF2-40B4-BE49-F238E27FC236}">
                <a16:creationId xmlns:a16="http://schemas.microsoft.com/office/drawing/2014/main" id="{04C37466-04DA-E6AF-B8D1-85F86E147E41}"/>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59" name="表格 58">
            <a:extLst>
              <a:ext uri="{FF2B5EF4-FFF2-40B4-BE49-F238E27FC236}">
                <a16:creationId xmlns:a16="http://schemas.microsoft.com/office/drawing/2014/main" id="{004C7245-4CF4-A980-8014-E6085B80EE29}"/>
              </a:ext>
            </a:extLst>
          </p:cNvPr>
          <p:cNvGraphicFramePr>
            <a:graphicFrameLocks noGrp="1"/>
          </p:cNvGraphicFramePr>
          <p:nvPr>
            <p:extLst>
              <p:ext uri="{D42A27DB-BD31-4B8C-83A1-F6EECF244321}">
                <p14:modId xmlns:p14="http://schemas.microsoft.com/office/powerpoint/2010/main" val="1766300127"/>
              </p:ext>
            </p:extLst>
          </p:nvPr>
        </p:nvGraphicFramePr>
        <p:xfrm>
          <a:off x="5700400" y="4139473"/>
          <a:ext cx="329690" cy="642609"/>
        </p:xfrm>
        <a:graphic>
          <a:graphicData uri="http://schemas.openxmlformats.org/drawingml/2006/table">
            <a:tbl>
              <a:tblPr firstRow="1" bandRow="1">
                <a:tableStyleId>{5C22544A-7EE6-4342-B048-85BDC9FD1C3A}</a:tableStyleId>
              </a:tblPr>
              <a:tblGrid>
                <a:gridCol w="329690">
                  <a:extLst>
                    <a:ext uri="{9D8B030D-6E8A-4147-A177-3AD203B41FA5}">
                      <a16:colId xmlns:a16="http://schemas.microsoft.com/office/drawing/2014/main" val="871242339"/>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bl>
          </a:graphicData>
        </a:graphic>
      </p:graphicFrame>
      <p:sp>
        <p:nvSpPr>
          <p:cNvPr id="71" name="文字方塊 70">
            <a:extLst>
              <a:ext uri="{FF2B5EF4-FFF2-40B4-BE49-F238E27FC236}">
                <a16:creationId xmlns:a16="http://schemas.microsoft.com/office/drawing/2014/main" id="{A9409AB7-AD7E-6304-69A6-D422C0B3B45D}"/>
              </a:ext>
            </a:extLst>
          </p:cNvPr>
          <p:cNvSpPr txBox="1"/>
          <p:nvPr/>
        </p:nvSpPr>
        <p:spPr>
          <a:xfrm>
            <a:off x="6092661" y="4360895"/>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7" name="標題 1">
            <a:extLst>
              <a:ext uri="{FF2B5EF4-FFF2-40B4-BE49-F238E27FC236}">
                <a16:creationId xmlns:a16="http://schemas.microsoft.com/office/drawing/2014/main" id="{316C7A2F-4EA3-D959-806A-D568D6A4069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Liner Projection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Through self-attention, the semantics of the entire sentence are aggregated into the last token, which is then projected via linear layer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Softmax</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to select the next word based on probability distribution.</a:t>
            </a:r>
          </a:p>
        </p:txBody>
      </p:sp>
      <p:graphicFrame>
        <p:nvGraphicFramePr>
          <p:cNvPr id="16" name="表格 15">
            <a:extLst>
              <a:ext uri="{FF2B5EF4-FFF2-40B4-BE49-F238E27FC236}">
                <a16:creationId xmlns:a16="http://schemas.microsoft.com/office/drawing/2014/main" id="{CDB54C7F-6BC2-E8A6-2F84-7F6624ABA247}"/>
              </a:ext>
            </a:extLst>
          </p:cNvPr>
          <p:cNvGraphicFramePr>
            <a:graphicFrameLocks noGrp="1"/>
          </p:cNvGraphicFramePr>
          <p:nvPr>
            <p:extLst>
              <p:ext uri="{D42A27DB-BD31-4B8C-83A1-F6EECF244321}">
                <p14:modId xmlns:p14="http://schemas.microsoft.com/office/powerpoint/2010/main" val="3125546128"/>
              </p:ext>
            </p:extLst>
          </p:nvPr>
        </p:nvGraphicFramePr>
        <p:xfrm>
          <a:off x="4989431" y="3429000"/>
          <a:ext cx="653931" cy="2356233"/>
        </p:xfrm>
        <a:graphic>
          <a:graphicData uri="http://schemas.openxmlformats.org/drawingml/2006/table">
            <a:tbl>
              <a:tblPr firstRow="1" bandRow="1">
                <a:tableStyleId>{5C22544A-7EE6-4342-B048-85BDC9FD1C3A}</a:tableStyleId>
              </a:tblPr>
              <a:tblGrid>
                <a:gridCol w="223729">
                  <a:extLst>
                    <a:ext uri="{9D8B030D-6E8A-4147-A177-3AD203B41FA5}">
                      <a16:colId xmlns:a16="http://schemas.microsoft.com/office/drawing/2014/main" val="871242339"/>
                    </a:ext>
                  </a:extLst>
                </a:gridCol>
                <a:gridCol w="215101">
                  <a:extLst>
                    <a:ext uri="{9D8B030D-6E8A-4147-A177-3AD203B41FA5}">
                      <a16:colId xmlns:a16="http://schemas.microsoft.com/office/drawing/2014/main" val="1823401774"/>
                    </a:ext>
                  </a:extLst>
                </a:gridCol>
                <a:gridCol w="215101">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D9CA7174-5DCE-717E-8631-0A0929E65FD9}"/>
                  </a:ext>
                </a:extLst>
              </p:cNvPr>
              <p:cNvSpPr txBox="1"/>
              <p:nvPr/>
            </p:nvSpPr>
            <p:spPr>
              <a:xfrm>
                <a:off x="4327671" y="1284363"/>
                <a:ext cx="887935" cy="529697"/>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400" b="0" i="0" smtClean="0">
                          <a:latin typeface="Cambria Math" panose="02040503050406030204" pitchFamily="18" charset="0"/>
                        </a:rPr>
                        <m:t>Pi</m:t>
                      </m:r>
                      <m:r>
                        <a:rPr lang="en-US" altLang="zh-TW" sz="1400" b="0" i="0" smtClean="0">
                          <a:latin typeface="Cambria Math" panose="02040503050406030204" pitchFamily="18" charset="0"/>
                        </a:rPr>
                        <m:t>=</m:t>
                      </m:r>
                      <m:f>
                        <m:fPr>
                          <m:ctrlPr>
                            <a:rPr lang="en-US" altLang="zh-TW" sz="1400" b="0" i="1" smtClean="0">
                              <a:latin typeface="Cambria Math" panose="02040503050406030204" pitchFamily="18" charset="0"/>
                            </a:rPr>
                          </m:ctrlPr>
                        </m:fPr>
                        <m:num>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Zi</m:t>
                              </m:r>
                            </m:sup>
                          </m:sSup>
                        </m:num>
                        <m:den>
                          <m:nary>
                            <m:naryPr>
                              <m:chr m:val="∑"/>
                              <m:ctrlPr>
                                <a:rPr lang="en-US" altLang="zh-TW" sz="1400" b="0" i="0" smtClean="0">
                                  <a:latin typeface="Cambria Math" panose="02040503050406030204" pitchFamily="18" charset="0"/>
                                </a:rPr>
                              </m:ctrlPr>
                            </m:naryPr>
                            <m:sub>
                              <m:r>
                                <m:rPr>
                                  <m:sty m:val="p"/>
                                  <m:brk m:alnAt="23"/>
                                </m:rPr>
                                <a:rPr lang="en-US" altLang="zh-TW" sz="1400" b="0" i="0" smtClean="0">
                                  <a:latin typeface="Cambria Math" panose="02040503050406030204" pitchFamily="18" charset="0"/>
                                </a:rPr>
                                <m:t>j</m:t>
                              </m:r>
                            </m:sub>
                            <m:sup>
                              <m:r>
                                <m:rPr>
                                  <m:sty m:val="p"/>
                                </m:rPr>
                                <a:rPr lang="en-US" altLang="zh-TW" sz="1400" b="0" i="0" smtClean="0">
                                  <a:latin typeface="Cambria Math" panose="02040503050406030204" pitchFamily="18" charset="0"/>
                                </a:rPr>
                                <m:t>V</m:t>
                              </m:r>
                            </m:sup>
                            <m:e>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Zj</m:t>
                                  </m:r>
                                </m:sup>
                              </m:sSup>
                            </m:e>
                          </m:nary>
                        </m:den>
                      </m:f>
                    </m:oMath>
                  </m:oMathPara>
                </a14:m>
                <a:endParaRPr lang="zh-TW" altLang="en-US" sz="1400" dirty="0"/>
              </a:p>
            </p:txBody>
          </p:sp>
        </mc:Choice>
        <mc:Fallback xmlns="">
          <p:sp>
            <p:nvSpPr>
              <p:cNvPr id="17" name="文字方塊 16">
                <a:extLst>
                  <a:ext uri="{FF2B5EF4-FFF2-40B4-BE49-F238E27FC236}">
                    <a16:creationId xmlns:a16="http://schemas.microsoft.com/office/drawing/2014/main" id="{D9CA7174-5DCE-717E-8631-0A0929E65FD9}"/>
                  </a:ext>
                </a:extLst>
              </p:cNvPr>
              <p:cNvSpPr txBox="1">
                <a:spLocks noRot="1" noChangeAspect="1" noMove="1" noResize="1" noEditPoints="1" noAdjustHandles="1" noChangeArrowheads="1" noChangeShapeType="1" noTextEdit="1"/>
              </p:cNvSpPr>
              <p:nvPr/>
            </p:nvSpPr>
            <p:spPr>
              <a:xfrm>
                <a:off x="4327671" y="1284363"/>
                <a:ext cx="887935" cy="529697"/>
              </a:xfrm>
              <a:prstGeom prst="rect">
                <a:avLst/>
              </a:prstGeom>
              <a:blipFill>
                <a:blip r:embed="rId3"/>
                <a:stretch>
                  <a:fillRect b="-1149"/>
                </a:stretch>
              </a:blipFill>
            </p:spPr>
            <p:txBody>
              <a:bodyPr/>
              <a:lstStyle/>
              <a:p>
                <a:r>
                  <a:rPr lang="zh-TW" altLang="en-US">
                    <a:noFill/>
                  </a:rPr>
                  <a:t> </a:t>
                </a:r>
              </a:p>
            </p:txBody>
          </p:sp>
        </mc:Fallback>
      </mc:AlternateContent>
      <p:cxnSp>
        <p:nvCxnSpPr>
          <p:cNvPr id="29" name="接點: 弧形 28">
            <a:extLst>
              <a:ext uri="{FF2B5EF4-FFF2-40B4-BE49-F238E27FC236}">
                <a16:creationId xmlns:a16="http://schemas.microsoft.com/office/drawing/2014/main" id="{7D7E1976-1F2C-2A7B-3013-1D1813EB39CB}"/>
              </a:ext>
            </a:extLst>
          </p:cNvPr>
          <p:cNvCxnSpPr>
            <a:cxnSpLocks/>
            <a:stCxn id="21" idx="3"/>
            <a:endCxn id="59" idx="2"/>
          </p:cNvCxnSpPr>
          <p:nvPr/>
        </p:nvCxnSpPr>
        <p:spPr>
          <a:xfrm flipV="1">
            <a:off x="4618013" y="4782082"/>
            <a:ext cx="1247232" cy="126279"/>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7" name="表格 36">
            <a:extLst>
              <a:ext uri="{FF2B5EF4-FFF2-40B4-BE49-F238E27FC236}">
                <a16:creationId xmlns:a16="http://schemas.microsoft.com/office/drawing/2014/main" id="{07E99AC8-247B-A4E7-58B6-175022D8A184}"/>
              </a:ext>
            </a:extLst>
          </p:cNvPr>
          <p:cNvGraphicFramePr>
            <a:graphicFrameLocks noGrp="1"/>
          </p:cNvGraphicFramePr>
          <p:nvPr>
            <p:extLst>
              <p:ext uri="{D42A27DB-BD31-4B8C-83A1-F6EECF244321}">
                <p14:modId xmlns:p14="http://schemas.microsoft.com/office/powerpoint/2010/main" val="2475551307"/>
              </p:ext>
            </p:extLst>
          </p:nvPr>
        </p:nvGraphicFramePr>
        <p:xfrm>
          <a:off x="6340303" y="3429000"/>
          <a:ext cx="593344" cy="2356233"/>
        </p:xfrm>
        <a:graphic>
          <a:graphicData uri="http://schemas.openxmlformats.org/drawingml/2006/table">
            <a:tbl>
              <a:tblPr firstRow="1" bandRow="1">
                <a:tableStyleId>{5C22544A-7EE6-4342-B048-85BDC9FD1C3A}</a:tableStyleId>
              </a:tblPr>
              <a:tblGrid>
                <a:gridCol w="296672">
                  <a:extLst>
                    <a:ext uri="{9D8B030D-6E8A-4147-A177-3AD203B41FA5}">
                      <a16:colId xmlns:a16="http://schemas.microsoft.com/office/drawing/2014/main" val="1424301285"/>
                    </a:ext>
                  </a:extLst>
                </a:gridCol>
                <a:gridCol w="296672">
                  <a:extLst>
                    <a:ext uri="{9D8B030D-6E8A-4147-A177-3AD203B41FA5}">
                      <a16:colId xmlns:a16="http://schemas.microsoft.com/office/drawing/2014/main" val="390976553"/>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2.58</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3.82</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4.05</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3.13</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9904019"/>
                  </a:ext>
                </a:extLst>
              </a:tr>
            </a:tbl>
          </a:graphicData>
        </a:graphic>
      </p:graphicFrame>
      <p:graphicFrame>
        <p:nvGraphicFramePr>
          <p:cNvPr id="45" name="表格 44">
            <a:extLst>
              <a:ext uri="{FF2B5EF4-FFF2-40B4-BE49-F238E27FC236}">
                <a16:creationId xmlns:a16="http://schemas.microsoft.com/office/drawing/2014/main" id="{E766FA3A-794A-171A-9E07-F82827C8A6BB}"/>
              </a:ext>
            </a:extLst>
          </p:cNvPr>
          <p:cNvGraphicFramePr>
            <a:graphicFrameLocks noGrp="1"/>
          </p:cNvGraphicFramePr>
          <p:nvPr>
            <p:extLst>
              <p:ext uri="{D42A27DB-BD31-4B8C-83A1-F6EECF244321}">
                <p14:modId xmlns:p14="http://schemas.microsoft.com/office/powerpoint/2010/main" val="2554146919"/>
              </p:ext>
            </p:extLst>
          </p:nvPr>
        </p:nvGraphicFramePr>
        <p:xfrm>
          <a:off x="7230376" y="3429000"/>
          <a:ext cx="593345" cy="2356233"/>
        </p:xfrm>
        <a:graphic>
          <a:graphicData uri="http://schemas.openxmlformats.org/drawingml/2006/table">
            <a:tbl>
              <a:tblPr firstRow="1" bandRow="1">
                <a:tableStyleId>{5C22544A-7EE6-4342-B048-85BDC9FD1C3A}</a:tableStyleId>
              </a:tblPr>
              <a:tblGrid>
                <a:gridCol w="593345">
                  <a:extLst>
                    <a:ext uri="{9D8B030D-6E8A-4147-A177-3AD203B41FA5}">
                      <a16:colId xmlns:a16="http://schemas.microsoft.com/office/drawing/2014/main" val="1424301285"/>
                    </a:ext>
                  </a:extLst>
                </a:gridCol>
              </a:tblGrid>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7225911"/>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Pangram</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136641310"/>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9904019"/>
                  </a:ext>
                </a:extLst>
              </a:tr>
            </a:tbl>
          </a:graphicData>
        </a:graphic>
      </p:graphicFrame>
      <p:graphicFrame>
        <p:nvGraphicFramePr>
          <p:cNvPr id="48" name="表格 47">
            <a:extLst>
              <a:ext uri="{FF2B5EF4-FFF2-40B4-BE49-F238E27FC236}">
                <a16:creationId xmlns:a16="http://schemas.microsoft.com/office/drawing/2014/main" id="{C4CB5144-9E6A-A78A-28A1-11B5AEEF1451}"/>
              </a:ext>
            </a:extLst>
          </p:cNvPr>
          <p:cNvGraphicFramePr>
            <a:graphicFrameLocks noGrp="1"/>
          </p:cNvGraphicFramePr>
          <p:nvPr>
            <p:extLst>
              <p:ext uri="{D42A27DB-BD31-4B8C-83A1-F6EECF244321}">
                <p14:modId xmlns:p14="http://schemas.microsoft.com/office/powerpoint/2010/main" val="3568653392"/>
              </p:ext>
            </p:extLst>
          </p:nvPr>
        </p:nvGraphicFramePr>
        <p:xfrm>
          <a:off x="3845036" y="3518547"/>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21" name="矩形 20">
            <a:extLst>
              <a:ext uri="{FF2B5EF4-FFF2-40B4-BE49-F238E27FC236}">
                <a16:creationId xmlns:a16="http://schemas.microsoft.com/office/drawing/2014/main" id="{7F14CD4B-AF5E-BD8F-3EFC-A1025EBD01C8}"/>
              </a:ext>
            </a:extLst>
          </p:cNvPr>
          <p:cNvSpPr/>
          <p:nvPr/>
        </p:nvSpPr>
        <p:spPr>
          <a:xfrm>
            <a:off x="3766398" y="4762472"/>
            <a:ext cx="851615"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4" name="矩形 53">
            <a:extLst>
              <a:ext uri="{FF2B5EF4-FFF2-40B4-BE49-F238E27FC236}">
                <a16:creationId xmlns:a16="http://schemas.microsoft.com/office/drawing/2014/main" id="{71397E8F-C433-C4B3-A35C-AF3C0AE21D66}"/>
              </a:ext>
            </a:extLst>
          </p:cNvPr>
          <p:cNvSpPr/>
          <p:nvPr/>
        </p:nvSpPr>
        <p:spPr>
          <a:xfrm>
            <a:off x="7178407" y="5101330"/>
            <a:ext cx="692447"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60" name="矩形 59">
            <a:extLst>
              <a:ext uri="{FF2B5EF4-FFF2-40B4-BE49-F238E27FC236}">
                <a16:creationId xmlns:a16="http://schemas.microsoft.com/office/drawing/2014/main" id="{FB8070AC-1AF7-6EC9-CF72-771626A3F4BE}"/>
              </a:ext>
            </a:extLst>
          </p:cNvPr>
          <p:cNvSpPr/>
          <p:nvPr/>
        </p:nvSpPr>
        <p:spPr>
          <a:xfrm>
            <a:off x="1758133" y="403965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sp>
        <p:nvSpPr>
          <p:cNvPr id="65" name="矩形 64">
            <a:extLst>
              <a:ext uri="{FF2B5EF4-FFF2-40B4-BE49-F238E27FC236}">
                <a16:creationId xmlns:a16="http://schemas.microsoft.com/office/drawing/2014/main" id="{F1F9DC47-045E-21F6-CD89-AA9A7B79DD98}"/>
              </a:ext>
            </a:extLst>
          </p:cNvPr>
          <p:cNvSpPr/>
          <p:nvPr/>
        </p:nvSpPr>
        <p:spPr>
          <a:xfrm>
            <a:off x="1748763" y="4498305"/>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new</a:t>
            </a:r>
          </a:p>
        </p:txBody>
      </p:sp>
      <p:sp>
        <p:nvSpPr>
          <p:cNvPr id="72" name="文字方塊 71">
            <a:extLst>
              <a:ext uri="{FF2B5EF4-FFF2-40B4-BE49-F238E27FC236}">
                <a16:creationId xmlns:a16="http://schemas.microsoft.com/office/drawing/2014/main" id="{41E5C35E-AC01-8BC0-0CCD-2946FD7821FD}"/>
              </a:ext>
            </a:extLst>
          </p:cNvPr>
          <p:cNvSpPr txBox="1"/>
          <p:nvPr/>
        </p:nvSpPr>
        <p:spPr>
          <a:xfrm>
            <a:off x="3139199" y="417801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74" name="文字方塊 73">
            <a:extLst>
              <a:ext uri="{FF2B5EF4-FFF2-40B4-BE49-F238E27FC236}">
                <a16:creationId xmlns:a16="http://schemas.microsoft.com/office/drawing/2014/main" id="{269A41B6-9085-A715-E14B-EB9361B7E6AC}"/>
              </a:ext>
            </a:extLst>
          </p:cNvPr>
          <p:cNvSpPr txBox="1"/>
          <p:nvPr/>
        </p:nvSpPr>
        <p:spPr>
          <a:xfrm>
            <a:off x="6969543" y="515577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cxnSp>
        <p:nvCxnSpPr>
          <p:cNvPr id="79" name="接點: 肘形 78">
            <a:extLst>
              <a:ext uri="{FF2B5EF4-FFF2-40B4-BE49-F238E27FC236}">
                <a16:creationId xmlns:a16="http://schemas.microsoft.com/office/drawing/2014/main" id="{6EEED89E-FB74-A4B7-C7FC-62751F06F991}"/>
              </a:ext>
            </a:extLst>
          </p:cNvPr>
          <p:cNvCxnSpPr>
            <a:cxnSpLocks/>
            <a:stCxn id="54" idx="2"/>
            <a:endCxn id="65" idx="2"/>
          </p:cNvCxnSpPr>
          <p:nvPr/>
        </p:nvCxnSpPr>
        <p:spPr>
          <a:xfrm rot="5400000" flipH="1">
            <a:off x="4341320" y="2209798"/>
            <a:ext cx="737283" cy="5629338"/>
          </a:xfrm>
          <a:prstGeom prst="bentConnector3">
            <a:avLst>
              <a:gd name="adj1" fmla="val -72347"/>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3" name="矩形 82">
            <a:extLst>
              <a:ext uri="{FF2B5EF4-FFF2-40B4-BE49-F238E27FC236}">
                <a16:creationId xmlns:a16="http://schemas.microsoft.com/office/drawing/2014/main" id="{E84E440B-3B37-4C61-027B-C40CE1DDC966}"/>
              </a:ext>
            </a:extLst>
          </p:cNvPr>
          <p:cNvSpPr/>
          <p:nvPr/>
        </p:nvSpPr>
        <p:spPr>
          <a:xfrm>
            <a:off x="2259361" y="3645024"/>
            <a:ext cx="1262051" cy="1263338"/>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56" name="矩形: 圓角 55">
            <a:extLst>
              <a:ext uri="{FF2B5EF4-FFF2-40B4-BE49-F238E27FC236}">
                <a16:creationId xmlns:a16="http://schemas.microsoft.com/office/drawing/2014/main" id="{58430F90-8B83-79EE-756C-5D92AA85DAC8}"/>
              </a:ext>
            </a:extLst>
          </p:cNvPr>
          <p:cNvSpPr/>
          <p:nvPr/>
        </p:nvSpPr>
        <p:spPr>
          <a:xfrm flipH="1">
            <a:off x="3348063" y="4039657"/>
            <a:ext cx="274319" cy="457200"/>
          </a:xfrm>
          <a:prstGeom prst="roundRect">
            <a:avLst/>
          </a:prstGeom>
          <a:solidFill>
            <a:schemeClr val="accent6">
              <a:lumMod val="20000"/>
              <a:lumOff val="80000"/>
            </a:schemeClr>
          </a:solidFill>
          <a:ln w="254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6">
                    <a:lumMod val="75000"/>
                  </a:schemeClr>
                </a:solidFill>
                <a:latin typeface="ADLaM Display" panose="02010000000000000000" pitchFamily="2" charset="0"/>
                <a:cs typeface="ADLaM Display" panose="02010000000000000000" pitchFamily="2" charset="0"/>
              </a:rPr>
              <a:t>X</a:t>
            </a:r>
            <a:r>
              <a:rPr lang="en-US" altLang="zh-TW" sz="1400" baseline="-25000" dirty="0">
                <a:solidFill>
                  <a:schemeClr val="accent6">
                    <a:lumMod val="75000"/>
                  </a:schemeClr>
                </a:solidFill>
                <a:latin typeface="ADLaM Display" panose="02010000000000000000" pitchFamily="2" charset="0"/>
                <a:cs typeface="ADLaM Display" panose="02010000000000000000" pitchFamily="2" charset="0"/>
              </a:rPr>
              <a:t>L</a:t>
            </a:r>
            <a:endParaRPr lang="zh-TW" altLang="en-US" sz="1400" baseline="-250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85" name="文字方塊 84">
            <a:extLst>
              <a:ext uri="{FF2B5EF4-FFF2-40B4-BE49-F238E27FC236}">
                <a16:creationId xmlns:a16="http://schemas.microsoft.com/office/drawing/2014/main" id="{6EC46F66-CBDA-2F0A-91D4-5129A7201517}"/>
              </a:ext>
            </a:extLst>
          </p:cNvPr>
          <p:cNvSpPr txBox="1"/>
          <p:nvPr/>
        </p:nvSpPr>
        <p:spPr>
          <a:xfrm>
            <a:off x="3338691" y="3854250"/>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7" name="文字方塊 86">
            <a:extLst>
              <a:ext uri="{FF2B5EF4-FFF2-40B4-BE49-F238E27FC236}">
                <a16:creationId xmlns:a16="http://schemas.microsoft.com/office/drawing/2014/main" id="{86B99801-562D-5257-FAD2-710CF1C17BD9}"/>
              </a:ext>
            </a:extLst>
          </p:cNvPr>
          <p:cNvSpPr txBox="1"/>
          <p:nvPr/>
        </p:nvSpPr>
        <p:spPr>
          <a:xfrm>
            <a:off x="7378099" y="4932004"/>
            <a:ext cx="293061" cy="144971"/>
          </a:xfrm>
          <a:prstGeom prst="rect">
            <a:avLst/>
          </a:prstGeom>
          <a:noFill/>
        </p:spPr>
        <p:txBody>
          <a:bodyPr wrap="none" lIns="0" tIns="0" rIns="0" bIns="0" rtlCol="0" anchor="ctr" anchorCtr="1">
            <a:noAutofit/>
          </a:bodyPr>
          <a:lstStyle/>
          <a:p>
            <a:pPr algn="ctr"/>
            <a:r>
              <a:rPr lang="en-US" altLang="zh-TW" sz="1200" b="1" dirty="0"/>
              <a:t>1*d</a:t>
            </a:r>
            <a:endParaRPr lang="zh-TW" altLang="en-US" sz="1200" b="1" dirty="0"/>
          </a:p>
        </p:txBody>
      </p:sp>
      <p:sp>
        <p:nvSpPr>
          <p:cNvPr id="89" name="文字方塊 88">
            <a:extLst>
              <a:ext uri="{FF2B5EF4-FFF2-40B4-BE49-F238E27FC236}">
                <a16:creationId xmlns:a16="http://schemas.microsoft.com/office/drawing/2014/main" id="{6C7414D9-AFED-F622-8E44-652E7F655FE8}"/>
              </a:ext>
            </a:extLst>
          </p:cNvPr>
          <p:cNvSpPr txBox="1"/>
          <p:nvPr/>
        </p:nvSpPr>
        <p:spPr>
          <a:xfrm>
            <a:off x="5169865" y="3259674"/>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91" name="文字方塊 90">
            <a:extLst>
              <a:ext uri="{FF2B5EF4-FFF2-40B4-BE49-F238E27FC236}">
                <a16:creationId xmlns:a16="http://schemas.microsoft.com/office/drawing/2014/main" id="{F1777611-7A8F-7844-B1A9-BA6DBA484F5C}"/>
              </a:ext>
            </a:extLst>
          </p:cNvPr>
          <p:cNvSpPr txBox="1"/>
          <p:nvPr/>
        </p:nvSpPr>
        <p:spPr>
          <a:xfrm>
            <a:off x="5715163" y="3932101"/>
            <a:ext cx="293061" cy="144971"/>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93" name="文字方塊 92">
            <a:extLst>
              <a:ext uri="{FF2B5EF4-FFF2-40B4-BE49-F238E27FC236}">
                <a16:creationId xmlns:a16="http://schemas.microsoft.com/office/drawing/2014/main" id="{ED318108-B6F5-9A25-8AA9-E3F0F5141359}"/>
              </a:ext>
            </a:extLst>
          </p:cNvPr>
          <p:cNvSpPr txBox="1"/>
          <p:nvPr/>
        </p:nvSpPr>
        <p:spPr>
          <a:xfrm>
            <a:off x="7378099" y="3259672"/>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Tree>
    <p:extLst>
      <p:ext uri="{BB962C8B-B14F-4D97-AF65-F5344CB8AC3E}">
        <p14:creationId xmlns:p14="http://schemas.microsoft.com/office/powerpoint/2010/main" val="28598052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55B1EB7E-397A-954F-56E5-1FC4D79CD776}"/>
                  </a:ext>
                </a:extLst>
              </p:cNvPr>
              <p:cNvSpPr txBox="1"/>
              <p:nvPr/>
            </p:nvSpPr>
            <p:spPr>
              <a:xfrm>
                <a:off x="5993239" y="5439910"/>
                <a:ext cx="632866" cy="378502"/>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000" b="0" i="0" smtClean="0">
                          <a:latin typeface="Cambria Math" panose="02040503050406030204" pitchFamily="18" charset="0"/>
                        </a:rPr>
                        <m:t>Pi</m:t>
                      </m:r>
                      <m:r>
                        <a:rPr lang="en-US" altLang="zh-TW" sz="1000" b="0" i="0" smtClean="0">
                          <a:latin typeface="Cambria Math" panose="02040503050406030204" pitchFamily="18" charset="0"/>
                        </a:rPr>
                        <m:t>=</m:t>
                      </m:r>
                      <m:f>
                        <m:fPr>
                          <m:ctrlPr>
                            <a:rPr lang="en-US" altLang="zh-TW" sz="1000" b="0" i="1" smtClean="0">
                              <a:latin typeface="Cambria Math" panose="02040503050406030204" pitchFamily="18" charset="0"/>
                            </a:rPr>
                          </m:ctrlPr>
                        </m:fPr>
                        <m:num>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Zi</m:t>
                              </m:r>
                            </m:sup>
                          </m:sSup>
                        </m:num>
                        <m:den>
                          <m:nary>
                            <m:naryPr>
                              <m:chr m:val="∑"/>
                              <m:ctrlPr>
                                <a:rPr lang="en-US" altLang="zh-TW" sz="1000" b="0" i="0" smtClean="0">
                                  <a:latin typeface="Cambria Math" panose="02040503050406030204" pitchFamily="18" charset="0"/>
                                </a:rPr>
                              </m:ctrlPr>
                            </m:naryPr>
                            <m:sub>
                              <m:r>
                                <m:rPr>
                                  <m:sty m:val="p"/>
                                  <m:brk m:alnAt="23"/>
                                </m:rPr>
                                <a:rPr lang="en-US" altLang="zh-TW" sz="1000" b="0" i="0" smtClean="0">
                                  <a:latin typeface="Cambria Math" panose="02040503050406030204" pitchFamily="18" charset="0"/>
                                </a:rPr>
                                <m:t>j</m:t>
                              </m:r>
                            </m:sub>
                            <m:sup>
                              <m:r>
                                <m:rPr>
                                  <m:sty m:val="p"/>
                                </m:rPr>
                                <a:rPr lang="en-US" altLang="zh-TW" sz="1000" b="0" i="0" smtClean="0">
                                  <a:latin typeface="Cambria Math" panose="02040503050406030204" pitchFamily="18" charset="0"/>
                                </a:rPr>
                                <m:t>V</m:t>
                              </m:r>
                            </m:sup>
                            <m:e>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Zj</m:t>
                                  </m:r>
                                </m:sup>
                              </m:sSup>
                            </m:e>
                          </m:nary>
                        </m:den>
                      </m:f>
                    </m:oMath>
                  </m:oMathPara>
                </a14:m>
                <a:endParaRPr lang="zh-TW" altLang="en-US" sz="1000" dirty="0"/>
              </a:p>
            </p:txBody>
          </p:sp>
        </mc:Choice>
        <mc:Fallback xmlns="">
          <p:sp>
            <p:nvSpPr>
              <p:cNvPr id="7" name="文字方塊 6">
                <a:extLst>
                  <a:ext uri="{FF2B5EF4-FFF2-40B4-BE49-F238E27FC236}">
                    <a16:creationId xmlns:a16="http://schemas.microsoft.com/office/drawing/2014/main" id="{55B1EB7E-397A-954F-56E5-1FC4D79CD776}"/>
                  </a:ext>
                </a:extLst>
              </p:cNvPr>
              <p:cNvSpPr txBox="1">
                <a:spLocks noRot="1" noChangeAspect="1" noMove="1" noResize="1" noEditPoints="1" noAdjustHandles="1" noChangeArrowheads="1" noChangeShapeType="1" noTextEdit="1"/>
              </p:cNvSpPr>
              <p:nvPr/>
            </p:nvSpPr>
            <p:spPr>
              <a:xfrm>
                <a:off x="5993239" y="5439910"/>
                <a:ext cx="632866" cy="378502"/>
              </a:xfrm>
              <a:prstGeom prst="rect">
                <a:avLst/>
              </a:prstGeom>
              <a:blipFill>
                <a:blip r:embed="rId5"/>
                <a:stretch>
                  <a:fillRect l="-3846" t="-14516" r="-36538" b="-1016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17974</Words>
  <Application>Microsoft Office PowerPoint</Application>
  <PresentationFormat>如螢幕大小 (4:3)</PresentationFormat>
  <Paragraphs>3045</Paragraphs>
  <Slides>48</Slides>
  <Notes>40</Notes>
  <HiddenSlides>6</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新細明體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1923</cp:revision>
  <cp:lastPrinted>2024-07-30T01:44:15Z</cp:lastPrinted>
  <dcterms:created xsi:type="dcterms:W3CDTF">2019-11-08T03:01:47Z</dcterms:created>
  <dcterms:modified xsi:type="dcterms:W3CDTF">2026-09-13T09:57:36Z</dcterms:modified>
</cp:coreProperties>
</file>