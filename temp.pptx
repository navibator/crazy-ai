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3561" r:id="rId2"/>
    <p:sldId id="3560" r:id="rId3"/>
    <p:sldId id="3563" r:id="rId4"/>
    <p:sldId id="3565" r:id="rId5"/>
    <p:sldId id="3567" r:id="rId6"/>
    <p:sldId id="3566" r:id="rId7"/>
    <p:sldId id="3571" r:id="rId8"/>
    <p:sldId id="3564" r:id="rId9"/>
    <p:sldId id="3570" r:id="rId10"/>
    <p:sldId id="3569" r:id="rId11"/>
    <p:sldId id="3568" r:id="rId12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  <a:srgbClr val="996600"/>
    <a:srgbClr val="CC9900"/>
    <a:srgbClr val="CCCC00"/>
    <a:srgbClr val="FFCC66"/>
    <a:srgbClr val="FDF3DB"/>
    <a:srgbClr val="2260DC"/>
    <a:srgbClr val="F0F0F0"/>
    <a:srgbClr val="F8D462"/>
    <a:srgbClr val="4C6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0" autoAdjust="0"/>
    <p:restoredTop sz="65121" autoAdjust="0"/>
  </p:normalViewPr>
  <p:slideViewPr>
    <p:cSldViewPr>
      <p:cViewPr>
        <p:scale>
          <a:sx n="100" d="100"/>
          <a:sy n="100" d="100"/>
        </p:scale>
        <p:origin x="900" y="59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CA118-237F-B4E2-2712-8830EBE37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3453D5E-C352-FFB5-43A0-8712E0510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A023EC0-FDAF-3863-C8C3-E505C2CD18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FBD2B7-44AF-48A0-03E5-A8221130D6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69551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A8DB3-6B20-93ED-F863-831DBCFDF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DFD8EE6-B9DF-E307-AC98-43ECEB2A19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587BD88-FF6A-4138-E1BA-535EA46C9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F176D6B-5E66-275F-C3FD-CAC657876A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51338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C8A68-C786-DDA4-580D-BDB5B6068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383C802-581D-506E-B8A8-07C5D0D176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AAD8AAD-CC60-79F5-5718-88FA70E2A7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660AAEB-7AFE-DD6B-F79D-5BA8B62DB8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205288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D2DAF-CB07-9EE1-277C-50B67690F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B1B7FB3-22F2-06CA-D1A5-9800E5FD84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831CC3A-B0FF-0B4C-F895-792B31A955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9639DC5-7BB6-A50C-9A56-8176BFF938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35426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7AAAE-5853-E855-D26E-097677ADF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B295FC2-5C6D-5267-F6CD-000B94FBA8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6868EA4-188D-1C46-852C-B9BAB6751B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DF1D34A-083C-0AF6-A112-8E99BDCC08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38864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6A63A-8654-C8B7-FC5E-E84D7EA5E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07AF56C-A6AB-7BFF-0A0F-36EF96D6E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B3308F4-8A70-3683-84B0-9F122D0E13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87F17D-1FC8-A7E2-4E8D-12814EBE76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06188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6A090-B544-FF9B-E97A-8098CD07D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CC0B598-0BE9-8DB3-1BD0-4ECF83D5D1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3ED7304-B2CF-7A66-7C30-810D61A1E9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狀態空間模型與線性注意力是「一體兩面」</a:t>
            </a:r>
            <a:r>
              <a:rPr lang="zh-TW" altLang="zh-TW" dirty="0"/>
              <a:t>。</a:t>
            </a:r>
            <a:br>
              <a:rPr lang="en-US" altLang="zh-TW" dirty="0"/>
            </a:br>
            <a:r>
              <a:rPr lang="zh-TW" altLang="zh-TW" dirty="0"/>
              <a:t>SSM 是從「控制工程與時間序列微分」出發的連續視角；線性注意力是從「矩陣乘法與關聯檢索」出發的離散視角。</a:t>
            </a:r>
            <a:br>
              <a:rPr lang="en-US" altLang="zh-TW" dirty="0"/>
            </a:br>
            <a:r>
              <a:rPr lang="zh-TW" altLang="zh-TW" dirty="0"/>
              <a:t>前沿</a:t>
            </a:r>
            <a:r>
              <a:rPr lang="zh-TW" altLang="en-US" dirty="0"/>
              <a:t>模型</a:t>
            </a:r>
            <a:r>
              <a:rPr lang="en-US" altLang="zh-TW" dirty="0"/>
              <a:t>(</a:t>
            </a:r>
            <a:r>
              <a:rPr lang="zh-TW" altLang="zh-TW" dirty="0"/>
              <a:t>如GDN2與Mamba-3</a:t>
            </a:r>
            <a:r>
              <a:rPr lang="en-US" altLang="zh-TW" dirty="0"/>
              <a:t>)</a:t>
            </a:r>
            <a:r>
              <a:rPr lang="zh-TW" altLang="zh-TW" dirty="0"/>
              <a:t>已將兩者融合成同一個高速</a:t>
            </a:r>
            <a:r>
              <a:rPr lang="en-US" altLang="zh-TW" dirty="0"/>
              <a:t>,</a:t>
            </a:r>
            <a:r>
              <a:rPr lang="zh-TW" altLang="zh-TW" dirty="0"/>
              <a:t> subquadratic 的線性矩陣家族。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3987CC0-EDAB-F27A-94DD-109144DAA2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313277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 ftr="0" dt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8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12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2.png"/><Relationship Id="rId3" Type="http://schemas.openxmlformats.org/officeDocument/2006/relationships/image" Target="../media/image18.png"/><Relationship Id="rId7" Type="http://schemas.openxmlformats.org/officeDocument/2006/relationships/image" Target="../media/image14.png"/><Relationship Id="rId12" Type="http://schemas.openxmlformats.org/officeDocument/2006/relationships/image" Target="../media/image140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5" Type="http://schemas.openxmlformats.org/officeDocument/2006/relationships/image" Target="../media/image27.png"/><Relationship Id="rId10" Type="http://schemas.openxmlformats.org/officeDocument/2006/relationships/image" Target="../media/image25.png"/><Relationship Id="rId9" Type="http://schemas.openxmlformats.org/officeDocument/2006/relationships/image" Target="../media/image24.png"/><Relationship Id="rId1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3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1E5A2-1B7E-98CC-E06F-676BB9443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FE0760D2-0E21-8BFC-EA96-4344CC953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208" y="5833151"/>
            <a:ext cx="2300180" cy="620185"/>
          </a:xfrm>
          <a:prstGeom prst="rect">
            <a:avLst/>
          </a:prstGeom>
        </p:spPr>
      </p:pic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E6325FBF-F975-BC66-BE0D-C4F324186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1669146"/>
              </p:ext>
            </p:extLst>
          </p:nvPr>
        </p:nvGraphicFramePr>
        <p:xfrm>
          <a:off x="4539795" y="2436221"/>
          <a:ext cx="109327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615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463907018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232046640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11" name="表格 110">
            <a:extLst>
              <a:ext uri="{FF2B5EF4-FFF2-40B4-BE49-F238E27FC236}">
                <a16:creationId xmlns:a16="http://schemas.microsoft.com/office/drawing/2014/main" id="{7E260945-4FEC-01AF-525F-DDA0D523AE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5565264"/>
              </p:ext>
            </p:extLst>
          </p:nvPr>
        </p:nvGraphicFramePr>
        <p:xfrm>
          <a:off x="6712195" y="2436221"/>
          <a:ext cx="36576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49" name="矩形 148">
            <a:extLst>
              <a:ext uri="{FF2B5EF4-FFF2-40B4-BE49-F238E27FC236}">
                <a16:creationId xmlns:a16="http://schemas.microsoft.com/office/drawing/2014/main" id="{0840C22B-81C7-644A-23E5-50CEDE5C5372}"/>
              </a:ext>
            </a:extLst>
          </p:cNvPr>
          <p:cNvSpPr/>
          <p:nvPr/>
        </p:nvSpPr>
        <p:spPr>
          <a:xfrm>
            <a:off x="6686829" y="3693456"/>
            <a:ext cx="422316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175" name="表格 174">
            <a:extLst>
              <a:ext uri="{FF2B5EF4-FFF2-40B4-BE49-F238E27FC236}">
                <a16:creationId xmlns:a16="http://schemas.microsoft.com/office/drawing/2014/main" id="{FE4DA193-8730-665B-0F33-7162CBB46C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621640"/>
              </p:ext>
            </p:extLst>
          </p:nvPr>
        </p:nvGraphicFramePr>
        <p:xfrm>
          <a:off x="4539794" y="2065255"/>
          <a:ext cx="109327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2146389038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1092904530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545989195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cxnSp>
        <p:nvCxnSpPr>
          <p:cNvPr id="110" name="直線單箭頭接點 109">
            <a:extLst>
              <a:ext uri="{FF2B5EF4-FFF2-40B4-BE49-F238E27FC236}">
                <a16:creationId xmlns:a16="http://schemas.microsoft.com/office/drawing/2014/main" id="{1D57BE8B-0F0D-F24A-2460-42F43D67A94C}"/>
              </a:ext>
            </a:extLst>
          </p:cNvPr>
          <p:cNvCxnSpPr>
            <a:cxnSpLocks/>
          </p:cNvCxnSpPr>
          <p:nvPr/>
        </p:nvCxnSpPr>
        <p:spPr>
          <a:xfrm>
            <a:off x="5940152" y="3222850"/>
            <a:ext cx="505265" cy="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43EC8D90-DE05-7696-BF5D-7128E18B1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4232077"/>
              </p:ext>
            </p:extLst>
          </p:nvPr>
        </p:nvGraphicFramePr>
        <p:xfrm>
          <a:off x="2627784" y="2436221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78" name="表格 177">
            <a:extLst>
              <a:ext uri="{FF2B5EF4-FFF2-40B4-BE49-F238E27FC236}">
                <a16:creationId xmlns:a16="http://schemas.microsoft.com/office/drawing/2014/main" id="{8DDF1167-3B3F-205E-18C9-A211CB0C15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6973252"/>
              </p:ext>
            </p:extLst>
          </p:nvPr>
        </p:nvGraphicFramePr>
        <p:xfrm>
          <a:off x="6712195" y="2053556"/>
          <a:ext cx="365761" cy="212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215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561E3745-692F-B7C1-2D8E-F65C1DAB03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0933119"/>
              </p:ext>
            </p:extLst>
          </p:nvPr>
        </p:nvGraphicFramePr>
        <p:xfrm>
          <a:off x="738344" y="2436221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21DE8883-3968-CF7D-74E3-0742E8294D7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ecurrent 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eural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etwork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Vanishing gradient limits long-term memory.</a:t>
            </a:r>
          </a:p>
        </p:txBody>
      </p: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23BFE739-12E8-B948-EBCC-08BCC0A1B97B}"/>
              </a:ext>
            </a:extLst>
          </p:cNvPr>
          <p:cNvSpPr txBox="1"/>
          <p:nvPr/>
        </p:nvSpPr>
        <p:spPr>
          <a:xfrm>
            <a:off x="1802326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4*3 x 3*2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4*2</a:t>
            </a:r>
            <a:endParaRPr lang="zh-TW" altLang="en-US" sz="1200" b="1" dirty="0"/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718AE05A-8AB3-63E8-DC18-C7D5DDEF63AC}"/>
              </a:ext>
            </a:extLst>
          </p:cNvPr>
          <p:cNvSpPr txBox="1"/>
          <p:nvPr/>
        </p:nvSpPr>
        <p:spPr>
          <a:xfrm>
            <a:off x="4907738" y="2737142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1*5</a:t>
            </a:r>
            <a:endParaRPr lang="zh-TW" altLang="en-US" sz="1200" b="1" dirty="0"/>
          </a:p>
        </p:txBody>
      </p:sp>
      <p:graphicFrame>
        <p:nvGraphicFramePr>
          <p:cNvPr id="139" name="表格 138">
            <a:extLst>
              <a:ext uri="{FF2B5EF4-FFF2-40B4-BE49-F238E27FC236}">
                <a16:creationId xmlns:a16="http://schemas.microsoft.com/office/drawing/2014/main" id="{2FE7D103-E76F-68B6-BCC7-EE2E52B354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9743119"/>
              </p:ext>
            </p:extLst>
          </p:nvPr>
        </p:nvGraphicFramePr>
        <p:xfrm>
          <a:off x="2627784" y="2073159"/>
          <a:ext cx="415217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684FD4A8-A4B2-594F-93DF-0827CBEA6437}"/>
              </a:ext>
            </a:extLst>
          </p:cNvPr>
          <p:cNvSpPr txBox="1"/>
          <p:nvPr/>
        </p:nvSpPr>
        <p:spPr>
          <a:xfrm>
            <a:off x="620881" y="1268761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h0(t)</a:t>
            </a:r>
            <a:endParaRPr lang="zh-TW" altLang="en-US" sz="1200" dirty="0"/>
          </a:p>
        </p:txBody>
      </p:sp>
      <p:graphicFrame>
        <p:nvGraphicFramePr>
          <p:cNvPr id="169" name="表格 168">
            <a:extLst>
              <a:ext uri="{FF2B5EF4-FFF2-40B4-BE49-F238E27FC236}">
                <a16:creationId xmlns:a16="http://schemas.microsoft.com/office/drawing/2014/main" id="{B2FF5E38-1281-8626-137A-68A6601925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6982314"/>
              </p:ext>
            </p:extLst>
          </p:nvPr>
        </p:nvGraphicFramePr>
        <p:xfrm>
          <a:off x="300959" y="2007815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pSp>
        <p:nvGrpSpPr>
          <p:cNvPr id="211" name="群組 210">
            <a:extLst>
              <a:ext uri="{FF2B5EF4-FFF2-40B4-BE49-F238E27FC236}">
                <a16:creationId xmlns:a16="http://schemas.microsoft.com/office/drawing/2014/main" id="{F1359D4F-1182-59DF-45ED-07EADBB81931}"/>
              </a:ext>
            </a:extLst>
          </p:cNvPr>
          <p:cNvGrpSpPr/>
          <p:nvPr/>
        </p:nvGrpSpPr>
        <p:grpSpPr>
          <a:xfrm>
            <a:off x="1679529" y="1268761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(4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(3)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4"/>
                  <a:stretch>
                    <a:fillRect l="-2865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6880CA49-2418-B49D-2B41-D95EF986D9BF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h1(1)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14" name="群組 213">
            <a:extLst>
              <a:ext uri="{FF2B5EF4-FFF2-40B4-BE49-F238E27FC236}">
                <a16:creationId xmlns:a16="http://schemas.microsoft.com/office/drawing/2014/main" id="{C6D2DF37-42AF-BCB9-964F-E6DF8AB313B9}"/>
              </a:ext>
            </a:extLst>
          </p:cNvPr>
          <p:cNvGrpSpPr/>
          <p:nvPr/>
        </p:nvGrpSpPr>
        <p:grpSpPr>
          <a:xfrm>
            <a:off x="3923928" y="1268760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(0)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𝐔𝟐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5"/>
                  <a:stretch>
                    <a:fillRect l="-2857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03856099-A7A0-2C7F-BB47-C2902EDD9426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h2(3) …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sp>
        <p:nvSpPr>
          <p:cNvPr id="221" name="文字方塊 220">
            <a:extLst>
              <a:ext uri="{FF2B5EF4-FFF2-40B4-BE49-F238E27FC236}">
                <a16:creationId xmlns:a16="http://schemas.microsoft.com/office/drawing/2014/main" id="{63B9291D-18FE-56EE-EE29-081EE4CBEDB5}"/>
              </a:ext>
            </a:extLst>
          </p:cNvPr>
          <p:cNvSpPr txBox="1"/>
          <p:nvPr/>
        </p:nvSpPr>
        <p:spPr>
          <a:xfrm>
            <a:off x="3746542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4*2 x 2*5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4*5</a:t>
            </a:r>
            <a:endParaRPr lang="zh-TW" altLang="en-US" sz="1200" b="1" dirty="0"/>
          </a:p>
        </p:txBody>
      </p:sp>
      <p:sp>
        <p:nvSpPr>
          <p:cNvPr id="223" name="文字方塊 222">
            <a:extLst>
              <a:ext uri="{FF2B5EF4-FFF2-40B4-BE49-F238E27FC236}">
                <a16:creationId xmlns:a16="http://schemas.microsoft.com/office/drawing/2014/main" id="{9A816E49-1E23-B7A3-5DFB-43BD22AE96D9}"/>
              </a:ext>
            </a:extLst>
          </p:cNvPr>
          <p:cNvSpPr txBox="1"/>
          <p:nvPr/>
        </p:nvSpPr>
        <p:spPr>
          <a:xfrm>
            <a:off x="5834774" y="4010196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4*5 x 5*n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sym typeface="Wingdings" panose="05000000000000000000" pitchFamily="2" charset="2"/>
              </a:rPr>
              <a:t>4*n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1CE6DD42-D886-51F8-EEED-3CC552E0D9DB}"/>
              </a:ext>
            </a:extLst>
          </p:cNvPr>
          <p:cNvCxnSpPr>
            <a:cxnSpLocks/>
            <a:stCxn id="262" idx="1"/>
            <a:endCxn id="64" idx="0"/>
          </p:cNvCxnSpPr>
          <p:nvPr/>
        </p:nvCxnSpPr>
        <p:spPr>
          <a:xfrm rot="10800000" flipV="1">
            <a:off x="4244884" y="2968442"/>
            <a:ext cx="274158" cy="304899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6BEF386E-B437-8EEB-70E0-26F6BEDEC8FB}"/>
              </a:ext>
            </a:extLst>
          </p:cNvPr>
          <p:cNvCxnSpPr>
            <a:cxnSpLocks/>
            <a:stCxn id="80" idx="3"/>
            <a:endCxn id="221" idx="1"/>
          </p:cNvCxnSpPr>
          <p:nvPr/>
        </p:nvCxnSpPr>
        <p:spPr>
          <a:xfrm>
            <a:off x="3059832" y="4102982"/>
            <a:ext cx="686710" cy="0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接點: 肘形 299">
            <a:extLst>
              <a:ext uri="{FF2B5EF4-FFF2-40B4-BE49-F238E27FC236}">
                <a16:creationId xmlns:a16="http://schemas.microsoft.com/office/drawing/2014/main" id="{F990CA25-D6BD-A772-7F78-61ACBB21EB26}"/>
              </a:ext>
            </a:extLst>
          </p:cNvPr>
          <p:cNvCxnSpPr>
            <a:cxnSpLocks/>
            <a:stCxn id="297" idx="1"/>
            <a:endCxn id="312" idx="0"/>
          </p:cNvCxnSpPr>
          <p:nvPr/>
        </p:nvCxnSpPr>
        <p:spPr>
          <a:xfrm rot="10800000" flipV="1">
            <a:off x="2056574" y="2183125"/>
            <a:ext cx="537626" cy="22232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5" name="群組 274">
            <a:extLst>
              <a:ext uri="{FF2B5EF4-FFF2-40B4-BE49-F238E27FC236}">
                <a16:creationId xmlns:a16="http://schemas.microsoft.com/office/drawing/2014/main" id="{9E0FB743-6958-A578-6C99-83473B9DD004}"/>
              </a:ext>
            </a:extLst>
          </p:cNvPr>
          <p:cNvGrpSpPr/>
          <p:nvPr/>
        </p:nvGrpSpPr>
        <p:grpSpPr>
          <a:xfrm>
            <a:off x="4062915" y="2711506"/>
            <a:ext cx="293061" cy="359271"/>
            <a:chOff x="1851922" y="1748433"/>
            <a:chExt cx="293061" cy="359271"/>
          </a:xfrm>
        </p:grpSpPr>
        <p:sp>
          <p:nvSpPr>
            <p:cNvPr id="274" name="矩形 273">
              <a:extLst>
                <a:ext uri="{FF2B5EF4-FFF2-40B4-BE49-F238E27FC236}">
                  <a16:creationId xmlns:a16="http://schemas.microsoft.com/office/drawing/2014/main" id="{32F470CD-9527-484C-ED91-2B1420E1135D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49" name="文字方塊 248">
              <a:extLst>
                <a:ext uri="{FF2B5EF4-FFF2-40B4-BE49-F238E27FC236}">
                  <a16:creationId xmlns:a16="http://schemas.microsoft.com/office/drawing/2014/main" id="{48222D2F-EDAC-9F8B-7F64-4B77B4877A2C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5*5</a:t>
              </a:r>
              <a:endParaRPr lang="zh-TW" altLang="en-US" sz="1200" b="1" dirty="0"/>
            </a:p>
          </p:txBody>
        </p:sp>
      </p:grpSp>
      <p:cxnSp>
        <p:nvCxnSpPr>
          <p:cNvPr id="310" name="直線單箭頭接點 309">
            <a:extLst>
              <a:ext uri="{FF2B5EF4-FFF2-40B4-BE49-F238E27FC236}">
                <a16:creationId xmlns:a16="http://schemas.microsoft.com/office/drawing/2014/main" id="{34F2EA24-E4AB-F1DB-7DA5-DD4DAA0F44F8}"/>
              </a:ext>
            </a:extLst>
          </p:cNvPr>
          <p:cNvCxnSpPr>
            <a:cxnSpLocks/>
            <a:stCxn id="306" idx="3"/>
            <a:endCxn id="312" idx="1"/>
          </p:cNvCxnSpPr>
          <p:nvPr/>
        </p:nvCxnSpPr>
        <p:spPr>
          <a:xfrm flipV="1">
            <a:off x="1362321" y="2530318"/>
            <a:ext cx="545832" cy="2269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2" name="矩形 311">
            <a:extLst>
              <a:ext uri="{FF2B5EF4-FFF2-40B4-BE49-F238E27FC236}">
                <a16:creationId xmlns:a16="http://schemas.microsoft.com/office/drawing/2014/main" id="{C8E41C1D-C73C-1EFE-AA5B-A5F8547852D3}"/>
              </a:ext>
            </a:extLst>
          </p:cNvPr>
          <p:cNvSpPr/>
          <p:nvPr/>
        </p:nvSpPr>
        <p:spPr>
          <a:xfrm>
            <a:off x="1908153" y="2405453"/>
            <a:ext cx="296842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b1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332" name="矩形 331">
            <a:extLst>
              <a:ext uri="{FF2B5EF4-FFF2-40B4-BE49-F238E27FC236}">
                <a16:creationId xmlns:a16="http://schemas.microsoft.com/office/drawing/2014/main" id="{20B01458-E876-5430-4919-69BEE4E45C77}"/>
              </a:ext>
            </a:extLst>
          </p:cNvPr>
          <p:cNvSpPr/>
          <p:nvPr/>
        </p:nvSpPr>
        <p:spPr>
          <a:xfrm>
            <a:off x="2599209" y="3245332"/>
            <a:ext cx="474037" cy="30260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306" name="矩形 305">
            <a:extLst>
              <a:ext uri="{FF2B5EF4-FFF2-40B4-BE49-F238E27FC236}">
                <a16:creationId xmlns:a16="http://schemas.microsoft.com/office/drawing/2014/main" id="{2D411C6B-126D-99EA-9FB1-FFCCD1C728DD}"/>
              </a:ext>
            </a:extLst>
          </p:cNvPr>
          <p:cNvSpPr/>
          <p:nvPr/>
        </p:nvSpPr>
        <p:spPr>
          <a:xfrm>
            <a:off x="714484" y="2401823"/>
            <a:ext cx="647837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291" name="群組 290">
            <a:extLst>
              <a:ext uri="{FF2B5EF4-FFF2-40B4-BE49-F238E27FC236}">
                <a16:creationId xmlns:a16="http://schemas.microsoft.com/office/drawing/2014/main" id="{EF6DB055-83E6-CC1E-9C79-605D602F6F61}"/>
              </a:ext>
            </a:extLst>
          </p:cNvPr>
          <p:cNvGrpSpPr/>
          <p:nvPr/>
        </p:nvGrpSpPr>
        <p:grpSpPr>
          <a:xfrm>
            <a:off x="1470627" y="2279458"/>
            <a:ext cx="293061" cy="359271"/>
            <a:chOff x="1851922" y="1748433"/>
            <a:chExt cx="293061" cy="359271"/>
          </a:xfrm>
        </p:grpSpPr>
        <p:sp>
          <p:nvSpPr>
            <p:cNvPr id="292" name="矩形 291">
              <a:extLst>
                <a:ext uri="{FF2B5EF4-FFF2-40B4-BE49-F238E27FC236}">
                  <a16:creationId xmlns:a16="http://schemas.microsoft.com/office/drawing/2014/main" id="{1FD8F5AC-B96D-1D39-D534-9612DB8FDDD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3" name="文字方塊 292">
              <a:extLst>
                <a:ext uri="{FF2B5EF4-FFF2-40B4-BE49-F238E27FC236}">
                  <a16:creationId xmlns:a16="http://schemas.microsoft.com/office/drawing/2014/main" id="{1FD601AD-E3DB-FFCF-B2C4-276B9A7DD6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288" name="群組 287">
            <a:extLst>
              <a:ext uri="{FF2B5EF4-FFF2-40B4-BE49-F238E27FC236}">
                <a16:creationId xmlns:a16="http://schemas.microsoft.com/office/drawing/2014/main" id="{33B91837-FDE7-2B98-4E9A-670ABC005091}"/>
              </a:ext>
            </a:extLst>
          </p:cNvPr>
          <p:cNvGrpSpPr/>
          <p:nvPr/>
        </p:nvGrpSpPr>
        <p:grpSpPr>
          <a:xfrm>
            <a:off x="1907704" y="1879214"/>
            <a:ext cx="293061" cy="359271"/>
            <a:chOff x="1842397" y="1748433"/>
            <a:chExt cx="293061" cy="359271"/>
          </a:xfrm>
        </p:grpSpPr>
        <p:sp>
          <p:nvSpPr>
            <p:cNvPr id="289" name="矩形 288">
              <a:extLst>
                <a:ext uri="{FF2B5EF4-FFF2-40B4-BE49-F238E27FC236}">
                  <a16:creationId xmlns:a16="http://schemas.microsoft.com/office/drawing/2014/main" id="{5B33FBFE-ABD7-B319-632E-F2F996102A22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0" name="文字方塊 289">
              <a:extLst>
                <a:ext uri="{FF2B5EF4-FFF2-40B4-BE49-F238E27FC236}">
                  <a16:creationId xmlns:a16="http://schemas.microsoft.com/office/drawing/2014/main" id="{2AFCC578-CC3E-4310-5021-62CB5C872210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49DB63AE-DFF3-A1FB-E310-2EDAD36A7F17}"/>
              </a:ext>
            </a:extLst>
          </p:cNvPr>
          <p:cNvCxnSpPr>
            <a:cxnSpLocks/>
            <a:stCxn id="332" idx="3"/>
            <a:endCxn id="64" idx="1"/>
          </p:cNvCxnSpPr>
          <p:nvPr/>
        </p:nvCxnSpPr>
        <p:spPr>
          <a:xfrm>
            <a:off x="3073246" y="3396632"/>
            <a:ext cx="988538" cy="1575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矩形 63">
            <a:extLst>
              <a:ext uri="{FF2B5EF4-FFF2-40B4-BE49-F238E27FC236}">
                <a16:creationId xmlns:a16="http://schemas.microsoft.com/office/drawing/2014/main" id="{520FAB37-D34F-3198-04BF-4F56F1547C66}"/>
              </a:ext>
            </a:extLst>
          </p:cNvPr>
          <p:cNvSpPr/>
          <p:nvPr/>
        </p:nvSpPr>
        <p:spPr>
          <a:xfrm>
            <a:off x="4061784" y="3273342"/>
            <a:ext cx="36620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b2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3D0FE2D-01F1-EFCA-9D69-857B6ABCD528}"/>
              </a:ext>
            </a:extLst>
          </p:cNvPr>
          <p:cNvSpPr/>
          <p:nvPr/>
        </p:nvSpPr>
        <p:spPr>
          <a:xfrm>
            <a:off x="4465162" y="3267751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h2(3)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5C466F9D-B161-613C-7EE9-E24545A427AF}"/>
              </a:ext>
            </a:extLst>
          </p:cNvPr>
          <p:cNvSpPr/>
          <p:nvPr/>
        </p:nvSpPr>
        <p:spPr>
          <a:xfrm>
            <a:off x="2220038" y="2387685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h1(1)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276" name="群組 275">
            <a:extLst>
              <a:ext uri="{FF2B5EF4-FFF2-40B4-BE49-F238E27FC236}">
                <a16:creationId xmlns:a16="http://schemas.microsoft.com/office/drawing/2014/main" id="{3ABBED2F-0124-EC11-CD0E-3D0F8A23719B}"/>
              </a:ext>
            </a:extLst>
          </p:cNvPr>
          <p:cNvGrpSpPr/>
          <p:nvPr/>
        </p:nvGrpSpPr>
        <p:grpSpPr>
          <a:xfrm>
            <a:off x="3638818" y="3143554"/>
            <a:ext cx="293061" cy="349746"/>
            <a:chOff x="1850348" y="1757958"/>
            <a:chExt cx="293061" cy="349746"/>
          </a:xfrm>
        </p:grpSpPr>
        <p:sp>
          <p:nvSpPr>
            <p:cNvPr id="277" name="矩形 276">
              <a:extLst>
                <a:ext uri="{FF2B5EF4-FFF2-40B4-BE49-F238E27FC236}">
                  <a16:creationId xmlns:a16="http://schemas.microsoft.com/office/drawing/2014/main" id="{C924978A-FDED-4E3D-AC22-631138F99753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78" name="文字方塊 277">
              <a:extLst>
                <a:ext uri="{FF2B5EF4-FFF2-40B4-BE49-F238E27FC236}">
                  <a16:creationId xmlns:a16="http://schemas.microsoft.com/office/drawing/2014/main" id="{E8CDCB51-4984-2BF4-90E9-5A4429C5BA4B}"/>
                </a:ext>
              </a:extLst>
            </p:cNvPr>
            <p:cNvSpPr txBox="1"/>
            <p:nvPr/>
          </p:nvSpPr>
          <p:spPr>
            <a:xfrm>
              <a:off x="1850348" y="1757958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2*5</a:t>
              </a:r>
              <a:endParaRPr lang="zh-TW" altLang="en-US" sz="1200" b="1" dirty="0"/>
            </a:p>
          </p:txBody>
        </p:sp>
      </p:grpSp>
      <p:sp>
        <p:nvSpPr>
          <p:cNvPr id="297" name="矩形 296">
            <a:extLst>
              <a:ext uri="{FF2B5EF4-FFF2-40B4-BE49-F238E27FC236}">
                <a16:creationId xmlns:a16="http://schemas.microsoft.com/office/drawing/2014/main" id="{36B2297C-8EF7-B756-250E-09F88E3ADCDE}"/>
              </a:ext>
            </a:extLst>
          </p:cNvPr>
          <p:cNvSpPr/>
          <p:nvPr/>
        </p:nvSpPr>
        <p:spPr>
          <a:xfrm>
            <a:off x="2594200" y="2055034"/>
            <a:ext cx="484682" cy="256181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tx2">
                <a:alpha val="2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52AE4122-43B8-6063-5A34-A9387B30DA3D}"/>
              </a:ext>
            </a:extLst>
          </p:cNvPr>
          <p:cNvGrpSpPr/>
          <p:nvPr/>
        </p:nvGrpSpPr>
        <p:grpSpPr>
          <a:xfrm>
            <a:off x="6015082" y="2983636"/>
            <a:ext cx="293061" cy="365648"/>
            <a:chOff x="1850348" y="1742056"/>
            <a:chExt cx="293061" cy="365648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259FEBB2-F300-FDC1-339B-99FCD629334E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W3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7E5B9F85-360F-57CB-7894-1ABA649915A5}"/>
                </a:ext>
              </a:extLst>
            </p:cNvPr>
            <p:cNvSpPr txBox="1"/>
            <p:nvPr/>
          </p:nvSpPr>
          <p:spPr>
            <a:xfrm>
              <a:off x="1850348" y="1742056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cxnSp>
        <p:nvCxnSpPr>
          <p:cNvPr id="113" name="接點: 肘形 112">
            <a:extLst>
              <a:ext uri="{FF2B5EF4-FFF2-40B4-BE49-F238E27FC236}">
                <a16:creationId xmlns:a16="http://schemas.microsoft.com/office/drawing/2014/main" id="{54E104F4-C2F9-AAD8-F297-0BB56D54CEC0}"/>
              </a:ext>
            </a:extLst>
          </p:cNvPr>
          <p:cNvCxnSpPr>
            <a:cxnSpLocks/>
          </p:cNvCxnSpPr>
          <p:nvPr/>
        </p:nvCxnSpPr>
        <p:spPr>
          <a:xfrm rot="10800000" flipV="1">
            <a:off x="6444208" y="2737361"/>
            <a:ext cx="255108" cy="340912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0F2A7129-DF7B-2583-8AB0-C70EF3449E59}"/>
              </a:ext>
            </a:extLst>
          </p:cNvPr>
          <p:cNvGrpSpPr/>
          <p:nvPr/>
        </p:nvGrpSpPr>
        <p:grpSpPr>
          <a:xfrm>
            <a:off x="6228184" y="2495482"/>
            <a:ext cx="293061" cy="359271"/>
            <a:chOff x="1851922" y="1748433"/>
            <a:chExt cx="293061" cy="359271"/>
          </a:xfrm>
        </p:grpSpPr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FE551E02-3DF8-21A3-1643-5031F2A3139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986A3C14-CD05-4596-DA8A-7C868838B0D7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FE340EAF-8015-F24F-0591-C0397374DCC3}"/>
              </a:ext>
            </a:extLst>
          </p:cNvPr>
          <p:cNvSpPr/>
          <p:nvPr/>
        </p:nvSpPr>
        <p:spPr>
          <a:xfrm>
            <a:off x="8193969" y="2434351"/>
            <a:ext cx="477458" cy="1468498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Linear</a:t>
            </a:r>
          </a:p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Projection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DB5524BD-2687-595C-69CC-2C7B45C58AEF}"/>
              </a:ext>
            </a:extLst>
          </p:cNvPr>
          <p:cNvSpPr/>
          <p:nvPr/>
        </p:nvSpPr>
        <p:spPr>
          <a:xfrm rot="5400000">
            <a:off x="8694534" y="2991977"/>
            <a:ext cx="228750" cy="12904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2B58A63D-DAA1-CB26-2C25-0B13BC334E48}"/>
              </a:ext>
            </a:extLst>
          </p:cNvPr>
          <p:cNvSpPr txBox="1"/>
          <p:nvPr/>
        </p:nvSpPr>
        <p:spPr>
          <a:xfrm>
            <a:off x="8292508" y="227868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V*n</a:t>
            </a:r>
            <a:endParaRPr lang="zh-TW" altLang="en-US" sz="1200" b="1" dirty="0"/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DF1EF63D-FC6F-5D8A-7EDF-63EDC5AF2CE4}"/>
              </a:ext>
            </a:extLst>
          </p:cNvPr>
          <p:cNvSpPr txBox="1"/>
          <p:nvPr/>
        </p:nvSpPr>
        <p:spPr>
          <a:xfrm>
            <a:off x="8671427" y="2784097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n*1</a:t>
            </a:r>
            <a:endParaRPr lang="zh-TW" altLang="en-US" sz="1200" b="1" dirty="0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C64E2EE9-CE8E-2656-29F1-70CF4AC18045}"/>
              </a:ext>
            </a:extLst>
          </p:cNvPr>
          <p:cNvSpPr/>
          <p:nvPr/>
        </p:nvSpPr>
        <p:spPr>
          <a:xfrm>
            <a:off x="8193969" y="4013188"/>
            <a:ext cx="477459" cy="351916"/>
          </a:xfrm>
          <a:prstGeom prst="rect">
            <a:avLst/>
          </a:prstGeom>
          <a:solidFill>
            <a:schemeClr val="bg1">
              <a:lumMod val="95000"/>
            </a:schemeClr>
          </a:solidFill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Next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Token</a:t>
            </a:r>
          </a:p>
        </p:txBody>
      </p:sp>
      <p:cxnSp>
        <p:nvCxnSpPr>
          <p:cNvPr id="235" name="接點: 弧形 234">
            <a:extLst>
              <a:ext uri="{FF2B5EF4-FFF2-40B4-BE49-F238E27FC236}">
                <a16:creationId xmlns:a16="http://schemas.microsoft.com/office/drawing/2014/main" id="{51F08E47-959E-C904-DB40-EFD69B6D5493}"/>
              </a:ext>
            </a:extLst>
          </p:cNvPr>
          <p:cNvCxnSpPr>
            <a:cxnSpLocks/>
            <a:stCxn id="149" idx="3"/>
            <a:endCxn id="154" idx="3"/>
          </p:cNvCxnSpPr>
          <p:nvPr/>
        </p:nvCxnSpPr>
        <p:spPr>
          <a:xfrm flipV="1">
            <a:off x="7109145" y="3170873"/>
            <a:ext cx="1699764" cy="653347"/>
          </a:xfrm>
          <a:prstGeom prst="curvedConnector2">
            <a:avLst/>
          </a:prstGeom>
          <a:ln w="25400">
            <a:gradFill>
              <a:gsLst>
                <a:gs pos="0">
                  <a:schemeClr val="bg1"/>
                </a:gs>
                <a:gs pos="54000">
                  <a:srgbClr val="FF0000"/>
                </a:gs>
                <a:gs pos="100000">
                  <a:srgbClr val="FF0000"/>
                </a:gs>
              </a:gsLst>
              <a:lin ang="5400000" scaled="1"/>
            </a:gra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箭號: 向下 167">
            <a:extLst>
              <a:ext uri="{FF2B5EF4-FFF2-40B4-BE49-F238E27FC236}">
                <a16:creationId xmlns:a16="http://schemas.microsoft.com/office/drawing/2014/main" id="{C7D39922-F3FD-E684-C8C6-C50999916550}"/>
              </a:ext>
            </a:extLst>
          </p:cNvPr>
          <p:cNvSpPr/>
          <p:nvPr/>
        </p:nvSpPr>
        <p:spPr>
          <a:xfrm>
            <a:off x="8324687" y="3807938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76" name="直線單箭頭接點 175">
            <a:extLst>
              <a:ext uri="{FF2B5EF4-FFF2-40B4-BE49-F238E27FC236}">
                <a16:creationId xmlns:a16="http://schemas.microsoft.com/office/drawing/2014/main" id="{A52EB32D-E23A-127A-0579-8C401BFA8AF1}"/>
              </a:ext>
            </a:extLst>
          </p:cNvPr>
          <p:cNvCxnSpPr>
            <a:cxnSpLocks/>
            <a:stCxn id="221" idx="3"/>
            <a:endCxn id="223" idx="1"/>
          </p:cNvCxnSpPr>
          <p:nvPr/>
        </p:nvCxnSpPr>
        <p:spPr>
          <a:xfrm>
            <a:off x="5004048" y="4102982"/>
            <a:ext cx="830726" cy="2546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3828A788-4A83-E850-4A23-2144BFE83204}"/>
              </a:ext>
            </a:extLst>
          </p:cNvPr>
          <p:cNvGrpSpPr/>
          <p:nvPr/>
        </p:nvGrpSpPr>
        <p:grpSpPr>
          <a:xfrm>
            <a:off x="6300192" y="1277727"/>
            <a:ext cx="2538387" cy="446292"/>
            <a:chOff x="6047368" y="1223009"/>
            <a:chExt cx="2538387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1,   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zh-TW" altLang="en-US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−1)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#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blipFill>
                  <a:blip r:embed="rId6"/>
                  <a:stretch>
                    <a:fillRect l="-2158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67D818AB-EA0D-7447-9E83-A5D8E492CE45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RNN h#(t)</a:t>
              </a:r>
              <a:endParaRPr lang="en-US" altLang="zh-TW" sz="1200" baseline="-25000" dirty="0">
                <a:solidFill>
                  <a:schemeClr val="tx2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09" name="群組 208">
            <a:extLst>
              <a:ext uri="{FF2B5EF4-FFF2-40B4-BE49-F238E27FC236}">
                <a16:creationId xmlns:a16="http://schemas.microsoft.com/office/drawing/2014/main" id="{931BE1F1-5968-469A-CFDD-05AC75BE87B5}"/>
              </a:ext>
            </a:extLst>
          </p:cNvPr>
          <p:cNvGrpSpPr/>
          <p:nvPr/>
        </p:nvGrpSpPr>
        <p:grpSpPr>
          <a:xfrm>
            <a:off x="6474361" y="5921889"/>
            <a:ext cx="977959" cy="310785"/>
            <a:chOff x="5842380" y="5769283"/>
            <a:chExt cx="1094551" cy="360231"/>
          </a:xfrm>
          <a:solidFill>
            <a:schemeClr val="bg1">
              <a:alpha val="80000"/>
            </a:schemeClr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/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(0, 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blipFill>
                  <a:blip r:embed="rId7"/>
                  <a:stretch>
                    <a:fillRect l="-5960" t="-12000" r="-4636" b="-6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4EF308A9-861C-B735-3F55-3A6B6E04B998}"/>
                </a:ext>
              </a:extLst>
            </p:cNvPr>
            <p:cNvSpPr/>
            <p:nvPr/>
          </p:nvSpPr>
          <p:spPr>
            <a:xfrm>
              <a:off x="5842380" y="5769283"/>
              <a:ext cx="388205" cy="21897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ReLU</a:t>
              </a:r>
            </a:p>
          </p:txBody>
        </p:sp>
      </p:grpSp>
      <p:sp>
        <p:nvSpPr>
          <p:cNvPr id="262" name="矩形 261">
            <a:extLst>
              <a:ext uri="{FF2B5EF4-FFF2-40B4-BE49-F238E27FC236}">
                <a16:creationId xmlns:a16="http://schemas.microsoft.com/office/drawing/2014/main" id="{D21908EB-6E30-409C-0CC4-C4BC68570BE2}"/>
              </a:ext>
            </a:extLst>
          </p:cNvPr>
          <p:cNvSpPr/>
          <p:nvPr/>
        </p:nvSpPr>
        <p:spPr>
          <a:xfrm>
            <a:off x="4519042" y="2839620"/>
            <a:ext cx="1138808" cy="257645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D9D73DE7-93FD-FD53-4CD7-A18CBBEA4C9E}"/>
              </a:ext>
            </a:extLst>
          </p:cNvPr>
          <p:cNvSpPr txBox="1"/>
          <p:nvPr/>
        </p:nvSpPr>
        <p:spPr>
          <a:xfrm>
            <a:off x="850003" y="232893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7C520102-8550-4651-560C-673AF2CD6250}"/>
              </a:ext>
            </a:extLst>
          </p:cNvPr>
          <p:cNvSpPr txBox="1"/>
          <p:nvPr/>
        </p:nvSpPr>
        <p:spPr>
          <a:xfrm>
            <a:off x="6755706" y="3619151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*n</a:t>
            </a:r>
            <a:endParaRPr lang="zh-TW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DDE2D7C0-3AFF-6B86-8C06-8BCF4E2D107A}"/>
              </a:ext>
            </a:extLst>
          </p:cNvPr>
          <p:cNvSpPr txBox="1"/>
          <p:nvPr/>
        </p:nvSpPr>
        <p:spPr>
          <a:xfrm>
            <a:off x="2659588" y="1942827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C561452D-4525-BD72-7DCE-F9D3B98C94C7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E0FCD6E3-84BA-EABC-4A8E-6A16A4AA6B87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938DD872-03E6-B880-FB40-EB6850491B7B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6940260D-7178-6F4E-079B-5750E75F4CB1}"/>
              </a:ext>
            </a:extLst>
          </p:cNvPr>
          <p:cNvCxnSpPr>
            <a:cxnSpLocks/>
            <a:stCxn id="140" idx="2"/>
            <a:endCxn id="138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矩形 133">
            <a:extLst>
              <a:ext uri="{FF2B5EF4-FFF2-40B4-BE49-F238E27FC236}">
                <a16:creationId xmlns:a16="http://schemas.microsoft.com/office/drawing/2014/main" id="{98BA09B9-FBA3-0236-B291-A71887784281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135" name="直線單箭頭接點 134">
            <a:extLst>
              <a:ext uri="{FF2B5EF4-FFF2-40B4-BE49-F238E27FC236}">
                <a16:creationId xmlns:a16="http://schemas.microsoft.com/office/drawing/2014/main" id="{4295B2EB-D7DC-CDCD-E16C-B76860155D3D}"/>
              </a:ext>
            </a:extLst>
          </p:cNvPr>
          <p:cNvCxnSpPr>
            <a:cxnSpLocks/>
            <a:stCxn id="132" idx="3"/>
            <a:endCxn id="134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接點: 肘形 135">
            <a:extLst>
              <a:ext uri="{FF2B5EF4-FFF2-40B4-BE49-F238E27FC236}">
                <a16:creationId xmlns:a16="http://schemas.microsoft.com/office/drawing/2014/main" id="{C28B9630-0002-CC1F-00CD-E9E28CC9012F}"/>
              </a:ext>
            </a:extLst>
          </p:cNvPr>
          <p:cNvCxnSpPr>
            <a:cxnSpLocks/>
            <a:stCxn id="137" idx="0"/>
            <a:endCxn id="140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矩形 136">
            <a:extLst>
              <a:ext uri="{FF2B5EF4-FFF2-40B4-BE49-F238E27FC236}">
                <a16:creationId xmlns:a16="http://schemas.microsoft.com/office/drawing/2014/main" id="{3931017A-BDB6-6675-47CF-E51EDE1EEEF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0EB6FD30-4D2D-E702-A904-67601699C185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2649E3E4-D321-0ED6-A717-BC96D8795BF4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45" name="接點: 肘形 144">
            <a:extLst>
              <a:ext uri="{FF2B5EF4-FFF2-40B4-BE49-F238E27FC236}">
                <a16:creationId xmlns:a16="http://schemas.microsoft.com/office/drawing/2014/main" id="{05EB9C48-906D-3D19-2BB2-85CE104AC443}"/>
              </a:ext>
            </a:extLst>
          </p:cNvPr>
          <p:cNvCxnSpPr>
            <a:cxnSpLocks/>
            <a:stCxn id="131" idx="3"/>
            <a:endCxn id="138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74487CF-DC05-D346-BA6F-D17AA9981B51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57" name="接點: 肘形 156">
            <a:extLst>
              <a:ext uri="{FF2B5EF4-FFF2-40B4-BE49-F238E27FC236}">
                <a16:creationId xmlns:a16="http://schemas.microsoft.com/office/drawing/2014/main" id="{8290B55F-20C7-F4C7-9200-C9589356585E}"/>
              </a:ext>
            </a:extLst>
          </p:cNvPr>
          <p:cNvCxnSpPr>
            <a:cxnSpLocks/>
            <a:stCxn id="138" idx="3"/>
            <a:endCxn id="137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B576A91A-2F76-34FB-DA00-29B48F0BC02E}"/>
              </a:ext>
            </a:extLst>
          </p:cNvPr>
          <p:cNvSpPr/>
          <p:nvPr/>
        </p:nvSpPr>
        <p:spPr>
          <a:xfrm>
            <a:off x="2464262" y="4861293"/>
            <a:ext cx="929488" cy="356236"/>
          </a:xfrm>
          <a:prstGeom prst="wedgeRoundRectCallout">
            <a:avLst>
              <a:gd name="adj1" fmla="val -47953"/>
              <a:gd name="adj2" fmla="val 112513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Recurrent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530B601E-7796-FC6E-8B67-AF06C7881C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4282" y="4735123"/>
            <a:ext cx="2260692" cy="898734"/>
          </a:xfrm>
          <a:prstGeom prst="rect">
            <a:avLst/>
          </a:prstGeom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EBBD4BEE-5C6D-731D-E6D1-C9F48A21AD8A}"/>
              </a:ext>
            </a:extLst>
          </p:cNvPr>
          <p:cNvGrpSpPr/>
          <p:nvPr/>
        </p:nvGrpSpPr>
        <p:grpSpPr>
          <a:xfrm>
            <a:off x="6228184" y="4769761"/>
            <a:ext cx="1240345" cy="576064"/>
            <a:chOff x="5580643" y="5625267"/>
            <a:chExt cx="1240345" cy="576064"/>
          </a:xfrm>
          <a:solidFill>
            <a:schemeClr val="bg1">
              <a:alpha val="80000"/>
            </a:schemeClr>
          </a:solidFill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D0093A0B-DBE1-AD18-1009-791D1BFBFABD}"/>
                </a:ext>
              </a:extLst>
            </p:cNvPr>
            <p:cNvSpPr/>
            <p:nvPr/>
          </p:nvSpPr>
          <p:spPr>
            <a:xfrm>
              <a:off x="5580643" y="5625267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Hyperbolic tangent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/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blipFill>
                  <a:blip r:embed="rId9"/>
                  <a:stretch>
                    <a:fillRect l="-4926" r="-1970" b="-1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" name="矩形 8">
            <a:extLst>
              <a:ext uri="{FF2B5EF4-FFF2-40B4-BE49-F238E27FC236}">
                <a16:creationId xmlns:a16="http://schemas.microsoft.com/office/drawing/2014/main" id="{29B29A71-614F-BAFE-0BC7-F9097650DC03}"/>
              </a:ext>
            </a:extLst>
          </p:cNvPr>
          <p:cNvSpPr/>
          <p:nvPr/>
        </p:nvSpPr>
        <p:spPr>
          <a:xfrm>
            <a:off x="3904505" y="5817866"/>
            <a:ext cx="477458" cy="457534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Linear</a:t>
            </a:r>
          </a:p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Projection</a:t>
            </a:r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3E4A8E9F-2D9E-D70F-5FE5-FFCCFEC917BA}"/>
              </a:ext>
            </a:extLst>
          </p:cNvPr>
          <p:cNvSpPr/>
          <p:nvPr/>
        </p:nvSpPr>
        <p:spPr>
          <a:xfrm>
            <a:off x="4036289" y="6228284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3" name="接點: 肘形 12">
            <a:extLst>
              <a:ext uri="{FF2B5EF4-FFF2-40B4-BE49-F238E27FC236}">
                <a16:creationId xmlns:a16="http://schemas.microsoft.com/office/drawing/2014/main" id="{FE47362E-A28D-E845-DD39-9A485DD23645}"/>
              </a:ext>
            </a:extLst>
          </p:cNvPr>
          <p:cNvCxnSpPr>
            <a:cxnSpLocks/>
            <a:stCxn id="11" idx="2"/>
            <a:endCxn id="17" idx="2"/>
          </p:cNvCxnSpPr>
          <p:nvPr/>
        </p:nvCxnSpPr>
        <p:spPr>
          <a:xfrm rot="5400000" flipH="1">
            <a:off x="2334271" y="4643307"/>
            <a:ext cx="177936" cy="3442123"/>
          </a:xfrm>
          <a:prstGeom prst="bentConnector3">
            <a:avLst>
              <a:gd name="adj1" fmla="val -128473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2F46EE7F-90EE-073A-BFC3-A6CF1F6DE881}"/>
              </a:ext>
            </a:extLst>
          </p:cNvPr>
          <p:cNvSpPr/>
          <p:nvPr/>
        </p:nvSpPr>
        <p:spPr>
          <a:xfrm>
            <a:off x="565017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Tokenizer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D035B068-1459-234D-A969-D8B5B7156E50}"/>
              </a:ext>
            </a:extLst>
          </p:cNvPr>
          <p:cNvSpPr txBox="1"/>
          <p:nvPr/>
        </p:nvSpPr>
        <p:spPr>
          <a:xfrm>
            <a:off x="1789863" y="6503285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ym typeface="Wingdings" panose="05000000000000000000" pitchFamily="2" charset="2"/>
              </a:rPr>
              <a:t>A</a:t>
            </a:r>
            <a:r>
              <a:rPr lang="en-US" altLang="zh-TW" sz="1200" dirty="0">
                <a:sym typeface="Wingdings" panose="05000000000000000000" pitchFamily="2" charset="2"/>
              </a:rPr>
              <a:t>uto-</a:t>
            </a:r>
            <a:r>
              <a:rPr lang="en-US" altLang="zh-TW" sz="1200" b="1" dirty="0">
                <a:sym typeface="Wingdings" panose="05000000000000000000" pitchFamily="2" charset="2"/>
              </a:rPr>
              <a:t>R</a:t>
            </a:r>
            <a:r>
              <a:rPr lang="en-US" altLang="zh-TW" sz="1200" dirty="0">
                <a:sym typeface="Wingdings" panose="05000000000000000000" pitchFamily="2" charset="2"/>
              </a:rPr>
              <a:t>egressive model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308387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5FDD14D1-5EDB-867D-A4A3-517143F1E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91" y="5500883"/>
            <a:ext cx="3027713" cy="870916"/>
          </a:xfrm>
          <a:prstGeom prst="rect">
            <a:avLst/>
          </a:prstGeom>
        </p:spPr>
      </p:pic>
      <p:sp>
        <p:nvSpPr>
          <p:cNvPr id="4" name="標題 1">
            <a:extLst>
              <a:ext uri="{FF2B5EF4-FFF2-40B4-BE49-F238E27FC236}">
                <a16:creationId xmlns:a16="http://schemas.microsoft.com/office/drawing/2014/main" id="{9F53878C-97BE-D6C4-AADF-0D0B425134E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ong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hort-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erm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emory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LSTM struggles with context.</a:t>
            </a: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2C2FE945-38AF-A8FF-BB83-5F5DEDC09A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3015365"/>
              </p:ext>
            </p:extLst>
          </p:nvPr>
        </p:nvGraphicFramePr>
        <p:xfrm>
          <a:off x="738344" y="2216228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131D2534-2502-86A3-221D-E415C6E5C9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529686"/>
              </p:ext>
            </p:extLst>
          </p:nvPr>
        </p:nvGraphicFramePr>
        <p:xfrm>
          <a:off x="300959" y="1787822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0A7D2A98-83C3-AE12-3E60-1D7AECB5C209}"/>
              </a:ext>
            </a:extLst>
          </p:cNvPr>
          <p:cNvCxnSpPr>
            <a:cxnSpLocks/>
            <a:stCxn id="80" idx="3"/>
            <a:endCxn id="116" idx="1"/>
          </p:cNvCxnSpPr>
          <p:nvPr/>
        </p:nvCxnSpPr>
        <p:spPr>
          <a:xfrm flipV="1">
            <a:off x="1382257" y="1760043"/>
            <a:ext cx="462809" cy="1831183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群組 82">
            <a:extLst>
              <a:ext uri="{FF2B5EF4-FFF2-40B4-BE49-F238E27FC236}">
                <a16:creationId xmlns:a16="http://schemas.microsoft.com/office/drawing/2014/main" id="{C71E388A-F08D-0C54-2219-4EC6502694AC}"/>
              </a:ext>
            </a:extLst>
          </p:cNvPr>
          <p:cNvGrpSpPr/>
          <p:nvPr/>
        </p:nvGrpSpPr>
        <p:grpSpPr>
          <a:xfrm>
            <a:off x="1840869" y="2541620"/>
            <a:ext cx="293061" cy="359271"/>
            <a:chOff x="1851922" y="1748433"/>
            <a:chExt cx="293061" cy="359271"/>
          </a:xfrm>
        </p:grpSpPr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9A64EA7C-A485-7C0A-EA4A-B2EA3650A24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80A543D7-1F13-E4CD-F27F-E725B8FB4D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5B89B6E7-4337-5D30-9486-AD329A42C906}"/>
              </a:ext>
            </a:extLst>
          </p:cNvPr>
          <p:cNvGrpSpPr/>
          <p:nvPr/>
        </p:nvGrpSpPr>
        <p:grpSpPr>
          <a:xfrm>
            <a:off x="4062915" y="2541620"/>
            <a:ext cx="293061" cy="359271"/>
            <a:chOff x="1842397" y="1748433"/>
            <a:chExt cx="293061" cy="359271"/>
          </a:xfrm>
        </p:grpSpPr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EB677A2C-F14A-5D33-05BA-55B9BEB3F497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9" name="文字方塊 88">
              <a:extLst>
                <a:ext uri="{FF2B5EF4-FFF2-40B4-BE49-F238E27FC236}">
                  <a16:creationId xmlns:a16="http://schemas.microsoft.com/office/drawing/2014/main" id="{6FE65A53-AFE0-04BB-EC70-5AD492DA0932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25FA4C0D-AC5B-9E17-0A56-AE2C945FDE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608464"/>
              </p:ext>
            </p:extLst>
          </p:nvPr>
        </p:nvGraphicFramePr>
        <p:xfrm>
          <a:off x="4867338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316E06D6-F6F3-3D27-C91B-B0888D7E3A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702156"/>
              </p:ext>
            </p:extLst>
          </p:nvPr>
        </p:nvGraphicFramePr>
        <p:xfrm>
          <a:off x="4867339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08" name="矩形 107">
            <a:extLst>
              <a:ext uri="{FF2B5EF4-FFF2-40B4-BE49-F238E27FC236}">
                <a16:creationId xmlns:a16="http://schemas.microsoft.com/office/drawing/2014/main" id="{02B3FD55-5E2A-F45B-8571-08CA93683AB4}"/>
              </a:ext>
            </a:extLst>
          </p:cNvPr>
          <p:cNvSpPr/>
          <p:nvPr/>
        </p:nvSpPr>
        <p:spPr>
          <a:xfrm>
            <a:off x="4788024" y="3053058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h3</a:t>
            </a:r>
          </a:p>
        </p:txBody>
      </p:sp>
      <p:grpSp>
        <p:nvGrpSpPr>
          <p:cNvPr id="109" name="群組 108">
            <a:extLst>
              <a:ext uri="{FF2B5EF4-FFF2-40B4-BE49-F238E27FC236}">
                <a16:creationId xmlns:a16="http://schemas.microsoft.com/office/drawing/2014/main" id="{D2FE488C-C8CE-12A5-FD96-68E6B159EF46}"/>
              </a:ext>
            </a:extLst>
          </p:cNvPr>
          <p:cNvGrpSpPr/>
          <p:nvPr/>
        </p:nvGrpSpPr>
        <p:grpSpPr>
          <a:xfrm>
            <a:off x="1835696" y="3588918"/>
            <a:ext cx="293061" cy="368796"/>
            <a:chOff x="1861447" y="1748433"/>
            <a:chExt cx="293061" cy="368796"/>
          </a:xfrm>
        </p:grpSpPr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1E665E32-28AC-5935-6C39-AE0974638C80}"/>
                </a:ext>
              </a:extLst>
            </p:cNvPr>
            <p:cNvSpPr/>
            <p:nvPr/>
          </p:nvSpPr>
          <p:spPr>
            <a:xfrm>
              <a:off x="1861447" y="1842909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1" name="文字方塊 110">
              <a:extLst>
                <a:ext uri="{FF2B5EF4-FFF2-40B4-BE49-F238E27FC236}">
                  <a16:creationId xmlns:a16="http://schemas.microsoft.com/office/drawing/2014/main" id="{10839A9E-5DBB-49EB-E87F-D509F818189A}"/>
                </a:ext>
              </a:extLst>
            </p:cNvPr>
            <p:cNvSpPr txBox="1"/>
            <p:nvPr/>
          </p:nvSpPr>
          <p:spPr>
            <a:xfrm>
              <a:off x="186144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717ABC37-93DC-B781-F59D-E4273211E858}"/>
              </a:ext>
            </a:extLst>
          </p:cNvPr>
          <p:cNvGrpSpPr/>
          <p:nvPr/>
        </p:nvGrpSpPr>
        <p:grpSpPr>
          <a:xfrm>
            <a:off x="1835696" y="2047090"/>
            <a:ext cx="293061" cy="359271"/>
            <a:chOff x="1851922" y="1748433"/>
            <a:chExt cx="293061" cy="359271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713A8773-5C22-7602-CEF2-03AA964806CF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8EE5941B-7881-6CCE-2AE4-4F30E69C64E1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5" name="群組 114">
            <a:extLst>
              <a:ext uri="{FF2B5EF4-FFF2-40B4-BE49-F238E27FC236}">
                <a16:creationId xmlns:a16="http://schemas.microsoft.com/office/drawing/2014/main" id="{CBF440CA-19D2-DDD5-67BD-1BC15169F976}"/>
              </a:ext>
            </a:extLst>
          </p:cNvPr>
          <p:cNvGrpSpPr/>
          <p:nvPr/>
        </p:nvGrpSpPr>
        <p:grpSpPr>
          <a:xfrm>
            <a:off x="1835696" y="1538806"/>
            <a:ext cx="293061" cy="358397"/>
            <a:chOff x="1851922" y="1748433"/>
            <a:chExt cx="293061" cy="358397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D195AE0E-F511-8B02-751F-0BC4794A079D}"/>
                </a:ext>
              </a:extLst>
            </p:cNvPr>
            <p:cNvSpPr/>
            <p:nvPr/>
          </p:nvSpPr>
          <p:spPr>
            <a:xfrm>
              <a:off x="1861292" y="1832510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2633DA82-ADAE-47B5-825C-1A972054FE3A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73805786-EC88-AF27-C3B9-D4DEF43D9AB3}"/>
              </a:ext>
            </a:extLst>
          </p:cNvPr>
          <p:cNvGrpSpPr/>
          <p:nvPr/>
        </p:nvGrpSpPr>
        <p:grpSpPr>
          <a:xfrm>
            <a:off x="4062915" y="3588918"/>
            <a:ext cx="293061" cy="361362"/>
            <a:chOff x="1842397" y="1748433"/>
            <a:chExt cx="293061" cy="361362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03033A16-BF33-517C-16F1-C7DD2C2B086F}"/>
                </a:ext>
              </a:extLst>
            </p:cNvPr>
            <p:cNvSpPr/>
            <p:nvPr/>
          </p:nvSpPr>
          <p:spPr>
            <a:xfrm>
              <a:off x="1851922" y="1835475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122834FE-1391-3E21-2566-88EE7CFA8E6F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1" name="群組 120">
            <a:extLst>
              <a:ext uri="{FF2B5EF4-FFF2-40B4-BE49-F238E27FC236}">
                <a16:creationId xmlns:a16="http://schemas.microsoft.com/office/drawing/2014/main" id="{70D3C14D-AAA5-71BF-5647-4E86C9288FCF}"/>
              </a:ext>
            </a:extLst>
          </p:cNvPr>
          <p:cNvGrpSpPr/>
          <p:nvPr/>
        </p:nvGrpSpPr>
        <p:grpSpPr>
          <a:xfrm>
            <a:off x="4062915" y="2037565"/>
            <a:ext cx="293061" cy="359271"/>
            <a:chOff x="1842397" y="1748433"/>
            <a:chExt cx="293061" cy="359271"/>
          </a:xfrm>
        </p:grpSpPr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ABF1AA26-3B58-2BB4-B2ED-51C384D09A7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FD5C7378-6C79-4A8F-0E56-D846EE1A26AA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4" name="群組 123">
            <a:extLst>
              <a:ext uri="{FF2B5EF4-FFF2-40B4-BE49-F238E27FC236}">
                <a16:creationId xmlns:a16="http://schemas.microsoft.com/office/drawing/2014/main" id="{3FBF4843-C86F-70FA-F432-BE147C6D17F4}"/>
              </a:ext>
            </a:extLst>
          </p:cNvPr>
          <p:cNvGrpSpPr/>
          <p:nvPr/>
        </p:nvGrpSpPr>
        <p:grpSpPr>
          <a:xfrm>
            <a:off x="4062915" y="1532294"/>
            <a:ext cx="293061" cy="359271"/>
            <a:chOff x="1842397" y="1748433"/>
            <a:chExt cx="293061" cy="359271"/>
          </a:xfrm>
        </p:grpSpPr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2A747336-2D6A-5061-F7C7-1AE22D1CDD65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6" name="文字方塊 125">
              <a:extLst>
                <a:ext uri="{FF2B5EF4-FFF2-40B4-BE49-F238E27FC236}">
                  <a16:creationId xmlns:a16="http://schemas.microsoft.com/office/drawing/2014/main" id="{4068EE75-2630-5FC3-DCBF-132A43793278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BA74B1DE-402B-C21C-59FB-9DDBD6632F7D}"/>
              </a:ext>
            </a:extLst>
          </p:cNvPr>
          <p:cNvGrpSpPr/>
          <p:nvPr/>
        </p:nvGrpSpPr>
        <p:grpSpPr>
          <a:xfrm>
            <a:off x="6386403" y="1357582"/>
            <a:ext cx="1781129" cy="353943"/>
            <a:chOff x="5916347" y="715731"/>
            <a:chExt cx="1781129" cy="3539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/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blipFill>
                  <a:blip r:embed="rId4"/>
                  <a:stretch>
                    <a:fillRect l="-3072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1647F371-F9D9-76C2-A372-54CA5A275BA8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Forget Gate</a:t>
              </a:r>
            </a:p>
          </p:txBody>
        </p:sp>
      </p:grpSp>
      <p:grpSp>
        <p:nvGrpSpPr>
          <p:cNvPr id="132" name="群組 131">
            <a:extLst>
              <a:ext uri="{FF2B5EF4-FFF2-40B4-BE49-F238E27FC236}">
                <a16:creationId xmlns:a16="http://schemas.microsoft.com/office/drawing/2014/main" id="{D01FA724-CCFD-02C9-C07E-0CD8E3868CD1}"/>
              </a:ext>
            </a:extLst>
          </p:cNvPr>
          <p:cNvGrpSpPr/>
          <p:nvPr/>
        </p:nvGrpSpPr>
        <p:grpSpPr>
          <a:xfrm>
            <a:off x="6386403" y="1798638"/>
            <a:ext cx="1812932" cy="351032"/>
            <a:chOff x="5916347" y="715731"/>
            <a:chExt cx="1812932" cy="3510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/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zh-TW" altLang="en-US" sz="12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sSub>
                                  <m:sSub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3030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C29F377C-255B-42EA-21AE-3D40C72A5946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Input Gate</a:t>
              </a:r>
            </a:p>
          </p:txBody>
        </p:sp>
      </p:grpSp>
      <p:grpSp>
        <p:nvGrpSpPr>
          <p:cNvPr id="135" name="群組 134">
            <a:extLst>
              <a:ext uri="{FF2B5EF4-FFF2-40B4-BE49-F238E27FC236}">
                <a16:creationId xmlns:a16="http://schemas.microsoft.com/office/drawing/2014/main" id="{7D3465E4-A596-FF91-0B57-A432C2FBE898}"/>
              </a:ext>
            </a:extLst>
          </p:cNvPr>
          <p:cNvGrpSpPr/>
          <p:nvPr/>
        </p:nvGrpSpPr>
        <p:grpSpPr>
          <a:xfrm>
            <a:off x="6386406" y="2204864"/>
            <a:ext cx="2110488" cy="347483"/>
            <a:chOff x="5916347" y="715731"/>
            <a:chExt cx="2128054" cy="3474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/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€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2601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CB0813B4-C840-F49E-E189-BC1EF6A6853D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</a:t>
              </a: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andidate Cell Status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/>
              <p:nvPr/>
            </p:nvSpPr>
            <p:spPr>
              <a:xfrm>
                <a:off x="6795487" y="2819299"/>
                <a:ext cx="15682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b="0" i="1" smtClean="0">
                          <a:latin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zh-TW" sz="1200" i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€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zh-TW" alt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5487" y="2819299"/>
                <a:ext cx="1568250" cy="184666"/>
              </a:xfrm>
              <a:prstGeom prst="rect">
                <a:avLst/>
              </a:prstGeom>
              <a:blipFill>
                <a:blip r:embed="rId7"/>
                <a:stretch>
                  <a:fillRect l="-1167"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" name="矩形 139">
            <a:extLst>
              <a:ext uri="{FF2B5EF4-FFF2-40B4-BE49-F238E27FC236}">
                <a16:creationId xmlns:a16="http://schemas.microsoft.com/office/drawing/2014/main" id="{E8BD2197-07E4-05BC-BCEB-50C25DBCC67B}"/>
              </a:ext>
            </a:extLst>
          </p:cNvPr>
          <p:cNvSpPr/>
          <p:nvPr/>
        </p:nvSpPr>
        <p:spPr>
          <a:xfrm>
            <a:off x="6834999" y="2658074"/>
            <a:ext cx="1570657" cy="193030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Cell Status Update</a:t>
            </a:r>
            <a:endParaRPr lang="en-US" altLang="zh-TW" sz="12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A59394E8-4A79-5722-59E7-DBBFF937991A}"/>
              </a:ext>
            </a:extLst>
          </p:cNvPr>
          <p:cNvGrpSpPr/>
          <p:nvPr/>
        </p:nvGrpSpPr>
        <p:grpSpPr>
          <a:xfrm>
            <a:off x="6386403" y="3501008"/>
            <a:ext cx="1939826" cy="351431"/>
            <a:chOff x="5916347" y="715731"/>
            <a:chExt cx="1939826" cy="35143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/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2830" b="-129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3" name="矩形 142">
              <a:extLst>
                <a:ext uri="{FF2B5EF4-FFF2-40B4-BE49-F238E27FC236}">
                  <a16:creationId xmlns:a16="http://schemas.microsoft.com/office/drawing/2014/main" id="{1CCB144B-5D59-5941-2D86-E03B082D9ADF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Output Gate</a:t>
              </a:r>
            </a:p>
          </p:txBody>
        </p:sp>
      </p:grp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10CA4E9B-D9CF-38E1-ABC5-1CE0FE3C91A0}"/>
              </a:ext>
            </a:extLst>
          </p:cNvPr>
          <p:cNvGrpSpPr/>
          <p:nvPr/>
        </p:nvGrpSpPr>
        <p:grpSpPr>
          <a:xfrm>
            <a:off x="6844524" y="3889930"/>
            <a:ext cx="1339534" cy="345969"/>
            <a:chOff x="5916347" y="715731"/>
            <a:chExt cx="1339534" cy="31246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/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h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blipFill>
                  <a:blip r:embed="rId9"/>
                  <a:stretch>
                    <a:fillRect l="-4478" t="-3333" r="-1990" b="-4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04420F9B-238D-DFD9-0976-3A25AF8D23F2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Hidden State</a:t>
              </a:r>
            </a:p>
          </p:txBody>
        </p:sp>
      </p:grpSp>
      <p:cxnSp>
        <p:nvCxnSpPr>
          <p:cNvPr id="148" name="接點: 肘形 147">
            <a:extLst>
              <a:ext uri="{FF2B5EF4-FFF2-40B4-BE49-F238E27FC236}">
                <a16:creationId xmlns:a16="http://schemas.microsoft.com/office/drawing/2014/main" id="{AB1C0EC9-D2B2-966C-EA0D-E5ACDED4C38C}"/>
              </a:ext>
            </a:extLst>
          </p:cNvPr>
          <p:cNvCxnSpPr>
            <a:cxnSpLocks/>
            <a:stCxn id="108" idx="1"/>
            <a:endCxn id="122" idx="3"/>
          </p:cNvCxnSpPr>
          <p:nvPr/>
        </p:nvCxnSpPr>
        <p:spPr>
          <a:xfrm rot="10800000">
            <a:off x="4346760" y="2259676"/>
            <a:ext cx="441264" cy="93032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接點: 肘形 150">
            <a:extLst>
              <a:ext uri="{FF2B5EF4-FFF2-40B4-BE49-F238E27FC236}">
                <a16:creationId xmlns:a16="http://schemas.microsoft.com/office/drawing/2014/main" id="{901C4FDA-8E8E-9831-2797-7D3A682A1672}"/>
              </a:ext>
            </a:extLst>
          </p:cNvPr>
          <p:cNvCxnSpPr>
            <a:cxnSpLocks/>
            <a:stCxn id="108" idx="1"/>
            <a:endCxn id="125" idx="3"/>
          </p:cNvCxnSpPr>
          <p:nvPr/>
        </p:nvCxnSpPr>
        <p:spPr>
          <a:xfrm rot="10800000">
            <a:off x="4346760" y="1754406"/>
            <a:ext cx="441264" cy="1435591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接點: 肘形 153">
            <a:extLst>
              <a:ext uri="{FF2B5EF4-FFF2-40B4-BE49-F238E27FC236}">
                <a16:creationId xmlns:a16="http://schemas.microsoft.com/office/drawing/2014/main" id="{6409D390-2ADB-E4B8-FC6D-C29DB4EFBF04}"/>
              </a:ext>
            </a:extLst>
          </p:cNvPr>
          <p:cNvCxnSpPr>
            <a:cxnSpLocks/>
            <a:stCxn id="108" idx="1"/>
            <a:endCxn id="119" idx="3"/>
          </p:cNvCxnSpPr>
          <p:nvPr/>
        </p:nvCxnSpPr>
        <p:spPr>
          <a:xfrm rot="10800000" flipV="1">
            <a:off x="4346760" y="3189996"/>
            <a:ext cx="441264" cy="623124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接點: 肘形 210">
            <a:extLst>
              <a:ext uri="{FF2B5EF4-FFF2-40B4-BE49-F238E27FC236}">
                <a16:creationId xmlns:a16="http://schemas.microsoft.com/office/drawing/2014/main" id="{C0D5BEEF-9914-3A23-58C4-90D6ADE7E3DC}"/>
              </a:ext>
            </a:extLst>
          </p:cNvPr>
          <p:cNvCxnSpPr>
            <a:cxnSpLocks/>
            <a:stCxn id="80" idx="3"/>
            <a:endCxn id="110" idx="1"/>
          </p:cNvCxnSpPr>
          <p:nvPr/>
        </p:nvCxnSpPr>
        <p:spPr>
          <a:xfrm>
            <a:off x="1382257" y="3591226"/>
            <a:ext cx="453439" cy="229328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線單箭頭接點 213">
            <a:extLst>
              <a:ext uri="{FF2B5EF4-FFF2-40B4-BE49-F238E27FC236}">
                <a16:creationId xmlns:a16="http://schemas.microsoft.com/office/drawing/2014/main" id="{18BAA581-F47A-B4A1-FE50-4BE1EF815837}"/>
              </a:ext>
            </a:extLst>
          </p:cNvPr>
          <p:cNvCxnSpPr>
            <a:cxnSpLocks/>
            <a:stCxn id="125" idx="1"/>
            <a:endCxn id="177" idx="3"/>
          </p:cNvCxnSpPr>
          <p:nvPr/>
        </p:nvCxnSpPr>
        <p:spPr>
          <a:xfrm flipH="1">
            <a:off x="2907957" y="1754405"/>
            <a:ext cx="1164483" cy="365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接點: 肘形 220">
            <a:extLst>
              <a:ext uri="{FF2B5EF4-FFF2-40B4-BE49-F238E27FC236}">
                <a16:creationId xmlns:a16="http://schemas.microsoft.com/office/drawing/2014/main" id="{C4730DCD-881E-2FAA-7D3E-71F62C32477C}"/>
              </a:ext>
            </a:extLst>
          </p:cNvPr>
          <p:cNvCxnSpPr>
            <a:cxnSpLocks/>
            <a:stCxn id="80" idx="3"/>
            <a:endCxn id="113" idx="1"/>
          </p:cNvCxnSpPr>
          <p:nvPr/>
        </p:nvCxnSpPr>
        <p:spPr>
          <a:xfrm flipV="1">
            <a:off x="1382257" y="2269201"/>
            <a:ext cx="453439" cy="132202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線單箭頭接點 229">
            <a:extLst>
              <a:ext uri="{FF2B5EF4-FFF2-40B4-BE49-F238E27FC236}">
                <a16:creationId xmlns:a16="http://schemas.microsoft.com/office/drawing/2014/main" id="{5B0D1E0D-E664-00FC-3E47-024A28EB74D7}"/>
              </a:ext>
            </a:extLst>
          </p:cNvPr>
          <p:cNvCxnSpPr>
            <a:cxnSpLocks/>
            <a:stCxn id="116" idx="3"/>
            <a:endCxn id="177" idx="1"/>
          </p:cNvCxnSpPr>
          <p:nvPr/>
        </p:nvCxnSpPr>
        <p:spPr>
          <a:xfrm flipV="1">
            <a:off x="2119386" y="1758062"/>
            <a:ext cx="253754" cy="1981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線單箭頭接點 234">
            <a:extLst>
              <a:ext uri="{FF2B5EF4-FFF2-40B4-BE49-F238E27FC236}">
                <a16:creationId xmlns:a16="http://schemas.microsoft.com/office/drawing/2014/main" id="{A978C1DF-3B51-390F-BD4C-E2F19FBA30F6}"/>
              </a:ext>
            </a:extLst>
          </p:cNvPr>
          <p:cNvCxnSpPr>
            <a:cxnSpLocks/>
            <a:stCxn id="113" idx="3"/>
            <a:endCxn id="27" idx="1"/>
          </p:cNvCxnSpPr>
          <p:nvPr/>
        </p:nvCxnSpPr>
        <p:spPr>
          <a:xfrm flipV="1">
            <a:off x="2110016" y="2263921"/>
            <a:ext cx="595438" cy="528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直線單箭頭接點 241">
            <a:extLst>
              <a:ext uri="{FF2B5EF4-FFF2-40B4-BE49-F238E27FC236}">
                <a16:creationId xmlns:a16="http://schemas.microsoft.com/office/drawing/2014/main" id="{C9127C74-9AF3-ACF4-5E1C-720DCC09C3CE}"/>
              </a:ext>
            </a:extLst>
          </p:cNvPr>
          <p:cNvCxnSpPr>
            <a:cxnSpLocks/>
            <a:stCxn id="110" idx="3"/>
            <a:endCxn id="37" idx="1"/>
          </p:cNvCxnSpPr>
          <p:nvPr/>
        </p:nvCxnSpPr>
        <p:spPr>
          <a:xfrm flipV="1">
            <a:off x="2110016" y="3818624"/>
            <a:ext cx="733792" cy="193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直線單箭頭接點 244">
            <a:extLst>
              <a:ext uri="{FF2B5EF4-FFF2-40B4-BE49-F238E27FC236}">
                <a16:creationId xmlns:a16="http://schemas.microsoft.com/office/drawing/2014/main" id="{989B40BE-F003-A484-2E4D-EED5BB956596}"/>
              </a:ext>
            </a:extLst>
          </p:cNvPr>
          <p:cNvCxnSpPr>
            <a:cxnSpLocks/>
            <a:stCxn id="119" idx="1"/>
            <a:endCxn id="37" idx="3"/>
          </p:cNvCxnSpPr>
          <p:nvPr/>
        </p:nvCxnSpPr>
        <p:spPr>
          <a:xfrm flipH="1">
            <a:off x="3370084" y="3813120"/>
            <a:ext cx="702356" cy="5504"/>
          </a:xfrm>
          <a:prstGeom prst="straightConnector1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直線單箭頭接點 270">
            <a:extLst>
              <a:ext uri="{FF2B5EF4-FFF2-40B4-BE49-F238E27FC236}">
                <a16:creationId xmlns:a16="http://schemas.microsoft.com/office/drawing/2014/main" id="{D48B3759-EBAD-617E-74CF-EA602B2D7FB3}"/>
              </a:ext>
            </a:extLst>
          </p:cNvPr>
          <p:cNvCxnSpPr>
            <a:cxnSpLocks/>
            <a:stCxn id="122" idx="1"/>
            <a:endCxn id="27" idx="3"/>
          </p:cNvCxnSpPr>
          <p:nvPr/>
        </p:nvCxnSpPr>
        <p:spPr>
          <a:xfrm flipH="1">
            <a:off x="3203848" y="2259676"/>
            <a:ext cx="868592" cy="4245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8B233174-6544-05A1-7A52-C4177A891ED8}"/>
              </a:ext>
            </a:extLst>
          </p:cNvPr>
          <p:cNvCxnSpPr>
            <a:cxnSpLocks/>
            <a:stCxn id="80" idx="3"/>
            <a:endCxn id="85" idx="1"/>
          </p:cNvCxnSpPr>
          <p:nvPr/>
        </p:nvCxnSpPr>
        <p:spPr>
          <a:xfrm flipV="1">
            <a:off x="1382257" y="2763731"/>
            <a:ext cx="458612" cy="8274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直線單箭頭接點 274">
            <a:extLst>
              <a:ext uri="{FF2B5EF4-FFF2-40B4-BE49-F238E27FC236}">
                <a16:creationId xmlns:a16="http://schemas.microsoft.com/office/drawing/2014/main" id="{0A74BBD9-2635-12D5-1AA4-456EEE5F37FF}"/>
              </a:ext>
            </a:extLst>
          </p:cNvPr>
          <p:cNvCxnSpPr>
            <a:cxnSpLocks/>
            <a:stCxn id="85" idx="3"/>
            <a:endCxn id="206" idx="1"/>
          </p:cNvCxnSpPr>
          <p:nvPr/>
        </p:nvCxnSpPr>
        <p:spPr>
          <a:xfrm flipV="1">
            <a:off x="2115189" y="2760538"/>
            <a:ext cx="956286" cy="3193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ED28A4CC-FA8C-9F29-6518-AE25490AB870}"/>
              </a:ext>
            </a:extLst>
          </p:cNvPr>
          <p:cNvCxnSpPr>
            <a:cxnSpLocks/>
            <a:stCxn id="88" idx="1"/>
            <a:endCxn id="206" idx="3"/>
          </p:cNvCxnSpPr>
          <p:nvPr/>
        </p:nvCxnSpPr>
        <p:spPr>
          <a:xfrm flipH="1" flipV="1">
            <a:off x="3779912" y="2760538"/>
            <a:ext cx="292528" cy="3193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7DA902CA-D722-D4AB-6963-ECF5F84BBE19}"/>
              </a:ext>
            </a:extLst>
          </p:cNvPr>
          <p:cNvSpPr txBox="1"/>
          <p:nvPr/>
        </p:nvSpPr>
        <p:spPr>
          <a:xfrm>
            <a:off x="2705454" y="2147673"/>
            <a:ext cx="498394" cy="2324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EC0E8637-4215-FA16-993B-E6FE19BD43A2}"/>
              </a:ext>
            </a:extLst>
          </p:cNvPr>
          <p:cNvSpPr txBox="1"/>
          <p:nvPr/>
        </p:nvSpPr>
        <p:spPr>
          <a:xfrm>
            <a:off x="2843808" y="3717032"/>
            <a:ext cx="526276" cy="2031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σ</a:t>
            </a:r>
            <a:endParaRPr kumimoji="0" lang="en-US" altLang="zh-TW" sz="1600" b="1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60000"/>
                  <a:lumOff val="40000"/>
                </a:schemeClr>
              </a:solidFill>
              <a:effectLst/>
              <a:uLnTx/>
              <a:uFillTx/>
              <a:cs typeface="Calibri" panose="020F0502020204030204" pitchFamily="34" charset="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3B47887B-7C3A-06DA-647A-4F2DEE064CB4}"/>
              </a:ext>
            </a:extLst>
          </p:cNvPr>
          <p:cNvCxnSpPr>
            <a:cxnSpLocks/>
            <a:stCxn id="108" idx="1"/>
            <a:endCxn id="88" idx="3"/>
          </p:cNvCxnSpPr>
          <p:nvPr/>
        </p:nvCxnSpPr>
        <p:spPr>
          <a:xfrm rot="10800000">
            <a:off x="4346760" y="2763732"/>
            <a:ext cx="441264" cy="426265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B1A1E97A-4774-FDA2-7F81-3825B10F33C3}"/>
              </a:ext>
            </a:extLst>
          </p:cNvPr>
          <p:cNvSpPr txBox="1"/>
          <p:nvPr/>
        </p:nvSpPr>
        <p:spPr>
          <a:xfrm>
            <a:off x="620881" y="1484784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x(t)</a:t>
            </a:r>
            <a:endParaRPr lang="zh-TW" altLang="en-US" sz="1200" dirty="0"/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06EFEB9E-A81C-1674-DBBD-69AB5910C07B}"/>
              </a:ext>
            </a:extLst>
          </p:cNvPr>
          <p:cNvSpPr txBox="1"/>
          <p:nvPr/>
        </p:nvSpPr>
        <p:spPr>
          <a:xfrm>
            <a:off x="4856316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h(t)</a:t>
            </a:r>
            <a:endParaRPr lang="zh-TW" altLang="en-US" sz="1200" dirty="0"/>
          </a:p>
        </p:txBody>
      </p:sp>
      <p:sp>
        <p:nvSpPr>
          <p:cNvPr id="206" name="文字方塊 205">
            <a:extLst>
              <a:ext uri="{FF2B5EF4-FFF2-40B4-BE49-F238E27FC236}">
                <a16:creationId xmlns:a16="http://schemas.microsoft.com/office/drawing/2014/main" id="{D7160AE8-7A03-0531-A60B-836455A6276D}"/>
              </a:ext>
            </a:extLst>
          </p:cNvPr>
          <p:cNvSpPr txBox="1"/>
          <p:nvPr/>
        </p:nvSpPr>
        <p:spPr>
          <a:xfrm>
            <a:off x="3071475" y="2679137"/>
            <a:ext cx="708437" cy="16280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tanh 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5636790C-44F1-422D-C96B-0684D774D0CF}"/>
              </a:ext>
            </a:extLst>
          </p:cNvPr>
          <p:cNvSpPr txBox="1"/>
          <p:nvPr/>
        </p:nvSpPr>
        <p:spPr>
          <a:xfrm>
            <a:off x="3296220" y="2852936"/>
            <a:ext cx="339676" cy="1333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€</a:t>
            </a:r>
            <a:r>
              <a:rPr lang="en-US" altLang="zh-TW" sz="1400" b="1" dirty="0">
                <a:solidFill>
                  <a:schemeClr val="accent4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84DBD70E-B8C0-89B1-F630-AF61FF591373}"/>
              </a:ext>
            </a:extLst>
          </p:cNvPr>
          <p:cNvSpPr txBox="1"/>
          <p:nvPr/>
        </p:nvSpPr>
        <p:spPr>
          <a:xfrm>
            <a:off x="2373140" y="1645351"/>
            <a:ext cx="534817" cy="225421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D9D0C396-BA14-09D0-9E72-56A9A3E764D5}"/>
              </a:ext>
            </a:extLst>
          </p:cNvPr>
          <p:cNvSpPr txBox="1"/>
          <p:nvPr/>
        </p:nvSpPr>
        <p:spPr>
          <a:xfrm>
            <a:off x="2343944" y="1844824"/>
            <a:ext cx="352899" cy="18288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f4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9279C120-8B7D-2C0C-C8E7-3F2C6006EEA3}"/>
              </a:ext>
            </a:extLst>
          </p:cNvPr>
          <p:cNvSpPr txBox="1"/>
          <p:nvPr/>
        </p:nvSpPr>
        <p:spPr>
          <a:xfrm>
            <a:off x="2698602" y="2323949"/>
            <a:ext cx="361230" cy="17457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i4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D15400-0AD2-169A-6F71-5FB3C845F9A3}"/>
              </a:ext>
            </a:extLst>
          </p:cNvPr>
          <p:cNvSpPr/>
          <p:nvPr/>
        </p:nvSpPr>
        <p:spPr>
          <a:xfrm>
            <a:off x="693093" y="3419844"/>
            <a:ext cx="689164" cy="342763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x(4)</a:t>
            </a:r>
          </a:p>
        </p:txBody>
      </p:sp>
      <p:cxnSp>
        <p:nvCxnSpPr>
          <p:cNvPr id="212" name="接點: 肘形 211">
            <a:extLst>
              <a:ext uri="{FF2B5EF4-FFF2-40B4-BE49-F238E27FC236}">
                <a16:creationId xmlns:a16="http://schemas.microsoft.com/office/drawing/2014/main" id="{F74F3668-7891-A338-BD45-C31E65FE1CC6}"/>
              </a:ext>
            </a:extLst>
          </p:cNvPr>
          <p:cNvCxnSpPr>
            <a:cxnSpLocks/>
            <a:stCxn id="158" idx="2"/>
            <a:endCxn id="306" idx="0"/>
          </p:cNvCxnSpPr>
          <p:nvPr/>
        </p:nvCxnSpPr>
        <p:spPr>
          <a:xfrm rot="16200000" flipH="1">
            <a:off x="2634527" y="2743213"/>
            <a:ext cx="786460" cy="29708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接點: 肘形 216">
            <a:extLst>
              <a:ext uri="{FF2B5EF4-FFF2-40B4-BE49-F238E27FC236}">
                <a16:creationId xmlns:a16="http://schemas.microsoft.com/office/drawing/2014/main" id="{DD17F48B-17BE-BA11-CF4C-79DFFD95FB03}"/>
              </a:ext>
            </a:extLst>
          </p:cNvPr>
          <p:cNvCxnSpPr>
            <a:cxnSpLocks/>
            <a:stCxn id="77" idx="2"/>
            <a:endCxn id="319" idx="0"/>
          </p:cNvCxnSpPr>
          <p:nvPr/>
        </p:nvCxnSpPr>
        <p:spPr>
          <a:xfrm rot="16200000" flipH="1">
            <a:off x="3353296" y="3099095"/>
            <a:ext cx="298651" cy="7312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矩形 240">
            <a:extLst>
              <a:ext uri="{FF2B5EF4-FFF2-40B4-BE49-F238E27FC236}">
                <a16:creationId xmlns:a16="http://schemas.microsoft.com/office/drawing/2014/main" id="{208C2ADA-4A55-5920-4045-5CA9706A897C}"/>
              </a:ext>
            </a:extLst>
          </p:cNvPr>
          <p:cNvSpPr/>
          <p:nvPr/>
        </p:nvSpPr>
        <p:spPr>
          <a:xfrm>
            <a:off x="4788024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h4</a:t>
            </a:r>
          </a:p>
        </p:txBody>
      </p:sp>
      <p:graphicFrame>
        <p:nvGraphicFramePr>
          <p:cNvPr id="244" name="表格 243">
            <a:extLst>
              <a:ext uri="{FF2B5EF4-FFF2-40B4-BE49-F238E27FC236}">
                <a16:creationId xmlns:a16="http://schemas.microsoft.com/office/drawing/2014/main" id="{A25279DA-52BF-B9C1-15DA-A140FD66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4993799"/>
              </p:ext>
            </p:extLst>
          </p:nvPr>
        </p:nvGraphicFramePr>
        <p:xfrm>
          <a:off x="5522179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3AC4EF3F-1274-2ADF-A4D9-35B088874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4099644"/>
              </p:ext>
            </p:extLst>
          </p:nvPr>
        </p:nvGraphicFramePr>
        <p:xfrm>
          <a:off x="5522180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253" name="文字方塊 252">
            <a:extLst>
              <a:ext uri="{FF2B5EF4-FFF2-40B4-BE49-F238E27FC236}">
                <a16:creationId xmlns:a16="http://schemas.microsoft.com/office/drawing/2014/main" id="{45A15D45-61C9-D3E2-0EC7-8ABD4A586C80}"/>
              </a:ext>
            </a:extLst>
          </p:cNvPr>
          <p:cNvSpPr txBox="1"/>
          <p:nvPr/>
        </p:nvSpPr>
        <p:spPr>
          <a:xfrm>
            <a:off x="5511157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(t)</a:t>
            </a:r>
            <a:endParaRPr lang="zh-TW" altLang="en-US" sz="1200" dirty="0"/>
          </a:p>
        </p:txBody>
      </p:sp>
      <p:sp>
        <p:nvSpPr>
          <p:cNvPr id="255" name="矩形 254">
            <a:extLst>
              <a:ext uri="{FF2B5EF4-FFF2-40B4-BE49-F238E27FC236}">
                <a16:creationId xmlns:a16="http://schemas.microsoft.com/office/drawing/2014/main" id="{39D3F783-DCBF-8166-592E-9053AF6E1A01}"/>
              </a:ext>
            </a:extLst>
          </p:cNvPr>
          <p:cNvSpPr/>
          <p:nvPr/>
        </p:nvSpPr>
        <p:spPr>
          <a:xfrm>
            <a:off x="5443135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latin typeface="+mj-lt"/>
                <a:ea typeface="+mj-ea"/>
              </a:rPr>
              <a:t>C4</a:t>
            </a:r>
          </a:p>
        </p:txBody>
      </p:sp>
      <p:sp>
        <p:nvSpPr>
          <p:cNvPr id="261" name="矩形 260">
            <a:extLst>
              <a:ext uri="{FF2B5EF4-FFF2-40B4-BE49-F238E27FC236}">
                <a16:creationId xmlns:a16="http://schemas.microsoft.com/office/drawing/2014/main" id="{45AD05D0-537C-353F-B140-C4376E317C2B}"/>
              </a:ext>
            </a:extLst>
          </p:cNvPr>
          <p:cNvSpPr/>
          <p:nvPr/>
        </p:nvSpPr>
        <p:spPr>
          <a:xfrm>
            <a:off x="5442865" y="3053059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5">
                    <a:lumMod val="75000"/>
                  </a:schemeClr>
                </a:solidFill>
                <a:ea typeface="微軟正黑體" panose="020B0604030504040204" pitchFamily="34" charset="-120"/>
              </a:rPr>
              <a:t>C3</a:t>
            </a:r>
          </a:p>
        </p:txBody>
      </p: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7EF87034-03F1-240B-BAF7-FF0E3F939EC3}"/>
              </a:ext>
            </a:extLst>
          </p:cNvPr>
          <p:cNvCxnSpPr>
            <a:cxnSpLocks/>
            <a:stCxn id="100" idx="2"/>
            <a:endCxn id="333" idx="0"/>
          </p:cNvCxnSpPr>
          <p:nvPr/>
        </p:nvCxnSpPr>
        <p:spPr>
          <a:xfrm rot="5400000">
            <a:off x="1843460" y="2608050"/>
            <a:ext cx="1257280" cy="9658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5" name="群組 364">
            <a:extLst>
              <a:ext uri="{FF2B5EF4-FFF2-40B4-BE49-F238E27FC236}">
                <a16:creationId xmlns:a16="http://schemas.microsoft.com/office/drawing/2014/main" id="{1B01C14B-B4B6-771F-4A3D-AA77FCF8B5C7}"/>
              </a:ext>
            </a:extLst>
          </p:cNvPr>
          <p:cNvGrpSpPr/>
          <p:nvPr/>
        </p:nvGrpSpPr>
        <p:grpSpPr>
          <a:xfrm>
            <a:off x="2267744" y="3284984"/>
            <a:ext cx="1775224" cy="192822"/>
            <a:chOff x="2277562" y="3566144"/>
            <a:chExt cx="1775224" cy="182880"/>
          </a:xfrm>
        </p:grpSpPr>
        <p:sp>
          <p:nvSpPr>
            <p:cNvPr id="93" name="文字方塊 92">
              <a:extLst>
                <a:ext uri="{FF2B5EF4-FFF2-40B4-BE49-F238E27FC236}">
                  <a16:creationId xmlns:a16="http://schemas.microsoft.com/office/drawing/2014/main" id="{202A9E67-9667-A38D-40C2-597520F7CD55}"/>
                </a:ext>
              </a:extLst>
            </p:cNvPr>
            <p:cNvSpPr txBox="1"/>
            <p:nvPr/>
          </p:nvSpPr>
          <p:spPr>
            <a:xfrm>
              <a:off x="3661616" y="3566144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296" name="文字方塊 295">
              <a:extLst>
                <a:ext uri="{FF2B5EF4-FFF2-40B4-BE49-F238E27FC236}">
                  <a16:creationId xmlns:a16="http://schemas.microsoft.com/office/drawing/2014/main" id="{393BD97A-B14F-525F-59EC-8B80FE622B25}"/>
                </a:ext>
              </a:extLst>
            </p:cNvPr>
            <p:cNvSpPr txBox="1"/>
            <p:nvPr/>
          </p:nvSpPr>
          <p:spPr>
            <a:xfrm>
              <a:off x="2941536" y="3566144"/>
              <a:ext cx="13956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+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06" name="文字方塊 305">
              <a:extLst>
                <a:ext uri="{FF2B5EF4-FFF2-40B4-BE49-F238E27FC236}">
                  <a16:creationId xmlns:a16="http://schemas.microsoft.com/office/drawing/2014/main" id="{85A1A1DE-9FA4-3618-40E6-A1023D3809A6}"/>
                </a:ext>
              </a:extLst>
            </p:cNvPr>
            <p:cNvSpPr txBox="1"/>
            <p:nvPr/>
          </p:nvSpPr>
          <p:spPr>
            <a:xfrm>
              <a:off x="3086557" y="3566144"/>
              <a:ext cx="199117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08" name="文字方塊 307">
              <a:extLst>
                <a:ext uri="{FF2B5EF4-FFF2-40B4-BE49-F238E27FC236}">
                  <a16:creationId xmlns:a16="http://schemas.microsoft.com/office/drawing/2014/main" id="{58110583-06D2-26F7-0EF0-7BA9CC1F2A19}"/>
                </a:ext>
              </a:extLst>
            </p:cNvPr>
            <p:cNvSpPr txBox="1"/>
            <p:nvPr/>
          </p:nvSpPr>
          <p:spPr>
            <a:xfrm>
              <a:off x="2565594" y="3566144"/>
              <a:ext cx="35532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5">
                      <a:lumMod val="75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C3</a:t>
              </a:r>
              <a:endParaRPr lang="zh-TW" altLang="en-US" sz="1400" b="1" baseline="-25000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  <p:sp>
          <p:nvSpPr>
            <p:cNvPr id="319" name="文字方塊 318">
              <a:extLst>
                <a:ext uri="{FF2B5EF4-FFF2-40B4-BE49-F238E27FC236}">
                  <a16:creationId xmlns:a16="http://schemas.microsoft.com/office/drawing/2014/main" id="{0CFB4FC7-B016-8FE8-808F-18DF0A3C9AFF}"/>
                </a:ext>
              </a:extLst>
            </p:cNvPr>
            <p:cNvSpPr txBox="1"/>
            <p:nvPr/>
          </p:nvSpPr>
          <p:spPr>
            <a:xfrm>
              <a:off x="3429690" y="3566144"/>
              <a:ext cx="238623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€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33" name="文字方塊 332">
              <a:extLst>
                <a:ext uri="{FF2B5EF4-FFF2-40B4-BE49-F238E27FC236}">
                  <a16:creationId xmlns:a16="http://schemas.microsoft.com/office/drawing/2014/main" id="{335FF69B-A873-42BA-973E-F11253D9A9AD}"/>
                </a:ext>
              </a:extLst>
            </p:cNvPr>
            <p:cNvSpPr txBox="1"/>
            <p:nvPr/>
          </p:nvSpPr>
          <p:spPr>
            <a:xfrm>
              <a:off x="2277562" y="3566144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f4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61" name="文字方塊 360">
              <a:extLst>
                <a:ext uri="{FF2B5EF4-FFF2-40B4-BE49-F238E27FC236}">
                  <a16:creationId xmlns:a16="http://schemas.microsoft.com/office/drawing/2014/main" id="{89E2B554-1E9D-542F-320A-5113401505CF}"/>
                </a:ext>
              </a:extLst>
            </p:cNvPr>
            <p:cNvSpPr txBox="1"/>
            <p:nvPr/>
          </p:nvSpPr>
          <p:spPr>
            <a:xfrm>
              <a:off x="3274548" y="3566144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grpSp>
        <p:nvGrpSpPr>
          <p:cNvPr id="400" name="群組 399">
            <a:extLst>
              <a:ext uri="{FF2B5EF4-FFF2-40B4-BE49-F238E27FC236}">
                <a16:creationId xmlns:a16="http://schemas.microsoft.com/office/drawing/2014/main" id="{678B9CFC-5C6F-CD91-2BD7-7779CABCD7C0}"/>
              </a:ext>
            </a:extLst>
          </p:cNvPr>
          <p:cNvGrpSpPr/>
          <p:nvPr/>
        </p:nvGrpSpPr>
        <p:grpSpPr>
          <a:xfrm>
            <a:off x="2699792" y="4244097"/>
            <a:ext cx="1423372" cy="193015"/>
            <a:chOff x="2636069" y="4580518"/>
            <a:chExt cx="1423372" cy="193015"/>
          </a:xfrm>
        </p:grpSpPr>
        <p:sp>
          <p:nvSpPr>
            <p:cNvPr id="380" name="文字方塊 379">
              <a:extLst>
                <a:ext uri="{FF2B5EF4-FFF2-40B4-BE49-F238E27FC236}">
                  <a16:creationId xmlns:a16="http://schemas.microsoft.com/office/drawing/2014/main" id="{3013227B-A0B4-E97B-5F66-456084D82003}"/>
                </a:ext>
              </a:extLst>
            </p:cNvPr>
            <p:cNvSpPr txBox="1"/>
            <p:nvPr/>
          </p:nvSpPr>
          <p:spPr>
            <a:xfrm>
              <a:off x="3668271" y="4590653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h4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4" name="文字方塊 383">
              <a:extLst>
                <a:ext uri="{FF2B5EF4-FFF2-40B4-BE49-F238E27FC236}">
                  <a16:creationId xmlns:a16="http://schemas.microsoft.com/office/drawing/2014/main" id="{D9E098ED-B1A0-4BB9-A0AB-BB889550DB95}"/>
                </a:ext>
              </a:extLst>
            </p:cNvPr>
            <p:cNvSpPr txBox="1"/>
            <p:nvPr/>
          </p:nvSpPr>
          <p:spPr>
            <a:xfrm>
              <a:off x="3016082" y="4580518"/>
              <a:ext cx="654556" cy="193015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tanh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(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)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85" name="文字方塊 384">
              <a:extLst>
                <a:ext uri="{FF2B5EF4-FFF2-40B4-BE49-F238E27FC236}">
                  <a16:creationId xmlns:a16="http://schemas.microsoft.com/office/drawing/2014/main" id="{B9032771-847E-7D05-A59B-E10CFADBB86E}"/>
                </a:ext>
              </a:extLst>
            </p:cNvPr>
            <p:cNvSpPr txBox="1"/>
            <p:nvPr/>
          </p:nvSpPr>
          <p:spPr>
            <a:xfrm>
              <a:off x="2636069" y="4590653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O4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6" name="文字方塊 385">
              <a:extLst>
                <a:ext uri="{FF2B5EF4-FFF2-40B4-BE49-F238E27FC236}">
                  <a16:creationId xmlns:a16="http://schemas.microsoft.com/office/drawing/2014/main" id="{BEF18A3B-6F2A-C7EB-ABC2-B56A88322765}"/>
                </a:ext>
              </a:extLst>
            </p:cNvPr>
            <p:cNvSpPr txBox="1"/>
            <p:nvPr/>
          </p:nvSpPr>
          <p:spPr>
            <a:xfrm>
              <a:off x="2876183" y="4590653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sp>
        <p:nvSpPr>
          <p:cNvPr id="394" name="文字方塊 393">
            <a:extLst>
              <a:ext uri="{FF2B5EF4-FFF2-40B4-BE49-F238E27FC236}">
                <a16:creationId xmlns:a16="http://schemas.microsoft.com/office/drawing/2014/main" id="{05AB4175-609F-2C99-587F-458524FC6275}"/>
              </a:ext>
            </a:extLst>
          </p:cNvPr>
          <p:cNvSpPr txBox="1"/>
          <p:nvPr/>
        </p:nvSpPr>
        <p:spPr>
          <a:xfrm>
            <a:off x="2915816" y="3879371"/>
            <a:ext cx="339942" cy="1658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O4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401" name="接點: 肘形 400">
            <a:extLst>
              <a:ext uri="{FF2B5EF4-FFF2-40B4-BE49-F238E27FC236}">
                <a16:creationId xmlns:a16="http://schemas.microsoft.com/office/drawing/2014/main" id="{5DC1FA8A-A973-2818-A492-E778176837C0}"/>
              </a:ext>
            </a:extLst>
          </p:cNvPr>
          <p:cNvCxnSpPr>
            <a:cxnSpLocks/>
            <a:stCxn id="394" idx="2"/>
            <a:endCxn id="385" idx="0"/>
          </p:cNvCxnSpPr>
          <p:nvPr/>
        </p:nvCxnSpPr>
        <p:spPr>
          <a:xfrm rot="5400000">
            <a:off x="2866338" y="4034783"/>
            <a:ext cx="208964" cy="22993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矩形 273">
            <a:extLst>
              <a:ext uri="{FF2B5EF4-FFF2-40B4-BE49-F238E27FC236}">
                <a16:creationId xmlns:a16="http://schemas.microsoft.com/office/drawing/2014/main" id="{071D2768-FAD8-3B3B-2C79-EE9083B16E28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6" name="矩形 275">
            <a:extLst>
              <a:ext uri="{FF2B5EF4-FFF2-40B4-BE49-F238E27FC236}">
                <a16:creationId xmlns:a16="http://schemas.microsoft.com/office/drawing/2014/main" id="{B1E1564A-5C39-01A3-3052-1273C47189C1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7" name="矩形 276">
            <a:extLst>
              <a:ext uri="{FF2B5EF4-FFF2-40B4-BE49-F238E27FC236}">
                <a16:creationId xmlns:a16="http://schemas.microsoft.com/office/drawing/2014/main" id="{038FA1F8-7759-BA7D-94A9-BF2FCD8E227F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278" name="直線單箭頭接點 277">
            <a:extLst>
              <a:ext uri="{FF2B5EF4-FFF2-40B4-BE49-F238E27FC236}">
                <a16:creationId xmlns:a16="http://schemas.microsoft.com/office/drawing/2014/main" id="{C8150E48-D24A-F896-322F-56BD031CF3F1}"/>
              </a:ext>
            </a:extLst>
          </p:cNvPr>
          <p:cNvCxnSpPr>
            <a:cxnSpLocks/>
            <a:stCxn id="284" idx="2"/>
            <a:endCxn id="283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矩形 278">
            <a:extLst>
              <a:ext uri="{FF2B5EF4-FFF2-40B4-BE49-F238E27FC236}">
                <a16:creationId xmlns:a16="http://schemas.microsoft.com/office/drawing/2014/main" id="{D8D66347-8CDE-D988-AF4E-D0F8B1C2ED4E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C61301F1-EA43-54A9-33B3-E7EC6861289E}"/>
              </a:ext>
            </a:extLst>
          </p:cNvPr>
          <p:cNvCxnSpPr>
            <a:cxnSpLocks/>
            <a:stCxn id="277" idx="3"/>
            <a:endCxn id="279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接點: 肘形 280">
            <a:extLst>
              <a:ext uri="{FF2B5EF4-FFF2-40B4-BE49-F238E27FC236}">
                <a16:creationId xmlns:a16="http://schemas.microsoft.com/office/drawing/2014/main" id="{89E4670A-525F-5D87-622C-1C0959C0EC8C}"/>
              </a:ext>
            </a:extLst>
          </p:cNvPr>
          <p:cNvCxnSpPr>
            <a:cxnSpLocks/>
            <a:stCxn id="282" idx="0"/>
            <a:endCxn id="284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矩形 281">
            <a:extLst>
              <a:ext uri="{FF2B5EF4-FFF2-40B4-BE49-F238E27FC236}">
                <a16:creationId xmlns:a16="http://schemas.microsoft.com/office/drawing/2014/main" id="{53590014-355F-590D-3EA8-3F9E7FAE30A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3" name="矩形 282">
            <a:extLst>
              <a:ext uri="{FF2B5EF4-FFF2-40B4-BE49-F238E27FC236}">
                <a16:creationId xmlns:a16="http://schemas.microsoft.com/office/drawing/2014/main" id="{7C355137-E43A-A086-33FE-2F30D619C4E4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4" name="矩形 283">
            <a:extLst>
              <a:ext uri="{FF2B5EF4-FFF2-40B4-BE49-F238E27FC236}">
                <a16:creationId xmlns:a16="http://schemas.microsoft.com/office/drawing/2014/main" id="{69A79D37-4D83-271F-A58A-887493204A95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285" name="矩形 284">
            <a:extLst>
              <a:ext uri="{FF2B5EF4-FFF2-40B4-BE49-F238E27FC236}">
                <a16:creationId xmlns:a16="http://schemas.microsoft.com/office/drawing/2014/main" id="{4C7E1D27-3DD2-7473-57DC-C0F4E61B5279}"/>
              </a:ext>
            </a:extLst>
          </p:cNvPr>
          <p:cNvSpPr/>
          <p:nvPr/>
        </p:nvSpPr>
        <p:spPr>
          <a:xfrm>
            <a:off x="2718146" y="563609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</a:p>
        </p:txBody>
      </p:sp>
      <p:sp>
        <p:nvSpPr>
          <p:cNvPr id="286" name="矩形 285">
            <a:extLst>
              <a:ext uri="{FF2B5EF4-FFF2-40B4-BE49-F238E27FC236}">
                <a16:creationId xmlns:a16="http://schemas.microsoft.com/office/drawing/2014/main" id="{F8152F6A-5F26-2B22-6037-81083793B3D6}"/>
              </a:ext>
            </a:extLst>
          </p:cNvPr>
          <p:cNvSpPr/>
          <p:nvPr/>
        </p:nvSpPr>
        <p:spPr>
          <a:xfrm>
            <a:off x="2659850" y="5542593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7" name="直線單箭頭接點 286">
            <a:extLst>
              <a:ext uri="{FF2B5EF4-FFF2-40B4-BE49-F238E27FC236}">
                <a16:creationId xmlns:a16="http://schemas.microsoft.com/office/drawing/2014/main" id="{9BDE83C7-862B-E97A-C073-03DA051D6066}"/>
              </a:ext>
            </a:extLst>
          </p:cNvPr>
          <p:cNvCxnSpPr>
            <a:cxnSpLocks/>
            <a:stCxn id="286" idx="1"/>
            <a:endCxn id="283" idx="3"/>
          </p:cNvCxnSpPr>
          <p:nvPr/>
        </p:nvCxnSpPr>
        <p:spPr>
          <a:xfrm flipH="1" flipV="1">
            <a:off x="2065433" y="5636118"/>
            <a:ext cx="594417" cy="1807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headEnd type="triangle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接點: 肘形 287">
            <a:extLst>
              <a:ext uri="{FF2B5EF4-FFF2-40B4-BE49-F238E27FC236}">
                <a16:creationId xmlns:a16="http://schemas.microsoft.com/office/drawing/2014/main" id="{36CC8CF1-E579-7E91-6984-41915E1A6A27}"/>
              </a:ext>
            </a:extLst>
          </p:cNvPr>
          <p:cNvCxnSpPr>
            <a:cxnSpLocks/>
            <a:stCxn id="286" idx="0"/>
            <a:endCxn id="284" idx="3"/>
          </p:cNvCxnSpPr>
          <p:nvPr/>
        </p:nvCxnSpPr>
        <p:spPr>
          <a:xfrm rot="16200000" flipV="1">
            <a:off x="2300245" y="5045828"/>
            <a:ext cx="320249" cy="673282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接點: 肘形 288">
            <a:extLst>
              <a:ext uri="{FF2B5EF4-FFF2-40B4-BE49-F238E27FC236}">
                <a16:creationId xmlns:a16="http://schemas.microsoft.com/office/drawing/2014/main" id="{8B3A98BF-784B-284E-6DC0-9D74FE2C07B1}"/>
              </a:ext>
            </a:extLst>
          </p:cNvPr>
          <p:cNvCxnSpPr>
            <a:cxnSpLocks/>
            <a:stCxn id="276" idx="3"/>
            <a:endCxn id="283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矩形 289">
            <a:extLst>
              <a:ext uri="{FF2B5EF4-FFF2-40B4-BE49-F238E27FC236}">
                <a16:creationId xmlns:a16="http://schemas.microsoft.com/office/drawing/2014/main" id="{8FD110E4-ECC6-061D-CCD7-7E646B6E6C18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291" name="接點: 肘形 290">
            <a:extLst>
              <a:ext uri="{FF2B5EF4-FFF2-40B4-BE49-F238E27FC236}">
                <a16:creationId xmlns:a16="http://schemas.microsoft.com/office/drawing/2014/main" id="{523D5D04-DA3B-1F24-D3CD-146D326AADC6}"/>
              </a:ext>
            </a:extLst>
          </p:cNvPr>
          <p:cNvCxnSpPr>
            <a:cxnSpLocks/>
            <a:stCxn id="283" idx="3"/>
            <a:endCxn id="282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語音泡泡: 圓角矩形 292">
            <a:extLst>
              <a:ext uri="{FF2B5EF4-FFF2-40B4-BE49-F238E27FC236}">
                <a16:creationId xmlns:a16="http://schemas.microsoft.com/office/drawing/2014/main" id="{BAB6774C-E066-B95E-DDF8-ECB34BBEEA36}"/>
              </a:ext>
            </a:extLst>
          </p:cNvPr>
          <p:cNvSpPr/>
          <p:nvPr/>
        </p:nvSpPr>
        <p:spPr>
          <a:xfrm>
            <a:off x="2888808" y="5133772"/>
            <a:ext cx="733900" cy="356236"/>
          </a:xfrm>
          <a:prstGeom prst="wedgeRoundRectCallout">
            <a:avLst>
              <a:gd name="adj1" fmla="val -31982"/>
              <a:gd name="adj2" fmla="val 8572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Long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232A2E64-4989-26BC-680E-E0BBBFE04411}"/>
              </a:ext>
            </a:extLst>
          </p:cNvPr>
          <p:cNvGrpSpPr/>
          <p:nvPr/>
        </p:nvGrpSpPr>
        <p:grpSpPr>
          <a:xfrm>
            <a:off x="6298414" y="5473804"/>
            <a:ext cx="1252209" cy="628700"/>
            <a:chOff x="5696586" y="5581839"/>
            <a:chExt cx="1252209" cy="628700"/>
          </a:xfrm>
          <a:solidFill>
            <a:schemeClr val="bg1">
              <a:alpha val="80000"/>
            </a:schemeClr>
          </a:solidFill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85F080A9-3D21-2749-C54B-80AE08BB809B}"/>
                </a:ext>
              </a:extLst>
            </p:cNvPr>
            <p:cNvSpPr/>
            <p:nvPr/>
          </p:nvSpPr>
          <p:spPr>
            <a:xfrm>
              <a:off x="5708450" y="5581839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Sigmoid Function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/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l-GR" altLang="zh-TW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blipFill>
                  <a:blip r:embed="rId11"/>
                  <a:stretch>
                    <a:fillRect l="-2941"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D596469-84FF-2A12-9C89-8875BE341A6D}"/>
              </a:ext>
            </a:extLst>
          </p:cNvPr>
          <p:cNvSpPr txBox="1"/>
          <p:nvPr/>
        </p:nvSpPr>
        <p:spPr>
          <a:xfrm>
            <a:off x="854795" y="381958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B1B9B4A-EAEE-5F90-4718-751F218473EF}"/>
              </a:ext>
            </a:extLst>
          </p:cNvPr>
          <p:cNvSpPr txBox="1"/>
          <p:nvPr/>
        </p:nvSpPr>
        <p:spPr>
          <a:xfrm>
            <a:off x="4926320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C6276F62-C8A0-6CB4-BB7C-2B8CD11B8B89}"/>
              </a:ext>
            </a:extLst>
          </p:cNvPr>
          <p:cNvSpPr txBox="1"/>
          <p:nvPr/>
        </p:nvSpPr>
        <p:spPr>
          <a:xfrm>
            <a:off x="5574392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005006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A8B9D399-18EA-2438-0644-69D112C1EAFB}"/>
              </a:ext>
            </a:extLst>
          </p:cNvPr>
          <p:cNvSpPr/>
          <p:nvPr/>
        </p:nvSpPr>
        <p:spPr>
          <a:xfrm>
            <a:off x="5680907" y="4266237"/>
            <a:ext cx="547277" cy="70883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754F19F-3CB2-C8C7-CD09-C9D9C6962E05}"/>
              </a:ext>
            </a:extLst>
          </p:cNvPr>
          <p:cNvSpPr/>
          <p:nvPr/>
        </p:nvSpPr>
        <p:spPr>
          <a:xfrm>
            <a:off x="5693702" y="4267363"/>
            <a:ext cx="114638" cy="707713"/>
          </a:xfrm>
          <a:prstGeom prst="rect">
            <a:avLst/>
          </a:prstGeom>
          <a:solidFill>
            <a:schemeClr val="accent6">
              <a:lumMod val="40000"/>
              <a:lumOff val="60000"/>
              <a:alpha val="20000"/>
            </a:schemeClr>
          </a:solidFill>
          <a:ln w="15875">
            <a:solidFill>
              <a:schemeClr val="accent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3A371627-2129-1CD8-EEF3-68E2865946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0996401"/>
              </p:ext>
            </p:extLst>
          </p:nvPr>
        </p:nvGraphicFramePr>
        <p:xfrm>
          <a:off x="1623654" y="2633783"/>
          <a:ext cx="236077" cy="1292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459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矩形 123">
            <a:extLst>
              <a:ext uri="{FF2B5EF4-FFF2-40B4-BE49-F238E27FC236}">
                <a16:creationId xmlns:a16="http://schemas.microsoft.com/office/drawing/2014/main" id="{D768AF2D-7E38-DF71-F863-EC7C0D0FBF2F}"/>
              </a:ext>
            </a:extLst>
          </p:cNvPr>
          <p:cNvSpPr/>
          <p:nvPr/>
        </p:nvSpPr>
        <p:spPr>
          <a:xfrm>
            <a:off x="1533952" y="4938637"/>
            <a:ext cx="1089818" cy="1505565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0" bIns="0" rtlCol="0" anchor="t" anchorCtr="0"/>
          <a:lstStyle/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GPU</a:t>
            </a:r>
          </a:p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parallelism</a:t>
            </a:r>
          </a:p>
        </p:txBody>
      </p: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8F443832-6634-CC95-EFEB-76CC61FD2CA3}"/>
              </a:ext>
            </a:extLst>
          </p:cNvPr>
          <p:cNvCxnSpPr>
            <a:cxnSpLocks/>
            <a:stCxn id="145" idx="3"/>
            <a:endCxn id="126" idx="0"/>
          </p:cNvCxnSpPr>
          <p:nvPr/>
        </p:nvCxnSpPr>
        <p:spPr>
          <a:xfrm>
            <a:off x="2110016" y="5496182"/>
            <a:ext cx="411214" cy="276694"/>
          </a:xfrm>
          <a:prstGeom prst="bentConnector2">
            <a:avLst/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A4E4C2DD-DA9F-4C94-3335-3160B11006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4473992"/>
              </p:ext>
            </p:extLst>
          </p:nvPr>
        </p:nvGraphicFramePr>
        <p:xfrm>
          <a:off x="2612067" y="2657773"/>
          <a:ext cx="1681896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57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178992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5E45F6B-A916-9975-2772-A70378D9C8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32341"/>
              </p:ext>
            </p:extLst>
          </p:nvPr>
        </p:nvGraphicFramePr>
        <p:xfrm>
          <a:off x="4406696" y="2649659"/>
          <a:ext cx="724420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105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9987F561-B119-663F-2EE6-7CC8B85849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5596911"/>
              </p:ext>
            </p:extLst>
          </p:nvPr>
        </p:nvGraphicFramePr>
        <p:xfrm>
          <a:off x="5131117" y="2649660"/>
          <a:ext cx="665019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2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C05BFBB7-38E4-72AF-90CB-0BA8048D0B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2328938"/>
              </p:ext>
            </p:extLst>
          </p:nvPr>
        </p:nvGraphicFramePr>
        <p:xfrm>
          <a:off x="1917886" y="2649660"/>
          <a:ext cx="565882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28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4" name="文字方塊 43">
            <a:extLst>
              <a:ext uri="{FF2B5EF4-FFF2-40B4-BE49-F238E27FC236}">
                <a16:creationId xmlns:a16="http://schemas.microsoft.com/office/drawing/2014/main" id="{950B938C-E16C-1969-3AB6-CA551EEB16DB}"/>
              </a:ext>
            </a:extLst>
          </p:cNvPr>
          <p:cNvSpPr txBox="1"/>
          <p:nvPr/>
        </p:nvSpPr>
        <p:spPr>
          <a:xfrm>
            <a:off x="5317095" y="3140968"/>
            <a:ext cx="316238" cy="3022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C8088BAC-BEC6-2D08-54B1-5CD74FAFBB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4772291"/>
              </p:ext>
            </p:extLst>
          </p:nvPr>
        </p:nvGraphicFramePr>
        <p:xfrm>
          <a:off x="2604277" y="1962499"/>
          <a:ext cx="794308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49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6FCD64FD-F98B-8AC4-C4AC-D3B0F56692A6}"/>
              </a:ext>
            </a:extLst>
          </p:cNvPr>
          <p:cNvSpPr txBox="1"/>
          <p:nvPr/>
        </p:nvSpPr>
        <p:spPr>
          <a:xfrm>
            <a:off x="3804604" y="2735137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000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5B806913-7DE1-6C59-985B-B6A05DE4267C}"/>
              </a:ext>
            </a:extLst>
          </p:cNvPr>
          <p:cNvCxnSpPr>
            <a:cxnSpLocks/>
            <a:stCxn id="56" idx="3"/>
            <a:endCxn id="41" idx="0"/>
          </p:cNvCxnSpPr>
          <p:nvPr/>
        </p:nvCxnSpPr>
        <p:spPr>
          <a:xfrm>
            <a:off x="1461944" y="1825697"/>
            <a:ext cx="3246887" cy="624808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331941BD-1F0A-7985-B5AD-509EE5A71819}"/>
              </a:ext>
            </a:extLst>
          </p:cNvPr>
          <p:cNvSpPr txBox="1"/>
          <p:nvPr/>
        </p:nvSpPr>
        <p:spPr>
          <a:xfrm>
            <a:off x="5300860" y="2924944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8D48DF79-2115-79B2-4C1F-E7C4E8F2FEDC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840039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ead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Spatial point-to-point direct links bypass the temporal 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‘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for-loop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’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, unlocking perfect parallelism.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1B8953C2-8B59-74D2-F109-F69A3194A087}"/>
              </a:ext>
            </a:extLst>
          </p:cNvPr>
          <p:cNvGrpSpPr/>
          <p:nvPr/>
        </p:nvGrpSpPr>
        <p:grpSpPr>
          <a:xfrm>
            <a:off x="6317136" y="1802215"/>
            <a:ext cx="2647352" cy="1780768"/>
            <a:chOff x="6372199" y="366192"/>
            <a:chExt cx="2647352" cy="178076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/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Sup>
                          <m:sSubSupPr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Softmax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QK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p>
                                </m:sSup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>
                                      <m:sSubPr>
                                        <m:ctrl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d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rad>
                              </m:den>
                            </m:f>
                            <m:r>
                              <a:rPr lang="en-US" altLang="zh-TW" sz="120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⊙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blipFill>
                  <a:blip r:embed="rId3"/>
                  <a:stretch>
                    <a:fillRect l="-2400" b="-512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91CB475-84D3-5EE9-07FB-87DD34DCAE3E}"/>
                </a:ext>
              </a:extLst>
            </p:cNvPr>
            <p:cNvSpPr/>
            <p:nvPr/>
          </p:nvSpPr>
          <p:spPr>
            <a:xfrm>
              <a:off x="6372200" y="366192"/>
              <a:ext cx="884899" cy="18983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Transformer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/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blipFill>
                  <a:blip r:embed="rId4"/>
                  <a:stretch>
                    <a:fillRect l="-9375" b="-645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347BCF5B-2A03-36D0-E25B-1164A4C07353}"/>
                </a:ext>
              </a:extLst>
            </p:cNvPr>
            <p:cNvSpPr/>
            <p:nvPr/>
          </p:nvSpPr>
          <p:spPr>
            <a:xfrm>
              <a:off x="6372199" y="1212654"/>
              <a:ext cx="987529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Attention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( </a:t>
              </a: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i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 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/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GPU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cat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,…,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blipFill>
                  <a:blip r:embed="rId5"/>
                  <a:stretch>
                    <a:fillRect l="-2400" r="-2133" b="-2105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FAC0C1D1-E921-38BA-59CB-4A066A64C1B2}"/>
                </a:ext>
              </a:extLst>
            </p:cNvPr>
            <p:cNvSpPr/>
            <p:nvPr/>
          </p:nvSpPr>
          <p:spPr>
            <a:xfrm>
              <a:off x="6705106" y="1741364"/>
              <a:ext cx="459182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6">
                      <a:lumMod val="75000"/>
                    </a:schemeClr>
                  </a:solidFill>
                  <a:ea typeface="微軟正黑體" panose="020B0604030504040204" pitchFamily="34" charset="-120"/>
                </a:rPr>
                <a:t>MHA</a:t>
              </a:r>
            </a:p>
          </p:txBody>
        </p:sp>
      </p:grp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33E48F48-8282-E2BB-74DB-B22D64BC651C}"/>
              </a:ext>
            </a:extLst>
          </p:cNvPr>
          <p:cNvSpPr txBox="1"/>
          <p:nvPr/>
        </p:nvSpPr>
        <p:spPr>
          <a:xfrm>
            <a:off x="4262680" y="3182176"/>
            <a:ext cx="150967" cy="20725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x</a:t>
            </a:r>
            <a:endParaRPr lang="zh-TW" altLang="en-US" sz="1200" b="1" dirty="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DE51605-7F17-B0D7-1EE1-7A6FACF24754}"/>
              </a:ext>
            </a:extLst>
          </p:cNvPr>
          <p:cNvSpPr/>
          <p:nvPr/>
        </p:nvSpPr>
        <p:spPr>
          <a:xfrm>
            <a:off x="1187624" y="1688537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5B5DC91F-8035-D277-E5EB-16D37B4A6F00}"/>
              </a:ext>
            </a:extLst>
          </p:cNvPr>
          <p:cNvSpPr txBox="1"/>
          <p:nvPr/>
        </p:nvSpPr>
        <p:spPr>
          <a:xfrm>
            <a:off x="1195575" y="155679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2DE1953-49AE-101D-1BFB-FD07A518B130}"/>
              </a:ext>
            </a:extLst>
          </p:cNvPr>
          <p:cNvSpPr/>
          <p:nvPr/>
        </p:nvSpPr>
        <p:spPr>
          <a:xfrm>
            <a:off x="1187624" y="2775208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D0C52DBD-DEB6-AFFA-E98D-75380BBC0371}"/>
              </a:ext>
            </a:extLst>
          </p:cNvPr>
          <p:cNvSpPr txBox="1"/>
          <p:nvPr/>
        </p:nvSpPr>
        <p:spPr>
          <a:xfrm>
            <a:off x="1201336" y="263691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5487B822-8698-F7FD-3F12-C96B513E5B22}"/>
              </a:ext>
            </a:extLst>
          </p:cNvPr>
          <p:cNvCxnSpPr>
            <a:cxnSpLocks/>
            <a:stCxn id="30" idx="2"/>
            <a:endCxn id="36" idx="1"/>
          </p:cNvCxnSpPr>
          <p:nvPr/>
        </p:nvCxnSpPr>
        <p:spPr>
          <a:xfrm rot="16200000" flipH="1">
            <a:off x="1595237" y="2779075"/>
            <a:ext cx="219649" cy="760554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69F0847B-09A8-F6C5-C9D8-00166C3A61C1}"/>
              </a:ext>
            </a:extLst>
          </p:cNvPr>
          <p:cNvSpPr txBox="1"/>
          <p:nvPr/>
        </p:nvSpPr>
        <p:spPr>
          <a:xfrm>
            <a:off x="2866322" y="2224386"/>
            <a:ext cx="316238" cy="19650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FFF05FC-B9A5-6CC5-758F-A8A192F39652}"/>
              </a:ext>
            </a:extLst>
          </p:cNvPr>
          <p:cNvSpPr/>
          <p:nvPr/>
        </p:nvSpPr>
        <p:spPr>
          <a:xfrm>
            <a:off x="1187624" y="2192593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830D44BB-39A0-3014-543C-89117CBE1B64}"/>
              </a:ext>
            </a:extLst>
          </p:cNvPr>
          <p:cNvSpPr txBox="1"/>
          <p:nvPr/>
        </p:nvSpPr>
        <p:spPr>
          <a:xfrm>
            <a:off x="1195575" y="2060848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C097F63-2D37-58F6-D724-29AD948117B6}"/>
              </a:ext>
            </a:extLst>
          </p:cNvPr>
          <p:cNvSpPr/>
          <p:nvPr/>
        </p:nvSpPr>
        <p:spPr>
          <a:xfrm>
            <a:off x="553264" y="2322897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9F5A2A00-AA2B-2668-0A78-241389E1C38B}"/>
              </a:ext>
            </a:extLst>
          </p:cNvPr>
          <p:cNvSpPr txBox="1"/>
          <p:nvPr/>
        </p:nvSpPr>
        <p:spPr>
          <a:xfrm>
            <a:off x="539552" y="215668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cxnSp>
        <p:nvCxnSpPr>
          <p:cNvPr id="78" name="接點: 肘形 77">
            <a:extLst>
              <a:ext uri="{FF2B5EF4-FFF2-40B4-BE49-F238E27FC236}">
                <a16:creationId xmlns:a16="http://schemas.microsoft.com/office/drawing/2014/main" id="{9780D645-79F6-9B95-BD1C-7F5A3B50E5FF}"/>
              </a:ext>
            </a:extLst>
          </p:cNvPr>
          <p:cNvCxnSpPr>
            <a:cxnSpLocks/>
            <a:stCxn id="70" idx="3"/>
            <a:endCxn id="56" idx="1"/>
          </p:cNvCxnSpPr>
          <p:nvPr/>
        </p:nvCxnSpPr>
        <p:spPr>
          <a:xfrm flipV="1">
            <a:off x="827584" y="1825697"/>
            <a:ext cx="360040" cy="7258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DA41AC1E-B157-6C0B-9FF1-0CC9FA169B0B}"/>
              </a:ext>
            </a:extLst>
          </p:cNvPr>
          <p:cNvCxnSpPr>
            <a:cxnSpLocks/>
            <a:stCxn id="70" idx="3"/>
            <a:endCxn id="30" idx="1"/>
          </p:cNvCxnSpPr>
          <p:nvPr/>
        </p:nvCxnSpPr>
        <p:spPr>
          <a:xfrm>
            <a:off x="827584" y="2551497"/>
            <a:ext cx="360040" cy="36087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19F77F4-4ABF-D590-91B3-B66B0B400E7B}"/>
              </a:ext>
            </a:extLst>
          </p:cNvPr>
          <p:cNvSpPr txBox="1"/>
          <p:nvPr/>
        </p:nvSpPr>
        <p:spPr>
          <a:xfrm>
            <a:off x="2085338" y="3140968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F013A126-5BE6-0C42-FF3D-56641B2F6C9A}"/>
              </a:ext>
            </a:extLst>
          </p:cNvPr>
          <p:cNvSpPr txBox="1"/>
          <p:nvPr/>
        </p:nvSpPr>
        <p:spPr>
          <a:xfrm>
            <a:off x="4550712" y="2450505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11" name="直線單箭頭接點 110">
            <a:extLst>
              <a:ext uri="{FF2B5EF4-FFF2-40B4-BE49-F238E27FC236}">
                <a16:creationId xmlns:a16="http://schemas.microsoft.com/office/drawing/2014/main" id="{E10D7A5D-6730-D6B5-0FAB-4DFE84DDC910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 flipV="1">
            <a:off x="1461944" y="2322637"/>
            <a:ext cx="1404378" cy="7116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 124">
            <a:extLst>
              <a:ext uri="{FF2B5EF4-FFF2-40B4-BE49-F238E27FC236}">
                <a16:creationId xmlns:a16="http://schemas.microsoft.com/office/drawing/2014/main" id="{6C45D836-F515-E8EE-E253-E07C6BCB4B8C}"/>
              </a:ext>
            </a:extLst>
          </p:cNvPr>
          <p:cNvSpPr/>
          <p:nvPr/>
        </p:nvSpPr>
        <p:spPr>
          <a:xfrm>
            <a:off x="1187624" y="577287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AED1B7E7-C524-DE82-FBD1-04999EEE8F37}"/>
              </a:ext>
            </a:extLst>
          </p:cNvPr>
          <p:cNvSpPr/>
          <p:nvPr/>
        </p:nvSpPr>
        <p:spPr>
          <a:xfrm>
            <a:off x="2345510" y="5772876"/>
            <a:ext cx="351439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4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400" b="1" baseline="30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02E4C738-7EB8-F008-8CA7-4DD654D53812}"/>
              </a:ext>
            </a:extLst>
          </p:cNvPr>
          <p:cNvSpPr/>
          <p:nvPr/>
        </p:nvSpPr>
        <p:spPr>
          <a:xfrm>
            <a:off x="2987824" y="5773001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</a:p>
        </p:txBody>
      </p:sp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3E62EFFE-C10C-4669-9F07-325C98AF81A2}"/>
              </a:ext>
            </a:extLst>
          </p:cNvPr>
          <p:cNvCxnSpPr>
            <a:cxnSpLocks/>
            <a:stCxn id="128" idx="3"/>
            <a:endCxn id="179" idx="1"/>
          </p:cNvCxnSpPr>
          <p:nvPr/>
        </p:nvCxnSpPr>
        <p:spPr>
          <a:xfrm flipV="1">
            <a:off x="3262144" y="6001476"/>
            <a:ext cx="354282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接點: 肘形 129">
            <a:extLst>
              <a:ext uri="{FF2B5EF4-FFF2-40B4-BE49-F238E27FC236}">
                <a16:creationId xmlns:a16="http://schemas.microsoft.com/office/drawing/2014/main" id="{B62D200B-EA3C-1E62-5622-B4562FF5DE80}"/>
              </a:ext>
            </a:extLst>
          </p:cNvPr>
          <p:cNvCxnSpPr>
            <a:cxnSpLocks/>
            <a:stCxn id="139" idx="3"/>
            <a:endCxn id="126" idx="1"/>
          </p:cNvCxnSpPr>
          <p:nvPr/>
        </p:nvCxnSpPr>
        <p:spPr>
          <a:xfrm flipV="1">
            <a:off x="2110016" y="6001476"/>
            <a:ext cx="235494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矩形 132">
            <a:extLst>
              <a:ext uri="{FF2B5EF4-FFF2-40B4-BE49-F238E27FC236}">
                <a16:creationId xmlns:a16="http://schemas.microsoft.com/office/drawing/2014/main" id="{C86B3D57-7A10-FF89-F031-04F4E9A2F113}"/>
              </a:ext>
            </a:extLst>
          </p:cNvPr>
          <p:cNvSpPr/>
          <p:nvPr/>
        </p:nvSpPr>
        <p:spPr>
          <a:xfrm>
            <a:off x="1835696" y="567807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cxnSp>
        <p:nvCxnSpPr>
          <p:cNvPr id="137" name="接點: 肘形 136">
            <a:extLst>
              <a:ext uri="{FF2B5EF4-FFF2-40B4-BE49-F238E27FC236}">
                <a16:creationId xmlns:a16="http://schemas.microsoft.com/office/drawing/2014/main" id="{383FB5D2-087D-7FBA-4275-84407B8CD255}"/>
              </a:ext>
            </a:extLst>
          </p:cNvPr>
          <p:cNvCxnSpPr>
            <a:cxnSpLocks/>
            <a:stCxn id="133" idx="3"/>
            <a:endCxn id="126" idx="1"/>
          </p:cNvCxnSpPr>
          <p:nvPr/>
        </p:nvCxnSpPr>
        <p:spPr>
          <a:xfrm>
            <a:off x="2110016" y="5815234"/>
            <a:ext cx="235494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8D4038DE-73A1-AF5F-C388-5E1630F6833B}"/>
              </a:ext>
            </a:extLst>
          </p:cNvPr>
          <p:cNvCxnSpPr>
            <a:cxnSpLocks/>
            <a:stCxn id="125" idx="3"/>
            <a:endCxn id="145" idx="1"/>
          </p:cNvCxnSpPr>
          <p:nvPr/>
        </p:nvCxnSpPr>
        <p:spPr>
          <a:xfrm flipV="1">
            <a:off x="1461944" y="5496182"/>
            <a:ext cx="373752" cy="50529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矩形 138">
            <a:extLst>
              <a:ext uri="{FF2B5EF4-FFF2-40B4-BE49-F238E27FC236}">
                <a16:creationId xmlns:a16="http://schemas.microsoft.com/office/drawing/2014/main" id="{6ECD6B83-B49D-5FEC-73D8-DC7780573155}"/>
              </a:ext>
            </a:extLst>
          </p:cNvPr>
          <p:cNvSpPr/>
          <p:nvPr/>
        </p:nvSpPr>
        <p:spPr>
          <a:xfrm>
            <a:off x="1835696" y="5989676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97167A91-18DE-C4D1-5393-73340FD3FD83}"/>
              </a:ext>
            </a:extLst>
          </p:cNvPr>
          <p:cNvSpPr/>
          <p:nvPr/>
        </p:nvSpPr>
        <p:spPr>
          <a:xfrm>
            <a:off x="1835696" y="5359022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cxnSp>
        <p:nvCxnSpPr>
          <p:cNvPr id="156" name="接點: 肘形 155">
            <a:extLst>
              <a:ext uri="{FF2B5EF4-FFF2-40B4-BE49-F238E27FC236}">
                <a16:creationId xmlns:a16="http://schemas.microsoft.com/office/drawing/2014/main" id="{35EEDFA5-FA59-E085-01A0-57DA1B44F199}"/>
              </a:ext>
            </a:extLst>
          </p:cNvPr>
          <p:cNvCxnSpPr>
            <a:cxnSpLocks/>
            <a:stCxn id="125" idx="3"/>
            <a:endCxn id="139" idx="1"/>
          </p:cNvCxnSpPr>
          <p:nvPr/>
        </p:nvCxnSpPr>
        <p:spPr>
          <a:xfrm>
            <a:off x="1461944" y="6001476"/>
            <a:ext cx="373752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矩形 176">
            <a:extLst>
              <a:ext uri="{FF2B5EF4-FFF2-40B4-BE49-F238E27FC236}">
                <a16:creationId xmlns:a16="http://schemas.microsoft.com/office/drawing/2014/main" id="{A8684918-E2C6-7C17-1314-61424879D27C}"/>
              </a:ext>
            </a:extLst>
          </p:cNvPr>
          <p:cNvSpPr/>
          <p:nvPr/>
        </p:nvSpPr>
        <p:spPr>
          <a:xfrm>
            <a:off x="2418522" y="5082627"/>
            <a:ext cx="281269" cy="175123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2</a:t>
            </a:r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E75FB2B1-0D2A-2B1D-A18A-BE44324695DA}"/>
              </a:ext>
            </a:extLst>
          </p:cNvPr>
          <p:cNvSpPr/>
          <p:nvPr/>
        </p:nvSpPr>
        <p:spPr>
          <a:xfrm>
            <a:off x="3616426" y="577287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1D2C09CB-4C90-4CA0-37C7-5AC2C94C5CD9}"/>
              </a:ext>
            </a:extLst>
          </p:cNvPr>
          <p:cNvSpPr/>
          <p:nvPr/>
        </p:nvSpPr>
        <p:spPr>
          <a:xfrm>
            <a:off x="2425472" y="6382031"/>
            <a:ext cx="274320" cy="169997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186" name="接點: 肘形 185">
            <a:extLst>
              <a:ext uri="{FF2B5EF4-FFF2-40B4-BE49-F238E27FC236}">
                <a16:creationId xmlns:a16="http://schemas.microsoft.com/office/drawing/2014/main" id="{37BBB08F-2C86-92C9-6C1E-6172056DFABC}"/>
              </a:ext>
            </a:extLst>
          </p:cNvPr>
          <p:cNvCxnSpPr>
            <a:cxnSpLocks/>
            <a:stCxn id="181" idx="3"/>
            <a:endCxn id="128" idx="1"/>
          </p:cNvCxnSpPr>
          <p:nvPr/>
        </p:nvCxnSpPr>
        <p:spPr>
          <a:xfrm>
            <a:off x="2699792" y="4953866"/>
            <a:ext cx="288032" cy="104773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接點: 肘形 188">
            <a:extLst>
              <a:ext uri="{FF2B5EF4-FFF2-40B4-BE49-F238E27FC236}">
                <a16:creationId xmlns:a16="http://schemas.microsoft.com/office/drawing/2014/main" id="{6DC96FA7-AC15-752E-CF88-B725C5A75ABF}"/>
              </a:ext>
            </a:extLst>
          </p:cNvPr>
          <p:cNvCxnSpPr>
            <a:cxnSpLocks/>
            <a:stCxn id="183" idx="3"/>
            <a:endCxn id="128" idx="1"/>
          </p:cNvCxnSpPr>
          <p:nvPr/>
        </p:nvCxnSpPr>
        <p:spPr>
          <a:xfrm flipV="1">
            <a:off x="2699792" y="6001601"/>
            <a:ext cx="288032" cy="46542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線單箭頭接點 191">
            <a:extLst>
              <a:ext uri="{FF2B5EF4-FFF2-40B4-BE49-F238E27FC236}">
                <a16:creationId xmlns:a16="http://schemas.microsoft.com/office/drawing/2014/main" id="{088D1B0F-0ABA-EC34-FED4-001C775953E2}"/>
              </a:ext>
            </a:extLst>
          </p:cNvPr>
          <p:cNvCxnSpPr>
            <a:cxnSpLocks/>
            <a:stCxn id="126" idx="3"/>
            <a:endCxn id="128" idx="1"/>
          </p:cNvCxnSpPr>
          <p:nvPr/>
        </p:nvCxnSpPr>
        <p:spPr>
          <a:xfrm>
            <a:off x="2696949" y="6001476"/>
            <a:ext cx="290875" cy="125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矩形 197">
            <a:extLst>
              <a:ext uri="{FF2B5EF4-FFF2-40B4-BE49-F238E27FC236}">
                <a16:creationId xmlns:a16="http://schemas.microsoft.com/office/drawing/2014/main" id="{AF33E3F8-35E0-D8F1-EFD4-586712EF5677}"/>
              </a:ext>
            </a:extLst>
          </p:cNvPr>
          <p:cNvSpPr/>
          <p:nvPr/>
        </p:nvSpPr>
        <p:spPr>
          <a:xfrm rot="5400000">
            <a:off x="2446343" y="5362476"/>
            <a:ext cx="281269" cy="81612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8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20B8C9D4-4FBD-960F-34F3-C196CB732768}"/>
              </a:ext>
            </a:extLst>
          </p:cNvPr>
          <p:cNvSpPr/>
          <p:nvPr/>
        </p:nvSpPr>
        <p:spPr>
          <a:xfrm>
            <a:off x="2425472" y="4869160"/>
            <a:ext cx="274320" cy="16941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1</a:t>
            </a:r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409D2116-BED6-9CF2-32FC-6E99121D91FF}"/>
              </a:ext>
            </a:extLst>
          </p:cNvPr>
          <p:cNvSpPr/>
          <p:nvPr/>
        </p:nvSpPr>
        <p:spPr>
          <a:xfrm>
            <a:off x="2411760" y="6248093"/>
            <a:ext cx="281269" cy="88553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6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cxnSp>
        <p:nvCxnSpPr>
          <p:cNvPr id="218" name="接點: 肘形 217">
            <a:extLst>
              <a:ext uri="{FF2B5EF4-FFF2-40B4-BE49-F238E27FC236}">
                <a16:creationId xmlns:a16="http://schemas.microsoft.com/office/drawing/2014/main" id="{43FBFE49-E3D5-EA04-36AB-7A11735B74D2}"/>
              </a:ext>
            </a:extLst>
          </p:cNvPr>
          <p:cNvCxnSpPr>
            <a:cxnSpLocks/>
            <a:stCxn id="125" idx="3"/>
            <a:endCxn id="133" idx="1"/>
          </p:cNvCxnSpPr>
          <p:nvPr/>
        </p:nvCxnSpPr>
        <p:spPr>
          <a:xfrm flipV="1">
            <a:off x="1461944" y="5815234"/>
            <a:ext cx="373752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語音泡泡: 圓角矩形 140">
            <a:extLst>
              <a:ext uri="{FF2B5EF4-FFF2-40B4-BE49-F238E27FC236}">
                <a16:creationId xmlns:a16="http://schemas.microsoft.com/office/drawing/2014/main" id="{53504315-6D58-A850-0F1E-BA0E8B98869A}"/>
              </a:ext>
            </a:extLst>
          </p:cNvPr>
          <p:cNvSpPr/>
          <p:nvPr/>
        </p:nvSpPr>
        <p:spPr>
          <a:xfrm>
            <a:off x="4356291" y="4224892"/>
            <a:ext cx="1079805" cy="356236"/>
          </a:xfrm>
          <a:prstGeom prst="wedgeRoundRectCallout">
            <a:avLst>
              <a:gd name="adj1" fmla="val 63247"/>
              <a:gd name="adj2" fmla="val -336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Multi-Head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5737298-2681-FB87-7730-5CA338C76CC7}"/>
              </a:ext>
            </a:extLst>
          </p:cNvPr>
          <p:cNvSpPr/>
          <p:nvPr/>
        </p:nvSpPr>
        <p:spPr>
          <a:xfrm>
            <a:off x="2571319" y="2636747"/>
            <a:ext cx="887712" cy="1311074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216000" rtlCol="0" anchor="b" anchorCtr="0"/>
          <a:lstStyle/>
          <a:p>
            <a:pPr>
              <a:lnSpc>
                <a:spcPts val="1400"/>
              </a:lnSpc>
            </a:pPr>
            <a:r>
              <a:rPr lang="en-US" altLang="zh-TW" sz="1000" b="1" dirty="0">
                <a:solidFill>
                  <a:schemeClr val="accent6"/>
                </a:solidFill>
                <a:ea typeface="微軟正黑體" panose="020B0604030504040204" pitchFamily="34" charset="-120"/>
              </a:rPr>
              <a:t>Layer n</a:t>
            </a:r>
          </a:p>
        </p:txBody>
      </p:sp>
      <p:sp>
        <p:nvSpPr>
          <p:cNvPr id="5" name="語音泡泡: 圓角矩形 4">
            <a:extLst>
              <a:ext uri="{FF2B5EF4-FFF2-40B4-BE49-F238E27FC236}">
                <a16:creationId xmlns:a16="http://schemas.microsoft.com/office/drawing/2014/main" id="{ADE4B3A5-5AEE-53F2-3F6F-BE9CB09EADB8}"/>
              </a:ext>
            </a:extLst>
          </p:cNvPr>
          <p:cNvSpPr/>
          <p:nvPr/>
        </p:nvSpPr>
        <p:spPr>
          <a:xfrm>
            <a:off x="2842386" y="4020507"/>
            <a:ext cx="1079805" cy="356236"/>
          </a:xfrm>
          <a:prstGeom prst="wedgeRoundRectCallout">
            <a:avLst>
              <a:gd name="adj1" fmla="val -32718"/>
              <a:gd name="adj2" fmla="val -8613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KV cache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C1C481B-F75F-26CC-D936-72C1D2D9564C}"/>
              </a:ext>
            </a:extLst>
          </p:cNvPr>
          <p:cNvSpPr txBox="1"/>
          <p:nvPr/>
        </p:nvSpPr>
        <p:spPr>
          <a:xfrm>
            <a:off x="5508104" y="4517766"/>
            <a:ext cx="171771" cy="220483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</a:t>
            </a:r>
            <a:endParaRPr lang="zh-TW" altLang="en-US" sz="1200" b="1" baseline="-250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CE0AE20F-63C4-0DB4-012F-885E957120E2}"/>
              </a:ext>
            </a:extLst>
          </p:cNvPr>
          <p:cNvSpPr txBox="1"/>
          <p:nvPr/>
        </p:nvSpPr>
        <p:spPr>
          <a:xfrm>
            <a:off x="5632418" y="4328293"/>
            <a:ext cx="238841" cy="127334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6">
                    <a:lumMod val="75000"/>
                  </a:schemeClr>
                </a:solidFill>
              </a:rPr>
              <a:t>d</a:t>
            </a:r>
            <a:r>
              <a:rPr lang="en-US" altLang="zh-TW" sz="1200" b="1" baseline="-25000" dirty="0">
                <a:solidFill>
                  <a:schemeClr val="accent6">
                    <a:lumMod val="75000"/>
                  </a:schemeClr>
                </a:solidFill>
              </a:rPr>
              <a:t>h</a:t>
            </a:r>
            <a:endParaRPr lang="zh-TW" altLang="en-US" sz="1200" b="1" dirty="0"/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9317D5D7-B142-A685-7C9E-D51FCF2A63B0}"/>
              </a:ext>
            </a:extLst>
          </p:cNvPr>
          <p:cNvSpPr txBox="1"/>
          <p:nvPr/>
        </p:nvSpPr>
        <p:spPr>
          <a:xfrm>
            <a:off x="6677178" y="3628549"/>
            <a:ext cx="555712" cy="23448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d = d</a:t>
            </a:r>
            <a:r>
              <a:rPr lang="en-US" altLang="zh-TW" sz="1200" baseline="-25000" dirty="0"/>
              <a:t>h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新細明體" panose="02020500000000000000" pitchFamily="18" charset="-120"/>
                <a:cs typeface="+mn-cs"/>
              </a:rPr>
              <a:t>* h</a:t>
            </a:r>
            <a:endParaRPr lang="zh-TW" altLang="en-US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CA776DA-54DC-E50C-3134-7435E0E3C642}"/>
              </a:ext>
            </a:extLst>
          </p:cNvPr>
          <p:cNvSpPr txBox="1"/>
          <p:nvPr/>
        </p:nvSpPr>
        <p:spPr>
          <a:xfrm>
            <a:off x="5311496" y="2428245"/>
            <a:ext cx="320922" cy="177924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</a:t>
            </a:r>
            <a:r>
              <a:rPr lang="zh-TW" altLang="en-US" sz="1200" b="1" dirty="0"/>
              <a:t>*</a:t>
            </a:r>
            <a:r>
              <a:rPr lang="en-US" altLang="zh-TW" sz="1200" b="1" dirty="0"/>
              <a:t>d</a:t>
            </a:r>
            <a:r>
              <a:rPr lang="en-US" altLang="zh-TW" sz="1200" b="1" baseline="-25000" dirty="0"/>
              <a:t>h</a:t>
            </a:r>
            <a:endParaRPr lang="zh-TW" altLang="en-US" sz="1200" b="1" dirty="0"/>
          </a:p>
        </p:txBody>
      </p: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B6A6983-A428-5828-1191-4BD17EBCD169}"/>
              </a:ext>
            </a:extLst>
          </p:cNvPr>
          <p:cNvCxnSpPr>
            <a:cxnSpLocks/>
            <a:stCxn id="20" idx="2"/>
            <a:endCxn id="29" idx="0"/>
          </p:cNvCxnSpPr>
          <p:nvPr/>
        </p:nvCxnSpPr>
        <p:spPr>
          <a:xfrm rot="16200000" flipH="1">
            <a:off x="5436613" y="3952954"/>
            <a:ext cx="341421" cy="2873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0F805D0-5DA8-0A88-5752-A074216163C4}"/>
              </a:ext>
            </a:extLst>
          </p:cNvPr>
          <p:cNvSpPr txBox="1"/>
          <p:nvPr/>
        </p:nvSpPr>
        <p:spPr>
          <a:xfrm flipH="1">
            <a:off x="5811738" y="4058607"/>
            <a:ext cx="249352" cy="207547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4199445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42906-5278-0707-1719-9D4BBCC79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DECB9362-47AC-92FE-6132-5E4F16401CE0}"/>
              </a:ext>
            </a:extLst>
          </p:cNvPr>
          <p:cNvSpPr/>
          <p:nvPr/>
        </p:nvSpPr>
        <p:spPr>
          <a:xfrm>
            <a:off x="1366214" y="5028021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0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873C0A1C-D86B-E5DA-F4C2-2EEF067D3AB5}"/>
              </a:ext>
            </a:extLst>
          </p:cNvPr>
          <p:cNvSpPr/>
          <p:nvPr/>
        </p:nvSpPr>
        <p:spPr>
          <a:xfrm>
            <a:off x="1447081" y="5109554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1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7328E1EF-A3A3-C565-2EC7-A05F3C377990}"/>
              </a:ext>
            </a:extLst>
          </p:cNvPr>
          <p:cNvSpPr/>
          <p:nvPr/>
        </p:nvSpPr>
        <p:spPr>
          <a:xfrm>
            <a:off x="1547664" y="5229187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576" tIns="0" rIns="0" bIns="0" rtlCol="0" anchor="t" anchorCtr="0"/>
          <a:lstStyle/>
          <a:p>
            <a:pPr>
              <a:lnSpc>
                <a:spcPts val="400"/>
              </a:lnSpc>
            </a:pPr>
            <a:r>
              <a:rPr lang="en-US" altLang="zh-TW" sz="1200" b="1" baseline="-25000" dirty="0">
                <a:solidFill>
                  <a:srgbClr val="C00000"/>
                </a:solidFill>
              </a:rPr>
              <a:t>.. .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C075613A-8F76-540B-A9F5-8D3BD49897D1}"/>
              </a:ext>
            </a:extLst>
          </p:cNvPr>
          <p:cNvSpPr/>
          <p:nvPr/>
        </p:nvSpPr>
        <p:spPr>
          <a:xfrm>
            <a:off x="3635896" y="5182691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574AAF17-08E3-E85E-4388-3CF2AEDEC8E0}"/>
              </a:ext>
            </a:extLst>
          </p:cNvPr>
          <p:cNvSpPr/>
          <p:nvPr/>
        </p:nvSpPr>
        <p:spPr>
          <a:xfrm>
            <a:off x="6660232" y="2636912"/>
            <a:ext cx="1302387" cy="1295190"/>
          </a:xfrm>
          <a:prstGeom prst="rect">
            <a:avLst/>
          </a:prstGeom>
          <a:solidFill>
            <a:schemeClr val="bg1">
              <a:lumMod val="95000"/>
              <a:alpha val="20000"/>
            </a:schemeClr>
          </a:solidFill>
          <a:ln w="15875">
            <a:solidFill>
              <a:schemeClr val="bg1">
                <a:lumMod val="6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algn="ctr">
              <a:lnSpc>
                <a:spcPts val="1000"/>
              </a:lnSpc>
            </a:pPr>
            <a:r>
              <a:rPr lang="en-US" altLang="zh-TW" sz="1000" b="1" dirty="0">
                <a:solidFill>
                  <a:schemeClr val="bg1">
                    <a:lumMod val="50000"/>
                  </a:schemeClr>
                </a:solidFill>
                <a:ea typeface="微軟正黑體" panose="020B0604030504040204" pitchFamily="34" charset="-120"/>
              </a:rPr>
              <a:t>Residual Connection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83332411-D54A-D21C-2882-6299E9D035DA}"/>
              </a:ext>
            </a:extLst>
          </p:cNvPr>
          <p:cNvSpPr/>
          <p:nvPr/>
        </p:nvSpPr>
        <p:spPr>
          <a:xfrm>
            <a:off x="2051720" y="2636912"/>
            <a:ext cx="3418230" cy="1299598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0" rtlCol="0" anchor="b" anchorCtr="0"/>
          <a:lstStyle/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Linear</a:t>
            </a:r>
          </a:p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Attention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B67310C-D2BD-50C1-0DF5-2DE588124790}"/>
              </a:ext>
            </a:extLst>
          </p:cNvPr>
          <p:cNvSpPr/>
          <p:nvPr/>
        </p:nvSpPr>
        <p:spPr>
          <a:xfrm>
            <a:off x="2187708" y="1772816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S0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B53FD31-AF1B-6BEF-4852-F8B43919DF72}"/>
              </a:ext>
            </a:extLst>
          </p:cNvPr>
          <p:cNvSpPr/>
          <p:nvPr/>
        </p:nvSpPr>
        <p:spPr>
          <a:xfrm>
            <a:off x="2259716" y="1988840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S1</a:t>
            </a:r>
            <a:r>
              <a:rPr lang="en-US" altLang="zh-TW" sz="1400" b="1" dirty="0">
                <a:solidFill>
                  <a:schemeClr val="accent4"/>
                </a:solidFill>
              </a:rPr>
              <a:t> …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35AACD2-02B2-089A-985C-4736E50E6506}"/>
              </a:ext>
            </a:extLst>
          </p:cNvPr>
          <p:cNvSpPr/>
          <p:nvPr/>
        </p:nvSpPr>
        <p:spPr>
          <a:xfrm>
            <a:off x="2348745" y="2351790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6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sz="1600" baseline="-250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t-2</a:t>
            </a:r>
            <a:endParaRPr lang="zh-TW" altLang="en-US" sz="1600" baseline="-25000" dirty="0">
              <a:solidFill>
                <a:schemeClr val="accent4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147" name="表格 146">
            <a:extLst>
              <a:ext uri="{FF2B5EF4-FFF2-40B4-BE49-F238E27FC236}">
                <a16:creationId xmlns:a16="http://schemas.microsoft.com/office/drawing/2014/main" id="{D930FD23-9087-89A3-2189-E7D64384B9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4456414"/>
              </p:ext>
            </p:extLst>
          </p:nvPr>
        </p:nvGraphicFramePr>
        <p:xfrm>
          <a:off x="470843" y="2274798"/>
          <a:ext cx="539841" cy="1130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695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9" name="標題 1">
            <a:extLst>
              <a:ext uri="{FF2B5EF4-FFF2-40B4-BE49-F238E27FC236}">
                <a16:creationId xmlns:a16="http://schemas.microsoft.com/office/drawing/2014/main" id="{653C2F0C-4A58-0FDB-04B9-CB90365354E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ated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 linear attention model that evolves blind accumulation into precise erasing and overwriting.</a:t>
            </a:r>
          </a:p>
        </p:txBody>
      </p:sp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DD417494-56D3-F260-E47C-01D8D7346E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781694"/>
              </p:ext>
            </p:extLst>
          </p:nvPr>
        </p:nvGraphicFramePr>
        <p:xfrm>
          <a:off x="161230" y="2274798"/>
          <a:ext cx="236077" cy="1154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488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7A9907B2-6C12-64CE-9D1A-EFFBF3E4FA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8554917"/>
              </p:ext>
            </p:extLst>
          </p:nvPr>
        </p:nvGraphicFramePr>
        <p:xfrm>
          <a:off x="4249808" y="2715979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B9708898-DE1F-F140-44C5-BBB06FF0C4EC}"/>
              </a:ext>
            </a:extLst>
          </p:cNvPr>
          <p:cNvSpPr txBox="1"/>
          <p:nvPr/>
        </p:nvSpPr>
        <p:spPr>
          <a:xfrm>
            <a:off x="7039322" y="2715979"/>
            <a:ext cx="166216" cy="1058435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 w="15875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27" name="接點: 肘形 126">
            <a:extLst>
              <a:ext uri="{FF2B5EF4-FFF2-40B4-BE49-F238E27FC236}">
                <a16:creationId xmlns:a16="http://schemas.microsoft.com/office/drawing/2014/main" id="{AD1CDEDB-1426-E68D-82D3-88E06B027EE6}"/>
              </a:ext>
            </a:extLst>
          </p:cNvPr>
          <p:cNvCxnSpPr>
            <a:cxnSpLocks/>
            <a:stCxn id="149" idx="3"/>
            <a:endCxn id="135" idx="1"/>
          </p:cNvCxnSpPr>
          <p:nvPr/>
        </p:nvCxnSpPr>
        <p:spPr>
          <a:xfrm flipV="1">
            <a:off x="1043608" y="2862087"/>
            <a:ext cx="648072" cy="4702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8E025679-96E3-D00B-8FCB-48D86B490984}"/>
              </a:ext>
            </a:extLst>
          </p:cNvPr>
          <p:cNvSpPr txBox="1"/>
          <p:nvPr/>
        </p:nvSpPr>
        <p:spPr>
          <a:xfrm>
            <a:off x="1691680" y="2636912"/>
            <a:ext cx="188274" cy="450350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40" name="接點: 肘形 139">
            <a:extLst>
              <a:ext uri="{FF2B5EF4-FFF2-40B4-BE49-F238E27FC236}">
                <a16:creationId xmlns:a16="http://schemas.microsoft.com/office/drawing/2014/main" id="{C6166ECD-85DE-3ACA-61FE-CE65BF466FF7}"/>
              </a:ext>
            </a:extLst>
          </p:cNvPr>
          <p:cNvCxnSpPr>
            <a:cxnSpLocks/>
            <a:stCxn id="149" idx="3"/>
            <a:endCxn id="143" idx="1"/>
          </p:cNvCxnSpPr>
          <p:nvPr/>
        </p:nvCxnSpPr>
        <p:spPr>
          <a:xfrm flipV="1">
            <a:off x="1043608" y="2312900"/>
            <a:ext cx="648072" cy="101940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接點: 肘形 140">
            <a:extLst>
              <a:ext uri="{FF2B5EF4-FFF2-40B4-BE49-F238E27FC236}">
                <a16:creationId xmlns:a16="http://schemas.microsoft.com/office/drawing/2014/main" id="{AAF554DB-F503-8B4A-BA6F-F197EB8807FD}"/>
              </a:ext>
            </a:extLst>
          </p:cNvPr>
          <p:cNvCxnSpPr>
            <a:cxnSpLocks/>
            <a:stCxn id="149" idx="3"/>
            <a:endCxn id="142" idx="1"/>
          </p:cNvCxnSpPr>
          <p:nvPr/>
        </p:nvCxnSpPr>
        <p:spPr>
          <a:xfrm>
            <a:off x="1043608" y="3332301"/>
            <a:ext cx="648072" cy="32967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40D287A9-03C6-4D06-1BC0-05ACDEC8393C}"/>
              </a:ext>
            </a:extLst>
          </p:cNvPr>
          <p:cNvSpPr txBox="1"/>
          <p:nvPr/>
        </p:nvSpPr>
        <p:spPr>
          <a:xfrm>
            <a:off x="1691680" y="3462897"/>
            <a:ext cx="188274" cy="39815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F489447C-8BF7-7785-2467-04B07699F956}"/>
              </a:ext>
            </a:extLst>
          </p:cNvPr>
          <p:cNvSpPr txBox="1"/>
          <p:nvPr/>
        </p:nvSpPr>
        <p:spPr>
          <a:xfrm>
            <a:off x="1691680" y="2060872"/>
            <a:ext cx="188274" cy="504056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600839EA-8E0B-96A2-8109-3E9CCDB39B90}"/>
              </a:ext>
            </a:extLst>
          </p:cNvPr>
          <p:cNvSpPr/>
          <p:nvPr/>
        </p:nvSpPr>
        <p:spPr>
          <a:xfrm>
            <a:off x="427469" y="3189345"/>
            <a:ext cx="616139" cy="285911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4EFE9418-3F87-2D63-B3F8-01D5AAD30AD0}"/>
              </a:ext>
            </a:extLst>
          </p:cNvPr>
          <p:cNvSpPr txBox="1"/>
          <p:nvPr/>
        </p:nvSpPr>
        <p:spPr>
          <a:xfrm>
            <a:off x="287524" y="980728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Linear Attention</a:t>
            </a:r>
            <a:r>
              <a:rPr lang="en-US" altLang="zh-TW" sz="1600" dirty="0"/>
              <a:t>: ..Mamba2/GLA.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Delta Rule</a:t>
            </a:r>
            <a:r>
              <a:rPr lang="en-US" altLang="zh-TW" sz="1600" dirty="0"/>
              <a:t>: ...</a:t>
            </a:r>
            <a:endParaRPr lang="en-US" altLang="zh-TW" sz="1400" dirty="0"/>
          </a:p>
        </p:txBody>
      </p:sp>
      <p:sp>
        <p:nvSpPr>
          <p:cNvPr id="183" name="文字方塊 182">
            <a:extLst>
              <a:ext uri="{FF2B5EF4-FFF2-40B4-BE49-F238E27FC236}">
                <a16:creationId xmlns:a16="http://schemas.microsoft.com/office/drawing/2014/main" id="{84E03C48-92BF-2A9B-3C8C-4F4228D67726}"/>
              </a:ext>
            </a:extLst>
          </p:cNvPr>
          <p:cNvSpPr txBox="1"/>
          <p:nvPr/>
        </p:nvSpPr>
        <p:spPr>
          <a:xfrm>
            <a:off x="606531" y="2125325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8E34D3ED-654B-D07D-6F4F-176F3F12D4B2}"/>
              </a:ext>
            </a:extLst>
          </p:cNvPr>
          <p:cNvSpPr/>
          <p:nvPr/>
        </p:nvSpPr>
        <p:spPr>
          <a:xfrm>
            <a:off x="1259632" y="2207310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F6322906-CFEA-7B00-1648-3640A8C4A706}"/>
              </a:ext>
            </a:extLst>
          </p:cNvPr>
          <p:cNvSpPr/>
          <p:nvPr/>
        </p:nvSpPr>
        <p:spPr>
          <a:xfrm>
            <a:off x="1259632" y="3586728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04328CD8-FF47-FA84-E293-A4C3D6264C6A}"/>
              </a:ext>
            </a:extLst>
          </p:cNvPr>
          <p:cNvSpPr/>
          <p:nvPr/>
        </p:nvSpPr>
        <p:spPr>
          <a:xfrm>
            <a:off x="1259632" y="2704562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C235CCDA-306B-D955-666B-80C58C630B01}"/>
              </a:ext>
            </a:extLst>
          </p:cNvPr>
          <p:cNvSpPr txBox="1"/>
          <p:nvPr/>
        </p:nvSpPr>
        <p:spPr>
          <a:xfrm>
            <a:off x="1267583" y="2060848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94FBE12-77B4-8311-8A12-F04A7DF09505}"/>
              </a:ext>
            </a:extLst>
          </p:cNvPr>
          <p:cNvSpPr txBox="1"/>
          <p:nvPr/>
        </p:nvSpPr>
        <p:spPr>
          <a:xfrm>
            <a:off x="6290667" y="2715979"/>
            <a:ext cx="166215" cy="106352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1F15DB7-E6FE-06A4-6AF5-F3BF88AD9E69}"/>
              </a:ext>
            </a:extLst>
          </p:cNvPr>
          <p:cNvSpPr txBox="1"/>
          <p:nvPr/>
        </p:nvSpPr>
        <p:spPr>
          <a:xfrm>
            <a:off x="4249808" y="2404839"/>
            <a:ext cx="1065052" cy="172726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42713DA-7718-B9DA-96B5-42EA64DFB71B}"/>
              </a:ext>
            </a:extLst>
          </p:cNvPr>
          <p:cNvSpPr txBox="1"/>
          <p:nvPr/>
        </p:nvSpPr>
        <p:spPr>
          <a:xfrm>
            <a:off x="3906361" y="2710920"/>
            <a:ext cx="171220" cy="106680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FCAF6467-2F0E-D1E8-7E85-826D0F5CC394}"/>
              </a:ext>
            </a:extLst>
          </p:cNvPr>
          <p:cNvSpPr txBox="1"/>
          <p:nvPr/>
        </p:nvSpPr>
        <p:spPr>
          <a:xfrm>
            <a:off x="7206485" y="5653750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002EA871-FCDD-4871-B4AE-D0E083A334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9573746"/>
              </p:ext>
            </p:extLst>
          </p:nvPr>
        </p:nvGraphicFramePr>
        <p:xfrm>
          <a:off x="2608707" y="2714739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6" name="文字方塊 45">
            <a:extLst>
              <a:ext uri="{FF2B5EF4-FFF2-40B4-BE49-F238E27FC236}">
                <a16:creationId xmlns:a16="http://schemas.microsoft.com/office/drawing/2014/main" id="{88AA8C60-28F6-FB6E-FAB0-EE23F52E1516}"/>
              </a:ext>
            </a:extLst>
          </p:cNvPr>
          <p:cNvSpPr txBox="1"/>
          <p:nvPr/>
        </p:nvSpPr>
        <p:spPr>
          <a:xfrm>
            <a:off x="2987824" y="3820494"/>
            <a:ext cx="256577" cy="256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  <a:sym typeface="Symbol" panose="05050102010706020507" pitchFamily="18" charset="2"/>
              </a:rPr>
              <a:t>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 t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C2C0D4A3-0879-169C-DC6D-4E54480E7AA0}"/>
              </a:ext>
            </a:extLst>
          </p:cNvPr>
          <p:cNvSpPr txBox="1"/>
          <p:nvPr/>
        </p:nvSpPr>
        <p:spPr>
          <a:xfrm>
            <a:off x="6714360" y="3125921"/>
            <a:ext cx="256577" cy="2565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ea typeface="微軟正黑體" panose="020B0604030504040204" pitchFamily="34" charset="-120"/>
                <a:sym typeface="Symbol" panose="05050102010706020507" pitchFamily="18" charset="2"/>
              </a:rPr>
              <a:t>w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  <a:sym typeface="Symbol" panose="05050102010706020507" pitchFamily="18" charset="2"/>
              </a:rPr>
              <a:t>o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10060B2A-71CD-5B03-27D8-14DB59A6CDCE}"/>
              </a:ext>
            </a:extLst>
          </p:cNvPr>
          <p:cNvSpPr txBox="1"/>
          <p:nvPr/>
        </p:nvSpPr>
        <p:spPr>
          <a:xfrm>
            <a:off x="3012944" y="3080827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FB84645-D6AC-4D86-A2E9-191DED146696}"/>
              </a:ext>
            </a:extLst>
          </p:cNvPr>
          <p:cNvSpPr txBox="1"/>
          <p:nvPr/>
        </p:nvSpPr>
        <p:spPr>
          <a:xfrm>
            <a:off x="3285381" y="3811653"/>
            <a:ext cx="145838" cy="265419"/>
          </a:xfrm>
          <a:prstGeom prst="rect">
            <a:avLst/>
          </a:prstGeom>
          <a:noFill/>
        </p:spPr>
        <p:txBody>
          <a:bodyPr wrap="none" lIns="0" tIns="18288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*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4C7011C-9573-98B5-6E4F-C4A09925CFE7}"/>
              </a:ext>
            </a:extLst>
          </p:cNvPr>
          <p:cNvSpPr txBox="1"/>
          <p:nvPr/>
        </p:nvSpPr>
        <p:spPr>
          <a:xfrm>
            <a:off x="3707904" y="3109972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+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49FAE370-2446-F8F9-549F-3C81FCC7B84E}"/>
              </a:ext>
            </a:extLst>
          </p:cNvPr>
          <p:cNvSpPr txBox="1"/>
          <p:nvPr/>
        </p:nvSpPr>
        <p:spPr>
          <a:xfrm>
            <a:off x="4630688" y="218881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ED27DA7F-4E5D-B42E-2066-0C3821411A8A}"/>
              </a:ext>
            </a:extLst>
          </p:cNvPr>
          <p:cNvGrpSpPr/>
          <p:nvPr/>
        </p:nvGrpSpPr>
        <p:grpSpPr>
          <a:xfrm>
            <a:off x="2869925" y="1556792"/>
            <a:ext cx="1018303" cy="1129282"/>
            <a:chOff x="3109697" y="1617872"/>
            <a:chExt cx="1018303" cy="1129282"/>
          </a:xfrm>
        </p:grpSpPr>
        <p:sp>
          <p:nvSpPr>
            <p:cNvPr id="20" name="直角三角形 19">
              <a:extLst>
                <a:ext uri="{FF2B5EF4-FFF2-40B4-BE49-F238E27FC236}">
                  <a16:creationId xmlns:a16="http://schemas.microsoft.com/office/drawing/2014/main" id="{DB3D77F9-695C-C37F-EB7A-CBB3C456A48D}"/>
                </a:ext>
              </a:extLst>
            </p:cNvPr>
            <p:cNvSpPr/>
            <p:nvPr/>
          </p:nvSpPr>
          <p:spPr>
            <a:xfrm rot="10800000">
              <a:off x="3358741" y="1988840"/>
              <a:ext cx="493177" cy="758314"/>
            </a:xfrm>
            <a:prstGeom prst="rtTriangle">
              <a:avLst/>
            </a:prstGeom>
            <a:solidFill>
              <a:schemeClr val="bg1">
                <a:lumMod val="95000"/>
                <a:alpha val="60000"/>
              </a:schemeClr>
            </a:solidFill>
            <a:ln w="2540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87529017-2448-4DB7-E0A2-9EC484E2D443}"/>
                    </a:ext>
                  </a:extLst>
                </p:cNvPr>
                <p:cNvSpPr txBox="1"/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≅</m:t>
                        </m:r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</m:oMath>
                    </m:oMathPara>
                  </a14:m>
                  <a:endParaRPr lang="zh-TW" altLang="en-US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latin typeface="Symbol" panose="05050102010706020507" pitchFamily="18" charset="2"/>
                    <a:ea typeface="Dotum" panose="020B0600000101010101" pitchFamily="34" charset="-127"/>
                    <a:cs typeface="ADLaM Display" panose="02010000000000000000" pitchFamily="2" charset="0"/>
                  </a:endParaRPr>
                </a:p>
              </p:txBody>
            </p:sp>
          </mc:Choice>
          <mc:Fallback xmlns="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87529017-2448-4DB7-E0A2-9EC484E2D4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blipFill>
                  <a:blip r:embed="rId4"/>
                  <a:stretch>
                    <a:fillRect l="-14583" r="-18750" b="-1142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4CED117B-8B33-FB63-CC39-51CD6273DB4F}"/>
                </a:ext>
              </a:extLst>
            </p:cNvPr>
            <p:cNvSpPr txBox="1"/>
            <p:nvPr/>
          </p:nvSpPr>
          <p:spPr>
            <a:xfrm>
              <a:off x="3109697" y="1617872"/>
              <a:ext cx="1018303" cy="400585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</p:spPr>
          <p:txBody>
            <a:bodyPr wrap="none" rtlCol="0" anchor="ctr" anchorCtr="0">
              <a:noAutofit/>
            </a:bodyPr>
            <a:lstStyle/>
            <a:p>
              <a:pPr>
                <a:lnSpc>
                  <a:spcPts val="1200"/>
                </a:lnSpc>
              </a:pPr>
              <a:r>
                <a:rPr lang="en-US" altLang="zh-TW" sz="1200" dirty="0"/>
                <a:t>Deprioritize</a:t>
              </a:r>
            </a:p>
            <a:p>
              <a:pPr>
                <a:lnSpc>
                  <a:spcPts val="1200"/>
                </a:lnSpc>
              </a:pPr>
              <a:r>
                <a:rPr lang="en-US" altLang="zh-TW" sz="1200" dirty="0"/>
                <a:t>Outdated data</a:t>
              </a:r>
              <a:endParaRPr lang="zh-TW" altLang="en-US" sz="1200" dirty="0"/>
            </a:p>
          </p:txBody>
        </p:sp>
      </p:grp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10CC66E9-7DA2-0873-0BFA-38B0B8634B1F}"/>
              </a:ext>
            </a:extLst>
          </p:cNvPr>
          <p:cNvSpPr txBox="1"/>
          <p:nvPr/>
        </p:nvSpPr>
        <p:spPr>
          <a:xfrm>
            <a:off x="5364088" y="3110576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F8720125-FAB9-AD24-D4A4-DBC11C89DC0C}"/>
              </a:ext>
            </a:extLst>
          </p:cNvPr>
          <p:cNvSpPr txBox="1"/>
          <p:nvPr/>
        </p:nvSpPr>
        <p:spPr>
          <a:xfrm>
            <a:off x="3851920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7E71C0DD-090D-0C5D-8B29-5F1008F2BE52}"/>
              </a:ext>
            </a:extLst>
          </p:cNvPr>
          <p:cNvSpPr txBox="1"/>
          <p:nvPr/>
        </p:nvSpPr>
        <p:spPr>
          <a:xfrm>
            <a:off x="6228184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4B91F377-18D9-5791-17BE-B09E92872A85}"/>
              </a:ext>
            </a:extLst>
          </p:cNvPr>
          <p:cNvSpPr txBox="1"/>
          <p:nvPr/>
        </p:nvSpPr>
        <p:spPr>
          <a:xfrm>
            <a:off x="6142932" y="3109972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•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6ED4306E-4437-F861-2472-666AB03DE50D}"/>
              </a:ext>
            </a:extLst>
          </p:cNvPr>
          <p:cNvSpPr txBox="1"/>
          <p:nvPr/>
        </p:nvSpPr>
        <p:spPr>
          <a:xfrm>
            <a:off x="6980444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91F68BF-C9C7-FBE1-E39B-D7D61EAE2F38}"/>
              </a:ext>
            </a:extLst>
          </p:cNvPr>
          <p:cNvSpPr/>
          <p:nvPr/>
        </p:nvSpPr>
        <p:spPr>
          <a:xfrm>
            <a:off x="5580112" y="2986385"/>
            <a:ext cx="555837" cy="522705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A2853EBE-75AA-D759-1348-75BC5C0A9161}"/>
              </a:ext>
            </a:extLst>
          </p:cNvPr>
          <p:cNvSpPr txBox="1"/>
          <p:nvPr/>
        </p:nvSpPr>
        <p:spPr>
          <a:xfrm>
            <a:off x="5729741" y="3080825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F02CB56F-B943-37D7-491F-290799C4EB90}"/>
              </a:ext>
            </a:extLst>
          </p:cNvPr>
          <p:cNvSpPr txBox="1"/>
          <p:nvPr/>
        </p:nvSpPr>
        <p:spPr>
          <a:xfrm>
            <a:off x="6444208" y="3118872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3D6AF6EB-46DF-2AAB-9802-B1F91980105E}"/>
              </a:ext>
            </a:extLst>
          </p:cNvPr>
          <p:cNvSpPr txBox="1"/>
          <p:nvPr/>
        </p:nvSpPr>
        <p:spPr>
          <a:xfrm>
            <a:off x="587996" y="302274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2720B544-1ADE-8344-0687-97A43A385634}"/>
              </a:ext>
            </a:extLst>
          </p:cNvPr>
          <p:cNvSpPr txBox="1"/>
          <p:nvPr/>
        </p:nvSpPr>
        <p:spPr>
          <a:xfrm>
            <a:off x="216322" y="3754028"/>
            <a:ext cx="177453" cy="337803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BDEA65CA-2B77-AAAD-7AA4-F4B8E56914C8}"/>
              </a:ext>
            </a:extLst>
          </p:cNvPr>
          <p:cNvSpPr txBox="1"/>
          <p:nvPr/>
        </p:nvSpPr>
        <p:spPr>
          <a:xfrm>
            <a:off x="784363" y="3755098"/>
            <a:ext cx="188274" cy="337803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6B30739F-019F-610D-D34A-BD648B573F15}"/>
              </a:ext>
            </a:extLst>
          </p:cNvPr>
          <p:cNvSpPr txBox="1"/>
          <p:nvPr/>
        </p:nvSpPr>
        <p:spPr>
          <a:xfrm>
            <a:off x="496094" y="3755099"/>
            <a:ext cx="188274" cy="329672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0D17890E-809D-3875-8968-831F10AFE729}"/>
              </a:ext>
            </a:extLst>
          </p:cNvPr>
          <p:cNvGrpSpPr/>
          <p:nvPr/>
        </p:nvGrpSpPr>
        <p:grpSpPr>
          <a:xfrm>
            <a:off x="208087" y="5009386"/>
            <a:ext cx="981422" cy="1155918"/>
            <a:chOff x="1223839" y="4497831"/>
            <a:chExt cx="981422" cy="1155918"/>
          </a:xfrm>
        </p:grpSpPr>
        <p:sp>
          <p:nvSpPr>
            <p:cNvPr id="138" name="矩形 137">
              <a:extLst>
                <a:ext uri="{FF2B5EF4-FFF2-40B4-BE49-F238E27FC236}">
                  <a16:creationId xmlns:a16="http://schemas.microsoft.com/office/drawing/2014/main" id="{ED7E2B53-B154-CA41-C74C-B6282BF897B8}"/>
                </a:ext>
              </a:extLst>
            </p:cNvPr>
            <p:cNvSpPr/>
            <p:nvPr/>
          </p:nvSpPr>
          <p:spPr>
            <a:xfrm>
              <a:off x="1547664" y="4671136"/>
              <a:ext cx="648072" cy="9826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54864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endPara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4DD65946-B754-F6A4-5DEB-F28E79D35922}"/>
                </a:ext>
              </a:extLst>
            </p:cNvPr>
            <p:cNvSpPr txBox="1"/>
            <p:nvPr/>
          </p:nvSpPr>
          <p:spPr>
            <a:xfrm>
              <a:off x="1601860" y="4497831"/>
              <a:ext cx="601913" cy="152639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 x (c*d)</a:t>
              </a:r>
              <a:endParaRPr lang="zh-TW" altLang="en-US" sz="1200" b="1" dirty="0"/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D558317D-2332-862A-666F-A658BC20E743}"/>
                </a:ext>
              </a:extLst>
            </p:cNvPr>
            <p:cNvSpPr/>
            <p:nvPr/>
          </p:nvSpPr>
          <p:spPr>
            <a:xfrm>
              <a:off x="1551428" y="4858221"/>
              <a:ext cx="653833" cy="375988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40000"/>
              </a:schemeClr>
            </a:solidFill>
            <a:ln w="15875">
              <a:solidFill>
                <a:schemeClr val="accent4">
                  <a:lumMod val="60000"/>
                  <a:lumOff val="40000"/>
                </a:scheme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5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Chunk</a:t>
              </a:r>
              <a:r>
                <a:rPr lang="zh-TW" altLang="en-US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 </a:t>
              </a: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i</a:t>
              </a:r>
              <a:endParaRPr lang="en-US" altLang="zh-TW" sz="1200" b="1" baseline="-25000" dirty="0">
                <a:solidFill>
                  <a:schemeClr val="accent4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DDCE3A10-FC64-9B58-15BC-E7BA8685D485}"/>
                </a:ext>
              </a:extLst>
            </p:cNvPr>
            <p:cNvSpPr txBox="1"/>
            <p:nvPr/>
          </p:nvSpPr>
          <p:spPr>
            <a:xfrm>
              <a:off x="1734338" y="4789653"/>
              <a:ext cx="293061" cy="12904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accent4"/>
                  </a:solidFill>
                </a:rPr>
                <a:t>c*d</a:t>
              </a:r>
              <a:endParaRPr lang="zh-TW" altLang="en-US" sz="1200" b="1" dirty="0">
                <a:solidFill>
                  <a:schemeClr val="accent4"/>
                </a:solidFill>
              </a:endParaRPr>
            </a:p>
          </p:txBody>
        </p:sp>
        <p:sp>
          <p:nvSpPr>
            <p:cNvPr id="8" name="左大括弧 7">
              <a:extLst>
                <a:ext uri="{FF2B5EF4-FFF2-40B4-BE49-F238E27FC236}">
                  <a16:creationId xmlns:a16="http://schemas.microsoft.com/office/drawing/2014/main" id="{CBE968E1-4176-CCA9-1832-C97444F218C0}"/>
                </a:ext>
              </a:extLst>
            </p:cNvPr>
            <p:cNvSpPr/>
            <p:nvPr/>
          </p:nvSpPr>
          <p:spPr>
            <a:xfrm>
              <a:off x="1340730" y="4876508"/>
              <a:ext cx="144016" cy="345194"/>
            </a:xfrm>
            <a:prstGeom prst="leftBrace">
              <a:avLst/>
            </a:prstGeom>
            <a:ln w="158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419F6FF3-400C-781D-6EFF-FBB393ECBCD1}"/>
                </a:ext>
              </a:extLst>
            </p:cNvPr>
            <p:cNvSpPr txBox="1"/>
            <p:nvPr/>
          </p:nvSpPr>
          <p:spPr>
            <a:xfrm>
              <a:off x="1223839" y="4939326"/>
              <a:ext cx="108012" cy="195509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400" b="1" dirty="0">
                  <a:solidFill>
                    <a:schemeClr val="accent2"/>
                  </a:solidFill>
                </a:rPr>
                <a:t>c</a:t>
              </a:r>
              <a:endParaRPr lang="zh-TW" altLang="en-US" sz="1400" b="1" dirty="0">
                <a:solidFill>
                  <a:schemeClr val="accent2"/>
                </a:solidFill>
              </a:endParaRPr>
            </a:p>
          </p:txBody>
        </p:sp>
      </p:grp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4E24F3C-7383-0E73-B49E-056F8667235B}"/>
              </a:ext>
            </a:extLst>
          </p:cNvPr>
          <p:cNvSpPr txBox="1"/>
          <p:nvPr/>
        </p:nvSpPr>
        <p:spPr>
          <a:xfrm>
            <a:off x="510028" y="5762467"/>
            <a:ext cx="173540" cy="375988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22" name="左大括弧 21">
            <a:extLst>
              <a:ext uri="{FF2B5EF4-FFF2-40B4-BE49-F238E27FC236}">
                <a16:creationId xmlns:a16="http://schemas.microsoft.com/office/drawing/2014/main" id="{D4CF599F-7BA3-DD2E-6B61-DA3CF692686D}"/>
              </a:ext>
            </a:extLst>
          </p:cNvPr>
          <p:cNvSpPr/>
          <p:nvPr/>
        </p:nvSpPr>
        <p:spPr>
          <a:xfrm rot="5400000">
            <a:off x="6017552" y="2210257"/>
            <a:ext cx="121111" cy="87621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3278F48-015A-FBB9-486E-E61D3F359B8B}"/>
              </a:ext>
            </a:extLst>
          </p:cNvPr>
          <p:cNvSpPr/>
          <p:nvPr/>
        </p:nvSpPr>
        <p:spPr>
          <a:xfrm>
            <a:off x="7560800" y="301913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483BF8D9-C46E-EDAD-9917-7CDA8B01D372}"/>
              </a:ext>
            </a:extLst>
          </p:cNvPr>
          <p:cNvSpPr txBox="1"/>
          <p:nvPr/>
        </p:nvSpPr>
        <p:spPr>
          <a:xfrm>
            <a:off x="7249636" y="3332301"/>
            <a:ext cx="202684" cy="205364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az-Cyrl-AZ" altLang="zh-TW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Ꚛ</a:t>
            </a:r>
            <a:endParaRPr lang="zh-TW" altLang="en-US" sz="1400" b="1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F7D632E7-B637-5716-7870-69FF45BDC6B4}"/>
              </a:ext>
            </a:extLst>
          </p:cNvPr>
          <p:cNvSpPr txBox="1"/>
          <p:nvPr/>
        </p:nvSpPr>
        <p:spPr>
          <a:xfrm>
            <a:off x="6701937" y="2780928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15A7CD0-FF5B-A6A4-3921-B153DCC92F47}"/>
              </a:ext>
            </a:extLst>
          </p:cNvPr>
          <p:cNvSpPr/>
          <p:nvPr/>
        </p:nvSpPr>
        <p:spPr>
          <a:xfrm>
            <a:off x="7528550" y="3382130"/>
            <a:ext cx="355818" cy="12696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01CB805E-09AF-7F2F-493E-7446C07FC8F7}"/>
              </a:ext>
            </a:extLst>
          </p:cNvPr>
          <p:cNvSpPr/>
          <p:nvPr/>
        </p:nvSpPr>
        <p:spPr>
          <a:xfrm>
            <a:off x="8001706" y="3028822"/>
            <a:ext cx="530734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MLP</a:t>
            </a:r>
            <a:b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SwiGLU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63151AC1-6C17-F335-192B-2035423C282F}"/>
              </a:ext>
            </a:extLst>
          </p:cNvPr>
          <p:cNvSpPr/>
          <p:nvPr/>
        </p:nvSpPr>
        <p:spPr>
          <a:xfrm>
            <a:off x="8604448" y="2512936"/>
            <a:ext cx="362588" cy="1482545"/>
          </a:xfrm>
          <a:prstGeom prst="rect">
            <a:avLst/>
          </a:prstGeom>
          <a:solidFill>
            <a:srgbClr val="FFFF00">
              <a:alpha val="4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</a:t>
            </a: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BC648232-1BFD-98BC-8131-A17F45D0A5FE}"/>
              </a:ext>
            </a:extLst>
          </p:cNvPr>
          <p:cNvSpPr txBox="1"/>
          <p:nvPr/>
        </p:nvSpPr>
        <p:spPr>
          <a:xfrm>
            <a:off x="8452577" y="1988840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/>
              <a:t>Linear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Projection</a:t>
            </a:r>
            <a:endParaRPr lang="zh-TW" altLang="en-US" sz="1200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F9A39323-DC75-773F-C973-F1D568AA2C20}"/>
              </a:ext>
            </a:extLst>
          </p:cNvPr>
          <p:cNvSpPr txBox="1"/>
          <p:nvPr/>
        </p:nvSpPr>
        <p:spPr>
          <a:xfrm>
            <a:off x="8639211" y="2435886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V*d</a:t>
            </a:r>
            <a:endParaRPr lang="zh-TW" altLang="en-US" sz="1200" b="1" dirty="0"/>
          </a:p>
        </p:txBody>
      </p:sp>
      <p:cxnSp>
        <p:nvCxnSpPr>
          <p:cNvPr id="55" name="接點: 弧形 54">
            <a:extLst>
              <a:ext uri="{FF2B5EF4-FFF2-40B4-BE49-F238E27FC236}">
                <a16:creationId xmlns:a16="http://schemas.microsoft.com/office/drawing/2014/main" id="{BAFD61BA-F63B-E589-9534-8B42A7DD896B}"/>
              </a:ext>
            </a:extLst>
          </p:cNvPr>
          <p:cNvCxnSpPr>
            <a:cxnSpLocks/>
            <a:stCxn id="22" idx="1"/>
            <a:endCxn id="124" idx="0"/>
          </p:cNvCxnSpPr>
          <p:nvPr/>
        </p:nvCxnSpPr>
        <p:spPr>
          <a:xfrm rot="16200000" flipH="1">
            <a:off x="6536183" y="2129733"/>
            <a:ext cx="128170" cy="1044323"/>
          </a:xfrm>
          <a:prstGeom prst="curvedConnector3">
            <a:avLst>
              <a:gd name="adj1" fmla="val -168235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97BD2BE8-49E6-3CA9-1409-65F8EEAB8785}"/>
              </a:ext>
            </a:extLst>
          </p:cNvPr>
          <p:cNvSpPr txBox="1"/>
          <p:nvPr/>
        </p:nvSpPr>
        <p:spPr>
          <a:xfrm>
            <a:off x="5724128" y="278960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8FB0B030-47E7-E02B-27F4-5674E5F085B8}"/>
              </a:ext>
            </a:extLst>
          </p:cNvPr>
          <p:cNvSpPr txBox="1"/>
          <p:nvPr/>
        </p:nvSpPr>
        <p:spPr>
          <a:xfrm>
            <a:off x="7542059" y="2780928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95C26082-1DCC-69F2-393B-F249260C9727}"/>
              </a:ext>
            </a:extLst>
          </p:cNvPr>
          <p:cNvSpPr txBox="1"/>
          <p:nvPr/>
        </p:nvSpPr>
        <p:spPr>
          <a:xfrm>
            <a:off x="5364088" y="1873642"/>
            <a:ext cx="1018303" cy="469579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  <a:spcAft>
                <a:spcPts val="200"/>
              </a:spcAft>
            </a:pPr>
            <a:r>
              <a:rPr lang="en-US" altLang="zh-TW" sz="1200" b="1" dirty="0"/>
              <a:t>Delta Rule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Update State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Memory Matrix</a:t>
            </a:r>
            <a:endParaRPr lang="zh-TW" altLang="en-US" sz="1200" dirty="0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C1510520-6BE4-F0DE-D2F1-390E687D1215}"/>
              </a:ext>
            </a:extLst>
          </p:cNvPr>
          <p:cNvSpPr/>
          <p:nvPr/>
        </p:nvSpPr>
        <p:spPr>
          <a:xfrm>
            <a:off x="1889320" y="5362125"/>
            <a:ext cx="365760" cy="365760"/>
          </a:xfrm>
          <a:prstGeom prst="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2"/>
                </a:solidFill>
              </a:rPr>
              <a:t>i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D509260-8CFB-FED9-0D75-8F7246272E6A}"/>
              </a:ext>
            </a:extLst>
          </p:cNvPr>
          <p:cNvSpPr txBox="1"/>
          <p:nvPr/>
        </p:nvSpPr>
        <p:spPr>
          <a:xfrm>
            <a:off x="1662274" y="5371651"/>
            <a:ext cx="144016" cy="335670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0" name="左右中括弧 39">
            <a:extLst>
              <a:ext uri="{FF2B5EF4-FFF2-40B4-BE49-F238E27FC236}">
                <a16:creationId xmlns:a16="http://schemas.microsoft.com/office/drawing/2014/main" id="{955B3801-33A4-7F9A-AE60-7C0F47D62CBC}"/>
              </a:ext>
            </a:extLst>
          </p:cNvPr>
          <p:cNvSpPr/>
          <p:nvPr/>
        </p:nvSpPr>
        <p:spPr>
          <a:xfrm>
            <a:off x="5774200" y="6002258"/>
            <a:ext cx="723497" cy="260579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707857CD-9BE8-4B33-CB5E-CC9A7FAFE8B6}"/>
              </a:ext>
            </a:extLst>
          </p:cNvPr>
          <p:cNvSpPr/>
          <p:nvPr/>
        </p:nvSpPr>
        <p:spPr>
          <a:xfrm>
            <a:off x="2478048" y="5362125"/>
            <a:ext cx="365760" cy="365760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4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4"/>
                </a:solidFill>
              </a:rPr>
              <a:t>i+1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535959E1-60BA-ECC5-0D82-C9ED85A6E7BE}"/>
              </a:ext>
            </a:extLst>
          </p:cNvPr>
          <p:cNvSpPr txBox="1"/>
          <p:nvPr/>
        </p:nvSpPr>
        <p:spPr>
          <a:xfrm>
            <a:off x="3131840" y="5393731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…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0C5335E5-19F6-B465-B647-534BC39B2358}"/>
              </a:ext>
            </a:extLst>
          </p:cNvPr>
          <p:cNvSpPr txBox="1"/>
          <p:nvPr/>
        </p:nvSpPr>
        <p:spPr>
          <a:xfrm>
            <a:off x="2865741" y="4107587"/>
            <a:ext cx="514298" cy="14497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</a:pPr>
            <a:r>
              <a:rPr lang="en-US" altLang="zh-TW" sz="1000" dirty="0"/>
              <a:t>Decay</a:t>
            </a:r>
            <a:r>
              <a:rPr lang="zh-TW" altLang="en-US" sz="1000" dirty="0"/>
              <a:t> </a:t>
            </a:r>
            <a:r>
              <a:rPr lang="en-US" altLang="zh-TW" sz="1000" dirty="0"/>
              <a:t>Factor</a:t>
            </a:r>
            <a:endParaRPr lang="zh-TW" altLang="en-US" sz="1000" dirty="0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EC0F2086-D915-8ACE-8DFD-1DCFD5F0B5BD}"/>
              </a:ext>
            </a:extLst>
          </p:cNvPr>
          <p:cNvSpPr/>
          <p:nvPr/>
        </p:nvSpPr>
        <p:spPr>
          <a:xfrm>
            <a:off x="6608637" y="5953429"/>
            <a:ext cx="548640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02C24D90-BBE1-C173-D009-B1100677CDDE}"/>
              </a:ext>
            </a:extLst>
          </p:cNvPr>
          <p:cNvGrpSpPr/>
          <p:nvPr/>
        </p:nvGrpSpPr>
        <p:grpSpPr>
          <a:xfrm>
            <a:off x="5794372" y="5599814"/>
            <a:ext cx="610499" cy="712496"/>
            <a:chOff x="1902675" y="4463429"/>
            <a:chExt cx="610499" cy="712496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EC1AB18D-C862-7088-B824-C315C1626CD2}"/>
                </a:ext>
              </a:extLst>
            </p:cNvPr>
            <p:cNvSpPr/>
            <p:nvPr/>
          </p:nvSpPr>
          <p:spPr>
            <a:xfrm>
              <a:off x="2187708" y="4830730"/>
              <a:ext cx="325466" cy="345195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200" b="1" dirty="0">
                  <a:solidFill>
                    <a:schemeClr val="accent2"/>
                  </a:solidFill>
                </a:rPr>
                <a:t>KV</a:t>
              </a:r>
              <a:r>
                <a:rPr lang="en-US" altLang="zh-TW" sz="1200" b="1" baseline="-25000" dirty="0">
                  <a:solidFill>
                    <a:schemeClr val="accent2"/>
                  </a:solidFill>
                </a:rPr>
                <a:t>i</a:t>
              </a:r>
              <a:r>
                <a:rPr lang="en-US" altLang="zh-TW" sz="1400" b="1" baseline="-25000" dirty="0">
                  <a:solidFill>
                    <a:schemeClr val="accent4"/>
                  </a:solidFill>
                </a:rPr>
                <a:t> 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7F772B4D-C670-9462-A55D-14EEBA4C4A0B}"/>
                </a:ext>
              </a:extLst>
            </p:cNvPr>
            <p:cNvSpPr txBox="1"/>
            <p:nvPr/>
          </p:nvSpPr>
          <p:spPr>
            <a:xfrm>
              <a:off x="1979712" y="4840255"/>
              <a:ext cx="144016" cy="33567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endParaRPr lang="zh-TW" altLang="en-US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5" name="文字方塊 84">
              <a:extLst>
                <a:ext uri="{FF2B5EF4-FFF2-40B4-BE49-F238E27FC236}">
                  <a16:creationId xmlns:a16="http://schemas.microsoft.com/office/drawing/2014/main" id="{7C6AE2F7-BDF6-D382-5C0F-4483926F0B80}"/>
                </a:ext>
              </a:extLst>
            </p:cNvPr>
            <p:cNvSpPr txBox="1"/>
            <p:nvPr/>
          </p:nvSpPr>
          <p:spPr>
            <a:xfrm>
              <a:off x="2207795" y="4616970"/>
              <a:ext cx="293061" cy="144971"/>
            </a:xfrm>
            <a:prstGeom prst="rect">
              <a:avLst/>
            </a:prstGeom>
            <a:noFill/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endParaRPr lang="zh-TW" altLang="en-US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6738D6CF-0CE7-B748-17D9-943EDD55890E}"/>
                </a:ext>
              </a:extLst>
            </p:cNvPr>
            <p:cNvSpPr txBox="1"/>
            <p:nvPr/>
          </p:nvSpPr>
          <p:spPr>
            <a:xfrm>
              <a:off x="2214786" y="446342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r>
                <a:rPr lang="en-US" altLang="zh-TW" sz="1200" b="1" dirty="0"/>
                <a:t>*d</a:t>
              </a:r>
              <a:endParaRPr lang="zh-TW" altLang="en-US" sz="1200" b="1" dirty="0"/>
            </a:p>
          </p:txBody>
        </p:sp>
        <p:sp>
          <p:nvSpPr>
            <p:cNvPr id="87" name="文字方塊 86">
              <a:extLst>
                <a:ext uri="{FF2B5EF4-FFF2-40B4-BE49-F238E27FC236}">
                  <a16:creationId xmlns:a16="http://schemas.microsoft.com/office/drawing/2014/main" id="{CBDFDACC-AC7A-785B-C8A2-F6CEA2681B4B}"/>
                </a:ext>
              </a:extLst>
            </p:cNvPr>
            <p:cNvSpPr txBox="1"/>
            <p:nvPr/>
          </p:nvSpPr>
          <p:spPr>
            <a:xfrm>
              <a:off x="1902675" y="468575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</a:t>
              </a:r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endParaRPr lang="zh-TW" altLang="en-US" sz="120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14D07F4E-5FB6-BDD1-7B95-06E6E0E02859}"/>
              </a:ext>
            </a:extLst>
          </p:cNvPr>
          <p:cNvSpPr txBox="1"/>
          <p:nvPr/>
        </p:nvSpPr>
        <p:spPr>
          <a:xfrm>
            <a:off x="2514397" y="515612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1DF382DA-6569-C91F-D690-A8C6D8A94767}"/>
              </a:ext>
            </a:extLst>
          </p:cNvPr>
          <p:cNvSpPr txBox="1"/>
          <p:nvPr/>
        </p:nvSpPr>
        <p:spPr>
          <a:xfrm>
            <a:off x="2909659" y="5362123"/>
            <a:ext cx="176167" cy="36576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A30C6F9B-522A-FB6B-2E8E-F756A5B71FD5}"/>
              </a:ext>
            </a:extLst>
          </p:cNvPr>
          <p:cNvSpPr txBox="1"/>
          <p:nvPr/>
        </p:nvSpPr>
        <p:spPr>
          <a:xfrm>
            <a:off x="2838779" y="515680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d*c</a:t>
            </a:r>
            <a:endParaRPr lang="zh-TW" altLang="en-US" sz="1200" b="1" dirty="0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811BE9C8-8C20-EB6E-E4BF-0103A1512D5E}"/>
              </a:ext>
            </a:extLst>
          </p:cNvPr>
          <p:cNvSpPr/>
          <p:nvPr/>
        </p:nvSpPr>
        <p:spPr>
          <a:xfrm>
            <a:off x="3635896" y="5370393"/>
            <a:ext cx="648072" cy="365760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92986227-3834-83C1-D1D2-6D83A4EDFE46}"/>
              </a:ext>
            </a:extLst>
          </p:cNvPr>
          <p:cNvSpPr txBox="1"/>
          <p:nvPr/>
        </p:nvSpPr>
        <p:spPr>
          <a:xfrm>
            <a:off x="3818316" y="501222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571AD200-F8CD-396B-B0A7-F45C6C01A16A}"/>
              </a:ext>
            </a:extLst>
          </p:cNvPr>
          <p:cNvSpPr txBox="1"/>
          <p:nvPr/>
        </p:nvSpPr>
        <p:spPr>
          <a:xfrm>
            <a:off x="3433425" y="5134141"/>
            <a:ext cx="168024" cy="1466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400" b="1" dirty="0">
                <a:solidFill>
                  <a:srgbClr val="C00000"/>
                </a:solidFill>
              </a:rPr>
              <a:t>c</a:t>
            </a:r>
            <a:endParaRPr lang="zh-TW" altLang="en-US" sz="1400" b="1" dirty="0">
              <a:solidFill>
                <a:srgbClr val="C00000"/>
              </a:solidFill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20CA5716-ABFE-391B-39D1-CF2E391ADF22}"/>
              </a:ext>
            </a:extLst>
          </p:cNvPr>
          <p:cNvSpPr txBox="1"/>
          <p:nvPr/>
        </p:nvSpPr>
        <p:spPr>
          <a:xfrm>
            <a:off x="3056969" y="5850413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115" name="箭號: 向下 114">
            <a:extLst>
              <a:ext uri="{FF2B5EF4-FFF2-40B4-BE49-F238E27FC236}">
                <a16:creationId xmlns:a16="http://schemas.microsoft.com/office/drawing/2014/main" id="{AFEEE927-0517-0AE0-9F73-A0A85793D764}"/>
              </a:ext>
            </a:extLst>
          </p:cNvPr>
          <p:cNvSpPr/>
          <p:nvPr/>
        </p:nvSpPr>
        <p:spPr>
          <a:xfrm rot="16200000">
            <a:off x="2100226" y="5452306"/>
            <a:ext cx="365761" cy="185395"/>
          </a:xfrm>
          <a:prstGeom prst="downArrow">
            <a:avLst/>
          </a:prstGeom>
          <a:solidFill>
            <a:schemeClr val="accent2">
              <a:lumMod val="40000"/>
              <a:lumOff val="60000"/>
              <a:alpha val="7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kumimoji="0" lang="zh-TW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cxnSp>
        <p:nvCxnSpPr>
          <p:cNvPr id="117" name="直線接點 116">
            <a:extLst>
              <a:ext uri="{FF2B5EF4-FFF2-40B4-BE49-F238E27FC236}">
                <a16:creationId xmlns:a16="http://schemas.microsoft.com/office/drawing/2014/main" id="{B74D2188-0F19-DF64-C329-2A808B2D0AA4}"/>
              </a:ext>
            </a:extLst>
          </p:cNvPr>
          <p:cNvCxnSpPr/>
          <p:nvPr/>
        </p:nvCxnSpPr>
        <p:spPr>
          <a:xfrm>
            <a:off x="196439" y="6453336"/>
            <a:ext cx="48245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BB4006AA-6697-530D-18BF-D1803EF4D37A}"/>
              </a:ext>
            </a:extLst>
          </p:cNvPr>
          <p:cNvSpPr txBox="1"/>
          <p:nvPr/>
        </p:nvSpPr>
        <p:spPr>
          <a:xfrm>
            <a:off x="1916398" y="4994825"/>
            <a:ext cx="293061" cy="144971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r>
              <a:rPr lang="en-US" altLang="zh-TW" sz="1200" b="1" dirty="0"/>
              <a:t>*d</a:t>
            </a:r>
            <a:endParaRPr lang="zh-TW" altLang="en-US" sz="1200" b="1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8A8B3B7-E3F6-B303-4F09-513C37E7C8B6}"/>
              </a:ext>
            </a:extLst>
          </p:cNvPr>
          <p:cNvSpPr txBox="1"/>
          <p:nvPr/>
        </p:nvSpPr>
        <p:spPr>
          <a:xfrm>
            <a:off x="1890357" y="5148366"/>
            <a:ext cx="364723" cy="144971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421779A3-8496-E6FC-36AF-8670B65F48D1}"/>
              </a:ext>
            </a:extLst>
          </p:cNvPr>
          <p:cNvSpPr txBox="1"/>
          <p:nvPr/>
        </p:nvSpPr>
        <p:spPr>
          <a:xfrm>
            <a:off x="1595289" y="5217155"/>
            <a:ext cx="293061" cy="144971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</a:t>
            </a:r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endParaRPr lang="zh-TW" altLang="en-US" sz="1200" b="1" dirty="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6" name="接點: 肘形 35">
            <a:extLst>
              <a:ext uri="{FF2B5EF4-FFF2-40B4-BE49-F238E27FC236}">
                <a16:creationId xmlns:a16="http://schemas.microsoft.com/office/drawing/2014/main" id="{889345C5-2C05-B6E5-B93E-90E9864DE35C}"/>
              </a:ext>
            </a:extLst>
          </p:cNvPr>
          <p:cNvCxnSpPr>
            <a:cxnSpLocks/>
            <a:stCxn id="48" idx="3"/>
            <a:endCxn id="35" idx="1"/>
          </p:cNvCxnSpPr>
          <p:nvPr/>
        </p:nvCxnSpPr>
        <p:spPr>
          <a:xfrm>
            <a:off x="6970937" y="3254210"/>
            <a:ext cx="557613" cy="1914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BAB49609-D5C5-6E57-8FA9-14CC4A001C1D}"/>
              </a:ext>
            </a:extLst>
          </p:cNvPr>
          <p:cNvSpPr txBox="1"/>
          <p:nvPr/>
        </p:nvSpPr>
        <p:spPr>
          <a:xfrm>
            <a:off x="7380312" y="1988840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MHA</a:t>
            </a:r>
            <a:endParaRPr lang="zh-TW" altLang="en-US" sz="1200" b="1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97FE7F8F-CB61-F772-2AA9-C4CBE7A5870A}"/>
              </a:ext>
            </a:extLst>
          </p:cNvPr>
          <p:cNvSpPr txBox="1"/>
          <p:nvPr/>
        </p:nvSpPr>
        <p:spPr>
          <a:xfrm>
            <a:off x="4623181" y="3820494"/>
            <a:ext cx="256577" cy="256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  <a:sym typeface="Symbol" panose="05050102010706020507" pitchFamily="18" charset="2"/>
              </a:rPr>
              <a:t>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 t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60" name="文字方塊 59">
            <a:extLst>
              <a:ext uri="{FF2B5EF4-FFF2-40B4-BE49-F238E27FC236}">
                <a16:creationId xmlns:a16="http://schemas.microsoft.com/office/drawing/2014/main" id="{E16179F0-64FD-DEA9-7DB7-07982800695B}"/>
              </a:ext>
            </a:extLst>
          </p:cNvPr>
          <p:cNvSpPr txBox="1"/>
          <p:nvPr/>
        </p:nvSpPr>
        <p:spPr>
          <a:xfrm>
            <a:off x="4911168" y="3811653"/>
            <a:ext cx="145838" cy="265419"/>
          </a:xfrm>
          <a:prstGeom prst="rect">
            <a:avLst/>
          </a:prstGeom>
          <a:noFill/>
        </p:spPr>
        <p:txBody>
          <a:bodyPr wrap="none" lIns="0" tIns="18288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*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88808CFD-1352-9DD9-068B-1CC547CA6E82}"/>
              </a:ext>
            </a:extLst>
          </p:cNvPr>
          <p:cNvSpPr txBox="1"/>
          <p:nvPr/>
        </p:nvSpPr>
        <p:spPr>
          <a:xfrm>
            <a:off x="4447034" y="4104010"/>
            <a:ext cx="606383" cy="27432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</a:pPr>
            <a:r>
              <a:rPr lang="en-US" altLang="zh-TW" sz="1000" dirty="0"/>
              <a:t>Delta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/>
              <a:t>Learning</a:t>
            </a:r>
            <a:r>
              <a:rPr lang="zh-TW" altLang="en-US" sz="1000" dirty="0"/>
              <a:t> </a:t>
            </a:r>
            <a:r>
              <a:rPr lang="en-US" altLang="zh-TW" sz="1000" dirty="0"/>
              <a:t>Rate</a:t>
            </a:r>
            <a:endParaRPr lang="zh-TW" altLang="en-US" sz="1000" dirty="0"/>
          </a:p>
        </p:txBody>
      </p:sp>
      <p:cxnSp>
        <p:nvCxnSpPr>
          <p:cNvPr id="2" name="接點: 弧形 1">
            <a:extLst>
              <a:ext uri="{FF2B5EF4-FFF2-40B4-BE49-F238E27FC236}">
                <a16:creationId xmlns:a16="http://schemas.microsoft.com/office/drawing/2014/main" id="{68B8CCC0-27E7-7A72-C64A-A4D2C75F7EE0}"/>
              </a:ext>
            </a:extLst>
          </p:cNvPr>
          <p:cNvCxnSpPr>
            <a:cxnSpLocks/>
            <a:stCxn id="142" idx="2"/>
            <a:endCxn id="3" idx="2"/>
          </p:cNvCxnSpPr>
          <p:nvPr/>
        </p:nvCxnSpPr>
        <p:spPr>
          <a:xfrm rot="5400000" flipH="1" flipV="1">
            <a:off x="4039022" y="1526295"/>
            <a:ext cx="81548" cy="4587958"/>
          </a:xfrm>
          <a:prstGeom prst="curvedConnector3">
            <a:avLst>
              <a:gd name="adj1" fmla="val -876018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ACAA3A5E-3B1F-7DFF-3961-201D69AFEF96}"/>
              </a:ext>
            </a:extLst>
          </p:cNvPr>
          <p:cNvSpPr txBox="1"/>
          <p:nvPr/>
        </p:nvSpPr>
        <p:spPr>
          <a:xfrm>
            <a:off x="2211585" y="1699730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99553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0D437-3C76-C591-7CF1-841A2C28F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5C8EE5EC-B4ED-842F-54A5-CAADA1D614FD}"/>
              </a:ext>
            </a:extLst>
          </p:cNvPr>
          <p:cNvSpPr/>
          <p:nvPr/>
        </p:nvSpPr>
        <p:spPr>
          <a:xfrm>
            <a:off x="1366214" y="5028021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0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ECE50E8F-18BC-4A99-0A80-95D96FBD9B47}"/>
              </a:ext>
            </a:extLst>
          </p:cNvPr>
          <p:cNvSpPr/>
          <p:nvPr/>
        </p:nvSpPr>
        <p:spPr>
          <a:xfrm>
            <a:off x="1447081" y="5109554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1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A1AF868A-49A7-0B57-4D73-B2F7F6E3F6EB}"/>
              </a:ext>
            </a:extLst>
          </p:cNvPr>
          <p:cNvSpPr/>
          <p:nvPr/>
        </p:nvSpPr>
        <p:spPr>
          <a:xfrm>
            <a:off x="1547664" y="5229187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576" tIns="0" rIns="0" bIns="0" rtlCol="0" anchor="t" anchorCtr="0"/>
          <a:lstStyle/>
          <a:p>
            <a:pPr>
              <a:lnSpc>
                <a:spcPts val="400"/>
              </a:lnSpc>
            </a:pPr>
            <a:r>
              <a:rPr lang="en-US" altLang="zh-TW" sz="1200" b="1" baseline="-25000" dirty="0">
                <a:solidFill>
                  <a:srgbClr val="C00000"/>
                </a:solidFill>
              </a:rPr>
              <a:t>.. .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62AE3943-39B4-0D20-4C61-371210C77652}"/>
              </a:ext>
            </a:extLst>
          </p:cNvPr>
          <p:cNvSpPr/>
          <p:nvPr/>
        </p:nvSpPr>
        <p:spPr>
          <a:xfrm>
            <a:off x="3635896" y="5182691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8DB8FF37-3AB9-9F66-BED3-D1FD580A06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Chunkwise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Mechanism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Chunkwise GDN boosts hardware efficiency during prefill and pre-training stages.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5D208872-97A7-7D68-2132-2E106E847313}"/>
              </a:ext>
            </a:extLst>
          </p:cNvPr>
          <p:cNvSpPr txBox="1"/>
          <p:nvPr/>
        </p:nvSpPr>
        <p:spPr>
          <a:xfrm>
            <a:off x="287524" y="980728"/>
            <a:ext cx="5868652" cy="6975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Intra-chunk</a:t>
            </a:r>
            <a:r>
              <a:rPr lang="en-US" altLang="zh-TW" sz="1600" dirty="0"/>
              <a:t>: ... Attention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400" b="1" dirty="0"/>
              <a:t>Inter-chuck</a:t>
            </a:r>
            <a:r>
              <a:rPr lang="en-US" altLang="zh-TW" sz="1400" dirty="0"/>
              <a:t>: .. RNN</a:t>
            </a:r>
            <a:endParaRPr lang="zh-TW" altLang="en-US" sz="1200" dirty="0"/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3416AFE7-17ED-C0CC-E006-21FD81852D4E}"/>
              </a:ext>
            </a:extLst>
          </p:cNvPr>
          <p:cNvSpPr txBox="1"/>
          <p:nvPr/>
        </p:nvSpPr>
        <p:spPr>
          <a:xfrm>
            <a:off x="7206485" y="5653750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8116506C-1ECA-9909-8924-1CB967069F0F}"/>
              </a:ext>
            </a:extLst>
          </p:cNvPr>
          <p:cNvSpPr/>
          <p:nvPr/>
        </p:nvSpPr>
        <p:spPr>
          <a:xfrm>
            <a:off x="718142" y="2687201"/>
            <a:ext cx="648072" cy="1698565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D9326B5-BC1E-1F9A-5224-0C52D7CD359E}"/>
              </a:ext>
            </a:extLst>
          </p:cNvPr>
          <p:cNvSpPr txBox="1"/>
          <p:nvPr/>
        </p:nvSpPr>
        <p:spPr>
          <a:xfrm>
            <a:off x="744644" y="2522530"/>
            <a:ext cx="601913" cy="15263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 x (c*d)</a:t>
            </a:r>
            <a:endParaRPr lang="zh-TW" altLang="en-US" sz="1200" b="1" dirty="0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F74C320-0F4F-CC93-2437-A43B0EFCEF3D}"/>
              </a:ext>
            </a:extLst>
          </p:cNvPr>
          <p:cNvSpPr/>
          <p:nvPr/>
        </p:nvSpPr>
        <p:spPr>
          <a:xfrm>
            <a:off x="721906" y="4018750"/>
            <a:ext cx="653833" cy="375988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Chunk</a:t>
            </a:r>
            <a:r>
              <a:rPr lang="zh-TW" altLang="en-US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2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E46D75E7-9677-E4C5-C4DB-3F03B99B3957}"/>
              </a:ext>
            </a:extLst>
          </p:cNvPr>
          <p:cNvSpPr txBox="1"/>
          <p:nvPr/>
        </p:nvSpPr>
        <p:spPr>
          <a:xfrm>
            <a:off x="904816" y="3950182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4"/>
                </a:solidFill>
              </a:rPr>
              <a:t>c*d</a:t>
            </a:r>
            <a:endParaRPr lang="zh-TW" altLang="en-US" sz="1200" b="1" dirty="0">
              <a:solidFill>
                <a:schemeClr val="accent4"/>
              </a:solidFill>
            </a:endParaRPr>
          </a:p>
        </p:txBody>
      </p:sp>
      <p:sp>
        <p:nvSpPr>
          <p:cNvPr id="8" name="左大括弧 7">
            <a:extLst>
              <a:ext uri="{FF2B5EF4-FFF2-40B4-BE49-F238E27FC236}">
                <a16:creationId xmlns:a16="http://schemas.microsoft.com/office/drawing/2014/main" id="{BD927372-E06E-B1E4-0159-93AE14B01E67}"/>
              </a:ext>
            </a:extLst>
          </p:cNvPr>
          <p:cNvSpPr/>
          <p:nvPr/>
        </p:nvSpPr>
        <p:spPr>
          <a:xfrm>
            <a:off x="529278" y="2687200"/>
            <a:ext cx="132975" cy="1707538"/>
          </a:xfrm>
          <a:prstGeom prst="leftBrace">
            <a:avLst/>
          </a:prstGeom>
          <a:ln w="158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F278D05-1E42-D60F-69F9-93A578F46EFD}"/>
              </a:ext>
            </a:extLst>
          </p:cNvPr>
          <p:cNvSpPr txBox="1"/>
          <p:nvPr/>
        </p:nvSpPr>
        <p:spPr>
          <a:xfrm>
            <a:off x="327580" y="3242610"/>
            <a:ext cx="163822" cy="593116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1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276CE8D1-47AB-1033-6F33-6C6767AEE9ED}"/>
              </a:ext>
            </a:extLst>
          </p:cNvPr>
          <p:cNvSpPr/>
          <p:nvPr/>
        </p:nvSpPr>
        <p:spPr>
          <a:xfrm>
            <a:off x="1889320" y="5362125"/>
            <a:ext cx="365760" cy="365760"/>
          </a:xfrm>
          <a:prstGeom prst="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2"/>
                </a:solidFill>
              </a:rPr>
              <a:t>i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D876256-578A-3C04-334E-64B4FF21DBC2}"/>
              </a:ext>
            </a:extLst>
          </p:cNvPr>
          <p:cNvSpPr txBox="1"/>
          <p:nvPr/>
        </p:nvSpPr>
        <p:spPr>
          <a:xfrm>
            <a:off x="3275856" y="3741835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0" name="左右中括弧 39">
            <a:extLst>
              <a:ext uri="{FF2B5EF4-FFF2-40B4-BE49-F238E27FC236}">
                <a16:creationId xmlns:a16="http://schemas.microsoft.com/office/drawing/2014/main" id="{4664F800-3950-0BC7-C1B9-F3F981D06D1E}"/>
              </a:ext>
            </a:extLst>
          </p:cNvPr>
          <p:cNvSpPr/>
          <p:nvPr/>
        </p:nvSpPr>
        <p:spPr>
          <a:xfrm>
            <a:off x="5774200" y="6002258"/>
            <a:ext cx="723497" cy="260579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BB9682FA-100A-D008-1D69-B394B854A297}"/>
              </a:ext>
            </a:extLst>
          </p:cNvPr>
          <p:cNvSpPr/>
          <p:nvPr/>
        </p:nvSpPr>
        <p:spPr>
          <a:xfrm>
            <a:off x="2478048" y="5362125"/>
            <a:ext cx="365760" cy="365760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4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4"/>
                </a:solidFill>
              </a:rPr>
              <a:t>i+1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F0705B5F-B936-B184-1971-A5099C6922C0}"/>
              </a:ext>
            </a:extLst>
          </p:cNvPr>
          <p:cNvSpPr txBox="1"/>
          <p:nvPr/>
        </p:nvSpPr>
        <p:spPr>
          <a:xfrm>
            <a:off x="3131840" y="5393731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…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6443B15-FAC4-0EB6-6087-6C7A493EC840}"/>
              </a:ext>
            </a:extLst>
          </p:cNvPr>
          <p:cNvSpPr/>
          <p:nvPr/>
        </p:nvSpPr>
        <p:spPr>
          <a:xfrm>
            <a:off x="6608637" y="5953429"/>
            <a:ext cx="548640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B0292509-BD7D-1EB0-7084-DD74459ECB0B}"/>
              </a:ext>
            </a:extLst>
          </p:cNvPr>
          <p:cNvGrpSpPr/>
          <p:nvPr/>
        </p:nvGrpSpPr>
        <p:grpSpPr>
          <a:xfrm>
            <a:off x="5794372" y="5599814"/>
            <a:ext cx="610499" cy="712496"/>
            <a:chOff x="1902675" y="4463429"/>
            <a:chExt cx="610499" cy="712496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67A2831F-9053-2F14-7907-E542F9ACB972}"/>
                </a:ext>
              </a:extLst>
            </p:cNvPr>
            <p:cNvSpPr/>
            <p:nvPr/>
          </p:nvSpPr>
          <p:spPr>
            <a:xfrm>
              <a:off x="2187708" y="4830730"/>
              <a:ext cx="325466" cy="345195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200" b="1" dirty="0">
                  <a:solidFill>
                    <a:schemeClr val="accent2"/>
                  </a:solidFill>
                </a:rPr>
                <a:t>KV</a:t>
              </a:r>
              <a:r>
                <a:rPr lang="en-US" altLang="zh-TW" sz="1200" b="1" baseline="-25000" dirty="0">
                  <a:solidFill>
                    <a:schemeClr val="accent2"/>
                  </a:solidFill>
                </a:rPr>
                <a:t>i</a:t>
              </a:r>
              <a:r>
                <a:rPr lang="en-US" altLang="zh-TW" sz="1400" b="1" baseline="-25000" dirty="0">
                  <a:solidFill>
                    <a:schemeClr val="accent4"/>
                  </a:solidFill>
                </a:rPr>
                <a:t> 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AE298AA8-3E41-8E79-605D-A9A1FDF8C15B}"/>
                </a:ext>
              </a:extLst>
            </p:cNvPr>
            <p:cNvSpPr txBox="1"/>
            <p:nvPr/>
          </p:nvSpPr>
          <p:spPr>
            <a:xfrm>
              <a:off x="1979712" y="4840255"/>
              <a:ext cx="144016" cy="33567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endParaRPr lang="zh-TW" altLang="en-US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5" name="文字方塊 84">
              <a:extLst>
                <a:ext uri="{FF2B5EF4-FFF2-40B4-BE49-F238E27FC236}">
                  <a16:creationId xmlns:a16="http://schemas.microsoft.com/office/drawing/2014/main" id="{DA3EC63F-FAC1-FD80-EA79-E95902906D8C}"/>
                </a:ext>
              </a:extLst>
            </p:cNvPr>
            <p:cNvSpPr txBox="1"/>
            <p:nvPr/>
          </p:nvSpPr>
          <p:spPr>
            <a:xfrm>
              <a:off x="2207795" y="4616970"/>
              <a:ext cx="293061" cy="144971"/>
            </a:xfrm>
            <a:prstGeom prst="rect">
              <a:avLst/>
            </a:prstGeom>
            <a:noFill/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endParaRPr lang="zh-TW" altLang="en-US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4B560591-AEB2-ED93-A84F-608A8B872C47}"/>
                </a:ext>
              </a:extLst>
            </p:cNvPr>
            <p:cNvSpPr txBox="1"/>
            <p:nvPr/>
          </p:nvSpPr>
          <p:spPr>
            <a:xfrm>
              <a:off x="2214786" y="446342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r>
                <a:rPr lang="en-US" altLang="zh-TW" sz="1200" b="1" dirty="0"/>
                <a:t>*d</a:t>
              </a:r>
              <a:endParaRPr lang="zh-TW" altLang="en-US" sz="1200" b="1" dirty="0"/>
            </a:p>
          </p:txBody>
        </p:sp>
        <p:sp>
          <p:nvSpPr>
            <p:cNvPr id="87" name="文字方塊 86">
              <a:extLst>
                <a:ext uri="{FF2B5EF4-FFF2-40B4-BE49-F238E27FC236}">
                  <a16:creationId xmlns:a16="http://schemas.microsoft.com/office/drawing/2014/main" id="{4A2EEC93-F90B-3F66-E578-B88B34E63EEF}"/>
                </a:ext>
              </a:extLst>
            </p:cNvPr>
            <p:cNvSpPr txBox="1"/>
            <p:nvPr/>
          </p:nvSpPr>
          <p:spPr>
            <a:xfrm>
              <a:off x="1902675" y="468575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</a:t>
              </a:r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endParaRPr lang="zh-TW" altLang="en-US" sz="120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2A5512E9-BDF4-8003-1990-643C5AB4CE4F}"/>
              </a:ext>
            </a:extLst>
          </p:cNvPr>
          <p:cNvSpPr txBox="1"/>
          <p:nvPr/>
        </p:nvSpPr>
        <p:spPr>
          <a:xfrm>
            <a:off x="2514397" y="515612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9D9F04C7-F83B-86BA-D248-553EECE2E3AB}"/>
              </a:ext>
            </a:extLst>
          </p:cNvPr>
          <p:cNvSpPr txBox="1"/>
          <p:nvPr/>
        </p:nvSpPr>
        <p:spPr>
          <a:xfrm>
            <a:off x="2909659" y="5362123"/>
            <a:ext cx="176167" cy="36576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68821E0C-E34E-3598-D560-1A42FC6735D2}"/>
              </a:ext>
            </a:extLst>
          </p:cNvPr>
          <p:cNvSpPr txBox="1"/>
          <p:nvPr/>
        </p:nvSpPr>
        <p:spPr>
          <a:xfrm>
            <a:off x="2838779" y="515680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d*c</a:t>
            </a:r>
            <a:endParaRPr lang="zh-TW" altLang="en-US" sz="1200" b="1" dirty="0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B228F63D-6B6C-31B2-F544-85CFC2F3308C}"/>
              </a:ext>
            </a:extLst>
          </p:cNvPr>
          <p:cNvSpPr/>
          <p:nvPr/>
        </p:nvSpPr>
        <p:spPr>
          <a:xfrm>
            <a:off x="1678904" y="2769501"/>
            <a:ext cx="648072" cy="365760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S</a:t>
            </a:r>
            <a:r>
              <a:rPr lang="en-US" altLang="zh-TW" sz="1400" b="1" baseline="-25000" dirty="0">
                <a:solidFill>
                  <a:schemeClr val="accent4"/>
                </a:solidFill>
                <a:ea typeface="微軟正黑體" panose="020B0604030504040204" pitchFamily="34" charset="-120"/>
              </a:rPr>
              <a:t> i-1</a:t>
            </a:r>
          </a:p>
        </p:txBody>
      </p: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F1C30F33-2B7B-368A-0E57-8C30E74C7B3F}"/>
              </a:ext>
            </a:extLst>
          </p:cNvPr>
          <p:cNvSpPr txBox="1"/>
          <p:nvPr/>
        </p:nvSpPr>
        <p:spPr>
          <a:xfrm>
            <a:off x="3818316" y="501222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76C2B70E-97E2-BADD-161A-3E711F967DB3}"/>
              </a:ext>
            </a:extLst>
          </p:cNvPr>
          <p:cNvSpPr txBox="1"/>
          <p:nvPr/>
        </p:nvSpPr>
        <p:spPr>
          <a:xfrm>
            <a:off x="3433425" y="5134141"/>
            <a:ext cx="168024" cy="1466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400" b="1" dirty="0">
                <a:solidFill>
                  <a:srgbClr val="C00000"/>
                </a:solidFill>
              </a:rPr>
              <a:t>c</a:t>
            </a:r>
            <a:endParaRPr lang="zh-TW" altLang="en-US" sz="1400" b="1" dirty="0">
              <a:solidFill>
                <a:srgbClr val="C00000"/>
              </a:solidFill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2DCB25AA-2849-AD90-5BF1-64B77915B995}"/>
              </a:ext>
            </a:extLst>
          </p:cNvPr>
          <p:cNvSpPr txBox="1"/>
          <p:nvPr/>
        </p:nvSpPr>
        <p:spPr>
          <a:xfrm>
            <a:off x="3056969" y="5850413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115" name="箭號: 向下 114">
            <a:extLst>
              <a:ext uri="{FF2B5EF4-FFF2-40B4-BE49-F238E27FC236}">
                <a16:creationId xmlns:a16="http://schemas.microsoft.com/office/drawing/2014/main" id="{A68ED41B-2352-6E16-9085-E0FCE3CBB671}"/>
              </a:ext>
            </a:extLst>
          </p:cNvPr>
          <p:cNvSpPr/>
          <p:nvPr/>
        </p:nvSpPr>
        <p:spPr>
          <a:xfrm rot="16200000">
            <a:off x="2100226" y="5452306"/>
            <a:ext cx="365761" cy="185395"/>
          </a:xfrm>
          <a:prstGeom prst="downArrow">
            <a:avLst/>
          </a:prstGeom>
          <a:solidFill>
            <a:schemeClr val="accent2">
              <a:lumMod val="40000"/>
              <a:lumOff val="60000"/>
              <a:alpha val="7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kumimoji="0" lang="zh-TW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cxnSp>
        <p:nvCxnSpPr>
          <p:cNvPr id="117" name="直線接點 116">
            <a:extLst>
              <a:ext uri="{FF2B5EF4-FFF2-40B4-BE49-F238E27FC236}">
                <a16:creationId xmlns:a16="http://schemas.microsoft.com/office/drawing/2014/main" id="{0A9DC567-1935-C37A-26DF-16331489FAD4}"/>
              </a:ext>
            </a:extLst>
          </p:cNvPr>
          <p:cNvCxnSpPr/>
          <p:nvPr/>
        </p:nvCxnSpPr>
        <p:spPr>
          <a:xfrm>
            <a:off x="196439" y="6453336"/>
            <a:ext cx="48245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B1722E73-9C71-51AA-EB3E-8B190B5FC766}"/>
              </a:ext>
            </a:extLst>
          </p:cNvPr>
          <p:cNvSpPr txBox="1"/>
          <p:nvPr/>
        </p:nvSpPr>
        <p:spPr>
          <a:xfrm>
            <a:off x="1916398" y="4994825"/>
            <a:ext cx="293061" cy="144971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r>
              <a:rPr lang="en-US" altLang="zh-TW" sz="1200" b="1" dirty="0"/>
              <a:t>*d</a:t>
            </a:r>
            <a:endParaRPr lang="zh-TW" altLang="en-US" sz="1200" b="1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E8C9AE7-866E-3929-C541-3D4DA8C659DC}"/>
              </a:ext>
            </a:extLst>
          </p:cNvPr>
          <p:cNvSpPr txBox="1"/>
          <p:nvPr/>
        </p:nvSpPr>
        <p:spPr>
          <a:xfrm>
            <a:off x="3589129" y="3454235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296DEBC7-D7DB-F5E2-299A-3E2EAED6E06F}"/>
              </a:ext>
            </a:extLst>
          </p:cNvPr>
          <p:cNvSpPr txBox="1"/>
          <p:nvPr/>
        </p:nvSpPr>
        <p:spPr>
          <a:xfrm>
            <a:off x="1595289" y="5217155"/>
            <a:ext cx="293061" cy="144971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</a:t>
            </a:r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endParaRPr lang="zh-TW" altLang="en-US" sz="12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855B046-544C-B9A5-FD8F-9AE53D74428E}"/>
              </a:ext>
            </a:extLst>
          </p:cNvPr>
          <p:cNvSpPr txBox="1"/>
          <p:nvPr/>
        </p:nvSpPr>
        <p:spPr>
          <a:xfrm>
            <a:off x="4788024" y="1330077"/>
            <a:ext cx="3823377" cy="719679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r>
              <a:rPr lang="en-US" altLang="zh-TW" sz="1200" dirty="0"/>
              <a:t>Attention</a:t>
            </a:r>
            <a:r>
              <a:rPr lang="zh-TW" altLang="en-US" sz="1200" dirty="0"/>
              <a:t> </a:t>
            </a:r>
            <a:r>
              <a:rPr lang="en-US" altLang="zh-TW" sz="1200" dirty="0"/>
              <a:t>View: </a:t>
            </a:r>
            <a:br>
              <a:rPr lang="en-US" altLang="zh-TW" sz="1200" dirty="0"/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Out = </a:t>
            </a:r>
            <a:r>
              <a:rPr kumimoji="0" lang="en-US" altLang="zh-TW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softmax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(QK</a:t>
            </a:r>
            <a:r>
              <a:rPr kumimoji="0" lang="en-US" altLang="zh-TW" sz="12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)V 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  <a:sym typeface="Wingdings" panose="05000000000000000000" pitchFamily="2" charset="2"/>
              </a:rPr>
              <a:t>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(QK</a:t>
            </a:r>
            <a:r>
              <a:rPr kumimoji="0" lang="en-US" altLang="zh-TW" sz="12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</a:t>
            </a:r>
            <a:r>
              <a:rPr kumimoji="0" lang="az-Cyrl-AZ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Ꙩ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M) •V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在乎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Global 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性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因果性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,Training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與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Prefill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階段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全部資料一起來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</a:p>
          <a:p>
            <a:pPr lvl="0"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有利於</a:t>
            </a:r>
            <a:r>
              <a:rPr lang="en-US" altLang="zh-TW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Chunk</a:t>
            </a:r>
            <a:r>
              <a:rPr lang="zh-TW" altLang="en-US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處理</a:t>
            </a:r>
            <a:r>
              <a:rPr lang="en-US" altLang="zh-TW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.</a:t>
            </a:r>
            <a:endParaRPr lang="zh-TW" alt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BD0FFEF-69EB-601E-F9D3-7FA5BF44B4F0}"/>
              </a:ext>
            </a:extLst>
          </p:cNvPr>
          <p:cNvSpPr txBox="1"/>
          <p:nvPr/>
        </p:nvSpPr>
        <p:spPr>
          <a:xfrm>
            <a:off x="4784758" y="2128841"/>
            <a:ext cx="3823377" cy="1137685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r>
              <a:rPr lang="en-US" altLang="zh-TW" sz="1200" dirty="0"/>
              <a:t>RNN: (Hidden State), favor inference</a:t>
            </a:r>
          </a:p>
          <a:p>
            <a:r>
              <a:rPr lang="en-US" altLang="zh-TW" sz="1200" dirty="0"/>
              <a:t>Out = Q </a:t>
            </a:r>
            <a:r>
              <a:rPr lang="en-US" altLang="zh-TW" sz="1200" dirty="0">
                <a:sym typeface="Wingdings" panose="05000000000000000000" pitchFamily="2" charset="2"/>
              </a:rPr>
              <a:t>• (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 </a:t>
            </a:r>
            <a:r>
              <a:rPr lang="en-US" altLang="zh-TW" sz="1200" dirty="0">
                <a:sym typeface="Wingdings" panose="05000000000000000000" pitchFamily="2" charset="2"/>
              </a:rPr>
              <a:t>• </a:t>
            </a:r>
            <a:r>
              <a:rPr lang="en-US" altLang="zh-TW" sz="1200" dirty="0"/>
              <a:t>V) </a:t>
            </a:r>
          </a:p>
          <a:p>
            <a:r>
              <a:rPr lang="en-US" altLang="zh-TW" sz="1200" dirty="0"/>
              <a:t>O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 = 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0~i</a:t>
            </a:r>
            <a:r>
              <a:rPr lang="en-US" altLang="zh-TW" sz="1200" dirty="0">
                <a:sym typeface="Wingdings" panose="05000000000000000000" pitchFamily="2" charset="2"/>
              </a:rPr>
              <a:t>·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0~i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i~1</a:t>
            </a:r>
            <a:r>
              <a:rPr lang="en-US" altLang="zh-TW" sz="1200" dirty="0"/>
              <a:t>+k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i 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i-1 </a:t>
            </a:r>
            <a:r>
              <a:rPr lang="en-US" altLang="zh-TW" sz="1200" dirty="0"/>
              <a:t>+ 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i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在乎</a:t>
            </a:r>
            <a:r>
              <a:rPr lang="zh-TW" altLang="en-US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  <a:sym typeface="Wingdings" panose="05000000000000000000" pitchFamily="2" charset="2"/>
              </a:rPr>
              <a:t>隱藏矩陣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..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有利於平行的實作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.</a:t>
            </a:r>
            <a:endParaRPr kumimoji="0" lang="zh-TW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endParaRPr>
          </a:p>
          <a:p>
            <a:endParaRPr lang="zh-TW" altLang="en-US" sz="1200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8FE5C9A-323F-8D9A-BE17-C1F6E669DC11}"/>
              </a:ext>
            </a:extLst>
          </p:cNvPr>
          <p:cNvSpPr/>
          <p:nvPr/>
        </p:nvSpPr>
        <p:spPr>
          <a:xfrm rot="5400000">
            <a:off x="117192" y="4613737"/>
            <a:ext cx="653833" cy="375988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Chunk</a:t>
            </a:r>
            <a:r>
              <a:rPr lang="zh-TW" altLang="en-US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2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66BE58DE-6244-0B5C-1236-9EBBB12FE59E}"/>
              </a:ext>
            </a:extLst>
          </p:cNvPr>
          <p:cNvSpPr txBox="1"/>
          <p:nvPr/>
        </p:nvSpPr>
        <p:spPr>
          <a:xfrm>
            <a:off x="2267744" y="3731932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B866CF53-7024-277C-0B2C-FCD061141AC0}"/>
              </a:ext>
            </a:extLst>
          </p:cNvPr>
          <p:cNvSpPr txBox="1"/>
          <p:nvPr/>
        </p:nvSpPr>
        <p:spPr>
          <a:xfrm>
            <a:off x="2483768" y="3731932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B04DA75-09FE-CAF1-124A-C525451EEEDE}"/>
              </a:ext>
            </a:extLst>
          </p:cNvPr>
          <p:cNvSpPr txBox="1"/>
          <p:nvPr/>
        </p:nvSpPr>
        <p:spPr>
          <a:xfrm>
            <a:off x="3059832" y="3731932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C569D456-66CE-A8A1-0CC5-B2F58A468851}"/>
              </a:ext>
            </a:extLst>
          </p:cNvPr>
          <p:cNvSpPr txBox="1"/>
          <p:nvPr/>
        </p:nvSpPr>
        <p:spPr>
          <a:xfrm>
            <a:off x="2699792" y="3731932"/>
            <a:ext cx="293061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B6BCA70-F39F-888A-C164-EB1DFE5A797B}"/>
              </a:ext>
            </a:extLst>
          </p:cNvPr>
          <p:cNvSpPr txBox="1"/>
          <p:nvPr/>
        </p:nvSpPr>
        <p:spPr>
          <a:xfrm>
            <a:off x="3589129" y="3236861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D9B29351-EB1A-C761-6CEE-430643976781}"/>
              </a:ext>
            </a:extLst>
          </p:cNvPr>
          <p:cNvSpPr txBox="1"/>
          <p:nvPr/>
        </p:nvSpPr>
        <p:spPr>
          <a:xfrm>
            <a:off x="3589129" y="2667180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9DFB1639-2077-D60D-32B2-87AEF2A88558}"/>
              </a:ext>
            </a:extLst>
          </p:cNvPr>
          <p:cNvSpPr txBox="1"/>
          <p:nvPr/>
        </p:nvSpPr>
        <p:spPr>
          <a:xfrm>
            <a:off x="3589129" y="2420888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0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62C9692A-4482-75A1-4A69-BF69CBE4A29A}"/>
              </a:ext>
            </a:extLst>
          </p:cNvPr>
          <p:cNvSpPr txBox="1"/>
          <p:nvPr/>
        </p:nvSpPr>
        <p:spPr>
          <a:xfrm>
            <a:off x="3589128" y="2914315"/>
            <a:ext cx="766847" cy="290927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vert="eaVert" wrap="none" lIns="9144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4844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8A41C-41D9-DDB6-3FAA-94C6B9773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626820B1-0E88-C11C-C119-800C2F5A09C5}"/>
              </a:ext>
            </a:extLst>
          </p:cNvPr>
          <p:cNvSpPr txBox="1"/>
          <p:nvPr/>
        </p:nvSpPr>
        <p:spPr>
          <a:xfrm>
            <a:off x="3621724" y="6381328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1B84F031-F1BB-A24D-D323-120C9E2C6899}"/>
                  </a:ext>
                </a:extLst>
              </p:cNvPr>
              <p:cNvSpPr txBox="1"/>
              <p:nvPr/>
            </p:nvSpPr>
            <p:spPr>
              <a:xfrm>
                <a:off x="4485291" y="1350692"/>
                <a:ext cx="1120515" cy="77513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 xmlns:m="http://schemas.openxmlformats.org/officeDocument/2006/math">
                    <m:limUpp>
                      <m:limUpp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lim>
                    </m:limUpp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limUpp>
                      <m:limUppPr>
                        <m:ctrlPr>
                          <a:rPr lang="en-US" altLang="zh-TW" sz="120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q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dxd</m:t>
                        </m:r>
                      </m:lim>
                    </m:limUpp>
                    <m:r>
                      <a:rPr lang="en-US" altLang="zh-TW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limUpp>
                      <m:limUpp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lim>
                    </m:limUpp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sub>
                    </m:sSub>
                  </m:oMath>
                </a14:m>
                <a:r>
                  <a:rPr lang="en-US" altLang="zh-TW" sz="1200" dirty="0"/>
                  <a:t> </a:t>
                </a:r>
                <a14:m>
                  <m:oMath xmlns:m="http://schemas.openxmlformats.org/officeDocument/2006/math"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US" altLang="zh-TW" sz="1200" dirty="0"/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1B84F031-F1BB-A24D-D323-120C9E2C6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5291" y="1350692"/>
                <a:ext cx="1120515" cy="775130"/>
              </a:xfrm>
              <a:prstGeom prst="rect">
                <a:avLst/>
              </a:prstGeom>
              <a:blipFill>
                <a:blip r:embed="rId3"/>
                <a:stretch>
                  <a:fillRect l="-4348" t="-9449" r="-978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矩形 47">
            <a:extLst>
              <a:ext uri="{FF2B5EF4-FFF2-40B4-BE49-F238E27FC236}">
                <a16:creationId xmlns:a16="http://schemas.microsoft.com/office/drawing/2014/main" id="{53738325-0B54-231E-E74D-B3F86F7A3B6F}"/>
              </a:ext>
            </a:extLst>
          </p:cNvPr>
          <p:cNvSpPr/>
          <p:nvPr/>
        </p:nvSpPr>
        <p:spPr>
          <a:xfrm>
            <a:off x="4483107" y="2838900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Manba2/Gated LA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7F27ECA0-B5E6-BA66-F75B-DD00D6137DBC}"/>
                  </a:ext>
                </a:extLst>
              </p:cNvPr>
              <p:cNvSpPr txBox="1"/>
              <p:nvPr/>
            </p:nvSpPr>
            <p:spPr>
              <a:xfrm>
                <a:off x="4514178" y="2125822"/>
                <a:ext cx="2385077" cy="209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xd</m:t>
                        </m:r>
                      </m:sup>
                    </m:sSup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7F27ECA0-B5E6-BA66-F75B-DD00D6137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4178" y="2125822"/>
                <a:ext cx="2385077" cy="209416"/>
              </a:xfrm>
              <a:prstGeom prst="rect">
                <a:avLst/>
              </a:prstGeom>
              <a:blipFill>
                <a:blip r:embed="rId5"/>
                <a:stretch>
                  <a:fillRect l="-2302" t="-152941" r="-512" b="-2235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E31EDF63-E63D-C1F9-78BD-75622C5E1C75}"/>
                  </a:ext>
                </a:extLst>
              </p:cNvPr>
              <p:cNvSpPr txBox="1"/>
              <p:nvPr/>
            </p:nvSpPr>
            <p:spPr>
              <a:xfrm>
                <a:off x="4492633" y="2391994"/>
                <a:ext cx="3932892" cy="2296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E31EDF63-E63D-C1F9-78BD-75622C5E1C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2633" y="2391994"/>
                <a:ext cx="3932892" cy="229611"/>
              </a:xfrm>
              <a:prstGeom prst="rect">
                <a:avLst/>
              </a:prstGeom>
              <a:blipFill>
                <a:blip r:embed="rId6"/>
                <a:stretch>
                  <a:fillRect l="-1395" t="-128947" b="-19736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群組 15">
            <a:extLst>
              <a:ext uri="{FF2B5EF4-FFF2-40B4-BE49-F238E27FC236}">
                <a16:creationId xmlns:a16="http://schemas.microsoft.com/office/drawing/2014/main" id="{2015DB44-9A01-49F0-904E-7442EE3F5734}"/>
              </a:ext>
            </a:extLst>
          </p:cNvPr>
          <p:cNvGrpSpPr/>
          <p:nvPr/>
        </p:nvGrpSpPr>
        <p:grpSpPr>
          <a:xfrm>
            <a:off x="4502131" y="3114334"/>
            <a:ext cx="4219379" cy="2119880"/>
            <a:chOff x="92667" y="1607972"/>
            <a:chExt cx="3923392" cy="2119880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A5F70F50-C174-7992-54A9-44ED263A85C2}"/>
                    </a:ext>
                  </a:extLst>
                </p:cNvPr>
                <p:cNvSpPr txBox="1"/>
                <p:nvPr/>
              </p:nvSpPr>
              <p:spPr>
                <a:xfrm>
                  <a:off x="92667" y="1607972"/>
                  <a:ext cx="3529058" cy="120545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limUpp>
                        <m:limUppPr>
                          <m:ctrlP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groupChr>
                            <m:groupChrPr>
                              <m:chr m:val="⏞"/>
                              <m:pos m:val="top"/>
                              <m:vertJc m:val="bot"/>
                              <m:ctrlPr>
                                <a:rPr lang="en-US" altLang="zh-TW" sz="1200" b="0" i="1" smtClean="0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dxd</m:t>
                          </m:r>
                        </m:lim>
                      </m:limUp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b="0" i="0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dirty="0">
                    <a:solidFill>
                      <a:schemeClr val="bg1">
                        <a:lumMod val="65000"/>
                      </a:schemeClr>
                    </a:solidFill>
                  </a:endParaRPr>
                </a:p>
                <a:p>
                  <a:pPr>
                    <a:lnSpc>
                      <a:spcPts val="2000"/>
                    </a:lnSpc>
                  </a:pP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b="0" i="1" dirty="0">
                    <a:solidFill>
                      <a:schemeClr val="bg1">
                        <a:lumMod val="65000"/>
                      </a:schemeClr>
                    </a:solidFill>
                    <a:latin typeface="Cambria Math" panose="02040503050406030204" pitchFamily="18" charset="0"/>
                  </a:endParaRPr>
                </a:p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TW" altLang="en-US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</a:t>
                  </a: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dirty="0">
                    <a:solidFill>
                      <a:schemeClr val="bg1">
                        <a:lumMod val="65000"/>
                      </a:schemeClr>
                    </a:solidFill>
                  </a:endParaRPr>
                </a:p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...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...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</a:p>
                <a:p>
                  <a:pPr marL="0" marR="0" lvl="0" indent="0" algn="l" defTabSz="914400" rtl="0" eaLnBrk="1" fontAlgn="auto" latinLnBrk="0" hangingPunct="1">
                    <a:lnSpc>
                      <a:spcPts val="1000"/>
                    </a:lnSpc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>
                          <a:lumMod val="65000"/>
                        </a:schemeClr>
                      </a:solidFill>
                      <a:effectLst/>
                      <a:uLnTx/>
                      <a:uFillTx/>
                      <a:latin typeface="Calibri"/>
                      <a:ea typeface="新細明體" panose="02020500000000000000" pitchFamily="18" charset="-120"/>
                      <a:cs typeface="+mn-cs"/>
                    </a:rPr>
                    <a:t> … </a:t>
                  </a:r>
                  <a:r>
                    <a:rPr lang="zh-TW" altLang="en-US" sz="1200" dirty="0">
                      <a:solidFill>
                        <a:schemeClr val="bg1">
                          <a:lumMod val="65000"/>
                        </a:schemeClr>
                      </a:solidFill>
                      <a:sym typeface="Wingdings" panose="05000000000000000000" pitchFamily="2" charset="2"/>
                    </a:rPr>
                    <a:t> </a:t>
                  </a: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 </a:t>
                  </a:r>
                </a:p>
              </p:txBody>
            </p:sp>
          </mc:Choice>
          <mc:Fallback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A5F70F50-C174-7992-54A9-44ED263A8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667" y="1607972"/>
                  <a:ext cx="3529058" cy="1205458"/>
                </a:xfrm>
                <a:prstGeom prst="rect">
                  <a:avLst/>
                </a:prstGeom>
                <a:blipFill>
                  <a:blip r:embed="rId7"/>
                  <a:stretch>
                    <a:fillRect l="-1608" t="-7576" b="-30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A99C4051-802B-1A20-FE39-5DFE699E61B6}"/>
                    </a:ext>
                  </a:extLst>
                </p:cNvPr>
                <p:cNvSpPr txBox="1"/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𝛂</m:t>
                          </m:r>
                        </m:e>
                        <m:sub>
                          <m:r>
                            <a:rPr lang="en-US" altLang="zh-TW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sub>
                      </m:sSub>
                      <m:r>
                        <a:rPr lang="en-US" altLang="zh-TW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m:rPr>
                          <m:nor/>
                        </m:rPr>
                        <a:rPr lang="en-US" altLang="zh-TW" sz="1200" i="0" dirty="0" smtClean="0"/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nary>
                            <m:naryPr>
                              <m:chr m:val="∏"/>
                              <m:limLoc m:val="subSup"/>
                              <m:ctrl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𝛕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𝐣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𝛂</m:t>
                                  </m:r>
                                </m:e>
                                <m:sub>
                                  <m:r>
                                    <a:rPr lang="en-US" altLang="zh-TW" sz="1200" b="1" i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𝛕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∈ 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(0,1)</m:t>
                      </m:r>
                    </m:oMath>
                  </a14:m>
                  <a:r>
                    <a:rPr lang="en-US" altLang="zh-TW" sz="1200" b="0" dirty="0">
                      <a:latin typeface="Cambria Math" panose="020405030504060302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A99C4051-802B-1A20-FE39-5DFE699E61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blipFill>
                  <a:blip r:embed="rId9"/>
                  <a:stretch>
                    <a:fillRect l="-1333" t="-138889" b="-2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63CAC148-CC53-376E-F21A-239358E915E8}"/>
                    </a:ext>
                  </a:extLst>
                </p:cNvPr>
                <p:cNvSpPr txBox="1"/>
                <p:nvPr/>
              </p:nvSpPr>
              <p:spPr>
                <a:xfrm>
                  <a:off x="1067866" y="3519397"/>
                  <a:ext cx="1728192" cy="2084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≅</m:t>
                        </m:r>
                        <m:sSub>
                          <m:sSubPr>
                            <m:ctrl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QK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p>
                            <m:r>
                              <a:rPr lang="en-US" altLang="zh-TW" sz="120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⊙</m:t>
                            </m:r>
                            <m:r>
                              <a:rPr lang="el-GR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𝚪</m:t>
                            </m:r>
                          </m:e>
                        </m:d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63CAC148-CC53-376E-F21A-239358E915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7866" y="3519397"/>
                  <a:ext cx="1728192" cy="208455"/>
                </a:xfrm>
                <a:prstGeom prst="rect">
                  <a:avLst/>
                </a:prstGeom>
                <a:blipFill>
                  <a:blip r:embed="rId10"/>
                  <a:stretch>
                    <a:fillRect l="-2632" b="-228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19F05B3-CB36-95E7-012B-9809A39CE744}"/>
                    </a:ext>
                  </a:extLst>
                </p:cNvPr>
                <p:cNvSpPr txBox="1"/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𝛂</m:t>
                            </m:r>
                          </m:e>
                          <m:sub>
                            <m:r>
                              <a:rPr lang="en-US" altLang="zh-TW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sub>
                        </m:sSub>
                        <m:r>
                          <a:rPr lang="en-US" altLang="zh-TW" sz="120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 =</m:t>
                        </m:r>
                        <m:borderBox>
                          <m:borderBox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borderBox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sty m:val="p"/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  <m:e>
                                <m:r>
                                  <a:rPr lang="el-GR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𝚪</m:t>
                                </m:r>
                                <m:d>
                                  <m:d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q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p>
                                    </m:sSubSup>
                                    <m:sSub>
                                      <m:sSub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k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j</m:t>
                                        </m:r>
                                      </m:sub>
                                    </m:sSub>
                                  </m:e>
                                </m:d>
                                <m:sSub>
                                  <m:sSub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j</m:t>
                                    </m:r>
                                  </m:sub>
                                </m:sSub>
                              </m:e>
                            </m:nary>
                          </m:e>
                        </m:borderBox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l-GR" altLang="zh-TW" sz="12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  <m:r>
                          <a:rPr lang="en-US" altLang="zh-TW" sz="120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𝐭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𝐣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f>
                          <m:fPr>
                            <m:ctrlPr>
                              <a:rPr lang="zh-TW" altLang="en-US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               </m:t>
                            </m:r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19F05B3-CB36-95E7-012B-9809A39CE7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blipFill>
                  <a:blip r:embed="rId11"/>
                  <a:stretch>
                    <a:fillRect l="-1306" t="-179104" b="-2238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2" name="矩形 41">
            <a:extLst>
              <a:ext uri="{FF2B5EF4-FFF2-40B4-BE49-F238E27FC236}">
                <a16:creationId xmlns:a16="http://schemas.microsoft.com/office/drawing/2014/main" id="{7BB58FC8-2AE0-E996-2872-D8CF5B30E2C9}"/>
              </a:ext>
            </a:extLst>
          </p:cNvPr>
          <p:cNvSpPr/>
          <p:nvPr/>
        </p:nvSpPr>
        <p:spPr>
          <a:xfrm>
            <a:off x="4470216" y="1089107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Linear Attention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CE01CACC-0B53-1015-A86B-884652280D22}"/>
                  </a:ext>
                </a:extLst>
              </p:cNvPr>
              <p:cNvSpPr txBox="1"/>
              <p:nvPr/>
            </p:nvSpPr>
            <p:spPr>
              <a:xfrm>
                <a:off x="412611" y="4005064"/>
                <a:ext cx="2828080" cy="5040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out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CE01CACC-0B53-1015-A86B-884652280D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11" y="4005064"/>
                <a:ext cx="2828080" cy="504056"/>
              </a:xfrm>
              <a:prstGeom prst="rect">
                <a:avLst/>
              </a:prstGeom>
              <a:blipFill>
                <a:blip r:embed="rId12"/>
                <a:stretch>
                  <a:fillRect l="-1724" t="-61446" b="-337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>
            <a:extLst>
              <a:ext uri="{FF2B5EF4-FFF2-40B4-BE49-F238E27FC236}">
                <a16:creationId xmlns:a16="http://schemas.microsoft.com/office/drawing/2014/main" id="{2E0126CD-C3E3-1EA8-1F9C-A54B7CFE201E}"/>
              </a:ext>
            </a:extLst>
          </p:cNvPr>
          <p:cNvSpPr/>
          <p:nvPr/>
        </p:nvSpPr>
        <p:spPr>
          <a:xfrm>
            <a:off x="4483107" y="5404573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Chunk-wise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11BA60BD-CE02-851F-1AD1-D011312ADBA3}"/>
                  </a:ext>
                </a:extLst>
              </p:cNvPr>
              <p:cNvSpPr txBox="1"/>
              <p:nvPr/>
            </p:nvSpPr>
            <p:spPr>
              <a:xfrm>
                <a:off x="4537399" y="5583087"/>
                <a:ext cx="4120007" cy="2764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11BA60BD-CE02-851F-1AD1-D011312AD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7399" y="5583087"/>
                <a:ext cx="4120007" cy="276422"/>
              </a:xfrm>
              <a:prstGeom prst="rect">
                <a:avLst/>
              </a:prstGeom>
              <a:blipFill>
                <a:blip r:embed="rId13"/>
                <a:stretch>
                  <a:fillRect l="-1331" b="-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矩形 17">
            <a:extLst>
              <a:ext uri="{FF2B5EF4-FFF2-40B4-BE49-F238E27FC236}">
                <a16:creationId xmlns:a16="http://schemas.microsoft.com/office/drawing/2014/main" id="{63B74FCF-AF97-DC5E-D9B0-234CBF97545B}"/>
              </a:ext>
            </a:extLst>
          </p:cNvPr>
          <p:cNvSpPr/>
          <p:nvPr/>
        </p:nvSpPr>
        <p:spPr>
          <a:xfrm>
            <a:off x="358318" y="3820397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Out = Inter + Intra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C7ADD149-91A5-0E06-8BD1-BB705F24FE06}"/>
                  </a:ext>
                </a:extLst>
              </p:cNvPr>
              <p:cNvSpPr txBox="1"/>
              <p:nvPr/>
            </p:nvSpPr>
            <p:spPr>
              <a:xfrm>
                <a:off x="6156176" y="5928569"/>
                <a:ext cx="3096343" cy="113576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zh-TW" sz="1200" b="0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b="0" i="1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 </a:t>
                </a:r>
              </a:p>
              <a:p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C7ADD149-91A5-0E06-8BD1-BB705F24FE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6176" y="5928569"/>
                <a:ext cx="3096343" cy="1135760"/>
              </a:xfrm>
              <a:prstGeom prst="rect">
                <a:avLst/>
              </a:prstGeom>
              <a:blipFill>
                <a:blip r:embed="rId14"/>
                <a:stretch>
                  <a:fillRect l="-177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矩形 2">
            <a:extLst>
              <a:ext uri="{FF2B5EF4-FFF2-40B4-BE49-F238E27FC236}">
                <a16:creationId xmlns:a16="http://schemas.microsoft.com/office/drawing/2014/main" id="{E6FA136D-9401-A6D7-7D1B-9FAA375CB6E5}"/>
              </a:ext>
            </a:extLst>
          </p:cNvPr>
          <p:cNvSpPr/>
          <p:nvPr/>
        </p:nvSpPr>
        <p:spPr>
          <a:xfrm>
            <a:off x="358318" y="2614024"/>
            <a:ext cx="1981433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Inter-chunk: Recurrent Scan Serially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0B254A07-CFC3-CC5E-D940-5B183B99D657}"/>
                  </a:ext>
                </a:extLst>
              </p:cNvPr>
              <p:cNvSpPr txBox="1"/>
              <p:nvPr/>
            </p:nvSpPr>
            <p:spPr>
              <a:xfrm>
                <a:off x="412611" y="2792538"/>
                <a:ext cx="3348503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0B254A07-CFC3-CC5E-D940-5B183B99D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11" y="2792538"/>
                <a:ext cx="3348503" cy="184666"/>
              </a:xfrm>
              <a:prstGeom prst="rect">
                <a:avLst/>
              </a:prstGeom>
              <a:blipFill>
                <a:blip r:embed="rId15"/>
                <a:stretch>
                  <a:fillRect l="-1639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矩形 7">
            <a:extLst>
              <a:ext uri="{FF2B5EF4-FFF2-40B4-BE49-F238E27FC236}">
                <a16:creationId xmlns:a16="http://schemas.microsoft.com/office/drawing/2014/main" id="{816DC84B-8288-C92C-0488-C3FE5B59284D}"/>
              </a:ext>
            </a:extLst>
          </p:cNvPr>
          <p:cNvSpPr/>
          <p:nvPr/>
        </p:nvSpPr>
        <p:spPr>
          <a:xfrm>
            <a:off x="358318" y="2008314"/>
            <a:ext cx="1981433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Intra-chunk: Training and Prefill Parallelly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C10C416-A038-E3B5-D981-F9C5899A962B}"/>
                  </a:ext>
                </a:extLst>
              </p:cNvPr>
              <p:cNvSpPr txBox="1"/>
              <p:nvPr/>
            </p:nvSpPr>
            <p:spPr>
              <a:xfrm>
                <a:off x="412611" y="2186828"/>
                <a:ext cx="3348503" cy="372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W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altLang="zh-TW" sz="1200" dirty="0">
                    <a:latin typeface="Cambria Math" panose="02040503050406030204" pitchFamily="18" charset="0"/>
                  </a:rPr>
                  <a:t>B</a:t>
                </a: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C10C416-A038-E3B5-D981-F9C5899A96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11" y="2186828"/>
                <a:ext cx="3348503" cy="372666"/>
              </a:xfrm>
              <a:prstGeom prst="rect">
                <a:avLst/>
              </a:prstGeom>
              <a:blipFill>
                <a:blip r:embed="rId16"/>
                <a:stretch>
                  <a:fillRect l="-2914" b="-245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字方塊 3">
            <a:extLst>
              <a:ext uri="{FF2B5EF4-FFF2-40B4-BE49-F238E27FC236}">
                <a16:creationId xmlns:a16="http://schemas.microsoft.com/office/drawing/2014/main" id="{421618EA-E23F-597C-4315-0DE47907302C}"/>
              </a:ext>
            </a:extLst>
          </p:cNvPr>
          <p:cNvSpPr txBox="1"/>
          <p:nvPr/>
        </p:nvSpPr>
        <p:spPr>
          <a:xfrm>
            <a:off x="624334" y="5220677"/>
            <a:ext cx="1734864" cy="23695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/>
              <a:t>Sum(KV</a:t>
            </a:r>
            <a:r>
              <a:rPr lang="en-US" altLang="zh-TW" sz="1200" baseline="-25000" dirty="0"/>
              <a:t>0</a:t>
            </a:r>
            <a:r>
              <a:rPr lang="en-US" altLang="zh-TW" sz="1200" dirty="0"/>
              <a:t>, KV</a:t>
            </a:r>
            <a:r>
              <a:rPr lang="en-US" altLang="zh-TW" sz="1200" baseline="-25000" dirty="0"/>
              <a:t>1</a:t>
            </a:r>
            <a:r>
              <a:rPr lang="en-US" altLang="zh-TW" sz="1200" dirty="0"/>
              <a:t>,…, KV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)*Qi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87080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8D61-2B6F-C5C7-F5AE-29A4CB22F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09F4D0FA-4C8B-C31E-3460-A7062B25E091}"/>
                  </a:ext>
                </a:extLst>
              </p:cNvPr>
              <p:cNvSpPr txBox="1"/>
              <p:nvPr/>
            </p:nvSpPr>
            <p:spPr>
              <a:xfrm>
                <a:off x="442078" y="988733"/>
                <a:ext cx="2016224" cy="56805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600"/>
                  </a:lnSpc>
                </a:pPr>
                <a:r>
                  <a:rPr lang="en-US" altLang="zh-TW" sz="1000" b="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ambria Math" panose="02040503050406030204" pitchFamily="18" charset="0"/>
                  </a:rPr>
                  <a:t>Chunkwise</a:t>
                </a: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tril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Q</m:t>
                          </m:r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Q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09F4D0FA-4C8B-C31E-3460-A7062B25E0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078" y="988733"/>
                <a:ext cx="2016224" cy="568059"/>
              </a:xfrm>
              <a:prstGeom prst="rect">
                <a:avLst/>
              </a:prstGeom>
              <a:blipFill>
                <a:blip r:embed="rId3"/>
                <a:stretch>
                  <a:fillRect l="-3939" t="-5376" b="-150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4F312939-F2E5-D791-649A-58DE06372C26}"/>
                  </a:ext>
                </a:extLst>
              </p:cNvPr>
              <p:cNvSpPr txBox="1"/>
              <p:nvPr/>
            </p:nvSpPr>
            <p:spPr>
              <a:xfrm>
                <a:off x="449931" y="336908"/>
                <a:ext cx="4052200" cy="6183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ts val="1600"/>
                  </a:lnSpc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新細明體" panose="02020500000000000000" pitchFamily="18" charset="-120"/>
                    <a:cs typeface="+mn-cs"/>
                  </a:rPr>
                  <a:t>Inference</a:t>
                </a:r>
              </a:p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i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xd</m:t>
                        </m:r>
                      </m:sup>
                    </m:sSup>
                  </m:oMath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 smtClean="0">
                        <a:latin typeface="Cambria Math" panose="02040503050406030204" pitchFamily="18" charset="0"/>
                      </a:rPr>
                      <m:t>=(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i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4F312939-F2E5-D791-649A-58DE06372C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31" y="336908"/>
                <a:ext cx="4052200" cy="618311"/>
              </a:xfrm>
              <a:prstGeom prst="rect">
                <a:avLst/>
              </a:prstGeom>
              <a:blipFill>
                <a:blip r:embed="rId4"/>
                <a:stretch>
                  <a:fillRect l="-1955" t="-17647" b="-7451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矩形 41">
            <a:extLst>
              <a:ext uri="{FF2B5EF4-FFF2-40B4-BE49-F238E27FC236}">
                <a16:creationId xmlns:a16="http://schemas.microsoft.com/office/drawing/2014/main" id="{184EE171-6838-20C2-9B6F-346922E99C5B}"/>
              </a:ext>
            </a:extLst>
          </p:cNvPr>
          <p:cNvSpPr/>
          <p:nvPr/>
        </p:nvSpPr>
        <p:spPr>
          <a:xfrm>
            <a:off x="361536" y="188640"/>
            <a:ext cx="1618176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Vanilla Linear Attention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28E42758-333E-CA75-84E7-C000FE0DFA02}"/>
                  </a:ext>
                </a:extLst>
              </p:cNvPr>
              <p:cNvSpPr txBox="1"/>
              <p:nvPr/>
            </p:nvSpPr>
            <p:spPr>
              <a:xfrm>
                <a:off x="6434329" y="4770456"/>
                <a:ext cx="1734864" cy="5040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out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28E42758-333E-CA75-84E7-C000FE0DFA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4329" y="4770456"/>
                <a:ext cx="1734864" cy="504056"/>
              </a:xfrm>
              <a:prstGeom prst="rect">
                <a:avLst/>
              </a:prstGeom>
              <a:blipFill>
                <a:blip r:embed="rId5"/>
                <a:stretch>
                  <a:fillRect l="-2817" t="-62195" b="-3536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矩形 17">
            <a:extLst>
              <a:ext uri="{FF2B5EF4-FFF2-40B4-BE49-F238E27FC236}">
                <a16:creationId xmlns:a16="http://schemas.microsoft.com/office/drawing/2014/main" id="{EDAC2B7E-BFEA-4AB8-64F6-1FF1E0424D16}"/>
              </a:ext>
            </a:extLst>
          </p:cNvPr>
          <p:cNvSpPr/>
          <p:nvPr/>
        </p:nvSpPr>
        <p:spPr>
          <a:xfrm>
            <a:off x="6380036" y="4585789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Out = Inter + Intra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7D57AF0D-A40B-516B-E475-DA7E3A2D338F}"/>
                  </a:ext>
                </a:extLst>
              </p:cNvPr>
              <p:cNvSpPr txBox="1"/>
              <p:nvPr/>
            </p:nvSpPr>
            <p:spPr>
              <a:xfrm>
                <a:off x="6646051" y="4314777"/>
                <a:ext cx="1285241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7D57AF0D-A40B-516B-E475-DA7E3A2D33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6051" y="4314777"/>
                <a:ext cx="1285241" cy="184666"/>
              </a:xfrm>
              <a:prstGeom prst="rect">
                <a:avLst/>
              </a:prstGeom>
              <a:blipFill>
                <a:blip r:embed="rId6"/>
                <a:stretch>
                  <a:fillRect l="-4265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字方塊 3">
            <a:extLst>
              <a:ext uri="{FF2B5EF4-FFF2-40B4-BE49-F238E27FC236}">
                <a16:creationId xmlns:a16="http://schemas.microsoft.com/office/drawing/2014/main" id="{EF1F9D10-D41F-6AE3-4161-10453FCEBAEF}"/>
              </a:ext>
            </a:extLst>
          </p:cNvPr>
          <p:cNvSpPr txBox="1"/>
          <p:nvPr/>
        </p:nvSpPr>
        <p:spPr>
          <a:xfrm>
            <a:off x="6444208" y="5085184"/>
            <a:ext cx="1734864" cy="23695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/>
              <a:t>Sum(KV</a:t>
            </a:r>
            <a:r>
              <a:rPr lang="en-US" altLang="zh-TW" sz="1200" baseline="-25000" dirty="0"/>
              <a:t>0</a:t>
            </a:r>
            <a:r>
              <a:rPr lang="en-US" altLang="zh-TW" sz="1200" dirty="0"/>
              <a:t>, KV</a:t>
            </a:r>
            <a:r>
              <a:rPr lang="en-US" altLang="zh-TW" sz="1200" baseline="-25000" dirty="0"/>
              <a:t>1</a:t>
            </a:r>
            <a:r>
              <a:rPr lang="en-US" altLang="zh-TW" sz="1200" dirty="0"/>
              <a:t>,…, KV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)*Qi</a:t>
            </a:r>
            <a:endParaRPr lang="zh-TW" alt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CCCBE07E-79C2-A256-C397-276D086B60B7}"/>
                  </a:ext>
                </a:extLst>
              </p:cNvPr>
              <p:cNvSpPr txBox="1"/>
              <p:nvPr/>
            </p:nvSpPr>
            <p:spPr>
              <a:xfrm>
                <a:off x="442078" y="2572909"/>
                <a:ext cx="2016224" cy="56805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600"/>
                  </a:lnSpc>
                </a:pPr>
                <a:r>
                  <a:rPr lang="en-US" altLang="zh-TW" sz="1000" b="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ambria Math" panose="02040503050406030204" pitchFamily="18" charset="0"/>
                  </a:rPr>
                  <a:t>Chunkwise</a:t>
                </a: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tril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K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Q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CCCBE07E-79C2-A256-C397-276D086B6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078" y="2572909"/>
                <a:ext cx="2016224" cy="568059"/>
              </a:xfrm>
              <a:prstGeom prst="rect">
                <a:avLst/>
              </a:prstGeom>
              <a:blipFill>
                <a:blip r:embed="rId7"/>
                <a:stretch>
                  <a:fillRect l="-3939" t="-5376" b="-150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5FCC3E4A-1A59-156F-2671-C5738CE6C17B}"/>
                  </a:ext>
                </a:extLst>
              </p:cNvPr>
              <p:cNvSpPr txBox="1"/>
              <p:nvPr/>
            </p:nvSpPr>
            <p:spPr>
              <a:xfrm>
                <a:off x="449931" y="1921084"/>
                <a:ext cx="1837683" cy="6186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ts val="1600"/>
                  </a:lnSpc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新細明體" panose="02020500000000000000" pitchFamily="18" charset="-120"/>
                    <a:cs typeface="+mn-cs"/>
                  </a:rPr>
                  <a:t>Inference</a:t>
                </a: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zh-TW" alt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zh-TW" altLang="en-US" sz="120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1" dirty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5FCC3E4A-1A59-156F-2671-C5738CE6C1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31" y="1921084"/>
                <a:ext cx="1837683" cy="618696"/>
              </a:xfrm>
              <a:prstGeom prst="rect">
                <a:avLst/>
              </a:prstGeom>
              <a:blipFill>
                <a:blip r:embed="rId8"/>
                <a:stretch>
                  <a:fillRect l="-4319" t="-1961" b="-735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矩形 32">
            <a:extLst>
              <a:ext uri="{FF2B5EF4-FFF2-40B4-BE49-F238E27FC236}">
                <a16:creationId xmlns:a16="http://schemas.microsoft.com/office/drawing/2014/main" id="{6F04665F-DD3A-5194-0FC8-B3E35F120982}"/>
              </a:ext>
            </a:extLst>
          </p:cNvPr>
          <p:cNvSpPr/>
          <p:nvPr/>
        </p:nvSpPr>
        <p:spPr>
          <a:xfrm>
            <a:off x="361536" y="1772816"/>
            <a:ext cx="1618176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DeltaNet (Delta Rule + WY)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A9A07B37-5EB6-30FE-26D3-040A7DAD88A7}"/>
                  </a:ext>
                </a:extLst>
              </p:cNvPr>
              <p:cNvSpPr txBox="1"/>
              <p:nvPr/>
            </p:nvSpPr>
            <p:spPr>
              <a:xfrm>
                <a:off x="442078" y="4118954"/>
                <a:ext cx="2016224" cy="56805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600"/>
                  </a:lnSpc>
                </a:pPr>
                <a:r>
                  <a:rPr lang="en-US" altLang="zh-TW" sz="1000" b="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ambria Math" panose="02040503050406030204" pitchFamily="18" charset="0"/>
                  </a:rPr>
                  <a:t>Chunkwise</a:t>
                </a: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tril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K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Q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A9A07B37-5EB6-30FE-26D3-040A7DAD8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078" y="4118954"/>
                <a:ext cx="2016224" cy="568059"/>
              </a:xfrm>
              <a:prstGeom prst="rect">
                <a:avLst/>
              </a:prstGeom>
              <a:blipFill>
                <a:blip r:embed="rId9"/>
                <a:stretch>
                  <a:fillRect l="-3939" t="-5376" b="-150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1FFFB4E8-DFD9-5E58-3E0D-C49215AA0565}"/>
                  </a:ext>
                </a:extLst>
              </p:cNvPr>
              <p:cNvSpPr txBox="1"/>
              <p:nvPr/>
            </p:nvSpPr>
            <p:spPr>
              <a:xfrm>
                <a:off x="449931" y="3467129"/>
                <a:ext cx="4052200" cy="6183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ts val="1600"/>
                  </a:lnSpc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新細明體" panose="02020500000000000000" pitchFamily="18" charset="-120"/>
                    <a:cs typeface="+mn-cs"/>
                  </a:rPr>
                  <a:t>Inference</a:t>
                </a:r>
              </a:p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i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xd</m:t>
                        </m:r>
                      </m:sup>
                    </m:sSup>
                  </m:oMath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=(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i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1FFFB4E8-DFD9-5E58-3E0D-C49215AA05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31" y="3467129"/>
                <a:ext cx="4052200" cy="618311"/>
              </a:xfrm>
              <a:prstGeom prst="rect">
                <a:avLst/>
              </a:prstGeom>
              <a:blipFill>
                <a:blip r:embed="rId10"/>
                <a:stretch>
                  <a:fillRect l="-1955" t="-18812" b="-752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矩形 39">
            <a:extLst>
              <a:ext uri="{FF2B5EF4-FFF2-40B4-BE49-F238E27FC236}">
                <a16:creationId xmlns:a16="http://schemas.microsoft.com/office/drawing/2014/main" id="{E7F3C27E-59F6-DEE3-6C91-C32B992F19B7}"/>
              </a:ext>
            </a:extLst>
          </p:cNvPr>
          <p:cNvSpPr/>
          <p:nvPr/>
        </p:nvSpPr>
        <p:spPr>
          <a:xfrm>
            <a:off x="361536" y="3318861"/>
            <a:ext cx="1618176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Gated DN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8FECE94B-DB48-92B1-1865-D97151C8F762}"/>
                  </a:ext>
                </a:extLst>
              </p:cNvPr>
              <p:cNvSpPr txBox="1"/>
              <p:nvPr/>
            </p:nvSpPr>
            <p:spPr>
              <a:xfrm>
                <a:off x="442078" y="5669253"/>
                <a:ext cx="2016224" cy="56805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600"/>
                  </a:lnSpc>
                </a:pPr>
                <a:r>
                  <a:rPr lang="en-US" altLang="zh-TW" sz="1000" b="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ambria Math" panose="02040503050406030204" pitchFamily="18" charset="0"/>
                  </a:rPr>
                  <a:t>Chunkwise</a:t>
                </a: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tril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K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Q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8FECE94B-DB48-92B1-1865-D97151C8F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078" y="5669253"/>
                <a:ext cx="2016224" cy="568059"/>
              </a:xfrm>
              <a:prstGeom prst="rect">
                <a:avLst/>
              </a:prstGeom>
              <a:blipFill>
                <a:blip r:embed="rId7"/>
                <a:stretch>
                  <a:fillRect l="-3939" t="-5376" b="-150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3A9EF764-E2CF-A1D3-DDC8-392EACE41A26}"/>
                  </a:ext>
                </a:extLst>
              </p:cNvPr>
              <p:cNvSpPr txBox="1"/>
              <p:nvPr/>
            </p:nvSpPr>
            <p:spPr>
              <a:xfrm>
                <a:off x="449931" y="5017428"/>
                <a:ext cx="4052200" cy="6183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ts val="1600"/>
                  </a:lnSpc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新細明體" panose="02020500000000000000" pitchFamily="18" charset="-120"/>
                    <a:cs typeface="+mn-cs"/>
                  </a:rPr>
                  <a:t>Inference</a:t>
                </a:r>
              </a:p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i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xd</m:t>
                        </m:r>
                      </m:sup>
                    </m:sSup>
                  </m:oMath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=(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i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3A9EF764-E2CF-A1D3-DDC8-392EACE41A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31" y="5017428"/>
                <a:ext cx="4052200" cy="618311"/>
              </a:xfrm>
              <a:prstGeom prst="rect">
                <a:avLst/>
              </a:prstGeom>
              <a:blipFill>
                <a:blip r:embed="rId4"/>
                <a:stretch>
                  <a:fillRect l="-1955" t="-17822" b="-762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矩形 46">
            <a:extLst>
              <a:ext uri="{FF2B5EF4-FFF2-40B4-BE49-F238E27FC236}">
                <a16:creationId xmlns:a16="http://schemas.microsoft.com/office/drawing/2014/main" id="{D1B5BCC7-AA46-CF82-1E3F-2D3458745856}"/>
              </a:ext>
            </a:extLst>
          </p:cNvPr>
          <p:cNvSpPr/>
          <p:nvPr/>
        </p:nvSpPr>
        <p:spPr>
          <a:xfrm>
            <a:off x="361536" y="4869160"/>
            <a:ext cx="1618176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GDN 2</a:t>
            </a:r>
          </a:p>
        </p:txBody>
      </p:sp>
    </p:spTree>
    <p:extLst>
      <p:ext uri="{BB962C8B-B14F-4D97-AF65-F5344CB8AC3E}">
        <p14:creationId xmlns:p14="http://schemas.microsoft.com/office/powerpoint/2010/main" val="26157120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FA65C-0B2C-1646-EBC2-383B9923B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43024795-1B49-F8CA-DC9C-E923FF81172F}"/>
              </a:ext>
            </a:extLst>
          </p:cNvPr>
          <p:cNvSpPr/>
          <p:nvPr/>
        </p:nvSpPr>
        <p:spPr>
          <a:xfrm>
            <a:off x="4922947" y="1061573"/>
            <a:ext cx="1440159" cy="645227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9050">
            <a:solidFill>
              <a:schemeClr val="accent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24E7BBFC-ABD4-06EA-EEC5-DAB46D96FABB}"/>
              </a:ext>
            </a:extLst>
          </p:cNvPr>
          <p:cNvGraphicFramePr>
            <a:graphicFrameLocks noGrp="1"/>
          </p:cNvGraphicFramePr>
          <p:nvPr/>
        </p:nvGraphicFramePr>
        <p:xfrm>
          <a:off x="2182414" y="3977936"/>
          <a:ext cx="183458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306491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7B9A54F6-4FD0-79AA-6542-250A5B5C6871}"/>
              </a:ext>
            </a:extLst>
          </p:cNvPr>
          <p:cNvGraphicFramePr>
            <a:graphicFrameLocks noGrp="1"/>
          </p:cNvGraphicFramePr>
          <p:nvPr/>
        </p:nvGraphicFramePr>
        <p:xfrm>
          <a:off x="4402887" y="3977936"/>
          <a:ext cx="181523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D8A6B19F-45EB-4B34-F3E8-35CF70DA554C}"/>
              </a:ext>
            </a:extLst>
          </p:cNvPr>
          <p:cNvGraphicFramePr>
            <a:graphicFrameLocks noGrp="1"/>
          </p:cNvGraphicFramePr>
          <p:nvPr/>
        </p:nvGraphicFramePr>
        <p:xfrm>
          <a:off x="6281667" y="3977936"/>
          <a:ext cx="72854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63B0DAA5-179D-B064-F537-182C02D502C2}"/>
              </a:ext>
            </a:extLst>
          </p:cNvPr>
          <p:cNvGraphicFramePr>
            <a:graphicFrameLocks noGrp="1"/>
          </p:cNvGraphicFramePr>
          <p:nvPr/>
        </p:nvGraphicFramePr>
        <p:xfrm>
          <a:off x="1418853" y="3977936"/>
          <a:ext cx="65393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75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1" name="文字方塊 40">
            <a:extLst>
              <a:ext uri="{FF2B5EF4-FFF2-40B4-BE49-F238E27FC236}">
                <a16:creationId xmlns:a16="http://schemas.microsoft.com/office/drawing/2014/main" id="{7B6B8DC2-6967-3428-B12D-53213CB5B5E1}"/>
              </a:ext>
            </a:extLst>
          </p:cNvPr>
          <p:cNvSpPr txBox="1"/>
          <p:nvPr/>
        </p:nvSpPr>
        <p:spPr>
          <a:xfrm>
            <a:off x="5564866" y="359453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1FB4F86A-E845-94F8-1095-9B76D1991D30}"/>
              </a:ext>
            </a:extLst>
          </p:cNvPr>
          <p:cNvSpPr txBox="1"/>
          <p:nvPr/>
        </p:nvSpPr>
        <p:spPr>
          <a:xfrm>
            <a:off x="6487820" y="359453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endParaRPr lang="zh-TW" altLang="en-US" sz="1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59" name="表格 58">
            <a:extLst>
              <a:ext uri="{FF2B5EF4-FFF2-40B4-BE49-F238E27FC236}">
                <a16:creationId xmlns:a16="http://schemas.microsoft.com/office/drawing/2014/main" id="{59F2D407-5119-5106-0DF4-A127104612CA}"/>
              </a:ext>
            </a:extLst>
          </p:cNvPr>
          <p:cNvGraphicFramePr>
            <a:graphicFrameLocks noGrp="1"/>
          </p:cNvGraphicFramePr>
          <p:nvPr/>
        </p:nvGraphicFramePr>
        <p:xfrm>
          <a:off x="7298947" y="3977936"/>
          <a:ext cx="72854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61" name="文字方塊 60">
            <a:extLst>
              <a:ext uri="{FF2B5EF4-FFF2-40B4-BE49-F238E27FC236}">
                <a16:creationId xmlns:a16="http://schemas.microsoft.com/office/drawing/2014/main" id="{D27E4714-6025-F09E-44AE-4599E40CEF9E}"/>
              </a:ext>
            </a:extLst>
          </p:cNvPr>
          <p:cNvSpPr txBox="1"/>
          <p:nvPr/>
        </p:nvSpPr>
        <p:spPr>
          <a:xfrm>
            <a:off x="7236106" y="3594533"/>
            <a:ext cx="854226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RMS</a:t>
            </a:r>
            <a:endParaRPr lang="zh-TW" altLang="en-US" sz="12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D92E0363-864D-D47A-CA86-8BE61A99F8C8}"/>
              </a:ext>
            </a:extLst>
          </p:cNvPr>
          <p:cNvSpPr txBox="1"/>
          <p:nvPr/>
        </p:nvSpPr>
        <p:spPr>
          <a:xfrm>
            <a:off x="7071668" y="4595021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000" b="0" dirty="0">
                <a:solidFill>
                  <a:schemeClr val="tx1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b="0" dirty="0">
              <a:solidFill>
                <a:schemeClr val="tx1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8F5B20E6-07D2-7A85-8C2F-7B28AABD8E53}"/>
              </a:ext>
            </a:extLst>
          </p:cNvPr>
          <p:cNvSpPr/>
          <p:nvPr/>
        </p:nvSpPr>
        <p:spPr>
          <a:xfrm>
            <a:off x="1361337" y="2918915"/>
            <a:ext cx="2708436" cy="263045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5D7BCD32-3F7E-BC50-E4A9-A6C932E0433B}"/>
              </a:ext>
            </a:extLst>
          </p:cNvPr>
          <p:cNvGraphicFramePr>
            <a:graphicFrameLocks noGrp="1"/>
          </p:cNvGraphicFramePr>
          <p:nvPr/>
        </p:nvGraphicFramePr>
        <p:xfrm>
          <a:off x="2182413" y="3173101"/>
          <a:ext cx="807240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82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36" name="文字方塊 35">
            <a:extLst>
              <a:ext uri="{FF2B5EF4-FFF2-40B4-BE49-F238E27FC236}">
                <a16:creationId xmlns:a16="http://schemas.microsoft.com/office/drawing/2014/main" id="{0E6E438E-1757-F601-6A1C-AB92EA40F62B}"/>
              </a:ext>
            </a:extLst>
          </p:cNvPr>
          <p:cNvSpPr txBox="1"/>
          <p:nvPr/>
        </p:nvSpPr>
        <p:spPr>
          <a:xfrm>
            <a:off x="1557145" y="3636763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8F9A414C-F460-2777-2926-ADAFA659E7CF}"/>
              </a:ext>
            </a:extLst>
          </p:cNvPr>
          <p:cNvSpPr txBox="1"/>
          <p:nvPr/>
        </p:nvSpPr>
        <p:spPr>
          <a:xfrm>
            <a:off x="2427914" y="287177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lang="zh-TW" altLang="en-US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F8B39949-5A19-0185-2B92-D7AAC4962835}"/>
              </a:ext>
            </a:extLst>
          </p:cNvPr>
          <p:cNvSpPr txBox="1"/>
          <p:nvPr/>
        </p:nvSpPr>
        <p:spPr>
          <a:xfrm>
            <a:off x="3368927" y="3594533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200" dirty="0">
              <a:solidFill>
                <a:schemeClr val="accent4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D4F096A-16D2-262F-8303-30FE8C655B84}"/>
              </a:ext>
            </a:extLst>
          </p:cNvPr>
          <p:cNvGraphicFramePr>
            <a:graphicFrameLocks noGrp="1"/>
          </p:cNvGraphicFramePr>
          <p:nvPr/>
        </p:nvGraphicFramePr>
        <p:xfrm>
          <a:off x="4147140" y="3965711"/>
          <a:ext cx="211368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6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279AF4D-44E9-E876-92DE-614C6F1A73EC}"/>
                  </a:ext>
                </a:extLst>
              </p:cNvPr>
              <p:cNvSpPr txBox="1"/>
              <p:nvPr/>
            </p:nvSpPr>
            <p:spPr>
              <a:xfrm>
                <a:off x="6876256" y="5704092"/>
                <a:ext cx="1775422" cy="7492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Norm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0" dirty="0"/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baseline="-25000" dirty="0"/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∗γi</m:t>
                              </m:r>
                            </m:num>
                            <m:den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RMS(x)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zh-TW" sz="1200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RMS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nary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6533E10E-209C-5074-10A7-4E4A830D6A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6256" y="5704092"/>
                <a:ext cx="1775422" cy="749244"/>
              </a:xfrm>
              <a:prstGeom prst="rect">
                <a:avLst/>
              </a:prstGeom>
              <a:blipFill>
                <a:blip r:embed="rId3"/>
                <a:stretch>
                  <a:fillRect l="-3093" t="-35772" r="-25773" b="-1382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矩形: 圓角 6">
            <a:extLst>
              <a:ext uri="{FF2B5EF4-FFF2-40B4-BE49-F238E27FC236}">
                <a16:creationId xmlns:a16="http://schemas.microsoft.com/office/drawing/2014/main" id="{0E24D931-E60A-7A9B-6439-31E9EC464C68}"/>
              </a:ext>
            </a:extLst>
          </p:cNvPr>
          <p:cNvSpPr/>
          <p:nvPr/>
        </p:nvSpPr>
        <p:spPr>
          <a:xfrm>
            <a:off x="5912276" y="1168084"/>
            <a:ext cx="378823" cy="45720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3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FFN</a:t>
            </a:r>
            <a:endParaRPr lang="zh-TW" altLang="en-US" sz="1200" dirty="0">
              <a:solidFill>
                <a:schemeClr val="accent3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5F97508-AFF7-3FC8-0E03-71E4BE4AAAF7}"/>
              </a:ext>
            </a:extLst>
          </p:cNvPr>
          <p:cNvSpPr/>
          <p:nvPr/>
        </p:nvSpPr>
        <p:spPr>
          <a:xfrm>
            <a:off x="4496619" y="1169534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CCF9EFD0-116F-968F-16BC-59AC0DFA61C2}"/>
              </a:ext>
            </a:extLst>
          </p:cNvPr>
          <p:cNvSpPr/>
          <p:nvPr/>
        </p:nvSpPr>
        <p:spPr>
          <a:xfrm rot="16200000">
            <a:off x="4711802" y="1296302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085724FC-6B8C-F3BE-F37B-69006A03B145}"/>
              </a:ext>
            </a:extLst>
          </p:cNvPr>
          <p:cNvSpPr txBox="1"/>
          <p:nvPr/>
        </p:nvSpPr>
        <p:spPr>
          <a:xfrm>
            <a:off x="4755700" y="1786998"/>
            <a:ext cx="864000" cy="21434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6">
                    <a:lumMod val="75000"/>
                  </a:schemeClr>
                </a:solidFill>
              </a:rPr>
              <a:t>Transformer</a:t>
            </a:r>
          </a:p>
        </p:txBody>
      </p: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92C14780-BC77-0AE7-0EE5-C78E7809E8E1}"/>
              </a:ext>
            </a:extLst>
          </p:cNvPr>
          <p:cNvGrpSpPr/>
          <p:nvPr/>
        </p:nvGrpSpPr>
        <p:grpSpPr>
          <a:xfrm>
            <a:off x="251520" y="3048749"/>
            <a:ext cx="1066099" cy="628408"/>
            <a:chOff x="121525" y="3016616"/>
            <a:chExt cx="1066099" cy="628408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38F16335-DDBA-6D42-427C-FB84A5BBB7BC}"/>
                </a:ext>
              </a:extLst>
            </p:cNvPr>
            <p:cNvSpPr/>
            <p:nvPr/>
          </p:nvSpPr>
          <p:spPr>
            <a:xfrm>
              <a:off x="542232" y="327926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q</a:t>
              </a: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84A2FE4F-885D-5C78-B8FE-D01E2AAAF5DD}"/>
                </a:ext>
              </a:extLst>
            </p:cNvPr>
            <p:cNvSpPr txBox="1"/>
            <p:nvPr/>
          </p:nvSpPr>
          <p:spPr>
            <a:xfrm>
              <a:off x="971600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FF4213BA-5F14-2632-D69F-C1A9CB345F6F}"/>
                </a:ext>
              </a:extLst>
            </p:cNvPr>
            <p:cNvSpPr txBox="1"/>
            <p:nvPr/>
          </p:nvSpPr>
          <p:spPr>
            <a:xfrm>
              <a:off x="390507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dirty="0"/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C7EDD716-54DA-9401-7DC0-9870ABE4CDCB}"/>
                </a:ext>
              </a:extLst>
            </p:cNvPr>
            <p:cNvSpPr txBox="1"/>
            <p:nvPr/>
          </p:nvSpPr>
          <p:spPr>
            <a:xfrm>
              <a:off x="553264" y="3140968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54" name="文字方塊 53">
              <a:extLst>
                <a:ext uri="{FF2B5EF4-FFF2-40B4-BE49-F238E27FC236}">
                  <a16:creationId xmlns:a16="http://schemas.microsoft.com/office/drawing/2014/main" id="{25E9CE2F-C392-C326-4507-175CBBEE3A7A}"/>
                </a:ext>
              </a:extLst>
            </p:cNvPr>
            <p:cNvSpPr txBox="1"/>
            <p:nvPr/>
          </p:nvSpPr>
          <p:spPr>
            <a:xfrm>
              <a:off x="894563" y="3212976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FCACF03F-C9D7-A60B-F9C3-3A940126DF5D}"/>
                </a:ext>
              </a:extLst>
            </p:cNvPr>
            <p:cNvSpPr/>
            <p:nvPr/>
          </p:nvSpPr>
          <p:spPr>
            <a:xfrm>
              <a:off x="126554" y="3187824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74" name="文字方塊 73">
              <a:extLst>
                <a:ext uri="{FF2B5EF4-FFF2-40B4-BE49-F238E27FC236}">
                  <a16:creationId xmlns:a16="http://schemas.microsoft.com/office/drawing/2014/main" id="{EAACD624-83C6-8560-EB01-D60F2A19BC5E}"/>
                </a:ext>
              </a:extLst>
            </p:cNvPr>
            <p:cNvSpPr txBox="1"/>
            <p:nvPr/>
          </p:nvSpPr>
          <p:spPr>
            <a:xfrm>
              <a:off x="121525" y="3016616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343CE93A-F327-5EFA-EFCA-5BAF9B822C46}"/>
              </a:ext>
            </a:extLst>
          </p:cNvPr>
          <p:cNvGrpSpPr/>
          <p:nvPr/>
        </p:nvGrpSpPr>
        <p:grpSpPr>
          <a:xfrm>
            <a:off x="1187624" y="1732941"/>
            <a:ext cx="1066099" cy="638586"/>
            <a:chOff x="1091459" y="1303398"/>
            <a:chExt cx="1066099" cy="638586"/>
          </a:xfrm>
        </p:grpSpPr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00DA5F31-3E92-282F-C705-CC9542B06DFB}"/>
                </a:ext>
              </a:extLst>
            </p:cNvPr>
            <p:cNvSpPr/>
            <p:nvPr/>
          </p:nvSpPr>
          <p:spPr>
            <a:xfrm>
              <a:off x="1550421" y="157631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k</a:t>
              </a:r>
            </a:p>
          </p:txBody>
        </p:sp>
        <p:sp>
          <p:nvSpPr>
            <p:cNvPr id="40" name="文字方塊 39">
              <a:extLst>
                <a:ext uri="{FF2B5EF4-FFF2-40B4-BE49-F238E27FC236}">
                  <a16:creationId xmlns:a16="http://schemas.microsoft.com/office/drawing/2014/main" id="{F94E9D5C-95CB-7223-C775-BC7A9BD24924}"/>
                </a:ext>
              </a:extLst>
            </p:cNvPr>
            <p:cNvSpPr txBox="1"/>
            <p:nvPr/>
          </p:nvSpPr>
          <p:spPr>
            <a:xfrm>
              <a:off x="1398696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sz="1400" dirty="0"/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39CE8C12-41FB-C468-9B1B-22186AB922CC}"/>
                </a:ext>
              </a:extLst>
            </p:cNvPr>
            <p:cNvSpPr txBox="1"/>
            <p:nvPr/>
          </p:nvSpPr>
          <p:spPr>
            <a:xfrm>
              <a:off x="1940848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D26A41CD-E9EC-1E34-3327-7355F8730879}"/>
                </a:ext>
              </a:extLst>
            </p:cNvPr>
            <p:cNvSpPr/>
            <p:nvPr/>
          </p:nvSpPr>
          <p:spPr>
            <a:xfrm>
              <a:off x="1115616" y="1484784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77" name="文字方塊 76">
              <a:extLst>
                <a:ext uri="{FF2B5EF4-FFF2-40B4-BE49-F238E27FC236}">
                  <a16:creationId xmlns:a16="http://schemas.microsoft.com/office/drawing/2014/main" id="{908C5C76-1AE3-4003-BADF-78FA826F6D98}"/>
                </a:ext>
              </a:extLst>
            </p:cNvPr>
            <p:cNvSpPr txBox="1"/>
            <p:nvPr/>
          </p:nvSpPr>
          <p:spPr>
            <a:xfrm>
              <a:off x="1523198" y="1427750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E93FE445-1A11-33CD-506F-D0722BDE1109}"/>
                </a:ext>
              </a:extLst>
            </p:cNvPr>
            <p:cNvSpPr txBox="1"/>
            <p:nvPr/>
          </p:nvSpPr>
          <p:spPr>
            <a:xfrm>
              <a:off x="1864497" y="149975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81" name="文字方塊 80">
              <a:extLst>
                <a:ext uri="{FF2B5EF4-FFF2-40B4-BE49-F238E27FC236}">
                  <a16:creationId xmlns:a16="http://schemas.microsoft.com/office/drawing/2014/main" id="{8DC1E639-4799-AF02-7456-B780926BF935}"/>
                </a:ext>
              </a:extLst>
            </p:cNvPr>
            <p:cNvSpPr txBox="1"/>
            <p:nvPr/>
          </p:nvSpPr>
          <p:spPr>
            <a:xfrm>
              <a:off x="1091459" y="1303398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FD76CD48-2953-8536-DA51-7EA162BEE0FC}"/>
              </a:ext>
            </a:extLst>
          </p:cNvPr>
          <p:cNvCxnSpPr>
            <a:cxnSpLocks/>
            <a:stCxn id="43" idx="3"/>
            <a:endCxn id="17" idx="0"/>
          </p:cNvCxnSpPr>
          <p:nvPr/>
        </p:nvCxnSpPr>
        <p:spPr>
          <a:xfrm>
            <a:off x="2219893" y="2143017"/>
            <a:ext cx="366140" cy="237996"/>
          </a:xfrm>
          <a:prstGeom prst="bentConnector2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1" name="群組 90">
            <a:extLst>
              <a:ext uri="{FF2B5EF4-FFF2-40B4-BE49-F238E27FC236}">
                <a16:creationId xmlns:a16="http://schemas.microsoft.com/office/drawing/2014/main" id="{AFFAEDA9-D3DD-13EC-98BD-838C50AF3ECE}"/>
              </a:ext>
            </a:extLst>
          </p:cNvPr>
          <p:cNvGrpSpPr/>
          <p:nvPr/>
        </p:nvGrpSpPr>
        <p:grpSpPr>
          <a:xfrm>
            <a:off x="4572000" y="2996866"/>
            <a:ext cx="1026360" cy="636377"/>
            <a:chOff x="4739871" y="2964733"/>
            <a:chExt cx="1026360" cy="636377"/>
          </a:xfrm>
        </p:grpSpPr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B82D3F6B-5D5E-F0D0-C150-CFE726891CF4}"/>
                </a:ext>
              </a:extLst>
            </p:cNvPr>
            <p:cNvSpPr txBox="1"/>
            <p:nvPr/>
          </p:nvSpPr>
          <p:spPr>
            <a:xfrm>
              <a:off x="4739871" y="2964733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AAB74863-AFFD-679D-79F0-6E94F868CC39}"/>
                </a:ext>
              </a:extLst>
            </p:cNvPr>
            <p:cNvSpPr/>
            <p:nvPr/>
          </p:nvSpPr>
          <p:spPr>
            <a:xfrm>
              <a:off x="4739871" y="3143910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31711B63-1351-3EA0-841F-5494FD8B4196}"/>
                </a:ext>
              </a:extLst>
            </p:cNvPr>
            <p:cNvSpPr/>
            <p:nvPr/>
          </p:nvSpPr>
          <p:spPr>
            <a:xfrm>
              <a:off x="5130408" y="3229629"/>
              <a:ext cx="274320" cy="27432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v</a:t>
              </a:r>
            </a:p>
          </p:txBody>
        </p:sp>
        <p:sp>
          <p:nvSpPr>
            <p:cNvPr id="60" name="文字方塊 59">
              <a:extLst>
                <a:ext uri="{FF2B5EF4-FFF2-40B4-BE49-F238E27FC236}">
                  <a16:creationId xmlns:a16="http://schemas.microsoft.com/office/drawing/2014/main" id="{E86CD439-6E7E-3A13-28C9-41FAB9AD8EF5}"/>
                </a:ext>
              </a:extLst>
            </p:cNvPr>
            <p:cNvSpPr txBox="1"/>
            <p:nvPr/>
          </p:nvSpPr>
          <p:spPr>
            <a:xfrm>
              <a:off x="4986845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sz="1400" dirty="0"/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B6CAB1D5-711A-1B92-3854-31167D7A6BA4}"/>
                </a:ext>
              </a:extLst>
            </p:cNvPr>
            <p:cNvSpPr txBox="1"/>
            <p:nvPr/>
          </p:nvSpPr>
          <p:spPr>
            <a:xfrm>
              <a:off x="5514236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E6696E25-0D5C-DA18-B81D-342ACF5CC292}"/>
                </a:ext>
              </a:extLst>
            </p:cNvPr>
            <p:cNvSpPr txBox="1"/>
            <p:nvPr/>
          </p:nvSpPr>
          <p:spPr>
            <a:xfrm>
              <a:off x="5131871" y="3079956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88" name="文字方塊 87">
              <a:extLst>
                <a:ext uri="{FF2B5EF4-FFF2-40B4-BE49-F238E27FC236}">
                  <a16:creationId xmlns:a16="http://schemas.microsoft.com/office/drawing/2014/main" id="{75A8A48B-5129-B12B-B550-6F9BF06C7C5D}"/>
                </a:ext>
              </a:extLst>
            </p:cNvPr>
            <p:cNvSpPr txBox="1"/>
            <p:nvPr/>
          </p:nvSpPr>
          <p:spPr>
            <a:xfrm>
              <a:off x="5473170" y="3151964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sp>
        <p:nvSpPr>
          <p:cNvPr id="90" name="左中括弧 89">
            <a:extLst>
              <a:ext uri="{FF2B5EF4-FFF2-40B4-BE49-F238E27FC236}">
                <a16:creationId xmlns:a16="http://schemas.microsoft.com/office/drawing/2014/main" id="{C16B346B-5583-255B-F94C-E43535D6770D}"/>
              </a:ext>
            </a:extLst>
          </p:cNvPr>
          <p:cNvSpPr/>
          <p:nvPr/>
        </p:nvSpPr>
        <p:spPr>
          <a:xfrm rot="16200000" flipH="1">
            <a:off x="5219676" y="-446536"/>
            <a:ext cx="98278" cy="4994029"/>
          </a:xfrm>
          <a:prstGeom prst="leftBracket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E5BE4C2C-472D-C6E9-4122-FF74F1260747}"/>
              </a:ext>
            </a:extLst>
          </p:cNvPr>
          <p:cNvCxnSpPr>
            <a:cxnSpLocks/>
            <a:stCxn id="34" idx="3"/>
            <a:endCxn id="36" idx="0"/>
          </p:cNvCxnSpPr>
          <p:nvPr/>
        </p:nvCxnSpPr>
        <p:spPr>
          <a:xfrm>
            <a:off x="1284475" y="3448557"/>
            <a:ext cx="430789" cy="188206"/>
          </a:xfrm>
          <a:prstGeom prst="bentConnector2">
            <a:avLst/>
          </a:prstGeom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8547364E-1A75-0B2D-5C8E-C7FE92DFEA22}"/>
              </a:ext>
            </a:extLst>
          </p:cNvPr>
          <p:cNvCxnSpPr>
            <a:cxnSpLocks/>
            <a:stCxn id="63" idx="3"/>
            <a:endCxn id="41" idx="0"/>
          </p:cNvCxnSpPr>
          <p:nvPr/>
        </p:nvCxnSpPr>
        <p:spPr>
          <a:xfrm>
            <a:off x="5529245" y="3398922"/>
            <a:ext cx="193740" cy="195612"/>
          </a:xfrm>
          <a:prstGeom prst="bentConnector2">
            <a:avLst/>
          </a:prstGeom>
          <a:ln w="15875">
            <a:solidFill>
              <a:schemeClr val="accent3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4D71AA94-D081-D06B-6FAB-57F56363324D}"/>
              </a:ext>
            </a:extLst>
          </p:cNvPr>
          <p:cNvSpPr/>
          <p:nvPr/>
        </p:nvSpPr>
        <p:spPr>
          <a:xfrm>
            <a:off x="4994955" y="1167652"/>
            <a:ext cx="457200" cy="4572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Attn</a:t>
            </a:r>
            <a:endParaRPr lang="zh-TW" altLang="en-US" sz="1200" baseline="30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11B4C9A2-3CB2-3926-3319-000DC0CFE875}"/>
              </a:ext>
            </a:extLst>
          </p:cNvPr>
          <p:cNvSpPr txBox="1"/>
          <p:nvPr/>
        </p:nvSpPr>
        <p:spPr>
          <a:xfrm>
            <a:off x="5604163" y="1292746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endParaRPr lang="zh-TW" altLang="en-US" dirty="0"/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B3D52F1B-810F-827B-09A2-67BDE173146D}"/>
              </a:ext>
            </a:extLst>
          </p:cNvPr>
          <p:cNvSpPr txBox="1"/>
          <p:nvPr/>
        </p:nvSpPr>
        <p:spPr>
          <a:xfrm>
            <a:off x="6499408" y="3490362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C23648CC-452B-1F78-96C5-33C7A929135D}"/>
              </a:ext>
            </a:extLst>
          </p:cNvPr>
          <p:cNvSpPr txBox="1"/>
          <p:nvPr/>
        </p:nvSpPr>
        <p:spPr>
          <a:xfrm>
            <a:off x="7519299" y="3490362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E0E710BA-3AEB-6000-F08C-C5CC46645F8C}"/>
              </a:ext>
            </a:extLst>
          </p:cNvPr>
          <p:cNvSpPr txBox="1"/>
          <p:nvPr/>
        </p:nvSpPr>
        <p:spPr>
          <a:xfrm>
            <a:off x="8244408" y="2993924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2298D7E2-DC47-4D14-D5F5-71B23512629F}"/>
              </a:ext>
            </a:extLst>
          </p:cNvPr>
          <p:cNvSpPr/>
          <p:nvPr/>
        </p:nvSpPr>
        <p:spPr>
          <a:xfrm>
            <a:off x="8244408" y="3173101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027BEF1A-D79E-40E4-EEC3-36B9041D0AEA}"/>
              </a:ext>
            </a:extLst>
          </p:cNvPr>
          <p:cNvSpPr/>
          <p:nvPr/>
        </p:nvSpPr>
        <p:spPr>
          <a:xfrm>
            <a:off x="6101687" y="814681"/>
            <a:ext cx="378823" cy="45720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5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lang="zh-TW" altLang="en-US" sz="1200" dirty="0">
              <a:solidFill>
                <a:schemeClr val="accent5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4E2AB1B7-F42B-545F-FC92-FB57F9DC05CB}"/>
              </a:ext>
            </a:extLst>
          </p:cNvPr>
          <p:cNvSpPr txBox="1"/>
          <p:nvPr/>
        </p:nvSpPr>
        <p:spPr>
          <a:xfrm>
            <a:off x="8462862" y="3316529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B9779FA-32DA-61E1-0269-C1C3D97DDEA9}"/>
              </a:ext>
            </a:extLst>
          </p:cNvPr>
          <p:cNvSpPr txBox="1"/>
          <p:nvPr/>
        </p:nvSpPr>
        <p:spPr>
          <a:xfrm rot="5400000">
            <a:off x="171159" y="4382569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8D5F94E-C733-38BA-379B-5CE8F9B93792}"/>
              </a:ext>
            </a:extLst>
          </p:cNvPr>
          <p:cNvSpPr txBox="1"/>
          <p:nvPr/>
        </p:nvSpPr>
        <p:spPr>
          <a:xfrm rot="5400000">
            <a:off x="7479834" y="4382569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0642681D-3656-C959-B474-9C236ACB55A3}"/>
              </a:ext>
            </a:extLst>
          </p:cNvPr>
          <p:cNvSpPr txBox="1"/>
          <p:nvPr/>
        </p:nvSpPr>
        <p:spPr>
          <a:xfrm>
            <a:off x="1684299" y="2381013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1FBCD638-143B-9BA8-641F-164D3C4CEAA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K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imi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-- struggles with context.</a:t>
            </a:r>
          </a:p>
        </p:txBody>
      </p:sp>
    </p:spTree>
    <p:extLst>
      <p:ext uri="{BB962C8B-B14F-4D97-AF65-F5344CB8AC3E}">
        <p14:creationId xmlns:p14="http://schemas.microsoft.com/office/powerpoint/2010/main" val="3699499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1224B-D8AA-1D9C-BF65-B35BD876C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47CCB39C-DFAD-9BC5-B593-19C3ECEDB72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tate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pace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odel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Mamba family runs entirely on S6 operators, using input selection as its core soul.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D14B2C0E-7F3C-155A-7876-071172E5D492}"/>
              </a:ext>
            </a:extLst>
          </p:cNvPr>
          <p:cNvSpPr txBox="1"/>
          <p:nvPr/>
        </p:nvSpPr>
        <p:spPr>
          <a:xfrm>
            <a:off x="287524" y="980728"/>
            <a:ext cx="5868652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Remember</a:t>
            </a:r>
            <a:r>
              <a:rPr lang="en-US" altLang="zh-TW" sz="1600" dirty="0"/>
              <a:t>: ..M.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Memory</a:t>
            </a:r>
            <a:r>
              <a:rPr lang="en-US" altLang="zh-TW" sz="1600" dirty="0"/>
              <a:t>: ...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Prediction</a:t>
            </a:r>
            <a:r>
              <a:rPr lang="en-US" altLang="zh-TW" sz="1600" dirty="0"/>
              <a:t>: ...Combine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B583711-98AF-84F5-8544-F1F62F881A13}"/>
              </a:ext>
            </a:extLst>
          </p:cNvPr>
          <p:cNvSpPr txBox="1"/>
          <p:nvPr/>
        </p:nvSpPr>
        <p:spPr>
          <a:xfrm>
            <a:off x="4139952" y="1196752"/>
            <a:ext cx="1944216" cy="504056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/>
              <a:t>State Equation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 err="1"/>
              <a:t>Xt</a:t>
            </a:r>
            <a:r>
              <a:rPr lang="en-US" altLang="zh-TW" sz="1200" b="1" dirty="0"/>
              <a:t> = f(xt-1, </a:t>
            </a:r>
            <a:r>
              <a:rPr lang="en-US" altLang="zh-TW" sz="1200" b="1" dirty="0" err="1"/>
              <a:t>ut</a:t>
            </a:r>
            <a:r>
              <a:rPr lang="en-US" altLang="zh-TW" sz="1200" b="1" dirty="0"/>
              <a:t>, </a:t>
            </a:r>
            <a:r>
              <a:rPr lang="en-US" altLang="zh-TW" sz="1200" b="1" dirty="0" err="1"/>
              <a:t>wt</a:t>
            </a:r>
            <a:r>
              <a:rPr lang="en-US" altLang="zh-TW" sz="1200" b="1" dirty="0"/>
              <a:t>) 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endParaRPr lang="en-US" altLang="zh-TW" sz="1200" b="1" dirty="0"/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/>
              <a:t>*Observation Equation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 err="1"/>
              <a:t>Yt</a:t>
            </a:r>
            <a:r>
              <a:rPr lang="en-US" altLang="zh-TW" sz="1200" b="1" dirty="0"/>
              <a:t>= </a:t>
            </a:r>
            <a:r>
              <a:rPr lang="en-US" altLang="zh-TW" sz="1200" b="1" dirty="0" err="1"/>
              <a:t>cxt+Dut+Vt</a:t>
            </a:r>
            <a:endParaRPr lang="en-US" altLang="zh-TW" sz="1200" b="1" dirty="0"/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 err="1"/>
              <a:t>Yt</a:t>
            </a:r>
            <a:r>
              <a:rPr lang="en-US" altLang="zh-TW" sz="1200" b="1" dirty="0"/>
              <a:t> = g(xt-1, </a:t>
            </a:r>
            <a:r>
              <a:rPr lang="en-US" altLang="zh-TW" sz="1200" b="1" dirty="0" err="1"/>
              <a:t>ut</a:t>
            </a:r>
            <a:r>
              <a:rPr lang="en-US" altLang="zh-TW" sz="1200" b="1" dirty="0"/>
              <a:t>, </a:t>
            </a:r>
            <a:r>
              <a:rPr lang="en-US" altLang="zh-TW" sz="1200" b="1" dirty="0" err="1"/>
              <a:t>wt</a:t>
            </a:r>
            <a:r>
              <a:rPr lang="en-US" altLang="zh-TW" sz="1200" b="1" dirty="0"/>
              <a:t>)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1668559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BB172B29-1067-BD51-7EBC-508E7351ECB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elective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tructured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tate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pace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odel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Mamba family runs entirely on S6 operators, using input selection as its core soul.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3ABDFFC-7552-D861-A1AC-525C9525963B}"/>
              </a:ext>
            </a:extLst>
          </p:cNvPr>
          <p:cNvSpPr txBox="1"/>
          <p:nvPr/>
        </p:nvSpPr>
        <p:spPr>
          <a:xfrm>
            <a:off x="199331" y="3429000"/>
            <a:ext cx="7108229" cy="1915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Mamba-1 (2023)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：正式名稱就是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S6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(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elective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tructured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tate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pace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odels)。</a:t>
            </a:r>
          </a:p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Mamba-2 (2024)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：依然是 S6 家族。它為了在硬體上實現矩陣化並行，提出了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SSD (State Space Duality)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理論。它將 Mamba-1 的 S6 算子進行了結構精簡（將矩陣 \(A\) 限制為實數標量），以便完美適配 Tensor Core。</a:t>
            </a:r>
          </a:p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Mamba-3 (2026)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：是 S6 家族的最新終極進化。它修正了 Mamba-2 的缺點，將狀態轉移矩陣重新引入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複數域旋轉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MIMO（多輸入多輸出）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架構，在學術界有時也被延伸稱為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S7 算子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2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學界在 </a:t>
            </a:r>
            <a:r>
              <a:rPr lang="en-US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2024 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年底也推出了加入穩定度控制的 </a:t>
            </a:r>
            <a:r>
              <a:rPr lang="en-US" altLang="zh-TW" sz="1200" b="1" u="none" strike="noStrike" dirty="0">
                <a:solidFill>
                  <a:schemeClr val="accent6">
                    <a:lumMod val="75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S7 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模型，不過目前工業界落地仍以 </a:t>
            </a:r>
            <a:r>
              <a:rPr lang="en-US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S6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 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系列）最為知名</a:t>
            </a:r>
            <a:endParaRPr lang="zh-TW" altLang="zh-TW" sz="12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501278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0E1BD-9A28-4CF4-A676-F921C4A6A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標題 1">
            <a:extLst>
              <a:ext uri="{FF2B5EF4-FFF2-40B4-BE49-F238E27FC236}">
                <a16:creationId xmlns:a16="http://schemas.microsoft.com/office/drawing/2014/main" id="{66252BDC-D8F3-149B-4858-565D740498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Mamba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S5M.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8FA7AB6D-F9AE-636C-C663-CA346BEE3260}"/>
              </a:ext>
            </a:extLst>
          </p:cNvPr>
          <p:cNvSpPr txBox="1"/>
          <p:nvPr/>
        </p:nvSpPr>
        <p:spPr>
          <a:xfrm>
            <a:off x="287524" y="980728"/>
            <a:ext cx="5868652" cy="14670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Selective Mechanism</a:t>
            </a:r>
            <a:r>
              <a:rPr lang="en-US" altLang="zh-TW" sz="1600" dirty="0"/>
              <a:t>: ...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Hardware-Aware Parallel Scan</a:t>
            </a:r>
            <a:r>
              <a:rPr lang="en-US" altLang="zh-TW" sz="1600" dirty="0"/>
              <a:t>: ...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400" b="1" dirty="0"/>
              <a:t>State Space Duality</a:t>
            </a:r>
            <a:r>
              <a:rPr lang="en-US" altLang="zh-TW" sz="1400" dirty="0"/>
              <a:t> ...</a:t>
            </a:r>
            <a:endParaRPr lang="en-US" altLang="zh-TW" sz="1200" dirty="0"/>
          </a:p>
          <a:p>
            <a:pPr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endParaRPr lang="en-US" altLang="zh-TW" sz="14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966D38D8-E0F8-D747-DE60-25643E0E8340}"/>
              </a:ext>
            </a:extLst>
          </p:cNvPr>
          <p:cNvSpPr txBox="1"/>
          <p:nvPr/>
        </p:nvSpPr>
        <p:spPr>
          <a:xfrm>
            <a:off x="287524" y="3111343"/>
            <a:ext cx="7236804" cy="14670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State Space Models</a:t>
            </a:r>
            <a:r>
              <a:rPr lang="en-US" altLang="zh-TW" sz="1600" dirty="0"/>
              <a:t>: SSD(State Space Duality) is equivalent  to Linear Attention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SSM: 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endParaRPr lang="en-US" altLang="zh-TW" sz="1600" b="1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/>
              <a:t>Flash Attention</a:t>
            </a:r>
            <a:endParaRPr lang="en-US" altLang="zh-TW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386D0D5A-DA13-A5A6-06EE-A46A9854430F}"/>
                  </a:ext>
                </a:extLst>
              </p:cNvPr>
              <p:cNvSpPr txBox="1"/>
              <p:nvPr/>
            </p:nvSpPr>
            <p:spPr>
              <a:xfrm>
                <a:off x="3571626" y="3541001"/>
                <a:ext cx="1424684" cy="2051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L</m:t>
                      </m:r>
                      <m:r>
                        <m:rPr>
                          <m:sty m:val="p"/>
                        </m:rPr>
                        <a:rPr lang="en-US" altLang="zh-TW" sz="1200" i="1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zh-TW" altLang="en-US" sz="120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386D0D5A-DA13-A5A6-06EE-A46A98544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626" y="3541001"/>
                <a:ext cx="1424684" cy="205184"/>
              </a:xfrm>
              <a:prstGeom prst="rect">
                <a:avLst/>
              </a:prstGeom>
              <a:blipFill>
                <a:blip r:embed="rId3"/>
                <a:stretch>
                  <a:fillRect l="-2137" r="-855" b="-88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A751F603-2346-63F5-A27A-17DDC9B30D6B}"/>
                  </a:ext>
                </a:extLst>
              </p:cNvPr>
              <p:cNvSpPr txBox="1"/>
              <p:nvPr/>
            </p:nvSpPr>
            <p:spPr>
              <a:xfrm>
                <a:off x="3571626" y="3799880"/>
                <a:ext cx="1642757" cy="2051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SSM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: 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zh-TW" alt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A751F603-2346-63F5-A27A-17DDC9B30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626" y="3799880"/>
                <a:ext cx="1642757" cy="205184"/>
              </a:xfrm>
              <a:prstGeom prst="rect">
                <a:avLst/>
              </a:prstGeom>
              <a:blipFill>
                <a:blip r:embed="rId4"/>
                <a:stretch>
                  <a:fillRect l="-1859" r="-372"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55773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5649</TotalTime>
  <Words>2075</Words>
  <Application>Microsoft Office PowerPoint</Application>
  <PresentationFormat>如螢幕大小 (4:3)</PresentationFormat>
  <Paragraphs>828</Paragraphs>
  <Slides>11</Slides>
  <Notes>9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21" baseType="lpstr">
      <vt:lpstr>Noto Sans HK</vt:lpstr>
      <vt:lpstr>微軟正黑體</vt:lpstr>
      <vt:lpstr>新細明體</vt:lpstr>
      <vt:lpstr>ADLaM Display</vt:lpstr>
      <vt:lpstr>Arial</vt:lpstr>
      <vt:lpstr>Calibri</vt:lpstr>
      <vt:lpstr>Cambria Math</vt:lpstr>
      <vt:lpstr>Symbol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2030</cp:revision>
  <cp:lastPrinted>2024-07-30T01:44:15Z</cp:lastPrinted>
  <dcterms:created xsi:type="dcterms:W3CDTF">2019-11-08T03:01:47Z</dcterms:created>
  <dcterms:modified xsi:type="dcterms:W3CDTF">2026-10-14T09:24:23Z</dcterms:modified>
</cp:coreProperties>
</file>