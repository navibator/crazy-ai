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504" r:id="rId4"/>
    <p:sldId id="3431" r:id="rId5"/>
    <p:sldId id="3486" r:id="rId6"/>
    <p:sldId id="3427" r:id="rId7"/>
    <p:sldId id="3435" r:id="rId8"/>
    <p:sldId id="3477" r:id="rId9"/>
    <p:sldId id="3503" r:id="rId10"/>
    <p:sldId id="3470" r:id="rId11"/>
    <p:sldId id="3471" r:id="rId12"/>
    <p:sldId id="3482" r:id="rId13"/>
    <p:sldId id="3483" r:id="rId14"/>
    <p:sldId id="3428" r:id="rId15"/>
    <p:sldId id="3451" r:id="rId16"/>
    <p:sldId id="3465" r:id="rId17"/>
    <p:sldId id="3484" r:id="rId18"/>
    <p:sldId id="3485" r:id="rId19"/>
    <p:sldId id="3443" r:id="rId20"/>
    <p:sldId id="3466" r:id="rId21"/>
    <p:sldId id="3476" r:id="rId22"/>
    <p:sldId id="3460" r:id="rId23"/>
    <p:sldId id="3481" r:id="rId24"/>
    <p:sldId id="3461" r:id="rId25"/>
    <p:sldId id="3462" r:id="rId26"/>
    <p:sldId id="3420" r:id="rId27"/>
    <p:sldId id="3479" r:id="rId28"/>
    <p:sldId id="3467"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31"/>
            <p14:sldId id="3486"/>
            <p14:sldId id="3427"/>
            <p14:sldId id="3435"/>
            <p14:sldId id="347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0"/>
          </p14:sldIdLst>
        </p14:section>
        <p14:section name="Hardware" id="{69C35067-BEF2-4B7C-9B54-B6977EB05C72}">
          <p14:sldIdLst>
            <p14:sldId id="3481"/>
            <p14:sldId id="3461"/>
            <p14:sldId id="3462"/>
            <p14:sldId id="3420"/>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C9E7"/>
    <a:srgbClr val="FF0000"/>
    <a:srgbClr val="9E7800"/>
    <a:srgbClr val="DAA600"/>
    <a:srgbClr val="F8D462"/>
    <a:srgbClr val="FDE7DA"/>
    <a:srgbClr val="DDDDDD"/>
    <a:srgbClr val="FEC203"/>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585"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000" dirty="0">
              <a:latin typeface="微軟正黑體" panose="020B0604030504040204" pitchFamily="34" charset="-120"/>
              <a:ea typeface="微軟正黑體" panose="020B0604030504040204" pitchFamily="34" charset="-120"/>
            </a:endParaRPr>
          </a:p>
          <a:p>
            <a:endParaRPr lang="en-US" altLang="zh-TW" sz="1000" dirty="0">
              <a:latin typeface="微軟正黑體" panose="020B0604030504040204" pitchFamily="34" charset="-120"/>
              <a:ea typeface="微軟正黑體" panose="020B0604030504040204" pitchFamily="34" charset="-120"/>
            </a:endParaRPr>
          </a:p>
          <a:p>
            <a:r>
              <a:rPr lang="en-US" altLang="zh-TW" sz="1000" dirty="0"/>
              <a:t>SFT (</a:t>
            </a:r>
            <a:r>
              <a:rPr lang="zh-TW" altLang="en-US" sz="1000" dirty="0"/>
              <a:t>監督式微調</a:t>
            </a:r>
            <a:r>
              <a:rPr lang="en-US" altLang="zh-TW" sz="1000" dirty="0"/>
              <a:t>)</a:t>
            </a:r>
            <a:r>
              <a:rPr lang="zh-TW" altLang="en-US" sz="1000" dirty="0"/>
              <a:t>： 屬於監督式學習</a:t>
            </a:r>
            <a:r>
              <a:rPr lang="en-US" altLang="zh-TW" sz="1000" dirty="0"/>
              <a:t>. &lt;</a:t>
            </a:r>
            <a:r>
              <a:rPr lang="zh-TW" altLang="en-US" sz="1000" dirty="0"/>
              <a:t>原因如下</a:t>
            </a:r>
            <a:r>
              <a:rPr lang="en-US" altLang="zh-TW" sz="1000" dirty="0"/>
              <a:t>&gt;</a:t>
            </a:r>
            <a:endParaRPr lang="en-US" altLang="zh-TW" sz="10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雖然是無標籤文本</a:t>
            </a:r>
            <a:r>
              <a:rPr lang="en-US" altLang="zh-TW" sz="1000" dirty="0"/>
              <a:t>, </a:t>
            </a:r>
            <a:r>
              <a:rPr lang="zh-TW" altLang="en-US" sz="1000" dirty="0"/>
              <a:t>但因為資料集已經被人類高度結構化</a:t>
            </a:r>
            <a:r>
              <a:rPr lang="en-US" altLang="zh-TW" sz="1000" dirty="0"/>
              <a:t>(</a:t>
            </a:r>
            <a:r>
              <a:rPr lang="zh-TW" altLang="en-US" sz="1000" dirty="0"/>
              <a:t>有明確的 </a:t>
            </a:r>
            <a:r>
              <a:rPr lang="en-US" altLang="zh-TW" sz="1000" dirty="0"/>
              <a:t>Prompt </a:t>
            </a:r>
            <a:r>
              <a:rPr lang="zh-TW" altLang="en-US" sz="1000" dirty="0"/>
              <a:t>與對應的</a:t>
            </a:r>
            <a:r>
              <a:rPr lang="en-US" altLang="zh-TW" sz="1000" dirty="0"/>
              <a:t>Target Answer)</a:t>
            </a:r>
            <a:r>
              <a:rPr lang="zh-TW" altLang="en-US" sz="1000" dirty="0"/>
              <a:t>，因此在實務上被歸類為監督式學習</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err="1"/>
              <a:t>LoRA</a:t>
            </a:r>
            <a:r>
              <a:rPr lang="en-US" altLang="zh-TW" sz="1000" dirty="0"/>
              <a:t> / </a:t>
            </a:r>
            <a:r>
              <a:rPr lang="en-US" altLang="zh-TW" sz="1000" dirty="0" err="1"/>
              <a:t>QLoRA</a:t>
            </a:r>
            <a:r>
              <a:rPr lang="en-US" altLang="zh-TW" sz="1000" dirty="0"/>
              <a:t> / Adapter</a:t>
            </a:r>
            <a:r>
              <a:rPr lang="zh-TW" altLang="en-US" sz="1000" dirty="0"/>
              <a:t>： 這些是「參數更新的架構」，而不是學習方法。不過在實務應用中，它們 </a:t>
            </a:r>
            <a:r>
              <a:rPr lang="en-US" altLang="zh-TW" sz="1000" dirty="0"/>
              <a:t>95% </a:t>
            </a:r>
            <a:r>
              <a:rPr lang="zh-TW" altLang="en-US" sz="1000" dirty="0"/>
              <a:t>以上都是搭配 </a:t>
            </a:r>
            <a:r>
              <a:rPr lang="en-US" altLang="zh-TW" sz="1000" dirty="0"/>
              <a:t>SFT</a:t>
            </a:r>
            <a:r>
              <a:rPr lang="zh-TW" altLang="en-US" sz="1000" dirty="0"/>
              <a:t>（監督式微調）或 </a:t>
            </a:r>
            <a:r>
              <a:rPr lang="en-US" altLang="zh-TW" sz="1000" dirty="0"/>
              <a:t>DPO </a:t>
            </a:r>
            <a:r>
              <a:rPr lang="zh-TW" altLang="en-US" sz="1000" dirty="0"/>
              <a:t>來執行。</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因此，它們在微調時通常是作為監督式學習或偏好學習的載體。</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a:t>Full Fine-Tuning (</a:t>
            </a:r>
            <a:r>
              <a:rPr lang="zh-TW" altLang="en-US" sz="1000" dirty="0"/>
              <a:t>全參數微調</a:t>
            </a:r>
            <a:r>
              <a:rPr lang="en-US" altLang="zh-TW" sz="1000" dirty="0"/>
              <a:t>)</a:t>
            </a:r>
            <a:r>
              <a:rPr lang="zh-TW" altLang="en-US" sz="1000" dirty="0"/>
              <a:t>： 同上，它是一種「範圍」，但在微調階段，絕大多數的全參數微調都是指 </a:t>
            </a:r>
            <a:r>
              <a:rPr lang="en-US" altLang="zh-TW" sz="1000" dirty="0"/>
              <a:t>Full SFT</a:t>
            </a:r>
            <a:r>
              <a:rPr lang="zh-TW" altLang="en-US" sz="1000" dirty="0"/>
              <a:t>（監督式微調）。</a:t>
            </a: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31918239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2.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2.sv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7.png"/><Relationship Id="rId3" Type="http://schemas.openxmlformats.org/officeDocument/2006/relationships/image" Target="../media/image14.png"/><Relationship Id="rId7" Type="http://schemas.openxmlformats.org/officeDocument/2006/relationships/image" Target="../media/image19.png"/><Relationship Id="rId12"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2.bmp"/><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8.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image" Target="../media/image51.png"/><Relationship Id="rId7" Type="http://schemas.openxmlformats.org/officeDocument/2006/relationships/image" Target="../media/image55.svg"/><Relationship Id="rId12"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4.svg"/><Relationship Id="rId11" Type="http://schemas.openxmlformats.org/officeDocument/2006/relationships/image" Target="../media/image59.png"/><Relationship Id="rId5" Type="http://schemas.openxmlformats.org/officeDocument/2006/relationships/image" Target="../media/image53.svg"/><Relationship Id="rId10" Type="http://schemas.openxmlformats.org/officeDocument/2006/relationships/image" Target="../media/image58.png"/><Relationship Id="rId4" Type="http://schemas.openxmlformats.org/officeDocument/2006/relationships/image" Target="../media/image52.svg"/><Relationship Id="rId9" Type="http://schemas.openxmlformats.org/officeDocument/2006/relationships/image" Target="../media/image57.svg"/></Relationships>
</file>

<file path=ppt/slides/_rels/slide23.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007050741"/>
              </p:ext>
            </p:extLst>
          </p:nvPr>
        </p:nvGraphicFramePr>
        <p:xfrm>
          <a:off x="827584" y="2332879"/>
          <a:ext cx="5891194" cy="4453360"/>
        </p:xfrm>
        <a:graphic>
          <a:graphicData uri="http://schemas.openxmlformats.org/drawingml/2006/table">
            <a:tbl>
              <a:tblPr firstRow="1" bandRow="1">
                <a:tableStyleId>{5C22544A-7EE6-4342-B048-85BDC9FD1C3A}</a:tableStyleId>
              </a:tblPr>
              <a:tblGrid>
                <a:gridCol w="658258">
                  <a:extLst>
                    <a:ext uri="{9D8B030D-6E8A-4147-A177-3AD203B41FA5}">
                      <a16:colId xmlns:a16="http://schemas.microsoft.com/office/drawing/2014/main" val="3115215194"/>
                    </a:ext>
                  </a:extLst>
                </a:gridCol>
                <a:gridCol w="1159272">
                  <a:extLst>
                    <a:ext uri="{9D8B030D-6E8A-4147-A177-3AD203B41FA5}">
                      <a16:colId xmlns:a16="http://schemas.microsoft.com/office/drawing/2014/main" val="2438358024"/>
                    </a:ext>
                  </a:extLst>
                </a:gridCol>
                <a:gridCol w="1018416">
                  <a:extLst>
                    <a:ext uri="{9D8B030D-6E8A-4147-A177-3AD203B41FA5}">
                      <a16:colId xmlns:a16="http://schemas.microsoft.com/office/drawing/2014/main" val="4024420245"/>
                    </a:ext>
                  </a:extLst>
                </a:gridCol>
                <a:gridCol w="1018416">
                  <a:extLst>
                    <a:ext uri="{9D8B030D-6E8A-4147-A177-3AD203B41FA5}">
                      <a16:colId xmlns:a16="http://schemas.microsoft.com/office/drawing/2014/main" val="1885199976"/>
                    </a:ext>
                  </a:extLst>
                </a:gridCol>
                <a:gridCol w="274100">
                  <a:extLst>
                    <a:ext uri="{9D8B030D-6E8A-4147-A177-3AD203B41FA5}">
                      <a16:colId xmlns:a16="http://schemas.microsoft.com/office/drawing/2014/main" val="1578629044"/>
                    </a:ext>
                  </a:extLst>
                </a:gridCol>
                <a:gridCol w="947930">
                  <a:extLst>
                    <a:ext uri="{9D8B030D-6E8A-4147-A177-3AD203B41FA5}">
                      <a16:colId xmlns:a16="http://schemas.microsoft.com/office/drawing/2014/main" val="2600189719"/>
                    </a:ext>
                  </a:extLst>
                </a:gridCol>
                <a:gridCol w="814802">
                  <a:extLst>
                    <a:ext uri="{9D8B030D-6E8A-4147-A177-3AD203B41FA5}">
                      <a16:colId xmlns:a16="http://schemas.microsoft.com/office/drawing/2014/main" val="1289474231"/>
                    </a:ext>
                  </a:extLst>
                </a:gridCol>
              </a:tblGrid>
              <a:tr h="293117">
                <a:tc>
                  <a:txBody>
                    <a:bodyPr/>
                    <a:lstStyle/>
                    <a:p>
                      <a:pPr algn="l"/>
                      <a:endParaRPr lang="en-US" altLang="zh-TW" sz="1400" b="0" cap="none" spc="0" dirty="0">
                        <a:ln w="0"/>
                        <a:solidFill>
                          <a:schemeClr val="bg2">
                            <a:lumMod val="50000"/>
                          </a:schemeClr>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0" cap="none" spc="0" dirty="0">
                          <a:ln w="0"/>
                          <a:solidFill>
                            <a:schemeClr val="tx1"/>
                          </a:solidFill>
                          <a:effectLst/>
                          <a:latin typeface="+mn-lt"/>
                        </a:rPr>
                        <a:t>Machine Learning apply to LLM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w="0"/>
                          <a:solidFill>
                            <a:prstClr val="black"/>
                          </a:solidFill>
                          <a:effectLst/>
                          <a:uLnTx/>
                          <a:uFillTx/>
                          <a:latin typeface="+mn-lt"/>
                          <a:ea typeface="+mn-ea"/>
                          <a:cs typeface="+mn-cs"/>
                        </a:rPr>
                        <a:t>LLM Runtime </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extLst>
                  <a:ext uri="{0D108BD9-81ED-4DB2-BD59-A6C34878D82A}">
                    <a16:rowId xmlns:a16="http://schemas.microsoft.com/office/drawing/2014/main" val="3022373540"/>
                  </a:ext>
                </a:extLst>
              </a:tr>
              <a:tr h="35406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Supervised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RLHF</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Adjust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Model</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Cloud</a:t>
                      </a: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13515898"/>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(Embedding)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Q-Network</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64247455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603224414"/>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413403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49642222"/>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1483262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(Autoregressive)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714491690"/>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55925935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772492193"/>
                  </a:ext>
                </a:extLst>
              </a:tr>
              <a:tr h="4796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FFN(GQA),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0024983"/>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47113333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2028771"/>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22451293"/>
                  </a:ext>
                </a:extLst>
              </a:tr>
            </a:tbl>
          </a:graphicData>
        </a:graphic>
      </p:graphicFrame>
      <p:sp>
        <p:nvSpPr>
          <p:cNvPr id="5" name="文字方塊 4">
            <a:extLst>
              <a:ext uri="{FF2B5EF4-FFF2-40B4-BE49-F238E27FC236}">
                <a16:creationId xmlns:a16="http://schemas.microsoft.com/office/drawing/2014/main" id="{1B96870D-30B1-187D-8FB3-00402096756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Core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Evolution</a:t>
            </a:r>
            <a:r>
              <a:rPr lang="en-US" altLang="zh-TW" sz="1600" u="none" strike="noStrike" dirty="0">
                <a:effectLst/>
              </a:rPr>
              <a:t>:. </a:t>
            </a:r>
            <a:r>
              <a:rPr lang="zh-TW" altLang="en-US" sz="1600" u="none" strike="noStrike" dirty="0">
                <a:effectLst/>
              </a:rPr>
              <a:t>概念演進</a:t>
            </a:r>
            <a:r>
              <a:rPr lang="en-US" altLang="zh-TW" sz="1600" dirty="0"/>
              <a:t> vs </a:t>
            </a:r>
            <a:r>
              <a:rPr lang="zh-TW" altLang="en-US" sz="1600" u="none" strike="noStrike" dirty="0">
                <a:effectLst/>
              </a:rPr>
              <a:t>模型演進</a:t>
            </a:r>
            <a:r>
              <a:rPr lang="en-US" altLang="zh-TW" sz="1600" u="none" strike="noStrike" dirty="0">
                <a:effectLst/>
              </a:rPr>
              <a:t>(</a:t>
            </a:r>
            <a:r>
              <a:rPr lang="zh-TW" altLang="en-US" sz="1600" u="none" strike="noStrike" dirty="0">
                <a:effectLst/>
              </a:rPr>
              <a:t>架構實作</a:t>
            </a:r>
            <a:r>
              <a:rPr lang="en-US" altLang="zh-TW" sz="1600" u="none" strike="noStrike" dirty="0">
                <a:effectLst/>
              </a:rPr>
              <a:t>/</a:t>
            </a:r>
            <a:r>
              <a:rPr lang="zh-TW" altLang="en-US" sz="1600" u="none" strike="noStrike" dirty="0">
                <a:effectLst/>
              </a:rPr>
              <a:t>硬體</a:t>
            </a:r>
            <a:r>
              <a:rPr lang="en-US" altLang="zh-TW" sz="160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Current Edge</a:t>
            </a:r>
            <a:r>
              <a:rPr lang="en-US" altLang="zh-TW" sz="1600" dirty="0"/>
              <a:t>: Llama4, Qwen 3.5, DeepSeek-V4, Mistral, Gemma4</a:t>
            </a:r>
          </a:p>
        </p:txBody>
      </p:sp>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sp>
        <p:nvSpPr>
          <p:cNvPr id="44" name="橢圓 43">
            <a:extLst>
              <a:ext uri="{FF2B5EF4-FFF2-40B4-BE49-F238E27FC236}">
                <a16:creationId xmlns:a16="http://schemas.microsoft.com/office/drawing/2014/main" id="{559E4259-9FAA-88A4-9ED9-DBF3DF119E1A}"/>
              </a:ext>
            </a:extLst>
          </p:cNvPr>
          <p:cNvSpPr/>
          <p:nvPr/>
        </p:nvSpPr>
        <p:spPr>
          <a:xfrm>
            <a:off x="2253098" y="4550597"/>
            <a:ext cx="1009954" cy="789974"/>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60000"/>
                    <a:lumOff val="40000"/>
                  </a:schemeClr>
                </a:solidFill>
              </a:rPr>
              <a:t>Emergent</a:t>
            </a:r>
          </a:p>
          <a:p>
            <a:pPr algn="ctr"/>
            <a:r>
              <a:rPr lang="en-US" altLang="zh-TW" sz="1400" dirty="0">
                <a:solidFill>
                  <a:schemeClr val="accent1">
                    <a:lumMod val="60000"/>
                    <a:lumOff val="40000"/>
                  </a:schemeClr>
                </a:solidFill>
              </a:rPr>
              <a:t>Ability</a:t>
            </a:r>
          </a:p>
        </p:txBody>
      </p: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AlexNet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1835696" y="5216128"/>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
        <p:nvSpPr>
          <p:cNvPr id="6" name="橢圓 5">
            <a:extLst>
              <a:ext uri="{FF2B5EF4-FFF2-40B4-BE49-F238E27FC236}">
                <a16:creationId xmlns:a16="http://schemas.microsoft.com/office/drawing/2014/main" id="{D55A63C2-F0ED-447E-91A3-FB89B6BB1F06}"/>
              </a:ext>
            </a:extLst>
          </p:cNvPr>
          <p:cNvSpPr/>
          <p:nvPr/>
        </p:nvSpPr>
        <p:spPr>
          <a:xfrm>
            <a:off x="210854" y="5268618"/>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505931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pic>
        <p:nvPicPr>
          <p:cNvPr id="8" name="圖片 7">
            <a:extLst>
              <a:ext uri="{FF2B5EF4-FFF2-40B4-BE49-F238E27FC236}">
                <a16:creationId xmlns:a16="http://schemas.microsoft.com/office/drawing/2014/main" id="{1DAC9A10-6C72-DC35-B478-FA725C4889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5888" y="162521"/>
            <a:ext cx="3915984" cy="2149202"/>
          </a:xfrm>
          <a:prstGeom prst="rect">
            <a:avLst/>
          </a:prstGeom>
          <a:effectLst>
            <a:glow rad="63500">
              <a:schemeClr val="accent1">
                <a:satMod val="175000"/>
                <a:alpha val="40000"/>
              </a:schemeClr>
            </a:glow>
          </a:effectLst>
        </p:spPr>
      </p:pic>
      <p:graphicFrame>
        <p:nvGraphicFramePr>
          <p:cNvPr id="5" name="表格 4">
            <a:extLst>
              <a:ext uri="{FF2B5EF4-FFF2-40B4-BE49-F238E27FC236}">
                <a16:creationId xmlns:a16="http://schemas.microsoft.com/office/drawing/2014/main" id="{1FFE0B30-EBDE-3758-CF85-34D65C7B723B}"/>
              </a:ext>
            </a:extLst>
          </p:cNvPr>
          <p:cNvGraphicFramePr>
            <a:graphicFrameLocks noGrp="1"/>
          </p:cNvGraphicFramePr>
          <p:nvPr>
            <p:extLst>
              <p:ext uri="{D42A27DB-BD31-4B8C-83A1-F6EECF244321}">
                <p14:modId xmlns:p14="http://schemas.microsoft.com/office/powerpoint/2010/main" val="3292685497"/>
              </p:ext>
            </p:extLst>
          </p:nvPr>
        </p:nvGraphicFramePr>
        <p:xfrm>
          <a:off x="5940152" y="5534757"/>
          <a:ext cx="1219522" cy="644860"/>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7011">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Model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17011">
                <a:tc>
                  <a:txBody>
                    <a:bodyPr/>
                    <a:lstStyle/>
                    <a:p>
                      <a:pPr algn="l"/>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108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Dense +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7" name="橢圓 6">
            <a:extLst>
              <a:ext uri="{FF2B5EF4-FFF2-40B4-BE49-F238E27FC236}">
                <a16:creationId xmlns:a16="http://schemas.microsoft.com/office/drawing/2014/main" id="{9D34E5BE-F2F3-B47A-FECE-C8D001B97C1C}"/>
              </a:ext>
            </a:extLst>
          </p:cNvPr>
          <p:cNvSpPr/>
          <p:nvPr/>
        </p:nvSpPr>
        <p:spPr>
          <a:xfrm>
            <a:off x="3753075" y="381921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AlphaGo</a:t>
            </a:r>
          </a:p>
          <a:p>
            <a:pPr algn="ctr"/>
            <a:r>
              <a:rPr lang="en-US" altLang="zh-TW" sz="1200" dirty="0">
                <a:solidFill>
                  <a:schemeClr val="accent1">
                    <a:lumMod val="50000"/>
                  </a:schemeClr>
                </a:solidFill>
              </a:rPr>
              <a:t>2016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BFB720A-C793-20E1-812F-D68F8AE0571C}"/>
              </a:ext>
            </a:extLst>
          </p:cNvPr>
          <p:cNvSpPr txBox="1">
            <a:spLocks/>
          </p:cNvSpPr>
          <p:nvPr/>
        </p:nvSpPr>
        <p:spPr>
          <a:xfrm>
            <a:off x="179512" y="116632"/>
            <a:ext cx="8754198"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Current LLM Development</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Transitioning from dense models to Mixture-of-Exports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and native multimodal pipelines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graphicFrame>
        <p:nvGraphicFramePr>
          <p:cNvPr id="5" name="表格 4">
            <a:extLst>
              <a:ext uri="{FF2B5EF4-FFF2-40B4-BE49-F238E27FC236}">
                <a16:creationId xmlns:a16="http://schemas.microsoft.com/office/drawing/2014/main" id="{76869BA1-A95C-7CAA-CD4E-BD46D4747B5C}"/>
              </a:ext>
            </a:extLst>
          </p:cNvPr>
          <p:cNvGraphicFramePr>
            <a:graphicFrameLocks noGrp="1"/>
          </p:cNvGraphicFramePr>
          <p:nvPr>
            <p:extLst>
              <p:ext uri="{D42A27DB-BD31-4B8C-83A1-F6EECF244321}">
                <p14:modId xmlns:p14="http://schemas.microsoft.com/office/powerpoint/2010/main" val="2766563747"/>
              </p:ext>
            </p:extLst>
          </p:nvPr>
        </p:nvGraphicFramePr>
        <p:xfrm>
          <a:off x="166935" y="3429000"/>
          <a:ext cx="2866653" cy="1751068"/>
        </p:xfrm>
        <a:graphic>
          <a:graphicData uri="http://schemas.openxmlformats.org/drawingml/2006/table">
            <a:tbl>
              <a:tblPr firstRow="1" bandRow="1">
                <a:tableStyleId>{5C22544A-7EE6-4342-B048-85BDC9FD1C3A}</a:tableStyleId>
              </a:tblPr>
              <a:tblGrid>
                <a:gridCol w="809412">
                  <a:extLst>
                    <a:ext uri="{9D8B030D-6E8A-4147-A177-3AD203B41FA5}">
                      <a16:colId xmlns:a16="http://schemas.microsoft.com/office/drawing/2014/main" val="4512040"/>
                    </a:ext>
                  </a:extLst>
                </a:gridCol>
                <a:gridCol w="2057241">
                  <a:extLst>
                    <a:ext uri="{9D8B030D-6E8A-4147-A177-3AD203B41FA5}">
                      <a16:colId xmlns:a16="http://schemas.microsoft.com/office/drawing/2014/main" val="2539720991"/>
                    </a:ext>
                  </a:extLst>
                </a:gridCol>
              </a:tblGrid>
              <a:tr h="196486">
                <a:tc gridSpan="2">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 Adjust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hMerge="1">
                  <a:txBody>
                    <a:bodyPr/>
                    <a:lstStyle/>
                    <a:p>
                      <a:endParaRPr lang="zh-TW" altLang="en-US"/>
                    </a:p>
                  </a:txBody>
                  <a:tcPr/>
                </a:tc>
                <a:extLst>
                  <a:ext uri="{0D108BD9-81ED-4DB2-BD59-A6C34878D82A}">
                    <a16:rowId xmlns:a16="http://schemas.microsoft.com/office/drawing/2014/main" val="1537252825"/>
                  </a:ext>
                </a:extLst>
              </a:tr>
              <a:tr h="19648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Full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30408">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5658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103041651"/>
                  </a:ext>
                </a:extLst>
              </a:tr>
              <a:tr h="260816">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Prefix Tuning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005897546"/>
                  </a:ext>
                </a:extLst>
              </a:tr>
              <a:tr h="13040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 Tuning,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70434728"/>
                  </a:ext>
                </a:extLst>
              </a:tr>
              <a:tr h="58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Preference Alignment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ORPO,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79072172"/>
                  </a:ext>
                </a:extLst>
              </a:tr>
              <a:tr h="1770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791695270"/>
                  </a:ext>
                </a:extLst>
              </a:tr>
            </a:tbl>
          </a:graphicData>
        </a:graphic>
      </p:graphicFrame>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4274074"/>
            <a:ext cx="3915984" cy="2149202"/>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9573963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Train with labeled historical data to predict unknown new data.</a:t>
            </a:r>
          </a:p>
        </p:txBody>
      </p:sp>
      <p:sp>
        <p:nvSpPr>
          <p:cNvPr id="10" name="文字方塊 9">
            <a:extLst>
              <a:ext uri="{FF2B5EF4-FFF2-40B4-BE49-F238E27FC236}">
                <a16:creationId xmlns:a16="http://schemas.microsoft.com/office/drawing/2014/main" id="{F66EDF72-28C2-AE68-0018-EC342C9AD146}"/>
              </a:ext>
            </a:extLst>
          </p:cNvPr>
          <p:cNvSpPr txBox="1"/>
          <p:nvPr/>
        </p:nvSpPr>
        <p:spPr>
          <a:xfrm>
            <a:off x="287524" y="1206912"/>
            <a:ext cx="7780366" cy="3400931"/>
          </a:xfrm>
          <a:prstGeom prst="rect">
            <a:avLst/>
          </a:prstGeom>
          <a:noFill/>
        </p:spPr>
        <p:txBody>
          <a:bodyPr wrap="square">
            <a:spAutoFit/>
          </a:bodyPr>
          <a:lstStyle/>
          <a:p>
            <a:pPr>
              <a:lnSpc>
                <a:spcPts val="1800"/>
              </a:lnSpc>
              <a:spcBef>
                <a:spcPts val="600"/>
              </a:spcBef>
              <a:spcAft>
                <a:spcPts val="600"/>
              </a:spcAft>
            </a:pPr>
            <a:r>
              <a:rPr lang="en-US" altLang="zh-TW" sz="2000" b="1" dirty="0"/>
              <a:t>Raw LLM Datasets</a:t>
            </a:r>
          </a:p>
          <a:p>
            <a:pPr marL="285750" indent="-285750">
              <a:lnSpc>
                <a:spcPts val="1800"/>
              </a:lnSpc>
              <a:spcBef>
                <a:spcPts val="600"/>
              </a:spcBef>
              <a:spcAft>
                <a:spcPts val="600"/>
              </a:spcAft>
              <a:buFont typeface="Wingdings" panose="05000000000000000000" pitchFamily="2" charset="2"/>
              <a:buChar char="Ø"/>
            </a:pPr>
            <a:r>
              <a:rPr lang="en-US" altLang="zh-TW" sz="1600" dirty="0"/>
              <a:t>Massive, </a:t>
            </a:r>
            <a:r>
              <a:rPr lang="en-US" altLang="zh-TW" sz="1600" dirty="0">
                <a:solidFill>
                  <a:schemeClr val="accent6">
                    <a:lumMod val="75000"/>
                  </a:schemeClr>
                </a:solidFill>
              </a:rPr>
              <a:t>unlabeled</a:t>
            </a:r>
            <a:r>
              <a:rPr lang="en-US" altLang="zh-TW" sz="1600" dirty="0"/>
              <a:t>, unstructured raw text paragraphs.</a:t>
            </a:r>
          </a:p>
          <a:p>
            <a:pPr marL="285750" indent="-285750">
              <a:lnSpc>
                <a:spcPts val="1800"/>
              </a:lnSpc>
              <a:spcBef>
                <a:spcPts val="600"/>
              </a:spcBef>
              <a:spcAft>
                <a:spcPts val="600"/>
              </a:spcAft>
              <a:buFont typeface="Wingdings" panose="05000000000000000000" pitchFamily="2" charset="2"/>
              <a:buChar char="Ø"/>
            </a:pPr>
            <a:endParaRPr lang="en-US" altLang="zh-TW" sz="2000" b="1" dirty="0"/>
          </a:p>
          <a:p>
            <a:pPr>
              <a:lnSpc>
                <a:spcPts val="1800"/>
              </a:lnSpc>
              <a:spcBef>
                <a:spcPts val="600"/>
              </a:spcBef>
              <a:spcAft>
                <a:spcPts val="600"/>
              </a:spcAft>
            </a:pPr>
            <a:r>
              <a:rPr lang="en-US" altLang="zh-TW" sz="2000" b="1" dirty="0"/>
              <a:t>Self-Supervised Learning</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LLM Pre-Training</a:t>
            </a:r>
            <a:r>
              <a:rPr lang="en-US" altLang="zh-TW" sz="1600" u="none" strike="noStrike" dirty="0">
                <a:effectLst/>
              </a:rPr>
              <a:t>: Tokenized and concatenated c</a:t>
            </a:r>
            <a:r>
              <a:rPr lang="en-US" altLang="zh-TW" sz="1600" dirty="0"/>
              <a:t>ontinuous text from </a:t>
            </a:r>
            <a:r>
              <a:rPr lang="en-US" altLang="zh-TW" sz="1600" dirty="0">
                <a:solidFill>
                  <a:schemeClr val="accent6">
                    <a:lumMod val="75000"/>
                  </a:schemeClr>
                </a:solidFill>
              </a:rPr>
              <a:t>raw LLM datasets</a:t>
            </a:r>
            <a:r>
              <a:rPr lang="en-US" altLang="zh-TW" sz="1600" dirty="0"/>
              <a:t>.</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LLM Continual Pre-Training</a:t>
            </a:r>
            <a:r>
              <a:rPr lang="en-US" altLang="zh-TW" sz="1600" dirty="0"/>
              <a:t>: Unlabeled, unstructured, </a:t>
            </a:r>
            <a:r>
              <a:rPr lang="en-US" altLang="zh-TW" sz="1600" dirty="0">
                <a:solidFill>
                  <a:schemeClr val="accent6">
                    <a:lumMod val="75000"/>
                  </a:schemeClr>
                </a:solidFill>
              </a:rPr>
              <a:t>domain-specific</a:t>
            </a:r>
            <a:r>
              <a:rPr lang="en-US" altLang="zh-TW" sz="1600" dirty="0"/>
              <a:t> raw text.</a:t>
            </a:r>
          </a:p>
          <a:p>
            <a:pPr marL="285750" indent="-285750">
              <a:lnSpc>
                <a:spcPts val="1800"/>
              </a:lnSpc>
              <a:spcBef>
                <a:spcPts val="600"/>
              </a:spcBef>
              <a:spcAft>
                <a:spcPts val="600"/>
              </a:spcAft>
              <a:buFont typeface="Wingdings" panose="05000000000000000000" pitchFamily="2" charset="2"/>
              <a:buChar char="Ø"/>
            </a:pPr>
            <a:endParaRPr lang="en-US" altLang="zh-TW" sz="1600" dirty="0"/>
          </a:p>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20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Supervised Learning</a:t>
            </a:r>
          </a:p>
          <a:p>
            <a:pPr marL="285750" lvl="0" indent="-285750">
              <a:lnSpc>
                <a:spcPts val="1800"/>
              </a:lnSpc>
              <a:spcBef>
                <a:spcPts val="600"/>
              </a:spcBef>
              <a:spcAft>
                <a:spcPts val="600"/>
              </a:spcAft>
              <a:buFont typeface="Wingdings" panose="05000000000000000000" pitchFamily="2" charset="2"/>
              <a:buChar char="Ø"/>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LLM Fine-Tuning</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lang="en-US" altLang="zh-TW" sz="1600" dirty="0"/>
              <a:t>Unlabeled, but </a:t>
            </a:r>
            <a:r>
              <a:rPr lang="en-US" altLang="zh-TW" sz="1600" dirty="0">
                <a:solidFill>
                  <a:schemeClr val="accent6">
                    <a:lumMod val="75000"/>
                  </a:schemeClr>
                </a:solidFill>
              </a:rPr>
              <a:t>highly structured </a:t>
            </a:r>
            <a:r>
              <a:rPr lang="en-US" altLang="zh-TW" sz="1600" dirty="0"/>
              <a:t>&lt;Prompt, Target Answer&gt;.</a:t>
            </a:r>
            <a:endPar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87975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 from Human Feedback</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Aligns model behavior with human preferences.</a:t>
            </a:r>
          </a:p>
        </p:txBody>
      </p:sp>
      <p:sp>
        <p:nvSpPr>
          <p:cNvPr id="2" name="文字方塊 1">
            <a:extLst>
              <a:ext uri="{FF2B5EF4-FFF2-40B4-BE49-F238E27FC236}">
                <a16:creationId xmlns:a16="http://schemas.microsoft.com/office/drawing/2014/main" id="{4FDFB583-1183-CC03-F343-0EAFCF2FDE0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701004389"/>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1502914845"/>
              </p:ext>
            </p:extLst>
          </p:nvPr>
        </p:nvGraphicFramePr>
        <p:xfrm>
          <a:off x="4410659" y="5736469"/>
          <a:ext cx="2249569" cy="840826"/>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22116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21163">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509468897"/>
              </p:ext>
            </p:extLst>
          </p:nvPr>
        </p:nvGraphicFramePr>
        <p:xfrm>
          <a:off x="406163" y="3845589"/>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179512" y="2522515"/>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7" name="圖形 6" descr="城市 以實心填滿">
            <a:extLst>
              <a:ext uri="{FF2B5EF4-FFF2-40B4-BE49-F238E27FC236}">
                <a16:creationId xmlns:a16="http://schemas.microsoft.com/office/drawing/2014/main" id="{C2B72C25-ED45-5954-14FF-4ED6E9CA64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32" y="1107406"/>
            <a:ext cx="914400" cy="914400"/>
          </a:xfrm>
          <a:prstGeom prst="rect">
            <a:avLst/>
          </a:prstGeom>
        </p:spPr>
      </p:pic>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9632" y="1257406"/>
            <a:ext cx="914400" cy="914400"/>
          </a:xfrm>
          <a:prstGeom prst="rect">
            <a:avLst/>
          </a:prstGeom>
        </p:spPr>
      </p:pic>
      <p:pic>
        <p:nvPicPr>
          <p:cNvPr id="11" name="圖形 10" descr="電腦 以實心填滿">
            <a:extLst>
              <a:ext uri="{FF2B5EF4-FFF2-40B4-BE49-F238E27FC236}">
                <a16:creationId xmlns:a16="http://schemas.microsoft.com/office/drawing/2014/main" id="{7D5A119F-63F7-8F26-05E0-9E842762F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04152" y="1100206"/>
            <a:ext cx="914400" cy="914400"/>
          </a:xfrm>
          <a:prstGeom prst="rect">
            <a:avLst/>
          </a:prstGeom>
        </p:spPr>
      </p:pic>
      <p:pic>
        <p:nvPicPr>
          <p:cNvPr id="13" name="圖形 12" descr="電腦 外框">
            <a:extLst>
              <a:ext uri="{FF2B5EF4-FFF2-40B4-BE49-F238E27FC236}">
                <a16:creationId xmlns:a16="http://schemas.microsoft.com/office/drawing/2014/main" id="{85417B8B-7D02-1518-C9D2-3537AFA24D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9632" y="1557406"/>
            <a:ext cx="914400" cy="914400"/>
          </a:xfrm>
          <a:prstGeom prst="rect">
            <a:avLst/>
          </a:prstGeom>
        </p:spPr>
      </p:pic>
      <p:pic>
        <p:nvPicPr>
          <p:cNvPr id="15" name="圖形 14" descr="處理器 外框">
            <a:extLst>
              <a:ext uri="{FF2B5EF4-FFF2-40B4-BE49-F238E27FC236}">
                <a16:creationId xmlns:a16="http://schemas.microsoft.com/office/drawing/2014/main" id="{1FA51469-F2E2-418C-DF4E-F8C83D8C15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9632" y="1707406"/>
            <a:ext cx="914400" cy="914400"/>
          </a:xfrm>
          <a:prstGeom prst="rect">
            <a:avLst/>
          </a:prstGeom>
        </p:spPr>
      </p:pic>
      <p:pic>
        <p:nvPicPr>
          <p:cNvPr id="17" name="圖形 16" descr="處理器 以實心填滿">
            <a:extLst>
              <a:ext uri="{FF2B5EF4-FFF2-40B4-BE49-F238E27FC236}">
                <a16:creationId xmlns:a16="http://schemas.microsoft.com/office/drawing/2014/main" id="{0AA322B1-04A1-CFFE-728E-8C3824FCFE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24747" y="650205"/>
            <a:ext cx="914400" cy="914400"/>
          </a:xfrm>
          <a:prstGeom prst="rect">
            <a:avLst/>
          </a:prstGeom>
        </p:spPr>
      </p:pic>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10"/>
          <a:stretch>
            <a:fillRect/>
          </a:stretch>
        </p:blipFill>
        <p:spPr>
          <a:xfrm>
            <a:off x="5464116" y="569168"/>
            <a:ext cx="1124107" cy="1076475"/>
          </a:xfrm>
          <a:prstGeom prst="rect">
            <a:avLst/>
          </a:prstGeom>
        </p:spPr>
      </p:pic>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11"/>
          <a:stretch>
            <a:fillRect/>
          </a:stretch>
        </p:blipFill>
        <p:spPr>
          <a:xfrm>
            <a:off x="7269840" y="476274"/>
            <a:ext cx="914528" cy="1438476"/>
          </a:xfrm>
          <a:prstGeom prst="rect">
            <a:avLst/>
          </a:prstGeom>
        </p:spPr>
      </p:pic>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12"/>
          <a:stretch>
            <a:fillRect/>
          </a:stretch>
        </p:blipFill>
        <p:spPr>
          <a:xfrm>
            <a:off x="5957346" y="1831200"/>
            <a:ext cx="971686" cy="981212"/>
          </a:xfrm>
          <a:prstGeom prst="rect">
            <a:avLst/>
          </a:prstGeom>
        </p:spPr>
      </p:pic>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8891</Words>
  <Application>Microsoft Office PowerPoint</Application>
  <PresentationFormat>如螢幕大小 (4:3)</PresentationFormat>
  <Paragraphs>981</Paragraphs>
  <Slides>28</Slides>
  <Notes>24</Notes>
  <HiddenSlides>7</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28</vt:i4>
      </vt:variant>
    </vt:vector>
  </HeadingPairs>
  <TitlesOfParts>
    <vt:vector size="42" baseType="lpstr">
      <vt:lpstr>Google Sans</vt:lpstr>
      <vt:lpstr>Microsoft GothicNeo</vt:lpstr>
      <vt:lpstr>Microsoft JhengHei UI</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1624</cp:revision>
  <cp:lastPrinted>2024-07-30T01:44:15Z</cp:lastPrinted>
  <dcterms:created xsi:type="dcterms:W3CDTF">2019-11-08T03:01:47Z</dcterms:created>
  <dcterms:modified xsi:type="dcterms:W3CDTF">2026-07-04T03:58:41Z</dcterms:modified>
</cp:coreProperties>
</file>