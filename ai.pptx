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85" r:id="rId18"/>
    <p:sldId id="3460"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85"/>
            <p14:sldId id="3460"/>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71875" autoAdjust="0"/>
  </p:normalViewPr>
  <p:slideViewPr>
    <p:cSldViewPr>
      <p:cViewPr>
        <p:scale>
          <a:sx n="100" d="100"/>
          <a:sy n="100" d="100"/>
        </p:scale>
        <p:origin x="672" y="-5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2026/7/9</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190.png"/><Relationship Id="rId12"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0.png"/><Relationship Id="rId5" Type="http://schemas.openxmlformats.org/officeDocument/2006/relationships/image" Target="../media/image170.png"/><Relationship Id="rId15" Type="http://schemas.openxmlformats.org/officeDocument/2006/relationships/image" Target="../media/image22.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sv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159914258"/>
              </p:ext>
            </p:extLst>
          </p:nvPr>
        </p:nvGraphicFramePr>
        <p:xfrm>
          <a:off x="863588" y="1052736"/>
          <a:ext cx="7416824" cy="4536504"/>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386115">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45014">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83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4501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728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28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2407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610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33996">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933360"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746157"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561544"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356840"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5674488" y="2609120"/>
            <a:ext cx="182880" cy="182880"/>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5674488" y="2057184"/>
            <a:ext cx="182880" cy="182880"/>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836712"/>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1"/>
          <a:stretch>
            <a:fillRect/>
          </a:stretch>
        </p:blipFill>
        <p:spPr>
          <a:xfrm>
            <a:off x="5674488" y="4351962"/>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2"/>
          <a:stretch>
            <a:fillRect/>
          </a:stretch>
        </p:blipFill>
        <p:spPr>
          <a:xfrm>
            <a:off x="5674488" y="4653136"/>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3"/>
          <a:stretch>
            <a:fillRect/>
          </a:stretch>
        </p:blipFill>
        <p:spPr>
          <a:xfrm>
            <a:off x="5674488" y="4927243"/>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152135" y="5507074"/>
            <a:ext cx="1660225" cy="922374"/>
          </a:xfrm>
          <a:prstGeom prst="wedgeRoundRectCallout">
            <a:avLst>
              <a:gd name="adj1" fmla="val -65540"/>
              <a:gd name="adj2" fmla="val -30498"/>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Deployment and FT,</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Open weight and source …</a:t>
            </a: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156975"/>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152873"/>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27143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151159"/>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26971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30837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260664"/>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327148"/>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321263"/>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593704"/>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593704"/>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688709"/>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51905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466742"/>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698234"/>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61901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622448"/>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675408"/>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61053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293096"/>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505729"/>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527166"/>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527167"/>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52716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9249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22377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99375"/>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658362"/>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6365443" y="5493869"/>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7551846" y="547596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83311" y="659283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a:rPr lang="en-US" altLang="zh-TW" sz="1400" dirty="0">
                        <a:latin typeface="Cambria Math" panose="02040503050406030204" pitchFamily="18" charset="0"/>
                      </a:rPr>
                      <m:t>	</m:t>
                    </m:r>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5148572" cy="1092607"/>
              </a:xfrm>
              <a:prstGeom prst="rect">
                <a:avLst/>
              </a:prstGeom>
              <a:blipFill>
                <a:blip r:embed="rId3"/>
                <a:stretch>
                  <a:fillRect l="-1183" t="-9497" b="-6704"/>
                </a:stretch>
              </a:blipFill>
            </p:spPr>
            <p:txBody>
              <a:bodyPr/>
              <a:lstStyle/>
              <a:p>
                <a:r>
                  <a:rPr lang="zh-TW" altLang="en-US">
                    <a:noFill/>
                  </a:rPr>
                  <a:t> </a:t>
                </a:r>
              </a:p>
            </p:txBody>
          </p:sp>
        </mc:Fallback>
      </mc:AlternateContent>
      <p:pic>
        <p:nvPicPr>
          <p:cNvPr id="7" name="圖片 6">
            <a:extLst>
              <a:ext uri="{FF2B5EF4-FFF2-40B4-BE49-F238E27FC236}">
                <a16:creationId xmlns:a16="http://schemas.microsoft.com/office/drawing/2014/main" id="{921F85D1-0D1A-EDB4-B1C7-9EA313E43EFA}"/>
              </a:ext>
              <a:ext uri="{C183D7F6-B498-43B3-948B-1728B52AA6E4}">
                <adec:decorative xmlns:adec="http://schemas.microsoft.com/office/drawing/2017/decorative" val="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15795" y="509261"/>
            <a:ext cx="3220701" cy="1767611"/>
          </a:xfrm>
          <a:prstGeom prst="rect">
            <a:avLst/>
          </a:prstGeom>
          <a:effectLst>
            <a:glow rad="63500">
              <a:schemeClr val="accent1">
                <a:satMod val="175000"/>
                <a:alpha val="40000"/>
              </a:schemeClr>
            </a:glow>
          </a:effectLst>
        </p:spPr>
      </p:pic>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2889798004"/>
                  </p:ext>
                </p:extLst>
              </p:nvPr>
            </p:nvGraphicFramePr>
            <p:xfrm>
              <a:off x="661886" y="2234021"/>
              <a:ext cx="8014568" cy="4291667"/>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78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115">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0648">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373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74296">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898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8072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2889798004"/>
                  </p:ext>
                </p:extLst>
              </p:nvPr>
            </p:nvGraphicFramePr>
            <p:xfrm>
              <a:off x="661886" y="2234021"/>
              <a:ext cx="8014568" cy="4291667"/>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478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87736" b="-578302"/>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65115">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ReLU</a:t>
                          </a:r>
                          <a:r>
                            <a:rPr lang="en-US" altLang="zh-TW" sz="1200" b="0" cap="none" spc="0" dirty="0">
                              <a:ln w="0"/>
                              <a:solidFill>
                                <a:schemeClr val="tx1"/>
                              </a:solidFill>
                              <a:effectLst/>
                            </a:rPr>
                            <a:t>,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930648">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58824" r="-376812" b="-27189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58824" r="-141299" b="-271895"/>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58824" r="-40972" b="-271895"/>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9388" r="-376812" b="-18299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9388" r="-141299" b="-182993"/>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9388" r="-40972" b="-182993"/>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74296">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696154" r="-376812" b="-24487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696154" r="-141299" b="-24487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696154" r="-40972" b="-244872"/>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9898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44737" r="-376812" b="-67544"/>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44737" r="-141299" b="-67544"/>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44737" r="-40972" b="-67544"/>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44737" b="-67544"/>
                          </a:stretch>
                        </a:blipFill>
                      </a:tcPr>
                    </a:tc>
                    <a:extLst>
                      <a:ext uri="{0D108BD9-81ED-4DB2-BD59-A6C34878D82A}">
                        <a16:rowId xmlns:a16="http://schemas.microsoft.com/office/drawing/2014/main" val="1341340391"/>
                      </a:ext>
                    </a:extLst>
                  </a:tr>
                  <a:tr h="38072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sp>
        <p:nvSpPr>
          <p:cNvPr id="5" name="文字方塊 4">
            <a:extLst>
              <a:ext uri="{FF2B5EF4-FFF2-40B4-BE49-F238E27FC236}">
                <a16:creationId xmlns:a16="http://schemas.microsoft.com/office/drawing/2014/main" id="{71AEB47B-29BC-2902-23BF-A4AE3E97C795}"/>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rgbClr val="FF0000"/>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solidFill>
                  <a:schemeClr val="bg1">
                    <a:lumMod val="65000"/>
                  </a:schemeClr>
                </a:solidFill>
              </a:rPr>
              <a:t> 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mc:AlternateContent xmlns:mc="http://schemas.openxmlformats.org/markup-compatibility/2006">
        <mc:Choice xmlns:a14="http://schemas.microsoft.com/office/drawing/2010/main"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686953037"/>
                  </p:ext>
                </p:extLst>
              </p:nvPr>
            </p:nvGraphicFramePr>
            <p:xfrm>
              <a:off x="253322" y="1505639"/>
              <a:ext cx="7565933" cy="2317257"/>
            </p:xfrm>
            <a:graphic>
              <a:graphicData uri="http://schemas.openxmlformats.org/drawingml/2006/table">
                <a:tbl>
                  <a:tblPr firstRow="1" bandRow="1">
                    <a:tableStyleId>{5C22544A-7EE6-4342-B048-85BDC9FD1C3A}</a:tableStyleId>
                  </a:tblPr>
                  <a:tblGrid>
                    <a:gridCol w="781052">
                      <a:extLst>
                        <a:ext uri="{9D8B030D-6E8A-4147-A177-3AD203B41FA5}">
                          <a16:colId xmlns:a16="http://schemas.microsoft.com/office/drawing/2014/main" val="871242339"/>
                        </a:ext>
                      </a:extLst>
                    </a:gridCol>
                    <a:gridCol w="330548">
                      <a:extLst>
                        <a:ext uri="{9D8B030D-6E8A-4147-A177-3AD203B41FA5}">
                          <a16:colId xmlns:a16="http://schemas.microsoft.com/office/drawing/2014/main" val="1201755844"/>
                        </a:ext>
                      </a:extLst>
                    </a:gridCol>
                    <a:gridCol w="555799">
                      <a:extLst>
                        <a:ext uri="{9D8B030D-6E8A-4147-A177-3AD203B41FA5}">
                          <a16:colId xmlns:a16="http://schemas.microsoft.com/office/drawing/2014/main" val="506512337"/>
                        </a:ext>
                      </a:extLst>
                    </a:gridCol>
                    <a:gridCol w="555799">
                      <a:extLst>
                        <a:ext uri="{9D8B030D-6E8A-4147-A177-3AD203B41FA5}">
                          <a16:colId xmlns:a16="http://schemas.microsoft.com/office/drawing/2014/main" val="1340741050"/>
                        </a:ext>
                      </a:extLst>
                    </a:gridCol>
                    <a:gridCol w="555799">
                      <a:extLst>
                        <a:ext uri="{9D8B030D-6E8A-4147-A177-3AD203B41FA5}">
                          <a16:colId xmlns:a16="http://schemas.microsoft.com/office/drawing/2014/main" val="3047107006"/>
                        </a:ext>
                      </a:extLst>
                    </a:gridCol>
                    <a:gridCol w="139477">
                      <a:extLst>
                        <a:ext uri="{9D8B030D-6E8A-4147-A177-3AD203B41FA5}">
                          <a16:colId xmlns:a16="http://schemas.microsoft.com/office/drawing/2014/main" val="3476142927"/>
                        </a:ext>
                      </a:extLst>
                    </a:gridCol>
                    <a:gridCol w="530623">
                      <a:extLst>
                        <a:ext uri="{9D8B030D-6E8A-4147-A177-3AD203B41FA5}">
                          <a16:colId xmlns:a16="http://schemas.microsoft.com/office/drawing/2014/main" val="1264719254"/>
                        </a:ext>
                      </a:extLst>
                    </a:gridCol>
                    <a:gridCol w="144016">
                      <a:extLst>
                        <a:ext uri="{9D8B030D-6E8A-4147-A177-3AD203B41FA5}">
                          <a16:colId xmlns:a16="http://schemas.microsoft.com/office/drawing/2014/main" val="667147628"/>
                        </a:ext>
                      </a:extLst>
                    </a:gridCol>
                    <a:gridCol w="514859">
                      <a:extLst>
                        <a:ext uri="{9D8B030D-6E8A-4147-A177-3AD203B41FA5}">
                          <a16:colId xmlns:a16="http://schemas.microsoft.com/office/drawing/2014/main" val="1863192475"/>
                        </a:ext>
                      </a:extLst>
                    </a:gridCol>
                    <a:gridCol w="356850">
                      <a:extLst>
                        <a:ext uri="{9D8B030D-6E8A-4147-A177-3AD203B41FA5}">
                          <a16:colId xmlns:a16="http://schemas.microsoft.com/office/drawing/2014/main" val="720974766"/>
                        </a:ext>
                      </a:extLst>
                    </a:gridCol>
                    <a:gridCol w="1000499">
                      <a:extLst>
                        <a:ext uri="{9D8B030D-6E8A-4147-A177-3AD203B41FA5}">
                          <a16:colId xmlns:a16="http://schemas.microsoft.com/office/drawing/2014/main" val="2940898418"/>
                        </a:ext>
                      </a:extLst>
                    </a:gridCol>
                    <a:gridCol w="72008">
                      <a:extLst>
                        <a:ext uri="{9D8B030D-6E8A-4147-A177-3AD203B41FA5}">
                          <a16:colId xmlns:a16="http://schemas.microsoft.com/office/drawing/2014/main" val="914629326"/>
                        </a:ext>
                      </a:extLst>
                    </a:gridCol>
                    <a:gridCol w="720080">
                      <a:extLst>
                        <a:ext uri="{9D8B030D-6E8A-4147-A177-3AD203B41FA5}">
                          <a16:colId xmlns:a16="http://schemas.microsoft.com/office/drawing/2014/main" val="750920784"/>
                        </a:ext>
                      </a:extLst>
                    </a:gridCol>
                    <a:gridCol w="725565">
                      <a:extLst>
                        <a:ext uri="{9D8B030D-6E8A-4147-A177-3AD203B41FA5}">
                          <a16:colId xmlns:a16="http://schemas.microsoft.com/office/drawing/2014/main" val="3374793549"/>
                        </a:ext>
                      </a:extLst>
                    </a:gridCol>
                    <a:gridCol w="582959">
                      <a:extLst>
                        <a:ext uri="{9D8B030D-6E8A-4147-A177-3AD203B41FA5}">
                          <a16:colId xmlns:a16="http://schemas.microsoft.com/office/drawing/2014/main" val="132511825"/>
                        </a:ext>
                      </a:extLst>
                    </a:gridCol>
                  </a:tblGrid>
                  <a:tr h="235245">
                    <a:tc rowSpan="2">
                      <a:txBody>
                        <a:bodyPr/>
                        <a:lstStyle/>
                        <a:p>
                          <a:pPr algn="ctr"/>
                          <a:r>
                            <a:rPr lang="en-US" altLang="zh-TW" sz="1200" b="0" dirty="0">
                              <a:solidFill>
                                <a:schemeClr val="tx2">
                                  <a:lumMod val="50000"/>
                                </a:schemeClr>
                              </a:solidFill>
                              <a:latin typeface="+mn-lt"/>
                              <a:cs typeface="ADLaM Display" panose="02010000000000000000" pitchFamily="2" charset="0"/>
                            </a:rPr>
                            <a:t>Input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r>
                            <a:rPr lang="en-US" altLang="zh-TW" sz="1200" b="0" dirty="0">
                              <a:solidFill>
                                <a:schemeClr val="tx2">
                                  <a:lumMod val="50000"/>
                                </a:schemeClr>
                              </a:solidFill>
                              <a:latin typeface="+mn-lt"/>
                              <a:cs typeface="ADLaM Display" panose="02010000000000000000" pitchFamily="2" charset="0"/>
                            </a:rPr>
                            <a:t>Weight</a:t>
                          </a:r>
                        </a:p>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r>
                            <a:rPr lang="en-US" altLang="zh-TW" sz="1200" b="0" dirty="0">
                              <a:solidFill>
                                <a:schemeClr val="tx2">
                                  <a:lumMod val="50000"/>
                                </a:schemeClr>
                              </a:solidFill>
                              <a:latin typeface="+mn-lt"/>
                              <a:cs typeface="ADLaM Display" panose="02010000000000000000" pitchFamily="2" charset="0"/>
                            </a:rPr>
                            <a:t>Output</a:t>
                          </a:r>
                        </a:p>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r>
                            <a:rPr lang="en-US" altLang="zh-TW" sz="1200" b="0" dirty="0">
                              <a:solidFill>
                                <a:schemeClr val="tx2">
                                  <a:lumMod val="50000"/>
                                </a:schemeClr>
                              </a:solidFill>
                              <a:latin typeface="+mn-lt"/>
                              <a:cs typeface="ADLaM Display" panose="02010000000000000000" pitchFamily="2" charset="0"/>
                            </a:rPr>
                            <a:t>ReLU(Y)</a:t>
                          </a:r>
                        </a:p>
                        <a:p>
                          <a:pPr algn="ctr"/>
                          <a:r>
                            <a:rPr lang="en-US" altLang="zh-TW" sz="1200" b="0" dirty="0">
                              <a:solidFill>
                                <a:schemeClr val="tx2">
                                  <a:lumMod val="50000"/>
                                </a:schemeClr>
                              </a:solidFill>
                              <a:latin typeface="+mn-lt"/>
                              <a:cs typeface="ADLaM Display" panose="02010000000000000000" pitchFamily="2" charset="0"/>
                            </a:rPr>
                            <a:t>a</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53212">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2430505429"/>
                      </a:ext>
                    </a:extLst>
                  </a:tr>
                  <a:tr h="1513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1513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0.01 *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X</a:t>
                          </a:r>
                          <a:r>
                            <a:rPr lang="en-US" altLang="zh-TW" sz="1000" b="0" baseline="-25000" dirty="0">
                              <a:solidFill>
                                <a:schemeClr val="tx1"/>
                              </a:solidFill>
                              <a:latin typeface="+mn-lt"/>
                              <a:cs typeface="ADLaM Display" panose="02010000000000000000" pitchFamily="2" charset="0"/>
                            </a:rPr>
                            <a:t>2</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tx1"/>
                              </a:solidFill>
                              <a:latin typeface="+mn-lt"/>
                              <a:cs typeface="ADLaM Display" panose="02010000000000000000" pitchFamily="2" charset="0"/>
                            </a:rPr>
                            <a:t>* 2(0.5-5)</a:t>
                          </a:r>
                          <a:endParaRPr dirty="0">
                            <a:latin typeface="+mn-lt"/>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15131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mn-lt"/>
                              <a:cs typeface="ADLaM Display" panose="02010000000000000000" pitchFamily="2" charset="0"/>
                            </a:rPr>
                            <a:t>0.01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mn-lt"/>
                              <a:cs typeface="ADLaM Display" panose="02010000000000000000" pitchFamily="2" charset="0"/>
                            </a:rPr>
                            <a:t>X</a:t>
                          </a:r>
                          <a:r>
                            <a:rPr lang="en-US" altLang="zh-TW" sz="1000" b="0" baseline="-25000" dirty="0">
                              <a:solidFill>
                                <a:schemeClr val="tx1"/>
                              </a:solidFill>
                              <a:latin typeface="+mn-lt"/>
                              <a:cs typeface="ADLaM Display" panose="02010000000000000000" pitchFamily="2" charset="0"/>
                            </a:rPr>
                            <a:t>1</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tx1"/>
                              </a:solidFill>
                              <a:latin typeface="+mn-lt"/>
                              <a:cs typeface="ADLaM Display" panose="02010000000000000000" pitchFamily="2" charset="0"/>
                            </a:rPr>
                            <a:t>* 2(0.5-5)</a:t>
                          </a:r>
                          <a:endParaRPr dirty="0">
                            <a:latin typeface="+mn-lt"/>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5131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0.01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 1</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tx1"/>
                              </a:solidFill>
                              <a:latin typeface="+mn-lt"/>
                              <a:cs typeface="ADLaM Display" panose="02010000000000000000" pitchFamily="2" charset="0"/>
                            </a:rPr>
                            <a:t>* 2(0.5-5)</a:t>
                          </a:r>
                          <a:endParaRPr dirty="0">
                            <a:latin typeface="+mn-lt"/>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513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513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0.01 *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X</a:t>
                          </a:r>
                          <a:r>
                            <a:rPr lang="en-US" altLang="zh-TW" sz="1000" b="0" baseline="-25000" dirty="0">
                              <a:solidFill>
                                <a:schemeClr val="tx1"/>
                              </a:solidFill>
                              <a:latin typeface="+mn-lt"/>
                              <a:cs typeface="ADLaM Display" panose="02010000000000000000" pitchFamily="2" charset="0"/>
                            </a:rPr>
                            <a:t>2</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 2(2.1-5)</a:t>
                          </a:r>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5131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mn-lt"/>
                              <a:cs typeface="ADLaM Display" panose="02010000000000000000" pitchFamily="2" charset="0"/>
                            </a:rPr>
                            <a:t>0.01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mn-lt"/>
                              <a:cs typeface="ADLaM Display" panose="02010000000000000000" pitchFamily="2" charset="0"/>
                            </a:rPr>
                            <a:t>X</a:t>
                          </a:r>
                          <a:r>
                            <a:rPr lang="en-US" altLang="zh-TW" sz="1000" b="0" baseline="-25000" dirty="0">
                              <a:solidFill>
                                <a:schemeClr val="tx1"/>
                              </a:solidFill>
                              <a:latin typeface="+mn-lt"/>
                              <a:cs typeface="ADLaM Display" panose="02010000000000000000" pitchFamily="2" charset="0"/>
                            </a:rPr>
                            <a:t>1</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tx1"/>
                              </a:solidFill>
                              <a:latin typeface="+mn-lt"/>
                              <a:cs typeface="ADLaM Display" panose="02010000000000000000" pitchFamily="2" charset="0"/>
                            </a:rPr>
                            <a:t>* 2(2.1-5)</a:t>
                          </a:r>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513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0.01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1</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 2(2.1-5)</a:t>
                          </a:r>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1513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1513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15131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mn-lt"/>
                              <a:cs typeface="ADLaM Display" panose="02010000000000000000" pitchFamily="2" charset="0"/>
                            </a:rPr>
                            <a:t>…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151317">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bl>
              </a:graphicData>
            </a:graphic>
          </p:graphicFrame>
        </mc:Choice>
        <mc:Fallback>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686953037"/>
                  </p:ext>
                </p:extLst>
              </p:nvPr>
            </p:nvGraphicFramePr>
            <p:xfrm>
              <a:off x="253322" y="1505639"/>
              <a:ext cx="7565933" cy="2317257"/>
            </p:xfrm>
            <a:graphic>
              <a:graphicData uri="http://schemas.openxmlformats.org/drawingml/2006/table">
                <a:tbl>
                  <a:tblPr firstRow="1" bandRow="1">
                    <a:tableStyleId>{5C22544A-7EE6-4342-B048-85BDC9FD1C3A}</a:tableStyleId>
                  </a:tblPr>
                  <a:tblGrid>
                    <a:gridCol w="781052">
                      <a:extLst>
                        <a:ext uri="{9D8B030D-6E8A-4147-A177-3AD203B41FA5}">
                          <a16:colId xmlns:a16="http://schemas.microsoft.com/office/drawing/2014/main" val="871242339"/>
                        </a:ext>
                      </a:extLst>
                    </a:gridCol>
                    <a:gridCol w="330548">
                      <a:extLst>
                        <a:ext uri="{9D8B030D-6E8A-4147-A177-3AD203B41FA5}">
                          <a16:colId xmlns:a16="http://schemas.microsoft.com/office/drawing/2014/main" val="1201755844"/>
                        </a:ext>
                      </a:extLst>
                    </a:gridCol>
                    <a:gridCol w="555799">
                      <a:extLst>
                        <a:ext uri="{9D8B030D-6E8A-4147-A177-3AD203B41FA5}">
                          <a16:colId xmlns:a16="http://schemas.microsoft.com/office/drawing/2014/main" val="506512337"/>
                        </a:ext>
                      </a:extLst>
                    </a:gridCol>
                    <a:gridCol w="555799">
                      <a:extLst>
                        <a:ext uri="{9D8B030D-6E8A-4147-A177-3AD203B41FA5}">
                          <a16:colId xmlns:a16="http://schemas.microsoft.com/office/drawing/2014/main" val="1340741050"/>
                        </a:ext>
                      </a:extLst>
                    </a:gridCol>
                    <a:gridCol w="555799">
                      <a:extLst>
                        <a:ext uri="{9D8B030D-6E8A-4147-A177-3AD203B41FA5}">
                          <a16:colId xmlns:a16="http://schemas.microsoft.com/office/drawing/2014/main" val="3047107006"/>
                        </a:ext>
                      </a:extLst>
                    </a:gridCol>
                    <a:gridCol w="139477">
                      <a:extLst>
                        <a:ext uri="{9D8B030D-6E8A-4147-A177-3AD203B41FA5}">
                          <a16:colId xmlns:a16="http://schemas.microsoft.com/office/drawing/2014/main" val="3476142927"/>
                        </a:ext>
                      </a:extLst>
                    </a:gridCol>
                    <a:gridCol w="530623">
                      <a:extLst>
                        <a:ext uri="{9D8B030D-6E8A-4147-A177-3AD203B41FA5}">
                          <a16:colId xmlns:a16="http://schemas.microsoft.com/office/drawing/2014/main" val="1264719254"/>
                        </a:ext>
                      </a:extLst>
                    </a:gridCol>
                    <a:gridCol w="144016">
                      <a:extLst>
                        <a:ext uri="{9D8B030D-6E8A-4147-A177-3AD203B41FA5}">
                          <a16:colId xmlns:a16="http://schemas.microsoft.com/office/drawing/2014/main" val="667147628"/>
                        </a:ext>
                      </a:extLst>
                    </a:gridCol>
                    <a:gridCol w="514859">
                      <a:extLst>
                        <a:ext uri="{9D8B030D-6E8A-4147-A177-3AD203B41FA5}">
                          <a16:colId xmlns:a16="http://schemas.microsoft.com/office/drawing/2014/main" val="1863192475"/>
                        </a:ext>
                      </a:extLst>
                    </a:gridCol>
                    <a:gridCol w="356850">
                      <a:extLst>
                        <a:ext uri="{9D8B030D-6E8A-4147-A177-3AD203B41FA5}">
                          <a16:colId xmlns:a16="http://schemas.microsoft.com/office/drawing/2014/main" val="720974766"/>
                        </a:ext>
                      </a:extLst>
                    </a:gridCol>
                    <a:gridCol w="1000499">
                      <a:extLst>
                        <a:ext uri="{9D8B030D-6E8A-4147-A177-3AD203B41FA5}">
                          <a16:colId xmlns:a16="http://schemas.microsoft.com/office/drawing/2014/main" val="2940898418"/>
                        </a:ext>
                      </a:extLst>
                    </a:gridCol>
                    <a:gridCol w="72008">
                      <a:extLst>
                        <a:ext uri="{9D8B030D-6E8A-4147-A177-3AD203B41FA5}">
                          <a16:colId xmlns:a16="http://schemas.microsoft.com/office/drawing/2014/main" val="914629326"/>
                        </a:ext>
                      </a:extLst>
                    </a:gridCol>
                    <a:gridCol w="720080">
                      <a:extLst>
                        <a:ext uri="{9D8B030D-6E8A-4147-A177-3AD203B41FA5}">
                          <a16:colId xmlns:a16="http://schemas.microsoft.com/office/drawing/2014/main" val="750920784"/>
                        </a:ext>
                      </a:extLst>
                    </a:gridCol>
                    <a:gridCol w="725565">
                      <a:extLst>
                        <a:ext uri="{9D8B030D-6E8A-4147-A177-3AD203B41FA5}">
                          <a16:colId xmlns:a16="http://schemas.microsoft.com/office/drawing/2014/main" val="3374793549"/>
                        </a:ext>
                      </a:extLst>
                    </a:gridCol>
                    <a:gridCol w="582959">
                      <a:extLst>
                        <a:ext uri="{9D8B030D-6E8A-4147-A177-3AD203B41FA5}">
                          <a16:colId xmlns:a16="http://schemas.microsoft.com/office/drawing/2014/main" val="132511825"/>
                        </a:ext>
                      </a:extLst>
                    </a:gridCol>
                  </a:tblGrid>
                  <a:tr h="235245">
                    <a:tc rowSpan="2">
                      <a:txBody>
                        <a:bodyPr/>
                        <a:lstStyle/>
                        <a:p>
                          <a:pPr algn="ctr"/>
                          <a:r>
                            <a:rPr lang="en-US" altLang="zh-TW" sz="1200" b="0" dirty="0">
                              <a:solidFill>
                                <a:schemeClr val="tx2">
                                  <a:lumMod val="50000"/>
                                </a:schemeClr>
                              </a:solidFill>
                              <a:latin typeface="+mn-lt"/>
                              <a:cs typeface="ADLaM Display" panose="02010000000000000000" pitchFamily="2" charset="0"/>
                            </a:rPr>
                            <a:t>Input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r>
                            <a:rPr lang="en-US" altLang="zh-TW" sz="1200" b="0" dirty="0">
                              <a:solidFill>
                                <a:schemeClr val="tx2">
                                  <a:lumMod val="50000"/>
                                </a:schemeClr>
                              </a:solidFill>
                              <a:latin typeface="+mn-lt"/>
                              <a:cs typeface="ADLaM Display" panose="02010000000000000000" pitchFamily="2" charset="0"/>
                            </a:rPr>
                            <a:t>Weight</a:t>
                          </a:r>
                        </a:p>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r>
                            <a:rPr lang="en-US" altLang="zh-TW" sz="1200" b="0" dirty="0">
                              <a:solidFill>
                                <a:schemeClr val="tx2">
                                  <a:lumMod val="50000"/>
                                </a:schemeClr>
                              </a:solidFill>
                              <a:latin typeface="+mn-lt"/>
                              <a:cs typeface="ADLaM Display" panose="02010000000000000000" pitchFamily="2" charset="0"/>
                            </a:rPr>
                            <a:t>Output</a:t>
                          </a:r>
                        </a:p>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r>
                            <a:rPr lang="en-US" altLang="zh-TW" sz="1200" b="0" dirty="0">
                              <a:solidFill>
                                <a:schemeClr val="tx2">
                                  <a:lumMod val="50000"/>
                                </a:schemeClr>
                              </a:solidFill>
                              <a:latin typeface="+mn-lt"/>
                              <a:cs typeface="ADLaM Display" panose="02010000000000000000" pitchFamily="2" charset="0"/>
                            </a:rPr>
                            <a:t>ReLU(Y)</a:t>
                          </a:r>
                        </a:p>
                        <a:p>
                          <a:pPr algn="ctr"/>
                          <a:r>
                            <a:rPr lang="en-US" altLang="zh-TW" sz="1200" b="0" dirty="0">
                              <a:solidFill>
                                <a:schemeClr val="tx2">
                                  <a:lumMod val="50000"/>
                                </a:schemeClr>
                              </a:solidFill>
                              <a:latin typeface="+mn-lt"/>
                              <a:cs typeface="ADLaM Display" panose="02010000000000000000" pitchFamily="2" charset="0"/>
                            </a:rPr>
                            <a:t>a</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rowSpan="2">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771186" t="-3704" r="-182203" b="-386420"/>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63866" t="-3704" r="-80672" b="-386420"/>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53212">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302691" t="-100000" r="-154709" b="-745238"/>
                          </a:stretch>
                        </a:blipFill>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2430505429"/>
                      </a:ext>
                    </a:extLst>
                  </a:tr>
                  <a:tr h="152400">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152400">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0.01 *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X</a:t>
                          </a:r>
                          <a:r>
                            <a:rPr lang="en-US" altLang="zh-TW" sz="1000" b="0" baseline="-25000" dirty="0">
                              <a:solidFill>
                                <a:schemeClr val="tx1"/>
                              </a:solidFill>
                              <a:latin typeface="+mn-lt"/>
                              <a:cs typeface="ADLaM Display" panose="02010000000000000000" pitchFamily="2" charset="0"/>
                            </a:rPr>
                            <a:t>2</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tx1"/>
                              </a:solidFill>
                              <a:latin typeface="+mn-lt"/>
                              <a:cs typeface="ADLaM Display" panose="02010000000000000000" pitchFamily="2" charset="0"/>
                            </a:rPr>
                            <a:t>* 2(0.5-5)</a:t>
                          </a:r>
                          <a:endParaRPr dirty="0">
                            <a:latin typeface="+mn-lt"/>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152400">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mn-lt"/>
                              <a:cs typeface="ADLaM Display" panose="02010000000000000000" pitchFamily="2" charset="0"/>
                            </a:rPr>
                            <a:t>0.01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mn-lt"/>
                              <a:cs typeface="ADLaM Display" panose="02010000000000000000" pitchFamily="2" charset="0"/>
                            </a:rPr>
                            <a:t>X</a:t>
                          </a:r>
                          <a:r>
                            <a:rPr lang="en-US" altLang="zh-TW" sz="1000" b="0" baseline="-25000" dirty="0">
                              <a:solidFill>
                                <a:schemeClr val="tx1"/>
                              </a:solidFill>
                              <a:latin typeface="+mn-lt"/>
                              <a:cs typeface="ADLaM Display" panose="02010000000000000000" pitchFamily="2" charset="0"/>
                            </a:rPr>
                            <a:t>1</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tx1"/>
                              </a:solidFill>
                              <a:latin typeface="+mn-lt"/>
                              <a:cs typeface="ADLaM Display" panose="02010000000000000000" pitchFamily="2" charset="0"/>
                            </a:rPr>
                            <a:t>* 2(0.5-5)</a:t>
                          </a:r>
                          <a:endParaRPr dirty="0">
                            <a:latin typeface="+mn-lt"/>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5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0.01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 1</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tx1"/>
                              </a:solidFill>
                              <a:latin typeface="+mn-lt"/>
                              <a:cs typeface="ADLaM Display" panose="02010000000000000000" pitchFamily="2" charset="0"/>
                            </a:rPr>
                            <a:t>* 2(0.5-5)</a:t>
                          </a:r>
                          <a:endParaRPr dirty="0">
                            <a:latin typeface="+mn-lt"/>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152400">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152400">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0.01 *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X</a:t>
                          </a:r>
                          <a:r>
                            <a:rPr lang="en-US" altLang="zh-TW" sz="1000" b="0" baseline="-25000" dirty="0">
                              <a:solidFill>
                                <a:schemeClr val="tx1"/>
                              </a:solidFill>
                              <a:latin typeface="+mn-lt"/>
                              <a:cs typeface="ADLaM Display" panose="02010000000000000000" pitchFamily="2" charset="0"/>
                            </a:rPr>
                            <a:t>2</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 2(2.1-5)</a:t>
                          </a:r>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152400">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mn-lt"/>
                              <a:cs typeface="ADLaM Display" panose="02010000000000000000" pitchFamily="2" charset="0"/>
                            </a:rPr>
                            <a:t>0.01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mn-lt"/>
                              <a:cs typeface="ADLaM Display" panose="02010000000000000000" pitchFamily="2" charset="0"/>
                            </a:rPr>
                            <a:t>X</a:t>
                          </a:r>
                          <a:r>
                            <a:rPr lang="en-US" altLang="zh-TW" sz="1000" b="0" baseline="-25000" dirty="0">
                              <a:solidFill>
                                <a:schemeClr val="tx1"/>
                              </a:solidFill>
                              <a:latin typeface="+mn-lt"/>
                              <a:cs typeface="ADLaM Display" panose="02010000000000000000" pitchFamily="2" charset="0"/>
                            </a:rPr>
                            <a:t>1</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tx1"/>
                              </a:solidFill>
                              <a:latin typeface="+mn-lt"/>
                              <a:cs typeface="ADLaM Display" panose="02010000000000000000" pitchFamily="2" charset="0"/>
                            </a:rPr>
                            <a:t>* 2(2.1-5)</a:t>
                          </a:r>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152400">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0.01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1</a:t>
                          </a: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mn-lt"/>
                              <a:cs typeface="ADLaM Display" panose="02010000000000000000" pitchFamily="2" charset="0"/>
                            </a:rPr>
                            <a:t>* 2(2.1-5)</a:t>
                          </a:r>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152400">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152400">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152400">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mn-lt"/>
                              <a:cs typeface="ADLaM Display" panose="02010000000000000000" pitchFamily="2" charset="0"/>
                            </a:rPr>
                            <a:t>… </a:t>
                          </a: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152400">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mn-lt"/>
                            <a:cs typeface="ADLaM Display" panose="02010000000000000000" pitchFamily="2"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mn-lt"/>
                            <a:cs typeface="ADLaM Display" panose="02010000000000000000" pitchFamily="2"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Example</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ReLU and MSE</a:t>
            </a:r>
          </a:p>
        </p:txBody>
      </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pic>
        <p:nvPicPr>
          <p:cNvPr id="7" name="圖片 6">
            <a:extLst>
              <a:ext uri="{FF2B5EF4-FFF2-40B4-BE49-F238E27FC236}">
                <a16:creationId xmlns:a16="http://schemas.microsoft.com/office/drawing/2014/main" id="{C548BF71-4D01-8165-7351-86FF34B06B2E}"/>
              </a:ext>
              <a:ext uri="{C183D7F6-B498-43B3-948B-1728B52AA6E4}">
                <adec:decorative xmlns:adec="http://schemas.microsoft.com/office/drawing/2017/decorative" val="1"/>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4881357" y="135535"/>
            <a:ext cx="2880294" cy="158078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376065914"/>
              </p:ext>
            </p:extLst>
          </p:nvPr>
        </p:nvGraphicFramePr>
        <p:xfrm>
          <a:off x="1115616" y="1196752"/>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72" name="圖說文字: 直線 71">
            <a:extLst>
              <a:ext uri="{FF2B5EF4-FFF2-40B4-BE49-F238E27FC236}">
                <a16:creationId xmlns:a16="http://schemas.microsoft.com/office/drawing/2014/main" id="{585A9BF3-E7B2-7185-ED27-49F214F6148F}"/>
              </a:ext>
            </a:extLst>
          </p:cNvPr>
          <p:cNvSpPr/>
          <p:nvPr/>
        </p:nvSpPr>
        <p:spPr>
          <a:xfrm flipH="1">
            <a:off x="1547664" y="2636912"/>
            <a:ext cx="2776219" cy="1417098"/>
          </a:xfrm>
          <a:prstGeom prst="borderCallout1">
            <a:avLst>
              <a:gd name="adj1" fmla="val 17633"/>
              <a:gd name="adj2" fmla="val 8388"/>
              <a:gd name="adj3" fmla="val -32946"/>
              <a:gd name="adj4" fmla="val 3509"/>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2381257835"/>
              </p:ext>
            </p:extLst>
          </p:nvPr>
        </p:nvGraphicFramePr>
        <p:xfrm>
          <a:off x="1603626" y="2705381"/>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2702160026"/>
              </p:ext>
            </p:extLst>
          </p:nvPr>
        </p:nvGraphicFramePr>
        <p:xfrm>
          <a:off x="2555776" y="4237566"/>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2730877134"/>
              </p:ext>
            </p:extLst>
          </p:nvPr>
        </p:nvGraphicFramePr>
        <p:xfrm>
          <a:off x="5508104" y="2694929"/>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178814869"/>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Apple Perplexity</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Cursor (Anysphere)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r>
                        <a:rPr lang="zh-TW" altLang="en-US" sz="1200" b="0" cap="none" spc="0" dirty="0">
                          <a:ln w="0"/>
                          <a:solidFill>
                            <a:schemeClr val="tx1"/>
                          </a:solidFill>
                          <a:effectLst/>
                        </a:rPr>
                        <a:t> </a:t>
                      </a:r>
                      <a:r>
                        <a:rPr lang="en-US" altLang="zh-TW" sz="1200" b="0" cap="none" spc="0" dirty="0">
                          <a:ln w="0"/>
                          <a:solidFill>
                            <a:schemeClr val="tx1"/>
                          </a:solidFill>
                          <a:effectLst/>
                        </a:rPr>
                        <a:t>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Adobe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Tesla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Suno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Waymo</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780969409"/>
              </p:ext>
            </p:extLst>
          </p:nvPr>
        </p:nvGraphicFramePr>
        <p:xfrm>
          <a:off x="5580112" y="4286876"/>
          <a:ext cx="3384376" cy="1274939"/>
        </p:xfrm>
        <a:graphic>
          <a:graphicData uri="http://schemas.openxmlformats.org/drawingml/2006/table">
            <a:tbl>
              <a:tblPr firstRow="1" bandRow="1">
                <a:tableStyleId>{5C22544A-7EE6-4342-B048-85BDC9FD1C3A}</a:tableStyleId>
              </a:tblPr>
              <a:tblGrid>
                <a:gridCol w="338437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a:t>
                      </a:r>
                      <a:r>
                        <a:rPr lang="en-US" altLang="zh-TW" sz="1200" b="0" cap="none" spc="0">
                          <a:ln w="0"/>
                          <a:solidFill>
                            <a:schemeClr val="tx1"/>
                          </a:solidFill>
                          <a:effectLst/>
                        </a:rPr>
                        <a:t>Horizon Robotics</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4227167" y="1049313"/>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3057737227"/>
              </p:ext>
            </p:extLst>
          </p:nvPr>
        </p:nvGraphicFramePr>
        <p:xfrm>
          <a:off x="395536" y="5609042"/>
          <a:ext cx="4532503" cy="793654"/>
        </p:xfrm>
        <a:graphic>
          <a:graphicData uri="http://schemas.openxmlformats.org/drawingml/2006/table">
            <a:tbl>
              <a:tblPr firstRow="1" bandRow="1">
                <a:tableStyleId>{5C22544A-7EE6-4342-B048-85BDC9FD1C3A}</a:tableStyleId>
              </a:tblPr>
              <a:tblGrid>
                <a:gridCol w="1133126">
                  <a:extLst>
                    <a:ext uri="{9D8B030D-6E8A-4147-A177-3AD203B41FA5}">
                      <a16:colId xmlns:a16="http://schemas.microsoft.com/office/drawing/2014/main" val="1752187802"/>
                    </a:ext>
                  </a:extLst>
                </a:gridCol>
                <a:gridCol w="1133126">
                  <a:extLst>
                    <a:ext uri="{9D8B030D-6E8A-4147-A177-3AD203B41FA5}">
                      <a16:colId xmlns:a16="http://schemas.microsoft.com/office/drawing/2014/main" val="673498157"/>
                    </a:ext>
                  </a:extLst>
                </a:gridCol>
                <a:gridCol w="995777">
                  <a:extLst>
                    <a:ext uri="{9D8B030D-6E8A-4147-A177-3AD203B41FA5}">
                      <a16:colId xmlns:a16="http://schemas.microsoft.com/office/drawing/2014/main" val="190418895"/>
                    </a:ext>
                  </a:extLst>
                </a:gridCol>
                <a:gridCol w="1270474">
                  <a:extLst>
                    <a:ext uri="{9D8B030D-6E8A-4147-A177-3AD203B41FA5}">
                      <a16:colId xmlns:a16="http://schemas.microsoft.com/office/drawing/2014/main" val="3756933833"/>
                    </a:ext>
                  </a:extLst>
                </a:gridCol>
              </a:tblGrid>
              <a:tr h="245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45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Specification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(GGUF, ONNX)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NPU</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4957744"/>
                  </a:ext>
                </a:extLst>
              </a:tr>
            </a:tbl>
          </a:graphicData>
        </a:graphic>
      </p:graphicFrame>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6415</Words>
  <Application>Microsoft Office PowerPoint</Application>
  <PresentationFormat>如螢幕大小 (4:3)</PresentationFormat>
  <Paragraphs>1280</Paragraphs>
  <Slides>21</Slides>
  <Notes>19</Notes>
  <HiddenSlides>1</HiddenSlides>
  <MMClips>0</MMClips>
  <ScaleCrop>false</ScaleCrop>
  <HeadingPairs>
    <vt:vector size="6" baseType="variant">
      <vt:variant>
        <vt:lpstr>使用字型</vt:lpstr>
      </vt:variant>
      <vt:variant>
        <vt:i4>14</vt:i4>
      </vt:variant>
      <vt:variant>
        <vt:lpstr>佈景主題</vt:lpstr>
      </vt:variant>
      <vt:variant>
        <vt:i4>1</vt:i4>
      </vt:variant>
      <vt:variant>
        <vt:lpstr>投影片標題</vt:lpstr>
      </vt:variant>
      <vt:variant>
        <vt:i4>21</vt:i4>
      </vt:variant>
    </vt:vector>
  </HeadingPairs>
  <TitlesOfParts>
    <vt:vector size="36"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1703</cp:revision>
  <cp:lastPrinted>2024-07-30T01:44:15Z</cp:lastPrinted>
  <dcterms:created xsi:type="dcterms:W3CDTF">2019-11-08T03:01:47Z</dcterms:created>
  <dcterms:modified xsi:type="dcterms:W3CDTF">2026-07-09T14:23:01Z</dcterms:modified>
</cp:coreProperties>
</file>