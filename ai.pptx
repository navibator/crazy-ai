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10"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9"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0"/>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9"/>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B8EACA"/>
    <a:srgbClr val="FF0000"/>
    <a:srgbClr val="FEC203"/>
    <a:srgbClr val="F8D462"/>
    <a:srgbClr val="FEF1E9"/>
    <a:srgbClr val="FFCCCC"/>
    <a:srgbClr val="B7C9E7"/>
    <a:srgbClr val="9E7800"/>
    <a:srgbClr val="DAA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238" autoAdjust="0"/>
  </p:normalViewPr>
  <p:slideViewPr>
    <p:cSldViewPr>
      <p:cViewPr>
        <p:scale>
          <a:sx n="100" d="100"/>
          <a:sy n="100" d="100"/>
        </p:scale>
        <p:origin x="654" y="22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2026/7/19</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2026/7/19</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8.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2026/7/19</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par>
                                <p:cTn id="79" presetID="3" presetClass="emph" presetSubtype="2" fill="hold" grpId="1" nodeType="withEffect">
                                  <p:stCondLst>
                                    <p:cond delay="0"/>
                                  </p:stCondLst>
                                  <p:childTnLst>
                                    <p:animClr clrSpc="rgb" dir="cw">
                                      <p:cBhvr override="childStyle">
                                        <p:cTn id="80" dur="2000" fill="hold"/>
                                        <p:tgtEl>
                                          <p:spTgt spid="2">
                                            <p:txEl>
                                              <p:pRg st="14" end="14"/>
                                            </p:txEl>
                                          </p:spTgt>
                                        </p:tgtEl>
                                        <p:attrNameLst>
                                          <p:attrName>style.color</p:attrName>
                                        </p:attrNameLst>
                                      </p:cBhvr>
                                      <p:to>
                                        <a:srgbClr val="4D4D4D"/>
                                      </p:to>
                                    </p:animClr>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2" nodeType="clickEffect">
                                  <p:stCondLst>
                                    <p:cond delay="0"/>
                                  </p:stCondLst>
                                  <p:childTnLst>
                                    <p:set>
                                      <p:cBhvr>
                                        <p:cTn id="84" dur="1" fill="hold">
                                          <p:stCondLst>
                                            <p:cond delay="0"/>
                                          </p:stCondLst>
                                        </p:cTn>
                                        <p:tgtEl>
                                          <p:spTgt spid="2">
                                            <p:bg/>
                                          </p:spTgt>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0" nodeType="withEffect">
                                  <p:stCondLst>
                                    <p:cond delay="0"/>
                                  </p:stCondLst>
                                  <p:childTnLst>
                                    <p:animClr clrSpc="rgb" dir="cw">
                                      <p:cBhvr override="childStyle">
                                        <p:cTn id="9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1" nodeType="withEffect">
                                  <p:stCondLst>
                                    <p:cond delay="0"/>
                                  </p:stCondLst>
                                  <p:childTnLst>
                                    <p:animClr clrSpc="rgb" dir="cw">
                                      <p:cBhvr override="childStyle">
                                        <p:cTn id="100" dur="2000" fill="hold"/>
                                        <p:tgtEl>
                                          <p:spTgt spid="2">
                                            <p:txEl>
                                              <p:pRg st="7" end="7"/>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9" end="9"/>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0" end="10"/>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1" end="11"/>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12" end="12"/>
                                            </p:txEl>
                                          </p:spTgt>
                                        </p:tgtEl>
                                        <p:attrNameLst>
                                          <p:attrName>style.color</p:attrName>
                                        </p:attrNameLst>
                                      </p:cBhvr>
                                      <p:to>
                                        <a:srgbClr val="4D4D4D"/>
                                      </p:to>
                                    </p:animClr>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2" nodeType="clickEffect">
                                  <p:stCondLst>
                                    <p:cond delay="0"/>
                                  </p:stCondLst>
                                  <p:childTnLst>
                                    <p:set>
                                      <p:cBhvr>
                                        <p:cTn id="11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文字方塊 6">
            <a:extLst>
              <a:ext uri="{FF2B5EF4-FFF2-40B4-BE49-F238E27FC236}">
                <a16:creationId xmlns:a16="http://schemas.microsoft.com/office/drawing/2014/main" id="{F23C254D-850E-3456-C991-33B62DF6C8A7}"/>
              </a:ext>
            </a:extLst>
          </p:cNvPr>
          <p:cNvSpPr txBox="1"/>
          <p:nvPr/>
        </p:nvSpPr>
        <p:spPr>
          <a:xfrm>
            <a:off x="845586" y="1305341"/>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9" name="文字方塊 8">
            <a:extLst>
              <a:ext uri="{FF2B5EF4-FFF2-40B4-BE49-F238E27FC236}">
                <a16:creationId xmlns:a16="http://schemas.microsoft.com/office/drawing/2014/main" id="{D0C6D584-650A-53AD-B342-F6817C0EFCF0}"/>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0291593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7">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7">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7">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7">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7">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7">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7">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7">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7">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7">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7">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7">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7">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7">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7">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7">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7">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7">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7">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7">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7">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7">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7">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7">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7">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7">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1" nodeType="withEffect">
                                  <p:stCondLst>
                                    <p:cond delay="0"/>
                                  </p:stCondLst>
                                  <p:childTnLst>
                                    <p:animClr clrSpc="rgb" dir="cw">
                                      <p:cBhvr override="childStyle">
                                        <p:cTn id="66" dur="2000" fill="hold"/>
                                        <p:tgtEl>
                                          <p:spTgt spid="7">
                                            <p:txEl>
                                              <p:pRg st="12" end="12"/>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7">
                                            <p:txEl>
                                              <p:pRg st="13" end="13"/>
                                            </p:txEl>
                                          </p:spTgt>
                                        </p:tgtEl>
                                        <p:attrNameLst>
                                          <p:attrName>style.color</p:attrName>
                                        </p:attrNameLst>
                                      </p:cBhvr>
                                      <p:to>
                                        <a:srgbClr val="D8A09C"/>
                                      </p:to>
                                    </p:animClr>
                                  </p:childTnLst>
                                </p:cTn>
                              </p:par>
                            </p:childTnLst>
                          </p:cTn>
                        </p:par>
                      </p:childTnLst>
                    </p:cTn>
                  </p:par>
                  <p:par>
                    <p:cTn id="69" fill="hold">
                      <p:stCondLst>
                        <p:cond delay="indefinite"/>
                      </p:stCondLst>
                      <p:childTnLst>
                        <p:par>
                          <p:cTn id="70" fill="hold">
                            <p:stCondLst>
                              <p:cond delay="0"/>
                            </p:stCondLst>
                            <p:childTnLst>
                              <p:par>
                                <p:cTn id="71" presetID="1" presetClass="exit" presetSubtype="0" fill="hold" grpId="2" nodeType="clickEffect">
                                  <p:stCondLst>
                                    <p:cond delay="0"/>
                                  </p:stCondLst>
                                  <p:childTnLst>
                                    <p:set>
                                      <p:cBhvr>
                                        <p:cTn id="72" dur="1" fill="hold">
                                          <p:stCondLst>
                                            <p:cond delay="0"/>
                                          </p:stCondLst>
                                        </p:cTn>
                                        <p:tgtEl>
                                          <p:spTgt spid="7">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allAtOnce"/>
      <p:bldP spid="7" grpId="1" uiExpand="1" build="allAtOnce"/>
      <p:bldP spid="7"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094057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0079A64A-2550-BDDD-1895-D21B3B79A4F8}"/>
              </a:ext>
            </a:extLst>
          </p:cNvPr>
          <p:cNvSpPr txBox="1"/>
          <p:nvPr/>
        </p:nvSpPr>
        <p:spPr>
          <a:xfrm>
            <a:off x="7848364" y="44624"/>
            <a:ext cx="1201611"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a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
        <p:nvSpPr>
          <p:cNvPr id="14" name="文字方塊 13">
            <a:extLst>
              <a:ext uri="{FF2B5EF4-FFF2-40B4-BE49-F238E27FC236}">
                <a16:creationId xmlns:a16="http://schemas.microsoft.com/office/drawing/2014/main" id="{8C23CE64-A4EF-D92F-0A4C-519787969E65}"/>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a:t>
            </a:r>
            <a:r>
              <a:rPr lang="en-US" altLang="zh-TW" sz="1000" b="1" dirty="0">
                <a:solidFill>
                  <a:srgbClr val="FF0000"/>
                </a:solidFill>
              </a:rPr>
              <a:t>Transformer</a:t>
            </a:r>
            <a:endParaRPr lang="en-US" altLang="zh-TW" sz="1000" dirty="0">
              <a:solidFill>
                <a:srgbClr val="FF0000"/>
              </a:solidFill>
            </a:endParaRPr>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197749"/>
                <a:gd name="csY0" fmla="*/ 29618 h 1008111"/>
                <a:gd name="csX1" fmla="*/ 29618 w 4197749"/>
                <a:gd name="csY1" fmla="*/ 0 h 1008111"/>
                <a:gd name="csX2" fmla="*/ 620834 w 4197749"/>
                <a:gd name="csY2" fmla="*/ 0 h 1008111"/>
                <a:gd name="csX3" fmla="*/ 1129280 w 4197749"/>
                <a:gd name="csY3" fmla="*/ 0 h 1008111"/>
                <a:gd name="csX4" fmla="*/ 1761881 w 4197749"/>
                <a:gd name="csY4" fmla="*/ 0 h 1008111"/>
                <a:gd name="csX5" fmla="*/ 2270327 w 4197749"/>
                <a:gd name="csY5" fmla="*/ 0 h 1008111"/>
                <a:gd name="csX6" fmla="*/ 2902928 w 4197749"/>
                <a:gd name="csY6" fmla="*/ 0 h 1008111"/>
                <a:gd name="csX7" fmla="*/ 3369989 w 4197749"/>
                <a:gd name="csY7" fmla="*/ 0 h 1008111"/>
                <a:gd name="csX8" fmla="*/ 4168131 w 4197749"/>
                <a:gd name="csY8" fmla="*/ 0 h 1008111"/>
                <a:gd name="csX9" fmla="*/ 4197749 w 4197749"/>
                <a:gd name="csY9" fmla="*/ 29618 h 1008111"/>
                <a:gd name="csX10" fmla="*/ 4197749 w 4197749"/>
                <a:gd name="csY10" fmla="*/ 504056 h 1008111"/>
                <a:gd name="csX11" fmla="*/ 4197749 w 4197749"/>
                <a:gd name="csY11" fmla="*/ 978493 h 1008111"/>
                <a:gd name="csX12" fmla="*/ 4168131 w 4197749"/>
                <a:gd name="csY12" fmla="*/ 1008111 h 1008111"/>
                <a:gd name="csX13" fmla="*/ 3659685 w 4197749"/>
                <a:gd name="csY13" fmla="*/ 1008111 h 1008111"/>
                <a:gd name="csX14" fmla="*/ 3109854 w 4197749"/>
                <a:gd name="csY14" fmla="*/ 1008111 h 1008111"/>
                <a:gd name="csX15" fmla="*/ 2518638 w 4197749"/>
                <a:gd name="csY15" fmla="*/ 1008111 h 1008111"/>
                <a:gd name="csX16" fmla="*/ 2010192 w 4197749"/>
                <a:gd name="csY16" fmla="*/ 1008111 h 1008111"/>
                <a:gd name="csX17" fmla="*/ 1336206 w 4197749"/>
                <a:gd name="csY17" fmla="*/ 1008111 h 1008111"/>
                <a:gd name="csX18" fmla="*/ 744990 w 4197749"/>
                <a:gd name="csY18" fmla="*/ 1008111 h 1008111"/>
                <a:gd name="csX19" fmla="*/ 29618 w 4197749"/>
                <a:gd name="csY19" fmla="*/ 1008111 h 1008111"/>
                <a:gd name="csX20" fmla="*/ 0 w 4197749"/>
                <a:gd name="csY20" fmla="*/ 978493 h 1008111"/>
                <a:gd name="csX21" fmla="*/ 0 w 4197749"/>
                <a:gd name="csY21" fmla="*/ 485078 h 1008111"/>
                <a:gd name="csX22" fmla="*/ 0 w 4197749"/>
                <a:gd name="csY22" fmla="*/ 29618 h 10081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197749" h="1008111" fill="none" extrusionOk="0">
                  <a:moveTo>
                    <a:pt x="0" y="29618"/>
                  </a:moveTo>
                  <a:cubicBezTo>
                    <a:pt x="-1187" y="13193"/>
                    <a:pt x="16013" y="2370"/>
                    <a:pt x="29618" y="0"/>
                  </a:cubicBezTo>
                  <a:cubicBezTo>
                    <a:pt x="234892" y="-30474"/>
                    <a:pt x="396235" y="19266"/>
                    <a:pt x="620834" y="0"/>
                  </a:cubicBezTo>
                  <a:cubicBezTo>
                    <a:pt x="845433" y="-19266"/>
                    <a:pt x="935642" y="25574"/>
                    <a:pt x="1129280" y="0"/>
                  </a:cubicBezTo>
                  <a:cubicBezTo>
                    <a:pt x="1322918" y="-25574"/>
                    <a:pt x="1590372" y="71319"/>
                    <a:pt x="1761881" y="0"/>
                  </a:cubicBezTo>
                  <a:cubicBezTo>
                    <a:pt x="1933390" y="-71319"/>
                    <a:pt x="2163954" y="40013"/>
                    <a:pt x="2270327" y="0"/>
                  </a:cubicBezTo>
                  <a:cubicBezTo>
                    <a:pt x="2376700" y="-40013"/>
                    <a:pt x="2632304" y="71214"/>
                    <a:pt x="2902928" y="0"/>
                  </a:cubicBezTo>
                  <a:cubicBezTo>
                    <a:pt x="3173552" y="-71214"/>
                    <a:pt x="3147221" y="9749"/>
                    <a:pt x="3369989" y="0"/>
                  </a:cubicBezTo>
                  <a:cubicBezTo>
                    <a:pt x="3592757" y="-9749"/>
                    <a:pt x="3842943" y="8687"/>
                    <a:pt x="4168131" y="0"/>
                  </a:cubicBezTo>
                  <a:cubicBezTo>
                    <a:pt x="4186506" y="1870"/>
                    <a:pt x="4200604" y="11553"/>
                    <a:pt x="4197749" y="29618"/>
                  </a:cubicBezTo>
                  <a:cubicBezTo>
                    <a:pt x="4201045" y="256559"/>
                    <a:pt x="4166033" y="406926"/>
                    <a:pt x="4197749" y="504056"/>
                  </a:cubicBezTo>
                  <a:cubicBezTo>
                    <a:pt x="4229465" y="601186"/>
                    <a:pt x="4160455" y="778330"/>
                    <a:pt x="4197749" y="978493"/>
                  </a:cubicBezTo>
                  <a:cubicBezTo>
                    <a:pt x="4201881" y="993757"/>
                    <a:pt x="4184113" y="1010714"/>
                    <a:pt x="4168131" y="1008111"/>
                  </a:cubicBezTo>
                  <a:cubicBezTo>
                    <a:pt x="3993536" y="1021098"/>
                    <a:pt x="3783753" y="964619"/>
                    <a:pt x="3659685" y="1008111"/>
                  </a:cubicBezTo>
                  <a:cubicBezTo>
                    <a:pt x="3535617" y="1051603"/>
                    <a:pt x="3316306" y="942164"/>
                    <a:pt x="3109854" y="1008111"/>
                  </a:cubicBezTo>
                  <a:cubicBezTo>
                    <a:pt x="2903402" y="1074058"/>
                    <a:pt x="2765422" y="940372"/>
                    <a:pt x="2518638" y="1008111"/>
                  </a:cubicBezTo>
                  <a:cubicBezTo>
                    <a:pt x="2271854" y="1075850"/>
                    <a:pt x="2142242" y="952800"/>
                    <a:pt x="2010192" y="1008111"/>
                  </a:cubicBezTo>
                  <a:cubicBezTo>
                    <a:pt x="1878142" y="1063422"/>
                    <a:pt x="1482698" y="928412"/>
                    <a:pt x="1336206" y="1008111"/>
                  </a:cubicBezTo>
                  <a:cubicBezTo>
                    <a:pt x="1189714" y="1087810"/>
                    <a:pt x="977216" y="953117"/>
                    <a:pt x="744990" y="1008111"/>
                  </a:cubicBezTo>
                  <a:cubicBezTo>
                    <a:pt x="512764" y="1063105"/>
                    <a:pt x="266190" y="938949"/>
                    <a:pt x="29618" y="1008111"/>
                  </a:cubicBezTo>
                  <a:cubicBezTo>
                    <a:pt x="11183" y="1005735"/>
                    <a:pt x="2621" y="992015"/>
                    <a:pt x="0" y="978493"/>
                  </a:cubicBezTo>
                  <a:cubicBezTo>
                    <a:pt x="-7814" y="834884"/>
                    <a:pt x="3405" y="677473"/>
                    <a:pt x="0" y="485078"/>
                  </a:cubicBezTo>
                  <a:cubicBezTo>
                    <a:pt x="-3405" y="292684"/>
                    <a:pt x="12021" y="138544"/>
                    <a:pt x="0" y="29618"/>
                  </a:cubicBezTo>
                  <a:close/>
                </a:path>
                <a:path w="4197749" h="1008111" stroke="0" extrusionOk="0">
                  <a:moveTo>
                    <a:pt x="0" y="29618"/>
                  </a:moveTo>
                  <a:cubicBezTo>
                    <a:pt x="-1472" y="12352"/>
                    <a:pt x="10618" y="992"/>
                    <a:pt x="29618" y="0"/>
                  </a:cubicBezTo>
                  <a:cubicBezTo>
                    <a:pt x="171964" y="-57728"/>
                    <a:pt x="459250" y="47115"/>
                    <a:pt x="703604" y="0"/>
                  </a:cubicBezTo>
                  <a:cubicBezTo>
                    <a:pt x="947958" y="-47115"/>
                    <a:pt x="1096816" y="5822"/>
                    <a:pt x="1253435" y="0"/>
                  </a:cubicBezTo>
                  <a:cubicBezTo>
                    <a:pt x="1410054" y="-5822"/>
                    <a:pt x="1520035" y="49432"/>
                    <a:pt x="1761881" y="0"/>
                  </a:cubicBezTo>
                  <a:cubicBezTo>
                    <a:pt x="2003727" y="-49432"/>
                    <a:pt x="2184913" y="68160"/>
                    <a:pt x="2394483" y="0"/>
                  </a:cubicBezTo>
                  <a:cubicBezTo>
                    <a:pt x="2604053" y="-68160"/>
                    <a:pt x="2686665" y="33052"/>
                    <a:pt x="2944314" y="0"/>
                  </a:cubicBezTo>
                  <a:cubicBezTo>
                    <a:pt x="3201963" y="-33052"/>
                    <a:pt x="3482556" y="65554"/>
                    <a:pt x="3618300" y="0"/>
                  </a:cubicBezTo>
                  <a:cubicBezTo>
                    <a:pt x="3754044" y="-65554"/>
                    <a:pt x="4057629" y="28367"/>
                    <a:pt x="4168131" y="0"/>
                  </a:cubicBezTo>
                  <a:cubicBezTo>
                    <a:pt x="4182632" y="3071"/>
                    <a:pt x="4196666" y="12004"/>
                    <a:pt x="4197749" y="29618"/>
                  </a:cubicBezTo>
                  <a:cubicBezTo>
                    <a:pt x="4241760" y="135202"/>
                    <a:pt x="4167094" y="385034"/>
                    <a:pt x="4197749" y="485078"/>
                  </a:cubicBezTo>
                  <a:cubicBezTo>
                    <a:pt x="4228404" y="585122"/>
                    <a:pt x="4191431" y="879661"/>
                    <a:pt x="4197749" y="978493"/>
                  </a:cubicBezTo>
                  <a:cubicBezTo>
                    <a:pt x="4198712" y="993900"/>
                    <a:pt x="4185070" y="1007736"/>
                    <a:pt x="4168131" y="1008111"/>
                  </a:cubicBezTo>
                  <a:cubicBezTo>
                    <a:pt x="3927804" y="1029196"/>
                    <a:pt x="3695479" y="994048"/>
                    <a:pt x="3576915" y="1008111"/>
                  </a:cubicBezTo>
                  <a:cubicBezTo>
                    <a:pt x="3458351" y="1022174"/>
                    <a:pt x="3197118" y="1006137"/>
                    <a:pt x="3068469" y="1008111"/>
                  </a:cubicBezTo>
                  <a:cubicBezTo>
                    <a:pt x="2939820" y="1010085"/>
                    <a:pt x="2766897" y="955262"/>
                    <a:pt x="2477253" y="1008111"/>
                  </a:cubicBezTo>
                  <a:cubicBezTo>
                    <a:pt x="2187609" y="1060960"/>
                    <a:pt x="1969190" y="973325"/>
                    <a:pt x="1803266" y="1008111"/>
                  </a:cubicBezTo>
                  <a:cubicBezTo>
                    <a:pt x="1637342" y="1042897"/>
                    <a:pt x="1392630" y="937412"/>
                    <a:pt x="1212050" y="1008111"/>
                  </a:cubicBezTo>
                  <a:cubicBezTo>
                    <a:pt x="1031470" y="1078810"/>
                    <a:pt x="954547" y="956804"/>
                    <a:pt x="744990" y="1008111"/>
                  </a:cubicBezTo>
                  <a:cubicBezTo>
                    <a:pt x="535433" y="1059418"/>
                    <a:pt x="188475" y="990642"/>
                    <a:pt x="29618" y="1008111"/>
                  </a:cubicBezTo>
                  <a:cubicBezTo>
                    <a:pt x="17199" y="1005775"/>
                    <a:pt x="-2232" y="998394"/>
                    <a:pt x="0" y="978493"/>
                  </a:cubicBezTo>
                  <a:cubicBezTo>
                    <a:pt x="-54079" y="858737"/>
                    <a:pt x="3499" y="648455"/>
                    <a:pt x="0" y="513544"/>
                  </a:cubicBezTo>
                  <a:cubicBezTo>
                    <a:pt x="-3499" y="378633"/>
                    <a:pt x="31822" y="200071"/>
                    <a:pt x="0" y="29618"/>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Lower Parameter, Lower Computing Requirement.</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1287192701"/>
              </p:ext>
            </p:extLst>
          </p:nvPr>
        </p:nvGraphicFramePr>
        <p:xfrm>
          <a:off x="5148064" y="5101251"/>
          <a:ext cx="2665874" cy="992045"/>
        </p:xfrm>
        <a:graphic>
          <a:graphicData uri="http://schemas.openxmlformats.org/drawingml/2006/table">
            <a:tbl>
              <a:tblPr firstRow="1" bandRow="1">
                <a:tableStyleId>{5C22544A-7EE6-4342-B048-85BDC9FD1C3A}</a:tableStyleId>
              </a:tblPr>
              <a:tblGrid>
                <a:gridCol w="2665874">
                  <a:extLst>
                    <a:ext uri="{9D8B030D-6E8A-4147-A177-3AD203B41FA5}">
                      <a16:colId xmlns:a16="http://schemas.microsoft.com/office/drawing/2014/main" val="4512040"/>
                    </a:ext>
                  </a:extLst>
                </a:gridCol>
              </a:tblGrid>
              <a:tr h="26052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NPU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646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Alchip, Kneron, Neuchip,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3646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HiSillicon, Cambricon,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827584" y="3233163"/>
            <a:ext cx="3024336" cy="1796079"/>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3951995539"/>
              </p:ext>
            </p:extLst>
          </p:nvPr>
        </p:nvGraphicFramePr>
        <p:xfrm>
          <a:off x="5148064" y="1124744"/>
          <a:ext cx="2665874" cy="1440158"/>
        </p:xfrm>
        <a:graphic>
          <a:graphicData uri="http://schemas.openxmlformats.org/drawingml/2006/table">
            <a:tbl>
              <a:tblPr firstRow="1" bandRow="1">
                <a:tableStyleId>{5C22544A-7EE6-4342-B048-85BDC9FD1C3A}</a:tableStyleId>
              </a:tblPr>
              <a:tblGrid>
                <a:gridCol w="2665874">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Inference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4331556"/>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349112777"/>
              </p:ext>
            </p:extLst>
          </p:nvPr>
        </p:nvGraphicFramePr>
        <p:xfrm>
          <a:off x="5148064" y="2873511"/>
          <a:ext cx="2665874" cy="1851633"/>
        </p:xfrm>
        <a:graphic>
          <a:graphicData uri="http://schemas.openxmlformats.org/drawingml/2006/table">
            <a:tbl>
              <a:tblPr firstRow="1" bandRow="1">
                <a:tableStyleId>{5C22544A-7EE6-4342-B048-85BDC9FD1C3A}</a:tableStyleId>
              </a:tblPr>
              <a:tblGrid>
                <a:gridCol w="2665874">
                  <a:extLst>
                    <a:ext uri="{9D8B030D-6E8A-4147-A177-3AD203B41FA5}">
                      <a16:colId xmlns:a16="http://schemas.microsoft.com/office/drawing/2014/main" val="4512040"/>
                    </a:ext>
                  </a:extLst>
                </a:gridCol>
              </a:tblGrid>
              <a:tr h="41147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Agent Inference</a:t>
                      </a:r>
                      <a:endParaRPr kumimoji="0" lang="en-US" altLang="zh-TW" sz="1000" b="1" i="0" u="none" strike="noStrike" kern="1200" cap="none" spc="0" normalizeH="0" baseline="0" noProof="0" dirty="0">
                        <a:ln w="0"/>
                        <a:solidFill>
                          <a:schemeClr val="tx2"/>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5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GeForce,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205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tx2"/>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05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tx2"/>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205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tx2"/>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205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tx2"/>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205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205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cxnSp>
        <p:nvCxnSpPr>
          <p:cNvPr id="13" name="直線單箭頭接點 12">
            <a:extLst>
              <a:ext uri="{FF2B5EF4-FFF2-40B4-BE49-F238E27FC236}">
                <a16:creationId xmlns:a16="http://schemas.microsoft.com/office/drawing/2014/main" id="{556D14DB-8003-93B0-D26D-472ACFA463E7}"/>
              </a:ext>
            </a:extLst>
          </p:cNvPr>
          <p:cNvCxnSpPr>
            <a:cxnSpLocks/>
            <a:stCxn id="9" idx="2"/>
            <a:endCxn id="12" idx="0"/>
          </p:cNvCxnSpPr>
          <p:nvPr/>
        </p:nvCxnSpPr>
        <p:spPr>
          <a:xfrm>
            <a:off x="6481001" y="2564902"/>
            <a:ext cx="0" cy="308609"/>
          </a:xfrm>
          <a:prstGeom prst="straightConnector1">
            <a:avLst/>
          </a:prstGeom>
          <a:ln w="25400">
            <a:solidFill>
              <a:srgbClr val="FF9900"/>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1" name="文字方塊 50">
            <a:extLst>
              <a:ext uri="{FF2B5EF4-FFF2-40B4-BE49-F238E27FC236}">
                <a16:creationId xmlns:a16="http://schemas.microsoft.com/office/drawing/2014/main" id="{19F141FC-3987-6A16-0846-C496D5343E73}"/>
              </a:ext>
            </a:extLst>
          </p:cNvPr>
          <p:cNvSpPr txBox="1"/>
          <p:nvPr/>
        </p:nvSpPr>
        <p:spPr>
          <a:xfrm>
            <a:off x="287524" y="1196752"/>
            <a:ext cx="4860538" cy="1477328"/>
          </a:xfrm>
          <a:prstGeom prst="rect">
            <a:avLst/>
          </a:prstGeom>
          <a:noFill/>
        </p:spPr>
        <p:txBody>
          <a:bodyPr wrap="square">
            <a:spAutoFit/>
          </a:bodyPr>
          <a:lstStyle/>
          <a:p>
            <a:pPr>
              <a:lnSpc>
                <a:spcPts val="1800"/>
              </a:lnSpc>
              <a:spcBef>
                <a:spcPts val="600"/>
              </a:spcBef>
              <a:spcAft>
                <a:spcPts val="600"/>
              </a:spcAft>
            </a:pPr>
            <a:r>
              <a:rPr lang="en-US" altLang="zh-TW" sz="2000" b="1" dirty="0"/>
              <a:t>Summery</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Pre-Training</a:t>
            </a:r>
            <a:r>
              <a:rPr lang="en-US" altLang="zh-TW" sz="1600" dirty="0"/>
              <a:t>: Language </a:t>
            </a:r>
            <a:r>
              <a:rPr lang="en-US" altLang="zh-TW" sz="16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t> Reasoning.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Alignment</a:t>
            </a:r>
            <a:r>
              <a:rPr lang="en-US" altLang="zh-TW" sz="1600" u="none" strike="noStrike" dirty="0">
                <a:effectLst/>
              </a:rPr>
              <a:t>: Instruction </a:t>
            </a:r>
            <a:r>
              <a:rPr lang="en-US" altLang="zh-TW" sz="16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u="none" strike="noStrike" dirty="0">
                <a:effectLst/>
              </a:rPr>
              <a:t> Intention. </a:t>
            </a:r>
          </a:p>
          <a:p>
            <a:pPr marL="285750" indent="-285750">
              <a:lnSpc>
                <a:spcPts val="1800"/>
              </a:lnSpc>
              <a:spcBef>
                <a:spcPts val="600"/>
              </a:spcBef>
              <a:spcAft>
                <a:spcPts val="600"/>
              </a:spcAft>
              <a:buFont typeface="Wingdings" panose="05000000000000000000" pitchFamily="2" charset="2"/>
              <a:buChar char="Ø"/>
            </a:pPr>
            <a:r>
              <a:rPr lang="en-US" altLang="zh-TW" sz="1600" b="1" dirty="0"/>
              <a:t>SFT</a:t>
            </a:r>
            <a:r>
              <a:rPr lang="en-US" altLang="zh-TW" sz="1600" dirty="0"/>
              <a:t>: </a:t>
            </a:r>
            <a:r>
              <a:rPr lang="en-US" altLang="zh-TW" sz="16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t> PEFT. </a:t>
            </a:r>
          </a:p>
        </p:txBody>
      </p:sp>
      <p:cxnSp>
        <p:nvCxnSpPr>
          <p:cNvPr id="66" name="直線單箭頭接點 65">
            <a:extLst>
              <a:ext uri="{FF2B5EF4-FFF2-40B4-BE49-F238E27FC236}">
                <a16:creationId xmlns:a16="http://schemas.microsoft.com/office/drawing/2014/main" id="{A9337095-C4D3-2743-D396-1AB311C20850}"/>
              </a:ext>
            </a:extLst>
          </p:cNvPr>
          <p:cNvCxnSpPr>
            <a:cxnSpLocks/>
            <a:stCxn id="12" idx="2"/>
            <a:endCxn id="15" idx="0"/>
          </p:cNvCxnSpPr>
          <p:nvPr/>
        </p:nvCxnSpPr>
        <p:spPr>
          <a:xfrm>
            <a:off x="6481001" y="4725144"/>
            <a:ext cx="0" cy="376107"/>
          </a:xfrm>
          <a:prstGeom prst="straightConnector1">
            <a:avLst/>
          </a:prstGeom>
          <a:ln w="25400">
            <a:solidFill>
              <a:srgbClr val="FF9900"/>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7594</Words>
  <Application>Microsoft Office PowerPoint</Application>
  <PresentationFormat>如螢幕大小 (4:3)</PresentationFormat>
  <Paragraphs>1260</Paragraphs>
  <Slides>21</Slides>
  <Notes>19</Notes>
  <HiddenSlides>2</HiddenSlides>
  <MMClips>0</MMClips>
  <ScaleCrop>false</ScaleCrop>
  <HeadingPairs>
    <vt:vector size="6" baseType="variant">
      <vt:variant>
        <vt:lpstr>使用字型</vt:lpstr>
      </vt:variant>
      <vt:variant>
        <vt:i4>15</vt:i4>
      </vt:variant>
      <vt:variant>
        <vt:lpstr>佈景主題</vt:lpstr>
      </vt:variant>
      <vt:variant>
        <vt:i4>1</vt:i4>
      </vt:variant>
      <vt:variant>
        <vt:lpstr>投影片標題</vt:lpstr>
      </vt:variant>
      <vt:variant>
        <vt:i4>21</vt:i4>
      </vt:variant>
    </vt:vector>
  </HeadingPairs>
  <TitlesOfParts>
    <vt:vector size="37"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1769</cp:revision>
  <cp:lastPrinted>2024-07-30T01:44:15Z</cp:lastPrinted>
  <dcterms:created xsi:type="dcterms:W3CDTF">2019-11-08T03:01:47Z</dcterms:created>
  <dcterms:modified xsi:type="dcterms:W3CDTF">2026-07-19T13:19:43Z</dcterms:modified>
</cp:coreProperties>
</file>