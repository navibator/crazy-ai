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3"/>
  </p:notesMasterIdLst>
  <p:handoutMasterIdLst>
    <p:handoutMasterId r:id="rId24"/>
  </p:handoutMasterIdLst>
  <p:sldIdLst>
    <p:sldId id="3459" r:id="rId2"/>
    <p:sldId id="3472" r:id="rId3"/>
    <p:sldId id="3506" r:id="rId4"/>
    <p:sldId id="3504" r:id="rId5"/>
    <p:sldId id="3427" r:id="rId6"/>
    <p:sldId id="3503" r:id="rId7"/>
    <p:sldId id="3470" r:id="rId8"/>
    <p:sldId id="3471" r:id="rId9"/>
    <p:sldId id="3482" r:id="rId10"/>
    <p:sldId id="3483" r:id="rId11"/>
    <p:sldId id="3428" r:id="rId12"/>
    <p:sldId id="3451" r:id="rId13"/>
    <p:sldId id="3465" r:id="rId14"/>
    <p:sldId id="3484" r:id="rId15"/>
    <p:sldId id="3508" r:id="rId16"/>
    <p:sldId id="3505" r:id="rId17"/>
    <p:sldId id="3485" r:id="rId18"/>
    <p:sldId id="3460" r:id="rId19"/>
    <p:sldId id="3507" r:id="rId20"/>
    <p:sldId id="3479" r:id="rId21"/>
    <p:sldId id="3467" r:id="rId22"/>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06"/>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Lst>
        </p14:section>
        <p14:section name="GPT" id="{5A048767-0D58-44AF-B962-12C29493294F}">
          <p14:sldIdLst>
            <p14:sldId id="3465"/>
            <p14:sldId id="3484"/>
            <p14:sldId id="3508"/>
            <p14:sldId id="3505"/>
            <p14:sldId id="3485"/>
            <p14:sldId id="3460"/>
            <p14:sldId id="3507"/>
          </p14:sldIdLst>
        </p14:section>
        <p14:section name="Hardware" id="{69C35067-BEF2-4B7C-9B54-B6977EB05C72}">
          <p14:sldIdLst>
            <p14:sldId id="3479"/>
            <p14:sldId id="3467"/>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C203"/>
    <a:srgbClr val="F8D462"/>
    <a:srgbClr val="FEF1E9"/>
    <a:srgbClr val="FFCCCC"/>
    <a:srgbClr val="FF0000"/>
    <a:srgbClr val="B7C9E7"/>
    <a:srgbClr val="9E7800"/>
    <a:srgbClr val="DAA600"/>
    <a:srgbClr val="FDE7DA"/>
    <a:srgbClr val="DDDDD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71875" autoAdjust="0"/>
  </p:normalViewPr>
  <p:slideViewPr>
    <p:cSldViewPr>
      <p:cViewPr>
        <p:scale>
          <a:sx n="100" d="100"/>
          <a:sy n="100" d="100"/>
        </p:scale>
        <p:origin x="672" y="-230"/>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2026/7/11</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2026/7/11</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算力助長了一切</a:t>
            </a:r>
            <a:endParaRPr lang="en-US" altLang="zh-TW" dirty="0"/>
          </a:p>
          <a:p>
            <a:endParaRPr lang="en-US" altLang="zh-TW" dirty="0"/>
          </a:p>
          <a:p>
            <a:br>
              <a:rPr lang="en-US" altLang="zh-TW" dirty="0"/>
            </a:br>
            <a:r>
              <a:rPr lang="en-US" altLang="zh-TW" dirty="0">
                <a:sym typeface="Wingdings" panose="05000000000000000000" pitchFamily="2" charset="2"/>
              </a:rPr>
              <a:t> </a:t>
            </a:r>
            <a:r>
              <a:rPr lang="zh-TW" altLang="zh-TW" dirty="0"/>
              <a:t>動態預訓練時代：上下文的「環境覺醒」 (2018)</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ED1F47-5F44-5595-612A-D65C05D17A21}"/>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4D5A6B1-1A90-29AA-F23A-A86C6B72F15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0D932277-A577-3363-D73E-049EEA9C44E9}"/>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DB28DFA3-4012-ED99-9893-6D05136FACB9}"/>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15581630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2026/7/11</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8" Type="http://schemas.openxmlformats.org/officeDocument/2006/relationships/image" Target="../media/image270.png"/><Relationship Id="rId13" Type="http://schemas.openxmlformats.org/officeDocument/2006/relationships/image" Target="../media/image32.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40.png"/><Relationship Id="rId7" Type="http://schemas.openxmlformats.org/officeDocument/2006/relationships/image" Target="../media/image31.png"/><Relationship Id="rId12" Type="http://schemas.openxmlformats.org/officeDocument/2006/relationships/image" Target="../media/image310.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30.png"/><Relationship Id="rId11" Type="http://schemas.openxmlformats.org/officeDocument/2006/relationships/image" Target="../media/image300.png"/><Relationship Id="rId5" Type="http://schemas.openxmlformats.org/officeDocument/2006/relationships/image" Target="../media/image240.png"/><Relationship Id="rId15" Type="http://schemas.openxmlformats.org/officeDocument/2006/relationships/image" Target="../media/image34.png"/><Relationship Id="rId10" Type="http://schemas.openxmlformats.org/officeDocument/2006/relationships/image" Target="../media/image290.png"/><Relationship Id="rId19" Type="http://schemas.openxmlformats.org/officeDocument/2006/relationships/image" Target="../media/image38.png"/><Relationship Id="rId4" Type="http://schemas.openxmlformats.org/officeDocument/2006/relationships/image" Target="../media/image29.png"/><Relationship Id="rId9" Type="http://schemas.openxmlformats.org/officeDocument/2006/relationships/image" Target="../media/image280.png"/><Relationship Id="rId14" Type="http://schemas.openxmlformats.org/officeDocument/2006/relationships/image" Target="../media/image33.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45.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161.png"/><Relationship Id="rId5" Type="http://schemas.openxmlformats.org/officeDocument/2006/relationships/image" Target="../media/image150.png"/><Relationship Id="rId4" Type="http://schemas.openxmlformats.org/officeDocument/2006/relationships/image" Target="../media/image42.png"/></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9.svg"/></Relationships>
</file>

<file path=ppt/slides/_rels/slide14.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23.png"/><Relationship Id="rId4" Type="http://schemas.openxmlformats.org/officeDocument/2006/relationships/image" Target="../media/image22.png"/></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8" Type="http://schemas.openxmlformats.org/officeDocument/2006/relationships/image" Target="../media/image200.png"/><Relationship Id="rId13" Type="http://schemas.openxmlformats.org/officeDocument/2006/relationships/image" Target="../media/image27.png"/><Relationship Id="rId3" Type="http://schemas.openxmlformats.org/officeDocument/2006/relationships/image" Target="../media/image25.png"/><Relationship Id="rId7" Type="http://schemas.openxmlformats.org/officeDocument/2006/relationships/image" Target="../media/image190.png"/><Relationship Id="rId12" Type="http://schemas.openxmlformats.org/officeDocument/2006/relationships/image" Target="../media/image26.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180.png"/><Relationship Id="rId11" Type="http://schemas.openxmlformats.org/officeDocument/2006/relationships/image" Target="../media/image230.png"/><Relationship Id="rId5" Type="http://schemas.openxmlformats.org/officeDocument/2006/relationships/image" Target="../media/image170.png"/><Relationship Id="rId15" Type="http://schemas.openxmlformats.org/officeDocument/2006/relationships/image" Target="../media/image41.png"/><Relationship Id="rId10" Type="http://schemas.openxmlformats.org/officeDocument/2006/relationships/image" Target="../media/image220.png"/><Relationship Id="rId4" Type="http://schemas.openxmlformats.org/officeDocument/2006/relationships/image" Target="../media/image160.png"/><Relationship Id="rId9" Type="http://schemas.openxmlformats.org/officeDocument/2006/relationships/image" Target="../media/image210.png"/><Relationship Id="rId14" Type="http://schemas.openxmlformats.org/officeDocument/2006/relationships/image" Target="../media/image28.png"/></Relationships>
</file>

<file path=ppt/slides/_rels/slide18.xml.rels><?xml version="1.0" encoding="UTF-8" standalone="yes"?>
<Relationships xmlns="http://schemas.openxmlformats.org/package/2006/relationships"><Relationship Id="rId3" Type="http://schemas.openxmlformats.org/officeDocument/2006/relationships/image" Target="../media/image42.svg"/><Relationship Id="rId7" Type="http://schemas.openxmlformats.org/officeDocument/2006/relationships/image" Target="../media/image47.png"/><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46.png"/><Relationship Id="rId5" Type="http://schemas.openxmlformats.org/officeDocument/2006/relationships/image" Target="../media/image44.svg"/><Relationship Id="rId4" Type="http://schemas.openxmlformats.org/officeDocument/2006/relationships/image" Target="../media/image43.png"/></Relationships>
</file>

<file path=ppt/slides/_rels/slide1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49.jp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2026/07/06</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1500267"/>
            <a:ext cx="7524837" cy="1928733"/>
          </a:xfrm>
          <a:prstGeom prst="rect">
            <a:avLst/>
          </a:prstGeom>
          <a:noFill/>
        </p:spPr>
        <p:txBody>
          <a:bodyPr wrap="square" rtlCol="0">
            <a:spAutoFit/>
          </a:bodyPr>
          <a:lstStyle/>
          <a:p>
            <a:pPr algn="ctr"/>
            <a:r>
              <a:rPr lang="en-US" altLang="zh-TW" sz="4000" b="1" dirty="0"/>
              <a:t>Attention Is All You Need</a:t>
            </a:r>
          </a:p>
          <a:p>
            <a:pPr defTabSz="4857750">
              <a:lnSpc>
                <a:spcPts val="400"/>
              </a:lnSpc>
            </a:pPr>
            <a:r>
              <a:rPr lang="zh-TW" altLang="en-US" sz="1000" b="1" dirty="0"/>
              <a:t> </a:t>
            </a:r>
            <a:r>
              <a:rPr lang="en-US" altLang="zh-TW" sz="1000" b="1" dirty="0"/>
              <a:t>	2017</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Google Brain: 	</a:t>
            </a:r>
            <a:r>
              <a:rPr lang="en-US" altLang="zh-TW" sz="1200" b="1" dirty="0">
                <a:sym typeface="Wingdings" panose="05000000000000000000" pitchFamily="2" charset="2"/>
              </a:rPr>
              <a:t>Google Research	University of Toronto</a:t>
            </a:r>
          </a:p>
          <a:p>
            <a:pPr indent="541338" defTabSz="7269163">
              <a:tabLst>
                <a:tab pos="2955925" algn="l"/>
                <a:tab pos="5470525" algn="l"/>
              </a:tabLst>
            </a:pPr>
            <a:r>
              <a:rPr lang="en-US" altLang="zh-TW" sz="1000" dirty="0"/>
              <a:t>Ashish Vaswani</a:t>
            </a:r>
            <a:r>
              <a:rPr lang="en-US" altLang="zh-TW" sz="1000" dirty="0">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t>Noam Shazeer</a:t>
            </a:r>
            <a:r>
              <a:rPr lang="en-US" altLang="zh-TW" sz="1000" dirty="0">
                <a:sym typeface="Wingdings" panose="05000000000000000000" pitchFamily="2" charset="2"/>
              </a:rPr>
              <a:t> (Google)	Jakob Uszkoreit (Inceptive*)	</a:t>
            </a:r>
          </a:p>
          <a:p>
            <a:pPr indent="541338" defTabSz="7269163">
              <a:tabLst>
                <a:tab pos="2955925" algn="l"/>
                <a:tab pos="5470525" algn="l"/>
              </a:tabLst>
            </a:pPr>
            <a:r>
              <a:rPr lang="en-US" altLang="zh-TW" sz="1000" dirty="0">
                <a:sym typeface="Wingdings" panose="05000000000000000000" pitchFamily="2" charset="2"/>
              </a:rPr>
              <a:t>Lukasz Kaiser (OpenAI)	Llion Jones (Sakana AI*)	-- «The Transformer Eight»</a:t>
            </a:r>
            <a:endParaRPr lang="en-US" altLang="zh-TW" sz="1000" b="1" dirty="0">
              <a:sym typeface="Wingdings" panose="05000000000000000000" pitchFamily="2" charset="2"/>
            </a:endParaRPr>
          </a:p>
          <a:p>
            <a:pPr indent="541338" defTabSz="7269163">
              <a:tabLst>
                <a:tab pos="2955925" algn="l"/>
                <a:tab pos="5470525" algn="l"/>
              </a:tabLst>
            </a:pPr>
            <a:r>
              <a:rPr lang="en-US" altLang="zh-TW" sz="1000" dirty="0">
                <a:sym typeface="Wingdings" panose="05000000000000000000" pitchFamily="2" charset="2"/>
              </a:rPr>
              <a:t>		Illia Polosukhin (NEAR Protocol*)</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 name="文字方塊 2">
            <a:extLst>
              <a:ext uri="{FF2B5EF4-FFF2-40B4-BE49-F238E27FC236}">
                <a16:creationId xmlns:a16="http://schemas.microsoft.com/office/drawing/2014/main" id="{1DB4E429-5595-ACCD-1E73-CED595D308A6}"/>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t> MCP</a:t>
            </a:r>
          </a:p>
          <a:p>
            <a:pPr marL="111125" lvl="2">
              <a:lnSpc>
                <a:spcPts val="1200"/>
              </a:lnSpc>
              <a:buFont typeface="Arial" panose="020B0604020202020204" pitchFamily="34" charset="0"/>
              <a:buChar char="•"/>
              <a:defRPr/>
            </a:pPr>
            <a:r>
              <a:rPr lang="en-US" altLang="zh-TW" sz="1000" dirty="0"/>
              <a:t> RAG</a:t>
            </a:r>
          </a:p>
          <a:p>
            <a:pPr marL="111125" lvl="2">
              <a:lnSpc>
                <a:spcPts val="1200"/>
              </a:lnSpc>
              <a:buFont typeface="Arial" panose="020B0604020202020204" pitchFamily="34" charset="0"/>
              <a:buChar char="•"/>
              <a:defRPr/>
            </a:pPr>
            <a:r>
              <a:rPr lang="en-US" altLang="zh-TW" sz="1000" dirty="0"/>
              <a:t> LLM</a:t>
            </a:r>
          </a:p>
          <a:p>
            <a:pPr marL="111125" lvl="2">
              <a:lnSpc>
                <a:spcPts val="1200"/>
              </a:lnSpc>
              <a:buFont typeface="Arial" panose="020B0604020202020204" pitchFamily="34" charset="0"/>
              <a:buChar char="•"/>
              <a:defRPr/>
            </a:pPr>
            <a:r>
              <a:rPr lang="en-US" altLang="zh-TW" sz="1000" dirty="0"/>
              <a:t> Trend Analysis </a:t>
            </a: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t> Supervised FT</a:t>
            </a:r>
          </a:p>
          <a:p>
            <a:pPr marL="111125" lvl="2">
              <a:lnSpc>
                <a:spcPts val="1200"/>
              </a:lnSpc>
              <a:buFont typeface="Arial" panose="020B0604020202020204" pitchFamily="34" charset="0"/>
              <a:buChar char="•"/>
              <a:defRPr/>
            </a:pPr>
            <a:r>
              <a:rPr lang="en-US" altLang="zh-TW" sz="1000" dirty="0"/>
              <a:t> LoRA</a:t>
            </a: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t> Practices</a:t>
            </a: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341923"/>
            <a:ext cx="7452828" cy="4247317"/>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Neural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PE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Basic Model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1" nodeType="withEffect">
                                  <p:stCondLst>
                                    <p:cond delay="0"/>
                                  </p:stCondLst>
                                  <p:childTnLst>
                                    <p:animClr clrSpc="rgb" dir="cw">
                                      <p:cBhvr override="childStyle">
                                        <p:cTn id="60" dur="2000" fill="hold"/>
                                        <p:tgtEl>
                                          <p:spTgt spid="2">
                                            <p:txEl>
                                              <p:pRg st="8" end="8"/>
                                            </p:txEl>
                                          </p:spTgt>
                                        </p:tgtEl>
                                        <p:attrNameLst>
                                          <p:attrName>style.color</p:attrName>
                                        </p:attrNameLst>
                                      </p:cBhvr>
                                      <p:to>
                                        <a:srgbClr val="4D4D4D"/>
                                      </p:to>
                                    </p:animClr>
                                  </p:childTnLst>
                                </p:cTn>
                              </p:par>
                              <p:par>
                                <p:cTn id="61" presetID="3" presetClass="emph" presetSubtype="2" fill="hold" grpId="1" nodeType="withEffect">
                                  <p:stCondLst>
                                    <p:cond delay="0"/>
                                  </p:stCondLst>
                                  <p:childTnLst>
                                    <p:animClr clrSpc="rgb" dir="cw">
                                      <p:cBhvr override="childStyle">
                                        <p:cTn id="62" dur="2000" fill="hold"/>
                                        <p:tgtEl>
                                          <p:spTgt spid="2">
                                            <p:txEl>
                                              <p:pRg st="9" end="9"/>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10" end="10"/>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1" end="11"/>
                                            </p:txEl>
                                          </p:spTgt>
                                        </p:tgtEl>
                                        <p:attrNameLst>
                                          <p:attrName>style.color</p:attrName>
                                        </p:attrNameLst>
                                      </p:cBhvr>
                                      <p:to>
                                        <a:srgbClr val="4D4D4D"/>
                                      </p:to>
                                    </p:animClr>
                                  </p:childTnLst>
                                </p:cTn>
                              </p:par>
                            </p:childTnLst>
                          </p:cTn>
                        </p:par>
                      </p:childTnLst>
                    </p:cTn>
                  </p:par>
                  <p:par>
                    <p:cTn id="67" fill="hold">
                      <p:stCondLst>
                        <p:cond delay="indefinite"/>
                      </p:stCondLst>
                      <p:childTnLst>
                        <p:par>
                          <p:cTn id="68" fill="hold">
                            <p:stCondLst>
                              <p:cond delay="0"/>
                            </p:stCondLst>
                            <p:childTnLst>
                              <p:par>
                                <p:cTn id="69" presetID="3" presetClass="emph" presetSubtype="2" fill="hold" grpId="0" nodeType="clickEffect">
                                  <p:stCondLst>
                                    <p:cond delay="0"/>
                                  </p:stCondLst>
                                  <p:childTnLst>
                                    <p:animClr clrSpc="rgb" dir="cw">
                                      <p:cBhvr override="childStyle">
                                        <p:cTn id="7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69"/>
                                            </p:cond>
                                          </p:stCondLst>
                                          <p:endCondLst>
                                            <p:cond evt="onStopAudio" delay="0">
                                              <p:tgtEl>
                                                <p:sldTgt/>
                                              </p:tgtEl>
                                            </p:cond>
                                          </p:endCondLst>
                                        </p:cTn>
                                        <p:tgtEl>
                                          <p:sndTgt r:embed="rId3" name="type.wav"/>
                                        </p:tgtEl>
                                      </p:cMediaNode>
                                    </p:audio>
                                  </p:subTnLst>
                                </p:cTn>
                              </p:par>
                            </p:childTnLst>
                          </p:cTn>
                        </p:par>
                      </p:childTnLst>
                    </p:cTn>
                  </p:par>
                  <p:par>
                    <p:cTn id="71" fill="hold">
                      <p:stCondLst>
                        <p:cond delay="indefinite"/>
                      </p:stCondLst>
                      <p:childTnLst>
                        <p:par>
                          <p:cTn id="72" fill="hold">
                            <p:stCondLst>
                              <p:cond delay="0"/>
                            </p:stCondLst>
                            <p:childTnLst>
                              <p:par>
                                <p:cTn id="73" presetID="3" presetClass="emph" presetSubtype="2" fill="hold" grpId="0" nodeType="clickEffect">
                                  <p:stCondLst>
                                    <p:cond delay="0"/>
                                  </p:stCondLst>
                                  <p:childTnLst>
                                    <p:animClr clrSpc="rgb" dir="cw">
                                      <p:cBhvr override="childStyle">
                                        <p:cTn id="74"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2" end="12"/>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3" end="13"/>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1" nodeType="withEffect">
                                  <p:stCondLst>
                                    <p:cond delay="0"/>
                                  </p:stCondLst>
                                  <p:childTnLst>
                                    <p:animClr clrSpc="rgb" dir="cw">
                                      <p:cBhvr override="childStyle">
                                        <p:cTn id="96" dur="2000" fill="hold"/>
                                        <p:tgtEl>
                                          <p:spTgt spid="2">
                                            <p:txEl>
                                              <p:pRg st="13" end="13"/>
                                            </p:txEl>
                                          </p:spTgt>
                                        </p:tgtEl>
                                        <p:attrNameLst>
                                          <p:attrName>style.color</p:attrName>
                                        </p:attrNameLst>
                                      </p:cBhvr>
                                      <p:to>
                                        <a:srgbClr val="4D4D4D"/>
                                      </p:to>
                                    </p:animClr>
                                  </p:child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childTnLst>
                          </p:cTn>
                        </p:par>
                      </p:childTnLst>
                    </p:cTn>
                  </p:par>
                  <p:par>
                    <p:cTn id="105" fill="hold">
                      <p:stCondLst>
                        <p:cond delay="indefinite"/>
                      </p:stCondLst>
                      <p:childTnLst>
                        <p:par>
                          <p:cTn id="106" fill="hold">
                            <p:stCondLst>
                              <p:cond delay="0"/>
                            </p:stCondLst>
                            <p:childTnLst>
                              <p:par>
                                <p:cTn id="107" presetID="1" presetClass="exit" presetSubtype="0" fill="hold" grpId="2" nodeType="clickEffect">
                                  <p:stCondLst>
                                    <p:cond delay="0"/>
                                  </p:stCondLst>
                                  <p:childTnLst>
                                    <p:set>
                                      <p:cBhvr>
                                        <p:cTn id="108"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21598"/>
            <a:ext cx="7452828" cy="4339650"/>
          </a:xfrm>
          <a:prstGeom prst="rect">
            <a:avLst/>
          </a:prstGeom>
          <a:solidFill>
            <a:schemeClr val="bg1"/>
          </a:solid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 (AI Agent, LLM, RAG,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(AI Stack </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Server</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RAG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 Framework + Infrastructure )</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(Stack)</a:t>
            </a:r>
            <a:endPar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Trend</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Analysis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(SLM, Edge, Algorithm, )</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3</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(Multi</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odal,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Multilingual</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Low-Rank Adaptation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(Efficient LLM Fine-Tuning)</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Gemma4</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Comparison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(Llama 4, Deep Seek)</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 on GPT and AI Technology)</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Leading Frameworks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(How to evaluate the performance of model?)</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Practice Example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(O! llama)</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A1C639E3-E511-933C-E6C6-4C289F817DDD}"/>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t> MCP</a:t>
            </a:r>
          </a:p>
          <a:p>
            <a:pPr marL="111125" lvl="2">
              <a:lnSpc>
                <a:spcPts val="1200"/>
              </a:lnSpc>
              <a:buFont typeface="Arial" panose="020B0604020202020204" pitchFamily="34" charset="0"/>
              <a:buChar char="•"/>
              <a:defRPr/>
            </a:pPr>
            <a:r>
              <a:rPr lang="en-US" altLang="zh-TW" sz="1000" dirty="0"/>
              <a:t> RAG</a:t>
            </a:r>
          </a:p>
          <a:p>
            <a:pPr marL="111125" lvl="2">
              <a:lnSpc>
                <a:spcPts val="1200"/>
              </a:lnSpc>
              <a:buFont typeface="Arial" panose="020B0604020202020204" pitchFamily="34" charset="0"/>
              <a:buChar char="•"/>
              <a:defRPr/>
            </a:pPr>
            <a:r>
              <a:rPr lang="en-US" altLang="zh-TW" sz="1000" dirty="0"/>
              <a:t> LLM</a:t>
            </a:r>
          </a:p>
          <a:p>
            <a:pPr marL="111125" lvl="2">
              <a:lnSpc>
                <a:spcPts val="1200"/>
              </a:lnSpc>
              <a:buFont typeface="Arial" panose="020B0604020202020204" pitchFamily="34" charset="0"/>
              <a:buChar char="•"/>
              <a:defRPr/>
            </a:pPr>
            <a:r>
              <a:rPr lang="en-US" altLang="zh-TW" sz="1000" dirty="0"/>
              <a:t> Trend Analysis </a:t>
            </a: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t> Supervised FT</a:t>
            </a:r>
          </a:p>
          <a:p>
            <a:pPr marL="111125" lvl="2">
              <a:lnSpc>
                <a:spcPts val="1200"/>
              </a:lnSpc>
              <a:buFont typeface="Arial" panose="020B0604020202020204" pitchFamily="34" charset="0"/>
              <a:buChar char="•"/>
              <a:defRPr/>
            </a:pPr>
            <a:r>
              <a:rPr lang="en-US" altLang="zh-TW" sz="1000" dirty="0"/>
              <a:t> LoRA</a:t>
            </a: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t> Practices</a:t>
            </a:r>
          </a:p>
        </p:txBody>
      </p:sp>
    </p:spTree>
    <p:extLst>
      <p:ext uri="{BB962C8B-B14F-4D97-AF65-F5344CB8AC3E}">
        <p14:creationId xmlns:p14="http://schemas.microsoft.com/office/powerpoint/2010/main" val="427710211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2">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2">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childTnLst>
                          </p:cTn>
                        </p:par>
                      </p:childTnLst>
                    </p:cTn>
                  </p:par>
                  <p:par>
                    <p:cTn id="27" fill="hold">
                      <p:stCondLst>
                        <p:cond delay="indefinite"/>
                      </p:stCondLst>
                      <p:childTnLst>
                        <p:par>
                          <p:cTn id="28" fill="hold">
                            <p:stCondLst>
                              <p:cond delay="0"/>
                            </p:stCondLst>
                            <p:childTnLst>
                              <p:par>
                                <p:cTn id="29" presetID="3" presetClass="emph" presetSubtype="2" fill="hold" grpId="0" nodeType="clickEffect">
                                  <p:stCondLst>
                                    <p:cond delay="0"/>
                                  </p:stCondLst>
                                  <p:childTnLst>
                                    <p:animClr clrSpc="rgb" dir="cw">
                                      <p:cBhvr override="childStyle">
                                        <p:cTn id="30"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1" nodeType="withEffect">
                                  <p:stCondLst>
                                    <p:cond delay="0"/>
                                  </p:stCondLst>
                                  <p:childTnLst>
                                    <p:animClr clrSpc="rgb" dir="cw">
                                      <p:cBhvr override="childStyle">
                                        <p:cTn id="32" dur="2000" fill="hold"/>
                                        <p:tgtEl>
                                          <p:spTgt spid="2">
                                            <p:txEl>
                                              <p:pRg st="2" end="2"/>
                                            </p:txEl>
                                          </p:spTgt>
                                        </p:tgtEl>
                                        <p:attrNameLst>
                                          <p:attrName>style.color</p:attrName>
                                        </p:attrNameLst>
                                      </p:cBhvr>
                                      <p:to>
                                        <a:srgbClr val="D8A09C"/>
                                      </p:to>
                                    </p:animClr>
                                  </p:childTnLst>
                                </p:cTn>
                              </p:par>
                              <p:par>
                                <p:cTn id="33" presetID="3" presetClass="emph" presetSubtype="2" fill="hold" grpId="1" nodeType="withEffect">
                                  <p:stCondLst>
                                    <p:cond delay="0"/>
                                  </p:stCondLst>
                                  <p:childTnLst>
                                    <p:animClr clrSpc="rgb" dir="cw">
                                      <p:cBhvr override="childStyle">
                                        <p:cTn id="34" dur="2000" fill="hold"/>
                                        <p:tgtEl>
                                          <p:spTgt spid="2">
                                            <p:txEl>
                                              <p:pRg st="3" end="3"/>
                                            </p:txEl>
                                          </p:spTgt>
                                        </p:tgtEl>
                                        <p:attrNameLst>
                                          <p:attrName>style.color</p:attrName>
                                        </p:attrNameLst>
                                      </p:cBhvr>
                                      <p:to>
                                        <a:srgbClr val="D8A09C"/>
                                      </p:to>
                                    </p:animClr>
                                  </p:childTnLst>
                                </p:cTn>
                              </p:par>
                              <p:par>
                                <p:cTn id="35" presetID="3" presetClass="emph" presetSubtype="2" fill="hold" grpId="1" nodeType="withEffect">
                                  <p:stCondLst>
                                    <p:cond delay="0"/>
                                  </p:stCondLst>
                                  <p:childTnLst>
                                    <p:animClr clrSpc="rgb" dir="cw">
                                      <p:cBhvr override="childStyle">
                                        <p:cTn id="36" dur="2000" fill="hold"/>
                                        <p:tgtEl>
                                          <p:spTgt spid="2">
                                            <p:txEl>
                                              <p:pRg st="4" end="4"/>
                                            </p:txEl>
                                          </p:spTgt>
                                        </p:tgtEl>
                                        <p:attrNameLst>
                                          <p:attrName>style.color</p:attrName>
                                        </p:attrNameLst>
                                      </p:cBhvr>
                                      <p:to>
                                        <a:srgbClr val="D8A09C"/>
                                      </p:to>
                                    </p:animClr>
                                  </p:child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2">
                                            <p:txEl>
                                              <p:pRg st="6" end="6"/>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2">
                                            <p:txEl>
                                              <p:pRg st="7" end="7"/>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2">
                                            <p:txEl>
                                              <p:pRg st="8" end="8"/>
                                            </p:txEl>
                                          </p:spTgt>
                                        </p:tgtEl>
                                        <p:attrNameLst>
                                          <p:attrName>style.color</p:attrName>
                                        </p:attrNameLst>
                                      </p:cBhvr>
                                      <p:to>
                                        <a:srgbClr val="D8A09C"/>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childTnLst>
                          </p:cTn>
                        </p:par>
                      </p:childTnLst>
                    </p:cTn>
                  </p:par>
                  <p:par>
                    <p:cTn id="49" fill="hold">
                      <p:stCondLst>
                        <p:cond delay="indefinite"/>
                      </p:stCondLst>
                      <p:childTnLst>
                        <p:par>
                          <p:cTn id="50" fill="hold">
                            <p:stCondLst>
                              <p:cond delay="0"/>
                            </p:stCondLst>
                            <p:childTnLst>
                              <p:par>
                                <p:cTn id="51" presetID="3" presetClass="emph" presetSubtype="2" fill="hold" grpId="0" nodeType="clickEffect">
                                  <p:stCondLst>
                                    <p:cond delay="0"/>
                                  </p:stCondLst>
                                  <p:childTnLst>
                                    <p:animClr clrSpc="rgb" dir="cw">
                                      <p:cBhvr override="childStyle">
                                        <p:cTn id="5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1"/>
                                            </p:cond>
                                          </p:stCondLst>
                                          <p:endCondLst>
                                            <p:cond evt="onStopAudio" delay="0">
                                              <p:tgtEl>
                                                <p:sldTgt/>
                                              </p:tgtEl>
                                            </p:cond>
                                          </p:endCondLst>
                                        </p:cTn>
                                        <p:tgtEl>
                                          <p:sndTgt r:embed="rId3" name="type.wav"/>
                                        </p:tgtEl>
                                      </p:cMediaNode>
                                    </p:audio>
                                  </p:subTnLst>
                                </p:cTn>
                              </p:par>
                              <p:par>
                                <p:cTn id="53" presetID="3" presetClass="emph" presetSubtype="2" fill="hold" grpId="1" nodeType="withEffect">
                                  <p:stCondLst>
                                    <p:cond delay="0"/>
                                  </p:stCondLst>
                                  <p:childTnLst>
                                    <p:animClr clrSpc="rgb" dir="cw">
                                      <p:cBhvr override="childStyle">
                                        <p:cTn id="54" dur="2000" fill="hold"/>
                                        <p:tgtEl>
                                          <p:spTgt spid="2">
                                            <p:txEl>
                                              <p:pRg st="9" end="9"/>
                                            </p:txEl>
                                          </p:spTgt>
                                        </p:tgtEl>
                                        <p:attrNameLst>
                                          <p:attrName>style.color</p:attrName>
                                        </p:attrNameLst>
                                      </p:cBhvr>
                                      <p:to>
                                        <a:srgbClr val="D8A09C"/>
                                      </p:to>
                                    </p:animClr>
                                  </p:childTnLst>
                                </p:cTn>
                              </p:par>
                            </p:childTnLst>
                          </p:cTn>
                        </p:par>
                      </p:childTnLst>
                    </p:cTn>
                  </p:par>
                  <p:par>
                    <p:cTn id="55" fill="hold">
                      <p:stCondLst>
                        <p:cond delay="indefinite"/>
                      </p:stCondLst>
                      <p:childTnLst>
                        <p:par>
                          <p:cTn id="56" fill="hold">
                            <p:stCondLst>
                              <p:cond delay="0"/>
                            </p:stCondLst>
                            <p:childTnLst>
                              <p:par>
                                <p:cTn id="57" presetID="3" presetClass="emph" presetSubtype="2" fill="hold" grpId="0" nodeType="click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0" nodeType="withEffect">
                                  <p:stCondLst>
                                    <p:cond delay="0"/>
                                  </p:stCondLst>
                                  <p:childTnLst>
                                    <p:animClr clrSpc="rgb" dir="cw">
                                      <p:cBhvr override="childStyle">
                                        <p:cTn id="6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61"/>
                                            </p:cond>
                                          </p:stCondLst>
                                          <p:endCondLst>
                                            <p:cond evt="onStopAudio" delay="0">
                                              <p:tgtEl>
                                                <p:sldTgt/>
                                              </p:tgtEl>
                                            </p:cond>
                                          </p:endCondLst>
                                        </p:cTn>
                                        <p:tgtEl>
                                          <p:sndTgt r:embed="rId3" name="type.wav"/>
                                        </p:tgtEl>
                                      </p:cMediaNode>
                                    </p:audio>
                                  </p:subTnLst>
                                </p:cTn>
                              </p:par>
                              <p:par>
                                <p:cTn id="63" presetID="3" presetClass="emph" presetSubtype="2" fill="hold" grpId="1" nodeType="withEffect">
                                  <p:stCondLst>
                                    <p:cond delay="0"/>
                                  </p:stCondLst>
                                  <p:childTnLst>
                                    <p:animClr clrSpc="rgb" dir="cw">
                                      <p:cBhvr override="childStyle">
                                        <p:cTn id="64" dur="2000" fill="hold"/>
                                        <p:tgtEl>
                                          <p:spTgt spid="2">
                                            <p:txEl>
                                              <p:pRg st="10" end="10"/>
                                            </p:txEl>
                                          </p:spTgt>
                                        </p:tgtEl>
                                        <p:attrNameLst>
                                          <p:attrName>style.color</p:attrName>
                                        </p:attrNameLst>
                                      </p:cBhvr>
                                      <p:to>
                                        <a:srgbClr val="D8A09C"/>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1" end="11"/>
                                            </p:txEl>
                                          </p:spTgt>
                                        </p:tgtEl>
                                        <p:attrNameLst>
                                          <p:attrName>style.color</p:attrName>
                                        </p:attrNameLst>
                                      </p:cBhvr>
                                      <p:to>
                                        <a:srgbClr val="D8A09C"/>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2" end="12"/>
                                            </p:txEl>
                                          </p:spTgt>
                                        </p:tgtEl>
                                        <p:attrNameLst>
                                          <p:attrName>style.color</p:attrName>
                                        </p:attrNameLst>
                                      </p:cBhvr>
                                      <p:to>
                                        <a:srgbClr val="D8A09C"/>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3" end="13"/>
                                            </p:txEl>
                                          </p:spTgt>
                                        </p:tgtEl>
                                        <p:attrNameLst>
                                          <p:attrName>style.color</p:attrName>
                                        </p:attrNameLst>
                                      </p:cBhvr>
                                      <p:to>
                                        <a:srgbClr val="D8A09C"/>
                                      </p:to>
                                    </p:animClr>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2" nodeType="clickEffect">
                                  <p:stCondLst>
                                    <p:cond delay="0"/>
                                  </p:stCondLst>
                                  <p:childTnLst>
                                    <p:set>
                                      <p:cBhvr>
                                        <p:cTn id="74"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3443989240"/>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MoBA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Graph</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8" name="圖片 7">
            <a:extLst>
              <a:ext uri="{FF2B5EF4-FFF2-40B4-BE49-F238E27FC236}">
                <a16:creationId xmlns:a16="http://schemas.microsoft.com/office/drawing/2014/main" id="{7B64792C-12EC-2C19-13ED-A7A868533C36}"/>
              </a:ext>
            </a:extLst>
          </p:cNvPr>
          <p:cNvPicPr>
            <a:picLocks noChangeAspect="1"/>
          </p:cNvPicPr>
          <p:nvPr/>
        </p:nvPicPr>
        <p:blipFill>
          <a:blip r:embed="rId3"/>
          <a:stretch>
            <a:fillRect/>
          </a:stretch>
        </p:blipFill>
        <p:spPr>
          <a:xfrm>
            <a:off x="2169136" y="5700452"/>
            <a:ext cx="376184" cy="398122"/>
          </a:xfrm>
          <a:prstGeom prst="rect">
            <a:avLst/>
          </a:prstGeom>
        </p:spPr>
      </p:pic>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4"/>
          <a:stretch>
            <a:fillRect/>
          </a:stretch>
        </p:blipFill>
        <p:spPr>
          <a:xfrm>
            <a:off x="2843808" y="5705742"/>
            <a:ext cx="375241" cy="398122"/>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5"/>
          <a:stretch>
            <a:fillRect/>
          </a:stretch>
        </p:blipFill>
        <p:spPr>
          <a:xfrm>
            <a:off x="3635896" y="5705741"/>
            <a:ext cx="530829" cy="398122"/>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6"/>
          <a:stretch>
            <a:fillRect/>
          </a:stretch>
        </p:blipFill>
        <p:spPr>
          <a:xfrm>
            <a:off x="4451283" y="5661248"/>
            <a:ext cx="439296" cy="442615"/>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7"/>
          <a:stretch>
            <a:fillRect/>
          </a:stretch>
        </p:blipFill>
        <p:spPr>
          <a:xfrm>
            <a:off x="5246579" y="5695199"/>
            <a:ext cx="439296" cy="437299"/>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8"/>
          <a:stretch>
            <a:fillRect/>
          </a:stretch>
        </p:blipFill>
        <p:spPr>
          <a:xfrm>
            <a:off x="7272841"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9"/>
          <a:stretch>
            <a:fillRect/>
          </a:stretch>
        </p:blipFill>
        <p:spPr>
          <a:xfrm>
            <a:off x="7247072" y="1999616"/>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10"/>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1"/>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2"/>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3"/>
          <a:stretch>
            <a:fillRect/>
          </a:stretch>
        </p:blipFill>
        <p:spPr>
          <a:xfrm>
            <a:off x="6300192" y="772974"/>
            <a:ext cx="817196" cy="596651"/>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 </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lang="en-US" altLang="zh-TW" sz="1600" dirty="0">
                <a:solidFill>
                  <a:schemeClr val="bg1">
                    <a:lumMod val="50000"/>
                  </a:schemeClr>
                </a:solidFill>
              </a:rPr>
              <a:t> </a:t>
            </a:r>
            <a:r>
              <a:rPr lang="en-US" altLang="zh-TW" sz="1600" dirty="0">
                <a:solidFill>
                  <a:schemeClr val="bg1">
                    <a:lumMod val="75000"/>
                  </a:schemeClr>
                </a:solidFill>
                <a:sym typeface="Wingdings" panose="05000000000000000000" pitchFamily="2" charset="2"/>
              </a:rPr>
              <a:t> GPT-RLHF</a:t>
            </a:r>
            <a:endParaRPr lang="en-US" altLang="zh-TW" sz="1600" b="0" u="none" strike="noStrike" dirty="0">
              <a:solidFill>
                <a:schemeClr val="bg1">
                  <a:lumMod val="75000"/>
                </a:schemeClr>
              </a:solidFill>
              <a:effectLst/>
            </a:endParaRPr>
          </a:p>
        </p:txBody>
      </p:sp>
      <p:sp>
        <p:nvSpPr>
          <p:cNvPr id="5" name="文字方塊 4">
            <a:extLst>
              <a:ext uri="{FF2B5EF4-FFF2-40B4-BE49-F238E27FC236}">
                <a16:creationId xmlns:a16="http://schemas.microsoft.com/office/drawing/2014/main" id="{F21FC563-EC0F-087B-D29C-9F789097AEEC}"/>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solidFill>
                  <a:prstClr val="black"/>
                </a:solidFill>
              </a:rPr>
              <a:t> MCP</a:t>
            </a:r>
          </a:p>
          <a:p>
            <a:pPr marL="111125" lvl="2">
              <a:lnSpc>
                <a:spcPts val="1200"/>
              </a:lnSpc>
              <a:buFont typeface="Arial" panose="020B0604020202020204" pitchFamily="34" charset="0"/>
              <a:buChar char="•"/>
              <a:defRPr/>
            </a:pPr>
            <a:r>
              <a:rPr lang="en-US" altLang="zh-TW" sz="1000" dirty="0">
                <a:solidFill>
                  <a:prstClr val="black"/>
                </a:solidFill>
              </a:rPr>
              <a:t> RAG</a:t>
            </a:r>
          </a:p>
          <a:p>
            <a:pPr marL="111125" lvl="2">
              <a:lnSpc>
                <a:spcPts val="1200"/>
              </a:lnSpc>
              <a:buFont typeface="Arial" panose="020B0604020202020204" pitchFamily="34" charset="0"/>
              <a:buChar char="•"/>
              <a:defRPr/>
            </a:pPr>
            <a:r>
              <a:rPr lang="en-US" altLang="zh-TW" sz="1000" dirty="0">
                <a:solidFill>
                  <a:prstClr val="black"/>
                </a:solidFill>
              </a:rPr>
              <a:t> LLM</a:t>
            </a:r>
          </a:p>
          <a:p>
            <a:pPr marL="111125" lvl="2">
              <a:lnSpc>
                <a:spcPts val="1200"/>
              </a:lnSpc>
              <a:buFont typeface="Arial" panose="020B0604020202020204" pitchFamily="34" charset="0"/>
              <a:buChar char="•"/>
              <a:defRPr/>
            </a:pPr>
            <a:r>
              <a:rPr lang="en-US" altLang="zh-TW" sz="1000" dirty="0"/>
              <a:t> Trend Analysis </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solidFill>
                  <a:prstClr val="black"/>
                </a:solidFill>
              </a:rPr>
              <a:t> Supervised FT</a:t>
            </a:r>
          </a:p>
          <a:p>
            <a:pPr marL="111125" lvl="2">
              <a:lnSpc>
                <a:spcPts val="1200"/>
              </a:lnSpc>
              <a:buFont typeface="Arial" panose="020B0604020202020204" pitchFamily="34" charset="0"/>
              <a:buChar char="•"/>
              <a:defRPr/>
            </a:pPr>
            <a:r>
              <a:rPr lang="en-US" altLang="zh-TW" sz="1000" dirty="0"/>
              <a:t> LoRA</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solidFill>
                  <a:prstClr val="black"/>
                </a:solidFill>
              </a:rPr>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(Puzzle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Dialog)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827914681"/>
              </p:ext>
            </p:extLst>
          </p:nvPr>
        </p:nvGraphicFramePr>
        <p:xfrm>
          <a:off x="5490780" y="4989905"/>
          <a:ext cx="2249568" cy="601935"/>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22624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6962342" y="4265949"/>
            <a:ext cx="1479398" cy="387187"/>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Smarter AI Agent)</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solidFill>
              <a:schemeClr val="accent1"/>
            </a:solid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840825"/>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107664" y="3239781"/>
            <a:ext cx="14275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383A5C34-A0BC-03DD-F642-1AD5A295BA5C}"/>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solidFill>
                  <a:prstClr val="black"/>
                </a:solidFill>
              </a:rPr>
              <a:t> MCP</a:t>
            </a:r>
          </a:p>
          <a:p>
            <a:pPr marL="111125" lvl="2">
              <a:lnSpc>
                <a:spcPts val="1200"/>
              </a:lnSpc>
              <a:buFont typeface="Arial" panose="020B0604020202020204" pitchFamily="34" charset="0"/>
              <a:buChar char="•"/>
              <a:defRPr/>
            </a:pPr>
            <a:r>
              <a:rPr lang="en-US" altLang="zh-TW" sz="1000" dirty="0">
                <a:solidFill>
                  <a:prstClr val="black"/>
                </a:solidFill>
              </a:rPr>
              <a:t> RAG</a:t>
            </a:r>
          </a:p>
          <a:p>
            <a:pPr marL="111125" lvl="2">
              <a:lnSpc>
                <a:spcPts val="1200"/>
              </a:lnSpc>
              <a:buFont typeface="Arial" panose="020B0604020202020204" pitchFamily="34" charset="0"/>
              <a:buChar char="•"/>
              <a:defRPr/>
            </a:pPr>
            <a:r>
              <a:rPr lang="en-US" altLang="zh-TW" sz="1000" dirty="0">
                <a:solidFill>
                  <a:prstClr val="black"/>
                </a:solidFill>
              </a:rPr>
              <a:t> LLM</a:t>
            </a:r>
          </a:p>
          <a:p>
            <a:pPr marL="111125" lvl="2">
              <a:lnSpc>
                <a:spcPts val="1200"/>
              </a:lnSpc>
              <a:buFont typeface="Arial" panose="020B0604020202020204" pitchFamily="34" charset="0"/>
              <a:buChar char="•"/>
              <a:defRPr/>
            </a:pPr>
            <a:r>
              <a:rPr lang="en-US" altLang="zh-TW" sz="1000" dirty="0"/>
              <a:t> Trend Analysis </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solidFill>
                  <a:prstClr val="black"/>
                </a:solidFill>
              </a:rPr>
              <a:t> Supervised FT</a:t>
            </a:r>
          </a:p>
          <a:p>
            <a:pPr marL="111125" lvl="2">
              <a:lnSpc>
                <a:spcPts val="1200"/>
              </a:lnSpc>
              <a:buFont typeface="Arial" panose="020B0604020202020204" pitchFamily="34" charset="0"/>
              <a:buChar char="•"/>
              <a:defRPr/>
            </a:pPr>
            <a:r>
              <a:rPr lang="en-US" altLang="zh-TW" sz="1000" dirty="0"/>
              <a:t> LoRA</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solidFill>
                  <a:prstClr val="black"/>
                </a:solidFill>
              </a:rPr>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solidFill>
                  <a:prstClr val="black"/>
                </a:solidFill>
              </a:rPr>
              <a:t> Practices</a:t>
            </a:r>
          </a:p>
        </p:txBody>
      </p:sp>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A deep dive into decoder stacks, attention layers, and feed-forward networks.</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xmlns:m="http://schemas.openxmlformats.org/officeDocument/2006/math">
                      <m:sSubSup>
                        <m:sSubSupPr>
                          <m:ctrlPr>
                            <a:rPr lang="en-US" altLang="zh-TW" sz="1200" b="0" i="1" smtClean="0">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f>
                            <m:fPr>
                              <m:ctrlPr>
                                <a:rPr lang="en-US" altLang="zh-TW" sz="1200" i="1">
                                  <a:latin typeface="Cambria Math" panose="02040503050406030204" pitchFamily="18" charset="0"/>
                                </a:rPr>
                              </m:ctrlPr>
                            </m:fPr>
                            <m:num>
                              <m:r>
                                <m:rPr>
                                  <m:nor/>
                                </m:rPr>
                                <a:rPr lang="en-US" altLang="zh-TW" sz="1200" i="1" dirty="0"/>
                                <m:t>x</m:t>
                              </m:r>
                              <m:r>
                                <m:rPr>
                                  <m:nor/>
                                </m:rPr>
                                <a:rPr lang="en-US" altLang="zh-TW" sz="1200" baseline="-25000" dirty="0"/>
                                <m:t>i</m:t>
                              </m:r>
                              <m:r>
                                <m:rPr>
                                  <m:nor/>
                                </m:rPr>
                                <a:rPr lang="en-US" altLang="zh-TW" sz="1200" dirty="0"/>
                                <m:t>∗</m:t>
                              </m:r>
                              <m:r>
                                <m:rPr>
                                  <m:nor/>
                                </m:rPr>
                                <a:rPr lang="en-US" altLang="zh-TW" sz="1200" dirty="0"/>
                                <m:t>γi</m:t>
                              </m:r>
                            </m:num>
                            <m:den>
                              <m:r>
                                <m:rPr>
                                  <m:nor/>
                                </m:rPr>
                                <a:rPr lang="en-US" altLang="zh-TW" sz="1200" dirty="0"/>
                                <m:t>RMS</m:t>
                              </m:r>
                              <m:r>
                                <m:rPr>
                                  <m:nor/>
                                </m:rPr>
                                <a:rPr lang="en-US" altLang="zh-TW" sz="1200" dirty="0"/>
                                <m:t>(</m:t>
                              </m:r>
                              <m:r>
                                <m:rPr>
                                  <m:nor/>
                                </m:rPr>
                                <a:rPr lang="en-US" altLang="zh-TW" sz="1200" i="1" dirty="0"/>
                                <m:t>x</m:t>
                              </m:r>
                              <m:r>
                                <m:rPr>
                                  <m:nor/>
                                </m:rPr>
                                <a:rPr lang="en-US" altLang="zh-TW" sz="1200" dirty="0"/>
                                <m:t>)</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h</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Positional Encoding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Self-Attention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FFN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77662" y="1484784"/>
            <a:ext cx="3314818" cy="1144511"/>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Concentrate all information in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352169"/>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713911"/>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1885549"/>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184614" y="1520904"/>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184614" y="1507436"/>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184614" y="1920387"/>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184614" y="2160412"/>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184614" y="2529995"/>
            <a:ext cx="1083130"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065588" y="1520696"/>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971600" y="1861151"/>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53432" y="112474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676658" y="852162"/>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6254186" y="2992549"/>
            <a:ext cx="1508519" cy="448264"/>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18" name="矩形 17">
            <a:extLst>
              <a:ext uri="{FF2B5EF4-FFF2-40B4-BE49-F238E27FC236}">
                <a16:creationId xmlns:a16="http://schemas.microsoft.com/office/drawing/2014/main" id="{5279F498-27F7-CA61-12E6-3AF2F0F1BAB5}"/>
              </a:ext>
            </a:extLst>
          </p:cNvPr>
          <p:cNvSpPr/>
          <p:nvPr/>
        </p:nvSpPr>
        <p:spPr>
          <a:xfrm>
            <a:off x="3285155" y="1297052"/>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9" name="矩形 18">
            <a:extLst>
              <a:ext uri="{FF2B5EF4-FFF2-40B4-BE49-F238E27FC236}">
                <a16:creationId xmlns:a16="http://schemas.microsoft.com/office/drawing/2014/main" id="{A0935C28-6B5F-5EF5-D11F-DD7E0AD7D6FA}"/>
              </a:ext>
            </a:extLst>
          </p:cNvPr>
          <p:cNvSpPr/>
          <p:nvPr/>
        </p:nvSpPr>
        <p:spPr>
          <a:xfrm>
            <a:off x="3767425" y="1297052"/>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q</a:t>
            </a:r>
          </a:p>
        </p:txBody>
      </p:sp>
      <p:sp>
        <p:nvSpPr>
          <p:cNvPr id="40" name="矩形 39">
            <a:extLst>
              <a:ext uri="{FF2B5EF4-FFF2-40B4-BE49-F238E27FC236}">
                <a16:creationId xmlns:a16="http://schemas.microsoft.com/office/drawing/2014/main" id="{7EEE9D8A-7190-3E68-E767-0C6BC4D89CBD}"/>
              </a:ext>
            </a:extLst>
          </p:cNvPr>
          <p:cNvSpPr/>
          <p:nvPr/>
        </p:nvSpPr>
        <p:spPr>
          <a:xfrm>
            <a:off x="4441934" y="1808005"/>
            <a:ext cx="240032" cy="39425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K</a:t>
            </a:r>
          </a:p>
        </p:txBody>
      </p:sp>
      <p:sp>
        <p:nvSpPr>
          <p:cNvPr id="41" name="矩形 40">
            <a:extLst>
              <a:ext uri="{FF2B5EF4-FFF2-40B4-BE49-F238E27FC236}">
                <a16:creationId xmlns:a16="http://schemas.microsoft.com/office/drawing/2014/main" id="{E55EA9E2-B869-8E95-26D7-63E8C82D7DA8}"/>
              </a:ext>
            </a:extLst>
          </p:cNvPr>
          <p:cNvSpPr/>
          <p:nvPr/>
        </p:nvSpPr>
        <p:spPr>
          <a:xfrm>
            <a:off x="3279092" y="1801108"/>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2" name="矩形 41">
            <a:extLst>
              <a:ext uri="{FF2B5EF4-FFF2-40B4-BE49-F238E27FC236}">
                <a16:creationId xmlns:a16="http://schemas.microsoft.com/office/drawing/2014/main" id="{A7AC1FB1-0A72-46B2-7FC2-E6C212857353}"/>
              </a:ext>
            </a:extLst>
          </p:cNvPr>
          <p:cNvSpPr/>
          <p:nvPr/>
        </p:nvSpPr>
        <p:spPr>
          <a:xfrm>
            <a:off x="3767425" y="1801205"/>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k</a:t>
            </a:r>
          </a:p>
        </p:txBody>
      </p:sp>
      <p:sp>
        <p:nvSpPr>
          <p:cNvPr id="45" name="矩形 44">
            <a:extLst>
              <a:ext uri="{FF2B5EF4-FFF2-40B4-BE49-F238E27FC236}">
                <a16:creationId xmlns:a16="http://schemas.microsoft.com/office/drawing/2014/main" id="{79BA20B3-13EC-E6B3-B20A-685EE4F3F3FA}"/>
              </a:ext>
            </a:extLst>
          </p:cNvPr>
          <p:cNvSpPr/>
          <p:nvPr/>
        </p:nvSpPr>
        <p:spPr>
          <a:xfrm>
            <a:off x="4441934" y="2311964"/>
            <a:ext cx="240032" cy="37671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47" name="矩形 46">
            <a:extLst>
              <a:ext uri="{FF2B5EF4-FFF2-40B4-BE49-F238E27FC236}">
                <a16:creationId xmlns:a16="http://schemas.microsoft.com/office/drawing/2014/main" id="{99C5D5A5-76CA-8F03-E4AF-D332C9118F88}"/>
              </a:ext>
            </a:extLst>
          </p:cNvPr>
          <p:cNvSpPr/>
          <p:nvPr/>
        </p:nvSpPr>
        <p:spPr>
          <a:xfrm>
            <a:off x="3285155" y="2305164"/>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8" name="矩形 47">
            <a:extLst>
              <a:ext uri="{FF2B5EF4-FFF2-40B4-BE49-F238E27FC236}">
                <a16:creationId xmlns:a16="http://schemas.microsoft.com/office/drawing/2014/main" id="{E84E7CE9-597F-3E33-4A02-301617C2B233}"/>
              </a:ext>
            </a:extLst>
          </p:cNvPr>
          <p:cNvSpPr/>
          <p:nvPr/>
        </p:nvSpPr>
        <p:spPr>
          <a:xfrm>
            <a:off x="3767425" y="2305164"/>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55" name="矩形 54">
            <a:extLst>
              <a:ext uri="{FF2B5EF4-FFF2-40B4-BE49-F238E27FC236}">
                <a16:creationId xmlns:a16="http://schemas.microsoft.com/office/drawing/2014/main" id="{45B3CB3A-DF76-A954-7ACD-784F85AFB1BA}"/>
              </a:ext>
            </a:extLst>
          </p:cNvPr>
          <p:cNvSpPr/>
          <p:nvPr/>
        </p:nvSpPr>
        <p:spPr>
          <a:xfrm>
            <a:off x="2561850" y="2239773"/>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59" name="矩形 58">
            <a:extLst>
              <a:ext uri="{FF2B5EF4-FFF2-40B4-BE49-F238E27FC236}">
                <a16:creationId xmlns:a16="http://schemas.microsoft.com/office/drawing/2014/main" id="{AEFE6880-011C-5B06-37CC-7955AC2D10C8}"/>
              </a:ext>
            </a:extLst>
          </p:cNvPr>
          <p:cNvSpPr/>
          <p:nvPr/>
        </p:nvSpPr>
        <p:spPr>
          <a:xfrm>
            <a:off x="7463593" y="2997698"/>
            <a:ext cx="275740" cy="45009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p>
        </p:txBody>
      </p:sp>
      <p:sp>
        <p:nvSpPr>
          <p:cNvPr id="60" name="矩形 59">
            <a:extLst>
              <a:ext uri="{FF2B5EF4-FFF2-40B4-BE49-F238E27FC236}">
                <a16:creationId xmlns:a16="http://schemas.microsoft.com/office/drawing/2014/main" id="{B2A8793D-39DB-E18A-FF85-993DB10D0200}"/>
              </a:ext>
            </a:extLst>
          </p:cNvPr>
          <p:cNvSpPr/>
          <p:nvPr/>
        </p:nvSpPr>
        <p:spPr>
          <a:xfrm>
            <a:off x="7463593" y="3362113"/>
            <a:ext cx="277055" cy="76870"/>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6541340" y="3079897"/>
            <a:ext cx="549922" cy="241226"/>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65" name="矩形 64">
            <a:extLst>
              <a:ext uri="{FF2B5EF4-FFF2-40B4-BE49-F238E27FC236}">
                <a16:creationId xmlns:a16="http://schemas.microsoft.com/office/drawing/2014/main" id="{8BFBEB88-53E1-8226-CFDE-620E86943D97}"/>
              </a:ext>
            </a:extLst>
          </p:cNvPr>
          <p:cNvSpPr/>
          <p:nvPr/>
        </p:nvSpPr>
        <p:spPr>
          <a:xfrm>
            <a:off x="6260249" y="3360283"/>
            <a:ext cx="1202029" cy="64535"/>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86" name="矩形 85">
            <a:extLst>
              <a:ext uri="{FF2B5EF4-FFF2-40B4-BE49-F238E27FC236}">
                <a16:creationId xmlns:a16="http://schemas.microsoft.com/office/drawing/2014/main" id="{5A9D73E4-4A20-B2A3-97C4-C8886F0E21C8}"/>
              </a:ext>
            </a:extLst>
          </p:cNvPr>
          <p:cNvSpPr/>
          <p:nvPr/>
        </p:nvSpPr>
        <p:spPr>
          <a:xfrm>
            <a:off x="4439942" y="1314596"/>
            <a:ext cx="240032" cy="376709"/>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Q</a:t>
            </a:r>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524520" y="1095520"/>
            <a:ext cx="56927" cy="25398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528567" y="978024"/>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314596"/>
            <a:ext cx="81761" cy="35921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18726" y="1410072"/>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03" name="右中括弧 102">
            <a:extLst>
              <a:ext uri="{FF2B5EF4-FFF2-40B4-BE49-F238E27FC236}">
                <a16:creationId xmlns:a16="http://schemas.microsoft.com/office/drawing/2014/main" id="{FD6FA144-6334-B650-3E57-91603A152D10}"/>
              </a:ext>
            </a:extLst>
          </p:cNvPr>
          <p:cNvSpPr/>
          <p:nvPr/>
        </p:nvSpPr>
        <p:spPr>
          <a:xfrm rot="16200000">
            <a:off x="3847766" y="1108631"/>
            <a:ext cx="45719" cy="21655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4" name="文字方塊 103">
            <a:extLst>
              <a:ext uri="{FF2B5EF4-FFF2-40B4-BE49-F238E27FC236}">
                <a16:creationId xmlns:a16="http://schemas.microsoft.com/office/drawing/2014/main" id="{3EEBDD07-5DBE-3092-9C70-434C53CCC692}"/>
              </a:ext>
            </a:extLst>
          </p:cNvPr>
          <p:cNvSpPr txBox="1"/>
          <p:nvPr/>
        </p:nvSpPr>
        <p:spPr>
          <a:xfrm>
            <a:off x="3791937" y="978024"/>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08" name="矩形 107">
            <a:extLst>
              <a:ext uri="{FF2B5EF4-FFF2-40B4-BE49-F238E27FC236}">
                <a16:creationId xmlns:a16="http://schemas.microsoft.com/office/drawing/2014/main" id="{623D8103-A918-62FC-0F70-49AFEA320CFA}"/>
              </a:ext>
            </a:extLst>
          </p:cNvPr>
          <p:cNvSpPr/>
          <p:nvPr/>
        </p:nvSpPr>
        <p:spPr>
          <a:xfrm>
            <a:off x="3279666" y="3012959"/>
            <a:ext cx="254168"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09" name="矩形 108">
            <a:extLst>
              <a:ext uri="{FF2B5EF4-FFF2-40B4-BE49-F238E27FC236}">
                <a16:creationId xmlns:a16="http://schemas.microsoft.com/office/drawing/2014/main" id="{2B6CB6E9-FB09-4D8A-C2E7-1841EAD6EDE2}"/>
              </a:ext>
            </a:extLst>
          </p:cNvPr>
          <p:cNvSpPr/>
          <p:nvPr/>
        </p:nvSpPr>
        <p:spPr>
          <a:xfrm>
            <a:off x="3980387" y="3008857"/>
            <a:ext cx="254169"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340429" y="3127417"/>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2" name="矩形 111">
            <a:extLst>
              <a:ext uri="{FF2B5EF4-FFF2-40B4-BE49-F238E27FC236}">
                <a16:creationId xmlns:a16="http://schemas.microsoft.com/office/drawing/2014/main" id="{5FB92E40-B973-22D2-0B03-14720A9B6C91}"/>
              </a:ext>
            </a:extLst>
          </p:cNvPr>
          <p:cNvSpPr/>
          <p:nvPr/>
        </p:nvSpPr>
        <p:spPr>
          <a:xfrm>
            <a:off x="4536034" y="3007143"/>
            <a:ext cx="251990"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H</a:t>
            </a:r>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639706" y="3125703"/>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675320" y="1701554"/>
            <a:ext cx="3082897" cy="832958"/>
            <a:chOff x="5233519" y="1844824"/>
            <a:chExt cx="3082897" cy="832958"/>
          </a:xfrm>
        </p:grpSpPr>
        <p:sp>
          <p:nvSpPr>
            <p:cNvPr id="57" name="矩形 56">
              <a:extLst>
                <a:ext uri="{FF2B5EF4-FFF2-40B4-BE49-F238E27FC236}">
                  <a16:creationId xmlns:a16="http://schemas.microsoft.com/office/drawing/2014/main" id="{BF8F8D13-9E03-AB21-3107-9AE8C2074AC0}"/>
                </a:ext>
              </a:extLst>
            </p:cNvPr>
            <p:cNvSpPr/>
            <p:nvPr/>
          </p:nvSpPr>
          <p:spPr>
            <a:xfrm>
              <a:off x="8010458"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4804"/>
              <a:ext cx="1190446" cy="612186"/>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zh-TW" altLang="en-US" sz="1200" i="1" smtClean="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h</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233519" y="1852068"/>
              <a:ext cx="135014"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844824"/>
              <a:ext cx="173703"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849875"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25" name="文字方塊 124">
            <a:extLst>
              <a:ext uri="{FF2B5EF4-FFF2-40B4-BE49-F238E27FC236}">
                <a16:creationId xmlns:a16="http://schemas.microsoft.com/office/drawing/2014/main" id="{F350397C-5644-DBA0-30D4-27BC65996251}"/>
              </a:ext>
            </a:extLst>
          </p:cNvPr>
          <p:cNvSpPr txBox="1"/>
          <p:nvPr/>
        </p:nvSpPr>
        <p:spPr>
          <a:xfrm>
            <a:off x="3981370" y="1317977"/>
            <a:ext cx="122807"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26" name="右中括弧 125">
            <a:extLst>
              <a:ext uri="{FF2B5EF4-FFF2-40B4-BE49-F238E27FC236}">
                <a16:creationId xmlns:a16="http://schemas.microsoft.com/office/drawing/2014/main" id="{168F04D2-2783-4256-2494-AE35C34AED91}"/>
              </a:ext>
            </a:extLst>
          </p:cNvPr>
          <p:cNvSpPr/>
          <p:nvPr/>
        </p:nvSpPr>
        <p:spPr>
          <a:xfrm>
            <a:off x="3923928" y="1296072"/>
            <a:ext cx="45719" cy="25727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31" name="矩形 130">
            <a:extLst>
              <a:ext uri="{FF2B5EF4-FFF2-40B4-BE49-F238E27FC236}">
                <a16:creationId xmlns:a16="http://schemas.microsoft.com/office/drawing/2014/main" id="{D2E41A05-6318-000C-98AB-E11C7639A576}"/>
              </a:ext>
            </a:extLst>
          </p:cNvPr>
          <p:cNvSpPr/>
          <p:nvPr/>
        </p:nvSpPr>
        <p:spPr>
          <a:xfrm>
            <a:off x="2888130" y="3732306"/>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684600"/>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3751084"/>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3745199"/>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017640"/>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017640"/>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112645"/>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3942991"/>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4890678"/>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122170"/>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042951"/>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046384"/>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099344"/>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034468"/>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717032"/>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3929665"/>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1A614FA1-2FE8-03D5-9A01-4EE09275FF05}"/>
              </a:ext>
            </a:extLst>
          </p:cNvPr>
          <p:cNvSpPr/>
          <p:nvPr/>
        </p:nvSpPr>
        <p:spPr>
          <a:xfrm>
            <a:off x="7964903" y="2992549"/>
            <a:ext cx="277055" cy="257869"/>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1" baseline="-25000" dirty="0">
                <a:solidFill>
                  <a:srgbClr val="FF0000"/>
                </a:solidFill>
                <a:latin typeface="微軟正黑體" panose="020B0604030504040204" pitchFamily="34" charset="-120"/>
                <a:ea typeface="微軟正黑體" panose="020B0604030504040204" pitchFamily="34" charset="-120"/>
              </a:rPr>
              <a:t>O</a:t>
            </a:r>
          </a:p>
        </p:txBody>
      </p:sp>
      <p:sp>
        <p:nvSpPr>
          <p:cNvPr id="3" name="文字方塊 2">
            <a:extLst>
              <a:ext uri="{FF2B5EF4-FFF2-40B4-BE49-F238E27FC236}">
                <a16:creationId xmlns:a16="http://schemas.microsoft.com/office/drawing/2014/main" id="{66E00A59-7D33-BABF-7882-2F0838F43D92}"/>
              </a:ext>
            </a:extLst>
          </p:cNvPr>
          <p:cNvSpPr txBox="1"/>
          <p:nvPr/>
        </p:nvSpPr>
        <p:spPr>
          <a:xfrm>
            <a:off x="7803102" y="3135289"/>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176" name="矩形 175">
            <a:extLst>
              <a:ext uri="{FF2B5EF4-FFF2-40B4-BE49-F238E27FC236}">
                <a16:creationId xmlns:a16="http://schemas.microsoft.com/office/drawing/2014/main" id="{55CE9919-2B60-6324-484E-21E7B0AE0DC6}"/>
              </a:ext>
            </a:extLst>
          </p:cNvPr>
          <p:cNvSpPr/>
          <p:nvPr/>
        </p:nvSpPr>
        <p:spPr>
          <a:xfrm>
            <a:off x="2195736" y="4951102"/>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4951103"/>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495110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961951" y="2217924"/>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454863" y="2709666"/>
            <a:ext cx="636399" cy="217858"/>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15" name="矩形 14">
            <a:extLst>
              <a:ext uri="{FF2B5EF4-FFF2-40B4-BE49-F238E27FC236}">
                <a16:creationId xmlns:a16="http://schemas.microsoft.com/office/drawing/2014/main" id="{F5273199-2037-8A7D-0F36-C1BFDCAE1C77}"/>
              </a:ext>
            </a:extLst>
          </p:cNvPr>
          <p:cNvSpPr/>
          <p:nvPr/>
        </p:nvSpPr>
        <p:spPr>
          <a:xfrm>
            <a:off x="4581111" y="2780928"/>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16" name="文字方塊 15">
            <a:extLst>
              <a:ext uri="{FF2B5EF4-FFF2-40B4-BE49-F238E27FC236}">
                <a16:creationId xmlns:a16="http://schemas.microsoft.com/office/drawing/2014/main" id="{C0110784-D5CD-5A16-47A7-F9BAD4876B56}"/>
              </a:ext>
            </a:extLst>
          </p:cNvPr>
          <p:cNvSpPr txBox="1"/>
          <p:nvPr/>
        </p:nvSpPr>
        <p:spPr>
          <a:xfrm>
            <a:off x="3103547" y="3079757"/>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17" name="右大括弧 16">
            <a:extLst>
              <a:ext uri="{FF2B5EF4-FFF2-40B4-BE49-F238E27FC236}">
                <a16:creationId xmlns:a16="http://schemas.microsoft.com/office/drawing/2014/main" id="{D92052ED-9B39-43D1-7CD4-11CA0827C1E2}"/>
              </a:ext>
            </a:extLst>
          </p:cNvPr>
          <p:cNvSpPr/>
          <p:nvPr/>
        </p:nvSpPr>
        <p:spPr>
          <a:xfrm rot="5400000">
            <a:off x="7182970" y="2572222"/>
            <a:ext cx="130201" cy="198777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0" name="矩形 19">
            <a:extLst>
              <a:ext uri="{FF2B5EF4-FFF2-40B4-BE49-F238E27FC236}">
                <a16:creationId xmlns:a16="http://schemas.microsoft.com/office/drawing/2014/main" id="{919C9182-6025-78FD-DD4B-34D2D9F56B15}"/>
              </a:ext>
            </a:extLst>
          </p:cNvPr>
          <p:cNvSpPr/>
          <p:nvPr/>
        </p:nvSpPr>
        <p:spPr>
          <a:xfrm>
            <a:off x="6840793" y="3573016"/>
            <a:ext cx="867263" cy="214387"/>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 Matrix H</a:t>
            </a:r>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21" name="文字方塊 20">
            <a:extLst>
              <a:ext uri="{FF2B5EF4-FFF2-40B4-BE49-F238E27FC236}">
                <a16:creationId xmlns:a16="http://schemas.microsoft.com/office/drawing/2014/main" id="{152136DB-F885-C7DA-41DE-CF20449C90B8}"/>
              </a:ext>
            </a:extLst>
          </p:cNvPr>
          <p:cNvSpPr txBox="1"/>
          <p:nvPr/>
        </p:nvSpPr>
        <p:spPr>
          <a:xfrm>
            <a:off x="8395460" y="3015050"/>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25" name="右中括弧 24">
            <a:extLst>
              <a:ext uri="{FF2B5EF4-FFF2-40B4-BE49-F238E27FC236}">
                <a16:creationId xmlns:a16="http://schemas.microsoft.com/office/drawing/2014/main" id="{64DDA0C8-05FF-6CB8-A79B-DB082E7FCCCC}"/>
              </a:ext>
            </a:extLst>
          </p:cNvPr>
          <p:cNvSpPr/>
          <p:nvPr/>
        </p:nvSpPr>
        <p:spPr>
          <a:xfrm>
            <a:off x="8319433" y="2993145"/>
            <a:ext cx="54972" cy="25727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0" name="矩形 29">
            <a:extLst>
              <a:ext uri="{FF2B5EF4-FFF2-40B4-BE49-F238E27FC236}">
                <a16:creationId xmlns:a16="http://schemas.microsoft.com/office/drawing/2014/main" id="{150BC86B-8DCF-00B8-5574-918588F2BF8D}"/>
              </a:ext>
            </a:extLst>
          </p:cNvPr>
          <p:cNvSpPr/>
          <p:nvPr/>
        </p:nvSpPr>
        <p:spPr>
          <a:xfrm>
            <a:off x="394747" y="1191466"/>
            <a:ext cx="362588" cy="2007790"/>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b="1" dirty="0">
                <a:solidFill>
                  <a:schemeClr val="tx1"/>
                </a:solidFill>
                <a:latin typeface="微軟正黑體" panose="020B0604030504040204" pitchFamily="34" charset="-120"/>
                <a:ea typeface="微軟正黑體" panose="020B0604030504040204" pitchFamily="34" charset="-120"/>
              </a:rPr>
              <a:t>VC</a:t>
            </a:r>
            <a:endParaRPr lang="en-US" altLang="zh-TW" b="1" baseline="-25000" dirty="0">
              <a:solidFill>
                <a:schemeClr val="tx1"/>
              </a:solidFill>
              <a:latin typeface="微軟正黑體" panose="020B0604030504040204" pitchFamily="34" charset="-120"/>
              <a:ea typeface="微軟正黑體" panose="020B0604030504040204" pitchFamily="34" charset="-120"/>
            </a:endParaRP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391383" y="2889919"/>
            <a:ext cx="365952" cy="235664"/>
          </a:xfrm>
          <a:prstGeom prst="rect">
            <a:avLst/>
          </a:prstGeom>
          <a:noFill/>
        </p:spPr>
        <p:txBody>
          <a:bodyPr wrap="none" lIns="0" tIns="0" rIns="0" bIns="0" rtlCol="0" anchor="ctr" anchorCtr="1">
            <a:noAutofit/>
          </a:bodyPr>
          <a:lstStyle/>
          <a:p>
            <a:pPr algn="ctr"/>
            <a:r>
              <a:rPr lang="en-US" altLang="zh-TW" sz="1200" dirty="0"/>
              <a:t>Tokenize</a:t>
            </a:r>
            <a:endParaRPr lang="zh-TW" altLang="en-US" sz="1200" dirty="0"/>
          </a:p>
        </p:txBody>
      </p:sp>
      <p:sp>
        <p:nvSpPr>
          <p:cNvPr id="38" name="右中括弧 37">
            <a:extLst>
              <a:ext uri="{FF2B5EF4-FFF2-40B4-BE49-F238E27FC236}">
                <a16:creationId xmlns:a16="http://schemas.microsoft.com/office/drawing/2014/main" id="{891781AF-914A-DAF6-7406-66DA160CDB02}"/>
              </a:ext>
            </a:extLst>
          </p:cNvPr>
          <p:cNvSpPr/>
          <p:nvPr/>
        </p:nvSpPr>
        <p:spPr>
          <a:xfrm rot="16200000">
            <a:off x="3361274" y="1111335"/>
            <a:ext cx="45719" cy="21655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1" name="文字方塊 50">
            <a:extLst>
              <a:ext uri="{FF2B5EF4-FFF2-40B4-BE49-F238E27FC236}">
                <a16:creationId xmlns:a16="http://schemas.microsoft.com/office/drawing/2014/main" id="{91B20F2C-A572-5C45-EDEB-F2034E150789}"/>
              </a:ext>
            </a:extLst>
          </p:cNvPr>
          <p:cNvSpPr txBox="1"/>
          <p:nvPr/>
        </p:nvSpPr>
        <p:spPr>
          <a:xfrm>
            <a:off x="3305445" y="980728"/>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59" idx="1"/>
          </p:cNvCxnSpPr>
          <p:nvPr/>
        </p:nvCxnSpPr>
        <p:spPr>
          <a:xfrm rot="16200000" flipH="1">
            <a:off x="7052607" y="2811759"/>
            <a:ext cx="593450" cy="228522"/>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367613" y="194588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 name="文字方塊 8">
            <a:extLst>
              <a:ext uri="{FF2B5EF4-FFF2-40B4-BE49-F238E27FC236}">
                <a16:creationId xmlns:a16="http://schemas.microsoft.com/office/drawing/2014/main" id="{4AABC208-517A-7F50-8E9C-EC83B7F63654}"/>
              </a:ext>
            </a:extLst>
          </p:cNvPr>
          <p:cNvSpPr txBox="1"/>
          <p:nvPr/>
        </p:nvSpPr>
        <p:spPr>
          <a:xfrm>
            <a:off x="4189305" y="1340289"/>
            <a:ext cx="136978" cy="22044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18" idx="1"/>
          </p:cNvCxnSpPr>
          <p:nvPr/>
        </p:nvCxnSpPr>
        <p:spPr>
          <a:xfrm flipV="1">
            <a:off x="2868843" y="1494179"/>
            <a:ext cx="416312" cy="60448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41" idx="1"/>
          </p:cNvCxnSpPr>
          <p:nvPr/>
        </p:nvCxnSpPr>
        <p:spPr>
          <a:xfrm flipV="1">
            <a:off x="2868843" y="1998235"/>
            <a:ext cx="410249" cy="10043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47" idx="1"/>
          </p:cNvCxnSpPr>
          <p:nvPr/>
        </p:nvCxnSpPr>
        <p:spPr>
          <a:xfrm>
            <a:off x="2868843" y="2098665"/>
            <a:ext cx="416312" cy="40362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4" name="文字方塊 53">
            <a:extLst>
              <a:ext uri="{FF2B5EF4-FFF2-40B4-BE49-F238E27FC236}">
                <a16:creationId xmlns:a16="http://schemas.microsoft.com/office/drawing/2014/main" id="{1BEBBCF5-F52E-55FC-4237-0BB9A7FDA9A1}"/>
              </a:ext>
            </a:extLst>
          </p:cNvPr>
          <p:cNvSpPr txBox="1"/>
          <p:nvPr/>
        </p:nvSpPr>
        <p:spPr>
          <a:xfrm>
            <a:off x="4189305" y="1825079"/>
            <a:ext cx="136978" cy="22044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8" name="文字方塊 57">
            <a:extLst>
              <a:ext uri="{FF2B5EF4-FFF2-40B4-BE49-F238E27FC236}">
                <a16:creationId xmlns:a16="http://schemas.microsoft.com/office/drawing/2014/main" id="{E1D54585-A378-2064-FA49-987370456462}"/>
              </a:ext>
            </a:extLst>
          </p:cNvPr>
          <p:cNvSpPr txBox="1"/>
          <p:nvPr/>
        </p:nvSpPr>
        <p:spPr>
          <a:xfrm>
            <a:off x="4189305" y="2329135"/>
            <a:ext cx="136978" cy="22044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87" name="文字方塊 86">
            <a:extLst>
              <a:ext uri="{FF2B5EF4-FFF2-40B4-BE49-F238E27FC236}">
                <a16:creationId xmlns:a16="http://schemas.microsoft.com/office/drawing/2014/main" id="{F3962AD9-9B7E-81EB-AA05-54BD5CCBF9F4}"/>
              </a:ext>
            </a:extLst>
          </p:cNvPr>
          <p:cNvSpPr txBox="1"/>
          <p:nvPr/>
        </p:nvSpPr>
        <p:spPr>
          <a:xfrm>
            <a:off x="2333778" y="2257232"/>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63" name="文字方塊 62">
            <a:extLst>
              <a:ext uri="{FF2B5EF4-FFF2-40B4-BE49-F238E27FC236}">
                <a16:creationId xmlns:a16="http://schemas.microsoft.com/office/drawing/2014/main" id="{0320D246-4C34-4B3E-01DD-2B4CDC3DF751}"/>
              </a:ext>
            </a:extLst>
          </p:cNvPr>
          <p:cNvSpPr txBox="1"/>
          <p:nvPr/>
        </p:nvSpPr>
        <p:spPr>
          <a:xfrm>
            <a:off x="3588004" y="1340768"/>
            <a:ext cx="119900" cy="307777"/>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69" name="文字方塊 68">
            <a:extLst>
              <a:ext uri="{FF2B5EF4-FFF2-40B4-BE49-F238E27FC236}">
                <a16:creationId xmlns:a16="http://schemas.microsoft.com/office/drawing/2014/main" id="{ACE9F96D-8B96-2C5A-AD15-380EE7F9DFC9}"/>
              </a:ext>
            </a:extLst>
          </p:cNvPr>
          <p:cNvSpPr txBox="1"/>
          <p:nvPr/>
        </p:nvSpPr>
        <p:spPr>
          <a:xfrm>
            <a:off x="3588004" y="1825558"/>
            <a:ext cx="119900"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74" name="文字方塊 73">
            <a:extLst>
              <a:ext uri="{FF2B5EF4-FFF2-40B4-BE49-F238E27FC236}">
                <a16:creationId xmlns:a16="http://schemas.microsoft.com/office/drawing/2014/main" id="{F4A90F89-5047-1056-E6BF-C7EB0926F5CB}"/>
              </a:ext>
            </a:extLst>
          </p:cNvPr>
          <p:cNvSpPr txBox="1"/>
          <p:nvPr/>
        </p:nvSpPr>
        <p:spPr>
          <a:xfrm>
            <a:off x="3588004" y="2329614"/>
            <a:ext cx="119900"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Extract the features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42951" y="3531036"/>
            <a:ext cx="406093" cy="1324723"/>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50155" y="2708920"/>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89065"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7998227" y="2708920"/>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92034" y="2728820"/>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8956" y="3343652"/>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b="1" dirty="0">
                <a:solidFill>
                  <a:schemeClr val="tx1"/>
                </a:solidFill>
                <a:latin typeface="微軟正黑體" panose="020B0604030504040204" pitchFamily="34" charset="-120"/>
                <a:ea typeface="微軟正黑體" panose="020B0604030504040204" pitchFamily="34" charset="-120"/>
              </a:rPr>
              <a:t>VC</a:t>
            </a:r>
            <a:endParaRPr lang="en-US" altLang="zh-TW" b="1" baseline="-25000" dirty="0">
              <a:solidFill>
                <a:schemeClr val="tx1"/>
              </a:solidFill>
              <a:latin typeface="微軟正黑體" panose="020B0604030504040204" pitchFamily="34" charset="-120"/>
              <a:ea typeface="微軟正黑體" panose="020B0604030504040204" pitchFamily="34" charset="-12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397126"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283968"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78417" y="3681192"/>
            <a:ext cx="618656" cy="17310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21820" y="3124595"/>
            <a:ext cx="618656" cy="128629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777148" y="4869160"/>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07904" y="4797152"/>
            <a:ext cx="502689" cy="167859"/>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SoftMax</a:t>
            </a:r>
            <a:endParaRPr lang="zh-TW" altLang="en-US" sz="1200" dirty="0"/>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37137"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err="1">
                <a:ea typeface="微軟正黑體" panose="020B0604030504040204" pitchFamily="34" charset="-120"/>
              </a:rPr>
              <a:t>Nxd</a:t>
            </a:r>
            <a:endParaRPr lang="en-US" altLang="zh-TW" sz="1000" dirty="0">
              <a:ea typeface="微軟正黑體" panose="020B0604030504040204" pitchFamily="34" charset="-120"/>
            </a:endParaRP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48264" y="2728820"/>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71297" y="2708920"/>
            <a:ext cx="135693" cy="317969"/>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G</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FFNN</a:t>
            </a:r>
          </a:p>
        </p:txBody>
      </p:sp>
      <p:sp>
        <p:nvSpPr>
          <p:cNvPr id="183" name="矩形 182">
            <a:extLst>
              <a:ext uri="{FF2B5EF4-FFF2-40B4-BE49-F238E27FC236}">
                <a16:creationId xmlns:a16="http://schemas.microsoft.com/office/drawing/2014/main" id="{A651291F-4D9E-F52B-1B4B-C01E1C3D8261}"/>
              </a:ext>
            </a:extLst>
          </p:cNvPr>
          <p:cNvSpPr/>
          <p:nvPr/>
        </p:nvSpPr>
        <p:spPr>
          <a:xfrm>
            <a:off x="4157336"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err="1">
                <a:ea typeface="微軟正黑體" panose="020B0604030504040204" pitchFamily="34" charset="-120"/>
              </a:rPr>
              <a:t>Nxd</a:t>
            </a:r>
            <a:endParaRPr lang="en-US" altLang="zh-TW" sz="1000" dirty="0">
              <a:ea typeface="微軟正黑體" panose="020B0604030504040204" pitchFamily="34" charset="-120"/>
            </a:endParaRP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60000"/>
                    <a:lumOff val="40000"/>
                  </a:schemeClr>
                </a:solidFill>
                <a:effectLst/>
                <a:uLnTx/>
                <a:uFillTx/>
                <a:latin typeface="Calibri"/>
                <a:ea typeface="微軟正黑體" panose="020B0604030504040204" pitchFamily="34" charset="-120"/>
                <a:cs typeface="+mn-cs"/>
              </a:rPr>
              <a:t>… other Exports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256090"/>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334799"/>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4838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238090"/>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239688"/>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Enhance the difference and feature</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346963"/>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776110"/>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483721"/>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1959714"/>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1959714"/>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718948"/>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smtClean="0">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718948"/>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519608"/>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ea typeface="Cambria Math" panose="02040503050406030204" pitchFamily="18" charset="0"/>
                            </a:rPr>
                          </m:ctrlPr>
                        </m:sSupPr>
                        <m:e>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519608"/>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2924944"/>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xmlns:m="http://schemas.openxmlformats.org/officeDocument/2006/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2924944"/>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712969"/>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712969"/>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71916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719165"/>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06050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060505"/>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093296"/>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093296"/>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63656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636569"/>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517232"/>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517232"/>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689337"/>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137774"/>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137774"/>
                <a:ext cx="214997" cy="196235"/>
              </a:xfrm>
              <a:prstGeom prst="rect">
                <a:avLst/>
              </a:prstGeom>
              <a:blipFill>
                <a:blip r:embed="rId14"/>
                <a:stretch>
                  <a:fillRect l="-31429" r="-11429" b="-46875"/>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4881433"/>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3801996"/>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291907"/>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341362"/>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341362"/>
                <a:ext cx="648072" cy="201657"/>
              </a:xfrm>
              <a:prstGeom prst="roundRect">
                <a:avLst/>
              </a:prstGeom>
              <a:blipFill>
                <a:blip r:embed="rId20"/>
                <a:stretch>
                  <a:fillRect l="-3704" b="-8571"/>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1236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834070"/>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873432"/>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293263"/>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442191"/>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269129"/>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269129"/>
                <a:ext cx="1227970" cy="369332"/>
              </a:xfrm>
              <a:prstGeom prst="rect">
                <a:avLst/>
              </a:prstGeom>
              <a:blipFill>
                <a:blip r:embed="rId21"/>
                <a:stretch>
                  <a:fillRect l="-4478" t="-8197" r="-3483" b="-24590"/>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056004"/>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222268"/>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08885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30131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30928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30496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30496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38500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44889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30488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189876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46561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27224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24098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32818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30488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94484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81822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628918"/>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178606"/>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178606"/>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068960"/>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068960"/>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230372"/>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230372"/>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368610"/>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en-US" altLang="zh-TW"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368610"/>
                <a:ext cx="4076197" cy="1148622"/>
              </a:xfrm>
              <a:prstGeom prst="rect">
                <a:avLst/>
              </a:prstGeom>
              <a:blipFill>
                <a:blip r:embed="rId7"/>
                <a:stretch>
                  <a:fillRect l="-2242"/>
                </a:stretch>
              </a:blipFill>
            </p:spPr>
            <p:txBody>
              <a:bodyPr/>
              <a:lstStyle/>
              <a:p>
                <a:r>
                  <a:rPr lang="zh-TW" altLang="en-US">
                    <a:noFill/>
                  </a:rPr>
                  <a:t> </a:t>
                </a:r>
              </a:p>
            </p:txBody>
          </p:sp>
        </mc:Fallback>
      </mc:AlternateContent>
      <p:sp>
        <p:nvSpPr>
          <p:cNvPr id="6" name="文字方塊 5">
            <a:extLst>
              <a:ext uri="{FF2B5EF4-FFF2-40B4-BE49-F238E27FC236}">
                <a16:creationId xmlns:a16="http://schemas.microsoft.com/office/drawing/2014/main" id="{74A6BFFF-3C96-54A3-05EC-1724E7A25791}"/>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solidFill>
                  <a:srgbClr val="FF0000"/>
                </a:solidFill>
              </a:rPr>
              <a:t> Rotary of PE</a:t>
            </a:r>
          </a:p>
          <a:p>
            <a:pPr>
              <a:lnSpc>
                <a:spcPts val="1200"/>
              </a:lnSpc>
              <a:buFont typeface="Wingdings" panose="05000000000000000000" pitchFamily="2" charset="2"/>
              <a:buChar char="Ø"/>
            </a:pPr>
            <a:r>
              <a:rPr lang="en-US" altLang="zh-TW" sz="1000" b="1" dirty="0">
                <a:solidFill>
                  <a:srgbClr val="FF0000"/>
                </a:solidFill>
              </a:rPr>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t> MCP</a:t>
            </a:r>
          </a:p>
          <a:p>
            <a:pPr marL="111125" lvl="2">
              <a:lnSpc>
                <a:spcPts val="1200"/>
              </a:lnSpc>
              <a:buFont typeface="Arial" panose="020B0604020202020204" pitchFamily="34" charset="0"/>
              <a:buChar char="•"/>
              <a:defRPr/>
            </a:pPr>
            <a:r>
              <a:rPr lang="en-US" altLang="zh-TW" sz="1000" dirty="0"/>
              <a:t> RAG</a:t>
            </a:r>
          </a:p>
          <a:p>
            <a:pPr marL="111125" lvl="2">
              <a:lnSpc>
                <a:spcPts val="1200"/>
              </a:lnSpc>
              <a:buFont typeface="Arial" panose="020B0604020202020204" pitchFamily="34" charset="0"/>
              <a:buChar char="•"/>
              <a:defRPr/>
            </a:pPr>
            <a:r>
              <a:rPr lang="en-US" altLang="zh-TW" sz="1000" dirty="0"/>
              <a:t> LLM</a:t>
            </a:r>
          </a:p>
          <a:p>
            <a:pPr marL="111125" lvl="2">
              <a:lnSpc>
                <a:spcPts val="1200"/>
              </a:lnSpc>
              <a:buFont typeface="Arial" panose="020B0604020202020204" pitchFamily="34" charset="0"/>
              <a:buChar char="•"/>
              <a:defRPr/>
            </a:pPr>
            <a:r>
              <a:rPr lang="en-US" altLang="zh-TW" sz="1000" dirty="0"/>
              <a:t> Trend Analysis </a:t>
            </a: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t> Supervised FT</a:t>
            </a:r>
          </a:p>
          <a:p>
            <a:pPr marL="111125" lvl="2">
              <a:lnSpc>
                <a:spcPts val="1200"/>
              </a:lnSpc>
              <a:buFont typeface="Arial" panose="020B0604020202020204" pitchFamily="34" charset="0"/>
              <a:buChar char="•"/>
              <a:defRPr/>
            </a:pPr>
            <a:r>
              <a:rPr lang="en-US" altLang="zh-TW" sz="1000" dirty="0"/>
              <a:t> LoRA</a:t>
            </a: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t> Practices</a:t>
            </a:r>
          </a:p>
        </p:txBody>
      </p:sp>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653136"/>
            <a:ext cx="5076564" cy="1862048"/>
          </a:xfrm>
          <a:prstGeom prst="rect">
            <a:avLst/>
          </a:prstGeom>
          <a:noFill/>
        </p:spPr>
        <p:txBody>
          <a:bodyPr wrap="square">
            <a:spAutoFit/>
          </a:bodyPr>
          <a:lstStyle/>
          <a:p>
            <a:pPr>
              <a:lnSpc>
                <a:spcPts val="1800"/>
              </a:lnSpc>
              <a:spcBef>
                <a:spcPts val="600"/>
              </a:spcBef>
              <a:spcAft>
                <a:spcPts val="600"/>
              </a:spcAft>
            </a:pPr>
            <a:r>
              <a:rPr lang="en-US" altLang="zh-TW" sz="2000" b="1" dirty="0"/>
              <a:t>Summary</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a:t>
            </a:r>
            <a:r>
              <a:rPr lang="en-US" altLang="zh-TW" sz="1600" u="none" strike="noStrike" dirty="0">
                <a:effectLst/>
              </a:rPr>
              <a:t>: How GPT generate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75656" y="980728"/>
            <a:ext cx="3046918" cy="3600400"/>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r>
                                  <a:rPr lang="en-US" altLang="zh-TW" sz="1200" b="0" i="0"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sSub>
                                              <m:sSubPr>
                                                <m:ctrlPr>
                                                  <a:rPr lang="en-US"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987191237"/>
                  </p:ext>
                </p:extLst>
              </p:nvPr>
            </p:nvGraphicFramePr>
            <p:xfrm>
              <a:off x="539552" y="1032054"/>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ParaPr>
                                <m:jc m:val="centerGroup"/>
                              </m:oMathParaPr>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ParaPr>
                                <m:jc m:val="centerGroup"/>
                              </m:oMathParaPr>
                              <m:oMath xmlns:m="http://schemas.openxmlformats.org/officeDocument/2006/math">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987191237"/>
                  </p:ext>
                </p:extLst>
              </p:nvPr>
            </p:nvGraphicFramePr>
            <p:xfrm>
              <a:off x="539552" y="1032054"/>
              <a:ext cx="6716487" cy="3693090"/>
            </p:xfrm>
            <a:graphic>
              <a:graphicData uri="http://schemas.openxmlformats.org/drawingml/2006/table">
                <a:tbl>
                  <a:tblPr firstRow="1" bandRow="1">
                    <a:tableStyleId>{5C22544A-7EE6-4342-B048-85BDC9FD1C3A}</a:tableStyleId>
                  </a:tblPr>
                  <a:tblGrid>
                    <a:gridCol w="150089">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17557"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03419"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12025"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Example</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50775" y="2034918"/>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696040" y="4210480"/>
              <a:ext cx="1647614" cy="1749408"/>
              <a:chOff x="1696040" y="4210480"/>
              <a:chExt cx="1647614"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696040" y="5554128"/>
                <a:ext cx="1647614"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13176"/>
              <a:ext cx="1512168" cy="343195"/>
              <a:chOff x="1687320" y="4235716"/>
              <a:chExt cx="1512168" cy="34319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07724"/>
                <a:ext cx="415448" cy="910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839448" y="42357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35699"/>
              <a:ext cx="1515573" cy="301749"/>
              <a:chOff x="1671675" y="4407491"/>
              <a:chExt cx="1515573" cy="3017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57150"/>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479499"/>
                <a:ext cx="403208"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6522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074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68982"/>
              <a:chOff x="1681200" y="4413450"/>
              <a:chExt cx="1473360" cy="268982"/>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9841"/>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243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384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984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grpSp>
        <p:nvGrpSpPr>
          <p:cNvPr id="137" name="群組 136">
            <a:extLst>
              <a:ext uri="{FF2B5EF4-FFF2-40B4-BE49-F238E27FC236}">
                <a16:creationId xmlns:a16="http://schemas.microsoft.com/office/drawing/2014/main" id="{6E5ECE2F-3866-F048-3F7D-5C1BDA977790}"/>
              </a:ext>
            </a:extLst>
          </p:cNvPr>
          <p:cNvGrpSpPr/>
          <p:nvPr/>
        </p:nvGrpSpPr>
        <p:grpSpPr>
          <a:xfrm>
            <a:off x="1376710" y="1784479"/>
            <a:ext cx="5646614" cy="2790428"/>
            <a:chOff x="1376710" y="1784479"/>
            <a:chExt cx="5646614" cy="2790428"/>
          </a:xfrm>
        </p:grpSpPr>
        <p:sp>
          <p:nvSpPr>
            <p:cNvPr id="85" name="矩形 84">
              <a:extLst>
                <a:ext uri="{FF2B5EF4-FFF2-40B4-BE49-F238E27FC236}">
                  <a16:creationId xmlns:a16="http://schemas.microsoft.com/office/drawing/2014/main" id="{B4007E10-EBE6-426F-0B1C-A491696B0EF8}"/>
                </a:ext>
              </a:extLst>
            </p:cNvPr>
            <p:cNvSpPr/>
            <p:nvPr/>
          </p:nvSpPr>
          <p:spPr>
            <a:xfrm>
              <a:off x="6207654" y="1784479"/>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376711" y="2688406"/>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036755" y="111635"/>
              <a:ext cx="247412" cy="4906131"/>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376710" y="3665829"/>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211580" y="2693596"/>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004564" y="1052941"/>
              <a:ext cx="315718" cy="4910058"/>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211580" y="3665829"/>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348330" y="4307748"/>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1600" b="1" dirty="0"/>
              <a:t>Why must we normalize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sp>
        <p:nvSpPr>
          <p:cNvPr id="139" name="語音泡泡: 圓角矩形 138">
            <a:extLst>
              <a:ext uri="{FF2B5EF4-FFF2-40B4-BE49-F238E27FC236}">
                <a16:creationId xmlns:a16="http://schemas.microsoft.com/office/drawing/2014/main" id="{D1F42533-73DB-57E0-AF01-D7B592868FD3}"/>
              </a:ext>
            </a:extLst>
          </p:cNvPr>
          <p:cNvSpPr/>
          <p:nvPr/>
        </p:nvSpPr>
        <p:spPr>
          <a:xfrm>
            <a:off x="4055272" y="4509120"/>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060985" y="4509120"/>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A470BD4-0B3A-8761-338B-16D3700FC10B}"/>
            </a:ext>
          </a:extLst>
        </p:cNvPr>
        <p:cNvGrpSpPr/>
        <p:nvPr/>
      </p:nvGrpSpPr>
      <p:grpSpPr>
        <a:xfrm>
          <a:off x="0" y="0"/>
          <a:ext cx="0" cy="0"/>
          <a:chOff x="0" y="0"/>
          <a:chExt cx="0" cy="0"/>
        </a:xfrm>
      </p:grpSpPr>
      <p:pic>
        <p:nvPicPr>
          <p:cNvPr id="5" name="圖片 4">
            <a:extLst>
              <a:ext uri="{FF2B5EF4-FFF2-40B4-BE49-F238E27FC236}">
                <a16:creationId xmlns:a16="http://schemas.microsoft.com/office/drawing/2014/main" id="{1642B539-21C3-8609-5E84-D3BEED265161}"/>
              </a:ext>
            </a:extLst>
          </p:cNvPr>
          <p:cNvPicPr>
            <a:picLocks noChangeAspect="1"/>
          </p:cNvPicPr>
          <p:nvPr/>
        </p:nvPicPr>
        <p:blipFill>
          <a:blip r:embed="rId3"/>
          <a:stretch>
            <a:fillRect/>
          </a:stretch>
        </p:blipFill>
        <p:spPr>
          <a:xfrm>
            <a:off x="35496" y="4568919"/>
            <a:ext cx="4073577" cy="1998935"/>
          </a:xfrm>
          <a:prstGeom prst="rect">
            <a:avLst/>
          </a:prstGeom>
        </p:spPr>
      </p:pic>
      <p:sp>
        <p:nvSpPr>
          <p:cNvPr id="126" name="圖說文字: 折線不加上框線 125">
            <a:extLst>
              <a:ext uri="{FF2B5EF4-FFF2-40B4-BE49-F238E27FC236}">
                <a16:creationId xmlns:a16="http://schemas.microsoft.com/office/drawing/2014/main" id="{D13CFBDC-5C17-F6FD-E8D3-5329669F765A}"/>
              </a:ext>
            </a:extLst>
          </p:cNvPr>
          <p:cNvSpPr/>
          <p:nvPr/>
        </p:nvSpPr>
        <p:spPr>
          <a:xfrm>
            <a:off x="5065362" y="3418263"/>
            <a:ext cx="1165863" cy="269574"/>
          </a:xfrm>
          <a:prstGeom prst="callout2">
            <a:avLst>
              <a:gd name="adj1" fmla="val 20017"/>
              <a:gd name="adj2" fmla="val 77457"/>
              <a:gd name="adj3" fmla="val -14766"/>
              <a:gd name="adj4" fmla="val 76990"/>
              <a:gd name="adj5" fmla="val -367959"/>
              <a:gd name="adj6" fmla="val 167511"/>
            </a:avLst>
          </a:prstGeom>
          <a:solidFill>
            <a:schemeClr val="tx2">
              <a:lumMod val="20000"/>
              <a:lumOff val="80000"/>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400"/>
          </a:p>
        </p:txBody>
      </p:sp>
      <p:sp>
        <p:nvSpPr>
          <p:cNvPr id="62" name="圖說文字: 折線不加上框線 61">
            <a:extLst>
              <a:ext uri="{FF2B5EF4-FFF2-40B4-BE49-F238E27FC236}">
                <a16:creationId xmlns:a16="http://schemas.microsoft.com/office/drawing/2014/main" id="{969D7E42-CF6D-8DCB-4E53-30D18C5557C0}"/>
              </a:ext>
            </a:extLst>
          </p:cNvPr>
          <p:cNvSpPr/>
          <p:nvPr/>
        </p:nvSpPr>
        <p:spPr>
          <a:xfrm>
            <a:off x="6595788" y="3350865"/>
            <a:ext cx="1165863" cy="362592"/>
          </a:xfrm>
          <a:prstGeom prst="callout2">
            <a:avLst>
              <a:gd name="adj1" fmla="val 28866"/>
              <a:gd name="adj2" fmla="val 20850"/>
              <a:gd name="adj3" fmla="val -5918"/>
              <a:gd name="adj4" fmla="val 20383"/>
              <a:gd name="adj5" fmla="val -247089"/>
              <a:gd name="adj6" fmla="val 68619"/>
            </a:avLst>
          </a:prstGeom>
          <a:solidFill>
            <a:schemeClr val="tx2">
              <a:lumMod val="20000"/>
              <a:lumOff val="80000"/>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400"/>
          </a:p>
        </p:txBody>
      </p:sp>
      <mc:AlternateContent xmlns:mc="http://schemas.openxmlformats.org/markup-compatibility/2006" xmlns:a14="http://schemas.microsoft.com/office/drawing/2010/main">
        <mc:Choice Requires="a14">
          <p:sp>
            <p:nvSpPr>
              <p:cNvPr id="88" name="文字方塊 87">
                <a:extLst>
                  <a:ext uri="{FF2B5EF4-FFF2-40B4-BE49-F238E27FC236}">
                    <a16:creationId xmlns:a16="http://schemas.microsoft.com/office/drawing/2014/main" id="{D71A8021-6DE4-3237-89F6-C9E232820F8F}"/>
                  </a:ext>
                </a:extLst>
              </p:cNvPr>
              <p:cNvSpPr txBox="1"/>
              <p:nvPr/>
            </p:nvSpPr>
            <p:spPr>
              <a:xfrm>
                <a:off x="5188313" y="2940158"/>
                <a:ext cx="1324882" cy="703846"/>
              </a:xfrm>
              <a:prstGeom prst="rect">
                <a:avLst/>
              </a:prstGeom>
              <a:noFill/>
            </p:spPr>
            <p:txBody>
              <a:bodyPr wrap="none" lIns="0" tIns="0" rIns="0" bIns="0" rtlCol="0" anchor="ctr" anchorCtr="0">
                <a:no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dirty="0">
                  <a:latin typeface="Cambria Math" panose="02040503050406030204" pitchFamily="18" charset="0"/>
                </a:endParaRPr>
              </a:p>
              <a:p>
                <a:endParaRPr lang="en-US" altLang="zh-TW" sz="1200" b="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0" smtClean="0">
                              <a:latin typeface="Cambria Math" panose="02040503050406030204" pitchFamily="18" charset="0"/>
                              <a:ea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−1</m:t>
                          </m:r>
                        </m:e>
                      </m:d>
                    </m:oMath>
                  </m:oMathPara>
                </a14:m>
                <a:br>
                  <a:rPr lang="en-US" altLang="zh-TW" sz="1400" b="0" dirty="0"/>
                </a:br>
                <a:endParaRPr lang="en-US" altLang="zh-TW" sz="1400" b="0" dirty="0"/>
              </a:p>
            </p:txBody>
          </p:sp>
        </mc:Choice>
        <mc:Fallback xmlns="">
          <p:sp>
            <p:nvSpPr>
              <p:cNvPr id="88" name="文字方塊 87">
                <a:extLst>
                  <a:ext uri="{FF2B5EF4-FFF2-40B4-BE49-F238E27FC236}">
                    <a16:creationId xmlns:a16="http://schemas.microsoft.com/office/drawing/2014/main" id="{D71A8021-6DE4-3237-89F6-C9E232820F8F}"/>
                  </a:ext>
                </a:extLst>
              </p:cNvPr>
              <p:cNvSpPr txBox="1">
                <a:spLocks noRot="1" noChangeAspect="1" noMove="1" noResize="1" noEditPoints="1" noAdjustHandles="1" noChangeArrowheads="1" noChangeShapeType="1" noTextEdit="1"/>
              </p:cNvSpPr>
              <p:nvPr/>
            </p:nvSpPr>
            <p:spPr>
              <a:xfrm>
                <a:off x="5188313" y="2940158"/>
                <a:ext cx="1324882" cy="703846"/>
              </a:xfrm>
              <a:prstGeom prst="rect">
                <a:avLst/>
              </a:prstGeom>
              <a:blipFill>
                <a:blip r:embed="rId4"/>
                <a:stretch>
                  <a:fillRect l="-2765" t="-1724" b="-2586"/>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3" name="文字方塊 82">
                <a:extLst>
                  <a:ext uri="{FF2B5EF4-FFF2-40B4-BE49-F238E27FC236}">
                    <a16:creationId xmlns:a16="http://schemas.microsoft.com/office/drawing/2014/main" id="{CD1B30EE-A555-AF3C-1ACF-C67A58852798}"/>
                  </a:ext>
                </a:extLst>
              </p:cNvPr>
              <p:cNvSpPr txBox="1"/>
              <p:nvPr/>
            </p:nvSpPr>
            <p:spPr>
              <a:xfrm>
                <a:off x="5598232" y="2229082"/>
                <a:ext cx="2376264" cy="50199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𝑤</m:t>
                      </m:r>
                      <m:r>
                        <a:rPr lang="en-US" altLang="zh-TW" sz="1400" b="0" i="1" smtClean="0">
                          <a:latin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smtClean="0">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den>
                      </m:f>
                    </m:oMath>
                  </m:oMathPara>
                </a14:m>
                <a:endParaRPr lang="zh-TW" altLang="en-US" sz="1400" dirty="0"/>
              </a:p>
            </p:txBody>
          </p:sp>
        </mc:Choice>
        <mc:Fallback xmlns="">
          <p:sp>
            <p:nvSpPr>
              <p:cNvPr id="83" name="文字方塊 82">
                <a:extLst>
                  <a:ext uri="{FF2B5EF4-FFF2-40B4-BE49-F238E27FC236}">
                    <a16:creationId xmlns:a16="http://schemas.microsoft.com/office/drawing/2014/main" id="{CD1B30EE-A555-AF3C-1ACF-C67A58852798}"/>
                  </a:ext>
                </a:extLst>
              </p:cNvPr>
              <p:cNvSpPr txBox="1">
                <a:spLocks noRot="1" noChangeAspect="1" noMove="1" noResize="1" noEditPoints="1" noAdjustHandles="1" noChangeArrowheads="1" noChangeShapeType="1" noTextEdit="1"/>
              </p:cNvSpPr>
              <p:nvPr/>
            </p:nvSpPr>
            <p:spPr>
              <a:xfrm>
                <a:off x="5598232" y="2229082"/>
                <a:ext cx="2376264" cy="501997"/>
              </a:xfrm>
              <a:prstGeom prst="rect">
                <a:avLst/>
              </a:prstGeom>
              <a:blipFill>
                <a:blip r:embed="rId5"/>
                <a:stretch>
                  <a:fillRect b="-24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0" name="文字方塊 89">
                <a:extLst>
                  <a:ext uri="{FF2B5EF4-FFF2-40B4-BE49-F238E27FC236}">
                    <a16:creationId xmlns:a16="http://schemas.microsoft.com/office/drawing/2014/main" id="{E05D3B94-FFF2-997C-CCEC-DAC320C7FC87}"/>
                  </a:ext>
                </a:extLst>
              </p:cNvPr>
              <p:cNvSpPr txBox="1"/>
              <p:nvPr/>
            </p:nvSpPr>
            <p:spPr>
              <a:xfrm>
                <a:off x="4663330" y="1945197"/>
                <a:ext cx="1684142" cy="30777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zh-TW" altLang="en-US" sz="1400" b="0" i="1" smtClean="0">
                          <a:latin typeface="Cambria Math" panose="02040503050406030204" pitchFamily="18" charset="0"/>
                          <a:ea typeface="Cambria Math" panose="02040503050406030204" pitchFamily="18" charset="0"/>
                        </a:rPr>
                        <m:t>𝜂</m:t>
                      </m:r>
                      <m:r>
                        <a:rPr lang="zh-TW" altLang="en-US" sz="1400" i="1" smtClean="0">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r>
                        <a:rPr lang="en-US" altLang="zh-TW" sz="1400" i="1">
                          <a:latin typeface="Cambria Math" panose="02040503050406030204" pitchFamily="18" charset="0"/>
                        </a:rPr>
                        <m:t>𝑤</m:t>
                      </m:r>
                      <m:r>
                        <a:rPr lang="en-US" altLang="zh-TW" sz="1400" i="1">
                          <a:latin typeface="Cambria Math" panose="02040503050406030204" pitchFamily="18" charset="0"/>
                        </a:rPr>
                        <m:t>)</m:t>
                      </m:r>
                    </m:oMath>
                  </m:oMathPara>
                </a14:m>
                <a:endParaRPr lang="en-US" altLang="zh-TW" sz="1400" b="0" i="1" dirty="0">
                  <a:latin typeface="Cambria Math" panose="02040503050406030204" pitchFamily="18" charset="0"/>
                </a:endParaRPr>
              </a:p>
            </p:txBody>
          </p:sp>
        </mc:Choice>
        <mc:Fallback xmlns="">
          <p:sp>
            <p:nvSpPr>
              <p:cNvPr id="90" name="文字方塊 89">
                <a:extLst>
                  <a:ext uri="{FF2B5EF4-FFF2-40B4-BE49-F238E27FC236}">
                    <a16:creationId xmlns:a16="http://schemas.microsoft.com/office/drawing/2014/main" id="{E05D3B94-FFF2-997C-CCEC-DAC320C7FC87}"/>
                  </a:ext>
                </a:extLst>
              </p:cNvPr>
              <p:cNvSpPr txBox="1">
                <a:spLocks noRot="1" noChangeAspect="1" noMove="1" noResize="1" noEditPoints="1" noAdjustHandles="1" noChangeArrowheads="1" noChangeShapeType="1" noTextEdit="1"/>
              </p:cNvSpPr>
              <p:nvPr/>
            </p:nvSpPr>
            <p:spPr>
              <a:xfrm>
                <a:off x="4663330" y="1945197"/>
                <a:ext cx="1684142" cy="307777"/>
              </a:xfrm>
              <a:prstGeom prst="rect">
                <a:avLst/>
              </a:prstGeom>
              <a:blipFill>
                <a:blip r:embed="rId6"/>
                <a:stretch>
                  <a:fillRect b="-7843"/>
                </a:stretch>
              </a:blipFill>
            </p:spPr>
            <p:txBody>
              <a:bodyPr/>
              <a:lstStyle/>
              <a:p>
                <a:r>
                  <a:rPr lang="zh-TW" altLang="en-US">
                    <a:noFill/>
                  </a:rPr>
                  <a:t> </a:t>
                </a:r>
              </a:p>
            </p:txBody>
          </p:sp>
        </mc:Fallback>
      </mc:AlternateContent>
      <p:grpSp>
        <p:nvGrpSpPr>
          <p:cNvPr id="2" name="群組 1">
            <a:extLst>
              <a:ext uri="{FF2B5EF4-FFF2-40B4-BE49-F238E27FC236}">
                <a16:creationId xmlns:a16="http://schemas.microsoft.com/office/drawing/2014/main" id="{7BBFCDFC-8455-654F-81FA-2F7934574061}"/>
              </a:ext>
            </a:extLst>
          </p:cNvPr>
          <p:cNvGrpSpPr/>
          <p:nvPr/>
        </p:nvGrpSpPr>
        <p:grpSpPr>
          <a:xfrm>
            <a:off x="2547506" y="2007114"/>
            <a:ext cx="1561567" cy="998560"/>
            <a:chOff x="1565170" y="985713"/>
            <a:chExt cx="1561567" cy="998560"/>
          </a:xfrm>
        </p:grpSpPr>
        <p:sp>
          <p:nvSpPr>
            <p:cNvPr id="91" name="流程圖: 接點 90">
              <a:extLst>
                <a:ext uri="{FF2B5EF4-FFF2-40B4-BE49-F238E27FC236}">
                  <a16:creationId xmlns:a16="http://schemas.microsoft.com/office/drawing/2014/main" id="{27A34108-C6B6-4CA3-37EF-0F781206AB19}"/>
                </a:ext>
              </a:extLst>
            </p:cNvPr>
            <p:cNvSpPr/>
            <p:nvPr/>
          </p:nvSpPr>
          <p:spPr>
            <a:xfrm>
              <a:off x="2195736" y="1519983"/>
              <a:ext cx="360040" cy="360040"/>
            </a:xfrm>
            <a:prstGeom prst="flowChartConnector">
              <a:avLst/>
            </a:prstGeom>
            <a:no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tx1"/>
                  </a:solidFill>
                </a:rPr>
                <a:t>b   a</a:t>
              </a:r>
              <a:endParaRPr lang="zh-TW" altLang="en-US" sz="1200" dirty="0">
                <a:solidFill>
                  <a:schemeClr val="tx1"/>
                </a:solidFill>
              </a:endParaRPr>
            </a:p>
          </p:txBody>
        </p:sp>
        <p:cxnSp>
          <p:nvCxnSpPr>
            <p:cNvPr id="93" name="直線接點 92">
              <a:extLst>
                <a:ext uri="{FF2B5EF4-FFF2-40B4-BE49-F238E27FC236}">
                  <a16:creationId xmlns:a16="http://schemas.microsoft.com/office/drawing/2014/main" id="{581E3EEE-3B2F-78DE-91E6-08BC170C92D2}"/>
                </a:ext>
              </a:extLst>
            </p:cNvPr>
            <p:cNvCxnSpPr>
              <a:stCxn id="91" idx="0"/>
              <a:endCxn id="91" idx="4"/>
            </p:cNvCxnSpPr>
            <p:nvPr/>
          </p:nvCxnSpPr>
          <p:spPr>
            <a:xfrm>
              <a:off x="2375756" y="1519983"/>
              <a:ext cx="0" cy="360040"/>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95" name="直線單箭頭接點 94">
              <a:extLst>
                <a:ext uri="{FF2B5EF4-FFF2-40B4-BE49-F238E27FC236}">
                  <a16:creationId xmlns:a16="http://schemas.microsoft.com/office/drawing/2014/main" id="{A3D68FA1-3525-27FC-0823-73E733185BFA}"/>
                </a:ext>
              </a:extLst>
            </p:cNvPr>
            <p:cNvCxnSpPr>
              <a:cxnSpLocks/>
              <a:stCxn id="107" idx="3"/>
              <a:endCxn id="91" idx="1"/>
            </p:cNvCxnSpPr>
            <p:nvPr/>
          </p:nvCxnSpPr>
          <p:spPr>
            <a:xfrm>
              <a:off x="1861472" y="1093435"/>
              <a:ext cx="386991" cy="4792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直線單箭頭接點 96">
              <a:extLst>
                <a:ext uri="{FF2B5EF4-FFF2-40B4-BE49-F238E27FC236}">
                  <a16:creationId xmlns:a16="http://schemas.microsoft.com/office/drawing/2014/main" id="{38B164E3-6072-E6FC-6A42-F417C68F819D}"/>
                </a:ext>
              </a:extLst>
            </p:cNvPr>
            <p:cNvCxnSpPr>
              <a:cxnSpLocks/>
              <a:stCxn id="108" idx="3"/>
              <a:endCxn id="91" idx="2"/>
            </p:cNvCxnSpPr>
            <p:nvPr/>
          </p:nvCxnSpPr>
          <p:spPr>
            <a:xfrm>
              <a:off x="1717456" y="1507789"/>
              <a:ext cx="478280" cy="1922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6" name="文字方塊 105">
              <a:extLst>
                <a:ext uri="{FF2B5EF4-FFF2-40B4-BE49-F238E27FC236}">
                  <a16:creationId xmlns:a16="http://schemas.microsoft.com/office/drawing/2014/main" id="{28D5786C-C5FF-64EF-A732-2BD7870003B3}"/>
                </a:ext>
              </a:extLst>
            </p:cNvPr>
            <p:cNvSpPr txBox="1"/>
            <p:nvPr/>
          </p:nvSpPr>
          <p:spPr>
            <a:xfrm>
              <a:off x="1670879" y="1676496"/>
              <a:ext cx="475890" cy="307777"/>
            </a:xfrm>
            <a:prstGeom prst="rect">
              <a:avLst/>
            </a:prstGeom>
            <a:noFill/>
          </p:spPr>
          <p:txBody>
            <a:bodyPr wrap="none" lIns="0" tIns="0" rIns="0" bIns="0" anchor="ctr" anchorCtr="1">
              <a:noAutofit/>
            </a:bodyPr>
            <a:lstStyle/>
            <a:p>
              <a:pPr algn="ctr"/>
              <a:r>
                <a:rPr lang="en-US" altLang="zh-TW" sz="1400" b="0" i="1" dirty="0">
                  <a:latin typeface="Cambria Math" panose="02040503050406030204" pitchFamily="18" charset="0"/>
                </a:rPr>
                <a:t>…</a:t>
              </a:r>
            </a:p>
          </p:txBody>
        </p:sp>
        <p:sp>
          <p:nvSpPr>
            <p:cNvPr id="107" name="文字方塊 106">
              <a:extLst>
                <a:ext uri="{FF2B5EF4-FFF2-40B4-BE49-F238E27FC236}">
                  <a16:creationId xmlns:a16="http://schemas.microsoft.com/office/drawing/2014/main" id="{79147F9F-A8A3-1905-3221-C71BFADDB0CD}"/>
                </a:ext>
              </a:extLst>
            </p:cNvPr>
            <p:cNvSpPr txBox="1"/>
            <p:nvPr/>
          </p:nvSpPr>
          <p:spPr>
            <a:xfrm>
              <a:off x="1709186" y="985713"/>
              <a:ext cx="152286"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x</a:t>
              </a:r>
              <a:r>
                <a:rPr lang="en-US" altLang="zh-TW" sz="1400" baseline="-25000" dirty="0">
                  <a:latin typeface="Cambria Math" panose="02040503050406030204" pitchFamily="18" charset="0"/>
                </a:rPr>
                <a:t>1</a:t>
              </a:r>
              <a:endParaRPr lang="en-US" altLang="zh-TW" sz="1400" b="0" baseline="-25000" dirty="0">
                <a:latin typeface="Cambria Math" panose="02040503050406030204" pitchFamily="18" charset="0"/>
              </a:endParaRPr>
            </a:p>
          </p:txBody>
        </p:sp>
        <p:sp>
          <p:nvSpPr>
            <p:cNvPr id="108" name="文字方塊 107">
              <a:extLst>
                <a:ext uri="{FF2B5EF4-FFF2-40B4-BE49-F238E27FC236}">
                  <a16:creationId xmlns:a16="http://schemas.microsoft.com/office/drawing/2014/main" id="{FCE26686-4760-0719-D6F3-D81BF164EBE6}"/>
                </a:ext>
              </a:extLst>
            </p:cNvPr>
            <p:cNvSpPr txBox="1"/>
            <p:nvPr/>
          </p:nvSpPr>
          <p:spPr>
            <a:xfrm>
              <a:off x="1565170" y="1400067"/>
              <a:ext cx="152286" cy="215444"/>
            </a:xfrm>
            <a:prstGeom prst="rect">
              <a:avLst/>
            </a:prstGeom>
            <a:noFill/>
          </p:spPr>
          <p:txBody>
            <a:bodyPr wrap="none" lIns="0" tIns="0" rIns="0" bIns="0" anchor="ctr" anchorCtr="1">
              <a:noAutofit/>
            </a:bodyPr>
            <a:lstStyle/>
            <a:p>
              <a:pPr algn="ctr"/>
              <a:r>
                <a:rPr lang="en-US" altLang="zh-TW" sz="1400" dirty="0">
                  <a:latin typeface="Cambria Math" panose="02040503050406030204" pitchFamily="18" charset="0"/>
                </a:rPr>
                <a:t>x</a:t>
              </a:r>
              <a:r>
                <a:rPr lang="en-US" altLang="zh-TW" sz="1400" baseline="-25000" dirty="0">
                  <a:latin typeface="Cambria Math" panose="02040503050406030204" pitchFamily="18" charset="0"/>
                </a:rPr>
                <a:t>2</a:t>
              </a:r>
              <a:endParaRPr lang="en-US" altLang="zh-TW" sz="1400" b="0" baseline="-25000" dirty="0">
                <a:latin typeface="Cambria Math" panose="02040503050406030204" pitchFamily="18" charset="0"/>
              </a:endParaRPr>
            </a:p>
          </p:txBody>
        </p:sp>
        <p:sp>
          <p:nvSpPr>
            <p:cNvPr id="114" name="文字方塊 113">
              <a:extLst>
                <a:ext uri="{FF2B5EF4-FFF2-40B4-BE49-F238E27FC236}">
                  <a16:creationId xmlns:a16="http://schemas.microsoft.com/office/drawing/2014/main" id="{2A7965A0-14B9-0E84-C8EE-FD0FC190101E}"/>
                </a:ext>
              </a:extLst>
            </p:cNvPr>
            <p:cNvSpPr txBox="1"/>
            <p:nvPr/>
          </p:nvSpPr>
          <p:spPr>
            <a:xfrm>
              <a:off x="1933480" y="1183463"/>
              <a:ext cx="205184"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w</a:t>
              </a:r>
              <a:r>
                <a:rPr lang="en-US" altLang="zh-TW" sz="1400" baseline="-25000" dirty="0">
                  <a:latin typeface="Cambria Math" panose="02040503050406030204" pitchFamily="18" charset="0"/>
                </a:rPr>
                <a:t>1</a:t>
              </a:r>
              <a:endParaRPr lang="en-US" altLang="zh-TW" sz="1400" b="0" baseline="-25000" dirty="0">
                <a:latin typeface="Cambria Math" panose="02040503050406030204" pitchFamily="18" charset="0"/>
              </a:endParaRPr>
            </a:p>
          </p:txBody>
        </p:sp>
        <p:sp>
          <p:nvSpPr>
            <p:cNvPr id="115" name="文字方塊 114">
              <a:extLst>
                <a:ext uri="{FF2B5EF4-FFF2-40B4-BE49-F238E27FC236}">
                  <a16:creationId xmlns:a16="http://schemas.microsoft.com/office/drawing/2014/main" id="{F7BCEEA1-767D-263C-D750-052EECC88EE3}"/>
                </a:ext>
              </a:extLst>
            </p:cNvPr>
            <p:cNvSpPr txBox="1"/>
            <p:nvPr/>
          </p:nvSpPr>
          <p:spPr>
            <a:xfrm>
              <a:off x="1800304" y="1471495"/>
              <a:ext cx="205184"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w</a:t>
              </a:r>
              <a:r>
                <a:rPr lang="en-US" altLang="zh-TW" sz="1400" baseline="-25000" dirty="0">
                  <a:latin typeface="Cambria Math" panose="02040503050406030204" pitchFamily="18" charset="0"/>
                </a:rPr>
                <a:t>2</a:t>
              </a:r>
              <a:endParaRPr lang="en-US" altLang="zh-TW" sz="1400" b="0" baseline="-25000" dirty="0">
                <a:latin typeface="Cambria Math" panose="02040503050406030204" pitchFamily="18" charset="0"/>
              </a:endParaRPr>
            </a:p>
          </p:txBody>
        </p:sp>
        <p:cxnSp>
          <p:nvCxnSpPr>
            <p:cNvPr id="116" name="直線單箭頭接點 115">
              <a:extLst>
                <a:ext uri="{FF2B5EF4-FFF2-40B4-BE49-F238E27FC236}">
                  <a16:creationId xmlns:a16="http://schemas.microsoft.com/office/drawing/2014/main" id="{25C7B506-0473-83B6-F8EC-3B732D675C20}"/>
                </a:ext>
              </a:extLst>
            </p:cNvPr>
            <p:cNvCxnSpPr>
              <a:cxnSpLocks/>
              <a:stCxn id="91" idx="6"/>
            </p:cNvCxnSpPr>
            <p:nvPr/>
          </p:nvCxnSpPr>
          <p:spPr>
            <a:xfrm>
              <a:off x="2555776" y="1700003"/>
              <a:ext cx="57096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0" name="文字方塊 119">
                <a:extLst>
                  <a:ext uri="{FF2B5EF4-FFF2-40B4-BE49-F238E27FC236}">
                    <a16:creationId xmlns:a16="http://schemas.microsoft.com/office/drawing/2014/main" id="{F7FC68DD-5ED9-949C-ADEF-7B2B32BF89BF}"/>
                  </a:ext>
                </a:extLst>
              </p:cNvPr>
              <p:cNvSpPr txBox="1"/>
              <p:nvPr/>
            </p:nvSpPr>
            <p:spPr>
              <a:xfrm>
                <a:off x="2780945" y="3099359"/>
                <a:ext cx="1214050" cy="1365310"/>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nary>
                        <m:naryPr>
                          <m:chr m:val="∑"/>
                          <m:subHide m:val="on"/>
                          <m:supHide m:val="on"/>
                          <m:ctrlPr>
                            <a:rPr lang="en-US" altLang="zh-TW" sz="1200" b="0" i="1" smtClean="0">
                              <a:latin typeface="Cambria Math" panose="02040503050406030204" pitchFamily="18" charset="0"/>
                            </a:rPr>
                          </m:ctrlPr>
                        </m:naryPr>
                        <m:sub/>
                        <m:sup/>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𝑥</m:t>
                              </m:r>
                            </m:e>
                            <m:sub>
                              <m:r>
                                <a:rPr lang="en-US" altLang="zh-TW" sz="1200" b="0" i="1" smtClean="0">
                                  <a:latin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𝑤</m:t>
                              </m:r>
                            </m:e>
                            <m:sub>
                              <m:r>
                                <a:rPr lang="en-US" altLang="zh-TW" sz="1200" b="0" i="1" smtClean="0">
                                  <a:latin typeface="Cambria Math" panose="02040503050406030204" pitchFamily="18" charset="0"/>
                                  <a:ea typeface="Cambria Math" panose="02040503050406030204" pitchFamily="18" charset="0"/>
                                </a:rPr>
                                <m:t>𝑖</m:t>
                              </m:r>
                            </m:sub>
                          </m:sSub>
                        </m:e>
                      </m:nary>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𝑏</m:t>
                      </m:r>
                    </m:oMath>
                  </m:oMathPara>
                </a14:m>
                <a:endParaRPr lang="en-US" altLang="zh-TW" sz="1200" b="0" dirty="0"/>
              </a:p>
              <a:p>
                <a:pPr/>
                <a14:m>
                  <m:oMathPara xmlns:m="http://schemas.openxmlformats.org/officeDocument/2006/math">
                    <m:oMathParaPr>
                      <m:jc m:val="left"/>
                    </m:oMathParaPr>
                    <m:oMath xmlns:m="http://schemas.openxmlformats.org/officeDocument/2006/math">
                      <m:f>
                        <m:fPr>
                          <m:ctrlPr>
                            <a:rPr lang="en-US" altLang="zh-TW"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𝑤</m:t>
                              </m:r>
                            </m:e>
                            <m:sub>
                              <m:r>
                                <a:rPr lang="en-US" altLang="zh-TW" sz="1200" b="0" i="1" smtClean="0">
                                  <a:latin typeface="Cambria Math" panose="02040503050406030204" pitchFamily="18" charset="0"/>
                                  <a:ea typeface="Cambria Math" panose="02040503050406030204" pitchFamily="18" charset="0"/>
                                </a:rPr>
                                <m:t>𝑖</m:t>
                              </m:r>
                            </m:sub>
                          </m:sSub>
                        </m:den>
                      </m:f>
                      <m:r>
                        <a:rPr lang="en-US" altLang="zh-TW" sz="1200" b="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𝑥</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Cambria Math" panose="020405030504060302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mc:Choice>
        <mc:Fallback xmlns="">
          <p:sp>
            <p:nvSpPr>
              <p:cNvPr id="120" name="文字方塊 119">
                <a:extLst>
                  <a:ext uri="{FF2B5EF4-FFF2-40B4-BE49-F238E27FC236}">
                    <a16:creationId xmlns:a16="http://schemas.microsoft.com/office/drawing/2014/main" id="{F7FC68DD-5ED9-949C-ADEF-7B2B32BF89BF}"/>
                  </a:ext>
                </a:extLst>
              </p:cNvPr>
              <p:cNvSpPr txBox="1">
                <a:spLocks noRot="1" noChangeAspect="1" noMove="1" noResize="1" noEditPoints="1" noAdjustHandles="1" noChangeArrowheads="1" noChangeShapeType="1" noTextEdit="1"/>
              </p:cNvSpPr>
              <p:nvPr/>
            </p:nvSpPr>
            <p:spPr>
              <a:xfrm>
                <a:off x="2780945" y="3099359"/>
                <a:ext cx="1214050" cy="1365310"/>
              </a:xfrm>
              <a:prstGeom prst="rect">
                <a:avLst/>
              </a:prstGeom>
              <a:blipFill>
                <a:blip r:embed="rId7"/>
                <a:stretch>
                  <a:fillRect l="-25628" t="-49107" r="-33668" b="-357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2" name="文字方塊 121">
                <a:extLst>
                  <a:ext uri="{FF2B5EF4-FFF2-40B4-BE49-F238E27FC236}">
                    <a16:creationId xmlns:a16="http://schemas.microsoft.com/office/drawing/2014/main" id="{E7439828-3872-4A8E-DEBD-FBDB31B91A09}"/>
                  </a:ext>
                </a:extLst>
              </p:cNvPr>
              <p:cNvSpPr txBox="1"/>
              <p:nvPr/>
            </p:nvSpPr>
            <p:spPr>
              <a:xfrm>
                <a:off x="7284512" y="1605349"/>
                <a:ext cx="1684142" cy="52322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𝑎</m:t>
                      </m:r>
                      <m:d>
                        <m:dPr>
                          <m:ctrlPr>
                            <a:rPr lang="en-US" altLang="zh-TW" sz="1400" b="0" i="1">
                              <a:latin typeface="Cambria Math" panose="02040503050406030204" pitchFamily="18" charset="0"/>
                            </a:rPr>
                          </m:ctrlPr>
                        </m:dPr>
                        <m:e>
                          <m:r>
                            <a:rPr lang="en-US" altLang="zh-TW" sz="1400" b="0" i="1" smtClean="0">
                              <a:latin typeface="Cambria Math" panose="02040503050406030204" pitchFamily="18" charset="0"/>
                            </a:rPr>
                            <m:t>𝑧</m:t>
                          </m:r>
                        </m:e>
                      </m:d>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𝑝𝑟𝑒𝑑𝑖𝑐𝑡</m:t>
                      </m:r>
                    </m:oMath>
                  </m:oMathPara>
                </a14:m>
                <a:endParaRPr lang="en-US" altLang="zh-TW" sz="1400" b="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altLang="zh-TW" sz="1400" b="0" i="1" smtClean="0">
                              <a:latin typeface="Cambria Math" panose="02040503050406030204" pitchFamily="18" charset="0"/>
                            </a:rPr>
                          </m:ctrlPr>
                        </m:sSubPr>
                        <m:e>
                          <m:r>
                            <a:rPr lang="en-US" altLang="zh-TW" sz="1400" b="0" i="1" smtClean="0">
                              <a:latin typeface="Cambria Math" panose="02040503050406030204" pitchFamily="18" charset="0"/>
                            </a:rPr>
                            <m:t>𝑦</m:t>
                          </m:r>
                        </m:e>
                        <m:sub>
                          <m:r>
                            <a:rPr lang="en-US" altLang="zh-TW" sz="1400" b="0" i="1" smtClean="0">
                              <a:latin typeface="Cambria Math" panose="02040503050406030204" pitchFamily="18" charset="0"/>
                            </a:rPr>
                            <m:t>𝑡</m:t>
                          </m:r>
                        </m:sub>
                      </m:sSub>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𝑟𝑒𝑎𝑙</m:t>
                      </m:r>
                      <m:r>
                        <a:rPr lang="en-US" altLang="zh-TW" sz="1400" b="0" i="1" smtClean="0">
                          <a:latin typeface="Cambria Math" panose="02040503050406030204" pitchFamily="18" charset="0"/>
                        </a:rPr>
                        <m:t> </m:t>
                      </m:r>
                      <m:r>
                        <a:rPr lang="en-US" altLang="zh-TW" sz="1400" b="0" i="1" smtClean="0">
                          <a:latin typeface="Cambria Math" panose="02040503050406030204" pitchFamily="18" charset="0"/>
                        </a:rPr>
                        <m:t>𝑣𝑎𝑙𝑢𝑒</m:t>
                      </m:r>
                    </m:oMath>
                  </m:oMathPara>
                </a14:m>
                <a:endParaRPr lang="en-US" altLang="zh-TW" sz="1400" b="0" i="1" dirty="0">
                  <a:latin typeface="Cambria Math" panose="02040503050406030204" pitchFamily="18" charset="0"/>
                </a:endParaRPr>
              </a:p>
            </p:txBody>
          </p:sp>
        </mc:Choice>
        <mc:Fallback xmlns="">
          <p:sp>
            <p:nvSpPr>
              <p:cNvPr id="122" name="文字方塊 121">
                <a:extLst>
                  <a:ext uri="{FF2B5EF4-FFF2-40B4-BE49-F238E27FC236}">
                    <a16:creationId xmlns:a16="http://schemas.microsoft.com/office/drawing/2014/main" id="{E7439828-3872-4A8E-DEBD-FBDB31B91A09}"/>
                  </a:ext>
                </a:extLst>
              </p:cNvPr>
              <p:cNvSpPr txBox="1">
                <a:spLocks noRot="1" noChangeAspect="1" noMove="1" noResize="1" noEditPoints="1" noAdjustHandles="1" noChangeArrowheads="1" noChangeShapeType="1" noTextEdit="1"/>
              </p:cNvSpPr>
              <p:nvPr/>
            </p:nvSpPr>
            <p:spPr>
              <a:xfrm>
                <a:off x="7284512" y="1605349"/>
                <a:ext cx="1684142" cy="523220"/>
              </a:xfrm>
              <a:prstGeom prst="rect">
                <a:avLst/>
              </a:prstGeom>
              <a:blipFill>
                <a:blip r:embed="rId8"/>
                <a:stretch>
                  <a:fillRect b="-116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3" name="文字方塊 122">
                <a:extLst>
                  <a:ext uri="{FF2B5EF4-FFF2-40B4-BE49-F238E27FC236}">
                    <a16:creationId xmlns:a16="http://schemas.microsoft.com/office/drawing/2014/main" id="{CCE819DD-F95F-A64B-6F5D-A08144D5D2A1}"/>
                  </a:ext>
                </a:extLst>
              </p:cNvPr>
              <p:cNvSpPr txBox="1"/>
              <p:nvPr/>
            </p:nvSpPr>
            <p:spPr>
              <a:xfrm>
                <a:off x="6704934" y="2995457"/>
                <a:ext cx="2376264" cy="695701"/>
              </a:xfrm>
              <a:prstGeom prst="rect">
                <a:avLst/>
              </a:prstGeom>
              <a:noFill/>
            </p:spPr>
            <p:txBody>
              <a:bodyPr wrap="none" lIns="0" tIns="0" rIns="0" bIns="0" rtlCol="0" anchor="ctr" anchorCtr="0">
                <a:no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L</m:t>
                      </m:r>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m:rPr>
                                  <m:sty m:val="p"/>
                                </m:rPr>
                                <a:rPr lang="en-US" altLang="zh-TW" sz="1200" b="0" i="0" smtClean="0">
                                  <a:latin typeface="Cambria Math" panose="02040503050406030204" pitchFamily="18" charset="0"/>
                                </a:rPr>
                                <m:t>y</m:t>
                              </m:r>
                            </m:e>
                            <m:sub>
                              <m:r>
                                <m:rPr>
                                  <m:sty m:val="p"/>
                                </m:rPr>
                                <a:rPr lang="en-US" altLang="zh-TW" sz="1200" b="0" i="0" smtClean="0">
                                  <a:latin typeface="Cambria Math" panose="02040503050406030204" pitchFamily="18" charset="0"/>
                                </a:rPr>
                                <m:t>t</m:t>
                              </m:r>
                            </m:sub>
                          </m:sSub>
                          <m:func>
                            <m:funcPr>
                              <m:ctrlPr>
                                <a:rPr lang="en-US" altLang="zh-TW" sz="1200" b="0" i="1" smtClean="0">
                                  <a:latin typeface="Cambria Math" panose="02040503050406030204" pitchFamily="18" charset="0"/>
                                </a:rPr>
                              </m:ctrlPr>
                            </m:funcPr>
                            <m:fName>
                              <m:r>
                                <m:rPr>
                                  <m:sty m:val="p"/>
                                </m:rPr>
                                <a:rPr lang="en-US" altLang="zh-TW" sz="1200" b="0" i="0" smtClean="0">
                                  <a:latin typeface="Cambria Math" panose="02040503050406030204" pitchFamily="18" charset="0"/>
                                </a:rPr>
                                <m:t>ln</m:t>
                              </m:r>
                            </m:fName>
                            <m:e>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a</m:t>
                                  </m:r>
                                </m:e>
                              </m:d>
                            </m:e>
                          </m:func>
                          <m:r>
                            <a:rPr lang="en-US" altLang="zh-TW" sz="1200" b="0" i="0" smtClean="0">
                              <a:latin typeface="Cambria Math" panose="02040503050406030204" pitchFamily="18" charset="0"/>
                            </a:rPr>
                            <m:t>+</m:t>
                          </m:r>
                          <m:d>
                            <m:dPr>
                              <m:ctrlPr>
                                <a:rPr lang="en-US" altLang="zh-TW" sz="1200" b="0" i="1" smtClean="0">
                                  <a:latin typeface="Cambria Math" panose="02040503050406030204" pitchFamily="18" charset="0"/>
                                </a:rPr>
                              </m:ctrlPr>
                            </m:dPr>
                            <m:e>
                              <m:r>
                                <a:rPr lang="en-US" altLang="zh-TW" sz="1200" b="0" i="0" smtClean="0">
                                  <a:latin typeface="Cambria Math" panose="02040503050406030204" pitchFamily="18" charset="0"/>
                                </a:rPr>
                                <m:t>1−</m:t>
                              </m:r>
                              <m:sSub>
                                <m:sSubPr>
                                  <m:ctrlPr>
                                    <a:rPr lang="en-US" altLang="zh-TW" sz="1200" i="1">
                                      <a:latin typeface="Cambria Math" panose="02040503050406030204" pitchFamily="18" charset="0"/>
                                    </a:rPr>
                                  </m:ctrlPr>
                                </m:sSubPr>
                                <m:e>
                                  <m:r>
                                    <m:rPr>
                                      <m:sty m:val="p"/>
                                    </m:rPr>
                                    <a:rPr lang="en-US" altLang="zh-TW" sz="1200" i="0">
                                      <a:latin typeface="Cambria Math" panose="02040503050406030204" pitchFamily="18" charset="0"/>
                                    </a:rPr>
                                    <m:t>y</m:t>
                                  </m:r>
                                </m:e>
                                <m:sub>
                                  <m:r>
                                    <m:rPr>
                                      <m:sty m:val="p"/>
                                    </m:rPr>
                                    <a:rPr lang="en-US" altLang="zh-TW" sz="1200" i="0">
                                      <a:latin typeface="Cambria Math" panose="02040503050406030204" pitchFamily="18" charset="0"/>
                                    </a:rPr>
                                    <m:t>t</m:t>
                                  </m:r>
                                </m:sub>
                              </m:sSub>
                            </m:e>
                          </m:d>
                          <m:func>
                            <m:funcPr>
                              <m:ctrlPr>
                                <a:rPr lang="en-US" altLang="zh-TW" sz="1200" b="0" i="1" smtClean="0">
                                  <a:latin typeface="Cambria Math" panose="02040503050406030204" pitchFamily="18" charset="0"/>
                                </a:rPr>
                              </m:ctrlPr>
                            </m:funcPr>
                            <m:fName>
                              <m:r>
                                <m:rPr>
                                  <m:sty m:val="p"/>
                                </m:rPr>
                                <a:rPr lang="en-US" altLang="zh-TW" sz="1200" b="0" i="0" smtClean="0">
                                  <a:latin typeface="Cambria Math" panose="02040503050406030204" pitchFamily="18" charset="0"/>
                                </a:rPr>
                                <m:t>ln</m:t>
                              </m:r>
                            </m:fName>
                            <m:e>
                              <m:d>
                                <m:dPr>
                                  <m:ctrlPr>
                                    <a:rPr lang="en-US" altLang="zh-TW" sz="1200" b="0" i="1" smtClean="0">
                                      <a:latin typeface="Cambria Math" panose="02040503050406030204" pitchFamily="18" charset="0"/>
                                    </a:rPr>
                                  </m:ctrlPr>
                                </m:dPr>
                                <m:e>
                                  <m:r>
                                    <a:rPr lang="en-US" altLang="zh-TW" sz="1200" b="0" i="0" smtClean="0">
                                      <a:latin typeface="Cambria Math" panose="02040503050406030204" pitchFamily="18" charset="0"/>
                                    </a:rPr>
                                    <m:t>1−</m:t>
                                  </m:r>
                                  <m:r>
                                    <m:rPr>
                                      <m:sty m:val="p"/>
                                    </m:rPr>
                                    <a:rPr lang="en-US" altLang="zh-TW" sz="1200" b="0" i="0" smtClean="0">
                                      <a:latin typeface="Cambria Math" panose="02040503050406030204" pitchFamily="18" charset="0"/>
                                    </a:rPr>
                                    <m:t>a</m:t>
                                  </m:r>
                                </m:e>
                              </m:d>
                            </m:e>
                          </m:func>
                        </m:e>
                      </m:d>
                    </m:oMath>
                  </m:oMathPara>
                </a14:m>
                <a:endParaRPr lang="en-US" altLang="zh-TW" sz="1200" b="0" dirty="0">
                  <a:latin typeface="Cambria Math" panose="02040503050406030204" pitchFamily="18" charset="0"/>
                </a:endParaRPr>
              </a:p>
              <a:p>
                <a:endParaRPr lang="en-US" altLang="zh-TW" sz="1200" b="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L</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rPr>
                                <m:t>−</m:t>
                              </m:r>
                              <m:r>
                                <m:rPr>
                                  <m:sty m:val="p"/>
                                </m:rPr>
                                <a:rPr lang="en-US" altLang="zh-TW" sz="1200" i="0">
                                  <a:latin typeface="Cambria Math" panose="02040503050406030204" pitchFamily="18" charset="0"/>
                                </a:rPr>
                                <m:t>y</m:t>
                              </m:r>
                            </m:e>
                            <m:sub>
                              <m:r>
                                <m:rPr>
                                  <m:sty m:val="p"/>
                                </m:rPr>
                                <a:rPr lang="en-US" altLang="zh-TW" sz="1200" i="0">
                                  <a:latin typeface="Cambria Math" panose="02040503050406030204" pitchFamily="18" charset="0"/>
                                </a:rPr>
                                <m:t>t</m:t>
                              </m:r>
                            </m:sub>
                          </m:sSub>
                        </m:num>
                        <m:den>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en>
                      </m:f>
                    </m:oMath>
                  </m:oMathPara>
                </a14:m>
                <a:endParaRPr lang="en-US" altLang="zh-TW" sz="1200" b="0" dirty="0"/>
              </a:p>
            </p:txBody>
          </p:sp>
        </mc:Choice>
        <mc:Fallback xmlns="">
          <p:sp>
            <p:nvSpPr>
              <p:cNvPr id="123" name="文字方塊 122">
                <a:extLst>
                  <a:ext uri="{FF2B5EF4-FFF2-40B4-BE49-F238E27FC236}">
                    <a16:creationId xmlns:a16="http://schemas.microsoft.com/office/drawing/2014/main" id="{CCE819DD-F95F-A64B-6F5D-A08144D5D2A1}"/>
                  </a:ext>
                </a:extLst>
              </p:cNvPr>
              <p:cNvSpPr txBox="1">
                <a:spLocks noRot="1" noChangeAspect="1" noMove="1" noResize="1" noEditPoints="1" noAdjustHandles="1" noChangeArrowheads="1" noChangeShapeType="1" noTextEdit="1"/>
              </p:cNvSpPr>
              <p:nvPr/>
            </p:nvSpPr>
            <p:spPr>
              <a:xfrm>
                <a:off x="6704934" y="2995457"/>
                <a:ext cx="2376264" cy="695701"/>
              </a:xfrm>
              <a:prstGeom prst="rect">
                <a:avLst/>
              </a:prstGeom>
              <a:blipFill>
                <a:blip r:embed="rId9"/>
                <a:stretch>
                  <a:fillRect l="-2308" b="-1217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4" name="文字方塊 123">
                <a:extLst>
                  <a:ext uri="{FF2B5EF4-FFF2-40B4-BE49-F238E27FC236}">
                    <a16:creationId xmlns:a16="http://schemas.microsoft.com/office/drawing/2014/main" id="{9F52FA95-A20A-981C-D8D3-51145139B703}"/>
                  </a:ext>
                </a:extLst>
              </p:cNvPr>
              <p:cNvSpPr txBox="1"/>
              <p:nvPr/>
            </p:nvSpPr>
            <p:spPr>
              <a:xfrm>
                <a:off x="5580112" y="3861048"/>
                <a:ext cx="1913336" cy="707886"/>
              </a:xfrm>
              <a:prstGeom prst="rect">
                <a:avLst/>
              </a:prstGeom>
              <a:noFill/>
            </p:spPr>
            <p:txBody>
              <a:bodyPr wrap="square">
                <a:spAutoFit/>
              </a:bodyPr>
              <a:lstStyle/>
              <a:p>
                <a:r>
                  <a:rPr lang="en-US" altLang="zh-TW" sz="1200" dirty="0">
                    <a:solidFill>
                      <a:schemeClr val="accent2">
                        <a:lumMod val="75000"/>
                      </a:schemeClr>
                    </a:solidFill>
                    <a:latin typeface="Cambria Math" panose="02040503050406030204" pitchFamily="18" charset="0"/>
                  </a:rPr>
                  <a:t>Sigmoid + Cross Entropy:</a:t>
                </a:r>
              </a:p>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d>
                        <m:dPr>
                          <m:ctrlPr>
                            <a:rPr lang="en-US" altLang="zh-TW" sz="1400" b="0" i="1" smtClean="0">
                              <a:latin typeface="Cambria Math" panose="02040503050406030204" pitchFamily="18" charset="0"/>
                            </a:rPr>
                          </m:ctrlPr>
                        </m:dPr>
                        <m:e>
                          <m:r>
                            <a:rPr lang="en-US" altLang="zh-TW" sz="1400" b="0" i="1" smtClean="0">
                              <a:latin typeface="Cambria Math" panose="02040503050406030204" pitchFamily="18" charset="0"/>
                            </a:rPr>
                            <m:t>𝑤</m:t>
                          </m:r>
                        </m:e>
                      </m:d>
                      <m:r>
                        <a:rPr lang="en-US" altLang="zh-TW"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𝑥</m:t>
                      </m:r>
                      <m:d>
                        <m:dPr>
                          <m:ctrlPr>
                            <a:rPr lang="en-US" altLang="zh-TW" sz="1400" b="0" i="1" smtClean="0">
                              <a:latin typeface="Cambria Math" panose="02040503050406030204" pitchFamily="18" charset="0"/>
                              <a:ea typeface="Cambria Math" panose="02040503050406030204" pitchFamily="18" charset="0"/>
                            </a:rPr>
                          </m:ctrlPr>
                        </m:dPr>
                        <m:e>
                          <m:sSub>
                            <m:sSubPr>
                              <m:ctrlPr>
                                <a:rPr lang="en-US" altLang="zh-TW" sz="1400" i="1">
                                  <a:latin typeface="Cambria Math" panose="02040503050406030204" pitchFamily="18" charset="0"/>
                                </a:rPr>
                              </m:ctrlPr>
                            </m:sSubPr>
                            <m:e>
                              <m:r>
                                <m:rPr>
                                  <m:sty m:val="p"/>
                                </m:rPr>
                                <a:rPr lang="en-US" altLang="zh-TW" sz="1400">
                                  <a:latin typeface="Cambria Math" panose="02040503050406030204" pitchFamily="18" charset="0"/>
                                </a:rPr>
                                <m:t>a</m:t>
                              </m:r>
                              <m:r>
                                <a:rPr lang="en-US" altLang="zh-TW" sz="1400">
                                  <a:latin typeface="Cambria Math" panose="02040503050406030204" pitchFamily="18" charset="0"/>
                                </a:rPr>
                                <m:t>−</m:t>
                              </m:r>
                              <m:r>
                                <m:rPr>
                                  <m:sty m:val="p"/>
                                </m:rPr>
                                <a:rPr lang="en-US" altLang="zh-TW" sz="1400">
                                  <a:latin typeface="Cambria Math" panose="02040503050406030204" pitchFamily="18" charset="0"/>
                                </a:rPr>
                                <m:t>y</m:t>
                              </m:r>
                            </m:e>
                            <m:sub>
                              <m:r>
                                <m:rPr>
                                  <m:sty m:val="p"/>
                                </m:rPr>
                                <a:rPr lang="en-US" altLang="zh-TW" sz="1400">
                                  <a:latin typeface="Cambria Math" panose="02040503050406030204" pitchFamily="18" charset="0"/>
                                </a:rPr>
                                <m:t>t</m:t>
                              </m:r>
                            </m:sub>
                          </m:sSub>
                        </m:e>
                      </m:d>
                    </m:oMath>
                  </m:oMathPara>
                </a14:m>
                <a:endParaRPr lang="en-US" altLang="zh-TW" sz="140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d>
                        <m:dPr>
                          <m:ctrlPr>
                            <a:rPr lang="en-US" altLang="zh-TW" sz="1400" i="1">
                              <a:latin typeface="Cambria Math" panose="02040503050406030204" pitchFamily="18" charset="0"/>
                            </a:rPr>
                          </m:ctrlPr>
                        </m:dPr>
                        <m:e>
                          <m:r>
                            <a:rPr lang="en-US" altLang="zh-TW" sz="1400" b="0" i="1" smtClean="0">
                              <a:latin typeface="Cambria Math" panose="02040503050406030204" pitchFamily="18" charset="0"/>
                            </a:rPr>
                            <m:t>𝑏</m:t>
                          </m:r>
                        </m:e>
                      </m:d>
                      <m:r>
                        <a:rPr lang="en-US" altLang="zh-TW"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1</m:t>
                      </m:r>
                      <m:d>
                        <m:dPr>
                          <m:ctrlPr>
                            <a:rPr lang="en-US" altLang="zh-TW" sz="1400" i="1">
                              <a:latin typeface="Cambria Math" panose="02040503050406030204" pitchFamily="18" charset="0"/>
                              <a:ea typeface="Cambria Math" panose="02040503050406030204" pitchFamily="18" charset="0"/>
                            </a:rPr>
                          </m:ctrlPr>
                        </m:dPr>
                        <m:e>
                          <m:sSub>
                            <m:sSubPr>
                              <m:ctrlPr>
                                <a:rPr lang="en-US" altLang="zh-TW" sz="1400" i="1">
                                  <a:latin typeface="Cambria Math" panose="02040503050406030204" pitchFamily="18" charset="0"/>
                                </a:rPr>
                              </m:ctrlPr>
                            </m:sSubPr>
                            <m:e>
                              <m:r>
                                <m:rPr>
                                  <m:sty m:val="p"/>
                                </m:rPr>
                                <a:rPr lang="en-US" altLang="zh-TW" sz="1400">
                                  <a:latin typeface="Cambria Math" panose="02040503050406030204" pitchFamily="18" charset="0"/>
                                </a:rPr>
                                <m:t>a</m:t>
                              </m:r>
                              <m:r>
                                <a:rPr lang="en-US" altLang="zh-TW" sz="1400">
                                  <a:latin typeface="Cambria Math" panose="02040503050406030204" pitchFamily="18" charset="0"/>
                                </a:rPr>
                                <m:t>−</m:t>
                              </m:r>
                              <m:r>
                                <m:rPr>
                                  <m:sty m:val="p"/>
                                </m:rPr>
                                <a:rPr lang="en-US" altLang="zh-TW" sz="1400">
                                  <a:latin typeface="Cambria Math" panose="02040503050406030204" pitchFamily="18" charset="0"/>
                                </a:rPr>
                                <m:t>y</m:t>
                              </m:r>
                            </m:e>
                            <m:sub>
                              <m:r>
                                <m:rPr>
                                  <m:sty m:val="p"/>
                                </m:rPr>
                                <a:rPr lang="en-US" altLang="zh-TW" sz="1400">
                                  <a:latin typeface="Cambria Math" panose="02040503050406030204" pitchFamily="18" charset="0"/>
                                </a:rPr>
                                <m:t>t</m:t>
                              </m:r>
                            </m:sub>
                          </m:sSub>
                        </m:e>
                      </m:d>
                    </m:oMath>
                  </m:oMathPara>
                </a14:m>
                <a:endParaRPr lang="en-US" altLang="zh-TW" sz="1400" i="1" dirty="0">
                  <a:latin typeface="Cambria Math" panose="02040503050406030204" pitchFamily="18" charset="0"/>
                </a:endParaRPr>
              </a:p>
            </p:txBody>
          </p:sp>
        </mc:Choice>
        <mc:Fallback xmlns="">
          <p:sp>
            <p:nvSpPr>
              <p:cNvPr id="124" name="文字方塊 123">
                <a:extLst>
                  <a:ext uri="{FF2B5EF4-FFF2-40B4-BE49-F238E27FC236}">
                    <a16:creationId xmlns:a16="http://schemas.microsoft.com/office/drawing/2014/main" id="{9F52FA95-A20A-981C-D8D3-51145139B703}"/>
                  </a:ext>
                </a:extLst>
              </p:cNvPr>
              <p:cNvSpPr txBox="1">
                <a:spLocks noRot="1" noChangeAspect="1" noMove="1" noResize="1" noEditPoints="1" noAdjustHandles="1" noChangeArrowheads="1" noChangeShapeType="1" noTextEdit="1"/>
              </p:cNvSpPr>
              <p:nvPr/>
            </p:nvSpPr>
            <p:spPr>
              <a:xfrm>
                <a:off x="5580112" y="3861048"/>
                <a:ext cx="1913336" cy="707886"/>
              </a:xfrm>
              <a:prstGeom prst="rect">
                <a:avLst/>
              </a:prstGeom>
              <a:blipFill>
                <a:blip r:embed="rId10"/>
                <a:stretch>
                  <a:fillRect b="-344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DBA277BE-F61B-BF6A-07EC-925865E5D47A}"/>
                  </a:ext>
                </a:extLst>
              </p:cNvPr>
              <p:cNvSpPr txBox="1"/>
              <p:nvPr/>
            </p:nvSpPr>
            <p:spPr>
              <a:xfrm>
                <a:off x="4704714" y="5562807"/>
                <a:ext cx="4263940" cy="830997"/>
              </a:xfrm>
              <a:prstGeom prst="rect">
                <a:avLst/>
              </a:prstGeom>
              <a:noFill/>
            </p:spPr>
            <p:txBody>
              <a:bodyPr wrap="square">
                <a:spAutoFit/>
              </a:bodyPr>
              <a:lstStyle/>
              <a:p>
                <a:pPr algn="ctr"/>
                <a:r>
                  <a:rPr lang="el-GR" altLang="zh-TW" sz="1200" dirty="0"/>
                  <a:t>η</a:t>
                </a:r>
                <a:r>
                  <a:rPr lang="en-US" altLang="zh-TW" sz="1200" dirty="0"/>
                  <a:t>=0.015</a:t>
                </a:r>
              </a:p>
              <a:p>
                <a:pPr algn="ctr"/>
                <a:r>
                  <a:rPr lang="en-US" altLang="zh-TW" sz="1200" dirty="0"/>
                  <a:t>x= 10, a=0.73, y</a:t>
                </a:r>
                <a:r>
                  <a:rPr lang="en-US" altLang="zh-TW" sz="1200" baseline="-25000" dirty="0"/>
                  <a:t>t</a:t>
                </a:r>
                <a:r>
                  <a:rPr lang="en-US" altLang="zh-TW" sz="1200" dirty="0"/>
                  <a:t>=0.15</a:t>
                </a:r>
              </a:p>
              <a:p>
                <a:pPr algn="ctr"/>
                <a14:m>
                  <m:oMath xmlns:m="http://schemas.openxmlformats.org/officeDocument/2006/math">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m:rPr>
                        <m:sty m:val="p"/>
                      </m:rPr>
                      <a:rPr lang="zh-TW" altLang="en-US" sz="1200" i="1">
                        <a:latin typeface="Cambria Math" panose="02040503050406030204" pitchFamily="18" charset="0"/>
                      </a:rPr>
                      <m:t>∇</m:t>
                    </m:r>
                    <m:r>
                      <a:rPr lang="en-US" altLang="zh-TW" sz="1200" i="1">
                        <a:latin typeface="Cambria Math" panose="02040503050406030204" pitchFamily="18" charset="0"/>
                      </a:rPr>
                      <m:t>𝑓</m:t>
                    </m:r>
                    <m:d>
                      <m:dPr>
                        <m:ctrlPr>
                          <a:rPr lang="en-US" altLang="zh-TW" sz="1200" i="1">
                            <a:latin typeface="Cambria Math" panose="02040503050406030204" pitchFamily="18" charset="0"/>
                          </a:rPr>
                        </m:ctrlPr>
                      </m:dPr>
                      <m:e>
                        <m:r>
                          <a:rPr lang="en-US" altLang="zh-TW" sz="1200" i="1">
                            <a:latin typeface="Cambria Math" panose="02040503050406030204" pitchFamily="18" charset="0"/>
                          </a:rPr>
                          <m:t>𝑤</m:t>
                        </m:r>
                      </m:e>
                    </m:d>
                    <m:r>
                      <a:rPr lang="en-US" altLang="zh-TW" sz="1200" i="1">
                        <a:latin typeface="Cambria Math" panose="02040503050406030204" pitchFamily="18" charset="0"/>
                        <a:ea typeface="Cambria Math" panose="02040503050406030204" pitchFamily="18" charset="0"/>
                      </a:rPr>
                      <m:t>=</m:t>
                    </m:r>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𝑥</m:t>
                    </m:r>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0.73−</m:t>
                        </m:r>
                        <m:r>
                          <a:rPr lang="en-US" altLang="zh-TW" sz="1200" b="0" i="1" smtClean="0">
                            <a:latin typeface="Cambria Math" panose="02040503050406030204" pitchFamily="18" charset="0"/>
                          </a:rPr>
                          <m:t>1</m:t>
                        </m:r>
                      </m:e>
                    </m:d>
                  </m:oMath>
                </a14:m>
                <a:r>
                  <a:rPr lang="en-US" altLang="zh-TW" sz="1200" dirty="0">
                    <a:ea typeface="Cambria Math" panose="02040503050406030204" pitchFamily="18" charset="0"/>
                  </a:rPr>
                  <a:t>= 0.015*10*(-0.27) =0.04</a:t>
                </a:r>
                <a:endParaRPr lang="en-US" altLang="zh-TW" sz="1200" i="1" dirty="0">
                  <a:latin typeface="Cambria Math" panose="02040503050406030204" pitchFamily="18" charset="0"/>
                </a:endParaRPr>
              </a:p>
              <a:p>
                <a:pPr algn="ctr"/>
                <a14:m>
                  <m:oMath xmlns:m="http://schemas.openxmlformats.org/officeDocument/2006/math">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m:rPr>
                        <m:sty m:val="p"/>
                      </m:rPr>
                      <a:rPr lang="zh-TW" altLang="en-US" sz="1200" i="1">
                        <a:latin typeface="Cambria Math" panose="02040503050406030204" pitchFamily="18" charset="0"/>
                      </a:rPr>
                      <m:t>∇</m:t>
                    </m:r>
                    <m:r>
                      <a:rPr lang="en-US" altLang="zh-TW" sz="1200" i="1">
                        <a:latin typeface="Cambria Math" panose="02040503050406030204" pitchFamily="18" charset="0"/>
                      </a:rPr>
                      <m:t>𝑓</m:t>
                    </m:r>
                    <m:d>
                      <m:dPr>
                        <m:ctrlPr>
                          <a:rPr lang="en-US" altLang="zh-TW" sz="1200" i="1">
                            <a:latin typeface="Cambria Math" panose="02040503050406030204" pitchFamily="18" charset="0"/>
                          </a:rPr>
                        </m:ctrlPr>
                      </m:dPr>
                      <m:e>
                        <m:r>
                          <a:rPr lang="en-US" altLang="zh-TW" sz="1200" i="1">
                            <a:latin typeface="Cambria Math" panose="02040503050406030204" pitchFamily="18" charset="0"/>
                          </a:rPr>
                          <m:t>𝑏</m:t>
                        </m:r>
                      </m:e>
                    </m:d>
                    <m:r>
                      <a:rPr lang="en-US" altLang="zh-TW" sz="1200" i="1">
                        <a:latin typeface="Cambria Math" panose="02040503050406030204" pitchFamily="18" charset="0"/>
                        <a:ea typeface="Cambria Math" panose="02040503050406030204" pitchFamily="18" charset="0"/>
                      </a:rPr>
                      <m:t>=</m:t>
                    </m:r>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1</m:t>
                    </m:r>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0.73−</m:t>
                        </m:r>
                        <m:r>
                          <a:rPr lang="en-US" altLang="zh-TW" sz="1200" i="1" smtClean="0">
                            <a:latin typeface="Cambria Math" panose="02040503050406030204" pitchFamily="18" charset="0"/>
                          </a:rPr>
                          <m:t>1</m:t>
                        </m:r>
                      </m:e>
                    </m:d>
                  </m:oMath>
                </a14:m>
                <a:r>
                  <a:rPr lang="en-US" altLang="zh-TW" sz="1200" b="0" dirty="0">
                    <a:ea typeface="Cambria Math" panose="02040503050406030204" pitchFamily="18" charset="0"/>
                  </a:rPr>
                  <a:t> = 0.015*1*(-0.27) =0.004</a:t>
                </a:r>
              </a:p>
            </p:txBody>
          </p:sp>
        </mc:Choice>
        <mc:Fallback xmlns="">
          <p:sp>
            <p:nvSpPr>
              <p:cNvPr id="3" name="文字方塊 2">
                <a:extLst>
                  <a:ext uri="{FF2B5EF4-FFF2-40B4-BE49-F238E27FC236}">
                    <a16:creationId xmlns:a16="http://schemas.microsoft.com/office/drawing/2014/main" id="{DBA277BE-F61B-BF6A-07EC-925865E5D47A}"/>
                  </a:ext>
                </a:extLst>
              </p:cNvPr>
              <p:cNvSpPr txBox="1">
                <a:spLocks noRot="1" noChangeAspect="1" noMove="1" noResize="1" noEditPoints="1" noAdjustHandles="1" noChangeArrowheads="1" noChangeShapeType="1" noTextEdit="1"/>
              </p:cNvSpPr>
              <p:nvPr/>
            </p:nvSpPr>
            <p:spPr>
              <a:xfrm>
                <a:off x="4704714" y="5562807"/>
                <a:ext cx="4263940" cy="830997"/>
              </a:xfrm>
              <a:prstGeom prst="rect">
                <a:avLst/>
              </a:prstGeom>
              <a:blipFill>
                <a:blip r:embed="rId11"/>
                <a:stretch>
                  <a:fillRect t="-735" b="-5147"/>
                </a:stretch>
              </a:blipFill>
            </p:spPr>
            <p:txBody>
              <a:bodyPr/>
              <a:lstStyle/>
              <a:p>
                <a:r>
                  <a:rPr lang="zh-TW" altLang="en-US">
                    <a:noFill/>
                  </a:rPr>
                  <a:t> </a:t>
                </a:r>
              </a:p>
            </p:txBody>
          </p:sp>
        </mc:Fallback>
      </mc:AlternateContent>
      <p:pic>
        <p:nvPicPr>
          <p:cNvPr id="11" name="圖片 10">
            <a:extLst>
              <a:ext uri="{FF2B5EF4-FFF2-40B4-BE49-F238E27FC236}">
                <a16:creationId xmlns:a16="http://schemas.microsoft.com/office/drawing/2014/main" id="{7D4C676D-924C-A274-2059-94F73F9EE304}"/>
              </a:ext>
            </a:extLst>
          </p:cNvPr>
          <p:cNvPicPr>
            <a:picLocks noChangeAspect="1"/>
          </p:cNvPicPr>
          <p:nvPr/>
        </p:nvPicPr>
        <p:blipFill>
          <a:blip r:embed="rId12"/>
          <a:stretch>
            <a:fillRect/>
          </a:stretch>
        </p:blipFill>
        <p:spPr>
          <a:xfrm>
            <a:off x="2715198" y="5003146"/>
            <a:ext cx="910956" cy="231354"/>
          </a:xfrm>
          <a:prstGeom prst="rect">
            <a:avLst/>
          </a:prstGeom>
        </p:spPr>
      </p:pic>
      <p:sp>
        <p:nvSpPr>
          <p:cNvPr id="14" name="矩形 13">
            <a:extLst>
              <a:ext uri="{FF2B5EF4-FFF2-40B4-BE49-F238E27FC236}">
                <a16:creationId xmlns:a16="http://schemas.microsoft.com/office/drawing/2014/main" id="{0792AAAB-B316-C0B2-B358-E8FBCB0EB9EC}"/>
              </a:ext>
            </a:extLst>
          </p:cNvPr>
          <p:cNvSpPr/>
          <p:nvPr/>
        </p:nvSpPr>
        <p:spPr>
          <a:xfrm>
            <a:off x="260957" y="4495115"/>
            <a:ext cx="665604" cy="231354"/>
          </a:xfrm>
          <a:prstGeom prst="rect">
            <a:avLst/>
          </a:prstGeom>
          <a:no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600" b="1" dirty="0">
                <a:solidFill>
                  <a:srgbClr val="7030A0"/>
                </a:solidFill>
              </a:rPr>
              <a:t>y</a:t>
            </a:r>
            <a:r>
              <a:rPr lang="en-US" altLang="zh-TW" sz="1600" b="1" baseline="-25000" dirty="0">
                <a:solidFill>
                  <a:srgbClr val="7030A0"/>
                </a:solidFill>
              </a:rPr>
              <a:t>t</a:t>
            </a:r>
            <a:r>
              <a:rPr lang="en-US" altLang="zh-TW" sz="1600" b="1" dirty="0">
                <a:solidFill>
                  <a:srgbClr val="7030A0"/>
                </a:solidFill>
              </a:rPr>
              <a:t>=1</a:t>
            </a:r>
            <a:endParaRPr lang="zh-TW" altLang="en-US" sz="1600" b="1" dirty="0">
              <a:solidFill>
                <a:srgbClr val="7030A0"/>
              </a:solidFill>
            </a:endParaRPr>
          </a:p>
        </p:txBody>
      </p:sp>
      <p:pic>
        <p:nvPicPr>
          <p:cNvPr id="16" name="圖片 15">
            <a:extLst>
              <a:ext uri="{FF2B5EF4-FFF2-40B4-BE49-F238E27FC236}">
                <a16:creationId xmlns:a16="http://schemas.microsoft.com/office/drawing/2014/main" id="{4AFE90C8-423A-9A96-987D-615F83BB846F}"/>
              </a:ext>
            </a:extLst>
          </p:cNvPr>
          <p:cNvPicPr>
            <a:picLocks noChangeAspect="1"/>
          </p:cNvPicPr>
          <p:nvPr/>
        </p:nvPicPr>
        <p:blipFill>
          <a:blip r:embed="rId13"/>
          <a:stretch>
            <a:fillRect/>
          </a:stretch>
        </p:blipFill>
        <p:spPr>
          <a:xfrm>
            <a:off x="3043330" y="5668727"/>
            <a:ext cx="1538542" cy="461563"/>
          </a:xfrm>
          <a:prstGeom prst="rect">
            <a:avLst/>
          </a:prstGeom>
          <a:ln w="15875">
            <a:solidFill>
              <a:schemeClr val="accent2"/>
            </a:solidFill>
          </a:ln>
          <a:effectLst>
            <a:glow rad="25400">
              <a:schemeClr val="accent2">
                <a:lumMod val="40000"/>
                <a:lumOff val="60000"/>
              </a:schemeClr>
            </a:glow>
            <a:softEdge rad="25400"/>
          </a:effectLst>
        </p:spPr>
      </p:pic>
      <p:pic>
        <p:nvPicPr>
          <p:cNvPr id="20" name="圖片 19">
            <a:extLst>
              <a:ext uri="{FF2B5EF4-FFF2-40B4-BE49-F238E27FC236}">
                <a16:creationId xmlns:a16="http://schemas.microsoft.com/office/drawing/2014/main" id="{8770D11E-B30F-0798-1DF2-2DF5A09F099A}"/>
              </a:ext>
            </a:extLst>
          </p:cNvPr>
          <p:cNvPicPr>
            <a:picLocks noChangeAspect="1"/>
          </p:cNvPicPr>
          <p:nvPr/>
        </p:nvPicPr>
        <p:blipFill>
          <a:blip r:embed="rId14"/>
          <a:stretch>
            <a:fillRect/>
          </a:stretch>
        </p:blipFill>
        <p:spPr>
          <a:xfrm>
            <a:off x="48165" y="5612736"/>
            <a:ext cx="1368781" cy="479585"/>
          </a:xfrm>
          <a:prstGeom prst="rect">
            <a:avLst/>
          </a:prstGeom>
          <a:effectLst>
            <a:glow rad="76200">
              <a:schemeClr val="accent3">
                <a:lumMod val="60000"/>
                <a:lumOff val="40000"/>
              </a:schemeClr>
            </a:glow>
          </a:effectLst>
        </p:spPr>
      </p:pic>
      <p:cxnSp>
        <p:nvCxnSpPr>
          <p:cNvPr id="4" name="接點: 弧形 3">
            <a:extLst>
              <a:ext uri="{FF2B5EF4-FFF2-40B4-BE49-F238E27FC236}">
                <a16:creationId xmlns:a16="http://schemas.microsoft.com/office/drawing/2014/main" id="{1A85E7FA-59D9-A0B4-E985-70D07CA55BA9}"/>
              </a:ext>
            </a:extLst>
          </p:cNvPr>
          <p:cNvCxnSpPr>
            <a:stCxn id="124" idx="1"/>
            <a:endCxn id="90" idx="1"/>
          </p:cNvCxnSpPr>
          <p:nvPr/>
        </p:nvCxnSpPr>
        <p:spPr>
          <a:xfrm rot="10800000">
            <a:off x="4663330" y="2099087"/>
            <a:ext cx="916782" cy="2115905"/>
          </a:xfrm>
          <a:prstGeom prst="curvedConnector3">
            <a:avLst>
              <a:gd name="adj1" fmla="val 124935"/>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14D3711C-2EEB-66A7-F7B8-3D678AC495BF}"/>
              </a:ext>
            </a:extLst>
          </p:cNvPr>
          <p:cNvSpPr txBox="1"/>
          <p:nvPr/>
        </p:nvSpPr>
        <p:spPr>
          <a:xfrm>
            <a:off x="287524" y="980728"/>
            <a:ext cx="5148572"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u="none" strike="noStrike" dirty="0">
                <a:effectLst/>
              </a:rPr>
              <a:t>: .</a:t>
            </a:r>
          </a:p>
        </p:txBody>
      </p:sp>
      <p:pic>
        <p:nvPicPr>
          <p:cNvPr id="7" name="圖片 6">
            <a:extLst>
              <a:ext uri="{FF2B5EF4-FFF2-40B4-BE49-F238E27FC236}">
                <a16:creationId xmlns:a16="http://schemas.microsoft.com/office/drawing/2014/main" id="{C548BF71-4D01-8165-7351-86FF34B06B2E}"/>
              </a:ext>
              <a:ext uri="{C183D7F6-B498-43B3-948B-1728B52AA6E4}">
                <adec:decorative xmlns:adec="http://schemas.microsoft.com/office/drawing/2017/decorative" val="1"/>
              </a:ext>
            </a:extLst>
          </p:cNvPr>
          <p:cNvPicPr>
            <a:picLocks noChangeAspect="1"/>
          </p:cNvPicPr>
          <p:nvPr/>
        </p:nvPicPr>
        <p:blipFill>
          <a:blip r:embed="rId15" cstate="print">
            <a:extLst>
              <a:ext uri="{28A0092B-C50C-407E-A947-70E740481C1C}">
                <a14:useLocalDpi xmlns:a14="http://schemas.microsoft.com/office/drawing/2010/main" val="0"/>
              </a:ext>
            </a:extLst>
          </a:blip>
          <a:stretch>
            <a:fillRect/>
          </a:stretch>
        </p:blipFill>
        <p:spPr>
          <a:xfrm>
            <a:off x="4881357" y="135535"/>
            <a:ext cx="2880294" cy="1580786"/>
          </a:xfrm>
          <a:prstGeom prst="rect">
            <a:avLst/>
          </a:prstGeom>
          <a:effectLst>
            <a:glow rad="63500">
              <a:schemeClr val="accent1">
                <a:satMod val="175000"/>
                <a:alpha val="40000"/>
              </a:schemeClr>
            </a:glow>
          </a:effectLst>
        </p:spPr>
      </p:pic>
    </p:spTree>
    <p:extLst>
      <p:ext uri="{BB962C8B-B14F-4D97-AF65-F5344CB8AC3E}">
        <p14:creationId xmlns:p14="http://schemas.microsoft.com/office/powerpoint/2010/main" val="158228045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字方塊 3">
            <a:extLst>
              <a:ext uri="{FF2B5EF4-FFF2-40B4-BE49-F238E27FC236}">
                <a16:creationId xmlns:a16="http://schemas.microsoft.com/office/drawing/2014/main" id="{DD02B1F1-157F-CCBD-EC1B-B4EF121A31FC}"/>
              </a:ext>
            </a:extLst>
          </p:cNvPr>
          <p:cNvSpPr txBox="1"/>
          <p:nvPr/>
        </p:nvSpPr>
        <p:spPr>
          <a:xfrm>
            <a:off x="99753" y="2109080"/>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2877931" y="3994688"/>
            <a:ext cx="5286649" cy="2279298"/>
            <a:chOff x="2300018" y="3140968"/>
            <a:chExt cx="5368326"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5368326" cy="2369355"/>
            </a:xfrm>
            <a:custGeom>
              <a:avLst/>
              <a:gdLst>
                <a:gd name="csX0" fmla="*/ 0 w 5368326"/>
                <a:gd name="csY0" fmla="*/ 69612 h 2369355"/>
                <a:gd name="csX1" fmla="*/ 69612 w 5368326"/>
                <a:gd name="csY1" fmla="*/ 0 h 2369355"/>
                <a:gd name="csX2" fmla="*/ 702914 w 5368326"/>
                <a:gd name="csY2" fmla="*/ 0 h 2369355"/>
                <a:gd name="csX3" fmla="*/ 1127053 w 5368326"/>
                <a:gd name="csY3" fmla="*/ 0 h 2369355"/>
                <a:gd name="csX4" fmla="*/ 1603482 w 5368326"/>
                <a:gd name="csY4" fmla="*/ 0 h 2369355"/>
                <a:gd name="csX5" fmla="*/ 2236784 w 5368326"/>
                <a:gd name="csY5" fmla="*/ 0 h 2369355"/>
                <a:gd name="csX6" fmla="*/ 2713214 w 5368326"/>
                <a:gd name="csY6" fmla="*/ 0 h 2369355"/>
                <a:gd name="csX7" fmla="*/ 3137352 w 5368326"/>
                <a:gd name="csY7" fmla="*/ 0 h 2369355"/>
                <a:gd name="csX8" fmla="*/ 3613781 w 5368326"/>
                <a:gd name="csY8" fmla="*/ 0 h 2369355"/>
                <a:gd name="csX9" fmla="*/ 4142501 w 5368326"/>
                <a:gd name="csY9" fmla="*/ 0 h 2369355"/>
                <a:gd name="csX10" fmla="*/ 4723513 w 5368326"/>
                <a:gd name="csY10" fmla="*/ 0 h 2369355"/>
                <a:gd name="csX11" fmla="*/ 5298714 w 5368326"/>
                <a:gd name="csY11" fmla="*/ 0 h 2369355"/>
                <a:gd name="csX12" fmla="*/ 5368326 w 5368326"/>
                <a:gd name="csY12" fmla="*/ 69612 h 2369355"/>
                <a:gd name="csX13" fmla="*/ 5368326 w 5368326"/>
                <a:gd name="csY13" fmla="*/ 627145 h 2369355"/>
                <a:gd name="csX14" fmla="*/ 5368326 w 5368326"/>
                <a:gd name="csY14" fmla="*/ 1206979 h 2369355"/>
                <a:gd name="csX15" fmla="*/ 5368326 w 5368326"/>
                <a:gd name="csY15" fmla="*/ 1742210 h 2369355"/>
                <a:gd name="csX16" fmla="*/ 5368326 w 5368326"/>
                <a:gd name="csY16" fmla="*/ 2299743 h 2369355"/>
                <a:gd name="csX17" fmla="*/ 5298714 w 5368326"/>
                <a:gd name="csY17" fmla="*/ 2369355 h 2369355"/>
                <a:gd name="csX18" fmla="*/ 4717703 w 5368326"/>
                <a:gd name="csY18" fmla="*/ 2369355 h 2369355"/>
                <a:gd name="csX19" fmla="*/ 4032109 w 5368326"/>
                <a:gd name="csY19" fmla="*/ 2369355 h 2369355"/>
                <a:gd name="csX20" fmla="*/ 3451098 w 5368326"/>
                <a:gd name="csY20" fmla="*/ 2369355 h 2369355"/>
                <a:gd name="csX21" fmla="*/ 2765505 w 5368326"/>
                <a:gd name="csY21" fmla="*/ 2369355 h 2369355"/>
                <a:gd name="csX22" fmla="*/ 2236784 w 5368326"/>
                <a:gd name="csY22" fmla="*/ 2369355 h 2369355"/>
                <a:gd name="csX23" fmla="*/ 1760355 w 5368326"/>
                <a:gd name="csY23" fmla="*/ 2369355 h 2369355"/>
                <a:gd name="csX24" fmla="*/ 1179344 w 5368326"/>
                <a:gd name="csY24" fmla="*/ 2369355 h 2369355"/>
                <a:gd name="csX25" fmla="*/ 69612 w 5368326"/>
                <a:gd name="csY25" fmla="*/ 2369355 h 2369355"/>
                <a:gd name="csX26" fmla="*/ 0 w 5368326"/>
                <a:gd name="csY26" fmla="*/ 2299743 h 2369355"/>
                <a:gd name="csX27" fmla="*/ 0 w 5368326"/>
                <a:gd name="csY27" fmla="*/ 1809114 h 2369355"/>
                <a:gd name="csX28" fmla="*/ 0 w 5368326"/>
                <a:gd name="csY28" fmla="*/ 1229280 h 2369355"/>
                <a:gd name="csX29" fmla="*/ 0 w 5368326"/>
                <a:gd name="csY29" fmla="*/ 716350 h 2369355"/>
                <a:gd name="csX30" fmla="*/ 0 w 5368326"/>
                <a:gd name="csY30"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5368326" h="2369355" fill="none" extrusionOk="0">
                  <a:moveTo>
                    <a:pt x="0" y="69612"/>
                  </a:moveTo>
                  <a:cubicBezTo>
                    <a:pt x="-5133" y="36362"/>
                    <a:pt x="28870" y="4914"/>
                    <a:pt x="69612" y="0"/>
                  </a:cubicBezTo>
                  <a:cubicBezTo>
                    <a:pt x="367348" y="-31791"/>
                    <a:pt x="550892" y="43228"/>
                    <a:pt x="702914" y="0"/>
                  </a:cubicBezTo>
                  <a:cubicBezTo>
                    <a:pt x="854936" y="-43228"/>
                    <a:pt x="1040994" y="50716"/>
                    <a:pt x="1127053" y="0"/>
                  </a:cubicBezTo>
                  <a:cubicBezTo>
                    <a:pt x="1213112" y="-50716"/>
                    <a:pt x="1486410" y="19006"/>
                    <a:pt x="1603482" y="0"/>
                  </a:cubicBezTo>
                  <a:cubicBezTo>
                    <a:pt x="1720554" y="-19006"/>
                    <a:pt x="2052755" y="5528"/>
                    <a:pt x="2236784" y="0"/>
                  </a:cubicBezTo>
                  <a:cubicBezTo>
                    <a:pt x="2420813" y="-5528"/>
                    <a:pt x="2583205" y="22640"/>
                    <a:pt x="2713214" y="0"/>
                  </a:cubicBezTo>
                  <a:cubicBezTo>
                    <a:pt x="2843223" y="-22640"/>
                    <a:pt x="3040238" y="24459"/>
                    <a:pt x="3137352" y="0"/>
                  </a:cubicBezTo>
                  <a:cubicBezTo>
                    <a:pt x="3234466" y="-24459"/>
                    <a:pt x="3450540" y="10905"/>
                    <a:pt x="3613781" y="0"/>
                  </a:cubicBezTo>
                  <a:cubicBezTo>
                    <a:pt x="3777022" y="-10905"/>
                    <a:pt x="3889471" y="17684"/>
                    <a:pt x="4142501" y="0"/>
                  </a:cubicBezTo>
                  <a:cubicBezTo>
                    <a:pt x="4395531" y="-17684"/>
                    <a:pt x="4567241" y="16526"/>
                    <a:pt x="4723513" y="0"/>
                  </a:cubicBezTo>
                  <a:cubicBezTo>
                    <a:pt x="4879785" y="-16526"/>
                    <a:pt x="5153931" y="18604"/>
                    <a:pt x="5298714" y="0"/>
                  </a:cubicBezTo>
                  <a:cubicBezTo>
                    <a:pt x="5339492" y="5995"/>
                    <a:pt x="5372754" y="33226"/>
                    <a:pt x="5368326" y="69612"/>
                  </a:cubicBezTo>
                  <a:cubicBezTo>
                    <a:pt x="5383109" y="294650"/>
                    <a:pt x="5353642" y="348775"/>
                    <a:pt x="5368326" y="627145"/>
                  </a:cubicBezTo>
                  <a:cubicBezTo>
                    <a:pt x="5383010" y="905515"/>
                    <a:pt x="5358228" y="1070291"/>
                    <a:pt x="5368326" y="1206979"/>
                  </a:cubicBezTo>
                  <a:cubicBezTo>
                    <a:pt x="5378424" y="1343667"/>
                    <a:pt x="5364514" y="1593540"/>
                    <a:pt x="5368326" y="1742210"/>
                  </a:cubicBezTo>
                  <a:cubicBezTo>
                    <a:pt x="5372138" y="1890880"/>
                    <a:pt x="5343306" y="2090074"/>
                    <a:pt x="5368326" y="2299743"/>
                  </a:cubicBezTo>
                  <a:cubicBezTo>
                    <a:pt x="5368437" y="2343237"/>
                    <a:pt x="5338470" y="2368180"/>
                    <a:pt x="5298714" y="2369355"/>
                  </a:cubicBezTo>
                  <a:cubicBezTo>
                    <a:pt x="5163777" y="2424400"/>
                    <a:pt x="4983479" y="2348401"/>
                    <a:pt x="4717703" y="2369355"/>
                  </a:cubicBezTo>
                  <a:cubicBezTo>
                    <a:pt x="4451927" y="2390309"/>
                    <a:pt x="4369607" y="2342236"/>
                    <a:pt x="4032109" y="2369355"/>
                  </a:cubicBezTo>
                  <a:cubicBezTo>
                    <a:pt x="3694611" y="2396474"/>
                    <a:pt x="3655813" y="2305373"/>
                    <a:pt x="3451098" y="2369355"/>
                  </a:cubicBezTo>
                  <a:cubicBezTo>
                    <a:pt x="3246383" y="2433337"/>
                    <a:pt x="2906065" y="2296367"/>
                    <a:pt x="2765505" y="2369355"/>
                  </a:cubicBezTo>
                  <a:cubicBezTo>
                    <a:pt x="2624945" y="2442343"/>
                    <a:pt x="2403870" y="2358689"/>
                    <a:pt x="2236784" y="2369355"/>
                  </a:cubicBezTo>
                  <a:cubicBezTo>
                    <a:pt x="2069698" y="2380021"/>
                    <a:pt x="1971989" y="2344672"/>
                    <a:pt x="1760355" y="2369355"/>
                  </a:cubicBezTo>
                  <a:cubicBezTo>
                    <a:pt x="1548721" y="2394038"/>
                    <a:pt x="1417789" y="2327588"/>
                    <a:pt x="1179344" y="2369355"/>
                  </a:cubicBezTo>
                  <a:cubicBezTo>
                    <a:pt x="940899" y="2411122"/>
                    <a:pt x="562199" y="2357045"/>
                    <a:pt x="69612" y="2369355"/>
                  </a:cubicBezTo>
                  <a:cubicBezTo>
                    <a:pt x="36935" y="2364612"/>
                    <a:pt x="281" y="2330009"/>
                    <a:pt x="0" y="2299743"/>
                  </a:cubicBezTo>
                  <a:cubicBezTo>
                    <a:pt x="-29837" y="2091443"/>
                    <a:pt x="39176" y="1952891"/>
                    <a:pt x="0" y="1809114"/>
                  </a:cubicBezTo>
                  <a:cubicBezTo>
                    <a:pt x="-39176" y="1665337"/>
                    <a:pt x="39783" y="1407603"/>
                    <a:pt x="0" y="1229280"/>
                  </a:cubicBezTo>
                  <a:cubicBezTo>
                    <a:pt x="-39783" y="1050957"/>
                    <a:pt x="42460" y="935826"/>
                    <a:pt x="0" y="716350"/>
                  </a:cubicBezTo>
                  <a:cubicBezTo>
                    <a:pt x="-42460" y="496874"/>
                    <a:pt x="22210" y="220714"/>
                    <a:pt x="0" y="69612"/>
                  </a:cubicBezTo>
                  <a:close/>
                </a:path>
                <a:path w="5368326" h="2369355" stroke="0" extrusionOk="0">
                  <a:moveTo>
                    <a:pt x="0" y="69612"/>
                  </a:moveTo>
                  <a:cubicBezTo>
                    <a:pt x="-2069" y="29889"/>
                    <a:pt x="25248" y="2221"/>
                    <a:pt x="69612" y="0"/>
                  </a:cubicBezTo>
                  <a:cubicBezTo>
                    <a:pt x="376702" y="-60479"/>
                    <a:pt x="440279" y="42616"/>
                    <a:pt x="755205" y="0"/>
                  </a:cubicBezTo>
                  <a:cubicBezTo>
                    <a:pt x="1070131" y="-42616"/>
                    <a:pt x="1093915" y="52554"/>
                    <a:pt x="1283926" y="0"/>
                  </a:cubicBezTo>
                  <a:cubicBezTo>
                    <a:pt x="1473937" y="-52554"/>
                    <a:pt x="1635156" y="7454"/>
                    <a:pt x="1760355" y="0"/>
                  </a:cubicBezTo>
                  <a:cubicBezTo>
                    <a:pt x="1885554" y="-7454"/>
                    <a:pt x="2101171" y="70720"/>
                    <a:pt x="2393657" y="0"/>
                  </a:cubicBezTo>
                  <a:cubicBezTo>
                    <a:pt x="2686143" y="-70720"/>
                    <a:pt x="2772320" y="19840"/>
                    <a:pt x="2922378" y="0"/>
                  </a:cubicBezTo>
                  <a:cubicBezTo>
                    <a:pt x="3072436" y="-19840"/>
                    <a:pt x="3346923" y="41222"/>
                    <a:pt x="3607971" y="0"/>
                  </a:cubicBezTo>
                  <a:cubicBezTo>
                    <a:pt x="3869019" y="-41222"/>
                    <a:pt x="3962694" y="10842"/>
                    <a:pt x="4084400" y="0"/>
                  </a:cubicBezTo>
                  <a:cubicBezTo>
                    <a:pt x="4206106" y="-10842"/>
                    <a:pt x="4617252" y="20058"/>
                    <a:pt x="4769994" y="0"/>
                  </a:cubicBezTo>
                  <a:cubicBezTo>
                    <a:pt x="4922736" y="-20058"/>
                    <a:pt x="5174959" y="59560"/>
                    <a:pt x="5298714" y="0"/>
                  </a:cubicBezTo>
                  <a:cubicBezTo>
                    <a:pt x="5335496" y="-95"/>
                    <a:pt x="5370885" y="24150"/>
                    <a:pt x="5368326" y="69612"/>
                  </a:cubicBezTo>
                  <a:cubicBezTo>
                    <a:pt x="5394448" y="286955"/>
                    <a:pt x="5330544" y="482645"/>
                    <a:pt x="5368326" y="649446"/>
                  </a:cubicBezTo>
                  <a:cubicBezTo>
                    <a:pt x="5406108" y="816247"/>
                    <a:pt x="5304606" y="1127322"/>
                    <a:pt x="5368326" y="1251581"/>
                  </a:cubicBezTo>
                  <a:cubicBezTo>
                    <a:pt x="5432046" y="1375840"/>
                    <a:pt x="5301644" y="1979595"/>
                    <a:pt x="5368326" y="2299743"/>
                  </a:cubicBezTo>
                  <a:cubicBezTo>
                    <a:pt x="5360601" y="2339457"/>
                    <a:pt x="5333213" y="2366632"/>
                    <a:pt x="5298714" y="2369355"/>
                  </a:cubicBezTo>
                  <a:cubicBezTo>
                    <a:pt x="5135042" y="2442344"/>
                    <a:pt x="4973011" y="2309958"/>
                    <a:pt x="4665412" y="2369355"/>
                  </a:cubicBezTo>
                  <a:cubicBezTo>
                    <a:pt x="4357813" y="2428752"/>
                    <a:pt x="4319048" y="2352093"/>
                    <a:pt x="4084400" y="2369355"/>
                  </a:cubicBezTo>
                  <a:cubicBezTo>
                    <a:pt x="3849752" y="2386617"/>
                    <a:pt x="3788912" y="2350385"/>
                    <a:pt x="3660262" y="2369355"/>
                  </a:cubicBezTo>
                  <a:cubicBezTo>
                    <a:pt x="3531612" y="2388325"/>
                    <a:pt x="3285949" y="2357041"/>
                    <a:pt x="3183833" y="2369355"/>
                  </a:cubicBezTo>
                  <a:cubicBezTo>
                    <a:pt x="3081717" y="2381669"/>
                    <a:pt x="2650450" y="2337934"/>
                    <a:pt x="2498239" y="2369355"/>
                  </a:cubicBezTo>
                  <a:cubicBezTo>
                    <a:pt x="2346028" y="2400776"/>
                    <a:pt x="2113971" y="2354057"/>
                    <a:pt x="1917228" y="2369355"/>
                  </a:cubicBezTo>
                  <a:cubicBezTo>
                    <a:pt x="1720485" y="2384653"/>
                    <a:pt x="1605567" y="2322037"/>
                    <a:pt x="1440799" y="2369355"/>
                  </a:cubicBezTo>
                  <a:cubicBezTo>
                    <a:pt x="1276031" y="2416673"/>
                    <a:pt x="1134454" y="2320380"/>
                    <a:pt x="859787" y="2369355"/>
                  </a:cubicBezTo>
                  <a:cubicBezTo>
                    <a:pt x="585120" y="2418330"/>
                    <a:pt x="296212" y="2275077"/>
                    <a:pt x="69612" y="2369355"/>
                  </a:cubicBezTo>
                  <a:cubicBezTo>
                    <a:pt x="31433" y="2368534"/>
                    <a:pt x="6925" y="2345677"/>
                    <a:pt x="0" y="2299743"/>
                  </a:cubicBezTo>
                  <a:cubicBezTo>
                    <a:pt x="-5482" y="2011212"/>
                    <a:pt x="39077" y="1868349"/>
                    <a:pt x="0" y="1697608"/>
                  </a:cubicBezTo>
                  <a:cubicBezTo>
                    <a:pt x="-39077" y="1526868"/>
                    <a:pt x="10871" y="1252103"/>
                    <a:pt x="0" y="1117774"/>
                  </a:cubicBezTo>
                  <a:cubicBezTo>
                    <a:pt x="-10871" y="983445"/>
                    <a:pt x="32774" y="796258"/>
                    <a:pt x="0" y="604843"/>
                  </a:cubicBezTo>
                  <a:cubicBezTo>
                    <a:pt x="-32774" y="413428"/>
                    <a:pt x="51226" y="291898"/>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576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45080" y="3926593"/>
              <a:ext cx="610952" cy="610952"/>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029309" y="2348880"/>
            <a:ext cx="2766278" cy="3842021"/>
            <a:chOff x="3029309" y="2348880"/>
            <a:chExt cx="2766278" cy="3842021"/>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348880"/>
              <a:ext cx="2766278" cy="3842021"/>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2"/>
              <a:ext cx="607391" cy="1550974"/>
              <a:chOff x="4336438" y="2128458"/>
              <a:chExt cx="607391" cy="1300542"/>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300542"/>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607876"/>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989470" y="908720"/>
            <a:ext cx="2175109" cy="1815483"/>
          </a:xfrm>
          <a:prstGeom prst="borderCallout1">
            <a:avLst>
              <a:gd name="adj1" fmla="val 51349"/>
              <a:gd name="adj2" fmla="val 97160"/>
              <a:gd name="adj3" fmla="val 87426"/>
              <a:gd name="adj4" fmla="val 130412"/>
            </a:avLst>
          </a:prstGeom>
          <a:solidFill>
            <a:schemeClr val="tx2">
              <a:lumMod val="40000"/>
              <a:lumOff val="60000"/>
              <a:alpha val="2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228338" y="4365104"/>
            <a:ext cx="1948127" cy="1180383"/>
          </a:xfrm>
          <a:prstGeom prst="borderCallout1">
            <a:avLst>
              <a:gd name="adj1" fmla="val 17633"/>
              <a:gd name="adj2" fmla="val 8388"/>
              <a:gd name="adj3" fmla="val 51744"/>
              <a:gd name="adj4" fmla="val -69227"/>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441976601"/>
              </p:ext>
            </p:extLst>
          </p:nvPr>
        </p:nvGraphicFramePr>
        <p:xfrm>
          <a:off x="293763" y="4372727"/>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55" name="群組 54">
            <a:extLst>
              <a:ext uri="{FF2B5EF4-FFF2-40B4-BE49-F238E27FC236}">
                <a16:creationId xmlns:a16="http://schemas.microsoft.com/office/drawing/2014/main" id="{4DE2592A-D604-3D0C-91DE-89E097153AD3}"/>
              </a:ext>
            </a:extLst>
          </p:cNvPr>
          <p:cNvGrpSpPr/>
          <p:nvPr/>
        </p:nvGrpSpPr>
        <p:grpSpPr>
          <a:xfrm>
            <a:off x="5962306" y="4192663"/>
            <a:ext cx="1236196" cy="1944216"/>
            <a:chOff x="5178038" y="3429000"/>
            <a:chExt cx="1236196" cy="1944216"/>
          </a:xfrm>
        </p:grpSpPr>
        <p:pic>
          <p:nvPicPr>
            <p:cNvPr id="21" name="圖片 20">
              <a:extLst>
                <a:ext uri="{FF2B5EF4-FFF2-40B4-BE49-F238E27FC236}">
                  <a16:creationId xmlns:a16="http://schemas.microsoft.com/office/drawing/2014/main" id="{8D0477E1-D253-0DF8-70E7-619094E21A5C}"/>
                </a:ext>
              </a:extLst>
            </p:cNvPr>
            <p:cNvPicPr>
              <a:picLocks noChangeAspect="1"/>
            </p:cNvPicPr>
            <p:nvPr/>
          </p:nvPicPr>
          <p:blipFill>
            <a:blip r:embed="rId7"/>
            <a:stretch>
              <a:fillRect/>
            </a:stretch>
          </p:blipFill>
          <p:spPr>
            <a:xfrm>
              <a:off x="5841328" y="3678613"/>
              <a:ext cx="527714" cy="830051"/>
            </a:xfrm>
            <a:prstGeom prst="rect">
              <a:avLst/>
            </a:prstGeom>
          </p:spPr>
        </p:pic>
        <p:sp>
          <p:nvSpPr>
            <p:cNvPr id="31" name="文字方塊 30">
              <a:extLst>
                <a:ext uri="{FF2B5EF4-FFF2-40B4-BE49-F238E27FC236}">
                  <a16:creationId xmlns:a16="http://schemas.microsoft.com/office/drawing/2014/main" id="{E1BEF8EA-A31D-8986-4923-DEDDE6E5A93C}"/>
                </a:ext>
              </a:extLst>
            </p:cNvPr>
            <p:cNvSpPr txBox="1"/>
            <p:nvPr/>
          </p:nvSpPr>
          <p:spPr>
            <a:xfrm>
              <a:off x="5796136" y="3429000"/>
              <a:ext cx="618098" cy="1114088"/>
            </a:xfrm>
            <a:prstGeom prst="rect">
              <a:avLst/>
            </a:prstGeom>
            <a:solidFill>
              <a:schemeClr val="bg1">
                <a:alpha val="8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a:t>
              </a:r>
            </a:p>
          </p:txBody>
        </p:sp>
        <p:sp>
          <p:nvSpPr>
            <p:cNvPr id="33" name="文字方塊 32">
              <a:extLst>
                <a:ext uri="{FF2B5EF4-FFF2-40B4-BE49-F238E27FC236}">
                  <a16:creationId xmlns:a16="http://schemas.microsoft.com/office/drawing/2014/main" id="{502C2AD7-0EA0-026D-D4FF-4BC4621F9CF0}"/>
                </a:ext>
              </a:extLst>
            </p:cNvPr>
            <p:cNvSpPr txBox="1"/>
            <p:nvPr/>
          </p:nvSpPr>
          <p:spPr>
            <a:xfrm>
              <a:off x="6143214" y="407375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111117"/>
              <a:ext cx="527714" cy="830051"/>
            </a:xfrm>
            <a:prstGeom prst="rect">
              <a:avLst/>
            </a:prstGeom>
          </p:spPr>
        </p:pic>
        <p:sp>
          <p:nvSpPr>
            <p:cNvPr id="45" name="文字方塊 44">
              <a:extLst>
                <a:ext uri="{FF2B5EF4-FFF2-40B4-BE49-F238E27FC236}">
                  <a16:creationId xmlns:a16="http://schemas.microsoft.com/office/drawing/2014/main" id="{87EADC2A-442B-24AB-BF8E-75BCE8145054}"/>
                </a:ext>
              </a:extLst>
            </p:cNvPr>
            <p:cNvSpPr txBox="1"/>
            <p:nvPr/>
          </p:nvSpPr>
          <p:spPr>
            <a:xfrm>
              <a:off x="5436096" y="3823464"/>
              <a:ext cx="618098" cy="1114088"/>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sp>
          <p:nvSpPr>
            <p:cNvPr id="47" name="文字方塊 46">
              <a:extLst>
                <a:ext uri="{FF2B5EF4-FFF2-40B4-BE49-F238E27FC236}">
                  <a16:creationId xmlns:a16="http://schemas.microsoft.com/office/drawing/2014/main" id="{5E22CC08-ED18-A46F-157B-580E43DEEA91}"/>
                </a:ext>
              </a:extLst>
            </p:cNvPr>
            <p:cNvSpPr txBox="1"/>
            <p:nvPr/>
          </p:nvSpPr>
          <p:spPr>
            <a:xfrm>
              <a:off x="5885156" y="4506257"/>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78038" y="4259128"/>
              <a:ext cx="618098" cy="1114088"/>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223230" y="4508741"/>
              <a:ext cx="527714" cy="830051"/>
            </a:xfrm>
            <a:prstGeom prst="rect">
              <a:avLst/>
            </a:prstGeom>
          </p:spPr>
        </p:pic>
        <p:sp>
          <p:nvSpPr>
            <p:cNvPr id="51" name="文字方塊 50">
              <a:extLst>
                <a:ext uri="{FF2B5EF4-FFF2-40B4-BE49-F238E27FC236}">
                  <a16:creationId xmlns:a16="http://schemas.microsoft.com/office/drawing/2014/main" id="{472EA781-8409-172B-ED33-931C5B8C99DC}"/>
                </a:ext>
              </a:extLst>
            </p:cNvPr>
            <p:cNvSpPr txBox="1"/>
            <p:nvPr/>
          </p:nvSpPr>
          <p:spPr>
            <a:xfrm>
              <a:off x="5525116" y="4903881"/>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153338189"/>
              </p:ext>
            </p:extLst>
          </p:nvPr>
        </p:nvGraphicFramePr>
        <p:xfrm>
          <a:off x="6076298" y="968097"/>
          <a:ext cx="2020094" cy="1706402"/>
        </p:xfrm>
        <a:graphic>
          <a:graphicData uri="http://schemas.openxmlformats.org/drawingml/2006/table">
            <a:tbl>
              <a:tblPr firstRow="1" bandRow="1">
                <a:tableStyleId>{5C22544A-7EE6-4342-B048-85BDC9FD1C3A}</a:tableStyleId>
              </a:tblPr>
              <a:tblGrid>
                <a:gridCol w="2020094">
                  <a:extLst>
                    <a:ext uri="{9D8B030D-6E8A-4147-A177-3AD203B41FA5}">
                      <a16:colId xmlns:a16="http://schemas.microsoft.com/office/drawing/2014/main" val="4512040"/>
                    </a:ext>
                  </a:extLst>
                </a:gridCol>
              </a:tblGrid>
              <a:tr h="2842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52236196"/>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32145302"/>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4017267"/>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7108361"/>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365849749"/>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1619672" y="5219306"/>
            <a:ext cx="973462" cy="1059346"/>
            <a:chOff x="6114742" y="721121"/>
            <a:chExt cx="973462"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742"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grpSp>
        <p:nvGrpSpPr>
          <p:cNvPr id="108" name="群組 107">
            <a:extLst>
              <a:ext uri="{FF2B5EF4-FFF2-40B4-BE49-F238E27FC236}">
                <a16:creationId xmlns:a16="http://schemas.microsoft.com/office/drawing/2014/main" id="{8B856D10-59CD-C186-CB30-9D364A137D47}"/>
              </a:ext>
            </a:extLst>
          </p:cNvPr>
          <p:cNvGrpSpPr/>
          <p:nvPr/>
        </p:nvGrpSpPr>
        <p:grpSpPr>
          <a:xfrm>
            <a:off x="7368523" y="2420888"/>
            <a:ext cx="1667973" cy="1543803"/>
            <a:chOff x="4139952" y="548680"/>
            <a:chExt cx="1667973" cy="1543803"/>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130675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1264307"/>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13727" y="1630818"/>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196752"/>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24%</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24%</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83968" y="908720"/>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47%</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583591"/>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204864"/>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2153" y="1828605"/>
            <a:ext cx="1718591" cy="160236"/>
          </a:xfrm>
          <a:prstGeom prst="rect">
            <a:avLst/>
          </a:prstGeom>
          <a:solidFill>
            <a:schemeClr val="accent5">
              <a:lumMod val="75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3" y="1503872"/>
            <a:ext cx="1309608" cy="191921"/>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229753" y="2527212"/>
            <a:ext cx="1948127" cy="1608749"/>
          </a:xfrm>
          <a:prstGeom prst="borderCallout1">
            <a:avLst>
              <a:gd name="adj1" fmla="val 24803"/>
              <a:gd name="adj2" fmla="val 5180"/>
              <a:gd name="adj3" fmla="val 48340"/>
              <a:gd name="adj4" fmla="val -63390"/>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077019"/>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2557788722"/>
              </p:ext>
            </p:extLst>
          </p:nvPr>
        </p:nvGraphicFramePr>
        <p:xfrm>
          <a:off x="293763" y="2543197"/>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483768" y="1340768"/>
            <a:ext cx="168315" cy="295722"/>
          </a:xfrm>
          <a:prstGeom prst="rect">
            <a:avLst/>
          </a:prstGeom>
          <a:noFill/>
        </p:spPr>
        <p:txBody>
          <a:bodyPr wrap="non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p>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Saw</a:t>
            </a: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graphicFrame>
        <p:nvGraphicFramePr>
          <p:cNvPr id="61" name="表格 60">
            <a:extLst>
              <a:ext uri="{FF2B5EF4-FFF2-40B4-BE49-F238E27FC236}">
                <a16:creationId xmlns:a16="http://schemas.microsoft.com/office/drawing/2014/main" id="{3D7F18CD-D7BC-D341-2FAF-DEC56D54819F}"/>
              </a:ext>
            </a:extLst>
          </p:cNvPr>
          <p:cNvGraphicFramePr>
            <a:graphicFrameLocks noGrp="1"/>
          </p:cNvGraphicFramePr>
          <p:nvPr>
            <p:extLst>
              <p:ext uri="{D42A27DB-BD31-4B8C-83A1-F6EECF244321}">
                <p14:modId xmlns:p14="http://schemas.microsoft.com/office/powerpoint/2010/main" val="1177698494"/>
              </p:ext>
            </p:extLst>
          </p:nvPr>
        </p:nvGraphicFramePr>
        <p:xfrm>
          <a:off x="539552" y="1340768"/>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1375270607"/>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Chips and Semiconductor</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NVIDIA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SK Hynix</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TSMC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Samsung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Broadcom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ASML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MTK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The top 20 leaders in the AI Ecosystem.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512A293C-A59D-C5A0-1E0F-EEEE37412821}"/>
              </a:ext>
            </a:extLst>
          </p:cNvPr>
          <p:cNvGraphicFramePr>
            <a:graphicFrameLocks noGrp="1"/>
          </p:cNvGraphicFramePr>
          <p:nvPr>
            <p:extLst>
              <p:ext uri="{D42A27DB-BD31-4B8C-83A1-F6EECF244321}">
                <p14:modId xmlns:p14="http://schemas.microsoft.com/office/powerpoint/2010/main" val="3537441129"/>
              </p:ext>
            </p:extLst>
          </p:nvPr>
        </p:nvGraphicFramePr>
        <p:xfrm>
          <a:off x="467544" y="2780928"/>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3067959416"/>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Frontier Foundation Models</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Anthropic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QWun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DeepMind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OpenAI</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Cohere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x 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graphicFrame>
        <p:nvGraphicFramePr>
          <p:cNvPr id="6" name="表格 5">
            <a:extLst>
              <a:ext uri="{FF2B5EF4-FFF2-40B4-BE49-F238E27FC236}">
                <a16:creationId xmlns:a16="http://schemas.microsoft.com/office/drawing/2014/main" id="{43110990-9D88-52DB-49E0-2C44433D9579}"/>
              </a:ext>
            </a:extLst>
          </p:cNvPr>
          <p:cNvGraphicFramePr>
            <a:graphicFrameLocks noGrp="1"/>
          </p:cNvGraphicFramePr>
          <p:nvPr>
            <p:extLst>
              <p:ext uri="{D42A27DB-BD31-4B8C-83A1-F6EECF244321}">
                <p14:modId xmlns:p14="http://schemas.microsoft.com/office/powerpoint/2010/main" val="319985866"/>
              </p:ext>
            </p:extLst>
          </p:nvPr>
        </p:nvGraphicFramePr>
        <p:xfrm>
          <a:off x="3635896" y="2780928"/>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2174767024"/>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Cloud Services</a:t>
                      </a:r>
                      <a:endParaRPr kumimoji="0" lang="en-US" altLang="zh-TW" sz="1000" b="0" i="0" u="none" strike="noStrike" kern="1200" cap="none" spc="0" normalizeH="0" baseline="0" noProof="0" dirty="0">
                        <a:ln w="0"/>
                        <a:solidFill>
                          <a:srgbClr val="4F81BD"/>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MS Azure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Alibaba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AWS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Tencent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CoreWeave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Platforms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Scale 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Oracle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Databricks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graphicFrame>
        <p:nvGraphicFramePr>
          <p:cNvPr id="11" name="表格 10">
            <a:extLst>
              <a:ext uri="{FF2B5EF4-FFF2-40B4-BE49-F238E27FC236}">
                <a16:creationId xmlns:a16="http://schemas.microsoft.com/office/drawing/2014/main" id="{EF86854B-09FE-9F40-F096-6191898F5E74}"/>
              </a:ext>
            </a:extLst>
          </p:cNvPr>
          <p:cNvGraphicFramePr>
            <a:graphicFrameLocks noGrp="1"/>
          </p:cNvGraphicFramePr>
          <p:nvPr>
            <p:extLst>
              <p:ext uri="{D42A27DB-BD31-4B8C-83A1-F6EECF244321}">
                <p14:modId xmlns:p14="http://schemas.microsoft.com/office/powerpoint/2010/main" val="1427700734"/>
              </p:ext>
            </p:extLst>
          </p:nvPr>
        </p:nvGraphicFramePr>
        <p:xfrm>
          <a:off x="6804248" y="1340768"/>
          <a:ext cx="1944216" cy="2205476"/>
        </p:xfrm>
        <a:graphic>
          <a:graphicData uri="http://schemas.openxmlformats.org/drawingml/2006/table">
            <a:tbl>
              <a:tblPr firstRow="1" bandRow="1">
                <a:tableStyleId>{5C22544A-7EE6-4342-B048-85BDC9FD1C3A}</a:tableStyleId>
              </a:tblPr>
              <a:tblGrid>
                <a:gridCol w="1944216">
                  <a:extLst>
                    <a:ext uri="{9D8B030D-6E8A-4147-A177-3AD203B41FA5}">
                      <a16:colId xmlns:a16="http://schemas.microsoft.com/office/drawing/2014/main" val="4512040"/>
                    </a:ext>
                  </a:extLst>
                </a:gridCol>
              </a:tblGrid>
              <a:tr h="3766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Applications</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OpenAI – ChatGPT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 Copilot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Claude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Apple – Apple Intelligence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xAI</a:t>
                      </a:r>
                      <a:r>
                        <a:rPr lang="en-US" altLang="zh-TW" sz="1200" b="0" cap="none" spc="0" dirty="0">
                          <a:ln w="0"/>
                          <a:solidFill>
                            <a:schemeClr val="tx1"/>
                          </a:solidFill>
                          <a:effectLst/>
                        </a:rPr>
                        <a:t> – Grok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Databricks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Palantir</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Salesforce</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IBM</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graphicFrame>
        <p:nvGraphicFramePr>
          <p:cNvPr id="15" name="表格 14">
            <a:extLst>
              <a:ext uri="{FF2B5EF4-FFF2-40B4-BE49-F238E27FC236}">
                <a16:creationId xmlns:a16="http://schemas.microsoft.com/office/drawing/2014/main" id="{7F3A25DC-80E9-98E5-7B02-E9FFC6E485AD}"/>
              </a:ext>
            </a:extLst>
          </p:cNvPr>
          <p:cNvGraphicFramePr>
            <a:graphicFrameLocks noGrp="1"/>
          </p:cNvGraphicFramePr>
          <p:nvPr>
            <p:extLst>
              <p:ext uri="{D42A27DB-BD31-4B8C-83A1-F6EECF244321}">
                <p14:modId xmlns:p14="http://schemas.microsoft.com/office/powerpoint/2010/main" val="3318281310"/>
              </p:ext>
            </p:extLst>
          </p:nvPr>
        </p:nvGraphicFramePr>
        <p:xfrm>
          <a:off x="5580112" y="4824184"/>
          <a:ext cx="3024336" cy="1274939"/>
        </p:xfrm>
        <a:graphic>
          <a:graphicData uri="http://schemas.openxmlformats.org/drawingml/2006/table">
            <a:tbl>
              <a:tblPr firstRow="1" bandRow="1">
                <a:tableStyleId>{5C22544A-7EE6-4342-B048-85BDC9FD1C3A}</a:tableStyleId>
              </a:tblPr>
              <a:tblGrid>
                <a:gridCol w="3024336">
                  <a:extLst>
                    <a:ext uri="{9D8B030D-6E8A-4147-A177-3AD203B41FA5}">
                      <a16:colId xmlns:a16="http://schemas.microsoft.com/office/drawing/2014/main" val="4512040"/>
                    </a:ext>
                  </a:extLst>
                </a:gridCol>
              </a:tblGrid>
              <a:tr h="3605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Future  - NPU, TPU, LPU</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AWS, MS, Meta, Grok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Qualcomm, Apple, AMD, Intel, Broadcom,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Cerebras, Samsung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MTK,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Alchip</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Kneron</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Neuchip</a:t>
                      </a:r>
                      <a:r>
                        <a:rPr kumimoji="0" lang="en-US" altLang="zh-TW" sz="1200" b="0" i="0" u="none" strike="noStrike" kern="1200" cap="none" spc="0" normalizeH="0" baseline="0" noProof="0" dirty="0">
                          <a:ln w="0"/>
                          <a:solidFill>
                            <a:prstClr val="black"/>
                          </a:solidFill>
                          <a:effectLst/>
                          <a:uLnTx/>
                          <a:uFillTx/>
                          <a:latin typeface="+mn-lt"/>
                          <a:ea typeface="+mn-ea"/>
                          <a:cs typeface="+mn-cs"/>
                        </a:rPr>
                        <a:t>, GUC, Faraday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HiSillicon</a:t>
                      </a:r>
                      <a:r>
                        <a:rPr lang="en-US" altLang="zh-TW" sz="1200" b="0" cap="none" spc="0" dirty="0">
                          <a:ln w="0"/>
                          <a:solidFill>
                            <a:schemeClr val="tx1"/>
                          </a:solidFill>
                          <a:effectLst/>
                        </a:rPr>
                        <a:t>, </a:t>
                      </a:r>
                      <a:r>
                        <a:rPr lang="en-US" altLang="zh-TW" sz="1200" b="0" cap="none" spc="0" dirty="0" err="1">
                          <a:ln w="0"/>
                          <a:solidFill>
                            <a:schemeClr val="tx1"/>
                          </a:solidFill>
                          <a:effectLst/>
                        </a:rPr>
                        <a:t>Cambricon</a:t>
                      </a:r>
                      <a:r>
                        <a:rPr lang="en-US" altLang="zh-TW" sz="1200" b="0" cap="none" spc="0" dirty="0">
                          <a:ln w="0"/>
                          <a:solidFill>
                            <a:schemeClr val="tx1"/>
                          </a:solidFill>
                          <a:effectLst/>
                        </a:rPr>
                        <a:t>, Axera, Horizon Robotics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bl>
          </a:graphicData>
        </a:graphic>
      </p:graphicFrame>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3372232" y="1268760"/>
            <a:ext cx="3024336" cy="1420358"/>
          </a:xfrm>
          <a:prstGeom prst="rect">
            <a:avLst/>
          </a:prstGeom>
          <a:effectLst>
            <a:glow>
              <a:schemeClr val="accent6">
                <a:satMod val="175000"/>
                <a:alpha val="20000"/>
              </a:schemeClr>
            </a:glow>
            <a:softEdge rad="101600"/>
          </a:effectLst>
        </p:spPr>
      </p:pic>
      <p:graphicFrame>
        <p:nvGraphicFramePr>
          <p:cNvPr id="2" name="表格 1">
            <a:extLst>
              <a:ext uri="{FF2B5EF4-FFF2-40B4-BE49-F238E27FC236}">
                <a16:creationId xmlns:a16="http://schemas.microsoft.com/office/drawing/2014/main" id="{7F258956-61D9-A51C-1A9E-2155CAED7E05}"/>
              </a:ext>
            </a:extLst>
          </p:cNvPr>
          <p:cNvGraphicFramePr>
            <a:graphicFrameLocks noGrp="1"/>
          </p:cNvGraphicFramePr>
          <p:nvPr>
            <p:extLst>
              <p:ext uri="{D42A27DB-BD31-4B8C-83A1-F6EECF244321}">
                <p14:modId xmlns:p14="http://schemas.microsoft.com/office/powerpoint/2010/main" val="3327704103"/>
              </p:ext>
            </p:extLst>
          </p:nvPr>
        </p:nvGraphicFramePr>
        <p:xfrm>
          <a:off x="395536" y="4359384"/>
          <a:ext cx="3816424" cy="941824"/>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1752187802"/>
                    </a:ext>
                  </a:extLst>
                </a:gridCol>
                <a:gridCol w="2880320">
                  <a:extLst>
                    <a:ext uri="{9D8B030D-6E8A-4147-A177-3AD203B41FA5}">
                      <a16:colId xmlns:a16="http://schemas.microsoft.com/office/drawing/2014/main" val="1651389164"/>
                    </a:ext>
                  </a:extLst>
                </a:gridCol>
              </a:tblGrid>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Reasoning</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1036641"/>
                  </a:ext>
                </a:extLst>
              </a:tr>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Alignment</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Intention</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67828506"/>
                  </a:ext>
                </a:extLst>
              </a:tr>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SFT</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PEFT</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71167571"/>
                  </a:ext>
                </a:extLst>
              </a:tr>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Model/CV…</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 GGUF,</a:t>
                      </a:r>
                      <a:r>
                        <a:rPr kumimoji="0" lang="zh-TW" altLang="en-US"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 </a:t>
                      </a:r>
                      <a:r>
                        <a:rPr kumimoji="0" lang="en-US" altLang="zh-TW"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ONNX</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3886711"/>
                  </a:ext>
                </a:extLst>
              </a:tr>
            </a:tbl>
          </a:graphicData>
        </a:graphic>
      </p:graphicFrame>
      <p:sp>
        <p:nvSpPr>
          <p:cNvPr id="7" name="圖說文字: 直線 6">
            <a:extLst>
              <a:ext uri="{FF2B5EF4-FFF2-40B4-BE49-F238E27FC236}">
                <a16:creationId xmlns:a16="http://schemas.microsoft.com/office/drawing/2014/main" id="{936D2D76-DCFF-575E-7363-34677C3510CB}"/>
              </a:ext>
            </a:extLst>
          </p:cNvPr>
          <p:cNvSpPr/>
          <p:nvPr/>
        </p:nvSpPr>
        <p:spPr>
          <a:xfrm flipH="1">
            <a:off x="5508104" y="4725144"/>
            <a:ext cx="3168352" cy="1492366"/>
          </a:xfrm>
          <a:prstGeom prst="borderCallout1">
            <a:avLst>
              <a:gd name="adj1" fmla="val 11649"/>
              <a:gd name="adj2" fmla="val 96516"/>
              <a:gd name="adj3" fmla="val 11782"/>
              <a:gd name="adj4" fmla="val 118948"/>
            </a:avLst>
          </a:prstGeom>
          <a:no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0</TotalTime>
  <Words>6244</Words>
  <Application>Microsoft Office PowerPoint</Application>
  <PresentationFormat>如螢幕大小 (4:3)</PresentationFormat>
  <Paragraphs>1309</Paragraphs>
  <Slides>21</Slides>
  <Notes>19</Notes>
  <HiddenSlides>1</HiddenSlides>
  <MMClips>0</MMClips>
  <ScaleCrop>false</ScaleCrop>
  <HeadingPairs>
    <vt:vector size="6" baseType="variant">
      <vt:variant>
        <vt:lpstr>使用字型</vt:lpstr>
      </vt:variant>
      <vt:variant>
        <vt:i4>14</vt:i4>
      </vt:variant>
      <vt:variant>
        <vt:lpstr>佈景主題</vt:lpstr>
      </vt:variant>
      <vt:variant>
        <vt:i4>1</vt:i4>
      </vt:variant>
      <vt:variant>
        <vt:lpstr>投影片標題</vt:lpstr>
      </vt:variant>
      <vt:variant>
        <vt:i4>21</vt:i4>
      </vt:variant>
    </vt:vector>
  </HeadingPairs>
  <TitlesOfParts>
    <vt:vector size="36" baseType="lpstr">
      <vt:lpstr>Google Sans</vt:lpstr>
      <vt:lpstr>Microsoft GothicNeo</vt:lpstr>
      <vt:lpstr>Microsoft YaHei Mono</vt:lpstr>
      <vt:lpstr>Noto Sans HK</vt:lpstr>
      <vt:lpstr>STXingkai</vt:lpstr>
      <vt:lpstr>微軟正黑體</vt:lpstr>
      <vt:lpstr>ADLaM Display</vt:lpstr>
      <vt:lpstr>Arial</vt:lpstr>
      <vt:lpstr>Calibri</vt:lpstr>
      <vt:lpstr>Cambria Math</vt:lpstr>
      <vt:lpstr>Comic Sans MS</vt:lpstr>
      <vt:lpstr>Consolas</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1721</cp:revision>
  <cp:lastPrinted>2024-07-30T01:44:15Z</cp:lastPrinted>
  <dcterms:created xsi:type="dcterms:W3CDTF">2019-11-08T03:01:47Z</dcterms:created>
  <dcterms:modified xsi:type="dcterms:W3CDTF">2026-07-12T03:49:47Z</dcterms:modified>
</cp:coreProperties>
</file>