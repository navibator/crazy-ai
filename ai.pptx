
<file path=[Content_Types].xml><?xml version="1.0" encoding="utf-8"?>
<Types xmlns="http://schemas.openxmlformats.org/package/2006/content-types">
  <Default Extension="bmp" ContentType="image/bmp"/>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7"/>
  </p:notesMasterIdLst>
  <p:handoutMasterIdLst>
    <p:handoutMasterId r:id="rId28"/>
  </p:handoutMasterIdLst>
  <p:sldIdLst>
    <p:sldId id="3459" r:id="rId2"/>
    <p:sldId id="3472" r:id="rId3"/>
    <p:sldId id="3431" r:id="rId4"/>
    <p:sldId id="3427" r:id="rId5"/>
    <p:sldId id="3435" r:id="rId6"/>
    <p:sldId id="3477" r:id="rId7"/>
    <p:sldId id="3470" r:id="rId8"/>
    <p:sldId id="3471" r:id="rId9"/>
    <p:sldId id="3482" r:id="rId10"/>
    <p:sldId id="3483" r:id="rId11"/>
    <p:sldId id="3428" r:id="rId12"/>
    <p:sldId id="3451" r:id="rId13"/>
    <p:sldId id="3465" r:id="rId14"/>
    <p:sldId id="3484" r:id="rId15"/>
    <p:sldId id="3485" r:id="rId16"/>
    <p:sldId id="3443" r:id="rId17"/>
    <p:sldId id="3466" r:id="rId18"/>
    <p:sldId id="3476" r:id="rId19"/>
    <p:sldId id="3461" r:id="rId20"/>
    <p:sldId id="3462" r:id="rId21"/>
    <p:sldId id="3420" r:id="rId22"/>
    <p:sldId id="3460" r:id="rId23"/>
    <p:sldId id="3481" r:id="rId24"/>
    <p:sldId id="3479" r:id="rId25"/>
    <p:sldId id="3467" r:id="rId26"/>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Lst>
        </p14:section>
        <p14:section name="Machine Learning" id="{B661AA10-C3FF-4E46-A114-E951FEA8A6DC}">
          <p14:sldIdLst>
            <p14:sldId id="3431"/>
            <p14:sldId id="3427"/>
            <p14:sldId id="3435"/>
            <p14:sldId id="3477"/>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485"/>
            <p14:sldId id="3443"/>
            <p14:sldId id="3466"/>
            <p14:sldId id="3476"/>
            <p14:sldId id="3461"/>
            <p14:sldId id="3462"/>
            <p14:sldId id="3420"/>
          </p14:sldIdLst>
        </p14:section>
        <p14:section name="Conclusion" id="{69C35067-BEF2-4B7C-9B54-B6977EB05C72}">
          <p14:sldIdLst>
            <p14:sldId id="3460"/>
            <p14:sldId id="3481"/>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9E7800"/>
    <a:srgbClr val="DAA600"/>
    <a:srgbClr val="F8D462"/>
    <a:srgbClr val="FDE7DA"/>
    <a:srgbClr val="DDDDDD"/>
    <a:srgbClr val="FEC203"/>
    <a:srgbClr val="B7C9E7"/>
    <a:srgbClr val="AAD29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2500"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2026/6/30</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2026/6/30</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AI Evolution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(From AlexNet to GPT)</a:t>
            </a:r>
            <a:endParaRPr lang="en-US" altLang="zh-TW" sz="1200" dirty="0"/>
          </a:p>
          <a:p>
            <a:pPr marL="0" indent="0">
              <a:buFont typeface="Wingdings" panose="05000000000000000000" pitchFamily="2" charset="2"/>
              <a:buNone/>
              <a:defRPr/>
            </a:pPr>
            <a:r>
              <a:rPr lang="en-US" altLang="zh-TW" sz="1200" b="1" dirty="0">
                <a:solidFill>
                  <a:srgbClr val="FF0000"/>
                </a:solidFill>
              </a:rPr>
              <a:t>Machine Learning</a:t>
            </a:r>
            <a:r>
              <a:rPr lang="en-US" altLang="zh-TW" sz="1200" dirty="0">
                <a:solidFill>
                  <a:srgbClr val="FF0000"/>
                </a:solidFill>
              </a:rPr>
              <a:t> </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(UL, semi-SL, SL, RL)</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ML: </a:t>
            </a:r>
            <a:r>
              <a:rPr lang="en-US" altLang="zh-TW" sz="1200" dirty="0"/>
              <a:t>Unsupervised </a:t>
            </a:r>
            <a:r>
              <a:rPr lang="en-US" altLang="zh-TW" sz="1200" dirty="0">
                <a:solidFill>
                  <a:schemeClr val="bg1">
                    <a:lumMod val="50000"/>
                  </a:schemeClr>
                </a:solidFill>
              </a:rPr>
              <a:t>(Reduction: PCA, t-SNE, UMAP; Clustering: K-Means, GMM)</a:t>
            </a:r>
          </a:p>
          <a:p>
            <a:pPr marL="0" indent="0">
              <a:buFont typeface="Wingdings" panose="05000000000000000000" pitchFamily="2" charset="2"/>
              <a:buNone/>
              <a:defRPr/>
            </a:pPr>
            <a:r>
              <a:rPr lang="en-US" altLang="zh-TW" sz="1200" dirty="0">
                <a:solidFill>
                  <a:schemeClr val="bg1">
                    <a:lumMod val="50000"/>
                  </a:schemeClr>
                </a:solidFill>
              </a:rPr>
              <a:t>ML: </a:t>
            </a:r>
            <a:r>
              <a:rPr lang="en-US" altLang="zh-TW" sz="1200" dirty="0"/>
              <a:t>Supervised</a:t>
            </a:r>
            <a:r>
              <a:rPr lang="zh-TW" altLang="en-US" sz="1200" dirty="0"/>
              <a:t> </a:t>
            </a:r>
            <a:r>
              <a:rPr lang="en-US" altLang="zh-TW" sz="1200" dirty="0">
                <a:solidFill>
                  <a:schemeClr val="bg1">
                    <a:lumMod val="50000"/>
                  </a:schemeClr>
                </a:solidFill>
              </a:rPr>
              <a:t>(GPT-Supervised Fine Tunning) </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schemeClr val="bg1">
                    <a:lumMod val="50000"/>
                  </a:schemeClr>
                </a:solidFill>
                <a:effectLst/>
                <a:uLnTx/>
                <a:uFillTx/>
                <a:latin typeface="+mn-lt"/>
                <a:ea typeface="+mn-ea"/>
                <a:cs typeface="+mn-cs"/>
              </a:rPr>
              <a:t>ML: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Reinforcement </a:t>
            </a:r>
            <a:r>
              <a:rPr lang="en-US" altLang="zh-TW" sz="1200" dirty="0">
                <a:solidFill>
                  <a:schemeClr val="bg1">
                    <a:lumMod val="50000"/>
                  </a:schemeClr>
                </a:solidFill>
              </a:rPr>
              <a:t>(GPT- Reinforced Learning with Human Feedback)</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schemeClr val="bg1">
                    <a:lumMod val="50000"/>
                  </a:schemeClr>
                </a:solidFill>
                <a:effectLst/>
                <a:uLnTx/>
                <a:uFillTx/>
                <a:latin typeface="+mn-lt"/>
                <a:ea typeface="+mn-ea"/>
                <a:cs typeface="+mn-cs"/>
              </a:rPr>
              <a:t>ML: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Probability Model</a:t>
            </a:r>
            <a:r>
              <a:rPr lang="en-US" altLang="zh-TW" sz="1200" dirty="0">
                <a:solidFill>
                  <a:schemeClr val="bg1">
                    <a:lumMod val="50000"/>
                  </a:schemeClr>
                </a:solidFill>
              </a:rPr>
              <a:t> (EM Model vs Back Propagation) </a:t>
            </a:r>
            <a:endParaRPr lang="en-US" altLang="zh-TW" sz="1200" dirty="0"/>
          </a:p>
          <a:p>
            <a:pPr marL="0" indent="0">
              <a:buFont typeface="Wingdings" panose="05000000000000000000" pitchFamily="2" charset="2"/>
              <a:buNone/>
            </a:pPr>
            <a:r>
              <a:rPr lang="en-US" altLang="zh-TW" sz="1200" b="1" dirty="0">
                <a:solidFill>
                  <a:srgbClr val="FF0000"/>
                </a:solidFill>
              </a:rPr>
              <a:t>Transformer</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lang="en-US" altLang="zh-TW" sz="1200" dirty="0">
                <a:solidFill>
                  <a:prstClr val="white">
                    <a:lumMod val="50000"/>
                  </a:prstClr>
                </a:solidFill>
              </a:rPr>
              <a:t>How decoder predict “Next Token”?</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p>
          <a:p>
            <a:pPr marL="0" indent="0">
              <a:buFont typeface="Wingdings" panose="05000000000000000000" pitchFamily="2" charset="2"/>
              <a:buNone/>
            </a:pPr>
            <a:r>
              <a:rPr lang="en-US" altLang="zh-TW" sz="1200" dirty="0"/>
              <a:t>T: Architecture </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(Embedding, Position Encoding, Self-Attention</a:t>
            </a:r>
            <a:r>
              <a:rPr lang="en-US" altLang="zh-TW" sz="1200" dirty="0">
                <a:solidFill>
                  <a:prstClr val="white">
                    <a:lumMod val="50000"/>
                  </a:prstClr>
                </a:solidFill>
                <a:ea typeface="+mn-ea"/>
              </a:rPr>
              <a:t>, FFN, LP2V</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a:t>
            </a:r>
          </a:p>
          <a:p>
            <a:pPr marL="0" indent="0">
              <a:buFont typeface="Wingdings" panose="05000000000000000000" pitchFamily="2" charset="2"/>
              <a:buNone/>
            </a:pPr>
            <a:r>
              <a:rPr lang="en-US" altLang="zh-TW" sz="1200" dirty="0"/>
              <a:t>T: Attention </a:t>
            </a:r>
            <a:r>
              <a:rPr lang="en-US" altLang="zh-TW" sz="1200" dirty="0">
                <a:solidFill>
                  <a:prstClr val="white">
                    <a:lumMod val="50000"/>
                  </a:prstClr>
                </a:solidFill>
              </a:rPr>
              <a:t>(Attention is all you need)</a:t>
            </a:r>
          </a:p>
          <a:p>
            <a:pPr marL="0" indent="0">
              <a:buFont typeface="Wingdings" panose="05000000000000000000" pitchFamily="2" charset="2"/>
              <a:buNone/>
            </a:pPr>
            <a:r>
              <a:rPr lang="en-US" altLang="zh-TW" sz="1200" dirty="0"/>
              <a:t>T: Token Embedding (Sematic space)</a:t>
            </a:r>
          </a:p>
          <a:p>
            <a:pPr marL="0" indent="0">
              <a:buFont typeface="Wingdings" panose="05000000000000000000" pitchFamily="2" charset="2"/>
              <a:buNone/>
            </a:pPr>
            <a:r>
              <a:rPr lang="en-US" altLang="zh-TW" sz="1200" dirty="0"/>
              <a:t>T:Rotary of PE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(Relative distance)</a:t>
            </a:r>
            <a:endParaRPr kumimoji="0" lang="en-US" altLang="zh-TW" sz="1200" b="0" i="0" u="none" strike="noStrike" kern="1200" cap="none" spc="0" normalizeH="0" baseline="0" noProof="0" dirty="0">
              <a:ln>
                <a:noFill/>
              </a:ln>
              <a:solidFill>
                <a:schemeClr val="tx1"/>
              </a:solidFill>
              <a:effectLst/>
              <a:uLnTx/>
              <a:uFillTx/>
              <a:latin typeface="+mn-lt"/>
              <a:ea typeface="+mn-ea"/>
              <a:cs typeface="+mn-cs"/>
            </a:endParaRPr>
          </a:p>
          <a:p>
            <a:pPr marL="0" indent="0">
              <a:buFont typeface="Wingdings" panose="05000000000000000000" pitchFamily="2" charset="2"/>
              <a:buNone/>
            </a:pPr>
            <a:r>
              <a:rPr lang="en-US" altLang="zh-TW" sz="1200" dirty="0">
                <a:solidFill>
                  <a:prstClr val="black"/>
                </a:solidFill>
              </a:rPr>
              <a:t>T:SDT vs MOE</a:t>
            </a:r>
            <a:r>
              <a:rPr lang="en-US" altLang="zh-TW" sz="1200" dirty="0">
                <a:solidFill>
                  <a:prstClr val="white">
                    <a:lumMod val="50000"/>
                  </a:prstClr>
                </a:solidFill>
              </a:rPr>
              <a:t> (Standard Dense Transformer vs Mixture of Experts)</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lang="en-US" altLang="zh-TW" sz="1200" dirty="0">
                <a:solidFill>
                  <a:prstClr val="white">
                    <a:lumMod val="50000"/>
                  </a:prstClr>
                </a:solidFill>
                <a:latin typeface="+mn-lt"/>
                <a:ea typeface="+mn-ea"/>
              </a:rPr>
              <a:t>Working flow:</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Pretraining, Distillation, Alignment&lt;SFT, RLHF&gt;, Inference)</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altLang="zh-TW" sz="1200" dirty="0"/>
              <a:t>Pretraining</a:t>
            </a:r>
            <a:r>
              <a:rPr lang="en-US" altLang="zh-TW" sz="1200" dirty="0">
                <a:solidFill>
                  <a:prstClr val="white">
                    <a:lumMod val="50000"/>
                  </a:prstClr>
                </a:solidFill>
              </a:rPr>
              <a:t> (Output: weight matrix and parameters)</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altLang="zh-TW" sz="1200" dirty="0"/>
              <a:t>Inference </a:t>
            </a:r>
            <a:r>
              <a:rPr lang="en-US" altLang="zh-TW" sz="1200" dirty="0">
                <a:solidFill>
                  <a:prstClr val="white">
                    <a:lumMod val="50000"/>
                  </a:prstClr>
                </a:solidFill>
              </a:rPr>
              <a:t>(Memory</a:t>
            </a:r>
            <a:r>
              <a:rPr lang="zh-TW" altLang="en-US" sz="1200" dirty="0">
                <a:solidFill>
                  <a:prstClr val="white">
                    <a:lumMod val="50000"/>
                  </a:prstClr>
                </a:solidFill>
              </a:rPr>
              <a:t> </a:t>
            </a:r>
            <a:r>
              <a:rPr lang="en-US" altLang="zh-TW" sz="1200" dirty="0">
                <a:solidFill>
                  <a:prstClr val="white">
                    <a:lumMod val="50000"/>
                  </a:prstClr>
                </a:solidFill>
              </a:rPr>
              <a:t>perspective: data flow of tokens)</a:t>
            </a:r>
            <a:endParaRPr kumimoji="0" lang="en-US" altLang="zh-TW"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Cloude vs Edge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(H/W perspective: cost and solution)</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Conclusion</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(Curate a Holistic perspective on GPT and AI Technology</a:t>
            </a:r>
            <a:r>
              <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r>
              <a:rPr lang="en-US" altLang="zh-TW" dirty="0" err="1"/>
              <a:t>CoT</a:t>
            </a:r>
            <a:r>
              <a:rPr lang="en-US" altLang="zh-TW" dirty="0"/>
              <a: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41379096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UL: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適用於分群</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降維</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成本低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indent="0">
              <a:buFont typeface="Arial" panose="020B0604020202020204" pitchFamily="34" charset="0"/>
              <a:buNone/>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Supervised Learning: data + label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效果優異但成本高</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最常見</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人臉辨識</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200" b="1" u="none" strike="noStrike" kern="1200" dirty="0">
                <a:solidFill>
                  <a:schemeClr val="tx1"/>
                </a:solidFill>
                <a:effectLst/>
                <a:latin typeface="+mn-lt"/>
                <a:ea typeface="+mn-ea"/>
                <a:cs typeface="+mn-cs"/>
              </a:rPr>
              <a:t>半監督式學習（</a:t>
            </a:r>
            <a:r>
              <a:rPr lang="en-US" altLang="zh-TW" sz="1200" b="1" u="none" strike="noStrike" kern="1200" dirty="0">
                <a:solidFill>
                  <a:schemeClr val="tx1"/>
                </a:solidFill>
                <a:effectLst/>
                <a:latin typeface="+mn-lt"/>
                <a:ea typeface="+mn-ea"/>
                <a:cs typeface="+mn-cs"/>
              </a:rPr>
              <a:t>Semi-Supervised Learning, SSL</a:t>
            </a:r>
            <a:r>
              <a:rPr lang="zh-TW" altLang="en-US"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主要應用於</a:t>
            </a:r>
            <a:r>
              <a:rPr lang="zh-TW" altLang="en-US" sz="1200" b="1" u="none" strike="noStrike" kern="1200" dirty="0">
                <a:solidFill>
                  <a:schemeClr val="tx1"/>
                </a:solidFill>
                <a:effectLst/>
                <a:latin typeface="+mn-lt"/>
                <a:ea typeface="+mn-ea"/>
                <a:cs typeface="+mn-cs"/>
              </a:rPr>
              <a:t>「標記資料極度昂貴、但未標記資料極易取得」</a:t>
            </a:r>
            <a:r>
              <a:rPr lang="zh-TW" altLang="en-US" sz="1200" b="0" u="none" strike="noStrike" kern="1200" dirty="0">
                <a:solidFill>
                  <a:schemeClr val="tx1"/>
                </a:solidFill>
                <a:effectLst/>
                <a:latin typeface="+mn-lt"/>
                <a:ea typeface="+mn-ea"/>
                <a:cs typeface="+mn-cs"/>
              </a:rPr>
              <a:t>的場景。它結合了少量標籤（</a:t>
            </a:r>
            <a:r>
              <a:rPr lang="en-US" altLang="zh-TW" sz="1200" b="0" u="none" strike="noStrike" kern="1200" dirty="0">
                <a:solidFill>
                  <a:schemeClr val="tx1"/>
                </a:solidFill>
                <a:effectLst/>
                <a:latin typeface="+mn-lt"/>
                <a:ea typeface="+mn-ea"/>
                <a:cs typeface="+mn-cs"/>
              </a:rPr>
              <a:t>Labels</a:t>
            </a:r>
            <a:r>
              <a:rPr lang="zh-TW" altLang="en-US" sz="1200" b="0" u="none" strike="noStrike" kern="1200" dirty="0">
                <a:solidFill>
                  <a:schemeClr val="tx1"/>
                </a:solidFill>
                <a:effectLst/>
                <a:latin typeface="+mn-lt"/>
                <a:ea typeface="+mn-ea"/>
                <a:cs typeface="+mn-cs"/>
              </a:rPr>
              <a:t>）與大量無標籤數據，用以降低人工標記成本並提升模型準確度。</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semi-SL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在成本與效能間</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取得平衡</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t>Medical Imaging, Autonomous Driving</a:t>
            </a:r>
          </a:p>
          <a:p>
            <a:pPr marL="0" indent="0">
              <a:buFont typeface="Arial" panose="020B0604020202020204" pitchFamily="34" charset="0"/>
              <a:buNone/>
            </a:pPr>
            <a:r>
              <a:rPr lang="zh-TW" altLang="en-US" sz="1200" b="1" u="none" strike="noStrike" kern="1200" dirty="0">
                <a:solidFill>
                  <a:schemeClr val="tx1"/>
                </a:solidFill>
                <a:effectLst/>
                <a:latin typeface="+mn-lt"/>
                <a:ea typeface="+mn-ea"/>
                <a:cs typeface="+mn-cs"/>
              </a:rPr>
              <a:t>腫瘤與病變偵測</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用少量經醫生確診的影像作為種子</a:t>
            </a:r>
            <a:r>
              <a:rPr lang="en-US" altLang="zh-TW" sz="1200" b="0" u="none" strike="noStrike" kern="1200" dirty="0">
                <a:solidFill>
                  <a:schemeClr val="tx1"/>
                </a:solidFill>
                <a:effectLst/>
                <a:latin typeface="+mn-lt"/>
                <a:ea typeface="+mn-ea"/>
                <a:cs typeface="+mn-cs"/>
              </a:rPr>
              <a:t>, </a:t>
            </a:r>
            <a:r>
              <a:rPr lang="zh-TW" altLang="en-US" sz="1200" b="0" u="none" strike="noStrike" kern="1200" dirty="0">
                <a:solidFill>
                  <a:schemeClr val="tx1"/>
                </a:solidFill>
                <a:effectLst/>
                <a:latin typeface="+mn-lt"/>
                <a:ea typeface="+mn-ea"/>
                <a:cs typeface="+mn-cs"/>
              </a:rPr>
              <a:t>結合數萬張未標記的常規醫療影像</a:t>
            </a:r>
            <a:r>
              <a:rPr lang="en-US" altLang="zh-TW" sz="1200" b="0" u="none" strike="noStrike" kern="1200" dirty="0">
                <a:solidFill>
                  <a:schemeClr val="tx1"/>
                </a:solidFill>
                <a:effectLst/>
                <a:latin typeface="+mn-lt"/>
                <a:ea typeface="+mn-ea"/>
                <a:cs typeface="+mn-cs"/>
              </a:rPr>
              <a:t>, </a:t>
            </a:r>
            <a:r>
              <a:rPr lang="zh-TW" altLang="en-US" sz="1200" b="0" u="none" strike="noStrike" kern="1200" dirty="0">
                <a:solidFill>
                  <a:schemeClr val="tx1"/>
                </a:solidFill>
                <a:effectLst/>
                <a:latin typeface="+mn-lt"/>
                <a:ea typeface="+mn-ea"/>
                <a:cs typeface="+mn-cs"/>
              </a:rPr>
              <a:t>訓練 </a:t>
            </a:r>
            <a:r>
              <a:rPr lang="en-US" altLang="zh-TW" sz="1200" b="0" u="none" strike="noStrike" kern="1200" dirty="0">
                <a:solidFill>
                  <a:schemeClr val="tx1"/>
                </a:solidFill>
                <a:effectLst/>
                <a:latin typeface="+mn-lt"/>
                <a:ea typeface="+mn-ea"/>
                <a:cs typeface="+mn-cs"/>
              </a:rPr>
              <a:t>AI </a:t>
            </a:r>
            <a:r>
              <a:rPr lang="zh-TW" altLang="en-US" sz="1200" b="0" u="none" strike="noStrike" kern="1200" dirty="0">
                <a:solidFill>
                  <a:schemeClr val="tx1"/>
                </a:solidFill>
                <a:effectLst/>
                <a:latin typeface="+mn-lt"/>
                <a:ea typeface="+mn-ea"/>
                <a:cs typeface="+mn-cs"/>
              </a:rPr>
              <a:t>自動識別陰影與病灶。</a:t>
            </a:r>
            <a:r>
              <a:rPr lang="zh-TW" altLang="en-US" sz="1200" b="1" u="none" strike="noStrike" kern="1200" dirty="0">
                <a:solidFill>
                  <a:schemeClr val="tx1"/>
                </a:solidFill>
                <a:effectLst/>
                <a:latin typeface="+mn-lt"/>
                <a:ea typeface="+mn-ea"/>
                <a:cs typeface="+mn-cs"/>
              </a:rPr>
              <a:t>基因序列分析</a:t>
            </a:r>
            <a:r>
              <a:rPr lang="zh-TW" altLang="en-US" sz="1200" b="0" u="none" strike="noStrike" kern="1200" dirty="0">
                <a:solidFill>
                  <a:schemeClr val="tx1"/>
                </a:solidFill>
                <a:effectLst/>
                <a:latin typeface="+mn-lt"/>
                <a:ea typeface="+mn-ea"/>
                <a:cs typeface="+mn-cs"/>
              </a:rPr>
              <a:t>：識別稀有的疾病基因標記。</a:t>
            </a: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zh-TW" altLang="en-US" sz="1200" b="1" u="none" strike="noStrike" kern="1200" dirty="0">
                <a:solidFill>
                  <a:schemeClr val="tx1"/>
                </a:solidFill>
                <a:effectLst/>
                <a:latin typeface="+mn-lt"/>
                <a:ea typeface="+mn-ea"/>
                <a:cs typeface="+mn-cs"/>
              </a:rPr>
              <a:t>自動駕駛</a:t>
            </a:r>
            <a:r>
              <a:rPr lang="en-US" altLang="zh-TW" sz="1200" b="1" u="none" strike="noStrike" kern="1200" dirty="0">
                <a:solidFill>
                  <a:schemeClr val="tx1"/>
                </a:solidFill>
                <a:effectLst/>
                <a:latin typeface="+mn-lt"/>
                <a:ea typeface="+mn-ea"/>
                <a:cs typeface="+mn-cs"/>
              </a:rPr>
              <a:t>(Autonomous Driving): </a:t>
            </a:r>
            <a:r>
              <a:rPr lang="zh-TW" altLang="en-US" dirty="0"/>
              <a:t>行車記錄器每天產出數百萬小時的街景影片，</a:t>
            </a:r>
            <a:r>
              <a:rPr lang="en-US" altLang="zh-TW" dirty="0"/>
              <a:t>AI </a:t>
            </a:r>
            <a:r>
              <a:rPr lang="zh-TW" altLang="en-US" dirty="0"/>
              <a:t>利用少量手動標記的行人</a:t>
            </a:r>
            <a:r>
              <a:rPr lang="en-US" altLang="zh-TW" dirty="0"/>
              <a:t>/</a:t>
            </a:r>
            <a:r>
              <a:rPr lang="zh-TW" altLang="en-US" dirty="0"/>
              <a:t>車輛圖，結合海量未標記影片，學習辨識複雜路況。</a:t>
            </a: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self-SL: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GPT-Pretraining</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RL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給環境</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實戰中取得最佳化</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en-US" altLang="zh-TW" sz="1200" dirty="0"/>
              <a:t>: AlphaGo, GPT-RLHF</a:t>
            </a:r>
            <a:endParaRPr lang="en-US" altLang="zh-TW" sz="1200" dirty="0">
              <a:latin typeface="微軟正黑體" panose="020B0604030504040204" pitchFamily="34" charset="-120"/>
              <a:ea typeface="微軟正黑體" panose="020B0604030504040204" pitchFamily="34" charset="-120"/>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000" b="0" u="none" strike="noStrike" kern="1200" dirty="0">
                <a:solidFill>
                  <a:schemeClr val="tx1"/>
                </a:solidFill>
                <a:effectLst/>
                <a:latin typeface="微軟正黑體" panose="020B0604030504040204" pitchFamily="34" charset="-120"/>
                <a:ea typeface="微軟正黑體" panose="020B0604030504040204" pitchFamily="34" charset="-120"/>
                <a:cs typeface="+mn-cs"/>
              </a:rPr>
              <a:t>自監督學習</a:t>
            </a:r>
            <a:r>
              <a:rPr lang="en-US" altLang="zh-TW" sz="1000" b="0" u="none" strike="noStrike" kern="1200" dirty="0">
                <a:solidFill>
                  <a:schemeClr val="tx1"/>
                </a:solidFill>
                <a:effectLst/>
                <a:latin typeface="微軟正黑體" panose="020B0604030504040204" pitchFamily="34" charset="-120"/>
                <a:ea typeface="微軟正黑體" panose="020B0604030504040204" pitchFamily="34" charset="-120"/>
                <a:cs typeface="+mn-cs"/>
              </a:rPr>
              <a:t>(Self-Supervised Learning, SSL)</a:t>
            </a:r>
            <a:r>
              <a:rPr lang="zh-TW" altLang="en-US" sz="1000" dirty="0">
                <a:latin typeface="微軟正黑體" panose="020B0604030504040204" pitchFamily="34" charset="-120"/>
                <a:ea typeface="微軟正黑體" panose="020B0604030504040204" pitchFamily="34" charset="-120"/>
              </a:rPr>
              <a:t>是近年人工智慧</a:t>
            </a:r>
            <a:r>
              <a:rPr lang="en-US" altLang="zh-TW" sz="1000" dirty="0">
                <a:latin typeface="微軟正黑體" panose="020B0604030504040204" pitchFamily="34" charset="-120"/>
                <a:ea typeface="微軟正黑體" panose="020B0604030504040204" pitchFamily="34" charset="-120"/>
              </a:rPr>
              <a:t>(AI)</a:t>
            </a:r>
            <a:r>
              <a:rPr lang="zh-TW" altLang="en-US" sz="1000" dirty="0">
                <a:latin typeface="微軟正黑體" panose="020B0604030504040204" pitchFamily="34" charset="-120"/>
                <a:ea typeface="微軟正黑體" panose="020B0604030504040204" pitchFamily="34" charset="-120"/>
              </a:rPr>
              <a:t>爆發的核心技術。它透過巧妙設計</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 讓模型直接從海量的</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無標記資料</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中自我挖掘特徵並自動生成標籤</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偽標籤</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 大幅降低了對昂貴人工標註的依賴。</a:t>
            </a:r>
            <a:endParaRPr lang="en-US" altLang="zh-TW" sz="1000" dirty="0">
              <a:latin typeface="微軟正黑體" panose="020B0604030504040204" pitchFamily="34" charset="-120"/>
              <a:ea typeface="微軟正黑體" panose="020B0604030504040204" pitchFamily="34" charset="-120"/>
            </a:endParaRPr>
          </a:p>
          <a:p>
            <a:endParaRPr lang="zh-TW" altLang="en-US" sz="1000" dirty="0">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3357112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zh-TW" altLang="en-US"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大型語言模型（LLM）的 </a:t>
            </a:r>
            <a:r>
              <a:rPr lang="zh-TW" altLang="zh-TW" sz="1200" b="1" u="none" strike="noStrike" kern="1200" dirty="0">
                <a:solidFill>
                  <a:schemeClr val="tx1"/>
                </a:solidFill>
                <a:effectLst/>
                <a:latin typeface="+mn-lt"/>
                <a:ea typeface="+mn-ea"/>
                <a:cs typeface="+mn-cs"/>
              </a:rPr>
              <a:t>Pre-training（預訓練）</a:t>
            </a:r>
            <a:r>
              <a:rPr lang="zh-TW" altLang="zh-TW" sz="1200" b="0" u="none" strike="noStrike" kern="1200" dirty="0">
                <a:solidFill>
                  <a:schemeClr val="tx1"/>
                </a:solidFill>
                <a:effectLst/>
                <a:latin typeface="+mn-lt"/>
                <a:ea typeface="+mn-ea"/>
                <a:cs typeface="+mn-cs"/>
              </a:rPr>
              <a:t>，是整個 LLM 誕生流程中</a:t>
            </a:r>
            <a:r>
              <a:rPr lang="zh-TW" altLang="zh-TW" sz="1200" b="1" u="none" strike="noStrike" kern="1200" dirty="0">
                <a:solidFill>
                  <a:schemeClr val="tx1"/>
                </a:solidFill>
                <a:effectLst/>
                <a:latin typeface="+mn-lt"/>
                <a:ea typeface="+mn-ea"/>
                <a:cs typeface="+mn-cs"/>
              </a:rPr>
              <a:t>耗資最巨、耗時最長、技術難度最高</a:t>
            </a:r>
            <a:r>
              <a:rPr lang="zh-TW" altLang="zh-TW" sz="1200" b="0" u="none" strike="noStrike" kern="1200" dirty="0">
                <a:solidFill>
                  <a:schemeClr val="tx1"/>
                </a:solidFill>
                <a:effectLst/>
                <a:latin typeface="+mn-lt"/>
                <a:ea typeface="+mn-ea"/>
                <a:cs typeface="+mn-cs"/>
              </a:rPr>
              <a:t>的第一階段（佔據了整個模型訓練 99% 的算力與時間）。</a:t>
            </a:r>
          </a:p>
          <a:p>
            <a:r>
              <a:rPr lang="zh-TW" altLang="zh-TW" sz="1200" b="0" u="none" strike="noStrike" kern="1200" dirty="0">
                <a:solidFill>
                  <a:schemeClr val="tx1"/>
                </a:solidFill>
                <a:effectLst/>
                <a:latin typeface="+mn-lt"/>
                <a:ea typeface="+mn-ea"/>
                <a:cs typeface="+mn-cs"/>
              </a:rPr>
              <a:t>如果說 SFT 是教模型學會「禮貌與專業對話的規矩」，那麼預訓練的唯一目的就是：</a:t>
            </a:r>
            <a:r>
              <a:rPr lang="zh-TW" altLang="zh-TW" sz="1200" b="1" u="none" strike="noStrike" kern="1200" dirty="0">
                <a:solidFill>
                  <a:schemeClr val="tx1"/>
                </a:solidFill>
                <a:effectLst/>
                <a:latin typeface="+mn-lt"/>
                <a:ea typeface="+mn-ea"/>
                <a:cs typeface="+mn-cs"/>
              </a:rPr>
              <a:t>讓模型獲得對這個世界萬事萬物的「通識認知與語言天賦」</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以下為您拆解預訓練的四大核心目標：</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zh-TW" altLang="zh-TW" sz="1200" b="0" u="none" strike="noStrike" kern="1200" dirty="0">
                <a:solidFill>
                  <a:schemeClr val="tx1"/>
                </a:solidFill>
                <a:effectLst/>
                <a:latin typeface="+mn-lt"/>
                <a:ea typeface="+mn-ea"/>
                <a:cs typeface="+mn-cs"/>
              </a:rPr>
              <a:t>：模型透過調整其數十億、數百億的參數，將整個網際網路的知識「壓縮」並儲存到權重矩陣中。</a:t>
            </a:r>
          </a:p>
          <a:p>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掌握語法與語意</a:t>
            </a:r>
            <a:r>
              <a:rPr lang="zh-TW" altLang="zh-TW" sz="1200" b="0" u="none" strike="noStrike" kern="1200" dirty="0">
                <a:solidFill>
                  <a:schemeClr val="tx1"/>
                </a:solidFill>
                <a:effectLst/>
                <a:latin typeface="+mn-lt"/>
                <a:ea typeface="+mn-ea"/>
                <a:cs typeface="+mn-cs"/>
              </a:rPr>
              <a:t>：為了精準預測下一個字，模型被迫主動學會主謂賓結構、代名詞指代、反諷、隱喻、脈絡邏輯等極其複雜的語言學規律。</a:t>
            </a:r>
          </a:p>
          <a:p>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：透過閱讀不同語言的文本，模型在底層建立了跨語言的語意空間映射。這就是為什麼模型即便用英文微調（SFT），它通常也能用中文回答，因為它的底層語意在預訓練階段就已經打通。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形成最強大的「特徵提取器」（Representational Learning）</a:t>
            </a:r>
          </a:p>
          <a:p>
            <a:r>
              <a:rPr lang="zh-TW" altLang="zh-TW" sz="1200" b="0" u="none" strike="noStrike" kern="1200" dirty="0">
                <a:solidFill>
                  <a:schemeClr val="tx1"/>
                </a:solidFill>
                <a:effectLst/>
                <a:latin typeface="+mn-lt"/>
                <a:ea typeface="+mn-ea"/>
                <a:cs typeface="+mn-cs"/>
              </a:rPr>
              <a:t>預訓練創造出了一個具備極高泛化能力的「半成品底座（Base Model）」。</a:t>
            </a:r>
          </a:p>
          <a:p>
            <a:r>
              <a:rPr lang="zh-TW" altLang="zh-TW" sz="1200" b="1" u="none" strike="noStrike" kern="1200" dirty="0">
                <a:solidFill>
                  <a:schemeClr val="tx1"/>
                </a:solidFill>
                <a:effectLst/>
                <a:latin typeface="+mn-lt"/>
                <a:ea typeface="+mn-ea"/>
                <a:cs typeface="+mn-cs"/>
              </a:rPr>
              <a:t>極佳的起跑線</a:t>
            </a:r>
            <a:r>
              <a:rPr lang="zh-TW" altLang="zh-TW" sz="1200" b="0" u="none" strike="noStrike" kern="1200" dirty="0">
                <a:solidFill>
                  <a:schemeClr val="tx1"/>
                </a:solidFill>
                <a:effectLst/>
                <a:latin typeface="+mn-lt"/>
                <a:ea typeface="+mn-ea"/>
                <a:cs typeface="+mn-cs"/>
              </a:rPr>
              <a:t>：這個底座已經對文字有了最深刻的理解。之後不論是要做情感分析、機器翻譯、程式碼生成，還是特定領域的客服，都只需要在這個底座上用極少量的資料進行微調（SFT），就能快速達到頂尖效果。</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29121489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Distillation（蒸餾／知識蒸餾）</a:t>
            </a:r>
          </a:p>
          <a:p>
            <a:r>
              <a:rPr lang="zh-TW" altLang="zh-TW" sz="1200" b="1" u="none" strike="noStrike" kern="1200" dirty="0">
                <a:solidFill>
                  <a:schemeClr val="tx1"/>
                </a:solidFill>
                <a:effectLst/>
                <a:latin typeface="+mn-lt"/>
                <a:ea typeface="+mn-ea"/>
                <a:cs typeface="+mn-cs"/>
              </a:rPr>
              <a:t>階段定位：</a:t>
            </a:r>
            <a:r>
              <a:rPr lang="zh-TW" altLang="zh-TW" sz="1200" b="0" u="none" strike="noStrike" kern="1200" dirty="0">
                <a:solidFill>
                  <a:schemeClr val="tx1"/>
                </a:solidFill>
                <a:effectLst/>
                <a:latin typeface="+mn-lt"/>
                <a:ea typeface="+mn-ea"/>
                <a:cs typeface="+mn-cs"/>
              </a:rPr>
              <a:t> 模型輕量化（壓縮）的技術。</a:t>
            </a:r>
          </a:p>
          <a:p>
            <a:r>
              <a:rPr lang="zh-TW" altLang="zh-TW" sz="1200" b="1" u="none" strike="noStrike" kern="1200" dirty="0">
                <a:solidFill>
                  <a:schemeClr val="tx1"/>
                </a:solidFill>
                <a:effectLst/>
                <a:latin typeface="+mn-lt"/>
                <a:ea typeface="+mn-ea"/>
                <a:cs typeface="+mn-cs"/>
              </a:rPr>
              <a:t>說明：</a:t>
            </a:r>
            <a:r>
              <a:rPr lang="zh-TW" altLang="zh-TW" sz="1200" b="0" u="none" strike="noStrike" kern="1200" dirty="0">
                <a:solidFill>
                  <a:schemeClr val="tx1"/>
                </a:solidFill>
                <a:effectLst/>
                <a:latin typeface="+mn-lt"/>
                <a:ea typeface="+mn-ea"/>
                <a:cs typeface="+mn-cs"/>
              </a:rPr>
              <a:t> 為了降低硬體負擔與營運成本，讓體積龐大、能力強大的「教師模型」（Teacher Model）去教導體積小、速度快的「學生模型」（Student Model）。</a:t>
            </a:r>
          </a:p>
          <a:p>
            <a:r>
              <a:rPr lang="zh-TW" altLang="zh-TW" sz="1200" b="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學生模型不只學答案，還會學教師模型的「思考邏輯」，使其能在輕量化的狀態下發揮接近大模型的效果。</a:t>
            </a:r>
          </a:p>
          <a:p>
            <a:endParaRPr lang="en-US" altLang="zh-TW" dirty="0"/>
          </a:p>
          <a:p>
            <a:r>
              <a:rPr lang="zh-TW" altLang="zh-TW" sz="1200" b="1" u="none" strike="noStrike" kern="1200" dirty="0">
                <a:solidFill>
                  <a:schemeClr val="tx1"/>
                </a:solidFill>
                <a:effectLst/>
                <a:latin typeface="+mn-lt"/>
                <a:ea typeface="+mn-ea"/>
                <a:cs typeface="+mn-cs"/>
              </a:rPr>
              <a:t>核心運作原理（How it works）</a:t>
            </a:r>
          </a:p>
          <a:p>
            <a:r>
              <a:rPr lang="zh-TW" altLang="zh-TW" sz="1200" b="0" u="none" strike="noStrike" kern="1200" dirty="0">
                <a:solidFill>
                  <a:schemeClr val="tx1"/>
                </a:solidFill>
                <a:effectLst/>
                <a:latin typeface="+mn-lt"/>
                <a:ea typeface="+mn-ea"/>
                <a:cs typeface="+mn-cs"/>
              </a:rPr>
              <a:t>知識蒸餾（Knowledge Distillation）並不是單純讓學生「死記硬背」最終答案，而是讓學生去模仿教師模型的</a:t>
            </a:r>
            <a:r>
              <a:rPr lang="zh-TW" altLang="zh-TW" sz="1200" b="1" u="none" strike="noStrike" kern="1200" dirty="0">
                <a:solidFill>
                  <a:schemeClr val="tx1"/>
                </a:solidFill>
                <a:effectLst/>
                <a:latin typeface="+mn-lt"/>
                <a:ea typeface="+mn-ea"/>
                <a:cs typeface="+mn-cs"/>
              </a:rPr>
              <a:t>「思考邏輯與推導過程」</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主要透過以下三種方式進行：</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邏輯機率模仿</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Logit </a:t>
            </a:r>
            <a:r>
              <a:rPr lang="en-US" altLang="zh-TW" sz="1200" b="1" u="none" strike="noStrike" kern="1200" dirty="0">
                <a:solidFill>
                  <a:schemeClr val="tx1"/>
                </a:solidFill>
                <a:effectLst/>
                <a:latin typeface="+mn-lt"/>
                <a:ea typeface="+mn-ea"/>
                <a:cs typeface="+mn-cs"/>
              </a:rPr>
              <a:t>and </a:t>
            </a:r>
            <a:r>
              <a:rPr lang="zh-TW" altLang="zh-TW" sz="1200" b="1" u="none" strike="noStrike" kern="1200" dirty="0">
                <a:solidFill>
                  <a:schemeClr val="tx1"/>
                </a:solidFill>
                <a:effectLst/>
                <a:latin typeface="+mn-lt"/>
                <a:ea typeface="+mn-ea"/>
                <a:cs typeface="+mn-cs"/>
              </a:rPr>
              <a:t>Output Distillatio</a:t>
            </a:r>
            <a:r>
              <a:rPr lang="en-US" altLang="zh-TW" sz="1200" b="1" u="none" strike="noStrike" kern="1200" dirty="0">
                <a:solidFill>
                  <a:schemeClr val="tx1"/>
                </a:solidFill>
                <a:effectLst/>
                <a:latin typeface="+mn-lt"/>
                <a:ea typeface="+mn-ea"/>
                <a:cs typeface="+mn-cs"/>
              </a:rPr>
              <a:t>n):</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學生模型會去</a:t>
            </a:r>
            <a:r>
              <a:rPr lang="zh-TW" altLang="zh-TW" sz="1200" b="1" u="none" strike="noStrike" kern="1200" dirty="0">
                <a:solidFill>
                  <a:schemeClr val="tx1"/>
                </a:solidFill>
                <a:effectLst/>
                <a:latin typeface="+mn-lt"/>
                <a:ea typeface="+mn-ea"/>
                <a:cs typeface="+mn-cs"/>
              </a:rPr>
              <a:t>對齊</a:t>
            </a:r>
            <a:r>
              <a:rPr lang="zh-TW" altLang="zh-TW" sz="1200" b="0" u="none" strike="noStrike" kern="1200" dirty="0">
                <a:solidFill>
                  <a:schemeClr val="tx1"/>
                </a:solidFill>
                <a:effectLst/>
                <a:latin typeface="+mn-lt"/>
                <a:ea typeface="+mn-ea"/>
                <a:cs typeface="+mn-cs"/>
              </a:rPr>
              <a:t>這個</a:t>
            </a:r>
            <a:r>
              <a:rPr lang="en-US" altLang="zh-TW" sz="1200" b="0" u="none" strike="noStrike" kern="1200" dirty="0">
                <a:solidFill>
                  <a:schemeClr val="tx1"/>
                </a:solidFill>
                <a:effectLst/>
                <a:latin typeface="+mn-lt"/>
                <a:ea typeface="+mn-ea"/>
                <a:cs typeface="+mn-cs"/>
              </a:rPr>
              <a:t>”Dark Knowledge)</a:t>
            </a:r>
            <a:r>
              <a:rPr lang="zh-TW" altLang="en-US" sz="1200" b="0" u="none" strike="noStrike" kern="1200" dirty="0">
                <a:solidFill>
                  <a:schemeClr val="tx1"/>
                </a:solidFill>
                <a:effectLst/>
                <a:latin typeface="+mn-lt"/>
                <a:ea typeface="+mn-ea"/>
                <a:cs typeface="+mn-cs"/>
              </a:rPr>
              <a:t>的</a:t>
            </a:r>
            <a:r>
              <a:rPr lang="zh-TW" altLang="zh-TW" sz="1200" b="0" u="none" strike="noStrike" kern="1200" dirty="0">
                <a:solidFill>
                  <a:schemeClr val="tx1"/>
                </a:solidFill>
                <a:effectLst/>
                <a:latin typeface="+mn-lt"/>
                <a:ea typeface="+mn-ea"/>
                <a:cs typeface="+mn-cs"/>
              </a:rPr>
              <a:t>機率分佈，學習大模型的判斷邏輯。</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大模型在預測下一個字時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不只會輸出最正確的答案</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還會輸出其他字的「機率分佈」</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例如：問「天空是...」</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藍色80%</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黑色15%</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綠色0.01%。這些機率分佈包含了大模型的暗黑知識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Dark Knowledge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例如它知道天空有可能是黑的</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但絕不可能是綠的</a:t>
            </a:r>
            <a:r>
              <a:rPr lang="en-US"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中間層引導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Feature-based Distillation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直接讓學生模型的隱藏層</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Hidden Layers</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去模仿教師模型中間層的特徵表達</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讓學生模型建立與大模型相似的思考架構。</a:t>
            </a:r>
          </a:p>
          <a:p>
            <a:r>
              <a:rPr lang="zh-TW" altLang="zh-TW" sz="1200" b="1" u="none" strike="noStrike" kern="1200" dirty="0">
                <a:solidFill>
                  <a:schemeClr val="tx1"/>
                </a:solidFill>
                <a:effectLst/>
                <a:latin typeface="+mn-lt"/>
                <a:ea typeface="+mn-ea"/>
                <a:cs typeface="+mn-cs"/>
              </a:rPr>
              <a:t>思維鏈引導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Step-by-Step / CoT Distillation）</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大模型寫出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推理步驟</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Chain of Thought</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再用這些步驟訓練小模型，讓小模型學會「如何思考」而不用盲猜答案。</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LLM 蒸餾的四大核心優勢</a:t>
            </a:r>
          </a:p>
          <a:p>
            <a:r>
              <a:rPr lang="zh-TW" altLang="zh-TW" sz="1200" b="1" u="none" strike="noStrike" kern="1200" dirty="0">
                <a:solidFill>
                  <a:schemeClr val="tx1"/>
                </a:solidFill>
                <a:effectLst/>
                <a:latin typeface="+mn-lt"/>
                <a:ea typeface="+mn-ea"/>
                <a:cs typeface="+mn-cs"/>
              </a:rPr>
              <a:t>極致降本增效</a:t>
            </a:r>
            <a:r>
              <a:rPr lang="zh-TW" altLang="zh-TW" sz="1200" b="0" u="none" strike="noStrike" kern="1200" dirty="0">
                <a:solidFill>
                  <a:schemeClr val="tx1"/>
                </a:solidFill>
                <a:effectLst/>
                <a:latin typeface="+mn-lt"/>
                <a:ea typeface="+mn-ea"/>
                <a:cs typeface="+mn-cs"/>
              </a:rPr>
              <a:t>：大幅減少推理（Inference）所需的 GPU 算力與記憶體（VRAM），企業的伺服器成本可能直接降到原本的十分之一。</a:t>
            </a:r>
          </a:p>
          <a:p>
            <a:r>
              <a:rPr lang="zh-TW" altLang="zh-TW" sz="1200" b="1" u="none" strike="noStrike" kern="1200" dirty="0">
                <a:solidFill>
                  <a:schemeClr val="tx1"/>
                </a:solidFill>
                <a:effectLst/>
                <a:latin typeface="+mn-lt"/>
                <a:ea typeface="+mn-ea"/>
                <a:cs typeface="+mn-cs"/>
              </a:rPr>
              <a:t>解鎖邊緣運算（Edge AI）</a:t>
            </a:r>
            <a:r>
              <a:rPr lang="zh-TW" altLang="zh-TW" sz="1200" b="0" u="none" strike="noStrike" kern="1200" dirty="0">
                <a:solidFill>
                  <a:schemeClr val="tx1"/>
                </a:solidFill>
                <a:effectLst/>
                <a:latin typeface="+mn-lt"/>
                <a:ea typeface="+mn-ea"/>
                <a:cs typeface="+mn-cs"/>
              </a:rPr>
              <a:t>：原本幾千億參數的模型根本放不進手機、筆電或汽車晶片，蒸餾成幾十億（如 1B/3B）參數後，就能在邊緣設備上</a:t>
            </a:r>
            <a:r>
              <a:rPr lang="zh-TW" altLang="zh-TW" sz="1200" b="1" u="none" strike="noStrike" kern="1200" dirty="0">
                <a:solidFill>
                  <a:schemeClr val="tx1"/>
                </a:solidFill>
                <a:effectLst/>
                <a:latin typeface="+mn-lt"/>
                <a:ea typeface="+mn-ea"/>
                <a:cs typeface="+mn-cs"/>
              </a:rPr>
              <a:t>完全離線流暢運行</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大幅提升速度</a:t>
            </a:r>
            <a:r>
              <a:rPr lang="zh-TW" altLang="zh-TW" sz="1200" b="0" u="none" strike="noStrike" kern="1200" dirty="0">
                <a:solidFill>
                  <a:schemeClr val="tx1"/>
                </a:solidFill>
                <a:effectLst/>
                <a:latin typeface="+mn-lt"/>
                <a:ea typeface="+mn-ea"/>
                <a:cs typeface="+mn-cs"/>
              </a:rPr>
              <a:t>：模型變小意味著 Token 輸出速度（Throughput）暴增，延遲（Latency）極低，大幅提升使用者體驗。</a:t>
            </a:r>
          </a:p>
          <a:p>
            <a:r>
              <a:rPr lang="zh-TW" altLang="zh-TW" sz="1200" b="1" u="none" strike="noStrike" kern="1200" dirty="0">
                <a:solidFill>
                  <a:schemeClr val="tx1"/>
                </a:solidFill>
                <a:effectLst/>
                <a:latin typeface="+mn-lt"/>
                <a:ea typeface="+mn-ea"/>
                <a:cs typeface="+mn-cs"/>
              </a:rPr>
              <a:t>保留專門領域能力</a:t>
            </a:r>
            <a:r>
              <a:rPr lang="zh-TW" altLang="zh-TW" sz="1200" b="0" u="none" strike="noStrike" kern="1200" dirty="0">
                <a:solidFill>
                  <a:schemeClr val="tx1"/>
                </a:solidFill>
                <a:effectLst/>
                <a:latin typeface="+mn-lt"/>
                <a:ea typeface="+mn-ea"/>
                <a:cs typeface="+mn-cs"/>
              </a:rPr>
              <a:t>：可以針對特定任務（如：寫程式、法律文件分析）進行精準蒸餾，讓小模型在該特定領域的表現幾乎與大模型平起平坐。</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910878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CBDA2-5CC6-68DA-B9E1-9325B03C406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9D0FE7D-F083-76CB-66F6-B906138D511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329A2D0-F1DE-7F9D-85D1-793C18C12B25}"/>
              </a:ext>
            </a:extLst>
          </p:cNvPr>
          <p:cNvSpPr>
            <a:spLocks noGrp="1"/>
          </p:cNvSpPr>
          <p:nvPr>
            <p:ph type="body" idx="1"/>
          </p:nvPr>
        </p:nvSpPr>
        <p:spPr/>
        <p:txBody>
          <a:bodyPr/>
          <a:lstStyle/>
          <a:p>
            <a:r>
              <a:rPr lang="en-US" altLang="zh-TW" dirty="0">
                <a:sym typeface="Wingdings" panose="05000000000000000000" pitchFamily="2" charset="2"/>
              </a:rPr>
              <a:t>AI Server =  Design(</a:t>
            </a:r>
            <a:r>
              <a:rPr lang="en-US" altLang="zh-TW" dirty="0" err="1">
                <a:sym typeface="Wingdings" panose="05000000000000000000" pitchFamily="2" charset="2"/>
              </a:rPr>
              <a:t>Chip+Server</a:t>
            </a:r>
            <a:r>
              <a:rPr lang="en-US" altLang="zh-TW" dirty="0">
                <a:sym typeface="Wingdings" panose="05000000000000000000" pitchFamily="2" charset="2"/>
              </a:rPr>
              <a:t>) + Manufacture(TSMC)</a:t>
            </a:r>
            <a:br>
              <a:rPr lang="en-US" altLang="zh-TW" dirty="0"/>
            </a:br>
            <a:r>
              <a:rPr lang="en-US" altLang="zh-TW" dirty="0"/>
              <a:t>[Design]: GPU/HBM</a:t>
            </a:r>
            <a:r>
              <a:rPr lang="zh-TW" altLang="en-US" dirty="0"/>
              <a:t> </a:t>
            </a:r>
            <a:r>
              <a:rPr lang="en-US"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[NV-Link, SerDes]  </a:t>
            </a:r>
            <a:br>
              <a:rPr lang="en-US" altLang="zh-TW" dirty="0"/>
            </a:br>
            <a:r>
              <a:rPr lang="en-US" altLang="zh-TW" dirty="0"/>
              <a:t>[Chip Manufacture]: TSMC </a:t>
            </a:r>
            <a:r>
              <a:rPr lang="en-US" altLang="zh-TW" dirty="0">
                <a:sym typeface="Wingdings" panose="05000000000000000000" pitchFamily="2" charset="2"/>
              </a:rPr>
              <a:t> Package (COWOS/COPOS/CPO)</a:t>
            </a:r>
          </a:p>
          <a:p>
            <a:r>
              <a:rPr lang="en-US" altLang="zh-TW" dirty="0">
                <a:sym typeface="Wingdings" panose="05000000000000000000" pitchFamily="2" charset="2"/>
              </a:rPr>
              <a:t>[Server] (</a:t>
            </a:r>
            <a:r>
              <a:rPr lang="zh-TW" altLang="en-US" dirty="0">
                <a:sym typeface="Wingdings" panose="05000000000000000000" pitchFamily="2" charset="2"/>
              </a:rPr>
              <a:t> 散熱</a:t>
            </a:r>
            <a:r>
              <a:rPr lang="en-US" altLang="zh-TW" dirty="0">
                <a:sym typeface="Wingdings" panose="05000000000000000000" pitchFamily="2" charset="2"/>
              </a:rPr>
              <a:t>/PCB</a:t>
            </a:r>
            <a:r>
              <a:rPr lang="zh-TW" altLang="en-US" dirty="0">
                <a:sym typeface="Wingdings" panose="05000000000000000000" pitchFamily="2" charset="2"/>
              </a:rPr>
              <a:t>多層數</a:t>
            </a:r>
            <a:r>
              <a:rPr lang="en-US" altLang="zh-TW" dirty="0">
                <a:sym typeface="Wingdings" panose="05000000000000000000" pitchFamily="2" charset="2"/>
              </a:rPr>
              <a:t>) </a:t>
            </a:r>
            <a:br>
              <a:rPr lang="en-US" altLang="zh-TW" dirty="0">
                <a:sym typeface="Wingdings" panose="05000000000000000000" pitchFamily="2" charset="2"/>
              </a:rPr>
            </a:br>
            <a:br>
              <a:rPr lang="en-US" altLang="zh-TW" dirty="0"/>
            </a:br>
            <a:br>
              <a:rPr lang="en-US" altLang="zh-TW" dirty="0"/>
            </a:br>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37027E21-4B37-188C-8748-204EF3A4848E}"/>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0173659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6025473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dirty="0"/>
              <a:t>xxx</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42251202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buNone/>
            </a:pPr>
            <a:r>
              <a:rPr lang="zh-TW" altLang="en-US" sz="1400" dirty="0">
                <a:effectLst/>
                <a:latin typeface="Microsoft JhengHei UI" panose="020B0604030504040204" pitchFamily="34" charset="-120"/>
                <a:ea typeface="Microsoft JhengHei UI" panose="020B0604030504040204" pitchFamily="34" charset="-120"/>
              </a:rPr>
              <a:t>一、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晶片的硬體成本結構（</a:t>
            </a:r>
            <a:r>
              <a:rPr lang="en-US" altLang="zh-TW" sz="1400" dirty="0">
                <a:effectLst/>
                <a:latin typeface="Microsoft JhengHei UI" panose="020B0604030504040204" pitchFamily="34" charset="-120"/>
                <a:ea typeface="Microsoft JhengHei UI" panose="020B0604030504040204" pitchFamily="34" charset="-120"/>
              </a:rPr>
              <a:t>BOM </a:t>
            </a:r>
            <a:r>
              <a:rPr lang="zh-TW" altLang="en-US" sz="1400" dirty="0">
                <a:effectLst/>
                <a:latin typeface="Microsoft JhengHei UI" panose="020B0604030504040204" pitchFamily="34" charset="-120"/>
                <a:ea typeface="Microsoft JhengHei UI" panose="020B0604030504040204" pitchFamily="34" charset="-120"/>
              </a:rPr>
              <a:t>結構）</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晶片通常以 </a:t>
            </a:r>
            <a:r>
              <a:rPr lang="en-US" altLang="zh-TW" sz="1400" dirty="0">
                <a:effectLst/>
                <a:latin typeface="Microsoft JhengHei UI" panose="020B0604030504040204" pitchFamily="34" charset="-120"/>
                <a:ea typeface="Microsoft JhengHei UI" panose="020B0604030504040204" pitchFamily="34" charset="-120"/>
              </a:rPr>
              <a:t>SoC</a:t>
            </a:r>
            <a:r>
              <a:rPr lang="zh-TW" altLang="en-US" sz="1400" dirty="0">
                <a:effectLst/>
                <a:latin typeface="Microsoft JhengHei UI" panose="020B0604030504040204" pitchFamily="34" charset="-120"/>
                <a:ea typeface="Microsoft JhengHei UI" panose="020B0604030504040204" pitchFamily="34" charset="-120"/>
              </a:rPr>
              <a:t>（系統單晶片） 或 </a:t>
            </a:r>
            <a:r>
              <a:rPr lang="en-US" altLang="zh-TW" sz="1400" dirty="0">
                <a:effectLst/>
                <a:latin typeface="Microsoft JhengHei UI" panose="020B0604030504040204" pitchFamily="34" charset="-120"/>
                <a:ea typeface="Microsoft JhengHei UI" panose="020B0604030504040204" pitchFamily="34" charset="-120"/>
              </a:rPr>
              <a:t>Chiplet</a:t>
            </a:r>
            <a:r>
              <a:rPr lang="zh-TW" altLang="en-US" sz="1400" dirty="0">
                <a:effectLst/>
                <a:latin typeface="Microsoft JhengHei UI" panose="020B0604030504040204" pitchFamily="34" charset="-120"/>
                <a:ea typeface="Microsoft JhengHei UI" panose="020B0604030504040204" pitchFamily="34" charset="-120"/>
              </a:rPr>
              <a:t>（小晶片封裝） 的形式存在。一顆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晶片的硬體製造總成本，主要由以下四大核心區塊組成： </a:t>
            </a:r>
            <a:br>
              <a:rPr lang="zh-TW" altLang="en-US" sz="1400" dirty="0">
                <a:effectLst/>
                <a:latin typeface="Microsoft JhengHei UI" panose="020B0604030504040204" pitchFamily="34" charset="-120"/>
                <a:ea typeface="Microsoft JhengHei UI" panose="020B0604030504040204" pitchFamily="34" charset="-120"/>
              </a:rPr>
            </a:b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成本組成項目估計佔比核心說明與成本驅動因子</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邏輯晶圓（</a:t>
            </a:r>
            <a:r>
              <a:rPr lang="en-US" altLang="zh-TW" sz="1400" dirty="0">
                <a:effectLst/>
                <a:latin typeface="Microsoft JhengHei UI" panose="020B0604030504040204" pitchFamily="34" charset="-120"/>
                <a:ea typeface="Microsoft JhengHei UI" panose="020B0604030504040204" pitchFamily="34" charset="-120"/>
              </a:rPr>
              <a:t>Logic Die</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35% - 45%: </a:t>
            </a:r>
            <a:r>
              <a:rPr lang="zh-TW" altLang="en-US" sz="1400" dirty="0">
                <a:effectLst/>
                <a:latin typeface="Microsoft JhengHei UI" panose="020B0604030504040204" pitchFamily="34" charset="-120"/>
                <a:ea typeface="Microsoft JhengHei UI" panose="020B0604030504040204" pitchFamily="34" charset="-120"/>
              </a:rPr>
              <a:t>包含 </a:t>
            </a:r>
            <a:r>
              <a:rPr lang="en-US" altLang="zh-TW" sz="1400" dirty="0">
                <a:effectLst/>
                <a:latin typeface="Microsoft JhengHei UI" panose="020B0604030504040204" pitchFamily="34" charset="-120"/>
                <a:ea typeface="Microsoft JhengHei UI" panose="020B0604030504040204" pitchFamily="34" charset="-120"/>
              </a:rPr>
              <a:t>CPU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GPU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DSP </a:t>
            </a:r>
            <a:r>
              <a:rPr lang="zh-TW" altLang="en-US" sz="1400" dirty="0">
                <a:effectLst/>
                <a:latin typeface="Microsoft JhengHei UI" panose="020B0604030504040204" pitchFamily="34" charset="-120"/>
                <a:ea typeface="Microsoft JhengHei UI" panose="020B0604030504040204" pitchFamily="34" charset="-120"/>
              </a:rPr>
              <a:t>以及核心的 </a:t>
            </a:r>
            <a:r>
              <a:rPr lang="en-US" altLang="zh-TW" sz="1400" dirty="0">
                <a:effectLst/>
                <a:latin typeface="Microsoft JhengHei UI" panose="020B0604030504040204" pitchFamily="34" charset="-120"/>
                <a:ea typeface="Microsoft JhengHei UI" panose="020B0604030504040204" pitchFamily="34" charset="-120"/>
              </a:rPr>
              <a:t>NPU</a:t>
            </a:r>
            <a:r>
              <a:rPr lang="zh-TW" altLang="en-US" sz="1400" dirty="0">
                <a:effectLst/>
                <a:latin typeface="Microsoft JhengHei UI" panose="020B0604030504040204" pitchFamily="34" charset="-120"/>
                <a:ea typeface="Microsoft JhengHei UI" panose="020B0604030504040204" pitchFamily="34" charset="-120"/>
              </a:rPr>
              <a:t>（神經處理單元）。成本取決於製程節點（多採用成本良率平衡的 </a:t>
            </a:r>
            <a:r>
              <a:rPr lang="en-US" altLang="zh-TW" sz="1400" dirty="0">
                <a:effectLst/>
                <a:latin typeface="Microsoft JhengHei UI" panose="020B0604030504040204" pitchFamily="34" charset="-120"/>
                <a:ea typeface="Microsoft JhengHei UI" panose="020B0604030504040204" pitchFamily="34" charset="-120"/>
              </a:rPr>
              <a:t>12nm / 16nm / 28nm </a:t>
            </a:r>
            <a:r>
              <a:rPr lang="zh-TW" altLang="en-US" sz="1400" dirty="0">
                <a:effectLst/>
                <a:latin typeface="Microsoft JhengHei UI" panose="020B0604030504040204" pitchFamily="34" charset="-120"/>
                <a:ea typeface="Microsoft JhengHei UI" panose="020B0604030504040204" pitchFamily="34" charset="-120"/>
              </a:rPr>
              <a:t>晶圓；高階如智慧手機與自駕車則會用到 </a:t>
            </a:r>
            <a:r>
              <a:rPr lang="en-US" altLang="zh-TW" sz="1400" dirty="0">
                <a:effectLst/>
                <a:latin typeface="Microsoft JhengHei UI" panose="020B0604030504040204" pitchFamily="34" charset="-120"/>
                <a:ea typeface="Microsoft JhengHei UI" panose="020B0604030504040204" pitchFamily="34" charset="-120"/>
              </a:rPr>
              <a:t>3nm / 5nm / 7nm</a:t>
            </a:r>
            <a:r>
              <a:rPr lang="zh-TW" altLang="en-US" sz="1400" dirty="0">
                <a:effectLst/>
                <a:latin typeface="Microsoft JhengHei UI" panose="020B0604030504040204" pitchFamily="34" charset="-120"/>
                <a:ea typeface="Microsoft JhengHei UI" panose="020B0604030504040204" pitchFamily="34" charset="-120"/>
              </a:rPr>
              <a:t>）。</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記憶體（</a:t>
            </a:r>
            <a:r>
              <a:rPr lang="en-US" altLang="zh-TW" sz="1400" dirty="0">
                <a:effectLst/>
                <a:latin typeface="Microsoft JhengHei UI" panose="020B0604030504040204" pitchFamily="34" charset="-120"/>
                <a:ea typeface="Microsoft JhengHei UI" panose="020B0604030504040204" pitchFamily="34" charset="-120"/>
              </a:rPr>
              <a:t>Memory</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25% - 35%AI </a:t>
            </a:r>
            <a:r>
              <a:rPr lang="zh-TW" altLang="en-US" sz="1400" dirty="0">
                <a:effectLst/>
                <a:latin typeface="Microsoft JhengHei UI" panose="020B0604030504040204" pitchFamily="34" charset="-120"/>
                <a:ea typeface="Microsoft JhengHei UI" panose="020B0604030504040204" pitchFamily="34" charset="-120"/>
              </a:rPr>
              <a:t>運算需要極大頻寬。低成本方案採用內建 </a:t>
            </a:r>
            <a:r>
              <a:rPr lang="en-US" altLang="zh-TW" sz="1400" dirty="0">
                <a:effectLst/>
                <a:latin typeface="Microsoft JhengHei UI" panose="020B0604030504040204" pitchFamily="34" charset="-120"/>
                <a:ea typeface="Microsoft JhengHei UI" panose="020B0604030504040204" pitchFamily="34" charset="-120"/>
              </a:rPr>
              <a:t>SRAM </a:t>
            </a:r>
            <a:r>
              <a:rPr lang="zh-TW" altLang="en-US" sz="1400" dirty="0">
                <a:effectLst/>
                <a:latin typeface="Microsoft JhengHei UI" panose="020B0604030504040204" pitchFamily="34" charset="-120"/>
                <a:ea typeface="Microsoft JhengHei UI" panose="020B0604030504040204" pitchFamily="34" charset="-120"/>
              </a:rPr>
              <a:t>或外掛 </a:t>
            </a:r>
            <a:r>
              <a:rPr lang="en-US" altLang="zh-TW" sz="1400" dirty="0">
                <a:effectLst/>
                <a:latin typeface="Microsoft JhengHei UI" panose="020B0604030504040204" pitchFamily="34" charset="-120"/>
                <a:ea typeface="Microsoft JhengHei UI" panose="020B0604030504040204" pitchFamily="34" charset="-120"/>
              </a:rPr>
              <a:t>LPDDR5/DDR4</a:t>
            </a:r>
            <a:r>
              <a:rPr lang="zh-TW" altLang="en-US" sz="1400" dirty="0">
                <a:effectLst/>
                <a:latin typeface="Microsoft JhengHei UI" panose="020B0604030504040204" pitchFamily="34" charset="-120"/>
                <a:ea typeface="Microsoft JhengHei UI" panose="020B0604030504040204" pitchFamily="34" charset="-120"/>
              </a:rPr>
              <a:t>；高階高頻寬方案（如高階自駕車 </a:t>
            </a:r>
            <a:r>
              <a:rPr lang="en-US" altLang="zh-TW" sz="1400" dirty="0">
                <a:effectLst/>
                <a:latin typeface="Microsoft JhengHei UI" panose="020B0604030504040204" pitchFamily="34" charset="-120"/>
                <a:ea typeface="Microsoft JhengHei UI" panose="020B0604030504040204" pitchFamily="34" charset="-120"/>
              </a:rPr>
              <a:t>ADAS</a:t>
            </a:r>
            <a:r>
              <a:rPr lang="zh-TW" altLang="en-US" sz="1400" dirty="0">
                <a:effectLst/>
                <a:latin typeface="Microsoft JhengHei UI" panose="020B0604030504040204" pitchFamily="34" charset="-120"/>
                <a:ea typeface="Microsoft JhengHei UI" panose="020B0604030504040204" pitchFamily="34" charset="-120"/>
              </a:rPr>
              <a:t>、邊緣生成式 </a:t>
            </a:r>
            <a:r>
              <a:rPr lang="en-US" altLang="zh-TW" sz="1400" dirty="0">
                <a:effectLst/>
                <a:latin typeface="Microsoft JhengHei UI" panose="020B0604030504040204" pitchFamily="34" charset="-120"/>
                <a:ea typeface="Microsoft JhengHei UI" panose="020B0604030504040204" pitchFamily="34" charset="-120"/>
              </a:rPr>
              <a:t>AI</a:t>
            </a:r>
            <a:r>
              <a:rPr lang="zh-TW" altLang="en-US" sz="1400" dirty="0">
                <a:effectLst/>
                <a:latin typeface="Microsoft JhengHei UI" panose="020B0604030504040204" pitchFamily="34" charset="-120"/>
                <a:ea typeface="Microsoft JhengHei UI" panose="020B0604030504040204" pitchFamily="34" charset="-120"/>
              </a:rPr>
              <a:t>）則會導入 </a:t>
            </a:r>
            <a:r>
              <a:rPr lang="en-US" altLang="zh-TW" sz="1400" dirty="0">
                <a:effectLst/>
                <a:latin typeface="Microsoft JhengHei UI" panose="020B0604030504040204" pitchFamily="34" charset="-120"/>
                <a:ea typeface="Microsoft JhengHei UI" panose="020B0604030504040204" pitchFamily="34" charset="-120"/>
              </a:rPr>
              <a:t>HBM2e/HBM3 </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3D PIM</a:t>
            </a:r>
            <a:r>
              <a:rPr lang="zh-TW" altLang="en-US" sz="1400" dirty="0">
                <a:effectLst/>
                <a:latin typeface="Microsoft JhengHei UI" panose="020B0604030504040204" pitchFamily="34" charset="-120"/>
                <a:ea typeface="Microsoft JhengHei UI" panose="020B0604030504040204" pitchFamily="34" charset="-120"/>
              </a:rPr>
              <a:t>（記憶體內運算），此時記憶體成本會大幅飆升。</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先進封裝與測試</a:t>
            </a:r>
            <a:r>
              <a:rPr lang="en-US" altLang="zh-TW" sz="1400" dirty="0">
                <a:effectLst/>
                <a:latin typeface="Microsoft JhengHei UI" panose="020B0604030504040204" pitchFamily="34" charset="-120"/>
                <a:ea typeface="Microsoft JhengHei UI" panose="020B0604030504040204" pitchFamily="34" charset="-120"/>
              </a:rPr>
              <a:t>15% - 25%</a:t>
            </a:r>
            <a:r>
              <a:rPr lang="zh-TW" altLang="en-US" sz="1400" dirty="0">
                <a:effectLst/>
                <a:latin typeface="Microsoft JhengHei UI" panose="020B0604030504040204" pitchFamily="34" charset="-120"/>
                <a:ea typeface="Microsoft JhengHei UI" panose="020B0604030504040204" pitchFamily="34" charset="-120"/>
              </a:rPr>
              <a:t>晶片測試（包含汽車級 </a:t>
            </a:r>
            <a:r>
              <a:rPr lang="en-US" altLang="zh-TW" sz="1400" dirty="0">
                <a:effectLst/>
                <a:latin typeface="Microsoft JhengHei UI" panose="020B0604030504040204" pitchFamily="34" charset="-120"/>
                <a:ea typeface="Microsoft JhengHei UI" panose="020B0604030504040204" pitchFamily="34" charset="-120"/>
              </a:rPr>
              <a:t>ISO 26262 </a:t>
            </a:r>
            <a:r>
              <a:rPr lang="zh-TW" altLang="en-US" sz="1400" dirty="0">
                <a:effectLst/>
                <a:latin typeface="Microsoft JhengHei UI" panose="020B0604030504040204" pitchFamily="34" charset="-120"/>
                <a:ea typeface="Microsoft JhengHei UI" panose="020B0604030504040204" pitchFamily="34" charset="-120"/>
              </a:rPr>
              <a:t>驗證加價 </a:t>
            </a:r>
            <a:r>
              <a:rPr lang="en-US" altLang="zh-TW" sz="1400" dirty="0">
                <a:effectLst/>
                <a:latin typeface="Microsoft JhengHei UI" panose="020B0604030504040204" pitchFamily="34" charset="-120"/>
                <a:ea typeface="Microsoft JhengHei UI" panose="020B0604030504040204" pitchFamily="34" charset="-120"/>
              </a:rPr>
              <a:t>10%-25%</a:t>
            </a:r>
            <a:r>
              <a:rPr lang="zh-TW" altLang="en-US" sz="1400" dirty="0">
                <a:effectLst/>
                <a:latin typeface="Microsoft JhengHei UI" panose="020B0604030504040204" pitchFamily="34" charset="-120"/>
                <a:ea typeface="Microsoft JhengHei UI" panose="020B0604030504040204" pitchFamily="34" charset="-120"/>
              </a:rPr>
              <a:t>） 以及封裝技術（如 </a:t>
            </a:r>
            <a:r>
              <a:rPr lang="en-US" altLang="zh-TW" sz="1400" dirty="0">
                <a:effectLst/>
                <a:latin typeface="Microsoft JhengHei UI" panose="020B0604030504040204" pitchFamily="34" charset="-120"/>
                <a:ea typeface="Microsoft JhengHei UI" panose="020B0604030504040204" pitchFamily="34" charset="-120"/>
              </a:rPr>
              <a:t>SiP </a:t>
            </a:r>
            <a:r>
              <a:rPr lang="zh-TW" altLang="en-US" sz="1400" dirty="0">
                <a:effectLst/>
                <a:latin typeface="Microsoft JhengHei UI" panose="020B0604030504040204" pitchFamily="34" charset="-120"/>
                <a:ea typeface="Microsoft JhengHei UI" panose="020B0604030504040204" pitchFamily="34" charset="-120"/>
              </a:rPr>
              <a:t>系統級封裝、或是 </a:t>
            </a:r>
            <a:r>
              <a:rPr lang="en-US" altLang="zh-TW" sz="1400" dirty="0">
                <a:effectLst/>
                <a:latin typeface="Microsoft JhengHei UI" panose="020B0604030504040204" pitchFamily="34" charset="-120"/>
                <a:ea typeface="Microsoft JhengHei UI" panose="020B0604030504040204" pitchFamily="34" charset="-120"/>
              </a:rPr>
              <a:t>3D </a:t>
            </a:r>
            <a:r>
              <a:rPr lang="zh-TW" altLang="en-US" sz="1400" dirty="0">
                <a:effectLst/>
                <a:latin typeface="Microsoft JhengHei UI" panose="020B0604030504040204" pitchFamily="34" charset="-120"/>
                <a:ea typeface="Microsoft JhengHei UI" panose="020B0604030504040204" pitchFamily="34" charset="-120"/>
              </a:rPr>
              <a:t>堆疊</a:t>
            </a:r>
            <a:r>
              <a:rPr lang="en-US" altLang="zh-TW" sz="1400" dirty="0">
                <a:effectLst/>
                <a:latin typeface="Microsoft JhengHei UI" panose="020B0604030504040204" pitchFamily="34" charset="-120"/>
                <a:ea typeface="Microsoft JhengHei UI" panose="020B0604030504040204" pitchFamily="34" charset="-120"/>
              </a:rPr>
              <a:t>/TSV </a:t>
            </a:r>
            <a:r>
              <a:rPr lang="zh-TW" altLang="en-US" sz="1400" dirty="0">
                <a:effectLst/>
                <a:latin typeface="Microsoft JhengHei UI" panose="020B0604030504040204" pitchFamily="34" charset="-120"/>
                <a:ea typeface="Microsoft JhengHei UI" panose="020B0604030504040204" pitchFamily="34" charset="-120"/>
              </a:rPr>
              <a:t>矽穿孔技術，這會視封裝複雜度增加 </a:t>
            </a:r>
            <a:r>
              <a:rPr lang="en-US" altLang="zh-TW" sz="1400" dirty="0">
                <a:effectLst/>
                <a:latin typeface="Microsoft JhengHei UI" panose="020B0604030504040204" pitchFamily="34" charset="-120"/>
                <a:ea typeface="Microsoft JhengHei UI" panose="020B0604030504040204" pitchFamily="34" charset="-120"/>
              </a:rPr>
              <a:t>50–100 </a:t>
            </a:r>
            <a:r>
              <a:rPr lang="zh-TW" altLang="en-US" sz="1400" dirty="0">
                <a:effectLst/>
                <a:latin typeface="Microsoft JhengHei UI" panose="020B0604030504040204" pitchFamily="34" charset="-120"/>
                <a:ea typeface="Microsoft JhengHei UI" panose="020B0604030504040204" pitchFamily="34" charset="-120"/>
              </a:rPr>
              <a:t>美元不等的成本）。</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IP </a:t>
            </a:r>
            <a:r>
              <a:rPr lang="zh-TW" altLang="en-US" sz="1400" dirty="0">
                <a:effectLst/>
                <a:latin typeface="Microsoft JhengHei UI" panose="020B0604030504040204" pitchFamily="34" charset="-120"/>
                <a:ea typeface="Microsoft JhengHei UI" panose="020B0604030504040204" pitchFamily="34" charset="-120"/>
              </a:rPr>
              <a:t>授權與權利金</a:t>
            </a:r>
            <a:r>
              <a:rPr lang="en-US" altLang="zh-TW" sz="1400" dirty="0">
                <a:effectLst/>
                <a:latin typeface="Microsoft JhengHei UI" panose="020B0604030504040204" pitchFamily="34" charset="-120"/>
                <a:ea typeface="Microsoft JhengHei UI" panose="020B0604030504040204" pitchFamily="34" charset="-120"/>
              </a:rPr>
              <a:t>5% - 10%</a:t>
            </a:r>
            <a:r>
              <a:rPr lang="zh-TW" altLang="en-US" sz="1400" dirty="0">
                <a:effectLst/>
                <a:latin typeface="Microsoft JhengHei UI" panose="020B0604030504040204" pitchFamily="34" charset="-120"/>
                <a:ea typeface="Microsoft JhengHei UI" panose="020B0604030504040204" pitchFamily="34" charset="-120"/>
              </a:rPr>
              <a:t>晶片內部的架構多非全自研。例如向 </a:t>
            </a:r>
            <a:r>
              <a:rPr lang="en-US" altLang="zh-TW" sz="1400" dirty="0">
                <a:effectLst/>
                <a:latin typeface="Microsoft JhengHei UI" panose="020B0604030504040204" pitchFamily="34" charset="-120"/>
                <a:ea typeface="Microsoft JhengHei UI" panose="020B0604030504040204" pitchFamily="34" charset="-120"/>
              </a:rPr>
              <a:t>Arm </a:t>
            </a:r>
            <a:r>
              <a:rPr lang="zh-TW" altLang="en-US" sz="1400" dirty="0">
                <a:effectLst/>
                <a:latin typeface="Microsoft JhengHei UI" panose="020B0604030504040204" pitchFamily="34" charset="-120"/>
                <a:ea typeface="Microsoft JhengHei UI" panose="020B0604030504040204" pitchFamily="34" charset="-120"/>
              </a:rPr>
              <a:t>授權的 </a:t>
            </a:r>
            <a:r>
              <a:rPr lang="en-US" altLang="zh-TW" sz="1400" dirty="0">
                <a:effectLst/>
                <a:latin typeface="Microsoft JhengHei UI" panose="020B0604030504040204" pitchFamily="34" charset="-120"/>
                <a:ea typeface="Microsoft JhengHei UI" panose="020B0604030504040204" pitchFamily="34" charset="-120"/>
              </a:rPr>
              <a:t>CPU </a:t>
            </a:r>
            <a:r>
              <a:rPr lang="zh-TW" altLang="en-US" sz="1400" dirty="0">
                <a:effectLst/>
                <a:latin typeface="Microsoft JhengHei UI" panose="020B0604030504040204" pitchFamily="34" charset="-120"/>
                <a:ea typeface="Microsoft JhengHei UI" panose="020B0604030504040204" pitchFamily="34" charset="-120"/>
              </a:rPr>
              <a:t>架構（如 </a:t>
            </a:r>
            <a:r>
              <a:rPr lang="en-US" altLang="zh-TW" sz="1400" dirty="0">
                <a:effectLst/>
                <a:latin typeface="Microsoft JhengHei UI" panose="020B0604030504040204" pitchFamily="34" charset="-120"/>
                <a:ea typeface="Microsoft JhengHei UI" panose="020B0604030504040204" pitchFamily="34" charset="-120"/>
              </a:rPr>
              <a:t>Cortex-M55/M85</a:t>
            </a:r>
            <a:r>
              <a:rPr lang="zh-TW" altLang="en-US" sz="1400" dirty="0">
                <a:effectLst/>
                <a:latin typeface="Microsoft JhengHei UI" panose="020B0604030504040204" pitchFamily="34" charset="-120"/>
                <a:ea typeface="Microsoft JhengHei UI" panose="020B0604030504040204" pitchFamily="34" charset="-120"/>
              </a:rPr>
              <a:t>）、外購的 </a:t>
            </a:r>
            <a:r>
              <a:rPr lang="en-US" altLang="zh-TW" sz="1400" dirty="0">
                <a:effectLst/>
                <a:latin typeface="Microsoft JhengHei UI" panose="020B0604030504040204" pitchFamily="34" charset="-120"/>
                <a:ea typeface="Microsoft JhengHei UI" panose="020B0604030504040204" pitchFamily="34" charset="-120"/>
              </a:rPr>
              <a:t>NPU IP</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HBM </a:t>
            </a:r>
            <a:r>
              <a:rPr lang="zh-TW" altLang="en-US" sz="1400" dirty="0">
                <a:effectLst/>
                <a:latin typeface="Microsoft JhengHei UI" panose="020B0604030504040204" pitchFamily="34" charset="-120"/>
                <a:ea typeface="Microsoft JhengHei UI" panose="020B0604030504040204" pitchFamily="34" charset="-120"/>
              </a:rPr>
              <a:t>控制器 </a:t>
            </a:r>
            <a:r>
              <a:rPr lang="en-US" altLang="zh-TW" sz="1400" dirty="0">
                <a:effectLst/>
                <a:latin typeface="Microsoft JhengHei UI" panose="020B0604030504040204" pitchFamily="34" charset="-120"/>
                <a:ea typeface="Microsoft JhengHei UI" panose="020B0604030504040204" pitchFamily="34" charset="-120"/>
              </a:rPr>
              <a:t>IP</a:t>
            </a:r>
            <a:r>
              <a:rPr lang="zh-TW" altLang="en-US" sz="1400" dirty="0">
                <a:effectLst/>
                <a:latin typeface="Microsoft JhengHei UI" panose="020B0604030504040204" pitchFamily="34" charset="-120"/>
                <a:ea typeface="Microsoft JhengHei UI" panose="020B0604030504040204" pitchFamily="34" charset="-120"/>
              </a:rPr>
              <a:t>，每顆晶片需要支付一定比例的 </a:t>
            </a:r>
            <a:r>
              <a:rPr lang="en-US" altLang="zh-TW" sz="1400" dirty="0">
                <a:effectLst/>
                <a:latin typeface="Microsoft JhengHei UI" panose="020B0604030504040204" pitchFamily="34" charset="-120"/>
                <a:ea typeface="Microsoft JhengHei UI" panose="020B0604030504040204" pitchFamily="34" charset="-120"/>
              </a:rPr>
              <a:t>Royalty</a:t>
            </a:r>
            <a:r>
              <a:rPr lang="zh-TW" altLang="en-US" sz="1400" dirty="0">
                <a:effectLst/>
                <a:latin typeface="Microsoft JhengHei UI" panose="020B0604030504040204" pitchFamily="34" charset="-120"/>
                <a:ea typeface="Microsoft JhengHei UI" panose="020B0604030504040204" pitchFamily="34" charset="-120"/>
              </a:rPr>
              <a:t>（權利</a:t>
            </a:r>
            <a:r>
              <a:rPr lang="zh-TW" altLang="en-US" sz="1400" baseline="0" dirty="0">
                <a:effectLst/>
                <a:latin typeface="Microsoft JhengHei UI" panose="020B0604030504040204" pitchFamily="34" charset="-120"/>
                <a:ea typeface="Microsoft JhengHei UI" panose="020B0604030504040204" pitchFamily="34" charset="-120"/>
              </a:rPr>
              <a:t>金</a:t>
            </a:r>
            <a:r>
              <a:rPr lang="zh-TW" altLang="en-US" sz="1400" dirty="0">
                <a:effectLst/>
                <a:latin typeface="Microsoft JhengHei UI" panose="020B0604030504040204" pitchFamily="34" charset="-120"/>
                <a:ea typeface="Microsoft JhengHei UI" panose="020B0604030504040204" pitchFamily="34" charset="-120"/>
              </a:rPr>
              <a:t>）。</a:t>
            </a:r>
          </a:p>
          <a:p>
            <a:endParaRPr lang="zh-TW" altLang="en-US" sz="1400"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9723731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了解硬體結構</a:t>
            </a:r>
            <a:r>
              <a:rPr lang="en-US" altLang="zh-TW" dirty="0"/>
              <a:t>(</a:t>
            </a:r>
            <a:r>
              <a:rPr lang="en-US" altLang="zh-TW" dirty="0" err="1"/>
              <a:t>eBOM</a:t>
            </a:r>
            <a:r>
              <a:rPr lang="en-US" altLang="zh-TW" dirty="0"/>
              <a:t>)</a:t>
            </a:r>
            <a:r>
              <a:rPr lang="zh-TW" altLang="en-US" dirty="0"/>
              <a:t>與跨線</a:t>
            </a:r>
            <a:r>
              <a:rPr lang="en-US" altLang="zh-TW" dirty="0"/>
              <a:t>,</a:t>
            </a:r>
            <a:r>
              <a:rPr lang="zh-TW" altLang="en-US" dirty="0"/>
              <a:t> 散熱問題</a:t>
            </a:r>
            <a:r>
              <a:rPr lang="en-US" altLang="zh-TW" dirty="0"/>
              <a:t>., </a:t>
            </a:r>
            <a:r>
              <a:rPr lang="zh-TW" altLang="en-US" dirty="0"/>
              <a:t>有助於我們了解</a:t>
            </a:r>
            <a:r>
              <a:rPr lang="en-US" altLang="zh-TW" dirty="0"/>
              <a:t>“</a:t>
            </a:r>
            <a:r>
              <a:rPr lang="zh-TW" altLang="en-US" dirty="0"/>
              <a:t>為什麼</a:t>
            </a:r>
            <a:r>
              <a:rPr lang="en-US" altLang="zh-TW" dirty="0"/>
              <a:t>”</a:t>
            </a:r>
            <a:r>
              <a:rPr lang="zh-TW" altLang="en-US" dirty="0"/>
              <a:t>要去降低</a:t>
            </a:r>
            <a:r>
              <a:rPr lang="en-US" altLang="zh-TW" dirty="0"/>
              <a:t>”memory</a:t>
            </a:r>
            <a:r>
              <a:rPr lang="zh-TW" altLang="en-US" dirty="0"/>
              <a:t>要求</a:t>
            </a:r>
            <a:r>
              <a:rPr lang="en-US" altLang="zh-TW" dirty="0"/>
              <a:t>”,</a:t>
            </a:r>
            <a:r>
              <a:rPr lang="zh-TW" altLang="en-US" dirty="0"/>
              <a:t> 減少</a:t>
            </a:r>
            <a:r>
              <a:rPr lang="en-US" altLang="zh-TW" dirty="0"/>
              <a:t>”</a:t>
            </a:r>
            <a:r>
              <a:rPr lang="zh-TW" altLang="en-US" dirty="0"/>
              <a:t>算力浪費</a:t>
            </a:r>
            <a:r>
              <a:rPr lang="en-US" altLang="zh-TW" dirty="0"/>
              <a:t>”,</a:t>
            </a:r>
            <a:r>
              <a:rPr lang="zh-TW" altLang="en-US" dirty="0"/>
              <a:t> </a:t>
            </a:r>
            <a:br>
              <a:rPr lang="en-US" altLang="zh-TW" dirty="0"/>
            </a:br>
            <a:br>
              <a:rPr lang="en-US" altLang="zh-TW" dirty="0"/>
            </a:br>
            <a:r>
              <a:rPr lang="zh-TW" altLang="en-US" dirty="0"/>
              <a:t>發展方向</a:t>
            </a:r>
            <a:r>
              <a:rPr lang="en-US" altLang="zh-TW" dirty="0"/>
              <a:t>:</a:t>
            </a:r>
          </a:p>
          <a:p>
            <a:r>
              <a:rPr lang="zh-TW" altLang="en-US" dirty="0"/>
              <a:t>功能性 </a:t>
            </a:r>
            <a:r>
              <a:rPr lang="en-US" altLang="zh-TW" dirty="0"/>
              <a:t>(AI</a:t>
            </a:r>
            <a:r>
              <a:rPr lang="zh-TW" altLang="en-US" dirty="0"/>
              <a:t> </a:t>
            </a:r>
            <a:r>
              <a:rPr lang="en-US" altLang="zh-TW" dirty="0" err="1"/>
              <a:t>Agetn</a:t>
            </a:r>
            <a:r>
              <a:rPr lang="en-US" altLang="zh-TW" dirty="0"/>
              <a:t> , inference, data analysis … )</a:t>
            </a:r>
            <a:br>
              <a:rPr lang="en-US" altLang="zh-TW" dirty="0"/>
            </a:br>
            <a:r>
              <a:rPr lang="zh-TW" altLang="en-US" dirty="0"/>
              <a:t>便利性</a:t>
            </a:r>
            <a:r>
              <a:rPr lang="en-US" altLang="zh-TW" dirty="0"/>
              <a:t>(</a:t>
            </a:r>
            <a:r>
              <a:rPr lang="zh-TW" altLang="en-US" dirty="0"/>
              <a:t> </a:t>
            </a:r>
            <a:r>
              <a:rPr lang="en-US" altLang="zh-TW" dirty="0"/>
              <a:t>AI</a:t>
            </a:r>
            <a:r>
              <a:rPr lang="zh-TW" altLang="en-US" dirty="0"/>
              <a:t> </a:t>
            </a:r>
            <a:r>
              <a:rPr lang="en-US" altLang="zh-TW" dirty="0"/>
              <a:t>container/</a:t>
            </a:r>
            <a:r>
              <a:rPr lang="zh-TW" altLang="en-US" dirty="0"/>
              <a:t> </a:t>
            </a:r>
            <a:r>
              <a:rPr lang="en-US" altLang="zh-TW" dirty="0"/>
              <a:t>…</a:t>
            </a:r>
            <a:r>
              <a:rPr lang="zh-TW" altLang="en-US" dirty="0"/>
              <a:t> </a:t>
            </a:r>
            <a:r>
              <a:rPr lang="en-US" altLang="zh-TW" dirty="0"/>
              <a:t>)</a:t>
            </a:r>
          </a:p>
          <a:p>
            <a:r>
              <a:rPr lang="zh-TW" altLang="en-US" dirty="0"/>
              <a:t>算法 </a:t>
            </a:r>
            <a:r>
              <a:rPr lang="en-US" altLang="zh-TW" dirty="0"/>
              <a:t>(,</a:t>
            </a:r>
            <a:r>
              <a:rPr lang="zh-TW" altLang="en-US" dirty="0"/>
              <a:t> </a:t>
            </a:r>
            <a:r>
              <a:rPr lang="en-US" altLang="zh-TW" dirty="0"/>
              <a:t>MoE, Dimension, weight, </a:t>
            </a:r>
            <a:r>
              <a:rPr lang="en-US" altLang="zh-TW" dirty="0" err="1"/>
              <a:t>bitNet</a:t>
            </a:r>
            <a:r>
              <a:rPr lang="en-US" altLang="zh-TW" dirty="0"/>
              <a:t> …</a:t>
            </a:r>
            <a:r>
              <a:rPr lang="zh-TW" altLang="en-US" dirty="0"/>
              <a:t> </a:t>
            </a:r>
            <a:r>
              <a:rPr lang="en-US" altLang="zh-TW" dirty="0"/>
              <a:t>)</a:t>
            </a:r>
          </a:p>
          <a:p>
            <a:r>
              <a:rPr lang="zh-TW" altLang="en-US" dirty="0"/>
              <a:t>精度效率</a:t>
            </a:r>
            <a:r>
              <a:rPr lang="en-US" altLang="zh-TW" dirty="0"/>
              <a:t>(</a:t>
            </a:r>
            <a:r>
              <a:rPr lang="zh-TW" altLang="en-US" dirty="0"/>
              <a:t>蒸餾權重</a:t>
            </a:r>
            <a:r>
              <a:rPr lang="en-US" altLang="zh-TW" dirty="0"/>
              <a:t>,</a:t>
            </a:r>
            <a:r>
              <a:rPr lang="zh-TW" altLang="en-US" dirty="0"/>
              <a:t> 降低位元</a:t>
            </a:r>
            <a:r>
              <a:rPr lang="en-US" altLang="zh-TW" dirty="0"/>
              <a:t>, </a:t>
            </a:r>
            <a:r>
              <a:rPr lang="en-US" altLang="zh-TW" dirty="0" err="1"/>
              <a:t>bitNet</a:t>
            </a:r>
            <a:r>
              <a:rPr lang="en-US" altLang="zh-TW" dirty="0"/>
              <a:t>)</a:t>
            </a:r>
          </a:p>
          <a:p>
            <a:r>
              <a:rPr lang="zh-TW" altLang="en-US" dirty="0"/>
              <a:t>算力</a:t>
            </a:r>
            <a:r>
              <a:rPr lang="en-US" altLang="zh-TW" dirty="0"/>
              <a:t>(GPU, Memory, HBM3e, HBM4, CPO,</a:t>
            </a:r>
            <a:r>
              <a:rPr lang="zh-TW" altLang="en-US" dirty="0"/>
              <a:t> </a:t>
            </a:r>
            <a:r>
              <a:rPr lang="en-US" altLang="zh-TW" dirty="0"/>
              <a:t>WSE</a:t>
            </a:r>
            <a:r>
              <a:rPr lang="zh-TW" altLang="en-US" dirty="0"/>
              <a:t> </a:t>
            </a:r>
            <a:r>
              <a:rPr lang="en-US" altLang="zh-TW" dirty="0"/>
              <a:t>…</a:t>
            </a:r>
            <a:r>
              <a:rPr lang="zh-TW" altLang="en-US" dirty="0"/>
              <a:t> </a:t>
            </a:r>
            <a:r>
              <a:rPr lang="en-US" altLang="zh-TW" dirty="0"/>
              <a:t>)</a:t>
            </a:r>
          </a:p>
          <a:p>
            <a:r>
              <a:rPr lang="zh-TW" altLang="en-US" dirty="0"/>
              <a:t>散熱</a:t>
            </a:r>
            <a:r>
              <a:rPr lang="en-US" altLang="zh-TW" dirty="0"/>
              <a:t>/</a:t>
            </a:r>
            <a:r>
              <a:rPr lang="zh-TW" altLang="en-US" dirty="0"/>
              <a:t>冷卻方案 </a:t>
            </a:r>
            <a:r>
              <a:rPr lang="en-US" altLang="zh-TW" dirty="0"/>
              <a:t>(</a:t>
            </a:r>
            <a:r>
              <a:rPr lang="zh-TW" altLang="en-US" dirty="0"/>
              <a:t> </a:t>
            </a:r>
            <a:r>
              <a:rPr lang="en-US" altLang="zh-TW" dirty="0"/>
              <a:t>):</a:t>
            </a:r>
          </a:p>
          <a:p>
            <a:r>
              <a:rPr lang="zh-TW" altLang="en-US" dirty="0"/>
              <a:t>供電技術</a:t>
            </a:r>
            <a:r>
              <a:rPr lang="en-US" altLang="zh-TW" dirty="0"/>
              <a:t>:</a:t>
            </a:r>
          </a:p>
          <a:p>
            <a:endParaRPr lang="en-US" altLang="zh-TW" dirty="0"/>
          </a:p>
          <a:p>
            <a:r>
              <a:rPr lang="zh-TW" altLang="zh-TW" dirty="0"/>
              <a:t>BitNet 與 1.58 (常稱為 BitNet b1.58) 的關聯在於，</a:t>
            </a:r>
            <a:r>
              <a:rPr lang="zh-TW" altLang="zh-TW" sz="1200" b="1" u="none" strike="noStrike" kern="1200" dirty="0">
                <a:solidFill>
                  <a:schemeClr val="tx1"/>
                </a:solidFill>
                <a:effectLst/>
                <a:latin typeface="+mn-lt"/>
                <a:ea typeface="+mn-ea"/>
                <a:cs typeface="+mn-cs"/>
              </a:rPr>
              <a:t>1.58 bit 是 BitNet 架構的一種革命性參數量化方式</a:t>
            </a:r>
            <a:r>
              <a:rPr lang="zh-TW" altLang="zh-TW" dirty="0"/>
              <a:t>。微軟研究團隊提出的 </a:t>
            </a:r>
            <a:r>
              <a:rPr lang="zh-TW" altLang="zh-TW" sz="1200" b="1" u="none" strike="noStrike" kern="1200" dirty="0">
                <a:solidFill>
                  <a:schemeClr val="tx1"/>
                </a:solidFill>
                <a:effectLst/>
                <a:latin typeface="+mn-lt"/>
                <a:ea typeface="+mn-ea"/>
                <a:cs typeface="+mn-cs"/>
              </a:rPr>
              <a:t>BitNet</a:t>
            </a:r>
            <a:r>
              <a:rPr lang="zh-TW" altLang="zh-TW" dirty="0"/>
              <a:t> 是一種「1位元（1-bit）大型語言模型」，而 </a:t>
            </a:r>
            <a:r>
              <a:rPr lang="zh-TW" altLang="zh-TW" sz="1200" b="1" u="none" strike="noStrike" kern="1200" dirty="0">
                <a:solidFill>
                  <a:schemeClr val="tx1"/>
                </a:solidFill>
                <a:effectLst/>
                <a:latin typeface="+mn-lt"/>
                <a:ea typeface="+mn-ea"/>
                <a:cs typeface="+mn-cs"/>
              </a:rPr>
              <a:t>1.58 bits</a:t>
            </a:r>
            <a:r>
              <a:rPr lang="zh-TW" altLang="zh-TW" sz="1200" b="0" u="none" strike="noStrike" kern="1200" dirty="0">
                <a:solidFill>
                  <a:schemeClr val="tx1"/>
                </a:solidFill>
                <a:effectLst/>
                <a:latin typeface="+mn-lt"/>
                <a:ea typeface="+mn-ea"/>
                <a:cs typeface="+mn-cs"/>
              </a:rPr>
              <a:t> 則是將其從二值（僅 -1 和 1）升級為</a:t>
            </a:r>
            <a:r>
              <a:rPr lang="zh-TW" altLang="zh-TW" sz="1200" b="1" u="none" strike="noStrike" kern="1200" dirty="0">
                <a:solidFill>
                  <a:schemeClr val="tx1"/>
                </a:solidFill>
                <a:effectLst/>
                <a:latin typeface="+mn-lt"/>
                <a:ea typeface="+mn-ea"/>
                <a:cs typeface="+mn-cs"/>
              </a:rPr>
              <a:t>三元數值（-1, 0, 1）</a:t>
            </a:r>
            <a:r>
              <a:rPr lang="zh-TW" altLang="zh-TW" sz="1200" b="0" u="none" strike="noStrike" kern="1200" dirty="0">
                <a:solidFill>
                  <a:schemeClr val="tx1"/>
                </a:solidFill>
                <a:effectLst/>
                <a:latin typeface="+mn-lt"/>
                <a:ea typeface="+mn-ea"/>
                <a:cs typeface="+mn-cs"/>
              </a:rPr>
              <a:t>的具體架構名稱</a:t>
            </a:r>
            <a:r>
              <a:rPr lang="zh-TW" altLang="zh-TW" dirty="0"/>
              <a:t>。</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2026/6/30</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8.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9.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45.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41.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46.png"/></Relationships>
</file>

<file path=ppt/slides/_rels/slide16.xml.rels><?xml version="1.0" encoding="UTF-8" standalone="yes"?>
<Relationships xmlns="http://schemas.openxmlformats.org/package/2006/relationships"><Relationship Id="rId3" Type="http://schemas.openxmlformats.org/officeDocument/2006/relationships/image" Target="../media/image47.bmp"/><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49.png"/><Relationship Id="rId4" Type="http://schemas.openxmlformats.org/officeDocument/2006/relationships/image" Target="../media/image48.png"/></Relationships>
</file>

<file path=ppt/slides/_rels/slide1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hyperlink" Target="https://labs.adaline.ai/p/llm-distillation-explained"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www.google.com/search?ibp=oshop&amp;prds=pvt:hg,pvo:29,imageDocid:3587070959964051833,headlineOfferDocid:4681429727312423067,productDocid:4681429727312423067&amp;q=product&amp;sa=X&amp;ved=2ahUKEwjfiPuhqMSUAxWvbvUHHaHBB2IQxa4PegYIAAgQEAI" TargetMode="External"/><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hyperlink" Target="https://unclestocknotes.substack.com/p/ai-38c"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www.linkedin.com/pulse/capacity-question-behind-every-ai-chip-huan-ma-rcmoe" TargetMode="External"/><Relationship Id="rId2" Type="http://schemas.openxmlformats.org/officeDocument/2006/relationships/notesSlide" Target="../notesSlides/notesSlide18.xml"/><Relationship Id="rId1" Type="http://schemas.openxmlformats.org/officeDocument/2006/relationships/slideLayout" Target="../slideLayouts/slideLayout3.xml"/><Relationship Id="rId5" Type="http://schemas.openxmlformats.org/officeDocument/2006/relationships/hyperlink" Target="https://cyfuture.cloud/kb/gpu/how-much-does-the-nvidia-h100-gpu-cost-in-2025" TargetMode="External"/><Relationship Id="rId4" Type="http://schemas.openxmlformats.org/officeDocument/2006/relationships/hyperlink" Target="https://www.google.com/search?ibp=oshop&amp;prds=pvt:hg,pvo:29,imageDocid:950387411976338395,gpcid:17533605446176267153,headlineOfferDocid:11979813095487954154,catalogid:2401887616791462714,productDocid:1096713661396697429,rds:PC_17533605446176267153%7CPROD_PC_17533605446176267153&amp;q=product&amp;sa=X&amp;ved=2ahUKEwjfiPuhqMSUAxWvbvUHHaHBB2IQxa4PegYIAAgoEAM"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53.jp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54.jp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1187623" y="908720"/>
            <a:ext cx="6552728" cy="4708981"/>
          </a:xfrm>
          <a:prstGeom prst="rect">
            <a:avLst/>
          </a:prstGeom>
          <a:solidFill>
            <a:schemeClr val="bg1"/>
          </a:solid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rPr>
              <a:t>AI Overview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(AI Evolution from AlexNet to GPT)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Machine Learning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(UL, semi-SL, SL, RL)</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Self-Supervised</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(GPT- Supervised Fine Tunning)</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Reinforcement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(GPT- Reinforcement Learning with Human Feedback)</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a:t>
            </a:r>
            <a:r>
              <a:rPr lang="en-US" altLang="zh-TW" sz="1200" dirty="0" err="1">
                <a:solidFill>
                  <a:schemeClr val="bg1">
                    <a:lumMod val="75000"/>
                  </a:schemeClr>
                </a:solidFill>
                <a:latin typeface="Noto Sans HK" panose="020B0200000000000000" pitchFamily="34" charset="-120"/>
                <a:ea typeface="Noto Sans HK" panose="020B0200000000000000" pitchFamily="34" charset="-120"/>
              </a:rPr>
              <a:t>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LLM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Position Encoding,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Server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childTnLst>
                          </p:cTn>
                        </p:par>
                      </p:childTnLst>
                    </p:cTn>
                  </p:par>
                  <p:par>
                    <p:cTn id="7" fill="hold">
                      <p:stCondLst>
                        <p:cond delay="indefinite"/>
                      </p:stCondLst>
                      <p:childTnLst>
                        <p:par>
                          <p:cTn id="8" fill="hold">
                            <p:stCondLst>
                              <p:cond delay="0"/>
                            </p:stCondLst>
                            <p:childTnLst>
                              <p:par>
                                <p:cTn id="9" presetID="3" presetClass="emph" presetSubtype="2" fill="hold" grpId="0" nodeType="clickEffect">
                                  <p:stCondLst>
                                    <p:cond delay="0"/>
                                  </p:stCondLst>
                                  <p:childTnLst>
                                    <p:animClr clrSpc="rgb" dir="cw">
                                      <p:cBhvr override="childStyle">
                                        <p:cTn id="10"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childTnLst>
                          </p:cTn>
                        </p:par>
                      </p:childTnLst>
                    </p:cTn>
                  </p:par>
                  <p:par>
                    <p:cTn id="15" fill="hold">
                      <p:stCondLst>
                        <p:cond delay="indefinite"/>
                      </p:stCondLst>
                      <p:childTnLst>
                        <p:par>
                          <p:cTn id="16" fill="hold">
                            <p:stCondLst>
                              <p:cond delay="0"/>
                            </p:stCondLst>
                            <p:childTnLst>
                              <p:par>
                                <p:cTn id="17" presetID="3" presetClass="emph" presetSubtype="2" fill="hold" grpId="0" nodeType="clickEffect">
                                  <p:stCondLst>
                                    <p:cond delay="0"/>
                                  </p:stCondLst>
                                  <p:childTnLst>
                                    <p:animClr clrSpc="rgb" dir="cw">
                                      <p:cBhvr override="childStyle">
                                        <p:cTn id="18"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childTnLst>
                          </p:cTn>
                        </p:par>
                      </p:childTnLst>
                    </p:cTn>
                  </p:par>
                  <p:par>
                    <p:cTn id="19" fill="hold">
                      <p:stCondLst>
                        <p:cond delay="indefinite"/>
                      </p:stCondLst>
                      <p:childTnLst>
                        <p:par>
                          <p:cTn id="20" fill="hold">
                            <p:stCondLst>
                              <p:cond delay="0"/>
                            </p:stCondLst>
                            <p:childTnLst>
                              <p:par>
                                <p:cTn id="21" presetID="3" presetClass="emph" presetSubtype="2" fill="hold" grpId="0" nodeType="clickEffect">
                                  <p:stCondLst>
                                    <p:cond delay="0"/>
                                  </p:stCondLst>
                                  <p:childTnLst>
                                    <p:animClr clrSpc="rgb" dir="cw">
                                      <p:cBhvr override="childStyle">
                                        <p:cTn id="22"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1" nodeType="withEffect">
                                  <p:stCondLst>
                                    <p:cond delay="0"/>
                                  </p:stCondLst>
                                  <p:childTnLst>
                                    <p:animClr clrSpc="rgb" dir="cw">
                                      <p:cBhvr override="childStyle">
                                        <p:cTn id="24" dur="2000" fill="hold"/>
                                        <p:tgtEl>
                                          <p:spTgt spid="2">
                                            <p:txEl>
                                              <p:pRg st="2" end="2"/>
                                            </p:txEl>
                                          </p:spTgt>
                                        </p:tgtEl>
                                        <p:attrNameLst>
                                          <p:attrName>style.color</p:attrName>
                                        </p:attrNameLst>
                                      </p:cBhvr>
                                      <p:to>
                                        <a:srgbClr val="4D4D4D"/>
                                      </p:to>
                                    </p:animClr>
                                  </p:child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childTnLst>
                          </p:cTn>
                        </p:par>
                      </p:childTnLst>
                    </p:cTn>
                  </p:par>
                  <p:par>
                    <p:cTn id="31" fill="hold">
                      <p:stCondLst>
                        <p:cond delay="indefinite"/>
                      </p:stCondLst>
                      <p:childTnLst>
                        <p:par>
                          <p:cTn id="32" fill="hold">
                            <p:stCondLst>
                              <p:cond delay="0"/>
                            </p:stCondLst>
                            <p:childTnLst>
                              <p:par>
                                <p:cTn id="33" presetID="3" presetClass="emph" presetSubtype="2" fill="hold" grpId="0" nodeType="clickEffect">
                                  <p:stCondLst>
                                    <p:cond delay="0"/>
                                  </p:stCondLst>
                                  <p:childTnLst>
                                    <p:animClr clrSpc="rgb" dir="cw">
                                      <p:cBhvr override="childStyle">
                                        <p:cTn id="34"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4D4D4D"/>
                                      </p:to>
                                    </p:animClr>
                                  </p:childTnLst>
                                </p:cTn>
                              </p:par>
                            </p:childTnLst>
                          </p:cTn>
                        </p:par>
                      </p:childTnLst>
                    </p:cTn>
                  </p:par>
                  <p:par>
                    <p:cTn id="37" fill="hold">
                      <p:stCondLst>
                        <p:cond delay="indefinite"/>
                      </p:stCondLst>
                      <p:childTnLst>
                        <p:par>
                          <p:cTn id="38" fill="hold">
                            <p:stCondLst>
                              <p:cond delay="0"/>
                            </p:stCondLst>
                            <p:childTnLst>
                              <p:par>
                                <p:cTn id="39" presetID="3" presetClass="emph" presetSubtype="2" fill="hold" grpId="0" nodeType="clickEffect">
                                  <p:stCondLst>
                                    <p:cond delay="0"/>
                                  </p:stCondLst>
                                  <p:childTnLst>
                                    <p:animClr clrSpc="rgb" dir="cw">
                                      <p:cBhvr override="childStyle">
                                        <p:cTn id="40"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9"/>
                                            </p:cond>
                                          </p:stCondLst>
                                          <p:endCondLst>
                                            <p:cond evt="onStopAudio" delay="0">
                                              <p:tgtEl>
                                                <p:sldTgt/>
                                              </p:tgtEl>
                                            </p:cond>
                                          </p:endCondLst>
                                        </p:cTn>
                                        <p:tgtEl>
                                          <p:sndTgt r:embed="rId3" name="type.wav"/>
                                        </p:tgtEl>
                                      </p:cMediaNode>
                                    </p:audio>
                                  </p:subTnLst>
                                </p:cTn>
                              </p:par>
                              <p:par>
                                <p:cTn id="41" presetID="3" presetClass="emph" presetSubtype="2" fill="hold" grpId="1" nodeType="withEffect">
                                  <p:stCondLst>
                                    <p:cond delay="0"/>
                                  </p:stCondLst>
                                  <p:childTnLst>
                                    <p:animClr clrSpc="rgb" dir="cw">
                                      <p:cBhvr override="childStyle">
                                        <p:cTn id="42" dur="2000" fill="hold"/>
                                        <p:tgtEl>
                                          <p:spTgt spid="2">
                                            <p:txEl>
                                              <p:pRg st="5" end="5"/>
                                            </p:txEl>
                                          </p:spTgt>
                                        </p:tgtEl>
                                        <p:attrNameLst>
                                          <p:attrName>style.color</p:attrName>
                                        </p:attrNameLst>
                                      </p:cBhvr>
                                      <p:to>
                                        <a:srgbClr val="4D4D4D"/>
                                      </p:to>
                                    </p:animClr>
                                  </p:childTnLst>
                                </p:cTn>
                              </p:par>
                            </p:childTnLst>
                          </p:cTn>
                        </p:par>
                      </p:childTnLst>
                    </p:cTn>
                  </p:par>
                  <p:par>
                    <p:cTn id="43" fill="hold">
                      <p:stCondLst>
                        <p:cond delay="indefinite"/>
                      </p:stCondLst>
                      <p:childTnLst>
                        <p:par>
                          <p:cTn id="44" fill="hold">
                            <p:stCondLst>
                              <p:cond delay="0"/>
                            </p:stCondLst>
                            <p:childTnLst>
                              <p:par>
                                <p:cTn id="45" presetID="3" presetClass="emph" presetSubtype="2" fill="hold" grpId="0" nodeType="clickEffect">
                                  <p:stCondLst>
                                    <p:cond delay="0"/>
                                  </p:stCondLst>
                                  <p:childTnLst>
                                    <p:animClr clrSpc="rgb" dir="cw">
                                      <p:cBhvr override="childStyle">
                                        <p:cTn id="4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5"/>
                                            </p:cond>
                                          </p:stCondLst>
                                          <p:endCondLst>
                                            <p:cond evt="onStopAudio" delay="0">
                                              <p:tgtEl>
                                                <p:sldTgt/>
                                              </p:tgtEl>
                                            </p:cond>
                                          </p:endCondLst>
                                        </p:cTn>
                                        <p:tgtEl>
                                          <p:sndTgt r:embed="rId3" name="type.wav"/>
                                        </p:tgtEl>
                                      </p:cMediaNode>
                                    </p:audio>
                                  </p:subTnLst>
                                </p:cTn>
                              </p:par>
                              <p:par>
                                <p:cTn id="47" presetID="3" presetClass="emph" presetSubtype="2" fill="hold" grpId="1" nodeType="withEffect">
                                  <p:stCondLst>
                                    <p:cond delay="0"/>
                                  </p:stCondLst>
                                  <p:childTnLst>
                                    <p:animClr clrSpc="rgb" dir="cw">
                                      <p:cBhvr override="childStyle">
                                        <p:cTn id="48" dur="2000" fill="hold"/>
                                        <p:tgtEl>
                                          <p:spTgt spid="2">
                                            <p:txEl>
                                              <p:pRg st="6" end="6"/>
                                            </p:txEl>
                                          </p:spTgt>
                                        </p:tgtEl>
                                        <p:attrNameLst>
                                          <p:attrName>style.color</p:attrName>
                                        </p:attrNameLst>
                                      </p:cBhvr>
                                      <p:to>
                                        <a:srgbClr val="4D4D4D"/>
                                      </p:to>
                                    </p:animClr>
                                  </p:child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0" nodeType="with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1" nodeType="withEffect">
                                  <p:stCondLst>
                                    <p:cond delay="0"/>
                                  </p:stCondLst>
                                  <p:childTnLst>
                                    <p:animClr clrSpc="rgb" dir="cw">
                                      <p:cBhvr override="childStyle">
                                        <p:cTn id="56" dur="2000" fill="hold"/>
                                        <p:tgtEl>
                                          <p:spTgt spid="2">
                                            <p:txEl>
                                              <p:pRg st="7" end="7"/>
                                            </p:txEl>
                                          </p:spTgt>
                                        </p:tgtEl>
                                        <p:attrNameLst>
                                          <p:attrName>style.color</p:attrName>
                                        </p:attrNameLst>
                                      </p:cBhvr>
                                      <p:to>
                                        <a:srgbClr val="4D4D4D"/>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8" end="8"/>
                                            </p:txEl>
                                          </p:spTgt>
                                        </p:tgtEl>
                                        <p:attrNameLst>
                                          <p:attrName>style.color</p:attrName>
                                        </p:attrNameLst>
                                      </p:cBhvr>
                                      <p:to>
                                        <a:srgbClr val="4D4D4D"/>
                                      </p:to>
                                    </p:animClr>
                                  </p:childTnLst>
                                </p:cTn>
                              </p:par>
                              <p:par>
                                <p:cTn id="59" presetID="3" presetClass="emph" presetSubtype="2" fill="hold" grpId="1" nodeType="withEffect">
                                  <p:stCondLst>
                                    <p:cond delay="0"/>
                                  </p:stCondLst>
                                  <p:childTnLst>
                                    <p:animClr clrSpc="rgb" dir="cw">
                                      <p:cBhvr override="childStyle">
                                        <p:cTn id="60" dur="2000" fill="hold"/>
                                        <p:tgtEl>
                                          <p:spTgt spid="2">
                                            <p:txEl>
                                              <p:pRg st="9" end="9"/>
                                            </p:txEl>
                                          </p:spTgt>
                                        </p:tgtEl>
                                        <p:attrNameLst>
                                          <p:attrName>style.color</p:attrName>
                                        </p:attrNameLst>
                                      </p:cBhvr>
                                      <p:to>
                                        <a:srgbClr val="4D4D4D"/>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childTnLst>
                          </p:cTn>
                        </p:par>
                      </p:childTnLst>
                    </p:cTn>
                  </p:par>
                  <p:par>
                    <p:cTn id="65" fill="hold">
                      <p:stCondLst>
                        <p:cond delay="indefinite"/>
                      </p:stCondLst>
                      <p:childTnLst>
                        <p:par>
                          <p:cTn id="66" fill="hold">
                            <p:stCondLst>
                              <p:cond delay="0"/>
                            </p:stCondLst>
                            <p:childTnLst>
                              <p:par>
                                <p:cTn id="67" presetID="3" presetClass="emph" presetSubtype="2" fill="hold" grpId="0" nodeType="clickEffect">
                                  <p:stCondLst>
                                    <p:cond delay="0"/>
                                  </p:stCondLst>
                                  <p:childTnLst>
                                    <p:animClr clrSpc="rgb" dir="cw">
                                      <p:cBhvr override="childStyle">
                                        <p:cTn id="6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67"/>
                                            </p:cond>
                                          </p:stCondLst>
                                          <p:endCondLst>
                                            <p:cond evt="onStopAudio" delay="0">
                                              <p:tgtEl>
                                                <p:sldTgt/>
                                              </p:tgtEl>
                                            </p:cond>
                                          </p:endCondLst>
                                        </p:cTn>
                                        <p:tgtEl>
                                          <p:sndTgt r:embed="rId3" name="type.wav"/>
                                        </p:tgtEl>
                                      </p:cMediaNode>
                                    </p:audio>
                                  </p:subTnLst>
                                </p:cTn>
                              </p:par>
                              <p:par>
                                <p:cTn id="69" presetID="3" presetClass="emph" presetSubtype="2" fill="hold" grpId="0" nodeType="with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par>
                                <p:cTn id="71" presetID="3" presetClass="emph" presetSubtype="2" fill="hold" grpId="1" nodeType="withEffect">
                                  <p:stCondLst>
                                    <p:cond delay="0"/>
                                  </p:stCondLst>
                                  <p:childTnLst>
                                    <p:animClr clrSpc="rgb" dir="cw">
                                      <p:cBhvr override="childStyle">
                                        <p:cTn id="72" dur="2000" fill="hold"/>
                                        <p:tgtEl>
                                          <p:spTgt spid="2">
                                            <p:txEl>
                                              <p:pRg st="10" end="10"/>
                                            </p:txEl>
                                          </p:spTgt>
                                        </p:tgtEl>
                                        <p:attrNameLst>
                                          <p:attrName>style.color</p:attrName>
                                        </p:attrNameLst>
                                      </p:cBhvr>
                                      <p:to>
                                        <a:srgbClr val="4D4D4D"/>
                                      </p:to>
                                    </p:animClr>
                                  </p:childTnLst>
                                </p:cTn>
                              </p:par>
                              <p:par>
                                <p:cTn id="73" presetID="3" presetClass="emph" presetSubtype="2" fill="hold" grpId="1" nodeType="withEffect">
                                  <p:stCondLst>
                                    <p:cond delay="0"/>
                                  </p:stCondLst>
                                  <p:childTnLst>
                                    <p:animClr clrSpc="rgb" dir="cw">
                                      <p:cBhvr override="childStyle">
                                        <p:cTn id="74" dur="2000" fill="hold"/>
                                        <p:tgtEl>
                                          <p:spTgt spid="2">
                                            <p:txEl>
                                              <p:pRg st="11" end="11"/>
                                            </p:txEl>
                                          </p:spTgt>
                                        </p:tgtEl>
                                        <p:attrNameLst>
                                          <p:attrName>style.color</p:attrName>
                                        </p:attrNameLst>
                                      </p:cBhvr>
                                      <p:to>
                                        <a:srgbClr val="4D4D4D"/>
                                      </p:to>
                                    </p:animClr>
                                  </p:childTnLst>
                                </p:cTn>
                              </p:par>
                              <p:par>
                                <p:cTn id="75" presetID="3" presetClass="emph" presetSubtype="2" fill="hold" grpId="1" nodeType="withEffect">
                                  <p:stCondLst>
                                    <p:cond delay="0"/>
                                  </p:stCondLst>
                                  <p:childTnLst>
                                    <p:animClr clrSpc="rgb" dir="cw">
                                      <p:cBhvr override="childStyle">
                                        <p:cTn id="76" dur="2000" fill="hold"/>
                                        <p:tgtEl>
                                          <p:spTgt spid="2">
                                            <p:txEl>
                                              <p:pRg st="12" end="12"/>
                                            </p:txEl>
                                          </p:spTgt>
                                        </p:tgtEl>
                                        <p:attrNameLst>
                                          <p:attrName>style.color</p:attrName>
                                        </p:attrNameLst>
                                      </p:cBhvr>
                                      <p:to>
                                        <a:srgbClr val="4D4D4D"/>
                                      </p:to>
                                    </p:animClr>
                                  </p:childTnLst>
                                </p:cTn>
                              </p:par>
                            </p:childTnLst>
                          </p:cTn>
                        </p:par>
                      </p:childTnLst>
                    </p:cTn>
                  </p:par>
                  <p:par>
                    <p:cTn id="77" fill="hold">
                      <p:stCondLst>
                        <p:cond delay="indefinite"/>
                      </p:stCondLst>
                      <p:childTnLst>
                        <p:par>
                          <p:cTn id="78" fill="hold">
                            <p:stCondLst>
                              <p:cond delay="0"/>
                            </p:stCondLst>
                            <p:childTnLst>
                              <p:par>
                                <p:cTn id="79" presetID="3" presetClass="emph" presetSubtype="2" fill="hold" grpId="0" nodeType="clickEffect">
                                  <p:stCondLst>
                                    <p:cond delay="0"/>
                                  </p:stCondLst>
                                  <p:childTnLst>
                                    <p:animClr clrSpc="rgb" dir="cw">
                                      <p:cBhvr override="childStyle">
                                        <p:cTn id="80"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9"/>
                                            </p:cond>
                                          </p:stCondLst>
                                          <p:endCondLst>
                                            <p:cond evt="onStopAudio" delay="0">
                                              <p:tgtEl>
                                                <p:sldTgt/>
                                              </p:tgtEl>
                                            </p:cond>
                                          </p:endCondLst>
                                        </p:cTn>
                                        <p:tgtEl>
                                          <p:sndTgt r:embed="rId3" name="type.wav"/>
                                        </p:tgtEl>
                                      </p:cMediaNode>
                                    </p:audio>
                                  </p:subTnLst>
                                </p:cTn>
                              </p:par>
                              <p:par>
                                <p:cTn id="81" presetID="3" presetClass="emph" presetSubtype="2" fill="hold" grpId="0" nodeType="withEffect">
                                  <p:stCondLst>
                                    <p:cond delay="0"/>
                                  </p:stCondLst>
                                  <p:childTnLst>
                                    <p:animClr clrSpc="rgb" dir="cw">
                                      <p:cBhvr override="childStyle">
                                        <p:cTn id="82"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81"/>
                                            </p:cond>
                                          </p:stCondLst>
                                          <p:endCondLst>
                                            <p:cond evt="onStopAudio" delay="0">
                                              <p:tgtEl>
                                                <p:sldTgt/>
                                              </p:tgtEl>
                                            </p:cond>
                                          </p:endCondLst>
                                        </p:cTn>
                                        <p:tgtEl>
                                          <p:sndTgt r:embed="rId3" name="type.wav"/>
                                        </p:tgtEl>
                                      </p:cMediaNode>
                                    </p:audio>
                                  </p:sub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2" nodeType="clickEffect">
                                  <p:stCondLst>
                                    <p:cond delay="0"/>
                                  </p:stCondLst>
                                  <p:childTnLst>
                                    <p:set>
                                      <p:cBhvr>
                                        <p:cTn id="86" dur="1" fill="hold">
                                          <p:stCondLst>
                                            <p:cond delay="0"/>
                                          </p:stCondLst>
                                        </p:cTn>
                                        <p:tgtEl>
                                          <p:spTgt spid="2">
                                            <p:bg/>
                                          </p:spTgt>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1" nodeType="withEffect">
                                  <p:stCondLst>
                                    <p:cond delay="0"/>
                                  </p:stCondLst>
                                  <p:childTnLst>
                                    <p:animClr clrSpc="rgb" dir="cw">
                                      <p:cBhvr override="childStyle">
                                        <p:cTn id="92" dur="2000" fill="hold"/>
                                        <p:tgtEl>
                                          <p:spTgt spid="2">
                                            <p:txEl>
                                              <p:pRg st="13" end="13"/>
                                            </p:txEl>
                                          </p:spTgt>
                                        </p:tgtEl>
                                        <p:attrNameLst>
                                          <p:attrName>style.color</p:attrName>
                                        </p:attrNameLst>
                                      </p:cBhvr>
                                      <p:to>
                                        <a:srgbClr val="4D4D4D"/>
                                      </p:to>
                                    </p:animClr>
                                  </p:childTnLst>
                                </p:cTn>
                              </p:par>
                              <p:par>
                                <p:cTn id="93" presetID="3" presetClass="emph" presetSubtype="2" fill="hold" grpId="1" nodeType="withEffect">
                                  <p:stCondLst>
                                    <p:cond delay="0"/>
                                  </p:stCondLst>
                                  <p:childTnLst>
                                    <p:animClr clrSpc="rgb" dir="cw">
                                      <p:cBhvr override="childStyle">
                                        <p:cTn id="94" dur="2000" fill="hold"/>
                                        <p:tgtEl>
                                          <p:spTgt spid="2">
                                            <p:txEl>
                                              <p:pRg st="14" end="14"/>
                                            </p:txEl>
                                          </p:spTgt>
                                        </p:tgtEl>
                                        <p:attrNameLst>
                                          <p:attrName>style.color</p:attrName>
                                        </p:attrNameLst>
                                      </p:cBhvr>
                                      <p:to>
                                        <a:srgbClr val="4D4D4D"/>
                                      </p:to>
                                    </p:animClr>
                                  </p:childTnLst>
                                </p:cTn>
                              </p:par>
                            </p:childTnLst>
                          </p:cTn>
                        </p:par>
                      </p:childTnLst>
                    </p:cTn>
                  </p:par>
                  <p:par>
                    <p:cTn id="95" fill="hold">
                      <p:stCondLst>
                        <p:cond delay="indefinite"/>
                      </p:stCondLst>
                      <p:childTnLst>
                        <p:par>
                          <p:cTn id="96" fill="hold">
                            <p:stCondLst>
                              <p:cond delay="0"/>
                            </p:stCondLst>
                            <p:childTnLst>
                              <p:par>
                                <p:cTn id="97" presetID="3" presetClass="emph" presetSubtype="2" fill="hold" grpId="0" nodeType="clickEffect">
                                  <p:stCondLst>
                                    <p:cond delay="0"/>
                                  </p:stCondLst>
                                  <p:childTnLst>
                                    <p:animClr clrSpc="rgb" dir="cw">
                                      <p:cBhvr override="childStyle">
                                        <p:cTn id="9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0" nodeType="withEffect">
                                  <p:stCondLst>
                                    <p:cond delay="0"/>
                                  </p:stCondLst>
                                  <p:childTnLst>
                                    <p:animClr clrSpc="rgb" dir="cw">
                                      <p:cBhvr override="childStyle">
                                        <p:cTn id="10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9"/>
                                            </p:cond>
                                          </p:stCondLst>
                                          <p:endCondLst>
                                            <p:cond evt="onStopAudio" delay="0">
                                              <p:tgtEl>
                                                <p:sldTgt/>
                                              </p:tgtEl>
                                            </p:cond>
                                          </p:endCondLst>
                                        </p:cTn>
                                        <p:tgtEl>
                                          <p:sndTgt r:embed="rId3" name="type.wav"/>
                                        </p:tgtEl>
                                      </p:cMediaNode>
                                    </p:audio>
                                  </p:subTnLst>
                                </p:cTn>
                              </p:par>
                              <p:par>
                                <p:cTn id="101" presetID="3" presetClass="emph" presetSubtype="2" fill="hold" grpId="1" nodeType="withEffect">
                                  <p:stCondLst>
                                    <p:cond delay="0"/>
                                  </p:stCondLst>
                                  <p:childTnLst>
                                    <p:animClr clrSpc="rgb" dir="cw">
                                      <p:cBhvr override="childStyle">
                                        <p:cTn id="102" dur="2000" fill="hold"/>
                                        <p:tgtEl>
                                          <p:spTgt spid="2">
                                            <p:txEl>
                                              <p:pRg st="11" end="11"/>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2" end="12"/>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6" end="6"/>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8" end="8"/>
                                            </p:txEl>
                                          </p:spTgt>
                                        </p:tgtEl>
                                        <p:attrNameLst>
                                          <p:attrName>style.color</p:attrName>
                                        </p:attrNameLst>
                                      </p:cBhvr>
                                      <p:to>
                                        <a:srgbClr val="4D4D4D"/>
                                      </p:to>
                                    </p:animClr>
                                  </p:childTnLst>
                                </p:cTn>
                              </p:par>
                              <p:par>
                                <p:cTn id="109" presetID="3" presetClass="emph" presetSubtype="2" fill="hold" grpId="1" nodeType="withEffect">
                                  <p:stCondLst>
                                    <p:cond delay="0"/>
                                  </p:stCondLst>
                                  <p:childTnLst>
                                    <p:animClr clrSpc="rgb" dir="cw">
                                      <p:cBhvr override="childStyle">
                                        <p:cTn id="110" dur="2000" fill="hold"/>
                                        <p:tgtEl>
                                          <p:spTgt spid="2">
                                            <p:txEl>
                                              <p:pRg st="9" end="9"/>
                                            </p:txEl>
                                          </p:spTgt>
                                        </p:tgtEl>
                                        <p:attrNameLst>
                                          <p:attrName>style.color</p:attrName>
                                        </p:attrNameLst>
                                      </p:cBhvr>
                                      <p:to>
                                        <a:srgbClr val="4D4D4D"/>
                                      </p:to>
                                    </p:animClr>
                                  </p:childTnLst>
                                </p:cTn>
                              </p:par>
                            </p:childTnLst>
                          </p:cTn>
                        </p:par>
                      </p:childTnLst>
                    </p:cTn>
                  </p:par>
                  <p:par>
                    <p:cTn id="111" fill="hold">
                      <p:stCondLst>
                        <p:cond delay="indefinite"/>
                      </p:stCondLst>
                      <p:childTnLst>
                        <p:par>
                          <p:cTn id="112" fill="hold">
                            <p:stCondLst>
                              <p:cond delay="0"/>
                            </p:stCondLst>
                            <p:childTnLst>
                              <p:par>
                                <p:cTn id="113" presetID="1" presetClass="exit" presetSubtype="0" fill="hold" grpId="2" nodeType="clickEffect">
                                  <p:stCondLst>
                                    <p:cond delay="0"/>
                                  </p:stCondLst>
                                  <p:childTnLst>
                                    <p:set>
                                      <p:cBhvr>
                                        <p:cTn id="11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126A1-02F1-F347-288D-28BC5BF55510}"/>
            </a:ext>
          </a:extLst>
        </p:cNvPr>
        <p:cNvGrpSpPr/>
        <p:nvPr/>
      </p:nvGrpSpPr>
      <p:grpSpPr>
        <a:xfrm>
          <a:off x="0" y="0"/>
          <a:ext cx="0" cy="0"/>
          <a:chOff x="0" y="0"/>
          <a:chExt cx="0" cy="0"/>
        </a:xfrm>
      </p:grpSpPr>
      <p:cxnSp>
        <p:nvCxnSpPr>
          <p:cNvPr id="5" name="直線單箭頭接點 4">
            <a:extLst>
              <a:ext uri="{FF2B5EF4-FFF2-40B4-BE49-F238E27FC236}">
                <a16:creationId xmlns:a16="http://schemas.microsoft.com/office/drawing/2014/main" id="{62EDBFA5-2A44-5440-03CB-F3F53B6A6B35}"/>
              </a:ext>
            </a:extLst>
          </p:cNvPr>
          <p:cNvCxnSpPr>
            <a:cxnSpLocks/>
            <a:stCxn id="49" idx="4"/>
          </p:cNvCxnSpPr>
          <p:nvPr/>
        </p:nvCxnSpPr>
        <p:spPr>
          <a:xfrm>
            <a:off x="6971756" y="3484958"/>
            <a:ext cx="1" cy="2624388"/>
          </a:xfrm>
          <a:prstGeom prst="straightConnector1">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 name="弧形 2">
            <a:extLst>
              <a:ext uri="{FF2B5EF4-FFF2-40B4-BE49-F238E27FC236}">
                <a16:creationId xmlns:a16="http://schemas.microsoft.com/office/drawing/2014/main" id="{B0EACAD2-EACE-7EAD-6327-F994C4B77DCA}"/>
              </a:ext>
            </a:extLst>
          </p:cNvPr>
          <p:cNvSpPr/>
          <p:nvPr/>
        </p:nvSpPr>
        <p:spPr>
          <a:xfrm>
            <a:off x="395536" y="464755"/>
            <a:ext cx="7234630" cy="4620429"/>
          </a:xfrm>
          <a:prstGeom prst="arc">
            <a:avLst>
              <a:gd name="adj1" fmla="val 10870574"/>
              <a:gd name="adj2" fmla="val 15871289"/>
            </a:avLst>
          </a:prstGeom>
          <a:solidFill>
            <a:schemeClr val="accent1">
              <a:lumMod val="20000"/>
              <a:lumOff val="80000"/>
              <a:alpha val="40000"/>
            </a:schemeClr>
          </a:solidFill>
          <a:ln w="2540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5" name="橢圓 54">
            <a:extLst>
              <a:ext uri="{FF2B5EF4-FFF2-40B4-BE49-F238E27FC236}">
                <a16:creationId xmlns:a16="http://schemas.microsoft.com/office/drawing/2014/main" id="{688BD111-2DDF-B746-8860-F912A8CEF030}"/>
              </a:ext>
            </a:extLst>
          </p:cNvPr>
          <p:cNvSpPr/>
          <p:nvPr/>
        </p:nvSpPr>
        <p:spPr>
          <a:xfrm>
            <a:off x="3419872" y="476672"/>
            <a:ext cx="510177" cy="31221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1">
                    <a:lumMod val="75000"/>
                  </a:schemeClr>
                </a:solidFill>
              </a:rPr>
              <a:t>AI</a:t>
            </a:r>
          </a:p>
        </p:txBody>
      </p:sp>
      <p:sp>
        <p:nvSpPr>
          <p:cNvPr id="4" name="標題 1">
            <a:extLst>
              <a:ext uri="{FF2B5EF4-FFF2-40B4-BE49-F238E27FC236}">
                <a16:creationId xmlns:a16="http://schemas.microsoft.com/office/drawing/2014/main" id="{F3C0B24B-F5D5-92E5-4D0E-BDB96CF7FF69}"/>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AI 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a:t>
            </a:r>
            <a:r>
              <a:rPr lang="zh-TW" altLang="en-US"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Net to GPT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6" name="弧形 15">
            <a:extLst>
              <a:ext uri="{FF2B5EF4-FFF2-40B4-BE49-F238E27FC236}">
                <a16:creationId xmlns:a16="http://schemas.microsoft.com/office/drawing/2014/main" id="{ACDDD3EB-6E5B-FDD2-8B83-DB1D621370B0}"/>
              </a:ext>
            </a:extLst>
          </p:cNvPr>
          <p:cNvSpPr/>
          <p:nvPr/>
        </p:nvSpPr>
        <p:spPr>
          <a:xfrm>
            <a:off x="1700869" y="1015589"/>
            <a:ext cx="3951251" cy="2766355"/>
          </a:xfrm>
          <a:prstGeom prst="arc">
            <a:avLst>
              <a:gd name="adj1" fmla="val 13642529"/>
              <a:gd name="adj2" fmla="val 16773794"/>
            </a:avLst>
          </a:prstGeom>
          <a:solidFill>
            <a:schemeClr val="accent1">
              <a:lumMod val="20000"/>
              <a:lumOff val="80000"/>
              <a:alpha val="40000"/>
            </a:schemeClr>
          </a:solidFill>
          <a:ln w="2540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7" name="橢圓 16">
            <a:extLst>
              <a:ext uri="{FF2B5EF4-FFF2-40B4-BE49-F238E27FC236}">
                <a16:creationId xmlns:a16="http://schemas.microsoft.com/office/drawing/2014/main" id="{A2CB1E7E-F83C-FCD1-4F8C-4B70A04A3D47}"/>
              </a:ext>
            </a:extLst>
          </p:cNvPr>
          <p:cNvSpPr/>
          <p:nvPr/>
        </p:nvSpPr>
        <p:spPr>
          <a:xfrm>
            <a:off x="3291707" y="1052736"/>
            <a:ext cx="1064269" cy="48229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Machine</a:t>
            </a:r>
          </a:p>
          <a:p>
            <a:pPr algn="ctr"/>
            <a:r>
              <a:rPr lang="en-US" altLang="zh-TW" sz="1400" dirty="0">
                <a:solidFill>
                  <a:schemeClr val="accent1">
                    <a:lumMod val="75000"/>
                  </a:schemeClr>
                </a:solidFill>
              </a:rPr>
              <a:t>Learning</a:t>
            </a:r>
          </a:p>
        </p:txBody>
      </p:sp>
      <p:sp>
        <p:nvSpPr>
          <p:cNvPr id="18" name="弧形 17">
            <a:extLst>
              <a:ext uri="{FF2B5EF4-FFF2-40B4-BE49-F238E27FC236}">
                <a16:creationId xmlns:a16="http://schemas.microsoft.com/office/drawing/2014/main" id="{66248DCA-90B0-B98B-E169-AAF9D0C38E2E}"/>
              </a:ext>
            </a:extLst>
          </p:cNvPr>
          <p:cNvSpPr/>
          <p:nvPr/>
        </p:nvSpPr>
        <p:spPr>
          <a:xfrm>
            <a:off x="2627784" y="1628800"/>
            <a:ext cx="2808312" cy="2187794"/>
          </a:xfrm>
          <a:prstGeom prst="arc">
            <a:avLst>
              <a:gd name="adj1" fmla="val 13613601"/>
              <a:gd name="adj2" fmla="val 16005168"/>
            </a:avLst>
          </a:prstGeom>
          <a:solidFill>
            <a:schemeClr val="accent1">
              <a:lumMod val="20000"/>
              <a:lumOff val="80000"/>
              <a:alpha val="40000"/>
            </a:schemeClr>
          </a:solidFill>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9" name="橢圓 18">
            <a:extLst>
              <a:ext uri="{FF2B5EF4-FFF2-40B4-BE49-F238E27FC236}">
                <a16:creationId xmlns:a16="http://schemas.microsoft.com/office/drawing/2014/main" id="{F788F574-3941-7B9E-A8B8-C66EE935CB95}"/>
              </a:ext>
            </a:extLst>
          </p:cNvPr>
          <p:cNvSpPr/>
          <p:nvPr/>
        </p:nvSpPr>
        <p:spPr>
          <a:xfrm>
            <a:off x="3611255" y="1700808"/>
            <a:ext cx="888737" cy="415998"/>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Deep</a:t>
            </a:r>
          </a:p>
          <a:p>
            <a:pPr algn="ctr"/>
            <a:r>
              <a:rPr lang="en-US" altLang="zh-TW" sz="1400" dirty="0">
                <a:solidFill>
                  <a:schemeClr val="accent1">
                    <a:lumMod val="75000"/>
                  </a:schemeClr>
                </a:solidFill>
              </a:rPr>
              <a:t>Learning</a:t>
            </a:r>
          </a:p>
        </p:txBody>
      </p:sp>
      <p:sp>
        <p:nvSpPr>
          <p:cNvPr id="20" name="橢圓 19">
            <a:extLst>
              <a:ext uri="{FF2B5EF4-FFF2-40B4-BE49-F238E27FC236}">
                <a16:creationId xmlns:a16="http://schemas.microsoft.com/office/drawing/2014/main" id="{F1B65FD7-F454-60B5-92EC-C4F040B42F50}"/>
              </a:ext>
            </a:extLst>
          </p:cNvPr>
          <p:cNvSpPr/>
          <p:nvPr/>
        </p:nvSpPr>
        <p:spPr>
          <a:xfrm>
            <a:off x="323528" y="2060848"/>
            <a:ext cx="960037" cy="940716"/>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accent1">
                    <a:lumMod val="75000"/>
                  </a:schemeClr>
                </a:solidFill>
              </a:rPr>
              <a:t>NLP</a:t>
            </a:r>
            <a:endParaRPr lang="en-US" altLang="zh-TW" sz="1400" b="1" dirty="0">
              <a:solidFill>
                <a:schemeClr val="accent1">
                  <a:lumMod val="60000"/>
                  <a:lumOff val="40000"/>
                </a:schemeClr>
              </a:solidFill>
            </a:endParaRPr>
          </a:p>
          <a:p>
            <a:pPr algn="ctr"/>
            <a:r>
              <a:rPr lang="en-US" altLang="zh-TW" sz="1200" dirty="0">
                <a:solidFill>
                  <a:schemeClr val="accent1">
                    <a:lumMod val="50000"/>
                  </a:schemeClr>
                </a:solidFill>
              </a:rPr>
              <a:t>National</a:t>
            </a:r>
            <a:br>
              <a:rPr lang="en-US" altLang="zh-TW" sz="1200" dirty="0">
                <a:solidFill>
                  <a:schemeClr val="accent1">
                    <a:lumMod val="50000"/>
                  </a:schemeClr>
                </a:solidFill>
              </a:rPr>
            </a:br>
            <a:r>
              <a:rPr lang="en-US" altLang="zh-TW" sz="1200" dirty="0">
                <a:solidFill>
                  <a:schemeClr val="accent1">
                    <a:lumMod val="50000"/>
                  </a:schemeClr>
                </a:solidFill>
              </a:rPr>
              <a:t>Language</a:t>
            </a:r>
          </a:p>
          <a:p>
            <a:pPr algn="ctr"/>
            <a:r>
              <a:rPr lang="en-US" altLang="zh-TW" sz="1200" dirty="0">
                <a:solidFill>
                  <a:schemeClr val="accent1">
                    <a:lumMod val="50000"/>
                  </a:schemeClr>
                </a:solidFill>
              </a:rPr>
              <a:t>Processing</a:t>
            </a:r>
            <a:endParaRPr lang="en-US" altLang="zh-TW" sz="1200" dirty="0">
              <a:solidFill>
                <a:schemeClr val="accent1">
                  <a:lumMod val="60000"/>
                  <a:lumOff val="40000"/>
                </a:schemeClr>
              </a:solidFill>
            </a:endParaRPr>
          </a:p>
        </p:txBody>
      </p:sp>
      <p:sp>
        <p:nvSpPr>
          <p:cNvPr id="27" name="橢圓 26">
            <a:extLst>
              <a:ext uri="{FF2B5EF4-FFF2-40B4-BE49-F238E27FC236}">
                <a16:creationId xmlns:a16="http://schemas.microsoft.com/office/drawing/2014/main" id="{6636C1C8-0BCD-6598-97A8-3879D86813E4}"/>
              </a:ext>
            </a:extLst>
          </p:cNvPr>
          <p:cNvSpPr/>
          <p:nvPr/>
        </p:nvSpPr>
        <p:spPr>
          <a:xfrm>
            <a:off x="2835082" y="2708920"/>
            <a:ext cx="656798" cy="41108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AlexNet</a:t>
            </a:r>
            <a:r>
              <a:rPr lang="en-US" altLang="zh-TW" sz="1400" dirty="0">
                <a:solidFill>
                  <a:schemeClr val="accent1">
                    <a:lumMod val="75000"/>
                  </a:schemeClr>
                </a:solidFill>
              </a:rPr>
              <a:t> </a:t>
            </a:r>
          </a:p>
          <a:p>
            <a:pPr algn="ctr"/>
            <a:r>
              <a:rPr lang="en-US" altLang="zh-TW" sz="1200" dirty="0">
                <a:solidFill>
                  <a:schemeClr val="accent1">
                    <a:lumMod val="75000"/>
                  </a:schemeClr>
                </a:solidFill>
              </a:rPr>
              <a:t>2012</a:t>
            </a:r>
            <a:endParaRPr lang="en-US" altLang="zh-TW" sz="1200" dirty="0">
              <a:solidFill>
                <a:schemeClr val="accent1">
                  <a:lumMod val="60000"/>
                  <a:lumOff val="40000"/>
                </a:schemeClr>
              </a:solidFill>
            </a:endParaRPr>
          </a:p>
        </p:txBody>
      </p:sp>
      <p:sp>
        <p:nvSpPr>
          <p:cNvPr id="32" name="橢圓 31">
            <a:extLst>
              <a:ext uri="{FF2B5EF4-FFF2-40B4-BE49-F238E27FC236}">
                <a16:creationId xmlns:a16="http://schemas.microsoft.com/office/drawing/2014/main" id="{7FD4822E-C665-A011-2834-6B8D3D8BCC7A}"/>
              </a:ext>
            </a:extLst>
          </p:cNvPr>
          <p:cNvSpPr/>
          <p:nvPr/>
        </p:nvSpPr>
        <p:spPr>
          <a:xfrm>
            <a:off x="2411760" y="1628800"/>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RNN</a:t>
            </a:r>
          </a:p>
          <a:p>
            <a:pPr algn="ctr"/>
            <a:r>
              <a:rPr lang="en-US" altLang="zh-TW" sz="1200" dirty="0">
                <a:solidFill>
                  <a:schemeClr val="accent1">
                    <a:lumMod val="75000"/>
                  </a:schemeClr>
                </a:solidFill>
              </a:rPr>
              <a:t>1986</a:t>
            </a:r>
          </a:p>
        </p:txBody>
      </p:sp>
      <p:cxnSp>
        <p:nvCxnSpPr>
          <p:cNvPr id="35" name="直線單箭頭接點 34">
            <a:extLst>
              <a:ext uri="{FF2B5EF4-FFF2-40B4-BE49-F238E27FC236}">
                <a16:creationId xmlns:a16="http://schemas.microsoft.com/office/drawing/2014/main" id="{2822DF33-09AD-26A2-D99E-6B74FFEA8614}"/>
              </a:ext>
            </a:extLst>
          </p:cNvPr>
          <p:cNvCxnSpPr>
            <a:cxnSpLocks/>
            <a:stCxn id="32" idx="5"/>
            <a:endCxn id="31" idx="1"/>
          </p:cNvCxnSpPr>
          <p:nvPr/>
        </p:nvCxnSpPr>
        <p:spPr>
          <a:xfrm>
            <a:off x="2972372" y="1942993"/>
            <a:ext cx="318936" cy="3157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橢圓 28">
            <a:extLst>
              <a:ext uri="{FF2B5EF4-FFF2-40B4-BE49-F238E27FC236}">
                <a16:creationId xmlns:a16="http://schemas.microsoft.com/office/drawing/2014/main" id="{67B4D336-0B82-DAF1-E3D4-FC3B408C96C2}"/>
              </a:ext>
            </a:extLst>
          </p:cNvPr>
          <p:cNvSpPr/>
          <p:nvPr/>
        </p:nvSpPr>
        <p:spPr>
          <a:xfrm>
            <a:off x="2267744" y="2060848"/>
            <a:ext cx="656798" cy="3680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CNN</a:t>
            </a:r>
          </a:p>
          <a:p>
            <a:pPr algn="ctr"/>
            <a:r>
              <a:rPr lang="en-US" altLang="zh-TW" sz="1200" dirty="0">
                <a:solidFill>
                  <a:schemeClr val="accent1">
                    <a:lumMod val="75000"/>
                  </a:schemeClr>
                </a:solidFill>
              </a:rPr>
              <a:t>1989</a:t>
            </a:r>
          </a:p>
        </p:txBody>
      </p:sp>
      <p:sp>
        <p:nvSpPr>
          <p:cNvPr id="31" name="橢圓 30">
            <a:extLst>
              <a:ext uri="{FF2B5EF4-FFF2-40B4-BE49-F238E27FC236}">
                <a16:creationId xmlns:a16="http://schemas.microsoft.com/office/drawing/2014/main" id="{D224C8F1-A0C9-E9F0-31CD-151D3E8FF509}"/>
              </a:ext>
            </a:extLst>
          </p:cNvPr>
          <p:cNvSpPr/>
          <p:nvPr/>
        </p:nvSpPr>
        <p:spPr>
          <a:xfrm>
            <a:off x="3195122" y="2204864"/>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LSTM </a:t>
            </a:r>
          </a:p>
          <a:p>
            <a:pPr algn="ctr"/>
            <a:r>
              <a:rPr lang="en-US" altLang="zh-TW" sz="1200" dirty="0">
                <a:solidFill>
                  <a:schemeClr val="accent1">
                    <a:lumMod val="75000"/>
                  </a:schemeClr>
                </a:solidFill>
              </a:rPr>
              <a:t>1997</a:t>
            </a:r>
          </a:p>
        </p:txBody>
      </p:sp>
      <p:cxnSp>
        <p:nvCxnSpPr>
          <p:cNvPr id="42" name="直線單箭頭接點 41">
            <a:extLst>
              <a:ext uri="{FF2B5EF4-FFF2-40B4-BE49-F238E27FC236}">
                <a16:creationId xmlns:a16="http://schemas.microsoft.com/office/drawing/2014/main" id="{4FE0547C-77D3-23B5-3142-3037BF8F464C}"/>
              </a:ext>
            </a:extLst>
          </p:cNvPr>
          <p:cNvCxnSpPr>
            <a:cxnSpLocks/>
            <a:stCxn id="29" idx="4"/>
            <a:endCxn id="27" idx="1"/>
          </p:cNvCxnSpPr>
          <p:nvPr/>
        </p:nvCxnSpPr>
        <p:spPr>
          <a:xfrm>
            <a:off x="2596143" y="2428947"/>
            <a:ext cx="335125" cy="340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橢圓 44">
            <a:extLst>
              <a:ext uri="{FF2B5EF4-FFF2-40B4-BE49-F238E27FC236}">
                <a16:creationId xmlns:a16="http://schemas.microsoft.com/office/drawing/2014/main" id="{23A7F22D-A17D-4283-E9B4-9CD024193619}"/>
              </a:ext>
            </a:extLst>
          </p:cNvPr>
          <p:cNvSpPr/>
          <p:nvPr/>
        </p:nvSpPr>
        <p:spPr>
          <a:xfrm>
            <a:off x="2987824" y="3212976"/>
            <a:ext cx="656798" cy="38323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GAN</a:t>
            </a:r>
            <a:endParaRPr lang="en-US" altLang="zh-TW" sz="1400" dirty="0">
              <a:solidFill>
                <a:schemeClr val="accent1">
                  <a:lumMod val="75000"/>
                </a:schemeClr>
              </a:solidFill>
            </a:endParaRPr>
          </a:p>
          <a:p>
            <a:pPr algn="ctr"/>
            <a:r>
              <a:rPr lang="en-US" altLang="zh-TW" sz="1200" dirty="0">
                <a:solidFill>
                  <a:schemeClr val="accent1">
                    <a:lumMod val="75000"/>
                  </a:schemeClr>
                </a:solidFill>
              </a:rPr>
              <a:t>2014</a:t>
            </a:r>
            <a:endParaRPr lang="en-US" altLang="zh-TW" sz="1200" dirty="0">
              <a:solidFill>
                <a:schemeClr val="accent1">
                  <a:lumMod val="60000"/>
                  <a:lumOff val="40000"/>
                </a:schemeClr>
              </a:solidFill>
            </a:endParaRPr>
          </a:p>
        </p:txBody>
      </p:sp>
      <p:sp>
        <p:nvSpPr>
          <p:cNvPr id="46" name="橢圓 45">
            <a:extLst>
              <a:ext uri="{FF2B5EF4-FFF2-40B4-BE49-F238E27FC236}">
                <a16:creationId xmlns:a16="http://schemas.microsoft.com/office/drawing/2014/main" id="{EDD51603-7180-4DDA-8B5E-6F495E8DE923}"/>
              </a:ext>
            </a:extLst>
          </p:cNvPr>
          <p:cNvSpPr/>
          <p:nvPr/>
        </p:nvSpPr>
        <p:spPr>
          <a:xfrm>
            <a:off x="4283968" y="3140968"/>
            <a:ext cx="656798" cy="42433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YOLO</a:t>
            </a:r>
            <a:endParaRPr lang="en-US" altLang="zh-TW" sz="1400" dirty="0">
              <a:solidFill>
                <a:schemeClr val="bg1">
                  <a:lumMod val="50000"/>
                </a:schemeClr>
              </a:solidFill>
            </a:endParaRPr>
          </a:p>
          <a:p>
            <a:pPr algn="ctr"/>
            <a:r>
              <a:rPr lang="en-US" altLang="zh-TW" sz="1200" dirty="0">
                <a:solidFill>
                  <a:schemeClr val="bg1">
                    <a:lumMod val="50000"/>
                  </a:schemeClr>
                </a:solidFill>
              </a:rPr>
              <a:t>2015</a:t>
            </a:r>
          </a:p>
        </p:txBody>
      </p:sp>
      <p:cxnSp>
        <p:nvCxnSpPr>
          <p:cNvPr id="47" name="直線單箭頭接點 46">
            <a:extLst>
              <a:ext uri="{FF2B5EF4-FFF2-40B4-BE49-F238E27FC236}">
                <a16:creationId xmlns:a16="http://schemas.microsoft.com/office/drawing/2014/main" id="{7954B6A0-480B-D09F-D4C4-751758C782EE}"/>
              </a:ext>
            </a:extLst>
          </p:cNvPr>
          <p:cNvCxnSpPr>
            <a:cxnSpLocks/>
            <a:stCxn id="27" idx="4"/>
            <a:endCxn id="45" idx="0"/>
          </p:cNvCxnSpPr>
          <p:nvPr/>
        </p:nvCxnSpPr>
        <p:spPr>
          <a:xfrm>
            <a:off x="3163481" y="3120002"/>
            <a:ext cx="152742" cy="9297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CF1B60DB-4632-E8F5-6472-27FA3F59F177}"/>
              </a:ext>
            </a:extLst>
          </p:cNvPr>
          <p:cNvSpPr/>
          <p:nvPr/>
        </p:nvSpPr>
        <p:spPr>
          <a:xfrm>
            <a:off x="2123728" y="3717032"/>
            <a:ext cx="656798" cy="52264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Transformer</a:t>
            </a:r>
            <a:endParaRPr lang="en-US" altLang="zh-TW" sz="1400" b="1" dirty="0">
              <a:solidFill>
                <a:schemeClr val="accent1">
                  <a:lumMod val="75000"/>
                </a:schemeClr>
              </a:solidFill>
            </a:endParaRPr>
          </a:p>
          <a:p>
            <a:pPr algn="ctr"/>
            <a:r>
              <a:rPr lang="en-US" altLang="zh-TW" sz="1200" dirty="0">
                <a:solidFill>
                  <a:schemeClr val="accent1">
                    <a:lumMod val="75000"/>
                  </a:schemeClr>
                </a:solidFill>
              </a:rPr>
              <a:t>2017</a:t>
            </a:r>
            <a:endParaRPr lang="en-US" altLang="zh-TW" sz="1200" dirty="0">
              <a:solidFill>
                <a:schemeClr val="accent1">
                  <a:lumMod val="60000"/>
                  <a:lumOff val="40000"/>
                </a:schemeClr>
              </a:solidFill>
            </a:endParaRPr>
          </a:p>
        </p:txBody>
      </p:sp>
      <p:cxnSp>
        <p:nvCxnSpPr>
          <p:cNvPr id="57" name="直線單箭頭接點 56">
            <a:extLst>
              <a:ext uri="{FF2B5EF4-FFF2-40B4-BE49-F238E27FC236}">
                <a16:creationId xmlns:a16="http://schemas.microsoft.com/office/drawing/2014/main" id="{517B03F3-230A-866F-1C73-0D429D3F105A}"/>
              </a:ext>
            </a:extLst>
          </p:cNvPr>
          <p:cNvCxnSpPr>
            <a:cxnSpLocks/>
            <a:stCxn id="45" idx="3"/>
            <a:endCxn id="53" idx="7"/>
          </p:cNvCxnSpPr>
          <p:nvPr/>
        </p:nvCxnSpPr>
        <p:spPr>
          <a:xfrm flipH="1">
            <a:off x="2684340" y="3540090"/>
            <a:ext cx="399670" cy="2534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直線單箭頭接點 60">
            <a:extLst>
              <a:ext uri="{FF2B5EF4-FFF2-40B4-BE49-F238E27FC236}">
                <a16:creationId xmlns:a16="http://schemas.microsoft.com/office/drawing/2014/main" id="{B7F966EA-ED97-9F5D-8AAB-08104D4E87E3}"/>
              </a:ext>
            </a:extLst>
          </p:cNvPr>
          <p:cNvCxnSpPr>
            <a:cxnSpLocks/>
            <a:stCxn id="28" idx="5"/>
            <a:endCxn id="53" idx="1"/>
          </p:cNvCxnSpPr>
          <p:nvPr/>
        </p:nvCxnSpPr>
        <p:spPr>
          <a:xfrm>
            <a:off x="1676228" y="3277909"/>
            <a:ext cx="543686" cy="51566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橢圓 27">
            <a:extLst>
              <a:ext uri="{FF2B5EF4-FFF2-40B4-BE49-F238E27FC236}">
                <a16:creationId xmlns:a16="http://schemas.microsoft.com/office/drawing/2014/main" id="{78FD10E7-A8CA-94D6-86E8-F3B2E92E3BBA}"/>
              </a:ext>
            </a:extLst>
          </p:cNvPr>
          <p:cNvSpPr/>
          <p:nvPr/>
        </p:nvSpPr>
        <p:spPr>
          <a:xfrm>
            <a:off x="1115616" y="2816981"/>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W2V</a:t>
            </a:r>
            <a:r>
              <a:rPr lang="en-US" altLang="zh-TW" sz="1400" b="1" dirty="0">
                <a:solidFill>
                  <a:schemeClr val="accent1">
                    <a:lumMod val="75000"/>
                  </a:schemeClr>
                </a:solidFill>
              </a:rPr>
              <a:t> </a:t>
            </a:r>
          </a:p>
          <a:p>
            <a:pPr algn="ctr"/>
            <a:r>
              <a:rPr lang="en-US" altLang="zh-TW" sz="1200" dirty="0">
                <a:solidFill>
                  <a:schemeClr val="accent1">
                    <a:lumMod val="75000"/>
                  </a:schemeClr>
                </a:solidFill>
              </a:rPr>
              <a:t>2013</a:t>
            </a:r>
            <a:endParaRPr lang="en-US" altLang="zh-TW" sz="1200" dirty="0">
              <a:solidFill>
                <a:schemeClr val="accent1">
                  <a:lumMod val="60000"/>
                  <a:lumOff val="40000"/>
                </a:schemeClr>
              </a:solidFill>
            </a:endParaRPr>
          </a:p>
        </p:txBody>
      </p:sp>
      <p:sp>
        <p:nvSpPr>
          <p:cNvPr id="69" name="橢圓 68">
            <a:extLst>
              <a:ext uri="{FF2B5EF4-FFF2-40B4-BE49-F238E27FC236}">
                <a16:creationId xmlns:a16="http://schemas.microsoft.com/office/drawing/2014/main" id="{53EB0D3E-BB02-AACD-9DA6-CA706133E5B8}"/>
              </a:ext>
            </a:extLst>
          </p:cNvPr>
          <p:cNvSpPr/>
          <p:nvPr/>
        </p:nvSpPr>
        <p:spPr>
          <a:xfrm>
            <a:off x="2763074" y="4005064"/>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50000"/>
                  </a:schemeClr>
                </a:solidFill>
              </a:rPr>
              <a:t>GPT</a:t>
            </a:r>
          </a:p>
          <a:p>
            <a:pPr algn="ctr"/>
            <a:r>
              <a:rPr lang="en-US" altLang="zh-TW" sz="1200" dirty="0">
                <a:solidFill>
                  <a:schemeClr val="accent1">
                    <a:lumMod val="50000"/>
                  </a:schemeClr>
                </a:solidFill>
              </a:rPr>
              <a:t>2018</a:t>
            </a:r>
            <a:endParaRPr lang="en-US" altLang="zh-TW" sz="1400" dirty="0">
              <a:solidFill>
                <a:schemeClr val="accent1">
                  <a:lumMod val="50000"/>
                </a:schemeClr>
              </a:solidFill>
            </a:endParaRPr>
          </a:p>
        </p:txBody>
      </p:sp>
      <p:sp>
        <p:nvSpPr>
          <p:cNvPr id="70" name="橢圓 69">
            <a:extLst>
              <a:ext uri="{FF2B5EF4-FFF2-40B4-BE49-F238E27FC236}">
                <a16:creationId xmlns:a16="http://schemas.microsoft.com/office/drawing/2014/main" id="{13B017A9-E177-3B73-0516-12643EAE822D}"/>
              </a:ext>
            </a:extLst>
          </p:cNvPr>
          <p:cNvSpPr/>
          <p:nvPr/>
        </p:nvSpPr>
        <p:spPr>
          <a:xfrm>
            <a:off x="3291308" y="4293095"/>
            <a:ext cx="776636" cy="582733"/>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Prompt</a:t>
            </a:r>
          </a:p>
          <a:p>
            <a:pPr algn="ctr"/>
            <a:r>
              <a:rPr lang="en-US" altLang="zh-TW" sz="1200" dirty="0">
                <a:solidFill>
                  <a:schemeClr val="accent1">
                    <a:lumMod val="75000"/>
                  </a:schemeClr>
                </a:solidFill>
              </a:rPr>
              <a:t>Engineering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1" name="橢圓 70">
            <a:extLst>
              <a:ext uri="{FF2B5EF4-FFF2-40B4-BE49-F238E27FC236}">
                <a16:creationId xmlns:a16="http://schemas.microsoft.com/office/drawing/2014/main" id="{5CCBDB32-EE61-52D5-FD33-39D2677542F9}"/>
              </a:ext>
            </a:extLst>
          </p:cNvPr>
          <p:cNvSpPr/>
          <p:nvPr/>
        </p:nvSpPr>
        <p:spPr>
          <a:xfrm>
            <a:off x="3491880" y="4925951"/>
            <a:ext cx="656798" cy="44726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RLHF</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2" name="橢圓 71">
            <a:extLst>
              <a:ext uri="{FF2B5EF4-FFF2-40B4-BE49-F238E27FC236}">
                <a16:creationId xmlns:a16="http://schemas.microsoft.com/office/drawing/2014/main" id="{F615D842-CCAD-2FFF-A6A4-FF18E913987C}"/>
              </a:ext>
            </a:extLst>
          </p:cNvPr>
          <p:cNvSpPr/>
          <p:nvPr/>
        </p:nvSpPr>
        <p:spPr>
          <a:xfrm>
            <a:off x="4036289" y="5690942"/>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Agent</a:t>
            </a:r>
          </a:p>
          <a:p>
            <a:pPr algn="ctr"/>
            <a:r>
              <a:rPr lang="en-US" altLang="zh-TW" sz="1200" dirty="0">
                <a:solidFill>
                  <a:schemeClr val="accent1">
                    <a:lumMod val="75000"/>
                  </a:schemeClr>
                </a:solidFill>
              </a:rPr>
              <a:t>2025</a:t>
            </a:r>
            <a:endParaRPr lang="en-US" altLang="zh-TW" sz="1400" dirty="0">
              <a:solidFill>
                <a:schemeClr val="accent1">
                  <a:lumMod val="75000"/>
                </a:schemeClr>
              </a:solidFill>
            </a:endParaRPr>
          </a:p>
        </p:txBody>
      </p:sp>
      <p:sp>
        <p:nvSpPr>
          <p:cNvPr id="73" name="橢圓 72">
            <a:extLst>
              <a:ext uri="{FF2B5EF4-FFF2-40B4-BE49-F238E27FC236}">
                <a16:creationId xmlns:a16="http://schemas.microsoft.com/office/drawing/2014/main" id="{CF2BB02C-F74B-DE1A-5A0E-3FDF9DB4EEDC}"/>
              </a:ext>
            </a:extLst>
          </p:cNvPr>
          <p:cNvSpPr/>
          <p:nvPr/>
        </p:nvSpPr>
        <p:spPr>
          <a:xfrm>
            <a:off x="2314789" y="5224367"/>
            <a:ext cx="553162" cy="41925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accent1">
                    <a:lumMod val="75000"/>
                  </a:schemeClr>
                </a:solidFill>
              </a:rPr>
              <a:t>Residual</a:t>
            </a:r>
          </a:p>
          <a:p>
            <a:pPr algn="ctr"/>
            <a:r>
              <a:rPr lang="en-US" altLang="zh-TW" sz="1000" dirty="0">
                <a:solidFill>
                  <a:schemeClr val="accent1">
                    <a:lumMod val="75000"/>
                  </a:schemeClr>
                </a:solidFill>
              </a:rPr>
              <a:t>Attention</a:t>
            </a:r>
          </a:p>
        </p:txBody>
      </p:sp>
      <p:sp>
        <p:nvSpPr>
          <p:cNvPr id="74" name="橢圓 73">
            <a:extLst>
              <a:ext uri="{FF2B5EF4-FFF2-40B4-BE49-F238E27FC236}">
                <a16:creationId xmlns:a16="http://schemas.microsoft.com/office/drawing/2014/main" id="{57119CD3-D4DB-4F0A-30DC-D5D98DAF3979}"/>
              </a:ext>
            </a:extLst>
          </p:cNvPr>
          <p:cNvSpPr/>
          <p:nvPr/>
        </p:nvSpPr>
        <p:spPr>
          <a:xfrm>
            <a:off x="2691066" y="4925952"/>
            <a:ext cx="656798" cy="45792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CoT</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5" name="橢圓 74">
            <a:extLst>
              <a:ext uri="{FF2B5EF4-FFF2-40B4-BE49-F238E27FC236}">
                <a16:creationId xmlns:a16="http://schemas.microsoft.com/office/drawing/2014/main" id="{FA6DE636-18CD-088B-97EE-736C4A10D20E}"/>
              </a:ext>
            </a:extLst>
          </p:cNvPr>
          <p:cNvSpPr/>
          <p:nvPr/>
        </p:nvSpPr>
        <p:spPr>
          <a:xfrm>
            <a:off x="4203233" y="4293096"/>
            <a:ext cx="772879" cy="57107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RAG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7" name="橢圓 76">
            <a:extLst>
              <a:ext uri="{FF2B5EF4-FFF2-40B4-BE49-F238E27FC236}">
                <a16:creationId xmlns:a16="http://schemas.microsoft.com/office/drawing/2014/main" id="{9812BA0A-6DF8-071B-0E40-684C0C9BED87}"/>
              </a:ext>
            </a:extLst>
          </p:cNvPr>
          <p:cNvSpPr/>
          <p:nvPr/>
        </p:nvSpPr>
        <p:spPr>
          <a:xfrm>
            <a:off x="3347864" y="5870913"/>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BitNet</a:t>
            </a:r>
          </a:p>
          <a:p>
            <a:pPr algn="ctr"/>
            <a:r>
              <a:rPr lang="en-US" altLang="zh-TW" sz="1200" dirty="0">
                <a:solidFill>
                  <a:schemeClr val="accent1">
                    <a:lumMod val="75000"/>
                  </a:schemeClr>
                </a:solidFill>
              </a:rPr>
              <a:t>2026</a:t>
            </a:r>
          </a:p>
        </p:txBody>
      </p:sp>
      <p:sp>
        <p:nvSpPr>
          <p:cNvPr id="78" name="橢圓 77">
            <a:extLst>
              <a:ext uri="{FF2B5EF4-FFF2-40B4-BE49-F238E27FC236}">
                <a16:creationId xmlns:a16="http://schemas.microsoft.com/office/drawing/2014/main" id="{9EEA7389-3356-B0ED-D248-ED5B5DD6A6C3}"/>
              </a:ext>
            </a:extLst>
          </p:cNvPr>
          <p:cNvSpPr/>
          <p:nvPr/>
        </p:nvSpPr>
        <p:spPr>
          <a:xfrm>
            <a:off x="3563888" y="3429000"/>
            <a:ext cx="656798" cy="44518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50000"/>
                  </a:schemeClr>
                </a:solidFill>
              </a:rPr>
              <a:t>Distillation</a:t>
            </a:r>
          </a:p>
          <a:p>
            <a:pPr algn="ctr"/>
            <a:r>
              <a:rPr lang="en-US" altLang="zh-TW" sz="1200" dirty="0">
                <a:solidFill>
                  <a:schemeClr val="accent1">
                    <a:lumMod val="50000"/>
                  </a:schemeClr>
                </a:solidFill>
              </a:rPr>
              <a:t>2015</a:t>
            </a:r>
          </a:p>
        </p:txBody>
      </p:sp>
      <p:sp>
        <p:nvSpPr>
          <p:cNvPr id="2" name="橢圓 1">
            <a:extLst>
              <a:ext uri="{FF2B5EF4-FFF2-40B4-BE49-F238E27FC236}">
                <a16:creationId xmlns:a16="http://schemas.microsoft.com/office/drawing/2014/main" id="{05E6C56B-B3C2-604A-611A-26E498B1AF98}"/>
              </a:ext>
            </a:extLst>
          </p:cNvPr>
          <p:cNvSpPr/>
          <p:nvPr/>
        </p:nvSpPr>
        <p:spPr>
          <a:xfrm>
            <a:off x="4491266" y="3861048"/>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BERT</a:t>
            </a:r>
          </a:p>
          <a:p>
            <a:pPr algn="ctr"/>
            <a:r>
              <a:rPr lang="en-US" altLang="zh-TW" sz="1200" dirty="0">
                <a:solidFill>
                  <a:schemeClr val="bg1">
                    <a:lumMod val="50000"/>
                  </a:schemeClr>
                </a:solidFill>
              </a:rPr>
              <a:t>2018</a:t>
            </a:r>
            <a:endParaRPr lang="en-US" altLang="zh-TW" sz="1400" dirty="0">
              <a:solidFill>
                <a:schemeClr val="bg1">
                  <a:lumMod val="50000"/>
                </a:schemeClr>
              </a:solidFill>
            </a:endParaRPr>
          </a:p>
        </p:txBody>
      </p:sp>
      <p:sp>
        <p:nvSpPr>
          <p:cNvPr id="10" name="橢圓 9">
            <a:extLst>
              <a:ext uri="{FF2B5EF4-FFF2-40B4-BE49-F238E27FC236}">
                <a16:creationId xmlns:a16="http://schemas.microsoft.com/office/drawing/2014/main" id="{73E5CACF-736F-B80F-1AB4-2C317D116CF1}"/>
              </a:ext>
            </a:extLst>
          </p:cNvPr>
          <p:cNvSpPr/>
          <p:nvPr/>
        </p:nvSpPr>
        <p:spPr>
          <a:xfrm>
            <a:off x="6491193" y="6325370"/>
            <a:ext cx="961127" cy="415998"/>
          </a:xfrm>
          <a:prstGeom prst="ellipse">
            <a:avLst/>
          </a:prstGeom>
          <a:solidFill>
            <a:schemeClr val="bg1">
              <a:lumMod val="95000"/>
              <a:alpha val="20000"/>
            </a:schemeClr>
          </a:solid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3">
                    <a:lumMod val="50000"/>
                  </a:schemeClr>
                </a:solidFill>
              </a:rPr>
              <a:t>Alignment</a:t>
            </a:r>
          </a:p>
          <a:p>
            <a:pPr algn="ctr"/>
            <a:r>
              <a:rPr lang="en-US" altLang="zh-TW" sz="1200" b="1" dirty="0">
                <a:solidFill>
                  <a:schemeClr val="accent3">
                    <a:lumMod val="50000"/>
                  </a:schemeClr>
                </a:solidFill>
              </a:rPr>
              <a:t>Techniques</a:t>
            </a:r>
          </a:p>
        </p:txBody>
      </p:sp>
      <p:sp>
        <p:nvSpPr>
          <p:cNvPr id="15" name="矩形 14">
            <a:extLst>
              <a:ext uri="{FF2B5EF4-FFF2-40B4-BE49-F238E27FC236}">
                <a16:creationId xmlns:a16="http://schemas.microsoft.com/office/drawing/2014/main" id="{474650E2-4535-1030-98C5-CC65FFC9F43A}"/>
              </a:ext>
            </a:extLst>
          </p:cNvPr>
          <p:cNvSpPr/>
          <p:nvPr/>
        </p:nvSpPr>
        <p:spPr>
          <a:xfrm>
            <a:off x="6762898" y="5805264"/>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2025</a:t>
            </a:r>
            <a:endParaRPr lang="zh-TW" altLang="en-US" sz="1200" dirty="0">
              <a:solidFill>
                <a:schemeClr val="accent3">
                  <a:lumMod val="50000"/>
                </a:schemeClr>
              </a:solidFill>
            </a:endParaRPr>
          </a:p>
        </p:txBody>
      </p:sp>
      <p:sp>
        <p:nvSpPr>
          <p:cNvPr id="24" name="矩形 23">
            <a:extLst>
              <a:ext uri="{FF2B5EF4-FFF2-40B4-BE49-F238E27FC236}">
                <a16:creationId xmlns:a16="http://schemas.microsoft.com/office/drawing/2014/main" id="{9A7A59CB-B28B-7F8B-A990-B54BB64A4902}"/>
              </a:ext>
            </a:extLst>
          </p:cNvPr>
          <p:cNvSpPr/>
          <p:nvPr/>
        </p:nvSpPr>
        <p:spPr>
          <a:xfrm>
            <a:off x="6762898" y="5532449"/>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2024</a:t>
            </a:r>
            <a:endParaRPr lang="zh-TW" altLang="en-US" sz="1200" dirty="0">
              <a:solidFill>
                <a:schemeClr val="accent3">
                  <a:lumMod val="50000"/>
                </a:schemeClr>
              </a:solidFill>
            </a:endParaRPr>
          </a:p>
        </p:txBody>
      </p:sp>
      <p:sp>
        <p:nvSpPr>
          <p:cNvPr id="25" name="矩形 24">
            <a:extLst>
              <a:ext uri="{FF2B5EF4-FFF2-40B4-BE49-F238E27FC236}">
                <a16:creationId xmlns:a16="http://schemas.microsoft.com/office/drawing/2014/main" id="{4637C08C-012C-6C53-9031-6B467BECEAB7}"/>
              </a:ext>
            </a:extLst>
          </p:cNvPr>
          <p:cNvSpPr/>
          <p:nvPr/>
        </p:nvSpPr>
        <p:spPr>
          <a:xfrm>
            <a:off x="6769285" y="5100401"/>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2023</a:t>
            </a:r>
            <a:endParaRPr lang="zh-TW" altLang="en-US" sz="1200" dirty="0">
              <a:solidFill>
                <a:schemeClr val="accent3">
                  <a:lumMod val="50000"/>
                </a:schemeClr>
              </a:solidFill>
            </a:endParaRPr>
          </a:p>
        </p:txBody>
      </p:sp>
      <p:sp>
        <p:nvSpPr>
          <p:cNvPr id="26" name="矩形 25">
            <a:extLst>
              <a:ext uri="{FF2B5EF4-FFF2-40B4-BE49-F238E27FC236}">
                <a16:creationId xmlns:a16="http://schemas.microsoft.com/office/drawing/2014/main" id="{6E5501F7-E2D6-8F9A-5939-28072444C1BE}"/>
              </a:ext>
            </a:extLst>
          </p:cNvPr>
          <p:cNvSpPr/>
          <p:nvPr/>
        </p:nvSpPr>
        <p:spPr>
          <a:xfrm>
            <a:off x="6770902" y="4581128"/>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2022</a:t>
            </a:r>
            <a:endParaRPr lang="zh-TW" altLang="en-US" sz="1200" dirty="0">
              <a:solidFill>
                <a:schemeClr val="accent3">
                  <a:lumMod val="50000"/>
                </a:schemeClr>
              </a:solidFill>
            </a:endParaRPr>
          </a:p>
        </p:txBody>
      </p:sp>
      <p:sp>
        <p:nvSpPr>
          <p:cNvPr id="30" name="矩形 29">
            <a:extLst>
              <a:ext uri="{FF2B5EF4-FFF2-40B4-BE49-F238E27FC236}">
                <a16:creationId xmlns:a16="http://schemas.microsoft.com/office/drawing/2014/main" id="{50262CF7-83DE-D038-68A3-36B8D77476DF}"/>
              </a:ext>
            </a:extLst>
          </p:cNvPr>
          <p:cNvSpPr/>
          <p:nvPr/>
        </p:nvSpPr>
        <p:spPr>
          <a:xfrm>
            <a:off x="6770902" y="4149080"/>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2021</a:t>
            </a:r>
            <a:endParaRPr lang="zh-TW" altLang="en-US" sz="1200" dirty="0">
              <a:solidFill>
                <a:schemeClr val="accent3">
                  <a:lumMod val="50000"/>
                </a:schemeClr>
              </a:solidFill>
            </a:endParaRPr>
          </a:p>
        </p:txBody>
      </p:sp>
      <p:sp>
        <p:nvSpPr>
          <p:cNvPr id="33" name="矩形 32">
            <a:extLst>
              <a:ext uri="{FF2B5EF4-FFF2-40B4-BE49-F238E27FC236}">
                <a16:creationId xmlns:a16="http://schemas.microsoft.com/office/drawing/2014/main" id="{4C8456F1-A916-227B-27FC-5C648603A96B}"/>
              </a:ext>
            </a:extLst>
          </p:cNvPr>
          <p:cNvSpPr/>
          <p:nvPr/>
        </p:nvSpPr>
        <p:spPr>
          <a:xfrm>
            <a:off x="6777289" y="3933056"/>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2020</a:t>
            </a:r>
            <a:endParaRPr lang="zh-TW" altLang="en-US" sz="1200" dirty="0">
              <a:solidFill>
                <a:schemeClr val="accent3">
                  <a:lumMod val="50000"/>
                </a:schemeClr>
              </a:solidFill>
            </a:endParaRPr>
          </a:p>
        </p:txBody>
      </p:sp>
      <p:sp>
        <p:nvSpPr>
          <p:cNvPr id="56" name="橢圓 55">
            <a:extLst>
              <a:ext uri="{FF2B5EF4-FFF2-40B4-BE49-F238E27FC236}">
                <a16:creationId xmlns:a16="http://schemas.microsoft.com/office/drawing/2014/main" id="{24CB8346-8DB8-F1D9-F3D1-714105784FC3}"/>
              </a:ext>
            </a:extLst>
          </p:cNvPr>
          <p:cNvSpPr/>
          <p:nvPr/>
        </p:nvSpPr>
        <p:spPr>
          <a:xfrm>
            <a:off x="474770" y="3267305"/>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b="1" dirty="0">
                <a:solidFill>
                  <a:schemeClr val="accent1">
                    <a:lumMod val="60000"/>
                    <a:lumOff val="40000"/>
                  </a:schemeClr>
                </a:solidFill>
              </a:rPr>
              <a:t>LLM</a:t>
            </a:r>
          </a:p>
          <a:p>
            <a:pPr algn="ctr"/>
            <a:r>
              <a:rPr lang="en-US" altLang="zh-TW" sz="1600" dirty="0">
                <a:solidFill>
                  <a:schemeClr val="accent1">
                    <a:lumMod val="60000"/>
                    <a:lumOff val="40000"/>
                  </a:schemeClr>
                </a:solidFill>
              </a:rPr>
              <a:t>Large Language</a:t>
            </a:r>
          </a:p>
          <a:p>
            <a:pPr algn="ctr"/>
            <a:r>
              <a:rPr lang="en-US" altLang="zh-TW" sz="1600" dirty="0">
                <a:solidFill>
                  <a:schemeClr val="accent1">
                    <a:lumMod val="60000"/>
                    <a:lumOff val="40000"/>
                  </a:schemeClr>
                </a:solidFill>
              </a:rPr>
              <a:t>Model</a:t>
            </a:r>
          </a:p>
        </p:txBody>
      </p:sp>
      <p:sp>
        <p:nvSpPr>
          <p:cNvPr id="49" name="橢圓 48">
            <a:extLst>
              <a:ext uri="{FF2B5EF4-FFF2-40B4-BE49-F238E27FC236}">
                <a16:creationId xmlns:a16="http://schemas.microsoft.com/office/drawing/2014/main" id="{A229AF79-B8E1-EF6C-D4FC-740D11027C3E}"/>
              </a:ext>
            </a:extLst>
          </p:cNvPr>
          <p:cNvSpPr/>
          <p:nvPr/>
        </p:nvSpPr>
        <p:spPr>
          <a:xfrm>
            <a:off x="6491192" y="3068960"/>
            <a:ext cx="961127" cy="415998"/>
          </a:xfrm>
          <a:prstGeom prst="ellipse">
            <a:avLst/>
          </a:prstGeom>
          <a:solidFill>
            <a:schemeClr val="bg1">
              <a:lumMod val="95000"/>
              <a:alpha val="20000"/>
            </a:schemeClr>
          </a:solid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3">
                    <a:lumMod val="50000"/>
                  </a:schemeClr>
                </a:solidFill>
              </a:rPr>
              <a:t>Pretraining</a:t>
            </a:r>
          </a:p>
          <a:p>
            <a:pPr algn="ctr"/>
            <a:r>
              <a:rPr lang="en-US" altLang="zh-TW" sz="1200" dirty="0">
                <a:solidFill>
                  <a:schemeClr val="accent3">
                    <a:lumMod val="50000"/>
                  </a:schemeClr>
                </a:solidFill>
              </a:rPr>
              <a:t>(Unlabeled)</a:t>
            </a:r>
          </a:p>
        </p:txBody>
      </p:sp>
      <p:sp>
        <p:nvSpPr>
          <p:cNvPr id="7" name="矩形: 圓角 6">
            <a:extLst>
              <a:ext uri="{FF2B5EF4-FFF2-40B4-BE49-F238E27FC236}">
                <a16:creationId xmlns:a16="http://schemas.microsoft.com/office/drawing/2014/main" id="{92B0DCE1-99FF-7C56-B23A-1E7C72B7C357}"/>
              </a:ext>
            </a:extLst>
          </p:cNvPr>
          <p:cNvSpPr/>
          <p:nvPr/>
        </p:nvSpPr>
        <p:spPr>
          <a:xfrm>
            <a:off x="7313529" y="3645024"/>
            <a:ext cx="1630598" cy="58335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Supervised FT</a:t>
            </a:r>
          </a:p>
          <a:p>
            <a:pPr algn="ctr"/>
            <a:r>
              <a:rPr lang="en-US" altLang="zh-TW" sz="1200" dirty="0">
                <a:solidFill>
                  <a:schemeClr val="accent3">
                    <a:lumMod val="50000"/>
                  </a:schemeClr>
                </a:solidFill>
              </a:rPr>
              <a:t>Open AI</a:t>
            </a:r>
          </a:p>
          <a:p>
            <a:pPr algn="ctr"/>
            <a:r>
              <a:rPr lang="en-US" altLang="zh-TW" sz="1200" dirty="0">
                <a:solidFill>
                  <a:schemeClr val="accent3">
                    <a:lumMod val="50000"/>
                  </a:schemeClr>
                </a:solidFill>
              </a:rPr>
              <a:t>2020</a:t>
            </a:r>
          </a:p>
        </p:txBody>
      </p:sp>
      <p:sp>
        <p:nvSpPr>
          <p:cNvPr id="9" name="矩形: 圓角 8">
            <a:extLst>
              <a:ext uri="{FF2B5EF4-FFF2-40B4-BE49-F238E27FC236}">
                <a16:creationId xmlns:a16="http://schemas.microsoft.com/office/drawing/2014/main" id="{6B1D9D8A-9401-767B-C450-D6F73C2BB6D3}"/>
              </a:ext>
            </a:extLst>
          </p:cNvPr>
          <p:cNvSpPr/>
          <p:nvPr/>
        </p:nvSpPr>
        <p:spPr>
          <a:xfrm>
            <a:off x="5356676" y="4293096"/>
            <a:ext cx="1234518" cy="571077"/>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RLHF</a:t>
            </a:r>
          </a:p>
          <a:p>
            <a:pPr algn="ctr"/>
            <a:r>
              <a:rPr lang="en-US" altLang="zh-TW" sz="1200" dirty="0">
                <a:solidFill>
                  <a:schemeClr val="accent3">
                    <a:lumMod val="50000"/>
                  </a:schemeClr>
                </a:solidFill>
              </a:rPr>
              <a:t>Anthropic</a:t>
            </a:r>
          </a:p>
          <a:p>
            <a:pPr algn="ctr"/>
            <a:r>
              <a:rPr lang="en-US" altLang="zh-TW" sz="1200" dirty="0">
                <a:solidFill>
                  <a:schemeClr val="accent3">
                    <a:lumMod val="50000"/>
                  </a:schemeClr>
                </a:solidFill>
              </a:rPr>
              <a:t>2022</a:t>
            </a:r>
          </a:p>
        </p:txBody>
      </p:sp>
      <p:sp>
        <p:nvSpPr>
          <p:cNvPr id="11" name="矩形: 圓角 10">
            <a:extLst>
              <a:ext uri="{FF2B5EF4-FFF2-40B4-BE49-F238E27FC236}">
                <a16:creationId xmlns:a16="http://schemas.microsoft.com/office/drawing/2014/main" id="{F62E754F-9C02-0E33-6CE0-54462773BB15}"/>
              </a:ext>
            </a:extLst>
          </p:cNvPr>
          <p:cNvSpPr/>
          <p:nvPr/>
        </p:nvSpPr>
        <p:spPr>
          <a:xfrm>
            <a:off x="7303113" y="4570063"/>
            <a:ext cx="1630597"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Constitutional AI</a:t>
            </a:r>
          </a:p>
          <a:p>
            <a:pPr algn="ctr"/>
            <a:r>
              <a:rPr lang="en-US" altLang="zh-TW" sz="1200" dirty="0">
                <a:solidFill>
                  <a:schemeClr val="accent3">
                    <a:lumMod val="50000"/>
                  </a:schemeClr>
                </a:solidFill>
              </a:rPr>
              <a:t>2022~2023</a:t>
            </a:r>
          </a:p>
        </p:txBody>
      </p:sp>
      <p:sp>
        <p:nvSpPr>
          <p:cNvPr id="12" name="矩形: 圓角 11">
            <a:extLst>
              <a:ext uri="{FF2B5EF4-FFF2-40B4-BE49-F238E27FC236}">
                <a16:creationId xmlns:a16="http://schemas.microsoft.com/office/drawing/2014/main" id="{8402F9BD-99C1-28E9-CE60-46DE8969F474}"/>
              </a:ext>
            </a:extLst>
          </p:cNvPr>
          <p:cNvSpPr/>
          <p:nvPr/>
        </p:nvSpPr>
        <p:spPr>
          <a:xfrm>
            <a:off x="5364088" y="4941168"/>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Direct PO</a:t>
            </a:r>
          </a:p>
          <a:p>
            <a:pPr algn="ctr"/>
            <a:r>
              <a:rPr lang="en-US" altLang="zh-TW" sz="1200" dirty="0">
                <a:solidFill>
                  <a:schemeClr val="accent3">
                    <a:lumMod val="50000"/>
                  </a:schemeClr>
                </a:solidFill>
              </a:rPr>
              <a:t>2023</a:t>
            </a:r>
          </a:p>
        </p:txBody>
      </p:sp>
      <p:sp>
        <p:nvSpPr>
          <p:cNvPr id="13" name="矩形: 圓角 12">
            <a:extLst>
              <a:ext uri="{FF2B5EF4-FFF2-40B4-BE49-F238E27FC236}">
                <a16:creationId xmlns:a16="http://schemas.microsoft.com/office/drawing/2014/main" id="{045B93F3-45E5-94C2-30E3-90984A1ABB1D}"/>
              </a:ext>
            </a:extLst>
          </p:cNvPr>
          <p:cNvSpPr/>
          <p:nvPr/>
        </p:nvSpPr>
        <p:spPr>
          <a:xfrm>
            <a:off x="7308304" y="5083009"/>
            <a:ext cx="1630598" cy="578239"/>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Distributed Alignment</a:t>
            </a:r>
          </a:p>
          <a:p>
            <a:pPr algn="ctr"/>
            <a:r>
              <a:rPr lang="en-US" altLang="zh-TW" sz="1200" dirty="0">
                <a:solidFill>
                  <a:schemeClr val="accent3">
                    <a:lumMod val="50000"/>
                  </a:schemeClr>
                </a:solidFill>
              </a:rPr>
              <a:t>(for large-scale systems)</a:t>
            </a:r>
          </a:p>
          <a:p>
            <a:pPr algn="ctr"/>
            <a:r>
              <a:rPr lang="en-US" altLang="zh-TW" sz="1200" dirty="0">
                <a:solidFill>
                  <a:schemeClr val="accent3">
                    <a:lumMod val="50000"/>
                  </a:schemeClr>
                </a:solidFill>
              </a:rPr>
              <a:t>2023~2024</a:t>
            </a:r>
          </a:p>
        </p:txBody>
      </p:sp>
      <p:sp>
        <p:nvSpPr>
          <p:cNvPr id="14" name="矩形: 圓角 13">
            <a:extLst>
              <a:ext uri="{FF2B5EF4-FFF2-40B4-BE49-F238E27FC236}">
                <a16:creationId xmlns:a16="http://schemas.microsoft.com/office/drawing/2014/main" id="{5A7DCF19-329F-9F35-BF64-DEE6AF2F5BA9}"/>
              </a:ext>
            </a:extLst>
          </p:cNvPr>
          <p:cNvSpPr/>
          <p:nvPr/>
        </p:nvSpPr>
        <p:spPr>
          <a:xfrm>
            <a:off x="5364088" y="5578175"/>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Self-Alignment</a:t>
            </a:r>
          </a:p>
          <a:p>
            <a:pPr algn="ctr"/>
            <a:r>
              <a:rPr lang="en-US" altLang="zh-TW" sz="1200" dirty="0">
                <a:solidFill>
                  <a:schemeClr val="accent3">
                    <a:lumMod val="50000"/>
                  </a:schemeClr>
                </a:solidFill>
              </a:rPr>
              <a:t>2024~2025</a:t>
            </a:r>
          </a:p>
        </p:txBody>
      </p:sp>
      <p:sp>
        <p:nvSpPr>
          <p:cNvPr id="40" name="矩形: 圓角 39">
            <a:extLst>
              <a:ext uri="{FF2B5EF4-FFF2-40B4-BE49-F238E27FC236}">
                <a16:creationId xmlns:a16="http://schemas.microsoft.com/office/drawing/2014/main" id="{2DDCAABF-D90C-1F31-5E0D-E64A4F0E0D93}"/>
              </a:ext>
            </a:extLst>
          </p:cNvPr>
          <p:cNvSpPr/>
          <p:nvPr/>
        </p:nvSpPr>
        <p:spPr>
          <a:xfrm>
            <a:off x="6443790" y="2276872"/>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Supervised</a:t>
            </a:r>
          </a:p>
        </p:txBody>
      </p:sp>
      <p:sp>
        <p:nvSpPr>
          <p:cNvPr id="41" name="矩形: 圓角 40">
            <a:extLst>
              <a:ext uri="{FF2B5EF4-FFF2-40B4-BE49-F238E27FC236}">
                <a16:creationId xmlns:a16="http://schemas.microsoft.com/office/drawing/2014/main" id="{E9D6BCDC-810F-9F21-25F1-19F04AE503C2}"/>
              </a:ext>
            </a:extLst>
          </p:cNvPr>
          <p:cNvSpPr/>
          <p:nvPr/>
        </p:nvSpPr>
        <p:spPr>
          <a:xfrm>
            <a:off x="7624788" y="2280658"/>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Reinforcement</a:t>
            </a:r>
          </a:p>
        </p:txBody>
      </p:sp>
      <p:sp>
        <p:nvSpPr>
          <p:cNvPr id="43" name="矩形: 圓角 42">
            <a:extLst>
              <a:ext uri="{FF2B5EF4-FFF2-40B4-BE49-F238E27FC236}">
                <a16:creationId xmlns:a16="http://schemas.microsoft.com/office/drawing/2014/main" id="{30D128EE-313D-0392-484A-E5D6D49F7B8D}"/>
              </a:ext>
            </a:extLst>
          </p:cNvPr>
          <p:cNvSpPr/>
          <p:nvPr/>
        </p:nvSpPr>
        <p:spPr>
          <a:xfrm>
            <a:off x="5397985" y="2283441"/>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bg1">
                    <a:lumMod val="50000"/>
                  </a:schemeClr>
                </a:solidFill>
              </a:rPr>
              <a:t>Unsupervised</a:t>
            </a:r>
          </a:p>
        </p:txBody>
      </p:sp>
      <p:sp>
        <p:nvSpPr>
          <p:cNvPr id="44" name="橢圓 43">
            <a:extLst>
              <a:ext uri="{FF2B5EF4-FFF2-40B4-BE49-F238E27FC236}">
                <a16:creationId xmlns:a16="http://schemas.microsoft.com/office/drawing/2014/main" id="{559E4259-9FAA-88A4-9ED9-DBF3DF119E1A}"/>
              </a:ext>
            </a:extLst>
          </p:cNvPr>
          <p:cNvSpPr/>
          <p:nvPr/>
        </p:nvSpPr>
        <p:spPr>
          <a:xfrm>
            <a:off x="474770" y="5133154"/>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b="1" dirty="0">
                <a:solidFill>
                  <a:schemeClr val="accent1">
                    <a:lumMod val="60000"/>
                    <a:lumOff val="40000"/>
                  </a:schemeClr>
                </a:solidFill>
              </a:rPr>
              <a:t>SLM</a:t>
            </a:r>
          </a:p>
          <a:p>
            <a:pPr algn="ctr"/>
            <a:r>
              <a:rPr lang="en-US" altLang="zh-TW" sz="1400" dirty="0">
                <a:solidFill>
                  <a:schemeClr val="accent1">
                    <a:lumMod val="60000"/>
                    <a:lumOff val="40000"/>
                  </a:schemeClr>
                </a:solidFill>
              </a:rPr>
              <a:t>Small Language</a:t>
            </a:r>
          </a:p>
          <a:p>
            <a:pPr algn="ctr"/>
            <a:r>
              <a:rPr lang="en-US" altLang="zh-TW" sz="1400" dirty="0">
                <a:solidFill>
                  <a:schemeClr val="accent1">
                    <a:lumMod val="60000"/>
                    <a:lumOff val="40000"/>
                  </a:schemeClr>
                </a:solidFill>
              </a:rPr>
              <a:t>Model</a:t>
            </a:r>
          </a:p>
        </p:txBody>
      </p:sp>
      <p:sp>
        <p:nvSpPr>
          <p:cNvPr id="48" name="橢圓 47">
            <a:extLst>
              <a:ext uri="{FF2B5EF4-FFF2-40B4-BE49-F238E27FC236}">
                <a16:creationId xmlns:a16="http://schemas.microsoft.com/office/drawing/2014/main" id="{A5730CDE-D08C-1426-0780-DA99A06CD9AA}"/>
              </a:ext>
            </a:extLst>
          </p:cNvPr>
          <p:cNvSpPr/>
          <p:nvPr/>
        </p:nvSpPr>
        <p:spPr>
          <a:xfrm>
            <a:off x="1754962" y="5792546"/>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3</a:t>
            </a:r>
          </a:p>
          <a:p>
            <a:pPr algn="ctr"/>
            <a:r>
              <a:rPr lang="en-US" altLang="zh-TW" sz="1200" dirty="0">
                <a:solidFill>
                  <a:schemeClr val="accent1">
                    <a:lumMod val="75000"/>
                  </a:schemeClr>
                </a:solidFill>
              </a:rPr>
              <a:t>2025</a:t>
            </a:r>
          </a:p>
        </p:txBody>
      </p:sp>
      <p:sp>
        <p:nvSpPr>
          <p:cNvPr id="50" name="橢圓 49">
            <a:extLst>
              <a:ext uri="{FF2B5EF4-FFF2-40B4-BE49-F238E27FC236}">
                <a16:creationId xmlns:a16="http://schemas.microsoft.com/office/drawing/2014/main" id="{E7B38B64-1CCF-174D-6DDC-8BF20C560A9B}"/>
              </a:ext>
            </a:extLst>
          </p:cNvPr>
          <p:cNvSpPr/>
          <p:nvPr/>
        </p:nvSpPr>
        <p:spPr>
          <a:xfrm>
            <a:off x="1754962" y="6158945"/>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4</a:t>
            </a:r>
          </a:p>
          <a:p>
            <a:pPr algn="ctr"/>
            <a:r>
              <a:rPr lang="en-US" altLang="zh-TW" sz="1200" dirty="0">
                <a:solidFill>
                  <a:schemeClr val="accent1">
                    <a:lumMod val="75000"/>
                  </a:schemeClr>
                </a:solidFill>
              </a:rPr>
              <a:t>2026</a:t>
            </a:r>
          </a:p>
        </p:txBody>
      </p:sp>
    </p:spTree>
    <p:extLst>
      <p:ext uri="{BB962C8B-B14F-4D97-AF65-F5344CB8AC3E}">
        <p14:creationId xmlns:p14="http://schemas.microsoft.com/office/powerpoint/2010/main" val="149410127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996952"/>
            <a:ext cx="8568952"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2" name="文字方塊 1">
            <a:extLst>
              <a:ext uri="{FF2B5EF4-FFF2-40B4-BE49-F238E27FC236}">
                <a16:creationId xmlns:a16="http://schemas.microsoft.com/office/drawing/2014/main" id="{03B31180-86CC-AF97-E4F9-B52E2872A4D7}"/>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FF277-68DE-9F1A-3804-0E4A3920ABF2}"/>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BEEB2BF8-F9D8-5DC0-6197-C12EA6B6B432}"/>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Self-Supervised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Learning from unlabeled data by creating pretext tasks.</a:t>
            </a:r>
          </a:p>
        </p:txBody>
      </p:sp>
      <p:pic>
        <p:nvPicPr>
          <p:cNvPr id="2" name="圖片 1">
            <a:extLst>
              <a:ext uri="{FF2B5EF4-FFF2-40B4-BE49-F238E27FC236}">
                <a16:creationId xmlns:a16="http://schemas.microsoft.com/office/drawing/2014/main" id="{5F043B72-6AEB-EFDE-CFA2-4DFA01D3A4DB}"/>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48479" y="2501369"/>
            <a:ext cx="3915984" cy="2149202"/>
          </a:xfrm>
          <a:prstGeom prst="rect">
            <a:avLst/>
          </a:prstGeom>
          <a:effectLst>
            <a:glow rad="63500">
              <a:schemeClr val="accent1">
                <a:satMod val="175000"/>
                <a:alpha val="40000"/>
              </a:schemeClr>
            </a:glow>
          </a:effectLst>
        </p:spPr>
      </p:pic>
      <p:sp>
        <p:nvSpPr>
          <p:cNvPr id="8" name="文字方塊 7">
            <a:extLst>
              <a:ext uri="{FF2B5EF4-FFF2-40B4-BE49-F238E27FC236}">
                <a16:creationId xmlns:a16="http://schemas.microsoft.com/office/drawing/2014/main" id="{3E233645-0E95-1E9D-241A-70618FE9266E}"/>
              </a:ext>
            </a:extLst>
          </p:cNvPr>
          <p:cNvSpPr txBox="1"/>
          <p:nvPr/>
        </p:nvSpPr>
        <p:spPr>
          <a:xfrm>
            <a:off x="287524" y="3316618"/>
            <a:ext cx="5869160"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The Core Mechanism</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Self-Labeling Power</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Pretext Task Design</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The Outcome:</a:t>
            </a:r>
            <a:r>
              <a:rPr lang="en-US" altLang="zh-TW" sz="1600" dirty="0"/>
              <a:t>.</a:t>
            </a:r>
          </a:p>
        </p:txBody>
      </p:sp>
      <p:sp>
        <p:nvSpPr>
          <p:cNvPr id="10" name="文字方塊 9">
            <a:extLst>
              <a:ext uri="{FF2B5EF4-FFF2-40B4-BE49-F238E27FC236}">
                <a16:creationId xmlns:a16="http://schemas.microsoft.com/office/drawing/2014/main" id="{F66EDF72-28C2-AE68-0018-EC342C9AD146}"/>
              </a:ext>
            </a:extLst>
          </p:cNvPr>
          <p:cNvSpPr txBox="1"/>
          <p:nvPr/>
        </p:nvSpPr>
        <p:spPr>
          <a:xfrm>
            <a:off x="287524" y="1206912"/>
            <a:ext cx="5076564" cy="707886"/>
          </a:xfrm>
          <a:prstGeom prst="rect">
            <a:avLst/>
          </a:prstGeom>
          <a:noFill/>
        </p:spPr>
        <p:txBody>
          <a:bodyPr wrap="square">
            <a:spAutoFit/>
          </a:bodyPr>
          <a:lstStyle/>
          <a:p>
            <a:pPr>
              <a:lnSpc>
                <a:spcPts val="1800"/>
              </a:lnSpc>
              <a:spcBef>
                <a:spcPts val="600"/>
              </a:spcBef>
              <a:spcAft>
                <a:spcPts val="600"/>
              </a:spcAft>
            </a:pPr>
            <a:r>
              <a:rPr lang="en-US" altLang="zh-TW" sz="2000" b="1" dirty="0"/>
              <a:t>The Perceptron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p:txBody>
      </p:sp>
    </p:spTree>
    <p:extLst>
      <p:ext uri="{BB962C8B-B14F-4D97-AF65-F5344CB8AC3E}">
        <p14:creationId xmlns:p14="http://schemas.microsoft.com/office/powerpoint/2010/main" val="302021069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C4B6B-A3C4-614B-0094-FBFE317B558B}"/>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A38A6A8F-6A54-4278-7D6E-2680580D9AF3}"/>
              </a:ext>
            </a:extLst>
          </p:cNvPr>
          <p:cNvSpPr txBox="1"/>
          <p:nvPr/>
        </p:nvSpPr>
        <p:spPr>
          <a:xfrm>
            <a:off x="35496" y="626634"/>
            <a:ext cx="3024336" cy="2123658"/>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a:t>
            </a:r>
          </a:p>
          <a:p>
            <a:pPr marL="171450" indent="-171450">
              <a:buFont typeface="Arial" panose="020B0604020202020204" pitchFamily="34" charset="0"/>
              <a:buChar char="•"/>
            </a:pPr>
            <a:r>
              <a:rPr lang="en-US" altLang="zh-TW" sz="1200" dirty="0"/>
              <a:t>Model (W0, Wi): Y = a*w + b</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Gradient</a:t>
            </a:r>
          </a:p>
          <a:p>
            <a:pPr marL="171450" indent="-171450">
              <a:buFont typeface="Arial" panose="020B0604020202020204" pitchFamily="34" charset="0"/>
              <a:buChar char="•"/>
            </a:pPr>
            <a:r>
              <a:rPr lang="en-US" altLang="zh-TW" sz="1200" dirty="0"/>
              <a:t>Learning rate</a:t>
            </a:r>
          </a:p>
          <a:p>
            <a:pPr marL="171450" indent="-171450">
              <a:buFont typeface="Arial" panose="020B0604020202020204" pitchFamily="34" charset="0"/>
              <a:buChar char="•"/>
            </a:pPr>
            <a:r>
              <a:rPr lang="en-US" altLang="zh-TW" sz="1200" dirty="0"/>
              <a:t>Batch </a:t>
            </a:r>
          </a:p>
          <a:p>
            <a:pPr marL="171450" indent="-171450">
              <a:buFont typeface="Arial" panose="020B0604020202020204" pitchFamily="34" charset="0"/>
              <a:buChar char="•"/>
            </a:pPr>
            <a:r>
              <a:rPr lang="en-US" altLang="zh-TW" sz="1200" dirty="0"/>
              <a:t>Activation Function</a:t>
            </a:r>
          </a:p>
          <a:p>
            <a:pPr marL="171450" indent="-171450">
              <a:buFont typeface="Arial" panose="020B0604020202020204" pitchFamily="34" charset="0"/>
              <a:buChar char="•"/>
            </a:pPr>
            <a:r>
              <a:rPr lang="en-US" altLang="zh-TW" sz="1200" dirty="0"/>
              <a:t>Neuro Network: weight, summary, Activate  </a:t>
            </a:r>
          </a:p>
          <a:p>
            <a:pPr marL="171450" indent="-171450">
              <a:buFont typeface="Arial" panose="020B0604020202020204" pitchFamily="34" charset="0"/>
              <a:buChar char="•"/>
            </a:pPr>
            <a:r>
              <a:rPr lang="en-US" altLang="zh-TW" sz="1200" dirty="0"/>
              <a:t>Optimizer</a:t>
            </a:r>
          </a:p>
          <a:p>
            <a:pPr marL="171450" indent="-171450">
              <a:buFont typeface="Arial" panose="020B0604020202020204" pitchFamily="34" charset="0"/>
              <a:buChar char="•"/>
            </a:pPr>
            <a:r>
              <a:rPr lang="en-US" altLang="zh-TW" sz="1200" dirty="0"/>
              <a:t>Backpropagation</a:t>
            </a:r>
          </a:p>
          <a:p>
            <a:pPr marL="171450" indent="-171450">
              <a:buFont typeface="Arial" panose="020B0604020202020204" pitchFamily="34" charset="0"/>
              <a:buChar char="•"/>
            </a:pPr>
            <a:r>
              <a:rPr lang="en-US" altLang="zh-TW" sz="1200" dirty="0"/>
              <a:t>Chain rule</a:t>
            </a:r>
            <a:endParaRPr lang="zh-TW" altLang="en-US" sz="1200" dirty="0"/>
          </a:p>
        </p:txBody>
      </p:sp>
      <p:sp>
        <p:nvSpPr>
          <p:cNvPr id="5" name="文字方塊 4">
            <a:extLst>
              <a:ext uri="{FF2B5EF4-FFF2-40B4-BE49-F238E27FC236}">
                <a16:creationId xmlns:a16="http://schemas.microsoft.com/office/drawing/2014/main" id="{AF89BB4F-136C-04D1-2288-74B85ED1D9EA}"/>
              </a:ext>
            </a:extLst>
          </p:cNvPr>
          <p:cNvSpPr txBox="1"/>
          <p:nvPr/>
        </p:nvSpPr>
        <p:spPr>
          <a:xfrm>
            <a:off x="35496" y="3013501"/>
            <a:ext cx="3024336" cy="830997"/>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 (feature, label) </a:t>
            </a:r>
          </a:p>
          <a:p>
            <a:pPr marL="171450" indent="-171450">
              <a:buFont typeface="Arial" panose="020B0604020202020204" pitchFamily="34" charset="0"/>
              <a:buChar char="•"/>
            </a:pPr>
            <a:r>
              <a:rPr lang="en-US" altLang="zh-TW" sz="1200" dirty="0"/>
              <a:t>NN Model (W</a:t>
            </a:r>
            <a:r>
              <a:rPr lang="en-US" altLang="zh-TW" sz="1200" baseline="-25000" dirty="0"/>
              <a:t>0</a:t>
            </a:r>
            <a:r>
              <a:rPr lang="en-US" altLang="zh-TW" sz="1200" dirty="0"/>
              <a:t>, W</a:t>
            </a:r>
            <a:r>
              <a:rPr lang="en-US" altLang="zh-TW" sz="1200" baseline="-25000" dirty="0"/>
              <a:t>i </a:t>
            </a:r>
            <a:r>
              <a:rPr lang="en-US" altLang="zh-TW" sz="1200" dirty="0"/>
              <a:t>,</a:t>
            </a:r>
            <a:r>
              <a:rPr lang="zh-TW" altLang="en-US" sz="1200" dirty="0"/>
              <a:t> </a:t>
            </a:r>
            <a:r>
              <a:rPr lang="en-US" altLang="zh-TW" sz="1200" dirty="0"/>
              <a:t>…</a:t>
            </a:r>
            <a:r>
              <a:rPr lang="zh-TW" altLang="en-US" sz="1200" dirty="0"/>
              <a:t> </a:t>
            </a:r>
            <a:r>
              <a:rPr lang="en-US" altLang="zh-TW" sz="1200" dirty="0"/>
              <a:t>)</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Optimizer</a:t>
            </a:r>
          </a:p>
        </p:txBody>
      </p:sp>
      <p:sp>
        <p:nvSpPr>
          <p:cNvPr id="7" name="標題 1">
            <a:extLst>
              <a:ext uri="{FF2B5EF4-FFF2-40B4-BE49-F238E27FC236}">
                <a16:creationId xmlns:a16="http://schemas.microsoft.com/office/drawing/2014/main" id="{63F0BD3B-75B8-6843-30ED-1175CDED511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Reinforcement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345912168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9672"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08325"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mc:Choice xmlns:a14="http://schemas.microsoft.com/office/drawing/2010/main" Requires="a14">
          <p:sp>
            <p:nvSpPr>
              <p:cNvPr id="5" name="文字方塊 4">
                <a:extLst>
                  <a:ext uri="{FF2B5EF4-FFF2-40B4-BE49-F238E27FC236}">
                    <a16:creationId xmlns:a16="http://schemas.microsoft.com/office/drawing/2014/main" id="{C9AF0EDF-4436-A687-FC00-0F2CE87361AA}"/>
                  </a:ext>
                </a:extLst>
              </p:cNvPr>
              <p:cNvSpPr txBox="1"/>
              <p:nvPr/>
            </p:nvSpPr>
            <p:spPr>
              <a:xfrm>
                <a:off x="5633376"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633376"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199216139"/>
              </p:ext>
            </p:extLst>
          </p:nvPr>
        </p:nvGraphicFramePr>
        <p:xfrm>
          <a:off x="3982141"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4177301"/>
              </p:ext>
            </p:extLst>
          </p:nvPr>
        </p:nvGraphicFramePr>
        <p:xfrm>
          <a:off x="7380314" y="3285863"/>
          <a:ext cx="734628" cy="548640"/>
        </p:xfrm>
        <a:graphic>
          <a:graphicData uri="http://schemas.openxmlformats.org/drawingml/2006/table">
            <a:tbl>
              <a:tblPr firstRow="1" bandRow="1">
                <a:tableStyleId>{5C22544A-7EE6-4342-B048-85BDC9FD1C3A}</a:tableStyleId>
              </a:tblPr>
              <a:tblGrid>
                <a:gridCol w="73462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3216491121"/>
              </p:ext>
            </p:extLst>
          </p:nvPr>
        </p:nvGraphicFramePr>
        <p:xfrm>
          <a:off x="539552"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err="1"/>
                        <a:t>Mxd</a:t>
                      </a:r>
                      <a:r>
                        <a:rPr lang="en-US" altLang="zh-TW" sz="1200" b="0" baseline="-25000" dirty="0"/>
                        <a:t>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625609498"/>
              </p:ext>
            </p:extLst>
          </p:nvPr>
        </p:nvGraphicFramePr>
        <p:xfrm>
          <a:off x="539553"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265289325"/>
              </p:ext>
            </p:extLst>
          </p:nvPr>
        </p:nvGraphicFramePr>
        <p:xfrm>
          <a:off x="7751068"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91655252"/>
              </p:ext>
            </p:extLst>
          </p:nvPr>
        </p:nvGraphicFramePr>
        <p:xfrm>
          <a:off x="7740354" y="4360834"/>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err="1">
                          <a:ln w="0"/>
                          <a:solidFill>
                            <a:schemeClr val="tx1"/>
                          </a:solidFill>
                          <a:effectLst/>
                        </a:rPr>
                        <a:t>MoE</a:t>
                      </a:r>
                      <a:r>
                        <a:rPr lang="en-US" altLang="zh-TW" sz="1200" b="1" cap="none" spc="0" dirty="0">
                          <a:ln w="0"/>
                          <a:solidFill>
                            <a:schemeClr val="tx1"/>
                          </a:solidFill>
                          <a:effectLst/>
                        </a:rPr>
                        <a:t>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3324911064"/>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041630638"/>
              </p:ext>
            </p:extLst>
          </p:nvPr>
        </p:nvGraphicFramePr>
        <p:xfrm>
          <a:off x="539553"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U</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D</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1459956919"/>
              </p:ext>
            </p:extLst>
          </p:nvPr>
        </p:nvGraphicFramePr>
        <p:xfrm>
          <a:off x="539552"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a:t>
                      </a:r>
                      <a:r>
                        <a:rPr lang="en-US" altLang="zh-TW" sz="1200" b="0" dirty="0" err="1"/>
                        <a:t>WK</a:t>
                      </a:r>
                      <a:r>
                        <a:rPr lang="en-US" altLang="zh-TW" sz="1200" b="0" baseline="-25000" dirty="0" err="1"/>
                        <a:t>dxd</a:t>
                      </a:r>
                      <a:r>
                        <a:rPr lang="en-US" altLang="zh-TW" sz="1200" b="0" dirty="0"/>
                        <a:t>, </a:t>
                      </a:r>
                      <a:r>
                        <a:rPr lang="en-US" altLang="zh-TW" sz="1200" b="0" dirty="0" err="1"/>
                        <a:t>WV</a:t>
                      </a:r>
                      <a:r>
                        <a:rPr lang="en-US" altLang="zh-TW" sz="1200" b="0" baseline="-25000" dirty="0" err="1"/>
                        <a:t>dxd</a:t>
                      </a:r>
                      <a:r>
                        <a:rPr lang="en-US" altLang="zh-TW" sz="1200" b="0" dirty="0"/>
                        <a:t>,</a:t>
                      </a:r>
                      <a:r>
                        <a:rPr lang="zh-TW" altLang="en-US" sz="1200" b="0" dirty="0"/>
                        <a:t> </a:t>
                      </a:r>
                      <a:r>
                        <a:rPr lang="en-US" altLang="zh-TW" sz="1200" b="0" dirty="0" err="1"/>
                        <a:t>Wo</a:t>
                      </a:r>
                      <a:r>
                        <a:rPr lang="en-US" altLang="zh-TW" sz="1200" b="0" baseline="-25000" dirty="0" err="1"/>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430250" y="5030232"/>
            <a:ext cx="1599732"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mc:Choice xmlns:a14="http://schemas.microsoft.com/office/drawing/2010/main"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pPr/>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mc:Choice xmlns:a14="http://schemas.microsoft.com/office/drawing/2010/main"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a:t>
            </a:r>
            <a:r>
              <a:rPr lang="en-US" altLang="zh-TW" sz="1200" b="1" dirty="0" err="1">
                <a:solidFill>
                  <a:schemeClr val="tx2"/>
                </a:solidFill>
                <a:ea typeface="微軟正黑體" panose="020B0604030504040204" pitchFamily="34" charset="-120"/>
              </a:rPr>
              <a:t>VC</a:t>
            </a:r>
            <a:r>
              <a:rPr lang="en-US" altLang="zh-TW" sz="1200"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a:t>
            </a:r>
            <a:r>
              <a:rPr lang="en-US" altLang="zh-TW" sz="1200" b="1" dirty="0" err="1">
                <a:solidFill>
                  <a:schemeClr val="tx2"/>
                </a:solidFill>
                <a:ea typeface="微軟正黑體" panose="020B0604030504040204" pitchFamily="34" charset="-120"/>
              </a:rPr>
              <a:t>VC</a:t>
            </a:r>
            <a:r>
              <a:rPr lang="en-US" altLang="zh-TW" sz="1200" b="1"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mc:Choice xmlns:a14="http://schemas.microsoft.com/office/drawing/2010/main"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421788" y="5661213"/>
            <a:ext cx="1608193"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mc:Choice xmlns:a14="http://schemas.microsoft.com/office/drawing/2010/main"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err="1"/>
              <a:t>RoPE</a:t>
            </a:r>
            <a:r>
              <a:rPr lang="en-US" altLang="zh-TW" sz="1200" dirty="0"/>
              <a:t>()</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39" name="右中括弧 38">
            <a:extLst>
              <a:ext uri="{FF2B5EF4-FFF2-40B4-BE49-F238E27FC236}">
                <a16:creationId xmlns:a16="http://schemas.microsoft.com/office/drawing/2014/main" id="{4925490F-5CC4-F608-2390-2B238EE875D7}"/>
              </a:ext>
            </a:extLst>
          </p:cNvPr>
          <p:cNvSpPr/>
          <p:nvPr/>
        </p:nvSpPr>
        <p:spPr>
          <a:xfrm flipH="1">
            <a:off x="2037676" y="5055020"/>
            <a:ext cx="79946" cy="89694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514959" y="4600264"/>
            <a:ext cx="293577" cy="715187"/>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8234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41E5E743-24FA-D667-C359-D4D00392854D}"/>
                  </a:ext>
                </a:extLst>
              </p:cNvPr>
              <p:cNvSpPr txBox="1"/>
              <p:nvPr/>
            </p:nvSpPr>
            <p:spPr>
              <a:xfrm>
                <a:off x="5301677" y="286258"/>
                <a:ext cx="3566405" cy="1518364"/>
              </a:xfrm>
              <a:prstGeom prst="rect">
                <a:avLst/>
              </a:prstGeom>
              <a:noFill/>
            </p:spPr>
            <p:txBody>
              <a:bodyPr wrap="none" lIns="0" tIns="0" rIns="0" bIns="0" anchor="ctr" anchorCtr="1">
                <a:noAutofit/>
              </a:bodyPr>
              <a:lstStyle/>
              <a:p>
                <a:pPr/>
                <a14:m>
                  <m:oMathPara xmlns:m="http://schemas.openxmlformats.org/officeDocument/2006/math">
                    <m:oMathParaPr>
                      <m:jc m:val="left"/>
                    </m:oMathParaPr>
                    <m:oMath xmlns:m="http://schemas.openxmlformats.org/officeDocument/2006/math">
                      <m:sSub>
                        <m:sSubPr>
                          <m:ctrlPr>
                            <a:rPr lang="en-US" altLang="zh-TW" sz="1200" i="1" smtClean="0">
                              <a:solidFill>
                                <a:prstClr val="black"/>
                              </a:solidFill>
                              <a:latin typeface="Cambria Math" panose="02040503050406030204" pitchFamily="18" charset="0"/>
                              <a:ea typeface="Cambria Math" panose="02040503050406030204" pitchFamily="18" charset="0"/>
                            </a:rPr>
                          </m:ctrlPr>
                        </m:sSubPr>
                        <m:e>
                          <m:r>
                            <a:rPr lang="en-US" altLang="zh-TW" sz="1200" b="0" i="1" smtClean="0">
                              <a:solidFill>
                                <a:prstClr val="black"/>
                              </a:solidFill>
                              <a:latin typeface="Cambria Math" panose="02040503050406030204" pitchFamily="18" charset="0"/>
                              <a:ea typeface="Cambria Math" panose="02040503050406030204" pitchFamily="18" charset="0"/>
                            </a:rPr>
                            <m:t>𝑃</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eqArrPr>
                            <m:e>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𝟖𝟏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kumimoji="0" lang="az-Cyrl-AZ" altLang="zh-TW" sz="1200" b="0" i="1" u="none" strike="noStrike" kern="1200" cap="none" spc="0" normalizeH="0" baseline="0" noProof="0" smtClean="0">
                                  <a:ln>
                                    <a:noFill/>
                                  </a:ln>
                                  <a:solidFill>
                                    <a:prstClr val="black"/>
                                  </a:solidFill>
                                  <a:effectLst/>
                                  <a:uLnTx/>
                                  <a:uFillTx/>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𝟏𝟗</m:t>
                              </m:r>
                              <m:r>
                                <a:rPr lang="zh-TW" altLang="en-US" sz="1200" b="1" i="1">
                                  <a:solidFill>
                                    <a:prstClr val="black"/>
                                  </a:solidFill>
                                  <a:latin typeface="Cambria Math" panose="02040503050406030204" pitchFamily="18" charset="0"/>
                                </a:rPr>
                                <m:t> </m:t>
                              </m:r>
                              <m:r>
                                <a:rPr lang="en-US" altLang="zh-TW" sz="1200" b="1"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b="0" i="1" smtClean="0">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𝟎</m:t>
                              </m:r>
                              <m:r>
                                <a:rPr lang="en-US" altLang="zh-TW" sz="1200" b="0" i="1" smtClean="0">
                                  <a:solidFill>
                                    <a:prstClr val="black"/>
                                  </a:solidFill>
                                  <a:latin typeface="Cambria Math" panose="02040503050406030204" pitchFamily="18" charset="0"/>
                                </a:rPr>
                                <m:t>2</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𝟗𝟖</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smtClean="0">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𝟒</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𝟔</m:t>
                              </m:r>
                            </m:e>
                            <m:e>
                              <m:r>
                                <a:rPr lang="en-US" altLang="zh-TW" sz="1200" b="0" i="1" smtClean="0">
                                  <a:solidFill>
                                    <a:prstClr val="black"/>
                                  </a:solidFill>
                                  <a:latin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65" name="文字方塊 64">
                <a:extLst>
                  <a:ext uri="{FF2B5EF4-FFF2-40B4-BE49-F238E27FC236}">
                    <a16:creationId xmlns:a16="http://schemas.microsoft.com/office/drawing/2014/main" id="{41E5E743-24FA-D667-C359-D4D00392854D}"/>
                  </a:ext>
                </a:extLst>
              </p:cNvPr>
              <p:cNvSpPr txBox="1">
                <a:spLocks noRot="1" noChangeAspect="1" noMove="1" noResize="1" noEditPoints="1" noAdjustHandles="1" noChangeArrowheads="1" noChangeShapeType="1" noTextEdit="1"/>
              </p:cNvSpPr>
              <p:nvPr/>
            </p:nvSpPr>
            <p:spPr>
              <a:xfrm>
                <a:off x="5301677" y="286258"/>
                <a:ext cx="3566405" cy="1518364"/>
              </a:xfrm>
              <a:prstGeom prst="rect">
                <a:avLst/>
              </a:prstGeom>
              <a:blipFill>
                <a:blip r:embed="rId6"/>
                <a:stretch>
                  <a:fillRect/>
                </a:stretch>
              </a:blipFill>
            </p:spPr>
            <p:txBody>
              <a:bodyPr/>
              <a:lstStyle/>
              <a:p>
                <a:r>
                  <a:rPr lang="zh-TW" altLang="en-US">
                    <a:noFill/>
                  </a:rPr>
                  <a:t> </a:t>
                </a:r>
              </a:p>
            </p:txBody>
          </p:sp>
        </mc:Fallback>
      </mc:AlternateContent>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softmax</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to obtain the probability-based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weigths</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err="1">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
        <p:nvSpPr>
          <p:cNvPr id="18" name="矩形 17">
            <a:extLst>
              <a:ext uri="{FF2B5EF4-FFF2-40B4-BE49-F238E27FC236}">
                <a16:creationId xmlns:a16="http://schemas.microsoft.com/office/drawing/2014/main" id="{4FBC2DEF-1F94-22F9-5C1B-819E669197B3}"/>
              </a:ext>
            </a:extLst>
          </p:cNvPr>
          <p:cNvSpPr/>
          <p:nvPr/>
        </p:nvSpPr>
        <p:spPr>
          <a:xfrm rot="16200000">
            <a:off x="2270964" y="4412880"/>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38" name="文字方塊 37">
            <a:extLst>
              <a:ext uri="{FF2B5EF4-FFF2-40B4-BE49-F238E27FC236}">
                <a16:creationId xmlns:a16="http://schemas.microsoft.com/office/drawing/2014/main" id="{B31B93FF-E34A-6029-C1FD-88A4C54C0C65}"/>
              </a:ext>
            </a:extLst>
          </p:cNvPr>
          <p:cNvSpPr txBox="1"/>
          <p:nvPr/>
        </p:nvSpPr>
        <p:spPr>
          <a:xfrm>
            <a:off x="1887071" y="5359452"/>
            <a:ext cx="236657" cy="278693"/>
          </a:xfrm>
          <a:prstGeom prst="rect">
            <a:avLst/>
          </a:prstGeom>
          <a:noFill/>
        </p:spPr>
        <p:txBody>
          <a:bodyPr wrap="none" lIns="0" tIns="0" rIns="0" bIns="0" rtlCol="0" anchor="ctr" anchorCtr="1">
            <a:noAutofit/>
          </a:bodyPr>
          <a:lstStyle/>
          <a:p>
            <a:pPr algn="ctr"/>
            <a:r>
              <a:rPr lang="en-US" altLang="zh-TW" sz="1400" dirty="0"/>
              <a:t>M</a:t>
            </a:r>
            <a:endParaRPr lang="zh-TW" altLang="en-US" sz="1400" dirty="0"/>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02466" y="6010628"/>
            <a:ext cx="93132" cy="99349"/>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41" name="右中括弧 40">
            <a:extLst>
              <a:ext uri="{FF2B5EF4-FFF2-40B4-BE49-F238E27FC236}">
                <a16:creationId xmlns:a16="http://schemas.microsoft.com/office/drawing/2014/main" id="{EB94D0DA-B01F-F4EF-6BE3-539B135BC76E}"/>
              </a:ext>
            </a:extLst>
          </p:cNvPr>
          <p:cNvSpPr/>
          <p:nvPr/>
        </p:nvSpPr>
        <p:spPr>
          <a:xfrm rot="5400000">
            <a:off x="2299756" y="5818047"/>
            <a:ext cx="54607" cy="37373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6486980" y="2004231"/>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5464356" y="3729887"/>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5464356" y="3729887"/>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5464356" y="4732675"/>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5464356" y="4732675"/>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10" name="圖片 9">
            <a:extLst>
              <a:ext uri="{FF2B5EF4-FFF2-40B4-BE49-F238E27FC236}">
                <a16:creationId xmlns:a16="http://schemas.microsoft.com/office/drawing/2014/main" id="{676555D1-24B1-A883-31E1-7942045B2592}"/>
              </a:ext>
            </a:extLst>
          </p:cNvPr>
          <p:cNvPicPr>
            <a:picLocks noChangeAspect="1"/>
          </p:cNvPicPr>
          <p:nvPr/>
        </p:nvPicPr>
        <p:blipFill>
          <a:blip r:embed="rId4"/>
          <a:stretch>
            <a:fillRect/>
          </a:stretch>
        </p:blipFill>
        <p:spPr>
          <a:xfrm>
            <a:off x="431881" y="912934"/>
            <a:ext cx="502778" cy="502778"/>
          </a:xfrm>
          <a:prstGeom prst="rect">
            <a:avLst/>
          </a:prstGeom>
        </p:spPr>
      </p:pic>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47665" y="5399691"/>
            <a:ext cx="593357" cy="593357"/>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graphicFrame>
        <p:nvGraphicFramePr>
          <p:cNvPr id="12" name="表格 11">
            <a:extLst>
              <a:ext uri="{FF2B5EF4-FFF2-40B4-BE49-F238E27FC236}">
                <a16:creationId xmlns:a16="http://schemas.microsoft.com/office/drawing/2014/main" id="{DCF4CE1D-AE60-2398-9BB9-A03B76D3ABBC}"/>
              </a:ext>
            </a:extLst>
          </p:cNvPr>
          <p:cNvGraphicFramePr>
            <a:graphicFrameLocks noGrp="1"/>
          </p:cNvGraphicFramePr>
          <p:nvPr>
            <p:extLst>
              <p:ext uri="{D42A27DB-BD31-4B8C-83A1-F6EECF244321}">
                <p14:modId xmlns:p14="http://schemas.microsoft.com/office/powerpoint/2010/main" val="509468897"/>
              </p:ext>
            </p:extLst>
          </p:nvPr>
        </p:nvGraphicFramePr>
        <p:xfrm>
          <a:off x="406163" y="3845589"/>
          <a:ext cx="1872208" cy="1282800"/>
        </p:xfrm>
        <a:graphic>
          <a:graphicData uri="http://schemas.openxmlformats.org/drawingml/2006/table">
            <a:tbl>
              <a:tblPr firstRow="1" bandRow="1">
                <a:tableStyleId>{5C22544A-7EE6-4342-B048-85BDC9FD1C3A}</a:tableStyleId>
              </a:tblPr>
              <a:tblGrid>
                <a:gridCol w="1872208">
                  <a:extLst>
                    <a:ext uri="{9D8B030D-6E8A-4147-A177-3AD203B41FA5}">
                      <a16:colId xmlns:a16="http://schemas.microsoft.com/office/drawing/2014/main" val="4512040"/>
                    </a:ext>
                  </a:extLst>
                </a:gridCol>
              </a:tblGrid>
              <a:tr h="384942">
                <a:tc>
                  <a:txBody>
                    <a:bodyPr/>
                    <a:lstStyle/>
                    <a:p>
                      <a:pPr algn="l"/>
                      <a:r>
                        <a:rPr lang="en-US" altLang="zh-TW" sz="1200" b="1" cap="none" spc="0" dirty="0">
                          <a:ln w="0"/>
                          <a:solidFill>
                            <a:schemeClr val="tx1"/>
                          </a:solidFill>
                          <a:effectLst/>
                        </a:rPr>
                        <a:t>Benefit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lumMod val="75000"/>
                            </a:schemeClr>
                          </a:solidFill>
                          <a:effectLst/>
                        </a:rPr>
                        <a:t>World Knowledge Allocation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lumMod val="75000"/>
                            </a:schemeClr>
                          </a:solidFill>
                          <a:effectLst/>
                        </a:rPr>
                        <a:t>(Mentor Model)</a:t>
                      </a:r>
                      <a:endParaRPr lang="en-US" altLang="zh-TW"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2131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Modeling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Emergent Abilities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Context-Awareness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49642222"/>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Representing Learning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024983"/>
                  </a:ext>
                </a:extLst>
              </a:tr>
            </a:tbl>
          </a:graphicData>
        </a:graphic>
      </p:graphicFrame>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Feedforward</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sp>
        <p:nvSpPr>
          <p:cNvPr id="70" name="文字方塊 69">
            <a:extLst>
              <a:ext uri="{FF2B5EF4-FFF2-40B4-BE49-F238E27FC236}">
                <a16:creationId xmlns:a16="http://schemas.microsoft.com/office/drawing/2014/main" id="{A4C9DA8A-05B6-BDA8-3C38-486B531A7C71}"/>
              </a:ext>
            </a:extLst>
          </p:cNvPr>
          <p:cNvSpPr txBox="1"/>
          <p:nvPr/>
        </p:nvSpPr>
        <p:spPr>
          <a:xfrm>
            <a:off x="7802582" y="2204863"/>
            <a:ext cx="1161905" cy="455241"/>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Cross </a:t>
            </a:r>
            <a:r>
              <a:rPr lang="en-US" altLang="zh-TW" sz="1100" b="1" dirty="0">
                <a:latin typeface="Gadugi" panose="020B0502040204020203" pitchFamily="34" charset="0"/>
                <a:ea typeface="Gadugi" panose="020B0502040204020203" pitchFamily="34" charset="0"/>
                <a:cs typeface="ADLaM Display" panose="02010000000000000000" pitchFamily="2" charset="0"/>
              </a:rPr>
              <a:t>Entropy</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Loss </a:t>
            </a:r>
          </a:p>
        </p:txBody>
      </p:sp>
      <p:cxnSp>
        <p:nvCxnSpPr>
          <p:cNvPr id="73" name="接點: 肘形 72">
            <a:extLst>
              <a:ext uri="{FF2B5EF4-FFF2-40B4-BE49-F238E27FC236}">
                <a16:creationId xmlns:a16="http://schemas.microsoft.com/office/drawing/2014/main" id="{216E02E9-A3CE-76E5-497E-3DD85BBC6AB6}"/>
              </a:ext>
            </a:extLst>
          </p:cNvPr>
          <p:cNvCxnSpPr>
            <a:cxnSpLocks/>
            <a:stCxn id="83" idx="2"/>
            <a:endCxn id="109" idx="3"/>
          </p:cNvCxnSpPr>
          <p:nvPr/>
        </p:nvCxnSpPr>
        <p:spPr>
          <a:xfrm rot="5400000">
            <a:off x="7882805" y="3085241"/>
            <a:ext cx="372997" cy="628466"/>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70" idx="0"/>
          </p:cNvCxnSpPr>
          <p:nvPr/>
        </p:nvCxnSpPr>
        <p:spPr>
          <a:xfrm>
            <a:off x="7517892" y="1599888"/>
            <a:ext cx="865643" cy="604975"/>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83" name="文字方塊 82">
            <a:extLst>
              <a:ext uri="{FF2B5EF4-FFF2-40B4-BE49-F238E27FC236}">
                <a16:creationId xmlns:a16="http://schemas.microsoft.com/office/drawing/2014/main" id="{6832CADE-A012-7F64-DDAB-6EF23DC2DFCB}"/>
              </a:ext>
            </a:extLst>
          </p:cNvPr>
          <p:cNvSpPr txBox="1"/>
          <p:nvPr/>
        </p:nvSpPr>
        <p:spPr>
          <a:xfrm>
            <a:off x="7802583" y="2945574"/>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85" name="直線單箭頭接點 84">
            <a:extLst>
              <a:ext uri="{FF2B5EF4-FFF2-40B4-BE49-F238E27FC236}">
                <a16:creationId xmlns:a16="http://schemas.microsoft.com/office/drawing/2014/main" id="{9DC51F15-272D-4DF3-7D78-2712B4CA881C}"/>
              </a:ext>
            </a:extLst>
          </p:cNvPr>
          <p:cNvCxnSpPr>
            <a:cxnSpLocks/>
            <a:stCxn id="70" idx="2"/>
            <a:endCxn id="83" idx="0"/>
          </p:cNvCxnSpPr>
          <p:nvPr/>
        </p:nvCxnSpPr>
        <p:spPr>
          <a:xfrm>
            <a:off x="8383535" y="2660104"/>
            <a:ext cx="1" cy="285470"/>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56178" y="2126094"/>
            <a:ext cx="1598892" cy="2919757"/>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1021469756"/>
              </p:ext>
            </p:extLst>
          </p:nvPr>
        </p:nvGraphicFramePr>
        <p:xfrm>
          <a:off x="5211278" y="3156845"/>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Datasets</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3946F719-9781-7D5F-52EF-BD9B0585F8BF}"/>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mc:Choice xmlns:a14="http://schemas.microsoft.com/office/drawing/2010/main"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mc:Choice xmlns:a14="http://schemas.microsoft.com/office/drawing/2010/main"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sp>
        <p:nvSpPr>
          <p:cNvPr id="10" name="標題 1">
            <a:extLst>
              <a:ext uri="{FF2B5EF4-FFF2-40B4-BE49-F238E27FC236}">
                <a16:creationId xmlns:a16="http://schemas.microsoft.com/office/drawing/2014/main" id="{DB23806E-455B-B442-A514-C6A6160F4DE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1F628E-4844-1881-995F-0233A20315E5}"/>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71EB32EA-10F9-DC7E-042F-3AA1C01689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5" y="1116618"/>
            <a:ext cx="7992888" cy="3684041"/>
          </a:xfrm>
          <a:prstGeom prst="rect">
            <a:avLst/>
          </a:prstGeom>
        </p:spPr>
      </p:pic>
      <p:pic>
        <p:nvPicPr>
          <p:cNvPr id="11" name="圖片 10">
            <a:extLst>
              <a:ext uri="{FF2B5EF4-FFF2-40B4-BE49-F238E27FC236}">
                <a16:creationId xmlns:a16="http://schemas.microsoft.com/office/drawing/2014/main" id="{9D0A6358-7FF9-2E9D-E138-8A36430FF763}"/>
              </a:ext>
            </a:extLst>
          </p:cNvPr>
          <p:cNvPicPr>
            <a:picLocks noChangeAspect="1"/>
          </p:cNvPicPr>
          <p:nvPr/>
        </p:nvPicPr>
        <p:blipFill>
          <a:blip r:embed="rId4"/>
          <a:stretch>
            <a:fillRect/>
          </a:stretch>
        </p:blipFill>
        <p:spPr>
          <a:xfrm>
            <a:off x="107505" y="3947328"/>
            <a:ext cx="7344816" cy="2578015"/>
          </a:xfrm>
          <a:prstGeom prst="rect">
            <a:avLst/>
          </a:prstGeom>
          <a:effectLst>
            <a:glow rad="76200">
              <a:srgbClr val="FFC000">
                <a:alpha val="40000"/>
              </a:srgbClr>
            </a:glow>
            <a:softEdge rad="12700"/>
          </a:effectLst>
        </p:spPr>
      </p:pic>
      <p:pic>
        <p:nvPicPr>
          <p:cNvPr id="9" name="圖片 8">
            <a:extLst>
              <a:ext uri="{FF2B5EF4-FFF2-40B4-BE49-F238E27FC236}">
                <a16:creationId xmlns:a16="http://schemas.microsoft.com/office/drawing/2014/main" id="{E74874C4-AF14-CB4A-1CAA-F50E359DA4D4}"/>
              </a:ext>
            </a:extLst>
          </p:cNvPr>
          <p:cNvPicPr>
            <a:picLocks noChangeAspect="1"/>
          </p:cNvPicPr>
          <p:nvPr/>
        </p:nvPicPr>
        <p:blipFill>
          <a:blip r:embed="rId5"/>
          <a:stretch>
            <a:fillRect/>
          </a:stretch>
        </p:blipFill>
        <p:spPr>
          <a:xfrm>
            <a:off x="1727176" y="4649201"/>
            <a:ext cx="4509946" cy="1087989"/>
          </a:xfrm>
          <a:prstGeom prst="rect">
            <a:avLst/>
          </a:prstGeom>
          <a:effectLst>
            <a:glow rad="76200">
              <a:srgbClr val="FFC000">
                <a:alpha val="40000"/>
              </a:srgbClr>
            </a:glow>
            <a:softEdge rad="12700"/>
          </a:effectLst>
        </p:spPr>
      </p:pic>
      <p:sp>
        <p:nvSpPr>
          <p:cNvPr id="10" name="文字方塊 9">
            <a:extLst>
              <a:ext uri="{FF2B5EF4-FFF2-40B4-BE49-F238E27FC236}">
                <a16:creationId xmlns:a16="http://schemas.microsoft.com/office/drawing/2014/main" id="{CDBD7864-F8EC-971A-D8FC-852045049F0F}"/>
              </a:ext>
            </a:extLst>
          </p:cNvPr>
          <p:cNvSpPr txBox="1"/>
          <p:nvPr/>
        </p:nvSpPr>
        <p:spPr>
          <a:xfrm>
            <a:off x="5800882" y="327299"/>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Adam, </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SGD, …</a:t>
            </a:r>
          </a:p>
        </p:txBody>
      </p:sp>
    </p:spTree>
    <p:extLst>
      <p:ext uri="{BB962C8B-B14F-4D97-AF65-F5344CB8AC3E}">
        <p14:creationId xmlns:p14="http://schemas.microsoft.com/office/powerpoint/2010/main" val="40202959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圖片 4">
            <a:extLst>
              <a:ext uri="{FF2B5EF4-FFF2-40B4-BE49-F238E27FC236}">
                <a16:creationId xmlns:a16="http://schemas.microsoft.com/office/drawing/2014/main" id="{4B507F9A-D2D2-2979-B7C6-B5CE84AEB0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048092"/>
            <a:ext cx="9144000" cy="5189220"/>
          </a:xfrm>
          <a:prstGeom prst="rect">
            <a:avLst/>
          </a:prstGeom>
        </p:spPr>
      </p:pic>
      <p:sp>
        <p:nvSpPr>
          <p:cNvPr id="7" name="文字方塊 6">
            <a:hlinkClick r:id="rId4"/>
            <a:extLst>
              <a:ext uri="{FF2B5EF4-FFF2-40B4-BE49-F238E27FC236}">
                <a16:creationId xmlns:a16="http://schemas.microsoft.com/office/drawing/2014/main" id="{D44B7B11-A042-E281-4E0C-8CA28AFF7708}"/>
              </a:ext>
            </a:extLst>
          </p:cNvPr>
          <p:cNvSpPr txBox="1"/>
          <p:nvPr/>
        </p:nvSpPr>
        <p:spPr>
          <a:xfrm>
            <a:off x="7668344" y="6132115"/>
            <a:ext cx="1008112" cy="400110"/>
          </a:xfrm>
          <a:prstGeom prst="rect">
            <a:avLst/>
          </a:prstGeom>
          <a:noFill/>
        </p:spPr>
        <p:txBody>
          <a:bodyPr wrap="square">
            <a:spAutoFit/>
          </a:bodyPr>
          <a:lstStyle/>
          <a:p>
            <a:r>
              <a:rPr lang="en-US" altLang="zh-TW" sz="1000" u="sng" dirty="0"/>
              <a:t>LLM Distillation Explained</a:t>
            </a:r>
            <a:endParaRPr lang="zh-TW" altLang="en-US" sz="1000" u="sng" dirty="0"/>
          </a:p>
        </p:txBody>
      </p:sp>
      <p:sp>
        <p:nvSpPr>
          <p:cNvPr id="2" name="文字方塊 1">
            <a:extLst>
              <a:ext uri="{FF2B5EF4-FFF2-40B4-BE49-F238E27FC236}">
                <a16:creationId xmlns:a16="http://schemas.microsoft.com/office/drawing/2014/main" id="{076D38B1-5B2B-0B7D-0489-32FF5F9247B5}"/>
              </a:ext>
            </a:extLst>
          </p:cNvPr>
          <p:cNvSpPr txBox="1"/>
          <p:nvPr/>
        </p:nvSpPr>
        <p:spPr>
          <a:xfrm>
            <a:off x="5724128" y="1048092"/>
            <a:ext cx="864096" cy="378158"/>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dirty="0"/>
              <a:t>Foundation Layer</a:t>
            </a:r>
          </a:p>
          <a:p>
            <a:pPr algn="ctr">
              <a:lnSpc>
                <a:spcPts val="1400"/>
              </a:lnSpc>
              <a:buNone/>
            </a:pPr>
            <a:r>
              <a:rPr lang="en-US" altLang="zh-TW" sz="1200" u="none" strike="noStrike" dirty="0">
                <a:effectLst/>
              </a:rPr>
              <a:t>(Reasoning)</a:t>
            </a:r>
          </a:p>
        </p:txBody>
      </p:sp>
    </p:spTree>
    <p:extLst>
      <p:ext uri="{BB962C8B-B14F-4D97-AF65-F5344CB8AC3E}">
        <p14:creationId xmlns:p14="http://schemas.microsoft.com/office/powerpoint/2010/main" val="23760204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71B84-1670-A048-1767-4044E543521B}"/>
            </a:ext>
          </a:extLst>
        </p:cNvPr>
        <p:cNvGrpSpPr/>
        <p:nvPr/>
      </p:nvGrpSpPr>
      <p:grpSpPr>
        <a:xfrm>
          <a:off x="0" y="0"/>
          <a:ext cx="0" cy="0"/>
          <a:chOff x="0" y="0"/>
          <a:chExt cx="0" cy="0"/>
        </a:xfrm>
      </p:grpSpPr>
      <p:sp>
        <p:nvSpPr>
          <p:cNvPr id="13" name="文字方塊 12">
            <a:extLst>
              <a:ext uri="{FF2B5EF4-FFF2-40B4-BE49-F238E27FC236}">
                <a16:creationId xmlns:a16="http://schemas.microsoft.com/office/drawing/2014/main" id="{6AC4EF48-5297-82D5-AB5E-975ED6827326}"/>
              </a:ext>
            </a:extLst>
          </p:cNvPr>
          <p:cNvSpPr txBox="1"/>
          <p:nvPr/>
        </p:nvSpPr>
        <p:spPr>
          <a:xfrm>
            <a:off x="3419872" y="4641731"/>
            <a:ext cx="936104" cy="1523573"/>
          </a:xfrm>
          <a:prstGeom prst="rect">
            <a:avLst/>
          </a:prstGeom>
          <a:noFill/>
          <a:ln w="25400">
            <a:solidFill>
              <a:schemeClr val="accent2">
                <a:lumMod val="60000"/>
                <a:lumOff val="40000"/>
              </a:schemeClr>
            </a:solidFill>
            <a:prstDash val="sysDot"/>
          </a:ln>
        </p:spPr>
        <p:txBody>
          <a:bodyPr wrap="none" lIns="0" tIns="0" rIns="0" bIns="0" anchor="b" anchorCtr="1">
            <a:noAutofit/>
          </a:bodyPr>
          <a:lstStyle/>
          <a:p>
            <a:pPr algn="ctr">
              <a:lnSpc>
                <a:spcPts val="1400"/>
              </a:lnSpc>
              <a:buNone/>
            </a:pPr>
            <a:r>
              <a:rPr lang="en-US" altLang="zh-TW" sz="1400" b="1" u="none" strike="noStrike" dirty="0">
                <a:solidFill>
                  <a:schemeClr val="accent2"/>
                </a:solidFill>
                <a:effectLst/>
              </a:rPr>
              <a:t>AI Server</a:t>
            </a:r>
          </a:p>
        </p:txBody>
      </p:sp>
      <p:sp>
        <p:nvSpPr>
          <p:cNvPr id="8" name="文字方塊 7">
            <a:extLst>
              <a:ext uri="{FF2B5EF4-FFF2-40B4-BE49-F238E27FC236}">
                <a16:creationId xmlns:a16="http://schemas.microsoft.com/office/drawing/2014/main" id="{23088F4F-3037-5FDB-EFDD-D772BA9672F5}"/>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Cost Structure</a:t>
            </a:r>
          </a:p>
          <a:p>
            <a:pPr marL="285750" indent="-285750">
              <a:lnSpc>
                <a:spcPts val="1800"/>
              </a:lnSpc>
              <a:spcBef>
                <a:spcPts val="600"/>
              </a:spcBef>
              <a:spcAft>
                <a:spcPts val="600"/>
              </a:spcAft>
              <a:buFont typeface="Wingdings" panose="05000000000000000000" pitchFamily="2" charset="2"/>
              <a:buChar char="Ø"/>
            </a:pPr>
            <a:r>
              <a:rPr lang="en-US" altLang="zh-TW" sz="1600" b="1" dirty="0"/>
              <a:t>Manufacture Cost: </a:t>
            </a:r>
            <a:r>
              <a:rPr lang="en-US" altLang="zh-TW" sz="1600" dirty="0"/>
              <a:t>G</a:t>
            </a:r>
            <a:r>
              <a:rPr lang="en-US" altLang="zh-TW" sz="1600" u="none" strike="noStrike" dirty="0">
                <a:effectLst/>
              </a:rPr>
              <a:t>PU 300, HBM 1200, COWOS 1500 </a:t>
            </a:r>
            <a:r>
              <a:rPr lang="en-US" altLang="zh-TW" sz="1600" b="0" u="none" strike="noStrike" dirty="0">
                <a:effectLst/>
              </a:rPr>
              <a:t>= $3000 </a:t>
            </a:r>
            <a:r>
              <a:rPr lang="en-US" altLang="zh-TW" sz="1600" dirty="0">
                <a:solidFill>
                  <a:schemeClr val="bg1">
                    <a:lumMod val="75000"/>
                  </a:schemeClr>
                </a:solidFill>
                <a:sym typeface="Wingdings" panose="05000000000000000000" pitchFamily="2" charset="2"/>
              </a:rPr>
              <a:t> $30000</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HBM</a:t>
            </a:r>
            <a:r>
              <a:rPr lang="en-US" altLang="zh-TW" sz="1600" b="0" u="none" strike="noStrike" dirty="0">
                <a:effectLst/>
              </a:rPr>
              <a:t>: $1200.</a:t>
            </a:r>
          </a:p>
          <a:p>
            <a:pPr marL="285750" indent="-285750">
              <a:lnSpc>
                <a:spcPts val="1800"/>
              </a:lnSpc>
              <a:spcBef>
                <a:spcPts val="600"/>
              </a:spcBef>
              <a:spcAft>
                <a:spcPts val="600"/>
              </a:spcAft>
              <a:buFont typeface="Wingdings" panose="05000000000000000000" pitchFamily="2" charset="2"/>
              <a:buChar char="Ø"/>
            </a:pPr>
            <a:r>
              <a:rPr lang="en-US" altLang="zh-TW" sz="1600" b="1" dirty="0"/>
              <a:t>EDA:</a:t>
            </a:r>
            <a:r>
              <a:rPr lang="en-US" altLang="zh-TW" sz="1600" dirty="0"/>
              <a:t> Learning tool (e.g., like loss function and optimizer).</a:t>
            </a:r>
          </a:p>
        </p:txBody>
      </p:sp>
      <p:sp>
        <p:nvSpPr>
          <p:cNvPr id="6" name="標題 1">
            <a:extLst>
              <a:ext uri="{FF2B5EF4-FFF2-40B4-BE49-F238E27FC236}">
                <a16:creationId xmlns:a16="http://schemas.microsoft.com/office/drawing/2014/main" id="{3046A77F-1B2F-D9BE-9E1F-C45D8B5BE81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A7D844D1-E62B-BBB6-6D4E-D82EA4049AD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0501" y="1820078"/>
            <a:ext cx="4369532" cy="2459783"/>
          </a:xfrm>
          <a:prstGeom prst="rect">
            <a:avLst/>
          </a:prstGeom>
        </p:spPr>
      </p:pic>
      <p:sp>
        <p:nvSpPr>
          <p:cNvPr id="4" name="文字方塊 3">
            <a:extLst>
              <a:ext uri="{FF2B5EF4-FFF2-40B4-BE49-F238E27FC236}">
                <a16:creationId xmlns:a16="http://schemas.microsoft.com/office/drawing/2014/main" id="{9643FFB5-2C2F-48A8-5E22-3E982FB04A13}"/>
              </a:ext>
            </a:extLst>
          </p:cNvPr>
          <p:cNvSpPr txBox="1"/>
          <p:nvPr/>
        </p:nvSpPr>
        <p:spPr>
          <a:xfrm>
            <a:off x="3563888" y="5381600"/>
            <a:ext cx="648072" cy="423664"/>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GPU</a:t>
            </a:r>
          </a:p>
          <a:p>
            <a:pPr algn="ctr">
              <a:lnSpc>
                <a:spcPts val="1400"/>
              </a:lnSpc>
              <a:buNone/>
            </a:pPr>
            <a:r>
              <a:rPr lang="en-US" altLang="zh-TW" sz="1000" dirty="0"/>
              <a:t>(x80)</a:t>
            </a:r>
            <a:endParaRPr lang="en-US" altLang="zh-TW" sz="1000" u="none" strike="noStrike" dirty="0">
              <a:effectLst/>
            </a:endParaRPr>
          </a:p>
        </p:txBody>
      </p:sp>
      <p:sp>
        <p:nvSpPr>
          <p:cNvPr id="10" name="文字方塊 9">
            <a:extLst>
              <a:ext uri="{FF2B5EF4-FFF2-40B4-BE49-F238E27FC236}">
                <a16:creationId xmlns:a16="http://schemas.microsoft.com/office/drawing/2014/main" id="{E43D07FD-4BF1-56D5-1E68-5ECFB6C16738}"/>
              </a:ext>
            </a:extLst>
          </p:cNvPr>
          <p:cNvSpPr txBox="1"/>
          <p:nvPr/>
        </p:nvSpPr>
        <p:spPr>
          <a:xfrm>
            <a:off x="80670" y="4581128"/>
            <a:ext cx="2403098"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AI Server =  Design(</a:t>
            </a:r>
            <a:r>
              <a:rPr kumimoji="0" lang="en-US" altLang="zh-TW" sz="1200" b="0" i="0" u="none" strike="noStrike" kern="1200" cap="none" spc="0" normalizeH="0" baseline="0" noProof="0" dirty="0" err="1">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Chip+Server</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 Manufacture(TSMC)</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[Design]: GPU/HBM</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[NV-Link, SerDes] 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[Chip Manufacture]: TSMC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Package (COWOS/COPOS/CPO)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[Server] (</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散熱</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/PCB</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多層數</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br>
            <a:endParaRPr lang="zh-TW" altLang="en-US" dirty="0"/>
          </a:p>
        </p:txBody>
      </p:sp>
      <p:sp>
        <p:nvSpPr>
          <p:cNvPr id="11" name="文字方塊 10">
            <a:extLst>
              <a:ext uri="{FF2B5EF4-FFF2-40B4-BE49-F238E27FC236}">
                <a16:creationId xmlns:a16="http://schemas.microsoft.com/office/drawing/2014/main" id="{3EF71A41-6BDB-2DFD-3FF6-8C6F8F33AD0C}"/>
              </a:ext>
            </a:extLst>
          </p:cNvPr>
          <p:cNvSpPr txBox="1"/>
          <p:nvPr/>
        </p:nvSpPr>
        <p:spPr>
          <a:xfrm>
            <a:off x="3563888" y="4797153"/>
            <a:ext cx="648072" cy="432048"/>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HBM</a:t>
            </a:r>
          </a:p>
        </p:txBody>
      </p:sp>
      <p:sp>
        <p:nvSpPr>
          <p:cNvPr id="12" name="文字方塊 11">
            <a:extLst>
              <a:ext uri="{FF2B5EF4-FFF2-40B4-BE49-F238E27FC236}">
                <a16:creationId xmlns:a16="http://schemas.microsoft.com/office/drawing/2014/main" id="{88606B3C-AD5F-004E-06E9-7CF2D013060F}"/>
              </a:ext>
            </a:extLst>
          </p:cNvPr>
          <p:cNvSpPr txBox="1"/>
          <p:nvPr/>
        </p:nvSpPr>
        <p:spPr>
          <a:xfrm>
            <a:off x="2483768" y="5830899"/>
            <a:ext cx="648072" cy="455049"/>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dirty="0">
                <a:solidFill>
                  <a:schemeClr val="accent2"/>
                </a:solidFill>
              </a:rPr>
              <a:t>N</a:t>
            </a:r>
            <a:r>
              <a:rPr lang="en-US" altLang="zh-TW" sz="1400" b="1" u="none" strike="noStrike" dirty="0">
                <a:solidFill>
                  <a:schemeClr val="accent2"/>
                </a:solidFill>
                <a:effectLst/>
              </a:rPr>
              <a:t>PU</a:t>
            </a:r>
            <a:br>
              <a:rPr lang="en-US" altLang="zh-TW" sz="1400" b="1" u="none" strike="noStrike" dirty="0">
                <a:solidFill>
                  <a:schemeClr val="accent2"/>
                </a:solidFill>
                <a:effectLst/>
              </a:rPr>
            </a:br>
            <a:r>
              <a:rPr lang="en-US" altLang="zh-TW" sz="1200" u="none" strike="noStrike" dirty="0">
                <a:effectLst/>
              </a:rPr>
              <a:t>TPU/LPU</a:t>
            </a:r>
            <a:endParaRPr lang="en-US" altLang="zh-TW" sz="1400" b="1" u="none" strike="noStrike" dirty="0">
              <a:effectLst/>
            </a:endParaRPr>
          </a:p>
        </p:txBody>
      </p:sp>
      <p:sp>
        <p:nvSpPr>
          <p:cNvPr id="14" name="文字方塊 13">
            <a:extLst>
              <a:ext uri="{FF2B5EF4-FFF2-40B4-BE49-F238E27FC236}">
                <a16:creationId xmlns:a16="http://schemas.microsoft.com/office/drawing/2014/main" id="{1802B229-6A59-D68D-4D41-00B5AA0FC4D1}"/>
              </a:ext>
            </a:extLst>
          </p:cNvPr>
          <p:cNvSpPr txBox="1"/>
          <p:nvPr/>
        </p:nvSpPr>
        <p:spPr>
          <a:xfrm>
            <a:off x="3563888" y="5229200"/>
            <a:ext cx="648072" cy="152400"/>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000" b="1" u="none" strike="noStrike" dirty="0">
                <a:effectLst/>
              </a:rPr>
              <a:t>COWOS</a:t>
            </a:r>
          </a:p>
        </p:txBody>
      </p:sp>
      <p:graphicFrame>
        <p:nvGraphicFramePr>
          <p:cNvPr id="15" name="表格 14">
            <a:extLst>
              <a:ext uri="{FF2B5EF4-FFF2-40B4-BE49-F238E27FC236}">
                <a16:creationId xmlns:a16="http://schemas.microsoft.com/office/drawing/2014/main" id="{0D967E37-337C-77DC-563E-364C43929D05}"/>
              </a:ext>
            </a:extLst>
          </p:cNvPr>
          <p:cNvGraphicFramePr>
            <a:graphicFrameLocks noGrp="1"/>
          </p:cNvGraphicFramePr>
          <p:nvPr>
            <p:extLst>
              <p:ext uri="{D42A27DB-BD31-4B8C-83A1-F6EECF244321}">
                <p14:modId xmlns:p14="http://schemas.microsoft.com/office/powerpoint/2010/main" val="2907520796"/>
              </p:ext>
            </p:extLst>
          </p:nvPr>
        </p:nvGraphicFramePr>
        <p:xfrm>
          <a:off x="7166148" y="4480279"/>
          <a:ext cx="1726332" cy="1198820"/>
        </p:xfrm>
        <a:graphic>
          <a:graphicData uri="http://schemas.openxmlformats.org/drawingml/2006/table">
            <a:tbl>
              <a:tblPr firstRow="1" bandRow="1">
                <a:tableStyleId>{5C22544A-7EE6-4342-B048-85BDC9FD1C3A}</a:tableStyleId>
              </a:tblPr>
              <a:tblGrid>
                <a:gridCol w="1016933">
                  <a:extLst>
                    <a:ext uri="{9D8B030D-6E8A-4147-A177-3AD203B41FA5}">
                      <a16:colId xmlns:a16="http://schemas.microsoft.com/office/drawing/2014/main" val="3669842267"/>
                    </a:ext>
                  </a:extLst>
                </a:gridCol>
                <a:gridCol w="709399">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AI Chip</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$300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$1200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CoWoS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$1500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NV</a:t>
                      </a:r>
                      <a:r>
                        <a:rPr lang="zh-TW" altLang="en-US" sz="1200" b="0" dirty="0"/>
                        <a:t> </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10*$3000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bl>
          </a:graphicData>
        </a:graphic>
      </p:graphicFrame>
      <p:graphicFrame>
        <p:nvGraphicFramePr>
          <p:cNvPr id="16" name="表格 15">
            <a:extLst>
              <a:ext uri="{FF2B5EF4-FFF2-40B4-BE49-F238E27FC236}">
                <a16:creationId xmlns:a16="http://schemas.microsoft.com/office/drawing/2014/main" id="{55C7A56F-9C32-25C0-494E-54C7295443EA}"/>
              </a:ext>
            </a:extLst>
          </p:cNvPr>
          <p:cNvGraphicFramePr>
            <a:graphicFrameLocks noGrp="1"/>
          </p:cNvGraphicFramePr>
          <p:nvPr>
            <p:extLst>
              <p:ext uri="{D42A27DB-BD31-4B8C-83A1-F6EECF244321}">
                <p14:modId xmlns:p14="http://schemas.microsoft.com/office/powerpoint/2010/main" val="1393272074"/>
              </p:ext>
            </p:extLst>
          </p:nvPr>
        </p:nvGraphicFramePr>
        <p:xfrm>
          <a:off x="5364088" y="4480279"/>
          <a:ext cx="1440160" cy="1846475"/>
        </p:xfrm>
        <a:graphic>
          <a:graphicData uri="http://schemas.openxmlformats.org/drawingml/2006/table">
            <a:tbl>
              <a:tblPr firstRow="1" bandRow="1">
                <a:tableStyleId>{5C22544A-7EE6-4342-B048-85BDC9FD1C3A}</a:tableStyleId>
              </a:tblPr>
              <a:tblGrid>
                <a:gridCol w="848357">
                  <a:extLst>
                    <a:ext uri="{9D8B030D-6E8A-4147-A177-3AD203B41FA5}">
                      <a16:colId xmlns:a16="http://schemas.microsoft.com/office/drawing/2014/main" val="3669842267"/>
                    </a:ext>
                  </a:extLst>
                </a:gridCol>
                <a:gridCol w="591803">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Vera Rubin ($7.8M)</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51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25</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3</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PCB</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Other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20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47291965"/>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MLCC/ABF</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4069503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Heat/Power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1164091"/>
                  </a:ext>
                </a:extLst>
              </a:tr>
            </a:tbl>
          </a:graphicData>
        </a:graphic>
      </p:graphicFrame>
    </p:spTree>
    <p:extLst>
      <p:ext uri="{BB962C8B-B14F-4D97-AF65-F5344CB8AC3E}">
        <p14:creationId xmlns:p14="http://schemas.microsoft.com/office/powerpoint/2010/main" val="346748935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8DCF87D-D8A6-48A4-23C9-ED219CAE6D6A}"/>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4" name="文字方塊 3">
            <a:extLst>
              <a:ext uri="{FF2B5EF4-FFF2-40B4-BE49-F238E27FC236}">
                <a16:creationId xmlns:a16="http://schemas.microsoft.com/office/drawing/2014/main" id="{638D2052-20CE-5307-D375-69FD3BA4E10D}"/>
              </a:ext>
            </a:extLst>
          </p:cNvPr>
          <p:cNvSpPr txBox="1"/>
          <p:nvPr/>
        </p:nvSpPr>
        <p:spPr>
          <a:xfrm>
            <a:off x="179512" y="1700808"/>
            <a:ext cx="4600574" cy="1169551"/>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一、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晶片的硬體製造成本（</a:t>
            </a:r>
            <a:r>
              <a:rPr lang="en-US" altLang="zh-TW" sz="1100" b="1" u="none" strike="noStrike" dirty="0">
                <a:effectLst/>
                <a:latin typeface="Google Sans"/>
                <a:ea typeface="微軟正黑體" panose="020B0604030504040204" pitchFamily="34" charset="-120"/>
              </a:rPr>
              <a:t>BOM </a:t>
            </a:r>
            <a:r>
              <a:rPr lang="zh-TW" altLang="en-US" sz="1100" b="1" u="none" strike="noStrike" dirty="0">
                <a:effectLst/>
                <a:latin typeface="Google Sans"/>
                <a:ea typeface="微軟正黑體" panose="020B0604030504040204" pitchFamily="34" charset="-120"/>
              </a:rPr>
              <a:t>結構）</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以最普及的 </a:t>
            </a:r>
            <a:r>
              <a:rPr lang="en-US" altLang="zh-TW" sz="1100" b="1" u="none" strike="noStrike" dirty="0">
                <a:effectLst/>
                <a:latin typeface="Google Sans"/>
                <a:ea typeface="微軟正黑體" panose="020B0604030504040204" pitchFamily="34" charset="-120"/>
                <a:hlinkClick r:id="rId3"/>
              </a:rPr>
              <a:t>NVIDIA H100 (SXM5)</a:t>
            </a:r>
            <a:r>
              <a:rPr lang="zh-TW" altLang="en-US" sz="1100" b="0" u="none" strike="noStrike" dirty="0">
                <a:effectLst/>
                <a:latin typeface="Google Sans"/>
                <a:ea typeface="微軟正黑體" panose="020B0604030504040204" pitchFamily="34" charset="-120"/>
              </a:rPr>
              <a:t> 晶片為基準，其硬體材料與封裝的</a:t>
            </a:r>
            <a:r>
              <a:rPr lang="zh-TW" altLang="en-US" sz="1100" b="1" u="none" strike="noStrike" dirty="0">
                <a:effectLst/>
                <a:latin typeface="Google Sans"/>
                <a:ea typeface="微軟正黑體" panose="020B0604030504040204" pitchFamily="34" charset="-120"/>
              </a:rPr>
              <a:t>總生產成本約為 </a:t>
            </a:r>
            <a:r>
              <a:rPr lang="en-US" altLang="zh-TW" sz="1100" b="1" u="none" strike="noStrike" dirty="0">
                <a:effectLst/>
                <a:latin typeface="Google Sans"/>
                <a:ea typeface="微軟正黑體" panose="020B0604030504040204" pitchFamily="34" charset="-120"/>
              </a:rPr>
              <a:t>3,320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。然而，因為市場極度供不應求與技術壟斷，其終端售價高達 </a:t>
            </a:r>
            <a:r>
              <a:rPr lang="en-US" altLang="zh-TW" sz="1100" b="1" u="none" strike="noStrike" dirty="0">
                <a:effectLst/>
                <a:latin typeface="Google Sans"/>
                <a:ea typeface="微軟正黑體" panose="020B0604030504040204" pitchFamily="34" charset="-120"/>
              </a:rPr>
              <a:t>28,000 </a:t>
            </a:r>
            <a:r>
              <a:rPr lang="zh-TW" altLang="en-US" sz="1100" b="1" u="none" strike="noStrike" dirty="0">
                <a:effectLst/>
                <a:latin typeface="Google Sans"/>
                <a:ea typeface="微軟正黑體" panose="020B0604030504040204" pitchFamily="34" charset="-120"/>
              </a:rPr>
              <a:t>至 </a:t>
            </a:r>
            <a:r>
              <a:rPr lang="en-US" altLang="zh-TW" sz="1100" b="1" u="none" strike="noStrike" dirty="0">
                <a:effectLst/>
                <a:latin typeface="Google Sans"/>
                <a:ea typeface="微軟正黑體" panose="020B0604030504040204" pitchFamily="34" charset="-120"/>
              </a:rPr>
              <a:t>35,000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，這意味著晶片擁有高達 </a:t>
            </a:r>
            <a:r>
              <a:rPr lang="en-US" altLang="zh-TW" sz="1100" b="1" u="none" strike="noStrike" dirty="0">
                <a:effectLst/>
                <a:latin typeface="Google Sans"/>
                <a:ea typeface="微軟正黑體" panose="020B0604030504040204" pitchFamily="34" charset="-120"/>
              </a:rPr>
              <a:t>85% - 88% </a:t>
            </a:r>
            <a:r>
              <a:rPr lang="zh-TW" altLang="en-US" sz="1100" b="1" u="none" strike="noStrike" dirty="0">
                <a:effectLst/>
                <a:latin typeface="Google Sans"/>
                <a:ea typeface="微軟正黑體" panose="020B0604030504040204" pitchFamily="34" charset="-120"/>
              </a:rPr>
              <a:t>的超高毛利率</a:t>
            </a:r>
            <a:r>
              <a:rPr lang="zh-TW" altLang="en-US" sz="1100" b="0" u="none" strike="noStrike" dirty="0">
                <a:effectLst/>
                <a:latin typeface="Google Sans"/>
                <a:ea typeface="微軟正黑體" panose="020B0604030504040204" pitchFamily="34" charset="-120"/>
              </a:rPr>
              <a:t>。</a:t>
            </a:r>
          </a:p>
        </p:txBody>
      </p:sp>
      <p:sp>
        <p:nvSpPr>
          <p:cNvPr id="10" name="文字方塊 9">
            <a:extLst>
              <a:ext uri="{FF2B5EF4-FFF2-40B4-BE49-F238E27FC236}">
                <a16:creationId xmlns:a16="http://schemas.microsoft.com/office/drawing/2014/main" id="{F7E885B6-DCC5-34B7-750B-0CDBA361DF3B}"/>
              </a:ext>
            </a:extLst>
          </p:cNvPr>
          <p:cNvSpPr txBox="1"/>
          <p:nvPr/>
        </p:nvSpPr>
        <p:spPr>
          <a:xfrm>
            <a:off x="160884" y="2982021"/>
            <a:ext cx="4600574" cy="938719"/>
          </a:xfrm>
          <a:prstGeom prst="rect">
            <a:avLst/>
          </a:prstGeom>
          <a:noFill/>
        </p:spPr>
        <p:txBody>
          <a:bodyPr wrap="square">
            <a:spAutoFit/>
          </a:bodyPr>
          <a:lstStyle/>
          <a:p>
            <a:r>
              <a:rPr lang="en-US" altLang="zh-TW" sz="1100" dirty="0">
                <a:latin typeface="微軟正黑體" panose="020B0604030504040204" pitchFamily="34" charset="-120"/>
                <a:ea typeface="微軟正黑體" panose="020B0604030504040204" pitchFamily="34" charset="-120"/>
              </a:rPr>
              <a:t>NVIDIA H100 </a:t>
            </a:r>
            <a:r>
              <a:rPr lang="zh-TW" altLang="en-US" sz="1100" dirty="0">
                <a:latin typeface="微軟正黑體" panose="020B0604030504040204" pitchFamily="34" charset="-120"/>
                <a:ea typeface="微軟正黑體" panose="020B0604030504040204" pitchFamily="34" charset="-120"/>
              </a:rPr>
              <a:t>晶片製造成本拆解 </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$3,320 </a:t>
            </a:r>
            <a:r>
              <a:rPr lang="zh-TW" altLang="en-US" sz="1100" dirty="0">
                <a:latin typeface="微軟正黑體" panose="020B0604030504040204" pitchFamily="34" charset="-120"/>
                <a:ea typeface="微軟正黑體" panose="020B0604030504040204" pitchFamily="34" charset="-120"/>
              </a:rPr>
              <a:t>美元</a:t>
            </a:r>
            <a:r>
              <a:rPr lang="en-US" altLang="zh-TW" sz="1100" dirty="0">
                <a:latin typeface="微軟正黑體" panose="020B0604030504040204" pitchFamily="34" charset="-120"/>
                <a:ea typeface="微軟正黑體" panose="020B0604030504040204" pitchFamily="34" charset="-120"/>
              </a:rPr>
              <a:t>)</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邏輯晶粒 </a:t>
            </a:r>
            <a:r>
              <a:rPr lang="en-US" altLang="zh-TW" sz="1100" dirty="0">
                <a:latin typeface="微軟正黑體" panose="020B0604030504040204" pitchFamily="34" charset="-120"/>
                <a:ea typeface="微軟正黑體" panose="020B0604030504040204" pitchFamily="34" charset="-120"/>
              </a:rPr>
              <a:t>(Logic Die: TSMC 4N)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$300 ( 9%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高頻寬記憶體 </a:t>
            </a:r>
            <a:r>
              <a:rPr lang="en-US" altLang="zh-TW" sz="1100" dirty="0">
                <a:latin typeface="微軟正黑體" panose="020B0604030504040204" pitchFamily="34" charset="-120"/>
                <a:ea typeface="微軟正黑體" panose="020B0604030504040204" pitchFamily="34" charset="-120"/>
              </a:rPr>
              <a:t>(HBM3, 80GB)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$1,350 ( 41%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先進封裝 </a:t>
            </a:r>
            <a:r>
              <a:rPr lang="en-US" altLang="zh-TW" sz="1100" dirty="0">
                <a:latin typeface="微軟正黑體" panose="020B0604030504040204" pitchFamily="34" charset="-120"/>
                <a:ea typeface="微軟正黑體" panose="020B0604030504040204" pitchFamily="34" charset="-120"/>
              </a:rPr>
              <a:t>(TSMC CoWoS-S)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$750 ( 22%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測試、載板與其餘組裝 </a:t>
            </a:r>
            <a:r>
              <a:rPr lang="en-US" altLang="zh-TW" sz="1100" dirty="0">
                <a:latin typeface="微軟正黑體" panose="020B0604030504040204" pitchFamily="34" charset="-120"/>
                <a:ea typeface="微軟正黑體" panose="020B0604030504040204" pitchFamily="34" charset="-120"/>
              </a:rPr>
              <a:t>(Test/Assy)──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$920 ( 28% )</a:t>
            </a:r>
            <a:endParaRPr lang="zh-TW" altLang="en-US" sz="1100" dirty="0">
              <a:latin typeface="微軟正黑體" panose="020B0604030504040204" pitchFamily="34" charset="-120"/>
              <a:ea typeface="微軟正黑體" panose="020B0604030504040204" pitchFamily="34" charset="-120"/>
            </a:endParaRPr>
          </a:p>
        </p:txBody>
      </p:sp>
      <p:sp>
        <p:nvSpPr>
          <p:cNvPr id="11" name="Rectangle 1">
            <a:extLst>
              <a:ext uri="{FF2B5EF4-FFF2-40B4-BE49-F238E27FC236}">
                <a16:creationId xmlns:a16="http://schemas.microsoft.com/office/drawing/2014/main" id="{7B76D4F8-3568-DF11-A00E-AE477600322A}"/>
              </a:ext>
            </a:extLst>
          </p:cNvPr>
          <p:cNvSpPr>
            <a:spLocks noChangeArrowheads="1"/>
          </p:cNvSpPr>
          <p:nvPr/>
        </p:nvSpPr>
        <p:spPr bwMode="auto">
          <a:xfrm>
            <a:off x="179512" y="4089433"/>
            <a:ext cx="6120680" cy="2200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高頻寬記憶體（HBM）成為第一大成本怪獸 (佔比約 40% - 50%)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雲端大模型（LLM）的運算瓶頸在於記憶體傳輸速度（稱為「記憶體牆」）。因此雲端晶片必須外掛 6 到 8 顆極其昂貴的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HBM3 或 HBM3E</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光是這些記憶體組件，在晶片 BOM 表中就佔據了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1,000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（下一代 B300 晶片搭載 288GB HBM3E 成本將更驚人）。</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台積電先進封裝（CoWoS）是核心門檻 (佔比約 20% - 25%)</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要把龐大的邏輯主晶片（Logic Die）跟數顆 HBM 像蓋大樓一樣緊密接合，傳統封裝無法做到，必須使用</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hlinkClick r:id="rId4"/>
              </a:rPr>
              <a:t>台積電的 CoWoS 先進封裝技術</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這層「中介層（Interposer）」與先進封裝的成本每顆就高達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500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最核心的邏輯主晶片，成本占比反而最低 (佔比約 10%)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負責算力的核心 Logic Die，雖然採用了台積電最頂尖的 4nm 或 3nm 等極紫外光（EUV）製程，但如果單純計算從 12 吋矽晶圓上切下來的「裸晶（Die）」成本，在良率穩定的情況下，單顆成本其實僅約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250 ~ 350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 </a:t>
            </a:r>
          </a:p>
        </p:txBody>
      </p:sp>
      <p:sp>
        <p:nvSpPr>
          <p:cNvPr id="15" name="文字方塊 14">
            <a:extLst>
              <a:ext uri="{FF2B5EF4-FFF2-40B4-BE49-F238E27FC236}">
                <a16:creationId xmlns:a16="http://schemas.microsoft.com/office/drawing/2014/main" id="{822DAA9F-422D-5F46-A460-4C5974302240}"/>
              </a:ext>
            </a:extLst>
          </p:cNvPr>
          <p:cNvSpPr txBox="1"/>
          <p:nvPr/>
        </p:nvSpPr>
        <p:spPr>
          <a:xfrm>
            <a:off x="160884" y="451578"/>
            <a:ext cx="4600574" cy="1107996"/>
          </a:xfrm>
          <a:prstGeom prst="rect">
            <a:avLst/>
          </a:prstGeom>
          <a:noFill/>
        </p:spPr>
        <p:txBody>
          <a:bodyPr wrap="square">
            <a:spAutoFit/>
          </a:bodyPr>
          <a:lstStyle/>
          <a:p>
            <a:r>
              <a:rPr lang="zh-TW" altLang="en-US" sz="1100" dirty="0">
                <a:latin typeface="微軟正黑體" panose="020B0604030504040204" pitchFamily="34" charset="-120"/>
                <a:ea typeface="微軟正黑體" panose="020B0604030504040204" pitchFamily="34" charset="-120"/>
              </a:rPr>
              <a:t>雲端人工智慧晶片（</a:t>
            </a:r>
            <a:r>
              <a:rPr lang="en-US" altLang="zh-TW" sz="1100" dirty="0">
                <a:latin typeface="微軟正黑體" panose="020B0604030504040204" pitchFamily="34" charset="-120"/>
                <a:ea typeface="微軟正黑體" panose="020B0604030504040204" pitchFamily="34" charset="-120"/>
              </a:rPr>
              <a:t>Cloud AI Chip</a:t>
            </a:r>
            <a:r>
              <a:rPr lang="zh-TW" altLang="en-US" sz="1100" dirty="0">
                <a:latin typeface="微軟正黑體" panose="020B0604030504040204" pitchFamily="34" charset="-120"/>
                <a:ea typeface="微軟正黑體" panose="020B0604030504040204" pitchFamily="34" charset="-120"/>
              </a:rPr>
              <a:t>，如 </a:t>
            </a:r>
            <a:r>
              <a:rPr lang="en-US" altLang="zh-TW" sz="1100" dirty="0">
                <a:latin typeface="微軟正黑體" panose="020B0604030504040204" pitchFamily="34" charset="-120"/>
                <a:ea typeface="微軟正黑體" panose="020B0604030504040204" pitchFamily="34" charset="-120"/>
              </a:rPr>
              <a:t>NVIDIA H100 / B200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AMD MI300X</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Google TPU</a:t>
            </a:r>
            <a:r>
              <a:rPr lang="zh-TW" altLang="en-US" sz="1100" dirty="0">
                <a:latin typeface="微軟正黑體" panose="020B0604030504040204" pitchFamily="34" charset="-120"/>
                <a:ea typeface="微軟正黑體" panose="020B0604030504040204" pitchFamily="34" charset="-120"/>
              </a:rPr>
              <a:t>）的設計核心是「不惜一切代價追求極致算力與記憶體頻寬」。與 </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晶片斤斤計較於幾美元的低成本不同，雲端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晶片屬於動輒數千甚至數萬美元的晶片巨獸。根據 </a:t>
            </a:r>
            <a:r>
              <a:rPr lang="en-US" altLang="zh-TW" sz="1100" dirty="0">
                <a:latin typeface="微軟正黑體" panose="020B0604030504040204" pitchFamily="34" charset="-120"/>
                <a:ea typeface="微軟正黑體" panose="020B0604030504040204" pitchFamily="34" charset="-120"/>
              </a:rPr>
              <a:t>Silicon Analysts </a:t>
            </a:r>
            <a:r>
              <a:rPr lang="zh-TW" altLang="en-US" sz="1100" dirty="0">
                <a:latin typeface="微軟正黑體" panose="020B0604030504040204" pitchFamily="34" charset="-120"/>
                <a:ea typeface="微軟正黑體" panose="020B0604030504040204" pitchFamily="34" charset="-120"/>
              </a:rPr>
              <a:t>最新產業研究與 </a:t>
            </a:r>
            <a:r>
              <a:rPr lang="en-US" altLang="zh-TW" sz="1100" dirty="0">
                <a:latin typeface="微軟正黑體" panose="020B0604030504040204" pitchFamily="34" charset="-120"/>
                <a:ea typeface="微軟正黑體" panose="020B0604030504040204" pitchFamily="34" charset="-120"/>
              </a:rPr>
              <a:t>Epoch AI </a:t>
            </a:r>
            <a:r>
              <a:rPr lang="zh-TW" altLang="en-US" sz="1100" dirty="0">
                <a:latin typeface="微軟正黑體" panose="020B0604030504040204" pitchFamily="34" charset="-120"/>
                <a:ea typeface="微軟正黑體" panose="020B0604030504040204" pitchFamily="34" charset="-120"/>
              </a:rPr>
              <a:t>的數據，雲端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晶片的硬體製造成本（</a:t>
            </a:r>
            <a:r>
              <a:rPr lang="en-US" altLang="zh-TW" sz="1100" dirty="0">
                <a:latin typeface="微軟正黑體" panose="020B0604030504040204" pitchFamily="34" charset="-120"/>
                <a:ea typeface="微軟正黑體" panose="020B0604030504040204" pitchFamily="34" charset="-120"/>
              </a:rPr>
              <a:t>BOM</a:t>
            </a:r>
            <a:r>
              <a:rPr lang="zh-TW" altLang="en-US" sz="1100" dirty="0">
                <a:latin typeface="微軟正黑體" panose="020B0604030504040204" pitchFamily="34" charset="-120"/>
                <a:ea typeface="微軟正黑體" panose="020B0604030504040204" pitchFamily="34" charset="-120"/>
              </a:rPr>
              <a:t>）與整體結構分析如下：</a:t>
            </a:r>
          </a:p>
        </p:txBody>
      </p:sp>
    </p:spTree>
    <p:extLst>
      <p:ext uri="{BB962C8B-B14F-4D97-AF65-F5344CB8AC3E}">
        <p14:creationId xmlns:p14="http://schemas.microsoft.com/office/powerpoint/2010/main" val="6110337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8F9BCE9E-B799-4EF7-10FE-13770935932E}"/>
              </a:ext>
            </a:extLst>
          </p:cNvPr>
          <p:cNvSpPr txBox="1"/>
          <p:nvPr/>
        </p:nvSpPr>
        <p:spPr>
          <a:xfrm>
            <a:off x="107504" y="980728"/>
            <a:ext cx="8928992" cy="3085460"/>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二、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晶片的三大結構性變化趨勢</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進入 </a:t>
            </a:r>
            <a:r>
              <a:rPr lang="en-US" altLang="zh-TW" sz="1100" b="0" u="none" strike="noStrike" dirty="0">
                <a:effectLst/>
                <a:latin typeface="Google Sans"/>
                <a:ea typeface="微軟正黑體" panose="020B0604030504040204" pitchFamily="34" charset="-120"/>
              </a:rPr>
              <a:t>2025</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2026 </a:t>
            </a:r>
            <a:r>
              <a:rPr lang="zh-TW" altLang="en-US" sz="1100" b="0" u="none" strike="noStrike" dirty="0">
                <a:effectLst/>
                <a:latin typeface="Google Sans"/>
                <a:ea typeface="微軟正黑體" panose="020B0604030504040204" pitchFamily="34" charset="-120"/>
              </a:rPr>
              <a:t>年，隨著晶片算力需求邁入「</a:t>
            </a:r>
            <a:r>
              <a:rPr lang="en-US" altLang="zh-TW" sz="1100" b="0" u="none" strike="noStrike" dirty="0">
                <a:effectLst/>
                <a:latin typeface="Google Sans"/>
                <a:ea typeface="微軟正黑體" panose="020B0604030504040204" pitchFamily="34" charset="-120"/>
              </a:rPr>
              <a:t>Blackwell</a:t>
            </a:r>
            <a:r>
              <a:rPr lang="zh-TW" altLang="en-US" sz="1100" b="0" u="none" strike="noStrike" dirty="0">
                <a:effectLst/>
                <a:latin typeface="Google Sans"/>
                <a:ea typeface="微軟正黑體" panose="020B0604030504040204" pitchFamily="34" charset="-120"/>
              </a:rPr>
              <a:t>」與「次世代架構」時代，雲端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晶片的結構正在發生激烈的物理與成本質變：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3"/>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從「單一晶片（</a:t>
            </a:r>
            <a:r>
              <a:rPr lang="en-US" altLang="zh-TW" sz="1100" b="1" u="none" strike="noStrike" dirty="0">
                <a:effectLst/>
                <a:latin typeface="Google Sans"/>
                <a:ea typeface="微軟正黑體" panose="020B0604030504040204" pitchFamily="34" charset="-120"/>
              </a:rPr>
              <a:t>Monolithic</a:t>
            </a:r>
            <a:r>
              <a:rPr lang="zh-TW" altLang="en-US" sz="1100" b="1" u="none" strike="noStrike" dirty="0">
                <a:effectLst/>
                <a:latin typeface="Google Sans"/>
                <a:ea typeface="微軟正黑體" panose="020B0604030504040204" pitchFamily="34" charset="-120"/>
              </a:rPr>
              <a:t>）」走向「小晶片（</a:t>
            </a:r>
            <a:r>
              <a:rPr lang="en-US" altLang="zh-TW" sz="1100" b="1" u="none" strike="noStrike" dirty="0">
                <a:effectLst/>
                <a:latin typeface="Google Sans"/>
                <a:ea typeface="微軟正黑體" panose="020B0604030504040204" pitchFamily="34" charset="-120"/>
              </a:rPr>
              <a:t>Chiplet / Multi-Die</a:t>
            </a:r>
            <a:r>
              <a:rPr lang="zh-TW" altLang="en-US" sz="1100" b="1" u="none" strike="noStrike" dirty="0">
                <a:effectLst/>
                <a:latin typeface="Google Sans"/>
                <a:ea typeface="微軟正黑體" panose="020B0604030504040204" pitchFamily="34" charset="-120"/>
              </a:rPr>
              <a:t>）」</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由於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晶片的面積已經大到逼近曝光機的物理極限（光罩極限，約 </a:t>
            </a:r>
            <a:r>
              <a:rPr lang="en-US" altLang="zh-TW" sz="1100" b="0" u="none" strike="noStrike" dirty="0">
                <a:effectLst/>
                <a:latin typeface="Google Sans"/>
                <a:ea typeface="微軟正黑體" panose="020B0604030504040204" pitchFamily="34" charset="-120"/>
              </a:rPr>
              <a:t>858 mm²</a:t>
            </a:r>
            <a:r>
              <a:rPr lang="zh-TW" altLang="en-US" sz="1100" b="0" u="none" strike="noStrike" dirty="0">
                <a:effectLst/>
                <a:latin typeface="Google Sans"/>
                <a:ea typeface="微軟正黑體" panose="020B0604030504040204" pitchFamily="34" charset="-120"/>
              </a:rPr>
              <a:t>），單一塊晶片再做大就會良率暴跌。現在的雲端晶片（如 </a:t>
            </a:r>
            <a:r>
              <a:rPr lang="en-US" altLang="zh-TW" sz="1100" b="0" u="none" strike="noStrike" dirty="0">
                <a:effectLst/>
                <a:latin typeface="Google Sans"/>
                <a:ea typeface="微軟正黑體" panose="020B0604030504040204" pitchFamily="34" charset="-120"/>
              </a:rPr>
              <a:t>AMD MI300X</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4"/>
              </a:rPr>
              <a:t>NVIDIA Blackwell</a:t>
            </a:r>
            <a:r>
              <a:rPr lang="zh-TW" altLang="en-US" sz="1100" b="0" u="none" strike="noStrike" dirty="0">
                <a:effectLst/>
                <a:latin typeface="Google Sans"/>
                <a:ea typeface="微軟正黑體" panose="020B0604030504040204" pitchFamily="34" charset="-120"/>
              </a:rPr>
              <a:t>）都改用 </a:t>
            </a:r>
            <a:r>
              <a:rPr lang="en-US" altLang="zh-TW" sz="1100" b="1" u="none" strike="noStrike" dirty="0">
                <a:effectLst/>
                <a:latin typeface="Google Sans"/>
                <a:ea typeface="微軟正黑體" panose="020B0604030504040204" pitchFamily="34" charset="-120"/>
              </a:rPr>
              <a:t>Chiplet </a:t>
            </a:r>
            <a:r>
              <a:rPr lang="zh-TW" altLang="en-US" sz="1100" b="1" u="none" strike="noStrike" dirty="0">
                <a:effectLst/>
                <a:latin typeface="Google Sans"/>
                <a:ea typeface="微軟正黑體" panose="020B0604030504040204" pitchFamily="34" charset="-120"/>
              </a:rPr>
              <a:t>技術</a:t>
            </a:r>
            <a:r>
              <a:rPr lang="zh-TW" altLang="en-US" sz="1100" b="0" u="none" strike="noStrike" dirty="0">
                <a:effectLst/>
                <a:latin typeface="Google Sans"/>
                <a:ea typeface="微軟正黑體" panose="020B0604030504040204" pitchFamily="34" charset="-120"/>
              </a:rPr>
              <a:t>：把兩塊或多塊較小的邏輯晶片拼在一起，這雖然增加了先進封裝的成本與複雜度，但極大提升了製造良率。</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封裝技術從 </a:t>
            </a:r>
            <a:r>
              <a:rPr lang="en-US" altLang="zh-TW" sz="1100" b="1" u="none" strike="noStrike" dirty="0">
                <a:effectLst/>
                <a:latin typeface="Google Sans"/>
                <a:ea typeface="微軟正黑體" panose="020B0604030504040204" pitchFamily="34" charset="-120"/>
              </a:rPr>
              <a:t>CoWoS-S </a:t>
            </a:r>
            <a:r>
              <a:rPr lang="zh-TW" altLang="en-US" sz="1100" b="1" u="none" strike="noStrike" dirty="0">
                <a:effectLst/>
                <a:latin typeface="Google Sans"/>
                <a:ea typeface="微軟正黑體" panose="020B0604030504040204" pitchFamily="34" charset="-120"/>
              </a:rPr>
              <a:t>演進至 </a:t>
            </a:r>
            <a:r>
              <a:rPr lang="en-US" altLang="zh-TW" sz="1100" b="1" u="none" strike="noStrike" dirty="0">
                <a:effectLst/>
                <a:latin typeface="Google Sans"/>
                <a:ea typeface="微軟正黑體" panose="020B0604030504040204" pitchFamily="34" charset="-120"/>
              </a:rPr>
              <a:t>CoWoS-L</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過去使用全矽中介層（</a:t>
            </a:r>
            <a:r>
              <a:rPr lang="en-US" altLang="zh-TW" sz="1100" b="0" u="none" strike="noStrike" dirty="0">
                <a:effectLst/>
                <a:latin typeface="Google Sans"/>
                <a:ea typeface="微軟正黑體" panose="020B0604030504040204" pitchFamily="34" charset="-120"/>
              </a:rPr>
              <a:t>CoWoS-S</a:t>
            </a:r>
            <a:r>
              <a:rPr lang="zh-TW" altLang="en-US" sz="1100" b="0" u="none" strike="noStrike" dirty="0">
                <a:effectLst/>
                <a:latin typeface="Google Sans"/>
                <a:ea typeface="微軟正黑體" panose="020B0604030504040204" pitchFamily="34" charset="-120"/>
              </a:rPr>
              <a:t>）的尺寸受到限制。為了塞入更多的邏輯晶片與更多堆疊的 </a:t>
            </a:r>
            <a:r>
              <a:rPr lang="en-US" altLang="zh-TW" sz="1100" b="0" u="none" strike="noStrike" dirty="0">
                <a:effectLst/>
                <a:latin typeface="Google Sans"/>
                <a:ea typeface="微軟正黑體" panose="020B0604030504040204" pitchFamily="34" charset="-120"/>
              </a:rPr>
              <a:t>HBM</a:t>
            </a:r>
            <a:r>
              <a:rPr lang="zh-TW" altLang="en-US" sz="1100" b="0" u="none" strike="noStrike" dirty="0">
                <a:effectLst/>
                <a:latin typeface="Google Sans"/>
                <a:ea typeface="微軟正黑體" panose="020B0604030504040204" pitchFamily="34" charset="-120"/>
              </a:rPr>
              <a:t>，現在產業大量轉向</a:t>
            </a:r>
            <a:r>
              <a:rPr lang="zh-TW" altLang="en-US" sz="1100" b="0" u="none" strike="noStrike" dirty="0">
                <a:effectLst/>
                <a:latin typeface="Google Sans"/>
                <a:ea typeface="微軟正黑體" panose="020B0604030504040204" pitchFamily="34" charset="-120"/>
                <a:hlinkClick r:id="rId3"/>
              </a:rPr>
              <a:t>採用局部矽橋接的有機中介層技術（</a:t>
            </a:r>
            <a:r>
              <a:rPr lang="en-US" altLang="zh-TW" sz="1100" b="0" u="none" strike="noStrike" dirty="0">
                <a:effectLst/>
                <a:latin typeface="Google Sans"/>
                <a:ea typeface="微軟正黑體" panose="020B0604030504040204" pitchFamily="34" charset="-120"/>
                <a:hlinkClick r:id="rId3"/>
              </a:rPr>
              <a:t>CoWoS-L</a:t>
            </a:r>
            <a:r>
              <a:rPr lang="zh-TW" altLang="en-US" sz="1100" b="0" u="none" strike="noStrike" dirty="0">
                <a:effectLst/>
                <a:latin typeface="Google Sans"/>
                <a:ea typeface="微軟正黑體" panose="020B0604030504040204" pitchFamily="34" charset="-120"/>
                <a:hlinkClick r:id="rId3"/>
              </a:rPr>
              <a:t>）</a:t>
            </a:r>
            <a:r>
              <a:rPr lang="zh-TW" altLang="en-US" sz="1100" b="0" u="none" strike="noStrike" dirty="0">
                <a:effectLst/>
                <a:latin typeface="Google Sans"/>
                <a:ea typeface="微軟正黑體" panose="020B0604030504040204" pitchFamily="34" charset="-120"/>
              </a:rPr>
              <a:t>，這能允許晶片封裝面積擴大數倍，支持更龐大的超級晶片架構。</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系統級晶片（</a:t>
            </a:r>
            <a:r>
              <a:rPr lang="en-US" altLang="zh-TW" sz="1100" b="1" u="none" strike="noStrike" dirty="0">
                <a:effectLst/>
                <a:latin typeface="Google Sans"/>
                <a:ea typeface="微軟正黑體" panose="020B0604030504040204" pitchFamily="34" charset="-120"/>
              </a:rPr>
              <a:t>System-on-Wafer</a:t>
            </a:r>
            <a:r>
              <a:rPr lang="zh-TW" altLang="en-US" sz="1100" b="1" u="none" strike="noStrike" dirty="0">
                <a:effectLst/>
                <a:latin typeface="Google Sans"/>
                <a:ea typeface="微軟正黑體" panose="020B0604030504040204" pitchFamily="34" charset="-120"/>
              </a:rPr>
              <a:t>）與光子學（</a:t>
            </a:r>
            <a:r>
              <a:rPr lang="en-US" altLang="zh-TW" sz="1100" b="1" u="none" strike="noStrike" dirty="0">
                <a:effectLst/>
                <a:latin typeface="Google Sans"/>
                <a:ea typeface="微軟正黑體" panose="020B0604030504040204" pitchFamily="34" charset="-120"/>
              </a:rPr>
              <a:t>Silicon Photonics</a:t>
            </a:r>
            <a:r>
              <a:rPr lang="zh-TW" altLang="en-US" sz="1100" b="1" u="none" strike="noStrike" dirty="0">
                <a:effectLst/>
                <a:latin typeface="Google Sans"/>
                <a:ea typeface="微軟正黑體" panose="020B0604030504040204" pitchFamily="34" charset="-120"/>
              </a:rPr>
              <a:t>）興起</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為了徹底打破傳統銅線傳輸的延遲與功耗，高階雲端晶片開始導入</a:t>
            </a:r>
            <a:r>
              <a:rPr lang="zh-TW" altLang="en-US" sz="1100" b="1" u="none" strike="noStrike" dirty="0">
                <a:effectLst/>
                <a:latin typeface="Google Sans"/>
                <a:ea typeface="微軟正黑體" panose="020B0604030504040204" pitchFamily="34" charset="-120"/>
              </a:rPr>
              <a:t>矽光子技術</a:t>
            </a:r>
            <a:r>
              <a:rPr lang="zh-TW" altLang="en-US" sz="1100" b="0" u="none" strike="noStrike" dirty="0">
                <a:effectLst/>
                <a:latin typeface="Google Sans"/>
                <a:ea typeface="微軟正黑體" panose="020B0604030504040204" pitchFamily="34" charset="-120"/>
              </a:rPr>
              <a:t>，利用光訊號代替電訊號進行晶片間的高速傳輸；更有甚者（如 </a:t>
            </a:r>
            <a:r>
              <a:rPr lang="en-US" altLang="zh-TW" sz="1100" b="0" u="none" strike="noStrike" dirty="0">
                <a:effectLst/>
                <a:latin typeface="Google Sans"/>
                <a:ea typeface="微軟正黑體" panose="020B0604030504040204" pitchFamily="34" charset="-120"/>
              </a:rPr>
              <a:t>Cerebras WSE-3</a:t>
            </a:r>
            <a:r>
              <a:rPr lang="zh-TW" altLang="en-US" sz="1100" b="0" u="none" strike="noStrike" dirty="0">
                <a:effectLst/>
                <a:latin typeface="Google Sans"/>
                <a:ea typeface="微軟正黑體" panose="020B0604030504040204" pitchFamily="34" charset="-120"/>
              </a:rPr>
              <a:t>）直接將整塊 </a:t>
            </a:r>
            <a:r>
              <a:rPr lang="en-US" altLang="zh-TW" sz="1100" b="0" u="none" strike="noStrike" dirty="0">
                <a:effectLst/>
                <a:latin typeface="Google Sans"/>
                <a:ea typeface="微軟正黑體" panose="020B0604030504040204" pitchFamily="34" charset="-120"/>
              </a:rPr>
              <a:t>12 </a:t>
            </a:r>
            <a:r>
              <a:rPr lang="zh-TW" altLang="en-US" sz="1100" b="0" u="none" strike="noStrike" dirty="0">
                <a:effectLst/>
                <a:latin typeface="Google Sans"/>
                <a:ea typeface="微軟正黑體" panose="020B0604030504040204" pitchFamily="34" charset="-120"/>
              </a:rPr>
              <a:t>吋晶圓做成單一顆超巨大晶片。</a:t>
            </a:r>
          </a:p>
        </p:txBody>
      </p:sp>
      <p:sp>
        <p:nvSpPr>
          <p:cNvPr id="5" name="文字方塊 4">
            <a:extLst>
              <a:ext uri="{FF2B5EF4-FFF2-40B4-BE49-F238E27FC236}">
                <a16:creationId xmlns:a16="http://schemas.microsoft.com/office/drawing/2014/main" id="{88599599-67B4-B35F-D446-D9CC83D395EF}"/>
              </a:ext>
            </a:extLst>
          </p:cNvPr>
          <p:cNvSpPr txBox="1"/>
          <p:nvPr/>
        </p:nvSpPr>
        <p:spPr>
          <a:xfrm>
            <a:off x="112862" y="4085238"/>
            <a:ext cx="8923634" cy="2346796"/>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三、 超越晶片本身的「隱形研發與系統成本」</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買了雲端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晶片並不代表能直接運作，對於 </a:t>
            </a:r>
            <a:r>
              <a:rPr lang="en-US" altLang="zh-TW" sz="1100" b="0" u="none" strike="noStrike" dirty="0">
                <a:effectLst/>
                <a:latin typeface="Google Sans"/>
                <a:ea typeface="微軟正黑體" panose="020B0604030504040204" pitchFamily="34" charset="-120"/>
              </a:rPr>
              <a:t>IC </a:t>
            </a:r>
            <a:r>
              <a:rPr lang="zh-TW" altLang="en-US" sz="1100" b="0" u="none" strike="noStrike" dirty="0">
                <a:effectLst/>
                <a:latin typeface="Google Sans"/>
                <a:ea typeface="微軟正黑體" panose="020B0604030504040204" pitchFamily="34" charset="-120"/>
              </a:rPr>
              <a:t>設計公司與資料中心（如微軟、</a:t>
            </a:r>
            <a:r>
              <a:rPr lang="en-US" altLang="zh-TW" sz="1100" b="0" u="none" strike="noStrike" dirty="0">
                <a:effectLst/>
                <a:latin typeface="Google Sans"/>
                <a:ea typeface="微軟正黑體" panose="020B0604030504040204" pitchFamily="34" charset="-120"/>
              </a:rPr>
              <a:t>Google</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Meta</a:t>
            </a:r>
            <a:r>
              <a:rPr lang="zh-TW" altLang="en-US" sz="1100" b="0" u="none" strike="noStrike" dirty="0">
                <a:effectLst/>
                <a:latin typeface="Google Sans"/>
                <a:ea typeface="微軟正黑體" panose="020B0604030504040204" pitchFamily="34" charset="-120"/>
              </a:rPr>
              <a:t>）而言，還存在著巨大的結構性成本：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5"/>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天文數字的 </a:t>
            </a:r>
            <a:r>
              <a:rPr lang="en-US" altLang="zh-TW" sz="1100" b="1" u="none" strike="noStrike" dirty="0">
                <a:effectLst/>
                <a:latin typeface="Google Sans"/>
                <a:ea typeface="微軟正黑體" panose="020B0604030504040204" pitchFamily="34" charset="-120"/>
              </a:rPr>
              <a:t>NRE</a:t>
            </a:r>
            <a:r>
              <a:rPr lang="zh-TW" altLang="en-US" sz="1100" b="1" u="none" strike="noStrike" dirty="0">
                <a:effectLst/>
                <a:latin typeface="Google Sans"/>
                <a:ea typeface="微軟正黑體" panose="020B0604030504040204" pitchFamily="34" charset="-120"/>
              </a:rPr>
              <a:t>（研發與光罩費用）</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開發一款 </a:t>
            </a:r>
            <a:r>
              <a:rPr lang="en-US" altLang="zh-TW" sz="1100" b="0" u="none" strike="noStrike" dirty="0">
                <a:effectLst/>
                <a:latin typeface="Google Sans"/>
                <a:ea typeface="微軟正黑體" panose="020B0604030504040204" pitchFamily="34" charset="-120"/>
              </a:rPr>
              <a:t>3nm </a:t>
            </a:r>
            <a:r>
              <a:rPr lang="zh-TW" altLang="en-US" sz="1100" b="0" u="none" strike="noStrike" dirty="0">
                <a:effectLst/>
                <a:latin typeface="Google Sans"/>
                <a:ea typeface="微軟正黑體" panose="020B0604030504040204" pitchFamily="34" charset="-120"/>
              </a:rPr>
              <a:t>級別的雲端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晶片，前期的晶片架構設計、</a:t>
            </a:r>
            <a:r>
              <a:rPr lang="en-US" altLang="zh-TW" sz="1100" b="0" u="none" strike="noStrike" dirty="0">
                <a:effectLst/>
                <a:latin typeface="Google Sans"/>
                <a:ea typeface="微軟正黑體" panose="020B0604030504040204" pitchFamily="34" charset="-120"/>
              </a:rPr>
              <a:t>EDA </a:t>
            </a:r>
            <a:r>
              <a:rPr lang="zh-TW" altLang="en-US" sz="1100" b="0" u="none" strike="noStrike" dirty="0">
                <a:effectLst/>
                <a:latin typeface="Google Sans"/>
                <a:ea typeface="微軟正黑體" panose="020B0604030504040204" pitchFamily="34" charset="-120"/>
              </a:rPr>
              <a:t>軟體授權、光罩（</a:t>
            </a:r>
            <a:r>
              <a:rPr lang="en-US" altLang="zh-TW" sz="1100" b="0" u="none" strike="noStrike" dirty="0">
                <a:effectLst/>
                <a:latin typeface="Google Sans"/>
                <a:ea typeface="微軟正黑體" panose="020B0604030504040204" pitchFamily="34" charset="-120"/>
              </a:rPr>
              <a:t>Mask</a:t>
            </a:r>
            <a:r>
              <a:rPr lang="zh-TW" altLang="en-US" sz="1100" b="0" u="none" strike="noStrike" dirty="0">
                <a:effectLst/>
                <a:latin typeface="Google Sans"/>
                <a:ea typeface="微軟正黑體" panose="020B0604030504040204" pitchFamily="34" charset="-120"/>
              </a:rPr>
              <a:t>）製作，一次投片失敗就是數億美元蒸發。這需要晶片公司有極強的資本支撐，也是為什麼目前全球只有 </a:t>
            </a:r>
            <a:r>
              <a:rPr lang="en-US" altLang="zh-TW" sz="1100" b="0" u="none" strike="noStrike" dirty="0">
                <a:effectLst/>
                <a:latin typeface="Google Sans"/>
                <a:ea typeface="微軟正黑體" panose="020B0604030504040204" pitchFamily="34" charset="-120"/>
              </a:rPr>
              <a:t>NVIDIA</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AMD </a:t>
            </a:r>
            <a:r>
              <a:rPr lang="zh-TW" altLang="en-US" sz="1100" b="0" u="none" strike="noStrike" dirty="0">
                <a:effectLst/>
                <a:latin typeface="Google Sans"/>
                <a:ea typeface="微軟正黑體" panose="020B0604030504040204" pitchFamily="34" charset="-120"/>
              </a:rPr>
              <a:t>以及少數幾家大型雲端巨頭（</a:t>
            </a:r>
            <a:r>
              <a:rPr lang="en-US" altLang="zh-TW" sz="1100" b="0" u="none" strike="noStrike" dirty="0">
                <a:effectLst/>
                <a:latin typeface="Google Sans"/>
                <a:ea typeface="微軟正黑體" panose="020B0604030504040204" pitchFamily="34" charset="-120"/>
              </a:rPr>
              <a:t>CSPs</a:t>
            </a:r>
            <a:r>
              <a:rPr lang="zh-TW" altLang="en-US" sz="1100" b="0" u="none" strike="noStrike" dirty="0">
                <a:effectLst/>
                <a:latin typeface="Google Sans"/>
                <a:ea typeface="微軟正黑體" panose="020B0604030504040204" pitchFamily="34" charset="-120"/>
              </a:rPr>
              <a:t>）有能力自行研發 </a:t>
            </a:r>
            <a:r>
              <a:rPr lang="en-US" altLang="zh-TW" sz="1100" b="0" u="none" strike="noStrike" dirty="0">
                <a:effectLst/>
                <a:latin typeface="Google Sans"/>
                <a:ea typeface="微軟正黑體" panose="020B0604030504040204" pitchFamily="34" charset="-120"/>
              </a:rPr>
              <a:t>ASIC </a:t>
            </a:r>
            <a:r>
              <a:rPr lang="zh-TW" altLang="en-US" sz="1100" b="0" u="none" strike="noStrike" dirty="0">
                <a:effectLst/>
                <a:latin typeface="Google Sans"/>
                <a:ea typeface="微軟正黑體" panose="020B0604030504040204" pitchFamily="34" charset="-120"/>
              </a:rPr>
              <a:t>晶片。</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軟體生態系牆（</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護城河）</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雲端晶片極度依賴龐大的分散式運算軟體。</a:t>
            </a:r>
            <a:r>
              <a:rPr lang="en-US" altLang="zh-TW" sz="1100" b="0" u="none" strike="noStrike" dirty="0">
                <a:effectLst/>
                <a:latin typeface="Google Sans"/>
                <a:ea typeface="微軟正黑體" panose="020B0604030504040204" pitchFamily="34" charset="-120"/>
              </a:rPr>
              <a:t>NVIDIA </a:t>
            </a:r>
            <a:r>
              <a:rPr lang="zh-TW" altLang="en-US" sz="1100" b="0" u="none" strike="noStrike" dirty="0">
                <a:effectLst/>
                <a:latin typeface="Google Sans"/>
                <a:ea typeface="微軟正黑體" panose="020B0604030504040204" pitchFamily="34" charset="-120"/>
              </a:rPr>
              <a:t>每年在 </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軟體平台</a:t>
            </a:r>
            <a:r>
              <a:rPr lang="zh-TW" altLang="en-US" sz="1100" b="0" u="none" strike="noStrike" dirty="0">
                <a:effectLst/>
                <a:latin typeface="Google Sans"/>
                <a:ea typeface="微軟正黑體" panose="020B0604030504040204" pitchFamily="34" charset="-120"/>
              </a:rPr>
              <a:t> 上投入的研發工程師與資金不計其數。許多競爭對手的硬體成本雖然較低，但因為軟體編譯器（</a:t>
            </a:r>
            <a:r>
              <a:rPr lang="en-US" altLang="zh-TW" sz="1100" b="0" u="none" strike="noStrike" dirty="0">
                <a:effectLst/>
                <a:latin typeface="Google Sans"/>
                <a:ea typeface="微軟正黑體" panose="020B0604030504040204" pitchFamily="34" charset="-120"/>
              </a:rPr>
              <a:t>Compiler</a:t>
            </a:r>
            <a:r>
              <a:rPr lang="zh-TW" altLang="en-US" sz="1100" b="0" u="none" strike="noStrike" dirty="0">
                <a:effectLst/>
                <a:latin typeface="Google Sans"/>
                <a:ea typeface="微軟正黑體" panose="020B0604030504040204" pitchFamily="34" charset="-120"/>
              </a:rPr>
              <a:t>）無法完美將數千顆晶片串聯進行大型語言模型（</a:t>
            </a:r>
            <a:r>
              <a:rPr lang="en-US" altLang="zh-TW" sz="1100" b="0" u="none" strike="noStrike" dirty="0">
                <a:effectLst/>
                <a:latin typeface="Google Sans"/>
                <a:ea typeface="微軟正黑體" panose="020B0604030504040204" pitchFamily="34" charset="-120"/>
              </a:rPr>
              <a:t>LLM</a:t>
            </a:r>
            <a:r>
              <a:rPr lang="zh-TW" altLang="en-US" sz="1100" b="0" u="none" strike="noStrike" dirty="0">
                <a:effectLst/>
                <a:latin typeface="Google Sans"/>
                <a:ea typeface="微軟正黑體" panose="020B0604030504040204" pitchFamily="34" charset="-120"/>
              </a:rPr>
              <a:t>）的訓練，導致客戶轉向的軟體遷移成本高得難以想像。</a:t>
            </a:r>
          </a:p>
        </p:txBody>
      </p:sp>
      <p:sp>
        <p:nvSpPr>
          <p:cNvPr id="6" name="標題 1">
            <a:extLst>
              <a:ext uri="{FF2B5EF4-FFF2-40B4-BE49-F238E27FC236}">
                <a16:creationId xmlns:a16="http://schemas.microsoft.com/office/drawing/2014/main" id="{D243E1F9-718F-53B6-DEBA-3F7AC8EE3F2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Tree>
    <p:extLst>
      <p:ext uri="{BB962C8B-B14F-4D97-AF65-F5344CB8AC3E}">
        <p14:creationId xmlns:p14="http://schemas.microsoft.com/office/powerpoint/2010/main" val="224099697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EEB37-4D02-FA99-CAFE-1AD2F6B60D85}"/>
            </a:ext>
          </a:extLst>
        </p:cNvPr>
        <p:cNvGrpSpPr/>
        <p:nvPr/>
      </p:nvGrpSpPr>
      <p:grpSpPr>
        <a:xfrm>
          <a:off x="0" y="0"/>
          <a:ext cx="0" cy="0"/>
          <a:chOff x="0" y="0"/>
          <a:chExt cx="0" cy="0"/>
        </a:xfrm>
      </p:grpSpPr>
      <p:sp>
        <p:nvSpPr>
          <p:cNvPr id="11" name="Rectangle 2">
            <a:extLst>
              <a:ext uri="{FF2B5EF4-FFF2-40B4-BE49-F238E27FC236}">
                <a16:creationId xmlns:a16="http://schemas.microsoft.com/office/drawing/2014/main" id="{461DE1F0-FD17-DB02-14FB-430F8776844A}"/>
              </a:ext>
            </a:extLst>
          </p:cNvPr>
          <p:cNvSpPr>
            <a:spLocks noChangeArrowheads="1"/>
          </p:cNvSpPr>
          <p:nvPr/>
        </p:nvSpPr>
        <p:spPr bwMode="auto">
          <a:xfrm>
            <a:off x="251519" y="2349839"/>
            <a:ext cx="698477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4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 Edge AI 晶片的硬體成本結構（BOM 結構）</a:t>
            </a:r>
            <a:endParaRPr kumimoji="0" lang="zh-TW" altLang="zh-TW" sz="14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Edge AI 晶片通常以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SoC（系統單晶片）</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或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Chiplet（小晶片封裝）</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的形式存在。</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一顆 Edge AI 晶片的硬體製造總成本，主要由以下四大核心區塊組成： </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邏輯晶圓（</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Logic Die</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35% - 45%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記憶體（</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Memory</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25% - 35%AI</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先進封裝與測試</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15% - 25%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晶片測試。</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IP </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授權與權利金</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5% - 10%</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晶片內部的架構多非全自研。</a:t>
            </a:r>
          </a:p>
        </p:txBody>
      </p:sp>
      <p:sp>
        <p:nvSpPr>
          <p:cNvPr id="29" name="文字方塊 28">
            <a:extLst>
              <a:ext uri="{FF2B5EF4-FFF2-40B4-BE49-F238E27FC236}">
                <a16:creationId xmlns:a16="http://schemas.microsoft.com/office/drawing/2014/main" id="{D53A45AC-2EC1-50D2-D682-7CB10042CEC0}"/>
              </a:ext>
            </a:extLst>
          </p:cNvPr>
          <p:cNvSpPr txBox="1"/>
          <p:nvPr/>
        </p:nvSpPr>
        <p:spPr>
          <a:xfrm>
            <a:off x="129558" y="3922891"/>
            <a:ext cx="7106737" cy="1954381"/>
          </a:xfrm>
          <a:prstGeom prst="rect">
            <a:avLst/>
          </a:prstGeom>
          <a:noFill/>
        </p:spPr>
        <p:txBody>
          <a:bodyPr wrap="square">
            <a:spAutoFit/>
          </a:bodyPr>
          <a:lstStyle/>
          <a:p>
            <a:pPr lvl="0" eaLnBrk="0" fontAlgn="base" hangingPunct="0">
              <a:spcBef>
                <a:spcPct val="0"/>
              </a:spcBef>
              <a:spcAft>
                <a:spcPct val="0"/>
              </a:spcAft>
            </a:pPr>
            <a:r>
              <a:rPr lang="zh-TW" altLang="en-US" sz="1100" b="1" u="none" strike="noStrike" dirty="0">
                <a:effectLst/>
                <a:latin typeface="微軟正黑體" panose="020B0604030504040204" pitchFamily="34" charset="-120"/>
                <a:ea typeface="微軟正黑體" panose="020B0604030504040204" pitchFamily="34" charset="-120"/>
              </a:rPr>
              <a:t>二、 晶片的晶圓晶粒（</a:t>
            </a:r>
            <a:r>
              <a:rPr lang="en-US" altLang="zh-TW" sz="1100" b="1" u="none" strike="noStrike" dirty="0">
                <a:effectLst/>
                <a:latin typeface="微軟正黑體" panose="020B0604030504040204" pitchFamily="34" charset="-120"/>
                <a:ea typeface="微軟正黑體" panose="020B0604030504040204" pitchFamily="34" charset="-120"/>
              </a:rPr>
              <a:t>Die</a:t>
            </a:r>
            <a:r>
              <a:rPr lang="zh-TW" altLang="en-US" sz="1100" b="1" u="none" strike="noStrike" dirty="0">
                <a:effectLst/>
                <a:latin typeface="微軟正黑體" panose="020B0604030504040204" pitchFamily="34" charset="-120"/>
                <a:ea typeface="微軟正黑體" panose="020B0604030504040204" pitchFamily="34" charset="-120"/>
              </a:rPr>
              <a:t>）內部面積結構分析</a:t>
            </a:r>
            <a:r>
              <a:rPr lang="zh-TW" altLang="zh-TW" sz="1100" b="1" dirty="0">
                <a:latin typeface="微軟正黑體" panose="020B0604030504040204" pitchFamily="34" charset="-120"/>
                <a:ea typeface="微軟正黑體" panose="020B0604030504040204" pitchFamily="34" charset="-120"/>
              </a:rPr>
              <a:t>）</a:t>
            </a:r>
            <a:endParaRPr lang="zh-TW"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r>
              <a:rPr lang="zh-TW" altLang="en-US" sz="1100" dirty="0">
                <a:latin typeface="微軟正黑體" panose="020B0604030504040204" pitchFamily="34" charset="-120"/>
                <a:ea typeface="微軟正黑體" panose="020B0604030504040204" pitchFamily="34" charset="-120"/>
              </a:rPr>
              <a:t>如果將晶片放大來看，在矽晶圓的「晶粒面積（</a:t>
            </a:r>
            <a:r>
              <a:rPr lang="en-US" altLang="zh-TW" sz="1100" dirty="0">
                <a:latin typeface="微軟正黑體" panose="020B0604030504040204" pitchFamily="34" charset="-120"/>
                <a:ea typeface="微軟正黑體" panose="020B0604030504040204" pitchFamily="34" charset="-120"/>
              </a:rPr>
              <a:t>Die Area</a:t>
            </a:r>
            <a:r>
              <a:rPr lang="zh-TW" altLang="en-US" sz="1100" dirty="0">
                <a:latin typeface="微軟正黑體" panose="020B0604030504040204" pitchFamily="34" charset="-120"/>
                <a:ea typeface="微軟正黑體" panose="020B0604030504040204" pitchFamily="34" charset="-120"/>
              </a:rPr>
              <a:t>）」分配上，</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晶片呈現顯著的「記憶體與算力高度拉鋸」特徵。</a:t>
            </a:r>
            <a:endParaRPr lang="en-US"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endParaRPr lang="en-US" altLang="zh-TW" sz="1100" dirty="0">
              <a:latin typeface="微軟正黑體" panose="020B0604030504040204" pitchFamily="34" charset="-120"/>
              <a:ea typeface="微軟正黑體" panose="020B0604030504040204" pitchFamily="34" charset="-120"/>
            </a:endParaRP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記憶體佔地極大（</a:t>
            </a:r>
            <a:r>
              <a:rPr lang="en-US" altLang="zh-TW" sz="1100" dirty="0">
                <a:latin typeface="微軟正黑體" panose="020B0604030504040204" pitchFamily="34" charset="-120"/>
                <a:ea typeface="微軟正黑體" panose="020B0604030504040204" pitchFamily="34" charset="-120"/>
              </a:rPr>
              <a:t>SRAM / Cache,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40% - 50%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推論（</a:t>
            </a:r>
            <a:r>
              <a:rPr lang="en-US" altLang="zh-TW" sz="1100" dirty="0">
                <a:latin typeface="微軟正黑體" panose="020B0604030504040204" pitchFamily="34" charset="-120"/>
                <a:ea typeface="微軟正黑體" panose="020B0604030504040204" pitchFamily="34" charset="-120"/>
              </a:rPr>
              <a:t>Inference</a:t>
            </a:r>
            <a:r>
              <a:rPr lang="zh-TW" altLang="en-US" sz="1100" dirty="0">
                <a:latin typeface="微軟正黑體" panose="020B0604030504040204" pitchFamily="34" charset="-120"/>
                <a:ea typeface="微軟正黑體" panose="020B0604030504040204" pitchFamily="34" charset="-120"/>
              </a:rPr>
              <a:t>）需要频繁讀取權重（</a:t>
            </a:r>
            <a:r>
              <a:rPr lang="en-US" altLang="zh-TW" sz="1100" dirty="0">
                <a:latin typeface="微軟正黑體" panose="020B0604030504040204" pitchFamily="34" charset="-120"/>
                <a:ea typeface="微軟正黑體" panose="020B0604030504040204" pitchFamily="34" charset="-120"/>
              </a:rPr>
              <a:t>Weights</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為了減少節能殺手</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「離開晶片去抓外部記憶體資料」的功耗，設計師會把大量的晶片面積留給片上緩存（</a:t>
            </a:r>
            <a:r>
              <a:rPr lang="en-US" altLang="zh-TW" sz="1100" dirty="0">
                <a:latin typeface="微軟正黑體" panose="020B0604030504040204" pitchFamily="34" charset="-120"/>
                <a:ea typeface="微軟正黑體" panose="020B0604030504040204" pitchFamily="34" charset="-120"/>
              </a:rPr>
              <a:t>On-chip SRAM</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神經網路加速核心（</a:t>
            </a:r>
            <a:r>
              <a:rPr lang="en-US" altLang="zh-TW" sz="1100" dirty="0">
                <a:latin typeface="微軟正黑體" panose="020B0604030504040204" pitchFamily="34" charset="-120"/>
                <a:ea typeface="微軟正黑體" panose="020B0604030504040204" pitchFamily="34" charset="-120"/>
              </a:rPr>
              <a:t>NPU,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25% - 35%</a:t>
            </a:r>
            <a:r>
              <a:rPr lang="zh-TW" altLang="en-US" sz="1100" dirty="0">
                <a:latin typeface="微軟正黑體" panose="020B0604030504040204" pitchFamily="34" charset="-120"/>
                <a:ea typeface="微軟正黑體" panose="020B0604030504040204" pitchFamily="34" charset="-120"/>
              </a:rPr>
              <a:t>）：專門用來執行大量矩陣乘法與累積運算（</a:t>
            </a:r>
            <a:r>
              <a:rPr lang="en-US" altLang="zh-TW" sz="1100" dirty="0">
                <a:latin typeface="微軟正黑體" panose="020B0604030504040204" pitchFamily="34" charset="-120"/>
                <a:ea typeface="微軟正黑體" panose="020B0604030504040204" pitchFamily="34" charset="-120"/>
              </a:rPr>
              <a:t>MAC Array</a:t>
            </a:r>
            <a:r>
              <a:rPr lang="zh-TW" altLang="en-US" sz="1100" dirty="0">
                <a:latin typeface="微軟正黑體" panose="020B0604030504040204" pitchFamily="34" charset="-120"/>
                <a:ea typeface="微軟正黑體" panose="020B0604030504040204" pitchFamily="34" charset="-120"/>
              </a:rPr>
              <a:t>）的硬體電路，是晶片能效比（</a:t>
            </a:r>
            <a:r>
              <a:rPr lang="en-US" altLang="zh-TW" sz="1100" dirty="0">
                <a:latin typeface="微軟正黑體" panose="020B0604030504040204" pitchFamily="34" charset="-120"/>
                <a:ea typeface="微軟正黑體" panose="020B0604030504040204" pitchFamily="34" charset="-120"/>
              </a:rPr>
              <a:t>TOPS/W</a:t>
            </a:r>
            <a:r>
              <a:rPr lang="zh-TW" altLang="en-US" sz="1100" dirty="0">
                <a:latin typeface="微軟正黑體" panose="020B0604030504040204" pitchFamily="34" charset="-120"/>
                <a:ea typeface="微軟正黑體" panose="020B0604030504040204" pitchFamily="34" charset="-120"/>
              </a:rPr>
              <a:t>）的關鍵。</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控制與多媒體核心（</a:t>
            </a:r>
            <a:r>
              <a:rPr lang="en-US" altLang="zh-TW" sz="1100" dirty="0">
                <a:latin typeface="微軟正黑體" panose="020B0604030504040204" pitchFamily="34" charset="-120"/>
                <a:ea typeface="微軟正黑體" panose="020B0604030504040204" pitchFamily="34" charset="-120"/>
              </a:rPr>
              <a:t>CPU/DSP/ISP,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15% - 20%</a:t>
            </a:r>
            <a:r>
              <a:rPr lang="zh-TW" altLang="en-US" sz="1100" dirty="0">
                <a:latin typeface="微軟正黑體" panose="020B0604030504040204" pitchFamily="34" charset="-120"/>
                <a:ea typeface="微軟正黑體" panose="020B0604030504040204" pitchFamily="34" charset="-120"/>
              </a:rPr>
              <a:t>）：負責系統排程（如 </a:t>
            </a:r>
            <a:r>
              <a:rPr lang="en-US" altLang="zh-TW" sz="1100" dirty="0">
                <a:latin typeface="微軟正黑體" panose="020B0604030504040204" pitchFamily="34" charset="-120"/>
                <a:ea typeface="微軟正黑體" panose="020B0604030504040204" pitchFamily="34" charset="-120"/>
              </a:rPr>
              <a:t>Arm </a:t>
            </a:r>
            <a:r>
              <a:rPr lang="zh-TW" altLang="en-US" sz="1100" dirty="0">
                <a:latin typeface="微軟正黑體" panose="020B0604030504040204" pitchFamily="34" charset="-120"/>
                <a:ea typeface="微軟正黑體" panose="020B0604030504040204" pitchFamily="34" charset="-120"/>
              </a:rPr>
              <a:t>核心）以及影像訊號預處理（</a:t>
            </a:r>
            <a:r>
              <a:rPr lang="en-US" altLang="zh-TW" sz="1100" dirty="0">
                <a:latin typeface="微軟正黑體" panose="020B0604030504040204" pitchFamily="34" charset="-120"/>
                <a:ea typeface="微軟正黑體" panose="020B0604030504040204" pitchFamily="34" charset="-120"/>
              </a:rPr>
              <a:t>ISP</a:t>
            </a:r>
            <a:r>
              <a:rPr lang="zh-TW" altLang="en-US" sz="1100" dirty="0">
                <a:latin typeface="微軟正黑體" panose="020B0604030504040204" pitchFamily="34" charset="-120"/>
                <a:ea typeface="微軟正黑體" panose="020B0604030504040204" pitchFamily="34" charset="-120"/>
              </a:rPr>
              <a:t>）、音訊處理等。 </a:t>
            </a:r>
            <a:endParaRPr lang="en-US" altLang="zh-TW" sz="1100" dirty="0">
              <a:latin typeface="微軟正黑體" panose="020B0604030504040204" pitchFamily="34" charset="-120"/>
              <a:ea typeface="微軟正黑體" panose="020B0604030504040204" pitchFamily="34" charset="-120"/>
            </a:endParaRPr>
          </a:p>
        </p:txBody>
      </p:sp>
      <p:sp>
        <p:nvSpPr>
          <p:cNvPr id="33" name="標題 1">
            <a:extLst>
              <a:ext uri="{FF2B5EF4-FFF2-40B4-BE49-F238E27FC236}">
                <a16:creationId xmlns:a16="http://schemas.microsoft.com/office/drawing/2014/main" id="{CDC6BDD2-E286-4042-F93D-BFB1951021E2}"/>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Edge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7" name="文字方塊 36">
            <a:extLst>
              <a:ext uri="{FF2B5EF4-FFF2-40B4-BE49-F238E27FC236}">
                <a16:creationId xmlns:a16="http://schemas.microsoft.com/office/drawing/2014/main" id="{9A04C72F-8C65-07AE-FB45-4C8BEDA435F7}"/>
              </a:ext>
            </a:extLst>
          </p:cNvPr>
          <p:cNvSpPr txBox="1"/>
          <p:nvPr/>
        </p:nvSpPr>
        <p:spPr>
          <a:xfrm>
            <a:off x="251518" y="1610287"/>
            <a:ext cx="8784977" cy="646331"/>
          </a:xfrm>
          <a:prstGeom prst="rect">
            <a:avLst/>
          </a:prstGeom>
          <a:noFill/>
        </p:spPr>
        <p:txBody>
          <a:bodyPr wrap="square">
            <a:spAutoFit/>
          </a:bodyPr>
          <a:lstStyle/>
          <a:p>
            <a:r>
              <a:rPr lang="zh-TW" altLang="en-US" sz="1200" dirty="0">
                <a:latin typeface="Google Sans"/>
                <a:ea typeface="微軟正黑體" panose="020B0604030504040204" pitchFamily="34" charset="-120"/>
              </a:rPr>
              <a:t>邊緣人工智慧晶片（</a:t>
            </a:r>
            <a:r>
              <a:rPr lang="en-US" altLang="zh-TW" sz="1200" dirty="0">
                <a:latin typeface="Google Sans"/>
                <a:ea typeface="微軟正黑體" panose="020B0604030504040204" pitchFamily="34" charset="-120"/>
              </a:rPr>
              <a:t>Edge AI Chip</a:t>
            </a:r>
            <a:r>
              <a:rPr lang="zh-TW" altLang="en-US" sz="1200" dirty="0">
                <a:latin typeface="Google Sans"/>
                <a:ea typeface="微軟正黑體" panose="020B0604030504040204" pitchFamily="34" charset="-120"/>
              </a:rPr>
              <a:t>）與雲端 </a:t>
            </a:r>
            <a:r>
              <a:rPr lang="en-US" altLang="zh-TW" sz="1200" dirty="0">
                <a:latin typeface="Google Sans"/>
                <a:ea typeface="微軟正黑體" panose="020B0604030504040204" pitchFamily="34" charset="-120"/>
              </a:rPr>
              <a:t>AI </a:t>
            </a:r>
            <a:r>
              <a:rPr lang="zh-TW" altLang="en-US" sz="1200" dirty="0">
                <a:latin typeface="Google Sans"/>
                <a:ea typeface="微軟正黑體" panose="020B0604030504040204" pitchFamily="34" charset="-120"/>
              </a:rPr>
              <a:t>晶片（如 </a:t>
            </a:r>
            <a:r>
              <a:rPr lang="en-US" altLang="zh-TW" sz="1200" dirty="0">
                <a:latin typeface="Google Sans"/>
                <a:ea typeface="微軟正黑體" panose="020B0604030504040204" pitchFamily="34" charset="-120"/>
              </a:rPr>
              <a:t>NVIDIA H100 / B200</a:t>
            </a:r>
            <a:r>
              <a:rPr lang="zh-TW" altLang="en-US" sz="1200" dirty="0">
                <a:latin typeface="Google Sans"/>
                <a:ea typeface="微軟正黑體" panose="020B0604030504040204" pitchFamily="34" charset="-120"/>
              </a:rPr>
              <a:t>）在設計哲學上完全不同。雲端追求「極致算力」，而 </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晶片必須在極低功耗（通常 </a:t>
            </a:r>
            <a:r>
              <a:rPr lang="en-US" altLang="zh-TW" sz="1200" dirty="0">
                <a:latin typeface="Google Sans"/>
                <a:ea typeface="微軟正黑體" panose="020B0604030504040204" pitchFamily="34" charset="-120"/>
              </a:rPr>
              <a:t>sub-5W</a:t>
            </a:r>
            <a:r>
              <a:rPr lang="zh-TW" altLang="en-US" sz="1200" dirty="0">
                <a:latin typeface="Google Sans"/>
                <a:ea typeface="微軟正黑體" panose="020B0604030504040204" pitchFamily="34" charset="-120"/>
              </a:rPr>
              <a:t>）、極低延遲以及極其敏感的「低成本」之間取得平衡。</a:t>
            </a:r>
            <a:endParaRPr lang="en-US" altLang="zh-TW" sz="1200" dirty="0">
              <a:latin typeface="Google Sans"/>
              <a:ea typeface="微軟正黑體" panose="020B0604030504040204" pitchFamily="34" charset="-120"/>
            </a:endParaRPr>
          </a:p>
          <a:p>
            <a:r>
              <a:rPr lang="zh-TW" altLang="en-US" sz="1200" dirty="0">
                <a:latin typeface="Google Sans"/>
                <a:ea typeface="微軟正黑體" panose="020B0604030504040204" pitchFamily="34" charset="-120"/>
              </a:rPr>
              <a:t>目前在市場上，</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晶片的硬體成本結構（</a:t>
            </a:r>
            <a:r>
              <a:rPr lang="en-US" altLang="zh-TW" sz="1200" dirty="0">
                <a:latin typeface="Google Sans"/>
                <a:ea typeface="微軟正黑體" panose="020B0604030504040204" pitchFamily="34" charset="-120"/>
              </a:rPr>
              <a:t>BOM </a:t>
            </a:r>
            <a:r>
              <a:rPr lang="zh-TW" altLang="en-US" sz="1200" dirty="0">
                <a:latin typeface="Google Sans"/>
                <a:ea typeface="微軟正黑體" panose="020B0604030504040204" pitchFamily="34" charset="-120"/>
              </a:rPr>
              <a:t>結構）與整體開發成本分析如下：</a:t>
            </a:r>
          </a:p>
        </p:txBody>
      </p:sp>
    </p:spTree>
    <p:extLst>
      <p:ext uri="{BB962C8B-B14F-4D97-AF65-F5344CB8AC3E}">
        <p14:creationId xmlns:p14="http://schemas.microsoft.com/office/powerpoint/2010/main" val="38565527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ED9D150-F62E-C82E-E18D-96661F0595EC}"/>
              </a:ext>
            </a:extLst>
          </p:cNvPr>
          <p:cNvSpPr txBox="1">
            <a:spLocks/>
          </p:cNvSpPr>
          <p:nvPr/>
        </p:nvSpPr>
        <p:spPr>
          <a:xfrm>
            <a:off x="-8612" y="80510"/>
            <a:ext cx="7748963" cy="679839"/>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Conclusion</a:t>
            </a:r>
          </a:p>
          <a:p>
            <a:r>
              <a:rPr lang="en-US" altLang="zh-TW" sz="1200" dirty="0">
                <a:latin typeface="Arial" panose="020B0604020202020204" pitchFamily="34" charset="0"/>
                <a:cs typeface="Arial" panose="020B0604020202020204" pitchFamily="34" charset="0"/>
              </a:rPr>
              <a:t>Knowledge grounding is useful for reducing hallucinations.</a:t>
            </a:r>
          </a:p>
          <a:p>
            <a:endParaRPr lang="en-US" altLang="zh-TW" sz="1400" dirty="0">
              <a:latin typeface="Arial" panose="020B0604020202020204" pitchFamily="34" charset="0"/>
              <a:cs typeface="Arial" panose="020B0604020202020204" pitchFamily="34" charset="0"/>
              <a:sym typeface="Wingdings" panose="05000000000000000000" pitchFamily="2" charset="2"/>
            </a:endParaRPr>
          </a:p>
          <a:p>
            <a:pPr marL="285750" indent="-285750">
              <a:buFontTx/>
              <a:buChar char="-"/>
            </a:pPr>
            <a:endParaRPr lang="en-US" altLang="zh-TW" sz="1400" dirty="0">
              <a:latin typeface="Arial" panose="020B0604020202020204" pitchFamily="34" charset="0"/>
              <a:cs typeface="Arial" panose="020B0604020202020204" pitchFamily="34" charset="0"/>
            </a:endParaRPr>
          </a:p>
        </p:txBody>
      </p:sp>
      <p:pic>
        <p:nvPicPr>
          <p:cNvPr id="5" name="圖片 4">
            <a:extLst>
              <a:ext uri="{FF2B5EF4-FFF2-40B4-BE49-F238E27FC236}">
                <a16:creationId xmlns:a16="http://schemas.microsoft.com/office/drawing/2014/main" id="{1ABD43F0-0180-6E2E-FDD8-93116076EC3C}"/>
              </a:ext>
            </a:extLst>
          </p:cNvPr>
          <p:cNvPicPr>
            <a:picLocks noChangeAspect="1"/>
          </p:cNvPicPr>
          <p:nvPr/>
        </p:nvPicPr>
        <p:blipFill>
          <a:blip r:embed="rId3"/>
          <a:stretch>
            <a:fillRect/>
          </a:stretch>
        </p:blipFill>
        <p:spPr>
          <a:xfrm>
            <a:off x="0" y="1565320"/>
            <a:ext cx="9144000" cy="3727360"/>
          </a:xfrm>
          <a:prstGeom prst="rect">
            <a:avLst/>
          </a:prstGeom>
        </p:spPr>
      </p:pic>
      <p:sp>
        <p:nvSpPr>
          <p:cNvPr id="6" name="文字方塊 5">
            <a:extLst>
              <a:ext uri="{FF2B5EF4-FFF2-40B4-BE49-F238E27FC236}">
                <a16:creationId xmlns:a16="http://schemas.microsoft.com/office/drawing/2014/main" id="{F855954C-6FBF-D827-4487-FCECA30EE9C6}"/>
              </a:ext>
            </a:extLst>
          </p:cNvPr>
          <p:cNvSpPr txBox="1"/>
          <p:nvPr/>
        </p:nvSpPr>
        <p:spPr>
          <a:xfrm>
            <a:off x="5652120" y="5156745"/>
            <a:ext cx="936103" cy="271869"/>
          </a:xfrm>
          <a:prstGeom prst="rect">
            <a:avLst/>
          </a:prstGeom>
          <a:noFill/>
        </p:spPr>
        <p:txBody>
          <a:bodyPr wrap="none" lIns="0" tIns="0" rIns="0" bIns="0" anchor="ctr" anchorCtr="1">
            <a:noAutofit/>
          </a:bodyPr>
          <a:lstStyle/>
          <a:p>
            <a:pP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水冷方案</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
        <p:nvSpPr>
          <p:cNvPr id="4" name="文字方塊 3">
            <a:extLst>
              <a:ext uri="{FF2B5EF4-FFF2-40B4-BE49-F238E27FC236}">
                <a16:creationId xmlns:a16="http://schemas.microsoft.com/office/drawing/2014/main" id="{BC5F94B8-C6FD-68C7-D3DE-F455FD4A7480}"/>
              </a:ext>
            </a:extLst>
          </p:cNvPr>
          <p:cNvSpPr txBox="1"/>
          <p:nvPr/>
        </p:nvSpPr>
        <p:spPr>
          <a:xfrm>
            <a:off x="1259632" y="4952844"/>
            <a:ext cx="1152128" cy="708404"/>
          </a:xfrm>
          <a:prstGeom prst="rect">
            <a:avLst/>
          </a:prstGeom>
          <a:noFill/>
        </p:spPr>
        <p:txBody>
          <a:bodyPr wrap="none" lIns="0" tIns="0" rIns="0" bIns="0" anchor="ctr" anchorCtr="1">
            <a:noAutofit/>
          </a:bodyPr>
          <a:lstStyle/>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AI Chip</a:t>
            </a:r>
          </a:p>
          <a:p>
            <a:pPr>
              <a:lnSpc>
                <a:spcPts val="1400"/>
              </a:lnSpc>
              <a:tabLst>
                <a:tab pos="285750" algn="l"/>
              </a:tabLst>
            </a:pPr>
            <a:r>
              <a:rPr lang="en-US" altLang="zh-TW" sz="1200" u="none" strike="noStrike" dirty="0">
                <a:solidFill>
                  <a:schemeClr val="tx2"/>
                </a:solidFill>
                <a:effectLst/>
                <a:latin typeface="微軟正黑體" panose="020B0604030504040204" pitchFamily="34" charset="-120"/>
                <a:ea typeface="微軟正黑體" panose="020B0604030504040204" pitchFamily="34" charset="-120"/>
              </a:rPr>
              <a:t>Memory</a:t>
            </a:r>
          </a:p>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Power Supply</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018AC-1B69-5C5F-D06C-82F3DCF3FF9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F4C7BA1-3F14-92B7-7B1E-DE9895DF5CD3}"/>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pic>
        <p:nvPicPr>
          <p:cNvPr id="5" name="圖片 4">
            <a:extLst>
              <a:ext uri="{FF2B5EF4-FFF2-40B4-BE49-F238E27FC236}">
                <a16:creationId xmlns:a16="http://schemas.microsoft.com/office/drawing/2014/main" id="{B5BE417B-3333-4922-9330-C1DD05761A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35831"/>
            <a:ext cx="9144000" cy="4986338"/>
          </a:xfrm>
          <a:prstGeom prst="rect">
            <a:avLst/>
          </a:prstGeom>
        </p:spPr>
      </p:pic>
    </p:spTree>
    <p:extLst>
      <p:ext uri="{BB962C8B-B14F-4D97-AF65-F5344CB8AC3E}">
        <p14:creationId xmlns:p14="http://schemas.microsoft.com/office/powerpoint/2010/main" val="241612494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452</TotalTime>
  <Words>7055</Words>
  <Application>Microsoft Office PowerPoint</Application>
  <PresentationFormat>如螢幕大小 (4:3)</PresentationFormat>
  <Paragraphs>844</Paragraphs>
  <Slides>25</Slides>
  <Notes>21</Notes>
  <HiddenSlides>2</HiddenSlides>
  <MMClips>0</MMClips>
  <ScaleCrop>false</ScaleCrop>
  <HeadingPairs>
    <vt:vector size="6" baseType="variant">
      <vt:variant>
        <vt:lpstr>使用字型</vt:lpstr>
      </vt:variant>
      <vt:variant>
        <vt:i4>12</vt:i4>
      </vt:variant>
      <vt:variant>
        <vt:lpstr>佈景主題</vt:lpstr>
      </vt:variant>
      <vt:variant>
        <vt:i4>1</vt:i4>
      </vt:variant>
      <vt:variant>
        <vt:lpstr>投影片標題</vt:lpstr>
      </vt:variant>
      <vt:variant>
        <vt:i4>25</vt:i4>
      </vt:variant>
    </vt:vector>
  </HeadingPairs>
  <TitlesOfParts>
    <vt:vector size="38" baseType="lpstr">
      <vt:lpstr>Google Sans</vt:lpstr>
      <vt:lpstr>Microsoft GothicNeo</vt:lpstr>
      <vt:lpstr>Microsoft JhengHei UI</vt:lpstr>
      <vt:lpstr>Noto Sans HK</vt:lpstr>
      <vt:lpstr>STXingkai</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1602</cp:revision>
  <cp:lastPrinted>2024-07-30T01:44:15Z</cp:lastPrinted>
  <dcterms:created xsi:type="dcterms:W3CDTF">2019-11-08T03:01:47Z</dcterms:created>
  <dcterms:modified xsi:type="dcterms:W3CDTF">2026-06-30T09:52:52Z</dcterms:modified>
</cp:coreProperties>
</file>