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av" ContentType="audio/x-wav"/>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31"/>
  </p:notesMasterIdLst>
  <p:handoutMasterIdLst>
    <p:handoutMasterId r:id="rId32"/>
  </p:handoutMasterIdLst>
  <p:sldIdLst>
    <p:sldId id="3459" r:id="rId2"/>
    <p:sldId id="3472" r:id="rId3"/>
    <p:sldId id="3555" r:id="rId4"/>
    <p:sldId id="3554" r:id="rId5"/>
    <p:sldId id="3537" r:id="rId6"/>
    <p:sldId id="3558" r:id="rId7"/>
    <p:sldId id="3564" r:id="rId8"/>
    <p:sldId id="3557" r:id="rId9"/>
    <p:sldId id="3544" r:id="rId10"/>
    <p:sldId id="3540" r:id="rId11"/>
    <p:sldId id="3543" r:id="rId12"/>
    <p:sldId id="3553" r:id="rId13"/>
    <p:sldId id="3545" r:id="rId14"/>
    <p:sldId id="3539" r:id="rId15"/>
    <p:sldId id="3542" r:id="rId16"/>
    <p:sldId id="3538" r:id="rId17"/>
    <p:sldId id="3563" r:id="rId18"/>
    <p:sldId id="3562" r:id="rId19"/>
    <p:sldId id="3559" r:id="rId20"/>
    <p:sldId id="3560" r:id="rId21"/>
    <p:sldId id="3556" r:id="rId22"/>
    <p:sldId id="3551" r:id="rId23"/>
    <p:sldId id="3561" r:id="rId24"/>
    <p:sldId id="3534" r:id="rId25"/>
    <p:sldId id="3536" r:id="rId26"/>
    <p:sldId id="3535" r:id="rId27"/>
    <p:sldId id="3548" r:id="rId28"/>
    <p:sldId id="3547" r:id="rId29"/>
    <p:sldId id="3549" r:id="rId30"/>
  </p:sldIdLst>
  <p:sldSz cx="9144000" cy="6858000" type="screen4x3"/>
  <p:notesSz cx="6797675" cy="9925050"/>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genda" id="{30F6892D-1922-4A88-A82D-8CD0653C5411}">
          <p14:sldIdLst>
            <p14:sldId id="3459"/>
            <p14:sldId id="3472"/>
          </p14:sldIdLst>
        </p14:section>
        <p14:section name="Reinforcement Learning" id="{6A51FF52-3944-402B-A9B9-75E228335DE4}">
          <p14:sldIdLst>
            <p14:sldId id="3555"/>
            <p14:sldId id="3554"/>
          </p14:sldIdLst>
        </p14:section>
        <p14:section name="Deepseek" id="{8CC3907E-2537-4761-B8B4-20CC1D391E20}">
          <p14:sldIdLst>
            <p14:sldId id="3537"/>
            <p14:sldId id="3558"/>
            <p14:sldId id="3564"/>
            <p14:sldId id="3557"/>
            <p14:sldId id="3544"/>
            <p14:sldId id="3540"/>
            <p14:sldId id="3543"/>
            <p14:sldId id="3553"/>
            <p14:sldId id="3545"/>
            <p14:sldId id="3539"/>
            <p14:sldId id="3542"/>
            <p14:sldId id="3538"/>
          </p14:sldIdLst>
        </p14:section>
        <p14:section name="Moonshot-Kimi" id="{7C2BE5B2-C507-46C7-871E-C935EB653EC3}">
          <p14:sldIdLst/>
        </p14:section>
        <p14:section name="Optimizer" id="{D96295E3-C59A-456D-AE59-C3D5699A4263}">
          <p14:sldIdLst>
            <p14:sldId id="3563"/>
            <p14:sldId id="3562"/>
            <p14:sldId id="3559"/>
            <p14:sldId id="3560"/>
            <p14:sldId id="3556"/>
            <p14:sldId id="3551"/>
            <p14:sldId id="3561"/>
            <p14:sldId id="3534"/>
            <p14:sldId id="3536"/>
            <p14:sldId id="3535"/>
          </p14:sldIdLst>
        </p14:section>
        <p14:section name="Distillation" id="{7EB38C31-A2B8-4354-A21C-A4C807EDE2C4}">
          <p14:sldIdLst>
            <p14:sldId id="3548"/>
            <p14:sldId id="3547"/>
          </p14:sldIdLst>
        </p14:section>
        <p14:section name="Conclusion" id="{D9E6914C-A73F-4176-B0F8-3F87EAC09119}">
          <p14:sldIdLst>
            <p14:sldId id="3549"/>
          </p14:sldIdLst>
        </p14:section>
      </p14:sectionLst>
    </p:ext>
    <p:ext uri="{EFAFB233-063F-42B5-8137-9DF3F51BA10A}">
      <p15:sldGuideLst xmlns:p15="http://schemas.microsoft.com/office/powerpoint/2012/main">
        <p15:guide id="1" orient="horz" pos="2160">
          <p15:clr>
            <a:srgbClr val="A4A3A4"/>
          </p15:clr>
        </p15:guide>
        <p15:guide id="2" pos="1474"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EF1DDEA-D49D-B2A5-9D83-8BDFFC6C721F}" name="Allen Ni(倪士凱)" initials="AN" userId="S::ani@centrilliontech.com.tw::64a9ee61-01eb-41d1-8925-9f522fa76fb2"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DF3DB"/>
    <a:srgbClr val="2260DC"/>
    <a:srgbClr val="F0F0F0"/>
    <a:srgbClr val="F8D462"/>
    <a:srgbClr val="4C6BFF"/>
    <a:srgbClr val="FF9900"/>
    <a:srgbClr val="FEC203"/>
    <a:srgbClr val="3079EF"/>
    <a:srgbClr val="B8EACA"/>
    <a:srgbClr val="FF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等深淺樣式 2 - 輔色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無樣式、表格格線">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9CF1AB2-1976-4502-BF36-3FF5EA218861}" styleName="中等深淺樣式 4 - 輔色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2D5ABB26-0587-4C30-8999-92F81FD0307C}" styleName="無樣式、無格線">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0010" autoAdjust="0"/>
    <p:restoredTop sz="71958" autoAdjust="0"/>
  </p:normalViewPr>
  <p:slideViewPr>
    <p:cSldViewPr>
      <p:cViewPr varScale="1">
        <p:scale>
          <a:sx n="129" d="100"/>
          <a:sy n="129" d="100"/>
        </p:scale>
        <p:origin x="774" y="126"/>
      </p:cViewPr>
      <p:guideLst>
        <p:guide orient="horz" pos="2160"/>
        <p:guide pos="1474"/>
      </p:guideLst>
    </p:cSldViewPr>
  </p:slideViewPr>
  <p:outlineViewPr>
    <p:cViewPr>
      <p:scale>
        <a:sx n="33" d="100"/>
        <a:sy n="33" d="100"/>
      </p:scale>
      <p:origin x="0" y="-1075"/>
    </p:cViewPr>
  </p:outlineViewPr>
  <p:notesTextViewPr>
    <p:cViewPr>
      <p:scale>
        <a:sx n="100" d="100"/>
        <a:sy n="100" d="100"/>
      </p:scale>
      <p:origin x="0" y="0"/>
    </p:cViewPr>
  </p:notesTextViewPr>
  <p:sorterViewPr>
    <p:cViewPr>
      <p:scale>
        <a:sx n="100" d="100"/>
        <a:sy n="100" d="100"/>
      </p:scale>
      <p:origin x="0" y="0"/>
    </p:cViewPr>
  </p:sorterViewPr>
  <p:notesViewPr>
    <p:cSldViewPr>
      <p:cViewPr varScale="1">
        <p:scale>
          <a:sx n="96" d="100"/>
          <a:sy n="96" d="100"/>
        </p:scale>
        <p:origin x="2784" y="96"/>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handoutMaster" Target="handoutMasters/handoutMaster1.xml"/><Relationship Id="rId37" Type="http://schemas.microsoft.com/office/2018/10/relationships/authors" Target="author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a:extLst>
              <a:ext uri="{FF2B5EF4-FFF2-40B4-BE49-F238E27FC236}">
                <a16:creationId xmlns:a16="http://schemas.microsoft.com/office/drawing/2014/main" id="{8509AA70-DCA8-F2B3-665C-D289623E1626}"/>
              </a:ext>
            </a:extLst>
          </p:cNvPr>
          <p:cNvSpPr>
            <a:spLocks noGrp="1"/>
          </p:cNvSpPr>
          <p:nvPr>
            <p:ph type="hdr" sz="quarter"/>
          </p:nvPr>
        </p:nvSpPr>
        <p:spPr>
          <a:xfrm>
            <a:off x="2" y="0"/>
            <a:ext cx="2945659" cy="497976"/>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a:extLst>
              <a:ext uri="{FF2B5EF4-FFF2-40B4-BE49-F238E27FC236}">
                <a16:creationId xmlns:a16="http://schemas.microsoft.com/office/drawing/2014/main" id="{260D9017-2A20-36CB-3124-1CE24A164FFA}"/>
              </a:ext>
            </a:extLst>
          </p:cNvPr>
          <p:cNvSpPr>
            <a:spLocks noGrp="1"/>
          </p:cNvSpPr>
          <p:nvPr>
            <p:ph type="dt" sz="quarter" idx="1"/>
          </p:nvPr>
        </p:nvSpPr>
        <p:spPr>
          <a:xfrm>
            <a:off x="3850445" y="0"/>
            <a:ext cx="2945659" cy="497976"/>
          </a:xfrm>
          <a:prstGeom prst="rect">
            <a:avLst/>
          </a:prstGeom>
        </p:spPr>
        <p:txBody>
          <a:bodyPr vert="horz" lIns="91430" tIns="45714" rIns="91430" bIns="45714" rtlCol="0"/>
          <a:lstStyle>
            <a:lvl1pPr algn="r">
              <a:defRPr sz="1200"/>
            </a:lvl1pPr>
          </a:lstStyle>
          <a:p>
            <a:fld id="{982F7CBC-87DD-4F69-8F50-7ED68F7FF790}" type="datetimeFigureOut">
              <a:rPr lang="zh-TW" altLang="en-US" smtClean="0"/>
              <a:t>2026/8/21</a:t>
            </a:fld>
            <a:endParaRPr lang="zh-TW" altLang="en-US"/>
          </a:p>
        </p:txBody>
      </p:sp>
      <p:sp>
        <p:nvSpPr>
          <p:cNvPr id="4" name="頁尾版面配置區 3">
            <a:extLst>
              <a:ext uri="{FF2B5EF4-FFF2-40B4-BE49-F238E27FC236}">
                <a16:creationId xmlns:a16="http://schemas.microsoft.com/office/drawing/2014/main" id="{72E2BC4B-E97F-2930-F9D4-22EF7E0E14E0}"/>
              </a:ext>
            </a:extLst>
          </p:cNvPr>
          <p:cNvSpPr>
            <a:spLocks noGrp="1"/>
          </p:cNvSpPr>
          <p:nvPr>
            <p:ph type="ftr" sz="quarter" idx="2"/>
          </p:nvPr>
        </p:nvSpPr>
        <p:spPr>
          <a:xfrm>
            <a:off x="2" y="9427077"/>
            <a:ext cx="2945659" cy="497975"/>
          </a:xfrm>
          <a:prstGeom prst="rect">
            <a:avLst/>
          </a:prstGeom>
        </p:spPr>
        <p:txBody>
          <a:bodyPr vert="horz" lIns="91430" tIns="45714" rIns="91430" bIns="45714" rtlCol="0" anchor="b"/>
          <a:lstStyle>
            <a:lvl1pPr algn="l">
              <a:defRPr sz="1200"/>
            </a:lvl1pPr>
          </a:lstStyle>
          <a:p>
            <a:endParaRPr lang="zh-TW" altLang="en-US"/>
          </a:p>
        </p:txBody>
      </p:sp>
      <p:sp>
        <p:nvSpPr>
          <p:cNvPr id="5" name="投影片編號版面配置區 4">
            <a:extLst>
              <a:ext uri="{FF2B5EF4-FFF2-40B4-BE49-F238E27FC236}">
                <a16:creationId xmlns:a16="http://schemas.microsoft.com/office/drawing/2014/main" id="{F9105500-21C2-E70A-A08C-9E9E3094A4E0}"/>
              </a:ext>
            </a:extLst>
          </p:cNvPr>
          <p:cNvSpPr>
            <a:spLocks noGrp="1"/>
          </p:cNvSpPr>
          <p:nvPr>
            <p:ph type="sldNum" sz="quarter" idx="3"/>
          </p:nvPr>
        </p:nvSpPr>
        <p:spPr>
          <a:xfrm>
            <a:off x="3850445" y="9427077"/>
            <a:ext cx="2945659" cy="497975"/>
          </a:xfrm>
          <a:prstGeom prst="rect">
            <a:avLst/>
          </a:prstGeom>
        </p:spPr>
        <p:txBody>
          <a:bodyPr vert="horz" lIns="91430" tIns="45714" rIns="91430" bIns="45714" rtlCol="0" anchor="b"/>
          <a:lstStyle>
            <a:lvl1pPr algn="r">
              <a:defRPr sz="1200"/>
            </a:lvl1pPr>
          </a:lstStyle>
          <a:p>
            <a:fld id="{30EF305C-901E-49EC-B839-B172F9488209}" type="slidenum">
              <a:rPr lang="zh-TW" altLang="en-US" smtClean="0"/>
              <a:t>‹#›</a:t>
            </a:fld>
            <a:endParaRPr lang="zh-TW" altLang="en-US"/>
          </a:p>
        </p:txBody>
      </p:sp>
    </p:spTree>
    <p:extLst>
      <p:ext uri="{BB962C8B-B14F-4D97-AF65-F5344CB8AC3E}">
        <p14:creationId xmlns:p14="http://schemas.microsoft.com/office/powerpoint/2010/main" val="19519013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2" y="1"/>
            <a:ext cx="2945659" cy="496253"/>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p:cNvSpPr>
            <a:spLocks noGrp="1"/>
          </p:cNvSpPr>
          <p:nvPr>
            <p:ph type="dt" idx="1"/>
          </p:nvPr>
        </p:nvSpPr>
        <p:spPr>
          <a:xfrm>
            <a:off x="3850445" y="1"/>
            <a:ext cx="2945659" cy="496253"/>
          </a:xfrm>
          <a:prstGeom prst="rect">
            <a:avLst/>
          </a:prstGeom>
        </p:spPr>
        <p:txBody>
          <a:bodyPr vert="horz" lIns="91430" tIns="45714" rIns="91430" bIns="45714" rtlCol="0"/>
          <a:lstStyle>
            <a:lvl1pPr algn="r">
              <a:defRPr sz="1200"/>
            </a:lvl1pPr>
          </a:lstStyle>
          <a:p>
            <a:fld id="{863167AA-796B-4B6A-95ED-1C0BCB3E5802}" type="datetimeFigureOut">
              <a:rPr lang="zh-TW" altLang="en-US" smtClean="0"/>
              <a:t>2026/8/21</a:t>
            </a:fld>
            <a:endParaRPr lang="zh-TW" altLang="en-US"/>
          </a:p>
        </p:txBody>
      </p:sp>
      <p:sp>
        <p:nvSpPr>
          <p:cNvPr id="4" name="投影片圖像版面配置區 3"/>
          <p:cNvSpPr>
            <a:spLocks noGrp="1" noRot="1" noChangeAspect="1"/>
          </p:cNvSpPr>
          <p:nvPr>
            <p:ph type="sldImg" idx="2"/>
          </p:nvPr>
        </p:nvSpPr>
        <p:spPr>
          <a:xfrm>
            <a:off x="917575" y="744538"/>
            <a:ext cx="4962525" cy="3722687"/>
          </a:xfrm>
          <a:prstGeom prst="rect">
            <a:avLst/>
          </a:prstGeom>
          <a:noFill/>
          <a:ln w="12700">
            <a:solidFill>
              <a:prstClr val="black"/>
            </a:solidFill>
          </a:ln>
        </p:spPr>
        <p:txBody>
          <a:bodyPr vert="horz" lIns="91430" tIns="45714" rIns="91430" bIns="45714" rtlCol="0" anchor="ctr"/>
          <a:lstStyle/>
          <a:p>
            <a:endParaRPr lang="zh-TW" altLang="en-US"/>
          </a:p>
        </p:txBody>
      </p:sp>
      <p:sp>
        <p:nvSpPr>
          <p:cNvPr id="5" name="備忘稿版面配置區 4"/>
          <p:cNvSpPr>
            <a:spLocks noGrp="1"/>
          </p:cNvSpPr>
          <p:nvPr>
            <p:ph type="body" sz="quarter" idx="3"/>
          </p:nvPr>
        </p:nvSpPr>
        <p:spPr>
          <a:xfrm>
            <a:off x="679768" y="4714400"/>
            <a:ext cx="5438140" cy="4466272"/>
          </a:xfrm>
          <a:prstGeom prst="rect">
            <a:avLst/>
          </a:prstGeom>
        </p:spPr>
        <p:txBody>
          <a:bodyPr vert="horz" lIns="91430" tIns="45714" rIns="91430" bIns="45714" rtlCol="0"/>
          <a:lstStyle/>
          <a:p>
            <a:pPr lvl="0"/>
            <a:r>
              <a:rPr lang="zh-TW" altLang="en-US" dirty="0"/>
              <a:t>按一下以編輯母片文字樣式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p>
        </p:txBody>
      </p:sp>
      <p:sp>
        <p:nvSpPr>
          <p:cNvPr id="6" name="頁尾版面配置區 5"/>
          <p:cNvSpPr>
            <a:spLocks noGrp="1"/>
          </p:cNvSpPr>
          <p:nvPr>
            <p:ph type="ftr" sz="quarter" idx="4"/>
          </p:nvPr>
        </p:nvSpPr>
        <p:spPr>
          <a:xfrm>
            <a:off x="2" y="9427075"/>
            <a:ext cx="2945659" cy="496253"/>
          </a:xfrm>
          <a:prstGeom prst="rect">
            <a:avLst/>
          </a:prstGeom>
        </p:spPr>
        <p:txBody>
          <a:bodyPr vert="horz" lIns="91430" tIns="45714" rIns="91430" bIns="45714" rtlCol="0" anchor="b"/>
          <a:lstStyle>
            <a:lvl1pPr algn="l">
              <a:defRPr sz="1200"/>
            </a:lvl1pPr>
          </a:lstStyle>
          <a:p>
            <a:endParaRPr lang="zh-TW" altLang="en-US"/>
          </a:p>
        </p:txBody>
      </p:sp>
      <p:sp>
        <p:nvSpPr>
          <p:cNvPr id="7" name="投影片編號版面配置區 6"/>
          <p:cNvSpPr>
            <a:spLocks noGrp="1"/>
          </p:cNvSpPr>
          <p:nvPr>
            <p:ph type="sldNum" sz="quarter" idx="5"/>
          </p:nvPr>
        </p:nvSpPr>
        <p:spPr>
          <a:xfrm>
            <a:off x="3850445" y="9427075"/>
            <a:ext cx="2945659" cy="496253"/>
          </a:xfrm>
          <a:prstGeom prst="rect">
            <a:avLst/>
          </a:prstGeom>
        </p:spPr>
        <p:txBody>
          <a:bodyPr vert="horz" lIns="91430" tIns="45714" rIns="91430" bIns="45714" rtlCol="0" anchor="b"/>
          <a:lstStyle>
            <a:lvl1pPr algn="r">
              <a:defRPr sz="1200"/>
            </a:lvl1pPr>
          </a:lstStyle>
          <a:p>
            <a:fld id="{E3A6CE5E-F349-486D-8749-82EF2AD71FA8}" type="slidenum">
              <a:rPr lang="zh-TW" altLang="en-US" smtClean="0"/>
              <a:t>‹#›</a:t>
            </a:fld>
            <a:endParaRPr lang="zh-TW" altLang="en-US"/>
          </a:p>
        </p:txBody>
      </p:sp>
    </p:spTree>
    <p:extLst>
      <p:ext uri="{BB962C8B-B14F-4D97-AF65-F5344CB8AC3E}">
        <p14:creationId xmlns:p14="http://schemas.microsoft.com/office/powerpoint/2010/main" val="33360095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a:t>
            </a:fld>
            <a:endParaRPr lang="zh-TW" altLang="en-US"/>
          </a:p>
        </p:txBody>
      </p:sp>
    </p:spTree>
    <p:extLst>
      <p:ext uri="{BB962C8B-B14F-4D97-AF65-F5344CB8AC3E}">
        <p14:creationId xmlns:p14="http://schemas.microsoft.com/office/powerpoint/2010/main" val="141974219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2</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BFFFF6-2CBF-8300-113B-EC3DDABCDE2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C9BDCECB-4022-305D-2A1D-EB19C4980CE4}"/>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645B8918-8C92-3358-81A2-2E68D560F7D9}"/>
              </a:ext>
            </a:extLst>
          </p:cNvPr>
          <p:cNvSpPr>
            <a:spLocks noGrp="1"/>
          </p:cNvSpPr>
          <p:nvPr>
            <p:ph type="body" idx="1"/>
          </p:nvPr>
        </p:nvSpPr>
        <p:spPr/>
        <p:txBody>
          <a:bodyPr/>
          <a:lstStyle/>
          <a:p>
            <a:r>
              <a:rPr lang="zh-TW" altLang="zh-TW" sz="1200" b="1" u="none" strike="noStrike" kern="1200" dirty="0">
                <a:solidFill>
                  <a:schemeClr val="tx1"/>
                </a:solidFill>
                <a:effectLst/>
                <a:latin typeface="+mn-lt"/>
                <a:ea typeface="+mn-ea"/>
                <a:cs typeface="+mn-cs"/>
              </a:rPr>
              <a:t>MLA</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V2, V3KV Cache 顯存大小橫向：壓縮</a:t>
            </a:r>
            <a:r>
              <a:rPr lang="zh-TW" altLang="zh-TW" sz="1200" b="1" u="none" strike="noStrike" kern="1200" dirty="0">
                <a:solidFill>
                  <a:schemeClr val="tx1"/>
                </a:solidFill>
                <a:effectLst/>
                <a:latin typeface="+mn-lt"/>
                <a:ea typeface="+mn-ea"/>
                <a:cs typeface="+mn-cs"/>
              </a:rPr>
              <a:t>特徵維度</a:t>
            </a:r>
            <a:r>
              <a:rPr lang="zh-TW" altLang="zh-TW" sz="1200" b="0" u="none" strike="noStrike" kern="1200" dirty="0">
                <a:solidFill>
                  <a:schemeClr val="tx1"/>
                </a:solidFill>
                <a:effectLst/>
                <a:latin typeface="+mn-lt"/>
                <a:ea typeface="+mn-ea"/>
                <a:cs typeface="+mn-cs"/>
              </a:rPr>
              <a:t> (Dim 8192 → 512) </a:t>
            </a:r>
          </a:p>
          <a:p>
            <a:r>
              <a:rPr lang="zh-TW" altLang="zh-TW" sz="1200" b="1" u="none" strike="noStrike" kern="1200" dirty="0">
                <a:solidFill>
                  <a:schemeClr val="tx1"/>
                </a:solidFill>
                <a:effectLst/>
                <a:latin typeface="+mn-lt"/>
                <a:ea typeface="+mn-ea"/>
                <a:cs typeface="+mn-cs"/>
              </a:rPr>
              <a:t>DSA</a:t>
            </a:r>
            <a:r>
              <a:rPr lang="zh-TW" altLang="zh-TW" sz="1200" b="0" u="none" strike="noStrike" kern="1200" dirty="0">
                <a:solidFill>
                  <a:schemeClr val="tx1"/>
                </a:solidFill>
                <a:effectLst/>
                <a:latin typeface="+mn-lt"/>
                <a:ea typeface="+mn-ea"/>
                <a:cs typeface="+mn-cs"/>
              </a:rPr>
              <a:t>V3.2運算量複雜度 (O(N²))縱向：動態篩選</a:t>
            </a:r>
            <a:r>
              <a:rPr lang="zh-TW" altLang="zh-TW" sz="1200" b="1" u="none" strike="noStrike" kern="1200" dirty="0">
                <a:solidFill>
                  <a:schemeClr val="tx1"/>
                </a:solidFill>
                <a:effectLst/>
                <a:latin typeface="+mn-lt"/>
                <a:ea typeface="+mn-ea"/>
                <a:cs typeface="+mn-cs"/>
              </a:rPr>
              <a:t>單個 Token</a:t>
            </a:r>
            <a:r>
              <a:rPr lang="zh-TW" altLang="zh-TW" sz="1200" b="0" u="none" strike="noStrike" kern="1200" dirty="0">
                <a:solidFill>
                  <a:schemeClr val="tx1"/>
                </a:solidFill>
                <a:effectLst/>
                <a:latin typeface="+mn-lt"/>
                <a:ea typeface="+mn-ea"/>
                <a:cs typeface="+mn-cs"/>
              </a:rPr>
              <a:t> (Top-K)</a:t>
            </a:r>
          </a:p>
          <a:p>
            <a:r>
              <a:rPr lang="zh-TW" altLang="zh-TW" sz="1200" b="1" u="none" strike="noStrike" kern="1200" dirty="0">
                <a:solidFill>
                  <a:schemeClr val="tx1"/>
                </a:solidFill>
                <a:effectLst/>
                <a:latin typeface="+mn-lt"/>
                <a:ea typeface="+mn-ea"/>
                <a:cs typeface="+mn-cs"/>
              </a:rPr>
              <a:t>HCA</a:t>
            </a:r>
            <a:r>
              <a:rPr lang="zh-TW" altLang="zh-TW" sz="1200" b="0" u="none" strike="noStrike" kern="1200" dirty="0">
                <a:solidFill>
                  <a:schemeClr val="tx1"/>
                </a:solidFill>
                <a:effectLst/>
                <a:latin typeface="+mn-lt"/>
                <a:ea typeface="+mn-ea"/>
                <a:cs typeface="+mn-cs"/>
              </a:rPr>
              <a:t>V41M 長文本的宏觀視野縱向：重度聚合</a:t>
            </a:r>
            <a:r>
              <a:rPr lang="zh-TW" altLang="zh-TW" sz="1200" b="1" u="none" strike="noStrike" kern="1200" dirty="0">
                <a:solidFill>
                  <a:schemeClr val="tx1"/>
                </a:solidFill>
                <a:effectLst/>
                <a:latin typeface="+mn-lt"/>
                <a:ea typeface="+mn-ea"/>
                <a:cs typeface="+mn-cs"/>
              </a:rPr>
              <a:t>時間區間</a:t>
            </a:r>
            <a:r>
              <a:rPr lang="zh-TW" altLang="zh-TW" sz="1200" b="0" u="none" strike="noStrike" kern="1200" dirty="0">
                <a:solidFill>
                  <a:schemeClr val="tx1"/>
                </a:solidFill>
                <a:effectLst/>
                <a:latin typeface="+mn-lt"/>
                <a:ea typeface="+mn-ea"/>
                <a:cs typeface="+mn-cs"/>
              </a:rPr>
              <a:t> (128 → 1) </a:t>
            </a:r>
          </a:p>
          <a:p>
            <a:r>
              <a:rPr lang="zh-TW" altLang="zh-TW" sz="1200" b="1" u="none" strike="noStrike" kern="1200" dirty="0">
                <a:solidFill>
                  <a:schemeClr val="tx1"/>
                </a:solidFill>
                <a:effectLst/>
                <a:latin typeface="+mn-lt"/>
                <a:ea typeface="+mn-ea"/>
                <a:cs typeface="+mn-cs"/>
              </a:rPr>
              <a:t>CSA</a:t>
            </a:r>
            <a:r>
              <a:rPr lang="zh-TW" altLang="zh-TW" sz="1200" b="0" u="none" strike="noStrike" kern="1200" dirty="0">
                <a:solidFill>
                  <a:schemeClr val="tx1"/>
                </a:solidFill>
                <a:effectLst/>
                <a:latin typeface="+mn-lt"/>
                <a:ea typeface="+mn-ea"/>
                <a:cs typeface="+mn-cs"/>
              </a:rPr>
              <a:t>V41M 長文本的細粒度檢索縱橫結合：先 </a:t>
            </a:r>
            <a:r>
              <a:rPr lang="zh-TW" altLang="zh-TW" sz="1200" b="1" u="none" strike="noStrike" kern="1200" dirty="0">
                <a:solidFill>
                  <a:schemeClr val="tx1"/>
                </a:solidFill>
                <a:effectLst/>
                <a:latin typeface="+mn-lt"/>
                <a:ea typeface="+mn-ea"/>
                <a:cs typeface="+mn-cs"/>
              </a:rPr>
              <a:t>4:1 壓縮</a:t>
            </a:r>
            <a:r>
              <a:rPr lang="zh-TW" altLang="zh-TW" sz="1200" b="0" u="none" strike="noStrike" kern="1200" dirty="0">
                <a:solidFill>
                  <a:schemeClr val="tx1"/>
                </a:solidFill>
                <a:effectLst/>
                <a:latin typeface="+mn-lt"/>
                <a:ea typeface="+mn-ea"/>
                <a:cs typeface="+mn-cs"/>
              </a:rPr>
              <a:t>再做 </a:t>
            </a:r>
            <a:r>
              <a:rPr lang="zh-TW" altLang="zh-TW" sz="1200" b="1" u="none" strike="noStrike" kern="1200" dirty="0">
                <a:solidFill>
                  <a:schemeClr val="tx1"/>
                </a:solidFill>
                <a:effectLst/>
                <a:latin typeface="+mn-lt"/>
                <a:ea typeface="+mn-ea"/>
                <a:cs typeface="+mn-cs"/>
              </a:rPr>
              <a:t>Top-K 塊篩選</a:t>
            </a:r>
            <a:r>
              <a:rPr lang="zh-TW" altLang="zh-TW" sz="1200" b="0" u="none" strike="noStrike" kern="1200" dirty="0">
                <a:solidFill>
                  <a:schemeClr val="tx1"/>
                </a:solidFill>
                <a:effectLst/>
                <a:latin typeface="+mn-lt"/>
                <a:ea typeface="+mn-ea"/>
                <a:cs typeface="+mn-cs"/>
              </a:rPr>
              <a:t> </a:t>
            </a:r>
          </a:p>
          <a:p>
            <a:pPr lvl="0"/>
            <a:endParaRPr lang="en-US" altLang="zh-TW" sz="1200" b="0" u="none" strike="noStrike" kern="1200" dirty="0">
              <a:solidFill>
                <a:schemeClr val="tx1"/>
              </a:solidFill>
              <a:effectLst/>
              <a:latin typeface="+mn-lt"/>
              <a:ea typeface="+mn-ea"/>
              <a:cs typeface="+mn-cs"/>
            </a:endParaRPr>
          </a:p>
          <a:p>
            <a:pPr lvl="0"/>
            <a:endParaRPr lang="en-US" altLang="zh-TW" sz="1200" b="0" u="none" strike="noStrike" kern="1200" dirty="0">
              <a:solidFill>
                <a:schemeClr val="tx1"/>
              </a:solidFill>
              <a:effectLst/>
              <a:latin typeface="+mn-lt"/>
              <a:ea typeface="+mn-ea"/>
              <a:cs typeface="+mn-cs"/>
            </a:endParaRPr>
          </a:p>
          <a:p>
            <a:pPr lvl="0"/>
            <a:endParaRPr lang="en-US" altLang="zh-TW" sz="1200" b="0" u="none" strike="noStrike" kern="1200" dirty="0">
              <a:solidFill>
                <a:schemeClr val="tx1"/>
              </a:solidFill>
              <a:effectLst/>
              <a:latin typeface="+mn-lt"/>
              <a:ea typeface="+mn-ea"/>
              <a:cs typeface="+mn-cs"/>
            </a:endParaRPr>
          </a:p>
          <a:p>
            <a:pPr lvl="0"/>
            <a:endParaRPr lang="en-US" altLang="zh-TW" sz="1200" b="0" u="none" strike="noStrike" kern="1200" dirty="0">
              <a:solidFill>
                <a:schemeClr val="tx1"/>
              </a:solidFill>
              <a:effectLst/>
              <a:latin typeface="+mn-lt"/>
              <a:ea typeface="+mn-ea"/>
              <a:cs typeface="+mn-cs"/>
            </a:endParaRPr>
          </a:p>
          <a:p>
            <a:pPr lvl="0"/>
            <a:endParaRPr lang="en-US" altLang="zh-TW" sz="1200" b="0" u="none" strike="noStrike" kern="1200" dirty="0">
              <a:solidFill>
                <a:schemeClr val="tx1"/>
              </a:solidFill>
              <a:effectLst/>
              <a:latin typeface="+mn-lt"/>
              <a:ea typeface="+mn-ea"/>
              <a:cs typeface="+mn-cs"/>
            </a:endParaRPr>
          </a:p>
          <a:p>
            <a:pPr lvl="0"/>
            <a:endParaRPr lang="zh-TW"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10192911-3471-19CB-5ED9-6FC7027DB73E}"/>
              </a:ext>
            </a:extLst>
          </p:cNvPr>
          <p:cNvSpPr>
            <a:spLocks noGrp="1"/>
          </p:cNvSpPr>
          <p:nvPr>
            <p:ph type="sldNum" sz="quarter" idx="5"/>
          </p:nvPr>
        </p:nvSpPr>
        <p:spPr/>
        <p:txBody>
          <a:bodyPr/>
          <a:lstStyle/>
          <a:p>
            <a:fld id="{E3A6CE5E-F349-486D-8749-82EF2AD71FA8}" type="slidenum">
              <a:rPr lang="zh-TW" altLang="en-US" smtClean="0"/>
              <a:t>5</a:t>
            </a:fld>
            <a:endParaRPr lang="zh-TW" altLang="en-US"/>
          </a:p>
        </p:txBody>
      </p:sp>
    </p:spTree>
    <p:extLst>
      <p:ext uri="{BB962C8B-B14F-4D97-AF65-F5344CB8AC3E}">
        <p14:creationId xmlns:p14="http://schemas.microsoft.com/office/powerpoint/2010/main" val="302294458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A148A7-E727-1876-EEC2-EE1FF967761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8CDA593-F947-4F86-E4E2-84C334DA1432}"/>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C6618D0F-A824-BF63-762D-700713FACC9C}"/>
              </a:ext>
            </a:extLst>
          </p:cNvPr>
          <p:cNvSpPr>
            <a:spLocks noGrp="1"/>
          </p:cNvSpPr>
          <p:nvPr>
            <p:ph type="body" idx="1"/>
          </p:nvPr>
        </p:nvSpPr>
        <p:spPr/>
        <p:txBody>
          <a:bodyPr/>
          <a:lstStyle/>
          <a:p>
            <a:endParaRPr lang="zh-TW"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A96DCFCD-5664-3FB0-02E6-0DE7A8DF9D26}"/>
              </a:ext>
            </a:extLst>
          </p:cNvPr>
          <p:cNvSpPr>
            <a:spLocks noGrp="1"/>
          </p:cNvSpPr>
          <p:nvPr>
            <p:ph type="sldNum" sz="quarter" idx="5"/>
          </p:nvPr>
        </p:nvSpPr>
        <p:spPr/>
        <p:txBody>
          <a:bodyPr/>
          <a:lstStyle/>
          <a:p>
            <a:fld id="{E3A6CE5E-F349-486D-8749-82EF2AD71FA8}" type="slidenum">
              <a:rPr lang="zh-TW" altLang="en-US" smtClean="0"/>
              <a:t>9</a:t>
            </a:fld>
            <a:endParaRPr lang="zh-TW" altLang="en-US"/>
          </a:p>
        </p:txBody>
      </p:sp>
    </p:spTree>
    <p:extLst>
      <p:ext uri="{BB962C8B-B14F-4D97-AF65-F5344CB8AC3E}">
        <p14:creationId xmlns:p14="http://schemas.microsoft.com/office/powerpoint/2010/main" val="241819012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10</a:t>
            </a:fld>
            <a:endParaRPr lang="zh-TW" altLang="en-US"/>
          </a:p>
        </p:txBody>
      </p:sp>
    </p:spTree>
    <p:extLst>
      <p:ext uri="{BB962C8B-B14F-4D97-AF65-F5344CB8AC3E}">
        <p14:creationId xmlns:p14="http://schemas.microsoft.com/office/powerpoint/2010/main" val="25572861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92529A-4EF9-2EEE-5A60-C291D7D7775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2C0779BF-F829-C373-BE62-F8275D55A9B4}"/>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BB531954-A0C7-0F67-E78A-CBF9608AE9E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br>
              <a:rPr lang="en-US" altLang="zh-TW" dirty="0"/>
            </a:br>
            <a:r>
              <a:rPr lang="en-US" altLang="zh-TW" dirty="0"/>
              <a:t>Gemma</a:t>
            </a:r>
            <a:r>
              <a:rPr lang="zh-TW" altLang="en-US" dirty="0"/>
              <a:t> </a:t>
            </a:r>
            <a:r>
              <a:rPr lang="en-US" altLang="zh-TW" dirty="0"/>
              <a:t>4</a:t>
            </a:r>
            <a:r>
              <a:rPr lang="zh-TW" altLang="en-US" dirty="0"/>
              <a:t> </a:t>
            </a:r>
            <a:r>
              <a:rPr lang="en-US" altLang="zh-TW" dirty="0"/>
              <a:t>12B</a:t>
            </a:r>
            <a:r>
              <a:rPr lang="zh-TW" altLang="en-US" dirty="0"/>
              <a:t> 統一架構</a:t>
            </a:r>
            <a:r>
              <a:rPr lang="en-US" altLang="zh-TW" dirty="0"/>
              <a:t>,</a:t>
            </a:r>
            <a:r>
              <a:rPr lang="zh-TW" altLang="en-US" dirty="0"/>
              <a:t> </a:t>
            </a:r>
            <a:r>
              <a:rPr lang="zh-TW" altLang="zh-TW" dirty="0"/>
              <a:t>層級嵌入 PLE</a:t>
            </a:r>
            <a:endParaRPr lang="zh-TW" altLang="en-US" dirty="0"/>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多模態 AI 的架構簡介（從傳統到現代）</a:t>
            </a:r>
            <a:r>
              <a:rPr lang="zh-TW" altLang="zh-TW" sz="1200" b="0" u="none" strike="noStrike" kern="1200" dirty="0">
                <a:solidFill>
                  <a:schemeClr val="tx1"/>
                </a:solidFill>
                <a:effectLst/>
                <a:latin typeface="+mn-lt"/>
                <a:ea typeface="+mn-ea"/>
                <a:cs typeface="+mn-cs"/>
              </a:rPr>
              <a:t>要在同一個 AI 模型裡同時塞入「文字、圖片、聲音」</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技術架構經歷了兩個世代演變：</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傳統架構：橋接法 (Encoder-based Architecture)</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以往的 LLaVA 或舊型多模態模型，就像是「拼裝車」：</a:t>
            </a:r>
          </a:p>
          <a:p>
            <a:r>
              <a:rPr lang="zh-TW" altLang="zh-TW" sz="1200" b="1" u="none" strike="noStrike" kern="1200" dirty="0">
                <a:solidFill>
                  <a:schemeClr val="tx1"/>
                </a:solidFill>
                <a:effectLst/>
                <a:latin typeface="+mn-lt"/>
                <a:ea typeface="+mn-ea"/>
                <a:cs typeface="+mn-cs"/>
              </a:rPr>
              <a:t>外掛多個編編碼器 (Encoders)</a:t>
            </a:r>
            <a:r>
              <a:rPr lang="zh-TW" altLang="zh-TW" sz="1200" b="0" u="none" strike="noStrike" kern="1200" dirty="0">
                <a:solidFill>
                  <a:schemeClr val="tx1"/>
                </a:solidFill>
                <a:effectLst/>
                <a:latin typeface="+mn-lt"/>
                <a:ea typeface="+mn-ea"/>
                <a:cs typeface="+mn-cs"/>
              </a:rPr>
              <a:t>：文字有文字的處理器、圖片有專屬的視覺編碼器（如 CLIP）、聲音有語音編碼器。</a:t>
            </a:r>
          </a:p>
          <a:p>
            <a:r>
              <a:rPr lang="zh-TW" altLang="zh-TW" sz="1200" b="1" u="none" strike="noStrike" kern="1200" dirty="0">
                <a:solidFill>
                  <a:schemeClr val="tx1"/>
                </a:solidFill>
                <a:effectLst/>
                <a:latin typeface="+mn-lt"/>
                <a:ea typeface="+mn-ea"/>
                <a:cs typeface="+mn-cs"/>
              </a:rPr>
              <a:t>對齊層 (Projection Layer)</a:t>
            </a:r>
            <a:r>
              <a:rPr lang="zh-TW" altLang="zh-TW" sz="1200" b="0" u="none" strike="noStrike" kern="1200" dirty="0">
                <a:solidFill>
                  <a:schemeClr val="tx1"/>
                </a:solidFill>
                <a:effectLst/>
                <a:latin typeface="+mn-lt"/>
                <a:ea typeface="+mn-ea"/>
                <a:cs typeface="+mn-cs"/>
              </a:rPr>
              <a:t>：中間用一個轉換層，把圖片和聲音的訊號「強行翻譯」成文字看得懂的向量。</a:t>
            </a:r>
          </a:p>
          <a:p>
            <a:r>
              <a:rPr lang="zh-TW" altLang="zh-TW" sz="1200" b="1" u="none" strike="noStrike" kern="1200" dirty="0">
                <a:solidFill>
                  <a:schemeClr val="tx1"/>
                </a:solidFill>
                <a:effectLst/>
                <a:latin typeface="+mn-lt"/>
                <a:ea typeface="+mn-ea"/>
                <a:cs typeface="+mn-cs"/>
              </a:rPr>
              <a:t>丟入 LLM</a:t>
            </a:r>
            <a:r>
              <a:rPr lang="zh-TW" altLang="zh-TW" sz="1200" b="0" u="none" strike="noStrike" kern="1200" dirty="0">
                <a:solidFill>
                  <a:schemeClr val="tx1"/>
                </a:solidFill>
                <a:effectLst/>
                <a:latin typeface="+mn-lt"/>
                <a:ea typeface="+mn-ea"/>
                <a:cs typeface="+mn-cs"/>
              </a:rPr>
              <a:t>：最後才餵給主要的大型語言模型。 </a:t>
            </a:r>
            <a:endParaRPr lang="en-US" altLang="zh-TW" sz="1200" b="0" u="none" strike="noStrike" kern="1200" dirty="0">
              <a:solidFill>
                <a:schemeClr val="tx1"/>
              </a:solidFill>
              <a:effectLst/>
              <a:latin typeface="+mn-lt"/>
              <a:ea typeface="+mn-ea"/>
              <a:cs typeface="+mn-cs"/>
            </a:endParaRPr>
          </a:p>
          <a:p>
            <a:r>
              <a:rPr lang="zh-TW" altLang="zh-TW" sz="1200" b="0" i="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：編碼器體積龐大</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數億參數</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、會卡死微調</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Fine-tuning</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的彈性</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且在轉換過程中容易漏掉細節。 </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現代/未來架構：原生統一法 (Native Unified / Encoder-Free Architecture)</a:t>
            </a:r>
          </a:p>
          <a:p>
            <a:r>
              <a:rPr lang="zh-TW" altLang="zh-TW" sz="1200" b="0" u="none" strike="noStrike" kern="1200" dirty="0">
                <a:solidFill>
                  <a:schemeClr val="tx1"/>
                </a:solidFill>
                <a:effectLst/>
                <a:latin typeface="+mn-lt"/>
                <a:ea typeface="+mn-ea"/>
                <a:cs typeface="+mn-cs"/>
              </a:rPr>
              <a:t>這也是 </a:t>
            </a:r>
            <a:r>
              <a:rPr lang="zh-TW" altLang="zh-TW" sz="1200" b="1" u="none" strike="noStrike" kern="1200" dirty="0">
                <a:solidFill>
                  <a:schemeClr val="tx1"/>
                </a:solidFill>
                <a:effectLst/>
                <a:latin typeface="+mn-lt"/>
                <a:ea typeface="+mn-ea"/>
                <a:cs typeface="+mn-cs"/>
              </a:rPr>
              <a:t>Gemma 4 的核心突破</a:t>
            </a:r>
            <a:r>
              <a:rPr lang="zh-TW" altLang="zh-TW" sz="1200" b="0" u="none" strike="noStrike" kern="1200" dirty="0">
                <a:solidFill>
                  <a:schemeClr val="tx1"/>
                </a:solidFill>
                <a:effectLst/>
                <a:latin typeface="+mn-lt"/>
                <a:ea typeface="+mn-ea"/>
                <a:cs typeface="+mn-cs"/>
              </a:rPr>
              <a:t>！科學家發現，不需要外掛這麼多編碼器，主要的大腦</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LLM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本質上就夠聰明了。</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直接線性投影 (Linear Projection)</a:t>
            </a:r>
            <a:r>
              <a:rPr lang="zh-TW" altLang="zh-TW" sz="1200" b="0" u="none" strike="noStrike" kern="1200" dirty="0">
                <a:solidFill>
                  <a:schemeClr val="tx1"/>
                </a:solidFill>
                <a:effectLst/>
                <a:latin typeface="+mn-lt"/>
                <a:ea typeface="+mn-ea"/>
                <a:cs typeface="+mn-cs"/>
              </a:rPr>
              <a:t>：圖片或聲音不經過外部編碼器加工，直接切碎並透過一個極輕量的線性模組轉成標記（Tokens）。</a:t>
            </a:r>
          </a:p>
          <a:p>
            <a:r>
              <a:rPr lang="zh-TW" altLang="zh-TW" sz="1200" b="1" u="none" strike="noStrike" kern="1200" dirty="0">
                <a:solidFill>
                  <a:schemeClr val="tx1"/>
                </a:solidFill>
                <a:effectLst/>
                <a:latin typeface="+mn-lt"/>
                <a:ea typeface="+mn-ea"/>
                <a:cs typeface="+mn-cs"/>
              </a:rPr>
              <a:t>一體化推論</a:t>
            </a:r>
            <a:r>
              <a:rPr lang="zh-TW" altLang="zh-TW" sz="1200" b="0" u="none" strike="noStrike" kern="1200" dirty="0">
                <a:solidFill>
                  <a:schemeClr val="tx1"/>
                </a:solidFill>
                <a:effectLst/>
                <a:latin typeface="+mn-lt"/>
                <a:ea typeface="+mn-ea"/>
                <a:cs typeface="+mn-cs"/>
              </a:rPr>
              <a:t>：多種模態的資料直接在同一個核心架構（Backbone）裡混合、計算。 </a:t>
            </a:r>
          </a:p>
          <a:p>
            <a:r>
              <a:rPr lang="zh-TW" altLang="zh-TW" sz="1200" b="0" i="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：推論速度極快、模型體積大幅縮小，而且文字、圖片、音訊可以完美融合在同一個資料流中，大幅降低硬體門檻。</a:t>
            </a:r>
          </a:p>
          <a:p>
            <a:endParaRPr lang="en-US" altLang="zh-TW" dirty="0"/>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計算</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memory</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用量</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 </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計算用電</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 </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如何知道級距</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 用雲端服務建立準線。</a:t>
            </a:r>
            <a:endPar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294B2211-4D24-D0CD-E8B5-6DAC6082A825}"/>
              </a:ext>
            </a:extLst>
          </p:cNvPr>
          <p:cNvSpPr>
            <a:spLocks noGrp="1"/>
          </p:cNvSpPr>
          <p:nvPr>
            <p:ph type="sldNum" sz="quarter" idx="5"/>
          </p:nvPr>
        </p:nvSpPr>
        <p:spPr/>
        <p:txBody>
          <a:bodyPr/>
          <a:lstStyle/>
          <a:p>
            <a:fld id="{E3A6CE5E-F349-486D-8749-82EF2AD71FA8}" type="slidenum">
              <a:rPr lang="zh-TW" altLang="en-US" smtClean="0"/>
              <a:t>16</a:t>
            </a:fld>
            <a:endParaRPr lang="zh-TW" altLang="en-US"/>
          </a:p>
        </p:txBody>
      </p:sp>
    </p:spTree>
    <p:extLst>
      <p:ext uri="{BB962C8B-B14F-4D97-AF65-F5344CB8AC3E}">
        <p14:creationId xmlns:p14="http://schemas.microsoft.com/office/powerpoint/2010/main" val="413775462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8E1B50-36C2-3AAC-6195-6D6290F49DE4}"/>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94C3EB0F-8828-273B-A955-F1294176FE80}"/>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94844179-B599-DDBE-54BC-B8D96AEF4A45}"/>
              </a:ext>
            </a:extLst>
          </p:cNvPr>
          <p:cNvSpPr>
            <a:spLocks noGrp="1"/>
          </p:cNvSpPr>
          <p:nvPr>
            <p:ph type="body" idx="1"/>
          </p:nvPr>
        </p:nvSpPr>
        <p:spPr/>
        <p:txBody>
          <a:bodyPr/>
          <a:lstStyle/>
          <a:p>
            <a:r>
              <a:rPr lang="zh-TW" altLang="zh-TW" sz="1200" b="1" u="none" strike="noStrike" kern="1200" dirty="0">
                <a:solidFill>
                  <a:schemeClr val="tx1"/>
                </a:solidFill>
                <a:effectLst/>
                <a:latin typeface="+mn-lt"/>
                <a:ea typeface="+mn-ea"/>
                <a:cs typeface="+mn-cs"/>
              </a:rPr>
              <a:t>Momentum Orthogonalized by Newton-Schulz</a:t>
            </a:r>
            <a:r>
              <a:rPr lang="zh-TW" altLang="zh-TW" sz="1200" b="0" u="none" strike="noStrike" kern="1200" dirty="0">
                <a:solidFill>
                  <a:schemeClr val="tx1"/>
                </a:solidFill>
                <a:effectLst/>
                <a:latin typeface="+mn-lt"/>
                <a:ea typeface="+mn-ea"/>
                <a:cs typeface="+mn-cs"/>
              </a:rPr>
              <a:t>（利用牛頓-舒爾茨方法進行動量正交化）是 LLM</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訓練中非常前沿的優化器技術，也是知名優化器 </a:t>
            </a:r>
            <a:r>
              <a:rPr lang="zh-TW" altLang="zh-TW" sz="1200" b="1" u="none" strike="noStrike" kern="1200" dirty="0">
                <a:solidFill>
                  <a:schemeClr val="tx1"/>
                </a:solidFill>
                <a:effectLst/>
                <a:latin typeface="+mn-lt"/>
                <a:ea typeface="+mn-ea"/>
                <a:cs typeface="+mn-cs"/>
              </a:rPr>
              <a:t>Muon</a:t>
            </a:r>
            <a:r>
              <a:rPr lang="zh-TW" altLang="zh-TW" sz="1200" b="0" u="none" strike="noStrike" kern="1200" dirty="0">
                <a:solidFill>
                  <a:schemeClr val="tx1"/>
                </a:solidFill>
                <a:effectLst/>
                <a:latin typeface="+mn-lt"/>
                <a:ea typeface="+mn-ea"/>
                <a:cs typeface="+mn-cs"/>
              </a:rPr>
              <a:t> 的核心運作機制 。</a:t>
            </a:r>
          </a:p>
          <a:p>
            <a:r>
              <a:rPr lang="zh-TW" altLang="zh-TW" sz="1200" b="0" u="none" strike="noStrike" kern="1200" dirty="0">
                <a:solidFill>
                  <a:schemeClr val="tx1"/>
                </a:solidFill>
                <a:effectLst/>
                <a:latin typeface="+mn-lt"/>
                <a:ea typeface="+mn-ea"/>
                <a:cs typeface="+mn-cs"/>
              </a:rPr>
              <a:t>簡單來說，它的核心目的是：</a:t>
            </a:r>
            <a:r>
              <a:rPr lang="zh-TW" altLang="zh-TW" sz="1200" b="1" u="none" strike="noStrike" kern="1200" dirty="0">
                <a:solidFill>
                  <a:schemeClr val="tx1"/>
                </a:solidFill>
                <a:effectLst/>
                <a:latin typeface="+mn-lt"/>
                <a:ea typeface="+mn-ea"/>
                <a:cs typeface="+mn-cs"/>
              </a:rPr>
              <a:t>在模型更新參數時，利用 Newton-Schulz 數學迭代法，將原本帶有方向偏誤的「動量（Momentum）」，強行轉換為一個「嚴格正交且基底均勻」的矩陣。</a:t>
            </a:r>
            <a:r>
              <a:rPr lang="zh-TW" altLang="zh-TW" sz="1200" b="0" u="none" strike="noStrike" kern="1200" dirty="0">
                <a:solidFill>
                  <a:schemeClr val="tx1"/>
                </a:solidFill>
                <a:effectLst/>
                <a:latin typeface="+mn-lt"/>
                <a:ea typeface="+mn-ea"/>
                <a:cs typeface="+mn-cs"/>
              </a:rPr>
              <a:t> 這樣做可以確保模型在各個維度上的學習速度完全一致，大幅加快極大模型的收斂速度。</a:t>
            </a:r>
          </a:p>
          <a:p>
            <a:endParaRPr lang="zh-TW" altLang="en-US" dirty="0"/>
          </a:p>
        </p:txBody>
      </p:sp>
      <p:sp>
        <p:nvSpPr>
          <p:cNvPr id="4" name="投影片編號版面配置區 3">
            <a:extLst>
              <a:ext uri="{FF2B5EF4-FFF2-40B4-BE49-F238E27FC236}">
                <a16:creationId xmlns:a16="http://schemas.microsoft.com/office/drawing/2014/main" id="{EDF9E040-D292-65E0-F09A-F6C500D2C282}"/>
              </a:ext>
            </a:extLst>
          </p:cNvPr>
          <p:cNvSpPr>
            <a:spLocks noGrp="1"/>
          </p:cNvSpPr>
          <p:nvPr>
            <p:ph type="sldNum" sz="quarter" idx="5"/>
          </p:nvPr>
        </p:nvSpPr>
        <p:spPr/>
        <p:txBody>
          <a:bodyPr/>
          <a:lstStyle/>
          <a:p>
            <a:fld id="{E3A6CE5E-F349-486D-8749-82EF2AD71FA8}" type="slidenum">
              <a:rPr lang="zh-TW" altLang="en-US" smtClean="0"/>
              <a:t>21</a:t>
            </a:fld>
            <a:endParaRPr lang="zh-TW" altLang="en-US"/>
          </a:p>
        </p:txBody>
      </p:sp>
    </p:spTree>
    <p:extLst>
      <p:ext uri="{BB962C8B-B14F-4D97-AF65-F5344CB8AC3E}">
        <p14:creationId xmlns:p14="http://schemas.microsoft.com/office/powerpoint/2010/main" val="119965365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BCEB95-4B28-36E7-87CA-1F30261B4E5A}"/>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C62F1D8-6DF7-73D8-C9BE-87163917B318}"/>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DB09A24C-06FD-8BD3-CE5A-4D77584C67AC}"/>
              </a:ext>
            </a:extLst>
          </p:cNvPr>
          <p:cNvSpPr>
            <a:spLocks noGrp="1"/>
          </p:cNvSpPr>
          <p:nvPr>
            <p:ph type="body" idx="1"/>
          </p:nvPr>
        </p:nvSpPr>
        <p:spPr/>
        <p:txBody>
          <a:bodyPr/>
          <a:lstStyle/>
          <a:p>
            <a:r>
              <a:rPr lang="zh-TW" altLang="zh-TW" sz="1200" b="1" u="none" strike="noStrike" kern="1200" dirty="0">
                <a:solidFill>
                  <a:schemeClr val="tx1"/>
                </a:solidFill>
                <a:effectLst/>
                <a:latin typeface="+mn-lt"/>
                <a:ea typeface="+mn-ea"/>
                <a:cs typeface="+mn-cs"/>
              </a:rPr>
              <a:t>Momentum Orthogonalized by Newton-Schulz</a:t>
            </a:r>
            <a:r>
              <a:rPr lang="zh-TW" altLang="zh-TW" sz="1200" b="0" u="none" strike="noStrike" kern="1200" dirty="0">
                <a:solidFill>
                  <a:schemeClr val="tx1"/>
                </a:solidFill>
                <a:effectLst/>
                <a:latin typeface="+mn-lt"/>
                <a:ea typeface="+mn-ea"/>
                <a:cs typeface="+mn-cs"/>
              </a:rPr>
              <a:t>（利用牛頓-舒爾茨方法進行動量正交化）是 LLM</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訓練中非常前沿的優化器技術，也是知名優化器 </a:t>
            </a:r>
            <a:r>
              <a:rPr lang="zh-TW" altLang="zh-TW" sz="1200" b="1" u="none" strike="noStrike" kern="1200" dirty="0">
                <a:solidFill>
                  <a:schemeClr val="tx1"/>
                </a:solidFill>
                <a:effectLst/>
                <a:latin typeface="+mn-lt"/>
                <a:ea typeface="+mn-ea"/>
                <a:cs typeface="+mn-cs"/>
              </a:rPr>
              <a:t>Muon</a:t>
            </a:r>
            <a:r>
              <a:rPr lang="zh-TW" altLang="zh-TW" sz="1200" b="0" u="none" strike="noStrike" kern="1200" dirty="0">
                <a:solidFill>
                  <a:schemeClr val="tx1"/>
                </a:solidFill>
                <a:effectLst/>
                <a:latin typeface="+mn-lt"/>
                <a:ea typeface="+mn-ea"/>
                <a:cs typeface="+mn-cs"/>
              </a:rPr>
              <a:t> 的核心運作機制 。</a:t>
            </a:r>
          </a:p>
          <a:p>
            <a:r>
              <a:rPr lang="zh-TW" altLang="zh-TW" sz="1200" b="0" u="none" strike="noStrike" kern="1200" dirty="0">
                <a:solidFill>
                  <a:schemeClr val="tx1"/>
                </a:solidFill>
                <a:effectLst/>
                <a:latin typeface="+mn-lt"/>
                <a:ea typeface="+mn-ea"/>
                <a:cs typeface="+mn-cs"/>
              </a:rPr>
              <a:t>簡單來說，它的核心目的是：</a:t>
            </a:r>
            <a:r>
              <a:rPr lang="zh-TW" altLang="zh-TW" sz="1200" b="1" u="none" strike="noStrike" kern="1200" dirty="0">
                <a:solidFill>
                  <a:schemeClr val="tx1"/>
                </a:solidFill>
                <a:effectLst/>
                <a:latin typeface="+mn-lt"/>
                <a:ea typeface="+mn-ea"/>
                <a:cs typeface="+mn-cs"/>
              </a:rPr>
              <a:t>在模型更新參數時，利用 Newton-Schulz 數學迭代法，將原本帶有方向偏誤的「動量（Momentum）」，強行轉換為一個「嚴格正交且基底均勻」的矩陣。</a:t>
            </a:r>
            <a:r>
              <a:rPr lang="zh-TW" altLang="zh-TW" sz="1200" b="0" u="none" strike="noStrike" kern="1200" dirty="0">
                <a:solidFill>
                  <a:schemeClr val="tx1"/>
                </a:solidFill>
                <a:effectLst/>
                <a:latin typeface="+mn-lt"/>
                <a:ea typeface="+mn-ea"/>
                <a:cs typeface="+mn-cs"/>
              </a:rPr>
              <a:t> 這樣做可以確保模型在各個維度上的學習速度完全一致，大幅加快極大模型的收斂速度。</a:t>
            </a:r>
          </a:p>
          <a:p>
            <a:endParaRPr lang="zh-TW" altLang="en-US" dirty="0"/>
          </a:p>
        </p:txBody>
      </p:sp>
      <p:sp>
        <p:nvSpPr>
          <p:cNvPr id="4" name="投影片編號版面配置區 3">
            <a:extLst>
              <a:ext uri="{FF2B5EF4-FFF2-40B4-BE49-F238E27FC236}">
                <a16:creationId xmlns:a16="http://schemas.microsoft.com/office/drawing/2014/main" id="{C5A4A188-00BE-20FA-2048-87C75C2A4CBE}"/>
              </a:ext>
            </a:extLst>
          </p:cNvPr>
          <p:cNvSpPr>
            <a:spLocks noGrp="1"/>
          </p:cNvSpPr>
          <p:nvPr>
            <p:ph type="sldNum" sz="quarter" idx="5"/>
          </p:nvPr>
        </p:nvSpPr>
        <p:spPr/>
        <p:txBody>
          <a:bodyPr/>
          <a:lstStyle/>
          <a:p>
            <a:fld id="{E3A6CE5E-F349-486D-8749-82EF2AD71FA8}" type="slidenum">
              <a:rPr lang="zh-TW" altLang="en-US" smtClean="0"/>
              <a:t>22</a:t>
            </a:fld>
            <a:endParaRPr lang="zh-TW" altLang="en-US"/>
          </a:p>
        </p:txBody>
      </p:sp>
    </p:spTree>
    <p:extLst>
      <p:ext uri="{BB962C8B-B14F-4D97-AF65-F5344CB8AC3E}">
        <p14:creationId xmlns:p14="http://schemas.microsoft.com/office/powerpoint/2010/main" val="76699879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755B09-3B3A-04FC-B910-FD514564E8D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397D7B1-3963-C2C0-8936-531A5502EA3F}"/>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2D87AC4C-85F7-140D-7FC7-B8BF07EEF986}"/>
              </a:ext>
            </a:extLst>
          </p:cNvPr>
          <p:cNvSpPr>
            <a:spLocks noGrp="1"/>
          </p:cNvSpPr>
          <p:nvPr>
            <p:ph type="body" idx="1"/>
          </p:nvPr>
        </p:nvSpPr>
        <p:spPr/>
        <p:txBody>
          <a:bodyPr/>
          <a:lstStyle/>
          <a:p>
            <a:r>
              <a:rPr lang="zh-TW" altLang="zh-TW" dirty="0"/>
              <a:t>在傳統的 Transformer 架構中，模型運作會面臨兩個維度的資訊損耗：</a:t>
            </a:r>
            <a:endParaRPr lang="en-US" altLang="zh-TW" dirty="0"/>
          </a:p>
          <a:p>
            <a:r>
              <a:rPr lang="zh-TW" altLang="zh-TW" dirty="0"/>
              <a:t>一個是文字序列越長，記憶體越容易爆掉（水平瓶頸）；</a:t>
            </a:r>
            <a:endParaRPr lang="en-US" altLang="zh-TW" dirty="0"/>
          </a:p>
          <a:p>
            <a:r>
              <a:rPr lang="zh-TW" altLang="zh-TW" dirty="0"/>
              <a:t>另一個是神經網路層數越深，早期的重要訊號越容易被後面的層沖淡（垂直瓶頸）。</a:t>
            </a:r>
            <a:endParaRPr lang="en-US" altLang="zh-TW" dirty="0"/>
          </a:p>
          <a:p>
            <a:r>
              <a:rPr lang="zh-TW" altLang="zh-TW" dirty="0"/>
              <a:t>Kimi 的解法是將「注意力機制」同時應用在這兩個維度：</a:t>
            </a:r>
            <a:endParaRPr lang="zh-TW" altLang="en-US" dirty="0"/>
          </a:p>
        </p:txBody>
      </p:sp>
      <p:sp>
        <p:nvSpPr>
          <p:cNvPr id="4" name="投影片編號版面配置區 3">
            <a:extLst>
              <a:ext uri="{FF2B5EF4-FFF2-40B4-BE49-F238E27FC236}">
                <a16:creationId xmlns:a16="http://schemas.microsoft.com/office/drawing/2014/main" id="{72BCDD50-3061-C594-041C-9330E755B76F}"/>
              </a:ext>
            </a:extLst>
          </p:cNvPr>
          <p:cNvSpPr>
            <a:spLocks noGrp="1"/>
          </p:cNvSpPr>
          <p:nvPr>
            <p:ph type="sldNum" sz="quarter" idx="5"/>
          </p:nvPr>
        </p:nvSpPr>
        <p:spPr/>
        <p:txBody>
          <a:bodyPr/>
          <a:lstStyle/>
          <a:p>
            <a:fld id="{E3A6CE5E-F349-486D-8749-82EF2AD71FA8}" type="slidenum">
              <a:rPr lang="zh-TW" altLang="en-US" smtClean="0"/>
              <a:t>24</a:t>
            </a:fld>
            <a:endParaRPr lang="zh-TW" altLang="en-US"/>
          </a:p>
        </p:txBody>
      </p:sp>
    </p:spTree>
    <p:extLst>
      <p:ext uri="{BB962C8B-B14F-4D97-AF65-F5344CB8AC3E}">
        <p14:creationId xmlns:p14="http://schemas.microsoft.com/office/powerpoint/2010/main" val="340224797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DAF9E9-CC83-DF27-E397-155D3F2D0B0F}"/>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3C573ED-4303-C760-C0E6-466DBCFD019D}"/>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9555CB64-0641-AE5C-0077-6CD2BA1E2E47}"/>
              </a:ext>
            </a:extLst>
          </p:cNvPr>
          <p:cNvSpPr>
            <a:spLocks noGrp="1"/>
          </p:cNvSpPr>
          <p:nvPr>
            <p:ph type="body" idx="1"/>
          </p:nvPr>
        </p:nvSpPr>
        <p:spPr/>
        <p:txBody>
          <a:bodyPr/>
          <a:lstStyle/>
          <a:p>
            <a:pPr lvl="0"/>
            <a:r>
              <a:rPr lang="en-US" altLang="zh-TW" sz="1200" b="0" u="none" strike="noStrike" kern="1200" dirty="0">
                <a:solidFill>
                  <a:schemeClr val="tx1"/>
                </a:solidFill>
                <a:effectLst/>
                <a:latin typeface="+mn-lt"/>
                <a:ea typeface="+mn-ea"/>
                <a:cs typeface="+mn-cs"/>
              </a:rPr>
              <a:t>KDA</a:t>
            </a:r>
            <a:r>
              <a:rPr lang="zh-TW" altLang="zh-TW" sz="1200" b="1" u="none" strike="noStrike" kern="1200" dirty="0">
                <a:solidFill>
                  <a:schemeClr val="tx1"/>
                </a:solidFill>
                <a:effectLst/>
                <a:latin typeface="+mn-lt"/>
                <a:ea typeface="+mn-ea"/>
                <a:cs typeface="+mn-cs"/>
              </a:rPr>
              <a:t>技術原理</a:t>
            </a:r>
            <a:r>
              <a:rPr lang="zh-TW" altLang="zh-TW" dirty="0"/>
              <a:t>：</a:t>
            </a:r>
            <a:r>
              <a:rPr lang="zh-TW" altLang="zh-TW" sz="1200" b="0" u="none" strike="noStrike" kern="1200" dirty="0">
                <a:solidFill>
                  <a:schemeClr val="tx1"/>
                </a:solidFill>
                <a:effectLst/>
                <a:latin typeface="+mn-lt"/>
                <a:ea typeface="+mn-ea"/>
                <a:cs typeface="+mn-cs"/>
              </a:rPr>
              <a:t>：傳統的 Transformer 架構在處理百萬級 Token 時，KV Cache（鍵值快取）會耗盡所有顯存。</a:t>
            </a:r>
            <a:endParaRPr lang="en-US" altLang="zh-TW" sz="1200" b="0" u="none" strike="noStrike" kern="1200" dirty="0">
              <a:solidFill>
                <a:schemeClr val="tx1"/>
              </a:solidFill>
              <a:effectLst/>
              <a:latin typeface="+mn-lt"/>
              <a:ea typeface="+mn-ea"/>
              <a:cs typeface="+mn-cs"/>
            </a:endParaRPr>
          </a:p>
          <a:p>
            <a:pPr lvl="0"/>
            <a:r>
              <a:rPr lang="zh-TW" altLang="zh-TW" sz="1200" b="0" u="none" strike="noStrike" kern="1200" dirty="0">
                <a:solidFill>
                  <a:schemeClr val="tx1"/>
                </a:solidFill>
                <a:effectLst/>
                <a:latin typeface="+mn-lt"/>
                <a:ea typeface="+mn-ea"/>
                <a:cs typeface="+mn-cs"/>
              </a:rPr>
              <a:t>KDA 是一種</a:t>
            </a:r>
            <a:r>
              <a:rPr lang="zh-TW" altLang="zh-TW" sz="1200" b="1" u="none" strike="noStrike" kern="1200" dirty="0">
                <a:solidFill>
                  <a:schemeClr val="tx1"/>
                </a:solidFill>
                <a:effectLst/>
                <a:latin typeface="+mn-lt"/>
                <a:ea typeface="+mn-ea"/>
                <a:cs typeface="+mn-cs"/>
              </a:rPr>
              <a:t>混合線性注意力機制</a:t>
            </a:r>
            <a:r>
              <a:rPr lang="zh-TW" altLang="zh-TW" sz="1200" b="0" u="none" strike="noStrike" kern="1200" dirty="0">
                <a:solidFill>
                  <a:schemeClr val="tx1"/>
                </a:solidFill>
                <a:effectLst/>
                <a:latin typeface="+mn-lt"/>
                <a:ea typeface="+mn-ea"/>
                <a:cs typeface="+mn-cs"/>
              </a:rPr>
              <a:t>，它在不損失長文本脈絡的前提下，引入了循環狀態快取（Recurrent State Caches），大幅縮減了每一步解碼需要保留的常規 KV 對。</a:t>
            </a:r>
          </a:p>
          <a:p>
            <a:pPr lvl="0"/>
            <a:r>
              <a:rPr lang="zh-TW" altLang="zh-TW" sz="1200" b="1" u="none" strike="noStrike" kern="1200" dirty="0">
                <a:solidFill>
                  <a:schemeClr val="tx1"/>
                </a:solidFill>
                <a:effectLst/>
                <a:latin typeface="+mn-lt"/>
                <a:ea typeface="+mn-ea"/>
                <a:cs typeface="+mn-cs"/>
              </a:rPr>
              <a:t>擅長效果</a:t>
            </a:r>
            <a:r>
              <a:rPr lang="zh-TW" altLang="zh-TW" sz="1200" b="0" u="none" strike="noStrike" kern="1200" dirty="0">
                <a:solidFill>
                  <a:schemeClr val="tx1"/>
                </a:solidFill>
                <a:effectLst/>
                <a:latin typeface="+mn-lt"/>
                <a:ea typeface="+mn-ea"/>
                <a:cs typeface="+mn-cs"/>
              </a:rPr>
              <a:t>：實現高達 </a:t>
            </a:r>
            <a:r>
              <a:rPr lang="zh-TW" altLang="zh-TW" sz="1200" b="1" u="none" strike="noStrike" kern="1200" dirty="0">
                <a:solidFill>
                  <a:schemeClr val="tx1"/>
                </a:solidFill>
                <a:effectLst/>
                <a:latin typeface="+mn-lt"/>
                <a:ea typeface="+mn-ea"/>
                <a:cs typeface="+mn-cs"/>
              </a:rPr>
              <a:t>100 萬 Token 的超長上下文視窗</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B66461CB-AAFB-8D6B-0436-EE1377E4AB5B}"/>
              </a:ext>
            </a:extLst>
          </p:cNvPr>
          <p:cNvSpPr>
            <a:spLocks noGrp="1"/>
          </p:cNvSpPr>
          <p:nvPr>
            <p:ph type="sldNum" sz="quarter" idx="5"/>
          </p:nvPr>
        </p:nvSpPr>
        <p:spPr/>
        <p:txBody>
          <a:bodyPr/>
          <a:lstStyle/>
          <a:p>
            <a:fld id="{E3A6CE5E-F349-486D-8749-82EF2AD71FA8}" type="slidenum">
              <a:rPr lang="zh-TW" altLang="en-US" smtClean="0"/>
              <a:t>25</a:t>
            </a:fld>
            <a:endParaRPr lang="zh-TW" altLang="en-US"/>
          </a:p>
        </p:txBody>
      </p:sp>
    </p:spTree>
    <p:extLst>
      <p:ext uri="{BB962C8B-B14F-4D97-AF65-F5344CB8AC3E}">
        <p14:creationId xmlns:p14="http://schemas.microsoft.com/office/powerpoint/2010/main" val="393989916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4E6667-2A85-FF53-8F83-A2A48D7CC895}"/>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E29B604A-8ED3-03F5-03F9-DAF0CCD5B826}"/>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72D3A238-5F41-23FE-BADB-1E35C342E214}"/>
              </a:ext>
            </a:extLst>
          </p:cNvPr>
          <p:cNvSpPr>
            <a:spLocks noGrp="1"/>
          </p:cNvSpPr>
          <p:nvPr>
            <p:ph type="body" idx="1"/>
          </p:nvPr>
        </p:nvSpPr>
        <p:spPr/>
        <p:txBody>
          <a:bodyPr/>
          <a:lstStyle/>
          <a:p>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Kimi K3 基于 Kimi Delta Attention（KDA）和 Attention Residuals（AttnRes）构建。</a:t>
            </a:r>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Mixture of Experts（MoE）的稀疏度</a:t>
            </a:r>
            <a:r>
              <a:rPr lang="en-US" altLang="zh-TW" sz="1200" b="0" i="0" kern="1200" dirty="0">
                <a:solidFill>
                  <a:schemeClr val="tx1"/>
                </a:solidFill>
                <a:effectLst/>
                <a:latin typeface="+mn-lt"/>
                <a:ea typeface="+mn-ea"/>
                <a:cs typeface="+mn-cs"/>
              </a:rPr>
              <a:t>(16/896</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=1.8%)</a:t>
            </a:r>
            <a:r>
              <a:rPr lang="zh-TW" altLang="zh-TW" sz="1200" b="0" i="0" kern="1200" dirty="0">
                <a:solidFill>
                  <a:schemeClr val="tx1"/>
                </a:solidFill>
                <a:effectLst/>
                <a:latin typeface="+mn-lt"/>
                <a:ea typeface="+mn-ea"/>
                <a:cs typeface="+mn-cs"/>
              </a:rPr>
              <a:t>：</a:t>
            </a:r>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Stable Latent</a:t>
            </a:r>
            <a:r>
              <a:rPr lang="zh-TW" altLang="en-US" sz="1200" b="0" i="0" kern="1200" dirty="0">
                <a:solidFill>
                  <a:schemeClr val="tx1"/>
                </a:solidFill>
                <a:effectLst/>
                <a:latin typeface="+mn-lt"/>
                <a:ea typeface="+mn-ea"/>
                <a:cs typeface="+mn-cs"/>
              </a:rPr>
              <a:t> </a:t>
            </a:r>
            <a:r>
              <a:rPr lang="zh-TW" altLang="zh-TW" sz="1200" b="0" i="0" kern="1200" dirty="0">
                <a:solidFill>
                  <a:schemeClr val="tx1"/>
                </a:solidFill>
                <a:effectLst/>
                <a:latin typeface="+mn-lt"/>
                <a:ea typeface="+mn-ea"/>
                <a:cs typeface="+mn-cs"/>
              </a:rPr>
              <a:t>MoE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 由</a:t>
            </a:r>
            <a:r>
              <a:rPr lang="en-US" altLang="zh-TW" sz="1200" b="0" i="0" kern="1200" dirty="0">
                <a:solidFill>
                  <a:schemeClr val="tx1"/>
                </a:solidFill>
                <a:effectLst/>
                <a:latin typeface="+mn-lt"/>
                <a:ea typeface="+mn-ea"/>
                <a:cs typeface="+mn-cs"/>
              </a:rPr>
              <a:t>896</a:t>
            </a:r>
            <a:r>
              <a:rPr lang="zh-TW" altLang="en-US" sz="1200" b="0" i="0" kern="1200" dirty="0">
                <a:solidFill>
                  <a:schemeClr val="tx1"/>
                </a:solidFill>
                <a:effectLst/>
                <a:latin typeface="+mn-lt"/>
                <a:ea typeface="+mn-ea"/>
                <a:cs typeface="+mn-cs"/>
              </a:rPr>
              <a:t>個專家</a:t>
            </a:r>
            <a:r>
              <a:rPr lang="zh-TW" altLang="zh-TW" sz="1200" b="0" i="0" kern="1200" dirty="0">
                <a:solidFill>
                  <a:schemeClr val="tx1"/>
                </a:solidFill>
                <a:effectLst/>
                <a:latin typeface="+mn-lt"/>
                <a:ea typeface="+mn-ea"/>
                <a:cs typeface="+mn-cs"/>
              </a:rPr>
              <a:t>模型</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 </a:t>
            </a:r>
            <a:r>
              <a:rPr lang="zh-TW" altLang="zh-TW" sz="1200" b="0" i="0" kern="1200" dirty="0">
                <a:solidFill>
                  <a:schemeClr val="tx1"/>
                </a:solidFill>
                <a:effectLst/>
                <a:latin typeface="+mn-lt"/>
                <a:ea typeface="+mn-ea"/>
                <a:cs typeface="+mn-cs"/>
              </a:rPr>
              <a:t>高效激活16</a:t>
            </a:r>
            <a:r>
              <a:rPr lang="zh-TW" altLang="en-US" sz="1200" b="0" i="0" kern="1200" dirty="0">
                <a:solidFill>
                  <a:schemeClr val="tx1"/>
                </a:solidFill>
                <a:effectLst/>
                <a:latin typeface="+mn-lt"/>
                <a:ea typeface="+mn-ea"/>
                <a:cs typeface="+mn-cs"/>
              </a:rPr>
              <a:t>個</a:t>
            </a:r>
            <a:r>
              <a:rPr lang="zh-TW" altLang="zh-TW"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(2</a:t>
            </a:r>
            <a:r>
              <a:rPr lang="zh-TW" altLang="en-US" sz="1200" b="0" i="0" kern="1200" dirty="0">
                <a:solidFill>
                  <a:schemeClr val="tx1"/>
                </a:solidFill>
                <a:effectLst/>
                <a:latin typeface="+mn-lt"/>
                <a:ea typeface="+mn-ea"/>
                <a:cs typeface="+mn-cs"/>
              </a:rPr>
              <a:t>常駐分享</a:t>
            </a:r>
            <a:r>
              <a:rPr lang="en-US" altLang="zh-TW" sz="1200" b="0" i="0" kern="1200" dirty="0">
                <a:solidFill>
                  <a:schemeClr val="tx1"/>
                </a:solidFill>
                <a:effectLst/>
                <a:latin typeface="+mn-lt"/>
                <a:ea typeface="+mn-ea"/>
                <a:cs typeface="+mn-cs"/>
              </a:rPr>
              <a:t>+14</a:t>
            </a:r>
            <a:r>
              <a:rPr lang="zh-TW" altLang="en-US" sz="1200" b="0" i="0" kern="1200" dirty="0">
                <a:solidFill>
                  <a:schemeClr val="tx1"/>
                </a:solidFill>
                <a:effectLst/>
                <a:latin typeface="+mn-lt"/>
                <a:ea typeface="+mn-ea"/>
                <a:cs typeface="+mn-cs"/>
              </a:rPr>
              <a:t>動態選取</a:t>
            </a:r>
            <a:r>
              <a:rPr lang="en-US" altLang="zh-TW" sz="1200" b="0" i="0" kern="1200" dirty="0">
                <a:solidFill>
                  <a:schemeClr val="tx1"/>
                </a:solidFill>
                <a:effectLst/>
                <a:latin typeface="+mn-lt"/>
                <a:ea typeface="+mn-ea"/>
                <a:cs typeface="+mn-cs"/>
              </a:rPr>
              <a:t>)</a:t>
            </a:r>
            <a:r>
              <a:rPr lang="zh-TW" altLang="zh-TW" sz="1200" b="0" i="0" kern="1200" dirty="0">
                <a:solidFill>
                  <a:schemeClr val="tx1"/>
                </a:solidFill>
                <a:effectLst/>
                <a:latin typeface="+mn-lt"/>
                <a:ea typeface="+mn-ea"/>
                <a:cs typeface="+mn-cs"/>
              </a:rPr>
              <a:t>。</a:t>
            </a:r>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再加上训练方法和数据配方的优化，这些结构性改进让 Kimi K3 相比 K2 的整体扩展效率提升约 2.5 倍，能更有效地把算力转化为能力。</a:t>
            </a:r>
            <a:endParaRPr lang="zh-TW" altLang="en-US" dirty="0"/>
          </a:p>
        </p:txBody>
      </p:sp>
      <p:sp>
        <p:nvSpPr>
          <p:cNvPr id="4" name="投影片編號版面配置區 3">
            <a:extLst>
              <a:ext uri="{FF2B5EF4-FFF2-40B4-BE49-F238E27FC236}">
                <a16:creationId xmlns:a16="http://schemas.microsoft.com/office/drawing/2014/main" id="{12179625-06B8-3D73-D2D4-34D86FEE2A0A}"/>
              </a:ext>
            </a:extLst>
          </p:cNvPr>
          <p:cNvSpPr>
            <a:spLocks noGrp="1"/>
          </p:cNvSpPr>
          <p:nvPr>
            <p:ph type="sldNum" sz="quarter" idx="5"/>
          </p:nvPr>
        </p:nvSpPr>
        <p:spPr/>
        <p:txBody>
          <a:bodyPr/>
          <a:lstStyle/>
          <a:p>
            <a:fld id="{E3A6CE5E-F349-486D-8749-82EF2AD71FA8}" type="slidenum">
              <a:rPr lang="zh-TW" altLang="en-US" smtClean="0"/>
              <a:t>26</a:t>
            </a:fld>
            <a:endParaRPr lang="zh-TW" altLang="en-US"/>
          </a:p>
        </p:txBody>
      </p:sp>
    </p:spTree>
    <p:extLst>
      <p:ext uri="{BB962C8B-B14F-4D97-AF65-F5344CB8AC3E}">
        <p14:creationId xmlns:p14="http://schemas.microsoft.com/office/powerpoint/2010/main" val="406511946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98A0C2-F10F-41F2-4901-D00B23DA82B0}"/>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C309C615-DC37-D33D-FC81-B6B7E8E51624}"/>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24B19ED-2691-D788-2378-E6045F29620F}"/>
              </a:ext>
            </a:extLst>
          </p:cNvPr>
          <p:cNvSpPr>
            <a:spLocks noGrp="1"/>
          </p:cNvSpPr>
          <p:nvPr>
            <p:ph type="body" idx="1"/>
          </p:nvPr>
        </p:nvSpPr>
        <p:spPr/>
        <p:txBody>
          <a:bodyPr/>
          <a:lstStyle/>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Pre-Training</a:t>
            </a:r>
            <a:r>
              <a:rPr lang="zh-TW" altLang="zh-TW" sz="1200" b="0" u="none" strike="noStrike" kern="1200" dirty="0">
                <a:solidFill>
                  <a:schemeClr val="tx1"/>
                </a:solidFill>
                <a:effectLst/>
                <a:latin typeface="+mn-lt"/>
                <a:ea typeface="+mn-ea"/>
                <a:cs typeface="+mn-cs"/>
              </a:rPr>
              <a:t>：自監督（機器自己幫資料打標籤）。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Distillation</a:t>
            </a:r>
            <a:r>
              <a:rPr lang="zh-TW" altLang="zh-TW" sz="1200" b="0" u="none" strike="noStrike" kern="1200" dirty="0">
                <a:solidFill>
                  <a:schemeClr val="tx1"/>
                </a:solidFill>
                <a:effectLst/>
                <a:latin typeface="+mn-lt"/>
                <a:ea typeface="+mn-ea"/>
                <a:cs typeface="+mn-cs"/>
              </a:rPr>
              <a:t>：師徒監督（小模型模仿大模型的標籤）。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SFT</a:t>
            </a:r>
            <a:r>
              <a:rPr lang="zh-TW" altLang="zh-TW" sz="1200" b="0" u="none" strike="noStrike" kern="1200" dirty="0">
                <a:solidFill>
                  <a:schemeClr val="tx1"/>
                </a:solidFill>
                <a:effectLst/>
                <a:latin typeface="+mn-lt"/>
                <a:ea typeface="+mn-ea"/>
                <a:cs typeface="+mn-cs"/>
              </a:rPr>
              <a:t>：黃金監督（模型模仿人類專家的標籤）。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RLHF</a:t>
            </a:r>
            <a:r>
              <a:rPr lang="zh-TW" altLang="zh-TW" sz="1200" b="0" u="none" strike="noStrike" kern="1200" dirty="0">
                <a:solidFill>
                  <a:schemeClr val="tx1"/>
                </a:solidFill>
                <a:effectLst/>
                <a:latin typeface="+mn-lt"/>
                <a:ea typeface="+mn-ea"/>
                <a:cs typeface="+mn-cs"/>
              </a:rPr>
              <a:t>：偏好引導（不給標準答案，只給讚和倒讚）。</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dirty="0"/>
              <a:t>Continual Pre-Training：也是「自監督學習」的延伸（領域專家養成）</a:t>
            </a:r>
            <a:endParaRPr lang="en-US" altLang="zh-TW" dirty="0"/>
          </a:p>
          <a:p>
            <a:pPr marL="0" marR="0">
              <a:spcBef>
                <a:spcPts val="1800"/>
              </a:spcBef>
              <a:spcAft>
                <a:spcPts val="900"/>
              </a:spcAft>
              <a:buNone/>
            </a:pPr>
            <a:endParaRPr lang="en-US" altLang="zh-TW" dirty="0"/>
          </a:p>
          <a:p>
            <a:pPr marL="0" marR="0">
              <a:spcBef>
                <a:spcPts val="1800"/>
              </a:spcBef>
              <a:spcAft>
                <a:spcPts val="900"/>
              </a:spcAft>
              <a:buNone/>
            </a:pPr>
            <a:br>
              <a:rPr lang="en-US" altLang="zh-TW" sz="1200" dirty="0"/>
            </a:br>
            <a:r>
              <a:rPr lang="en-US" altLang="zh-TW" sz="1200" b="1" u="none" strike="noStrike" dirty="0">
                <a:effectLst/>
                <a:latin typeface="Google Sans"/>
              </a:rPr>
              <a:t>1.</a:t>
            </a:r>
            <a:r>
              <a:rPr lang="zh-TW" altLang="en-US" sz="1200" b="1" u="none" strike="noStrike" dirty="0">
                <a:effectLst/>
                <a:latin typeface="Google Sans"/>
              </a:rPr>
              <a:t> </a:t>
            </a:r>
            <a:r>
              <a:rPr lang="zh-TW" altLang="zh-TW" sz="1200" b="1" u="none" strike="noStrike" dirty="0">
                <a:effectLst/>
                <a:latin typeface="Google Sans"/>
              </a:rPr>
              <a:t>強化學習陣營 (Reinforcement Learning)</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RLHF (人類反饋強化學習)：</a:t>
            </a:r>
            <a:r>
              <a:rPr lang="zh-TW" altLang="zh-TW" sz="1200" b="0" u="none" strike="noStrike" dirty="0">
                <a:effectLst/>
                <a:latin typeface="Google Sans"/>
              </a:rPr>
              <a:t> </a:t>
            </a:r>
            <a:r>
              <a:rPr lang="zh-TW" altLang="zh-TW" sz="1200" b="1" u="none" strike="noStrike" dirty="0">
                <a:effectLst/>
                <a:latin typeface="Google Sans"/>
              </a:rPr>
              <a:t>絕對屬於強化學習</a:t>
            </a:r>
            <a:r>
              <a:rPr lang="zh-TW" altLang="zh-TW" sz="1200" b="0" u="none" strike="noStrike" dirty="0">
                <a:effectLst/>
                <a:latin typeface="Google Sans"/>
              </a:rPr>
              <a:t>。它使用獎勵模型（Reward Model）來引導策略模型（Policy Model）優化，背後運行的是 PPO 等強化學習演算法。</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DPO (直接偏好最佳化)：</a:t>
            </a:r>
            <a:r>
              <a:rPr lang="zh-TW" altLang="zh-TW" sz="1200" b="0" u="none" strike="noStrike" dirty="0">
                <a:effectLst/>
                <a:latin typeface="Google Sans"/>
              </a:rPr>
              <a:t> 雖然在數學上繞過了傳統強化學習的獎勵模型與採樣步驟，直接用二元交叉熵損失來訓練，但它的</a:t>
            </a:r>
            <a:r>
              <a:rPr lang="zh-TW" altLang="zh-TW" sz="1200" b="1" u="none" strike="noStrike" dirty="0">
                <a:effectLst/>
                <a:latin typeface="Google Sans"/>
              </a:rPr>
              <a:t>核心本質與目標仍然是強化學習（對齊人類偏好）</a:t>
            </a:r>
            <a:endParaRPr lang="en-US" altLang="zh-TW" sz="1200" b="1" u="none" strike="noStrike" dirty="0">
              <a:effectLst/>
              <a:latin typeface="Google Sans"/>
            </a:endParaRPr>
          </a:p>
          <a:p>
            <a:pPr marL="0" marR="0">
              <a:spcBef>
                <a:spcPts val="900"/>
              </a:spcBef>
              <a:spcAft>
                <a:spcPts val="900"/>
              </a:spcAft>
              <a:buFont typeface="Arial" panose="020B0604020202020204" pitchFamily="34" charset="0"/>
              <a:buNone/>
            </a:pPr>
            <a:br>
              <a:rPr lang="en-US" altLang="zh-TW" sz="1200" dirty="0"/>
            </a:br>
            <a:r>
              <a:rPr lang="en-US" altLang="zh-TW" sz="1200" dirty="0"/>
              <a:t>2. </a:t>
            </a:r>
            <a:r>
              <a:rPr lang="zh-TW" altLang="en-US" sz="1200" dirty="0"/>
              <a:t>監督式學習陣營 </a:t>
            </a:r>
            <a:r>
              <a:rPr lang="en-US" altLang="zh-TW" sz="1200" dirty="0"/>
              <a:t>(Supervised Learning)</a:t>
            </a:r>
            <a:r>
              <a:rPr lang="zh-TW" altLang="en-US" sz="1200" dirty="0"/>
              <a:t>在微調階段，</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許多技術雖然使用的是無標籤文本生成的底層邏輯，</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但因為資料集已經被人類高度結構化（有明確的 </a:t>
            </a:r>
            <a:r>
              <a:rPr lang="en-US" altLang="zh-TW" sz="1200" dirty="0"/>
              <a:t>Prompt </a:t>
            </a:r>
            <a:r>
              <a:rPr lang="zh-TW" altLang="en-US" sz="1200" dirty="0"/>
              <a:t>與對應的 </a:t>
            </a:r>
            <a:r>
              <a:rPr lang="en-US" altLang="zh-TW" sz="1200" dirty="0"/>
              <a:t>Target Answer</a:t>
            </a:r>
            <a:r>
              <a:rPr lang="zh-TW" altLang="en-US" sz="1200" dirty="0"/>
              <a:t>），</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因此在實務上被歸類為監督式學習：</a:t>
            </a:r>
            <a:r>
              <a:rPr lang="en-US" altLang="zh-TW" sz="1200" dirty="0"/>
              <a:t>SFT (</a:t>
            </a:r>
            <a:r>
              <a:rPr lang="zh-TW" altLang="en-US" sz="1200" dirty="0"/>
              <a:t>監督式微調</a:t>
            </a:r>
            <a:r>
              <a:rPr lang="en-US" altLang="zh-TW" sz="1200" dirty="0"/>
              <a:t>)</a:t>
            </a:r>
            <a:r>
              <a:rPr lang="zh-TW" altLang="en-US" sz="1200" dirty="0"/>
              <a:t>： 屬於監督式學習。它是用標準的「問題</a:t>
            </a:r>
            <a:r>
              <a:rPr lang="en-US" altLang="zh-TW" sz="1200" dirty="0"/>
              <a:t>-</a:t>
            </a:r>
            <a:r>
              <a:rPr lang="zh-TW" altLang="en-US" sz="1200" dirty="0"/>
              <a:t>正確答案」對來訓練模型。</a:t>
            </a:r>
            <a:endParaRPr lang="en-US" altLang="zh-TW" sz="1200" dirty="0"/>
          </a:p>
          <a:p>
            <a:endParaRPr lang="en-US" altLang="zh-TW" dirty="0"/>
          </a:p>
          <a:p>
            <a:endParaRPr lang="en-US" altLang="zh-TW" dirty="0"/>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PPO </a:t>
            </a:r>
            <a:r>
              <a:rPr lang="en-US" altLang="zh-TW" dirty="0">
                <a:sym typeface="Wingdings" panose="05000000000000000000" pitchFamily="2" charset="2"/>
              </a:rPr>
              <a:t> </a:t>
            </a:r>
            <a:r>
              <a:rPr lang="en-US" altLang="zh-TW" dirty="0"/>
              <a:t>DPO (“</a:t>
            </a:r>
            <a:r>
              <a:rPr lang="zh-TW" altLang="en-US" dirty="0"/>
              <a:t>獎勵模型</a:t>
            </a:r>
            <a:r>
              <a:rPr lang="en-US" altLang="zh-TW" dirty="0"/>
              <a:t>” </a:t>
            </a:r>
            <a:r>
              <a:rPr lang="zh-TW" altLang="en-US" dirty="0"/>
              <a:t>看起來就痛苦得不得了</a:t>
            </a:r>
            <a:r>
              <a:rPr lang="en-US" altLang="zh-TW" dirty="0"/>
              <a:t>, </a:t>
            </a:r>
            <a:r>
              <a:rPr lang="zh-TW" altLang="en-US" dirty="0"/>
              <a:t>一定要改善</a:t>
            </a:r>
            <a:r>
              <a:rPr lang="en-US" altLang="zh-TW" dirty="0"/>
              <a:t>)</a:t>
            </a:r>
            <a:br>
              <a:rPr lang="en-US" altLang="zh-TW" dirty="0"/>
            </a:br>
            <a:r>
              <a:rPr lang="zh-TW" altLang="zh-TW" dirty="0"/>
              <a:t>1. PPO（Proximal Policy Optimization，近端策略優化）</a:t>
            </a:r>
            <a:r>
              <a:rPr lang="en-US" altLang="zh-TW" dirty="0"/>
              <a:t>2017OpenAI</a:t>
            </a:r>
            <a:br>
              <a:rPr lang="en-US" altLang="zh-TW" dirty="0"/>
            </a:br>
            <a:r>
              <a:rPr lang="zh-TW" altLang="zh-TW" sz="1200" b="0" u="none" strike="noStrike" kern="1200" dirty="0">
                <a:solidFill>
                  <a:schemeClr val="tx1"/>
                </a:solidFill>
                <a:effectLst/>
                <a:latin typeface="+mn-lt"/>
                <a:ea typeface="+mn-ea"/>
                <a:cs typeface="+mn-cs"/>
              </a:rPr>
              <a:t>PPO 原本是通用強化學習演算法。2022 年 OpenAI 將其應用於 </a:t>
            </a:r>
            <a:r>
              <a:rPr lang="zh-TW" altLang="zh-TW" sz="1200" b="1" u="none" strike="noStrike" kern="1200" dirty="0">
                <a:solidFill>
                  <a:schemeClr val="tx1"/>
                </a:solidFill>
                <a:effectLst/>
                <a:latin typeface="+mn-lt"/>
                <a:ea typeface="+mn-ea"/>
                <a:cs typeface="+mn-cs"/>
              </a:rPr>
              <a:t>InstructGPT / ChatGPT</a:t>
            </a:r>
            <a:r>
              <a:rPr lang="zh-TW" altLang="zh-TW" sz="1200" b="0" u="none" strike="noStrike" kern="1200" dirty="0">
                <a:solidFill>
                  <a:schemeClr val="tx1"/>
                </a:solidFill>
                <a:effectLst/>
                <a:latin typeface="+mn-lt"/>
                <a:ea typeface="+mn-ea"/>
                <a:cs typeface="+mn-cs"/>
              </a:rPr>
              <a:t> 中，成為 </a:t>
            </a:r>
            <a:r>
              <a:rPr lang="zh-TW" altLang="zh-TW" sz="1200" b="1" u="none" strike="noStrike" kern="1200" dirty="0">
                <a:solidFill>
                  <a:schemeClr val="tx1"/>
                </a:solidFill>
                <a:effectLst/>
                <a:latin typeface="+mn-lt"/>
                <a:ea typeface="+mn-ea"/>
                <a:cs typeface="+mn-cs"/>
              </a:rPr>
              <a:t>RLHF（從人類反饋中進行強化學習）</a:t>
            </a:r>
            <a:r>
              <a:rPr lang="zh-TW" altLang="zh-TW" sz="1200" b="0" u="none" strike="noStrike" kern="1200" dirty="0">
                <a:solidFill>
                  <a:schemeClr val="tx1"/>
                </a:solidFill>
                <a:effectLst/>
                <a:latin typeface="+mn-lt"/>
                <a:ea typeface="+mn-ea"/>
                <a:cs typeface="+mn-cs"/>
              </a:rPr>
              <a:t> 的核心後端演算法，因而名聲大噪。</a:t>
            </a:r>
          </a:p>
          <a:p>
            <a:r>
              <a:rPr lang="zh-TW" altLang="zh-TW" sz="1200" b="0" u="none" strike="noStrike" kern="1200" dirty="0">
                <a:solidFill>
                  <a:schemeClr val="tx1"/>
                </a:solidFill>
                <a:effectLst/>
                <a:latin typeface="+mn-lt"/>
                <a:ea typeface="+mn-ea"/>
                <a:cs typeface="+mn-cs"/>
              </a:rPr>
              <a:t>它包含四個同時運作的模型：</a:t>
            </a:r>
            <a:r>
              <a:rPr lang="en-US" altLang="zh-TW" sz="1200" b="0" u="none" strike="noStrike" kern="1200" dirty="0">
                <a:solidFill>
                  <a:schemeClr val="tx1"/>
                </a:solidFill>
                <a:effectLst/>
                <a:latin typeface="+mn-lt"/>
                <a:ea typeface="+mn-ea"/>
                <a:cs typeface="+mn-cs"/>
              </a:rPr>
              <a:t> ====</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Actor（演員）</a:t>
            </a:r>
            <a:r>
              <a:rPr lang="zh-TW" altLang="zh-TW" sz="1200" b="0" u="none" strike="noStrike" kern="1200" dirty="0">
                <a:solidFill>
                  <a:schemeClr val="tx1"/>
                </a:solidFill>
                <a:effectLst/>
                <a:latin typeface="+mn-lt"/>
                <a:ea typeface="+mn-ea"/>
                <a:cs typeface="+mn-cs"/>
              </a:rPr>
              <a:t>：正在被訓練的 LLM，負責回答問題。</a:t>
            </a:r>
          </a:p>
          <a:p>
            <a:r>
              <a:rPr lang="zh-TW" altLang="zh-TW" sz="1200" b="1" u="none" strike="noStrike" kern="1200" dirty="0">
                <a:solidFill>
                  <a:schemeClr val="tx1"/>
                </a:solidFill>
                <a:effectLst/>
                <a:latin typeface="+mn-lt"/>
                <a:ea typeface="+mn-ea"/>
                <a:cs typeface="+mn-cs"/>
              </a:rPr>
              <a:t>Reference（參考）</a:t>
            </a:r>
            <a:r>
              <a:rPr lang="zh-TW" altLang="zh-TW" sz="1200" b="0" u="none" strike="noStrike" kern="1200" dirty="0">
                <a:solidFill>
                  <a:schemeClr val="tx1"/>
                </a:solidFill>
                <a:effectLst/>
                <a:latin typeface="+mn-lt"/>
                <a:ea typeface="+mn-ea"/>
                <a:cs typeface="+mn-cs"/>
              </a:rPr>
              <a:t>：剛做完 SFT 的原始 LLM，用來當作對照組，確保 Actor 不要「改得太誇張（獎勵作弊）」。</a:t>
            </a:r>
          </a:p>
          <a:p>
            <a:r>
              <a:rPr lang="zh-TW" altLang="zh-TW" sz="1200" b="1" u="none" strike="noStrike" kern="1200" dirty="0">
                <a:solidFill>
                  <a:schemeClr val="tx1"/>
                </a:solidFill>
                <a:effectLst/>
                <a:latin typeface="+mn-lt"/>
                <a:ea typeface="+mn-ea"/>
                <a:cs typeface="+mn-cs"/>
              </a:rPr>
              <a:t>Reward Model（獎勵模型）</a:t>
            </a:r>
            <a:r>
              <a:rPr lang="zh-TW" altLang="zh-TW" sz="1200" b="0" u="none" strike="noStrike" kern="1200" dirty="0">
                <a:solidFill>
                  <a:schemeClr val="tx1"/>
                </a:solidFill>
                <a:effectLst/>
                <a:latin typeface="+mn-lt"/>
                <a:ea typeface="+mn-ea"/>
                <a:cs typeface="+mn-cs"/>
              </a:rPr>
              <a:t>：模擬人類偏好的「裁判」，Actor 講得好就給高分，講得差（如髒話、偏見）就扣分。</a:t>
            </a:r>
          </a:p>
          <a:p>
            <a:r>
              <a:rPr lang="zh-TW" altLang="zh-TW" sz="1200" b="1" u="none" strike="noStrike" kern="1200" dirty="0">
                <a:solidFill>
                  <a:schemeClr val="tx1"/>
                </a:solidFill>
                <a:effectLst/>
                <a:latin typeface="+mn-lt"/>
                <a:ea typeface="+mn-ea"/>
                <a:cs typeface="+mn-cs"/>
              </a:rPr>
              <a:t>Critic（評論員）</a:t>
            </a:r>
            <a:r>
              <a:rPr lang="zh-TW" altLang="zh-TW" sz="1200" b="0" u="none" strike="noStrike" kern="1200" dirty="0">
                <a:solidFill>
                  <a:schemeClr val="tx1"/>
                </a:solidFill>
                <a:effectLst/>
                <a:latin typeface="+mn-lt"/>
                <a:ea typeface="+mn-ea"/>
                <a:cs typeface="+mn-cs"/>
              </a:rPr>
              <a:t>：負責評估當前局勢與預期得分的「教練」。</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核心機制</a:t>
            </a:r>
            <a:r>
              <a:rPr lang="zh-TW" altLang="zh-TW" sz="1200" b="0" u="none" strike="noStrike" kern="1200" dirty="0">
                <a:solidFill>
                  <a:schemeClr val="tx1"/>
                </a:solidFill>
                <a:effectLst/>
                <a:latin typeface="+mn-lt"/>
                <a:ea typeface="+mn-ea"/>
                <a:cs typeface="+mn-cs"/>
              </a:rPr>
              <a:t>：PPO 透過「剪裁機制（Clipping）」限制每次權重更新的幅度。這能防止模型因為某一次拿到極高分或極低分，而導致整個模型「練壞或崩潰」。</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極度消耗顯存與算力</a:t>
            </a:r>
            <a:r>
              <a:rPr lang="zh-TW" altLang="zh-TW" sz="1200" b="0" u="none" strike="noStrike" kern="1200" dirty="0">
                <a:solidFill>
                  <a:schemeClr val="tx1"/>
                </a:solidFill>
                <a:effectLst/>
                <a:latin typeface="+mn-lt"/>
                <a:ea typeface="+mn-ea"/>
                <a:cs typeface="+mn-cs"/>
              </a:rPr>
              <a:t>。因為 GPU 必須同時加載 4 個大模型，且訓練過程極不穩定，調參非常痛苦。</a:t>
            </a:r>
          </a:p>
          <a:p>
            <a:br>
              <a:rPr lang="zh-TW" altLang="zh-TW" dirty="0"/>
            </a:br>
            <a:r>
              <a:rPr lang="en-US" altLang="zh-TW" dirty="0"/>
              <a:t>2.</a:t>
            </a:r>
            <a:r>
              <a:rPr lang="zh-TW" altLang="en-US" dirty="0"/>
              <a:t> </a:t>
            </a:r>
            <a:r>
              <a:rPr lang="zh-TW" altLang="zh-TW" dirty="0"/>
              <a:t>DPO（Direct Preference Optimization，直接偏好優化）</a:t>
            </a:r>
            <a:r>
              <a:rPr lang="en-US" altLang="zh-TW" dirty="0"/>
              <a:t>2023</a:t>
            </a:r>
            <a:r>
              <a:rPr lang="zh-TW" altLang="en-US" dirty="0"/>
              <a:t>史丹佛大學</a:t>
            </a:r>
            <a:br>
              <a:rPr lang="en-US" altLang="zh-TW" dirty="0"/>
            </a:br>
            <a:r>
              <a:rPr lang="zh-TW" altLang="zh-TW" dirty="0"/>
              <a:t>DPO 的出現是一場</a:t>
            </a:r>
            <a:r>
              <a:rPr lang="zh-TW" altLang="zh-TW" sz="1200" b="1" u="none" strike="noStrike" kern="1200" dirty="0">
                <a:solidFill>
                  <a:schemeClr val="tx1"/>
                </a:solidFill>
                <a:effectLst/>
                <a:latin typeface="+mn-lt"/>
                <a:ea typeface="+mn-ea"/>
                <a:cs typeface="+mn-cs"/>
              </a:rPr>
              <a:t>顛覆性的數學簡化</a:t>
            </a:r>
            <a:r>
              <a:rPr lang="zh-TW" altLang="zh-TW" dirty="0"/>
              <a:t>。它的核心思想是：「既然 PPO 繞了這麼大一圈（先訓獎勵模型，再用強化學習去對齊），</a:t>
            </a:r>
            <a:endParaRPr lang="en-US" altLang="zh-TW" dirty="0"/>
          </a:p>
          <a:p>
            <a:r>
              <a:rPr lang="zh-TW" altLang="zh-TW" dirty="0"/>
              <a:t>我們為什麼不直接用數學公式，把人類的偏好直接套在 LLM 上微調？」</a:t>
            </a:r>
          </a:p>
          <a:p>
            <a:endParaRPr lang="zh-TW" altLang="zh-TW" sz="1200" b="0" u="none" strike="noStrike" kern="1200" dirty="0">
              <a:solidFill>
                <a:schemeClr val="tx1"/>
              </a:solidFill>
              <a:effectLst/>
              <a:latin typeface="+mn-lt"/>
              <a:ea typeface="+mn-ea"/>
              <a:cs typeface="+mn-cs"/>
            </a:endParaRPr>
          </a:p>
          <a:p>
            <a:r>
              <a:rPr lang="en-US" altLang="zh-TW" sz="1200" b="1" u="none" strike="noStrike" kern="1200" dirty="0">
                <a:solidFill>
                  <a:schemeClr val="tx1"/>
                </a:solidFill>
                <a:effectLst/>
                <a:latin typeface="+mn-lt"/>
                <a:ea typeface="+mn-ea"/>
                <a:cs typeface="+mn-cs"/>
              </a:rPr>
              <a:t>a. </a:t>
            </a:r>
            <a:r>
              <a:rPr lang="zh-TW" altLang="zh-TW" sz="1200" b="1" u="none" strike="noStrike" kern="1200" dirty="0">
                <a:solidFill>
                  <a:schemeClr val="tx1"/>
                </a:solidFill>
                <a:effectLst/>
                <a:latin typeface="+mn-lt"/>
                <a:ea typeface="+mn-ea"/>
                <a:cs typeface="+mn-cs"/>
              </a:rPr>
              <a:t>數學替代</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DPO 的作者證明了恆等式</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「大語言模型本身的生成機率，其實就可以直接推導出隱含的獎勵分數」</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en-US" altLang="zh-TW" sz="1200" b="0" u="none" strike="noStrike" kern="1200" dirty="0">
                <a:solidFill>
                  <a:schemeClr val="tx1"/>
                </a:solidFill>
                <a:effectLst/>
                <a:latin typeface="+mn-lt"/>
                <a:ea typeface="+mn-ea"/>
                <a:cs typeface="+mn-cs"/>
              </a:rPr>
              <a:t>b. </a:t>
            </a:r>
            <a:r>
              <a:rPr lang="zh-TW" altLang="zh-TW" sz="1200" b="1" u="none" strike="noStrike" kern="1200" dirty="0">
                <a:solidFill>
                  <a:schemeClr val="tx1"/>
                </a:solidFill>
                <a:effectLst/>
                <a:latin typeface="+mn-lt"/>
                <a:ea typeface="+mn-ea"/>
                <a:cs typeface="+mn-cs"/>
              </a:rPr>
              <a:t>拋棄傳統強化學習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因為上述發現，DPO </a:t>
            </a:r>
            <a:r>
              <a:rPr lang="zh-TW" altLang="zh-TW" sz="1200" b="1" u="none" strike="noStrike" kern="1200" dirty="0">
                <a:solidFill>
                  <a:schemeClr val="tx1"/>
                </a:solidFill>
                <a:effectLst/>
                <a:latin typeface="+mn-lt"/>
                <a:ea typeface="+mn-ea"/>
                <a:cs typeface="+mn-cs"/>
              </a:rPr>
              <a:t>直接砍掉了「獎勵模型」與「評論員模型」</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c. </a:t>
            </a:r>
            <a:r>
              <a:rPr lang="zh-TW" altLang="zh-TW" sz="1200" b="1" u="none" strike="noStrike" kern="1200" dirty="0">
                <a:solidFill>
                  <a:schemeClr val="tx1"/>
                </a:solidFill>
                <a:effectLst/>
                <a:latin typeface="+mn-lt"/>
                <a:ea typeface="+mn-ea"/>
                <a:cs typeface="+mn-cs"/>
              </a:rPr>
              <a:t>直接分類學習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訓練資料只需要成對的偏好數據：一個提示詞（Prompt），搭配一個好回答（Chosen）與一個壞回答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Rejected</a:t>
            </a: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效果</a:t>
            </a:r>
            <a:r>
              <a:rPr lang="zh-TW" altLang="zh-TW" sz="1200" b="0" u="none" strike="noStrike" kern="1200" dirty="0">
                <a:solidFill>
                  <a:schemeClr val="tx1"/>
                </a:solidFill>
                <a:effectLst/>
                <a:latin typeface="+mn-lt"/>
                <a:ea typeface="+mn-ea"/>
                <a:cs typeface="+mn-cs"/>
              </a:rPr>
              <a:t>：將複雜的強化學習，直接簡化為普通的</a:t>
            </a:r>
            <a:r>
              <a:rPr lang="zh-TW" altLang="zh-TW" sz="1200" b="1" u="none" strike="noStrike" kern="1200" dirty="0">
                <a:solidFill>
                  <a:schemeClr val="tx1"/>
                </a:solidFill>
                <a:effectLst/>
                <a:latin typeface="+mn-lt"/>
                <a:ea typeface="+mn-ea"/>
                <a:cs typeface="+mn-cs"/>
              </a:rPr>
              <a:t>監督式二元分類任務（Binary Classification）</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74594A81-2AB8-1C7D-0016-4C3AEAD9A2B0}"/>
              </a:ext>
            </a:extLst>
          </p:cNvPr>
          <p:cNvSpPr>
            <a:spLocks noGrp="1"/>
          </p:cNvSpPr>
          <p:nvPr>
            <p:ph type="sldNum" sz="quarter" idx="5"/>
          </p:nvPr>
        </p:nvSpPr>
        <p:spPr/>
        <p:txBody>
          <a:bodyPr/>
          <a:lstStyle/>
          <a:p>
            <a:fld id="{E3A6CE5E-F349-486D-8749-82EF2AD71FA8}" type="slidenum">
              <a:rPr lang="zh-TW" altLang="en-US" smtClean="0"/>
              <a:t>27</a:t>
            </a:fld>
            <a:endParaRPr lang="zh-TW" altLang="en-US"/>
          </a:p>
        </p:txBody>
      </p:sp>
    </p:spTree>
    <p:extLst>
      <p:ext uri="{BB962C8B-B14F-4D97-AF65-F5344CB8AC3E}">
        <p14:creationId xmlns:p14="http://schemas.microsoft.com/office/powerpoint/2010/main" val="255343351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64926C-9EED-C470-ED03-7E77F765696F}"/>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57F5C9E-88DB-47B1-6582-F37455330CF3}"/>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D42B8BCA-D2D3-D8F3-5EF4-B9A54DB6AD62}"/>
              </a:ext>
            </a:extLst>
          </p:cNvPr>
          <p:cNvSpPr>
            <a:spLocks noGrp="1"/>
          </p:cNvSpPr>
          <p:nvPr>
            <p:ph type="body" idx="1"/>
          </p:nvPr>
        </p:nvSpPr>
        <p:spPr/>
        <p:txBody>
          <a:bodyPr/>
          <a:lstStyle/>
          <a:p>
            <a:r>
              <a:rPr lang="zh-TW" altLang="zh-TW" dirty="0"/>
              <a:t>在傳統的 Transformer 架構中，模型運作會面臨兩個維度的資訊損耗：</a:t>
            </a:r>
            <a:endParaRPr lang="en-US" altLang="zh-TW" dirty="0"/>
          </a:p>
          <a:p>
            <a:r>
              <a:rPr lang="zh-TW" altLang="zh-TW" dirty="0"/>
              <a:t>一個是文字序列越長，記憶體越容易爆掉（水平瓶頸）；</a:t>
            </a:r>
            <a:endParaRPr lang="en-US" altLang="zh-TW" dirty="0"/>
          </a:p>
          <a:p>
            <a:r>
              <a:rPr lang="zh-TW" altLang="zh-TW" dirty="0"/>
              <a:t>另一個是神經網路層數越深，早期的重要訊號越容易被後面的層沖淡（垂直瓶頸）。</a:t>
            </a:r>
            <a:endParaRPr lang="en-US" altLang="zh-TW" dirty="0"/>
          </a:p>
          <a:p>
            <a:r>
              <a:rPr lang="zh-TW" altLang="zh-TW" dirty="0"/>
              <a:t>Kimi 的解法是將「注意力機制」同時應用在這兩個維度：</a:t>
            </a:r>
            <a:endParaRPr lang="zh-TW" altLang="en-US" dirty="0"/>
          </a:p>
        </p:txBody>
      </p:sp>
      <p:sp>
        <p:nvSpPr>
          <p:cNvPr id="4" name="投影片編號版面配置區 3">
            <a:extLst>
              <a:ext uri="{FF2B5EF4-FFF2-40B4-BE49-F238E27FC236}">
                <a16:creationId xmlns:a16="http://schemas.microsoft.com/office/drawing/2014/main" id="{3B417082-2C85-C436-A2CB-60D654461411}"/>
              </a:ext>
            </a:extLst>
          </p:cNvPr>
          <p:cNvSpPr>
            <a:spLocks noGrp="1"/>
          </p:cNvSpPr>
          <p:nvPr>
            <p:ph type="sldNum" sz="quarter" idx="5"/>
          </p:nvPr>
        </p:nvSpPr>
        <p:spPr/>
        <p:txBody>
          <a:bodyPr/>
          <a:lstStyle/>
          <a:p>
            <a:fld id="{E3A6CE5E-F349-486D-8749-82EF2AD71FA8}" type="slidenum">
              <a:rPr lang="zh-TW" altLang="en-US" smtClean="0"/>
              <a:t>28</a:t>
            </a:fld>
            <a:endParaRPr lang="zh-TW" altLang="en-US"/>
          </a:p>
        </p:txBody>
      </p:sp>
    </p:spTree>
    <p:extLst>
      <p:ext uri="{BB962C8B-B14F-4D97-AF65-F5344CB8AC3E}">
        <p14:creationId xmlns:p14="http://schemas.microsoft.com/office/powerpoint/2010/main" val="387960122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C3DBA0-5016-15B9-B336-967BC65044CB}"/>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8CEE158-7518-B36E-6B39-A56DF4E6EB9E}"/>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AE68B9F-F26F-17C6-19AE-499CDA9202C6}"/>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AI</a:t>
            </a:r>
            <a:r>
              <a:rPr lang="zh-TW" altLang="en-US" dirty="0"/>
              <a:t>的強弱</a:t>
            </a:r>
            <a:r>
              <a:rPr lang="en-US" altLang="zh-TW" dirty="0"/>
              <a:t>:</a:t>
            </a:r>
            <a:r>
              <a:rPr lang="zh-TW" altLang="en-US" dirty="0"/>
              <a:t> 取決於數據</a:t>
            </a:r>
            <a:r>
              <a:rPr lang="en-US" altLang="zh-TW" dirty="0"/>
              <a:t>(data),</a:t>
            </a:r>
            <a:r>
              <a:rPr lang="zh-TW" altLang="en-US" dirty="0"/>
              <a:t> 算法</a:t>
            </a:r>
            <a:r>
              <a:rPr lang="en-US" altLang="zh-TW" dirty="0"/>
              <a:t>(algorithm), </a:t>
            </a:r>
            <a:r>
              <a:rPr lang="zh-TW" altLang="en-US" dirty="0"/>
              <a:t>算力</a:t>
            </a:r>
            <a:r>
              <a:rPr lang="en-US" altLang="zh-TW" dirty="0"/>
              <a:t>(computing)</a:t>
            </a:r>
          </a:p>
          <a:p>
            <a:endParaRPr lang="en-US" altLang="zh-TW" dirty="0"/>
          </a:p>
          <a:p>
            <a:r>
              <a:rPr lang="en-US" altLang="zh-TW" dirty="0"/>
              <a:t>2010 </a:t>
            </a:r>
            <a:r>
              <a:rPr lang="zh-TW" altLang="en-US" dirty="0"/>
              <a:t>算力助長了一切</a:t>
            </a:r>
            <a:r>
              <a:rPr lang="en-US" altLang="zh-TW" dirty="0"/>
              <a:t>:</a:t>
            </a:r>
          </a:p>
          <a:p>
            <a:r>
              <a:rPr lang="en-US" altLang="zh-TW" dirty="0"/>
              <a:t>2018 </a:t>
            </a:r>
            <a:r>
              <a:rPr lang="zh-TW" altLang="zh-TW" dirty="0"/>
              <a:t>動態預訓練時代：上下文的「環境覺醒」 </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dirty="0"/>
          </a:p>
          <a:p>
            <a:r>
              <a:rPr lang="en-US" altLang="zh-TW" dirty="0"/>
              <a:t>CoT: Chain-of-Thought: (</a:t>
            </a:r>
            <a:r>
              <a:rPr lang="zh-TW" altLang="en-US" dirty="0"/>
              <a:t>思維鏈</a:t>
            </a:r>
            <a:r>
              <a:rPr lang="en-US" altLang="zh-TW" dirty="0"/>
              <a:t>)</a:t>
            </a:r>
            <a:r>
              <a:rPr lang="zh-TW" altLang="zh-TW" sz="1200" b="0" i="0" kern="1200" dirty="0">
                <a:solidFill>
                  <a:schemeClr val="tx1"/>
                </a:solidFill>
                <a:effectLst/>
                <a:latin typeface="+mn-lt"/>
                <a:ea typeface="+mn-ea"/>
                <a:cs typeface="+mn-cs"/>
              </a:rPr>
              <a:t>這個方法有助於大型語言模型克服一些需要邏輯思維或多個步驟來解決的推理任務</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在</a:t>
            </a:r>
            <a:r>
              <a:rPr lang="en-US" altLang="zh-TW" sz="1200" b="0" i="0" kern="1200" dirty="0">
                <a:solidFill>
                  <a:schemeClr val="tx1"/>
                </a:solidFill>
                <a:effectLst/>
                <a:latin typeface="+mn-lt"/>
                <a:ea typeface="+mn-ea"/>
                <a:cs typeface="+mn-cs"/>
              </a:rPr>
              <a:t>prompt</a:t>
            </a:r>
            <a:r>
              <a:rPr lang="zh-TW" altLang="en-US" sz="1200" b="0" i="0" kern="1200" dirty="0">
                <a:solidFill>
                  <a:schemeClr val="tx1"/>
                </a:solidFill>
                <a:effectLst/>
                <a:latin typeface="+mn-lt"/>
                <a:ea typeface="+mn-ea"/>
                <a:cs typeface="+mn-cs"/>
              </a:rPr>
              <a:t>裡面</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帶著過程</a:t>
            </a:r>
            <a:r>
              <a:rPr lang="en-US" altLang="zh-TW" sz="1200" b="0" i="0" kern="1200" dirty="0">
                <a:solidFill>
                  <a:schemeClr val="tx1"/>
                </a:solidFill>
                <a:effectLst/>
                <a:latin typeface="+mn-lt"/>
                <a:ea typeface="+mn-ea"/>
                <a:cs typeface="+mn-cs"/>
              </a:rPr>
              <a:t>)</a:t>
            </a:r>
            <a:endParaRPr lang="en-US" altLang="zh-TW" dirty="0"/>
          </a:p>
          <a:p>
            <a:endParaRPr lang="en-US" altLang="zh-TW" dirty="0"/>
          </a:p>
          <a:p>
            <a:r>
              <a:rPr lang="zh-TW" altLang="en-US" dirty="0"/>
              <a:t>預訓練</a:t>
            </a:r>
            <a:r>
              <a:rPr lang="en-US" altLang="zh-TW" dirty="0"/>
              <a:t>/</a:t>
            </a:r>
            <a:r>
              <a:rPr lang="zh-TW" altLang="en-US" dirty="0"/>
              <a:t>微調技術大躍進</a:t>
            </a:r>
            <a:endParaRPr lang="en-US" altLang="zh-TW" dirty="0"/>
          </a:p>
          <a:p>
            <a:r>
              <a:rPr lang="en-US" altLang="zh-TW" dirty="0"/>
              <a:t>Reinforcement Learning from Human Feedback (RLHF): Anthropic </a:t>
            </a:r>
            <a:r>
              <a:rPr lang="zh-TW" altLang="en-US" dirty="0"/>
              <a:t>很具里程碑意義</a:t>
            </a:r>
            <a:endParaRPr lang="en-US" altLang="zh-TW" dirty="0"/>
          </a:p>
          <a:p>
            <a:r>
              <a:rPr lang="en-US" altLang="zh-TW" dirty="0"/>
              <a:t>Direct Preference Optimization (DPO): Standford </a:t>
            </a:r>
            <a:r>
              <a:rPr lang="zh-TW" altLang="en-US" dirty="0"/>
              <a:t>簡化學習偏好</a:t>
            </a:r>
            <a:r>
              <a:rPr lang="en-US" altLang="zh-TW" dirty="0"/>
              <a:t>,</a:t>
            </a:r>
            <a:r>
              <a:rPr lang="zh-TW" altLang="en-US" dirty="0"/>
              <a:t> 免除了獎勵模型</a:t>
            </a:r>
            <a:endParaRPr lang="en-US" altLang="zh-TW" dirty="0"/>
          </a:p>
          <a:p>
            <a:r>
              <a:rPr lang="en-US" altLang="zh-TW" dirty="0"/>
              <a:t>Self-Alignment</a:t>
            </a:r>
            <a:r>
              <a:rPr lang="zh-TW" altLang="en-US" dirty="0"/>
              <a:t> </a:t>
            </a:r>
            <a:r>
              <a:rPr lang="en-US" altLang="zh-TW" dirty="0"/>
              <a:t>(SA):</a:t>
            </a:r>
            <a:r>
              <a:rPr lang="zh-TW" altLang="en-US" dirty="0"/>
              <a:t> </a:t>
            </a:r>
            <a:r>
              <a:rPr lang="en-US" altLang="zh-TW" dirty="0"/>
              <a:t>Frontier labs </a:t>
            </a:r>
            <a:r>
              <a:rPr lang="zh-TW" altLang="en-US" dirty="0"/>
              <a:t>使用最小的人類引導</a:t>
            </a:r>
            <a:r>
              <a:rPr lang="en-US" altLang="zh-TW" dirty="0"/>
              <a:t>, </a:t>
            </a:r>
            <a:r>
              <a:rPr lang="zh-TW" altLang="en-US" dirty="0"/>
              <a:t>進行模型對齊</a:t>
            </a:r>
            <a:endParaRPr lang="en-US" altLang="zh-TW" dirty="0"/>
          </a:p>
          <a:p>
            <a:endParaRPr lang="en-US" altLang="zh-TW" dirty="0"/>
          </a:p>
          <a:p>
            <a:endParaRPr lang="zh-TW" altLang="en-US" dirty="0"/>
          </a:p>
        </p:txBody>
      </p:sp>
      <p:sp>
        <p:nvSpPr>
          <p:cNvPr id="4" name="投影片編號版面配置區 3">
            <a:extLst>
              <a:ext uri="{FF2B5EF4-FFF2-40B4-BE49-F238E27FC236}">
                <a16:creationId xmlns:a16="http://schemas.microsoft.com/office/drawing/2014/main" id="{E5C4B865-7765-C3FC-A6C5-674D1B923E08}"/>
              </a:ext>
            </a:extLst>
          </p:cNvPr>
          <p:cNvSpPr>
            <a:spLocks noGrp="1"/>
          </p:cNvSpPr>
          <p:nvPr>
            <p:ph type="sldNum" sz="quarter" idx="5"/>
          </p:nvPr>
        </p:nvSpPr>
        <p:spPr/>
        <p:txBody>
          <a:bodyPr/>
          <a:lstStyle/>
          <a:p>
            <a:fld id="{E3A6CE5E-F349-486D-8749-82EF2AD71FA8}" type="slidenum">
              <a:rPr lang="zh-TW" altLang="en-US" smtClean="0"/>
              <a:t>29</a:t>
            </a:fld>
            <a:endParaRPr lang="zh-TW" altLang="en-US"/>
          </a:p>
        </p:txBody>
      </p:sp>
    </p:spTree>
    <p:extLst>
      <p:ext uri="{BB962C8B-B14F-4D97-AF65-F5344CB8AC3E}">
        <p14:creationId xmlns:p14="http://schemas.microsoft.com/office/powerpoint/2010/main" val="80319181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one column">
    <p:spTree>
      <p:nvGrpSpPr>
        <p:cNvPr id="1" name=""/>
        <p:cNvGrpSpPr/>
        <p:nvPr/>
      </p:nvGrpSpPr>
      <p:grpSpPr>
        <a:xfrm>
          <a:off x="0" y="0"/>
          <a:ext cx="0" cy="0"/>
          <a:chOff x="0" y="0"/>
          <a:chExt cx="0" cy="0"/>
        </a:xfrm>
      </p:grpSpPr>
    </p:spTree>
    <p:extLst>
      <p:ext uri="{BB962C8B-B14F-4D97-AF65-F5344CB8AC3E}">
        <p14:creationId xmlns:p14="http://schemas.microsoft.com/office/powerpoint/2010/main" val="279870950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title">
    <p:spTree>
      <p:nvGrpSpPr>
        <p:cNvPr id="1" name=""/>
        <p:cNvGrpSpPr/>
        <p:nvPr/>
      </p:nvGrpSpPr>
      <p:grpSpPr>
        <a:xfrm>
          <a:off x="0" y="0"/>
          <a:ext cx="0" cy="0"/>
          <a:chOff x="0" y="0"/>
          <a:chExt cx="0" cy="0"/>
        </a:xfrm>
      </p:grpSpPr>
    </p:spTree>
    <p:extLst>
      <p:ext uri="{BB962C8B-B14F-4D97-AF65-F5344CB8AC3E}">
        <p14:creationId xmlns:p14="http://schemas.microsoft.com/office/powerpoint/2010/main" val="17732101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title">
  <p:cSld name="標題投影片">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zh-TW" altLang="en-US"/>
              <a:t>按一下以編輯母片標題樣式</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TW" altLang="en-US"/>
              <a:t>按一下以編輯母片子標題樣式</a:t>
            </a:r>
            <a:endParaRPr lang="en-US" dirty="0"/>
          </a:p>
        </p:txBody>
      </p:sp>
      <p:sp>
        <p:nvSpPr>
          <p:cNvPr id="4" name="Date Placeholder 3"/>
          <p:cNvSpPr>
            <a:spLocks noGrp="1"/>
          </p:cNvSpPr>
          <p:nvPr>
            <p:ph type="dt" sz="half" idx="10"/>
          </p:nvPr>
        </p:nvSpPr>
        <p:spPr/>
        <p:txBody>
          <a:bodyPr/>
          <a:lstStyle/>
          <a:p>
            <a:fld id="{AF25E997-4179-402B-B045-C290473E86F3}" type="datetimeFigureOut">
              <a:rPr lang="zh-TW" altLang="en-US" smtClean="0"/>
              <a:t>2026/8/21</a:t>
            </a:fld>
            <a:endParaRPr lang="zh-TW" altLang="en-US"/>
          </a:p>
        </p:txBody>
      </p:sp>
      <p:sp>
        <p:nvSpPr>
          <p:cNvPr id="5" name="Footer Placeholder 4"/>
          <p:cNvSpPr>
            <a:spLocks noGrp="1"/>
          </p:cNvSpPr>
          <p:nvPr>
            <p:ph type="ftr" sz="quarter" idx="11"/>
          </p:nvPr>
        </p:nvSpPr>
        <p:spPr/>
        <p:txBody>
          <a:bodyPr/>
          <a:lstStyle/>
          <a:p>
            <a:endParaRPr lang="zh-TW" altLang="en-US"/>
          </a:p>
        </p:txBody>
      </p:sp>
      <p:sp>
        <p:nvSpPr>
          <p:cNvPr id="6" name="Slide Number Placeholder 5"/>
          <p:cNvSpPr>
            <a:spLocks noGrp="1"/>
          </p:cNvSpPr>
          <p:nvPr>
            <p:ph type="sldNum" sz="quarter" idx="12"/>
          </p:nvPr>
        </p:nvSpPr>
        <p:spPr/>
        <p:txBody>
          <a:bodyPr/>
          <a:lstStyle/>
          <a:p>
            <a:fld id="{B204A4CC-0142-4D0E-B207-47A74A717BFD}" type="slidenum">
              <a:rPr lang="zh-TW" altLang="en-US" smtClean="0"/>
              <a:t>‹#›</a:t>
            </a:fld>
            <a:endParaRPr lang="zh-TW" altLang="en-US"/>
          </a:p>
        </p:txBody>
      </p:sp>
    </p:spTree>
    <p:extLst>
      <p:ext uri="{BB962C8B-B14F-4D97-AF65-F5344CB8AC3E}">
        <p14:creationId xmlns:p14="http://schemas.microsoft.com/office/powerpoint/2010/main" val="51646880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1" name="頁尾版面配置區 4">
            <a:extLst>
              <a:ext uri="{FF2B5EF4-FFF2-40B4-BE49-F238E27FC236}">
                <a16:creationId xmlns:a16="http://schemas.microsoft.com/office/drawing/2014/main" id="{F852660B-5776-4457-897C-22F48580809B}"/>
              </a:ext>
            </a:extLst>
          </p:cNvPr>
          <p:cNvSpPr txBox="1">
            <a:spLocks/>
          </p:cNvSpPr>
          <p:nvPr userDrawn="1"/>
        </p:nvSpPr>
        <p:spPr>
          <a:xfrm>
            <a:off x="0" y="6628025"/>
            <a:ext cx="9144000" cy="235219"/>
          </a:xfrm>
          <a:prstGeom prst="rect">
            <a:avLst/>
          </a:prstGeom>
          <a:solidFill>
            <a:schemeClr val="accent3">
              <a:lumMod val="20000"/>
              <a:lumOff val="80000"/>
            </a:schemeClr>
          </a:solidFill>
        </p:spPr>
        <p:txBody>
          <a:bodyPr vert="horz" lIns="91440" tIns="45720" rIns="91440" bIns="45720" rtlCol="0" anchor="ctr"/>
          <a:lstStyle>
            <a:defPPr>
              <a:defRPr lang="zh-TW"/>
            </a:defPPr>
            <a:lvl1pPr marL="0" algn="ctr" defTabSz="914400" rtl="0" eaLnBrk="1" latinLnBrk="0" hangingPunct="1">
              <a:defRPr sz="1200" b="1"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TW" altLang="en-US" dirty="0"/>
          </a:p>
        </p:txBody>
      </p:sp>
    </p:spTree>
  </p:cSld>
  <p:clrMap bg1="lt1" tx1="dk1" bg2="lt2" tx2="dk2" accent1="accent1" accent2="accent2" accent3="accent3" accent4="accent4" accent5="accent5" accent6="accent6" hlink="hlink" folHlink="folHlink"/>
  <p:sldLayoutIdLst>
    <p:sldLayoutId id="2147483659" r:id="rId1"/>
    <p:sldLayoutId id="2147483662" r:id="rId2"/>
    <p:sldLayoutId id="2147483664" r:id="rId3"/>
  </p:sldLayoutIdLst>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hf hdr="0"/>
  <p:txStyles>
    <p:titleStyle>
      <a:lvl1pPr algn="l" defTabSz="914400" rtl="0" eaLnBrk="1" latinLnBrk="0" hangingPunct="1">
        <a:spcBef>
          <a:spcPct val="0"/>
        </a:spcBef>
        <a:buNone/>
        <a:defRPr sz="2400" kern="1200">
          <a:solidFill>
            <a:schemeClr val="tx1"/>
          </a:solidFill>
          <a:latin typeface="+mj-lt"/>
          <a:ea typeface="+mj-ea"/>
          <a:cs typeface="+mj-cs"/>
        </a:defRPr>
      </a:lvl1pPr>
    </p:titleStyle>
    <p:bodyStyle>
      <a:lvl1pPr marL="36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1pPr>
      <a:lvl2pPr marL="72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2pPr>
      <a:lvl3pPr marL="108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3pPr>
      <a:lvl4pPr marL="144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4pPr>
      <a:lvl5pPr marL="180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3.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hyperlink" Target="https://youtu.be/AIRfT41A89s?si=wd8CxmH65YRXOa75" TargetMode="External"/><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15.png"/></Relationships>
</file>

<file path=ppt/slides/_rels/slide1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8" Type="http://schemas.openxmlformats.org/officeDocument/2006/relationships/image" Target="../media/image28.png"/><Relationship Id="rId13" Type="http://schemas.openxmlformats.org/officeDocument/2006/relationships/image" Target="../media/image32.png"/><Relationship Id="rId3" Type="http://schemas.openxmlformats.org/officeDocument/2006/relationships/image" Target="../media/image23.png"/><Relationship Id="rId7" Type="http://schemas.openxmlformats.org/officeDocument/2006/relationships/image" Target="../media/image27.png"/><Relationship Id="rId12" Type="http://schemas.openxmlformats.org/officeDocument/2006/relationships/hyperlink" Target="https://zhida.zhihu.com/search?content_id=240665807&amp;content_type=Article&amp;match_order=1&amp;q=%E6%A0%87%E5%87%86%E5%8A%A8%E9%87%8FSGD%E7%AE%97%E6%B3%95&amp;zd_token=eyJhbGciOiJIUzI1NiIsInR5cCI6IkpXVCJ9.eyJpc3MiOiJ6aGlkYV9zZXJ2ZXIiLCJleHAiOjE3ODcxOTY4NTgsInEiOiLmoIflh4bliqjph49TR0Tnrpfms5UiLCJ6aGlkYV9zb3VyY2UiOiJlbnRpdHkiLCJjb250ZW50X2lkIjoyNDA2NjU4MDcsImNvbnRlbnRfdHlwZSI6IkFydGljbGUiLCJtYXRjaF9vcmRlciI6MSwiemRfdG9rZW4iOm51bGx9.Sf45ojFVVGocTHv9n7ReJO3xfYKL7Qhnws7r8tZGHms&amp;zhida_source=entity" TargetMode="External"/><Relationship Id="rId2" Type="http://schemas.openxmlformats.org/officeDocument/2006/relationships/image" Target="../media/image22.png"/><Relationship Id="rId16" Type="http://schemas.openxmlformats.org/officeDocument/2006/relationships/image" Target="../media/image35.png"/><Relationship Id="rId1" Type="http://schemas.openxmlformats.org/officeDocument/2006/relationships/slideLayout" Target="../slideLayouts/slideLayout2.xml"/><Relationship Id="rId6" Type="http://schemas.openxmlformats.org/officeDocument/2006/relationships/image" Target="../media/image26.png"/><Relationship Id="rId11" Type="http://schemas.openxmlformats.org/officeDocument/2006/relationships/image" Target="../media/image31.png"/><Relationship Id="rId5" Type="http://schemas.openxmlformats.org/officeDocument/2006/relationships/image" Target="../media/image25.png"/><Relationship Id="rId15" Type="http://schemas.openxmlformats.org/officeDocument/2006/relationships/image" Target="../media/image34.png"/><Relationship Id="rId10" Type="http://schemas.openxmlformats.org/officeDocument/2006/relationships/image" Target="../media/image30.png"/><Relationship Id="rId4" Type="http://schemas.openxmlformats.org/officeDocument/2006/relationships/image" Target="../media/image24.png"/><Relationship Id="rId9" Type="http://schemas.openxmlformats.org/officeDocument/2006/relationships/image" Target="../media/image29.png"/><Relationship Id="rId14" Type="http://schemas.openxmlformats.org/officeDocument/2006/relationships/image" Target="../media/image33.png"/></Relationships>
</file>

<file path=ppt/slides/_rels/slide18.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8" Type="http://schemas.openxmlformats.org/officeDocument/2006/relationships/image" Target="../media/image44.png"/><Relationship Id="rId3" Type="http://schemas.openxmlformats.org/officeDocument/2006/relationships/image" Target="../media/image39.png"/><Relationship Id="rId7" Type="http://schemas.openxmlformats.org/officeDocument/2006/relationships/image" Target="../media/image43.png"/><Relationship Id="rId2" Type="http://schemas.openxmlformats.org/officeDocument/2006/relationships/image" Target="../media/image38.png"/><Relationship Id="rId1" Type="http://schemas.openxmlformats.org/officeDocument/2006/relationships/slideLayout" Target="../slideLayouts/slideLayout2.xml"/><Relationship Id="rId6" Type="http://schemas.openxmlformats.org/officeDocument/2006/relationships/image" Target="../media/image42.png"/><Relationship Id="rId5" Type="http://schemas.openxmlformats.org/officeDocument/2006/relationships/image" Target="../media/image41.png"/><Relationship Id="rId4" Type="http://schemas.openxmlformats.org/officeDocument/2006/relationships/image" Target="../media/image40.png"/></Relationships>
</file>

<file path=ppt/slides/_rels/slide20.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46.png"/></Relationships>
</file>

<file path=ppt/slides/_rels/slide23.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8.png"/><Relationship Id="rId1" Type="http://schemas.openxmlformats.org/officeDocument/2006/relationships/slideLayout" Target="../slideLayouts/slideLayout2.xml"/><Relationship Id="rId4" Type="http://schemas.openxmlformats.org/officeDocument/2006/relationships/image" Target="../media/image40.png"/></Relationships>
</file>

<file path=ppt/slides/_rels/slide24.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47.png"/></Relationships>
</file>

<file path=ppt/slides/_rels/slide29.xml.rels><?xml version="1.0" encoding="UTF-8" standalone="yes"?>
<Relationships xmlns="http://schemas.openxmlformats.org/package/2006/relationships"><Relationship Id="rId8" Type="http://schemas.openxmlformats.org/officeDocument/2006/relationships/image" Target="../media/image47.png"/><Relationship Id="rId3" Type="http://schemas.openxmlformats.org/officeDocument/2006/relationships/image" Target="../media/image50.png"/><Relationship Id="rId7" Type="http://schemas.openxmlformats.org/officeDocument/2006/relationships/image" Target="../media/image54.png"/><Relationship Id="rId12" Type="http://schemas.openxmlformats.org/officeDocument/2006/relationships/image" Target="../media/image58.pn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53.png"/><Relationship Id="rId11" Type="http://schemas.openxmlformats.org/officeDocument/2006/relationships/image" Target="../media/image57.png"/><Relationship Id="rId5" Type="http://schemas.openxmlformats.org/officeDocument/2006/relationships/image" Target="../media/image52.png"/><Relationship Id="rId10" Type="http://schemas.openxmlformats.org/officeDocument/2006/relationships/image" Target="../media/image56.png"/><Relationship Id="rId4" Type="http://schemas.openxmlformats.org/officeDocument/2006/relationships/image" Target="../media/image51.png"/><Relationship Id="rId9" Type="http://schemas.openxmlformats.org/officeDocument/2006/relationships/image" Target="../media/image5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E41754-1A01-9656-056C-4B624E45A905}"/>
            </a:ext>
          </a:extLst>
        </p:cNvPr>
        <p:cNvGrpSpPr/>
        <p:nvPr/>
      </p:nvGrpSpPr>
      <p:grpSpPr>
        <a:xfrm>
          <a:off x="0" y="0"/>
          <a:ext cx="0" cy="0"/>
          <a:chOff x="0" y="0"/>
          <a:chExt cx="0" cy="0"/>
        </a:xfrm>
      </p:grpSpPr>
      <p:sp>
        <p:nvSpPr>
          <p:cNvPr id="3" name="文字方塊 2">
            <a:extLst>
              <a:ext uri="{FF2B5EF4-FFF2-40B4-BE49-F238E27FC236}">
                <a16:creationId xmlns:a16="http://schemas.microsoft.com/office/drawing/2014/main" id="{96A5153E-BD84-CB21-D566-B888A2F168CC}"/>
              </a:ext>
            </a:extLst>
          </p:cNvPr>
          <p:cNvSpPr txBox="1"/>
          <p:nvPr/>
        </p:nvSpPr>
        <p:spPr>
          <a:xfrm>
            <a:off x="3748825" y="5118283"/>
            <a:ext cx="1646348" cy="830997"/>
          </a:xfrm>
          <a:prstGeom prst="rect">
            <a:avLst/>
          </a:prstGeom>
          <a:noFill/>
        </p:spPr>
        <p:txBody>
          <a:bodyPr wrap="none" rtlCol="0">
            <a:spAutoFit/>
          </a:bodyPr>
          <a:lstStyle/>
          <a:p>
            <a:pPr algn="ctr"/>
            <a:r>
              <a:rPr lang="en-US" altLang="zh-TW" sz="1200" b="1" dirty="0">
                <a:solidFill>
                  <a:schemeClr val="accent1"/>
                </a:solidFill>
              </a:rPr>
              <a:t>Centrillion Technology </a:t>
            </a:r>
          </a:p>
          <a:p>
            <a:pPr algn="ctr"/>
            <a:r>
              <a:rPr lang="en-US" altLang="zh-TW" sz="1200" b="1" dirty="0">
                <a:solidFill>
                  <a:schemeClr val="accent1"/>
                </a:solidFill>
              </a:rPr>
              <a:t>Bioinformation Dept. </a:t>
            </a:r>
          </a:p>
          <a:p>
            <a:pPr algn="ctr"/>
            <a:r>
              <a:rPr lang="en-US" altLang="zh-TW" sz="1400" dirty="0">
                <a:solidFill>
                  <a:schemeClr val="accent1"/>
                </a:solidFill>
              </a:rPr>
              <a:t>Allen &amp; Felix</a:t>
            </a:r>
          </a:p>
          <a:p>
            <a:pPr algn="ctr"/>
            <a:r>
              <a:rPr lang="en-US" altLang="zh-TW" sz="1000" dirty="0">
                <a:solidFill>
                  <a:schemeClr val="accent1"/>
                </a:solidFill>
              </a:rPr>
              <a:t>2026/09/03</a:t>
            </a:r>
            <a:endParaRPr lang="zh-TW" altLang="en-US" sz="1000" dirty="0">
              <a:solidFill>
                <a:schemeClr val="accent1"/>
              </a:solidFill>
            </a:endParaRPr>
          </a:p>
        </p:txBody>
      </p:sp>
      <p:sp>
        <p:nvSpPr>
          <p:cNvPr id="5" name="文字方塊 4">
            <a:extLst>
              <a:ext uri="{FF2B5EF4-FFF2-40B4-BE49-F238E27FC236}">
                <a16:creationId xmlns:a16="http://schemas.microsoft.com/office/drawing/2014/main" id="{04CB84FD-A5FC-F21A-B4BF-263FCA334053}"/>
              </a:ext>
            </a:extLst>
          </p:cNvPr>
          <p:cNvSpPr txBox="1"/>
          <p:nvPr/>
        </p:nvSpPr>
        <p:spPr>
          <a:xfrm>
            <a:off x="809581" y="2177956"/>
            <a:ext cx="7524837" cy="2082621"/>
          </a:xfrm>
          <a:prstGeom prst="rect">
            <a:avLst/>
          </a:prstGeom>
          <a:noFill/>
        </p:spPr>
        <p:txBody>
          <a:bodyPr wrap="square" rtlCol="0">
            <a:spAutoFit/>
          </a:bodyPr>
          <a:lstStyle/>
          <a:p>
            <a:pPr algn="ctr"/>
            <a:r>
              <a:rPr lang="en-US" altLang="zh-TW" sz="4000" b="1" dirty="0"/>
              <a:t>DeepSeek</a:t>
            </a:r>
          </a:p>
          <a:p>
            <a:pPr algn="ctr"/>
            <a:r>
              <a:rPr lang="en-US" altLang="zh-TW" sz="4000" b="1" dirty="0" err="1"/>
              <a:t>MoE</a:t>
            </a:r>
            <a:r>
              <a:rPr lang="en-US" altLang="zh-TW" sz="4000" b="1" dirty="0"/>
              <a:t> v4</a:t>
            </a:r>
          </a:p>
          <a:p>
            <a:pPr defTabSz="4689475">
              <a:lnSpc>
                <a:spcPts val="400"/>
              </a:lnSpc>
            </a:pPr>
            <a:r>
              <a:rPr lang="zh-TW" altLang="en-US" sz="1000" b="1" dirty="0"/>
              <a:t> </a:t>
            </a:r>
            <a:r>
              <a:rPr lang="en-US" altLang="zh-TW" sz="1000" b="1" dirty="0"/>
              <a:t>	2026</a:t>
            </a:r>
          </a:p>
          <a:p>
            <a:pPr defTabSz="6727825">
              <a:tabLst>
                <a:tab pos="2332038" algn="l"/>
              </a:tabLst>
            </a:pPr>
            <a:endParaRPr lang="en-US" altLang="zh-TW" sz="1200" b="1" dirty="0"/>
          </a:p>
          <a:p>
            <a:pPr defTabSz="6727825">
              <a:tabLst>
                <a:tab pos="2332038" algn="l"/>
              </a:tabLst>
            </a:pPr>
            <a:endParaRPr lang="en-US" altLang="zh-TW" sz="1200" b="1" dirty="0">
              <a:solidFill>
                <a:schemeClr val="accent1">
                  <a:lumMod val="75000"/>
                </a:schemeClr>
              </a:solidFill>
            </a:endParaRPr>
          </a:p>
          <a:p>
            <a:pPr indent="541338" defTabSz="7269163">
              <a:tabLst>
                <a:tab pos="2955925" algn="l"/>
                <a:tab pos="5470525" algn="l"/>
              </a:tabLst>
            </a:pPr>
            <a:r>
              <a:rPr lang="en-US" altLang="zh-TW" sz="1200" b="1" dirty="0"/>
              <a:t>	</a:t>
            </a:r>
            <a:r>
              <a:rPr lang="en-US" altLang="zh-TW" sz="1200" b="1" dirty="0">
                <a:sym typeface="Wingdings" panose="05000000000000000000" pitchFamily="2" charset="2"/>
              </a:rPr>
              <a:t>DeepSeek	</a:t>
            </a:r>
            <a:r>
              <a:rPr lang="en-US" altLang="zh-TW" sz="1000" dirty="0">
                <a:sym typeface="Wingdings" panose="05000000000000000000" pitchFamily="2" charset="2"/>
              </a:rPr>
              <a:t>	R&amp;D Team</a:t>
            </a:r>
            <a:endParaRPr lang="zh-TW" altLang="en-US" sz="1000" dirty="0">
              <a:solidFill>
                <a:schemeClr val="accent1">
                  <a:lumMod val="75000"/>
                </a:schemeClr>
              </a:solidFill>
            </a:endParaRPr>
          </a:p>
        </p:txBody>
      </p:sp>
    </p:spTree>
    <p:extLst>
      <p:ext uri="{BB962C8B-B14F-4D97-AF65-F5344CB8AC3E}">
        <p14:creationId xmlns:p14="http://schemas.microsoft.com/office/powerpoint/2010/main" val="326760958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2448272"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2" name="文字方塊 1">
            <a:extLst>
              <a:ext uri="{FF2B5EF4-FFF2-40B4-BE49-F238E27FC236}">
                <a16:creationId xmlns:a16="http://schemas.microsoft.com/office/drawing/2014/main" id="{5B9CD27E-9C1A-3219-6A05-1CA47876AE20}"/>
              </a:ext>
            </a:extLst>
          </p:cNvPr>
          <p:cNvSpPr txBox="1"/>
          <p:nvPr/>
        </p:nvSpPr>
        <p:spPr>
          <a:xfrm>
            <a:off x="845586" y="1268760"/>
            <a:ext cx="7452828" cy="4524315"/>
          </a:xfrm>
          <a:prstGeom prst="rect">
            <a:avLst/>
          </a:prstGeom>
          <a:noFill/>
        </p:spPr>
        <p:txBody>
          <a:bodyPr wrap="square" rtlCol="0">
            <a:spAutoFit/>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Overview</a:t>
            </a:r>
            <a:r>
              <a:rPr lang="en-US" altLang="zh-TW" sz="1200" dirty="0">
                <a:solidFill>
                  <a:prstClr val="white">
                    <a:lumMod val="75000"/>
                  </a:prstClr>
                </a:solidFill>
                <a:latin typeface="Noto Sans HK" panose="020B0200000000000000" pitchFamily="34" charset="-120"/>
                <a:ea typeface="Noto Sans HK" panose="020B0200000000000000" pitchFamily="34" charset="-120"/>
              </a:rPr>
              <a:t> (AI Evolution from Alex</a:t>
            </a:r>
            <a:r>
              <a:rPr lang="zh-TW" altLang="en-US" sz="1200" dirty="0">
                <a:solidFill>
                  <a:prstClr val="white">
                    <a:lumMod val="75000"/>
                  </a:prstClr>
                </a:solidFill>
                <a:latin typeface="Noto Sans HK" panose="020B0200000000000000" pitchFamily="34" charset="-120"/>
                <a:ea typeface="Noto Sans HK" panose="020B0200000000000000" pitchFamily="34" charset="-120"/>
              </a:rPr>
              <a: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Net to GPT)</a:t>
            </a:r>
            <a:endParaRPr lang="en-US" altLang="zh-TW" sz="2400"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Machine Learning</a:t>
            </a:r>
            <a:r>
              <a:rPr lang="zh-TW" altLang="en-US" dirty="0">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(UL, semi-SL, SL, RL)</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LLM Training Stages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(Pre-Training, SFT, RLHF)</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Transformer</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(Basic model type has: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Dense and MoE</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Program Flow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(Embedding, PE, Self-Attention</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FFN, LP2V</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Self-Attention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(Attention is all you nee)</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Feed Forward Network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(FFN)</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Token Embeddings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(Semantic Space)</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Rotary of Positional Encoding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(Relative distance)</a:t>
            </a:r>
            <a:endParaRPr lang="en-US" altLang="zh-TW" sz="1200" dirty="0">
              <a:solidFill>
                <a:prstClr val="black"/>
              </a:solidFill>
              <a:latin typeface="Noto Sans HK" panose="020B0200000000000000" pitchFamily="34" charset="-120"/>
              <a:ea typeface="Noto Sans HK" panose="020B0200000000000000" pitchFamily="34" charset="-120"/>
            </a:endParaRP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GPT</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(How GPT predict next token?)</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Pre-Training</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(Output: weight matrix and parameters)</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MLP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(Multi-Layer Perceptron)</a:t>
            </a:r>
            <a:endParaRPr lang="en-US" altLang="zh-TW"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Backpropagation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(Chain Rule, gradient descent)</a:t>
            </a:r>
            <a:endParaRPr lang="en-US" altLang="zh-TW" sz="1200" dirty="0">
              <a:solidFill>
                <a:prstClr val="white">
                  <a:lumMod val="75000"/>
                </a:prst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Ecosystem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(Top 20)</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Training Cluster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(Cost structure analysis)</a:t>
            </a:r>
          </a:p>
        </p:txBody>
      </p:sp>
      <p:sp>
        <p:nvSpPr>
          <p:cNvPr id="5" name="文字方塊 4">
            <a:extLst>
              <a:ext uri="{FF2B5EF4-FFF2-40B4-BE49-F238E27FC236}">
                <a16:creationId xmlns:a16="http://schemas.microsoft.com/office/drawing/2014/main" id="{3786730F-13DC-7C8B-152D-46A041A29A8E}"/>
              </a:ext>
            </a:extLst>
          </p:cNvPr>
          <p:cNvSpPr txBox="1"/>
          <p:nvPr/>
        </p:nvSpPr>
        <p:spPr>
          <a:xfrm>
            <a:off x="7848364" y="44624"/>
            <a:ext cx="1240083" cy="3813095"/>
          </a:xfrm>
          <a:prstGeom prst="rect">
            <a:avLst/>
          </a:prstGeom>
          <a:noFill/>
        </p:spPr>
        <p:txBody>
          <a:bodyPr wrap="none" lIns="91440" tIns="91440" rIns="0" bIns="0">
            <a:spAutoFit/>
          </a:bodyPr>
          <a:lstStyle/>
          <a:p>
            <a:pPr defTabSz="1546225">
              <a:lnSpc>
                <a:spcPts val="10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000"/>
              </a:lnSpc>
              <a:buFont typeface="Arial" panose="020B0604020202020204" pitchFamily="34" charset="0"/>
              <a:buChar char="•"/>
            </a:pPr>
            <a:r>
              <a:rPr lang="zh-TW" altLang="en-US" sz="1000" dirty="0"/>
              <a:t> </a:t>
            </a:r>
            <a:r>
              <a:rPr lang="en-US" altLang="zh-TW" sz="1000" dirty="0"/>
              <a:t>ML</a:t>
            </a:r>
          </a:p>
          <a:p>
            <a:pPr marL="111125" lvl="2">
              <a:lnSpc>
                <a:spcPts val="10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000"/>
              </a:lnSpc>
              <a:buFont typeface="Wingdings" panose="05000000000000000000" pitchFamily="2" charset="2"/>
              <a:buChar char="Ø"/>
            </a:pPr>
            <a:r>
              <a:rPr lang="en-US" altLang="zh-TW" sz="1000" b="1" dirty="0"/>
              <a:t> Transformer</a:t>
            </a:r>
            <a:endParaRPr lang="en-US" altLang="zh-TW" sz="1000" dirty="0"/>
          </a:p>
          <a:p>
            <a:pPr marL="111125" lvl="2">
              <a:lnSpc>
                <a:spcPts val="1000"/>
              </a:lnSpc>
              <a:buFont typeface="Arial" panose="020B0604020202020204" pitchFamily="34" charset="0"/>
              <a:buChar char="•"/>
            </a:pPr>
            <a:r>
              <a:rPr lang="en-US" altLang="zh-TW" sz="1000" dirty="0"/>
              <a:t> Program Flow</a:t>
            </a:r>
          </a:p>
          <a:p>
            <a:pPr marL="111125" lvl="2">
              <a:lnSpc>
                <a:spcPts val="1000"/>
              </a:lnSpc>
              <a:buFont typeface="Arial" panose="020B0604020202020204" pitchFamily="34" charset="0"/>
              <a:buChar char="•"/>
            </a:pPr>
            <a:r>
              <a:rPr lang="en-US" altLang="zh-TW" sz="1000" dirty="0"/>
              <a:t> Self-Attention</a:t>
            </a:r>
          </a:p>
          <a:p>
            <a:pPr marL="111125" lvl="2">
              <a:lnSpc>
                <a:spcPts val="1000"/>
              </a:lnSpc>
              <a:buFont typeface="Arial" panose="020B0604020202020204" pitchFamily="34" charset="0"/>
              <a:buChar char="•"/>
            </a:pPr>
            <a:r>
              <a:rPr lang="en-US" altLang="zh-TW" sz="1000" dirty="0"/>
              <a:t> FFN</a:t>
            </a:r>
          </a:p>
          <a:p>
            <a:pPr marL="111125" lvl="2">
              <a:lnSpc>
                <a:spcPts val="1000"/>
              </a:lnSpc>
              <a:buFont typeface="Arial" panose="020B0604020202020204" pitchFamily="34" charset="0"/>
              <a:buChar char="•"/>
            </a:pPr>
            <a:r>
              <a:rPr lang="zh-TW" altLang="en-US" sz="1000" dirty="0"/>
              <a:t> </a:t>
            </a:r>
            <a:r>
              <a:rPr lang="en-US" altLang="zh-TW" sz="1000" dirty="0"/>
              <a:t>Embeddings</a:t>
            </a:r>
          </a:p>
          <a:p>
            <a:pPr marL="111125" lvl="2">
              <a:lnSpc>
                <a:spcPts val="1000"/>
              </a:lnSpc>
              <a:buFont typeface="Arial" panose="020B0604020202020204" pitchFamily="34" charset="0"/>
              <a:buChar char="•"/>
            </a:pPr>
            <a:r>
              <a:rPr lang="en-US" altLang="zh-TW" sz="1000" dirty="0"/>
              <a:t> Position Encoding</a:t>
            </a:r>
          </a:p>
          <a:p>
            <a:pPr>
              <a:lnSpc>
                <a:spcPts val="10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MLP</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r>
              <a:rPr lang="en-US" altLang="zh-TW" sz="1000" dirty="0"/>
              <a:t> </a:t>
            </a:r>
          </a:p>
          <a:p>
            <a:pPr marL="111125" marR="0" lvl="2" algn="l" defTabSz="914400" rtl="0" eaLnBrk="1" fontAlgn="auto" latinLnBrk="0" hangingPunct="1">
              <a:lnSpc>
                <a:spcPts val="10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AI Ecosystem</a:t>
            </a:r>
            <a:endPar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a:lnSpc>
                <a:spcPts val="1000"/>
              </a:lnSpc>
              <a:buFont typeface="Wingdings" panose="05000000000000000000" pitchFamily="2" charset="2"/>
              <a:buChar char="Ø"/>
            </a:pPr>
            <a:r>
              <a:rPr lang="en-US" altLang="zh-TW" sz="1000" b="1" dirty="0"/>
              <a:t> AI Runtime</a:t>
            </a:r>
          </a:p>
          <a:p>
            <a:pPr marL="111125" lvl="2">
              <a:lnSpc>
                <a:spcPts val="1000"/>
              </a:lnSpc>
              <a:buFont typeface="Arial" panose="020B0604020202020204" pitchFamily="34" charset="0"/>
              <a:buChar char="•"/>
              <a:defRPr/>
            </a:pPr>
            <a:r>
              <a:rPr lang="en-US" altLang="zh-TW" sz="1000" dirty="0">
                <a:solidFill>
                  <a:prstClr val="black"/>
                </a:solidFill>
              </a:rPr>
              <a:t> MCP</a:t>
            </a:r>
          </a:p>
          <a:p>
            <a:pPr marL="111125" lvl="2">
              <a:lnSpc>
                <a:spcPts val="1000"/>
              </a:lnSpc>
              <a:buFont typeface="Arial" panose="020B0604020202020204" pitchFamily="34" charset="0"/>
              <a:buChar char="•"/>
              <a:defRPr/>
            </a:pPr>
            <a:r>
              <a:rPr lang="en-US" altLang="zh-TW" sz="1000" dirty="0">
                <a:solidFill>
                  <a:prstClr val="black"/>
                </a:solidFill>
              </a:rPr>
              <a:t> Skill</a:t>
            </a:r>
          </a:p>
          <a:p>
            <a:pPr marL="111125" lvl="2">
              <a:lnSpc>
                <a:spcPts val="1000"/>
              </a:lnSpc>
              <a:buFont typeface="Arial" panose="020B0604020202020204" pitchFamily="34" charset="0"/>
              <a:buChar char="•"/>
              <a:defRPr/>
            </a:pPr>
            <a:r>
              <a:rPr lang="en-US" altLang="zh-TW" sz="1000" dirty="0">
                <a:solidFill>
                  <a:prstClr val="black"/>
                </a:solidFill>
              </a:rPr>
              <a:t> SLM Engine</a:t>
            </a:r>
          </a:p>
          <a:p>
            <a:pPr marL="111125" lvl="2">
              <a:lnSpc>
                <a:spcPts val="1000"/>
              </a:lnSpc>
              <a:buFont typeface="Arial" panose="020B0604020202020204" pitchFamily="34" charset="0"/>
              <a:buChar char="•"/>
              <a:defRPr/>
            </a:pPr>
            <a:r>
              <a:rPr lang="en-US" altLang="zh-TW" sz="1000" dirty="0"/>
              <a:t> Emerging Trends </a:t>
            </a:r>
            <a:endParaRPr lang="en-US" altLang="zh-TW" sz="1000" dirty="0">
              <a:solidFill>
                <a:prstClr val="black"/>
              </a:solidFill>
            </a:endParaRPr>
          </a:p>
          <a:p>
            <a:pPr>
              <a:lnSpc>
                <a:spcPts val="1000"/>
              </a:lnSpc>
              <a:buFont typeface="Wingdings" panose="05000000000000000000" pitchFamily="2" charset="2"/>
              <a:buChar char="Ø"/>
            </a:pPr>
            <a:r>
              <a:rPr lang="zh-TW" altLang="en-US" sz="1000" b="1" dirty="0"/>
              <a:t> </a:t>
            </a:r>
            <a:r>
              <a:rPr lang="en-US" altLang="zh-TW" sz="1000" b="1" dirty="0"/>
              <a:t>Gemma Family</a:t>
            </a:r>
          </a:p>
          <a:p>
            <a:pPr marL="111125" lvl="2">
              <a:lnSpc>
                <a:spcPts val="1000"/>
              </a:lnSpc>
              <a:buFont typeface="Arial" panose="020B0604020202020204" pitchFamily="34" charset="0"/>
              <a:buChar char="•"/>
              <a:defRPr/>
            </a:pPr>
            <a:r>
              <a:rPr lang="en-US" altLang="zh-TW" sz="1000" dirty="0"/>
              <a:t> Supervised FT</a:t>
            </a:r>
          </a:p>
          <a:p>
            <a:pPr marL="111125" lvl="2">
              <a:lnSpc>
                <a:spcPts val="1000"/>
              </a:lnSpc>
              <a:buFont typeface="Arial" panose="020B0604020202020204" pitchFamily="34" charset="0"/>
              <a:buChar char="•"/>
              <a:defRPr/>
            </a:pPr>
            <a:r>
              <a:rPr lang="en-US" altLang="zh-TW" sz="1000" dirty="0">
                <a:solidFill>
                  <a:prstClr val="black"/>
                </a:solidFill>
              </a:rPr>
              <a:t> PEFT: QLoRA</a:t>
            </a:r>
          </a:p>
          <a:p>
            <a:pPr marL="111125" lvl="2">
              <a:lnSpc>
                <a:spcPts val="1000"/>
              </a:lnSpc>
              <a:buFont typeface="Arial" panose="020B0604020202020204" pitchFamily="34" charset="0"/>
              <a:buChar char="•"/>
              <a:defRPr/>
            </a:pPr>
            <a:r>
              <a:rPr lang="en-US" altLang="zh-TW" sz="1000" dirty="0">
                <a:solidFill>
                  <a:prstClr val="black"/>
                </a:solidFill>
              </a:rPr>
              <a:t> PEFT: DoRA</a:t>
            </a:r>
          </a:p>
          <a:p>
            <a:pPr marL="111125" lvl="2">
              <a:lnSpc>
                <a:spcPts val="1000"/>
              </a:lnSpc>
              <a:buFont typeface="Arial" panose="020B0604020202020204" pitchFamily="34" charset="0"/>
              <a:buChar char="•"/>
              <a:defRPr/>
            </a:pPr>
            <a:r>
              <a:rPr lang="en-US" altLang="zh-TW" sz="1000" dirty="0">
                <a:solidFill>
                  <a:prstClr val="black"/>
                </a:solidFill>
              </a:rPr>
              <a:t> Gemma4: PLE</a:t>
            </a:r>
          </a:p>
          <a:p>
            <a:pPr marL="111125" lvl="2">
              <a:lnSpc>
                <a:spcPts val="1000"/>
              </a:lnSpc>
              <a:buFont typeface="Arial" panose="020B0604020202020204" pitchFamily="34" charset="0"/>
              <a:buChar char="•"/>
              <a:defRPr/>
            </a:pPr>
            <a:r>
              <a:rPr lang="en-US" altLang="zh-TW" sz="1000" dirty="0">
                <a:solidFill>
                  <a:prstClr val="black"/>
                </a:solidFill>
              </a:rPr>
              <a:t> Benchmarking</a:t>
            </a:r>
          </a:p>
          <a:p>
            <a:pPr>
              <a:lnSpc>
                <a:spcPts val="1000"/>
              </a:lnSpc>
              <a:buFont typeface="Wingdings" panose="05000000000000000000" pitchFamily="2" charset="2"/>
              <a:buChar char="Ø"/>
            </a:pPr>
            <a:r>
              <a:rPr lang="en-US" altLang="zh-TW" sz="1000" b="1" dirty="0"/>
              <a:t> Conclusion</a:t>
            </a:r>
          </a:p>
          <a:p>
            <a:pPr marL="111125" lvl="2">
              <a:lnSpc>
                <a:spcPts val="1000"/>
              </a:lnSpc>
              <a:buFont typeface="Arial" panose="020B0604020202020204" pitchFamily="34" charset="0"/>
              <a:buChar char="•"/>
              <a:defRPr/>
            </a:pPr>
            <a:r>
              <a:rPr lang="en-US" altLang="zh-TW" sz="1000" dirty="0"/>
              <a:t> Building the Agent</a:t>
            </a:r>
          </a:p>
          <a:p>
            <a:pPr marL="111125" lvl="2">
              <a:lnSpc>
                <a:spcPts val="1000"/>
              </a:lnSpc>
              <a:buFont typeface="Arial" panose="020B0604020202020204" pitchFamily="34" charset="0"/>
              <a:buChar char="•"/>
              <a:defRPr/>
            </a:pPr>
            <a:r>
              <a:rPr lang="en-US" altLang="zh-TW" sz="1000" dirty="0">
                <a:solidFill>
                  <a:prstClr val="black"/>
                </a:solidFill>
              </a:rPr>
              <a:t> Practice: Unsloth</a:t>
            </a:r>
          </a:p>
        </p:txBody>
      </p:sp>
    </p:spTree>
    <p:extLst>
      <p:ext uri="{BB962C8B-B14F-4D97-AF65-F5344CB8AC3E}">
        <p14:creationId xmlns:p14="http://schemas.microsoft.com/office/powerpoint/2010/main" val="450648465"/>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mph" presetSubtype="2" fill="hold" grpId="0" nodeType="clickEffect">
                                  <p:stCondLst>
                                    <p:cond delay="0"/>
                                  </p:stCondLst>
                                  <p:childTnLst>
                                    <p:animClr clrSpc="rgb" dir="cw">
                                      <p:cBhvr override="childStyle">
                                        <p:cTn id="6" dur="500" fill="hold"/>
                                        <p:tgtEl>
                                          <p:spTgt spid="2">
                                            <p:txEl>
                                              <p:pRg st="0" end="0"/>
                                            </p:txEl>
                                          </p:spTgt>
                                        </p:tgtEl>
                                        <p:attrNameLst>
                                          <p:attrName>style.color</p:attrName>
                                        </p:attrNameLst>
                                      </p:cBhvr>
                                      <p:to>
                                        <a:srgbClr val="FF0000"/>
                                      </p:to>
                                    </p:animClr>
                                  </p:childTnLst>
                                  <p:subTnLst>
                                    <p:audio>
                                      <p:cMediaNode>
                                        <p:cTn display="0" masterRel="sameClick">
                                          <p:stCondLst>
                                            <p:cond evt="begin" delay="0">
                                              <p:tn val="5"/>
                                            </p:cond>
                                          </p:stCondLst>
                                          <p:endCondLst>
                                            <p:cond evt="onStopAudio" delay="0">
                                              <p:tgtEl>
                                                <p:sldTgt/>
                                              </p:tgtEl>
                                            </p:cond>
                                          </p:endCondLst>
                                        </p:cTn>
                                        <p:tgtEl>
                                          <p:sndTgt r:embed="rId3" name="type.wav"/>
                                        </p:tgtEl>
                                      </p:cMediaNode>
                                    </p:audio>
                                  </p:subTnLst>
                                </p:cTn>
                              </p:par>
                              <p:par>
                                <p:cTn id="7" presetID="3" presetClass="emph" presetSubtype="2" fill="hold" grpId="0" nodeType="withEffect">
                                  <p:stCondLst>
                                    <p:cond delay="0"/>
                                  </p:stCondLst>
                                  <p:childTnLst>
                                    <p:animClr clrSpc="rgb" dir="cw">
                                      <p:cBhvr override="childStyle">
                                        <p:cTn id="8" dur="500" fill="hold"/>
                                        <p:tgtEl>
                                          <p:spTgt spid="2">
                                            <p:txEl>
                                              <p:pRg st="1" end="1"/>
                                            </p:txEl>
                                          </p:spTgt>
                                        </p:tgtEl>
                                        <p:attrNameLst>
                                          <p:attrName>style.color</p:attrName>
                                        </p:attrNameLst>
                                      </p:cBhvr>
                                      <p:to>
                                        <a:srgbClr val="FF0000"/>
                                      </p:to>
                                    </p:animClr>
                                  </p:childTnLst>
                                  <p:subTnLst>
                                    <p:audio>
                                      <p:cMediaNode>
                                        <p:cTn display="0" masterRel="sameClick">
                                          <p:stCondLst>
                                            <p:cond evt="begin" delay="0">
                                              <p:tn val="7"/>
                                            </p:cond>
                                          </p:stCondLst>
                                          <p:endCondLst>
                                            <p:cond evt="onStopAudio" delay="0">
                                              <p:tgtEl>
                                                <p:sldTgt/>
                                              </p:tgtEl>
                                            </p:cond>
                                          </p:endCondLst>
                                        </p:cTn>
                                        <p:tgtEl>
                                          <p:sndTgt r:embed="rId3" name="type.wav"/>
                                        </p:tgtEl>
                                      </p:cMediaNode>
                                    </p:audio>
                                  </p:subTnLst>
                                </p:cTn>
                              </p:par>
                              <p:par>
                                <p:cTn id="9" presetID="3" presetClass="emph" presetSubtype="2" fill="hold" grpId="0" nodeType="withEffect">
                                  <p:stCondLst>
                                    <p:cond delay="0"/>
                                  </p:stCondLst>
                                  <p:childTnLst>
                                    <p:animClr clrSpc="rgb" dir="cw">
                                      <p:cBhvr override="childStyle">
                                        <p:cTn id="10" dur="500" fill="hold"/>
                                        <p:tgtEl>
                                          <p:spTgt spid="2">
                                            <p:txEl>
                                              <p:pRg st="2" end="2"/>
                                            </p:txEl>
                                          </p:spTgt>
                                        </p:tgtEl>
                                        <p:attrNameLst>
                                          <p:attrName>style.color</p:attrName>
                                        </p:attrNameLst>
                                      </p:cBhvr>
                                      <p:to>
                                        <a:srgbClr val="FF0000"/>
                                      </p:to>
                                    </p:animClr>
                                  </p:childTnLst>
                                  <p:subTnLst>
                                    <p:audio>
                                      <p:cMediaNode>
                                        <p:cTn display="0" masterRel="sameClick">
                                          <p:stCondLst>
                                            <p:cond evt="begin" delay="0">
                                              <p:tn val="9"/>
                                            </p:cond>
                                          </p:stCondLst>
                                          <p:endCondLst>
                                            <p:cond evt="onStopAudio" delay="0">
                                              <p:tgtEl>
                                                <p:sldTgt/>
                                              </p:tgtEl>
                                            </p:cond>
                                          </p:endCondLst>
                                        </p:cTn>
                                        <p:tgtEl>
                                          <p:sndTgt r:embed="rId3" name="type.wav"/>
                                        </p:tgtEl>
                                      </p:cMediaNode>
                                    </p:audio>
                                  </p:subTnLst>
                                </p:cTn>
                              </p:par>
                              <p:par>
                                <p:cTn id="11" presetID="3" presetClass="emph" presetSubtype="2" fill="hold" grpId="1" nodeType="withEffect">
                                  <p:stCondLst>
                                    <p:cond delay="0"/>
                                  </p:stCondLst>
                                  <p:childTnLst>
                                    <p:animClr clrSpc="rgb" dir="cw">
                                      <p:cBhvr override="childStyle">
                                        <p:cTn id="12" dur="2000" fill="hold"/>
                                        <p:tgtEl>
                                          <p:spTgt spid="2">
                                            <p:txEl>
                                              <p:pRg st="0" end="0"/>
                                            </p:txEl>
                                          </p:spTgt>
                                        </p:tgtEl>
                                        <p:attrNameLst>
                                          <p:attrName>style.color</p:attrName>
                                        </p:attrNameLst>
                                      </p:cBhvr>
                                      <p:to>
                                        <a:srgbClr val="4D4D4D"/>
                                      </p:to>
                                    </p:animClr>
                                  </p:childTnLst>
                                </p:cTn>
                              </p:par>
                              <p:par>
                                <p:cTn id="13" presetID="3" presetClass="emph" presetSubtype="2" fill="hold" grpId="1" nodeType="withEffect">
                                  <p:stCondLst>
                                    <p:cond delay="0"/>
                                  </p:stCondLst>
                                  <p:childTnLst>
                                    <p:animClr clrSpc="rgb" dir="cw">
                                      <p:cBhvr override="childStyle">
                                        <p:cTn id="14" dur="2000" fill="hold"/>
                                        <p:tgtEl>
                                          <p:spTgt spid="2">
                                            <p:txEl>
                                              <p:pRg st="1" end="1"/>
                                            </p:txEl>
                                          </p:spTgt>
                                        </p:tgtEl>
                                        <p:attrNameLst>
                                          <p:attrName>style.color</p:attrName>
                                        </p:attrNameLst>
                                      </p:cBhvr>
                                      <p:to>
                                        <a:srgbClr val="4D4D4D"/>
                                      </p:to>
                                    </p:animClr>
                                  </p:childTnLst>
                                </p:cTn>
                              </p:par>
                              <p:par>
                                <p:cTn id="15" presetID="3" presetClass="emph" presetSubtype="2" fill="hold" grpId="1" nodeType="withEffect">
                                  <p:stCondLst>
                                    <p:cond delay="0"/>
                                  </p:stCondLst>
                                  <p:childTnLst>
                                    <p:animClr clrSpc="rgb" dir="cw">
                                      <p:cBhvr override="childStyle">
                                        <p:cTn id="16" dur="2000" fill="hold"/>
                                        <p:tgtEl>
                                          <p:spTgt spid="2">
                                            <p:txEl>
                                              <p:pRg st="2" end="2"/>
                                            </p:txEl>
                                          </p:spTgt>
                                        </p:tgtEl>
                                        <p:attrNameLst>
                                          <p:attrName>style.color</p:attrName>
                                        </p:attrNameLst>
                                      </p:cBhvr>
                                      <p:to>
                                        <a:srgbClr val="4D4D4D"/>
                                      </p:to>
                                    </p:animClr>
                                  </p:childTnLst>
                                </p:cTn>
                              </p:par>
                            </p:childTnLst>
                          </p:cTn>
                        </p:par>
                      </p:childTnLst>
                    </p:cTn>
                  </p:par>
                  <p:par>
                    <p:cTn id="17" fill="hold">
                      <p:stCondLst>
                        <p:cond delay="indefinite"/>
                      </p:stCondLst>
                      <p:childTnLst>
                        <p:par>
                          <p:cTn id="18" fill="hold">
                            <p:stCondLst>
                              <p:cond delay="0"/>
                            </p:stCondLst>
                            <p:childTnLst>
                              <p:par>
                                <p:cTn id="19" presetID="3" presetClass="emph" presetSubtype="2" fill="hold" grpId="0" nodeType="clickEffect">
                                  <p:stCondLst>
                                    <p:cond delay="0"/>
                                  </p:stCondLst>
                                  <p:childTnLst>
                                    <p:animClr clrSpc="rgb" dir="cw">
                                      <p:cBhvr override="childStyle">
                                        <p:cTn id="20" dur="500" fill="hold"/>
                                        <p:tgtEl>
                                          <p:spTgt spid="2">
                                            <p:txEl>
                                              <p:pRg st="3" end="3"/>
                                            </p:txEl>
                                          </p:spTgt>
                                        </p:tgtEl>
                                        <p:attrNameLst>
                                          <p:attrName>style.color</p:attrName>
                                        </p:attrNameLst>
                                      </p:cBhvr>
                                      <p:to>
                                        <a:srgbClr val="FF0000"/>
                                      </p:to>
                                    </p:animClr>
                                  </p:childTnLst>
                                  <p:subTnLst>
                                    <p:audio>
                                      <p:cMediaNode>
                                        <p:cTn display="0" masterRel="sameClick">
                                          <p:stCondLst>
                                            <p:cond evt="begin" delay="0">
                                              <p:tn val="19"/>
                                            </p:cond>
                                          </p:stCondLst>
                                          <p:endCondLst>
                                            <p:cond evt="onStopAudio" delay="0">
                                              <p:tgtEl>
                                                <p:sldTgt/>
                                              </p:tgtEl>
                                            </p:cond>
                                          </p:endCondLst>
                                        </p:cTn>
                                        <p:tgtEl>
                                          <p:sndTgt r:embed="rId3" name="type.wav"/>
                                        </p:tgtEl>
                                      </p:cMediaNode>
                                    </p:audio>
                                  </p:subTnLst>
                                </p:cTn>
                              </p:par>
                            </p:childTnLst>
                          </p:cTn>
                        </p:par>
                      </p:childTnLst>
                    </p:cTn>
                  </p:par>
                  <p:par>
                    <p:cTn id="21" fill="hold">
                      <p:stCondLst>
                        <p:cond delay="indefinite"/>
                      </p:stCondLst>
                      <p:childTnLst>
                        <p:par>
                          <p:cTn id="22" fill="hold">
                            <p:stCondLst>
                              <p:cond delay="0"/>
                            </p:stCondLst>
                            <p:childTnLst>
                              <p:par>
                                <p:cTn id="23" presetID="3" presetClass="emph" presetSubtype="2" fill="hold" grpId="0" nodeType="clickEffect">
                                  <p:stCondLst>
                                    <p:cond delay="0"/>
                                  </p:stCondLst>
                                  <p:childTnLst>
                                    <p:animClr clrSpc="rgb" dir="cw">
                                      <p:cBhvr override="childStyle">
                                        <p:cTn id="24" dur="500" fill="hold"/>
                                        <p:tgtEl>
                                          <p:spTgt spid="2">
                                            <p:txEl>
                                              <p:pRg st="4" end="4"/>
                                            </p:txEl>
                                          </p:spTgt>
                                        </p:tgtEl>
                                        <p:attrNameLst>
                                          <p:attrName>style.color</p:attrName>
                                        </p:attrNameLst>
                                      </p:cBhvr>
                                      <p:to>
                                        <a:srgbClr val="FF0000"/>
                                      </p:to>
                                    </p:animClr>
                                  </p:childTnLst>
                                  <p:subTnLst>
                                    <p:audio>
                                      <p:cMediaNode>
                                        <p:cTn display="0" masterRel="sameClick">
                                          <p:stCondLst>
                                            <p:cond evt="begin" delay="0">
                                              <p:tn val="23"/>
                                            </p:cond>
                                          </p:stCondLst>
                                          <p:endCondLst>
                                            <p:cond evt="onStopAudio" delay="0">
                                              <p:tgtEl>
                                                <p:sldTgt/>
                                              </p:tgtEl>
                                            </p:cond>
                                          </p:endCondLst>
                                        </p:cTn>
                                        <p:tgtEl>
                                          <p:sndTgt r:embed="rId3" name="type.wav"/>
                                        </p:tgtEl>
                                      </p:cMediaNode>
                                    </p:audio>
                                  </p:subTnLst>
                                </p:cTn>
                              </p:par>
                              <p:par>
                                <p:cTn id="25" presetID="3" presetClass="emph" presetSubtype="2" fill="hold" grpId="1" nodeType="withEffect">
                                  <p:stCondLst>
                                    <p:cond delay="0"/>
                                  </p:stCondLst>
                                  <p:childTnLst>
                                    <p:animClr clrSpc="rgb" dir="cw">
                                      <p:cBhvr override="childStyle">
                                        <p:cTn id="26" dur="2000" fill="hold"/>
                                        <p:tgtEl>
                                          <p:spTgt spid="2">
                                            <p:txEl>
                                              <p:pRg st="3" end="3"/>
                                            </p:txEl>
                                          </p:spTgt>
                                        </p:tgtEl>
                                        <p:attrNameLst>
                                          <p:attrName>style.color</p:attrName>
                                        </p:attrNameLst>
                                      </p:cBhvr>
                                      <p:to>
                                        <a:srgbClr val="4D4D4D"/>
                                      </p:to>
                                    </p:animClr>
                                  </p:childTnLst>
                                </p:cTn>
                              </p:par>
                              <p:par>
                                <p:cTn id="27" presetID="3" presetClass="emph" presetSubtype="2" fill="hold" grpId="1" nodeType="withEffect">
                                  <p:stCondLst>
                                    <p:cond delay="0"/>
                                  </p:stCondLst>
                                  <p:childTnLst>
                                    <p:animClr clrSpc="rgb" dir="cw">
                                      <p:cBhvr override="childStyle">
                                        <p:cTn id="28" dur="2000" fill="hold"/>
                                        <p:tgtEl>
                                          <p:spTgt spid="2">
                                            <p:txEl>
                                              <p:pRg st="4" end="4"/>
                                            </p:txEl>
                                          </p:spTgt>
                                        </p:tgtEl>
                                        <p:attrNameLst>
                                          <p:attrName>style.color</p:attrName>
                                        </p:attrNameLst>
                                      </p:cBhvr>
                                      <p:to>
                                        <a:srgbClr val="4D4D4D"/>
                                      </p:to>
                                    </p:animClr>
                                  </p:childTnLst>
                                </p:cTn>
                              </p:par>
                            </p:childTnLst>
                          </p:cTn>
                        </p:par>
                      </p:childTnLst>
                    </p:cTn>
                  </p:par>
                  <p:par>
                    <p:cTn id="29" fill="hold">
                      <p:stCondLst>
                        <p:cond delay="indefinite"/>
                      </p:stCondLst>
                      <p:childTnLst>
                        <p:par>
                          <p:cTn id="30" fill="hold">
                            <p:stCondLst>
                              <p:cond delay="0"/>
                            </p:stCondLst>
                            <p:childTnLst>
                              <p:par>
                                <p:cTn id="31" presetID="3" presetClass="emph" presetSubtype="2" fill="hold" grpId="0" nodeType="clickEffect">
                                  <p:stCondLst>
                                    <p:cond delay="0"/>
                                  </p:stCondLst>
                                  <p:childTnLst>
                                    <p:animClr clrSpc="rgb" dir="cw">
                                      <p:cBhvr override="childStyle">
                                        <p:cTn id="32" dur="500" fill="hold"/>
                                        <p:tgtEl>
                                          <p:spTgt spid="2">
                                            <p:txEl>
                                              <p:pRg st="5" end="5"/>
                                            </p:txEl>
                                          </p:spTgt>
                                        </p:tgtEl>
                                        <p:attrNameLst>
                                          <p:attrName>style.color</p:attrName>
                                        </p:attrNameLst>
                                      </p:cBhvr>
                                      <p:to>
                                        <a:srgbClr val="FF0000"/>
                                      </p:to>
                                    </p:animClr>
                                  </p:childTnLst>
                                  <p:subTnLst>
                                    <p:audio>
                                      <p:cMediaNode>
                                        <p:cTn display="0" masterRel="sameClick">
                                          <p:stCondLst>
                                            <p:cond evt="begin" delay="0">
                                              <p:tn val="31"/>
                                            </p:cond>
                                          </p:stCondLst>
                                          <p:endCondLst>
                                            <p:cond evt="onStopAudio" delay="0">
                                              <p:tgtEl>
                                                <p:sldTgt/>
                                              </p:tgtEl>
                                            </p:cond>
                                          </p:endCondLst>
                                        </p:cTn>
                                        <p:tgtEl>
                                          <p:sndTgt r:embed="rId3" name="type.wav"/>
                                        </p:tgtEl>
                                      </p:cMediaNode>
                                    </p:audio>
                                  </p:subTnLst>
                                </p:cTn>
                              </p:par>
                            </p:childTnLst>
                          </p:cTn>
                        </p:par>
                      </p:childTnLst>
                    </p:cTn>
                  </p:par>
                  <p:par>
                    <p:cTn id="33" fill="hold">
                      <p:stCondLst>
                        <p:cond delay="indefinite"/>
                      </p:stCondLst>
                      <p:childTnLst>
                        <p:par>
                          <p:cTn id="34" fill="hold">
                            <p:stCondLst>
                              <p:cond delay="0"/>
                            </p:stCondLst>
                            <p:childTnLst>
                              <p:par>
                                <p:cTn id="35" presetID="3" presetClass="emph" presetSubtype="2" fill="hold" grpId="0" nodeType="clickEffect">
                                  <p:stCondLst>
                                    <p:cond delay="0"/>
                                  </p:stCondLst>
                                  <p:childTnLst>
                                    <p:animClr clrSpc="rgb" dir="cw">
                                      <p:cBhvr override="childStyle">
                                        <p:cTn id="36" dur="500" fill="hold"/>
                                        <p:tgtEl>
                                          <p:spTgt spid="2">
                                            <p:txEl>
                                              <p:pRg st="6" end="6"/>
                                            </p:txEl>
                                          </p:spTgt>
                                        </p:tgtEl>
                                        <p:attrNameLst>
                                          <p:attrName>style.color</p:attrName>
                                        </p:attrNameLst>
                                      </p:cBhvr>
                                      <p:to>
                                        <a:srgbClr val="FF0000"/>
                                      </p:to>
                                    </p:animClr>
                                  </p:childTnLst>
                                  <p:subTnLst>
                                    <p:audio>
                                      <p:cMediaNode>
                                        <p:cTn display="0" masterRel="sameClick">
                                          <p:stCondLst>
                                            <p:cond evt="begin" delay="0">
                                              <p:tn val="35"/>
                                            </p:cond>
                                          </p:stCondLst>
                                          <p:endCondLst>
                                            <p:cond evt="onStopAudio" delay="0">
                                              <p:tgtEl>
                                                <p:sldTgt/>
                                              </p:tgtEl>
                                            </p:cond>
                                          </p:endCondLst>
                                        </p:cTn>
                                        <p:tgtEl>
                                          <p:sndTgt r:embed="rId3" name="type.wav"/>
                                        </p:tgtEl>
                                      </p:cMediaNode>
                                    </p:audio>
                                  </p:subTnLst>
                                </p:cTn>
                              </p:par>
                              <p:par>
                                <p:cTn id="37" presetID="3" presetClass="emph" presetSubtype="2" fill="hold" grpId="1" nodeType="withEffect">
                                  <p:stCondLst>
                                    <p:cond delay="0"/>
                                  </p:stCondLst>
                                  <p:childTnLst>
                                    <p:animClr clrSpc="rgb" dir="cw">
                                      <p:cBhvr override="childStyle">
                                        <p:cTn id="38" dur="2000" fill="hold"/>
                                        <p:tgtEl>
                                          <p:spTgt spid="2">
                                            <p:txEl>
                                              <p:pRg st="5" end="5"/>
                                            </p:txEl>
                                          </p:spTgt>
                                        </p:tgtEl>
                                        <p:attrNameLst>
                                          <p:attrName>style.color</p:attrName>
                                        </p:attrNameLst>
                                      </p:cBhvr>
                                      <p:to>
                                        <a:srgbClr val="4D4D4D"/>
                                      </p:to>
                                    </p:animClr>
                                  </p:childTnLst>
                                </p:cTn>
                              </p:par>
                            </p:childTnLst>
                          </p:cTn>
                        </p:par>
                      </p:childTnLst>
                    </p:cTn>
                  </p:par>
                  <p:par>
                    <p:cTn id="39" fill="hold">
                      <p:stCondLst>
                        <p:cond delay="indefinite"/>
                      </p:stCondLst>
                      <p:childTnLst>
                        <p:par>
                          <p:cTn id="40" fill="hold">
                            <p:stCondLst>
                              <p:cond delay="0"/>
                            </p:stCondLst>
                            <p:childTnLst>
                              <p:par>
                                <p:cTn id="41" presetID="3" presetClass="emph" presetSubtype="2" fill="hold" grpId="0" nodeType="clickEffect">
                                  <p:stCondLst>
                                    <p:cond delay="0"/>
                                  </p:stCondLst>
                                  <p:childTnLst>
                                    <p:animClr clrSpc="rgb" dir="cw">
                                      <p:cBhvr override="childStyle">
                                        <p:cTn id="42" dur="500" fill="hold"/>
                                        <p:tgtEl>
                                          <p:spTgt spid="2">
                                            <p:txEl>
                                              <p:pRg st="7" end="7"/>
                                            </p:txEl>
                                          </p:spTgt>
                                        </p:tgtEl>
                                        <p:attrNameLst>
                                          <p:attrName>style.color</p:attrName>
                                        </p:attrNameLst>
                                      </p:cBhvr>
                                      <p:to>
                                        <a:srgbClr val="FF0000"/>
                                      </p:to>
                                    </p:animClr>
                                  </p:childTnLst>
                                  <p:subTnLst>
                                    <p:audio>
                                      <p:cMediaNode>
                                        <p:cTn display="0" masterRel="sameClick">
                                          <p:stCondLst>
                                            <p:cond evt="begin" delay="0">
                                              <p:tn val="41"/>
                                            </p:cond>
                                          </p:stCondLst>
                                          <p:endCondLst>
                                            <p:cond evt="onStopAudio" delay="0">
                                              <p:tgtEl>
                                                <p:sldTgt/>
                                              </p:tgtEl>
                                            </p:cond>
                                          </p:endCondLst>
                                        </p:cTn>
                                        <p:tgtEl>
                                          <p:sndTgt r:embed="rId3" name="type.wav"/>
                                        </p:tgtEl>
                                      </p:cMediaNode>
                                    </p:audio>
                                  </p:subTnLst>
                                </p:cTn>
                              </p:par>
                              <p:par>
                                <p:cTn id="43" presetID="3" presetClass="emph" presetSubtype="2" fill="hold" grpId="1" nodeType="withEffect">
                                  <p:stCondLst>
                                    <p:cond delay="0"/>
                                  </p:stCondLst>
                                  <p:childTnLst>
                                    <p:animClr clrSpc="rgb" dir="cw">
                                      <p:cBhvr override="childStyle">
                                        <p:cTn id="44" dur="2000" fill="hold"/>
                                        <p:tgtEl>
                                          <p:spTgt spid="2">
                                            <p:txEl>
                                              <p:pRg st="6" end="6"/>
                                            </p:txEl>
                                          </p:spTgt>
                                        </p:tgtEl>
                                        <p:attrNameLst>
                                          <p:attrName>style.color</p:attrName>
                                        </p:attrNameLst>
                                      </p:cBhvr>
                                      <p:to>
                                        <a:srgbClr val="4D4D4D"/>
                                      </p:to>
                                    </p:animClr>
                                  </p:childTnLst>
                                </p:cTn>
                              </p:par>
                            </p:childTnLst>
                          </p:cTn>
                        </p:par>
                      </p:childTnLst>
                    </p:cTn>
                  </p:par>
                  <p:par>
                    <p:cTn id="45" fill="hold">
                      <p:stCondLst>
                        <p:cond delay="indefinite"/>
                      </p:stCondLst>
                      <p:childTnLst>
                        <p:par>
                          <p:cTn id="46" fill="hold">
                            <p:stCondLst>
                              <p:cond delay="0"/>
                            </p:stCondLst>
                            <p:childTnLst>
                              <p:par>
                                <p:cTn id="47" presetID="3" presetClass="emph" presetSubtype="2" fill="hold" grpId="0" nodeType="clickEffect">
                                  <p:stCondLst>
                                    <p:cond delay="0"/>
                                  </p:stCondLst>
                                  <p:childTnLst>
                                    <p:animClr clrSpc="rgb" dir="cw">
                                      <p:cBhvr override="childStyle">
                                        <p:cTn id="48"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47"/>
                                            </p:cond>
                                          </p:stCondLst>
                                          <p:endCondLst>
                                            <p:cond evt="onStopAudio" delay="0">
                                              <p:tgtEl>
                                                <p:sldTgt/>
                                              </p:tgtEl>
                                            </p:cond>
                                          </p:endCondLst>
                                        </p:cTn>
                                        <p:tgtEl>
                                          <p:sndTgt r:embed="rId3" name="type.wav"/>
                                        </p:tgtEl>
                                      </p:cMediaNode>
                                    </p:audio>
                                  </p:subTnLst>
                                </p:cTn>
                              </p:par>
                              <p:par>
                                <p:cTn id="49" presetID="3" presetClass="emph" presetSubtype="2" fill="hold" grpId="1" nodeType="withEffect">
                                  <p:stCondLst>
                                    <p:cond delay="0"/>
                                  </p:stCondLst>
                                  <p:childTnLst>
                                    <p:animClr clrSpc="rgb" dir="cw">
                                      <p:cBhvr override="childStyle">
                                        <p:cTn id="50" dur="2000" fill="hold"/>
                                        <p:tgtEl>
                                          <p:spTgt spid="2">
                                            <p:txEl>
                                              <p:pRg st="7" end="7"/>
                                            </p:txEl>
                                          </p:spTgt>
                                        </p:tgtEl>
                                        <p:attrNameLst>
                                          <p:attrName>style.color</p:attrName>
                                        </p:attrNameLst>
                                      </p:cBhvr>
                                      <p:to>
                                        <a:srgbClr val="4D4D4D"/>
                                      </p:to>
                                    </p:animClr>
                                  </p:childTnLst>
                                </p:cTn>
                              </p:par>
                            </p:childTnLst>
                          </p:cTn>
                        </p:par>
                      </p:childTnLst>
                    </p:cTn>
                  </p:par>
                  <p:par>
                    <p:cTn id="51" fill="hold">
                      <p:stCondLst>
                        <p:cond delay="indefinite"/>
                      </p:stCondLst>
                      <p:childTnLst>
                        <p:par>
                          <p:cTn id="52" fill="hold">
                            <p:stCondLst>
                              <p:cond delay="0"/>
                            </p:stCondLst>
                            <p:childTnLst>
                              <p:par>
                                <p:cTn id="53" presetID="3" presetClass="emph" presetSubtype="2" fill="hold" grpId="0" nodeType="clickEffect">
                                  <p:stCondLst>
                                    <p:cond delay="0"/>
                                  </p:stCondLst>
                                  <p:childTnLst>
                                    <p:animClr clrSpc="rgb" dir="cw">
                                      <p:cBhvr override="childStyle">
                                        <p:cTn id="54"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53"/>
                                            </p:cond>
                                          </p:stCondLst>
                                          <p:endCondLst>
                                            <p:cond evt="onStopAudio" delay="0">
                                              <p:tgtEl>
                                                <p:sldTgt/>
                                              </p:tgtEl>
                                            </p:cond>
                                          </p:endCondLst>
                                        </p:cTn>
                                        <p:tgtEl>
                                          <p:sndTgt r:embed="rId3" name="type.wav"/>
                                        </p:tgtEl>
                                      </p:cMediaNode>
                                    </p:audio>
                                  </p:subTnLst>
                                </p:cTn>
                              </p:par>
                              <p:par>
                                <p:cTn id="55" presetID="3" presetClass="emph" presetSubtype="2" fill="hold" grpId="0" nodeType="withEffect">
                                  <p:stCondLst>
                                    <p:cond delay="0"/>
                                  </p:stCondLst>
                                  <p:childTnLst>
                                    <p:animClr clrSpc="rgb" dir="cw">
                                      <p:cBhvr override="childStyle">
                                        <p:cTn id="56"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55"/>
                                            </p:cond>
                                          </p:stCondLst>
                                          <p:endCondLst>
                                            <p:cond evt="onStopAudio" delay="0">
                                              <p:tgtEl>
                                                <p:sldTgt/>
                                              </p:tgtEl>
                                            </p:cond>
                                          </p:endCondLst>
                                        </p:cTn>
                                        <p:tgtEl>
                                          <p:sndTgt r:embed="rId3" name="type.wav"/>
                                        </p:tgtEl>
                                      </p:cMediaNode>
                                    </p:audio>
                                  </p:subTnLst>
                                </p:cTn>
                              </p:par>
                              <p:par>
                                <p:cTn id="57" presetID="3" presetClass="emph" presetSubtype="2" fill="hold" grpId="0" nodeType="withEffect">
                                  <p:stCondLst>
                                    <p:cond delay="0"/>
                                  </p:stCondLst>
                                  <p:childTnLst>
                                    <p:animClr clrSpc="rgb" dir="cw">
                                      <p:cBhvr override="childStyle">
                                        <p:cTn id="58"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57"/>
                                            </p:cond>
                                          </p:stCondLst>
                                          <p:endCondLst>
                                            <p:cond evt="onStopAudio" delay="0">
                                              <p:tgtEl>
                                                <p:sldTgt/>
                                              </p:tgtEl>
                                            </p:cond>
                                          </p:endCondLst>
                                        </p:cTn>
                                        <p:tgtEl>
                                          <p:sndTgt r:embed="rId3" name="type.wav"/>
                                        </p:tgtEl>
                                      </p:cMediaNode>
                                    </p:audio>
                                  </p:subTnLst>
                                </p:cTn>
                              </p:par>
                              <p:par>
                                <p:cTn id="59" presetID="3" presetClass="emph" presetSubtype="2" fill="hold" grpId="0" nodeType="withEffect">
                                  <p:stCondLst>
                                    <p:cond delay="0"/>
                                  </p:stCondLst>
                                  <p:childTnLst>
                                    <p:animClr clrSpc="rgb" dir="cw">
                                      <p:cBhvr override="childStyle">
                                        <p:cTn id="60"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59"/>
                                            </p:cond>
                                          </p:stCondLst>
                                          <p:endCondLst>
                                            <p:cond evt="onStopAudio" delay="0">
                                              <p:tgtEl>
                                                <p:sldTgt/>
                                              </p:tgtEl>
                                            </p:cond>
                                          </p:endCondLst>
                                        </p:cTn>
                                        <p:tgtEl>
                                          <p:sndTgt r:embed="rId3" name="type.wav"/>
                                        </p:tgtEl>
                                      </p:cMediaNode>
                                    </p:audio>
                                  </p:subTnLst>
                                </p:cTn>
                              </p:par>
                              <p:par>
                                <p:cTn id="61" presetID="3" presetClass="emph" presetSubtype="2" fill="hold" grpId="1" nodeType="withEffect">
                                  <p:stCondLst>
                                    <p:cond delay="0"/>
                                  </p:stCondLst>
                                  <p:childTnLst>
                                    <p:animClr clrSpc="rgb" dir="cw">
                                      <p:cBhvr override="childStyle">
                                        <p:cTn id="62" dur="2000" fill="hold"/>
                                        <p:tgtEl>
                                          <p:spTgt spid="2">
                                            <p:txEl>
                                              <p:pRg st="8" end="8"/>
                                            </p:txEl>
                                          </p:spTgt>
                                        </p:tgtEl>
                                        <p:attrNameLst>
                                          <p:attrName>style.color</p:attrName>
                                        </p:attrNameLst>
                                      </p:cBhvr>
                                      <p:to>
                                        <a:srgbClr val="4D4D4D"/>
                                      </p:to>
                                    </p:animClr>
                                  </p:childTnLst>
                                </p:cTn>
                              </p:par>
                              <p:par>
                                <p:cTn id="63" presetID="3" presetClass="emph" presetSubtype="2" fill="hold" grpId="1" nodeType="withEffect">
                                  <p:stCondLst>
                                    <p:cond delay="0"/>
                                  </p:stCondLst>
                                  <p:childTnLst>
                                    <p:animClr clrSpc="rgb" dir="cw">
                                      <p:cBhvr override="childStyle">
                                        <p:cTn id="64" dur="2000" fill="hold"/>
                                        <p:tgtEl>
                                          <p:spTgt spid="2">
                                            <p:txEl>
                                              <p:pRg st="9" end="9"/>
                                            </p:txEl>
                                          </p:spTgt>
                                        </p:tgtEl>
                                        <p:attrNameLst>
                                          <p:attrName>style.color</p:attrName>
                                        </p:attrNameLst>
                                      </p:cBhvr>
                                      <p:to>
                                        <a:srgbClr val="4D4D4D"/>
                                      </p:to>
                                    </p:animClr>
                                  </p:childTnLst>
                                </p:cTn>
                              </p:par>
                              <p:par>
                                <p:cTn id="65" presetID="3" presetClass="emph" presetSubtype="2" fill="hold" grpId="1" nodeType="withEffect">
                                  <p:stCondLst>
                                    <p:cond delay="0"/>
                                  </p:stCondLst>
                                  <p:childTnLst>
                                    <p:animClr clrSpc="rgb" dir="cw">
                                      <p:cBhvr override="childStyle">
                                        <p:cTn id="66" dur="2000" fill="hold"/>
                                        <p:tgtEl>
                                          <p:spTgt spid="2">
                                            <p:txEl>
                                              <p:pRg st="10" end="10"/>
                                            </p:txEl>
                                          </p:spTgt>
                                        </p:tgtEl>
                                        <p:attrNameLst>
                                          <p:attrName>style.color</p:attrName>
                                        </p:attrNameLst>
                                      </p:cBhvr>
                                      <p:to>
                                        <a:srgbClr val="4D4D4D"/>
                                      </p:to>
                                    </p:animClr>
                                  </p:childTnLst>
                                </p:cTn>
                              </p:par>
                              <p:par>
                                <p:cTn id="67" presetID="3" presetClass="emph" presetSubtype="2" fill="hold" grpId="1" nodeType="withEffect">
                                  <p:stCondLst>
                                    <p:cond delay="0"/>
                                  </p:stCondLst>
                                  <p:childTnLst>
                                    <p:animClr clrSpc="rgb" dir="cw">
                                      <p:cBhvr override="childStyle">
                                        <p:cTn id="68" dur="2000" fill="hold"/>
                                        <p:tgtEl>
                                          <p:spTgt spid="2">
                                            <p:txEl>
                                              <p:pRg st="11" end="11"/>
                                            </p:txEl>
                                          </p:spTgt>
                                        </p:tgtEl>
                                        <p:attrNameLst>
                                          <p:attrName>style.color</p:attrName>
                                        </p:attrNameLst>
                                      </p:cBhvr>
                                      <p:to>
                                        <a:srgbClr val="4D4D4D"/>
                                      </p:to>
                                    </p:animClr>
                                  </p:childTnLst>
                                </p:cTn>
                              </p:par>
                              <p:par>
                                <p:cTn id="69" presetID="3" presetClass="emph" presetSubtype="2" fill="hold" grpId="1" nodeType="withEffect">
                                  <p:stCondLst>
                                    <p:cond delay="0"/>
                                  </p:stCondLst>
                                  <p:childTnLst>
                                    <p:animClr clrSpc="rgb" dir="cw">
                                      <p:cBhvr override="childStyle">
                                        <p:cTn id="70" dur="2000" fill="hold"/>
                                        <p:tgtEl>
                                          <p:spTgt spid="2">
                                            <p:txEl>
                                              <p:pRg st="12" end="12"/>
                                            </p:txEl>
                                          </p:spTgt>
                                        </p:tgtEl>
                                        <p:attrNameLst>
                                          <p:attrName>style.color</p:attrName>
                                        </p:attrNameLst>
                                      </p:cBhvr>
                                      <p:to>
                                        <a:srgbClr val="4D4D4D"/>
                                      </p:to>
                                    </p:animClr>
                                  </p:childTnLst>
                                </p:cTn>
                              </p:par>
                              <p:par>
                                <p:cTn id="71" presetID="3" presetClass="emph" presetSubtype="2" fill="hold" grpId="0" nodeType="withEffect">
                                  <p:stCondLst>
                                    <p:cond delay="0"/>
                                  </p:stCondLst>
                                  <p:childTnLst>
                                    <p:animClr clrSpc="rgb" dir="cw">
                                      <p:cBhvr override="childStyle">
                                        <p:cTn id="72" dur="500" fill="hold"/>
                                        <p:tgtEl>
                                          <p:spTgt spid="2">
                                            <p:txEl>
                                              <p:pRg st="13" end="13"/>
                                            </p:txEl>
                                          </p:spTgt>
                                        </p:tgtEl>
                                        <p:attrNameLst>
                                          <p:attrName>style.color</p:attrName>
                                        </p:attrNameLst>
                                      </p:cBhvr>
                                      <p:to>
                                        <a:srgbClr val="FF0000"/>
                                      </p:to>
                                    </p:animClr>
                                  </p:childTnLst>
                                  <p:subTnLst>
                                    <p:audio>
                                      <p:cMediaNode>
                                        <p:cTn display="0" masterRel="sameClick">
                                          <p:stCondLst>
                                            <p:cond evt="begin" delay="0">
                                              <p:tn val="71"/>
                                            </p:cond>
                                          </p:stCondLst>
                                          <p:endCondLst>
                                            <p:cond evt="onStopAudio" delay="0">
                                              <p:tgtEl>
                                                <p:sldTgt/>
                                              </p:tgtEl>
                                            </p:cond>
                                          </p:endCondLst>
                                        </p:cTn>
                                        <p:tgtEl>
                                          <p:sndTgt r:embed="rId3" name="type.wav"/>
                                        </p:tgtEl>
                                      </p:cMediaNode>
                                    </p:audio>
                                  </p:subTnLst>
                                </p:cTn>
                              </p:par>
                              <p:par>
                                <p:cTn id="73" presetID="3" presetClass="emph" presetSubtype="2" fill="hold" grpId="0" nodeType="withEffect">
                                  <p:stCondLst>
                                    <p:cond delay="0"/>
                                  </p:stCondLst>
                                  <p:childTnLst>
                                    <p:animClr clrSpc="rgb" dir="cw">
                                      <p:cBhvr override="childStyle">
                                        <p:cTn id="74" dur="500" fill="hold"/>
                                        <p:tgtEl>
                                          <p:spTgt spid="2">
                                            <p:txEl>
                                              <p:pRg st="14" end="14"/>
                                            </p:txEl>
                                          </p:spTgt>
                                        </p:tgtEl>
                                        <p:attrNameLst>
                                          <p:attrName>style.color</p:attrName>
                                        </p:attrNameLst>
                                      </p:cBhvr>
                                      <p:to>
                                        <a:srgbClr val="FF0000"/>
                                      </p:to>
                                    </p:animClr>
                                  </p:childTnLst>
                                  <p:subTnLst>
                                    <p:audio>
                                      <p:cMediaNode>
                                        <p:cTn display="0" masterRel="sameClick">
                                          <p:stCondLst>
                                            <p:cond evt="begin" delay="0">
                                              <p:tn val="73"/>
                                            </p:cond>
                                          </p:stCondLst>
                                          <p:endCondLst>
                                            <p:cond evt="onStopAudio" delay="0">
                                              <p:tgtEl>
                                                <p:sldTgt/>
                                              </p:tgtEl>
                                            </p:cond>
                                          </p:endCondLst>
                                        </p:cTn>
                                        <p:tgtEl>
                                          <p:sndTgt r:embed="rId3" name="type.wav"/>
                                        </p:tgtEl>
                                      </p:cMediaNode>
                                    </p:audio>
                                  </p:subTnLst>
                                </p:cTn>
                              </p:par>
                              <p:par>
                                <p:cTn id="75" presetID="3" presetClass="emph" presetSubtype="2" fill="hold" grpId="1" nodeType="withEffect">
                                  <p:stCondLst>
                                    <p:cond delay="0"/>
                                  </p:stCondLst>
                                  <p:childTnLst>
                                    <p:animClr clrSpc="rgb" dir="cw">
                                      <p:cBhvr override="childStyle">
                                        <p:cTn id="76" dur="2000" fill="hold"/>
                                        <p:tgtEl>
                                          <p:spTgt spid="2">
                                            <p:txEl>
                                              <p:pRg st="13" end="13"/>
                                            </p:txEl>
                                          </p:spTgt>
                                        </p:tgtEl>
                                        <p:attrNameLst>
                                          <p:attrName>style.color</p:attrName>
                                        </p:attrNameLst>
                                      </p:cBhvr>
                                      <p:to>
                                        <a:srgbClr val="4D4D4D"/>
                                      </p:to>
                                    </p:animClr>
                                  </p:childTnLst>
                                </p:cTn>
                              </p:par>
                              <p:par>
                                <p:cTn id="77" presetID="3" presetClass="emph" presetSubtype="2" fill="hold" grpId="1" nodeType="withEffect">
                                  <p:stCondLst>
                                    <p:cond delay="0"/>
                                  </p:stCondLst>
                                  <p:childTnLst>
                                    <p:animClr clrSpc="rgb" dir="cw">
                                      <p:cBhvr override="childStyle">
                                        <p:cTn id="78" dur="2000" fill="hold"/>
                                        <p:tgtEl>
                                          <p:spTgt spid="2">
                                            <p:txEl>
                                              <p:pRg st="14" end="14"/>
                                            </p:txEl>
                                          </p:spTgt>
                                        </p:tgtEl>
                                        <p:attrNameLst>
                                          <p:attrName>style.color</p:attrName>
                                        </p:attrNameLst>
                                      </p:cBhvr>
                                      <p:to>
                                        <a:srgbClr val="4D4D4D"/>
                                      </p:to>
                                    </p:animClr>
                                  </p:childTnLst>
                                </p:cTn>
                              </p:par>
                            </p:childTnLst>
                          </p:cTn>
                        </p:par>
                      </p:childTnLst>
                    </p:cTn>
                  </p:par>
                  <p:par>
                    <p:cTn id="79" fill="hold">
                      <p:stCondLst>
                        <p:cond delay="indefinite"/>
                      </p:stCondLst>
                      <p:childTnLst>
                        <p:par>
                          <p:cTn id="80" fill="hold">
                            <p:stCondLst>
                              <p:cond delay="0"/>
                            </p:stCondLst>
                            <p:childTnLst>
                              <p:par>
                                <p:cTn id="81" presetID="1" presetClass="exit" presetSubtype="0" fill="hold" grpId="2" nodeType="clickEffect">
                                  <p:stCondLst>
                                    <p:cond delay="0"/>
                                  </p:stCondLst>
                                  <p:childTnLst>
                                    <p:set>
                                      <p:cBhvr>
                                        <p:cTn id="82" dur="1" fill="hold">
                                          <p:stCondLst>
                                            <p:cond delay="0"/>
                                          </p:stCondLst>
                                        </p:cTn>
                                        <p:tgtEl>
                                          <p:spTgt spid="2">
                                            <p:bg/>
                                          </p:spTgt>
                                        </p:tgtEl>
                                        <p:attrNameLst>
                                          <p:attrName>style.visibility</p:attrName>
                                        </p:attrNameLst>
                                      </p:cBhvr>
                                      <p:to>
                                        <p:strVal val="hidden"/>
                                      </p:to>
                                    </p:set>
                                  </p:childTnLst>
                                </p:cTn>
                              </p:par>
                            </p:childTnLst>
                          </p:cTn>
                        </p:par>
                      </p:childTnLst>
                    </p:cTn>
                  </p:par>
                  <p:par>
                    <p:cTn id="83" fill="hold">
                      <p:stCondLst>
                        <p:cond delay="indefinite"/>
                      </p:stCondLst>
                      <p:childTnLst>
                        <p:par>
                          <p:cTn id="84" fill="hold">
                            <p:stCondLst>
                              <p:cond delay="0"/>
                            </p:stCondLst>
                            <p:childTnLst>
                              <p:par>
                                <p:cTn id="85" presetID="3" presetClass="emph" presetSubtype="2" fill="hold" grpId="0" nodeType="clickEffect">
                                  <p:stCondLst>
                                    <p:cond delay="0"/>
                                  </p:stCondLst>
                                  <p:childTnLst>
                                    <p:animClr clrSpc="rgb" dir="cw">
                                      <p:cBhvr override="childStyle">
                                        <p:cTn id="86"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85"/>
                                            </p:cond>
                                          </p:stCondLst>
                                          <p:endCondLst>
                                            <p:cond evt="onStopAudio" delay="0">
                                              <p:tgtEl>
                                                <p:sldTgt/>
                                              </p:tgtEl>
                                            </p:cond>
                                          </p:endCondLst>
                                        </p:cTn>
                                        <p:tgtEl>
                                          <p:sndTgt r:embed="rId3" name="type.wav"/>
                                        </p:tgtEl>
                                      </p:cMediaNode>
                                    </p:audio>
                                  </p:subTnLst>
                                </p:cTn>
                              </p:par>
                            </p:childTnLst>
                          </p:cTn>
                        </p:par>
                      </p:childTnLst>
                    </p:cTn>
                  </p:par>
                  <p:par>
                    <p:cTn id="87" fill="hold">
                      <p:stCondLst>
                        <p:cond delay="indefinite"/>
                      </p:stCondLst>
                      <p:childTnLst>
                        <p:par>
                          <p:cTn id="88" fill="hold">
                            <p:stCondLst>
                              <p:cond delay="0"/>
                            </p:stCondLst>
                            <p:childTnLst>
                              <p:par>
                                <p:cTn id="89" presetID="3" presetClass="emph" presetSubtype="2" fill="hold" grpId="0" nodeType="clickEffect">
                                  <p:stCondLst>
                                    <p:cond delay="0"/>
                                  </p:stCondLst>
                                  <p:childTnLst>
                                    <p:animClr clrSpc="rgb" dir="cw">
                                      <p:cBhvr override="childStyle">
                                        <p:cTn id="90"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89"/>
                                            </p:cond>
                                          </p:stCondLst>
                                          <p:endCondLst>
                                            <p:cond evt="onStopAudio" delay="0">
                                              <p:tgtEl>
                                                <p:sldTgt/>
                                              </p:tgtEl>
                                            </p:cond>
                                          </p:endCondLst>
                                        </p:cTn>
                                        <p:tgtEl>
                                          <p:sndTgt r:embed="rId3" name="type.wav"/>
                                        </p:tgtEl>
                                      </p:cMediaNode>
                                    </p:audio>
                                  </p:subTnLst>
                                </p:cTn>
                              </p:par>
                              <p:par>
                                <p:cTn id="91" presetID="3" presetClass="emph" presetSubtype="2" fill="hold" grpId="0" nodeType="withEffect">
                                  <p:stCondLst>
                                    <p:cond delay="0"/>
                                  </p:stCondLst>
                                  <p:childTnLst>
                                    <p:animClr clrSpc="rgb" dir="cw">
                                      <p:cBhvr override="childStyle">
                                        <p:cTn id="92"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91"/>
                                            </p:cond>
                                          </p:stCondLst>
                                          <p:endCondLst>
                                            <p:cond evt="onStopAudio" delay="0">
                                              <p:tgtEl>
                                                <p:sldTgt/>
                                              </p:tgtEl>
                                            </p:cond>
                                          </p:endCondLst>
                                        </p:cTn>
                                        <p:tgtEl>
                                          <p:sndTgt r:embed="rId3" name="type.wav"/>
                                        </p:tgtEl>
                                      </p:cMediaNode>
                                    </p:audio>
                                  </p:subTnLst>
                                </p:cTn>
                              </p:par>
                              <p:par>
                                <p:cTn id="93" presetID="3" presetClass="emph" presetSubtype="2" fill="hold" grpId="0" nodeType="withEffect">
                                  <p:stCondLst>
                                    <p:cond delay="0"/>
                                  </p:stCondLst>
                                  <p:childTnLst>
                                    <p:animClr clrSpc="rgb" dir="cw">
                                      <p:cBhvr override="childStyle">
                                        <p:cTn id="94"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93"/>
                                            </p:cond>
                                          </p:stCondLst>
                                          <p:endCondLst>
                                            <p:cond evt="onStopAudio" delay="0">
                                              <p:tgtEl>
                                                <p:sldTgt/>
                                              </p:tgtEl>
                                            </p:cond>
                                          </p:endCondLst>
                                        </p:cTn>
                                        <p:tgtEl>
                                          <p:sndTgt r:embed="rId3" name="type.wav"/>
                                        </p:tgtEl>
                                      </p:cMediaNode>
                                    </p:audio>
                                  </p:subTnLst>
                                </p:cTn>
                              </p:par>
                              <p:par>
                                <p:cTn id="95" presetID="3" presetClass="emph" presetSubtype="2" fill="hold" grpId="0" nodeType="withEffect">
                                  <p:stCondLst>
                                    <p:cond delay="0"/>
                                  </p:stCondLst>
                                  <p:childTnLst>
                                    <p:animClr clrSpc="rgb" dir="cw">
                                      <p:cBhvr override="childStyle">
                                        <p:cTn id="96"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95"/>
                                            </p:cond>
                                          </p:stCondLst>
                                          <p:endCondLst>
                                            <p:cond evt="onStopAudio" delay="0">
                                              <p:tgtEl>
                                                <p:sldTgt/>
                                              </p:tgtEl>
                                            </p:cond>
                                          </p:endCondLst>
                                        </p:cTn>
                                        <p:tgtEl>
                                          <p:sndTgt r:embed="rId3" name="type.wav"/>
                                        </p:tgtEl>
                                      </p:cMediaNode>
                                    </p:audio>
                                  </p:subTnLst>
                                </p:cTn>
                              </p:par>
                              <p:par>
                                <p:cTn id="97" presetID="3" presetClass="emph" presetSubtype="2" fill="hold" grpId="1" nodeType="withEffect">
                                  <p:stCondLst>
                                    <p:cond delay="0"/>
                                  </p:stCondLst>
                                  <p:childTnLst>
                                    <p:animClr clrSpc="rgb" dir="cw">
                                      <p:cBhvr override="childStyle">
                                        <p:cTn id="98" dur="2000" fill="hold"/>
                                        <p:tgtEl>
                                          <p:spTgt spid="2">
                                            <p:txEl>
                                              <p:pRg st="7" end="7"/>
                                            </p:txEl>
                                          </p:spTgt>
                                        </p:tgtEl>
                                        <p:attrNameLst>
                                          <p:attrName>style.color</p:attrName>
                                        </p:attrNameLst>
                                      </p:cBhvr>
                                      <p:to>
                                        <a:srgbClr val="4D4D4D"/>
                                      </p:to>
                                    </p:animClr>
                                  </p:childTnLst>
                                </p:cTn>
                              </p:par>
                              <p:par>
                                <p:cTn id="99" presetID="3" presetClass="emph" presetSubtype="2" fill="hold" grpId="1" nodeType="withEffect">
                                  <p:stCondLst>
                                    <p:cond delay="0"/>
                                  </p:stCondLst>
                                  <p:childTnLst>
                                    <p:animClr clrSpc="rgb" dir="cw">
                                      <p:cBhvr override="childStyle">
                                        <p:cTn id="100" dur="2000" fill="hold"/>
                                        <p:tgtEl>
                                          <p:spTgt spid="2">
                                            <p:txEl>
                                              <p:pRg st="9" end="9"/>
                                            </p:txEl>
                                          </p:spTgt>
                                        </p:tgtEl>
                                        <p:attrNameLst>
                                          <p:attrName>style.color</p:attrName>
                                        </p:attrNameLst>
                                      </p:cBhvr>
                                      <p:to>
                                        <a:srgbClr val="4D4D4D"/>
                                      </p:to>
                                    </p:animClr>
                                  </p:childTnLst>
                                </p:cTn>
                              </p:par>
                              <p:par>
                                <p:cTn id="101" presetID="3" presetClass="emph" presetSubtype="2" fill="hold" grpId="1" nodeType="withEffect">
                                  <p:stCondLst>
                                    <p:cond delay="0"/>
                                  </p:stCondLst>
                                  <p:childTnLst>
                                    <p:animClr clrSpc="rgb" dir="cw">
                                      <p:cBhvr override="childStyle">
                                        <p:cTn id="102" dur="2000" fill="hold"/>
                                        <p:tgtEl>
                                          <p:spTgt spid="2">
                                            <p:txEl>
                                              <p:pRg st="10" end="10"/>
                                            </p:txEl>
                                          </p:spTgt>
                                        </p:tgtEl>
                                        <p:attrNameLst>
                                          <p:attrName>style.color</p:attrName>
                                        </p:attrNameLst>
                                      </p:cBhvr>
                                      <p:to>
                                        <a:srgbClr val="4D4D4D"/>
                                      </p:to>
                                    </p:animClr>
                                  </p:childTnLst>
                                </p:cTn>
                              </p:par>
                              <p:par>
                                <p:cTn id="103" presetID="3" presetClass="emph" presetSubtype="2" fill="hold" grpId="1" nodeType="withEffect">
                                  <p:stCondLst>
                                    <p:cond delay="0"/>
                                  </p:stCondLst>
                                  <p:childTnLst>
                                    <p:animClr clrSpc="rgb" dir="cw">
                                      <p:cBhvr override="childStyle">
                                        <p:cTn id="104" dur="2000" fill="hold"/>
                                        <p:tgtEl>
                                          <p:spTgt spid="2">
                                            <p:txEl>
                                              <p:pRg st="11" end="11"/>
                                            </p:txEl>
                                          </p:spTgt>
                                        </p:tgtEl>
                                        <p:attrNameLst>
                                          <p:attrName>style.color</p:attrName>
                                        </p:attrNameLst>
                                      </p:cBhvr>
                                      <p:to>
                                        <a:srgbClr val="4D4D4D"/>
                                      </p:to>
                                    </p:animClr>
                                  </p:childTnLst>
                                </p:cTn>
                              </p:par>
                              <p:par>
                                <p:cTn id="105" presetID="3" presetClass="emph" presetSubtype="2" fill="hold" grpId="1" nodeType="withEffect">
                                  <p:stCondLst>
                                    <p:cond delay="0"/>
                                  </p:stCondLst>
                                  <p:childTnLst>
                                    <p:animClr clrSpc="rgb" dir="cw">
                                      <p:cBhvr override="childStyle">
                                        <p:cTn id="106" dur="2000" fill="hold"/>
                                        <p:tgtEl>
                                          <p:spTgt spid="2">
                                            <p:txEl>
                                              <p:pRg st="12" end="12"/>
                                            </p:txEl>
                                          </p:spTgt>
                                        </p:tgtEl>
                                        <p:attrNameLst>
                                          <p:attrName>style.color</p:attrName>
                                        </p:attrNameLst>
                                      </p:cBhvr>
                                      <p:to>
                                        <a:srgbClr val="4D4D4D"/>
                                      </p:to>
                                    </p:animClr>
                                  </p:childTnLst>
                                </p:cTn>
                              </p:par>
                            </p:childTnLst>
                          </p:cTn>
                        </p:par>
                      </p:childTnLst>
                    </p:cTn>
                  </p:par>
                  <p:par>
                    <p:cTn id="107" fill="hold">
                      <p:stCondLst>
                        <p:cond delay="indefinite"/>
                      </p:stCondLst>
                      <p:childTnLst>
                        <p:par>
                          <p:cTn id="108" fill="hold">
                            <p:stCondLst>
                              <p:cond delay="0"/>
                            </p:stCondLst>
                            <p:childTnLst>
                              <p:par>
                                <p:cTn id="109" presetID="1" presetClass="exit" presetSubtype="0" fill="hold" grpId="2" nodeType="clickEffect">
                                  <p:stCondLst>
                                    <p:cond delay="0"/>
                                  </p:stCondLst>
                                  <p:childTnLst>
                                    <p:set>
                                      <p:cBhvr>
                                        <p:cTn id="110" dur="1" fill="hold">
                                          <p:stCondLst>
                                            <p:cond delay="0"/>
                                          </p:stCondLst>
                                        </p:cTn>
                                        <p:tgtEl>
                                          <p:spTgt spid="2">
                                            <p:bg/>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allAtOnce"/>
      <p:bldP spid="2" grpId="1" uiExpand="1" build="allAtOnce"/>
      <p:bldP spid="2" grpId="2" uiExpand="1" build="allAtOnce"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字方塊 6">
            <a:extLst>
              <a:ext uri="{FF2B5EF4-FFF2-40B4-BE49-F238E27FC236}">
                <a16:creationId xmlns:a16="http://schemas.microsoft.com/office/drawing/2014/main" id="{F3F95152-7A6B-16A4-22A0-4CC9A08A28E2}"/>
              </a:ext>
            </a:extLst>
          </p:cNvPr>
          <p:cNvSpPr txBox="1"/>
          <p:nvPr/>
        </p:nvSpPr>
        <p:spPr>
          <a:xfrm>
            <a:off x="2250420" y="2861623"/>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Pre-Training</a:t>
            </a:r>
          </a:p>
          <a:p>
            <a:pPr algn="ctr">
              <a:lnSpc>
                <a:spcPts val="1400"/>
              </a:lnSpc>
              <a:buNone/>
            </a:pPr>
            <a:r>
              <a:rPr lang="en-US" altLang="zh-TW" sz="1200" dirty="0"/>
              <a:t>Base</a:t>
            </a:r>
          </a:p>
          <a:p>
            <a:pPr algn="ctr">
              <a:lnSpc>
                <a:spcPts val="1400"/>
              </a:lnSpc>
              <a:buNone/>
            </a:pPr>
            <a:r>
              <a:rPr lang="en-US" altLang="zh-TW" sz="1200" dirty="0"/>
              <a:t>Model</a:t>
            </a:r>
            <a:endParaRPr lang="en-US" altLang="zh-TW" sz="1200" u="none" strike="noStrike" dirty="0">
              <a:effectLst/>
            </a:endParaRPr>
          </a:p>
        </p:txBody>
      </p:sp>
      <p:sp>
        <p:nvSpPr>
          <p:cNvPr id="8" name="文字方塊 7">
            <a:extLst>
              <a:ext uri="{FF2B5EF4-FFF2-40B4-BE49-F238E27FC236}">
                <a16:creationId xmlns:a16="http://schemas.microsoft.com/office/drawing/2014/main" id="{1240326B-602C-CDBB-C0E5-72CA3E8DB14E}"/>
              </a:ext>
            </a:extLst>
          </p:cNvPr>
          <p:cNvSpPr txBox="1"/>
          <p:nvPr/>
        </p:nvSpPr>
        <p:spPr>
          <a:xfrm>
            <a:off x="3347864"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Distillation</a:t>
            </a:r>
          </a:p>
          <a:p>
            <a:pPr algn="ctr">
              <a:lnSpc>
                <a:spcPts val="1400"/>
              </a:lnSpc>
              <a:buNone/>
            </a:pPr>
            <a:r>
              <a:rPr lang="en-US" altLang="zh-TW" sz="1200" dirty="0"/>
              <a:t>Student</a:t>
            </a:r>
          </a:p>
          <a:p>
            <a:pPr algn="ctr">
              <a:lnSpc>
                <a:spcPts val="1400"/>
              </a:lnSpc>
              <a:buNone/>
            </a:pPr>
            <a:r>
              <a:rPr lang="en-US" altLang="zh-TW" sz="1200" dirty="0"/>
              <a:t>Model</a:t>
            </a:r>
            <a:endParaRPr lang="en-US" altLang="zh-TW" sz="1200" u="none" strike="noStrike" dirty="0">
              <a:effectLst/>
            </a:endParaRPr>
          </a:p>
        </p:txBody>
      </p:sp>
      <p:sp>
        <p:nvSpPr>
          <p:cNvPr id="9" name="文字方塊 8">
            <a:extLst>
              <a:ext uri="{FF2B5EF4-FFF2-40B4-BE49-F238E27FC236}">
                <a16:creationId xmlns:a16="http://schemas.microsoft.com/office/drawing/2014/main" id="{B13425BD-8E63-0EFC-AD98-38638AC090BD}"/>
              </a:ext>
            </a:extLst>
          </p:cNvPr>
          <p:cNvSpPr txBox="1"/>
          <p:nvPr/>
        </p:nvSpPr>
        <p:spPr>
          <a:xfrm>
            <a:off x="441066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SFT</a:t>
            </a:r>
          </a:p>
          <a:p>
            <a:pPr algn="ctr">
              <a:lnSpc>
                <a:spcPts val="1400"/>
              </a:lnSpc>
              <a:buNone/>
            </a:pPr>
            <a:r>
              <a:rPr lang="en-US" altLang="zh-TW" sz="1200" dirty="0"/>
              <a:t>Quality is</a:t>
            </a:r>
          </a:p>
          <a:p>
            <a:pPr algn="ctr">
              <a:lnSpc>
                <a:spcPts val="1400"/>
              </a:lnSpc>
              <a:buNone/>
            </a:pPr>
            <a:r>
              <a:rPr lang="en-US" altLang="zh-TW" sz="1200" dirty="0"/>
              <a:t>all you need.</a:t>
            </a:r>
          </a:p>
          <a:p>
            <a:pPr algn="ctr">
              <a:lnSpc>
                <a:spcPts val="1400"/>
              </a:lnSpc>
              <a:buNone/>
            </a:pPr>
            <a:endParaRPr lang="en-US" altLang="zh-TW" sz="1200" u="none" strike="noStrike" dirty="0">
              <a:effectLst/>
            </a:endParaRPr>
          </a:p>
        </p:txBody>
      </p:sp>
      <p:sp>
        <p:nvSpPr>
          <p:cNvPr id="10" name="文字方塊 9">
            <a:extLst>
              <a:ext uri="{FF2B5EF4-FFF2-40B4-BE49-F238E27FC236}">
                <a16:creationId xmlns:a16="http://schemas.microsoft.com/office/drawing/2014/main" id="{8A849B28-DFA9-FA7E-9B5D-244D9BBAD51A}"/>
              </a:ext>
            </a:extLst>
          </p:cNvPr>
          <p:cNvSpPr txBox="1"/>
          <p:nvPr/>
        </p:nvSpPr>
        <p:spPr>
          <a:xfrm>
            <a:off x="549078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RLHF</a:t>
            </a:r>
            <a:endParaRPr lang="en-US" altLang="zh-TW" sz="1400" b="1" u="none" strike="noStrike" dirty="0">
              <a:solidFill>
                <a:schemeClr val="accent6">
                  <a:lumMod val="75000"/>
                </a:schemeClr>
              </a:solidFill>
              <a:effectLst/>
            </a:endParaRPr>
          </a:p>
          <a:p>
            <a:pPr algn="ctr">
              <a:lnSpc>
                <a:spcPts val="1400"/>
              </a:lnSpc>
              <a:buNone/>
            </a:pPr>
            <a:r>
              <a:rPr lang="en-US" altLang="zh-TW" sz="1200" dirty="0"/>
              <a:t>Human</a:t>
            </a:r>
          </a:p>
          <a:p>
            <a:pPr algn="ctr">
              <a:lnSpc>
                <a:spcPts val="1400"/>
              </a:lnSpc>
              <a:buNone/>
            </a:pPr>
            <a:r>
              <a:rPr lang="en-US" altLang="zh-TW" sz="1200" dirty="0"/>
              <a:t>Preferences</a:t>
            </a:r>
            <a:endParaRPr lang="en-US" altLang="zh-TW" sz="1200" u="none" strike="noStrike" dirty="0">
              <a:effectLst/>
            </a:endParaRPr>
          </a:p>
        </p:txBody>
      </p:sp>
      <p:sp>
        <p:nvSpPr>
          <p:cNvPr id="11" name="文字方塊 10">
            <a:extLst>
              <a:ext uri="{FF2B5EF4-FFF2-40B4-BE49-F238E27FC236}">
                <a16:creationId xmlns:a16="http://schemas.microsoft.com/office/drawing/2014/main" id="{D0A09D4C-6DE8-BDCA-C5C0-FBA86CD4368C}"/>
              </a:ext>
            </a:extLst>
          </p:cNvPr>
          <p:cNvSpPr txBox="1"/>
          <p:nvPr/>
        </p:nvSpPr>
        <p:spPr>
          <a:xfrm>
            <a:off x="1187624" y="2865420"/>
            <a:ext cx="881420" cy="756316"/>
          </a:xfrm>
          <a:prstGeom prst="rect">
            <a:avLst/>
          </a:prstGeom>
          <a:solidFill>
            <a:schemeClr val="bg1">
              <a:lumMod val="95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Datasets</a:t>
            </a:r>
          </a:p>
          <a:p>
            <a:pPr algn="ctr">
              <a:lnSpc>
                <a:spcPts val="1400"/>
              </a:lnSpc>
              <a:buNone/>
            </a:pPr>
            <a:r>
              <a:rPr lang="en-US" altLang="zh-TW" sz="1200" dirty="0"/>
              <a:t>High-quality</a:t>
            </a:r>
          </a:p>
          <a:p>
            <a:pPr algn="ctr">
              <a:lnSpc>
                <a:spcPts val="1400"/>
              </a:lnSpc>
              <a:buNone/>
            </a:pPr>
            <a:r>
              <a:rPr lang="en-US" altLang="zh-TW" sz="1200" dirty="0"/>
              <a:t>data at scale</a:t>
            </a:r>
          </a:p>
        </p:txBody>
      </p:sp>
      <p:sp>
        <p:nvSpPr>
          <p:cNvPr id="12" name="右大括弧 11">
            <a:extLst>
              <a:ext uri="{FF2B5EF4-FFF2-40B4-BE49-F238E27FC236}">
                <a16:creationId xmlns:a16="http://schemas.microsoft.com/office/drawing/2014/main" id="{F7D623D8-E3EB-A23D-405F-B7C4DC6B3B36}"/>
              </a:ext>
            </a:extLst>
          </p:cNvPr>
          <p:cNvSpPr/>
          <p:nvPr/>
        </p:nvSpPr>
        <p:spPr>
          <a:xfrm rot="5400000">
            <a:off x="3154669" y="3111783"/>
            <a:ext cx="153040"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13" name="箭號: 向下 12">
            <a:extLst>
              <a:ext uri="{FF2B5EF4-FFF2-40B4-BE49-F238E27FC236}">
                <a16:creationId xmlns:a16="http://schemas.microsoft.com/office/drawing/2014/main" id="{9FAB91AB-9BC1-A45A-BFFD-61E028EE4A03}"/>
              </a:ext>
            </a:extLst>
          </p:cNvPr>
          <p:cNvSpPr/>
          <p:nvPr/>
        </p:nvSpPr>
        <p:spPr>
          <a:xfrm>
            <a:off x="575147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cxnSp>
        <p:nvCxnSpPr>
          <p:cNvPr id="14" name="直線單箭頭接點 13">
            <a:extLst>
              <a:ext uri="{FF2B5EF4-FFF2-40B4-BE49-F238E27FC236}">
                <a16:creationId xmlns:a16="http://schemas.microsoft.com/office/drawing/2014/main" id="{B5EDBE07-C935-4285-720A-13592479DA23}"/>
              </a:ext>
            </a:extLst>
          </p:cNvPr>
          <p:cNvCxnSpPr>
            <a:cxnSpLocks/>
            <a:stCxn id="11" idx="3"/>
            <a:endCxn id="7" idx="1"/>
          </p:cNvCxnSpPr>
          <p:nvPr/>
        </p:nvCxnSpPr>
        <p:spPr>
          <a:xfrm flipV="1">
            <a:off x="2069044" y="3239781"/>
            <a:ext cx="181376" cy="3797"/>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graphicFrame>
        <p:nvGraphicFramePr>
          <p:cNvPr id="15" name="表格 14">
            <a:extLst>
              <a:ext uri="{FF2B5EF4-FFF2-40B4-BE49-F238E27FC236}">
                <a16:creationId xmlns:a16="http://schemas.microsoft.com/office/drawing/2014/main" id="{77D26E76-0878-4BEA-0864-D931E8EE767B}"/>
              </a:ext>
            </a:extLst>
          </p:cNvPr>
          <p:cNvGraphicFramePr>
            <a:graphicFrameLocks noGrp="1"/>
          </p:cNvGraphicFramePr>
          <p:nvPr>
            <p:extLst>
              <p:ext uri="{D42A27DB-BD31-4B8C-83A1-F6EECF244321}">
                <p14:modId xmlns:p14="http://schemas.microsoft.com/office/powerpoint/2010/main" val="2344033630"/>
              </p:ext>
            </p:extLst>
          </p:nvPr>
        </p:nvGraphicFramePr>
        <p:xfrm>
          <a:off x="5490780" y="4797152"/>
          <a:ext cx="2249568" cy="788874"/>
        </p:xfrm>
        <a:graphic>
          <a:graphicData uri="http://schemas.openxmlformats.org/drawingml/2006/table">
            <a:tbl>
              <a:tblPr firstRow="1" bandRow="1">
                <a:tableStyleId>{5C22544A-7EE6-4342-B048-85BDC9FD1C3A}</a:tableStyleId>
              </a:tblPr>
              <a:tblGrid>
                <a:gridCol w="2249568">
                  <a:extLst>
                    <a:ext uri="{9D8B030D-6E8A-4147-A177-3AD203B41FA5}">
                      <a16:colId xmlns:a16="http://schemas.microsoft.com/office/drawing/2014/main" val="4512040"/>
                    </a:ext>
                  </a:extLst>
                </a:gridCol>
              </a:tblGrid>
              <a:tr h="207498">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RLHF Optimization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207498">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PPO aligns via multiple models.</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 aligns via direct optimization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GRPO aligns via self-correction.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071062206"/>
                  </a:ext>
                </a:extLst>
              </a:tr>
            </a:tbl>
          </a:graphicData>
        </a:graphic>
      </p:graphicFrame>
      <p:sp>
        <p:nvSpPr>
          <p:cNvPr id="17" name="標題 1">
            <a:extLst>
              <a:ext uri="{FF2B5EF4-FFF2-40B4-BE49-F238E27FC236}">
                <a16:creationId xmlns:a16="http://schemas.microsoft.com/office/drawing/2014/main" id="{D8E85CF9-1642-8F1D-8E65-50C63D95EB53}"/>
              </a:ext>
            </a:extLst>
          </p:cNvPr>
          <p:cNvSpPr txBox="1">
            <a:spLocks/>
          </p:cNvSpPr>
          <p:nvPr/>
        </p:nvSpPr>
        <p:spPr>
          <a:xfrm>
            <a:off x="5490780" y="3840781"/>
            <a:ext cx="881420" cy="30829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Reinforcement</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cxnSp>
        <p:nvCxnSpPr>
          <p:cNvPr id="18" name="直線接點 17">
            <a:extLst>
              <a:ext uri="{FF2B5EF4-FFF2-40B4-BE49-F238E27FC236}">
                <a16:creationId xmlns:a16="http://schemas.microsoft.com/office/drawing/2014/main" id="{FDCA2822-E0DA-5603-D3BF-22B5933F51F7}"/>
              </a:ext>
            </a:extLst>
          </p:cNvPr>
          <p:cNvCxnSpPr>
            <a:cxnSpLocks/>
            <a:stCxn id="17" idx="2"/>
          </p:cNvCxnSpPr>
          <p:nvPr/>
        </p:nvCxnSpPr>
        <p:spPr>
          <a:xfrm>
            <a:off x="5931490" y="4149080"/>
            <a:ext cx="0" cy="648072"/>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sp>
        <p:nvSpPr>
          <p:cNvPr id="3" name="標題 1">
            <a:extLst>
              <a:ext uri="{FF2B5EF4-FFF2-40B4-BE49-F238E27FC236}">
                <a16:creationId xmlns:a16="http://schemas.microsoft.com/office/drawing/2014/main" id="{86D655F9-6A67-F151-59CE-818F721614E9}"/>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R</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einforcement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L</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earning with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H</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uman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F</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eedback</a:t>
            </a: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G- Optimizer</a:t>
            </a:r>
          </a:p>
        </p:txBody>
      </p:sp>
    </p:spTree>
    <p:extLst>
      <p:ext uri="{BB962C8B-B14F-4D97-AF65-F5344CB8AC3E}">
        <p14:creationId xmlns:p14="http://schemas.microsoft.com/office/powerpoint/2010/main" val="239060631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27D1FF4C-B981-02EC-4D4A-C61F69393A52}"/>
            </a:ext>
          </a:extLst>
        </p:cNvPr>
        <p:cNvGrpSpPr/>
        <p:nvPr/>
      </p:nvGrpSpPr>
      <p:grpSpPr>
        <a:xfrm>
          <a:off x="0" y="0"/>
          <a:ext cx="0" cy="0"/>
          <a:chOff x="0" y="0"/>
          <a:chExt cx="0" cy="0"/>
        </a:xfrm>
      </p:grpSpPr>
      <p:pic>
        <p:nvPicPr>
          <p:cNvPr id="8" name="圖片 7">
            <a:extLst>
              <a:ext uri="{FF2B5EF4-FFF2-40B4-BE49-F238E27FC236}">
                <a16:creationId xmlns:a16="http://schemas.microsoft.com/office/drawing/2014/main" id="{41B5D38C-07B4-9DDC-B79C-00F7D93127CD}"/>
              </a:ext>
            </a:extLst>
          </p:cNvPr>
          <p:cNvPicPr>
            <a:picLocks noChangeAspect="1"/>
          </p:cNvPicPr>
          <p:nvPr/>
        </p:nvPicPr>
        <p:blipFill>
          <a:blip r:embed="rId2"/>
          <a:stretch>
            <a:fillRect/>
          </a:stretch>
        </p:blipFill>
        <p:spPr>
          <a:xfrm>
            <a:off x="323528" y="1199814"/>
            <a:ext cx="8485396" cy="1725130"/>
          </a:xfrm>
          <a:prstGeom prst="rect">
            <a:avLst/>
          </a:prstGeom>
        </p:spPr>
      </p:pic>
      <p:pic>
        <p:nvPicPr>
          <p:cNvPr id="12" name="圖片 11">
            <a:extLst>
              <a:ext uri="{FF2B5EF4-FFF2-40B4-BE49-F238E27FC236}">
                <a16:creationId xmlns:a16="http://schemas.microsoft.com/office/drawing/2014/main" id="{9D135FEB-D49D-FDDE-1182-90BEDA1FC772}"/>
              </a:ext>
            </a:extLst>
          </p:cNvPr>
          <p:cNvPicPr>
            <a:picLocks noChangeAspect="1"/>
          </p:cNvPicPr>
          <p:nvPr/>
        </p:nvPicPr>
        <p:blipFill>
          <a:blip r:embed="rId3"/>
          <a:stretch>
            <a:fillRect/>
          </a:stretch>
        </p:blipFill>
        <p:spPr>
          <a:xfrm>
            <a:off x="167538" y="1772816"/>
            <a:ext cx="8808924" cy="3096344"/>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14" name="圖片 13">
            <a:extLst>
              <a:ext uri="{FF2B5EF4-FFF2-40B4-BE49-F238E27FC236}">
                <a16:creationId xmlns:a16="http://schemas.microsoft.com/office/drawing/2014/main" id="{8EE5E8E2-2325-4F12-1CBF-DFE4507E3F00}"/>
              </a:ext>
            </a:extLst>
          </p:cNvPr>
          <p:cNvPicPr>
            <a:picLocks noChangeAspect="1"/>
          </p:cNvPicPr>
          <p:nvPr/>
        </p:nvPicPr>
        <p:blipFill>
          <a:blip r:embed="rId4"/>
          <a:stretch>
            <a:fillRect/>
          </a:stretch>
        </p:blipFill>
        <p:spPr>
          <a:xfrm>
            <a:off x="6444208" y="1556792"/>
            <a:ext cx="1852871" cy="523948"/>
          </a:xfrm>
          <a:prstGeom prst="rect">
            <a:avLst/>
          </a:prstGeom>
        </p:spPr>
      </p:pic>
      <p:pic>
        <p:nvPicPr>
          <p:cNvPr id="16" name="圖片 15">
            <a:extLst>
              <a:ext uri="{FF2B5EF4-FFF2-40B4-BE49-F238E27FC236}">
                <a16:creationId xmlns:a16="http://schemas.microsoft.com/office/drawing/2014/main" id="{A340BEF9-9477-0B08-52EF-5A3DFCCDF2F7}"/>
              </a:ext>
            </a:extLst>
          </p:cNvPr>
          <p:cNvPicPr>
            <a:picLocks noChangeAspect="1"/>
          </p:cNvPicPr>
          <p:nvPr/>
        </p:nvPicPr>
        <p:blipFill>
          <a:blip r:embed="rId5"/>
          <a:stretch>
            <a:fillRect/>
          </a:stretch>
        </p:blipFill>
        <p:spPr>
          <a:xfrm>
            <a:off x="329233" y="5192779"/>
            <a:ext cx="4848902" cy="1476581"/>
          </a:xfrm>
          <a:prstGeom prst="rect">
            <a:avLst/>
          </a:prstGeom>
          <a:effectLst>
            <a:glow rad="63500">
              <a:schemeClr val="accent3">
                <a:alpha val="40000"/>
              </a:schemeClr>
            </a:glow>
          </a:effectLst>
        </p:spPr>
      </p:pic>
      <p:sp>
        <p:nvSpPr>
          <p:cNvPr id="18" name="標題 1">
            <a:extLst>
              <a:ext uri="{FF2B5EF4-FFF2-40B4-BE49-F238E27FC236}">
                <a16:creationId xmlns:a16="http://schemas.microsoft.com/office/drawing/2014/main" id="{ADE035A4-1862-F0B7-2203-B17B6499E268}"/>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G</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roup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R</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elative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P</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olicy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O</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ptimizer</a:t>
            </a: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A 2D-matrix optimizer updating strictly by orthogonalized direction, completely ignoring gradient scale.</a:t>
            </a:r>
          </a:p>
        </p:txBody>
      </p:sp>
      <p:pic>
        <p:nvPicPr>
          <p:cNvPr id="20" name="圖片 19">
            <a:extLst>
              <a:ext uri="{FF2B5EF4-FFF2-40B4-BE49-F238E27FC236}">
                <a16:creationId xmlns:a16="http://schemas.microsoft.com/office/drawing/2014/main" id="{770B7F26-EB81-3FCB-3A31-F0EFA81CC01C}"/>
              </a:ext>
            </a:extLst>
          </p:cNvPr>
          <p:cNvPicPr>
            <a:picLocks noChangeAspect="1"/>
          </p:cNvPicPr>
          <p:nvPr/>
        </p:nvPicPr>
        <p:blipFill>
          <a:blip r:embed="rId6"/>
          <a:stretch>
            <a:fillRect/>
          </a:stretch>
        </p:blipFill>
        <p:spPr>
          <a:xfrm>
            <a:off x="5022463" y="1156809"/>
            <a:ext cx="1254207" cy="454198"/>
          </a:xfrm>
          <a:prstGeom prst="rect">
            <a:avLst/>
          </a:prstGeom>
        </p:spPr>
      </p:pic>
    </p:spTree>
    <p:extLst>
      <p:ext uri="{BB962C8B-B14F-4D97-AF65-F5344CB8AC3E}">
        <p14:creationId xmlns:p14="http://schemas.microsoft.com/office/powerpoint/2010/main" val="180101126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A38658-2B3C-8DE5-45DA-23737A42A4AD}"/>
            </a:ext>
          </a:extLst>
        </p:cNvPr>
        <p:cNvGrpSpPr/>
        <p:nvPr/>
      </p:nvGrpSpPr>
      <p:grpSpPr>
        <a:xfrm>
          <a:off x="0" y="0"/>
          <a:ext cx="0" cy="0"/>
          <a:chOff x="0" y="0"/>
          <a:chExt cx="0" cy="0"/>
        </a:xfrm>
      </p:grpSpPr>
      <p:pic>
        <p:nvPicPr>
          <p:cNvPr id="2" name="圖片 1">
            <a:extLst>
              <a:ext uri="{FF2B5EF4-FFF2-40B4-BE49-F238E27FC236}">
                <a16:creationId xmlns:a16="http://schemas.microsoft.com/office/drawing/2014/main" id="{EC336CA0-741B-90B5-2048-06767EC967D4}"/>
              </a:ext>
            </a:extLst>
          </p:cNvPr>
          <p:cNvPicPr>
            <a:picLocks noChangeAspect="1"/>
          </p:cNvPicPr>
          <p:nvPr/>
        </p:nvPicPr>
        <p:blipFill>
          <a:blip r:embed="rId3"/>
          <a:stretch>
            <a:fillRect/>
          </a:stretch>
        </p:blipFill>
        <p:spPr>
          <a:xfrm>
            <a:off x="8224137" y="37246"/>
            <a:ext cx="740352" cy="740352"/>
          </a:xfrm>
          <a:prstGeom prst="rect">
            <a:avLst/>
          </a:prstGeom>
        </p:spPr>
      </p:pic>
      <p:sp>
        <p:nvSpPr>
          <p:cNvPr id="5" name="標題 1">
            <a:extLst>
              <a:ext uri="{FF2B5EF4-FFF2-40B4-BE49-F238E27FC236}">
                <a16:creationId xmlns:a16="http://schemas.microsoft.com/office/drawing/2014/main" id="{960A8EDD-0A24-CE7E-CD63-1B7D075BCAA1}"/>
              </a:ext>
            </a:extLst>
          </p:cNvPr>
          <p:cNvSpPr txBox="1">
            <a:spLocks/>
          </p:cNvSpPr>
          <p:nvPr/>
        </p:nvSpPr>
        <p:spPr>
          <a:xfrm>
            <a:off x="179512" y="116632"/>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Family</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An ultra-cost-efficient hardware maximizer that slashes KV cache memory by over 90% through shared and fine-grained expert architectures. </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6" name="標題 1">
            <a:extLst>
              <a:ext uri="{FF2B5EF4-FFF2-40B4-BE49-F238E27FC236}">
                <a16:creationId xmlns:a16="http://schemas.microsoft.com/office/drawing/2014/main" id="{533B2B92-2B9A-4E68-37FC-4D4796F63F0C}"/>
              </a:ext>
            </a:extLst>
          </p:cNvPr>
          <p:cNvSpPr txBox="1">
            <a:spLocks/>
          </p:cNvSpPr>
          <p:nvPr/>
        </p:nvSpPr>
        <p:spPr>
          <a:xfrm>
            <a:off x="8224137" y="620689"/>
            <a:ext cx="740352" cy="50405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solidFill>
                  <a:srgbClr val="4C6BFF"/>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DeepSeek</a:t>
            </a:r>
          </a:p>
          <a:p>
            <a:pPr algn="ctr"/>
            <a:r>
              <a:rPr lang="zh-TW" altLang="en-US" sz="1000" dirty="0">
                <a:solidFill>
                  <a:srgbClr val="4C6BFF"/>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深度求索</a:t>
            </a:r>
            <a:endParaRPr lang="en-US" altLang="zh-TW" sz="1000" dirty="0">
              <a:solidFill>
                <a:srgbClr val="4C6BFF"/>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algn="ctr"/>
            <a:r>
              <a:rPr lang="en-US" altLang="zh-TW" sz="1000" dirty="0">
                <a:solidFill>
                  <a:srgbClr val="4C6BFF"/>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2023</a:t>
            </a:r>
          </a:p>
        </p:txBody>
      </p:sp>
      <p:sp>
        <p:nvSpPr>
          <p:cNvPr id="7" name="文字方塊 6">
            <a:extLst>
              <a:ext uri="{FF2B5EF4-FFF2-40B4-BE49-F238E27FC236}">
                <a16:creationId xmlns:a16="http://schemas.microsoft.com/office/drawing/2014/main" id="{1887142E-F390-F7B5-0F57-E6099827F1D5}"/>
              </a:ext>
            </a:extLst>
          </p:cNvPr>
          <p:cNvSpPr txBox="1"/>
          <p:nvPr/>
        </p:nvSpPr>
        <p:spPr>
          <a:xfrm>
            <a:off x="179510" y="1377042"/>
            <a:ext cx="8280922" cy="2400657"/>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DeepSeek : </a:t>
            </a:r>
            <a:r>
              <a:rPr lang="en-US" altLang="zh-TW" sz="1600" dirty="0"/>
              <a:t>Funded by High-Flyer Quant, CEO(</a:t>
            </a:r>
            <a:r>
              <a:rPr lang="zh-TW" altLang="en-US" sz="1400" dirty="0">
                <a:solidFill>
                  <a:prstClr val="black"/>
                </a:solidFill>
                <a:latin typeface="微軟正黑體" panose="020B0604030504040204" pitchFamily="34" charset="-120"/>
                <a:ea typeface="微軟正黑體" panose="020B0604030504040204" pitchFamily="34" charset="-120"/>
              </a:rPr>
              <a:t>梁文鋒</a:t>
            </a:r>
            <a:r>
              <a:rPr lang="en-US" altLang="zh-TW" sz="1400" dirty="0">
                <a:solidFill>
                  <a:prstClr val="black"/>
                </a:solidFill>
                <a:latin typeface="微軟正黑體" panose="020B0604030504040204" pitchFamily="34" charset="-120"/>
                <a:ea typeface="微軟正黑體" panose="020B0604030504040204" pitchFamily="34" charset="-120"/>
              </a:rPr>
              <a:t>1985</a:t>
            </a:r>
            <a:r>
              <a:rPr lang="zh-TW" altLang="en-US" sz="1400" dirty="0">
                <a:solidFill>
                  <a:prstClr val="black"/>
                </a:solidFill>
                <a:latin typeface="微軟正黑體" panose="020B0604030504040204" pitchFamily="34" charset="-120"/>
                <a:ea typeface="微軟正黑體" panose="020B0604030504040204" pitchFamily="34" charset="-120"/>
              </a:rPr>
              <a:t>浙江大學</a:t>
            </a:r>
            <a:r>
              <a:rPr lang="en-US" altLang="zh-TW" sz="1400" dirty="0">
                <a:solidFill>
                  <a:prstClr val="black"/>
                </a:solidFill>
                <a:latin typeface="微軟正黑體" panose="020B0604030504040204" pitchFamily="34" charset="-120"/>
                <a:ea typeface="微軟正黑體" panose="020B0604030504040204" pitchFamily="34" charset="-120"/>
              </a:rPr>
              <a:t>-</a:t>
            </a:r>
            <a:r>
              <a:rPr lang="en-US" altLang="zh-TW" sz="1600" dirty="0"/>
              <a:t>).</a:t>
            </a:r>
          </a:p>
          <a:p>
            <a:pPr marL="285750" indent="-285750">
              <a:lnSpc>
                <a:spcPts val="1800"/>
              </a:lnSpc>
              <a:spcBef>
                <a:spcPts val="600"/>
              </a:spcBef>
              <a:spcAft>
                <a:spcPts val="600"/>
              </a:spcAft>
              <a:buFont typeface="Wingdings" panose="05000000000000000000" pitchFamily="2" charset="2"/>
              <a:buChar char="Ø"/>
            </a:pPr>
            <a:r>
              <a:rPr lang="en-US" altLang="zh-TW" sz="1600" b="1" dirty="0"/>
              <a:t>Key Technology:</a:t>
            </a:r>
            <a:r>
              <a:rPr lang="en-US" altLang="zh-TW" sz="1600" dirty="0"/>
              <a:t> </a:t>
            </a:r>
          </a:p>
          <a:p>
            <a:pPr marL="742950" lvl="1" indent="-285750">
              <a:lnSpc>
                <a:spcPts val="1800"/>
              </a:lnSpc>
              <a:spcBef>
                <a:spcPts val="600"/>
              </a:spcBef>
              <a:buFont typeface="Arial" panose="020B0604020202020204" pitchFamily="34" charset="0"/>
              <a:buChar char="•"/>
            </a:pPr>
            <a:r>
              <a:rPr lang="en-US" altLang="zh-TW" sz="1600" dirty="0"/>
              <a:t>V2 Multi-head Latent Attention(</a:t>
            </a:r>
            <a:r>
              <a:rPr lang="en-US" altLang="zh-TW" sz="1600" b="1" dirty="0"/>
              <a:t>MLA</a:t>
            </a:r>
            <a:r>
              <a:rPr lang="en-US" altLang="zh-TW" sz="1600" dirty="0"/>
              <a:t>): Reduced KV cache usage by 90%.</a:t>
            </a:r>
          </a:p>
          <a:p>
            <a:pPr marL="742950" lvl="1" indent="-285750">
              <a:lnSpc>
                <a:spcPts val="1800"/>
              </a:lnSpc>
              <a:spcBef>
                <a:spcPts val="600"/>
              </a:spcBef>
              <a:buFont typeface="Arial" panose="020B0604020202020204" pitchFamily="34" charset="0"/>
              <a:buChar char="•"/>
            </a:pPr>
            <a:r>
              <a:rPr lang="en-US" altLang="zh-TW" sz="1600" dirty="0"/>
              <a:t>V3 </a:t>
            </a:r>
            <a:r>
              <a:rPr lang="en-US" altLang="zh-TW" sz="1600" b="1" dirty="0"/>
              <a:t>DSA</a:t>
            </a:r>
            <a:r>
              <a:rPr lang="en-US" altLang="zh-TW" sz="1600" dirty="0"/>
              <a:t>: Select Top-K token via lighting Indexer.</a:t>
            </a:r>
          </a:p>
          <a:p>
            <a:pPr marL="742950" lvl="1" indent="-285750">
              <a:lnSpc>
                <a:spcPts val="1800"/>
              </a:lnSpc>
              <a:spcBef>
                <a:spcPts val="600"/>
              </a:spcBef>
              <a:buFont typeface="Arial" panose="020B0604020202020204" pitchFamily="34" charset="0"/>
              <a:buChar char="•"/>
            </a:pPr>
            <a:r>
              <a:rPr lang="en-US" altLang="zh-TW" sz="1600" dirty="0"/>
              <a:t>V4 Hybrid MHA: Sliding Window(</a:t>
            </a:r>
            <a:r>
              <a:rPr lang="en-US" altLang="zh-TW" sz="1600" b="1" dirty="0"/>
              <a:t>SWA</a:t>
            </a:r>
            <a:r>
              <a:rPr lang="en-US" altLang="zh-TW" sz="1600" dirty="0"/>
              <a:t>), Heavily(</a:t>
            </a:r>
            <a:r>
              <a:rPr lang="en-US" altLang="zh-TW" sz="1600" b="1" dirty="0"/>
              <a:t>HCA</a:t>
            </a:r>
            <a:r>
              <a:rPr lang="en-US" altLang="zh-TW" sz="1600" dirty="0"/>
              <a:t>), Compressed Sparse(</a:t>
            </a:r>
            <a:r>
              <a:rPr lang="en-US" altLang="zh-TW" sz="1600" b="1" dirty="0"/>
              <a:t>CSA</a:t>
            </a:r>
            <a:r>
              <a:rPr lang="en-US" altLang="zh-TW" sz="1600" dirty="0"/>
              <a:t>).</a:t>
            </a:r>
          </a:p>
          <a:p>
            <a:pPr marL="742950" lvl="1" indent="-285750">
              <a:lnSpc>
                <a:spcPts val="1800"/>
              </a:lnSpc>
              <a:spcBef>
                <a:spcPts val="600"/>
              </a:spcBef>
              <a:buFont typeface="Arial" panose="020B0604020202020204" pitchFamily="34" charset="0"/>
              <a:buChar char="•"/>
            </a:pPr>
            <a:r>
              <a:rPr lang="en-US" altLang="zh-TW" sz="1600" dirty="0"/>
              <a:t>V4 Manifold-constrained Hyper-Connections (</a:t>
            </a:r>
            <a:r>
              <a:rPr lang="en-US" altLang="zh-TW" sz="1600" b="1" dirty="0" err="1"/>
              <a:t>M</a:t>
            </a:r>
            <a:r>
              <a:rPr lang="en-US" altLang="zh-TW" sz="1600" dirty="0" err="1">
                <a:solidFill>
                  <a:schemeClr val="tx1">
                    <a:lumMod val="50000"/>
                    <a:lumOff val="50000"/>
                  </a:schemeClr>
                </a:solidFill>
              </a:rPr>
              <a:t>c</a:t>
            </a:r>
            <a:r>
              <a:rPr lang="en-US" altLang="zh-TW" sz="1600" b="1" dirty="0" err="1"/>
              <a:t>HC</a:t>
            </a:r>
            <a:r>
              <a:rPr lang="en-US" altLang="zh-TW" sz="1600" dirty="0"/>
              <a:t>): Replacing residual stream.</a:t>
            </a:r>
          </a:p>
        </p:txBody>
      </p:sp>
      <p:sp>
        <p:nvSpPr>
          <p:cNvPr id="24" name="標題 1">
            <a:extLst>
              <a:ext uri="{FF2B5EF4-FFF2-40B4-BE49-F238E27FC236}">
                <a16:creationId xmlns:a16="http://schemas.microsoft.com/office/drawing/2014/main" id="{1EAB493B-DEBA-4B6C-68E5-EBAB1AC6BF46}"/>
              </a:ext>
            </a:extLst>
          </p:cNvPr>
          <p:cNvSpPr txBox="1">
            <a:spLocks/>
          </p:cNvSpPr>
          <p:nvPr/>
        </p:nvSpPr>
        <p:spPr>
          <a:xfrm>
            <a:off x="8224137" y="1844824"/>
            <a:ext cx="740352" cy="564468"/>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High-Flyer</a:t>
            </a:r>
          </a:p>
          <a:p>
            <a:pPr algn="ct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Quant</a:t>
            </a:r>
          </a:p>
          <a:p>
            <a:pPr algn="ctr"/>
            <a:r>
              <a:rPr lang="zh-TW" altLang="en-US"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幻方量化</a:t>
            </a:r>
            <a:endPar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algn="ct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2015</a:t>
            </a:r>
          </a:p>
        </p:txBody>
      </p:sp>
      <p:pic>
        <p:nvPicPr>
          <p:cNvPr id="25" name="圖片 24">
            <a:extLst>
              <a:ext uri="{FF2B5EF4-FFF2-40B4-BE49-F238E27FC236}">
                <a16:creationId xmlns:a16="http://schemas.microsoft.com/office/drawing/2014/main" id="{E7B9DB21-ADDA-F8F3-EE59-DFABC84DD3AA}"/>
              </a:ext>
            </a:extLst>
          </p:cNvPr>
          <p:cNvPicPr>
            <a:picLocks noChangeAspect="1"/>
          </p:cNvPicPr>
          <p:nvPr/>
        </p:nvPicPr>
        <p:blipFill>
          <a:blip r:embed="rId4"/>
          <a:stretch>
            <a:fillRect/>
          </a:stretch>
        </p:blipFill>
        <p:spPr>
          <a:xfrm>
            <a:off x="8312078" y="1280355"/>
            <a:ext cx="564469" cy="564469"/>
          </a:xfrm>
          <a:prstGeom prst="rect">
            <a:avLst/>
          </a:prstGeom>
        </p:spPr>
      </p:pic>
      <p:graphicFrame>
        <p:nvGraphicFramePr>
          <p:cNvPr id="8" name="表格 7">
            <a:extLst>
              <a:ext uri="{FF2B5EF4-FFF2-40B4-BE49-F238E27FC236}">
                <a16:creationId xmlns:a16="http://schemas.microsoft.com/office/drawing/2014/main" id="{764D7129-E992-939D-352F-5A96D493C7CE}"/>
              </a:ext>
            </a:extLst>
          </p:cNvPr>
          <p:cNvGraphicFramePr>
            <a:graphicFrameLocks noGrp="1"/>
          </p:cNvGraphicFramePr>
          <p:nvPr>
            <p:extLst>
              <p:ext uri="{D42A27DB-BD31-4B8C-83A1-F6EECF244321}">
                <p14:modId xmlns:p14="http://schemas.microsoft.com/office/powerpoint/2010/main" val="3528904632"/>
              </p:ext>
            </p:extLst>
          </p:nvPr>
        </p:nvGraphicFramePr>
        <p:xfrm>
          <a:off x="505166" y="4005064"/>
          <a:ext cx="8133668" cy="2465708"/>
        </p:xfrm>
        <a:graphic>
          <a:graphicData uri="http://schemas.openxmlformats.org/drawingml/2006/table">
            <a:tbl>
              <a:tblPr firstRow="1" bandRow="1">
                <a:tableStyleId>{5C22544A-7EE6-4342-B048-85BDC9FD1C3A}</a:tableStyleId>
              </a:tblPr>
              <a:tblGrid>
                <a:gridCol w="322418">
                  <a:extLst>
                    <a:ext uri="{9D8B030D-6E8A-4147-A177-3AD203B41FA5}">
                      <a16:colId xmlns:a16="http://schemas.microsoft.com/office/drawing/2014/main" val="4198244561"/>
                    </a:ext>
                  </a:extLst>
                </a:gridCol>
                <a:gridCol w="576064">
                  <a:extLst>
                    <a:ext uri="{9D8B030D-6E8A-4147-A177-3AD203B41FA5}">
                      <a16:colId xmlns:a16="http://schemas.microsoft.com/office/drawing/2014/main" val="2211145501"/>
                    </a:ext>
                  </a:extLst>
                </a:gridCol>
                <a:gridCol w="648072">
                  <a:extLst>
                    <a:ext uri="{9D8B030D-6E8A-4147-A177-3AD203B41FA5}">
                      <a16:colId xmlns:a16="http://schemas.microsoft.com/office/drawing/2014/main" val="767948712"/>
                    </a:ext>
                  </a:extLst>
                </a:gridCol>
                <a:gridCol w="432048">
                  <a:extLst>
                    <a:ext uri="{9D8B030D-6E8A-4147-A177-3AD203B41FA5}">
                      <a16:colId xmlns:a16="http://schemas.microsoft.com/office/drawing/2014/main" val="2420987057"/>
                    </a:ext>
                  </a:extLst>
                </a:gridCol>
                <a:gridCol w="1106952">
                  <a:extLst>
                    <a:ext uri="{9D8B030D-6E8A-4147-A177-3AD203B41FA5}">
                      <a16:colId xmlns:a16="http://schemas.microsoft.com/office/drawing/2014/main" val="3715013544"/>
                    </a:ext>
                  </a:extLst>
                </a:gridCol>
                <a:gridCol w="909273">
                  <a:extLst>
                    <a:ext uri="{9D8B030D-6E8A-4147-A177-3AD203B41FA5}">
                      <a16:colId xmlns:a16="http://schemas.microsoft.com/office/drawing/2014/main" val="3639967230"/>
                    </a:ext>
                  </a:extLst>
                </a:gridCol>
                <a:gridCol w="865719">
                  <a:extLst>
                    <a:ext uri="{9D8B030D-6E8A-4147-A177-3AD203B41FA5}">
                      <a16:colId xmlns:a16="http://schemas.microsoft.com/office/drawing/2014/main" val="3328686525"/>
                    </a:ext>
                  </a:extLst>
                </a:gridCol>
                <a:gridCol w="288032">
                  <a:extLst>
                    <a:ext uri="{9D8B030D-6E8A-4147-A177-3AD203B41FA5}">
                      <a16:colId xmlns:a16="http://schemas.microsoft.com/office/drawing/2014/main" val="3752581630"/>
                    </a:ext>
                  </a:extLst>
                </a:gridCol>
                <a:gridCol w="504056">
                  <a:extLst>
                    <a:ext uri="{9D8B030D-6E8A-4147-A177-3AD203B41FA5}">
                      <a16:colId xmlns:a16="http://schemas.microsoft.com/office/drawing/2014/main" val="40210933"/>
                    </a:ext>
                  </a:extLst>
                </a:gridCol>
                <a:gridCol w="394420">
                  <a:extLst>
                    <a:ext uri="{9D8B030D-6E8A-4147-A177-3AD203B41FA5}">
                      <a16:colId xmlns:a16="http://schemas.microsoft.com/office/drawing/2014/main" val="3722446267"/>
                    </a:ext>
                  </a:extLst>
                </a:gridCol>
                <a:gridCol w="394420">
                  <a:extLst>
                    <a:ext uri="{9D8B030D-6E8A-4147-A177-3AD203B41FA5}">
                      <a16:colId xmlns:a16="http://schemas.microsoft.com/office/drawing/2014/main" val="3159408052"/>
                    </a:ext>
                  </a:extLst>
                </a:gridCol>
                <a:gridCol w="846097">
                  <a:extLst>
                    <a:ext uri="{9D8B030D-6E8A-4147-A177-3AD203B41FA5}">
                      <a16:colId xmlns:a16="http://schemas.microsoft.com/office/drawing/2014/main" val="2746565255"/>
                    </a:ext>
                  </a:extLst>
                </a:gridCol>
                <a:gridCol w="846097">
                  <a:extLst>
                    <a:ext uri="{9D8B030D-6E8A-4147-A177-3AD203B41FA5}">
                      <a16:colId xmlns:a16="http://schemas.microsoft.com/office/drawing/2014/main" val="1920063261"/>
                    </a:ext>
                  </a:extLst>
                </a:gridCol>
              </a:tblGrid>
              <a:tr h="333543">
                <a:tc rowSpan="3">
                  <a:txBody>
                    <a:bodyPr/>
                    <a:lstStyle/>
                    <a:p>
                      <a:pPr algn="ctr"/>
                      <a:endParaRPr lang="zh-TW" altLang="en-US" sz="1200" b="0" cap="none" spc="0" dirty="0">
                        <a:ln w="0"/>
                        <a:solidFill>
                          <a:schemeClr val="tx1"/>
                        </a:solidFill>
                        <a:effectLst/>
                        <a:latin typeface="+mn-l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noFill/>
                  </a:tcPr>
                </a:tc>
                <a:tc row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ADLaM Display" panose="02010000000000000000" pitchFamily="2" charset="0"/>
                          <a:cs typeface="ADLaM Display" panose="02010000000000000000" pitchFamily="2" charset="0"/>
                        </a:rPr>
                        <a:t>Version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ADLaM Display" panose="02010000000000000000" pitchFamily="2" charset="0"/>
                          <a:cs typeface="ADLaM Display" panose="02010000000000000000" pitchFamily="2" charset="0"/>
                        </a:rPr>
                        <a:t>Type</a:t>
                      </a:r>
                      <a:endParaRPr kumimoji="0" lang="zh-TW" altLang="en-US" sz="1200" b="0" i="0" u="none" strike="noStrike" kern="1200" cap="none" spc="0" normalizeH="0" baseline="0" noProof="0" dirty="0">
                        <a:ln w="0"/>
                        <a:solidFill>
                          <a:prstClr val="black"/>
                        </a:solidFill>
                        <a:effectLst/>
                        <a:uLnTx/>
                        <a:uFillTx/>
                        <a:latin typeface="+mn-lt"/>
                        <a:ea typeface="+mn-ea"/>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ADLaM Display" panose="02010000000000000000" pitchFamily="2" charset="0"/>
                          <a:cs typeface="ADLaM Display" panose="02010000000000000000" pitchFamily="2" charset="0"/>
                        </a:rPr>
                        <a:t>Key Technology</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solidFill>
                      <a:schemeClr val="accent1">
                        <a:lumMod val="20000"/>
                        <a:lumOff val="80000"/>
                      </a:schemeClr>
                    </a:solidFill>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tc gridSpan="7">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latin typeface="+mn-lt"/>
                          <a:ea typeface="ADLaM Display" panose="02010000000000000000" pitchFamily="2" charset="0"/>
                          <a:cs typeface="ADLaM Display" panose="02010000000000000000" pitchFamily="2" charset="0"/>
                        </a:rPr>
                        <a:t>Memory consumption</a:t>
                      </a:r>
                      <a:endParaRPr lang="zh-TW" altLang="en-US" sz="1200" b="0" cap="none" spc="0" dirty="0">
                        <a:ln w="0"/>
                        <a:solidFill>
                          <a:schemeClr val="tx1"/>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solidFill>
                      <a:schemeClr val="accent2">
                        <a:lumMod val="40000"/>
                        <a:lumOff val="60000"/>
                        <a:alpha val="40000"/>
                      </a:schemeClr>
                    </a:solidFill>
                  </a:tcPr>
                </a:tc>
                <a:tc h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solidFill>
                      <a:schemeClr val="accent2">
                        <a:lumMod val="20000"/>
                        <a:lumOff val="80000"/>
                      </a:schemeClr>
                    </a:solid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lnL w="12700" cmpd="sng">
                      <a:noFill/>
                    </a:lnL>
                  </a:tcPr>
                </a:tc>
                <a:tc hMerge="1">
                  <a:txBody>
                    <a:bodyPr/>
                    <a:lstStyle/>
                    <a:p>
                      <a:endParaRPr lang="zh-TW" altLang="en-US"/>
                    </a:p>
                  </a:txBody>
                  <a:tcPr/>
                </a:tc>
                <a:tc h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4132">
                <a:tc vMerge="1">
                  <a:txBody>
                    <a:bodyPr/>
                    <a:lstStyle/>
                    <a:p>
                      <a:pPr algn="ct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endParaRPr lang="zh-TW" altLang="en-US"/>
                    </a:p>
                  </a:txBody>
                  <a:tcPr/>
                </a:tc>
                <a:tc gridSpan="2">
                  <a:txBody>
                    <a:bodyPr/>
                    <a:lstStyle/>
                    <a:p>
                      <a:pPr algn="ctr"/>
                      <a:r>
                        <a:rPr kumimoji="0" lang="en-US" altLang="zh-TW" sz="1200" b="0" i="0" u="none" strike="noStrike" kern="1200" cap="none" spc="0" normalizeH="0" baseline="0" noProof="0" dirty="0">
                          <a:ln w="0"/>
                          <a:solidFill>
                            <a:schemeClr val="tx1"/>
                          </a:solidFill>
                          <a:effectLst/>
                          <a:uLnTx/>
                          <a:uFillTx/>
                          <a:latin typeface="+mn-lt"/>
                          <a:ea typeface="ADLaM Display" panose="02010000000000000000" pitchFamily="2" charset="0"/>
                          <a:cs typeface="ADLaM Display" panose="02010000000000000000" pitchFamily="2" charset="0"/>
                        </a:rPr>
                        <a:t>Training</a:t>
                      </a:r>
                      <a:endParaRPr lang="en-US" altLang="zh-TW" sz="1200" b="0" cap="none" spc="0" dirty="0">
                        <a:ln w="0"/>
                        <a:solidFill>
                          <a:schemeClr val="tx1"/>
                        </a:solidFill>
                        <a:effectLst/>
                        <a:latin typeface="+mn-lt"/>
                        <a:ea typeface="ADLaM Display" panose="02010000000000000000" pitchFamily="2" charset="0"/>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40000"/>
                      </a:schemeClr>
                    </a:solidFill>
                  </a:tcPr>
                </a:tc>
                <a:tc hMerge="1">
                  <a:txBody>
                    <a:bodyPr/>
                    <a:lstStyle/>
                    <a:p>
                      <a:endParaRPr lang="zh-TW" altLang="en-US"/>
                    </a:p>
                  </a:txBody>
                  <a:tcPr/>
                </a:tc>
                <a:tc gridSpan="2">
                  <a:txBody>
                    <a:bodyPr/>
                    <a:lstStyle/>
                    <a:p>
                      <a:pPr algn="ctr"/>
                      <a:r>
                        <a:rPr kumimoji="0" lang="en-US" altLang="zh-TW" sz="1200" b="0" i="0" u="none" strike="noStrike" kern="1200" cap="none" spc="0" normalizeH="0" baseline="0" noProof="0" dirty="0">
                          <a:ln w="0"/>
                          <a:solidFill>
                            <a:schemeClr val="tx1"/>
                          </a:solidFill>
                          <a:effectLst/>
                          <a:uLnTx/>
                          <a:uFillTx/>
                          <a:latin typeface="+mn-lt"/>
                          <a:ea typeface="ADLaM Display" panose="02010000000000000000" pitchFamily="2" charset="0"/>
                          <a:cs typeface="ADLaM Display" panose="02010000000000000000" pitchFamily="2" charset="0"/>
                        </a:rPr>
                        <a:t>Core Technology</a:t>
                      </a:r>
                      <a:endParaRPr sz="1200" b="0" dirty="0">
                        <a:solidFill>
                          <a:schemeClr val="tx1"/>
                        </a:solidFill>
                        <a:latin typeface="+mn-lt"/>
                        <a:ea typeface="ADLaM Display" panose="02010000000000000000" pitchFamily="2" charset="0"/>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40000"/>
                      </a:schemeClr>
                    </a:solidFill>
                  </a:tcPr>
                </a:tc>
                <a:tc hMerge="1">
                  <a:txBody>
                    <a:bodyPr/>
                    <a:lstStyle/>
                    <a:p>
                      <a:endParaRPr lang="zh-TW" altLang="en-US"/>
                    </a:p>
                  </a:txBody>
                  <a:tcPr/>
                </a:tc>
                <a:tc>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gridSpan="2">
                  <a:txBody>
                    <a:bodyPr/>
                    <a:lstStyle/>
                    <a:p>
                      <a:pPr algn="ctr"/>
                      <a:r>
                        <a:rPr lang="en-US" altLang="zh-TW" sz="1200" b="0" cap="none" spc="0" dirty="0">
                          <a:ln w="0"/>
                          <a:solidFill>
                            <a:schemeClr val="tx1"/>
                          </a:solidFill>
                          <a:effectLst/>
                          <a:latin typeface="+mn-lt"/>
                          <a:ea typeface="ADLaM Display" panose="02010000000000000000" pitchFamily="2" charset="0"/>
                          <a:cs typeface="ADLaM Display" panose="02010000000000000000" pitchFamily="2" charset="0"/>
                        </a:rPr>
                        <a:t>Context</a:t>
                      </a:r>
                      <a:endParaRPr lang="zh-TW" altLang="en-US" sz="1200" b="0" cap="none" spc="0" dirty="0">
                        <a:ln w="0"/>
                        <a:solidFill>
                          <a:schemeClr val="tx1"/>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hMerge="1">
                  <a:txBody>
                    <a:bodyPr/>
                    <a:lstStyle/>
                    <a:p>
                      <a:pPr algn="ctr"/>
                      <a:endParaRPr lang="zh-TW" altLang="en-US" sz="1200" b="0" cap="none" spc="0" dirty="0">
                        <a:ln w="0"/>
                        <a:solidFill>
                          <a:schemeClr val="tx1"/>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gridSpan="2">
                  <a:txBody>
                    <a:bodyPr/>
                    <a:lstStyle/>
                    <a:p>
                      <a:pPr algn="ctr"/>
                      <a:r>
                        <a:rPr lang="en-US" altLang="zh-TW" sz="1200" b="0" cap="none" spc="0" dirty="0">
                          <a:ln w="0"/>
                          <a:solidFill>
                            <a:schemeClr val="tx1"/>
                          </a:solidFill>
                          <a:effectLst/>
                          <a:latin typeface="+mn-lt"/>
                          <a:ea typeface="ADLaM Display" panose="02010000000000000000" pitchFamily="2" charset="0"/>
                          <a:cs typeface="ADLaM Display" panose="02010000000000000000" pitchFamily="2" charset="0"/>
                        </a:rPr>
                        <a:t>FFN Layer</a:t>
                      </a:r>
                      <a:endParaRPr lang="zh-TW" altLang="en-US" sz="1200" b="0" cap="none" spc="0" dirty="0">
                        <a:ln w="0"/>
                        <a:solidFill>
                          <a:schemeClr val="tx1"/>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hMerge="1">
                  <a:txBody>
                    <a:bodyPr/>
                    <a:lstStyle/>
                    <a:p>
                      <a:endParaRPr lang="zh-TW" altLang="en-US"/>
                    </a:p>
                  </a:txBody>
                  <a:tcPr>
                    <a:lnL w="12700" cmpd="sng">
                      <a:noFill/>
                    </a:lnL>
                  </a:tcPr>
                </a:tc>
                <a:tc>
                  <a:txBody>
                    <a:bodyPr/>
                    <a:lstStyle/>
                    <a:p>
                      <a:pPr algn="ctr"/>
                      <a:r>
                        <a:rPr lang="en-US" altLang="zh-TW" sz="1200" b="0" cap="none" spc="0" dirty="0">
                          <a:ln w="0"/>
                          <a:solidFill>
                            <a:schemeClr val="tx1"/>
                          </a:solidFill>
                          <a:effectLst/>
                          <a:latin typeface="+mn-lt"/>
                          <a:ea typeface="ADLaM Display" panose="02010000000000000000" pitchFamily="2" charset="0"/>
                          <a:cs typeface="ADLaM Display" panose="02010000000000000000" pitchFamily="2" charset="0"/>
                        </a:rPr>
                        <a:t>Para.</a:t>
                      </a:r>
                      <a:endParaRPr lang="zh-TW" altLang="en-US" sz="1200" b="0" cap="none" spc="0" dirty="0">
                        <a:ln w="0"/>
                        <a:solidFill>
                          <a:schemeClr val="tx1"/>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a:txBody>
                    <a:bodyPr/>
                    <a:lstStyle/>
                    <a:p>
                      <a:pPr algn="ctr"/>
                      <a:r>
                        <a:rPr lang="en-US" altLang="zh-TW" sz="1200" b="0" cap="none" spc="0" dirty="0">
                          <a:ln w="0"/>
                          <a:solidFill>
                            <a:schemeClr val="tx1"/>
                          </a:solidFill>
                          <a:effectLst/>
                          <a:latin typeface="+mn-lt"/>
                          <a:ea typeface="ADLaM Display" panose="02010000000000000000" pitchFamily="2" charset="0"/>
                          <a:cs typeface="ADLaM Display" panose="02010000000000000000" pitchFamily="2" charset="0"/>
                        </a:rPr>
                        <a:t>Requirement</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extLst>
                  <a:ext uri="{0D108BD9-81ED-4DB2-BD59-A6C34878D82A}">
                    <a16:rowId xmlns:a16="http://schemas.microsoft.com/office/drawing/2014/main" val="2581155207"/>
                  </a:ext>
                </a:extLst>
              </a:tr>
              <a:tr h="235532">
                <a:tc vMerge="1">
                  <a:txBody>
                    <a:bodyPr/>
                    <a:lstStyle/>
                    <a:p>
                      <a:pPr algn="ct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noFill/>
                  </a:tcPr>
                </a:tc>
                <a:tc v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lumMod val="75000"/>
                              <a:lumOff val="25000"/>
                            </a:schemeClr>
                          </a:solidFill>
                          <a:effectLst/>
                          <a:latin typeface="+mn-lt"/>
                          <a:ea typeface="ADLaM Display" panose="02010000000000000000" pitchFamily="2" charset="0"/>
                          <a:cs typeface="ADLaM Display" panose="02010000000000000000" pitchFamily="2" charset="0"/>
                        </a:rPr>
                        <a:t>Pre</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40000"/>
                      </a:schemeClr>
                    </a:solidFill>
                  </a:tcPr>
                </a:tc>
                <a:tc>
                  <a:txBody>
                    <a:bodyPr/>
                    <a:lstStyle/>
                    <a:p>
                      <a:pPr algn="ctr"/>
                      <a:r>
                        <a:rPr lang="en-US" altLang="zh-TW" sz="1000" b="0" cap="none" spc="0" dirty="0">
                          <a:ln w="0"/>
                          <a:solidFill>
                            <a:schemeClr val="tx1">
                              <a:lumMod val="75000"/>
                              <a:lumOff val="25000"/>
                            </a:schemeClr>
                          </a:solidFill>
                          <a:effectLst/>
                          <a:latin typeface="+mn-lt"/>
                          <a:ea typeface="ADLaM Display" panose="02010000000000000000" pitchFamily="2" charset="0"/>
                          <a:cs typeface="ADLaM Display" panose="02010000000000000000" pitchFamily="2" charset="0"/>
                        </a:rPr>
                        <a:t>Post/RL</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40000"/>
                      </a:schemeClr>
                    </a:solidFill>
                  </a:tcPr>
                </a:tc>
                <a:tc gridSpan="2">
                  <a:txBody>
                    <a:bodyPr/>
                    <a:lstStyle/>
                    <a:p>
                      <a:pPr algn="ctr"/>
                      <a:r>
                        <a:rPr lang="en-US" altLang="zh-TW" sz="1000" b="0" cap="none" spc="0" dirty="0">
                          <a:ln w="0"/>
                          <a:solidFill>
                            <a:schemeClr val="tx1"/>
                          </a:solidFill>
                          <a:effectLst/>
                          <a:latin typeface="+mn-lt"/>
                          <a:ea typeface="ADLaM Display" panose="02010000000000000000" pitchFamily="2" charset="0"/>
                          <a:cs typeface="ADLaM Display" panose="02010000000000000000" pitchFamily="2" charset="0"/>
                        </a:rPr>
                        <a:t>Model</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40000"/>
                      </a:schemeClr>
                    </a:solidFill>
                  </a:tcPr>
                </a:tc>
                <a:tc hMerge="1">
                  <a:txBody>
                    <a:bodyPr/>
                    <a:lstStyle/>
                    <a:p>
                      <a:endParaRPr lang="zh-TW" altLang="en-US"/>
                    </a:p>
                  </a:txBody>
                  <a:tcPr/>
                </a:tc>
                <a:tc>
                  <a:txBody>
                    <a:bodyPr/>
                    <a:lstStyle/>
                    <a:p>
                      <a:pPr algn="ctr"/>
                      <a:r>
                        <a:rPr lang="en-US" sz="1000" b="0" dirty="0">
                          <a:solidFill>
                            <a:schemeClr val="tx1"/>
                          </a:solidFill>
                          <a:latin typeface="+mn-lt"/>
                          <a:ea typeface="ADLaM Display" panose="02010000000000000000" pitchFamily="2" charset="0"/>
                          <a:cs typeface="ADLaM Display" panose="02010000000000000000" pitchFamily="2" charset="0"/>
                        </a:rPr>
                        <a:t>Attention</a:t>
                      </a:r>
                      <a:endParaRPr sz="1000" b="0" dirty="0">
                        <a:solidFill>
                          <a:schemeClr val="tx1"/>
                        </a:solidFill>
                        <a:latin typeface="+mn-lt"/>
                        <a:ea typeface="ADLaM Display" panose="02010000000000000000" pitchFamily="2" charset="0"/>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a:txBody>
                    <a:bodyPr/>
                    <a:lstStyle/>
                    <a:p>
                      <a:pPr algn="ctr"/>
                      <a:r>
                        <a:rPr lang="en-US" altLang="zh-TW" sz="1000" b="0" cap="none" spc="0" dirty="0">
                          <a:ln w="0"/>
                          <a:solidFill>
                            <a:schemeClr val="tx1">
                              <a:lumMod val="75000"/>
                              <a:lumOff val="25000"/>
                            </a:schemeClr>
                          </a:solidFill>
                          <a:effectLst/>
                          <a:latin typeface="+mn-lt"/>
                          <a:cs typeface="ADLaM Display" panose="02010000000000000000" pitchFamily="2" charset="0"/>
                        </a:rPr>
                        <a:t>Len</a:t>
                      </a:r>
                      <a:endParaRPr lang="zh-TW" altLang="en-US" sz="1000" b="0" cap="none" spc="0" dirty="0">
                        <a:ln w="0"/>
                        <a:solidFill>
                          <a:schemeClr val="tx1">
                            <a:lumMod val="75000"/>
                            <a:lumOff val="25000"/>
                          </a:schemeClr>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a:txBody>
                    <a:bodyPr/>
                    <a:lstStyle/>
                    <a:p>
                      <a:pPr algn="ctr"/>
                      <a:r>
                        <a:rPr lang="en-US" altLang="zh-TW" sz="1000" b="0" cap="none" spc="0" dirty="0">
                          <a:ln w="0"/>
                          <a:solidFill>
                            <a:schemeClr val="tx1">
                              <a:lumMod val="75000"/>
                              <a:lumOff val="25000"/>
                            </a:schemeClr>
                          </a:solidFill>
                          <a:effectLst/>
                          <a:latin typeface="+mn-lt"/>
                          <a:cs typeface="ADLaM Display" panose="02010000000000000000" pitchFamily="2" charset="0"/>
                        </a:rPr>
                        <a:t>Dim</a:t>
                      </a:r>
                      <a:endParaRPr lang="zh-TW" altLang="en-US" sz="1000" b="0" cap="none" spc="0" dirty="0">
                        <a:ln w="0"/>
                        <a:solidFill>
                          <a:schemeClr val="tx1">
                            <a:lumMod val="75000"/>
                            <a:lumOff val="25000"/>
                          </a:schemeClr>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a:txBody>
                    <a:bodyPr/>
                    <a:lstStyle/>
                    <a:p>
                      <a:pPr algn="ctr"/>
                      <a:r>
                        <a:rPr lang="en-US" altLang="zh-TW" sz="1000" b="0" cap="none" spc="0" dirty="0">
                          <a:ln w="0"/>
                          <a:solidFill>
                            <a:schemeClr val="tx1">
                              <a:lumMod val="75000"/>
                              <a:lumOff val="25000"/>
                            </a:schemeClr>
                          </a:solidFill>
                          <a:effectLst/>
                          <a:latin typeface="+mn-lt"/>
                          <a:ea typeface="ADLaM Display" panose="02010000000000000000" pitchFamily="2" charset="0"/>
                          <a:cs typeface="ADLaM Display" panose="02010000000000000000" pitchFamily="2" charset="0"/>
                        </a:rPr>
                        <a:t>Dense</a:t>
                      </a:r>
                      <a:endParaRPr lang="zh-TW" altLang="en-US" sz="1000" b="0" cap="none" spc="0" dirty="0">
                        <a:ln w="0"/>
                        <a:solidFill>
                          <a:schemeClr val="tx1">
                            <a:lumMod val="75000"/>
                            <a:lumOff val="25000"/>
                          </a:schemeClr>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a:txBody>
                    <a:bodyPr/>
                    <a:lstStyle/>
                    <a:p>
                      <a:pPr algn="ctr"/>
                      <a:r>
                        <a:rPr lang="en-US" altLang="zh-TW" sz="1000" b="0" cap="none" spc="0" dirty="0">
                          <a:ln w="0"/>
                          <a:solidFill>
                            <a:schemeClr val="tx1">
                              <a:lumMod val="75000"/>
                              <a:lumOff val="25000"/>
                            </a:schemeClr>
                          </a:solidFill>
                          <a:effectLst/>
                          <a:latin typeface="+mn-lt"/>
                          <a:ea typeface="ADLaM Display" panose="02010000000000000000" pitchFamily="2" charset="0"/>
                          <a:cs typeface="ADLaM Display" panose="02010000000000000000" pitchFamily="2" charset="0"/>
                        </a:rPr>
                        <a:t>MoE</a:t>
                      </a:r>
                      <a:endParaRPr lang="zh-TW" altLang="en-US" sz="1000" b="0" cap="none" spc="0" dirty="0">
                        <a:ln w="0"/>
                        <a:solidFill>
                          <a:schemeClr val="tx1">
                            <a:lumMod val="75000"/>
                            <a:lumOff val="25000"/>
                          </a:schemeClr>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a:txBody>
                    <a:bodyPr/>
                    <a:lstStyle/>
                    <a:p>
                      <a:pPr algn="ctr"/>
                      <a:endParaRPr lang="zh-TW" altLang="en-US" sz="1000" b="0" cap="none" spc="0" dirty="0">
                        <a:ln w="0"/>
                        <a:solidFill>
                          <a:schemeClr val="tx1"/>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a:txBody>
                    <a:bodyPr/>
                    <a:lstStyle/>
                    <a:p>
                      <a:pPr algn="ctr"/>
                      <a:endParaRPr lang="en-US" altLang="zh-TW" sz="1000" b="0" cap="none" spc="0" dirty="0">
                        <a:ln w="0"/>
                        <a:solidFill>
                          <a:schemeClr val="tx1"/>
                        </a:solidFill>
                        <a:effectLst/>
                        <a:latin typeface="+mn-lt"/>
                        <a:ea typeface="ADLaM Display" panose="02010000000000000000" pitchFamily="2" charset="0"/>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extLst>
                  <a:ext uri="{0D108BD9-81ED-4DB2-BD59-A6C34878D82A}">
                    <a16:rowId xmlns:a16="http://schemas.microsoft.com/office/drawing/2014/main" val="533882152"/>
                  </a:ext>
                </a:extLst>
              </a:tr>
              <a:tr h="407691">
                <a:tc>
                  <a:txBody>
                    <a:bodyPr/>
                    <a:lstStyle/>
                    <a:p>
                      <a:pPr algn="l"/>
                      <a:r>
                        <a:rPr lang="en-US" altLang="zh-TW" sz="1200" b="0" cap="none" spc="0" dirty="0">
                          <a:ln w="0"/>
                          <a:solidFill>
                            <a:schemeClr val="tx1"/>
                          </a:solidFill>
                          <a:effectLst/>
                        </a:rPr>
                        <a:t>V2</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V2.5</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AdamW</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GRPO</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MLA</a:t>
                      </a:r>
                    </a:p>
                    <a:p>
                      <a:pPr algn="ctr"/>
                      <a:r>
                        <a:rPr lang="en-US" altLang="zh-TW" sz="1000" b="0" cap="none" spc="0" dirty="0">
                          <a:ln w="0"/>
                          <a:solidFill>
                            <a:schemeClr val="tx1">
                              <a:lumMod val="50000"/>
                              <a:lumOff val="50000"/>
                            </a:schemeClr>
                          </a:solidFill>
                          <a:effectLst/>
                        </a:rPr>
                        <a:t>(Multi-head Latent)</a:t>
                      </a: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err="1">
                          <a:ln w="0"/>
                          <a:solidFill>
                            <a:schemeClr val="tx1"/>
                          </a:solidFill>
                          <a:effectLst/>
                        </a:rPr>
                        <a:t>DSMoE</a:t>
                      </a:r>
                      <a:br>
                        <a:rPr lang="en-US" altLang="zh-TW" sz="1200" b="0" cap="none" spc="0" dirty="0">
                          <a:ln w="0"/>
                          <a:solidFill>
                            <a:schemeClr val="tx1"/>
                          </a:solidFill>
                          <a:effectLst/>
                        </a:rPr>
                      </a:br>
                      <a:r>
                        <a:rPr lang="en-US" altLang="zh-TW" sz="1000" b="0" cap="none" spc="0" dirty="0">
                          <a:ln w="0"/>
                          <a:solidFill>
                            <a:schemeClr val="tx1">
                              <a:lumMod val="50000"/>
                              <a:lumOff val="50000"/>
                            </a:schemeClr>
                          </a:solidFill>
                          <a:effectLst/>
                        </a:rPr>
                        <a:t>(Fine-Grained)</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1~60</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32k</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5120</a:t>
                      </a:r>
                      <a:br>
                        <a:rPr lang="en-US" altLang="zh-TW" sz="1000" b="0" cap="none" spc="0" dirty="0">
                          <a:ln w="0"/>
                          <a:solidFill>
                            <a:schemeClr val="tx1"/>
                          </a:solidFill>
                          <a:effectLst/>
                        </a:rPr>
                      </a:br>
                      <a:r>
                        <a:rPr lang="en-US" altLang="zh-TW" sz="1000" b="0" cap="none" spc="0" dirty="0">
                          <a:ln w="0"/>
                          <a:solidFill>
                            <a:schemeClr val="tx1">
                              <a:lumMod val="50000"/>
                              <a:lumOff val="50000"/>
                            </a:schemeClr>
                          </a:solidFill>
                          <a:effectLst/>
                        </a:rPr>
                        <a:t>(512)</a:t>
                      </a: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1</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algn="ctr"/>
                      <a:r>
                        <a:rPr lang="en-US" altLang="zh-TW" sz="1000" b="0" cap="none" spc="0" dirty="0">
                          <a:ln w="0"/>
                          <a:solidFill>
                            <a:schemeClr val="tx1"/>
                          </a:solidFill>
                          <a:effectLst/>
                        </a:rPr>
                        <a:t>2~60</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algn="ctr"/>
                      <a:r>
                        <a:rPr lang="en-US" altLang="zh-TW" sz="1000" b="0" cap="none" spc="0" dirty="0">
                          <a:ln w="0"/>
                          <a:solidFill>
                            <a:schemeClr val="tx1"/>
                          </a:solidFill>
                          <a:effectLst/>
                        </a:rPr>
                        <a:t>21B / 236B</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1 PC</a:t>
                      </a:r>
                    </a:p>
                    <a:p>
                      <a:pPr algn="ctr"/>
                      <a:r>
                        <a:rPr lang="en-US" altLang="zh-TW" sz="1000" b="0" cap="none" spc="0" dirty="0">
                          <a:ln w="0"/>
                          <a:solidFill>
                            <a:schemeClr val="tx1">
                              <a:lumMod val="50000"/>
                              <a:lumOff val="50000"/>
                            </a:schemeClr>
                          </a:solidFill>
                          <a:effectLst/>
                        </a:rPr>
                        <a:t>(8 x A100 80G)</a:t>
                      </a: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338843">
                <a:tc>
                  <a:txBody>
                    <a:bodyPr/>
                    <a:lstStyle/>
                    <a:p>
                      <a:pPr algn="l"/>
                      <a:r>
                        <a:rPr lang="en-US" altLang="zh-TW" sz="1200" b="0" cap="none" spc="0" dirty="0">
                          <a:ln w="0"/>
                          <a:solidFill>
                            <a:schemeClr val="tx1"/>
                          </a:solidFill>
                          <a:effectLst/>
                        </a:rPr>
                        <a:t>V3</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V3.2</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AdamW</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GRPO</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DSA</a:t>
                      </a:r>
                    </a:p>
                    <a:p>
                      <a:pPr algn="ctr"/>
                      <a:r>
                        <a:rPr lang="en-US" altLang="zh-TW" sz="1000" b="0" cap="none" spc="0" dirty="0">
                          <a:ln w="0"/>
                          <a:solidFill>
                            <a:schemeClr val="tx1">
                              <a:lumMod val="50000"/>
                              <a:lumOff val="50000"/>
                            </a:schemeClr>
                          </a:solidFill>
                          <a:effectLst/>
                        </a:rPr>
                        <a:t>(DeepSeek Sparse)</a:t>
                      </a: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Dual Pipe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1~61</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128k</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7168</a:t>
                      </a:r>
                    </a:p>
                    <a:p>
                      <a:pPr algn="ctr"/>
                      <a:r>
                        <a:rPr lang="en-US" altLang="zh-TW" sz="1000" b="0" cap="none" spc="0" dirty="0">
                          <a:ln w="0"/>
                          <a:solidFill>
                            <a:schemeClr val="tx1">
                              <a:lumMod val="50000"/>
                              <a:lumOff val="50000"/>
                            </a:schemeClr>
                          </a:solidFill>
                          <a:effectLst/>
                        </a:rPr>
                        <a:t>(512)</a:t>
                      </a: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1~3</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algn="ctr"/>
                      <a:r>
                        <a:rPr lang="en-US" altLang="zh-TW" sz="1000" b="0" cap="none" spc="0" dirty="0">
                          <a:ln w="0"/>
                          <a:solidFill>
                            <a:schemeClr val="tx1"/>
                          </a:solidFill>
                          <a:effectLst/>
                        </a:rPr>
                        <a:t>4~61</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algn="ctr"/>
                      <a:r>
                        <a:rPr lang="en-US" altLang="zh-TW" sz="1000" b="0" cap="none" spc="0" dirty="0">
                          <a:ln w="0"/>
                          <a:solidFill>
                            <a:schemeClr val="tx1"/>
                          </a:solidFill>
                          <a:effectLst/>
                        </a:rPr>
                        <a:t>37B</a:t>
                      </a:r>
                      <a:r>
                        <a:rPr lang="zh-TW" altLang="en-US" sz="1000" b="0" cap="none" spc="0" dirty="0">
                          <a:ln w="0"/>
                          <a:solidFill>
                            <a:schemeClr val="tx1"/>
                          </a:solidFill>
                          <a:effectLst/>
                        </a:rPr>
                        <a:t> </a:t>
                      </a:r>
                      <a:r>
                        <a:rPr lang="en-US" altLang="zh-TW" sz="1000" b="0" cap="none" spc="0" dirty="0">
                          <a:ln w="0"/>
                          <a:solidFill>
                            <a:schemeClr val="tx1"/>
                          </a:solidFill>
                          <a:effectLst/>
                        </a:rPr>
                        <a:t>/</a:t>
                      </a:r>
                      <a:r>
                        <a:rPr lang="zh-TW" altLang="en-US" sz="1000" b="0" cap="none" spc="0" dirty="0">
                          <a:ln w="0"/>
                          <a:solidFill>
                            <a:schemeClr val="tx1"/>
                          </a:solidFill>
                          <a:effectLst/>
                        </a:rPr>
                        <a:t> </a:t>
                      </a:r>
                      <a:r>
                        <a:rPr lang="en-US" altLang="zh-TW" sz="1000" b="0" cap="none" spc="0" dirty="0">
                          <a:ln w="0"/>
                          <a:solidFill>
                            <a:schemeClr val="tx1"/>
                          </a:solidFill>
                          <a:effectLst/>
                        </a:rPr>
                        <a:t>671B</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4</a:t>
                      </a:r>
                      <a:r>
                        <a:rPr lang="zh-TW" altLang="en-US" sz="1000" b="0" cap="none" spc="0" dirty="0">
                          <a:ln w="0"/>
                          <a:solidFill>
                            <a:schemeClr val="tx1"/>
                          </a:solidFill>
                          <a:effectLst/>
                        </a:rPr>
                        <a:t> </a:t>
                      </a:r>
                      <a:r>
                        <a:rPr lang="en-US" altLang="zh-TW" sz="1000" b="0" cap="none" spc="0" dirty="0">
                          <a:ln w="0"/>
                          <a:solidFill>
                            <a:schemeClr val="tx1"/>
                          </a:solidFill>
                          <a:effectLst/>
                        </a:rPr>
                        <a:t>PC with</a:t>
                      </a:r>
                    </a:p>
                    <a:p>
                      <a:pPr algn="ctr"/>
                      <a:r>
                        <a:rPr lang="en-US" altLang="zh-TW" sz="1000" b="0" cap="none" spc="0" dirty="0">
                          <a:ln w="0"/>
                          <a:solidFill>
                            <a:schemeClr val="tx1">
                              <a:lumMod val="50000"/>
                              <a:lumOff val="50000"/>
                            </a:schemeClr>
                          </a:solidFill>
                          <a:effectLst/>
                        </a:rPr>
                        <a:t>(8 x A100 80G)</a:t>
                      </a: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2327442"/>
                  </a:ext>
                </a:extLst>
              </a:tr>
              <a:tr h="282369">
                <a:tc rowSpan="2">
                  <a:txBody>
                    <a:bodyPr/>
                    <a:lstStyle/>
                    <a:p>
                      <a:pPr algn="l"/>
                      <a:r>
                        <a:rPr lang="en-US" altLang="zh-TW" sz="1200" b="0" cap="none" spc="0" dirty="0">
                          <a:ln w="0"/>
                          <a:solidFill>
                            <a:schemeClr val="tx1"/>
                          </a:solidFill>
                          <a:effectLst/>
                        </a:rPr>
                        <a:t>V4</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Pro</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rowSpan="2">
                  <a:txBody>
                    <a:bodyPr/>
                    <a:lstStyle/>
                    <a:p>
                      <a:pPr algn="ctr"/>
                      <a:r>
                        <a:rPr lang="en-US" sz="1200" dirty="0"/>
                        <a:t>Muon</a:t>
                      </a:r>
                      <a:endParaRPr sz="1200"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rowSpan="2">
                  <a:txBody>
                    <a:bodyPr/>
                    <a:lstStyle/>
                    <a:p>
                      <a:pPr algn="ctr"/>
                      <a:r>
                        <a:rPr lang="en-US" sz="1200" dirty="0"/>
                        <a:t>GRPO</a:t>
                      </a:r>
                      <a:endParaRPr sz="1200"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Hybrid MHA</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1">
                              <a:lumMod val="50000"/>
                              <a:lumOff val="50000"/>
                            </a:schemeClr>
                          </a:solidFill>
                          <a:effectLst/>
                          <a:uLnTx/>
                          <a:uFillTx/>
                          <a:latin typeface="+mn-lt"/>
                          <a:ea typeface="+mn-ea"/>
                          <a:cs typeface="+mn-cs"/>
                        </a:rPr>
                        <a:t>(SWA, HCA,</a:t>
                      </a:r>
                      <a:r>
                        <a:rPr kumimoji="0" lang="zh-TW" altLang="en-US" sz="1000" b="0" i="0" u="none" strike="noStrike" kern="1200" cap="none" spc="0" normalizeH="0" baseline="0" noProof="0" dirty="0">
                          <a:ln w="0"/>
                          <a:solidFill>
                            <a:schemeClr val="tx1">
                              <a:lumMod val="50000"/>
                              <a:lumOff val="50000"/>
                            </a:schemeClr>
                          </a:solidFill>
                          <a:effectLst/>
                          <a:uLnTx/>
                          <a:uFillTx/>
                          <a:latin typeface="+mn-lt"/>
                          <a:ea typeface="+mn-ea"/>
                          <a:cs typeface="+mn-cs"/>
                        </a:rPr>
                        <a:t> </a:t>
                      </a:r>
                      <a:r>
                        <a:rPr kumimoji="0" lang="en-US" altLang="zh-TW" sz="1000" b="0" i="0" u="none" strike="noStrike" kern="1200" cap="none" spc="0" normalizeH="0" baseline="0" noProof="0" dirty="0">
                          <a:ln w="0"/>
                          <a:solidFill>
                            <a:schemeClr val="tx1">
                              <a:lumMod val="50000"/>
                              <a:lumOff val="50000"/>
                            </a:schemeClr>
                          </a:solidFill>
                          <a:effectLst/>
                          <a:uLnTx/>
                          <a:uFillTx/>
                          <a:latin typeface="+mn-lt"/>
                          <a:ea typeface="+mn-ea"/>
                          <a:cs typeface="+mn-cs"/>
                        </a:rPr>
                        <a:t>CSA)</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DSA+MHC</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l"/>
                      <a:r>
                        <a:rPr lang="en-US" altLang="zh-TW" sz="1000" b="0" cap="none" spc="0" dirty="0">
                          <a:ln w="0"/>
                          <a:solidFill>
                            <a:schemeClr val="tx1"/>
                          </a:solidFill>
                          <a:effectLst/>
                        </a:rPr>
                        <a:t>1~</a:t>
                      </a:r>
                      <a:r>
                        <a:rPr lang="en-US" altLang="zh-TW" sz="1000" b="0" cap="none" spc="0" dirty="0">
                          <a:ln w="0"/>
                          <a:solidFill>
                            <a:schemeClr val="bg2"/>
                          </a:solidFill>
                          <a:effectLst/>
                        </a:rPr>
                        <a:t>0</a:t>
                      </a:r>
                      <a:r>
                        <a:rPr lang="en-US" altLang="zh-TW" sz="1000" b="0" cap="none" spc="0" dirty="0">
                          <a:ln w="0"/>
                          <a:solidFill>
                            <a:schemeClr val="tx1"/>
                          </a:solidFill>
                          <a:effectLst/>
                        </a:rPr>
                        <a:t>2 HCA</a:t>
                      </a:r>
                    </a:p>
                    <a:p>
                      <a:pPr algn="l"/>
                      <a:r>
                        <a:rPr lang="en-US" altLang="zh-TW" sz="1000" b="0" cap="none" spc="0" dirty="0">
                          <a:ln w="0"/>
                          <a:solidFill>
                            <a:schemeClr val="tx1"/>
                          </a:solidFill>
                          <a:effectLst/>
                        </a:rPr>
                        <a:t>3~61 CSA/HCA</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1M</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&lt;4096</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0</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algn="ctr"/>
                      <a:r>
                        <a:rPr lang="en-US" altLang="zh-TW" sz="1000" b="0" cap="none" spc="0" dirty="0">
                          <a:ln w="0"/>
                          <a:solidFill>
                            <a:schemeClr val="tx1"/>
                          </a:solidFill>
                          <a:effectLst/>
                        </a:rPr>
                        <a:t>1~61</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algn="ctr"/>
                      <a:r>
                        <a:rPr lang="en-US" altLang="zh-TW" sz="1000" b="0" cap="none" spc="0" dirty="0">
                          <a:ln w="0"/>
                          <a:solidFill>
                            <a:schemeClr val="tx1"/>
                          </a:solidFill>
                          <a:effectLst/>
                        </a:rPr>
                        <a:t>49B / 1.6T</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AI clusters</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207449185"/>
                  </a:ext>
                </a:extLst>
              </a:tr>
              <a:tr h="282369">
                <a:tc vMerge="1">
                  <a:txBody>
                    <a:bodyPr/>
                    <a:lstStyle/>
                    <a:p>
                      <a:pPr algn="l"/>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mpd="sng">
                      <a:noFill/>
                    </a:lnB>
                    <a:lnTlToBr w="12700" cmpd="sng">
                      <a:noFill/>
                      <a:prstDash val="solid"/>
                    </a:lnTlToBr>
                    <a:noFill/>
                  </a:tcPr>
                </a:tc>
                <a:tc>
                  <a:txBody>
                    <a:bodyPr/>
                    <a:lstStyle/>
                    <a:p>
                      <a:pPr algn="ctr"/>
                      <a:r>
                        <a:rPr lang="en-US" altLang="zh-TW" sz="1200" b="0" cap="none" spc="0" dirty="0">
                          <a:ln w="0"/>
                          <a:solidFill>
                            <a:schemeClr val="tx1"/>
                          </a:solidFill>
                          <a:effectLst/>
                        </a:rPr>
                        <a:t>Flash</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tc vMerge="1">
                  <a:txBody>
                    <a:bodyPr/>
                    <a:lstStyle/>
                    <a:p>
                      <a:pPr algn="ctr"/>
                      <a:endParaRPr sz="1200"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noFill/>
                  </a:tcPr>
                </a:tc>
                <a:tc v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1"/>
                          </a:solidFill>
                          <a:effectLst/>
                          <a:uLnTx/>
                          <a:uFillTx/>
                          <a:latin typeface="+mn-lt"/>
                          <a:ea typeface="+mn-ea"/>
                          <a:cs typeface="+mn-cs"/>
                        </a:rPr>
                        <a:t>1~</a:t>
                      </a:r>
                      <a:r>
                        <a:rPr kumimoji="0" lang="en-US" altLang="zh-TW" sz="1000" b="0" i="0" u="none" strike="noStrike" kern="1200" cap="none" spc="0" normalizeH="0" baseline="0" noProof="0" dirty="0">
                          <a:ln w="0"/>
                          <a:solidFill>
                            <a:schemeClr val="bg2"/>
                          </a:solidFill>
                          <a:effectLst/>
                          <a:uLnTx/>
                          <a:uFillTx/>
                          <a:latin typeface="+mn-lt"/>
                          <a:ea typeface="+mn-ea"/>
                          <a:cs typeface="+mn-cs"/>
                        </a:rPr>
                        <a:t>0</a:t>
                      </a:r>
                      <a:r>
                        <a:rPr kumimoji="0" lang="en-US" altLang="zh-TW" sz="1000" b="0" i="0" u="none" strike="noStrike" kern="1200" cap="none" spc="0" normalizeH="0" baseline="0" noProof="0" dirty="0">
                          <a:ln w="0"/>
                          <a:solidFill>
                            <a:schemeClr val="tx1"/>
                          </a:solidFill>
                          <a:effectLst/>
                          <a:uLnTx/>
                          <a:uFillTx/>
                          <a:latin typeface="+mn-lt"/>
                          <a:ea typeface="+mn-ea"/>
                          <a:cs typeface="+mn-cs"/>
                        </a:rPr>
                        <a:t>2 SWA</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1"/>
                          </a:solidFill>
                          <a:effectLst/>
                          <a:uLnTx/>
                          <a:uFillTx/>
                          <a:latin typeface="+mn-lt"/>
                          <a:ea typeface="+mn-ea"/>
                          <a:cs typeface="+mn-cs"/>
                        </a:rPr>
                        <a:t>3~43 CSA/HCA</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1M</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&gt;8192</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0</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algn="ctr"/>
                      <a:r>
                        <a:rPr lang="en-US" altLang="zh-TW" sz="1000" b="0" cap="none" spc="0" dirty="0">
                          <a:ln w="0"/>
                          <a:solidFill>
                            <a:schemeClr val="tx1"/>
                          </a:solidFill>
                          <a:effectLst/>
                        </a:rPr>
                        <a:t>1~43</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algn="ctr"/>
                      <a:r>
                        <a:rPr lang="en-US" altLang="zh-TW" sz="1000" b="0" cap="none" spc="0" dirty="0">
                          <a:ln w="0"/>
                          <a:solidFill>
                            <a:schemeClr val="tx1"/>
                          </a:solidFill>
                          <a:effectLst/>
                        </a:rPr>
                        <a:t>13B / 284B </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1</a:t>
                      </a:r>
                      <a:r>
                        <a:rPr lang="zh-TW" altLang="en-US" sz="1000" b="0" cap="none" spc="0" dirty="0">
                          <a:ln w="0"/>
                          <a:solidFill>
                            <a:schemeClr val="tx1"/>
                          </a:solidFill>
                          <a:effectLst/>
                        </a:rPr>
                        <a:t> </a:t>
                      </a:r>
                      <a:r>
                        <a:rPr lang="en-US" altLang="zh-TW" sz="1000" b="0" cap="none" spc="0" dirty="0">
                          <a:ln w="0"/>
                          <a:solidFill>
                            <a:schemeClr val="tx1"/>
                          </a:solidFill>
                          <a:effectLst/>
                        </a:rPr>
                        <a:t>PC</a:t>
                      </a:r>
                    </a:p>
                    <a:p>
                      <a:pPr algn="ctr"/>
                      <a:r>
                        <a:rPr lang="en-US" altLang="zh-TW" sz="1000" b="0" cap="none" spc="0" dirty="0">
                          <a:ln w="0"/>
                          <a:solidFill>
                            <a:schemeClr val="tx1">
                              <a:lumMod val="50000"/>
                              <a:lumOff val="50000"/>
                            </a:schemeClr>
                          </a:solidFill>
                          <a:effectLst/>
                        </a:rPr>
                        <a:t>(8</a:t>
                      </a:r>
                      <a:r>
                        <a:rPr lang="zh-TW" altLang="en-US" sz="1000" b="0" cap="none" spc="0" dirty="0">
                          <a:ln w="0"/>
                          <a:solidFill>
                            <a:schemeClr val="tx1">
                              <a:lumMod val="50000"/>
                              <a:lumOff val="50000"/>
                            </a:schemeClr>
                          </a:solidFill>
                          <a:effectLst/>
                        </a:rPr>
                        <a:t> </a:t>
                      </a:r>
                      <a:r>
                        <a:rPr lang="en-US" altLang="zh-TW" sz="1000" b="0" cap="none" spc="0" dirty="0">
                          <a:ln w="0"/>
                          <a:solidFill>
                            <a:schemeClr val="tx1">
                              <a:lumMod val="50000"/>
                              <a:lumOff val="50000"/>
                            </a:schemeClr>
                          </a:solidFill>
                          <a:effectLst/>
                        </a:rPr>
                        <a:t>x H800)</a:t>
                      </a: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65565795"/>
                  </a:ext>
                </a:extLst>
              </a:tr>
              <a:tr h="266179">
                <a:tc>
                  <a:txBody>
                    <a:bodyPr/>
                    <a:lstStyle/>
                    <a:p>
                      <a:pPr algn="l"/>
                      <a:r>
                        <a:rPr lang="en-US" altLang="zh-TW" sz="1200" b="0" cap="none" spc="0" dirty="0">
                          <a:ln w="0"/>
                          <a:solidFill>
                            <a:schemeClr val="tx1">
                              <a:lumMod val="50000"/>
                              <a:lumOff val="50000"/>
                            </a:schemeClr>
                          </a:solidFill>
                          <a:effectLst/>
                        </a:rPr>
                        <a:t>V5</a:t>
                      </a:r>
                      <a:endParaRPr lang="zh-TW" altLang="en-US" sz="1200" b="0" cap="none" spc="0" dirty="0">
                        <a:ln w="0"/>
                        <a:solidFill>
                          <a:schemeClr val="tx1">
                            <a:lumMod val="50000"/>
                            <a:lumOff val="50000"/>
                          </a:schemeClr>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lumMod val="50000"/>
                              <a:lumOff val="50000"/>
                            </a:schemeClr>
                          </a:solidFill>
                          <a:effectLst/>
                        </a:rPr>
                        <a:t>-</a:t>
                      </a:r>
                      <a:endParaRPr lang="zh-TW" altLang="en-US" sz="12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tc>
                  <a:txBody>
                    <a:bodyPr/>
                    <a:lstStyle/>
                    <a:p>
                      <a:pPr algn="ctr"/>
                      <a:r>
                        <a:rPr lang="en-US" sz="1200" dirty="0">
                          <a:solidFill>
                            <a:schemeClr val="tx1">
                              <a:lumMod val="50000"/>
                              <a:lumOff val="50000"/>
                            </a:schemeClr>
                          </a:solidFill>
                        </a:rPr>
                        <a:t>-</a:t>
                      </a:r>
                      <a:endParaRPr sz="1200" dirty="0">
                        <a:solidFill>
                          <a:schemeClr val="tx1">
                            <a:lumMod val="50000"/>
                            <a:lumOff val="50000"/>
                          </a:schemeClr>
                        </a:solidFill>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tc>
                  <a:txBody>
                    <a:bodyPr/>
                    <a:lstStyle/>
                    <a:p>
                      <a:pPr algn="ctr"/>
                      <a:r>
                        <a:rPr lang="en-US" sz="1200" dirty="0">
                          <a:solidFill>
                            <a:schemeClr val="tx1">
                              <a:lumMod val="50000"/>
                              <a:lumOff val="50000"/>
                            </a:schemeClr>
                          </a:solidFill>
                        </a:rPr>
                        <a:t>-</a:t>
                      </a:r>
                      <a:endParaRPr sz="1200" dirty="0">
                        <a:solidFill>
                          <a:schemeClr val="tx1">
                            <a:lumMod val="50000"/>
                            <a:lumOff val="50000"/>
                          </a:schemeClr>
                        </a:solidFill>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1">
                              <a:lumMod val="50000"/>
                              <a:lumOff val="50000"/>
                            </a:schemeClr>
                          </a:solidFill>
                          <a:effectLst/>
                          <a:uLnTx/>
                          <a:uFillTx/>
                          <a:latin typeface="+mn-lt"/>
                          <a:ea typeface="+mn-ea"/>
                          <a:cs typeface="+mn-cs"/>
                        </a:rPr>
                        <a:t>-</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lumMod val="50000"/>
                              <a:lumOff val="50000"/>
                            </a:schemeClr>
                          </a:solidFill>
                          <a:effectLst/>
                          <a:uLnTx/>
                          <a:uFillTx/>
                          <a:latin typeface="+mn-lt"/>
                          <a:ea typeface="+mn-ea"/>
                          <a:cs typeface="+mn-cs"/>
                        </a:rPr>
                        <a:t>Engram</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000" b="0" i="0" u="none" strike="noStrike" kern="1200" cap="none" spc="0" normalizeH="0" baseline="0" noProof="0" dirty="0">
                        <a:ln w="0"/>
                        <a:solidFill>
                          <a:schemeClr val="tx1">
                            <a:lumMod val="50000"/>
                            <a:lumOff val="50000"/>
                          </a:schemeClr>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tc>
                  <a:txBody>
                    <a:bodyPr/>
                    <a:lstStyle/>
                    <a:p>
                      <a:pPr algn="ct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tc>
                  <a:txBody>
                    <a:bodyPr/>
                    <a:lstStyle/>
                    <a:p>
                      <a:pPr algn="ct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tc>
                  <a:txBody>
                    <a:bodyPr/>
                    <a:lstStyle/>
                    <a:p>
                      <a:pPr algn="ct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algn="ct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algn="ctr"/>
                      <a:endParaRPr lang="zh-TW" altLang="en-US" sz="12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tc>
                  <a:txBody>
                    <a:bodyPr/>
                    <a:lstStyle/>
                    <a:p>
                      <a:pPr algn="ct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096539059"/>
                  </a:ext>
                </a:extLst>
              </a:tr>
            </a:tbl>
          </a:graphicData>
        </a:graphic>
      </p:graphicFrame>
    </p:spTree>
    <p:extLst>
      <p:ext uri="{BB962C8B-B14F-4D97-AF65-F5344CB8AC3E}">
        <p14:creationId xmlns:p14="http://schemas.microsoft.com/office/powerpoint/2010/main" val="218421321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圖片 1">
            <a:extLst>
              <a:ext uri="{FF2B5EF4-FFF2-40B4-BE49-F238E27FC236}">
                <a16:creationId xmlns:a16="http://schemas.microsoft.com/office/drawing/2014/main" id="{F420C80E-37D4-372F-D96E-78D501C55D12}"/>
              </a:ext>
            </a:extLst>
          </p:cNvPr>
          <p:cNvPicPr>
            <a:picLocks noChangeAspect="1"/>
          </p:cNvPicPr>
          <p:nvPr/>
        </p:nvPicPr>
        <p:blipFill>
          <a:blip r:embed="rId2"/>
          <a:stretch>
            <a:fillRect/>
          </a:stretch>
        </p:blipFill>
        <p:spPr>
          <a:xfrm>
            <a:off x="1143000" y="1025937"/>
            <a:ext cx="6093296" cy="3094789"/>
          </a:xfrm>
          <a:prstGeom prst="rect">
            <a:avLst/>
          </a:prstGeom>
        </p:spPr>
      </p:pic>
      <p:sp>
        <p:nvSpPr>
          <p:cNvPr id="4" name="標題 1">
            <a:extLst>
              <a:ext uri="{FF2B5EF4-FFF2-40B4-BE49-F238E27FC236}">
                <a16:creationId xmlns:a16="http://schemas.microsoft.com/office/drawing/2014/main" id="{A2245D14-54E3-79E0-6651-0F4BA441EEF2}"/>
              </a:ext>
            </a:extLst>
          </p:cNvPr>
          <p:cNvSpPr txBox="1">
            <a:spLocks/>
          </p:cNvSpPr>
          <p:nvPr/>
        </p:nvSpPr>
        <p:spPr>
          <a:xfrm>
            <a:off x="179512" y="116632"/>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MTP</a:t>
            </a:r>
          </a:p>
          <a:p>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https://zhuanlan.zhihu.com/p/18056041194</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7" name="圖片 6">
            <a:extLst>
              <a:ext uri="{FF2B5EF4-FFF2-40B4-BE49-F238E27FC236}">
                <a16:creationId xmlns:a16="http://schemas.microsoft.com/office/drawing/2014/main" id="{5E0CC9C3-4045-3D30-8145-8B0342428755}"/>
              </a:ext>
            </a:extLst>
          </p:cNvPr>
          <p:cNvPicPr>
            <a:picLocks noChangeAspect="1"/>
          </p:cNvPicPr>
          <p:nvPr/>
        </p:nvPicPr>
        <p:blipFill>
          <a:blip r:embed="rId3"/>
          <a:stretch>
            <a:fillRect/>
          </a:stretch>
        </p:blipFill>
        <p:spPr>
          <a:xfrm>
            <a:off x="2843808" y="3961300"/>
            <a:ext cx="5157192" cy="2636052"/>
          </a:xfrm>
          <a:prstGeom prst="rect">
            <a:avLst/>
          </a:prstGeom>
        </p:spPr>
      </p:pic>
    </p:spTree>
    <p:extLst>
      <p:ext uri="{BB962C8B-B14F-4D97-AF65-F5344CB8AC3E}">
        <p14:creationId xmlns:p14="http://schemas.microsoft.com/office/powerpoint/2010/main" val="379315683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B834BE8E-F60D-7BB0-3E16-E44E3984BCCF}"/>
              </a:ext>
            </a:extLst>
          </p:cNvPr>
          <p:cNvPicPr>
            <a:picLocks noChangeAspect="1"/>
          </p:cNvPicPr>
          <p:nvPr/>
        </p:nvPicPr>
        <p:blipFill>
          <a:blip r:embed="rId2"/>
          <a:stretch>
            <a:fillRect/>
          </a:stretch>
        </p:blipFill>
        <p:spPr>
          <a:xfrm>
            <a:off x="0" y="831024"/>
            <a:ext cx="9144000" cy="5195952"/>
          </a:xfrm>
          <a:prstGeom prst="rect">
            <a:avLst/>
          </a:prstGeom>
        </p:spPr>
      </p:pic>
      <p:sp>
        <p:nvSpPr>
          <p:cNvPr id="5" name="文字方塊 4">
            <a:hlinkClick r:id="rId3"/>
            <a:extLst>
              <a:ext uri="{FF2B5EF4-FFF2-40B4-BE49-F238E27FC236}">
                <a16:creationId xmlns:a16="http://schemas.microsoft.com/office/drawing/2014/main" id="{E72E6D05-B98B-FC30-961B-737C8D09D445}"/>
              </a:ext>
            </a:extLst>
          </p:cNvPr>
          <p:cNvSpPr txBox="1"/>
          <p:nvPr/>
        </p:nvSpPr>
        <p:spPr>
          <a:xfrm>
            <a:off x="323528" y="33974"/>
            <a:ext cx="5112568" cy="369332"/>
          </a:xfrm>
          <a:prstGeom prst="rect">
            <a:avLst/>
          </a:prstGeom>
          <a:noFill/>
        </p:spPr>
        <p:txBody>
          <a:bodyPr wrap="square">
            <a:spAutoFit/>
          </a:bodyPr>
          <a:lstStyle/>
          <a:p>
            <a:r>
              <a:rPr lang="en-US" altLang="zh-TW" dirty="0">
                <a:hlinkClick r:id="rId3"/>
              </a:rPr>
              <a:t>The insane infrastructure design of DeepSeek V4</a:t>
            </a:r>
            <a:endParaRPr lang="zh-TW" altLang="en-US" dirty="0"/>
          </a:p>
        </p:txBody>
      </p:sp>
    </p:spTree>
    <p:extLst>
      <p:ext uri="{BB962C8B-B14F-4D97-AF65-F5344CB8AC3E}">
        <p14:creationId xmlns:p14="http://schemas.microsoft.com/office/powerpoint/2010/main" val="220729761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699331EB-D564-30D4-7D91-3356C901B2BA}"/>
              </a:ext>
            </a:extLst>
          </p:cNvPr>
          <p:cNvPicPr>
            <a:picLocks noChangeAspect="1"/>
          </p:cNvPicPr>
          <p:nvPr/>
        </p:nvPicPr>
        <p:blipFill>
          <a:blip r:embed="rId2"/>
          <a:stretch>
            <a:fillRect/>
          </a:stretch>
        </p:blipFill>
        <p:spPr>
          <a:xfrm>
            <a:off x="72467" y="3140968"/>
            <a:ext cx="3517852" cy="3138647"/>
          </a:xfrm>
          <a:prstGeom prst="rect">
            <a:avLst/>
          </a:prstGeom>
        </p:spPr>
      </p:pic>
      <p:pic>
        <p:nvPicPr>
          <p:cNvPr id="5" name="圖片 4">
            <a:extLst>
              <a:ext uri="{FF2B5EF4-FFF2-40B4-BE49-F238E27FC236}">
                <a16:creationId xmlns:a16="http://schemas.microsoft.com/office/drawing/2014/main" id="{20C34C73-3672-2E31-B9B9-AA8920D87083}"/>
              </a:ext>
            </a:extLst>
          </p:cNvPr>
          <p:cNvPicPr>
            <a:picLocks noChangeAspect="1"/>
          </p:cNvPicPr>
          <p:nvPr/>
        </p:nvPicPr>
        <p:blipFill>
          <a:blip r:embed="rId3"/>
          <a:stretch>
            <a:fillRect/>
          </a:stretch>
        </p:blipFill>
        <p:spPr>
          <a:xfrm>
            <a:off x="22137" y="332656"/>
            <a:ext cx="1971950" cy="2629267"/>
          </a:xfrm>
          <a:prstGeom prst="rect">
            <a:avLst/>
          </a:prstGeom>
        </p:spPr>
      </p:pic>
      <p:sp>
        <p:nvSpPr>
          <p:cNvPr id="4" name="文字方塊 3">
            <a:extLst>
              <a:ext uri="{FF2B5EF4-FFF2-40B4-BE49-F238E27FC236}">
                <a16:creationId xmlns:a16="http://schemas.microsoft.com/office/drawing/2014/main" id="{8077AF21-1770-2EC5-BA5E-8B86C2DCC98A}"/>
              </a:ext>
            </a:extLst>
          </p:cNvPr>
          <p:cNvSpPr txBox="1"/>
          <p:nvPr/>
        </p:nvSpPr>
        <p:spPr>
          <a:xfrm>
            <a:off x="3563888" y="1099468"/>
            <a:ext cx="5256584" cy="1349087"/>
          </a:xfrm>
          <a:prstGeom prst="rect">
            <a:avLst/>
          </a:prstGeom>
          <a:noFill/>
        </p:spPr>
        <p:txBody>
          <a:bodyPr wrap="square">
            <a:spAutoFit/>
          </a:bodyPr>
          <a:lstStyle/>
          <a:p>
            <a:pPr marL="0" marR="0">
              <a:lnSpc>
                <a:spcPts val="1400"/>
              </a:lnSpc>
              <a:buNone/>
            </a:pPr>
            <a:r>
              <a:rPr lang="zh-TW" altLang="zh-TW" sz="1100" b="1" u="none" strike="noStrike" dirty="0">
                <a:effectLst/>
                <a:latin typeface="微軟正黑體" panose="020B0604030504040204" pitchFamily="34" charset="-120"/>
                <a:ea typeface="微軟正黑體" panose="020B0604030504040204" pitchFamily="34" charset="-120"/>
              </a:rPr>
              <a:t>矩陣維度演變全景總結</a:t>
            </a:r>
          </a:p>
          <a:p>
            <a:pPr marL="171450" marR="0" indent="-171450">
              <a:lnSpc>
                <a:spcPts val="1400"/>
              </a:lnSpc>
              <a:buFont typeface="Wingdings" panose="05000000000000000000" pitchFamily="2" charset="2"/>
              <a:buChar char="à"/>
            </a:pPr>
            <a:r>
              <a:rPr lang="zh-TW" altLang="zh-TW" sz="1100" b="0" u="none" strike="noStrike" dirty="0">
                <a:effectLst/>
                <a:latin typeface="微軟正黑體" panose="020B0604030504040204" pitchFamily="34" charset="-120"/>
                <a:ea typeface="微軟正黑體" panose="020B0604030504040204" pitchFamily="34" charset="-120"/>
              </a:rPr>
              <a:t>原始多通道資料</a:t>
            </a:r>
            <a:r>
              <a:rPr lang="zh-TW" altLang="en-US" sz="1100" b="0" u="none" strike="noStrike" dirty="0">
                <a:effectLst/>
                <a:latin typeface="微軟正黑體" panose="020B0604030504040204" pitchFamily="34" charset="-120"/>
                <a:ea typeface="微軟正黑體" panose="020B0604030504040204" pitchFamily="34" charset="-120"/>
              </a:rPr>
              <a:t> </a:t>
            </a:r>
            <a:r>
              <a:rPr lang="zh-TW" altLang="zh-TW" sz="1100" b="0" u="none" strike="noStrike" dirty="0">
                <a:effectLst/>
                <a:latin typeface="微軟正黑體" panose="020B0604030504040204" pitchFamily="34" charset="-120"/>
                <a:ea typeface="微軟正黑體" panose="020B0604030504040204" pitchFamily="34" charset="-120"/>
              </a:rPr>
              <a:t>X</a:t>
            </a:r>
            <a:r>
              <a:rPr lang="zh-TW" altLang="en-US" sz="1100" b="0" u="none" strike="noStrike" dirty="0">
                <a:effectLst/>
                <a:latin typeface="微軟正黑體" panose="020B0604030504040204" pitchFamily="34" charset="-120"/>
                <a:ea typeface="微軟正黑體" panose="020B0604030504040204" pitchFamily="34" charset="-120"/>
              </a:rPr>
              <a:t> </a:t>
            </a:r>
            <a:r>
              <a:rPr lang="zh-TW" altLang="zh-TW" sz="1100" b="0" u="none" strike="noStrike" dirty="0">
                <a:effectLst/>
                <a:latin typeface="微軟正黑體" panose="020B0604030504040204" pitchFamily="34" charset="-120"/>
                <a:ea typeface="微軟正黑體" panose="020B0604030504040204" pitchFamily="34" charset="-120"/>
              </a:rPr>
              <a:t>[N,d]</a:t>
            </a:r>
            <a:endParaRPr lang="en-US" altLang="zh-TW" sz="1100" b="0" u="none" strike="noStrike" dirty="0">
              <a:effectLst/>
              <a:latin typeface="微軟正黑體" panose="020B0604030504040204" pitchFamily="34" charset="-120"/>
              <a:ea typeface="微軟正黑體" panose="020B0604030504040204" pitchFamily="34" charset="-120"/>
            </a:endParaRPr>
          </a:p>
          <a:p>
            <a:pPr marL="171450" marR="0" indent="-171450">
              <a:lnSpc>
                <a:spcPts val="1400"/>
              </a:lnSpc>
              <a:buFont typeface="Wingdings" panose="05000000000000000000" pitchFamily="2" charset="2"/>
              <a:buChar char="à"/>
            </a:pPr>
            <a:r>
              <a:rPr lang="zh-TW" altLang="zh-TW" sz="1100" b="0" u="none" strike="noStrike" dirty="0">
                <a:effectLst/>
                <a:latin typeface="微軟正黑體" panose="020B0604030504040204" pitchFamily="34" charset="-120"/>
                <a:ea typeface="微軟正黑體" panose="020B0604030504040204" pitchFamily="34" charset="-120"/>
              </a:rPr>
              <a:t>步驟1: 壓縮</a:t>
            </a:r>
            <a:r>
              <a:rPr lang="zh-TW" altLang="en-US" sz="1100" b="0" u="none" strike="noStrike" dirty="0">
                <a:effectLst/>
                <a:latin typeface="微軟正黑體" panose="020B0604030504040204" pitchFamily="34" charset="-120"/>
                <a:ea typeface="微軟正黑體" panose="020B0604030504040204" pitchFamily="34" charset="-120"/>
              </a:rPr>
              <a:t> </a:t>
            </a:r>
            <a:r>
              <a:rPr lang="zh-TW" altLang="zh-TW" sz="1100" b="0" u="none" strike="noStrike" dirty="0">
                <a:effectLst/>
                <a:latin typeface="微軟正黑體" panose="020B0604030504040204" pitchFamily="34" charset="-120"/>
                <a:ea typeface="微軟正黑體" panose="020B0604030504040204" pitchFamily="34" charset="-120"/>
              </a:rPr>
              <a:t>通道特徵向量</a:t>
            </a:r>
            <a:r>
              <a:rPr lang="en-US" altLang="zh-TW" sz="1100" b="0" u="none" strike="noStrike" dirty="0">
                <a:effectLst/>
                <a:latin typeface="微軟正黑體" panose="020B0604030504040204" pitchFamily="34" charset="-120"/>
                <a:ea typeface="微軟正黑體" panose="020B0604030504040204" pitchFamily="34" charset="-120"/>
              </a:rPr>
              <a:t> </a:t>
            </a:r>
            <a:r>
              <a:rPr lang="zh-TW" altLang="zh-TW" sz="1100" b="0" u="none" strike="noStrike" dirty="0">
                <a:effectLst/>
                <a:latin typeface="微軟正黑體" panose="020B0604030504040204" pitchFamily="34" charset="-120"/>
                <a:ea typeface="微軟正黑體" panose="020B0604030504040204" pitchFamily="34" charset="-120"/>
              </a:rPr>
              <a:t>x_compressed</a:t>
            </a:r>
            <a:r>
              <a:rPr lang="zh-TW" altLang="en-US" sz="1100" b="0" u="none" strike="noStrike" dirty="0">
                <a:effectLst/>
                <a:latin typeface="微軟正黑體" panose="020B0604030504040204" pitchFamily="34" charset="-120"/>
                <a:ea typeface="微軟正黑體" panose="020B0604030504040204" pitchFamily="34" charset="-120"/>
              </a:rPr>
              <a:t> </a:t>
            </a:r>
            <a:r>
              <a:rPr lang="en-US" altLang="zh-TW" sz="1100" b="0" u="none" strike="noStrike" dirty="0">
                <a:effectLst/>
                <a:latin typeface="微軟正黑體" panose="020B0604030504040204" pitchFamily="34" charset="-120"/>
                <a:ea typeface="微軟正黑體" panose="020B0604030504040204" pitchFamily="34" charset="-120"/>
              </a:rPr>
              <a:t>[</a:t>
            </a:r>
            <a:r>
              <a:rPr lang="zh-TW" altLang="zh-TW" sz="1100" b="0" u="none" strike="noStrike" dirty="0">
                <a:effectLst/>
                <a:latin typeface="微軟正黑體" panose="020B0604030504040204" pitchFamily="34" charset="-120"/>
                <a:ea typeface="微軟正黑體" panose="020B0604030504040204" pitchFamily="34" charset="-120"/>
              </a:rPr>
              <a:t>N,1]</a:t>
            </a:r>
            <a:endParaRPr lang="en-US" altLang="zh-TW" sz="1100" b="0" u="none" strike="noStrike" dirty="0">
              <a:effectLst/>
              <a:latin typeface="微軟正黑體" panose="020B0604030504040204" pitchFamily="34" charset="-120"/>
              <a:ea typeface="微軟正黑體" panose="020B0604030504040204" pitchFamily="34" charset="-120"/>
            </a:endParaRPr>
          </a:p>
          <a:p>
            <a:pPr marL="171450" marR="0" indent="-171450">
              <a:lnSpc>
                <a:spcPts val="1400"/>
              </a:lnSpc>
              <a:buFont typeface="Wingdings" panose="05000000000000000000" pitchFamily="2" charset="2"/>
              <a:buChar char="à"/>
            </a:pPr>
            <a:r>
              <a:rPr lang="zh-TW" altLang="zh-TW" sz="1100" b="0" u="none" strike="noStrike" dirty="0">
                <a:effectLst/>
                <a:latin typeface="微軟正黑體" panose="020B0604030504040204" pitchFamily="34" charset="-120"/>
                <a:ea typeface="微軟正黑體" panose="020B0604030504040204" pitchFamily="34" charset="-120"/>
              </a:rPr>
              <a:t>步驟2: 映射粗糙意圖矩陣</a:t>
            </a:r>
            <a:r>
              <a:rPr lang="zh-TW" altLang="en-US" sz="1100" dirty="0">
                <a:latin typeface="微軟正黑體" panose="020B0604030504040204" pitchFamily="34" charset="-120"/>
                <a:ea typeface="微軟正黑體" panose="020B0604030504040204" pitchFamily="34" charset="-120"/>
              </a:rPr>
              <a:t> </a:t>
            </a:r>
            <a:r>
              <a:rPr lang="zh-TW" altLang="zh-TW" sz="1100" b="0" u="none" strike="noStrike" dirty="0">
                <a:effectLst/>
                <a:latin typeface="微軟正黑體" panose="020B0604030504040204" pitchFamily="34" charset="-120"/>
                <a:ea typeface="微軟正黑體" panose="020B0604030504040204" pitchFamily="34" charset="-120"/>
              </a:rPr>
              <a:t>H_res</a:t>
            </a:r>
            <a:r>
              <a:rPr lang="zh-TW" altLang="en-US" sz="1100" b="0" u="none" strike="noStrike" dirty="0">
                <a:effectLst/>
                <a:latin typeface="微軟正黑體" panose="020B0604030504040204" pitchFamily="34" charset="-120"/>
                <a:ea typeface="微軟正黑體" panose="020B0604030504040204" pitchFamily="34" charset="-120"/>
              </a:rPr>
              <a:t> </a:t>
            </a:r>
            <a:r>
              <a:rPr lang="zh-TW" altLang="zh-TW" sz="1100" b="0" u="none" strike="noStrike" dirty="0">
                <a:effectLst/>
                <a:latin typeface="微軟正黑體" panose="020B0604030504040204" pitchFamily="34" charset="-120"/>
                <a:ea typeface="微軟正黑體" panose="020B0604030504040204" pitchFamily="34" charset="-120"/>
              </a:rPr>
              <a:t>[N,N]</a:t>
            </a:r>
            <a:r>
              <a:rPr lang="zh-TW" altLang="en-US" sz="1100" b="0" u="none" strike="noStrike" dirty="0">
                <a:effectLst/>
                <a:latin typeface="微軟正黑體" panose="020B0604030504040204" pitchFamily="34" charset="-120"/>
                <a:ea typeface="微軟正黑體" panose="020B0604030504040204" pitchFamily="34" charset="-120"/>
              </a:rPr>
              <a:t> </a:t>
            </a:r>
            <a:r>
              <a:rPr lang="en-US" altLang="zh-TW" sz="1100" b="0" u="none" strike="noStrike" dirty="0">
                <a:effectLst/>
                <a:latin typeface="微軟正黑體" panose="020B0604030504040204" pitchFamily="34" charset="-120"/>
                <a:ea typeface="微軟正黑體" panose="020B0604030504040204" pitchFamily="34" charset="-120"/>
                <a:sym typeface="Wingdings" panose="05000000000000000000" pitchFamily="2" charset="2"/>
              </a:rPr>
              <a:t></a:t>
            </a:r>
          </a:p>
          <a:p>
            <a:pPr marL="171450" marR="0" indent="-171450">
              <a:lnSpc>
                <a:spcPts val="1400"/>
              </a:lnSpc>
              <a:buFont typeface="Wingdings" panose="05000000000000000000" pitchFamily="2" charset="2"/>
              <a:buChar char="à"/>
            </a:pPr>
            <a:r>
              <a:rPr lang="zh-TW" altLang="zh-TW" sz="1100" b="0" u="none" strike="noStrike" dirty="0">
                <a:effectLst/>
                <a:latin typeface="微軟正黑體" panose="020B0604030504040204" pitchFamily="34" charset="-120"/>
                <a:ea typeface="微軟正黑體" panose="020B0604030504040204" pitchFamily="34" charset="-120"/>
              </a:rPr>
              <a:t>步驟3: 非負化</a:t>
            </a:r>
            <a:r>
              <a:rPr lang="zh-TW" altLang="en-US" sz="1100" b="0" u="none" strike="noStrike" dirty="0">
                <a:effectLst/>
                <a:latin typeface="微軟正黑體" panose="020B0604030504040204" pitchFamily="34" charset="-120"/>
                <a:ea typeface="微軟正黑體" panose="020B0604030504040204" pitchFamily="34" charset="-120"/>
              </a:rPr>
              <a:t> </a:t>
            </a:r>
            <a:r>
              <a:rPr lang="en-US" altLang="zh-TW" sz="1100" b="0" u="none" strike="noStrike" dirty="0">
                <a:effectLst/>
                <a:latin typeface="微軟正黑體" panose="020B0604030504040204" pitchFamily="34" charset="-120"/>
                <a:ea typeface="微軟正黑體" panose="020B0604030504040204" pitchFamily="34" charset="-120"/>
                <a:sym typeface="Wingdings" panose="05000000000000000000" pitchFamily="2" charset="2"/>
              </a:rPr>
              <a:t></a:t>
            </a:r>
            <a:r>
              <a:rPr lang="zh-TW" altLang="en-US" sz="1100" b="0" u="none" strike="noStrike" dirty="0">
                <a:effectLst/>
                <a:latin typeface="微軟正黑體" panose="020B0604030504040204" pitchFamily="34" charset="-120"/>
                <a:ea typeface="微軟正黑體" panose="020B0604030504040204" pitchFamily="34" charset="-120"/>
                <a:sym typeface="Wingdings" panose="05000000000000000000" pitchFamily="2" charset="2"/>
              </a:rPr>
              <a:t> </a:t>
            </a:r>
            <a:r>
              <a:rPr lang="zh-TW" altLang="zh-TW" sz="1100" b="0" u="none" strike="noStrike" dirty="0">
                <a:effectLst/>
                <a:latin typeface="微軟正黑體" panose="020B0604030504040204" pitchFamily="34" charset="-120"/>
                <a:ea typeface="微軟正黑體" panose="020B0604030504040204" pitchFamily="34" charset="-120"/>
              </a:rPr>
              <a:t>正能量矩陣</a:t>
            </a:r>
            <a:r>
              <a:rPr lang="zh-TW" altLang="en-US" sz="1100" b="0" u="none" strike="noStrike" dirty="0">
                <a:effectLst/>
                <a:latin typeface="微軟正黑體" panose="020B0604030504040204" pitchFamily="34" charset="-120"/>
                <a:ea typeface="微軟正黑體" panose="020B0604030504040204" pitchFamily="34" charset="-120"/>
              </a:rPr>
              <a:t> </a:t>
            </a:r>
            <a:r>
              <a:rPr lang="zh-TW" altLang="zh-TW" sz="1100" b="0" u="none" strike="noStrike" dirty="0">
                <a:effectLst/>
                <a:latin typeface="微軟正黑體" panose="020B0604030504040204" pitchFamily="34" charset="-120"/>
                <a:ea typeface="微軟正黑體" panose="020B0604030504040204" pitchFamily="34" charset="-120"/>
              </a:rPr>
              <a:t>A</a:t>
            </a:r>
            <a:r>
              <a:rPr lang="zh-TW" altLang="en-US" sz="1100" b="0" u="none" strike="noStrike" dirty="0">
                <a:effectLst/>
                <a:latin typeface="微軟正黑體" panose="020B0604030504040204" pitchFamily="34" charset="-120"/>
                <a:ea typeface="微軟正黑體" panose="020B0604030504040204" pitchFamily="34" charset="-120"/>
              </a:rPr>
              <a:t> </a:t>
            </a:r>
            <a:r>
              <a:rPr lang="zh-TW" altLang="zh-TW" sz="1100" b="0" u="none" strike="noStrike" dirty="0">
                <a:effectLst/>
                <a:latin typeface="微軟正黑體" panose="020B0604030504040204" pitchFamily="34" charset="-120"/>
                <a:ea typeface="微軟正黑體" panose="020B0604030504040204" pitchFamily="34" charset="-120"/>
              </a:rPr>
              <a:t>[N,N]</a:t>
            </a:r>
            <a:endParaRPr lang="en-US" altLang="zh-TW" sz="1100" b="0" u="none" strike="noStrike" dirty="0">
              <a:effectLst/>
              <a:latin typeface="微軟正黑體" panose="020B0604030504040204" pitchFamily="34" charset="-120"/>
              <a:ea typeface="微軟正黑體" panose="020B0604030504040204" pitchFamily="34" charset="-120"/>
            </a:endParaRPr>
          </a:p>
          <a:p>
            <a:pPr marL="171450" marR="0" indent="-171450">
              <a:lnSpc>
                <a:spcPts val="1400"/>
              </a:lnSpc>
              <a:buFont typeface="Wingdings" panose="05000000000000000000" pitchFamily="2" charset="2"/>
              <a:buChar char="à"/>
            </a:pPr>
            <a:r>
              <a:rPr lang="zh-TW" altLang="zh-TW" sz="1100" b="0" u="none" strike="noStrike" dirty="0">
                <a:effectLst/>
                <a:latin typeface="微軟正黑體" panose="020B0604030504040204" pitchFamily="34" charset="-120"/>
                <a:ea typeface="微軟正黑體" panose="020B0604030504040204" pitchFamily="34" charset="-120"/>
              </a:rPr>
              <a:t>步驟4: Sinkhorn</a:t>
            </a:r>
            <a:r>
              <a:rPr lang="zh-TW" altLang="en-US" sz="1100" b="0" u="none" strike="noStrike" dirty="0">
                <a:effectLst/>
                <a:latin typeface="微軟正黑體" panose="020B0604030504040204" pitchFamily="34" charset="-120"/>
                <a:ea typeface="微軟正黑體" panose="020B0604030504040204" pitchFamily="34" charset="-120"/>
              </a:rPr>
              <a:t> </a:t>
            </a:r>
            <a:r>
              <a:rPr lang="en-US" altLang="zh-TW" sz="1100" b="0" u="none" strike="noStrike" dirty="0">
                <a:effectLst/>
                <a:latin typeface="微軟正黑體" panose="020B0604030504040204" pitchFamily="34" charset="-120"/>
                <a:ea typeface="微軟正黑體" panose="020B0604030504040204" pitchFamily="34" charset="-120"/>
                <a:sym typeface="Wingdings" panose="05000000000000000000" pitchFamily="2" charset="2"/>
              </a:rPr>
              <a:t></a:t>
            </a:r>
            <a:r>
              <a:rPr lang="zh-TW" altLang="en-US" sz="1100" b="0" u="none" strike="noStrike" dirty="0">
                <a:effectLst/>
                <a:latin typeface="微軟正黑體" panose="020B0604030504040204" pitchFamily="34" charset="-120"/>
                <a:ea typeface="微軟正黑體" panose="020B0604030504040204" pitchFamily="34" charset="-120"/>
                <a:sym typeface="Wingdings" panose="05000000000000000000" pitchFamily="2" charset="2"/>
              </a:rPr>
              <a:t> </a:t>
            </a:r>
            <a:r>
              <a:rPr lang="zh-TW" altLang="zh-TW" sz="1100" b="0" u="none" strike="noStrike" dirty="0">
                <a:effectLst/>
                <a:latin typeface="微軟正黑體" panose="020B0604030504040204" pitchFamily="34" charset="-120"/>
                <a:ea typeface="微軟正黑體" panose="020B0604030504040204" pitchFamily="34" charset="-120"/>
              </a:rPr>
              <a:t>動態流形矩陣</a:t>
            </a:r>
            <a:r>
              <a:rPr lang="en-US" altLang="zh-TW" sz="1100" b="0" u="none" strike="noStrike" dirty="0">
                <a:effectLst/>
                <a:latin typeface="微軟正黑體" panose="020B0604030504040204" pitchFamily="34" charset="-120"/>
                <a:ea typeface="微軟正黑體" panose="020B0604030504040204" pitchFamily="34" charset="-120"/>
              </a:rPr>
              <a:t> </a:t>
            </a:r>
            <a:r>
              <a:rPr lang="zh-TW" altLang="zh-TW" sz="1100" b="0" u="none" strike="noStrike" dirty="0">
                <a:effectLst/>
                <a:latin typeface="微軟正黑體" panose="020B0604030504040204" pitchFamily="34" charset="-120"/>
                <a:ea typeface="微軟正黑體" panose="020B0604030504040204" pitchFamily="34" charset="-120"/>
              </a:rPr>
              <a:t>H_res</a:t>
            </a:r>
            <a:r>
              <a:rPr lang="en-US" altLang="zh-TW" sz="1100" b="0" u="none" strike="noStrike" dirty="0">
                <a:effectLst/>
                <a:latin typeface="微軟正黑體" panose="020B0604030504040204" pitchFamily="34" charset="-120"/>
                <a:ea typeface="微軟正黑體" panose="020B0604030504040204" pitchFamily="34" charset="-120"/>
              </a:rPr>
              <a:t> [</a:t>
            </a:r>
            <a:r>
              <a:rPr lang="zh-TW" altLang="zh-TW" sz="1100" b="0" u="none" strike="noStrike" dirty="0">
                <a:effectLst/>
                <a:latin typeface="微軟正黑體" panose="020B0604030504040204" pitchFamily="34" charset="-120"/>
                <a:ea typeface="微軟正黑體" panose="020B0604030504040204" pitchFamily="34" charset="-120"/>
              </a:rPr>
              <a:t>N,N]</a:t>
            </a:r>
          </a:p>
          <a:p>
            <a:pPr marL="0" marR="0">
              <a:lnSpc>
                <a:spcPts val="1400"/>
              </a:lnSpc>
              <a:buNone/>
            </a:pPr>
            <a:r>
              <a:rPr lang="zh-TW" altLang="zh-TW" sz="1100" b="0" u="none" strike="noStrike" dirty="0">
                <a:effectLst/>
                <a:latin typeface="微軟正黑體" panose="020B0604030504040204" pitchFamily="34" charset="-120"/>
                <a:ea typeface="微軟正黑體" panose="020B0604030504040204" pitchFamily="34" charset="-120"/>
              </a:rPr>
              <a:t>當這 4 個步驟在幾微秒內完成後</a:t>
            </a:r>
          </a:p>
        </p:txBody>
      </p:sp>
    </p:spTree>
    <p:extLst>
      <p:ext uri="{BB962C8B-B14F-4D97-AF65-F5344CB8AC3E}">
        <p14:creationId xmlns:p14="http://schemas.microsoft.com/office/powerpoint/2010/main" val="24595359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02E03E-7F2E-4C1D-BDC3-5AD0B8F50ACC}"/>
            </a:ext>
          </a:extLst>
        </p:cNvPr>
        <p:cNvGrpSpPr/>
        <p:nvPr/>
      </p:nvGrpSpPr>
      <p:grpSpPr>
        <a:xfrm>
          <a:off x="0" y="0"/>
          <a:ext cx="0" cy="0"/>
          <a:chOff x="0" y="0"/>
          <a:chExt cx="0" cy="0"/>
        </a:xfrm>
      </p:grpSpPr>
      <p:graphicFrame>
        <p:nvGraphicFramePr>
          <p:cNvPr id="30" name="表格 29">
            <a:extLst>
              <a:ext uri="{FF2B5EF4-FFF2-40B4-BE49-F238E27FC236}">
                <a16:creationId xmlns:a16="http://schemas.microsoft.com/office/drawing/2014/main" id="{FDF88A93-8C0E-D76F-97D3-A2772646F624}"/>
              </a:ext>
            </a:extLst>
          </p:cNvPr>
          <p:cNvGraphicFramePr>
            <a:graphicFrameLocks noGrp="1"/>
          </p:cNvGraphicFramePr>
          <p:nvPr>
            <p:extLst>
              <p:ext uri="{D42A27DB-BD31-4B8C-83A1-F6EECF244321}">
                <p14:modId xmlns:p14="http://schemas.microsoft.com/office/powerpoint/2010/main" val="945139990"/>
              </p:ext>
            </p:extLst>
          </p:nvPr>
        </p:nvGraphicFramePr>
        <p:xfrm>
          <a:off x="539552" y="4278208"/>
          <a:ext cx="8208911" cy="2103120"/>
        </p:xfrm>
        <a:graphic>
          <a:graphicData uri="http://schemas.openxmlformats.org/drawingml/2006/table">
            <a:tbl>
              <a:tblPr firstRow="1" bandRow="1">
                <a:tableStyleId>{5C22544A-7EE6-4342-B048-85BDC9FD1C3A}</a:tableStyleId>
              </a:tblPr>
              <a:tblGrid>
                <a:gridCol w="1080120">
                  <a:extLst>
                    <a:ext uri="{9D8B030D-6E8A-4147-A177-3AD203B41FA5}">
                      <a16:colId xmlns:a16="http://schemas.microsoft.com/office/drawing/2014/main" val="4198244561"/>
                    </a:ext>
                  </a:extLst>
                </a:gridCol>
                <a:gridCol w="1573424">
                  <a:extLst>
                    <a:ext uri="{9D8B030D-6E8A-4147-A177-3AD203B41FA5}">
                      <a16:colId xmlns:a16="http://schemas.microsoft.com/office/drawing/2014/main" val="2094346223"/>
                    </a:ext>
                  </a:extLst>
                </a:gridCol>
                <a:gridCol w="822561">
                  <a:extLst>
                    <a:ext uri="{9D8B030D-6E8A-4147-A177-3AD203B41FA5}">
                      <a16:colId xmlns:a16="http://schemas.microsoft.com/office/drawing/2014/main" val="2211145501"/>
                    </a:ext>
                  </a:extLst>
                </a:gridCol>
                <a:gridCol w="1297705">
                  <a:extLst>
                    <a:ext uri="{9D8B030D-6E8A-4147-A177-3AD203B41FA5}">
                      <a16:colId xmlns:a16="http://schemas.microsoft.com/office/drawing/2014/main" val="3328686525"/>
                    </a:ext>
                  </a:extLst>
                </a:gridCol>
                <a:gridCol w="1068698">
                  <a:extLst>
                    <a:ext uri="{9D8B030D-6E8A-4147-A177-3AD203B41FA5}">
                      <a16:colId xmlns:a16="http://schemas.microsoft.com/office/drawing/2014/main" val="962102743"/>
                    </a:ext>
                  </a:extLst>
                </a:gridCol>
                <a:gridCol w="1286284">
                  <a:extLst>
                    <a:ext uri="{9D8B030D-6E8A-4147-A177-3AD203B41FA5}">
                      <a16:colId xmlns:a16="http://schemas.microsoft.com/office/drawing/2014/main" val="3731412889"/>
                    </a:ext>
                  </a:extLst>
                </a:gridCol>
                <a:gridCol w="633770">
                  <a:extLst>
                    <a:ext uri="{9D8B030D-6E8A-4147-A177-3AD203B41FA5}">
                      <a16:colId xmlns:a16="http://schemas.microsoft.com/office/drawing/2014/main" val="2130031722"/>
                    </a:ext>
                  </a:extLst>
                </a:gridCol>
                <a:gridCol w="446349">
                  <a:extLst>
                    <a:ext uri="{9D8B030D-6E8A-4147-A177-3AD203B41FA5}">
                      <a16:colId xmlns:a16="http://schemas.microsoft.com/office/drawing/2014/main" val="3832649198"/>
                    </a:ext>
                  </a:extLst>
                </a:gridCol>
              </a:tblGrid>
              <a:tr h="178887">
                <a:tc rowSpan="2">
                  <a:txBody>
                    <a:bodyPr/>
                    <a:lstStyle/>
                    <a:p>
                      <a:pPr algn="ctr"/>
                      <a:endParaRPr lang="zh-TW" altLang="en-US"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Description</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algn="ctr"/>
                      <a:r>
                        <a:rPr lang="en-US" altLang="zh-TW" sz="1200" b="0" cap="none" spc="0" dirty="0">
                          <a:ln w="0"/>
                          <a:solidFill>
                            <a:schemeClr val="tx1"/>
                          </a:solidFill>
                          <a:effectLst/>
                        </a:rPr>
                        <a:t>Context</a:t>
                      </a:r>
                    </a:p>
                    <a:p>
                      <a:pPr algn="ctr"/>
                      <a:r>
                        <a:rPr lang="en-US" altLang="zh-TW" sz="1200" b="0" cap="none" spc="0" dirty="0">
                          <a:ln w="0"/>
                          <a:solidFill>
                            <a:schemeClr val="tx1"/>
                          </a:solidFill>
                          <a:effectLst/>
                        </a:rPr>
                        <a:t>Window</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2">
                  <a:txBody>
                    <a:bodyPr/>
                    <a:lstStyle/>
                    <a:p>
                      <a:pPr algn="ctr"/>
                      <a:r>
                        <a:rPr lang="en-US" altLang="zh-TW" sz="1200" b="0" cap="none" spc="0" dirty="0">
                          <a:ln w="0"/>
                          <a:solidFill>
                            <a:schemeClr val="tx1"/>
                          </a:solidFill>
                          <a:effectLst/>
                        </a:rPr>
                        <a:t>Memory consumption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tc rowSpan="2">
                  <a:txBody>
                    <a:bodyPr/>
                    <a:lstStyle/>
                    <a:p>
                      <a:pPr algn="ctr"/>
                      <a:r>
                        <a:rPr lang="en-US" altLang="zh-TW" sz="1200" b="0" cap="none" spc="0" dirty="0">
                          <a:ln w="0"/>
                          <a:solidFill>
                            <a:schemeClr val="tx1"/>
                          </a:solidFill>
                          <a:effectLst/>
                        </a:rPr>
                        <a:t>License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algn="ctr"/>
                      <a:r>
                        <a:rPr lang="en-US" altLang="zh-TW" sz="1200" b="0" cap="none" spc="0" dirty="0">
                          <a:ln w="0"/>
                          <a:solidFill>
                            <a:schemeClr val="tx1"/>
                          </a:solidFill>
                          <a:effectLst/>
                        </a:rPr>
                        <a:t>API Cost</a:t>
                      </a:r>
                      <a:r>
                        <a:rPr lang="en-US" altLang="zh-TW" sz="1200" b="0" cap="none" spc="0" dirty="0">
                          <a:ln w="0"/>
                          <a:solidFill>
                            <a:schemeClr val="accent1"/>
                          </a:solidFill>
                          <a:effectLst/>
                        </a:rPr>
                        <a:t> </a:t>
                      </a:r>
                      <a:r>
                        <a:rPr lang="en-US" altLang="zh-TW" sz="1000" b="0" cap="none" spc="0" dirty="0">
                          <a:ln w="0"/>
                          <a:solidFill>
                            <a:schemeClr val="accent1"/>
                          </a:solidFill>
                          <a:effectLst/>
                        </a:rPr>
                        <a:t>$/Token</a:t>
                      </a:r>
                      <a:endParaRPr lang="zh-TW" altLang="en-US" sz="1000" b="0" cap="none" spc="0" dirty="0">
                        <a:ln w="0"/>
                        <a:solidFill>
                          <a:schemeClr val="accent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78887">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a:txBody>
                    <a:bodyPr/>
                    <a:lstStyle/>
                    <a:p>
                      <a:pPr algn="ctr"/>
                      <a:r>
                        <a:rPr lang="en-US" altLang="zh-TW" sz="1200" b="0" cap="none" spc="0" dirty="0">
                          <a:ln w="0"/>
                          <a:solidFill>
                            <a:schemeClr val="tx1"/>
                          </a:solidFill>
                          <a:effectLst/>
                        </a:rPr>
                        <a:t>Parameters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HBM/VRAM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endParaRPr lang="zh-TW" altLang="en-US"/>
                    </a:p>
                  </a:txBody>
                  <a:tcPr/>
                </a:tc>
                <a:tc vMerge="1">
                  <a:txBody>
                    <a:bodyPr/>
                    <a:lstStyle/>
                    <a:p>
                      <a:endParaRPr lang="zh-TW" altLang="en-US"/>
                    </a:p>
                  </a:txBody>
                  <a:tcPr/>
                </a:tc>
                <a:extLst>
                  <a:ext uri="{0D108BD9-81ED-4DB2-BD59-A6C34878D82A}">
                    <a16:rowId xmlns:a16="http://schemas.microsoft.com/office/drawing/2014/main" val="3267223550"/>
                  </a:ext>
                </a:extLst>
              </a:tr>
              <a:tr h="357773">
                <a:tc>
                  <a:txBody>
                    <a:bodyPr/>
                    <a:lstStyle/>
                    <a:p>
                      <a:pPr algn="l"/>
                      <a:r>
                        <a:rPr lang="en-US" altLang="zh-TW" sz="1200" b="0" cap="none" spc="0" dirty="0">
                          <a:ln w="0"/>
                          <a:solidFill>
                            <a:schemeClr val="tx1"/>
                          </a:solidFill>
                          <a:effectLst/>
                        </a:rPr>
                        <a:t>Kimi K3</a:t>
                      </a:r>
                    </a:p>
                    <a:p>
                      <a:pPr algn="l"/>
                      <a:r>
                        <a:rPr lang="en-US" altLang="zh-TW" sz="1000" b="0" cap="none" spc="0" dirty="0">
                          <a:ln w="0"/>
                          <a:solidFill>
                            <a:schemeClr val="accent1"/>
                          </a:solidFill>
                          <a:effectLst/>
                        </a:rPr>
                        <a:t>Moonshot</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l"/>
                      <a:r>
                        <a:rPr lang="en-US" altLang="zh-TW" sz="1200" b="0" cap="none" spc="0" dirty="0">
                          <a:ln w="0"/>
                          <a:solidFill>
                            <a:schemeClr val="tx1"/>
                          </a:solidFill>
                          <a:effectLst/>
                        </a:rPr>
                        <a:t>KDA, </a:t>
                      </a:r>
                      <a:r>
                        <a:rPr lang="en-US" altLang="zh-TW" sz="1200" b="0" u="sng" cap="none" spc="0" dirty="0">
                          <a:ln w="0"/>
                          <a:solidFill>
                            <a:schemeClr val="tx1"/>
                          </a:solidFill>
                          <a:effectLst/>
                        </a:rPr>
                        <a:t>Arena.ai</a:t>
                      </a:r>
                      <a:r>
                        <a:rPr lang="en-US" altLang="zh-TW" sz="1200" b="0" cap="none" spc="0" dirty="0">
                          <a:ln w="0"/>
                          <a:solidFill>
                            <a:schemeClr val="tx1"/>
                          </a:solidFill>
                          <a:effectLst/>
                        </a:rPr>
                        <a:t>,</a:t>
                      </a:r>
                      <a:r>
                        <a:rPr lang="zh-TW" altLang="en-US" sz="1200" b="0" cap="none" spc="0" dirty="0">
                          <a:ln w="0"/>
                          <a:solidFill>
                            <a:schemeClr val="tx1"/>
                          </a:solidFill>
                          <a:effectLst/>
                        </a:rPr>
                        <a:t> </a:t>
                      </a:r>
                      <a:r>
                        <a:rPr lang="en-US" altLang="zh-TW" sz="1200" b="0" cap="none" spc="0" dirty="0">
                          <a:ln w="0"/>
                          <a:solidFill>
                            <a:schemeClr val="tx1"/>
                          </a:solidFill>
                          <a:effectLst/>
                        </a:rPr>
                        <a:t>Native Multimodal Agent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100M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2.8T (104B)</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20*H100</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100G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Open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0.86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3577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DS V4 Pro</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accent1"/>
                          </a:solidFill>
                          <a:effectLst/>
                          <a:uLnTx/>
                          <a:uFillTx/>
                          <a:latin typeface="+mn-lt"/>
                          <a:ea typeface="+mn-ea"/>
                          <a:cs typeface="+mn-cs"/>
                        </a:rPr>
                        <a:t>DeepSeek</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l"/>
                      <a:r>
                        <a:rPr lang="en-US" altLang="zh-TW" sz="1200" b="0" cap="none" spc="0" dirty="0">
                          <a:ln w="0"/>
                          <a:solidFill>
                            <a:schemeClr val="tx1"/>
                          </a:solidFill>
                          <a:effectLst/>
                        </a:rPr>
                        <a:t>C/P,</a:t>
                      </a:r>
                      <a:r>
                        <a:rPr lang="zh-TW" altLang="en-US" sz="1200" b="0" cap="none" spc="0" dirty="0">
                          <a:ln w="0"/>
                          <a:solidFill>
                            <a:schemeClr val="tx1"/>
                          </a:solidFill>
                          <a:effectLst/>
                        </a:rPr>
                        <a:t> </a:t>
                      </a:r>
                      <a:r>
                        <a:rPr lang="en-US" altLang="zh-TW" sz="1200" b="0" u="sng" cap="none" spc="0" dirty="0">
                          <a:ln w="0"/>
                          <a:solidFill>
                            <a:schemeClr val="tx1"/>
                          </a:solidFill>
                          <a:effectLst/>
                        </a:rPr>
                        <a:t>STEM</a:t>
                      </a:r>
                      <a:r>
                        <a:rPr lang="en-US" altLang="zh-TW" sz="1200" b="0" cap="none" spc="0" dirty="0">
                          <a:ln w="0"/>
                          <a:solidFill>
                            <a:schemeClr val="tx1"/>
                          </a:solidFill>
                          <a:effectLst/>
                        </a:rPr>
                        <a:t>,</a:t>
                      </a:r>
                      <a:r>
                        <a:rPr lang="zh-TW" altLang="en-US" sz="1200" b="0" cap="none" spc="0" dirty="0">
                          <a:ln w="0"/>
                          <a:solidFill>
                            <a:schemeClr val="tx1"/>
                          </a:solidFill>
                          <a:effectLst/>
                        </a:rPr>
                        <a:t> </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100M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1.6T (49B)</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10*H100</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80G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Open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0.35~0.87</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207449185"/>
                  </a:ext>
                </a:extLst>
              </a:tr>
              <a:tr h="32795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Claude Fable 5</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accent1"/>
                          </a:solidFill>
                          <a:effectLst/>
                          <a:uLnTx/>
                          <a:uFillTx/>
                          <a:latin typeface="+mn-lt"/>
                          <a:ea typeface="+mn-ea"/>
                          <a:cs typeface="+mn-cs"/>
                        </a:rPr>
                        <a:t>Anthropic</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l"/>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100M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Cloud</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Closed</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3.15</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59758637"/>
                  </a:ext>
                </a:extLst>
              </a:tr>
              <a:tr h="32795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GPT-5.6 Sol</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accent1"/>
                          </a:solidFill>
                          <a:effectLst/>
                          <a:uLnTx/>
                          <a:uFillTx/>
                          <a:latin typeface="+mn-lt"/>
                          <a:ea typeface="+mn-ea"/>
                          <a:cs typeface="+mn-cs"/>
                        </a:rPr>
                        <a:t>OpenAI</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l"/>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200M+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Cloud</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Closed</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1.86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837431638"/>
                  </a:ext>
                </a:extLst>
              </a:tr>
              <a:tr h="32795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Gemini</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accent1"/>
                          </a:solidFill>
                          <a:effectLst/>
                          <a:uLnTx/>
                          <a:uFillTx/>
                          <a:latin typeface="+mn-lt"/>
                          <a:ea typeface="+mn-ea"/>
                          <a:cs typeface="+mn-cs"/>
                        </a:rPr>
                        <a:t>Google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l"/>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200M+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Cloud</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Closed</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~9</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5058973"/>
                  </a:ext>
                </a:extLst>
              </a:tr>
            </a:tbl>
          </a:graphicData>
        </a:graphic>
      </p:graphicFrame>
      <p:graphicFrame>
        <p:nvGraphicFramePr>
          <p:cNvPr id="3" name="表格 2">
            <a:extLst>
              <a:ext uri="{FF2B5EF4-FFF2-40B4-BE49-F238E27FC236}">
                <a16:creationId xmlns:a16="http://schemas.microsoft.com/office/drawing/2014/main" id="{20CF8D57-F62C-C701-EBBE-20B8CF002C59}"/>
              </a:ext>
            </a:extLst>
          </p:cNvPr>
          <p:cNvGraphicFramePr>
            <a:graphicFrameLocks noGrp="1"/>
          </p:cNvGraphicFramePr>
          <p:nvPr>
            <p:extLst>
              <p:ext uri="{D42A27DB-BD31-4B8C-83A1-F6EECF244321}">
                <p14:modId xmlns:p14="http://schemas.microsoft.com/office/powerpoint/2010/main" val="2715771664"/>
              </p:ext>
            </p:extLst>
          </p:nvPr>
        </p:nvGraphicFramePr>
        <p:xfrm>
          <a:off x="7157852" y="2218649"/>
          <a:ext cx="1090401" cy="788874"/>
        </p:xfrm>
        <a:graphic>
          <a:graphicData uri="http://schemas.openxmlformats.org/drawingml/2006/table">
            <a:tbl>
              <a:tblPr firstRow="1" bandRow="1">
                <a:tableStyleId>{5C22544A-7EE6-4342-B048-85BDC9FD1C3A}</a:tableStyleId>
              </a:tblPr>
              <a:tblGrid>
                <a:gridCol w="1090401">
                  <a:extLst>
                    <a:ext uri="{9D8B030D-6E8A-4147-A177-3AD203B41FA5}">
                      <a16:colId xmlns:a16="http://schemas.microsoft.com/office/drawing/2014/main" val="4072639710"/>
                    </a:ext>
                  </a:extLst>
                </a:gridCol>
              </a:tblGrid>
              <a:tr h="207498">
                <a:tc>
                  <a:txBody>
                    <a:bodyPr/>
                    <a:lstStyle/>
                    <a:p>
                      <a:pPr algn="l"/>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2304923032"/>
                  </a:ext>
                </a:extLst>
              </a:tr>
              <a:tr h="207498">
                <a:tc>
                  <a:txBody>
                    <a:bodyPr/>
                    <a:lstStyle/>
                    <a:p>
                      <a:pPr algn="l"/>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3639812515"/>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81341950"/>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953988682"/>
                  </a:ext>
                </a:extLst>
              </a:tr>
            </a:tbl>
          </a:graphicData>
        </a:graphic>
      </p:graphicFrame>
      <p:sp>
        <p:nvSpPr>
          <p:cNvPr id="4" name="標題 1">
            <a:extLst>
              <a:ext uri="{FF2B5EF4-FFF2-40B4-BE49-F238E27FC236}">
                <a16:creationId xmlns:a16="http://schemas.microsoft.com/office/drawing/2014/main" id="{05340D84-CC47-CC3E-B3DE-7A987EFDD6B9}"/>
              </a:ext>
            </a:extLst>
          </p:cNvPr>
          <p:cNvSpPr txBox="1">
            <a:spLocks/>
          </p:cNvSpPr>
          <p:nvPr/>
        </p:nvSpPr>
        <p:spPr>
          <a:xfrm>
            <a:off x="179512" y="116632"/>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err="1">
                <a:latin typeface="Noto Sans HK" panose="020B0200000000000000" pitchFamily="34" charset="-120"/>
                <a:ea typeface="Noto Sans HK" panose="020B0200000000000000" pitchFamily="34" charset="-120"/>
                <a:cs typeface="Aharoni" panose="020F0502020204030204" pitchFamily="2" charset="-79"/>
              </a:rPr>
              <a:t>MoE</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 Architecture</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An ultra-cost-efficient hardware maximizer that slashes KV cache memory by over 90% through shared and fine-grained expert architectures. </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6" name="圖片 5">
            <a:extLst>
              <a:ext uri="{FF2B5EF4-FFF2-40B4-BE49-F238E27FC236}">
                <a16:creationId xmlns:a16="http://schemas.microsoft.com/office/drawing/2014/main" id="{BA1A6188-F624-3C12-AEF8-4B9C71957B0D}"/>
              </a:ext>
            </a:extLst>
          </p:cNvPr>
          <p:cNvPicPr>
            <a:picLocks noChangeAspect="1"/>
          </p:cNvPicPr>
          <p:nvPr/>
        </p:nvPicPr>
        <p:blipFill>
          <a:blip r:embed="rId3"/>
          <a:stretch>
            <a:fillRect/>
          </a:stretch>
        </p:blipFill>
        <p:spPr>
          <a:xfrm>
            <a:off x="532120" y="-1035496"/>
            <a:ext cx="5413480" cy="7488832"/>
          </a:xfrm>
          <a:prstGeom prst="rect">
            <a:avLst/>
          </a:prstGeom>
          <a:solidFill>
            <a:schemeClr val="bg1"/>
          </a:solidFill>
        </p:spPr>
      </p:pic>
      <p:graphicFrame>
        <p:nvGraphicFramePr>
          <p:cNvPr id="9" name="表格 8">
            <a:extLst>
              <a:ext uri="{FF2B5EF4-FFF2-40B4-BE49-F238E27FC236}">
                <a16:creationId xmlns:a16="http://schemas.microsoft.com/office/drawing/2014/main" id="{D46908ED-3C05-75B7-C1BC-37F95757A753}"/>
              </a:ext>
            </a:extLst>
          </p:cNvPr>
          <p:cNvGraphicFramePr>
            <a:graphicFrameLocks noGrp="1"/>
          </p:cNvGraphicFramePr>
          <p:nvPr>
            <p:extLst>
              <p:ext uri="{D42A27DB-BD31-4B8C-83A1-F6EECF244321}">
                <p14:modId xmlns:p14="http://schemas.microsoft.com/office/powerpoint/2010/main" val="4236154462"/>
              </p:ext>
            </p:extLst>
          </p:nvPr>
        </p:nvGraphicFramePr>
        <p:xfrm>
          <a:off x="6474897" y="856984"/>
          <a:ext cx="2249568" cy="788874"/>
        </p:xfrm>
        <a:graphic>
          <a:graphicData uri="http://schemas.openxmlformats.org/drawingml/2006/table">
            <a:tbl>
              <a:tblPr firstRow="1" bandRow="1">
                <a:tableStyleId>{5C22544A-7EE6-4342-B048-85BDC9FD1C3A}</a:tableStyleId>
              </a:tblPr>
              <a:tblGrid>
                <a:gridCol w="2249568">
                  <a:extLst>
                    <a:ext uri="{9D8B030D-6E8A-4147-A177-3AD203B41FA5}">
                      <a16:colId xmlns:a16="http://schemas.microsoft.com/office/drawing/2014/main" val="4512040"/>
                    </a:ext>
                  </a:extLst>
                </a:gridCol>
              </a:tblGrid>
              <a:tr h="207498">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RLHF Optimization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207498">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PPO aligns via multiple models.</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 aligns via direct optimization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GRPO aligns via self-correction.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071062206"/>
                  </a:ext>
                </a:extLst>
              </a:tr>
            </a:tbl>
          </a:graphicData>
        </a:graphic>
      </p:graphicFrame>
    </p:spTree>
    <p:extLst>
      <p:ext uri="{BB962C8B-B14F-4D97-AF65-F5344CB8AC3E}">
        <p14:creationId xmlns:p14="http://schemas.microsoft.com/office/powerpoint/2010/main" val="315623550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字方塊 2">
            <a:extLst>
              <a:ext uri="{FF2B5EF4-FFF2-40B4-BE49-F238E27FC236}">
                <a16:creationId xmlns:a16="http://schemas.microsoft.com/office/drawing/2014/main" id="{1D7DEF31-767A-9F8F-B0E4-8C2CE6788F28}"/>
              </a:ext>
            </a:extLst>
          </p:cNvPr>
          <p:cNvSpPr txBox="1"/>
          <p:nvPr/>
        </p:nvSpPr>
        <p:spPr>
          <a:xfrm>
            <a:off x="251520" y="260648"/>
            <a:ext cx="3384376" cy="4809009"/>
          </a:xfrm>
          <a:prstGeom prst="rect">
            <a:avLst/>
          </a:prstGeom>
          <a:noFill/>
        </p:spPr>
        <p:txBody>
          <a:bodyPr wrap="square">
            <a:spAutoFit/>
          </a:bodyPr>
          <a:lstStyle/>
          <a:p>
            <a:pPr marL="0" marR="0">
              <a:spcBef>
                <a:spcPts val="1800"/>
              </a:spcBef>
              <a:spcAft>
                <a:spcPts val="900"/>
              </a:spcAft>
              <a:buNone/>
            </a:pPr>
            <a:r>
              <a:rPr lang="zh-TW" altLang="zh-TW" sz="1100" b="1" u="none" strike="noStrike" dirty="0">
                <a:effectLst/>
                <a:latin typeface="微軟正黑體" panose="020B0604030504040204" pitchFamily="34" charset="-120"/>
                <a:ea typeface="微軟正黑體" panose="020B0604030504040204" pitchFamily="34" charset="-120"/>
              </a:rPr>
              <a:t>一、 解密路由激活函數：Sqrt(Softplus(·))</a:t>
            </a:r>
          </a:p>
          <a:p>
            <a:pPr marL="0" marR="0">
              <a:spcBef>
                <a:spcPts val="900"/>
              </a:spcBef>
              <a:spcAft>
                <a:spcPts val="1200"/>
              </a:spcAft>
              <a:buNone/>
            </a:pPr>
            <a:r>
              <a:rPr lang="zh-TW" altLang="zh-TW" sz="1100" b="0" u="none" strike="noStrike" dirty="0">
                <a:effectLst/>
                <a:latin typeface="微軟正黑體" panose="020B0604030504040204" pitchFamily="34" charset="-120"/>
                <a:ea typeface="微軟正黑體" panose="020B0604030504040204" pitchFamily="34" charset="-120"/>
              </a:rPr>
              <a:t>在傳統的混合專家模型（MoE）中，計算「Token 與專家的契合親和度」通常會使用 Sigmoid 或 Softmax。但 DeepSeek-V4 徹底將其替換為 </a:t>
            </a:r>
            <a:r>
              <a:rPr lang="zh-TW" altLang="zh-TW" sz="1100" b="1" u="none" strike="noStrike" dirty="0">
                <a:effectLst/>
                <a:latin typeface="微軟正黑體" panose="020B0604030504040204" pitchFamily="34" charset="-120"/>
                <a:ea typeface="微軟正黑體" panose="020B0604030504040204" pitchFamily="34" charset="-120"/>
              </a:rPr>
              <a:t>Sqrt(Softplus(·))</a:t>
            </a:r>
            <a:r>
              <a:rPr lang="zh-TW" altLang="zh-TW" sz="1100" b="0" u="none" strike="noStrike" dirty="0">
                <a:effectLst/>
                <a:latin typeface="微軟正黑體" panose="020B0604030504040204" pitchFamily="34" charset="-120"/>
                <a:ea typeface="微軟正黑體" panose="020B0604030504040204" pitchFamily="34" charset="-120"/>
              </a:rPr>
              <a:t>，其數學公式為： </a:t>
            </a:r>
            <a:endParaRPr lang="en-US" altLang="zh-TW" sz="1100" b="0" u="none" strike="noStrike" dirty="0">
              <a:effectLst/>
              <a:latin typeface="微軟正黑體" panose="020B0604030504040204" pitchFamily="34" charset="-120"/>
              <a:ea typeface="微軟正黑體" panose="020B0604030504040204" pitchFamily="34" charset="-120"/>
            </a:endParaRPr>
          </a:p>
          <a:p>
            <a:pPr marL="0" marR="0">
              <a:spcBef>
                <a:spcPts val="900"/>
              </a:spcBef>
              <a:spcAft>
                <a:spcPts val="1200"/>
              </a:spcAft>
              <a:buNone/>
            </a:pPr>
            <a:r>
              <a:rPr lang="en-US" altLang="zh-TW" sz="1100" dirty="0">
                <a:latin typeface="微軟正黑體" panose="020B0604030504040204" pitchFamily="34" charset="-120"/>
                <a:ea typeface="微軟正黑體" panose="020B0604030504040204" pitchFamily="34" charset="-120"/>
              </a:rPr>
              <a:t>Score(x) = Sqrt[ ln(1+e^x) ]</a:t>
            </a:r>
            <a:endParaRPr lang="zh-TW" altLang="zh-TW" sz="1100" b="0" u="none" strike="noStrike" dirty="0">
              <a:effectLst/>
              <a:latin typeface="微軟正黑體" panose="020B0604030504040204" pitchFamily="34" charset="-120"/>
              <a:ea typeface="微軟正黑體" panose="020B0604030504040204" pitchFamily="34" charset="-120"/>
            </a:endParaRPr>
          </a:p>
          <a:p>
            <a:pPr marL="0" marR="0">
              <a:spcBef>
                <a:spcPts val="900"/>
              </a:spcBef>
              <a:spcAft>
                <a:spcPts val="1200"/>
              </a:spcAft>
              <a:buNone/>
            </a:pPr>
            <a:r>
              <a:rPr lang="zh-TW" altLang="zh-TW" sz="1100" b="0" u="none" strike="noStrike" dirty="0">
                <a:effectLst/>
                <a:latin typeface="微軟正黑體" panose="020B0604030504040204" pitchFamily="34" charset="-120"/>
                <a:ea typeface="微軟正黑體" panose="020B0604030504040204" pitchFamily="34" charset="-120"/>
              </a:rPr>
              <a:t>這個改動帶來了三大關鍵優勢：</a:t>
            </a:r>
          </a:p>
          <a:p>
            <a:pPr marL="342900" marR="0" lvl="0" indent="-342900">
              <a:spcBef>
                <a:spcPts val="900"/>
              </a:spcBef>
              <a:spcAft>
                <a:spcPts val="900"/>
              </a:spcAft>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獨立評分不互相拉扯</a:t>
            </a:r>
            <a:r>
              <a:rPr lang="zh-TW" altLang="zh-TW" sz="1100" b="0" u="none" strike="noStrike" dirty="0">
                <a:effectLst/>
                <a:latin typeface="微軟正黑體" panose="020B0604030504040204" pitchFamily="34" charset="-120"/>
                <a:ea typeface="微軟正黑體" panose="020B0604030504040204" pitchFamily="34" charset="-120"/>
              </a:rPr>
              <a:t>：與 Softmax 不同，每個專家的分數是單獨計算的，這意味著某一個專家分數暴增時，不會強行壓低其他潛在適用專家的機率。 </a:t>
            </a:r>
            <a:endParaRPr lang="en-US" altLang="zh-TW" sz="1100" dirty="0">
              <a:latin typeface="微軟正黑體" panose="020B0604030504040204" pitchFamily="34" charset="-120"/>
              <a:ea typeface="微軟正黑體" panose="020B0604030504040204" pitchFamily="34" charset="-120"/>
            </a:endParaRPr>
          </a:p>
          <a:p>
            <a:pPr marL="342900" marR="0" lvl="0" indent="-342900">
              <a:spcBef>
                <a:spcPts val="900"/>
              </a:spcBef>
              <a:spcAft>
                <a:spcPts val="900"/>
              </a:spcAft>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平滑緩解極端路由</a:t>
            </a:r>
            <a:r>
              <a:rPr lang="zh-TW" altLang="zh-TW" sz="1100" b="0" u="none" strike="noStrike" dirty="0">
                <a:effectLst/>
                <a:latin typeface="微軟正黑體" panose="020B0604030504040204" pitchFamily="34" charset="-120"/>
                <a:ea typeface="微軟正黑體" panose="020B0604030504040204" pitchFamily="34" charset="-120"/>
              </a:rPr>
              <a:t>：Softplus 能提供平滑的漸進激活，而外層的</a:t>
            </a:r>
            <a:r>
              <a:rPr lang="zh-TW" altLang="zh-TW" sz="1100" b="1" u="none" strike="noStrike" dirty="0">
                <a:effectLst/>
                <a:latin typeface="微軟正黑體" panose="020B0604030504040204" pitchFamily="34" charset="-120"/>
                <a:ea typeface="微軟正黑體" panose="020B0604030504040204" pitchFamily="34" charset="-120"/>
              </a:rPr>
              <a:t>平方根（Sqrt）操作能進一步壓縮分數的極端範圍</a:t>
            </a:r>
            <a:r>
              <a:rPr lang="zh-TW" altLang="zh-TW" sz="1100" b="0" u="none" strike="noStrike" dirty="0">
                <a:effectLst/>
                <a:latin typeface="微軟正黑體" panose="020B0604030504040204" pitchFamily="34" charset="-120"/>
                <a:ea typeface="微軟正黑體" panose="020B0604030504040204" pitchFamily="34" charset="-120"/>
              </a:rPr>
              <a:t>，防止少數專家被「過度熱捧」而導致其他專家失業。 </a:t>
            </a:r>
          </a:p>
          <a:p>
            <a:pPr marL="342900" marR="0" lvl="0" indent="-342900">
              <a:spcBef>
                <a:spcPts val="900"/>
              </a:spcBef>
              <a:spcAft>
                <a:spcPts val="900"/>
              </a:spcAft>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有利於天然負載均衡</a:t>
            </a:r>
            <a:r>
              <a:rPr lang="zh-TW" altLang="zh-TW" sz="1100" b="0" u="none" strike="noStrike" dirty="0">
                <a:effectLst/>
                <a:latin typeface="微軟正黑體" panose="020B0604030504040204" pitchFamily="34" charset="-120"/>
                <a:ea typeface="微軟正黑體" panose="020B0604030504040204" pitchFamily="34" charset="-120"/>
              </a:rPr>
              <a:t>：路由分布更為平緩，模型在不需要僵硬的「輔助損失（Auxiliary Loss）」強迫制約下，就能自主實現極佳的專家分配均衡。</a:t>
            </a:r>
          </a:p>
        </p:txBody>
      </p:sp>
      <p:pic>
        <p:nvPicPr>
          <p:cNvPr id="5" name="圖片 4">
            <a:extLst>
              <a:ext uri="{FF2B5EF4-FFF2-40B4-BE49-F238E27FC236}">
                <a16:creationId xmlns:a16="http://schemas.microsoft.com/office/drawing/2014/main" id="{24B15496-A7F0-B40B-64D7-2E69EEF5EED0}"/>
              </a:ext>
            </a:extLst>
          </p:cNvPr>
          <p:cNvPicPr>
            <a:picLocks noChangeAspect="1"/>
          </p:cNvPicPr>
          <p:nvPr/>
        </p:nvPicPr>
        <p:blipFill>
          <a:blip r:embed="rId3"/>
          <a:stretch>
            <a:fillRect/>
          </a:stretch>
        </p:blipFill>
        <p:spPr>
          <a:xfrm>
            <a:off x="216496" y="1412776"/>
            <a:ext cx="2429214" cy="581106"/>
          </a:xfrm>
          <a:prstGeom prst="rect">
            <a:avLst/>
          </a:prstGeom>
        </p:spPr>
      </p:pic>
      <p:sp>
        <p:nvSpPr>
          <p:cNvPr id="7" name="文字方塊 6">
            <a:extLst>
              <a:ext uri="{FF2B5EF4-FFF2-40B4-BE49-F238E27FC236}">
                <a16:creationId xmlns:a16="http://schemas.microsoft.com/office/drawing/2014/main" id="{5DACEE6A-7394-9489-F6F8-35DC8A5AC10E}"/>
              </a:ext>
            </a:extLst>
          </p:cNvPr>
          <p:cNvSpPr txBox="1"/>
          <p:nvPr/>
        </p:nvSpPr>
        <p:spPr>
          <a:xfrm>
            <a:off x="3995936" y="188640"/>
            <a:ext cx="4572000" cy="5613396"/>
          </a:xfrm>
          <a:prstGeom prst="rect">
            <a:avLst/>
          </a:prstGeom>
          <a:noFill/>
        </p:spPr>
        <p:txBody>
          <a:bodyPr wrap="square">
            <a:spAutoFit/>
          </a:bodyPr>
          <a:lstStyle/>
          <a:p>
            <a:pPr marR="0">
              <a:lnSpc>
                <a:spcPts val="1600"/>
              </a:lnSpc>
              <a:buNone/>
            </a:pPr>
            <a:r>
              <a:rPr lang="zh-TW" altLang="zh-TW" sz="1100" b="1" u="none" strike="noStrike" dirty="0">
                <a:effectLst/>
                <a:latin typeface="微軟正黑體" panose="020B0604030504040204" pitchFamily="34" charset="-120"/>
                <a:ea typeface="微軟正黑體" panose="020B0604030504040204" pitchFamily="34" charset="-120"/>
              </a:rPr>
              <a:t>二、 什麼是 DeepSeek-V4 的「混合注意力架構」？</a:t>
            </a:r>
          </a:p>
          <a:p>
            <a:pPr marR="0">
              <a:lnSpc>
                <a:spcPts val="1600"/>
              </a:lnSpc>
              <a:buNone/>
            </a:pPr>
            <a:r>
              <a:rPr lang="zh-TW" altLang="zh-TW" sz="1100" b="0" u="none" strike="noStrike" dirty="0">
                <a:effectLst/>
                <a:latin typeface="微軟正黑體" panose="020B0604030504040204" pitchFamily="34" charset="-120"/>
                <a:ea typeface="微軟正黑體" panose="020B0604030504040204" pitchFamily="34" charset="-120"/>
              </a:rPr>
              <a:t>在過去的 V2/V3 中，DeepSeek 著名的是 Multi-head Latent Attention (MLA) 技術。然而到了 V4，為了解決 100 萬 Token 帶來的恐怖 </a:t>
            </a:r>
            <a:r>
              <a:rPr lang="zh-TW" altLang="zh-TW" sz="1100" b="1" u="none" strike="noStrike" dirty="0">
                <a:effectLst/>
                <a:latin typeface="微軟正黑體" panose="020B0604030504040204" pitchFamily="34" charset="-120"/>
                <a:ea typeface="微軟正黑體" panose="020B0604030504040204" pitchFamily="34" charset="-120"/>
              </a:rPr>
              <a:t>KV Cache（鍵值快取）記憶體爆炸問題</a:t>
            </a:r>
            <a:r>
              <a:rPr lang="zh-TW" altLang="zh-TW" sz="1100" b="0" u="none" strike="noStrike" dirty="0">
                <a:effectLst/>
                <a:latin typeface="微軟正黑體" panose="020B0604030504040204" pitchFamily="34" charset="-120"/>
                <a:ea typeface="微軟正黑體" panose="020B0604030504040204" pitchFamily="34" charset="-120"/>
              </a:rPr>
              <a:t>，官方開發出了由 </a:t>
            </a:r>
            <a:r>
              <a:rPr lang="zh-TW" altLang="zh-TW" sz="1100" b="1" u="none" strike="noStrike" dirty="0">
                <a:effectLst/>
                <a:latin typeface="微軟正黑體" panose="020B0604030504040204" pitchFamily="34" charset="-120"/>
                <a:ea typeface="微軟正黑體" panose="020B0604030504040204" pitchFamily="34" charset="-120"/>
              </a:rPr>
              <a:t>CSA</a:t>
            </a:r>
            <a:r>
              <a:rPr lang="zh-TW" altLang="zh-TW" sz="1100" b="0" u="none" strike="noStrike" dirty="0">
                <a:effectLst/>
                <a:latin typeface="微軟正黑體" panose="020B0604030504040204" pitchFamily="34" charset="-120"/>
                <a:ea typeface="微軟正黑體" panose="020B0604030504040204" pitchFamily="34" charset="-120"/>
              </a:rPr>
              <a:t> 與 </a:t>
            </a:r>
            <a:r>
              <a:rPr lang="zh-TW" altLang="zh-TW" sz="1100" b="1" u="none" strike="noStrike" dirty="0">
                <a:effectLst/>
                <a:latin typeface="微軟正黑體" panose="020B0604030504040204" pitchFamily="34" charset="-120"/>
                <a:ea typeface="微軟正黑體" panose="020B0604030504040204" pitchFamily="34" charset="-120"/>
              </a:rPr>
              <a:t>HCA</a:t>
            </a:r>
            <a:r>
              <a:rPr lang="zh-TW" altLang="zh-TW" sz="1100" b="0" u="none" strike="noStrike" dirty="0">
                <a:effectLst/>
                <a:latin typeface="微軟正黑體" panose="020B0604030504040204" pitchFamily="34" charset="-120"/>
                <a:ea typeface="微軟正黑體" panose="020B0604030504040204" pitchFamily="34" charset="-120"/>
              </a:rPr>
              <a:t> 交替層疊（Interleaved）組成的</a:t>
            </a:r>
            <a:r>
              <a:rPr lang="zh-TW" altLang="zh-TW" sz="1100" b="1" u="none" strike="noStrike" dirty="0">
                <a:effectLst/>
                <a:latin typeface="微軟正黑體" panose="020B0604030504040204" pitchFamily="34" charset="-120"/>
                <a:ea typeface="微軟正黑體" panose="020B0604030504040204" pitchFamily="34" charset="-120"/>
              </a:rPr>
              <a:t>混合注意力架構</a:t>
            </a:r>
            <a:r>
              <a:rPr lang="zh-TW" altLang="zh-TW" sz="1100" b="0" u="none" strike="noStrike" dirty="0">
                <a:effectLst/>
                <a:latin typeface="微軟正黑體" panose="020B0604030504040204" pitchFamily="34" charset="-120"/>
                <a:ea typeface="微軟正黑體" panose="020B0604030504040204" pitchFamily="34" charset="-120"/>
              </a:rPr>
              <a:t>。 </a:t>
            </a:r>
          </a:p>
          <a:p>
            <a:pPr marR="0">
              <a:lnSpc>
                <a:spcPts val="1600"/>
              </a:lnSpc>
              <a:buNone/>
            </a:pPr>
            <a:r>
              <a:rPr lang="zh-TW" altLang="zh-TW" sz="1100" b="0" u="none" strike="noStrike" dirty="0">
                <a:effectLst/>
                <a:latin typeface="微軟正黑體" panose="020B0604030504040204" pitchFamily="34" charset="-120"/>
                <a:ea typeface="微軟正黑體" panose="020B0604030504040204" pitchFamily="34" charset="-120"/>
              </a:rPr>
              <a:t>它拋棄了「每個 Token 都必須精確記錄 KV 狀態」的傳統教條，改採</a:t>
            </a:r>
            <a:r>
              <a:rPr lang="zh-TW" altLang="zh-TW" sz="1100" b="1" u="none" strike="noStrike" dirty="0">
                <a:effectLst/>
                <a:latin typeface="微軟正黑體" panose="020B0604030504040204" pitchFamily="34" charset="-120"/>
                <a:ea typeface="微軟正黑體" panose="020B0604030504040204" pitchFamily="34" charset="-120"/>
              </a:rPr>
              <a:t>分層儲存、按需訪問</a:t>
            </a:r>
            <a:r>
              <a:rPr lang="zh-TW" altLang="zh-TW" sz="1100" b="0" u="none" strike="noStrike" dirty="0">
                <a:effectLst/>
                <a:latin typeface="微軟正黑體" panose="020B0604030504040204" pitchFamily="34" charset="-120"/>
                <a:ea typeface="微軟正黑體" panose="020B0604030504040204" pitchFamily="34" charset="-120"/>
              </a:rPr>
              <a:t>的策略，成功將 </a:t>
            </a:r>
            <a:r>
              <a:rPr lang="zh-TW" altLang="zh-TW" sz="1100" b="1" u="none" strike="noStrike" dirty="0">
                <a:effectLst/>
                <a:latin typeface="微軟正黑體" panose="020B0604030504040204" pitchFamily="34" charset="-120"/>
                <a:ea typeface="微軟正黑體" panose="020B0604030504040204" pitchFamily="34" charset="-120"/>
              </a:rPr>
              <a:t>KV Cache 暴減 90%，單 Token 推理算力（FLOPs）降低 73%</a:t>
            </a:r>
            <a:r>
              <a:rPr lang="zh-TW" altLang="zh-TW" sz="1100" b="0" u="none" strike="noStrike" dirty="0">
                <a:effectLst/>
                <a:latin typeface="微軟正黑體" panose="020B0604030504040204" pitchFamily="34" charset="-120"/>
                <a:ea typeface="微軟正黑體" panose="020B0604030504040204" pitchFamily="34" charset="-120"/>
              </a:rPr>
              <a:t>。</a:t>
            </a:r>
          </a:p>
          <a:p>
            <a:pPr marR="0">
              <a:lnSpc>
                <a:spcPts val="1600"/>
              </a:lnSpc>
              <a:buNone/>
            </a:pPr>
            <a:r>
              <a:rPr lang="zh-TW" altLang="zh-TW" sz="1100" b="0" u="none" strike="noStrike" dirty="0">
                <a:effectLst/>
                <a:latin typeface="微軟正黑體" panose="020B0604030504040204" pitchFamily="34" charset="-120"/>
                <a:ea typeface="微軟正黑體" panose="020B0604030504040204" pitchFamily="34" charset="-120"/>
              </a:rPr>
              <a:t>這一架構由以下兩大機制交織而成：</a:t>
            </a:r>
            <a:endParaRPr lang="en-US" altLang="zh-TW" sz="1100" b="0" u="none" strike="noStrike" dirty="0">
              <a:effectLst/>
              <a:latin typeface="微軟正黑體" panose="020B0604030504040204" pitchFamily="34" charset="-120"/>
              <a:ea typeface="微軟正黑體" panose="020B0604030504040204" pitchFamily="34" charset="-120"/>
            </a:endParaRPr>
          </a:p>
          <a:p>
            <a:pPr marR="0">
              <a:lnSpc>
                <a:spcPts val="1600"/>
              </a:lnSpc>
              <a:buNone/>
            </a:pPr>
            <a:endParaRPr lang="zh-TW" altLang="zh-TW" sz="1100" b="0" u="none" strike="noStrike" dirty="0">
              <a:effectLst/>
              <a:latin typeface="微軟正黑體" panose="020B0604030504040204" pitchFamily="34" charset="-120"/>
              <a:ea typeface="微軟正黑體" panose="020B0604030504040204" pitchFamily="34" charset="-120"/>
            </a:endParaRPr>
          </a:p>
          <a:p>
            <a:pPr marR="0">
              <a:lnSpc>
                <a:spcPts val="1600"/>
              </a:lnSpc>
              <a:buNone/>
            </a:pPr>
            <a:r>
              <a:rPr lang="zh-TW" altLang="zh-TW" sz="1100" b="1" u="none" strike="noStrike" dirty="0">
                <a:effectLst/>
                <a:latin typeface="微軟正黑體" panose="020B0604030504040204" pitchFamily="34" charset="-120"/>
                <a:ea typeface="微軟正黑體" panose="020B0604030504040204" pitchFamily="34" charset="-120"/>
              </a:rPr>
              <a:t>1. 壓縮稀疏注意力（Compressed Sparse Attention, CSA）</a:t>
            </a:r>
          </a:p>
          <a:p>
            <a:pPr marR="0" lvl="0" indent="-342900">
              <a:lnSpc>
                <a:spcPts val="1600"/>
              </a:lnSpc>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運作機制</a:t>
            </a:r>
            <a:r>
              <a:rPr lang="zh-TW" altLang="zh-TW" sz="1100" b="0" u="none" strike="noStrike" dirty="0">
                <a:effectLst/>
                <a:latin typeface="微軟正黑體" panose="020B0604030504040204" pitchFamily="34" charset="-120"/>
                <a:ea typeface="微軟正黑體" panose="020B0604030504040204" pitchFamily="34" charset="-120"/>
              </a:rPr>
              <a:t>：將歷史脈絡每m</a:t>
            </a:r>
            <a:r>
              <a:rPr lang="en-US" altLang="zh-TW" sz="1100" b="0" u="none" strike="noStrike" dirty="0">
                <a:effectLst/>
                <a:latin typeface="微軟正黑體" panose="020B0604030504040204" pitchFamily="34" charset="-120"/>
                <a:ea typeface="微軟正黑體" panose="020B0604030504040204" pitchFamily="34" charset="-120"/>
              </a:rPr>
              <a:t>(4)</a:t>
            </a:r>
            <a:r>
              <a:rPr lang="zh-TW" altLang="zh-TW" sz="1100" b="0" u="none" strike="noStrike" dirty="0">
                <a:effectLst/>
                <a:latin typeface="微軟正黑體" panose="020B0604030504040204" pitchFamily="34" charset="-120"/>
                <a:ea typeface="微軟正黑體" panose="020B0604030504040204" pitchFamily="34" charset="-120"/>
              </a:rPr>
              <a:t>個Token的 KV 狀態，透過學習好的權重</a:t>
            </a:r>
            <a:r>
              <a:rPr lang="zh-TW" altLang="zh-TW" sz="1100" b="1" u="none" strike="noStrike" dirty="0">
                <a:effectLst/>
                <a:latin typeface="微軟正黑體" panose="020B0604030504040204" pitchFamily="34" charset="-120"/>
                <a:ea typeface="微軟正黑體" panose="020B0604030504040204" pitchFamily="34" charset="-120"/>
              </a:rPr>
              <a:t>數學壓縮</a:t>
            </a:r>
            <a:r>
              <a:rPr lang="zh-TW" altLang="zh-TW" sz="1100" b="0" u="none" strike="noStrike" dirty="0">
                <a:effectLst/>
                <a:latin typeface="微軟正黑體" panose="020B0604030504040204" pitchFamily="34" charset="-120"/>
                <a:ea typeface="微軟正黑體" panose="020B0604030504040204" pitchFamily="34" charset="-120"/>
              </a:rPr>
              <a:t>鎖定成一個合併表徵。接著，由 Lightning Indexer 快速動態檢索出最相關的 Top-K 個壓縮記憶條目。</a:t>
            </a:r>
          </a:p>
          <a:p>
            <a:pPr marR="0" lvl="0" indent="-342900">
              <a:lnSpc>
                <a:spcPts val="1600"/>
              </a:lnSpc>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角色定位</a:t>
            </a:r>
            <a:r>
              <a:rPr lang="zh-TW" altLang="zh-TW" sz="1100" b="0" u="none" strike="noStrike" dirty="0">
                <a:effectLst/>
                <a:latin typeface="微軟正黑體" panose="020B0604030504040204" pitchFamily="34" charset="-120"/>
                <a:ea typeface="微軟正黑體" panose="020B0604030504040204" pitchFamily="34" charset="-120"/>
              </a:rPr>
              <a:t>：它就像是</a:t>
            </a:r>
            <a:r>
              <a:rPr lang="en-US" altLang="zh-TW" sz="1100" b="1" u="none" strike="noStrike" dirty="0">
                <a:effectLst/>
                <a:latin typeface="微軟正黑體" panose="020B0604030504040204" pitchFamily="34" charset="-120"/>
                <a:ea typeface="微軟正黑體" panose="020B0604030504040204" pitchFamily="34" charset="-120"/>
              </a:rPr>
              <a:t>(</a:t>
            </a:r>
            <a:r>
              <a:rPr lang="zh-TW" altLang="zh-TW" sz="1100" b="1" u="none" strike="noStrike" dirty="0">
                <a:effectLst/>
                <a:latin typeface="微軟正黑體" panose="020B0604030504040204" pitchFamily="34" charset="-120"/>
                <a:ea typeface="微軟正黑體" panose="020B0604030504040204" pitchFamily="34" charset="-120"/>
              </a:rPr>
              <a:t>中等解析度的檢索器</a:t>
            </a:r>
            <a:r>
              <a:rPr lang="en-US" altLang="zh-TW" sz="1100" b="1" u="none" strike="noStrike" dirty="0">
                <a:effectLst/>
                <a:latin typeface="微軟正黑體" panose="020B0604030504040204" pitchFamily="34" charset="-120"/>
                <a:ea typeface="微軟正黑體" panose="020B0604030504040204" pitchFamily="34" charset="-120"/>
              </a:rPr>
              <a:t>),</a:t>
            </a:r>
            <a:r>
              <a:rPr lang="zh-TW" altLang="en-US" sz="1100" b="1" u="none" strike="noStrike" dirty="0">
                <a:effectLst/>
                <a:latin typeface="微軟正黑體" panose="020B0604030504040204" pitchFamily="34" charset="-120"/>
                <a:ea typeface="微軟正黑體" panose="020B0604030504040204" pitchFamily="34" charset="-120"/>
              </a:rPr>
              <a:t> </a:t>
            </a:r>
            <a:r>
              <a:rPr lang="zh-TW" altLang="zh-TW" sz="1100" b="0" u="none" strike="noStrike" dirty="0">
                <a:effectLst/>
                <a:latin typeface="微軟正黑體" panose="020B0604030504040204" pitchFamily="34" charset="-120"/>
                <a:ea typeface="微軟正黑體" panose="020B0604030504040204" pitchFamily="34" charset="-120"/>
              </a:rPr>
              <a:t>不全量掃描百萬上下文，只找出跟當前問題最相關的歷史片段。 </a:t>
            </a:r>
          </a:p>
          <a:p>
            <a:pPr marR="0">
              <a:lnSpc>
                <a:spcPts val="1600"/>
              </a:lnSpc>
              <a:buNone/>
            </a:pPr>
            <a:r>
              <a:rPr lang="zh-TW" altLang="zh-TW" sz="1100" b="1" u="none" strike="noStrike" dirty="0">
                <a:effectLst/>
                <a:latin typeface="微軟正黑體" panose="020B0604030504040204" pitchFamily="34" charset="-120"/>
                <a:ea typeface="微軟正黑體" panose="020B0604030504040204" pitchFamily="34" charset="-120"/>
              </a:rPr>
              <a:t>2. 重度壓縮注意力（Heavily Compressed Attention, HCA）</a:t>
            </a:r>
          </a:p>
          <a:p>
            <a:pPr marR="0" lvl="0" indent="-342900">
              <a:lnSpc>
                <a:spcPts val="1600"/>
              </a:lnSpc>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運作機制</a:t>
            </a:r>
            <a:r>
              <a:rPr lang="zh-TW" altLang="zh-TW" sz="1100" b="0" u="none" strike="noStrike" dirty="0">
                <a:effectLst/>
                <a:latin typeface="微軟正黑體" panose="020B0604030504040204" pitchFamily="34" charset="-120"/>
                <a:ea typeface="微軟正黑體" panose="020B0604030504040204" pitchFamily="34" charset="-120"/>
              </a:rPr>
              <a:t>：採用更激進的重度壓縮比（例如每 128 個 Token 壓縮成一條全局 KV 狀態），然後對這些高度壓縮的狀態進行</a:t>
            </a:r>
            <a:r>
              <a:rPr lang="zh-TW" altLang="zh-TW" sz="1100" b="1" u="none" strike="noStrike" dirty="0">
                <a:effectLst/>
                <a:latin typeface="微軟正黑體" panose="020B0604030504040204" pitchFamily="34" charset="-120"/>
                <a:ea typeface="微軟正黑體" panose="020B0604030504040204" pitchFamily="34" charset="-120"/>
              </a:rPr>
              <a:t>密集的全局注意力計算</a:t>
            </a:r>
            <a:r>
              <a:rPr lang="zh-TW" altLang="zh-TW" sz="1100" b="0" u="none" strike="noStrike" dirty="0">
                <a:effectLst/>
                <a:latin typeface="微軟正黑體" panose="020B0604030504040204" pitchFamily="34" charset="-120"/>
                <a:ea typeface="微軟正黑體" panose="020B0604030504040204" pitchFamily="34" charset="-120"/>
              </a:rPr>
              <a:t>。</a:t>
            </a:r>
          </a:p>
          <a:p>
            <a:pPr marR="0" lvl="0" indent="-342900">
              <a:lnSpc>
                <a:spcPts val="1600"/>
              </a:lnSpc>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角色定位</a:t>
            </a:r>
            <a:r>
              <a:rPr lang="zh-TW" altLang="zh-TW" sz="1100" b="0" u="none" strike="noStrike" dirty="0">
                <a:effectLst/>
                <a:latin typeface="微軟正黑體" panose="020B0604030504040204" pitchFamily="34" charset="-120"/>
                <a:ea typeface="微軟正黑體" panose="020B0604030504040204" pitchFamily="34" charset="-120"/>
              </a:rPr>
              <a:t>：它就像是</a:t>
            </a:r>
            <a:r>
              <a:rPr lang="zh-TW" altLang="zh-TW" sz="1100" b="1" u="none" strike="noStrike" dirty="0">
                <a:effectLst/>
                <a:latin typeface="微軟正黑體" panose="020B0604030504040204" pitchFamily="34" charset="-120"/>
                <a:ea typeface="微軟正黑體" panose="020B0604030504040204" pitchFamily="34" charset="-120"/>
              </a:rPr>
              <a:t>「低解析度的全局老地圖」</a:t>
            </a:r>
            <a:r>
              <a:rPr lang="zh-TW" altLang="zh-TW" sz="1100" b="0" u="none" strike="noStrike" dirty="0">
                <a:effectLst/>
                <a:latin typeface="微軟正黑體" panose="020B0604030504040204" pitchFamily="34" charset="-120"/>
                <a:ea typeface="微軟正黑體" panose="020B0604030504040204" pitchFamily="34" charset="-120"/>
              </a:rPr>
              <a:t>。雖然細節被模糊了，但它確保模型不會因為稀疏檢索而徹底切碎整體文章結構，依然看得見故事的宏觀輪廓。 </a:t>
            </a:r>
          </a:p>
          <a:p>
            <a:pPr marR="0">
              <a:lnSpc>
                <a:spcPts val="1600"/>
              </a:lnSpc>
              <a:buNone/>
            </a:pPr>
            <a:r>
              <a:rPr lang="zh-TW" altLang="zh-TW" sz="1100" b="1" u="none" strike="noStrike" dirty="0">
                <a:effectLst/>
                <a:latin typeface="微軟正黑體" panose="020B0604030504040204" pitchFamily="34" charset="-120"/>
                <a:ea typeface="微軟正黑體" panose="020B0604030504040204" pitchFamily="34" charset="-120"/>
              </a:rPr>
              <a:t>3. 滑動窗口（Sliding Window）</a:t>
            </a:r>
          </a:p>
          <a:p>
            <a:pPr marR="0" lvl="0" indent="-342900">
              <a:lnSpc>
                <a:spcPts val="1600"/>
              </a:lnSpc>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運作機制</a:t>
            </a:r>
            <a:r>
              <a:rPr lang="zh-TW" altLang="zh-TW" sz="1100" b="0" u="none" strike="noStrike" dirty="0">
                <a:effectLst/>
                <a:latin typeface="微軟正黑體" panose="020B0604030504040204" pitchFamily="34" charset="-120"/>
                <a:ea typeface="微軟正黑體" panose="020B0604030504040204" pitchFamily="34" charset="-120"/>
              </a:rPr>
              <a:t>：不論 CSA 還是 HCA，對於「當前最新、最鄰近」的上下文（例如最新的 128 個 Token），都依然保持 100% 完整且精確的精細注意力。</a:t>
            </a:r>
          </a:p>
        </p:txBody>
      </p:sp>
      <p:graphicFrame>
        <p:nvGraphicFramePr>
          <p:cNvPr id="6" name="表格 5">
            <a:extLst>
              <a:ext uri="{FF2B5EF4-FFF2-40B4-BE49-F238E27FC236}">
                <a16:creationId xmlns:a16="http://schemas.microsoft.com/office/drawing/2014/main" id="{73A2FB69-DDF4-9EAC-D7D6-632FE413F84A}"/>
              </a:ext>
            </a:extLst>
          </p:cNvPr>
          <p:cNvGraphicFramePr>
            <a:graphicFrameLocks noGrp="1"/>
          </p:cNvGraphicFramePr>
          <p:nvPr>
            <p:extLst>
              <p:ext uri="{D42A27DB-BD31-4B8C-83A1-F6EECF244321}">
                <p14:modId xmlns:p14="http://schemas.microsoft.com/office/powerpoint/2010/main" val="1317161879"/>
              </p:ext>
            </p:extLst>
          </p:nvPr>
        </p:nvGraphicFramePr>
        <p:xfrm>
          <a:off x="1691680" y="5661248"/>
          <a:ext cx="1944216" cy="788874"/>
        </p:xfrm>
        <a:graphic>
          <a:graphicData uri="http://schemas.openxmlformats.org/drawingml/2006/table">
            <a:tbl>
              <a:tblPr firstRow="1" bandRow="1">
                <a:tableStyleId>{5C22544A-7EE6-4342-B048-85BDC9FD1C3A}</a:tableStyleId>
              </a:tblPr>
              <a:tblGrid>
                <a:gridCol w="504056">
                  <a:extLst>
                    <a:ext uri="{9D8B030D-6E8A-4147-A177-3AD203B41FA5}">
                      <a16:colId xmlns:a16="http://schemas.microsoft.com/office/drawing/2014/main" val="4072639710"/>
                    </a:ext>
                  </a:extLst>
                </a:gridCol>
                <a:gridCol w="1440160">
                  <a:extLst>
                    <a:ext uri="{9D8B030D-6E8A-4147-A177-3AD203B41FA5}">
                      <a16:colId xmlns:a16="http://schemas.microsoft.com/office/drawing/2014/main" val="4106879781"/>
                    </a:ext>
                  </a:extLst>
                </a:gridCol>
              </a:tblGrid>
              <a:tr h="207498">
                <a:tc>
                  <a:txBody>
                    <a:bodyPr/>
                    <a:lstStyle/>
                    <a:p>
                      <a:pPr algn="l"/>
                      <a:r>
                        <a:rPr lang="en-US" altLang="zh-TW" sz="1200" b="1" cap="none" spc="0" dirty="0">
                          <a:ln w="0"/>
                          <a:solidFill>
                            <a:schemeClr val="tx1"/>
                          </a:solidFill>
                          <a:effectLst/>
                        </a:rPr>
                        <a:t>CSA</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tc>
                  <a:txBody>
                    <a:bodyPr/>
                    <a:lstStyle/>
                    <a:p>
                      <a:pPr algn="l"/>
                      <a:r>
                        <a:rPr lang="en-US" altLang="zh-TW" sz="1200" b="0" cap="none" spc="0" dirty="0" err="1">
                          <a:ln w="0"/>
                          <a:solidFill>
                            <a:schemeClr val="tx1"/>
                          </a:solidFill>
                          <a:effectLst/>
                        </a:rPr>
                        <a:t>xadsf</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2304923032"/>
                  </a:ext>
                </a:extLst>
              </a:tr>
              <a:tr h="207498">
                <a:tc>
                  <a:txBody>
                    <a:bodyPr/>
                    <a:lstStyle/>
                    <a:p>
                      <a:pPr algn="l"/>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tc>
                  <a:txBody>
                    <a:bodyPr/>
                    <a:lstStyle/>
                    <a:p>
                      <a:pPr algn="l"/>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3639812515"/>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81341950"/>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953988682"/>
                  </a:ext>
                </a:extLst>
              </a:tr>
            </a:tbl>
          </a:graphicData>
        </a:graphic>
      </p:graphicFrame>
      <p:pic>
        <p:nvPicPr>
          <p:cNvPr id="4" name="圖片 3">
            <a:extLst>
              <a:ext uri="{FF2B5EF4-FFF2-40B4-BE49-F238E27FC236}">
                <a16:creationId xmlns:a16="http://schemas.microsoft.com/office/drawing/2014/main" id="{C769F52B-0531-C9AC-626B-6D6332C197AD}"/>
              </a:ext>
            </a:extLst>
          </p:cNvPr>
          <p:cNvPicPr>
            <a:picLocks noChangeAspect="1"/>
          </p:cNvPicPr>
          <p:nvPr/>
        </p:nvPicPr>
        <p:blipFill>
          <a:blip r:embed="rId4"/>
          <a:stretch>
            <a:fillRect/>
          </a:stretch>
        </p:blipFill>
        <p:spPr>
          <a:xfrm>
            <a:off x="2886375" y="536354"/>
            <a:ext cx="3362794" cy="1457528"/>
          </a:xfrm>
          <a:prstGeom prst="rect">
            <a:avLst/>
          </a:prstGeom>
          <a:effectLst>
            <a:glow rad="50800">
              <a:schemeClr val="accent5"/>
            </a:glow>
          </a:effectLst>
        </p:spPr>
      </p:pic>
    </p:spTree>
    <p:extLst>
      <p:ext uri="{BB962C8B-B14F-4D97-AF65-F5344CB8AC3E}">
        <p14:creationId xmlns:p14="http://schemas.microsoft.com/office/powerpoint/2010/main" val="314539505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A16EEC-6C42-09B9-F859-79359689D7A7}"/>
            </a:ext>
          </a:extLst>
        </p:cNvPr>
        <p:cNvGrpSpPr/>
        <p:nvPr/>
      </p:nvGrpSpPr>
      <p:grpSpPr>
        <a:xfrm>
          <a:off x="0" y="0"/>
          <a:ext cx="0" cy="0"/>
          <a:chOff x="0" y="0"/>
          <a:chExt cx="0" cy="0"/>
        </a:xfrm>
      </p:grpSpPr>
      <p:sp>
        <p:nvSpPr>
          <p:cNvPr id="6" name="標題 1">
            <a:extLst>
              <a:ext uri="{FF2B5EF4-FFF2-40B4-BE49-F238E27FC236}">
                <a16:creationId xmlns:a16="http://schemas.microsoft.com/office/drawing/2014/main" id="{2DCB68E9-8DA3-5172-2398-EEF1F9E21177}"/>
              </a:ext>
            </a:extLst>
          </p:cNvPr>
          <p:cNvSpPr txBox="1">
            <a:spLocks/>
          </p:cNvSpPr>
          <p:nvPr/>
        </p:nvSpPr>
        <p:spPr>
          <a:xfrm>
            <a:off x="-367479" y="1297753"/>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DeepSeek-V4 Flash</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Parameters is 284B.</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7" name="標題 1">
            <a:extLst>
              <a:ext uri="{FF2B5EF4-FFF2-40B4-BE49-F238E27FC236}">
                <a16:creationId xmlns:a16="http://schemas.microsoft.com/office/drawing/2014/main" id="{C4591A5C-3125-91C4-210F-A6EA5099E439}"/>
              </a:ext>
            </a:extLst>
          </p:cNvPr>
          <p:cNvSpPr txBox="1">
            <a:spLocks/>
          </p:cNvSpPr>
          <p:nvPr/>
        </p:nvSpPr>
        <p:spPr>
          <a:xfrm>
            <a:off x="1792025" y="4367791"/>
            <a:ext cx="1102112" cy="576064"/>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Embedding dimension of 4096</a:t>
            </a:r>
            <a:endParaRPr lang="en-US" altLang="zh-TW" sz="10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2" name="標題 1">
            <a:extLst>
              <a:ext uri="{FF2B5EF4-FFF2-40B4-BE49-F238E27FC236}">
                <a16:creationId xmlns:a16="http://schemas.microsoft.com/office/drawing/2014/main" id="{5CD8287F-FC84-6024-A406-47CC8DDD1F8C}"/>
              </a:ext>
            </a:extLst>
          </p:cNvPr>
          <p:cNvSpPr txBox="1">
            <a:spLocks/>
          </p:cNvSpPr>
          <p:nvPr/>
        </p:nvSpPr>
        <p:spPr>
          <a:xfrm>
            <a:off x="7144904" y="5723144"/>
            <a:ext cx="1224136" cy="116632"/>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Tokenized text</a:t>
            </a:r>
          </a:p>
        </p:txBody>
      </p:sp>
      <p:pic>
        <p:nvPicPr>
          <p:cNvPr id="3" name="圖片 2">
            <a:extLst>
              <a:ext uri="{FF2B5EF4-FFF2-40B4-BE49-F238E27FC236}">
                <a16:creationId xmlns:a16="http://schemas.microsoft.com/office/drawing/2014/main" id="{4847F2FE-A7D1-1C7A-9A41-E11D98AA70E1}"/>
              </a:ext>
            </a:extLst>
          </p:cNvPr>
          <p:cNvPicPr>
            <a:picLocks noChangeAspect="1"/>
          </p:cNvPicPr>
          <p:nvPr/>
        </p:nvPicPr>
        <p:blipFill>
          <a:blip r:embed="rId2"/>
          <a:stretch>
            <a:fillRect/>
          </a:stretch>
        </p:blipFill>
        <p:spPr>
          <a:xfrm>
            <a:off x="1691680" y="1265195"/>
            <a:ext cx="4901991" cy="6781255"/>
          </a:xfrm>
          <a:prstGeom prst="rect">
            <a:avLst/>
          </a:prstGeom>
          <a:solidFill>
            <a:schemeClr val="bg1"/>
          </a:solidFill>
        </p:spPr>
      </p:pic>
      <p:sp>
        <p:nvSpPr>
          <p:cNvPr id="4" name="標題 1">
            <a:extLst>
              <a:ext uri="{FF2B5EF4-FFF2-40B4-BE49-F238E27FC236}">
                <a16:creationId xmlns:a16="http://schemas.microsoft.com/office/drawing/2014/main" id="{301070FD-10B6-59FE-9BB5-16870A81BE8B}"/>
              </a:ext>
            </a:extLst>
          </p:cNvPr>
          <p:cNvSpPr txBox="1">
            <a:spLocks/>
          </p:cNvSpPr>
          <p:nvPr/>
        </p:nvSpPr>
        <p:spPr>
          <a:xfrm>
            <a:off x="179512" y="116632"/>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Attention</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An</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0" name="圖片 9">
            <a:extLst>
              <a:ext uri="{FF2B5EF4-FFF2-40B4-BE49-F238E27FC236}">
                <a16:creationId xmlns:a16="http://schemas.microsoft.com/office/drawing/2014/main" id="{7D23CA4D-74B5-B838-0C16-D0A3B68E32D7}"/>
              </a:ext>
            </a:extLst>
          </p:cNvPr>
          <p:cNvPicPr>
            <a:picLocks noChangeAspect="1"/>
          </p:cNvPicPr>
          <p:nvPr/>
        </p:nvPicPr>
        <p:blipFill>
          <a:blip r:embed="rId3"/>
          <a:stretch>
            <a:fillRect/>
          </a:stretch>
        </p:blipFill>
        <p:spPr>
          <a:xfrm>
            <a:off x="-907736" y="626705"/>
            <a:ext cx="10051736" cy="5362487"/>
          </a:xfrm>
          <a:prstGeom prst="rect">
            <a:avLst/>
          </a:prstGeom>
        </p:spPr>
      </p:pic>
      <p:sp>
        <p:nvSpPr>
          <p:cNvPr id="5" name="文字方塊 4">
            <a:extLst>
              <a:ext uri="{FF2B5EF4-FFF2-40B4-BE49-F238E27FC236}">
                <a16:creationId xmlns:a16="http://schemas.microsoft.com/office/drawing/2014/main" id="{17F30396-DC7F-E655-B68F-0E042D1DCC88}"/>
              </a:ext>
            </a:extLst>
          </p:cNvPr>
          <p:cNvSpPr txBox="1"/>
          <p:nvPr/>
        </p:nvSpPr>
        <p:spPr>
          <a:xfrm>
            <a:off x="7282756" y="1020198"/>
            <a:ext cx="948432" cy="369332"/>
          </a:xfrm>
          <a:prstGeom prst="rect">
            <a:avLst/>
          </a:prstGeom>
          <a:noFill/>
        </p:spPr>
        <p:txBody>
          <a:bodyPr wrap="square">
            <a:spAutoFit/>
          </a:bodyPr>
          <a:lstStyle/>
          <a:p>
            <a:r>
              <a:rPr lang="zh-TW" altLang="zh-TW" dirty="0"/>
              <a:t>Top-512 </a:t>
            </a:r>
            <a:endParaRPr lang="zh-TW" altLang="en-US" dirty="0"/>
          </a:p>
        </p:txBody>
      </p:sp>
    </p:spTree>
    <p:extLst>
      <p:ext uri="{BB962C8B-B14F-4D97-AF65-F5344CB8AC3E}">
        <p14:creationId xmlns:p14="http://schemas.microsoft.com/office/powerpoint/2010/main" val="97747055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FED113-4CF9-E69D-FAB3-54656BEC3B51}"/>
            </a:ext>
          </a:extLst>
        </p:cNvPr>
        <p:cNvGrpSpPr/>
        <p:nvPr/>
      </p:nvGrpSpPr>
      <p:grpSpPr>
        <a:xfrm>
          <a:off x="0" y="0"/>
          <a:ext cx="0" cy="0"/>
          <a:chOff x="0" y="0"/>
          <a:chExt cx="0" cy="0"/>
        </a:xfrm>
      </p:grpSpPr>
      <p:sp>
        <p:nvSpPr>
          <p:cNvPr id="6" name="標題 1">
            <a:extLst>
              <a:ext uri="{FF2B5EF4-FFF2-40B4-BE49-F238E27FC236}">
                <a16:creationId xmlns:a16="http://schemas.microsoft.com/office/drawing/2014/main" id="{DE898186-7DCE-3EBE-FDE7-B0534DB6DD62}"/>
              </a:ext>
            </a:extLst>
          </p:cNvPr>
          <p:cNvSpPr txBox="1">
            <a:spLocks/>
          </p:cNvSpPr>
          <p:nvPr/>
        </p:nvSpPr>
        <p:spPr>
          <a:xfrm>
            <a:off x="323528" y="1040722"/>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DeepSeek-V4 Flash</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Parameters is 284B.</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7" name="標題 1">
            <a:extLst>
              <a:ext uri="{FF2B5EF4-FFF2-40B4-BE49-F238E27FC236}">
                <a16:creationId xmlns:a16="http://schemas.microsoft.com/office/drawing/2014/main" id="{52FA1EEE-129C-BCE0-312C-9A0C6BD408CF}"/>
              </a:ext>
            </a:extLst>
          </p:cNvPr>
          <p:cNvSpPr txBox="1">
            <a:spLocks/>
          </p:cNvSpPr>
          <p:nvPr/>
        </p:nvSpPr>
        <p:spPr>
          <a:xfrm>
            <a:off x="1792025" y="4367791"/>
            <a:ext cx="1102112" cy="576064"/>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Embedding dimension of 4096</a:t>
            </a:r>
            <a:endParaRPr lang="en-US" altLang="zh-TW" sz="10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2" name="標題 1">
            <a:extLst>
              <a:ext uri="{FF2B5EF4-FFF2-40B4-BE49-F238E27FC236}">
                <a16:creationId xmlns:a16="http://schemas.microsoft.com/office/drawing/2014/main" id="{5E20E731-3577-FBD9-280F-7CD599EDA8C9}"/>
              </a:ext>
            </a:extLst>
          </p:cNvPr>
          <p:cNvSpPr txBox="1">
            <a:spLocks/>
          </p:cNvSpPr>
          <p:nvPr/>
        </p:nvSpPr>
        <p:spPr>
          <a:xfrm>
            <a:off x="7144904" y="5723144"/>
            <a:ext cx="1224136" cy="116632"/>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Tokenized text</a:t>
            </a:r>
          </a:p>
        </p:txBody>
      </p:sp>
      <p:sp>
        <p:nvSpPr>
          <p:cNvPr id="4" name="標題 1">
            <a:extLst>
              <a:ext uri="{FF2B5EF4-FFF2-40B4-BE49-F238E27FC236}">
                <a16:creationId xmlns:a16="http://schemas.microsoft.com/office/drawing/2014/main" id="{7C029B32-8896-76A3-8D5C-A08D91C43953}"/>
              </a:ext>
            </a:extLst>
          </p:cNvPr>
          <p:cNvSpPr txBox="1">
            <a:spLocks/>
          </p:cNvSpPr>
          <p:nvPr/>
        </p:nvSpPr>
        <p:spPr>
          <a:xfrm>
            <a:off x="179512" y="116632"/>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Attention</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An</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2" name="圖片 1">
            <a:extLst>
              <a:ext uri="{FF2B5EF4-FFF2-40B4-BE49-F238E27FC236}">
                <a16:creationId xmlns:a16="http://schemas.microsoft.com/office/drawing/2014/main" id="{AA52D455-78A1-F135-F70C-8D9547FFE8A8}"/>
              </a:ext>
            </a:extLst>
          </p:cNvPr>
          <p:cNvPicPr>
            <a:picLocks noChangeAspect="1"/>
          </p:cNvPicPr>
          <p:nvPr/>
        </p:nvPicPr>
        <p:blipFill>
          <a:blip r:embed="rId2"/>
          <a:stretch>
            <a:fillRect/>
          </a:stretch>
        </p:blipFill>
        <p:spPr>
          <a:xfrm>
            <a:off x="2890837" y="3305175"/>
            <a:ext cx="3362325" cy="257175"/>
          </a:xfrm>
          <a:prstGeom prst="rect">
            <a:avLst/>
          </a:prstGeom>
        </p:spPr>
      </p:pic>
    </p:spTree>
    <p:extLst>
      <p:ext uri="{BB962C8B-B14F-4D97-AF65-F5344CB8AC3E}">
        <p14:creationId xmlns:p14="http://schemas.microsoft.com/office/powerpoint/2010/main" val="336939123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4D12A1-524B-7809-BD36-D84446C462E5}"/>
            </a:ext>
          </a:extLst>
        </p:cNvPr>
        <p:cNvGrpSpPr/>
        <p:nvPr/>
      </p:nvGrpSpPr>
      <p:grpSpPr>
        <a:xfrm>
          <a:off x="0" y="0"/>
          <a:ext cx="0" cy="0"/>
          <a:chOff x="0" y="0"/>
          <a:chExt cx="0" cy="0"/>
        </a:xfrm>
      </p:grpSpPr>
      <p:sp>
        <p:nvSpPr>
          <p:cNvPr id="4" name="矩形: 圓角 3">
            <a:extLst>
              <a:ext uri="{FF2B5EF4-FFF2-40B4-BE49-F238E27FC236}">
                <a16:creationId xmlns:a16="http://schemas.microsoft.com/office/drawing/2014/main" id="{7EFE7C6C-3BA3-27DD-300E-DA8C0A20DC7A}"/>
              </a:ext>
            </a:extLst>
          </p:cNvPr>
          <p:cNvSpPr/>
          <p:nvPr/>
        </p:nvSpPr>
        <p:spPr>
          <a:xfrm>
            <a:off x="467826" y="1922626"/>
            <a:ext cx="1219522" cy="2795046"/>
          </a:xfrm>
          <a:prstGeom prst="roundRect">
            <a:avLst>
              <a:gd name="adj" fmla="val 10053"/>
            </a:avLst>
          </a:prstGeom>
          <a:solidFill>
            <a:schemeClr val="bg1">
              <a:lumMod val="95000"/>
              <a:alpha val="40000"/>
            </a:schemeClr>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7" name="文字方塊 26">
            <a:extLst>
              <a:ext uri="{FF2B5EF4-FFF2-40B4-BE49-F238E27FC236}">
                <a16:creationId xmlns:a16="http://schemas.microsoft.com/office/drawing/2014/main" id="{1518336E-A416-D90F-A9D4-59E288FC7015}"/>
              </a:ext>
            </a:extLst>
          </p:cNvPr>
          <p:cNvSpPr txBox="1"/>
          <p:nvPr/>
        </p:nvSpPr>
        <p:spPr>
          <a:xfrm>
            <a:off x="535220" y="2002310"/>
            <a:ext cx="1086557" cy="895026"/>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dirty="0">
                <a:solidFill>
                  <a:schemeClr val="tx1">
                    <a:lumMod val="50000"/>
                    <a:lumOff val="50000"/>
                  </a:schemeClr>
                </a:solidFill>
                <a:latin typeface="Gadugi" panose="020B0502040204020203" pitchFamily="34" charset="0"/>
                <a:ea typeface="Gadugi" panose="020B0502040204020203" pitchFamily="34" charset="0"/>
                <a:cs typeface="ADLaM Display" panose="02010000000000000000" pitchFamily="2" charset="0"/>
              </a:rPr>
              <a:t>DeepSeek </a:t>
            </a:r>
            <a:r>
              <a:rPr lang="en-US" altLang="zh-TW" sz="1000" b="1" dirty="0" err="1">
                <a:solidFill>
                  <a:schemeClr val="tx1">
                    <a:lumMod val="50000"/>
                    <a:lumOff val="50000"/>
                  </a:schemeClr>
                </a:solidFill>
                <a:latin typeface="Gadugi" panose="020B0502040204020203" pitchFamily="34" charset="0"/>
                <a:ea typeface="Gadugi" panose="020B0502040204020203" pitchFamily="34" charset="0"/>
                <a:cs typeface="ADLaM Display" panose="02010000000000000000" pitchFamily="2" charset="0"/>
              </a:rPr>
              <a:t>MoE</a:t>
            </a:r>
            <a:endPar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endParaRPr>
          </a:p>
        </p:txBody>
      </p:sp>
      <p:sp>
        <p:nvSpPr>
          <p:cNvPr id="6" name="標題 1">
            <a:extLst>
              <a:ext uri="{FF2B5EF4-FFF2-40B4-BE49-F238E27FC236}">
                <a16:creationId xmlns:a16="http://schemas.microsoft.com/office/drawing/2014/main" id="{4C96685B-48C1-5AE8-649A-AE7D8CEC7A46}"/>
              </a:ext>
            </a:extLst>
          </p:cNvPr>
          <p:cNvSpPr txBox="1">
            <a:spLocks/>
          </p:cNvSpPr>
          <p:nvPr/>
        </p:nvSpPr>
        <p:spPr>
          <a:xfrm>
            <a:off x="179512" y="116632"/>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 </a:t>
            </a:r>
            <a:r>
              <a:rPr lang="en-US" altLang="zh-TW" sz="2800" dirty="0" err="1">
                <a:latin typeface="Noto Sans HK" panose="020B0200000000000000" pitchFamily="34" charset="-120"/>
                <a:ea typeface="Noto Sans HK" panose="020B0200000000000000" pitchFamily="34" charset="-120"/>
                <a:cs typeface="Aharoni" panose="020F0502020204030204" pitchFamily="2" charset="-79"/>
              </a:rPr>
              <a:t>MoE</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 Architecture</a:t>
            </a:r>
          </a:p>
          <a:p>
            <a:r>
              <a:rPr lang="en-US" altLang="zh-TW" sz="1600" dirty="0">
                <a:latin typeface="Noto Sans HK" panose="020B0200000000000000" pitchFamily="34" charset="-120"/>
                <a:ea typeface="Noto Sans HK" panose="020B0200000000000000" pitchFamily="34" charset="-120"/>
                <a:cs typeface="Aharoni" panose="020F0502020204030204" pitchFamily="2" charset="-79"/>
              </a:rPr>
              <a:t>HCA + CSA + SWA)</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59" name="矩形: 圓角 58">
            <a:extLst>
              <a:ext uri="{FF2B5EF4-FFF2-40B4-BE49-F238E27FC236}">
                <a16:creationId xmlns:a16="http://schemas.microsoft.com/office/drawing/2014/main" id="{D4492F42-9A48-7559-B09C-CD68BBB98673}"/>
              </a:ext>
            </a:extLst>
          </p:cNvPr>
          <p:cNvSpPr/>
          <p:nvPr/>
        </p:nvSpPr>
        <p:spPr>
          <a:xfrm>
            <a:off x="4371483" y="3971785"/>
            <a:ext cx="388290" cy="945571"/>
          </a:xfrm>
          <a:prstGeom prst="roundRect">
            <a:avLst/>
          </a:prstGeom>
          <a:solidFill>
            <a:schemeClr val="bg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HCA</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Heavily</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Compressed</a:t>
            </a:r>
          </a:p>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Attention</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61" name="矩形: 圓角 60">
            <a:extLst>
              <a:ext uri="{FF2B5EF4-FFF2-40B4-BE49-F238E27FC236}">
                <a16:creationId xmlns:a16="http://schemas.microsoft.com/office/drawing/2014/main" id="{E0FE9C50-9ED4-EEF1-DB11-313983973D80}"/>
              </a:ext>
            </a:extLst>
          </p:cNvPr>
          <p:cNvSpPr/>
          <p:nvPr/>
        </p:nvSpPr>
        <p:spPr>
          <a:xfrm>
            <a:off x="5025287" y="3971785"/>
            <a:ext cx="388290" cy="945571"/>
          </a:xfrm>
          <a:prstGeom prst="roundRect">
            <a:avLst/>
          </a:prstGeom>
          <a:solidFill>
            <a:schemeClr val="bg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CSA</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schemeClr val="tx1">
                    <a:lumMod val="50000"/>
                    <a:lumOff val="50000"/>
                  </a:schemeClr>
                </a:solidFill>
                <a:effectLst/>
                <a:uLnTx/>
                <a:uFillTx/>
                <a:latin typeface="Calibri"/>
                <a:ea typeface="微軟正黑體" panose="020B0604030504040204" pitchFamily="34" charset="-120"/>
                <a:cs typeface="+mn-cs"/>
              </a:rPr>
              <a:t>Compressed</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schemeClr val="tx1">
                    <a:lumMod val="50000"/>
                    <a:lumOff val="50000"/>
                  </a:schemeClr>
                </a:solidFill>
                <a:effectLst/>
                <a:uLnTx/>
                <a:uFillTx/>
                <a:latin typeface="Calibri"/>
                <a:ea typeface="微軟正黑體" panose="020B0604030504040204" pitchFamily="34" charset="-120"/>
                <a:cs typeface="+mn-cs"/>
              </a:rPr>
              <a:t>Sparse</a:t>
            </a:r>
          </a:p>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000" dirty="0">
                <a:solidFill>
                  <a:schemeClr val="tx1">
                    <a:lumMod val="50000"/>
                    <a:lumOff val="50000"/>
                  </a:schemeClr>
                </a:solidFill>
                <a:latin typeface="Calibri"/>
                <a:ea typeface="微軟正黑體" panose="020B0604030504040204" pitchFamily="34" charset="-120"/>
              </a:rPr>
              <a:t>Attention</a:t>
            </a:r>
            <a:endParaRPr kumimoji="0" lang="en-US" altLang="zh-TW" sz="1000" b="0" i="0" u="none" strike="noStrike" kern="1200" cap="none" spc="0" normalizeH="0" baseline="0" noProof="0" dirty="0">
              <a:ln>
                <a:noFill/>
              </a:ln>
              <a:solidFill>
                <a:schemeClr val="tx1">
                  <a:lumMod val="50000"/>
                  <a:lumOff val="50000"/>
                </a:schemeClr>
              </a:solidFill>
              <a:effectLst/>
              <a:uLnTx/>
              <a:uFillTx/>
              <a:latin typeface="Calibri"/>
              <a:ea typeface="微軟正黑體" panose="020B0604030504040204" pitchFamily="34" charset="-120"/>
              <a:cs typeface="+mn-cs"/>
            </a:endParaRPr>
          </a:p>
        </p:txBody>
      </p:sp>
      <p:sp>
        <p:nvSpPr>
          <p:cNvPr id="63" name="矩形: 圓角 62">
            <a:extLst>
              <a:ext uri="{FF2B5EF4-FFF2-40B4-BE49-F238E27FC236}">
                <a16:creationId xmlns:a16="http://schemas.microsoft.com/office/drawing/2014/main" id="{D1CFA22C-FC0A-8BFB-7CFC-89120D4B60FA}"/>
              </a:ext>
            </a:extLst>
          </p:cNvPr>
          <p:cNvSpPr/>
          <p:nvPr/>
        </p:nvSpPr>
        <p:spPr>
          <a:xfrm>
            <a:off x="3717680" y="3964468"/>
            <a:ext cx="388290" cy="945571"/>
          </a:xfrm>
          <a:prstGeom prst="roundRect">
            <a:avLst/>
          </a:prstGeom>
          <a:solidFill>
            <a:schemeClr val="bg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SWA</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Sliding </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Window</a:t>
            </a:r>
          </a:p>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Attention</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65" name="矩形: 圓角 64">
            <a:extLst>
              <a:ext uri="{FF2B5EF4-FFF2-40B4-BE49-F238E27FC236}">
                <a16:creationId xmlns:a16="http://schemas.microsoft.com/office/drawing/2014/main" id="{4D656499-B9B9-165F-E9C0-82F2383D8243}"/>
              </a:ext>
            </a:extLst>
          </p:cNvPr>
          <p:cNvSpPr/>
          <p:nvPr/>
        </p:nvSpPr>
        <p:spPr>
          <a:xfrm>
            <a:off x="6394691" y="1121022"/>
            <a:ext cx="1085551" cy="416508"/>
          </a:xfrm>
          <a:prstGeom prst="roundRect">
            <a:avLst/>
          </a:prstGeom>
          <a:solidFill>
            <a:schemeClr val="bg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SLUI</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Heavily Compressed</a:t>
            </a:r>
          </a:p>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Attention</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2" name="矩形: 圓角 1">
            <a:extLst>
              <a:ext uri="{FF2B5EF4-FFF2-40B4-BE49-F238E27FC236}">
                <a16:creationId xmlns:a16="http://schemas.microsoft.com/office/drawing/2014/main" id="{9E34D9C9-7AF3-64E8-B6D4-198AFA476069}"/>
              </a:ext>
            </a:extLst>
          </p:cNvPr>
          <p:cNvSpPr/>
          <p:nvPr/>
        </p:nvSpPr>
        <p:spPr>
          <a:xfrm>
            <a:off x="467544"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9" name="文字方塊 8">
            <a:extLst>
              <a:ext uri="{FF2B5EF4-FFF2-40B4-BE49-F238E27FC236}">
                <a16:creationId xmlns:a16="http://schemas.microsoft.com/office/drawing/2014/main" id="{354432FE-9D7B-376D-0444-6C59BF1FD1A3}"/>
              </a:ext>
            </a:extLst>
          </p:cNvPr>
          <p:cNvSpPr txBox="1"/>
          <p:nvPr/>
        </p:nvSpPr>
        <p:spPr>
          <a:xfrm>
            <a:off x="535220" y="3192840"/>
            <a:ext cx="1086557" cy="442008"/>
          </a:xfrm>
          <a:prstGeom prst="rect">
            <a:avLst/>
          </a:prstGeom>
          <a:solidFill>
            <a:schemeClr val="accent1">
              <a:lumMod val="20000"/>
              <a:lumOff val="80000"/>
              <a:alpha val="20000"/>
            </a:scheme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Hybrid Attention</a:t>
            </a:r>
          </a:p>
        </p:txBody>
      </p:sp>
      <p:cxnSp>
        <p:nvCxnSpPr>
          <p:cNvPr id="11" name="直線單箭頭接點 10">
            <a:extLst>
              <a:ext uri="{FF2B5EF4-FFF2-40B4-BE49-F238E27FC236}">
                <a16:creationId xmlns:a16="http://schemas.microsoft.com/office/drawing/2014/main" id="{F48A2720-B141-FB41-BD97-3F355EAE3956}"/>
              </a:ext>
            </a:extLst>
          </p:cNvPr>
          <p:cNvCxnSpPr>
            <a:cxnSpLocks/>
          </p:cNvCxnSpPr>
          <p:nvPr/>
        </p:nvCxnSpPr>
        <p:spPr>
          <a:xfrm flipH="1" flipV="1">
            <a:off x="1894726" y="4653136"/>
            <a:ext cx="2307" cy="435063"/>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2" name="矩形: 圓角 11">
            <a:extLst>
              <a:ext uri="{FF2B5EF4-FFF2-40B4-BE49-F238E27FC236}">
                <a16:creationId xmlns:a16="http://schemas.microsoft.com/office/drawing/2014/main" id="{2A274430-BA32-BDBA-A446-8671AC7B71EA}"/>
              </a:ext>
            </a:extLst>
          </p:cNvPr>
          <p:cNvSpPr/>
          <p:nvPr/>
        </p:nvSpPr>
        <p:spPr>
          <a:xfrm>
            <a:off x="467544"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13" name="直線單箭頭接點 12">
            <a:extLst>
              <a:ext uri="{FF2B5EF4-FFF2-40B4-BE49-F238E27FC236}">
                <a16:creationId xmlns:a16="http://schemas.microsoft.com/office/drawing/2014/main" id="{FC3B1CE7-C165-5379-2ED8-9927C6396A9B}"/>
              </a:ext>
            </a:extLst>
          </p:cNvPr>
          <p:cNvCxnSpPr>
            <a:cxnSpLocks/>
            <a:stCxn id="4" idx="0"/>
            <a:endCxn id="12" idx="2"/>
          </p:cNvCxnSpPr>
          <p:nvPr/>
        </p:nvCxnSpPr>
        <p:spPr>
          <a:xfrm flipH="1" flipV="1">
            <a:off x="1077305" y="1750550"/>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4" name="矩形 13">
            <a:extLst>
              <a:ext uri="{FF2B5EF4-FFF2-40B4-BE49-F238E27FC236}">
                <a16:creationId xmlns:a16="http://schemas.microsoft.com/office/drawing/2014/main" id="{AFA516C7-44C4-1332-E4AD-0CA52CC66035}"/>
              </a:ext>
            </a:extLst>
          </p:cNvPr>
          <p:cNvSpPr/>
          <p:nvPr/>
        </p:nvSpPr>
        <p:spPr>
          <a:xfrm>
            <a:off x="607229" y="4756564"/>
            <a:ext cx="933795"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5" name="矩形: 圓角 14">
            <a:extLst>
              <a:ext uri="{FF2B5EF4-FFF2-40B4-BE49-F238E27FC236}">
                <a16:creationId xmlns:a16="http://schemas.microsoft.com/office/drawing/2014/main" id="{2335679A-9B2B-8055-0E8E-46782CEE3A87}"/>
              </a:ext>
            </a:extLst>
          </p:cNvPr>
          <p:cNvSpPr/>
          <p:nvPr/>
        </p:nvSpPr>
        <p:spPr>
          <a:xfrm>
            <a:off x="607229" y="4221088"/>
            <a:ext cx="936104" cy="432048"/>
          </a:xfrm>
          <a:prstGeom prst="roundRect">
            <a:avLst/>
          </a:prstGeom>
          <a:solidFill>
            <a:schemeClr val="bg1"/>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d</a:t>
            </a:r>
          </a:p>
        </p:txBody>
      </p:sp>
      <p:sp>
        <p:nvSpPr>
          <p:cNvPr id="18" name="矩形: 圓角 17">
            <a:extLst>
              <a:ext uri="{FF2B5EF4-FFF2-40B4-BE49-F238E27FC236}">
                <a16:creationId xmlns:a16="http://schemas.microsoft.com/office/drawing/2014/main" id="{29EC67BF-89F1-105F-3B8B-A551D25FD336}"/>
              </a:ext>
            </a:extLst>
          </p:cNvPr>
          <p:cNvSpPr/>
          <p:nvPr/>
        </p:nvSpPr>
        <p:spPr>
          <a:xfrm>
            <a:off x="607229" y="2792566"/>
            <a:ext cx="936104" cy="194669"/>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endParaRPr kumimoji="0" lang="en-US" altLang="zh-TW" sz="120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19" name="矩形 18">
            <a:extLst>
              <a:ext uri="{FF2B5EF4-FFF2-40B4-BE49-F238E27FC236}">
                <a16:creationId xmlns:a16="http://schemas.microsoft.com/office/drawing/2014/main" id="{90C2D88B-3674-95E2-8F7F-233223E9E978}"/>
              </a:ext>
            </a:extLst>
          </p:cNvPr>
          <p:cNvSpPr/>
          <p:nvPr/>
        </p:nvSpPr>
        <p:spPr>
          <a:xfrm>
            <a:off x="282880"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21" name="矩形: 圓角 20">
            <a:extLst>
              <a:ext uri="{FF2B5EF4-FFF2-40B4-BE49-F238E27FC236}">
                <a16:creationId xmlns:a16="http://schemas.microsoft.com/office/drawing/2014/main" id="{1716F293-6CBB-7C5E-E9EC-7BA318FFE883}"/>
              </a:ext>
            </a:extLst>
          </p:cNvPr>
          <p:cNvSpPr/>
          <p:nvPr/>
        </p:nvSpPr>
        <p:spPr>
          <a:xfrm>
            <a:off x="617293" y="2276872"/>
            <a:ext cx="516929" cy="436010"/>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Export</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20" name="文字方塊 19">
            <a:extLst>
              <a:ext uri="{FF2B5EF4-FFF2-40B4-BE49-F238E27FC236}">
                <a16:creationId xmlns:a16="http://schemas.microsoft.com/office/drawing/2014/main" id="{F09E3AB6-8232-731F-78BF-BEB213DCDE60}"/>
              </a:ext>
            </a:extLst>
          </p:cNvPr>
          <p:cNvSpPr txBox="1"/>
          <p:nvPr/>
        </p:nvSpPr>
        <p:spPr>
          <a:xfrm>
            <a:off x="3788259" y="1204136"/>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23" name="文字方塊 22">
            <a:extLst>
              <a:ext uri="{FF2B5EF4-FFF2-40B4-BE49-F238E27FC236}">
                <a16:creationId xmlns:a16="http://schemas.microsoft.com/office/drawing/2014/main" id="{5FB36156-6910-00FA-51C9-7CE40422925C}"/>
              </a:ext>
            </a:extLst>
          </p:cNvPr>
          <p:cNvSpPr txBox="1"/>
          <p:nvPr/>
        </p:nvSpPr>
        <p:spPr>
          <a:xfrm>
            <a:off x="4083128" y="1204136"/>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25" name="文字方塊 24">
            <a:extLst>
              <a:ext uri="{FF2B5EF4-FFF2-40B4-BE49-F238E27FC236}">
                <a16:creationId xmlns:a16="http://schemas.microsoft.com/office/drawing/2014/main" id="{D9F71498-2E52-A52D-5BE5-D5F583CD369F}"/>
              </a:ext>
            </a:extLst>
          </p:cNvPr>
          <p:cNvSpPr txBox="1"/>
          <p:nvPr/>
        </p:nvSpPr>
        <p:spPr>
          <a:xfrm>
            <a:off x="4960289" y="873253"/>
            <a:ext cx="1086557"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9" name="矩形: 圓角 28">
            <a:extLst>
              <a:ext uri="{FF2B5EF4-FFF2-40B4-BE49-F238E27FC236}">
                <a16:creationId xmlns:a16="http://schemas.microsoft.com/office/drawing/2014/main" id="{E8C71BCF-5A28-2127-74C1-6329D70233A1}"/>
              </a:ext>
            </a:extLst>
          </p:cNvPr>
          <p:cNvSpPr/>
          <p:nvPr/>
        </p:nvSpPr>
        <p:spPr>
          <a:xfrm>
            <a:off x="2832394" y="655248"/>
            <a:ext cx="516929" cy="436010"/>
          </a:xfrm>
          <a:prstGeom prst="roundRect">
            <a:avLst>
              <a:gd name="adj" fmla="val 8860"/>
            </a:avLst>
          </a:prstGeom>
          <a:solidFill>
            <a:schemeClr val="accent2">
              <a:lumMod val="20000"/>
              <a:lumOff val="80000"/>
            </a:schemeClr>
          </a:solidFill>
          <a:ln w="254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MoE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p:txBody>
      </p:sp>
      <p:sp>
        <p:nvSpPr>
          <p:cNvPr id="7" name="文字方塊 6">
            <a:extLst>
              <a:ext uri="{FF2B5EF4-FFF2-40B4-BE49-F238E27FC236}">
                <a16:creationId xmlns:a16="http://schemas.microsoft.com/office/drawing/2014/main" id="{3AA1FBC2-4C5D-A7B2-547E-ABD5383F7A9E}"/>
              </a:ext>
            </a:extLst>
          </p:cNvPr>
          <p:cNvSpPr txBox="1"/>
          <p:nvPr/>
        </p:nvSpPr>
        <p:spPr>
          <a:xfrm>
            <a:off x="535220" y="3711944"/>
            <a:ext cx="1086557" cy="432048"/>
          </a:xfrm>
          <a:prstGeom prst="rect">
            <a:avLst/>
          </a:prstGeom>
          <a:solidFill>
            <a:schemeClr val="accent1">
              <a:lumMod val="20000"/>
              <a:lumOff val="80000"/>
              <a:alpha val="60000"/>
            </a:scheme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dirty="0">
                <a:solidFill>
                  <a:schemeClr val="tx1">
                    <a:lumMod val="50000"/>
                    <a:lumOff val="50000"/>
                  </a:schemeClr>
                </a:solidFill>
                <a:latin typeface="Gadugi" panose="020B0502040204020203" pitchFamily="34" charset="0"/>
                <a:ea typeface="Gadugi" panose="020B0502040204020203" pitchFamily="34" charset="0"/>
                <a:cs typeface="ADLaM Display" panose="02010000000000000000" pitchFamily="2" charset="0"/>
              </a:rPr>
              <a:t>Engram</a:t>
            </a:r>
          </a:p>
        </p:txBody>
      </p:sp>
      <p:sp>
        <p:nvSpPr>
          <p:cNvPr id="31" name="矩形: 圓角 30">
            <a:extLst>
              <a:ext uri="{FF2B5EF4-FFF2-40B4-BE49-F238E27FC236}">
                <a16:creationId xmlns:a16="http://schemas.microsoft.com/office/drawing/2014/main" id="{17447780-11DA-9D99-E75A-F3F94ED81FAE}"/>
              </a:ext>
            </a:extLst>
          </p:cNvPr>
          <p:cNvSpPr/>
          <p:nvPr/>
        </p:nvSpPr>
        <p:spPr>
          <a:xfrm>
            <a:off x="1187624" y="2290763"/>
            <a:ext cx="516929" cy="436010"/>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Shared</a:t>
            </a:r>
          </a:p>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Export</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22" name="矩形: 圓角 21">
            <a:extLst>
              <a:ext uri="{FF2B5EF4-FFF2-40B4-BE49-F238E27FC236}">
                <a16:creationId xmlns:a16="http://schemas.microsoft.com/office/drawing/2014/main" id="{B575657B-6422-4836-4BD9-E9A5A22401DF}"/>
              </a:ext>
            </a:extLst>
          </p:cNvPr>
          <p:cNvSpPr/>
          <p:nvPr/>
        </p:nvSpPr>
        <p:spPr>
          <a:xfrm>
            <a:off x="2128038" y="1922626"/>
            <a:ext cx="1219522" cy="2795046"/>
          </a:xfrm>
          <a:prstGeom prst="roundRect">
            <a:avLst>
              <a:gd name="adj" fmla="val 10053"/>
            </a:avLst>
          </a:prstGeom>
          <a:solidFill>
            <a:schemeClr val="bg1">
              <a:lumMod val="95000"/>
              <a:alpha val="40000"/>
            </a:schemeClr>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4" name="文字方塊 23">
            <a:extLst>
              <a:ext uri="{FF2B5EF4-FFF2-40B4-BE49-F238E27FC236}">
                <a16:creationId xmlns:a16="http://schemas.microsoft.com/office/drawing/2014/main" id="{EC76EEDB-820C-47F8-E6D6-B61AD0478603}"/>
              </a:ext>
            </a:extLst>
          </p:cNvPr>
          <p:cNvSpPr txBox="1"/>
          <p:nvPr/>
        </p:nvSpPr>
        <p:spPr>
          <a:xfrm>
            <a:off x="2195432" y="2002310"/>
            <a:ext cx="1086557" cy="895026"/>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dirty="0">
                <a:solidFill>
                  <a:schemeClr val="tx1">
                    <a:lumMod val="50000"/>
                    <a:lumOff val="50000"/>
                  </a:schemeClr>
                </a:solidFill>
                <a:latin typeface="Gadugi" panose="020B0502040204020203" pitchFamily="34" charset="0"/>
                <a:ea typeface="Gadugi" panose="020B0502040204020203" pitchFamily="34" charset="0"/>
                <a:cs typeface="ADLaM Display" panose="02010000000000000000" pitchFamily="2" charset="0"/>
              </a:rPr>
              <a:t>DeepSeek </a:t>
            </a:r>
            <a:r>
              <a:rPr lang="en-US" altLang="zh-TW" sz="1000" b="1" dirty="0" err="1">
                <a:solidFill>
                  <a:schemeClr val="tx1">
                    <a:lumMod val="50000"/>
                    <a:lumOff val="50000"/>
                  </a:schemeClr>
                </a:solidFill>
                <a:latin typeface="Gadugi" panose="020B0502040204020203" pitchFamily="34" charset="0"/>
                <a:ea typeface="Gadugi" panose="020B0502040204020203" pitchFamily="34" charset="0"/>
                <a:cs typeface="ADLaM Display" panose="02010000000000000000" pitchFamily="2" charset="0"/>
              </a:rPr>
              <a:t>MoE</a:t>
            </a:r>
            <a:endPar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endParaRPr>
          </a:p>
        </p:txBody>
      </p:sp>
      <p:sp>
        <p:nvSpPr>
          <p:cNvPr id="26" name="矩形: 圓角 25">
            <a:extLst>
              <a:ext uri="{FF2B5EF4-FFF2-40B4-BE49-F238E27FC236}">
                <a16:creationId xmlns:a16="http://schemas.microsoft.com/office/drawing/2014/main" id="{4A193FB5-77BF-9261-EE9C-AF49B58ACA5D}"/>
              </a:ext>
            </a:extLst>
          </p:cNvPr>
          <p:cNvSpPr/>
          <p:nvPr/>
        </p:nvSpPr>
        <p:spPr>
          <a:xfrm>
            <a:off x="2127756"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28" name="文字方塊 27">
            <a:extLst>
              <a:ext uri="{FF2B5EF4-FFF2-40B4-BE49-F238E27FC236}">
                <a16:creationId xmlns:a16="http://schemas.microsoft.com/office/drawing/2014/main" id="{D8D41319-3849-4C5C-B81B-F65F8A0E51BE}"/>
              </a:ext>
            </a:extLst>
          </p:cNvPr>
          <p:cNvSpPr txBox="1"/>
          <p:nvPr/>
        </p:nvSpPr>
        <p:spPr>
          <a:xfrm>
            <a:off x="2195432" y="3192840"/>
            <a:ext cx="1086557" cy="442008"/>
          </a:xfrm>
          <a:prstGeom prst="rect">
            <a:avLst/>
          </a:prstGeom>
          <a:solidFill>
            <a:schemeClr val="accent1">
              <a:lumMod val="20000"/>
              <a:lumOff val="80000"/>
              <a:alpha val="20000"/>
            </a:scheme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Hybrid Attention</a:t>
            </a:r>
          </a:p>
        </p:txBody>
      </p:sp>
      <p:cxnSp>
        <p:nvCxnSpPr>
          <p:cNvPr id="30" name="直線單箭頭接點 29">
            <a:extLst>
              <a:ext uri="{FF2B5EF4-FFF2-40B4-BE49-F238E27FC236}">
                <a16:creationId xmlns:a16="http://schemas.microsoft.com/office/drawing/2014/main" id="{DE1F102C-BA8F-E1D9-CA99-27D68435D0B0}"/>
              </a:ext>
            </a:extLst>
          </p:cNvPr>
          <p:cNvCxnSpPr>
            <a:cxnSpLocks/>
            <a:endCxn id="36" idx="2"/>
          </p:cNvCxnSpPr>
          <p:nvPr/>
        </p:nvCxnSpPr>
        <p:spPr>
          <a:xfrm flipH="1" flipV="1">
            <a:off x="2735493" y="4653136"/>
            <a:ext cx="2307" cy="435063"/>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32" name="矩形: 圓角 31">
            <a:extLst>
              <a:ext uri="{FF2B5EF4-FFF2-40B4-BE49-F238E27FC236}">
                <a16:creationId xmlns:a16="http://schemas.microsoft.com/office/drawing/2014/main" id="{E7071F06-3B95-BBF0-8D31-403260190A10}"/>
              </a:ext>
            </a:extLst>
          </p:cNvPr>
          <p:cNvSpPr/>
          <p:nvPr/>
        </p:nvSpPr>
        <p:spPr>
          <a:xfrm>
            <a:off x="2127756"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33" name="直線單箭頭接點 32">
            <a:extLst>
              <a:ext uri="{FF2B5EF4-FFF2-40B4-BE49-F238E27FC236}">
                <a16:creationId xmlns:a16="http://schemas.microsoft.com/office/drawing/2014/main" id="{E8BA514B-DB76-CB7C-BABF-F30EA1823778}"/>
              </a:ext>
            </a:extLst>
          </p:cNvPr>
          <p:cNvCxnSpPr>
            <a:cxnSpLocks/>
            <a:stCxn id="22" idx="0"/>
            <a:endCxn id="32" idx="2"/>
          </p:cNvCxnSpPr>
          <p:nvPr/>
        </p:nvCxnSpPr>
        <p:spPr>
          <a:xfrm flipH="1" flipV="1">
            <a:off x="2737517" y="1750550"/>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35" name="矩形 34">
            <a:extLst>
              <a:ext uri="{FF2B5EF4-FFF2-40B4-BE49-F238E27FC236}">
                <a16:creationId xmlns:a16="http://schemas.microsoft.com/office/drawing/2014/main" id="{F0F6B94A-C1E9-D2D7-0479-3D31C5008924}"/>
              </a:ext>
            </a:extLst>
          </p:cNvPr>
          <p:cNvSpPr/>
          <p:nvPr/>
        </p:nvSpPr>
        <p:spPr>
          <a:xfrm>
            <a:off x="2267441" y="4756564"/>
            <a:ext cx="933795"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36" name="矩形: 圓角 35">
            <a:extLst>
              <a:ext uri="{FF2B5EF4-FFF2-40B4-BE49-F238E27FC236}">
                <a16:creationId xmlns:a16="http://schemas.microsoft.com/office/drawing/2014/main" id="{10A57304-B977-6DDF-AB79-940F415DCD67}"/>
              </a:ext>
            </a:extLst>
          </p:cNvPr>
          <p:cNvSpPr/>
          <p:nvPr/>
        </p:nvSpPr>
        <p:spPr>
          <a:xfrm>
            <a:off x="2267441" y="4221088"/>
            <a:ext cx="936104" cy="432048"/>
          </a:xfrm>
          <a:prstGeom prst="roundRect">
            <a:avLst/>
          </a:prstGeom>
          <a:solidFill>
            <a:schemeClr val="bg1"/>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d</a:t>
            </a:r>
          </a:p>
        </p:txBody>
      </p:sp>
      <p:sp>
        <p:nvSpPr>
          <p:cNvPr id="37" name="矩形: 圓角 36">
            <a:extLst>
              <a:ext uri="{FF2B5EF4-FFF2-40B4-BE49-F238E27FC236}">
                <a16:creationId xmlns:a16="http://schemas.microsoft.com/office/drawing/2014/main" id="{BAA62BC7-8970-5EAC-91BE-AFA753C2EB9A}"/>
              </a:ext>
            </a:extLst>
          </p:cNvPr>
          <p:cNvSpPr/>
          <p:nvPr/>
        </p:nvSpPr>
        <p:spPr>
          <a:xfrm>
            <a:off x="2267441" y="2792566"/>
            <a:ext cx="936104" cy="194669"/>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endParaRPr kumimoji="0" lang="en-US" altLang="zh-TW" sz="120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38" name="矩形 37">
            <a:extLst>
              <a:ext uri="{FF2B5EF4-FFF2-40B4-BE49-F238E27FC236}">
                <a16:creationId xmlns:a16="http://schemas.microsoft.com/office/drawing/2014/main" id="{BE84C5AA-7941-045B-0FBC-E68694445AFC}"/>
              </a:ext>
            </a:extLst>
          </p:cNvPr>
          <p:cNvSpPr/>
          <p:nvPr/>
        </p:nvSpPr>
        <p:spPr>
          <a:xfrm>
            <a:off x="1943092"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39" name="矩形: 圓角 38">
            <a:extLst>
              <a:ext uri="{FF2B5EF4-FFF2-40B4-BE49-F238E27FC236}">
                <a16:creationId xmlns:a16="http://schemas.microsoft.com/office/drawing/2014/main" id="{0DA5E329-7389-18B3-3FF9-BFDB18807177}"/>
              </a:ext>
            </a:extLst>
          </p:cNvPr>
          <p:cNvSpPr/>
          <p:nvPr/>
        </p:nvSpPr>
        <p:spPr>
          <a:xfrm>
            <a:off x="2277505" y="2276872"/>
            <a:ext cx="516929" cy="436010"/>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Export</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41" name="文字方塊 40">
            <a:extLst>
              <a:ext uri="{FF2B5EF4-FFF2-40B4-BE49-F238E27FC236}">
                <a16:creationId xmlns:a16="http://schemas.microsoft.com/office/drawing/2014/main" id="{381260DC-1D9A-8A2A-9143-702BB37EF0AC}"/>
              </a:ext>
            </a:extLst>
          </p:cNvPr>
          <p:cNvSpPr txBox="1"/>
          <p:nvPr/>
        </p:nvSpPr>
        <p:spPr>
          <a:xfrm>
            <a:off x="2195432" y="3711944"/>
            <a:ext cx="1086557" cy="432048"/>
          </a:xfrm>
          <a:prstGeom prst="rect">
            <a:avLst/>
          </a:prstGeom>
          <a:solidFill>
            <a:schemeClr val="accent1">
              <a:lumMod val="20000"/>
              <a:lumOff val="80000"/>
              <a:alpha val="60000"/>
            </a:scheme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dirty="0">
                <a:solidFill>
                  <a:schemeClr val="tx1">
                    <a:lumMod val="50000"/>
                    <a:lumOff val="50000"/>
                  </a:schemeClr>
                </a:solidFill>
                <a:latin typeface="Gadugi" panose="020B0502040204020203" pitchFamily="34" charset="0"/>
                <a:ea typeface="Gadugi" panose="020B0502040204020203" pitchFamily="34" charset="0"/>
                <a:cs typeface="ADLaM Display" panose="02010000000000000000" pitchFamily="2" charset="0"/>
              </a:rPr>
              <a:t>Engram</a:t>
            </a:r>
          </a:p>
        </p:txBody>
      </p:sp>
      <p:sp>
        <p:nvSpPr>
          <p:cNvPr id="42" name="矩形: 圓角 41">
            <a:extLst>
              <a:ext uri="{FF2B5EF4-FFF2-40B4-BE49-F238E27FC236}">
                <a16:creationId xmlns:a16="http://schemas.microsoft.com/office/drawing/2014/main" id="{CB17FF31-7B4E-1DB9-4928-C09524069C4F}"/>
              </a:ext>
            </a:extLst>
          </p:cNvPr>
          <p:cNvSpPr/>
          <p:nvPr/>
        </p:nvSpPr>
        <p:spPr>
          <a:xfrm>
            <a:off x="2848865" y="2287360"/>
            <a:ext cx="516929" cy="436010"/>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Shared</a:t>
            </a:r>
          </a:p>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Export</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pic>
        <p:nvPicPr>
          <p:cNvPr id="5" name="圖片 4">
            <a:extLst>
              <a:ext uri="{FF2B5EF4-FFF2-40B4-BE49-F238E27FC236}">
                <a16:creationId xmlns:a16="http://schemas.microsoft.com/office/drawing/2014/main" id="{76885F05-0DA8-CE70-AA25-3ADBB1FDA917}"/>
              </a:ext>
            </a:extLst>
          </p:cNvPr>
          <p:cNvPicPr>
            <a:picLocks noChangeAspect="1"/>
          </p:cNvPicPr>
          <p:nvPr/>
        </p:nvPicPr>
        <p:blipFill>
          <a:blip r:embed="rId2"/>
          <a:stretch>
            <a:fillRect/>
          </a:stretch>
        </p:blipFill>
        <p:spPr>
          <a:xfrm>
            <a:off x="6046846" y="2833597"/>
            <a:ext cx="2549271" cy="1190806"/>
          </a:xfrm>
          <a:prstGeom prst="rect">
            <a:avLst/>
          </a:prstGeom>
        </p:spPr>
      </p:pic>
      <p:pic>
        <p:nvPicPr>
          <p:cNvPr id="10" name="圖片 9">
            <a:extLst>
              <a:ext uri="{FF2B5EF4-FFF2-40B4-BE49-F238E27FC236}">
                <a16:creationId xmlns:a16="http://schemas.microsoft.com/office/drawing/2014/main" id="{E535C448-D1CC-9527-76B8-C6DC51DEC44A}"/>
              </a:ext>
            </a:extLst>
          </p:cNvPr>
          <p:cNvPicPr>
            <a:picLocks noChangeAspect="1"/>
          </p:cNvPicPr>
          <p:nvPr/>
        </p:nvPicPr>
        <p:blipFill>
          <a:blip r:embed="rId3"/>
          <a:stretch>
            <a:fillRect/>
          </a:stretch>
        </p:blipFill>
        <p:spPr>
          <a:xfrm>
            <a:off x="6046846" y="1693716"/>
            <a:ext cx="2429214" cy="581106"/>
          </a:xfrm>
          <a:prstGeom prst="rect">
            <a:avLst/>
          </a:prstGeom>
        </p:spPr>
      </p:pic>
    </p:spTree>
    <p:extLst>
      <p:ext uri="{BB962C8B-B14F-4D97-AF65-F5344CB8AC3E}">
        <p14:creationId xmlns:p14="http://schemas.microsoft.com/office/powerpoint/2010/main" val="338694157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 name="矩形 55">
            <a:extLst>
              <a:ext uri="{FF2B5EF4-FFF2-40B4-BE49-F238E27FC236}">
                <a16:creationId xmlns:a16="http://schemas.microsoft.com/office/drawing/2014/main" id="{BB38A453-3D28-0325-2F31-2B4E4DAB387B}"/>
              </a:ext>
            </a:extLst>
          </p:cNvPr>
          <p:cNvSpPr/>
          <p:nvPr/>
        </p:nvSpPr>
        <p:spPr>
          <a:xfrm>
            <a:off x="1979712" y="5085185"/>
            <a:ext cx="465295" cy="825514"/>
          </a:xfrm>
          <a:prstGeom prst="rect">
            <a:avLst/>
          </a:prstGeom>
          <a:solidFill>
            <a:schemeClr val="bg1"/>
          </a:solidFill>
          <a:ln w="38100">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b="1" dirty="0">
                <a:solidFill>
                  <a:schemeClr val="bg1">
                    <a:lumMod val="75000"/>
                  </a:schemeClr>
                </a:solidFill>
                <a:ea typeface="微軟正黑體" panose="020B0604030504040204" pitchFamily="34" charset="-120"/>
              </a:rPr>
              <a:t>X</a:t>
            </a:r>
          </a:p>
        </p:txBody>
      </p:sp>
      <p:sp>
        <p:nvSpPr>
          <p:cNvPr id="2" name="矩形 1">
            <a:extLst>
              <a:ext uri="{FF2B5EF4-FFF2-40B4-BE49-F238E27FC236}">
                <a16:creationId xmlns:a16="http://schemas.microsoft.com/office/drawing/2014/main" id="{F8A10819-F5AF-ACA1-0022-E7314F64193D}"/>
              </a:ext>
            </a:extLst>
          </p:cNvPr>
          <p:cNvSpPr/>
          <p:nvPr/>
        </p:nvSpPr>
        <p:spPr>
          <a:xfrm>
            <a:off x="6228184" y="4077072"/>
            <a:ext cx="1119629"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FFN(x)*k1</a:t>
            </a:r>
          </a:p>
        </p:txBody>
      </p:sp>
      <p:sp>
        <p:nvSpPr>
          <p:cNvPr id="3" name="矩形 2">
            <a:extLst>
              <a:ext uri="{FF2B5EF4-FFF2-40B4-BE49-F238E27FC236}">
                <a16:creationId xmlns:a16="http://schemas.microsoft.com/office/drawing/2014/main" id="{A7D842CA-B031-7BC9-9D27-3CEA5E3F9AA7}"/>
              </a:ext>
            </a:extLst>
          </p:cNvPr>
          <p:cNvSpPr/>
          <p:nvPr/>
        </p:nvSpPr>
        <p:spPr>
          <a:xfrm>
            <a:off x="7515677" y="4077072"/>
            <a:ext cx="771031"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FFN(x)*k2</a:t>
            </a:r>
          </a:p>
        </p:txBody>
      </p:sp>
      <p:sp>
        <p:nvSpPr>
          <p:cNvPr id="4" name="矩形 3">
            <a:extLst>
              <a:ext uri="{FF2B5EF4-FFF2-40B4-BE49-F238E27FC236}">
                <a16:creationId xmlns:a16="http://schemas.microsoft.com/office/drawing/2014/main" id="{D0BFBC04-025D-8C73-BE49-A627F4466BCB}"/>
              </a:ext>
            </a:extLst>
          </p:cNvPr>
          <p:cNvSpPr/>
          <p:nvPr/>
        </p:nvSpPr>
        <p:spPr>
          <a:xfrm>
            <a:off x="6202915" y="2249227"/>
            <a:ext cx="2083794" cy="1396319"/>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MoE Router(X)</a:t>
            </a:r>
          </a:p>
        </p:txBody>
      </p:sp>
      <p:sp>
        <p:nvSpPr>
          <p:cNvPr id="5" name="文字方塊 4">
            <a:extLst>
              <a:ext uri="{FF2B5EF4-FFF2-40B4-BE49-F238E27FC236}">
                <a16:creationId xmlns:a16="http://schemas.microsoft.com/office/drawing/2014/main" id="{2CC5FF0F-E658-B872-6D5E-F29F0993AFDD}"/>
              </a:ext>
            </a:extLst>
          </p:cNvPr>
          <p:cNvSpPr txBox="1"/>
          <p:nvPr/>
        </p:nvSpPr>
        <p:spPr>
          <a:xfrm>
            <a:off x="6575885" y="2903675"/>
            <a:ext cx="123404" cy="289683"/>
          </a:xfrm>
          <a:prstGeom prst="rect">
            <a:avLst/>
          </a:prstGeom>
          <a:noFill/>
        </p:spPr>
        <p:txBody>
          <a:bodyPr wrap="none" lIns="0" tIns="0" rIns="0" bIns="0" rtlCol="0" anchor="ctr" anchorCtr="1">
            <a:noAutofit/>
          </a:bodyPr>
          <a:lstStyle/>
          <a:p>
            <a:pPr algn="ctr"/>
            <a:r>
              <a:rPr lang="en-US" altLang="zh-TW" sz="1200" dirty="0">
                <a:latin typeface="Noto Sans HK" panose="020B0200000000000000" pitchFamily="34" charset="-120"/>
                <a:ea typeface="Noto Sans HK" panose="020B0200000000000000" pitchFamily="34" charset="-120"/>
              </a:rPr>
              <a:t>*</a:t>
            </a:r>
            <a:endParaRPr lang="zh-TW" altLang="en-US" sz="1200" dirty="0">
              <a:latin typeface="Noto Sans HK" panose="020B0200000000000000" pitchFamily="34" charset="-120"/>
              <a:ea typeface="Noto Sans HK" panose="020B0200000000000000" pitchFamily="34" charset="-120"/>
            </a:endParaRPr>
          </a:p>
        </p:txBody>
      </p:sp>
      <p:sp>
        <p:nvSpPr>
          <p:cNvPr id="6" name="矩形 5">
            <a:extLst>
              <a:ext uri="{FF2B5EF4-FFF2-40B4-BE49-F238E27FC236}">
                <a16:creationId xmlns:a16="http://schemas.microsoft.com/office/drawing/2014/main" id="{ABEE450B-382F-9ADE-4AEA-42F8E753641D}"/>
              </a:ext>
            </a:extLst>
          </p:cNvPr>
          <p:cNvSpPr/>
          <p:nvPr/>
        </p:nvSpPr>
        <p:spPr>
          <a:xfrm>
            <a:off x="7308304" y="2708920"/>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S</a:t>
            </a:r>
            <a:endParaRPr lang="en-US" altLang="zh-TW" sz="1200" b="1" baseline="-25000" dirty="0">
              <a:solidFill>
                <a:schemeClr val="tx1"/>
              </a:solidFill>
              <a:ea typeface="微軟正黑體" panose="020B0604030504040204" pitchFamily="34" charset="-120"/>
            </a:endParaRPr>
          </a:p>
        </p:txBody>
      </p:sp>
      <p:sp>
        <p:nvSpPr>
          <p:cNvPr id="7" name="文字方塊 6">
            <a:extLst>
              <a:ext uri="{FF2B5EF4-FFF2-40B4-BE49-F238E27FC236}">
                <a16:creationId xmlns:a16="http://schemas.microsoft.com/office/drawing/2014/main" id="{7B124EE1-6EDF-2A18-A848-F4B235E38A56}"/>
              </a:ext>
            </a:extLst>
          </p:cNvPr>
          <p:cNvSpPr txBox="1"/>
          <p:nvPr/>
        </p:nvSpPr>
        <p:spPr>
          <a:xfrm>
            <a:off x="6202915" y="1235383"/>
            <a:ext cx="307455" cy="300850"/>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P</a:t>
            </a:r>
            <a:r>
              <a:rPr kumimoji="0" lang="en-US" altLang="zh-TW" sz="1400" b="1" u="none" strike="noStrike" kern="1200" cap="none" spc="0" normalizeH="0" baseline="-25000" noProof="0" dirty="0">
                <a:ln>
                  <a:noFill/>
                </a:ln>
                <a:solidFill>
                  <a:prstClr val="black"/>
                </a:solidFill>
                <a:effectLst/>
                <a:uLnTx/>
                <a:uFillTx/>
                <a:ea typeface="Cambria Math" panose="02040503050406030204" pitchFamily="18" charset="0"/>
                <a:cs typeface="+mn-cs"/>
              </a:rPr>
              <a:t>2</a:t>
            </a:r>
            <a:r>
              <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rPr>
              <a:t> =</a:t>
            </a:r>
          </a:p>
        </p:txBody>
      </p:sp>
      <p:sp>
        <p:nvSpPr>
          <p:cNvPr id="8" name="矩形 7">
            <a:extLst>
              <a:ext uri="{FF2B5EF4-FFF2-40B4-BE49-F238E27FC236}">
                <a16:creationId xmlns:a16="http://schemas.microsoft.com/office/drawing/2014/main" id="{65A40987-9A4B-9628-363E-E43C9DF051DE}"/>
              </a:ext>
            </a:extLst>
          </p:cNvPr>
          <p:cNvSpPr/>
          <p:nvPr/>
        </p:nvSpPr>
        <p:spPr>
          <a:xfrm>
            <a:off x="6291580" y="2708920"/>
            <a:ext cx="254168"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X</a:t>
            </a:r>
          </a:p>
        </p:txBody>
      </p:sp>
      <p:sp>
        <p:nvSpPr>
          <p:cNvPr id="9" name="文字方塊 8">
            <a:extLst>
              <a:ext uri="{FF2B5EF4-FFF2-40B4-BE49-F238E27FC236}">
                <a16:creationId xmlns:a16="http://schemas.microsoft.com/office/drawing/2014/main" id="{726627E9-00F3-15C7-EF11-3FD71F12CF73}"/>
              </a:ext>
            </a:extLst>
          </p:cNvPr>
          <p:cNvSpPr txBox="1"/>
          <p:nvPr/>
        </p:nvSpPr>
        <p:spPr>
          <a:xfrm>
            <a:off x="7236296"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10" name="矩形 9">
            <a:extLst>
              <a:ext uri="{FF2B5EF4-FFF2-40B4-BE49-F238E27FC236}">
                <a16:creationId xmlns:a16="http://schemas.microsoft.com/office/drawing/2014/main" id="{6CD0255E-B788-5AB2-2870-9E64450DC63E}"/>
              </a:ext>
            </a:extLst>
          </p:cNvPr>
          <p:cNvSpPr/>
          <p:nvPr/>
        </p:nvSpPr>
        <p:spPr>
          <a:xfrm>
            <a:off x="8031178" y="2708920"/>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2</a:t>
            </a:r>
          </a:p>
        </p:txBody>
      </p:sp>
      <p:sp>
        <p:nvSpPr>
          <p:cNvPr id="11" name="文字方塊 10">
            <a:extLst>
              <a:ext uri="{FF2B5EF4-FFF2-40B4-BE49-F238E27FC236}">
                <a16:creationId xmlns:a16="http://schemas.microsoft.com/office/drawing/2014/main" id="{72F722C5-137F-FBAD-F834-8D6A708F8BA7}"/>
              </a:ext>
            </a:extLst>
          </p:cNvPr>
          <p:cNvSpPr txBox="1"/>
          <p:nvPr/>
        </p:nvSpPr>
        <p:spPr>
          <a:xfrm>
            <a:off x="7481853" y="2804457"/>
            <a:ext cx="502689"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SoftMax</a:t>
            </a:r>
            <a:endParaRPr lang="zh-TW" altLang="en-US" sz="1000" dirty="0"/>
          </a:p>
        </p:txBody>
      </p:sp>
      <p:graphicFrame>
        <p:nvGraphicFramePr>
          <p:cNvPr id="12" name="表格 11">
            <a:extLst>
              <a:ext uri="{FF2B5EF4-FFF2-40B4-BE49-F238E27FC236}">
                <a16:creationId xmlns:a16="http://schemas.microsoft.com/office/drawing/2014/main" id="{B6FA776E-1819-3370-4A74-9F50E3812556}"/>
              </a:ext>
            </a:extLst>
          </p:cNvPr>
          <p:cNvGraphicFramePr>
            <a:graphicFrameLocks noGrp="1"/>
          </p:cNvGraphicFramePr>
          <p:nvPr>
            <p:extLst>
              <p:ext uri="{D42A27DB-BD31-4B8C-83A1-F6EECF244321}">
                <p14:modId xmlns:p14="http://schemas.microsoft.com/office/powerpoint/2010/main" val="676806986"/>
              </p:ext>
            </p:extLst>
          </p:nvPr>
        </p:nvGraphicFramePr>
        <p:xfrm>
          <a:off x="6575885" y="1227404"/>
          <a:ext cx="2437328" cy="914400"/>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39663110"/>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5127993"/>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52413032"/>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0.08</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0.92</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59252951"/>
                  </a:ext>
                </a:extLst>
              </a:tr>
            </a:tbl>
          </a:graphicData>
        </a:graphic>
      </p:graphicFrame>
      <p:cxnSp>
        <p:nvCxnSpPr>
          <p:cNvPr id="13" name="接點: 肘形 12">
            <a:extLst>
              <a:ext uri="{FF2B5EF4-FFF2-40B4-BE49-F238E27FC236}">
                <a16:creationId xmlns:a16="http://schemas.microsoft.com/office/drawing/2014/main" id="{60F43318-2182-1CD4-9726-499CB69A803D}"/>
              </a:ext>
            </a:extLst>
          </p:cNvPr>
          <p:cNvCxnSpPr>
            <a:cxnSpLocks/>
            <a:endCxn id="2" idx="1"/>
          </p:cNvCxnSpPr>
          <p:nvPr/>
        </p:nvCxnSpPr>
        <p:spPr>
          <a:xfrm>
            <a:off x="5736536" y="2775569"/>
            <a:ext cx="491648" cy="1412155"/>
          </a:xfrm>
          <a:prstGeom prst="bentConnector3">
            <a:avLst/>
          </a:prstGeom>
          <a:ln w="25400">
            <a:solidFill>
              <a:schemeClr val="accent1"/>
            </a:solidFill>
            <a:tailEnd type="triangle" w="med" len="med"/>
          </a:ln>
        </p:spPr>
        <p:style>
          <a:lnRef idx="1">
            <a:schemeClr val="accent1"/>
          </a:lnRef>
          <a:fillRef idx="0">
            <a:schemeClr val="accent1"/>
          </a:fillRef>
          <a:effectRef idx="0">
            <a:schemeClr val="accent1"/>
          </a:effectRef>
          <a:fontRef idx="minor">
            <a:schemeClr val="tx1"/>
          </a:fontRef>
        </p:style>
      </p:cxnSp>
      <p:cxnSp>
        <p:nvCxnSpPr>
          <p:cNvPr id="14" name="接點: 弧形 13">
            <a:extLst>
              <a:ext uri="{FF2B5EF4-FFF2-40B4-BE49-F238E27FC236}">
                <a16:creationId xmlns:a16="http://schemas.microsoft.com/office/drawing/2014/main" id="{8853950E-29C7-78C3-D378-6D0928B43713}"/>
              </a:ext>
            </a:extLst>
          </p:cNvPr>
          <p:cNvCxnSpPr>
            <a:cxnSpLocks/>
            <a:stCxn id="20" idx="2"/>
            <a:endCxn id="3" idx="0"/>
          </p:cNvCxnSpPr>
          <p:nvPr/>
        </p:nvCxnSpPr>
        <p:spPr>
          <a:xfrm rot="5400000">
            <a:off x="7694893" y="3664717"/>
            <a:ext cx="618656" cy="206055"/>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15" name="接點: 弧形 14">
            <a:extLst>
              <a:ext uri="{FF2B5EF4-FFF2-40B4-BE49-F238E27FC236}">
                <a16:creationId xmlns:a16="http://schemas.microsoft.com/office/drawing/2014/main" id="{5710DACF-22E1-1B21-E4BE-C20EB2931F82}"/>
              </a:ext>
            </a:extLst>
          </p:cNvPr>
          <p:cNvCxnSpPr>
            <a:cxnSpLocks/>
            <a:stCxn id="20" idx="2"/>
            <a:endCxn id="2" idx="0"/>
          </p:cNvCxnSpPr>
          <p:nvPr/>
        </p:nvCxnSpPr>
        <p:spPr>
          <a:xfrm rot="5400000">
            <a:off x="7138296" y="3108120"/>
            <a:ext cx="618656" cy="1319249"/>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6" name="標題 1">
            <a:extLst>
              <a:ext uri="{FF2B5EF4-FFF2-40B4-BE49-F238E27FC236}">
                <a16:creationId xmlns:a16="http://schemas.microsoft.com/office/drawing/2014/main" id="{06562D03-BD19-56DC-1D5F-F830948D13D5}"/>
              </a:ext>
            </a:extLst>
          </p:cNvPr>
          <p:cNvSpPr txBox="1">
            <a:spLocks/>
          </p:cNvSpPr>
          <p:nvPr/>
        </p:nvSpPr>
        <p:spPr>
          <a:xfrm>
            <a:off x="7059781"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0.08</a:t>
            </a:r>
          </a:p>
        </p:txBody>
      </p:sp>
      <p:sp>
        <p:nvSpPr>
          <p:cNvPr id="17" name="標題 1">
            <a:extLst>
              <a:ext uri="{FF2B5EF4-FFF2-40B4-BE49-F238E27FC236}">
                <a16:creationId xmlns:a16="http://schemas.microsoft.com/office/drawing/2014/main" id="{0C266A20-0E19-B9A0-E2FE-846970EAD969}"/>
              </a:ext>
            </a:extLst>
          </p:cNvPr>
          <p:cNvSpPr txBox="1">
            <a:spLocks/>
          </p:cNvSpPr>
          <p:nvPr/>
        </p:nvSpPr>
        <p:spPr>
          <a:xfrm>
            <a:off x="7947725"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0.92</a:t>
            </a:r>
          </a:p>
        </p:txBody>
      </p:sp>
      <p:sp>
        <p:nvSpPr>
          <p:cNvPr id="18" name="文字方塊 17">
            <a:extLst>
              <a:ext uri="{FF2B5EF4-FFF2-40B4-BE49-F238E27FC236}">
                <a16:creationId xmlns:a16="http://schemas.microsoft.com/office/drawing/2014/main" id="{A0C37EF4-FA43-87A1-4753-71E61251FEE4}"/>
              </a:ext>
            </a:extLst>
          </p:cNvPr>
          <p:cNvSpPr txBox="1"/>
          <p:nvPr/>
        </p:nvSpPr>
        <p:spPr>
          <a:xfrm>
            <a:off x="6911151" y="2852936"/>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9" name="文字方塊 18">
            <a:extLst>
              <a:ext uri="{FF2B5EF4-FFF2-40B4-BE49-F238E27FC236}">
                <a16:creationId xmlns:a16="http://schemas.microsoft.com/office/drawing/2014/main" id="{27C4484E-373A-8FDF-9B40-2DC53B0A7E4E}"/>
              </a:ext>
            </a:extLst>
          </p:cNvPr>
          <p:cNvSpPr txBox="1"/>
          <p:nvPr/>
        </p:nvSpPr>
        <p:spPr>
          <a:xfrm>
            <a:off x="7559223" y="2910218"/>
            <a:ext cx="364202" cy="230750"/>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20" name="文字方塊 19">
            <a:extLst>
              <a:ext uri="{FF2B5EF4-FFF2-40B4-BE49-F238E27FC236}">
                <a16:creationId xmlns:a16="http://schemas.microsoft.com/office/drawing/2014/main" id="{60CAF8F3-CCE3-B3DE-3877-42647427EB85}"/>
              </a:ext>
            </a:extLst>
          </p:cNvPr>
          <p:cNvSpPr txBox="1"/>
          <p:nvPr/>
        </p:nvSpPr>
        <p:spPr>
          <a:xfrm>
            <a:off x="7970088"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21" name="文字方塊 20">
            <a:extLst>
              <a:ext uri="{FF2B5EF4-FFF2-40B4-BE49-F238E27FC236}">
                <a16:creationId xmlns:a16="http://schemas.microsoft.com/office/drawing/2014/main" id="{99CEEB46-479A-2598-ADE5-FED8D570B687}"/>
              </a:ext>
            </a:extLst>
          </p:cNvPr>
          <p:cNvSpPr txBox="1"/>
          <p:nvPr/>
        </p:nvSpPr>
        <p:spPr>
          <a:xfrm>
            <a:off x="6713001"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dx16</a:t>
            </a:r>
          </a:p>
        </p:txBody>
      </p:sp>
      <p:sp>
        <p:nvSpPr>
          <p:cNvPr id="22" name="文字方塊 21">
            <a:extLst>
              <a:ext uri="{FF2B5EF4-FFF2-40B4-BE49-F238E27FC236}">
                <a16:creationId xmlns:a16="http://schemas.microsoft.com/office/drawing/2014/main" id="{424D3889-6497-A3C9-E904-6EBA0EB3570F}"/>
              </a:ext>
            </a:extLst>
          </p:cNvPr>
          <p:cNvSpPr txBox="1"/>
          <p:nvPr/>
        </p:nvSpPr>
        <p:spPr>
          <a:xfrm>
            <a:off x="6280769"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Nxd</a:t>
            </a:r>
          </a:p>
        </p:txBody>
      </p:sp>
      <p:sp>
        <p:nvSpPr>
          <p:cNvPr id="23" name="文字方塊 22">
            <a:extLst>
              <a:ext uri="{FF2B5EF4-FFF2-40B4-BE49-F238E27FC236}">
                <a16:creationId xmlns:a16="http://schemas.microsoft.com/office/drawing/2014/main" id="{FC4F69D0-FA4F-C08C-F949-8F8E40C8E9C4}"/>
              </a:ext>
            </a:extLst>
          </p:cNvPr>
          <p:cNvSpPr txBox="1"/>
          <p:nvPr/>
        </p:nvSpPr>
        <p:spPr>
          <a:xfrm>
            <a:off x="6906364" y="2804457"/>
            <a:ext cx="382683"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Top 2</a:t>
            </a:r>
            <a:endParaRPr lang="zh-TW" altLang="en-US" sz="1000" dirty="0"/>
          </a:p>
        </p:txBody>
      </p:sp>
      <p:sp>
        <p:nvSpPr>
          <p:cNvPr id="24" name="矩形 23">
            <a:extLst>
              <a:ext uri="{FF2B5EF4-FFF2-40B4-BE49-F238E27FC236}">
                <a16:creationId xmlns:a16="http://schemas.microsoft.com/office/drawing/2014/main" id="{723B206B-48AD-603F-CBBA-C1500D93B4EE}"/>
              </a:ext>
            </a:extLst>
          </p:cNvPr>
          <p:cNvSpPr/>
          <p:nvPr/>
        </p:nvSpPr>
        <p:spPr>
          <a:xfrm>
            <a:off x="6732240" y="2822999"/>
            <a:ext cx="135693" cy="317969"/>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G</a:t>
            </a:r>
            <a:endParaRPr lang="en-US" altLang="zh-TW" sz="1200" b="1" baseline="-25000" dirty="0">
              <a:solidFill>
                <a:schemeClr val="tx1"/>
              </a:solidFill>
              <a:ea typeface="微軟正黑體" panose="020B0604030504040204" pitchFamily="34" charset="-120"/>
            </a:endParaRPr>
          </a:p>
        </p:txBody>
      </p:sp>
      <p:sp>
        <p:nvSpPr>
          <p:cNvPr id="25" name="矩形 24">
            <a:extLst>
              <a:ext uri="{FF2B5EF4-FFF2-40B4-BE49-F238E27FC236}">
                <a16:creationId xmlns:a16="http://schemas.microsoft.com/office/drawing/2014/main" id="{E0EAB839-282D-1C77-20C5-298F58967F50}"/>
              </a:ext>
            </a:extLst>
          </p:cNvPr>
          <p:cNvSpPr/>
          <p:nvPr/>
        </p:nvSpPr>
        <p:spPr>
          <a:xfrm>
            <a:off x="6525756" y="1975850"/>
            <a:ext cx="2529877" cy="176939"/>
          </a:xfrm>
          <a:prstGeom prst="rect">
            <a:avLst/>
          </a:prstGeom>
          <a:solidFill>
            <a:schemeClr val="accent2">
              <a:lumMod val="20000"/>
              <a:lumOff val="80000"/>
              <a:alpha val="2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sp>
        <p:nvSpPr>
          <p:cNvPr id="26" name="矩形 25">
            <a:extLst>
              <a:ext uri="{FF2B5EF4-FFF2-40B4-BE49-F238E27FC236}">
                <a16:creationId xmlns:a16="http://schemas.microsoft.com/office/drawing/2014/main" id="{60FA643A-0D8E-DD24-E66B-17638C4E908A}"/>
              </a:ext>
            </a:extLst>
          </p:cNvPr>
          <p:cNvSpPr/>
          <p:nvPr/>
        </p:nvSpPr>
        <p:spPr>
          <a:xfrm>
            <a:off x="6227887" y="4373204"/>
            <a:ext cx="2058821" cy="22130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lumMod val="75000"/>
                  </a:schemeClr>
                </a:solidFill>
                <a:effectLst/>
                <a:uLnTx/>
                <a:uFillTx/>
                <a:latin typeface="Calibri"/>
                <a:ea typeface="微軟正黑體" panose="020B0604030504040204" pitchFamily="34" charset="-120"/>
                <a:cs typeface="+mn-cs"/>
              </a:rPr>
              <a:t>… other Experts</a:t>
            </a:r>
          </a:p>
        </p:txBody>
      </p:sp>
      <p:sp>
        <p:nvSpPr>
          <p:cNvPr id="28" name="矩形 27">
            <a:extLst>
              <a:ext uri="{FF2B5EF4-FFF2-40B4-BE49-F238E27FC236}">
                <a16:creationId xmlns:a16="http://schemas.microsoft.com/office/drawing/2014/main" id="{8D681E31-3A79-48B0-2633-DB51B92F15F8}"/>
              </a:ext>
            </a:extLst>
          </p:cNvPr>
          <p:cNvSpPr/>
          <p:nvPr/>
        </p:nvSpPr>
        <p:spPr>
          <a:xfrm>
            <a:off x="2160291" y="3095083"/>
            <a:ext cx="2083794" cy="1396319"/>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MoE Router(X)</a:t>
            </a:r>
          </a:p>
        </p:txBody>
      </p:sp>
      <p:sp>
        <p:nvSpPr>
          <p:cNvPr id="30" name="文字方塊 29">
            <a:extLst>
              <a:ext uri="{FF2B5EF4-FFF2-40B4-BE49-F238E27FC236}">
                <a16:creationId xmlns:a16="http://schemas.microsoft.com/office/drawing/2014/main" id="{1A888E01-DD7E-A6C8-8231-EBAABF1F15C4}"/>
              </a:ext>
            </a:extLst>
          </p:cNvPr>
          <p:cNvSpPr txBox="1"/>
          <p:nvPr/>
        </p:nvSpPr>
        <p:spPr>
          <a:xfrm>
            <a:off x="2476661" y="5757472"/>
            <a:ext cx="123404" cy="289683"/>
          </a:xfrm>
          <a:prstGeom prst="rect">
            <a:avLst/>
          </a:prstGeom>
          <a:noFill/>
        </p:spPr>
        <p:txBody>
          <a:bodyPr wrap="none" lIns="0" tIns="0" rIns="0" bIns="0" rtlCol="0" anchor="ctr" anchorCtr="1">
            <a:noAutofit/>
          </a:bodyPr>
          <a:lstStyle/>
          <a:p>
            <a:pPr algn="ctr"/>
            <a:r>
              <a:rPr lang="en-US" altLang="zh-TW" sz="1200" dirty="0">
                <a:latin typeface="Noto Sans HK" panose="020B0200000000000000" pitchFamily="34" charset="-120"/>
                <a:ea typeface="Noto Sans HK" panose="020B0200000000000000" pitchFamily="34" charset="-120"/>
              </a:rPr>
              <a:t>*</a:t>
            </a:r>
            <a:endParaRPr lang="zh-TW" altLang="en-US" sz="1200" dirty="0">
              <a:latin typeface="Noto Sans HK" panose="020B0200000000000000" pitchFamily="34" charset="-120"/>
              <a:ea typeface="Noto Sans HK" panose="020B0200000000000000" pitchFamily="34" charset="-120"/>
            </a:endParaRPr>
          </a:p>
        </p:txBody>
      </p:sp>
      <p:sp>
        <p:nvSpPr>
          <p:cNvPr id="32" name="矩形 31">
            <a:extLst>
              <a:ext uri="{FF2B5EF4-FFF2-40B4-BE49-F238E27FC236}">
                <a16:creationId xmlns:a16="http://schemas.microsoft.com/office/drawing/2014/main" id="{E1B7B873-7BC8-7C09-C2E3-FD22BB5D6199}"/>
              </a:ext>
            </a:extLst>
          </p:cNvPr>
          <p:cNvSpPr/>
          <p:nvPr/>
        </p:nvSpPr>
        <p:spPr>
          <a:xfrm>
            <a:off x="4139952" y="5781516"/>
            <a:ext cx="237234" cy="104777"/>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2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6</a:t>
            </a:r>
          </a:p>
        </p:txBody>
      </p:sp>
      <p:sp>
        <p:nvSpPr>
          <p:cNvPr id="36" name="文字方塊 35">
            <a:extLst>
              <a:ext uri="{FF2B5EF4-FFF2-40B4-BE49-F238E27FC236}">
                <a16:creationId xmlns:a16="http://schemas.microsoft.com/office/drawing/2014/main" id="{5A358190-96BD-1746-3803-B26C763BE1EF}"/>
              </a:ext>
            </a:extLst>
          </p:cNvPr>
          <p:cNvSpPr txBox="1"/>
          <p:nvPr/>
        </p:nvSpPr>
        <p:spPr>
          <a:xfrm>
            <a:off x="3289568" y="591041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1x16</a:t>
            </a:r>
          </a:p>
        </p:txBody>
      </p:sp>
      <p:sp>
        <p:nvSpPr>
          <p:cNvPr id="38" name="矩形 37">
            <a:extLst>
              <a:ext uri="{FF2B5EF4-FFF2-40B4-BE49-F238E27FC236}">
                <a16:creationId xmlns:a16="http://schemas.microsoft.com/office/drawing/2014/main" id="{297D67DD-DCF9-BEA0-4C40-CA834955B86E}"/>
              </a:ext>
            </a:extLst>
          </p:cNvPr>
          <p:cNvSpPr/>
          <p:nvPr/>
        </p:nvSpPr>
        <p:spPr>
          <a:xfrm>
            <a:off x="5146979" y="5517232"/>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2</a:t>
            </a:r>
          </a:p>
        </p:txBody>
      </p:sp>
      <p:sp>
        <p:nvSpPr>
          <p:cNvPr id="40" name="文字方塊 39">
            <a:extLst>
              <a:ext uri="{FF2B5EF4-FFF2-40B4-BE49-F238E27FC236}">
                <a16:creationId xmlns:a16="http://schemas.microsoft.com/office/drawing/2014/main" id="{90D8FB53-3346-EE84-CDD8-2102CB97751D}"/>
              </a:ext>
            </a:extLst>
          </p:cNvPr>
          <p:cNvSpPr txBox="1"/>
          <p:nvPr/>
        </p:nvSpPr>
        <p:spPr>
          <a:xfrm>
            <a:off x="3618690" y="5612769"/>
            <a:ext cx="502689"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SoftMax</a:t>
            </a:r>
            <a:endParaRPr lang="zh-TW" altLang="en-US" sz="1000" dirty="0"/>
          </a:p>
        </p:txBody>
      </p:sp>
      <p:sp>
        <p:nvSpPr>
          <p:cNvPr id="42" name="文字方塊 41">
            <a:extLst>
              <a:ext uri="{FF2B5EF4-FFF2-40B4-BE49-F238E27FC236}">
                <a16:creationId xmlns:a16="http://schemas.microsoft.com/office/drawing/2014/main" id="{A8E2AD79-66FB-7241-A632-4BF58E4069B3}"/>
              </a:ext>
            </a:extLst>
          </p:cNvPr>
          <p:cNvSpPr txBox="1"/>
          <p:nvPr/>
        </p:nvSpPr>
        <p:spPr>
          <a:xfrm>
            <a:off x="2895777" y="5690024"/>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44" name="文字方塊 43">
            <a:extLst>
              <a:ext uri="{FF2B5EF4-FFF2-40B4-BE49-F238E27FC236}">
                <a16:creationId xmlns:a16="http://schemas.microsoft.com/office/drawing/2014/main" id="{D72E37A8-84E7-DA88-23B7-7C4800E673E3}"/>
              </a:ext>
            </a:extLst>
          </p:cNvPr>
          <p:cNvSpPr txBox="1"/>
          <p:nvPr/>
        </p:nvSpPr>
        <p:spPr>
          <a:xfrm>
            <a:off x="3696060" y="5718530"/>
            <a:ext cx="364202" cy="230750"/>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46" name="文字方塊 45">
            <a:extLst>
              <a:ext uri="{FF2B5EF4-FFF2-40B4-BE49-F238E27FC236}">
                <a16:creationId xmlns:a16="http://schemas.microsoft.com/office/drawing/2014/main" id="{F021E952-3992-6F26-26E6-87AF63CCDDDC}"/>
              </a:ext>
            </a:extLst>
          </p:cNvPr>
          <p:cNvSpPr txBox="1"/>
          <p:nvPr/>
        </p:nvSpPr>
        <p:spPr>
          <a:xfrm>
            <a:off x="5085889" y="6083848"/>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48" name="文字方塊 47">
            <a:extLst>
              <a:ext uri="{FF2B5EF4-FFF2-40B4-BE49-F238E27FC236}">
                <a16:creationId xmlns:a16="http://schemas.microsoft.com/office/drawing/2014/main" id="{3744CD2F-0C22-6181-013E-4B5BB6DE0153}"/>
              </a:ext>
            </a:extLst>
          </p:cNvPr>
          <p:cNvSpPr txBox="1"/>
          <p:nvPr/>
        </p:nvSpPr>
        <p:spPr>
          <a:xfrm>
            <a:off x="2621457" y="6093578"/>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dx16</a:t>
            </a:r>
          </a:p>
        </p:txBody>
      </p:sp>
      <p:sp>
        <p:nvSpPr>
          <p:cNvPr id="50" name="文字方塊 49">
            <a:extLst>
              <a:ext uri="{FF2B5EF4-FFF2-40B4-BE49-F238E27FC236}">
                <a16:creationId xmlns:a16="http://schemas.microsoft.com/office/drawing/2014/main" id="{E965FDCB-3A4F-B67B-0CFF-2F6FA8F81773}"/>
              </a:ext>
            </a:extLst>
          </p:cNvPr>
          <p:cNvSpPr txBox="1"/>
          <p:nvPr/>
        </p:nvSpPr>
        <p:spPr>
          <a:xfrm>
            <a:off x="2070980" y="5910698"/>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1xd</a:t>
            </a:r>
          </a:p>
        </p:txBody>
      </p:sp>
      <p:sp>
        <p:nvSpPr>
          <p:cNvPr id="52" name="文字方塊 51">
            <a:extLst>
              <a:ext uri="{FF2B5EF4-FFF2-40B4-BE49-F238E27FC236}">
                <a16:creationId xmlns:a16="http://schemas.microsoft.com/office/drawing/2014/main" id="{53085541-C475-E98B-10E6-F268F9B380F4}"/>
              </a:ext>
            </a:extLst>
          </p:cNvPr>
          <p:cNvSpPr txBox="1"/>
          <p:nvPr/>
        </p:nvSpPr>
        <p:spPr>
          <a:xfrm>
            <a:off x="2903792" y="5644960"/>
            <a:ext cx="382683" cy="145147"/>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Top 2</a:t>
            </a:r>
            <a:endParaRPr lang="zh-TW" altLang="en-US" sz="1000" dirty="0"/>
          </a:p>
        </p:txBody>
      </p:sp>
      <p:sp>
        <p:nvSpPr>
          <p:cNvPr id="54" name="矩形 53">
            <a:extLst>
              <a:ext uri="{FF2B5EF4-FFF2-40B4-BE49-F238E27FC236}">
                <a16:creationId xmlns:a16="http://schemas.microsoft.com/office/drawing/2014/main" id="{11238E18-5895-CBBF-2FBB-758622E96283}"/>
              </a:ext>
            </a:extLst>
          </p:cNvPr>
          <p:cNvSpPr/>
          <p:nvPr/>
        </p:nvSpPr>
        <p:spPr>
          <a:xfrm>
            <a:off x="2627783" y="5617141"/>
            <a:ext cx="222611" cy="467344"/>
          </a:xfrm>
          <a:prstGeom prst="rect">
            <a:avLst/>
          </a:prstGeom>
          <a:solidFill>
            <a:schemeClr val="accent6">
              <a:lumMod val="40000"/>
              <a:lumOff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G</a:t>
            </a:r>
            <a:endParaRPr lang="en-US" altLang="zh-TW" sz="1200" b="1" baseline="-25000" dirty="0">
              <a:solidFill>
                <a:schemeClr val="tx1"/>
              </a:solidFill>
              <a:ea typeface="微軟正黑體" panose="020B0604030504040204" pitchFamily="34" charset="-120"/>
            </a:endParaRPr>
          </a:p>
        </p:txBody>
      </p:sp>
      <p:sp>
        <p:nvSpPr>
          <p:cNvPr id="34" name="矩形 33">
            <a:extLst>
              <a:ext uri="{FF2B5EF4-FFF2-40B4-BE49-F238E27FC236}">
                <a16:creationId xmlns:a16="http://schemas.microsoft.com/office/drawing/2014/main" id="{F0AF7A70-8CC9-C125-C92A-7461F4875FE6}"/>
              </a:ext>
            </a:extLst>
          </p:cNvPr>
          <p:cNvSpPr/>
          <p:nvPr/>
        </p:nvSpPr>
        <p:spPr>
          <a:xfrm>
            <a:off x="1979712" y="5780347"/>
            <a:ext cx="466030" cy="121967"/>
          </a:xfrm>
          <a:prstGeom prst="rect">
            <a:avLst/>
          </a:prstGeom>
          <a:solidFill>
            <a:schemeClr val="accent2">
              <a:lumMod val="75000"/>
              <a:alpha val="20000"/>
            </a:schemeClr>
          </a:solidFill>
          <a:ln w="25400">
            <a:solidFill>
              <a:schemeClr val="accent2">
                <a:lumMod val="75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X</a:t>
            </a:r>
          </a:p>
        </p:txBody>
      </p:sp>
      <p:sp>
        <p:nvSpPr>
          <p:cNvPr id="58" name="矩形 57">
            <a:extLst>
              <a:ext uri="{FF2B5EF4-FFF2-40B4-BE49-F238E27FC236}">
                <a16:creationId xmlns:a16="http://schemas.microsoft.com/office/drawing/2014/main" id="{8815CA8D-7E68-95A6-276F-62636D2BC7EE}"/>
              </a:ext>
            </a:extLst>
          </p:cNvPr>
          <p:cNvSpPr/>
          <p:nvPr/>
        </p:nvSpPr>
        <p:spPr>
          <a:xfrm>
            <a:off x="3318052" y="5784269"/>
            <a:ext cx="215174" cy="104777"/>
          </a:xfrm>
          <a:prstGeom prst="rect">
            <a:avLst/>
          </a:prstGeom>
          <a:solidFill>
            <a:schemeClr val="accent6">
              <a:lumMod val="75000"/>
              <a:alpha val="20000"/>
            </a:schemeClr>
          </a:solidFill>
          <a:ln w="38100">
            <a:solidFill>
              <a:schemeClr val="accent2">
                <a:lumMod val="60000"/>
                <a:lumOff val="4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200"/>
              </a:lnSpc>
            </a:pPr>
            <a:r>
              <a:rPr lang="en-US" altLang="zh-TW" sz="1200" b="1" dirty="0">
                <a:solidFill>
                  <a:schemeClr val="tx1"/>
                </a:solidFill>
                <a:ea typeface="微軟正黑體" panose="020B0604030504040204" pitchFamily="34" charset="-120"/>
              </a:rPr>
              <a:t>S</a:t>
            </a:r>
          </a:p>
        </p:txBody>
      </p:sp>
      <p:pic>
        <p:nvPicPr>
          <p:cNvPr id="27" name="圖片 26">
            <a:extLst>
              <a:ext uri="{FF2B5EF4-FFF2-40B4-BE49-F238E27FC236}">
                <a16:creationId xmlns:a16="http://schemas.microsoft.com/office/drawing/2014/main" id="{A51DF9BD-7D31-8D66-7F4A-B7645A594777}"/>
              </a:ext>
            </a:extLst>
          </p:cNvPr>
          <p:cNvPicPr>
            <a:picLocks noChangeAspect="1"/>
          </p:cNvPicPr>
          <p:nvPr/>
        </p:nvPicPr>
        <p:blipFill>
          <a:blip r:embed="rId2"/>
          <a:stretch>
            <a:fillRect/>
          </a:stretch>
        </p:blipFill>
        <p:spPr>
          <a:xfrm>
            <a:off x="495743" y="441496"/>
            <a:ext cx="6858000" cy="4263716"/>
          </a:xfrm>
          <a:prstGeom prst="rect">
            <a:avLst/>
          </a:prstGeom>
        </p:spPr>
      </p:pic>
    </p:spTree>
    <p:extLst>
      <p:ext uri="{BB962C8B-B14F-4D97-AF65-F5344CB8AC3E}">
        <p14:creationId xmlns:p14="http://schemas.microsoft.com/office/powerpoint/2010/main" val="18564458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1464BD-5194-0315-7A89-E8C884C6AB6A}"/>
            </a:ext>
          </a:extLst>
        </p:cNvPr>
        <p:cNvGrpSpPr/>
        <p:nvPr/>
      </p:nvGrpSpPr>
      <p:grpSpPr>
        <a:xfrm>
          <a:off x="0" y="0"/>
          <a:ext cx="0" cy="0"/>
          <a:chOff x="0" y="0"/>
          <a:chExt cx="0" cy="0"/>
        </a:xfrm>
      </p:grpSpPr>
      <p:sp>
        <p:nvSpPr>
          <p:cNvPr id="6" name="標題 1">
            <a:extLst>
              <a:ext uri="{FF2B5EF4-FFF2-40B4-BE49-F238E27FC236}">
                <a16:creationId xmlns:a16="http://schemas.microsoft.com/office/drawing/2014/main" id="{60940C7C-1A29-271B-CC3C-3E960225E0D0}"/>
              </a:ext>
            </a:extLst>
          </p:cNvPr>
          <p:cNvSpPr txBox="1">
            <a:spLocks/>
          </p:cNvSpPr>
          <p:nvPr/>
        </p:nvSpPr>
        <p:spPr>
          <a:xfrm>
            <a:off x="179512" y="116632"/>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DeepSeek-V4 Pro/Flash</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Parameters is 1.6T.</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8" name="標題 1">
            <a:extLst>
              <a:ext uri="{FF2B5EF4-FFF2-40B4-BE49-F238E27FC236}">
                <a16:creationId xmlns:a16="http://schemas.microsoft.com/office/drawing/2014/main" id="{397E2CE4-D75C-D567-8091-71DAC2642649}"/>
              </a:ext>
            </a:extLst>
          </p:cNvPr>
          <p:cNvSpPr txBox="1">
            <a:spLocks/>
          </p:cNvSpPr>
          <p:nvPr/>
        </p:nvSpPr>
        <p:spPr>
          <a:xfrm>
            <a:off x="5004048" y="116499"/>
            <a:ext cx="4107929" cy="144871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CSA = Cross-Attention (Sparse)</a:t>
            </a:r>
          </a:p>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HCA = Hybrid-Attention (Compressed)</a:t>
            </a:r>
          </a:p>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mHC = </a:t>
            </a:r>
            <a:r>
              <a:rPr lang="en-US" altLang="zh-TW" sz="1000" dirty="0" err="1">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Mainfold</a:t>
            </a: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-Constrained Hyper-Connections</a:t>
            </a:r>
          </a:p>
          <a:p>
            <a:endPar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DS </a:t>
            </a:r>
            <a:r>
              <a:rPr lang="en-US" altLang="zh-TW" sz="1000" dirty="0" err="1">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MoE</a:t>
            </a:r>
            <a:endPar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171450" indent="-171450">
              <a:buFontTx/>
              <a:buChar char="-"/>
            </a:pP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Fine-Grained Expert Segmentation</a:t>
            </a:r>
          </a:p>
          <a:p>
            <a:pPr marL="171450" indent="-171450">
              <a:buFontTx/>
              <a:buChar char="-"/>
            </a:pP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Auxiliary-Loss-Free Load Balancing</a:t>
            </a:r>
          </a:p>
          <a:p>
            <a:pPr marL="171450" indent="-171450">
              <a:buFontTx/>
              <a:buChar char="-"/>
            </a:pP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Shared Experts Isolation</a:t>
            </a:r>
          </a:p>
          <a:p>
            <a:pPr marL="171450" indent="-171450">
              <a:buFontTx/>
              <a:buChar char="-"/>
            </a:pPr>
            <a:endParaRPr lang="en-US" altLang="zh-TW" sz="10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3" name="圖片 2">
            <a:extLst>
              <a:ext uri="{FF2B5EF4-FFF2-40B4-BE49-F238E27FC236}">
                <a16:creationId xmlns:a16="http://schemas.microsoft.com/office/drawing/2014/main" id="{CF985EB1-5D4F-5FCC-6DCC-380A04F3F017}"/>
              </a:ext>
            </a:extLst>
          </p:cNvPr>
          <p:cNvPicPr>
            <a:picLocks noChangeAspect="1"/>
          </p:cNvPicPr>
          <p:nvPr/>
        </p:nvPicPr>
        <p:blipFill>
          <a:blip r:embed="rId2"/>
          <a:stretch>
            <a:fillRect/>
          </a:stretch>
        </p:blipFill>
        <p:spPr>
          <a:xfrm>
            <a:off x="2111380" y="943893"/>
            <a:ext cx="2469258" cy="5321829"/>
          </a:xfrm>
          <a:prstGeom prst="rect">
            <a:avLst/>
          </a:prstGeom>
        </p:spPr>
      </p:pic>
      <p:pic>
        <p:nvPicPr>
          <p:cNvPr id="5" name="圖片 4">
            <a:extLst>
              <a:ext uri="{FF2B5EF4-FFF2-40B4-BE49-F238E27FC236}">
                <a16:creationId xmlns:a16="http://schemas.microsoft.com/office/drawing/2014/main" id="{B06F7ADF-4A96-EDBF-862F-863AC4125B88}"/>
              </a:ext>
            </a:extLst>
          </p:cNvPr>
          <p:cNvPicPr>
            <a:picLocks noChangeAspect="1"/>
          </p:cNvPicPr>
          <p:nvPr/>
        </p:nvPicPr>
        <p:blipFill>
          <a:blip r:embed="rId3"/>
          <a:stretch>
            <a:fillRect/>
          </a:stretch>
        </p:blipFill>
        <p:spPr>
          <a:xfrm>
            <a:off x="4864113" y="1916832"/>
            <a:ext cx="3215919" cy="3375953"/>
          </a:xfrm>
          <a:prstGeom prst="rect">
            <a:avLst/>
          </a:prstGeom>
        </p:spPr>
      </p:pic>
    </p:spTree>
    <p:extLst>
      <p:ext uri="{BB962C8B-B14F-4D97-AF65-F5344CB8AC3E}">
        <p14:creationId xmlns:p14="http://schemas.microsoft.com/office/powerpoint/2010/main" val="370877343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FF128-321E-5C30-B370-FCDDA7245B18}"/>
            </a:ext>
          </a:extLst>
        </p:cNvPr>
        <p:cNvGrpSpPr/>
        <p:nvPr/>
      </p:nvGrpSpPr>
      <p:grpSpPr>
        <a:xfrm>
          <a:off x="0" y="0"/>
          <a:ext cx="0" cy="0"/>
          <a:chOff x="0" y="0"/>
          <a:chExt cx="0" cy="0"/>
        </a:xfrm>
      </p:grpSpPr>
      <p:sp>
        <p:nvSpPr>
          <p:cNvPr id="170" name="矩形: 圓角 169">
            <a:extLst>
              <a:ext uri="{FF2B5EF4-FFF2-40B4-BE49-F238E27FC236}">
                <a16:creationId xmlns:a16="http://schemas.microsoft.com/office/drawing/2014/main" id="{585A6862-1BD1-5468-95ED-66DAAA0CADEA}"/>
              </a:ext>
            </a:extLst>
          </p:cNvPr>
          <p:cNvSpPr/>
          <p:nvPr/>
        </p:nvSpPr>
        <p:spPr>
          <a:xfrm>
            <a:off x="2123728"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172" name="矩形: 圓角 171">
            <a:extLst>
              <a:ext uri="{FF2B5EF4-FFF2-40B4-BE49-F238E27FC236}">
                <a16:creationId xmlns:a16="http://schemas.microsoft.com/office/drawing/2014/main" id="{2900FC30-DA63-EEEA-6468-DCABA47C35C3}"/>
              </a:ext>
            </a:extLst>
          </p:cNvPr>
          <p:cNvSpPr/>
          <p:nvPr/>
        </p:nvSpPr>
        <p:spPr>
          <a:xfrm>
            <a:off x="467544"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2" name="矩形: 圓角 1">
            <a:extLst>
              <a:ext uri="{FF2B5EF4-FFF2-40B4-BE49-F238E27FC236}">
                <a16:creationId xmlns:a16="http://schemas.microsoft.com/office/drawing/2014/main" id="{EE036A56-D3B9-BA00-1B5F-933BBC025591}"/>
              </a:ext>
            </a:extLst>
          </p:cNvPr>
          <p:cNvSpPr/>
          <p:nvPr/>
        </p:nvSpPr>
        <p:spPr>
          <a:xfrm>
            <a:off x="467826"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 name="文字方塊 3">
            <a:extLst>
              <a:ext uri="{FF2B5EF4-FFF2-40B4-BE49-F238E27FC236}">
                <a16:creationId xmlns:a16="http://schemas.microsoft.com/office/drawing/2014/main" id="{0287AC9D-CF1C-E982-7DA3-0EB24C210137}"/>
              </a:ext>
            </a:extLst>
          </p:cNvPr>
          <p:cNvSpPr txBox="1"/>
          <p:nvPr/>
        </p:nvSpPr>
        <p:spPr>
          <a:xfrm>
            <a:off x="535220" y="2002309"/>
            <a:ext cx="1086557"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5" name="文字方塊 4">
            <a:extLst>
              <a:ext uri="{FF2B5EF4-FFF2-40B4-BE49-F238E27FC236}">
                <a16:creationId xmlns:a16="http://schemas.microsoft.com/office/drawing/2014/main" id="{8916746C-AE20-3DA7-4C4C-C15F24F24A4A}"/>
              </a:ext>
            </a:extLst>
          </p:cNvPr>
          <p:cNvSpPr txBox="1"/>
          <p:nvPr/>
        </p:nvSpPr>
        <p:spPr>
          <a:xfrm>
            <a:off x="535220" y="3781568"/>
            <a:ext cx="1086557" cy="824652"/>
          </a:xfrm>
          <a:prstGeom prst="rect">
            <a:avLst/>
          </a:prstGeom>
          <a:solidFill>
            <a:schemeClr val="accent1">
              <a:lumMod val="20000"/>
              <a:lumOff val="80000"/>
              <a:alpha val="20000"/>
            </a:scheme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7" name="直線單箭頭接點 6">
            <a:extLst>
              <a:ext uri="{FF2B5EF4-FFF2-40B4-BE49-F238E27FC236}">
                <a16:creationId xmlns:a16="http://schemas.microsoft.com/office/drawing/2014/main" id="{725C0A5E-FC09-98EE-5215-72074A893203}"/>
              </a:ext>
            </a:extLst>
          </p:cNvPr>
          <p:cNvCxnSpPr>
            <a:cxnSpLocks/>
            <a:endCxn id="179" idx="2"/>
          </p:cNvCxnSpPr>
          <p:nvPr/>
        </p:nvCxnSpPr>
        <p:spPr>
          <a:xfrm flipH="1" flipV="1">
            <a:off x="1075281" y="4501648"/>
            <a:ext cx="2307" cy="435063"/>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9" name="矩形: 圓角 18">
            <a:extLst>
              <a:ext uri="{FF2B5EF4-FFF2-40B4-BE49-F238E27FC236}">
                <a16:creationId xmlns:a16="http://schemas.microsoft.com/office/drawing/2014/main" id="{55591602-8B8C-3AFE-5774-030C5AD14364}"/>
              </a:ext>
            </a:extLst>
          </p:cNvPr>
          <p:cNvSpPr/>
          <p:nvPr/>
        </p:nvSpPr>
        <p:spPr>
          <a:xfrm>
            <a:off x="2123728"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0" name="文字方塊 19">
            <a:extLst>
              <a:ext uri="{FF2B5EF4-FFF2-40B4-BE49-F238E27FC236}">
                <a16:creationId xmlns:a16="http://schemas.microsoft.com/office/drawing/2014/main" id="{99748040-B74F-8C9F-410D-0764CB965FC2}"/>
              </a:ext>
            </a:extLst>
          </p:cNvPr>
          <p:cNvSpPr txBox="1"/>
          <p:nvPr/>
        </p:nvSpPr>
        <p:spPr>
          <a:xfrm>
            <a:off x="2200023"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21" name="文字方塊 20">
            <a:extLst>
              <a:ext uri="{FF2B5EF4-FFF2-40B4-BE49-F238E27FC236}">
                <a16:creationId xmlns:a16="http://schemas.microsoft.com/office/drawing/2014/main" id="{3C2E7FC2-3F14-86EB-B361-B54E5E74D9C7}"/>
              </a:ext>
            </a:extLst>
          </p:cNvPr>
          <p:cNvSpPr txBox="1"/>
          <p:nvPr/>
        </p:nvSpPr>
        <p:spPr>
          <a:xfrm>
            <a:off x="2195735" y="3781568"/>
            <a:ext cx="1086557"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MLA</a:t>
            </a:r>
          </a:p>
        </p:txBody>
      </p:sp>
      <p:cxnSp>
        <p:nvCxnSpPr>
          <p:cNvPr id="23" name="直線單箭頭接點 22">
            <a:extLst>
              <a:ext uri="{FF2B5EF4-FFF2-40B4-BE49-F238E27FC236}">
                <a16:creationId xmlns:a16="http://schemas.microsoft.com/office/drawing/2014/main" id="{67490BC5-9494-E8A8-3D36-562B7338B616}"/>
              </a:ext>
            </a:extLst>
          </p:cNvPr>
          <p:cNvCxnSpPr>
            <a:cxnSpLocks/>
            <a:stCxn id="176" idx="0"/>
            <a:endCxn id="177" idx="2"/>
          </p:cNvCxnSpPr>
          <p:nvPr/>
        </p:nvCxnSpPr>
        <p:spPr>
          <a:xfrm flipH="1" flipV="1">
            <a:off x="2726271" y="4501648"/>
            <a:ext cx="2070" cy="25505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14" name="矩形: 圓角 113">
            <a:extLst>
              <a:ext uri="{FF2B5EF4-FFF2-40B4-BE49-F238E27FC236}">
                <a16:creationId xmlns:a16="http://schemas.microsoft.com/office/drawing/2014/main" id="{56BD2F7A-E8BC-F753-6C1E-D153DC182D32}"/>
              </a:ext>
            </a:extLst>
          </p:cNvPr>
          <p:cNvSpPr/>
          <p:nvPr/>
        </p:nvSpPr>
        <p:spPr>
          <a:xfrm>
            <a:off x="2123728"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sp>
        <p:nvSpPr>
          <p:cNvPr id="116" name="矩形: 圓角 115">
            <a:extLst>
              <a:ext uri="{FF2B5EF4-FFF2-40B4-BE49-F238E27FC236}">
                <a16:creationId xmlns:a16="http://schemas.microsoft.com/office/drawing/2014/main" id="{A37680C0-5523-DB1C-FF62-260EC8CBC5E0}"/>
              </a:ext>
            </a:extLst>
          </p:cNvPr>
          <p:cNvSpPr/>
          <p:nvPr/>
        </p:nvSpPr>
        <p:spPr>
          <a:xfrm>
            <a:off x="467544"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117" name="直線單箭頭接點 116">
            <a:extLst>
              <a:ext uri="{FF2B5EF4-FFF2-40B4-BE49-F238E27FC236}">
                <a16:creationId xmlns:a16="http://schemas.microsoft.com/office/drawing/2014/main" id="{D06E7E9A-D338-F203-F404-0131A070A6E9}"/>
              </a:ext>
            </a:extLst>
          </p:cNvPr>
          <p:cNvCxnSpPr>
            <a:cxnSpLocks/>
            <a:stCxn id="2" idx="0"/>
            <a:endCxn id="116" idx="2"/>
          </p:cNvCxnSpPr>
          <p:nvPr/>
        </p:nvCxnSpPr>
        <p:spPr>
          <a:xfrm flipH="1" flipV="1">
            <a:off x="1077305" y="1750550"/>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120" name="直線單箭頭接點 119">
            <a:extLst>
              <a:ext uri="{FF2B5EF4-FFF2-40B4-BE49-F238E27FC236}">
                <a16:creationId xmlns:a16="http://schemas.microsoft.com/office/drawing/2014/main" id="{B0184A23-3710-2816-6164-DC3354C2C1B0}"/>
              </a:ext>
            </a:extLst>
          </p:cNvPr>
          <p:cNvCxnSpPr>
            <a:cxnSpLocks/>
            <a:stCxn id="19" idx="0"/>
            <a:endCxn id="114" idx="2"/>
          </p:cNvCxnSpPr>
          <p:nvPr/>
        </p:nvCxnSpPr>
        <p:spPr>
          <a:xfrm flipV="1">
            <a:off x="2733489" y="1750550"/>
            <a:ext cx="0"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29" name="文字方塊 128">
            <a:extLst>
              <a:ext uri="{FF2B5EF4-FFF2-40B4-BE49-F238E27FC236}">
                <a16:creationId xmlns:a16="http://schemas.microsoft.com/office/drawing/2014/main" id="{235F7005-FAD9-D837-ADA8-DB421911E493}"/>
              </a:ext>
            </a:extLst>
          </p:cNvPr>
          <p:cNvSpPr txBox="1"/>
          <p:nvPr/>
        </p:nvSpPr>
        <p:spPr>
          <a:xfrm>
            <a:off x="248805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38" name="文字方塊 137">
            <a:extLst>
              <a:ext uri="{FF2B5EF4-FFF2-40B4-BE49-F238E27FC236}">
                <a16:creationId xmlns:a16="http://schemas.microsoft.com/office/drawing/2014/main" id="{AB879A8F-CA3C-305E-BF3E-1D73137507F2}"/>
              </a:ext>
            </a:extLst>
          </p:cNvPr>
          <p:cNvSpPr txBox="1"/>
          <p:nvPr/>
        </p:nvSpPr>
        <p:spPr>
          <a:xfrm>
            <a:off x="2787962"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0" name="文字方塊 139">
            <a:extLst>
              <a:ext uri="{FF2B5EF4-FFF2-40B4-BE49-F238E27FC236}">
                <a16:creationId xmlns:a16="http://schemas.microsoft.com/office/drawing/2014/main" id="{944BDAFC-3502-CB3C-E397-50F635AD29C7}"/>
              </a:ext>
            </a:extLst>
          </p:cNvPr>
          <p:cNvSpPr txBox="1"/>
          <p:nvPr/>
        </p:nvSpPr>
        <p:spPr>
          <a:xfrm>
            <a:off x="307459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2" name="文字方塊 141">
            <a:extLst>
              <a:ext uri="{FF2B5EF4-FFF2-40B4-BE49-F238E27FC236}">
                <a16:creationId xmlns:a16="http://schemas.microsoft.com/office/drawing/2014/main" id="{790E5853-F222-0C2E-0BC5-C35D97B16DB2}"/>
              </a:ext>
            </a:extLst>
          </p:cNvPr>
          <p:cNvSpPr txBox="1"/>
          <p:nvPr/>
        </p:nvSpPr>
        <p:spPr>
          <a:xfrm>
            <a:off x="2195736"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4" name="文字方塊 143">
            <a:extLst>
              <a:ext uri="{FF2B5EF4-FFF2-40B4-BE49-F238E27FC236}">
                <a16:creationId xmlns:a16="http://schemas.microsoft.com/office/drawing/2014/main" id="{E73A6B5A-070E-6C48-0415-D8D3A0D060B6}"/>
              </a:ext>
            </a:extLst>
          </p:cNvPr>
          <p:cNvSpPr txBox="1"/>
          <p:nvPr/>
        </p:nvSpPr>
        <p:spPr>
          <a:xfrm>
            <a:off x="2483768" y="2350933"/>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6" name="文字方塊 145">
            <a:extLst>
              <a:ext uri="{FF2B5EF4-FFF2-40B4-BE49-F238E27FC236}">
                <a16:creationId xmlns:a16="http://schemas.microsoft.com/office/drawing/2014/main" id="{47EC2506-3B10-D847-4047-DEF10FA85863}"/>
              </a:ext>
            </a:extLst>
          </p:cNvPr>
          <p:cNvSpPr txBox="1"/>
          <p:nvPr/>
        </p:nvSpPr>
        <p:spPr>
          <a:xfrm>
            <a:off x="278367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8" name="文字方塊 147">
            <a:extLst>
              <a:ext uri="{FF2B5EF4-FFF2-40B4-BE49-F238E27FC236}">
                <a16:creationId xmlns:a16="http://schemas.microsoft.com/office/drawing/2014/main" id="{75C33A86-7837-D2CC-E40E-046EBDE48273}"/>
              </a:ext>
            </a:extLst>
          </p:cNvPr>
          <p:cNvSpPr txBox="1"/>
          <p:nvPr/>
        </p:nvSpPr>
        <p:spPr>
          <a:xfrm>
            <a:off x="307459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0" name="文字方塊 149">
            <a:extLst>
              <a:ext uri="{FF2B5EF4-FFF2-40B4-BE49-F238E27FC236}">
                <a16:creationId xmlns:a16="http://schemas.microsoft.com/office/drawing/2014/main" id="{CA4082C9-E5D4-F3F8-A7C6-7D94C97CD7E2}"/>
              </a:ext>
            </a:extLst>
          </p:cNvPr>
          <p:cNvSpPr txBox="1"/>
          <p:nvPr/>
        </p:nvSpPr>
        <p:spPr>
          <a:xfrm>
            <a:off x="2199071"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2" name="文字方塊 151">
            <a:extLst>
              <a:ext uri="{FF2B5EF4-FFF2-40B4-BE49-F238E27FC236}">
                <a16:creationId xmlns:a16="http://schemas.microsoft.com/office/drawing/2014/main" id="{09220340-997F-BCEB-F888-401078B5233C}"/>
              </a:ext>
            </a:extLst>
          </p:cNvPr>
          <p:cNvSpPr txBox="1"/>
          <p:nvPr/>
        </p:nvSpPr>
        <p:spPr>
          <a:xfrm>
            <a:off x="248710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4" name="文字方塊 153">
            <a:extLst>
              <a:ext uri="{FF2B5EF4-FFF2-40B4-BE49-F238E27FC236}">
                <a16:creationId xmlns:a16="http://schemas.microsoft.com/office/drawing/2014/main" id="{1813AF4A-7BA8-2782-BAF6-8C906B25ADA3}"/>
              </a:ext>
            </a:extLst>
          </p:cNvPr>
          <p:cNvSpPr txBox="1"/>
          <p:nvPr/>
        </p:nvSpPr>
        <p:spPr>
          <a:xfrm>
            <a:off x="2787010"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6" name="文字方塊 155">
            <a:extLst>
              <a:ext uri="{FF2B5EF4-FFF2-40B4-BE49-F238E27FC236}">
                <a16:creationId xmlns:a16="http://schemas.microsoft.com/office/drawing/2014/main" id="{B978F426-9B27-D209-12A2-7244731E3E8C}"/>
              </a:ext>
            </a:extLst>
          </p:cNvPr>
          <p:cNvSpPr txBox="1"/>
          <p:nvPr/>
        </p:nvSpPr>
        <p:spPr>
          <a:xfrm>
            <a:off x="307364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8" name="文字方塊 157">
            <a:extLst>
              <a:ext uri="{FF2B5EF4-FFF2-40B4-BE49-F238E27FC236}">
                <a16:creationId xmlns:a16="http://schemas.microsoft.com/office/drawing/2014/main" id="{54D9FE03-DA3A-7B22-12C0-F0CF495AAF72}"/>
              </a:ext>
            </a:extLst>
          </p:cNvPr>
          <p:cNvSpPr txBox="1"/>
          <p:nvPr/>
        </p:nvSpPr>
        <p:spPr>
          <a:xfrm>
            <a:off x="2194784"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0" name="文字方塊 159">
            <a:extLst>
              <a:ext uri="{FF2B5EF4-FFF2-40B4-BE49-F238E27FC236}">
                <a16:creationId xmlns:a16="http://schemas.microsoft.com/office/drawing/2014/main" id="{C855BB6E-A7CA-F9A6-3804-2D03A63331BF}"/>
              </a:ext>
            </a:extLst>
          </p:cNvPr>
          <p:cNvSpPr txBox="1"/>
          <p:nvPr/>
        </p:nvSpPr>
        <p:spPr>
          <a:xfrm>
            <a:off x="2482816"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2" name="文字方塊 161">
            <a:extLst>
              <a:ext uri="{FF2B5EF4-FFF2-40B4-BE49-F238E27FC236}">
                <a16:creationId xmlns:a16="http://schemas.microsoft.com/office/drawing/2014/main" id="{8341776D-C4B2-FB24-47F8-AEDBFF6B8BAD}"/>
              </a:ext>
            </a:extLst>
          </p:cNvPr>
          <p:cNvSpPr txBox="1"/>
          <p:nvPr/>
        </p:nvSpPr>
        <p:spPr>
          <a:xfrm>
            <a:off x="2782723" y="2917472"/>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4" name="文字方塊 163">
            <a:extLst>
              <a:ext uri="{FF2B5EF4-FFF2-40B4-BE49-F238E27FC236}">
                <a16:creationId xmlns:a16="http://schemas.microsoft.com/office/drawing/2014/main" id="{B127A9DD-8FE3-3E97-DC51-2017300EB766}"/>
              </a:ext>
            </a:extLst>
          </p:cNvPr>
          <p:cNvSpPr txBox="1"/>
          <p:nvPr/>
        </p:nvSpPr>
        <p:spPr>
          <a:xfrm>
            <a:off x="3073643"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8" name="矩形 167">
            <a:extLst>
              <a:ext uri="{FF2B5EF4-FFF2-40B4-BE49-F238E27FC236}">
                <a16:creationId xmlns:a16="http://schemas.microsoft.com/office/drawing/2014/main" id="{E8236D44-E788-7884-CB7F-7964E41D58A7}"/>
              </a:ext>
            </a:extLst>
          </p:cNvPr>
          <p:cNvSpPr/>
          <p:nvPr/>
        </p:nvSpPr>
        <p:spPr>
          <a:xfrm>
            <a:off x="607229" y="4756564"/>
            <a:ext cx="933795"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6" name="矩形 175">
            <a:extLst>
              <a:ext uri="{FF2B5EF4-FFF2-40B4-BE49-F238E27FC236}">
                <a16:creationId xmlns:a16="http://schemas.microsoft.com/office/drawing/2014/main" id="{B4CAB320-BDEC-C2AA-F436-9F1884A89520}"/>
              </a:ext>
            </a:extLst>
          </p:cNvPr>
          <p:cNvSpPr/>
          <p:nvPr/>
        </p:nvSpPr>
        <p:spPr>
          <a:xfrm>
            <a:off x="2476313" y="4756705"/>
            <a:ext cx="504056" cy="393015"/>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7" name="矩形: 圓角 176">
            <a:extLst>
              <a:ext uri="{FF2B5EF4-FFF2-40B4-BE49-F238E27FC236}">
                <a16:creationId xmlns:a16="http://schemas.microsoft.com/office/drawing/2014/main" id="{22E3C78D-C200-3BD2-196E-72559D9427C4}"/>
              </a:ext>
            </a:extLst>
          </p:cNvPr>
          <p:cNvSpPr/>
          <p:nvPr/>
        </p:nvSpPr>
        <p:spPr>
          <a:xfrm>
            <a:off x="2474243" y="4069600"/>
            <a:ext cx="504056" cy="432048"/>
          </a:xfrm>
          <a:prstGeom prst="roundRect">
            <a:avLst/>
          </a:prstGeom>
          <a:solidFill>
            <a:schemeClr val="bg1"/>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1048</a:t>
            </a:r>
          </a:p>
        </p:txBody>
      </p:sp>
      <p:sp>
        <p:nvSpPr>
          <p:cNvPr id="179" name="矩形: 圓角 178">
            <a:extLst>
              <a:ext uri="{FF2B5EF4-FFF2-40B4-BE49-F238E27FC236}">
                <a16:creationId xmlns:a16="http://schemas.microsoft.com/office/drawing/2014/main" id="{63C06AC4-64D1-B55E-4148-67DB01FA1277}"/>
              </a:ext>
            </a:extLst>
          </p:cNvPr>
          <p:cNvSpPr/>
          <p:nvPr/>
        </p:nvSpPr>
        <p:spPr>
          <a:xfrm>
            <a:off x="607229" y="4069600"/>
            <a:ext cx="936104" cy="432048"/>
          </a:xfrm>
          <a:prstGeom prst="roundRect">
            <a:avLst/>
          </a:prstGeom>
          <a:solidFill>
            <a:schemeClr val="bg1"/>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8192</a:t>
            </a:r>
          </a:p>
        </p:txBody>
      </p:sp>
      <p:sp>
        <p:nvSpPr>
          <p:cNvPr id="181" name="矩形: 圓角 180">
            <a:extLst>
              <a:ext uri="{FF2B5EF4-FFF2-40B4-BE49-F238E27FC236}">
                <a16:creationId xmlns:a16="http://schemas.microsoft.com/office/drawing/2014/main" id="{0819D04C-6608-2C50-F8C2-C455CE59B835}"/>
              </a:ext>
            </a:extLst>
          </p:cNvPr>
          <p:cNvSpPr/>
          <p:nvPr/>
        </p:nvSpPr>
        <p:spPr>
          <a:xfrm>
            <a:off x="607229" y="2472158"/>
            <a:ext cx="936104" cy="1093386"/>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243" name="矩形: 圓角 242">
            <a:extLst>
              <a:ext uri="{FF2B5EF4-FFF2-40B4-BE49-F238E27FC236}">
                <a16:creationId xmlns:a16="http://schemas.microsoft.com/office/drawing/2014/main" id="{41BFEAF1-95B0-3550-8FEA-30B254B92844}"/>
              </a:ext>
            </a:extLst>
          </p:cNvPr>
          <p:cNvSpPr/>
          <p:nvPr/>
        </p:nvSpPr>
        <p:spPr>
          <a:xfrm>
            <a:off x="2467914" y="3224554"/>
            <a:ext cx="516929" cy="436010"/>
          </a:xfrm>
          <a:prstGeom prst="roundRect">
            <a:avLst>
              <a:gd name="adj" fmla="val 8860"/>
            </a:avLst>
          </a:prstGeom>
          <a:solidFill>
            <a:schemeClr val="accent2">
              <a:lumMod val="20000"/>
              <a:lumOff val="80000"/>
            </a:schemeClr>
          </a:solidFill>
          <a:ln w="254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MoE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p:txBody>
      </p:sp>
      <p:graphicFrame>
        <p:nvGraphicFramePr>
          <p:cNvPr id="247" name="表格 246">
            <a:extLst>
              <a:ext uri="{FF2B5EF4-FFF2-40B4-BE49-F238E27FC236}">
                <a16:creationId xmlns:a16="http://schemas.microsoft.com/office/drawing/2014/main" id="{273489FC-ECA0-0753-047B-79B4616DDCCC}"/>
              </a:ext>
            </a:extLst>
          </p:cNvPr>
          <p:cNvGraphicFramePr>
            <a:graphicFrameLocks noGrp="1"/>
          </p:cNvGraphicFramePr>
          <p:nvPr/>
        </p:nvGraphicFramePr>
        <p:xfrm>
          <a:off x="5652400" y="1777144"/>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D</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253" name="表格 252">
            <a:extLst>
              <a:ext uri="{FF2B5EF4-FFF2-40B4-BE49-F238E27FC236}">
                <a16:creationId xmlns:a16="http://schemas.microsoft.com/office/drawing/2014/main" id="{8222C8ED-A1B0-C08B-2EB5-B84C32F06C26}"/>
              </a:ext>
            </a:extLst>
          </p:cNvPr>
          <p:cNvGraphicFramePr>
            <a:graphicFrameLocks noGrp="1"/>
          </p:cNvGraphicFramePr>
          <p:nvPr/>
        </p:nvGraphicFramePr>
        <p:xfrm>
          <a:off x="6823274" y="3400354"/>
          <a:ext cx="1264220" cy="273655"/>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48">
                  <a:extLst>
                    <a:ext uri="{9D8B030D-6E8A-4147-A177-3AD203B41FA5}">
                      <a16:colId xmlns:a16="http://schemas.microsoft.com/office/drawing/2014/main" val="223754513"/>
                    </a:ext>
                  </a:extLst>
                </a:gridCol>
                <a:gridCol w="360040">
                  <a:extLst>
                    <a:ext uri="{9D8B030D-6E8A-4147-A177-3AD203B41FA5}">
                      <a16:colId xmlns:a16="http://schemas.microsoft.com/office/drawing/2014/main" val="213621589"/>
                    </a:ext>
                  </a:extLst>
                </a:gridCol>
              </a:tblGrid>
              <a:tr h="2736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59" name="表格 258">
            <a:extLst>
              <a:ext uri="{FF2B5EF4-FFF2-40B4-BE49-F238E27FC236}">
                <a16:creationId xmlns:a16="http://schemas.microsoft.com/office/drawing/2014/main" id="{291E65D5-EE8D-2E44-3AC5-2BFE5281B550}"/>
              </a:ext>
            </a:extLst>
          </p:cNvPr>
          <p:cNvGraphicFramePr>
            <a:graphicFrameLocks noGrp="1"/>
          </p:cNvGraphicFramePr>
          <p:nvPr/>
        </p:nvGraphicFramePr>
        <p:xfrm>
          <a:off x="6823274" y="4066479"/>
          <a:ext cx="1264220" cy="276776"/>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50">
                  <a:extLst>
                    <a:ext uri="{9D8B030D-6E8A-4147-A177-3AD203B41FA5}">
                      <a16:colId xmlns:a16="http://schemas.microsoft.com/office/drawing/2014/main" val="223754513"/>
                    </a:ext>
                  </a:extLst>
                </a:gridCol>
                <a:gridCol w="360038">
                  <a:extLst>
                    <a:ext uri="{9D8B030D-6E8A-4147-A177-3AD203B41FA5}">
                      <a16:colId xmlns:a16="http://schemas.microsoft.com/office/drawing/2014/main" val="213621589"/>
                    </a:ext>
                  </a:extLst>
                </a:gridCol>
              </a:tblGrid>
              <a:tr h="276776">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75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61" name="表格 260">
            <a:extLst>
              <a:ext uri="{FF2B5EF4-FFF2-40B4-BE49-F238E27FC236}">
                <a16:creationId xmlns:a16="http://schemas.microsoft.com/office/drawing/2014/main" id="{AB596806-C22D-1ADA-4139-8486A10BAD5D}"/>
              </a:ext>
            </a:extLst>
          </p:cNvPr>
          <p:cNvGraphicFramePr>
            <a:graphicFrameLocks noGrp="1"/>
          </p:cNvGraphicFramePr>
          <p:nvPr/>
        </p:nvGraphicFramePr>
        <p:xfrm>
          <a:off x="5652120" y="5265132"/>
          <a:ext cx="2520000" cy="302259"/>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cxnSp>
        <p:nvCxnSpPr>
          <p:cNvPr id="277" name="接點: 肘形 276">
            <a:extLst>
              <a:ext uri="{FF2B5EF4-FFF2-40B4-BE49-F238E27FC236}">
                <a16:creationId xmlns:a16="http://schemas.microsoft.com/office/drawing/2014/main" id="{A8387998-1975-8674-4EBF-72F297E07577}"/>
              </a:ext>
            </a:extLst>
          </p:cNvPr>
          <p:cNvCxnSpPr>
            <a:cxnSpLocks/>
            <a:stCxn id="247" idx="1"/>
          </p:cNvCxnSpPr>
          <p:nvPr/>
        </p:nvCxnSpPr>
        <p:spPr>
          <a:xfrm rot="10800000" flipV="1">
            <a:off x="5148064" y="1908071"/>
            <a:ext cx="504336" cy="1757498"/>
          </a:xfrm>
          <a:prstGeom prst="bentConnector3">
            <a:avLst>
              <a:gd name="adj1" fmla="val 50000"/>
            </a:avLst>
          </a:prstGeom>
          <a:ln>
            <a:solidFill>
              <a:schemeClr val="tx1">
                <a:lumMod val="50000"/>
                <a:lumOff val="50000"/>
              </a:schemeClr>
            </a:solidFill>
            <a:prstDash val="dash"/>
            <a:tailEnd type="triangle" w="sm" len="med"/>
          </a:ln>
        </p:spPr>
        <p:style>
          <a:lnRef idx="1">
            <a:schemeClr val="accent1"/>
          </a:lnRef>
          <a:fillRef idx="0">
            <a:schemeClr val="accent1"/>
          </a:fillRef>
          <a:effectRef idx="0">
            <a:schemeClr val="accent1"/>
          </a:effectRef>
          <a:fontRef idx="minor">
            <a:schemeClr val="tx1"/>
          </a:fontRef>
        </p:style>
      </p:cxnSp>
      <p:cxnSp>
        <p:nvCxnSpPr>
          <p:cNvPr id="278" name="接點: 肘形 277">
            <a:extLst>
              <a:ext uri="{FF2B5EF4-FFF2-40B4-BE49-F238E27FC236}">
                <a16:creationId xmlns:a16="http://schemas.microsoft.com/office/drawing/2014/main" id="{C6307A26-F189-AB3D-6F74-783BF95C7F10}"/>
              </a:ext>
            </a:extLst>
          </p:cNvPr>
          <p:cNvCxnSpPr>
            <a:cxnSpLocks/>
            <a:endCxn id="261" idx="1"/>
          </p:cNvCxnSpPr>
          <p:nvPr/>
        </p:nvCxnSpPr>
        <p:spPr>
          <a:xfrm>
            <a:off x="5148064" y="3789373"/>
            <a:ext cx="504056" cy="1626888"/>
          </a:xfrm>
          <a:prstGeom prst="bentConnector3">
            <a:avLst>
              <a:gd name="adj1" fmla="val 50000"/>
            </a:avLst>
          </a:prstGeom>
          <a:ln>
            <a:solidFill>
              <a:schemeClr val="tx1">
                <a:lumMod val="50000"/>
                <a:lumOff val="50000"/>
              </a:schemeClr>
            </a:solidFill>
            <a:prstDash val="dash"/>
            <a:tailEnd type="triangle" w="sm" len="med"/>
          </a:ln>
        </p:spPr>
        <p:style>
          <a:lnRef idx="1">
            <a:schemeClr val="accent1"/>
          </a:lnRef>
          <a:fillRef idx="0">
            <a:schemeClr val="accent1"/>
          </a:fillRef>
          <a:effectRef idx="0">
            <a:schemeClr val="accent1"/>
          </a:effectRef>
          <a:fontRef idx="minor">
            <a:schemeClr val="tx1"/>
          </a:fontRef>
        </p:style>
      </p:cxnSp>
      <p:sp>
        <p:nvSpPr>
          <p:cNvPr id="323" name="文字方塊 322">
            <a:extLst>
              <a:ext uri="{FF2B5EF4-FFF2-40B4-BE49-F238E27FC236}">
                <a16:creationId xmlns:a16="http://schemas.microsoft.com/office/drawing/2014/main" id="{4D35A4DB-5505-3BA7-AA9B-75F94A875DD7}"/>
              </a:ext>
            </a:extLst>
          </p:cNvPr>
          <p:cNvSpPr txBox="1"/>
          <p:nvPr/>
        </p:nvSpPr>
        <p:spPr>
          <a:xfrm>
            <a:off x="5652120" y="5069655"/>
            <a:ext cx="899391" cy="209704"/>
          </a:xfrm>
          <a:prstGeom prst="rect">
            <a:avLst/>
          </a:prstGeom>
          <a:noFill/>
        </p:spPr>
        <p:txBody>
          <a:bodyPr wrap="none" lIns="0" tIns="0" rIns="0" bIns="0" anchor="ctr" anchorCtr="1">
            <a:noAutofit/>
          </a:bodyPr>
          <a:lstStyle/>
          <a:p>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Router Expert</a:t>
            </a:r>
          </a:p>
        </p:txBody>
      </p:sp>
      <p:sp>
        <p:nvSpPr>
          <p:cNvPr id="363" name="文字方塊 362">
            <a:extLst>
              <a:ext uri="{FF2B5EF4-FFF2-40B4-BE49-F238E27FC236}">
                <a16:creationId xmlns:a16="http://schemas.microsoft.com/office/drawing/2014/main" id="{893794DC-31E3-4257-E693-790683EF6BD3}"/>
              </a:ext>
            </a:extLst>
          </p:cNvPr>
          <p:cNvSpPr txBox="1"/>
          <p:nvPr/>
        </p:nvSpPr>
        <p:spPr>
          <a:xfrm>
            <a:off x="6823274" y="3839199"/>
            <a:ext cx="963697" cy="264500"/>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Token Indexing</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379" name="矩形: 圓角 378">
            <a:extLst>
              <a:ext uri="{FF2B5EF4-FFF2-40B4-BE49-F238E27FC236}">
                <a16:creationId xmlns:a16="http://schemas.microsoft.com/office/drawing/2014/main" id="{5D7C8B80-BA46-4D8C-F02D-D045A0C5685D}"/>
              </a:ext>
            </a:extLst>
          </p:cNvPr>
          <p:cNvSpPr/>
          <p:nvPr/>
        </p:nvSpPr>
        <p:spPr>
          <a:xfrm>
            <a:off x="8355366" y="5135343"/>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W</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402" name="文字方塊 401">
            <a:extLst>
              <a:ext uri="{FF2B5EF4-FFF2-40B4-BE49-F238E27FC236}">
                <a16:creationId xmlns:a16="http://schemas.microsoft.com/office/drawing/2014/main" id="{F0E46714-1E9B-EC55-8158-5918CAAB137B}"/>
              </a:ext>
            </a:extLst>
          </p:cNvPr>
          <p:cNvSpPr txBox="1"/>
          <p:nvPr/>
        </p:nvSpPr>
        <p:spPr>
          <a:xfrm>
            <a:off x="8172400" y="5135343"/>
            <a:ext cx="182966"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07" name="接點: 弧形 406">
            <a:extLst>
              <a:ext uri="{FF2B5EF4-FFF2-40B4-BE49-F238E27FC236}">
                <a16:creationId xmlns:a16="http://schemas.microsoft.com/office/drawing/2014/main" id="{283B3667-663B-D000-4FC0-64C6452E2C4A}"/>
              </a:ext>
            </a:extLst>
          </p:cNvPr>
          <p:cNvCxnSpPr>
            <a:cxnSpLocks/>
            <a:stCxn id="406" idx="0"/>
            <a:endCxn id="259" idx="3"/>
          </p:cNvCxnSpPr>
          <p:nvPr/>
        </p:nvCxnSpPr>
        <p:spPr>
          <a:xfrm rot="16200000" flipV="1">
            <a:off x="8118153" y="4174208"/>
            <a:ext cx="354412" cy="415730"/>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14" name="接點: 弧形 413">
            <a:extLst>
              <a:ext uri="{FF2B5EF4-FFF2-40B4-BE49-F238E27FC236}">
                <a16:creationId xmlns:a16="http://schemas.microsoft.com/office/drawing/2014/main" id="{C152E6B8-B2A8-1458-4C5C-CB945E0D4F14}"/>
              </a:ext>
            </a:extLst>
          </p:cNvPr>
          <p:cNvCxnSpPr>
            <a:cxnSpLocks/>
            <a:stCxn id="379" idx="0"/>
            <a:endCxn id="404" idx="3"/>
          </p:cNvCxnSpPr>
          <p:nvPr/>
        </p:nvCxnSpPr>
        <p:spPr>
          <a:xfrm rot="16200000" flipV="1">
            <a:off x="8139011" y="4775254"/>
            <a:ext cx="321471" cy="398708"/>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0" name="文字方塊 399">
            <a:extLst>
              <a:ext uri="{FF2B5EF4-FFF2-40B4-BE49-F238E27FC236}">
                <a16:creationId xmlns:a16="http://schemas.microsoft.com/office/drawing/2014/main" id="{FEF4DBA8-8A61-29F3-F772-B9E20697288B}"/>
              </a:ext>
            </a:extLst>
          </p:cNvPr>
          <p:cNvSpPr txBox="1"/>
          <p:nvPr/>
        </p:nvSpPr>
        <p:spPr>
          <a:xfrm>
            <a:off x="8100392" y="4559279"/>
            <a:ext cx="252367" cy="276776"/>
          </a:xfrm>
          <a:prstGeom prst="rect">
            <a:avLst/>
          </a:prstGeom>
          <a:solidFill>
            <a:schemeClr val="bg1">
              <a:alpha val="60000"/>
            </a:schemeClr>
          </a:solid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06" name="矩形: 圓角 405">
            <a:extLst>
              <a:ext uri="{FF2B5EF4-FFF2-40B4-BE49-F238E27FC236}">
                <a16:creationId xmlns:a16="http://schemas.microsoft.com/office/drawing/2014/main" id="{2CD424B4-D781-066A-AA82-5B1D7C173188}"/>
              </a:ext>
            </a:extLst>
          </p:cNvPr>
          <p:cNvSpPr/>
          <p:nvPr/>
        </p:nvSpPr>
        <p:spPr>
          <a:xfrm>
            <a:off x="8365657" y="4559279"/>
            <a:ext cx="275134" cy="276776"/>
          </a:xfrm>
          <a:prstGeom prst="roundRect">
            <a:avLst>
              <a:gd name="adj" fmla="val 13748"/>
            </a:avLst>
          </a:prstGeom>
          <a:solidFill>
            <a:schemeClr val="bg1">
              <a:alpha val="60000"/>
            </a:scheme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lang="el-GR" altLang="zh-TW" sz="1400" b="1" dirty="0">
                <a:solidFill>
                  <a:prstClr val="black"/>
                </a:solidFill>
                <a:latin typeface="Calibri"/>
                <a:ea typeface="微軟正黑體" panose="020B0604030504040204" pitchFamily="34" charset="-120"/>
              </a:rPr>
              <a:t>σ</a:t>
            </a:r>
            <a:endParaRPr lang="en-US" altLang="zh-TW" sz="1400" b="1" dirty="0">
              <a:solidFill>
                <a:prstClr val="black"/>
              </a:solidFill>
              <a:latin typeface="Calibri"/>
              <a:ea typeface="微軟正黑體" panose="020B0604030504040204" pitchFamily="34" charset="-120"/>
            </a:endParaRPr>
          </a:p>
          <a:p>
            <a:pPr marL="0" marR="0" lvl="0" indent="0" algn="ctr" defTabSz="914400" rtl="0" eaLnBrk="1" fontAlgn="auto" latinLnBrk="0" hangingPunct="1">
              <a:lnSpc>
                <a:spcPts val="800"/>
              </a:lnSpc>
              <a:spcBef>
                <a:spcPts val="0"/>
              </a:spcBef>
              <a:spcAft>
                <a:spcPts val="0"/>
              </a:spcAft>
              <a:buClrTx/>
              <a:buSzTx/>
              <a:buFontTx/>
              <a:buNone/>
              <a:tabLst/>
              <a:defRPr/>
            </a:pPr>
            <a:r>
              <a:rPr kumimoji="0" lang="en-US" altLang="zh-TW" sz="1000" i="0" u="none" strike="noStrike" kern="1200" cap="none" spc="0" normalizeH="0" noProof="0" dirty="0">
                <a:ln>
                  <a:noFill/>
                </a:ln>
                <a:solidFill>
                  <a:prstClr val="black"/>
                </a:solidFill>
                <a:effectLst/>
                <a:uLnTx/>
                <a:uFillTx/>
                <a:latin typeface="Calibri"/>
                <a:ea typeface="微軟正黑體" panose="020B0604030504040204" pitchFamily="34" charset="-120"/>
                <a:cs typeface="+mn-cs"/>
              </a:rPr>
              <a:t>1xd</a:t>
            </a:r>
          </a:p>
        </p:txBody>
      </p:sp>
      <p:graphicFrame>
        <p:nvGraphicFramePr>
          <p:cNvPr id="404" name="表格 403">
            <a:extLst>
              <a:ext uri="{FF2B5EF4-FFF2-40B4-BE49-F238E27FC236}">
                <a16:creationId xmlns:a16="http://schemas.microsoft.com/office/drawing/2014/main" id="{D620125A-2C57-6A0F-E0FD-4F9D30D787A7}"/>
              </a:ext>
            </a:extLst>
          </p:cNvPr>
          <p:cNvGraphicFramePr>
            <a:graphicFrameLocks noGrp="1"/>
          </p:cNvGraphicFramePr>
          <p:nvPr/>
        </p:nvGraphicFramePr>
        <p:xfrm>
          <a:off x="6836172" y="4662743"/>
          <a:ext cx="1264220" cy="302259"/>
        </p:xfrm>
        <a:graphic>
          <a:graphicData uri="http://schemas.openxmlformats.org/drawingml/2006/table">
            <a:tbl>
              <a:tblPr firstRow="1" bandRow="1">
                <a:tableStyleId>{5C22544A-7EE6-4342-B048-85BDC9FD1C3A}</a:tableStyleId>
              </a:tblPr>
              <a:tblGrid>
                <a:gridCol w="180603">
                  <a:extLst>
                    <a:ext uri="{9D8B030D-6E8A-4147-A177-3AD203B41FA5}">
                      <a16:colId xmlns:a16="http://schemas.microsoft.com/office/drawing/2014/main" val="871242339"/>
                    </a:ext>
                  </a:extLst>
                </a:gridCol>
                <a:gridCol w="219521">
                  <a:extLst>
                    <a:ext uri="{9D8B030D-6E8A-4147-A177-3AD203B41FA5}">
                      <a16:colId xmlns:a16="http://schemas.microsoft.com/office/drawing/2014/main" val="337396536"/>
                    </a:ext>
                  </a:extLst>
                </a:gridCol>
                <a:gridCol w="141685">
                  <a:extLst>
                    <a:ext uri="{9D8B030D-6E8A-4147-A177-3AD203B41FA5}">
                      <a16:colId xmlns:a16="http://schemas.microsoft.com/office/drawing/2014/main" val="334335693"/>
                    </a:ext>
                  </a:extLst>
                </a:gridCol>
                <a:gridCol w="180603">
                  <a:extLst>
                    <a:ext uri="{9D8B030D-6E8A-4147-A177-3AD203B41FA5}">
                      <a16:colId xmlns:a16="http://schemas.microsoft.com/office/drawing/2014/main" val="2850820999"/>
                    </a:ext>
                  </a:extLst>
                </a:gridCol>
                <a:gridCol w="180603">
                  <a:extLst>
                    <a:ext uri="{9D8B030D-6E8A-4147-A177-3AD203B41FA5}">
                      <a16:colId xmlns:a16="http://schemas.microsoft.com/office/drawing/2014/main" val="3242229700"/>
                    </a:ext>
                  </a:extLst>
                </a:gridCol>
                <a:gridCol w="361205">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427" name="文字方塊 426">
            <a:extLst>
              <a:ext uri="{FF2B5EF4-FFF2-40B4-BE49-F238E27FC236}">
                <a16:creationId xmlns:a16="http://schemas.microsoft.com/office/drawing/2014/main" id="{217E2122-45A9-A144-4DC3-8F6B407AD7D6}"/>
              </a:ext>
            </a:extLst>
          </p:cNvPr>
          <p:cNvSpPr txBox="1"/>
          <p:nvPr/>
        </p:nvSpPr>
        <p:spPr>
          <a:xfrm>
            <a:off x="6836172" y="4475026"/>
            <a:ext cx="646847" cy="203300"/>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Sigmoid</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35" name="矩形 434">
            <a:extLst>
              <a:ext uri="{FF2B5EF4-FFF2-40B4-BE49-F238E27FC236}">
                <a16:creationId xmlns:a16="http://schemas.microsoft.com/office/drawing/2014/main" id="{93C22FB2-90C1-F53F-B011-B636863DE760}"/>
              </a:ext>
            </a:extLst>
          </p:cNvPr>
          <p:cNvSpPr/>
          <p:nvPr/>
        </p:nvSpPr>
        <p:spPr>
          <a:xfrm>
            <a:off x="282880"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37" name="矩形 436">
            <a:extLst>
              <a:ext uri="{FF2B5EF4-FFF2-40B4-BE49-F238E27FC236}">
                <a16:creationId xmlns:a16="http://schemas.microsoft.com/office/drawing/2014/main" id="{BEAB8542-2686-4514-E959-9EA174D19FBC}"/>
              </a:ext>
            </a:extLst>
          </p:cNvPr>
          <p:cNvSpPr/>
          <p:nvPr/>
        </p:nvSpPr>
        <p:spPr>
          <a:xfrm>
            <a:off x="1939064"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448" name="接點: 肘形 447">
            <a:extLst>
              <a:ext uri="{FF2B5EF4-FFF2-40B4-BE49-F238E27FC236}">
                <a16:creationId xmlns:a16="http://schemas.microsoft.com/office/drawing/2014/main" id="{86BDD8D5-6E1C-36F0-C470-332C3C95F5EA}"/>
              </a:ext>
            </a:extLst>
          </p:cNvPr>
          <p:cNvCxnSpPr>
            <a:cxnSpLocks/>
            <a:stCxn id="363" idx="3"/>
          </p:cNvCxnSpPr>
          <p:nvPr/>
        </p:nvCxnSpPr>
        <p:spPr>
          <a:xfrm flipV="1">
            <a:off x="7786971" y="3573095"/>
            <a:ext cx="705044" cy="398354"/>
          </a:xfrm>
          <a:prstGeom prst="bentConnector2">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466" name="文字方塊 465">
            <a:extLst>
              <a:ext uri="{FF2B5EF4-FFF2-40B4-BE49-F238E27FC236}">
                <a16:creationId xmlns:a16="http://schemas.microsoft.com/office/drawing/2014/main" id="{601CD636-6C2B-D4B4-38E8-3B3134827941}"/>
              </a:ext>
            </a:extLst>
          </p:cNvPr>
          <p:cNvSpPr txBox="1"/>
          <p:nvPr/>
        </p:nvSpPr>
        <p:spPr>
          <a:xfrm>
            <a:off x="6823274" y="3191127"/>
            <a:ext cx="1135886" cy="209227"/>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Layer</a:t>
            </a:r>
            <a:r>
              <a:rPr lang="zh-TW" altLang="en-US" sz="1200" dirty="0">
                <a:solidFill>
                  <a:prstClr val="black"/>
                </a:solidFill>
                <a:ea typeface="Cambria Math" panose="02040503050406030204" pitchFamily="18" charset="0"/>
              </a:rPr>
              <a:t>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Embedding</a:t>
            </a:r>
          </a:p>
        </p:txBody>
      </p:sp>
      <p:sp>
        <p:nvSpPr>
          <p:cNvPr id="479" name="矩形: 圓角 478">
            <a:extLst>
              <a:ext uri="{FF2B5EF4-FFF2-40B4-BE49-F238E27FC236}">
                <a16:creationId xmlns:a16="http://schemas.microsoft.com/office/drawing/2014/main" id="{BA3675A3-5AB0-EB59-4310-B69F2FF8546E}"/>
              </a:ext>
            </a:extLst>
          </p:cNvPr>
          <p:cNvSpPr/>
          <p:nvPr/>
        </p:nvSpPr>
        <p:spPr>
          <a:xfrm>
            <a:off x="7365587" y="2787416"/>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U</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graphicFrame>
        <p:nvGraphicFramePr>
          <p:cNvPr id="481" name="表格 480">
            <a:extLst>
              <a:ext uri="{FF2B5EF4-FFF2-40B4-BE49-F238E27FC236}">
                <a16:creationId xmlns:a16="http://schemas.microsoft.com/office/drawing/2014/main" id="{7839B24F-E8C9-FA65-5AE0-8708806FC5CF}"/>
              </a:ext>
            </a:extLst>
          </p:cNvPr>
          <p:cNvGraphicFramePr>
            <a:graphicFrameLocks noGrp="1"/>
          </p:cNvGraphicFramePr>
          <p:nvPr/>
        </p:nvGraphicFramePr>
        <p:xfrm>
          <a:off x="5652400" y="2209192"/>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483" name="表格 482">
            <a:extLst>
              <a:ext uri="{FF2B5EF4-FFF2-40B4-BE49-F238E27FC236}">
                <a16:creationId xmlns:a16="http://schemas.microsoft.com/office/drawing/2014/main" id="{AEC15D6B-8F12-7274-D8CA-BBA776A2A819}"/>
              </a:ext>
            </a:extLst>
          </p:cNvPr>
          <p:cNvGraphicFramePr>
            <a:graphicFrameLocks noGrp="1"/>
          </p:cNvGraphicFramePr>
          <p:nvPr/>
        </p:nvGraphicFramePr>
        <p:xfrm>
          <a:off x="6823274" y="2787342"/>
          <a:ext cx="375653" cy="293524"/>
        </p:xfrm>
        <a:graphic>
          <a:graphicData uri="http://schemas.openxmlformats.org/drawingml/2006/table">
            <a:tbl>
              <a:tblPr firstRow="1" bandRow="1">
                <a:tableStyleId>{5C22544A-7EE6-4342-B048-85BDC9FD1C3A}</a:tableStyleId>
              </a:tblPr>
              <a:tblGrid>
                <a:gridCol w="375653">
                  <a:extLst>
                    <a:ext uri="{9D8B030D-6E8A-4147-A177-3AD203B41FA5}">
                      <a16:colId xmlns:a16="http://schemas.microsoft.com/office/drawing/2014/main" val="871242339"/>
                    </a:ext>
                  </a:extLst>
                </a:gridCol>
              </a:tblGrid>
              <a:tr h="293524">
                <a:tc>
                  <a:txBody>
                    <a:bodyPr/>
                    <a:lstStyle/>
                    <a:p>
                      <a:pPr algn="ctr"/>
                      <a:r>
                        <a:rPr lang="en-US" altLang="zh-TW" sz="1200" b="0" dirty="0">
                          <a:solidFill>
                            <a:schemeClr val="tx1"/>
                          </a:solidFill>
                          <a:latin typeface="+mn-lt"/>
                          <a:ea typeface="ADLaM Display" panose="02010000000000000000" pitchFamily="2" charset="0"/>
                          <a:cs typeface="ADLaM Display" panose="02010000000000000000" pitchFamily="2" charset="0"/>
                        </a:rPr>
                        <a:t>1xd</a:t>
                      </a:r>
                      <a:endParaRPr lang="zh-TW" altLang="en-US" sz="1200" b="0" baseline="-25000" dirty="0">
                        <a:solidFill>
                          <a:schemeClr val="tx1"/>
                        </a:solidFill>
                        <a:latin typeface="+mn-lt"/>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sp>
        <p:nvSpPr>
          <p:cNvPr id="485" name="文字方塊 484">
            <a:extLst>
              <a:ext uri="{FF2B5EF4-FFF2-40B4-BE49-F238E27FC236}">
                <a16:creationId xmlns:a16="http://schemas.microsoft.com/office/drawing/2014/main" id="{9CD13066-2E3A-1DE9-04D9-DE7950BD9F3B}"/>
              </a:ext>
            </a:extLst>
          </p:cNvPr>
          <p:cNvSpPr txBox="1"/>
          <p:nvPr/>
        </p:nvSpPr>
        <p:spPr>
          <a:xfrm>
            <a:off x="7211082" y="2831087"/>
            <a:ext cx="131861" cy="199518"/>
          </a:xfrm>
          <a:prstGeom prst="rect">
            <a:avLst/>
          </a:prstGeom>
          <a:noFill/>
        </p:spPr>
        <p:txBody>
          <a:bodyPr wrap="none" lIns="0" tIns="0" rIns="0" bIns="0" anchor="ctr" anchorCtr="1">
            <a:noAutofit/>
          </a:bodyPr>
          <a:lstStyle/>
          <a:p>
            <a:pPr algn="ctr"/>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87" name="文字方塊 486">
            <a:extLst>
              <a:ext uri="{FF2B5EF4-FFF2-40B4-BE49-F238E27FC236}">
                <a16:creationId xmlns:a16="http://schemas.microsoft.com/office/drawing/2014/main" id="{00BD9021-2B8C-8502-E177-B440F5AB8AD1}"/>
              </a:ext>
            </a:extLst>
          </p:cNvPr>
          <p:cNvSpPr txBox="1"/>
          <p:nvPr/>
        </p:nvSpPr>
        <p:spPr>
          <a:xfrm>
            <a:off x="6588779" y="1981367"/>
            <a:ext cx="313421" cy="273656"/>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lang="en-US" altLang="zh-TW" sz="1400" b="1" dirty="0">
                <a:solidFill>
                  <a:prstClr val="black"/>
                </a:solidFill>
                <a:latin typeface="Calibri" panose="020F0502020204030204" pitchFamily="34" charset="0"/>
                <a:ea typeface="Calibri" panose="020F0502020204030204" pitchFamily="34" charset="0"/>
                <a:cs typeface="Calibri" panose="020F0502020204030204" pitchFamily="34" charset="0"/>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93" name="文字方塊 492">
            <a:extLst>
              <a:ext uri="{FF2B5EF4-FFF2-40B4-BE49-F238E27FC236}">
                <a16:creationId xmlns:a16="http://schemas.microsoft.com/office/drawing/2014/main" id="{98857429-EF92-0990-6978-5031DB735A89}"/>
              </a:ext>
            </a:extLst>
          </p:cNvPr>
          <p:cNvSpPr txBox="1"/>
          <p:nvPr/>
        </p:nvSpPr>
        <p:spPr>
          <a:xfrm>
            <a:off x="5652120" y="1549320"/>
            <a:ext cx="1321377" cy="273655"/>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Residual Connection</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94" name="接點: 弧形 493">
            <a:extLst>
              <a:ext uri="{FF2B5EF4-FFF2-40B4-BE49-F238E27FC236}">
                <a16:creationId xmlns:a16="http://schemas.microsoft.com/office/drawing/2014/main" id="{FFB0C882-736B-3D0F-5CA2-57A6C262E225}"/>
              </a:ext>
            </a:extLst>
          </p:cNvPr>
          <p:cNvCxnSpPr>
            <a:cxnSpLocks/>
            <a:stCxn id="479" idx="3"/>
            <a:endCxn id="481" idx="3"/>
          </p:cNvCxnSpPr>
          <p:nvPr/>
        </p:nvCxnSpPr>
        <p:spPr>
          <a:xfrm flipV="1">
            <a:off x="7653055" y="2340119"/>
            <a:ext cx="519345" cy="598427"/>
          </a:xfrm>
          <a:prstGeom prst="curvedConnector3">
            <a:avLst>
              <a:gd name="adj1" fmla="val 144017"/>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 name="右大括弧 5">
            <a:extLst>
              <a:ext uri="{FF2B5EF4-FFF2-40B4-BE49-F238E27FC236}">
                <a16:creationId xmlns:a16="http://schemas.microsoft.com/office/drawing/2014/main" id="{9A46D70C-1717-CAF4-6D18-D4C0564FAB2C}"/>
              </a:ext>
            </a:extLst>
          </p:cNvPr>
          <p:cNvSpPr/>
          <p:nvPr/>
        </p:nvSpPr>
        <p:spPr>
          <a:xfrm rot="5400000">
            <a:off x="6865727" y="4375632"/>
            <a:ext cx="92783" cy="2519999"/>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9" name="文字方塊 8">
            <a:extLst>
              <a:ext uri="{FF2B5EF4-FFF2-40B4-BE49-F238E27FC236}">
                <a16:creationId xmlns:a16="http://schemas.microsoft.com/office/drawing/2014/main" id="{ACE49DA1-6208-1E69-1C0F-930C8428F673}"/>
              </a:ext>
            </a:extLst>
          </p:cNvPr>
          <p:cNvSpPr txBox="1"/>
          <p:nvPr/>
        </p:nvSpPr>
        <p:spPr>
          <a:xfrm>
            <a:off x="6712434" y="5620158"/>
            <a:ext cx="247476" cy="226195"/>
          </a:xfrm>
          <a:prstGeom prst="rect">
            <a:avLst/>
          </a:prstGeom>
          <a:noFill/>
        </p:spPr>
        <p:txBody>
          <a:bodyPr wrap="none" lIns="0" tIns="0" rIns="0" bIns="0" anchor="ctr" anchorCtr="1">
            <a:noAutofit/>
          </a:bodyPr>
          <a:lstStyle/>
          <a:p>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D</a:t>
            </a:r>
          </a:p>
        </p:txBody>
      </p:sp>
      <p:sp>
        <p:nvSpPr>
          <p:cNvPr id="8" name="標題 1">
            <a:extLst>
              <a:ext uri="{FF2B5EF4-FFF2-40B4-BE49-F238E27FC236}">
                <a16:creationId xmlns:a16="http://schemas.microsoft.com/office/drawing/2014/main" id="{0B62D1D7-7CA2-48B3-1C24-713F566C49BE}"/>
              </a:ext>
            </a:extLst>
          </p:cNvPr>
          <p:cNvSpPr txBox="1">
            <a:spLocks/>
          </p:cNvSpPr>
          <p:nvPr/>
        </p:nvSpPr>
        <p:spPr>
          <a:xfrm>
            <a:off x="179512" y="116632"/>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DeepSeek-V4</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An ultra-cost-efficient hardware maximizer that slashes KV cache memory by over 90% through shared and fine-grained expert architectures. </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1" name="文字方塊 10">
            <a:extLst>
              <a:ext uri="{FF2B5EF4-FFF2-40B4-BE49-F238E27FC236}">
                <a16:creationId xmlns:a16="http://schemas.microsoft.com/office/drawing/2014/main" id="{950C84E0-E5F5-49C5-73CB-91FBAFA3FE1F}"/>
              </a:ext>
            </a:extLst>
          </p:cNvPr>
          <p:cNvSpPr txBox="1"/>
          <p:nvPr/>
        </p:nvSpPr>
        <p:spPr>
          <a:xfrm>
            <a:off x="5290094" y="5891739"/>
            <a:ext cx="307455" cy="300850"/>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P</a:t>
            </a:r>
            <a:r>
              <a:rPr kumimoji="0" lang="en-US" altLang="zh-TW" sz="1400" b="1" u="none" strike="noStrike" kern="1200" cap="none" spc="0" normalizeH="0" baseline="-25000" noProof="0" dirty="0">
                <a:ln>
                  <a:noFill/>
                </a:ln>
                <a:solidFill>
                  <a:prstClr val="black"/>
                </a:solidFill>
                <a:effectLst/>
                <a:uLnTx/>
                <a:uFillTx/>
                <a:ea typeface="Cambria Math" panose="02040503050406030204" pitchFamily="18" charset="0"/>
                <a:cs typeface="+mn-cs"/>
              </a:rPr>
              <a:t>2</a:t>
            </a:r>
            <a:r>
              <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rPr>
              <a:t> =</a:t>
            </a:r>
          </a:p>
        </p:txBody>
      </p:sp>
      <p:graphicFrame>
        <p:nvGraphicFramePr>
          <p:cNvPr id="13" name="表格 12">
            <a:extLst>
              <a:ext uri="{FF2B5EF4-FFF2-40B4-BE49-F238E27FC236}">
                <a16:creationId xmlns:a16="http://schemas.microsoft.com/office/drawing/2014/main" id="{59FD9172-2C29-6298-FF54-BEFC9E35BB57}"/>
              </a:ext>
            </a:extLst>
          </p:cNvPr>
          <p:cNvGraphicFramePr>
            <a:graphicFrameLocks noGrp="1"/>
          </p:cNvGraphicFramePr>
          <p:nvPr>
            <p:extLst>
              <p:ext uri="{D42A27DB-BD31-4B8C-83A1-F6EECF244321}">
                <p14:modId xmlns:p14="http://schemas.microsoft.com/office/powerpoint/2010/main" val="3033043750"/>
              </p:ext>
            </p:extLst>
          </p:nvPr>
        </p:nvGraphicFramePr>
        <p:xfrm>
          <a:off x="5663064" y="5883760"/>
          <a:ext cx="2437328" cy="914400"/>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0.08</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0.92</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39663110"/>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5127993"/>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52413032"/>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59252951"/>
                  </a:ext>
                </a:extLst>
              </a:tr>
            </a:tbl>
          </a:graphicData>
        </a:graphic>
      </p:graphicFrame>
      <p:sp>
        <p:nvSpPr>
          <p:cNvPr id="15" name="矩形 14">
            <a:extLst>
              <a:ext uri="{FF2B5EF4-FFF2-40B4-BE49-F238E27FC236}">
                <a16:creationId xmlns:a16="http://schemas.microsoft.com/office/drawing/2014/main" id="{4CCC2FF0-43AF-EF10-28C3-11AE9B336B2B}"/>
              </a:ext>
            </a:extLst>
          </p:cNvPr>
          <p:cNvSpPr/>
          <p:nvPr/>
        </p:nvSpPr>
        <p:spPr>
          <a:xfrm>
            <a:off x="5612935" y="5893917"/>
            <a:ext cx="2529877" cy="176939"/>
          </a:xfrm>
          <a:prstGeom prst="rect">
            <a:avLst/>
          </a:prstGeom>
          <a:solidFill>
            <a:schemeClr val="accent2">
              <a:lumMod val="20000"/>
              <a:lumOff val="80000"/>
              <a:alpha val="2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spTree>
    <p:extLst>
      <p:ext uri="{BB962C8B-B14F-4D97-AF65-F5344CB8AC3E}">
        <p14:creationId xmlns:p14="http://schemas.microsoft.com/office/powerpoint/2010/main" val="42760692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F2DBCD-E36C-4249-43A3-591218F550AD}"/>
            </a:ext>
          </a:extLst>
        </p:cNvPr>
        <p:cNvGrpSpPr/>
        <p:nvPr/>
      </p:nvGrpSpPr>
      <p:grpSpPr>
        <a:xfrm>
          <a:off x="0" y="0"/>
          <a:ext cx="0" cy="0"/>
          <a:chOff x="0" y="0"/>
          <a:chExt cx="0" cy="0"/>
        </a:xfrm>
      </p:grpSpPr>
      <p:sp>
        <p:nvSpPr>
          <p:cNvPr id="5" name="標題 1">
            <a:extLst>
              <a:ext uri="{FF2B5EF4-FFF2-40B4-BE49-F238E27FC236}">
                <a16:creationId xmlns:a16="http://schemas.microsoft.com/office/drawing/2014/main" id="{86AA1F60-58D7-F9B1-6D45-13DD2B5DA90F}"/>
              </a:ext>
            </a:extLst>
          </p:cNvPr>
          <p:cNvSpPr txBox="1">
            <a:spLocks/>
          </p:cNvSpPr>
          <p:nvPr/>
        </p:nvSpPr>
        <p:spPr>
          <a:xfrm>
            <a:off x="179511" y="116632"/>
            <a:ext cx="6768753"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Optimizer</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p>
        </p:txBody>
      </p:sp>
      <p:sp>
        <p:nvSpPr>
          <p:cNvPr id="3" name="文字方塊 2">
            <a:extLst>
              <a:ext uri="{FF2B5EF4-FFF2-40B4-BE49-F238E27FC236}">
                <a16:creationId xmlns:a16="http://schemas.microsoft.com/office/drawing/2014/main" id="{0EDD6D9C-A978-91F6-3789-64D81D9F0816}"/>
              </a:ext>
            </a:extLst>
          </p:cNvPr>
          <p:cNvSpPr txBox="1"/>
          <p:nvPr/>
        </p:nvSpPr>
        <p:spPr>
          <a:xfrm>
            <a:off x="695839" y="2781903"/>
            <a:ext cx="1005212" cy="740351"/>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SGD</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Stochastic</a:t>
            </a:r>
          </a:p>
          <a:p>
            <a:pPr algn="ctr"/>
            <a:r>
              <a:rPr lang="en-US" altLang="zh-TW" sz="1000" dirty="0">
                <a:solidFill>
                  <a:prstClr val="black"/>
                </a:solidFill>
                <a:ea typeface="Cambria Math" panose="02040503050406030204" pitchFamily="18" charset="0"/>
              </a:rPr>
              <a:t>Gradient</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Descent</a:t>
            </a:r>
          </a:p>
        </p:txBody>
      </p:sp>
      <p:pic>
        <p:nvPicPr>
          <p:cNvPr id="4" name="圖片 3">
            <a:extLst>
              <a:ext uri="{FF2B5EF4-FFF2-40B4-BE49-F238E27FC236}">
                <a16:creationId xmlns:a16="http://schemas.microsoft.com/office/drawing/2014/main" id="{3E42D9D0-95A2-92AF-12D9-F820D97983A1}"/>
              </a:ext>
            </a:extLst>
          </p:cNvPr>
          <p:cNvPicPr>
            <a:picLocks noChangeAspect="1"/>
          </p:cNvPicPr>
          <p:nvPr/>
        </p:nvPicPr>
        <p:blipFill>
          <a:blip r:embed="rId2"/>
          <a:stretch>
            <a:fillRect/>
          </a:stretch>
        </p:blipFill>
        <p:spPr>
          <a:xfrm>
            <a:off x="294470" y="1268760"/>
            <a:ext cx="1159890" cy="1281291"/>
          </a:xfrm>
          <a:prstGeom prst="rect">
            <a:avLst/>
          </a:prstGeom>
        </p:spPr>
      </p:pic>
      <p:sp>
        <p:nvSpPr>
          <p:cNvPr id="7" name="文字方塊 6">
            <a:extLst>
              <a:ext uri="{FF2B5EF4-FFF2-40B4-BE49-F238E27FC236}">
                <a16:creationId xmlns:a16="http://schemas.microsoft.com/office/drawing/2014/main" id="{BCAE0738-5BCF-EDD0-10BD-ADAA203AEF16}"/>
              </a:ext>
            </a:extLst>
          </p:cNvPr>
          <p:cNvSpPr txBox="1"/>
          <p:nvPr/>
        </p:nvSpPr>
        <p:spPr>
          <a:xfrm>
            <a:off x="2063991" y="2781904"/>
            <a:ext cx="1005212" cy="740351"/>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SGD +</a:t>
            </a:r>
          </a:p>
          <a:p>
            <a:pPr algn="ctr"/>
            <a:r>
              <a:rPr lang="en-US" altLang="zh-TW" sz="1200" b="1" dirty="0">
                <a:solidFill>
                  <a:prstClr val="black"/>
                </a:solidFill>
                <a:ea typeface="Cambria Math" panose="02040503050406030204" pitchFamily="18" charset="0"/>
              </a:rPr>
              <a:t>Momentum</a:t>
            </a:r>
          </a:p>
          <a:p>
            <a:pPr algn="ctr"/>
            <a:r>
              <a:rPr lang="en-US" altLang="zh-TW" sz="1000" dirty="0">
                <a:solidFill>
                  <a:prstClr val="black"/>
                </a:solidFill>
                <a:ea typeface="Cambria Math" panose="02040503050406030204" pitchFamily="18" charset="0"/>
              </a:rPr>
              <a:t>-</a:t>
            </a:r>
          </a:p>
        </p:txBody>
      </p:sp>
      <p:sp>
        <p:nvSpPr>
          <p:cNvPr id="10" name="文字方塊 9">
            <a:extLst>
              <a:ext uri="{FF2B5EF4-FFF2-40B4-BE49-F238E27FC236}">
                <a16:creationId xmlns:a16="http://schemas.microsoft.com/office/drawing/2014/main" id="{A15F0577-85FD-1352-E80F-EEAE2E7A4FCB}"/>
              </a:ext>
            </a:extLst>
          </p:cNvPr>
          <p:cNvSpPr txBox="1"/>
          <p:nvPr/>
        </p:nvSpPr>
        <p:spPr>
          <a:xfrm>
            <a:off x="3453022" y="2781903"/>
            <a:ext cx="1005212" cy="740351"/>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NAG</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Nesterov’s</a:t>
            </a:r>
          </a:p>
          <a:p>
            <a:pPr algn="ctr"/>
            <a:r>
              <a:rPr lang="en-US" altLang="zh-TW" sz="1000" dirty="0">
                <a:solidFill>
                  <a:prstClr val="black"/>
                </a:solidFill>
                <a:ea typeface="Cambria Math" panose="02040503050406030204" pitchFamily="18" charset="0"/>
              </a:rPr>
              <a:t>Accelerated</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Gradient</a:t>
            </a:r>
          </a:p>
        </p:txBody>
      </p:sp>
      <p:sp>
        <p:nvSpPr>
          <p:cNvPr id="14" name="文字方塊 13">
            <a:extLst>
              <a:ext uri="{FF2B5EF4-FFF2-40B4-BE49-F238E27FC236}">
                <a16:creationId xmlns:a16="http://schemas.microsoft.com/office/drawing/2014/main" id="{E5AD7DEF-5E54-8475-7656-A3A8015053CD}"/>
              </a:ext>
            </a:extLst>
          </p:cNvPr>
          <p:cNvSpPr txBox="1"/>
          <p:nvPr/>
        </p:nvSpPr>
        <p:spPr>
          <a:xfrm>
            <a:off x="4842053" y="2781902"/>
            <a:ext cx="1005212" cy="740351"/>
          </a:xfrm>
          <a:prstGeom prst="rect">
            <a:avLst/>
          </a:prstGeom>
          <a:noFill/>
        </p:spPr>
        <p:txBody>
          <a:bodyPr wrap="none" lIns="0" tIns="0" rIns="0" bIns="0" anchor="ctr" anchorCtr="1">
            <a:noAutofit/>
          </a:bodyPr>
          <a:lstStyle/>
          <a:p>
            <a:pPr algn="ctr"/>
            <a:r>
              <a:rPr lang="en-US" altLang="zh-TW" sz="1200" b="1" dirty="0" err="1">
                <a:solidFill>
                  <a:prstClr val="black"/>
                </a:solidFill>
                <a:ea typeface="Cambria Math" panose="02040503050406030204" pitchFamily="18" charset="0"/>
              </a:rPr>
              <a:t>AdaGrad</a:t>
            </a:r>
            <a:endParaRPr lang="en-US" altLang="zh-TW" sz="1200" b="1" dirty="0">
              <a:solidFill>
                <a:prstClr val="black"/>
              </a:solidFill>
              <a:ea typeface="Cambria Math" panose="02040503050406030204" pitchFamily="18" charset="0"/>
            </a:endParaRP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Ada</a:t>
            </a:r>
          </a:p>
          <a:p>
            <a:pPr algn="ctr"/>
            <a:r>
              <a:rPr lang="en-US" altLang="zh-TW" sz="1000" dirty="0">
                <a:solidFill>
                  <a:prstClr val="black"/>
                </a:solidFill>
                <a:ea typeface="Cambria Math" panose="02040503050406030204" pitchFamily="18" charset="0"/>
              </a:rPr>
              <a:t>Gradient</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Descent</a:t>
            </a:r>
          </a:p>
        </p:txBody>
      </p:sp>
      <p:pic>
        <p:nvPicPr>
          <p:cNvPr id="18" name="圖片 17">
            <a:extLst>
              <a:ext uri="{FF2B5EF4-FFF2-40B4-BE49-F238E27FC236}">
                <a16:creationId xmlns:a16="http://schemas.microsoft.com/office/drawing/2014/main" id="{05C3EA48-29BC-E5B4-BF6D-90570F23564A}"/>
              </a:ext>
            </a:extLst>
          </p:cNvPr>
          <p:cNvPicPr>
            <a:picLocks noChangeAspect="1"/>
          </p:cNvPicPr>
          <p:nvPr/>
        </p:nvPicPr>
        <p:blipFill>
          <a:blip r:embed="rId3"/>
          <a:stretch>
            <a:fillRect/>
          </a:stretch>
        </p:blipFill>
        <p:spPr>
          <a:xfrm>
            <a:off x="123637" y="3701380"/>
            <a:ext cx="2436616" cy="650263"/>
          </a:xfrm>
          <a:prstGeom prst="rect">
            <a:avLst/>
          </a:prstGeom>
          <a:effectLst>
            <a:glow rad="50800">
              <a:schemeClr val="accent4">
                <a:lumMod val="20000"/>
                <a:lumOff val="80000"/>
              </a:schemeClr>
            </a:glow>
          </a:effectLst>
        </p:spPr>
      </p:pic>
      <p:pic>
        <p:nvPicPr>
          <p:cNvPr id="21" name="圖片 20">
            <a:extLst>
              <a:ext uri="{FF2B5EF4-FFF2-40B4-BE49-F238E27FC236}">
                <a16:creationId xmlns:a16="http://schemas.microsoft.com/office/drawing/2014/main" id="{207C12AB-C706-B64E-5657-0ADEEF5902C2}"/>
              </a:ext>
            </a:extLst>
          </p:cNvPr>
          <p:cNvPicPr>
            <a:picLocks noChangeAspect="1"/>
          </p:cNvPicPr>
          <p:nvPr/>
        </p:nvPicPr>
        <p:blipFill>
          <a:blip r:embed="rId4"/>
          <a:stretch>
            <a:fillRect/>
          </a:stretch>
        </p:blipFill>
        <p:spPr>
          <a:xfrm>
            <a:off x="755576" y="5445224"/>
            <a:ext cx="5688632" cy="1060738"/>
          </a:xfrm>
          <a:prstGeom prst="rect">
            <a:avLst/>
          </a:prstGeom>
          <a:effectLst>
            <a:glow rad="50800">
              <a:schemeClr val="bg2">
                <a:lumMod val="50000"/>
              </a:schemeClr>
            </a:glow>
          </a:effectLst>
        </p:spPr>
      </p:pic>
      <p:pic>
        <p:nvPicPr>
          <p:cNvPr id="25" name="圖片 24">
            <a:extLst>
              <a:ext uri="{FF2B5EF4-FFF2-40B4-BE49-F238E27FC236}">
                <a16:creationId xmlns:a16="http://schemas.microsoft.com/office/drawing/2014/main" id="{15A74A9B-470C-3A0B-145A-4C29E8FA6E9D}"/>
              </a:ext>
            </a:extLst>
          </p:cNvPr>
          <p:cNvPicPr>
            <a:picLocks noChangeAspect="1"/>
          </p:cNvPicPr>
          <p:nvPr/>
        </p:nvPicPr>
        <p:blipFill>
          <a:blip r:embed="rId5"/>
          <a:stretch>
            <a:fillRect/>
          </a:stretch>
        </p:blipFill>
        <p:spPr>
          <a:xfrm>
            <a:off x="1682771" y="1916832"/>
            <a:ext cx="2220278" cy="599456"/>
          </a:xfrm>
          <a:prstGeom prst="rect">
            <a:avLst/>
          </a:prstGeom>
        </p:spPr>
      </p:pic>
      <p:pic>
        <p:nvPicPr>
          <p:cNvPr id="27" name="圖片 26">
            <a:extLst>
              <a:ext uri="{FF2B5EF4-FFF2-40B4-BE49-F238E27FC236}">
                <a16:creationId xmlns:a16="http://schemas.microsoft.com/office/drawing/2014/main" id="{0246A359-29ED-A79E-511B-C4123647098C}"/>
              </a:ext>
            </a:extLst>
          </p:cNvPr>
          <p:cNvPicPr>
            <a:picLocks noChangeAspect="1"/>
          </p:cNvPicPr>
          <p:nvPr/>
        </p:nvPicPr>
        <p:blipFill>
          <a:blip r:embed="rId6"/>
          <a:stretch>
            <a:fillRect/>
          </a:stretch>
        </p:blipFill>
        <p:spPr>
          <a:xfrm>
            <a:off x="1660720" y="1215406"/>
            <a:ext cx="2234183" cy="564167"/>
          </a:xfrm>
          <a:prstGeom prst="rect">
            <a:avLst/>
          </a:prstGeom>
        </p:spPr>
      </p:pic>
      <p:pic>
        <p:nvPicPr>
          <p:cNvPr id="31" name="圖片 30">
            <a:extLst>
              <a:ext uri="{FF2B5EF4-FFF2-40B4-BE49-F238E27FC236}">
                <a16:creationId xmlns:a16="http://schemas.microsoft.com/office/drawing/2014/main" id="{DFE4AA7B-4CFB-7F09-610B-22863B264E74}"/>
              </a:ext>
            </a:extLst>
          </p:cNvPr>
          <p:cNvPicPr>
            <a:picLocks noChangeAspect="1"/>
          </p:cNvPicPr>
          <p:nvPr/>
        </p:nvPicPr>
        <p:blipFill>
          <a:blip r:embed="rId7"/>
          <a:stretch>
            <a:fillRect/>
          </a:stretch>
        </p:blipFill>
        <p:spPr>
          <a:xfrm>
            <a:off x="3081665" y="682368"/>
            <a:ext cx="1102126" cy="738983"/>
          </a:xfrm>
          <a:prstGeom prst="rect">
            <a:avLst/>
          </a:prstGeom>
        </p:spPr>
      </p:pic>
      <p:sp>
        <p:nvSpPr>
          <p:cNvPr id="35" name="文字方塊 34">
            <a:extLst>
              <a:ext uri="{FF2B5EF4-FFF2-40B4-BE49-F238E27FC236}">
                <a16:creationId xmlns:a16="http://schemas.microsoft.com/office/drawing/2014/main" id="{E34C2F70-D131-6A71-3D37-111EF670880B}"/>
              </a:ext>
            </a:extLst>
          </p:cNvPr>
          <p:cNvSpPr txBox="1"/>
          <p:nvPr/>
        </p:nvSpPr>
        <p:spPr>
          <a:xfrm>
            <a:off x="6231084" y="2772785"/>
            <a:ext cx="1005212" cy="740351"/>
          </a:xfrm>
          <a:prstGeom prst="rect">
            <a:avLst/>
          </a:prstGeom>
          <a:noFill/>
          <a:effectLst>
            <a:glow rad="114300">
              <a:schemeClr val="accent2"/>
            </a:glow>
            <a:softEdge rad="12700"/>
          </a:effectLst>
        </p:spPr>
        <p:txBody>
          <a:bodyPr wrap="none" lIns="0" tIns="0" rIns="0" bIns="0" anchor="ctr" anchorCtr="1">
            <a:noAutofit/>
          </a:bodyPr>
          <a:lstStyle/>
          <a:p>
            <a:pPr algn="ctr"/>
            <a:r>
              <a:rPr lang="en-US" altLang="zh-TW" sz="1200" b="1" dirty="0" err="1">
                <a:solidFill>
                  <a:prstClr val="black"/>
                </a:solidFill>
                <a:ea typeface="Cambria Math" panose="02040503050406030204" pitchFamily="18" charset="0"/>
              </a:rPr>
              <a:t>RMSProp</a:t>
            </a:r>
            <a:endParaRPr lang="en-US" altLang="zh-TW" sz="1200" b="1" dirty="0">
              <a:solidFill>
                <a:prstClr val="black"/>
              </a:solidFill>
              <a:ea typeface="Cambria Math" panose="02040503050406030204" pitchFamily="18" charset="0"/>
            </a:endParaRP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a:t>
            </a:r>
          </a:p>
        </p:txBody>
      </p:sp>
      <p:grpSp>
        <p:nvGrpSpPr>
          <p:cNvPr id="2" name="群組 1">
            <a:extLst>
              <a:ext uri="{FF2B5EF4-FFF2-40B4-BE49-F238E27FC236}">
                <a16:creationId xmlns:a16="http://schemas.microsoft.com/office/drawing/2014/main" id="{623281E3-0586-017B-EEF2-B923D492DCC6}"/>
              </a:ext>
            </a:extLst>
          </p:cNvPr>
          <p:cNvGrpSpPr/>
          <p:nvPr/>
        </p:nvGrpSpPr>
        <p:grpSpPr>
          <a:xfrm>
            <a:off x="4507739" y="1714453"/>
            <a:ext cx="2656549" cy="994467"/>
            <a:chOff x="3882858" y="1570437"/>
            <a:chExt cx="2656549" cy="994467"/>
          </a:xfrm>
        </p:grpSpPr>
        <p:pic>
          <p:nvPicPr>
            <p:cNvPr id="41" name="圖片 40">
              <a:extLst>
                <a:ext uri="{FF2B5EF4-FFF2-40B4-BE49-F238E27FC236}">
                  <a16:creationId xmlns:a16="http://schemas.microsoft.com/office/drawing/2014/main" id="{CA62DB9E-1B07-6FA2-475D-6FE65D44AE1B}"/>
                </a:ext>
              </a:extLst>
            </p:cNvPr>
            <p:cNvPicPr>
              <a:picLocks noChangeAspect="1"/>
            </p:cNvPicPr>
            <p:nvPr/>
          </p:nvPicPr>
          <p:blipFill>
            <a:blip r:embed="rId8"/>
            <a:stretch>
              <a:fillRect/>
            </a:stretch>
          </p:blipFill>
          <p:spPr>
            <a:xfrm>
              <a:off x="3882858" y="1570437"/>
              <a:ext cx="2086266" cy="657317"/>
            </a:xfrm>
            <a:prstGeom prst="rect">
              <a:avLst/>
            </a:prstGeom>
            <a:effectLst>
              <a:glow rad="50800">
                <a:schemeClr val="accent1">
                  <a:lumMod val="40000"/>
                  <a:lumOff val="60000"/>
                </a:schemeClr>
              </a:glow>
            </a:effectLst>
          </p:spPr>
        </p:pic>
        <p:pic>
          <p:nvPicPr>
            <p:cNvPr id="43" name="圖片 42">
              <a:extLst>
                <a:ext uri="{FF2B5EF4-FFF2-40B4-BE49-F238E27FC236}">
                  <a16:creationId xmlns:a16="http://schemas.microsoft.com/office/drawing/2014/main" id="{BB19E516-DAFA-8C59-0ABB-7A2317726E1B}"/>
                </a:ext>
              </a:extLst>
            </p:cNvPr>
            <p:cNvPicPr>
              <a:picLocks noChangeAspect="1"/>
            </p:cNvPicPr>
            <p:nvPr/>
          </p:nvPicPr>
          <p:blipFill>
            <a:blip r:embed="rId9"/>
            <a:stretch>
              <a:fillRect/>
            </a:stretch>
          </p:blipFill>
          <p:spPr>
            <a:xfrm>
              <a:off x="3959171" y="2135184"/>
              <a:ext cx="2580236" cy="223125"/>
            </a:xfrm>
            <a:prstGeom prst="rect">
              <a:avLst/>
            </a:prstGeom>
            <a:effectLst>
              <a:glow rad="25400">
                <a:schemeClr val="accent1">
                  <a:lumMod val="40000"/>
                  <a:lumOff val="60000"/>
                </a:schemeClr>
              </a:glow>
            </a:effectLst>
          </p:spPr>
        </p:pic>
        <p:pic>
          <p:nvPicPr>
            <p:cNvPr id="45" name="圖片 44">
              <a:extLst>
                <a:ext uri="{FF2B5EF4-FFF2-40B4-BE49-F238E27FC236}">
                  <a16:creationId xmlns:a16="http://schemas.microsoft.com/office/drawing/2014/main" id="{259262C4-DBA7-66AC-ECCB-064629D7BF0B}"/>
                </a:ext>
              </a:extLst>
            </p:cNvPr>
            <p:cNvPicPr>
              <a:picLocks noChangeAspect="1"/>
            </p:cNvPicPr>
            <p:nvPr/>
          </p:nvPicPr>
          <p:blipFill>
            <a:blip r:embed="rId10"/>
            <a:stretch>
              <a:fillRect/>
            </a:stretch>
          </p:blipFill>
          <p:spPr>
            <a:xfrm>
              <a:off x="3959171" y="2337414"/>
              <a:ext cx="1403775" cy="227490"/>
            </a:xfrm>
            <a:prstGeom prst="rect">
              <a:avLst/>
            </a:prstGeom>
            <a:effectLst>
              <a:glow rad="25400">
                <a:schemeClr val="accent1">
                  <a:lumMod val="40000"/>
                  <a:lumOff val="60000"/>
                </a:schemeClr>
              </a:glow>
            </a:effectLst>
          </p:spPr>
        </p:pic>
      </p:grpSp>
      <p:grpSp>
        <p:nvGrpSpPr>
          <p:cNvPr id="74" name="群組 73">
            <a:extLst>
              <a:ext uri="{FF2B5EF4-FFF2-40B4-BE49-F238E27FC236}">
                <a16:creationId xmlns:a16="http://schemas.microsoft.com/office/drawing/2014/main" id="{618E70F5-F50C-936A-373B-C3ACE643F6B4}"/>
              </a:ext>
            </a:extLst>
          </p:cNvPr>
          <p:cNvGrpSpPr/>
          <p:nvPr/>
        </p:nvGrpSpPr>
        <p:grpSpPr>
          <a:xfrm>
            <a:off x="3045614" y="4005064"/>
            <a:ext cx="3182570" cy="1859444"/>
            <a:chOff x="2542188" y="3873812"/>
            <a:chExt cx="3182570" cy="1859444"/>
          </a:xfrm>
        </p:grpSpPr>
        <p:pic>
          <p:nvPicPr>
            <p:cNvPr id="47" name="圖片 46">
              <a:extLst>
                <a:ext uri="{FF2B5EF4-FFF2-40B4-BE49-F238E27FC236}">
                  <a16:creationId xmlns:a16="http://schemas.microsoft.com/office/drawing/2014/main" id="{B6BC6A13-C1B2-13F1-1B1F-F08A81D19AFB}"/>
                </a:ext>
              </a:extLst>
            </p:cNvPr>
            <p:cNvPicPr>
              <a:picLocks noChangeAspect="1"/>
            </p:cNvPicPr>
            <p:nvPr/>
          </p:nvPicPr>
          <p:blipFill>
            <a:blip r:embed="rId11"/>
            <a:stretch>
              <a:fillRect/>
            </a:stretch>
          </p:blipFill>
          <p:spPr>
            <a:xfrm>
              <a:off x="2542188" y="3873812"/>
              <a:ext cx="1456648" cy="923340"/>
            </a:xfrm>
            <a:prstGeom prst="rect">
              <a:avLst/>
            </a:prstGeom>
            <a:effectLst>
              <a:glow rad="50800">
                <a:schemeClr val="tx2"/>
              </a:glow>
            </a:effectLst>
          </p:spPr>
        </p:pic>
        <p:sp>
          <p:nvSpPr>
            <p:cNvPr id="55" name="文字方塊 54">
              <a:extLst>
                <a:ext uri="{FF2B5EF4-FFF2-40B4-BE49-F238E27FC236}">
                  <a16:creationId xmlns:a16="http://schemas.microsoft.com/office/drawing/2014/main" id="{309BF9B5-128D-C8E7-940F-B15484BA4072}"/>
                </a:ext>
              </a:extLst>
            </p:cNvPr>
            <p:cNvSpPr txBox="1"/>
            <p:nvPr/>
          </p:nvSpPr>
          <p:spPr>
            <a:xfrm>
              <a:off x="2938601" y="4717593"/>
              <a:ext cx="2762111" cy="1015663"/>
            </a:xfrm>
            <a:prstGeom prst="rect">
              <a:avLst/>
            </a:prstGeom>
            <a:solidFill>
              <a:schemeClr val="bg1"/>
            </a:solidFill>
            <a:effectLst>
              <a:glow rad="50800">
                <a:schemeClr val="tx2"/>
              </a:glow>
            </a:effectLst>
          </p:spPr>
          <p:txBody>
            <a:bodyPr wrap="square">
              <a:spAutoFit/>
            </a:bodyPr>
            <a:lstStyle/>
            <a:p>
              <a:pPr marL="0" marR="0" indent="0" algn="l">
                <a:buNone/>
              </a:pPr>
              <a:r>
                <a:rPr lang="zh-TW" altLang="zh-TW" sz="1000" b="0" i="0" dirty="0">
                  <a:solidFill>
                    <a:srgbClr val="191B1F"/>
                  </a:solidFill>
                  <a:effectLst/>
                  <a:latin typeface="微軟正黑體" panose="020B0604030504040204" pitchFamily="34" charset="-120"/>
                  <a:ea typeface="微軟正黑體" panose="020B0604030504040204" pitchFamily="34" charset="-120"/>
                </a:rPr>
                <a:t>就是根据当前梯度方向向前走一步之后再计算出来的梯度。通过这种方式，在接近最优解时，Nesterov优化器比</a:t>
              </a:r>
              <a:r>
                <a:rPr lang="zh-TW" altLang="zh-TW" sz="1000" b="0" i="0" u="none" strike="noStrike" dirty="0">
                  <a:solidFill>
                    <a:srgbClr val="09408E"/>
                  </a:solidFill>
                  <a:effectLst/>
                  <a:latin typeface="微軟正黑體" panose="020B0604030504040204" pitchFamily="34" charset="-120"/>
                  <a:ea typeface="微軟正黑體" panose="020B0604030504040204" pitchFamily="34" charset="-120"/>
                  <a:hlinkClick r:id="rId12"/>
                </a:rPr>
                <a:t>标准动量SGD算法</a:t>
              </a:r>
              <a:r>
                <a:rPr lang="zh-TW" altLang="zh-TW" sz="1000" b="0" i="0" dirty="0">
                  <a:solidFill>
                    <a:srgbClr val="191B1F"/>
                  </a:solidFill>
                  <a:effectLst/>
                  <a:latin typeface="微軟正黑體" panose="020B0604030504040204" pitchFamily="34" charset="-120"/>
                  <a:ea typeface="微軟正黑體" panose="020B0604030504040204" pitchFamily="34" charset="-120"/>
                </a:rPr>
                <a:t>有更快的收敛速度。因为这种“前瞻性”的操作能帮助优化器避免走得太远，就像是提前刹车，所以在接近最优解时更加稳定。</a:t>
              </a:r>
              <a:endParaRPr lang="zh-TW" altLang="en-US" sz="1000" dirty="0">
                <a:latin typeface="微軟正黑體" panose="020B0604030504040204" pitchFamily="34" charset="-120"/>
                <a:ea typeface="微軟正黑體" panose="020B0604030504040204" pitchFamily="34" charset="-120"/>
              </a:endParaRPr>
            </a:p>
          </p:txBody>
        </p:sp>
        <p:pic>
          <p:nvPicPr>
            <p:cNvPr id="49" name="圖片 48">
              <a:extLst>
                <a:ext uri="{FF2B5EF4-FFF2-40B4-BE49-F238E27FC236}">
                  <a16:creationId xmlns:a16="http://schemas.microsoft.com/office/drawing/2014/main" id="{ECC39C6B-9DC2-4CBE-7A6F-36D7F7FF3466}"/>
                </a:ext>
              </a:extLst>
            </p:cNvPr>
            <p:cNvPicPr>
              <a:picLocks noChangeAspect="1"/>
            </p:cNvPicPr>
            <p:nvPr/>
          </p:nvPicPr>
          <p:blipFill>
            <a:blip r:embed="rId13"/>
            <a:stretch>
              <a:fillRect/>
            </a:stretch>
          </p:blipFill>
          <p:spPr>
            <a:xfrm>
              <a:off x="3491880" y="4141529"/>
              <a:ext cx="2232878" cy="292628"/>
            </a:xfrm>
            <a:prstGeom prst="rect">
              <a:avLst/>
            </a:prstGeom>
            <a:effectLst>
              <a:glow rad="50800">
                <a:schemeClr val="tx2"/>
              </a:glow>
            </a:effectLst>
          </p:spPr>
        </p:pic>
        <p:pic>
          <p:nvPicPr>
            <p:cNvPr id="51" name="圖片 50">
              <a:extLst>
                <a:ext uri="{FF2B5EF4-FFF2-40B4-BE49-F238E27FC236}">
                  <a16:creationId xmlns:a16="http://schemas.microsoft.com/office/drawing/2014/main" id="{955E8F71-A2DB-504A-1060-AA7778685E2C}"/>
                </a:ext>
              </a:extLst>
            </p:cNvPr>
            <p:cNvPicPr>
              <a:picLocks noChangeAspect="1"/>
            </p:cNvPicPr>
            <p:nvPr/>
          </p:nvPicPr>
          <p:blipFill>
            <a:blip r:embed="rId14"/>
            <a:stretch>
              <a:fillRect/>
            </a:stretch>
          </p:blipFill>
          <p:spPr>
            <a:xfrm>
              <a:off x="4319656" y="4490511"/>
              <a:ext cx="1260901" cy="227082"/>
            </a:xfrm>
            <a:prstGeom prst="rect">
              <a:avLst/>
            </a:prstGeom>
            <a:effectLst>
              <a:glow rad="50800">
                <a:schemeClr val="tx2"/>
              </a:glow>
            </a:effectLst>
          </p:spPr>
        </p:pic>
      </p:grpSp>
      <p:grpSp>
        <p:nvGrpSpPr>
          <p:cNvPr id="75" name="群組 74">
            <a:extLst>
              <a:ext uri="{FF2B5EF4-FFF2-40B4-BE49-F238E27FC236}">
                <a16:creationId xmlns:a16="http://schemas.microsoft.com/office/drawing/2014/main" id="{25F2D184-8ACE-06F5-AE97-7CCE4C518FB5}"/>
              </a:ext>
            </a:extLst>
          </p:cNvPr>
          <p:cNvGrpSpPr/>
          <p:nvPr/>
        </p:nvGrpSpPr>
        <p:grpSpPr>
          <a:xfrm>
            <a:off x="6090567" y="3348054"/>
            <a:ext cx="2081833" cy="945042"/>
            <a:chOff x="6045578" y="3612225"/>
            <a:chExt cx="2081833" cy="945042"/>
          </a:xfrm>
        </p:grpSpPr>
        <p:pic>
          <p:nvPicPr>
            <p:cNvPr id="61" name="圖片 60">
              <a:extLst>
                <a:ext uri="{FF2B5EF4-FFF2-40B4-BE49-F238E27FC236}">
                  <a16:creationId xmlns:a16="http://schemas.microsoft.com/office/drawing/2014/main" id="{71F1B7E1-0FDA-73E1-BD1C-D3F8AF401885}"/>
                </a:ext>
              </a:extLst>
            </p:cNvPr>
            <p:cNvPicPr>
              <a:picLocks noChangeAspect="1"/>
            </p:cNvPicPr>
            <p:nvPr/>
          </p:nvPicPr>
          <p:blipFill>
            <a:blip r:embed="rId15"/>
            <a:stretch>
              <a:fillRect/>
            </a:stretch>
          </p:blipFill>
          <p:spPr>
            <a:xfrm>
              <a:off x="6102055" y="3612225"/>
              <a:ext cx="1735035" cy="474630"/>
            </a:xfrm>
            <a:prstGeom prst="rect">
              <a:avLst/>
            </a:prstGeom>
            <a:effectLst>
              <a:glow rad="50800">
                <a:schemeClr val="accent2"/>
              </a:glow>
            </a:effectLst>
          </p:spPr>
        </p:pic>
        <p:pic>
          <p:nvPicPr>
            <p:cNvPr id="65" name="圖片 64">
              <a:extLst>
                <a:ext uri="{FF2B5EF4-FFF2-40B4-BE49-F238E27FC236}">
                  <a16:creationId xmlns:a16="http://schemas.microsoft.com/office/drawing/2014/main" id="{ECF615E0-E564-1514-B77E-EE87188502FE}"/>
                </a:ext>
              </a:extLst>
            </p:cNvPr>
            <p:cNvPicPr>
              <a:picLocks noChangeAspect="1"/>
            </p:cNvPicPr>
            <p:nvPr/>
          </p:nvPicPr>
          <p:blipFill>
            <a:blip r:embed="rId16"/>
            <a:stretch>
              <a:fillRect/>
            </a:stretch>
          </p:blipFill>
          <p:spPr>
            <a:xfrm>
              <a:off x="6101996" y="4056156"/>
              <a:ext cx="1854380" cy="276920"/>
            </a:xfrm>
            <a:prstGeom prst="rect">
              <a:avLst/>
            </a:prstGeom>
            <a:effectLst>
              <a:glow rad="25400">
                <a:schemeClr val="accent2"/>
              </a:glow>
            </a:effectLst>
          </p:spPr>
        </p:pic>
        <p:sp>
          <p:nvSpPr>
            <p:cNvPr id="69" name="文字方塊 68">
              <a:extLst>
                <a:ext uri="{FF2B5EF4-FFF2-40B4-BE49-F238E27FC236}">
                  <a16:creationId xmlns:a16="http://schemas.microsoft.com/office/drawing/2014/main" id="{468369E3-85D2-7D82-7ED6-4B8326471153}"/>
                </a:ext>
              </a:extLst>
            </p:cNvPr>
            <p:cNvSpPr txBox="1"/>
            <p:nvPr/>
          </p:nvSpPr>
          <p:spPr>
            <a:xfrm>
              <a:off x="6045578" y="4311046"/>
              <a:ext cx="2081833" cy="246221"/>
            </a:xfrm>
            <a:prstGeom prst="rect">
              <a:avLst/>
            </a:prstGeom>
            <a:solidFill>
              <a:schemeClr val="bg1">
                <a:alpha val="40000"/>
              </a:schemeClr>
            </a:solidFill>
            <a:ln>
              <a:solidFill>
                <a:schemeClr val="accent2"/>
              </a:solidFill>
            </a:ln>
          </p:spPr>
          <p:txBody>
            <a:bodyPr wrap="square">
              <a:spAutoFit/>
            </a:bodyPr>
            <a:lstStyle/>
            <a:p>
              <a:r>
                <a:rPr lang="zh-CN" altLang="en-US" sz="1000" dirty="0">
                  <a:latin typeface="微軟正黑體" panose="020B0604030504040204" pitchFamily="34" charset="-120"/>
                  <a:ea typeface="微軟正黑體" panose="020B0604030504040204" pitchFamily="34" charset="-120"/>
                </a:rPr>
                <a:t>代表着历史中所有梯度的平方和</a:t>
              </a:r>
              <a:endParaRPr lang="zh-TW" altLang="en-US" sz="1000" dirty="0">
                <a:latin typeface="微軟正黑體" panose="020B0604030504040204" pitchFamily="34" charset="-120"/>
                <a:ea typeface="微軟正黑體" panose="020B0604030504040204" pitchFamily="34" charset="-120"/>
              </a:endParaRPr>
            </a:p>
          </p:txBody>
        </p:sp>
      </p:grpSp>
    </p:spTree>
    <p:extLst>
      <p:ext uri="{BB962C8B-B14F-4D97-AF65-F5344CB8AC3E}">
        <p14:creationId xmlns:p14="http://schemas.microsoft.com/office/powerpoint/2010/main" val="242559800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0E53AF-4039-27D5-1E16-7BA7DD68C621}"/>
            </a:ext>
          </a:extLst>
        </p:cNvPr>
        <p:cNvGrpSpPr/>
        <p:nvPr/>
      </p:nvGrpSpPr>
      <p:grpSpPr>
        <a:xfrm>
          <a:off x="0" y="0"/>
          <a:ext cx="0" cy="0"/>
          <a:chOff x="0" y="0"/>
          <a:chExt cx="0" cy="0"/>
        </a:xfrm>
      </p:grpSpPr>
      <p:sp>
        <p:nvSpPr>
          <p:cNvPr id="5" name="標題 1">
            <a:extLst>
              <a:ext uri="{FF2B5EF4-FFF2-40B4-BE49-F238E27FC236}">
                <a16:creationId xmlns:a16="http://schemas.microsoft.com/office/drawing/2014/main" id="{7B7E46A5-10E4-B048-8F53-DB5D36B0BE19}"/>
              </a:ext>
            </a:extLst>
          </p:cNvPr>
          <p:cNvSpPr txBox="1">
            <a:spLocks/>
          </p:cNvSpPr>
          <p:nvPr/>
        </p:nvSpPr>
        <p:spPr>
          <a:xfrm>
            <a:off x="179511" y="116632"/>
            <a:ext cx="6768753"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err="1">
                <a:latin typeface="Noto Sans HK" panose="020B0200000000000000" pitchFamily="34" charset="-120"/>
                <a:ea typeface="Noto Sans HK" panose="020B0200000000000000" pitchFamily="34" charset="-120"/>
                <a:cs typeface="Aharoni" panose="020F0502020204030204" pitchFamily="2" charset="-79"/>
              </a:rPr>
              <a:t>AdamW</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The First Principles of LLMs.</a:t>
            </a:r>
          </a:p>
        </p:txBody>
      </p:sp>
      <p:sp>
        <p:nvSpPr>
          <p:cNvPr id="37" name="文字方塊 36">
            <a:extLst>
              <a:ext uri="{FF2B5EF4-FFF2-40B4-BE49-F238E27FC236}">
                <a16:creationId xmlns:a16="http://schemas.microsoft.com/office/drawing/2014/main" id="{A75477C2-792D-52F1-4CA7-1B7180531EB8}"/>
              </a:ext>
            </a:extLst>
          </p:cNvPr>
          <p:cNvSpPr txBox="1"/>
          <p:nvPr/>
        </p:nvSpPr>
        <p:spPr>
          <a:xfrm>
            <a:off x="2771800" y="2772784"/>
            <a:ext cx="1005212" cy="740351"/>
          </a:xfrm>
          <a:prstGeom prst="rect">
            <a:avLst/>
          </a:prstGeom>
          <a:solidFill>
            <a:schemeClr val="accent3">
              <a:lumMod val="20000"/>
              <a:lumOff val="80000"/>
            </a:schemeClr>
          </a:solid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Adam</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SGD</a:t>
            </a:r>
            <a:r>
              <a:rPr kumimoji="0" lang="zh-TW" altLang="en-US" sz="1000" u="none" strike="noStrike" kern="1200" cap="none" spc="0" normalizeH="0" baseline="0" noProof="0" dirty="0">
                <a:ln>
                  <a:noFill/>
                </a:ln>
                <a:solidFill>
                  <a:prstClr val="black"/>
                </a:solidFill>
                <a:effectLst/>
                <a:uLnTx/>
                <a:uFillTx/>
                <a:ea typeface="Cambria Math" panose="02040503050406030204" pitchFamily="18" charset="0"/>
                <a:cs typeface="+mn-cs"/>
              </a:rPr>
              <a:t> </a:t>
            </a: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Momentum</a:t>
            </a:r>
          </a:p>
          <a:p>
            <a:pPr algn="ctr"/>
            <a:r>
              <a:rPr lang="en-US" altLang="zh-TW" sz="1000" dirty="0">
                <a:solidFill>
                  <a:prstClr val="black"/>
                </a:solidFill>
                <a:ea typeface="Cambria Math" panose="02040503050406030204" pitchFamily="18" charset="0"/>
              </a:rPr>
              <a:t>+ </a:t>
            </a:r>
            <a:r>
              <a:rPr lang="en-US" altLang="zh-TW" sz="1000" dirty="0" err="1">
                <a:solidFill>
                  <a:prstClr val="black"/>
                </a:solidFill>
                <a:ea typeface="Cambria Math" panose="02040503050406030204" pitchFamily="18" charset="0"/>
              </a:rPr>
              <a:t>RMSProp</a:t>
            </a:r>
            <a:endPar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71" name="文字方塊 70">
            <a:extLst>
              <a:ext uri="{FF2B5EF4-FFF2-40B4-BE49-F238E27FC236}">
                <a16:creationId xmlns:a16="http://schemas.microsoft.com/office/drawing/2014/main" id="{3EA18BD1-6CA3-B8F0-3C9C-776E7732F598}"/>
              </a:ext>
            </a:extLst>
          </p:cNvPr>
          <p:cNvSpPr txBox="1"/>
          <p:nvPr/>
        </p:nvSpPr>
        <p:spPr>
          <a:xfrm>
            <a:off x="7301833" y="2752702"/>
            <a:ext cx="1005212" cy="740351"/>
          </a:xfrm>
          <a:prstGeom prst="rect">
            <a:avLst/>
          </a:prstGeom>
          <a:solidFill>
            <a:schemeClr val="accent6">
              <a:lumMod val="20000"/>
              <a:lumOff val="80000"/>
            </a:schemeClr>
          </a:solidFill>
        </p:spPr>
        <p:txBody>
          <a:bodyPr wrap="none" lIns="0" tIns="0" rIns="0" bIns="0" anchor="ctr" anchorCtr="1">
            <a:noAutofit/>
          </a:bodyPr>
          <a:lstStyle/>
          <a:p>
            <a:pPr algn="ctr"/>
            <a:r>
              <a:rPr lang="en-US" altLang="zh-TW" sz="1200" b="1" dirty="0" err="1">
                <a:solidFill>
                  <a:prstClr val="black"/>
                </a:solidFill>
                <a:ea typeface="Cambria Math" panose="02040503050406030204" pitchFamily="18" charset="0"/>
              </a:rPr>
              <a:t>AdamW</a:t>
            </a:r>
            <a:endParaRPr lang="en-US" altLang="zh-TW" sz="1200" b="1" dirty="0">
              <a:solidFill>
                <a:prstClr val="black"/>
              </a:solidFill>
              <a:ea typeface="Cambria Math" panose="02040503050406030204" pitchFamily="18" charset="0"/>
            </a:endParaRP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a:t>
            </a:r>
          </a:p>
        </p:txBody>
      </p:sp>
      <p:pic>
        <p:nvPicPr>
          <p:cNvPr id="73" name="圖片 72">
            <a:extLst>
              <a:ext uri="{FF2B5EF4-FFF2-40B4-BE49-F238E27FC236}">
                <a16:creationId xmlns:a16="http://schemas.microsoft.com/office/drawing/2014/main" id="{847D5CFB-EE93-5B26-ABE6-D0768EBAA04C}"/>
              </a:ext>
            </a:extLst>
          </p:cNvPr>
          <p:cNvPicPr>
            <a:picLocks noChangeAspect="1"/>
          </p:cNvPicPr>
          <p:nvPr/>
        </p:nvPicPr>
        <p:blipFill>
          <a:blip r:embed="rId2"/>
          <a:stretch>
            <a:fillRect/>
          </a:stretch>
        </p:blipFill>
        <p:spPr>
          <a:xfrm>
            <a:off x="5724758" y="2458182"/>
            <a:ext cx="3292206" cy="412866"/>
          </a:xfrm>
          <a:prstGeom prst="rect">
            <a:avLst/>
          </a:prstGeom>
          <a:effectLst>
            <a:glow rad="50800">
              <a:schemeClr val="accent6"/>
            </a:glow>
          </a:effectLst>
        </p:spPr>
      </p:pic>
      <p:pic>
        <p:nvPicPr>
          <p:cNvPr id="77" name="圖片 76">
            <a:extLst>
              <a:ext uri="{FF2B5EF4-FFF2-40B4-BE49-F238E27FC236}">
                <a16:creationId xmlns:a16="http://schemas.microsoft.com/office/drawing/2014/main" id="{B357D767-4994-F193-AAB3-2B7E99909C6F}"/>
              </a:ext>
            </a:extLst>
          </p:cNvPr>
          <p:cNvPicPr>
            <a:picLocks noChangeAspect="1"/>
          </p:cNvPicPr>
          <p:nvPr/>
        </p:nvPicPr>
        <p:blipFill>
          <a:blip r:embed="rId3"/>
          <a:stretch>
            <a:fillRect/>
          </a:stretch>
        </p:blipFill>
        <p:spPr>
          <a:xfrm>
            <a:off x="1223559" y="2027987"/>
            <a:ext cx="3791280" cy="843061"/>
          </a:xfrm>
          <a:prstGeom prst="rect">
            <a:avLst/>
          </a:prstGeom>
          <a:effectLst>
            <a:glow rad="127000">
              <a:schemeClr val="accent3"/>
            </a:glow>
          </a:effectLst>
        </p:spPr>
      </p:pic>
    </p:spTree>
    <p:extLst>
      <p:ext uri="{BB962C8B-B14F-4D97-AF65-F5344CB8AC3E}">
        <p14:creationId xmlns:p14="http://schemas.microsoft.com/office/powerpoint/2010/main" val="26607024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標題 1">
            <a:extLst>
              <a:ext uri="{FF2B5EF4-FFF2-40B4-BE49-F238E27FC236}">
                <a16:creationId xmlns:a16="http://schemas.microsoft.com/office/drawing/2014/main" id="{25A7D983-02B0-5CC5-0F21-9C63F71FCEC8}"/>
              </a:ext>
            </a:extLst>
          </p:cNvPr>
          <p:cNvSpPr txBox="1">
            <a:spLocks/>
          </p:cNvSpPr>
          <p:nvPr/>
        </p:nvSpPr>
        <p:spPr>
          <a:xfrm>
            <a:off x="179511" y="116632"/>
            <a:ext cx="6768753"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Scaling Law</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vs  Kimi</a:t>
            </a:r>
            <a:r>
              <a:rPr lang="en-US" altLang="zh-TW" sz="2800" dirty="0">
                <a:latin typeface="Malgun Gothic" panose="020B0503020000020004" pitchFamily="34" charset="-127"/>
                <a:ea typeface="Malgun Gothic" panose="020B0503020000020004" pitchFamily="34" charset="-127"/>
                <a:cs typeface="Aharoni" panose="020F0502020204030204" pitchFamily="2" charset="-79"/>
              </a:rPr>
              <a:t>’</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s</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Scaling Strategy</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K ..</a:t>
            </a:r>
          </a:p>
        </p:txBody>
      </p:sp>
      <p:pic>
        <p:nvPicPr>
          <p:cNvPr id="9" name="圖片 8">
            <a:extLst>
              <a:ext uri="{FF2B5EF4-FFF2-40B4-BE49-F238E27FC236}">
                <a16:creationId xmlns:a16="http://schemas.microsoft.com/office/drawing/2014/main" id="{FC192506-A527-E600-5566-4A160003BBDE}"/>
              </a:ext>
            </a:extLst>
          </p:cNvPr>
          <p:cNvPicPr>
            <a:picLocks noChangeAspect="1"/>
          </p:cNvPicPr>
          <p:nvPr/>
        </p:nvPicPr>
        <p:blipFill>
          <a:blip r:embed="rId2"/>
          <a:stretch>
            <a:fillRect/>
          </a:stretch>
        </p:blipFill>
        <p:spPr>
          <a:xfrm>
            <a:off x="3390842" y="1157705"/>
            <a:ext cx="2671000" cy="2042529"/>
          </a:xfrm>
          <a:prstGeom prst="rect">
            <a:avLst/>
          </a:prstGeom>
        </p:spPr>
      </p:pic>
      <p:pic>
        <p:nvPicPr>
          <p:cNvPr id="11" name="圖片 10">
            <a:extLst>
              <a:ext uri="{FF2B5EF4-FFF2-40B4-BE49-F238E27FC236}">
                <a16:creationId xmlns:a16="http://schemas.microsoft.com/office/drawing/2014/main" id="{FEBF8933-4E25-6F2E-7F5D-E835ADCF20ED}"/>
              </a:ext>
            </a:extLst>
          </p:cNvPr>
          <p:cNvPicPr>
            <a:picLocks noChangeAspect="1"/>
          </p:cNvPicPr>
          <p:nvPr/>
        </p:nvPicPr>
        <p:blipFill>
          <a:blip r:embed="rId3"/>
          <a:stretch>
            <a:fillRect/>
          </a:stretch>
        </p:blipFill>
        <p:spPr>
          <a:xfrm>
            <a:off x="6238776" y="1164576"/>
            <a:ext cx="2679728" cy="2042529"/>
          </a:xfrm>
          <a:prstGeom prst="rect">
            <a:avLst/>
          </a:prstGeom>
        </p:spPr>
      </p:pic>
      <p:pic>
        <p:nvPicPr>
          <p:cNvPr id="13" name="圖片 12">
            <a:extLst>
              <a:ext uri="{FF2B5EF4-FFF2-40B4-BE49-F238E27FC236}">
                <a16:creationId xmlns:a16="http://schemas.microsoft.com/office/drawing/2014/main" id="{6B33F7C6-40D7-FA44-5ADA-47E3C9C99623}"/>
              </a:ext>
            </a:extLst>
          </p:cNvPr>
          <p:cNvPicPr>
            <a:picLocks noChangeAspect="1"/>
          </p:cNvPicPr>
          <p:nvPr/>
        </p:nvPicPr>
        <p:blipFill>
          <a:blip r:embed="rId4"/>
          <a:stretch>
            <a:fillRect/>
          </a:stretch>
        </p:blipFill>
        <p:spPr>
          <a:xfrm>
            <a:off x="225496" y="1163410"/>
            <a:ext cx="2950319" cy="2103630"/>
          </a:xfrm>
          <a:prstGeom prst="rect">
            <a:avLst/>
          </a:prstGeom>
        </p:spPr>
      </p:pic>
      <p:sp>
        <p:nvSpPr>
          <p:cNvPr id="15" name="文字方塊 14">
            <a:extLst>
              <a:ext uri="{FF2B5EF4-FFF2-40B4-BE49-F238E27FC236}">
                <a16:creationId xmlns:a16="http://schemas.microsoft.com/office/drawing/2014/main" id="{1B588763-430B-C125-9DA4-C1F7BDB448EC}"/>
              </a:ext>
            </a:extLst>
          </p:cNvPr>
          <p:cNvSpPr txBox="1"/>
          <p:nvPr/>
        </p:nvSpPr>
        <p:spPr>
          <a:xfrm>
            <a:off x="1011566" y="3290111"/>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Compute</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PF-days, non-embedding</a:t>
            </a:r>
          </a:p>
        </p:txBody>
      </p:sp>
      <p:sp>
        <p:nvSpPr>
          <p:cNvPr id="17" name="文字方塊 16">
            <a:extLst>
              <a:ext uri="{FF2B5EF4-FFF2-40B4-BE49-F238E27FC236}">
                <a16:creationId xmlns:a16="http://schemas.microsoft.com/office/drawing/2014/main" id="{FBF60411-7274-612C-05BC-B94FCB38646E}"/>
              </a:ext>
            </a:extLst>
          </p:cNvPr>
          <p:cNvSpPr txBox="1"/>
          <p:nvPr/>
        </p:nvSpPr>
        <p:spPr>
          <a:xfrm>
            <a:off x="4037253" y="3290111"/>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Dataset Size</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tokens</a:t>
            </a:r>
          </a:p>
        </p:txBody>
      </p:sp>
      <p:sp>
        <p:nvSpPr>
          <p:cNvPr id="19" name="文字方塊 18">
            <a:extLst>
              <a:ext uri="{FF2B5EF4-FFF2-40B4-BE49-F238E27FC236}">
                <a16:creationId xmlns:a16="http://schemas.microsoft.com/office/drawing/2014/main" id="{1C9A1B35-6087-4D88-BC6D-A9C51BE8DB7C}"/>
              </a:ext>
            </a:extLst>
          </p:cNvPr>
          <p:cNvSpPr txBox="1"/>
          <p:nvPr/>
        </p:nvSpPr>
        <p:spPr>
          <a:xfrm>
            <a:off x="6889551" y="3290111"/>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Parameters</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Non-embedding</a:t>
            </a:r>
          </a:p>
        </p:txBody>
      </p:sp>
      <p:sp>
        <p:nvSpPr>
          <p:cNvPr id="23" name="文字方塊 22">
            <a:extLst>
              <a:ext uri="{FF2B5EF4-FFF2-40B4-BE49-F238E27FC236}">
                <a16:creationId xmlns:a16="http://schemas.microsoft.com/office/drawing/2014/main" id="{03C2125C-8CFE-D3FC-DE92-F4581EB15102}"/>
              </a:ext>
            </a:extLst>
          </p:cNvPr>
          <p:cNvSpPr txBox="1"/>
          <p:nvPr/>
        </p:nvSpPr>
        <p:spPr>
          <a:xfrm>
            <a:off x="1011566" y="4077373"/>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Token Efficiency</a:t>
            </a:r>
          </a:p>
          <a:p>
            <a:pPr algn="ctr"/>
            <a:r>
              <a:rPr lang="en-US" altLang="zh-TW" sz="1000" dirty="0">
                <a:solidFill>
                  <a:prstClr val="black"/>
                </a:solidFill>
                <a:ea typeface="Cambria Math" panose="02040503050406030204" pitchFamily="18" charset="0"/>
              </a:rPr>
              <a:t>l</a:t>
            </a:r>
            <a:r>
              <a:rPr kumimoji="0" lang="en-US" altLang="zh-TW" sz="1000" u="none" strike="noStrike" kern="1200" cap="none" spc="0" normalizeH="0" baseline="0" noProof="0" dirty="0" err="1">
                <a:ln>
                  <a:noFill/>
                </a:ln>
                <a:solidFill>
                  <a:prstClr val="black"/>
                </a:solidFill>
                <a:effectLst/>
                <a:uLnTx/>
                <a:uFillTx/>
                <a:ea typeface="Cambria Math" panose="02040503050406030204" pitchFamily="18" charset="0"/>
                <a:cs typeface="+mn-cs"/>
              </a:rPr>
              <a:t>og</a:t>
            </a: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(Loss) </a:t>
            </a: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sym typeface="Wingdings" panose="05000000000000000000" pitchFamily="2" charset="2"/>
              </a:rPr>
              <a:t> log(Training tokens)</a:t>
            </a:r>
            <a:endPar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7" name="文字方塊 26">
            <a:extLst>
              <a:ext uri="{FF2B5EF4-FFF2-40B4-BE49-F238E27FC236}">
                <a16:creationId xmlns:a16="http://schemas.microsoft.com/office/drawing/2014/main" id="{350DA7CC-4E6F-1006-E418-FB6BBE36A6FF}"/>
              </a:ext>
            </a:extLst>
          </p:cNvPr>
          <p:cNvSpPr txBox="1"/>
          <p:nvPr/>
        </p:nvSpPr>
        <p:spPr>
          <a:xfrm>
            <a:off x="4067944" y="4077373"/>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Long Context</a:t>
            </a:r>
          </a:p>
          <a:p>
            <a:pPr algn="ctr"/>
            <a:r>
              <a:rPr lang="en-US" altLang="zh-TW" sz="1000" dirty="0">
                <a:solidFill>
                  <a:prstClr val="black"/>
                </a:solidFill>
                <a:ea typeface="Cambria Math" panose="02040503050406030204" pitchFamily="18" charset="0"/>
              </a:rPr>
              <a:t>Position Loss/token  </a:t>
            </a:r>
            <a:r>
              <a:rPr lang="en-US" altLang="zh-TW" sz="1000" dirty="0">
                <a:solidFill>
                  <a:prstClr val="black"/>
                </a:solidFill>
                <a:ea typeface="Cambria Math" panose="02040503050406030204" pitchFamily="18" charset="0"/>
                <a:sym typeface="Wingdings" panose="05000000000000000000" pitchFamily="2" charset="2"/>
              </a:rPr>
              <a:t> Context position</a:t>
            </a:r>
            <a:endParaRPr lang="en-US" altLang="zh-TW" sz="1000" dirty="0">
              <a:solidFill>
                <a:prstClr val="black"/>
              </a:solidFill>
              <a:ea typeface="Cambria Math" panose="02040503050406030204" pitchFamily="18" charset="0"/>
            </a:endParaRPr>
          </a:p>
        </p:txBody>
      </p:sp>
      <p:sp>
        <p:nvSpPr>
          <p:cNvPr id="33" name="文字方塊 32">
            <a:extLst>
              <a:ext uri="{FF2B5EF4-FFF2-40B4-BE49-F238E27FC236}">
                <a16:creationId xmlns:a16="http://schemas.microsoft.com/office/drawing/2014/main" id="{F2208DFA-2BB8-CD97-2D57-8FAA0EF79701}"/>
              </a:ext>
            </a:extLst>
          </p:cNvPr>
          <p:cNvSpPr txBox="1"/>
          <p:nvPr/>
        </p:nvSpPr>
        <p:spPr>
          <a:xfrm>
            <a:off x="7010247" y="4077072"/>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Agent Swarms</a:t>
            </a:r>
          </a:p>
          <a:p>
            <a:pPr algn="ctr"/>
            <a:r>
              <a:rPr lang="en-US" altLang="zh-TW" sz="1000" dirty="0">
                <a:solidFill>
                  <a:prstClr val="black"/>
                </a:solidFill>
                <a:ea typeface="Cambria Math" panose="02040503050406030204" pitchFamily="18" charset="0"/>
              </a:rPr>
              <a:t>Task complexity </a:t>
            </a:r>
            <a:r>
              <a:rPr lang="en-US" altLang="zh-TW" sz="1000" dirty="0">
                <a:solidFill>
                  <a:prstClr val="black"/>
                </a:solidFill>
                <a:ea typeface="Cambria Math" panose="02040503050406030204" pitchFamily="18" charset="0"/>
                <a:sym typeface="Wingdings" panose="05000000000000000000" pitchFamily="2" charset="2"/>
              </a:rPr>
              <a:t> Number of agents</a:t>
            </a:r>
            <a:endParaRPr lang="en-US" altLang="zh-TW" sz="1000" dirty="0">
              <a:solidFill>
                <a:prstClr val="black"/>
              </a:solidFill>
              <a:ea typeface="Cambria Math" panose="02040503050406030204" pitchFamily="18" charset="0"/>
            </a:endParaRPr>
          </a:p>
        </p:txBody>
      </p:sp>
      <p:pic>
        <p:nvPicPr>
          <p:cNvPr id="37" name="圖片 36">
            <a:extLst>
              <a:ext uri="{FF2B5EF4-FFF2-40B4-BE49-F238E27FC236}">
                <a16:creationId xmlns:a16="http://schemas.microsoft.com/office/drawing/2014/main" id="{6743A732-DF87-690E-A27C-B8A037057841}"/>
              </a:ext>
            </a:extLst>
          </p:cNvPr>
          <p:cNvPicPr>
            <a:picLocks noChangeAspect="1"/>
          </p:cNvPicPr>
          <p:nvPr/>
        </p:nvPicPr>
        <p:blipFill>
          <a:blip r:embed="rId5"/>
          <a:stretch>
            <a:fillRect/>
          </a:stretch>
        </p:blipFill>
        <p:spPr>
          <a:xfrm>
            <a:off x="251520" y="4485622"/>
            <a:ext cx="1488127" cy="1065934"/>
          </a:xfrm>
          <a:prstGeom prst="rect">
            <a:avLst/>
          </a:prstGeom>
        </p:spPr>
      </p:pic>
      <p:pic>
        <p:nvPicPr>
          <p:cNvPr id="39" name="圖片 38">
            <a:extLst>
              <a:ext uri="{FF2B5EF4-FFF2-40B4-BE49-F238E27FC236}">
                <a16:creationId xmlns:a16="http://schemas.microsoft.com/office/drawing/2014/main" id="{2CDF102C-618E-0BFC-91B1-F0CF35A10F45}"/>
              </a:ext>
            </a:extLst>
          </p:cNvPr>
          <p:cNvPicPr>
            <a:picLocks noChangeAspect="1"/>
          </p:cNvPicPr>
          <p:nvPr/>
        </p:nvPicPr>
        <p:blipFill>
          <a:blip r:embed="rId6"/>
          <a:stretch>
            <a:fillRect/>
          </a:stretch>
        </p:blipFill>
        <p:spPr>
          <a:xfrm>
            <a:off x="6810475" y="4485622"/>
            <a:ext cx="1777720" cy="1237889"/>
          </a:xfrm>
          <a:prstGeom prst="rect">
            <a:avLst/>
          </a:prstGeom>
        </p:spPr>
      </p:pic>
      <p:pic>
        <p:nvPicPr>
          <p:cNvPr id="41" name="圖片 40">
            <a:extLst>
              <a:ext uri="{FF2B5EF4-FFF2-40B4-BE49-F238E27FC236}">
                <a16:creationId xmlns:a16="http://schemas.microsoft.com/office/drawing/2014/main" id="{A23BAC22-BE01-3C4C-27B6-57430D8B18A8}"/>
              </a:ext>
            </a:extLst>
          </p:cNvPr>
          <p:cNvPicPr>
            <a:picLocks noChangeAspect="1"/>
          </p:cNvPicPr>
          <p:nvPr/>
        </p:nvPicPr>
        <p:blipFill>
          <a:blip r:embed="rId7"/>
          <a:stretch>
            <a:fillRect/>
          </a:stretch>
        </p:blipFill>
        <p:spPr>
          <a:xfrm>
            <a:off x="3213630" y="4485620"/>
            <a:ext cx="1444934" cy="1065935"/>
          </a:xfrm>
          <a:prstGeom prst="rect">
            <a:avLst/>
          </a:prstGeom>
        </p:spPr>
      </p:pic>
      <p:sp>
        <p:nvSpPr>
          <p:cNvPr id="43" name="文字方塊 42">
            <a:extLst>
              <a:ext uri="{FF2B5EF4-FFF2-40B4-BE49-F238E27FC236}">
                <a16:creationId xmlns:a16="http://schemas.microsoft.com/office/drawing/2014/main" id="{251222A2-2D00-186D-C92E-8C73EDC6465B}"/>
              </a:ext>
            </a:extLst>
          </p:cNvPr>
          <p:cNvSpPr txBox="1"/>
          <p:nvPr/>
        </p:nvSpPr>
        <p:spPr>
          <a:xfrm>
            <a:off x="1115616" y="5849862"/>
            <a:ext cx="1378177" cy="300850"/>
          </a:xfrm>
          <a:prstGeom prst="rect">
            <a:avLst/>
          </a:prstGeom>
          <a:noFill/>
        </p:spPr>
        <p:txBody>
          <a:bodyPr wrap="none" lIns="0" tIns="0" rIns="0" bIns="0" anchor="ctr" anchorCtr="1">
            <a:noAutofit/>
          </a:bodyPr>
          <a:lstStyle/>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sym typeface="Wingdings" panose="05000000000000000000" pitchFamily="2" charset="2"/>
              </a:rPr>
              <a:t>QK-Clip</a:t>
            </a:r>
            <a:endPar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5" name="文字方塊 44">
            <a:extLst>
              <a:ext uri="{FF2B5EF4-FFF2-40B4-BE49-F238E27FC236}">
                <a16:creationId xmlns:a16="http://schemas.microsoft.com/office/drawing/2014/main" id="{137E073D-D39F-B978-EDE5-B4E94491B044}"/>
              </a:ext>
            </a:extLst>
          </p:cNvPr>
          <p:cNvSpPr txBox="1"/>
          <p:nvPr/>
        </p:nvSpPr>
        <p:spPr>
          <a:xfrm>
            <a:off x="4171994" y="5849862"/>
            <a:ext cx="1378177" cy="300850"/>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sym typeface="Wingdings" panose="05000000000000000000" pitchFamily="2" charset="2"/>
              </a:rPr>
              <a:t>Kimi Linear</a:t>
            </a:r>
            <a:endParaRPr lang="en-US" altLang="zh-TW" sz="1200" dirty="0">
              <a:solidFill>
                <a:prstClr val="black"/>
              </a:solidFill>
              <a:ea typeface="Cambria Math" panose="02040503050406030204" pitchFamily="18" charset="0"/>
            </a:endParaRPr>
          </a:p>
        </p:txBody>
      </p:sp>
      <p:sp>
        <p:nvSpPr>
          <p:cNvPr id="47" name="文字方塊 46">
            <a:extLst>
              <a:ext uri="{FF2B5EF4-FFF2-40B4-BE49-F238E27FC236}">
                <a16:creationId xmlns:a16="http://schemas.microsoft.com/office/drawing/2014/main" id="{604FAE4E-7D66-A107-3F09-9D88E3DAE572}"/>
              </a:ext>
            </a:extLst>
          </p:cNvPr>
          <p:cNvSpPr txBox="1"/>
          <p:nvPr/>
        </p:nvSpPr>
        <p:spPr>
          <a:xfrm>
            <a:off x="7114297" y="5849561"/>
            <a:ext cx="1378177" cy="300850"/>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sym typeface="Wingdings" panose="05000000000000000000" pitchFamily="2" charset="2"/>
              </a:rPr>
              <a:t>f agents</a:t>
            </a:r>
            <a:endParaRPr lang="en-US" altLang="zh-TW" sz="1200" dirty="0">
              <a:solidFill>
                <a:prstClr val="black"/>
              </a:solidFill>
              <a:ea typeface="Cambria Math" panose="02040503050406030204" pitchFamily="18" charset="0"/>
            </a:endParaRPr>
          </a:p>
        </p:txBody>
      </p:sp>
      <p:pic>
        <p:nvPicPr>
          <p:cNvPr id="49" name="圖片 48">
            <a:extLst>
              <a:ext uri="{FF2B5EF4-FFF2-40B4-BE49-F238E27FC236}">
                <a16:creationId xmlns:a16="http://schemas.microsoft.com/office/drawing/2014/main" id="{D3F610A2-6BA4-F8DE-E41D-DA2B1DA00336}"/>
              </a:ext>
            </a:extLst>
          </p:cNvPr>
          <p:cNvPicPr>
            <a:picLocks noChangeAspect="1"/>
          </p:cNvPicPr>
          <p:nvPr/>
        </p:nvPicPr>
        <p:blipFill>
          <a:blip r:embed="rId8"/>
          <a:stretch>
            <a:fillRect/>
          </a:stretch>
        </p:blipFill>
        <p:spPr>
          <a:xfrm>
            <a:off x="1804704" y="4485620"/>
            <a:ext cx="1316743" cy="1065935"/>
          </a:xfrm>
          <a:prstGeom prst="rect">
            <a:avLst/>
          </a:prstGeom>
        </p:spPr>
      </p:pic>
    </p:spTree>
    <p:extLst>
      <p:ext uri="{BB962C8B-B14F-4D97-AF65-F5344CB8AC3E}">
        <p14:creationId xmlns:p14="http://schemas.microsoft.com/office/powerpoint/2010/main" val="212495141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標題 1">
            <a:extLst>
              <a:ext uri="{FF2B5EF4-FFF2-40B4-BE49-F238E27FC236}">
                <a16:creationId xmlns:a16="http://schemas.microsoft.com/office/drawing/2014/main" id="{0386F936-F4B8-05C9-432E-EEF681F5A8BD}"/>
              </a:ext>
            </a:extLst>
          </p:cNvPr>
          <p:cNvSpPr txBox="1">
            <a:spLocks/>
          </p:cNvSpPr>
          <p:nvPr/>
        </p:nvSpPr>
        <p:spPr>
          <a:xfrm>
            <a:off x="179511" y="116632"/>
            <a:ext cx="6768753"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Token Efficient</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The--.</a:t>
            </a:r>
          </a:p>
        </p:txBody>
      </p:sp>
      <p:sp>
        <p:nvSpPr>
          <p:cNvPr id="9" name="文字方塊 8">
            <a:extLst>
              <a:ext uri="{FF2B5EF4-FFF2-40B4-BE49-F238E27FC236}">
                <a16:creationId xmlns:a16="http://schemas.microsoft.com/office/drawing/2014/main" id="{F30002D9-A4A4-A587-5D56-5B96D6CF016C}"/>
              </a:ext>
            </a:extLst>
          </p:cNvPr>
          <p:cNvSpPr txBox="1"/>
          <p:nvPr/>
        </p:nvSpPr>
        <p:spPr>
          <a:xfrm>
            <a:off x="179510" y="3615695"/>
            <a:ext cx="7560841" cy="2477601"/>
          </a:xfrm>
          <a:prstGeom prst="rect">
            <a:avLst/>
          </a:prstGeom>
          <a:solidFill>
            <a:schemeClr val="bg1">
              <a:alpha val="90000"/>
            </a:schemeClr>
          </a:solidFill>
        </p:spPr>
        <p:txBody>
          <a:bodyPr wrap="square">
            <a:spAutoFit/>
          </a:bodyPr>
          <a:lstStyle/>
          <a:p>
            <a:pPr>
              <a:lnSpc>
                <a:spcPts val="1800"/>
              </a:lnSpc>
              <a:spcBef>
                <a:spcPts val="600"/>
              </a:spcBef>
              <a:spcAft>
                <a:spcPts val="600"/>
              </a:spcAft>
            </a:pPr>
            <a:r>
              <a:rPr lang="en-US" altLang="zh-TW" sz="2000" b="1" u="none" strike="noStrike" dirty="0">
                <a:effectLst/>
              </a:rPr>
              <a:t>Muon is Scalable for LLM Training</a:t>
            </a:r>
          </a:p>
          <a:p>
            <a:pPr marL="285750" indent="-285750">
              <a:lnSpc>
                <a:spcPts val="1800"/>
              </a:lnSpc>
              <a:spcBef>
                <a:spcPts val="600"/>
              </a:spcBef>
              <a:spcAft>
                <a:spcPts val="600"/>
              </a:spcAft>
              <a:buFont typeface="Wingdings" panose="05000000000000000000" pitchFamily="2" charset="2"/>
              <a:buChar char="Ø"/>
            </a:pPr>
            <a:r>
              <a:rPr lang="en-US" altLang="zh-TW" sz="1600" b="1" dirty="0"/>
              <a:t>Scale Muon Optimizer</a:t>
            </a:r>
          </a:p>
          <a:p>
            <a:pPr marL="742950" lvl="1" indent="-285750">
              <a:lnSpc>
                <a:spcPts val="1800"/>
              </a:lnSpc>
              <a:spcBef>
                <a:spcPts val="600"/>
              </a:spcBef>
              <a:spcAft>
                <a:spcPts val="600"/>
              </a:spcAft>
              <a:buFont typeface="Arial" panose="020B0604020202020204" pitchFamily="34" charset="0"/>
              <a:buChar char="•"/>
            </a:pPr>
            <a:r>
              <a:rPr lang="en-US" altLang="zh-TW" sz="1600" b="1" dirty="0"/>
              <a:t>Weight Decay: </a:t>
            </a:r>
            <a:r>
              <a:rPr lang="en-US" altLang="zh-TW" sz="1600" dirty="0"/>
              <a:t>Critical for scaling to larger models.</a:t>
            </a:r>
          </a:p>
          <a:p>
            <a:pPr marL="742950" lvl="1" indent="-285750">
              <a:lnSpc>
                <a:spcPts val="1800"/>
              </a:lnSpc>
              <a:spcBef>
                <a:spcPts val="600"/>
              </a:spcBef>
              <a:spcAft>
                <a:spcPts val="600"/>
              </a:spcAft>
              <a:buFont typeface="Arial" panose="020B0604020202020204" pitchFamily="34" charset="0"/>
              <a:buChar char="•"/>
            </a:pPr>
            <a:r>
              <a:rPr lang="en-US" altLang="zh-TW" sz="1600" b="1" dirty="0"/>
              <a:t>Consistent RMS Updates: </a:t>
            </a:r>
            <a:r>
              <a:rPr lang="en-US" altLang="zh-TW" sz="1600" dirty="0"/>
              <a:t>Fine-tuning per-parameter update magnitudes, enforcing consistent root-mean-square</a:t>
            </a:r>
            <a:r>
              <a:rPr lang="en-US" altLang="zh-TW" sz="1600" b="1" dirty="0"/>
              <a:t>.</a:t>
            </a:r>
            <a:endParaRPr lang="en-US" altLang="zh-TW" sz="1600" dirty="0"/>
          </a:p>
          <a:p>
            <a:pPr marL="285750" indent="-285750">
              <a:lnSpc>
                <a:spcPts val="1800"/>
              </a:lnSpc>
              <a:spcBef>
                <a:spcPts val="600"/>
              </a:spcBef>
              <a:spcAft>
                <a:spcPts val="600"/>
              </a:spcAft>
              <a:buFont typeface="Wingdings" panose="05000000000000000000" pitchFamily="2" charset="2"/>
              <a:buChar char="Ø"/>
            </a:pPr>
            <a:r>
              <a:rPr lang="en-US" altLang="zh-TW" sz="1600" b="1" dirty="0"/>
              <a:t>Scaling Law: Experimental Results</a:t>
            </a:r>
          </a:p>
          <a:p>
            <a:pPr marL="742950" lvl="1" indent="-285750">
              <a:lnSpc>
                <a:spcPts val="1800"/>
              </a:lnSpc>
              <a:spcBef>
                <a:spcPts val="600"/>
              </a:spcBef>
              <a:spcAft>
                <a:spcPts val="600"/>
              </a:spcAft>
              <a:buFont typeface="Arial" panose="020B0604020202020204" pitchFamily="34" charset="0"/>
              <a:buChar char="•"/>
            </a:pPr>
            <a:r>
              <a:rPr lang="en-US" altLang="zh-TW" sz="1600" b="1" dirty="0"/>
              <a:t>~2x token efficiency (vs </a:t>
            </a:r>
            <a:r>
              <a:rPr lang="en-US" altLang="zh-TW" sz="1600" b="1" dirty="0" err="1"/>
              <a:t>AdamW</a:t>
            </a:r>
            <a:r>
              <a:rPr lang="en-US" altLang="zh-TW" sz="1600" b="1" dirty="0"/>
              <a:t>) </a:t>
            </a:r>
            <a:endParaRPr lang="en-US" altLang="zh-TW" sz="1600" dirty="0"/>
          </a:p>
        </p:txBody>
      </p:sp>
      <p:pic>
        <p:nvPicPr>
          <p:cNvPr id="11" name="圖片 10">
            <a:extLst>
              <a:ext uri="{FF2B5EF4-FFF2-40B4-BE49-F238E27FC236}">
                <a16:creationId xmlns:a16="http://schemas.microsoft.com/office/drawing/2014/main" id="{AC00E7AA-1873-38AF-0CDE-FFD343E4A196}"/>
              </a:ext>
            </a:extLst>
          </p:cNvPr>
          <p:cNvPicPr>
            <a:picLocks noChangeAspect="1"/>
          </p:cNvPicPr>
          <p:nvPr/>
        </p:nvPicPr>
        <p:blipFill>
          <a:blip r:embed="rId2"/>
          <a:stretch>
            <a:fillRect/>
          </a:stretch>
        </p:blipFill>
        <p:spPr>
          <a:xfrm>
            <a:off x="5791900" y="2204864"/>
            <a:ext cx="2312728" cy="1872208"/>
          </a:xfrm>
          <a:prstGeom prst="rect">
            <a:avLst/>
          </a:prstGeom>
        </p:spPr>
      </p:pic>
    </p:spTree>
    <p:extLst>
      <p:ext uri="{BB962C8B-B14F-4D97-AF65-F5344CB8AC3E}">
        <p14:creationId xmlns:p14="http://schemas.microsoft.com/office/powerpoint/2010/main" val="173597710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053FB2-FFFD-E6EE-95FE-18E3B114936D}"/>
            </a:ext>
          </a:extLst>
        </p:cNvPr>
        <p:cNvGrpSpPr/>
        <p:nvPr/>
      </p:nvGrpSpPr>
      <p:grpSpPr>
        <a:xfrm>
          <a:off x="0" y="0"/>
          <a:ext cx="0" cy="0"/>
          <a:chOff x="0" y="0"/>
          <a:chExt cx="0" cy="0"/>
        </a:xfrm>
      </p:grpSpPr>
      <p:sp>
        <p:nvSpPr>
          <p:cNvPr id="56" name="矩形 55">
            <a:extLst>
              <a:ext uri="{FF2B5EF4-FFF2-40B4-BE49-F238E27FC236}">
                <a16:creationId xmlns:a16="http://schemas.microsoft.com/office/drawing/2014/main" id="{EF4CF63F-298C-E5F6-65A4-53806A694550}"/>
              </a:ext>
            </a:extLst>
          </p:cNvPr>
          <p:cNvSpPr/>
          <p:nvPr/>
        </p:nvSpPr>
        <p:spPr>
          <a:xfrm>
            <a:off x="1979712" y="5085185"/>
            <a:ext cx="465295" cy="825514"/>
          </a:xfrm>
          <a:prstGeom prst="rect">
            <a:avLst/>
          </a:prstGeom>
          <a:solidFill>
            <a:schemeClr val="bg1"/>
          </a:solidFill>
          <a:ln w="38100">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b="1" dirty="0">
                <a:solidFill>
                  <a:schemeClr val="bg1">
                    <a:lumMod val="75000"/>
                  </a:schemeClr>
                </a:solidFill>
                <a:ea typeface="微軟正黑體" panose="020B0604030504040204" pitchFamily="34" charset="-120"/>
              </a:rPr>
              <a:t>X</a:t>
            </a:r>
          </a:p>
        </p:txBody>
      </p:sp>
      <p:sp>
        <p:nvSpPr>
          <p:cNvPr id="2" name="矩形 1">
            <a:extLst>
              <a:ext uri="{FF2B5EF4-FFF2-40B4-BE49-F238E27FC236}">
                <a16:creationId xmlns:a16="http://schemas.microsoft.com/office/drawing/2014/main" id="{30B7A68F-2C27-8CD7-3F28-3A6222FAE057}"/>
              </a:ext>
            </a:extLst>
          </p:cNvPr>
          <p:cNvSpPr/>
          <p:nvPr/>
        </p:nvSpPr>
        <p:spPr>
          <a:xfrm>
            <a:off x="6227799" y="6022050"/>
            <a:ext cx="1119629"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FFN(x)*k1</a:t>
            </a:r>
          </a:p>
        </p:txBody>
      </p:sp>
      <p:sp>
        <p:nvSpPr>
          <p:cNvPr id="3" name="矩形 2">
            <a:extLst>
              <a:ext uri="{FF2B5EF4-FFF2-40B4-BE49-F238E27FC236}">
                <a16:creationId xmlns:a16="http://schemas.microsoft.com/office/drawing/2014/main" id="{C9D9E8C0-255B-F8B4-CE7B-95CCB63C99C0}"/>
              </a:ext>
            </a:extLst>
          </p:cNvPr>
          <p:cNvSpPr/>
          <p:nvPr/>
        </p:nvSpPr>
        <p:spPr>
          <a:xfrm>
            <a:off x="7515292" y="6022050"/>
            <a:ext cx="771031"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FFN(x)*k2</a:t>
            </a:r>
          </a:p>
        </p:txBody>
      </p:sp>
      <p:sp>
        <p:nvSpPr>
          <p:cNvPr id="4" name="矩形 3">
            <a:extLst>
              <a:ext uri="{FF2B5EF4-FFF2-40B4-BE49-F238E27FC236}">
                <a16:creationId xmlns:a16="http://schemas.microsoft.com/office/drawing/2014/main" id="{BCD56B9F-3CB5-4823-F9B1-6960FDBC0FB5}"/>
              </a:ext>
            </a:extLst>
          </p:cNvPr>
          <p:cNvSpPr/>
          <p:nvPr/>
        </p:nvSpPr>
        <p:spPr>
          <a:xfrm>
            <a:off x="6202530" y="4194205"/>
            <a:ext cx="2083794" cy="1396319"/>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MoE Router(X)</a:t>
            </a:r>
          </a:p>
        </p:txBody>
      </p:sp>
      <p:sp>
        <p:nvSpPr>
          <p:cNvPr id="5" name="文字方塊 4">
            <a:extLst>
              <a:ext uri="{FF2B5EF4-FFF2-40B4-BE49-F238E27FC236}">
                <a16:creationId xmlns:a16="http://schemas.microsoft.com/office/drawing/2014/main" id="{E91D3EF4-718E-43D3-6A68-4D65ABAEAE94}"/>
              </a:ext>
            </a:extLst>
          </p:cNvPr>
          <p:cNvSpPr txBox="1"/>
          <p:nvPr/>
        </p:nvSpPr>
        <p:spPr>
          <a:xfrm>
            <a:off x="6575500" y="4848653"/>
            <a:ext cx="123404" cy="289683"/>
          </a:xfrm>
          <a:prstGeom prst="rect">
            <a:avLst/>
          </a:prstGeom>
          <a:noFill/>
        </p:spPr>
        <p:txBody>
          <a:bodyPr wrap="none" lIns="0" tIns="0" rIns="0" bIns="0" rtlCol="0" anchor="ctr" anchorCtr="1">
            <a:noAutofit/>
          </a:bodyPr>
          <a:lstStyle/>
          <a:p>
            <a:pPr algn="ctr"/>
            <a:r>
              <a:rPr lang="en-US" altLang="zh-TW" sz="1200" dirty="0">
                <a:latin typeface="Noto Sans HK" panose="020B0200000000000000" pitchFamily="34" charset="-120"/>
                <a:ea typeface="Noto Sans HK" panose="020B0200000000000000" pitchFamily="34" charset="-120"/>
              </a:rPr>
              <a:t>*</a:t>
            </a:r>
            <a:endParaRPr lang="zh-TW" altLang="en-US" sz="1200" dirty="0">
              <a:latin typeface="Noto Sans HK" panose="020B0200000000000000" pitchFamily="34" charset="-120"/>
              <a:ea typeface="Noto Sans HK" panose="020B0200000000000000" pitchFamily="34" charset="-120"/>
            </a:endParaRPr>
          </a:p>
        </p:txBody>
      </p:sp>
      <p:sp>
        <p:nvSpPr>
          <p:cNvPr id="6" name="矩形 5">
            <a:extLst>
              <a:ext uri="{FF2B5EF4-FFF2-40B4-BE49-F238E27FC236}">
                <a16:creationId xmlns:a16="http://schemas.microsoft.com/office/drawing/2014/main" id="{F60B48F6-4AD3-FDBE-6D45-BD5090544A0F}"/>
              </a:ext>
            </a:extLst>
          </p:cNvPr>
          <p:cNvSpPr/>
          <p:nvPr/>
        </p:nvSpPr>
        <p:spPr>
          <a:xfrm>
            <a:off x="7307919" y="4653898"/>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S</a:t>
            </a:r>
            <a:endParaRPr lang="en-US" altLang="zh-TW" sz="1200" b="1" baseline="-25000" dirty="0">
              <a:solidFill>
                <a:schemeClr val="tx1"/>
              </a:solidFill>
              <a:ea typeface="微軟正黑體" panose="020B0604030504040204" pitchFamily="34" charset="-120"/>
            </a:endParaRPr>
          </a:p>
        </p:txBody>
      </p:sp>
      <p:sp>
        <p:nvSpPr>
          <p:cNvPr id="7" name="文字方塊 6">
            <a:extLst>
              <a:ext uri="{FF2B5EF4-FFF2-40B4-BE49-F238E27FC236}">
                <a16:creationId xmlns:a16="http://schemas.microsoft.com/office/drawing/2014/main" id="{38FFBB7D-B5BC-429C-4E65-9D6DC1233F28}"/>
              </a:ext>
            </a:extLst>
          </p:cNvPr>
          <p:cNvSpPr txBox="1"/>
          <p:nvPr/>
        </p:nvSpPr>
        <p:spPr>
          <a:xfrm>
            <a:off x="6202530" y="3180361"/>
            <a:ext cx="307455" cy="300850"/>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P</a:t>
            </a:r>
            <a:r>
              <a:rPr kumimoji="0" lang="en-US" altLang="zh-TW" sz="1400" b="1" u="none" strike="noStrike" kern="1200" cap="none" spc="0" normalizeH="0" baseline="-25000" noProof="0" dirty="0">
                <a:ln>
                  <a:noFill/>
                </a:ln>
                <a:solidFill>
                  <a:prstClr val="black"/>
                </a:solidFill>
                <a:effectLst/>
                <a:uLnTx/>
                <a:uFillTx/>
                <a:ea typeface="Cambria Math" panose="02040503050406030204" pitchFamily="18" charset="0"/>
                <a:cs typeface="+mn-cs"/>
              </a:rPr>
              <a:t>2</a:t>
            </a:r>
            <a:r>
              <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rPr>
              <a:t> =</a:t>
            </a:r>
          </a:p>
        </p:txBody>
      </p:sp>
      <p:sp>
        <p:nvSpPr>
          <p:cNvPr id="8" name="矩形 7">
            <a:extLst>
              <a:ext uri="{FF2B5EF4-FFF2-40B4-BE49-F238E27FC236}">
                <a16:creationId xmlns:a16="http://schemas.microsoft.com/office/drawing/2014/main" id="{35A31170-318B-D58C-C215-E0CD0FCD99FE}"/>
              </a:ext>
            </a:extLst>
          </p:cNvPr>
          <p:cNvSpPr/>
          <p:nvPr/>
        </p:nvSpPr>
        <p:spPr>
          <a:xfrm>
            <a:off x="6291195" y="4653898"/>
            <a:ext cx="254168"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X</a:t>
            </a:r>
          </a:p>
        </p:txBody>
      </p:sp>
      <p:sp>
        <p:nvSpPr>
          <p:cNvPr id="9" name="文字方塊 8">
            <a:extLst>
              <a:ext uri="{FF2B5EF4-FFF2-40B4-BE49-F238E27FC236}">
                <a16:creationId xmlns:a16="http://schemas.microsoft.com/office/drawing/2014/main" id="{9C09900E-1DED-6E3E-EA25-EA3C64BC214D}"/>
              </a:ext>
            </a:extLst>
          </p:cNvPr>
          <p:cNvSpPr txBox="1"/>
          <p:nvPr/>
        </p:nvSpPr>
        <p:spPr>
          <a:xfrm>
            <a:off x="7235911" y="5220514"/>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10" name="矩形 9">
            <a:extLst>
              <a:ext uri="{FF2B5EF4-FFF2-40B4-BE49-F238E27FC236}">
                <a16:creationId xmlns:a16="http://schemas.microsoft.com/office/drawing/2014/main" id="{FF0E46EC-89B8-24B6-E892-4D08DC3DBAAE}"/>
              </a:ext>
            </a:extLst>
          </p:cNvPr>
          <p:cNvSpPr/>
          <p:nvPr/>
        </p:nvSpPr>
        <p:spPr>
          <a:xfrm>
            <a:off x="8030793" y="4653898"/>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2</a:t>
            </a:r>
          </a:p>
        </p:txBody>
      </p:sp>
      <p:sp>
        <p:nvSpPr>
          <p:cNvPr id="11" name="文字方塊 10">
            <a:extLst>
              <a:ext uri="{FF2B5EF4-FFF2-40B4-BE49-F238E27FC236}">
                <a16:creationId xmlns:a16="http://schemas.microsoft.com/office/drawing/2014/main" id="{D585F32F-A502-408B-7DEE-FEA9BA964AF6}"/>
              </a:ext>
            </a:extLst>
          </p:cNvPr>
          <p:cNvSpPr txBox="1"/>
          <p:nvPr/>
        </p:nvSpPr>
        <p:spPr>
          <a:xfrm>
            <a:off x="7481468" y="4749435"/>
            <a:ext cx="502689"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SoftMax</a:t>
            </a:r>
            <a:endParaRPr lang="zh-TW" altLang="en-US" sz="1000" dirty="0"/>
          </a:p>
        </p:txBody>
      </p:sp>
      <p:cxnSp>
        <p:nvCxnSpPr>
          <p:cNvPr id="13" name="接點: 肘形 12">
            <a:extLst>
              <a:ext uri="{FF2B5EF4-FFF2-40B4-BE49-F238E27FC236}">
                <a16:creationId xmlns:a16="http://schemas.microsoft.com/office/drawing/2014/main" id="{5AB074D7-3E7D-11C6-9321-750F6C36C057}"/>
              </a:ext>
            </a:extLst>
          </p:cNvPr>
          <p:cNvCxnSpPr>
            <a:cxnSpLocks/>
            <a:endCxn id="2" idx="1"/>
          </p:cNvCxnSpPr>
          <p:nvPr/>
        </p:nvCxnSpPr>
        <p:spPr>
          <a:xfrm>
            <a:off x="5736151" y="4720547"/>
            <a:ext cx="491648" cy="1412155"/>
          </a:xfrm>
          <a:prstGeom prst="bentConnector3">
            <a:avLst/>
          </a:prstGeom>
          <a:ln w="25400">
            <a:solidFill>
              <a:schemeClr val="accent1"/>
            </a:solidFill>
            <a:tailEnd type="triangle" w="med" len="med"/>
          </a:ln>
        </p:spPr>
        <p:style>
          <a:lnRef idx="1">
            <a:schemeClr val="accent1"/>
          </a:lnRef>
          <a:fillRef idx="0">
            <a:schemeClr val="accent1"/>
          </a:fillRef>
          <a:effectRef idx="0">
            <a:schemeClr val="accent1"/>
          </a:effectRef>
          <a:fontRef idx="minor">
            <a:schemeClr val="tx1"/>
          </a:fontRef>
        </p:style>
      </p:cxnSp>
      <p:cxnSp>
        <p:nvCxnSpPr>
          <p:cNvPr id="14" name="接點: 弧形 13">
            <a:extLst>
              <a:ext uri="{FF2B5EF4-FFF2-40B4-BE49-F238E27FC236}">
                <a16:creationId xmlns:a16="http://schemas.microsoft.com/office/drawing/2014/main" id="{F1AD2B78-2C9A-A675-387C-88CE3529E05E}"/>
              </a:ext>
            </a:extLst>
          </p:cNvPr>
          <p:cNvCxnSpPr>
            <a:cxnSpLocks/>
            <a:stCxn id="20" idx="2"/>
            <a:endCxn id="3" idx="0"/>
          </p:cNvCxnSpPr>
          <p:nvPr/>
        </p:nvCxnSpPr>
        <p:spPr>
          <a:xfrm rot="5400000">
            <a:off x="7694508" y="5609695"/>
            <a:ext cx="618656" cy="206055"/>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15" name="接點: 弧形 14">
            <a:extLst>
              <a:ext uri="{FF2B5EF4-FFF2-40B4-BE49-F238E27FC236}">
                <a16:creationId xmlns:a16="http://schemas.microsoft.com/office/drawing/2014/main" id="{62B6F707-3B3C-CE48-E8BC-1F3EC56750C5}"/>
              </a:ext>
            </a:extLst>
          </p:cNvPr>
          <p:cNvCxnSpPr>
            <a:cxnSpLocks/>
            <a:stCxn id="20" idx="2"/>
            <a:endCxn id="2" idx="0"/>
          </p:cNvCxnSpPr>
          <p:nvPr/>
        </p:nvCxnSpPr>
        <p:spPr>
          <a:xfrm rot="5400000">
            <a:off x="7137911" y="5053098"/>
            <a:ext cx="618656" cy="1319249"/>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6" name="標題 1">
            <a:extLst>
              <a:ext uri="{FF2B5EF4-FFF2-40B4-BE49-F238E27FC236}">
                <a16:creationId xmlns:a16="http://schemas.microsoft.com/office/drawing/2014/main" id="{988AD252-6AAC-12D3-6A54-384E435AB021}"/>
              </a:ext>
            </a:extLst>
          </p:cNvPr>
          <p:cNvSpPr txBox="1">
            <a:spLocks/>
          </p:cNvSpPr>
          <p:nvPr/>
        </p:nvSpPr>
        <p:spPr>
          <a:xfrm>
            <a:off x="7059396" y="5806026"/>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0.08</a:t>
            </a:r>
          </a:p>
        </p:txBody>
      </p:sp>
      <p:sp>
        <p:nvSpPr>
          <p:cNvPr id="17" name="標題 1">
            <a:extLst>
              <a:ext uri="{FF2B5EF4-FFF2-40B4-BE49-F238E27FC236}">
                <a16:creationId xmlns:a16="http://schemas.microsoft.com/office/drawing/2014/main" id="{37CCDACD-CE3A-ABBC-7F87-D14425849903}"/>
              </a:ext>
            </a:extLst>
          </p:cNvPr>
          <p:cNvSpPr txBox="1">
            <a:spLocks/>
          </p:cNvSpPr>
          <p:nvPr/>
        </p:nvSpPr>
        <p:spPr>
          <a:xfrm>
            <a:off x="7947340" y="5806026"/>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0.92</a:t>
            </a:r>
          </a:p>
        </p:txBody>
      </p:sp>
      <p:sp>
        <p:nvSpPr>
          <p:cNvPr id="18" name="文字方塊 17">
            <a:extLst>
              <a:ext uri="{FF2B5EF4-FFF2-40B4-BE49-F238E27FC236}">
                <a16:creationId xmlns:a16="http://schemas.microsoft.com/office/drawing/2014/main" id="{EBD0AAF9-3F83-3A4B-6993-F26188955CB3}"/>
              </a:ext>
            </a:extLst>
          </p:cNvPr>
          <p:cNvSpPr txBox="1"/>
          <p:nvPr/>
        </p:nvSpPr>
        <p:spPr>
          <a:xfrm>
            <a:off x="6910766" y="4797914"/>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9" name="文字方塊 18">
            <a:extLst>
              <a:ext uri="{FF2B5EF4-FFF2-40B4-BE49-F238E27FC236}">
                <a16:creationId xmlns:a16="http://schemas.microsoft.com/office/drawing/2014/main" id="{23B7FA2A-6E1D-8436-2695-AB694CBC01E5}"/>
              </a:ext>
            </a:extLst>
          </p:cNvPr>
          <p:cNvSpPr txBox="1"/>
          <p:nvPr/>
        </p:nvSpPr>
        <p:spPr>
          <a:xfrm>
            <a:off x="7558838" y="4855196"/>
            <a:ext cx="364202" cy="230750"/>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20" name="文字方塊 19">
            <a:extLst>
              <a:ext uri="{FF2B5EF4-FFF2-40B4-BE49-F238E27FC236}">
                <a16:creationId xmlns:a16="http://schemas.microsoft.com/office/drawing/2014/main" id="{2DDE61CA-7857-ACD8-4BA5-1837949360DF}"/>
              </a:ext>
            </a:extLst>
          </p:cNvPr>
          <p:cNvSpPr txBox="1"/>
          <p:nvPr/>
        </p:nvSpPr>
        <p:spPr>
          <a:xfrm>
            <a:off x="7969703" y="5220514"/>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21" name="文字方塊 20">
            <a:extLst>
              <a:ext uri="{FF2B5EF4-FFF2-40B4-BE49-F238E27FC236}">
                <a16:creationId xmlns:a16="http://schemas.microsoft.com/office/drawing/2014/main" id="{D56AD42F-F5A0-5368-4353-9E57881FA6E5}"/>
              </a:ext>
            </a:extLst>
          </p:cNvPr>
          <p:cNvSpPr txBox="1"/>
          <p:nvPr/>
        </p:nvSpPr>
        <p:spPr>
          <a:xfrm>
            <a:off x="6712616" y="5220514"/>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dx16</a:t>
            </a:r>
          </a:p>
        </p:txBody>
      </p:sp>
      <p:sp>
        <p:nvSpPr>
          <p:cNvPr id="22" name="文字方塊 21">
            <a:extLst>
              <a:ext uri="{FF2B5EF4-FFF2-40B4-BE49-F238E27FC236}">
                <a16:creationId xmlns:a16="http://schemas.microsoft.com/office/drawing/2014/main" id="{CF0AD642-CBF1-EFBA-CC80-09161963EEE7}"/>
              </a:ext>
            </a:extLst>
          </p:cNvPr>
          <p:cNvSpPr txBox="1"/>
          <p:nvPr/>
        </p:nvSpPr>
        <p:spPr>
          <a:xfrm>
            <a:off x="6280384" y="5220514"/>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Nxd</a:t>
            </a:r>
          </a:p>
        </p:txBody>
      </p:sp>
      <p:sp>
        <p:nvSpPr>
          <p:cNvPr id="23" name="文字方塊 22">
            <a:extLst>
              <a:ext uri="{FF2B5EF4-FFF2-40B4-BE49-F238E27FC236}">
                <a16:creationId xmlns:a16="http://schemas.microsoft.com/office/drawing/2014/main" id="{963FA891-12E0-B6CB-B4B8-F2D4EA82BC34}"/>
              </a:ext>
            </a:extLst>
          </p:cNvPr>
          <p:cNvSpPr txBox="1"/>
          <p:nvPr/>
        </p:nvSpPr>
        <p:spPr>
          <a:xfrm>
            <a:off x="6905979" y="4749435"/>
            <a:ext cx="382683"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Top 2</a:t>
            </a:r>
            <a:endParaRPr lang="zh-TW" altLang="en-US" sz="1000" dirty="0"/>
          </a:p>
        </p:txBody>
      </p:sp>
      <p:sp>
        <p:nvSpPr>
          <p:cNvPr id="24" name="矩形 23">
            <a:extLst>
              <a:ext uri="{FF2B5EF4-FFF2-40B4-BE49-F238E27FC236}">
                <a16:creationId xmlns:a16="http://schemas.microsoft.com/office/drawing/2014/main" id="{51A8739A-B1BC-CF60-2045-EE0CD80942DE}"/>
              </a:ext>
            </a:extLst>
          </p:cNvPr>
          <p:cNvSpPr/>
          <p:nvPr/>
        </p:nvSpPr>
        <p:spPr>
          <a:xfrm>
            <a:off x="6731855" y="4767977"/>
            <a:ext cx="135693" cy="317969"/>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G</a:t>
            </a:r>
            <a:endParaRPr lang="en-US" altLang="zh-TW" sz="1200" b="1" baseline="-25000" dirty="0">
              <a:solidFill>
                <a:schemeClr val="tx1"/>
              </a:solidFill>
              <a:ea typeface="微軟正黑體" panose="020B0604030504040204" pitchFamily="34" charset="-120"/>
            </a:endParaRPr>
          </a:p>
        </p:txBody>
      </p:sp>
      <p:sp>
        <p:nvSpPr>
          <p:cNvPr id="25" name="矩形 24">
            <a:extLst>
              <a:ext uri="{FF2B5EF4-FFF2-40B4-BE49-F238E27FC236}">
                <a16:creationId xmlns:a16="http://schemas.microsoft.com/office/drawing/2014/main" id="{C67B062C-DD24-E639-4308-97680E62C416}"/>
              </a:ext>
            </a:extLst>
          </p:cNvPr>
          <p:cNvSpPr/>
          <p:nvPr/>
        </p:nvSpPr>
        <p:spPr>
          <a:xfrm>
            <a:off x="6525371" y="3920828"/>
            <a:ext cx="2529877" cy="176939"/>
          </a:xfrm>
          <a:prstGeom prst="rect">
            <a:avLst/>
          </a:prstGeom>
          <a:solidFill>
            <a:schemeClr val="accent2">
              <a:lumMod val="20000"/>
              <a:lumOff val="80000"/>
              <a:alpha val="2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sp>
        <p:nvSpPr>
          <p:cNvPr id="26" name="矩形 25">
            <a:extLst>
              <a:ext uri="{FF2B5EF4-FFF2-40B4-BE49-F238E27FC236}">
                <a16:creationId xmlns:a16="http://schemas.microsoft.com/office/drawing/2014/main" id="{10B2BC11-1E5F-41EC-AC1A-D17A516F9D53}"/>
              </a:ext>
            </a:extLst>
          </p:cNvPr>
          <p:cNvSpPr/>
          <p:nvPr/>
        </p:nvSpPr>
        <p:spPr>
          <a:xfrm>
            <a:off x="6227502" y="6318182"/>
            <a:ext cx="2058821" cy="22130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lumMod val="75000"/>
                  </a:schemeClr>
                </a:solidFill>
                <a:effectLst/>
                <a:uLnTx/>
                <a:uFillTx/>
                <a:latin typeface="Calibri"/>
                <a:ea typeface="微軟正黑體" panose="020B0604030504040204" pitchFamily="34" charset="-120"/>
                <a:cs typeface="+mn-cs"/>
              </a:rPr>
              <a:t>… other Experts</a:t>
            </a:r>
          </a:p>
        </p:txBody>
      </p:sp>
      <p:sp>
        <p:nvSpPr>
          <p:cNvPr id="28" name="矩形 27">
            <a:extLst>
              <a:ext uri="{FF2B5EF4-FFF2-40B4-BE49-F238E27FC236}">
                <a16:creationId xmlns:a16="http://schemas.microsoft.com/office/drawing/2014/main" id="{C40958A2-B6F8-C15F-A408-2391FE127946}"/>
              </a:ext>
            </a:extLst>
          </p:cNvPr>
          <p:cNvSpPr/>
          <p:nvPr/>
        </p:nvSpPr>
        <p:spPr>
          <a:xfrm>
            <a:off x="163939" y="5085185"/>
            <a:ext cx="1219699" cy="308828"/>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ctr"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Attention</a:t>
            </a:r>
          </a:p>
        </p:txBody>
      </p:sp>
      <p:sp>
        <p:nvSpPr>
          <p:cNvPr id="30" name="文字方塊 29">
            <a:extLst>
              <a:ext uri="{FF2B5EF4-FFF2-40B4-BE49-F238E27FC236}">
                <a16:creationId xmlns:a16="http://schemas.microsoft.com/office/drawing/2014/main" id="{8F4C6418-8998-8FE3-6A7B-64FA8F82A6B3}"/>
              </a:ext>
            </a:extLst>
          </p:cNvPr>
          <p:cNvSpPr txBox="1"/>
          <p:nvPr/>
        </p:nvSpPr>
        <p:spPr>
          <a:xfrm>
            <a:off x="2476661" y="5757472"/>
            <a:ext cx="123404" cy="289683"/>
          </a:xfrm>
          <a:prstGeom prst="rect">
            <a:avLst/>
          </a:prstGeom>
          <a:noFill/>
        </p:spPr>
        <p:txBody>
          <a:bodyPr wrap="none" lIns="0" tIns="0" rIns="0" bIns="0" rtlCol="0" anchor="ctr" anchorCtr="1">
            <a:noAutofit/>
          </a:bodyPr>
          <a:lstStyle/>
          <a:p>
            <a:pPr algn="ctr"/>
            <a:r>
              <a:rPr lang="en-US" altLang="zh-TW" sz="1200" dirty="0">
                <a:latin typeface="Noto Sans HK" panose="020B0200000000000000" pitchFamily="34" charset="-120"/>
                <a:ea typeface="Noto Sans HK" panose="020B0200000000000000" pitchFamily="34" charset="-120"/>
              </a:rPr>
              <a:t>*</a:t>
            </a:r>
            <a:endParaRPr lang="zh-TW" altLang="en-US" sz="1200" dirty="0">
              <a:latin typeface="Noto Sans HK" panose="020B0200000000000000" pitchFamily="34" charset="-120"/>
              <a:ea typeface="Noto Sans HK" panose="020B0200000000000000" pitchFamily="34" charset="-120"/>
            </a:endParaRPr>
          </a:p>
        </p:txBody>
      </p:sp>
      <p:sp>
        <p:nvSpPr>
          <p:cNvPr id="32" name="矩形 31">
            <a:extLst>
              <a:ext uri="{FF2B5EF4-FFF2-40B4-BE49-F238E27FC236}">
                <a16:creationId xmlns:a16="http://schemas.microsoft.com/office/drawing/2014/main" id="{0373013C-8B67-9741-763C-0B12EBCE06DB}"/>
              </a:ext>
            </a:extLst>
          </p:cNvPr>
          <p:cNvSpPr/>
          <p:nvPr/>
        </p:nvSpPr>
        <p:spPr>
          <a:xfrm>
            <a:off x="4139952" y="5781516"/>
            <a:ext cx="237234" cy="104777"/>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2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6</a:t>
            </a:r>
          </a:p>
        </p:txBody>
      </p:sp>
      <p:sp>
        <p:nvSpPr>
          <p:cNvPr id="36" name="文字方塊 35">
            <a:extLst>
              <a:ext uri="{FF2B5EF4-FFF2-40B4-BE49-F238E27FC236}">
                <a16:creationId xmlns:a16="http://schemas.microsoft.com/office/drawing/2014/main" id="{3D2F62BA-F010-0488-4844-EC55BDB986CD}"/>
              </a:ext>
            </a:extLst>
          </p:cNvPr>
          <p:cNvSpPr txBox="1"/>
          <p:nvPr/>
        </p:nvSpPr>
        <p:spPr>
          <a:xfrm>
            <a:off x="3289568" y="591041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1x16</a:t>
            </a:r>
          </a:p>
        </p:txBody>
      </p:sp>
      <p:sp>
        <p:nvSpPr>
          <p:cNvPr id="38" name="矩形 37">
            <a:extLst>
              <a:ext uri="{FF2B5EF4-FFF2-40B4-BE49-F238E27FC236}">
                <a16:creationId xmlns:a16="http://schemas.microsoft.com/office/drawing/2014/main" id="{45B14785-C6A4-B1C5-24AE-992CFE5659FA}"/>
              </a:ext>
            </a:extLst>
          </p:cNvPr>
          <p:cNvSpPr/>
          <p:nvPr/>
        </p:nvSpPr>
        <p:spPr>
          <a:xfrm>
            <a:off x="5146979" y="5517232"/>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2</a:t>
            </a:r>
          </a:p>
        </p:txBody>
      </p:sp>
      <p:sp>
        <p:nvSpPr>
          <p:cNvPr id="40" name="文字方塊 39">
            <a:extLst>
              <a:ext uri="{FF2B5EF4-FFF2-40B4-BE49-F238E27FC236}">
                <a16:creationId xmlns:a16="http://schemas.microsoft.com/office/drawing/2014/main" id="{987CD78A-D1B8-7019-4BA5-AB8D626DB688}"/>
              </a:ext>
            </a:extLst>
          </p:cNvPr>
          <p:cNvSpPr txBox="1"/>
          <p:nvPr/>
        </p:nvSpPr>
        <p:spPr>
          <a:xfrm>
            <a:off x="3618690" y="5612769"/>
            <a:ext cx="502689"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SoftMax</a:t>
            </a:r>
            <a:endParaRPr lang="zh-TW" altLang="en-US" sz="1000" dirty="0"/>
          </a:p>
        </p:txBody>
      </p:sp>
      <p:sp>
        <p:nvSpPr>
          <p:cNvPr id="42" name="文字方塊 41">
            <a:extLst>
              <a:ext uri="{FF2B5EF4-FFF2-40B4-BE49-F238E27FC236}">
                <a16:creationId xmlns:a16="http://schemas.microsoft.com/office/drawing/2014/main" id="{EB942EEC-3934-C852-76CB-1FA43A3AD8B7}"/>
              </a:ext>
            </a:extLst>
          </p:cNvPr>
          <p:cNvSpPr txBox="1"/>
          <p:nvPr/>
        </p:nvSpPr>
        <p:spPr>
          <a:xfrm>
            <a:off x="2895777" y="5690024"/>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44" name="文字方塊 43">
            <a:extLst>
              <a:ext uri="{FF2B5EF4-FFF2-40B4-BE49-F238E27FC236}">
                <a16:creationId xmlns:a16="http://schemas.microsoft.com/office/drawing/2014/main" id="{A15CDD8B-AEA9-0B19-BAFF-5F6F8D6D0034}"/>
              </a:ext>
            </a:extLst>
          </p:cNvPr>
          <p:cNvSpPr txBox="1"/>
          <p:nvPr/>
        </p:nvSpPr>
        <p:spPr>
          <a:xfrm>
            <a:off x="3696060" y="5718530"/>
            <a:ext cx="364202" cy="230750"/>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46" name="文字方塊 45">
            <a:extLst>
              <a:ext uri="{FF2B5EF4-FFF2-40B4-BE49-F238E27FC236}">
                <a16:creationId xmlns:a16="http://schemas.microsoft.com/office/drawing/2014/main" id="{648AA5D1-F0A1-6492-49D6-AA447F98958C}"/>
              </a:ext>
            </a:extLst>
          </p:cNvPr>
          <p:cNvSpPr txBox="1"/>
          <p:nvPr/>
        </p:nvSpPr>
        <p:spPr>
          <a:xfrm>
            <a:off x="5085889" y="6083848"/>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48" name="文字方塊 47">
            <a:extLst>
              <a:ext uri="{FF2B5EF4-FFF2-40B4-BE49-F238E27FC236}">
                <a16:creationId xmlns:a16="http://schemas.microsoft.com/office/drawing/2014/main" id="{022D2868-93FE-C4EE-F632-DDFE0801E8DA}"/>
              </a:ext>
            </a:extLst>
          </p:cNvPr>
          <p:cNvSpPr txBox="1"/>
          <p:nvPr/>
        </p:nvSpPr>
        <p:spPr>
          <a:xfrm>
            <a:off x="2621457" y="6093578"/>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dx16</a:t>
            </a:r>
          </a:p>
        </p:txBody>
      </p:sp>
      <p:sp>
        <p:nvSpPr>
          <p:cNvPr id="50" name="文字方塊 49">
            <a:extLst>
              <a:ext uri="{FF2B5EF4-FFF2-40B4-BE49-F238E27FC236}">
                <a16:creationId xmlns:a16="http://schemas.microsoft.com/office/drawing/2014/main" id="{A61551E6-B1F1-188D-F847-727557FAC397}"/>
              </a:ext>
            </a:extLst>
          </p:cNvPr>
          <p:cNvSpPr txBox="1"/>
          <p:nvPr/>
        </p:nvSpPr>
        <p:spPr>
          <a:xfrm>
            <a:off x="2070980" y="5910698"/>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1xd</a:t>
            </a:r>
          </a:p>
        </p:txBody>
      </p:sp>
      <p:sp>
        <p:nvSpPr>
          <p:cNvPr id="52" name="文字方塊 51">
            <a:extLst>
              <a:ext uri="{FF2B5EF4-FFF2-40B4-BE49-F238E27FC236}">
                <a16:creationId xmlns:a16="http://schemas.microsoft.com/office/drawing/2014/main" id="{8E9F3E85-D9B1-854A-6767-4576DDCE3A9D}"/>
              </a:ext>
            </a:extLst>
          </p:cNvPr>
          <p:cNvSpPr txBox="1"/>
          <p:nvPr/>
        </p:nvSpPr>
        <p:spPr>
          <a:xfrm>
            <a:off x="2903792" y="5644960"/>
            <a:ext cx="382683" cy="145147"/>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Top 2</a:t>
            </a:r>
            <a:endParaRPr lang="zh-TW" altLang="en-US" sz="1000" dirty="0"/>
          </a:p>
        </p:txBody>
      </p:sp>
      <p:sp>
        <p:nvSpPr>
          <p:cNvPr id="54" name="矩形 53">
            <a:extLst>
              <a:ext uri="{FF2B5EF4-FFF2-40B4-BE49-F238E27FC236}">
                <a16:creationId xmlns:a16="http://schemas.microsoft.com/office/drawing/2014/main" id="{DA2D575E-21FF-543B-50A3-3F9CBF7C57A0}"/>
              </a:ext>
            </a:extLst>
          </p:cNvPr>
          <p:cNvSpPr/>
          <p:nvPr/>
        </p:nvSpPr>
        <p:spPr>
          <a:xfrm>
            <a:off x="2627783" y="5617141"/>
            <a:ext cx="222611" cy="467344"/>
          </a:xfrm>
          <a:prstGeom prst="rect">
            <a:avLst/>
          </a:prstGeom>
          <a:solidFill>
            <a:schemeClr val="accent6">
              <a:lumMod val="40000"/>
              <a:lumOff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G</a:t>
            </a:r>
            <a:endParaRPr lang="en-US" altLang="zh-TW" sz="1200" b="1" baseline="-25000" dirty="0">
              <a:solidFill>
                <a:schemeClr val="tx1"/>
              </a:solidFill>
              <a:ea typeface="微軟正黑體" panose="020B0604030504040204" pitchFamily="34" charset="-120"/>
            </a:endParaRPr>
          </a:p>
        </p:txBody>
      </p:sp>
      <p:sp>
        <p:nvSpPr>
          <p:cNvPr id="34" name="矩形 33">
            <a:extLst>
              <a:ext uri="{FF2B5EF4-FFF2-40B4-BE49-F238E27FC236}">
                <a16:creationId xmlns:a16="http://schemas.microsoft.com/office/drawing/2014/main" id="{00BB627C-9C7B-229D-4348-5243254E944E}"/>
              </a:ext>
            </a:extLst>
          </p:cNvPr>
          <p:cNvSpPr/>
          <p:nvPr/>
        </p:nvSpPr>
        <p:spPr>
          <a:xfrm>
            <a:off x="1979712" y="5780347"/>
            <a:ext cx="466030" cy="121967"/>
          </a:xfrm>
          <a:prstGeom prst="rect">
            <a:avLst/>
          </a:prstGeom>
          <a:solidFill>
            <a:schemeClr val="accent2">
              <a:lumMod val="75000"/>
              <a:alpha val="20000"/>
            </a:schemeClr>
          </a:solidFill>
          <a:ln w="25400">
            <a:solidFill>
              <a:schemeClr val="accent2">
                <a:lumMod val="75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X</a:t>
            </a:r>
          </a:p>
        </p:txBody>
      </p:sp>
      <p:sp>
        <p:nvSpPr>
          <p:cNvPr id="58" name="矩形 57">
            <a:extLst>
              <a:ext uri="{FF2B5EF4-FFF2-40B4-BE49-F238E27FC236}">
                <a16:creationId xmlns:a16="http://schemas.microsoft.com/office/drawing/2014/main" id="{BA04D4F6-4DAA-AB3A-5188-3B18E65B8171}"/>
              </a:ext>
            </a:extLst>
          </p:cNvPr>
          <p:cNvSpPr/>
          <p:nvPr/>
        </p:nvSpPr>
        <p:spPr>
          <a:xfrm>
            <a:off x="3318052" y="5784269"/>
            <a:ext cx="215174" cy="104777"/>
          </a:xfrm>
          <a:prstGeom prst="rect">
            <a:avLst/>
          </a:prstGeom>
          <a:solidFill>
            <a:schemeClr val="accent6">
              <a:lumMod val="75000"/>
              <a:alpha val="20000"/>
            </a:schemeClr>
          </a:solidFill>
          <a:ln w="38100">
            <a:solidFill>
              <a:schemeClr val="accent2">
                <a:lumMod val="60000"/>
                <a:lumOff val="4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200"/>
              </a:lnSpc>
            </a:pPr>
            <a:r>
              <a:rPr lang="en-US" altLang="zh-TW" sz="1200" b="1" dirty="0">
                <a:solidFill>
                  <a:schemeClr val="tx1"/>
                </a:solidFill>
                <a:ea typeface="微軟正黑體" panose="020B0604030504040204" pitchFamily="34" charset="-120"/>
              </a:rPr>
              <a:t>S</a:t>
            </a:r>
          </a:p>
        </p:txBody>
      </p:sp>
      <p:sp>
        <p:nvSpPr>
          <p:cNvPr id="31" name="標題 1">
            <a:extLst>
              <a:ext uri="{FF2B5EF4-FFF2-40B4-BE49-F238E27FC236}">
                <a16:creationId xmlns:a16="http://schemas.microsoft.com/office/drawing/2014/main" id="{2D66367A-4E82-77C6-1B8A-1A8EC1990F34}"/>
              </a:ext>
            </a:extLst>
          </p:cNvPr>
          <p:cNvSpPr txBox="1">
            <a:spLocks/>
          </p:cNvSpPr>
          <p:nvPr/>
        </p:nvSpPr>
        <p:spPr>
          <a:xfrm>
            <a:off x="179512" y="116632"/>
            <a:ext cx="8712968"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Newton-Schulz</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An u.</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35" name="文字方塊 34">
            <a:extLst>
              <a:ext uri="{FF2B5EF4-FFF2-40B4-BE49-F238E27FC236}">
                <a16:creationId xmlns:a16="http://schemas.microsoft.com/office/drawing/2014/main" id="{69C77415-596C-9F0A-13A0-E973BFADAA86}"/>
              </a:ext>
            </a:extLst>
          </p:cNvPr>
          <p:cNvSpPr txBox="1"/>
          <p:nvPr/>
        </p:nvSpPr>
        <p:spPr>
          <a:xfrm>
            <a:off x="236725" y="1440646"/>
            <a:ext cx="8280922" cy="1477328"/>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DeepSeek : </a:t>
            </a:r>
            <a:r>
              <a:rPr lang="en-US" altLang="zh-TW" sz="1600" dirty="0"/>
              <a:t>F-</a:t>
            </a:r>
          </a:p>
          <a:p>
            <a:pPr marL="285750" indent="-285750">
              <a:lnSpc>
                <a:spcPts val="1800"/>
              </a:lnSpc>
              <a:spcBef>
                <a:spcPts val="600"/>
              </a:spcBef>
              <a:spcAft>
                <a:spcPts val="600"/>
              </a:spcAft>
              <a:buFont typeface="Wingdings" panose="05000000000000000000" pitchFamily="2" charset="2"/>
              <a:buChar char="Ø"/>
            </a:pPr>
            <a:r>
              <a:rPr lang="en-US" altLang="zh-TW" sz="1600" b="1" dirty="0"/>
              <a:t>Key Technology:</a:t>
            </a:r>
            <a:r>
              <a:rPr lang="en-US" altLang="zh-TW" sz="1600" dirty="0"/>
              <a:t> </a:t>
            </a:r>
          </a:p>
          <a:p>
            <a:pPr marL="742950" lvl="1" indent="-285750">
              <a:lnSpc>
                <a:spcPts val="1800"/>
              </a:lnSpc>
              <a:spcBef>
                <a:spcPts val="600"/>
              </a:spcBef>
              <a:buFont typeface="Arial" panose="020B0604020202020204" pitchFamily="34" charset="0"/>
              <a:buChar char="•"/>
            </a:pPr>
            <a:r>
              <a:rPr lang="en-US" altLang="zh-TW" sz="1600" dirty="0"/>
              <a:t>Mu</a:t>
            </a:r>
          </a:p>
        </p:txBody>
      </p:sp>
    </p:spTree>
    <p:extLst>
      <p:ext uri="{BB962C8B-B14F-4D97-AF65-F5344CB8AC3E}">
        <p14:creationId xmlns:p14="http://schemas.microsoft.com/office/powerpoint/2010/main" val="66938635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25F4DC-2C5D-1DF8-C13C-2A98212F622C}"/>
            </a:ext>
          </a:extLst>
        </p:cNvPr>
        <p:cNvGrpSpPr/>
        <p:nvPr/>
      </p:nvGrpSpPr>
      <p:grpSpPr>
        <a:xfrm>
          <a:off x="0" y="0"/>
          <a:ext cx="0" cy="0"/>
          <a:chOff x="0" y="0"/>
          <a:chExt cx="0" cy="0"/>
        </a:xfrm>
      </p:grpSpPr>
      <p:sp>
        <p:nvSpPr>
          <p:cNvPr id="31" name="標題 1">
            <a:extLst>
              <a:ext uri="{FF2B5EF4-FFF2-40B4-BE49-F238E27FC236}">
                <a16:creationId xmlns:a16="http://schemas.microsoft.com/office/drawing/2014/main" id="{F34D51B4-CFFC-D6DB-2D03-A832CBED1EFD}"/>
              </a:ext>
            </a:extLst>
          </p:cNvPr>
          <p:cNvSpPr txBox="1">
            <a:spLocks/>
          </p:cNvSpPr>
          <p:nvPr/>
        </p:nvSpPr>
        <p:spPr>
          <a:xfrm>
            <a:off x="179512" y="116632"/>
            <a:ext cx="8712968"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M</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oment</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u</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m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O</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rthogonalized by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N</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ewton-Schulz</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An ultra-fast optimizer for 2D matrices that updates exclusively via Newton-Schulz orthogonalized direction while completely discarding gradient scale.</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39" name="圖片 38">
            <a:extLst>
              <a:ext uri="{FF2B5EF4-FFF2-40B4-BE49-F238E27FC236}">
                <a16:creationId xmlns:a16="http://schemas.microsoft.com/office/drawing/2014/main" id="{F1A33483-58B1-E17F-DEB4-BB4B30FB8180}"/>
              </a:ext>
            </a:extLst>
          </p:cNvPr>
          <p:cNvPicPr>
            <a:picLocks noChangeAspect="1"/>
          </p:cNvPicPr>
          <p:nvPr/>
        </p:nvPicPr>
        <p:blipFill>
          <a:blip r:embed="rId3"/>
          <a:stretch>
            <a:fillRect/>
          </a:stretch>
        </p:blipFill>
        <p:spPr>
          <a:xfrm>
            <a:off x="0" y="2887754"/>
            <a:ext cx="7596336" cy="3637590"/>
          </a:xfrm>
          <a:prstGeom prst="rect">
            <a:avLst/>
          </a:prstGeom>
        </p:spPr>
      </p:pic>
      <p:pic>
        <p:nvPicPr>
          <p:cNvPr id="43" name="圖片 42">
            <a:extLst>
              <a:ext uri="{FF2B5EF4-FFF2-40B4-BE49-F238E27FC236}">
                <a16:creationId xmlns:a16="http://schemas.microsoft.com/office/drawing/2014/main" id="{94C8EA73-D599-5656-F850-1CFC1A026EED}"/>
              </a:ext>
            </a:extLst>
          </p:cNvPr>
          <p:cNvPicPr>
            <a:picLocks noChangeAspect="1"/>
          </p:cNvPicPr>
          <p:nvPr/>
        </p:nvPicPr>
        <p:blipFill>
          <a:blip r:embed="rId4"/>
          <a:stretch>
            <a:fillRect/>
          </a:stretch>
        </p:blipFill>
        <p:spPr>
          <a:xfrm>
            <a:off x="5486826" y="4315270"/>
            <a:ext cx="3621678" cy="2354090"/>
          </a:xfrm>
          <a:prstGeom prst="rect">
            <a:avLst/>
          </a:prstGeom>
        </p:spPr>
      </p:pic>
    </p:spTree>
    <p:extLst>
      <p:ext uri="{BB962C8B-B14F-4D97-AF65-F5344CB8AC3E}">
        <p14:creationId xmlns:p14="http://schemas.microsoft.com/office/powerpoint/2010/main" val="126055179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868678-8819-BF86-96FB-0D6B0474C460}"/>
            </a:ext>
          </a:extLst>
        </p:cNvPr>
        <p:cNvGrpSpPr/>
        <p:nvPr/>
      </p:nvGrpSpPr>
      <p:grpSpPr>
        <a:xfrm>
          <a:off x="0" y="0"/>
          <a:ext cx="0" cy="0"/>
          <a:chOff x="0" y="0"/>
          <a:chExt cx="0" cy="0"/>
        </a:xfrm>
      </p:grpSpPr>
      <p:sp>
        <p:nvSpPr>
          <p:cNvPr id="5" name="標題 1">
            <a:extLst>
              <a:ext uri="{FF2B5EF4-FFF2-40B4-BE49-F238E27FC236}">
                <a16:creationId xmlns:a16="http://schemas.microsoft.com/office/drawing/2014/main" id="{5C2D5DB0-B13E-CC8D-BEAD-3CFE1FC01260}"/>
              </a:ext>
            </a:extLst>
          </p:cNvPr>
          <p:cNvSpPr txBox="1">
            <a:spLocks/>
          </p:cNvSpPr>
          <p:nvPr/>
        </p:nvSpPr>
        <p:spPr>
          <a:xfrm>
            <a:off x="179511" y="116632"/>
            <a:ext cx="6768753"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Scaling Law</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The First Principles of LLMs.</a:t>
            </a:r>
          </a:p>
        </p:txBody>
      </p:sp>
      <p:pic>
        <p:nvPicPr>
          <p:cNvPr id="9" name="圖片 8">
            <a:extLst>
              <a:ext uri="{FF2B5EF4-FFF2-40B4-BE49-F238E27FC236}">
                <a16:creationId xmlns:a16="http://schemas.microsoft.com/office/drawing/2014/main" id="{C89A2E64-CE39-0D5A-90FD-BC77BBEBB409}"/>
              </a:ext>
            </a:extLst>
          </p:cNvPr>
          <p:cNvPicPr>
            <a:picLocks noChangeAspect="1"/>
          </p:cNvPicPr>
          <p:nvPr/>
        </p:nvPicPr>
        <p:blipFill>
          <a:blip r:embed="rId2"/>
          <a:stretch>
            <a:fillRect/>
          </a:stretch>
        </p:blipFill>
        <p:spPr>
          <a:xfrm>
            <a:off x="3390842" y="1157705"/>
            <a:ext cx="2671000" cy="2042529"/>
          </a:xfrm>
          <a:prstGeom prst="rect">
            <a:avLst/>
          </a:prstGeom>
        </p:spPr>
      </p:pic>
      <p:pic>
        <p:nvPicPr>
          <p:cNvPr id="11" name="圖片 10">
            <a:extLst>
              <a:ext uri="{FF2B5EF4-FFF2-40B4-BE49-F238E27FC236}">
                <a16:creationId xmlns:a16="http://schemas.microsoft.com/office/drawing/2014/main" id="{41C0F3C9-5B35-EEAA-5410-9C94A52BB987}"/>
              </a:ext>
            </a:extLst>
          </p:cNvPr>
          <p:cNvPicPr>
            <a:picLocks noChangeAspect="1"/>
          </p:cNvPicPr>
          <p:nvPr/>
        </p:nvPicPr>
        <p:blipFill>
          <a:blip r:embed="rId3"/>
          <a:stretch>
            <a:fillRect/>
          </a:stretch>
        </p:blipFill>
        <p:spPr>
          <a:xfrm>
            <a:off x="6238776" y="1164576"/>
            <a:ext cx="2679728" cy="2042529"/>
          </a:xfrm>
          <a:prstGeom prst="rect">
            <a:avLst/>
          </a:prstGeom>
        </p:spPr>
      </p:pic>
      <p:pic>
        <p:nvPicPr>
          <p:cNvPr id="13" name="圖片 12">
            <a:extLst>
              <a:ext uri="{FF2B5EF4-FFF2-40B4-BE49-F238E27FC236}">
                <a16:creationId xmlns:a16="http://schemas.microsoft.com/office/drawing/2014/main" id="{22971B65-9602-76A3-B159-4A6787C8241C}"/>
              </a:ext>
            </a:extLst>
          </p:cNvPr>
          <p:cNvPicPr>
            <a:picLocks noChangeAspect="1"/>
          </p:cNvPicPr>
          <p:nvPr/>
        </p:nvPicPr>
        <p:blipFill>
          <a:blip r:embed="rId4"/>
          <a:stretch>
            <a:fillRect/>
          </a:stretch>
        </p:blipFill>
        <p:spPr>
          <a:xfrm>
            <a:off x="225496" y="1163410"/>
            <a:ext cx="2950319" cy="2103630"/>
          </a:xfrm>
          <a:prstGeom prst="rect">
            <a:avLst/>
          </a:prstGeom>
        </p:spPr>
      </p:pic>
      <p:sp>
        <p:nvSpPr>
          <p:cNvPr id="15" name="文字方塊 14">
            <a:extLst>
              <a:ext uri="{FF2B5EF4-FFF2-40B4-BE49-F238E27FC236}">
                <a16:creationId xmlns:a16="http://schemas.microsoft.com/office/drawing/2014/main" id="{3449EE38-D2F0-6E65-391C-051BDCC290D1}"/>
              </a:ext>
            </a:extLst>
          </p:cNvPr>
          <p:cNvSpPr txBox="1"/>
          <p:nvPr/>
        </p:nvSpPr>
        <p:spPr>
          <a:xfrm>
            <a:off x="1011566" y="3290111"/>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Compute</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PF-days, non-embedding</a:t>
            </a:r>
          </a:p>
        </p:txBody>
      </p:sp>
      <p:sp>
        <p:nvSpPr>
          <p:cNvPr id="17" name="文字方塊 16">
            <a:extLst>
              <a:ext uri="{FF2B5EF4-FFF2-40B4-BE49-F238E27FC236}">
                <a16:creationId xmlns:a16="http://schemas.microsoft.com/office/drawing/2014/main" id="{917CB614-9D91-6082-E732-C1EB9B94CBB2}"/>
              </a:ext>
            </a:extLst>
          </p:cNvPr>
          <p:cNvSpPr txBox="1"/>
          <p:nvPr/>
        </p:nvSpPr>
        <p:spPr>
          <a:xfrm>
            <a:off x="4037253" y="3290111"/>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Dataset Size</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tokens</a:t>
            </a:r>
          </a:p>
        </p:txBody>
      </p:sp>
      <p:sp>
        <p:nvSpPr>
          <p:cNvPr id="19" name="文字方塊 18">
            <a:extLst>
              <a:ext uri="{FF2B5EF4-FFF2-40B4-BE49-F238E27FC236}">
                <a16:creationId xmlns:a16="http://schemas.microsoft.com/office/drawing/2014/main" id="{873A4A8C-4DB5-C8E4-8137-40158A09AA46}"/>
              </a:ext>
            </a:extLst>
          </p:cNvPr>
          <p:cNvSpPr txBox="1"/>
          <p:nvPr/>
        </p:nvSpPr>
        <p:spPr>
          <a:xfrm>
            <a:off x="6889551" y="3290111"/>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Parameters</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Non-embedding</a:t>
            </a:r>
          </a:p>
        </p:txBody>
      </p:sp>
    </p:spTree>
    <p:extLst>
      <p:ext uri="{BB962C8B-B14F-4D97-AF65-F5344CB8AC3E}">
        <p14:creationId xmlns:p14="http://schemas.microsoft.com/office/powerpoint/2010/main" val="1328516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A6153A-3295-7DB2-C1BA-6B1E69F8BC78}"/>
            </a:ext>
          </a:extLst>
        </p:cNvPr>
        <p:cNvGrpSpPr/>
        <p:nvPr/>
      </p:nvGrpSpPr>
      <p:grpSpPr>
        <a:xfrm>
          <a:off x="0" y="0"/>
          <a:ext cx="0" cy="0"/>
          <a:chOff x="0" y="0"/>
          <a:chExt cx="0" cy="0"/>
        </a:xfrm>
      </p:grpSpPr>
      <p:sp>
        <p:nvSpPr>
          <p:cNvPr id="8" name="文字方塊 7">
            <a:extLst>
              <a:ext uri="{FF2B5EF4-FFF2-40B4-BE49-F238E27FC236}">
                <a16:creationId xmlns:a16="http://schemas.microsoft.com/office/drawing/2014/main" id="{71575A03-C679-3AD3-2F44-6BE10B57902E}"/>
              </a:ext>
            </a:extLst>
          </p:cNvPr>
          <p:cNvSpPr txBox="1"/>
          <p:nvPr/>
        </p:nvSpPr>
        <p:spPr>
          <a:xfrm>
            <a:off x="179510" y="1377042"/>
            <a:ext cx="7560841" cy="2477601"/>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Moonshot AI: </a:t>
            </a:r>
            <a:r>
              <a:rPr lang="en-US" altLang="zh-TW" sz="1600" dirty="0"/>
              <a:t>Founded in March 2023, CEO Kimi(</a:t>
            </a:r>
            <a:r>
              <a:rPr lang="zh-TW" altLang="en-US" sz="1400" dirty="0">
                <a:latin typeface="微軟正黑體" panose="020B0604030504040204" pitchFamily="34" charset="-120"/>
                <a:ea typeface="微軟正黑體" panose="020B0604030504040204" pitchFamily="34" charset="-120"/>
              </a:rPr>
              <a:t>楊植麟</a:t>
            </a:r>
            <a:r>
              <a:rPr lang="en-US" altLang="zh-TW" sz="1400" dirty="0">
                <a:latin typeface="微軟正黑體" panose="020B0604030504040204" pitchFamily="34" charset="-120"/>
                <a:ea typeface="微軟正黑體" panose="020B0604030504040204" pitchFamily="34" charset="-120"/>
              </a:rPr>
              <a:t>1992.</a:t>
            </a:r>
            <a:r>
              <a:rPr lang="zh-TW" altLang="en-US" sz="1400" dirty="0">
                <a:latin typeface="微軟正黑體" panose="020B0604030504040204" pitchFamily="34" charset="-120"/>
                <a:ea typeface="微軟正黑體" panose="020B0604030504040204" pitchFamily="34" charset="-120"/>
              </a:rPr>
              <a:t>清華大學</a:t>
            </a:r>
            <a:r>
              <a:rPr lang="en-US" altLang="zh-TW" sz="1400" dirty="0">
                <a:latin typeface="微軟正黑體" panose="020B0604030504040204" pitchFamily="34" charset="-120"/>
                <a:ea typeface="微軟正黑體" panose="020B0604030504040204" pitchFamily="34" charset="-120"/>
              </a:rPr>
              <a:t>.CMU</a:t>
            </a:r>
            <a:r>
              <a:rPr lang="en-US" altLang="zh-TW" sz="1600" dirty="0"/>
              <a:t>).</a:t>
            </a:r>
          </a:p>
          <a:p>
            <a:pPr marL="285750" indent="-285750">
              <a:lnSpc>
                <a:spcPts val="1800"/>
              </a:lnSpc>
              <a:spcBef>
                <a:spcPts val="600"/>
              </a:spcBef>
              <a:spcAft>
                <a:spcPts val="600"/>
              </a:spcAft>
              <a:buFont typeface="Wingdings" panose="05000000000000000000" pitchFamily="2" charset="2"/>
              <a:buChar char="Ø"/>
            </a:pPr>
            <a:r>
              <a:rPr lang="en-US" altLang="zh-TW" sz="1600" b="1" dirty="0"/>
              <a:t>Key Technology:</a:t>
            </a:r>
            <a:r>
              <a:rPr lang="en-US" altLang="zh-TW" sz="1600" dirty="0"/>
              <a:t> </a:t>
            </a:r>
          </a:p>
          <a:p>
            <a:pPr marL="742950" lvl="1" indent="-285750">
              <a:lnSpc>
                <a:spcPts val="1800"/>
              </a:lnSpc>
              <a:spcBef>
                <a:spcPts val="600"/>
              </a:spcBef>
              <a:spcAft>
                <a:spcPts val="600"/>
              </a:spcAft>
              <a:buFont typeface="Arial" panose="020B0604020202020204" pitchFamily="34" charset="0"/>
              <a:buChar char="•"/>
            </a:pPr>
            <a:r>
              <a:rPr lang="en-US" altLang="zh-TW" sz="1600" dirty="0"/>
              <a:t>Kimi delta attention (</a:t>
            </a:r>
            <a:r>
              <a:rPr lang="en-US" altLang="zh-TW" sz="1600" b="1" dirty="0">
                <a:solidFill>
                  <a:schemeClr val="accent6">
                    <a:lumMod val="75000"/>
                  </a:schemeClr>
                </a:solidFill>
              </a:rPr>
              <a:t>KDA</a:t>
            </a:r>
            <a:r>
              <a:rPr lang="en-US" altLang="zh-TW" sz="1600" dirty="0"/>
              <a:t>): </a:t>
            </a:r>
            <a:r>
              <a:rPr lang="zh-TW" altLang="en-US" sz="1600" dirty="0"/>
              <a:t>水平方向優化</a:t>
            </a:r>
            <a:r>
              <a:rPr lang="en-US" altLang="zh-TW" sz="1600" dirty="0"/>
              <a:t>(</a:t>
            </a:r>
            <a:r>
              <a:rPr lang="zh-TW" altLang="en-US" sz="1600" dirty="0"/>
              <a:t>序列長度</a:t>
            </a:r>
            <a:r>
              <a:rPr lang="en-US" altLang="zh-TW" sz="1600" dirty="0"/>
              <a:t>).</a:t>
            </a:r>
          </a:p>
          <a:p>
            <a:pPr marL="742950" lvl="1" indent="-285750">
              <a:lnSpc>
                <a:spcPts val="1800"/>
              </a:lnSpc>
              <a:spcBef>
                <a:spcPts val="600"/>
              </a:spcBef>
              <a:spcAft>
                <a:spcPts val="600"/>
              </a:spcAft>
              <a:buFont typeface="Arial" panose="020B0604020202020204" pitchFamily="34" charset="0"/>
              <a:buChar char="•"/>
            </a:pPr>
            <a:r>
              <a:rPr lang="en-US" altLang="zh-TW" sz="1600" dirty="0"/>
              <a:t>AttnRes reduces layers (</a:t>
            </a:r>
            <a:r>
              <a:rPr lang="en-US" altLang="zh-TW" sz="1600" b="1" dirty="0">
                <a:solidFill>
                  <a:schemeClr val="accent6">
                    <a:lumMod val="75000"/>
                  </a:schemeClr>
                </a:solidFill>
              </a:rPr>
              <a:t>AttnRes</a:t>
            </a:r>
            <a:r>
              <a:rPr lang="en-US" altLang="zh-TW" sz="1600" dirty="0"/>
              <a:t>): </a:t>
            </a:r>
            <a:r>
              <a:rPr lang="zh-TW" altLang="en-US" sz="1600" dirty="0"/>
              <a:t>垂直方向優化</a:t>
            </a:r>
            <a:r>
              <a:rPr lang="en-US" altLang="zh-TW" sz="1600" dirty="0"/>
              <a:t>(</a:t>
            </a:r>
            <a:r>
              <a:rPr lang="zh-TW" altLang="en-US" sz="1600" dirty="0"/>
              <a:t>模型深度</a:t>
            </a:r>
            <a:r>
              <a:rPr lang="en-US" altLang="zh-TW" sz="1600" dirty="0"/>
              <a:t>).</a:t>
            </a:r>
          </a:p>
          <a:p>
            <a:pPr marL="742950" lvl="1" indent="-285750">
              <a:lnSpc>
                <a:spcPts val="1800"/>
              </a:lnSpc>
              <a:spcBef>
                <a:spcPts val="600"/>
              </a:spcBef>
              <a:spcAft>
                <a:spcPts val="600"/>
              </a:spcAft>
              <a:buFont typeface="Arial" panose="020B0604020202020204" pitchFamily="34" charset="0"/>
              <a:buChar char="•"/>
            </a:pPr>
            <a:r>
              <a:rPr lang="en-US" altLang="zh-TW" sz="1600" dirty="0"/>
              <a:t>Stable Latent MoE: has</a:t>
            </a:r>
            <a:r>
              <a:rPr lang="zh-TW" altLang="en-US" sz="1600" dirty="0"/>
              <a:t> </a:t>
            </a:r>
            <a:r>
              <a:rPr lang="en-US" altLang="zh-TW" sz="1600" dirty="0"/>
              <a:t>2 shared, and 14 selected export from 896 fine-grained experts.</a:t>
            </a:r>
          </a:p>
        </p:txBody>
      </p:sp>
      <p:sp>
        <p:nvSpPr>
          <p:cNvPr id="5" name="標題 1">
            <a:extLst>
              <a:ext uri="{FF2B5EF4-FFF2-40B4-BE49-F238E27FC236}">
                <a16:creationId xmlns:a16="http://schemas.microsoft.com/office/drawing/2014/main" id="{9451D045-C073-695F-6BAB-9A162FB85C82}"/>
              </a:ext>
            </a:extLst>
          </p:cNvPr>
          <p:cNvSpPr txBox="1">
            <a:spLocks/>
          </p:cNvSpPr>
          <p:nvPr/>
        </p:nvSpPr>
        <p:spPr>
          <a:xfrm>
            <a:off x="179511" y="116632"/>
            <a:ext cx="6768753"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Kimi K3 (2.8T)</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 frontier intelligence colossus specializing in lossless long-context memory and high-end autonomous agentic reasoning.</a:t>
            </a:r>
          </a:p>
        </p:txBody>
      </p:sp>
      <p:pic>
        <p:nvPicPr>
          <p:cNvPr id="31" name="圖片 30">
            <a:extLst>
              <a:ext uri="{FF2B5EF4-FFF2-40B4-BE49-F238E27FC236}">
                <a16:creationId xmlns:a16="http://schemas.microsoft.com/office/drawing/2014/main" id="{BB38B373-E827-B78E-6E07-1DF4B2799A74}"/>
              </a:ext>
            </a:extLst>
          </p:cNvPr>
          <p:cNvPicPr>
            <a:picLocks noChangeAspect="1"/>
          </p:cNvPicPr>
          <p:nvPr/>
        </p:nvPicPr>
        <p:blipFill>
          <a:blip r:embed="rId3"/>
          <a:stretch>
            <a:fillRect/>
          </a:stretch>
        </p:blipFill>
        <p:spPr>
          <a:xfrm>
            <a:off x="8406510" y="116632"/>
            <a:ext cx="552628" cy="548681"/>
          </a:xfrm>
          <a:prstGeom prst="rect">
            <a:avLst/>
          </a:prstGeom>
        </p:spPr>
      </p:pic>
      <p:sp>
        <p:nvSpPr>
          <p:cNvPr id="37" name="標題 1">
            <a:extLst>
              <a:ext uri="{FF2B5EF4-FFF2-40B4-BE49-F238E27FC236}">
                <a16:creationId xmlns:a16="http://schemas.microsoft.com/office/drawing/2014/main" id="{1926B4C0-13E0-523A-9940-67A0C3295914}"/>
              </a:ext>
            </a:extLst>
          </p:cNvPr>
          <p:cNvSpPr txBox="1">
            <a:spLocks/>
          </p:cNvSpPr>
          <p:nvPr/>
        </p:nvSpPr>
        <p:spPr>
          <a:xfrm>
            <a:off x="8312648" y="692696"/>
            <a:ext cx="740352" cy="42522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Moonshot</a:t>
            </a:r>
          </a:p>
          <a:p>
            <a:pPr algn="ctr"/>
            <a:r>
              <a:rPr lang="zh-TW" altLang="en-US" sz="1000" b="1"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月之暗面</a:t>
            </a:r>
            <a:endParaRPr lang="en-US" altLang="zh-TW" sz="1000" b="1"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spTree>
    <p:extLst>
      <p:ext uri="{BB962C8B-B14F-4D97-AF65-F5344CB8AC3E}">
        <p14:creationId xmlns:p14="http://schemas.microsoft.com/office/powerpoint/2010/main" val="320096866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8F6746-9142-1125-6596-6627093E8340}"/>
            </a:ext>
          </a:extLst>
        </p:cNvPr>
        <p:cNvGrpSpPr/>
        <p:nvPr/>
      </p:nvGrpSpPr>
      <p:grpSpPr>
        <a:xfrm>
          <a:off x="0" y="0"/>
          <a:ext cx="0" cy="0"/>
          <a:chOff x="0" y="0"/>
          <a:chExt cx="0" cy="0"/>
        </a:xfrm>
      </p:grpSpPr>
      <p:sp>
        <p:nvSpPr>
          <p:cNvPr id="454" name="矩形 453">
            <a:extLst>
              <a:ext uri="{FF2B5EF4-FFF2-40B4-BE49-F238E27FC236}">
                <a16:creationId xmlns:a16="http://schemas.microsoft.com/office/drawing/2014/main" id="{A53C3235-4FD1-1D38-82A6-F6BEDB811571}"/>
              </a:ext>
            </a:extLst>
          </p:cNvPr>
          <p:cNvSpPr/>
          <p:nvPr/>
        </p:nvSpPr>
        <p:spPr>
          <a:xfrm>
            <a:off x="8244408" y="2883915"/>
            <a:ext cx="648072" cy="1041669"/>
          </a:xfrm>
          <a:prstGeom prst="rect">
            <a:avLst/>
          </a:prstGeom>
          <a:solidFill>
            <a:schemeClr val="bg1">
              <a:lumMod val="95000"/>
            </a:schemeClr>
          </a:solidFill>
          <a:ln w="19050">
            <a:solidFill>
              <a:schemeClr val="bg2">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rPr>
              <a:t>VC</a:t>
            </a:r>
          </a:p>
          <a:p>
            <a:pPr algn="ctr">
              <a:lnSpc>
                <a:spcPts val="1600"/>
              </a:lnSpc>
            </a:pPr>
            <a:endPar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endParaRPr>
          </a:p>
          <a:p>
            <a:pPr algn="ctr">
              <a:lnSpc>
                <a:spcPts val="1600"/>
              </a:lnSpc>
            </a:pPr>
            <a:endPar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endParaRPr>
          </a:p>
          <a:p>
            <a:pPr algn="ctr">
              <a:lnSpc>
                <a:spcPts val="1600"/>
              </a:lnSpc>
            </a:pPr>
            <a:endPar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5" name="矩形 444">
            <a:extLst>
              <a:ext uri="{FF2B5EF4-FFF2-40B4-BE49-F238E27FC236}">
                <a16:creationId xmlns:a16="http://schemas.microsoft.com/office/drawing/2014/main" id="{FCBAE47A-1424-F040-2145-DC1D97F7D804}"/>
              </a:ext>
            </a:extLst>
          </p:cNvPr>
          <p:cNvSpPr/>
          <p:nvPr/>
        </p:nvSpPr>
        <p:spPr>
          <a:xfrm>
            <a:off x="8367367" y="2883915"/>
            <a:ext cx="241412" cy="1041669"/>
          </a:xfrm>
          <a:prstGeom prst="rect">
            <a:avLst/>
          </a:prstGeom>
          <a:solidFill>
            <a:schemeClr val="bg2">
              <a:lumMod val="90000"/>
              <a:alpha val="40000"/>
            </a:schemeClr>
          </a:solidFill>
          <a:ln w="1905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chemeClr val="tx1"/>
                </a:solidFill>
                <a:ea typeface="ADLaM Display" panose="02010000000000000000" pitchFamily="2" charset="0"/>
                <a:cs typeface="ADLaM Display" panose="02010000000000000000" pitchFamily="2" charset="0"/>
              </a:rPr>
              <a:t>VC</a:t>
            </a:r>
          </a:p>
          <a:p>
            <a:pPr algn="ctr">
              <a:lnSpc>
                <a:spcPts val="1000"/>
              </a:lnSpc>
            </a:pPr>
            <a:r>
              <a:rPr lang="en-US" altLang="zh-TW" sz="1000" dirty="0">
                <a:solidFill>
                  <a:schemeClr val="tx1"/>
                </a:solidFill>
                <a:ea typeface="ADLaM Display" panose="02010000000000000000" pitchFamily="2" charset="0"/>
                <a:cs typeface="ADLaM Display" panose="02010000000000000000" pitchFamily="2" charset="0"/>
              </a:rPr>
              <a:t>PLE</a:t>
            </a:r>
          </a:p>
          <a:p>
            <a:pPr algn="ctr">
              <a:lnSpc>
                <a:spcPts val="1000"/>
              </a:lnSpc>
            </a:pPr>
            <a:endParaRPr lang="en-US" altLang="zh-TW" sz="1000" dirty="0">
              <a:solidFill>
                <a:schemeClr val="tx1"/>
              </a:solidFill>
              <a:ea typeface="ADLaM Display" panose="02010000000000000000" pitchFamily="2" charset="0"/>
              <a:cs typeface="ADLaM Display" panose="02010000000000000000" pitchFamily="2" charset="0"/>
            </a:endParaRPr>
          </a:p>
        </p:txBody>
      </p:sp>
      <p:sp>
        <p:nvSpPr>
          <p:cNvPr id="170" name="矩形: 圓角 169">
            <a:extLst>
              <a:ext uri="{FF2B5EF4-FFF2-40B4-BE49-F238E27FC236}">
                <a16:creationId xmlns:a16="http://schemas.microsoft.com/office/drawing/2014/main" id="{BE0A9E20-F836-F032-C9F1-D0C844445195}"/>
              </a:ext>
            </a:extLst>
          </p:cNvPr>
          <p:cNvSpPr/>
          <p:nvPr/>
        </p:nvSpPr>
        <p:spPr>
          <a:xfrm>
            <a:off x="2123728"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172" name="矩形: 圓角 171">
            <a:extLst>
              <a:ext uri="{FF2B5EF4-FFF2-40B4-BE49-F238E27FC236}">
                <a16:creationId xmlns:a16="http://schemas.microsoft.com/office/drawing/2014/main" id="{BC1948D7-B839-0028-27CE-1E2CF5281DD8}"/>
              </a:ext>
            </a:extLst>
          </p:cNvPr>
          <p:cNvSpPr/>
          <p:nvPr/>
        </p:nvSpPr>
        <p:spPr>
          <a:xfrm>
            <a:off x="467544"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2" name="矩形: 圓角 1">
            <a:extLst>
              <a:ext uri="{FF2B5EF4-FFF2-40B4-BE49-F238E27FC236}">
                <a16:creationId xmlns:a16="http://schemas.microsoft.com/office/drawing/2014/main" id="{8729D631-BF91-8BC3-4BEA-1E529F12C632}"/>
              </a:ext>
            </a:extLst>
          </p:cNvPr>
          <p:cNvSpPr/>
          <p:nvPr/>
        </p:nvSpPr>
        <p:spPr>
          <a:xfrm>
            <a:off x="467826"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 name="文字方塊 3">
            <a:extLst>
              <a:ext uri="{FF2B5EF4-FFF2-40B4-BE49-F238E27FC236}">
                <a16:creationId xmlns:a16="http://schemas.microsoft.com/office/drawing/2014/main" id="{C1B96EB9-3086-F91B-B6F4-AF62653FE4F5}"/>
              </a:ext>
            </a:extLst>
          </p:cNvPr>
          <p:cNvSpPr txBox="1"/>
          <p:nvPr/>
        </p:nvSpPr>
        <p:spPr>
          <a:xfrm>
            <a:off x="535220" y="2002309"/>
            <a:ext cx="1086557"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5" name="文字方塊 4">
            <a:extLst>
              <a:ext uri="{FF2B5EF4-FFF2-40B4-BE49-F238E27FC236}">
                <a16:creationId xmlns:a16="http://schemas.microsoft.com/office/drawing/2014/main" id="{F5B4EA22-18C0-D52E-F2FC-7D1EE09C7763}"/>
              </a:ext>
            </a:extLst>
          </p:cNvPr>
          <p:cNvSpPr txBox="1"/>
          <p:nvPr/>
        </p:nvSpPr>
        <p:spPr>
          <a:xfrm>
            <a:off x="535220" y="3781568"/>
            <a:ext cx="1086557" cy="824652"/>
          </a:xfrm>
          <a:prstGeom prst="rect">
            <a:avLst/>
          </a:prstGeom>
          <a:solidFill>
            <a:schemeClr val="accent1">
              <a:lumMod val="20000"/>
              <a:lumOff val="80000"/>
              <a:alpha val="20000"/>
            </a:scheme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7" name="直線單箭頭接點 6">
            <a:extLst>
              <a:ext uri="{FF2B5EF4-FFF2-40B4-BE49-F238E27FC236}">
                <a16:creationId xmlns:a16="http://schemas.microsoft.com/office/drawing/2014/main" id="{EC440B47-022A-4F2E-ADB9-9E340AE7B99A}"/>
              </a:ext>
            </a:extLst>
          </p:cNvPr>
          <p:cNvCxnSpPr>
            <a:cxnSpLocks/>
            <a:endCxn id="179" idx="2"/>
          </p:cNvCxnSpPr>
          <p:nvPr/>
        </p:nvCxnSpPr>
        <p:spPr>
          <a:xfrm flipH="1" flipV="1">
            <a:off x="1075281" y="4501648"/>
            <a:ext cx="2307" cy="435063"/>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6" name="標題 1">
            <a:extLst>
              <a:ext uri="{FF2B5EF4-FFF2-40B4-BE49-F238E27FC236}">
                <a16:creationId xmlns:a16="http://schemas.microsoft.com/office/drawing/2014/main" id="{8DB9693A-E2A1-CCD2-2F2F-2065D8528EA2}"/>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Stable Latent MoE </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NVIDIA Latent MoE + Kimi Quantile Balancing</a:t>
            </a:r>
          </a:p>
        </p:txBody>
      </p:sp>
      <p:sp>
        <p:nvSpPr>
          <p:cNvPr id="19" name="矩形: 圓角 18">
            <a:extLst>
              <a:ext uri="{FF2B5EF4-FFF2-40B4-BE49-F238E27FC236}">
                <a16:creationId xmlns:a16="http://schemas.microsoft.com/office/drawing/2014/main" id="{7C5DF3DB-0A46-D193-F5D9-6C5336E76BA5}"/>
              </a:ext>
            </a:extLst>
          </p:cNvPr>
          <p:cNvSpPr/>
          <p:nvPr/>
        </p:nvSpPr>
        <p:spPr>
          <a:xfrm>
            <a:off x="2123728"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0" name="文字方塊 19">
            <a:extLst>
              <a:ext uri="{FF2B5EF4-FFF2-40B4-BE49-F238E27FC236}">
                <a16:creationId xmlns:a16="http://schemas.microsoft.com/office/drawing/2014/main" id="{8CB62931-0116-4F8D-48BF-62F2DE049D2C}"/>
              </a:ext>
            </a:extLst>
          </p:cNvPr>
          <p:cNvSpPr txBox="1"/>
          <p:nvPr/>
        </p:nvSpPr>
        <p:spPr>
          <a:xfrm>
            <a:off x="2200023"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21" name="文字方塊 20">
            <a:extLst>
              <a:ext uri="{FF2B5EF4-FFF2-40B4-BE49-F238E27FC236}">
                <a16:creationId xmlns:a16="http://schemas.microsoft.com/office/drawing/2014/main" id="{F9783ACE-7D1B-5C7C-1112-A1423E5FEFF2}"/>
              </a:ext>
            </a:extLst>
          </p:cNvPr>
          <p:cNvSpPr txBox="1"/>
          <p:nvPr/>
        </p:nvSpPr>
        <p:spPr>
          <a:xfrm>
            <a:off x="2195735" y="3781568"/>
            <a:ext cx="1086557"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23" name="直線單箭頭接點 22">
            <a:extLst>
              <a:ext uri="{FF2B5EF4-FFF2-40B4-BE49-F238E27FC236}">
                <a16:creationId xmlns:a16="http://schemas.microsoft.com/office/drawing/2014/main" id="{8A882AA6-6867-F830-42C6-244BEB4AE9AF}"/>
              </a:ext>
            </a:extLst>
          </p:cNvPr>
          <p:cNvCxnSpPr>
            <a:cxnSpLocks/>
            <a:stCxn id="176" idx="0"/>
            <a:endCxn id="177" idx="2"/>
          </p:cNvCxnSpPr>
          <p:nvPr/>
        </p:nvCxnSpPr>
        <p:spPr>
          <a:xfrm flipH="1" flipV="1">
            <a:off x="2726271" y="4501648"/>
            <a:ext cx="2070" cy="25505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14" name="矩形: 圓角 113">
            <a:extLst>
              <a:ext uri="{FF2B5EF4-FFF2-40B4-BE49-F238E27FC236}">
                <a16:creationId xmlns:a16="http://schemas.microsoft.com/office/drawing/2014/main" id="{5A324B73-A2B0-2068-6311-5BD0FDC1B00D}"/>
              </a:ext>
            </a:extLst>
          </p:cNvPr>
          <p:cNvSpPr/>
          <p:nvPr/>
        </p:nvSpPr>
        <p:spPr>
          <a:xfrm>
            <a:off x="2123728"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sp>
        <p:nvSpPr>
          <p:cNvPr id="116" name="矩形: 圓角 115">
            <a:extLst>
              <a:ext uri="{FF2B5EF4-FFF2-40B4-BE49-F238E27FC236}">
                <a16:creationId xmlns:a16="http://schemas.microsoft.com/office/drawing/2014/main" id="{1BD8915E-AF1F-5982-35FD-A8CA9A3E8CDE}"/>
              </a:ext>
            </a:extLst>
          </p:cNvPr>
          <p:cNvSpPr/>
          <p:nvPr/>
        </p:nvSpPr>
        <p:spPr>
          <a:xfrm>
            <a:off x="467544"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117" name="直線單箭頭接點 116">
            <a:extLst>
              <a:ext uri="{FF2B5EF4-FFF2-40B4-BE49-F238E27FC236}">
                <a16:creationId xmlns:a16="http://schemas.microsoft.com/office/drawing/2014/main" id="{4A3F95B3-680D-D78C-8853-E6B590C190E6}"/>
              </a:ext>
            </a:extLst>
          </p:cNvPr>
          <p:cNvCxnSpPr>
            <a:cxnSpLocks/>
            <a:stCxn id="2" idx="0"/>
            <a:endCxn id="116" idx="2"/>
          </p:cNvCxnSpPr>
          <p:nvPr/>
        </p:nvCxnSpPr>
        <p:spPr>
          <a:xfrm flipH="1" flipV="1">
            <a:off x="1077305" y="1750550"/>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120" name="直線單箭頭接點 119">
            <a:extLst>
              <a:ext uri="{FF2B5EF4-FFF2-40B4-BE49-F238E27FC236}">
                <a16:creationId xmlns:a16="http://schemas.microsoft.com/office/drawing/2014/main" id="{E0551D9F-0AA6-4035-F927-8873E0FD90C7}"/>
              </a:ext>
            </a:extLst>
          </p:cNvPr>
          <p:cNvCxnSpPr>
            <a:cxnSpLocks/>
            <a:stCxn id="19" idx="0"/>
            <a:endCxn id="114" idx="2"/>
          </p:cNvCxnSpPr>
          <p:nvPr/>
        </p:nvCxnSpPr>
        <p:spPr>
          <a:xfrm flipV="1">
            <a:off x="2733489" y="1750550"/>
            <a:ext cx="0"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29" name="文字方塊 128">
            <a:extLst>
              <a:ext uri="{FF2B5EF4-FFF2-40B4-BE49-F238E27FC236}">
                <a16:creationId xmlns:a16="http://schemas.microsoft.com/office/drawing/2014/main" id="{7FE9C879-E200-EB5A-2CC2-69A71AB1713D}"/>
              </a:ext>
            </a:extLst>
          </p:cNvPr>
          <p:cNvSpPr txBox="1"/>
          <p:nvPr/>
        </p:nvSpPr>
        <p:spPr>
          <a:xfrm>
            <a:off x="248805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38" name="文字方塊 137">
            <a:extLst>
              <a:ext uri="{FF2B5EF4-FFF2-40B4-BE49-F238E27FC236}">
                <a16:creationId xmlns:a16="http://schemas.microsoft.com/office/drawing/2014/main" id="{4CD21E97-532C-B0C9-5963-6BC07711A17A}"/>
              </a:ext>
            </a:extLst>
          </p:cNvPr>
          <p:cNvSpPr txBox="1"/>
          <p:nvPr/>
        </p:nvSpPr>
        <p:spPr>
          <a:xfrm>
            <a:off x="2787962"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0" name="文字方塊 139">
            <a:extLst>
              <a:ext uri="{FF2B5EF4-FFF2-40B4-BE49-F238E27FC236}">
                <a16:creationId xmlns:a16="http://schemas.microsoft.com/office/drawing/2014/main" id="{A8972DAD-5FD1-C633-ACF7-462CB437C21A}"/>
              </a:ext>
            </a:extLst>
          </p:cNvPr>
          <p:cNvSpPr txBox="1"/>
          <p:nvPr/>
        </p:nvSpPr>
        <p:spPr>
          <a:xfrm>
            <a:off x="307459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2" name="文字方塊 141">
            <a:extLst>
              <a:ext uri="{FF2B5EF4-FFF2-40B4-BE49-F238E27FC236}">
                <a16:creationId xmlns:a16="http://schemas.microsoft.com/office/drawing/2014/main" id="{BB162BC8-55DA-04F0-BAB2-1C519A2BAF87}"/>
              </a:ext>
            </a:extLst>
          </p:cNvPr>
          <p:cNvSpPr txBox="1"/>
          <p:nvPr/>
        </p:nvSpPr>
        <p:spPr>
          <a:xfrm>
            <a:off x="2195736"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4" name="文字方塊 143">
            <a:extLst>
              <a:ext uri="{FF2B5EF4-FFF2-40B4-BE49-F238E27FC236}">
                <a16:creationId xmlns:a16="http://schemas.microsoft.com/office/drawing/2014/main" id="{5FC666CF-592D-7189-C114-4A4C013CBF6D}"/>
              </a:ext>
            </a:extLst>
          </p:cNvPr>
          <p:cNvSpPr txBox="1"/>
          <p:nvPr/>
        </p:nvSpPr>
        <p:spPr>
          <a:xfrm>
            <a:off x="2483768" y="2350933"/>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6" name="文字方塊 145">
            <a:extLst>
              <a:ext uri="{FF2B5EF4-FFF2-40B4-BE49-F238E27FC236}">
                <a16:creationId xmlns:a16="http://schemas.microsoft.com/office/drawing/2014/main" id="{5F702349-7BBE-30ED-CD8A-023983F6269E}"/>
              </a:ext>
            </a:extLst>
          </p:cNvPr>
          <p:cNvSpPr txBox="1"/>
          <p:nvPr/>
        </p:nvSpPr>
        <p:spPr>
          <a:xfrm>
            <a:off x="278367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8" name="文字方塊 147">
            <a:extLst>
              <a:ext uri="{FF2B5EF4-FFF2-40B4-BE49-F238E27FC236}">
                <a16:creationId xmlns:a16="http://schemas.microsoft.com/office/drawing/2014/main" id="{A825FE45-C6B6-3543-95E6-B3D894125747}"/>
              </a:ext>
            </a:extLst>
          </p:cNvPr>
          <p:cNvSpPr txBox="1"/>
          <p:nvPr/>
        </p:nvSpPr>
        <p:spPr>
          <a:xfrm>
            <a:off x="307459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0" name="文字方塊 149">
            <a:extLst>
              <a:ext uri="{FF2B5EF4-FFF2-40B4-BE49-F238E27FC236}">
                <a16:creationId xmlns:a16="http://schemas.microsoft.com/office/drawing/2014/main" id="{34DE2255-C248-2104-FB4C-A40919921807}"/>
              </a:ext>
            </a:extLst>
          </p:cNvPr>
          <p:cNvSpPr txBox="1"/>
          <p:nvPr/>
        </p:nvSpPr>
        <p:spPr>
          <a:xfrm>
            <a:off x="2199071"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2" name="文字方塊 151">
            <a:extLst>
              <a:ext uri="{FF2B5EF4-FFF2-40B4-BE49-F238E27FC236}">
                <a16:creationId xmlns:a16="http://schemas.microsoft.com/office/drawing/2014/main" id="{1E786C9A-A13F-E064-4286-D1DCEB6C8DB8}"/>
              </a:ext>
            </a:extLst>
          </p:cNvPr>
          <p:cNvSpPr txBox="1"/>
          <p:nvPr/>
        </p:nvSpPr>
        <p:spPr>
          <a:xfrm>
            <a:off x="248710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4" name="文字方塊 153">
            <a:extLst>
              <a:ext uri="{FF2B5EF4-FFF2-40B4-BE49-F238E27FC236}">
                <a16:creationId xmlns:a16="http://schemas.microsoft.com/office/drawing/2014/main" id="{D23A0C5C-F1CC-6596-6168-20098B665F56}"/>
              </a:ext>
            </a:extLst>
          </p:cNvPr>
          <p:cNvSpPr txBox="1"/>
          <p:nvPr/>
        </p:nvSpPr>
        <p:spPr>
          <a:xfrm>
            <a:off x="2787010"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6" name="文字方塊 155">
            <a:extLst>
              <a:ext uri="{FF2B5EF4-FFF2-40B4-BE49-F238E27FC236}">
                <a16:creationId xmlns:a16="http://schemas.microsoft.com/office/drawing/2014/main" id="{646733A6-99E9-0F50-04BB-6514E8205CBA}"/>
              </a:ext>
            </a:extLst>
          </p:cNvPr>
          <p:cNvSpPr txBox="1"/>
          <p:nvPr/>
        </p:nvSpPr>
        <p:spPr>
          <a:xfrm>
            <a:off x="307364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8" name="文字方塊 157">
            <a:extLst>
              <a:ext uri="{FF2B5EF4-FFF2-40B4-BE49-F238E27FC236}">
                <a16:creationId xmlns:a16="http://schemas.microsoft.com/office/drawing/2014/main" id="{75BA3559-BA09-08D0-D330-6ED320E54702}"/>
              </a:ext>
            </a:extLst>
          </p:cNvPr>
          <p:cNvSpPr txBox="1"/>
          <p:nvPr/>
        </p:nvSpPr>
        <p:spPr>
          <a:xfrm>
            <a:off x="2194784"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0" name="文字方塊 159">
            <a:extLst>
              <a:ext uri="{FF2B5EF4-FFF2-40B4-BE49-F238E27FC236}">
                <a16:creationId xmlns:a16="http://schemas.microsoft.com/office/drawing/2014/main" id="{527EA4F8-BFCB-0AD7-1C54-E92FD7002C82}"/>
              </a:ext>
            </a:extLst>
          </p:cNvPr>
          <p:cNvSpPr txBox="1"/>
          <p:nvPr/>
        </p:nvSpPr>
        <p:spPr>
          <a:xfrm>
            <a:off x="2482816"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2" name="文字方塊 161">
            <a:extLst>
              <a:ext uri="{FF2B5EF4-FFF2-40B4-BE49-F238E27FC236}">
                <a16:creationId xmlns:a16="http://schemas.microsoft.com/office/drawing/2014/main" id="{4C6FC89D-BBC7-8090-5F91-BE74A60B32CB}"/>
              </a:ext>
            </a:extLst>
          </p:cNvPr>
          <p:cNvSpPr txBox="1"/>
          <p:nvPr/>
        </p:nvSpPr>
        <p:spPr>
          <a:xfrm>
            <a:off x="2782723" y="2917472"/>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4" name="文字方塊 163">
            <a:extLst>
              <a:ext uri="{FF2B5EF4-FFF2-40B4-BE49-F238E27FC236}">
                <a16:creationId xmlns:a16="http://schemas.microsoft.com/office/drawing/2014/main" id="{5A29A6E7-12E3-7EAD-3445-6D9A8D6C0427}"/>
              </a:ext>
            </a:extLst>
          </p:cNvPr>
          <p:cNvSpPr txBox="1"/>
          <p:nvPr/>
        </p:nvSpPr>
        <p:spPr>
          <a:xfrm>
            <a:off x="3073643"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8" name="矩形 167">
            <a:extLst>
              <a:ext uri="{FF2B5EF4-FFF2-40B4-BE49-F238E27FC236}">
                <a16:creationId xmlns:a16="http://schemas.microsoft.com/office/drawing/2014/main" id="{9D8A1084-9F03-ADF1-38BA-A040AD80E8B6}"/>
              </a:ext>
            </a:extLst>
          </p:cNvPr>
          <p:cNvSpPr/>
          <p:nvPr/>
        </p:nvSpPr>
        <p:spPr>
          <a:xfrm>
            <a:off x="607229" y="4756564"/>
            <a:ext cx="933795"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6" name="矩形 175">
            <a:extLst>
              <a:ext uri="{FF2B5EF4-FFF2-40B4-BE49-F238E27FC236}">
                <a16:creationId xmlns:a16="http://schemas.microsoft.com/office/drawing/2014/main" id="{8D498E4C-5D51-7DB9-17CF-CACB40A7A705}"/>
              </a:ext>
            </a:extLst>
          </p:cNvPr>
          <p:cNvSpPr/>
          <p:nvPr/>
        </p:nvSpPr>
        <p:spPr>
          <a:xfrm>
            <a:off x="2476313" y="4756705"/>
            <a:ext cx="504056" cy="393015"/>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7" name="矩形: 圓角 176">
            <a:extLst>
              <a:ext uri="{FF2B5EF4-FFF2-40B4-BE49-F238E27FC236}">
                <a16:creationId xmlns:a16="http://schemas.microsoft.com/office/drawing/2014/main" id="{820663F9-B5F4-81B3-0343-D1B5EA59C156}"/>
              </a:ext>
            </a:extLst>
          </p:cNvPr>
          <p:cNvSpPr/>
          <p:nvPr/>
        </p:nvSpPr>
        <p:spPr>
          <a:xfrm>
            <a:off x="2474243" y="4069600"/>
            <a:ext cx="504056" cy="432048"/>
          </a:xfrm>
          <a:prstGeom prst="roundRect">
            <a:avLst/>
          </a:prstGeom>
          <a:solidFill>
            <a:schemeClr val="bg1"/>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2048</a:t>
            </a:r>
          </a:p>
        </p:txBody>
      </p:sp>
      <p:sp>
        <p:nvSpPr>
          <p:cNvPr id="179" name="矩形: 圓角 178">
            <a:extLst>
              <a:ext uri="{FF2B5EF4-FFF2-40B4-BE49-F238E27FC236}">
                <a16:creationId xmlns:a16="http://schemas.microsoft.com/office/drawing/2014/main" id="{E35675A0-647C-6987-3E01-AA861C9B4DA7}"/>
              </a:ext>
            </a:extLst>
          </p:cNvPr>
          <p:cNvSpPr/>
          <p:nvPr/>
        </p:nvSpPr>
        <p:spPr>
          <a:xfrm>
            <a:off x="607229" y="4069600"/>
            <a:ext cx="936104" cy="432048"/>
          </a:xfrm>
          <a:prstGeom prst="roundRect">
            <a:avLst/>
          </a:prstGeom>
          <a:solidFill>
            <a:schemeClr val="bg1"/>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8192</a:t>
            </a:r>
          </a:p>
        </p:txBody>
      </p:sp>
      <p:sp>
        <p:nvSpPr>
          <p:cNvPr id="181" name="矩形: 圓角 180">
            <a:extLst>
              <a:ext uri="{FF2B5EF4-FFF2-40B4-BE49-F238E27FC236}">
                <a16:creationId xmlns:a16="http://schemas.microsoft.com/office/drawing/2014/main" id="{03933175-BA42-F91B-94EA-358EEE0391FF}"/>
              </a:ext>
            </a:extLst>
          </p:cNvPr>
          <p:cNvSpPr/>
          <p:nvPr/>
        </p:nvSpPr>
        <p:spPr>
          <a:xfrm>
            <a:off x="607229" y="2472158"/>
            <a:ext cx="936104" cy="1093386"/>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214" name="矩形: 圓角 213">
            <a:extLst>
              <a:ext uri="{FF2B5EF4-FFF2-40B4-BE49-F238E27FC236}">
                <a16:creationId xmlns:a16="http://schemas.microsoft.com/office/drawing/2014/main" id="{031B7DF6-9439-AFF2-1A7A-A362C47B3B0F}"/>
              </a:ext>
            </a:extLst>
          </p:cNvPr>
          <p:cNvSpPr/>
          <p:nvPr/>
        </p:nvSpPr>
        <p:spPr>
          <a:xfrm>
            <a:off x="3779912" y="1393059"/>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sp>
        <p:nvSpPr>
          <p:cNvPr id="243" name="矩形: 圓角 242">
            <a:extLst>
              <a:ext uri="{FF2B5EF4-FFF2-40B4-BE49-F238E27FC236}">
                <a16:creationId xmlns:a16="http://schemas.microsoft.com/office/drawing/2014/main" id="{CC01AD58-2464-AD52-928D-A7DA560B113A}"/>
              </a:ext>
            </a:extLst>
          </p:cNvPr>
          <p:cNvSpPr/>
          <p:nvPr/>
        </p:nvSpPr>
        <p:spPr>
          <a:xfrm>
            <a:off x="2467914" y="3224554"/>
            <a:ext cx="516929" cy="436010"/>
          </a:xfrm>
          <a:prstGeom prst="roundRect">
            <a:avLst>
              <a:gd name="adj" fmla="val 8860"/>
            </a:avLst>
          </a:prstGeom>
          <a:solidFill>
            <a:schemeClr val="accent2">
              <a:lumMod val="20000"/>
              <a:lumOff val="80000"/>
            </a:schemeClr>
          </a:solidFill>
          <a:ln w="254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MoE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p:txBody>
      </p:sp>
      <p:graphicFrame>
        <p:nvGraphicFramePr>
          <p:cNvPr id="247" name="表格 246">
            <a:extLst>
              <a:ext uri="{FF2B5EF4-FFF2-40B4-BE49-F238E27FC236}">
                <a16:creationId xmlns:a16="http://schemas.microsoft.com/office/drawing/2014/main" id="{C0C92457-E1D1-AE97-4DED-9FF74D4517D8}"/>
              </a:ext>
            </a:extLst>
          </p:cNvPr>
          <p:cNvGraphicFramePr>
            <a:graphicFrameLocks noGrp="1"/>
          </p:cNvGraphicFramePr>
          <p:nvPr/>
        </p:nvGraphicFramePr>
        <p:xfrm>
          <a:off x="5652400" y="1777144"/>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D</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253" name="表格 252">
            <a:extLst>
              <a:ext uri="{FF2B5EF4-FFF2-40B4-BE49-F238E27FC236}">
                <a16:creationId xmlns:a16="http://schemas.microsoft.com/office/drawing/2014/main" id="{EAA610AB-467F-98F8-8DA1-4BB70E001F9F}"/>
              </a:ext>
            </a:extLst>
          </p:cNvPr>
          <p:cNvGraphicFramePr>
            <a:graphicFrameLocks noGrp="1"/>
          </p:cNvGraphicFramePr>
          <p:nvPr/>
        </p:nvGraphicFramePr>
        <p:xfrm>
          <a:off x="6823274" y="3400354"/>
          <a:ext cx="1264220" cy="273655"/>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48">
                  <a:extLst>
                    <a:ext uri="{9D8B030D-6E8A-4147-A177-3AD203B41FA5}">
                      <a16:colId xmlns:a16="http://schemas.microsoft.com/office/drawing/2014/main" val="223754513"/>
                    </a:ext>
                  </a:extLst>
                </a:gridCol>
                <a:gridCol w="360040">
                  <a:extLst>
                    <a:ext uri="{9D8B030D-6E8A-4147-A177-3AD203B41FA5}">
                      <a16:colId xmlns:a16="http://schemas.microsoft.com/office/drawing/2014/main" val="213621589"/>
                    </a:ext>
                  </a:extLst>
                </a:gridCol>
              </a:tblGrid>
              <a:tr h="2736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59" name="表格 258">
            <a:extLst>
              <a:ext uri="{FF2B5EF4-FFF2-40B4-BE49-F238E27FC236}">
                <a16:creationId xmlns:a16="http://schemas.microsoft.com/office/drawing/2014/main" id="{DD5C0867-1792-B2D3-EC75-F0E6FAF0173C}"/>
              </a:ext>
            </a:extLst>
          </p:cNvPr>
          <p:cNvGraphicFramePr>
            <a:graphicFrameLocks noGrp="1"/>
          </p:cNvGraphicFramePr>
          <p:nvPr/>
        </p:nvGraphicFramePr>
        <p:xfrm>
          <a:off x="6823274" y="4066479"/>
          <a:ext cx="1264220" cy="276776"/>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50">
                  <a:extLst>
                    <a:ext uri="{9D8B030D-6E8A-4147-A177-3AD203B41FA5}">
                      <a16:colId xmlns:a16="http://schemas.microsoft.com/office/drawing/2014/main" val="223754513"/>
                    </a:ext>
                  </a:extLst>
                </a:gridCol>
                <a:gridCol w="360038">
                  <a:extLst>
                    <a:ext uri="{9D8B030D-6E8A-4147-A177-3AD203B41FA5}">
                      <a16:colId xmlns:a16="http://schemas.microsoft.com/office/drawing/2014/main" val="213621589"/>
                    </a:ext>
                  </a:extLst>
                </a:gridCol>
              </a:tblGrid>
              <a:tr h="276776">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75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61" name="表格 260">
            <a:extLst>
              <a:ext uri="{FF2B5EF4-FFF2-40B4-BE49-F238E27FC236}">
                <a16:creationId xmlns:a16="http://schemas.microsoft.com/office/drawing/2014/main" id="{014ABB89-C3D2-52CD-CFF3-58D9388A97DC}"/>
              </a:ext>
            </a:extLst>
          </p:cNvPr>
          <p:cNvGraphicFramePr>
            <a:graphicFrameLocks noGrp="1"/>
          </p:cNvGraphicFramePr>
          <p:nvPr/>
        </p:nvGraphicFramePr>
        <p:xfrm>
          <a:off x="5652120" y="5265132"/>
          <a:ext cx="2520000" cy="302259"/>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cxnSp>
        <p:nvCxnSpPr>
          <p:cNvPr id="293" name="直線接點 292">
            <a:extLst>
              <a:ext uri="{FF2B5EF4-FFF2-40B4-BE49-F238E27FC236}">
                <a16:creationId xmlns:a16="http://schemas.microsoft.com/office/drawing/2014/main" id="{1E2D3E8D-0452-7E25-9998-74A6AE18F4D9}"/>
              </a:ext>
            </a:extLst>
          </p:cNvPr>
          <p:cNvCxnSpPr>
            <a:cxnSpLocks/>
            <a:stCxn id="447" idx="1"/>
            <a:endCxn id="253" idx="3"/>
          </p:cNvCxnSpPr>
          <p:nvPr/>
        </p:nvCxnSpPr>
        <p:spPr>
          <a:xfrm flipH="1">
            <a:off x="8087494" y="3537181"/>
            <a:ext cx="275854" cy="0"/>
          </a:xfrm>
          <a:prstGeom prst="line">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323" name="文字方塊 322">
            <a:extLst>
              <a:ext uri="{FF2B5EF4-FFF2-40B4-BE49-F238E27FC236}">
                <a16:creationId xmlns:a16="http://schemas.microsoft.com/office/drawing/2014/main" id="{CA57806C-ACF6-8983-1D97-6B31CC1CB11E}"/>
              </a:ext>
            </a:extLst>
          </p:cNvPr>
          <p:cNvSpPr txBox="1"/>
          <p:nvPr/>
        </p:nvSpPr>
        <p:spPr>
          <a:xfrm>
            <a:off x="5652120" y="5069655"/>
            <a:ext cx="899391" cy="209704"/>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Gating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Router</a:t>
            </a:r>
          </a:p>
        </p:txBody>
      </p:sp>
      <p:sp>
        <p:nvSpPr>
          <p:cNvPr id="363" name="文字方塊 362">
            <a:extLst>
              <a:ext uri="{FF2B5EF4-FFF2-40B4-BE49-F238E27FC236}">
                <a16:creationId xmlns:a16="http://schemas.microsoft.com/office/drawing/2014/main" id="{620D659A-7991-4FAE-8590-B03AAC3BB088}"/>
              </a:ext>
            </a:extLst>
          </p:cNvPr>
          <p:cNvSpPr txBox="1"/>
          <p:nvPr/>
        </p:nvSpPr>
        <p:spPr>
          <a:xfrm>
            <a:off x="6823274" y="3839199"/>
            <a:ext cx="963697" cy="264500"/>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Token Indexing</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379" name="矩形: 圓角 378">
            <a:extLst>
              <a:ext uri="{FF2B5EF4-FFF2-40B4-BE49-F238E27FC236}">
                <a16:creationId xmlns:a16="http://schemas.microsoft.com/office/drawing/2014/main" id="{2F1EACE9-6C4F-E6A2-7E9C-5369AFF3D3C7}"/>
              </a:ext>
            </a:extLst>
          </p:cNvPr>
          <p:cNvSpPr/>
          <p:nvPr/>
        </p:nvSpPr>
        <p:spPr>
          <a:xfrm>
            <a:off x="8355366" y="5135343"/>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W</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402" name="文字方塊 401">
            <a:extLst>
              <a:ext uri="{FF2B5EF4-FFF2-40B4-BE49-F238E27FC236}">
                <a16:creationId xmlns:a16="http://schemas.microsoft.com/office/drawing/2014/main" id="{4E0A9FAE-29B1-816E-5483-771F675B8989}"/>
              </a:ext>
            </a:extLst>
          </p:cNvPr>
          <p:cNvSpPr txBox="1"/>
          <p:nvPr/>
        </p:nvSpPr>
        <p:spPr>
          <a:xfrm>
            <a:off x="8172400" y="5135343"/>
            <a:ext cx="182966"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07" name="接點: 弧形 406">
            <a:extLst>
              <a:ext uri="{FF2B5EF4-FFF2-40B4-BE49-F238E27FC236}">
                <a16:creationId xmlns:a16="http://schemas.microsoft.com/office/drawing/2014/main" id="{8B1C2571-5A79-380C-3907-98FA7100E4FD}"/>
              </a:ext>
            </a:extLst>
          </p:cNvPr>
          <p:cNvCxnSpPr>
            <a:cxnSpLocks/>
            <a:stCxn id="406" idx="0"/>
            <a:endCxn id="259" idx="3"/>
          </p:cNvCxnSpPr>
          <p:nvPr/>
        </p:nvCxnSpPr>
        <p:spPr>
          <a:xfrm rot="16200000" flipV="1">
            <a:off x="8118153" y="4174208"/>
            <a:ext cx="354412" cy="415730"/>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14" name="接點: 弧形 413">
            <a:extLst>
              <a:ext uri="{FF2B5EF4-FFF2-40B4-BE49-F238E27FC236}">
                <a16:creationId xmlns:a16="http://schemas.microsoft.com/office/drawing/2014/main" id="{8D8F4C6C-B285-EE2B-06C3-512A8855AB4D}"/>
              </a:ext>
            </a:extLst>
          </p:cNvPr>
          <p:cNvCxnSpPr>
            <a:cxnSpLocks/>
            <a:stCxn id="379" idx="0"/>
            <a:endCxn id="404" idx="3"/>
          </p:cNvCxnSpPr>
          <p:nvPr/>
        </p:nvCxnSpPr>
        <p:spPr>
          <a:xfrm rot="16200000" flipV="1">
            <a:off x="8139011" y="4775254"/>
            <a:ext cx="321471" cy="398708"/>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0" name="文字方塊 399">
            <a:extLst>
              <a:ext uri="{FF2B5EF4-FFF2-40B4-BE49-F238E27FC236}">
                <a16:creationId xmlns:a16="http://schemas.microsoft.com/office/drawing/2014/main" id="{2F583315-4FA0-6602-451D-ABD98885CC2D}"/>
              </a:ext>
            </a:extLst>
          </p:cNvPr>
          <p:cNvSpPr txBox="1"/>
          <p:nvPr/>
        </p:nvSpPr>
        <p:spPr>
          <a:xfrm>
            <a:off x="8100392" y="4559279"/>
            <a:ext cx="252367" cy="276776"/>
          </a:xfrm>
          <a:prstGeom prst="rect">
            <a:avLst/>
          </a:prstGeom>
          <a:solidFill>
            <a:schemeClr val="bg1">
              <a:alpha val="60000"/>
            </a:schemeClr>
          </a:solid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06" name="矩形: 圓角 405">
            <a:extLst>
              <a:ext uri="{FF2B5EF4-FFF2-40B4-BE49-F238E27FC236}">
                <a16:creationId xmlns:a16="http://schemas.microsoft.com/office/drawing/2014/main" id="{8AFDE857-C413-DD9E-F7EB-6C906CA3FCFF}"/>
              </a:ext>
            </a:extLst>
          </p:cNvPr>
          <p:cNvSpPr/>
          <p:nvPr/>
        </p:nvSpPr>
        <p:spPr>
          <a:xfrm>
            <a:off x="8365657" y="4559279"/>
            <a:ext cx="275134" cy="276776"/>
          </a:xfrm>
          <a:prstGeom prst="roundRect">
            <a:avLst>
              <a:gd name="adj" fmla="val 13748"/>
            </a:avLst>
          </a:prstGeom>
          <a:solidFill>
            <a:schemeClr val="bg1">
              <a:alpha val="60000"/>
            </a:scheme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lang="el-GR" altLang="zh-TW" sz="1400" b="1" dirty="0">
                <a:solidFill>
                  <a:prstClr val="black"/>
                </a:solidFill>
                <a:latin typeface="Calibri"/>
                <a:ea typeface="微軟正黑體" panose="020B0604030504040204" pitchFamily="34" charset="-120"/>
              </a:rPr>
              <a:t>σ</a:t>
            </a:r>
            <a:endParaRPr lang="en-US" altLang="zh-TW" sz="1400" b="1" dirty="0">
              <a:solidFill>
                <a:prstClr val="black"/>
              </a:solidFill>
              <a:latin typeface="Calibri"/>
              <a:ea typeface="微軟正黑體" panose="020B0604030504040204" pitchFamily="34" charset="-120"/>
            </a:endParaRPr>
          </a:p>
          <a:p>
            <a:pPr marL="0" marR="0" lvl="0" indent="0" algn="ctr" defTabSz="914400" rtl="0" eaLnBrk="1" fontAlgn="auto" latinLnBrk="0" hangingPunct="1">
              <a:lnSpc>
                <a:spcPts val="800"/>
              </a:lnSpc>
              <a:spcBef>
                <a:spcPts val="0"/>
              </a:spcBef>
              <a:spcAft>
                <a:spcPts val="0"/>
              </a:spcAft>
              <a:buClrTx/>
              <a:buSzTx/>
              <a:buFontTx/>
              <a:buNone/>
              <a:tabLst/>
              <a:defRPr/>
            </a:pPr>
            <a:r>
              <a:rPr kumimoji="0" lang="en-US" altLang="zh-TW" sz="1000" i="0" u="none" strike="noStrike" kern="1200" cap="none" spc="0" normalizeH="0" noProof="0" dirty="0">
                <a:ln>
                  <a:noFill/>
                </a:ln>
                <a:solidFill>
                  <a:prstClr val="black"/>
                </a:solidFill>
                <a:effectLst/>
                <a:uLnTx/>
                <a:uFillTx/>
                <a:latin typeface="Calibri"/>
                <a:ea typeface="微軟正黑體" panose="020B0604030504040204" pitchFamily="34" charset="-120"/>
                <a:cs typeface="+mn-cs"/>
              </a:rPr>
              <a:t>1xd</a:t>
            </a:r>
          </a:p>
        </p:txBody>
      </p:sp>
      <p:graphicFrame>
        <p:nvGraphicFramePr>
          <p:cNvPr id="404" name="表格 403">
            <a:extLst>
              <a:ext uri="{FF2B5EF4-FFF2-40B4-BE49-F238E27FC236}">
                <a16:creationId xmlns:a16="http://schemas.microsoft.com/office/drawing/2014/main" id="{6E3D035F-6702-C057-0997-E88CF58E6154}"/>
              </a:ext>
            </a:extLst>
          </p:cNvPr>
          <p:cNvGraphicFramePr>
            <a:graphicFrameLocks noGrp="1"/>
          </p:cNvGraphicFramePr>
          <p:nvPr/>
        </p:nvGraphicFramePr>
        <p:xfrm>
          <a:off x="6836172" y="4662743"/>
          <a:ext cx="1264220" cy="302259"/>
        </p:xfrm>
        <a:graphic>
          <a:graphicData uri="http://schemas.openxmlformats.org/drawingml/2006/table">
            <a:tbl>
              <a:tblPr firstRow="1" bandRow="1">
                <a:tableStyleId>{5C22544A-7EE6-4342-B048-85BDC9FD1C3A}</a:tableStyleId>
              </a:tblPr>
              <a:tblGrid>
                <a:gridCol w="180603">
                  <a:extLst>
                    <a:ext uri="{9D8B030D-6E8A-4147-A177-3AD203B41FA5}">
                      <a16:colId xmlns:a16="http://schemas.microsoft.com/office/drawing/2014/main" val="871242339"/>
                    </a:ext>
                  </a:extLst>
                </a:gridCol>
                <a:gridCol w="219521">
                  <a:extLst>
                    <a:ext uri="{9D8B030D-6E8A-4147-A177-3AD203B41FA5}">
                      <a16:colId xmlns:a16="http://schemas.microsoft.com/office/drawing/2014/main" val="337396536"/>
                    </a:ext>
                  </a:extLst>
                </a:gridCol>
                <a:gridCol w="141685">
                  <a:extLst>
                    <a:ext uri="{9D8B030D-6E8A-4147-A177-3AD203B41FA5}">
                      <a16:colId xmlns:a16="http://schemas.microsoft.com/office/drawing/2014/main" val="334335693"/>
                    </a:ext>
                  </a:extLst>
                </a:gridCol>
                <a:gridCol w="180603">
                  <a:extLst>
                    <a:ext uri="{9D8B030D-6E8A-4147-A177-3AD203B41FA5}">
                      <a16:colId xmlns:a16="http://schemas.microsoft.com/office/drawing/2014/main" val="2850820999"/>
                    </a:ext>
                  </a:extLst>
                </a:gridCol>
                <a:gridCol w="180603">
                  <a:extLst>
                    <a:ext uri="{9D8B030D-6E8A-4147-A177-3AD203B41FA5}">
                      <a16:colId xmlns:a16="http://schemas.microsoft.com/office/drawing/2014/main" val="3242229700"/>
                    </a:ext>
                  </a:extLst>
                </a:gridCol>
                <a:gridCol w="361205">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427" name="文字方塊 426">
            <a:extLst>
              <a:ext uri="{FF2B5EF4-FFF2-40B4-BE49-F238E27FC236}">
                <a16:creationId xmlns:a16="http://schemas.microsoft.com/office/drawing/2014/main" id="{47F05608-923F-2B14-01AF-B4581090A390}"/>
              </a:ext>
            </a:extLst>
          </p:cNvPr>
          <p:cNvSpPr txBox="1"/>
          <p:nvPr/>
        </p:nvSpPr>
        <p:spPr>
          <a:xfrm>
            <a:off x="6836172" y="4475026"/>
            <a:ext cx="646847" cy="203300"/>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Sigmoid</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35" name="矩形 434">
            <a:extLst>
              <a:ext uri="{FF2B5EF4-FFF2-40B4-BE49-F238E27FC236}">
                <a16:creationId xmlns:a16="http://schemas.microsoft.com/office/drawing/2014/main" id="{4EF0C082-B586-2A83-3CC7-FCEA141E4164}"/>
              </a:ext>
            </a:extLst>
          </p:cNvPr>
          <p:cNvSpPr/>
          <p:nvPr/>
        </p:nvSpPr>
        <p:spPr>
          <a:xfrm>
            <a:off x="282880"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37" name="矩形 436">
            <a:extLst>
              <a:ext uri="{FF2B5EF4-FFF2-40B4-BE49-F238E27FC236}">
                <a16:creationId xmlns:a16="http://schemas.microsoft.com/office/drawing/2014/main" id="{2A83D4DC-A1FC-D379-0B41-0FC0453F77E9}"/>
              </a:ext>
            </a:extLst>
          </p:cNvPr>
          <p:cNvSpPr/>
          <p:nvPr/>
        </p:nvSpPr>
        <p:spPr>
          <a:xfrm>
            <a:off x="1939064"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7" name="矩形: 圓角 446">
            <a:extLst>
              <a:ext uri="{FF2B5EF4-FFF2-40B4-BE49-F238E27FC236}">
                <a16:creationId xmlns:a16="http://schemas.microsoft.com/office/drawing/2014/main" id="{46AAE791-BF66-906B-21D6-002C7F24A655}"/>
              </a:ext>
            </a:extLst>
          </p:cNvPr>
          <p:cNvSpPr/>
          <p:nvPr/>
        </p:nvSpPr>
        <p:spPr>
          <a:xfrm>
            <a:off x="8363348" y="3501266"/>
            <a:ext cx="257333" cy="71829"/>
          </a:xfrm>
          <a:prstGeom prst="roundRect">
            <a:avLst>
              <a:gd name="adj" fmla="val 13748"/>
            </a:avLst>
          </a:prstGeom>
          <a:solidFill>
            <a:schemeClr val="accent6">
              <a:lumMod val="60000"/>
              <a:lumOff val="40000"/>
            </a:schemeClr>
          </a:solidFill>
          <a:ln w="1905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cxnSp>
        <p:nvCxnSpPr>
          <p:cNvPr id="448" name="接點: 肘形 447">
            <a:extLst>
              <a:ext uri="{FF2B5EF4-FFF2-40B4-BE49-F238E27FC236}">
                <a16:creationId xmlns:a16="http://schemas.microsoft.com/office/drawing/2014/main" id="{4FAEA13E-A6B7-AAFC-7E5C-1333363380E8}"/>
              </a:ext>
            </a:extLst>
          </p:cNvPr>
          <p:cNvCxnSpPr>
            <a:cxnSpLocks/>
            <a:stCxn id="363" idx="3"/>
            <a:endCxn id="447" idx="2"/>
          </p:cNvCxnSpPr>
          <p:nvPr/>
        </p:nvCxnSpPr>
        <p:spPr>
          <a:xfrm flipV="1">
            <a:off x="7786971" y="3573095"/>
            <a:ext cx="705044" cy="398354"/>
          </a:xfrm>
          <a:prstGeom prst="bentConnector2">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466" name="文字方塊 465">
            <a:extLst>
              <a:ext uri="{FF2B5EF4-FFF2-40B4-BE49-F238E27FC236}">
                <a16:creationId xmlns:a16="http://schemas.microsoft.com/office/drawing/2014/main" id="{92279F43-B2F2-FB04-5344-62A9C2F8EA11}"/>
              </a:ext>
            </a:extLst>
          </p:cNvPr>
          <p:cNvSpPr txBox="1"/>
          <p:nvPr/>
        </p:nvSpPr>
        <p:spPr>
          <a:xfrm>
            <a:off x="6823274" y="3191127"/>
            <a:ext cx="1135886" cy="209227"/>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Layer</a:t>
            </a:r>
            <a:r>
              <a:rPr lang="zh-TW" altLang="en-US" sz="1200" dirty="0">
                <a:solidFill>
                  <a:prstClr val="black"/>
                </a:solidFill>
                <a:ea typeface="Cambria Math" panose="02040503050406030204" pitchFamily="18" charset="0"/>
              </a:rPr>
              <a:t>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Embedding</a:t>
            </a:r>
          </a:p>
        </p:txBody>
      </p:sp>
      <p:sp>
        <p:nvSpPr>
          <p:cNvPr id="479" name="矩形: 圓角 478">
            <a:extLst>
              <a:ext uri="{FF2B5EF4-FFF2-40B4-BE49-F238E27FC236}">
                <a16:creationId xmlns:a16="http://schemas.microsoft.com/office/drawing/2014/main" id="{AAEF32EF-4601-2FFE-31D1-4EB5DB72B456}"/>
              </a:ext>
            </a:extLst>
          </p:cNvPr>
          <p:cNvSpPr/>
          <p:nvPr/>
        </p:nvSpPr>
        <p:spPr>
          <a:xfrm>
            <a:off x="7365587" y="2787416"/>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U</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graphicFrame>
        <p:nvGraphicFramePr>
          <p:cNvPr id="481" name="表格 480">
            <a:extLst>
              <a:ext uri="{FF2B5EF4-FFF2-40B4-BE49-F238E27FC236}">
                <a16:creationId xmlns:a16="http://schemas.microsoft.com/office/drawing/2014/main" id="{EFE93AF7-E38D-1AE6-A6F5-7DC949647DC6}"/>
              </a:ext>
            </a:extLst>
          </p:cNvPr>
          <p:cNvGraphicFramePr>
            <a:graphicFrameLocks noGrp="1"/>
          </p:cNvGraphicFramePr>
          <p:nvPr/>
        </p:nvGraphicFramePr>
        <p:xfrm>
          <a:off x="5652400" y="2209192"/>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483" name="表格 482">
            <a:extLst>
              <a:ext uri="{FF2B5EF4-FFF2-40B4-BE49-F238E27FC236}">
                <a16:creationId xmlns:a16="http://schemas.microsoft.com/office/drawing/2014/main" id="{1613D734-D7EE-8469-5327-8CD37D8B38AF}"/>
              </a:ext>
            </a:extLst>
          </p:cNvPr>
          <p:cNvGraphicFramePr>
            <a:graphicFrameLocks noGrp="1"/>
          </p:cNvGraphicFramePr>
          <p:nvPr/>
        </p:nvGraphicFramePr>
        <p:xfrm>
          <a:off x="6823274" y="2787342"/>
          <a:ext cx="375653" cy="293524"/>
        </p:xfrm>
        <a:graphic>
          <a:graphicData uri="http://schemas.openxmlformats.org/drawingml/2006/table">
            <a:tbl>
              <a:tblPr firstRow="1" bandRow="1">
                <a:tableStyleId>{5C22544A-7EE6-4342-B048-85BDC9FD1C3A}</a:tableStyleId>
              </a:tblPr>
              <a:tblGrid>
                <a:gridCol w="375653">
                  <a:extLst>
                    <a:ext uri="{9D8B030D-6E8A-4147-A177-3AD203B41FA5}">
                      <a16:colId xmlns:a16="http://schemas.microsoft.com/office/drawing/2014/main" val="871242339"/>
                    </a:ext>
                  </a:extLst>
                </a:gridCol>
              </a:tblGrid>
              <a:tr h="293524">
                <a:tc>
                  <a:txBody>
                    <a:bodyPr/>
                    <a:lstStyle/>
                    <a:p>
                      <a:pPr algn="ctr"/>
                      <a:r>
                        <a:rPr lang="en-US" altLang="zh-TW" sz="1200" b="0" dirty="0">
                          <a:solidFill>
                            <a:schemeClr val="tx1"/>
                          </a:solidFill>
                          <a:latin typeface="+mn-lt"/>
                          <a:ea typeface="ADLaM Display" panose="02010000000000000000" pitchFamily="2" charset="0"/>
                          <a:cs typeface="ADLaM Display" panose="02010000000000000000" pitchFamily="2" charset="0"/>
                        </a:rPr>
                        <a:t>1xd</a:t>
                      </a:r>
                      <a:endParaRPr lang="zh-TW" altLang="en-US" sz="1200" b="0" baseline="-25000" dirty="0">
                        <a:solidFill>
                          <a:schemeClr val="tx1"/>
                        </a:solidFill>
                        <a:latin typeface="+mn-lt"/>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sp>
        <p:nvSpPr>
          <p:cNvPr id="485" name="文字方塊 484">
            <a:extLst>
              <a:ext uri="{FF2B5EF4-FFF2-40B4-BE49-F238E27FC236}">
                <a16:creationId xmlns:a16="http://schemas.microsoft.com/office/drawing/2014/main" id="{AF300427-60AB-270B-7DD2-3C93CCD7650F}"/>
              </a:ext>
            </a:extLst>
          </p:cNvPr>
          <p:cNvSpPr txBox="1"/>
          <p:nvPr/>
        </p:nvSpPr>
        <p:spPr>
          <a:xfrm>
            <a:off x="7211082" y="2831087"/>
            <a:ext cx="131861" cy="199518"/>
          </a:xfrm>
          <a:prstGeom prst="rect">
            <a:avLst/>
          </a:prstGeom>
          <a:noFill/>
        </p:spPr>
        <p:txBody>
          <a:bodyPr wrap="none" lIns="0" tIns="0" rIns="0" bIns="0" anchor="ctr" anchorCtr="1">
            <a:noAutofit/>
          </a:bodyPr>
          <a:lstStyle/>
          <a:p>
            <a:pPr algn="ctr"/>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57" name="文字方塊 256">
            <a:extLst>
              <a:ext uri="{FF2B5EF4-FFF2-40B4-BE49-F238E27FC236}">
                <a16:creationId xmlns:a16="http://schemas.microsoft.com/office/drawing/2014/main" id="{2FB0E5F6-49B7-D8E2-93FB-7F7FD78EA55A}"/>
              </a:ext>
            </a:extLst>
          </p:cNvPr>
          <p:cNvSpPr txBox="1"/>
          <p:nvPr/>
        </p:nvSpPr>
        <p:spPr>
          <a:xfrm>
            <a:off x="7936010" y="3839925"/>
            <a:ext cx="313421" cy="263368"/>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87" name="文字方塊 486">
            <a:extLst>
              <a:ext uri="{FF2B5EF4-FFF2-40B4-BE49-F238E27FC236}">
                <a16:creationId xmlns:a16="http://schemas.microsoft.com/office/drawing/2014/main" id="{5041D6AD-1103-86B9-C9AA-C8E731758846}"/>
              </a:ext>
            </a:extLst>
          </p:cNvPr>
          <p:cNvSpPr txBox="1"/>
          <p:nvPr/>
        </p:nvSpPr>
        <p:spPr>
          <a:xfrm>
            <a:off x="6588779" y="1981367"/>
            <a:ext cx="313421" cy="273656"/>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lang="en-US" altLang="zh-TW" sz="1400" b="1" dirty="0">
                <a:solidFill>
                  <a:prstClr val="black"/>
                </a:solidFill>
                <a:latin typeface="Calibri" panose="020F0502020204030204" pitchFamily="34" charset="0"/>
                <a:ea typeface="Calibri" panose="020F0502020204030204" pitchFamily="34" charset="0"/>
                <a:cs typeface="Calibri" panose="020F0502020204030204" pitchFamily="34" charset="0"/>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93" name="文字方塊 492">
            <a:extLst>
              <a:ext uri="{FF2B5EF4-FFF2-40B4-BE49-F238E27FC236}">
                <a16:creationId xmlns:a16="http://schemas.microsoft.com/office/drawing/2014/main" id="{7D95342C-48CE-3428-8BAF-56C02A6A28FB}"/>
              </a:ext>
            </a:extLst>
          </p:cNvPr>
          <p:cNvSpPr txBox="1"/>
          <p:nvPr/>
        </p:nvSpPr>
        <p:spPr>
          <a:xfrm>
            <a:off x="5652120" y="1549320"/>
            <a:ext cx="1321377" cy="273655"/>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Residual Connection</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94" name="接點: 弧形 493">
            <a:extLst>
              <a:ext uri="{FF2B5EF4-FFF2-40B4-BE49-F238E27FC236}">
                <a16:creationId xmlns:a16="http://schemas.microsoft.com/office/drawing/2014/main" id="{068BEFDE-A54C-E48C-D788-F5D0D3C87A15}"/>
              </a:ext>
            </a:extLst>
          </p:cNvPr>
          <p:cNvCxnSpPr>
            <a:cxnSpLocks/>
            <a:stCxn id="479" idx="3"/>
            <a:endCxn id="481" idx="3"/>
          </p:cNvCxnSpPr>
          <p:nvPr/>
        </p:nvCxnSpPr>
        <p:spPr>
          <a:xfrm flipV="1">
            <a:off x="7653055" y="2340119"/>
            <a:ext cx="519345" cy="598427"/>
          </a:xfrm>
          <a:prstGeom prst="curvedConnector3">
            <a:avLst>
              <a:gd name="adj1" fmla="val 144017"/>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 name="右大括弧 5">
            <a:extLst>
              <a:ext uri="{FF2B5EF4-FFF2-40B4-BE49-F238E27FC236}">
                <a16:creationId xmlns:a16="http://schemas.microsoft.com/office/drawing/2014/main" id="{05D3A30A-23B5-89E0-3314-62B741022036}"/>
              </a:ext>
            </a:extLst>
          </p:cNvPr>
          <p:cNvSpPr/>
          <p:nvPr/>
        </p:nvSpPr>
        <p:spPr>
          <a:xfrm rot="5400000">
            <a:off x="6865727" y="4375632"/>
            <a:ext cx="92783" cy="2519999"/>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9" name="文字方塊 8">
            <a:extLst>
              <a:ext uri="{FF2B5EF4-FFF2-40B4-BE49-F238E27FC236}">
                <a16:creationId xmlns:a16="http://schemas.microsoft.com/office/drawing/2014/main" id="{4CAF5C0C-9699-33DC-CAC5-64503391EF41}"/>
              </a:ext>
            </a:extLst>
          </p:cNvPr>
          <p:cNvSpPr txBox="1"/>
          <p:nvPr/>
        </p:nvSpPr>
        <p:spPr>
          <a:xfrm>
            <a:off x="6712434" y="5620158"/>
            <a:ext cx="247476" cy="226195"/>
          </a:xfrm>
          <a:prstGeom prst="rect">
            <a:avLst/>
          </a:prstGeom>
          <a:noFill/>
        </p:spPr>
        <p:txBody>
          <a:bodyPr wrap="none" lIns="0" tIns="0" rIns="0" bIns="0" anchor="ctr" anchorCtr="1">
            <a:noAutofit/>
          </a:bodyPr>
          <a:lstStyle/>
          <a:p>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D</a:t>
            </a:r>
          </a:p>
        </p:txBody>
      </p:sp>
      <p:sp>
        <p:nvSpPr>
          <p:cNvPr id="3" name="矩形: 圓角 2">
            <a:extLst>
              <a:ext uri="{FF2B5EF4-FFF2-40B4-BE49-F238E27FC236}">
                <a16:creationId xmlns:a16="http://schemas.microsoft.com/office/drawing/2014/main" id="{5A833C20-E34A-794E-C38B-514B6ED5B13C}"/>
              </a:ext>
            </a:extLst>
          </p:cNvPr>
          <p:cNvSpPr/>
          <p:nvPr/>
        </p:nvSpPr>
        <p:spPr>
          <a:xfrm>
            <a:off x="3774439"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8" name="矩形: 圓角 7">
            <a:extLst>
              <a:ext uri="{FF2B5EF4-FFF2-40B4-BE49-F238E27FC236}">
                <a16:creationId xmlns:a16="http://schemas.microsoft.com/office/drawing/2014/main" id="{8A0E9DEC-6BB0-B86B-39F0-F6F279A4E191}"/>
              </a:ext>
            </a:extLst>
          </p:cNvPr>
          <p:cNvSpPr/>
          <p:nvPr/>
        </p:nvSpPr>
        <p:spPr>
          <a:xfrm>
            <a:off x="3774439"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1" name="文字方塊 10">
            <a:extLst>
              <a:ext uri="{FF2B5EF4-FFF2-40B4-BE49-F238E27FC236}">
                <a16:creationId xmlns:a16="http://schemas.microsoft.com/office/drawing/2014/main" id="{E4B4E782-C4A9-9E49-E107-64014F5CE375}"/>
              </a:ext>
            </a:extLst>
          </p:cNvPr>
          <p:cNvSpPr txBox="1"/>
          <p:nvPr/>
        </p:nvSpPr>
        <p:spPr>
          <a:xfrm>
            <a:off x="3846446" y="3781568"/>
            <a:ext cx="1086557"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12" name="直線單箭頭接點 11">
            <a:extLst>
              <a:ext uri="{FF2B5EF4-FFF2-40B4-BE49-F238E27FC236}">
                <a16:creationId xmlns:a16="http://schemas.microsoft.com/office/drawing/2014/main" id="{7991A0C8-F4D0-EF0A-8800-0DEA97697164}"/>
              </a:ext>
            </a:extLst>
          </p:cNvPr>
          <p:cNvCxnSpPr>
            <a:cxnSpLocks/>
            <a:stCxn id="34" idx="0"/>
            <a:endCxn id="35" idx="2"/>
          </p:cNvCxnSpPr>
          <p:nvPr/>
        </p:nvCxnSpPr>
        <p:spPr>
          <a:xfrm flipH="1" flipV="1">
            <a:off x="4250989" y="4501648"/>
            <a:ext cx="128063" cy="25505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13" name="直線單箭頭接點 12">
            <a:extLst>
              <a:ext uri="{FF2B5EF4-FFF2-40B4-BE49-F238E27FC236}">
                <a16:creationId xmlns:a16="http://schemas.microsoft.com/office/drawing/2014/main" id="{5F2CBFB4-0982-E8DC-7CDD-9EB6C336CAAE}"/>
              </a:ext>
            </a:extLst>
          </p:cNvPr>
          <p:cNvCxnSpPr>
            <a:cxnSpLocks/>
            <a:stCxn id="8" idx="0"/>
            <a:endCxn id="214" idx="2"/>
          </p:cNvCxnSpPr>
          <p:nvPr/>
        </p:nvCxnSpPr>
        <p:spPr>
          <a:xfrm flipV="1">
            <a:off x="4384200" y="1738305"/>
            <a:ext cx="5473" cy="184321"/>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8" name="文字方塊 17">
            <a:extLst>
              <a:ext uri="{FF2B5EF4-FFF2-40B4-BE49-F238E27FC236}">
                <a16:creationId xmlns:a16="http://schemas.microsoft.com/office/drawing/2014/main" id="{9FEB499D-2C2E-3B44-A165-2519817D9658}"/>
              </a:ext>
            </a:extLst>
          </p:cNvPr>
          <p:cNvSpPr txBox="1"/>
          <p:nvPr/>
        </p:nvSpPr>
        <p:spPr>
          <a:xfrm>
            <a:off x="3867272" y="2433529"/>
            <a:ext cx="139424" cy="11519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200"/>
              </a:lnSpc>
              <a:buNone/>
            </a:pPr>
            <a:r>
              <a:rPr lang="en-US" altLang="zh-TW" sz="1200" b="1" dirty="0">
                <a:solidFill>
                  <a:schemeClr val="bg1">
                    <a:lumMod val="50000"/>
                  </a:schemeClr>
                </a:solidFill>
                <a:latin typeface="Gadugi" panose="020B0502040204020203" pitchFamily="34" charset="0"/>
                <a:ea typeface="Gadugi" panose="020B0502040204020203" pitchFamily="34" charset="0"/>
                <a:cs typeface="ADLaM Display" panose="02010000000000000000" pitchFamily="2" charset="0"/>
              </a:rPr>
              <a:t>e</a:t>
            </a:r>
            <a:endPar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endParaRPr>
          </a:p>
        </p:txBody>
      </p:sp>
      <p:sp>
        <p:nvSpPr>
          <p:cNvPr id="22" name="文字方塊 21">
            <a:extLst>
              <a:ext uri="{FF2B5EF4-FFF2-40B4-BE49-F238E27FC236}">
                <a16:creationId xmlns:a16="http://schemas.microsoft.com/office/drawing/2014/main" id="{51D08741-5391-21D3-C63C-01DEAD6BA47A}"/>
              </a:ext>
            </a:extLst>
          </p:cNvPr>
          <p:cNvSpPr txBox="1"/>
          <p:nvPr/>
        </p:nvSpPr>
        <p:spPr>
          <a:xfrm>
            <a:off x="3867271" y="2587760"/>
            <a:ext cx="128666" cy="95048"/>
          </a:xfrm>
          <a:prstGeom prst="rect">
            <a:avLst/>
          </a:prstGeom>
          <a:solidFill>
            <a:schemeClr val="accent2">
              <a:lumMod val="40000"/>
              <a:lumOff val="60000"/>
            </a:schemeClr>
          </a:solidFill>
          <a:ln w="25400">
            <a:solidFill>
              <a:schemeClr val="bg1">
                <a:lumMod val="85000"/>
              </a:schemeClr>
            </a:solidFill>
          </a:ln>
        </p:spPr>
        <p:txBody>
          <a:bodyPr wrap="none" lIns="0" tIns="0" rIns="0" bIns="0" anchor="ctr" anchorCtr="1">
            <a:noAutofit/>
          </a:bodyPr>
          <a:lstStyle/>
          <a:p>
            <a:pPr algn="ctr">
              <a:lnSpc>
                <a:spcPts val="1200"/>
              </a:lnSpc>
              <a:buNone/>
            </a:pPr>
            <a:r>
              <a:rPr lang="en-US" altLang="zh-TW" sz="1200" b="1" dirty="0">
                <a:solidFill>
                  <a:schemeClr val="tx1">
                    <a:lumMod val="95000"/>
                    <a:lumOff val="5000"/>
                  </a:schemeClr>
                </a:solidFill>
                <a:latin typeface="Gadugi" panose="020B0502040204020203" pitchFamily="34" charset="0"/>
                <a:ea typeface="Gadugi" panose="020B0502040204020203" pitchFamily="34" charset="0"/>
                <a:cs typeface="ADLaM Display" panose="02010000000000000000" pitchFamily="2" charset="0"/>
              </a:rPr>
              <a:t>e</a:t>
            </a:r>
            <a:endPar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endParaRPr>
          </a:p>
        </p:txBody>
      </p:sp>
      <p:sp>
        <p:nvSpPr>
          <p:cNvPr id="34" name="矩形 33">
            <a:extLst>
              <a:ext uri="{FF2B5EF4-FFF2-40B4-BE49-F238E27FC236}">
                <a16:creationId xmlns:a16="http://schemas.microsoft.com/office/drawing/2014/main" id="{5635B5C8-ED48-859A-7297-1A969AF1BD0D}"/>
              </a:ext>
            </a:extLst>
          </p:cNvPr>
          <p:cNvSpPr/>
          <p:nvPr/>
        </p:nvSpPr>
        <p:spPr>
          <a:xfrm>
            <a:off x="4127024" y="4756705"/>
            <a:ext cx="504056" cy="393015"/>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35" name="矩形: 圓角 34">
            <a:extLst>
              <a:ext uri="{FF2B5EF4-FFF2-40B4-BE49-F238E27FC236}">
                <a16:creationId xmlns:a16="http://schemas.microsoft.com/office/drawing/2014/main" id="{89CF481E-9E76-E131-29F0-867FDAB83382}"/>
              </a:ext>
            </a:extLst>
          </p:cNvPr>
          <p:cNvSpPr/>
          <p:nvPr/>
        </p:nvSpPr>
        <p:spPr>
          <a:xfrm>
            <a:off x="4124954" y="4069600"/>
            <a:ext cx="252070" cy="432048"/>
          </a:xfrm>
          <a:prstGeom prst="roundRect">
            <a:avLst/>
          </a:prstGeom>
          <a:solidFill>
            <a:schemeClr val="bg1"/>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2048</a:t>
            </a:r>
          </a:p>
        </p:txBody>
      </p:sp>
      <p:sp>
        <p:nvSpPr>
          <p:cNvPr id="36" name="矩形: 圓角 35">
            <a:extLst>
              <a:ext uri="{FF2B5EF4-FFF2-40B4-BE49-F238E27FC236}">
                <a16:creationId xmlns:a16="http://schemas.microsoft.com/office/drawing/2014/main" id="{B4CFC56D-9909-C54C-EB39-58E0216E1164}"/>
              </a:ext>
            </a:extLst>
          </p:cNvPr>
          <p:cNvSpPr/>
          <p:nvPr/>
        </p:nvSpPr>
        <p:spPr>
          <a:xfrm>
            <a:off x="4118625" y="3224554"/>
            <a:ext cx="516929" cy="436010"/>
          </a:xfrm>
          <a:prstGeom prst="roundRect">
            <a:avLst>
              <a:gd name="adj" fmla="val 8860"/>
            </a:avLst>
          </a:prstGeom>
          <a:solidFill>
            <a:schemeClr val="accent2">
              <a:lumMod val="20000"/>
              <a:lumOff val="80000"/>
            </a:schemeClr>
          </a:solidFill>
          <a:ln w="254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MoE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p:txBody>
      </p:sp>
      <p:sp>
        <p:nvSpPr>
          <p:cNvPr id="37" name="矩形 36">
            <a:extLst>
              <a:ext uri="{FF2B5EF4-FFF2-40B4-BE49-F238E27FC236}">
                <a16:creationId xmlns:a16="http://schemas.microsoft.com/office/drawing/2014/main" id="{700D4D76-B6B2-CDF3-F006-413140F97FC7}"/>
              </a:ext>
            </a:extLst>
          </p:cNvPr>
          <p:cNvSpPr/>
          <p:nvPr/>
        </p:nvSpPr>
        <p:spPr>
          <a:xfrm>
            <a:off x="3589775"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1" name="文字方塊 40">
            <a:extLst>
              <a:ext uri="{FF2B5EF4-FFF2-40B4-BE49-F238E27FC236}">
                <a16:creationId xmlns:a16="http://schemas.microsoft.com/office/drawing/2014/main" id="{52F424F2-C2DC-704B-3F67-BE4A7763F979}"/>
              </a:ext>
            </a:extLst>
          </p:cNvPr>
          <p:cNvSpPr txBox="1"/>
          <p:nvPr/>
        </p:nvSpPr>
        <p:spPr>
          <a:xfrm>
            <a:off x="3867270" y="2719894"/>
            <a:ext cx="126133" cy="108574"/>
          </a:xfrm>
          <a:prstGeom prst="rect">
            <a:avLst/>
          </a:prstGeom>
          <a:solidFill>
            <a:schemeClr val="accent2">
              <a:lumMod val="40000"/>
              <a:lumOff val="60000"/>
            </a:schemeClr>
          </a:solidFill>
          <a:ln w="25400">
            <a:solidFill>
              <a:schemeClr val="bg1">
                <a:lumMod val="85000"/>
              </a:schemeClr>
            </a:solidFill>
          </a:ln>
        </p:spPr>
        <p:txBody>
          <a:bodyPr wrap="none" lIns="0" tIns="0" rIns="0" bIns="0" anchor="ctr" anchorCtr="1">
            <a:noAutofit/>
          </a:bodyPr>
          <a:lstStyle/>
          <a:p>
            <a:pPr algn="ctr">
              <a:lnSpc>
                <a:spcPts val="1200"/>
              </a:lnSpc>
              <a:buNone/>
            </a:pPr>
            <a:r>
              <a:rPr lang="en-US" altLang="zh-TW" sz="1200" b="1" dirty="0">
                <a:solidFill>
                  <a:schemeClr val="tx1">
                    <a:lumMod val="95000"/>
                    <a:lumOff val="5000"/>
                  </a:schemeClr>
                </a:solidFill>
                <a:latin typeface="Gadugi" panose="020B0502040204020203" pitchFamily="34" charset="0"/>
                <a:ea typeface="Gadugi" panose="020B0502040204020203" pitchFamily="34" charset="0"/>
                <a:cs typeface="ADLaM Display" panose="02010000000000000000" pitchFamily="2" charset="0"/>
              </a:rPr>
              <a:t>e</a:t>
            </a:r>
            <a:endPar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endParaRPr>
          </a:p>
        </p:txBody>
      </p:sp>
    </p:spTree>
    <p:extLst>
      <p:ext uri="{BB962C8B-B14F-4D97-AF65-F5344CB8AC3E}">
        <p14:creationId xmlns:p14="http://schemas.microsoft.com/office/powerpoint/2010/main" val="54621272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6B2A54-6427-97B5-1E87-2A9EB5F61F81}"/>
            </a:ext>
          </a:extLst>
        </p:cNvPr>
        <p:cNvGrpSpPr/>
        <p:nvPr/>
      </p:nvGrpSpPr>
      <p:grpSpPr>
        <a:xfrm>
          <a:off x="0" y="0"/>
          <a:ext cx="0" cy="0"/>
          <a:chOff x="0" y="0"/>
          <a:chExt cx="0" cy="0"/>
        </a:xfrm>
      </p:grpSpPr>
      <p:pic>
        <p:nvPicPr>
          <p:cNvPr id="3" name="圖片 2" descr="Kimi K3 架构">
            <a:extLst>
              <a:ext uri="{FF2B5EF4-FFF2-40B4-BE49-F238E27FC236}">
                <a16:creationId xmlns:a16="http://schemas.microsoft.com/office/drawing/2014/main" id="{98621101-8A38-BE97-2C19-3040C57E8430}"/>
              </a:ext>
            </a:extLst>
          </p:cNvPr>
          <p:cNvPicPr>
            <a:picLocks noChangeAspect="1"/>
          </p:cNvPicPr>
          <p:nvPr/>
        </p:nvPicPr>
        <p:blipFill>
          <a:blip r:embed="rId3"/>
          <a:stretch>
            <a:fillRect/>
          </a:stretch>
        </p:blipFill>
        <p:spPr>
          <a:xfrm>
            <a:off x="976102" y="0"/>
            <a:ext cx="7191796" cy="6858000"/>
          </a:xfrm>
          <a:prstGeom prst="rect">
            <a:avLst/>
          </a:prstGeom>
        </p:spPr>
      </p:pic>
    </p:spTree>
    <p:extLst>
      <p:ext uri="{BB962C8B-B14F-4D97-AF65-F5344CB8AC3E}">
        <p14:creationId xmlns:p14="http://schemas.microsoft.com/office/powerpoint/2010/main" val="166384911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E1C088-C29C-CFDD-0766-AA0BE977073D}"/>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48C5EFCD-973E-3362-6BEC-2BABEB772E5E}"/>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LLM Distillation</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Injecting domain knowledge an.</a:t>
            </a:r>
          </a:p>
        </p:txBody>
      </p:sp>
      <p:sp>
        <p:nvSpPr>
          <p:cNvPr id="34" name="文字方塊 33">
            <a:extLst>
              <a:ext uri="{FF2B5EF4-FFF2-40B4-BE49-F238E27FC236}">
                <a16:creationId xmlns:a16="http://schemas.microsoft.com/office/drawing/2014/main" id="{1781F852-2D98-9DA7-ED98-B7E70CCD70A2}"/>
              </a:ext>
            </a:extLst>
          </p:cNvPr>
          <p:cNvSpPr txBox="1"/>
          <p:nvPr/>
        </p:nvSpPr>
        <p:spPr>
          <a:xfrm>
            <a:off x="2250420" y="2861623"/>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Pre-Training</a:t>
            </a:r>
          </a:p>
          <a:p>
            <a:pPr algn="ctr">
              <a:lnSpc>
                <a:spcPts val="1400"/>
              </a:lnSpc>
              <a:buNone/>
            </a:pPr>
            <a:r>
              <a:rPr lang="en-US" altLang="zh-TW" sz="1200" dirty="0"/>
              <a:t>Base</a:t>
            </a:r>
          </a:p>
          <a:p>
            <a:pPr algn="ctr">
              <a:lnSpc>
                <a:spcPts val="1400"/>
              </a:lnSpc>
              <a:buNone/>
            </a:pPr>
            <a:r>
              <a:rPr lang="en-US" altLang="zh-TW" sz="1200" dirty="0"/>
              <a:t>Model</a:t>
            </a:r>
            <a:endParaRPr lang="en-US" altLang="zh-TW" sz="1200" u="none" strike="noStrike" dirty="0">
              <a:effectLst/>
            </a:endParaRPr>
          </a:p>
        </p:txBody>
      </p:sp>
      <p:sp>
        <p:nvSpPr>
          <p:cNvPr id="35" name="文字方塊 34">
            <a:extLst>
              <a:ext uri="{FF2B5EF4-FFF2-40B4-BE49-F238E27FC236}">
                <a16:creationId xmlns:a16="http://schemas.microsoft.com/office/drawing/2014/main" id="{26F1D28A-E25F-0DBE-6A0F-1F0258A77F0C}"/>
              </a:ext>
            </a:extLst>
          </p:cNvPr>
          <p:cNvSpPr txBox="1"/>
          <p:nvPr/>
        </p:nvSpPr>
        <p:spPr>
          <a:xfrm>
            <a:off x="3347864"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Distillation</a:t>
            </a:r>
          </a:p>
          <a:p>
            <a:pPr algn="ctr">
              <a:lnSpc>
                <a:spcPts val="1400"/>
              </a:lnSpc>
              <a:buNone/>
            </a:pPr>
            <a:r>
              <a:rPr lang="en-US" altLang="zh-TW" sz="1200" dirty="0"/>
              <a:t>Student</a:t>
            </a:r>
          </a:p>
          <a:p>
            <a:pPr algn="ctr">
              <a:lnSpc>
                <a:spcPts val="1400"/>
              </a:lnSpc>
              <a:buNone/>
            </a:pPr>
            <a:r>
              <a:rPr lang="en-US" altLang="zh-TW" sz="1200" dirty="0"/>
              <a:t>Model</a:t>
            </a:r>
            <a:endParaRPr lang="en-US" altLang="zh-TW" sz="1200" u="none" strike="noStrike" dirty="0">
              <a:effectLst/>
            </a:endParaRPr>
          </a:p>
        </p:txBody>
      </p:sp>
      <p:sp>
        <p:nvSpPr>
          <p:cNvPr id="36" name="文字方塊 35">
            <a:extLst>
              <a:ext uri="{FF2B5EF4-FFF2-40B4-BE49-F238E27FC236}">
                <a16:creationId xmlns:a16="http://schemas.microsoft.com/office/drawing/2014/main" id="{0AFB4BE5-D051-0641-2C31-9200688EF3AD}"/>
              </a:ext>
            </a:extLst>
          </p:cNvPr>
          <p:cNvSpPr txBox="1"/>
          <p:nvPr/>
        </p:nvSpPr>
        <p:spPr>
          <a:xfrm>
            <a:off x="441066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SFT</a:t>
            </a:r>
          </a:p>
          <a:p>
            <a:pPr algn="ctr">
              <a:lnSpc>
                <a:spcPts val="1400"/>
              </a:lnSpc>
              <a:buNone/>
            </a:pPr>
            <a:r>
              <a:rPr lang="en-US" altLang="zh-TW" sz="1200" dirty="0"/>
              <a:t>Quality is</a:t>
            </a:r>
          </a:p>
          <a:p>
            <a:pPr algn="ctr">
              <a:lnSpc>
                <a:spcPts val="1400"/>
              </a:lnSpc>
              <a:buNone/>
            </a:pPr>
            <a:r>
              <a:rPr lang="en-US" altLang="zh-TW" sz="1200" dirty="0"/>
              <a:t>all you need.</a:t>
            </a:r>
          </a:p>
          <a:p>
            <a:pPr algn="ctr">
              <a:lnSpc>
                <a:spcPts val="1400"/>
              </a:lnSpc>
              <a:buNone/>
            </a:pPr>
            <a:endParaRPr lang="en-US" altLang="zh-TW" sz="1200" u="none" strike="noStrike" dirty="0">
              <a:effectLst/>
            </a:endParaRPr>
          </a:p>
        </p:txBody>
      </p:sp>
      <p:sp>
        <p:nvSpPr>
          <p:cNvPr id="38" name="文字方塊 37">
            <a:extLst>
              <a:ext uri="{FF2B5EF4-FFF2-40B4-BE49-F238E27FC236}">
                <a16:creationId xmlns:a16="http://schemas.microsoft.com/office/drawing/2014/main" id="{3FA24F76-E7DA-FED8-A954-D229BCDBA889}"/>
              </a:ext>
            </a:extLst>
          </p:cNvPr>
          <p:cNvSpPr txBox="1"/>
          <p:nvPr/>
        </p:nvSpPr>
        <p:spPr>
          <a:xfrm>
            <a:off x="549078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RLHF</a:t>
            </a:r>
            <a:endParaRPr lang="en-US" altLang="zh-TW" sz="1400" b="1" u="none" strike="noStrike" dirty="0">
              <a:solidFill>
                <a:schemeClr val="accent6">
                  <a:lumMod val="75000"/>
                </a:schemeClr>
              </a:solidFill>
              <a:effectLst/>
            </a:endParaRPr>
          </a:p>
          <a:p>
            <a:pPr algn="ctr">
              <a:lnSpc>
                <a:spcPts val="1400"/>
              </a:lnSpc>
              <a:buNone/>
            </a:pPr>
            <a:r>
              <a:rPr lang="en-US" altLang="zh-TW" sz="1200" dirty="0"/>
              <a:t>Human</a:t>
            </a:r>
          </a:p>
          <a:p>
            <a:pPr algn="ctr">
              <a:lnSpc>
                <a:spcPts val="1400"/>
              </a:lnSpc>
              <a:buNone/>
            </a:pPr>
            <a:r>
              <a:rPr lang="en-US" altLang="zh-TW" sz="1200" dirty="0"/>
              <a:t>Preferences</a:t>
            </a:r>
            <a:endParaRPr lang="en-US" altLang="zh-TW" sz="1200" u="none" strike="noStrike" dirty="0">
              <a:effectLst/>
            </a:endParaRPr>
          </a:p>
        </p:txBody>
      </p:sp>
      <p:sp>
        <p:nvSpPr>
          <p:cNvPr id="46" name="文字方塊 45">
            <a:extLst>
              <a:ext uri="{FF2B5EF4-FFF2-40B4-BE49-F238E27FC236}">
                <a16:creationId xmlns:a16="http://schemas.microsoft.com/office/drawing/2014/main" id="{A4EB4070-0F17-DC28-5D50-AB16E3B247C9}"/>
              </a:ext>
            </a:extLst>
          </p:cNvPr>
          <p:cNvSpPr txBox="1"/>
          <p:nvPr/>
        </p:nvSpPr>
        <p:spPr>
          <a:xfrm>
            <a:off x="1187624" y="2865420"/>
            <a:ext cx="881420" cy="756316"/>
          </a:xfrm>
          <a:prstGeom prst="rect">
            <a:avLst/>
          </a:prstGeom>
          <a:solidFill>
            <a:schemeClr val="bg1">
              <a:lumMod val="95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Datasets</a:t>
            </a:r>
          </a:p>
          <a:p>
            <a:pPr algn="ctr">
              <a:lnSpc>
                <a:spcPts val="1400"/>
              </a:lnSpc>
              <a:buNone/>
            </a:pPr>
            <a:r>
              <a:rPr lang="en-US" altLang="zh-TW" sz="1200" dirty="0"/>
              <a:t>High-quality</a:t>
            </a:r>
          </a:p>
          <a:p>
            <a:pPr algn="ctr">
              <a:lnSpc>
                <a:spcPts val="1400"/>
              </a:lnSpc>
              <a:buNone/>
            </a:pPr>
            <a:r>
              <a:rPr lang="en-US" altLang="zh-TW" sz="1200" dirty="0"/>
              <a:t>data at scale</a:t>
            </a:r>
          </a:p>
        </p:txBody>
      </p:sp>
      <p:sp>
        <p:nvSpPr>
          <p:cNvPr id="4" name="文字方塊 3">
            <a:extLst>
              <a:ext uri="{FF2B5EF4-FFF2-40B4-BE49-F238E27FC236}">
                <a16:creationId xmlns:a16="http://schemas.microsoft.com/office/drawing/2014/main" id="{F3E988E6-CAF1-E8EE-5F9F-4BCC50E551D1}"/>
              </a:ext>
            </a:extLst>
          </p:cNvPr>
          <p:cNvSpPr txBox="1"/>
          <p:nvPr/>
        </p:nvSpPr>
        <p:spPr>
          <a:xfrm>
            <a:off x="7092280" y="2852936"/>
            <a:ext cx="1219522" cy="1092606"/>
          </a:xfrm>
          <a:prstGeom prst="rect">
            <a:avLst/>
          </a:prstGeom>
          <a:solidFill>
            <a:schemeClr val="accent1">
              <a:lumMod val="20000"/>
              <a:lumOff val="80000"/>
              <a:alpha val="90000"/>
            </a:schemeClr>
          </a:solidFill>
          <a:ln w="25400">
            <a:solidFill>
              <a:schemeClr val="bg1">
                <a:lumMod val="85000"/>
              </a:schemeClr>
            </a:solidFill>
          </a:ln>
        </p:spPr>
        <p:txBody>
          <a:bodyPr wrap="none" lIns="0" tIns="72000" rIns="0" bIns="36000" anchor="ctr" anchorCtr="1">
            <a:noAutofit/>
          </a:bodyPr>
          <a:lstStyle/>
          <a:p>
            <a:pPr algn="ctr">
              <a:lnSpc>
                <a:spcPts val="1400"/>
              </a:lnSpc>
              <a:buNone/>
            </a:pPr>
            <a:r>
              <a:rPr lang="en-US" altLang="zh-TW" sz="1400" b="1" u="none" strike="noStrike" dirty="0">
                <a:solidFill>
                  <a:schemeClr val="accent1">
                    <a:lumMod val="60000"/>
                    <a:lumOff val="40000"/>
                  </a:schemeClr>
                </a:solidFill>
                <a:effectLst/>
              </a:rPr>
              <a:t>LLM, RAG</a:t>
            </a:r>
          </a:p>
          <a:p>
            <a:pPr algn="ctr">
              <a:lnSpc>
                <a:spcPts val="1400"/>
              </a:lnSpc>
              <a:buNone/>
            </a:pPr>
            <a:r>
              <a:rPr lang="en-US" altLang="zh-TW" sz="1400" b="1" u="none" strike="noStrike" dirty="0">
                <a:solidFill>
                  <a:schemeClr val="accent1">
                    <a:lumMod val="60000"/>
                    <a:lumOff val="40000"/>
                  </a:schemeClr>
                </a:solidFill>
                <a:effectLst/>
              </a:rPr>
              <a:t>&amp; MCP</a:t>
            </a:r>
          </a:p>
        </p:txBody>
      </p:sp>
      <p:sp>
        <p:nvSpPr>
          <p:cNvPr id="48" name="右大括弧 47">
            <a:extLst>
              <a:ext uri="{FF2B5EF4-FFF2-40B4-BE49-F238E27FC236}">
                <a16:creationId xmlns:a16="http://schemas.microsoft.com/office/drawing/2014/main" id="{2C29EDAD-2399-6787-451D-1B76A1ECD0E1}"/>
              </a:ext>
            </a:extLst>
          </p:cNvPr>
          <p:cNvSpPr/>
          <p:nvPr/>
        </p:nvSpPr>
        <p:spPr>
          <a:xfrm rot="5400000">
            <a:off x="7618632" y="3478714"/>
            <a:ext cx="166822"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50" name="標題 1">
            <a:extLst>
              <a:ext uri="{FF2B5EF4-FFF2-40B4-BE49-F238E27FC236}">
                <a16:creationId xmlns:a16="http://schemas.microsoft.com/office/drawing/2014/main" id="{083DAC72-685D-C5C6-6BD2-4F20B57F24BD}"/>
              </a:ext>
            </a:extLst>
          </p:cNvPr>
          <p:cNvSpPr txBox="1">
            <a:spLocks/>
          </p:cNvSpPr>
          <p:nvPr/>
        </p:nvSpPr>
        <p:spPr>
          <a:xfrm>
            <a:off x="7207330" y="4198282"/>
            <a:ext cx="989422" cy="166822"/>
          </a:xfrm>
          <a:prstGeom prst="rect">
            <a:avLst/>
          </a:prstGeom>
          <a:solidFill>
            <a:schemeClr val="bg1">
              <a:alpha val="9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AI Runtime</a:t>
            </a:r>
          </a:p>
        </p:txBody>
      </p:sp>
      <p:sp>
        <p:nvSpPr>
          <p:cNvPr id="56" name="標題 1">
            <a:extLst>
              <a:ext uri="{FF2B5EF4-FFF2-40B4-BE49-F238E27FC236}">
                <a16:creationId xmlns:a16="http://schemas.microsoft.com/office/drawing/2014/main" id="{5CB4D389-23EC-5032-9BAE-F1757CE2E800}"/>
              </a:ext>
            </a:extLst>
          </p:cNvPr>
          <p:cNvSpPr txBox="1">
            <a:spLocks/>
          </p:cNvSpPr>
          <p:nvPr/>
        </p:nvSpPr>
        <p:spPr>
          <a:xfrm>
            <a:off x="5436096" y="5250965"/>
            <a:ext cx="1219522" cy="306155"/>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Soft</a:t>
            </a:r>
            <a:r>
              <a:rPr lang="zh-TW" altLang="en-US" sz="1000" dirty="0">
                <a:latin typeface="Noto Sans HK" panose="020B0200000000000000" pitchFamily="34" charset="-120"/>
                <a:ea typeface="Noto Sans HK" panose="020B0200000000000000" pitchFamily="34" charset="-120"/>
                <a:cs typeface="Arial" panose="020B0604020202020204" pitchFamily="34" charset="0"/>
              </a:rPr>
              <a:t> </a:t>
            </a:r>
            <a:r>
              <a:rPr lang="en-US" altLang="zh-TW" sz="1000" dirty="0">
                <a:latin typeface="Noto Sans HK" panose="020B0200000000000000" pitchFamily="34" charset="-120"/>
                <a:ea typeface="Noto Sans HK" panose="020B0200000000000000" pitchFamily="34" charset="-120"/>
                <a:cs typeface="Arial" panose="020B0604020202020204" pitchFamily="34" charset="0"/>
              </a:rPr>
              <a:t>Label</a:t>
            </a:r>
          </a:p>
        </p:txBody>
      </p:sp>
      <p:sp>
        <p:nvSpPr>
          <p:cNvPr id="63" name="右大括弧 62">
            <a:extLst>
              <a:ext uri="{FF2B5EF4-FFF2-40B4-BE49-F238E27FC236}">
                <a16:creationId xmlns:a16="http://schemas.microsoft.com/office/drawing/2014/main" id="{C9DE5F9A-05EB-4691-A387-184904320C08}"/>
              </a:ext>
            </a:extLst>
          </p:cNvPr>
          <p:cNvSpPr/>
          <p:nvPr/>
        </p:nvSpPr>
        <p:spPr>
          <a:xfrm rot="5400000">
            <a:off x="3154669" y="3111783"/>
            <a:ext cx="153040"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64" name="箭號: 向下 63">
            <a:extLst>
              <a:ext uri="{FF2B5EF4-FFF2-40B4-BE49-F238E27FC236}">
                <a16:creationId xmlns:a16="http://schemas.microsoft.com/office/drawing/2014/main" id="{4223F807-D83D-59D5-DF24-6DF252EE825F}"/>
              </a:ext>
            </a:extLst>
          </p:cNvPr>
          <p:cNvSpPr/>
          <p:nvPr/>
        </p:nvSpPr>
        <p:spPr>
          <a:xfrm>
            <a:off x="575147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5" name="標題 1">
            <a:extLst>
              <a:ext uri="{FF2B5EF4-FFF2-40B4-BE49-F238E27FC236}">
                <a16:creationId xmlns:a16="http://schemas.microsoft.com/office/drawing/2014/main" id="{EA45D83D-FA42-9110-2F49-53618A9ECE91}"/>
              </a:ext>
            </a:extLst>
          </p:cNvPr>
          <p:cNvSpPr txBox="1">
            <a:spLocks/>
          </p:cNvSpPr>
          <p:nvPr/>
        </p:nvSpPr>
        <p:spPr>
          <a:xfrm>
            <a:off x="5055186" y="1027015"/>
            <a:ext cx="1752607" cy="68103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Preference</a:t>
            </a:r>
            <a:r>
              <a:rPr kumimoji="0" lang="zh-TW" altLang="en-US"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Pair</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solidFill>
                  <a:prstClr val="black"/>
                </a:solidFill>
              </a:rPr>
              <a:t>T</a:t>
            </a:r>
            <a:r>
              <a:rPr lang="zh-TW" altLang="zh-TW" sz="1200" dirty="0">
                <a:solidFill>
                  <a:prstClr val="black"/>
                </a:solidFill>
              </a:rPr>
              <a:t>he capital of France</a:t>
            </a:r>
            <a:r>
              <a:rPr lang="en-US" altLang="zh-TW" sz="1200" dirty="0">
                <a:solidFill>
                  <a:prstClr val="black"/>
                </a:solidFill>
              </a:rPr>
              <a:t>?</a:t>
            </a:r>
            <a:endPar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endParaRPr>
          </a:p>
          <a:p>
            <a:pPr lvl="0" algn="ctr">
              <a:spcBef>
                <a:spcPts val="0"/>
              </a:spcBef>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lang="en-US" altLang="zh-TW" sz="1200" dirty="0">
                <a:solidFill>
                  <a:prstClr val="black"/>
                </a:solidFill>
                <a:latin typeface="+mn-lt"/>
                <a:ea typeface="新細明體" panose="02020500000000000000" pitchFamily="18" charset="-120"/>
                <a:cs typeface="+mn-cs"/>
              </a:rPr>
              <a:t>.</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lang="zh-TW" altLang="zh-TW" sz="1200" dirty="0"/>
              <a:t>👍</a:t>
            </a:r>
            <a:r>
              <a:rPr lang="en-US" altLang="zh-TW" sz="1200" dirty="0"/>
              <a:t>,</a:t>
            </a:r>
            <a:r>
              <a:rPr lang="en-US" altLang="zh-TW" sz="1200" dirty="0">
                <a:solidFill>
                  <a:prstClr val="black"/>
                </a:solidFill>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“Bonjour!“ </a:t>
            </a:r>
            <a:r>
              <a:rPr lang="zh-TW" altLang="zh-TW" sz="1200" dirty="0"/>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cxnSp>
        <p:nvCxnSpPr>
          <p:cNvPr id="83" name="直線接點 82">
            <a:extLst>
              <a:ext uri="{FF2B5EF4-FFF2-40B4-BE49-F238E27FC236}">
                <a16:creationId xmlns:a16="http://schemas.microsoft.com/office/drawing/2014/main" id="{49C9B6FC-E00B-B93C-9597-0EFA3EC02D21}"/>
              </a:ext>
            </a:extLst>
          </p:cNvPr>
          <p:cNvCxnSpPr>
            <a:cxnSpLocks/>
            <a:stCxn id="75" idx="2"/>
            <a:endCxn id="64" idx="0"/>
          </p:cNvCxnSpPr>
          <p:nvPr/>
        </p:nvCxnSpPr>
        <p:spPr>
          <a:xfrm>
            <a:off x="5931490" y="1708051"/>
            <a:ext cx="0" cy="899919"/>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2" name="直線單箭頭接點 1">
            <a:extLst>
              <a:ext uri="{FF2B5EF4-FFF2-40B4-BE49-F238E27FC236}">
                <a16:creationId xmlns:a16="http://schemas.microsoft.com/office/drawing/2014/main" id="{13B89021-46D2-B5A3-28F6-29345C4576EC}"/>
              </a:ext>
            </a:extLst>
          </p:cNvPr>
          <p:cNvCxnSpPr>
            <a:cxnSpLocks/>
            <a:stCxn id="46" idx="3"/>
            <a:endCxn id="34" idx="1"/>
          </p:cNvCxnSpPr>
          <p:nvPr/>
        </p:nvCxnSpPr>
        <p:spPr>
          <a:xfrm flipV="1">
            <a:off x="2069044" y="3239781"/>
            <a:ext cx="181376" cy="3797"/>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graphicFrame>
        <p:nvGraphicFramePr>
          <p:cNvPr id="7" name="表格 6">
            <a:extLst>
              <a:ext uri="{FF2B5EF4-FFF2-40B4-BE49-F238E27FC236}">
                <a16:creationId xmlns:a16="http://schemas.microsoft.com/office/drawing/2014/main" id="{CA5802EE-F207-7922-1CC3-BC212577E690}"/>
              </a:ext>
            </a:extLst>
          </p:cNvPr>
          <p:cNvGraphicFramePr>
            <a:graphicFrameLocks noGrp="1"/>
          </p:cNvGraphicFramePr>
          <p:nvPr/>
        </p:nvGraphicFramePr>
        <p:xfrm>
          <a:off x="1884140" y="4365104"/>
          <a:ext cx="1219522" cy="761261"/>
        </p:xfrm>
        <a:graphic>
          <a:graphicData uri="http://schemas.openxmlformats.org/drawingml/2006/table">
            <a:tbl>
              <a:tblPr firstRow="1" bandRow="1">
                <a:tableStyleId>{5C22544A-7EE6-4342-B048-85BDC9FD1C3A}</a:tableStyleId>
              </a:tblPr>
              <a:tblGrid>
                <a:gridCol w="1219522">
                  <a:extLst>
                    <a:ext uri="{9D8B030D-6E8A-4147-A177-3AD203B41FA5}">
                      <a16:colId xmlns:a16="http://schemas.microsoft.com/office/drawing/2014/main" val="4512040"/>
                    </a:ext>
                  </a:extLst>
                </a:gridCol>
              </a:tblGrid>
              <a:tr h="212621">
                <a:tc>
                  <a:txBody>
                    <a:bodyPr/>
                    <a:lstStyle/>
                    <a:p>
                      <a:pPr algn="l"/>
                      <a:r>
                        <a:rPr lang="en-US" altLang="zh-TW" sz="1200" b="1" cap="none" spc="0" dirty="0">
                          <a:ln w="0"/>
                          <a:solidFill>
                            <a:schemeClr val="tx1"/>
                          </a:solidFill>
                          <a:effectLst/>
                        </a:rPr>
                        <a:t>Teacher Model</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Regularities of NL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World Fact (CAI)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057912659"/>
                  </a:ext>
                </a:extLst>
              </a:tr>
            </a:tbl>
          </a:graphicData>
        </a:graphic>
      </p:graphicFrame>
      <p:cxnSp>
        <p:nvCxnSpPr>
          <p:cNvPr id="8" name="直線接點 7">
            <a:extLst>
              <a:ext uri="{FF2B5EF4-FFF2-40B4-BE49-F238E27FC236}">
                <a16:creationId xmlns:a16="http://schemas.microsoft.com/office/drawing/2014/main" id="{060607E6-1136-A62E-557F-AF305E737CB5}"/>
              </a:ext>
            </a:extLst>
          </p:cNvPr>
          <p:cNvCxnSpPr>
            <a:cxnSpLocks/>
          </p:cNvCxnSpPr>
          <p:nvPr/>
        </p:nvCxnSpPr>
        <p:spPr>
          <a:xfrm>
            <a:off x="1724506" y="1455268"/>
            <a:ext cx="0" cy="502037"/>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graphicFrame>
        <p:nvGraphicFramePr>
          <p:cNvPr id="11" name="表格 10">
            <a:extLst>
              <a:ext uri="{FF2B5EF4-FFF2-40B4-BE49-F238E27FC236}">
                <a16:creationId xmlns:a16="http://schemas.microsoft.com/office/drawing/2014/main" id="{7416325E-8B29-6B3E-B545-D3E65BB3E00D}"/>
              </a:ext>
            </a:extLst>
          </p:cNvPr>
          <p:cNvGraphicFramePr>
            <a:graphicFrameLocks noGrp="1"/>
          </p:cNvGraphicFramePr>
          <p:nvPr/>
        </p:nvGraphicFramePr>
        <p:xfrm>
          <a:off x="3352478" y="4365103"/>
          <a:ext cx="1219522" cy="761261"/>
        </p:xfrm>
        <a:graphic>
          <a:graphicData uri="http://schemas.openxmlformats.org/drawingml/2006/table">
            <a:tbl>
              <a:tblPr firstRow="1" bandRow="1">
                <a:tableStyleId>{5C22544A-7EE6-4342-B048-85BDC9FD1C3A}</a:tableStyleId>
              </a:tblPr>
              <a:tblGrid>
                <a:gridCol w="1219522">
                  <a:extLst>
                    <a:ext uri="{9D8B030D-6E8A-4147-A177-3AD203B41FA5}">
                      <a16:colId xmlns:a16="http://schemas.microsoft.com/office/drawing/2014/main" val="4512040"/>
                    </a:ext>
                  </a:extLst>
                </a:gridCol>
              </a:tblGrid>
              <a:tr h="212621">
                <a:tc>
                  <a:txBody>
                    <a:bodyPr/>
                    <a:lstStyle/>
                    <a:p>
                      <a:pPr algn="l"/>
                      <a:r>
                        <a:rPr lang="en-US" altLang="zh-TW" sz="1200" b="1" cap="none" spc="0" dirty="0">
                          <a:ln w="0"/>
                          <a:solidFill>
                            <a:schemeClr val="tx1"/>
                          </a:solidFill>
                          <a:effectLst/>
                        </a:rPr>
                        <a:t>Student Model</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Regularities of NL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World Fact (CAI)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057912659"/>
                  </a:ext>
                </a:extLst>
              </a:tr>
            </a:tbl>
          </a:graphicData>
        </a:graphic>
      </p:graphicFrame>
    </p:spTree>
    <p:extLst>
      <p:ext uri="{BB962C8B-B14F-4D97-AF65-F5344CB8AC3E}">
        <p14:creationId xmlns:p14="http://schemas.microsoft.com/office/powerpoint/2010/main" val="295082313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A25999-7ECD-BA35-43AC-72ECFEE0427F}"/>
            </a:ext>
          </a:extLst>
        </p:cNvPr>
        <p:cNvGrpSpPr/>
        <p:nvPr/>
      </p:nvGrpSpPr>
      <p:grpSpPr>
        <a:xfrm>
          <a:off x="0" y="0"/>
          <a:ext cx="0" cy="0"/>
          <a:chOff x="0" y="0"/>
          <a:chExt cx="0" cy="0"/>
        </a:xfrm>
      </p:grpSpPr>
      <p:pic>
        <p:nvPicPr>
          <p:cNvPr id="11" name="圖片 10">
            <a:extLst>
              <a:ext uri="{FF2B5EF4-FFF2-40B4-BE49-F238E27FC236}">
                <a16:creationId xmlns:a16="http://schemas.microsoft.com/office/drawing/2014/main" id="{4C128F37-80EC-5B99-BE58-397074A208EE}"/>
              </a:ext>
            </a:extLst>
          </p:cNvPr>
          <p:cNvPicPr>
            <a:picLocks noChangeAspect="1"/>
          </p:cNvPicPr>
          <p:nvPr/>
        </p:nvPicPr>
        <p:blipFill>
          <a:blip r:embed="rId3"/>
          <a:stretch>
            <a:fillRect/>
          </a:stretch>
        </p:blipFill>
        <p:spPr>
          <a:xfrm>
            <a:off x="5409862" y="3788511"/>
            <a:ext cx="3676252" cy="2398497"/>
          </a:xfrm>
          <a:prstGeom prst="rect">
            <a:avLst/>
          </a:prstGeom>
        </p:spPr>
      </p:pic>
      <p:sp>
        <p:nvSpPr>
          <p:cNvPr id="8" name="文字方塊 7">
            <a:extLst>
              <a:ext uri="{FF2B5EF4-FFF2-40B4-BE49-F238E27FC236}">
                <a16:creationId xmlns:a16="http://schemas.microsoft.com/office/drawing/2014/main" id="{7EA2DA36-50F0-1369-B59B-C6FD52E9E4E0}"/>
              </a:ext>
            </a:extLst>
          </p:cNvPr>
          <p:cNvSpPr txBox="1"/>
          <p:nvPr/>
        </p:nvSpPr>
        <p:spPr>
          <a:xfrm>
            <a:off x="179510" y="1196752"/>
            <a:ext cx="7632850" cy="938719"/>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Model Extraction</a:t>
            </a:r>
          </a:p>
          <a:p>
            <a:pPr marL="285750" indent="-285750">
              <a:lnSpc>
                <a:spcPts val="1800"/>
              </a:lnSpc>
              <a:spcBef>
                <a:spcPts val="600"/>
              </a:spcBef>
              <a:spcAft>
                <a:spcPts val="600"/>
              </a:spcAft>
              <a:buFont typeface="Wingdings" panose="05000000000000000000" pitchFamily="2" charset="2"/>
              <a:buChar char="Ø"/>
            </a:pPr>
            <a:r>
              <a:rPr lang="en-US" altLang="zh-TW" sz="1600" b="1" dirty="0"/>
              <a:t>Goal:</a:t>
            </a:r>
            <a:r>
              <a:rPr lang="en-US" altLang="zh-TW" sz="1600" dirty="0"/>
              <a:t> Duplicate a functional clone model at a minimal cost purely through API queries, without accessing its weights.</a:t>
            </a:r>
          </a:p>
        </p:txBody>
      </p:sp>
      <p:sp>
        <p:nvSpPr>
          <p:cNvPr id="5" name="標題 1">
            <a:extLst>
              <a:ext uri="{FF2B5EF4-FFF2-40B4-BE49-F238E27FC236}">
                <a16:creationId xmlns:a16="http://schemas.microsoft.com/office/drawing/2014/main" id="{A309682D-9AD4-069E-1FFF-B4F842C47A94}"/>
              </a:ext>
            </a:extLst>
          </p:cNvPr>
          <p:cNvSpPr txBox="1">
            <a:spLocks/>
          </p:cNvSpPr>
          <p:nvPr/>
        </p:nvSpPr>
        <p:spPr>
          <a:xfrm>
            <a:off x="179511" y="116632"/>
            <a:ext cx="7920881"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LLM Distillation Attack</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No LLM is safe, if it can be prompted.</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Involve extracting knowledge, from a LLM, extensively, querying it, through prompts.</a:t>
            </a:r>
          </a:p>
        </p:txBody>
      </p:sp>
      <p:pic>
        <p:nvPicPr>
          <p:cNvPr id="31" name="圖片 30">
            <a:extLst>
              <a:ext uri="{FF2B5EF4-FFF2-40B4-BE49-F238E27FC236}">
                <a16:creationId xmlns:a16="http://schemas.microsoft.com/office/drawing/2014/main" id="{AC21CB44-2E1A-CB98-7935-56713A15F8A8}"/>
              </a:ext>
            </a:extLst>
          </p:cNvPr>
          <p:cNvPicPr>
            <a:picLocks noChangeAspect="1"/>
          </p:cNvPicPr>
          <p:nvPr/>
        </p:nvPicPr>
        <p:blipFill>
          <a:blip r:embed="rId4"/>
          <a:stretch>
            <a:fillRect/>
          </a:stretch>
        </p:blipFill>
        <p:spPr>
          <a:xfrm>
            <a:off x="8406510" y="116632"/>
            <a:ext cx="552628" cy="548681"/>
          </a:xfrm>
          <a:prstGeom prst="rect">
            <a:avLst/>
          </a:prstGeom>
        </p:spPr>
      </p:pic>
      <p:sp>
        <p:nvSpPr>
          <p:cNvPr id="37" name="標題 1">
            <a:extLst>
              <a:ext uri="{FF2B5EF4-FFF2-40B4-BE49-F238E27FC236}">
                <a16:creationId xmlns:a16="http://schemas.microsoft.com/office/drawing/2014/main" id="{2B255F5A-4477-D36C-0620-7FB608BCB205}"/>
              </a:ext>
            </a:extLst>
          </p:cNvPr>
          <p:cNvSpPr txBox="1">
            <a:spLocks/>
          </p:cNvSpPr>
          <p:nvPr/>
        </p:nvSpPr>
        <p:spPr>
          <a:xfrm>
            <a:off x="8312648" y="692696"/>
            <a:ext cx="740352" cy="42522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Moonshot</a:t>
            </a:r>
          </a:p>
          <a:p>
            <a:pPr algn="ctr"/>
            <a:r>
              <a:rPr lang="zh-TW" altLang="en-US" sz="1000" b="1"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月之暗面</a:t>
            </a:r>
            <a:endParaRPr lang="en-US" altLang="zh-TW" sz="1000" b="1"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sp>
        <p:nvSpPr>
          <p:cNvPr id="6" name="文字方塊 5">
            <a:extLst>
              <a:ext uri="{FF2B5EF4-FFF2-40B4-BE49-F238E27FC236}">
                <a16:creationId xmlns:a16="http://schemas.microsoft.com/office/drawing/2014/main" id="{B68066DC-B3C7-0B14-5687-E982E2B40C61}"/>
              </a:ext>
            </a:extLst>
          </p:cNvPr>
          <p:cNvSpPr txBox="1"/>
          <p:nvPr/>
        </p:nvSpPr>
        <p:spPr>
          <a:xfrm>
            <a:off x="192111" y="4976008"/>
            <a:ext cx="8767027" cy="1477328"/>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Counter Measures (Increase Attack’s Cost)</a:t>
            </a:r>
          </a:p>
          <a:p>
            <a:pPr marL="285750" indent="-285750">
              <a:lnSpc>
                <a:spcPts val="1800"/>
              </a:lnSpc>
              <a:spcBef>
                <a:spcPts val="600"/>
              </a:spcBef>
              <a:spcAft>
                <a:spcPts val="600"/>
              </a:spcAft>
              <a:buFont typeface="Wingdings" panose="05000000000000000000" pitchFamily="2" charset="2"/>
              <a:buChar char="Ø"/>
            </a:pPr>
            <a:r>
              <a:rPr lang="en-US" altLang="zh-TW" sz="1600" b="1" dirty="0"/>
              <a:t>Traffic Detection:</a:t>
            </a:r>
            <a:r>
              <a:rPr lang="en-US" altLang="zh-TW" sz="1600" dirty="0"/>
              <a:t> Semantic-space analysis, behavioral fingerprinting, metadata attribution.</a:t>
            </a:r>
          </a:p>
          <a:p>
            <a:pPr marL="285750" indent="-285750">
              <a:lnSpc>
                <a:spcPts val="1800"/>
              </a:lnSpc>
              <a:spcBef>
                <a:spcPts val="600"/>
              </a:spcBef>
              <a:spcAft>
                <a:spcPts val="600"/>
              </a:spcAft>
              <a:buFont typeface="Wingdings" panose="05000000000000000000" pitchFamily="2" charset="2"/>
              <a:buChar char="Ø"/>
            </a:pPr>
            <a:r>
              <a:rPr lang="en-US" altLang="zh-TW" sz="1600" b="1" dirty="0"/>
              <a:t>Model Controls:</a:t>
            </a:r>
            <a:r>
              <a:rPr lang="en-US" altLang="zh-TW" sz="1600" dirty="0"/>
              <a:t> CoT removal, output perturbation, statistical watermarking.</a:t>
            </a:r>
          </a:p>
          <a:p>
            <a:pPr marL="285750" indent="-285750">
              <a:lnSpc>
                <a:spcPts val="1800"/>
              </a:lnSpc>
              <a:spcBef>
                <a:spcPts val="600"/>
              </a:spcBef>
              <a:spcAft>
                <a:spcPts val="600"/>
              </a:spcAft>
              <a:buFont typeface="Wingdings" panose="05000000000000000000" pitchFamily="2" charset="2"/>
              <a:buChar char="Ø"/>
            </a:pPr>
            <a:r>
              <a:rPr lang="en-US" altLang="zh-TW" sz="1600" b="1" dirty="0"/>
              <a:t>Verified Access:</a:t>
            </a:r>
            <a:r>
              <a:rPr lang="en-US" altLang="zh-TW" sz="1600" dirty="0"/>
              <a:t> Know Your Customer(KYC),</a:t>
            </a:r>
            <a:r>
              <a:rPr lang="zh-TW" altLang="en-US" sz="1600" dirty="0"/>
              <a:t> </a:t>
            </a:r>
            <a:r>
              <a:rPr lang="en-US" altLang="zh-TW" sz="1600" dirty="0"/>
              <a:t>Adaptive Verification, .</a:t>
            </a:r>
          </a:p>
        </p:txBody>
      </p:sp>
      <p:sp>
        <p:nvSpPr>
          <p:cNvPr id="12" name="文字方塊 11">
            <a:extLst>
              <a:ext uri="{FF2B5EF4-FFF2-40B4-BE49-F238E27FC236}">
                <a16:creationId xmlns:a16="http://schemas.microsoft.com/office/drawing/2014/main" id="{AD68F64B-4C1A-FFB2-F8B6-E5C3BC02DFF1}"/>
              </a:ext>
            </a:extLst>
          </p:cNvPr>
          <p:cNvSpPr txBox="1"/>
          <p:nvPr/>
        </p:nvSpPr>
        <p:spPr>
          <a:xfrm>
            <a:off x="2250420" y="2276872"/>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Pre-Training</a:t>
            </a:r>
          </a:p>
          <a:p>
            <a:pPr algn="ctr">
              <a:lnSpc>
                <a:spcPts val="1400"/>
              </a:lnSpc>
              <a:buNone/>
            </a:pPr>
            <a:r>
              <a:rPr lang="en-US" altLang="zh-TW" sz="1200" dirty="0"/>
              <a:t>Base</a:t>
            </a:r>
          </a:p>
          <a:p>
            <a:pPr algn="ctr">
              <a:lnSpc>
                <a:spcPts val="1400"/>
              </a:lnSpc>
              <a:buNone/>
            </a:pPr>
            <a:r>
              <a:rPr lang="en-US" altLang="zh-TW" sz="1200" dirty="0"/>
              <a:t>Model</a:t>
            </a:r>
            <a:endParaRPr lang="en-US" altLang="zh-TW" sz="1200" u="none" strike="noStrike" dirty="0">
              <a:effectLst/>
            </a:endParaRPr>
          </a:p>
        </p:txBody>
      </p:sp>
      <p:sp>
        <p:nvSpPr>
          <p:cNvPr id="13" name="文字方塊 12">
            <a:extLst>
              <a:ext uri="{FF2B5EF4-FFF2-40B4-BE49-F238E27FC236}">
                <a16:creationId xmlns:a16="http://schemas.microsoft.com/office/drawing/2014/main" id="{CC7F5601-2E80-AC25-95B4-F7E7BEC74B21}"/>
              </a:ext>
            </a:extLst>
          </p:cNvPr>
          <p:cNvSpPr txBox="1"/>
          <p:nvPr/>
        </p:nvSpPr>
        <p:spPr>
          <a:xfrm>
            <a:off x="3347864" y="2276872"/>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Distillation</a:t>
            </a:r>
          </a:p>
          <a:p>
            <a:pPr algn="ctr">
              <a:lnSpc>
                <a:spcPts val="1400"/>
              </a:lnSpc>
              <a:buNone/>
            </a:pPr>
            <a:r>
              <a:rPr lang="en-US" altLang="zh-TW" sz="1200" dirty="0"/>
              <a:t>Student</a:t>
            </a:r>
          </a:p>
          <a:p>
            <a:pPr algn="ctr">
              <a:lnSpc>
                <a:spcPts val="1400"/>
              </a:lnSpc>
              <a:buNone/>
            </a:pPr>
            <a:r>
              <a:rPr lang="en-US" altLang="zh-TW" sz="1200" dirty="0"/>
              <a:t>Model</a:t>
            </a:r>
            <a:endParaRPr lang="en-US" altLang="zh-TW" sz="1200" u="none" strike="noStrike" dirty="0">
              <a:effectLst/>
            </a:endParaRPr>
          </a:p>
        </p:txBody>
      </p:sp>
      <p:sp>
        <p:nvSpPr>
          <p:cNvPr id="14" name="文字方塊 13">
            <a:extLst>
              <a:ext uri="{FF2B5EF4-FFF2-40B4-BE49-F238E27FC236}">
                <a16:creationId xmlns:a16="http://schemas.microsoft.com/office/drawing/2014/main" id="{4CB5AFF6-8B07-F6E7-440D-1E3D64014E59}"/>
              </a:ext>
            </a:extLst>
          </p:cNvPr>
          <p:cNvSpPr txBox="1"/>
          <p:nvPr/>
        </p:nvSpPr>
        <p:spPr>
          <a:xfrm>
            <a:off x="4410660" y="2276872"/>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SFT</a:t>
            </a:r>
          </a:p>
          <a:p>
            <a:pPr algn="ctr">
              <a:lnSpc>
                <a:spcPts val="1400"/>
              </a:lnSpc>
              <a:buNone/>
            </a:pPr>
            <a:r>
              <a:rPr lang="en-US" altLang="zh-TW" sz="1200" dirty="0"/>
              <a:t>Quality is</a:t>
            </a:r>
          </a:p>
          <a:p>
            <a:pPr algn="ctr">
              <a:lnSpc>
                <a:spcPts val="1400"/>
              </a:lnSpc>
              <a:buNone/>
            </a:pPr>
            <a:r>
              <a:rPr lang="en-US" altLang="zh-TW" sz="1200" dirty="0"/>
              <a:t>all you need.</a:t>
            </a:r>
          </a:p>
          <a:p>
            <a:pPr algn="ctr">
              <a:lnSpc>
                <a:spcPts val="1400"/>
              </a:lnSpc>
              <a:buNone/>
            </a:pPr>
            <a:endParaRPr lang="en-US" altLang="zh-TW" sz="1200" u="none" strike="noStrike" dirty="0">
              <a:effectLst/>
            </a:endParaRPr>
          </a:p>
        </p:txBody>
      </p:sp>
      <p:sp>
        <p:nvSpPr>
          <p:cNvPr id="15" name="文字方塊 14">
            <a:extLst>
              <a:ext uri="{FF2B5EF4-FFF2-40B4-BE49-F238E27FC236}">
                <a16:creationId xmlns:a16="http://schemas.microsoft.com/office/drawing/2014/main" id="{6F8D15F0-F013-D9A3-EAA6-42797542C242}"/>
              </a:ext>
            </a:extLst>
          </p:cNvPr>
          <p:cNvSpPr txBox="1"/>
          <p:nvPr/>
        </p:nvSpPr>
        <p:spPr>
          <a:xfrm>
            <a:off x="5490780" y="2276872"/>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RLHF</a:t>
            </a:r>
            <a:endParaRPr lang="en-US" altLang="zh-TW" sz="1400" b="1" u="none" strike="noStrike" dirty="0">
              <a:solidFill>
                <a:schemeClr val="accent6">
                  <a:lumMod val="75000"/>
                </a:schemeClr>
              </a:solidFill>
              <a:effectLst/>
            </a:endParaRPr>
          </a:p>
          <a:p>
            <a:pPr algn="ctr">
              <a:lnSpc>
                <a:spcPts val="1400"/>
              </a:lnSpc>
              <a:buNone/>
            </a:pPr>
            <a:r>
              <a:rPr lang="en-US" altLang="zh-TW" sz="1200" dirty="0"/>
              <a:t>Human</a:t>
            </a:r>
          </a:p>
          <a:p>
            <a:pPr algn="ctr">
              <a:lnSpc>
                <a:spcPts val="1400"/>
              </a:lnSpc>
              <a:buNone/>
            </a:pPr>
            <a:r>
              <a:rPr lang="en-US" altLang="zh-TW" sz="1200" dirty="0"/>
              <a:t>Preferences</a:t>
            </a:r>
            <a:endParaRPr lang="en-US" altLang="zh-TW" sz="1200" u="none" strike="noStrike" dirty="0">
              <a:effectLst/>
            </a:endParaRPr>
          </a:p>
        </p:txBody>
      </p:sp>
      <p:sp>
        <p:nvSpPr>
          <p:cNvPr id="16" name="文字方塊 15">
            <a:extLst>
              <a:ext uri="{FF2B5EF4-FFF2-40B4-BE49-F238E27FC236}">
                <a16:creationId xmlns:a16="http://schemas.microsoft.com/office/drawing/2014/main" id="{289ADC5C-E475-83A1-2BFE-D74030E59EAA}"/>
              </a:ext>
            </a:extLst>
          </p:cNvPr>
          <p:cNvSpPr txBox="1"/>
          <p:nvPr/>
        </p:nvSpPr>
        <p:spPr>
          <a:xfrm>
            <a:off x="1187624" y="2280669"/>
            <a:ext cx="881420" cy="756316"/>
          </a:xfrm>
          <a:prstGeom prst="rect">
            <a:avLst/>
          </a:prstGeom>
          <a:solidFill>
            <a:schemeClr val="bg1">
              <a:lumMod val="95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Datasets</a:t>
            </a:r>
          </a:p>
          <a:p>
            <a:pPr algn="ctr">
              <a:lnSpc>
                <a:spcPts val="1400"/>
              </a:lnSpc>
              <a:buNone/>
            </a:pPr>
            <a:r>
              <a:rPr lang="en-US" altLang="zh-TW" sz="1200" dirty="0"/>
              <a:t>High-quality</a:t>
            </a:r>
          </a:p>
          <a:p>
            <a:pPr algn="ctr">
              <a:lnSpc>
                <a:spcPts val="1400"/>
              </a:lnSpc>
              <a:buNone/>
            </a:pPr>
            <a:r>
              <a:rPr lang="en-US" altLang="zh-TW" sz="1200" dirty="0"/>
              <a:t>data at scale</a:t>
            </a:r>
          </a:p>
        </p:txBody>
      </p:sp>
      <p:sp>
        <p:nvSpPr>
          <p:cNvPr id="17" name="右大括弧 16">
            <a:extLst>
              <a:ext uri="{FF2B5EF4-FFF2-40B4-BE49-F238E27FC236}">
                <a16:creationId xmlns:a16="http://schemas.microsoft.com/office/drawing/2014/main" id="{C76DBFF7-5BC4-34FB-B75B-C5F62F6D1CB2}"/>
              </a:ext>
            </a:extLst>
          </p:cNvPr>
          <p:cNvSpPr/>
          <p:nvPr/>
        </p:nvSpPr>
        <p:spPr>
          <a:xfrm rot="5400000">
            <a:off x="3154669" y="2527032"/>
            <a:ext cx="153040"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cxnSp>
        <p:nvCxnSpPr>
          <p:cNvPr id="21" name="直線單箭頭接點 20">
            <a:extLst>
              <a:ext uri="{FF2B5EF4-FFF2-40B4-BE49-F238E27FC236}">
                <a16:creationId xmlns:a16="http://schemas.microsoft.com/office/drawing/2014/main" id="{947BD5A8-BFD6-CEA1-275F-0CDDC5F60F07}"/>
              </a:ext>
            </a:extLst>
          </p:cNvPr>
          <p:cNvCxnSpPr>
            <a:cxnSpLocks/>
            <a:stCxn id="16" idx="3"/>
            <a:endCxn id="12" idx="1"/>
          </p:cNvCxnSpPr>
          <p:nvPr/>
        </p:nvCxnSpPr>
        <p:spPr>
          <a:xfrm flipV="1">
            <a:off x="2069044" y="2655030"/>
            <a:ext cx="181376" cy="3797"/>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2" name="文字方塊 1">
            <a:extLst>
              <a:ext uri="{FF2B5EF4-FFF2-40B4-BE49-F238E27FC236}">
                <a16:creationId xmlns:a16="http://schemas.microsoft.com/office/drawing/2014/main" id="{626DBC5C-2A26-90CA-C557-79A504820052}"/>
              </a:ext>
            </a:extLst>
          </p:cNvPr>
          <p:cNvSpPr txBox="1"/>
          <p:nvPr/>
        </p:nvSpPr>
        <p:spPr>
          <a:xfrm>
            <a:off x="2250420" y="3284647"/>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Pre-Training</a:t>
            </a:r>
          </a:p>
          <a:p>
            <a:pPr algn="ctr">
              <a:lnSpc>
                <a:spcPts val="1400"/>
              </a:lnSpc>
              <a:buNone/>
            </a:pPr>
            <a:r>
              <a:rPr lang="en-US" altLang="zh-TW" sz="1200" dirty="0"/>
              <a:t>Base</a:t>
            </a:r>
          </a:p>
          <a:p>
            <a:pPr algn="ctr">
              <a:lnSpc>
                <a:spcPts val="1400"/>
              </a:lnSpc>
              <a:buNone/>
            </a:pPr>
            <a:r>
              <a:rPr lang="en-US" altLang="zh-TW" sz="1200" dirty="0"/>
              <a:t>Model</a:t>
            </a:r>
            <a:endParaRPr lang="en-US" altLang="zh-TW" sz="1200" u="none" strike="noStrike" dirty="0">
              <a:effectLst/>
            </a:endParaRPr>
          </a:p>
        </p:txBody>
      </p:sp>
      <p:sp>
        <p:nvSpPr>
          <p:cNvPr id="3" name="文字方塊 2">
            <a:extLst>
              <a:ext uri="{FF2B5EF4-FFF2-40B4-BE49-F238E27FC236}">
                <a16:creationId xmlns:a16="http://schemas.microsoft.com/office/drawing/2014/main" id="{4BD454AD-B65F-F8DD-468A-876DEE2E1BC9}"/>
              </a:ext>
            </a:extLst>
          </p:cNvPr>
          <p:cNvSpPr txBox="1"/>
          <p:nvPr/>
        </p:nvSpPr>
        <p:spPr>
          <a:xfrm>
            <a:off x="3347864" y="3284647"/>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Distillation</a:t>
            </a:r>
          </a:p>
          <a:p>
            <a:pPr algn="ctr">
              <a:lnSpc>
                <a:spcPts val="1400"/>
              </a:lnSpc>
              <a:buNone/>
            </a:pPr>
            <a:r>
              <a:rPr lang="en-US" altLang="zh-TW" sz="1200" dirty="0"/>
              <a:t>Student</a:t>
            </a:r>
          </a:p>
          <a:p>
            <a:pPr algn="ctr">
              <a:lnSpc>
                <a:spcPts val="1400"/>
              </a:lnSpc>
              <a:buNone/>
            </a:pPr>
            <a:r>
              <a:rPr lang="en-US" altLang="zh-TW" sz="1200" dirty="0"/>
              <a:t>Model</a:t>
            </a:r>
            <a:endParaRPr lang="en-US" altLang="zh-TW" sz="1200" u="none" strike="noStrike" dirty="0">
              <a:effectLst/>
            </a:endParaRPr>
          </a:p>
        </p:txBody>
      </p:sp>
      <p:sp>
        <p:nvSpPr>
          <p:cNvPr id="4" name="文字方塊 3">
            <a:extLst>
              <a:ext uri="{FF2B5EF4-FFF2-40B4-BE49-F238E27FC236}">
                <a16:creationId xmlns:a16="http://schemas.microsoft.com/office/drawing/2014/main" id="{B5F82238-D902-CFE3-4CE5-E39555787C98}"/>
              </a:ext>
            </a:extLst>
          </p:cNvPr>
          <p:cNvSpPr txBox="1"/>
          <p:nvPr/>
        </p:nvSpPr>
        <p:spPr>
          <a:xfrm>
            <a:off x="4410660" y="3284647"/>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SFT</a:t>
            </a:r>
          </a:p>
          <a:p>
            <a:pPr algn="ctr">
              <a:lnSpc>
                <a:spcPts val="1400"/>
              </a:lnSpc>
              <a:buNone/>
            </a:pPr>
            <a:r>
              <a:rPr lang="en-US" altLang="zh-TW" sz="1200" dirty="0"/>
              <a:t>Quality is</a:t>
            </a:r>
          </a:p>
          <a:p>
            <a:pPr algn="ctr">
              <a:lnSpc>
                <a:spcPts val="1400"/>
              </a:lnSpc>
              <a:buNone/>
            </a:pPr>
            <a:r>
              <a:rPr lang="en-US" altLang="zh-TW" sz="1200" dirty="0"/>
              <a:t>all you need.</a:t>
            </a:r>
          </a:p>
          <a:p>
            <a:pPr algn="ctr">
              <a:lnSpc>
                <a:spcPts val="1400"/>
              </a:lnSpc>
              <a:buNone/>
            </a:pPr>
            <a:endParaRPr lang="en-US" altLang="zh-TW" sz="1200" u="none" strike="noStrike" dirty="0">
              <a:effectLst/>
            </a:endParaRPr>
          </a:p>
        </p:txBody>
      </p:sp>
      <p:sp>
        <p:nvSpPr>
          <p:cNvPr id="7" name="文字方塊 6">
            <a:extLst>
              <a:ext uri="{FF2B5EF4-FFF2-40B4-BE49-F238E27FC236}">
                <a16:creationId xmlns:a16="http://schemas.microsoft.com/office/drawing/2014/main" id="{DB702051-151F-B5C4-3443-6931F47A642F}"/>
              </a:ext>
            </a:extLst>
          </p:cNvPr>
          <p:cNvSpPr txBox="1"/>
          <p:nvPr/>
        </p:nvSpPr>
        <p:spPr>
          <a:xfrm>
            <a:off x="5490780" y="3284647"/>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RLHF</a:t>
            </a:r>
            <a:endParaRPr lang="en-US" altLang="zh-TW" sz="1400" b="1" u="none" strike="noStrike" dirty="0">
              <a:solidFill>
                <a:schemeClr val="accent6">
                  <a:lumMod val="75000"/>
                </a:schemeClr>
              </a:solidFill>
              <a:effectLst/>
            </a:endParaRPr>
          </a:p>
          <a:p>
            <a:pPr algn="ctr">
              <a:lnSpc>
                <a:spcPts val="1400"/>
              </a:lnSpc>
              <a:buNone/>
            </a:pPr>
            <a:r>
              <a:rPr lang="en-US" altLang="zh-TW" sz="1200" dirty="0"/>
              <a:t>Human</a:t>
            </a:r>
          </a:p>
          <a:p>
            <a:pPr algn="ctr">
              <a:lnSpc>
                <a:spcPts val="1400"/>
              </a:lnSpc>
              <a:buNone/>
            </a:pPr>
            <a:r>
              <a:rPr lang="en-US" altLang="zh-TW" sz="1200" dirty="0"/>
              <a:t>Preferences</a:t>
            </a:r>
            <a:endParaRPr lang="en-US" altLang="zh-TW" sz="1200" u="none" strike="noStrike" dirty="0">
              <a:effectLst/>
            </a:endParaRPr>
          </a:p>
        </p:txBody>
      </p:sp>
      <p:sp>
        <p:nvSpPr>
          <p:cNvPr id="9" name="文字方塊 8">
            <a:extLst>
              <a:ext uri="{FF2B5EF4-FFF2-40B4-BE49-F238E27FC236}">
                <a16:creationId xmlns:a16="http://schemas.microsoft.com/office/drawing/2014/main" id="{07C167B6-49FC-7213-BEAC-0093C4EBA0F8}"/>
              </a:ext>
            </a:extLst>
          </p:cNvPr>
          <p:cNvSpPr txBox="1"/>
          <p:nvPr/>
        </p:nvSpPr>
        <p:spPr>
          <a:xfrm>
            <a:off x="1187624" y="3288444"/>
            <a:ext cx="881420" cy="756316"/>
          </a:xfrm>
          <a:prstGeom prst="rect">
            <a:avLst/>
          </a:prstGeom>
          <a:solidFill>
            <a:schemeClr val="bg1">
              <a:lumMod val="95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Datasets</a:t>
            </a:r>
          </a:p>
          <a:p>
            <a:pPr algn="ctr">
              <a:lnSpc>
                <a:spcPts val="1400"/>
              </a:lnSpc>
              <a:buNone/>
            </a:pPr>
            <a:r>
              <a:rPr lang="en-US" altLang="zh-TW" sz="1200" dirty="0"/>
              <a:t>High-quality</a:t>
            </a:r>
          </a:p>
          <a:p>
            <a:pPr algn="ctr">
              <a:lnSpc>
                <a:spcPts val="1400"/>
              </a:lnSpc>
              <a:buNone/>
            </a:pPr>
            <a:r>
              <a:rPr lang="en-US" altLang="zh-TW" sz="1200" dirty="0"/>
              <a:t>data at scale</a:t>
            </a:r>
          </a:p>
        </p:txBody>
      </p:sp>
      <p:sp>
        <p:nvSpPr>
          <p:cNvPr id="10" name="右大括弧 9">
            <a:extLst>
              <a:ext uri="{FF2B5EF4-FFF2-40B4-BE49-F238E27FC236}">
                <a16:creationId xmlns:a16="http://schemas.microsoft.com/office/drawing/2014/main" id="{F5E88D55-1D29-981A-61C9-848487682A89}"/>
              </a:ext>
            </a:extLst>
          </p:cNvPr>
          <p:cNvSpPr/>
          <p:nvPr/>
        </p:nvSpPr>
        <p:spPr>
          <a:xfrm rot="5400000">
            <a:off x="3154669" y="3534807"/>
            <a:ext cx="153040"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cxnSp>
        <p:nvCxnSpPr>
          <p:cNvPr id="22" name="直線單箭頭接點 21">
            <a:extLst>
              <a:ext uri="{FF2B5EF4-FFF2-40B4-BE49-F238E27FC236}">
                <a16:creationId xmlns:a16="http://schemas.microsoft.com/office/drawing/2014/main" id="{BFBEC447-F76A-CB0C-60B2-2CBEC782C80C}"/>
              </a:ext>
            </a:extLst>
          </p:cNvPr>
          <p:cNvCxnSpPr>
            <a:cxnSpLocks/>
            <a:stCxn id="9" idx="3"/>
            <a:endCxn id="2" idx="1"/>
          </p:cNvCxnSpPr>
          <p:nvPr/>
        </p:nvCxnSpPr>
        <p:spPr>
          <a:xfrm flipV="1">
            <a:off x="2069044" y="3662805"/>
            <a:ext cx="181376" cy="3797"/>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6768731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7A6CC2-BDE4-965A-84C4-C8CEAFC9885E}"/>
            </a:ext>
          </a:extLst>
        </p:cNvPr>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F28CCEC3-1387-0743-9796-8CCF90C0AE03}"/>
              </a:ext>
            </a:extLst>
          </p:cNvPr>
          <p:cNvGraphicFramePr>
            <a:graphicFrameLocks noGrp="1"/>
          </p:cNvGraphicFramePr>
          <p:nvPr>
            <p:extLst>
              <p:ext uri="{D42A27DB-BD31-4B8C-83A1-F6EECF244321}">
                <p14:modId xmlns:p14="http://schemas.microsoft.com/office/powerpoint/2010/main" val="141976597"/>
              </p:ext>
            </p:extLst>
          </p:nvPr>
        </p:nvGraphicFramePr>
        <p:xfrm>
          <a:off x="300657" y="1084161"/>
          <a:ext cx="8542691" cy="4276923"/>
        </p:xfrm>
        <a:graphic>
          <a:graphicData uri="http://schemas.openxmlformats.org/drawingml/2006/table">
            <a:tbl>
              <a:tblPr firstRow="1" bandRow="1">
                <a:tableStyleId>{5C22544A-7EE6-4342-B048-85BDC9FD1C3A}</a:tableStyleId>
              </a:tblPr>
              <a:tblGrid>
                <a:gridCol w="382911">
                  <a:extLst>
                    <a:ext uri="{9D8B030D-6E8A-4147-A177-3AD203B41FA5}">
                      <a16:colId xmlns:a16="http://schemas.microsoft.com/office/drawing/2014/main" val="3115215194"/>
                    </a:ext>
                  </a:extLst>
                </a:gridCol>
                <a:gridCol w="766178">
                  <a:extLst>
                    <a:ext uri="{9D8B030D-6E8A-4147-A177-3AD203B41FA5}">
                      <a16:colId xmlns:a16="http://schemas.microsoft.com/office/drawing/2014/main" val="4024420245"/>
                    </a:ext>
                  </a:extLst>
                </a:gridCol>
                <a:gridCol w="766178">
                  <a:extLst>
                    <a:ext uri="{9D8B030D-6E8A-4147-A177-3AD203B41FA5}">
                      <a16:colId xmlns:a16="http://schemas.microsoft.com/office/drawing/2014/main" val="2857999959"/>
                    </a:ext>
                  </a:extLst>
                </a:gridCol>
                <a:gridCol w="766178">
                  <a:extLst>
                    <a:ext uri="{9D8B030D-6E8A-4147-A177-3AD203B41FA5}">
                      <a16:colId xmlns:a16="http://schemas.microsoft.com/office/drawing/2014/main" val="310011697"/>
                    </a:ext>
                  </a:extLst>
                </a:gridCol>
                <a:gridCol w="766178">
                  <a:extLst>
                    <a:ext uri="{9D8B030D-6E8A-4147-A177-3AD203B41FA5}">
                      <a16:colId xmlns:a16="http://schemas.microsoft.com/office/drawing/2014/main" val="932094440"/>
                    </a:ext>
                  </a:extLst>
                </a:gridCol>
                <a:gridCol w="1039744">
                  <a:extLst>
                    <a:ext uri="{9D8B030D-6E8A-4147-A177-3AD203B41FA5}">
                      <a16:colId xmlns:a16="http://schemas.microsoft.com/office/drawing/2014/main" val="1885199976"/>
                    </a:ext>
                  </a:extLst>
                </a:gridCol>
                <a:gridCol w="1080120">
                  <a:extLst>
                    <a:ext uri="{9D8B030D-6E8A-4147-A177-3AD203B41FA5}">
                      <a16:colId xmlns:a16="http://schemas.microsoft.com/office/drawing/2014/main" val="2502900903"/>
                    </a:ext>
                  </a:extLst>
                </a:gridCol>
                <a:gridCol w="743801">
                  <a:extLst>
                    <a:ext uri="{9D8B030D-6E8A-4147-A177-3AD203B41FA5}">
                      <a16:colId xmlns:a16="http://schemas.microsoft.com/office/drawing/2014/main" val="2600189719"/>
                    </a:ext>
                  </a:extLst>
                </a:gridCol>
                <a:gridCol w="743801">
                  <a:extLst>
                    <a:ext uri="{9D8B030D-6E8A-4147-A177-3AD203B41FA5}">
                      <a16:colId xmlns:a16="http://schemas.microsoft.com/office/drawing/2014/main" val="217543664"/>
                    </a:ext>
                  </a:extLst>
                </a:gridCol>
                <a:gridCol w="743801">
                  <a:extLst>
                    <a:ext uri="{9D8B030D-6E8A-4147-A177-3AD203B41FA5}">
                      <a16:colId xmlns:a16="http://schemas.microsoft.com/office/drawing/2014/main" val="2209626822"/>
                    </a:ext>
                  </a:extLst>
                </a:gridCol>
                <a:gridCol w="743801">
                  <a:extLst>
                    <a:ext uri="{9D8B030D-6E8A-4147-A177-3AD203B41FA5}">
                      <a16:colId xmlns:a16="http://schemas.microsoft.com/office/drawing/2014/main" val="2727600684"/>
                    </a:ext>
                  </a:extLst>
                </a:gridCol>
              </a:tblGrid>
              <a:tr h="668032">
                <a:tc>
                  <a:txBody>
                    <a:bodyPr/>
                    <a:lstStyle/>
                    <a:p>
                      <a:pPr algn="l"/>
                      <a:endParaRPr lang="en-US" altLang="zh-TW" sz="1200" b="1" cap="none" spc="0" dirty="0">
                        <a:ln w="0"/>
                        <a:solidFill>
                          <a:schemeClr val="tx1"/>
                        </a:solidFill>
                        <a:effectLst/>
                        <a:latin typeface="+mn-lt"/>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Modern Open-Source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Backbone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Cross-Border Academic Collaboration</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Community</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-Driven</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Pioneers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Independent &amp;</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Native Pillars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1" cap="none" spc="0" dirty="0">
                        <a:ln w="0"/>
                        <a:solidFill>
                          <a:schemeClr val="tx1"/>
                        </a:solidFill>
                        <a:effectLst/>
                        <a:latin typeface="+mn-lt"/>
                      </a:endParaRPr>
                    </a:p>
                  </a:txBody>
                  <a:tcPr marL="0" marR="0" marT="0" marB="0" anchor="ctr" anchorCtr="1">
                    <a:lnL w="6350" cap="flat" cmpd="sng" algn="ctr">
                      <a:solidFill>
                        <a:schemeClr val="accent4">
                          <a:lumMod val="75000"/>
                        </a:schemeClr>
                      </a:solidFill>
                      <a:prstDash val="solid"/>
                      <a:round/>
                      <a:headEnd type="none" w="med" len="med"/>
                      <a:tailEnd type="none" w="med" len="med"/>
                    </a:lnL>
                    <a:lnR w="6350" cap="flat" cmpd="sng" algn="ctr">
                      <a:solidFill>
                        <a:schemeClr val="accent4">
                          <a:lumMod val="75000"/>
                        </a:schemeClr>
                      </a:solidFill>
                      <a:prstDash val="solid"/>
                      <a:round/>
                      <a:headEnd type="none" w="med" len="med"/>
                      <a:tailEnd type="none" w="med" len="med"/>
                    </a:lnR>
                    <a:lnT w="6350" cap="flat" cmpd="sng" algn="ctr">
                      <a:solidFill>
                        <a:schemeClr val="accent4">
                          <a:lumMod val="75000"/>
                        </a:schemeClr>
                      </a:solidFill>
                      <a:prstDash val="solid"/>
                      <a:round/>
                      <a:headEnd type="none" w="med" len="med"/>
                      <a:tailEnd type="none" w="med" len="med"/>
                    </a:lnT>
                    <a:lnB w="635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3213515898"/>
                  </a:ext>
                </a:extLst>
              </a:tr>
              <a:tr h="75780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DeepMind</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(Google)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Phi</a:t>
                      </a:r>
                      <a:br>
                        <a:rPr kumimoji="0" lang="en-US" altLang="zh-TW" sz="1200" b="1" i="0" u="none" strike="noStrike" kern="1200" cap="none" spc="0" normalizeH="0" baseline="0" noProof="0" dirty="0">
                          <a:ln w="0"/>
                          <a:solidFill>
                            <a:schemeClr val="tx2"/>
                          </a:solidFill>
                          <a:effectLst/>
                          <a:uLnTx/>
                          <a:uFillTx/>
                          <a:latin typeface="+mn-lt"/>
                          <a:ea typeface="+mn-ea"/>
                          <a:cs typeface="+mn-cs"/>
                        </a:rPr>
                      </a:br>
                      <a:r>
                        <a:rPr kumimoji="0" lang="en-US" altLang="zh-TW" sz="1000" b="0" i="0" u="none" strike="noStrike" kern="1200" cap="none" spc="0" normalizeH="0" baseline="0" noProof="0" dirty="0">
                          <a:ln w="0"/>
                          <a:solidFill>
                            <a:schemeClr val="tx2"/>
                          </a:solidFill>
                          <a:effectLst/>
                          <a:uLnTx/>
                          <a:uFillTx/>
                          <a:latin typeface="+mn-lt"/>
                          <a:ea typeface="+mn-ea"/>
                          <a:cs typeface="+mn-cs"/>
                        </a:rPr>
                        <a:t>(Microsoft)</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(FAIR)</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 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(Europe)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BigScience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(Hugging Face, France</a:t>
                      </a:r>
                      <a:r>
                        <a:rPr kumimoji="0" lang="zh-TW" altLang="en-US" sz="1000" b="0" i="0" u="none" strike="noStrike" kern="1200" cap="none" spc="0" normalizeH="0" baseline="0" noProof="0" dirty="0">
                          <a:ln w="0"/>
                          <a:solidFill>
                            <a:schemeClr val="tx2"/>
                          </a:solidFill>
                          <a:effectLst/>
                          <a:uLnTx/>
                          <a:uFillTx/>
                          <a:latin typeface="+mn-lt"/>
                          <a:ea typeface="+mn-ea"/>
                          <a:cs typeface="+mn-cs"/>
                        </a:rPr>
                        <a:t> </a:t>
                      </a:r>
                      <a:r>
                        <a:rPr kumimoji="0" lang="en-US" altLang="zh-TW" sz="1000" b="0" i="0" u="none" strike="noStrike" kern="1200" cap="none" spc="0" normalizeH="0" baseline="0" noProof="0" dirty="0">
                          <a:ln w="0"/>
                          <a:solidFill>
                            <a:schemeClr val="tx2"/>
                          </a:solidFill>
                          <a:effectLst/>
                          <a:uLnTx/>
                          <a:uFillTx/>
                          <a:latin typeface="+mn-lt"/>
                          <a:ea typeface="+mn-ea"/>
                          <a:cs typeface="+mn-cs"/>
                        </a:rPr>
                        <a:t> and 1000+ scientists )</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EleutherAI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(Hugging Face, CoreWeave,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Stability AI, …)</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Technology Innovation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Institute </a:t>
                      </a:r>
                      <a:r>
                        <a:rPr kumimoji="0" lang="en-US" altLang="zh-TW" sz="1000" b="0" i="0" u="none" strike="noStrike" kern="1200" cap="none" spc="0" normalizeH="0" baseline="0" noProof="0" dirty="0">
                          <a:ln w="0"/>
                          <a:solidFill>
                            <a:schemeClr val="tx2"/>
                          </a:solidFill>
                          <a:effectLst/>
                          <a:uLnTx/>
                          <a:uFillTx/>
                          <a:latin typeface="+mn-lt"/>
                          <a:ea typeface="+mn-ea"/>
                          <a:cs typeface="+mn-cs"/>
                        </a:rPr>
                        <a:t>(NV)</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(Alibaba)</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DS MoE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(DeepSeek)</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KIMI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(Moonshot)</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3603224414"/>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GPT-Neo</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341340391"/>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GPT-J</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49642222"/>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2022</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bg2">
                              <a:lumMod val="50000"/>
                            </a:schemeClr>
                          </a:solidFill>
                          <a:effectLst/>
                          <a:uLnTx/>
                          <a:uFillTx/>
                          <a:latin typeface="+mn-lt"/>
                          <a:ea typeface="+mn-ea"/>
                          <a:cs typeface="+mn-cs"/>
                        </a:rPr>
                        <a:t>BLOOM</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r>
                        <a:rPr kumimoji="0" lang="en-US" altLang="zh-TW" sz="1200" b="0" i="0" u="none" strike="noStrike" kern="1200" cap="none" spc="0" normalizeH="0" baseline="0" noProof="0" dirty="0" err="1">
                          <a:ln w="0"/>
                          <a:solidFill>
                            <a:prstClr val="black"/>
                          </a:solidFill>
                          <a:effectLst/>
                          <a:uLnTx/>
                          <a:uFillTx/>
                          <a:latin typeface="+mn-lt"/>
                          <a:ea typeface="+mn-ea"/>
                          <a:cs typeface="+mn-cs"/>
                        </a:rPr>
                        <a:t>NeoX</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2148326291"/>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 7B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Mixtral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w="0"/>
                          <a:solidFill>
                            <a:prstClr val="black"/>
                          </a:solidFill>
                          <a:effectLst/>
                          <a:uLnTx/>
                          <a:uFillTx/>
                          <a:latin typeface="+mn-lt"/>
                          <a:ea typeface="+mn-ea"/>
                          <a:cs typeface="+mn-cs"/>
                        </a:rPr>
                        <a:t>LLeMA</a:t>
                      </a: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LLM</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2714491690"/>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2">
                            <a:lumMod val="75000"/>
                          </a:schemeClr>
                        </a:solidFill>
                        <a:effectLst/>
                        <a:uLnTx/>
                        <a:uFillTx/>
                        <a:latin typeface="+mn-lt"/>
                        <a:ea typeface="+mn-ea"/>
                        <a:cs typeface="+mn-cs"/>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 3</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2.5</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V3</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559259351"/>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2025</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Gemma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Phi-4</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Large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lumMod val="50000"/>
                              <a:lumOff val="50000"/>
                            </a:schemeClr>
                          </a:solidFill>
                          <a:effectLst/>
                          <a:uLnTx/>
                          <a:uFillTx/>
                          <a:latin typeface="+mn-lt"/>
                          <a:ea typeface="+mn-ea"/>
                          <a:cs typeface="+mn-cs"/>
                        </a:rPr>
                        <a:t>The Common Pile</a:t>
                      </a: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 H1</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3.0</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772492193"/>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Gemma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Phi-4</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Vision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Muse 1</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Small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12700" cap="flat" cmpd="sng" algn="ctr">
                      <a:solidFill>
                        <a:schemeClr val="accent4">
                          <a:lumMod val="20000"/>
                          <a:lumOff val="8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lumMod val="50000"/>
                              <a:lumOff val="50000"/>
                            </a:schemeClr>
                          </a:solidFill>
                          <a:effectLst/>
                          <a:uLnTx/>
                          <a:uFillTx/>
                          <a:latin typeface="+mn-lt"/>
                          <a:ea typeface="+mn-ea"/>
                          <a:cs typeface="+mn-cs"/>
                        </a:rPr>
                        <a:t>LM-Evaluation-Harness</a:t>
                      </a:r>
                      <a:endParaRPr kumimoji="0" lang="zh-TW" altLang="en-US" sz="1200" b="0" i="0" u="none" strike="noStrike" kern="1200" cap="none" spc="0" normalizeH="0" baseline="0" noProof="0" dirty="0">
                        <a:ln w="0"/>
                        <a:solidFill>
                          <a:schemeClr val="tx1">
                            <a:lumMod val="50000"/>
                            <a:lumOff val="50000"/>
                          </a:schemeClr>
                        </a:solidFill>
                        <a:effectLst/>
                        <a:uLnTx/>
                        <a:uFillTx/>
                        <a:latin typeface="+mn-lt"/>
                        <a:ea typeface="+mn-ea"/>
                        <a:cs typeface="+mn-cs"/>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H1R</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3.8</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Kimi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K3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0024983"/>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20000"/>
                          <a:lumOff val="80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2">
                            <a:lumMod val="75000"/>
                          </a:schemeClr>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22451293"/>
                  </a:ext>
                </a:extLst>
              </a:tr>
            </a:tbl>
          </a:graphicData>
        </a:graphic>
      </p:graphicFrame>
      <p:sp>
        <p:nvSpPr>
          <p:cNvPr id="6" name="標題 1">
            <a:extLst>
              <a:ext uri="{FF2B5EF4-FFF2-40B4-BE49-F238E27FC236}">
                <a16:creationId xmlns:a16="http://schemas.microsoft.com/office/drawing/2014/main" id="{2584B682-80DC-5350-E199-F653A8484A51}"/>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The Evolution of Open-Source LLMs</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From 2020 to 2026.</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0" name="圖片 9">
            <a:extLst>
              <a:ext uri="{FF2B5EF4-FFF2-40B4-BE49-F238E27FC236}">
                <a16:creationId xmlns:a16="http://schemas.microsoft.com/office/drawing/2014/main" id="{9C034926-36B1-924C-1E61-4CBCD515102C}"/>
              </a:ext>
            </a:extLst>
          </p:cNvPr>
          <p:cNvPicPr>
            <a:picLocks noChangeAspect="1"/>
          </p:cNvPicPr>
          <p:nvPr/>
        </p:nvPicPr>
        <p:blipFill>
          <a:blip r:embed="rId3"/>
          <a:stretch>
            <a:fillRect/>
          </a:stretch>
        </p:blipFill>
        <p:spPr>
          <a:xfrm>
            <a:off x="6807316" y="5216376"/>
            <a:ext cx="284964" cy="284964"/>
          </a:xfrm>
          <a:prstGeom prst="rect">
            <a:avLst/>
          </a:prstGeom>
          <a:effectLst>
            <a:glow rad="12700">
              <a:schemeClr val="bg1">
                <a:lumMod val="95000"/>
                <a:alpha val="40000"/>
              </a:schemeClr>
            </a:glow>
            <a:softEdge rad="25400"/>
          </a:effectLst>
        </p:spPr>
      </p:pic>
      <p:pic>
        <p:nvPicPr>
          <p:cNvPr id="12" name="圖片 11">
            <a:extLst>
              <a:ext uri="{FF2B5EF4-FFF2-40B4-BE49-F238E27FC236}">
                <a16:creationId xmlns:a16="http://schemas.microsoft.com/office/drawing/2014/main" id="{B49E799F-C565-ABB2-F1E1-804D95D1669C}"/>
              </a:ext>
            </a:extLst>
          </p:cNvPr>
          <p:cNvPicPr>
            <a:picLocks noChangeAspect="1"/>
          </p:cNvPicPr>
          <p:nvPr/>
        </p:nvPicPr>
        <p:blipFill>
          <a:blip r:embed="rId4"/>
          <a:stretch>
            <a:fillRect/>
          </a:stretch>
        </p:blipFill>
        <p:spPr>
          <a:xfrm>
            <a:off x="7533826" y="5208414"/>
            <a:ext cx="350542" cy="284964"/>
          </a:xfrm>
          <a:prstGeom prst="rect">
            <a:avLst/>
          </a:prstGeom>
        </p:spPr>
      </p:pic>
      <p:pic>
        <p:nvPicPr>
          <p:cNvPr id="16" name="圖片 15">
            <a:extLst>
              <a:ext uri="{FF2B5EF4-FFF2-40B4-BE49-F238E27FC236}">
                <a16:creationId xmlns:a16="http://schemas.microsoft.com/office/drawing/2014/main" id="{37610F10-8CC5-F71E-FB14-609A88EA39AD}"/>
              </a:ext>
            </a:extLst>
          </p:cNvPr>
          <p:cNvPicPr>
            <a:picLocks noChangeAspect="1"/>
          </p:cNvPicPr>
          <p:nvPr/>
        </p:nvPicPr>
        <p:blipFill>
          <a:blip r:embed="rId5"/>
          <a:stretch>
            <a:fillRect/>
          </a:stretch>
        </p:blipFill>
        <p:spPr>
          <a:xfrm>
            <a:off x="3275856" y="5184697"/>
            <a:ext cx="284964" cy="284964"/>
          </a:xfrm>
          <a:prstGeom prst="rect">
            <a:avLst/>
          </a:prstGeom>
        </p:spPr>
      </p:pic>
      <p:pic>
        <p:nvPicPr>
          <p:cNvPr id="20" name="圖片 19">
            <a:extLst>
              <a:ext uri="{FF2B5EF4-FFF2-40B4-BE49-F238E27FC236}">
                <a16:creationId xmlns:a16="http://schemas.microsoft.com/office/drawing/2014/main" id="{3C663D43-268C-53AE-455E-FD0977CCE05C}"/>
              </a:ext>
            </a:extLst>
          </p:cNvPr>
          <p:cNvPicPr>
            <a:picLocks noChangeAspect="1"/>
          </p:cNvPicPr>
          <p:nvPr/>
        </p:nvPicPr>
        <p:blipFill>
          <a:blip r:embed="rId6"/>
          <a:stretch>
            <a:fillRect/>
          </a:stretch>
        </p:blipFill>
        <p:spPr>
          <a:xfrm>
            <a:off x="879223" y="5151468"/>
            <a:ext cx="380409" cy="380409"/>
          </a:xfrm>
          <a:prstGeom prst="rect">
            <a:avLst/>
          </a:prstGeom>
          <a:effectLst>
            <a:glow rad="25400">
              <a:schemeClr val="accent5">
                <a:lumMod val="40000"/>
                <a:lumOff val="60000"/>
                <a:alpha val="40000"/>
              </a:schemeClr>
            </a:glow>
            <a:softEdge rad="12700"/>
          </a:effectLst>
        </p:spPr>
      </p:pic>
      <p:pic>
        <p:nvPicPr>
          <p:cNvPr id="9" name="圖片 8">
            <a:extLst>
              <a:ext uri="{FF2B5EF4-FFF2-40B4-BE49-F238E27FC236}">
                <a16:creationId xmlns:a16="http://schemas.microsoft.com/office/drawing/2014/main" id="{F5012F1A-6F0A-97DF-CC14-7D190C26E4F0}"/>
              </a:ext>
            </a:extLst>
          </p:cNvPr>
          <p:cNvPicPr>
            <a:picLocks noChangeAspect="1"/>
          </p:cNvPicPr>
          <p:nvPr/>
        </p:nvPicPr>
        <p:blipFill>
          <a:blip r:embed="rId7"/>
          <a:stretch>
            <a:fillRect/>
          </a:stretch>
        </p:blipFill>
        <p:spPr>
          <a:xfrm>
            <a:off x="2483768" y="5240323"/>
            <a:ext cx="284964" cy="225568"/>
          </a:xfrm>
          <a:prstGeom prst="rect">
            <a:avLst/>
          </a:prstGeom>
        </p:spPr>
      </p:pic>
      <p:pic>
        <p:nvPicPr>
          <p:cNvPr id="22" name="圖片 21">
            <a:extLst>
              <a:ext uri="{FF2B5EF4-FFF2-40B4-BE49-F238E27FC236}">
                <a16:creationId xmlns:a16="http://schemas.microsoft.com/office/drawing/2014/main" id="{3D4C8B4F-8579-798A-BD81-2A9ED45B4E54}"/>
              </a:ext>
            </a:extLst>
          </p:cNvPr>
          <p:cNvPicPr>
            <a:picLocks noChangeAspect="1"/>
          </p:cNvPicPr>
          <p:nvPr/>
        </p:nvPicPr>
        <p:blipFill>
          <a:blip r:embed="rId8"/>
          <a:stretch>
            <a:fillRect/>
          </a:stretch>
        </p:blipFill>
        <p:spPr>
          <a:xfrm>
            <a:off x="8317433" y="5208413"/>
            <a:ext cx="287015" cy="284965"/>
          </a:xfrm>
          <a:prstGeom prst="rect">
            <a:avLst/>
          </a:prstGeom>
        </p:spPr>
      </p:pic>
      <p:pic>
        <p:nvPicPr>
          <p:cNvPr id="30" name="圖片 29">
            <a:extLst>
              <a:ext uri="{FF2B5EF4-FFF2-40B4-BE49-F238E27FC236}">
                <a16:creationId xmlns:a16="http://schemas.microsoft.com/office/drawing/2014/main" id="{46A64EA5-8F7A-E610-5F8F-CE72FAA64EBE}"/>
              </a:ext>
            </a:extLst>
          </p:cNvPr>
          <p:cNvPicPr>
            <a:picLocks noChangeAspect="1"/>
          </p:cNvPicPr>
          <p:nvPr/>
        </p:nvPicPr>
        <p:blipFill>
          <a:blip r:embed="rId9"/>
          <a:stretch>
            <a:fillRect/>
          </a:stretch>
        </p:blipFill>
        <p:spPr>
          <a:xfrm>
            <a:off x="3779912" y="2942072"/>
            <a:ext cx="980309" cy="265437"/>
          </a:xfrm>
          <a:prstGeom prst="rect">
            <a:avLst/>
          </a:prstGeom>
          <a:effectLst>
            <a:glow rad="50800">
              <a:schemeClr val="tx1">
                <a:alpha val="20000"/>
              </a:schemeClr>
            </a:glow>
            <a:softEdge rad="0"/>
          </a:effectLst>
        </p:spPr>
      </p:pic>
      <p:pic>
        <p:nvPicPr>
          <p:cNvPr id="31" name="圖片 30" descr="EleutherAI">
            <a:extLst>
              <a:ext uri="{FF2B5EF4-FFF2-40B4-BE49-F238E27FC236}">
                <a16:creationId xmlns:a16="http://schemas.microsoft.com/office/drawing/2014/main" id="{B9927168-FE93-7A1D-D637-FBC5D13D256E}"/>
              </a:ext>
            </a:extLst>
          </p:cNvPr>
          <p:cNvPicPr>
            <a:picLocks noChangeAspect="1"/>
          </p:cNvPicPr>
          <p:nvPr/>
        </p:nvPicPr>
        <p:blipFill>
          <a:blip r:embed="rId10"/>
          <a:stretch>
            <a:fillRect/>
          </a:stretch>
        </p:blipFill>
        <p:spPr>
          <a:xfrm>
            <a:off x="4355976" y="3915928"/>
            <a:ext cx="1595502" cy="331066"/>
          </a:xfrm>
          <a:prstGeom prst="rect">
            <a:avLst/>
          </a:prstGeom>
          <a:effectLst>
            <a:glow rad="76200">
              <a:schemeClr val="tx1">
                <a:alpha val="80000"/>
              </a:schemeClr>
            </a:glow>
            <a:softEdge rad="0"/>
          </a:effectLst>
        </p:spPr>
      </p:pic>
      <p:pic>
        <p:nvPicPr>
          <p:cNvPr id="34" name="圖片 33">
            <a:extLst>
              <a:ext uri="{FF2B5EF4-FFF2-40B4-BE49-F238E27FC236}">
                <a16:creationId xmlns:a16="http://schemas.microsoft.com/office/drawing/2014/main" id="{736F2CD2-8368-1411-CDA1-CD7BED977C1D}"/>
              </a:ext>
            </a:extLst>
          </p:cNvPr>
          <p:cNvPicPr>
            <a:picLocks noChangeAspect="1"/>
          </p:cNvPicPr>
          <p:nvPr/>
        </p:nvPicPr>
        <p:blipFill>
          <a:blip r:embed="rId11"/>
          <a:stretch>
            <a:fillRect/>
          </a:stretch>
        </p:blipFill>
        <p:spPr>
          <a:xfrm>
            <a:off x="6084168" y="5184558"/>
            <a:ext cx="272407" cy="332674"/>
          </a:xfrm>
          <a:prstGeom prst="rect">
            <a:avLst/>
          </a:prstGeom>
        </p:spPr>
      </p:pic>
      <p:pic>
        <p:nvPicPr>
          <p:cNvPr id="36" name="圖片 35">
            <a:extLst>
              <a:ext uri="{FF2B5EF4-FFF2-40B4-BE49-F238E27FC236}">
                <a16:creationId xmlns:a16="http://schemas.microsoft.com/office/drawing/2014/main" id="{19738192-72EC-1EEB-D2CA-5EDC92128DB0}"/>
              </a:ext>
            </a:extLst>
          </p:cNvPr>
          <p:cNvPicPr>
            <a:picLocks noChangeAspect="1"/>
          </p:cNvPicPr>
          <p:nvPr/>
        </p:nvPicPr>
        <p:blipFill>
          <a:blip r:embed="rId12"/>
          <a:stretch>
            <a:fillRect/>
          </a:stretch>
        </p:blipFill>
        <p:spPr>
          <a:xfrm>
            <a:off x="1715117" y="5184558"/>
            <a:ext cx="288546" cy="281333"/>
          </a:xfrm>
          <a:prstGeom prst="rect">
            <a:avLst/>
          </a:prstGeom>
        </p:spPr>
      </p:pic>
    </p:spTree>
    <p:extLst>
      <p:ext uri="{BB962C8B-B14F-4D97-AF65-F5344CB8AC3E}">
        <p14:creationId xmlns:p14="http://schemas.microsoft.com/office/powerpoint/2010/main" val="230050673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theme/theme1.xml><?xml version="1.0" encoding="utf-8"?>
<a:theme xmlns:a="http://schemas.openxmlformats.org/drawingml/2006/main" name="Default">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tx1">
            <a:alpha val="70000"/>
          </a:schemeClr>
        </a:solidFill>
        <a:ln w="12700">
          <a:solidFill>
            <a:schemeClr val="bg1">
              <a:lumMod val="75000"/>
            </a:schemeClr>
          </a:solid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簡報1" id="{3349570C-DE3B-48BB-8671-1853FC12C45D}" vid="{424F00FA-23EC-402E-8D8B-A6A8EB048657}"/>
    </a:ext>
  </a:extLst>
</a:theme>
</file>

<file path=ppt/theme/theme2.xml><?xml version="1.0" encoding="utf-8"?>
<a:theme xmlns:a="http://schemas.openxmlformats.org/drawingml/2006/main" name="Office 佈景主題">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TM02900688[[fn=多面向]]</Template>
  <TotalTime>1264</TotalTime>
  <Words>4916</Words>
  <Application>Microsoft Office PowerPoint</Application>
  <PresentationFormat>如螢幕大小 (4:3)</PresentationFormat>
  <Paragraphs>1004</Paragraphs>
  <Slides>29</Slides>
  <Notes>14</Notes>
  <HiddenSlides>1</HiddenSlides>
  <MMClips>0</MMClips>
  <ScaleCrop>false</ScaleCrop>
  <HeadingPairs>
    <vt:vector size="6" baseType="variant">
      <vt:variant>
        <vt:lpstr>使用字型</vt:lpstr>
      </vt:variant>
      <vt:variant>
        <vt:i4>10</vt:i4>
      </vt:variant>
      <vt:variant>
        <vt:lpstr>佈景主題</vt:lpstr>
      </vt:variant>
      <vt:variant>
        <vt:i4>1</vt:i4>
      </vt:variant>
      <vt:variant>
        <vt:lpstr>投影片標題</vt:lpstr>
      </vt:variant>
      <vt:variant>
        <vt:i4>29</vt:i4>
      </vt:variant>
    </vt:vector>
  </HeadingPairs>
  <TitlesOfParts>
    <vt:vector size="40" baseType="lpstr">
      <vt:lpstr>Google Sans</vt:lpstr>
      <vt:lpstr>Malgun Gothic</vt:lpstr>
      <vt:lpstr>Noto Sans HK</vt:lpstr>
      <vt:lpstr>微軟正黑體</vt:lpstr>
      <vt:lpstr>ADLaM Display</vt:lpstr>
      <vt:lpstr>Arial</vt:lpstr>
      <vt:lpstr>Calibri</vt:lpstr>
      <vt:lpstr>Cambria Math</vt:lpstr>
      <vt:lpstr>Gadugi</vt:lpstr>
      <vt:lpstr>Wingdings</vt:lpstr>
      <vt:lpstr>Default</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Progress Report</dc:title>
  <dc:creator>Felix Tien(田慶豐)</dc:creator>
  <cp:lastModifiedBy>Allen Ni(倪士凱)</cp:lastModifiedBy>
  <cp:revision>1867</cp:revision>
  <cp:lastPrinted>2024-07-30T01:44:15Z</cp:lastPrinted>
  <dcterms:created xsi:type="dcterms:W3CDTF">2019-11-08T03:01:47Z</dcterms:created>
  <dcterms:modified xsi:type="dcterms:W3CDTF">2026-08-21T03:14:17Z</dcterms:modified>
</cp:coreProperties>
</file>