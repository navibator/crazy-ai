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4"/>
  </p:notesMasterIdLst>
  <p:handoutMasterIdLst>
    <p:handoutMasterId r:id="rId25"/>
  </p:handoutMasterIdLst>
  <p:sldIdLst>
    <p:sldId id="3459" r:id="rId2"/>
    <p:sldId id="3472" r:id="rId3"/>
    <p:sldId id="3555" r:id="rId4"/>
    <p:sldId id="3554" r:id="rId5"/>
    <p:sldId id="3548" r:id="rId6"/>
    <p:sldId id="3547" r:id="rId7"/>
    <p:sldId id="3570" r:id="rId8"/>
    <p:sldId id="3572" r:id="rId9"/>
    <p:sldId id="3571" r:id="rId10"/>
    <p:sldId id="3537" r:id="rId11"/>
    <p:sldId id="3558" r:id="rId12"/>
    <p:sldId id="3564" r:id="rId13"/>
    <p:sldId id="3557" r:id="rId14"/>
    <p:sldId id="3544" r:id="rId15"/>
    <p:sldId id="3540" r:id="rId16"/>
    <p:sldId id="3543" r:id="rId17"/>
    <p:sldId id="3545" r:id="rId18"/>
    <p:sldId id="3553" r:id="rId19"/>
    <p:sldId id="3539" r:id="rId20"/>
    <p:sldId id="3542" r:id="rId21"/>
    <p:sldId id="3538" r:id="rId22"/>
    <p:sldId id="3549" r:id="rId23"/>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Reinforcement Learning" id="{6A51FF52-3944-402B-A9B9-75E228335DE4}">
          <p14:sldIdLst>
            <p14:sldId id="3555"/>
            <p14:sldId id="3554"/>
          </p14:sldIdLst>
        </p14:section>
        <p14:section name="Distillation" id="{7EB38C31-A2B8-4354-A21C-A4C807EDE2C4}">
          <p14:sldIdLst>
            <p14:sldId id="3548"/>
            <p14:sldId id="3547"/>
          </p14:sldIdLst>
        </p14:section>
        <p14:section name="Position Encoding" id="{23BF021E-8044-46FD-9989-ED85BB2577B3}">
          <p14:sldIdLst>
            <p14:sldId id="3570"/>
            <p14:sldId id="3572"/>
            <p14:sldId id="3571"/>
          </p14:sldIdLst>
        </p14:section>
        <p14:section name="Deepseek" id="{8CC3907E-2537-4761-B8B4-20CC1D391E20}">
          <p14:sldIdLst>
            <p14:sldId id="3537"/>
            <p14:sldId id="3558"/>
            <p14:sldId id="3564"/>
            <p14:sldId id="3557"/>
            <p14:sldId id="3544"/>
            <p14:sldId id="3540"/>
            <p14:sldId id="3543"/>
            <p14:sldId id="3545"/>
            <p14:sldId id="3553"/>
            <p14:sldId id="3539"/>
            <p14:sldId id="3542"/>
            <p14:sldId id="3538"/>
          </p14:sldIdLst>
        </p14:section>
        <p14:section name="Conclusion" id="{D9E6914C-A73F-4176-B0F8-3F87EAC09119}">
          <p14:sldIdLst>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10" autoAdjust="0"/>
    <p:restoredTop sz="72278" autoAdjust="0"/>
  </p:normalViewPr>
  <p:slideViewPr>
    <p:cSldViewPr>
      <p:cViewPr>
        <p:scale>
          <a:sx n="100" d="100"/>
          <a:sy n="100" d="100"/>
        </p:scale>
        <p:origin x="1584" y="7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2026/8/26</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2026/8/26</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94C72-3F7C-A81E-DCEF-653ECFCB864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664BBAE-1168-DF55-9F20-9F753A35251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8F66A29-70F1-323F-DEF0-7A4209ED44EB}"/>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A00D6A9-87C4-54F6-5ADC-206C1A2E6B32}"/>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32754766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C3C77-88E5-55AA-094A-F389F8660C7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88DF128-2C66-7F55-1842-68AEC209BF1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462F23B-7F71-0367-8D5F-C3566848B944}"/>
              </a:ext>
            </a:extLst>
          </p:cNvPr>
          <p:cNvSpPr>
            <a:spLocks noGrp="1"/>
          </p:cNvSpPr>
          <p:nvPr>
            <p:ph type="body" idx="1"/>
          </p:nvPr>
        </p:nvSpPr>
        <p:spPr/>
        <p:txBody>
          <a:bodyPr/>
          <a:lstStyle/>
          <a:p>
            <a:pPr marL="0" marR="0">
              <a:lnSpc>
                <a:spcPts val="1400"/>
              </a:lnSpc>
              <a:buNone/>
            </a:pPr>
            <a:r>
              <a:rPr lang="zh-TW" altLang="zh-TW" sz="1200" b="0" u="none" strike="noStrike" dirty="0">
                <a:effectLst/>
                <a:latin typeface="+mn-lt"/>
              </a:rPr>
              <a:t>DeepSeek 的 </a:t>
            </a:r>
            <a:r>
              <a:rPr lang="zh-TW" altLang="zh-TW" sz="1200" b="1" u="none" strike="noStrike" dirty="0">
                <a:effectLst/>
                <a:latin typeface="+mn-lt"/>
              </a:rPr>
              <a:t>NoPE（No Positional Embedding）</a:t>
            </a:r>
            <a:r>
              <a:rPr lang="zh-TW" altLang="zh-TW" sz="1200" b="0" u="none" strike="noStrike" dirty="0">
                <a:effectLst/>
                <a:latin typeface="+mn-lt"/>
              </a:rPr>
              <a:t> 運作原理，核心在於</a:t>
            </a:r>
            <a:r>
              <a:rPr lang="zh-TW" altLang="zh-TW" sz="1200" b="1" u="none" strike="noStrike" dirty="0">
                <a:effectLst/>
                <a:latin typeface="+mn-lt"/>
              </a:rPr>
              <a:t>「解耦（Decoupling）」</a:t>
            </a:r>
            <a:r>
              <a:rPr lang="zh-TW" altLang="zh-TW" sz="1200" b="0" u="none" strike="noStrike" dirty="0">
                <a:effectLst/>
                <a:latin typeface="+mn-lt"/>
              </a:rPr>
              <a:t>。</a:t>
            </a:r>
          </a:p>
          <a:p>
            <a:pPr marL="0" marR="0">
              <a:lnSpc>
                <a:spcPts val="1400"/>
              </a:lnSpc>
              <a:buNone/>
            </a:pPr>
            <a:r>
              <a:rPr lang="zh-TW" altLang="zh-TW" sz="1200" b="0" u="none" strike="noStrike" dirty="0">
                <a:effectLst/>
                <a:latin typeface="+mn-lt"/>
              </a:rPr>
              <a:t>傳統 Transformer（如 LLaMA）會把位置資訊（RoPE）直接融入到 Query（Q）和 Key（K）的每一個維度中。</a:t>
            </a:r>
            <a:endParaRPr lang="en-US" altLang="zh-TW" sz="1200" b="0" u="none" strike="noStrike" dirty="0">
              <a:effectLst/>
              <a:latin typeface="+mn-lt"/>
            </a:endParaRPr>
          </a:p>
          <a:p>
            <a:pPr marL="0" marR="0">
              <a:lnSpc>
                <a:spcPts val="1400"/>
              </a:lnSpc>
              <a:buNone/>
            </a:pPr>
            <a:r>
              <a:rPr lang="zh-TW" altLang="zh-TW" sz="1200" b="0" u="none" strike="noStrike" dirty="0">
                <a:effectLst/>
                <a:latin typeface="+mn-lt"/>
              </a:rPr>
              <a:t>但 DeepSeek 為了大幅壓縮 KV 快取（KV Cache），開發了 MLA</a:t>
            </a:r>
            <a:r>
              <a:rPr lang="en-US" altLang="zh-TW" sz="1200" b="0" u="none" strike="noStrike" dirty="0">
                <a:effectLst/>
                <a:latin typeface="+mn-lt"/>
              </a:rPr>
              <a:t>(</a:t>
            </a:r>
            <a:r>
              <a:rPr lang="zh-TW" altLang="zh-TW" sz="1200" b="0" u="none" strike="noStrike" dirty="0">
                <a:effectLst/>
                <a:latin typeface="+mn-lt"/>
              </a:rPr>
              <a:t>Multi-head Latent Attention</a:t>
            </a:r>
            <a:r>
              <a:rPr lang="en-US" altLang="zh-TW" sz="1200" b="0" u="none" strike="noStrike" dirty="0">
                <a:effectLst/>
                <a:latin typeface="+mn-lt"/>
              </a:rPr>
              <a:t>)</a:t>
            </a:r>
            <a:r>
              <a:rPr lang="zh-TW" altLang="zh-TW" sz="1200" b="0" u="none" strike="noStrike" dirty="0">
                <a:effectLst/>
                <a:latin typeface="+mn-lt"/>
              </a:rPr>
              <a:t>架構。</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0" marR="0">
              <a:lnSpc>
                <a:spcPts val="1400"/>
              </a:lnSpc>
              <a:buNone/>
            </a:pPr>
            <a:r>
              <a:rPr lang="zh-TW" altLang="zh-TW" sz="1200" b="0" u="none" strike="noStrike" dirty="0">
                <a:effectLst/>
                <a:latin typeface="+mn-lt"/>
              </a:rPr>
              <a:t>在 MLA 中，RoPE 如果與壓縮矩陣混在一起，會破壞矩陣乘法的優化（無法進行吸收）。因此，DeepSeek 選擇將 Q 和 K 的維度</a:t>
            </a:r>
            <a:r>
              <a:rPr lang="zh-TW" altLang="zh-TW" sz="1200" b="1" u="none" strike="noStrike" dirty="0">
                <a:effectLst/>
                <a:latin typeface="+mn-lt"/>
              </a:rPr>
              <a:t>拆成兩部分</a:t>
            </a:r>
            <a:r>
              <a:rPr lang="en-US" altLang="zh-TW" sz="1200" b="1" u="none" strike="noStrike" dirty="0">
                <a:effectLst/>
                <a:latin typeface="+mn-lt"/>
              </a:rPr>
              <a:t>:</a:t>
            </a:r>
          </a:p>
          <a:p>
            <a:pPr marL="0" marR="0">
              <a:lnSpc>
                <a:spcPts val="1400"/>
              </a:lnSpc>
              <a:buNone/>
            </a:pPr>
            <a:r>
              <a:rPr lang="zh-TW" altLang="zh-TW" sz="1200" b="0" u="none" strike="noStrike" dirty="0">
                <a:effectLst/>
                <a:latin typeface="+mn-lt"/>
              </a:rPr>
              <a:t>一部分</a:t>
            </a:r>
            <a:r>
              <a:rPr lang="zh-TW" altLang="zh-TW" sz="1200" b="1" u="none" strike="noStrike" dirty="0">
                <a:effectLst/>
                <a:latin typeface="+mn-lt"/>
              </a:rPr>
              <a:t>完全不帶位置資訊（NoPE）</a:t>
            </a:r>
            <a:r>
              <a:rPr lang="zh-TW" altLang="zh-TW" sz="1200" b="0" u="none" strike="noStrike" dirty="0">
                <a:effectLst/>
                <a:latin typeface="+mn-lt"/>
              </a:rPr>
              <a:t>，另一部分</a:t>
            </a:r>
            <a:r>
              <a:rPr lang="zh-TW" altLang="zh-TW" sz="1200" b="1" u="none" strike="noStrike" dirty="0">
                <a:effectLst/>
                <a:latin typeface="+mn-lt"/>
              </a:rPr>
              <a:t>專門用來帶位置資訊（RoPE）</a:t>
            </a:r>
            <a:r>
              <a:rPr lang="zh-TW" altLang="zh-TW" sz="1200" b="0" u="none" strike="noStrike" dirty="0">
                <a:effectLst/>
                <a:latin typeface="+mn-lt"/>
              </a:rPr>
              <a:t>。</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0" marR="0">
              <a:lnSpc>
                <a:spcPts val="1400"/>
              </a:lnSpc>
              <a:buNone/>
            </a:pPr>
            <a:r>
              <a:rPr lang="zh-TW" altLang="zh-TW" sz="1200" b="0" u="none" strike="noStrike" dirty="0">
                <a:effectLst/>
                <a:latin typeface="+mn-lt"/>
              </a:rPr>
              <a:t>以下是 NoPE 在注意力機制中的核心運作步驟：</a:t>
            </a:r>
          </a:p>
          <a:p>
            <a:pPr marL="0" marR="0">
              <a:lnSpc>
                <a:spcPts val="1400"/>
              </a:lnSpc>
              <a:buNone/>
            </a:pPr>
            <a:r>
              <a:rPr lang="zh-TW" altLang="zh-TW" sz="1200" b="1" u="none" strike="noStrike" dirty="0">
                <a:effectLst/>
                <a:latin typeface="+mn-lt"/>
              </a:rPr>
              <a:t>1. 維度拆分（Splitting）</a:t>
            </a:r>
          </a:p>
          <a:p>
            <a:pPr marL="0" marR="0">
              <a:lnSpc>
                <a:spcPts val="1400"/>
              </a:lnSpc>
              <a:buNone/>
            </a:pPr>
            <a:r>
              <a:rPr lang="zh-TW" altLang="zh-TW" sz="1200" b="0" u="none" strike="noStrike" dirty="0">
                <a:effectLst/>
                <a:latin typeface="+mn-lt"/>
              </a:rPr>
              <a:t>當模型生成 Query (q) 和 Key (k) 時，它們的向量維度被強制拆分為兩個獨立的口袋：</a:t>
            </a:r>
          </a:p>
          <a:p>
            <a:pPr marL="342900" marR="0" lvl="0" indent="-342900">
              <a:lnSpc>
                <a:spcPts val="1400"/>
              </a:lnSpc>
              <a:buFont typeface="Arial" panose="020B0604020202020204" pitchFamily="34" charset="0"/>
              <a:buChar char="•"/>
            </a:pPr>
            <a:r>
              <a:rPr lang="en-US" altLang="zh-TW" sz="1200" b="1" u="none" strike="noStrike" dirty="0">
                <a:effectLst/>
                <a:latin typeface="+mn-lt"/>
              </a:rPr>
              <a:t>q_</a:t>
            </a:r>
            <a:r>
              <a:rPr lang="zh-TW" altLang="zh-TW" sz="1200" b="1" u="none" strike="noStrike" dirty="0">
                <a:effectLst/>
                <a:latin typeface="+mn-lt"/>
              </a:rPr>
              <a:t>NoPE</a:t>
            </a:r>
            <a:r>
              <a:rPr lang="en-US" altLang="zh-TW" sz="1200" b="1" u="none" strike="noStrike" dirty="0">
                <a:effectLst/>
                <a:latin typeface="+mn-lt"/>
              </a:rPr>
              <a:t>, k_</a:t>
            </a:r>
            <a:r>
              <a:rPr lang="zh-TW" altLang="zh-TW" sz="1200" b="1" u="none" strike="noStrike" dirty="0">
                <a:effectLst/>
                <a:latin typeface="+mn-lt"/>
              </a:rPr>
              <a:t>NoPE</a:t>
            </a:r>
            <a:r>
              <a:rPr lang="zh-TW" altLang="zh-TW" sz="1200" b="0" u="none" strike="noStrike" dirty="0">
                <a:effectLst/>
                <a:latin typeface="+mn-lt"/>
              </a:rPr>
              <a:t>：佔絕大部分維度（例如 128 維中的 64 或 96 維）。這裡</a:t>
            </a:r>
            <a:r>
              <a:rPr lang="zh-TW" altLang="zh-TW" sz="1200" b="1" u="none" strike="noStrike" dirty="0">
                <a:effectLst/>
                <a:latin typeface="+mn-lt"/>
              </a:rPr>
              <a:t>只包含純粹的語義資訊</a:t>
            </a:r>
            <a:r>
              <a:rPr lang="zh-TW" altLang="zh-TW" sz="1200" b="0" u="none" strike="noStrike" dirty="0">
                <a:effectLst/>
                <a:latin typeface="+mn-lt"/>
              </a:rPr>
              <a:t>，完全不注入任何位置編碼。</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r>
              <a:rPr lang="en-US" altLang="zh-TW" sz="1200" b="1" u="none" strike="noStrike" dirty="0">
                <a:effectLst/>
                <a:latin typeface="+mn-lt"/>
              </a:rPr>
              <a:t>Q_R</a:t>
            </a:r>
            <a:r>
              <a:rPr lang="zh-TW" altLang="zh-TW" sz="1200" b="1" u="none" strike="noStrike" dirty="0">
                <a:effectLst/>
                <a:latin typeface="+mn-lt"/>
              </a:rPr>
              <a:t>oPE</a:t>
            </a:r>
            <a:r>
              <a:rPr lang="en-US" altLang="zh-TW" sz="1200" b="1" u="none" strike="noStrike" dirty="0">
                <a:effectLst/>
                <a:latin typeface="+mn-lt"/>
              </a:rPr>
              <a:t>, </a:t>
            </a:r>
            <a:r>
              <a:rPr lang="zh-TW" altLang="zh-TW" sz="1200" b="1" u="none" strike="noStrike" dirty="0">
                <a:effectLst/>
                <a:latin typeface="+mn-lt"/>
              </a:rPr>
              <a:t>k</a:t>
            </a:r>
            <a:r>
              <a:rPr lang="en-US" altLang="zh-TW" sz="1200" b="1" u="none" strike="noStrike" dirty="0">
                <a:effectLst/>
                <a:latin typeface="+mn-lt"/>
              </a:rPr>
              <a:t>_</a:t>
            </a:r>
            <a:r>
              <a:rPr lang="zh-TW" altLang="zh-TW" sz="1200" b="1" u="none" strike="noStrike" dirty="0">
                <a:effectLst/>
                <a:latin typeface="+mn-lt"/>
              </a:rPr>
              <a:t>RoPE</a:t>
            </a:r>
            <a:r>
              <a:rPr lang="zh-TW" altLang="zh-TW" sz="1200" b="0" u="none" strike="noStrike" dirty="0">
                <a:effectLst/>
                <a:latin typeface="+mn-lt"/>
              </a:rPr>
              <a:t>：佔極小的維度（例如 32 維或 64 維）。這裡</a:t>
            </a:r>
            <a:r>
              <a:rPr lang="zh-TW" altLang="zh-TW" sz="1200" b="1" u="none" strike="noStrike" dirty="0">
                <a:effectLst/>
                <a:latin typeface="+mn-lt"/>
              </a:rPr>
              <a:t>專門注入旋轉位置編碼</a:t>
            </a:r>
            <a:r>
              <a:rPr lang="en-US" altLang="zh-TW" sz="1200" b="1" u="none" strike="noStrike" dirty="0">
                <a:effectLst/>
                <a:latin typeface="+mn-lt"/>
              </a:rPr>
              <a:t>(</a:t>
            </a:r>
            <a:r>
              <a:rPr lang="zh-TW" altLang="zh-TW" sz="1200" b="1" u="none" strike="noStrike" dirty="0">
                <a:effectLst/>
                <a:latin typeface="+mn-lt"/>
              </a:rPr>
              <a:t>RoPE</a:t>
            </a:r>
            <a:r>
              <a:rPr lang="en-US" altLang="zh-TW" sz="1200" b="1" u="none" strike="noStrike" dirty="0">
                <a:effectLst/>
                <a:latin typeface="+mn-lt"/>
              </a:rPr>
              <a:t>)</a:t>
            </a:r>
            <a:r>
              <a:rPr lang="zh-TW" altLang="zh-TW" sz="1200" b="0" u="none" strike="noStrike" dirty="0">
                <a:effectLst/>
                <a:latin typeface="+mn-lt"/>
              </a:rPr>
              <a:t>。</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endParaRPr lang="zh-TW" altLang="zh-TW" sz="1200" b="0" u="none" strike="noStrike" dirty="0">
              <a:effectLst/>
              <a:latin typeface="+mn-lt"/>
            </a:endParaRPr>
          </a:p>
          <a:p>
            <a:pPr marL="0" marR="0">
              <a:lnSpc>
                <a:spcPts val="1400"/>
              </a:lnSpc>
              <a:buNone/>
            </a:pPr>
            <a:r>
              <a:rPr lang="zh-TW" altLang="zh-TW" sz="1200" b="1" u="none" strike="noStrike" dirty="0">
                <a:effectLst/>
                <a:latin typeface="+mn-lt"/>
              </a:rPr>
              <a:t>2. 獨立進行 KV 快取壓縮</a:t>
            </a:r>
          </a:p>
          <a:p>
            <a:pPr marL="0" marR="0">
              <a:lnSpc>
                <a:spcPts val="1400"/>
              </a:lnSpc>
              <a:buNone/>
            </a:pPr>
            <a:r>
              <a:rPr lang="zh-TW" altLang="zh-TW" sz="1200" b="0" u="none" strike="noStrike" dirty="0">
                <a:effectLst/>
                <a:latin typeface="+mn-lt"/>
              </a:rPr>
              <a:t>因為</a:t>
            </a:r>
            <a:r>
              <a:rPr lang="en-US" altLang="zh-TW" sz="1200" b="0" u="none" strike="noStrike" dirty="0">
                <a:effectLst/>
                <a:latin typeface="+mn-lt"/>
              </a:rPr>
              <a:t> </a:t>
            </a:r>
            <a:r>
              <a:rPr lang="zh-TW" altLang="zh-TW" sz="1200" b="0" u="none" strike="noStrike" dirty="0">
                <a:effectLst/>
                <a:latin typeface="+mn-lt"/>
              </a:rPr>
              <a:t>k</a:t>
            </a:r>
            <a:r>
              <a:rPr lang="en-US" altLang="zh-TW" sz="1200" b="0" u="none" strike="noStrike" dirty="0">
                <a:effectLst/>
                <a:latin typeface="+mn-lt"/>
              </a:rPr>
              <a:t>_</a:t>
            </a:r>
            <a:r>
              <a:rPr lang="zh-TW" altLang="zh-TW" sz="1200" b="0" u="none" strike="noStrike" dirty="0">
                <a:effectLst/>
                <a:latin typeface="+mn-lt"/>
              </a:rPr>
              <a:t>NoPE 裡面沒有位置干擾，它是純粹的語義特徵，DeepSeek 就可以放心地使用低秩矩陣</a:t>
            </a:r>
            <a:r>
              <a:rPr lang="en-US" altLang="zh-TW" sz="1200" b="0" u="none" strike="noStrike" dirty="0">
                <a:effectLst/>
                <a:latin typeface="+mn-lt"/>
              </a:rPr>
              <a:t>(</a:t>
            </a:r>
            <a:r>
              <a:rPr lang="zh-TW" altLang="zh-TW" sz="1200" b="0" u="none" strike="noStrike" dirty="0">
                <a:effectLst/>
                <a:latin typeface="+mn-lt"/>
              </a:rPr>
              <a:t>Low-rank Projection</a:t>
            </a:r>
            <a:r>
              <a:rPr lang="en-US" altLang="zh-TW" sz="1200" b="0" u="none" strike="noStrike" dirty="0">
                <a:effectLst/>
                <a:latin typeface="+mn-lt"/>
              </a:rPr>
              <a:t>)</a:t>
            </a:r>
            <a:r>
              <a:rPr lang="zh-TW" altLang="zh-TW" sz="1200" b="0" u="none" strike="noStrike" dirty="0">
                <a:effectLst/>
                <a:latin typeface="+mn-lt"/>
              </a:rPr>
              <a:t>將所有 Token 的 NoPE 特徵壓縮成一個極小的潛在向量Latent Vector c_t</a:t>
            </a:r>
            <a:r>
              <a:rPr lang="en-US" altLang="zh-TW" sz="1200" b="0" u="none" strike="noStrike" dirty="0">
                <a:effectLst/>
                <a:latin typeface="+mn-lt"/>
              </a:rPr>
              <a:t> </a:t>
            </a:r>
            <a:r>
              <a:rPr lang="zh-TW" altLang="zh-TW" sz="1200" b="0" u="none" strike="noStrike" dirty="0">
                <a:effectLst/>
                <a:latin typeface="+mn-lt"/>
              </a:rPr>
              <a:t>存入 KV Cache。</a:t>
            </a:r>
          </a:p>
          <a:p>
            <a:pPr marL="342900" marR="0" lvl="0" indent="-342900">
              <a:lnSpc>
                <a:spcPts val="1400"/>
              </a:lnSpc>
              <a:buFont typeface="Arial" panose="020B0604020202020204" pitchFamily="34" charset="0"/>
              <a:buChar char="•"/>
            </a:pPr>
            <a:r>
              <a:rPr lang="zh-TW" altLang="zh-TW" sz="1200" b="1" u="none" strike="noStrike" dirty="0">
                <a:effectLst/>
                <a:latin typeface="+mn-lt"/>
              </a:rPr>
              <a:t>好處</a:t>
            </a:r>
            <a:r>
              <a:rPr lang="zh-TW" altLang="zh-TW" sz="1200" b="0" u="none" strike="noStrike" dirty="0">
                <a:effectLst/>
                <a:latin typeface="+mn-lt"/>
              </a:rPr>
              <a:t>：KV 快取體積暴減至原本的數分之一。</a:t>
            </a:r>
          </a:p>
          <a:p>
            <a:pPr marL="342900" marR="0" lvl="0" indent="-342900">
              <a:lnSpc>
                <a:spcPts val="1400"/>
              </a:lnSpc>
              <a:buFont typeface="Arial" panose="020B0604020202020204" pitchFamily="34" charset="0"/>
              <a:buChar char="•"/>
            </a:pPr>
            <a:r>
              <a:rPr lang="zh-TW" altLang="zh-TW" sz="1200" b="1" u="none" strike="noStrike" dirty="0">
                <a:effectLst/>
                <a:latin typeface="+mn-lt"/>
              </a:rPr>
              <a:t>位置怎麼辦？</a:t>
            </a:r>
            <a:r>
              <a:rPr lang="zh-TW" altLang="zh-TW" sz="1200" b="0" u="none" strike="noStrike" dirty="0">
                <a:effectLst/>
                <a:latin typeface="+mn-lt"/>
              </a:rPr>
              <a:t>：只有那部分小小的 k</a:t>
            </a:r>
            <a:r>
              <a:rPr lang="en-US" altLang="zh-TW" sz="1200" b="0" u="none" strike="noStrike" dirty="0">
                <a:effectLst/>
                <a:latin typeface="+mn-lt"/>
              </a:rPr>
              <a:t>_R</a:t>
            </a:r>
            <a:r>
              <a:rPr lang="zh-TW" altLang="zh-TW" sz="1200" b="0" u="none" strike="noStrike" dirty="0">
                <a:effectLst/>
                <a:latin typeface="+mn-lt"/>
              </a:rPr>
              <a:t>oPE 需要被獨立記錄位置並存下來，兩者互不干擾。</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endParaRPr lang="zh-TW" altLang="zh-TW" sz="1200" b="0" u="none" strike="noStrike" dirty="0">
              <a:effectLst/>
              <a:latin typeface="+mn-lt"/>
            </a:endParaRPr>
          </a:p>
          <a:p>
            <a:pPr marL="0" marR="0">
              <a:lnSpc>
                <a:spcPts val="1400"/>
              </a:lnSpc>
              <a:buNone/>
            </a:pPr>
            <a:r>
              <a:rPr lang="zh-TW" altLang="zh-TW" sz="1200" b="1" u="none" strike="noStrike" dirty="0">
                <a:effectLst/>
                <a:latin typeface="+mn-lt"/>
              </a:rPr>
              <a:t>3. 注意力分數計算（解耦注意力）</a:t>
            </a:r>
          </a:p>
          <a:p>
            <a:pPr marL="0" marR="0">
              <a:lnSpc>
                <a:spcPts val="1400"/>
              </a:lnSpc>
              <a:buNone/>
            </a:pPr>
            <a:r>
              <a:rPr lang="zh-TW" altLang="zh-TW" sz="1200" b="0" u="none" strike="noStrike" dirty="0">
                <a:effectLst/>
                <a:latin typeface="+mn-lt"/>
              </a:rPr>
              <a:t>在計算 Query 和 Key 的點積（Attention Score）時，運作公式變成了</a:t>
            </a:r>
            <a:r>
              <a:rPr lang="zh-TW" altLang="zh-TW" sz="1200" b="1" u="none" strike="noStrike" dirty="0">
                <a:effectLst/>
                <a:latin typeface="+mn-lt"/>
              </a:rPr>
              <a:t>兩部分相加</a:t>
            </a:r>
            <a:r>
              <a:rPr lang="zh-TW" altLang="zh-TW" sz="1200" b="0" u="none" strike="noStrike" dirty="0">
                <a:effectLst/>
                <a:latin typeface="+mn-lt"/>
              </a:rPr>
              <a:t>：Attention</a:t>
            </a:r>
            <a:r>
              <a:rPr lang="en-US" altLang="zh-TW" sz="1200" b="0" u="none" strike="noStrike" dirty="0">
                <a:effectLst/>
                <a:latin typeface="+mn-lt"/>
              </a:rPr>
              <a:t>_</a:t>
            </a:r>
            <a:r>
              <a:rPr lang="zh-TW" altLang="zh-TW" sz="1200" b="0" u="none" strike="noStrike" dirty="0">
                <a:effectLst/>
                <a:latin typeface="+mn-lt"/>
              </a:rPr>
              <a:t>Score</a:t>
            </a:r>
            <a:r>
              <a:rPr lang="en-US" altLang="zh-TW" sz="1200" b="0" u="none" strike="noStrike" dirty="0">
                <a:effectLst/>
                <a:latin typeface="+mn-lt"/>
              </a:rPr>
              <a:t> </a:t>
            </a:r>
            <a:r>
              <a:rPr lang="zh-TW" altLang="zh-TW" sz="1200" b="0"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(q</a:t>
            </a:r>
            <a:r>
              <a:rPr lang="en-US" altLang="zh-TW" sz="1200" b="0" u="none" strike="noStrike" dirty="0">
                <a:effectLst/>
                <a:latin typeface="+mn-lt"/>
              </a:rPr>
              <a:t>_</a:t>
            </a:r>
            <a:r>
              <a:rPr lang="zh-TW" altLang="zh-TW" sz="1200" b="0" u="none" strike="noStrike" dirty="0">
                <a:effectLst/>
                <a:latin typeface="+mn-lt"/>
              </a:rPr>
              <a:t>NoPE</a:t>
            </a:r>
            <a:r>
              <a:rPr lang="en-US" altLang="zh-TW" sz="1200" b="0" u="none" strike="noStrike" dirty="0">
                <a:effectLst/>
                <a:latin typeface="+mn-lt"/>
              </a:rPr>
              <a:t> *</a:t>
            </a:r>
            <a:r>
              <a:rPr lang="zh-TW" altLang="zh-TW" sz="1200" b="0" u="none" strike="noStrike" dirty="0">
                <a:effectLst/>
                <a:latin typeface="+mn-lt"/>
              </a:rPr>
              <a:t> k</a:t>
            </a:r>
            <a:r>
              <a:rPr lang="en-US" altLang="zh-TW" sz="1200" b="0" u="none" strike="noStrike" dirty="0">
                <a:effectLst/>
                <a:latin typeface="+mn-lt"/>
              </a:rPr>
              <a:t>_</a:t>
            </a:r>
            <a:r>
              <a:rPr lang="zh-TW" altLang="zh-TW" sz="1200" b="0" u="none" strike="noStrike" dirty="0">
                <a:effectLst/>
                <a:latin typeface="+mn-lt"/>
              </a:rPr>
              <a:t>NoPE)</a:t>
            </a:r>
            <a:r>
              <a:rPr lang="en-US" altLang="zh-TW" sz="1200" b="0" u="none" strike="noStrike" dirty="0">
                <a:effectLst/>
                <a:latin typeface="+mn-lt"/>
              </a:rPr>
              <a:t> </a:t>
            </a:r>
            <a:r>
              <a:rPr lang="zh-TW" altLang="zh-TW" sz="1200" b="0"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(q</a:t>
            </a:r>
            <a:r>
              <a:rPr lang="en-US" altLang="zh-TW" sz="1200" b="0" u="none" strike="noStrike" dirty="0">
                <a:effectLst/>
                <a:latin typeface="+mn-lt"/>
              </a:rPr>
              <a:t>_</a:t>
            </a:r>
            <a:r>
              <a:rPr lang="zh-TW" altLang="zh-TW" sz="1200" b="0" u="none" strike="noStrike" dirty="0">
                <a:effectLst/>
                <a:latin typeface="+mn-lt"/>
              </a:rPr>
              <a:t>RoPE</a:t>
            </a:r>
            <a:r>
              <a:rPr lang="en-US" altLang="zh-TW" sz="1200" b="0" u="none" strike="noStrike" dirty="0">
                <a:effectLst/>
                <a:latin typeface="+mn-lt"/>
              </a:rPr>
              <a:t> * k_</a:t>
            </a:r>
            <a:r>
              <a:rPr lang="zh-TW" altLang="zh-TW" sz="1200" b="0" u="none" strike="noStrike" dirty="0">
                <a:effectLst/>
                <a:latin typeface="+mn-lt"/>
              </a:rPr>
              <a:t>RoPE)</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342900" marR="0" lvl="0" indent="-342900">
              <a:lnSpc>
                <a:spcPts val="1400"/>
              </a:lnSpc>
              <a:buFont typeface="+mj-lt"/>
              <a:buAutoNum type="arabicPeriod"/>
            </a:pPr>
            <a:r>
              <a:rPr lang="zh-TW" altLang="zh-TW" sz="1200" b="1" u="none" strike="noStrike" dirty="0">
                <a:effectLst/>
                <a:latin typeface="+mn-lt"/>
              </a:rPr>
              <a:t>語義比對</a:t>
            </a:r>
            <a:r>
              <a:rPr lang="en-US" altLang="zh-TW" sz="1200" b="1" u="none" strike="noStrike" dirty="0">
                <a:effectLst/>
                <a:latin typeface="+mn-lt"/>
              </a:rPr>
              <a:t>(</a:t>
            </a:r>
            <a:r>
              <a:rPr lang="zh-TW" altLang="zh-TW" sz="1200" b="1" u="none" strike="noStrike" dirty="0">
                <a:effectLst/>
                <a:latin typeface="+mn-lt"/>
              </a:rPr>
              <a:t>NoPE 部分</a:t>
            </a:r>
            <a:r>
              <a:rPr lang="en-US" altLang="zh-TW" sz="1200" b="1" u="none" strike="noStrike" dirty="0">
                <a:effectLst/>
                <a:latin typeface="+mn-lt"/>
              </a:rPr>
              <a:t>): </a:t>
            </a:r>
            <a:r>
              <a:rPr lang="zh-TW" altLang="zh-TW" sz="1200" b="0" u="none" strike="noStrike" dirty="0">
                <a:effectLst/>
                <a:latin typeface="+mn-lt"/>
              </a:rPr>
              <a:t>「這兩個字的意思像不像」</a:t>
            </a:r>
            <a:r>
              <a:rPr lang="en-US" altLang="zh-TW" sz="1200" b="0" u="none" strike="noStrike" dirty="0">
                <a:effectLst/>
                <a:latin typeface="+mn-lt"/>
              </a:rPr>
              <a:t>, </a:t>
            </a:r>
            <a:r>
              <a:rPr lang="zh-TW" altLang="zh-TW" sz="1200" b="0" u="none" strike="noStrike" dirty="0">
                <a:effectLst/>
                <a:latin typeface="+mn-lt"/>
              </a:rPr>
              <a:t>並在推理時透過矩陣變換直接與壓縮快取計算，速度極快。</a:t>
            </a:r>
          </a:p>
          <a:p>
            <a:pPr marL="342900" marR="0" lvl="0" indent="-342900">
              <a:lnSpc>
                <a:spcPts val="1400"/>
              </a:lnSpc>
              <a:buFont typeface="+mj-lt"/>
              <a:buAutoNum type="arabicPeriod"/>
            </a:pPr>
            <a:r>
              <a:rPr lang="zh-TW" altLang="zh-TW" sz="1200" b="1" u="none" strike="noStrike" dirty="0">
                <a:effectLst/>
                <a:latin typeface="+mn-lt"/>
              </a:rPr>
              <a:t>位置比對</a:t>
            </a:r>
            <a:r>
              <a:rPr lang="en-US" altLang="zh-TW" sz="1200" b="1" u="none" strike="noStrike" dirty="0">
                <a:effectLst/>
                <a:latin typeface="+mn-lt"/>
              </a:rPr>
              <a:t>(</a:t>
            </a:r>
            <a:r>
              <a:rPr lang="zh-TW" altLang="zh-TW" sz="1200" b="1" u="none" strike="noStrike" dirty="0">
                <a:effectLst/>
                <a:latin typeface="+mn-lt"/>
              </a:rPr>
              <a:t>RoPE 部分</a:t>
            </a:r>
            <a:r>
              <a:rPr lang="en-US" altLang="zh-TW" sz="1200" b="1"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專門計算「這兩個字在空間/時間上的距離與相對關係」。</a:t>
            </a:r>
            <a:endParaRPr lang="zh-TW" altLang="zh-TW" sz="1200" b="0" u="none" strike="noStrike" dirty="0">
              <a:effectLst/>
              <a:latin typeface="Google Sans"/>
            </a:endParaRP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NoPE 的原理就是</a:t>
            </a:r>
            <a:r>
              <a:rPr lang="zh-TW" altLang="zh-TW" sz="1200" b="1" u="none" strike="noStrike" kern="1200" dirty="0">
                <a:solidFill>
                  <a:schemeClr val="tx1"/>
                </a:solidFill>
                <a:effectLst/>
                <a:latin typeface="+mn-lt"/>
                <a:ea typeface="+mn-ea"/>
                <a:cs typeface="+mn-cs"/>
              </a:rPr>
              <a:t>「讓上帝的歸上帝，凱撒的歸凱撒」</a:t>
            </a:r>
            <a:r>
              <a:rPr lang="zh-TW" altLang="zh-TW" sz="1200" b="0" u="none" strike="noStrike" kern="1200" dirty="0">
                <a:solidFill>
                  <a:schemeClr val="tx1"/>
                </a:solidFill>
                <a:effectLst/>
                <a:latin typeface="+mn-lt"/>
                <a:ea typeface="+mn-ea"/>
                <a:cs typeface="+mn-cs"/>
              </a:rPr>
              <a:t>。語義歸語義（NoPE），位置歸位置（RoPE）。</a:t>
            </a:r>
          </a:p>
          <a:p>
            <a:r>
              <a:rPr lang="zh-TW" altLang="zh-TW" sz="1200" b="0" u="none" strike="noStrike" kern="1200" dirty="0">
                <a:solidFill>
                  <a:schemeClr val="tx1"/>
                </a:solidFill>
                <a:effectLst/>
                <a:latin typeface="+mn-lt"/>
                <a:ea typeface="+mn-ea"/>
                <a:cs typeface="+mn-cs"/>
              </a:rPr>
              <a:t>透過這種解耦方式，DeepSeek 既保留了 RoPE 強大的長文本位置感知能力，又成功把語義部分徹底壓縮，達成了極高的推理效率與超低的記憶體佔用。</a:t>
            </a:r>
          </a:p>
        </p:txBody>
      </p:sp>
      <p:sp>
        <p:nvSpPr>
          <p:cNvPr id="4" name="投影片編號版面配置區 3">
            <a:extLst>
              <a:ext uri="{FF2B5EF4-FFF2-40B4-BE49-F238E27FC236}">
                <a16:creationId xmlns:a16="http://schemas.microsoft.com/office/drawing/2014/main" id="{A7B670E2-071D-C48E-BF2C-3BA92B3B94A9}"/>
              </a:ext>
            </a:extLst>
          </p:cNvPr>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6204912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解耦並存派</a:t>
            </a:r>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DeepSeek 在 </a:t>
            </a:r>
            <a:r>
              <a:rPr lang="zh-TW" altLang="zh-TW" sz="1200" b="1" u="none" strike="noStrike" kern="1200" dirty="0">
                <a:solidFill>
                  <a:schemeClr val="tx1"/>
                </a:solidFill>
                <a:effectLst/>
                <a:latin typeface="+mn-lt"/>
                <a:ea typeface="+mn-ea"/>
                <a:cs typeface="+mn-cs"/>
              </a:rPr>
              <a:t>2024 年 5 月</a:t>
            </a:r>
            <a:r>
              <a:rPr lang="zh-TW" altLang="zh-TW" sz="1200" b="0" u="none" strike="noStrike" kern="1200" dirty="0">
                <a:solidFill>
                  <a:schemeClr val="tx1"/>
                </a:solidFill>
                <a:effectLst/>
                <a:latin typeface="+mn-lt"/>
                <a:ea typeface="+mn-ea"/>
                <a:cs typeface="+mn-cs"/>
              </a:rPr>
              <a:t> 發表了 </a:t>
            </a:r>
            <a:r>
              <a:rPr lang="zh-TW" altLang="zh-TW" sz="1200" b="1" u="none" strike="noStrike" kern="1200" dirty="0">
                <a:solidFill>
                  <a:schemeClr val="tx1"/>
                </a:solidFill>
                <a:effectLst/>
                <a:latin typeface="+mn-lt"/>
                <a:ea typeface="+mn-ea"/>
                <a:cs typeface="+mn-cs"/>
              </a:rPr>
              <a:t>DeepSeek-V2</a:t>
            </a:r>
            <a:r>
              <a:rPr lang="zh-TW" altLang="zh-TW" sz="1200" b="0" u="none" strike="noStrike" kern="1200" dirty="0">
                <a:solidFill>
                  <a:schemeClr val="tx1"/>
                </a:solidFill>
                <a:effectLst/>
                <a:latin typeface="+mn-lt"/>
                <a:ea typeface="+mn-ea"/>
                <a:cs typeface="+mn-cs"/>
              </a:rPr>
              <a:t> 論文</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率先將 NoPE 的概念與其完整架構引入大語言模型中。</a:t>
            </a:r>
          </a:p>
          <a:p>
            <a:pPr lvl="0"/>
            <a:r>
              <a:rPr lang="zh-TW" altLang="zh-TW" sz="1200" b="1" u="none" strike="noStrike" kern="1200" dirty="0">
                <a:solidFill>
                  <a:schemeClr val="tx1"/>
                </a:solidFill>
                <a:effectLst/>
                <a:latin typeface="+mn-lt"/>
                <a:ea typeface="+mn-ea"/>
                <a:cs typeface="+mn-cs"/>
              </a:rPr>
              <a:t>首創概念：</a:t>
            </a:r>
            <a:r>
              <a:rPr lang="zh-TW" altLang="zh-TW" sz="1200" b="0" u="none" strike="noStrike" kern="1200" dirty="0">
                <a:solidFill>
                  <a:schemeClr val="tx1"/>
                </a:solidFill>
                <a:effectLst/>
                <a:latin typeface="+mn-lt"/>
                <a:ea typeface="+mn-ea"/>
                <a:cs typeface="+mn-cs"/>
              </a:rPr>
              <a:t> 為了實現革命性的 </a:t>
            </a:r>
            <a:r>
              <a:rPr lang="zh-TW" altLang="zh-TW" sz="1200" b="1" u="none" strike="noStrike" kern="1200" dirty="0">
                <a:solidFill>
                  <a:schemeClr val="tx1"/>
                </a:solidFill>
                <a:effectLst/>
                <a:latin typeface="+mn-lt"/>
                <a:ea typeface="+mn-ea"/>
                <a:cs typeface="+mn-cs"/>
              </a:rPr>
              <a:t>MLA（Multi-head Latent Attention）</a:t>
            </a:r>
            <a:r>
              <a:rPr lang="zh-TW" altLang="zh-TW" sz="1200" b="0" u="none" strike="noStrike" kern="1200" dirty="0">
                <a:solidFill>
                  <a:schemeClr val="tx1"/>
                </a:solidFill>
                <a:effectLst/>
                <a:latin typeface="+mn-lt"/>
                <a:ea typeface="+mn-ea"/>
                <a:cs typeface="+mn-cs"/>
              </a:rPr>
              <a:t> 架構，</a:t>
            </a:r>
            <a:endParaRPr lang="en-US" altLang="zh-TW" sz="1200" b="0" u="none" strike="noStrike" kern="1200" dirty="0">
              <a:solidFill>
                <a:schemeClr val="tx1"/>
              </a:solidFill>
              <a:effectLst/>
              <a:latin typeface="+mn-lt"/>
              <a:ea typeface="+mn-ea"/>
              <a:cs typeface="+mn-cs"/>
            </a:endParaRPr>
          </a:p>
          <a:p>
            <a:pPr lvl="1"/>
            <a:r>
              <a:rPr lang="zh-TW" altLang="zh-TW" sz="1200" b="1" u="none" strike="noStrike" kern="1200" dirty="0">
                <a:solidFill>
                  <a:schemeClr val="tx1"/>
                </a:solidFill>
                <a:effectLst/>
                <a:latin typeface="+mn-lt"/>
                <a:ea typeface="+mn-ea"/>
                <a:cs typeface="+mn-cs"/>
              </a:rPr>
              <a:t>做法：</a:t>
            </a:r>
            <a:r>
              <a:rPr lang="zh-TW" altLang="zh-TW" sz="1200" b="0" u="none" strike="noStrike" kern="1200" dirty="0">
                <a:solidFill>
                  <a:schemeClr val="tx1"/>
                </a:solidFill>
                <a:effectLst/>
                <a:latin typeface="+mn-lt"/>
                <a:ea typeface="+mn-ea"/>
                <a:cs typeface="+mn-cs"/>
              </a:rPr>
              <a:t> 在同一個注意力（Attention）層內，將 Query 和 Key 的維度拆開。</a:t>
            </a:r>
          </a:p>
          <a:p>
            <a:pPr lvl="1"/>
            <a:r>
              <a:rPr lang="zh-TW" altLang="zh-TW" sz="1200" b="1" u="none" strike="noStrike" kern="1200" dirty="0">
                <a:solidFill>
                  <a:schemeClr val="tx1"/>
                </a:solidFill>
                <a:effectLst/>
                <a:latin typeface="+mn-lt"/>
                <a:ea typeface="+mn-ea"/>
                <a:cs typeface="+mn-cs"/>
              </a:rPr>
              <a:t>邏輯：</a:t>
            </a:r>
            <a:r>
              <a:rPr lang="zh-TW" altLang="zh-TW" sz="1200" b="0" u="none" strike="noStrike" kern="1200" dirty="0">
                <a:solidFill>
                  <a:schemeClr val="tx1"/>
                </a:solidFill>
                <a:effectLst/>
                <a:latin typeface="+mn-lt"/>
                <a:ea typeface="+mn-ea"/>
                <a:cs typeface="+mn-cs"/>
              </a:rPr>
              <a:t> 大部分維度是 </a:t>
            </a:r>
            <a:r>
              <a:rPr lang="zh-TW" altLang="zh-TW" sz="1200" b="1" u="none" strike="noStrike" kern="1200" dirty="0">
                <a:solidFill>
                  <a:schemeClr val="tx1"/>
                </a:solidFill>
                <a:effectLst/>
                <a:latin typeface="+mn-lt"/>
                <a:ea typeface="+mn-ea"/>
                <a:cs typeface="+mn-cs"/>
              </a:rPr>
              <a:t>NoPE</a:t>
            </a:r>
            <a:r>
              <a:rPr lang="zh-TW" altLang="zh-TW" sz="1200" b="0" u="none" strike="noStrike" kern="1200" dirty="0">
                <a:solidFill>
                  <a:schemeClr val="tx1"/>
                </a:solidFill>
                <a:effectLst/>
                <a:latin typeface="+mn-lt"/>
                <a:ea typeface="+mn-ea"/>
                <a:cs typeface="+mn-cs"/>
              </a:rPr>
              <a:t>（不帶位置，用來做低秩矩陣壓縮 KV Cache），小部分維度是 </a:t>
            </a:r>
            <a:r>
              <a:rPr lang="zh-TW" altLang="zh-TW" sz="1200" b="1" u="none" strike="noStrike" kern="1200" dirty="0">
                <a:solidFill>
                  <a:schemeClr val="tx1"/>
                </a:solidFill>
                <a:effectLst/>
                <a:latin typeface="+mn-lt"/>
                <a:ea typeface="+mn-ea"/>
                <a:cs typeface="+mn-cs"/>
              </a:rPr>
              <a:t>RoPE</a:t>
            </a:r>
            <a:r>
              <a:rPr lang="zh-TW" altLang="zh-TW" sz="1200" b="0" u="none" strike="noStrike" kern="1200" dirty="0">
                <a:solidFill>
                  <a:schemeClr val="tx1"/>
                </a:solidFill>
                <a:effectLst/>
                <a:latin typeface="+mn-lt"/>
                <a:ea typeface="+mn-ea"/>
                <a:cs typeface="+mn-cs"/>
              </a:rPr>
              <a:t>（專門用來旋轉帶入位置資訊）。兩者在同一層內點積相加。</a:t>
            </a:r>
          </a:p>
          <a:p>
            <a:pPr lvl="1"/>
            <a:r>
              <a:rPr lang="zh-TW" altLang="zh-TW" sz="1200" b="1" u="none" strike="noStrike" kern="1200" dirty="0">
                <a:solidFill>
                  <a:schemeClr val="tx1"/>
                </a:solidFill>
                <a:effectLst/>
                <a:latin typeface="+mn-lt"/>
                <a:ea typeface="+mn-ea"/>
                <a:cs typeface="+mn-cs"/>
              </a:rPr>
              <a:t>定位：</a:t>
            </a:r>
            <a:r>
              <a:rPr lang="zh-TW" altLang="zh-TW" sz="1200" b="0" u="none" strike="noStrike" kern="1200" dirty="0">
                <a:solidFill>
                  <a:schemeClr val="tx1"/>
                </a:solidFill>
                <a:effectLst/>
                <a:latin typeface="+mn-lt"/>
                <a:ea typeface="+mn-ea"/>
                <a:cs typeface="+mn-cs"/>
              </a:rPr>
              <a:t> NoPE 在 DeepSeek 裡是</a:t>
            </a:r>
            <a:r>
              <a:rPr lang="zh-TW" altLang="zh-TW" sz="1200" b="1" u="none" strike="noStrike" kern="1200" dirty="0">
                <a:solidFill>
                  <a:schemeClr val="tx1"/>
                </a:solidFill>
                <a:effectLst/>
                <a:latin typeface="+mn-lt"/>
                <a:ea typeface="+mn-ea"/>
                <a:cs typeface="+mn-cs"/>
              </a:rPr>
              <a:t>為了「輔助 KV 壓縮」而生</a:t>
            </a:r>
            <a:r>
              <a:rPr lang="zh-TW" altLang="zh-TW" sz="1200" b="0" u="none" strike="noStrike" kern="1200" dirty="0">
                <a:solidFill>
                  <a:schemeClr val="tx1"/>
                </a:solidFill>
                <a:effectLst/>
                <a:latin typeface="+mn-lt"/>
                <a:ea typeface="+mn-ea"/>
                <a:cs typeface="+mn-cs"/>
              </a:rPr>
              <a:t>的手段。</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全面替代派</a:t>
            </a:r>
            <a:endParaRPr lang="en-US" altLang="zh-TW" sz="1200" b="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Moonshot 在 </a:t>
            </a:r>
            <a:r>
              <a:rPr lang="zh-TW" altLang="zh-TW" sz="1200" b="1" u="none" strike="noStrike" kern="1200" dirty="0">
                <a:solidFill>
                  <a:schemeClr val="tx1"/>
                </a:solidFill>
                <a:effectLst/>
                <a:latin typeface="+mn-lt"/>
                <a:ea typeface="+mn-ea"/>
                <a:cs typeface="+mn-cs"/>
              </a:rPr>
              <a:t>2025 年 10 月</a:t>
            </a:r>
            <a:r>
              <a:rPr lang="zh-TW" altLang="zh-TW" sz="1200" b="0" u="none" strike="noStrike" kern="1200" dirty="0">
                <a:solidFill>
                  <a:schemeClr val="tx1"/>
                </a:solidFill>
                <a:effectLst/>
                <a:latin typeface="+mn-lt"/>
                <a:ea typeface="+mn-ea"/>
                <a:cs typeface="+mn-cs"/>
              </a:rPr>
              <a:t> 發表關於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的技術論文。</a:t>
            </a:r>
            <a:r>
              <a:rPr lang="zh-TW" altLang="zh-TW" dirty="0"/>
              <a:t>將 NoPE 概念推向了更極致的 Everywhere 階段。</a:t>
            </a:r>
            <a:endParaRPr lang="zh-TW" altLang="zh-TW" sz="1200" b="0"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承接與進化：</a:t>
            </a:r>
            <a:r>
              <a:rPr lang="zh-TW" altLang="zh-TW" sz="1200" b="0" u="none" strike="noStrike" kern="1200" dirty="0">
                <a:solidFill>
                  <a:schemeClr val="tx1"/>
                </a:solidFill>
                <a:effectLst/>
                <a:latin typeface="+mn-lt"/>
                <a:ea typeface="+mn-ea"/>
                <a:cs typeface="+mn-cs"/>
              </a:rPr>
              <a:t> Kimi 在設計其線性注意力（Linear Attention）時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Kimi 研發了全新的 KDA</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Kimi Delta 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機制來隱式處理位置資訊，他們在部分層中直接將位置編碼完全剝離，實現了比 DeepSeek 更激進的「全 NoPE」設計（NoPE for MLA layers）。</a:t>
            </a:r>
          </a:p>
          <a:p>
            <a:endParaRPr lang="en-US" altLang="zh-TW" dirty="0"/>
          </a:p>
          <a:p>
            <a:pPr lvl="0"/>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Kimi / Moonshot：做法：</a:t>
            </a:r>
            <a:r>
              <a:rPr lang="zh-TW" altLang="zh-TW" sz="1200" b="0" u="none" strike="noStrike" kern="1200" dirty="0">
                <a:solidFill>
                  <a:schemeClr val="tx1"/>
                </a:solidFill>
                <a:effectLst/>
                <a:latin typeface="+mn-lt"/>
                <a:ea typeface="+mn-ea"/>
                <a:cs typeface="+mn-cs"/>
              </a:rPr>
              <a:t> 在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或最新的旗艦 </a:t>
            </a:r>
            <a:r>
              <a:rPr lang="zh-TW" altLang="zh-TW" sz="1200" b="1" u="none" strike="noStrike" kern="1200" dirty="0">
                <a:solidFill>
                  <a:schemeClr val="tx1"/>
                </a:solidFill>
                <a:effectLst/>
                <a:latin typeface="+mn-lt"/>
                <a:ea typeface="+mn-ea"/>
                <a:cs typeface="+mn-cs"/>
              </a:rPr>
              <a:t>Kimi K3</a:t>
            </a:r>
            <a:r>
              <a:rPr lang="zh-TW" altLang="zh-TW" sz="1200" b="0" u="none" strike="noStrike" kern="1200" dirty="0">
                <a:solidFill>
                  <a:schemeClr val="tx1"/>
                </a:solidFill>
                <a:effectLst/>
                <a:latin typeface="+mn-lt"/>
                <a:ea typeface="+mn-ea"/>
                <a:cs typeface="+mn-cs"/>
              </a:rPr>
              <a:t> 中，直接徹底拔除了傳統的 RoPE 旋轉位置編碼層，大膽做到 </a:t>
            </a:r>
            <a:r>
              <a:rPr lang="zh-TW" altLang="zh-TW" sz="1200" b="1" u="none" strike="noStrike" kern="1200" dirty="0">
                <a:solidFill>
                  <a:schemeClr val="tx1"/>
                </a:solidFill>
                <a:effectLst/>
                <a:latin typeface="+mn-lt"/>
                <a:ea typeface="+mn-ea"/>
                <a:cs typeface="+mn-cs"/>
              </a:rPr>
              <a:t>NoPE Everywhere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全模型或全全域層皆為 NoPE</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邏輯：</a:t>
            </a:r>
            <a:r>
              <a:rPr lang="zh-TW" altLang="zh-TW" sz="1200" b="0" u="none" strike="noStrike" kern="1200" dirty="0">
                <a:solidFill>
                  <a:schemeClr val="tx1"/>
                </a:solidFill>
                <a:effectLst/>
                <a:latin typeface="+mn-lt"/>
                <a:ea typeface="+mn-ea"/>
                <a:cs typeface="+mn-cs"/>
              </a:rPr>
              <a:t> 既然叫 NoPE，這幾層就真的</a:t>
            </a:r>
            <a:r>
              <a:rPr lang="zh-TW" altLang="zh-TW" sz="1200" b="1" u="none" strike="noStrike" kern="1200" dirty="0">
                <a:solidFill>
                  <a:schemeClr val="tx1"/>
                </a:solidFill>
                <a:effectLst/>
                <a:latin typeface="+mn-lt"/>
                <a:ea typeface="+mn-ea"/>
                <a:cs typeface="+mn-cs"/>
              </a:rPr>
              <a:t>完全沒有任何顯式的位置編碼</a:t>
            </a:r>
            <a:r>
              <a:rPr lang="zh-TW" altLang="zh-TW" sz="1200" b="0" u="none" strike="noStrike" kern="1200" dirty="0">
                <a:solidFill>
                  <a:schemeClr val="tx1"/>
                </a:solidFill>
                <a:effectLst/>
                <a:latin typeface="+mn-lt"/>
                <a:ea typeface="+mn-ea"/>
                <a:cs typeface="+mn-cs"/>
              </a:rPr>
              <a:t>。Kimi 改用自研的 </a:t>
            </a:r>
            <a:r>
              <a:rPr lang="zh-TW" altLang="zh-TW" sz="1200" b="1" u="none" strike="noStrike" kern="1200" dirty="0">
                <a:solidFill>
                  <a:schemeClr val="tx1"/>
                </a:solidFill>
                <a:effectLst/>
                <a:latin typeface="+mn-lt"/>
                <a:ea typeface="+mn-ea"/>
                <a:cs typeface="+mn-cs"/>
              </a:rPr>
              <a:t>KDA（Kimi Delta Attention）</a:t>
            </a:r>
            <a:r>
              <a:rPr lang="zh-TW" altLang="zh-TW" sz="1200" b="0" u="none" strike="noStrike" kern="1200" dirty="0">
                <a:solidFill>
                  <a:schemeClr val="tx1"/>
                </a:solidFill>
                <a:effectLst/>
                <a:latin typeface="+mn-lt"/>
                <a:ea typeface="+mn-ea"/>
                <a:cs typeface="+mn-cs"/>
              </a:rPr>
              <a:t> 機制。KDA 具有種類似循環神經網絡（RNN）的衰減閘門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Decay Gate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會隨著序列長度動態調整時間尺度（Timescales）。</a:t>
            </a:r>
          </a:p>
          <a:p>
            <a:pPr lvl="0"/>
            <a:r>
              <a:rPr lang="zh-TW" altLang="zh-TW" sz="1200" b="1" u="none" strike="noStrike" kern="1200" dirty="0">
                <a:solidFill>
                  <a:schemeClr val="tx1"/>
                </a:solidFill>
                <a:effectLst/>
                <a:latin typeface="+mn-lt"/>
                <a:ea typeface="+mn-ea"/>
                <a:cs typeface="+mn-cs"/>
              </a:rPr>
              <a:t>定位：</a:t>
            </a:r>
            <a:r>
              <a:rPr lang="zh-TW" altLang="zh-TW" sz="1200" b="0" u="none" strike="noStrike" kern="1200" dirty="0">
                <a:solidFill>
                  <a:schemeClr val="tx1"/>
                </a:solidFill>
                <a:effectLst/>
                <a:latin typeface="+mn-lt"/>
                <a:ea typeface="+mn-ea"/>
                <a:cs typeface="+mn-cs"/>
              </a:rPr>
              <a:t> Kimi 的 NoPE 是一場</a:t>
            </a:r>
            <a:r>
              <a:rPr lang="zh-TW" altLang="zh-TW" sz="1200" b="1" u="none" strike="noStrike" kern="1200" dirty="0">
                <a:solidFill>
                  <a:schemeClr val="tx1"/>
                </a:solidFill>
                <a:effectLst/>
                <a:latin typeface="+mn-lt"/>
                <a:ea typeface="+mn-ea"/>
                <a:cs typeface="+mn-cs"/>
              </a:rPr>
              <a:t>對注意力機制的根本性簡化</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3493288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MLA</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V2, V3KV Cache 顯存大小橫向：壓縮</a:t>
            </a:r>
            <a:r>
              <a:rPr lang="zh-TW" altLang="zh-TW" sz="1200" b="1" u="none" strike="noStrike" kern="1200" dirty="0">
                <a:solidFill>
                  <a:schemeClr val="tx1"/>
                </a:solidFill>
                <a:effectLst/>
                <a:latin typeface="+mn-lt"/>
                <a:ea typeface="+mn-ea"/>
                <a:cs typeface="+mn-cs"/>
              </a:rPr>
              <a:t>特徵維度</a:t>
            </a:r>
            <a:r>
              <a:rPr lang="zh-TW" altLang="zh-TW" sz="1200" b="0" u="none" strike="noStrike" kern="1200" dirty="0">
                <a:solidFill>
                  <a:schemeClr val="tx1"/>
                </a:solidFill>
                <a:effectLst/>
                <a:latin typeface="+mn-lt"/>
                <a:ea typeface="+mn-ea"/>
                <a:cs typeface="+mn-cs"/>
              </a:rPr>
              <a:t> (Dim 8192 → 512) </a:t>
            </a:r>
          </a:p>
          <a:p>
            <a:r>
              <a:rPr lang="zh-TW" altLang="zh-TW" sz="1200" b="1" u="none" strike="noStrike" kern="1200" dirty="0">
                <a:solidFill>
                  <a:schemeClr val="tx1"/>
                </a:solidFill>
                <a:effectLst/>
                <a:latin typeface="+mn-lt"/>
                <a:ea typeface="+mn-ea"/>
                <a:cs typeface="+mn-cs"/>
              </a:rPr>
              <a:t>DSA</a:t>
            </a:r>
            <a:r>
              <a:rPr lang="zh-TW" altLang="zh-TW" sz="1200" b="0" u="none" strike="noStrike" kern="1200" dirty="0">
                <a:solidFill>
                  <a:schemeClr val="tx1"/>
                </a:solidFill>
                <a:effectLst/>
                <a:latin typeface="+mn-lt"/>
                <a:ea typeface="+mn-ea"/>
                <a:cs typeface="+mn-cs"/>
              </a:rPr>
              <a:t>V3.2運算量複雜度 (O(N²))縱向：動態篩選</a:t>
            </a:r>
            <a:r>
              <a:rPr lang="zh-TW" altLang="zh-TW" sz="1200" b="1" u="none" strike="noStrike" kern="1200" dirty="0">
                <a:solidFill>
                  <a:schemeClr val="tx1"/>
                </a:solidFill>
                <a:effectLst/>
                <a:latin typeface="+mn-lt"/>
                <a:ea typeface="+mn-ea"/>
                <a:cs typeface="+mn-cs"/>
              </a:rPr>
              <a:t>單個 Token</a:t>
            </a:r>
            <a:r>
              <a:rPr lang="zh-TW" altLang="zh-TW" sz="1200" b="0" u="none" strike="noStrike" kern="1200" dirty="0">
                <a:solidFill>
                  <a:schemeClr val="tx1"/>
                </a:solidFill>
                <a:effectLst/>
                <a:latin typeface="+mn-lt"/>
                <a:ea typeface="+mn-ea"/>
                <a:cs typeface="+mn-cs"/>
              </a:rPr>
              <a:t> (Top-K)</a:t>
            </a:r>
          </a:p>
          <a:p>
            <a:r>
              <a:rPr lang="zh-TW" altLang="zh-TW" sz="1200" b="1" u="none" strike="noStrike" kern="1200" dirty="0">
                <a:solidFill>
                  <a:schemeClr val="tx1"/>
                </a:solidFill>
                <a:effectLst/>
                <a:latin typeface="+mn-lt"/>
                <a:ea typeface="+mn-ea"/>
                <a:cs typeface="+mn-cs"/>
              </a:rPr>
              <a:t>HCA</a:t>
            </a:r>
            <a:r>
              <a:rPr lang="zh-TW" altLang="zh-TW" sz="1200" b="0" u="none" strike="noStrike" kern="1200" dirty="0">
                <a:solidFill>
                  <a:schemeClr val="tx1"/>
                </a:solidFill>
                <a:effectLst/>
                <a:latin typeface="+mn-lt"/>
                <a:ea typeface="+mn-ea"/>
                <a:cs typeface="+mn-cs"/>
              </a:rPr>
              <a:t>V41M 長文本的宏觀視野縱向：重度聚合</a:t>
            </a:r>
            <a:r>
              <a:rPr lang="zh-TW" altLang="zh-TW" sz="1200" b="1" u="none" strike="noStrike" kern="1200" dirty="0">
                <a:solidFill>
                  <a:schemeClr val="tx1"/>
                </a:solidFill>
                <a:effectLst/>
                <a:latin typeface="+mn-lt"/>
                <a:ea typeface="+mn-ea"/>
                <a:cs typeface="+mn-cs"/>
              </a:rPr>
              <a:t>時間區間</a:t>
            </a:r>
            <a:r>
              <a:rPr lang="zh-TW" altLang="zh-TW" sz="1200" b="0" u="none" strike="noStrike" kern="1200" dirty="0">
                <a:solidFill>
                  <a:schemeClr val="tx1"/>
                </a:solidFill>
                <a:effectLst/>
                <a:latin typeface="+mn-lt"/>
                <a:ea typeface="+mn-ea"/>
                <a:cs typeface="+mn-cs"/>
              </a:rPr>
              <a:t> (128 → 1) </a:t>
            </a:r>
          </a:p>
          <a:p>
            <a:r>
              <a:rPr lang="zh-TW" altLang="zh-TW" sz="1200" b="1" u="none" strike="noStrike" kern="1200" dirty="0">
                <a:solidFill>
                  <a:schemeClr val="tx1"/>
                </a:solidFill>
                <a:effectLst/>
                <a:latin typeface="+mn-lt"/>
                <a:ea typeface="+mn-ea"/>
                <a:cs typeface="+mn-cs"/>
              </a:rPr>
              <a:t>CSA</a:t>
            </a:r>
            <a:r>
              <a:rPr lang="zh-TW" altLang="zh-TW" sz="1200" b="0" u="none" strike="noStrike" kern="1200" dirty="0">
                <a:solidFill>
                  <a:schemeClr val="tx1"/>
                </a:solidFill>
                <a:effectLst/>
                <a:latin typeface="+mn-lt"/>
                <a:ea typeface="+mn-ea"/>
                <a:cs typeface="+mn-cs"/>
              </a:rPr>
              <a:t>V41M 長文本的細粒度檢索縱橫結合：先 </a:t>
            </a:r>
            <a:r>
              <a:rPr lang="zh-TW" altLang="zh-TW" sz="1200" b="1" u="none" strike="noStrike" kern="1200" dirty="0">
                <a:solidFill>
                  <a:schemeClr val="tx1"/>
                </a:solidFill>
                <a:effectLst/>
                <a:latin typeface="+mn-lt"/>
                <a:ea typeface="+mn-ea"/>
                <a:cs typeface="+mn-cs"/>
              </a:rPr>
              <a:t>4:1 壓縮</a:t>
            </a:r>
            <a:r>
              <a:rPr lang="zh-TW" altLang="zh-TW" sz="1200" b="0" u="none" strike="noStrike" kern="1200" dirty="0">
                <a:solidFill>
                  <a:schemeClr val="tx1"/>
                </a:solidFill>
                <a:effectLst/>
                <a:latin typeface="+mn-lt"/>
                <a:ea typeface="+mn-ea"/>
                <a:cs typeface="+mn-cs"/>
              </a:rPr>
              <a:t>再做 </a:t>
            </a:r>
            <a:r>
              <a:rPr lang="zh-TW" altLang="zh-TW" sz="1200" b="1" u="none" strike="noStrike" kern="1200" dirty="0">
                <a:solidFill>
                  <a:schemeClr val="tx1"/>
                </a:solidFill>
                <a:effectLst/>
                <a:latin typeface="+mn-lt"/>
                <a:ea typeface="+mn-ea"/>
                <a:cs typeface="+mn-cs"/>
              </a:rPr>
              <a:t>Top-K 塊篩選</a:t>
            </a:r>
            <a:r>
              <a:rPr lang="zh-TW" altLang="zh-TW" sz="1200" b="0" u="none" strike="noStrike" kern="1200" dirty="0">
                <a:solidFill>
                  <a:schemeClr val="tx1"/>
                </a:solidFill>
                <a:effectLst/>
                <a:latin typeface="+mn-lt"/>
                <a:ea typeface="+mn-ea"/>
                <a:cs typeface="+mn-cs"/>
              </a:rPr>
              <a:t> </a:t>
            </a: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2026/8/26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youtu.be/AIRfT41A89s?si=wd8CxmH65YRXOa75" TargetMode="External"/><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0.png"/><Relationship Id="rId7" Type="http://schemas.openxmlformats.org/officeDocument/2006/relationships/image" Target="../media/image34.png"/><Relationship Id="rId12"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7.png"/><Relationship Id="rId5" Type="http://schemas.openxmlformats.org/officeDocument/2006/relationships/image" Target="../media/image32.png"/><Relationship Id="rId10" Type="http://schemas.openxmlformats.org/officeDocument/2006/relationships/image" Target="../media/image36.png"/><Relationship Id="rId4" Type="http://schemas.openxmlformats.org/officeDocument/2006/relationships/image" Target="../media/image31.png"/><Relationship Id="rId9"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DeepSeek</a:t>
            </a:r>
            <a:r>
              <a:rPr lang="zh-TW" altLang="en-US" sz="4000" b="1" dirty="0"/>
              <a:t> </a:t>
            </a:r>
            <a:r>
              <a:rPr lang="en-US" altLang="zh-TW" sz="4000" b="1" dirty="0" err="1"/>
              <a:t>MoE</a:t>
            </a:r>
            <a:endParaRPr lang="en-US" altLang="zh-TW" sz="4000" b="1" dirty="0"/>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DeepSeek	</a:t>
            </a:r>
            <a:r>
              <a:rPr lang="en-US" altLang="zh-TW" sz="1000" dirty="0">
                <a:sym typeface="Wingdings" panose="05000000000000000000" pitchFamily="2" charset="2"/>
              </a:rPr>
              <a:t>	R&amp;D Team</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9" name="文字方塊 8">
            <a:extLst>
              <a:ext uri="{FF2B5EF4-FFF2-40B4-BE49-F238E27FC236}">
                <a16:creationId xmlns:a16="http://schemas.microsoft.com/office/drawing/2014/main" id="{B13425BD-8E63-0EFC-AD98-38638AC090B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2" name="右大括弧 11">
            <a:extLst>
              <a:ext uri="{FF2B5EF4-FFF2-40B4-BE49-F238E27FC236}">
                <a16:creationId xmlns:a16="http://schemas.microsoft.com/office/drawing/2014/main" id="{F7D623D8-E3EB-A23D-405F-B7C4DC6B3B36}"/>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2344033630"/>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einforcement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earning with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H</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uman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eedback</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D1FF4C-B981-02EC-4D4A-C61F69393A52}"/>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41B5D38C-07B4-9DDC-B79C-00F7D93127CD}"/>
              </a:ext>
            </a:extLst>
          </p:cNvPr>
          <p:cNvPicPr>
            <a:picLocks noChangeAspect="1"/>
          </p:cNvPicPr>
          <p:nvPr/>
        </p:nvPicPr>
        <p:blipFill>
          <a:blip r:embed="rId2"/>
          <a:stretch>
            <a:fillRect/>
          </a:stretch>
        </p:blipFill>
        <p:spPr>
          <a:xfrm>
            <a:off x="323528" y="1199814"/>
            <a:ext cx="8485396" cy="1725130"/>
          </a:xfrm>
          <a:prstGeom prst="rect">
            <a:avLst/>
          </a:prstGeom>
        </p:spPr>
      </p:pic>
      <p:pic>
        <p:nvPicPr>
          <p:cNvPr id="12" name="圖片 11">
            <a:extLst>
              <a:ext uri="{FF2B5EF4-FFF2-40B4-BE49-F238E27FC236}">
                <a16:creationId xmlns:a16="http://schemas.microsoft.com/office/drawing/2014/main" id="{9D135FEB-D49D-FDDE-1182-90BEDA1FC772}"/>
              </a:ext>
            </a:extLst>
          </p:cNvPr>
          <p:cNvPicPr>
            <a:picLocks noChangeAspect="1"/>
          </p:cNvPicPr>
          <p:nvPr/>
        </p:nvPicPr>
        <p:blipFill>
          <a:blip r:embed="rId3"/>
          <a:stretch>
            <a:fillRect/>
          </a:stretch>
        </p:blipFill>
        <p:spPr>
          <a:xfrm>
            <a:off x="167538" y="1772816"/>
            <a:ext cx="8808924" cy="30963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圖片 13">
            <a:extLst>
              <a:ext uri="{FF2B5EF4-FFF2-40B4-BE49-F238E27FC236}">
                <a16:creationId xmlns:a16="http://schemas.microsoft.com/office/drawing/2014/main" id="{8EE5E8E2-2325-4F12-1CBF-DFE4507E3F00}"/>
              </a:ext>
            </a:extLst>
          </p:cNvPr>
          <p:cNvPicPr>
            <a:picLocks noChangeAspect="1"/>
          </p:cNvPicPr>
          <p:nvPr/>
        </p:nvPicPr>
        <p:blipFill>
          <a:blip r:embed="rId4"/>
          <a:stretch>
            <a:fillRect/>
          </a:stretch>
        </p:blipFill>
        <p:spPr>
          <a:xfrm>
            <a:off x="6444208" y="1556792"/>
            <a:ext cx="1852871" cy="523948"/>
          </a:xfrm>
          <a:prstGeom prst="rect">
            <a:avLst/>
          </a:prstGeom>
        </p:spPr>
      </p:pic>
      <p:pic>
        <p:nvPicPr>
          <p:cNvPr id="16" name="圖片 15">
            <a:extLst>
              <a:ext uri="{FF2B5EF4-FFF2-40B4-BE49-F238E27FC236}">
                <a16:creationId xmlns:a16="http://schemas.microsoft.com/office/drawing/2014/main" id="{A340BEF9-9477-0B08-52EF-5A3DFCCDF2F7}"/>
              </a:ext>
            </a:extLst>
          </p:cNvPr>
          <p:cNvPicPr>
            <a:picLocks noChangeAspect="1"/>
          </p:cNvPicPr>
          <p:nvPr/>
        </p:nvPicPr>
        <p:blipFill>
          <a:blip r:embed="rId5"/>
          <a:stretch>
            <a:fillRect/>
          </a:stretch>
        </p:blipFill>
        <p:spPr>
          <a:xfrm>
            <a:off x="329233" y="5192779"/>
            <a:ext cx="4848902" cy="1476581"/>
          </a:xfrm>
          <a:prstGeom prst="rect">
            <a:avLst/>
          </a:prstGeom>
          <a:effectLst>
            <a:glow rad="63500">
              <a:schemeClr val="accent3">
                <a:alpha val="40000"/>
              </a:schemeClr>
            </a:glow>
          </a:effectLst>
        </p:spPr>
      </p:pic>
      <p:sp>
        <p:nvSpPr>
          <p:cNvPr id="18" name="標題 1">
            <a:extLst>
              <a:ext uri="{FF2B5EF4-FFF2-40B4-BE49-F238E27FC236}">
                <a16:creationId xmlns:a16="http://schemas.microsoft.com/office/drawing/2014/main" id="{ADE035A4-1862-F0B7-2203-B17B6499E268}"/>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G</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roup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elative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olicy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ptimizer</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 2D-matrix optimizer updating strictly by orthogonalized direction, completely ignoring gradient scale.</a:t>
            </a:r>
          </a:p>
        </p:txBody>
      </p:sp>
      <p:pic>
        <p:nvPicPr>
          <p:cNvPr id="20" name="圖片 19">
            <a:extLst>
              <a:ext uri="{FF2B5EF4-FFF2-40B4-BE49-F238E27FC236}">
                <a16:creationId xmlns:a16="http://schemas.microsoft.com/office/drawing/2014/main" id="{770B7F26-EB81-3FCB-3A31-F0EFA81CC01C}"/>
              </a:ext>
            </a:extLst>
          </p:cNvPr>
          <p:cNvPicPr>
            <a:picLocks noChangeAspect="1"/>
          </p:cNvPicPr>
          <p:nvPr/>
        </p:nvPicPr>
        <p:blipFill>
          <a:blip r:embed="rId6"/>
          <a:stretch>
            <a:fillRect/>
          </a:stretch>
        </p:blipFill>
        <p:spPr>
          <a:xfrm>
            <a:off x="5022463" y="1156809"/>
            <a:ext cx="1254207" cy="454198"/>
          </a:xfrm>
          <a:prstGeom prst="rect">
            <a:avLst/>
          </a:prstGeom>
        </p:spPr>
      </p:pic>
    </p:spTree>
    <p:extLst>
      <p:ext uri="{BB962C8B-B14F-4D97-AF65-F5344CB8AC3E}">
        <p14:creationId xmlns:p14="http://schemas.microsoft.com/office/powerpoint/2010/main" val="1801011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5400000">
            <a:off x="3154669" y="2527032"/>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 name="文字方塊 1">
            <a:extLst>
              <a:ext uri="{FF2B5EF4-FFF2-40B4-BE49-F238E27FC236}">
                <a16:creationId xmlns:a16="http://schemas.microsoft.com/office/drawing/2014/main" id="{626DBC5C-2A26-90CA-C557-79A504820052}"/>
              </a:ext>
            </a:extLst>
          </p:cNvPr>
          <p:cNvSpPr txBox="1"/>
          <p:nvPr/>
        </p:nvSpPr>
        <p:spPr>
          <a:xfrm>
            <a:off x="2250420" y="3284647"/>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9" name="文字方塊 8">
            <a:extLst>
              <a:ext uri="{FF2B5EF4-FFF2-40B4-BE49-F238E27FC236}">
                <a16:creationId xmlns:a16="http://schemas.microsoft.com/office/drawing/2014/main" id="{07C167B6-49FC-7213-BEAC-0093C4EBA0F8}"/>
              </a:ext>
            </a:extLst>
          </p:cNvPr>
          <p:cNvSpPr txBox="1"/>
          <p:nvPr/>
        </p:nvSpPr>
        <p:spPr>
          <a:xfrm>
            <a:off x="1187624" y="3288444"/>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2" name="直線單箭頭接點 21">
            <a:extLst>
              <a:ext uri="{FF2B5EF4-FFF2-40B4-BE49-F238E27FC236}">
                <a16:creationId xmlns:a16="http://schemas.microsoft.com/office/drawing/2014/main" id="{BFBEC447-F76A-CB0C-60B2-2CBEC782C80C}"/>
              </a:ext>
            </a:extLst>
          </p:cNvPr>
          <p:cNvCxnSpPr>
            <a:cxnSpLocks/>
            <a:stCxn id="9" idx="3"/>
            <a:endCxn id="2" idx="1"/>
          </p:cNvCxnSpPr>
          <p:nvPr/>
        </p:nvCxnSpPr>
        <p:spPr>
          <a:xfrm flipV="1">
            <a:off x="2069044" y="3662805"/>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6B827-3C5A-0C6D-82A1-0A51AF39DEC9}"/>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7F9FF304-1DDA-660D-42C3-2383214BEC52}"/>
              </a:ext>
            </a:extLst>
          </p:cNvPr>
          <p:cNvSpPr txBox="1"/>
          <p:nvPr/>
        </p:nvSpPr>
        <p:spPr>
          <a:xfrm>
            <a:off x="179512" y="1447616"/>
            <a:ext cx="5877058" cy="1708160"/>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25055423-510F-6B54-91E6-4A5C3B12987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111" name="文字方塊 110">
            <a:extLst>
              <a:ext uri="{FF2B5EF4-FFF2-40B4-BE49-F238E27FC236}">
                <a16:creationId xmlns:a16="http://schemas.microsoft.com/office/drawing/2014/main" id="{5F3145DB-2AB6-E48C-CF45-AE37E8439159}"/>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8AD9189E-86F6-F113-C084-DB9CFA1ECEAB}"/>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6" name="箭號: 向下 115">
            <a:extLst>
              <a:ext uri="{FF2B5EF4-FFF2-40B4-BE49-F238E27FC236}">
                <a16:creationId xmlns:a16="http://schemas.microsoft.com/office/drawing/2014/main" id="{60D2A9A5-D914-99FD-7230-FE8F481C9B25}"/>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圓角 14">
            <a:extLst>
              <a:ext uri="{FF2B5EF4-FFF2-40B4-BE49-F238E27FC236}">
                <a16:creationId xmlns:a16="http://schemas.microsoft.com/office/drawing/2014/main" id="{5309D66F-393B-61F1-5ABA-2A95E1A60044}"/>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3C384C9D-E38C-B3F2-5A8E-6CCF9748AC87}"/>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8A9A2003-7F56-318B-5ECA-840E3AEC7CD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9FC26424-CF28-C126-AD62-BD56D03B5BA1}"/>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FABEA046-D813-5AA6-09CC-5A7E08C57319}"/>
              </a:ext>
            </a:extLst>
          </p:cNvPr>
          <p:cNvSpPr txBox="1"/>
          <p:nvPr/>
        </p:nvSpPr>
        <p:spPr>
          <a:xfrm>
            <a:off x="1259632" y="4293096"/>
            <a:ext cx="728464" cy="588210"/>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Sinusoidal</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PE</a:t>
            </a:r>
          </a:p>
        </p:txBody>
      </p:sp>
      <p:sp>
        <p:nvSpPr>
          <p:cNvPr id="18" name="文字方塊 17">
            <a:extLst>
              <a:ext uri="{FF2B5EF4-FFF2-40B4-BE49-F238E27FC236}">
                <a16:creationId xmlns:a16="http://schemas.microsoft.com/office/drawing/2014/main" id="{5C00EC41-1F49-57EC-70E4-CA737D6660A3}"/>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8B0D5418-C89E-4F45-E00A-61B05D299A5E}"/>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sp>
        <p:nvSpPr>
          <p:cNvPr id="28" name="文字方塊 27">
            <a:extLst>
              <a:ext uri="{FF2B5EF4-FFF2-40B4-BE49-F238E27FC236}">
                <a16:creationId xmlns:a16="http://schemas.microsoft.com/office/drawing/2014/main" id="{EC39264B-02B4-34B1-88B0-25644E4FEA06}"/>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8D97DBDB-40A5-B54E-3CB7-471311F434C5}"/>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C451E27D-EDC7-6CDC-E068-D8157F0F92AD}"/>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3AAB39FA-7DE5-6A30-EC56-ABE86FDDFD49}"/>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6BFC1626-0B48-FD81-8732-FF7961FAB391}"/>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B2FCB297-A73A-AFE8-8142-1340F17E8ABA}"/>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FF15A0C-BBA2-796B-9446-776B94FC23B4}"/>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8" name="文字方塊 7">
            <a:extLst>
              <a:ext uri="{FF2B5EF4-FFF2-40B4-BE49-F238E27FC236}">
                <a16:creationId xmlns:a16="http://schemas.microsoft.com/office/drawing/2014/main" id="{2BD819E8-714A-ABF7-E8C8-8341CC13E86E}"/>
              </a:ext>
            </a:extLst>
          </p:cNvPr>
          <p:cNvSpPr txBox="1"/>
          <p:nvPr/>
        </p:nvSpPr>
        <p:spPr>
          <a:xfrm>
            <a:off x="2403376" y="4288223"/>
            <a:ext cx="728464" cy="588210"/>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err="1">
                <a:effectLst/>
                <a:latin typeface="Gadugi" panose="020B0502040204020203" pitchFamily="34" charset="0"/>
                <a:ea typeface="Gadugi" panose="020B0502040204020203" pitchFamily="34" charset="0"/>
                <a:cs typeface="ADLaM Display" panose="02010000000000000000" pitchFamily="2" charset="0"/>
              </a:rPr>
              <a:t>Ro</a:t>
            </a:r>
            <a:r>
              <a:rPr lang="en-US" altLang="zh-TW" sz="11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1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endPar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 name="文字方塊 2">
            <a:extLst>
              <a:ext uri="{FF2B5EF4-FFF2-40B4-BE49-F238E27FC236}">
                <a16:creationId xmlns:a16="http://schemas.microsoft.com/office/drawing/2014/main" id="{3A75B14B-45FF-6974-21BD-63E2710FC699}"/>
              </a:ext>
            </a:extLst>
          </p:cNvPr>
          <p:cNvSpPr txBox="1"/>
          <p:nvPr/>
        </p:nvSpPr>
        <p:spPr>
          <a:xfrm>
            <a:off x="3642332" y="4288223"/>
            <a:ext cx="728464" cy="588210"/>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1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1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endPar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5" name="文字方塊 4">
            <a:extLst>
              <a:ext uri="{FF2B5EF4-FFF2-40B4-BE49-F238E27FC236}">
                <a16:creationId xmlns:a16="http://schemas.microsoft.com/office/drawing/2014/main" id="{F05B033D-66DB-B80C-07C1-053F40DC83E8}"/>
              </a:ext>
            </a:extLst>
          </p:cNvPr>
          <p:cNvSpPr txBox="1"/>
          <p:nvPr/>
        </p:nvSpPr>
        <p:spPr>
          <a:xfrm>
            <a:off x="4878051" y="4288223"/>
            <a:ext cx="728464" cy="588210"/>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1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1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endPar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103034474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CC3DF-70C2-522A-0FDF-2582632E1FB9}"/>
            </a:ext>
          </a:extLst>
        </p:cNvPr>
        <p:cNvGrpSpPr/>
        <p:nvPr/>
      </p:nvGrpSpPr>
      <p:grpSpPr>
        <a:xfrm>
          <a:off x="0" y="0"/>
          <a:ext cx="0" cy="0"/>
          <a:chOff x="0" y="0"/>
          <a:chExt cx="0" cy="0"/>
        </a:xfrm>
      </p:grpSpPr>
      <p:sp>
        <p:nvSpPr>
          <p:cNvPr id="11" name="標題 1">
            <a:extLst>
              <a:ext uri="{FF2B5EF4-FFF2-40B4-BE49-F238E27FC236}">
                <a16:creationId xmlns:a16="http://schemas.microsoft.com/office/drawing/2014/main" id="{747548ED-9990-3C5B-8C16-2521E06BE428}"/>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pic>
        <p:nvPicPr>
          <p:cNvPr id="5" name="圖片 4">
            <a:extLst>
              <a:ext uri="{FF2B5EF4-FFF2-40B4-BE49-F238E27FC236}">
                <a16:creationId xmlns:a16="http://schemas.microsoft.com/office/drawing/2014/main" id="{8095A884-8EAC-6F06-810B-C83343A15BDA}"/>
              </a:ext>
            </a:extLst>
          </p:cNvPr>
          <p:cNvPicPr>
            <a:picLocks noChangeAspect="1"/>
          </p:cNvPicPr>
          <p:nvPr/>
        </p:nvPicPr>
        <p:blipFill>
          <a:blip r:embed="rId3"/>
          <a:stretch>
            <a:fillRect/>
          </a:stretch>
        </p:blipFill>
        <p:spPr>
          <a:xfrm>
            <a:off x="0" y="1196752"/>
            <a:ext cx="4956040" cy="2304256"/>
          </a:xfrm>
          <a:prstGeom prst="rect">
            <a:avLst/>
          </a:prstGeom>
        </p:spPr>
      </p:pic>
      <p:pic>
        <p:nvPicPr>
          <p:cNvPr id="10" name="圖片 9">
            <a:extLst>
              <a:ext uri="{FF2B5EF4-FFF2-40B4-BE49-F238E27FC236}">
                <a16:creationId xmlns:a16="http://schemas.microsoft.com/office/drawing/2014/main" id="{DD86CA32-970D-2496-47EF-AAFC418ABEFB}"/>
              </a:ext>
            </a:extLst>
          </p:cNvPr>
          <p:cNvPicPr>
            <a:picLocks noChangeAspect="1"/>
          </p:cNvPicPr>
          <p:nvPr/>
        </p:nvPicPr>
        <p:blipFill>
          <a:blip r:embed="rId4"/>
          <a:stretch>
            <a:fillRect/>
          </a:stretch>
        </p:blipFill>
        <p:spPr>
          <a:xfrm>
            <a:off x="1" y="4331484"/>
            <a:ext cx="4956040" cy="2121852"/>
          </a:xfrm>
          <a:prstGeom prst="rect">
            <a:avLst/>
          </a:prstGeom>
        </p:spPr>
      </p:pic>
      <p:pic>
        <p:nvPicPr>
          <p:cNvPr id="17" name="圖片 16">
            <a:extLst>
              <a:ext uri="{FF2B5EF4-FFF2-40B4-BE49-F238E27FC236}">
                <a16:creationId xmlns:a16="http://schemas.microsoft.com/office/drawing/2014/main" id="{37162C3A-7B4F-0FFF-EF3C-FCB377ACAEDC}"/>
              </a:ext>
            </a:extLst>
          </p:cNvPr>
          <p:cNvPicPr>
            <a:picLocks noChangeAspect="1"/>
          </p:cNvPicPr>
          <p:nvPr/>
        </p:nvPicPr>
        <p:blipFill>
          <a:blip r:embed="rId5"/>
          <a:stretch>
            <a:fillRect/>
          </a:stretch>
        </p:blipFill>
        <p:spPr>
          <a:xfrm>
            <a:off x="4001637" y="24780"/>
            <a:ext cx="5125570" cy="1848950"/>
          </a:xfrm>
          <a:prstGeom prst="rect">
            <a:avLst/>
          </a:prstGeom>
        </p:spPr>
      </p:pic>
      <p:pic>
        <p:nvPicPr>
          <p:cNvPr id="22" name="圖片 21">
            <a:extLst>
              <a:ext uri="{FF2B5EF4-FFF2-40B4-BE49-F238E27FC236}">
                <a16:creationId xmlns:a16="http://schemas.microsoft.com/office/drawing/2014/main" id="{7E69E454-371F-867B-3720-89CEABC1F2BC}"/>
              </a:ext>
            </a:extLst>
          </p:cNvPr>
          <p:cNvPicPr>
            <a:picLocks noChangeAspect="1"/>
          </p:cNvPicPr>
          <p:nvPr/>
        </p:nvPicPr>
        <p:blipFill>
          <a:blip r:embed="rId6"/>
          <a:stretch>
            <a:fillRect/>
          </a:stretch>
        </p:blipFill>
        <p:spPr>
          <a:xfrm>
            <a:off x="4018429" y="3068960"/>
            <a:ext cx="5125571" cy="2215620"/>
          </a:xfrm>
          <a:prstGeom prst="rect">
            <a:avLst/>
          </a:prstGeom>
        </p:spPr>
      </p:pic>
      <p:pic>
        <p:nvPicPr>
          <p:cNvPr id="24" name="圖片 23">
            <a:extLst>
              <a:ext uri="{FF2B5EF4-FFF2-40B4-BE49-F238E27FC236}">
                <a16:creationId xmlns:a16="http://schemas.microsoft.com/office/drawing/2014/main" id="{734FBE87-E2F9-CC6D-45DC-14DA7E8ACD75}"/>
              </a:ext>
            </a:extLst>
          </p:cNvPr>
          <p:cNvPicPr>
            <a:picLocks noChangeAspect="1"/>
          </p:cNvPicPr>
          <p:nvPr/>
        </p:nvPicPr>
        <p:blipFill>
          <a:blip r:embed="rId7"/>
          <a:stretch>
            <a:fillRect/>
          </a:stretch>
        </p:blipFill>
        <p:spPr>
          <a:xfrm>
            <a:off x="3275856" y="6324113"/>
            <a:ext cx="5851351" cy="480202"/>
          </a:xfrm>
          <a:prstGeom prst="rect">
            <a:avLst/>
          </a:prstGeom>
        </p:spPr>
      </p:pic>
    </p:spTree>
    <p:extLst>
      <p:ext uri="{BB962C8B-B14F-4D97-AF65-F5344CB8AC3E}">
        <p14:creationId xmlns:p14="http://schemas.microsoft.com/office/powerpoint/2010/main" val="31877690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6F9624E-C0C3-0C2E-AA84-84A132024A6C}"/>
              </a:ext>
            </a:extLst>
          </p:cNvPr>
          <p:cNvPicPr>
            <a:picLocks noChangeAspect="1"/>
          </p:cNvPicPr>
          <p:nvPr/>
        </p:nvPicPr>
        <p:blipFill>
          <a:blip r:embed="rId3"/>
          <a:stretch>
            <a:fillRect/>
          </a:stretch>
        </p:blipFill>
        <p:spPr>
          <a:xfrm>
            <a:off x="683568" y="3573016"/>
            <a:ext cx="6096851" cy="2724530"/>
          </a:xfrm>
          <a:prstGeom prst="rect">
            <a:avLst/>
          </a:prstGeom>
        </p:spPr>
      </p:pic>
      <p:sp>
        <p:nvSpPr>
          <p:cNvPr id="5" name="文字方塊 4">
            <a:extLst>
              <a:ext uri="{FF2B5EF4-FFF2-40B4-BE49-F238E27FC236}">
                <a16:creationId xmlns:a16="http://schemas.microsoft.com/office/drawing/2014/main" id="{FFEF965C-25D3-1E87-CB7E-E818BAC49D4D}"/>
              </a:ext>
            </a:extLst>
          </p:cNvPr>
          <p:cNvSpPr txBox="1"/>
          <p:nvPr/>
        </p:nvSpPr>
        <p:spPr>
          <a:xfrm>
            <a:off x="467544" y="560454"/>
            <a:ext cx="8424936" cy="553998"/>
          </a:xfrm>
          <a:prstGeom prst="rect">
            <a:avLst/>
          </a:prstGeom>
          <a:noFill/>
        </p:spPr>
        <p:txBody>
          <a:bodyPr wrap="square">
            <a:spAutoFit/>
          </a:bodyPr>
          <a:lstStyle/>
          <a:p>
            <a:r>
              <a:rPr lang="zh-TW" altLang="zh-TW" sz="1200" b="1" u="none" strike="noStrike" dirty="0">
                <a:effectLst/>
                <a:latin typeface="+mn-lt"/>
              </a:rPr>
              <a:t>DeepSeek 是把 NoPE 與 RoPE 做「同層拆分」；而 Kimi 則是走得更極端，在特定層（或全模型）直接全面拔除 RoPE，改用別的機制來遞補位置資訊</a:t>
            </a:r>
            <a:r>
              <a:rPr lang="zh-TW" altLang="zh-TW" dirty="0"/>
              <a:t>。</a:t>
            </a:r>
            <a:endParaRPr lang="zh-TW" altLang="en-US" dirty="0"/>
          </a:p>
        </p:txBody>
      </p:sp>
    </p:spTree>
    <p:extLst>
      <p:ext uri="{BB962C8B-B14F-4D97-AF65-F5344CB8AC3E}">
        <p14:creationId xmlns:p14="http://schemas.microsoft.com/office/powerpoint/2010/main" val="2450002152"/>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9"/>
            <a:ext cx="740352" cy="5040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2023</a:t>
            </a: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CEO(</a:t>
            </a:r>
            <a:r>
              <a:rPr lang="zh-TW" altLang="en-US" sz="1400" dirty="0">
                <a:solidFill>
                  <a:prstClr val="black"/>
                </a:solidFill>
                <a:latin typeface="微軟正黑體" panose="020B0604030504040204" pitchFamily="34" charset="-120"/>
                <a:ea typeface="微軟正黑體" panose="020B0604030504040204" pitchFamily="34" charset="-120"/>
              </a:rPr>
              <a:t>梁文鋒</a:t>
            </a:r>
            <a:r>
              <a:rPr lang="en-US" altLang="zh-TW" sz="1400" dirty="0">
                <a:solidFill>
                  <a:prstClr val="black"/>
                </a:solidFill>
                <a:latin typeface="微軟正黑體" panose="020B0604030504040204" pitchFamily="34" charset="-120"/>
                <a:ea typeface="微軟正黑體" panose="020B0604030504040204" pitchFamily="34" charset="-120"/>
              </a:rPr>
              <a:t>1985</a:t>
            </a:r>
            <a:r>
              <a:rPr lang="zh-TW" altLang="en-US" sz="1400" dirty="0">
                <a:solidFill>
                  <a:prstClr val="black"/>
                </a:solidFill>
                <a:latin typeface="微軟正黑體" panose="020B0604030504040204" pitchFamily="34" charset="-120"/>
                <a:ea typeface="微軟正黑體" panose="020B0604030504040204" pitchFamily="34" charset="-120"/>
              </a:rPr>
              <a:t>浙江大學</a:t>
            </a:r>
            <a:r>
              <a:rPr lang="en-US" altLang="zh-TW" sz="1400" dirty="0">
                <a:solidFill>
                  <a:prstClr val="black"/>
                </a:solidFill>
                <a:latin typeface="微軟正黑體" panose="020B0604030504040204" pitchFamily="34" charset="-120"/>
                <a:ea typeface="微軟正黑體" panose="020B0604030504040204" pitchFamily="34" charset="-120"/>
              </a:rPr>
              <a:t>-</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V2 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V3 </a:t>
            </a:r>
            <a:r>
              <a:rPr lang="en-US" altLang="zh-TW" sz="1600" b="1" dirty="0"/>
              <a:t>DSA</a:t>
            </a:r>
            <a:r>
              <a:rPr lang="en-US" altLang="zh-TW" sz="1600" dirty="0"/>
              <a:t>: Select Top-K token via lighting Indexer.</a:t>
            </a:r>
          </a:p>
          <a:p>
            <a:pPr marL="742950" lvl="1" indent="-285750">
              <a:lnSpc>
                <a:spcPts val="1800"/>
              </a:lnSpc>
              <a:spcBef>
                <a:spcPts val="600"/>
              </a:spcBef>
              <a:buFont typeface="Arial" panose="020B0604020202020204" pitchFamily="34" charset="0"/>
              <a:buChar char="•"/>
            </a:pPr>
            <a:r>
              <a:rPr lang="en-US" altLang="zh-TW" sz="1600" dirty="0"/>
              <a:t>V4 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V4 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4137" y="1844824"/>
            <a:ext cx="740352" cy="56446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2015</a:t>
            </a: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80355"/>
            <a:ext cx="564469" cy="564469"/>
          </a:xfrm>
          <a:prstGeom prst="rect">
            <a:avLst/>
          </a:prstGeom>
        </p:spPr>
      </p:pic>
      <p:graphicFrame>
        <p:nvGraphicFramePr>
          <p:cNvPr id="8" name="表格 7">
            <a:extLst>
              <a:ext uri="{FF2B5EF4-FFF2-40B4-BE49-F238E27FC236}">
                <a16:creationId xmlns:a16="http://schemas.microsoft.com/office/drawing/2014/main" id="{764D7129-E992-939D-352F-5A96D493C7CE}"/>
              </a:ext>
            </a:extLst>
          </p:cNvPr>
          <p:cNvGraphicFramePr>
            <a:graphicFrameLocks noGrp="1"/>
          </p:cNvGraphicFramePr>
          <p:nvPr>
            <p:extLst>
              <p:ext uri="{D42A27DB-BD31-4B8C-83A1-F6EECF244321}">
                <p14:modId xmlns:p14="http://schemas.microsoft.com/office/powerpoint/2010/main" val="940432488"/>
              </p:ext>
            </p:extLst>
          </p:nvPr>
        </p:nvGraphicFramePr>
        <p:xfrm>
          <a:off x="505166" y="4005064"/>
          <a:ext cx="8133668" cy="2465708"/>
        </p:xfrm>
        <a:graphic>
          <a:graphicData uri="http://schemas.openxmlformats.org/drawingml/2006/table">
            <a:tbl>
              <a:tblPr firstRow="1" bandRow="1">
                <a:tableStyleId>{5C22544A-7EE6-4342-B048-85BDC9FD1C3A}</a:tableStyleId>
              </a:tblPr>
              <a:tblGrid>
                <a:gridCol w="322418">
                  <a:extLst>
                    <a:ext uri="{9D8B030D-6E8A-4147-A177-3AD203B41FA5}">
                      <a16:colId xmlns:a16="http://schemas.microsoft.com/office/drawing/2014/main" val="4198244561"/>
                    </a:ext>
                  </a:extLst>
                </a:gridCol>
                <a:gridCol w="576064">
                  <a:extLst>
                    <a:ext uri="{9D8B030D-6E8A-4147-A177-3AD203B41FA5}">
                      <a16:colId xmlns:a16="http://schemas.microsoft.com/office/drawing/2014/main" val="2211145501"/>
                    </a:ext>
                  </a:extLst>
                </a:gridCol>
                <a:gridCol w="648072">
                  <a:extLst>
                    <a:ext uri="{9D8B030D-6E8A-4147-A177-3AD203B41FA5}">
                      <a16:colId xmlns:a16="http://schemas.microsoft.com/office/drawing/2014/main" val="767948712"/>
                    </a:ext>
                  </a:extLst>
                </a:gridCol>
                <a:gridCol w="432048">
                  <a:extLst>
                    <a:ext uri="{9D8B030D-6E8A-4147-A177-3AD203B41FA5}">
                      <a16:colId xmlns:a16="http://schemas.microsoft.com/office/drawing/2014/main" val="2420987057"/>
                    </a:ext>
                  </a:extLst>
                </a:gridCol>
                <a:gridCol w="1106952">
                  <a:extLst>
                    <a:ext uri="{9D8B030D-6E8A-4147-A177-3AD203B41FA5}">
                      <a16:colId xmlns:a16="http://schemas.microsoft.com/office/drawing/2014/main" val="3715013544"/>
                    </a:ext>
                  </a:extLst>
                </a:gridCol>
                <a:gridCol w="837264">
                  <a:extLst>
                    <a:ext uri="{9D8B030D-6E8A-4147-A177-3AD203B41FA5}">
                      <a16:colId xmlns:a16="http://schemas.microsoft.com/office/drawing/2014/main" val="3639967230"/>
                    </a:ext>
                  </a:extLst>
                </a:gridCol>
                <a:gridCol w="937728">
                  <a:extLst>
                    <a:ext uri="{9D8B030D-6E8A-4147-A177-3AD203B41FA5}">
                      <a16:colId xmlns:a16="http://schemas.microsoft.com/office/drawing/2014/main" val="3328686525"/>
                    </a:ext>
                  </a:extLst>
                </a:gridCol>
                <a:gridCol w="288032">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4420">
                  <a:extLst>
                    <a:ext uri="{9D8B030D-6E8A-4147-A177-3AD203B41FA5}">
                      <a16:colId xmlns:a16="http://schemas.microsoft.com/office/drawing/2014/main" val="3722446267"/>
                    </a:ext>
                  </a:extLst>
                </a:gridCol>
                <a:gridCol w="394420">
                  <a:extLst>
                    <a:ext uri="{9D8B030D-6E8A-4147-A177-3AD203B41FA5}">
                      <a16:colId xmlns:a16="http://schemas.microsoft.com/office/drawing/2014/main" val="3159408052"/>
                    </a:ext>
                  </a:extLst>
                </a:gridCol>
                <a:gridCol w="846097">
                  <a:extLst>
                    <a:ext uri="{9D8B030D-6E8A-4147-A177-3AD203B41FA5}">
                      <a16:colId xmlns:a16="http://schemas.microsoft.com/office/drawing/2014/main" val="2746565255"/>
                    </a:ext>
                  </a:extLst>
                </a:gridCol>
                <a:gridCol w="846097">
                  <a:extLst>
                    <a:ext uri="{9D8B030D-6E8A-4147-A177-3AD203B41FA5}">
                      <a16:colId xmlns:a16="http://schemas.microsoft.com/office/drawing/2014/main" val="1920063261"/>
                    </a:ext>
                  </a:extLst>
                </a:gridCol>
              </a:tblGrid>
              <a:tr h="333543">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40000"/>
                        <a:lumOff val="6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41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FFN Layer</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lnL w="12700" cmpd="sng">
                      <a:noFill/>
                    </a:ln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355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Attention</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Dense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407691">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p>
                    <a:p>
                      <a:pPr algn="ctr"/>
                      <a:r>
                        <a:rPr lang="en-US" altLang="zh-TW" sz="1000" b="0" cap="none" spc="0" dirty="0">
                          <a:ln w="0"/>
                          <a:solidFill>
                            <a:schemeClr val="tx1">
                              <a:lumMod val="50000"/>
                              <a:lumOff val="50000"/>
                            </a:schemeClr>
                          </a:solidFill>
                          <a:effectLst/>
                        </a:rPr>
                        <a:t>(Multi-head Latent)</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err="1">
                          <a:ln w="0"/>
                          <a:solidFill>
                            <a:schemeClr val="tx1"/>
                          </a:solidFill>
                          <a:effectLst/>
                        </a:rPr>
                        <a:t>DSMoE</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32k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5120</a:t>
                      </a:r>
                      <a:br>
                        <a:rPr lang="en-US" altLang="zh-TW" sz="10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2~60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21B / 236B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38843">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DSA</a:t>
                      </a:r>
                    </a:p>
                    <a:p>
                      <a:pPr algn="ctr"/>
                      <a:r>
                        <a:rPr lang="en-US" altLang="zh-TW" sz="1000" b="0" cap="none" spc="0" dirty="0">
                          <a:ln w="0"/>
                          <a:solidFill>
                            <a:schemeClr val="tx1">
                              <a:lumMod val="50000"/>
                              <a:lumOff val="50000"/>
                            </a:schemeClr>
                          </a:solidFill>
                          <a:effectLst/>
                        </a:rPr>
                        <a:t>(DeepSeek Sparse)</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128k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1~3</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4~61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37B</a:t>
                      </a:r>
                      <a:r>
                        <a:rPr lang="zh-TW" altLang="en-US" sz="1000" b="0" cap="none" spc="0" dirty="0">
                          <a:ln w="0"/>
                          <a:solidFill>
                            <a:schemeClr val="tx1"/>
                          </a:solidFill>
                          <a:effectLst/>
                        </a:rPr>
                        <a:t> </a:t>
                      </a:r>
                      <a:r>
                        <a:rPr lang="en-US" altLang="zh-TW" sz="1000" b="0" cap="none" spc="0" dirty="0">
                          <a:ln w="0"/>
                          <a:solidFill>
                            <a:schemeClr val="tx1"/>
                          </a:solidFill>
                          <a:effectLst/>
                        </a:rPr>
                        <a:t>/</a:t>
                      </a:r>
                      <a:r>
                        <a:rPr lang="zh-TW" altLang="en-US" sz="1000" b="0" cap="none" spc="0" dirty="0">
                          <a:ln w="0"/>
                          <a:solidFill>
                            <a:schemeClr val="tx1"/>
                          </a:solidFill>
                          <a:effectLst/>
                        </a:rPr>
                        <a:t> </a:t>
                      </a:r>
                      <a:r>
                        <a:rPr lang="en-US" altLang="zh-TW" sz="1000" b="0" cap="none" spc="0" dirty="0">
                          <a:ln w="0"/>
                          <a:solidFill>
                            <a:schemeClr val="tx1"/>
                          </a:solidFill>
                          <a:effectLst/>
                        </a:rPr>
                        <a:t>671B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4</a:t>
                      </a:r>
                      <a:r>
                        <a:rPr lang="zh-TW" altLang="en-US" sz="1000" b="0" cap="none" spc="0" dirty="0">
                          <a:ln w="0"/>
                          <a:solidFill>
                            <a:schemeClr val="tx1"/>
                          </a:solidFill>
                          <a:effectLst/>
                        </a:rPr>
                        <a:t> </a:t>
                      </a:r>
                      <a:r>
                        <a:rPr lang="en-US" altLang="zh-TW" sz="10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282369">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Hybrid MHA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(HCA,</a:t>
                      </a:r>
                      <a:r>
                        <a:rPr kumimoji="0" lang="zh-TW" altLang="en-US" sz="1000" b="0" i="0" u="none" strike="noStrike" kern="1200" cap="none" spc="0" normalizeH="0" baseline="0" noProof="0" dirty="0">
                          <a:ln w="0"/>
                          <a:solidFill>
                            <a:schemeClr val="tx1">
                              <a:lumMod val="50000"/>
                              <a:lumOff val="50000"/>
                            </a:schemeClr>
                          </a:solidFill>
                          <a:effectLst/>
                          <a:uLnTx/>
                          <a:uFillTx/>
                          <a:latin typeface="+mn-lt"/>
                          <a:ea typeface="+mn-ea"/>
                          <a:cs typeface="+mn-cs"/>
                        </a:rPr>
                        <a:t> </a:t>
                      </a: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CSA)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DSA+MHC</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000" b="0" cap="none" spc="0" dirty="0">
                          <a:ln w="0"/>
                          <a:solidFill>
                            <a:schemeClr val="tx1"/>
                          </a:solidFill>
                          <a:effectLst/>
                        </a:rPr>
                        <a:t>H: 1,2,3,5…61</a:t>
                      </a:r>
                    </a:p>
                    <a:p>
                      <a:pPr algn="l"/>
                      <a:r>
                        <a:rPr lang="en-US" altLang="zh-TW" sz="1000" b="0" cap="none" spc="0" dirty="0">
                          <a:ln w="0"/>
                          <a:solidFill>
                            <a:schemeClr val="tx1"/>
                          </a:solidFill>
                          <a:effectLst/>
                        </a:rPr>
                        <a:t>C: 4…60</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&lt;4096</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49B / 1.6T</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AI clusters</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282369">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H: 1,2,3,5…43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C:  4…42</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&gt;8192</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1~43</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13B / 284B </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r>
                        <a:rPr lang="zh-TW" altLang="en-US" sz="1000" b="0" cap="none" spc="0" dirty="0">
                          <a:ln w="0"/>
                          <a:solidFill>
                            <a:schemeClr val="tx1"/>
                          </a:solidFill>
                          <a:effectLst/>
                        </a:rPr>
                        <a:t> </a:t>
                      </a:r>
                      <a:r>
                        <a:rPr lang="en-US" altLang="zh-TW" sz="10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r h="266179">
                <a:tc>
                  <a:txBody>
                    <a:bodyPr/>
                    <a:lstStyle/>
                    <a:p>
                      <a:pPr algn="l"/>
                      <a:r>
                        <a:rPr lang="en-US" altLang="zh-TW" sz="1200" b="0" cap="none" spc="0" dirty="0">
                          <a:ln w="0"/>
                          <a:solidFill>
                            <a:schemeClr val="tx1">
                              <a:lumMod val="50000"/>
                              <a:lumOff val="50000"/>
                            </a:schemeClr>
                          </a:solidFill>
                          <a:effectLst/>
                        </a:rPr>
                        <a:t>V5</a:t>
                      </a:r>
                      <a:endParaRPr lang="zh-TW" altLang="en-US" sz="1200" b="0" cap="none" spc="0" dirty="0">
                        <a:ln w="0"/>
                        <a:solidFill>
                          <a:schemeClr val="tx1">
                            <a:lumMod val="50000"/>
                            <a:lumOff val="50000"/>
                          </a:schemeClr>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lumMod val="50000"/>
                              <a:lumOff val="50000"/>
                            </a:schemeClr>
                          </a:solidFill>
                          <a:effectLst/>
                        </a:rPr>
                        <a:t>-</a:t>
                      </a: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96539059"/>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圖片 1">
            <a:extLst>
              <a:ext uri="{FF2B5EF4-FFF2-40B4-BE49-F238E27FC236}">
                <a16:creationId xmlns:a16="http://schemas.microsoft.com/office/drawing/2014/main" id="{F420C80E-37D4-372F-D96E-78D501C55D12}"/>
              </a:ext>
            </a:extLst>
          </p:cNvPr>
          <p:cNvPicPr>
            <a:picLocks noChangeAspect="1"/>
          </p:cNvPicPr>
          <p:nvPr/>
        </p:nvPicPr>
        <p:blipFill>
          <a:blip r:embed="rId2"/>
          <a:stretch>
            <a:fillRect/>
          </a:stretch>
        </p:blipFill>
        <p:spPr>
          <a:xfrm>
            <a:off x="1143000" y="1025937"/>
            <a:ext cx="6093296" cy="3094789"/>
          </a:xfrm>
          <a:prstGeom prst="rect">
            <a:avLst/>
          </a:prstGeom>
        </p:spPr>
      </p:pic>
      <p:sp>
        <p:nvSpPr>
          <p:cNvPr id="4" name="標題 1">
            <a:extLst>
              <a:ext uri="{FF2B5EF4-FFF2-40B4-BE49-F238E27FC236}">
                <a16:creationId xmlns:a16="http://schemas.microsoft.com/office/drawing/2014/main" id="{A2245D14-54E3-79E0-6651-0F4BA441EEF2}"/>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MTP</a:t>
            </a: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https://zhuanlan.zhihu.com/p/18056041194</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7" name="圖片 6">
            <a:extLst>
              <a:ext uri="{FF2B5EF4-FFF2-40B4-BE49-F238E27FC236}">
                <a16:creationId xmlns:a16="http://schemas.microsoft.com/office/drawing/2014/main" id="{5E0CC9C3-4045-3D30-8145-8B0342428755}"/>
              </a:ext>
            </a:extLst>
          </p:cNvPr>
          <p:cNvPicPr>
            <a:picLocks noChangeAspect="1"/>
          </p:cNvPicPr>
          <p:nvPr/>
        </p:nvPicPr>
        <p:blipFill>
          <a:blip r:embed="rId3"/>
          <a:stretch>
            <a:fillRect/>
          </a:stretch>
        </p:blipFill>
        <p:spPr>
          <a:xfrm>
            <a:off x="2843808" y="3961300"/>
            <a:ext cx="5157192" cy="2636052"/>
          </a:xfrm>
          <a:prstGeom prst="rect">
            <a:avLst/>
          </a:prstGeom>
        </p:spPr>
      </p:pic>
    </p:spTree>
    <p:extLst>
      <p:ext uri="{BB962C8B-B14F-4D97-AF65-F5344CB8AC3E}">
        <p14:creationId xmlns:p14="http://schemas.microsoft.com/office/powerpoint/2010/main" val="37931568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834BE8E-F60D-7BB0-3E16-E44E3984BCCF}"/>
              </a:ext>
            </a:extLst>
          </p:cNvPr>
          <p:cNvPicPr>
            <a:picLocks noChangeAspect="1"/>
          </p:cNvPicPr>
          <p:nvPr/>
        </p:nvPicPr>
        <p:blipFill>
          <a:blip r:embed="rId2"/>
          <a:stretch>
            <a:fillRect/>
          </a:stretch>
        </p:blipFill>
        <p:spPr>
          <a:xfrm>
            <a:off x="0" y="831024"/>
            <a:ext cx="9144000" cy="5195952"/>
          </a:xfrm>
          <a:prstGeom prst="rect">
            <a:avLst/>
          </a:prstGeom>
        </p:spPr>
      </p:pic>
      <p:sp>
        <p:nvSpPr>
          <p:cNvPr id="5" name="文字方塊 4">
            <a:hlinkClick r:id="rId3"/>
            <a:extLst>
              <a:ext uri="{FF2B5EF4-FFF2-40B4-BE49-F238E27FC236}">
                <a16:creationId xmlns:a16="http://schemas.microsoft.com/office/drawing/2014/main" id="{E72E6D05-B98B-FC30-961B-737C8D09D445}"/>
              </a:ext>
            </a:extLst>
          </p:cNvPr>
          <p:cNvSpPr txBox="1"/>
          <p:nvPr/>
        </p:nvSpPr>
        <p:spPr>
          <a:xfrm>
            <a:off x="323528" y="33974"/>
            <a:ext cx="5112568" cy="369332"/>
          </a:xfrm>
          <a:prstGeom prst="rect">
            <a:avLst/>
          </a:prstGeom>
          <a:noFill/>
        </p:spPr>
        <p:txBody>
          <a:bodyPr wrap="square">
            <a:spAutoFit/>
          </a:bodyPr>
          <a:lstStyle/>
          <a:p>
            <a:r>
              <a:rPr lang="en-US" altLang="zh-TW" dirty="0">
                <a:hlinkClick r:id="rId3"/>
              </a:rPr>
              <a:t>The insane infrastructure design of DeepSeek V4</a:t>
            </a:r>
            <a:endParaRPr lang="zh-TW" altLang="en-US" dirty="0"/>
          </a:p>
        </p:txBody>
      </p:sp>
    </p:spTree>
    <p:extLst>
      <p:ext uri="{BB962C8B-B14F-4D97-AF65-F5344CB8AC3E}">
        <p14:creationId xmlns:p14="http://schemas.microsoft.com/office/powerpoint/2010/main" val="2207297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699331EB-D564-30D4-7D91-3356C901B2BA}"/>
              </a:ext>
            </a:extLst>
          </p:cNvPr>
          <p:cNvPicPr>
            <a:picLocks noChangeAspect="1"/>
          </p:cNvPicPr>
          <p:nvPr/>
        </p:nvPicPr>
        <p:blipFill>
          <a:blip r:embed="rId2"/>
          <a:stretch>
            <a:fillRect/>
          </a:stretch>
        </p:blipFill>
        <p:spPr>
          <a:xfrm>
            <a:off x="72467" y="2072368"/>
            <a:ext cx="4715558" cy="4207247"/>
          </a:xfrm>
          <a:prstGeom prst="rect">
            <a:avLst/>
          </a:prstGeom>
        </p:spPr>
      </p:pic>
      <p:pic>
        <p:nvPicPr>
          <p:cNvPr id="5" name="圖片 4">
            <a:extLst>
              <a:ext uri="{FF2B5EF4-FFF2-40B4-BE49-F238E27FC236}">
                <a16:creationId xmlns:a16="http://schemas.microsoft.com/office/drawing/2014/main" id="{20C34C73-3672-2E31-B9B9-AA8920D87083}"/>
              </a:ext>
            </a:extLst>
          </p:cNvPr>
          <p:cNvPicPr>
            <a:picLocks noChangeAspect="1"/>
          </p:cNvPicPr>
          <p:nvPr/>
        </p:nvPicPr>
        <p:blipFill>
          <a:blip r:embed="rId3"/>
          <a:stretch>
            <a:fillRect/>
          </a:stretch>
        </p:blipFill>
        <p:spPr>
          <a:xfrm>
            <a:off x="22137" y="332656"/>
            <a:ext cx="1971950" cy="2629267"/>
          </a:xfrm>
          <a:prstGeom prst="rect">
            <a:avLst/>
          </a:prstGeom>
        </p:spPr>
      </p:pic>
      <p:sp>
        <p:nvSpPr>
          <p:cNvPr id="4" name="文字方塊 3">
            <a:extLst>
              <a:ext uri="{FF2B5EF4-FFF2-40B4-BE49-F238E27FC236}">
                <a16:creationId xmlns:a16="http://schemas.microsoft.com/office/drawing/2014/main" id="{8077AF21-1770-2EC5-BA5E-8B86C2DCC98A}"/>
              </a:ext>
            </a:extLst>
          </p:cNvPr>
          <p:cNvSpPr txBox="1"/>
          <p:nvPr/>
        </p:nvSpPr>
        <p:spPr>
          <a:xfrm>
            <a:off x="2771800" y="1099468"/>
            <a:ext cx="6048672" cy="1336584"/>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矩陣維度演變全景總結</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原始多通道資料</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[N,d]</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步驟1: 壓縮</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通道特徵向量</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x_compressed</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rPr>
              <a:t>[</a:t>
            </a:r>
            <a:r>
              <a:rPr lang="zh-TW" altLang="zh-TW" sz="1100" b="0" u="none" strike="noStrike" dirty="0">
                <a:effectLst/>
                <a:latin typeface="微軟正黑體" panose="020B0604030504040204" pitchFamily="34" charset="-120"/>
                <a:ea typeface="微軟正黑體" panose="020B0604030504040204" pitchFamily="34" charset="-120"/>
              </a:rPr>
              <a:t>N,1]</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步驟2: 映射粗糙意圖矩陣</a:t>
            </a:r>
            <a:r>
              <a:rPr lang="zh-TW" altLang="en-US" sz="1100" dirty="0">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步驟3: 非負化</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正能量矩陣</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A</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步驟4: Sinkhorn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動態流形矩陣</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當這 4 個步驟在幾微秒內完成後</a:t>
            </a:r>
          </a:p>
        </p:txBody>
      </p:sp>
    </p:spTree>
    <p:extLst>
      <p:ext uri="{BB962C8B-B14F-4D97-AF65-F5344CB8AC3E}">
        <p14:creationId xmlns:p14="http://schemas.microsoft.com/office/powerpoint/2010/main" val="2459535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2715771664"/>
              </p:ext>
            </p:extLst>
          </p:nvPr>
        </p:nvGraphicFramePr>
        <p:xfrm>
          <a:off x="7157852" y="2218649"/>
          <a:ext cx="1090401" cy="788874"/>
        </p:xfrm>
        <a:graphic>
          <a:graphicData uri="http://schemas.openxmlformats.org/drawingml/2006/table">
            <a:tbl>
              <a:tblPr firstRow="1" bandRow="1">
                <a:tableStyleId>{5C22544A-7EE6-4342-B048-85BDC9FD1C3A}</a:tableStyleId>
              </a:tblPr>
              <a:tblGrid>
                <a:gridCol w="1090401">
                  <a:extLst>
                    <a:ext uri="{9D8B030D-6E8A-4147-A177-3AD203B41FA5}">
                      <a16:colId xmlns:a16="http://schemas.microsoft.com/office/drawing/2014/main" val="4072639710"/>
                    </a:ext>
                  </a:extLst>
                </a:gridCol>
              </a:tblGrid>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
        <p:nvSpPr>
          <p:cNvPr id="4" name="標題 1">
            <a:extLst>
              <a:ext uri="{FF2B5EF4-FFF2-40B4-BE49-F238E27FC236}">
                <a16:creationId xmlns:a16="http://schemas.microsoft.com/office/drawing/2014/main" id="{05340D84-CC47-CC3E-B3DE-7A987EFDD6B9}"/>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6" name="圖片 5">
            <a:extLst>
              <a:ext uri="{FF2B5EF4-FFF2-40B4-BE49-F238E27FC236}">
                <a16:creationId xmlns:a16="http://schemas.microsoft.com/office/drawing/2014/main" id="{BA1A6188-F624-3C12-AEF8-4B9C71957B0D}"/>
              </a:ext>
            </a:extLst>
          </p:cNvPr>
          <p:cNvPicPr>
            <a:picLocks noChangeAspect="1"/>
          </p:cNvPicPr>
          <p:nvPr/>
        </p:nvPicPr>
        <p:blipFill>
          <a:blip r:embed="rId3"/>
          <a:stretch>
            <a:fillRect/>
          </a:stretch>
        </p:blipFill>
        <p:spPr>
          <a:xfrm>
            <a:off x="532120" y="-1035496"/>
            <a:ext cx="5413480" cy="7488832"/>
          </a:xfrm>
          <a:prstGeom prst="rect">
            <a:avLst/>
          </a:prstGeom>
          <a:solidFill>
            <a:schemeClr val="bg1"/>
          </a:solidFill>
        </p:spPr>
      </p:pic>
      <p:graphicFrame>
        <p:nvGraphicFramePr>
          <p:cNvPr id="9" name="表格 8">
            <a:extLst>
              <a:ext uri="{FF2B5EF4-FFF2-40B4-BE49-F238E27FC236}">
                <a16:creationId xmlns:a16="http://schemas.microsoft.com/office/drawing/2014/main" id="{D46908ED-3C05-75B7-C1BC-37F95757A753}"/>
              </a:ext>
            </a:extLst>
          </p:cNvPr>
          <p:cNvGraphicFramePr>
            <a:graphicFrameLocks noGrp="1"/>
          </p:cNvGraphicFramePr>
          <p:nvPr>
            <p:extLst>
              <p:ext uri="{D42A27DB-BD31-4B8C-83A1-F6EECF244321}">
                <p14:modId xmlns:p14="http://schemas.microsoft.com/office/powerpoint/2010/main" val="4236154462"/>
              </p:ext>
            </p:extLst>
          </p:nvPr>
        </p:nvGraphicFramePr>
        <p:xfrm>
          <a:off x="6474897" y="856984"/>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graphicFrame>
        <p:nvGraphicFramePr>
          <p:cNvPr id="6" name="表格 5">
            <a:extLst>
              <a:ext uri="{FF2B5EF4-FFF2-40B4-BE49-F238E27FC236}">
                <a16:creationId xmlns:a16="http://schemas.microsoft.com/office/drawing/2014/main" id="{73A2FB69-DDF4-9EAC-D7D6-632FE413F84A}"/>
              </a:ext>
            </a:extLst>
          </p:cNvPr>
          <p:cNvGraphicFramePr>
            <a:graphicFrameLocks noGrp="1"/>
          </p:cNvGraphicFramePr>
          <p:nvPr>
            <p:extLst>
              <p:ext uri="{D42A27DB-BD31-4B8C-83A1-F6EECF244321}">
                <p14:modId xmlns:p14="http://schemas.microsoft.com/office/powerpoint/2010/main" val="1317161879"/>
              </p:ext>
            </p:extLst>
          </p:nvPr>
        </p:nvGraphicFramePr>
        <p:xfrm>
          <a:off x="1691680" y="5661248"/>
          <a:ext cx="1944216" cy="788874"/>
        </p:xfrm>
        <a:graphic>
          <a:graphicData uri="http://schemas.openxmlformats.org/drawingml/2006/table">
            <a:tbl>
              <a:tblPr firstRow="1" bandRow="1">
                <a:tableStyleId>{5C22544A-7EE6-4342-B048-85BDC9FD1C3A}</a:tableStyleId>
              </a:tblPr>
              <a:tblGrid>
                <a:gridCol w="504056">
                  <a:extLst>
                    <a:ext uri="{9D8B030D-6E8A-4147-A177-3AD203B41FA5}">
                      <a16:colId xmlns:a16="http://schemas.microsoft.com/office/drawing/2014/main" val="4072639710"/>
                    </a:ext>
                  </a:extLst>
                </a:gridCol>
                <a:gridCol w="1440160">
                  <a:extLst>
                    <a:ext uri="{9D8B030D-6E8A-4147-A177-3AD203B41FA5}">
                      <a16:colId xmlns:a16="http://schemas.microsoft.com/office/drawing/2014/main" val="4106879781"/>
                    </a:ext>
                  </a:extLst>
                </a:gridCol>
              </a:tblGrid>
              <a:tr h="207498">
                <a:tc>
                  <a:txBody>
                    <a:bodyPr/>
                    <a:lstStyle/>
                    <a:p>
                      <a:pPr algn="l"/>
                      <a:r>
                        <a:rPr lang="en-US" altLang="zh-TW" sz="1200" b="1" cap="none" spc="0" dirty="0">
                          <a:ln w="0"/>
                          <a:solidFill>
                            <a:schemeClr val="tx1"/>
                          </a:solidFill>
                          <a:effectLst/>
                        </a:rPr>
                        <a:t>CSA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r>
                        <a:rPr lang="en-US" altLang="zh-TW" sz="1200" b="0" cap="none" spc="0" dirty="0" err="1">
                          <a:ln w="0"/>
                          <a:solidFill>
                            <a:schemeClr val="tx1"/>
                          </a:solidFill>
                          <a:effectLst/>
                        </a:rPr>
                        <a:t>xadsf</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pic>
        <p:nvPicPr>
          <p:cNvPr id="4" name="圖片 3">
            <a:extLst>
              <a:ext uri="{FF2B5EF4-FFF2-40B4-BE49-F238E27FC236}">
                <a16:creationId xmlns:a16="http://schemas.microsoft.com/office/drawing/2014/main" id="{C769F52B-0531-C9AC-626B-6D6332C197AD}"/>
              </a:ext>
            </a:extLst>
          </p:cNvPr>
          <p:cNvPicPr>
            <a:picLocks noChangeAspect="1"/>
          </p:cNvPicPr>
          <p:nvPr/>
        </p:nvPicPr>
        <p:blipFill>
          <a:blip r:embed="rId4"/>
          <a:stretch>
            <a:fillRect/>
          </a:stretch>
        </p:blipFill>
        <p:spPr>
          <a:xfrm>
            <a:off x="2886375" y="536354"/>
            <a:ext cx="3362794" cy="1457528"/>
          </a:xfrm>
          <a:prstGeom prst="rect">
            <a:avLst/>
          </a:prstGeom>
          <a:effectLst>
            <a:glow rad="50800">
              <a:schemeClr val="accent5"/>
            </a:glow>
          </a:effectLst>
        </p:spPr>
      </p:pic>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367479" y="1297753"/>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1691680" y="1265195"/>
            <a:ext cx="4901991" cy="6781255"/>
          </a:xfrm>
          <a:prstGeom prst="rect">
            <a:avLst/>
          </a:prstGeom>
          <a:solidFill>
            <a:schemeClr val="bg1"/>
          </a:solidFill>
        </p:spPr>
      </p:pic>
      <p:sp>
        <p:nvSpPr>
          <p:cNvPr id="4" name="標題 1">
            <a:extLst>
              <a:ext uri="{FF2B5EF4-FFF2-40B4-BE49-F238E27FC236}">
                <a16:creationId xmlns:a16="http://schemas.microsoft.com/office/drawing/2014/main" id="{301070FD-10B6-59FE-9BB5-16870A81BE8B}"/>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7D23CA4D-74B5-B838-0C16-D0A3B68E32D7}"/>
              </a:ext>
            </a:extLst>
          </p:cNvPr>
          <p:cNvPicPr>
            <a:picLocks noChangeAspect="1"/>
          </p:cNvPicPr>
          <p:nvPr/>
        </p:nvPicPr>
        <p:blipFill>
          <a:blip r:embed="rId3"/>
          <a:stretch>
            <a:fillRect/>
          </a:stretch>
        </p:blipFill>
        <p:spPr>
          <a:xfrm>
            <a:off x="-907736" y="626705"/>
            <a:ext cx="10051736" cy="5362487"/>
          </a:xfrm>
          <a:prstGeom prst="rect">
            <a:avLst/>
          </a:prstGeom>
        </p:spPr>
      </p:pic>
      <p:sp>
        <p:nvSpPr>
          <p:cNvPr id="5" name="文字方塊 4">
            <a:extLst>
              <a:ext uri="{FF2B5EF4-FFF2-40B4-BE49-F238E27FC236}">
                <a16:creationId xmlns:a16="http://schemas.microsoft.com/office/drawing/2014/main" id="{17F30396-DC7F-E655-B68F-0E042D1DCC88}"/>
              </a:ext>
            </a:extLst>
          </p:cNvPr>
          <p:cNvSpPr txBox="1"/>
          <p:nvPr/>
        </p:nvSpPr>
        <p:spPr>
          <a:xfrm>
            <a:off x="7282756" y="1020198"/>
            <a:ext cx="948432" cy="369332"/>
          </a:xfrm>
          <a:prstGeom prst="rect">
            <a:avLst/>
          </a:prstGeom>
          <a:noFill/>
        </p:spPr>
        <p:txBody>
          <a:bodyPr wrap="square">
            <a:spAutoFit/>
          </a:bodyPr>
          <a:lstStyle/>
          <a:p>
            <a:r>
              <a:rPr lang="zh-TW" altLang="zh-TW" dirty="0"/>
              <a:t>Top-512 </a:t>
            </a:r>
            <a:endParaRPr lang="zh-TW" altLang="en-US" dirty="0"/>
          </a:p>
        </p:txBody>
      </p:sp>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7" name="文字方塊 26">
            <a:extLst>
              <a:ext uri="{FF2B5EF4-FFF2-40B4-BE49-F238E27FC236}">
                <a16:creationId xmlns:a16="http://schemas.microsoft.com/office/drawing/2014/main" id="{1518336E-A416-D90F-A9D4-59E288FC7015}"/>
              </a:ext>
            </a:extLst>
          </p:cNvPr>
          <p:cNvSpPr txBox="1"/>
          <p:nvPr/>
        </p:nvSpPr>
        <p:spPr>
          <a:xfrm>
            <a:off x="535220"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p>
          <a:p>
            <a:r>
              <a:rPr lang="en-US" altLang="zh-TW" sz="1600" dirty="0">
                <a:latin typeface="Noto Sans HK" panose="020B0200000000000000" pitchFamily="34" charset="-120"/>
                <a:ea typeface="Noto Sans HK" panose="020B0200000000000000" pitchFamily="34" charset="-120"/>
                <a:cs typeface="Aharoni" panose="020F0502020204030204" pitchFamily="2" charset="-79"/>
              </a:rPr>
              <a:t>HCA + CSA + SWA)</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4371483"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5025287"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schemeClr val="tx1">
                    <a:lumMod val="50000"/>
                    <a:lumOff val="50000"/>
                  </a:schemeClr>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3717680" y="3964468"/>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394691" y="1121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p:cNvCxnSpPr>
          <p:nvPr/>
        </p:nvCxnSpPr>
        <p:spPr>
          <a:xfrm flipH="1" flipV="1">
            <a:off x="1894726"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17293"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0" name="文字方塊 19">
            <a:extLst>
              <a:ext uri="{FF2B5EF4-FFF2-40B4-BE49-F238E27FC236}">
                <a16:creationId xmlns:a16="http://schemas.microsoft.com/office/drawing/2014/main" id="{F09E3AB6-8232-731F-78BF-BEB213DCDE60}"/>
              </a:ext>
            </a:extLst>
          </p:cNvPr>
          <p:cNvSpPr txBox="1"/>
          <p:nvPr/>
        </p:nvSpPr>
        <p:spPr>
          <a:xfrm>
            <a:off x="3788259" y="1204136"/>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3" name="文字方塊 22">
            <a:extLst>
              <a:ext uri="{FF2B5EF4-FFF2-40B4-BE49-F238E27FC236}">
                <a16:creationId xmlns:a16="http://schemas.microsoft.com/office/drawing/2014/main" id="{5FB36156-6910-00FA-51C9-7CE40422925C}"/>
              </a:ext>
            </a:extLst>
          </p:cNvPr>
          <p:cNvSpPr txBox="1"/>
          <p:nvPr/>
        </p:nvSpPr>
        <p:spPr>
          <a:xfrm>
            <a:off x="4083128" y="1204136"/>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5" name="文字方塊 24">
            <a:extLst>
              <a:ext uri="{FF2B5EF4-FFF2-40B4-BE49-F238E27FC236}">
                <a16:creationId xmlns:a16="http://schemas.microsoft.com/office/drawing/2014/main" id="{D9F71498-2E52-A52D-5BE5-D5F583CD369F}"/>
              </a:ext>
            </a:extLst>
          </p:cNvPr>
          <p:cNvSpPr txBox="1"/>
          <p:nvPr/>
        </p:nvSpPr>
        <p:spPr>
          <a:xfrm>
            <a:off x="4960289" y="873253"/>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矩形: 圓角 28">
            <a:extLst>
              <a:ext uri="{FF2B5EF4-FFF2-40B4-BE49-F238E27FC236}">
                <a16:creationId xmlns:a16="http://schemas.microsoft.com/office/drawing/2014/main" id="{E8C71BCF-5A28-2127-74C1-6329D70233A1}"/>
              </a:ext>
            </a:extLst>
          </p:cNvPr>
          <p:cNvSpPr/>
          <p:nvPr/>
        </p:nvSpPr>
        <p:spPr>
          <a:xfrm>
            <a:off x="2832394" y="655248"/>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31" name="矩形: 圓角 30">
            <a:extLst>
              <a:ext uri="{FF2B5EF4-FFF2-40B4-BE49-F238E27FC236}">
                <a16:creationId xmlns:a16="http://schemas.microsoft.com/office/drawing/2014/main" id="{17447780-11DA-9D99-E75A-F3F94ED81FAE}"/>
              </a:ext>
            </a:extLst>
          </p:cNvPr>
          <p:cNvSpPr/>
          <p:nvPr/>
        </p:nvSpPr>
        <p:spPr>
          <a:xfrm>
            <a:off x="1187624" y="2290763"/>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2" name="矩形: 圓角 21">
            <a:extLst>
              <a:ext uri="{FF2B5EF4-FFF2-40B4-BE49-F238E27FC236}">
                <a16:creationId xmlns:a16="http://schemas.microsoft.com/office/drawing/2014/main" id="{B575657B-6422-4836-4BD9-E9A5A22401DF}"/>
              </a:ext>
            </a:extLst>
          </p:cNvPr>
          <p:cNvSpPr/>
          <p:nvPr/>
        </p:nvSpPr>
        <p:spPr>
          <a:xfrm>
            <a:off x="2128038"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EC76EEDB-820C-47F8-E6D6-B61AD0478603}"/>
              </a:ext>
            </a:extLst>
          </p:cNvPr>
          <p:cNvSpPr txBox="1"/>
          <p:nvPr/>
        </p:nvSpPr>
        <p:spPr>
          <a:xfrm>
            <a:off x="2195432"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矩形: 圓角 25">
            <a:extLst>
              <a:ext uri="{FF2B5EF4-FFF2-40B4-BE49-F238E27FC236}">
                <a16:creationId xmlns:a16="http://schemas.microsoft.com/office/drawing/2014/main" id="{4A193FB5-77BF-9261-EE9C-AF49B58ACA5D}"/>
              </a:ext>
            </a:extLst>
          </p:cNvPr>
          <p:cNvSpPr/>
          <p:nvPr/>
        </p:nvSpPr>
        <p:spPr>
          <a:xfrm>
            <a:off x="2127756"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8" name="文字方塊 27">
            <a:extLst>
              <a:ext uri="{FF2B5EF4-FFF2-40B4-BE49-F238E27FC236}">
                <a16:creationId xmlns:a16="http://schemas.microsoft.com/office/drawing/2014/main" id="{D8D41319-3849-4C5C-B81B-F65F8A0E51BE}"/>
              </a:ext>
            </a:extLst>
          </p:cNvPr>
          <p:cNvSpPr txBox="1"/>
          <p:nvPr/>
        </p:nvSpPr>
        <p:spPr>
          <a:xfrm>
            <a:off x="2195432"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30" name="直線單箭頭接點 29">
            <a:extLst>
              <a:ext uri="{FF2B5EF4-FFF2-40B4-BE49-F238E27FC236}">
                <a16:creationId xmlns:a16="http://schemas.microsoft.com/office/drawing/2014/main" id="{DE1F102C-BA8F-E1D9-CA99-27D68435D0B0}"/>
              </a:ext>
            </a:extLst>
          </p:cNvPr>
          <p:cNvCxnSpPr>
            <a:cxnSpLocks/>
            <a:endCxn id="36" idx="2"/>
          </p:cNvCxnSpPr>
          <p:nvPr/>
        </p:nvCxnSpPr>
        <p:spPr>
          <a:xfrm flipH="1" flipV="1">
            <a:off x="2735493"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2" name="矩形: 圓角 31">
            <a:extLst>
              <a:ext uri="{FF2B5EF4-FFF2-40B4-BE49-F238E27FC236}">
                <a16:creationId xmlns:a16="http://schemas.microsoft.com/office/drawing/2014/main" id="{E7071F06-3B95-BBF0-8D31-403260190A10}"/>
              </a:ext>
            </a:extLst>
          </p:cNvPr>
          <p:cNvSpPr/>
          <p:nvPr/>
        </p:nvSpPr>
        <p:spPr>
          <a:xfrm>
            <a:off x="2127756"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33" name="直線單箭頭接點 32">
            <a:extLst>
              <a:ext uri="{FF2B5EF4-FFF2-40B4-BE49-F238E27FC236}">
                <a16:creationId xmlns:a16="http://schemas.microsoft.com/office/drawing/2014/main" id="{E8BA514B-DB76-CB7C-BABF-F30EA1823778}"/>
              </a:ext>
            </a:extLst>
          </p:cNvPr>
          <p:cNvCxnSpPr>
            <a:cxnSpLocks/>
            <a:stCxn id="22" idx="0"/>
            <a:endCxn id="32" idx="2"/>
          </p:cNvCxnSpPr>
          <p:nvPr/>
        </p:nvCxnSpPr>
        <p:spPr>
          <a:xfrm flipH="1" flipV="1">
            <a:off x="2737517"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F0F6B94A-C1E9-D2D7-0479-3D31C5008924}"/>
              </a:ext>
            </a:extLst>
          </p:cNvPr>
          <p:cNvSpPr/>
          <p:nvPr/>
        </p:nvSpPr>
        <p:spPr>
          <a:xfrm>
            <a:off x="2267441"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6" name="矩形: 圓角 35">
            <a:extLst>
              <a:ext uri="{FF2B5EF4-FFF2-40B4-BE49-F238E27FC236}">
                <a16:creationId xmlns:a16="http://schemas.microsoft.com/office/drawing/2014/main" id="{10A57304-B977-6DDF-AB79-940F415DCD67}"/>
              </a:ext>
            </a:extLst>
          </p:cNvPr>
          <p:cNvSpPr/>
          <p:nvPr/>
        </p:nvSpPr>
        <p:spPr>
          <a:xfrm>
            <a:off x="2267441"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37" name="矩形: 圓角 36">
            <a:extLst>
              <a:ext uri="{FF2B5EF4-FFF2-40B4-BE49-F238E27FC236}">
                <a16:creationId xmlns:a16="http://schemas.microsoft.com/office/drawing/2014/main" id="{BAA62BC7-8970-5EAC-91BE-AFA753C2EB9A}"/>
              </a:ext>
            </a:extLst>
          </p:cNvPr>
          <p:cNvSpPr/>
          <p:nvPr/>
        </p:nvSpPr>
        <p:spPr>
          <a:xfrm>
            <a:off x="2267441"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8" name="矩形 37">
            <a:extLst>
              <a:ext uri="{FF2B5EF4-FFF2-40B4-BE49-F238E27FC236}">
                <a16:creationId xmlns:a16="http://schemas.microsoft.com/office/drawing/2014/main" id="{BE84C5AA-7941-045B-0FBC-E68694445AFC}"/>
              </a:ext>
            </a:extLst>
          </p:cNvPr>
          <p:cNvSpPr/>
          <p:nvPr/>
        </p:nvSpPr>
        <p:spPr>
          <a:xfrm>
            <a:off x="1943092"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39" name="矩形: 圓角 38">
            <a:extLst>
              <a:ext uri="{FF2B5EF4-FFF2-40B4-BE49-F238E27FC236}">
                <a16:creationId xmlns:a16="http://schemas.microsoft.com/office/drawing/2014/main" id="{0DA5E329-7389-18B3-3FF9-BFDB18807177}"/>
              </a:ext>
            </a:extLst>
          </p:cNvPr>
          <p:cNvSpPr/>
          <p:nvPr/>
        </p:nvSpPr>
        <p:spPr>
          <a:xfrm>
            <a:off x="2277505"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1" name="文字方塊 40">
            <a:extLst>
              <a:ext uri="{FF2B5EF4-FFF2-40B4-BE49-F238E27FC236}">
                <a16:creationId xmlns:a16="http://schemas.microsoft.com/office/drawing/2014/main" id="{381260DC-1D9A-8A2A-9143-702BB37EF0AC}"/>
              </a:ext>
            </a:extLst>
          </p:cNvPr>
          <p:cNvSpPr txBox="1"/>
          <p:nvPr/>
        </p:nvSpPr>
        <p:spPr>
          <a:xfrm>
            <a:off x="2195432"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42" name="矩形: 圓角 41">
            <a:extLst>
              <a:ext uri="{FF2B5EF4-FFF2-40B4-BE49-F238E27FC236}">
                <a16:creationId xmlns:a16="http://schemas.microsoft.com/office/drawing/2014/main" id="{CB17FF31-7B4E-1DB9-4928-C09524069C4F}"/>
              </a:ext>
            </a:extLst>
          </p:cNvPr>
          <p:cNvSpPr/>
          <p:nvPr/>
        </p:nvSpPr>
        <p:spPr>
          <a:xfrm>
            <a:off x="2848865" y="2287360"/>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pic>
        <p:nvPicPr>
          <p:cNvPr id="5" name="圖片 4">
            <a:extLst>
              <a:ext uri="{FF2B5EF4-FFF2-40B4-BE49-F238E27FC236}">
                <a16:creationId xmlns:a16="http://schemas.microsoft.com/office/drawing/2014/main" id="{76885F05-0DA8-CE70-AA25-3ADBB1FDA917}"/>
              </a:ext>
            </a:extLst>
          </p:cNvPr>
          <p:cNvPicPr>
            <a:picLocks noChangeAspect="1"/>
          </p:cNvPicPr>
          <p:nvPr/>
        </p:nvPicPr>
        <p:blipFill>
          <a:blip r:embed="rId2"/>
          <a:stretch>
            <a:fillRect/>
          </a:stretch>
        </p:blipFill>
        <p:spPr>
          <a:xfrm>
            <a:off x="6046846" y="2833597"/>
            <a:ext cx="2549271" cy="1190806"/>
          </a:xfrm>
          <a:prstGeom prst="rect">
            <a:avLst/>
          </a:prstGeom>
        </p:spPr>
      </p:pic>
      <p:pic>
        <p:nvPicPr>
          <p:cNvPr id="10" name="圖片 9">
            <a:extLst>
              <a:ext uri="{FF2B5EF4-FFF2-40B4-BE49-F238E27FC236}">
                <a16:creationId xmlns:a16="http://schemas.microsoft.com/office/drawing/2014/main" id="{E535C448-D1CC-9527-76B8-C6DC51DEC44A}"/>
              </a:ext>
            </a:extLst>
          </p:cNvPr>
          <p:cNvPicPr>
            <a:picLocks noChangeAspect="1"/>
          </p:cNvPicPr>
          <p:nvPr/>
        </p:nvPicPr>
        <p:blipFill>
          <a:blip r:embed="rId3"/>
          <a:stretch>
            <a:fillRect/>
          </a:stretch>
        </p:blipFill>
        <p:spPr>
          <a:xfrm>
            <a:off x="6046846" y="1693716"/>
            <a:ext cx="2429214" cy="581106"/>
          </a:xfrm>
          <a:prstGeom prst="rect">
            <a:avLst/>
          </a:prstGeom>
        </p:spPr>
      </p:pic>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ED113-4CF9-E69D-FAB3-54656BEC3B51}"/>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DE898186-7DCE-3EBE-FDE7-B0534DB6DD62}"/>
              </a:ext>
            </a:extLst>
          </p:cNvPr>
          <p:cNvSpPr txBox="1">
            <a:spLocks/>
          </p:cNvSpPr>
          <p:nvPr/>
        </p:nvSpPr>
        <p:spPr>
          <a:xfrm>
            <a:off x="323528" y="104072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52FA1EEE-129C-BCE0-312C-9A0C6BD408CF}"/>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E20E731-3577-FBD9-280F-7CD599EDA8C9}"/>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sp>
        <p:nvSpPr>
          <p:cNvPr id="4" name="標題 1">
            <a:extLst>
              <a:ext uri="{FF2B5EF4-FFF2-40B4-BE49-F238E27FC236}">
                <a16:creationId xmlns:a16="http://schemas.microsoft.com/office/drawing/2014/main" id="{7C029B32-8896-76A3-8D5C-A08D91C43953}"/>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2" name="圖片 1">
            <a:extLst>
              <a:ext uri="{FF2B5EF4-FFF2-40B4-BE49-F238E27FC236}">
                <a16:creationId xmlns:a16="http://schemas.microsoft.com/office/drawing/2014/main" id="{AA52D455-78A1-F135-F70C-8D9547FFE8A8}"/>
              </a:ext>
            </a:extLst>
          </p:cNvPr>
          <p:cNvPicPr>
            <a:picLocks noChangeAspect="1"/>
          </p:cNvPicPr>
          <p:nvPr/>
        </p:nvPicPr>
        <p:blipFill>
          <a:blip r:embed="rId2"/>
          <a:stretch>
            <a:fillRect/>
          </a:stretch>
        </p:blipFill>
        <p:spPr>
          <a:xfrm>
            <a:off x="2890837" y="3305175"/>
            <a:ext cx="3362325" cy="257175"/>
          </a:xfrm>
          <a:prstGeom prst="rect">
            <a:avLst/>
          </a:prstGeom>
        </p:spPr>
      </p:pic>
    </p:spTree>
    <p:extLst>
      <p:ext uri="{BB962C8B-B14F-4D97-AF65-F5344CB8AC3E}">
        <p14:creationId xmlns:p14="http://schemas.microsoft.com/office/powerpoint/2010/main" val="336939123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pic>
        <p:nvPicPr>
          <p:cNvPr id="27" name="圖片 26">
            <a:extLst>
              <a:ext uri="{FF2B5EF4-FFF2-40B4-BE49-F238E27FC236}">
                <a16:creationId xmlns:a16="http://schemas.microsoft.com/office/drawing/2014/main" id="{A51DF9BD-7D31-8D66-7F4A-B7645A594777}"/>
              </a:ext>
            </a:extLst>
          </p:cNvPr>
          <p:cNvPicPr>
            <a:picLocks noChangeAspect="1"/>
          </p:cNvPicPr>
          <p:nvPr/>
        </p:nvPicPr>
        <p:blipFill>
          <a:blip r:embed="rId2"/>
          <a:stretch>
            <a:fillRect/>
          </a:stretch>
        </p:blipFill>
        <p:spPr>
          <a:xfrm>
            <a:off x="495743" y="441496"/>
            <a:ext cx="6858000" cy="4263716"/>
          </a:xfrm>
          <a:prstGeom prst="rect">
            <a:avLst/>
          </a:prstGeom>
        </p:spPr>
      </p:pic>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445</TotalTime>
  <Words>4898</Words>
  <Application>Microsoft Office PowerPoint</Application>
  <PresentationFormat>如螢幕大小 (4:3)</PresentationFormat>
  <Paragraphs>834</Paragraphs>
  <Slides>22</Slides>
  <Notes>12</Notes>
  <HiddenSlides>1</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22</vt:i4>
      </vt:variant>
    </vt:vector>
  </HeadingPairs>
  <TitlesOfParts>
    <vt:vector size="32" baseType="lpstr">
      <vt:lpstr>Google Sans</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1873</cp:revision>
  <cp:lastPrinted>2024-07-30T01:44:15Z</cp:lastPrinted>
  <dcterms:created xsi:type="dcterms:W3CDTF">2019-11-08T03:01:47Z</dcterms:created>
  <dcterms:modified xsi:type="dcterms:W3CDTF">2026-08-26T09:37:20Z</dcterms:modified>
</cp:coreProperties>
</file>