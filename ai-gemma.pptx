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modernComment_D5C_E5DE535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3459" r:id="rId2"/>
    <p:sldId id="3472" r:id="rId3"/>
    <p:sldId id="3500" r:id="rId4"/>
    <p:sldId id="3499" r:id="rId5"/>
    <p:sldId id="3493" r:id="rId6"/>
    <p:sldId id="3498" r:id="rId7"/>
    <p:sldId id="3477" r:id="rId8"/>
    <p:sldId id="3501" r:id="rId9"/>
    <p:sldId id="3495" r:id="rId10"/>
    <p:sldId id="3476" r:id="rId11"/>
    <p:sldId id="3496" r:id="rId12"/>
    <p:sldId id="3475" r:id="rId13"/>
    <p:sldId id="3470" r:id="rId14"/>
    <p:sldId id="3471" r:id="rId15"/>
    <p:sldId id="3483" r:id="rId16"/>
    <p:sldId id="3465" r:id="rId17"/>
    <p:sldId id="3482" r:id="rId18"/>
    <p:sldId id="3481" r:id="rId19"/>
    <p:sldId id="3489" r:id="rId20"/>
    <p:sldId id="3490" r:id="rId21"/>
    <p:sldId id="3491" r:id="rId22"/>
    <p:sldId id="3461" r:id="rId23"/>
    <p:sldId id="3462" r:id="rId24"/>
    <p:sldId id="3420" r:id="rId25"/>
    <p:sldId id="3460" r:id="rId2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0"/>
            <p14:sldId id="3499"/>
            <p14:sldId id="3493"/>
            <p14:sldId id="3498"/>
            <p14:sldId id="3477"/>
            <p14:sldId id="3501"/>
            <p14:sldId id="3495"/>
            <p14:sldId id="3476"/>
            <p14:sldId id="3496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83"/>
          </p14:sldIdLst>
        </p14:section>
        <p14:section name="Gemma 4" id="{5A048767-0D58-44AF-B962-12C29493294F}">
          <p14:sldIdLst>
            <p14:sldId id="3465"/>
            <p14:sldId id="3482"/>
            <p14:sldId id="3481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CCCC"/>
    <a:srgbClr val="FFDDDD"/>
    <a:srgbClr val="F2DCDB"/>
    <a:srgbClr val="DBFF94"/>
    <a:srgbClr val="CCFF66"/>
    <a:srgbClr val="FFFFFF"/>
    <a:srgbClr val="D7E7F7"/>
    <a:srgbClr val="DCE6F2"/>
    <a:srgbClr val="558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541" autoAdjust="0"/>
    <p:restoredTop sz="66455" autoAdjust="0"/>
  </p:normalViewPr>
  <p:slideViewPr>
    <p:cSldViewPr>
      <p:cViewPr varScale="1">
        <p:scale>
          <a:sx n="97" d="100"/>
          <a:sy n="97" d="100"/>
        </p:scale>
        <p:origin x="396" y="96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omments/modernComment_D5C_E5DE535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D91993-94B2-4C7B-9CD5-D9F83EC3A14C}" authorId="{DEF1DDEA-D49D-B2A5-9D83-8BDFFC6C721F}" created="2026-05-20T02:48:48.86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replyLst>
      <p188:reply id="{C66D0F87-A191-45F6-AD31-11862F22856F}" authorId="{DEF1DDEA-D49D-B2A5-9D83-8BDFFC6C721F}" created="2026-05-20T02:52:24.406">
        <p188:txBody>
          <a:bodyPr/>
          <a:lstStyle/>
          <a:p>
            <a:r>
              <a:rPr lang="zh-TW" altLang="en-US"/>
              <a:t>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    </a:r>
          </a:p>
        </p188:txBody>
      </p188:reply>
    </p188:replyLst>
    <p188:txBody>
      <a:bodyPr/>
      <a:lstStyle/>
      <a:p>
        <a:r>
          <a:rPr lang="zh-TW" altLang="en-US"/>
          <a:t>一、 Edge AI 晶片的硬體成本結構（BOM 結構）
Edge AI 晶片通常以 SoC（系統單晶片） 或 Chiplet（小晶片封裝） 的形式存在。一顆 Edge AI 晶片的硬體製造總成本，主要由以下四大核心區塊組成： 
成本組成項目估計佔比核心說明與成本驅動因子
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</a:r>
      </a:p>
    </p188:txBody>
  </p188:cm>
  <p188:cm id="{FFC719A7-4826-4636-A3DD-EE1595D91AE4}" authorId="{DEF1DDEA-D49D-B2A5-9D83-8BDFFC6C721F}" created="2026-05-20T02:49:34.73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txBody>
      <a:bodyPr/>
      <a:lstStyle/>
      <a:p>
        <a:r>
          <a:rPr lang="zh-TW" altLang="en-US"/>
          <a:t>二、 晶片的晶圓晶粒（Die）內部面積結構分析）
如果將晶片放大來看，在矽晶圓的「晶粒面積（Die Area）」分配上，Edge AI 晶片呈現顯著的「記憶體與算力高度拉鋸」特徵。
記憶體佔地極大（SRAM / Cache, 約 40% - 50%）：AI 推論（Inference）需要频繁讀取權重（Weights）。
為了減少節能殺手——「離開晶片去抓外部記憶體資料」的功耗，設計師會把大量的晶片面積留給片上緩存（On-chip SRAM）。
神經網路加速核心（NPU, 約 25% - 35%）：專門用來執行大量矩陣乘法與累積運算（MAC Array）的硬體電路，是晶片能效比（TOPS/W）的關鍵。
控制與多媒體核心（CPU/DSP/ISP, 約 15% - 20%）：負責系統排程（如 Arm 核心）以及影像訊號預處理（ISP）、音訊處理等。 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F09-836B-611E-3920-7AE3A67C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39D021-C0AF-0091-D6F8-0073EB4AD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A4D7BA-4AD0-4EE9-48E0-98B1C61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4A41B9-0B71-33D1-6ED3-C2CF20F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53085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</a:t>
            </a:r>
            <a:r>
              <a:rPr kumimoji="0" lang="en-US" altLang="zh-TW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eXchange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FAA1E-56BC-D631-EE5A-F43AB5CE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1265DBB-4CDC-6F76-7DF5-25427E386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7D576EE-A100-31ED-76E6-B67536D7D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B87D88-088F-6B6F-DAC9-5A12BE7C9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3073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FEF13-C7CE-9DC3-BC1C-2EEAD6D1E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4179AD2-9CFC-A048-FBA4-69F715624A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BD3BB64-F223-FB6E-FEEF-14EA11AB0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A5BC59-2702-7B7B-F78C-61EEB91CCB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07025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BDA2-5CC6-68DA-B9E1-9325B03C4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9D0FE7D-F083-76CB-66F6-B906138D5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329A2D0-F1DE-7F9D-85D1-793C18C1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半導體製造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封測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電路板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被動元件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/>
          </a:p>
          <a:p>
            <a:r>
              <a:rPr lang="en-US" altLang="zh-TW" dirty="0"/>
              <a:t>Multi GPU </a:t>
            </a:r>
            <a:r>
              <a:rPr lang="en-US" altLang="zh-TW" dirty="0">
                <a:sym typeface="Wingdings" panose="05000000000000000000" pitchFamily="2" charset="2"/>
              </a:rPr>
              <a:t> HBM  CoWoS/CoPos   CPO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WSE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TPU / AI CHIP</a:t>
            </a:r>
          </a:p>
          <a:p>
            <a:r>
              <a:rPr lang="en-US" altLang="zh-TW" dirty="0">
                <a:sym typeface="Wingdings" panose="05000000000000000000" pitchFamily="2" charset="2"/>
              </a:rPr>
              <a:t>CoWoS  PCB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CCL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MLCC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en-US" altLang="zh-TW" dirty="0">
                <a:sym typeface="Wingdings" panose="05000000000000000000" pitchFamily="2" charset="2"/>
              </a:rPr>
              <a:t>HBM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CPO</a:t>
            </a:r>
          </a:p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）是PCB的核心基礎材料，約占PCB成本的40%。</a:t>
            </a:r>
            <a:endParaRPr lang="en-US" altLang="zh-TW" dirty="0"/>
          </a:p>
          <a:p>
            <a:r>
              <a:rPr lang="zh-TW" altLang="zh-TW" dirty="0"/>
              <a:t>其結構猶如「夾心餅乾」，由外層的導電銅箔，與中間夾層的「絕緣補強材料（如玻璃纖維布）」加「樹脂」高溫高壓貼合而成。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銅箔基板的組成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 (約占 40%)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導電層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樹脂 (約占 30%)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絕緣體提供耐熱性與黏合力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補強材料 (約占 30%)</a:t>
            </a:r>
            <a:r>
              <a:rPr lang="zh-TW" altLang="zh-TW" dirty="0"/>
              <a:t>：通常為玻璃纖維布</a:t>
            </a:r>
            <a:r>
              <a:rPr lang="en-US" altLang="zh-TW" dirty="0"/>
              <a:t>.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台廠 CCL 龍頭（概念股）</a:t>
            </a:r>
            <a:r>
              <a:rPr lang="zh-TW" altLang="zh-TW" dirty="0"/>
              <a:t>：包含台光電 (2383)、台燿 (6274)、聯茂 (6213)，以及南亞 (1303) 等。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隨著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伺服器</a:t>
            </a:r>
            <a:r>
              <a:rPr lang="zh-TW" altLang="zh-TW" dirty="0"/>
              <a:t>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5G/高速通訊</a:t>
            </a:r>
            <a:r>
              <a:rPr lang="zh-TW" altLang="zh-TW" dirty="0"/>
              <a:t>快速發展，傳統消費電子的板材已無法負荷龐大的資料傳輸量與高發熱量。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規格升級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AI 伺服器對 CCL 的用量是傳統伺服器的 5 至 7 倍，且「低損耗（Low Loss / M8-M9等級）」材料以避免訊號干擾。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長線商機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CCL 認證門檻高、驗證週期長（通常需 2~3 年），因此一旦打入特定供應鏈，訂單穩定度與毛利率皆相當可觀。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dirty="0"/>
              <a:t>紙質酚醛基板</a:t>
            </a:r>
            <a:r>
              <a:rPr lang="en-US" altLang="zh-TW" dirty="0"/>
              <a:t>(CCL/FR-1)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複合基板</a:t>
            </a:r>
            <a:r>
              <a:rPr lang="en-US" altLang="zh-TW" dirty="0">
                <a:sym typeface="Wingdings" panose="05000000000000000000" pitchFamily="2" charset="2"/>
              </a:rPr>
              <a:t>(CEM),</a:t>
            </a:r>
            <a:r>
              <a:rPr lang="zh-TW" altLang="en-US" dirty="0">
                <a:sym typeface="Wingdings" panose="05000000000000000000" pitchFamily="2" charset="2"/>
              </a:rPr>
              <a:t>玻璃纖維</a:t>
            </a:r>
            <a:r>
              <a:rPr lang="en-US" altLang="zh-TW" dirty="0">
                <a:sym typeface="Wingdings" panose="05000000000000000000" pitchFamily="2" charset="2"/>
              </a:rPr>
              <a:t>(FR-4)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ABF</a:t>
            </a:r>
            <a:r>
              <a:rPr lang="zh-TW" altLang="en-US" dirty="0">
                <a:sym typeface="Wingdings" panose="05000000000000000000" pitchFamily="2" charset="2"/>
              </a:rPr>
              <a:t>載板</a:t>
            </a:r>
            <a:r>
              <a:rPr lang="en-US" altLang="zh-TW" dirty="0">
                <a:sym typeface="Wingdings" panose="05000000000000000000" pitchFamily="2" charset="2"/>
              </a:rPr>
              <a:t>(</a:t>
            </a:r>
            <a:r>
              <a:rPr lang="zh-TW" altLang="zh-TW" dirty="0"/>
              <a:t>在絕緣層上精準電鍍「長」出線路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zh-TW" dirty="0"/>
              <a:t>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玻璃基板（TGV）</a:t>
            </a:r>
            <a:r>
              <a:rPr lang="zh-TW" altLang="zh-TW" dirty="0"/>
              <a:t>」封裝技術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紙質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易碎、耐熱差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玻璃纖維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強韌、耐熱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高階塑膠/樹脂變革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高速、低損耗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純玻璃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極平整、半導體級微細線路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027E21-4B37-188C-8748-204EF3A48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7365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半導體製造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封測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電路板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被動元件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/>
          </a:p>
          <a:p>
            <a:r>
              <a:rPr lang="en-US" altLang="zh-TW" dirty="0"/>
              <a:t>Multi GPU </a:t>
            </a:r>
            <a:r>
              <a:rPr lang="en-US" altLang="zh-TW" dirty="0">
                <a:sym typeface="Wingdings" panose="05000000000000000000" pitchFamily="2" charset="2"/>
              </a:rPr>
              <a:t> HBM  CoWoS/CoPos   CPO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WSE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TPU / AI CHIP</a:t>
            </a:r>
          </a:p>
          <a:p>
            <a:r>
              <a:rPr lang="en-US" altLang="zh-TW" dirty="0">
                <a:sym typeface="Wingdings" panose="05000000000000000000" pitchFamily="2" charset="2"/>
              </a:rPr>
              <a:t>CoWoS  PCB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CCL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MLCC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en-US" altLang="zh-TW" dirty="0">
                <a:sym typeface="Wingdings" panose="05000000000000000000" pitchFamily="2" charset="2"/>
              </a:rPr>
              <a:t>HBM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CPO</a:t>
            </a:r>
          </a:p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）是PCB的核心基礎材料，約占PCB成本的40%。</a:t>
            </a:r>
            <a:endParaRPr lang="en-US" altLang="zh-TW" dirty="0"/>
          </a:p>
          <a:p>
            <a:r>
              <a:rPr lang="zh-TW" altLang="zh-TW" dirty="0"/>
              <a:t>其結構猶如「夾心餅乾」，由外層的導電銅箔，與中間夾層的「絕緣補強材料（如玻璃纖維布）」加「樹脂」高溫高壓貼合而成。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銅箔基板的組成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 (約占 40%)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導電層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樹脂 (約占 30%)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絕緣體提供耐熱性與黏合力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補強材料 (約占 30%)</a:t>
            </a:r>
            <a:r>
              <a:rPr lang="zh-TW" altLang="zh-TW" dirty="0"/>
              <a:t>：通常為玻璃纖維布</a:t>
            </a:r>
            <a:r>
              <a:rPr lang="en-US" altLang="zh-TW" dirty="0"/>
              <a:t>.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台廠 CCL 龍頭（概念股）</a:t>
            </a:r>
            <a:r>
              <a:rPr lang="zh-TW" altLang="zh-TW" dirty="0"/>
              <a:t>：包含台光電 (2383)、台燿 (6274)、聯茂 (6213)，以及南亞 (1303) 等。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隨著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伺服器</a:t>
            </a:r>
            <a:r>
              <a:rPr lang="zh-TW" altLang="zh-TW" dirty="0"/>
              <a:t>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5G/高速通訊</a:t>
            </a:r>
            <a:r>
              <a:rPr lang="zh-TW" altLang="zh-TW" dirty="0"/>
              <a:t>快速發展，傳統消費電子的板材已無法負荷龐大的資料傳輸量與高發熱量。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規格升級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AI 伺服器對 CCL 的用量是傳統伺服器的 5 至 7 倍，且「低損耗（Low Loss / M8-M9等級）」材料以避免訊號干擾。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長線商機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CCL 認證門檻高、驗證週期長（通常需 2~3 年），因此一旦打入特定供應鏈，訂單穩定度與毛利率皆相當可觀。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dirty="0"/>
              <a:t>紙質酚醛基板</a:t>
            </a:r>
            <a:r>
              <a:rPr lang="en-US" altLang="zh-TW" dirty="0"/>
              <a:t>(CCL/FR-1)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複合基板</a:t>
            </a:r>
            <a:r>
              <a:rPr lang="en-US" altLang="zh-TW" dirty="0">
                <a:sym typeface="Wingdings" panose="05000000000000000000" pitchFamily="2" charset="2"/>
              </a:rPr>
              <a:t>(CEM),</a:t>
            </a:r>
            <a:r>
              <a:rPr lang="zh-TW" altLang="en-US" dirty="0">
                <a:sym typeface="Wingdings" panose="05000000000000000000" pitchFamily="2" charset="2"/>
              </a:rPr>
              <a:t>玻璃纖維</a:t>
            </a:r>
            <a:r>
              <a:rPr lang="en-US" altLang="zh-TW" dirty="0">
                <a:sym typeface="Wingdings" panose="05000000000000000000" pitchFamily="2" charset="2"/>
              </a:rPr>
              <a:t>(FR-4)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ABF</a:t>
            </a:r>
            <a:r>
              <a:rPr lang="zh-TW" altLang="en-US" dirty="0">
                <a:sym typeface="Wingdings" panose="05000000000000000000" pitchFamily="2" charset="2"/>
              </a:rPr>
              <a:t>載板</a:t>
            </a:r>
            <a:r>
              <a:rPr lang="en-US" altLang="zh-TW" dirty="0">
                <a:sym typeface="Wingdings" panose="05000000000000000000" pitchFamily="2" charset="2"/>
              </a:rPr>
              <a:t>(</a:t>
            </a:r>
            <a:r>
              <a:rPr lang="zh-TW" altLang="zh-TW" dirty="0"/>
              <a:t>在絕緣層上精準電鍍「長」出線路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zh-TW" dirty="0"/>
              <a:t>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玻璃基板（TGV）</a:t>
            </a:r>
            <a:r>
              <a:rPr lang="zh-TW" altLang="zh-TW" dirty="0"/>
              <a:t>」封裝技術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紙質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易碎、耐熱差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玻璃纖維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強韌、耐熱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高階塑膠/樹脂變革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高速、低損耗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純玻璃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極平整、半導體級微細線路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8B3D8-A65A-8DC3-8125-3CF44F128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06C11EF-5DF2-9D2F-8C51-7239C10B2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09910A7-45D7-E240-8ACE-A65E4F59C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引發的趨勢討論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7B77A-B900-F0BB-5F92-0973EEDC0A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6601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176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D5C_E5DE5358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498598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Overview of AI Trends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(Trend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of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Cloud Service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and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Edge AI)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Stack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(Edge AI = Data + Model +  Infrastructure)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Ecosystem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(Ecosystem in Edge AI Layers)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Framewoks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LM Studio/Jan, vLLM)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Adapter Tunning, Prompt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Tunning)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Hardware Solution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(-)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Summary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(-)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24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Architecture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Multi Modal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-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(Standard Dense Transformer vs Mixture of Experts)</a:t>
            </a:r>
            <a:endParaRPr lang="en-US" altLang="zh-TW" sz="14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2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6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0" dur="5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2" dur="20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E70E9-59B0-0AE4-9AC1-6010B9481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3215ADF-A88C-7467-4400-8CEBF0272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983" y="1209964"/>
            <a:ext cx="7956018" cy="4426028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29D07EE-B055-65C4-2923-CB5F40B25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795538"/>
              </p:ext>
            </p:extLst>
          </p:nvPr>
        </p:nvGraphicFramePr>
        <p:xfrm>
          <a:off x="179512" y="3935492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AD8F2F6-B681-06D9-65BB-95E036E10D82}"/>
              </a:ext>
            </a:extLst>
          </p:cNvPr>
          <p:cNvGraphicFramePr>
            <a:graphicFrameLocks noGrp="1"/>
          </p:cNvGraphicFramePr>
          <p:nvPr/>
        </p:nvGraphicFramePr>
        <p:xfrm>
          <a:off x="2555776" y="3905429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HuggingFace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 Transformer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86EBB9C-C627-7063-A55F-5AC28670B109}"/>
              </a:ext>
            </a:extLst>
          </p:cNvPr>
          <p:cNvGraphicFramePr>
            <a:graphicFrameLocks noGrp="1"/>
          </p:cNvGraphicFramePr>
          <p:nvPr/>
        </p:nvGraphicFramePr>
        <p:xfrm>
          <a:off x="2555776" y="5150203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1E2A88FD-36C0-356D-D78E-15264982819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Edge 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LLMs integrate and share data with external tools, systems, and data sources?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61BF41E7-DEE5-3BE6-3671-5C327E6F9C2F}"/>
              </a:ext>
            </a:extLst>
          </p:cNvPr>
          <p:cNvSpPr/>
          <p:nvPr/>
        </p:nvSpPr>
        <p:spPr>
          <a:xfrm>
            <a:off x="5436096" y="5635992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999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雲朵形 50">
            <a:extLst>
              <a:ext uri="{FF2B5EF4-FFF2-40B4-BE49-F238E27FC236}">
                <a16:creationId xmlns:a16="http://schemas.microsoft.com/office/drawing/2014/main" id="{068ED43E-E3BC-FB12-2DE6-452E2E4EDCB0}"/>
              </a:ext>
            </a:extLst>
          </p:cNvPr>
          <p:cNvSpPr/>
          <p:nvPr/>
        </p:nvSpPr>
        <p:spPr>
          <a:xfrm>
            <a:off x="1403648" y="1340768"/>
            <a:ext cx="1627471" cy="1265520"/>
          </a:xfrm>
          <a:prstGeom prst="cloud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508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dirty="0">
              <a:solidFill>
                <a:schemeClr val="tx2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188092" cy="1800199"/>
          </a:xfrm>
          <a:prstGeom prst="rect">
            <a:avLst/>
          </a:prstGeom>
          <a:noFill/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</a:t>
            </a:r>
            <a:r>
              <a:rPr lang="en-US" altLang="zh-TW" sz="1200" dirty="0" err="1"/>
              <a:t>openclaw</a:t>
            </a:r>
            <a:r>
              <a:rPr lang="en-US" altLang="zh-TW" sz="1200" dirty="0"/>
              <a:t>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3990257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07051" y="4082291"/>
            <a:ext cx="945255" cy="21080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 A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192738" y="2801375"/>
            <a:ext cx="1397493" cy="35532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accent2">
                    <a:lumMod val="50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accent2">
                    <a:lumMod val="50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</a:t>
            </a:r>
            <a:endParaRPr lang="en-US" altLang="zh-TW" sz="1200" u="none" strike="noStrike" dirty="0">
              <a:solidFill>
                <a:schemeClr val="accent2">
                  <a:lumMod val="50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FB38D73D-9C01-FAE5-85E0-019606FA4BF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631040" y="4555605"/>
            <a:ext cx="881037" cy="3569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接點: 肘形 34">
            <a:extLst>
              <a:ext uri="{FF2B5EF4-FFF2-40B4-BE49-F238E27FC236}">
                <a16:creationId xmlns:a16="http://schemas.microsoft.com/office/drawing/2014/main" id="{C659B227-CC2C-757C-726E-27D3DCC89FF7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2232789" y="2397386"/>
            <a:ext cx="1835197" cy="359881"/>
          </a:xfrm>
          <a:prstGeom prst="bentConnector2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73958" y="3501008"/>
            <a:ext cx="5721" cy="581283"/>
          </a:xfrm>
          <a:prstGeom prst="straightConnector1">
            <a:avLst/>
          </a:prstGeom>
          <a:ln w="254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8A2525CD-758F-635A-3869-BFF3A7806AF4}"/>
              </a:ext>
            </a:extLst>
          </p:cNvPr>
          <p:cNvSpPr txBox="1"/>
          <p:nvPr/>
        </p:nvSpPr>
        <p:spPr>
          <a:xfrm>
            <a:off x="4127941" y="1988840"/>
            <a:ext cx="516067" cy="18678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000" dirty="0">
                <a:solidFill>
                  <a:schemeClr val="accent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Temp?</a:t>
            </a:r>
            <a:endParaRPr lang="en-US" altLang="zh-TW" sz="1200" u="none" strike="noStrike" dirty="0">
              <a:solidFill>
                <a:schemeClr val="accent2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70" name="接點: 肘形 69">
            <a:extLst>
              <a:ext uri="{FF2B5EF4-FFF2-40B4-BE49-F238E27FC236}">
                <a16:creationId xmlns:a16="http://schemas.microsoft.com/office/drawing/2014/main" id="{46072A16-7BB4-826D-6FDA-8818561156C3}"/>
              </a:ext>
            </a:extLst>
          </p:cNvPr>
          <p:cNvCxnSpPr>
            <a:cxnSpLocks/>
            <a:stCxn id="159" idx="3"/>
            <a:endCxn id="87" idx="1"/>
          </p:cNvCxnSpPr>
          <p:nvPr/>
        </p:nvCxnSpPr>
        <p:spPr>
          <a:xfrm>
            <a:off x="2915816" y="1872042"/>
            <a:ext cx="1943583" cy="347117"/>
          </a:xfrm>
          <a:prstGeom prst="bentConnector3">
            <a:avLst>
              <a:gd name="adj1" fmla="val 50000"/>
            </a:avLst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558BEFB3-64A2-FDF0-27F1-906FBF0A0F36}"/>
              </a:ext>
            </a:extLst>
          </p:cNvPr>
          <p:cNvSpPr txBox="1"/>
          <p:nvPr/>
        </p:nvSpPr>
        <p:spPr>
          <a:xfrm>
            <a:off x="503882" y="5463202"/>
            <a:ext cx="936104" cy="3331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今天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r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度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</a:t>
            </a:r>
            <a:endParaRPr lang="en-US" altLang="zh-TW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4C59B46F-5C8A-C1AB-307A-5D399374E91C}"/>
              </a:ext>
            </a:extLst>
          </p:cNvPr>
          <p:cNvCxnSpPr>
            <a:cxnSpLocks/>
            <a:stCxn id="144" idx="0"/>
            <a:endCxn id="137" idx="2"/>
          </p:cNvCxnSpPr>
          <p:nvPr/>
        </p:nvCxnSpPr>
        <p:spPr>
          <a:xfrm flipV="1">
            <a:off x="4376493" y="5743363"/>
            <a:ext cx="3186" cy="189722"/>
          </a:xfrm>
          <a:prstGeom prst="straightConnector1">
            <a:avLst/>
          </a:prstGeom>
          <a:ln w="254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4E5935D8-6E03-B021-5C75-9C2435713D8E}"/>
              </a:ext>
            </a:extLst>
          </p:cNvPr>
          <p:cNvSpPr txBox="1"/>
          <p:nvPr/>
        </p:nvSpPr>
        <p:spPr>
          <a:xfrm>
            <a:off x="210154" y="6113557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6276" y="5505538"/>
            <a:ext cx="485643" cy="485643"/>
          </a:xfrm>
          <a:prstGeom prst="rect">
            <a:avLst/>
          </a:prstGeom>
        </p:spPr>
      </p:pic>
      <p:pic>
        <p:nvPicPr>
          <p:cNvPr id="26" name="圖形 25" descr="伺服器 以實心填滿">
            <a:extLst>
              <a:ext uri="{FF2B5EF4-FFF2-40B4-BE49-F238E27FC236}">
                <a16:creationId xmlns:a16="http://schemas.microsoft.com/office/drawing/2014/main" id="{42C603E8-809E-EDD7-C58B-7B86903523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58819" y="5967534"/>
            <a:ext cx="379782" cy="379782"/>
          </a:xfrm>
          <a:prstGeom prst="rect">
            <a:avLst/>
          </a:prstGeom>
        </p:spPr>
      </p:pic>
      <p:pic>
        <p:nvPicPr>
          <p:cNvPr id="28" name="圖形 27" descr="同步雲端 以實心填滿">
            <a:extLst>
              <a:ext uri="{FF2B5EF4-FFF2-40B4-BE49-F238E27FC236}">
                <a16:creationId xmlns:a16="http://schemas.microsoft.com/office/drawing/2014/main" id="{F40A5433-535B-BEEE-C683-79B4F891F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4464" y="5914605"/>
            <a:ext cx="485643" cy="485643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97968" y="6040155"/>
            <a:ext cx="481201" cy="379783"/>
          </a:xfrm>
          <a:prstGeom prst="rect">
            <a:avLst/>
          </a:prstGeom>
        </p:spPr>
      </p:pic>
      <p:pic>
        <p:nvPicPr>
          <p:cNvPr id="40" name="圖形 39" descr="溫度計 以實心填滿">
            <a:extLst>
              <a:ext uri="{FF2B5EF4-FFF2-40B4-BE49-F238E27FC236}">
                <a16:creationId xmlns:a16="http://schemas.microsoft.com/office/drawing/2014/main" id="{5BFD1D44-5ED5-D6F4-BE72-542CEB936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43612" y="6020465"/>
            <a:ext cx="481201" cy="379783"/>
          </a:xfrm>
          <a:prstGeom prst="rect">
            <a:avLst/>
          </a:prstGeom>
        </p:spPr>
      </p:pic>
      <p:pic>
        <p:nvPicPr>
          <p:cNvPr id="43" name="圖形 42" descr="太陽從雲後面照出來">
            <a:extLst>
              <a:ext uri="{FF2B5EF4-FFF2-40B4-BE49-F238E27FC236}">
                <a16:creationId xmlns:a16="http://schemas.microsoft.com/office/drawing/2014/main" id="{0E17B41B-9979-F069-0495-79BC3FD82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53753" y="4851973"/>
            <a:ext cx="604171" cy="604171"/>
          </a:xfrm>
          <a:prstGeom prst="rect">
            <a:avLst/>
          </a:prstGeom>
        </p:spPr>
      </p:pic>
      <p:pic>
        <p:nvPicPr>
          <p:cNvPr id="50" name="圖形 49" descr="報紙 外框">
            <a:extLst>
              <a:ext uri="{FF2B5EF4-FFF2-40B4-BE49-F238E27FC236}">
                <a16:creationId xmlns:a16="http://schemas.microsoft.com/office/drawing/2014/main" id="{D544067D-56BE-9E4F-44CF-B80169926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77267" y="4960117"/>
            <a:ext cx="914400" cy="914400"/>
          </a:xfrm>
          <a:prstGeom prst="rect">
            <a:avLst/>
          </a:prstGeom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41184" y="4518174"/>
            <a:ext cx="379782" cy="379782"/>
          </a:xfrm>
          <a:prstGeom prst="rect">
            <a:avLst/>
          </a:prstGeom>
        </p:spPr>
      </p:pic>
      <p:pic>
        <p:nvPicPr>
          <p:cNvPr id="120" name="圖形 119" descr="光圈 以實心填滿">
            <a:extLst>
              <a:ext uri="{FF2B5EF4-FFF2-40B4-BE49-F238E27FC236}">
                <a16:creationId xmlns:a16="http://schemas.microsoft.com/office/drawing/2014/main" id="{9B7D0803-C087-DB53-0CB0-769A853DB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52889" y="5262715"/>
            <a:ext cx="636692" cy="636692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8179523" y="3680243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7235814" y="2220502"/>
            <a:ext cx="9594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F4C778D-1FFF-0FAF-A559-B43E9DEA137C}"/>
              </a:ext>
            </a:extLst>
          </p:cNvPr>
          <p:cNvSpPr/>
          <p:nvPr/>
        </p:nvSpPr>
        <p:spPr>
          <a:xfrm>
            <a:off x="6222357" y="197990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alpha val="7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Server B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30" name="圖形 29" descr="資料庫 以實心填滿">
            <a:extLst>
              <a:ext uri="{FF2B5EF4-FFF2-40B4-BE49-F238E27FC236}">
                <a16:creationId xmlns:a16="http://schemas.microsoft.com/office/drawing/2014/main" id="{14FBFD84-33B9-9F18-7978-B94121B18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88421" y="3313334"/>
            <a:ext cx="481201" cy="394759"/>
          </a:xfrm>
          <a:prstGeom prst="rect">
            <a:avLst/>
          </a:prstGeom>
        </p:spPr>
      </p:pic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357" y="2023366"/>
            <a:ext cx="379782" cy="379782"/>
          </a:xfrm>
          <a:prstGeom prst="rect">
            <a:avLst/>
          </a:prstGeom>
        </p:spPr>
      </p:pic>
      <p:pic>
        <p:nvPicPr>
          <p:cNvPr id="36" name="圖形 35" descr="雲層雷雨交加 以實心填滿">
            <a:extLst>
              <a:ext uri="{FF2B5EF4-FFF2-40B4-BE49-F238E27FC236}">
                <a16:creationId xmlns:a16="http://schemas.microsoft.com/office/drawing/2014/main" id="{4E9EE91E-E0EF-CC40-EBF4-3DAE095D61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78280" y="2007253"/>
            <a:ext cx="481201" cy="485643"/>
          </a:xfrm>
          <a:prstGeom prst="rect">
            <a:avLst/>
          </a:prstGeom>
        </p:spPr>
      </p:pic>
      <p:pic>
        <p:nvPicPr>
          <p:cNvPr id="45" name="圖形 44" descr="網際網路 外框">
            <a:extLst>
              <a:ext uri="{FF2B5EF4-FFF2-40B4-BE49-F238E27FC236}">
                <a16:creationId xmlns:a16="http://schemas.microsoft.com/office/drawing/2014/main" id="{F5DB3747-C9B8-9230-78FC-1AEDA67D6A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78280" y="1384479"/>
            <a:ext cx="451406" cy="451406"/>
          </a:xfrm>
          <a:prstGeom prst="rect">
            <a:avLst/>
          </a:prstGeom>
        </p:spPr>
      </p:pic>
      <p:pic>
        <p:nvPicPr>
          <p:cNvPr id="48" name="圖形 47" descr="報紙 以實心填滿">
            <a:extLst>
              <a:ext uri="{FF2B5EF4-FFF2-40B4-BE49-F238E27FC236}">
                <a16:creationId xmlns:a16="http://schemas.microsoft.com/office/drawing/2014/main" id="{BBB1930B-1925-FAEA-1EC6-BBFACCD820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95254" y="2636912"/>
            <a:ext cx="481202" cy="481201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283339" y="2041037"/>
            <a:ext cx="864389" cy="14377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 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endCxn id="63" idx="3"/>
          </p:cNvCxnSpPr>
          <p:nvPr/>
        </p:nvCxnSpPr>
        <p:spPr>
          <a:xfrm flipH="1">
            <a:off x="7235814" y="2871072"/>
            <a:ext cx="9594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222357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alpha val="7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Server C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357" y="2673936"/>
            <a:ext cx="379782" cy="379782"/>
          </a:xfrm>
          <a:prstGeom prst="rect">
            <a:avLst/>
          </a:prstGeom>
        </p:spPr>
      </p:pic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283339" y="2700572"/>
            <a:ext cx="864389" cy="14377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File</a:t>
            </a:r>
            <a:r>
              <a:rPr lang="zh-TW" altLang="en-US" sz="1000" u="none" strike="noStrike" dirty="0">
                <a:effectLst/>
                <a:ea typeface="Meiryo" panose="020B0604030504040204" pitchFamily="34" charset="-128"/>
              </a:rPr>
              <a:t> </a:t>
            </a: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Systems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endCxn id="67" idx="3"/>
          </p:cNvCxnSpPr>
          <p:nvPr/>
        </p:nvCxnSpPr>
        <p:spPr>
          <a:xfrm flipH="1">
            <a:off x="7235814" y="3516646"/>
            <a:ext cx="9594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222357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alpha val="7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Server D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357" y="3319510"/>
            <a:ext cx="379782" cy="379782"/>
          </a:xfrm>
          <a:prstGeom prst="rect">
            <a:avLst/>
          </a:prstGeom>
        </p:spPr>
      </p:pic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283339" y="3346146"/>
            <a:ext cx="864389" cy="14377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cxnSp>
        <p:nvCxnSpPr>
          <p:cNvPr id="73" name="直線單箭頭接點 72">
            <a:extLst>
              <a:ext uri="{FF2B5EF4-FFF2-40B4-BE49-F238E27FC236}">
                <a16:creationId xmlns:a16="http://schemas.microsoft.com/office/drawing/2014/main" id="{780AEFA0-1842-F105-69F2-ED0EA985EE77}"/>
              </a:ext>
            </a:extLst>
          </p:cNvPr>
          <p:cNvCxnSpPr>
            <a:cxnSpLocks/>
            <a:endCxn id="74" idx="3"/>
          </p:cNvCxnSpPr>
          <p:nvPr/>
        </p:nvCxnSpPr>
        <p:spPr>
          <a:xfrm flipH="1">
            <a:off x="7235814" y="1595285"/>
            <a:ext cx="9594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AB6B4B63-58E9-03A1-C51C-DDC099463D40}"/>
              </a:ext>
            </a:extLst>
          </p:cNvPr>
          <p:cNvSpPr/>
          <p:nvPr/>
        </p:nvSpPr>
        <p:spPr>
          <a:xfrm>
            <a:off x="6222357" y="1354684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alpha val="7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Server A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75" name="圖形 74" descr="伺服器 外框">
            <a:extLst>
              <a:ext uri="{FF2B5EF4-FFF2-40B4-BE49-F238E27FC236}">
                <a16:creationId xmlns:a16="http://schemas.microsoft.com/office/drawing/2014/main" id="{2167F667-1CCF-CB48-FBA9-21404DB9F3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357" y="1398149"/>
            <a:ext cx="379782" cy="379782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F80B9CE8-C367-92C8-C399-C9070E38754B}"/>
              </a:ext>
            </a:extLst>
          </p:cNvPr>
          <p:cNvSpPr txBox="1"/>
          <p:nvPr/>
        </p:nvSpPr>
        <p:spPr>
          <a:xfrm>
            <a:off x="7283339" y="1440224"/>
            <a:ext cx="864389" cy="14377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Web APIs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054B0EA0-D11F-F5BE-9297-8232C7A04B38}"/>
              </a:ext>
            </a:extLst>
          </p:cNvPr>
          <p:cNvSpPr/>
          <p:nvPr/>
        </p:nvSpPr>
        <p:spPr>
          <a:xfrm>
            <a:off x="4859399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Client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59399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Client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59399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Client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E4F50F92-1D25-BE19-FF3D-245AF119BED4}"/>
              </a:ext>
            </a:extLst>
          </p:cNvPr>
          <p:cNvSpPr/>
          <p:nvPr/>
        </p:nvSpPr>
        <p:spPr>
          <a:xfrm>
            <a:off x="4859399" y="1354684"/>
            <a:ext cx="504689" cy="481201"/>
          </a:xfrm>
          <a:prstGeom prst="roundRect">
            <a:avLst>
              <a:gd name="adj" fmla="val 8706"/>
            </a:avLst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Client</a:t>
            </a:r>
            <a:endParaRPr lang="zh-TW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7453C73E-AB71-AB46-0EBB-4A0AFBE899B6}"/>
              </a:ext>
            </a:extLst>
          </p:cNvPr>
          <p:cNvCxnSpPr>
            <a:cxnSpLocks/>
            <a:stCxn id="74" idx="1"/>
            <a:endCxn id="94" idx="3"/>
          </p:cNvCxnSpPr>
          <p:nvPr/>
        </p:nvCxnSpPr>
        <p:spPr>
          <a:xfrm flipH="1">
            <a:off x="5364088" y="1595285"/>
            <a:ext cx="85826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8" idx="1"/>
            <a:endCxn id="87" idx="3"/>
          </p:cNvCxnSpPr>
          <p:nvPr/>
        </p:nvCxnSpPr>
        <p:spPr>
          <a:xfrm flipH="1" flipV="1">
            <a:off x="5364088" y="2219159"/>
            <a:ext cx="858269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364088" y="2869728"/>
            <a:ext cx="858269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364088" y="3515302"/>
            <a:ext cx="858269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E12297C-B764-D763-551B-76627079DF4D}"/>
              </a:ext>
            </a:extLst>
          </p:cNvPr>
          <p:cNvSpPr txBox="1"/>
          <p:nvPr/>
        </p:nvSpPr>
        <p:spPr>
          <a:xfrm>
            <a:off x="5404697" y="1403837"/>
            <a:ext cx="823487" cy="1752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 </a:t>
            </a: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404697" y="2015396"/>
            <a:ext cx="823487" cy="1752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 </a:t>
            </a: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404697" y="2669407"/>
            <a:ext cx="823487" cy="1752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 </a:t>
            </a: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404697" y="3328654"/>
            <a:ext cx="823487" cy="1752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 </a:t>
            </a: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734CEEA9-F6E7-806B-9337-5B08B71594DD}"/>
              </a:ext>
            </a:extLst>
          </p:cNvPr>
          <p:cNvSpPr txBox="1"/>
          <p:nvPr/>
        </p:nvSpPr>
        <p:spPr>
          <a:xfrm>
            <a:off x="3785633" y="5156833"/>
            <a:ext cx="1188092" cy="586530"/>
          </a:xfrm>
          <a:prstGeom prst="rect">
            <a:avLst/>
          </a:prstGeom>
          <a:noFill/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</a:t>
            </a:r>
            <a:r>
              <a:rPr lang="en-US" altLang="zh-TW" sz="1200" dirty="0" err="1"/>
              <a:t>openclaw</a:t>
            </a:r>
            <a:r>
              <a:rPr lang="en-US" altLang="zh-TW" sz="1200" dirty="0"/>
              <a:t>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A8624EAE-DA7D-67D4-D709-E46816A17257}"/>
              </a:ext>
            </a:extLst>
          </p:cNvPr>
          <p:cNvSpPr txBox="1"/>
          <p:nvPr/>
        </p:nvSpPr>
        <p:spPr>
          <a:xfrm>
            <a:off x="3965594" y="5933085"/>
            <a:ext cx="821797" cy="232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 B</a:t>
            </a:r>
          </a:p>
        </p:txBody>
      </p:sp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19D0A8E1-7023-6269-5EEF-B1D12CBAE6A8}"/>
              </a:ext>
            </a:extLst>
          </p:cNvPr>
          <p:cNvSpPr/>
          <p:nvPr/>
        </p:nvSpPr>
        <p:spPr>
          <a:xfrm>
            <a:off x="3989624" y="5022199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4A3499E2-377B-07F1-7CC0-85183BC3AEF8}"/>
              </a:ext>
            </a:extLst>
          </p:cNvPr>
          <p:cNvGrpSpPr/>
          <p:nvPr/>
        </p:nvGrpSpPr>
        <p:grpSpPr>
          <a:xfrm>
            <a:off x="1614207" y="1623050"/>
            <a:ext cx="1301609" cy="774335"/>
            <a:chOff x="1434147" y="4100131"/>
            <a:chExt cx="1301609" cy="774335"/>
          </a:xfrm>
        </p:grpSpPr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14EDAF46-7C60-B24B-8F80-E237E000DCC0}"/>
                </a:ext>
              </a:extLst>
            </p:cNvPr>
            <p:cNvSpPr txBox="1"/>
            <p:nvPr/>
          </p:nvSpPr>
          <p:spPr>
            <a:xfrm>
              <a:off x="1434147" y="4100131"/>
              <a:ext cx="1200165" cy="63396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none" lIns="0" tIns="0" rIns="0" bIns="36000" anchor="b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endParaRPr lang="en-US" altLang="zh-TW" sz="1200" u="none" strike="noStrike" dirty="0">
                <a:effectLst/>
              </a:endParaRPr>
            </a:p>
          </p:txBody>
        </p:sp>
        <p:pic>
          <p:nvPicPr>
            <p:cNvPr id="54" name="圖形 53" descr="卷軸 外框">
              <a:extLst>
                <a:ext uri="{FF2B5EF4-FFF2-40B4-BE49-F238E27FC236}">
                  <a16:creationId xmlns:a16="http://schemas.microsoft.com/office/drawing/2014/main" id="{8FCA581C-DB32-7CBC-B656-A21DA8811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462151" y="4140960"/>
              <a:ext cx="497527" cy="497527"/>
            </a:xfrm>
            <a:prstGeom prst="rect">
              <a:avLst/>
            </a:prstGeom>
          </p:spPr>
        </p:pic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547664" y="4105881"/>
              <a:ext cx="1188092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288000" tIns="0" rIns="0" bIns="36000" anchor="b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dirty="0"/>
                <a:t>Model</a:t>
              </a:r>
              <a:endParaRPr lang="en-US" altLang="zh-TW" sz="1400" b="1" u="none" strike="noStrike" dirty="0">
                <a:effectLst/>
              </a:endParaRP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Gemma4</a:t>
              </a:r>
              <a:endParaRPr lang="en-US" altLang="zh-TW" sz="1200" u="none" strike="noStrike" dirty="0">
                <a:effectLst/>
              </a:endParaRP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1653844" y="4633531"/>
              <a:ext cx="797767" cy="240935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 err="1">
                  <a:solidFill>
                    <a:schemeClr val="bg1"/>
                  </a:solidFill>
                </a:rPr>
                <a:t>Ollama</a:t>
              </a:r>
              <a:r>
                <a:rPr lang="en-US" altLang="zh-TW" sz="1200" b="1" dirty="0">
                  <a:solidFill>
                    <a:schemeClr val="bg1"/>
                  </a:solidFill>
                </a:rPr>
                <a:t> 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7" name="圖片 6">
            <a:extLst>
              <a:ext uri="{FF2B5EF4-FFF2-40B4-BE49-F238E27FC236}">
                <a16:creationId xmlns:a16="http://schemas.microsoft.com/office/drawing/2014/main" id="{D82BC7A5-7FA1-4BBA-BF68-A20F3FC56D5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953541" y="6112262"/>
            <a:ext cx="434378" cy="426757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CE3FA846-A45D-B90F-F9E8-764AD7B03A9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61305" y="4631233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provides a standardized way to connect LLMs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067985" y="2445571"/>
            <a:ext cx="623389" cy="623389"/>
          </a:xfrm>
          <a:prstGeom prst="rect">
            <a:avLst/>
          </a:prstGeom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105" idx="1"/>
            <a:endCxn id="51" idx="0"/>
          </p:cNvCxnSpPr>
          <p:nvPr/>
        </p:nvCxnSpPr>
        <p:spPr>
          <a:xfrm rot="10800000">
            <a:off x="3029763" y="1973529"/>
            <a:ext cx="1305308" cy="397761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F79187C2-34AB-2BD1-681D-CE1204F4B46F}"/>
              </a:ext>
            </a:extLst>
          </p:cNvPr>
          <p:cNvSpPr txBox="1"/>
          <p:nvPr/>
        </p:nvSpPr>
        <p:spPr>
          <a:xfrm>
            <a:off x="4335071" y="2294865"/>
            <a:ext cx="377657" cy="1528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000" u="none" strike="noStrike" dirty="0">
                <a:solidFill>
                  <a:schemeClr val="accent2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20°C</a:t>
            </a:r>
            <a:endParaRPr lang="en-US" altLang="zh-TW" sz="1200" u="none" strike="noStrike" dirty="0">
              <a:solidFill>
                <a:schemeClr val="accent2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Stack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in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81278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412732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Orchestration 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6892006" y="5105552"/>
            <a:ext cx="1728192" cy="1192865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 err="1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Ollama</a:t>
            </a:r>
            <a:r>
              <a:rPr kumimoji="0" lang="en-US" altLang="zh-TW" sz="1200" b="0" i="0" u="none" strike="noStrike" kern="120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/ </a:t>
            </a:r>
            <a:r>
              <a:rPr kumimoji="0" lang="en-US" altLang="zh-TW" sz="1200" b="0" i="0" u="none" strike="noStrike" kern="1200" cap="none" spc="0" normalizeH="0" baseline="0" noProof="0" dirty="0" err="1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vLLM</a:t>
            </a:r>
            <a:endParaRPr kumimoji="0" lang="en-US" altLang="zh-TW" sz="1200" b="0" i="0" u="none" strike="noStrike" kern="120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558671"/>
            <a:ext cx="864096" cy="280478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89103"/>
              </p:ext>
            </p:extLst>
          </p:nvPr>
        </p:nvGraphicFramePr>
        <p:xfrm>
          <a:off x="506637" y="4653136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748698"/>
              </p:ext>
            </p:extLst>
          </p:nvPr>
        </p:nvGraphicFramePr>
        <p:xfrm>
          <a:off x="1610660" y="1210483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724" y="5779220"/>
            <a:ext cx="434378" cy="42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FF610-62B8-4FFC-DE51-BD58537F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FCEA9A8-F40E-3A80-3346-78985D3FF442}"/>
              </a:ext>
            </a:extLst>
          </p:cNvPr>
          <p:cNvSpPr txBox="1"/>
          <p:nvPr/>
        </p:nvSpPr>
        <p:spPr>
          <a:xfrm>
            <a:off x="218381" y="1124744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Core Components of the Lifecycle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Data Management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O.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Continuous Integration/Continuous Delivery (CI/CD): </a:t>
            </a:r>
            <a:r>
              <a:rPr lang="en-US" altLang="zh-TW" sz="1600" dirty="0">
                <a:solidFill>
                  <a:prstClr val="black"/>
                </a:solidFill>
              </a:rPr>
              <a:t>O.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Monitoring &amp; Governance: </a:t>
            </a:r>
            <a:r>
              <a:rPr lang="en-US" altLang="zh-TW" sz="1600" dirty="0">
                <a:solidFill>
                  <a:prstClr val="black"/>
                </a:solidFill>
              </a:rPr>
              <a:t>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990776DD-33CE-35FD-9D7D-B2E16FC35C6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 Operations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Automates and standardizes the lifecycle of ML models.</a:t>
            </a:r>
          </a:p>
        </p:txBody>
      </p:sp>
    </p:spTree>
    <p:extLst>
      <p:ext uri="{BB962C8B-B14F-4D97-AF65-F5344CB8AC3E}">
        <p14:creationId xmlns:p14="http://schemas.microsoft.com/office/powerpoint/2010/main" val="67771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8568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 of AI 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D8E9-66EF-834B-842F-6BAFAE18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CB277C5F-C7B2-109B-F936-B179FD47AC2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722A3C36-D7C0-F3FA-7DC1-BD8D11587E28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C2D4B935-2EA4-2CEC-5953-7D4A336A4D3A}"/>
              </a:ext>
            </a:extLst>
          </p:cNvPr>
          <p:cNvSpPr txBox="1"/>
          <p:nvPr/>
        </p:nvSpPr>
        <p:spPr>
          <a:xfrm>
            <a:off x="218381" y="1124744"/>
            <a:ext cx="8568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DC6C94B2-70B4-41B9-2841-E37FD90843F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Running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35E4B50-BBC3-E161-D3AA-7FF58C3A324A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9533C0F5-7760-6A3E-20E9-236508211D43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DCDD65C-B3D5-777D-88A3-54EB9F10E5A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5247233-E369-EF9F-5934-64A0D76DB39E}"/>
              </a:ext>
            </a:extLst>
          </p:cNvPr>
          <p:cNvGraphicFramePr>
            <a:graphicFrameLocks noGrp="1"/>
          </p:cNvGraphicFramePr>
          <p:nvPr/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0D4E12B7-2B77-9AF5-A33C-E983BBFC3A6F}"/>
              </a:ext>
            </a:extLst>
          </p:cNvPr>
          <p:cNvGraphicFramePr>
            <a:graphicFrameLocks noGrp="1"/>
          </p:cNvGraphicFramePr>
          <p:nvPr/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BDA72CA9-67D4-4DDB-30BA-4AADEBE64332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CB94A4AB-F06D-666B-F5D0-3A4D9E97DEF8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9EB2F809-22C2-C387-CA63-8B56DA590EF2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C2DA655-0BC8-FBBC-33A3-6D7B8A3DA70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06CA9D6C-A7A3-5073-FB1D-CB26580F955A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A05E11B3-7000-BDB7-D1D9-EF5A78A5DF35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15D4C5FE-005F-80D1-4A4C-C8609E8897DC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3C06529C-D3B7-8ABB-5E6C-38832957CDB8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8816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</a:t>
            </a:r>
            <a:r>
              <a:rPr kumimoji="0" lang="en-US" altLang="zh-TW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eXchange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585237"/>
              </p:ext>
            </p:extLst>
          </p:nvPr>
        </p:nvGraphicFramePr>
        <p:xfrm>
          <a:off x="351199" y="2708920"/>
          <a:ext cx="8225575" cy="3027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115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45115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71B84-1670-A048-1767-4044E5435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1727CAD-B4FC-59D7-CEC3-B5693CC694D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Hardware Solution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088F4F-3037-5FDB-EFDD-D772BA9672F5}"/>
              </a:ext>
            </a:extLst>
          </p:cNvPr>
          <p:cNvSpPr txBox="1"/>
          <p:nvPr/>
        </p:nvSpPr>
        <p:spPr>
          <a:xfrm>
            <a:off x="213023" y="980728"/>
            <a:ext cx="8568952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Core Element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Model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Algorithm:</a:t>
            </a:r>
            <a:r>
              <a:rPr lang="en-US" altLang="zh-TW" sz="1600" dirty="0"/>
              <a:t> Learning tool (e.g., like loss function and optimizer).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6FE9F88-829E-6ED8-3DA1-FB8298CFDF1C}"/>
              </a:ext>
            </a:extLst>
          </p:cNvPr>
          <p:cNvSpPr txBox="1"/>
          <p:nvPr/>
        </p:nvSpPr>
        <p:spPr>
          <a:xfrm>
            <a:off x="213023" y="2996952"/>
            <a:ext cx="8568952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u="none" strike="noStrike" dirty="0">
                <a:effectLst/>
              </a:rPr>
              <a:t>Main Types of ML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Unsupervised</a:t>
            </a:r>
            <a:r>
              <a:rPr lang="en-US" altLang="zh-TW" sz="1600" b="0" u="none" strike="noStrike" dirty="0">
                <a:effectLst/>
              </a:rPr>
              <a:t>: Data is unlabeled, no pre-defined answers provided.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Reduction: PCA, t-SNE and UMAP.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Clustering: K-mean and GMM. 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Supervised</a:t>
            </a:r>
            <a:r>
              <a:rPr lang="en-US" altLang="zh-TW" sz="1600" dirty="0"/>
              <a:t>: Data is labeled, comes with the correct answers.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Semi-Supervised: When labels are expensive.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Medical Imaging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Self-Supervised: When Labels are Plentiful.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GPT-Pretraining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Reinforcement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67489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Parameter Efficient 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PEFT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Prompt </a:t>
            </a:r>
            <a:r>
              <a:rPr lang="en-US" altLang="zh-TW" sz="1600" b="1" dirty="0"/>
              <a:t>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B03788A-50E8-32DC-8B6B-DDBA58ACD7D0}"/>
              </a:ext>
            </a:extLst>
          </p:cNvPr>
          <p:cNvSpPr txBox="1"/>
          <p:nvPr/>
        </p:nvSpPr>
        <p:spPr>
          <a:xfrm>
            <a:off x="213023" y="2996952"/>
            <a:ext cx="8568952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u="none" strike="noStrike" dirty="0">
                <a:effectLst/>
              </a:rPr>
              <a:t>Main Types of ML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Unsupervised</a:t>
            </a:r>
            <a:r>
              <a:rPr lang="en-US" altLang="zh-TW" sz="1600" b="0" u="none" strike="noStrike" dirty="0">
                <a:effectLst/>
              </a:rPr>
              <a:t>: Data is unlabeled, no pre-defined answers provided.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Reduction: PCA, t-SNE and UMAP.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Clustering: K-mean and GMM. 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Supervised</a:t>
            </a:r>
            <a:r>
              <a:rPr lang="en-US" altLang="zh-TW" sz="1600" dirty="0"/>
              <a:t>: Data is labeled, comes with the correct answers.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Semi-Supervised: When labels are expensive.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Medical Imaging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Self-Supervised: When Labels are Plentiful.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GPT-Pretraining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Reinforcement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206889" y="2024726"/>
            <a:ext cx="45719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206889" y="3032956"/>
            <a:ext cx="45719" cy="2246421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42840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28B88-7AA3-B71D-342A-4048CF7AF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208750D-5CFB-BEE0-D169-AA0C5A786D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Highlight 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0B217B1-5667-2E9A-3BCD-BE93A5D7F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241474"/>
              </p:ext>
            </p:extLst>
          </p:nvPr>
        </p:nvGraphicFramePr>
        <p:xfrm>
          <a:off x="6223642" y="2843644"/>
          <a:ext cx="2380806" cy="258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6365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4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4057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240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43300"/>
              </p:ext>
            </p:extLst>
          </p:nvPr>
        </p:nvGraphicFramePr>
        <p:xfrm>
          <a:off x="6228184" y="26788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0F3DE-B1B4-8C50-8B97-912A51BD1BE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Major Language Model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E8F0321-BB20-5A24-32C5-E1393817D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548174"/>
              </p:ext>
            </p:extLst>
          </p:nvPr>
        </p:nvGraphicFramePr>
        <p:xfrm>
          <a:off x="358814" y="430767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063E60F-441C-61BB-27AB-426AD238E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298908"/>
              </p:ext>
            </p:extLst>
          </p:nvPr>
        </p:nvGraphicFramePr>
        <p:xfrm>
          <a:off x="358814" y="196753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Weight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3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8k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6" name="橢圓 5">
            <a:extLst>
              <a:ext uri="{FF2B5EF4-FFF2-40B4-BE49-F238E27FC236}">
                <a16:creationId xmlns:a16="http://schemas.microsoft.com/office/drawing/2014/main" id="{8DCCBD18-7E95-64E0-3204-2B78F017F889}"/>
              </a:ext>
            </a:extLst>
          </p:cNvPr>
          <p:cNvSpPr/>
          <p:nvPr/>
        </p:nvSpPr>
        <p:spPr>
          <a:xfrm>
            <a:off x="6615723" y="279091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Open Weight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LM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32DA9AE-4DCE-1D0B-A5CB-F79D15A41C1A}"/>
              </a:ext>
            </a:extLst>
          </p:cNvPr>
          <p:cNvSpPr/>
          <p:nvPr/>
        </p:nvSpPr>
        <p:spPr>
          <a:xfrm>
            <a:off x="4949403" y="-33520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Enterprise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8D12BED-4A36-4654-883D-0A29302ADDD7}"/>
              </a:ext>
            </a:extLst>
          </p:cNvPr>
          <p:cNvSpPr/>
          <p:nvPr/>
        </p:nvSpPr>
        <p:spPr>
          <a:xfrm>
            <a:off x="3766163" y="503955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Cloud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Service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9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464</TotalTime>
  <Words>7592</Words>
  <Application>Microsoft Office PowerPoint</Application>
  <PresentationFormat>如螢幕大小 (4:3)</PresentationFormat>
  <Paragraphs>875</Paragraphs>
  <Slides>25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37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1580</cp:revision>
  <cp:lastPrinted>2024-07-30T01:44:15Z</cp:lastPrinted>
  <dcterms:created xsi:type="dcterms:W3CDTF">2019-11-08T03:01:47Z</dcterms:created>
  <dcterms:modified xsi:type="dcterms:W3CDTF">2026-06-26T08:58:09Z</dcterms:modified>
</cp:coreProperties>
</file>