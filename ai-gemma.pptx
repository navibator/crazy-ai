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75" r:id="rId8"/>
    <p:sldId id="3470" r:id="rId9"/>
    <p:sldId id="3465" r:id="rId10"/>
    <p:sldId id="3515" r:id="rId11"/>
    <p:sldId id="3505" r:id="rId12"/>
    <p:sldId id="3514" r:id="rId13"/>
    <p:sldId id="3482" r:id="rId14"/>
    <p:sldId id="3489" r:id="rId15"/>
    <p:sldId id="3495" r:id="rId16"/>
    <p:sldId id="3509" r:id="rId17"/>
    <p:sldId id="3503" r:id="rId18"/>
    <p:sldId id="3460" r:id="rId19"/>
    <p:sldId id="3504" r:id="rId20"/>
    <p:sldId id="257" r:id="rId21"/>
    <p:sldId id="265" r:id="rId22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Edge AI" id="{C5ADF914-F8F1-4215-8A34-A521DDB15BBF}">
          <p14:sldIdLst>
            <p14:sldId id="3502"/>
            <p14:sldId id="3499"/>
            <p14:sldId id="3444"/>
            <p14:sldId id="3493"/>
            <p14:sldId id="3475"/>
          </p14:sldIdLst>
        </p14:section>
        <p14:section name="Gemma" id="{5A048767-0D58-44AF-B962-12C29493294F}">
          <p14:sldIdLst>
            <p14:sldId id="3470"/>
            <p14:sldId id="3465"/>
            <p14:sldId id="3515"/>
            <p14:sldId id="3505"/>
            <p14:sldId id="3514"/>
            <p14:sldId id="3482"/>
            <p14:sldId id="3489"/>
          </p14:sldIdLst>
        </p14:section>
        <p14:section name="Conclusion" id="{69C35067-BEF2-4B7C-9B54-B6977EB05C72}">
          <p14:sldIdLst>
            <p14:sldId id="3495"/>
            <p14:sldId id="3509"/>
            <p14:sldId id="3503"/>
            <p14:sldId id="3460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6F2"/>
    <a:srgbClr val="FF0000"/>
    <a:srgbClr val="FFFF99"/>
    <a:srgbClr val="E3C0AB"/>
    <a:srgbClr val="F3E4DB"/>
    <a:srgbClr val="FFCC99"/>
    <a:srgbClr val="CBDCA8"/>
    <a:srgbClr val="C5D8A0"/>
    <a:srgbClr val="CCFF66"/>
    <a:srgbClr val="DBFF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727" autoAdjust="0"/>
    <p:restoredTop sz="80529" autoAdjust="0"/>
  </p:normalViewPr>
  <p:slideViewPr>
    <p:cSldViewPr>
      <p:cViewPr varScale="1">
        <p:scale>
          <a:sx n="107" d="100"/>
          <a:sy n="107" d="100"/>
        </p:scale>
        <p:origin x="1248" y="102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2026/7/15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2026/7/15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C430-FB32-5602-3DB0-5E8B5F79D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B763E16-AD96-B65B-01CE-46AB66445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75913C2-1FFD-6EC2-6E74-DAE194F03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本頁亮點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Optimizer, Quantization-Aware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：如果各參數的梯度尺度差異很大（例如 LLM 這種巨型網絡），固定學習率很難收斂，調參非常痛苦。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正規化（Weight Decay）時，其數學公式會把權重衰減與梯度放在一起計算，導致權重並未如預期般衰減，容易過擬合。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快速收斂的特性，又大幅提升了模型的泛化能力（Generalization）。目前 95% 以上的 LLM（如 LLaMA, GPT 系列）預訓練預設都用它。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2FE20-B45B-F4FE-5FF4-77187FF08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032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797C2-856D-7C78-822E-DA2B9845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01D36F-2A90-C039-12E9-94ACB2135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D287985-DD70-EAFB-BA76-359D9B2CA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B8C7DA-B5D4-A1F6-335B-4A2BE3F7BA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92126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B9EE7-D198-3E86-7261-1EC23BEE6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AE37E5C-0304-42CA-3A77-EACC25DBD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E296902-1C32-C9C1-23F9-AA0A460A7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FAAD4B-36D3-89B7-CA5D-20CDFA5076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72261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eXchange).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svg"/><Relationship Id="rId5" Type="http://schemas.openxmlformats.org/officeDocument/2006/relationships/image" Target="../media/image24.svg"/><Relationship Id="rId4" Type="http://schemas.openxmlformats.org/officeDocument/2006/relationships/image" Target="../media/image23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8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0.png"/><Relationship Id="rId5" Type="http://schemas.openxmlformats.org/officeDocument/2006/relationships/image" Target="../media/image23.pn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24731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Emerging Trends in AI Systems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Fine-Tuning: PEFT)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PEFT: 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(Memory-efficient tuning via 4-bit quantized base models)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PEFT: </a:t>
            </a:r>
            <a:r>
              <a:rPr lang="en-US" altLang="zh-TW" dirty="0" err="1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DoRA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(Decoupled weight learning matching full fine-tuning performance.)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4: 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Code Intelligence Benchmarking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LiveCodeBench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393876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27229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2D69283A-B582-7B47-78E3-30A9EB884EA2}"/>
              </a:ext>
            </a:extLst>
          </p:cNvPr>
          <p:cNvSpPr txBox="1"/>
          <p:nvPr/>
        </p:nvSpPr>
        <p:spPr>
          <a:xfrm>
            <a:off x="7848364" y="44624"/>
            <a:ext cx="1225657" cy="368485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</a:t>
            </a:r>
            <a:r>
              <a:rPr lang="en-US" altLang="zh-TW" sz="1000" dirty="0" err="1">
                <a:solidFill>
                  <a:prstClr val="black"/>
                </a:solidFill>
              </a:rPr>
              <a:t>DoRA</a:t>
            </a:r>
            <a:endParaRPr lang="en-US" altLang="zh-TW" sz="1000" dirty="0">
              <a:solidFill>
                <a:prstClr val="black"/>
              </a:solidFill>
            </a:endParaRP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Frameworks 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621121"/>
              </p:ext>
            </p:extLst>
          </p:nvPr>
        </p:nvGraphicFramePr>
        <p:xfrm>
          <a:off x="6444208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B812E67-743B-F13D-2FC6-D1A10ED620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516216" y="4751084"/>
            <a:ext cx="406453" cy="382591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Small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Environment is subject to SLM, SFT Framework, Agents and  AI Orchestrator. 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601315"/>
              </p:ext>
            </p:extLst>
          </p:nvPr>
        </p:nvGraphicFramePr>
        <p:xfrm>
          <a:off x="4067942" y="1868362"/>
          <a:ext cx="2160242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503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2882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438197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619864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258317"/>
              </p:ext>
            </p:extLst>
          </p:nvPr>
        </p:nvGraphicFramePr>
        <p:xfrm>
          <a:off x="6752510" y="1868362"/>
          <a:ext cx="1733619" cy="752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361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LangGraph, CrewAI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Dify, n8n, Zapier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6818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963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73E7E98-C231-18BC-581C-CBCCC80F73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1873" y="1475823"/>
            <a:ext cx="634319" cy="33458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1C2A8E9-389D-2F9D-3C7D-8D935635C3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216" y="1525480"/>
            <a:ext cx="781627" cy="235272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10FCA04-BC42-C146-9ED5-553692E1CEB3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439D466C-08F0-8E9C-AC89-EAFD529E20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5869" y="1475823"/>
            <a:ext cx="360260" cy="334586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07582075-B8F6-F21C-A8E2-79D5FC457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351392"/>
              </p:ext>
            </p:extLst>
          </p:nvPr>
        </p:nvGraphicFramePr>
        <p:xfrm>
          <a:off x="971600" y="1944250"/>
          <a:ext cx="1261264" cy="28049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264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80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6779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810333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5996678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95690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4630837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6415898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478787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Torchtune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311677"/>
                  </a:ext>
                </a:extLst>
              </a:tr>
            </a:tbl>
          </a:graphicData>
        </a:graphic>
      </p:graphicFrame>
      <p:sp>
        <p:nvSpPr>
          <p:cNvPr id="24" name="文字方塊 23">
            <a:extLst>
              <a:ext uri="{FF2B5EF4-FFF2-40B4-BE49-F238E27FC236}">
                <a16:creationId xmlns:a16="http://schemas.microsoft.com/office/drawing/2014/main" id="{69C780C3-624C-359F-C75B-6C9EAFC58A69}"/>
              </a:ext>
            </a:extLst>
          </p:cNvPr>
          <p:cNvSpPr txBox="1"/>
          <p:nvPr/>
        </p:nvSpPr>
        <p:spPr>
          <a:xfrm>
            <a:off x="213023" y="504801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Infra</a:t>
            </a:r>
            <a:r>
              <a:rPr lang="en-US" altLang="zh-TW" sz="1600" b="1" dirty="0"/>
              <a:t>structure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GPU, </a:t>
            </a:r>
            <a:r>
              <a:rPr lang="en-US" altLang="zh-TW" sz="1600" dirty="0"/>
              <a:t>Python, and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base model </a:t>
            </a:r>
            <a:r>
              <a:rPr lang="en-US" altLang="zh-TW" sz="1600" dirty="0"/>
              <a:t>(GGUF) deployment by Ollama.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Design Architecture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Agent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orchestrator</a:t>
            </a:r>
            <a:r>
              <a:rPr lang="en-US" altLang="zh-TW" sz="1600" dirty="0"/>
              <a:t> and some AI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agents</a:t>
            </a:r>
            <a:r>
              <a:rPr lang="en-US" altLang="zh-TW" sz="1600" dirty="0"/>
              <a:t>. (Open Claw / Hermes) 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Run SFT.py to update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QLoRA</a:t>
            </a:r>
            <a:r>
              <a:rPr lang="en-US" altLang="zh-TW" sz="1600" dirty="0"/>
              <a:t> adapter weights, then save merged model into GGUF. </a:t>
            </a: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5AAAC09-6243-904E-B0BB-2CB1EB349C59}"/>
              </a:ext>
            </a:extLst>
          </p:cNvPr>
          <p:cNvSpPr/>
          <p:nvPr/>
        </p:nvSpPr>
        <p:spPr>
          <a:xfrm>
            <a:off x="2507393" y="3770564"/>
            <a:ext cx="815380" cy="400306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 w="254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Training</a:t>
            </a:r>
          </a:p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Framework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10B9AE8-D1E6-4B56-BE7C-1436B062E89F}"/>
              </a:ext>
            </a:extLst>
          </p:cNvPr>
          <p:cNvSpPr txBox="1"/>
          <p:nvPr/>
        </p:nvSpPr>
        <p:spPr>
          <a:xfrm>
            <a:off x="2507393" y="2996952"/>
            <a:ext cx="805937" cy="377045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(.GGUF)</a:t>
            </a:r>
          </a:p>
        </p:txBody>
      </p:sp>
      <p:sp>
        <p:nvSpPr>
          <p:cNvPr id="32" name="圖說文字: 直線 31">
            <a:extLst>
              <a:ext uri="{FF2B5EF4-FFF2-40B4-BE49-F238E27FC236}">
                <a16:creationId xmlns:a16="http://schemas.microsoft.com/office/drawing/2014/main" id="{C3636D81-AB12-A99A-6E5A-1F225035C3F1}"/>
              </a:ext>
            </a:extLst>
          </p:cNvPr>
          <p:cNvSpPr/>
          <p:nvPr/>
        </p:nvSpPr>
        <p:spPr>
          <a:xfrm flipH="1">
            <a:off x="6661889" y="1369566"/>
            <a:ext cx="1930538" cy="1355955"/>
          </a:xfrm>
          <a:prstGeom prst="borderCallout1">
            <a:avLst>
              <a:gd name="adj1" fmla="val 52923"/>
              <a:gd name="adj2" fmla="val 96722"/>
              <a:gd name="adj3" fmla="val 52799"/>
              <a:gd name="adj4" fmla="val 131288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65AA6843-DD4C-3853-E9EF-7E01BFE82BFB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3313330" y="3185474"/>
            <a:ext cx="753434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50D3B039-32B3-41BE-226C-8D772D82279A}"/>
              </a:ext>
            </a:extLst>
          </p:cNvPr>
          <p:cNvCxnSpPr>
            <a:cxnSpLocks/>
            <a:stCxn id="25" idx="0"/>
            <a:endCxn id="29" idx="2"/>
          </p:cNvCxnSpPr>
          <p:nvPr/>
        </p:nvCxnSpPr>
        <p:spPr>
          <a:xfrm flipH="1" flipV="1">
            <a:off x="2910362" y="3373997"/>
            <a:ext cx="4721" cy="396567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圖說文字: 直線 44">
            <a:extLst>
              <a:ext uri="{FF2B5EF4-FFF2-40B4-BE49-F238E27FC236}">
                <a16:creationId xmlns:a16="http://schemas.microsoft.com/office/drawing/2014/main" id="{65E28DCF-B83B-ACA4-72D7-450129FDDF62}"/>
              </a:ext>
            </a:extLst>
          </p:cNvPr>
          <p:cNvSpPr/>
          <p:nvPr/>
        </p:nvSpPr>
        <p:spPr>
          <a:xfrm flipH="1">
            <a:off x="899592" y="1873860"/>
            <a:ext cx="1381609" cy="2923292"/>
          </a:xfrm>
          <a:prstGeom prst="borderCallout1">
            <a:avLst>
              <a:gd name="adj1" fmla="val 57186"/>
              <a:gd name="adj2" fmla="val 19046"/>
              <a:gd name="adj3" fmla="val 57222"/>
              <a:gd name="adj4" fmla="val -1553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D4098A93-C42F-CCFC-ED41-D7918E93E7E9}"/>
              </a:ext>
            </a:extLst>
          </p:cNvPr>
          <p:cNvSpPr txBox="1"/>
          <p:nvPr/>
        </p:nvSpPr>
        <p:spPr>
          <a:xfrm>
            <a:off x="3422344" y="3212976"/>
            <a:ext cx="628698" cy="12521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Deploy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9DCEA1B-F211-4C67-8EC6-BC680482505C}"/>
              </a:ext>
            </a:extLst>
          </p:cNvPr>
          <p:cNvSpPr txBox="1"/>
          <p:nvPr/>
        </p:nvSpPr>
        <p:spPr>
          <a:xfrm>
            <a:off x="2492817" y="3541826"/>
            <a:ext cx="829956" cy="17520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Fine-Tuning</a:t>
            </a:r>
            <a:endParaRPr lang="zh-TW" altLang="en-US" sz="1200" dirty="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152788"/>
              </p:ext>
            </p:extLst>
          </p:nvPr>
        </p:nvGraphicFramePr>
        <p:xfrm>
          <a:off x="4066764" y="2678753"/>
          <a:ext cx="2160243" cy="2131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8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344141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31407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740306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7200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732847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7EAB9C57-35D1-B219-F12E-346B907EEA10}"/>
              </a:ext>
            </a:extLst>
          </p:cNvPr>
          <p:cNvSpPr txBox="1"/>
          <p:nvPr/>
        </p:nvSpPr>
        <p:spPr>
          <a:xfrm>
            <a:off x="3398520" y="2852936"/>
            <a:ext cx="62869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>
            <a:glow rad="25400">
              <a:schemeClr val="bg1">
                <a:lumMod val="95000"/>
                <a:alpha val="40000"/>
              </a:schemeClr>
            </a:glow>
            <a:softEdge rad="50800"/>
          </a:effectLst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solidFill>
                  <a:schemeClr val="accent1">
                    <a:lumMod val="75000"/>
                  </a:schemeClr>
                </a:solidFill>
                <a:latin typeface="Calibri"/>
                <a:ea typeface="新細明體" panose="02020500000000000000" pitchFamily="18" charset="-120"/>
              </a:rPr>
              <a:t>O</a:t>
            </a:r>
            <a:r>
              <a:rPr lang="en-US" altLang="zh-TW" sz="1200" dirty="0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llama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92A0724E-A38F-5195-50B0-C98F2CF9C99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40115" y="2534275"/>
            <a:ext cx="337951" cy="39066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147E5DF0-3960-36B0-9254-B5A63E01B49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4077072"/>
            <a:ext cx="457201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>
            <a:extLst>
              <a:ext uri="{FF2B5EF4-FFF2-40B4-BE49-F238E27FC236}">
                <a16:creationId xmlns:a16="http://schemas.microsoft.com/office/drawing/2014/main" id="{F81FE75E-9127-9681-590D-9061B2910228}"/>
              </a:ext>
            </a:extLst>
          </p:cNvPr>
          <p:cNvSpPr/>
          <p:nvPr/>
        </p:nvSpPr>
        <p:spPr>
          <a:xfrm>
            <a:off x="6012161" y="3387544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5466488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0C5F1F-8BA5-7023-CB2C-07E845026D34}"/>
              </a:ext>
            </a:extLst>
          </p:cNvPr>
          <p:cNvSpPr/>
          <p:nvPr/>
        </p:nvSpPr>
        <p:spPr>
          <a:xfrm>
            <a:off x="6221748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5B6047-2833-C1AD-81A4-9E94756336FA}"/>
              </a:ext>
            </a:extLst>
          </p:cNvPr>
          <p:cNvSpPr txBox="1"/>
          <p:nvPr/>
        </p:nvSpPr>
        <p:spPr>
          <a:xfrm>
            <a:off x="6365764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615B3A5-3FD2-4005-BC2E-69EC29B5B341}"/>
              </a:ext>
            </a:extLst>
          </p:cNvPr>
          <p:cNvSpPr txBox="1"/>
          <p:nvPr/>
        </p:nvSpPr>
        <p:spPr>
          <a:xfrm>
            <a:off x="6365764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AD5BE6-CA01-DBC6-1993-208FB9ACBD36}"/>
              </a:ext>
            </a:extLst>
          </p:cNvPr>
          <p:cNvSpPr txBox="1"/>
          <p:nvPr/>
        </p:nvSpPr>
        <p:spPr>
          <a:xfrm>
            <a:off x="6507429" y="2708920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BE8163C-E658-EC9A-A3D6-4483843DC234}"/>
              </a:ext>
            </a:extLst>
          </p:cNvPr>
          <p:cNvSpPr txBox="1"/>
          <p:nvPr/>
        </p:nvSpPr>
        <p:spPr>
          <a:xfrm>
            <a:off x="6365764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EA56A65-2A30-6FE7-1987-749C004F9F0B}"/>
              </a:ext>
            </a:extLst>
          </p:cNvPr>
          <p:cNvSpPr txBox="1"/>
          <p:nvPr/>
        </p:nvSpPr>
        <p:spPr>
          <a:xfrm>
            <a:off x="6365764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82F44C6-607E-773F-9287-A4B04BF4B85F}"/>
              </a:ext>
            </a:extLst>
          </p:cNvPr>
          <p:cNvCxnSpPr>
            <a:cxnSpLocks/>
            <a:stCxn id="14" idx="0"/>
            <a:endCxn id="17" idx="2"/>
          </p:cNvCxnSpPr>
          <p:nvPr/>
        </p:nvCxnSpPr>
        <p:spPr>
          <a:xfrm flipV="1">
            <a:off x="6941828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A5ADA3C9-51C2-3237-133D-BBEFBF739687}"/>
              </a:ext>
            </a:extLst>
          </p:cNvPr>
          <p:cNvCxnSpPr>
            <a:cxnSpLocks/>
            <a:stCxn id="7" idx="0"/>
            <a:endCxn id="14" idx="2"/>
          </p:cNvCxnSpPr>
          <p:nvPr/>
        </p:nvCxnSpPr>
        <p:spPr>
          <a:xfrm flipV="1">
            <a:off x="6941828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DBA7485-E4D3-633A-C8FD-B13CD069630A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H="1" flipV="1">
            <a:off x="6941828" y="2463376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B0520ED-01AE-68FB-5B5E-0DAE72BFC9B6}"/>
              </a:ext>
            </a:extLst>
          </p:cNvPr>
          <p:cNvCxnSpPr>
            <a:cxnSpLocks/>
            <a:stCxn id="10" idx="0"/>
            <a:endCxn id="7" idx="2"/>
          </p:cNvCxnSpPr>
          <p:nvPr/>
        </p:nvCxnSpPr>
        <p:spPr>
          <a:xfrm flipV="1">
            <a:off x="6941828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接點: 肘形 30">
            <a:extLst>
              <a:ext uri="{FF2B5EF4-FFF2-40B4-BE49-F238E27FC236}">
                <a16:creationId xmlns:a16="http://schemas.microsoft.com/office/drawing/2014/main" id="{88FCB6D8-BB47-90D6-7438-7C3CA5BB1ABB}"/>
              </a:ext>
            </a:extLst>
          </p:cNvPr>
          <p:cNvCxnSpPr>
            <a:cxnSpLocks/>
            <a:stCxn id="17" idx="3"/>
            <a:endCxn id="11" idx="3"/>
          </p:cNvCxnSpPr>
          <p:nvPr/>
        </p:nvCxnSpPr>
        <p:spPr>
          <a:xfrm flipH="1">
            <a:off x="7379909" y="656692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45BD80B-F195-173E-C31C-1D8057144F3F}"/>
              </a:ext>
            </a:extLst>
          </p:cNvPr>
          <p:cNvSpPr txBox="1"/>
          <p:nvPr/>
        </p:nvSpPr>
        <p:spPr>
          <a:xfrm>
            <a:off x="6056570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526939-E9C0-4A2C-0511-0D5DE4384B47}"/>
              </a:ext>
            </a:extLst>
          </p:cNvPr>
          <p:cNvSpPr/>
          <p:nvPr/>
        </p:nvSpPr>
        <p:spPr>
          <a:xfrm>
            <a:off x="6084168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A1305DF5-9242-38FA-74E0-8B4262602807}"/>
              </a:ext>
            </a:extLst>
          </p:cNvPr>
          <p:cNvSpPr/>
          <p:nvPr/>
        </p:nvSpPr>
        <p:spPr>
          <a:xfrm>
            <a:off x="6689800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357C1A51-F19F-0863-D7B0-2DC91CF29B6B}"/>
              </a:ext>
            </a:extLst>
          </p:cNvPr>
          <p:cNvSpPr/>
          <p:nvPr/>
        </p:nvSpPr>
        <p:spPr>
          <a:xfrm>
            <a:off x="7291750" y="3578347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E72048D-2524-1E61-5076-ED59FF0E3E44}"/>
              </a:ext>
            </a:extLst>
          </p:cNvPr>
          <p:cNvSpPr/>
          <p:nvPr/>
        </p:nvSpPr>
        <p:spPr>
          <a:xfrm>
            <a:off x="6689800" y="3264256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直線單箭頭接點 69">
            <a:extLst>
              <a:ext uri="{FF2B5EF4-FFF2-40B4-BE49-F238E27FC236}">
                <a16:creationId xmlns:a16="http://schemas.microsoft.com/office/drawing/2014/main" id="{B7100B46-3DD7-60AF-91CE-0B46B2EC6D09}"/>
              </a:ext>
            </a:extLst>
          </p:cNvPr>
          <p:cNvCxnSpPr>
            <a:cxnSpLocks/>
            <a:stCxn id="69" idx="0"/>
            <a:endCxn id="11" idx="2"/>
          </p:cNvCxnSpPr>
          <p:nvPr/>
        </p:nvCxnSpPr>
        <p:spPr>
          <a:xfrm flipV="1">
            <a:off x="6941828" y="3068960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103562D-0073-D14F-640B-21B57C017310}"/>
              </a:ext>
            </a:extLst>
          </p:cNvPr>
          <p:cNvSpPr txBox="1"/>
          <p:nvPr/>
        </p:nvSpPr>
        <p:spPr>
          <a:xfrm>
            <a:off x="179512" y="3351241"/>
            <a:ext cx="333637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Gemma 3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Gemma Terms of Use/</a:t>
            </a:r>
          </a:p>
          <a:p>
            <a:pPr lvl="0"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Multimodal, Context Window 128K, multilingual,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en-US" altLang="zh-TW" dirty="0"/>
              <a:t>Gemma 4</a:t>
            </a:r>
            <a:r>
              <a:rPr lang="en-US" altLang="zh-TW" sz="1200" dirty="0"/>
              <a:t>: apache 2.0</a:t>
            </a:r>
          </a:p>
          <a:p>
            <a:r>
              <a:rPr lang="en-US" altLang="zh-TW" sz="1200" dirty="0"/>
              <a:t>/ tag&lt;think&gt;/ </a:t>
            </a:r>
          </a:p>
          <a:p>
            <a:endParaRPr lang="en-US" altLang="zh-TW" sz="1200" dirty="0"/>
          </a:p>
          <a:p>
            <a:r>
              <a:rPr lang="en-US" altLang="zh-TW" sz="1200" dirty="0"/>
              <a:t>Native Multimodal: text, image, table, … AV(E2B)</a:t>
            </a:r>
          </a:p>
          <a:p>
            <a:endParaRPr lang="zh-TW" altLang="en-US" sz="1200" dirty="0"/>
          </a:p>
        </p:txBody>
      </p:sp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A803B05C-8DDD-E678-CEC2-9DA93E6186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618313"/>
              </p:ext>
            </p:extLst>
          </p:nvPr>
        </p:nvGraphicFramePr>
        <p:xfrm>
          <a:off x="351199" y="4970863"/>
          <a:ext cx="822557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24161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45267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4522079"/>
              </p:ext>
            </p:extLst>
          </p:nvPr>
        </p:nvGraphicFramePr>
        <p:xfrm>
          <a:off x="716896" y="4131303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Apache 2.0, CoT,  &lt;|think|&gt;, multi-token prediction</a:t>
            </a:r>
            <a:r>
              <a:rPr lang="zh-TW" altLang="en-US" sz="1600" dirty="0"/>
              <a:t> </a:t>
            </a:r>
            <a:r>
              <a:rPr lang="en-US" altLang="zh-TW" sz="1600" dirty="0"/>
              <a:t>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MTP</a:t>
            </a:r>
            <a:r>
              <a:rPr lang="en-US" altLang="zh-TW" sz="1600" dirty="0"/>
              <a:t>) and Per Layer Embedding 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PLE</a:t>
            </a:r>
            <a:r>
              <a:rPr lang="en-US" altLang="zh-TW" sz="1600" dirty="0"/>
              <a:t>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797152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1" y="512978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8160DF6B-6461-AA6F-E2BC-B9036A02165F}"/>
              </a:ext>
            </a:extLst>
          </p:cNvPr>
          <p:cNvGrpSpPr/>
          <p:nvPr/>
        </p:nvGrpSpPr>
        <p:grpSpPr>
          <a:xfrm>
            <a:off x="6804248" y="476672"/>
            <a:ext cx="1871696" cy="3240360"/>
            <a:chOff x="6804248" y="476672"/>
            <a:chExt cx="1871696" cy="3240360"/>
          </a:xfrm>
        </p:grpSpPr>
        <p:sp>
          <p:nvSpPr>
            <p:cNvPr id="58" name="文字方塊 57">
              <a:extLst>
                <a:ext uri="{FF2B5EF4-FFF2-40B4-BE49-F238E27FC236}">
                  <a16:creationId xmlns:a16="http://schemas.microsoft.com/office/drawing/2014/main" id="{2FA5271A-6251-9F6D-E4BF-8C7BBF6BE8DB}"/>
                </a:ext>
              </a:extLst>
            </p:cNvPr>
            <p:cNvSpPr txBox="1"/>
            <p:nvPr/>
          </p:nvSpPr>
          <p:spPr>
            <a:xfrm>
              <a:off x="7299516" y="2702530"/>
              <a:ext cx="872480" cy="222414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TE + PE</a:t>
              </a:r>
              <a:endParaRPr lang="en-US" altLang="zh-TW" sz="10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sp>
          <p:nvSpPr>
            <p:cNvPr id="55" name="矩形: 圓角 54">
              <a:extLst>
                <a:ext uri="{FF2B5EF4-FFF2-40B4-BE49-F238E27FC236}">
                  <a16:creationId xmlns:a16="http://schemas.microsoft.com/office/drawing/2014/main" id="{F544B70C-E4B4-1CCF-D188-78F665C0D6F8}"/>
                </a:ext>
              </a:extLst>
            </p:cNvPr>
            <p:cNvSpPr/>
            <p:nvPr/>
          </p:nvSpPr>
          <p:spPr>
            <a:xfrm>
              <a:off x="7013835" y="1412776"/>
              <a:ext cx="1440160" cy="1185341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4C6653E2-E464-B67F-542C-626C1C49F7FF}"/>
                </a:ext>
              </a:extLst>
            </p:cNvPr>
            <p:cNvSpPr txBox="1"/>
            <p:nvPr/>
          </p:nvSpPr>
          <p:spPr>
            <a:xfrm>
              <a:off x="7157851" y="1571086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Feed</a:t>
              </a:r>
              <a:r>
                <a:rPr lang="zh-TW" altLang="en-US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 </a:t>
              </a: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Forward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A4DA872E-47D3-7A6D-BE96-70A23B1006A7}"/>
                </a:ext>
              </a:extLst>
            </p:cNvPr>
            <p:cNvSpPr txBox="1"/>
            <p:nvPr/>
          </p:nvSpPr>
          <p:spPr>
            <a:xfrm>
              <a:off x="7157851" y="1940154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Masked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Multi-Head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Attention</a:t>
              </a:r>
            </a:p>
          </p:txBody>
        </p:sp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1FE51C67-71A2-A3A5-E1FA-B717129CA894}"/>
                </a:ext>
              </a:extLst>
            </p:cNvPr>
            <p:cNvSpPr txBox="1"/>
            <p:nvPr/>
          </p:nvSpPr>
          <p:spPr>
            <a:xfrm>
              <a:off x="7157851" y="98071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F5D3F3E7-E4F3-965F-8F04-7A64D5D57113}"/>
                </a:ext>
              </a:extLst>
            </p:cNvPr>
            <p:cNvSpPr txBox="1"/>
            <p:nvPr/>
          </p:nvSpPr>
          <p:spPr>
            <a:xfrm>
              <a:off x="7157851" y="47667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Token</a:t>
              </a:r>
              <a:endPara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cxnSp>
          <p:nvCxnSpPr>
            <p:cNvPr id="61" name="直線單箭頭接點 60">
              <a:extLst>
                <a:ext uri="{FF2B5EF4-FFF2-40B4-BE49-F238E27FC236}">
                  <a16:creationId xmlns:a16="http://schemas.microsoft.com/office/drawing/2014/main" id="{329C200D-76D7-0142-2C84-0D0C4C97F4FA}"/>
                </a:ext>
              </a:extLst>
            </p:cNvPr>
            <p:cNvCxnSpPr>
              <a:cxnSpLocks/>
              <a:stCxn id="59" idx="0"/>
              <a:endCxn id="60" idx="2"/>
            </p:cNvCxnSpPr>
            <p:nvPr/>
          </p:nvCxnSpPr>
          <p:spPr>
            <a:xfrm flipV="1">
              <a:off x="7733915" y="836712"/>
              <a:ext cx="0" cy="14400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單箭頭接點 61">
              <a:extLst>
                <a:ext uri="{FF2B5EF4-FFF2-40B4-BE49-F238E27FC236}">
                  <a16:creationId xmlns:a16="http://schemas.microsoft.com/office/drawing/2014/main" id="{C5B3142A-D863-64FB-0BC8-59567C7436B5}"/>
                </a:ext>
              </a:extLst>
            </p:cNvPr>
            <p:cNvCxnSpPr>
              <a:cxnSpLocks/>
              <a:stCxn id="56" idx="0"/>
              <a:endCxn id="59" idx="2"/>
            </p:cNvCxnSpPr>
            <p:nvPr/>
          </p:nvCxnSpPr>
          <p:spPr>
            <a:xfrm flipV="1">
              <a:off x="7733915" y="1205765"/>
              <a:ext cx="0" cy="36532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單箭頭接點 62">
              <a:extLst>
                <a:ext uri="{FF2B5EF4-FFF2-40B4-BE49-F238E27FC236}">
                  <a16:creationId xmlns:a16="http://schemas.microsoft.com/office/drawing/2014/main" id="{BB7C1B6D-A99F-B1F2-96FB-F86F15FE3897}"/>
                </a:ext>
              </a:extLst>
            </p:cNvPr>
            <p:cNvCxnSpPr>
              <a:cxnSpLocks/>
              <a:stCxn id="58" idx="0"/>
              <a:endCxn id="57" idx="2"/>
            </p:cNvCxnSpPr>
            <p:nvPr/>
          </p:nvCxnSpPr>
          <p:spPr>
            <a:xfrm flipH="1" flipV="1">
              <a:off x="7733915" y="2463376"/>
              <a:ext cx="1841" cy="2391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單箭頭接點 63">
              <a:extLst>
                <a:ext uri="{FF2B5EF4-FFF2-40B4-BE49-F238E27FC236}">
                  <a16:creationId xmlns:a16="http://schemas.microsoft.com/office/drawing/2014/main" id="{8AE4B4AE-55F0-3C44-8DE4-E9D5AECED94B}"/>
                </a:ext>
              </a:extLst>
            </p:cNvPr>
            <p:cNvCxnSpPr>
              <a:cxnSpLocks/>
              <a:stCxn id="57" idx="0"/>
              <a:endCxn id="56" idx="2"/>
            </p:cNvCxnSpPr>
            <p:nvPr/>
          </p:nvCxnSpPr>
          <p:spPr>
            <a:xfrm flipV="1">
              <a:off x="7733915" y="1796138"/>
              <a:ext cx="0" cy="1440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接點: 肘形 64">
              <a:extLst>
                <a:ext uri="{FF2B5EF4-FFF2-40B4-BE49-F238E27FC236}">
                  <a16:creationId xmlns:a16="http://schemas.microsoft.com/office/drawing/2014/main" id="{2BCF499F-4098-D851-5556-9E6FCE276555}"/>
                </a:ext>
              </a:extLst>
            </p:cNvPr>
            <p:cNvCxnSpPr>
              <a:cxnSpLocks/>
              <a:stCxn id="60" idx="3"/>
              <a:endCxn id="58" idx="3"/>
            </p:cNvCxnSpPr>
            <p:nvPr/>
          </p:nvCxnSpPr>
          <p:spPr>
            <a:xfrm flipH="1">
              <a:off x="8171996" y="656692"/>
              <a:ext cx="137983" cy="2157045"/>
            </a:xfrm>
            <a:prstGeom prst="bentConnector3">
              <a:avLst>
                <a:gd name="adj1" fmla="val -165673"/>
              </a:avLst>
            </a:prstGeom>
            <a:ln w="19050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C584174-AADE-F778-38AE-FBDA33DA3A7B}"/>
                </a:ext>
              </a:extLst>
            </p:cNvPr>
            <p:cNvSpPr txBox="1"/>
            <p:nvPr/>
          </p:nvSpPr>
          <p:spPr>
            <a:xfrm>
              <a:off x="6848657" y="2152607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lang="en-US" altLang="zh-TW" sz="1000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  <a:endPara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grpSp>
          <p:nvGrpSpPr>
            <p:cNvPr id="74" name="群組 73">
              <a:extLst>
                <a:ext uri="{FF2B5EF4-FFF2-40B4-BE49-F238E27FC236}">
                  <a16:creationId xmlns:a16="http://schemas.microsoft.com/office/drawing/2014/main" id="{31EED9A3-C9D5-7E2A-5423-072BCC118A22}"/>
                </a:ext>
              </a:extLst>
            </p:cNvPr>
            <p:cNvGrpSpPr/>
            <p:nvPr/>
          </p:nvGrpSpPr>
          <p:grpSpPr>
            <a:xfrm>
              <a:off x="6804248" y="3167464"/>
              <a:ext cx="1871696" cy="549568"/>
              <a:chOff x="6804248" y="2996952"/>
              <a:chExt cx="1871696" cy="549568"/>
            </a:xfrm>
          </p:grpSpPr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AE893425-E4F6-96F7-4CC3-98302DF5C655}"/>
                  </a:ext>
                </a:extLst>
              </p:cNvPr>
              <p:cNvSpPr/>
              <p:nvPr/>
            </p:nvSpPr>
            <p:spPr>
              <a:xfrm>
                <a:off x="6804248" y="2996952"/>
                <a:ext cx="1871696" cy="549568"/>
              </a:xfrm>
              <a:prstGeom prst="rect">
                <a:avLst/>
              </a:prstGeom>
              <a:solidFill>
                <a:schemeClr val="bg1">
                  <a:alpha val="60000"/>
                </a:schemeClr>
              </a:solidFill>
              <a:ln w="19050">
                <a:solidFill>
                  <a:schemeClr val="accent5">
                    <a:lumMod val="75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36000" rIns="36000" bIns="0" rtlCol="0" anchor="t" anchorCtr="0"/>
              <a:lstStyle/>
              <a:p>
                <a:pPr algn="r">
                  <a:lnSpc>
                    <a:spcPts val="1000"/>
                  </a:lnSpc>
                </a:pPr>
                <a:r>
                  <a:rPr lang="en-US" altLang="zh-TW" sz="1000" dirty="0">
                    <a:solidFill>
                      <a:schemeClr val="tx1"/>
                    </a:solidFill>
                    <a:ea typeface="微軟正黑體" panose="020B0604030504040204" pitchFamily="34" charset="-120"/>
                  </a:rPr>
                  <a:t>Native Multimodal</a:t>
                </a:r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E82C9A1B-ACF3-0F81-4569-541E1B66A86C}"/>
                  </a:ext>
                </a:extLst>
              </p:cNvPr>
              <p:cNvSpPr/>
              <p:nvPr/>
            </p:nvSpPr>
            <p:spPr>
              <a:xfrm>
                <a:off x="6876255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Text</a:t>
                </a: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9168C702-BEE1-C784-FD87-4E5F14C79BC3}"/>
                  </a:ext>
                </a:extLst>
              </p:cNvPr>
              <p:cNvSpPr/>
              <p:nvPr/>
            </p:nvSpPr>
            <p:spPr>
              <a:xfrm>
                <a:off x="7481887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Image</a:t>
                </a: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2B1AA674-C134-9D92-4758-2D986FC6D4ED}"/>
                  </a:ext>
                </a:extLst>
              </p:cNvPr>
              <p:cNvSpPr/>
              <p:nvPr/>
            </p:nvSpPr>
            <p:spPr>
              <a:xfrm>
                <a:off x="8083837" y="3187755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Audio</a:t>
                </a:r>
              </a:p>
            </p:txBody>
          </p:sp>
        </p:grpSp>
        <p:cxnSp>
          <p:nvCxnSpPr>
            <p:cNvPr id="71" name="直線單箭頭接點 70">
              <a:extLst>
                <a:ext uri="{FF2B5EF4-FFF2-40B4-BE49-F238E27FC236}">
                  <a16:creationId xmlns:a16="http://schemas.microsoft.com/office/drawing/2014/main" id="{FCC31C36-5B68-C944-0E8A-4FECFFB9EB3D}"/>
                </a:ext>
              </a:extLst>
            </p:cNvPr>
            <p:cNvCxnSpPr>
              <a:cxnSpLocks/>
              <a:stCxn id="54" idx="0"/>
              <a:endCxn id="58" idx="2"/>
            </p:cNvCxnSpPr>
            <p:nvPr/>
          </p:nvCxnSpPr>
          <p:spPr>
            <a:xfrm flipH="1" flipV="1">
              <a:off x="7735756" y="2924944"/>
              <a:ext cx="4340" cy="2425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4B0F035-97FD-79C3-C3A0-2E744AC34D19}"/>
              </a:ext>
            </a:extLst>
          </p:cNvPr>
          <p:cNvSpPr/>
          <p:nvPr/>
        </p:nvSpPr>
        <p:spPr>
          <a:xfrm>
            <a:off x="6670406" y="5838875"/>
            <a:ext cx="487445" cy="562041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86993-55F6-655D-6F3A-DCF41E0E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9BC5D209-CD0F-8B4F-B117-FFBA97F7BB22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688924-6F43-FE20-F39C-E0229359FB31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09BE2-1656-D0B4-AAC6-15D6C3575E40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942C8466-D1D5-4EF3-2363-E4C21E214E95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C78A0572-1A63-5E70-B09A-4C3D3A0EC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BED8C8EA-0B18-FE3A-ACAC-8ED247CD33D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9DFAE5F-76DE-A380-A8BC-634A17D2929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CBBF751A-4841-643D-D672-6495988B1BA0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F5AF795-3B3C-801B-75CE-99F18D920572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4F679991-33F8-2BC7-D7D4-C417EBD90EEA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BBCCED22-9B60-A6F6-30FE-BEE684D117D3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76B940A6-6BCF-781A-CE7D-374C0654CC82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252A4D11-98C1-E2CE-76F9-54E64CE32887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3B21D428-399E-48DA-FA3B-F4D2934EFEFE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D5B44D3B-4241-2BF9-F500-31CADFD0B569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FAAA9A43-CE4C-B3F6-E773-87ECFC273B53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777D1806-1AC5-A090-0E2F-7F659A74A141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B636CD72-4E44-11EE-89CB-634CD940FF09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47BCA9D0-43E0-3E34-1EAB-DAC8C02BE71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5085AE20-60EC-AD40-341B-68DC9CFF1AA3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6050EABD-57B0-7FFB-D65A-5E5C8A88B497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BBB5E49F-166C-829A-96D9-BC04ED271FA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D8AF711C-01F8-2383-A166-72304A75F5CF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4C6AA02B-3311-B121-FEAD-3A83EEDD19D0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BCEAC993-7B03-4603-7D4F-16080ED42D99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VRAM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9EA0A467-5651-59AE-9729-2BEAA8CBE8A7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C0659B23-491F-B9F4-046F-3D6F8970265F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F22FC26-3919-51CE-75E8-79C3F3E93FDE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DB65FBC4-B58B-615F-380B-357BFECFF890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80417F5D-C68B-59D2-FCA6-5DDA7D38F16F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719E8EC6-A31B-D42A-C145-2ADBE0C744F6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26919418-A789-EDA6-86D0-96CC2155BFCB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385AF1C9-D14F-F596-B42A-EACBA5A9AD44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CA1F0A1-C78B-4C44-6484-9B782920E7FF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6B49238-60F6-67AA-9BF6-00D4A655770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18F6AD0-83FA-9357-73ED-4F671D392F32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7A53AD3C-F2BB-4EE2-24CD-86C8D28B9CA8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CF8E78C1-A247-3230-83FA-CB76161D9B1F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Time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B37A615F-552C-F797-9035-FB5C2D0F26EE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0090CFC2-B2C3-795C-E73F-AE2C84936473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D7904C49-4BB8-1FF5-995D-DC1BDC65925E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E691904-0820-18B0-4CA4-0C81702D74D5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6D8F9B5A-AD42-7F5E-59D3-5A2BC7763CF0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958C702D-720A-4007-6D16-2D4BCAC13B6B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EFEB4379-478B-ED90-928C-8ABA214FEFAD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6AA90C8-F0F4-60D7-CC2D-4ACFC9D0DB57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38139EC-2911-D766-E9F4-9EC4A47613F0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88D032C-2C1E-12FF-C88A-C93002A64CFF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44886D9A-736F-C281-2F59-B52D321C5207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7858E5B8-E8AC-C548-9D59-288F9AD872C0}"/>
              </a:ext>
            </a:extLst>
          </p:cNvPr>
          <p:cNvCxnSpPr>
            <a:cxnSpLocks/>
            <a:stCxn id="34" idx="0"/>
            <a:endCxn id="27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DF147AB-9484-60B6-4538-414E0D6275A5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kumimoji="0" lang="en-US" altLang="zh-TW" sz="1000" b="1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Mentor</a:t>
            </a:r>
          </a:p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lang="en-US" altLang="zh-TW" sz="1000" b="1" dirty="0">
                <a:latin typeface="Consolas" panose="020B0609020204030204" pitchFamily="49" charset="0"/>
                <a:ea typeface="新細明體" panose="02020500000000000000" pitchFamily="18" charset="-120"/>
              </a:rPr>
              <a:t>Model</a:t>
            </a:r>
            <a:endParaRPr kumimoji="0" lang="zh-TW" altLang="zh-TW" sz="1000" strike="noStrike" kern="1200" cap="none" spc="0" normalizeH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4E66B93-719D-CBB5-EF4B-34F3D4D5E385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78BE287-ABAE-8938-B37C-19FD2B4B229E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5DE4A9B2-62EF-A9B5-5ECE-ED795AB7D94A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60" name="直線單箭頭接點 59">
            <a:extLst>
              <a:ext uri="{FF2B5EF4-FFF2-40B4-BE49-F238E27FC236}">
                <a16:creationId xmlns:a16="http://schemas.microsoft.com/office/drawing/2014/main" id="{2C954AD7-E402-6AFC-8B91-CBAD6E53D57E}"/>
              </a:ext>
            </a:extLst>
          </p:cNvPr>
          <p:cNvCxnSpPr>
            <a:cxnSpLocks/>
            <a:stCxn id="26" idx="0"/>
            <a:endCxn id="6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D36BF304-77E9-0856-4BC0-AEEE5DDEDB92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2AB2E4CD-81A2-C891-8A8A-C932E820910C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effectLst/>
              </a:rPr>
              <a:t>Full-FT</a:t>
            </a:r>
            <a:br>
              <a:rPr lang="en-US" altLang="zh-TW" sz="1400" b="1" u="none" strike="noStrike" dirty="0">
                <a:effectLst/>
              </a:rPr>
            </a:br>
            <a:r>
              <a:rPr lang="en-US" altLang="zh-TW" sz="1200" u="none" strike="noStrike" dirty="0">
                <a:effectLst/>
              </a:rPr>
              <a:t>mobile</a:t>
            </a:r>
            <a:r>
              <a:rPr lang="zh-TW" altLang="en-US" sz="1200" u="none" strike="noStrike" dirty="0">
                <a:effectLst/>
              </a:rPr>
              <a:t> </a:t>
            </a:r>
            <a:r>
              <a:rPr lang="en-US" altLang="zh-TW" sz="1200" u="none" strike="noStrike" dirty="0">
                <a:effectLst/>
              </a:rPr>
              <a:t>phone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8E46294F-E8D5-8000-D7A7-61B2407B3F27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INT4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NV, Qualcomm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88F6325-C28A-4157-F3A9-7C1C0E7C8669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PEFT + Q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4-bit / 8-bit</a:t>
            </a:r>
          </a:p>
        </p:txBody>
      </p:sp>
      <p:graphicFrame>
        <p:nvGraphicFramePr>
          <p:cNvPr id="101" name="表格 100">
            <a:extLst>
              <a:ext uri="{FF2B5EF4-FFF2-40B4-BE49-F238E27FC236}">
                <a16:creationId xmlns:a16="http://schemas.microsoft.com/office/drawing/2014/main" id="{62234615-AD4E-B363-8156-95B96ED52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184708"/>
              </p:ext>
            </p:extLst>
          </p:nvPr>
        </p:nvGraphicFramePr>
        <p:xfrm>
          <a:off x="446679" y="5483659"/>
          <a:ext cx="2061433" cy="871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296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7C945779-99C8-E510-B0CC-B3511BDE59A2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r>
              <a:rPr lang="en-US" altLang="zh-TW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Quantization</a:t>
            </a:r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325668A4-D446-9102-28ED-F52E943FA4E6}"/>
              </a:ext>
            </a:extLst>
          </p:cNvPr>
          <p:cNvGrpSpPr/>
          <p:nvPr/>
        </p:nvGrpSpPr>
        <p:grpSpPr>
          <a:xfrm>
            <a:off x="3971048" y="1140776"/>
            <a:ext cx="1105008" cy="2271474"/>
            <a:chOff x="3971048" y="1140776"/>
            <a:chExt cx="1105008" cy="2271474"/>
          </a:xfrm>
        </p:grpSpPr>
        <p:sp>
          <p:nvSpPr>
            <p:cNvPr id="231" name="矩形: 圓角 230">
              <a:extLst>
                <a:ext uri="{FF2B5EF4-FFF2-40B4-BE49-F238E27FC236}">
                  <a16:creationId xmlns:a16="http://schemas.microsoft.com/office/drawing/2014/main" id="{45D54DA9-81FE-C438-046A-1A46ED3096E4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32" name="文字方塊 231">
              <a:extLst>
                <a:ext uri="{FF2B5EF4-FFF2-40B4-BE49-F238E27FC236}">
                  <a16:creationId xmlns:a16="http://schemas.microsoft.com/office/drawing/2014/main" id="{2915F053-5BA3-91A3-F3A0-E318E31CF1D9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233" name="文字方塊 232">
              <a:extLst>
                <a:ext uri="{FF2B5EF4-FFF2-40B4-BE49-F238E27FC236}">
                  <a16:creationId xmlns:a16="http://schemas.microsoft.com/office/drawing/2014/main" id="{26EFE7DA-DC3D-61EF-CA7F-CDB6E8A8BB1F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235" name="直線單箭頭接點 234">
              <a:extLst>
                <a:ext uri="{FF2B5EF4-FFF2-40B4-BE49-F238E27FC236}">
                  <a16:creationId xmlns:a16="http://schemas.microsoft.com/office/drawing/2014/main" id="{280F35D4-BAD6-1EA4-8951-F083A9B10714}"/>
                </a:ext>
              </a:extLst>
            </p:cNvPr>
            <p:cNvCxnSpPr>
              <a:cxnSpLocks/>
              <a:stCxn id="237" idx="0"/>
              <a:endCxn id="233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單箭頭接點 235">
              <a:extLst>
                <a:ext uri="{FF2B5EF4-FFF2-40B4-BE49-F238E27FC236}">
                  <a16:creationId xmlns:a16="http://schemas.microsoft.com/office/drawing/2014/main" id="{FFBF7D4D-75E4-EAF1-B65E-C8CB1B654F37}"/>
                </a:ext>
              </a:extLst>
            </p:cNvPr>
            <p:cNvCxnSpPr>
              <a:cxnSpLocks/>
              <a:stCxn id="233" idx="0"/>
              <a:endCxn id="232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文字方塊 236">
              <a:extLst>
                <a:ext uri="{FF2B5EF4-FFF2-40B4-BE49-F238E27FC236}">
                  <a16:creationId xmlns:a16="http://schemas.microsoft.com/office/drawing/2014/main" id="{E79CA7A2-37EC-63CC-FF32-801B15CF6DFD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238" name="文字方塊 237">
              <a:extLst>
                <a:ext uri="{FF2B5EF4-FFF2-40B4-BE49-F238E27FC236}">
                  <a16:creationId xmlns:a16="http://schemas.microsoft.com/office/drawing/2014/main" id="{E4CBB606-3145-C366-F2CA-61F748F8E672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F6F6AAC-AA6F-4EE2-07D9-BB9A5FBD34B2}"/>
                </a:ext>
              </a:extLst>
            </p:cNvPr>
            <p:cNvSpPr txBox="1">
              <a:spLocks/>
            </p:cNvSpPr>
            <p:nvPr/>
          </p:nvSpPr>
          <p:spPr>
            <a:xfrm>
              <a:off x="4094886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234" name="直線單箭頭接點 233">
              <a:extLst>
                <a:ext uri="{FF2B5EF4-FFF2-40B4-BE49-F238E27FC236}">
                  <a16:creationId xmlns:a16="http://schemas.microsoft.com/office/drawing/2014/main" id="{AFADEF92-C88A-CA53-FDE0-5F7892DC5CFD}"/>
                </a:ext>
              </a:extLst>
            </p:cNvPr>
            <p:cNvCxnSpPr>
              <a:cxnSpLocks/>
              <a:stCxn id="232" idx="0"/>
              <a:endCxn id="238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矩形: 圓角 299">
              <a:extLst>
                <a:ext uri="{FF2B5EF4-FFF2-40B4-BE49-F238E27FC236}">
                  <a16:creationId xmlns:a16="http://schemas.microsoft.com/office/drawing/2014/main" id="{72283385-EF65-D064-44F7-ED7DF89F2AE4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B9D231FB-B9CF-9880-E698-8380D24C64B4}"/>
                </a:ext>
              </a:extLst>
            </p:cNvPr>
            <p:cNvSpPr/>
            <p:nvPr/>
          </p:nvSpPr>
          <p:spPr>
            <a:xfrm>
              <a:off x="4716016" y="3222501"/>
              <a:ext cx="345765" cy="174616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54D06E2C-3FA0-3B42-0585-4F52CCF2DA87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303" name="矩形: 圓角 302">
              <a:extLst>
                <a:ext uri="{FF2B5EF4-FFF2-40B4-BE49-F238E27FC236}">
                  <a16:creationId xmlns:a16="http://schemas.microsoft.com/office/drawing/2014/main" id="{E979668C-1675-047A-AB0A-72961AD64DC2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04" name="文字方塊 303">
              <a:extLst>
                <a:ext uri="{FF2B5EF4-FFF2-40B4-BE49-F238E27FC236}">
                  <a16:creationId xmlns:a16="http://schemas.microsoft.com/office/drawing/2014/main" id="{1BE78960-095F-03AA-5CF1-43CA262380D5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305" name="文字方塊 304">
              <a:extLst>
                <a:ext uri="{FF2B5EF4-FFF2-40B4-BE49-F238E27FC236}">
                  <a16:creationId xmlns:a16="http://schemas.microsoft.com/office/drawing/2014/main" id="{BE3E2506-D931-6DDB-E8E2-4F6D4B155C8E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306" name="直線單箭頭接點 305">
              <a:extLst>
                <a:ext uri="{FF2B5EF4-FFF2-40B4-BE49-F238E27FC236}">
                  <a16:creationId xmlns:a16="http://schemas.microsoft.com/office/drawing/2014/main" id="{CED5AFD8-7F9E-115D-A10B-D6EB519C0C2C}"/>
                </a:ext>
              </a:extLst>
            </p:cNvPr>
            <p:cNvCxnSpPr>
              <a:cxnSpLocks/>
              <a:stCxn id="304" idx="0"/>
              <a:endCxn id="310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單箭頭接點 306">
              <a:extLst>
                <a:ext uri="{FF2B5EF4-FFF2-40B4-BE49-F238E27FC236}">
                  <a16:creationId xmlns:a16="http://schemas.microsoft.com/office/drawing/2014/main" id="{E4C3FB2A-315E-23D6-2838-943D77BE79D1}"/>
                </a:ext>
              </a:extLst>
            </p:cNvPr>
            <p:cNvCxnSpPr>
              <a:cxnSpLocks/>
              <a:stCxn id="309" idx="0"/>
              <a:endCxn id="305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單箭頭接點 307">
              <a:extLst>
                <a:ext uri="{FF2B5EF4-FFF2-40B4-BE49-F238E27FC236}">
                  <a16:creationId xmlns:a16="http://schemas.microsoft.com/office/drawing/2014/main" id="{8AD3E93F-3282-D2F8-28FA-263D53C0A3D6}"/>
                </a:ext>
              </a:extLst>
            </p:cNvPr>
            <p:cNvCxnSpPr>
              <a:cxnSpLocks/>
              <a:stCxn id="305" idx="0"/>
              <a:endCxn id="304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文字方塊 308">
              <a:extLst>
                <a:ext uri="{FF2B5EF4-FFF2-40B4-BE49-F238E27FC236}">
                  <a16:creationId xmlns:a16="http://schemas.microsoft.com/office/drawing/2014/main" id="{C07C3214-A890-341F-2ABA-EC9F5BDE38A4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10" name="文字方塊 309">
              <a:extLst>
                <a:ext uri="{FF2B5EF4-FFF2-40B4-BE49-F238E27FC236}">
                  <a16:creationId xmlns:a16="http://schemas.microsoft.com/office/drawing/2014/main" id="{3EEE3D60-9DDA-59EF-9DF3-94A1CC72A610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312" name="文字方塊 311">
              <a:extLst>
                <a:ext uri="{FF2B5EF4-FFF2-40B4-BE49-F238E27FC236}">
                  <a16:creationId xmlns:a16="http://schemas.microsoft.com/office/drawing/2014/main" id="{8A5A3840-A3F7-2154-33FB-3424CAF267FE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4C70843D-8C4D-B7FB-568A-374C7DC85E55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4" name="矩形: 圓角 313">
              <a:extLst>
                <a:ext uri="{FF2B5EF4-FFF2-40B4-BE49-F238E27FC236}">
                  <a16:creationId xmlns:a16="http://schemas.microsoft.com/office/drawing/2014/main" id="{0A3FD1D8-8B24-8160-A2DC-EA4E3F89C00E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" name="標題 1">
              <a:extLst>
                <a:ext uri="{FF2B5EF4-FFF2-40B4-BE49-F238E27FC236}">
                  <a16:creationId xmlns:a16="http://schemas.microsoft.com/office/drawing/2014/main" id="{C54505D7-E619-DAEA-2B54-9E119C3FCDE0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21" name="標題 1">
              <a:extLst>
                <a:ext uri="{FF2B5EF4-FFF2-40B4-BE49-F238E27FC236}">
                  <a16:creationId xmlns:a16="http://schemas.microsoft.com/office/drawing/2014/main" id="{38029C74-2663-CD68-BD22-D629C819599D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FF0000"/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60F6AB3F-3534-E587-A360-D1486A2D7322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BEFA795-6B5D-D44D-7961-3C9B06DB3A44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INT4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Quantization</a:t>
            </a:r>
          </a:p>
        </p:txBody>
      </p:sp>
      <p:sp>
        <p:nvSpPr>
          <p:cNvPr id="132" name="流程圖: 合併 131">
            <a:extLst>
              <a:ext uri="{FF2B5EF4-FFF2-40B4-BE49-F238E27FC236}">
                <a16:creationId xmlns:a16="http://schemas.microsoft.com/office/drawing/2014/main" id="{B318699F-9485-4652-8519-8E7321EEE6C1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Cost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33" name="接點: 肘形 132">
            <a:extLst>
              <a:ext uri="{FF2B5EF4-FFF2-40B4-BE49-F238E27FC236}">
                <a16:creationId xmlns:a16="http://schemas.microsoft.com/office/drawing/2014/main" id="{25E3FDBC-A31D-8588-0E05-C4418761BDBC}"/>
              </a:ext>
            </a:extLst>
          </p:cNvPr>
          <p:cNvCxnSpPr>
            <a:cxnSpLocks/>
            <a:stCxn id="109" idx="3"/>
            <a:endCxn id="105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98D0DC95-1A97-D891-3726-7D42B7DA65C9}"/>
              </a:ext>
            </a:extLst>
          </p:cNvPr>
          <p:cNvCxnSpPr>
            <a:cxnSpLocks/>
            <a:stCxn id="107" idx="3"/>
            <a:endCxn id="105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19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33721"/>
              </p:ext>
            </p:extLst>
          </p:nvPr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860446"/>
              </p:ext>
            </p:extLst>
          </p:nvPr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315104"/>
              </p:ext>
            </p:extLst>
          </p:nvPr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471018"/>
              </p:ext>
            </p:extLst>
          </p:nvPr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442973"/>
              </p:ext>
            </p:extLst>
          </p:nvPr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188969"/>
              </p:ext>
            </p:extLst>
          </p:nvPr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038720"/>
              </p:ext>
            </p:extLst>
          </p:nvPr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179731"/>
              </p:ext>
            </p:extLst>
          </p:nvPr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814430"/>
              </p:ext>
            </p:extLst>
          </p:nvPr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484635"/>
              </p:ext>
            </p:extLst>
          </p:nvPr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39" name="右大括弧 38">
            <a:extLst>
              <a:ext uri="{FF2B5EF4-FFF2-40B4-BE49-F238E27FC236}">
                <a16:creationId xmlns:a16="http://schemas.microsoft.com/office/drawing/2014/main" id="{43AD7CAA-9919-2BDC-C547-ADA2F3ADF7DF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C236E84-CA66-55C6-A353-D96F41563DD1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LoRA</a:t>
            </a:r>
            <a:endParaRPr lang="zh-TW" altLang="en-US" sz="1400" b="1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9A5FBEF-DD1B-027F-7308-223EF51BE499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QLoRA</a:t>
            </a:r>
            <a:endParaRPr lang="zh-TW" altLang="en-US" sz="1400" b="1" dirty="0"/>
          </a:p>
        </p:txBody>
      </p:sp>
      <p:sp>
        <p:nvSpPr>
          <p:cNvPr id="55" name="右大括弧 54">
            <a:extLst>
              <a:ext uri="{FF2B5EF4-FFF2-40B4-BE49-F238E27FC236}">
                <a16:creationId xmlns:a16="http://schemas.microsoft.com/office/drawing/2014/main" id="{FDC02000-3510-2BFF-9245-7620E6943787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0B7BD835-FD81-3F02-5FD1-3F2F8343A2F6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79368FC2-23FC-8AFF-A6B0-B3063BDB7FC4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889C-D10C-B36A-2721-EFF1DC298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D35E2BF1-6FE3-3015-8276-1481380950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BEBCF88-3560-5ABF-5D6D-C099FC51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680322"/>
              </p:ext>
            </p:extLst>
          </p:nvPr>
        </p:nvGraphicFramePr>
        <p:xfrm>
          <a:off x="2938059" y="2204864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5969713-48F1-14D8-0B44-BBB25E2E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36973"/>
              </p:ext>
            </p:extLst>
          </p:nvPr>
        </p:nvGraphicFramePr>
        <p:xfrm>
          <a:off x="5585584" y="1381276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69F885FB-F8DB-3366-45FC-8F10E81744B6}"/>
              </a:ext>
            </a:extLst>
          </p:cNvPr>
          <p:cNvSpPr txBox="1"/>
          <p:nvPr/>
        </p:nvSpPr>
        <p:spPr>
          <a:xfrm>
            <a:off x="3320587" y="35978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A0B7BCF8-5297-D373-E95B-1D2A0407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240659"/>
              </p:ext>
            </p:extLst>
          </p:nvPr>
        </p:nvGraphicFramePr>
        <p:xfrm>
          <a:off x="3658140" y="2430190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A82BA1F2-8B0F-F56C-5C78-D715BD5F2455}"/>
              </a:ext>
            </a:extLst>
          </p:cNvPr>
          <p:cNvSpPr txBox="1"/>
          <p:nvPr/>
        </p:nvSpPr>
        <p:spPr>
          <a:xfrm>
            <a:off x="10486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EA5B1A1-E8FE-FFA5-DD35-8926472EC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188330"/>
              </p:ext>
            </p:extLst>
          </p:nvPr>
        </p:nvGraphicFramePr>
        <p:xfrm>
          <a:off x="755576" y="1641136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7A5A42F4-7CBD-9D47-F69F-2489A0F2911A}"/>
              </a:ext>
            </a:extLst>
          </p:cNvPr>
          <p:cNvSpPr txBox="1"/>
          <p:nvPr/>
        </p:nvSpPr>
        <p:spPr>
          <a:xfrm>
            <a:off x="73986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4887E64-451C-2A98-2140-B60E4788F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612413"/>
              </p:ext>
            </p:extLst>
          </p:nvPr>
        </p:nvGraphicFramePr>
        <p:xfrm>
          <a:off x="7169760" y="163143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E5328391-F130-91DE-E826-96E58451F388}"/>
              </a:ext>
            </a:extLst>
          </p:cNvPr>
          <p:cNvSpPr txBox="1"/>
          <p:nvPr/>
        </p:nvSpPr>
        <p:spPr>
          <a:xfrm>
            <a:off x="20517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BE4D3F9-BE11-216C-0F65-9F89C76CEE67}"/>
              </a:ext>
            </a:extLst>
          </p:cNvPr>
          <p:cNvSpPr txBox="1"/>
          <p:nvPr/>
        </p:nvSpPr>
        <p:spPr>
          <a:xfrm>
            <a:off x="68785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6666021-CE75-49AD-E5F2-0C852C147D4F}"/>
              </a:ext>
            </a:extLst>
          </p:cNvPr>
          <p:cNvSpPr txBox="1"/>
          <p:nvPr/>
        </p:nvSpPr>
        <p:spPr>
          <a:xfrm>
            <a:off x="3480182" y="24759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B73339CD-B5DB-548D-81FC-776E1139B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626006"/>
              </p:ext>
            </p:extLst>
          </p:nvPr>
        </p:nvGraphicFramePr>
        <p:xfrm>
          <a:off x="1043608" y="404366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8" name="文字方塊 37">
            <a:extLst>
              <a:ext uri="{FF2B5EF4-FFF2-40B4-BE49-F238E27FC236}">
                <a16:creationId xmlns:a16="http://schemas.microsoft.com/office/drawing/2014/main" id="{CBFA29BC-16EA-8E29-DAF3-456E58026E7D}"/>
              </a:ext>
            </a:extLst>
          </p:cNvPr>
          <p:cNvSpPr txBox="1"/>
          <p:nvPr/>
        </p:nvSpPr>
        <p:spPr>
          <a:xfrm>
            <a:off x="54741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)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3C496CFB-6BBB-3BA0-2E6D-8F5F1098A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75233"/>
              </p:ext>
            </p:extLst>
          </p:nvPr>
        </p:nvGraphicFramePr>
        <p:xfrm>
          <a:off x="4139953" y="4221088"/>
          <a:ext cx="444549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EB1EA629-4209-A850-F1A1-D8BA04D9C9CC}"/>
              </a:ext>
            </a:extLst>
          </p:cNvPr>
          <p:cNvCxnSpPr>
            <a:cxnSpLocks/>
          </p:cNvCxnSpPr>
          <p:nvPr/>
        </p:nvCxnSpPr>
        <p:spPr>
          <a:xfrm>
            <a:off x="3310495" y="4135391"/>
            <a:ext cx="2163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479E246E-2FCC-8FE5-B733-A981CCE1C6B4}"/>
              </a:ext>
            </a:extLst>
          </p:cNvPr>
          <p:cNvSpPr txBox="1"/>
          <p:nvPr/>
        </p:nvSpPr>
        <p:spPr>
          <a:xfrm>
            <a:off x="4138467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/>
              </a:rPr>
              <a:t>Norm</a:t>
            </a:r>
          </a:p>
        </p:txBody>
      </p:sp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9EFD464C-B4A7-F135-02DA-626DD5A57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936189"/>
              </p:ext>
            </p:extLst>
          </p:nvPr>
        </p:nvGraphicFramePr>
        <p:xfrm>
          <a:off x="3745928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81CA69A3-B5CC-02BB-7359-C1BA5E6B6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733383"/>
              </p:ext>
            </p:extLst>
          </p:nvPr>
        </p:nvGraphicFramePr>
        <p:xfrm>
          <a:off x="4901041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47E49BB-0A02-34B7-7B44-573B60119A2B}"/>
              </a:ext>
            </a:extLst>
          </p:cNvPr>
          <p:cNvSpPr txBox="1"/>
          <p:nvPr/>
        </p:nvSpPr>
        <p:spPr>
          <a:xfrm>
            <a:off x="4394000" y="35956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2780C9C-6CB0-EE4E-3624-E9C83BEC065A}"/>
              </a:ext>
            </a:extLst>
          </p:cNvPr>
          <p:cNvSpPr txBox="1"/>
          <p:nvPr/>
        </p:nvSpPr>
        <p:spPr>
          <a:xfrm>
            <a:off x="29878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 (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C4461DE9-71CF-6217-CB5B-A3A0EE539051}"/>
              </a:ext>
            </a:extLst>
          </p:cNvPr>
          <p:cNvSpPr txBox="1"/>
          <p:nvPr/>
        </p:nvSpPr>
        <p:spPr>
          <a:xfrm>
            <a:off x="4932961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1F0EDB0-BF85-DC0D-9878-3554C87FB711}"/>
              </a:ext>
            </a:extLst>
          </p:cNvPr>
          <p:cNvSpPr txBox="1"/>
          <p:nvPr/>
        </p:nvSpPr>
        <p:spPr>
          <a:xfrm>
            <a:off x="3779912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1</a:t>
            </a:r>
          </a:p>
        </p:txBody>
      </p:sp>
      <p:sp>
        <p:nvSpPr>
          <p:cNvPr id="84" name="右大括弧 83">
            <a:extLst>
              <a:ext uri="{FF2B5EF4-FFF2-40B4-BE49-F238E27FC236}">
                <a16:creationId xmlns:a16="http://schemas.microsoft.com/office/drawing/2014/main" id="{DE720BE9-4C36-0318-5B45-E24D7860CFCE}"/>
              </a:ext>
            </a:extLst>
          </p:cNvPr>
          <p:cNvSpPr/>
          <p:nvPr/>
        </p:nvSpPr>
        <p:spPr>
          <a:xfrm rot="5400000">
            <a:off x="4019893" y="2059133"/>
            <a:ext cx="133813" cy="2297484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6" name="右大括弧 85">
            <a:extLst>
              <a:ext uri="{FF2B5EF4-FFF2-40B4-BE49-F238E27FC236}">
                <a16:creationId xmlns:a16="http://schemas.microsoft.com/office/drawing/2014/main" id="{CF43AA5F-9211-1098-2460-3701EE3A76BD}"/>
              </a:ext>
            </a:extLst>
          </p:cNvPr>
          <p:cNvSpPr/>
          <p:nvPr/>
        </p:nvSpPr>
        <p:spPr>
          <a:xfrm rot="5400000">
            <a:off x="6109823" y="1697396"/>
            <a:ext cx="137191" cy="1008112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E393108B-6E78-7538-15D5-25B450E87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725624"/>
              </p:ext>
            </p:extLst>
          </p:nvPr>
        </p:nvGraphicFramePr>
        <p:xfrm>
          <a:off x="5893372" y="2315344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90" name="文字方塊 89">
            <a:extLst>
              <a:ext uri="{FF2B5EF4-FFF2-40B4-BE49-F238E27FC236}">
                <a16:creationId xmlns:a16="http://schemas.microsoft.com/office/drawing/2014/main" id="{1CA08461-6A73-1D89-9315-A1074039A04F}"/>
              </a:ext>
            </a:extLst>
          </p:cNvPr>
          <p:cNvSpPr txBox="1"/>
          <p:nvPr/>
        </p:nvSpPr>
        <p:spPr>
          <a:xfrm>
            <a:off x="59252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DBF2618B-7ED8-C2C2-19D7-3BA9775AF4CF}"/>
              </a:ext>
            </a:extLst>
          </p:cNvPr>
          <p:cNvSpPr txBox="1"/>
          <p:nvPr/>
        </p:nvSpPr>
        <p:spPr>
          <a:xfrm>
            <a:off x="5366373" y="2451264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2F7E401-3DF7-E006-A589-EECCFB9095AE}"/>
              </a:ext>
            </a:extLst>
          </p:cNvPr>
          <p:cNvSpPr txBox="1"/>
          <p:nvPr/>
        </p:nvSpPr>
        <p:spPr>
          <a:xfrm>
            <a:off x="2434003" y="2463423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0173DE3-5F00-B4F7-46E1-11CEA7497299}"/>
              </a:ext>
            </a:extLst>
          </p:cNvPr>
          <p:cNvSpPr txBox="1"/>
          <p:nvPr/>
        </p:nvSpPr>
        <p:spPr>
          <a:xfrm>
            <a:off x="2862665" y="192196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AE5345-4FEF-8806-2B9A-F6EFAE99D6B2}"/>
              </a:ext>
            </a:extLst>
          </p:cNvPr>
          <p:cNvSpPr txBox="1"/>
          <p:nvPr/>
        </p:nvSpPr>
        <p:spPr>
          <a:xfrm>
            <a:off x="4115099" y="214215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8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9D5D804-4AE3-B471-BED8-5AE258E2B811}"/>
              </a:ext>
            </a:extLst>
          </p:cNvPr>
          <p:cNvSpPr txBox="1"/>
          <p:nvPr/>
        </p:nvSpPr>
        <p:spPr>
          <a:xfrm>
            <a:off x="1499889" y="3752028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M: 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5BB9756-EA36-B027-E7A2-71CE086E3B6A}"/>
              </a:ext>
            </a:extLst>
          </p:cNvPr>
          <p:cNvSpPr txBox="1"/>
          <p:nvPr/>
        </p:nvSpPr>
        <p:spPr>
          <a:xfrm>
            <a:off x="57960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827DFC-85FE-6F70-3512-7A29995ED83A}"/>
              </a:ext>
            </a:extLst>
          </p:cNvPr>
          <p:cNvSpPr txBox="1"/>
          <p:nvPr/>
        </p:nvSpPr>
        <p:spPr>
          <a:xfrm>
            <a:off x="2339752" y="4296921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b="1" dirty="0">
                <a:solidFill>
                  <a:prstClr val="black"/>
                </a:solidFill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Element-wise</a:t>
            </a:r>
          </a:p>
          <a:p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Multiplication</a:t>
            </a:r>
            <a:endParaRPr kumimoji="0" lang="en-US" altLang="zh-TW" sz="10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1F00872-DD77-6591-7CF4-63B351B612B9}"/>
              </a:ext>
            </a:extLst>
          </p:cNvPr>
          <p:cNvSpPr txBox="1"/>
          <p:nvPr/>
        </p:nvSpPr>
        <p:spPr>
          <a:xfrm>
            <a:off x="4025388" y="4797152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742C410A-5519-9D60-F89D-F24FCB8B6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410213"/>
              </p:ext>
            </p:extLst>
          </p:nvPr>
        </p:nvGraphicFramePr>
        <p:xfrm>
          <a:off x="4139952" y="5483696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32" name="文字方塊 31">
            <a:extLst>
              <a:ext uri="{FF2B5EF4-FFF2-40B4-BE49-F238E27FC236}">
                <a16:creationId xmlns:a16="http://schemas.microsoft.com/office/drawing/2014/main" id="{8F638586-DD0F-7B38-ADEB-148121242354}"/>
              </a:ext>
            </a:extLst>
          </p:cNvPr>
          <p:cNvSpPr txBox="1"/>
          <p:nvPr/>
        </p:nvSpPr>
        <p:spPr>
          <a:xfrm>
            <a:off x="4171872" y="564448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Final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EE495000-44A7-A1D6-AFDB-A89929F61919}"/>
              </a:ext>
            </a:extLst>
          </p:cNvPr>
          <p:cNvSpPr txBox="1"/>
          <p:nvPr/>
        </p:nvSpPr>
        <p:spPr>
          <a:xfrm>
            <a:off x="2981052" y="548111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D82F859B-7C9B-D910-AF09-635336C66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18863"/>
              </p:ext>
            </p:extLst>
          </p:nvPr>
        </p:nvGraphicFramePr>
        <p:xfrm>
          <a:off x="2693565" y="5727685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9" name="文字方塊 38">
            <a:extLst>
              <a:ext uri="{FF2B5EF4-FFF2-40B4-BE49-F238E27FC236}">
                <a16:creationId xmlns:a16="http://schemas.microsoft.com/office/drawing/2014/main" id="{AE3E24DD-8382-131D-AED4-CD0C90FD0F59}"/>
              </a:ext>
            </a:extLst>
          </p:cNvPr>
          <p:cNvSpPr txBox="1"/>
          <p:nvPr/>
        </p:nvSpPr>
        <p:spPr>
          <a:xfrm>
            <a:off x="3989709" y="566908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38235047-EB09-64DA-E23A-B7F18CD8C13D}"/>
              </a:ext>
            </a:extLst>
          </p:cNvPr>
          <p:cNvSpPr txBox="1"/>
          <p:nvPr/>
        </p:nvSpPr>
        <p:spPr>
          <a:xfrm>
            <a:off x="5219948" y="540591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911C3EE7-A426-ADFD-A68E-92DF32F50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970887"/>
              </p:ext>
            </p:extLst>
          </p:nvPr>
        </p:nvGraphicFramePr>
        <p:xfrm>
          <a:off x="4991058" y="5696581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DCA76E16-589B-9769-DD1E-F10E8D3A2835}"/>
              </a:ext>
            </a:extLst>
          </p:cNvPr>
          <p:cNvSpPr txBox="1"/>
          <p:nvPr/>
        </p:nvSpPr>
        <p:spPr>
          <a:xfrm>
            <a:off x="4699836" y="564767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60CCA852-9376-3C28-913E-AAC8857E093D}"/>
              </a:ext>
            </a:extLst>
          </p:cNvPr>
          <p:cNvSpPr/>
          <p:nvPr/>
        </p:nvSpPr>
        <p:spPr>
          <a:xfrm>
            <a:off x="971600" y="4010908"/>
            <a:ext cx="1726706" cy="263368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A2721A8-CA55-88EE-ED72-26D429AD1942}"/>
              </a:ext>
            </a:extLst>
          </p:cNvPr>
          <p:cNvSpPr/>
          <p:nvPr/>
        </p:nvSpPr>
        <p:spPr>
          <a:xfrm>
            <a:off x="3710889" y="3379160"/>
            <a:ext cx="652867" cy="70466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C6279B-7C82-7076-50F0-8DCC108C2EF4}"/>
              </a:ext>
            </a:extLst>
          </p:cNvPr>
          <p:cNvSpPr txBox="1"/>
          <p:nvPr/>
        </p:nvSpPr>
        <p:spPr>
          <a:xfrm>
            <a:off x="2954502" y="247302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7D5FD221-D39C-00C4-4B77-1B45AF5D91EC}"/>
              </a:ext>
            </a:extLst>
          </p:cNvPr>
          <p:cNvSpPr txBox="1"/>
          <p:nvPr/>
        </p:nvSpPr>
        <p:spPr>
          <a:xfrm>
            <a:off x="41922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B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96" name="右大括弧 95">
            <a:extLst>
              <a:ext uri="{FF2B5EF4-FFF2-40B4-BE49-F238E27FC236}">
                <a16:creationId xmlns:a16="http://schemas.microsoft.com/office/drawing/2014/main" id="{09FEF152-97B2-87C8-447A-FE52110300CB}"/>
              </a:ext>
            </a:extLst>
          </p:cNvPr>
          <p:cNvSpPr/>
          <p:nvPr/>
        </p:nvSpPr>
        <p:spPr>
          <a:xfrm rot="5400000">
            <a:off x="4216932" y="4321960"/>
            <a:ext cx="370934" cy="2163625"/>
          </a:xfrm>
          <a:prstGeom prst="rightBrace">
            <a:avLst>
              <a:gd name="adj1" fmla="val 19145"/>
              <a:gd name="adj2" fmla="val 5044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7584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矩形: 圓角 209">
            <a:extLst>
              <a:ext uri="{FF2B5EF4-FFF2-40B4-BE49-F238E27FC236}">
                <a16:creationId xmlns:a16="http://schemas.microsoft.com/office/drawing/2014/main" id="{8152BEA7-2384-6EDC-C5EE-8FA83875660D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54" name="矩形 453">
            <a:extLst>
              <a:ext uri="{FF2B5EF4-FFF2-40B4-BE49-F238E27FC236}">
                <a16:creationId xmlns:a16="http://schemas.microsoft.com/office/drawing/2014/main" id="{05AFD648-1F4F-AE9D-EF01-0F282686B55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5" name="矩形 444">
            <a:extLst>
              <a:ext uri="{FF2B5EF4-FFF2-40B4-BE49-F238E27FC236}">
                <a16:creationId xmlns:a16="http://schemas.microsoft.com/office/drawing/2014/main" id="{F4F43444-68EC-669F-9DC6-881E853A6805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chemeClr val="bg2">
              <a:lumMod val="90000"/>
              <a:alpha val="60000"/>
            </a:schemeClr>
          </a:solidFill>
          <a:ln w="19050">
            <a:solidFill>
              <a:schemeClr val="bg2">
                <a:lumMod val="50000"/>
                <a:alpha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algn="ctr">
              <a:lnSpc>
                <a:spcPts val="1000"/>
              </a:lnSpc>
            </a:pPr>
            <a:endParaRPr lang="en-US" altLang="zh-TW" sz="1000" dirty="0">
              <a:solidFill>
                <a:schemeClr val="tx1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BE19256F-39DD-757C-6459-C5C27369D12B}"/>
              </a:ext>
            </a:extLst>
          </p:cNvPr>
          <p:cNvSpPr/>
          <p:nvPr/>
        </p:nvSpPr>
        <p:spPr>
          <a:xfrm>
            <a:off x="2123728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72" name="矩形: 圓角 171">
            <a:extLst>
              <a:ext uri="{FF2B5EF4-FFF2-40B4-BE49-F238E27FC236}">
                <a16:creationId xmlns:a16="http://schemas.microsoft.com/office/drawing/2014/main" id="{E4FBE54E-BF70-627C-7E2E-725B760BEB6D}"/>
              </a:ext>
            </a:extLst>
          </p:cNvPr>
          <p:cNvSpPr/>
          <p:nvPr/>
        </p:nvSpPr>
        <p:spPr>
          <a:xfrm>
            <a:off x="467544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29" name="矩形: 圓角 228">
            <a:extLst>
              <a:ext uri="{FF2B5EF4-FFF2-40B4-BE49-F238E27FC236}">
                <a16:creationId xmlns:a16="http://schemas.microsoft.com/office/drawing/2014/main" id="{8F1B5488-7BCE-8EA6-44BE-77F3FE5C352E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63207710-985C-7A28-4056-2FA6713D85CB}"/>
              </a:ext>
            </a:extLst>
          </p:cNvPr>
          <p:cNvSpPr/>
          <p:nvPr/>
        </p:nvSpPr>
        <p:spPr>
          <a:xfrm>
            <a:off x="467826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70EDC75-7385-5F95-B4BA-97F9859B8A9F}"/>
              </a:ext>
            </a:extLst>
          </p:cNvPr>
          <p:cNvSpPr txBox="1"/>
          <p:nvPr/>
        </p:nvSpPr>
        <p:spPr>
          <a:xfrm>
            <a:off x="535220" y="2002309"/>
            <a:ext cx="1086557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587727A-BDEF-F32C-B3C5-7C3AB14BD1E5}"/>
              </a:ext>
            </a:extLst>
          </p:cNvPr>
          <p:cNvSpPr txBox="1"/>
          <p:nvPr/>
        </p:nvSpPr>
        <p:spPr>
          <a:xfrm>
            <a:off x="535220" y="3781568"/>
            <a:ext cx="1086557" cy="824652"/>
          </a:xfrm>
          <a:prstGeom prst="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EB078010-CFFF-9CD7-52C0-BC77FCB4C98B}"/>
              </a:ext>
            </a:extLst>
          </p:cNvPr>
          <p:cNvCxnSpPr>
            <a:cxnSpLocks/>
            <a:endCxn id="179" idx="2"/>
          </p:cNvCxnSpPr>
          <p:nvPr/>
        </p:nvCxnSpPr>
        <p:spPr>
          <a:xfrm flipH="1" flipV="1">
            <a:off x="1075281" y="4501648"/>
            <a:ext cx="2307" cy="43506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標題 1">
            <a:extLst>
              <a:ext uri="{FF2B5EF4-FFF2-40B4-BE49-F238E27FC236}">
                <a16:creationId xmlns:a16="http://schemas.microsoft.com/office/drawing/2014/main" id="{6437C88A-0580-6462-84EA-7D74708B04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7D10604D-7C92-2E3B-35EC-F4C7CB2B62D2}"/>
              </a:ext>
            </a:extLst>
          </p:cNvPr>
          <p:cNvSpPr/>
          <p:nvPr/>
        </p:nvSpPr>
        <p:spPr>
          <a:xfrm>
            <a:off x="2123728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6E0CA71-1BC7-E4CA-433F-7736D51728A0}"/>
              </a:ext>
            </a:extLst>
          </p:cNvPr>
          <p:cNvSpPr txBox="1"/>
          <p:nvPr/>
        </p:nvSpPr>
        <p:spPr>
          <a:xfrm>
            <a:off x="2200023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69BCEB1-E0B0-B90E-2045-1A27BA4B3F18}"/>
              </a:ext>
            </a:extLst>
          </p:cNvPr>
          <p:cNvSpPr txBox="1"/>
          <p:nvPr/>
        </p:nvSpPr>
        <p:spPr>
          <a:xfrm>
            <a:off x="2195735" y="3781568"/>
            <a:ext cx="1086557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A6DD51A0-4E9D-53D5-774B-7FB0D7B40776}"/>
              </a:ext>
            </a:extLst>
          </p:cNvPr>
          <p:cNvCxnSpPr>
            <a:cxnSpLocks/>
            <a:stCxn id="176" idx="0"/>
            <a:endCxn id="177" idx="2"/>
          </p:cNvCxnSpPr>
          <p:nvPr/>
        </p:nvCxnSpPr>
        <p:spPr>
          <a:xfrm flipH="1" flipV="1">
            <a:off x="2726271" y="4501648"/>
            <a:ext cx="2070" cy="2550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矩形: 圓角 113">
            <a:extLst>
              <a:ext uri="{FF2B5EF4-FFF2-40B4-BE49-F238E27FC236}">
                <a16:creationId xmlns:a16="http://schemas.microsoft.com/office/drawing/2014/main" id="{EEB91617-C124-5DE4-BE19-2CEB48DC1241}"/>
              </a:ext>
            </a:extLst>
          </p:cNvPr>
          <p:cNvSpPr/>
          <p:nvPr/>
        </p:nvSpPr>
        <p:spPr>
          <a:xfrm>
            <a:off x="2123728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880A86E0-5A57-1AAC-19B8-36E088E57F41}"/>
              </a:ext>
            </a:extLst>
          </p:cNvPr>
          <p:cNvSpPr/>
          <p:nvPr/>
        </p:nvSpPr>
        <p:spPr>
          <a:xfrm>
            <a:off x="467544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17" name="直線單箭頭接點 116">
            <a:extLst>
              <a:ext uri="{FF2B5EF4-FFF2-40B4-BE49-F238E27FC236}">
                <a16:creationId xmlns:a16="http://schemas.microsoft.com/office/drawing/2014/main" id="{85BE5E5C-28BB-97A1-01B2-6768AAA67AEF}"/>
              </a:ext>
            </a:extLst>
          </p:cNvPr>
          <p:cNvCxnSpPr>
            <a:cxnSpLocks/>
            <a:stCxn id="2" idx="0"/>
            <a:endCxn id="116" idx="2"/>
          </p:cNvCxnSpPr>
          <p:nvPr/>
        </p:nvCxnSpPr>
        <p:spPr>
          <a:xfrm flipH="1" flipV="1">
            <a:off x="1077305" y="1750550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線單箭頭接點 119">
            <a:extLst>
              <a:ext uri="{FF2B5EF4-FFF2-40B4-BE49-F238E27FC236}">
                <a16:creationId xmlns:a16="http://schemas.microsoft.com/office/drawing/2014/main" id="{B696DE89-8A26-544F-3D66-7094163C735B}"/>
              </a:ext>
            </a:extLst>
          </p:cNvPr>
          <p:cNvCxnSpPr>
            <a:cxnSpLocks/>
            <a:stCxn id="19" idx="0"/>
            <a:endCxn id="114" idx="2"/>
          </p:cNvCxnSpPr>
          <p:nvPr/>
        </p:nvCxnSpPr>
        <p:spPr>
          <a:xfrm flipV="1">
            <a:off x="2733489" y="1750550"/>
            <a:ext cx="0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5E0CAF59-BBBF-C06E-BFAB-579759835897}"/>
              </a:ext>
            </a:extLst>
          </p:cNvPr>
          <p:cNvSpPr txBox="1"/>
          <p:nvPr/>
        </p:nvSpPr>
        <p:spPr>
          <a:xfrm>
            <a:off x="248805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8F514093-6F77-65BB-A2D2-6043D3519CE7}"/>
              </a:ext>
            </a:extLst>
          </p:cNvPr>
          <p:cNvSpPr txBox="1"/>
          <p:nvPr/>
        </p:nvSpPr>
        <p:spPr>
          <a:xfrm>
            <a:off x="2787962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ECA51B2A-2ABF-6E33-0457-6751CBACF99B}"/>
              </a:ext>
            </a:extLst>
          </p:cNvPr>
          <p:cNvSpPr txBox="1"/>
          <p:nvPr/>
        </p:nvSpPr>
        <p:spPr>
          <a:xfrm>
            <a:off x="307459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744B4012-ACB2-0F3C-758F-4D04EBA7F1FE}"/>
              </a:ext>
            </a:extLst>
          </p:cNvPr>
          <p:cNvSpPr txBox="1"/>
          <p:nvPr/>
        </p:nvSpPr>
        <p:spPr>
          <a:xfrm>
            <a:off x="2195736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AE005A0-05D7-773E-285E-3FCA95F33F2D}"/>
              </a:ext>
            </a:extLst>
          </p:cNvPr>
          <p:cNvSpPr txBox="1"/>
          <p:nvPr/>
        </p:nvSpPr>
        <p:spPr>
          <a:xfrm>
            <a:off x="2483768" y="2350933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4051D90B-7D0B-401F-7F76-104C3902FCE5}"/>
              </a:ext>
            </a:extLst>
          </p:cNvPr>
          <p:cNvSpPr txBox="1"/>
          <p:nvPr/>
        </p:nvSpPr>
        <p:spPr>
          <a:xfrm>
            <a:off x="278367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BF64FCE1-31A2-A9B7-C357-917B8D840233}"/>
              </a:ext>
            </a:extLst>
          </p:cNvPr>
          <p:cNvSpPr txBox="1"/>
          <p:nvPr/>
        </p:nvSpPr>
        <p:spPr>
          <a:xfrm>
            <a:off x="307459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14B2865-C3D6-34B0-B1AB-48FB701BAEE5}"/>
              </a:ext>
            </a:extLst>
          </p:cNvPr>
          <p:cNvSpPr txBox="1"/>
          <p:nvPr/>
        </p:nvSpPr>
        <p:spPr>
          <a:xfrm>
            <a:off x="2199071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C36BF9ED-BB06-85E2-9031-050919357D81}"/>
              </a:ext>
            </a:extLst>
          </p:cNvPr>
          <p:cNvSpPr txBox="1"/>
          <p:nvPr/>
        </p:nvSpPr>
        <p:spPr>
          <a:xfrm>
            <a:off x="248710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89A7308-C46C-A590-0867-D7C276AD8556}"/>
              </a:ext>
            </a:extLst>
          </p:cNvPr>
          <p:cNvSpPr txBox="1"/>
          <p:nvPr/>
        </p:nvSpPr>
        <p:spPr>
          <a:xfrm>
            <a:off x="2787010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439DE49D-B3C9-076B-1306-62B820CCC6AA}"/>
              </a:ext>
            </a:extLst>
          </p:cNvPr>
          <p:cNvSpPr txBox="1"/>
          <p:nvPr/>
        </p:nvSpPr>
        <p:spPr>
          <a:xfrm>
            <a:off x="307364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3F814F05-AF87-78FB-274A-CB46919FC54B}"/>
              </a:ext>
            </a:extLst>
          </p:cNvPr>
          <p:cNvSpPr txBox="1"/>
          <p:nvPr/>
        </p:nvSpPr>
        <p:spPr>
          <a:xfrm>
            <a:off x="2194784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0" name="文字方塊 159">
            <a:extLst>
              <a:ext uri="{FF2B5EF4-FFF2-40B4-BE49-F238E27FC236}">
                <a16:creationId xmlns:a16="http://schemas.microsoft.com/office/drawing/2014/main" id="{86604D7E-3B80-431C-B51D-7F28A1DC59B6}"/>
              </a:ext>
            </a:extLst>
          </p:cNvPr>
          <p:cNvSpPr txBox="1"/>
          <p:nvPr/>
        </p:nvSpPr>
        <p:spPr>
          <a:xfrm>
            <a:off x="2482816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99CA2173-A9DE-DD28-3E1F-D8D274448690}"/>
              </a:ext>
            </a:extLst>
          </p:cNvPr>
          <p:cNvSpPr txBox="1"/>
          <p:nvPr/>
        </p:nvSpPr>
        <p:spPr>
          <a:xfrm>
            <a:off x="2782723" y="2917472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DD71B362-A01D-EBB9-D617-94917BA6CDEC}"/>
              </a:ext>
            </a:extLst>
          </p:cNvPr>
          <p:cNvSpPr txBox="1"/>
          <p:nvPr/>
        </p:nvSpPr>
        <p:spPr>
          <a:xfrm>
            <a:off x="3073643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4984473E-2D74-7C5F-7523-1066200E0569}"/>
              </a:ext>
            </a:extLst>
          </p:cNvPr>
          <p:cNvSpPr/>
          <p:nvPr/>
        </p:nvSpPr>
        <p:spPr>
          <a:xfrm>
            <a:off x="607229" y="4756564"/>
            <a:ext cx="933795" cy="393156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ACB06678-7FB7-4292-ABE6-B489A21D9B47}"/>
              </a:ext>
            </a:extLst>
          </p:cNvPr>
          <p:cNvSpPr/>
          <p:nvPr/>
        </p:nvSpPr>
        <p:spPr>
          <a:xfrm>
            <a:off x="2476313" y="4756705"/>
            <a:ext cx="504056" cy="393015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DA06AFCC-47AC-D0E2-83E9-2D3F7A51BC37}"/>
              </a:ext>
            </a:extLst>
          </p:cNvPr>
          <p:cNvSpPr/>
          <p:nvPr/>
        </p:nvSpPr>
        <p:spPr>
          <a:xfrm>
            <a:off x="2474243" y="4069600"/>
            <a:ext cx="504056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2048</a:t>
            </a:r>
          </a:p>
        </p:txBody>
      </p:sp>
      <p:sp>
        <p:nvSpPr>
          <p:cNvPr id="179" name="矩形: 圓角 178">
            <a:extLst>
              <a:ext uri="{FF2B5EF4-FFF2-40B4-BE49-F238E27FC236}">
                <a16:creationId xmlns:a16="http://schemas.microsoft.com/office/drawing/2014/main" id="{EC117753-EFAC-91F3-0AE6-4EB0623CBA38}"/>
              </a:ext>
            </a:extLst>
          </p:cNvPr>
          <p:cNvSpPr/>
          <p:nvPr/>
        </p:nvSpPr>
        <p:spPr>
          <a:xfrm>
            <a:off x="607229" y="4069600"/>
            <a:ext cx="936104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8192</a:t>
            </a:r>
          </a:p>
        </p:txBody>
      </p:sp>
      <p:sp>
        <p:nvSpPr>
          <p:cNvPr id="181" name="矩形: 圓角 180">
            <a:extLst>
              <a:ext uri="{FF2B5EF4-FFF2-40B4-BE49-F238E27FC236}">
                <a16:creationId xmlns:a16="http://schemas.microsoft.com/office/drawing/2014/main" id="{1C7D8B6E-9018-D3B0-9050-78C4C703439B}"/>
              </a:ext>
            </a:extLst>
          </p:cNvPr>
          <p:cNvSpPr/>
          <p:nvPr/>
        </p:nvSpPr>
        <p:spPr>
          <a:xfrm>
            <a:off x="607229" y="2472158"/>
            <a:ext cx="936104" cy="1093386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11" name="文字方塊 210">
            <a:extLst>
              <a:ext uri="{FF2B5EF4-FFF2-40B4-BE49-F238E27FC236}">
                <a16:creationId xmlns:a16="http://schemas.microsoft.com/office/drawing/2014/main" id="{E8BBC1BD-B857-3E87-A92C-9AD7F8FD3FDD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12" name="文字方塊 211">
            <a:extLst>
              <a:ext uri="{FF2B5EF4-FFF2-40B4-BE49-F238E27FC236}">
                <a16:creationId xmlns:a16="http://schemas.microsoft.com/office/drawing/2014/main" id="{8BCA93BD-0565-5A58-CC44-CB484CF1AC63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214" name="矩形: 圓角 213">
            <a:extLst>
              <a:ext uri="{FF2B5EF4-FFF2-40B4-BE49-F238E27FC236}">
                <a16:creationId xmlns:a16="http://schemas.microsoft.com/office/drawing/2014/main" id="{B8497F08-95D0-F2C5-894C-7C8B7701641F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215" name="直線單箭頭接點 214">
            <a:extLst>
              <a:ext uri="{FF2B5EF4-FFF2-40B4-BE49-F238E27FC236}">
                <a16:creationId xmlns:a16="http://schemas.microsoft.com/office/drawing/2014/main" id="{28BE8337-43EE-0003-F107-E86F662BD722}"/>
              </a:ext>
            </a:extLst>
          </p:cNvPr>
          <p:cNvCxnSpPr>
            <a:cxnSpLocks/>
            <a:stCxn id="210" idx="0"/>
            <a:endCxn id="214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B1EC08CE-E011-D4FD-3B57-E460890E997B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Nxd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232" name="直線單箭頭接點 231">
            <a:extLst>
              <a:ext uri="{FF2B5EF4-FFF2-40B4-BE49-F238E27FC236}">
                <a16:creationId xmlns:a16="http://schemas.microsoft.com/office/drawing/2014/main" id="{F26B60A0-8C3B-AFEC-E949-85B592C35EA9}"/>
              </a:ext>
            </a:extLst>
          </p:cNvPr>
          <p:cNvCxnSpPr>
            <a:cxnSpLocks/>
            <a:stCxn id="233" idx="0"/>
            <a:endCxn id="234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矩形 232">
            <a:extLst>
              <a:ext uri="{FF2B5EF4-FFF2-40B4-BE49-F238E27FC236}">
                <a16:creationId xmlns:a16="http://schemas.microsoft.com/office/drawing/2014/main" id="{EE8233CC-685F-7D13-2602-C521F75A2832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34" name="矩形: 圓角 233">
            <a:extLst>
              <a:ext uri="{FF2B5EF4-FFF2-40B4-BE49-F238E27FC236}">
                <a16:creationId xmlns:a16="http://schemas.microsoft.com/office/drawing/2014/main" id="{ECD326D8-B7FF-4E8B-8C79-96380FFA8CB5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sp>
        <p:nvSpPr>
          <p:cNvPr id="243" name="矩形: 圓角 242">
            <a:extLst>
              <a:ext uri="{FF2B5EF4-FFF2-40B4-BE49-F238E27FC236}">
                <a16:creationId xmlns:a16="http://schemas.microsoft.com/office/drawing/2014/main" id="{D2F0EB87-8852-A70A-3723-552C9C22DAC4}"/>
              </a:ext>
            </a:extLst>
          </p:cNvPr>
          <p:cNvSpPr/>
          <p:nvPr/>
        </p:nvSpPr>
        <p:spPr>
          <a:xfrm>
            <a:off x="2467914" y="3224554"/>
            <a:ext cx="516929" cy="436010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MoE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Router</a:t>
            </a:r>
          </a:p>
        </p:txBody>
      </p:sp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61885D46-3697-0E37-AEE5-5620963F4D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438005"/>
              </p:ext>
            </p:extLst>
          </p:nvPr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3" name="表格 252">
            <a:extLst>
              <a:ext uri="{FF2B5EF4-FFF2-40B4-BE49-F238E27FC236}">
                <a16:creationId xmlns:a16="http://schemas.microsoft.com/office/drawing/2014/main" id="{DC5B4798-CEC6-AFB5-C676-A6C508894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125562"/>
              </p:ext>
            </p:extLst>
          </p:nvPr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9" name="表格 258">
            <a:extLst>
              <a:ext uri="{FF2B5EF4-FFF2-40B4-BE49-F238E27FC236}">
                <a16:creationId xmlns:a16="http://schemas.microsoft.com/office/drawing/2014/main" id="{BB345011-E72A-4B57-7623-0F079D3A8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851739"/>
              </p:ext>
            </p:extLst>
          </p:nvPr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61" name="表格 260">
            <a:extLst>
              <a:ext uri="{FF2B5EF4-FFF2-40B4-BE49-F238E27FC236}">
                <a16:creationId xmlns:a16="http://schemas.microsoft.com/office/drawing/2014/main" id="{FFB275EB-4E36-DB50-7280-FD028F564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050720"/>
              </p:ext>
            </p:extLst>
          </p:nvPr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277" name="接點: 肘形 276">
            <a:extLst>
              <a:ext uri="{FF2B5EF4-FFF2-40B4-BE49-F238E27FC236}">
                <a16:creationId xmlns:a16="http://schemas.microsoft.com/office/drawing/2014/main" id="{928978F1-37A7-0A94-71DE-2F6FA9EC1494}"/>
              </a:ext>
            </a:extLst>
          </p:cNvPr>
          <p:cNvCxnSpPr>
            <a:cxnSpLocks/>
            <a:stCxn id="247" idx="1"/>
            <a:endCxn id="35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接點: 肘形 277">
            <a:extLst>
              <a:ext uri="{FF2B5EF4-FFF2-40B4-BE49-F238E27FC236}">
                <a16:creationId xmlns:a16="http://schemas.microsoft.com/office/drawing/2014/main" id="{717C5D64-7B86-5E45-0548-0FDD29BF909A}"/>
              </a:ext>
            </a:extLst>
          </p:cNvPr>
          <p:cNvCxnSpPr>
            <a:cxnSpLocks/>
            <a:stCxn id="355" idx="3"/>
            <a:endCxn id="261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線接點 292">
            <a:extLst>
              <a:ext uri="{FF2B5EF4-FFF2-40B4-BE49-F238E27FC236}">
                <a16:creationId xmlns:a16="http://schemas.microsoft.com/office/drawing/2014/main" id="{A2D0A9B0-FA90-7699-CF4F-9C904905E5EC}"/>
              </a:ext>
            </a:extLst>
          </p:cNvPr>
          <p:cNvCxnSpPr>
            <a:cxnSpLocks/>
            <a:stCxn id="447" idx="1"/>
            <a:endCxn id="253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文字方塊 322">
            <a:extLst>
              <a:ext uri="{FF2B5EF4-FFF2-40B4-BE49-F238E27FC236}">
                <a16:creationId xmlns:a16="http://schemas.microsoft.com/office/drawing/2014/main" id="{28DFD3BC-A87F-A5C7-534C-3F0D49144805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Gating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Router</a:t>
            </a:r>
          </a:p>
        </p:txBody>
      </p:sp>
      <p:sp>
        <p:nvSpPr>
          <p:cNvPr id="238" name="矩形: 圓角 237">
            <a:extLst>
              <a:ext uri="{FF2B5EF4-FFF2-40B4-BE49-F238E27FC236}">
                <a16:creationId xmlns:a16="http://schemas.microsoft.com/office/drawing/2014/main" id="{4B06301D-1BE8-1326-B4FC-7F4CF91E61AE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  <a:alpha val="40000"/>
            </a:schemeClr>
          </a:solidFill>
          <a:ln w="15875">
            <a:solidFill>
              <a:schemeClr val="accent6">
                <a:lumMod val="75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363" name="文字方塊 362">
            <a:extLst>
              <a:ext uri="{FF2B5EF4-FFF2-40B4-BE49-F238E27FC236}">
                <a16:creationId xmlns:a16="http://schemas.microsoft.com/office/drawing/2014/main" id="{525FB032-A4CB-7C4D-2D54-F9DD83D1962B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Token Indexing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365" name="接點: 肘形 364">
            <a:extLst>
              <a:ext uri="{FF2B5EF4-FFF2-40B4-BE49-F238E27FC236}">
                <a16:creationId xmlns:a16="http://schemas.microsoft.com/office/drawing/2014/main" id="{DD415140-B33D-1548-4B58-7C4C4747B9D4}"/>
              </a:ext>
            </a:extLst>
          </p:cNvPr>
          <p:cNvCxnSpPr>
            <a:cxnSpLocks/>
            <a:stCxn id="233" idx="3"/>
            <a:endCxn id="369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ln w="19050">
            <a:solidFill>
              <a:schemeClr val="tx1"/>
            </a:solidFill>
            <a:headEnd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9" name="矩形: 圓角 368">
            <a:extLst>
              <a:ext uri="{FF2B5EF4-FFF2-40B4-BE49-F238E27FC236}">
                <a16:creationId xmlns:a16="http://schemas.microsoft.com/office/drawing/2014/main" id="{DE9F4776-897F-EF38-755B-22FC78B99362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C319F167-CD75-A554-5FB6-13D7673C674F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W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02" name="文字方塊 401">
            <a:extLst>
              <a:ext uri="{FF2B5EF4-FFF2-40B4-BE49-F238E27FC236}">
                <a16:creationId xmlns:a16="http://schemas.microsoft.com/office/drawing/2014/main" id="{72FAC1CD-FDAF-2C4E-5F25-3580BA933392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07" name="接點: 弧形 406">
            <a:extLst>
              <a:ext uri="{FF2B5EF4-FFF2-40B4-BE49-F238E27FC236}">
                <a16:creationId xmlns:a16="http://schemas.microsoft.com/office/drawing/2014/main" id="{6B75EBEC-48B3-25A0-46E3-2D8C9256BCD5}"/>
              </a:ext>
            </a:extLst>
          </p:cNvPr>
          <p:cNvCxnSpPr>
            <a:cxnSpLocks/>
            <a:stCxn id="406" idx="0"/>
            <a:endCxn id="259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接點: 弧形 413">
            <a:extLst>
              <a:ext uri="{FF2B5EF4-FFF2-40B4-BE49-F238E27FC236}">
                <a16:creationId xmlns:a16="http://schemas.microsoft.com/office/drawing/2014/main" id="{6A8855D9-5D93-9B03-FA67-8CB796C3379A}"/>
              </a:ext>
            </a:extLst>
          </p:cNvPr>
          <p:cNvCxnSpPr>
            <a:cxnSpLocks/>
            <a:stCxn id="379" idx="0"/>
            <a:endCxn id="404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文字方塊 399">
            <a:extLst>
              <a:ext uri="{FF2B5EF4-FFF2-40B4-BE49-F238E27FC236}">
                <a16:creationId xmlns:a16="http://schemas.microsoft.com/office/drawing/2014/main" id="{C2D0AA9D-2CF4-2067-F683-7B9B3215C81A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06" name="矩形: 圓角 405">
            <a:extLst>
              <a:ext uri="{FF2B5EF4-FFF2-40B4-BE49-F238E27FC236}">
                <a16:creationId xmlns:a16="http://schemas.microsoft.com/office/drawing/2014/main" id="{67454EB2-CB74-516D-45F4-16E55A222BF8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chemeClr val="bg1">
              <a:alpha val="60000"/>
            </a:scheme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altLang="zh-TW" sz="14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σ</a:t>
            </a:r>
            <a:endParaRPr lang="en-US" altLang="zh-TW" sz="1400" b="1" dirty="0">
              <a:solidFill>
                <a:prstClr val="black"/>
              </a:solidFill>
              <a:latin typeface="Calibri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404" name="表格 403">
            <a:extLst>
              <a:ext uri="{FF2B5EF4-FFF2-40B4-BE49-F238E27FC236}">
                <a16:creationId xmlns:a16="http://schemas.microsoft.com/office/drawing/2014/main" id="{EC50C037-BABC-90C0-4103-A8A24C9457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970535"/>
              </p:ext>
            </p:extLst>
          </p:nvPr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27" name="文字方塊 426">
            <a:extLst>
              <a:ext uri="{FF2B5EF4-FFF2-40B4-BE49-F238E27FC236}">
                <a16:creationId xmlns:a16="http://schemas.microsoft.com/office/drawing/2014/main" id="{CA43E46A-4463-4F26-3FD5-3A646BC83E23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Sigmoid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35" name="矩形 434">
            <a:extLst>
              <a:ext uri="{FF2B5EF4-FFF2-40B4-BE49-F238E27FC236}">
                <a16:creationId xmlns:a16="http://schemas.microsoft.com/office/drawing/2014/main" id="{5197D484-ABC8-13C5-E5F6-FB749CE8FAC9}"/>
              </a:ext>
            </a:extLst>
          </p:cNvPr>
          <p:cNvSpPr/>
          <p:nvPr/>
        </p:nvSpPr>
        <p:spPr>
          <a:xfrm>
            <a:off x="282880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7" name="矩形 436">
            <a:extLst>
              <a:ext uri="{FF2B5EF4-FFF2-40B4-BE49-F238E27FC236}">
                <a16:creationId xmlns:a16="http://schemas.microsoft.com/office/drawing/2014/main" id="{69BE9F70-005C-830C-0F84-3A9F03A44EB7}"/>
              </a:ext>
            </a:extLst>
          </p:cNvPr>
          <p:cNvSpPr/>
          <p:nvPr/>
        </p:nvSpPr>
        <p:spPr>
          <a:xfrm>
            <a:off x="1939064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9" name="矩形 438">
            <a:extLst>
              <a:ext uri="{FF2B5EF4-FFF2-40B4-BE49-F238E27FC236}">
                <a16:creationId xmlns:a16="http://schemas.microsoft.com/office/drawing/2014/main" id="{5140CBF9-9A18-5C52-07CB-4AD7B2111DA5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3" name="矩形 442">
            <a:extLst>
              <a:ext uri="{FF2B5EF4-FFF2-40B4-BE49-F238E27FC236}">
                <a16:creationId xmlns:a16="http://schemas.microsoft.com/office/drawing/2014/main" id="{6FDA76AC-3819-6910-C4B2-7A5CE3BC76C1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7" name="矩形: 圓角 446">
            <a:extLst>
              <a:ext uri="{FF2B5EF4-FFF2-40B4-BE49-F238E27FC236}">
                <a16:creationId xmlns:a16="http://schemas.microsoft.com/office/drawing/2014/main" id="{C0B6E053-FF58-D53D-1860-D25BEA29989C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448" name="接點: 肘形 447">
            <a:extLst>
              <a:ext uri="{FF2B5EF4-FFF2-40B4-BE49-F238E27FC236}">
                <a16:creationId xmlns:a16="http://schemas.microsoft.com/office/drawing/2014/main" id="{7E15CB88-84AE-BF15-F851-06F42158E725}"/>
              </a:ext>
            </a:extLst>
          </p:cNvPr>
          <p:cNvCxnSpPr>
            <a:cxnSpLocks/>
            <a:stCxn id="363" idx="3"/>
            <a:endCxn id="447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6" name="文字方塊 465">
            <a:extLst>
              <a:ext uri="{FF2B5EF4-FFF2-40B4-BE49-F238E27FC236}">
                <a16:creationId xmlns:a16="http://schemas.microsoft.com/office/drawing/2014/main" id="{9EDE28DD-20E0-22B3-9112-F36B0AF38090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Embedding</a:t>
            </a:r>
          </a:p>
        </p:txBody>
      </p:sp>
      <p:sp>
        <p:nvSpPr>
          <p:cNvPr id="479" name="矩形: 圓角 478">
            <a:extLst>
              <a:ext uri="{FF2B5EF4-FFF2-40B4-BE49-F238E27FC236}">
                <a16:creationId xmlns:a16="http://schemas.microsoft.com/office/drawing/2014/main" id="{D1FB5A6B-242D-349D-5C43-049DCFA823B7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U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 err="1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481" name="表格 480">
            <a:extLst>
              <a:ext uri="{FF2B5EF4-FFF2-40B4-BE49-F238E27FC236}">
                <a16:creationId xmlns:a16="http://schemas.microsoft.com/office/drawing/2014/main" id="{8198FD95-2130-DE8C-2894-D9D277FFD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412873"/>
              </p:ext>
            </p:extLst>
          </p:nvPr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83" name="表格 482">
            <a:extLst>
              <a:ext uri="{FF2B5EF4-FFF2-40B4-BE49-F238E27FC236}">
                <a16:creationId xmlns:a16="http://schemas.microsoft.com/office/drawing/2014/main" id="{ACBE89B7-C0CF-4307-100A-AE10558D9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568234"/>
              </p:ext>
            </p:extLst>
          </p:nvPr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85" name="文字方塊 484">
            <a:extLst>
              <a:ext uri="{FF2B5EF4-FFF2-40B4-BE49-F238E27FC236}">
                <a16:creationId xmlns:a16="http://schemas.microsoft.com/office/drawing/2014/main" id="{CFCE0F9D-ED6F-C81A-D59B-0D98F8DCA129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7" name="文字方塊 256">
            <a:extLst>
              <a:ext uri="{FF2B5EF4-FFF2-40B4-BE49-F238E27FC236}">
                <a16:creationId xmlns:a16="http://schemas.microsoft.com/office/drawing/2014/main" id="{C7691DC9-6984-0D23-A0E0-6E7D19059F8F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87" name="文字方塊 486">
            <a:extLst>
              <a:ext uri="{FF2B5EF4-FFF2-40B4-BE49-F238E27FC236}">
                <a16:creationId xmlns:a16="http://schemas.microsoft.com/office/drawing/2014/main" id="{8B4A16DF-DE69-01D3-C03A-0A8EAB36D537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93" name="文字方塊 492">
            <a:extLst>
              <a:ext uri="{FF2B5EF4-FFF2-40B4-BE49-F238E27FC236}">
                <a16:creationId xmlns:a16="http://schemas.microsoft.com/office/drawing/2014/main" id="{0ADB9979-292B-C90A-3C7E-205F7E7CC282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Residual Connection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94" name="接點: 弧形 493">
            <a:extLst>
              <a:ext uri="{FF2B5EF4-FFF2-40B4-BE49-F238E27FC236}">
                <a16:creationId xmlns:a16="http://schemas.microsoft.com/office/drawing/2014/main" id="{903D6AF1-D490-6992-844B-1553A488E0AA}"/>
              </a:ext>
            </a:extLst>
          </p:cNvPr>
          <p:cNvCxnSpPr>
            <a:cxnSpLocks/>
            <a:stCxn id="479" idx="3"/>
            <a:endCxn id="481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6" name="群組 515">
            <a:extLst>
              <a:ext uri="{FF2B5EF4-FFF2-40B4-BE49-F238E27FC236}">
                <a16:creationId xmlns:a16="http://schemas.microsoft.com/office/drawing/2014/main" id="{82F115A4-A0A4-7463-9E32-D2D6620DD405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355" name="矩形 354">
              <a:extLst>
                <a:ext uri="{FF2B5EF4-FFF2-40B4-BE49-F238E27FC236}">
                  <a16:creationId xmlns:a16="http://schemas.microsoft.com/office/drawing/2014/main" id="{D1BE1B28-A0DE-7CDB-7938-F60BA3CC21F8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353" name="矩形 352">
              <a:extLst>
                <a:ext uri="{FF2B5EF4-FFF2-40B4-BE49-F238E27FC236}">
                  <a16:creationId xmlns:a16="http://schemas.microsoft.com/office/drawing/2014/main" id="{05F2B42F-45F0-D38D-1A71-B66F6E61569D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513" name="矩形 512">
              <a:extLst>
                <a:ext uri="{FF2B5EF4-FFF2-40B4-BE49-F238E27FC236}">
                  <a16:creationId xmlns:a16="http://schemas.microsoft.com/office/drawing/2014/main" id="{65F2EBF5-7322-0EF5-533C-66A32F123AD3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Code Intelligence Benchmarking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Gemma 4 sets a new efficiency standard by delivering flagship-level intelligence on edge devices.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683568" y="5229200"/>
            <a:ext cx="5217715" cy="1075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altLang="zh-TW" sz="12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6764906"/>
              </p:ext>
            </p:extLst>
          </p:nvPr>
        </p:nvGraphicFramePr>
        <p:xfrm>
          <a:off x="323528" y="1484784"/>
          <a:ext cx="8496944" cy="3028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 (py)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DeepSpeed/FSDP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B8B6F72-A549-B220-DCA7-DC1B7241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67FC8883-BB6F-5C4D-A5C4-A1F589A907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286262"/>
              </p:ext>
            </p:extLst>
          </p:nvPr>
        </p:nvGraphicFramePr>
        <p:xfrm>
          <a:off x="455461" y="5182334"/>
          <a:ext cx="3890222" cy="982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02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LoRA, QLoRA, Full Tunning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QLRA/DRA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| Unsloth, LLaMA-Factory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Standard LoRA | Hugging Face TRL, Axolotl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Full FT + DeepSpeed | Megatron-LM, PyTorch FSDP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D28A7E10-EFB7-39EF-8E60-7B6E9EE835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6615885"/>
              </p:ext>
            </p:extLst>
          </p:nvPr>
        </p:nvGraphicFramePr>
        <p:xfrm>
          <a:off x="1187624" y="1491606"/>
          <a:ext cx="4578552" cy="3451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5393">
                  <a:extLst>
                    <a:ext uri="{9D8B030D-6E8A-4147-A177-3AD203B41FA5}">
                      <a16:colId xmlns:a16="http://schemas.microsoft.com/office/drawing/2014/main" val="102433470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1801316647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3014040376"/>
                    </a:ext>
                  </a:extLst>
                </a:gridCol>
                <a:gridCol w="1126855">
                  <a:extLst>
                    <a:ext uri="{9D8B030D-6E8A-4147-A177-3AD203B41FA5}">
                      <a16:colId xmlns:a16="http://schemas.microsoft.com/office/drawing/2014/main" val="2413039513"/>
                    </a:ext>
                  </a:extLst>
                </a:gridCol>
              </a:tblGrid>
              <a:tr h="41826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Home Server/PC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Computer Vision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55569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Gemma4, Mistral,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DeepSeek, Qwen3-4B-Instruct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YOLO11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693437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LLaMA-Factory,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Unsloth, Axolotl,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Face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Torchtune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200" dirty="0"/>
                        <a:t>Ultralytics </a:t>
                      </a:r>
                      <a:endParaRPr lang="en-US" altLang="zh-TW" sz="1200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500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 Data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ShareGPT</a:t>
                      </a:r>
                      <a:endParaRPr kumimoji="0" lang="zh-TW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0246566"/>
                  </a:ext>
                </a:extLst>
              </a:tr>
              <a:tr h="64807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Optimizer &amp;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Quantization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32-bit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 8-bit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Llama.cpp (GGUF)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 /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OpenVINO Toolkit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895739"/>
                  </a:ext>
                </a:extLst>
              </a:tr>
              <a:tr h="373434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Inference Engines</a:t>
                      </a:r>
                      <a:endParaRPr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Runtime</a:t>
                      </a: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Megatron-LM / DeepSpeed</a:t>
                      </a:r>
                      <a:endParaRPr lang="zh-TW" altLang="en-US" sz="1200" dirty="0"/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705614"/>
                  </a:ext>
                </a:extLst>
              </a:tr>
              <a:tr h="366786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Hardware</a:t>
                      </a:r>
                    </a:p>
                  </a:txBody>
                  <a:tcPr marL="0" marR="0" marT="0" marB="0" anchor="ctr" anchorCtr="1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NPU / Raspberry Pi 5 / ARM  </a:t>
                      </a:r>
                    </a:p>
                    <a:p>
                      <a:pPr algn="ctr"/>
                      <a:r>
                        <a:rPr lang="zh-TW" altLang="zh-TW" sz="1200" dirty="0"/>
                        <a:t>CUDA / </a:t>
                      </a:r>
                      <a:r>
                        <a:rPr lang="en-US" altLang="zh-TW" sz="1200" dirty="0"/>
                        <a:t>Mac / NPU / PC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800420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32BC9FF3-428B-38B9-3E4F-FE9C15D111C8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4" name="圖片 13">
            <a:extLst>
              <a:ext uri="{FF2B5EF4-FFF2-40B4-BE49-F238E27FC236}">
                <a16:creationId xmlns:a16="http://schemas.microsoft.com/office/drawing/2014/main" id="{146713C1-67D6-2E22-3902-942D138E8D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2917" y="2540149"/>
            <a:ext cx="457201" cy="457200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32BA665D-B867-F673-A622-0D7CB8CAB1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914" y="2276872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9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95400" y="1509949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60C3417-DCE7-01E2-CCA3-357A9BF7E8E5}"/>
              </a:ext>
            </a:extLst>
          </p:cNvPr>
          <p:cNvSpPr txBox="1"/>
          <p:nvPr/>
        </p:nvSpPr>
        <p:spPr>
          <a:xfrm>
            <a:off x="2286000" y="1556792"/>
            <a:ext cx="4662264" cy="3325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500" b="0" u="none" strike="noStrike" dirty="0">
                <a:effectLst/>
                <a:latin typeface="Google Sans"/>
              </a:rPr>
              <a:t>python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1. 配置量化與 LoRA 參數 (呼叫現成工具，不改底層)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peft_config = LoraConfig(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r=16,           # 決定旁路矩陣的大小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lora_alpha=32,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target_modules=["q_proj", "v_proj"], # 指定要外掛在哪些權重矩陣旁邊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2. 指定優化器與訓練超參數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training_args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per_device_train_batch_size=4,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gradient_accumulation_steps=4,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learning_rate=2e-4,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optim="paged_adamw_8bit", # 直接調用封裝好的 8-bit 優化器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fp16=True,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3. 執行訓練 ➔ 此時系統會自動去更新 LoRA 的權重矩陣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trainer.train()</a:t>
            </a: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9385</Words>
  <Application>Microsoft Office PowerPoint</Application>
  <PresentationFormat>如螢幕大小 (4:3)</PresentationFormat>
  <Paragraphs>1329</Paragraphs>
  <Slides>21</Slides>
  <Notes>20</Notes>
  <HiddenSlides>3</HiddenSlides>
  <MMClips>0</MMClips>
  <ScaleCrop>false</ScaleCrop>
  <HeadingPairs>
    <vt:vector size="6" baseType="variant">
      <vt:variant>
        <vt:lpstr>使用字型</vt:lpstr>
      </vt:variant>
      <vt:variant>
        <vt:i4>15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37" baseType="lpstr">
      <vt:lpstr>Google Sans</vt:lpstr>
      <vt:lpstr>Meiryo</vt:lpstr>
      <vt:lpstr>Noto Sans HK</vt:lpstr>
      <vt:lpstr>Noto Sans TC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Courier New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1762</cp:revision>
  <cp:lastPrinted>2024-07-30T01:44:15Z</cp:lastPrinted>
  <dcterms:created xsi:type="dcterms:W3CDTF">2019-11-08T03:01:47Z</dcterms:created>
  <dcterms:modified xsi:type="dcterms:W3CDTF">2026-07-15T14:36:49Z</dcterms:modified>
</cp:coreProperties>
</file>